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2" r:id="rId19"/>
    <p:sldId id="283" r:id="rId20"/>
    <p:sldId id="284" r:id="rId21"/>
    <p:sldId id="285" r:id="rId22"/>
    <p:sldId id="273" r:id="rId23"/>
    <p:sldId id="274" r:id="rId24"/>
    <p:sldId id="275" r:id="rId25"/>
    <p:sldId id="276" r:id="rId26"/>
    <p:sldId id="277" r:id="rId27"/>
    <p:sldId id="278" r:id="rId28"/>
    <p:sldId id="279" r:id="rId29"/>
    <p:sldId id="280" r:id="rId30"/>
    <p:sldId id="281"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16B00-B3C7-1A44-A8A1-19E86ED703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97DD65-E964-BDED-B5C3-CB3563CB30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03FD62-E3D6-140B-7E96-95545C2A733A}"/>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5" name="Footer Placeholder 4">
            <a:extLst>
              <a:ext uri="{FF2B5EF4-FFF2-40B4-BE49-F238E27FC236}">
                <a16:creationId xmlns:a16="http://schemas.microsoft.com/office/drawing/2014/main" id="{36DE8719-E391-E6ED-127D-3F1AEC5E7E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89D02F-6D87-26BB-AC77-7E22BB52F377}"/>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61990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71EDC-A1C4-6C85-DF93-BCDB421FB2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DE905E-61C2-D014-D18E-2DF0AD26D4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D8E6D-6835-4AAF-65CC-D50B8B704244}"/>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5" name="Footer Placeholder 4">
            <a:extLst>
              <a:ext uri="{FF2B5EF4-FFF2-40B4-BE49-F238E27FC236}">
                <a16:creationId xmlns:a16="http://schemas.microsoft.com/office/drawing/2014/main" id="{E50FA2C5-AB4F-F400-5FE3-AB58E10D5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1EC563-A862-7F46-8C38-50EF89D855A4}"/>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3249099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D8AF9-474D-9BA1-7B66-837BE462E4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44C99CE-2757-E015-6592-D08B87B4DE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C51AF1-559D-3C8D-71BD-C5E046F0CEDE}"/>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5" name="Footer Placeholder 4">
            <a:extLst>
              <a:ext uri="{FF2B5EF4-FFF2-40B4-BE49-F238E27FC236}">
                <a16:creationId xmlns:a16="http://schemas.microsoft.com/office/drawing/2014/main" id="{2150E90C-AECF-A9C0-B0F1-49275DFA3D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B060EE-CF5D-BDD1-07FB-B1C844B12CB3}"/>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3804929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F3400-8AD0-13B9-010B-B5E4228E69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5B9760-2860-AAD6-5F74-B138FB96A3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E0A770F-FDB2-974E-D91B-72F3CFE841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519164B-B5AA-B2F7-E202-0429525B0803}"/>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6" name="Footer Placeholder 5">
            <a:extLst>
              <a:ext uri="{FF2B5EF4-FFF2-40B4-BE49-F238E27FC236}">
                <a16:creationId xmlns:a16="http://schemas.microsoft.com/office/drawing/2014/main" id="{1297DE3B-FD36-42C7-39D2-B0E838DE9D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D1D753-0CCC-F09B-1AD0-DA0BA485D30F}"/>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1947045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D830C-E3D6-CC04-CE0D-49D129BA71C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9F9749-8219-2322-A1BA-728484DA85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49401A-D286-1A07-87E3-4E2F8377C5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2A6D72-BEB1-3C6B-631B-E7CDA5FFB4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252170-B71A-0C4D-7913-4DED939CEA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C4FA0E6-8782-DAB1-3BF6-A4DAA36E2FE1}"/>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8" name="Footer Placeholder 7">
            <a:extLst>
              <a:ext uri="{FF2B5EF4-FFF2-40B4-BE49-F238E27FC236}">
                <a16:creationId xmlns:a16="http://schemas.microsoft.com/office/drawing/2014/main" id="{65EF21C9-2D7F-3FF4-CD88-5B4F1FB4F8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CC3DA6-E5C9-C69A-92C3-3A6171878B3B}"/>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521488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B014C-25D4-ADFD-E294-47475C2F5D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A1FA002-6583-67F7-4909-2E61D4018A4E}"/>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4" name="Footer Placeholder 3">
            <a:extLst>
              <a:ext uri="{FF2B5EF4-FFF2-40B4-BE49-F238E27FC236}">
                <a16:creationId xmlns:a16="http://schemas.microsoft.com/office/drawing/2014/main" id="{B819FCB1-F1D1-652B-039D-FC0F49B148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0DB51D9-F65B-2A08-F3C8-A043EC635937}"/>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3768077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2CE624-6C81-A729-3503-55B0D285314F}"/>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3" name="Footer Placeholder 2">
            <a:extLst>
              <a:ext uri="{FF2B5EF4-FFF2-40B4-BE49-F238E27FC236}">
                <a16:creationId xmlns:a16="http://schemas.microsoft.com/office/drawing/2014/main" id="{FB8C3246-716E-ED61-2098-E872AE1D909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096B00-42F6-2287-4B07-7E88B38F9721}"/>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1780149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B81D4-FC35-AADD-589B-135E1F69DA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C411F4-EEA9-5B5D-3ACE-671EE1FEDB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7B3A2F-A8FF-296E-9D0B-0016E3CEDE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390BCD-EB57-CFB4-AE17-2B7A5BDD6677}"/>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6" name="Footer Placeholder 5">
            <a:extLst>
              <a:ext uri="{FF2B5EF4-FFF2-40B4-BE49-F238E27FC236}">
                <a16:creationId xmlns:a16="http://schemas.microsoft.com/office/drawing/2014/main" id="{F8F2FA81-6685-AEAB-C216-1232595C3D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DD2671-2851-EFAE-63F6-771ADF14B2EB}"/>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2430648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12CFD-9A2C-2870-F572-A562FD0630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2C1341B-D8EB-1132-FCF8-ECAEC91C1A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024783-8495-3633-AEAF-8250344CFE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C70D1F-92AC-A05B-8074-CAB6E98D2083}"/>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6" name="Footer Placeholder 5">
            <a:extLst>
              <a:ext uri="{FF2B5EF4-FFF2-40B4-BE49-F238E27FC236}">
                <a16:creationId xmlns:a16="http://schemas.microsoft.com/office/drawing/2014/main" id="{CA629AC1-F390-220F-BA6D-C960B9E084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73661E-BBA2-7D4F-54AE-C2FCB6550EE3}"/>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1244855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7CEAB-90CD-07E9-9861-0F65056027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2B5F40-36AB-B2AD-070A-EAAFCB7347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598875-ED85-223D-9500-3F41D5640D5C}"/>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5" name="Footer Placeholder 4">
            <a:extLst>
              <a:ext uri="{FF2B5EF4-FFF2-40B4-BE49-F238E27FC236}">
                <a16:creationId xmlns:a16="http://schemas.microsoft.com/office/drawing/2014/main" id="{10DED704-7B42-22EF-4839-3B2EDDA2FD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6877BC-1FDC-CE1A-9069-A7E6C1CDE1AA}"/>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3044920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3D7ED3-3878-A43B-CB18-7B25062A1C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F7354F-79E0-6E7D-F051-99E7B4CD76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FD2925-6356-AE00-2BDC-6F011C69031C}"/>
              </a:ext>
            </a:extLst>
          </p:cNvPr>
          <p:cNvSpPr>
            <a:spLocks noGrp="1"/>
          </p:cNvSpPr>
          <p:nvPr>
            <p:ph type="dt" sz="half" idx="10"/>
          </p:nvPr>
        </p:nvSpPr>
        <p:spPr/>
        <p:txBody>
          <a:bodyPr/>
          <a:lstStyle/>
          <a:p>
            <a:fld id="{7EE82325-DD5F-477B-9910-577A926C4EF7}" type="datetimeFigureOut">
              <a:rPr lang="en-IN" smtClean="0"/>
              <a:t>31-03-2026</a:t>
            </a:fld>
            <a:endParaRPr lang="en-IN"/>
          </a:p>
        </p:txBody>
      </p:sp>
      <p:sp>
        <p:nvSpPr>
          <p:cNvPr id="5" name="Footer Placeholder 4">
            <a:extLst>
              <a:ext uri="{FF2B5EF4-FFF2-40B4-BE49-F238E27FC236}">
                <a16:creationId xmlns:a16="http://schemas.microsoft.com/office/drawing/2014/main" id="{7BB6D439-C921-AEAA-8311-EFA9F48BEE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CCEF4C-2A9B-A6FD-66A9-A04F0C587E16}"/>
              </a:ext>
            </a:extLst>
          </p:cNvPr>
          <p:cNvSpPr>
            <a:spLocks noGrp="1"/>
          </p:cNvSpPr>
          <p:nvPr>
            <p:ph type="sldNum" sz="quarter" idx="12"/>
          </p:nvPr>
        </p:nvSpPr>
        <p:spPr/>
        <p:txBody>
          <a:bodyPr/>
          <a:lstStyle/>
          <a:p>
            <a:fld id="{7B0CCC04-A38F-4F29-B74E-A4AA12CF1812}" type="slidenum">
              <a:rPr lang="en-IN" smtClean="0"/>
              <a:t>‹#›</a:t>
            </a:fld>
            <a:endParaRPr lang="en-IN"/>
          </a:p>
        </p:txBody>
      </p:sp>
    </p:spTree>
    <p:extLst>
      <p:ext uri="{BB962C8B-B14F-4D97-AF65-F5344CB8AC3E}">
        <p14:creationId xmlns:p14="http://schemas.microsoft.com/office/powerpoint/2010/main" val="3760522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76A5AB-3BD3-3BC1-CE81-A5C21D952E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991F62-23D8-22A5-0CE6-C02EF72F7F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5500CA-842A-5BB0-5BA6-3A02AB2D48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E82325-DD5F-477B-9910-577A926C4EF7}" type="datetimeFigureOut">
              <a:rPr lang="en-IN" smtClean="0"/>
              <a:t>31-03-2026</a:t>
            </a:fld>
            <a:endParaRPr lang="en-IN"/>
          </a:p>
        </p:txBody>
      </p:sp>
      <p:sp>
        <p:nvSpPr>
          <p:cNvPr id="5" name="Footer Placeholder 4">
            <a:extLst>
              <a:ext uri="{FF2B5EF4-FFF2-40B4-BE49-F238E27FC236}">
                <a16:creationId xmlns:a16="http://schemas.microsoft.com/office/drawing/2014/main" id="{773FD4DA-86E6-6741-51DE-B2BE418699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4961781-80DC-C4BA-A147-EA7082F000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0CCC04-A38F-4F29-B74E-A4AA12CF1812}" type="slidenum">
              <a:rPr lang="en-IN" smtClean="0"/>
              <a:t>‹#›</a:t>
            </a:fld>
            <a:endParaRPr lang="en-IN"/>
          </a:p>
        </p:txBody>
      </p:sp>
    </p:spTree>
    <p:extLst>
      <p:ext uri="{BB962C8B-B14F-4D97-AF65-F5344CB8AC3E}">
        <p14:creationId xmlns:p14="http://schemas.microsoft.com/office/powerpoint/2010/main" val="2175373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B97B5-9CA7-E7A6-ABC0-8B318F0BD42A}"/>
              </a:ext>
            </a:extLst>
          </p:cNvPr>
          <p:cNvSpPr>
            <a:spLocks noGrp="1"/>
          </p:cNvSpPr>
          <p:nvPr>
            <p:ph type="ctrTitle"/>
          </p:nvPr>
        </p:nvSpPr>
        <p:spPr/>
        <p:txBody>
          <a:bodyPr>
            <a:normAutofit fontScale="90000"/>
          </a:bodyPr>
          <a:lstStyle/>
          <a:p>
            <a:r>
              <a:rPr lang="en-IN" dirty="0"/>
              <a:t>UNIT-4</a:t>
            </a:r>
            <a:br>
              <a:rPr lang="en-IN" dirty="0"/>
            </a:br>
            <a:r>
              <a:rPr lang="en-IN" dirty="0"/>
              <a:t>Python SQLITE</a:t>
            </a:r>
            <a:br>
              <a:rPr lang="en-IN" dirty="0"/>
            </a:br>
            <a:endParaRPr lang="en-IN" dirty="0"/>
          </a:p>
        </p:txBody>
      </p:sp>
    </p:spTree>
    <p:extLst>
      <p:ext uri="{BB962C8B-B14F-4D97-AF65-F5344CB8AC3E}">
        <p14:creationId xmlns:p14="http://schemas.microsoft.com/office/powerpoint/2010/main" val="2580802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52320-84DF-D29F-77F6-74B989A359D1}"/>
              </a:ext>
            </a:extLst>
          </p:cNvPr>
          <p:cNvSpPr>
            <a:spLocks noGrp="1"/>
          </p:cNvSpPr>
          <p:nvPr>
            <p:ph type="title"/>
          </p:nvPr>
        </p:nvSpPr>
        <p:spPr>
          <a:xfrm>
            <a:off x="838200" y="365126"/>
            <a:ext cx="10515600" cy="529610"/>
          </a:xfrm>
        </p:spPr>
        <p:txBody>
          <a:bodyPr>
            <a:normAutofit fontScale="90000"/>
          </a:bodyPr>
          <a:lstStyle/>
          <a:p>
            <a:r>
              <a:rPr lang="en-IN" dirty="0"/>
              <a:t>Introduction </a:t>
            </a:r>
          </a:p>
        </p:txBody>
      </p:sp>
      <p:sp>
        <p:nvSpPr>
          <p:cNvPr id="3" name="Content Placeholder 2">
            <a:extLst>
              <a:ext uri="{FF2B5EF4-FFF2-40B4-BE49-F238E27FC236}">
                <a16:creationId xmlns:a16="http://schemas.microsoft.com/office/drawing/2014/main" id="{99AA48D9-EC13-9DEA-3142-44BD5F72A62E}"/>
              </a:ext>
            </a:extLst>
          </p:cNvPr>
          <p:cNvSpPr>
            <a:spLocks noGrp="1"/>
          </p:cNvSpPr>
          <p:nvPr>
            <p:ph idx="1"/>
          </p:nvPr>
        </p:nvSpPr>
        <p:spPr>
          <a:xfrm>
            <a:off x="759541" y="1029212"/>
            <a:ext cx="10515600" cy="4351338"/>
          </a:xfrm>
        </p:spPr>
        <p:txBody>
          <a:bodyPr>
            <a:normAutofit/>
          </a:bodyPr>
          <a:lstStyle/>
          <a:p>
            <a:r>
              <a:rPr lang="en-US" dirty="0"/>
              <a:t>Python SQLite3 module is used to integrate the SQLite database with Python. It provides a straightforward and simple-to-use interface for interacting with SQLite databases. </a:t>
            </a:r>
          </a:p>
          <a:p>
            <a:r>
              <a:rPr lang="en-US" dirty="0"/>
              <a:t>Installation SQLite3 can be integrated with Python using sqlite3 module and it provides an SQL interface. </a:t>
            </a:r>
          </a:p>
          <a:p>
            <a:r>
              <a:rPr lang="en-US" dirty="0"/>
              <a:t>You do not need to install this module separately because it is shipped by default along with Python version 2.5.x onwards. </a:t>
            </a:r>
          </a:p>
          <a:p>
            <a:r>
              <a:rPr lang="en-US" dirty="0"/>
              <a:t>To use sqlite3 module, you must first create a connection object that represents the database and then create a cursor object, which will help you in executing all the SQL statements. </a:t>
            </a:r>
            <a:endParaRPr lang="en-IN" dirty="0"/>
          </a:p>
        </p:txBody>
      </p:sp>
    </p:spTree>
    <p:extLst>
      <p:ext uri="{BB962C8B-B14F-4D97-AF65-F5344CB8AC3E}">
        <p14:creationId xmlns:p14="http://schemas.microsoft.com/office/powerpoint/2010/main" val="3341622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5CADC-47A3-59D1-D562-96A8EEBCBC17}"/>
              </a:ext>
            </a:extLst>
          </p:cNvPr>
          <p:cNvSpPr>
            <a:spLocks noGrp="1"/>
          </p:cNvSpPr>
          <p:nvPr>
            <p:ph type="title"/>
          </p:nvPr>
        </p:nvSpPr>
        <p:spPr>
          <a:xfrm>
            <a:off x="838200" y="365125"/>
            <a:ext cx="10515600" cy="775417"/>
          </a:xfrm>
        </p:spPr>
        <p:txBody>
          <a:bodyPr/>
          <a:lstStyle/>
          <a:p>
            <a:r>
              <a:rPr lang="en-IN" dirty="0"/>
              <a:t>SQLite Methods </a:t>
            </a:r>
          </a:p>
        </p:txBody>
      </p:sp>
      <p:pic>
        <p:nvPicPr>
          <p:cNvPr id="5" name="Content Placeholder 4">
            <a:extLst>
              <a:ext uri="{FF2B5EF4-FFF2-40B4-BE49-F238E27FC236}">
                <a16:creationId xmlns:a16="http://schemas.microsoft.com/office/drawing/2014/main" id="{D87ACCAC-30C1-0DA1-C9F9-DBE4CD297E46}"/>
              </a:ext>
            </a:extLst>
          </p:cNvPr>
          <p:cNvPicPr>
            <a:picLocks noGrp="1" noChangeAspect="1"/>
          </p:cNvPicPr>
          <p:nvPr>
            <p:ph idx="1"/>
          </p:nvPr>
        </p:nvPicPr>
        <p:blipFill>
          <a:blip r:embed="rId2"/>
          <a:stretch>
            <a:fillRect/>
          </a:stretch>
        </p:blipFill>
        <p:spPr>
          <a:xfrm>
            <a:off x="1203320" y="1140542"/>
            <a:ext cx="10005453" cy="4611329"/>
          </a:xfrm>
          <a:prstGeom prst="rect">
            <a:avLst/>
          </a:prstGeom>
        </p:spPr>
      </p:pic>
    </p:spTree>
    <p:extLst>
      <p:ext uri="{BB962C8B-B14F-4D97-AF65-F5344CB8AC3E}">
        <p14:creationId xmlns:p14="http://schemas.microsoft.com/office/powerpoint/2010/main" val="2617981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2994A74-39F1-9AF6-0789-1714AAE61F75}"/>
              </a:ext>
            </a:extLst>
          </p:cNvPr>
          <p:cNvPicPr>
            <a:picLocks noGrp="1" noChangeAspect="1"/>
          </p:cNvPicPr>
          <p:nvPr>
            <p:ph idx="1"/>
          </p:nvPr>
        </p:nvPicPr>
        <p:blipFill>
          <a:blip r:embed="rId2"/>
          <a:stretch>
            <a:fillRect/>
          </a:stretch>
        </p:blipFill>
        <p:spPr>
          <a:xfrm>
            <a:off x="973475" y="705277"/>
            <a:ext cx="9959996" cy="4122362"/>
          </a:xfrm>
          <a:prstGeom prst="rect">
            <a:avLst/>
          </a:prstGeom>
        </p:spPr>
      </p:pic>
    </p:spTree>
    <p:extLst>
      <p:ext uri="{BB962C8B-B14F-4D97-AF65-F5344CB8AC3E}">
        <p14:creationId xmlns:p14="http://schemas.microsoft.com/office/powerpoint/2010/main" val="31938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47A544-341C-EDF2-EA22-B2A52BD5DD79}"/>
              </a:ext>
            </a:extLst>
          </p:cNvPr>
          <p:cNvPicPr>
            <a:picLocks noGrp="1" noChangeAspect="1"/>
          </p:cNvPicPr>
          <p:nvPr>
            <p:ph idx="1"/>
          </p:nvPr>
        </p:nvPicPr>
        <p:blipFill>
          <a:blip r:embed="rId2"/>
          <a:stretch>
            <a:fillRect/>
          </a:stretch>
        </p:blipFill>
        <p:spPr>
          <a:xfrm>
            <a:off x="627507" y="472286"/>
            <a:ext cx="9657035" cy="2956713"/>
          </a:xfrm>
          <a:prstGeom prst="rect">
            <a:avLst/>
          </a:prstGeom>
        </p:spPr>
      </p:pic>
      <p:pic>
        <p:nvPicPr>
          <p:cNvPr id="7" name="Picture 6">
            <a:extLst>
              <a:ext uri="{FF2B5EF4-FFF2-40B4-BE49-F238E27FC236}">
                <a16:creationId xmlns:a16="http://schemas.microsoft.com/office/drawing/2014/main" id="{E7ACA703-240C-6123-7923-DEA0B8499A1E}"/>
              </a:ext>
            </a:extLst>
          </p:cNvPr>
          <p:cNvPicPr>
            <a:picLocks noChangeAspect="1"/>
          </p:cNvPicPr>
          <p:nvPr/>
        </p:nvPicPr>
        <p:blipFill>
          <a:blip r:embed="rId3"/>
          <a:stretch>
            <a:fillRect/>
          </a:stretch>
        </p:blipFill>
        <p:spPr>
          <a:xfrm>
            <a:off x="1381794" y="3428999"/>
            <a:ext cx="8902748" cy="1762433"/>
          </a:xfrm>
          <a:prstGeom prst="rect">
            <a:avLst/>
          </a:prstGeom>
        </p:spPr>
      </p:pic>
    </p:spTree>
    <p:extLst>
      <p:ext uri="{BB962C8B-B14F-4D97-AF65-F5344CB8AC3E}">
        <p14:creationId xmlns:p14="http://schemas.microsoft.com/office/powerpoint/2010/main" val="3383383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12ECBD-5EDA-B015-E9E3-B0D77BF69D53}"/>
              </a:ext>
            </a:extLst>
          </p:cNvPr>
          <p:cNvPicPr>
            <a:picLocks noGrp="1" noChangeAspect="1"/>
          </p:cNvPicPr>
          <p:nvPr>
            <p:ph idx="1"/>
          </p:nvPr>
        </p:nvPicPr>
        <p:blipFill>
          <a:blip r:embed="rId2"/>
          <a:stretch>
            <a:fillRect/>
          </a:stretch>
        </p:blipFill>
        <p:spPr>
          <a:xfrm>
            <a:off x="985893" y="684039"/>
            <a:ext cx="9977075" cy="4635213"/>
          </a:xfrm>
          <a:prstGeom prst="rect">
            <a:avLst/>
          </a:prstGeom>
        </p:spPr>
      </p:pic>
    </p:spTree>
    <p:extLst>
      <p:ext uri="{BB962C8B-B14F-4D97-AF65-F5344CB8AC3E}">
        <p14:creationId xmlns:p14="http://schemas.microsoft.com/office/powerpoint/2010/main" val="3087347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43DD6-5D8A-E396-EE3E-B96BA8754E39}"/>
              </a:ext>
            </a:extLst>
          </p:cNvPr>
          <p:cNvSpPr>
            <a:spLocks noGrp="1"/>
          </p:cNvSpPr>
          <p:nvPr>
            <p:ph type="title"/>
          </p:nvPr>
        </p:nvSpPr>
        <p:spPr>
          <a:xfrm>
            <a:off x="838200" y="365126"/>
            <a:ext cx="10515600" cy="598436"/>
          </a:xfrm>
        </p:spPr>
        <p:txBody>
          <a:bodyPr>
            <a:normAutofit fontScale="90000"/>
          </a:bodyPr>
          <a:lstStyle/>
          <a:p>
            <a:r>
              <a:rPr lang="en-IN" dirty="0"/>
              <a:t>SQLite database operations</a:t>
            </a:r>
          </a:p>
        </p:txBody>
      </p:sp>
      <p:pic>
        <p:nvPicPr>
          <p:cNvPr id="5" name="Content Placeholder 4">
            <a:extLst>
              <a:ext uri="{FF2B5EF4-FFF2-40B4-BE49-F238E27FC236}">
                <a16:creationId xmlns:a16="http://schemas.microsoft.com/office/drawing/2014/main" id="{88040539-1E94-3367-B27A-F705D8A61F73}"/>
              </a:ext>
            </a:extLst>
          </p:cNvPr>
          <p:cNvPicPr>
            <a:picLocks noGrp="1" noChangeAspect="1"/>
          </p:cNvPicPr>
          <p:nvPr>
            <p:ph idx="1"/>
          </p:nvPr>
        </p:nvPicPr>
        <p:blipFill>
          <a:blip r:embed="rId2"/>
          <a:stretch>
            <a:fillRect/>
          </a:stretch>
        </p:blipFill>
        <p:spPr>
          <a:xfrm>
            <a:off x="509654" y="1220312"/>
            <a:ext cx="10020694" cy="3617159"/>
          </a:xfrm>
          <a:prstGeom prst="rect">
            <a:avLst/>
          </a:prstGeom>
        </p:spPr>
      </p:pic>
    </p:spTree>
    <p:extLst>
      <p:ext uri="{BB962C8B-B14F-4D97-AF65-F5344CB8AC3E}">
        <p14:creationId xmlns:p14="http://schemas.microsoft.com/office/powerpoint/2010/main" val="2234221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9D9C24-4E94-7309-6EEC-727DA95AFFB9}"/>
              </a:ext>
            </a:extLst>
          </p:cNvPr>
          <p:cNvPicPr>
            <a:picLocks noGrp="1" noChangeAspect="1"/>
          </p:cNvPicPr>
          <p:nvPr>
            <p:ph idx="1"/>
          </p:nvPr>
        </p:nvPicPr>
        <p:blipFill>
          <a:blip r:embed="rId2"/>
          <a:stretch>
            <a:fillRect/>
          </a:stretch>
        </p:blipFill>
        <p:spPr>
          <a:xfrm>
            <a:off x="1230953" y="578630"/>
            <a:ext cx="9938492" cy="4711125"/>
          </a:xfrm>
          <a:prstGeom prst="rect">
            <a:avLst/>
          </a:prstGeom>
        </p:spPr>
      </p:pic>
    </p:spTree>
    <p:extLst>
      <p:ext uri="{BB962C8B-B14F-4D97-AF65-F5344CB8AC3E}">
        <p14:creationId xmlns:p14="http://schemas.microsoft.com/office/powerpoint/2010/main" val="3103519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B5EE28B-8D38-7189-4267-52F29A44C62B}"/>
              </a:ext>
            </a:extLst>
          </p:cNvPr>
          <p:cNvPicPr>
            <a:picLocks noGrp="1" noChangeAspect="1"/>
          </p:cNvPicPr>
          <p:nvPr>
            <p:ph idx="1"/>
          </p:nvPr>
        </p:nvPicPr>
        <p:blipFill>
          <a:blip r:embed="rId2"/>
          <a:stretch>
            <a:fillRect/>
          </a:stretch>
        </p:blipFill>
        <p:spPr>
          <a:xfrm>
            <a:off x="722154" y="655023"/>
            <a:ext cx="10506285" cy="4438087"/>
          </a:xfrm>
          <a:prstGeom prst="rect">
            <a:avLst/>
          </a:prstGeom>
        </p:spPr>
      </p:pic>
    </p:spTree>
    <p:extLst>
      <p:ext uri="{BB962C8B-B14F-4D97-AF65-F5344CB8AC3E}">
        <p14:creationId xmlns:p14="http://schemas.microsoft.com/office/powerpoint/2010/main" val="3157785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F2771B0-8926-49C0-8EC0-0DA160F42EDC}"/>
              </a:ext>
            </a:extLst>
          </p:cNvPr>
          <p:cNvPicPr>
            <a:picLocks noGrp="1" noChangeAspect="1"/>
          </p:cNvPicPr>
          <p:nvPr>
            <p:ph idx="1"/>
          </p:nvPr>
        </p:nvPicPr>
        <p:blipFill>
          <a:blip r:embed="rId2"/>
          <a:stretch>
            <a:fillRect/>
          </a:stretch>
        </p:blipFill>
        <p:spPr>
          <a:xfrm>
            <a:off x="182896" y="346413"/>
            <a:ext cx="11546988" cy="4874516"/>
          </a:xfrm>
          <a:prstGeom prst="rect">
            <a:avLst/>
          </a:prstGeom>
        </p:spPr>
      </p:pic>
    </p:spTree>
    <p:extLst>
      <p:ext uri="{BB962C8B-B14F-4D97-AF65-F5344CB8AC3E}">
        <p14:creationId xmlns:p14="http://schemas.microsoft.com/office/powerpoint/2010/main" val="3839147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5EF3B22-3F84-6906-E00C-324177CD1DFE}"/>
              </a:ext>
            </a:extLst>
          </p:cNvPr>
          <p:cNvPicPr>
            <a:picLocks noGrp="1" noChangeAspect="1"/>
          </p:cNvPicPr>
          <p:nvPr>
            <p:ph idx="1"/>
          </p:nvPr>
        </p:nvPicPr>
        <p:blipFill>
          <a:blip r:embed="rId2"/>
          <a:stretch>
            <a:fillRect/>
          </a:stretch>
        </p:blipFill>
        <p:spPr>
          <a:xfrm>
            <a:off x="1272679" y="714975"/>
            <a:ext cx="9660791" cy="5046727"/>
          </a:xfrm>
          <a:prstGeom prst="rect">
            <a:avLst/>
          </a:prstGeom>
        </p:spPr>
      </p:pic>
    </p:spTree>
    <p:extLst>
      <p:ext uri="{BB962C8B-B14F-4D97-AF65-F5344CB8AC3E}">
        <p14:creationId xmlns:p14="http://schemas.microsoft.com/office/powerpoint/2010/main" val="967591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DBC168D-1111-3EF5-0062-EC39463A76E5}"/>
              </a:ext>
            </a:extLst>
          </p:cNvPr>
          <p:cNvPicPr>
            <a:picLocks noGrp="1" noChangeAspect="1"/>
          </p:cNvPicPr>
          <p:nvPr>
            <p:ph idx="1"/>
          </p:nvPr>
        </p:nvPicPr>
        <p:blipFill>
          <a:blip r:embed="rId2"/>
          <a:stretch>
            <a:fillRect/>
          </a:stretch>
        </p:blipFill>
        <p:spPr>
          <a:xfrm>
            <a:off x="1499807" y="857050"/>
            <a:ext cx="8883057" cy="4599853"/>
          </a:xfrm>
          <a:prstGeom prst="rect">
            <a:avLst/>
          </a:prstGeom>
        </p:spPr>
      </p:pic>
    </p:spTree>
    <p:extLst>
      <p:ext uri="{BB962C8B-B14F-4D97-AF65-F5344CB8AC3E}">
        <p14:creationId xmlns:p14="http://schemas.microsoft.com/office/powerpoint/2010/main" val="680970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311412-70D9-4CA1-6D84-84CA569FA309}"/>
              </a:ext>
            </a:extLst>
          </p:cNvPr>
          <p:cNvPicPr>
            <a:picLocks noGrp="1" noChangeAspect="1"/>
          </p:cNvPicPr>
          <p:nvPr>
            <p:ph idx="1"/>
          </p:nvPr>
        </p:nvPicPr>
        <p:blipFill>
          <a:blip r:embed="rId2"/>
          <a:stretch>
            <a:fillRect/>
          </a:stretch>
        </p:blipFill>
        <p:spPr>
          <a:xfrm>
            <a:off x="1059434" y="726779"/>
            <a:ext cx="6855533" cy="5084085"/>
          </a:xfrm>
          <a:prstGeom prst="rect">
            <a:avLst/>
          </a:prstGeom>
        </p:spPr>
      </p:pic>
    </p:spTree>
    <p:extLst>
      <p:ext uri="{BB962C8B-B14F-4D97-AF65-F5344CB8AC3E}">
        <p14:creationId xmlns:p14="http://schemas.microsoft.com/office/powerpoint/2010/main" val="615733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03A9B3-1EEF-DB04-1D0A-927832E1BCAC}"/>
              </a:ext>
            </a:extLst>
          </p:cNvPr>
          <p:cNvPicPr>
            <a:picLocks noGrp="1" noChangeAspect="1"/>
          </p:cNvPicPr>
          <p:nvPr>
            <p:ph idx="1"/>
          </p:nvPr>
        </p:nvPicPr>
        <p:blipFill>
          <a:blip r:embed="rId2"/>
          <a:stretch>
            <a:fillRect/>
          </a:stretch>
        </p:blipFill>
        <p:spPr>
          <a:xfrm>
            <a:off x="1172757" y="718173"/>
            <a:ext cx="8541513" cy="4601079"/>
          </a:xfrm>
          <a:prstGeom prst="rect">
            <a:avLst/>
          </a:prstGeom>
        </p:spPr>
      </p:pic>
    </p:spTree>
    <p:extLst>
      <p:ext uri="{BB962C8B-B14F-4D97-AF65-F5344CB8AC3E}">
        <p14:creationId xmlns:p14="http://schemas.microsoft.com/office/powerpoint/2010/main" val="139476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D183A17-6F57-0609-65DF-B857FD29E91E}"/>
              </a:ext>
            </a:extLst>
          </p:cNvPr>
          <p:cNvPicPr>
            <a:picLocks noGrp="1" noChangeAspect="1"/>
          </p:cNvPicPr>
          <p:nvPr>
            <p:ph idx="1"/>
          </p:nvPr>
        </p:nvPicPr>
        <p:blipFill>
          <a:blip r:embed="rId2"/>
          <a:stretch>
            <a:fillRect/>
          </a:stretch>
        </p:blipFill>
        <p:spPr>
          <a:xfrm>
            <a:off x="1162882" y="252462"/>
            <a:ext cx="9800085" cy="5686221"/>
          </a:xfrm>
          <a:prstGeom prst="rect">
            <a:avLst/>
          </a:prstGeom>
        </p:spPr>
      </p:pic>
    </p:spTree>
    <p:extLst>
      <p:ext uri="{BB962C8B-B14F-4D97-AF65-F5344CB8AC3E}">
        <p14:creationId xmlns:p14="http://schemas.microsoft.com/office/powerpoint/2010/main" val="334178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EE4A14C-DE3A-CA8D-C871-B859DAF44677}"/>
              </a:ext>
            </a:extLst>
          </p:cNvPr>
          <p:cNvPicPr>
            <a:picLocks noGrp="1" noChangeAspect="1"/>
          </p:cNvPicPr>
          <p:nvPr>
            <p:ph idx="1"/>
          </p:nvPr>
        </p:nvPicPr>
        <p:blipFill>
          <a:blip r:embed="rId2"/>
          <a:stretch>
            <a:fillRect/>
          </a:stretch>
        </p:blipFill>
        <p:spPr>
          <a:xfrm>
            <a:off x="1051123" y="565173"/>
            <a:ext cx="8958116" cy="4911395"/>
          </a:xfrm>
          <a:prstGeom prst="rect">
            <a:avLst/>
          </a:prstGeom>
        </p:spPr>
      </p:pic>
    </p:spTree>
    <p:extLst>
      <p:ext uri="{BB962C8B-B14F-4D97-AF65-F5344CB8AC3E}">
        <p14:creationId xmlns:p14="http://schemas.microsoft.com/office/powerpoint/2010/main" val="2634531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6F2655B-982C-B7C9-87F5-BD0EA32B7C24}"/>
              </a:ext>
            </a:extLst>
          </p:cNvPr>
          <p:cNvPicPr>
            <a:picLocks noGrp="1" noChangeAspect="1"/>
          </p:cNvPicPr>
          <p:nvPr>
            <p:ph idx="1"/>
          </p:nvPr>
        </p:nvPicPr>
        <p:blipFill>
          <a:blip r:embed="rId2"/>
          <a:stretch>
            <a:fillRect/>
          </a:stretch>
        </p:blipFill>
        <p:spPr>
          <a:xfrm>
            <a:off x="1344090" y="944821"/>
            <a:ext cx="9943342" cy="4797218"/>
          </a:xfrm>
          <a:prstGeom prst="rect">
            <a:avLst/>
          </a:prstGeom>
        </p:spPr>
      </p:pic>
    </p:spTree>
    <p:extLst>
      <p:ext uri="{BB962C8B-B14F-4D97-AF65-F5344CB8AC3E}">
        <p14:creationId xmlns:p14="http://schemas.microsoft.com/office/powerpoint/2010/main" val="1726946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AE6C1-5F3B-6AB3-5230-7E221A35701B}"/>
              </a:ext>
            </a:extLst>
          </p:cNvPr>
          <p:cNvSpPr>
            <a:spLocks noGrp="1"/>
          </p:cNvSpPr>
          <p:nvPr>
            <p:ph type="title"/>
          </p:nvPr>
        </p:nvSpPr>
        <p:spPr/>
        <p:txBody>
          <a:bodyPr>
            <a:normAutofit fontScale="90000"/>
          </a:bodyPr>
          <a:lstStyle/>
          <a:p>
            <a:r>
              <a:rPr lang="en-IN" b="1" dirty="0"/>
              <a:t>What is NumPy in Python? Give any two uses of NumPy.</a:t>
            </a:r>
            <a:br>
              <a:rPr lang="en-IN" dirty="0"/>
            </a:br>
            <a:endParaRPr lang="en-IN" dirty="0"/>
          </a:p>
        </p:txBody>
      </p:sp>
      <p:sp>
        <p:nvSpPr>
          <p:cNvPr id="3" name="Content Placeholder 2">
            <a:extLst>
              <a:ext uri="{FF2B5EF4-FFF2-40B4-BE49-F238E27FC236}">
                <a16:creationId xmlns:a16="http://schemas.microsoft.com/office/drawing/2014/main" id="{264EA802-ABFB-A1C9-0765-30B807CA58C4}"/>
              </a:ext>
            </a:extLst>
          </p:cNvPr>
          <p:cNvSpPr>
            <a:spLocks noGrp="1"/>
          </p:cNvSpPr>
          <p:nvPr>
            <p:ph idx="1"/>
          </p:nvPr>
        </p:nvSpPr>
        <p:spPr>
          <a:xfrm>
            <a:off x="838200" y="1432335"/>
            <a:ext cx="10515600" cy="4351338"/>
          </a:xfrm>
        </p:spPr>
        <p:txBody>
          <a:bodyPr/>
          <a:lstStyle/>
          <a:p>
            <a:r>
              <a:rPr lang="en-IN" dirty="0"/>
              <a:t>NumPy is the fundamental package for scientific computing with Python. It stands for </a:t>
            </a:r>
          </a:p>
          <a:p>
            <a:r>
              <a:rPr lang="en-IN" dirty="0"/>
              <a:t>“Numerical Python.” It supports:  </a:t>
            </a:r>
          </a:p>
          <a:p>
            <a:pPr marL="0" indent="0">
              <a:buNone/>
            </a:pPr>
            <a:r>
              <a:rPr lang="en-IN" dirty="0"/>
              <a:t>•  N-dimensional array object</a:t>
            </a:r>
          </a:p>
          <a:p>
            <a:pPr marL="0" indent="0">
              <a:buNone/>
            </a:pPr>
            <a:r>
              <a:rPr lang="en-IN" dirty="0"/>
              <a:t>•  Broadcasting functions</a:t>
            </a:r>
          </a:p>
          <a:p>
            <a:pPr marL="0" indent="0">
              <a:buNone/>
            </a:pPr>
            <a:r>
              <a:rPr lang="en-IN" dirty="0"/>
              <a:t>•  Tools for integrating C/C++ and Fortran code</a:t>
            </a:r>
          </a:p>
          <a:p>
            <a:pPr marL="0" indent="0">
              <a:buNone/>
            </a:pPr>
            <a:r>
              <a:rPr lang="en-IN" dirty="0"/>
              <a:t>•  Useful linear algebra, Fourier transform, and random number capabilities</a:t>
            </a:r>
          </a:p>
          <a:p>
            <a:endParaRPr lang="en-IN" dirty="0"/>
          </a:p>
        </p:txBody>
      </p:sp>
    </p:spTree>
    <p:extLst>
      <p:ext uri="{BB962C8B-B14F-4D97-AF65-F5344CB8AC3E}">
        <p14:creationId xmlns:p14="http://schemas.microsoft.com/office/powerpoint/2010/main" val="2476838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AB574-1791-5A96-9C39-C6A2962B63B5}"/>
              </a:ext>
            </a:extLst>
          </p:cNvPr>
          <p:cNvSpPr>
            <a:spLocks noGrp="1"/>
          </p:cNvSpPr>
          <p:nvPr>
            <p:ph type="title"/>
          </p:nvPr>
        </p:nvSpPr>
        <p:spPr/>
        <p:txBody>
          <a:bodyPr/>
          <a:lstStyle/>
          <a:p>
            <a:r>
              <a:rPr lang="en-IN" b="1" dirty="0"/>
              <a:t>How to create two-dimensional arrays using NumPy. </a:t>
            </a:r>
            <a:endParaRPr lang="en-IN" dirty="0"/>
          </a:p>
        </p:txBody>
      </p:sp>
      <p:sp>
        <p:nvSpPr>
          <p:cNvPr id="3" name="Content Placeholder 2">
            <a:extLst>
              <a:ext uri="{FF2B5EF4-FFF2-40B4-BE49-F238E27FC236}">
                <a16:creationId xmlns:a16="http://schemas.microsoft.com/office/drawing/2014/main" id="{8839513C-0E9D-DFDC-24F3-5F6070AF2EB8}"/>
              </a:ext>
            </a:extLst>
          </p:cNvPr>
          <p:cNvSpPr>
            <a:spLocks noGrp="1"/>
          </p:cNvSpPr>
          <p:nvPr>
            <p:ph idx="1"/>
          </p:nvPr>
        </p:nvSpPr>
        <p:spPr>
          <a:xfrm>
            <a:off x="838200" y="1550321"/>
            <a:ext cx="10515600" cy="4820981"/>
          </a:xfrm>
        </p:spPr>
        <p:txBody>
          <a:bodyPr>
            <a:normAutofit fontScale="92500"/>
          </a:bodyPr>
          <a:lstStyle/>
          <a:p>
            <a:r>
              <a:rPr lang="en-IN" dirty="0"/>
              <a:t>To create a 2D (2 dimensional) array in Python using NumPy library using the </a:t>
            </a:r>
            <a:r>
              <a:rPr lang="en-IN" dirty="0" err="1"/>
              <a:t>np.array</a:t>
            </a:r>
            <a:r>
              <a:rPr lang="en-IN" dirty="0"/>
              <a:t>() function, we can use any of the following methods.</a:t>
            </a:r>
          </a:p>
          <a:p>
            <a:pPr lvl="0"/>
            <a:r>
              <a:rPr lang="en-IN" b="1" dirty="0" err="1"/>
              <a:t>numpy.array</a:t>
            </a:r>
            <a:r>
              <a:rPr lang="en-IN" b="1" dirty="0"/>
              <a:t>()</a:t>
            </a:r>
            <a:r>
              <a:rPr lang="en-IN" dirty="0"/>
              <a:t> – Creates array from given values.</a:t>
            </a:r>
          </a:p>
          <a:p>
            <a:pPr lvl="0"/>
            <a:r>
              <a:rPr lang="en-IN" b="1" dirty="0" err="1"/>
              <a:t>numpy.zeros</a:t>
            </a:r>
            <a:r>
              <a:rPr lang="en-IN" b="1" dirty="0"/>
              <a:t>()</a:t>
            </a:r>
            <a:r>
              <a:rPr lang="en-IN" dirty="0"/>
              <a:t> – Creates array of zeros.</a:t>
            </a:r>
          </a:p>
          <a:p>
            <a:pPr lvl="0"/>
            <a:r>
              <a:rPr lang="en-IN" b="1" dirty="0" err="1"/>
              <a:t>numpy.ones</a:t>
            </a:r>
            <a:r>
              <a:rPr lang="en-IN" b="1" dirty="0"/>
              <a:t>()</a:t>
            </a:r>
            <a:r>
              <a:rPr lang="en-IN" dirty="0"/>
              <a:t> – Creates array of ones.</a:t>
            </a:r>
          </a:p>
          <a:p>
            <a:pPr lvl="0"/>
            <a:r>
              <a:rPr lang="en-IN" b="1" dirty="0" err="1"/>
              <a:t>numpy.empty</a:t>
            </a:r>
            <a:r>
              <a:rPr lang="en-IN" b="1" dirty="0"/>
              <a:t>()</a:t>
            </a:r>
            <a:r>
              <a:rPr lang="en-IN" dirty="0"/>
              <a:t> – Creates an empty array.</a:t>
            </a:r>
          </a:p>
          <a:p>
            <a:r>
              <a:rPr lang="en-IN" dirty="0"/>
              <a:t> 1 &gt;&gt;&gt; </a:t>
            </a:r>
            <a:r>
              <a:rPr lang="en-IN" dirty="0" err="1"/>
              <a:t>two_dimensional_array_list</a:t>
            </a:r>
            <a:r>
              <a:rPr lang="en-IN" dirty="0"/>
              <a:t> =  </a:t>
            </a:r>
            <a:r>
              <a:rPr lang="en-IN" dirty="0" err="1"/>
              <a:t>np.array</a:t>
            </a:r>
            <a:r>
              <a:rPr lang="en-IN" dirty="0"/>
              <a:t>([[1,2,3], [4,5,6]])</a:t>
            </a:r>
          </a:p>
          <a:p>
            <a:r>
              <a:rPr lang="en-IN" dirty="0"/>
              <a:t> 2 &gt;&gt;&gt; </a:t>
            </a:r>
            <a:r>
              <a:rPr lang="en-IN" dirty="0" err="1"/>
              <a:t>two_dimensional_array_list</a:t>
            </a:r>
            <a:endParaRPr lang="en-IN" dirty="0"/>
          </a:p>
          <a:p>
            <a:pPr marL="0" indent="0">
              <a:buNone/>
            </a:pPr>
            <a:r>
              <a:rPr lang="en-IN" dirty="0"/>
              <a:t>	array([[1, 2, 3],</a:t>
            </a:r>
          </a:p>
          <a:p>
            <a:pPr marL="0" indent="0">
              <a:buNone/>
            </a:pPr>
            <a:r>
              <a:rPr lang="en-IN" dirty="0"/>
              <a:t>		 [4, 5, 6]])</a:t>
            </a:r>
          </a:p>
          <a:p>
            <a:pPr lvl="0"/>
            <a:endParaRPr lang="en-IN" dirty="0"/>
          </a:p>
          <a:p>
            <a:endParaRPr lang="en-IN" dirty="0"/>
          </a:p>
        </p:txBody>
      </p:sp>
    </p:spTree>
    <p:extLst>
      <p:ext uri="{BB962C8B-B14F-4D97-AF65-F5344CB8AC3E}">
        <p14:creationId xmlns:p14="http://schemas.microsoft.com/office/powerpoint/2010/main" val="583384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B402E-91EF-A0FC-F36C-0AD357DF0EC3}"/>
              </a:ext>
            </a:extLst>
          </p:cNvPr>
          <p:cNvSpPr>
            <a:spLocks noGrp="1"/>
          </p:cNvSpPr>
          <p:nvPr>
            <p:ph type="title"/>
          </p:nvPr>
        </p:nvSpPr>
        <p:spPr/>
        <p:txBody>
          <a:bodyPr/>
          <a:lstStyle/>
          <a:p>
            <a:r>
              <a:rPr lang="en-IN" b="1" dirty="0"/>
              <a:t>NumPy array attributes. </a:t>
            </a:r>
            <a:br>
              <a:rPr lang="en-IN" dirty="0"/>
            </a:br>
            <a:endParaRPr lang="en-IN" dirty="0"/>
          </a:p>
        </p:txBody>
      </p:sp>
      <p:sp>
        <p:nvSpPr>
          <p:cNvPr id="3" name="Content Placeholder 2">
            <a:extLst>
              <a:ext uri="{FF2B5EF4-FFF2-40B4-BE49-F238E27FC236}">
                <a16:creationId xmlns:a16="http://schemas.microsoft.com/office/drawing/2014/main" id="{C6EE076A-E1D6-453E-E78C-1B42A8EA667A}"/>
              </a:ext>
            </a:extLst>
          </p:cNvPr>
          <p:cNvSpPr>
            <a:spLocks noGrp="1"/>
          </p:cNvSpPr>
          <p:nvPr>
            <p:ph idx="1"/>
          </p:nvPr>
        </p:nvSpPr>
        <p:spPr>
          <a:xfrm>
            <a:off x="838200" y="1147199"/>
            <a:ext cx="10515600" cy="4351338"/>
          </a:xfrm>
        </p:spPr>
        <p:txBody>
          <a:bodyPr/>
          <a:lstStyle/>
          <a:p>
            <a:pPr marL="0" indent="0">
              <a:buNone/>
            </a:pPr>
            <a:r>
              <a:rPr lang="en-IN" b="1" dirty="0"/>
              <a:t> NumPy array attributes. </a:t>
            </a:r>
            <a:endParaRPr lang="en-IN" dirty="0"/>
          </a:p>
          <a:p>
            <a:pPr lvl="0"/>
            <a:r>
              <a:rPr lang="en-IN" b="1" dirty="0" err="1"/>
              <a:t>ndarray.ndim</a:t>
            </a:r>
            <a:r>
              <a:rPr lang="en-IN" dirty="0"/>
              <a:t>: Gives the number of axes or dimensions in the array</a:t>
            </a:r>
          </a:p>
          <a:p>
            <a:pPr lvl="0"/>
            <a:r>
              <a:rPr lang="en-IN" b="1" dirty="0" err="1"/>
              <a:t>ndarray.size</a:t>
            </a:r>
            <a:r>
              <a:rPr lang="en-IN" dirty="0"/>
              <a:t>: Gives the total number of elements of the array.</a:t>
            </a:r>
          </a:p>
          <a:p>
            <a:pPr lvl="0"/>
            <a:r>
              <a:rPr lang="en-IN" b="1" dirty="0" err="1"/>
              <a:t>ndarray.itemsize</a:t>
            </a:r>
            <a:r>
              <a:rPr lang="en-IN" dirty="0"/>
              <a:t> : Gives the size of each element of the array in bytes.</a:t>
            </a:r>
          </a:p>
          <a:p>
            <a:pPr lvl="0"/>
            <a:r>
              <a:rPr lang="en-IN" b="1" dirty="0" err="1"/>
              <a:t>ndarray.shape</a:t>
            </a:r>
            <a:r>
              <a:rPr lang="en-IN" dirty="0"/>
              <a:t> : Gives the dimensions of the array. For an array with n rows and m columns, shape will be a tuple of integers (n, m).</a:t>
            </a:r>
          </a:p>
          <a:p>
            <a:endParaRPr lang="en-IN" dirty="0"/>
          </a:p>
        </p:txBody>
      </p:sp>
    </p:spTree>
    <p:extLst>
      <p:ext uri="{BB962C8B-B14F-4D97-AF65-F5344CB8AC3E}">
        <p14:creationId xmlns:p14="http://schemas.microsoft.com/office/powerpoint/2010/main" val="751327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E9AD-1C04-EF42-86AA-530FD3FD9F62}"/>
              </a:ext>
            </a:extLst>
          </p:cNvPr>
          <p:cNvSpPr>
            <a:spLocks noGrp="1"/>
          </p:cNvSpPr>
          <p:nvPr>
            <p:ph type="title"/>
          </p:nvPr>
        </p:nvSpPr>
        <p:spPr/>
        <p:txBody>
          <a:bodyPr>
            <a:normAutofit fontScale="90000"/>
          </a:bodyPr>
          <a:lstStyle/>
          <a:p>
            <a:r>
              <a:rPr lang="en-IN" b="1" dirty="0"/>
              <a:t>syntax and example for NumPy arrange() function</a:t>
            </a:r>
            <a:br>
              <a:rPr lang="en-IN" dirty="0"/>
            </a:br>
            <a:endParaRPr lang="en-IN" dirty="0"/>
          </a:p>
        </p:txBody>
      </p:sp>
      <p:sp>
        <p:nvSpPr>
          <p:cNvPr id="3" name="Content Placeholder 2">
            <a:extLst>
              <a:ext uri="{FF2B5EF4-FFF2-40B4-BE49-F238E27FC236}">
                <a16:creationId xmlns:a16="http://schemas.microsoft.com/office/drawing/2014/main" id="{4A97F538-4972-D740-FAAB-C01A7F12079A}"/>
              </a:ext>
            </a:extLst>
          </p:cNvPr>
          <p:cNvSpPr>
            <a:spLocks noGrp="1"/>
          </p:cNvSpPr>
          <p:nvPr>
            <p:ph idx="1"/>
          </p:nvPr>
        </p:nvSpPr>
        <p:spPr>
          <a:xfrm>
            <a:off x="838200" y="1027906"/>
            <a:ext cx="10515600" cy="4351338"/>
          </a:xfrm>
        </p:spPr>
        <p:txBody>
          <a:bodyPr>
            <a:normAutofit lnSpcReduction="10000"/>
          </a:bodyPr>
          <a:lstStyle/>
          <a:p>
            <a:r>
              <a:rPr lang="en-IN" b="1" dirty="0" err="1"/>
              <a:t>np.arange</a:t>
            </a:r>
            <a:r>
              <a:rPr lang="en-IN" b="1" dirty="0"/>
              <a:t>():</a:t>
            </a:r>
            <a:r>
              <a:rPr lang="en-IN" dirty="0"/>
              <a:t> Returns evenly spaced values within a given interval where start (a number and optional) is the start of interval and its default value is zero, stop (a number) is  the end of interval, and step (a number and is optional) is the spacing between the values and </a:t>
            </a:r>
            <a:r>
              <a:rPr lang="en-IN" dirty="0" err="1"/>
              <a:t>dtype</a:t>
            </a:r>
            <a:r>
              <a:rPr lang="en-IN" dirty="0"/>
              <a:t> is the type of output array.</a:t>
            </a:r>
          </a:p>
          <a:p>
            <a:r>
              <a:rPr lang="en-IN" b="1" dirty="0"/>
              <a:t>The syntax for </a:t>
            </a:r>
            <a:r>
              <a:rPr lang="en-IN" b="1" dirty="0" err="1"/>
              <a:t>arange</a:t>
            </a:r>
            <a:r>
              <a:rPr lang="en-IN" b="1" dirty="0"/>
              <a:t>() is,</a:t>
            </a:r>
            <a:endParaRPr lang="en-IN" dirty="0"/>
          </a:p>
          <a:p>
            <a:r>
              <a:rPr lang="en-IN" dirty="0" err="1"/>
              <a:t>np.arange</a:t>
            </a:r>
            <a:r>
              <a:rPr lang="en-IN" dirty="0"/>
              <a:t>([start,]stop, [step,][</a:t>
            </a:r>
            <a:r>
              <a:rPr lang="en-IN" dirty="0" err="1"/>
              <a:t>dtype</a:t>
            </a:r>
            <a:r>
              <a:rPr lang="en-IN" dirty="0"/>
              <a:t>=None])</a:t>
            </a:r>
          </a:p>
          <a:p>
            <a:r>
              <a:rPr lang="en-IN" b="1" dirty="0"/>
              <a:t>Example:</a:t>
            </a:r>
            <a:endParaRPr lang="en-IN" dirty="0"/>
          </a:p>
          <a:p>
            <a:r>
              <a:rPr lang="en-IN" dirty="0"/>
              <a:t>&gt;&gt;&gt;</a:t>
            </a:r>
            <a:r>
              <a:rPr lang="en-IN" dirty="0" err="1"/>
              <a:t>np.arange</a:t>
            </a:r>
            <a:r>
              <a:rPr lang="en-IN" dirty="0"/>
              <a:t>(0, 2, 0.3)</a:t>
            </a:r>
          </a:p>
          <a:p>
            <a:r>
              <a:rPr lang="en-IN" dirty="0"/>
              <a:t>array([0. , 0.3, 0.6, 0.9, 1.2, 1.5, 1.8])</a:t>
            </a:r>
          </a:p>
          <a:p>
            <a:pPr marL="0" indent="0">
              <a:buNone/>
            </a:pPr>
            <a:endParaRPr lang="en-IN" dirty="0"/>
          </a:p>
          <a:p>
            <a:endParaRPr lang="en-IN" dirty="0"/>
          </a:p>
        </p:txBody>
      </p:sp>
    </p:spTree>
    <p:extLst>
      <p:ext uri="{BB962C8B-B14F-4D97-AF65-F5344CB8AC3E}">
        <p14:creationId xmlns:p14="http://schemas.microsoft.com/office/powerpoint/2010/main" val="2476721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A0E40-C36C-F24A-3047-995521122960}"/>
              </a:ext>
            </a:extLst>
          </p:cNvPr>
          <p:cNvSpPr>
            <a:spLocks noGrp="1"/>
          </p:cNvSpPr>
          <p:nvPr>
            <p:ph type="title"/>
          </p:nvPr>
        </p:nvSpPr>
        <p:spPr>
          <a:xfrm>
            <a:off x="907026" y="753268"/>
            <a:ext cx="10515600" cy="315912"/>
          </a:xfrm>
        </p:spPr>
        <p:txBody>
          <a:bodyPr>
            <a:normAutofit fontScale="90000"/>
          </a:bodyPr>
          <a:lstStyle/>
          <a:p>
            <a:r>
              <a:rPr lang="en-IN" b="1" dirty="0"/>
              <a:t>NumPy array attributes with syntax. </a:t>
            </a:r>
            <a:br>
              <a:rPr lang="en-IN" dirty="0"/>
            </a:br>
            <a:endParaRPr lang="en-IN" dirty="0"/>
          </a:p>
        </p:txBody>
      </p:sp>
      <p:sp>
        <p:nvSpPr>
          <p:cNvPr id="3" name="Content Placeholder 2">
            <a:extLst>
              <a:ext uri="{FF2B5EF4-FFF2-40B4-BE49-F238E27FC236}">
                <a16:creationId xmlns:a16="http://schemas.microsoft.com/office/drawing/2014/main" id="{F82CE483-33A0-A4F5-81F8-63AA9EB5F907}"/>
              </a:ext>
            </a:extLst>
          </p:cNvPr>
          <p:cNvSpPr>
            <a:spLocks noGrp="1"/>
          </p:cNvSpPr>
          <p:nvPr>
            <p:ph idx="1"/>
          </p:nvPr>
        </p:nvSpPr>
        <p:spPr>
          <a:xfrm>
            <a:off x="907026" y="1437482"/>
            <a:ext cx="10515600" cy="4351338"/>
          </a:xfrm>
        </p:spPr>
        <p:txBody>
          <a:bodyPr/>
          <a:lstStyle/>
          <a:p>
            <a:pPr marL="0" lvl="0" indent="0">
              <a:buNone/>
            </a:pPr>
            <a:r>
              <a:rPr lang="en-IN" dirty="0"/>
              <a:t>1.</a:t>
            </a:r>
            <a:r>
              <a:rPr lang="en-IN" b="1" dirty="0"/>
              <a:t>ndarray.ndim</a:t>
            </a:r>
            <a:r>
              <a:rPr lang="en-IN" dirty="0"/>
              <a:t> : Gives the number of axes or dimensions in the array</a:t>
            </a:r>
          </a:p>
          <a:p>
            <a:r>
              <a:rPr lang="en-IN" dirty="0"/>
              <a:t>Syntax: 	</a:t>
            </a:r>
            <a:r>
              <a:rPr lang="en-IN" b="1" dirty="0" err="1"/>
              <a:t>ndarray.ndim</a:t>
            </a:r>
            <a:endParaRPr lang="en-IN" dirty="0"/>
          </a:p>
          <a:p>
            <a:pPr marL="0" indent="0">
              <a:buNone/>
            </a:pPr>
            <a:r>
              <a:rPr lang="en-IN" dirty="0"/>
              <a:t>Example:</a:t>
            </a:r>
          </a:p>
          <a:p>
            <a:pPr marL="0" indent="0">
              <a:buNone/>
            </a:pPr>
            <a:r>
              <a:rPr lang="en-IN" dirty="0"/>
              <a:t>import </a:t>
            </a:r>
            <a:r>
              <a:rPr lang="en-IN" dirty="0" err="1"/>
              <a:t>numpy</a:t>
            </a:r>
            <a:r>
              <a:rPr lang="en-IN" dirty="0"/>
              <a:t> as np</a:t>
            </a:r>
          </a:p>
          <a:p>
            <a:pPr marL="0" indent="0">
              <a:buNone/>
            </a:pPr>
            <a:r>
              <a:rPr lang="en-IN" dirty="0" err="1"/>
              <a:t>array_attributes</a:t>
            </a:r>
            <a:r>
              <a:rPr lang="en-IN" dirty="0"/>
              <a:t> =  </a:t>
            </a:r>
            <a:r>
              <a:rPr lang="en-IN" dirty="0" err="1"/>
              <a:t>np.array</a:t>
            </a:r>
            <a:r>
              <a:rPr lang="en-IN" dirty="0"/>
              <a:t>([[10, 20, 30], [14, 12, 16]])</a:t>
            </a:r>
          </a:p>
          <a:p>
            <a:pPr marL="0" indent="0">
              <a:buNone/>
            </a:pPr>
            <a:r>
              <a:rPr lang="en-IN" dirty="0" err="1"/>
              <a:t>array_attributes.ndim</a:t>
            </a:r>
            <a:endParaRPr lang="en-IN" dirty="0"/>
          </a:p>
          <a:p>
            <a:endParaRPr lang="en-IN" dirty="0"/>
          </a:p>
        </p:txBody>
      </p:sp>
    </p:spTree>
    <p:extLst>
      <p:ext uri="{BB962C8B-B14F-4D97-AF65-F5344CB8AC3E}">
        <p14:creationId xmlns:p14="http://schemas.microsoft.com/office/powerpoint/2010/main" val="3576045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8BC040-A87E-56FF-5937-96C2B8BE7D10}"/>
              </a:ext>
            </a:extLst>
          </p:cNvPr>
          <p:cNvSpPr>
            <a:spLocks noGrp="1"/>
          </p:cNvSpPr>
          <p:nvPr>
            <p:ph idx="1"/>
          </p:nvPr>
        </p:nvSpPr>
        <p:spPr>
          <a:xfrm>
            <a:off x="602225" y="626090"/>
            <a:ext cx="10515600" cy="4351338"/>
          </a:xfrm>
        </p:spPr>
        <p:txBody>
          <a:bodyPr/>
          <a:lstStyle/>
          <a:p>
            <a:r>
              <a:rPr lang="en-IN" b="1" dirty="0"/>
              <a:t>2</a:t>
            </a:r>
            <a:r>
              <a:rPr lang="en-IN" dirty="0"/>
              <a:t>. </a:t>
            </a:r>
            <a:r>
              <a:rPr lang="en-IN" b="1" dirty="0" err="1"/>
              <a:t>ndarray.shape</a:t>
            </a:r>
            <a:r>
              <a:rPr lang="en-IN" dirty="0"/>
              <a:t> : Gives the dimensions of the array. For an array with n rows and m columns, shape will be a tuple of integers (n, m).</a:t>
            </a:r>
          </a:p>
          <a:p>
            <a:r>
              <a:rPr lang="en-IN" dirty="0"/>
              <a:t>Syntax: 	</a:t>
            </a:r>
            <a:r>
              <a:rPr lang="en-IN" b="1" dirty="0" err="1"/>
              <a:t>ndarray.shape</a:t>
            </a:r>
            <a:endParaRPr lang="en-IN" dirty="0"/>
          </a:p>
          <a:p>
            <a:r>
              <a:rPr lang="en-IN" dirty="0"/>
              <a:t>Example:</a:t>
            </a:r>
          </a:p>
          <a:p>
            <a:r>
              <a:rPr lang="en-IN" dirty="0"/>
              <a:t>import </a:t>
            </a:r>
            <a:r>
              <a:rPr lang="en-IN" dirty="0" err="1"/>
              <a:t>numpy</a:t>
            </a:r>
            <a:r>
              <a:rPr lang="en-IN" dirty="0"/>
              <a:t> as np</a:t>
            </a:r>
          </a:p>
          <a:p>
            <a:r>
              <a:rPr lang="en-IN" dirty="0" err="1"/>
              <a:t>array_attributes</a:t>
            </a:r>
            <a:r>
              <a:rPr lang="en-IN" dirty="0"/>
              <a:t> =  </a:t>
            </a:r>
            <a:r>
              <a:rPr lang="en-IN" dirty="0" err="1"/>
              <a:t>np.array</a:t>
            </a:r>
            <a:r>
              <a:rPr lang="en-IN" dirty="0"/>
              <a:t>([[10, 20, 30], [14, 12, 16]])</a:t>
            </a:r>
          </a:p>
          <a:p>
            <a:r>
              <a:rPr lang="en-IN" dirty="0"/>
              <a:t>print </a:t>
            </a:r>
            <a:r>
              <a:rPr lang="en-IN" dirty="0" err="1"/>
              <a:t>a.shape</a:t>
            </a:r>
            <a:endParaRPr lang="en-IN" dirty="0"/>
          </a:p>
          <a:p>
            <a:pPr marL="0" indent="0">
              <a:buNone/>
            </a:pPr>
            <a:endParaRPr lang="en-IN" dirty="0"/>
          </a:p>
        </p:txBody>
      </p:sp>
    </p:spTree>
    <p:extLst>
      <p:ext uri="{BB962C8B-B14F-4D97-AF65-F5344CB8AC3E}">
        <p14:creationId xmlns:p14="http://schemas.microsoft.com/office/powerpoint/2010/main" val="888513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9EA0F0-A77A-2701-88C8-E647FD1E0615}"/>
              </a:ext>
            </a:extLst>
          </p:cNvPr>
          <p:cNvSpPr>
            <a:spLocks noGrp="1"/>
          </p:cNvSpPr>
          <p:nvPr>
            <p:ph idx="1"/>
          </p:nvPr>
        </p:nvSpPr>
        <p:spPr>
          <a:xfrm>
            <a:off x="641555" y="655586"/>
            <a:ext cx="10515600" cy="4351338"/>
          </a:xfrm>
        </p:spPr>
        <p:txBody>
          <a:bodyPr/>
          <a:lstStyle/>
          <a:p>
            <a:r>
              <a:rPr lang="en-IN" b="1" dirty="0"/>
              <a:t>3. </a:t>
            </a:r>
            <a:r>
              <a:rPr lang="en-IN" b="1" dirty="0" err="1"/>
              <a:t>ndarray.size</a:t>
            </a:r>
            <a:r>
              <a:rPr lang="en-IN" dirty="0"/>
              <a:t> : Gives the total number of elements of the array.</a:t>
            </a:r>
          </a:p>
          <a:p>
            <a:r>
              <a:rPr lang="en-IN" dirty="0"/>
              <a:t>Syntax : 	</a:t>
            </a:r>
            <a:r>
              <a:rPr lang="en-IN" b="1" dirty="0" err="1"/>
              <a:t>ndarray.size</a:t>
            </a:r>
            <a:endParaRPr lang="en-IN" dirty="0"/>
          </a:p>
          <a:p>
            <a:r>
              <a:rPr lang="en-IN" dirty="0"/>
              <a:t>Example:</a:t>
            </a:r>
          </a:p>
          <a:p>
            <a:pPr marL="0" indent="0">
              <a:buNone/>
            </a:pPr>
            <a:r>
              <a:rPr lang="en-IN" dirty="0"/>
              <a:t>import </a:t>
            </a:r>
            <a:r>
              <a:rPr lang="en-IN" dirty="0" err="1"/>
              <a:t>numpy</a:t>
            </a:r>
            <a:r>
              <a:rPr lang="en-IN" dirty="0"/>
              <a:t> as np</a:t>
            </a:r>
          </a:p>
          <a:p>
            <a:pPr marL="0" indent="0">
              <a:buNone/>
            </a:pPr>
            <a:r>
              <a:rPr lang="en-IN" dirty="0" err="1"/>
              <a:t>array_attributes</a:t>
            </a:r>
            <a:r>
              <a:rPr lang="en-IN" dirty="0"/>
              <a:t> =  </a:t>
            </a:r>
            <a:r>
              <a:rPr lang="en-IN" dirty="0" err="1"/>
              <a:t>np.array</a:t>
            </a:r>
            <a:r>
              <a:rPr lang="en-IN" dirty="0"/>
              <a:t>([[10, 20, 30], [14, 12, 16]])</a:t>
            </a:r>
          </a:p>
          <a:p>
            <a:pPr marL="0" indent="0">
              <a:buNone/>
            </a:pPr>
            <a:r>
              <a:rPr lang="en-IN" dirty="0" err="1"/>
              <a:t>array_attributes.size</a:t>
            </a:r>
            <a:endParaRPr lang="en-IN" dirty="0"/>
          </a:p>
          <a:p>
            <a:pPr marL="0" indent="0">
              <a:buNone/>
            </a:pPr>
            <a:endParaRPr lang="en-IN" dirty="0"/>
          </a:p>
          <a:p>
            <a:endParaRPr lang="en-IN" dirty="0"/>
          </a:p>
        </p:txBody>
      </p:sp>
    </p:spTree>
    <p:extLst>
      <p:ext uri="{BB962C8B-B14F-4D97-AF65-F5344CB8AC3E}">
        <p14:creationId xmlns:p14="http://schemas.microsoft.com/office/powerpoint/2010/main" val="4134671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5EF947-E238-7F6D-1FC6-F55DCC370738}"/>
              </a:ext>
            </a:extLst>
          </p:cNvPr>
          <p:cNvSpPr>
            <a:spLocks noGrp="1"/>
          </p:cNvSpPr>
          <p:nvPr>
            <p:ph idx="1"/>
          </p:nvPr>
        </p:nvSpPr>
        <p:spPr>
          <a:xfrm>
            <a:off x="454742" y="596593"/>
            <a:ext cx="10515600" cy="4351338"/>
          </a:xfrm>
        </p:spPr>
        <p:txBody>
          <a:bodyPr/>
          <a:lstStyle/>
          <a:p>
            <a:pPr marL="0" indent="0">
              <a:buNone/>
            </a:pPr>
            <a:r>
              <a:rPr lang="en-IN" b="1" dirty="0"/>
              <a:t>4. </a:t>
            </a:r>
            <a:r>
              <a:rPr lang="en-IN" b="1" dirty="0" err="1"/>
              <a:t>ndarray.dtype</a:t>
            </a:r>
            <a:r>
              <a:rPr lang="en-IN" dirty="0"/>
              <a:t> : Gives an object describing the type of the elements in the array. One  can create or specify </a:t>
            </a:r>
            <a:r>
              <a:rPr lang="en-IN" dirty="0" err="1"/>
              <a:t>dtype’s</a:t>
            </a:r>
            <a:r>
              <a:rPr lang="en-IN" dirty="0"/>
              <a:t> using standard Python types. Additionally, NumPy provides its own types like np.int32, np.int16, np.float64, and others.</a:t>
            </a:r>
          </a:p>
          <a:p>
            <a:pPr marL="0" indent="0">
              <a:buNone/>
            </a:pPr>
            <a:r>
              <a:rPr lang="en-IN" dirty="0"/>
              <a:t>Syntax: 	</a:t>
            </a:r>
            <a:r>
              <a:rPr lang="en-IN" b="1" dirty="0" err="1"/>
              <a:t>ndarray.dtype</a:t>
            </a:r>
            <a:endParaRPr lang="en-IN" dirty="0"/>
          </a:p>
          <a:p>
            <a:r>
              <a:rPr lang="en-IN" dirty="0"/>
              <a:t>Example: </a:t>
            </a:r>
          </a:p>
          <a:p>
            <a:r>
              <a:rPr lang="en-IN" dirty="0"/>
              <a:t>import </a:t>
            </a:r>
            <a:r>
              <a:rPr lang="en-IN" dirty="0" err="1"/>
              <a:t>numpy</a:t>
            </a:r>
            <a:r>
              <a:rPr lang="en-IN" dirty="0"/>
              <a:t> as np</a:t>
            </a:r>
          </a:p>
          <a:p>
            <a:r>
              <a:rPr lang="en-IN" dirty="0" err="1"/>
              <a:t>array_attributes</a:t>
            </a:r>
            <a:r>
              <a:rPr lang="en-IN" dirty="0"/>
              <a:t> =  </a:t>
            </a:r>
            <a:r>
              <a:rPr lang="en-IN" dirty="0" err="1"/>
              <a:t>np.array</a:t>
            </a:r>
            <a:r>
              <a:rPr lang="en-IN" dirty="0"/>
              <a:t>([[10, 20, 30], [14, 12, 16]])</a:t>
            </a:r>
          </a:p>
          <a:p>
            <a:r>
              <a:rPr lang="en-IN" dirty="0" err="1"/>
              <a:t>array_attributes.dtype</a:t>
            </a:r>
            <a:endParaRPr lang="en-IN" dirty="0"/>
          </a:p>
        </p:txBody>
      </p:sp>
    </p:spTree>
    <p:extLst>
      <p:ext uri="{BB962C8B-B14F-4D97-AF65-F5344CB8AC3E}">
        <p14:creationId xmlns:p14="http://schemas.microsoft.com/office/powerpoint/2010/main" val="2636463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0D45C8-A92C-081E-1B7B-D3D3F38C617E}"/>
              </a:ext>
            </a:extLst>
          </p:cNvPr>
          <p:cNvSpPr>
            <a:spLocks noGrp="1"/>
          </p:cNvSpPr>
          <p:nvPr>
            <p:ph idx="1"/>
          </p:nvPr>
        </p:nvSpPr>
        <p:spPr>
          <a:xfrm>
            <a:off x="838200" y="468774"/>
            <a:ext cx="10515600" cy="4351338"/>
          </a:xfrm>
        </p:spPr>
        <p:txBody>
          <a:bodyPr/>
          <a:lstStyle/>
          <a:p>
            <a:r>
              <a:rPr lang="en-IN" b="1" dirty="0"/>
              <a:t>5</a:t>
            </a:r>
            <a:r>
              <a:rPr lang="en-IN" dirty="0"/>
              <a:t>.</a:t>
            </a:r>
            <a:r>
              <a:rPr lang="en-IN" b="1" dirty="0"/>
              <a:t>ndarray.itemsize</a:t>
            </a:r>
            <a:r>
              <a:rPr lang="en-IN" dirty="0"/>
              <a:t>:  Gives the size of each element of the array in bytes.</a:t>
            </a:r>
          </a:p>
          <a:p>
            <a:r>
              <a:rPr lang="en-IN" dirty="0"/>
              <a:t>Syntax: 	</a:t>
            </a:r>
            <a:r>
              <a:rPr lang="en-IN" b="1" dirty="0" err="1"/>
              <a:t>ndarray.itemsize</a:t>
            </a:r>
            <a:endParaRPr lang="en-IN" dirty="0"/>
          </a:p>
          <a:p>
            <a:r>
              <a:rPr lang="en-IN" dirty="0"/>
              <a:t>Example: </a:t>
            </a:r>
          </a:p>
          <a:p>
            <a:r>
              <a:rPr lang="en-IN" dirty="0"/>
              <a:t> </a:t>
            </a:r>
          </a:p>
          <a:p>
            <a:r>
              <a:rPr lang="en-IN" dirty="0"/>
              <a:t>import </a:t>
            </a:r>
            <a:r>
              <a:rPr lang="en-IN" dirty="0" err="1"/>
              <a:t>numpy</a:t>
            </a:r>
            <a:r>
              <a:rPr lang="en-IN" dirty="0"/>
              <a:t> as np</a:t>
            </a:r>
          </a:p>
          <a:p>
            <a:r>
              <a:rPr lang="en-IN" dirty="0" err="1"/>
              <a:t>array_attributes</a:t>
            </a:r>
            <a:r>
              <a:rPr lang="en-IN" dirty="0"/>
              <a:t> =  </a:t>
            </a:r>
            <a:r>
              <a:rPr lang="en-IN" dirty="0" err="1"/>
              <a:t>np.array</a:t>
            </a:r>
            <a:r>
              <a:rPr lang="en-IN" dirty="0"/>
              <a:t>([[10, 20, 30], [14, 12, 16]])</a:t>
            </a:r>
          </a:p>
          <a:p>
            <a:r>
              <a:rPr lang="en-IN" dirty="0" err="1"/>
              <a:t>array_attributes.itemsize</a:t>
            </a:r>
            <a:endParaRPr lang="en-IN" dirty="0"/>
          </a:p>
          <a:p>
            <a:endParaRPr lang="en-IN" dirty="0"/>
          </a:p>
        </p:txBody>
      </p:sp>
    </p:spTree>
    <p:extLst>
      <p:ext uri="{BB962C8B-B14F-4D97-AF65-F5344CB8AC3E}">
        <p14:creationId xmlns:p14="http://schemas.microsoft.com/office/powerpoint/2010/main" val="3064279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7F8810-A08D-3647-EA4F-1EBB5E916DD9}"/>
              </a:ext>
            </a:extLst>
          </p:cNvPr>
          <p:cNvSpPr>
            <a:spLocks noGrp="1"/>
          </p:cNvSpPr>
          <p:nvPr>
            <p:ph idx="1"/>
          </p:nvPr>
        </p:nvSpPr>
        <p:spPr>
          <a:xfrm>
            <a:off x="720213" y="537600"/>
            <a:ext cx="10515600" cy="4351338"/>
          </a:xfrm>
        </p:spPr>
        <p:txBody>
          <a:bodyPr/>
          <a:lstStyle/>
          <a:p>
            <a:r>
              <a:rPr lang="en-IN" b="1" dirty="0"/>
              <a:t>6.ndarray.data</a:t>
            </a:r>
            <a:r>
              <a:rPr lang="en-IN" dirty="0"/>
              <a:t> : Gives the buffer containing the actual elements of the array. Normally, we will not use this attribute because we will access the elements in an array using indexing facilities.</a:t>
            </a:r>
          </a:p>
          <a:p>
            <a:r>
              <a:rPr lang="en-IN" b="1" dirty="0"/>
              <a:t>Syntax </a:t>
            </a:r>
            <a:r>
              <a:rPr lang="en-IN" dirty="0"/>
              <a:t>:	</a:t>
            </a:r>
            <a:r>
              <a:rPr lang="en-IN" b="1" dirty="0" err="1"/>
              <a:t>ndarray.data</a:t>
            </a:r>
            <a:endParaRPr lang="en-IN" dirty="0"/>
          </a:p>
          <a:p>
            <a:r>
              <a:rPr lang="en-IN" b="1" dirty="0"/>
              <a:t>Example:</a:t>
            </a:r>
            <a:endParaRPr lang="en-IN" dirty="0"/>
          </a:p>
          <a:p>
            <a:r>
              <a:rPr lang="en-IN" dirty="0"/>
              <a:t>import </a:t>
            </a:r>
            <a:r>
              <a:rPr lang="en-IN" dirty="0" err="1"/>
              <a:t>numpy</a:t>
            </a:r>
            <a:r>
              <a:rPr lang="en-IN" dirty="0"/>
              <a:t> as np</a:t>
            </a:r>
          </a:p>
          <a:p>
            <a:r>
              <a:rPr lang="en-IN" dirty="0" err="1"/>
              <a:t>array_attributes</a:t>
            </a:r>
            <a:r>
              <a:rPr lang="en-IN" dirty="0"/>
              <a:t> =  </a:t>
            </a:r>
            <a:r>
              <a:rPr lang="en-IN" dirty="0" err="1"/>
              <a:t>np.array</a:t>
            </a:r>
            <a:r>
              <a:rPr lang="en-IN" dirty="0"/>
              <a:t>([[10, 20, 30], [14, 12, 16]])</a:t>
            </a:r>
          </a:p>
          <a:p>
            <a:r>
              <a:rPr lang="en-IN" dirty="0" err="1"/>
              <a:t>array_attributes.data</a:t>
            </a:r>
            <a:endParaRPr lang="en-IN" dirty="0"/>
          </a:p>
          <a:p>
            <a:endParaRPr lang="en-IN" dirty="0"/>
          </a:p>
        </p:txBody>
      </p:sp>
    </p:spTree>
    <p:extLst>
      <p:ext uri="{BB962C8B-B14F-4D97-AF65-F5344CB8AC3E}">
        <p14:creationId xmlns:p14="http://schemas.microsoft.com/office/powerpoint/2010/main" val="1130337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696E4-8DB0-07FA-BCBD-1C2903217321}"/>
              </a:ext>
            </a:extLst>
          </p:cNvPr>
          <p:cNvSpPr>
            <a:spLocks noGrp="1"/>
          </p:cNvSpPr>
          <p:nvPr>
            <p:ph type="title"/>
          </p:nvPr>
        </p:nvSpPr>
        <p:spPr>
          <a:xfrm>
            <a:off x="838200" y="365125"/>
            <a:ext cx="10515600" cy="716423"/>
          </a:xfrm>
        </p:spPr>
        <p:txBody>
          <a:bodyPr/>
          <a:lstStyle/>
          <a:p>
            <a:r>
              <a:rPr lang="en-IN" b="1" dirty="0"/>
              <a:t>NumPy array creation functions </a:t>
            </a:r>
            <a:endParaRPr lang="en-IN" dirty="0"/>
          </a:p>
        </p:txBody>
      </p:sp>
      <p:sp>
        <p:nvSpPr>
          <p:cNvPr id="3" name="Content Placeholder 2">
            <a:extLst>
              <a:ext uri="{FF2B5EF4-FFF2-40B4-BE49-F238E27FC236}">
                <a16:creationId xmlns:a16="http://schemas.microsoft.com/office/drawing/2014/main" id="{97ABD59C-0ED4-04BA-BA26-F165F5AFAFA3}"/>
              </a:ext>
            </a:extLst>
          </p:cNvPr>
          <p:cNvSpPr>
            <a:spLocks noGrp="1"/>
          </p:cNvSpPr>
          <p:nvPr>
            <p:ph idx="1"/>
          </p:nvPr>
        </p:nvSpPr>
        <p:spPr>
          <a:xfrm>
            <a:off x="838200" y="1109202"/>
            <a:ext cx="10515600" cy="4351338"/>
          </a:xfrm>
        </p:spPr>
        <p:txBody>
          <a:bodyPr/>
          <a:lstStyle/>
          <a:p>
            <a:r>
              <a:rPr lang="en-IN" b="1" dirty="0" err="1"/>
              <a:t>np.zeros</a:t>
            </a:r>
            <a:r>
              <a:rPr lang="en-IN" b="1" dirty="0"/>
              <a:t>()</a:t>
            </a:r>
            <a:r>
              <a:rPr lang="en-IN" dirty="0"/>
              <a:t> : Creates an array of zeros</a:t>
            </a:r>
          </a:p>
          <a:p>
            <a:r>
              <a:rPr lang="en-IN" b="1" dirty="0"/>
              <a:t>Syntax: 	</a:t>
            </a:r>
            <a:r>
              <a:rPr lang="en-IN" b="1" dirty="0" err="1"/>
              <a:t>np.zeros</a:t>
            </a:r>
            <a:r>
              <a:rPr lang="en-IN" b="1" dirty="0"/>
              <a:t>()</a:t>
            </a:r>
            <a:endParaRPr lang="en-IN" dirty="0"/>
          </a:p>
          <a:p>
            <a:r>
              <a:rPr lang="en-IN" b="1" dirty="0"/>
              <a:t>Example:	</a:t>
            </a:r>
            <a:endParaRPr lang="en-IN" dirty="0"/>
          </a:p>
          <a:p>
            <a:r>
              <a:rPr lang="en-IN" dirty="0"/>
              <a:t>import </a:t>
            </a:r>
            <a:r>
              <a:rPr lang="en-IN" dirty="0" err="1"/>
              <a:t>numpy</a:t>
            </a:r>
            <a:r>
              <a:rPr lang="en-IN" dirty="0"/>
              <a:t> as np</a:t>
            </a:r>
          </a:p>
          <a:p>
            <a:r>
              <a:rPr lang="en-IN" dirty="0" err="1"/>
              <a:t>np.zeros</a:t>
            </a:r>
            <a:r>
              <a:rPr lang="en-IN" dirty="0"/>
              <a:t>((2,3))</a:t>
            </a:r>
          </a:p>
          <a:p>
            <a:pPr marL="0" indent="0">
              <a:buNone/>
            </a:pPr>
            <a:r>
              <a:rPr lang="en-IN" b="1" dirty="0"/>
              <a:t>O/P:</a:t>
            </a:r>
            <a:r>
              <a:rPr lang="en-IN" dirty="0"/>
              <a:t>	 array([[0., 0., 0.],</a:t>
            </a:r>
          </a:p>
          <a:p>
            <a:pPr marL="0" indent="0">
              <a:buNone/>
            </a:pPr>
            <a:r>
              <a:rPr lang="en-IN" dirty="0"/>
              <a:t>	 [0., 0., 0.]])</a:t>
            </a:r>
          </a:p>
          <a:p>
            <a:endParaRPr lang="en-IN" dirty="0"/>
          </a:p>
        </p:txBody>
      </p:sp>
    </p:spTree>
    <p:extLst>
      <p:ext uri="{BB962C8B-B14F-4D97-AF65-F5344CB8AC3E}">
        <p14:creationId xmlns:p14="http://schemas.microsoft.com/office/powerpoint/2010/main" val="27508431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4E9753-9166-4A9F-BC80-481C509E6B5F}"/>
              </a:ext>
            </a:extLst>
          </p:cNvPr>
          <p:cNvSpPr>
            <a:spLocks noGrp="1"/>
          </p:cNvSpPr>
          <p:nvPr>
            <p:ph idx="1"/>
          </p:nvPr>
        </p:nvSpPr>
        <p:spPr>
          <a:xfrm>
            <a:off x="838200" y="773573"/>
            <a:ext cx="10515600" cy="4351338"/>
          </a:xfrm>
        </p:spPr>
        <p:txBody>
          <a:bodyPr/>
          <a:lstStyle/>
          <a:p>
            <a:r>
              <a:rPr lang="en-IN" b="1" dirty="0" err="1"/>
              <a:t>np.linspace</a:t>
            </a:r>
            <a:r>
              <a:rPr lang="en-IN" b="1" dirty="0"/>
              <a:t>() : </a:t>
            </a:r>
            <a:r>
              <a:rPr lang="en-IN" dirty="0"/>
              <a:t>Returns evenly spaced numbers over a specified interval where start is the starting value of the sequence, stop is the end value of the sequence, and </a:t>
            </a:r>
            <a:r>
              <a:rPr lang="en-IN" dirty="0" err="1"/>
              <a:t>num</a:t>
            </a:r>
            <a:r>
              <a:rPr lang="en-IN" dirty="0"/>
              <a:t> (an integer and optional) is the number of samples to generate. </a:t>
            </a:r>
          </a:p>
          <a:p>
            <a:r>
              <a:rPr lang="en-IN" dirty="0"/>
              <a:t>Default is 50.  Must be non-negative. The optional </a:t>
            </a:r>
            <a:r>
              <a:rPr lang="en-IN" dirty="0" err="1"/>
              <a:t>dtype</a:t>
            </a:r>
            <a:r>
              <a:rPr lang="en-IN" dirty="0"/>
              <a:t> is the type of the output array.	</a:t>
            </a:r>
          </a:p>
          <a:p>
            <a:r>
              <a:rPr lang="en-IN" b="1" dirty="0"/>
              <a:t>The syntax for </a:t>
            </a:r>
            <a:r>
              <a:rPr lang="en-IN" b="1" dirty="0" err="1"/>
              <a:t>linspace</a:t>
            </a:r>
            <a:r>
              <a:rPr lang="en-IN" b="1" dirty="0"/>
              <a:t> is,</a:t>
            </a:r>
            <a:endParaRPr lang="en-IN" dirty="0"/>
          </a:p>
          <a:p>
            <a:r>
              <a:rPr lang="en-IN" b="1" dirty="0" err="1"/>
              <a:t>numpy.linspace</a:t>
            </a:r>
            <a:r>
              <a:rPr lang="en-IN" b="1" dirty="0"/>
              <a:t>(start, stop, </a:t>
            </a:r>
            <a:r>
              <a:rPr lang="en-IN" b="1" dirty="0" err="1"/>
              <a:t>num</a:t>
            </a:r>
            <a:r>
              <a:rPr lang="en-IN" b="1" dirty="0"/>
              <a:t>= 50, </a:t>
            </a:r>
            <a:r>
              <a:rPr lang="en-IN" b="1" dirty="0" err="1"/>
              <a:t>dtype</a:t>
            </a:r>
            <a:r>
              <a:rPr lang="en-IN" b="1" dirty="0"/>
              <a:t>= None)</a:t>
            </a:r>
            <a:endParaRPr lang="en-IN" dirty="0"/>
          </a:p>
          <a:p>
            <a:endParaRPr lang="en-IN" dirty="0"/>
          </a:p>
        </p:txBody>
      </p:sp>
    </p:spTree>
    <p:extLst>
      <p:ext uri="{BB962C8B-B14F-4D97-AF65-F5344CB8AC3E}">
        <p14:creationId xmlns:p14="http://schemas.microsoft.com/office/powerpoint/2010/main" val="3241149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EC768-5B9B-F9F5-A163-8B80702426D0}"/>
              </a:ext>
            </a:extLst>
          </p:cNvPr>
          <p:cNvSpPr>
            <a:spLocks noGrp="1"/>
          </p:cNvSpPr>
          <p:nvPr>
            <p:ph type="title"/>
          </p:nvPr>
        </p:nvSpPr>
        <p:spPr/>
        <p:txBody>
          <a:bodyPr>
            <a:normAutofit fontScale="90000"/>
          </a:bodyPr>
          <a:lstStyle/>
          <a:p>
            <a:r>
              <a:rPr lang="en-IN" b="1" dirty="0"/>
              <a:t>Arithmetic operations on NumPy array with examples.</a:t>
            </a:r>
            <a:br>
              <a:rPr lang="en-IN" dirty="0"/>
            </a:br>
            <a:endParaRPr lang="en-IN" dirty="0"/>
          </a:p>
        </p:txBody>
      </p:sp>
      <p:sp>
        <p:nvSpPr>
          <p:cNvPr id="3" name="Content Placeholder 2">
            <a:extLst>
              <a:ext uri="{FF2B5EF4-FFF2-40B4-BE49-F238E27FC236}">
                <a16:creationId xmlns:a16="http://schemas.microsoft.com/office/drawing/2014/main" id="{F4839E31-84FE-B8C0-733D-53FB9130B4EE}"/>
              </a:ext>
            </a:extLst>
          </p:cNvPr>
          <p:cNvSpPr>
            <a:spLocks noGrp="1"/>
          </p:cNvSpPr>
          <p:nvPr>
            <p:ph idx="1"/>
          </p:nvPr>
        </p:nvSpPr>
        <p:spPr/>
        <p:txBody>
          <a:bodyPr/>
          <a:lstStyle/>
          <a:p>
            <a:r>
              <a:rPr lang="en-IN" b="1" dirty="0"/>
              <a:t>Basic mathematical functions perform element-wise operation on arrays and are available both as operator overloads and as functions in the NumPy module. For example,</a:t>
            </a:r>
            <a:endParaRPr lang="en-IN" dirty="0"/>
          </a:p>
          <a:p>
            <a:r>
              <a:rPr lang="en-IN" dirty="0"/>
              <a:t>1.  &gt;&gt;&gt; import </a:t>
            </a:r>
            <a:r>
              <a:rPr lang="en-IN" dirty="0" err="1"/>
              <a:t>numpy</a:t>
            </a:r>
            <a:r>
              <a:rPr lang="en-IN" dirty="0"/>
              <a:t> as np</a:t>
            </a:r>
          </a:p>
          <a:p>
            <a:r>
              <a:rPr lang="en-IN" dirty="0"/>
              <a:t>  2.  &gt;&gt;&gt; a = </a:t>
            </a:r>
            <a:r>
              <a:rPr lang="en-IN" dirty="0" err="1"/>
              <a:t>np.array</a:t>
            </a:r>
            <a:r>
              <a:rPr lang="en-IN" dirty="0"/>
              <a:t>( [20, 30, 40, 50] )</a:t>
            </a:r>
          </a:p>
          <a:p>
            <a:r>
              <a:rPr lang="en-IN" dirty="0"/>
              <a:t>  3.  &gt;&gt;&gt;  b =  </a:t>
            </a:r>
            <a:r>
              <a:rPr lang="en-IN" dirty="0" err="1"/>
              <a:t>np.arange</a:t>
            </a:r>
            <a:r>
              <a:rPr lang="en-IN" dirty="0"/>
              <a:t>(4)</a:t>
            </a:r>
          </a:p>
          <a:p>
            <a:r>
              <a:rPr lang="en-IN" dirty="0"/>
              <a:t>  4.  &gt;&gt;&gt;  b</a:t>
            </a:r>
          </a:p>
          <a:p>
            <a:r>
              <a:rPr lang="en-IN" dirty="0"/>
              <a:t>  array([0, 1, 2, 3])</a:t>
            </a:r>
          </a:p>
          <a:p>
            <a:endParaRPr lang="en-IN" dirty="0"/>
          </a:p>
        </p:txBody>
      </p:sp>
    </p:spTree>
    <p:extLst>
      <p:ext uri="{BB962C8B-B14F-4D97-AF65-F5344CB8AC3E}">
        <p14:creationId xmlns:p14="http://schemas.microsoft.com/office/powerpoint/2010/main" val="1351405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7DF6FC-BBCD-C606-E61C-0ADD8B810CC0}"/>
              </a:ext>
            </a:extLst>
          </p:cNvPr>
          <p:cNvSpPr>
            <a:spLocks noGrp="1"/>
          </p:cNvSpPr>
          <p:nvPr>
            <p:ph idx="1"/>
          </p:nvPr>
        </p:nvSpPr>
        <p:spPr>
          <a:xfrm>
            <a:off x="838200" y="399947"/>
            <a:ext cx="10515600" cy="6128671"/>
          </a:xfrm>
        </p:spPr>
        <p:txBody>
          <a:bodyPr>
            <a:normAutofit fontScale="92500" lnSpcReduction="10000"/>
          </a:bodyPr>
          <a:lstStyle/>
          <a:p>
            <a:r>
              <a:rPr lang="en-IN" dirty="0"/>
              <a:t>5.  &gt;&gt;&gt;  a +  b</a:t>
            </a:r>
          </a:p>
          <a:p>
            <a:r>
              <a:rPr lang="en-IN" dirty="0"/>
              <a:t>  array([20, 31, 42, 53])</a:t>
            </a:r>
          </a:p>
          <a:p>
            <a:r>
              <a:rPr lang="en-IN" dirty="0"/>
              <a:t>  6.  &gt;&gt;&gt; </a:t>
            </a:r>
            <a:r>
              <a:rPr lang="en-IN" dirty="0" err="1"/>
              <a:t>np.add</a:t>
            </a:r>
            <a:r>
              <a:rPr lang="en-IN" dirty="0"/>
              <a:t>(a, b)</a:t>
            </a:r>
          </a:p>
          <a:p>
            <a:r>
              <a:rPr lang="en-IN" dirty="0"/>
              <a:t>  array([20, 31, 42, 53])                         #&gt;&gt;&gt; a = </a:t>
            </a:r>
            <a:r>
              <a:rPr lang="en-IN" dirty="0" err="1"/>
              <a:t>np.array</a:t>
            </a:r>
            <a:r>
              <a:rPr lang="en-IN" dirty="0"/>
              <a:t>( [20, 30, 40, 50] )                                       						#sarray([0, 1, 2, 3])                                       </a:t>
            </a:r>
          </a:p>
          <a:p>
            <a:r>
              <a:rPr lang="en-IN" dirty="0"/>
              <a:t> 7.  &gt;&gt;&gt; a – b</a:t>
            </a:r>
          </a:p>
          <a:p>
            <a:r>
              <a:rPr lang="en-IN" dirty="0"/>
              <a:t>  array([20, 29, 38, 47])</a:t>
            </a:r>
          </a:p>
          <a:p>
            <a:r>
              <a:rPr lang="en-IN" dirty="0"/>
              <a:t>  8.  &gt;&gt;&gt;  </a:t>
            </a:r>
            <a:r>
              <a:rPr lang="en-IN" dirty="0" err="1"/>
              <a:t>np.subtract</a:t>
            </a:r>
            <a:r>
              <a:rPr lang="en-IN" dirty="0"/>
              <a:t>(a, b)</a:t>
            </a:r>
          </a:p>
          <a:p>
            <a:r>
              <a:rPr lang="en-IN" dirty="0"/>
              <a:t>  array([20, 29, 38, 47])</a:t>
            </a:r>
          </a:p>
          <a:p>
            <a:r>
              <a:rPr lang="en-IN" dirty="0"/>
              <a:t>  9.  &gt;&gt;&gt; A =  </a:t>
            </a:r>
            <a:r>
              <a:rPr lang="en-IN" dirty="0" err="1"/>
              <a:t>np.array</a:t>
            </a:r>
            <a:r>
              <a:rPr lang="en-IN" dirty="0"/>
              <a:t>( [[1, 1], [6, 1]] )</a:t>
            </a:r>
          </a:p>
          <a:p>
            <a:r>
              <a:rPr lang="en-IN" dirty="0"/>
              <a:t>  10.  &gt;&gt;&gt;  B = </a:t>
            </a:r>
            <a:r>
              <a:rPr lang="en-IN" dirty="0" err="1"/>
              <a:t>np.array</a:t>
            </a:r>
            <a:r>
              <a:rPr lang="en-IN" dirty="0"/>
              <a:t>( [[2, 8], [3, 4]] )</a:t>
            </a:r>
          </a:p>
          <a:p>
            <a:r>
              <a:rPr lang="en-IN" dirty="0"/>
              <a:t>  11.  &gt;&gt;&gt;  A * B</a:t>
            </a:r>
          </a:p>
          <a:p>
            <a:r>
              <a:rPr lang="en-IN" dirty="0"/>
              <a:t>  array([[2, 8],</a:t>
            </a:r>
          </a:p>
          <a:p>
            <a:r>
              <a:rPr lang="en-IN" dirty="0"/>
              <a:t>         [18, 4]])</a:t>
            </a:r>
          </a:p>
          <a:p>
            <a:endParaRPr lang="en-IN" dirty="0"/>
          </a:p>
        </p:txBody>
      </p:sp>
    </p:spTree>
    <p:extLst>
      <p:ext uri="{BB962C8B-B14F-4D97-AF65-F5344CB8AC3E}">
        <p14:creationId xmlns:p14="http://schemas.microsoft.com/office/powerpoint/2010/main" val="26054082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5724CB-52F5-9DAC-9ED7-5E55E6ADD9FD}"/>
              </a:ext>
            </a:extLst>
          </p:cNvPr>
          <p:cNvSpPr>
            <a:spLocks noGrp="1"/>
          </p:cNvSpPr>
          <p:nvPr>
            <p:ph idx="1"/>
          </p:nvPr>
        </p:nvSpPr>
        <p:spPr>
          <a:xfrm>
            <a:off x="582561" y="714579"/>
            <a:ext cx="10515600" cy="5794375"/>
          </a:xfrm>
        </p:spPr>
        <p:txBody>
          <a:bodyPr>
            <a:normAutofit fontScale="62500" lnSpcReduction="20000"/>
          </a:bodyPr>
          <a:lstStyle/>
          <a:p>
            <a:r>
              <a:rPr lang="en-IN" dirty="0"/>
              <a:t> 12.  &gt;&gt;&gt;  </a:t>
            </a:r>
            <a:r>
              <a:rPr lang="en-IN" dirty="0" err="1"/>
              <a:t>np.multiply</a:t>
            </a:r>
            <a:r>
              <a:rPr lang="en-IN" dirty="0"/>
              <a:t>(A, B)</a:t>
            </a:r>
          </a:p>
          <a:p>
            <a:r>
              <a:rPr lang="en-IN" dirty="0"/>
              <a:t>  array([[ 2, 8],</a:t>
            </a:r>
          </a:p>
          <a:p>
            <a:r>
              <a:rPr lang="en-IN" dirty="0"/>
              <a:t>         [18, 4]])</a:t>
            </a:r>
          </a:p>
          <a:p>
            <a:pPr marL="0" indent="0">
              <a:buNone/>
            </a:pPr>
            <a:endParaRPr lang="en-IN" dirty="0"/>
          </a:p>
          <a:p>
            <a:r>
              <a:rPr lang="en-IN" dirty="0"/>
              <a:t>  13.  &gt;&gt;&gt; A / B</a:t>
            </a:r>
          </a:p>
          <a:p>
            <a:r>
              <a:rPr lang="en-IN" dirty="0"/>
              <a:t>  array([[0.5 , 0.125],</a:t>
            </a:r>
          </a:p>
          <a:p>
            <a:r>
              <a:rPr lang="en-IN" dirty="0"/>
              <a:t>         [2. , 0.25 ]])</a:t>
            </a:r>
          </a:p>
          <a:p>
            <a:r>
              <a:rPr lang="en-IN" dirty="0"/>
              <a:t>14.  &gt;&gt;&gt; </a:t>
            </a:r>
            <a:r>
              <a:rPr lang="en-IN" dirty="0" err="1"/>
              <a:t>np.divide</a:t>
            </a:r>
            <a:r>
              <a:rPr lang="en-IN" dirty="0"/>
              <a:t>(A, B)</a:t>
            </a:r>
          </a:p>
          <a:p>
            <a:r>
              <a:rPr lang="en-IN" dirty="0"/>
              <a:t>  array([[0.5 , 0.125],</a:t>
            </a:r>
          </a:p>
          <a:p>
            <a:r>
              <a:rPr lang="en-IN" dirty="0"/>
              <a:t>         [2. , 0.25 ]])</a:t>
            </a:r>
          </a:p>
          <a:p>
            <a:r>
              <a:rPr lang="en-IN" dirty="0"/>
              <a:t> 15.  &gt;&gt;&gt; np.dot(A, B)</a:t>
            </a:r>
          </a:p>
          <a:p>
            <a:r>
              <a:rPr lang="en-IN" dirty="0"/>
              <a:t>  array([[ 5, 12],</a:t>
            </a:r>
          </a:p>
          <a:p>
            <a:r>
              <a:rPr lang="en-IN" dirty="0"/>
              <a:t>         [15, 52]])</a:t>
            </a:r>
          </a:p>
          <a:p>
            <a:r>
              <a:rPr lang="en-IN" dirty="0"/>
              <a:t>  16.  &gt;&gt;&gt; B**2</a:t>
            </a:r>
          </a:p>
          <a:p>
            <a:r>
              <a:rPr lang="en-IN" dirty="0"/>
              <a:t>  array([[ 4, 64],</a:t>
            </a:r>
          </a:p>
          <a:p>
            <a:r>
              <a:rPr lang="en-IN" dirty="0"/>
              <a:t>         [ 9, 16]], </a:t>
            </a:r>
            <a:r>
              <a:rPr lang="en-IN" dirty="0" err="1"/>
              <a:t>dtype</a:t>
            </a:r>
            <a:r>
              <a:rPr lang="en-IN" dirty="0"/>
              <a:t>=int32)</a:t>
            </a:r>
          </a:p>
          <a:p>
            <a:r>
              <a:rPr lang="en-IN" dirty="0"/>
              <a:t>Element-wise sum, subtract, multiply, and divide operations are performed resulting in an array 5 –14. Matrix product is carried out in 15. Every element is squared in array B as shown in 16.</a:t>
            </a:r>
          </a:p>
        </p:txBody>
      </p:sp>
    </p:spTree>
    <p:extLst>
      <p:ext uri="{BB962C8B-B14F-4D97-AF65-F5344CB8AC3E}">
        <p14:creationId xmlns:p14="http://schemas.microsoft.com/office/powerpoint/2010/main" val="16012293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1506</Words>
  <Application>Microsoft Office PowerPoint</Application>
  <PresentationFormat>Widescreen</PresentationFormat>
  <Paragraphs>125</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UNIT-4 Python SQLITE </vt:lpstr>
      <vt:lpstr>Introduction </vt:lpstr>
      <vt:lpstr>SQLite Methods </vt:lpstr>
      <vt:lpstr>PowerPoint Presentation</vt:lpstr>
      <vt:lpstr>PowerPoint Presentation</vt:lpstr>
      <vt:lpstr>PowerPoint Presentation</vt:lpstr>
      <vt:lpstr>SQLite database operations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NumPy in Python? Give any two uses of NumPy. </vt:lpstr>
      <vt:lpstr>How to create two-dimensional arrays using NumPy. </vt:lpstr>
      <vt:lpstr>NumPy array attributes.  </vt:lpstr>
      <vt:lpstr>syntax and example for NumPy arrange() function </vt:lpstr>
      <vt:lpstr>NumPy array attributes with syntax.  </vt:lpstr>
      <vt:lpstr>PowerPoint Presentation</vt:lpstr>
      <vt:lpstr>PowerPoint Presentation</vt:lpstr>
      <vt:lpstr>PowerPoint Presentation</vt:lpstr>
      <vt:lpstr>PowerPoint Presentation</vt:lpstr>
      <vt:lpstr>PowerPoint Presentation</vt:lpstr>
      <vt:lpstr>NumPy array creation functions </vt:lpstr>
      <vt:lpstr>PowerPoint Presentation</vt:lpstr>
      <vt:lpstr>Arithmetic operations on NumPy array with examples.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 Shetty</dc:creator>
  <cp:lastModifiedBy>Divya Shetty</cp:lastModifiedBy>
  <cp:revision>53</cp:revision>
  <dcterms:created xsi:type="dcterms:W3CDTF">2026-03-27T06:41:55Z</dcterms:created>
  <dcterms:modified xsi:type="dcterms:W3CDTF">2026-03-31T05:03:18Z</dcterms:modified>
</cp:coreProperties>
</file>