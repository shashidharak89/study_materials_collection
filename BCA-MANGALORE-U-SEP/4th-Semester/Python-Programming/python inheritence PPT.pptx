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8BBAD-4CF0-8557-F7AA-CF04DB5B3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E8448-5702-BA7B-DFC5-FA1426627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58B14-60C6-F8E3-86B9-67ACA45F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D6641-5776-2FCF-A710-C7A71C7D0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1C6D2-A3A0-C273-AD65-BF858180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41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CFF9-50E5-6F00-C8C1-5072267A1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8237-F9D7-382F-D50D-13C10E203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17E3-CF26-3ED8-0CA1-52B31AE6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59F37-C225-5AE7-50CE-EE4EE1E19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973C5-0F9A-BEBE-9259-91CFAD956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84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075A-ADE9-30C8-5A61-5408D536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AB821-378A-93B6-EEB1-BCB8B62F2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E24D-C116-7B78-7A2B-4F3F35B2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7F6ABF-738A-D55C-053A-21F90565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5CBC-B46F-F05B-239B-52434DC2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327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47BC-B480-5984-AAF2-4CBB82B44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27F9-9BBF-A347-0E85-1951C89322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E6524-E958-8D33-AED4-5D2A9FA64E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53AC7-A9B4-8006-4C91-6A438996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93B8D-2EFF-150A-1441-728A12C5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7853A-1841-E225-A76D-6BCD85B0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96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A0F9-0DB8-3AF0-9954-7D7BB616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DEC5-85A6-D2EB-4722-57FCD43CD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1764DF-E749-FF7E-E376-A8BAD9299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4C4286-E487-52DA-FC93-F357698ED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CF12A-2900-CC1A-6DAD-0142DB29B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5AB96-0BE3-15DA-03DD-F55C2CB88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A3A1D-78D6-A404-3C16-1764691CA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3AA17-58D8-774F-9D81-1300DBA1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09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EDEE-48AA-DD06-229F-564395E04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394D89-BCEE-551B-3753-930B82721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F83F8-FE37-3C1C-23DA-7EFFB9257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E9252-BA10-71B8-B81F-24BDE55C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908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04BC1-EA51-80FB-3D03-E281766A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20A73-B1E6-1718-EA85-64AE8DB1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C08C-66B7-F704-5253-2D8B2E716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525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2AA8-A9D0-A03D-1601-A18914400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60BDD-D0E8-A586-3E9A-5016F9ED4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E3B7C-7FB6-65AE-67C7-5E6EB4B9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A2F57-EEF9-74FE-C12F-58895C3B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0F3E5-35E6-F848-A0E6-087C4128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3515D-55BB-5136-2E9A-05DB0995D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844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6A1E-E410-1FBF-9BCA-C5A54A75C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F2D36-CCFB-06E9-38DE-9AADC0E71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865E3-1FFA-70B3-4859-97023851D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740C0-63C7-F9A6-3BBD-07C0E378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BB52B-0BC1-29F7-03C3-F2A1CD12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3AB8B-BDFD-22FD-ED68-D17316505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786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6B67F-4E32-9DB9-5670-87188BCE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C9AC2-BE48-5792-495C-29AF67BBF5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BA666-7729-B931-B15E-F226FEB3C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3B24D-B3A0-75DC-6D58-AD03803F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E2BE-022F-5392-02B0-9CA2DAC9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877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875BC-CE6C-0562-F6AF-35B389760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60B2C9-2163-3103-2259-F9B9E3E78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1A7F1-41CD-7BA2-490C-503AC532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5DA5-DD55-E522-267D-96249C84E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BA1B4-94F0-35A3-CB0A-3F562ABB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28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D71AE7-3DF6-CFF2-37F0-BD9490B09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314F6-2C4E-C505-52C8-D4F27623F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BDE5D-7578-CAC0-E850-C4762D789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C9163-157E-40B1-B538-7A6F819AF631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57FFE-8346-BAF3-3DE1-92208269F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4CE35-C750-8E55-57F6-622B0F436E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3D3E6-02F8-464F-82F3-EFC6427693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49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38E1-F325-0A82-1C7A-4C8A32A6F5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Inheritance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404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FF77-F049-A043-E4B5-9585133F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603"/>
            <a:ext cx="10515600" cy="58860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What is Inheritance?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4D562-022B-906F-AD3E-8632BEDBE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0207"/>
            <a:ext cx="10515600" cy="527992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Inheritance</a:t>
            </a:r>
            <a:r>
              <a:rPr lang="en-IN" dirty="0"/>
              <a:t> is an Object-Oriented Programming (OOP) concept where </a:t>
            </a:r>
            <a:r>
              <a:rPr lang="en-IN" b="1" dirty="0"/>
              <a:t>one class (child class) acquires the properties and methods of another class (parent class)</a:t>
            </a:r>
            <a:r>
              <a:rPr lang="en-IN" dirty="0"/>
              <a:t>.</a:t>
            </a:r>
          </a:p>
          <a:p>
            <a:r>
              <a:rPr lang="en-IN" u="sng" dirty="0"/>
              <a:t>It helps in:</a:t>
            </a:r>
          </a:p>
          <a:p>
            <a:pPr lvl="0"/>
            <a:r>
              <a:rPr lang="en-IN" b="1" dirty="0"/>
              <a:t>Reusing code</a:t>
            </a:r>
            <a:endParaRPr lang="en-IN" dirty="0"/>
          </a:p>
          <a:p>
            <a:pPr lvl="0"/>
            <a:r>
              <a:rPr lang="en-IN" b="1" dirty="0"/>
              <a:t>Reducing duplication</a:t>
            </a:r>
            <a:endParaRPr lang="en-IN" dirty="0"/>
          </a:p>
          <a:p>
            <a:pPr lvl="0"/>
            <a:r>
              <a:rPr lang="en-IN" b="1" dirty="0"/>
              <a:t>Creating a relationship between classes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Definition</a:t>
            </a:r>
            <a:endParaRPr lang="en-IN" dirty="0"/>
          </a:p>
          <a:p>
            <a:r>
              <a:rPr lang="en-IN" b="1" dirty="0"/>
              <a:t>Inheritance is the mechanism by which a new class inherits the attributes and methods of an existing class.</a:t>
            </a:r>
            <a:endParaRPr lang="en-IN" dirty="0"/>
          </a:p>
          <a:p>
            <a:pPr lvl="0"/>
            <a:r>
              <a:rPr lang="en-IN" b="1" dirty="0"/>
              <a:t>Parent Class (Base Class / Superclass)</a:t>
            </a:r>
            <a:r>
              <a:rPr lang="en-IN" dirty="0"/>
              <a:t> → The class whose properties are inherited.</a:t>
            </a:r>
          </a:p>
          <a:p>
            <a:pPr lvl="0"/>
            <a:r>
              <a:rPr lang="en-IN" b="1" dirty="0"/>
              <a:t>Child Class (Derived Class / Subclass)</a:t>
            </a:r>
            <a:r>
              <a:rPr lang="en-IN" dirty="0"/>
              <a:t> → The class that inherits the properties.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954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B28F-1984-7F8E-482D-52B2241E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How to Implement Inheritance in Python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500EB-CDCA-12BF-F3C1-6D7C7B06A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542" y="862064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/>
              <a:t>In Python, inheritance is implemented by </a:t>
            </a:r>
            <a:r>
              <a:rPr lang="en-IN" b="1" dirty="0"/>
              <a:t>passing the parent class name inside the child class parentheses</a:t>
            </a:r>
            <a:r>
              <a:rPr lang="en-IN" dirty="0"/>
              <a:t>.</a:t>
            </a:r>
          </a:p>
          <a:p>
            <a:r>
              <a:rPr lang="en-IN" b="1" dirty="0"/>
              <a:t>Syntax</a:t>
            </a:r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ParentClass</a:t>
            </a:r>
            <a:r>
              <a:rPr lang="en-IN" dirty="0"/>
              <a:t>:</a:t>
            </a:r>
          </a:p>
          <a:p>
            <a:r>
              <a:rPr lang="en-IN" dirty="0"/>
              <a:t>    # properties and methods</a:t>
            </a:r>
          </a:p>
          <a:p>
            <a:r>
              <a:rPr lang="en-IN" dirty="0"/>
              <a:t>    pass</a:t>
            </a:r>
          </a:p>
          <a:p>
            <a:r>
              <a:rPr lang="en-IN" dirty="0"/>
              <a:t>class </a:t>
            </a:r>
            <a:r>
              <a:rPr lang="en-IN" dirty="0" err="1"/>
              <a:t>ChildClass</a:t>
            </a:r>
            <a:r>
              <a:rPr lang="en-IN" dirty="0"/>
              <a:t>(</a:t>
            </a:r>
            <a:r>
              <a:rPr lang="en-IN" dirty="0" err="1"/>
              <a:t>ParentClass</a:t>
            </a:r>
            <a:r>
              <a:rPr lang="en-IN" dirty="0"/>
              <a:t>):</a:t>
            </a:r>
          </a:p>
          <a:p>
            <a:r>
              <a:rPr lang="en-IN" dirty="0"/>
              <a:t>    # inherits </a:t>
            </a:r>
            <a:r>
              <a:rPr lang="en-IN" dirty="0" err="1"/>
              <a:t>ParentClass</a:t>
            </a:r>
            <a:endParaRPr lang="en-IN" dirty="0"/>
          </a:p>
          <a:p>
            <a:r>
              <a:rPr lang="en-IN" dirty="0"/>
              <a:t>    pass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40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461C8-1E76-6E4F-7125-5FECE36D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Example of Inheritance in Python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D8C1-B6CD-3C3A-FC4C-931908C2E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883"/>
            <a:ext cx="10515600" cy="53125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3300" b="1" dirty="0"/>
              <a:t>class Animal:            # Parent class</a:t>
            </a:r>
          </a:p>
          <a:p>
            <a:pPr marL="0" indent="0">
              <a:buNone/>
            </a:pPr>
            <a:r>
              <a:rPr lang="en-IN" sz="3300" b="1" dirty="0"/>
              <a:t> def eat(self):</a:t>
            </a:r>
          </a:p>
          <a:p>
            <a:pPr marL="0" indent="0">
              <a:buNone/>
            </a:pPr>
            <a:r>
              <a:rPr lang="en-IN" sz="3300" b="1" dirty="0"/>
              <a:t> print("Animal eats food")</a:t>
            </a:r>
          </a:p>
          <a:p>
            <a:pPr marL="0" indent="0">
              <a:buNone/>
            </a:pPr>
            <a:endParaRPr lang="en-IN" sz="3300" b="1" dirty="0"/>
          </a:p>
          <a:p>
            <a:r>
              <a:rPr lang="en-IN" sz="3300" b="1" dirty="0"/>
              <a:t>class Dog(Animal):       # Child class inheriting Animal</a:t>
            </a:r>
          </a:p>
          <a:p>
            <a:pPr marL="0" indent="0">
              <a:buNone/>
            </a:pPr>
            <a:r>
              <a:rPr lang="en-IN" sz="3300" b="1" dirty="0"/>
              <a:t>def bark(self):</a:t>
            </a:r>
          </a:p>
          <a:p>
            <a:r>
              <a:rPr lang="en-IN" sz="3300" b="1" dirty="0"/>
              <a:t> print("Dog barks")</a:t>
            </a:r>
          </a:p>
          <a:p>
            <a:pPr marL="0" indent="0">
              <a:buNone/>
            </a:pPr>
            <a:r>
              <a:rPr lang="en-IN" sz="3300" b="1" dirty="0"/>
              <a:t> </a:t>
            </a:r>
          </a:p>
          <a:p>
            <a:r>
              <a:rPr lang="en-IN" sz="3300" b="1" dirty="0"/>
              <a:t># Creating object</a:t>
            </a:r>
          </a:p>
          <a:p>
            <a:r>
              <a:rPr lang="en-IN" sz="3300" b="1" dirty="0"/>
              <a:t>d = Dog() </a:t>
            </a:r>
          </a:p>
          <a:p>
            <a:r>
              <a:rPr lang="en-IN" sz="3300" b="1" dirty="0"/>
              <a:t># Calling methods</a:t>
            </a:r>
          </a:p>
          <a:p>
            <a:r>
              <a:rPr lang="en-IN" sz="3300" b="1" dirty="0" err="1"/>
              <a:t>d.eat</a:t>
            </a:r>
            <a:r>
              <a:rPr lang="en-IN" sz="3300" b="1" dirty="0"/>
              <a:t>()</a:t>
            </a:r>
          </a:p>
          <a:p>
            <a:r>
              <a:rPr lang="en-IN" sz="3300" b="1" dirty="0" err="1"/>
              <a:t>d.bark</a:t>
            </a:r>
            <a:r>
              <a:rPr lang="en-IN" sz="3300" b="1" dirty="0"/>
              <a:t>()</a:t>
            </a:r>
          </a:p>
          <a:p>
            <a:pPr marL="0" indent="0">
              <a:buNone/>
            </a:pPr>
            <a:r>
              <a:rPr lang="en-IN" sz="3300" b="1" dirty="0"/>
              <a:t>Output</a:t>
            </a:r>
          </a:p>
          <a:p>
            <a:r>
              <a:rPr lang="en-IN" sz="3300" b="1" dirty="0"/>
              <a:t>Animal eats food</a:t>
            </a:r>
          </a:p>
          <a:p>
            <a:r>
              <a:rPr lang="en-IN" sz="3300" b="1" dirty="0"/>
              <a:t>Dog barks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88523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1B3F3-33A5-BC12-0160-B112BFD60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685083"/>
            <a:ext cx="10515600" cy="4351338"/>
          </a:xfrm>
        </p:spPr>
        <p:txBody>
          <a:bodyPr/>
          <a:lstStyle/>
          <a:p>
            <a:r>
              <a:rPr lang="en-IN" b="1" dirty="0"/>
              <a:t>Explanation</a:t>
            </a:r>
            <a:endParaRPr lang="en-IN" dirty="0"/>
          </a:p>
          <a:p>
            <a:pPr lvl="0"/>
            <a:r>
              <a:rPr lang="en-IN" dirty="0"/>
              <a:t>Animal is the </a:t>
            </a:r>
            <a:r>
              <a:rPr lang="en-IN" b="1" dirty="0"/>
              <a:t>parent class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Dog is the </a:t>
            </a:r>
            <a:r>
              <a:rPr lang="en-IN" b="1" dirty="0"/>
              <a:t>child class</a:t>
            </a:r>
            <a:r>
              <a:rPr lang="en-IN" dirty="0"/>
              <a:t> that inherits from Animal.</a:t>
            </a:r>
          </a:p>
          <a:p>
            <a:pPr lvl="0"/>
            <a:r>
              <a:rPr lang="en-IN" dirty="0"/>
              <a:t>The object d can access:</a:t>
            </a:r>
          </a:p>
          <a:p>
            <a:pPr lvl="1"/>
            <a:r>
              <a:rPr lang="en-IN" dirty="0"/>
              <a:t>eat() method from </a:t>
            </a:r>
            <a:r>
              <a:rPr lang="en-IN" b="1" dirty="0"/>
              <a:t>Animal</a:t>
            </a:r>
            <a:endParaRPr lang="en-IN" dirty="0"/>
          </a:p>
          <a:p>
            <a:pPr lvl="1"/>
            <a:r>
              <a:rPr lang="en-IN" dirty="0"/>
              <a:t>bark() method from </a:t>
            </a:r>
            <a:r>
              <a:rPr lang="en-IN" b="1" dirty="0"/>
              <a:t>Dog</a:t>
            </a:r>
            <a:endParaRPr lang="en-IN" dirty="0"/>
          </a:p>
          <a:p>
            <a:r>
              <a:rPr lang="en-IN" dirty="0"/>
              <a:t>So the child class </a:t>
            </a:r>
            <a:r>
              <a:rPr lang="en-IN" b="1" dirty="0"/>
              <a:t>reuses the functionality of the parent class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046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0015-8313-19E4-EEB2-32099FC2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1. Single Inheritance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F655-0A59-D511-D0BE-151BC58FA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472" y="1344867"/>
            <a:ext cx="5787154" cy="4844795"/>
          </a:xfrm>
        </p:spPr>
        <p:txBody>
          <a:bodyPr>
            <a:normAutofit fontScale="40000" lnSpcReduction="20000"/>
          </a:bodyPr>
          <a:lstStyle/>
          <a:p>
            <a:r>
              <a:rPr lang="en-IN" sz="3800" b="1" dirty="0"/>
              <a:t>1. Single Inheritance</a:t>
            </a:r>
          </a:p>
          <a:p>
            <a:pPr marL="0" indent="0">
              <a:buNone/>
            </a:pPr>
            <a:r>
              <a:rPr lang="en-IN" sz="3800" b="1" dirty="0"/>
              <a:t>Single inheritance occurs when one child class inherits from one parent class.</a:t>
            </a:r>
          </a:p>
          <a:p>
            <a:pPr marL="0" indent="0">
              <a:buNone/>
            </a:pPr>
            <a:r>
              <a:rPr lang="en-IN" sz="3800" b="1" dirty="0"/>
              <a:t>Structure</a:t>
            </a:r>
          </a:p>
          <a:p>
            <a:r>
              <a:rPr lang="en-IN" sz="3800" b="1" dirty="0"/>
              <a:t>Parent</a:t>
            </a:r>
          </a:p>
          <a:p>
            <a:r>
              <a:rPr lang="en-IN" sz="3800" b="1" dirty="0"/>
              <a:t>  ↓</a:t>
            </a:r>
          </a:p>
          <a:p>
            <a:r>
              <a:rPr lang="en-IN" sz="3800" b="1" dirty="0"/>
              <a:t>Child</a:t>
            </a:r>
          </a:p>
          <a:p>
            <a:r>
              <a:rPr lang="en-IN" sz="3800" b="1" dirty="0"/>
              <a:t>Example</a:t>
            </a:r>
          </a:p>
          <a:p>
            <a:r>
              <a:rPr lang="en-IN" sz="3800" b="1" dirty="0"/>
              <a:t>class Animal:   # Parent class</a:t>
            </a:r>
          </a:p>
          <a:p>
            <a:r>
              <a:rPr lang="en-IN" sz="3800" b="1" dirty="0"/>
              <a:t>    def eat(self):</a:t>
            </a:r>
          </a:p>
          <a:p>
            <a:r>
              <a:rPr lang="en-IN" sz="3800" b="1" dirty="0"/>
              <a:t>        print("Animal eats food")</a:t>
            </a:r>
          </a:p>
          <a:p>
            <a:pPr marL="0" indent="0">
              <a:buNone/>
            </a:pPr>
            <a:r>
              <a:rPr lang="en-IN" sz="3800" b="1" dirty="0"/>
              <a:t> </a:t>
            </a:r>
          </a:p>
          <a:p>
            <a:pPr marL="0" indent="0">
              <a:buNone/>
            </a:pPr>
            <a:r>
              <a:rPr lang="en-IN" sz="3800" b="1" dirty="0"/>
              <a:t>class Dog(Animal):   # Child class</a:t>
            </a:r>
          </a:p>
          <a:p>
            <a:pPr marL="0" indent="0">
              <a:buNone/>
            </a:pPr>
            <a:r>
              <a:rPr lang="en-IN" sz="3800" b="1" dirty="0"/>
              <a:t>    def bark(self):</a:t>
            </a:r>
          </a:p>
          <a:p>
            <a:pPr marL="0" indent="0">
              <a:buNone/>
            </a:pPr>
            <a:r>
              <a:rPr lang="en-IN" sz="3800" b="1" dirty="0"/>
              <a:t>        print("Dog barks")</a:t>
            </a:r>
          </a:p>
          <a:p>
            <a:pPr marL="0" indent="0">
              <a:buNone/>
            </a:pPr>
            <a:r>
              <a:rPr lang="en-IN" b="1" dirty="0"/>
              <a:t> 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2EF18F-6568-E618-A9F3-241476E32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344867"/>
            <a:ext cx="5183188" cy="4844796"/>
          </a:xfrm>
        </p:spPr>
        <p:txBody>
          <a:bodyPr>
            <a:normAutofit fontScale="40000" lnSpcReduction="20000"/>
          </a:bodyPr>
          <a:lstStyle/>
          <a:p>
            <a:r>
              <a:rPr lang="en-IN" sz="3800" b="1" dirty="0"/>
              <a:t>d = Dog()</a:t>
            </a:r>
          </a:p>
          <a:p>
            <a:r>
              <a:rPr lang="en-IN" sz="3800" b="1" dirty="0" err="1"/>
              <a:t>d.eat</a:t>
            </a:r>
            <a:r>
              <a:rPr lang="en-IN" sz="3800" b="1" dirty="0"/>
              <a:t>()</a:t>
            </a:r>
          </a:p>
          <a:p>
            <a:r>
              <a:rPr lang="en-IN" sz="3800" b="1" dirty="0" err="1"/>
              <a:t>d.bark</a:t>
            </a:r>
            <a:r>
              <a:rPr lang="en-IN" sz="3800" b="1" dirty="0"/>
              <a:t>()</a:t>
            </a:r>
          </a:p>
          <a:p>
            <a:r>
              <a:rPr lang="en-IN" sz="3800" b="1" dirty="0"/>
              <a:t>Output</a:t>
            </a:r>
          </a:p>
          <a:p>
            <a:r>
              <a:rPr lang="en-IN" sz="3800" b="1" dirty="0"/>
              <a:t>Animal eats food</a:t>
            </a:r>
          </a:p>
          <a:p>
            <a:r>
              <a:rPr lang="en-IN" sz="3800" b="1" dirty="0"/>
              <a:t>Dog barks</a:t>
            </a:r>
          </a:p>
          <a:p>
            <a:r>
              <a:rPr lang="en-IN" sz="3800" b="1" dirty="0"/>
              <a:t>Explanation:</a:t>
            </a:r>
            <a:br>
              <a:rPr lang="en-IN" sz="3800" b="1" dirty="0"/>
            </a:br>
            <a:r>
              <a:rPr lang="en-IN" sz="3800" b="1" dirty="0"/>
              <a:t>Dog inherits the eat() method from Animal.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94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5845-8D0E-3031-6BB5-3505C61AE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692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2. Multiple Inheritance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CAB9-F3D7-0106-B856-C6CCC13A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2566"/>
            <a:ext cx="10515600" cy="5568233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Multiple inheritance occurs when one child class inherits from more than one parent class.</a:t>
            </a:r>
          </a:p>
          <a:p>
            <a:r>
              <a:rPr lang="en-IN" b="1" dirty="0"/>
              <a:t>Structure</a:t>
            </a:r>
          </a:p>
          <a:p>
            <a:r>
              <a:rPr lang="en-IN" b="1" dirty="0"/>
              <a:t>Parent1    Parent2</a:t>
            </a:r>
          </a:p>
          <a:p>
            <a:r>
              <a:rPr lang="en-IN" b="1" dirty="0"/>
              <a:t>     \      /</a:t>
            </a:r>
          </a:p>
          <a:p>
            <a:r>
              <a:rPr lang="en-IN" b="1" dirty="0"/>
              <a:t>      \    /</a:t>
            </a:r>
          </a:p>
          <a:p>
            <a:r>
              <a:rPr lang="en-IN" b="1" dirty="0"/>
              <a:t>       Child</a:t>
            </a:r>
          </a:p>
          <a:p>
            <a:r>
              <a:rPr lang="en-IN" b="1" dirty="0"/>
              <a:t>Example</a:t>
            </a:r>
          </a:p>
          <a:p>
            <a:r>
              <a:rPr lang="en-IN" b="1" dirty="0"/>
              <a:t>class Father:</a:t>
            </a:r>
          </a:p>
          <a:p>
            <a:r>
              <a:rPr lang="en-IN" b="1" dirty="0"/>
              <a:t>    def skill1(self):</a:t>
            </a:r>
          </a:p>
          <a:p>
            <a:r>
              <a:rPr lang="en-IN" b="1" dirty="0"/>
              <a:t>        print("Gardening")</a:t>
            </a:r>
          </a:p>
          <a:p>
            <a:r>
              <a:rPr lang="en-IN" b="1" dirty="0"/>
              <a:t>class Mother:</a:t>
            </a:r>
          </a:p>
          <a:p>
            <a:r>
              <a:rPr lang="en-IN" b="1" dirty="0"/>
              <a:t>    def skill2(self):</a:t>
            </a:r>
          </a:p>
          <a:p>
            <a:r>
              <a:rPr lang="en-IN" b="1" dirty="0"/>
              <a:t>        print("Cooking")</a:t>
            </a:r>
          </a:p>
          <a:p>
            <a:r>
              <a:rPr lang="en-IN" b="1" dirty="0"/>
              <a:t>class Child(Father, Mother):</a:t>
            </a:r>
          </a:p>
          <a:p>
            <a:r>
              <a:rPr lang="en-IN" b="1" dirty="0"/>
              <a:t>    pass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4050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44E47-1C59-F4EB-FF6F-DD8D434E0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782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FBBD3E-CEE4-FAD6-D54E-38F98956CFF3}"/>
              </a:ext>
            </a:extLst>
          </p:cNvPr>
          <p:cNvSpPr txBox="1"/>
          <p:nvPr/>
        </p:nvSpPr>
        <p:spPr>
          <a:xfrm>
            <a:off x="1582994" y="125578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 = Child()</a:t>
            </a:r>
          </a:p>
          <a:p>
            <a:r>
              <a:rPr lang="en-IN" b="1" dirty="0"/>
              <a:t>c.skill1()</a:t>
            </a:r>
          </a:p>
          <a:p>
            <a:r>
              <a:rPr lang="en-IN" b="1" dirty="0"/>
              <a:t>c.skill2()</a:t>
            </a:r>
          </a:p>
          <a:p>
            <a:r>
              <a:rPr lang="en-IN" b="1" dirty="0"/>
              <a:t>Output</a:t>
            </a:r>
          </a:p>
          <a:p>
            <a:r>
              <a:rPr lang="en-IN" b="1" dirty="0"/>
              <a:t>Gardening</a:t>
            </a:r>
          </a:p>
          <a:p>
            <a:r>
              <a:rPr lang="en-IN" b="1" dirty="0"/>
              <a:t>Cooking</a:t>
            </a:r>
          </a:p>
          <a:p>
            <a:r>
              <a:rPr lang="en-IN" b="1" dirty="0"/>
              <a:t>Explanation:</a:t>
            </a:r>
            <a:br>
              <a:rPr lang="en-IN" b="1" dirty="0"/>
            </a:br>
            <a:r>
              <a:rPr lang="en-IN" b="1" dirty="0"/>
              <a:t>Child inherits methods from both Father and Mother.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947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C15DF-EC80-8A23-A875-E64D1AE73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Multilevel Inheritance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06B67-2FB0-4429-CF6E-608449C1C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55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Multilevel inheritance</a:t>
            </a:r>
            <a:r>
              <a:rPr lang="en-IN" dirty="0"/>
              <a:t> occurs when </a:t>
            </a:r>
            <a:r>
              <a:rPr lang="en-IN" b="1" dirty="0"/>
              <a:t>a class inherits from another class, and another class inherits from it</a:t>
            </a:r>
            <a:r>
              <a:rPr lang="en-IN" dirty="0"/>
              <a:t>.</a:t>
            </a:r>
          </a:p>
          <a:p>
            <a:r>
              <a:rPr lang="en-IN" b="1" dirty="0"/>
              <a:t>Structure</a:t>
            </a:r>
            <a:endParaRPr lang="en-IN" dirty="0"/>
          </a:p>
          <a:p>
            <a:r>
              <a:rPr lang="en-IN" dirty="0"/>
              <a:t>Grandparent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Parent</a:t>
            </a:r>
          </a:p>
          <a:p>
            <a:r>
              <a:rPr lang="en-IN" dirty="0"/>
              <a:t>     ↓</a:t>
            </a:r>
          </a:p>
          <a:p>
            <a:r>
              <a:rPr lang="en-IN" dirty="0"/>
              <a:t>Child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849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335A28-20C5-EF98-85EF-31F65CED59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058" y="852230"/>
            <a:ext cx="5181600" cy="517494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class Grandparent:</a:t>
            </a:r>
          </a:p>
          <a:p>
            <a:r>
              <a:rPr lang="en-IN" dirty="0"/>
              <a:t>    def property(self):</a:t>
            </a:r>
          </a:p>
          <a:p>
            <a:r>
              <a:rPr lang="en-IN" dirty="0"/>
              <a:t>        print("Grandparent property")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Parent(Grandparent):</a:t>
            </a:r>
          </a:p>
          <a:p>
            <a:r>
              <a:rPr lang="en-IN" dirty="0"/>
              <a:t>    def house(self):</a:t>
            </a:r>
          </a:p>
          <a:p>
            <a:r>
              <a:rPr lang="en-IN" dirty="0"/>
              <a:t>        print("Parent house")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Child(Parent):</a:t>
            </a:r>
          </a:p>
          <a:p>
            <a:r>
              <a:rPr lang="en-IN" dirty="0"/>
              <a:t>    def bike(self):</a:t>
            </a:r>
          </a:p>
          <a:p>
            <a:r>
              <a:rPr lang="en-IN" dirty="0"/>
              <a:t>        print("Child bike")</a:t>
            </a:r>
          </a:p>
          <a:p>
            <a:r>
              <a:rPr lang="en-IN" dirty="0"/>
              <a:t> </a:t>
            </a:r>
          </a:p>
          <a:p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672D82D-3EA5-AF91-3E13-048D300EA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52230"/>
            <a:ext cx="5181600" cy="5324733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c = Child()</a:t>
            </a:r>
          </a:p>
          <a:p>
            <a:r>
              <a:rPr lang="en-IN" dirty="0" err="1"/>
              <a:t>c.property</a:t>
            </a:r>
            <a:r>
              <a:rPr lang="en-IN" dirty="0"/>
              <a:t>()</a:t>
            </a:r>
          </a:p>
          <a:p>
            <a:r>
              <a:rPr lang="en-IN" dirty="0" err="1"/>
              <a:t>c.house</a:t>
            </a:r>
            <a:r>
              <a:rPr lang="en-IN" dirty="0"/>
              <a:t>()</a:t>
            </a:r>
          </a:p>
          <a:p>
            <a:r>
              <a:rPr lang="en-IN" dirty="0" err="1"/>
              <a:t>c.bike</a:t>
            </a:r>
            <a:r>
              <a:rPr lang="en-IN" dirty="0"/>
              <a:t>()</a:t>
            </a:r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Grandparent property</a:t>
            </a:r>
          </a:p>
          <a:p>
            <a:r>
              <a:rPr lang="en-IN" dirty="0"/>
              <a:t>Parent house</a:t>
            </a:r>
          </a:p>
          <a:p>
            <a:r>
              <a:rPr lang="en-IN" dirty="0"/>
              <a:t>Child bike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BCCB35-A986-501A-09DB-B85CFCF90C4D}"/>
              </a:ext>
            </a:extLst>
          </p:cNvPr>
          <p:cNvSpPr txBox="1"/>
          <p:nvPr/>
        </p:nvSpPr>
        <p:spPr>
          <a:xfrm>
            <a:off x="5161935" y="4245875"/>
            <a:ext cx="609600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Explanation:</a:t>
            </a:r>
            <a:b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Child inherits features from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Parent and Grandparent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485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C5B33B-54B9-C98A-3B7E-0D812F10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Multipath Inheritance</a:t>
            </a:r>
            <a:br>
              <a:rPr lang="en-IN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38988D-7F8B-B887-93BB-34352D3F7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37367"/>
            <a:ext cx="5181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Multipath inheritance</a:t>
            </a:r>
            <a:r>
              <a:rPr lang="en-IN" dirty="0"/>
              <a:t> occurs when </a:t>
            </a:r>
            <a:r>
              <a:rPr lang="en-IN" b="1" dirty="0"/>
              <a:t>a class inherits from two classes that both inherit from the same parent class</a:t>
            </a:r>
            <a:r>
              <a:rPr lang="en-IN" dirty="0"/>
              <a:t>.</a:t>
            </a:r>
          </a:p>
          <a:p>
            <a:r>
              <a:rPr lang="en-IN" b="1" dirty="0"/>
              <a:t>Structure</a:t>
            </a:r>
            <a:endParaRPr lang="en-IN" dirty="0"/>
          </a:p>
          <a:p>
            <a:r>
              <a:rPr lang="en-IN" dirty="0"/>
              <a:t>      A</a:t>
            </a:r>
          </a:p>
          <a:p>
            <a:r>
              <a:rPr lang="en-IN" dirty="0"/>
              <a:t>     / \</a:t>
            </a:r>
          </a:p>
          <a:p>
            <a:r>
              <a:rPr lang="en-IN" dirty="0"/>
              <a:t>    B   C</a:t>
            </a:r>
          </a:p>
          <a:p>
            <a:r>
              <a:rPr lang="en-IN" dirty="0"/>
              <a:t>     \ /</a:t>
            </a:r>
          </a:p>
          <a:p>
            <a:pPr marL="0" indent="0">
              <a:buNone/>
            </a:pPr>
            <a:r>
              <a:rPr lang="en-IN" dirty="0"/>
              <a:t>	D</a:t>
            </a:r>
          </a:p>
        </p:txBody>
      </p:sp>
    </p:spTree>
    <p:extLst>
      <p:ext uri="{BB962C8B-B14F-4D97-AF65-F5344CB8AC3E}">
        <p14:creationId xmlns:p14="http://schemas.microsoft.com/office/powerpoint/2010/main" val="2186895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DFCCB-10B6-7919-15B3-4CF305EECB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0884" y="793238"/>
            <a:ext cx="5181600" cy="5076620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class A:</a:t>
            </a:r>
          </a:p>
          <a:p>
            <a:r>
              <a:rPr lang="en-IN" dirty="0"/>
              <a:t>    def show(self):</a:t>
            </a:r>
          </a:p>
          <a:p>
            <a:r>
              <a:rPr lang="en-IN" dirty="0"/>
              <a:t>        print("Class A")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B(A):</a:t>
            </a:r>
          </a:p>
          <a:p>
            <a:r>
              <a:rPr lang="en-IN" dirty="0"/>
              <a:t>    pass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C(A):</a:t>
            </a:r>
          </a:p>
          <a:p>
            <a:r>
              <a:rPr lang="en-IN" dirty="0"/>
              <a:t>    pass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D(B, C):</a:t>
            </a:r>
          </a:p>
          <a:p>
            <a:r>
              <a:rPr lang="en-IN" dirty="0"/>
              <a:t>    pass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d = D()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F1367-2001-0CB2-FCEB-DE93D05058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697" y="793238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d = D()</a:t>
            </a:r>
          </a:p>
          <a:p>
            <a:r>
              <a:rPr lang="en-IN" dirty="0" err="1"/>
              <a:t>d.show</a:t>
            </a:r>
            <a:r>
              <a:rPr lang="en-IN" dirty="0"/>
              <a:t>()</a:t>
            </a:r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Class A</a:t>
            </a:r>
          </a:p>
          <a:p>
            <a:r>
              <a:rPr lang="en-IN" b="1" dirty="0"/>
              <a:t>Explanation:</a:t>
            </a:r>
            <a:endParaRPr lang="en-IN" dirty="0"/>
          </a:p>
          <a:p>
            <a:pPr lvl="0"/>
            <a:r>
              <a:rPr lang="en-IN" dirty="0"/>
              <a:t>B and C inherit from A.</a:t>
            </a:r>
          </a:p>
          <a:p>
            <a:pPr lvl="0"/>
            <a:r>
              <a:rPr lang="en-IN" dirty="0"/>
              <a:t>D inherits from both B and C.</a:t>
            </a:r>
            <a:br>
              <a:rPr lang="en-IN" dirty="0"/>
            </a:br>
            <a:r>
              <a:rPr lang="en-IN" dirty="0"/>
              <a:t>This creates </a:t>
            </a:r>
            <a:r>
              <a:rPr lang="en-IN" b="1" dirty="0"/>
              <a:t>multiple paths to class A</a:t>
            </a:r>
            <a:r>
              <a:rPr lang="en-IN" dirty="0"/>
              <a:t>, so it is called </a:t>
            </a:r>
            <a:r>
              <a:rPr lang="en-IN" b="1" dirty="0"/>
              <a:t>multipath inheritance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701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D731AE-2193-47EB-5B90-E5894BE87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Method Overloading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DAA88-D056-4E7E-6265-5E54EB19C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22" y="664344"/>
            <a:ext cx="10515600" cy="4351338"/>
          </a:xfrm>
        </p:spPr>
        <p:txBody>
          <a:bodyPr/>
          <a:lstStyle/>
          <a:p>
            <a:r>
              <a:rPr lang="en-IN" b="1" dirty="0"/>
              <a:t>Method Overloading</a:t>
            </a:r>
            <a:r>
              <a:rPr lang="en-IN" dirty="0"/>
              <a:t> is a concept in Object-Oriented Programming where </a:t>
            </a:r>
            <a:r>
              <a:rPr lang="en-IN" b="1" dirty="0"/>
              <a:t>multiple methods have the same name but different parameters (number or type of arguments)</a:t>
            </a:r>
            <a:r>
              <a:rPr lang="en-IN" dirty="0"/>
              <a:t>.</a:t>
            </a:r>
          </a:p>
          <a:p>
            <a:r>
              <a:rPr lang="en-IN" dirty="0"/>
              <a:t>In simple terms, </a:t>
            </a:r>
            <a:r>
              <a:rPr lang="en-IN" b="1" dirty="0"/>
              <a:t>one method name can perform different tasks depending on the arguments passed to it</a:t>
            </a:r>
            <a:r>
              <a:rPr lang="en-IN" dirty="0"/>
              <a:t>.</a:t>
            </a:r>
          </a:p>
          <a:p>
            <a:r>
              <a:rPr lang="en-IN" b="1" dirty="0"/>
              <a:t>Key Points</a:t>
            </a:r>
            <a:endParaRPr lang="en-IN" dirty="0"/>
          </a:p>
          <a:p>
            <a:pPr lvl="0"/>
            <a:r>
              <a:rPr lang="en-IN" dirty="0"/>
              <a:t>Same </a:t>
            </a:r>
            <a:r>
              <a:rPr lang="en-IN" b="1" dirty="0"/>
              <a:t>method name</a:t>
            </a:r>
            <a:endParaRPr lang="en-IN" dirty="0"/>
          </a:p>
          <a:p>
            <a:pPr lvl="0"/>
            <a:r>
              <a:rPr lang="en-IN" dirty="0"/>
              <a:t>Different </a:t>
            </a:r>
            <a:r>
              <a:rPr lang="en-IN" b="1" dirty="0"/>
              <a:t>number or type of parameters</a:t>
            </a:r>
            <a:endParaRPr lang="en-IN" dirty="0"/>
          </a:p>
          <a:p>
            <a:pPr lvl="0"/>
            <a:r>
              <a:rPr lang="en-IN" dirty="0"/>
              <a:t>Used to </a:t>
            </a:r>
            <a:r>
              <a:rPr lang="en-IN" b="1" dirty="0"/>
              <a:t>increase flexibility and readability of code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1462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39E2-BC39-F0EC-B629-EBE861F9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8" y="488437"/>
            <a:ext cx="10515600" cy="5558401"/>
          </a:xfrm>
        </p:spPr>
        <p:txBody>
          <a:bodyPr>
            <a:normAutofit/>
          </a:bodyPr>
          <a:lstStyle/>
          <a:p>
            <a:r>
              <a:rPr lang="en-IN" b="1" dirty="0"/>
              <a:t>Example of Method Overloading in Python</a:t>
            </a:r>
            <a:endParaRPr lang="en-IN" dirty="0"/>
          </a:p>
          <a:p>
            <a:r>
              <a:rPr lang="en-IN" b="1" dirty="0"/>
              <a:t>Using Default Arguments</a:t>
            </a:r>
            <a:endParaRPr lang="en-IN" dirty="0"/>
          </a:p>
          <a:p>
            <a:r>
              <a:rPr lang="en-IN" dirty="0"/>
              <a:t>class Calculator:</a:t>
            </a:r>
          </a:p>
          <a:p>
            <a:r>
              <a:rPr lang="en-IN" dirty="0"/>
              <a:t>    def add(self, a, b=0, c=0):</a:t>
            </a:r>
          </a:p>
          <a:p>
            <a:r>
              <a:rPr lang="en-IN" dirty="0"/>
              <a:t>        result = a + b + c</a:t>
            </a:r>
          </a:p>
          <a:p>
            <a:r>
              <a:rPr lang="en-IN" dirty="0"/>
              <a:t>        print("Sum =", result) </a:t>
            </a:r>
          </a:p>
          <a:p>
            <a:r>
              <a:rPr lang="en-IN" dirty="0" err="1"/>
              <a:t>obj</a:t>
            </a:r>
            <a:r>
              <a:rPr lang="en-IN" dirty="0"/>
              <a:t> = Calculator()</a:t>
            </a:r>
          </a:p>
          <a:p>
            <a:r>
              <a:rPr lang="en-IN" dirty="0" err="1"/>
              <a:t>obj.add</a:t>
            </a:r>
            <a:r>
              <a:rPr lang="en-IN" dirty="0"/>
              <a:t>(5, 10)        # Two arguments</a:t>
            </a:r>
          </a:p>
          <a:p>
            <a:r>
              <a:rPr lang="en-IN" dirty="0" err="1"/>
              <a:t>obj.add</a:t>
            </a:r>
            <a:r>
              <a:rPr lang="en-IN" dirty="0"/>
              <a:t>(5, 10, 15)    # Three arguments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177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4BF7F-9B4D-EF3A-B188-426A4208E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09" y="517934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Sum = 15</a:t>
            </a:r>
          </a:p>
          <a:p>
            <a:r>
              <a:rPr lang="en-IN" dirty="0"/>
              <a:t>Sum = 30</a:t>
            </a:r>
          </a:p>
          <a:p>
            <a:r>
              <a:rPr lang="en-IN" b="1" dirty="0"/>
              <a:t>Explanation</a:t>
            </a:r>
            <a:endParaRPr lang="en-IN" dirty="0"/>
          </a:p>
          <a:p>
            <a:pPr lvl="0"/>
            <a:r>
              <a:rPr lang="en-IN" dirty="0"/>
              <a:t>The method </a:t>
            </a:r>
            <a:r>
              <a:rPr lang="en-IN" b="1" dirty="0"/>
              <a:t>add()</a:t>
            </a:r>
            <a:r>
              <a:rPr lang="en-IN" dirty="0"/>
              <a:t> has the same name.</a:t>
            </a:r>
          </a:p>
          <a:p>
            <a:pPr lvl="0"/>
            <a:r>
              <a:rPr lang="en-IN" dirty="0"/>
              <a:t>It works with </a:t>
            </a:r>
            <a:r>
              <a:rPr lang="en-IN" b="1" dirty="0"/>
              <a:t>different numbers of arguments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When only two values are given, c takes the default value 0.</a:t>
            </a:r>
          </a:p>
          <a:p>
            <a:pPr lvl="0"/>
            <a:r>
              <a:rPr lang="en-IN" dirty="0"/>
              <a:t>When three values are given, all parameters are used.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06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D64A8-5FBC-0D1B-F505-A862C387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94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Method Overriding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751DF-022F-CC5B-E30E-5C9BA3531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7" y="875072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Method Overriding</a:t>
            </a:r>
            <a:r>
              <a:rPr lang="en-IN" dirty="0"/>
              <a:t> is an Object-Oriented Programming concept where </a:t>
            </a:r>
            <a:r>
              <a:rPr lang="en-IN" b="1" dirty="0"/>
              <a:t>a child class provides its own implementation of a method that is already defined in the parent class</a:t>
            </a:r>
            <a:r>
              <a:rPr lang="en-IN" dirty="0"/>
              <a:t>.</a:t>
            </a:r>
          </a:p>
          <a:p>
            <a:r>
              <a:rPr lang="en-IN" dirty="0"/>
              <a:t>In other words, the </a:t>
            </a:r>
            <a:r>
              <a:rPr lang="en-IN" b="1" dirty="0"/>
              <a:t>child class redefines the method of the parent class</a:t>
            </a:r>
            <a:r>
              <a:rPr lang="en-IN" dirty="0"/>
              <a:t> with the </a:t>
            </a:r>
            <a:r>
              <a:rPr lang="en-IN" b="1" dirty="0"/>
              <a:t>same name and parameters</a:t>
            </a:r>
            <a:r>
              <a:rPr lang="en-IN" dirty="0"/>
              <a:t>.</a:t>
            </a:r>
          </a:p>
          <a:p>
            <a:r>
              <a:rPr lang="en-IN" b="1" dirty="0"/>
              <a:t>Key Points</a:t>
            </a:r>
            <a:endParaRPr lang="en-IN" dirty="0"/>
          </a:p>
          <a:p>
            <a:pPr lvl="0"/>
            <a:r>
              <a:rPr lang="en-IN" dirty="0"/>
              <a:t>Occurs in </a:t>
            </a:r>
            <a:r>
              <a:rPr lang="en-IN" b="1" dirty="0"/>
              <a:t>inheritance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Method name in </a:t>
            </a:r>
            <a:r>
              <a:rPr lang="en-IN" b="1" dirty="0"/>
              <a:t>parent and child must be the same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The </a:t>
            </a:r>
            <a:r>
              <a:rPr lang="en-IN" b="1" dirty="0"/>
              <a:t>child class method overrides the parent class method</a:t>
            </a:r>
            <a:r>
              <a:rPr lang="en-IN" dirty="0"/>
              <a:t>.</a:t>
            </a:r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1392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2A72C-63A8-8A82-3503-F22068B7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8" y="596592"/>
            <a:ext cx="10515600" cy="4351338"/>
          </a:xfrm>
        </p:spPr>
        <p:txBody>
          <a:bodyPr/>
          <a:lstStyle/>
          <a:p>
            <a:r>
              <a:rPr lang="en-IN" b="1" dirty="0"/>
              <a:t>Syntax</a:t>
            </a:r>
            <a:endParaRPr lang="en-IN" dirty="0"/>
          </a:p>
          <a:p>
            <a:r>
              <a:rPr lang="en-IN" dirty="0"/>
              <a:t>class Parent:</a:t>
            </a:r>
          </a:p>
          <a:p>
            <a:r>
              <a:rPr lang="en-IN" dirty="0"/>
              <a:t>    def method(self):</a:t>
            </a:r>
          </a:p>
          <a:p>
            <a:r>
              <a:rPr lang="en-IN" dirty="0"/>
              <a:t>        # parent method</a:t>
            </a:r>
          </a:p>
          <a:p>
            <a:pPr marL="0" indent="0">
              <a:buNone/>
            </a:pPr>
            <a:r>
              <a:rPr lang="en-IN" dirty="0"/>
              <a:t> </a:t>
            </a:r>
          </a:p>
          <a:p>
            <a:r>
              <a:rPr lang="en-IN" dirty="0"/>
              <a:t>class Child(Parent):</a:t>
            </a:r>
          </a:p>
          <a:p>
            <a:r>
              <a:rPr lang="en-IN" dirty="0"/>
              <a:t>    def method(self):</a:t>
            </a:r>
          </a:p>
          <a:p>
            <a:r>
              <a:rPr lang="en-IN" dirty="0"/>
              <a:t>        # child method (overrides parent method)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652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67DB5-3124-6966-555C-2F168D736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488437"/>
            <a:ext cx="10515600" cy="5863201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Example of Method Overriding in Python</a:t>
            </a:r>
            <a:endParaRPr lang="en-IN" dirty="0"/>
          </a:p>
          <a:p>
            <a:r>
              <a:rPr lang="en-IN" dirty="0"/>
              <a:t>class Animal:</a:t>
            </a:r>
          </a:p>
          <a:p>
            <a:r>
              <a:rPr lang="en-IN" dirty="0"/>
              <a:t>    def sound(self):</a:t>
            </a:r>
          </a:p>
          <a:p>
            <a:r>
              <a:rPr lang="en-IN" dirty="0"/>
              <a:t>        print("Animals make sound")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class Dog(Animal):</a:t>
            </a:r>
          </a:p>
          <a:p>
            <a:r>
              <a:rPr lang="en-IN" dirty="0"/>
              <a:t>    def sound(self):        # Overriding the parent method</a:t>
            </a:r>
          </a:p>
          <a:p>
            <a:r>
              <a:rPr lang="en-IN" dirty="0"/>
              <a:t>        print("Dog barks")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d = Dog()</a:t>
            </a:r>
          </a:p>
          <a:p>
            <a:r>
              <a:rPr lang="en-IN" dirty="0" err="1"/>
              <a:t>d.sound</a:t>
            </a:r>
            <a:r>
              <a:rPr lang="en-IN" dirty="0"/>
              <a:t>()</a:t>
            </a:r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dirty="0"/>
              <a:t>Dog barks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Explanation</a:t>
            </a:r>
            <a:endParaRPr lang="en-IN" dirty="0"/>
          </a:p>
          <a:p>
            <a:pPr lvl="0"/>
            <a:r>
              <a:rPr lang="en-IN" dirty="0"/>
              <a:t>Animal is the </a:t>
            </a:r>
            <a:r>
              <a:rPr lang="en-IN" b="1" dirty="0"/>
              <a:t>parent class</a:t>
            </a:r>
            <a:r>
              <a:rPr lang="en-IN" dirty="0"/>
              <a:t> with method sound().</a:t>
            </a:r>
          </a:p>
          <a:p>
            <a:pPr lvl="0"/>
            <a:r>
              <a:rPr lang="en-IN" dirty="0"/>
              <a:t>Dog is the </a:t>
            </a:r>
            <a:r>
              <a:rPr lang="en-IN" b="1" dirty="0"/>
              <a:t>child class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The Dog class </a:t>
            </a:r>
            <a:r>
              <a:rPr lang="en-IN" b="1" dirty="0"/>
              <a:t>overrides</a:t>
            </a:r>
            <a:r>
              <a:rPr lang="en-IN" dirty="0"/>
              <a:t> the sound() method of the Animal class.</a:t>
            </a:r>
          </a:p>
          <a:p>
            <a:r>
              <a:rPr lang="en-IN" dirty="0"/>
              <a:t>When the object d calls sound(), the </a:t>
            </a:r>
            <a:r>
              <a:rPr lang="en-IN" b="1" dirty="0"/>
              <a:t>child class method is executed instead of the parent method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3801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D034D-C4A9-B029-9766-DFD1A9E8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creating a GUI application in Python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4C68F-05BA-AFBB-BE0D-93D31E1349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363"/>
            <a:ext cx="10515600" cy="4351338"/>
          </a:xfrm>
        </p:spPr>
        <p:txBody>
          <a:bodyPr/>
          <a:lstStyle/>
          <a:p>
            <a:r>
              <a:rPr lang="en-IN" b="1" dirty="0"/>
              <a:t>1. Import the GUI Library</a:t>
            </a:r>
            <a:endParaRPr lang="en-IN" dirty="0"/>
          </a:p>
          <a:p>
            <a:r>
              <a:rPr lang="en-IN" dirty="0"/>
              <a:t>First, import the library needed to build the GUI.</a:t>
            </a:r>
          </a:p>
          <a:p>
            <a:r>
              <a:rPr lang="en-IN" dirty="0"/>
              <a:t>Example with </a:t>
            </a:r>
            <a:r>
              <a:rPr lang="en-IN" b="1" dirty="0" err="1"/>
              <a:t>Tkinter</a:t>
            </a:r>
            <a:r>
              <a:rPr lang="en-IN" dirty="0"/>
              <a:t>:</a:t>
            </a:r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dirty="0"/>
              <a:t>This allows access to GUI components like windows, buttons, labels,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845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B350C-13AD-7E6E-DE8D-D43A6A519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635922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2. Create the Main Window</a:t>
            </a:r>
            <a:endParaRPr lang="en-IN" dirty="0"/>
          </a:p>
          <a:p>
            <a:r>
              <a:rPr lang="en-IN" dirty="0"/>
              <a:t>Every GUI application needs a </a:t>
            </a:r>
            <a:r>
              <a:rPr lang="en-IN" b="1" dirty="0"/>
              <a:t>main window (root window)</a:t>
            </a:r>
            <a:r>
              <a:rPr lang="en-IN" dirty="0"/>
              <a:t> where all widgets will be placed.</a:t>
            </a:r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("My First GUI App")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("300x200")</a:t>
            </a:r>
          </a:p>
          <a:p>
            <a:pPr lvl="0"/>
            <a:r>
              <a:rPr lang="en-IN" dirty="0"/>
              <a:t>Tk() creates the main window</a:t>
            </a:r>
          </a:p>
          <a:p>
            <a:pPr lvl="0"/>
            <a:r>
              <a:rPr lang="en-IN" dirty="0"/>
              <a:t>title() sets the window title</a:t>
            </a:r>
          </a:p>
          <a:p>
            <a:r>
              <a:rPr lang="en-IN" dirty="0"/>
              <a:t>geometry() defines window size</a:t>
            </a:r>
          </a:p>
        </p:txBody>
      </p:sp>
    </p:spTree>
    <p:extLst>
      <p:ext uri="{BB962C8B-B14F-4D97-AF65-F5344CB8AC3E}">
        <p14:creationId xmlns:p14="http://schemas.microsoft.com/office/powerpoint/2010/main" val="618538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E32B7-B368-F01E-F50D-4C126E182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27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3. Add Widgets (GUI Components)</a:t>
            </a:r>
            <a:endParaRPr lang="en-IN" dirty="0"/>
          </a:p>
          <a:p>
            <a:r>
              <a:rPr lang="en-IN" dirty="0"/>
              <a:t>Widgets are the elements users interact with, such as:</a:t>
            </a:r>
          </a:p>
          <a:p>
            <a:pPr lvl="0"/>
            <a:r>
              <a:rPr lang="en-IN" dirty="0"/>
              <a:t>Labels</a:t>
            </a:r>
          </a:p>
          <a:p>
            <a:pPr lvl="0"/>
            <a:r>
              <a:rPr lang="en-IN" dirty="0"/>
              <a:t>Buttons</a:t>
            </a:r>
          </a:p>
          <a:p>
            <a:pPr lvl="0"/>
            <a:r>
              <a:rPr lang="en-IN" dirty="0"/>
              <a:t>Text boxes</a:t>
            </a:r>
          </a:p>
          <a:p>
            <a:pPr lvl="0"/>
            <a:r>
              <a:rPr lang="en-IN" dirty="0"/>
              <a:t>Checkboxes</a:t>
            </a:r>
          </a:p>
          <a:p>
            <a:r>
              <a:rPr lang="en-IN" dirty="0"/>
              <a:t>Example:</a:t>
            </a:r>
          </a:p>
          <a:p>
            <a:r>
              <a:rPr lang="en-IN" dirty="0"/>
              <a:t>label = </a:t>
            </a:r>
            <a:r>
              <a:rPr lang="en-IN" dirty="0" err="1"/>
              <a:t>tk.Label</a:t>
            </a:r>
            <a:r>
              <a:rPr lang="en-IN" dirty="0"/>
              <a:t>(root, text="Hello, Welcome to Python GUI")</a:t>
            </a:r>
          </a:p>
          <a:p>
            <a:r>
              <a:rPr lang="en-IN" dirty="0" err="1"/>
              <a:t>label.pack</a:t>
            </a:r>
            <a:r>
              <a:rPr lang="en-IN" dirty="0"/>
              <a:t>()</a:t>
            </a:r>
          </a:p>
          <a:p>
            <a:r>
              <a:rPr lang="en-IN" dirty="0"/>
              <a:t>pack() is a layout manager that places the widget in the window.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366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D64C-F285-96FF-ACAB-40641A3EB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716" y="8915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Define Event Handling Functions</a:t>
            </a:r>
            <a:endParaRPr lang="en-IN" dirty="0"/>
          </a:p>
          <a:p>
            <a:r>
              <a:rPr lang="en-IN" dirty="0"/>
              <a:t>GUI applications respond to </a:t>
            </a:r>
            <a:r>
              <a:rPr lang="en-IN" b="1" dirty="0"/>
              <a:t>events</a:t>
            </a:r>
            <a:r>
              <a:rPr lang="en-IN" dirty="0"/>
              <a:t> like button clicks or key presses.</a:t>
            </a:r>
          </a:p>
          <a:p>
            <a:r>
              <a:rPr lang="en-IN" dirty="0"/>
              <a:t>Example function:</a:t>
            </a:r>
          </a:p>
          <a:p>
            <a:r>
              <a:rPr lang="en-IN" dirty="0"/>
              <a:t>def greet():</a:t>
            </a:r>
          </a:p>
          <a:p>
            <a:r>
              <a:rPr lang="en-IN" dirty="0"/>
              <a:t>    </a:t>
            </a:r>
            <a:r>
              <a:rPr lang="en-IN" dirty="0" err="1"/>
              <a:t>label.config</a:t>
            </a:r>
            <a:r>
              <a:rPr lang="en-IN" dirty="0"/>
              <a:t>(text="Button Clicked!")</a:t>
            </a:r>
          </a:p>
          <a:p>
            <a:r>
              <a:rPr lang="en-IN" dirty="0"/>
              <a:t>This function changes the label text when triggered</a:t>
            </a:r>
          </a:p>
        </p:txBody>
      </p:sp>
    </p:spTree>
    <p:extLst>
      <p:ext uri="{BB962C8B-B14F-4D97-AF65-F5344CB8AC3E}">
        <p14:creationId xmlns:p14="http://schemas.microsoft.com/office/powerpoint/2010/main" val="2467491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9FC42-E9A4-96EB-B29D-33705C0F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626090"/>
            <a:ext cx="10515600" cy="516511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5. Attach Events to Widgets</a:t>
            </a:r>
            <a:endParaRPr lang="en-IN" dirty="0"/>
          </a:p>
          <a:p>
            <a:r>
              <a:rPr lang="en-IN" dirty="0"/>
              <a:t>Connect the function to a widget such as a button.</a:t>
            </a:r>
          </a:p>
          <a:p>
            <a:r>
              <a:rPr lang="en-IN" dirty="0"/>
              <a:t>button = </a:t>
            </a:r>
            <a:r>
              <a:rPr lang="en-IN" dirty="0" err="1"/>
              <a:t>tk.Button</a:t>
            </a:r>
            <a:r>
              <a:rPr lang="en-IN" dirty="0"/>
              <a:t>(root, text="Click Me", command=greet)</a:t>
            </a:r>
          </a:p>
          <a:p>
            <a:r>
              <a:rPr lang="en-IN" dirty="0" err="1"/>
              <a:t>button.pack</a:t>
            </a:r>
            <a:r>
              <a:rPr lang="en-IN" dirty="0"/>
              <a:t>()</a:t>
            </a:r>
          </a:p>
          <a:p>
            <a:r>
              <a:rPr lang="en-IN" dirty="0"/>
              <a:t>When the button is clicked, the greet() function runs.</a:t>
            </a:r>
          </a:p>
          <a:p>
            <a:r>
              <a:rPr lang="en-IN" b="1" dirty="0"/>
              <a:t>6. Run the Event Loop</a:t>
            </a:r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event loop</a:t>
            </a:r>
            <a:r>
              <a:rPr lang="en-IN" dirty="0"/>
              <a:t> keeps the application running and listens for user actions.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r>
              <a:rPr lang="en-IN" dirty="0"/>
              <a:t>Without this, the window would appear and close immediately.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320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ED81D-E50F-60DC-ECA7-69741C311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052" y="537600"/>
            <a:ext cx="10515600" cy="56272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Example: Simple GUI Program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dirty="0"/>
              <a:t>def greet():</a:t>
            </a:r>
          </a:p>
          <a:p>
            <a:r>
              <a:rPr lang="en-IN" dirty="0"/>
              <a:t>    </a:t>
            </a:r>
            <a:r>
              <a:rPr lang="en-IN" dirty="0" err="1"/>
              <a:t>label.config</a:t>
            </a:r>
            <a:r>
              <a:rPr lang="en-IN" dirty="0"/>
              <a:t>(text="Hello! You clicked the button.")</a:t>
            </a:r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("Simple GUI")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("300x150")</a:t>
            </a:r>
          </a:p>
          <a:p>
            <a:r>
              <a:rPr lang="en-IN" dirty="0"/>
              <a:t>label = </a:t>
            </a:r>
            <a:r>
              <a:rPr lang="en-IN" dirty="0" err="1"/>
              <a:t>tk.Label</a:t>
            </a:r>
            <a:r>
              <a:rPr lang="en-IN" dirty="0"/>
              <a:t>(root, text="Welcome to Python GUI")</a:t>
            </a:r>
          </a:p>
          <a:p>
            <a:r>
              <a:rPr lang="en-IN" dirty="0" err="1"/>
              <a:t>label.pack</a:t>
            </a:r>
            <a:r>
              <a:rPr lang="en-IN" dirty="0"/>
              <a:t>(</a:t>
            </a:r>
            <a:r>
              <a:rPr lang="en-IN" dirty="0" err="1"/>
              <a:t>pady</a:t>
            </a:r>
            <a:r>
              <a:rPr lang="en-IN" dirty="0"/>
              <a:t>=10)</a:t>
            </a:r>
          </a:p>
          <a:p>
            <a:r>
              <a:rPr lang="en-IN" dirty="0"/>
              <a:t>button = </a:t>
            </a:r>
            <a:r>
              <a:rPr lang="en-IN" dirty="0" err="1"/>
              <a:t>tk.Button</a:t>
            </a:r>
            <a:r>
              <a:rPr lang="en-IN" dirty="0"/>
              <a:t>(root, text="Click Me", command=greet)</a:t>
            </a:r>
          </a:p>
          <a:p>
            <a:r>
              <a:rPr lang="en-IN" dirty="0" err="1"/>
              <a:t>button.pack</a:t>
            </a:r>
            <a:r>
              <a:rPr lang="en-IN" dirty="0"/>
              <a:t>()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993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2EF22-B95F-C307-B6A0-C7EBD0152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642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Steps to Create a Button and Bind It to an Event Handler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6F18-BAF8-8F2A-C958-95FBC5352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317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1. Import the </a:t>
            </a:r>
            <a:r>
              <a:rPr lang="en-IN" b="1" dirty="0" err="1"/>
              <a:t>Tkinter</a:t>
            </a:r>
            <a:r>
              <a:rPr lang="en-IN" b="1" dirty="0"/>
              <a:t> Module</a:t>
            </a:r>
            <a:endParaRPr lang="en-IN" dirty="0"/>
          </a:p>
          <a:p>
            <a:r>
              <a:rPr lang="en-IN" dirty="0"/>
              <a:t>First, import the </a:t>
            </a:r>
            <a:r>
              <a:rPr lang="en-IN" dirty="0" err="1"/>
              <a:t>Tkinter</a:t>
            </a:r>
            <a:r>
              <a:rPr lang="en-IN" dirty="0"/>
              <a:t> library to access GUI widgets.</a:t>
            </a:r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b="1" dirty="0"/>
              <a:t>2. Create the Main Window</a:t>
            </a:r>
            <a:endParaRPr lang="en-IN" dirty="0"/>
          </a:p>
          <a:p>
            <a:r>
              <a:rPr lang="en-IN" dirty="0"/>
              <a:t>Initialize the main application window.</a:t>
            </a:r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("Button Example")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("300x200")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943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F4A90-76BF-C429-2F1B-F587C4AA7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576929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3. Define the Event Handler Function</a:t>
            </a:r>
            <a:endParaRPr lang="en-IN" dirty="0"/>
          </a:p>
          <a:p>
            <a:r>
              <a:rPr lang="en-IN" dirty="0"/>
              <a:t>Create a function that will run when the button is clicked.</a:t>
            </a:r>
          </a:p>
          <a:p>
            <a:r>
              <a:rPr lang="en-IN" dirty="0"/>
              <a:t>def </a:t>
            </a:r>
            <a:r>
              <a:rPr lang="en-IN" dirty="0" err="1"/>
              <a:t>on_button_click</a:t>
            </a:r>
            <a:r>
              <a:rPr lang="en-IN" dirty="0"/>
              <a:t>():</a:t>
            </a:r>
          </a:p>
          <a:p>
            <a:r>
              <a:rPr lang="en-IN" dirty="0"/>
              <a:t>    print("Button was clicked!")</a:t>
            </a:r>
          </a:p>
          <a:p>
            <a:r>
              <a:rPr lang="en-IN" dirty="0"/>
              <a:t>This function is called an </a:t>
            </a:r>
            <a:r>
              <a:rPr lang="en-IN" b="1" dirty="0"/>
              <a:t>event handler</a:t>
            </a:r>
            <a:r>
              <a:rPr lang="en-IN" dirty="0"/>
              <a:t> because it handles the click event.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4. Create the Button Widget</a:t>
            </a:r>
            <a:endParaRPr lang="en-IN" dirty="0"/>
          </a:p>
          <a:p>
            <a:r>
              <a:rPr lang="en-IN" dirty="0"/>
              <a:t>Use the Button() widget and specify the function in the </a:t>
            </a:r>
            <a:r>
              <a:rPr lang="en-IN" b="1" dirty="0"/>
              <a:t>command</a:t>
            </a:r>
            <a:r>
              <a:rPr lang="en-IN" dirty="0"/>
              <a:t> parameter.</a:t>
            </a:r>
          </a:p>
          <a:p>
            <a:r>
              <a:rPr lang="en-IN" dirty="0"/>
              <a:t>button = </a:t>
            </a:r>
            <a:r>
              <a:rPr lang="en-IN" dirty="0" err="1"/>
              <a:t>tk.Button</a:t>
            </a:r>
            <a:r>
              <a:rPr lang="en-IN" dirty="0"/>
              <a:t>(root, text="Click Me", command=</a:t>
            </a:r>
            <a:r>
              <a:rPr lang="en-IN" dirty="0" err="1"/>
              <a:t>on_button_click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root → parent window</a:t>
            </a:r>
          </a:p>
          <a:p>
            <a:pPr lvl="0"/>
            <a:r>
              <a:rPr lang="en-IN" dirty="0"/>
              <a:t>text → label displayed on the button</a:t>
            </a:r>
          </a:p>
          <a:p>
            <a:pPr lvl="0"/>
            <a:r>
              <a:rPr lang="en-IN" dirty="0"/>
              <a:t>command → function executed when the button is clicked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0309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5A1BC-69BF-389D-CCFB-2664A86F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527767"/>
            <a:ext cx="10515600" cy="4351338"/>
          </a:xfrm>
        </p:spPr>
        <p:txBody>
          <a:bodyPr>
            <a:normAutofit/>
          </a:bodyPr>
          <a:lstStyle/>
          <a:p>
            <a:r>
              <a:rPr lang="en-IN" b="1" dirty="0"/>
              <a:t>5. Place the Button in the Window</a:t>
            </a:r>
            <a:endParaRPr lang="en-IN" dirty="0"/>
          </a:p>
          <a:p>
            <a:r>
              <a:rPr lang="en-IN" dirty="0"/>
              <a:t>Use a layout manager like pack() to display the button.</a:t>
            </a:r>
          </a:p>
          <a:p>
            <a:r>
              <a:rPr lang="en-IN" dirty="0" err="1"/>
              <a:t>button.pack</a:t>
            </a:r>
            <a:r>
              <a:rPr lang="en-IN" dirty="0"/>
              <a:t>(</a:t>
            </a:r>
            <a:r>
              <a:rPr lang="en-IN" dirty="0" err="1"/>
              <a:t>pady</a:t>
            </a:r>
            <a:r>
              <a:rPr lang="en-IN" dirty="0"/>
              <a:t>=20)</a:t>
            </a:r>
          </a:p>
          <a:p>
            <a:r>
              <a:rPr lang="en-IN" b="1" dirty="0"/>
              <a:t>6. Run the Event Loop</a:t>
            </a:r>
            <a:endParaRPr lang="en-IN" dirty="0"/>
          </a:p>
          <a:p>
            <a:r>
              <a:rPr lang="en-IN" dirty="0"/>
              <a:t>Start the GUI application.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104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5A7FC-0BEA-3A07-F456-06C68303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24"/>
            <a:ext cx="10515600" cy="5351923"/>
          </a:xfrm>
        </p:spPr>
        <p:txBody>
          <a:bodyPr>
            <a:normAutofit fontScale="40000" lnSpcReduction="20000"/>
          </a:bodyPr>
          <a:lstStyle/>
          <a:p>
            <a:r>
              <a:rPr lang="en-IN" sz="3000" b="1" dirty="0"/>
              <a:t>Example Program</a:t>
            </a:r>
          </a:p>
          <a:p>
            <a:r>
              <a:rPr lang="en-IN" sz="3000" b="1" dirty="0"/>
              <a:t>import </a:t>
            </a:r>
            <a:r>
              <a:rPr lang="en-IN" sz="3000" b="1" dirty="0" err="1"/>
              <a:t>tkinter</a:t>
            </a:r>
            <a:r>
              <a:rPr lang="en-IN" sz="3000" b="1" dirty="0"/>
              <a:t> as </a:t>
            </a:r>
            <a:r>
              <a:rPr lang="en-IN" sz="3000" b="1" dirty="0" err="1"/>
              <a:t>tk</a:t>
            </a:r>
            <a:endParaRPr lang="en-IN" sz="3000" b="1" dirty="0"/>
          </a:p>
          <a:p>
            <a:r>
              <a:rPr lang="en-IN" sz="3000" b="1" dirty="0"/>
              <a:t> </a:t>
            </a:r>
          </a:p>
          <a:p>
            <a:r>
              <a:rPr lang="en-IN" sz="3000" b="1" dirty="0"/>
              <a:t>def </a:t>
            </a:r>
            <a:r>
              <a:rPr lang="en-IN" sz="3000" b="1" dirty="0" err="1"/>
              <a:t>on_button_click</a:t>
            </a:r>
            <a:r>
              <a:rPr lang="en-IN" sz="3000" b="1" dirty="0"/>
              <a:t>():</a:t>
            </a:r>
          </a:p>
          <a:p>
            <a:r>
              <a:rPr lang="en-IN" sz="3000" b="1" dirty="0"/>
              <a:t>    print("Button was clicked!")</a:t>
            </a:r>
          </a:p>
          <a:p>
            <a:r>
              <a:rPr lang="en-IN" sz="3000" b="1" dirty="0"/>
              <a:t> </a:t>
            </a:r>
          </a:p>
          <a:p>
            <a:r>
              <a:rPr lang="en-IN" sz="3000" b="1" dirty="0"/>
              <a:t>root = </a:t>
            </a:r>
            <a:r>
              <a:rPr lang="en-IN" sz="3000" b="1" dirty="0" err="1"/>
              <a:t>tk.Tk</a:t>
            </a:r>
            <a:r>
              <a:rPr lang="en-IN" sz="3000" b="1" dirty="0"/>
              <a:t>()</a:t>
            </a:r>
          </a:p>
          <a:p>
            <a:r>
              <a:rPr lang="en-IN" sz="3000" b="1" dirty="0" err="1"/>
              <a:t>root.title</a:t>
            </a:r>
            <a:r>
              <a:rPr lang="en-IN" sz="3000" b="1" dirty="0"/>
              <a:t>("Button Event Example")</a:t>
            </a:r>
          </a:p>
          <a:p>
            <a:r>
              <a:rPr lang="en-IN" sz="3000" b="1" dirty="0" err="1"/>
              <a:t>root.geometry</a:t>
            </a:r>
            <a:r>
              <a:rPr lang="en-IN" sz="3000" b="1" dirty="0"/>
              <a:t>("300x200")</a:t>
            </a:r>
          </a:p>
          <a:p>
            <a:r>
              <a:rPr lang="en-IN" sz="3000" b="1" dirty="0"/>
              <a:t> </a:t>
            </a:r>
          </a:p>
          <a:p>
            <a:r>
              <a:rPr lang="en-IN" sz="3000" b="1" dirty="0"/>
              <a:t>button = </a:t>
            </a:r>
            <a:r>
              <a:rPr lang="en-IN" sz="3000" b="1" dirty="0" err="1"/>
              <a:t>tk.Button</a:t>
            </a:r>
            <a:r>
              <a:rPr lang="en-IN" sz="3000" b="1" dirty="0"/>
              <a:t>(root, text="Click Me", command=</a:t>
            </a:r>
            <a:r>
              <a:rPr lang="en-IN" sz="3000" b="1" dirty="0" err="1"/>
              <a:t>on_button_click</a:t>
            </a:r>
            <a:r>
              <a:rPr lang="en-IN" sz="3000" b="1" dirty="0"/>
              <a:t>)</a:t>
            </a:r>
          </a:p>
          <a:p>
            <a:r>
              <a:rPr lang="en-IN" sz="3000" b="1" dirty="0" err="1"/>
              <a:t>button.pack</a:t>
            </a:r>
            <a:r>
              <a:rPr lang="en-IN" sz="3000" b="1" dirty="0"/>
              <a:t>(</a:t>
            </a:r>
            <a:r>
              <a:rPr lang="en-IN" sz="3000" b="1" dirty="0" err="1"/>
              <a:t>pady</a:t>
            </a:r>
            <a:r>
              <a:rPr lang="en-IN" sz="3000" b="1" dirty="0"/>
              <a:t>=20)</a:t>
            </a:r>
          </a:p>
          <a:p>
            <a:r>
              <a:rPr lang="en-IN" sz="3000" b="1" dirty="0"/>
              <a:t> </a:t>
            </a:r>
          </a:p>
          <a:p>
            <a:r>
              <a:rPr lang="en-IN" sz="3000" b="1" dirty="0" err="1"/>
              <a:t>root.mainloop</a:t>
            </a:r>
            <a:r>
              <a:rPr lang="en-IN" sz="3000" b="1" dirty="0"/>
              <a:t>()</a:t>
            </a:r>
          </a:p>
          <a:p>
            <a:br>
              <a:rPr lang="en-IN" sz="3000" b="1" dirty="0"/>
            </a:br>
            <a:endParaRPr lang="en-IN" sz="3000" b="1" dirty="0"/>
          </a:p>
          <a:p>
            <a:r>
              <a:rPr lang="en-IN" sz="3000" b="1" dirty="0"/>
              <a:t>How It Works</a:t>
            </a:r>
          </a:p>
          <a:p>
            <a:pPr lvl="0"/>
            <a:r>
              <a:rPr lang="en-IN" sz="3000" b="1" dirty="0"/>
              <a:t>The program creates a window.</a:t>
            </a:r>
          </a:p>
          <a:p>
            <a:pPr lvl="0"/>
            <a:r>
              <a:rPr lang="en-IN" sz="3000" b="1" dirty="0"/>
              <a:t>A button </a:t>
            </a:r>
            <a:r>
              <a:rPr lang="en-IN" sz="3000" b="1" dirty="0" err="1"/>
              <a:t>labeled</a:t>
            </a:r>
            <a:r>
              <a:rPr lang="en-IN" sz="3000" b="1" dirty="0"/>
              <a:t> “Click Me” appears.</a:t>
            </a:r>
          </a:p>
          <a:p>
            <a:pPr lvl="0"/>
            <a:r>
              <a:rPr lang="en-IN" sz="3000" b="1" dirty="0"/>
              <a:t>When the user clicks the button, the function </a:t>
            </a:r>
            <a:r>
              <a:rPr lang="en-IN" sz="3000" b="1" dirty="0" err="1"/>
              <a:t>on_button_click</a:t>
            </a:r>
            <a:r>
              <a:rPr lang="en-IN" sz="3000" b="1" dirty="0"/>
              <a:t>() is executed.</a:t>
            </a:r>
          </a:p>
          <a:p>
            <a:pPr lvl="0"/>
            <a:r>
              <a:rPr lang="en-IN" sz="3000" b="1" dirty="0"/>
              <a:t>The message “Button was clicked!” is printed in the console.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479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3414-6D94-5A10-7AA6-AD753C418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2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1. Entry Widget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F4D5-5EA4-043C-63DB-576F1057D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902"/>
            <a:ext cx="10515600" cy="4351338"/>
          </a:xfrm>
        </p:spPr>
        <p:txBody>
          <a:bodyPr/>
          <a:lstStyle/>
          <a:p>
            <a:r>
              <a:rPr lang="en-IN" b="1" dirty="0"/>
              <a:t>1. Entry Widget</a:t>
            </a:r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Entry widget</a:t>
            </a:r>
            <a:r>
              <a:rPr lang="en-IN" dirty="0"/>
              <a:t> is a </a:t>
            </a:r>
            <a:r>
              <a:rPr lang="en-IN" b="1" dirty="0"/>
              <a:t>single-line text input field</a:t>
            </a:r>
            <a:r>
              <a:rPr lang="en-IN" dirty="0"/>
              <a:t>. It is commonly used for small inputs like names, passwords, or search boxes.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pPr lvl="0"/>
            <a:r>
              <a:rPr lang="en-IN" dirty="0"/>
              <a:t>Accepts </a:t>
            </a:r>
            <a:r>
              <a:rPr lang="en-IN" b="1" dirty="0"/>
              <a:t>single-line text</a:t>
            </a:r>
            <a:endParaRPr lang="en-IN" dirty="0"/>
          </a:p>
          <a:p>
            <a:pPr lvl="0"/>
            <a:r>
              <a:rPr lang="en-IN" dirty="0"/>
              <a:t>Can retrieve text using .get() method</a:t>
            </a:r>
          </a:p>
          <a:p>
            <a:pPr lvl="0"/>
            <a:r>
              <a:rPr lang="en-IN" dirty="0"/>
              <a:t>Can modify text using .insert() and .delete()</a:t>
            </a:r>
          </a:p>
          <a:p>
            <a:pPr lvl="0"/>
            <a:r>
              <a:rPr lang="en-IN" dirty="0"/>
              <a:t>Supports basic styling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7530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AE4D-E76B-2EA8-D33C-2BD26B7F3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2" y="399947"/>
            <a:ext cx="10515600" cy="6020517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dirty="0"/>
              <a:t>def </a:t>
            </a:r>
            <a:r>
              <a:rPr lang="en-IN" dirty="0" err="1"/>
              <a:t>show_text</a:t>
            </a:r>
            <a:r>
              <a:rPr lang="en-IN" dirty="0"/>
              <a:t>():</a:t>
            </a:r>
          </a:p>
          <a:p>
            <a:r>
              <a:rPr lang="en-IN" dirty="0"/>
              <a:t>    </a:t>
            </a:r>
            <a:r>
              <a:rPr lang="en-IN" dirty="0" err="1"/>
              <a:t>user_input</a:t>
            </a:r>
            <a:r>
              <a:rPr lang="en-IN" dirty="0"/>
              <a:t> = </a:t>
            </a:r>
            <a:r>
              <a:rPr lang="en-IN" dirty="0" err="1"/>
              <a:t>entry.get</a:t>
            </a:r>
            <a:r>
              <a:rPr lang="en-IN" dirty="0"/>
              <a:t>()  # Get text from Entry</a:t>
            </a:r>
          </a:p>
          <a:p>
            <a:r>
              <a:rPr lang="en-IN" dirty="0"/>
              <a:t>    print("You entered:", </a:t>
            </a:r>
            <a:r>
              <a:rPr lang="en-IN" dirty="0" err="1"/>
              <a:t>user_input</a:t>
            </a:r>
            <a:r>
              <a:rPr lang="en-IN" dirty="0"/>
              <a:t>)</a:t>
            </a:r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("Entry Widget Example")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("300x150")</a:t>
            </a:r>
          </a:p>
          <a:p>
            <a:r>
              <a:rPr lang="en-IN" dirty="0"/>
              <a:t>entry = </a:t>
            </a:r>
            <a:r>
              <a:rPr lang="en-IN" dirty="0" err="1"/>
              <a:t>tk.Entry</a:t>
            </a:r>
            <a:r>
              <a:rPr lang="en-IN" dirty="0"/>
              <a:t>(root, width=25)</a:t>
            </a:r>
          </a:p>
          <a:p>
            <a:r>
              <a:rPr lang="en-IN" dirty="0" err="1"/>
              <a:t>entry.pack</a:t>
            </a:r>
            <a:r>
              <a:rPr lang="en-IN" dirty="0"/>
              <a:t>(</a:t>
            </a:r>
            <a:r>
              <a:rPr lang="en-IN" dirty="0" err="1"/>
              <a:t>pady</a:t>
            </a:r>
            <a:r>
              <a:rPr lang="en-IN" dirty="0"/>
              <a:t>=10)</a:t>
            </a:r>
          </a:p>
          <a:p>
            <a:r>
              <a:rPr lang="en-IN" dirty="0"/>
              <a:t>button = </a:t>
            </a:r>
            <a:r>
              <a:rPr lang="en-IN" dirty="0" err="1"/>
              <a:t>tk.Button</a:t>
            </a:r>
            <a:r>
              <a:rPr lang="en-IN" dirty="0"/>
              <a:t>(root, text="Submit", command=</a:t>
            </a:r>
            <a:r>
              <a:rPr lang="en-IN" dirty="0" err="1"/>
              <a:t>show_text</a:t>
            </a:r>
            <a:r>
              <a:rPr lang="en-IN" dirty="0"/>
              <a:t>)</a:t>
            </a:r>
          </a:p>
          <a:p>
            <a:r>
              <a:rPr lang="en-IN" dirty="0" err="1"/>
              <a:t>button.pack</a:t>
            </a:r>
            <a:r>
              <a:rPr lang="en-IN" dirty="0"/>
              <a:t>()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r>
              <a:rPr lang="en-IN" b="1" dirty="0"/>
              <a:t>Explanation:</a:t>
            </a:r>
            <a:endParaRPr lang="en-IN" dirty="0"/>
          </a:p>
          <a:p>
            <a:pPr lvl="0"/>
            <a:r>
              <a:rPr lang="en-IN" dirty="0"/>
              <a:t>Entry() creates a single-line text box.</a:t>
            </a:r>
          </a:p>
          <a:p>
            <a:pPr lvl="0"/>
            <a:r>
              <a:rPr lang="en-IN" dirty="0"/>
              <a:t>get() retrieves the text typed by the user.</a:t>
            </a:r>
          </a:p>
          <a:p>
            <a:pPr lvl="0"/>
            <a:r>
              <a:rPr lang="en-IN" dirty="0"/>
              <a:t>The button triggers the </a:t>
            </a:r>
            <a:r>
              <a:rPr lang="en-IN" dirty="0" err="1"/>
              <a:t>show_text</a:t>
            </a:r>
            <a:r>
              <a:rPr lang="en-IN" dirty="0"/>
              <a:t>() function.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6346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829E-AE9E-82CC-5739-3C34A85C6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94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2. Text Widget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3F009-5DF9-0722-A213-6B6178E72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5072"/>
            <a:ext cx="10515600" cy="4351338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Text widget</a:t>
            </a:r>
            <a:r>
              <a:rPr lang="en-IN" dirty="0"/>
              <a:t> is a </a:t>
            </a:r>
            <a:r>
              <a:rPr lang="en-IN" b="1" dirty="0"/>
              <a:t>multi-line text area</a:t>
            </a:r>
            <a:r>
              <a:rPr lang="en-IN" dirty="0"/>
              <a:t>. It is used for longer input like messages, descriptions, or notes.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pPr lvl="0"/>
            <a:r>
              <a:rPr lang="en-IN" dirty="0"/>
              <a:t>Accepts </a:t>
            </a:r>
            <a:r>
              <a:rPr lang="en-IN" b="1" dirty="0"/>
              <a:t>multi-line text</a:t>
            </a:r>
            <a:endParaRPr lang="en-IN" dirty="0"/>
          </a:p>
          <a:p>
            <a:pPr lvl="0"/>
            <a:r>
              <a:rPr lang="en-IN" dirty="0"/>
              <a:t>Text is accessed using .get(start, end) (indexing like "1.0" for line 1, char 0)</a:t>
            </a:r>
          </a:p>
          <a:p>
            <a:pPr lvl="0"/>
            <a:r>
              <a:rPr lang="en-IN" dirty="0"/>
              <a:t>Text can be inserted or deleted</a:t>
            </a:r>
          </a:p>
          <a:p>
            <a:pPr lvl="0"/>
            <a:r>
              <a:rPr lang="en-IN" dirty="0"/>
              <a:t>Can have scrollbars for large content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2064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B9C57-175E-CF8C-DFCF-FFE60958D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19" y="409779"/>
            <a:ext cx="10515600" cy="611884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dirty="0"/>
              <a:t> </a:t>
            </a:r>
          </a:p>
          <a:p>
            <a:r>
              <a:rPr lang="en-IN" dirty="0"/>
              <a:t>def </a:t>
            </a:r>
            <a:r>
              <a:rPr lang="en-IN" dirty="0" err="1"/>
              <a:t>show_text</a:t>
            </a:r>
            <a:r>
              <a:rPr lang="en-IN" dirty="0"/>
              <a:t>():</a:t>
            </a:r>
          </a:p>
          <a:p>
            <a:r>
              <a:rPr lang="en-IN" dirty="0"/>
              <a:t>    content = </a:t>
            </a:r>
            <a:r>
              <a:rPr lang="en-IN" dirty="0" err="1"/>
              <a:t>text_widget.get</a:t>
            </a:r>
            <a:r>
              <a:rPr lang="en-IN" dirty="0"/>
              <a:t>("1.0", </a:t>
            </a:r>
            <a:r>
              <a:rPr lang="en-IN" dirty="0" err="1"/>
              <a:t>tk.END</a:t>
            </a:r>
            <a:r>
              <a:rPr lang="en-IN" dirty="0"/>
              <a:t>)  # Get all text</a:t>
            </a:r>
          </a:p>
          <a:p>
            <a:r>
              <a:rPr lang="en-IN" dirty="0"/>
              <a:t>    print("You wrote:\n", content)</a:t>
            </a:r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("Text Widget Example")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("300x200")</a:t>
            </a:r>
          </a:p>
          <a:p>
            <a:r>
              <a:rPr lang="en-IN" dirty="0" err="1"/>
              <a:t>text_widget</a:t>
            </a:r>
            <a:r>
              <a:rPr lang="en-IN" dirty="0"/>
              <a:t> = </a:t>
            </a:r>
            <a:r>
              <a:rPr lang="en-IN" dirty="0" err="1"/>
              <a:t>tk.Text</a:t>
            </a:r>
            <a:r>
              <a:rPr lang="en-IN" dirty="0"/>
              <a:t>(root, width=30, height=5)</a:t>
            </a:r>
          </a:p>
          <a:p>
            <a:r>
              <a:rPr lang="en-IN" dirty="0" err="1"/>
              <a:t>text_widget.pack</a:t>
            </a:r>
            <a:r>
              <a:rPr lang="en-IN" dirty="0"/>
              <a:t>(</a:t>
            </a:r>
            <a:r>
              <a:rPr lang="en-IN" dirty="0" err="1"/>
              <a:t>pady</a:t>
            </a:r>
            <a:r>
              <a:rPr lang="en-IN" dirty="0"/>
              <a:t>=10)</a:t>
            </a:r>
          </a:p>
          <a:p>
            <a:r>
              <a:rPr lang="en-IN" dirty="0"/>
              <a:t>button = </a:t>
            </a:r>
            <a:r>
              <a:rPr lang="en-IN" dirty="0" err="1"/>
              <a:t>tk.Button</a:t>
            </a:r>
            <a:r>
              <a:rPr lang="en-IN" dirty="0"/>
              <a:t>(root, text="Submit", command=</a:t>
            </a:r>
            <a:r>
              <a:rPr lang="en-IN" dirty="0" err="1"/>
              <a:t>show_text</a:t>
            </a:r>
            <a:r>
              <a:rPr lang="en-IN" dirty="0"/>
              <a:t>)</a:t>
            </a:r>
          </a:p>
          <a:p>
            <a:r>
              <a:rPr lang="en-IN" dirty="0" err="1"/>
              <a:t>button.pack</a:t>
            </a:r>
            <a:r>
              <a:rPr lang="en-IN" dirty="0"/>
              <a:t>()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r>
              <a:rPr lang="en-IN" b="1" dirty="0"/>
              <a:t>Explanation:</a:t>
            </a:r>
            <a:endParaRPr lang="en-IN" dirty="0"/>
          </a:p>
          <a:p>
            <a:pPr lvl="0"/>
            <a:r>
              <a:rPr lang="en-IN" dirty="0"/>
              <a:t>"1.0" → starting position (line 1, char 0)</a:t>
            </a:r>
          </a:p>
          <a:p>
            <a:pPr lvl="0"/>
            <a:r>
              <a:rPr lang="en-IN" dirty="0" err="1"/>
              <a:t>tk.END</a:t>
            </a:r>
            <a:r>
              <a:rPr lang="en-IN" dirty="0"/>
              <a:t> → end of text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207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169C6-2FB0-02E4-02CE-43355621F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1" y="517935"/>
            <a:ext cx="10515600" cy="4351338"/>
          </a:xfrm>
        </p:spPr>
        <p:txBody>
          <a:bodyPr/>
          <a:lstStyle/>
          <a:p>
            <a:r>
              <a:rPr lang="en-IN" b="1" dirty="0"/>
              <a:t>1. Frame</a:t>
            </a:r>
            <a:endParaRPr lang="en-IN" dirty="0"/>
          </a:p>
          <a:p>
            <a:r>
              <a:rPr lang="en-IN" dirty="0"/>
              <a:t>A </a:t>
            </a:r>
            <a:r>
              <a:rPr lang="en-IN" b="1" dirty="0"/>
              <a:t>Frame</a:t>
            </a:r>
            <a:r>
              <a:rPr lang="en-IN" dirty="0"/>
              <a:t> is a </a:t>
            </a:r>
            <a:r>
              <a:rPr lang="en-IN" b="1" dirty="0"/>
              <a:t>container widget</a:t>
            </a:r>
            <a:r>
              <a:rPr lang="en-IN" dirty="0"/>
              <a:t> used to </a:t>
            </a:r>
            <a:r>
              <a:rPr lang="en-IN" b="1" dirty="0"/>
              <a:t>group other widgets</a:t>
            </a:r>
            <a:r>
              <a:rPr lang="en-IN" dirty="0"/>
              <a:t> together.</a:t>
            </a:r>
            <a:br>
              <a:rPr lang="en-IN" dirty="0"/>
            </a:br>
            <a:r>
              <a:rPr lang="en-IN" dirty="0"/>
              <a:t>It acts like a </a:t>
            </a:r>
            <a:r>
              <a:rPr lang="en-IN" b="1" dirty="0"/>
              <a:t>box or panel</a:t>
            </a:r>
            <a:r>
              <a:rPr lang="en-IN" dirty="0"/>
              <a:t> inside a window to organize layouts.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pPr lvl="0"/>
            <a:r>
              <a:rPr lang="en-IN" dirty="0"/>
              <a:t>Organizes widgets in a structured way (using pack, grid, or place)</a:t>
            </a:r>
          </a:p>
          <a:p>
            <a:pPr lvl="0"/>
            <a:r>
              <a:rPr lang="en-IN" dirty="0"/>
              <a:t>Can contain labels, buttons, entries, etc.</a:t>
            </a:r>
          </a:p>
          <a:p>
            <a:pPr lvl="0"/>
            <a:r>
              <a:rPr lang="en-IN" dirty="0"/>
              <a:t>Cannot draw graphics (like shapes) directly</a:t>
            </a:r>
          </a:p>
          <a:p>
            <a:pPr lvl="0"/>
            <a:r>
              <a:rPr lang="en-IN" dirty="0"/>
              <a:t>Useful for </a:t>
            </a:r>
            <a:r>
              <a:rPr lang="en-IN" b="1" dirty="0"/>
              <a:t>structuring complex GUI layouts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5058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4A584-D4DC-2A61-8F41-097121E87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381" y="567096"/>
            <a:ext cx="10515600" cy="5440414"/>
          </a:xfrm>
        </p:spPr>
        <p:txBody>
          <a:bodyPr>
            <a:normAutofit/>
          </a:bodyPr>
          <a:lstStyle/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("Frame Example")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("300x150")</a:t>
            </a:r>
          </a:p>
          <a:p>
            <a:r>
              <a:rPr lang="en-IN" dirty="0"/>
              <a:t>frame = </a:t>
            </a:r>
            <a:r>
              <a:rPr lang="en-IN" dirty="0" err="1"/>
              <a:t>tk.Frame</a:t>
            </a:r>
            <a:r>
              <a:rPr lang="en-IN" dirty="0"/>
              <a:t>(root, </a:t>
            </a:r>
            <a:r>
              <a:rPr lang="en-IN" dirty="0" err="1"/>
              <a:t>bg</a:t>
            </a:r>
            <a:r>
              <a:rPr lang="en-IN" dirty="0"/>
              <a:t>="</a:t>
            </a:r>
            <a:r>
              <a:rPr lang="en-IN" dirty="0" err="1"/>
              <a:t>lightblue</a:t>
            </a:r>
            <a:r>
              <a:rPr lang="en-IN" dirty="0"/>
              <a:t>", width=250, height=100)</a:t>
            </a:r>
          </a:p>
          <a:p>
            <a:r>
              <a:rPr lang="en-IN" dirty="0" err="1"/>
              <a:t>frame.pack</a:t>
            </a:r>
            <a:r>
              <a:rPr lang="en-IN" dirty="0"/>
              <a:t>(</a:t>
            </a:r>
            <a:r>
              <a:rPr lang="en-IN" dirty="0" err="1"/>
              <a:t>pady</a:t>
            </a:r>
            <a:r>
              <a:rPr lang="en-IN" dirty="0"/>
              <a:t>=20)</a:t>
            </a:r>
          </a:p>
          <a:p>
            <a:r>
              <a:rPr lang="en-IN" dirty="0"/>
              <a:t>label = </a:t>
            </a:r>
            <a:r>
              <a:rPr lang="en-IN" dirty="0" err="1"/>
              <a:t>tk.Label</a:t>
            </a:r>
            <a:r>
              <a:rPr lang="en-IN" dirty="0"/>
              <a:t>(frame, text="Inside a Frame")</a:t>
            </a:r>
          </a:p>
          <a:p>
            <a:r>
              <a:rPr lang="en-IN" dirty="0" err="1"/>
              <a:t>label.pack</a:t>
            </a:r>
            <a:r>
              <a:rPr lang="en-IN" dirty="0"/>
              <a:t>()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837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0B24-83BD-29FA-D9B8-42A262306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2. Canvas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47EF6-7676-AF9F-0F0A-809A61030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220" y="681038"/>
            <a:ext cx="10515600" cy="5237981"/>
          </a:xfrm>
        </p:spPr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Canvas</a:t>
            </a:r>
            <a:r>
              <a:rPr lang="en-IN" dirty="0"/>
              <a:t> is a widget used for </a:t>
            </a:r>
            <a:r>
              <a:rPr lang="en-IN" b="1" dirty="0"/>
              <a:t>drawing graphics</a:t>
            </a:r>
            <a:r>
              <a:rPr lang="en-IN" dirty="0"/>
              <a:t> such as shapes, lines, text, and images.</a:t>
            </a:r>
            <a:br>
              <a:rPr lang="en-IN" dirty="0"/>
            </a:br>
            <a:r>
              <a:rPr lang="en-IN" dirty="0"/>
              <a:t>It is </a:t>
            </a:r>
            <a:r>
              <a:rPr lang="en-IN" b="1" dirty="0"/>
              <a:t>not primarily for holding other widgets</a:t>
            </a:r>
            <a:r>
              <a:rPr lang="en-IN" dirty="0"/>
              <a:t> (though it can).</a:t>
            </a:r>
          </a:p>
          <a:p>
            <a:r>
              <a:rPr lang="en-IN" b="1" dirty="0"/>
              <a:t>Features:</a:t>
            </a:r>
            <a:endParaRPr lang="en-IN" dirty="0"/>
          </a:p>
          <a:p>
            <a:pPr lvl="0"/>
            <a:r>
              <a:rPr lang="en-IN" dirty="0"/>
              <a:t>Can draw shapes like </a:t>
            </a:r>
            <a:r>
              <a:rPr lang="en-IN" b="1" dirty="0"/>
              <a:t>line, rectangle, oval, polygon</a:t>
            </a:r>
            <a:endParaRPr lang="en-IN" dirty="0"/>
          </a:p>
          <a:p>
            <a:pPr lvl="0"/>
            <a:r>
              <a:rPr lang="en-IN" dirty="0"/>
              <a:t>Can display </a:t>
            </a:r>
            <a:r>
              <a:rPr lang="en-IN" b="1" dirty="0"/>
              <a:t>images and text</a:t>
            </a:r>
            <a:endParaRPr lang="en-IN" dirty="0"/>
          </a:p>
          <a:p>
            <a:pPr lvl="0"/>
            <a:r>
              <a:rPr lang="en-IN" dirty="0"/>
              <a:t>Supports </a:t>
            </a:r>
            <a:r>
              <a:rPr lang="en-IN" b="1" dirty="0"/>
              <a:t>scrolling</a:t>
            </a:r>
            <a:r>
              <a:rPr lang="en-IN" dirty="0"/>
              <a:t> for large graphics</a:t>
            </a:r>
          </a:p>
          <a:p>
            <a:r>
              <a:rPr lang="en-IN" dirty="0"/>
              <a:t>Often used for </a:t>
            </a:r>
            <a:r>
              <a:rPr lang="en-IN" b="1" dirty="0"/>
              <a:t>games, drawing apps, charts</a:t>
            </a:r>
            <a:endParaRPr lang="en-IN" dirty="0"/>
          </a:p>
          <a:p>
            <a:pPr lvl="0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8220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51C6B-6970-A6EC-B026-7076D5D0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508102"/>
            <a:ext cx="10515600" cy="5509240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tkinter</a:t>
            </a:r>
            <a:r>
              <a:rPr lang="en-IN" dirty="0"/>
              <a:t> as </a:t>
            </a:r>
            <a:r>
              <a:rPr lang="en-IN" dirty="0" err="1"/>
              <a:t>tk</a:t>
            </a:r>
            <a:endParaRPr lang="en-IN" dirty="0"/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("Canvas Example")</a:t>
            </a:r>
          </a:p>
          <a:p>
            <a:r>
              <a:rPr lang="en-IN" dirty="0" err="1"/>
              <a:t>root.geometry</a:t>
            </a:r>
            <a:r>
              <a:rPr lang="en-IN" dirty="0"/>
              <a:t>("300x200")</a:t>
            </a:r>
          </a:p>
          <a:p>
            <a:r>
              <a:rPr lang="en-IN" dirty="0"/>
              <a:t>canvas = </a:t>
            </a:r>
            <a:r>
              <a:rPr lang="en-IN" dirty="0" err="1"/>
              <a:t>tk.Canvas</a:t>
            </a:r>
            <a:r>
              <a:rPr lang="en-IN" dirty="0"/>
              <a:t>(root, width=250, height=150, </a:t>
            </a:r>
            <a:r>
              <a:rPr lang="en-IN" dirty="0" err="1"/>
              <a:t>bg</a:t>
            </a:r>
            <a:r>
              <a:rPr lang="en-IN" dirty="0"/>
              <a:t>="white")</a:t>
            </a:r>
          </a:p>
          <a:p>
            <a:r>
              <a:rPr lang="en-IN" dirty="0" err="1"/>
              <a:t>canvas.pack</a:t>
            </a:r>
            <a:r>
              <a:rPr lang="en-IN" dirty="0"/>
              <a:t>(</a:t>
            </a:r>
            <a:r>
              <a:rPr lang="en-IN" dirty="0" err="1"/>
              <a:t>pady</a:t>
            </a:r>
            <a:r>
              <a:rPr lang="en-IN" dirty="0"/>
              <a:t>=20)</a:t>
            </a:r>
          </a:p>
          <a:p>
            <a:r>
              <a:rPr lang="en-IN" dirty="0"/>
              <a:t># Draw a rectangle and a circle</a:t>
            </a:r>
          </a:p>
          <a:p>
            <a:r>
              <a:rPr lang="en-IN" dirty="0" err="1"/>
              <a:t>canvas.create_rectangle</a:t>
            </a:r>
            <a:r>
              <a:rPr lang="en-IN" dirty="0"/>
              <a:t>(50, 30, 200, 100, fill="</a:t>
            </a:r>
            <a:r>
              <a:rPr lang="en-IN" dirty="0" err="1"/>
              <a:t>lightgreen</a:t>
            </a:r>
            <a:r>
              <a:rPr lang="en-IN" dirty="0"/>
              <a:t>")</a:t>
            </a:r>
          </a:p>
          <a:p>
            <a:r>
              <a:rPr lang="en-IN" dirty="0" err="1"/>
              <a:t>canvas.create_oval</a:t>
            </a:r>
            <a:r>
              <a:rPr lang="en-IN" dirty="0"/>
              <a:t>(70, 50, 180, 120, fill="red")</a:t>
            </a:r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66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2561</Words>
  <Application>Microsoft Office PowerPoint</Application>
  <PresentationFormat>Widescreen</PresentationFormat>
  <Paragraphs>397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Inheritance </vt:lpstr>
      <vt:lpstr>What is Inheritance? </vt:lpstr>
      <vt:lpstr>How to Implement Inheritance in Python </vt:lpstr>
      <vt:lpstr>Example of Inheritance in Python </vt:lpstr>
      <vt:lpstr>PowerPoint Presentation</vt:lpstr>
      <vt:lpstr>1. Single Inheritance </vt:lpstr>
      <vt:lpstr>2. Multiple Inheritance </vt:lpstr>
      <vt:lpstr>PowerPoint Presentation</vt:lpstr>
      <vt:lpstr>Multilevel Inheritance </vt:lpstr>
      <vt:lpstr>PowerPoint Presentation</vt:lpstr>
      <vt:lpstr>Multipath Inheritance </vt:lpstr>
      <vt:lpstr>PowerPoint Presentation</vt:lpstr>
      <vt:lpstr>Method Overloading </vt:lpstr>
      <vt:lpstr>PowerPoint Presentation</vt:lpstr>
      <vt:lpstr>PowerPoint Presentation</vt:lpstr>
      <vt:lpstr>Method Overriding </vt:lpstr>
      <vt:lpstr>PowerPoint Presentation</vt:lpstr>
      <vt:lpstr>PowerPoint Presentation</vt:lpstr>
      <vt:lpstr>creating a GUI application in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Steps to Create a Button and Bind It to an Event Handler </vt:lpstr>
      <vt:lpstr>PowerPoint Presentation</vt:lpstr>
      <vt:lpstr>PowerPoint Presentation</vt:lpstr>
      <vt:lpstr>PowerPoint Presentation</vt:lpstr>
      <vt:lpstr>1. Entry Widget </vt:lpstr>
      <vt:lpstr>PowerPoint Presentation</vt:lpstr>
      <vt:lpstr>2. Text Widget </vt:lpstr>
      <vt:lpstr>PowerPoint Presentation</vt:lpstr>
      <vt:lpstr>PowerPoint Presentation</vt:lpstr>
      <vt:lpstr>PowerPoint Presentation</vt:lpstr>
      <vt:lpstr>2. Canvas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Shetty</dc:creator>
  <cp:lastModifiedBy>Divya Shetty</cp:lastModifiedBy>
  <cp:revision>36</cp:revision>
  <dcterms:created xsi:type="dcterms:W3CDTF">2026-03-12T07:13:27Z</dcterms:created>
  <dcterms:modified xsi:type="dcterms:W3CDTF">2026-03-13T09:57:22Z</dcterms:modified>
</cp:coreProperties>
</file>