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C2D4B-EE04-2E71-1EF1-A85C39C225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802467-7543-A5A4-337D-B2F89F5694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671C7-42B5-9C27-9ADD-01CD3CE47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1F8F3-83E8-45FD-9775-631CE878D091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24041-6D6B-D050-A54D-BA97C2FF6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6A429-0DA2-0F22-7510-E9B7F7EAD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D49EE-5899-4834-9489-ED81D00B55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128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4B331-63B2-3240-2941-3902EDFFC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64CE9-8DEF-0676-9F02-CE13F19B7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EFEDD-F001-3C7A-50C7-0AC335D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1F8F3-83E8-45FD-9775-631CE878D091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23CDA-D4FB-17AB-E29F-6B2DBC288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1E3E9-7B59-BD6D-FEEC-D8E9BC022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D49EE-5899-4834-9489-ED81D00B55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858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9BECF-2ACB-3490-C529-586AA8AA6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90A819-412C-B46A-A7F8-AA549735C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DDD4E-D4F3-6C97-F064-CADBFA6A2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1F8F3-83E8-45FD-9775-631CE878D091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62379-5A1E-5F8E-F3F9-126A2C0B2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705EC-3D74-EB6A-75DE-364938DA2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D49EE-5899-4834-9489-ED81D00B55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87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5D8EC-5F63-B6DB-1F0C-786081530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FD0D2-FDB1-A1D2-33A5-069F165A33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29631-EDB5-AA49-9F00-1C45DDB83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53379-48BA-F6EF-A05F-71AB0856A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1F8F3-83E8-45FD-9775-631CE878D091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8B761-0C7E-96A3-064E-71CEB080D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20B53-2595-ECBE-8F5D-7F1BD7CB2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D49EE-5899-4834-9489-ED81D00B55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677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417B7-50DA-9912-1EFC-DD159BE5B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86B43-BE36-D64E-B2B2-189754B79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116D8-B74E-02B0-3153-6FD1F0DA1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A02BD9-EAE8-6F88-AE80-4D357D9C8B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2CCD1A-808C-D649-B899-139900177C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039661-1C97-5407-4C4D-EF98E63CE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1F8F3-83E8-45FD-9775-631CE878D091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3C88A8-F601-9962-F61C-F2B689430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2945CB-A8AE-4E52-C01E-25301DB30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D49EE-5899-4834-9489-ED81D00B55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941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0D994-8FF6-E533-2E4F-758B37A1F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D278F9-4E16-A7B4-8FCE-39E0CD7B4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1F8F3-83E8-45FD-9775-631CE878D091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5B0457-C57D-CAA8-D7CC-266BF86CD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E1431-AE21-250E-4F3E-200AC16FC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D49EE-5899-4834-9489-ED81D00B55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639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A30315-BA68-13A0-46B4-657F89002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1F8F3-83E8-45FD-9775-631CE878D091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E10B60-5F8C-3022-F0A4-6696533C8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62CF5-D3FD-BBB1-F37F-6C952695D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D49EE-5899-4834-9489-ED81D00B55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152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B1FA6-8AC3-A5B5-7BC7-6677B9B8F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9BC53-B305-17AF-5E80-BC014AEAE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B1DA9-A580-3712-32AD-75A75DACF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6D738-7A02-903E-C8C4-8CF8AE9A5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1F8F3-83E8-45FD-9775-631CE878D091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EF5B76-2FB9-9782-5D36-8B38D3467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A6C97E-1E39-5BC4-D1A7-E47234993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D49EE-5899-4834-9489-ED81D00B55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72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63239-32D5-68A7-EA8B-FC6A79E9A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25807E-3093-FAD2-F8EA-6D75D1994D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485EA6-3608-D3FC-485E-066B665FEB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D48E0-7C96-7FD8-EC38-D9CFAF7BA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1F8F3-83E8-45FD-9775-631CE878D091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ED22C-811B-C2CC-20CC-F66C035AE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D464C-C69C-DB0B-F5BA-EE8FDF625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D49EE-5899-4834-9489-ED81D00B55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533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C7FF-6395-27A5-790D-F4E1B94AA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10F34D-A921-010D-FFFE-DF02E7AE8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CE901-14E5-5A95-2C7B-A50EB8DD0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1F8F3-83E8-45FD-9775-631CE878D091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C0890-AA57-FD82-6045-5203BC682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D7607-555B-948A-CDFC-468979A60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D49EE-5899-4834-9489-ED81D00B55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284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493226-D945-AA11-ABA2-CF0083AA5C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3CD96-117A-93FD-34D3-FB3ECC9ED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75BCF-AEFC-7D0B-1342-CCD2CA1F7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1F8F3-83E8-45FD-9775-631CE878D091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BA59D-FAEB-EFA7-A7CB-59FD861A5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224F7-23C6-3F75-A21A-597337DDA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D49EE-5899-4834-9489-ED81D00B55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845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A49F8A-8557-F820-A8C7-3D6CCF122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1CA2E-7CAE-2F0D-A74D-C923F0753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FD406-D239-342B-B787-4F32CF3FFC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1F8F3-83E8-45FD-9775-631CE878D091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ACBB7-BEA9-4CCB-EFBE-3E49D9843B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F213C-8E69-0115-6108-EE621BCBB6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D49EE-5899-4834-9489-ED81D00B55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39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9561F-74E4-4CF8-C79A-86B7AFB65B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GUI application in Python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098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EC65B-F902-5CA3-C665-DE462775E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7262"/>
          </a:xfrm>
        </p:spPr>
        <p:txBody>
          <a:bodyPr>
            <a:normAutofit fontScale="90000"/>
          </a:bodyPr>
          <a:lstStyle/>
          <a:p>
            <a:r>
              <a:rPr lang="en-US" dirty="0"/>
              <a:t>steps involved in creating a GUI application in Python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AD006-B882-6535-6CBA-CB78AC2B7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0"/>
            <a:ext cx="10515600" cy="47836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following are the general steps involved in basic GUI programs: </a:t>
            </a:r>
          </a:p>
          <a:p>
            <a:pPr marL="0" indent="0">
              <a:buNone/>
            </a:pPr>
            <a:r>
              <a:rPr lang="en-US" dirty="0"/>
              <a:t>1. First of all, we should create the root window. The root window is the top-level window that provides rectangular space on the screen where we can display text colors, images, components, etc. </a:t>
            </a:r>
          </a:p>
          <a:p>
            <a:pPr marL="0" indent="0">
              <a:buNone/>
            </a:pPr>
            <a:r>
              <a:rPr lang="en-US" dirty="0"/>
              <a:t>2. In the root window, we have to allocate space for our use. This is done by creating a canvas or frame: So, canvas and frame are child windows in the root window. </a:t>
            </a:r>
          </a:p>
          <a:p>
            <a:pPr marL="0" indent="0">
              <a:buNone/>
            </a:pPr>
            <a:r>
              <a:rPr lang="en-US" dirty="0"/>
              <a:t>3. Generally, we use canvas for displaying drawings like lines, arcs, circles, shapes, </a:t>
            </a:r>
            <a:r>
              <a:rPr lang="en-US" dirty="0" err="1"/>
              <a:t>etc</a:t>
            </a:r>
            <a:r>
              <a:rPr lang="en-US" dirty="0"/>
              <a:t> We use frame for the purpose of displaying components like push buttons, check buttons, menus, etc. These components are also called ‘widgets’.</a:t>
            </a:r>
          </a:p>
          <a:p>
            <a:pPr marL="0" indent="0">
              <a:buNone/>
            </a:pPr>
            <a:r>
              <a:rPr lang="en-US" dirty="0"/>
              <a:t> 4. When the user clicks on a widget like push button, we have to handle that event. It means we have to respond to the events by performing the desired tasks.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2828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7D9784-6E36-9A7D-76D3-E64913BAAA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8148" y="806210"/>
            <a:ext cx="8589581" cy="382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541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0D1C6-A970-BB45-C1A7-CAE046F8C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button widget and bind it to the event handler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2842B3-1AD9-5FDA-48D3-B403AF13E1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7993" y="1690688"/>
            <a:ext cx="8025839" cy="400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6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0F46AD-F72B-403E-8DDC-6B1512DAD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6028" y="906561"/>
            <a:ext cx="9192307" cy="378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110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9B50B6-0BCE-67B0-8A08-69B311582B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1209" y="817773"/>
            <a:ext cx="8990146" cy="348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532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600E2B-2CD4-2605-102A-ABEA66A6D2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8139"/>
          <a:stretch>
            <a:fillRect/>
          </a:stretch>
        </p:blipFill>
        <p:spPr>
          <a:xfrm>
            <a:off x="1057809" y="563896"/>
            <a:ext cx="8233675" cy="410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660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3B4FB-3FBE-EE7C-FC36-CA84E64BC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877" y="429444"/>
            <a:ext cx="10515600" cy="4351338"/>
          </a:xfrm>
        </p:spPr>
        <p:txBody>
          <a:bodyPr/>
          <a:lstStyle/>
          <a:p>
            <a:r>
              <a:rPr lang="en-US" sz="1600" dirty="0"/>
              <a:t># attach the frame to root w1ndow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606CC2-7EA0-7061-D4B7-199EC7A3A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61" y="1122203"/>
            <a:ext cx="8393574" cy="447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273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ABD0D4-62C4-A7C5-28AF-D0513B7A44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2156" y="667759"/>
            <a:ext cx="7361509" cy="6256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10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D2EEB-006A-5518-F591-42C1C008D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072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arranging Widgets in a frame using layout managers.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281C-D6DD-AC65-0B6B-6CC0DFDA1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846"/>
            <a:ext cx="10515600" cy="4351338"/>
          </a:xfrm>
        </p:spPr>
        <p:txBody>
          <a:bodyPr/>
          <a:lstStyle/>
          <a:p>
            <a:r>
              <a:rPr lang="en-IN" dirty="0"/>
              <a:t>Arranging Widgets in the Frame Once we create widgets or components, we can arrange them in the frame in a particular manner. Arranging the widgets in the frame is called layout management. </a:t>
            </a:r>
          </a:p>
          <a:p>
            <a:pPr marL="0" indent="0">
              <a:buNone/>
            </a:pPr>
            <a:r>
              <a:rPr lang="en-IN" b="1" dirty="0"/>
              <a:t>There are three types of layout managers </a:t>
            </a:r>
            <a:endParaRPr lang="en-IN" dirty="0"/>
          </a:p>
          <a:p>
            <a:pPr lvl="0"/>
            <a:r>
              <a:rPr lang="en-IN" dirty="0"/>
              <a:t>Pack layout manager </a:t>
            </a:r>
          </a:p>
          <a:p>
            <a:pPr lvl="0"/>
            <a:r>
              <a:rPr lang="en-IN" dirty="0"/>
              <a:t>Grid Layout manager </a:t>
            </a:r>
          </a:p>
          <a:p>
            <a:pPr lvl="0"/>
            <a:r>
              <a:rPr lang="en-IN" dirty="0"/>
              <a:t>Place layout manager</a:t>
            </a:r>
          </a:p>
          <a:p>
            <a:pPr lvl="0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6155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13D00-3560-8916-EAA0-58548DF6A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759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Pack layout manager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05BC5-D2EA-5742-E6E4-35321B864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2902"/>
            <a:ext cx="10515600" cy="5509239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 dirty="0"/>
              <a:t>Pack layout manager uses </a:t>
            </a:r>
            <a:r>
              <a:rPr lang="en-IN" b="1" dirty="0"/>
              <a:t>Pack()</a:t>
            </a:r>
            <a:r>
              <a:rPr lang="en-IN" dirty="0"/>
              <a:t> method. This method is useful to associate a widget with its parent component While using the pack() method, we can mention the position of the widget using ‘</a:t>
            </a:r>
            <a:r>
              <a:rPr lang="en-IN" b="1" dirty="0"/>
              <a:t>fill</a:t>
            </a:r>
            <a:r>
              <a:rPr lang="en-IN" dirty="0"/>
              <a:t>’ or ‘</a:t>
            </a:r>
            <a:r>
              <a:rPr lang="en-IN" b="1" dirty="0"/>
              <a:t>side’</a:t>
            </a:r>
            <a:r>
              <a:rPr lang="en-IN" dirty="0"/>
              <a:t> options</a:t>
            </a:r>
          </a:p>
          <a:p>
            <a:r>
              <a:rPr lang="en-IN" b="1" dirty="0" err="1"/>
              <a:t>b.pack</a:t>
            </a:r>
            <a:r>
              <a:rPr lang="en-IN" b="1" dirty="0"/>
              <a:t>(fill=x)</a:t>
            </a:r>
            <a:endParaRPr lang="en-IN" dirty="0"/>
          </a:p>
          <a:p>
            <a:r>
              <a:rPr lang="en-IN" b="1" dirty="0" err="1"/>
              <a:t>b.pack</a:t>
            </a:r>
            <a:r>
              <a:rPr lang="en-IN" b="1" dirty="0"/>
              <a:t>(fill=x)</a:t>
            </a:r>
          </a:p>
          <a:p>
            <a:pPr lvl="0"/>
            <a:r>
              <a:rPr lang="en-IN" dirty="0"/>
              <a:t>The ‘fill’ option can take the values: X, Y, BOTH, NONE. The value </a:t>
            </a:r>
            <a:r>
              <a:rPr lang="en-IN" b="1" dirty="0"/>
              <a:t>X </a:t>
            </a:r>
            <a:r>
              <a:rPr lang="en-IN" dirty="0"/>
              <a:t>represents that the </a:t>
            </a:r>
            <a:r>
              <a:rPr lang="en-IN" b="1" dirty="0"/>
              <a:t>widget should occupy the frame horizontally</a:t>
            </a:r>
            <a:r>
              <a:rPr lang="en-IN" dirty="0"/>
              <a:t> and the value </a:t>
            </a:r>
            <a:r>
              <a:rPr lang="en-IN" b="1" dirty="0"/>
              <a:t>Y</a:t>
            </a:r>
            <a:r>
              <a:rPr lang="en-IN" dirty="0"/>
              <a:t> represents that the </a:t>
            </a:r>
            <a:r>
              <a:rPr lang="en-IN" b="1" dirty="0"/>
              <a:t>widget should occupy vertically</a:t>
            </a:r>
            <a:r>
              <a:rPr lang="en-IN" dirty="0"/>
              <a:t>.</a:t>
            </a:r>
          </a:p>
          <a:p>
            <a:pPr lvl="0"/>
            <a:r>
              <a:rPr lang="en-IN" b="1" dirty="0"/>
              <a:t>BOTH</a:t>
            </a:r>
            <a:r>
              <a:rPr lang="en-IN" dirty="0"/>
              <a:t> represents that the </a:t>
            </a:r>
            <a:r>
              <a:rPr lang="en-IN" b="1" dirty="0"/>
              <a:t>widget should occupy in both the directions</a:t>
            </a:r>
            <a:r>
              <a:rPr lang="en-IN" dirty="0"/>
              <a:t>. </a:t>
            </a:r>
            <a:r>
              <a:rPr lang="en-IN" b="1" dirty="0"/>
              <a:t>NONE</a:t>
            </a:r>
            <a:r>
              <a:rPr lang="en-IN" dirty="0"/>
              <a:t> represents that the </a:t>
            </a:r>
            <a:r>
              <a:rPr lang="en-IN" b="1" dirty="0"/>
              <a:t>widget should be displayed as it is</a:t>
            </a:r>
            <a:r>
              <a:rPr lang="en-IN" dirty="0"/>
              <a:t>. The default value is NONE.</a:t>
            </a:r>
          </a:p>
          <a:p>
            <a:pPr lvl="0"/>
            <a:r>
              <a:rPr lang="en-IN" dirty="0"/>
              <a:t>Along with </a:t>
            </a:r>
            <a:r>
              <a:rPr lang="en-IN" b="1" dirty="0"/>
              <a:t>‘fill’</a:t>
            </a:r>
            <a:r>
              <a:rPr lang="en-IN" dirty="0"/>
              <a:t> option, we can use </a:t>
            </a:r>
            <a:r>
              <a:rPr lang="en-IN" b="1" dirty="0" err="1"/>
              <a:t>padx</a:t>
            </a:r>
            <a:r>
              <a:rPr lang="en-IN" dirty="0"/>
              <a:t> and </a:t>
            </a:r>
            <a:r>
              <a:rPr lang="en-IN" b="1" dirty="0" err="1"/>
              <a:t>pady</a:t>
            </a:r>
            <a:r>
              <a:rPr lang="en-IN" dirty="0"/>
              <a:t> options that represent how much space should be left around the component horizontally and vertically.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920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FA3F4-B4B7-F57F-53F3-503C23E8B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877" y="793238"/>
            <a:ext cx="10515600" cy="4351338"/>
          </a:xfrm>
        </p:spPr>
        <p:txBody>
          <a:bodyPr/>
          <a:lstStyle/>
          <a:p>
            <a:r>
              <a:rPr lang="en-IN" b="1" dirty="0"/>
              <a:t>For example:</a:t>
            </a:r>
            <a:endParaRPr lang="en-IN" dirty="0"/>
          </a:p>
          <a:p>
            <a:r>
              <a:rPr lang="en-IN" dirty="0"/>
              <a:t>#occupy vertically, space on x-axis 10 </a:t>
            </a:r>
            <a:r>
              <a:rPr lang="en-IN" dirty="0" err="1"/>
              <a:t>px</a:t>
            </a:r>
            <a:r>
              <a:rPr lang="en-IN" dirty="0"/>
              <a:t>, on Y-axis 15 </a:t>
            </a:r>
            <a:r>
              <a:rPr lang="en-IN" dirty="0" err="1"/>
              <a:t>px</a:t>
            </a:r>
            <a:endParaRPr lang="en-IN" dirty="0"/>
          </a:p>
          <a:p>
            <a:r>
              <a:rPr lang="en-IN" dirty="0"/>
              <a:t>b1.pack(fill=Y, </a:t>
            </a:r>
            <a:r>
              <a:rPr lang="en-IN" dirty="0" err="1"/>
              <a:t>padx</a:t>
            </a:r>
            <a:r>
              <a:rPr lang="en-IN" dirty="0"/>
              <a:t>=10, </a:t>
            </a:r>
            <a:r>
              <a:rPr lang="en-IN" dirty="0" err="1"/>
              <a:t>pady</a:t>
            </a:r>
            <a:r>
              <a:rPr lang="en-IN" dirty="0"/>
              <a:t>=15)</a:t>
            </a:r>
          </a:p>
          <a:p>
            <a:r>
              <a:rPr lang="en-IN" dirty="0"/>
              <a:t># occupy horizontally. Space on x-axis 10 </a:t>
            </a:r>
            <a:r>
              <a:rPr lang="en-IN" dirty="0" err="1"/>
              <a:t>px</a:t>
            </a:r>
            <a:r>
              <a:rPr lang="en-IN" dirty="0"/>
              <a:t>, on Y-axis 15 </a:t>
            </a:r>
            <a:r>
              <a:rPr lang="en-IN" dirty="0" err="1"/>
              <a:t>px</a:t>
            </a:r>
            <a:endParaRPr lang="en-IN" dirty="0"/>
          </a:p>
          <a:p>
            <a:r>
              <a:rPr lang="en-IN" dirty="0"/>
              <a:t>b2.pack(fill=X, padu-10, pady-15</a:t>
            </a:r>
          </a:p>
          <a:p>
            <a:r>
              <a:rPr lang="en-IN" dirty="0"/>
              <a:t>b3.pack(fill=X) # occupy horizontally, No space outside the widget</a:t>
            </a:r>
          </a:p>
          <a:p>
            <a:r>
              <a:rPr lang="en-IN" dirty="0"/>
              <a:t>b4.pack(fill=X) # occupy horizontally, No space outside the widget</a:t>
            </a:r>
          </a:p>
        </p:txBody>
      </p:sp>
    </p:spTree>
    <p:extLst>
      <p:ext uri="{BB962C8B-B14F-4D97-AF65-F5344CB8AC3E}">
        <p14:creationId xmlns:p14="http://schemas.microsoft.com/office/powerpoint/2010/main" val="1481005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AF7E789-60A9-95F1-4CC6-47A18A0C8E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7819" y="709579"/>
            <a:ext cx="9227602" cy="35379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967F4A-EC1C-0FCE-CCC5-BECB72467C7D}"/>
              </a:ext>
            </a:extLst>
          </p:cNvPr>
          <p:cNvSpPr txBox="1"/>
          <p:nvPr/>
        </p:nvSpPr>
        <p:spPr>
          <a:xfrm>
            <a:off x="1101212" y="4687669"/>
            <a:ext cx="9271819" cy="67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pack()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method can take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another option ‘side’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which is used to place the widgets side by side. „side‟ can take the values LEFT, RIGHT, TOP or BOTTOM. The default value is TOP.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289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C6379-22EC-60A4-B46F-C4171EB16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7934"/>
            <a:ext cx="10515600" cy="5499407"/>
          </a:xfrm>
        </p:spPr>
        <p:txBody>
          <a:bodyPr>
            <a:normAutofit/>
          </a:bodyPr>
          <a:lstStyle/>
          <a:p>
            <a:r>
              <a:rPr lang="en-IN" b="1" dirty="0"/>
              <a:t>For example,</a:t>
            </a:r>
            <a:endParaRPr lang="en-IN" dirty="0"/>
          </a:p>
          <a:p>
            <a:r>
              <a:rPr lang="en-IN" b="1" dirty="0"/>
              <a:t># align towards left with 10 </a:t>
            </a:r>
            <a:r>
              <a:rPr lang="en-IN" b="1" dirty="0" err="1"/>
              <a:t>px</a:t>
            </a:r>
            <a:r>
              <a:rPr lang="en-IN" b="1" dirty="0"/>
              <a:t> and 15 </a:t>
            </a:r>
            <a:r>
              <a:rPr lang="en-IN" b="1" dirty="0" err="1"/>
              <a:t>px</a:t>
            </a:r>
            <a:r>
              <a:rPr lang="en-IN" b="1" dirty="0"/>
              <a:t> spaces</a:t>
            </a:r>
            <a:endParaRPr lang="en-IN" dirty="0"/>
          </a:p>
          <a:p>
            <a:r>
              <a:rPr lang="en-IN" dirty="0"/>
              <a:t>b1.pack(side=LEFT, </a:t>
            </a:r>
            <a:r>
              <a:rPr lang="en-IN" dirty="0" err="1"/>
              <a:t>padx</a:t>
            </a:r>
            <a:r>
              <a:rPr lang="en-IN" dirty="0"/>
              <a:t>=10, </a:t>
            </a:r>
            <a:r>
              <a:rPr lang="en-IN" dirty="0" err="1"/>
              <a:t>pady</a:t>
            </a:r>
            <a:r>
              <a:rPr lang="en-IN" dirty="0"/>
              <a:t>=15)</a:t>
            </a:r>
          </a:p>
          <a:p>
            <a:r>
              <a:rPr lang="en-IN" b="1" dirty="0"/>
              <a:t># align towards bottom with 10 </a:t>
            </a:r>
            <a:r>
              <a:rPr lang="en-IN" b="1" dirty="0" err="1"/>
              <a:t>px</a:t>
            </a:r>
            <a:r>
              <a:rPr lang="en-IN" b="1" dirty="0"/>
              <a:t> and 15 </a:t>
            </a:r>
            <a:r>
              <a:rPr lang="en-IN" b="1" dirty="0" err="1"/>
              <a:t>px</a:t>
            </a:r>
            <a:r>
              <a:rPr lang="en-IN" b="1" dirty="0"/>
              <a:t> spaces</a:t>
            </a:r>
            <a:endParaRPr lang="en-IN" dirty="0"/>
          </a:p>
          <a:p>
            <a:r>
              <a:rPr lang="en-IN" dirty="0"/>
              <a:t>b2.pack(side=BOTTOM, </a:t>
            </a:r>
            <a:r>
              <a:rPr lang="en-IN" dirty="0" err="1"/>
              <a:t>padx</a:t>
            </a:r>
            <a:r>
              <a:rPr lang="en-IN" dirty="0"/>
              <a:t>=10, </a:t>
            </a:r>
            <a:r>
              <a:rPr lang="en-IN" dirty="0" err="1"/>
              <a:t>pady</a:t>
            </a:r>
            <a:r>
              <a:rPr lang="en-IN" dirty="0"/>
              <a:t>=15)</a:t>
            </a:r>
          </a:p>
          <a:p>
            <a:r>
              <a:rPr lang="en-IN" b="1" dirty="0"/>
              <a:t># align towards right with 0 </a:t>
            </a:r>
            <a:r>
              <a:rPr lang="en-IN" b="1" dirty="0" err="1"/>
              <a:t>px</a:t>
            </a:r>
            <a:r>
              <a:rPr lang="en-IN" b="1" dirty="0"/>
              <a:t> space around the widget</a:t>
            </a:r>
            <a:endParaRPr lang="en-IN" dirty="0"/>
          </a:p>
          <a:p>
            <a:r>
              <a:rPr lang="en-IN" dirty="0"/>
              <a:t>b3.pack(side=RIGHT)</a:t>
            </a:r>
          </a:p>
          <a:p>
            <a:r>
              <a:rPr lang="en-IN" b="1" dirty="0"/>
              <a:t># align towards top with 0 </a:t>
            </a:r>
            <a:r>
              <a:rPr lang="en-IN" b="1" dirty="0" err="1"/>
              <a:t>px</a:t>
            </a:r>
            <a:r>
              <a:rPr lang="en-IN" b="1" dirty="0"/>
              <a:t> space around the widget</a:t>
            </a:r>
            <a:endParaRPr lang="en-IN" dirty="0"/>
          </a:p>
          <a:p>
            <a:r>
              <a:rPr lang="en-IN" dirty="0"/>
              <a:t>b4.pack()</a:t>
            </a:r>
          </a:p>
          <a:p>
            <a:r>
              <a:rPr lang="en-IN" b="1" dirty="0"/>
              <a:t>Output : Arrangement of buttons using pack() method with 'side' option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9359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B91A670-1991-2695-82BA-697E354489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3610" y="980261"/>
            <a:ext cx="6014713" cy="461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614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15D9D-5927-E3AE-A2AA-80B0CB31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Grid layout manager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54F4B-7D52-0240-7415-D87EF1726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9762"/>
            <a:ext cx="10515600" cy="4351338"/>
          </a:xfrm>
        </p:spPr>
        <p:txBody>
          <a:bodyPr/>
          <a:lstStyle/>
          <a:p>
            <a:pPr lvl="0"/>
            <a:r>
              <a:rPr lang="en-IN" dirty="0"/>
              <a:t>Grid layout manager uses the grid() method to arrange the widgets in a two dimensional table that contains rows and columns. </a:t>
            </a:r>
          </a:p>
          <a:p>
            <a:pPr lvl="0"/>
            <a:r>
              <a:rPr lang="en-IN" dirty="0"/>
              <a:t>The horizontal arrangement of data is called „row‟ and vertical arrangement is called „column‟. The position of a widget is defined by a row and a column number. </a:t>
            </a:r>
          </a:p>
          <a:p>
            <a:pPr lvl="0"/>
            <a:r>
              <a:rPr lang="en-IN" dirty="0"/>
              <a:t>The size of the table is determined by the grid layout manager depending on the widgets size.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1624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442A7-99A1-428F-4B64-2A3A87A89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87" y="655586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Example</a:t>
            </a:r>
            <a:endParaRPr lang="en-IN" dirty="0"/>
          </a:p>
          <a:p>
            <a:r>
              <a:rPr lang="en-IN" b="1" dirty="0"/>
              <a:t># display in 0th row, 0th column with spaces around</a:t>
            </a:r>
            <a:endParaRPr lang="en-IN" dirty="0"/>
          </a:p>
          <a:p>
            <a:r>
              <a:rPr lang="en-IN" dirty="0" err="1"/>
              <a:t>bl.grid</a:t>
            </a:r>
            <a:r>
              <a:rPr lang="en-IN" dirty="0"/>
              <a:t>(row=0, column=0, </a:t>
            </a:r>
            <a:r>
              <a:rPr lang="en-IN" dirty="0" err="1"/>
              <a:t>padx</a:t>
            </a:r>
            <a:r>
              <a:rPr lang="en-IN" dirty="0"/>
              <a:t>=10, </a:t>
            </a:r>
            <a:r>
              <a:rPr lang="en-IN" dirty="0" err="1"/>
              <a:t>pady</a:t>
            </a:r>
            <a:r>
              <a:rPr lang="en-IN" dirty="0"/>
              <a:t>=15)</a:t>
            </a:r>
          </a:p>
          <a:p>
            <a:r>
              <a:rPr lang="en-IN" b="1" dirty="0"/>
              <a:t># display in Oth row, 1st column with spaces around</a:t>
            </a:r>
            <a:endParaRPr lang="en-IN" dirty="0"/>
          </a:p>
          <a:p>
            <a:r>
              <a:rPr lang="en-IN" dirty="0"/>
              <a:t>b2.grid(row=0, column=1, </a:t>
            </a:r>
            <a:r>
              <a:rPr lang="en-IN" dirty="0" err="1"/>
              <a:t>padx</a:t>
            </a:r>
            <a:r>
              <a:rPr lang="en-IN" dirty="0"/>
              <a:t>=10, </a:t>
            </a:r>
            <a:r>
              <a:rPr lang="en-IN" dirty="0" err="1"/>
              <a:t>pady</a:t>
            </a:r>
            <a:r>
              <a:rPr lang="en-IN" dirty="0"/>
              <a:t>=15</a:t>
            </a:r>
          </a:p>
          <a:p>
            <a:r>
              <a:rPr lang="en-IN" b="1" dirty="0"/>
              <a:t># display in Oth row, 2nd column without spaces around</a:t>
            </a:r>
            <a:endParaRPr lang="en-IN" dirty="0"/>
          </a:p>
          <a:p>
            <a:r>
              <a:rPr lang="en-IN" dirty="0"/>
              <a:t>b3.grid(row=0, column=2)</a:t>
            </a:r>
          </a:p>
          <a:p>
            <a:r>
              <a:rPr lang="en-IN" b="1" dirty="0"/>
              <a:t># display in 1st row, 3rd column without spaces around</a:t>
            </a:r>
            <a:endParaRPr lang="en-IN" dirty="0"/>
          </a:p>
          <a:p>
            <a:r>
              <a:rPr lang="en-IN" dirty="0"/>
              <a:t>b4.grid(row=1, column=3)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78409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2AD905-E49C-54A0-27FA-111CC872A4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8800" y="1208367"/>
            <a:ext cx="8357147" cy="286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857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A458B-E0C6-EC02-99A7-E572E2244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810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Place layout manager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7DD42-BB49-60CC-7B05-E956FEFE7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212" y="67417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IN" dirty="0"/>
              <a:t>Place layout manager uses the place() method to arrange the widgets.</a:t>
            </a:r>
          </a:p>
          <a:p>
            <a:pPr lvl="0"/>
            <a:r>
              <a:rPr lang="en-IN" dirty="0"/>
              <a:t>The place() method takes x and y coordinates of the widget along with width and height of the window where the widget has to be displayed.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For example:</a:t>
            </a:r>
          </a:p>
          <a:p>
            <a:r>
              <a:rPr lang="en-IN" b="1" dirty="0"/>
              <a:t># display at (20, 30) coordinates in the window 100 </a:t>
            </a:r>
            <a:r>
              <a:rPr lang="en-IN" b="1" dirty="0" err="1"/>
              <a:t>pxwidth</a:t>
            </a:r>
            <a:r>
              <a:rPr lang="en-IN" b="1" dirty="0"/>
              <a:t> and 50 </a:t>
            </a:r>
            <a:r>
              <a:rPr lang="en-IN" b="1" dirty="0" err="1"/>
              <a:t>pxheight</a:t>
            </a:r>
            <a:endParaRPr lang="en-IN" dirty="0"/>
          </a:p>
          <a:p>
            <a:r>
              <a:rPr lang="en-IN" dirty="0" err="1"/>
              <a:t>bl.place</a:t>
            </a:r>
            <a:r>
              <a:rPr lang="en-IN" dirty="0"/>
              <a:t>(x=20, y=30, width=100, height=50)</a:t>
            </a:r>
          </a:p>
          <a:p>
            <a:r>
              <a:rPr lang="en-IN" dirty="0"/>
              <a:t>b2.place(x=20, y=100, width=100, height=50) </a:t>
            </a:r>
            <a:r>
              <a:rPr lang="en-IN" b="1" dirty="0"/>
              <a:t># display at (20, 100)</a:t>
            </a:r>
            <a:endParaRPr lang="en-IN" dirty="0"/>
          </a:p>
          <a:p>
            <a:r>
              <a:rPr lang="en-IN" dirty="0"/>
              <a:t>b3.place(x=200, y=100, width=100,height=50</a:t>
            </a:r>
            <a:r>
              <a:rPr lang="en-IN" b="1" dirty="0"/>
              <a:t>)# display at (200, 100)</a:t>
            </a:r>
            <a:endParaRPr lang="en-IN" dirty="0"/>
          </a:p>
          <a:p>
            <a:r>
              <a:rPr lang="en-IN" dirty="0"/>
              <a:t>b4.place(x=200, y=200, width=100, height=50) </a:t>
            </a:r>
            <a:r>
              <a:rPr lang="en-IN" b="1" dirty="0"/>
              <a:t># display at (200, 100)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9292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58D8448-7E33-F539-6D06-EA02702E57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7108" y="836317"/>
            <a:ext cx="6050981" cy="406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341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A89BA-78F7-D527-7877-972F253A1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26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add a scrollbar to a Text widget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48C5E-9C61-8500-9358-7FDD1BA4A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4915"/>
            <a:ext cx="10515600" cy="5797960"/>
          </a:xfrm>
        </p:spPr>
        <p:txBody>
          <a:bodyPr>
            <a:normAutofit lnSpcReduction="10000"/>
          </a:bodyPr>
          <a:lstStyle/>
          <a:p>
            <a:r>
              <a:rPr lang="en-IN" dirty="0"/>
              <a:t>It is useful to add scroll bars to the Text widget. A scroll bar is a bar that is </a:t>
            </a:r>
          </a:p>
          <a:p>
            <a:r>
              <a:rPr lang="en-IN" dirty="0"/>
              <a:t>useful to scroll the text either horizontally or vertically. For example, we can create a vertical scroll bar by </a:t>
            </a:r>
            <a:r>
              <a:rPr lang="en-IN" b="1" dirty="0"/>
              <a:t>creating an object to Scroll bar</a:t>
            </a:r>
            <a:r>
              <a:rPr lang="en-IN" dirty="0"/>
              <a:t> class as:</a:t>
            </a:r>
          </a:p>
          <a:p>
            <a:r>
              <a:rPr lang="en-IN" b="1" dirty="0"/>
              <a:t>s = Scrollbar (root, orient=VERTICAL, Command= </a:t>
            </a:r>
            <a:r>
              <a:rPr lang="en-IN" b="1" dirty="0" err="1"/>
              <a:t>t.yview</a:t>
            </a:r>
            <a:r>
              <a:rPr lang="en-IN" b="1" dirty="0"/>
              <a:t>) </a:t>
            </a:r>
            <a:endParaRPr lang="en-IN" dirty="0"/>
          </a:p>
          <a:p>
            <a:r>
              <a:rPr lang="en-IN" b="1" dirty="0"/>
              <a:t>s=Scrollbar (root, orient=HORIZONTAL, command=</a:t>
            </a:r>
            <a:r>
              <a:rPr lang="en-IN" b="1" dirty="0" err="1"/>
              <a:t>t.xview</a:t>
            </a:r>
            <a:r>
              <a:rPr lang="en-IN" b="1" dirty="0"/>
              <a:t>)</a:t>
            </a:r>
          </a:p>
          <a:p>
            <a:pPr lvl="0"/>
            <a:r>
              <a:rPr lang="en-IN" b="1" dirty="0"/>
              <a:t>'orient'</a:t>
            </a:r>
            <a:r>
              <a:rPr lang="en-IN" dirty="0"/>
              <a:t> indicates whether it is a vertical scroll bar or horizontal scroll bar.</a:t>
            </a:r>
          </a:p>
          <a:p>
            <a:pPr lvl="0"/>
            <a:r>
              <a:rPr lang="en-IN" dirty="0" err="1"/>
              <a:t>The</a:t>
            </a:r>
            <a:r>
              <a:rPr lang="en-IN" b="1" dirty="0" err="1"/>
              <a:t>„command</a:t>
            </a:r>
            <a:r>
              <a:rPr lang="en-IN" b="1" dirty="0"/>
              <a:t>‟</a:t>
            </a:r>
            <a:r>
              <a:rPr lang="en-IN" dirty="0"/>
              <a:t> option specifies to which widget this scroll bar should be connected. </a:t>
            </a:r>
          </a:p>
          <a:p>
            <a:pPr lvl="0"/>
            <a:r>
              <a:rPr lang="en-IN" b="1" dirty="0" err="1"/>
              <a:t>t.yview</a:t>
            </a:r>
            <a:r>
              <a:rPr lang="en-IN" dirty="0"/>
              <a:t> represents that the scroll bar is connected to „t‟, i.e. Text widget and </a:t>
            </a:r>
            <a:r>
              <a:rPr lang="en-IN" b="1" dirty="0"/>
              <a:t>„</a:t>
            </a:r>
            <a:r>
              <a:rPr lang="en-IN" b="1" dirty="0" err="1"/>
              <a:t>yview</a:t>
            </a:r>
            <a:r>
              <a:rPr lang="en-IN" b="1" dirty="0"/>
              <a:t>‟ is for vertical scrolling</a:t>
            </a:r>
            <a:r>
              <a:rPr lang="en-IN" dirty="0"/>
              <a:t>.(</a:t>
            </a:r>
            <a:r>
              <a:rPr lang="en-IN" b="1" dirty="0" err="1"/>
              <a:t>t.xview</a:t>
            </a:r>
            <a:r>
              <a:rPr lang="en-IN" b="1" dirty="0"/>
              <a:t> for horizontal</a:t>
            </a:r>
            <a:r>
              <a:rPr lang="en-IN" dirty="0"/>
              <a:t>).</a:t>
            </a:r>
          </a:p>
          <a:p>
            <a:endParaRPr lang="en-IN" b="1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27825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257F0-17CC-FBDF-C385-40CA94BEB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4915"/>
            <a:ext cx="10515600" cy="4351338"/>
          </a:xfrm>
        </p:spPr>
        <p:txBody>
          <a:bodyPr/>
          <a:lstStyle/>
          <a:p>
            <a:r>
              <a:rPr lang="en-IN" b="1" dirty="0"/>
              <a:t>A spin box is created as an object of </a:t>
            </a:r>
            <a:r>
              <a:rPr lang="en-IN" b="1" dirty="0" err="1"/>
              <a:t>Spinbox</a:t>
            </a:r>
            <a:r>
              <a:rPr lang="en-IN" b="1" dirty="0"/>
              <a:t> class.  </a:t>
            </a:r>
            <a:endParaRPr lang="en-IN" dirty="0"/>
          </a:p>
          <a:p>
            <a:r>
              <a:rPr lang="en-IN" b="1" dirty="0"/>
              <a:t>s1= </a:t>
            </a:r>
            <a:r>
              <a:rPr lang="en-IN" b="1" dirty="0" err="1"/>
              <a:t>Spinbox</a:t>
            </a:r>
            <a:r>
              <a:rPr lang="en-IN" b="1" dirty="0"/>
              <a:t>(f, from_=x  to=y, </a:t>
            </a:r>
            <a:r>
              <a:rPr lang="en-IN" b="1" dirty="0" err="1"/>
              <a:t>textvariable</a:t>
            </a:r>
            <a:r>
              <a:rPr lang="en-IN" b="1" dirty="0"/>
              <a:t>= val1,width= 15,fg='blue' ,</a:t>
            </a:r>
            <a:r>
              <a:rPr lang="en-IN" b="1" dirty="0" err="1"/>
              <a:t>bg</a:t>
            </a:r>
            <a:r>
              <a:rPr lang="en-IN" b="1" dirty="0"/>
              <a:t>='yellow', font=('</a:t>
            </a:r>
            <a:r>
              <a:rPr lang="en-IN" b="1" dirty="0" err="1"/>
              <a:t>fontname</a:t>
            </a:r>
            <a:r>
              <a:rPr lang="en-IN" b="1" dirty="0"/>
              <a:t>', size, „</a:t>
            </a:r>
            <a:r>
              <a:rPr lang="en-IN" b="1" dirty="0" err="1"/>
              <a:t>fontface</a:t>
            </a:r>
            <a:r>
              <a:rPr lang="en-IN" b="1" dirty="0"/>
              <a:t>‟))</a:t>
            </a:r>
            <a:endParaRPr lang="en-IN" dirty="0"/>
          </a:p>
          <a:p>
            <a:pPr lvl="0"/>
            <a:r>
              <a:rPr lang="en-IN" b="1" dirty="0"/>
              <a:t>f</a:t>
            </a:r>
            <a:r>
              <a:rPr lang="en-IN" dirty="0"/>
              <a:t> represents the parent widget.  </a:t>
            </a:r>
          </a:p>
          <a:p>
            <a:pPr lvl="0"/>
            <a:r>
              <a:rPr lang="en-IN" b="1" dirty="0"/>
              <a:t>from_</a:t>
            </a:r>
            <a:r>
              <a:rPr lang="en-IN" dirty="0"/>
              <a:t>' indicates the starting value and „to‟ </a:t>
            </a:r>
            <a:r>
              <a:rPr lang="en-IN" dirty="0" err="1"/>
              <a:t>indicatesthe</a:t>
            </a:r>
            <a:r>
              <a:rPr lang="en-IN" dirty="0"/>
              <a:t> ending value in the spin box.</a:t>
            </a:r>
          </a:p>
          <a:p>
            <a:pPr lvl="0"/>
            <a:r>
              <a:rPr lang="en-IN" b="1" dirty="0"/>
              <a:t>„</a:t>
            </a:r>
            <a:r>
              <a:rPr lang="en-IN" b="1" dirty="0" err="1"/>
              <a:t>textvariable</a:t>
            </a:r>
            <a:r>
              <a:rPr lang="en-IN" dirty="0"/>
              <a:t>' shows the control variable, i.e. Val1 that is created as an object of the </a:t>
            </a:r>
            <a:r>
              <a:rPr lang="en-IN" dirty="0" err="1"/>
              <a:t>IntVar</a:t>
            </a:r>
            <a:r>
              <a:rPr lang="en-IN" dirty="0"/>
              <a:t> class.</a:t>
            </a:r>
          </a:p>
          <a:p>
            <a:pPr lvl="0"/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BFB3F6-22AB-3297-0660-9C4D07701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025" y="4909522"/>
            <a:ext cx="4856214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728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1279</Words>
  <Application>Microsoft Office PowerPoint</Application>
  <PresentationFormat>Widescreen</PresentationFormat>
  <Paragraphs>77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Symbol</vt:lpstr>
      <vt:lpstr>Times New Roman</vt:lpstr>
      <vt:lpstr>Office Theme</vt:lpstr>
      <vt:lpstr>GUI application in Python</vt:lpstr>
      <vt:lpstr>steps involved in creating a GUI application in Python</vt:lpstr>
      <vt:lpstr>PowerPoint Presentation</vt:lpstr>
      <vt:lpstr>create a button widget and bind it to the event handler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arranging Widgets in a frame using layout managers. </vt:lpstr>
      <vt:lpstr>Pack layout manager </vt:lpstr>
      <vt:lpstr>PowerPoint Presentation</vt:lpstr>
      <vt:lpstr>PowerPoint Presentation</vt:lpstr>
      <vt:lpstr>PowerPoint Presentation</vt:lpstr>
      <vt:lpstr>PowerPoint Presentation</vt:lpstr>
      <vt:lpstr>Grid layout manager </vt:lpstr>
      <vt:lpstr>PowerPoint Presentation</vt:lpstr>
      <vt:lpstr>PowerPoint Presentation</vt:lpstr>
      <vt:lpstr>Place layout manager </vt:lpstr>
      <vt:lpstr>PowerPoint Presentation</vt:lpstr>
      <vt:lpstr>add a scrollbar to a Text widget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 Shetty</dc:creator>
  <cp:lastModifiedBy>Divya Shetty</cp:lastModifiedBy>
  <cp:revision>27</cp:revision>
  <dcterms:created xsi:type="dcterms:W3CDTF">2026-03-15T02:39:41Z</dcterms:created>
  <dcterms:modified xsi:type="dcterms:W3CDTF">2026-03-16T03:40:59Z</dcterms:modified>
</cp:coreProperties>
</file>