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1" r:id="rId21"/>
    <p:sldId id="282" r:id="rId22"/>
    <p:sldId id="283" r:id="rId23"/>
    <p:sldId id="284" r:id="rId24"/>
    <p:sldId id="26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C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8B8C7-6DBE-4A26-BC61-3E08C7BA3AD0}" v="65" dt="2025-12-01T07:25:56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1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02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12/1/2025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57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69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3534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36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6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7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8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1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10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99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F2917-E36E-8722-8139-F8AEC68ED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256" y="1248849"/>
            <a:ext cx="7619085" cy="3066706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Unit-5</a:t>
            </a:r>
            <a:br>
              <a:rPr lang="en-US" dirty="0"/>
            </a:br>
            <a:r>
              <a:rPr lang="en-US" sz="5000" dirty="0"/>
              <a:t>Emerging Trends and Case Studies in Operating Systems </a:t>
            </a:r>
            <a:endParaRPr lang="en-IN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B2BB5-DFB5-814E-8FE3-5D3CF14ED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881" y="5042366"/>
            <a:ext cx="4524024" cy="1576188"/>
          </a:xfrm>
        </p:spPr>
        <p:txBody>
          <a:bodyPr anchor="t">
            <a:normAutofit/>
          </a:bodyPr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B270AC85-FB8B-3211-45E1-9416451E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83" r="40446"/>
          <a:stretch>
            <a:fillRect/>
          </a:stretch>
        </p:blipFill>
        <p:spPr>
          <a:xfrm>
            <a:off x="7386930" y="-171153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97671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Cloud-Based Operating Systems</a:t>
            </a: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Cloud-based OS are designed to run applications and workloads across distributed cloud infrastructure. They are not “OS” in the traditional sense but provide OS-like abstractions at datacenter scale.</a:t>
            </a:r>
          </a:p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1.1 Characteristics</a:t>
            </a:r>
          </a:p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a) Distributed Resource Abstraction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Treat an entire datacenter as one large “virtual computer”.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Hide complexities of hardware, scaling, and geographic distribution.</a:t>
            </a:r>
          </a:p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b) Elasticity &amp; Auto-Scaling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Automatically scales VMs, containers, or functions based on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Core principle in AWS, Azure, GCP.</a:t>
            </a:r>
          </a:p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c) Multi-Tenancy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Many users share the same physical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The cloud OS must ensure isolation, fairness, and security across tenants.</a:t>
            </a:r>
          </a:p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d) Software-Defined Everything (SDx)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Software-defined storage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networking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allow dynamic configuration.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16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Virtualized Operating Systems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Virtualization allows running multiple operating systems or applications on the same physical machine with isolation.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2.1 Types of Virtualization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a) Hardware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Uses a hypervisor (VMware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ESXi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, KVM, Xen).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Each VM includes its own OS, kernel, libraries.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b) OS-level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Containers share same kernel; only user-space is isolated.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Lightweight compared to full VMs.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c) Application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Individual apps isolated (e.g., SNAP,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Flatpak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, JVM sandbox).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1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Docker (Container-Based OS Virtualization)</a:t>
            </a:r>
          </a:p>
          <a:p>
            <a:r>
              <a:rPr lang="en-IN" dirty="0"/>
              <a:t>Docker is not a full OS; it virtualizes </a:t>
            </a:r>
            <a:r>
              <a:rPr lang="en-IN" b="1" dirty="0"/>
              <a:t>user space</a:t>
            </a:r>
            <a:r>
              <a:rPr lang="en-IN" dirty="0"/>
              <a:t> using Linux kernel features.</a:t>
            </a:r>
          </a:p>
          <a:p>
            <a:r>
              <a:rPr lang="en-IN" b="1" dirty="0"/>
              <a:t>a) Containers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Lightweight, portable execution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Share host kernel.</a:t>
            </a:r>
          </a:p>
          <a:p>
            <a:r>
              <a:rPr lang="en-IN" b="1" dirty="0"/>
              <a:t>b)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Immutable filesystem snapshots with application code and dependencies.</a:t>
            </a:r>
          </a:p>
          <a:p>
            <a:r>
              <a:rPr lang="en-IN" b="1" dirty="0"/>
              <a:t>c) Docker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Manages containers and performs isolation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Namespaces</a:t>
            </a:r>
            <a:r>
              <a:rPr lang="en-IN" dirty="0"/>
              <a:t> (PID, NET, MNT, IPC, UTS)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Control Groups (</a:t>
            </a:r>
            <a:r>
              <a:rPr lang="en-IN" b="1" dirty="0" err="1"/>
              <a:t>cgroups</a:t>
            </a:r>
            <a:r>
              <a:rPr lang="en-IN" b="1" dirty="0"/>
              <a:t>)</a:t>
            </a:r>
            <a:r>
              <a:rPr lang="en-IN" dirty="0"/>
              <a:t> for CPU, memory, I/O quotas</a:t>
            </a:r>
          </a:p>
          <a:p>
            <a:r>
              <a:rPr lang="en-IN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 </a:t>
            </a:r>
            <a:r>
              <a:rPr lang="en-IN" dirty="0" err="1"/>
              <a:t>startup</a:t>
            </a:r>
            <a:r>
              <a:rPr lang="en-IN" dirty="0"/>
              <a:t> (&lt;1 second)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Efficient resource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 portability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Ideal for microservices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199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Kubernetes (Cluster OS for Containers)</a:t>
            </a:r>
          </a:p>
          <a:p>
            <a:r>
              <a:rPr lang="en-IN" dirty="0"/>
              <a:t>Kubernetes (K8s) behaves like a </a:t>
            </a:r>
            <a:r>
              <a:rPr lang="en-IN" b="1" dirty="0"/>
              <a:t>distributed operating system</a:t>
            </a:r>
            <a:r>
              <a:rPr lang="en-IN" dirty="0"/>
              <a:t> for container orchestration.</a:t>
            </a:r>
          </a:p>
          <a:p>
            <a:r>
              <a:rPr lang="en-IN" b="1" dirty="0"/>
              <a:t>Kubernetes Architecture</a:t>
            </a:r>
          </a:p>
          <a:p>
            <a:r>
              <a:rPr lang="en-IN" b="1" dirty="0"/>
              <a:t>a) Master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API Server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Scheduler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Controller Manager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etcd</a:t>
            </a:r>
            <a:r>
              <a:rPr lang="en-IN" dirty="0"/>
              <a:t> (cluster database)</a:t>
            </a:r>
          </a:p>
          <a:p>
            <a:r>
              <a:rPr lang="en-IN" b="1" dirty="0"/>
              <a:t>b) Worker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kubelet</a:t>
            </a:r>
            <a:r>
              <a:rPr lang="en-IN" dirty="0"/>
              <a:t> (container runtime manager)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kube</a:t>
            </a:r>
            <a:r>
              <a:rPr lang="en-IN" b="1" dirty="0"/>
              <a:t>-proxy</a:t>
            </a:r>
            <a:r>
              <a:rPr lang="en-IN" dirty="0"/>
              <a:t> (networking)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Container runtime (Docker, </a:t>
            </a:r>
            <a:r>
              <a:rPr lang="en-IN" dirty="0" err="1"/>
              <a:t>containerd</a:t>
            </a:r>
            <a:r>
              <a:rPr lang="en-IN" dirty="0"/>
              <a:t>, CRI-O)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04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5C6905-39FB-45ED-F393-96480EBF0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193261"/>
              </p:ext>
            </p:extLst>
          </p:nvPr>
        </p:nvGraphicFramePr>
        <p:xfrm>
          <a:off x="557834" y="2321395"/>
          <a:ext cx="8769350" cy="2194560"/>
        </p:xfrm>
        <a:graphic>
          <a:graphicData uri="http://schemas.openxmlformats.org/drawingml/2006/table">
            <a:tbl>
              <a:tblPr/>
              <a:tblGrid>
                <a:gridCol w="4384675">
                  <a:extLst>
                    <a:ext uri="{9D8B030D-6E8A-4147-A177-3AD203B41FA5}">
                      <a16:colId xmlns:a16="http://schemas.microsoft.com/office/drawing/2014/main" val="515876304"/>
                    </a:ext>
                  </a:extLst>
                </a:gridCol>
                <a:gridCol w="4384675">
                  <a:extLst>
                    <a:ext uri="{9D8B030D-6E8A-4147-A177-3AD203B41FA5}">
                      <a16:colId xmlns:a16="http://schemas.microsoft.com/office/drawing/2014/main" val="1269393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OS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Kubernetes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15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Process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Pod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09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Memory mgmt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Resource quotas, limits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1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Networking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CNI plugins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0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Storage mgmt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 volumes, dynamic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789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Service mgmt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Self-healing, auto-restart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807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6F2EE4-E2B5-4E3F-795A-0FB6866091B9}"/>
              </a:ext>
            </a:extLst>
          </p:cNvPr>
          <p:cNvSpPr txBox="1"/>
          <p:nvPr/>
        </p:nvSpPr>
        <p:spPr>
          <a:xfrm>
            <a:off x="665017" y="1264328"/>
            <a:ext cx="674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Kubernetes Features (OS-like Functions)</a:t>
            </a:r>
          </a:p>
        </p:txBody>
      </p:sp>
    </p:spTree>
    <p:extLst>
      <p:ext uri="{BB962C8B-B14F-4D97-AF65-F5344CB8AC3E}">
        <p14:creationId xmlns:p14="http://schemas.microsoft.com/office/powerpoint/2010/main" val="112415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557834" y="100940"/>
            <a:ext cx="10474343" cy="551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IN" b="1" spc="150" dirty="0">
                <a:solidFill>
                  <a:schemeClr val="accent3">
                    <a:lumMod val="75000"/>
                  </a:schemeClr>
                </a:solidFill>
              </a:rPr>
              <a:t>Why Docker + Kubernetes Are Considered "Cloud OS"</a:t>
            </a:r>
          </a:p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a) </a:t>
            </a:r>
            <a:r>
              <a:rPr lang="en-IN" sz="16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Abstract Hardware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Applications don’t see actual hardware (CPU, network, disks).</a:t>
            </a:r>
          </a:p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b) </a:t>
            </a:r>
            <a:r>
              <a:rPr lang="en-IN" sz="16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 System-Level Services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Scheduling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Resource management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Networking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 policies</a:t>
            </a:r>
          </a:p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c) </a:t>
            </a:r>
            <a:r>
              <a:rPr lang="en-IN" sz="16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Enable Elastic Cloud-native Workloads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Auto-scaling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Rolling updates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Load balancing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94E28-7546-71F1-DE2D-2FC8074C0395}"/>
              </a:ext>
            </a:extLst>
          </p:cNvPr>
          <p:cNvSpPr txBox="1"/>
          <p:nvPr/>
        </p:nvSpPr>
        <p:spPr>
          <a:xfrm>
            <a:off x="5902036" y="3195758"/>
            <a:ext cx="613147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How Docker &amp; Kubernetes Work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Docker builds and runs containers.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Kubernetes orchestrates those containers across many nodes.</a:t>
            </a:r>
            <a:endParaRPr lang="en-US" sz="1600" dirty="0"/>
          </a:p>
          <a:p>
            <a:r>
              <a:rPr lang="en-US" sz="1600" dirty="0"/>
              <a:t>Typical workflow: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Developers create a Docker image.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They push it to a container registry.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Kubernetes pulls the image and deploys containers on cluster nodes.</a:t>
            </a:r>
          </a:p>
          <a:p>
            <a:pPr>
              <a:buFont typeface="+mj-lt"/>
              <a:buAutoNum type="arabicPeriod"/>
            </a:pPr>
            <a:r>
              <a:rPr lang="en-US" sz="1600" dirty="0" err="1"/>
              <a:t>kubelet</a:t>
            </a:r>
            <a:r>
              <a:rPr lang="en-US" sz="1600" dirty="0"/>
              <a:t> works with container runtimes (like </a:t>
            </a:r>
            <a:r>
              <a:rPr lang="en-US" sz="1600" dirty="0" err="1"/>
              <a:t>containerd</a:t>
            </a:r>
            <a:r>
              <a:rPr lang="en-US" sz="1600" dirty="0"/>
              <a:t>) to run them.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Kubernetes ensures the right number of containers run smoothly.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22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557834" y="847638"/>
            <a:ext cx="10474343" cy="46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 Studies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1. Google Borg → Foundation of Kubernetes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Schedules millions of containers per day.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Introduced concepts like pod, job, replica.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2. AWS Firecracker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Micro-VM technology used for AWS Lambda &amp;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Fargate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3. Netflix Titus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Container-based cloud OS </a:t>
            </a:r>
            <a:r>
              <a:rPr lang="en-IN" sz="20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video streaming workloads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437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557834" y="847638"/>
            <a:ext cx="10474343" cy="4535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Real-Time Operating Systems (RTOS) &amp; Embedded Operating Systems</a:t>
            </a:r>
          </a:p>
          <a:p>
            <a:endParaRPr lang="en-IN" b="1" dirty="0"/>
          </a:p>
          <a:p>
            <a:r>
              <a:rPr lang="en-US" b="1" dirty="0"/>
              <a:t>Introduction</a:t>
            </a:r>
          </a:p>
          <a:p>
            <a:r>
              <a:rPr lang="en-US" dirty="0"/>
              <a:t>Modern intelligent systems—such as autonomous vehicles, drones, medical equipment, and IoT devices—require extremely reliable and timely task execution.</a:t>
            </a:r>
          </a:p>
          <a:p>
            <a:br>
              <a:rPr lang="en-US" dirty="0"/>
            </a:br>
            <a:r>
              <a:rPr lang="en-US" dirty="0"/>
              <a:t>Two important categories of operating systems serve these needs:</a:t>
            </a:r>
          </a:p>
          <a:p>
            <a:endParaRPr lang="en-US" dirty="0"/>
          </a:p>
          <a:p>
            <a:r>
              <a:rPr lang="en-US" b="1" dirty="0"/>
              <a:t>1. Real-Time Operating Systems (RTOS)</a:t>
            </a:r>
          </a:p>
          <a:p>
            <a:r>
              <a:rPr lang="en-US" dirty="0"/>
              <a:t>Operating systems designed to guarantee </a:t>
            </a:r>
            <a:r>
              <a:rPr lang="en-US" b="1" dirty="0"/>
              <a:t>timing constraints</a:t>
            </a:r>
            <a:r>
              <a:rPr lang="en-US" dirty="0"/>
              <a:t> (deadlines).</a:t>
            </a:r>
          </a:p>
          <a:p>
            <a:endParaRPr lang="en-US" dirty="0"/>
          </a:p>
          <a:p>
            <a:r>
              <a:rPr lang="en-US" b="1" dirty="0"/>
              <a:t>2. Embedded Operating Systems (Embedded OS)</a:t>
            </a:r>
          </a:p>
          <a:p>
            <a:r>
              <a:rPr lang="en-US" dirty="0"/>
              <a:t>Operating systems designed to run on </a:t>
            </a:r>
            <a:r>
              <a:rPr lang="en-US" b="1" dirty="0"/>
              <a:t>resource-constrained</a:t>
            </a:r>
            <a:r>
              <a:rPr lang="en-US" dirty="0"/>
              <a:t>, purpose-specific hardware.</a:t>
            </a:r>
          </a:p>
          <a:p>
            <a:r>
              <a:rPr lang="en-US" dirty="0"/>
              <a:t>Both aim at efficiency, predictability, and stability but differ in design goals.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01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106264" y="489129"/>
            <a:ext cx="4560431" cy="4843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Real-Time Operating Systems (RTOS)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1700" b="1" dirty="0"/>
              <a:t>What is an RTOS?</a:t>
            </a:r>
          </a:p>
          <a:p>
            <a:r>
              <a:rPr lang="en-US" sz="1700" dirty="0"/>
              <a:t>A </a:t>
            </a:r>
            <a:r>
              <a:rPr lang="en-US" sz="1700" b="1" dirty="0"/>
              <a:t>Real-Time Operating System (RTOS)</a:t>
            </a:r>
            <a:r>
              <a:rPr lang="en-US" sz="1700" dirty="0"/>
              <a:t> is an OS in which the </a:t>
            </a:r>
            <a:r>
              <a:rPr lang="en-US" sz="1700" b="1" dirty="0"/>
              <a:t>correctness of the system depends not only on the logical output but also on the time at which the results are produced</a:t>
            </a:r>
            <a:r>
              <a:rPr lang="en-US" sz="1700" dirty="0"/>
              <a:t>.</a:t>
            </a:r>
          </a:p>
          <a:p>
            <a:endParaRPr lang="en-US" sz="1700" dirty="0"/>
          </a:p>
          <a:p>
            <a:r>
              <a:rPr lang="en-US" sz="1700" dirty="0"/>
              <a:t>An RTOS must respond to events </a:t>
            </a:r>
            <a:r>
              <a:rPr lang="en-US" sz="1700" b="1" dirty="0"/>
              <a:t>within a fixed, guaranteed time</a:t>
            </a:r>
            <a:r>
              <a:rPr lang="en-US" sz="1700" dirty="0"/>
              <a:t>.</a:t>
            </a:r>
          </a:p>
          <a:p>
            <a:endParaRPr lang="en-US" sz="1700" dirty="0"/>
          </a:p>
          <a:p>
            <a:r>
              <a:rPr lang="en-US" sz="1700" b="1" dirty="0"/>
              <a:t>Properties of an RTOS (Elaborated)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7BA0313-5324-7B27-7C6C-19224FB35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196126"/>
              </p:ext>
            </p:extLst>
          </p:nvPr>
        </p:nvGraphicFramePr>
        <p:xfrm>
          <a:off x="5165768" y="326572"/>
          <a:ext cx="6967470" cy="61743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83735">
                  <a:extLst>
                    <a:ext uri="{9D8B030D-6E8A-4147-A177-3AD203B41FA5}">
                      <a16:colId xmlns:a16="http://schemas.microsoft.com/office/drawing/2014/main" val="2209426899"/>
                    </a:ext>
                  </a:extLst>
                </a:gridCol>
                <a:gridCol w="3483735">
                  <a:extLst>
                    <a:ext uri="{9D8B030D-6E8A-4147-A177-3AD203B41FA5}">
                      <a16:colId xmlns:a16="http://schemas.microsoft.com/office/drawing/2014/main" val="2825565973"/>
                    </a:ext>
                  </a:extLst>
                </a:gridCol>
              </a:tblGrid>
              <a:tr h="45457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Properties of an RTOS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590802"/>
                  </a:ext>
                </a:extLst>
              </a:tr>
              <a:tr h="1688406">
                <a:tc>
                  <a:txBody>
                    <a:bodyPr/>
                    <a:lstStyle/>
                    <a:p>
                      <a:r>
                        <a:rPr lang="en-US" sz="1500" b="1" dirty="0"/>
                        <a:t>1. Deterministic Task Execution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Every system call, interrupt, and task-switching operation has predictable timing.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Worst Case Execution Time (WCET) is the core metric.</a:t>
                      </a:r>
                    </a:p>
                    <a:p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5. Real-Time Clocks &amp; Timers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Inbuilt high-precision timers to manage deadlines.</a:t>
                      </a:r>
                    </a:p>
                    <a:p>
                      <a:endParaRPr lang="en-US" sz="1500" dirty="0"/>
                    </a:p>
                    <a:p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839573"/>
                  </a:ext>
                </a:extLst>
              </a:tr>
              <a:tr h="1201366">
                <a:tc>
                  <a:txBody>
                    <a:bodyPr/>
                    <a:lstStyle/>
                    <a:p>
                      <a:r>
                        <a:rPr lang="en-US" sz="1500" b="1" dirty="0"/>
                        <a:t>2. Minimal Interrupt Latency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Interrupt latency must be extremely small.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RTOS kernels avoid long interrupt disable times.</a:t>
                      </a:r>
                    </a:p>
                    <a:p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6. Memory Protection (Optional but present in advanced RTOS)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Safety-critical RTOS often include memory domains.</a:t>
                      </a:r>
                    </a:p>
                    <a:p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532265"/>
                  </a:ext>
                </a:extLst>
              </a:tr>
              <a:tr h="1039019">
                <a:tc>
                  <a:txBody>
                    <a:bodyPr/>
                    <a:lstStyle/>
                    <a:p>
                      <a:r>
                        <a:rPr lang="en-US" sz="1500" b="1" dirty="0"/>
                        <a:t>3. Fast Context Switching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Switching between tasks must be quick and predictable.</a:t>
                      </a:r>
                    </a:p>
                    <a:p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7. Lightweight Kernel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Kernels are small (often &lt; 10 KB in microkernel RTOS).</a:t>
                      </a:r>
                    </a:p>
                    <a:p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192061"/>
                  </a:ext>
                </a:extLst>
              </a:tr>
              <a:tr h="1526060">
                <a:tc>
                  <a:txBody>
                    <a:bodyPr/>
                    <a:lstStyle/>
                    <a:p>
                      <a:r>
                        <a:rPr lang="en-US" sz="1500" b="1" dirty="0"/>
                        <a:t>4. Priority-Based Scheduling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Most RTOS use </a:t>
                      </a:r>
                      <a:r>
                        <a:rPr lang="en-US" sz="1500" b="1" dirty="0"/>
                        <a:t>preemptive priority scheduling</a:t>
                      </a:r>
                      <a:r>
                        <a:rPr lang="en-US" sz="1500" dirty="0"/>
                        <a:t>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A high-priority task can interrupt a lower-priority one at any time.</a:t>
                      </a:r>
                    </a:p>
                    <a:p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171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40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106264" y="489129"/>
            <a:ext cx="10783409" cy="6567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Types of Real-Time Systems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Hard Real-Time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Absolute deadlines.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Failure to meet a deadline → system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Flight control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ABS braking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Medical implants (pacemaker)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Firm Real-Time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Deadline misses degrade system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becomes useless if delayed.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industrial automation control sensors.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Soft Real-Time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Occasional deadline misses tolerated.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Slight delay acceptable but reduces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Video streaming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Audio playback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106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106264" y="489129"/>
            <a:ext cx="10783409" cy="6567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RTOS Architecture </a:t>
            </a:r>
          </a:p>
          <a:p>
            <a:r>
              <a:rPr lang="en-IN" dirty="0"/>
              <a:t>An RTOS typically contains: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Real-Time Kernel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Task scheduling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Interrupt handling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Synchronization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Task/Thread Manager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Create, delete, suspend, resume tasks.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Inter-process Communication (IPC)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Semaphores (binary, counting)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Mutexes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Message queues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Event flags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Memory Manager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Static allocation preferred for predictability.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No paging or swapping (to avoid unpredictability).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Device Drivers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Lightweight drivers for sensors, actuators.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Timer Service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Manages periodic tasks, timeouts, alarms.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Networking Stack</a:t>
            </a:r>
            <a:r>
              <a:rPr lang="en-IN" dirty="0"/>
              <a:t> (optional)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TCP/IP for IoT RTOS (e.g., </a:t>
            </a:r>
            <a:r>
              <a:rPr lang="en-IN" dirty="0" err="1"/>
              <a:t>FreeRTOS+TCP</a:t>
            </a:r>
            <a:r>
              <a:rPr lang="en-IN" dirty="0"/>
              <a:t>).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174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1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106264" y="489129"/>
            <a:ext cx="107834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RTOS Scheduling Algorithms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3E1698DA-1741-A6B3-0E63-76971D3ED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790589"/>
              </p:ext>
            </p:extLst>
          </p:nvPr>
        </p:nvGraphicFramePr>
        <p:xfrm>
          <a:off x="1616364" y="1187532"/>
          <a:ext cx="9534566" cy="438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03436">
                  <a:extLst>
                    <a:ext uri="{9D8B030D-6E8A-4147-A177-3AD203B41FA5}">
                      <a16:colId xmlns:a16="http://schemas.microsoft.com/office/drawing/2014/main" val="965902539"/>
                    </a:ext>
                  </a:extLst>
                </a:gridCol>
                <a:gridCol w="4131130">
                  <a:extLst>
                    <a:ext uri="{9D8B030D-6E8A-4147-A177-3AD203B41FA5}">
                      <a16:colId xmlns:a16="http://schemas.microsoft.com/office/drawing/2014/main" val="137326626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RTOS Scheduling Algorithms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6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. Preemptive Priority Scheduling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Most used in commercial RTOS.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Highest priority ready task always runs.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Common issue: </a:t>
                      </a:r>
                      <a:r>
                        <a:rPr lang="en-US" b="1" dirty="0"/>
                        <a:t>priority inversion</a:t>
                      </a:r>
                      <a:br>
                        <a:rPr lang="en-US" dirty="0"/>
                      </a:br>
                      <a:r>
                        <a:rPr lang="en-US" dirty="0"/>
                        <a:t>→ solved using </a:t>
                      </a:r>
                      <a:r>
                        <a:rPr lang="en-US" b="1" dirty="0"/>
                        <a:t>priority inheritance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Earliest Deadline First (EDF)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Dynamic scheduling.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Task closest to deadline executes first.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Utilization up to </a:t>
                      </a:r>
                      <a:r>
                        <a:rPr lang="en-US" b="1" dirty="0"/>
                        <a:t>100%</a:t>
                      </a:r>
                      <a:r>
                        <a:rPr lang="en-US" dirty="0"/>
                        <a:t> possible.</a:t>
                      </a:r>
                    </a:p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36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Rate Monotonic Scheduling (RMS)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Static priority assignment.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Shorter period → higher priority.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Optimal for </a:t>
                      </a:r>
                      <a:r>
                        <a:rPr lang="en-US" b="1" dirty="0"/>
                        <a:t>periodic</a:t>
                      </a:r>
                      <a:r>
                        <a:rPr lang="en-US" dirty="0"/>
                        <a:t> tasks.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Time Slicing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in soft RTOS.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Equal time for equal-priority tasks.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66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205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16" y="285008"/>
            <a:ext cx="11317184" cy="63889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296883" y="663682"/>
            <a:ext cx="1078340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Examples of RTOS </a:t>
            </a:r>
          </a:p>
          <a:p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/>
              <a:t>1. </a:t>
            </a:r>
            <a:r>
              <a:rPr lang="en-IN" b="1" dirty="0" err="1"/>
              <a:t>FreeRTOS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Very lightweight; used in IoT and small microcontrollers.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Open-source.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2. QNX Neutrino RTOS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Microkernel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Extremely reliable → used in automotive, medical.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3. VxWorks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Widely used in aerospace (NASA missions).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Hard real-time support.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4. </a:t>
            </a:r>
            <a:r>
              <a:rPr lang="en-IN" b="1" dirty="0" err="1"/>
              <a:t>RTLinux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Linux modified for real-time operation.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5. </a:t>
            </a:r>
            <a:r>
              <a:rPr lang="en-IN" b="1" dirty="0" err="1"/>
              <a:t>ThreadX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in consumer devices, IoT.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731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B5BD-F439-3923-ACF5-DE58E8CC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52" y="374866"/>
            <a:ext cx="11619926" cy="6388924"/>
          </a:xfrm>
        </p:spPr>
        <p:txBody>
          <a:bodyPr>
            <a:normAutofit fontScale="92500" lnSpcReduction="10000"/>
          </a:bodyPr>
          <a:lstStyle/>
          <a:p>
            <a:r>
              <a:rPr lang="en-US" sz="2300" b="1" dirty="0">
                <a:solidFill>
                  <a:schemeClr val="bg2">
                    <a:lumMod val="50000"/>
                  </a:schemeClr>
                </a:solidFill>
              </a:rPr>
              <a:t>Embedded Operating Systems</a:t>
            </a:r>
            <a:endParaRPr lang="en-US" b="1" dirty="0"/>
          </a:p>
          <a:p>
            <a:r>
              <a:rPr lang="en-US" b="1" dirty="0"/>
              <a:t> What is an Embedded OS?</a:t>
            </a:r>
          </a:p>
          <a:p>
            <a:r>
              <a:rPr lang="en-US" dirty="0"/>
              <a:t>An </a:t>
            </a:r>
            <a:r>
              <a:rPr lang="en-US" b="1" dirty="0"/>
              <a:t>Embedded Operating System</a:t>
            </a:r>
            <a:r>
              <a:rPr lang="en-US" dirty="0"/>
              <a:t> is designed specifically for embedded systems—special-purpose computing devices that perform dedicated functions.</a:t>
            </a:r>
          </a:p>
          <a:p>
            <a:r>
              <a:rPr lang="en-US" dirty="0" err="1"/>
              <a:t>Examples:Smartwatch</a:t>
            </a:r>
            <a:r>
              <a:rPr lang="en-US" dirty="0"/>
              <a:t> OS, router OS, Smart TV OS.</a:t>
            </a:r>
            <a:endParaRPr lang="en-IN" sz="1300" dirty="0"/>
          </a:p>
          <a:p>
            <a:r>
              <a:rPr lang="en-US" sz="1300" b="1" dirty="0"/>
              <a:t>Characteristics of Embedded OS (Elaborated)</a:t>
            </a:r>
          </a:p>
          <a:p>
            <a:pPr>
              <a:buFont typeface="+mj-lt"/>
              <a:buAutoNum type="arabicPeriod"/>
            </a:pPr>
            <a:r>
              <a:rPr lang="en-US" sz="1300" b="1" dirty="0"/>
              <a:t>Small memory footprint</a:t>
            </a:r>
            <a:endParaRPr lang="en-US" sz="1300" dirty="0"/>
          </a:p>
          <a:p>
            <a:pPr marL="742950" lvl="1" indent="-285750">
              <a:buFont typeface="+mj-lt"/>
              <a:buAutoNum type="arabicPeriod"/>
            </a:pPr>
            <a:r>
              <a:rPr lang="en-US" sz="1300" dirty="0"/>
              <a:t>Must run on devices with limited RAM/ROM.</a:t>
            </a:r>
          </a:p>
          <a:p>
            <a:pPr>
              <a:buFont typeface="+mj-lt"/>
              <a:buAutoNum type="arabicPeriod"/>
            </a:pPr>
            <a:r>
              <a:rPr lang="en-US" sz="1300" b="1" dirty="0"/>
              <a:t>Energy Efficient</a:t>
            </a:r>
            <a:endParaRPr lang="en-US" sz="1300" dirty="0"/>
          </a:p>
          <a:p>
            <a:pPr marL="742950" lvl="1" indent="-285750">
              <a:buFont typeface="+mj-lt"/>
              <a:buAutoNum type="arabicPeriod"/>
            </a:pPr>
            <a:r>
              <a:rPr lang="en-US" sz="1300" dirty="0"/>
              <a:t>Designed for battery-powered devices.</a:t>
            </a:r>
          </a:p>
          <a:p>
            <a:pPr>
              <a:buFont typeface="+mj-lt"/>
              <a:buAutoNum type="arabicPeriod"/>
            </a:pPr>
            <a:r>
              <a:rPr lang="en-US" sz="1300" b="1" dirty="0"/>
              <a:t>High Reliability</a:t>
            </a:r>
            <a:endParaRPr lang="en-US" sz="1300" dirty="0"/>
          </a:p>
          <a:p>
            <a:pPr marL="742950" lvl="1" indent="-285750">
              <a:buFont typeface="+mj-lt"/>
              <a:buAutoNum type="arabicPeriod"/>
            </a:pPr>
            <a:r>
              <a:rPr lang="en-US" sz="1300" dirty="0"/>
              <a:t>Devices expected to run 24/7.</a:t>
            </a:r>
          </a:p>
          <a:p>
            <a:pPr>
              <a:buFont typeface="+mj-lt"/>
              <a:buAutoNum type="arabicPeriod"/>
            </a:pPr>
            <a:r>
              <a:rPr lang="en-US" sz="1300" b="1" dirty="0"/>
              <a:t>Application-Specific Optimization</a:t>
            </a:r>
            <a:endParaRPr lang="en-US" sz="1300" dirty="0"/>
          </a:p>
          <a:p>
            <a:pPr marL="742950" lvl="1" indent="-285750">
              <a:buFont typeface="+mj-lt"/>
              <a:buAutoNum type="arabicPeriod"/>
            </a:pPr>
            <a:r>
              <a:rPr lang="en-US" sz="1300" dirty="0"/>
              <a:t>Stripped down unnecessary components.</a:t>
            </a:r>
          </a:p>
          <a:p>
            <a:pPr>
              <a:buFont typeface="+mj-lt"/>
              <a:buAutoNum type="arabicPeriod"/>
            </a:pPr>
            <a:r>
              <a:rPr lang="en-US" sz="1300" b="1" dirty="0"/>
              <a:t>Real-Time Capabilities (Optional)</a:t>
            </a:r>
            <a:endParaRPr lang="en-US" sz="1300" dirty="0"/>
          </a:p>
          <a:p>
            <a:pPr marL="742950" lvl="1" indent="-285750">
              <a:buFont typeface="+mj-lt"/>
              <a:buAutoNum type="arabicPeriod"/>
            </a:pPr>
            <a:r>
              <a:rPr lang="en-US" sz="1300" dirty="0"/>
              <a:t>Some embedded OS are RTOS-based (e.g., </a:t>
            </a:r>
            <a:r>
              <a:rPr lang="en-US" sz="1300" dirty="0" err="1"/>
              <a:t>FreeRTOS</a:t>
            </a:r>
            <a:r>
              <a:rPr lang="en-US" sz="1300" dirty="0"/>
              <a:t> in IoT sensors).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194111" y="-54846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728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6148D3F-D419-89D3-8EED-204DBB096F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87"/>
              </p:ext>
            </p:extLst>
          </p:nvPr>
        </p:nvGraphicFramePr>
        <p:xfrm>
          <a:off x="771741" y="1170938"/>
          <a:ext cx="10648208" cy="40484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6593">
                  <a:extLst>
                    <a:ext uri="{9D8B030D-6E8A-4147-A177-3AD203B41FA5}">
                      <a16:colId xmlns:a16="http://schemas.microsoft.com/office/drawing/2014/main" val="2013970587"/>
                    </a:ext>
                  </a:extLst>
                </a:gridCol>
                <a:gridCol w="5391615">
                  <a:extLst>
                    <a:ext uri="{9D8B030D-6E8A-4147-A177-3AD203B41FA5}">
                      <a16:colId xmlns:a16="http://schemas.microsoft.com/office/drawing/2014/main" val="4005085548"/>
                    </a:ext>
                  </a:extLst>
                </a:gridCol>
              </a:tblGrid>
              <a:tr h="660296">
                <a:tc gridSpan="2">
                  <a:txBody>
                    <a:bodyPr/>
                    <a:lstStyle/>
                    <a:p>
                      <a:r>
                        <a:rPr lang="en-IN" sz="1600" b="1" dirty="0"/>
                        <a:t>Categories of Embedded OS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572742"/>
                  </a:ext>
                </a:extLst>
              </a:tr>
              <a:tr h="712183">
                <a:tc>
                  <a:txBody>
                    <a:bodyPr/>
                    <a:lstStyle/>
                    <a:p>
                      <a:r>
                        <a:rPr lang="en-IN" sz="1600" b="1" dirty="0"/>
                        <a:t>1. RTOS-based Embedded OS</a:t>
                      </a:r>
                    </a:p>
                    <a:p>
                      <a:r>
                        <a:rPr lang="en-IN" sz="1600" dirty="0"/>
                        <a:t>Examples: </a:t>
                      </a:r>
                      <a:r>
                        <a:rPr lang="en-IN" sz="1600" dirty="0" err="1"/>
                        <a:t>FreeRTOS</a:t>
                      </a:r>
                      <a:r>
                        <a:rPr lang="en-IN" sz="1600" dirty="0"/>
                        <a:t>, Zephyr</a:t>
                      </a:r>
                      <a:br>
                        <a:rPr lang="en-IN" sz="1600" dirty="0"/>
                      </a:br>
                      <a:r>
                        <a:rPr lang="en-IN" sz="1600" dirty="0"/>
                        <a:t>Used in: IoT, robotics, microcontrollers.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3. Proprietary Embedded OS</a:t>
                      </a:r>
                    </a:p>
                    <a:p>
                      <a:r>
                        <a:rPr lang="en-IN" sz="1600" dirty="0"/>
                        <a:t>Used in industry when reliability/security is critical.</a:t>
                      </a:r>
                      <a:br>
                        <a:rPr lang="en-IN" sz="1600" dirty="0"/>
                      </a:br>
                      <a:r>
                        <a:rPr lang="en-IN" sz="1600" dirty="0" err="1"/>
                        <a:t>Examples:VxWorks,QNX</a:t>
                      </a:r>
                      <a:endParaRPr lang="en-IN" sz="1600" dirty="0"/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893130"/>
                  </a:ext>
                </a:extLst>
              </a:tr>
              <a:tr h="708939">
                <a:tc>
                  <a:txBody>
                    <a:bodyPr/>
                    <a:lstStyle/>
                    <a:p>
                      <a:r>
                        <a:rPr lang="en-IN" sz="1600" b="1" dirty="0"/>
                        <a:t>2. Embedded Linux</a:t>
                      </a:r>
                    </a:p>
                    <a:p>
                      <a:r>
                        <a:rPr lang="en-IN" sz="1600" dirty="0"/>
                        <a:t>Most popular due to flexibility and support.</a:t>
                      </a:r>
                      <a:br>
                        <a:rPr lang="en-IN" sz="1600" dirty="0"/>
                      </a:br>
                      <a:r>
                        <a:rPr lang="en-IN" sz="1600" dirty="0" err="1"/>
                        <a:t>Examples:Ubuntu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Core,Raspbian</a:t>
                      </a:r>
                      <a:endParaRPr lang="en-IN" sz="1600" dirty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4. Tiny OS</a:t>
                      </a:r>
                    </a:p>
                    <a:p>
                      <a:r>
                        <a:rPr lang="en-IN" sz="1600" dirty="0"/>
                        <a:t>Designed for wireless sensor networks.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153814"/>
                  </a:ext>
                </a:extLst>
              </a:tr>
              <a:tr h="1254562">
                <a:tc gridSpan="2">
                  <a:txBody>
                    <a:bodyPr/>
                    <a:lstStyle/>
                    <a:p>
                      <a:r>
                        <a:rPr lang="en-IN" sz="1600" b="1" dirty="0"/>
                        <a:t>5. Mobile Embedded OS</a:t>
                      </a:r>
                    </a:p>
                    <a:p>
                      <a:r>
                        <a:rPr lang="en-IN" sz="1600" dirty="0" err="1"/>
                        <a:t>Examples:Android,Wear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OS,iOS</a:t>
                      </a:r>
                      <a:r>
                        <a:rPr lang="en-IN" sz="1600" dirty="0"/>
                        <a:t> (for embedded Apple devices)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IN" b="1" dirty="0"/>
                        <a:t>5. Mobile Embedded OS</a:t>
                      </a:r>
                    </a:p>
                    <a:p>
                      <a:r>
                        <a:rPr lang="en-IN" dirty="0" err="1"/>
                        <a:t>Examples:Android,Wear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OS,iOS</a:t>
                      </a:r>
                      <a:r>
                        <a:rPr lang="en-IN" dirty="0"/>
                        <a:t> (for embedded Apple devices)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5663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29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70" y="687510"/>
            <a:ext cx="9812037" cy="6228941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Architecture of Embedded OS (Detailed)</a:t>
            </a:r>
          </a:p>
          <a:p>
            <a:r>
              <a:rPr lang="en-IN" b="1" dirty="0"/>
              <a:t>1. Bootloader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Starts hardware and loads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U-Boot (Linux), </a:t>
            </a:r>
            <a:r>
              <a:rPr lang="en-IN" dirty="0" err="1"/>
              <a:t>LittleFS</a:t>
            </a:r>
            <a:r>
              <a:rPr lang="en-IN" dirty="0"/>
              <a:t>.</a:t>
            </a:r>
          </a:p>
          <a:p>
            <a:r>
              <a:rPr lang="en-IN" b="1" dirty="0"/>
              <a:t>2. Kernel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Manages processes, memory, and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Often monolithic (Linux) or microkernel (QNX).</a:t>
            </a:r>
          </a:p>
          <a:p>
            <a:r>
              <a:rPr lang="en-IN" b="1" dirty="0"/>
              <a:t>3. Middleware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Network stack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Graphics libraries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Communication protocols</a:t>
            </a:r>
          </a:p>
          <a:p>
            <a:r>
              <a:rPr lang="en-IN" b="1" dirty="0"/>
              <a:t>4. Application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Domain-specific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828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61258"/>
            <a:ext cx="11103429" cy="66551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AI and Machine Learning Integration in Operating Systems (OS)</a:t>
            </a:r>
          </a:p>
          <a:p>
            <a:r>
              <a:rPr lang="en-US" b="1" dirty="0"/>
              <a:t>Introduction</a:t>
            </a:r>
          </a:p>
          <a:p>
            <a:r>
              <a:rPr lang="en-US" dirty="0"/>
              <a:t>Traditional OS perform deterministic scheduling, memory management, and device control based on predefined rules.</a:t>
            </a:r>
            <a:br>
              <a:rPr lang="en-US" dirty="0"/>
            </a:br>
            <a:r>
              <a:rPr lang="en-US" b="1" dirty="0"/>
              <a:t>With the rise of AI-driven hardware and workloads, OS must adapt and learn from system behavior.</a:t>
            </a:r>
          </a:p>
          <a:p>
            <a:r>
              <a:rPr lang="en-US" dirty="0"/>
              <a:t>Thus emerges a new paradigm:</a:t>
            </a:r>
          </a:p>
          <a:p>
            <a:r>
              <a:rPr lang="en-US" b="1" dirty="0"/>
              <a:t>AI-Augmented Operating Systems</a:t>
            </a:r>
          </a:p>
          <a:p>
            <a:r>
              <a:rPr lang="en-US" dirty="0"/>
              <a:t>Operating systems with built-in intelligence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from usage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resource workloads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 system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automation</a:t>
            </a:r>
          </a:p>
          <a:p>
            <a:r>
              <a:rPr lang="en-US" dirty="0"/>
              <a:t>This approach is foundational for </a:t>
            </a:r>
            <a:r>
              <a:rPr lang="en-US" b="1" dirty="0"/>
              <a:t>mobile OS, cloud OS, IoT OS, and modern server operating systems</a:t>
            </a:r>
            <a:r>
              <a:rPr lang="en-US" dirty="0"/>
              <a:t>.</a:t>
            </a:r>
          </a:p>
          <a:p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150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61258"/>
            <a:ext cx="11103429" cy="6655194"/>
          </a:xfrm>
        </p:spPr>
        <p:txBody>
          <a:bodyPr>
            <a:normAutofit/>
          </a:bodyPr>
          <a:lstStyle/>
          <a:p>
            <a:r>
              <a:rPr lang="en-IN" b="1" dirty="0"/>
              <a:t>2.Areas Where AI/ML Integrate with Operating Systems</a:t>
            </a:r>
          </a:p>
          <a:p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E1CC761-031E-27AA-BBC6-3AF785073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578063"/>
              </p:ext>
            </p:extLst>
          </p:nvPr>
        </p:nvGraphicFramePr>
        <p:xfrm>
          <a:off x="808841" y="1508714"/>
          <a:ext cx="8128000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53705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2.1 Intelligent Process Scheduling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76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Traditional scheduling uses fixed algorithms (Round Robin, Priority Scheduling, CFS).</a:t>
                      </a:r>
                      <a:br>
                        <a:rPr lang="en-IN" dirty="0"/>
                      </a:br>
                      <a:r>
                        <a:rPr lang="en-IN" dirty="0"/>
                        <a:t>AI allows dynamic, adaptive scheduling.</a:t>
                      </a:r>
                    </a:p>
                    <a:p>
                      <a:r>
                        <a:rPr lang="en-IN" b="1" dirty="0"/>
                        <a:t>How AI helps: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Predict CPU burst times using ML regression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Detect task criticality automatically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Optimize context switches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Predict I/O-heavy vs CPU-heavy tasks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Reduce latency and starvation</a:t>
                      </a:r>
                    </a:p>
                    <a:p>
                      <a:r>
                        <a:rPr lang="en-IN" b="1" dirty="0"/>
                        <a:t>Techniques used: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Reinforcement Learning (RL)-based schedulers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Neural network predictors for burst time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Decision trees for task classification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1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983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61258"/>
            <a:ext cx="11103429" cy="6655194"/>
          </a:xfrm>
        </p:spPr>
        <p:txBody>
          <a:bodyPr>
            <a:normAutofit/>
          </a:bodyPr>
          <a:lstStyle/>
          <a:p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C004C55-94CD-6FD0-D6BB-277FA2F8C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167382"/>
              </p:ext>
            </p:extLst>
          </p:nvPr>
        </p:nvGraphicFramePr>
        <p:xfrm>
          <a:off x="261257" y="200622"/>
          <a:ext cx="11804075" cy="6446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80941">
                  <a:extLst>
                    <a:ext uri="{9D8B030D-6E8A-4147-A177-3AD203B41FA5}">
                      <a16:colId xmlns:a16="http://schemas.microsoft.com/office/drawing/2014/main" val="1100445878"/>
                    </a:ext>
                  </a:extLst>
                </a:gridCol>
                <a:gridCol w="4311567">
                  <a:extLst>
                    <a:ext uri="{9D8B030D-6E8A-4147-A177-3AD203B41FA5}">
                      <a16:colId xmlns:a16="http://schemas.microsoft.com/office/drawing/2014/main" val="3562555847"/>
                    </a:ext>
                  </a:extLst>
                </a:gridCol>
                <a:gridCol w="4311567">
                  <a:extLst>
                    <a:ext uri="{9D8B030D-6E8A-4147-A177-3AD203B41FA5}">
                      <a16:colId xmlns:a16="http://schemas.microsoft.com/office/drawing/2014/main" val="4137595706"/>
                    </a:ext>
                  </a:extLst>
                </a:gridCol>
              </a:tblGrid>
              <a:tr h="814471">
                <a:tc>
                  <a:txBody>
                    <a:bodyPr/>
                    <a:lstStyle/>
                    <a:p>
                      <a:r>
                        <a:rPr lang="en-US" b="1" dirty="0"/>
                        <a:t>2.2Smart Memory Management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2.3Power Management and Energy Optimization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2.4 Security, Threat Detection &amp; Intrusion Prevention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269196"/>
                  </a:ext>
                </a:extLst>
              </a:tr>
              <a:tr h="5456959">
                <a:tc>
                  <a:txBody>
                    <a:bodyPr/>
                    <a:lstStyle/>
                    <a:p>
                      <a:r>
                        <a:rPr lang="en-US" sz="1700" dirty="0"/>
                        <a:t>Memory management becomes predictive instead of reactive.</a:t>
                      </a:r>
                    </a:p>
                    <a:p>
                      <a:r>
                        <a:rPr lang="en-US" sz="1700" b="1" dirty="0"/>
                        <a:t>AI-enhanced functions: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Predict which pages will be used soon → reduces page faults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Intelligent prefetching of memory pages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ML-based cache replacement policies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Adaptive virtual memory resizing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Predictive garbage collection</a:t>
                      </a:r>
                    </a:p>
                    <a:p>
                      <a:r>
                        <a:rPr lang="en-US" sz="1700" b="1" dirty="0"/>
                        <a:t>Example:</a:t>
                      </a:r>
                    </a:p>
                    <a:p>
                      <a:r>
                        <a:rPr lang="en-US" sz="1700" dirty="0"/>
                        <a:t>Google’s Android OS uses ML to predict app launching and preloading behavior → improves responsiveness.</a:t>
                      </a:r>
                    </a:p>
                    <a:p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AI enables adaptive power control, essential for mobile and embedded OS.</a:t>
                      </a:r>
                    </a:p>
                    <a:p>
                      <a:r>
                        <a:rPr lang="en-IN" sz="1700" b="1" dirty="0"/>
                        <a:t>AI-based techniques: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Predicting CPU/GPU load → dynamic frequency scaling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Learning user app usage patterns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Battery life prediction models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Thermal state forecasting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Dynamic selection of performance vs efficiency cores (</a:t>
                      </a:r>
                      <a:r>
                        <a:rPr lang="en-IN" sz="1700" dirty="0" err="1"/>
                        <a:t>big.LITTLE</a:t>
                      </a:r>
                      <a:r>
                        <a:rPr lang="en-IN" sz="1700" dirty="0"/>
                        <a:t> architecture)</a:t>
                      </a:r>
                    </a:p>
                    <a:p>
                      <a:r>
                        <a:rPr lang="en-IN" sz="1700" b="1" dirty="0"/>
                        <a:t>Example:</a:t>
                      </a:r>
                    </a:p>
                    <a:p>
                      <a:r>
                        <a:rPr lang="en-IN" sz="1700" dirty="0"/>
                        <a:t>Apple iOS uses on-device ML to adapt CPU frequency and optimize app background activity.</a:t>
                      </a:r>
                    </a:p>
                    <a:p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OS security becomes proactive using ML.</a:t>
                      </a:r>
                    </a:p>
                    <a:p>
                      <a:r>
                        <a:rPr lang="en-IN" sz="1700" b="1" dirty="0"/>
                        <a:t>AI-enhanced security in OS: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 err="1"/>
                        <a:t>Behavior</a:t>
                      </a:r>
                      <a:r>
                        <a:rPr lang="en-IN" sz="1700" dirty="0"/>
                        <a:t>-based malware detection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Anomaly detection in system calls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Ransomware activity prediction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Network intrusion detection using ML classifiers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Real-time threat scoring of processes</a:t>
                      </a:r>
                    </a:p>
                    <a:p>
                      <a:r>
                        <a:rPr lang="en-IN" sz="1700" b="1" dirty="0"/>
                        <a:t>Techniques: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SVM and Random Forest for malware classification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Deep learning for system call sequence analysis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1700" dirty="0"/>
                        <a:t>Unsupervised anomaly detection algorithms</a:t>
                      </a:r>
                    </a:p>
                    <a:p>
                      <a:r>
                        <a:rPr lang="en-IN" sz="1700" b="1" dirty="0"/>
                        <a:t>Example:</a:t>
                      </a:r>
                    </a:p>
                    <a:p>
                      <a:r>
                        <a:rPr lang="en-IN" sz="1700" dirty="0"/>
                        <a:t>Windows Defender uses ML models for real-time malware detection.</a:t>
                      </a:r>
                    </a:p>
                    <a:p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0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444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61258"/>
            <a:ext cx="11103429" cy="665519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AI-Driven OS Architectures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C004C55-94CD-6FD0-D6BB-277FA2F8C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268285"/>
              </p:ext>
            </p:extLst>
          </p:nvPr>
        </p:nvGraphicFramePr>
        <p:xfrm>
          <a:off x="379703" y="1826716"/>
          <a:ext cx="11103428" cy="4846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92132">
                  <a:extLst>
                    <a:ext uri="{9D8B030D-6E8A-4147-A177-3AD203B41FA5}">
                      <a16:colId xmlns:a16="http://schemas.microsoft.com/office/drawing/2014/main" val="1100445878"/>
                    </a:ext>
                  </a:extLst>
                </a:gridCol>
                <a:gridCol w="4055648">
                  <a:extLst>
                    <a:ext uri="{9D8B030D-6E8A-4147-A177-3AD203B41FA5}">
                      <a16:colId xmlns:a16="http://schemas.microsoft.com/office/drawing/2014/main" val="3562555847"/>
                    </a:ext>
                  </a:extLst>
                </a:gridCol>
                <a:gridCol w="4055648">
                  <a:extLst>
                    <a:ext uri="{9D8B030D-6E8A-4147-A177-3AD203B41FA5}">
                      <a16:colId xmlns:a16="http://schemas.microsoft.com/office/drawing/2014/main" val="4137595706"/>
                    </a:ext>
                  </a:extLst>
                </a:gridCol>
              </a:tblGrid>
              <a:tr h="8003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1.On-device Machine Learning OS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 Distributed AI OS (Edge + Cloud)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3 Autonomous OS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26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 </a:t>
                      </a:r>
                      <a:r>
                        <a:rPr lang="en-IN" dirty="0"/>
                        <a:t>Mobile OS increasingly include tiny ML runtimes like:</a:t>
                      </a:r>
                    </a:p>
                    <a:p>
                      <a:endParaRPr lang="en-IN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TensorFlow Lite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ONNX Runtime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CoreML</a:t>
                      </a:r>
                      <a:r>
                        <a:rPr lang="en-IN" dirty="0"/>
                        <a:t> on iOS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  <a:p>
                      <a:r>
                        <a:rPr lang="en-IN" dirty="0"/>
                        <a:t>Used for: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Local prediction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Personalization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Offline AI processing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Embedded OS and IoT devices use: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Edge inference</a:t>
                      </a:r>
                    </a:p>
                    <a:p>
                      <a:r>
                        <a:rPr lang="en-US" dirty="0"/>
                        <a:t>Cloud-based training</a:t>
                      </a:r>
                    </a:p>
                    <a:p>
                      <a:r>
                        <a:rPr lang="en-US" dirty="0"/>
                        <a:t>Federated learning</a:t>
                      </a:r>
                    </a:p>
                    <a:p>
                      <a:r>
                        <a:rPr lang="en-US" dirty="0"/>
                        <a:t>Examples:</a:t>
                      </a:r>
                    </a:p>
                    <a:p>
                      <a:r>
                        <a:rPr lang="en-US" dirty="0"/>
                        <a:t>Smart cameras</a:t>
                      </a:r>
                    </a:p>
                    <a:p>
                      <a:r>
                        <a:rPr lang="en-US" dirty="0"/>
                        <a:t>Industrial sensors</a:t>
                      </a:r>
                    </a:p>
                    <a:p>
                      <a:r>
                        <a:rPr lang="en-US" dirty="0"/>
                        <a:t>Autonomous vehicles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OS may operate with automated decision-making: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Capabilities:</a:t>
                      </a:r>
                    </a:p>
                    <a:p>
                      <a:r>
                        <a:rPr lang="en-US" dirty="0"/>
                        <a:t>Self-healing</a:t>
                      </a:r>
                    </a:p>
                    <a:p>
                      <a:r>
                        <a:rPr lang="en-US" dirty="0"/>
                        <a:t>Self-optimization</a:t>
                      </a:r>
                    </a:p>
                    <a:p>
                      <a:r>
                        <a:rPr lang="en-US" dirty="0"/>
                        <a:t>Self-protection</a:t>
                      </a:r>
                    </a:p>
                    <a:p>
                      <a:r>
                        <a:rPr lang="en-US" dirty="0"/>
                        <a:t>Self-configuration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is foundational to:</a:t>
                      </a:r>
                    </a:p>
                    <a:p>
                      <a:r>
                        <a:rPr lang="en-US" dirty="0"/>
                        <a:t>Autonomous vehicles</a:t>
                      </a:r>
                    </a:p>
                    <a:p>
                      <a:r>
                        <a:rPr lang="en-US" dirty="0"/>
                        <a:t>Robotics OS</a:t>
                      </a:r>
                    </a:p>
                    <a:p>
                      <a:r>
                        <a:rPr lang="en-US" dirty="0"/>
                        <a:t>Intelligent drones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0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158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61258"/>
            <a:ext cx="11103429" cy="665519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Challenges in Integrating AI/ML in OS</a:t>
            </a:r>
          </a:p>
          <a:p>
            <a:r>
              <a:rPr lang="en-IN" b="1" dirty="0"/>
              <a:t>1. Real-time constraints</a:t>
            </a:r>
          </a:p>
          <a:p>
            <a:r>
              <a:rPr lang="en-IN" dirty="0"/>
              <a:t>ML models may add latency → conflict with RTOS determinism.</a:t>
            </a:r>
          </a:p>
          <a:p>
            <a:r>
              <a:rPr lang="en-IN" b="1" dirty="0"/>
              <a:t>2. Security &amp; privacy risks</a:t>
            </a:r>
          </a:p>
          <a:p>
            <a:r>
              <a:rPr lang="en-IN" dirty="0"/>
              <a:t>AI models may leak personal patterns.</a:t>
            </a:r>
          </a:p>
          <a:p>
            <a:r>
              <a:rPr lang="en-IN" b="1" dirty="0"/>
              <a:t>3. Resource consumption</a:t>
            </a:r>
          </a:p>
          <a:p>
            <a:r>
              <a:rPr lang="en-IN" dirty="0"/>
              <a:t>AI can consume: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Battery</a:t>
            </a:r>
          </a:p>
          <a:p>
            <a:r>
              <a:rPr lang="en-IN" b="1" dirty="0"/>
              <a:t>4. Model updates</a:t>
            </a:r>
          </a:p>
          <a:p>
            <a:r>
              <a:rPr lang="en-IN" dirty="0"/>
              <a:t>Keeping models updated without degrading stability is difficult.</a:t>
            </a:r>
          </a:p>
          <a:p>
            <a:r>
              <a:rPr lang="en-IN" b="1" dirty="0"/>
              <a:t>5. </a:t>
            </a:r>
            <a:r>
              <a:rPr lang="en-IN" b="1" dirty="0" err="1"/>
              <a:t>Explainability</a:t>
            </a:r>
            <a:endParaRPr lang="en-IN" b="1" dirty="0"/>
          </a:p>
          <a:p>
            <a:r>
              <a:rPr lang="en-IN" dirty="0"/>
              <a:t>AI-driven decisions (e.g., scheduling) must be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826230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BB4-52DF-ED82-B68B-1CE3690DE969}"/>
              </a:ext>
            </a:extLst>
          </p:cNvPr>
          <p:cNvSpPr txBox="1"/>
          <p:nvPr/>
        </p:nvSpPr>
        <p:spPr>
          <a:xfrm>
            <a:off x="-954132" y="539994"/>
            <a:ext cx="107834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F99A0-5D83-7855-D64F-AAE9EA57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61258"/>
            <a:ext cx="11103429" cy="665519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Real-world Examples of AI-Integrated OS</a:t>
            </a:r>
          </a:p>
          <a:p>
            <a:r>
              <a:rPr lang="en-IN" b="1" dirty="0"/>
              <a:t>Android 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Adaptive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Adaptive brightness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Voice recognition</a:t>
            </a:r>
          </a:p>
          <a:p>
            <a:r>
              <a:rPr lang="en-IN" b="1" dirty="0"/>
              <a:t>Windows 11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AI-based Defender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Intelligent performance tuning</a:t>
            </a:r>
          </a:p>
          <a:p>
            <a:r>
              <a:rPr lang="en-IN" b="1" dirty="0"/>
              <a:t>macOS/iOS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CoreML</a:t>
            </a:r>
            <a:r>
              <a:rPr lang="en-IN" dirty="0"/>
              <a:t> for on-device 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Intelligent power scheduling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Siri voice processing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AF245-99A9-70D2-BC6B-B8EA1117913E}"/>
              </a:ext>
            </a:extLst>
          </p:cNvPr>
          <p:cNvSpPr txBox="1"/>
          <p:nvPr/>
        </p:nvSpPr>
        <p:spPr>
          <a:xfrm>
            <a:off x="6543304" y="3158593"/>
            <a:ext cx="4655127" cy="37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QNX (Automotive)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Predictive event scheduling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Sensor fusion for ADAS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Cloud OS (AWS, Azure, GCP)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AI-driven load balancing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Predictive autoscaling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IN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Intelligent VM placement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78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6674-8A9A-007B-E17A-97B97B7A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E7CE-3DD1-A24F-B081-0756A710B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62608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2132</Words>
  <Application>Microsoft Office PowerPoint</Application>
  <PresentationFormat>Widescreen</PresentationFormat>
  <Paragraphs>414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Meiryo</vt:lpstr>
      <vt:lpstr>Arial</vt:lpstr>
      <vt:lpstr>Calibri</vt:lpstr>
      <vt:lpstr>Corbel</vt:lpstr>
      <vt:lpstr>Wingdings</vt:lpstr>
      <vt:lpstr>SketchLinesVTI</vt:lpstr>
      <vt:lpstr>Unit-5 Emerging Trends and Case Studies in Operating Systems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Unit-5 Emerging Trends and Case Studies in Operating Systems </dc:title>
  <dc:creator>Mr.Arhath Kumar</dc:creator>
  <cp:lastModifiedBy>Mr.Arhath Kumar</cp:lastModifiedBy>
  <cp:revision>1</cp:revision>
  <dcterms:created xsi:type="dcterms:W3CDTF">2025-11-24T10:08:54Z</dcterms:created>
  <dcterms:modified xsi:type="dcterms:W3CDTF">2025-12-01T07:29:27Z</dcterms:modified>
</cp:coreProperties>
</file>