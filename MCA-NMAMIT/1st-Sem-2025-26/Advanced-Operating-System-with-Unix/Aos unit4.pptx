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60" r:id="rId4"/>
    <p:sldId id="259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62" r:id="rId20"/>
    <p:sldId id="277" r:id="rId21"/>
    <p:sldId id="279" r:id="rId22"/>
    <p:sldId id="280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8" r:id="rId47"/>
    <p:sldId id="309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FB093B-0425-4896-826A-010C0293D9B5}" v="113" dt="2025-11-10T11:00:25.6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54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684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968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018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72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328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33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924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188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888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855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448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sca_esv=a7a7f7107bf5a5bb&amp;q=rainbow+table&amp;sa=X&amp;ved=2ahUKEwja7-na4dyQAxXdxjgGHY_pFmoQxccNegQIKRAB&amp;mstk=AUtExfD5TDKfg_CatdQcezR32-BzwlJ3Gut36vKfZQV05PolBsgkkU_qaC1roie5xg3Ac3Lx409Sn6NBQtJmpLCsAhgTedMPVf_gfQooJVy77IQJyHD0XXctC8_A3gXE4H4PltDgu_fOdVETeI7pEwuNM1qtSngSa5BNtP7W00Dr6AIPpXY5qcdXOeGU4ykNJmQTg9O8&amp;csui=3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Connected sticks shaping polygons background">
            <a:extLst>
              <a:ext uri="{FF2B5EF4-FFF2-40B4-BE49-F238E27FC236}">
                <a16:creationId xmlns:a16="http://schemas.microsoft.com/office/drawing/2014/main" id="{0D2F155B-17BA-25F3-6E97-0184026D13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-1" y="-157901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A044F-0046-2468-FDB2-B9E56A2302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9714" y="895739"/>
            <a:ext cx="11602286" cy="960120"/>
          </a:xfrm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en-US" sz="3700" dirty="0"/>
              <a:t>Unit-4</a:t>
            </a:r>
            <a:br>
              <a:rPr lang="en-US" sz="4400" dirty="0"/>
            </a:br>
            <a:r>
              <a:rPr lang="en-US" sz="4400" dirty="0"/>
              <a:t> </a:t>
            </a:r>
            <a:r>
              <a:rPr lang="en-US" sz="39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Security and Performance in UNIX &amp; Advanced OS </a:t>
            </a:r>
            <a:endParaRPr lang="en-IN" sz="3900" dirty="0"/>
          </a:p>
        </p:txBody>
      </p:sp>
    </p:spTree>
    <p:extLst>
      <p:ext uri="{BB962C8B-B14F-4D97-AF65-F5344CB8AC3E}">
        <p14:creationId xmlns:p14="http://schemas.microsoft.com/office/powerpoint/2010/main" val="2757233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514" y="368135"/>
            <a:ext cx="10834334" cy="589550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2200" b="1" dirty="0">
                <a:solidFill>
                  <a:schemeClr val="accent3">
                    <a:lumMod val="75000"/>
                  </a:schemeClr>
                </a:solidFill>
              </a:rPr>
              <a:t>Access Control in UNIX</a:t>
            </a:r>
          </a:p>
          <a:p>
            <a:pPr>
              <a:lnSpc>
                <a:spcPct val="100000"/>
              </a:lnSpc>
            </a:pPr>
            <a:endParaRPr lang="en-IN" dirty="0"/>
          </a:p>
          <a:p>
            <a:pPr>
              <a:lnSpc>
                <a:spcPct val="100000"/>
              </a:lnSpc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Access Control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in UNIX determines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who can access which files and resources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what actions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they can perform.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It is based on the principle of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user identification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permission checking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Every file or process in UNIX is associated with: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User ID (UID)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– the owner.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Group ID (GID)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– the group to which the owner belongs.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 set of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permission bits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defining access rights.</a:t>
            </a:r>
          </a:p>
          <a:p>
            <a:pPr marL="0" indent="0">
              <a:lnSpc>
                <a:spcPct val="10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5776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514" y="368135"/>
            <a:ext cx="10834334" cy="589550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2200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Access Control in UNIX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3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User and Group IDs (UID, GID)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User ID (UID):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Each user has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unique numerical identifier (UID)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Stored in the /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/passwd file.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Superuser (root)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has UID = 0,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full privileges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Group ID (GID):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Users can belong to one or more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groups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Each group is identified by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stored in /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/group.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Group membership allows shared access to files.</a:t>
            </a:r>
          </a:p>
          <a:p>
            <a:pPr marL="0" indent="0">
              <a:lnSpc>
                <a:spcPct val="100000"/>
              </a:lnSpc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131B6F-F16E-DC29-6F41-F2B68D660FD5}"/>
              </a:ext>
            </a:extLst>
          </p:cNvPr>
          <p:cNvSpPr txBox="1"/>
          <p:nvPr/>
        </p:nvSpPr>
        <p:spPr>
          <a:xfrm>
            <a:off x="6812478" y="4015851"/>
            <a:ext cx="537952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Example:</a:t>
            </a:r>
          </a:p>
          <a:p>
            <a:r>
              <a:rPr lang="en-IN" dirty="0"/>
              <a:t>student:x:1001:1001:Student User:/home/student:/bin/bash</a:t>
            </a:r>
          </a:p>
          <a:p>
            <a:endParaRPr lang="en-IN" dirty="0"/>
          </a:p>
          <a:p>
            <a:endParaRPr lang="en-I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UID = 1001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GID = 1001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Home directory = /home/student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Default shell = /bin/bash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4039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145" y="261257"/>
            <a:ext cx="10608703" cy="60023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File Permissions in UNIX</a:t>
            </a:r>
          </a:p>
          <a:p>
            <a:r>
              <a:rPr lang="en-US" dirty="0"/>
              <a:t>Each file or directory has </a:t>
            </a:r>
            <a:r>
              <a:rPr lang="en-US" b="1" dirty="0"/>
              <a:t>three sets of permissions</a:t>
            </a:r>
            <a:r>
              <a:rPr lang="en-US" dirty="0"/>
              <a:t>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Owner (User)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Group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Others (World)</a:t>
            </a:r>
            <a:endParaRPr lang="en-US" dirty="0"/>
          </a:p>
          <a:p>
            <a:pPr marL="0" indent="0">
              <a:lnSpc>
                <a:spcPct val="100000"/>
              </a:lnSpc>
              <a:buNone/>
            </a:pP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510F99E-27F8-4724-9668-68CFAC7EBB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727141"/>
              </p:ext>
            </p:extLst>
          </p:nvPr>
        </p:nvGraphicFramePr>
        <p:xfrm>
          <a:off x="286907" y="2315564"/>
          <a:ext cx="11156948" cy="1463040"/>
        </p:xfrm>
        <a:graphic>
          <a:graphicData uri="http://schemas.openxmlformats.org/drawingml/2006/table">
            <a:tbl>
              <a:tblPr/>
              <a:tblGrid>
                <a:gridCol w="2789237">
                  <a:extLst>
                    <a:ext uri="{9D8B030D-6E8A-4147-A177-3AD203B41FA5}">
                      <a16:colId xmlns:a16="http://schemas.microsoft.com/office/drawing/2014/main" val="81014924"/>
                    </a:ext>
                  </a:extLst>
                </a:gridCol>
                <a:gridCol w="2789237">
                  <a:extLst>
                    <a:ext uri="{9D8B030D-6E8A-4147-A177-3AD203B41FA5}">
                      <a16:colId xmlns:a16="http://schemas.microsoft.com/office/drawing/2014/main" val="2116216196"/>
                    </a:ext>
                  </a:extLst>
                </a:gridCol>
                <a:gridCol w="2789237">
                  <a:extLst>
                    <a:ext uri="{9D8B030D-6E8A-4147-A177-3AD203B41FA5}">
                      <a16:colId xmlns:a16="http://schemas.microsoft.com/office/drawing/2014/main" val="3123882768"/>
                    </a:ext>
                  </a:extLst>
                </a:gridCol>
                <a:gridCol w="2789237">
                  <a:extLst>
                    <a:ext uri="{9D8B030D-6E8A-4147-A177-3AD203B41FA5}">
                      <a16:colId xmlns:a16="http://schemas.microsoft.com/office/drawing/2014/main" val="303416423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IN" sz="1800" b="1"/>
                        <a:t>Symbol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1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1" dirty="0"/>
                        <a:t>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1" dirty="0"/>
                        <a:t>Directory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95763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IN" sz="1800" b="1"/>
                        <a:t>r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/>
                        <a:t>Read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/>
                        <a:t>View file contents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/>
                        <a:t>List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14325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IN" sz="1800" b="1"/>
                        <a:t>w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/>
                        <a:t>Write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/>
                        <a:t>Modify file contents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/>
                        <a:t>Add/remove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81349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IN" sz="1800" b="1"/>
                        <a:t>x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/>
                        <a:t>Execute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Run file as program/script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/>
                        <a:t>Access directory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73731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AA650C1-5F92-6389-EE9D-E4F8DCF03314}"/>
              </a:ext>
            </a:extLst>
          </p:cNvPr>
          <p:cNvSpPr txBox="1"/>
          <p:nvPr/>
        </p:nvSpPr>
        <p:spPr>
          <a:xfrm>
            <a:off x="835152" y="5770812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-rwxr-xr--</a:t>
            </a: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51B6D6A-FCDE-1506-46F4-47AD34FDA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145" y="5277984"/>
            <a:ext cx="23839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(using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ls -l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):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B2B7D00-C842-5F15-3B84-12708AD498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121416"/>
              </p:ext>
            </p:extLst>
          </p:nvPr>
        </p:nvGraphicFramePr>
        <p:xfrm>
          <a:off x="4789714" y="4520871"/>
          <a:ext cx="7028372" cy="1828800"/>
        </p:xfrm>
        <a:graphic>
          <a:graphicData uri="http://schemas.openxmlformats.org/drawingml/2006/table">
            <a:tbl>
              <a:tblPr/>
              <a:tblGrid>
                <a:gridCol w="3514186">
                  <a:extLst>
                    <a:ext uri="{9D8B030D-6E8A-4147-A177-3AD203B41FA5}">
                      <a16:colId xmlns:a16="http://schemas.microsoft.com/office/drawing/2014/main" val="3396030162"/>
                    </a:ext>
                  </a:extLst>
                </a:gridCol>
                <a:gridCol w="3514186">
                  <a:extLst>
                    <a:ext uri="{9D8B030D-6E8A-4147-A177-3AD203B41FA5}">
                      <a16:colId xmlns:a16="http://schemas.microsoft.com/office/drawing/2014/main" val="20634625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Position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719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1st (-)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File type (- = file, d = directory)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450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Next 3 (</a:t>
                      </a:r>
                      <a:r>
                        <a:rPr lang="en-IN" dirty="0" err="1"/>
                        <a:t>rwx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Owner permissions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005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Next 3 (r-x)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Group permissions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12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Last 3 (r--)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Others’ permissions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080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0621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145" y="261257"/>
            <a:ext cx="10608703" cy="60023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Changing Permissions and Ownership</a:t>
            </a:r>
          </a:p>
          <a:p>
            <a:r>
              <a:rPr lang="en-US" b="1" dirty="0"/>
              <a:t>A. </a:t>
            </a:r>
            <a:r>
              <a:rPr lang="en-US" b="1" dirty="0" err="1"/>
              <a:t>chmod</a:t>
            </a:r>
            <a:r>
              <a:rPr lang="en-US" b="1" dirty="0"/>
              <a:t> – Change File Mode</a:t>
            </a:r>
          </a:p>
          <a:p>
            <a:r>
              <a:rPr lang="en-US" dirty="0"/>
              <a:t>Used to </a:t>
            </a:r>
            <a:r>
              <a:rPr lang="en-US" b="1" dirty="0"/>
              <a:t>modify permissions</a:t>
            </a:r>
            <a:r>
              <a:rPr lang="en-US" dirty="0"/>
              <a:t>.</a:t>
            </a:r>
          </a:p>
          <a:p>
            <a:r>
              <a:rPr lang="en-US" b="1" dirty="0"/>
              <a:t>Symbolic mode:</a:t>
            </a: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/>
              <a:t>chmod</a:t>
            </a:r>
            <a:r>
              <a:rPr lang="en-US" dirty="0"/>
              <a:t> </a:t>
            </a:r>
            <a:r>
              <a:rPr lang="en-US" dirty="0" err="1"/>
              <a:t>u+x</a:t>
            </a:r>
            <a:r>
              <a:rPr lang="en-US" dirty="0"/>
              <a:t> file.txt     # Add execute permission to owner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/>
              <a:t>chmod</a:t>
            </a:r>
            <a:r>
              <a:rPr lang="en-US" dirty="0"/>
              <a:t> g-w file.txt     # Remove write permission for group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/>
              <a:t>chmod</a:t>
            </a:r>
            <a:r>
              <a:rPr lang="en-US" dirty="0"/>
              <a:t> o=r file.txt     # Others can only read</a:t>
            </a:r>
          </a:p>
          <a:p>
            <a:pPr marL="0" indent="0">
              <a:lnSpc>
                <a:spcPct val="100000"/>
              </a:lnSpc>
              <a:buNone/>
            </a:pPr>
            <a:endParaRPr lang="en-IN" dirty="0"/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Octal mode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B0E08B-B38B-27BE-5EFF-A8DDC9D351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734235"/>
              </p:ext>
            </p:extLst>
          </p:nvPr>
        </p:nvGraphicFramePr>
        <p:xfrm>
          <a:off x="1883187" y="4152207"/>
          <a:ext cx="4826371" cy="2194560"/>
        </p:xfrm>
        <a:graphic>
          <a:graphicData uri="http://schemas.openxmlformats.org/drawingml/2006/table">
            <a:tbl>
              <a:tblPr/>
              <a:tblGrid>
                <a:gridCol w="1833789">
                  <a:extLst>
                    <a:ext uri="{9D8B030D-6E8A-4147-A177-3AD203B41FA5}">
                      <a16:colId xmlns:a16="http://schemas.microsoft.com/office/drawing/2014/main" val="1002429355"/>
                    </a:ext>
                  </a:extLst>
                </a:gridCol>
                <a:gridCol w="2992582">
                  <a:extLst>
                    <a:ext uri="{9D8B030D-6E8A-4147-A177-3AD203B41FA5}">
                      <a16:colId xmlns:a16="http://schemas.microsoft.com/office/drawing/2014/main" val="10116301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Permission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Octal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245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 err="1"/>
                        <a:t>rwx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368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rw-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257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r-x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440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r--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766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---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195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353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145" y="261257"/>
            <a:ext cx="10608703" cy="60023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Changing Permissions and Ownership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/>
              <a:t>chmod</a:t>
            </a:r>
            <a:r>
              <a:rPr lang="en-US" dirty="0"/>
              <a:t> 755 file.txt   # Owner </a:t>
            </a:r>
            <a:r>
              <a:rPr lang="en-US" dirty="0" err="1"/>
              <a:t>rwx</a:t>
            </a:r>
            <a:r>
              <a:rPr lang="en-US" dirty="0"/>
              <a:t>, group r-x, others r-x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/>
              <a:t>chmod</a:t>
            </a:r>
            <a:r>
              <a:rPr lang="en-US" dirty="0"/>
              <a:t> 644 file.txt   # Owner </a:t>
            </a:r>
            <a:r>
              <a:rPr lang="en-US" dirty="0" err="1"/>
              <a:t>rw</a:t>
            </a:r>
            <a:r>
              <a:rPr lang="en-US" dirty="0"/>
              <a:t>-, group r--, others r--</a:t>
            </a:r>
          </a:p>
          <a:p>
            <a:pPr marL="0" indent="0">
              <a:lnSpc>
                <a:spcPct val="100000"/>
              </a:lnSpc>
              <a:buNone/>
            </a:pPr>
            <a:endParaRPr lang="en-IN" dirty="0"/>
          </a:p>
          <a:p>
            <a:pPr marL="0" indent="0">
              <a:lnSpc>
                <a:spcPct val="100000"/>
              </a:lnSpc>
              <a:buNone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chown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Change File Owner</a:t>
            </a:r>
          </a:p>
          <a:p>
            <a:pPr marL="0" indent="0">
              <a:lnSpc>
                <a:spcPct val="100000"/>
              </a:lnSpc>
              <a:buNone/>
            </a:pPr>
            <a:endParaRPr lang="en-IN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/>
              <a:t>chown</a:t>
            </a:r>
            <a:r>
              <a:rPr lang="en-US" dirty="0"/>
              <a:t> user file.txt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/>
              <a:t>chown</a:t>
            </a:r>
            <a:r>
              <a:rPr lang="en-US" dirty="0"/>
              <a:t> </a:t>
            </a:r>
            <a:r>
              <a:rPr lang="en-US" dirty="0" err="1"/>
              <a:t>user:group</a:t>
            </a:r>
            <a:r>
              <a:rPr lang="en-US" dirty="0"/>
              <a:t> file.txt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Example: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/>
              <a:t>chown</a:t>
            </a:r>
            <a:r>
              <a:rPr lang="en-US" dirty="0"/>
              <a:t> </a:t>
            </a:r>
            <a:r>
              <a:rPr lang="en-US" dirty="0" err="1"/>
              <a:t>root:admin</a:t>
            </a:r>
            <a:r>
              <a:rPr lang="en-US" dirty="0"/>
              <a:t> config.txt</a:t>
            </a:r>
          </a:p>
          <a:p>
            <a:pPr marL="0" indent="0">
              <a:lnSpc>
                <a:spcPct val="100000"/>
              </a:lnSpc>
              <a:buNone/>
            </a:pPr>
            <a:endParaRPr lang="en-IN" dirty="0"/>
          </a:p>
          <a:p>
            <a:pPr marL="0" indent="0">
              <a:lnSpc>
                <a:spcPct val="100000"/>
              </a:lnSpc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Changes owner to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root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group to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admin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6958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145" y="261257"/>
            <a:ext cx="10608703" cy="6002383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umask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– Default Permission Mask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default permissions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new files/directories.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umask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subtracted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the system default: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Default file: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666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dirty="0"/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Default directory: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777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>
              <a:lnSpc>
                <a:spcPct val="100000"/>
              </a:lnSpc>
              <a:buNone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dirty="0" err="1"/>
              <a:t>umask</a:t>
            </a:r>
            <a:r>
              <a:rPr lang="en-IN" dirty="0"/>
              <a:t> 022</a:t>
            </a:r>
          </a:p>
          <a:p>
            <a:pPr marL="0" indent="0">
              <a:lnSpc>
                <a:spcPct val="100000"/>
              </a:lnSpc>
              <a:buNone/>
            </a:pPr>
            <a:endParaRPr lang="en-IN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→ New files: 644 (666 - 022)→ New directories: 755 (777 - 022)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5444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145" y="261257"/>
            <a:ext cx="10608703" cy="676893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Access Control Lists (ACLs)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Traditional UNIX permissions</a:t>
            </a:r>
            <a:r>
              <a:rPr lang="en-US" dirty="0"/>
              <a:t> (owner, group, others) are limited.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Access Control Lists (ACLs)</a:t>
            </a:r>
            <a:r>
              <a:rPr lang="en-US" dirty="0"/>
              <a:t> provide </a:t>
            </a:r>
            <a:r>
              <a:rPr lang="en-US" b="1" dirty="0"/>
              <a:t>fine-grained control</a:t>
            </a:r>
            <a:r>
              <a:rPr lang="en-US" dirty="0"/>
              <a:t>, allowing </a:t>
            </a:r>
            <a:r>
              <a:rPr lang="en-US" b="1" dirty="0"/>
              <a:t>multiple users and groups</a:t>
            </a:r>
            <a:r>
              <a:rPr lang="en-US" dirty="0"/>
              <a:t> to have specific permissions on a file.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Commands:</a:t>
            </a:r>
          </a:p>
          <a:p>
            <a:r>
              <a:rPr lang="en-US" dirty="0"/>
              <a:t>View ACL:</a:t>
            </a:r>
          </a:p>
          <a:p>
            <a:pPr marL="0" indent="0">
              <a:buNone/>
            </a:pPr>
            <a:r>
              <a:rPr lang="en-US" b="1" dirty="0" err="1"/>
              <a:t>getfacl</a:t>
            </a:r>
            <a:r>
              <a:rPr lang="en-US" b="1" dirty="0"/>
              <a:t> file.txt</a:t>
            </a:r>
          </a:p>
          <a:p>
            <a:pPr marL="0" indent="0">
              <a:buNone/>
            </a:pPr>
            <a:endParaRPr lang="en-US" dirty="0"/>
          </a:p>
          <a:p>
            <a:r>
              <a:rPr lang="en-IN" dirty="0"/>
              <a:t>Set ACL:</a:t>
            </a:r>
          </a:p>
          <a:p>
            <a:pPr marL="0" indent="0">
              <a:buNone/>
            </a:pPr>
            <a:r>
              <a:rPr lang="en-US" b="1" dirty="0" err="1"/>
              <a:t>setfacl</a:t>
            </a:r>
            <a:r>
              <a:rPr lang="en-US" b="1" dirty="0"/>
              <a:t> -m u:john:rwx file.txt     # Give 'john' full access</a:t>
            </a:r>
          </a:p>
          <a:p>
            <a:pPr marL="0" indent="0">
              <a:buNone/>
            </a:pPr>
            <a:r>
              <a:rPr lang="en-US" b="1" dirty="0" err="1"/>
              <a:t>setfacl</a:t>
            </a:r>
            <a:r>
              <a:rPr lang="en-US" b="1" dirty="0"/>
              <a:t> -m g:staff:rx file.txt     # Give 'staff' read &amp; execute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IN" dirty="0"/>
              <a:t>Remove ACL:</a:t>
            </a:r>
          </a:p>
          <a:p>
            <a:pPr marL="0" indent="0">
              <a:buNone/>
            </a:pPr>
            <a:r>
              <a:rPr lang="en-US" b="1" dirty="0" err="1"/>
              <a:t>setfacl</a:t>
            </a:r>
            <a:r>
              <a:rPr lang="en-US" b="1" dirty="0"/>
              <a:t> -x u:john file.txt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IN" dirty="0"/>
              <a:t>Default ACL (for directories):</a:t>
            </a:r>
          </a:p>
          <a:p>
            <a:pPr marL="0" indent="0">
              <a:buNone/>
            </a:pPr>
            <a:r>
              <a:rPr lang="en-US" b="1" dirty="0" err="1"/>
              <a:t>setfacl</a:t>
            </a:r>
            <a:r>
              <a:rPr lang="en-US" b="1" dirty="0"/>
              <a:t> -d -m u:john:rwx /data</a:t>
            </a:r>
          </a:p>
          <a:p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2780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763" y="89065"/>
            <a:ext cx="10608703" cy="67689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Role-Based Access Control (RBAC) in UNIX/Linux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Extends traditional access control by assigning </a:t>
            </a:r>
            <a:r>
              <a:rPr lang="en-US" b="1" dirty="0"/>
              <a:t>roles</a:t>
            </a:r>
            <a:r>
              <a:rPr lang="en-US" dirty="0"/>
              <a:t> to users.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</a:t>
            </a:r>
            <a:r>
              <a:rPr lang="en-US" b="1" dirty="0"/>
              <a:t>role</a:t>
            </a:r>
            <a:r>
              <a:rPr lang="en-US" dirty="0"/>
              <a:t> has a </a:t>
            </a:r>
            <a:r>
              <a:rPr lang="en-US" b="1" dirty="0"/>
              <a:t>set of permissions</a:t>
            </a:r>
            <a:r>
              <a:rPr lang="en-US" dirty="0"/>
              <a:t> that can be dynamically assigned.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RBAC Implementation in UNIX/Linux: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Common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enterprise Linux systems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(e.g., Solaris, Red Hat Enterprise Linux).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PAM (Pluggable Authentication Modules)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sudoers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configurations.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Commands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#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sudoers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%admin  ALL=(ALL)  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%developer  ALL=(ALL)  /</a:t>
            </a:r>
            <a:r>
              <a:rPr lang="en-US" dirty="0" err="1"/>
              <a:t>usr</a:t>
            </a:r>
            <a:r>
              <a:rPr lang="en-US" dirty="0"/>
              <a:t>/bin/git, /</a:t>
            </a:r>
            <a:r>
              <a:rPr lang="en-US" dirty="0" err="1"/>
              <a:t>usr</a:t>
            </a:r>
            <a:r>
              <a:rPr lang="en-US" dirty="0"/>
              <a:t>/bin/make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Admins can do everything, Developers limited to specific commands.</a:t>
            </a:r>
          </a:p>
          <a:p>
            <a:endParaRPr lang="en-US" b="1" dirty="0"/>
          </a:p>
          <a:p>
            <a:endParaRPr lang="en-US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004EDEF-4D09-1673-8F25-43725F2F11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917671"/>
              </p:ext>
            </p:extLst>
          </p:nvPr>
        </p:nvGraphicFramePr>
        <p:xfrm>
          <a:off x="498763" y="1533695"/>
          <a:ext cx="8935234" cy="1463040"/>
        </p:xfrm>
        <a:graphic>
          <a:graphicData uri="http://schemas.openxmlformats.org/drawingml/2006/table">
            <a:tbl>
              <a:tblPr/>
              <a:tblGrid>
                <a:gridCol w="2617561">
                  <a:extLst>
                    <a:ext uri="{9D8B030D-6E8A-4147-A177-3AD203B41FA5}">
                      <a16:colId xmlns:a16="http://schemas.microsoft.com/office/drawing/2014/main" val="1902623668"/>
                    </a:ext>
                  </a:extLst>
                </a:gridCol>
                <a:gridCol w="6317673">
                  <a:extLst>
                    <a:ext uri="{9D8B030D-6E8A-4147-A177-3AD203B41FA5}">
                      <a16:colId xmlns:a16="http://schemas.microsoft.com/office/drawing/2014/main" val="2660237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362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Role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Collection of privileges for specific job functions.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204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User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Assigned one or more roles.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979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Permission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Authorized operation on an object.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153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7160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763" y="89065"/>
            <a:ext cx="10608703" cy="67689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Authentication Mechanisms in UNIX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Introduction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Authentication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is the process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verifying the identity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of a user or process before granting access to the system.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 UNIX, authentication ensures that only legitimate users can log in or access protected resources.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Access Control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determines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what you can do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Authentication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determines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who you are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Password-Based Authentication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simplest and most common</a:t>
            </a:r>
            <a:r>
              <a:rPr lang="en-US" dirty="0"/>
              <a:t> form of authentication.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user has: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username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password</a:t>
            </a:r>
            <a:r>
              <a:rPr lang="en-US" dirty="0"/>
              <a:t> (stored in encrypted form)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During login, UNIX verifies if the entered password matches the stored hash.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49082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763" y="89065"/>
            <a:ext cx="10608703" cy="6768935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Password-Based Authentication</a:t>
            </a:r>
          </a:p>
          <a:p>
            <a:pPr marL="0" indent="0">
              <a:buNone/>
            </a:pPr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Traditional Password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Historically, passwords were stored in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/passwd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as encrypted hashes.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/>
              <a:t>student:x:1001:1001:Student User:/home/student:/bin/bash</a:t>
            </a:r>
          </a:p>
          <a:p>
            <a:r>
              <a:rPr lang="en-US" b="1" dirty="0"/>
              <a:t>student:adk93nsajdhQ:1001:1001:Student:/home/student:/bin/bash</a:t>
            </a:r>
          </a:p>
          <a:p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C12177D-4595-EDE9-F259-2AA268FF75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076848"/>
              </p:ext>
            </p:extLst>
          </p:nvPr>
        </p:nvGraphicFramePr>
        <p:xfrm>
          <a:off x="498763" y="3917317"/>
          <a:ext cx="8383980" cy="2560320"/>
        </p:xfrm>
        <a:graphic>
          <a:graphicData uri="http://schemas.openxmlformats.org/drawingml/2006/table">
            <a:tbl>
              <a:tblPr/>
              <a:tblGrid>
                <a:gridCol w="3163095">
                  <a:extLst>
                    <a:ext uri="{9D8B030D-6E8A-4147-A177-3AD203B41FA5}">
                      <a16:colId xmlns:a16="http://schemas.microsoft.com/office/drawing/2014/main" val="2508446790"/>
                    </a:ext>
                  </a:extLst>
                </a:gridCol>
                <a:gridCol w="5220885">
                  <a:extLst>
                    <a:ext uri="{9D8B030D-6E8A-4147-A177-3AD203B41FA5}">
                      <a16:colId xmlns:a16="http://schemas.microsoft.com/office/drawing/2014/main" val="8758877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Field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51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Username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359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adk93nsajdhQ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Encrypted password (using crypt())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295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1001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510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1001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360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/home/student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Home directory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298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/bin/bash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Shell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915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0536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763" y="89065"/>
            <a:ext cx="10608703" cy="6768935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Shadow Passwords and /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/shadow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 improve security, UNIX moved password hashes to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separate, protected file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/shadow.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/passwd → readable by all, no real passwords.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/shadow → readable only by root.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/>
              <a:t>Structure of /etc/shadow</a:t>
            </a:r>
          </a:p>
          <a:p>
            <a:r>
              <a:rPr lang="en-US" b="1" dirty="0"/>
              <a:t>student:$6$4TQ...$JwY9pYx...:19376:0:99999:7:::</a:t>
            </a:r>
          </a:p>
          <a:p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AFAF0D2-51AE-5E2C-0328-BA4B67095D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983154"/>
              </p:ext>
            </p:extLst>
          </p:nvPr>
        </p:nvGraphicFramePr>
        <p:xfrm>
          <a:off x="536287" y="3093632"/>
          <a:ext cx="11156950" cy="2926080"/>
        </p:xfrm>
        <a:graphic>
          <a:graphicData uri="http://schemas.openxmlformats.org/drawingml/2006/table">
            <a:tbl>
              <a:tblPr/>
              <a:tblGrid>
                <a:gridCol w="5578475">
                  <a:extLst>
                    <a:ext uri="{9D8B030D-6E8A-4147-A177-3AD203B41FA5}">
                      <a16:colId xmlns:a16="http://schemas.microsoft.com/office/drawing/2014/main" val="2162280476"/>
                    </a:ext>
                  </a:extLst>
                </a:gridCol>
                <a:gridCol w="5578475">
                  <a:extLst>
                    <a:ext uri="{9D8B030D-6E8A-4147-A177-3AD203B41FA5}">
                      <a16:colId xmlns:a16="http://schemas.microsoft.com/office/drawing/2014/main" val="34795889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Field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60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Username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335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$6$4TQ...$JwY9pYx...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Encrypted password (SHA-512)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725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19376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Last password change (days since Jan 1, 1970)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030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Min days before change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007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99999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Max days before change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011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Warning before expiration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4218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:::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Reserved fields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917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9500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763" y="89065"/>
            <a:ext cx="10608703" cy="6768935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Password Hashing Algorithms</a:t>
            </a:r>
          </a:p>
          <a:p>
            <a:r>
              <a:rPr lang="en-US" dirty="0"/>
              <a:t>Modern UNIX systems use </a:t>
            </a:r>
            <a:r>
              <a:rPr lang="en-US" b="1" dirty="0"/>
              <a:t>salted hashes</a:t>
            </a:r>
            <a:r>
              <a:rPr lang="en-US" dirty="0"/>
              <a:t> to prevent rainbow table attacks.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Example Hash: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dirty="0"/>
              <a:t>$6$salt$encrypted_hash</a:t>
            </a:r>
          </a:p>
          <a:p>
            <a:endParaRPr lang="en-US" dirty="0"/>
          </a:p>
          <a:p>
            <a:r>
              <a:rPr lang="en-US" b="1" dirty="0"/>
              <a:t>$6$ → SHA-512</a:t>
            </a:r>
          </a:p>
          <a:p>
            <a:r>
              <a:rPr lang="en-US" b="1" dirty="0"/>
              <a:t>salt → random data to prevent precomputed hash attacks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25AD536-F506-36DD-BAF7-E4E27667F3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685992"/>
              </p:ext>
            </p:extLst>
          </p:nvPr>
        </p:nvGraphicFramePr>
        <p:xfrm>
          <a:off x="536287" y="1461962"/>
          <a:ext cx="7099547" cy="1463040"/>
        </p:xfrm>
        <a:graphic>
          <a:graphicData uri="http://schemas.openxmlformats.org/drawingml/2006/table">
            <a:tbl>
              <a:tblPr/>
              <a:tblGrid>
                <a:gridCol w="1615921">
                  <a:extLst>
                    <a:ext uri="{9D8B030D-6E8A-4147-A177-3AD203B41FA5}">
                      <a16:colId xmlns:a16="http://schemas.microsoft.com/office/drawing/2014/main" val="767208256"/>
                    </a:ext>
                  </a:extLst>
                </a:gridCol>
                <a:gridCol w="5483626">
                  <a:extLst>
                    <a:ext uri="{9D8B030D-6E8A-4147-A177-3AD203B41FA5}">
                      <a16:colId xmlns:a16="http://schemas.microsoft.com/office/drawing/2014/main" val="29647888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Prefix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Algorithm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769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$1$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MD5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132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$5$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SHA-256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044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$6$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SHA-512 (default in most Linux)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666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3E3B6C7-2409-65B9-7D81-AC2926B505ED}"/>
              </a:ext>
            </a:extLst>
          </p:cNvPr>
          <p:cNvSpPr txBox="1"/>
          <p:nvPr/>
        </p:nvSpPr>
        <p:spPr>
          <a:xfrm>
            <a:off x="8124620" y="2193482"/>
            <a:ext cx="393287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/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A </a:t>
            </a:r>
            <a:r>
              <a:rPr lang="en-US" b="0" i="0" dirty="0">
                <a:solidFill>
                  <a:srgbClr val="FF0000"/>
                </a:solidFill>
                <a:effectLst/>
                <a:latin typeface="Google Sans"/>
              </a:rPr>
              <a:t>rainbow attack 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is a type of cyberattack that uses precomputed hash values, called a 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  <a:hlinkClick r:id="rId2"/>
              </a:rPr>
              <a:t>rainbow table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, to crack password hashes and recover plain-text passwords. This method is more efficient than brute-force attacks because it pre-calculates a large number of potential password hashes and stores them in a table, which can then be used to quickly look up the original password from a captured hash.</a:t>
            </a:r>
            <a:endParaRPr lang="en-US" b="0" i="0" dirty="0">
              <a:solidFill>
                <a:srgbClr val="0B57D0"/>
              </a:solidFill>
              <a:effectLst/>
              <a:latin typeface="Google Sans"/>
            </a:endParaRPr>
          </a:p>
          <a:p>
            <a:b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2890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763" y="89065"/>
            <a:ext cx="10608703" cy="6768935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Password Management Commands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/>
              <a:t>Example</a:t>
            </a:r>
            <a:r>
              <a:rPr lang="en-US" b="1"/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/>
              <a:t>passwd </a:t>
            </a:r>
            <a:r>
              <a:rPr lang="en-US" b="1" dirty="0" err="1"/>
              <a:t>alice</a:t>
            </a: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 err="1"/>
              <a:t>chage</a:t>
            </a:r>
            <a:r>
              <a:rPr lang="en-US" b="1" dirty="0"/>
              <a:t> -l </a:t>
            </a:r>
            <a:r>
              <a:rPr lang="en-US" b="1" dirty="0" err="1"/>
              <a:t>alice</a:t>
            </a: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842575-1A37-25B7-9BB0-2902543E5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062584"/>
              </p:ext>
            </p:extLst>
          </p:nvPr>
        </p:nvGraphicFramePr>
        <p:xfrm>
          <a:off x="1084534" y="1034304"/>
          <a:ext cx="7871443" cy="1463040"/>
        </p:xfrm>
        <a:graphic>
          <a:graphicData uri="http://schemas.openxmlformats.org/drawingml/2006/table">
            <a:tbl>
              <a:tblPr/>
              <a:tblGrid>
                <a:gridCol w="2771869">
                  <a:extLst>
                    <a:ext uri="{9D8B030D-6E8A-4147-A177-3AD203B41FA5}">
                      <a16:colId xmlns:a16="http://schemas.microsoft.com/office/drawing/2014/main" val="4027818359"/>
                    </a:ext>
                  </a:extLst>
                </a:gridCol>
                <a:gridCol w="5099574">
                  <a:extLst>
                    <a:ext uri="{9D8B030D-6E8A-4147-A177-3AD203B41FA5}">
                      <a16:colId xmlns:a16="http://schemas.microsoft.com/office/drawing/2014/main" val="26569872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Command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202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passwd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Change user password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807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 err="1"/>
                        <a:t>chage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View/change password expiry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8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 err="1"/>
                        <a:t>vipw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pwconv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Manage passwd/shadow safely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986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0838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763" y="89065"/>
            <a:ext cx="10608703" cy="67689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Pluggable Authentication Modules (PAM)</a:t>
            </a:r>
          </a:p>
          <a:p>
            <a:r>
              <a:rPr lang="en-IN" dirty="0"/>
              <a:t>PAM provides a </a:t>
            </a:r>
            <a:r>
              <a:rPr lang="en-IN" b="1" dirty="0"/>
              <a:t>flexible framework</a:t>
            </a:r>
            <a:r>
              <a:rPr lang="en-IN" dirty="0"/>
              <a:t> for authentication in UNIX/Linux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Introduced to </a:t>
            </a:r>
            <a:r>
              <a:rPr lang="en-IN" b="1" dirty="0"/>
              <a:t>separate authentication logic from applications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Allows different authentication methods (password, LDAP, biometrics, 2FA, etc.) </a:t>
            </a:r>
            <a:r>
              <a:rPr lang="en-IN" b="1" dirty="0"/>
              <a:t>without modifying programs</a:t>
            </a:r>
            <a:r>
              <a:rPr lang="en-IN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PAM Architecture</a:t>
            </a: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/>
              <a:t>Application (e.g., login, </a:t>
            </a:r>
            <a:r>
              <a:rPr lang="en-US" b="1" dirty="0" err="1"/>
              <a:t>sshd</a:t>
            </a:r>
            <a:r>
              <a:rPr lang="en-US" b="1" dirty="0"/>
              <a:t>, </a:t>
            </a:r>
            <a:r>
              <a:rPr lang="en-US" b="1" dirty="0" err="1"/>
              <a:t>sudo</a:t>
            </a:r>
            <a:r>
              <a:rPr lang="en-US" b="1" dirty="0"/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/>
              <a:t>       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/>
              <a:t>        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/>
              <a:t>PAM Library (/lib/security/)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/>
              <a:t>       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/>
              <a:t>        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/>
              <a:t>PAM Configuration (/</a:t>
            </a:r>
            <a:r>
              <a:rPr lang="en-US" b="1" dirty="0" err="1"/>
              <a:t>etc</a:t>
            </a:r>
            <a:r>
              <a:rPr lang="en-US" b="1" dirty="0"/>
              <a:t>/</a:t>
            </a:r>
            <a:r>
              <a:rPr lang="en-US" b="1" dirty="0" err="1"/>
              <a:t>pam.d</a:t>
            </a:r>
            <a:r>
              <a:rPr lang="en-US" b="1" dirty="0"/>
              <a:t>/)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/>
              <a:t>       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/>
              <a:t>        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/>
              <a:t>PAM Modules (pam_unix.so, pam_ldap.so, pam_tally2.so)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59362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763" y="89065"/>
            <a:ext cx="10608703" cy="6768935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PAM Configuration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service has its own file in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etc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pam.d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etc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pam.d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/login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    required    pam_securetty.so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    required    pam_unix.so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 required    pam_nologin.so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session required    pam_unix.so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1AE685-B3DD-1DEA-D848-34D736FDE9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556043"/>
              </p:ext>
            </p:extLst>
          </p:nvPr>
        </p:nvGraphicFramePr>
        <p:xfrm>
          <a:off x="520700" y="3547269"/>
          <a:ext cx="9300194" cy="1828800"/>
        </p:xfrm>
        <a:graphic>
          <a:graphicData uri="http://schemas.openxmlformats.org/drawingml/2006/table">
            <a:tbl>
              <a:tblPr/>
              <a:tblGrid>
                <a:gridCol w="2505963">
                  <a:extLst>
                    <a:ext uri="{9D8B030D-6E8A-4147-A177-3AD203B41FA5}">
                      <a16:colId xmlns:a16="http://schemas.microsoft.com/office/drawing/2014/main" val="800611745"/>
                    </a:ext>
                  </a:extLst>
                </a:gridCol>
                <a:gridCol w="6794231">
                  <a:extLst>
                    <a:ext uri="{9D8B030D-6E8A-4147-A177-3AD203B41FA5}">
                      <a16:colId xmlns:a16="http://schemas.microsoft.com/office/drawing/2014/main" val="4083816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Field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552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auth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Verifies user identity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089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account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Checks account validity (expiry, restrictions)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877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password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Handles password updates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343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Manages session setup/teardown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968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46094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763" y="89065"/>
            <a:ext cx="10608703" cy="6768935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PAM Control Flags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Common PAM Modules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     </a:t>
            </a:r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C6489D-E9AE-FE73-1D59-1C17F1E3C3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759639"/>
              </p:ext>
            </p:extLst>
          </p:nvPr>
        </p:nvGraphicFramePr>
        <p:xfrm>
          <a:off x="1084534" y="1148453"/>
          <a:ext cx="7156941" cy="1828800"/>
        </p:xfrm>
        <a:graphic>
          <a:graphicData uri="http://schemas.openxmlformats.org/drawingml/2006/table">
            <a:tbl>
              <a:tblPr/>
              <a:tblGrid>
                <a:gridCol w="2321954">
                  <a:extLst>
                    <a:ext uri="{9D8B030D-6E8A-4147-A177-3AD203B41FA5}">
                      <a16:colId xmlns:a16="http://schemas.microsoft.com/office/drawing/2014/main" val="1983066965"/>
                    </a:ext>
                  </a:extLst>
                </a:gridCol>
                <a:gridCol w="4834987">
                  <a:extLst>
                    <a:ext uri="{9D8B030D-6E8A-4147-A177-3AD203B41FA5}">
                      <a16:colId xmlns:a16="http://schemas.microsoft.com/office/drawing/2014/main" val="21158161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Flag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1845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required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Must succeed for authentication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791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requisite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Must succeed; fail immediately if not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214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sufficient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Success allows skipping 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445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optional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Non-critical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3776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6202DD2-5481-6F15-9E44-ED321E54C8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378551"/>
              </p:ext>
            </p:extLst>
          </p:nvPr>
        </p:nvGraphicFramePr>
        <p:xfrm>
          <a:off x="1084534" y="4036641"/>
          <a:ext cx="8296068" cy="2194560"/>
        </p:xfrm>
        <a:graphic>
          <a:graphicData uri="http://schemas.openxmlformats.org/drawingml/2006/table">
            <a:tbl>
              <a:tblPr/>
              <a:tblGrid>
                <a:gridCol w="3303155">
                  <a:extLst>
                    <a:ext uri="{9D8B030D-6E8A-4147-A177-3AD203B41FA5}">
                      <a16:colId xmlns:a16="http://schemas.microsoft.com/office/drawing/2014/main" val="2575688521"/>
                    </a:ext>
                  </a:extLst>
                </a:gridCol>
                <a:gridCol w="4992913">
                  <a:extLst>
                    <a:ext uri="{9D8B030D-6E8A-4147-A177-3AD203B41FA5}">
                      <a16:colId xmlns:a16="http://schemas.microsoft.com/office/drawing/2014/main" val="20816525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Module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08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pam_unix.so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Standard UNIX password authentication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069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pam_tally2.so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Account lockout after failed attempts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949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pam_faillock.so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Track failed login attempts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446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pam_ldap.so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Authenticate via LDAP directory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7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pam_google_authenticator.so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Two-factor authentication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30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5831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763" y="89065"/>
            <a:ext cx="10608703" cy="6768935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SSH Authentication and Key-Based Access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Secure Shell (SSH) Overview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SSH provides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encrypted communication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for remote login, file transfer, and command execution.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Replaces insecure protocols like telnet and rlogin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indent="0">
              <a:buNone/>
            </a:pPr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F19D60-D47B-B441-558B-7A906F370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5315"/>
            <a:ext cx="21833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C97976-46A3-65D1-E36F-930CB4C3FE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31733"/>
              </p:ext>
            </p:extLst>
          </p:nvPr>
        </p:nvGraphicFramePr>
        <p:xfrm>
          <a:off x="1084534" y="2486232"/>
          <a:ext cx="8651890" cy="1097280"/>
        </p:xfrm>
        <a:graphic>
          <a:graphicData uri="http://schemas.openxmlformats.org/drawingml/2006/table">
            <a:tbl>
              <a:tblPr/>
              <a:tblGrid>
                <a:gridCol w="3177364">
                  <a:extLst>
                    <a:ext uri="{9D8B030D-6E8A-4147-A177-3AD203B41FA5}">
                      <a16:colId xmlns:a16="http://schemas.microsoft.com/office/drawing/2014/main" val="1565179644"/>
                    </a:ext>
                  </a:extLst>
                </a:gridCol>
                <a:gridCol w="5474526">
                  <a:extLst>
                    <a:ext uri="{9D8B030D-6E8A-4147-A177-3AD203B41FA5}">
                      <a16:colId xmlns:a16="http://schemas.microsoft.com/office/drawing/2014/main" val="4035766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894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Password-based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User provides password (sent securely)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754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Public-key-based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 asymmetric cryptography (key pair)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896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9732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53F66-C865-3BA6-3283-8DF6EBAFB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665019"/>
            <a:ext cx="11155680" cy="572841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Public-Key Authentication Workflow</a:t>
            </a:r>
          </a:p>
          <a:p>
            <a:pPr>
              <a:buFont typeface="+mj-lt"/>
              <a:buAutoNum type="arabicPeriod"/>
            </a:pPr>
            <a:r>
              <a:rPr lang="en-US" dirty="0"/>
              <a:t>User generates key pair: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dirty="0">
                <a:solidFill>
                  <a:schemeClr val="accent3">
                    <a:lumMod val="75000"/>
                  </a:schemeClr>
                </a:solidFill>
              </a:rPr>
              <a:t>ssh-keygen -t rsa -b 4096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IN" b="1" dirty="0">
              <a:solidFill>
                <a:schemeClr val="accent3">
                  <a:lumMod val="7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Private key: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~/.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ssh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id_rsa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key: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~/.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ssh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/id_rsa.pub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 Copy public key to remote host:</a:t>
            </a:r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       </a:t>
            </a:r>
            <a:r>
              <a:rPr lang="en-IN" dirty="0" err="1">
                <a:solidFill>
                  <a:schemeClr val="accent3">
                    <a:lumMod val="75000"/>
                  </a:schemeClr>
                </a:solidFill>
              </a:rPr>
              <a:t>ssh</a:t>
            </a: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-copy-id </a:t>
            </a:r>
            <a:r>
              <a:rPr lang="en-IN" dirty="0" err="1">
                <a:solidFill>
                  <a:schemeClr val="accent3">
                    <a:lumMod val="75000"/>
                  </a:schemeClr>
                </a:solidFill>
              </a:rPr>
              <a:t>user@remotehost</a:t>
            </a: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  <a:p>
            <a:pPr marL="342900" indent="-342900">
              <a:buAutoNum type="arabicPeriod" startAt="3"/>
            </a:pPr>
            <a:r>
              <a:rPr lang="en-US" dirty="0"/>
              <a:t>Remote host stores it in: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        ~/.</a:t>
            </a:r>
            <a:r>
              <a:rPr lang="en-IN" dirty="0" err="1">
                <a:solidFill>
                  <a:schemeClr val="accent3">
                    <a:lumMod val="75000"/>
                  </a:schemeClr>
                </a:solidFill>
              </a:rPr>
              <a:t>ssh</a:t>
            </a: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/</a:t>
            </a:r>
            <a:r>
              <a:rPr lang="en-IN" dirty="0" err="1">
                <a:solidFill>
                  <a:schemeClr val="accent3">
                    <a:lumMod val="75000"/>
                  </a:schemeClr>
                </a:solidFill>
              </a:rPr>
              <a:t>authorized_keys</a:t>
            </a: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dirty="0"/>
              <a:t>4.</a:t>
            </a:r>
            <a:r>
              <a:rPr lang="en-US" dirty="0"/>
              <a:t> During login: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Server sends a challenge encrypted with the public key.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Client proves identity using private key (without sending it).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86476F-827C-0911-64C9-991774FA2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924518"/>
              </p:ext>
            </p:extLst>
          </p:nvPr>
        </p:nvGraphicFramePr>
        <p:xfrm>
          <a:off x="4512624" y="1704813"/>
          <a:ext cx="7158165" cy="1584960"/>
        </p:xfrm>
        <a:graphic>
          <a:graphicData uri="http://schemas.openxmlformats.org/drawingml/2006/table">
            <a:tbl>
              <a:tblPr/>
              <a:tblGrid>
                <a:gridCol w="2386055">
                  <a:extLst>
                    <a:ext uri="{9D8B030D-6E8A-4147-A177-3AD203B41FA5}">
                      <a16:colId xmlns:a16="http://schemas.microsoft.com/office/drawing/2014/main" val="2198849413"/>
                    </a:ext>
                  </a:extLst>
                </a:gridCol>
                <a:gridCol w="1734682">
                  <a:extLst>
                    <a:ext uri="{9D8B030D-6E8A-4147-A177-3AD203B41FA5}">
                      <a16:colId xmlns:a16="http://schemas.microsoft.com/office/drawing/2014/main" val="1002516514"/>
                    </a:ext>
                  </a:extLst>
                </a:gridCol>
                <a:gridCol w="3037428">
                  <a:extLst>
                    <a:ext uri="{9D8B030D-6E8A-4147-A177-3AD203B41FA5}">
                      <a16:colId xmlns:a16="http://schemas.microsoft.com/office/drawing/2014/main" val="3628907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600" b="1" dirty="0"/>
                        <a:t>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/>
                        <a:t>Location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702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 b="1" dirty="0"/>
                        <a:t>/etc/</a:t>
                      </a:r>
                      <a:r>
                        <a:rPr lang="en-IN" sz="1600" b="1" dirty="0" err="1"/>
                        <a:t>ssh</a:t>
                      </a:r>
                      <a:r>
                        <a:rPr lang="en-IN" sz="1600" b="1" dirty="0"/>
                        <a:t>/</a:t>
                      </a:r>
                      <a:r>
                        <a:rPr lang="en-IN" sz="1600" b="1" dirty="0" err="1"/>
                        <a:t>sshd_config</a:t>
                      </a:r>
                      <a:endParaRPr lang="en-IN" sz="16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Server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Controls allowed authentication types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0470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 b="1" dirty="0"/>
                        <a:t>~/.</a:t>
                      </a:r>
                      <a:r>
                        <a:rPr lang="en-IN" sz="1600" b="1" dirty="0" err="1"/>
                        <a:t>ssh</a:t>
                      </a:r>
                      <a:r>
                        <a:rPr lang="en-IN" sz="1600" b="1" dirty="0"/>
                        <a:t>/config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Client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User-specific SSH options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719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 b="1" dirty="0"/>
                        <a:t>~/.</a:t>
                      </a:r>
                      <a:r>
                        <a:rPr lang="en-IN" sz="1600" b="1" dirty="0" err="1"/>
                        <a:t>ssh</a:t>
                      </a:r>
                      <a:r>
                        <a:rPr lang="en-IN" sz="1600" b="1" dirty="0"/>
                        <a:t>/</a:t>
                      </a:r>
                      <a:r>
                        <a:rPr lang="en-IN" sz="1600" b="1" dirty="0" err="1"/>
                        <a:t>authorized_keys</a:t>
                      </a:r>
                      <a:endParaRPr lang="en-IN" sz="16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Server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Lists authorized public keys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1041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548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763" y="89065"/>
            <a:ext cx="10608703" cy="6768935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Kerberos Authentication in UNIX Environments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Kerberos is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network authentication protocol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designed by MIT.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It uses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symmetric-key cryptography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and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trusted third-party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to authenticate users securely over insecure networks.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Think of it as “Single Sign-On (SSO)” for UNIX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indent="0">
              <a:buNone/>
            </a:pPr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F19D60-D47B-B441-558B-7A906F370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5315"/>
            <a:ext cx="21833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6917D1B-FB61-8F9C-9F91-D0E51A4C88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682001"/>
              </p:ext>
            </p:extLst>
          </p:nvPr>
        </p:nvGraphicFramePr>
        <p:xfrm>
          <a:off x="948212" y="2853750"/>
          <a:ext cx="9525826" cy="1828800"/>
        </p:xfrm>
        <a:graphic>
          <a:graphicData uri="http://schemas.openxmlformats.org/drawingml/2006/table">
            <a:tbl>
              <a:tblPr/>
              <a:tblGrid>
                <a:gridCol w="4762913">
                  <a:extLst>
                    <a:ext uri="{9D8B030D-6E8A-4147-A177-3AD203B41FA5}">
                      <a16:colId xmlns:a16="http://schemas.microsoft.com/office/drawing/2014/main" val="1280495573"/>
                    </a:ext>
                  </a:extLst>
                </a:gridCol>
                <a:gridCol w="4762913">
                  <a:extLst>
                    <a:ext uri="{9D8B030D-6E8A-4147-A177-3AD203B41FA5}">
                      <a16:colId xmlns:a16="http://schemas.microsoft.com/office/drawing/2014/main" val="16628938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400" dirty="0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978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1" dirty="0"/>
                        <a:t>KDC (Key Distribution </a:t>
                      </a:r>
                      <a:r>
                        <a:rPr lang="en-IN" sz="1400" b="1" dirty="0" err="1"/>
                        <a:t>Center</a:t>
                      </a:r>
                      <a:r>
                        <a:rPr lang="en-IN" sz="1400" b="1" dirty="0"/>
                        <a:t>)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Central authority managing keys and tickets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959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1"/>
                        <a:t>AS (Authentication Server)</a:t>
                      </a: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Verifies user identity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319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1" dirty="0"/>
                        <a:t>TGS (Ticket Granting Server)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Issues tickets for services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179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1"/>
                        <a:t>Client</a:t>
                      </a: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The user or process requesting authentication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540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1"/>
                        <a:t>Service Server</a:t>
                      </a: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System resource (e.g., SSH, NFS, FTP)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148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0195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43" y="-110331"/>
            <a:ext cx="10608703" cy="6768935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Authentication Workflow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Login Request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User requests authentication from KDC.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KDC verifies credentials and issues a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TGT (Ticket Granting Ticket)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Service Request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User presents TGT to TGS.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TGS issues a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Service Ticket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for the requested service.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Access Service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User sends service ticket to target server.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Server validates ticket and grants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Kerberos Files</a:t>
            </a:r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indent="0">
              <a:buNone/>
            </a:pPr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F19D60-D47B-B441-558B-7A906F370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5315"/>
            <a:ext cx="21833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1BF3B29-4572-9CC4-FC2F-14CEC19CF8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61588"/>
              </p:ext>
            </p:extLst>
          </p:nvPr>
        </p:nvGraphicFramePr>
        <p:xfrm>
          <a:off x="2962672" y="4522805"/>
          <a:ext cx="7200654" cy="1676400"/>
        </p:xfrm>
        <a:graphic>
          <a:graphicData uri="http://schemas.openxmlformats.org/drawingml/2006/table">
            <a:tbl>
              <a:tblPr/>
              <a:tblGrid>
                <a:gridCol w="3600327">
                  <a:extLst>
                    <a:ext uri="{9D8B030D-6E8A-4147-A177-3AD203B41FA5}">
                      <a16:colId xmlns:a16="http://schemas.microsoft.com/office/drawing/2014/main" val="1969010816"/>
                    </a:ext>
                  </a:extLst>
                </a:gridCol>
                <a:gridCol w="3600327">
                  <a:extLst>
                    <a:ext uri="{9D8B030D-6E8A-4147-A177-3AD203B41FA5}">
                      <a16:colId xmlns:a16="http://schemas.microsoft.com/office/drawing/2014/main" val="1942768569"/>
                    </a:ext>
                  </a:extLst>
                </a:gridCol>
              </a:tblGrid>
              <a:tr h="194065">
                <a:tc>
                  <a:txBody>
                    <a:bodyPr/>
                    <a:lstStyle/>
                    <a:p>
                      <a:r>
                        <a:rPr lang="en-IN" sz="1600" dirty="0"/>
                        <a:t>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535053"/>
                  </a:ext>
                </a:extLst>
              </a:tr>
              <a:tr h="194065">
                <a:tc>
                  <a:txBody>
                    <a:bodyPr/>
                    <a:lstStyle/>
                    <a:p>
                      <a:r>
                        <a:rPr lang="en-IN" sz="1600" b="1"/>
                        <a:t>/etc/krb5.conf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Global Kerberos configuration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708448"/>
                  </a:ext>
                </a:extLst>
              </a:tr>
              <a:tr h="194065">
                <a:tc>
                  <a:txBody>
                    <a:bodyPr/>
                    <a:lstStyle/>
                    <a:p>
                      <a:r>
                        <a:rPr lang="en-IN" sz="1600" b="1"/>
                        <a:t>/etc/krb5.keytab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Stores service keys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480047"/>
                  </a:ext>
                </a:extLst>
              </a:tr>
              <a:tr h="194065">
                <a:tc>
                  <a:txBody>
                    <a:bodyPr/>
                    <a:lstStyle/>
                    <a:p>
                      <a:r>
                        <a:rPr lang="en-IN" sz="1600" b="1"/>
                        <a:t>~/.k5login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Lists principals allowed to log 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921280"/>
                  </a:ext>
                </a:extLst>
              </a:tr>
              <a:tr h="194065">
                <a:tc>
                  <a:txBody>
                    <a:bodyPr/>
                    <a:lstStyle/>
                    <a:p>
                      <a:r>
                        <a:rPr lang="en-IN" sz="1600" b="1" dirty="0"/>
                        <a:t>~/.k5identity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Maps users to identities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82529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93E7E41-A80F-C4E8-1175-16BD3082A1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621179"/>
              </p:ext>
            </p:extLst>
          </p:nvPr>
        </p:nvGraphicFramePr>
        <p:xfrm>
          <a:off x="7053943" y="706249"/>
          <a:ext cx="5054930" cy="2476230"/>
        </p:xfrm>
        <a:graphic>
          <a:graphicData uri="http://schemas.openxmlformats.org/drawingml/2006/table">
            <a:tbl>
              <a:tblPr/>
              <a:tblGrid>
                <a:gridCol w="2527465">
                  <a:extLst>
                    <a:ext uri="{9D8B030D-6E8A-4147-A177-3AD203B41FA5}">
                      <a16:colId xmlns:a16="http://schemas.microsoft.com/office/drawing/2014/main" val="25845216"/>
                    </a:ext>
                  </a:extLst>
                </a:gridCol>
                <a:gridCol w="2527465">
                  <a:extLst>
                    <a:ext uri="{9D8B030D-6E8A-4147-A177-3AD203B41FA5}">
                      <a16:colId xmlns:a16="http://schemas.microsoft.com/office/drawing/2014/main" val="2010629147"/>
                    </a:ext>
                  </a:extLst>
                </a:gridCol>
              </a:tblGrid>
              <a:tr h="337730">
                <a:tc>
                  <a:txBody>
                    <a:bodyPr/>
                    <a:lstStyle/>
                    <a:p>
                      <a:r>
                        <a:rPr lang="en-IN" sz="1300" dirty="0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612449"/>
                  </a:ext>
                </a:extLst>
              </a:tr>
              <a:tr h="463966">
                <a:tc>
                  <a:txBody>
                    <a:bodyPr/>
                    <a:lstStyle/>
                    <a:p>
                      <a:r>
                        <a:rPr lang="en-IN" sz="1300" b="1"/>
                        <a:t>KDC (Key Distribution Center)</a:t>
                      </a:r>
                      <a:endParaRPr lang="en-IN" sz="13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Central authority managing keys and tickets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9489"/>
                  </a:ext>
                </a:extLst>
              </a:tr>
              <a:tr h="337730">
                <a:tc>
                  <a:txBody>
                    <a:bodyPr/>
                    <a:lstStyle/>
                    <a:p>
                      <a:r>
                        <a:rPr lang="en-IN" sz="1300" b="1"/>
                        <a:t>AS (Authentication Server)</a:t>
                      </a:r>
                      <a:endParaRPr lang="en-IN" sz="13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Verifies user identity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889937"/>
                  </a:ext>
                </a:extLst>
              </a:tr>
              <a:tr h="337730">
                <a:tc>
                  <a:txBody>
                    <a:bodyPr/>
                    <a:lstStyle/>
                    <a:p>
                      <a:r>
                        <a:rPr lang="en-IN" sz="1300" b="1"/>
                        <a:t>TGS (Ticket Granting Server)</a:t>
                      </a:r>
                      <a:endParaRPr lang="en-IN" sz="13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Issues tickets for services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310561"/>
                  </a:ext>
                </a:extLst>
              </a:tr>
              <a:tr h="463966">
                <a:tc>
                  <a:txBody>
                    <a:bodyPr/>
                    <a:lstStyle/>
                    <a:p>
                      <a:r>
                        <a:rPr lang="en-IN" sz="1300" b="1"/>
                        <a:t>Client</a:t>
                      </a:r>
                      <a:endParaRPr lang="en-IN" sz="13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The user or process requesting authentication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641068"/>
                  </a:ext>
                </a:extLst>
              </a:tr>
              <a:tr h="463966">
                <a:tc>
                  <a:txBody>
                    <a:bodyPr/>
                    <a:lstStyle/>
                    <a:p>
                      <a:r>
                        <a:rPr lang="en-IN" sz="1300" b="1"/>
                        <a:t>Service Server</a:t>
                      </a:r>
                      <a:endParaRPr lang="en-IN" sz="13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System resource (e.g., SSH, NFS, FTP)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146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049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261" y="228600"/>
            <a:ext cx="10608703" cy="67689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Firewalls in UNIX Systems</a:t>
            </a:r>
          </a:p>
          <a:p>
            <a:pPr marL="0" indent="0">
              <a:buNone/>
            </a:pPr>
            <a:endParaRPr lang="en-IN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firewall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security system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that monitors and controls incoming and outgoing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network traffic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based on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predefined security rules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It acts as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barrier between a trusted internal network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(e.g., LAN) and an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untrusted external network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(e.g., the Internet).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Implemented either as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hardware, software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or a combination of both.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 UNIX systems, firewalls are typically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software-based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integrated with the kernel’s networking stack (e.g., iptables,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nftables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pf).</a:t>
            </a:r>
          </a:p>
          <a:p>
            <a:pPr marL="0" indent="0">
              <a:buNone/>
            </a:pPr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Purpose of a Firewall</a:t>
            </a:r>
          </a:p>
          <a:p>
            <a:pPr marL="0" indent="0">
              <a:buNone/>
            </a:pPr>
            <a:endParaRPr lang="en-US" b="1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Protect systems from unauthorized access.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Enforce network security policies.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Monitor network traffic and prevent data leakage.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Block malicious packets and attacks (DoS, port scanning, etc.).</a:t>
            </a:r>
          </a:p>
          <a:p>
            <a:pPr marL="0" indent="0">
              <a:buNone/>
            </a:pPr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indent="0">
              <a:buNone/>
            </a:pPr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F19D60-D47B-B441-558B-7A906F370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5315"/>
            <a:ext cx="21833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73C7E42-DD25-FFC0-7410-909EC63C28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068308"/>
              </p:ext>
            </p:extLst>
          </p:nvPr>
        </p:nvGraphicFramePr>
        <p:xfrm>
          <a:off x="6681851" y="3014884"/>
          <a:ext cx="5058888" cy="2701614"/>
        </p:xfrm>
        <a:graphic>
          <a:graphicData uri="http://schemas.openxmlformats.org/drawingml/2006/table">
            <a:tbl>
              <a:tblPr/>
              <a:tblGrid>
                <a:gridCol w="1686296">
                  <a:extLst>
                    <a:ext uri="{9D8B030D-6E8A-4147-A177-3AD203B41FA5}">
                      <a16:colId xmlns:a16="http://schemas.microsoft.com/office/drawing/2014/main" val="3533257833"/>
                    </a:ext>
                  </a:extLst>
                </a:gridCol>
                <a:gridCol w="1686296">
                  <a:extLst>
                    <a:ext uri="{9D8B030D-6E8A-4147-A177-3AD203B41FA5}">
                      <a16:colId xmlns:a16="http://schemas.microsoft.com/office/drawing/2014/main" val="868399420"/>
                    </a:ext>
                  </a:extLst>
                </a:gridCol>
                <a:gridCol w="1686296">
                  <a:extLst>
                    <a:ext uri="{9D8B030D-6E8A-4147-A177-3AD203B41FA5}">
                      <a16:colId xmlns:a16="http://schemas.microsoft.com/office/drawing/2014/main" val="4066399139"/>
                    </a:ext>
                  </a:extLst>
                </a:gridCol>
              </a:tblGrid>
              <a:tr h="195304">
                <a:tc>
                  <a:txBody>
                    <a:bodyPr/>
                    <a:lstStyle/>
                    <a:p>
                      <a:r>
                        <a:rPr lang="en-IN" sz="1200"/>
                        <a:t>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OS / Platform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721086"/>
                  </a:ext>
                </a:extLst>
              </a:tr>
              <a:tr h="436407">
                <a:tc>
                  <a:txBody>
                    <a:bodyPr/>
                    <a:lstStyle/>
                    <a:p>
                      <a:r>
                        <a:rPr lang="en-IN" sz="1200"/>
                        <a:t>iptables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Linux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Legacy kernel firewall (uses </a:t>
                      </a:r>
                      <a:r>
                        <a:rPr lang="en-IN" sz="1200" dirty="0" err="1"/>
                        <a:t>Netfilter</a:t>
                      </a:r>
                      <a:r>
                        <a:rPr lang="en-IN" sz="1200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692487"/>
                  </a:ext>
                </a:extLst>
              </a:tr>
              <a:tr h="567329">
                <a:tc>
                  <a:txBody>
                    <a:bodyPr/>
                    <a:lstStyle/>
                    <a:p>
                      <a:r>
                        <a:rPr lang="en-IN" sz="1200"/>
                        <a:t>nftables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Linux (modern)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Successor to iptables; unified framework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784041"/>
                  </a:ext>
                </a:extLst>
              </a:tr>
              <a:tr h="436407">
                <a:tc>
                  <a:txBody>
                    <a:bodyPr/>
                    <a:lstStyle/>
                    <a:p>
                      <a:r>
                        <a:rPr lang="en-IN" sz="1200"/>
                        <a:t>pf (Packet Filter)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FreeBSD, OpenBSD, macOS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Stateful packet filter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421303"/>
                  </a:ext>
                </a:extLst>
              </a:tr>
              <a:tr h="305485">
                <a:tc>
                  <a:txBody>
                    <a:bodyPr/>
                    <a:lstStyle/>
                    <a:p>
                      <a:r>
                        <a:rPr lang="en-IN" sz="1200"/>
                        <a:t>ipfw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FreeBSD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Kernel firewall utility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179205"/>
                  </a:ext>
                </a:extLst>
              </a:tr>
              <a:tr h="567329">
                <a:tc>
                  <a:txBody>
                    <a:bodyPr/>
                    <a:lstStyle/>
                    <a:p>
                      <a:r>
                        <a:rPr lang="en-IN" sz="1200"/>
                        <a:t>firewalld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RHEL/CentOS/Fedora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Dynamic firewall daemon (uses </a:t>
                      </a:r>
                      <a:r>
                        <a:rPr lang="en-US" sz="1200" dirty="0" err="1"/>
                        <a:t>nftables</a:t>
                      </a:r>
                      <a:r>
                        <a:rPr lang="en-US" sz="1200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487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1912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261" y="228600"/>
            <a:ext cx="10608703" cy="67689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Role of Firewalls in UNIX Security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indent="0">
              <a:buNone/>
            </a:pPr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F19D60-D47B-B441-558B-7A906F370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5315"/>
            <a:ext cx="21833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1599B47-176A-B3EE-7B51-EEB0C2CA33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96447"/>
              </p:ext>
            </p:extLst>
          </p:nvPr>
        </p:nvGraphicFramePr>
        <p:xfrm>
          <a:off x="706542" y="794753"/>
          <a:ext cx="10778916" cy="2195121"/>
        </p:xfrm>
        <a:graphic>
          <a:graphicData uri="http://schemas.openxmlformats.org/drawingml/2006/table">
            <a:tbl>
              <a:tblPr/>
              <a:tblGrid>
                <a:gridCol w="2974809">
                  <a:extLst>
                    <a:ext uri="{9D8B030D-6E8A-4147-A177-3AD203B41FA5}">
                      <a16:colId xmlns:a16="http://schemas.microsoft.com/office/drawing/2014/main" val="395733"/>
                    </a:ext>
                  </a:extLst>
                </a:gridCol>
                <a:gridCol w="7804107">
                  <a:extLst>
                    <a:ext uri="{9D8B030D-6E8A-4147-A177-3AD203B41FA5}">
                      <a16:colId xmlns:a16="http://schemas.microsoft.com/office/drawing/2014/main" val="3787740835"/>
                    </a:ext>
                  </a:extLst>
                </a:gridCol>
              </a:tblGrid>
              <a:tr h="220724">
                <a:tc>
                  <a:txBody>
                    <a:bodyPr/>
                    <a:lstStyle/>
                    <a:p>
                      <a:r>
                        <a:rPr lang="en-IN" dirty="0"/>
                        <a:t>Role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8655970"/>
                  </a:ext>
                </a:extLst>
              </a:tr>
              <a:tr h="386267">
                <a:tc>
                  <a:txBody>
                    <a:bodyPr/>
                    <a:lstStyle/>
                    <a:p>
                      <a:r>
                        <a:rPr lang="en-IN" sz="1600" b="1"/>
                        <a:t>Traffic Control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Allows or blocks network packets based on IP, port, and protocol.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877355"/>
                  </a:ext>
                </a:extLst>
              </a:tr>
              <a:tr h="386267">
                <a:tc>
                  <a:txBody>
                    <a:bodyPr/>
                    <a:lstStyle/>
                    <a:p>
                      <a:r>
                        <a:rPr lang="en-IN" sz="1600" b="1"/>
                        <a:t>Network Segmentation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Separates internal subnets or zones for layered defense.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535527"/>
                  </a:ext>
                </a:extLst>
              </a:tr>
              <a:tr h="220724">
                <a:tc>
                  <a:txBody>
                    <a:bodyPr/>
                    <a:lstStyle/>
                    <a:p>
                      <a:r>
                        <a:rPr lang="en-IN" sz="1600" b="1"/>
                        <a:t>Access Policy Enforcement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Ensures only permitted services are accessible.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113724"/>
                  </a:ext>
                </a:extLst>
              </a:tr>
              <a:tr h="220724">
                <a:tc>
                  <a:txBody>
                    <a:bodyPr/>
                    <a:lstStyle/>
                    <a:p>
                      <a:r>
                        <a:rPr lang="en-IN" sz="1600" b="1"/>
                        <a:t>Intrusion Prevention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Detects and blocks suspicious traffic patterns.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656877"/>
                  </a:ext>
                </a:extLst>
              </a:tr>
              <a:tr h="386267">
                <a:tc>
                  <a:txBody>
                    <a:bodyPr/>
                    <a:lstStyle/>
                    <a:p>
                      <a:r>
                        <a:rPr lang="en-IN" sz="1600" b="1"/>
                        <a:t>Logging and Auditing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Keeps logs of accepted/denied connections for monitoring.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67421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44DE6C-A90B-BC0D-7D74-3E12FC6BAC7F}"/>
              </a:ext>
            </a:extLst>
          </p:cNvPr>
          <p:cNvSpPr txBox="1"/>
          <p:nvPr/>
        </p:nvSpPr>
        <p:spPr>
          <a:xfrm>
            <a:off x="819971" y="3998383"/>
            <a:ext cx="685503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Example Firewall Policy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 simple firewall may enforce: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Allow inbound SSH (port 22)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Allow HTTP/HTTPS (ports 80, 443)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Deny all other inbound connections</a:t>
            </a:r>
          </a:p>
        </p:txBody>
      </p:sp>
    </p:spTree>
    <p:extLst>
      <p:ext uri="{BB962C8B-B14F-4D97-AF65-F5344CB8AC3E}">
        <p14:creationId xmlns:p14="http://schemas.microsoft.com/office/powerpoint/2010/main" val="3998345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261" y="228601"/>
            <a:ext cx="11542817" cy="652846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Types of Firewalls</a:t>
            </a:r>
          </a:p>
          <a:p>
            <a:r>
              <a:rPr lang="en-US" dirty="0"/>
              <a:t>Firewalls can be classified by </a:t>
            </a:r>
            <a:r>
              <a:rPr lang="en-US" b="1" dirty="0"/>
              <a:t>how they inspect and control network traffic</a:t>
            </a:r>
            <a:r>
              <a:rPr lang="en-US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indent="0">
              <a:buNone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1.Packet Filtering Firewalls (Stateless Firewalls)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</a:t>
            </a:r>
            <a:r>
              <a:rPr lang="en-IN" b="1" dirty="0"/>
              <a:t>simplest</a:t>
            </a:r>
            <a:r>
              <a:rPr lang="en-IN" dirty="0"/>
              <a:t> form of firewall.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Operates at </a:t>
            </a:r>
            <a:r>
              <a:rPr lang="en-IN" b="1" dirty="0"/>
              <a:t>Network (Layer 3)</a:t>
            </a:r>
            <a:r>
              <a:rPr lang="en-IN" dirty="0"/>
              <a:t> and </a:t>
            </a:r>
            <a:r>
              <a:rPr lang="en-IN" b="1" dirty="0"/>
              <a:t>Transport (Layer 4)</a:t>
            </a:r>
            <a:r>
              <a:rPr lang="en-IN" dirty="0"/>
              <a:t> of the OSI model.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Makes decisions </a:t>
            </a:r>
            <a:r>
              <a:rPr lang="en-IN" b="1" dirty="0"/>
              <a:t>packet by packet</a:t>
            </a:r>
            <a:r>
              <a:rPr lang="en-IN" dirty="0"/>
              <a:t> based 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Source/Destination IP addresses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Source/Destination ports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Protocol (TCP/UDP/ICMP)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Direction (inbound/outbound)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457200" lvl="1" indent="0">
              <a:buNone/>
            </a:pPr>
            <a:r>
              <a:rPr lang="en-IN" dirty="0"/>
              <a:t>                                                                                                                                             </a:t>
            </a: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/>
              <a:t>+------------------------------------+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/>
              <a:t>| IP Header + TCP/UDP Header |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/>
              <a:t>+------------------------------------+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/>
              <a:t>                      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/>
              <a:t>       Matches filter rules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/>
              <a:t>                      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/>
              <a:t>    ACCEPT / REJECT / DROP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indent="0">
              <a:buNone/>
            </a:pPr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F19D60-D47B-B441-558B-7A906F370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5315"/>
            <a:ext cx="21833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947BEB-B429-1AD1-A781-B738B481C731}"/>
              </a:ext>
            </a:extLst>
          </p:cNvPr>
          <p:cNvSpPr txBox="1"/>
          <p:nvPr/>
        </p:nvSpPr>
        <p:spPr>
          <a:xfrm>
            <a:off x="6635669" y="4079174"/>
            <a:ext cx="52277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example:</a:t>
            </a:r>
          </a:p>
          <a:p>
            <a:endParaRPr lang="en-IN" dirty="0"/>
          </a:p>
          <a:p>
            <a:r>
              <a:rPr lang="en-IN" dirty="0"/>
              <a:t>iptables -A OUTPUT -p </a:t>
            </a:r>
            <a:r>
              <a:rPr lang="en-IN" dirty="0" err="1"/>
              <a:t>tcp</a:t>
            </a:r>
            <a:r>
              <a:rPr lang="en-IN" dirty="0"/>
              <a:t> --</a:t>
            </a:r>
            <a:r>
              <a:rPr lang="en-IN" dirty="0" err="1"/>
              <a:t>dport</a:t>
            </a:r>
            <a:r>
              <a:rPr lang="en-IN" dirty="0"/>
              <a:t> 80 -j ACCEPT</a:t>
            </a:r>
          </a:p>
          <a:p>
            <a:r>
              <a:rPr lang="en-IN" dirty="0"/>
              <a:t>iptables -A OUTPUT -p </a:t>
            </a:r>
            <a:r>
              <a:rPr lang="en-IN" dirty="0" err="1"/>
              <a:t>tcp</a:t>
            </a:r>
            <a:r>
              <a:rPr lang="en-IN" dirty="0"/>
              <a:t> --</a:t>
            </a:r>
            <a:r>
              <a:rPr lang="en-IN" dirty="0" err="1"/>
              <a:t>dport</a:t>
            </a:r>
            <a:r>
              <a:rPr lang="en-IN" dirty="0"/>
              <a:t> 443 -j ACCEPT</a:t>
            </a:r>
          </a:p>
          <a:p>
            <a:r>
              <a:rPr lang="en-IN" dirty="0"/>
              <a:t>iptables -A OUTPUT -j DROP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65382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261" y="228601"/>
            <a:ext cx="11542817" cy="65284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Types of Firewalls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2.Stateful Inspection Firewalls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Also known as </a:t>
            </a:r>
            <a:r>
              <a:rPr lang="en-US" b="1" dirty="0"/>
              <a:t>Dynamic Packet Filtering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Operates at Layers 3, 4, and partially Layer 5.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Tracks active connections</a:t>
            </a:r>
            <a:r>
              <a:rPr lang="en-US" dirty="0"/>
              <a:t> in a </a:t>
            </a:r>
            <a:r>
              <a:rPr lang="en-US" b="1" dirty="0"/>
              <a:t>state table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Makes decisions based on </a:t>
            </a:r>
            <a:r>
              <a:rPr lang="en-US" b="1" dirty="0"/>
              <a:t>connection state</a:t>
            </a:r>
            <a:r>
              <a:rPr lang="en-US" dirty="0"/>
              <a:t> and packet context.</a:t>
            </a:r>
          </a:p>
          <a:p>
            <a:pPr marL="0" indent="0">
              <a:buNone/>
            </a:pPr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F19D60-D47B-B441-558B-7A906F370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5315"/>
            <a:ext cx="21833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292C5B5-5A18-9794-A171-7619C9F50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326901"/>
              </p:ext>
            </p:extLst>
          </p:nvPr>
        </p:nvGraphicFramePr>
        <p:xfrm>
          <a:off x="366321" y="2982596"/>
          <a:ext cx="8540173" cy="1838785"/>
        </p:xfrm>
        <a:graphic>
          <a:graphicData uri="http://schemas.openxmlformats.org/drawingml/2006/table">
            <a:tbl>
              <a:tblPr/>
              <a:tblGrid>
                <a:gridCol w="1883030">
                  <a:extLst>
                    <a:ext uri="{9D8B030D-6E8A-4147-A177-3AD203B41FA5}">
                      <a16:colId xmlns:a16="http://schemas.microsoft.com/office/drawing/2014/main" val="3724102978"/>
                    </a:ext>
                  </a:extLst>
                </a:gridCol>
                <a:gridCol w="6657143">
                  <a:extLst>
                    <a:ext uri="{9D8B030D-6E8A-4147-A177-3AD203B41FA5}">
                      <a16:colId xmlns:a16="http://schemas.microsoft.com/office/drawing/2014/main" val="194517147"/>
                    </a:ext>
                  </a:extLst>
                </a:gridCol>
              </a:tblGrid>
              <a:tr h="367757">
                <a:tc>
                  <a:txBody>
                    <a:bodyPr/>
                    <a:lstStyle/>
                    <a:p>
                      <a:r>
                        <a:rPr lang="en-IN" sz="1600"/>
                        <a:t>Packet State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534175"/>
                  </a:ext>
                </a:extLst>
              </a:tr>
              <a:tr h="367757">
                <a:tc>
                  <a:txBody>
                    <a:bodyPr/>
                    <a:lstStyle/>
                    <a:p>
                      <a:r>
                        <a:rPr lang="en-IN" sz="1600" b="1" dirty="0"/>
                        <a:t>NEW</a:t>
                      </a:r>
                      <a:endParaRPr lang="en-IN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First packet of a new connection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204587"/>
                  </a:ext>
                </a:extLst>
              </a:tr>
              <a:tr h="367757">
                <a:tc>
                  <a:txBody>
                    <a:bodyPr/>
                    <a:lstStyle/>
                    <a:p>
                      <a:r>
                        <a:rPr lang="en-IN" sz="1600" b="1"/>
                        <a:t>ESTABLISHED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Part of an ongoing connection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745722"/>
                  </a:ext>
                </a:extLst>
              </a:tr>
              <a:tr h="367757">
                <a:tc>
                  <a:txBody>
                    <a:bodyPr/>
                    <a:lstStyle/>
                    <a:p>
                      <a:r>
                        <a:rPr lang="en-IN" sz="1600" b="1"/>
                        <a:t>RELATED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Associated with an existing connection (e.g., FTP data channel)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305872"/>
                  </a:ext>
                </a:extLst>
              </a:tr>
              <a:tr h="367757">
                <a:tc>
                  <a:txBody>
                    <a:bodyPr/>
                    <a:lstStyle/>
                    <a:p>
                      <a:r>
                        <a:rPr lang="en-IN" sz="1600" b="1"/>
                        <a:t>INVALID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Packet does not belong to any known session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61533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724FFED-7C35-BCD2-03C0-BBB7C1949C49}"/>
              </a:ext>
            </a:extLst>
          </p:cNvPr>
          <p:cNvSpPr txBox="1"/>
          <p:nvPr/>
        </p:nvSpPr>
        <p:spPr>
          <a:xfrm>
            <a:off x="451260" y="5429070"/>
            <a:ext cx="75408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example</a:t>
            </a:r>
          </a:p>
          <a:p>
            <a:r>
              <a:rPr lang="en-IN" dirty="0"/>
              <a:t>iptables -A INPUT -m state --state ESTABLISHED,RELATED -j ACCEPT</a:t>
            </a:r>
          </a:p>
          <a:p>
            <a:r>
              <a:rPr lang="en-IN" dirty="0"/>
              <a:t>iptables -A INPUT -p </a:t>
            </a:r>
            <a:r>
              <a:rPr lang="en-IN" dirty="0" err="1"/>
              <a:t>tcp</a:t>
            </a:r>
            <a:r>
              <a:rPr lang="en-IN" dirty="0"/>
              <a:t> --</a:t>
            </a:r>
            <a:r>
              <a:rPr lang="en-IN" dirty="0" err="1"/>
              <a:t>dport</a:t>
            </a:r>
            <a:r>
              <a:rPr lang="en-IN" dirty="0"/>
              <a:t> 22 -m state --state NEW -j ACCEPT</a:t>
            </a:r>
          </a:p>
          <a:p>
            <a:r>
              <a:rPr lang="en-IN" dirty="0"/>
              <a:t>iptables -A INPUT -j DROP</a:t>
            </a:r>
          </a:p>
        </p:txBody>
      </p:sp>
    </p:spTree>
    <p:extLst>
      <p:ext uri="{BB962C8B-B14F-4D97-AF65-F5344CB8AC3E}">
        <p14:creationId xmlns:p14="http://schemas.microsoft.com/office/powerpoint/2010/main" val="2966145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261" y="228601"/>
            <a:ext cx="11542817" cy="65284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Types of Firewalls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3 Application-Level Gateways (Proxy Firewalls)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Operates at the </a:t>
            </a:r>
            <a:r>
              <a:rPr lang="en-US" b="1" dirty="0"/>
              <a:t>Application Layer (Layer 7)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Works as an </a:t>
            </a:r>
            <a:r>
              <a:rPr lang="en-US" b="1" dirty="0"/>
              <a:t>intermediary (proxy)</a:t>
            </a:r>
            <a:r>
              <a:rPr lang="en-US" dirty="0"/>
              <a:t> between client and server.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Examines </a:t>
            </a:r>
            <a:r>
              <a:rPr lang="en-US" b="1" dirty="0"/>
              <a:t>entire application data</a:t>
            </a:r>
            <a:r>
              <a:rPr lang="en-US" dirty="0"/>
              <a:t> (not just headers).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Enforces </a:t>
            </a:r>
            <a:r>
              <a:rPr lang="en-US" b="1" dirty="0"/>
              <a:t>protocol-specific rules</a:t>
            </a:r>
            <a:r>
              <a:rPr lang="en-US" dirty="0"/>
              <a:t> (e.g., HTTP, FTP, SMTP).</a:t>
            </a:r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r>
              <a:rPr lang="en-IN" sz="1600" b="1" dirty="0"/>
              <a:t>Example Operation</a:t>
            </a:r>
          </a:p>
          <a:p>
            <a:r>
              <a:rPr lang="en-IN" dirty="0"/>
              <a:t>Without Proxy: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Client  ---&gt;  Web Server</a:t>
            </a:r>
          </a:p>
          <a:p>
            <a:r>
              <a:rPr lang="en-IN" dirty="0"/>
              <a:t>With Application Gateway: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Client  ---&gt;  [Proxy Firewall]  ---&gt;  Web Server</a:t>
            </a:r>
          </a:p>
          <a:p>
            <a:r>
              <a:rPr lang="en-US" dirty="0"/>
              <a:t>Proxy firewall inspects HTTP requests/responses before forwarding them.</a:t>
            </a:r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F19D60-D47B-B441-558B-7A906F370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5315"/>
            <a:ext cx="21833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196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261" y="228601"/>
            <a:ext cx="11542817" cy="65284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Modern UNIX Firewall Architectures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A. Linux (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Netfilter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Framework)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Kernel-level packet filtering framework.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Managed via: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iptables (legacy)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nftables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(modern replacement)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firewalld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(front-end daemon with zones)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Example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nftables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rule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nft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add rule 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inet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filter input 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tcp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dport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22 accept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nft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add rule 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inet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filter input drop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b="1" dirty="0" err="1"/>
              <a:t>B.FreeBSD</a:t>
            </a:r>
            <a:r>
              <a:rPr lang="en-IN" b="1" dirty="0"/>
              <a:t> / OpenBSD (pf and </a:t>
            </a:r>
            <a:r>
              <a:rPr lang="en-IN" b="1" dirty="0" err="1"/>
              <a:t>ipfw</a:t>
            </a:r>
            <a:r>
              <a:rPr lang="en-IN" b="1" dirty="0"/>
              <a:t>)</a:t>
            </a:r>
          </a:p>
          <a:p>
            <a:pPr marL="0" indent="0">
              <a:buNone/>
            </a:pPr>
            <a:r>
              <a:rPr lang="en-IN" b="1" dirty="0"/>
              <a:t>Packet Filter (pf):</a:t>
            </a:r>
            <a:endParaRPr lang="en-I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pass in on em0 proto 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tcp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from any to any port 22 keep state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block all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b="1" dirty="0"/>
              <a:t>IPFW Example:</a:t>
            </a: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ipfw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add allow 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tcp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from any to me 22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ipfw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add deny all from any to any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F19D60-D47B-B441-558B-7A906F370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5315"/>
            <a:ext cx="21833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A8C163-A23C-3166-C2AC-93915FECC2E4}"/>
              </a:ext>
            </a:extLst>
          </p:cNvPr>
          <p:cNvSpPr txBox="1"/>
          <p:nvPr/>
        </p:nvSpPr>
        <p:spPr>
          <a:xfrm>
            <a:off x="6602681" y="1460665"/>
            <a:ext cx="5589319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C.macOS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upon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pf (Packet Filter)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configured via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etc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pf.conf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block all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pass in proto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tcp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to any port 80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pass out all keep state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98779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261" y="228601"/>
            <a:ext cx="11542817" cy="6528460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Intrusion Detection and Prevention in UNIX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What is an Intrusion?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intrusion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is any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unauthorized activity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that compromises: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Confidentiality: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Accessing confidential files (e.g., 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/shadow).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Integrity: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Modifying system binaries or configuration files.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Availability: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Causing system downtime via DoS/DDoS attacks.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Intrusions can be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internal (by authorized users)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external (by hackers or malware).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Definition: Intrusion Detection System (IDS)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monitoring system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that: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Collects and analyzes data from systems or networks.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Detects abnormal, malicious, or policy-violating activities.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Alerts administrators (and possibly triggers preventive actions).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Key Objective: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Detect intrusions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as early as possible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before serious damage occurs.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F19D60-D47B-B441-558B-7A906F370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5315"/>
            <a:ext cx="21833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A8C163-A23C-3166-C2AC-93915FECC2E4}"/>
              </a:ext>
            </a:extLst>
          </p:cNvPr>
          <p:cNvSpPr txBox="1"/>
          <p:nvPr/>
        </p:nvSpPr>
        <p:spPr>
          <a:xfrm>
            <a:off x="6602681" y="1460665"/>
            <a:ext cx="558931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32903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261" y="228601"/>
            <a:ext cx="11542817" cy="65284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Definition: Intrusion Prevention System (IPS)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IPS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not only detects intrusions (like an IDS) but also: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Blocks or mitigates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malicious activities automatically.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Acts as an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active defense mechanism.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Why IDS/IPS is needed in UNIX Systems</a:t>
            </a:r>
          </a:p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Although UNIX is inherently secure (permissions, root access control, etc.), modern threats exploit: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Network-facing services (SSH, Apache, FTP)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Misconfigurations (open ports, weak passwords)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Zero-day vulnerabilities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Insider misuse</a:t>
            </a:r>
          </a:p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Thus, IDS/IPS adds a 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second line of </a:t>
            </a:r>
            <a:r>
              <a:rPr lang="en-IN" b="1" dirty="0" err="1">
                <a:latin typeface="Calibri" panose="020F0502020204030204" pitchFamily="34" charset="0"/>
                <a:cs typeface="Calibri" panose="020F0502020204030204" pitchFamily="34" charset="0"/>
              </a:rPr>
              <a:t>defense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 after firewalls.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F19D60-D47B-B441-558B-7A906F370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5315"/>
            <a:ext cx="21833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A8C163-A23C-3166-C2AC-93915FECC2E4}"/>
              </a:ext>
            </a:extLst>
          </p:cNvPr>
          <p:cNvSpPr txBox="1"/>
          <p:nvPr/>
        </p:nvSpPr>
        <p:spPr>
          <a:xfrm>
            <a:off x="6602681" y="1460665"/>
            <a:ext cx="558931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A836402-7A92-0D9E-34DD-CF338DB155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998983"/>
              </p:ext>
            </p:extLst>
          </p:nvPr>
        </p:nvGraphicFramePr>
        <p:xfrm>
          <a:off x="1529936" y="2128881"/>
          <a:ext cx="7042069" cy="1097280"/>
        </p:xfrm>
        <a:graphic>
          <a:graphicData uri="http://schemas.openxmlformats.org/drawingml/2006/table">
            <a:tbl>
              <a:tblPr/>
              <a:tblGrid>
                <a:gridCol w="2042557">
                  <a:extLst>
                    <a:ext uri="{9D8B030D-6E8A-4147-A177-3AD203B41FA5}">
                      <a16:colId xmlns:a16="http://schemas.microsoft.com/office/drawing/2014/main" val="1109727019"/>
                    </a:ext>
                  </a:extLst>
                </a:gridCol>
                <a:gridCol w="4999512">
                  <a:extLst>
                    <a:ext uri="{9D8B030D-6E8A-4147-A177-3AD203B41FA5}">
                      <a16:colId xmlns:a16="http://schemas.microsoft.com/office/drawing/2014/main" val="6569540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Mechanism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224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IDS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Passive monitoring → alerts/logs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4806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IPS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Active response → blocks/mitigates threats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1209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38452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261" y="228601"/>
            <a:ext cx="11542817" cy="6528460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Architecture of an Intrusion Detection System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Data Collection Module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Captures audit logs, network packets, or system events.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Example sources in UNIX: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/var/log/auth.log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/var/log/syslog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Network interface traffic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tcpdump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libpcap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Pre-processing Module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Filters redundant data, normalizes input, and removes noise.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Detection Engine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Applies detection rules, signatures, or behavioral models.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Alert/Response Module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Generates alerts via email, syslog, or triggers a script to block traffic.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Database / Knowledge Base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Stores known attack patterns, normal profiles, and alert history.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F19D60-D47B-B441-558B-7A906F370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5315"/>
            <a:ext cx="21833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7F1353-8036-0D5D-D45C-4E8445C75803}"/>
              </a:ext>
            </a:extLst>
          </p:cNvPr>
          <p:cNvSpPr txBox="1"/>
          <p:nvPr/>
        </p:nvSpPr>
        <p:spPr>
          <a:xfrm>
            <a:off x="8253348" y="751341"/>
            <a:ext cx="3598223" cy="53553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+----------------------------------+</a:t>
            </a:r>
          </a:p>
          <a:p>
            <a:r>
              <a:rPr lang="en-IN" dirty="0"/>
              <a:t>|  Data Collection (Sensors)   |</a:t>
            </a:r>
          </a:p>
          <a:p>
            <a:r>
              <a:rPr lang="en-IN" dirty="0"/>
              <a:t>|  - Logs, Packets, </a:t>
            </a:r>
            <a:r>
              <a:rPr lang="en-IN" dirty="0" err="1"/>
              <a:t>Syscalls</a:t>
            </a:r>
            <a:r>
              <a:rPr lang="en-IN" dirty="0"/>
              <a:t>      |</a:t>
            </a:r>
          </a:p>
          <a:p>
            <a:r>
              <a:rPr lang="en-IN" dirty="0"/>
              <a:t>+-------------+------------ - -----+</a:t>
            </a:r>
          </a:p>
          <a:p>
            <a:r>
              <a:rPr lang="en-IN" dirty="0"/>
              <a:t>              ↓</a:t>
            </a:r>
          </a:p>
          <a:p>
            <a:r>
              <a:rPr lang="en-IN" dirty="0"/>
              <a:t>+-------------v--------------  --+</a:t>
            </a:r>
          </a:p>
          <a:p>
            <a:r>
              <a:rPr lang="en-IN" dirty="0"/>
              <a:t>|     </a:t>
            </a:r>
            <a:r>
              <a:rPr lang="en-IN" dirty="0" err="1"/>
              <a:t>Preprocessing</a:t>
            </a:r>
            <a:r>
              <a:rPr lang="en-IN" dirty="0"/>
              <a:t>/Parsing  - |</a:t>
            </a:r>
          </a:p>
          <a:p>
            <a:r>
              <a:rPr lang="en-IN" dirty="0"/>
              <a:t>+-------------+-----------------+</a:t>
            </a:r>
          </a:p>
          <a:p>
            <a:r>
              <a:rPr lang="en-IN" dirty="0"/>
              <a:t>              ↓</a:t>
            </a:r>
          </a:p>
          <a:p>
            <a:r>
              <a:rPr lang="en-IN" dirty="0"/>
              <a:t>+-------------v------------------+</a:t>
            </a:r>
          </a:p>
          <a:p>
            <a:r>
              <a:rPr lang="en-IN" dirty="0"/>
              <a:t>|    Detection Engine (IDS)     |</a:t>
            </a:r>
          </a:p>
          <a:p>
            <a:r>
              <a:rPr lang="en-IN" dirty="0"/>
              <a:t>|  - Signatures / Anomalies   |</a:t>
            </a:r>
          </a:p>
          <a:p>
            <a:r>
              <a:rPr lang="en-IN" dirty="0"/>
              <a:t>+-------------+------------------+</a:t>
            </a:r>
          </a:p>
          <a:p>
            <a:r>
              <a:rPr lang="en-IN" dirty="0"/>
              <a:t>              ↓</a:t>
            </a:r>
          </a:p>
          <a:p>
            <a:r>
              <a:rPr lang="en-IN" dirty="0"/>
              <a:t>+-------------v------------------+</a:t>
            </a:r>
          </a:p>
          <a:p>
            <a:r>
              <a:rPr lang="en-IN" dirty="0"/>
              <a:t>|  Alerting / Prevention (IPS)|</a:t>
            </a:r>
          </a:p>
          <a:p>
            <a:r>
              <a:rPr lang="en-IN" dirty="0"/>
              <a:t>|  - Logs, Alerts, Actions       |</a:t>
            </a:r>
          </a:p>
          <a:p>
            <a:r>
              <a:rPr lang="en-IN" dirty="0"/>
              <a:t>+--------------------------------+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0912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261" y="228601"/>
            <a:ext cx="11542817" cy="6528460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Types of IDS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IDS systems are categorized based on where they are deployed and how they detect attacks</a:t>
            </a: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Host-Based IDS (HIDS)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Definition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Monitors activities on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individual UNIX hosts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(servers or workstations).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Analyzes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system logs, configuration files, kernel events, and file integrity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Functionality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Detects changes to critical files (e.g., 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/passwd, 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/shadow).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Monitors user activity (logins, privilege escalation).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Checks for rootkit signatures.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Correlates log entries to detect suspicious sequences.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Core Components</a:t>
            </a:r>
            <a:endParaRPr lang="en-US" sz="1600" b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F19D60-D47B-B441-558B-7A906F370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5315"/>
            <a:ext cx="21833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32035D9-6D81-C6AF-FAAE-83F0AE338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0065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04DC992-6503-4C1F-A562-26F99DE730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020677"/>
              </p:ext>
            </p:extLst>
          </p:nvPr>
        </p:nvGraphicFramePr>
        <p:xfrm>
          <a:off x="184731" y="4471060"/>
          <a:ext cx="6721434" cy="1600200"/>
        </p:xfrm>
        <a:graphic>
          <a:graphicData uri="http://schemas.openxmlformats.org/drawingml/2006/table">
            <a:tbl>
              <a:tblPr/>
              <a:tblGrid>
                <a:gridCol w="2671948">
                  <a:extLst>
                    <a:ext uri="{9D8B030D-6E8A-4147-A177-3AD203B41FA5}">
                      <a16:colId xmlns:a16="http://schemas.microsoft.com/office/drawing/2014/main" val="1128618315"/>
                    </a:ext>
                  </a:extLst>
                </a:gridCol>
                <a:gridCol w="4049486">
                  <a:extLst>
                    <a:ext uri="{9D8B030D-6E8A-4147-A177-3AD203B41FA5}">
                      <a16:colId xmlns:a16="http://schemas.microsoft.com/office/drawing/2014/main" val="16464001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500" dirty="0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955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500" b="1"/>
                        <a:t>File Integrity Checker</a:t>
                      </a:r>
                      <a:endParaRPr lang="en-IN" sz="15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Detect unauthorized file 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774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500" b="1" dirty="0"/>
                        <a:t>Log Analyzer</a:t>
                      </a:r>
                      <a:endParaRPr lang="en-IN" sz="15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Parse </a:t>
                      </a:r>
                      <a:r>
                        <a:rPr lang="en-IN" sz="1500" dirty="0" err="1"/>
                        <a:t>syslogs</a:t>
                      </a:r>
                      <a:r>
                        <a:rPr lang="en-IN" sz="1500" dirty="0"/>
                        <a:t> for suspicious entries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16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500" b="1"/>
                        <a:t>Rootkit Detector</a:t>
                      </a:r>
                      <a:endParaRPr lang="en-IN" sz="15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Scan system binaries for modification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804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500" b="1" dirty="0"/>
                        <a:t>Policy Monitor</a:t>
                      </a:r>
                      <a:endParaRPr lang="en-IN" sz="15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Detect violation of system configuration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48349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5C88DE9-DA95-A782-018B-264B724D1A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233773"/>
              </p:ext>
            </p:extLst>
          </p:nvPr>
        </p:nvGraphicFramePr>
        <p:xfrm>
          <a:off x="6733308" y="3657598"/>
          <a:ext cx="5458691" cy="2971800"/>
        </p:xfrm>
        <a:graphic>
          <a:graphicData uri="http://schemas.openxmlformats.org/drawingml/2006/table">
            <a:tbl>
              <a:tblPr/>
              <a:tblGrid>
                <a:gridCol w="2257175">
                  <a:extLst>
                    <a:ext uri="{9D8B030D-6E8A-4147-A177-3AD203B41FA5}">
                      <a16:colId xmlns:a16="http://schemas.microsoft.com/office/drawing/2014/main" val="263240947"/>
                    </a:ext>
                  </a:extLst>
                </a:gridCol>
                <a:gridCol w="3201516">
                  <a:extLst>
                    <a:ext uri="{9D8B030D-6E8A-4147-A177-3AD203B41FA5}">
                      <a16:colId xmlns:a16="http://schemas.microsoft.com/office/drawing/2014/main" val="2816848905"/>
                    </a:ext>
                  </a:extLst>
                </a:gridCol>
              </a:tblGrid>
              <a:tr h="239311">
                <a:tc>
                  <a:txBody>
                    <a:bodyPr/>
                    <a:lstStyle/>
                    <a:p>
                      <a:r>
                        <a:rPr lang="en-IN" sz="1500" b="1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223338"/>
                  </a:ext>
                </a:extLst>
              </a:tr>
              <a:tr h="410247">
                <a:tc>
                  <a:txBody>
                    <a:bodyPr/>
                    <a:lstStyle/>
                    <a:p>
                      <a:r>
                        <a:rPr lang="en-IN" sz="1500" b="1" dirty="0"/>
                        <a:t>Tripwire</a:t>
                      </a:r>
                      <a:endParaRPr lang="en-IN" sz="15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File integrity monitoring using checksums (MD5/SHA1).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314416"/>
                  </a:ext>
                </a:extLst>
              </a:tr>
              <a:tr h="581183">
                <a:tc>
                  <a:txBody>
                    <a:bodyPr/>
                    <a:lstStyle/>
                    <a:p>
                      <a:r>
                        <a:rPr lang="en-US" sz="1500" b="1" dirty="0"/>
                        <a:t>AIDE (Advanced Intrusion Detection Environment)</a:t>
                      </a:r>
                      <a:endParaRPr lang="en-US" sz="15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Open-source alternative to Tripwire; database of file hashes.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08630"/>
                  </a:ext>
                </a:extLst>
              </a:tr>
              <a:tr h="581183">
                <a:tc>
                  <a:txBody>
                    <a:bodyPr/>
                    <a:lstStyle/>
                    <a:p>
                      <a:r>
                        <a:rPr lang="en-IN" sz="1500" b="1" dirty="0"/>
                        <a:t>OSSEC</a:t>
                      </a:r>
                      <a:endParaRPr lang="en-IN" sz="15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Multi-platform HIDS with log analysis, rootkit detection, and real-time alerts.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188600"/>
                  </a:ext>
                </a:extLst>
              </a:tr>
              <a:tr h="410247">
                <a:tc>
                  <a:txBody>
                    <a:bodyPr/>
                    <a:lstStyle/>
                    <a:p>
                      <a:r>
                        <a:rPr lang="en-IN" sz="1500" b="1" dirty="0" err="1"/>
                        <a:t>auditd</a:t>
                      </a:r>
                      <a:endParaRPr lang="en-IN" sz="15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Linux audit framework; tracks system calls and file accesses.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898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74034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261" y="228601"/>
            <a:ext cx="11542817" cy="6528460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Network-Based IDS (NIDS)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Definition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Monitors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network traffic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between systems.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Analyzes packets for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malicious patterns, anomalies, or policy violations.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Deployment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Deployed at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network gateways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switches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subnets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packet capture libraries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(e.g.,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libpcap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 to analyze data in real time.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Functions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Detects port scans, buffer overflow attempts, DoS, or malware traffic.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Decodes packet headers and payloads for suspicious content.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Can reassemble TCP streams for deep inspection.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F19D60-D47B-B441-558B-7A906F370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5315"/>
            <a:ext cx="21833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070D13F-B946-9119-1572-74E73C00FE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89258"/>
              </p:ext>
            </p:extLst>
          </p:nvPr>
        </p:nvGraphicFramePr>
        <p:xfrm>
          <a:off x="6780809" y="4298830"/>
          <a:ext cx="5213269" cy="2458231"/>
        </p:xfrm>
        <a:graphic>
          <a:graphicData uri="http://schemas.openxmlformats.org/drawingml/2006/table">
            <a:tbl>
              <a:tblPr/>
              <a:tblGrid>
                <a:gridCol w="1762817">
                  <a:extLst>
                    <a:ext uri="{9D8B030D-6E8A-4147-A177-3AD203B41FA5}">
                      <a16:colId xmlns:a16="http://schemas.microsoft.com/office/drawing/2014/main" val="1048132087"/>
                    </a:ext>
                  </a:extLst>
                </a:gridCol>
                <a:gridCol w="3450452">
                  <a:extLst>
                    <a:ext uri="{9D8B030D-6E8A-4147-A177-3AD203B41FA5}">
                      <a16:colId xmlns:a16="http://schemas.microsoft.com/office/drawing/2014/main" val="1315227311"/>
                    </a:ext>
                  </a:extLst>
                </a:gridCol>
              </a:tblGrid>
              <a:tr h="362920">
                <a:tc>
                  <a:txBody>
                    <a:bodyPr/>
                    <a:lstStyle/>
                    <a:p>
                      <a:r>
                        <a:rPr lang="en-IN" sz="1500" dirty="0"/>
                        <a:t>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472673"/>
                  </a:ext>
                </a:extLst>
              </a:tr>
              <a:tr h="362920">
                <a:tc>
                  <a:txBody>
                    <a:bodyPr/>
                    <a:lstStyle/>
                    <a:p>
                      <a:r>
                        <a:rPr lang="en-IN" sz="1500" b="1"/>
                        <a:t>Snort</a:t>
                      </a:r>
                      <a:endParaRPr lang="en-IN" sz="15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Signature-based NIDS; open source.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97312"/>
                  </a:ext>
                </a:extLst>
              </a:tr>
              <a:tr h="635111">
                <a:tc>
                  <a:txBody>
                    <a:bodyPr/>
                    <a:lstStyle/>
                    <a:p>
                      <a:r>
                        <a:rPr lang="en-IN" sz="1500" b="1"/>
                        <a:t>Suricata</a:t>
                      </a:r>
                      <a:endParaRPr lang="en-IN" sz="15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Multi-threaded hybrid IDS/IPS; supports file extraction, TLS/SSL analysis.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356736"/>
                  </a:ext>
                </a:extLst>
              </a:tr>
              <a:tr h="362920">
                <a:tc>
                  <a:txBody>
                    <a:bodyPr/>
                    <a:lstStyle/>
                    <a:p>
                      <a:r>
                        <a:rPr lang="en-IN" sz="1500" b="1"/>
                        <a:t>Zeek (formerly Bro)</a:t>
                      </a:r>
                      <a:endParaRPr lang="en-IN" sz="15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Behavioral network analysis framework.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568515"/>
                  </a:ext>
                </a:extLst>
              </a:tr>
              <a:tr h="476016">
                <a:tc>
                  <a:txBody>
                    <a:bodyPr/>
                    <a:lstStyle/>
                    <a:p>
                      <a:r>
                        <a:rPr lang="en-IN" sz="1500" b="1"/>
                        <a:t>Cisco IDS/IPS</a:t>
                      </a:r>
                      <a:endParaRPr lang="en-IN" sz="15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Commercial network intrusion detection solutions.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563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5451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261" y="228601"/>
            <a:ext cx="11542817" cy="652846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Detection Techniques</a:t>
            </a:r>
          </a:p>
          <a:p>
            <a:r>
              <a:rPr lang="en-US" dirty="0"/>
              <a:t>IDS can detect intrusions through </a:t>
            </a:r>
            <a:r>
              <a:rPr lang="en-US" b="1" dirty="0"/>
              <a:t>signatures</a:t>
            </a:r>
            <a:r>
              <a:rPr lang="en-US" dirty="0"/>
              <a:t>, </a:t>
            </a:r>
            <a:r>
              <a:rPr lang="en-US" b="1" dirty="0"/>
              <a:t>anomalies</a:t>
            </a:r>
            <a:r>
              <a:rPr lang="en-US" dirty="0"/>
              <a:t>, or both.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Signature-Based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Compares system/network activity against a </a:t>
            </a:r>
            <a:r>
              <a:rPr lang="en-US" b="1" dirty="0"/>
              <a:t>database of known attack patterns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signature defines a specific exploit (e.g., buffer overflow payload).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Detecting a known SQL injection: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content:"' OR 1=1--"; 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nocase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Anomaly-Based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Builds a </a:t>
            </a:r>
            <a:r>
              <a:rPr lang="en-IN" b="1" dirty="0"/>
              <a:t>statistical model of normal </a:t>
            </a:r>
            <a:r>
              <a:rPr lang="en-IN" b="1" dirty="0" err="1"/>
              <a:t>behavior</a:t>
            </a:r>
            <a:r>
              <a:rPr lang="en-IN" dirty="0"/>
              <a:t> (CPU usage, login times, network traffic).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Flags significant deviations as potential intrusions.</a:t>
            </a:r>
          </a:p>
          <a:p>
            <a:r>
              <a:rPr lang="en-IN" b="1" dirty="0"/>
              <a:t>Example: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              </a:t>
            </a:r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Normal traffic: 100 packets/sec from host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              Current: 5000 packets/sec → Possible DoS attack</a:t>
            </a:r>
          </a:p>
          <a:p>
            <a:pPr marL="0" indent="0">
              <a:buNone/>
            </a:pPr>
            <a:r>
              <a:rPr lang="en-IN" b="1" dirty="0"/>
              <a:t>Techniques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Statistical analysis (mean, standard deviation)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Machine learning (clustering, neural networks)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Threshold-based alerting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F19D60-D47B-B441-558B-7A906F370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5315"/>
            <a:ext cx="21833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530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756" y="354850"/>
            <a:ext cx="11542817" cy="6528460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Intrusion Prevention in UNIX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After detection, the next logical step is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prevention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— automatically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stopping attacks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before they cause harm.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Intrusion Prevention Systems (IPS)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are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active defense mechanisms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that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monitor, detect, and respond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to malicious activities in real-time.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IPS can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block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drop packets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reconfigure firewalls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to prevent future intrusions.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Think of IDS as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security camera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and IPS as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security guard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who takes action when something suspicious happens.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F19D60-D47B-B441-558B-7A906F370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5315"/>
            <a:ext cx="21833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6176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756" y="354850"/>
            <a:ext cx="11542817" cy="6528460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Intrusion Prevention in UNIX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F19D60-D47B-B441-558B-7A906F370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5315"/>
            <a:ext cx="21833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468CC46-D32E-34B4-3ED4-14BFDEBFE8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00458"/>
              </p:ext>
            </p:extLst>
          </p:nvPr>
        </p:nvGraphicFramePr>
        <p:xfrm>
          <a:off x="517525" y="1600197"/>
          <a:ext cx="11156949" cy="3108960"/>
        </p:xfrm>
        <a:graphic>
          <a:graphicData uri="http://schemas.openxmlformats.org/drawingml/2006/table">
            <a:tbl>
              <a:tblPr/>
              <a:tblGrid>
                <a:gridCol w="2641311">
                  <a:extLst>
                    <a:ext uri="{9D8B030D-6E8A-4147-A177-3AD203B41FA5}">
                      <a16:colId xmlns:a16="http://schemas.microsoft.com/office/drawing/2014/main" val="413675617"/>
                    </a:ext>
                  </a:extLst>
                </a:gridCol>
                <a:gridCol w="4191990">
                  <a:extLst>
                    <a:ext uri="{9D8B030D-6E8A-4147-A177-3AD203B41FA5}">
                      <a16:colId xmlns:a16="http://schemas.microsoft.com/office/drawing/2014/main" val="593394885"/>
                    </a:ext>
                  </a:extLst>
                </a:gridCol>
                <a:gridCol w="4323648">
                  <a:extLst>
                    <a:ext uri="{9D8B030D-6E8A-4147-A177-3AD203B41FA5}">
                      <a16:colId xmlns:a16="http://schemas.microsoft.com/office/drawing/2014/main" val="11377407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IDS (Intrusion Detection System)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IPS (Intrusion Prevention System)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940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Function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Monitors and detects attacks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Monitors, detects, </a:t>
                      </a:r>
                      <a:r>
                        <a:rPr lang="en-US" b="1"/>
                        <a:t>and blocks</a:t>
                      </a:r>
                      <a:r>
                        <a:rPr lang="en-US"/>
                        <a:t> attacks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095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Nature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Passive</a:t>
                      </a:r>
                      <a:r>
                        <a:rPr lang="en-IN"/>
                        <a:t> (alert only)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Active</a:t>
                      </a:r>
                      <a:r>
                        <a:rPr lang="en-IN" dirty="0"/>
                        <a:t> (takes preventive action)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991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Position in Network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Out-of-band (monitoring port)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Inline (between network and system)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43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Response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Sends alerts/logs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Drops malicious packets, resets connections, blocks IPs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560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Impact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Does not affect traffic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Can slightly affect performance (inline inspection)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824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Example Tools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Snort (IDS mode), OSSEC (HIDS)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Suricata, Snort-inline, Fail2ban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06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66262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756" y="354850"/>
            <a:ext cx="11542817" cy="6528460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Intrusion Prevention in UNIX Systems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IPS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+----------------------------------------------------+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|           Intrusion Prevention                      |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+ ----------------------------------------------------+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|  1. Data Collection (Traffic, Logs)            |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|  2. Detection Engine (Signatures/AI)      |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|  3. Decision Module (Allow/Block)         |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|  4. Response System (Firewall Rules)     |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+------------------------------------------------------+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/>
              <a:t>Workflow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Monitor:</a:t>
            </a:r>
            <a:r>
              <a:rPr lang="en-US" dirty="0"/>
              <a:t> Captures traffic or events in real time.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Analyze:</a:t>
            </a:r>
            <a:r>
              <a:rPr lang="en-US" dirty="0"/>
              <a:t> Applies detection rules or models.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Decide:</a:t>
            </a:r>
            <a:r>
              <a:rPr lang="en-US" dirty="0"/>
              <a:t> Determines if behavior is malicious.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Act:</a:t>
            </a:r>
            <a:r>
              <a:rPr lang="en-US" dirty="0"/>
              <a:t> Takes preventive measures instantly.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F19D60-D47B-B441-558B-7A906F370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5315"/>
            <a:ext cx="21833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2598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183" y="201881"/>
            <a:ext cx="10086111" cy="6483928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Real-Time Blocking Techniques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IPS can take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variouss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automated responses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depending on attack type and severity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Packet Dropping / Connection Reset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Drops suspicious packets before they reach the destination.</a:t>
            </a: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Used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inline IPS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systems (e.g., Snort-inline, Suricata).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Example: TCP reset for suspected SQL injection or buffer overflow packets.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Example in Snort-inline: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drop 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tcp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any 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any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-&gt; any 80 (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msg:"SQL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Injection"; content:"' OR 1=1--"; 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nocase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Immediately drops HTTP packets matching this pattern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Dynamic Firewall Rule Updates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IPS modifies </a:t>
            </a:r>
            <a:r>
              <a:rPr lang="en-US" b="1" dirty="0"/>
              <a:t>firewall configurations (iptables/pf)</a:t>
            </a:r>
            <a:r>
              <a:rPr lang="en-US" dirty="0"/>
              <a:t> dynamically to block attackers.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Often combined with log analysis tools like </a:t>
            </a:r>
            <a:r>
              <a:rPr lang="en-US" b="1" dirty="0"/>
              <a:t>Fail2ban</a:t>
            </a:r>
            <a:r>
              <a:rPr lang="en-US" dirty="0"/>
              <a:t> or </a:t>
            </a:r>
            <a:r>
              <a:rPr lang="en-US" b="1" dirty="0"/>
              <a:t>OSSEC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# Block IP after 5 failed SSH login attempts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iptables -A INPUT -s 192.168.1.50 -j DROP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F19D60-D47B-B441-558B-7A906F370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5315"/>
            <a:ext cx="21833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85774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183" y="201881"/>
            <a:ext cx="10086111" cy="6483928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Rate Limiting / Throttling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Limits the number of requests per second to prevent DoS/DDoS attacks.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Tools like iptables,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or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nftables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can be used.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Session Termination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IPS can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reset TCP sessions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when malicious activity is detected.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Prevents session hijacking or command injection mid-stream.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Example: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Snort/Suricata can send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TCP RST packets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to close a connection when an attack signature is matched.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Quarantine and Isolation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Moves compromised hosts into an isolated VLAN or subnet.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Used in enterprise or cloud-based IPS 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F19D60-D47B-B441-558B-7A906F370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5315"/>
            <a:ext cx="21833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C841629-4B1C-AAF2-47AE-EDF32F34F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0065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2718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183" y="201881"/>
            <a:ext cx="10086111" cy="64839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Combining IDS/IPS with Firewalls</a:t>
            </a:r>
          </a:p>
          <a:p>
            <a:r>
              <a:rPr lang="en-US" dirty="0"/>
              <a:t>In UNIX systems, </a:t>
            </a:r>
            <a:r>
              <a:rPr lang="en-US" b="1" dirty="0"/>
              <a:t>firewalls (iptables, </a:t>
            </a:r>
            <a:r>
              <a:rPr lang="en-US" b="1" dirty="0" err="1"/>
              <a:t>nftables</a:t>
            </a:r>
            <a:r>
              <a:rPr lang="en-US" b="1" dirty="0"/>
              <a:t>, pf)</a:t>
            </a:r>
            <a:r>
              <a:rPr lang="en-US" dirty="0"/>
              <a:t> work best when integrated with IDS/IPS to provide </a:t>
            </a:r>
            <a:r>
              <a:rPr lang="en-US" b="1" dirty="0"/>
              <a:t>layered security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Integration Techniques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a) IDS with Firewall (Passive Coordination)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IDS (e.g., Snort, OSSEC) sends alerts to firewall admin or SIEM.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Admin updates firewall rules manually or via </a:t>
            </a:r>
            <a:r>
              <a:rPr lang="en-US" dirty="0" err="1"/>
              <a:t>cron</a:t>
            </a:r>
            <a:r>
              <a:rPr lang="en-US" dirty="0"/>
              <a:t> automation.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b)IPS with Firewall (Active Coordination)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IPS automatically updates or triggers firewall rules.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Example: </a:t>
            </a:r>
            <a:r>
              <a:rPr lang="en-IN" b="1" dirty="0"/>
              <a:t>OSSEC + iptables</a:t>
            </a:r>
            <a:r>
              <a:rPr lang="en-IN" dirty="0"/>
              <a:t>, </a:t>
            </a:r>
            <a:r>
              <a:rPr lang="en-IN" b="1" dirty="0"/>
              <a:t>Snort-inline</a:t>
            </a:r>
            <a:r>
              <a:rPr lang="en-IN" dirty="0"/>
              <a:t>, </a:t>
            </a:r>
            <a:r>
              <a:rPr lang="en-IN" b="1" dirty="0"/>
              <a:t>Suricata IPS mode</a:t>
            </a:r>
            <a:r>
              <a:rPr lang="en-IN" dirty="0"/>
              <a:t>.</a:t>
            </a:r>
          </a:p>
          <a:p>
            <a:r>
              <a:rPr lang="en-IN" b="1" dirty="0"/>
              <a:t>Example Setup: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Snort detects SQL injection in HTTP traffic.</a:t>
            </a:r>
          </a:p>
          <a:p>
            <a:pPr>
              <a:buFont typeface="+mj-lt"/>
              <a:buAutoNum type="arabicPeriod"/>
            </a:pPr>
            <a:r>
              <a:rPr lang="en-IN" dirty="0"/>
              <a:t>IPS module triggers script:        </a:t>
            </a:r>
            <a:r>
              <a:rPr lang="en-US" dirty="0">
                <a:solidFill>
                  <a:srgbClr val="C00000"/>
                </a:solidFill>
              </a:rPr>
              <a:t>iptables -A INPUT -s 203.0.113.7 -j DROP</a:t>
            </a:r>
            <a:endParaRPr lang="en-IN" dirty="0">
              <a:solidFill>
                <a:srgbClr val="C00000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dirty="0"/>
              <a:t>Firewall blocks the attacker’s IP instantly.</a:t>
            </a:r>
            <a:endParaRPr lang="en-I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F19D60-D47B-B441-558B-7A906F370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5315"/>
            <a:ext cx="21833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C841629-4B1C-AAF2-47AE-EDF32F34F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0065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8572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183" y="201881"/>
            <a:ext cx="10086111" cy="64839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Combining IDS/IPS with Firewalls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Fail2ban Integration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Monitors UNIX logs (/var/log/auth.log, /var/log/apache2/error.log).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Uses regex to detect repeated failed attempts.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Temporarily bans offending IPs by updating iptables.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Configuration Example: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/fail2ban/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jail.local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sshd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enabled = true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port    = 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ssh</a:t>
            </a: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filter  = 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sshd</a:t>
            </a: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logpath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/var/log/auth.log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maxretry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bantime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600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                   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F19D60-D47B-B441-558B-7A906F370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5315"/>
            <a:ext cx="21833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C841629-4B1C-AAF2-47AE-EDF32F34F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0065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B86AD0-A28E-32AF-6F56-B04A617EE7E6}"/>
              </a:ext>
            </a:extLst>
          </p:cNvPr>
          <p:cNvSpPr txBox="1"/>
          <p:nvPr/>
        </p:nvSpPr>
        <p:spPr>
          <a:xfrm>
            <a:off x="4857008" y="4144489"/>
            <a:ext cx="68401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Benefits of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Combines </a:t>
            </a:r>
            <a:r>
              <a:rPr lang="en-IN" b="1" dirty="0"/>
              <a:t>static </a:t>
            </a:r>
            <a:r>
              <a:rPr lang="en-IN" b="1" dirty="0" err="1"/>
              <a:t>defense</a:t>
            </a:r>
            <a:r>
              <a:rPr lang="en-IN" b="1" dirty="0"/>
              <a:t> (firewall)</a:t>
            </a:r>
            <a:r>
              <a:rPr lang="en-IN" dirty="0"/>
              <a:t> with </a:t>
            </a:r>
            <a:r>
              <a:rPr lang="en-IN" b="1" dirty="0"/>
              <a:t>dynamic intelligence (IDS/IPS)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Reduces false positives — only blocks confirmed attacks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Provides multi-layered protection at </a:t>
            </a:r>
            <a:r>
              <a:rPr lang="en-IN" b="1" dirty="0"/>
              <a:t>network and host levels</a:t>
            </a:r>
            <a:r>
              <a:rPr lang="en-IN" dirty="0"/>
              <a:t> Enables </a:t>
            </a:r>
            <a:r>
              <a:rPr lang="en-IN" b="1" dirty="0"/>
              <a:t>automatic incident response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48412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178" y="228600"/>
            <a:ext cx="10086111" cy="64839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Malware Protection in UNIX Systems</a:t>
            </a: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1. Introduction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Even though UNIX and Linux systems are known for strong security,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they are not immune to malware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Malware targets UNIX servers, IoT devices, and web infrastructure due to their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network exposure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root privileges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Proper understanding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malware types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attack vectors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defense mechanisms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is essential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Malware Types and 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</a:rPr>
              <a:t>Behavior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9C1F613-6474-25A1-63BC-0451A8639C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692273"/>
              </p:ext>
            </p:extLst>
          </p:nvPr>
        </p:nvGraphicFramePr>
        <p:xfrm>
          <a:off x="645225" y="2648198"/>
          <a:ext cx="10359244" cy="3984122"/>
        </p:xfrm>
        <a:graphic>
          <a:graphicData uri="http://schemas.openxmlformats.org/drawingml/2006/table">
            <a:tbl>
              <a:tblPr/>
              <a:tblGrid>
                <a:gridCol w="2589811">
                  <a:extLst>
                    <a:ext uri="{9D8B030D-6E8A-4147-A177-3AD203B41FA5}">
                      <a16:colId xmlns:a16="http://schemas.microsoft.com/office/drawing/2014/main" val="1425603478"/>
                    </a:ext>
                  </a:extLst>
                </a:gridCol>
                <a:gridCol w="2589811">
                  <a:extLst>
                    <a:ext uri="{9D8B030D-6E8A-4147-A177-3AD203B41FA5}">
                      <a16:colId xmlns:a16="http://schemas.microsoft.com/office/drawing/2014/main" val="895934637"/>
                    </a:ext>
                  </a:extLst>
                </a:gridCol>
                <a:gridCol w="2589811">
                  <a:extLst>
                    <a:ext uri="{9D8B030D-6E8A-4147-A177-3AD203B41FA5}">
                      <a16:colId xmlns:a16="http://schemas.microsoft.com/office/drawing/2014/main" val="3096134918"/>
                    </a:ext>
                  </a:extLst>
                </a:gridCol>
                <a:gridCol w="2589811">
                  <a:extLst>
                    <a:ext uri="{9D8B030D-6E8A-4147-A177-3AD203B41FA5}">
                      <a16:colId xmlns:a16="http://schemas.microsoft.com/office/drawing/2014/main" val="3647976167"/>
                    </a:ext>
                  </a:extLst>
                </a:gridCol>
              </a:tblGrid>
              <a:tr h="234360">
                <a:tc>
                  <a:txBody>
                    <a:bodyPr/>
                    <a:lstStyle/>
                    <a:p>
                      <a:r>
                        <a:rPr lang="en-IN" sz="1200" b="1"/>
                        <a:t>Type</a:t>
                      </a:r>
                    </a:p>
                  </a:txBody>
                  <a:tcPr marL="48924" marR="48924" marT="24462" marB="24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Description</a:t>
                      </a:r>
                    </a:p>
                  </a:txBody>
                  <a:tcPr marL="48924" marR="48924" marT="24462" marB="24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 err="1"/>
                        <a:t>Behavior</a:t>
                      </a:r>
                      <a:r>
                        <a:rPr lang="en-IN" sz="1200" b="1" dirty="0"/>
                        <a:t> in UNIX</a:t>
                      </a:r>
                    </a:p>
                  </a:txBody>
                  <a:tcPr marL="48924" marR="48924" marT="24462" marB="24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Example</a:t>
                      </a:r>
                    </a:p>
                  </a:txBody>
                  <a:tcPr marL="48924" marR="48924" marT="24462" marB="24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635982"/>
                  </a:ext>
                </a:extLst>
              </a:tr>
              <a:tr h="656909"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Virus</a:t>
                      </a:r>
                    </a:p>
                  </a:txBody>
                  <a:tcPr marL="48924" marR="48924" marT="24462" marB="24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Malicious code that attaches to files or executables. Needs user action to spread.</a:t>
                      </a:r>
                    </a:p>
                  </a:txBody>
                  <a:tcPr marL="48924" marR="48924" marT="24462" marB="24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Infects ELF binaries or scripts.</a:t>
                      </a:r>
                    </a:p>
                  </a:txBody>
                  <a:tcPr marL="48924" marR="48924" marT="24462" marB="24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“Linux.RST”, “Staog” virus</a:t>
                      </a:r>
                    </a:p>
                  </a:txBody>
                  <a:tcPr marL="48924" marR="48924" marT="24462" marB="24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042998"/>
                  </a:ext>
                </a:extLst>
              </a:tr>
              <a:tr h="656909"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Worm</a:t>
                      </a:r>
                    </a:p>
                  </a:txBody>
                  <a:tcPr marL="48924" marR="48924" marT="24462" marB="24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Self-replicating malware that spreads over networks without user intervention.</a:t>
                      </a:r>
                    </a:p>
                  </a:txBody>
                  <a:tcPr marL="48924" marR="48924" marT="24462" marB="24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Exploits open SSH, RPC, or email servers.</a:t>
                      </a:r>
                    </a:p>
                  </a:txBody>
                  <a:tcPr marL="48924" marR="48924" marT="24462" marB="24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“Linux.Lion”, “Ramen”, “Morris Worm”</a:t>
                      </a:r>
                    </a:p>
                  </a:txBody>
                  <a:tcPr marL="48924" marR="48924" marT="24462" marB="24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979009"/>
                  </a:ext>
                </a:extLst>
              </a:tr>
              <a:tr h="505315">
                <a:tc>
                  <a:txBody>
                    <a:bodyPr/>
                    <a:lstStyle/>
                    <a:p>
                      <a:r>
                        <a:rPr lang="en-IN" sz="1200" b="1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Trojan Horse</a:t>
                      </a:r>
                    </a:p>
                  </a:txBody>
                  <a:tcPr marL="48924" marR="48924" marT="24462" marB="24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Malicious software disguised as legitimate software.</a:t>
                      </a:r>
                    </a:p>
                  </a:txBody>
                  <a:tcPr marL="48924" marR="48924" marT="24462" marB="24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Fake admin tools, cracked software, or update packages.</a:t>
                      </a:r>
                    </a:p>
                  </a:txBody>
                  <a:tcPr marL="48924" marR="48924" marT="24462" marB="24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“Linux.BackDoor.Fgt”, fake SSH trojans</a:t>
                      </a:r>
                    </a:p>
                  </a:txBody>
                  <a:tcPr marL="48924" marR="48924" marT="24462" marB="24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435549"/>
                  </a:ext>
                </a:extLst>
              </a:tr>
              <a:tr h="505315"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Rootkit</a:t>
                      </a:r>
                    </a:p>
                  </a:txBody>
                  <a:tcPr marL="48924" marR="48924" marT="24462" marB="24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Hidden tools that gain root access and conceal malicious activity.</a:t>
                      </a:r>
                    </a:p>
                  </a:txBody>
                  <a:tcPr marL="48924" marR="48924" marT="24462" marB="24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Modifies kernel modules, replaces binaries like ps, netstat.</a:t>
                      </a:r>
                    </a:p>
                  </a:txBody>
                  <a:tcPr marL="48924" marR="48924" marT="24462" marB="24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“Adore”, “Phalanx”, “Diamorphine”</a:t>
                      </a:r>
                    </a:p>
                  </a:txBody>
                  <a:tcPr marL="48924" marR="48924" marT="24462" marB="24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268585"/>
                  </a:ext>
                </a:extLst>
              </a:tr>
              <a:tr h="505315"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Ransomware</a:t>
                      </a:r>
                    </a:p>
                  </a:txBody>
                  <a:tcPr marL="48924" marR="48924" marT="24462" marB="24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Encrypts data and demands ransom for decryption.</a:t>
                      </a:r>
                    </a:p>
                  </a:txBody>
                  <a:tcPr marL="48924" marR="48924" marT="24462" marB="24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Still rare on UNIX but increasing; targets web servers.</a:t>
                      </a:r>
                    </a:p>
                  </a:txBody>
                  <a:tcPr marL="48924" marR="48924" marT="24462" marB="24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“Linux.Encoder”, “KillDisk”</a:t>
                      </a:r>
                    </a:p>
                  </a:txBody>
                  <a:tcPr marL="48924" marR="48924" marT="24462" marB="24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327479"/>
                  </a:ext>
                </a:extLst>
              </a:tr>
              <a:tr h="505315"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Botnet Malware</a:t>
                      </a:r>
                    </a:p>
                  </a:txBody>
                  <a:tcPr marL="48924" marR="48924" marT="24462" marB="24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Converts infected systems into bots for DDoS attacks.</a:t>
                      </a:r>
                    </a:p>
                  </a:txBody>
                  <a:tcPr marL="48924" marR="48924" marT="24462" marB="24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Infects servers via weak SSH passwords.</a:t>
                      </a:r>
                    </a:p>
                  </a:txBody>
                  <a:tcPr marL="48924" marR="48924" marT="24462" marB="24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“</a:t>
                      </a:r>
                      <a:r>
                        <a:rPr lang="en-IN" sz="1200" b="1" dirty="0" err="1"/>
                        <a:t>Mirai</a:t>
                      </a:r>
                      <a:r>
                        <a:rPr lang="en-IN" sz="1200" b="1" dirty="0"/>
                        <a:t>”, “</a:t>
                      </a:r>
                      <a:r>
                        <a:rPr lang="en-IN" sz="1200" b="1" dirty="0" err="1"/>
                        <a:t>Gafgyt</a:t>
                      </a:r>
                      <a:r>
                        <a:rPr lang="en-IN" sz="1200" b="1" dirty="0"/>
                        <a:t>”</a:t>
                      </a:r>
                    </a:p>
                  </a:txBody>
                  <a:tcPr marL="48924" marR="48924" marT="24462" marB="24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081667"/>
                  </a:ext>
                </a:extLst>
              </a:tr>
              <a:tr h="411768">
                <a:tc>
                  <a:txBody>
                    <a:bodyPr/>
                    <a:lstStyle/>
                    <a:p>
                      <a:r>
                        <a:rPr lang="en-IN" sz="1200" b="1" dirty="0" err="1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Cryptojacker</a:t>
                      </a:r>
                      <a:endParaRPr lang="en-IN" sz="1200" b="1" dirty="0">
                        <a:solidFill>
                          <a:schemeClr val="accent3">
                            <a:lumMod val="75000"/>
                          </a:schemeClr>
                        </a:solidFill>
                      </a:endParaRPr>
                    </a:p>
                  </a:txBody>
                  <a:tcPr marL="48924" marR="48924" marT="24462" marB="24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Uses system resources to mine cryptocurrency.</a:t>
                      </a:r>
                    </a:p>
                  </a:txBody>
                  <a:tcPr marL="48924" marR="48924" marT="24462" marB="24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Runs stealthily as daemon processes.</a:t>
                      </a:r>
                    </a:p>
                  </a:txBody>
                  <a:tcPr marL="48924" marR="48924" marT="24462" marB="24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“</a:t>
                      </a:r>
                      <a:r>
                        <a:rPr lang="en-IN" sz="1200" b="1" dirty="0" err="1"/>
                        <a:t>Kinsing</a:t>
                      </a:r>
                      <a:r>
                        <a:rPr lang="en-IN" sz="1200" b="1" dirty="0"/>
                        <a:t>”, “</a:t>
                      </a:r>
                      <a:r>
                        <a:rPr lang="en-IN" sz="1200" b="1" dirty="0" err="1"/>
                        <a:t>XMRig</a:t>
                      </a:r>
                      <a:r>
                        <a:rPr lang="en-IN" sz="1200" b="1" dirty="0"/>
                        <a:t> miner”</a:t>
                      </a:r>
                    </a:p>
                  </a:txBody>
                  <a:tcPr marL="48924" marR="48924" marT="24462" marB="24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396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99969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178" y="228600"/>
            <a:ext cx="10086111" cy="64839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Attack Vectors in UNIX</a:t>
            </a:r>
          </a:p>
          <a:p>
            <a:r>
              <a:rPr lang="en-US" dirty="0"/>
              <a:t>Malware typically exploits </a:t>
            </a:r>
            <a:r>
              <a:rPr lang="en-US" b="1" dirty="0"/>
              <a:t>vulnerabilities or misconfigurations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Common entry points include: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2461AE7-05C0-E895-DAFF-7BB584790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843507"/>
              </p:ext>
            </p:extLst>
          </p:nvPr>
        </p:nvGraphicFramePr>
        <p:xfrm>
          <a:off x="811997" y="2031835"/>
          <a:ext cx="9380472" cy="3767140"/>
        </p:xfrm>
        <a:graphic>
          <a:graphicData uri="http://schemas.openxmlformats.org/drawingml/2006/table">
            <a:tbl>
              <a:tblPr/>
              <a:tblGrid>
                <a:gridCol w="3126824">
                  <a:extLst>
                    <a:ext uri="{9D8B030D-6E8A-4147-A177-3AD203B41FA5}">
                      <a16:colId xmlns:a16="http://schemas.microsoft.com/office/drawing/2014/main" val="1596267302"/>
                    </a:ext>
                  </a:extLst>
                </a:gridCol>
                <a:gridCol w="3126824">
                  <a:extLst>
                    <a:ext uri="{9D8B030D-6E8A-4147-A177-3AD203B41FA5}">
                      <a16:colId xmlns:a16="http://schemas.microsoft.com/office/drawing/2014/main" val="746377977"/>
                    </a:ext>
                  </a:extLst>
                </a:gridCol>
                <a:gridCol w="3126824">
                  <a:extLst>
                    <a:ext uri="{9D8B030D-6E8A-4147-A177-3AD203B41FA5}">
                      <a16:colId xmlns:a16="http://schemas.microsoft.com/office/drawing/2014/main" val="335796947"/>
                    </a:ext>
                  </a:extLst>
                </a:gridCol>
              </a:tblGrid>
              <a:tr h="307521">
                <a:tc>
                  <a:txBody>
                    <a:bodyPr/>
                    <a:lstStyle/>
                    <a:p>
                      <a:r>
                        <a:rPr lang="en-IN" sz="1500"/>
                        <a:t>Vector</a:t>
                      </a:r>
                    </a:p>
                  </a:txBody>
                  <a:tcPr marL="76880" marR="76880" marT="38440" marB="38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Description</a:t>
                      </a:r>
                    </a:p>
                  </a:txBody>
                  <a:tcPr marL="76880" marR="76880" marT="38440" marB="38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Example</a:t>
                      </a:r>
                    </a:p>
                  </a:txBody>
                  <a:tcPr marL="76880" marR="76880" marT="38440" marB="38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985213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r>
                        <a:rPr lang="en-IN" sz="1500" b="1"/>
                        <a:t>Weak SSH Passwords</a:t>
                      </a:r>
                      <a:endParaRPr lang="en-IN" sz="1500"/>
                    </a:p>
                  </a:txBody>
                  <a:tcPr marL="76880" marR="76880" marT="38440" marB="38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500"/>
                        <a:t>Brute-force login attempts on port 22.</a:t>
                      </a:r>
                    </a:p>
                  </a:txBody>
                  <a:tcPr marL="76880" marR="76880" marT="38440" marB="38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SSH worms install rootkits post-login.</a:t>
                      </a:r>
                    </a:p>
                  </a:txBody>
                  <a:tcPr marL="76880" marR="76880" marT="38440" marB="38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448500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r>
                        <a:rPr lang="en-IN" sz="1500" b="1"/>
                        <a:t>Vulnerable Services</a:t>
                      </a:r>
                      <a:endParaRPr lang="en-IN" sz="1500"/>
                    </a:p>
                  </a:txBody>
                  <a:tcPr marL="76880" marR="76880" marT="38440" marB="38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Exploiting outdated daemons like Apache, vsftpd, or OpenSSL.</a:t>
                      </a:r>
                    </a:p>
                  </a:txBody>
                  <a:tcPr marL="76880" marR="76880" marT="38440" marB="38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Exploits such as Shellshock, Heartbleed.</a:t>
                      </a:r>
                    </a:p>
                  </a:txBody>
                  <a:tcPr marL="76880" marR="76880" marT="38440" marB="38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608792"/>
                  </a:ext>
                </a:extLst>
              </a:tr>
              <a:tr h="768804">
                <a:tc>
                  <a:txBody>
                    <a:bodyPr/>
                    <a:lstStyle/>
                    <a:p>
                      <a:r>
                        <a:rPr lang="en-IN" sz="1500" b="1" dirty="0"/>
                        <a:t>User Downloaded Scripts</a:t>
                      </a:r>
                      <a:endParaRPr lang="en-IN" sz="1500" dirty="0"/>
                    </a:p>
                  </a:txBody>
                  <a:tcPr marL="76880" marR="76880" marT="38440" marB="38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Unverified shell scripts or .deb packages from non-official sources.</a:t>
                      </a:r>
                    </a:p>
                  </a:txBody>
                  <a:tcPr marL="76880" marR="76880" marT="38440" marB="38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 err="1"/>
                        <a:t>Trojanized</a:t>
                      </a:r>
                      <a:r>
                        <a:rPr lang="en-IN" sz="1500" dirty="0"/>
                        <a:t> installer scripts.</a:t>
                      </a:r>
                    </a:p>
                  </a:txBody>
                  <a:tcPr marL="76880" marR="76880" marT="38440" marB="38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419147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r>
                        <a:rPr lang="en-IN" sz="1500" b="1"/>
                        <a:t>Misconfigured Permissions</a:t>
                      </a:r>
                      <a:endParaRPr lang="en-IN" sz="1500"/>
                    </a:p>
                  </a:txBody>
                  <a:tcPr marL="76880" marR="76880" marT="38440" marB="38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World-writable directories (/tmp), setuid misconfigurations.</a:t>
                      </a:r>
                    </a:p>
                  </a:txBody>
                  <a:tcPr marL="76880" marR="76880" marT="38440" marB="38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Privilege escalation or persistence.</a:t>
                      </a:r>
                    </a:p>
                  </a:txBody>
                  <a:tcPr marL="76880" marR="76880" marT="38440" marB="38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252222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r>
                        <a:rPr lang="en-IN" sz="1500" b="1"/>
                        <a:t>Email Attachments</a:t>
                      </a:r>
                      <a:endParaRPr lang="en-IN" sz="1500"/>
                    </a:p>
                  </a:txBody>
                  <a:tcPr marL="76880" marR="76880" marT="38440" marB="38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Targeted phishing for system admins.</a:t>
                      </a:r>
                    </a:p>
                  </a:txBody>
                  <a:tcPr marL="76880" marR="76880" marT="38440" marB="38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Embedded malicious macros or links.</a:t>
                      </a:r>
                    </a:p>
                  </a:txBody>
                  <a:tcPr marL="76880" marR="76880" marT="38440" marB="38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015947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r>
                        <a:rPr lang="en-IN" sz="1500" b="1" dirty="0"/>
                        <a:t>Compromised Cron Jobs</a:t>
                      </a:r>
                      <a:endParaRPr lang="en-IN" sz="1500" dirty="0"/>
                    </a:p>
                  </a:txBody>
                  <a:tcPr marL="76880" marR="76880" marT="38440" marB="38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Malware persists via scheduled execution.</a:t>
                      </a:r>
                    </a:p>
                  </a:txBody>
                  <a:tcPr marL="76880" marR="76880" marT="38440" marB="38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dirty="0"/>
                        <a:t>Modifies /</a:t>
                      </a:r>
                      <a:r>
                        <a:rPr lang="fr-FR" sz="1500" dirty="0" err="1"/>
                        <a:t>etc</a:t>
                      </a:r>
                      <a:r>
                        <a:rPr lang="fr-FR" sz="1500" dirty="0"/>
                        <a:t>/</a:t>
                      </a:r>
                      <a:r>
                        <a:rPr lang="fr-FR" sz="1500" dirty="0" err="1"/>
                        <a:t>cron.d</a:t>
                      </a:r>
                      <a:r>
                        <a:rPr lang="fr-FR" sz="1500" dirty="0"/>
                        <a:t>/ or </a:t>
                      </a:r>
                      <a:r>
                        <a:rPr lang="fr-FR" sz="1500" dirty="0" err="1"/>
                        <a:t>crontab</a:t>
                      </a:r>
                      <a:r>
                        <a:rPr lang="fr-FR" sz="1500" dirty="0"/>
                        <a:t>.</a:t>
                      </a:r>
                    </a:p>
                  </a:txBody>
                  <a:tcPr marL="76880" marR="76880" marT="38440" marB="38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191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53639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178" y="106878"/>
            <a:ext cx="10086111" cy="6605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Principle of Defense-in-Depth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Layered protection mechanisms: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Prevent: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Harden system configurations.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Detect: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Identify anomalies or file changes.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Respond: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Quarantine, isolate, or remove malware.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File Integrity Checking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Detects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unauthorized modifications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to critical system files or binaries.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Works by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storing cryptographic hashes (MD5/SHA256)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of clean files and later verifying them for changes.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BDE2DF7-5350-0645-B457-99B1BAF8C6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607145"/>
              </p:ext>
            </p:extLst>
          </p:nvPr>
        </p:nvGraphicFramePr>
        <p:xfrm>
          <a:off x="526225" y="4541979"/>
          <a:ext cx="10842420" cy="1889347"/>
        </p:xfrm>
        <a:graphic>
          <a:graphicData uri="http://schemas.openxmlformats.org/drawingml/2006/table">
            <a:tbl>
              <a:tblPr/>
              <a:tblGrid>
                <a:gridCol w="3206585">
                  <a:extLst>
                    <a:ext uri="{9D8B030D-6E8A-4147-A177-3AD203B41FA5}">
                      <a16:colId xmlns:a16="http://schemas.microsoft.com/office/drawing/2014/main" val="2471607870"/>
                    </a:ext>
                  </a:extLst>
                </a:gridCol>
                <a:gridCol w="3669475">
                  <a:extLst>
                    <a:ext uri="{9D8B030D-6E8A-4147-A177-3AD203B41FA5}">
                      <a16:colId xmlns:a16="http://schemas.microsoft.com/office/drawing/2014/main" val="1179751689"/>
                    </a:ext>
                  </a:extLst>
                </a:gridCol>
                <a:gridCol w="3966360">
                  <a:extLst>
                    <a:ext uri="{9D8B030D-6E8A-4147-A177-3AD203B41FA5}">
                      <a16:colId xmlns:a16="http://schemas.microsoft.com/office/drawing/2014/main" val="2133628968"/>
                    </a:ext>
                  </a:extLst>
                </a:gridCol>
              </a:tblGrid>
              <a:tr h="269730">
                <a:tc>
                  <a:txBody>
                    <a:bodyPr/>
                    <a:lstStyle/>
                    <a:p>
                      <a:r>
                        <a:rPr lang="en-IN" sz="1500" b="1"/>
                        <a:t>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b="1" dirty="0"/>
                        <a:t>Functionality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128642"/>
                  </a:ext>
                </a:extLst>
              </a:tr>
              <a:tr h="472027">
                <a:tc>
                  <a:txBody>
                    <a:bodyPr/>
                    <a:lstStyle/>
                    <a:p>
                      <a:r>
                        <a:rPr lang="en-IN" sz="1500" b="1" dirty="0"/>
                        <a:t>Tripwire</a:t>
                      </a:r>
                      <a:endParaRPr lang="en-IN" sz="15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Baseline file integrity checker.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Scans system files for unauthorized changes.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487696"/>
                  </a:ext>
                </a:extLst>
              </a:tr>
              <a:tr h="472027">
                <a:tc>
                  <a:txBody>
                    <a:bodyPr/>
                    <a:lstStyle/>
                    <a:p>
                      <a:r>
                        <a:rPr lang="en-US" sz="1500" b="1"/>
                        <a:t>AIDE (Advanced Intrusion Detection Environment)</a:t>
                      </a:r>
                      <a:endParaRPr lang="en-US" sz="15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Open-source alternative to Tripwire.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Monitors files/directories and reports checksum changes.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77263"/>
                  </a:ext>
                </a:extLst>
              </a:tr>
              <a:tr h="472027">
                <a:tc>
                  <a:txBody>
                    <a:bodyPr/>
                    <a:lstStyle/>
                    <a:p>
                      <a:r>
                        <a:rPr lang="en-IN" sz="1500" b="1" dirty="0"/>
                        <a:t>OSSEC</a:t>
                      </a:r>
                      <a:endParaRPr lang="en-IN" sz="15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Combines HIDS with file integrity monitoring.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Real-time monitoring and alerting.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954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28253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178" y="106878"/>
            <a:ext cx="10086111" cy="660565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Antivirus Tools in UNIX</a:t>
            </a:r>
          </a:p>
          <a:p>
            <a:r>
              <a:rPr lang="en-US" dirty="0"/>
              <a:t>Even though malware is less frequent, </a:t>
            </a:r>
            <a:r>
              <a:rPr lang="en-US" b="1" dirty="0"/>
              <a:t>antivirus tools</a:t>
            </a:r>
            <a:r>
              <a:rPr lang="en-US" dirty="0"/>
              <a:t> are important for </a:t>
            </a:r>
            <a:r>
              <a:rPr lang="en-US" b="1" dirty="0"/>
              <a:t>email servers, file servers</a:t>
            </a:r>
            <a:r>
              <a:rPr lang="en-US" dirty="0"/>
              <a:t>, and </a:t>
            </a:r>
            <a:r>
              <a:rPr lang="en-US" b="1" dirty="0"/>
              <a:t>cross-platform protection</a:t>
            </a:r>
            <a:r>
              <a:rPr lang="en-US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ClamAV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Description: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Open-source antivirus for UNIX/Linux.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Detects viruses, Trojans, and malware in files or emails.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Features: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Signature-based + heuristic scanning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Integrates with mail servers (Postfix, Exim)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Command-line and daemon modes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clamd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Example Commands</a:t>
            </a: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# Update signatures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freshclam</a:t>
            </a: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# Scan home directory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clamscan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-r /home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# Run in daemon mode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clamd</a:t>
            </a: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822E1A-BCD5-5457-9AE1-3FC1A96DA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2616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2220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178" y="106878"/>
            <a:ext cx="10086111" cy="6605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Sophos Antivirus for Linux</a:t>
            </a:r>
          </a:p>
          <a:p>
            <a:r>
              <a:rPr lang="en-US" b="1" dirty="0"/>
              <a:t>Features: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Real-time scanning (on-access)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Quarantine and cleanup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Enterprise-level management</a:t>
            </a:r>
          </a:p>
          <a:p>
            <a:r>
              <a:rPr lang="en-US" b="1" dirty="0"/>
              <a:t>Example Commands:</a:t>
            </a: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savscan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/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savdstatus</a:t>
            </a: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5097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178" y="106878"/>
            <a:ext cx="10086111" cy="6605650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Sandboxing and Isolation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Running applications in restricted environments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contain damage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if they are compromised.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“If malware runs inside a box, it can’t break your system.”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b="1" dirty="0"/>
              <a:t>Techniques in UNIX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2A1555-FB55-322A-B44D-A96ACE831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195631"/>
              </p:ext>
            </p:extLst>
          </p:nvPr>
        </p:nvGraphicFramePr>
        <p:xfrm>
          <a:off x="459178" y="2396142"/>
          <a:ext cx="11156949" cy="2926080"/>
        </p:xfrm>
        <a:graphic>
          <a:graphicData uri="http://schemas.openxmlformats.org/drawingml/2006/table">
            <a:tbl>
              <a:tblPr/>
              <a:tblGrid>
                <a:gridCol w="3718983">
                  <a:extLst>
                    <a:ext uri="{9D8B030D-6E8A-4147-A177-3AD203B41FA5}">
                      <a16:colId xmlns:a16="http://schemas.microsoft.com/office/drawing/2014/main" val="1132621825"/>
                    </a:ext>
                  </a:extLst>
                </a:gridCol>
                <a:gridCol w="3718983">
                  <a:extLst>
                    <a:ext uri="{9D8B030D-6E8A-4147-A177-3AD203B41FA5}">
                      <a16:colId xmlns:a16="http://schemas.microsoft.com/office/drawing/2014/main" val="2607359853"/>
                    </a:ext>
                  </a:extLst>
                </a:gridCol>
                <a:gridCol w="3718983">
                  <a:extLst>
                    <a:ext uri="{9D8B030D-6E8A-4147-A177-3AD203B41FA5}">
                      <a16:colId xmlns:a16="http://schemas.microsoft.com/office/drawing/2014/main" val="35026141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Technique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987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chroot Jail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Limits process to a specific directory subtree.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for FTP, web servers.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417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Containers (Docker, LXC)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Isolates applications using kernel namespaces.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Run web apps in separate containers.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547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SELinux / AppArmor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Mandatory access control frameworks.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Restrict file access per process.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975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Virtual Machines (KVM, QEMU)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Hardware-level isolation for untrusted apps.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Test unverified software safely.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0612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76460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CC1A-D9A1-C6D4-DCB3-DF3A3A64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178" y="106878"/>
            <a:ext cx="10086111" cy="6605650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Sandboxing and Isolation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sz="2000" b="1" dirty="0"/>
              <a:t>Example: chroot Jail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# Create a restricted directory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mkdir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/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srv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/chroot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debootstrap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stable /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srv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/chroot http://deb.debian.org/debian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# Enter jail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chroot /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srv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/chroot /bin/bash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070354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4448</TotalTime>
  <Words>5120</Words>
  <Application>Microsoft Office PowerPoint</Application>
  <PresentationFormat>Widescreen</PresentationFormat>
  <Paragraphs>1055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Arial</vt:lpstr>
      <vt:lpstr>Arial Unicode MS</vt:lpstr>
      <vt:lpstr>Bierstadt</vt:lpstr>
      <vt:lpstr>Calibri</vt:lpstr>
      <vt:lpstr>Google Sans</vt:lpstr>
      <vt:lpstr>Times New Roman</vt:lpstr>
      <vt:lpstr>GestaltVTI</vt:lpstr>
      <vt:lpstr>Unit-4  Security and Performance in UNIX &amp; Advanced OS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Unit-4  Security and Performance in UNIX &amp; Advanced OS </dc:title>
  <dc:creator>Mr.Arhath Kumar</dc:creator>
  <cp:lastModifiedBy>Mr.Arhath Kumar</cp:lastModifiedBy>
  <cp:revision>1</cp:revision>
  <dcterms:created xsi:type="dcterms:W3CDTF">2025-10-30T10:55:28Z</dcterms:created>
  <dcterms:modified xsi:type="dcterms:W3CDTF">2025-11-11T09:06:11Z</dcterms:modified>
</cp:coreProperties>
</file>