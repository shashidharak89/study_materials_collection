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sldSz cx="9144000" cy="5143500" type="screen16x9"/>
  <p:notesSz cx="6858000" cy="9144000"/>
  <p:embeddedFontLst>
    <p:embeddedFont>
      <p:font typeface="Roboto" panose="02000000000000000000" pitchFamily="2" charset="0"/>
      <p:regular r:id="rId28"/>
      <p:bold r:id="rId29"/>
      <p:italic r:id="rId30"/>
      <p:boldItalic r:id="rId3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35" roundtripDataSignature="AMtx7mieicb8V7lTzpCkWCkq5EFNFdDbr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754" y="7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7" Type="http://schemas.openxmlformats.org/officeDocument/2006/relationships/viewProps" Target="viewProps.xml"/><Relationship Id="rId40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1.fntdata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font" Target="fonts/font3.fntdata"/><Relationship Id="rId35" Type="http://customschemas.google.com/relationships/presentationmetadata" Target="metadata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ARUN KUMAR" userId="d4e6cd5aeb231ae6" providerId="LiveId" clId="{9F6E78E2-E4AC-4AD2-A602-E23D3A1839EE}"/>
    <pc:docChg chg="custSel modSld">
      <pc:chgData name="TARUN KUMAR" userId="d4e6cd5aeb231ae6" providerId="LiveId" clId="{9F6E78E2-E4AC-4AD2-A602-E23D3A1839EE}" dt="2025-11-18T13:01:27.191" v="19" actId="1076"/>
      <pc:docMkLst>
        <pc:docMk/>
      </pc:docMkLst>
      <pc:sldChg chg="modSp mod">
        <pc:chgData name="TARUN KUMAR" userId="d4e6cd5aeb231ae6" providerId="LiveId" clId="{9F6E78E2-E4AC-4AD2-A602-E23D3A1839EE}" dt="2025-11-18T13:01:27.191" v="19" actId="1076"/>
        <pc:sldMkLst>
          <pc:docMk/>
          <pc:sldMk cId="0" sldId="263"/>
        </pc:sldMkLst>
        <pc:spChg chg="mod">
          <ac:chgData name="TARUN KUMAR" userId="d4e6cd5aeb231ae6" providerId="LiveId" clId="{9F6E78E2-E4AC-4AD2-A602-E23D3A1839EE}" dt="2025-11-18T13:00:26.451" v="16" actId="27636"/>
          <ac:spMkLst>
            <pc:docMk/>
            <pc:sldMk cId="0" sldId="263"/>
            <ac:spMk id="131" creationId="{00000000-0000-0000-0000-000000000000}"/>
          </ac:spMkLst>
        </pc:spChg>
        <pc:picChg chg="mod">
          <ac:chgData name="TARUN KUMAR" userId="d4e6cd5aeb231ae6" providerId="LiveId" clId="{9F6E78E2-E4AC-4AD2-A602-E23D3A1839EE}" dt="2025-11-18T13:01:27.191" v="19" actId="1076"/>
          <ac:picMkLst>
            <pc:docMk/>
            <pc:sldMk cId="0" sldId="263"/>
            <ac:picMk id="132" creationId="{00000000-0000-0000-0000-000000000000}"/>
          </ac:picMkLst>
        </pc:picChg>
      </pc:sldChg>
      <pc:sldChg chg="delSp modSp mod">
        <pc:chgData name="TARUN KUMAR" userId="d4e6cd5aeb231ae6" providerId="LiveId" clId="{9F6E78E2-E4AC-4AD2-A602-E23D3A1839EE}" dt="2025-11-18T12:43:43.933" v="6" actId="1076"/>
        <pc:sldMkLst>
          <pc:docMk/>
          <pc:sldMk cId="0" sldId="272"/>
        </pc:sldMkLst>
        <pc:spChg chg="del">
          <ac:chgData name="TARUN KUMAR" userId="d4e6cd5aeb231ae6" providerId="LiveId" clId="{9F6E78E2-E4AC-4AD2-A602-E23D3A1839EE}" dt="2025-11-18T12:43:40.689" v="5" actId="478"/>
          <ac:spMkLst>
            <pc:docMk/>
            <pc:sldMk cId="0" sldId="272"/>
            <ac:spMk id="187" creationId="{00000000-0000-0000-0000-000000000000}"/>
          </ac:spMkLst>
        </pc:spChg>
        <pc:spChg chg="mod">
          <ac:chgData name="TARUN KUMAR" userId="d4e6cd5aeb231ae6" providerId="LiveId" clId="{9F6E78E2-E4AC-4AD2-A602-E23D3A1839EE}" dt="2025-11-18T12:43:43.933" v="6" actId="1076"/>
          <ac:spMkLst>
            <pc:docMk/>
            <pc:sldMk cId="0" sldId="272"/>
            <ac:spMk id="188" creationId="{00000000-0000-0000-0000-000000000000}"/>
          </ac:spMkLst>
        </pc:spChg>
      </pc:sldChg>
      <pc:sldChg chg="delSp modSp mod">
        <pc:chgData name="TARUN KUMAR" userId="d4e6cd5aeb231ae6" providerId="LiveId" clId="{9F6E78E2-E4AC-4AD2-A602-E23D3A1839EE}" dt="2025-11-18T12:41:28.505" v="3" actId="1076"/>
        <pc:sldMkLst>
          <pc:docMk/>
          <pc:sldMk cId="0" sldId="278"/>
        </pc:sldMkLst>
        <pc:spChg chg="del mod">
          <ac:chgData name="TARUN KUMAR" userId="d4e6cd5aeb231ae6" providerId="LiveId" clId="{9F6E78E2-E4AC-4AD2-A602-E23D3A1839EE}" dt="2025-11-18T12:41:24.984" v="2" actId="478"/>
          <ac:spMkLst>
            <pc:docMk/>
            <pc:sldMk cId="0" sldId="278"/>
            <ac:spMk id="228" creationId="{00000000-0000-0000-0000-000000000000}"/>
          </ac:spMkLst>
        </pc:spChg>
        <pc:spChg chg="mod">
          <ac:chgData name="TARUN KUMAR" userId="d4e6cd5aeb231ae6" providerId="LiveId" clId="{9F6E78E2-E4AC-4AD2-A602-E23D3A1839EE}" dt="2025-11-18T12:41:28.505" v="3" actId="1076"/>
          <ac:spMkLst>
            <pc:docMk/>
            <pc:sldMk cId="0" sldId="278"/>
            <ac:spMk id="229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3" name="Google Shape;83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9" name="Google Shape;8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6" name="Google Shape;96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2" name="Google Shape;102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8" name="Google Shape;108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5" name="Google Shape;115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2" name="Google Shape;122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8" name="Google Shape;128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5" name="Google Shape;135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1" name="Google Shape;141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a0ded15a47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a0ded15a47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4" name="Google Shape;154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0" name="Google Shape;160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6" name="Google Shape;166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2" name="Google Shape;172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9" name="Google Shape;179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5" name="Google Shape;185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1" name="Google Shape;191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8" name="Google Shape;198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5" name="Google Shape;205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2" name="Google Shape;212;p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9" name="Google Shape;219;p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6" name="Google Shape;226;p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2" name="Google Shape;232;p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8" name="Google Shape;238;p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dk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7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11" name="Google Shape;11;p27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" name="Google Shape;12;p27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;p27"/>
            <p:cNvSpPr/>
            <p:nvPr/>
          </p:nvSpPr>
          <p:spPr>
            <a:xfrm rot="10800000" flipH="1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" name="Google Shape;14;p27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" name="Google Shape;15;p27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6" name="Google Shape;16;p27"/>
          <p:cNvSpPr txBox="1">
            <a:spLocks noGrp="1"/>
          </p:cNvSpPr>
          <p:nvPr>
            <p:ph type="ctrTitle"/>
          </p:nvPr>
        </p:nvSpPr>
        <p:spPr>
          <a:xfrm>
            <a:off x="598100" y="1775222"/>
            <a:ext cx="8222100" cy="8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7" name="Google Shape;17;p27"/>
          <p:cNvSpPr txBox="1">
            <a:spLocks noGrp="1"/>
          </p:cNvSpPr>
          <p:nvPr>
            <p:ph type="subTitle" idx="1"/>
          </p:nvPr>
        </p:nvSpPr>
        <p:spPr>
          <a:xfrm>
            <a:off x="598088" y="2715913"/>
            <a:ext cx="8222100" cy="43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27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28"/>
          <p:cNvGrpSpPr/>
          <p:nvPr/>
        </p:nvGrpSpPr>
        <p:grpSpPr>
          <a:xfrm>
            <a:off x="0" y="3903669"/>
            <a:ext cx="9144000" cy="1239925"/>
            <a:chOff x="0" y="3903669"/>
            <a:chExt cx="9144000" cy="1239925"/>
          </a:xfrm>
        </p:grpSpPr>
        <p:sp>
          <p:nvSpPr>
            <p:cNvPr id="21" name="Google Shape;21;p28"/>
            <p:cNvSpPr/>
            <p:nvPr/>
          </p:nvSpPr>
          <p:spPr>
            <a:xfrm>
              <a:off x="8154895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" name="Google Shape;22;p28"/>
            <p:cNvSpPr/>
            <p:nvPr/>
          </p:nvSpPr>
          <p:spPr>
            <a:xfrm flipH="1">
              <a:off x="6181163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" name="Google Shape;23;p28"/>
            <p:cNvSpPr/>
            <p:nvPr/>
          </p:nvSpPr>
          <p:spPr>
            <a:xfrm>
              <a:off x="7170274" y="3903669"/>
              <a:ext cx="989100" cy="9879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" name="Google Shape;24;p28"/>
            <p:cNvSpPr/>
            <p:nvPr/>
          </p:nvSpPr>
          <p:spPr>
            <a:xfrm rot="10800000">
              <a:off x="8154757" y="3903682"/>
              <a:ext cx="989100" cy="9879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" name="Google Shape;25;p28"/>
            <p:cNvSpPr/>
            <p:nvPr/>
          </p:nvSpPr>
          <p:spPr>
            <a:xfrm>
              <a:off x="0" y="4891594"/>
              <a:ext cx="9144000" cy="2520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6" name="Google Shape;26;p28"/>
          <p:cNvSpPr txBox="1">
            <a:spLocks noGrp="1"/>
          </p:cNvSpPr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28"/>
          <p:cNvSpPr txBox="1">
            <a:spLocks noGrp="1"/>
          </p:cNvSpPr>
          <p:nvPr>
            <p:ph type="body" idx="1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8" name="Google Shape;28;p28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dk1"/>
        </a:solidFill>
        <a:effectLst/>
      </p:bgPr>
    </p:bg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Google Shape;30;p29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31" name="Google Shape;31;p29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" name="Google Shape;32;p29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" name="Google Shape;33;p29"/>
            <p:cNvSpPr/>
            <p:nvPr/>
          </p:nvSpPr>
          <p:spPr>
            <a:xfrm rot="10800000" flipH="1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" name="Google Shape;34;p29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" name="Google Shape;35;p29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6" name="Google Shape;36;p29"/>
          <p:cNvSpPr txBox="1">
            <a:spLocks noGrp="1"/>
          </p:cNvSpPr>
          <p:nvPr>
            <p:ph type="title"/>
          </p:nvPr>
        </p:nvSpPr>
        <p:spPr>
          <a:xfrm>
            <a:off x="598100" y="2152347"/>
            <a:ext cx="8222100" cy="8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7" name="Google Shape;37;p29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30"/>
          <p:cNvSpPr txBox="1">
            <a:spLocks noGrp="1"/>
          </p:cNvSpPr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30"/>
          <p:cNvSpPr txBox="1">
            <a:spLocks noGrp="1"/>
          </p:cNvSpPr>
          <p:nvPr>
            <p:ph type="body" idx="1"/>
          </p:nvPr>
        </p:nvSpPr>
        <p:spPr>
          <a:xfrm>
            <a:off x="311700" y="1229975"/>
            <a:ext cx="3999900" cy="333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1" name="Google Shape;41;p30"/>
          <p:cNvSpPr txBox="1">
            <a:spLocks noGrp="1"/>
          </p:cNvSpPr>
          <p:nvPr>
            <p:ph type="body" idx="2"/>
          </p:nvPr>
        </p:nvSpPr>
        <p:spPr>
          <a:xfrm>
            <a:off x="4832400" y="1229975"/>
            <a:ext cx="3999900" cy="333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2" name="Google Shape;42;p30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31"/>
          <p:cNvSpPr txBox="1">
            <a:spLocks noGrp="1"/>
          </p:cNvSpPr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31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32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8" name="Google Shape;48;p32"/>
          <p:cNvSpPr txBox="1">
            <a:spLocks noGrp="1"/>
          </p:cNvSpPr>
          <p:nvPr>
            <p:ph type="body" idx="1"/>
          </p:nvPr>
        </p:nvSpPr>
        <p:spPr>
          <a:xfrm>
            <a:off x="311700" y="1465804"/>
            <a:ext cx="2808000" cy="310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9" name="Google Shape;49;p32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accent4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Google Shape;51;p33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52" name="Google Shape;52;p33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" name="Google Shape;53;p33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" name="Google Shape;54;p33"/>
            <p:cNvSpPr/>
            <p:nvPr/>
          </p:nvSpPr>
          <p:spPr>
            <a:xfrm rot="10800000" flipH="1">
              <a:off x="7113588" y="107"/>
              <a:ext cx="1015200" cy="10152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" name="Google Shape;55;p33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" name="Google Shape;56;p33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7" name="Google Shape;57;p33"/>
          <p:cNvSpPr txBox="1">
            <a:spLocks noGrp="1"/>
          </p:cNvSpPr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58" name="Google Shape;58;p33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34"/>
          <p:cNvSpPr/>
          <p:nvPr/>
        </p:nvSpPr>
        <p:spPr>
          <a:xfrm>
            <a:off x="4572000" y="-1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1" name="Google Shape;61;p34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2" name="Google Shape;62;p34"/>
          <p:cNvSpPr txBox="1">
            <a:spLocks noGrp="1"/>
          </p:cNvSpPr>
          <p:nvPr>
            <p:ph type="title"/>
          </p:nvPr>
        </p:nvSpPr>
        <p:spPr>
          <a:xfrm>
            <a:off x="265500" y="1151100"/>
            <a:ext cx="4045200" cy="156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63" name="Google Shape;63;p34"/>
          <p:cNvSpPr txBox="1">
            <a:spLocks noGrp="1"/>
          </p:cNvSpPr>
          <p:nvPr>
            <p:ph type="subTitle" idx="1"/>
          </p:nvPr>
        </p:nvSpPr>
        <p:spPr>
          <a:xfrm>
            <a:off x="265500" y="2769001"/>
            <a:ext cx="4045200" cy="12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64" name="Google Shape;64;p34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65" name="Google Shape;65;p34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35"/>
          <p:cNvSpPr txBox="1">
            <a:spLocks noGrp="1"/>
          </p:cNvSpPr>
          <p:nvPr>
            <p:ph type="body" idx="1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68" name="Google Shape;68;p35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solidFill>
          <a:schemeClr val="dk1"/>
        </a:solidFill>
        <a:effectLst/>
      </p:bgPr>
    </p:bg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36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71" name="Google Shape;71;p36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" name="Google Shape;72;p36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" name="Google Shape;73;p36"/>
            <p:cNvSpPr/>
            <p:nvPr/>
          </p:nvSpPr>
          <p:spPr>
            <a:xfrm rot="10800000" flipH="1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" name="Google Shape;74;p36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" name="Google Shape;75;p36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6" name="Google Shape;76;p36"/>
          <p:cNvSpPr txBox="1">
            <a:spLocks noGrp="1"/>
          </p:cNvSpPr>
          <p:nvPr>
            <p:ph type="title" hasCustomPrompt="1"/>
          </p:nvPr>
        </p:nvSpPr>
        <p:spPr>
          <a:xfrm>
            <a:off x="311700" y="1256050"/>
            <a:ext cx="8520600" cy="203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7" name="Google Shape;77;p36"/>
          <p:cNvSpPr txBox="1">
            <a:spLocks noGrp="1"/>
          </p:cNvSpPr>
          <p:nvPr>
            <p:ph type="body" idx="1"/>
          </p:nvPr>
        </p:nvSpPr>
        <p:spPr>
          <a:xfrm>
            <a:off x="311700" y="3369225"/>
            <a:ext cx="8520600" cy="128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78" name="Google Shape;78;p36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37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geometric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6"/>
          <p:cNvSpPr txBox="1">
            <a:spLocks noGrp="1"/>
          </p:cNvSpPr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7" name="Google Shape;7;p26"/>
          <p:cNvSpPr txBox="1">
            <a:spLocks noGrp="1"/>
          </p:cNvSpPr>
          <p:nvPr>
            <p:ph type="body" idx="1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  <a:defRPr sz="18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 sz="14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 sz="14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 sz="14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 sz="14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 sz="14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 sz="14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 sz="14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 sz="14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" name="Google Shape;8;p26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Meta-ethics" TargetMode="External"/><Relationship Id="rId7" Type="http://schemas.openxmlformats.org/officeDocument/2006/relationships/hyperlink" Target="https://en.wikipedia.org/wiki/Obligation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en.wikipedia.org/wiki/Applied_ethics" TargetMode="External"/><Relationship Id="rId5" Type="http://schemas.openxmlformats.org/officeDocument/2006/relationships/hyperlink" Target="https://en.wikipedia.org/wiki/Normative_ethics" TargetMode="External"/><Relationship Id="rId4" Type="http://schemas.openxmlformats.org/officeDocument/2006/relationships/hyperlink" Target="https://en.wikipedia.org/wiki/Truth_value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"/>
          <p:cNvSpPr txBox="1">
            <a:spLocks noGrp="1"/>
          </p:cNvSpPr>
          <p:nvPr>
            <p:ph type="ctrTitle"/>
          </p:nvPr>
        </p:nvSpPr>
        <p:spPr>
          <a:xfrm>
            <a:off x="598100" y="1263827"/>
            <a:ext cx="8222100" cy="135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GB"/>
              <a:t>Ethics In Research &amp; Scientific Writing</a:t>
            </a:r>
            <a:endParaRPr/>
          </a:p>
        </p:txBody>
      </p:sp>
      <p:sp>
        <p:nvSpPr>
          <p:cNvPr id="86" name="Google Shape;86;p1"/>
          <p:cNvSpPr txBox="1">
            <a:spLocks noGrp="1"/>
          </p:cNvSpPr>
          <p:nvPr>
            <p:ph type="subTitle" idx="1"/>
          </p:nvPr>
        </p:nvSpPr>
        <p:spPr>
          <a:xfrm>
            <a:off x="598088" y="2715913"/>
            <a:ext cx="8222100" cy="43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8108"/>
              <a:buNone/>
            </a:pPr>
            <a:r>
              <a:rPr lang="en-GB"/>
              <a:t>Unit 4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"/>
          <p:cNvSpPr txBox="1">
            <a:spLocks noGrp="1"/>
          </p:cNvSpPr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GB"/>
              <a:t>Ethics</a:t>
            </a:r>
            <a:endParaRPr/>
          </a:p>
        </p:txBody>
      </p:sp>
      <p:sp>
        <p:nvSpPr>
          <p:cNvPr id="92" name="Google Shape;92;p2"/>
          <p:cNvSpPr txBox="1">
            <a:spLocks noGrp="1"/>
          </p:cNvSpPr>
          <p:nvPr>
            <p:ph type="body" idx="1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endParaRPr/>
          </a:p>
        </p:txBody>
      </p:sp>
      <p:pic>
        <p:nvPicPr>
          <p:cNvPr id="93" name="Google Shape;93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11700" y="0"/>
            <a:ext cx="8520599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"/>
          <p:cNvSpPr txBox="1">
            <a:spLocks noGrp="1"/>
          </p:cNvSpPr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GB"/>
              <a:t>Ethics</a:t>
            </a:r>
            <a:endParaRPr/>
          </a:p>
        </p:txBody>
      </p:sp>
      <p:sp>
        <p:nvSpPr>
          <p:cNvPr id="99" name="Google Shape;99;p3"/>
          <p:cNvSpPr txBox="1">
            <a:spLocks noGrp="1"/>
          </p:cNvSpPr>
          <p:nvPr>
            <p:ph type="body" idx="1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810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D5156"/>
              </a:buClr>
              <a:buSzPts val="2400"/>
              <a:buFont typeface="Arial"/>
              <a:buChar char="●"/>
            </a:pPr>
            <a:r>
              <a:rPr lang="en-GB" sz="2400">
                <a:solidFill>
                  <a:srgbClr val="4D5156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Ethics or moral philosophy is a branch of philosophy that "involves systematizing, defending, and recommending concepts of right and wrong behavior".</a:t>
            </a:r>
            <a:endParaRPr sz="24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"/>
          <p:cNvSpPr txBox="1">
            <a:spLocks noGrp="1"/>
          </p:cNvSpPr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GB"/>
              <a:t>Ethics contd…</a:t>
            </a:r>
            <a:endParaRPr/>
          </a:p>
        </p:txBody>
      </p:sp>
      <p:sp>
        <p:nvSpPr>
          <p:cNvPr id="105" name="Google Shape;105;p4"/>
          <p:cNvSpPr txBox="1">
            <a:spLocks noGrp="1"/>
          </p:cNvSpPr>
          <p:nvPr>
            <p:ph type="body" idx="1"/>
          </p:nvPr>
        </p:nvSpPr>
        <p:spPr>
          <a:xfrm>
            <a:off x="311700" y="942525"/>
            <a:ext cx="8520600" cy="36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l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</a:pPr>
            <a:r>
              <a:rPr lang="en-GB">
                <a:solidFill>
                  <a:srgbClr val="202122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Three major areas of study within ethics recognized today are:</a:t>
            </a:r>
            <a:endParaRPr baseline="30000">
              <a:solidFill>
                <a:srgbClr val="3366CC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GB">
                <a:solidFill>
                  <a:srgbClr val="3366CC"/>
                </a:solidFill>
                <a:highlight>
                  <a:srgbClr val="FFFFFF"/>
                </a:highlight>
                <a:uFill>
                  <a:noFill/>
                </a:uFill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Meta-ethics</a:t>
            </a:r>
            <a:r>
              <a:rPr lang="en-GB">
                <a:solidFill>
                  <a:srgbClr val="202122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: concerning the theoretical meaning and reference of moral propositions, and how their </a:t>
            </a:r>
            <a:r>
              <a:rPr lang="en-GB">
                <a:solidFill>
                  <a:srgbClr val="3366CC"/>
                </a:solidFill>
                <a:highlight>
                  <a:srgbClr val="FFFFFF"/>
                </a:highlight>
                <a:uFill>
                  <a:noFill/>
                </a:uFill>
                <a:latin typeface="Arial"/>
                <a:ea typeface="Arial"/>
                <a:cs typeface="Arial"/>
                <a:sym typeface="Arial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truth values</a:t>
            </a:r>
            <a:r>
              <a:rPr lang="en-GB">
                <a:solidFill>
                  <a:srgbClr val="202122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(if any) can be determined;</a:t>
            </a:r>
            <a:endParaRPr>
              <a:solidFill>
                <a:srgbClr val="202122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marL="914400" lvl="0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endParaRPr>
              <a:solidFill>
                <a:srgbClr val="202122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GB">
                <a:solidFill>
                  <a:srgbClr val="3366CC"/>
                </a:solidFill>
                <a:highlight>
                  <a:srgbClr val="FFFFFF"/>
                </a:highlight>
                <a:uFill>
                  <a:noFill/>
                </a:uFill>
                <a:latin typeface="Arial"/>
                <a:ea typeface="Arial"/>
                <a:cs typeface="Arial"/>
                <a:sym typeface="Arial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Normative ethics</a:t>
            </a:r>
            <a:r>
              <a:rPr lang="en-GB">
                <a:solidFill>
                  <a:srgbClr val="202122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: concerning the practical means of determining a moral course of action;</a:t>
            </a:r>
            <a:endParaRPr>
              <a:solidFill>
                <a:srgbClr val="202122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marL="914400" lvl="0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endParaRPr>
              <a:solidFill>
                <a:srgbClr val="202122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GB">
                <a:solidFill>
                  <a:srgbClr val="3366CC"/>
                </a:solidFill>
                <a:highlight>
                  <a:srgbClr val="FFFFFF"/>
                </a:highlight>
                <a:uFill>
                  <a:noFill/>
                </a:uFill>
                <a:latin typeface="Arial"/>
                <a:ea typeface="Arial"/>
                <a:cs typeface="Arial"/>
                <a:sym typeface="Arial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Applied ethics</a:t>
            </a:r>
            <a:r>
              <a:rPr lang="en-GB">
                <a:solidFill>
                  <a:srgbClr val="202122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: concerning what a person is </a:t>
            </a:r>
            <a:r>
              <a:rPr lang="en-GB">
                <a:solidFill>
                  <a:srgbClr val="3366CC"/>
                </a:solidFill>
                <a:highlight>
                  <a:srgbClr val="FFFFFF"/>
                </a:highlight>
                <a:uFill>
                  <a:noFill/>
                </a:uFill>
                <a:latin typeface="Arial"/>
                <a:ea typeface="Arial"/>
                <a:cs typeface="Arial"/>
                <a:sym typeface="Arial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obligated</a:t>
            </a:r>
            <a:r>
              <a:rPr lang="en-GB">
                <a:solidFill>
                  <a:srgbClr val="202122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(or permitted) to do in a specific situation or a particular domain of action.</a:t>
            </a:r>
            <a:endParaRPr>
              <a:solidFill>
                <a:srgbClr val="202122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600"/>
              </a:spcBef>
              <a:spcAft>
                <a:spcPts val="100"/>
              </a:spcAft>
              <a:buNone/>
            </a:pPr>
            <a:r>
              <a:rPr lang="en-GB">
                <a:solidFill>
                  <a:srgbClr val="202122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     Ex: War, Animal rights, Social Justice, Biomedical ethics.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5"/>
          <p:cNvSpPr txBox="1">
            <a:spLocks noGrp="1"/>
          </p:cNvSpPr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endParaRPr/>
          </a:p>
        </p:txBody>
      </p:sp>
      <p:sp>
        <p:nvSpPr>
          <p:cNvPr id="111" name="Google Shape;111;p5"/>
          <p:cNvSpPr txBox="1">
            <a:spLocks noGrp="1"/>
          </p:cNvSpPr>
          <p:nvPr>
            <p:ph type="body" idx="1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endParaRPr/>
          </a:p>
        </p:txBody>
      </p:sp>
      <p:pic>
        <p:nvPicPr>
          <p:cNvPr id="112" name="Google Shape;112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11700" y="0"/>
            <a:ext cx="8520600" cy="47799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6"/>
          <p:cNvSpPr txBox="1">
            <a:spLocks noGrp="1"/>
          </p:cNvSpPr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endParaRPr/>
          </a:p>
        </p:txBody>
      </p:sp>
      <p:sp>
        <p:nvSpPr>
          <p:cNvPr id="118" name="Google Shape;118;p6"/>
          <p:cNvSpPr txBox="1">
            <a:spLocks noGrp="1"/>
          </p:cNvSpPr>
          <p:nvPr>
            <p:ph type="body" idx="1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endParaRPr/>
          </a:p>
        </p:txBody>
      </p:sp>
      <p:pic>
        <p:nvPicPr>
          <p:cNvPr id="119" name="Google Shape;119;p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11700" y="0"/>
            <a:ext cx="85206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7"/>
          <p:cNvSpPr txBox="1">
            <a:spLocks noGrp="1"/>
          </p:cNvSpPr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GB"/>
              <a:t>Philosophy</a:t>
            </a:r>
            <a:endParaRPr/>
          </a:p>
        </p:txBody>
      </p:sp>
      <p:sp>
        <p:nvSpPr>
          <p:cNvPr id="125" name="Google Shape;125;p7"/>
          <p:cNvSpPr txBox="1">
            <a:spLocks noGrp="1"/>
          </p:cNvSpPr>
          <p:nvPr>
            <p:ph type="body" idx="1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683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 sz="2200" dirty="0"/>
              <a:t>The word philosophy is derived from the Greek words philia (love) and </a:t>
            </a:r>
            <a:r>
              <a:rPr lang="en-GB" sz="2200" dirty="0" err="1"/>
              <a:t>sophia</a:t>
            </a:r>
            <a:r>
              <a:rPr lang="en-GB" sz="2200" dirty="0"/>
              <a:t> (wisdom) and means the love of wisdom.</a:t>
            </a:r>
            <a:endParaRPr sz="2200" dirty="0"/>
          </a:p>
          <a:p>
            <a:pPr marL="457200" lvl="0" indent="-3683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 sz="2200" dirty="0"/>
              <a:t>Philosophy is the study of general and fundamental problems, such as those connected with existence, knowledge, values, reason, mind, and language.</a:t>
            </a:r>
            <a:endParaRPr sz="2200" dirty="0"/>
          </a:p>
          <a:p>
            <a:pPr marL="457200" lvl="0" indent="-3683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 sz="2200" dirty="0"/>
              <a:t> It is the rational attempt to formulate, understand, and answer fundamental questions.</a:t>
            </a:r>
            <a:endParaRPr sz="2200" dirty="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endParaRPr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9"/>
          <p:cNvSpPr txBox="1">
            <a:spLocks noGrp="1"/>
          </p:cNvSpPr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GB"/>
              <a:t>Moral Philosophy</a:t>
            </a:r>
            <a:endParaRPr/>
          </a:p>
        </p:txBody>
      </p:sp>
      <p:sp>
        <p:nvSpPr>
          <p:cNvPr id="131" name="Google Shape;131;p9"/>
          <p:cNvSpPr txBox="1">
            <a:spLocks noGrp="1"/>
          </p:cNvSpPr>
          <p:nvPr>
            <p:ph type="body" idx="1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 b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Moral Philosophy</a:t>
            </a:r>
            <a:r>
              <a:rPr lang="en-GB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also known as </a:t>
            </a:r>
            <a:r>
              <a:rPr lang="en-GB" b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Ethics</a:t>
            </a:r>
            <a:r>
              <a:rPr lang="en-GB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is the branch of philosophy that studies </a:t>
            </a:r>
            <a:r>
              <a:rPr lang="en-GB" b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right and wrong</a:t>
            </a:r>
            <a:r>
              <a:rPr lang="en-GB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GB" b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good and bad</a:t>
            </a:r>
            <a:r>
              <a:rPr lang="en-GB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and how people </a:t>
            </a:r>
            <a:r>
              <a:rPr lang="en-GB" b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ought to behave</a:t>
            </a:r>
            <a:r>
              <a:rPr lang="en-GB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 It tries to answer questions like:</a:t>
            </a:r>
            <a:endParaRPr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lang="en-GB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What makes an action morally right or wrong?</a:t>
            </a:r>
            <a:endParaRPr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lang="en-GB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Why should we be moral?</a:t>
            </a:r>
            <a:endParaRPr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lang="en-GB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How do we decide what is good for society or individuals?</a:t>
            </a:r>
            <a:endParaRPr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Ethics helps guide human behaviour in personal life, society, law, medicine, business, and many other areas.</a:t>
            </a:r>
            <a:endParaRPr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2000" dirty="0">
              <a:solidFill>
                <a:srgbClr val="2E2E2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2" name="Google Shape;132;p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46175" y="3997462"/>
            <a:ext cx="2083525" cy="9031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0"/>
          <p:cNvSpPr txBox="1">
            <a:spLocks noGrp="1"/>
          </p:cNvSpPr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GB"/>
              <a:t>Nature of moral judgments &amp; reactions</a:t>
            </a:r>
            <a:endParaRPr/>
          </a:p>
        </p:txBody>
      </p:sp>
      <p:sp>
        <p:nvSpPr>
          <p:cNvPr id="138" name="Google Shape;138;p10"/>
          <p:cNvSpPr txBox="1">
            <a:spLocks noGrp="1"/>
          </p:cNvSpPr>
          <p:nvPr>
            <p:ph type="body" idx="1"/>
          </p:nvPr>
        </p:nvSpPr>
        <p:spPr>
          <a:xfrm>
            <a:off x="311700" y="1229875"/>
            <a:ext cx="8520600" cy="344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683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 sz="2200"/>
              <a:t>A judgement of r</a:t>
            </a:r>
            <a:r>
              <a:rPr lang="en-GB" sz="2200">
                <a:solidFill>
                  <a:schemeClr val="accent3"/>
                </a:solidFill>
              </a:rPr>
              <a:t>ight and wrong, good and bad</a:t>
            </a:r>
            <a:r>
              <a:rPr lang="en-GB" sz="2200"/>
              <a:t> is commonly termed as moral judgement.</a:t>
            </a:r>
            <a:endParaRPr sz="2200"/>
          </a:p>
          <a:p>
            <a:pPr marL="457200" lvl="0" indent="-3683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 sz="2200"/>
              <a:t>It is judgement of an individual which he passes to estimate the rightness or wrongness of his action.</a:t>
            </a:r>
            <a:endParaRPr sz="2200"/>
          </a:p>
          <a:p>
            <a:pPr marL="457200" lvl="0" indent="-3683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 sz="2200"/>
              <a:t>The moral judgement is the judgement which deals with the moral value or quality of an action. </a:t>
            </a:r>
            <a:endParaRPr sz="2200"/>
          </a:p>
          <a:p>
            <a:pPr marL="457200" lvl="0" indent="-3683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 sz="2200"/>
              <a:t>It is a judgement of value and it evaluates the rightness or wrongness of our actions.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1"/>
          <p:cNvSpPr txBox="1">
            <a:spLocks noGrp="1"/>
          </p:cNvSpPr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GB"/>
              <a:t>Nature of moral judgments &amp; reactions</a:t>
            </a:r>
            <a:endParaRPr/>
          </a:p>
        </p:txBody>
      </p:sp>
      <p:sp>
        <p:nvSpPr>
          <p:cNvPr id="144" name="Google Shape;144;p11"/>
          <p:cNvSpPr txBox="1">
            <a:spLocks noGrp="1"/>
          </p:cNvSpPr>
          <p:nvPr>
            <p:ph type="body" idx="1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58"/>
              <a:t>When we analyse a moral judgement then we find that it contains:</a:t>
            </a:r>
            <a:endParaRPr sz="2058"/>
          </a:p>
          <a:p>
            <a:pPr marL="457200" lvl="0" indent="-359286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58"/>
              <a:buChar char="●"/>
            </a:pPr>
            <a:r>
              <a:rPr lang="en-GB" sz="2058"/>
              <a:t>a subject which will judge</a:t>
            </a:r>
            <a:endParaRPr sz="2058"/>
          </a:p>
          <a:p>
            <a:pPr marL="457200" lvl="0" indent="-359286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58"/>
              <a:buChar char="●"/>
            </a:pPr>
            <a:r>
              <a:rPr lang="en-GB" sz="2058"/>
              <a:t>an object whose action will be judged</a:t>
            </a:r>
            <a:endParaRPr sz="2058"/>
          </a:p>
          <a:p>
            <a:pPr marL="457200" lvl="0" indent="-359286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58"/>
              <a:buChar char="●"/>
            </a:pPr>
            <a:r>
              <a:rPr lang="en-GB" sz="2058"/>
              <a:t>a standard in conformity to which the action of the subject will be judged a power of judging the action as required. </a:t>
            </a:r>
            <a:endParaRPr sz="2058"/>
          </a:p>
          <a:p>
            <a:pPr marL="457200" lvl="0" indent="-359286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58"/>
              <a:buChar char="●"/>
            </a:pPr>
            <a:r>
              <a:rPr lang="en-GB" sz="2058"/>
              <a:t>Moral judgment is the judgment of moral quality of voluntary habitual actions.</a:t>
            </a:r>
            <a:endParaRPr sz="2058"/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a0ded15a47_0_2"/>
          <p:cNvSpPr txBox="1">
            <a:spLocks noGrp="1"/>
          </p:cNvSpPr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Example</a:t>
            </a:r>
            <a:endParaRPr/>
          </a:p>
        </p:txBody>
      </p:sp>
      <p:sp>
        <p:nvSpPr>
          <p:cNvPr id="150" name="Google Shape;150;g3a0ded15a47_0_2"/>
          <p:cNvSpPr txBox="1">
            <a:spLocks noGrp="1"/>
          </p:cNvSpPr>
          <p:nvPr>
            <p:ph type="body" idx="1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 doctor refuses a bribe and treats a poor patient for free.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51" name="Google Shape;151;g3a0ded15a47_0_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8575" y="1720475"/>
            <a:ext cx="6997851" cy="2639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2"/>
          <p:cNvSpPr txBox="1">
            <a:spLocks noGrp="1"/>
          </p:cNvSpPr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GB"/>
              <a:t>Nature of moral judgments</a:t>
            </a:r>
            <a:endParaRPr/>
          </a:p>
        </p:txBody>
      </p:sp>
      <p:sp>
        <p:nvSpPr>
          <p:cNvPr id="157" name="Google Shape;157;p12"/>
          <p:cNvSpPr txBox="1">
            <a:spLocks noGrp="1"/>
          </p:cNvSpPr>
          <p:nvPr>
            <p:ph type="body" idx="1"/>
          </p:nvPr>
        </p:nvSpPr>
        <p:spPr>
          <a:xfrm>
            <a:off x="311700" y="1017800"/>
            <a:ext cx="8520600" cy="355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683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 sz="2200"/>
              <a:t>Moral judgment is a judgment of values. It is distinct from the judgment of facts. </a:t>
            </a:r>
            <a:endParaRPr sz="2200"/>
          </a:p>
          <a:p>
            <a:pPr marL="457200" lvl="0" indent="-3683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 sz="2200"/>
              <a:t>A Judgment of value is a judgment of “what ought to be”. But a judgment of fact is a judgment of “what is”. </a:t>
            </a:r>
            <a:endParaRPr sz="2200"/>
          </a:p>
          <a:p>
            <a:pPr marL="457200" lvl="0" indent="-3683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 sz="2200"/>
              <a:t>Judgment of fact is a descriptive judgment, while moral judgment is an appreciative or critical judgment. So, moral judgment is a mental act of pronouncing a particular action to be right or wrong.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3"/>
          <p:cNvSpPr txBox="1">
            <a:spLocks noGrp="1"/>
          </p:cNvSpPr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GB"/>
              <a:t>Nature of moral judgments</a:t>
            </a:r>
            <a:endParaRPr/>
          </a:p>
        </p:txBody>
      </p:sp>
      <p:sp>
        <p:nvSpPr>
          <p:cNvPr id="163" name="Google Shape;163;p13"/>
          <p:cNvSpPr txBox="1">
            <a:spLocks noGrp="1"/>
          </p:cNvSpPr>
          <p:nvPr>
            <p:ph type="body" idx="1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According to Mackenzie, moral judgment is not merely to state the nature of some object, but to compare it with a standard and to pronounce it to be good or evil, right or wrong. So, it is normative.</a:t>
            </a:r>
            <a:endParaRPr/>
          </a:p>
          <a:p>
            <a:pPr marL="0" lvl="0" indent="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endParaRPr/>
          </a:p>
          <a:p>
            <a:pPr marL="457200" lvl="0" indent="-34290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Muirhead says that moral judgment is concerned with the judgment upon conduct, the judgment that such and such conduct is right and wrong. The judgment upon conduct has a judicial sense and the judgment of fact has logical sense. 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4"/>
          <p:cNvSpPr txBox="1">
            <a:spLocks noGrp="1"/>
          </p:cNvSpPr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GB"/>
              <a:t>Nature of moral judgments</a:t>
            </a:r>
            <a:endParaRPr/>
          </a:p>
        </p:txBody>
      </p:sp>
      <p:sp>
        <p:nvSpPr>
          <p:cNvPr id="169" name="Google Shape;169;p14"/>
          <p:cNvSpPr txBox="1">
            <a:spLocks noGrp="1"/>
          </p:cNvSpPr>
          <p:nvPr>
            <p:ph type="body" idx="1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But in the language of Bradley, ordinarily moral judgment is intuitive and immediate. Because, we intuitively brings an action under a moral rule recognized by the community and judge it to be right or wrong. 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5"/>
          <p:cNvSpPr txBox="1">
            <a:spLocks noGrp="1"/>
          </p:cNvSpPr>
          <p:nvPr>
            <p:ph type="title"/>
          </p:nvPr>
        </p:nvSpPr>
        <p:spPr>
          <a:xfrm>
            <a:off x="311700" y="410000"/>
            <a:ext cx="8520600" cy="84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GB"/>
              <a:t>Scientific Conduct Ethics with respect to Science &amp; Research</a:t>
            </a:r>
            <a:endParaRPr/>
          </a:p>
        </p:txBody>
      </p:sp>
      <p:sp>
        <p:nvSpPr>
          <p:cNvPr id="175" name="Google Shape;175;p15"/>
          <p:cNvSpPr txBox="1">
            <a:spLocks noGrp="1"/>
          </p:cNvSpPr>
          <p:nvPr>
            <p:ph type="body" idx="1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endParaRPr/>
          </a:p>
        </p:txBody>
      </p:sp>
      <p:pic>
        <p:nvPicPr>
          <p:cNvPr id="176" name="Google Shape;176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11700" y="1252550"/>
            <a:ext cx="6245600" cy="3339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6"/>
          <p:cNvSpPr txBox="1">
            <a:spLocks noGrp="1"/>
          </p:cNvSpPr>
          <p:nvPr>
            <p:ph type="title"/>
          </p:nvPr>
        </p:nvSpPr>
        <p:spPr>
          <a:xfrm>
            <a:off x="311700" y="410000"/>
            <a:ext cx="8520600" cy="8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GB"/>
              <a:t>Scientific Conduct Ethics with respect to Science &amp; Research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endParaRPr/>
          </a:p>
        </p:txBody>
      </p:sp>
      <p:sp>
        <p:nvSpPr>
          <p:cNvPr id="182" name="Google Shape;182;p16"/>
          <p:cNvSpPr txBox="1">
            <a:spLocks noGrp="1"/>
          </p:cNvSpPr>
          <p:nvPr>
            <p:ph type="body" idx="1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lnSpcReduction="20000"/>
          </a:bodyPr>
          <a:lstStyle/>
          <a:p>
            <a:pPr marL="457200" lvl="0" indent="-3429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There are  ten ethical principles common across scientific disciplines. They are;</a:t>
            </a:r>
            <a:endParaRPr/>
          </a:p>
          <a:p>
            <a:pPr marL="457200" lvl="0" indent="-3429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Duty to society; </a:t>
            </a:r>
            <a:endParaRPr/>
          </a:p>
          <a:p>
            <a:pPr marL="457200" lvl="0" indent="-3429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beneficence; </a:t>
            </a:r>
            <a:endParaRPr/>
          </a:p>
          <a:p>
            <a:pPr marL="457200" lvl="0" indent="-3429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conflict of interest;</a:t>
            </a:r>
            <a:endParaRPr/>
          </a:p>
          <a:p>
            <a:pPr marL="457200" lvl="0" indent="-3429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 informed consent; </a:t>
            </a:r>
            <a:endParaRPr/>
          </a:p>
          <a:p>
            <a:pPr marL="457200" lvl="0" indent="-3429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integrity; </a:t>
            </a:r>
            <a:endParaRPr/>
          </a:p>
          <a:p>
            <a:pPr marL="457200" lvl="0" indent="-3429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nondiscrimination;</a:t>
            </a:r>
            <a:endParaRPr/>
          </a:p>
          <a:p>
            <a:pPr marL="457200" lvl="0" indent="-3429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non exploitation; </a:t>
            </a:r>
            <a:endParaRPr/>
          </a:p>
          <a:p>
            <a:pPr marL="457200" lvl="0" indent="-3429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privacy and confidentiality; </a:t>
            </a:r>
            <a:endParaRPr/>
          </a:p>
          <a:p>
            <a:pPr marL="457200" lvl="0" indent="-3429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professional competence; and </a:t>
            </a:r>
            <a:endParaRPr/>
          </a:p>
          <a:p>
            <a:pPr marL="457200" lvl="0" indent="-3429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Professional discipline.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7"/>
          <p:cNvSpPr txBox="1">
            <a:spLocks noGrp="1"/>
          </p:cNvSpPr>
          <p:nvPr>
            <p:ph type="body" idx="1"/>
          </p:nvPr>
        </p:nvSpPr>
        <p:spPr>
          <a:xfrm>
            <a:off x="311700" y="367137"/>
            <a:ext cx="8520600" cy="415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556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GB" sz="2000" dirty="0"/>
              <a:t>Each ethical principle applies to the scientific inquiry, the conduct and </a:t>
            </a:r>
            <a:r>
              <a:rPr lang="en-GB" sz="2000" dirty="0" err="1"/>
              <a:t>behaviors</a:t>
            </a:r>
            <a:r>
              <a:rPr lang="en-GB" sz="2000" dirty="0"/>
              <a:t> of researchers, or the ethical treatment of research participants. ·</a:t>
            </a:r>
            <a:endParaRPr sz="2000" dirty="0"/>
          </a:p>
          <a:p>
            <a:pPr marL="457200" lvl="0" indent="-3556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GB" sz="2000" dirty="0"/>
              <a:t> Only one ethical principle — duty to society — applies to the scientific inquiry by asking whether the research benefits society. ·</a:t>
            </a:r>
            <a:endParaRPr sz="2000" dirty="0"/>
          </a:p>
          <a:p>
            <a:pPr marL="457200" lvl="0" indent="-3556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GB" sz="2000" dirty="0"/>
              <a:t> Variations in ethical principles across disciplines are usually due to whether the discipline includes human or animal subjects. ·</a:t>
            </a:r>
            <a:endParaRPr sz="2000" dirty="0"/>
          </a:p>
          <a:p>
            <a:pPr marL="457200" lvl="0" indent="-3556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GB" sz="2000" dirty="0"/>
              <a:t>Variations in ethical principles across countries are usually due to local laws, oversight, and enforcement; cultural norms; and whether research is conducted in the researchers' host country or a foreign country.</a:t>
            </a:r>
            <a:endParaRPr sz="2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8"/>
          <p:cNvSpPr txBox="1">
            <a:spLocks noGrp="1"/>
          </p:cNvSpPr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GB"/>
              <a:t>Intellectual honesty and research integrity</a:t>
            </a:r>
            <a:endParaRPr/>
          </a:p>
        </p:txBody>
      </p:sp>
      <p:sp>
        <p:nvSpPr>
          <p:cNvPr id="194" name="Google Shape;194;p18"/>
          <p:cNvSpPr txBox="1">
            <a:spLocks noGrp="1"/>
          </p:cNvSpPr>
          <p:nvPr>
            <p:ph type="body" idx="1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/>
              <a:t>Intellectual honesty is an applied method of problem solving characterized by an unbiased, honest attitude which can be demonstrated in a number of different ways including but not limited to: one’s personal beliefs do not interfere with the pursuit of truth; relevant facts and information are not purposefully omitted  even when such things may contradict one’s hypothesis.</a:t>
            </a:r>
            <a:endParaRPr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rPr lang="en-GB"/>
              <a:t>Facts are always presented in an unbiased manner.</a:t>
            </a:r>
            <a:endParaRPr/>
          </a:p>
        </p:txBody>
      </p:sp>
      <p:pic>
        <p:nvPicPr>
          <p:cNvPr id="195" name="Google Shape;195;p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09025" y="2825375"/>
            <a:ext cx="2955250" cy="1833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9"/>
          <p:cNvSpPr txBox="1">
            <a:spLocks noGrp="1"/>
          </p:cNvSpPr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endParaRPr/>
          </a:p>
        </p:txBody>
      </p:sp>
      <p:sp>
        <p:nvSpPr>
          <p:cNvPr id="201" name="Google Shape;201;p19"/>
          <p:cNvSpPr txBox="1">
            <a:spLocks noGrp="1"/>
          </p:cNvSpPr>
          <p:nvPr>
            <p:ph type="body" idx="1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endParaRPr/>
          </a:p>
        </p:txBody>
      </p:sp>
      <p:pic>
        <p:nvPicPr>
          <p:cNvPr id="202" name="Google Shape;202;p1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11700" y="410000"/>
            <a:ext cx="8453800" cy="4158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20"/>
          <p:cNvSpPr txBox="1">
            <a:spLocks noGrp="1"/>
          </p:cNvSpPr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endParaRPr/>
          </a:p>
        </p:txBody>
      </p:sp>
      <p:sp>
        <p:nvSpPr>
          <p:cNvPr id="208" name="Google Shape;208;p20"/>
          <p:cNvSpPr txBox="1">
            <a:spLocks noGrp="1"/>
          </p:cNvSpPr>
          <p:nvPr>
            <p:ph type="body" idx="1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endParaRPr/>
          </a:p>
        </p:txBody>
      </p:sp>
      <p:pic>
        <p:nvPicPr>
          <p:cNvPr id="209" name="Google Shape;209;p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11700" y="410000"/>
            <a:ext cx="7915200" cy="4158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21"/>
          <p:cNvSpPr txBox="1">
            <a:spLocks noGrp="1"/>
          </p:cNvSpPr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endParaRPr/>
          </a:p>
        </p:txBody>
      </p:sp>
      <p:sp>
        <p:nvSpPr>
          <p:cNvPr id="215" name="Google Shape;215;p21"/>
          <p:cNvSpPr txBox="1">
            <a:spLocks noGrp="1"/>
          </p:cNvSpPr>
          <p:nvPr>
            <p:ph type="body" idx="1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endParaRPr/>
          </a:p>
        </p:txBody>
      </p:sp>
      <p:pic>
        <p:nvPicPr>
          <p:cNvPr id="216" name="Google Shape;216;p2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11700" y="410000"/>
            <a:ext cx="7349700" cy="4158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22"/>
          <p:cNvSpPr txBox="1">
            <a:spLocks noGrp="1"/>
          </p:cNvSpPr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GB"/>
              <a:t>Research Integrity</a:t>
            </a:r>
            <a:endParaRPr/>
          </a:p>
        </p:txBody>
      </p:sp>
      <p:sp>
        <p:nvSpPr>
          <p:cNvPr id="222" name="Google Shape;222;p22"/>
          <p:cNvSpPr txBox="1">
            <a:spLocks noGrp="1"/>
          </p:cNvSpPr>
          <p:nvPr>
            <p:ph type="body" idx="1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endParaRPr/>
          </a:p>
        </p:txBody>
      </p:sp>
      <p:pic>
        <p:nvPicPr>
          <p:cNvPr id="223" name="Google Shape;223;p2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11700" y="1229875"/>
            <a:ext cx="7376625" cy="3339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23"/>
          <p:cNvSpPr txBox="1">
            <a:spLocks noGrp="1"/>
          </p:cNvSpPr>
          <p:nvPr>
            <p:ph type="body" idx="1"/>
          </p:nvPr>
        </p:nvSpPr>
        <p:spPr>
          <a:xfrm>
            <a:off x="311700" y="407231"/>
            <a:ext cx="8520600" cy="40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61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-GB" sz="2100" dirty="0"/>
              <a:t>For the individual scientist, integrity embodies above all a commitment to intellectual honesty and personal responsibility for one's actions and to a range of practices that characterize responsible research conduct. </a:t>
            </a:r>
            <a:endParaRPr sz="2100" dirty="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-GB" sz="2100" dirty="0"/>
              <a:t>These practices include:</a:t>
            </a:r>
            <a:endParaRPr sz="2100" dirty="0"/>
          </a:p>
          <a:p>
            <a:pPr marL="457200" lvl="0" indent="-3619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100"/>
              <a:buChar char="●"/>
            </a:pPr>
            <a:r>
              <a:rPr lang="en-GB" sz="2100" dirty="0"/>
              <a:t>intellectual honesty in proposing, performing, and reporting research; </a:t>
            </a:r>
            <a:endParaRPr sz="2100" dirty="0"/>
          </a:p>
          <a:p>
            <a:pPr marL="457200" lvl="0" indent="-361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-GB" sz="2100" dirty="0"/>
              <a:t>accuracy in representing contributions to research proposals and reports;</a:t>
            </a:r>
            <a:endParaRPr sz="2100" dirty="0"/>
          </a:p>
          <a:p>
            <a:pPr marL="457200" lvl="0" indent="-361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-GB" sz="2100" dirty="0"/>
              <a:t>fairness in peer review;</a:t>
            </a:r>
            <a:endParaRPr sz="2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24"/>
          <p:cNvSpPr txBox="1">
            <a:spLocks noGrp="1"/>
          </p:cNvSpPr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GB"/>
              <a:t>contd..</a:t>
            </a:r>
            <a:endParaRPr/>
          </a:p>
        </p:txBody>
      </p:sp>
      <p:sp>
        <p:nvSpPr>
          <p:cNvPr id="235" name="Google Shape;235;p24"/>
          <p:cNvSpPr txBox="1">
            <a:spLocks noGrp="1"/>
          </p:cNvSpPr>
          <p:nvPr>
            <p:ph type="body" idx="1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6195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-GB" sz="2100"/>
              <a:t>collegiality in scientific interactions, including communications and sharing of resources;</a:t>
            </a:r>
            <a:endParaRPr sz="2100"/>
          </a:p>
          <a:p>
            <a:pPr marL="457200" lvl="0" indent="-36195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-GB" sz="2100"/>
              <a:t>transparency in conflicts of interest or potential conflicts of interest;</a:t>
            </a:r>
            <a:endParaRPr sz="2100"/>
          </a:p>
          <a:p>
            <a:pPr marL="457200" lvl="0" indent="-36195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-GB" sz="2100"/>
              <a:t>protection of human subjects in the conduct of research;</a:t>
            </a:r>
            <a:endParaRPr sz="2100"/>
          </a:p>
          <a:p>
            <a:pPr marL="457200" lvl="0" indent="-36195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-GB" sz="2100"/>
              <a:t>humane care of animals in the conduct of research; and</a:t>
            </a:r>
            <a:endParaRPr sz="2100"/>
          </a:p>
          <a:p>
            <a:pPr marL="457200" lvl="0" indent="-36195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-GB" sz="2100"/>
              <a:t>adherence to the mutual responsibilities between investigators and their research teams.</a:t>
            </a:r>
            <a:endParaRPr sz="210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25"/>
          <p:cNvSpPr txBox="1">
            <a:spLocks noGrp="1"/>
          </p:cNvSpPr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endParaRPr/>
          </a:p>
        </p:txBody>
      </p:sp>
      <p:sp>
        <p:nvSpPr>
          <p:cNvPr id="241" name="Google Shape;241;p25"/>
          <p:cNvSpPr txBox="1">
            <a:spLocks noGrp="1"/>
          </p:cNvSpPr>
          <p:nvPr>
            <p:ph type="body" idx="1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endParaRPr/>
          </a:p>
        </p:txBody>
      </p:sp>
      <p:pic>
        <p:nvPicPr>
          <p:cNvPr id="242" name="Google Shape;242;p2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11700" y="410000"/>
            <a:ext cx="8520600" cy="4158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Geometric">
  <a:themeElements>
    <a:clrScheme name="Geometric">
      <a:dk1>
        <a:srgbClr val="2A3990"/>
      </a:dk1>
      <a:lt1>
        <a:srgbClr val="FFFFFF"/>
      </a:lt1>
      <a:dk2>
        <a:srgbClr val="434343"/>
      </a:dk2>
      <a:lt2>
        <a:srgbClr val="999999"/>
      </a:lt2>
      <a:accent1>
        <a:srgbClr val="212D74"/>
      </a:accent1>
      <a:accent2>
        <a:srgbClr val="3949AB"/>
      </a:accent2>
      <a:accent3>
        <a:srgbClr val="9C254D"/>
      </a:accent3>
      <a:accent4>
        <a:srgbClr val="D23369"/>
      </a:accent4>
      <a:accent5>
        <a:srgbClr val="F06292"/>
      </a:accent5>
      <a:accent6>
        <a:srgbClr val="7890CD"/>
      </a:accent6>
      <a:hlink>
        <a:srgbClr val="F06292"/>
      </a:hlink>
      <a:folHlink>
        <a:srgbClr val="F0629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1030</Words>
  <Application>Microsoft Office PowerPoint</Application>
  <PresentationFormat>On-screen Show (16:9)</PresentationFormat>
  <Paragraphs>78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Roboto</vt:lpstr>
      <vt:lpstr>Geometric</vt:lpstr>
      <vt:lpstr>Ethics In Research &amp; Scientific Writing</vt:lpstr>
      <vt:lpstr>Ethics</vt:lpstr>
      <vt:lpstr>Ethics</vt:lpstr>
      <vt:lpstr>Ethics contd…</vt:lpstr>
      <vt:lpstr>PowerPoint Presentation</vt:lpstr>
      <vt:lpstr>PowerPoint Presentation</vt:lpstr>
      <vt:lpstr>Philosophy</vt:lpstr>
      <vt:lpstr>Moral Philosophy</vt:lpstr>
      <vt:lpstr>Nature of moral judgments &amp; reactions</vt:lpstr>
      <vt:lpstr>Nature of moral judgments &amp; reactions</vt:lpstr>
      <vt:lpstr>Example</vt:lpstr>
      <vt:lpstr>Nature of moral judgments</vt:lpstr>
      <vt:lpstr>Nature of moral judgments</vt:lpstr>
      <vt:lpstr>Nature of moral judgments</vt:lpstr>
      <vt:lpstr>Scientific Conduct Ethics with respect to Science &amp; Research</vt:lpstr>
      <vt:lpstr>Scientific Conduct Ethics with respect to Science &amp; Research </vt:lpstr>
      <vt:lpstr>PowerPoint Presentation</vt:lpstr>
      <vt:lpstr>Intellectual honesty and research integrity</vt:lpstr>
      <vt:lpstr>PowerPoint Presentation</vt:lpstr>
      <vt:lpstr>PowerPoint Presentation</vt:lpstr>
      <vt:lpstr>PowerPoint Presentation</vt:lpstr>
      <vt:lpstr>Research Integrity</vt:lpstr>
      <vt:lpstr>PowerPoint Presentation</vt:lpstr>
      <vt:lpstr>contd..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TARUN KUMAR</cp:lastModifiedBy>
  <cp:revision>1</cp:revision>
  <dcterms:modified xsi:type="dcterms:W3CDTF">2025-11-18T13:01:39Z</dcterms:modified>
</cp:coreProperties>
</file>