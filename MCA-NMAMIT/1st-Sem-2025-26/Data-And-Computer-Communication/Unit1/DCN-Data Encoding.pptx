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63" r:id="rId3"/>
    <p:sldId id="321" r:id="rId4"/>
    <p:sldId id="265" r:id="rId5"/>
    <p:sldId id="267" r:id="rId6"/>
    <p:sldId id="268" r:id="rId7"/>
    <p:sldId id="269" r:id="rId8"/>
    <p:sldId id="271" r:id="rId9"/>
    <p:sldId id="273" r:id="rId10"/>
    <p:sldId id="275" r:id="rId11"/>
    <p:sldId id="277" r:id="rId12"/>
    <p:sldId id="325" r:id="rId13"/>
    <p:sldId id="278" r:id="rId14"/>
    <p:sldId id="280" r:id="rId15"/>
    <p:sldId id="282" r:id="rId16"/>
    <p:sldId id="322" r:id="rId17"/>
    <p:sldId id="284" r:id="rId18"/>
    <p:sldId id="286" r:id="rId19"/>
    <p:sldId id="324" r:id="rId20"/>
    <p:sldId id="326" r:id="rId21"/>
    <p:sldId id="288" r:id="rId22"/>
    <p:sldId id="290" r:id="rId23"/>
    <p:sldId id="291" r:id="rId24"/>
    <p:sldId id="294" r:id="rId25"/>
    <p:sldId id="323" r:id="rId26"/>
    <p:sldId id="297" r:id="rId27"/>
    <p:sldId id="298" r:id="rId28"/>
    <p:sldId id="300" r:id="rId29"/>
    <p:sldId id="320" r:id="rId30"/>
    <p:sldId id="303" r:id="rId31"/>
    <p:sldId id="305" r:id="rId32"/>
    <p:sldId id="307" r:id="rId33"/>
    <p:sldId id="308" r:id="rId34"/>
    <p:sldId id="310" r:id="rId35"/>
    <p:sldId id="312" r:id="rId36"/>
    <p:sldId id="313" r:id="rId37"/>
    <p:sldId id="327" r:id="rId38"/>
    <p:sldId id="315" r:id="rId39"/>
    <p:sldId id="316" r:id="rId40"/>
    <p:sldId id="318" r:id="rId41"/>
    <p:sldId id="319" r:id="rId4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5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690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70698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64436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69165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24025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209396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858550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281007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8177572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6.png"/><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807208"/>
          </a:xfrm>
          <a:prstGeom prst="rect">
            <a:avLst/>
          </a:prstGeom>
        </p:spPr>
      </p:pic>
      <p:sp>
        <p:nvSpPr>
          <p:cNvPr id="6" name="Text 0"/>
          <p:cNvSpPr/>
          <p:nvPr/>
        </p:nvSpPr>
        <p:spPr>
          <a:xfrm>
            <a:off x="393700" y="3419856"/>
            <a:ext cx="13459460" cy="2155444"/>
          </a:xfrm>
          <a:prstGeom prst="rect">
            <a:avLst/>
          </a:prstGeom>
          <a:noFill/>
          <a:ln/>
        </p:spPr>
        <p:txBody>
          <a:bodyPr wrap="square" lIns="0" tIns="0" rIns="0" bIns="0" rtlCol="0" anchor="ctr"/>
          <a:lstStyle/>
          <a:p>
            <a:pPr algn="ctr">
              <a:lnSpc>
                <a:spcPts val="7230"/>
              </a:lnSpc>
            </a:pPr>
            <a:r>
              <a:rPr lang="en-US" sz="4800" b="1" dirty="0">
                <a:solidFill>
                  <a:srgbClr val="011C2A"/>
                </a:solidFill>
                <a:latin typeface="Cambria" panose="02040503050406030204" pitchFamily="18" charset="0"/>
                <a:ea typeface="Cambria" panose="02040503050406030204" pitchFamily="18" charset="0"/>
                <a:cs typeface="思源黑体-思源黑体-Bold" pitchFamily="34" charset="-120"/>
              </a:rPr>
              <a:t>Data Communication and Networks</a:t>
            </a:r>
            <a:endParaRPr lang="en-US" sz="4800" b="1" dirty="0">
              <a:latin typeface="Cambria" panose="02040503050406030204" pitchFamily="18" charset="0"/>
              <a:ea typeface="Cambria" panose="02040503050406030204" pitchFamily="18" charset="0"/>
            </a:endParaRPr>
          </a:p>
          <a:p>
            <a:pPr marL="0" indent="0" algn="ctr">
              <a:lnSpc>
                <a:spcPts val="7230"/>
              </a:lnSpc>
              <a:buNone/>
            </a:pPr>
            <a:r>
              <a:rPr lang="en-US" sz="5780" dirty="0">
                <a:solidFill>
                  <a:srgbClr val="183983"/>
                </a:solidFill>
                <a:latin typeface="思源黑体-思源黑体-Medium" pitchFamily="34" charset="0"/>
                <a:ea typeface="思源黑体-思源黑体-Medium" pitchFamily="34" charset="-122"/>
                <a:cs typeface="思源黑体-思源黑体-Medium" pitchFamily="34" charset="-120"/>
              </a:rPr>
              <a:t> </a:t>
            </a:r>
            <a:r>
              <a:rPr lang="en-US" sz="4000" b="1" dirty="0">
                <a:solidFill>
                  <a:srgbClr val="183983"/>
                </a:solidFill>
                <a:latin typeface="Cambria" panose="02040503050406030204" pitchFamily="18" charset="0"/>
                <a:ea typeface="Cambria" panose="02040503050406030204" pitchFamily="18" charset="0"/>
                <a:cs typeface="思源黑体-思源黑体-Medium" pitchFamily="34" charset="-120"/>
              </a:rPr>
              <a:t>Data Encoding and Communication Interface</a:t>
            </a:r>
            <a:endParaRPr lang="en-US" sz="4000" b="1" dirty="0">
              <a:latin typeface="Cambria" panose="02040503050406030204" pitchFamily="18" charset="0"/>
              <a:ea typeface="Cambria" panose="02040503050406030204" pitchFamily="18" charset="0"/>
            </a:endParaRPr>
          </a:p>
        </p:txBody>
      </p:sp>
      <p:sp>
        <p:nvSpPr>
          <p:cNvPr id="8" name="Text 2"/>
          <p:cNvSpPr/>
          <p:nvPr/>
        </p:nvSpPr>
        <p:spPr>
          <a:xfrm>
            <a:off x="1042416" y="6574536"/>
            <a:ext cx="5916168" cy="338328"/>
          </a:xfrm>
          <a:prstGeom prst="rect">
            <a:avLst/>
          </a:prstGeom>
          <a:noFill/>
          <a:ln/>
        </p:spPr>
        <p:txBody>
          <a:bodyPr wrap="none" lIns="0" tIns="0" rIns="0" bIns="0" rtlCol="0" anchor="ctr"/>
          <a:lstStyle/>
          <a:p>
            <a:pPr marL="0" indent="0" algn="ctr">
              <a:lnSpc>
                <a:spcPts val="2620"/>
              </a:lnSpc>
              <a:buNone/>
            </a:pPr>
            <a:endParaRPr lang="en-US" sz="2090" dirty="0"/>
          </a:p>
        </p:txBody>
      </p:sp>
      <p:sp>
        <p:nvSpPr>
          <p:cNvPr id="10" name="TextBox 9">
            <a:extLst>
              <a:ext uri="{FF2B5EF4-FFF2-40B4-BE49-F238E27FC236}">
                <a16:creationId xmlns:a16="http://schemas.microsoft.com/office/drawing/2014/main" id="{6ADF49F4-2D2E-4232-8585-471EA8DC3208}"/>
              </a:ext>
            </a:extLst>
          </p:cNvPr>
          <p:cNvSpPr txBox="1"/>
          <p:nvPr/>
        </p:nvSpPr>
        <p:spPr>
          <a:xfrm>
            <a:off x="1301750" y="5838736"/>
            <a:ext cx="11004550" cy="1815882"/>
          </a:xfrm>
          <a:prstGeom prst="rect">
            <a:avLst/>
          </a:prstGeom>
          <a:noFill/>
        </p:spPr>
        <p:txBody>
          <a:bodyPr wrap="square">
            <a:spAutoFit/>
          </a:bodyPr>
          <a:lstStyle/>
          <a:p>
            <a:pPr marL="0" indent="0" algn="l">
              <a:buNone/>
            </a:pP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Dr. </a:t>
            </a:r>
            <a:r>
              <a:rPr lang="en-US" sz="2800" b="1" dirty="0" err="1">
                <a:solidFill>
                  <a:srgbClr val="011C2A"/>
                </a:solidFill>
                <a:latin typeface="Calibri" panose="020F0502020204030204" pitchFamily="34" charset="0"/>
                <a:ea typeface="思源黑体-思源黑体-Bold" pitchFamily="34" charset="-122"/>
                <a:cs typeface="Calibri" panose="020F0502020204030204" pitchFamily="34" charset="0"/>
              </a:rPr>
              <a:t>Spoorthi</a:t>
            </a: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 P Shetty</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Associate Professor</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Department of MCA</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NMAM Institute of Technology, </a:t>
            </a:r>
            <a:r>
              <a:rPr lang="en-US" sz="2800" dirty="0" err="1">
                <a:solidFill>
                  <a:srgbClr val="03141C"/>
                </a:solidFill>
                <a:latin typeface="Calibri" panose="020F0502020204030204" pitchFamily="34" charset="0"/>
                <a:ea typeface="Arial-Regular" pitchFamily="34" charset="-122"/>
                <a:cs typeface="Calibri" panose="020F0502020204030204" pitchFamily="34" charset="0"/>
              </a:rPr>
              <a:t>Nitte</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(Deemed to be University)</a:t>
            </a:r>
            <a:endParaRPr lang="en-US" sz="28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E5DE15F6-4032-4442-B558-269E2ECA68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500" y="0"/>
            <a:ext cx="14630400" cy="8238744"/>
          </a:xfrm>
          <a:prstGeom prst="rect">
            <a:avLst/>
          </a:prstGeom>
        </p:spPr>
      </p:pic>
      <p:sp>
        <p:nvSpPr>
          <p:cNvPr id="4" name="Text 0"/>
          <p:cNvSpPr/>
          <p:nvPr/>
        </p:nvSpPr>
        <p:spPr>
          <a:xfrm>
            <a:off x="162306" y="273304"/>
            <a:ext cx="9578594" cy="667512"/>
          </a:xfrm>
          <a:prstGeom prst="rect">
            <a:avLst/>
          </a:prstGeom>
          <a:noFill/>
          <a:ln/>
        </p:spPr>
        <p:txBody>
          <a:bodyPr wrap="none" lIns="0" tIns="0" rIns="0" bIns="0" rtlCol="0" anchor="ctr"/>
          <a:lstStyle/>
          <a:p>
            <a:pPr marL="0" indent="0" algn="l">
              <a:lnSpc>
                <a:spcPts val="5240"/>
              </a:lnSpc>
              <a:buNone/>
            </a:pPr>
            <a:endParaRPr lang="en-US" sz="4190" dirty="0">
              <a:latin typeface="Cambria" panose="02040503050406030204" pitchFamily="18" charset="0"/>
              <a:ea typeface="Cambria" panose="02040503050406030204" pitchFamily="18" charset="0"/>
            </a:endParaRPr>
          </a:p>
        </p:txBody>
      </p:sp>
      <p:sp>
        <p:nvSpPr>
          <p:cNvPr id="5" name="Text 0">
            <a:extLst>
              <a:ext uri="{FF2B5EF4-FFF2-40B4-BE49-F238E27FC236}">
                <a16:creationId xmlns:a16="http://schemas.microsoft.com/office/drawing/2014/main" id="{DFD4A3DB-0450-4864-9B99-7379FE3965BA}"/>
              </a:ext>
            </a:extLst>
          </p:cNvPr>
          <p:cNvSpPr/>
          <p:nvPr/>
        </p:nvSpPr>
        <p:spPr>
          <a:xfrm>
            <a:off x="7145528" y="4180840"/>
            <a:ext cx="5917329" cy="201168"/>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Signals which are continuous varying based on time.</a:t>
            </a:r>
            <a:endParaRPr lang="en-US" sz="2000" dirty="0">
              <a:latin typeface="+mj-lt"/>
            </a:endParaRPr>
          </a:p>
        </p:txBody>
      </p:sp>
      <p:sp>
        <p:nvSpPr>
          <p:cNvPr id="6" name="Text 1">
            <a:extLst>
              <a:ext uri="{FF2B5EF4-FFF2-40B4-BE49-F238E27FC236}">
                <a16:creationId xmlns:a16="http://schemas.microsoft.com/office/drawing/2014/main" id="{B75551BC-0E4D-4334-B3F6-FF6EB7C0D4B2}"/>
              </a:ext>
            </a:extLst>
          </p:cNvPr>
          <p:cNvSpPr/>
          <p:nvPr/>
        </p:nvSpPr>
        <p:spPr>
          <a:xfrm>
            <a:off x="-43688" y="41503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Signal</a:t>
            </a:r>
            <a:r>
              <a:rPr lang="en-US" sz="4190" dirty="0">
                <a:solidFill>
                  <a:srgbClr val="183983"/>
                </a:solidFill>
                <a:latin typeface="思源黑体-思源黑体-Medium" pitchFamily="34" charset="0"/>
                <a:ea typeface="思源黑体-思源黑体-Medium" pitchFamily="34" charset="-122"/>
                <a:cs typeface="思源黑体-思源黑体-Medium" pitchFamily="34" charset="-120"/>
              </a:rPr>
              <a:t> Representation</a:t>
            </a:r>
            <a:endParaRPr lang="en-US" sz="4190" dirty="0"/>
          </a:p>
        </p:txBody>
      </p:sp>
      <p:sp>
        <p:nvSpPr>
          <p:cNvPr id="7" name="Text 2">
            <a:extLst>
              <a:ext uri="{FF2B5EF4-FFF2-40B4-BE49-F238E27FC236}">
                <a16:creationId xmlns:a16="http://schemas.microsoft.com/office/drawing/2014/main" id="{6934027C-CA39-4DFD-A1F8-F89702BA4D17}"/>
              </a:ext>
            </a:extLst>
          </p:cNvPr>
          <p:cNvSpPr/>
          <p:nvPr/>
        </p:nvSpPr>
        <p:spPr>
          <a:xfrm>
            <a:off x="1024128" y="3429000"/>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Text, integers</a:t>
            </a:r>
            <a:endParaRPr lang="en-US" sz="2000" dirty="0">
              <a:latin typeface="+mj-lt"/>
            </a:endParaRPr>
          </a:p>
        </p:txBody>
      </p:sp>
      <p:sp>
        <p:nvSpPr>
          <p:cNvPr id="8" name="Text 3">
            <a:extLst>
              <a:ext uri="{FF2B5EF4-FFF2-40B4-BE49-F238E27FC236}">
                <a16:creationId xmlns:a16="http://schemas.microsoft.com/office/drawing/2014/main" id="{983DB720-40FC-4B3E-A797-9CECCBB19559}"/>
              </a:ext>
            </a:extLst>
          </p:cNvPr>
          <p:cNvSpPr/>
          <p:nvPr/>
        </p:nvSpPr>
        <p:spPr>
          <a:xfrm>
            <a:off x="3462528" y="5431536"/>
            <a:ext cx="10291572" cy="338328"/>
          </a:xfrm>
          <a:prstGeom prst="rect">
            <a:avLst/>
          </a:prstGeom>
          <a:noFill/>
          <a:ln/>
        </p:spPr>
        <p:txBody>
          <a:bodyPr wrap="none" lIns="0" tIns="0" rIns="0" bIns="0" rtlCol="0" anchor="ctr"/>
          <a:lstStyle/>
          <a:p>
            <a:pPr marL="342900" indent="-342900" algn="l">
              <a:lnSpc>
                <a:spcPts val="2620"/>
              </a:lnSpc>
              <a:buFont typeface="Wingdings" panose="05000000000000000000" pitchFamily="2" charset="2"/>
              <a:buChar char="Ø"/>
            </a:pPr>
            <a:r>
              <a:rPr lang="en-US" sz="2000" b="1" dirty="0">
                <a:latin typeface="+mj-lt"/>
                <a:ea typeface="思源黑体-思源黑体-Medium" pitchFamily="34" charset="-122"/>
                <a:cs typeface="思源黑体-思源黑体-Medium" pitchFamily="34" charset="-120"/>
              </a:rPr>
              <a:t>Reasons for Representation</a:t>
            </a:r>
            <a:endParaRPr lang="en-US" sz="2000" b="1" dirty="0">
              <a:latin typeface="+mj-lt"/>
            </a:endParaRPr>
          </a:p>
        </p:txBody>
      </p:sp>
      <p:sp>
        <p:nvSpPr>
          <p:cNvPr id="9" name="Text 4">
            <a:extLst>
              <a:ext uri="{FF2B5EF4-FFF2-40B4-BE49-F238E27FC236}">
                <a16:creationId xmlns:a16="http://schemas.microsoft.com/office/drawing/2014/main" id="{4A775892-F61D-4D36-BF46-81468815C33F}"/>
              </a:ext>
            </a:extLst>
          </p:cNvPr>
          <p:cNvSpPr/>
          <p:nvPr/>
        </p:nvSpPr>
        <p:spPr>
          <a:xfrm>
            <a:off x="1024128" y="1664208"/>
            <a:ext cx="12591288" cy="338328"/>
          </a:xfrm>
          <a:prstGeom prst="rect">
            <a:avLst/>
          </a:prstGeom>
          <a:noFill/>
          <a:ln/>
        </p:spPr>
        <p:txBody>
          <a:bodyPr wrap="none" lIns="0" tIns="0" rIns="0" bIns="0" rtlCol="0" anchor="ctr"/>
          <a:lstStyle/>
          <a:p>
            <a:pPr marL="342900" indent="-342900" algn="l">
              <a:lnSpc>
                <a:spcPts val="2620"/>
              </a:lnSpc>
              <a:buFont typeface="Wingdings" panose="05000000000000000000" pitchFamily="2" charset="2"/>
              <a:buChar char="Ø"/>
            </a:pPr>
            <a:r>
              <a:rPr lang="en-US" sz="2000" b="1" dirty="0">
                <a:latin typeface="+mj-lt"/>
                <a:ea typeface="思源黑体-思源黑体-Medium" pitchFamily="34" charset="-122"/>
                <a:cs typeface="思源黑体-思源黑体-Medium" pitchFamily="34" charset="-120"/>
              </a:rPr>
              <a:t>Digital Signal</a:t>
            </a:r>
            <a:endParaRPr lang="en-US" sz="2000" b="1" dirty="0">
              <a:latin typeface="+mj-lt"/>
            </a:endParaRPr>
          </a:p>
        </p:txBody>
      </p:sp>
      <p:sp>
        <p:nvSpPr>
          <p:cNvPr id="10" name="Text 5">
            <a:extLst>
              <a:ext uri="{FF2B5EF4-FFF2-40B4-BE49-F238E27FC236}">
                <a16:creationId xmlns:a16="http://schemas.microsoft.com/office/drawing/2014/main" id="{DABC4E69-0CDE-4E4B-86B6-2964DE3A8796}"/>
              </a:ext>
            </a:extLst>
          </p:cNvPr>
          <p:cNvSpPr/>
          <p:nvPr/>
        </p:nvSpPr>
        <p:spPr>
          <a:xfrm>
            <a:off x="1024128" y="2569464"/>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each pulse is a signal element</a:t>
            </a:r>
            <a:endParaRPr lang="en-US" sz="2000" dirty="0">
              <a:latin typeface="+mj-lt"/>
            </a:endParaRPr>
          </a:p>
        </p:txBody>
      </p:sp>
      <p:sp>
        <p:nvSpPr>
          <p:cNvPr id="11" name="Text 6">
            <a:extLst>
              <a:ext uri="{FF2B5EF4-FFF2-40B4-BE49-F238E27FC236}">
                <a16:creationId xmlns:a16="http://schemas.microsoft.com/office/drawing/2014/main" id="{C8C4CF9C-4619-4BE1-8929-008871395235}"/>
              </a:ext>
            </a:extLst>
          </p:cNvPr>
          <p:cNvSpPr/>
          <p:nvPr/>
        </p:nvSpPr>
        <p:spPr>
          <a:xfrm>
            <a:off x="3462528" y="6766560"/>
            <a:ext cx="10291572"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Digital data, analog signal - optical fiber, unguided media, propagate analog signal</a:t>
            </a:r>
            <a:endParaRPr lang="en-US" sz="2000" dirty="0">
              <a:latin typeface="+mj-lt"/>
            </a:endParaRPr>
          </a:p>
        </p:txBody>
      </p:sp>
      <p:sp>
        <p:nvSpPr>
          <p:cNvPr id="12" name="Text 7">
            <a:extLst>
              <a:ext uri="{FF2B5EF4-FFF2-40B4-BE49-F238E27FC236}">
                <a16:creationId xmlns:a16="http://schemas.microsoft.com/office/drawing/2014/main" id="{F461FA64-F457-4EB3-B41F-2A46E22E0777}"/>
              </a:ext>
            </a:extLst>
          </p:cNvPr>
          <p:cNvSpPr/>
          <p:nvPr/>
        </p:nvSpPr>
        <p:spPr>
          <a:xfrm>
            <a:off x="7140956" y="4487164"/>
            <a:ext cx="5725958" cy="338328"/>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Example: Voice, video, voltage, pressure, etc</a:t>
            </a:r>
            <a:endParaRPr lang="en-US" sz="2000" dirty="0">
              <a:latin typeface="+mj-lt"/>
            </a:endParaRPr>
          </a:p>
        </p:txBody>
      </p:sp>
      <p:sp>
        <p:nvSpPr>
          <p:cNvPr id="13" name="Text 8">
            <a:extLst>
              <a:ext uri="{FF2B5EF4-FFF2-40B4-BE49-F238E27FC236}">
                <a16:creationId xmlns:a16="http://schemas.microsoft.com/office/drawing/2014/main" id="{01400114-F51D-4D8F-B6D2-4BE46DED10A3}"/>
              </a:ext>
            </a:extLst>
          </p:cNvPr>
          <p:cNvSpPr/>
          <p:nvPr/>
        </p:nvSpPr>
        <p:spPr>
          <a:xfrm>
            <a:off x="1024128" y="2130552"/>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discrete, discontinuous voltage pulses</a:t>
            </a:r>
            <a:endParaRPr lang="en-US" sz="2000" dirty="0">
              <a:latin typeface="+mj-lt"/>
            </a:endParaRPr>
          </a:p>
        </p:txBody>
      </p:sp>
      <p:sp>
        <p:nvSpPr>
          <p:cNvPr id="14" name="Text 9">
            <a:extLst>
              <a:ext uri="{FF2B5EF4-FFF2-40B4-BE49-F238E27FC236}">
                <a16:creationId xmlns:a16="http://schemas.microsoft.com/office/drawing/2014/main" id="{C8FD8D35-76E1-4518-955D-104A15BFD87C}"/>
              </a:ext>
            </a:extLst>
          </p:cNvPr>
          <p:cNvSpPr/>
          <p:nvPr/>
        </p:nvSpPr>
        <p:spPr>
          <a:xfrm>
            <a:off x="5842000" y="3661664"/>
            <a:ext cx="4406900" cy="338328"/>
          </a:xfrm>
          <a:prstGeom prst="rect">
            <a:avLst/>
          </a:prstGeom>
          <a:noFill/>
          <a:ln/>
        </p:spPr>
        <p:txBody>
          <a:bodyPr wrap="none" lIns="0" tIns="0" rIns="0" bIns="0" rtlCol="0" anchor="ctr"/>
          <a:lstStyle/>
          <a:p>
            <a:pPr marL="1714500" lvl="3" indent="-342900">
              <a:lnSpc>
                <a:spcPts val="2620"/>
              </a:lnSpc>
              <a:buFont typeface="Wingdings" panose="05000000000000000000" pitchFamily="2" charset="2"/>
              <a:buChar char="Ø"/>
            </a:pPr>
            <a:r>
              <a:rPr lang="en-US" sz="2000" b="1" dirty="0">
                <a:latin typeface="+mj-lt"/>
                <a:ea typeface="思源黑体-思源黑体-Medium" pitchFamily="34" charset="-122"/>
                <a:cs typeface="思源黑体-思源黑体-Medium" pitchFamily="34" charset="-120"/>
              </a:rPr>
              <a:t>Analog Signal</a:t>
            </a:r>
            <a:endParaRPr lang="en-US" sz="2000" b="1" dirty="0">
              <a:latin typeface="+mj-lt"/>
            </a:endParaRPr>
          </a:p>
        </p:txBody>
      </p:sp>
      <p:sp>
        <p:nvSpPr>
          <p:cNvPr id="15" name="Text 10">
            <a:extLst>
              <a:ext uri="{FF2B5EF4-FFF2-40B4-BE49-F238E27FC236}">
                <a16:creationId xmlns:a16="http://schemas.microsoft.com/office/drawing/2014/main" id="{0F9BDE0F-E0D1-42E2-9EDD-6C772FC86B73}"/>
              </a:ext>
            </a:extLst>
          </p:cNvPr>
          <p:cNvSpPr/>
          <p:nvPr/>
        </p:nvSpPr>
        <p:spPr>
          <a:xfrm>
            <a:off x="3462528" y="6336792"/>
            <a:ext cx="10291572"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Analog data, digital signal – modern digital transmission</a:t>
            </a:r>
            <a:endParaRPr lang="en-US" sz="2000" dirty="0">
              <a:latin typeface="+mj-lt"/>
            </a:endParaRPr>
          </a:p>
        </p:txBody>
      </p:sp>
      <p:sp>
        <p:nvSpPr>
          <p:cNvPr id="16" name="Text 11">
            <a:extLst>
              <a:ext uri="{FF2B5EF4-FFF2-40B4-BE49-F238E27FC236}">
                <a16:creationId xmlns:a16="http://schemas.microsoft.com/office/drawing/2014/main" id="{1FA4CA63-1457-4F1B-A02D-720417CDCE0F}"/>
              </a:ext>
            </a:extLst>
          </p:cNvPr>
          <p:cNvSpPr/>
          <p:nvPr/>
        </p:nvSpPr>
        <p:spPr>
          <a:xfrm>
            <a:off x="3462528" y="5897880"/>
            <a:ext cx="10291572"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Digital data, Digital signal – less complex, less expensive</a:t>
            </a:r>
            <a:endParaRPr lang="en-US" sz="2000" dirty="0">
              <a:latin typeface="+mj-lt"/>
            </a:endParaRPr>
          </a:p>
        </p:txBody>
      </p:sp>
      <p:sp>
        <p:nvSpPr>
          <p:cNvPr id="17" name="Text 12">
            <a:extLst>
              <a:ext uri="{FF2B5EF4-FFF2-40B4-BE49-F238E27FC236}">
                <a16:creationId xmlns:a16="http://schemas.microsoft.com/office/drawing/2014/main" id="{5801F992-2404-4108-9409-240A5306B6D2}"/>
              </a:ext>
            </a:extLst>
          </p:cNvPr>
          <p:cNvSpPr/>
          <p:nvPr/>
        </p:nvSpPr>
        <p:spPr>
          <a:xfrm>
            <a:off x="1024128" y="2999232"/>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binary data encoded into signal elements.</a:t>
            </a:r>
            <a:endParaRPr lang="en-US" sz="2000" dirty="0">
              <a:latin typeface="+mj-lt"/>
            </a:endParaRPr>
          </a:p>
        </p:txBody>
      </p:sp>
      <p:sp>
        <p:nvSpPr>
          <p:cNvPr id="18" name="Text 13">
            <a:extLst>
              <a:ext uri="{FF2B5EF4-FFF2-40B4-BE49-F238E27FC236}">
                <a16:creationId xmlns:a16="http://schemas.microsoft.com/office/drawing/2014/main" id="{D0511254-DC63-4198-B0C6-E859D0F4DE45}"/>
              </a:ext>
            </a:extLst>
          </p:cNvPr>
          <p:cNvSpPr/>
          <p:nvPr/>
        </p:nvSpPr>
        <p:spPr>
          <a:xfrm>
            <a:off x="3462528" y="7196328"/>
            <a:ext cx="10291572"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Analog data, analog signal - data in electrical form can be transmitted as signal</a:t>
            </a:r>
          </a:p>
          <a:p>
            <a:pPr algn="l">
              <a:lnSpc>
                <a:spcPts val="2340"/>
              </a:lnSpc>
            </a:pPr>
            <a:r>
              <a:rPr lang="en-US" sz="2000" dirty="0">
                <a:latin typeface="+mj-lt"/>
                <a:ea typeface="思源黑体-思源黑体-Medium" pitchFamily="34" charset="-122"/>
                <a:cs typeface="思源黑体-思源黑体-Medium" pitchFamily="34" charset="-120"/>
              </a:rPr>
              <a:t>                                                      easily and cheaply.</a:t>
            </a:r>
            <a:endParaRPr lang="en-US" sz="2000" dirty="0">
              <a:latin typeface="+mj-lt"/>
            </a:endParaRPr>
          </a:p>
        </p:txBody>
      </p:sp>
      <p:pic>
        <p:nvPicPr>
          <p:cNvPr id="19" name="Picture 18">
            <a:extLst>
              <a:ext uri="{FF2B5EF4-FFF2-40B4-BE49-F238E27FC236}">
                <a16:creationId xmlns:a16="http://schemas.microsoft.com/office/drawing/2014/main" id="{7F1A7EFD-2704-484A-AC55-762FDFADC9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50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20700" y="1508760"/>
            <a:ext cx="12217400" cy="5730240"/>
          </a:xfrm>
          <a:prstGeom prst="rect">
            <a:avLst/>
          </a:prstGeom>
        </p:spPr>
      </p:pic>
      <p:sp>
        <p:nvSpPr>
          <p:cNvPr id="4" name="Text 0"/>
          <p:cNvSpPr/>
          <p:nvPr/>
        </p:nvSpPr>
        <p:spPr>
          <a:xfrm>
            <a:off x="162306" y="273304"/>
            <a:ext cx="9578594"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Signal</a:t>
            </a:r>
            <a:r>
              <a:rPr lang="en-US" sz="4190" dirty="0">
                <a:solidFill>
                  <a:srgbClr val="183983"/>
                </a:solidFill>
                <a:latin typeface="Cambria" panose="02040503050406030204" pitchFamily="18" charset="0"/>
                <a:ea typeface="Cambria" panose="02040503050406030204" pitchFamily="18" charset="0"/>
                <a:cs typeface="思源黑体-思源黑体-Medium" pitchFamily="34" charset="-120"/>
              </a:rPr>
              <a:t> Encoding Techniques</a:t>
            </a:r>
            <a:endParaRPr lang="en-US" sz="419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FBD9473B-0533-4672-B439-B7BDC98729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72951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078626"/>
            <a:ext cx="14630400" cy="11814048"/>
          </a:xfrm>
          <a:prstGeom prst="rect">
            <a:avLst/>
          </a:prstGeom>
        </p:spPr>
      </p:pic>
      <p:pic>
        <p:nvPicPr>
          <p:cNvPr id="3" name="Image 1" descr="preencoded.png"/>
          <p:cNvPicPr>
            <a:picLocks noChangeAspect="1"/>
          </p:cNvPicPr>
          <p:nvPr/>
        </p:nvPicPr>
        <p:blipFill>
          <a:blip r:embed="rId4"/>
          <a:stretch>
            <a:fillRect/>
          </a:stretch>
        </p:blipFill>
        <p:spPr>
          <a:xfrm>
            <a:off x="11932920" y="3786907"/>
            <a:ext cx="832104" cy="832104"/>
          </a:xfrm>
          <a:prstGeom prst="rect">
            <a:avLst/>
          </a:prstGeom>
        </p:spPr>
      </p:pic>
      <p:pic>
        <p:nvPicPr>
          <p:cNvPr id="4" name="Image 2" descr="preencoded.png"/>
          <p:cNvPicPr>
            <a:picLocks noChangeAspect="1"/>
          </p:cNvPicPr>
          <p:nvPr/>
        </p:nvPicPr>
        <p:blipFill>
          <a:blip r:embed="rId5"/>
          <a:stretch>
            <a:fillRect/>
          </a:stretch>
        </p:blipFill>
        <p:spPr>
          <a:xfrm>
            <a:off x="1929384" y="1234715"/>
            <a:ext cx="731520" cy="832104"/>
          </a:xfrm>
          <a:prstGeom prst="rect">
            <a:avLst/>
          </a:prstGeom>
        </p:spPr>
      </p:pic>
      <p:pic>
        <p:nvPicPr>
          <p:cNvPr id="5" name="Image 3" descr="preencoded.png"/>
          <p:cNvPicPr>
            <a:picLocks noChangeAspect="1"/>
          </p:cNvPicPr>
          <p:nvPr/>
        </p:nvPicPr>
        <p:blipFill>
          <a:blip r:embed="rId6"/>
          <a:stretch>
            <a:fillRect/>
          </a:stretch>
        </p:blipFill>
        <p:spPr>
          <a:xfrm>
            <a:off x="5165852" y="6166688"/>
            <a:ext cx="621792" cy="832104"/>
          </a:xfrm>
          <a:prstGeom prst="rect">
            <a:avLst/>
          </a:prstGeom>
        </p:spPr>
      </p:pic>
      <p:pic>
        <p:nvPicPr>
          <p:cNvPr id="6" name="Image 4" descr="preencoded.png"/>
          <p:cNvPicPr>
            <a:picLocks noChangeAspect="1"/>
          </p:cNvPicPr>
          <p:nvPr/>
        </p:nvPicPr>
        <p:blipFill>
          <a:blip r:embed="rId7"/>
          <a:stretch>
            <a:fillRect/>
          </a:stretch>
        </p:blipFill>
        <p:spPr>
          <a:xfrm>
            <a:off x="8577072" y="3786907"/>
            <a:ext cx="832104" cy="832104"/>
          </a:xfrm>
          <a:prstGeom prst="rect">
            <a:avLst/>
          </a:prstGeom>
        </p:spPr>
      </p:pic>
      <p:pic>
        <p:nvPicPr>
          <p:cNvPr id="7" name="Image 5" descr="preencoded.png"/>
          <p:cNvPicPr>
            <a:picLocks noChangeAspect="1"/>
          </p:cNvPicPr>
          <p:nvPr/>
        </p:nvPicPr>
        <p:blipFill>
          <a:blip r:embed="rId8"/>
          <a:stretch>
            <a:fillRect/>
          </a:stretch>
        </p:blipFill>
        <p:spPr>
          <a:xfrm>
            <a:off x="1844040" y="6126338"/>
            <a:ext cx="832104" cy="832104"/>
          </a:xfrm>
          <a:prstGeom prst="rect">
            <a:avLst/>
          </a:prstGeom>
        </p:spPr>
      </p:pic>
      <p:pic>
        <p:nvPicPr>
          <p:cNvPr id="8" name="Image 6" descr="preencoded.png"/>
          <p:cNvPicPr>
            <a:picLocks noChangeAspect="1"/>
          </p:cNvPicPr>
          <p:nvPr/>
        </p:nvPicPr>
        <p:blipFill>
          <a:blip r:embed="rId9"/>
          <a:stretch>
            <a:fillRect/>
          </a:stretch>
        </p:blipFill>
        <p:spPr>
          <a:xfrm>
            <a:off x="8631936" y="1234715"/>
            <a:ext cx="731520" cy="832104"/>
          </a:xfrm>
          <a:prstGeom prst="rect">
            <a:avLst/>
          </a:prstGeom>
        </p:spPr>
      </p:pic>
      <p:pic>
        <p:nvPicPr>
          <p:cNvPr id="9" name="Image 7" descr="preencoded.png"/>
          <p:cNvPicPr>
            <a:picLocks noChangeAspect="1"/>
          </p:cNvPicPr>
          <p:nvPr/>
        </p:nvPicPr>
        <p:blipFill>
          <a:blip r:embed="rId10"/>
          <a:stretch>
            <a:fillRect/>
          </a:stretch>
        </p:blipFill>
        <p:spPr>
          <a:xfrm>
            <a:off x="11932920" y="1234715"/>
            <a:ext cx="832104" cy="832104"/>
          </a:xfrm>
          <a:prstGeom prst="rect">
            <a:avLst/>
          </a:prstGeom>
        </p:spPr>
      </p:pic>
      <p:pic>
        <p:nvPicPr>
          <p:cNvPr id="10" name="Image 8" descr="preencoded.png"/>
          <p:cNvPicPr>
            <a:picLocks noChangeAspect="1"/>
          </p:cNvPicPr>
          <p:nvPr/>
        </p:nvPicPr>
        <p:blipFill>
          <a:blip r:embed="rId11"/>
          <a:stretch>
            <a:fillRect/>
          </a:stretch>
        </p:blipFill>
        <p:spPr>
          <a:xfrm>
            <a:off x="5330952" y="1234715"/>
            <a:ext cx="621792" cy="832104"/>
          </a:xfrm>
          <a:prstGeom prst="rect">
            <a:avLst/>
          </a:prstGeom>
        </p:spPr>
      </p:pic>
      <p:pic>
        <p:nvPicPr>
          <p:cNvPr id="11" name="Image 9" descr="preencoded.png"/>
          <p:cNvPicPr>
            <a:picLocks noChangeAspect="1"/>
          </p:cNvPicPr>
          <p:nvPr/>
        </p:nvPicPr>
        <p:blipFill>
          <a:blip r:embed="rId12"/>
          <a:stretch>
            <a:fillRect/>
          </a:stretch>
        </p:blipFill>
        <p:spPr>
          <a:xfrm>
            <a:off x="5330952" y="3786907"/>
            <a:ext cx="621792" cy="832104"/>
          </a:xfrm>
          <a:prstGeom prst="rect">
            <a:avLst/>
          </a:prstGeom>
        </p:spPr>
      </p:pic>
      <p:pic>
        <p:nvPicPr>
          <p:cNvPr id="12" name="Image 10" descr="preencoded.png"/>
          <p:cNvPicPr>
            <a:picLocks noChangeAspect="1"/>
          </p:cNvPicPr>
          <p:nvPr/>
        </p:nvPicPr>
        <p:blipFill>
          <a:blip r:embed="rId13"/>
          <a:stretch>
            <a:fillRect/>
          </a:stretch>
        </p:blipFill>
        <p:spPr>
          <a:xfrm>
            <a:off x="1984248" y="3786907"/>
            <a:ext cx="621792" cy="832104"/>
          </a:xfrm>
          <a:prstGeom prst="rect">
            <a:avLst/>
          </a:prstGeom>
        </p:spPr>
      </p:pic>
      <p:sp>
        <p:nvSpPr>
          <p:cNvPr id="13" name="Text 0"/>
          <p:cNvSpPr/>
          <p:nvPr/>
        </p:nvSpPr>
        <p:spPr>
          <a:xfrm>
            <a:off x="914400" y="2276206"/>
            <a:ext cx="2761488" cy="896112"/>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Unipolar</a:t>
            </a:r>
            <a:r>
              <a:rPr lang="en-US" dirty="0">
                <a:solidFill>
                  <a:srgbClr val="172748"/>
                </a:solidFill>
                <a:latin typeface="+mj-lt"/>
                <a:ea typeface="思源黑体-思源黑体-Medium" pitchFamily="34" charset="-122"/>
                <a:cs typeface="思源黑体-思源黑体-Medium" pitchFamily="34" charset="-120"/>
              </a:rPr>
              <a:t> — All signal elements of same sign (Either + or -)</a:t>
            </a:r>
            <a:endParaRPr lang="en-US" dirty="0">
              <a:latin typeface="+mj-lt"/>
            </a:endParaRPr>
          </a:p>
        </p:txBody>
      </p:sp>
      <p:sp>
        <p:nvSpPr>
          <p:cNvPr id="14" name="Text 1"/>
          <p:cNvSpPr/>
          <p:nvPr/>
        </p:nvSpPr>
        <p:spPr>
          <a:xfrm>
            <a:off x="7616952" y="2276206"/>
            <a:ext cx="2761488" cy="1197864"/>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Data rate (R)</a:t>
            </a:r>
            <a:r>
              <a:rPr lang="en-US" dirty="0">
                <a:solidFill>
                  <a:srgbClr val="172748"/>
                </a:solidFill>
                <a:latin typeface="+mj-lt"/>
                <a:ea typeface="思源黑体-思源黑体-Medium" pitchFamily="34" charset="-122"/>
                <a:cs typeface="思源黑体-思源黑体-Medium" pitchFamily="34" charset="-120"/>
              </a:rPr>
              <a:t> - amount of data transfer during a specified time period over a network in bps.</a:t>
            </a:r>
            <a:endParaRPr lang="en-US" dirty="0">
              <a:latin typeface="+mj-lt"/>
            </a:endParaRPr>
          </a:p>
        </p:txBody>
      </p:sp>
      <p:sp>
        <p:nvSpPr>
          <p:cNvPr id="15" name="Text 2"/>
          <p:cNvSpPr/>
          <p:nvPr/>
        </p:nvSpPr>
        <p:spPr>
          <a:xfrm>
            <a:off x="10963656" y="2276206"/>
            <a:ext cx="2761488" cy="1490472"/>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Modulation rate </a:t>
            </a:r>
            <a:r>
              <a:rPr lang="en-US" dirty="0">
                <a:solidFill>
                  <a:srgbClr val="172748"/>
                </a:solidFill>
                <a:latin typeface="+mj-lt"/>
                <a:ea typeface="思源黑体-思源黑体-Medium" pitchFamily="34" charset="-122"/>
                <a:cs typeface="思源黑体-思源黑体-Medium" pitchFamily="34" charset="-120"/>
              </a:rPr>
              <a:t>- A measure of how many individual signal elements are transmitted per unit time.</a:t>
            </a:r>
            <a:endParaRPr lang="en-US" dirty="0">
              <a:latin typeface="+mj-lt"/>
            </a:endParaRPr>
          </a:p>
        </p:txBody>
      </p:sp>
      <p:sp>
        <p:nvSpPr>
          <p:cNvPr id="16" name="Text 3"/>
          <p:cNvSpPr/>
          <p:nvPr/>
        </p:nvSpPr>
        <p:spPr>
          <a:xfrm>
            <a:off x="4261104" y="6910182"/>
            <a:ext cx="2761488" cy="1197864"/>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Cost and complexity </a:t>
            </a:r>
            <a:r>
              <a:rPr lang="en-US" dirty="0">
                <a:solidFill>
                  <a:srgbClr val="172748"/>
                </a:solidFill>
                <a:latin typeface="+mj-lt"/>
                <a:ea typeface="思源黑体-思源黑体-Medium" pitchFamily="34" charset="-122"/>
                <a:cs typeface="思源黑体-思源黑体-Medium" pitchFamily="34" charset="-120"/>
              </a:rPr>
              <a:t>- higher signal rate to achieve high data rate increases cost.</a:t>
            </a:r>
            <a:endParaRPr lang="en-US" dirty="0">
              <a:latin typeface="+mj-lt"/>
            </a:endParaRPr>
          </a:p>
        </p:txBody>
      </p:sp>
      <p:sp>
        <p:nvSpPr>
          <p:cNvPr id="17" name="Text 4"/>
          <p:cNvSpPr/>
          <p:nvPr/>
        </p:nvSpPr>
        <p:spPr>
          <a:xfrm>
            <a:off x="4261104" y="2276206"/>
            <a:ext cx="2761488" cy="896112"/>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Polar</a:t>
            </a:r>
            <a:r>
              <a:rPr lang="en-US" dirty="0">
                <a:solidFill>
                  <a:srgbClr val="172748"/>
                </a:solidFill>
                <a:latin typeface="+mj-lt"/>
                <a:ea typeface="思源黑体-思源黑体-Medium" pitchFamily="34" charset="-122"/>
                <a:cs typeface="思源黑体-思源黑体-Medium" pitchFamily="34" charset="-120"/>
              </a:rPr>
              <a:t> - one + voltage level, other - voltage level (different representation)</a:t>
            </a:r>
            <a:endParaRPr lang="en-US" dirty="0">
              <a:latin typeface="+mj-lt"/>
            </a:endParaRPr>
          </a:p>
        </p:txBody>
      </p:sp>
      <p:sp>
        <p:nvSpPr>
          <p:cNvPr id="18" name="Text 5"/>
          <p:cNvSpPr/>
          <p:nvPr/>
        </p:nvSpPr>
        <p:spPr>
          <a:xfrm>
            <a:off x="914400" y="6910182"/>
            <a:ext cx="2761488" cy="1490472"/>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Clocking</a:t>
            </a:r>
            <a:r>
              <a:rPr lang="en-US" dirty="0">
                <a:solidFill>
                  <a:srgbClr val="172748"/>
                </a:solidFill>
                <a:latin typeface="+mj-lt"/>
                <a:ea typeface="思源黑体-思源黑体-Medium" pitchFamily="34" charset="-122"/>
                <a:cs typeface="思源黑体-思源黑体-Medium" pitchFamily="34" charset="-120"/>
              </a:rPr>
              <a:t> - to know begin &amp; end of bit position. (Provide separate clock both sides or provide synchronization)</a:t>
            </a:r>
            <a:endParaRPr lang="en-US" dirty="0">
              <a:latin typeface="+mj-lt"/>
            </a:endParaRPr>
          </a:p>
        </p:txBody>
      </p:sp>
      <p:sp>
        <p:nvSpPr>
          <p:cNvPr id="19" name="Text 6"/>
          <p:cNvSpPr/>
          <p:nvPr/>
        </p:nvSpPr>
        <p:spPr>
          <a:xfrm>
            <a:off x="914400" y="4828398"/>
            <a:ext cx="2761488" cy="603504"/>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Mark and space </a:t>
            </a:r>
            <a:r>
              <a:rPr lang="en-US" dirty="0">
                <a:solidFill>
                  <a:srgbClr val="172748"/>
                </a:solidFill>
                <a:latin typeface="+mj-lt"/>
                <a:ea typeface="思源黑体-思源黑体-Medium" pitchFamily="34" charset="-122"/>
                <a:cs typeface="思源黑体-思源黑体-Medium" pitchFamily="34" charset="-120"/>
              </a:rPr>
              <a:t>- 1 and 0 respectively</a:t>
            </a:r>
            <a:endParaRPr lang="en-US" dirty="0">
              <a:latin typeface="+mj-lt"/>
            </a:endParaRPr>
          </a:p>
        </p:txBody>
      </p:sp>
      <p:sp>
        <p:nvSpPr>
          <p:cNvPr id="20" name="Text 7"/>
          <p:cNvSpPr/>
          <p:nvPr/>
        </p:nvSpPr>
        <p:spPr>
          <a:xfrm>
            <a:off x="384602" y="274320"/>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Terminologies</a:t>
            </a:r>
            <a:endParaRPr lang="en-US" sz="4400" dirty="0">
              <a:latin typeface="Cambria" panose="02040503050406030204" pitchFamily="18" charset="0"/>
              <a:ea typeface="Cambria" panose="02040503050406030204" pitchFamily="18" charset="0"/>
            </a:endParaRPr>
          </a:p>
        </p:txBody>
      </p:sp>
      <p:sp>
        <p:nvSpPr>
          <p:cNvPr id="21" name="Text 8"/>
          <p:cNvSpPr/>
          <p:nvPr/>
        </p:nvSpPr>
        <p:spPr>
          <a:xfrm>
            <a:off x="10963656" y="4828398"/>
            <a:ext cx="2761488" cy="1792224"/>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Signal spectrum </a:t>
            </a:r>
            <a:r>
              <a:rPr lang="en-US" dirty="0">
                <a:solidFill>
                  <a:srgbClr val="172748"/>
                </a:solidFill>
                <a:latin typeface="+mj-lt"/>
                <a:ea typeface="思源黑体-思源黑体-Medium" pitchFamily="34" charset="-122"/>
                <a:cs typeface="思源黑体-思源黑体-Medium" pitchFamily="34" charset="-120"/>
              </a:rPr>
              <a:t>- transfer power high at center, low at edges. Good signal design should concentrate on the transmission in middle of bandwidth.</a:t>
            </a:r>
            <a:endParaRPr lang="en-US" dirty="0">
              <a:latin typeface="+mj-lt"/>
            </a:endParaRPr>
          </a:p>
        </p:txBody>
      </p:sp>
      <p:sp>
        <p:nvSpPr>
          <p:cNvPr id="22" name="Text 9"/>
          <p:cNvSpPr/>
          <p:nvPr/>
        </p:nvSpPr>
        <p:spPr>
          <a:xfrm>
            <a:off x="4261104" y="4828398"/>
            <a:ext cx="2761488" cy="896112"/>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Signal to noise ratio </a:t>
            </a:r>
            <a:r>
              <a:rPr lang="en-US" dirty="0">
                <a:solidFill>
                  <a:srgbClr val="172748"/>
                </a:solidFill>
                <a:latin typeface="+mj-lt"/>
                <a:ea typeface="思源黑体-思源黑体-Medium" pitchFamily="34" charset="-122"/>
                <a:cs typeface="思源黑体-思源黑体-Medium" pitchFamily="34" charset="-120"/>
              </a:rPr>
              <a:t>– (increase in SNR, decrease in bit error rate)</a:t>
            </a:r>
            <a:endParaRPr lang="en-US" dirty="0">
              <a:latin typeface="+mj-lt"/>
            </a:endParaRPr>
          </a:p>
        </p:txBody>
      </p:sp>
      <p:sp>
        <p:nvSpPr>
          <p:cNvPr id="23" name="Text 10"/>
          <p:cNvSpPr/>
          <p:nvPr/>
        </p:nvSpPr>
        <p:spPr>
          <a:xfrm>
            <a:off x="7616952" y="4828398"/>
            <a:ext cx="2761488" cy="2093976"/>
          </a:xfrm>
          <a:prstGeom prst="rect">
            <a:avLst/>
          </a:prstGeom>
          <a:noFill/>
          <a:ln/>
        </p:spPr>
        <p:txBody>
          <a:bodyPr wrap="square" lIns="0" tIns="0" rIns="0" bIns="0" rtlCol="0" anchor="ctr"/>
          <a:lstStyle/>
          <a:p>
            <a:pPr marL="0" indent="0" algn="ctr">
              <a:lnSpc>
                <a:spcPts val="2340"/>
              </a:lnSpc>
              <a:buNone/>
            </a:pPr>
            <a:r>
              <a:rPr lang="en-US" b="1" dirty="0">
                <a:solidFill>
                  <a:srgbClr val="172748"/>
                </a:solidFill>
                <a:latin typeface="+mj-lt"/>
                <a:ea typeface="思源黑体-思源黑体-Medium" pitchFamily="34" charset="-122"/>
                <a:cs typeface="思源黑体-思源黑体-Medium" pitchFamily="34" charset="-120"/>
              </a:rPr>
              <a:t>Bandwidth</a:t>
            </a:r>
            <a:r>
              <a:rPr lang="en-US" dirty="0">
                <a:solidFill>
                  <a:srgbClr val="172748"/>
                </a:solidFill>
                <a:latin typeface="+mj-lt"/>
                <a:ea typeface="思源黑体-思源黑体-Medium" pitchFamily="34" charset="-122"/>
                <a:cs typeface="思源黑体-思源黑体-Medium" pitchFamily="34" charset="-120"/>
              </a:rPr>
              <a:t> – maximum amount of data transmitted over an internet connection in a given amount of time. (increase in bandwidth, increase data rate)</a:t>
            </a:r>
            <a:endParaRPr lang="en-US" dirty="0">
              <a:latin typeface="+mj-lt"/>
            </a:endParaRPr>
          </a:p>
        </p:txBody>
      </p:sp>
      <p:pic>
        <p:nvPicPr>
          <p:cNvPr id="24" name="Picture 23">
            <a:extLst>
              <a:ext uri="{FF2B5EF4-FFF2-40B4-BE49-F238E27FC236}">
                <a16:creationId xmlns:a16="http://schemas.microsoft.com/office/drawing/2014/main" id="{D71419A7-E58B-4B29-91AD-C5245778F76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0"/>
          <p:cNvSpPr/>
          <p:nvPr/>
        </p:nvSpPr>
        <p:spPr>
          <a:xfrm>
            <a:off x="655828" y="4009644"/>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1—Transition at the beginning of interval</a:t>
            </a:r>
            <a:endParaRPr lang="en-US" sz="2000" dirty="0">
              <a:latin typeface="+mj-lt"/>
            </a:endParaRPr>
          </a:p>
        </p:txBody>
      </p:sp>
      <p:sp>
        <p:nvSpPr>
          <p:cNvPr id="5" name="Text 1"/>
          <p:cNvSpPr/>
          <p:nvPr/>
        </p:nvSpPr>
        <p:spPr>
          <a:xfrm>
            <a:off x="3957828" y="7247128"/>
            <a:ext cx="10316972" cy="45719"/>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lack of synchronization capability - when long string of 0’s and 1’s in NRZ-L and </a:t>
            </a:r>
          </a:p>
          <a:p>
            <a:pPr marL="0" indent="0" algn="l">
              <a:lnSpc>
                <a:spcPts val="2340"/>
              </a:lnSpc>
              <a:buNone/>
            </a:pPr>
            <a:r>
              <a:rPr lang="en-US" sz="2000" dirty="0">
                <a:latin typeface="+mj-lt"/>
                <a:ea typeface="思源黑体-思源黑体-Medium" pitchFamily="34" charset="-122"/>
                <a:cs typeface="思源黑体-思源黑体-Medium" pitchFamily="34" charset="-120"/>
              </a:rPr>
              <a:t>        long string of 0’s in NRZI</a:t>
            </a:r>
            <a:endParaRPr lang="en-US" sz="2000" dirty="0">
              <a:latin typeface="+mj-lt"/>
            </a:endParaRPr>
          </a:p>
        </p:txBody>
      </p:sp>
      <p:sp>
        <p:nvSpPr>
          <p:cNvPr id="6" name="Text 2"/>
          <p:cNvSpPr/>
          <p:nvPr/>
        </p:nvSpPr>
        <p:spPr>
          <a:xfrm>
            <a:off x="897128" y="117398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Easiest way to transmit digital data to digital signal</a:t>
            </a:r>
            <a:endParaRPr lang="en-US" sz="2000" dirty="0">
              <a:latin typeface="+mj-lt"/>
            </a:endParaRPr>
          </a:p>
        </p:txBody>
      </p:sp>
      <p:sp>
        <p:nvSpPr>
          <p:cNvPr id="7" name="Text 3"/>
          <p:cNvSpPr/>
          <p:nvPr/>
        </p:nvSpPr>
        <p:spPr>
          <a:xfrm>
            <a:off x="3957828" y="6543548"/>
            <a:ext cx="10316972" cy="45719"/>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Cons</a:t>
            </a:r>
            <a:endParaRPr lang="en-US" sz="2000" b="1" dirty="0">
              <a:latin typeface="+mj-lt"/>
            </a:endParaRPr>
          </a:p>
        </p:txBody>
      </p:sp>
      <p:sp>
        <p:nvSpPr>
          <p:cNvPr id="8" name="Text 4"/>
          <p:cNvSpPr/>
          <p:nvPr/>
        </p:nvSpPr>
        <p:spPr>
          <a:xfrm>
            <a:off x="655828" y="367411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0—No transition</a:t>
            </a:r>
            <a:endParaRPr lang="en-US" sz="2000" dirty="0">
              <a:latin typeface="+mj-lt"/>
            </a:endParaRPr>
          </a:p>
        </p:txBody>
      </p:sp>
      <p:sp>
        <p:nvSpPr>
          <p:cNvPr id="9" name="Text 5"/>
          <p:cNvSpPr/>
          <p:nvPr/>
        </p:nvSpPr>
        <p:spPr>
          <a:xfrm>
            <a:off x="3957828" y="7968743"/>
            <a:ext cx="10316972" cy="45719"/>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not often used for signal transmission</a:t>
            </a:r>
            <a:endParaRPr lang="en-US" sz="2000" dirty="0">
              <a:latin typeface="+mj-lt"/>
            </a:endParaRPr>
          </a:p>
        </p:txBody>
      </p:sp>
      <p:sp>
        <p:nvSpPr>
          <p:cNvPr id="10" name="Text 6"/>
          <p:cNvSpPr/>
          <p:nvPr/>
        </p:nvSpPr>
        <p:spPr>
          <a:xfrm>
            <a:off x="548640" y="1991360"/>
            <a:ext cx="12591288" cy="301752"/>
          </a:xfrm>
          <a:prstGeom prst="rect">
            <a:avLst/>
          </a:prstGeom>
          <a:noFill/>
          <a:ln/>
        </p:spPr>
        <p:txBody>
          <a:bodyPr wrap="none" lIns="0" tIns="0" rIns="0" bIns="0" rtlCol="0" anchor="ctr"/>
          <a:lstStyle/>
          <a:p>
            <a:pPr marL="457200" indent="-457200" algn="l">
              <a:lnSpc>
                <a:spcPts val="2340"/>
              </a:lnSpc>
              <a:buFont typeface="+mj-lt"/>
              <a:buAutoNum type="arabicPeriod"/>
            </a:pPr>
            <a:r>
              <a:rPr lang="en-US" sz="2000" b="1" dirty="0">
                <a:latin typeface="+mj-lt"/>
                <a:ea typeface="思源黑体-思源黑体-Medium" pitchFamily="34" charset="-122"/>
                <a:cs typeface="思源黑体-思源黑体-Medium" pitchFamily="34" charset="-120"/>
              </a:rPr>
              <a:t>   NRZ-L (Nonreturn to Zero-Level) </a:t>
            </a:r>
            <a:endParaRPr lang="en-US" sz="2000" dirty="0">
              <a:latin typeface="+mj-lt"/>
            </a:endParaRPr>
          </a:p>
        </p:txBody>
      </p:sp>
      <p:sp>
        <p:nvSpPr>
          <p:cNvPr id="11" name="Text 7"/>
          <p:cNvSpPr/>
          <p:nvPr/>
        </p:nvSpPr>
        <p:spPr>
          <a:xfrm>
            <a:off x="630428" y="463092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Pros</a:t>
            </a:r>
            <a:endParaRPr lang="en-US" sz="2000" b="1" dirty="0">
              <a:latin typeface="+mj-lt"/>
            </a:endParaRPr>
          </a:p>
        </p:txBody>
      </p:sp>
      <p:sp>
        <p:nvSpPr>
          <p:cNvPr id="12" name="Text 8"/>
          <p:cNvSpPr/>
          <p:nvPr/>
        </p:nvSpPr>
        <p:spPr>
          <a:xfrm>
            <a:off x="548640" y="28803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Digital data to Digital Signal-</a:t>
            </a:r>
            <a:r>
              <a:rPr lang="en-US" sz="3600" dirty="0">
                <a:solidFill>
                  <a:srgbClr val="183983"/>
                </a:solidFill>
                <a:latin typeface="Cambria" panose="02040503050406030204" pitchFamily="18" charset="0"/>
                <a:ea typeface="Cambria" panose="02040503050406030204" pitchFamily="18" charset="0"/>
                <a:cs typeface="思源黑体-思源黑体-Medium" pitchFamily="34" charset="-120"/>
              </a:rPr>
              <a:t>Nonreturn to Zero</a:t>
            </a:r>
            <a:endParaRPr lang="en-US" sz="3600" dirty="0">
              <a:latin typeface="Cambria" panose="02040503050406030204" pitchFamily="18" charset="0"/>
              <a:ea typeface="Cambria" panose="02040503050406030204" pitchFamily="18" charset="0"/>
            </a:endParaRPr>
          </a:p>
        </p:txBody>
      </p:sp>
      <p:sp>
        <p:nvSpPr>
          <p:cNvPr id="13" name="Text 9"/>
          <p:cNvSpPr/>
          <p:nvPr/>
        </p:nvSpPr>
        <p:spPr>
          <a:xfrm>
            <a:off x="3957828" y="7676896"/>
            <a:ext cx="10316972" cy="45719"/>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used for magnetic recording</a:t>
            </a:r>
            <a:endParaRPr lang="en-US" sz="2000" dirty="0">
              <a:latin typeface="+mj-lt"/>
            </a:endParaRPr>
          </a:p>
        </p:txBody>
      </p:sp>
      <p:sp>
        <p:nvSpPr>
          <p:cNvPr id="14" name="Text 10"/>
          <p:cNvSpPr/>
          <p:nvPr/>
        </p:nvSpPr>
        <p:spPr>
          <a:xfrm>
            <a:off x="548640" y="3201797"/>
            <a:ext cx="12591288" cy="301751"/>
          </a:xfrm>
          <a:prstGeom prst="rect">
            <a:avLst/>
          </a:prstGeom>
          <a:noFill/>
          <a:ln/>
        </p:spPr>
        <p:txBody>
          <a:bodyPr wrap="none" lIns="0" tIns="0" rIns="0" bIns="0" rtlCol="0" anchor="ctr"/>
          <a:lstStyle/>
          <a:p>
            <a:pPr marL="457200" indent="-457200" algn="l">
              <a:lnSpc>
                <a:spcPts val="2340"/>
              </a:lnSpc>
              <a:buAutoNum type="arabicPeriod" startAt="2"/>
            </a:pPr>
            <a:r>
              <a:rPr lang="en-US" sz="2000" b="1" dirty="0">
                <a:latin typeface="+mj-lt"/>
                <a:ea typeface="思源黑体-思源黑体-Medium" pitchFamily="34" charset="-122"/>
                <a:cs typeface="思源黑体-思源黑体-Medium" pitchFamily="34" charset="-120"/>
              </a:rPr>
              <a:t>NRZI  (NonReturn to Zero Inverted)</a:t>
            </a:r>
            <a:endParaRPr lang="en-US" sz="2000" dirty="0">
              <a:latin typeface="+mj-lt"/>
            </a:endParaRPr>
          </a:p>
        </p:txBody>
      </p:sp>
      <p:sp>
        <p:nvSpPr>
          <p:cNvPr id="15" name="Text 11"/>
          <p:cNvSpPr/>
          <p:nvPr/>
        </p:nvSpPr>
        <p:spPr>
          <a:xfrm>
            <a:off x="630428" y="4895596"/>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easy to engineer</a:t>
            </a:r>
            <a:endParaRPr lang="en-US" sz="2000" dirty="0">
              <a:latin typeface="+mj-lt"/>
            </a:endParaRPr>
          </a:p>
        </p:txBody>
      </p:sp>
      <p:sp>
        <p:nvSpPr>
          <p:cNvPr id="16" name="Text 12"/>
          <p:cNvSpPr/>
          <p:nvPr/>
        </p:nvSpPr>
        <p:spPr>
          <a:xfrm>
            <a:off x="467868" y="2316226"/>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0—high level</a:t>
            </a:r>
            <a:endParaRPr lang="en-US" sz="2000" dirty="0">
              <a:latin typeface="+mj-lt"/>
            </a:endParaRPr>
          </a:p>
        </p:txBody>
      </p:sp>
      <p:sp>
        <p:nvSpPr>
          <p:cNvPr id="17" name="Text 13"/>
          <p:cNvSpPr/>
          <p:nvPr/>
        </p:nvSpPr>
        <p:spPr>
          <a:xfrm>
            <a:off x="630428" y="5325364"/>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More reliable to detect a transition in presence of noise using NRZI</a:t>
            </a:r>
            <a:endParaRPr lang="en-US" sz="2000" dirty="0">
              <a:latin typeface="+mj-lt"/>
            </a:endParaRPr>
          </a:p>
        </p:txBody>
      </p:sp>
      <p:sp>
        <p:nvSpPr>
          <p:cNvPr id="18" name="Text 14"/>
          <p:cNvSpPr/>
          <p:nvPr/>
        </p:nvSpPr>
        <p:spPr>
          <a:xfrm>
            <a:off x="630428" y="5764276"/>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make good use of bandwidth</a:t>
            </a:r>
            <a:endParaRPr lang="en-US" sz="2000" dirty="0">
              <a:latin typeface="+mj-lt"/>
            </a:endParaRPr>
          </a:p>
        </p:txBody>
      </p:sp>
      <p:sp>
        <p:nvSpPr>
          <p:cNvPr id="19" name="Text 15"/>
          <p:cNvSpPr/>
          <p:nvPr/>
        </p:nvSpPr>
        <p:spPr>
          <a:xfrm>
            <a:off x="897128" y="157022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2 types</a:t>
            </a:r>
            <a:endParaRPr lang="en-US" sz="2000" dirty="0">
              <a:latin typeface="+mj-lt"/>
            </a:endParaRPr>
          </a:p>
        </p:txBody>
      </p:sp>
      <p:sp>
        <p:nvSpPr>
          <p:cNvPr id="20" name="Text 16"/>
          <p:cNvSpPr/>
          <p:nvPr/>
        </p:nvSpPr>
        <p:spPr>
          <a:xfrm>
            <a:off x="467868" y="2644902"/>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1—low level</a:t>
            </a:r>
            <a:endParaRPr lang="en-US" sz="2000" dirty="0">
              <a:latin typeface="+mj-lt"/>
            </a:endParaRPr>
          </a:p>
        </p:txBody>
      </p:sp>
      <p:sp>
        <p:nvSpPr>
          <p:cNvPr id="21" name="Text 17"/>
          <p:cNvSpPr/>
          <p:nvPr/>
        </p:nvSpPr>
        <p:spPr>
          <a:xfrm>
            <a:off x="3957828" y="6808216"/>
            <a:ext cx="10316972" cy="45719"/>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Presence of dc component</a:t>
            </a:r>
            <a:endParaRPr lang="en-US" sz="2000" dirty="0">
              <a:latin typeface="+mj-lt"/>
            </a:endParaRPr>
          </a:p>
        </p:txBody>
      </p:sp>
      <p:pic>
        <p:nvPicPr>
          <p:cNvPr id="22" name="Picture 21">
            <a:extLst>
              <a:ext uri="{FF2B5EF4-FFF2-40B4-BE49-F238E27FC236}">
                <a16:creationId xmlns:a16="http://schemas.microsoft.com/office/drawing/2014/main" id="{E3A07838-018B-4778-856C-F05BF5B2B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pic>
        <p:nvPicPr>
          <p:cNvPr id="26" name="Picture 25">
            <a:extLst>
              <a:ext uri="{FF2B5EF4-FFF2-40B4-BE49-F238E27FC236}">
                <a16:creationId xmlns:a16="http://schemas.microsoft.com/office/drawing/2014/main" id="{873EFCA0-F007-4D2C-8C54-6247A9CF42AC}"/>
              </a:ext>
            </a:extLst>
          </p:cNvPr>
          <p:cNvPicPr>
            <a:picLocks noChangeAspect="1"/>
          </p:cNvPicPr>
          <p:nvPr/>
        </p:nvPicPr>
        <p:blipFill>
          <a:blip r:embed="rId4"/>
          <a:stretch>
            <a:fillRect/>
          </a:stretch>
        </p:blipFill>
        <p:spPr>
          <a:xfrm>
            <a:off x="5566156" y="1561941"/>
            <a:ext cx="8167116" cy="33793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45083" y="46956"/>
            <a:ext cx="14630400" cy="9372600"/>
          </a:xfrm>
          <a:prstGeom prst="rect">
            <a:avLst/>
          </a:prstGeom>
        </p:spPr>
      </p:pic>
      <p:sp>
        <p:nvSpPr>
          <p:cNvPr id="4" name="Text 0"/>
          <p:cNvSpPr/>
          <p:nvPr/>
        </p:nvSpPr>
        <p:spPr>
          <a:xfrm>
            <a:off x="786384" y="6738095"/>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Solution for this problem is: insert additional bits (scramble data)</a:t>
            </a:r>
            <a:endParaRPr lang="en-US" sz="2000" dirty="0">
              <a:latin typeface="+mj-lt"/>
            </a:endParaRPr>
          </a:p>
        </p:txBody>
      </p:sp>
      <p:sp>
        <p:nvSpPr>
          <p:cNvPr id="5" name="Text 1"/>
          <p:cNvSpPr/>
          <p:nvPr/>
        </p:nvSpPr>
        <p:spPr>
          <a:xfrm>
            <a:off x="786384" y="7125494"/>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not as efficient as NRZ, because receiver distinguishes between three levels: +A, -A, 0</a:t>
            </a:r>
            <a:endParaRPr lang="en-US" sz="2000" dirty="0">
              <a:latin typeface="+mj-lt"/>
            </a:endParaRPr>
          </a:p>
        </p:txBody>
      </p:sp>
      <p:sp>
        <p:nvSpPr>
          <p:cNvPr id="6" name="Text 2"/>
          <p:cNvSpPr/>
          <p:nvPr/>
        </p:nvSpPr>
        <p:spPr>
          <a:xfrm>
            <a:off x="774473" y="6318795"/>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lack of synchronization when long runs of 0’s in Bipolar-AMI and 1’s in Pseudoternary</a:t>
            </a:r>
            <a:endParaRPr lang="en-US" sz="2000" dirty="0">
              <a:latin typeface="+mj-lt"/>
            </a:endParaRPr>
          </a:p>
        </p:txBody>
      </p:sp>
      <p:sp>
        <p:nvSpPr>
          <p:cNvPr id="7" name="Text 3"/>
          <p:cNvSpPr/>
          <p:nvPr/>
        </p:nvSpPr>
        <p:spPr>
          <a:xfrm>
            <a:off x="1024128" y="1955292"/>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Use more than two levels</a:t>
            </a:r>
            <a:endParaRPr lang="en-US" sz="2000" dirty="0">
              <a:latin typeface="+mj-lt"/>
            </a:endParaRPr>
          </a:p>
        </p:txBody>
      </p:sp>
      <p:sp>
        <p:nvSpPr>
          <p:cNvPr id="8" name="Text 4"/>
          <p:cNvSpPr/>
          <p:nvPr/>
        </p:nvSpPr>
        <p:spPr>
          <a:xfrm>
            <a:off x="774246" y="5251383"/>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easy error detection</a:t>
            </a:r>
            <a:endParaRPr lang="en-US" sz="2000" dirty="0">
              <a:latin typeface="+mj-lt"/>
            </a:endParaRPr>
          </a:p>
        </p:txBody>
      </p:sp>
      <p:sp>
        <p:nvSpPr>
          <p:cNvPr id="9" name="Text 5"/>
          <p:cNvSpPr/>
          <p:nvPr/>
        </p:nvSpPr>
        <p:spPr>
          <a:xfrm>
            <a:off x="1024128" y="281482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0 – no line signal</a:t>
            </a:r>
            <a:endParaRPr lang="en-US" sz="2000" dirty="0">
              <a:latin typeface="+mj-lt"/>
            </a:endParaRPr>
          </a:p>
        </p:txBody>
      </p:sp>
      <p:sp>
        <p:nvSpPr>
          <p:cNvPr id="10" name="Text 6"/>
          <p:cNvSpPr/>
          <p:nvPr/>
        </p:nvSpPr>
        <p:spPr>
          <a:xfrm>
            <a:off x="843861" y="5876866"/>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Disadvantage</a:t>
            </a:r>
            <a:r>
              <a:rPr lang="en-US" sz="2000" dirty="0">
                <a:latin typeface="+mj-lt"/>
                <a:ea typeface="思源黑体-思源黑体-Medium" pitchFamily="34" charset="-122"/>
                <a:cs typeface="思源黑体-思源黑体-Medium" pitchFamily="34" charset="-120"/>
              </a:rPr>
              <a:t> :</a:t>
            </a:r>
            <a:endParaRPr lang="en-US" sz="2000" dirty="0">
              <a:latin typeface="+mj-lt"/>
            </a:endParaRPr>
          </a:p>
        </p:txBody>
      </p:sp>
      <p:sp>
        <p:nvSpPr>
          <p:cNvPr id="11" name="Text 7"/>
          <p:cNvSpPr/>
          <p:nvPr/>
        </p:nvSpPr>
        <p:spPr>
          <a:xfrm>
            <a:off x="1024128" y="3244596"/>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1 – +/− level alternating for successive ones</a:t>
            </a:r>
            <a:endParaRPr lang="en-US" sz="2000" dirty="0">
              <a:latin typeface="+mj-lt"/>
            </a:endParaRPr>
          </a:p>
        </p:txBody>
      </p:sp>
      <p:sp>
        <p:nvSpPr>
          <p:cNvPr id="12" name="Text 8"/>
          <p:cNvSpPr/>
          <p:nvPr/>
        </p:nvSpPr>
        <p:spPr>
          <a:xfrm>
            <a:off x="786384" y="438468"/>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Multilevel Binary</a:t>
            </a:r>
            <a:endParaRPr lang="en-US" sz="4400" dirty="0">
              <a:latin typeface="Cambria" panose="02040503050406030204" pitchFamily="18" charset="0"/>
              <a:ea typeface="Cambria" panose="02040503050406030204" pitchFamily="18" charset="0"/>
            </a:endParaRPr>
          </a:p>
        </p:txBody>
      </p:sp>
      <p:sp>
        <p:nvSpPr>
          <p:cNvPr id="13" name="Text 9"/>
          <p:cNvSpPr/>
          <p:nvPr/>
        </p:nvSpPr>
        <p:spPr>
          <a:xfrm>
            <a:off x="7429655" y="2194338"/>
            <a:ext cx="5241312"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    2. Pseudoternary</a:t>
            </a:r>
            <a:endParaRPr lang="en-US" sz="2000" b="1" dirty="0">
              <a:latin typeface="+mj-lt"/>
            </a:endParaRPr>
          </a:p>
        </p:txBody>
      </p:sp>
      <p:sp>
        <p:nvSpPr>
          <p:cNvPr id="14" name="Text 10"/>
          <p:cNvSpPr/>
          <p:nvPr/>
        </p:nvSpPr>
        <p:spPr>
          <a:xfrm>
            <a:off x="843861" y="4431504"/>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Advantage</a:t>
            </a:r>
            <a:r>
              <a:rPr lang="en-US" sz="2000" dirty="0">
                <a:latin typeface="+mj-lt"/>
                <a:ea typeface="思源黑体-思源黑体-Medium" pitchFamily="34" charset="-122"/>
                <a:cs typeface="思源黑体-思源黑体-Medium" pitchFamily="34" charset="-120"/>
              </a:rPr>
              <a:t> :</a:t>
            </a:r>
            <a:endParaRPr lang="en-US" sz="2000" dirty="0">
              <a:latin typeface="+mj-lt"/>
            </a:endParaRPr>
          </a:p>
        </p:txBody>
      </p:sp>
      <p:sp>
        <p:nvSpPr>
          <p:cNvPr id="15" name="Text 11"/>
          <p:cNvSpPr/>
          <p:nvPr/>
        </p:nvSpPr>
        <p:spPr>
          <a:xfrm>
            <a:off x="1024128" y="139750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Address the deficiencies of NRZ</a:t>
            </a:r>
            <a:endParaRPr lang="en-US" sz="2000" dirty="0">
              <a:latin typeface="+mj-lt"/>
            </a:endParaRPr>
          </a:p>
        </p:txBody>
      </p:sp>
      <p:sp>
        <p:nvSpPr>
          <p:cNvPr id="16" name="Text 12"/>
          <p:cNvSpPr/>
          <p:nvPr/>
        </p:nvSpPr>
        <p:spPr>
          <a:xfrm>
            <a:off x="786384" y="478850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no loss of sync if a long string of 1’s occur </a:t>
            </a:r>
          </a:p>
          <a:p>
            <a:pPr marL="0" indent="0" algn="l">
              <a:lnSpc>
                <a:spcPts val="2340"/>
              </a:lnSpc>
              <a:buNone/>
            </a:pPr>
            <a:r>
              <a:rPr lang="en-US" sz="2000" dirty="0">
                <a:latin typeface="+mj-lt"/>
                <a:ea typeface="思源黑体-思源黑体-Medium" pitchFamily="34" charset="-122"/>
                <a:cs typeface="思源黑体-思源黑体-Medium" pitchFamily="34" charset="-120"/>
              </a:rPr>
              <a:t>        in Bipolar-AMI and 0’s in Pseudoternary</a:t>
            </a:r>
            <a:endParaRPr lang="en-US" sz="2000" dirty="0">
              <a:latin typeface="+mj-lt"/>
            </a:endParaRPr>
          </a:p>
        </p:txBody>
      </p:sp>
      <p:sp>
        <p:nvSpPr>
          <p:cNvPr id="17" name="Text 13"/>
          <p:cNvSpPr/>
          <p:nvPr/>
        </p:nvSpPr>
        <p:spPr>
          <a:xfrm>
            <a:off x="7429655" y="2624106"/>
            <a:ext cx="524131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0 – +/− level alternating for successive zeroes</a:t>
            </a:r>
            <a:endParaRPr lang="en-US" sz="2000" dirty="0">
              <a:latin typeface="+mj-lt"/>
            </a:endParaRPr>
          </a:p>
        </p:txBody>
      </p:sp>
      <p:sp>
        <p:nvSpPr>
          <p:cNvPr id="18" name="Text 14"/>
          <p:cNvSpPr/>
          <p:nvPr/>
        </p:nvSpPr>
        <p:spPr>
          <a:xfrm>
            <a:off x="7429655" y="3053874"/>
            <a:ext cx="524131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1 – no line signal</a:t>
            </a:r>
            <a:endParaRPr lang="en-US" sz="2000" dirty="0">
              <a:latin typeface="+mj-lt"/>
            </a:endParaRPr>
          </a:p>
        </p:txBody>
      </p:sp>
      <p:sp>
        <p:nvSpPr>
          <p:cNvPr id="19" name="Text 15"/>
          <p:cNvSpPr/>
          <p:nvPr/>
        </p:nvSpPr>
        <p:spPr>
          <a:xfrm>
            <a:off x="1024128" y="2385060"/>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    1. Bipolar-AMI</a:t>
            </a:r>
            <a:endParaRPr lang="en-US" sz="2000" b="1" dirty="0">
              <a:latin typeface="+mj-lt"/>
            </a:endParaRPr>
          </a:p>
        </p:txBody>
      </p:sp>
      <p:pic>
        <p:nvPicPr>
          <p:cNvPr id="20" name="Picture 19">
            <a:extLst>
              <a:ext uri="{FF2B5EF4-FFF2-40B4-BE49-F238E27FC236}">
                <a16:creationId xmlns:a16="http://schemas.microsoft.com/office/drawing/2014/main" id="{8127EABC-4984-4DDA-BF04-B161B8997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pic>
        <p:nvPicPr>
          <p:cNvPr id="26" name="Picture 25">
            <a:extLst>
              <a:ext uri="{FF2B5EF4-FFF2-40B4-BE49-F238E27FC236}">
                <a16:creationId xmlns:a16="http://schemas.microsoft.com/office/drawing/2014/main" id="{71DA4FB7-D39A-4C96-9D2B-620E60576557}"/>
              </a:ext>
            </a:extLst>
          </p:cNvPr>
          <p:cNvPicPr>
            <a:picLocks noChangeAspect="1"/>
          </p:cNvPicPr>
          <p:nvPr/>
        </p:nvPicPr>
        <p:blipFill>
          <a:blip r:embed="rId5"/>
          <a:stretch>
            <a:fillRect/>
          </a:stretch>
        </p:blipFill>
        <p:spPr>
          <a:xfrm>
            <a:off x="6256923" y="3546348"/>
            <a:ext cx="7505700" cy="2638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42900"/>
            <a:ext cx="14630400" cy="8467344"/>
          </a:xfrm>
          <a:prstGeom prst="rect">
            <a:avLst/>
          </a:prstGeom>
        </p:spPr>
      </p:pic>
      <p:pic>
        <p:nvPicPr>
          <p:cNvPr id="3" name="Image 1" descr="preencoded.png"/>
          <p:cNvPicPr>
            <a:picLocks noChangeAspect="1"/>
          </p:cNvPicPr>
          <p:nvPr/>
        </p:nvPicPr>
        <p:blipFill>
          <a:blip r:embed="rId4"/>
          <a:stretch>
            <a:fillRect/>
          </a:stretch>
        </p:blipFill>
        <p:spPr>
          <a:xfrm>
            <a:off x="6515100" y="1562100"/>
            <a:ext cx="6533388" cy="1784604"/>
          </a:xfrm>
          <a:prstGeom prst="rect">
            <a:avLst/>
          </a:prstGeom>
        </p:spPr>
      </p:pic>
      <p:pic>
        <p:nvPicPr>
          <p:cNvPr id="4" name="Image 2" descr="preencoded.png"/>
          <p:cNvPicPr>
            <a:picLocks noChangeAspect="1"/>
          </p:cNvPicPr>
          <p:nvPr/>
        </p:nvPicPr>
        <p:blipFill>
          <a:blip r:embed="rId5"/>
          <a:stretch>
            <a:fillRect/>
          </a:stretch>
        </p:blipFill>
        <p:spPr>
          <a:xfrm>
            <a:off x="483233" y="1543304"/>
            <a:ext cx="6031867" cy="1803400"/>
          </a:xfrm>
          <a:prstGeom prst="rect">
            <a:avLst/>
          </a:prstGeom>
        </p:spPr>
      </p:pic>
      <p:sp>
        <p:nvSpPr>
          <p:cNvPr id="5" name="Text 0"/>
          <p:cNvSpPr/>
          <p:nvPr/>
        </p:nvSpPr>
        <p:spPr>
          <a:xfrm>
            <a:off x="1024128" y="4099052"/>
            <a:ext cx="12591288" cy="301752"/>
          </a:xfrm>
          <a:prstGeom prst="rect">
            <a:avLst/>
          </a:prstGeom>
          <a:noFill/>
          <a:ln/>
        </p:spPr>
        <p:txBody>
          <a:bodyPr wrap="none" lIns="0" tIns="0" rIns="0" bIns="0" rtlCol="0" anchor="ctr"/>
          <a:lstStyle/>
          <a:p>
            <a:pPr marL="342900" indent="-342900" algn="l">
              <a:lnSpc>
                <a:spcPts val="2340"/>
              </a:lnSpc>
              <a:buFont typeface="+mj-lt"/>
              <a:buAutoNum type="arabicPeriod"/>
            </a:pPr>
            <a:r>
              <a:rPr lang="en-US" sz="1670" dirty="0">
                <a:solidFill>
                  <a:srgbClr val="172748"/>
                </a:solidFill>
                <a:latin typeface="+mj-lt"/>
                <a:ea typeface="思源黑体-思源黑体-Medium" pitchFamily="34" charset="-122"/>
                <a:cs typeface="思源黑体-思源黑体-Medium" pitchFamily="34" charset="-120"/>
              </a:rPr>
              <a:t>    </a:t>
            </a:r>
            <a:r>
              <a:rPr lang="en-US" sz="1670" b="1" dirty="0">
                <a:solidFill>
                  <a:srgbClr val="172748"/>
                </a:solidFill>
                <a:latin typeface="+mj-lt"/>
                <a:ea typeface="思源黑体-思源黑体-Medium" pitchFamily="34" charset="-122"/>
                <a:cs typeface="思源黑体-思源黑体-Medium" pitchFamily="34" charset="-120"/>
              </a:rPr>
              <a:t>Manchester</a:t>
            </a:r>
            <a:endParaRPr lang="en-US" sz="1670" b="1" dirty="0">
              <a:latin typeface="+mj-lt"/>
            </a:endParaRPr>
          </a:p>
        </p:txBody>
      </p:sp>
      <p:sp>
        <p:nvSpPr>
          <p:cNvPr id="6" name="Text 1"/>
          <p:cNvSpPr/>
          <p:nvPr/>
        </p:nvSpPr>
        <p:spPr>
          <a:xfrm>
            <a:off x="1024128" y="5397500"/>
            <a:ext cx="12591288" cy="301752"/>
          </a:xfrm>
          <a:prstGeom prst="rect">
            <a:avLst/>
          </a:prstGeom>
          <a:noFill/>
          <a:ln/>
        </p:spPr>
        <p:txBody>
          <a:bodyPr wrap="none" lIns="0" tIns="0" rIns="0" bIns="0" rtlCol="0" anchor="ctr"/>
          <a:lstStyle/>
          <a:p>
            <a:pPr marL="0" indent="0" algn="l">
              <a:lnSpc>
                <a:spcPts val="2340"/>
              </a:lnSpc>
              <a:buNone/>
            </a:pPr>
            <a:r>
              <a:rPr lang="en-US" sz="1670" dirty="0">
                <a:latin typeface="+mj-lt"/>
                <a:ea typeface="思源黑体-思源黑体-Medium" pitchFamily="34" charset="-122"/>
                <a:cs typeface="思源黑体-思源黑体-Medium" pitchFamily="34" charset="-120"/>
              </a:rPr>
              <a:t>            1—low to high </a:t>
            </a:r>
            <a:endParaRPr lang="en-US" sz="1670" dirty="0">
              <a:latin typeface="+mj-lt"/>
            </a:endParaRPr>
          </a:p>
        </p:txBody>
      </p:sp>
      <p:sp>
        <p:nvSpPr>
          <p:cNvPr id="7" name="Text 2"/>
          <p:cNvSpPr/>
          <p:nvPr/>
        </p:nvSpPr>
        <p:spPr>
          <a:xfrm>
            <a:off x="1024128" y="4967732"/>
            <a:ext cx="12591288" cy="301752"/>
          </a:xfrm>
          <a:prstGeom prst="rect">
            <a:avLst/>
          </a:prstGeom>
          <a:noFill/>
          <a:ln/>
        </p:spPr>
        <p:txBody>
          <a:bodyPr wrap="none" lIns="0" tIns="0" rIns="0" bIns="0" rtlCol="0" anchor="ctr"/>
          <a:lstStyle/>
          <a:p>
            <a:pPr marL="0" indent="0" algn="l">
              <a:lnSpc>
                <a:spcPts val="2340"/>
              </a:lnSpc>
              <a:buNone/>
            </a:pPr>
            <a:r>
              <a:rPr lang="en-US" sz="1670" dirty="0">
                <a:latin typeface="+mj-lt"/>
                <a:ea typeface="思源黑体-思源黑体-Medium" pitchFamily="34" charset="-122"/>
                <a:cs typeface="思源黑体-思源黑体-Medium" pitchFamily="34" charset="-120"/>
              </a:rPr>
              <a:t>            0—high to low </a:t>
            </a:r>
            <a:endParaRPr lang="en-US" sz="1670" dirty="0">
              <a:latin typeface="+mj-lt"/>
            </a:endParaRPr>
          </a:p>
        </p:txBody>
      </p:sp>
      <p:sp>
        <p:nvSpPr>
          <p:cNvPr id="8" name="Text 3"/>
          <p:cNvSpPr/>
          <p:nvPr/>
        </p:nvSpPr>
        <p:spPr>
          <a:xfrm>
            <a:off x="1024128" y="4537964"/>
            <a:ext cx="12591288" cy="301752"/>
          </a:xfrm>
          <a:prstGeom prst="rect">
            <a:avLst/>
          </a:prstGeom>
          <a:noFill/>
          <a:ln/>
        </p:spPr>
        <p:txBody>
          <a:bodyPr wrap="none" lIns="0" tIns="0" rIns="0" bIns="0" rtlCol="0" anchor="ctr"/>
          <a:lstStyle/>
          <a:p>
            <a:pPr marL="0" indent="0" algn="l">
              <a:lnSpc>
                <a:spcPts val="2340"/>
              </a:lnSpc>
              <a:buNone/>
            </a:pPr>
            <a:r>
              <a:rPr lang="en-US" sz="1670" dirty="0">
                <a:latin typeface="+mj-lt"/>
                <a:ea typeface="思源黑体-思源黑体-Medium" pitchFamily="34" charset="-122"/>
                <a:cs typeface="思源黑体-思源黑体-Medium" pitchFamily="34" charset="-120"/>
              </a:rPr>
              <a:t>        • has transition in middle of each bit period</a:t>
            </a:r>
            <a:endParaRPr lang="en-US" sz="1670" dirty="0">
              <a:latin typeface="+mj-lt"/>
            </a:endParaRPr>
          </a:p>
        </p:txBody>
      </p:sp>
      <p:sp>
        <p:nvSpPr>
          <p:cNvPr id="9" name="Text 4"/>
          <p:cNvSpPr/>
          <p:nvPr/>
        </p:nvSpPr>
        <p:spPr>
          <a:xfrm>
            <a:off x="7255116" y="4723892"/>
            <a:ext cx="8224373" cy="45719"/>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mj-lt"/>
                <a:ea typeface="思源黑体-思源黑体-Medium" pitchFamily="34" charset="-122"/>
                <a:cs typeface="思源黑体-思源黑体-Medium" pitchFamily="34" charset="-120"/>
              </a:rPr>
              <a:t>        • Always has transition in middle of each bit period</a:t>
            </a:r>
            <a:endParaRPr lang="en-US" sz="1670" dirty="0">
              <a:latin typeface="+mj-lt"/>
            </a:endParaRPr>
          </a:p>
        </p:txBody>
      </p:sp>
      <p:sp>
        <p:nvSpPr>
          <p:cNvPr id="10" name="Text 5"/>
          <p:cNvSpPr/>
          <p:nvPr/>
        </p:nvSpPr>
        <p:spPr>
          <a:xfrm>
            <a:off x="781812" y="553212"/>
            <a:ext cx="8400288"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Biphase</a:t>
            </a:r>
            <a:endParaRPr lang="en-US" sz="4400" dirty="0">
              <a:latin typeface="Cambria" panose="02040503050406030204" pitchFamily="18" charset="0"/>
              <a:ea typeface="Cambria" panose="02040503050406030204" pitchFamily="18" charset="0"/>
            </a:endParaRPr>
          </a:p>
        </p:txBody>
      </p:sp>
      <p:sp>
        <p:nvSpPr>
          <p:cNvPr id="11" name="Text 6"/>
          <p:cNvSpPr/>
          <p:nvPr/>
        </p:nvSpPr>
        <p:spPr>
          <a:xfrm>
            <a:off x="7255116" y="5583428"/>
            <a:ext cx="8224373" cy="45719"/>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mj-lt"/>
                <a:ea typeface="思源黑体-思源黑体-Medium" pitchFamily="34" charset="-122"/>
                <a:cs typeface="思源黑体-思源黑体-Medium" pitchFamily="34" charset="-120"/>
              </a:rPr>
              <a:t>            1—no transition at start of bit period</a:t>
            </a:r>
            <a:endParaRPr lang="en-US" sz="1670" dirty="0">
              <a:latin typeface="+mj-lt"/>
            </a:endParaRPr>
          </a:p>
        </p:txBody>
      </p:sp>
      <p:sp>
        <p:nvSpPr>
          <p:cNvPr id="12" name="Text 7"/>
          <p:cNvSpPr/>
          <p:nvPr/>
        </p:nvSpPr>
        <p:spPr>
          <a:xfrm>
            <a:off x="1024128" y="3669284"/>
            <a:ext cx="12591288" cy="301752"/>
          </a:xfrm>
          <a:prstGeom prst="rect">
            <a:avLst/>
          </a:prstGeom>
          <a:noFill/>
          <a:ln/>
        </p:spPr>
        <p:txBody>
          <a:bodyPr wrap="none" lIns="0" tIns="0" rIns="0" bIns="0" rtlCol="0" anchor="ctr"/>
          <a:lstStyle/>
          <a:p>
            <a:pPr marL="0" indent="0" algn="l">
              <a:lnSpc>
                <a:spcPts val="2340"/>
              </a:lnSpc>
              <a:buNone/>
            </a:pPr>
            <a:r>
              <a:rPr lang="en-US" sz="1670" b="1" dirty="0">
                <a:solidFill>
                  <a:srgbClr val="172748"/>
                </a:solidFill>
                <a:latin typeface="+mj-lt"/>
                <a:ea typeface="思源黑体-思源黑体-Medium" pitchFamily="34" charset="-122"/>
                <a:cs typeface="思源黑体-思源黑体-Medium" pitchFamily="34" charset="-120"/>
              </a:rPr>
              <a:t>2</a:t>
            </a:r>
            <a:r>
              <a:rPr lang="en-US" sz="1670" dirty="0">
                <a:solidFill>
                  <a:srgbClr val="172748"/>
                </a:solidFill>
                <a:latin typeface="+mj-lt"/>
                <a:ea typeface="思源黑体-思源黑体-Medium" pitchFamily="34" charset="-122"/>
                <a:cs typeface="思源黑体-思源黑体-Medium" pitchFamily="34" charset="-120"/>
              </a:rPr>
              <a:t> </a:t>
            </a:r>
            <a:r>
              <a:rPr lang="en-US" sz="1670" b="1" dirty="0">
                <a:solidFill>
                  <a:srgbClr val="172748"/>
                </a:solidFill>
                <a:latin typeface="+mj-lt"/>
                <a:ea typeface="思源黑体-思源黑体-Medium" pitchFamily="34" charset="-122"/>
                <a:cs typeface="思源黑体-思源黑体-Medium" pitchFamily="34" charset="-120"/>
              </a:rPr>
              <a:t>types</a:t>
            </a:r>
            <a:endParaRPr lang="en-US" sz="1670" b="1" dirty="0">
              <a:latin typeface="+mj-lt"/>
            </a:endParaRPr>
          </a:p>
        </p:txBody>
      </p:sp>
      <p:sp>
        <p:nvSpPr>
          <p:cNvPr id="13" name="Text 8"/>
          <p:cNvSpPr/>
          <p:nvPr/>
        </p:nvSpPr>
        <p:spPr>
          <a:xfrm>
            <a:off x="7255116" y="5153660"/>
            <a:ext cx="8224373" cy="45719"/>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mj-lt"/>
                <a:ea typeface="思源黑体-思源黑体-Medium" pitchFamily="34" charset="-122"/>
                <a:cs typeface="思源黑体-思源黑体-Medium" pitchFamily="34" charset="-120"/>
              </a:rPr>
              <a:t>            0—transition at start of bit period</a:t>
            </a:r>
            <a:endParaRPr lang="en-US" sz="1670" dirty="0">
              <a:latin typeface="+mj-lt"/>
            </a:endParaRPr>
          </a:p>
        </p:txBody>
      </p:sp>
      <p:sp>
        <p:nvSpPr>
          <p:cNvPr id="14" name="Text 9"/>
          <p:cNvSpPr/>
          <p:nvPr/>
        </p:nvSpPr>
        <p:spPr>
          <a:xfrm>
            <a:off x="7242053" y="4206240"/>
            <a:ext cx="8224373" cy="148845"/>
          </a:xfrm>
          <a:prstGeom prst="rect">
            <a:avLst/>
          </a:prstGeom>
          <a:noFill/>
          <a:ln/>
        </p:spPr>
        <p:txBody>
          <a:bodyPr wrap="none" lIns="0" tIns="0" rIns="0" bIns="0" rtlCol="0" anchor="ctr"/>
          <a:lstStyle/>
          <a:p>
            <a:pPr algn="l">
              <a:lnSpc>
                <a:spcPts val="2340"/>
              </a:lnSpc>
            </a:pPr>
            <a:r>
              <a:rPr lang="en-US" sz="1670" b="1" dirty="0">
                <a:solidFill>
                  <a:srgbClr val="172748"/>
                </a:solidFill>
                <a:latin typeface="+mj-lt"/>
                <a:ea typeface="思源黑体-思源黑体-Medium" pitchFamily="34" charset="-122"/>
                <a:cs typeface="思源黑体-思源黑体-Medium" pitchFamily="34" charset="-120"/>
              </a:rPr>
              <a:t>2.     Differential Manchester Encoding</a:t>
            </a:r>
            <a:endParaRPr lang="en-US" sz="1670" b="1" dirty="0">
              <a:latin typeface="+mj-lt"/>
            </a:endParaRPr>
          </a:p>
        </p:txBody>
      </p:sp>
      <p:pic>
        <p:nvPicPr>
          <p:cNvPr id="15" name="Picture 14">
            <a:extLst>
              <a:ext uri="{FF2B5EF4-FFF2-40B4-BE49-F238E27FC236}">
                <a16:creationId xmlns:a16="http://schemas.microsoft.com/office/drawing/2014/main" id="{68324314-64E3-4449-B4D6-02FF8C0783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sp>
        <p:nvSpPr>
          <p:cNvPr id="6" name="Text 0"/>
          <p:cNvSpPr/>
          <p:nvPr/>
        </p:nvSpPr>
        <p:spPr>
          <a:xfrm>
            <a:off x="709168" y="630936"/>
            <a:ext cx="8092440" cy="667512"/>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Cambria" panose="02040503050406030204" pitchFamily="18" charset="0"/>
                <a:ea typeface="Cambria" panose="02040503050406030204" pitchFamily="18" charset="0"/>
                <a:cs typeface="思源黑体-思源黑体-Medium" pitchFamily="34" charset="-120"/>
              </a:rPr>
              <a:t>Biphase Pros and Cons</a:t>
            </a:r>
            <a:endParaRPr lang="en-US" sz="4190" dirty="0">
              <a:latin typeface="Cambria" panose="02040503050406030204" pitchFamily="18" charset="0"/>
              <a:ea typeface="Cambria" panose="02040503050406030204" pitchFamily="18" charset="0"/>
            </a:endParaRPr>
          </a:p>
        </p:txBody>
      </p:sp>
      <p:sp>
        <p:nvSpPr>
          <p:cNvPr id="7" name="Text 1"/>
          <p:cNvSpPr/>
          <p:nvPr/>
        </p:nvSpPr>
        <p:spPr>
          <a:xfrm>
            <a:off x="1536192" y="3566160"/>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has no dc component</a:t>
            </a:r>
            <a:endParaRPr lang="en-US" sz="2000" dirty="0">
              <a:latin typeface="+mj-lt"/>
            </a:endParaRPr>
          </a:p>
        </p:txBody>
      </p:sp>
      <p:sp>
        <p:nvSpPr>
          <p:cNvPr id="9" name="Text 3"/>
          <p:cNvSpPr/>
          <p:nvPr/>
        </p:nvSpPr>
        <p:spPr>
          <a:xfrm>
            <a:off x="1536192" y="4864608"/>
            <a:ext cx="7333488" cy="338328"/>
          </a:xfrm>
          <a:prstGeom prst="rect">
            <a:avLst/>
          </a:prstGeom>
          <a:noFill/>
          <a:ln/>
        </p:spPr>
        <p:txBody>
          <a:bodyPr wrap="none" lIns="0" tIns="0" rIns="0" bIns="0" rtlCol="0" anchor="ctr"/>
          <a:lstStyle/>
          <a:p>
            <a:pPr marL="0" indent="0" algn="l">
              <a:lnSpc>
                <a:spcPts val="2620"/>
              </a:lnSpc>
              <a:buNone/>
            </a:pPr>
            <a:r>
              <a:rPr lang="en-US" sz="2000" b="1" dirty="0">
                <a:solidFill>
                  <a:srgbClr val="172748"/>
                </a:solidFill>
                <a:latin typeface="+mj-lt"/>
                <a:ea typeface="思源黑体-思源黑体-Medium" pitchFamily="34" charset="-122"/>
                <a:cs typeface="思源黑体-思源黑体-Medium" pitchFamily="34" charset="-120"/>
              </a:rPr>
              <a:t>Cons</a:t>
            </a:r>
            <a:endParaRPr lang="en-US" sz="2000" b="1" dirty="0">
              <a:latin typeface="+mj-lt"/>
            </a:endParaRPr>
          </a:p>
        </p:txBody>
      </p:sp>
      <p:sp>
        <p:nvSpPr>
          <p:cNvPr id="10" name="Text 4"/>
          <p:cNvSpPr/>
          <p:nvPr/>
        </p:nvSpPr>
        <p:spPr>
          <a:xfrm>
            <a:off x="1536192" y="6190488"/>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requires more bandwidth</a:t>
            </a:r>
            <a:endParaRPr lang="en-US" sz="2000" dirty="0">
              <a:latin typeface="+mj-lt"/>
            </a:endParaRPr>
          </a:p>
        </p:txBody>
      </p:sp>
      <p:sp>
        <p:nvSpPr>
          <p:cNvPr id="11" name="Text 5"/>
          <p:cNvSpPr/>
          <p:nvPr/>
        </p:nvSpPr>
        <p:spPr>
          <a:xfrm>
            <a:off x="1536192" y="5760720"/>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maximum modulation rate is twice NRZ</a:t>
            </a:r>
            <a:endParaRPr lang="en-US" sz="2000" dirty="0">
              <a:latin typeface="+mj-lt"/>
            </a:endParaRPr>
          </a:p>
        </p:txBody>
      </p:sp>
      <p:sp>
        <p:nvSpPr>
          <p:cNvPr id="12" name="Text 6"/>
          <p:cNvSpPr/>
          <p:nvPr/>
        </p:nvSpPr>
        <p:spPr>
          <a:xfrm>
            <a:off x="1536192" y="4005072"/>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has error detection</a:t>
            </a:r>
            <a:endParaRPr lang="en-US" sz="2000" dirty="0">
              <a:latin typeface="+mj-lt"/>
            </a:endParaRPr>
          </a:p>
        </p:txBody>
      </p:sp>
      <p:sp>
        <p:nvSpPr>
          <p:cNvPr id="13" name="Text 7"/>
          <p:cNvSpPr/>
          <p:nvPr/>
        </p:nvSpPr>
        <p:spPr>
          <a:xfrm>
            <a:off x="1536192" y="5330952"/>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at least one transition per bit time and possibly two</a:t>
            </a:r>
            <a:endParaRPr lang="en-US" sz="2000" dirty="0">
              <a:latin typeface="+mj-lt"/>
            </a:endParaRPr>
          </a:p>
        </p:txBody>
      </p:sp>
      <p:sp>
        <p:nvSpPr>
          <p:cNvPr id="14" name="Text 8"/>
          <p:cNvSpPr/>
          <p:nvPr/>
        </p:nvSpPr>
        <p:spPr>
          <a:xfrm>
            <a:off x="1536192" y="2670048"/>
            <a:ext cx="7333488" cy="338328"/>
          </a:xfrm>
          <a:prstGeom prst="rect">
            <a:avLst/>
          </a:prstGeom>
          <a:noFill/>
          <a:ln/>
        </p:spPr>
        <p:txBody>
          <a:bodyPr wrap="none" lIns="0" tIns="0" rIns="0" bIns="0" rtlCol="0" anchor="ctr"/>
          <a:lstStyle/>
          <a:p>
            <a:pPr marL="0" indent="0" algn="l">
              <a:lnSpc>
                <a:spcPts val="2620"/>
              </a:lnSpc>
              <a:buNone/>
            </a:pPr>
            <a:r>
              <a:rPr lang="en-US" sz="2000" b="1" dirty="0">
                <a:solidFill>
                  <a:srgbClr val="172748"/>
                </a:solidFill>
                <a:latin typeface="+mj-lt"/>
                <a:ea typeface="思源黑体-思源黑体-Medium" pitchFamily="34" charset="-122"/>
                <a:cs typeface="思源黑体-思源黑体-Medium" pitchFamily="34" charset="-120"/>
              </a:rPr>
              <a:t>Pros</a:t>
            </a:r>
            <a:endParaRPr lang="en-US" sz="2000" b="1" dirty="0">
              <a:latin typeface="+mj-lt"/>
            </a:endParaRPr>
          </a:p>
        </p:txBody>
      </p:sp>
      <p:sp>
        <p:nvSpPr>
          <p:cNvPr id="15" name="Text 9"/>
          <p:cNvSpPr/>
          <p:nvPr/>
        </p:nvSpPr>
        <p:spPr>
          <a:xfrm>
            <a:off x="950976" y="2670048"/>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6" name="Text 10"/>
          <p:cNvSpPr/>
          <p:nvPr/>
        </p:nvSpPr>
        <p:spPr>
          <a:xfrm>
            <a:off x="1536192" y="3136392"/>
            <a:ext cx="733348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a:t>
            </a:r>
            <a:r>
              <a:rPr lang="en-US" sz="2000" dirty="0">
                <a:latin typeface="+mj-lt"/>
                <a:ea typeface="思源黑体-思源黑体-Medium" pitchFamily="34" charset="-122"/>
                <a:cs typeface="思源黑体-思源黑体-Medium" pitchFamily="34" charset="-120"/>
              </a:rPr>
              <a:t>synchronization</a:t>
            </a:r>
            <a:r>
              <a:rPr lang="en-US" sz="2000" dirty="0">
                <a:solidFill>
                  <a:srgbClr val="172748"/>
                </a:solidFill>
                <a:latin typeface="+mj-lt"/>
                <a:ea typeface="思源黑体-思源黑体-Medium" pitchFamily="34" charset="-122"/>
                <a:cs typeface="思源黑体-思源黑体-Medium" pitchFamily="34" charset="-120"/>
              </a:rPr>
              <a:t> on mid bit transition (self clocking)</a:t>
            </a:r>
            <a:endParaRPr lang="en-US" sz="2000" dirty="0">
              <a:latin typeface="+mj-lt"/>
            </a:endParaRPr>
          </a:p>
        </p:txBody>
      </p:sp>
      <p:pic>
        <p:nvPicPr>
          <p:cNvPr id="17" name="Picture 16">
            <a:extLst>
              <a:ext uri="{FF2B5EF4-FFF2-40B4-BE49-F238E27FC236}">
                <a16:creationId xmlns:a16="http://schemas.microsoft.com/office/drawing/2014/main" id="{3E26C735-165A-45B1-9B76-3EEBCBE852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536700" y="1547368"/>
            <a:ext cx="10922000" cy="5996432"/>
          </a:xfrm>
          <a:prstGeom prst="rect">
            <a:avLst/>
          </a:prstGeom>
        </p:spPr>
      </p:pic>
      <p:sp>
        <p:nvSpPr>
          <p:cNvPr id="4" name="Text 0"/>
          <p:cNvSpPr/>
          <p:nvPr/>
        </p:nvSpPr>
        <p:spPr>
          <a:xfrm>
            <a:off x="781812" y="439928"/>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Encoding Schemes</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DEE4FD5-5DDD-4FBE-92C5-6D48DB6EDE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155700" y="1739900"/>
            <a:ext cx="10629900" cy="5740400"/>
          </a:xfrm>
          <a:prstGeom prst="rect">
            <a:avLst/>
          </a:prstGeom>
        </p:spPr>
      </p:pic>
      <p:sp>
        <p:nvSpPr>
          <p:cNvPr id="4" name="Text 0"/>
          <p:cNvSpPr/>
          <p:nvPr/>
        </p:nvSpPr>
        <p:spPr>
          <a:xfrm>
            <a:off x="532384" y="45821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Modulation Rate</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AF59F4D3-F67B-4BC3-BF79-F8748DAA11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7000" y="-330200"/>
            <a:ext cx="14630400" cy="10094976"/>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072673009"/>
              </p:ext>
            </p:extLst>
          </p:nvPr>
        </p:nvGraphicFramePr>
        <p:xfrm>
          <a:off x="8077200" y="5314189"/>
          <a:ext cx="6019800" cy="1970913"/>
        </p:xfrm>
        <a:graphic>
          <a:graphicData uri="http://schemas.openxmlformats.org/drawingml/2006/table">
            <a:tbl>
              <a:tblPr/>
              <a:tblGrid>
                <a:gridCol w="2871906">
                  <a:extLst>
                    <a:ext uri="{9D8B030D-6E8A-4147-A177-3AD203B41FA5}">
                      <a16:colId xmlns:a16="http://schemas.microsoft.com/office/drawing/2014/main" val="20000"/>
                    </a:ext>
                  </a:extLst>
                </a:gridCol>
                <a:gridCol w="3147894">
                  <a:extLst>
                    <a:ext uri="{9D8B030D-6E8A-4147-A177-3AD203B41FA5}">
                      <a16:colId xmlns:a16="http://schemas.microsoft.com/office/drawing/2014/main" val="20001"/>
                    </a:ext>
                  </a:extLst>
                </a:gridCol>
              </a:tblGrid>
              <a:tr h="564726">
                <a:tc>
                  <a:txBody>
                    <a:bodyPr/>
                    <a:lstStyle/>
                    <a:p>
                      <a:pPr marL="0" indent="0" algn="l">
                        <a:lnSpc>
                          <a:spcPts val="1490"/>
                        </a:lnSpc>
                        <a:buNone/>
                      </a:pPr>
                      <a:r>
                        <a:rPr lang="en-US" sz="2000" b="1" dirty="0">
                          <a:solidFill>
                            <a:srgbClr val="172748"/>
                          </a:solidFill>
                          <a:latin typeface="+mj-lt"/>
                          <a:ea typeface="思源黑体-思源黑体-Medium" pitchFamily="34" charset="-122"/>
                          <a:cs typeface="思源黑体-思源黑体-Medium" pitchFamily="34" charset="-120"/>
                        </a:rPr>
                        <a:t>Previous mark polarity</a:t>
                      </a:r>
                      <a:endParaRPr lang="en-US" sz="2000" b="1"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b="1" dirty="0">
                          <a:solidFill>
                            <a:srgbClr val="172748"/>
                          </a:solidFill>
                          <a:latin typeface="+mj-lt"/>
                          <a:ea typeface="思源黑体-思源黑体-Medium" pitchFamily="34" charset="-122"/>
                          <a:cs typeface="思源黑体-思源黑体-Medium" pitchFamily="34" charset="-120"/>
                        </a:rPr>
                        <a:t>Encode</a:t>
                      </a:r>
                      <a:endParaRPr lang="en-US" sz="2000" b="1"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0"/>
                  </a:ext>
                </a:extLst>
              </a:tr>
              <a:tr h="564726">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000+-0-+</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564726">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000-+0+-</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 0"/>
          <p:cNvSpPr/>
          <p:nvPr/>
        </p:nvSpPr>
        <p:spPr>
          <a:xfrm>
            <a:off x="401828" y="4314952"/>
            <a:ext cx="12591288" cy="301752"/>
          </a:xfrm>
          <a:prstGeom prst="rect">
            <a:avLst/>
          </a:prstGeom>
          <a:noFill/>
          <a:ln/>
        </p:spPr>
        <p:txBody>
          <a:bodyPr wrap="none" lIns="0" tIns="0" rIns="0" bIns="0" rtlCol="0" anchor="ctr"/>
          <a:lstStyle/>
          <a:p>
            <a:pPr algn="l">
              <a:lnSpc>
                <a:spcPts val="2340"/>
              </a:lnSpc>
            </a:pPr>
            <a:r>
              <a:rPr lang="en-US" sz="2000" b="1" dirty="0">
                <a:latin typeface="+mj-lt"/>
                <a:ea typeface="思源黑体-思源黑体-Medium" pitchFamily="34" charset="-122"/>
                <a:cs typeface="思源黑体-思源黑体-Medium" pitchFamily="34" charset="-120"/>
              </a:rPr>
              <a:t> 1. B8ZS (Bipolar with 8-zero substitution)</a:t>
            </a:r>
            <a:endParaRPr lang="en-US" sz="2000" b="1" dirty="0">
              <a:latin typeface="+mj-lt"/>
            </a:endParaRPr>
          </a:p>
        </p:txBody>
      </p:sp>
      <p:sp>
        <p:nvSpPr>
          <p:cNvPr id="5" name="Text 1"/>
          <p:cNvSpPr/>
          <p:nvPr/>
        </p:nvSpPr>
        <p:spPr>
          <a:xfrm>
            <a:off x="401828" y="5485384"/>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V (Violation), is signal have same polarity as the previous non-zero voltage.</a:t>
            </a:r>
            <a:endParaRPr lang="en-US" sz="2000" dirty="0">
              <a:latin typeface="+mj-lt"/>
            </a:endParaRPr>
          </a:p>
        </p:txBody>
      </p:sp>
      <p:sp>
        <p:nvSpPr>
          <p:cNvPr id="6" name="Text 2"/>
          <p:cNvSpPr/>
          <p:nvPr/>
        </p:nvSpPr>
        <p:spPr>
          <a:xfrm>
            <a:off x="401828" y="5915152"/>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B (Bipolar) is signal have opposite polarity as the previous non-zero voltage.</a:t>
            </a:r>
            <a:endParaRPr lang="en-US" sz="2000" dirty="0">
              <a:latin typeface="+mj-lt"/>
            </a:endParaRPr>
          </a:p>
        </p:txBody>
      </p:sp>
      <p:sp>
        <p:nvSpPr>
          <p:cNvPr id="7" name="Text 3"/>
          <p:cNvSpPr/>
          <p:nvPr/>
        </p:nvSpPr>
        <p:spPr>
          <a:xfrm>
            <a:off x="401828" y="4753864"/>
            <a:ext cx="12591288" cy="603504"/>
          </a:xfrm>
          <a:prstGeom prst="rect">
            <a:avLst/>
          </a:prstGeom>
          <a:noFill/>
          <a:ln/>
        </p:spPr>
        <p:txBody>
          <a:bodyPr wrap="squar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This technique is similar to Bipolar AMI except when eight consecutive zero-level voltages are encountered, they are    </a:t>
            </a:r>
          </a:p>
          <a:p>
            <a:pPr algn="l">
              <a:lnSpc>
                <a:spcPts val="2340"/>
              </a:lnSpc>
            </a:pPr>
            <a:r>
              <a:rPr lang="en-US" sz="2000" dirty="0">
                <a:latin typeface="+mj-lt"/>
                <a:ea typeface="思源黑体-思源黑体-Medium" pitchFamily="34" charset="-122"/>
                <a:cs typeface="思源黑体-思源黑体-Medium" pitchFamily="34" charset="-120"/>
              </a:rPr>
              <a:t>          replaced by the sequence, “000VB0VB”.</a:t>
            </a:r>
            <a:endParaRPr lang="en-US" sz="2000" dirty="0">
              <a:latin typeface="+mj-lt"/>
            </a:endParaRPr>
          </a:p>
        </p:txBody>
      </p:sp>
      <p:sp>
        <p:nvSpPr>
          <p:cNvPr id="8" name="Text 4"/>
          <p:cNvSpPr/>
          <p:nvPr/>
        </p:nvSpPr>
        <p:spPr>
          <a:xfrm>
            <a:off x="401828" y="3885184"/>
            <a:ext cx="12591288" cy="301752"/>
          </a:xfrm>
          <a:prstGeom prst="rect">
            <a:avLst/>
          </a:prstGeom>
          <a:noFill/>
          <a:ln/>
        </p:spPr>
        <p:txBody>
          <a:bodyPr wrap="non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There are two common scrambling techniques:</a:t>
            </a:r>
            <a:endParaRPr lang="en-US" sz="2000" dirty="0">
              <a:latin typeface="+mj-lt"/>
            </a:endParaRPr>
          </a:p>
        </p:txBody>
      </p:sp>
      <p:sp>
        <p:nvSpPr>
          <p:cNvPr id="9" name="Text 5"/>
          <p:cNvSpPr/>
          <p:nvPr/>
        </p:nvSpPr>
        <p:spPr>
          <a:xfrm>
            <a:off x="548640" y="342900"/>
            <a:ext cx="13066776" cy="667512"/>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思源黑体-思源黑体-Medium" pitchFamily="34" charset="0"/>
                <a:ea typeface="思源黑体-思源黑体-Medium" pitchFamily="34" charset="-122"/>
                <a:cs typeface="思源黑体-思源黑体-Medium" pitchFamily="34" charset="-120"/>
              </a:rPr>
              <a:t>Scrambling Techniques</a:t>
            </a:r>
            <a:endParaRPr lang="en-US" sz="4190" dirty="0"/>
          </a:p>
        </p:txBody>
      </p:sp>
      <p:sp>
        <p:nvSpPr>
          <p:cNvPr id="10" name="Text 6"/>
          <p:cNvSpPr/>
          <p:nvPr/>
        </p:nvSpPr>
        <p:spPr>
          <a:xfrm>
            <a:off x="401828" y="3034792"/>
            <a:ext cx="12591288" cy="603504"/>
          </a:xfrm>
          <a:prstGeom prst="rect">
            <a:avLst/>
          </a:prstGeom>
          <a:noFill/>
          <a:ln/>
        </p:spPr>
        <p:txBody>
          <a:bodyPr wrap="squar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To address this, a technique called scrambling is used. Scrambling helps maintain synchronization without increasing the number of transmitted bits, making it an efficient solution.</a:t>
            </a:r>
            <a:endParaRPr lang="en-US" sz="2000" dirty="0">
              <a:latin typeface="+mj-lt"/>
            </a:endParaRPr>
          </a:p>
        </p:txBody>
      </p:sp>
      <p:sp>
        <p:nvSpPr>
          <p:cNvPr id="11" name="Text 7"/>
          <p:cNvSpPr/>
          <p:nvPr/>
        </p:nvSpPr>
        <p:spPr>
          <a:xfrm>
            <a:off x="401828" y="1334008"/>
            <a:ext cx="12591288" cy="603504"/>
          </a:xfrm>
          <a:prstGeom prst="rect">
            <a:avLst/>
          </a:prstGeom>
          <a:noFill/>
          <a:ln/>
        </p:spPr>
        <p:txBody>
          <a:bodyPr wrap="squar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Biphase encoding requires higher bandwidth, whereas NRZ (Non-Return to Zero) encoding faces issues such as synchronization problems and the presence of a DC component.</a:t>
            </a:r>
            <a:endParaRPr lang="en-US" sz="2000" dirty="0">
              <a:latin typeface="+mj-lt"/>
            </a:endParaRPr>
          </a:p>
        </p:txBody>
      </p:sp>
      <p:sp>
        <p:nvSpPr>
          <p:cNvPr id="12" name="Text 8"/>
          <p:cNvSpPr/>
          <p:nvPr/>
        </p:nvSpPr>
        <p:spPr>
          <a:xfrm>
            <a:off x="401828" y="2184400"/>
            <a:ext cx="12591288" cy="603504"/>
          </a:xfrm>
          <a:prstGeom prst="rect">
            <a:avLst/>
          </a:prstGeom>
          <a:noFill/>
          <a:ln/>
        </p:spPr>
        <p:txBody>
          <a:bodyPr wrap="squar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In the case of Bipolar AMI (Alternate Mark Inversion), although it eliminates the DC component, long sequences of zeros can still lead to synchronization loss.</a:t>
            </a:r>
            <a:endParaRPr lang="en-US" sz="2000" dirty="0">
              <a:latin typeface="+mj-lt"/>
            </a:endParaRPr>
          </a:p>
        </p:txBody>
      </p:sp>
      <p:pic>
        <p:nvPicPr>
          <p:cNvPr id="13" name="Picture 12">
            <a:extLst>
              <a:ext uri="{FF2B5EF4-FFF2-40B4-BE49-F238E27FC236}">
                <a16:creationId xmlns:a16="http://schemas.microsoft.com/office/drawing/2014/main" id="{D99D67A8-0323-419C-9266-3EB1121EFC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7000" y="-330200"/>
            <a:ext cx="14630400" cy="10094976"/>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883712946"/>
              </p:ext>
            </p:extLst>
          </p:nvPr>
        </p:nvGraphicFramePr>
        <p:xfrm>
          <a:off x="546100" y="3081020"/>
          <a:ext cx="6769100" cy="1970913"/>
        </p:xfrm>
        <a:graphic>
          <a:graphicData uri="http://schemas.openxmlformats.org/drawingml/2006/table">
            <a:tbl>
              <a:tblPr/>
              <a:tblGrid>
                <a:gridCol w="3229379">
                  <a:extLst>
                    <a:ext uri="{9D8B030D-6E8A-4147-A177-3AD203B41FA5}">
                      <a16:colId xmlns:a16="http://schemas.microsoft.com/office/drawing/2014/main" val="20000"/>
                    </a:ext>
                  </a:extLst>
                </a:gridCol>
                <a:gridCol w="3539721">
                  <a:extLst>
                    <a:ext uri="{9D8B030D-6E8A-4147-A177-3AD203B41FA5}">
                      <a16:colId xmlns:a16="http://schemas.microsoft.com/office/drawing/2014/main" val="20001"/>
                    </a:ext>
                  </a:extLst>
                </a:gridCol>
              </a:tblGrid>
              <a:tr h="559118">
                <a:tc>
                  <a:txBody>
                    <a:bodyPr/>
                    <a:lstStyle/>
                    <a:p>
                      <a:pPr marL="0" indent="0" algn="l">
                        <a:lnSpc>
                          <a:spcPts val="1490"/>
                        </a:lnSpc>
                        <a:buNone/>
                      </a:pPr>
                      <a:r>
                        <a:rPr lang="en-US" sz="2000" b="1" dirty="0">
                          <a:solidFill>
                            <a:srgbClr val="172748"/>
                          </a:solidFill>
                          <a:latin typeface="+mj-lt"/>
                          <a:ea typeface="思源黑体-思源黑体-Medium" pitchFamily="34" charset="-122"/>
                          <a:cs typeface="思源黑体-思源黑体-Medium" pitchFamily="34" charset="-120"/>
                        </a:rPr>
                        <a:t>Previous mark polarity</a:t>
                      </a:r>
                      <a:endParaRPr lang="en-US" sz="2000" b="1"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b="1" dirty="0">
                          <a:solidFill>
                            <a:srgbClr val="172748"/>
                          </a:solidFill>
                          <a:latin typeface="+mj-lt"/>
                          <a:ea typeface="思源黑体-思源黑体-Medium" pitchFamily="34" charset="-122"/>
                          <a:cs typeface="思源黑体-思源黑体-Medium" pitchFamily="34" charset="-120"/>
                        </a:rPr>
                        <a:t>Encode</a:t>
                      </a:r>
                      <a:endParaRPr lang="en-US" sz="2000" b="1"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0"/>
                  </a:ext>
                </a:extLst>
              </a:tr>
              <a:tr h="559118">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000+-0-+</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559118">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1490"/>
                        </a:lnSpc>
                        <a:buNone/>
                      </a:pPr>
                      <a:r>
                        <a:rPr lang="en-US" sz="2000" dirty="0">
                          <a:solidFill>
                            <a:srgbClr val="172748"/>
                          </a:solidFill>
                          <a:latin typeface="+mj-lt"/>
                          <a:ea typeface="思源黑体-思源黑体-Medium" pitchFamily="34" charset="-122"/>
                          <a:cs typeface="思源黑体-思源黑体-Medium" pitchFamily="34" charset="-120"/>
                        </a:rPr>
                        <a:t>000-+0+-</a:t>
                      </a:r>
                      <a:endParaRPr lang="en-US" sz="2000" dirty="0">
                        <a:latin typeface="+mj-lt"/>
                      </a:endParaRPr>
                    </a:p>
                  </a:txBody>
                  <a:tcPr marL="223520" marR="223520" marT="223520" marB="22352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 0"/>
          <p:cNvSpPr/>
          <p:nvPr/>
        </p:nvSpPr>
        <p:spPr>
          <a:xfrm>
            <a:off x="401828" y="4314952"/>
            <a:ext cx="12591288" cy="301752"/>
          </a:xfrm>
          <a:prstGeom prst="rect">
            <a:avLst/>
          </a:prstGeom>
          <a:noFill/>
          <a:ln/>
        </p:spPr>
        <p:txBody>
          <a:bodyPr wrap="none" lIns="0" tIns="0" rIns="0" bIns="0" rtlCol="0" anchor="ctr"/>
          <a:lstStyle/>
          <a:p>
            <a:pPr algn="l">
              <a:lnSpc>
                <a:spcPts val="2340"/>
              </a:lnSpc>
            </a:pPr>
            <a:r>
              <a:rPr lang="en-US" sz="2000" b="1" dirty="0">
                <a:latin typeface="+mj-lt"/>
                <a:ea typeface="思源黑体-思源黑体-Medium" pitchFamily="34" charset="-122"/>
                <a:cs typeface="思源黑体-思源黑体-Medium" pitchFamily="34" charset="-120"/>
              </a:rPr>
              <a:t> </a:t>
            </a:r>
            <a:endParaRPr lang="en-US" sz="2000" b="1" dirty="0">
              <a:latin typeface="+mj-lt"/>
            </a:endParaRPr>
          </a:p>
        </p:txBody>
      </p:sp>
      <p:sp>
        <p:nvSpPr>
          <p:cNvPr id="5" name="Text 1"/>
          <p:cNvSpPr/>
          <p:nvPr/>
        </p:nvSpPr>
        <p:spPr>
          <a:xfrm>
            <a:off x="401828" y="2221484"/>
            <a:ext cx="12591288" cy="301752"/>
          </a:xfrm>
          <a:prstGeom prst="rect">
            <a:avLst/>
          </a:prstGeom>
          <a:noFill/>
          <a:ln/>
        </p:spPr>
        <p:txBody>
          <a:bodyPr wrap="none" lIns="0" tIns="0" rIns="0" bIns="0" rtlCol="0" anchor="ctr"/>
          <a:lstStyle/>
          <a:p>
            <a:pPr marL="342900" indent="-342900" algn="l">
              <a:lnSpc>
                <a:spcPts val="2340"/>
              </a:lnSpc>
              <a:buFont typeface="Arial" panose="020B0604020202020204" pitchFamily="34" charset="0"/>
              <a:buChar char="•"/>
            </a:pPr>
            <a:r>
              <a:rPr lang="en-US" sz="2000" b="1" dirty="0">
                <a:latin typeface="+mj-lt"/>
                <a:ea typeface="思源黑体-思源黑体-Medium" pitchFamily="34" charset="-122"/>
                <a:cs typeface="思源黑体-思源黑体-Medium" pitchFamily="34" charset="-120"/>
              </a:rPr>
              <a:t>V (Violation)</a:t>
            </a:r>
            <a:r>
              <a:rPr lang="en-US" sz="2000" dirty="0">
                <a:latin typeface="+mj-lt"/>
                <a:ea typeface="思源黑体-思源黑体-Medium" pitchFamily="34" charset="-122"/>
                <a:cs typeface="思源黑体-思源黑体-Medium" pitchFamily="34" charset="-120"/>
              </a:rPr>
              <a:t>, is signal have </a:t>
            </a:r>
            <a:r>
              <a:rPr lang="en-US" sz="2000" b="1" dirty="0">
                <a:latin typeface="+mj-lt"/>
                <a:ea typeface="思源黑体-思源黑体-Medium" pitchFamily="34" charset="-122"/>
                <a:cs typeface="思源黑体-思源黑体-Medium" pitchFamily="34" charset="-120"/>
              </a:rPr>
              <a:t>same polarity </a:t>
            </a:r>
            <a:r>
              <a:rPr lang="en-US" sz="2000" dirty="0">
                <a:latin typeface="+mj-lt"/>
                <a:ea typeface="思源黑体-思源黑体-Medium" pitchFamily="34" charset="-122"/>
                <a:cs typeface="思源黑体-思源黑体-Medium" pitchFamily="34" charset="-120"/>
              </a:rPr>
              <a:t>as the previous non-zero voltage.</a:t>
            </a:r>
            <a:endParaRPr lang="en-US" sz="2000" dirty="0">
              <a:latin typeface="+mj-lt"/>
            </a:endParaRPr>
          </a:p>
        </p:txBody>
      </p:sp>
      <p:sp>
        <p:nvSpPr>
          <p:cNvPr id="6" name="Text 2"/>
          <p:cNvSpPr/>
          <p:nvPr/>
        </p:nvSpPr>
        <p:spPr>
          <a:xfrm>
            <a:off x="401828" y="2651252"/>
            <a:ext cx="12591288" cy="301752"/>
          </a:xfrm>
          <a:prstGeom prst="rect">
            <a:avLst/>
          </a:prstGeom>
          <a:noFill/>
          <a:ln/>
        </p:spPr>
        <p:txBody>
          <a:bodyPr wrap="none" lIns="0" tIns="0" rIns="0" bIns="0" rtlCol="0" anchor="ctr"/>
          <a:lstStyle/>
          <a:p>
            <a:pPr marL="342900" indent="-342900" algn="l">
              <a:lnSpc>
                <a:spcPts val="2340"/>
              </a:lnSpc>
              <a:buFont typeface="Arial" panose="020B0604020202020204" pitchFamily="34" charset="0"/>
              <a:buChar char="•"/>
            </a:pPr>
            <a:r>
              <a:rPr lang="en-US" sz="2000" b="1" dirty="0">
                <a:latin typeface="+mj-lt"/>
                <a:ea typeface="思源黑体-思源黑体-Medium" pitchFamily="34" charset="-122"/>
                <a:cs typeface="思源黑体-思源黑体-Medium" pitchFamily="34" charset="-120"/>
              </a:rPr>
              <a:t> B (Bipolar)</a:t>
            </a:r>
            <a:r>
              <a:rPr lang="en-US" sz="2000" dirty="0">
                <a:latin typeface="+mj-lt"/>
                <a:ea typeface="思源黑体-思源黑体-Medium" pitchFamily="34" charset="-122"/>
                <a:cs typeface="思源黑体-思源黑体-Medium" pitchFamily="34" charset="-120"/>
              </a:rPr>
              <a:t> is signal have </a:t>
            </a:r>
            <a:r>
              <a:rPr lang="en-US" sz="2000" b="1" dirty="0">
                <a:latin typeface="+mj-lt"/>
                <a:ea typeface="思源黑体-思源黑体-Medium" pitchFamily="34" charset="-122"/>
                <a:cs typeface="思源黑体-思源黑体-Medium" pitchFamily="34" charset="-120"/>
              </a:rPr>
              <a:t>opposite polarity </a:t>
            </a:r>
            <a:r>
              <a:rPr lang="en-US" sz="2000" dirty="0">
                <a:latin typeface="+mj-lt"/>
                <a:ea typeface="思源黑体-思源黑体-Medium" pitchFamily="34" charset="-122"/>
                <a:cs typeface="思源黑体-思源黑体-Medium" pitchFamily="34" charset="-120"/>
              </a:rPr>
              <a:t>as the previous non-zero voltage.</a:t>
            </a:r>
            <a:endParaRPr lang="en-US" sz="2000" dirty="0">
              <a:latin typeface="+mj-lt"/>
            </a:endParaRPr>
          </a:p>
        </p:txBody>
      </p:sp>
      <p:sp>
        <p:nvSpPr>
          <p:cNvPr id="7" name="Text 3"/>
          <p:cNvSpPr/>
          <p:nvPr/>
        </p:nvSpPr>
        <p:spPr>
          <a:xfrm>
            <a:off x="401828" y="1489964"/>
            <a:ext cx="12591288" cy="603504"/>
          </a:xfrm>
          <a:prstGeom prst="rect">
            <a:avLst/>
          </a:prstGeom>
          <a:noFill/>
          <a:ln/>
        </p:spPr>
        <p:txBody>
          <a:bodyPr wrap="square" lIns="0" tIns="0" rIns="0" bIns="0" rtlCol="0" anchor="ctr"/>
          <a:lstStyle/>
          <a:p>
            <a:pPr marL="342900" indent="-342900" algn="l">
              <a:lnSpc>
                <a:spcPts val="2340"/>
              </a:lnSpc>
              <a:buFont typeface="Arial" panose="020B0604020202020204" pitchFamily="34" charset="0"/>
              <a:buChar char="•"/>
            </a:pPr>
            <a:r>
              <a:rPr lang="en-US" sz="2000" dirty="0">
                <a:latin typeface="+mj-lt"/>
                <a:ea typeface="思源黑体-思源黑体-Medium" pitchFamily="34" charset="-122"/>
                <a:cs typeface="思源黑体-思源黑体-Medium" pitchFamily="34" charset="-120"/>
              </a:rPr>
              <a:t>         This technique is similar to Bipolar AMI except when eight consecutive zero-level voltages are encountered, they                 </a:t>
            </a:r>
          </a:p>
          <a:p>
            <a:pPr marL="342900" indent="-342900" algn="l">
              <a:lnSpc>
                <a:spcPts val="2340"/>
              </a:lnSpc>
              <a:buFont typeface="Arial" panose="020B0604020202020204" pitchFamily="34" charset="0"/>
              <a:buChar char="•"/>
            </a:pPr>
            <a:r>
              <a:rPr lang="en-US" sz="2000" dirty="0">
                <a:latin typeface="+mj-lt"/>
                <a:ea typeface="思源黑体-思源黑体-Medium" pitchFamily="34" charset="-122"/>
                <a:cs typeface="思源黑体-思源黑体-Medium" pitchFamily="34" charset="-120"/>
              </a:rPr>
              <a:t>           are replaced by the sequence, “</a:t>
            </a:r>
            <a:r>
              <a:rPr lang="en-US" sz="2000" b="1" dirty="0">
                <a:latin typeface="+mj-lt"/>
                <a:ea typeface="思源黑体-思源黑体-Medium" pitchFamily="34" charset="-122"/>
                <a:cs typeface="思源黑体-思源黑体-Medium" pitchFamily="34" charset="-120"/>
              </a:rPr>
              <a:t>000VB0VB</a:t>
            </a:r>
            <a:r>
              <a:rPr lang="en-US" sz="2000" dirty="0">
                <a:latin typeface="+mj-lt"/>
                <a:ea typeface="思源黑体-思源黑体-Medium" pitchFamily="34" charset="-122"/>
                <a:cs typeface="思源黑体-思源黑体-Medium" pitchFamily="34" charset="-120"/>
              </a:rPr>
              <a:t>”.</a:t>
            </a:r>
            <a:endParaRPr lang="en-US" sz="2000" dirty="0">
              <a:latin typeface="+mj-lt"/>
            </a:endParaRPr>
          </a:p>
        </p:txBody>
      </p:sp>
      <p:sp>
        <p:nvSpPr>
          <p:cNvPr id="9" name="Text 5"/>
          <p:cNvSpPr/>
          <p:nvPr/>
        </p:nvSpPr>
        <p:spPr>
          <a:xfrm>
            <a:off x="548640" y="342900"/>
            <a:ext cx="13066776" cy="667512"/>
          </a:xfrm>
          <a:prstGeom prst="rect">
            <a:avLst/>
          </a:prstGeom>
          <a:noFill/>
          <a:ln/>
        </p:spPr>
        <p:txBody>
          <a:bodyPr wrap="none" lIns="0" tIns="0" rIns="0" bIns="0" rtlCol="0" anchor="ctr"/>
          <a:lstStyle/>
          <a:p>
            <a:pPr marL="0" indent="0" algn="l">
              <a:lnSpc>
                <a:spcPts val="5240"/>
              </a:lnSpc>
              <a:buNone/>
            </a:pPr>
            <a:r>
              <a:rPr lang="en-US" sz="4400" b="1" dirty="0">
                <a:latin typeface="+mj-lt"/>
                <a:ea typeface="思源黑体-思源黑体-Medium" pitchFamily="34" charset="-122"/>
                <a:cs typeface="思源黑体-思源黑体-Medium" pitchFamily="34" charset="-120"/>
              </a:rPr>
              <a:t>B8ZS (Bipolar with 8-zero substitution)</a:t>
            </a:r>
            <a:endParaRPr lang="en-US" sz="4190" dirty="0"/>
          </a:p>
        </p:txBody>
      </p:sp>
      <p:pic>
        <p:nvPicPr>
          <p:cNvPr id="13" name="Picture 12">
            <a:extLst>
              <a:ext uri="{FF2B5EF4-FFF2-40B4-BE49-F238E27FC236}">
                <a16:creationId xmlns:a16="http://schemas.microsoft.com/office/drawing/2014/main" id="{D99D67A8-0323-419C-9266-3EB1121EFC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pic>
        <p:nvPicPr>
          <p:cNvPr id="14" name="Picture 13">
            <a:extLst>
              <a:ext uri="{FF2B5EF4-FFF2-40B4-BE49-F238E27FC236}">
                <a16:creationId xmlns:a16="http://schemas.microsoft.com/office/drawing/2014/main" id="{E49BF3AB-AAF5-418E-91D1-B3A57452F116}"/>
              </a:ext>
            </a:extLst>
          </p:cNvPr>
          <p:cNvPicPr>
            <a:picLocks noChangeAspect="1"/>
          </p:cNvPicPr>
          <p:nvPr/>
        </p:nvPicPr>
        <p:blipFill>
          <a:blip r:embed="rId5"/>
          <a:stretch>
            <a:fillRect/>
          </a:stretch>
        </p:blipFill>
        <p:spPr>
          <a:xfrm>
            <a:off x="268224" y="5039807"/>
            <a:ext cx="13066776" cy="3189793"/>
          </a:xfrm>
          <a:prstGeom prst="rect">
            <a:avLst/>
          </a:prstGeom>
        </p:spPr>
      </p:pic>
    </p:spTree>
    <p:extLst>
      <p:ext uri="{BB962C8B-B14F-4D97-AF65-F5344CB8AC3E}">
        <p14:creationId xmlns:p14="http://schemas.microsoft.com/office/powerpoint/2010/main" val="239058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850900" y="973836"/>
            <a:ext cx="12230100" cy="4320540"/>
          </a:xfrm>
          <a:prstGeom prst="rect">
            <a:avLst/>
          </a:prstGeom>
        </p:spPr>
      </p:pic>
      <p:sp>
        <p:nvSpPr>
          <p:cNvPr id="4" name="Text 0"/>
          <p:cNvSpPr/>
          <p:nvPr/>
        </p:nvSpPr>
        <p:spPr>
          <a:xfrm>
            <a:off x="548640" y="306324"/>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HDB3 (High-density bipolar3-zero)</a:t>
            </a:r>
            <a:endParaRPr lang="en-US" sz="4400" dirty="0">
              <a:latin typeface="Cambria" panose="02040503050406030204" pitchFamily="18" charset="0"/>
              <a:ea typeface="Cambria" panose="02040503050406030204" pitchFamily="18" charset="0"/>
            </a:endParaRPr>
          </a:p>
        </p:txBody>
      </p:sp>
      <p:sp>
        <p:nvSpPr>
          <p:cNvPr id="5" name="Text 1"/>
          <p:cNvSpPr/>
          <p:nvPr/>
        </p:nvSpPr>
        <p:spPr>
          <a:xfrm>
            <a:off x="1019556" y="6089904"/>
            <a:ext cx="12591288" cy="603504"/>
          </a:xfrm>
          <a:prstGeom prst="rect">
            <a:avLst/>
          </a:prstGeom>
          <a:noFill/>
          <a:ln/>
        </p:spPr>
        <p:txBody>
          <a:bodyPr wrap="square" lIns="0" tIns="0" rIns="0" bIns="0" rtlCol="0" anchor="ctr"/>
          <a:lstStyle/>
          <a:p>
            <a:pPr marL="342900" indent="-342900" algn="l">
              <a:lnSpc>
                <a:spcPts val="2340"/>
              </a:lnSpc>
              <a:buFont typeface="Wingdings" panose="05000000000000000000" pitchFamily="2" charset="2"/>
              <a:buChar char="§"/>
            </a:pPr>
            <a:r>
              <a:rPr lang="en-US" sz="2000" dirty="0">
                <a:latin typeface="+mj-lt"/>
                <a:ea typeface="思源黑体-思源黑体-Medium" pitchFamily="34" charset="-122"/>
                <a:cs typeface="思源黑体-思源黑体-Medium" pitchFamily="34" charset="-120"/>
              </a:rPr>
              <a:t>If the number of nonzero pulses after the last substitution is </a:t>
            </a:r>
            <a:r>
              <a:rPr lang="en-US" sz="2000" b="1" dirty="0">
                <a:latin typeface="+mj-lt"/>
                <a:ea typeface="思源黑体-思源黑体-Medium" pitchFamily="34" charset="-122"/>
                <a:cs typeface="思源黑体-思源黑体-Medium" pitchFamily="34" charset="-120"/>
              </a:rPr>
              <a:t>odd</a:t>
            </a:r>
            <a:r>
              <a:rPr lang="en-US" sz="2000" dirty="0">
                <a:latin typeface="+mj-lt"/>
                <a:ea typeface="思源黑体-思源黑体-Medium" pitchFamily="34" charset="-122"/>
                <a:cs typeface="思源黑体-思源黑体-Medium" pitchFamily="34" charset="-120"/>
              </a:rPr>
              <a:t>, the substitution pattern will be “</a:t>
            </a:r>
            <a:r>
              <a:rPr lang="en-US" sz="2000" b="1" dirty="0">
                <a:latin typeface="+mj-lt"/>
                <a:ea typeface="思源黑体-思源黑体-Medium" pitchFamily="34" charset="-122"/>
                <a:cs typeface="思源黑体-思源黑体-Medium" pitchFamily="34" charset="-120"/>
              </a:rPr>
              <a:t>000V</a:t>
            </a:r>
            <a:r>
              <a:rPr lang="en-US" sz="2000" dirty="0">
                <a:latin typeface="+mj-lt"/>
                <a:ea typeface="思源黑体-思源黑体-Medium" pitchFamily="34" charset="-122"/>
                <a:cs typeface="思源黑体-思源黑体-Medium" pitchFamily="34" charset="-120"/>
              </a:rPr>
              <a:t>”, this helps maintaining total number of nonzero pulses even.</a:t>
            </a:r>
            <a:endParaRPr lang="en-US" sz="2000" dirty="0">
              <a:latin typeface="+mj-lt"/>
            </a:endParaRPr>
          </a:p>
        </p:txBody>
      </p:sp>
      <p:sp>
        <p:nvSpPr>
          <p:cNvPr id="6" name="Text 2"/>
          <p:cNvSpPr/>
          <p:nvPr/>
        </p:nvSpPr>
        <p:spPr>
          <a:xfrm>
            <a:off x="1019556" y="6940296"/>
            <a:ext cx="12591288" cy="603504"/>
          </a:xfrm>
          <a:prstGeom prst="rect">
            <a:avLst/>
          </a:prstGeom>
          <a:noFill/>
          <a:ln/>
        </p:spPr>
        <p:txBody>
          <a:bodyPr wrap="square" lIns="0" tIns="0" rIns="0" bIns="0" rtlCol="0" anchor="ctr"/>
          <a:lstStyle/>
          <a:p>
            <a:pPr marL="342900" indent="-342900" algn="l">
              <a:lnSpc>
                <a:spcPts val="2340"/>
              </a:lnSpc>
              <a:buFont typeface="Wingdings" panose="05000000000000000000" pitchFamily="2" charset="2"/>
              <a:buChar char="§"/>
            </a:pPr>
            <a:r>
              <a:rPr lang="en-US" sz="2000" dirty="0">
                <a:latin typeface="+mj-lt"/>
                <a:ea typeface="思源黑体-思源黑体-Medium" pitchFamily="34" charset="-122"/>
                <a:cs typeface="思源黑体-思源黑体-Medium" pitchFamily="34" charset="-120"/>
              </a:rPr>
              <a:t>If the number of nonzero pulses after the last substitution is </a:t>
            </a:r>
            <a:r>
              <a:rPr lang="en-US" sz="2000" b="1" dirty="0">
                <a:latin typeface="+mj-lt"/>
                <a:ea typeface="思源黑体-思源黑体-Medium" pitchFamily="34" charset="-122"/>
                <a:cs typeface="思源黑体-思源黑体-Medium" pitchFamily="34" charset="-120"/>
              </a:rPr>
              <a:t>even</a:t>
            </a:r>
            <a:r>
              <a:rPr lang="en-US" sz="2000" dirty="0">
                <a:latin typeface="+mj-lt"/>
                <a:ea typeface="思源黑体-思源黑体-Medium" pitchFamily="34" charset="-122"/>
                <a:cs typeface="思源黑体-思源黑体-Medium" pitchFamily="34" charset="-120"/>
              </a:rPr>
              <a:t>, the substitution pattern will be “</a:t>
            </a:r>
            <a:r>
              <a:rPr lang="en-US" sz="2000" b="1" dirty="0">
                <a:latin typeface="+mj-lt"/>
                <a:ea typeface="思源黑体-思源黑体-Medium" pitchFamily="34" charset="-122"/>
                <a:cs typeface="思源黑体-思源黑体-Medium" pitchFamily="34" charset="-120"/>
              </a:rPr>
              <a:t>B00V</a:t>
            </a:r>
            <a:r>
              <a:rPr lang="en-US" sz="2000" dirty="0">
                <a:latin typeface="+mj-lt"/>
                <a:ea typeface="思源黑体-思源黑体-Medium" pitchFamily="34" charset="-122"/>
                <a:cs typeface="思源黑体-思源黑体-Medium" pitchFamily="34" charset="-120"/>
              </a:rPr>
              <a:t>”. Hence even number of nonzero pulses is maintained again.</a:t>
            </a:r>
            <a:endParaRPr lang="en-US" sz="2000" dirty="0">
              <a:latin typeface="+mj-lt"/>
            </a:endParaRPr>
          </a:p>
        </p:txBody>
      </p:sp>
      <p:sp>
        <p:nvSpPr>
          <p:cNvPr id="7" name="Text 3"/>
          <p:cNvSpPr/>
          <p:nvPr/>
        </p:nvSpPr>
        <p:spPr>
          <a:xfrm>
            <a:off x="1024128" y="5541264"/>
            <a:ext cx="12591288" cy="301752"/>
          </a:xfrm>
          <a:prstGeom prst="rect">
            <a:avLst/>
          </a:prstGeom>
          <a:noFill/>
          <a:ln/>
        </p:spPr>
        <p:txBody>
          <a:bodyPr wrap="none" lIns="0" tIns="0" rIns="0" bIns="0" rtlCol="0" anchor="ctr"/>
          <a:lstStyle/>
          <a:p>
            <a:pPr marL="342900" indent="-342900" algn="l">
              <a:lnSpc>
                <a:spcPts val="2340"/>
              </a:lnSpc>
              <a:buFont typeface="Wingdings" panose="05000000000000000000" pitchFamily="2" charset="2"/>
              <a:buChar char="§"/>
            </a:pPr>
            <a:r>
              <a:rPr lang="en-US" sz="2000" dirty="0">
                <a:latin typeface="+mj-lt"/>
                <a:ea typeface="思源黑体-思源黑体-Medium" pitchFamily="34" charset="-122"/>
                <a:cs typeface="思源黑体-思源黑体-Medium" pitchFamily="34" charset="-120"/>
              </a:rPr>
              <a:t>Four consecutive zero-level voltages are replaced with a sequence “000V” or “B00V”.</a:t>
            </a:r>
            <a:endParaRPr lang="en-US" sz="2000" dirty="0">
              <a:latin typeface="+mj-lt"/>
            </a:endParaRPr>
          </a:p>
        </p:txBody>
      </p:sp>
      <p:pic>
        <p:nvPicPr>
          <p:cNvPr id="8" name="Picture 7">
            <a:extLst>
              <a:ext uri="{FF2B5EF4-FFF2-40B4-BE49-F238E27FC236}">
                <a16:creationId xmlns:a16="http://schemas.microsoft.com/office/drawing/2014/main" id="{CCBEA427-9D61-4C66-93AE-DCC08A581F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295400" y="1473200"/>
            <a:ext cx="12382500" cy="6157468"/>
          </a:xfrm>
          <a:prstGeom prst="rect">
            <a:avLst/>
          </a:prstGeom>
        </p:spPr>
      </p:pic>
      <p:sp>
        <p:nvSpPr>
          <p:cNvPr id="4" name="Text 0"/>
          <p:cNvSpPr/>
          <p:nvPr/>
        </p:nvSpPr>
        <p:spPr>
          <a:xfrm>
            <a:off x="781812" y="59893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B8ZS and HDB3</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94103DB5-724D-4E99-AF6E-12EDBB36CB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595360"/>
          </a:xfrm>
          <a:prstGeom prst="rect">
            <a:avLst/>
          </a:prstGeom>
        </p:spPr>
      </p:pic>
      <p:pic>
        <p:nvPicPr>
          <p:cNvPr id="3" name="Image 1" descr="preencoded.png"/>
          <p:cNvPicPr>
            <a:picLocks noChangeAspect="1"/>
          </p:cNvPicPr>
          <p:nvPr/>
        </p:nvPicPr>
        <p:blipFill>
          <a:blip r:embed="rId4"/>
          <a:stretch>
            <a:fillRect/>
          </a:stretch>
        </p:blipFill>
        <p:spPr>
          <a:xfrm>
            <a:off x="88900" y="1536192"/>
            <a:ext cx="12306300" cy="1508760"/>
          </a:xfrm>
          <a:prstGeom prst="rect">
            <a:avLst/>
          </a:prstGeom>
        </p:spPr>
      </p:pic>
      <p:sp>
        <p:nvSpPr>
          <p:cNvPr id="4" name="Text 0"/>
          <p:cNvSpPr/>
          <p:nvPr/>
        </p:nvSpPr>
        <p:spPr>
          <a:xfrm>
            <a:off x="1024128" y="3931920"/>
            <a:ext cx="12591288" cy="301752"/>
          </a:xfrm>
          <a:prstGeom prst="rect">
            <a:avLst/>
          </a:prstGeom>
          <a:noFill/>
          <a:ln/>
        </p:spPr>
        <p:txBody>
          <a:bodyPr wrap="non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It has frequency range of 300Hz to 3400Hz use modem (modulator-demodulator)</a:t>
            </a:r>
            <a:endParaRPr lang="en-US" sz="2000" dirty="0">
              <a:latin typeface="+mj-lt"/>
            </a:endParaRPr>
          </a:p>
        </p:txBody>
      </p:sp>
      <p:sp>
        <p:nvSpPr>
          <p:cNvPr id="5" name="Text 1"/>
          <p:cNvSpPr/>
          <p:nvPr/>
        </p:nvSpPr>
        <p:spPr>
          <a:xfrm>
            <a:off x="1024128" y="4489704"/>
            <a:ext cx="12591288" cy="301752"/>
          </a:xfrm>
          <a:prstGeom prst="rect">
            <a:avLst/>
          </a:prstGeom>
          <a:noFill/>
          <a:ln/>
        </p:spPr>
        <p:txBody>
          <a:bodyPr wrap="non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Three types of Modulator techniques</a:t>
            </a:r>
            <a:endParaRPr lang="en-US" sz="2000" dirty="0">
              <a:latin typeface="+mj-lt"/>
            </a:endParaRPr>
          </a:p>
        </p:txBody>
      </p:sp>
      <p:sp>
        <p:nvSpPr>
          <p:cNvPr id="6" name="Text 2"/>
          <p:cNvSpPr/>
          <p:nvPr/>
        </p:nvSpPr>
        <p:spPr>
          <a:xfrm>
            <a:off x="1024128" y="5349240"/>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0/1 binary values represented by different carrier amplitudes</a:t>
            </a:r>
            <a:endParaRPr lang="en-US" sz="2000" dirty="0">
              <a:latin typeface="+mj-lt"/>
            </a:endParaRPr>
          </a:p>
        </p:txBody>
      </p:sp>
      <p:sp>
        <p:nvSpPr>
          <p:cNvPr id="7" name="Text 3"/>
          <p:cNvSpPr/>
          <p:nvPr/>
        </p:nvSpPr>
        <p:spPr>
          <a:xfrm>
            <a:off x="1024128" y="3383280"/>
            <a:ext cx="12591288" cy="301752"/>
          </a:xfrm>
          <a:prstGeom prst="rect">
            <a:avLst/>
          </a:prstGeom>
          <a:noFill/>
          <a:ln/>
        </p:spPr>
        <p:txBody>
          <a:bodyPr wrap="none" lIns="0" tIns="0" rIns="0" bIns="0" rtlCol="0" anchor="ctr"/>
          <a:lstStyle/>
          <a:p>
            <a:pPr marL="342900" indent="-3429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The main use is public telephone system</a:t>
            </a:r>
            <a:endParaRPr lang="en-US" sz="2000" dirty="0">
              <a:latin typeface="+mj-lt"/>
            </a:endParaRPr>
          </a:p>
        </p:txBody>
      </p:sp>
      <p:sp>
        <p:nvSpPr>
          <p:cNvPr id="8" name="Text 4"/>
          <p:cNvSpPr/>
          <p:nvPr/>
        </p:nvSpPr>
        <p:spPr>
          <a:xfrm>
            <a:off x="1024128" y="6826646"/>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a:t>
            </a:r>
            <a:r>
              <a:rPr lang="en-US" sz="2000" b="1" dirty="0" err="1">
                <a:latin typeface="+mj-lt"/>
                <a:ea typeface="思源黑体-思源黑体-Medium" pitchFamily="34" charset="-122"/>
                <a:cs typeface="思源黑体-思源黑体-Medium" pitchFamily="34" charset="-120"/>
              </a:rPr>
              <a:t>Disadv</a:t>
            </a:r>
            <a:r>
              <a:rPr lang="en-US" sz="2000" dirty="0">
                <a:latin typeface="+mj-lt"/>
                <a:ea typeface="思源黑体-思源黑体-Medium" pitchFamily="34" charset="-122"/>
                <a:cs typeface="思源黑体-思源黑体-Medium" pitchFamily="34" charset="-120"/>
              </a:rPr>
              <a:t>: 1. inefficient</a:t>
            </a:r>
            <a:endParaRPr lang="en-US" sz="2000" dirty="0">
              <a:latin typeface="+mj-lt"/>
            </a:endParaRPr>
          </a:p>
        </p:txBody>
      </p:sp>
      <p:sp>
        <p:nvSpPr>
          <p:cNvPr id="9" name="Text 5"/>
          <p:cNvSpPr/>
          <p:nvPr/>
        </p:nvSpPr>
        <p:spPr>
          <a:xfrm>
            <a:off x="1024128" y="6396878"/>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a:t>
            </a:r>
            <a:r>
              <a:rPr lang="en-US" sz="2000" b="1" dirty="0">
                <a:latin typeface="+mj-lt"/>
                <a:ea typeface="思源黑体-思源黑体-Medium" pitchFamily="34" charset="-122"/>
                <a:cs typeface="思源黑体-思源黑体-Medium" pitchFamily="34" charset="-120"/>
              </a:rPr>
              <a:t>Example</a:t>
            </a:r>
            <a:r>
              <a:rPr lang="en-US" sz="2000" dirty="0">
                <a:latin typeface="+mj-lt"/>
                <a:ea typeface="思源黑体-思源黑体-Medium" pitchFamily="34" charset="-122"/>
                <a:cs typeface="思源黑体-思源黑体-Medium" pitchFamily="34" charset="-120"/>
              </a:rPr>
              <a:t>: LED – one- Presence of light, other- absence</a:t>
            </a:r>
            <a:endParaRPr lang="en-US" sz="2000" dirty="0">
              <a:latin typeface="+mj-lt"/>
            </a:endParaRPr>
          </a:p>
        </p:txBody>
      </p:sp>
      <p:sp>
        <p:nvSpPr>
          <p:cNvPr id="10" name="Text 6"/>
          <p:cNvSpPr/>
          <p:nvPr/>
        </p:nvSpPr>
        <p:spPr>
          <a:xfrm>
            <a:off x="556768" y="34747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Digital Data, Analog Signal: Modulation Techniques</a:t>
            </a:r>
            <a:endParaRPr lang="en-US" sz="4400" dirty="0">
              <a:latin typeface="Cambria" panose="02040503050406030204" pitchFamily="18" charset="0"/>
              <a:ea typeface="Cambria" panose="02040503050406030204" pitchFamily="18" charset="0"/>
            </a:endParaRPr>
          </a:p>
        </p:txBody>
      </p:sp>
      <p:sp>
        <p:nvSpPr>
          <p:cNvPr id="11" name="Text 7"/>
          <p:cNvSpPr/>
          <p:nvPr/>
        </p:nvSpPr>
        <p:spPr>
          <a:xfrm>
            <a:off x="1024128" y="5824728"/>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1—presence of carrier</a:t>
            </a:r>
            <a:endParaRPr lang="en-US" sz="2000" dirty="0">
              <a:latin typeface="+mj-lt"/>
            </a:endParaRPr>
          </a:p>
        </p:txBody>
      </p:sp>
      <p:sp>
        <p:nvSpPr>
          <p:cNvPr id="12" name="Text 8"/>
          <p:cNvSpPr/>
          <p:nvPr/>
        </p:nvSpPr>
        <p:spPr>
          <a:xfrm>
            <a:off x="4161028" y="5824728"/>
            <a:ext cx="2971292"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0—absence of carrier</a:t>
            </a:r>
            <a:endParaRPr lang="en-US" sz="2000" dirty="0">
              <a:latin typeface="+mj-lt"/>
            </a:endParaRPr>
          </a:p>
        </p:txBody>
      </p:sp>
      <p:sp>
        <p:nvSpPr>
          <p:cNvPr id="13" name="Text 9"/>
          <p:cNvSpPr/>
          <p:nvPr/>
        </p:nvSpPr>
        <p:spPr>
          <a:xfrm>
            <a:off x="1024128" y="4919472"/>
            <a:ext cx="12591288" cy="301752"/>
          </a:xfrm>
          <a:prstGeom prst="rect">
            <a:avLst/>
          </a:prstGeom>
          <a:noFill/>
          <a:ln/>
        </p:spPr>
        <p:txBody>
          <a:bodyPr wrap="none" lIns="0" tIns="0" rIns="0" bIns="0" rtlCol="0" anchor="ctr"/>
          <a:lstStyle/>
          <a:p>
            <a:pPr algn="l">
              <a:lnSpc>
                <a:spcPts val="2340"/>
              </a:lnSpc>
            </a:pPr>
            <a:r>
              <a:rPr lang="en-US" sz="2000" b="1" dirty="0">
                <a:latin typeface="+mj-lt"/>
                <a:ea typeface="思源黑体-思源黑体-Medium" pitchFamily="34" charset="-122"/>
                <a:cs typeface="思源黑体-思源黑体-Medium" pitchFamily="34" charset="-120"/>
              </a:rPr>
              <a:t>1. Amplitude shift keying (ASK)</a:t>
            </a:r>
            <a:endParaRPr lang="en-US" sz="2000" b="1" dirty="0">
              <a:latin typeface="+mj-lt"/>
            </a:endParaRPr>
          </a:p>
        </p:txBody>
      </p:sp>
      <p:sp>
        <p:nvSpPr>
          <p:cNvPr id="14" name="Text 10"/>
          <p:cNvSpPr/>
          <p:nvPr/>
        </p:nvSpPr>
        <p:spPr>
          <a:xfrm>
            <a:off x="1024128" y="7265558"/>
            <a:ext cx="12591288" cy="301752"/>
          </a:xfrm>
          <a:prstGeom prst="rect">
            <a:avLst/>
          </a:prstGeom>
          <a:noFill/>
          <a:ln/>
        </p:spPr>
        <p:txBody>
          <a:bodyPr wrap="none" lIns="0" tIns="0" rIns="0" bIns="0" rtlCol="0" anchor="ctr"/>
          <a:lstStyle/>
          <a:p>
            <a:pPr algn="l">
              <a:lnSpc>
                <a:spcPts val="2340"/>
              </a:lnSpc>
            </a:pPr>
            <a:r>
              <a:rPr lang="en-US" sz="2000" dirty="0">
                <a:latin typeface="+mj-lt"/>
                <a:ea typeface="思源黑体-思源黑体-Medium" pitchFamily="34" charset="-122"/>
                <a:cs typeface="思源黑体-思源黑体-Medium" pitchFamily="34" charset="-120"/>
              </a:rPr>
              <a:t>                     2. up to 1200bps on voice grade lines</a:t>
            </a:r>
            <a:endParaRPr lang="en-US" sz="2000" dirty="0">
              <a:latin typeface="+mj-lt"/>
            </a:endParaRPr>
          </a:p>
        </p:txBody>
      </p:sp>
      <p:pic>
        <p:nvPicPr>
          <p:cNvPr id="15" name="Picture 14">
            <a:extLst>
              <a:ext uri="{FF2B5EF4-FFF2-40B4-BE49-F238E27FC236}">
                <a16:creationId xmlns:a16="http://schemas.microsoft.com/office/drawing/2014/main" id="{D9057DE9-54B5-42A9-B815-B4CA635A7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595360"/>
          </a:xfrm>
          <a:prstGeom prst="rect">
            <a:avLst/>
          </a:prstGeom>
        </p:spPr>
      </p:pic>
      <p:sp>
        <p:nvSpPr>
          <p:cNvPr id="10" name="Text 6"/>
          <p:cNvSpPr/>
          <p:nvPr/>
        </p:nvSpPr>
        <p:spPr>
          <a:xfrm>
            <a:off x="556768" y="347472"/>
            <a:ext cx="13066776" cy="667512"/>
          </a:xfrm>
          <a:prstGeom prst="rect">
            <a:avLst/>
          </a:prstGeom>
          <a:noFill/>
          <a:ln/>
        </p:spPr>
        <p:txBody>
          <a:bodyPr wrap="none" lIns="0" tIns="0" rIns="0" bIns="0" rtlCol="0" anchor="ctr"/>
          <a:lstStyle/>
          <a:p>
            <a:pPr marL="0" indent="0" algn="l">
              <a:lnSpc>
                <a:spcPts val="5240"/>
              </a:lnSpc>
              <a:buNone/>
            </a:pPr>
            <a:endParaRPr lang="en-US" sz="4400" dirty="0">
              <a:latin typeface="Cambria" panose="02040503050406030204" pitchFamily="18" charset="0"/>
              <a:ea typeface="Cambria" panose="02040503050406030204" pitchFamily="18" charset="0"/>
            </a:endParaRPr>
          </a:p>
        </p:txBody>
      </p:sp>
      <p:sp>
        <p:nvSpPr>
          <p:cNvPr id="12" name="Text 8"/>
          <p:cNvSpPr/>
          <p:nvPr/>
        </p:nvSpPr>
        <p:spPr>
          <a:xfrm>
            <a:off x="4161028" y="5824728"/>
            <a:ext cx="2971292" cy="301752"/>
          </a:xfrm>
          <a:prstGeom prst="rect">
            <a:avLst/>
          </a:prstGeom>
          <a:noFill/>
          <a:ln/>
        </p:spPr>
        <p:txBody>
          <a:bodyPr wrap="none" lIns="0" tIns="0" rIns="0" bIns="0" rtlCol="0" anchor="ctr"/>
          <a:lstStyle/>
          <a:p>
            <a:pPr algn="l">
              <a:lnSpc>
                <a:spcPts val="2340"/>
              </a:lnSpc>
            </a:pPr>
            <a:endParaRPr lang="en-US" sz="2000" dirty="0">
              <a:latin typeface="+mj-lt"/>
            </a:endParaRPr>
          </a:p>
        </p:txBody>
      </p:sp>
      <p:sp>
        <p:nvSpPr>
          <p:cNvPr id="15" name="Text 2">
            <a:extLst>
              <a:ext uri="{FF2B5EF4-FFF2-40B4-BE49-F238E27FC236}">
                <a16:creationId xmlns:a16="http://schemas.microsoft.com/office/drawing/2014/main" id="{6CFB5E3C-8237-4AAC-953F-AA6E7E3337C7}"/>
              </a:ext>
            </a:extLst>
          </p:cNvPr>
          <p:cNvSpPr/>
          <p:nvPr/>
        </p:nvSpPr>
        <p:spPr>
          <a:xfrm>
            <a:off x="786384" y="1060704"/>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2. Binary Frequency Shift Keying</a:t>
            </a:r>
            <a:endParaRPr lang="en-US" sz="4400" dirty="0">
              <a:latin typeface="Cambria" panose="02040503050406030204" pitchFamily="18" charset="0"/>
              <a:ea typeface="Cambria" panose="02040503050406030204" pitchFamily="18" charset="0"/>
            </a:endParaRPr>
          </a:p>
        </p:txBody>
      </p:sp>
      <p:sp>
        <p:nvSpPr>
          <p:cNvPr id="16" name="Text 3">
            <a:extLst>
              <a:ext uri="{FF2B5EF4-FFF2-40B4-BE49-F238E27FC236}">
                <a16:creationId xmlns:a16="http://schemas.microsoft.com/office/drawing/2014/main" id="{945B27F2-0AAD-4A7D-999D-142B2846BDBF}"/>
              </a:ext>
            </a:extLst>
          </p:cNvPr>
          <p:cNvSpPr/>
          <p:nvPr/>
        </p:nvSpPr>
        <p:spPr>
          <a:xfrm>
            <a:off x="8202168" y="2240280"/>
            <a:ext cx="5632704" cy="603504"/>
          </a:xfrm>
          <a:prstGeom prst="rect">
            <a:avLst/>
          </a:prstGeom>
          <a:noFill/>
          <a:ln/>
        </p:spPr>
        <p:txBody>
          <a:bodyPr wrap="squar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Two binary values represented by two different frequencies (near carrier frequency)</a:t>
            </a:r>
            <a:endParaRPr lang="en-US" sz="2000" dirty="0">
              <a:latin typeface="+mj-lt"/>
            </a:endParaRPr>
          </a:p>
        </p:txBody>
      </p:sp>
      <p:sp>
        <p:nvSpPr>
          <p:cNvPr id="17" name="Text 4">
            <a:extLst>
              <a:ext uri="{FF2B5EF4-FFF2-40B4-BE49-F238E27FC236}">
                <a16:creationId xmlns:a16="http://schemas.microsoft.com/office/drawing/2014/main" id="{91628019-4C03-432C-98D9-DE6AACE76B7B}"/>
              </a:ext>
            </a:extLst>
          </p:cNvPr>
          <p:cNvSpPr/>
          <p:nvPr/>
        </p:nvSpPr>
        <p:spPr>
          <a:xfrm>
            <a:off x="8202168" y="3401568"/>
            <a:ext cx="5632704" cy="603504"/>
          </a:xfrm>
          <a:prstGeom prst="rect">
            <a:avLst/>
          </a:prstGeom>
          <a:noFill/>
          <a:ln/>
        </p:spPr>
        <p:txBody>
          <a:bodyPr wrap="squar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Used for up to 1200bps on voice grade lines high frequency radio</a:t>
            </a:r>
            <a:endParaRPr lang="en-US" sz="2000" dirty="0">
              <a:latin typeface="+mj-lt"/>
            </a:endParaRPr>
          </a:p>
        </p:txBody>
      </p:sp>
      <p:sp>
        <p:nvSpPr>
          <p:cNvPr id="18" name="Text 6">
            <a:extLst>
              <a:ext uri="{FF2B5EF4-FFF2-40B4-BE49-F238E27FC236}">
                <a16:creationId xmlns:a16="http://schemas.microsoft.com/office/drawing/2014/main" id="{CBFA4647-D19B-401A-B4D2-C2D62911A8EE}"/>
              </a:ext>
            </a:extLst>
          </p:cNvPr>
          <p:cNvSpPr/>
          <p:nvPr/>
        </p:nvSpPr>
        <p:spPr>
          <a:xfrm>
            <a:off x="1536192" y="3401568"/>
            <a:ext cx="5632704" cy="301752"/>
          </a:xfrm>
          <a:prstGeom prst="rect">
            <a:avLst/>
          </a:prstGeom>
          <a:noFill/>
          <a:ln/>
        </p:spPr>
        <p:txBody>
          <a:bodyPr wrap="non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Less susceptible to error than ASK</a:t>
            </a:r>
            <a:endParaRPr lang="en-US" sz="2000" dirty="0">
              <a:latin typeface="+mj-lt"/>
            </a:endParaRPr>
          </a:p>
        </p:txBody>
      </p:sp>
      <p:sp>
        <p:nvSpPr>
          <p:cNvPr id="19" name="Text 11">
            <a:extLst>
              <a:ext uri="{FF2B5EF4-FFF2-40B4-BE49-F238E27FC236}">
                <a16:creationId xmlns:a16="http://schemas.microsoft.com/office/drawing/2014/main" id="{E172A4F5-D4EE-4583-B4E1-07DDA4E205F5}"/>
              </a:ext>
            </a:extLst>
          </p:cNvPr>
          <p:cNvSpPr/>
          <p:nvPr/>
        </p:nvSpPr>
        <p:spPr>
          <a:xfrm>
            <a:off x="8202168" y="5607812"/>
            <a:ext cx="5632704" cy="301752"/>
          </a:xfrm>
          <a:prstGeom prst="rect">
            <a:avLst/>
          </a:prstGeom>
          <a:noFill/>
          <a:ln/>
        </p:spPr>
        <p:txBody>
          <a:bodyPr wrap="non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More bandwidth efficient</a:t>
            </a:r>
            <a:endParaRPr lang="en-US" sz="2000" dirty="0">
              <a:latin typeface="+mj-lt"/>
            </a:endParaRPr>
          </a:p>
        </p:txBody>
      </p:sp>
      <p:sp>
        <p:nvSpPr>
          <p:cNvPr id="20" name="Text 12">
            <a:extLst>
              <a:ext uri="{FF2B5EF4-FFF2-40B4-BE49-F238E27FC236}">
                <a16:creationId xmlns:a16="http://schemas.microsoft.com/office/drawing/2014/main" id="{74DDBB49-E64A-4119-9E1B-70F11B4211B6}"/>
              </a:ext>
            </a:extLst>
          </p:cNvPr>
          <p:cNvSpPr/>
          <p:nvPr/>
        </p:nvSpPr>
        <p:spPr>
          <a:xfrm>
            <a:off x="8202168" y="4394200"/>
            <a:ext cx="5632704" cy="603504"/>
          </a:xfrm>
          <a:prstGeom prst="rect">
            <a:avLst/>
          </a:prstGeom>
          <a:noFill/>
          <a:ln/>
        </p:spPr>
        <p:txBody>
          <a:bodyPr wrap="non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More prone to error</a:t>
            </a:r>
            <a:endParaRPr lang="en-US" sz="2000" dirty="0">
              <a:latin typeface="+mj-lt"/>
            </a:endParaRPr>
          </a:p>
        </p:txBody>
      </p:sp>
      <p:sp>
        <p:nvSpPr>
          <p:cNvPr id="21" name="Text 13">
            <a:extLst>
              <a:ext uri="{FF2B5EF4-FFF2-40B4-BE49-F238E27FC236}">
                <a16:creationId xmlns:a16="http://schemas.microsoft.com/office/drawing/2014/main" id="{54E3A941-7496-43B7-BF06-D98121DCA008}"/>
              </a:ext>
            </a:extLst>
          </p:cNvPr>
          <p:cNvSpPr/>
          <p:nvPr/>
        </p:nvSpPr>
        <p:spPr>
          <a:xfrm>
            <a:off x="1536192" y="2240280"/>
            <a:ext cx="5632704" cy="301752"/>
          </a:xfrm>
          <a:prstGeom prst="rect">
            <a:avLst/>
          </a:prstGeom>
          <a:noFill/>
          <a:ln/>
        </p:spPr>
        <p:txBody>
          <a:bodyPr wrap="non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Most common form of FSK is binary FSK (BFSK)</a:t>
            </a:r>
            <a:endParaRPr lang="en-US" sz="2000" dirty="0">
              <a:latin typeface="+mj-lt"/>
            </a:endParaRPr>
          </a:p>
        </p:txBody>
      </p:sp>
      <p:sp>
        <p:nvSpPr>
          <p:cNvPr id="22" name="Text 15">
            <a:extLst>
              <a:ext uri="{FF2B5EF4-FFF2-40B4-BE49-F238E27FC236}">
                <a16:creationId xmlns:a16="http://schemas.microsoft.com/office/drawing/2014/main" id="{8BC1DD08-7D11-48D8-A4DA-E1C0B5F1A4B8}"/>
              </a:ext>
            </a:extLst>
          </p:cNvPr>
          <p:cNvSpPr/>
          <p:nvPr/>
        </p:nvSpPr>
        <p:spPr>
          <a:xfrm>
            <a:off x="1536192" y="4562856"/>
            <a:ext cx="5632704" cy="301752"/>
          </a:xfrm>
          <a:prstGeom prst="rect">
            <a:avLst/>
          </a:prstGeom>
          <a:noFill/>
          <a:ln/>
        </p:spPr>
        <p:txBody>
          <a:bodyPr wrap="none" lIns="0" tIns="0" rIns="0" bIns="0" rtlCol="0" anchor="ctr"/>
          <a:lstStyle/>
          <a:p>
            <a:pPr marL="457200" indent="-457200" algn="l">
              <a:lnSpc>
                <a:spcPts val="2340"/>
              </a:lnSpc>
              <a:buFont typeface="Wingdings" panose="05000000000000000000" pitchFamily="2" charset="2"/>
              <a:buChar char="Ø"/>
            </a:pPr>
            <a:r>
              <a:rPr lang="en-US" sz="2000" dirty="0">
                <a:latin typeface="+mj-lt"/>
                <a:ea typeface="思源黑体-思源黑体-Medium" pitchFamily="34" charset="-122"/>
                <a:cs typeface="思源黑体-思源黑体-Medium" pitchFamily="34" charset="-120"/>
              </a:rPr>
              <a:t>Even higher frequency on LANs using coaxial cable</a:t>
            </a:r>
            <a:endParaRPr lang="en-US" sz="2000" dirty="0">
              <a:latin typeface="+mj-lt"/>
            </a:endParaRPr>
          </a:p>
        </p:txBody>
      </p:sp>
      <p:pic>
        <p:nvPicPr>
          <p:cNvPr id="23" name="Picture 22">
            <a:extLst>
              <a:ext uri="{FF2B5EF4-FFF2-40B4-BE49-F238E27FC236}">
                <a16:creationId xmlns:a16="http://schemas.microsoft.com/office/drawing/2014/main" id="{FD1E637D-05BA-4FC4-8F02-E4335DBC8A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249556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5157216" y="2011680"/>
            <a:ext cx="4325112" cy="905256"/>
          </a:xfrm>
          <a:prstGeom prst="rect">
            <a:avLst/>
          </a:prstGeom>
        </p:spPr>
      </p:pic>
      <p:pic>
        <p:nvPicPr>
          <p:cNvPr id="5" name="Image 3" descr="preencoded.png"/>
          <p:cNvPicPr>
            <a:picLocks noChangeAspect="1"/>
          </p:cNvPicPr>
          <p:nvPr/>
        </p:nvPicPr>
        <p:blipFill>
          <a:blip r:embed="rId5"/>
          <a:stretch>
            <a:fillRect/>
          </a:stretch>
        </p:blipFill>
        <p:spPr>
          <a:xfrm>
            <a:off x="9509760" y="2011680"/>
            <a:ext cx="4325112" cy="905256"/>
          </a:xfrm>
          <a:prstGeom prst="rect">
            <a:avLst/>
          </a:prstGeom>
        </p:spPr>
      </p:pic>
      <p:pic>
        <p:nvPicPr>
          <p:cNvPr id="6" name="Image 4" descr="preencoded.png"/>
          <p:cNvPicPr>
            <a:picLocks noChangeAspect="1"/>
          </p:cNvPicPr>
          <p:nvPr/>
        </p:nvPicPr>
        <p:blipFill>
          <a:blip r:embed="rId4"/>
          <a:stretch>
            <a:fillRect/>
          </a:stretch>
        </p:blipFill>
        <p:spPr>
          <a:xfrm>
            <a:off x="804672" y="2011680"/>
            <a:ext cx="4325112" cy="905256"/>
          </a:xfrm>
          <a:prstGeom prst="rect">
            <a:avLst/>
          </a:prstGeom>
        </p:spPr>
      </p:pic>
      <p:sp>
        <p:nvSpPr>
          <p:cNvPr id="7" name="Text 0"/>
          <p:cNvSpPr/>
          <p:nvPr/>
        </p:nvSpPr>
        <p:spPr>
          <a:xfrm>
            <a:off x="9738360" y="3246120"/>
            <a:ext cx="3877056" cy="301752"/>
          </a:xfrm>
          <a:prstGeom prst="rect">
            <a:avLst/>
          </a:prstGeom>
          <a:noFill/>
          <a:ln/>
        </p:spPr>
        <p:txBody>
          <a:bodyPr wrap="none" lIns="0" tIns="0" rIns="0" bIns="0" rtlCol="0" anchor="ctr"/>
          <a:lstStyle/>
          <a:p>
            <a:pPr marL="0" indent="0" algn="l">
              <a:lnSpc>
                <a:spcPts val="2340"/>
              </a:lnSpc>
              <a:buNone/>
            </a:pPr>
            <a:r>
              <a:rPr lang="en-US" sz="1670" b="1" dirty="0">
                <a:latin typeface="思源黑体-思源黑体-Medium" pitchFamily="34" charset="0"/>
                <a:ea typeface="思源黑体-思源黑体-Medium" pitchFamily="34" charset="-122"/>
                <a:cs typeface="思源黑体-思源黑体-Medium" pitchFamily="34" charset="-120"/>
              </a:rPr>
              <a:t>Differential PSK</a:t>
            </a:r>
            <a:endParaRPr lang="en-US" sz="1670" b="1" dirty="0"/>
          </a:p>
        </p:txBody>
      </p:sp>
      <p:sp>
        <p:nvSpPr>
          <p:cNvPr id="8" name="Text 1"/>
          <p:cNvSpPr/>
          <p:nvPr/>
        </p:nvSpPr>
        <p:spPr>
          <a:xfrm>
            <a:off x="5385816" y="3977640"/>
            <a:ext cx="3877056" cy="301752"/>
          </a:xfrm>
          <a:prstGeom prst="rect">
            <a:avLst/>
          </a:prstGeom>
          <a:noFill/>
          <a:ln/>
        </p:spPr>
        <p:txBody>
          <a:bodyPr wrap="non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    • 0 - signal with same phase as FSK</a:t>
            </a:r>
            <a:endParaRPr lang="en-US" sz="1670" dirty="0"/>
          </a:p>
        </p:txBody>
      </p:sp>
      <p:sp>
        <p:nvSpPr>
          <p:cNvPr id="9" name="Text 2"/>
          <p:cNvSpPr/>
          <p:nvPr/>
        </p:nvSpPr>
        <p:spPr>
          <a:xfrm>
            <a:off x="5385816" y="3246120"/>
            <a:ext cx="3877056" cy="603504"/>
          </a:xfrm>
          <a:prstGeom prst="rect">
            <a:avLst/>
          </a:prstGeom>
          <a:noFill/>
          <a:ln/>
        </p:spPr>
        <p:txBody>
          <a:bodyPr wrap="square" lIns="0" tIns="0" rIns="0" bIns="0" rtlCol="0" anchor="ctr"/>
          <a:lstStyle/>
          <a:p>
            <a:pPr marL="0" indent="0" algn="l">
              <a:lnSpc>
                <a:spcPts val="2340"/>
              </a:lnSpc>
              <a:buNone/>
            </a:pPr>
            <a:r>
              <a:rPr lang="en-US" sz="1670" b="1" dirty="0">
                <a:latin typeface="思源黑体-思源黑体-Medium" pitchFamily="34" charset="0"/>
                <a:ea typeface="思源黑体-思源黑体-Medium" pitchFamily="34" charset="-122"/>
                <a:cs typeface="思源黑体-思源黑体-Medium" pitchFamily="34" charset="-120"/>
              </a:rPr>
              <a:t>Binary PSK</a:t>
            </a:r>
            <a:r>
              <a:rPr lang="en-US" sz="1670" dirty="0">
                <a:latin typeface="思源黑体-思源黑体-Medium" pitchFamily="34" charset="0"/>
                <a:ea typeface="思源黑体-思源黑体-Medium" pitchFamily="34" charset="-122"/>
                <a:cs typeface="思源黑体-思源黑体-Medium" pitchFamily="34" charset="-120"/>
              </a:rPr>
              <a:t>—two phases represent two binary digits</a:t>
            </a:r>
            <a:endParaRPr lang="en-US" sz="1670" dirty="0"/>
          </a:p>
        </p:txBody>
      </p:sp>
      <p:sp>
        <p:nvSpPr>
          <p:cNvPr id="10" name="Text 3"/>
          <p:cNvSpPr/>
          <p:nvPr/>
        </p:nvSpPr>
        <p:spPr>
          <a:xfrm>
            <a:off x="7242048" y="2267712"/>
            <a:ext cx="155448" cy="393192"/>
          </a:xfrm>
          <a:prstGeom prst="rect">
            <a:avLst/>
          </a:prstGeom>
          <a:noFill/>
          <a:ln/>
        </p:spPr>
        <p:txBody>
          <a:bodyPr wrap="none" lIns="0" tIns="0" rIns="0" bIns="0" rtlCol="0" anchor="ctr"/>
          <a:lstStyle/>
          <a:p>
            <a:pPr marL="0" indent="0" algn="ctr">
              <a:lnSpc>
                <a:spcPts val="2510"/>
              </a:lnSpc>
              <a:buNone/>
            </a:pPr>
            <a:r>
              <a:rPr lang="en-US" sz="2090" dirty="0">
                <a:latin typeface="思源黑体-思源黑体-Medium" pitchFamily="34" charset="0"/>
                <a:ea typeface="思源黑体-思源黑体-Medium" pitchFamily="34" charset="-122"/>
                <a:cs typeface="思源黑体-思源黑体-Medium" pitchFamily="34" charset="-120"/>
              </a:rPr>
              <a:t>2</a:t>
            </a:r>
            <a:endParaRPr lang="en-US" sz="2090" dirty="0"/>
          </a:p>
        </p:txBody>
      </p:sp>
      <p:sp>
        <p:nvSpPr>
          <p:cNvPr id="11" name="Text 4"/>
          <p:cNvSpPr/>
          <p:nvPr/>
        </p:nvSpPr>
        <p:spPr>
          <a:xfrm>
            <a:off x="11594592" y="2267712"/>
            <a:ext cx="155448" cy="393192"/>
          </a:xfrm>
          <a:prstGeom prst="rect">
            <a:avLst/>
          </a:prstGeom>
          <a:noFill/>
          <a:ln/>
        </p:spPr>
        <p:txBody>
          <a:bodyPr wrap="none" lIns="0" tIns="0" rIns="0" bIns="0" rtlCol="0" anchor="ctr"/>
          <a:lstStyle/>
          <a:p>
            <a:pPr marL="0" indent="0" algn="ctr">
              <a:lnSpc>
                <a:spcPts val="2510"/>
              </a:lnSpc>
              <a:buNone/>
            </a:pPr>
            <a:r>
              <a:rPr lang="en-US" sz="2090" dirty="0">
                <a:latin typeface="思源黑体-思源黑体-Medium" pitchFamily="34" charset="0"/>
                <a:ea typeface="思源黑体-思源黑体-Medium" pitchFamily="34" charset="-122"/>
                <a:cs typeface="思源黑体-思源黑体-Medium" pitchFamily="34" charset="-120"/>
              </a:rPr>
              <a:t>3</a:t>
            </a:r>
            <a:endParaRPr lang="en-US" sz="2090" dirty="0"/>
          </a:p>
        </p:txBody>
      </p:sp>
      <p:sp>
        <p:nvSpPr>
          <p:cNvPr id="12" name="Text 5"/>
          <p:cNvSpPr/>
          <p:nvPr/>
        </p:nvSpPr>
        <p:spPr>
          <a:xfrm>
            <a:off x="9738360" y="3675888"/>
            <a:ext cx="3877056" cy="896112"/>
          </a:xfrm>
          <a:prstGeom prst="rect">
            <a:avLst/>
          </a:prstGeom>
          <a:noFill/>
          <a:ln/>
        </p:spPr>
        <p:txBody>
          <a:bodyPr wrap="squar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    • phase shifted relative to previous transmission rather than some reference signal</a:t>
            </a:r>
            <a:endParaRPr lang="en-US" sz="1670" dirty="0"/>
          </a:p>
        </p:txBody>
      </p:sp>
      <p:sp>
        <p:nvSpPr>
          <p:cNvPr id="13" name="Text 6"/>
          <p:cNvSpPr/>
          <p:nvPr/>
        </p:nvSpPr>
        <p:spPr>
          <a:xfrm>
            <a:off x="1024128" y="6053328"/>
            <a:ext cx="12591288" cy="301752"/>
          </a:xfrm>
          <a:prstGeom prst="rect">
            <a:avLst/>
          </a:prstGeom>
          <a:noFill/>
          <a:ln/>
        </p:spPr>
        <p:txBody>
          <a:bodyPr wrap="non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    • each signal element represents more than one bit</a:t>
            </a:r>
            <a:endParaRPr lang="en-US" sz="1670" dirty="0"/>
          </a:p>
        </p:txBody>
      </p:sp>
      <p:sp>
        <p:nvSpPr>
          <p:cNvPr id="14" name="Text 7"/>
          <p:cNvSpPr/>
          <p:nvPr/>
        </p:nvSpPr>
        <p:spPr>
          <a:xfrm>
            <a:off x="5385816" y="4407408"/>
            <a:ext cx="3877056" cy="603504"/>
          </a:xfrm>
          <a:prstGeom prst="rect">
            <a:avLst/>
          </a:prstGeom>
          <a:noFill/>
          <a:ln/>
        </p:spPr>
        <p:txBody>
          <a:bodyPr wrap="squar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    • 1 - signal with opposite phase to previous one</a:t>
            </a:r>
            <a:endParaRPr lang="en-US" sz="1670" dirty="0"/>
          </a:p>
        </p:txBody>
      </p:sp>
      <p:sp>
        <p:nvSpPr>
          <p:cNvPr id="15" name="Text 8"/>
          <p:cNvSpPr/>
          <p:nvPr/>
        </p:nvSpPr>
        <p:spPr>
          <a:xfrm>
            <a:off x="1024128" y="3246120"/>
            <a:ext cx="3877056" cy="301752"/>
          </a:xfrm>
          <a:prstGeom prst="rect">
            <a:avLst/>
          </a:prstGeom>
          <a:noFill/>
          <a:ln/>
        </p:spPr>
        <p:txBody>
          <a:bodyPr wrap="non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Phase of carrier signal</a:t>
            </a:r>
            <a:endParaRPr lang="en-US" sz="1670" dirty="0"/>
          </a:p>
        </p:txBody>
      </p:sp>
      <p:sp>
        <p:nvSpPr>
          <p:cNvPr id="16" name="Text 9"/>
          <p:cNvSpPr/>
          <p:nvPr/>
        </p:nvSpPr>
        <p:spPr>
          <a:xfrm>
            <a:off x="1024128" y="6483096"/>
            <a:ext cx="12591288" cy="301752"/>
          </a:xfrm>
          <a:prstGeom prst="rect">
            <a:avLst/>
          </a:prstGeom>
          <a:noFill/>
          <a:ln/>
        </p:spPr>
        <p:txBody>
          <a:bodyPr wrap="none" lIns="0" tIns="0" rIns="0" bIns="0" rtlCol="0" anchor="ctr"/>
          <a:lstStyle/>
          <a:p>
            <a:pPr marL="0" indent="0" algn="l">
              <a:lnSpc>
                <a:spcPts val="2340"/>
              </a:lnSpc>
              <a:buNone/>
            </a:pPr>
            <a:r>
              <a:rPr lang="en-US" sz="1670" dirty="0">
                <a:latin typeface="思源黑体-思源黑体-Medium" pitchFamily="34" charset="0"/>
                <a:ea typeface="思源黑体-思源黑体-Medium" pitchFamily="34" charset="-122"/>
                <a:cs typeface="思源黑体-思源黑体-Medium" pitchFamily="34" charset="-120"/>
              </a:rPr>
              <a:t>    • To make efficient use of bandwidth, Uses phase shifts of u/2 (90°)</a:t>
            </a:r>
            <a:endParaRPr lang="en-US" sz="1670" dirty="0"/>
          </a:p>
        </p:txBody>
      </p:sp>
      <p:sp>
        <p:nvSpPr>
          <p:cNvPr id="17" name="Text 10"/>
          <p:cNvSpPr/>
          <p:nvPr/>
        </p:nvSpPr>
        <p:spPr>
          <a:xfrm>
            <a:off x="2889504" y="2267712"/>
            <a:ext cx="155448" cy="393192"/>
          </a:xfrm>
          <a:prstGeom prst="rect">
            <a:avLst/>
          </a:prstGeom>
          <a:noFill/>
          <a:ln/>
        </p:spPr>
        <p:txBody>
          <a:bodyPr wrap="none" lIns="0" tIns="0" rIns="0" bIns="0" rtlCol="0" anchor="ctr"/>
          <a:lstStyle/>
          <a:p>
            <a:pPr marL="0" indent="0" algn="ctr">
              <a:lnSpc>
                <a:spcPts val="2510"/>
              </a:lnSpc>
              <a:buNone/>
            </a:pPr>
            <a:r>
              <a:rPr lang="en-US" sz="2090" dirty="0">
                <a:latin typeface="思源黑体-思源黑体-Medium" pitchFamily="34" charset="0"/>
                <a:ea typeface="思源黑体-思源黑体-Medium" pitchFamily="34" charset="-122"/>
                <a:cs typeface="思源黑体-思源黑体-Medium" pitchFamily="34" charset="-120"/>
              </a:rPr>
              <a:t>1</a:t>
            </a:r>
            <a:endParaRPr lang="en-US" sz="2090" dirty="0"/>
          </a:p>
        </p:txBody>
      </p:sp>
      <p:sp>
        <p:nvSpPr>
          <p:cNvPr id="18" name="Text 11"/>
          <p:cNvSpPr/>
          <p:nvPr/>
        </p:nvSpPr>
        <p:spPr>
          <a:xfrm>
            <a:off x="1024128" y="5623560"/>
            <a:ext cx="12591288" cy="301752"/>
          </a:xfrm>
          <a:prstGeom prst="rect">
            <a:avLst/>
          </a:prstGeom>
          <a:noFill/>
          <a:ln/>
        </p:spPr>
        <p:txBody>
          <a:bodyPr wrap="none" lIns="0" tIns="0" rIns="0" bIns="0" rtlCol="0" anchor="ctr"/>
          <a:lstStyle/>
          <a:p>
            <a:pPr marL="0" indent="0" algn="l">
              <a:lnSpc>
                <a:spcPts val="2340"/>
              </a:lnSpc>
              <a:buNone/>
            </a:pPr>
            <a:r>
              <a:rPr lang="en-US" sz="1670" b="1" dirty="0">
                <a:latin typeface="思源黑体-思源黑体-Medium" pitchFamily="34" charset="0"/>
                <a:ea typeface="思源黑体-思源黑体-Medium" pitchFamily="34" charset="-122"/>
                <a:cs typeface="思源黑体-思源黑体-Medium" pitchFamily="34" charset="-120"/>
              </a:rPr>
              <a:t>Quadrature PSK</a:t>
            </a:r>
            <a:endParaRPr lang="en-US" sz="1670" b="1" dirty="0"/>
          </a:p>
        </p:txBody>
      </p:sp>
      <p:sp>
        <p:nvSpPr>
          <p:cNvPr id="19" name="Text 12"/>
          <p:cNvSpPr/>
          <p:nvPr/>
        </p:nvSpPr>
        <p:spPr>
          <a:xfrm>
            <a:off x="786384" y="1078992"/>
            <a:ext cx="13066776" cy="667512"/>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思源黑体-思源黑体-Medium" pitchFamily="34" charset="0"/>
                <a:ea typeface="思源黑体-思源黑体-Medium" pitchFamily="34" charset="-122"/>
                <a:cs typeface="思源黑体-思源黑体-Medium" pitchFamily="34" charset="-120"/>
              </a:rPr>
              <a:t>Phase Shift Keying</a:t>
            </a:r>
            <a:endParaRPr lang="en-US" sz="4190" dirty="0"/>
          </a:p>
        </p:txBody>
      </p:sp>
      <p:pic>
        <p:nvPicPr>
          <p:cNvPr id="20" name="Picture 19">
            <a:extLst>
              <a:ext uri="{FF2B5EF4-FFF2-40B4-BE49-F238E27FC236}">
                <a16:creationId xmlns:a16="http://schemas.microsoft.com/office/drawing/2014/main" id="{948DD83B-73CA-4BB4-AE3A-AC649F6822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622300" y="1346200"/>
            <a:ext cx="11988800" cy="5867400"/>
          </a:xfrm>
          <a:prstGeom prst="rect">
            <a:avLst/>
          </a:prstGeom>
        </p:spPr>
      </p:pic>
      <p:sp>
        <p:nvSpPr>
          <p:cNvPr id="4" name="Text 0"/>
          <p:cNvSpPr/>
          <p:nvPr/>
        </p:nvSpPr>
        <p:spPr>
          <a:xfrm>
            <a:off x="418084" y="25603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Representation of Modulation Techniques</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E8AAE4C9-B4F6-4C12-B79D-C43BE73A6D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86384" y="3538728"/>
            <a:ext cx="13066776" cy="923544"/>
          </a:xfrm>
          <a:prstGeom prst="rect">
            <a:avLst/>
          </a:prstGeom>
          <a:noFill/>
          <a:ln/>
        </p:spPr>
        <p:txBody>
          <a:bodyPr wrap="none" lIns="0" tIns="0" rIns="0" bIns="0" rtlCol="0" anchor="ctr"/>
          <a:lstStyle/>
          <a:p>
            <a:pPr marL="0" indent="0" algn="ctr">
              <a:lnSpc>
                <a:spcPts val="7230"/>
              </a:lnSpc>
              <a:buNone/>
            </a:pPr>
            <a:r>
              <a:rPr lang="en-US" sz="6000" dirty="0">
                <a:solidFill>
                  <a:srgbClr val="183983"/>
                </a:solidFill>
                <a:latin typeface="Cambria" panose="02040503050406030204" pitchFamily="18" charset="0"/>
                <a:ea typeface="Cambria" panose="02040503050406030204" pitchFamily="18" charset="0"/>
                <a:cs typeface="思源黑体-思源黑体-Medium" pitchFamily="34" charset="-120"/>
              </a:rPr>
              <a:t>Thank You</a:t>
            </a:r>
            <a:endParaRPr lang="en-US" sz="60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52D92C24-93B2-4ABA-AC70-B81D14CDBB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3183758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807208"/>
          </a:xfrm>
          <a:prstGeom prst="rect">
            <a:avLst/>
          </a:prstGeom>
        </p:spPr>
      </p:pic>
      <p:sp>
        <p:nvSpPr>
          <p:cNvPr id="6" name="Text 0"/>
          <p:cNvSpPr/>
          <p:nvPr/>
        </p:nvSpPr>
        <p:spPr>
          <a:xfrm>
            <a:off x="393700" y="3419856"/>
            <a:ext cx="13459460" cy="2155444"/>
          </a:xfrm>
          <a:prstGeom prst="rect">
            <a:avLst/>
          </a:prstGeom>
          <a:noFill/>
          <a:ln/>
        </p:spPr>
        <p:txBody>
          <a:bodyPr wrap="square" lIns="0" tIns="0" rIns="0" bIns="0" rtlCol="0" anchor="ctr"/>
          <a:lstStyle/>
          <a:p>
            <a:pPr algn="ctr">
              <a:lnSpc>
                <a:spcPts val="7230"/>
              </a:lnSpc>
            </a:pPr>
            <a:r>
              <a:rPr lang="en-US" sz="4800" b="1" dirty="0">
                <a:solidFill>
                  <a:srgbClr val="011C2A"/>
                </a:solidFill>
                <a:latin typeface="Cambria" panose="02040503050406030204" pitchFamily="18" charset="0"/>
                <a:ea typeface="Cambria" panose="02040503050406030204" pitchFamily="18" charset="0"/>
                <a:cs typeface="思源黑体-思源黑体-Bold" pitchFamily="34" charset="-120"/>
              </a:rPr>
              <a:t>Data Communication and Networks</a:t>
            </a:r>
            <a:endParaRPr lang="en-US" sz="4800" b="1" dirty="0">
              <a:latin typeface="Cambria" panose="02040503050406030204" pitchFamily="18" charset="0"/>
              <a:ea typeface="Cambria" panose="02040503050406030204" pitchFamily="18" charset="0"/>
            </a:endParaRPr>
          </a:p>
          <a:p>
            <a:pPr marL="0" indent="0" algn="ctr">
              <a:lnSpc>
                <a:spcPts val="7230"/>
              </a:lnSpc>
              <a:buNone/>
            </a:pPr>
            <a:r>
              <a:rPr lang="en-US" sz="5780" dirty="0">
                <a:solidFill>
                  <a:srgbClr val="183983"/>
                </a:solidFill>
                <a:latin typeface="思源黑体-思源黑体-Medium" pitchFamily="34" charset="0"/>
                <a:ea typeface="思源黑体-思源黑体-Medium" pitchFamily="34" charset="-122"/>
                <a:cs typeface="思源黑体-思源黑体-Medium" pitchFamily="34" charset="-120"/>
              </a:rPr>
              <a:t> </a:t>
            </a:r>
            <a:r>
              <a:rPr lang="en-US" sz="4000" b="1" dirty="0">
                <a:solidFill>
                  <a:srgbClr val="183983"/>
                </a:solidFill>
                <a:latin typeface="Cambria" panose="02040503050406030204" pitchFamily="18" charset="0"/>
                <a:ea typeface="Cambria" panose="02040503050406030204" pitchFamily="18" charset="0"/>
                <a:cs typeface="思源黑体-思源黑体-Medium" pitchFamily="34" charset="-120"/>
              </a:rPr>
              <a:t>Data Encoding and Communication Interface</a:t>
            </a:r>
            <a:endParaRPr lang="en-US" sz="4000" b="1" dirty="0">
              <a:latin typeface="Cambria" panose="02040503050406030204" pitchFamily="18" charset="0"/>
              <a:ea typeface="Cambria" panose="02040503050406030204" pitchFamily="18" charset="0"/>
            </a:endParaRPr>
          </a:p>
        </p:txBody>
      </p:sp>
      <p:sp>
        <p:nvSpPr>
          <p:cNvPr id="8" name="Text 2"/>
          <p:cNvSpPr/>
          <p:nvPr/>
        </p:nvSpPr>
        <p:spPr>
          <a:xfrm>
            <a:off x="1042416" y="6574536"/>
            <a:ext cx="5916168" cy="338328"/>
          </a:xfrm>
          <a:prstGeom prst="rect">
            <a:avLst/>
          </a:prstGeom>
          <a:noFill/>
          <a:ln/>
        </p:spPr>
        <p:txBody>
          <a:bodyPr wrap="none" lIns="0" tIns="0" rIns="0" bIns="0" rtlCol="0" anchor="ctr"/>
          <a:lstStyle/>
          <a:p>
            <a:pPr marL="0" indent="0" algn="ctr">
              <a:lnSpc>
                <a:spcPts val="2620"/>
              </a:lnSpc>
              <a:buNone/>
            </a:pPr>
            <a:endParaRPr lang="en-US" sz="2090" dirty="0"/>
          </a:p>
        </p:txBody>
      </p:sp>
      <p:sp>
        <p:nvSpPr>
          <p:cNvPr id="10" name="TextBox 9">
            <a:extLst>
              <a:ext uri="{FF2B5EF4-FFF2-40B4-BE49-F238E27FC236}">
                <a16:creationId xmlns:a16="http://schemas.microsoft.com/office/drawing/2014/main" id="{6ADF49F4-2D2E-4232-8585-471EA8DC3208}"/>
              </a:ext>
            </a:extLst>
          </p:cNvPr>
          <p:cNvSpPr txBox="1"/>
          <p:nvPr/>
        </p:nvSpPr>
        <p:spPr>
          <a:xfrm>
            <a:off x="1301750" y="5838736"/>
            <a:ext cx="11004550" cy="1815882"/>
          </a:xfrm>
          <a:prstGeom prst="rect">
            <a:avLst/>
          </a:prstGeom>
          <a:noFill/>
        </p:spPr>
        <p:txBody>
          <a:bodyPr wrap="square">
            <a:spAutoFit/>
          </a:bodyPr>
          <a:lstStyle/>
          <a:p>
            <a:pPr marL="0" indent="0" algn="l">
              <a:buNone/>
            </a:pP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Dr. </a:t>
            </a:r>
            <a:r>
              <a:rPr lang="en-US" sz="2800" b="1" dirty="0" err="1">
                <a:solidFill>
                  <a:srgbClr val="011C2A"/>
                </a:solidFill>
                <a:latin typeface="Calibri" panose="020F0502020204030204" pitchFamily="34" charset="0"/>
                <a:ea typeface="思源黑体-思源黑体-Bold" pitchFamily="34" charset="-122"/>
                <a:cs typeface="Calibri" panose="020F0502020204030204" pitchFamily="34" charset="0"/>
              </a:rPr>
              <a:t>Spoorthi</a:t>
            </a: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 P Shetty</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Associate Professor</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Department of MCA</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NMAM Institute of Technology, </a:t>
            </a:r>
            <a:r>
              <a:rPr lang="en-US" sz="2800" dirty="0" err="1">
                <a:solidFill>
                  <a:srgbClr val="03141C"/>
                </a:solidFill>
                <a:latin typeface="Calibri" panose="020F0502020204030204" pitchFamily="34" charset="0"/>
                <a:ea typeface="Arial-Regular" pitchFamily="34" charset="-122"/>
                <a:cs typeface="Calibri" panose="020F0502020204030204" pitchFamily="34" charset="0"/>
              </a:rPr>
              <a:t>Nitte</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(Deemed to be University)</a:t>
            </a:r>
            <a:endParaRPr lang="en-US" sz="28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E5DE15F6-4032-4442-B558-269E2ECA68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260601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795528" y="4434840"/>
            <a:ext cx="6382512" cy="1435608"/>
          </a:xfrm>
          <a:prstGeom prst="rect">
            <a:avLst/>
          </a:prstGeom>
        </p:spPr>
      </p:pic>
      <p:pic>
        <p:nvPicPr>
          <p:cNvPr id="5" name="Image 3" descr="preencoded.png"/>
          <p:cNvPicPr>
            <a:picLocks noChangeAspect="1"/>
          </p:cNvPicPr>
          <p:nvPr/>
        </p:nvPicPr>
        <p:blipFill>
          <a:blip r:embed="rId5"/>
          <a:stretch>
            <a:fillRect/>
          </a:stretch>
        </p:blipFill>
        <p:spPr>
          <a:xfrm>
            <a:off x="5221224" y="3035808"/>
            <a:ext cx="4160520" cy="1170432"/>
          </a:xfrm>
          <a:prstGeom prst="rect">
            <a:avLst/>
          </a:prstGeom>
        </p:spPr>
      </p:pic>
      <p:pic>
        <p:nvPicPr>
          <p:cNvPr id="6" name="Image 4" descr="preencoded.png"/>
          <p:cNvPicPr>
            <a:picLocks noChangeAspect="1"/>
          </p:cNvPicPr>
          <p:nvPr/>
        </p:nvPicPr>
        <p:blipFill>
          <a:blip r:embed="rId5"/>
          <a:stretch>
            <a:fillRect/>
          </a:stretch>
        </p:blipFill>
        <p:spPr>
          <a:xfrm>
            <a:off x="9656064" y="3035808"/>
            <a:ext cx="4160520" cy="1170432"/>
          </a:xfrm>
          <a:prstGeom prst="rect">
            <a:avLst/>
          </a:prstGeom>
        </p:spPr>
      </p:pic>
      <p:pic>
        <p:nvPicPr>
          <p:cNvPr id="7" name="Image 5" descr="preencoded.png"/>
          <p:cNvPicPr>
            <a:picLocks noChangeAspect="1"/>
          </p:cNvPicPr>
          <p:nvPr/>
        </p:nvPicPr>
        <p:blipFill>
          <a:blip r:embed="rId5"/>
          <a:stretch>
            <a:fillRect/>
          </a:stretch>
        </p:blipFill>
        <p:spPr>
          <a:xfrm>
            <a:off x="795528" y="3035808"/>
            <a:ext cx="4160520" cy="1170432"/>
          </a:xfrm>
          <a:prstGeom prst="rect">
            <a:avLst/>
          </a:prstGeom>
        </p:spPr>
      </p:pic>
      <p:pic>
        <p:nvPicPr>
          <p:cNvPr id="8" name="Image 6" descr="preencoded.png"/>
          <p:cNvPicPr>
            <a:picLocks noChangeAspect="1"/>
          </p:cNvPicPr>
          <p:nvPr/>
        </p:nvPicPr>
        <p:blipFill>
          <a:blip r:embed="rId4"/>
          <a:stretch>
            <a:fillRect/>
          </a:stretch>
        </p:blipFill>
        <p:spPr>
          <a:xfrm>
            <a:off x="7443216" y="4434840"/>
            <a:ext cx="6382512" cy="1435608"/>
          </a:xfrm>
          <a:prstGeom prst="rect">
            <a:avLst/>
          </a:prstGeom>
        </p:spPr>
      </p:pic>
      <p:sp>
        <p:nvSpPr>
          <p:cNvPr id="9" name="Text 0"/>
          <p:cNvSpPr/>
          <p:nvPr/>
        </p:nvSpPr>
        <p:spPr>
          <a:xfrm>
            <a:off x="7690104" y="4572000"/>
            <a:ext cx="591616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Techniques used are:</a:t>
            </a:r>
            <a:endParaRPr lang="en-US" sz="2000" dirty="0">
              <a:latin typeface="+mj-lt"/>
            </a:endParaRPr>
          </a:p>
        </p:txBody>
      </p:sp>
      <p:sp>
        <p:nvSpPr>
          <p:cNvPr id="10" name="Text 1"/>
          <p:cNvSpPr/>
          <p:nvPr/>
        </p:nvSpPr>
        <p:spPr>
          <a:xfrm>
            <a:off x="7690104" y="5001768"/>
            <a:ext cx="591616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 Pulse code modulation</a:t>
            </a:r>
            <a:endParaRPr lang="en-US" sz="2000" dirty="0">
              <a:latin typeface="+mj-lt"/>
            </a:endParaRPr>
          </a:p>
        </p:txBody>
      </p:sp>
      <p:sp>
        <p:nvSpPr>
          <p:cNvPr id="11" name="Text 2"/>
          <p:cNvSpPr/>
          <p:nvPr/>
        </p:nvSpPr>
        <p:spPr>
          <a:xfrm>
            <a:off x="9902952" y="3172968"/>
            <a:ext cx="3703320"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Digitizing Analog Data</a:t>
            </a:r>
            <a:endParaRPr lang="en-US" sz="2000" dirty="0">
              <a:latin typeface="+mj-lt"/>
            </a:endParaRPr>
          </a:p>
        </p:txBody>
      </p:sp>
      <p:sp>
        <p:nvSpPr>
          <p:cNvPr id="12" name="Text 3"/>
          <p:cNvSpPr/>
          <p:nvPr/>
        </p:nvSpPr>
        <p:spPr>
          <a:xfrm>
            <a:off x="5468112" y="3172968"/>
            <a:ext cx="3703320" cy="896112"/>
          </a:xfrm>
          <a:prstGeom prst="rect">
            <a:avLst/>
          </a:prstGeom>
          <a:noFill/>
          <a:ln/>
        </p:spPr>
        <p:txBody>
          <a:bodyPr wrap="squar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Digital data can be converted to digital signal using any techniques like NRZ, Biphase etc.</a:t>
            </a:r>
            <a:endParaRPr lang="en-US" sz="2000" dirty="0">
              <a:latin typeface="+mj-lt"/>
            </a:endParaRPr>
          </a:p>
        </p:txBody>
      </p:sp>
      <p:sp>
        <p:nvSpPr>
          <p:cNvPr id="13" name="Text 4"/>
          <p:cNvSpPr/>
          <p:nvPr/>
        </p:nvSpPr>
        <p:spPr>
          <a:xfrm>
            <a:off x="768096" y="33375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Analog Data, Digital Signal</a:t>
            </a:r>
            <a:endParaRPr lang="en-US" sz="4400" dirty="0">
              <a:latin typeface="Cambria" panose="02040503050406030204" pitchFamily="18" charset="0"/>
              <a:ea typeface="Cambria" panose="02040503050406030204" pitchFamily="18" charset="0"/>
            </a:endParaRPr>
          </a:p>
        </p:txBody>
      </p:sp>
      <p:sp>
        <p:nvSpPr>
          <p:cNvPr id="14" name="Text 5"/>
          <p:cNvSpPr/>
          <p:nvPr/>
        </p:nvSpPr>
        <p:spPr>
          <a:xfrm>
            <a:off x="1042416" y="3172968"/>
            <a:ext cx="3703320" cy="603504"/>
          </a:xfrm>
          <a:prstGeom prst="rect">
            <a:avLst/>
          </a:prstGeom>
          <a:noFill/>
          <a:ln/>
        </p:spPr>
        <p:txBody>
          <a:bodyPr wrap="squar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Digitization is conversion of analog data into digital data</a:t>
            </a:r>
            <a:endParaRPr lang="en-US" sz="2000" dirty="0">
              <a:latin typeface="+mj-lt"/>
            </a:endParaRPr>
          </a:p>
        </p:txBody>
      </p:sp>
      <p:sp>
        <p:nvSpPr>
          <p:cNvPr id="15" name="Text 6"/>
          <p:cNvSpPr/>
          <p:nvPr/>
        </p:nvSpPr>
        <p:spPr>
          <a:xfrm>
            <a:off x="7690104" y="5440680"/>
            <a:ext cx="5916168"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    • Delta modulation</a:t>
            </a:r>
            <a:endParaRPr lang="en-US" sz="2000" dirty="0">
              <a:latin typeface="+mj-lt"/>
            </a:endParaRPr>
          </a:p>
        </p:txBody>
      </p:sp>
      <p:sp>
        <p:nvSpPr>
          <p:cNvPr id="16" name="Text 7"/>
          <p:cNvSpPr/>
          <p:nvPr/>
        </p:nvSpPr>
        <p:spPr>
          <a:xfrm>
            <a:off x="1042416" y="4572000"/>
            <a:ext cx="5916168" cy="603504"/>
          </a:xfrm>
          <a:prstGeom prst="rect">
            <a:avLst/>
          </a:prstGeom>
          <a:noFill/>
          <a:ln/>
        </p:spPr>
        <p:txBody>
          <a:bodyPr wrap="squar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Analog data to digital signal conversion is done using a codec device.</a:t>
            </a:r>
            <a:endParaRPr lang="en-US" sz="2000" dirty="0">
              <a:latin typeface="+mj-lt"/>
            </a:endParaRPr>
          </a:p>
        </p:txBody>
      </p:sp>
      <p:pic>
        <p:nvPicPr>
          <p:cNvPr id="17" name="Picture 16">
            <a:extLst>
              <a:ext uri="{FF2B5EF4-FFF2-40B4-BE49-F238E27FC236}">
                <a16:creationId xmlns:a16="http://schemas.microsoft.com/office/drawing/2014/main" id="{533F8A3E-77DF-41C2-8739-58828783A3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998464" y="6187440"/>
            <a:ext cx="7616952" cy="603504"/>
          </a:xfrm>
          <a:prstGeom prst="rect">
            <a:avLst/>
          </a:prstGeom>
          <a:noFill/>
          <a:ln/>
        </p:spPr>
        <p:txBody>
          <a:bodyPr wrap="squar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According to the Nyquist Theorem, the sampling rate must be at least twice the highest frequency of the analog signal.</a:t>
            </a:r>
            <a:endParaRPr lang="en-US" sz="2000" dirty="0">
              <a:latin typeface="+mj-lt"/>
            </a:endParaRPr>
          </a:p>
        </p:txBody>
      </p:sp>
      <p:sp>
        <p:nvSpPr>
          <p:cNvPr id="5" name="Text 1"/>
          <p:cNvSpPr/>
          <p:nvPr/>
        </p:nvSpPr>
        <p:spPr>
          <a:xfrm>
            <a:off x="5998464" y="5629656"/>
            <a:ext cx="7616952" cy="301752"/>
          </a:xfrm>
          <a:prstGeom prst="rect">
            <a:avLst/>
          </a:prstGeom>
          <a:noFill/>
          <a:ln/>
        </p:spPr>
        <p:txBody>
          <a:bodyPr wrap="none" lIns="0" tIns="0" rIns="0" bIns="0" rtlCol="0" anchor="ctr"/>
          <a:lstStyle/>
          <a:p>
            <a:pPr marL="0" indent="0" algn="l">
              <a:lnSpc>
                <a:spcPts val="2340"/>
              </a:lnSpc>
              <a:buNone/>
            </a:pPr>
            <a:r>
              <a:rPr lang="en-US" sz="2000" dirty="0">
                <a:solidFill>
                  <a:srgbClr val="172748"/>
                </a:solidFill>
                <a:latin typeface="+mj-lt"/>
                <a:ea typeface="思源黑体-思源黑体-Medium" pitchFamily="34" charset="-122"/>
                <a:cs typeface="思源黑体-思源黑体-Medium" pitchFamily="34" charset="-120"/>
              </a:rPr>
              <a:t>The analog signal is measured (sampled) at regular intervals.</a:t>
            </a:r>
            <a:endParaRPr lang="en-US" sz="2000" dirty="0">
              <a:latin typeface="+mj-lt"/>
            </a:endParaRPr>
          </a:p>
        </p:txBody>
      </p:sp>
      <p:sp>
        <p:nvSpPr>
          <p:cNvPr id="6" name="Text 2"/>
          <p:cNvSpPr/>
          <p:nvPr/>
        </p:nvSpPr>
        <p:spPr>
          <a:xfrm>
            <a:off x="5232400" y="355600"/>
            <a:ext cx="8940800" cy="878840"/>
          </a:xfrm>
          <a:prstGeom prst="rect">
            <a:avLst/>
          </a:prstGeom>
          <a:noFill/>
          <a:ln/>
        </p:spPr>
        <p:txBody>
          <a:bodyPr wrap="none" lIns="0" tIns="0" rIns="0" bIns="0" rtlCol="0" anchor="ctr"/>
          <a:lstStyle/>
          <a:p>
            <a:pPr>
              <a:lnSpc>
                <a:spcPts val="5240"/>
              </a:lnSpc>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Pulse Code Modulation</a:t>
            </a:r>
            <a:endParaRPr lang="en-US" sz="4400" dirty="0">
              <a:latin typeface="Cambria" panose="02040503050406030204" pitchFamily="18" charset="0"/>
              <a:ea typeface="Cambria" panose="02040503050406030204" pitchFamily="18" charset="0"/>
            </a:endParaRPr>
          </a:p>
        </p:txBody>
      </p:sp>
      <p:pic>
        <p:nvPicPr>
          <p:cNvPr id="7" name="Image 3" descr="preencoded.png">
            <a:extLst>
              <a:ext uri="{FF2B5EF4-FFF2-40B4-BE49-F238E27FC236}">
                <a16:creationId xmlns:a16="http://schemas.microsoft.com/office/drawing/2014/main" id="{38102884-2242-459B-B7BE-F5BC36DF2106}"/>
              </a:ext>
            </a:extLst>
          </p:cNvPr>
          <p:cNvPicPr>
            <a:picLocks noChangeAspect="1"/>
          </p:cNvPicPr>
          <p:nvPr/>
        </p:nvPicPr>
        <p:blipFill>
          <a:blip r:embed="rId5"/>
          <a:stretch>
            <a:fillRect/>
          </a:stretch>
        </p:blipFill>
        <p:spPr>
          <a:xfrm>
            <a:off x="5448300" y="1341503"/>
            <a:ext cx="8432800" cy="3599273"/>
          </a:xfrm>
          <a:prstGeom prst="rect">
            <a:avLst/>
          </a:prstGeom>
        </p:spPr>
      </p:pic>
      <p:sp>
        <p:nvSpPr>
          <p:cNvPr id="9" name="TextBox 8">
            <a:extLst>
              <a:ext uri="{FF2B5EF4-FFF2-40B4-BE49-F238E27FC236}">
                <a16:creationId xmlns:a16="http://schemas.microsoft.com/office/drawing/2014/main" id="{E99B5939-4AF1-413A-8877-C34771201642}"/>
              </a:ext>
            </a:extLst>
          </p:cNvPr>
          <p:cNvSpPr txBox="1"/>
          <p:nvPr/>
        </p:nvSpPr>
        <p:spPr>
          <a:xfrm>
            <a:off x="5549900" y="4755451"/>
            <a:ext cx="4540250" cy="584775"/>
          </a:xfrm>
          <a:prstGeom prst="rect">
            <a:avLst/>
          </a:prstGeom>
          <a:noFill/>
        </p:spPr>
        <p:txBody>
          <a:bodyPr wrap="square">
            <a:spAutoFit/>
          </a:bodyPr>
          <a:lstStyle/>
          <a:p>
            <a:r>
              <a:rPr lang="en-US" sz="3200" dirty="0">
                <a:solidFill>
                  <a:srgbClr val="183983"/>
                </a:solidFill>
                <a:latin typeface="Cambria" panose="02040503050406030204" pitchFamily="18" charset="0"/>
                <a:ea typeface="Cambria" panose="02040503050406030204" pitchFamily="18" charset="0"/>
                <a:cs typeface="思源黑体-思源黑体-Medium" pitchFamily="34" charset="-120"/>
              </a:rPr>
              <a:t>Sampling</a:t>
            </a:r>
            <a:endParaRPr lang="en-IN" sz="3200" dirty="0"/>
          </a:p>
        </p:txBody>
      </p:sp>
      <p:pic>
        <p:nvPicPr>
          <p:cNvPr id="10" name="Picture 9">
            <a:extLst>
              <a:ext uri="{FF2B5EF4-FFF2-40B4-BE49-F238E27FC236}">
                <a16:creationId xmlns:a16="http://schemas.microsoft.com/office/drawing/2014/main" id="{18433A40-BC4D-4D03-8ED2-35ABBE29B9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70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sp>
        <p:nvSpPr>
          <p:cNvPr id="6" name="Text 0"/>
          <p:cNvSpPr/>
          <p:nvPr/>
        </p:nvSpPr>
        <p:spPr>
          <a:xfrm>
            <a:off x="342392" y="1762760"/>
            <a:ext cx="7333488" cy="603504"/>
          </a:xfrm>
          <a:prstGeom prst="rect">
            <a:avLst/>
          </a:prstGeom>
          <a:noFill/>
          <a:ln/>
        </p:spPr>
        <p:txBody>
          <a:bodyPr wrap="square" lIns="0" tIns="0" rIns="0" bIns="0" rtlCol="0" anchor="ctr"/>
          <a:lstStyle/>
          <a:p>
            <a:pPr marL="342900" indent="-342900" algn="l">
              <a:lnSpc>
                <a:spcPts val="2340"/>
              </a:lnSpc>
              <a:buFont typeface="Arial" panose="020B0604020202020204" pitchFamily="34" charset="0"/>
              <a:buChar char="•"/>
            </a:pPr>
            <a:r>
              <a:rPr lang="en-US" sz="2000" dirty="0">
                <a:latin typeface="+mj-lt"/>
                <a:ea typeface="思源黑体-思源黑体-Medium" pitchFamily="34" charset="-122"/>
                <a:cs typeface="思源黑体-思源黑体-Medium" pitchFamily="34" charset="-120"/>
              </a:rPr>
              <a:t>Each sampled value is approximated to the nearest value within a finite range of levels.</a:t>
            </a:r>
            <a:endParaRPr lang="en-US" sz="2000" dirty="0">
              <a:latin typeface="+mj-lt"/>
            </a:endParaRPr>
          </a:p>
        </p:txBody>
      </p:sp>
      <p:sp>
        <p:nvSpPr>
          <p:cNvPr id="7" name="Text 1"/>
          <p:cNvSpPr/>
          <p:nvPr/>
        </p:nvSpPr>
        <p:spPr>
          <a:xfrm>
            <a:off x="950976" y="379476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8" name="Text 2"/>
          <p:cNvSpPr/>
          <p:nvPr/>
        </p:nvSpPr>
        <p:spPr>
          <a:xfrm>
            <a:off x="950976" y="4946904"/>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9" name="Text 3"/>
          <p:cNvSpPr/>
          <p:nvPr/>
        </p:nvSpPr>
        <p:spPr>
          <a:xfrm>
            <a:off x="342392" y="2914904"/>
            <a:ext cx="7333488" cy="301752"/>
          </a:xfrm>
          <a:prstGeom prst="rect">
            <a:avLst/>
          </a:prstGeom>
          <a:noFill/>
          <a:ln/>
        </p:spPr>
        <p:txBody>
          <a:bodyPr wrap="none" lIns="0" tIns="0" rIns="0" bIns="0" rtlCol="0" anchor="ctr"/>
          <a:lstStyle/>
          <a:p>
            <a:pPr marL="342900" indent="-342900" algn="l">
              <a:lnSpc>
                <a:spcPts val="2340"/>
              </a:lnSpc>
              <a:buFont typeface="Arial" panose="020B0604020202020204" pitchFamily="34" charset="0"/>
              <a:buChar char="•"/>
            </a:pPr>
            <a:r>
              <a:rPr lang="en-US" sz="2000" dirty="0">
                <a:latin typeface="+mj-lt"/>
                <a:ea typeface="思源黑体-思源黑体-Medium" pitchFamily="34" charset="-122"/>
                <a:cs typeface="思源黑体-思源黑体-Medium" pitchFamily="34" charset="-120"/>
              </a:rPr>
              <a:t>This introduces quantization error.</a:t>
            </a:r>
            <a:endParaRPr lang="en-US" sz="2000" dirty="0">
              <a:latin typeface="+mj-lt"/>
            </a:endParaRPr>
          </a:p>
        </p:txBody>
      </p:sp>
      <p:sp>
        <p:nvSpPr>
          <p:cNvPr id="10" name="Text 4"/>
          <p:cNvSpPr/>
          <p:nvPr/>
        </p:nvSpPr>
        <p:spPr>
          <a:xfrm>
            <a:off x="608584" y="598932"/>
            <a:ext cx="8092440"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Quantization</a:t>
            </a:r>
            <a:endParaRPr lang="en-US" sz="4400"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7A32A589-0E3F-4E55-940F-249F138725D9}"/>
              </a:ext>
            </a:extLst>
          </p:cNvPr>
          <p:cNvSpPr txBox="1"/>
          <p:nvPr/>
        </p:nvSpPr>
        <p:spPr>
          <a:xfrm>
            <a:off x="528321" y="3416506"/>
            <a:ext cx="7404100" cy="759182"/>
          </a:xfrm>
          <a:prstGeom prst="rect">
            <a:avLst/>
          </a:prstGeom>
          <a:noFill/>
        </p:spPr>
        <p:txBody>
          <a:bodyPr wrap="square">
            <a:spAutoFit/>
          </a:bodyP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Encoding</a:t>
            </a:r>
            <a:endParaRPr lang="en-US" sz="4400" dirty="0">
              <a:latin typeface="Cambria" panose="02040503050406030204" pitchFamily="18" charset="0"/>
              <a:ea typeface="Cambria" panose="02040503050406030204" pitchFamily="18" charset="0"/>
            </a:endParaRPr>
          </a:p>
        </p:txBody>
      </p:sp>
      <p:sp>
        <p:nvSpPr>
          <p:cNvPr id="14" name="Text 2">
            <a:extLst>
              <a:ext uri="{FF2B5EF4-FFF2-40B4-BE49-F238E27FC236}">
                <a16:creationId xmlns:a16="http://schemas.microsoft.com/office/drawing/2014/main" id="{81F56C0F-6591-45C5-B14A-410D732FC4A9}"/>
              </a:ext>
            </a:extLst>
          </p:cNvPr>
          <p:cNvSpPr/>
          <p:nvPr/>
        </p:nvSpPr>
        <p:spPr>
          <a:xfrm>
            <a:off x="24384" y="4704810"/>
            <a:ext cx="5559552" cy="603504"/>
          </a:xfrm>
          <a:prstGeom prst="rect">
            <a:avLst/>
          </a:prstGeom>
          <a:noFill/>
          <a:ln/>
        </p:spPr>
        <p:txBody>
          <a:bodyPr wrap="square" lIns="0" tIns="0" rIns="0" bIns="0" rtlCol="0" anchor="ctr"/>
          <a:lstStyle/>
          <a:p>
            <a:pPr marL="285750" indent="-285750" algn="ctr">
              <a:lnSpc>
                <a:spcPts val="2340"/>
              </a:lnSpc>
              <a:buFont typeface="Arial" panose="020B0604020202020204" pitchFamily="34" charset="0"/>
              <a:buChar char="•"/>
            </a:pPr>
            <a:r>
              <a:rPr lang="en-US" sz="2000" dirty="0">
                <a:solidFill>
                  <a:srgbClr val="172748"/>
                </a:solidFill>
                <a:latin typeface="+mj-lt"/>
                <a:ea typeface="思源黑体-思源黑体-Medium" pitchFamily="34" charset="-122"/>
                <a:cs typeface="思源黑体-思源黑体-Medium" pitchFamily="34" charset="-120"/>
              </a:rPr>
              <a:t>Each quantized value is then converted into a binary number (sequence of 0s and 1s).</a:t>
            </a:r>
            <a:endParaRPr lang="en-US" sz="2000" dirty="0">
              <a:latin typeface="+mj-lt"/>
            </a:endParaRPr>
          </a:p>
        </p:txBody>
      </p:sp>
      <p:sp>
        <p:nvSpPr>
          <p:cNvPr id="16" name="TextBox 15">
            <a:extLst>
              <a:ext uri="{FF2B5EF4-FFF2-40B4-BE49-F238E27FC236}">
                <a16:creationId xmlns:a16="http://schemas.microsoft.com/office/drawing/2014/main" id="{02F6E167-A07E-4362-B54A-5EE92AFD0279}"/>
              </a:ext>
            </a:extLst>
          </p:cNvPr>
          <p:cNvSpPr txBox="1"/>
          <p:nvPr/>
        </p:nvSpPr>
        <p:spPr>
          <a:xfrm>
            <a:off x="-609600" y="5702450"/>
            <a:ext cx="6419850" cy="387286"/>
          </a:xfrm>
          <a:prstGeom prst="rect">
            <a:avLst/>
          </a:prstGeom>
          <a:noFill/>
        </p:spPr>
        <p:txBody>
          <a:bodyPr wrap="square">
            <a:spAutoFit/>
          </a:bodyPr>
          <a:lstStyle/>
          <a:p>
            <a:pPr marL="285750" indent="-285750" algn="ctr">
              <a:lnSpc>
                <a:spcPts val="2340"/>
              </a:lnSpc>
              <a:buFont typeface="Arial" panose="020B0604020202020204" pitchFamily="34" charset="0"/>
              <a:buChar char="•"/>
            </a:pPr>
            <a:r>
              <a:rPr lang="en-US" sz="2000" dirty="0">
                <a:solidFill>
                  <a:srgbClr val="172748"/>
                </a:solidFill>
                <a:latin typeface="+mj-lt"/>
                <a:ea typeface="思源黑体-思源黑体-Medium" pitchFamily="34" charset="-122"/>
                <a:cs typeface="思源黑体-思源黑体-Medium" pitchFamily="34" charset="-120"/>
              </a:rPr>
              <a:t>These binary codes form the PCM signal.</a:t>
            </a:r>
            <a:endParaRPr lang="en-US" sz="2000" dirty="0">
              <a:latin typeface="+mj-lt"/>
            </a:endParaRPr>
          </a:p>
        </p:txBody>
      </p:sp>
      <p:pic>
        <p:nvPicPr>
          <p:cNvPr id="17" name="Picture 16">
            <a:extLst>
              <a:ext uri="{FF2B5EF4-FFF2-40B4-BE49-F238E27FC236}">
                <a16:creationId xmlns:a16="http://schemas.microsoft.com/office/drawing/2014/main" id="{45B70C91-3636-4F19-A4FB-AF28FA23B7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330200" y="1536700"/>
            <a:ext cx="11798300" cy="6692900"/>
          </a:xfrm>
          <a:prstGeom prst="rect">
            <a:avLst/>
          </a:prstGeom>
        </p:spPr>
      </p:pic>
      <p:sp>
        <p:nvSpPr>
          <p:cNvPr id="4" name="Text 0"/>
          <p:cNvSpPr/>
          <p:nvPr/>
        </p:nvSpPr>
        <p:spPr>
          <a:xfrm>
            <a:off x="595884" y="52679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PCM Example</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5E2D6CEF-C001-4303-90A4-E0ABE192BA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595884" y="526796"/>
            <a:ext cx="13066776" cy="667512"/>
          </a:xfrm>
          <a:prstGeom prst="rect">
            <a:avLst/>
          </a:prstGeom>
          <a:noFill/>
          <a:ln/>
        </p:spPr>
        <p:txBody>
          <a:bodyPr wrap="none" lIns="0" tIns="0" rIns="0" bIns="0" rtlCol="0" anchor="ctr"/>
          <a:lstStyle/>
          <a:p>
            <a:pPr marL="0" indent="0" algn="l">
              <a:lnSpc>
                <a:spcPts val="5240"/>
              </a:lnSpc>
              <a:buNone/>
            </a:pPr>
            <a:endParaRPr lang="en-US" sz="4400" dirty="0">
              <a:latin typeface="Cambria" panose="02040503050406030204" pitchFamily="18" charset="0"/>
              <a:ea typeface="Cambria" panose="02040503050406030204" pitchFamily="18" charset="0"/>
            </a:endParaRPr>
          </a:p>
        </p:txBody>
      </p:sp>
      <p:sp>
        <p:nvSpPr>
          <p:cNvPr id="5" name="Text 0">
            <a:extLst>
              <a:ext uri="{FF2B5EF4-FFF2-40B4-BE49-F238E27FC236}">
                <a16:creationId xmlns:a16="http://schemas.microsoft.com/office/drawing/2014/main" id="{F8E9D81B-02FC-4B39-A4F8-2C0B809F48D3}"/>
              </a:ext>
            </a:extLst>
          </p:cNvPr>
          <p:cNvSpPr/>
          <p:nvPr/>
        </p:nvSpPr>
        <p:spPr>
          <a:xfrm>
            <a:off x="1024128" y="486968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Limitation</a:t>
            </a:r>
            <a:r>
              <a:rPr lang="en-US" sz="2000" dirty="0">
                <a:latin typeface="+mj-lt"/>
                <a:ea typeface="思源黑体-思源黑体-Medium" pitchFamily="34" charset="-122"/>
                <a:cs typeface="思源黑体-思源黑体-Medium" pitchFamily="34" charset="-120"/>
              </a:rPr>
              <a:t>:</a:t>
            </a:r>
            <a:endParaRPr lang="en-US" sz="2000" dirty="0">
              <a:latin typeface="+mj-lt"/>
            </a:endParaRPr>
          </a:p>
        </p:txBody>
      </p:sp>
      <p:sp>
        <p:nvSpPr>
          <p:cNvPr id="6" name="Text 1">
            <a:extLst>
              <a:ext uri="{FF2B5EF4-FFF2-40B4-BE49-F238E27FC236}">
                <a16:creationId xmlns:a16="http://schemas.microsoft.com/office/drawing/2014/main" id="{9ABD0169-A82D-4C1E-841B-C32193A78689}"/>
              </a:ext>
            </a:extLst>
          </p:cNvPr>
          <p:cNvSpPr/>
          <p:nvPr/>
        </p:nvSpPr>
        <p:spPr>
          <a:xfrm>
            <a:off x="1024128" y="389128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Example: 16 levels ⇒ 4 bits per sample</a:t>
            </a:r>
            <a:endParaRPr lang="en-US" sz="2000" dirty="0">
              <a:latin typeface="+mj-lt"/>
            </a:endParaRPr>
          </a:p>
        </p:txBody>
      </p:sp>
      <p:sp>
        <p:nvSpPr>
          <p:cNvPr id="7" name="Text 2">
            <a:extLst>
              <a:ext uri="{FF2B5EF4-FFF2-40B4-BE49-F238E27FC236}">
                <a16:creationId xmlns:a16="http://schemas.microsoft.com/office/drawing/2014/main" id="{D6AEDA87-E01A-4963-8B02-76EEB415F4C4}"/>
              </a:ext>
            </a:extLst>
          </p:cNvPr>
          <p:cNvSpPr/>
          <p:nvPr/>
        </p:nvSpPr>
        <p:spPr>
          <a:xfrm>
            <a:off x="1024128" y="6168136"/>
            <a:ext cx="12591288" cy="603504"/>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To improve quality-8-bit quantization can be used ⇒ 256 levels-Better approximation of original signal-but consumes more data rate.</a:t>
            </a:r>
            <a:endParaRPr lang="en-US" sz="2000" dirty="0">
              <a:latin typeface="+mj-lt"/>
            </a:endParaRPr>
          </a:p>
        </p:txBody>
      </p:sp>
      <p:sp>
        <p:nvSpPr>
          <p:cNvPr id="8" name="Text 3">
            <a:extLst>
              <a:ext uri="{FF2B5EF4-FFF2-40B4-BE49-F238E27FC236}">
                <a16:creationId xmlns:a16="http://schemas.microsoft.com/office/drawing/2014/main" id="{9A3AA383-8608-42A3-959D-F536D21A4BF8}"/>
              </a:ext>
            </a:extLst>
          </p:cNvPr>
          <p:cNvSpPr/>
          <p:nvPr/>
        </p:nvSpPr>
        <p:spPr>
          <a:xfrm>
            <a:off x="786384" y="621792"/>
            <a:ext cx="10110216" cy="617728"/>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PCM Example Explanation</a:t>
            </a:r>
            <a:endParaRPr lang="en-US" sz="4400" dirty="0">
              <a:latin typeface="Cambria" panose="02040503050406030204" pitchFamily="18" charset="0"/>
              <a:ea typeface="Cambria" panose="02040503050406030204" pitchFamily="18" charset="0"/>
            </a:endParaRPr>
          </a:p>
        </p:txBody>
      </p:sp>
      <p:sp>
        <p:nvSpPr>
          <p:cNvPr id="9" name="Text 4">
            <a:extLst>
              <a:ext uri="{FF2B5EF4-FFF2-40B4-BE49-F238E27FC236}">
                <a16:creationId xmlns:a16="http://schemas.microsoft.com/office/drawing/2014/main" id="{1F31804C-76BB-4A3C-A6DD-FF2D23292B0C}"/>
              </a:ext>
            </a:extLst>
          </p:cNvPr>
          <p:cNvSpPr/>
          <p:nvPr/>
        </p:nvSpPr>
        <p:spPr>
          <a:xfrm>
            <a:off x="1024128" y="788720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    • Companding (Compressing + Expanding)</a:t>
            </a:r>
            <a:endParaRPr lang="en-US" sz="2000" b="1" dirty="0">
              <a:latin typeface="+mj-lt"/>
            </a:endParaRPr>
          </a:p>
        </p:txBody>
      </p:sp>
      <p:sp>
        <p:nvSpPr>
          <p:cNvPr id="10" name="Text 5">
            <a:extLst>
              <a:ext uri="{FF2B5EF4-FFF2-40B4-BE49-F238E27FC236}">
                <a16:creationId xmlns:a16="http://schemas.microsoft.com/office/drawing/2014/main" id="{63E0F038-68D1-45BA-BCA8-462E9E70FAF8}"/>
              </a:ext>
            </a:extLst>
          </p:cNvPr>
          <p:cNvSpPr/>
          <p:nvPr/>
        </p:nvSpPr>
        <p:spPr>
          <a:xfrm>
            <a:off x="1024128" y="345236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Quantization Process</a:t>
            </a:r>
            <a:r>
              <a:rPr lang="en-US" sz="2000" dirty="0">
                <a:latin typeface="+mj-lt"/>
                <a:ea typeface="思源黑体-思源黑体-Medium" pitchFamily="34" charset="-122"/>
                <a:cs typeface="思源黑体-思源黑体-Medium" pitchFamily="34" charset="-120"/>
              </a:rPr>
              <a:t>: Each PAM (Pulse Amplitude Modulated) sample is quantized:</a:t>
            </a:r>
            <a:endParaRPr lang="en-US" sz="2000" dirty="0">
              <a:latin typeface="+mj-lt"/>
            </a:endParaRPr>
          </a:p>
        </p:txBody>
      </p:sp>
      <p:sp>
        <p:nvSpPr>
          <p:cNvPr id="11" name="Text 6">
            <a:extLst>
              <a:ext uri="{FF2B5EF4-FFF2-40B4-BE49-F238E27FC236}">
                <a16:creationId xmlns:a16="http://schemas.microsoft.com/office/drawing/2014/main" id="{9C0DF22C-D2D7-4D32-86BE-71E1C4567B8B}"/>
              </a:ext>
            </a:extLst>
          </p:cNvPr>
          <p:cNvSpPr/>
          <p:nvPr/>
        </p:nvSpPr>
        <p:spPr>
          <a:xfrm>
            <a:off x="1024128" y="701852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Solutions to this problem are:</a:t>
            </a:r>
            <a:endParaRPr lang="en-US" sz="2000" b="1" dirty="0">
              <a:latin typeface="+mj-lt"/>
            </a:endParaRPr>
          </a:p>
        </p:txBody>
      </p:sp>
      <p:sp>
        <p:nvSpPr>
          <p:cNvPr id="12" name="Text 7">
            <a:extLst>
              <a:ext uri="{FF2B5EF4-FFF2-40B4-BE49-F238E27FC236}">
                <a16:creationId xmlns:a16="http://schemas.microsoft.com/office/drawing/2014/main" id="{98104984-440C-4C79-AE2B-625AA0B85227}"/>
              </a:ext>
            </a:extLst>
          </p:cNvPr>
          <p:cNvSpPr/>
          <p:nvPr/>
        </p:nvSpPr>
        <p:spPr>
          <a:xfrm>
            <a:off x="1024128" y="247396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Samples taken at 2B samples/second</a:t>
            </a:r>
            <a:endParaRPr lang="en-US" sz="2000" dirty="0">
              <a:latin typeface="+mj-lt"/>
            </a:endParaRPr>
          </a:p>
        </p:txBody>
      </p:sp>
      <p:sp>
        <p:nvSpPr>
          <p:cNvPr id="13" name="Text 8">
            <a:extLst>
              <a:ext uri="{FF2B5EF4-FFF2-40B4-BE49-F238E27FC236}">
                <a16:creationId xmlns:a16="http://schemas.microsoft.com/office/drawing/2014/main" id="{2D273A86-3438-46D5-84D1-D467AD9311AD}"/>
              </a:ext>
            </a:extLst>
          </p:cNvPr>
          <p:cNvSpPr/>
          <p:nvPr/>
        </p:nvSpPr>
        <p:spPr>
          <a:xfrm>
            <a:off x="1024128" y="2044192"/>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Sampling Rate</a:t>
            </a:r>
            <a:r>
              <a:rPr lang="en-US" sz="2000" dirty="0">
                <a:latin typeface="+mj-lt"/>
                <a:ea typeface="思源黑体-思源黑体-Medium" pitchFamily="34" charset="-122"/>
                <a:cs typeface="思源黑体-思源黑体-Medium" pitchFamily="34" charset="-120"/>
              </a:rPr>
              <a:t>: According to Nyquist Theorem:</a:t>
            </a:r>
            <a:endParaRPr lang="en-US" sz="2000" dirty="0">
              <a:latin typeface="+mj-lt"/>
            </a:endParaRPr>
          </a:p>
        </p:txBody>
      </p:sp>
      <p:sp>
        <p:nvSpPr>
          <p:cNvPr id="14" name="Text 9">
            <a:extLst>
              <a:ext uri="{FF2B5EF4-FFF2-40B4-BE49-F238E27FC236}">
                <a16:creationId xmlns:a16="http://schemas.microsoft.com/office/drawing/2014/main" id="{8C31D434-B0AE-42B0-B685-EB69B9CC31A4}"/>
              </a:ext>
            </a:extLst>
          </p:cNvPr>
          <p:cNvSpPr/>
          <p:nvPr/>
        </p:nvSpPr>
        <p:spPr>
          <a:xfrm>
            <a:off x="1024128" y="290372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i.e., one sample every 1/(2B) seconds</a:t>
            </a:r>
            <a:endParaRPr lang="en-US" sz="2000" dirty="0">
              <a:latin typeface="+mj-lt"/>
            </a:endParaRPr>
          </a:p>
        </p:txBody>
      </p:sp>
      <p:sp>
        <p:nvSpPr>
          <p:cNvPr id="15" name="Text 10">
            <a:extLst>
              <a:ext uri="{FF2B5EF4-FFF2-40B4-BE49-F238E27FC236}">
                <a16:creationId xmlns:a16="http://schemas.microsoft.com/office/drawing/2014/main" id="{38D292CF-384C-445B-81A4-8480C85698E7}"/>
              </a:ext>
            </a:extLst>
          </p:cNvPr>
          <p:cNvSpPr/>
          <p:nvPr/>
        </p:nvSpPr>
        <p:spPr>
          <a:xfrm>
            <a:off x="1024128" y="530860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Quantized values are only approximations</a:t>
            </a:r>
            <a:endParaRPr lang="en-US" sz="2000" dirty="0">
              <a:latin typeface="+mj-lt"/>
            </a:endParaRPr>
          </a:p>
        </p:txBody>
      </p:sp>
      <p:sp>
        <p:nvSpPr>
          <p:cNvPr id="16" name="Text 11">
            <a:extLst>
              <a:ext uri="{FF2B5EF4-FFF2-40B4-BE49-F238E27FC236}">
                <a16:creationId xmlns:a16="http://schemas.microsoft.com/office/drawing/2014/main" id="{4A7207D9-2082-4BAD-BC47-EE3EAA66378B}"/>
              </a:ext>
            </a:extLst>
          </p:cNvPr>
          <p:cNvSpPr/>
          <p:nvPr/>
        </p:nvSpPr>
        <p:spPr>
          <a:xfrm>
            <a:off x="1024128" y="573836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Exact recovery of original signal is not possible due to Quantization Error</a:t>
            </a:r>
            <a:endParaRPr lang="en-US" sz="2000" dirty="0">
              <a:latin typeface="+mj-lt"/>
            </a:endParaRPr>
          </a:p>
        </p:txBody>
      </p:sp>
      <p:sp>
        <p:nvSpPr>
          <p:cNvPr id="17" name="Text 12">
            <a:extLst>
              <a:ext uri="{FF2B5EF4-FFF2-40B4-BE49-F238E27FC236}">
                <a16:creationId xmlns:a16="http://schemas.microsoft.com/office/drawing/2014/main" id="{382B32AC-A6B5-4EAB-99E2-EE89F743A231}"/>
              </a:ext>
            </a:extLst>
          </p:cNvPr>
          <p:cNvSpPr/>
          <p:nvPr/>
        </p:nvSpPr>
        <p:spPr>
          <a:xfrm>
            <a:off x="1024128" y="1486408"/>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Bandlimited Signal</a:t>
            </a:r>
            <a:r>
              <a:rPr lang="en-US" sz="2000" dirty="0">
                <a:latin typeface="+mj-lt"/>
                <a:ea typeface="思源黑体-思源黑体-Medium" pitchFamily="34" charset="-122"/>
                <a:cs typeface="思源黑体-思源黑体-Medium" pitchFamily="34" charset="-120"/>
              </a:rPr>
              <a:t>: The original analog signal is assumed to have a bandwidth of B Hz.</a:t>
            </a:r>
            <a:endParaRPr lang="en-US" sz="2000" dirty="0">
              <a:latin typeface="+mj-lt"/>
            </a:endParaRPr>
          </a:p>
        </p:txBody>
      </p:sp>
      <p:sp>
        <p:nvSpPr>
          <p:cNvPr id="18" name="Text 13">
            <a:extLst>
              <a:ext uri="{FF2B5EF4-FFF2-40B4-BE49-F238E27FC236}">
                <a16:creationId xmlns:a16="http://schemas.microsoft.com/office/drawing/2014/main" id="{0ADF338A-FFBD-45F2-8402-6D26E358908A}"/>
              </a:ext>
            </a:extLst>
          </p:cNvPr>
          <p:cNvSpPr/>
          <p:nvPr/>
        </p:nvSpPr>
        <p:spPr>
          <a:xfrm>
            <a:off x="1024128" y="7457440"/>
            <a:ext cx="12591288" cy="301752"/>
          </a:xfrm>
          <a:prstGeom prst="rect">
            <a:avLst/>
          </a:prstGeom>
          <a:noFill/>
          <a:ln/>
        </p:spPr>
        <p:txBody>
          <a:bodyPr wrap="none" lIns="0" tIns="0" rIns="0" bIns="0" rtlCol="0" anchor="ctr"/>
          <a:lstStyle/>
          <a:p>
            <a:pPr marL="0" indent="0" algn="l">
              <a:lnSpc>
                <a:spcPts val="2340"/>
              </a:lnSpc>
              <a:buNone/>
            </a:pPr>
            <a:r>
              <a:rPr lang="en-US" sz="2000" b="1" dirty="0">
                <a:latin typeface="+mj-lt"/>
                <a:ea typeface="思源黑体-思源黑体-Medium" pitchFamily="34" charset="-122"/>
                <a:cs typeface="思源黑体-思源黑体-Medium" pitchFamily="34" charset="-120"/>
              </a:rPr>
              <a:t>    • Nonlinear Encoding</a:t>
            </a:r>
            <a:endParaRPr lang="en-US" sz="2000" b="1" dirty="0">
              <a:latin typeface="+mj-lt"/>
            </a:endParaRPr>
          </a:p>
        </p:txBody>
      </p:sp>
      <p:sp>
        <p:nvSpPr>
          <p:cNvPr id="19" name="Text 14">
            <a:extLst>
              <a:ext uri="{FF2B5EF4-FFF2-40B4-BE49-F238E27FC236}">
                <a16:creationId xmlns:a16="http://schemas.microsoft.com/office/drawing/2014/main" id="{87D57E37-97E8-435F-B32B-ED57598AF28E}"/>
              </a:ext>
            </a:extLst>
          </p:cNvPr>
          <p:cNvSpPr/>
          <p:nvPr/>
        </p:nvSpPr>
        <p:spPr>
          <a:xfrm>
            <a:off x="1024128" y="432104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More levels = better approximation of original signal</a:t>
            </a:r>
            <a:endParaRPr lang="en-US" sz="2000" dirty="0">
              <a:latin typeface="+mj-lt"/>
            </a:endParaRPr>
          </a:p>
        </p:txBody>
      </p:sp>
      <p:pic>
        <p:nvPicPr>
          <p:cNvPr id="20" name="Picture 19">
            <a:extLst>
              <a:ext uri="{FF2B5EF4-FFF2-40B4-BE49-F238E27FC236}">
                <a16:creationId xmlns:a16="http://schemas.microsoft.com/office/drawing/2014/main" id="{6387E65D-674B-482C-AAA0-311F45016F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1063221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342900" y="1600200"/>
            <a:ext cx="7124700" cy="5232400"/>
          </a:xfrm>
          <a:prstGeom prst="rect">
            <a:avLst/>
          </a:prstGeom>
        </p:spPr>
      </p:pic>
      <p:sp>
        <p:nvSpPr>
          <p:cNvPr id="4" name="Text 0"/>
          <p:cNvSpPr/>
          <p:nvPr/>
        </p:nvSpPr>
        <p:spPr>
          <a:xfrm>
            <a:off x="7467600" y="2378456"/>
            <a:ext cx="6138672" cy="438912"/>
          </a:xfrm>
          <a:prstGeom prst="rect">
            <a:avLst/>
          </a:prstGeom>
          <a:noFill/>
          <a:ln/>
        </p:spPr>
        <p:txBody>
          <a:bodyPr wrap="none" lIns="0" tIns="0" rIns="0" bIns="0" rtlCol="0" anchor="ctr"/>
          <a:lstStyle/>
          <a:p>
            <a:pPr marL="0" indent="0" algn="l">
              <a:lnSpc>
                <a:spcPct val="200000"/>
              </a:lnSpc>
              <a:buNone/>
            </a:pPr>
            <a:r>
              <a:rPr lang="en-US" sz="2000" dirty="0">
                <a:latin typeface="+mj-lt"/>
                <a:ea typeface="思源黑体-思源黑体-Medium" pitchFamily="34" charset="-122"/>
                <a:cs typeface="思源黑体-思源黑体-Medium" pitchFamily="34" charset="-120"/>
              </a:rPr>
              <a:t>    • Equal spacing ⇒ equal error across all amplitudes</a:t>
            </a:r>
            <a:endParaRPr lang="en-US" sz="2000" dirty="0">
              <a:latin typeface="+mj-lt"/>
            </a:endParaRPr>
          </a:p>
        </p:txBody>
      </p:sp>
      <p:sp>
        <p:nvSpPr>
          <p:cNvPr id="5" name="Text 1"/>
          <p:cNvSpPr/>
          <p:nvPr/>
        </p:nvSpPr>
        <p:spPr>
          <a:xfrm>
            <a:off x="7638288" y="3439668"/>
            <a:ext cx="5596128" cy="301752"/>
          </a:xfrm>
          <a:prstGeom prst="rect">
            <a:avLst/>
          </a:prstGeom>
          <a:noFill/>
          <a:ln/>
        </p:spPr>
        <p:txBody>
          <a:bodyPr wrap="none" lIns="0" tIns="0" rIns="0" bIns="0" rtlCol="0" anchor="ctr"/>
          <a:lstStyle/>
          <a:p>
            <a:pPr marL="0" indent="0" algn="l">
              <a:lnSpc>
                <a:spcPct val="200000"/>
              </a:lnSpc>
              <a:buNone/>
            </a:pPr>
            <a:r>
              <a:rPr lang="en-US" sz="2000" b="1" dirty="0">
                <a:solidFill>
                  <a:srgbClr val="172748"/>
                </a:solidFill>
                <a:latin typeface="+mj-lt"/>
                <a:ea typeface="思源黑体-思源黑体-Medium" pitchFamily="34" charset="-122"/>
                <a:cs typeface="思源黑体-思源黑体-Medium" pitchFamily="34" charset="-120"/>
              </a:rPr>
              <a:t>Solution</a:t>
            </a:r>
            <a:r>
              <a:rPr lang="en-US" sz="2000" dirty="0">
                <a:solidFill>
                  <a:srgbClr val="172748"/>
                </a:solidFill>
                <a:latin typeface="+mj-lt"/>
                <a:ea typeface="思源黑体-思源黑体-Medium" pitchFamily="34" charset="-122"/>
                <a:cs typeface="思源黑体-思源黑体-Medium" pitchFamily="34" charset="-120"/>
              </a:rPr>
              <a:t>:</a:t>
            </a:r>
            <a:endParaRPr lang="en-US" sz="2000" dirty="0">
              <a:latin typeface="+mj-lt"/>
            </a:endParaRPr>
          </a:p>
        </p:txBody>
      </p:sp>
      <p:sp>
        <p:nvSpPr>
          <p:cNvPr id="6" name="Text 2"/>
          <p:cNvSpPr/>
          <p:nvPr/>
        </p:nvSpPr>
        <p:spPr>
          <a:xfrm>
            <a:off x="462280" y="264160"/>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Nonlinear Encoding</a:t>
            </a:r>
            <a:endParaRPr lang="en-US" sz="4400" dirty="0">
              <a:latin typeface="Cambria" panose="02040503050406030204" pitchFamily="18" charset="0"/>
              <a:ea typeface="Cambria" panose="02040503050406030204" pitchFamily="18" charset="0"/>
            </a:endParaRPr>
          </a:p>
        </p:txBody>
      </p:sp>
      <p:sp>
        <p:nvSpPr>
          <p:cNvPr id="7" name="Text 3"/>
          <p:cNvSpPr/>
          <p:nvPr/>
        </p:nvSpPr>
        <p:spPr>
          <a:xfrm>
            <a:off x="7467600" y="2817368"/>
            <a:ext cx="6138672" cy="301752"/>
          </a:xfrm>
          <a:prstGeom prst="rect">
            <a:avLst/>
          </a:prstGeom>
          <a:noFill/>
          <a:ln/>
        </p:spPr>
        <p:txBody>
          <a:bodyPr wrap="square" lIns="0" tIns="0" rIns="0" bIns="0" rtlCol="0" anchor="ctr"/>
          <a:lstStyle/>
          <a:p>
            <a:pPr marL="0" indent="0" algn="l">
              <a:lnSpc>
                <a:spcPct val="200000"/>
              </a:lnSpc>
              <a:buNone/>
            </a:pPr>
            <a:r>
              <a:rPr lang="en-US" sz="2000" dirty="0">
                <a:latin typeface="+mj-lt"/>
                <a:ea typeface="思源黑体-思源黑体-Medium" pitchFamily="34" charset="-122"/>
                <a:cs typeface="思源黑体-思源黑体-Medium" pitchFamily="34" charset="-120"/>
              </a:rPr>
              <a:t>    • Low amplitude signals suffer greater relative distortion </a:t>
            </a:r>
            <a:endParaRPr lang="en-US" sz="2000" dirty="0">
              <a:latin typeface="+mj-lt"/>
            </a:endParaRPr>
          </a:p>
        </p:txBody>
      </p:sp>
      <p:sp>
        <p:nvSpPr>
          <p:cNvPr id="8" name="Text 4"/>
          <p:cNvSpPr/>
          <p:nvPr/>
        </p:nvSpPr>
        <p:spPr>
          <a:xfrm>
            <a:off x="7603744" y="1929892"/>
            <a:ext cx="5596128" cy="301752"/>
          </a:xfrm>
          <a:prstGeom prst="rect">
            <a:avLst/>
          </a:prstGeom>
          <a:noFill/>
          <a:ln/>
        </p:spPr>
        <p:txBody>
          <a:bodyPr wrap="none" lIns="0" tIns="0" rIns="0" bIns="0" rtlCol="0" anchor="ctr"/>
          <a:lstStyle/>
          <a:p>
            <a:pPr marL="0" indent="0" algn="l">
              <a:lnSpc>
                <a:spcPct val="200000"/>
              </a:lnSpc>
              <a:buNone/>
            </a:pPr>
            <a:r>
              <a:rPr lang="en-US" sz="2000" b="1" dirty="0">
                <a:latin typeface="+mj-lt"/>
                <a:ea typeface="思源黑体-思源黑体-Medium" pitchFamily="34" charset="-122"/>
                <a:cs typeface="思源黑体-思源黑体-Medium" pitchFamily="34" charset="-120"/>
              </a:rPr>
              <a:t>Problem with Uniform Quantization:</a:t>
            </a:r>
            <a:endParaRPr lang="en-US" sz="2000" b="1" dirty="0">
              <a:latin typeface="+mj-lt"/>
            </a:endParaRPr>
          </a:p>
        </p:txBody>
      </p:sp>
      <p:sp>
        <p:nvSpPr>
          <p:cNvPr id="9" name="Text 5"/>
          <p:cNvSpPr/>
          <p:nvPr/>
        </p:nvSpPr>
        <p:spPr>
          <a:xfrm>
            <a:off x="7603744" y="4097528"/>
            <a:ext cx="6874256" cy="512572"/>
          </a:xfrm>
          <a:prstGeom prst="rect">
            <a:avLst/>
          </a:prstGeom>
          <a:noFill/>
          <a:ln/>
        </p:spPr>
        <p:txBody>
          <a:bodyPr wrap="square" lIns="0" tIns="0" rIns="0" bIns="0" rtlCol="0" anchor="ctr"/>
          <a:lstStyle/>
          <a:p>
            <a:pPr marL="0" indent="0" algn="l">
              <a:lnSpc>
                <a:spcPct val="200000"/>
              </a:lnSpc>
              <a:buNone/>
            </a:pPr>
            <a:r>
              <a:rPr lang="en-US" sz="2000" dirty="0">
                <a:latin typeface="+mj-lt"/>
                <a:ea typeface="思源黑体-思源黑体-Medium" pitchFamily="34" charset="-122"/>
                <a:cs typeface="思源黑体-思源黑体-Medium" pitchFamily="34" charset="-120"/>
              </a:rPr>
              <a:t>    • Use Nonlinear Quantization: More levels for low amplitudes  </a:t>
            </a:r>
          </a:p>
          <a:p>
            <a:pPr marL="0" indent="0" algn="l">
              <a:lnSpc>
                <a:spcPct val="200000"/>
              </a:lnSpc>
              <a:buNone/>
            </a:pPr>
            <a:r>
              <a:rPr lang="en-US" sz="2000" dirty="0">
                <a:latin typeface="+mj-lt"/>
                <a:ea typeface="思源黑体-思源黑体-Medium" pitchFamily="34" charset="-122"/>
                <a:cs typeface="思源黑体-思源黑体-Medium" pitchFamily="34" charset="-120"/>
              </a:rPr>
              <a:t>      Fewer levels for high amplitudes</a:t>
            </a:r>
            <a:endParaRPr lang="en-US" sz="2000" dirty="0">
              <a:latin typeface="+mj-lt"/>
            </a:endParaRPr>
          </a:p>
        </p:txBody>
      </p:sp>
      <p:sp>
        <p:nvSpPr>
          <p:cNvPr id="10" name="Text 6"/>
          <p:cNvSpPr/>
          <p:nvPr/>
        </p:nvSpPr>
        <p:spPr>
          <a:xfrm>
            <a:off x="7603744" y="5054600"/>
            <a:ext cx="5596128" cy="301752"/>
          </a:xfrm>
          <a:prstGeom prst="rect">
            <a:avLst/>
          </a:prstGeom>
          <a:noFill/>
          <a:ln/>
        </p:spPr>
        <p:txBody>
          <a:bodyPr wrap="none" lIns="0" tIns="0" rIns="0" bIns="0" rtlCol="0" anchor="ctr"/>
          <a:lstStyle/>
          <a:p>
            <a:pPr marL="0" indent="0" algn="l">
              <a:lnSpc>
                <a:spcPct val="200000"/>
              </a:lnSpc>
              <a:buNone/>
            </a:pPr>
            <a:r>
              <a:rPr lang="en-US" sz="2000" dirty="0">
                <a:latin typeface="+mj-lt"/>
                <a:ea typeface="思源黑体-思源黑体-Medium" pitchFamily="34" charset="-122"/>
                <a:cs typeface="思源黑体-思源黑体-Medium" pitchFamily="34" charset="-120"/>
              </a:rPr>
              <a:t>    • Results in better overall signal quality</a:t>
            </a:r>
            <a:endParaRPr lang="en-US" sz="2000" dirty="0">
              <a:latin typeface="+mj-lt"/>
            </a:endParaRPr>
          </a:p>
        </p:txBody>
      </p:sp>
      <p:pic>
        <p:nvPicPr>
          <p:cNvPr id="11" name="Picture 10">
            <a:extLst>
              <a:ext uri="{FF2B5EF4-FFF2-40B4-BE49-F238E27FC236}">
                <a16:creationId xmlns:a16="http://schemas.microsoft.com/office/drawing/2014/main" id="{2FD38940-509B-4ADA-9C9E-C8463B3FEC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9564624"/>
          </a:xfrm>
          <a:prstGeom prst="rect">
            <a:avLst/>
          </a:prstGeom>
        </p:spPr>
      </p:pic>
      <p:pic>
        <p:nvPicPr>
          <p:cNvPr id="3" name="Image 1" descr="preencoded.png"/>
          <p:cNvPicPr>
            <a:picLocks noChangeAspect="1"/>
          </p:cNvPicPr>
          <p:nvPr/>
        </p:nvPicPr>
        <p:blipFill>
          <a:blip r:embed="rId4"/>
          <a:stretch>
            <a:fillRect/>
          </a:stretch>
        </p:blipFill>
        <p:spPr>
          <a:xfrm>
            <a:off x="6484112" y="1664208"/>
            <a:ext cx="8146288" cy="6133592"/>
          </a:xfrm>
          <a:prstGeom prst="rect">
            <a:avLst/>
          </a:prstGeom>
        </p:spPr>
      </p:pic>
      <p:sp>
        <p:nvSpPr>
          <p:cNvPr id="4" name="Text 0"/>
          <p:cNvSpPr/>
          <p:nvPr/>
        </p:nvSpPr>
        <p:spPr>
          <a:xfrm>
            <a:off x="577088" y="2707132"/>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Applies uniform quantization but modifies signal range:</a:t>
            </a:r>
            <a:endParaRPr lang="en-US" sz="2000" dirty="0">
              <a:latin typeface="+mj-lt"/>
            </a:endParaRPr>
          </a:p>
        </p:txBody>
      </p:sp>
      <p:sp>
        <p:nvSpPr>
          <p:cNvPr id="5" name="Text 1"/>
          <p:cNvSpPr/>
          <p:nvPr/>
        </p:nvSpPr>
        <p:spPr>
          <a:xfrm>
            <a:off x="1024128" y="8229600"/>
            <a:ext cx="12591288" cy="603504"/>
          </a:xfrm>
          <a:prstGeom prst="rect">
            <a:avLst/>
          </a:prstGeom>
          <a:noFill/>
          <a:ln/>
        </p:spPr>
        <p:txBody>
          <a:bodyPr wrap="square" lIns="0" tIns="0" rIns="0" bIns="0" rtlCol="0" anchor="ctr"/>
          <a:lstStyle/>
          <a:p>
            <a:pPr marL="0" indent="0" algn="l">
              <a:lnSpc>
                <a:spcPts val="2340"/>
              </a:lnSpc>
              <a:buNone/>
            </a:pPr>
            <a:endParaRPr lang="en-US" sz="1670" dirty="0"/>
          </a:p>
        </p:txBody>
      </p:sp>
      <p:sp>
        <p:nvSpPr>
          <p:cNvPr id="6" name="Text 2"/>
          <p:cNvSpPr/>
          <p:nvPr/>
        </p:nvSpPr>
        <p:spPr>
          <a:xfrm>
            <a:off x="577088" y="2158492"/>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Alternative to nonlinear quantization</a:t>
            </a:r>
            <a:endParaRPr lang="en-US" sz="2000" dirty="0">
              <a:latin typeface="+mj-lt"/>
            </a:endParaRPr>
          </a:p>
        </p:txBody>
      </p:sp>
      <p:sp>
        <p:nvSpPr>
          <p:cNvPr id="7" name="Text 3"/>
          <p:cNvSpPr/>
          <p:nvPr/>
        </p:nvSpPr>
        <p:spPr>
          <a:xfrm>
            <a:off x="577088" y="3575812"/>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        • Increases gain for weak signals</a:t>
            </a:r>
            <a:endParaRPr lang="en-US" sz="2000" dirty="0">
              <a:latin typeface="+mj-lt"/>
            </a:endParaRPr>
          </a:p>
        </p:txBody>
      </p:sp>
      <p:sp>
        <p:nvSpPr>
          <p:cNvPr id="8" name="Text 4"/>
          <p:cNvSpPr/>
          <p:nvPr/>
        </p:nvSpPr>
        <p:spPr>
          <a:xfrm>
            <a:off x="577088" y="4435348"/>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    • Expansion (at receiver):</a:t>
            </a:r>
            <a:endParaRPr lang="en-US" sz="2000" dirty="0">
              <a:latin typeface="+mj-lt"/>
            </a:endParaRPr>
          </a:p>
        </p:txBody>
      </p:sp>
      <p:sp>
        <p:nvSpPr>
          <p:cNvPr id="9" name="Text 5"/>
          <p:cNvSpPr/>
          <p:nvPr/>
        </p:nvSpPr>
        <p:spPr>
          <a:xfrm>
            <a:off x="786384" y="62179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Companding</a:t>
            </a:r>
            <a:endParaRPr lang="en-US" sz="4400" dirty="0">
              <a:latin typeface="Cambria" panose="02040503050406030204" pitchFamily="18" charset="0"/>
              <a:ea typeface="Cambria" panose="02040503050406030204" pitchFamily="18" charset="0"/>
            </a:endParaRPr>
          </a:p>
        </p:txBody>
      </p:sp>
      <p:sp>
        <p:nvSpPr>
          <p:cNvPr id="10" name="Text 6"/>
          <p:cNvSpPr/>
          <p:nvPr/>
        </p:nvSpPr>
        <p:spPr>
          <a:xfrm>
            <a:off x="577088" y="4865116"/>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        • Restores original signal range</a:t>
            </a:r>
            <a:endParaRPr lang="en-US" sz="2000" dirty="0">
              <a:latin typeface="+mj-lt"/>
            </a:endParaRPr>
          </a:p>
        </p:txBody>
      </p:sp>
      <p:sp>
        <p:nvSpPr>
          <p:cNvPr id="11" name="Text 7"/>
          <p:cNvSpPr/>
          <p:nvPr/>
        </p:nvSpPr>
        <p:spPr>
          <a:xfrm>
            <a:off x="577088" y="3136900"/>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    • Compression (at sender):</a:t>
            </a:r>
            <a:endParaRPr lang="en-US" sz="2000" dirty="0">
              <a:latin typeface="+mj-lt"/>
            </a:endParaRPr>
          </a:p>
        </p:txBody>
      </p:sp>
      <p:sp>
        <p:nvSpPr>
          <p:cNvPr id="12" name="Text 8"/>
          <p:cNvSpPr/>
          <p:nvPr/>
        </p:nvSpPr>
        <p:spPr>
          <a:xfrm>
            <a:off x="577088" y="4005580"/>
            <a:ext cx="6077712" cy="45719"/>
          </a:xfrm>
          <a:prstGeom prst="rect">
            <a:avLst/>
          </a:prstGeom>
          <a:noFill/>
          <a:ln/>
        </p:spPr>
        <p:txBody>
          <a:bodyPr wrap="none" lIns="0" tIns="0" rIns="0" bIns="0" rtlCol="0" anchor="ctr"/>
          <a:lstStyle/>
          <a:p>
            <a:pPr marL="0" indent="0" algn="l">
              <a:lnSpc>
                <a:spcPct val="250000"/>
              </a:lnSpc>
              <a:buNone/>
            </a:pPr>
            <a:r>
              <a:rPr lang="en-US" sz="2000" dirty="0">
                <a:latin typeface="+mj-lt"/>
                <a:ea typeface="思源黑体-思源黑体-Medium" pitchFamily="34" charset="-122"/>
                <a:cs typeface="思源黑体-思源黑体-Medium" pitchFamily="34" charset="-120"/>
              </a:rPr>
              <a:t>        • Decreases gain for strong signals</a:t>
            </a:r>
            <a:endParaRPr lang="en-US" sz="2000" dirty="0">
              <a:latin typeface="+mj-lt"/>
            </a:endParaRPr>
          </a:p>
        </p:txBody>
      </p:sp>
      <p:pic>
        <p:nvPicPr>
          <p:cNvPr id="13" name="Picture 12">
            <a:extLst>
              <a:ext uri="{FF2B5EF4-FFF2-40B4-BE49-F238E27FC236}">
                <a16:creationId xmlns:a16="http://schemas.microsoft.com/office/drawing/2014/main" id="{07A799E2-E972-4C42-B6ED-CA44A9105C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5416784"/>
          </a:xfrm>
          <a:prstGeom prst="rect">
            <a:avLst/>
          </a:prstGeom>
        </p:spPr>
      </p:pic>
      <p:pic>
        <p:nvPicPr>
          <p:cNvPr id="4" name="Image 2" descr="preencoded.png"/>
          <p:cNvPicPr>
            <a:picLocks noChangeAspect="1"/>
          </p:cNvPicPr>
          <p:nvPr/>
        </p:nvPicPr>
        <p:blipFill>
          <a:blip r:embed="rId4"/>
          <a:stretch>
            <a:fillRect/>
          </a:stretch>
        </p:blipFill>
        <p:spPr>
          <a:xfrm>
            <a:off x="804672" y="9939528"/>
            <a:ext cx="2587752" cy="905256"/>
          </a:xfrm>
          <a:prstGeom prst="rect">
            <a:avLst/>
          </a:prstGeom>
        </p:spPr>
      </p:pic>
      <p:pic>
        <p:nvPicPr>
          <p:cNvPr id="5" name="Image 3" descr="preencoded.png"/>
          <p:cNvPicPr>
            <a:picLocks noChangeAspect="1"/>
          </p:cNvPicPr>
          <p:nvPr/>
        </p:nvPicPr>
        <p:blipFill>
          <a:blip r:embed="rId4"/>
          <a:stretch>
            <a:fillRect/>
          </a:stretch>
        </p:blipFill>
        <p:spPr>
          <a:xfrm>
            <a:off x="6025896" y="9939528"/>
            <a:ext cx="2587752" cy="905256"/>
          </a:xfrm>
          <a:prstGeom prst="rect">
            <a:avLst/>
          </a:prstGeom>
        </p:spPr>
      </p:pic>
      <p:pic>
        <p:nvPicPr>
          <p:cNvPr id="6" name="Image 4" descr="preencoded.png"/>
          <p:cNvPicPr>
            <a:picLocks noChangeAspect="1"/>
          </p:cNvPicPr>
          <p:nvPr/>
        </p:nvPicPr>
        <p:blipFill>
          <a:blip r:embed="rId4"/>
          <a:stretch>
            <a:fillRect/>
          </a:stretch>
        </p:blipFill>
        <p:spPr>
          <a:xfrm>
            <a:off x="3419856" y="9939528"/>
            <a:ext cx="2587752" cy="905256"/>
          </a:xfrm>
          <a:prstGeom prst="rect">
            <a:avLst/>
          </a:prstGeom>
        </p:spPr>
      </p:pic>
      <p:pic>
        <p:nvPicPr>
          <p:cNvPr id="7" name="Image 5" descr="preencoded.png"/>
          <p:cNvPicPr>
            <a:picLocks noChangeAspect="1"/>
          </p:cNvPicPr>
          <p:nvPr/>
        </p:nvPicPr>
        <p:blipFill>
          <a:blip r:embed="rId5"/>
          <a:stretch>
            <a:fillRect/>
          </a:stretch>
        </p:blipFill>
        <p:spPr>
          <a:xfrm>
            <a:off x="1231900" y="1618488"/>
            <a:ext cx="11395964" cy="5989320"/>
          </a:xfrm>
          <a:prstGeom prst="rect">
            <a:avLst/>
          </a:prstGeom>
        </p:spPr>
      </p:pic>
      <p:sp>
        <p:nvSpPr>
          <p:cNvPr id="12" name="Text 0"/>
          <p:cNvSpPr/>
          <p:nvPr/>
        </p:nvSpPr>
        <p:spPr>
          <a:xfrm>
            <a:off x="1024128" y="11603736"/>
            <a:ext cx="2139696" cy="60350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At each sampling instant:</a:t>
            </a:r>
            <a:endParaRPr lang="en-US" sz="1670" dirty="0"/>
          </a:p>
        </p:txBody>
      </p:sp>
      <p:sp>
        <p:nvSpPr>
          <p:cNvPr id="13" name="Text 1"/>
          <p:cNvSpPr/>
          <p:nvPr/>
        </p:nvSpPr>
        <p:spPr>
          <a:xfrm>
            <a:off x="4636008" y="635508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4" name="Text 2"/>
          <p:cNvSpPr/>
          <p:nvPr/>
        </p:nvSpPr>
        <p:spPr>
          <a:xfrm>
            <a:off x="2020824"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6</a:t>
            </a:r>
            <a:endParaRPr lang="en-US" sz="2090" dirty="0"/>
          </a:p>
        </p:txBody>
      </p:sp>
      <p:sp>
        <p:nvSpPr>
          <p:cNvPr id="17" name="Text 5"/>
          <p:cNvSpPr/>
          <p:nvPr/>
        </p:nvSpPr>
        <p:spPr>
          <a:xfrm>
            <a:off x="1024128" y="12335256"/>
            <a:ext cx="2139696" cy="119786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Compare analog input to previous staircase value</a:t>
            </a:r>
            <a:endParaRPr lang="en-US" sz="1670" dirty="0"/>
          </a:p>
        </p:txBody>
      </p:sp>
      <p:sp>
        <p:nvSpPr>
          <p:cNvPr id="18" name="Text 6"/>
          <p:cNvSpPr/>
          <p:nvPr/>
        </p:nvSpPr>
        <p:spPr>
          <a:xfrm>
            <a:off x="7242048"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8</a:t>
            </a:r>
            <a:endParaRPr lang="en-US" sz="2090" dirty="0"/>
          </a:p>
        </p:txBody>
      </p:sp>
      <p:sp>
        <p:nvSpPr>
          <p:cNvPr id="19" name="Text 7"/>
          <p:cNvSpPr/>
          <p:nvPr/>
        </p:nvSpPr>
        <p:spPr>
          <a:xfrm>
            <a:off x="4636008"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7</a:t>
            </a:r>
            <a:endParaRPr lang="en-US" sz="2090" dirty="0"/>
          </a:p>
        </p:txBody>
      </p:sp>
      <p:sp>
        <p:nvSpPr>
          <p:cNvPr id="20" name="Text 8"/>
          <p:cNvSpPr/>
          <p:nvPr/>
        </p:nvSpPr>
        <p:spPr>
          <a:xfrm>
            <a:off x="3639312" y="11173968"/>
            <a:ext cx="2139696" cy="119786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Receiver reconstructs staircase from the bit stream</a:t>
            </a:r>
            <a:endParaRPr lang="en-US" sz="1670" dirty="0"/>
          </a:p>
        </p:txBody>
      </p:sp>
      <p:sp>
        <p:nvSpPr>
          <p:cNvPr id="22" name="Text 10"/>
          <p:cNvSpPr/>
          <p:nvPr/>
        </p:nvSpPr>
        <p:spPr>
          <a:xfrm>
            <a:off x="9857232" y="635508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23" name="Text 11"/>
          <p:cNvSpPr/>
          <p:nvPr/>
        </p:nvSpPr>
        <p:spPr>
          <a:xfrm>
            <a:off x="12472416" y="635508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24" name="Text 12"/>
          <p:cNvSpPr/>
          <p:nvPr/>
        </p:nvSpPr>
        <p:spPr>
          <a:xfrm>
            <a:off x="1024128" y="13661136"/>
            <a:ext cx="2139696" cy="89611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Generate 1 if input &gt; staircase, else 0</a:t>
            </a:r>
            <a:endParaRPr lang="en-US" sz="1670" dirty="0"/>
          </a:p>
        </p:txBody>
      </p:sp>
      <p:sp>
        <p:nvSpPr>
          <p:cNvPr id="25" name="Text 13"/>
          <p:cNvSpPr/>
          <p:nvPr/>
        </p:nvSpPr>
        <p:spPr>
          <a:xfrm>
            <a:off x="6254496" y="8961120"/>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1 → Step up</a:t>
            </a:r>
            <a:endParaRPr lang="en-US" sz="1670" dirty="0"/>
          </a:p>
        </p:txBody>
      </p:sp>
      <p:sp>
        <p:nvSpPr>
          <p:cNvPr id="27" name="Text 15"/>
          <p:cNvSpPr/>
          <p:nvPr/>
        </p:nvSpPr>
        <p:spPr>
          <a:xfrm>
            <a:off x="1024128" y="11173968"/>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Steps:</a:t>
            </a:r>
            <a:endParaRPr lang="en-US" sz="1670" dirty="0"/>
          </a:p>
        </p:txBody>
      </p:sp>
      <p:sp>
        <p:nvSpPr>
          <p:cNvPr id="28" name="Text 16"/>
          <p:cNvSpPr/>
          <p:nvPr/>
        </p:nvSpPr>
        <p:spPr>
          <a:xfrm>
            <a:off x="6254496" y="11173968"/>
            <a:ext cx="2139696" cy="89611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Output is smoothed using a lowpass filter</a:t>
            </a:r>
            <a:endParaRPr lang="en-US" sz="1670" dirty="0"/>
          </a:p>
        </p:txBody>
      </p:sp>
      <p:sp>
        <p:nvSpPr>
          <p:cNvPr id="29" name="Text 17"/>
          <p:cNvSpPr/>
          <p:nvPr/>
        </p:nvSpPr>
        <p:spPr>
          <a:xfrm>
            <a:off x="6254496" y="9390888"/>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0 → Step down</a:t>
            </a:r>
            <a:endParaRPr lang="en-US" sz="1670" dirty="0"/>
          </a:p>
        </p:txBody>
      </p:sp>
      <p:sp>
        <p:nvSpPr>
          <p:cNvPr id="31" name="Text 19"/>
          <p:cNvSpPr/>
          <p:nvPr/>
        </p:nvSpPr>
        <p:spPr>
          <a:xfrm>
            <a:off x="786384" y="62179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Delta Modulation</a:t>
            </a:r>
            <a:endParaRPr lang="en-US" sz="4400" dirty="0">
              <a:latin typeface="Cambria" panose="02040503050406030204" pitchFamily="18" charset="0"/>
              <a:ea typeface="Cambria" panose="02040503050406030204" pitchFamily="18" charset="0"/>
            </a:endParaRPr>
          </a:p>
        </p:txBody>
      </p:sp>
      <p:sp>
        <p:nvSpPr>
          <p:cNvPr id="32" name="Text 20"/>
          <p:cNvSpPr/>
          <p:nvPr/>
        </p:nvSpPr>
        <p:spPr>
          <a:xfrm>
            <a:off x="2020824" y="635508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33" name="Text 21"/>
          <p:cNvSpPr/>
          <p:nvPr/>
        </p:nvSpPr>
        <p:spPr>
          <a:xfrm>
            <a:off x="7242048" y="63550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3</a:t>
            </a:r>
            <a:endParaRPr lang="en-US" sz="2090" dirty="0"/>
          </a:p>
        </p:txBody>
      </p:sp>
      <p:pic>
        <p:nvPicPr>
          <p:cNvPr id="34" name="Picture 33">
            <a:extLst>
              <a:ext uri="{FF2B5EF4-FFF2-40B4-BE49-F238E27FC236}">
                <a16:creationId xmlns:a16="http://schemas.microsoft.com/office/drawing/2014/main" id="{F4D3CDBE-9B4F-4C15-AD4D-09B8329606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149600"/>
            <a:ext cx="14630400" cy="15416784"/>
          </a:xfrm>
          <a:prstGeom prst="rect">
            <a:avLst/>
          </a:prstGeom>
        </p:spPr>
      </p:pic>
      <p:pic>
        <p:nvPicPr>
          <p:cNvPr id="3" name="Image 1" descr="preencoded.png"/>
          <p:cNvPicPr>
            <a:picLocks noChangeAspect="1"/>
          </p:cNvPicPr>
          <p:nvPr/>
        </p:nvPicPr>
        <p:blipFill>
          <a:blip r:embed="rId4"/>
          <a:stretch>
            <a:fillRect/>
          </a:stretch>
        </p:blipFill>
        <p:spPr>
          <a:xfrm>
            <a:off x="3419856" y="3012948"/>
            <a:ext cx="2587752" cy="905256"/>
          </a:xfrm>
          <a:prstGeom prst="rect">
            <a:avLst/>
          </a:prstGeom>
        </p:spPr>
      </p:pic>
      <p:pic>
        <p:nvPicPr>
          <p:cNvPr id="4" name="Image 2" descr="preencoded.png"/>
          <p:cNvPicPr>
            <a:picLocks noChangeAspect="1"/>
          </p:cNvPicPr>
          <p:nvPr/>
        </p:nvPicPr>
        <p:blipFill>
          <a:blip r:embed="rId4"/>
          <a:stretch>
            <a:fillRect/>
          </a:stretch>
        </p:blipFill>
        <p:spPr>
          <a:xfrm>
            <a:off x="804672" y="9939528"/>
            <a:ext cx="2587752" cy="905256"/>
          </a:xfrm>
          <a:prstGeom prst="rect">
            <a:avLst/>
          </a:prstGeom>
        </p:spPr>
      </p:pic>
      <p:pic>
        <p:nvPicPr>
          <p:cNvPr id="5" name="Image 3" descr="preencoded.png"/>
          <p:cNvPicPr>
            <a:picLocks noChangeAspect="1"/>
          </p:cNvPicPr>
          <p:nvPr/>
        </p:nvPicPr>
        <p:blipFill>
          <a:blip r:embed="rId4"/>
          <a:stretch>
            <a:fillRect/>
          </a:stretch>
        </p:blipFill>
        <p:spPr>
          <a:xfrm>
            <a:off x="6025896" y="9939528"/>
            <a:ext cx="2587752" cy="905256"/>
          </a:xfrm>
          <a:prstGeom prst="rect">
            <a:avLst/>
          </a:prstGeom>
        </p:spPr>
      </p:pic>
      <p:pic>
        <p:nvPicPr>
          <p:cNvPr id="6" name="Image 4" descr="preencoded.png"/>
          <p:cNvPicPr>
            <a:picLocks noChangeAspect="1"/>
          </p:cNvPicPr>
          <p:nvPr/>
        </p:nvPicPr>
        <p:blipFill>
          <a:blip r:embed="rId4"/>
          <a:stretch>
            <a:fillRect/>
          </a:stretch>
        </p:blipFill>
        <p:spPr>
          <a:xfrm>
            <a:off x="3419856" y="9939528"/>
            <a:ext cx="2587752" cy="905256"/>
          </a:xfrm>
          <a:prstGeom prst="rect">
            <a:avLst/>
          </a:prstGeom>
        </p:spPr>
      </p:pic>
      <p:pic>
        <p:nvPicPr>
          <p:cNvPr id="8" name="Image 6" descr="preencoded.png"/>
          <p:cNvPicPr>
            <a:picLocks noChangeAspect="1"/>
          </p:cNvPicPr>
          <p:nvPr/>
        </p:nvPicPr>
        <p:blipFill>
          <a:blip r:embed="rId4"/>
          <a:stretch>
            <a:fillRect/>
          </a:stretch>
        </p:blipFill>
        <p:spPr>
          <a:xfrm>
            <a:off x="8641080" y="3012948"/>
            <a:ext cx="2587752" cy="905256"/>
          </a:xfrm>
          <a:prstGeom prst="rect">
            <a:avLst/>
          </a:prstGeom>
        </p:spPr>
      </p:pic>
      <p:pic>
        <p:nvPicPr>
          <p:cNvPr id="9" name="Image 7" descr="preencoded.png"/>
          <p:cNvPicPr>
            <a:picLocks noChangeAspect="1"/>
          </p:cNvPicPr>
          <p:nvPr/>
        </p:nvPicPr>
        <p:blipFill>
          <a:blip r:embed="rId4"/>
          <a:stretch>
            <a:fillRect/>
          </a:stretch>
        </p:blipFill>
        <p:spPr>
          <a:xfrm>
            <a:off x="11256264" y="3012948"/>
            <a:ext cx="2587752" cy="905256"/>
          </a:xfrm>
          <a:prstGeom prst="rect">
            <a:avLst/>
          </a:prstGeom>
        </p:spPr>
      </p:pic>
      <p:pic>
        <p:nvPicPr>
          <p:cNvPr id="10" name="Image 8" descr="preencoded.png"/>
          <p:cNvPicPr>
            <a:picLocks noChangeAspect="1"/>
          </p:cNvPicPr>
          <p:nvPr/>
        </p:nvPicPr>
        <p:blipFill>
          <a:blip r:embed="rId4"/>
          <a:stretch>
            <a:fillRect/>
          </a:stretch>
        </p:blipFill>
        <p:spPr>
          <a:xfrm>
            <a:off x="804672" y="3012948"/>
            <a:ext cx="2587752" cy="905256"/>
          </a:xfrm>
          <a:prstGeom prst="rect">
            <a:avLst/>
          </a:prstGeom>
        </p:spPr>
      </p:pic>
      <p:pic>
        <p:nvPicPr>
          <p:cNvPr id="11" name="Image 9" descr="preencoded.png"/>
          <p:cNvPicPr>
            <a:picLocks noChangeAspect="1"/>
          </p:cNvPicPr>
          <p:nvPr/>
        </p:nvPicPr>
        <p:blipFill>
          <a:blip r:embed="rId4"/>
          <a:stretch>
            <a:fillRect/>
          </a:stretch>
        </p:blipFill>
        <p:spPr>
          <a:xfrm>
            <a:off x="6025896" y="3012948"/>
            <a:ext cx="2587752" cy="905256"/>
          </a:xfrm>
          <a:prstGeom prst="rect">
            <a:avLst/>
          </a:prstGeom>
        </p:spPr>
      </p:pic>
      <p:sp>
        <p:nvSpPr>
          <p:cNvPr id="12" name="Text 0"/>
          <p:cNvSpPr/>
          <p:nvPr/>
        </p:nvSpPr>
        <p:spPr>
          <a:xfrm>
            <a:off x="1024128" y="11603736"/>
            <a:ext cx="2139696" cy="60350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At each sampling instant:</a:t>
            </a:r>
            <a:endParaRPr lang="en-US" sz="1670" dirty="0"/>
          </a:p>
        </p:txBody>
      </p:sp>
      <p:sp>
        <p:nvSpPr>
          <p:cNvPr id="13" name="Text 1"/>
          <p:cNvSpPr/>
          <p:nvPr/>
        </p:nvSpPr>
        <p:spPr>
          <a:xfrm>
            <a:off x="4636008" y="32054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2</a:t>
            </a:r>
            <a:endParaRPr lang="en-US" sz="2090" dirty="0"/>
          </a:p>
        </p:txBody>
      </p:sp>
      <p:sp>
        <p:nvSpPr>
          <p:cNvPr id="14" name="Text 2"/>
          <p:cNvSpPr/>
          <p:nvPr/>
        </p:nvSpPr>
        <p:spPr>
          <a:xfrm>
            <a:off x="2020824"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6</a:t>
            </a:r>
            <a:endParaRPr lang="en-US" sz="2090" dirty="0"/>
          </a:p>
        </p:txBody>
      </p:sp>
      <p:sp>
        <p:nvSpPr>
          <p:cNvPr id="15" name="Text 3"/>
          <p:cNvSpPr/>
          <p:nvPr/>
        </p:nvSpPr>
        <p:spPr>
          <a:xfrm>
            <a:off x="11475720" y="4247388"/>
            <a:ext cx="2139696" cy="60350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Requires only 1 bit per sample</a:t>
            </a:r>
            <a:endParaRPr lang="en-US" sz="1670" dirty="0"/>
          </a:p>
        </p:txBody>
      </p:sp>
      <p:sp>
        <p:nvSpPr>
          <p:cNvPr id="16" name="Text 4"/>
          <p:cNvSpPr/>
          <p:nvPr/>
        </p:nvSpPr>
        <p:spPr>
          <a:xfrm>
            <a:off x="8860536" y="4247388"/>
            <a:ext cx="2139696" cy="119786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Tracks the change (derivative) in signal, not absolute amplitude</a:t>
            </a:r>
            <a:endParaRPr lang="en-US" sz="1670" dirty="0"/>
          </a:p>
        </p:txBody>
      </p:sp>
      <p:sp>
        <p:nvSpPr>
          <p:cNvPr id="17" name="Text 5"/>
          <p:cNvSpPr/>
          <p:nvPr/>
        </p:nvSpPr>
        <p:spPr>
          <a:xfrm>
            <a:off x="1024128" y="12335256"/>
            <a:ext cx="2139696" cy="119786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Compare analog input to previous staircase value</a:t>
            </a:r>
            <a:endParaRPr lang="en-US" sz="1670" dirty="0"/>
          </a:p>
        </p:txBody>
      </p:sp>
      <p:sp>
        <p:nvSpPr>
          <p:cNvPr id="18" name="Text 6"/>
          <p:cNvSpPr/>
          <p:nvPr/>
        </p:nvSpPr>
        <p:spPr>
          <a:xfrm>
            <a:off x="7242048"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8</a:t>
            </a:r>
            <a:endParaRPr lang="en-US" sz="2090" dirty="0"/>
          </a:p>
        </p:txBody>
      </p:sp>
      <p:sp>
        <p:nvSpPr>
          <p:cNvPr id="19" name="Text 7"/>
          <p:cNvSpPr/>
          <p:nvPr/>
        </p:nvSpPr>
        <p:spPr>
          <a:xfrm>
            <a:off x="4636008" y="1019556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7</a:t>
            </a:r>
            <a:endParaRPr lang="en-US" sz="2090" dirty="0"/>
          </a:p>
        </p:txBody>
      </p:sp>
      <p:sp>
        <p:nvSpPr>
          <p:cNvPr id="20" name="Text 8"/>
          <p:cNvSpPr/>
          <p:nvPr/>
        </p:nvSpPr>
        <p:spPr>
          <a:xfrm>
            <a:off x="3639312" y="11173968"/>
            <a:ext cx="2139696" cy="119786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Receiver reconstructs staircase from the bit stream</a:t>
            </a:r>
            <a:endParaRPr lang="en-US" sz="1670" dirty="0"/>
          </a:p>
        </p:txBody>
      </p:sp>
      <p:sp>
        <p:nvSpPr>
          <p:cNvPr id="21" name="Text 9"/>
          <p:cNvSpPr/>
          <p:nvPr/>
        </p:nvSpPr>
        <p:spPr>
          <a:xfrm>
            <a:off x="3639312" y="4247388"/>
            <a:ext cx="2139696" cy="89611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Approximates an analog signal using a staircase function</a:t>
            </a:r>
            <a:endParaRPr lang="en-US" sz="1670" dirty="0"/>
          </a:p>
        </p:txBody>
      </p:sp>
      <p:sp>
        <p:nvSpPr>
          <p:cNvPr id="22" name="Text 10"/>
          <p:cNvSpPr/>
          <p:nvPr/>
        </p:nvSpPr>
        <p:spPr>
          <a:xfrm>
            <a:off x="9857232" y="32054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4</a:t>
            </a:r>
            <a:endParaRPr lang="en-US" sz="2090" dirty="0"/>
          </a:p>
        </p:txBody>
      </p:sp>
      <p:sp>
        <p:nvSpPr>
          <p:cNvPr id="23" name="Text 11"/>
          <p:cNvSpPr/>
          <p:nvPr/>
        </p:nvSpPr>
        <p:spPr>
          <a:xfrm>
            <a:off x="12472416" y="32054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5</a:t>
            </a:r>
            <a:endParaRPr lang="en-US" sz="2090" dirty="0"/>
          </a:p>
        </p:txBody>
      </p:sp>
      <p:sp>
        <p:nvSpPr>
          <p:cNvPr id="24" name="Text 12"/>
          <p:cNvSpPr/>
          <p:nvPr/>
        </p:nvSpPr>
        <p:spPr>
          <a:xfrm>
            <a:off x="1024128" y="13661136"/>
            <a:ext cx="2139696" cy="89611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Generate 1 if input &gt; staircase, else 0</a:t>
            </a:r>
            <a:endParaRPr lang="en-US" sz="1670" dirty="0"/>
          </a:p>
        </p:txBody>
      </p:sp>
      <p:sp>
        <p:nvSpPr>
          <p:cNvPr id="25" name="Text 13"/>
          <p:cNvSpPr/>
          <p:nvPr/>
        </p:nvSpPr>
        <p:spPr>
          <a:xfrm>
            <a:off x="6254496" y="8961120"/>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a:t>
            </a:r>
            <a:endParaRPr lang="en-US" sz="1670" dirty="0"/>
          </a:p>
        </p:txBody>
      </p:sp>
      <p:sp>
        <p:nvSpPr>
          <p:cNvPr id="26" name="Text 14"/>
          <p:cNvSpPr/>
          <p:nvPr/>
        </p:nvSpPr>
        <p:spPr>
          <a:xfrm>
            <a:off x="1024128" y="4247388"/>
            <a:ext cx="2139696" cy="603504"/>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A simplified alternative to PCM</a:t>
            </a:r>
            <a:endParaRPr lang="en-US" sz="1670" dirty="0"/>
          </a:p>
        </p:txBody>
      </p:sp>
      <p:sp>
        <p:nvSpPr>
          <p:cNvPr id="27" name="Text 15"/>
          <p:cNvSpPr/>
          <p:nvPr/>
        </p:nvSpPr>
        <p:spPr>
          <a:xfrm>
            <a:off x="1024128" y="11173968"/>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Steps:</a:t>
            </a:r>
            <a:endParaRPr lang="en-US" sz="1670" dirty="0"/>
          </a:p>
        </p:txBody>
      </p:sp>
      <p:sp>
        <p:nvSpPr>
          <p:cNvPr id="28" name="Text 16"/>
          <p:cNvSpPr/>
          <p:nvPr/>
        </p:nvSpPr>
        <p:spPr>
          <a:xfrm>
            <a:off x="6254496" y="11173968"/>
            <a:ext cx="2139696" cy="89611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Output is smoothed using a lowpass filter</a:t>
            </a:r>
            <a:endParaRPr lang="en-US" sz="1670" dirty="0"/>
          </a:p>
        </p:txBody>
      </p:sp>
      <p:sp>
        <p:nvSpPr>
          <p:cNvPr id="29" name="Text 17"/>
          <p:cNvSpPr/>
          <p:nvPr/>
        </p:nvSpPr>
        <p:spPr>
          <a:xfrm>
            <a:off x="6254496" y="9390888"/>
            <a:ext cx="2139696" cy="301752"/>
          </a:xfrm>
          <a:prstGeom prst="rect">
            <a:avLst/>
          </a:prstGeom>
          <a:noFill/>
          <a:ln/>
        </p:spPr>
        <p:txBody>
          <a:bodyPr wrap="non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    • 0 → Step down</a:t>
            </a:r>
            <a:endParaRPr lang="en-US" sz="1670" dirty="0"/>
          </a:p>
        </p:txBody>
      </p:sp>
      <p:sp>
        <p:nvSpPr>
          <p:cNvPr id="30" name="Text 18"/>
          <p:cNvSpPr/>
          <p:nvPr/>
        </p:nvSpPr>
        <p:spPr>
          <a:xfrm>
            <a:off x="6254496" y="4247388"/>
            <a:ext cx="2139696" cy="1490472"/>
          </a:xfrm>
          <a:prstGeom prst="rect">
            <a:avLst/>
          </a:prstGeom>
          <a:noFill/>
          <a:ln/>
        </p:spPr>
        <p:txBody>
          <a:bodyPr wrap="square" lIns="0" tIns="0" rIns="0" bIns="0" rtlCol="0" anchor="ctr"/>
          <a:lstStyle/>
          <a:p>
            <a:pPr marL="0" indent="0" algn="l">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The staircase steps up or down by a fixed amount (Δ) at each sampling interval</a:t>
            </a:r>
            <a:endParaRPr lang="en-US" sz="1670" dirty="0"/>
          </a:p>
        </p:txBody>
      </p:sp>
      <p:sp>
        <p:nvSpPr>
          <p:cNvPr id="31" name="Text 19"/>
          <p:cNvSpPr/>
          <p:nvPr/>
        </p:nvSpPr>
        <p:spPr>
          <a:xfrm>
            <a:off x="786384" y="62179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Delta Modulation</a:t>
            </a:r>
            <a:endParaRPr lang="en-US" sz="4400" dirty="0">
              <a:latin typeface="Cambria" panose="02040503050406030204" pitchFamily="18" charset="0"/>
              <a:ea typeface="Cambria" panose="02040503050406030204" pitchFamily="18" charset="0"/>
            </a:endParaRPr>
          </a:p>
        </p:txBody>
      </p:sp>
      <p:sp>
        <p:nvSpPr>
          <p:cNvPr id="32" name="Text 20"/>
          <p:cNvSpPr/>
          <p:nvPr/>
        </p:nvSpPr>
        <p:spPr>
          <a:xfrm>
            <a:off x="2020824" y="32054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1</a:t>
            </a:r>
            <a:endParaRPr lang="en-US" sz="2090" dirty="0"/>
          </a:p>
        </p:txBody>
      </p:sp>
      <p:sp>
        <p:nvSpPr>
          <p:cNvPr id="33" name="Text 21"/>
          <p:cNvSpPr/>
          <p:nvPr/>
        </p:nvSpPr>
        <p:spPr>
          <a:xfrm>
            <a:off x="7242048" y="3205480"/>
            <a:ext cx="155448" cy="393192"/>
          </a:xfrm>
          <a:prstGeom prst="rect">
            <a:avLst/>
          </a:prstGeom>
          <a:noFill/>
          <a:ln/>
        </p:spPr>
        <p:txBody>
          <a:bodyPr wrap="none" lIns="0" tIns="0" rIns="0" bIns="0" rtlCol="0" anchor="ctr"/>
          <a:lstStyle/>
          <a:p>
            <a:pPr marL="0" indent="0" algn="ctr">
              <a:lnSpc>
                <a:spcPts val="2510"/>
              </a:lnSpc>
              <a:buNone/>
            </a:pPr>
            <a:r>
              <a:rPr lang="en-US" sz="2090" dirty="0">
                <a:solidFill>
                  <a:srgbClr val="404040"/>
                </a:solidFill>
                <a:latin typeface="思源黑体-思源黑体-Medium" pitchFamily="34" charset="0"/>
                <a:ea typeface="思源黑体-思源黑体-Medium" pitchFamily="34" charset="-122"/>
                <a:cs typeface="思源黑体-思源黑体-Medium" pitchFamily="34" charset="-120"/>
              </a:rPr>
              <a:t>3</a:t>
            </a:r>
            <a:endParaRPr lang="en-US" sz="2090" dirty="0"/>
          </a:p>
        </p:txBody>
      </p:sp>
      <p:pic>
        <p:nvPicPr>
          <p:cNvPr id="34" name="Picture 33">
            <a:extLst>
              <a:ext uri="{FF2B5EF4-FFF2-40B4-BE49-F238E27FC236}">
                <a16:creationId xmlns:a16="http://schemas.microsoft.com/office/drawing/2014/main" id="{C8E29FD5-F0F1-44B7-B83F-C8D215F028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4032992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7470648" y="2715768"/>
            <a:ext cx="438912" cy="466344"/>
          </a:xfrm>
          <a:prstGeom prst="rect">
            <a:avLst/>
          </a:prstGeom>
        </p:spPr>
      </p:pic>
      <p:pic>
        <p:nvPicPr>
          <p:cNvPr id="5" name="Image 3" descr="preencoded.png"/>
          <p:cNvPicPr>
            <a:picLocks noChangeAspect="1"/>
          </p:cNvPicPr>
          <p:nvPr/>
        </p:nvPicPr>
        <p:blipFill>
          <a:blip r:embed="rId4"/>
          <a:stretch>
            <a:fillRect/>
          </a:stretch>
        </p:blipFill>
        <p:spPr>
          <a:xfrm>
            <a:off x="795528" y="2715768"/>
            <a:ext cx="438912" cy="466344"/>
          </a:xfrm>
          <a:prstGeom prst="rect">
            <a:avLst/>
          </a:prstGeom>
        </p:spPr>
      </p:pic>
      <p:sp>
        <p:nvSpPr>
          <p:cNvPr id="6" name="Text 0"/>
          <p:cNvSpPr/>
          <p:nvPr/>
        </p:nvSpPr>
        <p:spPr>
          <a:xfrm>
            <a:off x="8202168" y="6108192"/>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Mismatch = Error detected</a:t>
            </a:r>
            <a:endParaRPr lang="en-US" sz="2000" dirty="0">
              <a:latin typeface="+mj-lt"/>
            </a:endParaRPr>
          </a:p>
        </p:txBody>
      </p:sp>
      <p:sp>
        <p:nvSpPr>
          <p:cNvPr id="7" name="Text 1"/>
          <p:cNvSpPr/>
          <p:nvPr/>
        </p:nvSpPr>
        <p:spPr>
          <a:xfrm>
            <a:off x="8202168" y="3218688"/>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a:t>
            </a:r>
            <a:r>
              <a:rPr lang="en-US" sz="2000" b="1" dirty="0">
                <a:latin typeface="+mj-lt"/>
                <a:ea typeface="思源黑体-思源黑体-Medium" pitchFamily="34" charset="-122"/>
                <a:cs typeface="思源黑体-思源黑体-Medium" pitchFamily="34" charset="-120"/>
              </a:rPr>
              <a:t>Transmitter</a:t>
            </a:r>
            <a:r>
              <a:rPr lang="en-US" sz="2000" dirty="0">
                <a:latin typeface="+mj-lt"/>
                <a:ea typeface="思源黑体-思源黑体-Medium" pitchFamily="34" charset="-122"/>
                <a:cs typeface="思源黑体-思源黑体-Medium" pitchFamily="34" charset="-120"/>
              </a:rPr>
              <a:t>:</a:t>
            </a:r>
            <a:endParaRPr lang="en-US" sz="2000" dirty="0">
              <a:latin typeface="+mj-lt"/>
            </a:endParaRPr>
          </a:p>
        </p:txBody>
      </p:sp>
      <p:sp>
        <p:nvSpPr>
          <p:cNvPr id="8" name="Text 2"/>
          <p:cNvSpPr/>
          <p:nvPr/>
        </p:nvSpPr>
        <p:spPr>
          <a:xfrm>
            <a:off x="1536192" y="2752344"/>
            <a:ext cx="5632704" cy="338328"/>
          </a:xfrm>
          <a:prstGeom prst="rect">
            <a:avLst/>
          </a:prstGeom>
          <a:noFill/>
          <a:ln/>
        </p:spPr>
        <p:txBody>
          <a:bodyPr wrap="none" lIns="0" tIns="0" rIns="0" bIns="0" rtlCol="0" anchor="ctr"/>
          <a:lstStyle/>
          <a:p>
            <a:pPr marL="0" indent="0" algn="l">
              <a:lnSpc>
                <a:spcPts val="2620"/>
              </a:lnSpc>
              <a:buNone/>
            </a:pPr>
            <a:r>
              <a:rPr lang="en-US" sz="2000" b="1" dirty="0">
                <a:latin typeface="+mj-lt"/>
                <a:ea typeface="思源黑体-思源黑体-Medium" pitchFamily="34" charset="-122"/>
                <a:cs typeface="思源黑体-思源黑体-Medium" pitchFamily="34" charset="-120"/>
              </a:rPr>
              <a:t>Types of Error</a:t>
            </a:r>
            <a:endParaRPr lang="en-US" sz="2000" b="1" dirty="0">
              <a:latin typeface="+mj-lt"/>
            </a:endParaRPr>
          </a:p>
        </p:txBody>
      </p:sp>
      <p:sp>
        <p:nvSpPr>
          <p:cNvPr id="9" name="Text 3"/>
          <p:cNvSpPr/>
          <p:nvPr/>
        </p:nvSpPr>
        <p:spPr>
          <a:xfrm>
            <a:off x="8202168" y="5678424"/>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Compare with received check bits</a:t>
            </a:r>
            <a:endParaRPr lang="en-US" sz="2000" dirty="0">
              <a:latin typeface="+mj-lt"/>
            </a:endParaRPr>
          </a:p>
        </p:txBody>
      </p:sp>
      <p:sp>
        <p:nvSpPr>
          <p:cNvPr id="10" name="Text 4"/>
          <p:cNvSpPr/>
          <p:nvPr/>
        </p:nvSpPr>
        <p:spPr>
          <a:xfrm>
            <a:off x="7626096" y="2752344"/>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1" name="Text 5"/>
          <p:cNvSpPr/>
          <p:nvPr/>
        </p:nvSpPr>
        <p:spPr>
          <a:xfrm>
            <a:off x="1536192" y="3218688"/>
            <a:ext cx="5632704" cy="603504"/>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a:t>
            </a:r>
            <a:r>
              <a:rPr lang="en-US" sz="2000" b="1" dirty="0">
                <a:latin typeface="+mj-lt"/>
                <a:ea typeface="思源黑体-思源黑体-Medium" pitchFamily="34" charset="-122"/>
                <a:cs typeface="思源黑体-思源黑体-Medium" pitchFamily="34" charset="-120"/>
              </a:rPr>
              <a:t>Frame</a:t>
            </a:r>
            <a:r>
              <a:rPr lang="en-US" sz="2000" dirty="0">
                <a:latin typeface="+mj-lt"/>
                <a:ea typeface="思源黑体-思源黑体-Medium" pitchFamily="34" charset="-122"/>
                <a:cs typeface="思源黑体-思源黑体-Medium" pitchFamily="34" charset="-120"/>
              </a:rPr>
              <a:t>: A contiguous block of bits transmitted together.</a:t>
            </a:r>
            <a:endParaRPr lang="en-US" sz="2000" dirty="0">
              <a:latin typeface="+mj-lt"/>
            </a:endParaRPr>
          </a:p>
        </p:txBody>
      </p:sp>
      <p:sp>
        <p:nvSpPr>
          <p:cNvPr id="12" name="Text 6"/>
          <p:cNvSpPr/>
          <p:nvPr/>
        </p:nvSpPr>
        <p:spPr>
          <a:xfrm>
            <a:off x="8202168" y="2752344"/>
            <a:ext cx="5632704" cy="338328"/>
          </a:xfrm>
          <a:prstGeom prst="rect">
            <a:avLst/>
          </a:prstGeom>
          <a:noFill/>
          <a:ln/>
        </p:spPr>
        <p:txBody>
          <a:bodyPr wrap="none" lIns="0" tIns="0" rIns="0" bIns="0" rtlCol="0" anchor="ctr"/>
          <a:lstStyle/>
          <a:p>
            <a:pPr marL="0" indent="0" algn="l">
              <a:lnSpc>
                <a:spcPts val="2620"/>
              </a:lnSpc>
              <a:buNone/>
            </a:pPr>
            <a:r>
              <a:rPr lang="en-US" sz="2000" b="1" dirty="0">
                <a:latin typeface="+mj-lt"/>
                <a:ea typeface="思源黑体-思源黑体-Medium" pitchFamily="34" charset="-122"/>
                <a:cs typeface="思源黑体-思源黑体-Medium" pitchFamily="34" charset="-120"/>
              </a:rPr>
              <a:t>Principle of Error Detection</a:t>
            </a:r>
            <a:endParaRPr lang="en-US" sz="2000" b="1" dirty="0">
              <a:latin typeface="+mj-lt"/>
            </a:endParaRPr>
          </a:p>
        </p:txBody>
      </p:sp>
      <p:sp>
        <p:nvSpPr>
          <p:cNvPr id="13" name="Text 7"/>
          <p:cNvSpPr/>
          <p:nvPr/>
        </p:nvSpPr>
        <p:spPr>
          <a:xfrm>
            <a:off x="1536192" y="3950208"/>
            <a:ext cx="5632704" cy="603504"/>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a:t>
            </a:r>
            <a:r>
              <a:rPr lang="en-US" sz="2000" b="1" dirty="0">
                <a:latin typeface="+mj-lt"/>
                <a:ea typeface="思源黑体-思源黑体-Medium" pitchFamily="34" charset="-122"/>
                <a:cs typeface="思源黑体-思源黑体-Medium" pitchFamily="34" charset="-120"/>
              </a:rPr>
              <a:t>Bit Error Rate (BER), Pb</a:t>
            </a:r>
            <a:r>
              <a:rPr lang="en-US" sz="2000" dirty="0">
                <a:latin typeface="+mj-lt"/>
                <a:ea typeface="思源黑体-思源黑体-Medium" pitchFamily="34" charset="-122"/>
                <a:cs typeface="思源黑体-思源黑体-Medium" pitchFamily="34" charset="-120"/>
              </a:rPr>
              <a:t>: Probability that a single bit is received in error.</a:t>
            </a:r>
            <a:endParaRPr lang="en-US" sz="2000" dirty="0">
              <a:latin typeface="+mj-lt"/>
            </a:endParaRPr>
          </a:p>
        </p:txBody>
      </p:sp>
      <p:sp>
        <p:nvSpPr>
          <p:cNvPr id="14" name="Text 8"/>
          <p:cNvSpPr/>
          <p:nvPr/>
        </p:nvSpPr>
        <p:spPr>
          <a:xfrm>
            <a:off x="950976" y="2752344"/>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5" name="Text 9"/>
          <p:cNvSpPr/>
          <p:nvPr/>
        </p:nvSpPr>
        <p:spPr>
          <a:xfrm>
            <a:off x="8202168" y="4379976"/>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a:t>
            </a:r>
            <a:r>
              <a:rPr lang="en-US" sz="2000" b="1" dirty="0">
                <a:latin typeface="+mj-lt"/>
                <a:ea typeface="思源黑体-思源黑体-Medium" pitchFamily="34" charset="-122"/>
                <a:cs typeface="思源黑体-思源黑体-Medium" pitchFamily="34" charset="-120"/>
              </a:rPr>
              <a:t>Receiver</a:t>
            </a:r>
            <a:r>
              <a:rPr lang="en-US" sz="2000" dirty="0">
                <a:latin typeface="+mj-lt"/>
                <a:ea typeface="思源黑体-思源黑体-Medium" pitchFamily="34" charset="-122"/>
                <a:cs typeface="思源黑体-思源黑体-Medium" pitchFamily="34" charset="-120"/>
              </a:rPr>
              <a:t>:</a:t>
            </a:r>
            <a:endParaRPr lang="en-US" sz="2000" dirty="0">
              <a:latin typeface="+mj-lt"/>
            </a:endParaRPr>
          </a:p>
        </p:txBody>
      </p:sp>
      <p:sp>
        <p:nvSpPr>
          <p:cNvPr id="16" name="Text 10"/>
          <p:cNvSpPr/>
          <p:nvPr/>
        </p:nvSpPr>
        <p:spPr>
          <a:xfrm>
            <a:off x="431800" y="290322"/>
            <a:ext cx="5803900" cy="733044"/>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Cambria" panose="02040503050406030204" pitchFamily="18" charset="0"/>
                <a:ea typeface="Cambria" panose="02040503050406030204" pitchFamily="18" charset="0"/>
                <a:cs typeface="思源黑体-思源黑体-Medium" pitchFamily="34" charset="-120"/>
              </a:rPr>
              <a:t>Types of Error</a:t>
            </a:r>
            <a:endParaRPr lang="en-US" sz="4190" dirty="0">
              <a:latin typeface="Cambria" panose="02040503050406030204" pitchFamily="18" charset="0"/>
              <a:ea typeface="Cambria" panose="02040503050406030204" pitchFamily="18" charset="0"/>
            </a:endParaRPr>
          </a:p>
        </p:txBody>
      </p:sp>
      <p:sp>
        <p:nvSpPr>
          <p:cNvPr id="17" name="Text 11"/>
          <p:cNvSpPr/>
          <p:nvPr/>
        </p:nvSpPr>
        <p:spPr>
          <a:xfrm>
            <a:off x="8202168" y="3648456"/>
            <a:ext cx="5632704" cy="603504"/>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Data (k bits) + Check bits (n - k) → Transmit n-bit frame</a:t>
            </a:r>
            <a:endParaRPr lang="en-US" sz="2000" dirty="0">
              <a:latin typeface="+mj-lt"/>
            </a:endParaRPr>
          </a:p>
        </p:txBody>
      </p:sp>
      <p:sp>
        <p:nvSpPr>
          <p:cNvPr id="18" name="Text 12"/>
          <p:cNvSpPr/>
          <p:nvPr/>
        </p:nvSpPr>
        <p:spPr>
          <a:xfrm>
            <a:off x="8202168" y="4809744"/>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Extract data and check bits</a:t>
            </a:r>
            <a:endParaRPr lang="en-US" sz="2000" dirty="0">
              <a:latin typeface="+mj-lt"/>
            </a:endParaRPr>
          </a:p>
        </p:txBody>
      </p:sp>
      <p:sp>
        <p:nvSpPr>
          <p:cNvPr id="19" name="Text 13"/>
          <p:cNvSpPr/>
          <p:nvPr/>
        </p:nvSpPr>
        <p:spPr>
          <a:xfrm>
            <a:off x="8202168" y="5248656"/>
            <a:ext cx="5632704"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Recompute check bits from received data</a:t>
            </a:r>
            <a:endParaRPr lang="en-US" sz="2000" dirty="0">
              <a:latin typeface="+mj-lt"/>
            </a:endParaRPr>
          </a:p>
        </p:txBody>
      </p:sp>
      <p:sp>
        <p:nvSpPr>
          <p:cNvPr id="20" name="Text 1">
            <a:extLst>
              <a:ext uri="{FF2B5EF4-FFF2-40B4-BE49-F238E27FC236}">
                <a16:creationId xmlns:a16="http://schemas.microsoft.com/office/drawing/2014/main" id="{D94A1652-48E9-49D4-9BE4-D78ED5CC3E81}"/>
              </a:ext>
            </a:extLst>
          </p:cNvPr>
          <p:cNvSpPr/>
          <p:nvPr/>
        </p:nvSpPr>
        <p:spPr>
          <a:xfrm>
            <a:off x="585216" y="1850263"/>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Bit errors may lead to incorrect data interpretation.</a:t>
            </a:r>
            <a:endParaRPr lang="en-US" sz="2000" dirty="0">
              <a:latin typeface="+mj-lt"/>
            </a:endParaRPr>
          </a:p>
        </p:txBody>
      </p:sp>
      <p:sp>
        <p:nvSpPr>
          <p:cNvPr id="21" name="Text 2">
            <a:extLst>
              <a:ext uri="{FF2B5EF4-FFF2-40B4-BE49-F238E27FC236}">
                <a16:creationId xmlns:a16="http://schemas.microsoft.com/office/drawing/2014/main" id="{183AA0BD-31F8-4994-9689-581A2047E6AE}"/>
              </a:ext>
            </a:extLst>
          </p:cNvPr>
          <p:cNvSpPr/>
          <p:nvPr/>
        </p:nvSpPr>
        <p:spPr>
          <a:xfrm>
            <a:off x="585216" y="1416939"/>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Transmission errors can occur due to noise, interference, or attenuation.</a:t>
            </a:r>
            <a:endParaRPr lang="en-US" sz="2000" dirty="0">
              <a:latin typeface="+mj-lt"/>
            </a:endParaRPr>
          </a:p>
        </p:txBody>
      </p:sp>
      <p:pic>
        <p:nvPicPr>
          <p:cNvPr id="22" name="Picture 21">
            <a:extLst>
              <a:ext uri="{FF2B5EF4-FFF2-40B4-BE49-F238E27FC236}">
                <a16:creationId xmlns:a16="http://schemas.microsoft.com/office/drawing/2014/main" id="{116344C8-72B4-458E-A2B8-4986323EE5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612900" y="1028700"/>
            <a:ext cx="9931400" cy="6744716"/>
          </a:xfrm>
          <a:prstGeom prst="rect">
            <a:avLst/>
          </a:prstGeom>
        </p:spPr>
      </p:pic>
      <p:sp>
        <p:nvSpPr>
          <p:cNvPr id="4" name="Text 0"/>
          <p:cNvSpPr/>
          <p:nvPr/>
        </p:nvSpPr>
        <p:spPr>
          <a:xfrm>
            <a:off x="545084" y="456184"/>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Error Detection Process</a:t>
            </a:r>
            <a:endParaRPr lang="en-US" sz="44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213F68D1-8A99-4E21-9124-C78F3211BD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9" name="Text 0"/>
          <p:cNvSpPr/>
          <p:nvPr/>
        </p:nvSpPr>
        <p:spPr>
          <a:xfrm>
            <a:off x="7626096" y="4279392"/>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0" name="Text 1"/>
          <p:cNvSpPr/>
          <p:nvPr/>
        </p:nvSpPr>
        <p:spPr>
          <a:xfrm>
            <a:off x="950976" y="1831848"/>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1" name="Text 2"/>
          <p:cNvSpPr/>
          <p:nvPr/>
        </p:nvSpPr>
        <p:spPr>
          <a:xfrm>
            <a:off x="6973317" y="5217160"/>
            <a:ext cx="5632704" cy="603504"/>
          </a:xfrm>
          <a:prstGeom prst="rect">
            <a:avLst/>
          </a:prstGeom>
          <a:noFill/>
          <a:ln/>
        </p:spPr>
        <p:txBody>
          <a:bodyPr wrap="square" lIns="0" tIns="0" rIns="0" bIns="0" rtlCol="0" anchor="ctr"/>
          <a:lstStyle/>
          <a:p>
            <a:pPr marL="0" indent="0" algn="l">
              <a:lnSpc>
                <a:spcPts val="2340"/>
              </a:lnSpc>
              <a:buNone/>
            </a:pPr>
            <a:r>
              <a:rPr lang="en-US" sz="2400" b="1" dirty="0">
                <a:latin typeface="+mj-lt"/>
                <a:ea typeface="思源黑体-思源黑体-Medium" pitchFamily="34" charset="-122"/>
                <a:cs typeface="思源黑体-思源黑体-Medium" pitchFamily="34" charset="-120"/>
              </a:rPr>
              <a:t>Even Parity </a:t>
            </a:r>
            <a:r>
              <a:rPr lang="en-US" sz="2400" dirty="0">
                <a:latin typeface="+mj-lt"/>
                <a:ea typeface="思源黑体-思源黑体-Medium" pitchFamily="34" charset="-122"/>
                <a:cs typeface="思源黑体-思源黑体-Medium" pitchFamily="34" charset="-120"/>
              </a:rPr>
              <a:t>- Parity bit ensures even number of 1s in data</a:t>
            </a:r>
            <a:endParaRPr lang="en-US" sz="2400" dirty="0">
              <a:latin typeface="+mj-lt"/>
            </a:endParaRPr>
          </a:p>
        </p:txBody>
      </p:sp>
      <p:sp>
        <p:nvSpPr>
          <p:cNvPr id="12" name="Text 3"/>
          <p:cNvSpPr/>
          <p:nvPr/>
        </p:nvSpPr>
        <p:spPr>
          <a:xfrm>
            <a:off x="1536192" y="4039616"/>
            <a:ext cx="5632704" cy="603504"/>
          </a:xfrm>
          <a:prstGeom prst="rect">
            <a:avLst/>
          </a:prstGeom>
          <a:noFill/>
          <a:ln/>
        </p:spPr>
        <p:txBody>
          <a:bodyPr wrap="square" lIns="0" tIns="0" rIns="0" bIns="0" rtlCol="0" anchor="ctr"/>
          <a:lstStyle/>
          <a:p>
            <a:pPr marL="0" indent="0" algn="l">
              <a:lnSpc>
                <a:spcPts val="2340"/>
              </a:lnSpc>
              <a:buNone/>
            </a:pPr>
            <a:r>
              <a:rPr lang="en-US" sz="2400" b="1" dirty="0">
                <a:latin typeface="+mj-lt"/>
                <a:ea typeface="思源黑体-思源黑体-Medium" pitchFamily="34" charset="-122"/>
                <a:cs typeface="思源黑体-思源黑体-Medium" pitchFamily="34" charset="-120"/>
              </a:rPr>
              <a:t>Odd Parity </a:t>
            </a:r>
            <a:r>
              <a:rPr lang="en-US" sz="2400" dirty="0">
                <a:latin typeface="+mj-lt"/>
                <a:ea typeface="思源黑体-思源黑体-Medium" pitchFamily="34" charset="-122"/>
                <a:cs typeface="思源黑体-思源黑体-Medium" pitchFamily="34" charset="-120"/>
              </a:rPr>
              <a:t>- Parity bit ensures odd number of 1s in data.</a:t>
            </a:r>
            <a:endParaRPr lang="en-US" sz="2400" dirty="0">
              <a:latin typeface="+mj-lt"/>
            </a:endParaRPr>
          </a:p>
        </p:txBody>
      </p:sp>
      <p:sp>
        <p:nvSpPr>
          <p:cNvPr id="13" name="Text 4"/>
          <p:cNvSpPr/>
          <p:nvPr/>
        </p:nvSpPr>
        <p:spPr>
          <a:xfrm>
            <a:off x="6949949" y="2860040"/>
            <a:ext cx="5632704" cy="603504"/>
          </a:xfrm>
          <a:prstGeom prst="rect">
            <a:avLst/>
          </a:prstGeom>
          <a:noFill/>
          <a:ln/>
        </p:spPr>
        <p:txBody>
          <a:bodyPr wrap="square" lIns="0" tIns="0" rIns="0" bIns="0" rtlCol="0" anchor="ctr"/>
          <a:lstStyle/>
          <a:p>
            <a:pPr marL="0" indent="0" algn="l">
              <a:lnSpc>
                <a:spcPts val="2340"/>
              </a:lnSpc>
              <a:buNone/>
            </a:pPr>
            <a:r>
              <a:rPr lang="en-US" sz="2400" b="1" dirty="0">
                <a:latin typeface="+mj-lt"/>
                <a:ea typeface="思源黑体-思源黑体-Medium" pitchFamily="34" charset="-122"/>
                <a:cs typeface="思源黑体-思源黑体-Medium" pitchFamily="34" charset="-120"/>
              </a:rPr>
              <a:t>Goal</a:t>
            </a:r>
            <a:r>
              <a:rPr lang="en-US" sz="2400" dirty="0">
                <a:latin typeface="+mj-lt"/>
                <a:ea typeface="思源黑体-思源黑体-Medium" pitchFamily="34" charset="-122"/>
                <a:cs typeface="思源黑体-思源黑体-Medium" pitchFamily="34" charset="-120"/>
              </a:rPr>
              <a:t>: Ensure the total number of 1s is either even or odd.</a:t>
            </a:r>
            <a:endParaRPr lang="en-US" sz="2400" dirty="0">
              <a:latin typeface="+mj-lt"/>
            </a:endParaRPr>
          </a:p>
        </p:txBody>
      </p:sp>
      <p:sp>
        <p:nvSpPr>
          <p:cNvPr id="14" name="Text 5"/>
          <p:cNvSpPr/>
          <p:nvPr/>
        </p:nvSpPr>
        <p:spPr>
          <a:xfrm>
            <a:off x="7626096" y="3127248"/>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5" name="Text 6"/>
          <p:cNvSpPr/>
          <p:nvPr/>
        </p:nvSpPr>
        <p:spPr>
          <a:xfrm>
            <a:off x="1536192" y="1831848"/>
            <a:ext cx="5632704" cy="603504"/>
          </a:xfrm>
          <a:prstGeom prst="rect">
            <a:avLst/>
          </a:prstGeom>
          <a:noFill/>
          <a:ln/>
        </p:spPr>
        <p:txBody>
          <a:bodyPr wrap="square" lIns="0" tIns="0" rIns="0" bIns="0" rtlCol="0" anchor="ctr"/>
          <a:lstStyle/>
          <a:p>
            <a:pPr marL="0" indent="0" algn="l">
              <a:lnSpc>
                <a:spcPts val="2340"/>
              </a:lnSpc>
              <a:buNone/>
            </a:pPr>
            <a:r>
              <a:rPr lang="en-US" sz="2400" b="1" dirty="0">
                <a:latin typeface="+mj-lt"/>
                <a:ea typeface="思源黑体-思源黑体-Medium" pitchFamily="34" charset="-122"/>
                <a:cs typeface="思源黑体-思源黑体-Medium" pitchFamily="34" charset="-120"/>
              </a:rPr>
              <a:t>Parity Bit</a:t>
            </a:r>
            <a:r>
              <a:rPr lang="en-US" sz="2400" dirty="0">
                <a:latin typeface="+mj-lt"/>
                <a:ea typeface="思源黑体-思源黑体-Medium" pitchFamily="34" charset="-122"/>
                <a:cs typeface="思源黑体-思源黑体-Medium" pitchFamily="34" charset="-120"/>
              </a:rPr>
              <a:t>: A single bit added to a block of data (e.g., a character) to help detect errors.</a:t>
            </a:r>
            <a:endParaRPr lang="en-US" sz="2400" dirty="0">
              <a:latin typeface="+mj-lt"/>
            </a:endParaRPr>
          </a:p>
        </p:txBody>
      </p:sp>
      <p:sp>
        <p:nvSpPr>
          <p:cNvPr id="16" name="Text 7"/>
          <p:cNvSpPr/>
          <p:nvPr/>
        </p:nvSpPr>
        <p:spPr>
          <a:xfrm>
            <a:off x="950976" y="4279392"/>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sp>
        <p:nvSpPr>
          <p:cNvPr id="17" name="Text 8"/>
          <p:cNvSpPr/>
          <p:nvPr/>
        </p:nvSpPr>
        <p:spPr>
          <a:xfrm>
            <a:off x="635508" y="521208"/>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Parity Check</a:t>
            </a:r>
            <a:endParaRPr lang="en-US" sz="4400" dirty="0">
              <a:latin typeface="Cambria" panose="02040503050406030204" pitchFamily="18" charset="0"/>
              <a:ea typeface="Cambria" panose="02040503050406030204" pitchFamily="18" charset="0"/>
            </a:endParaRPr>
          </a:p>
        </p:txBody>
      </p:sp>
      <p:sp>
        <p:nvSpPr>
          <p:cNvPr id="18" name="Text 9"/>
          <p:cNvSpPr/>
          <p:nvPr/>
        </p:nvSpPr>
        <p:spPr>
          <a:xfrm>
            <a:off x="8202168" y="1831848"/>
            <a:ext cx="5632704" cy="603504"/>
          </a:xfrm>
          <a:prstGeom prst="rect">
            <a:avLst/>
          </a:prstGeom>
          <a:noFill/>
          <a:ln/>
        </p:spPr>
        <p:txBody>
          <a:bodyPr wrap="square" lIns="0" tIns="0" rIns="0" bIns="0" rtlCol="0" anchor="ctr"/>
          <a:lstStyle/>
          <a:p>
            <a:pPr marL="0" indent="0" algn="l">
              <a:lnSpc>
                <a:spcPts val="2340"/>
              </a:lnSpc>
              <a:buNone/>
            </a:pPr>
            <a:endParaRPr lang="en-US" sz="2000" dirty="0">
              <a:latin typeface="+mj-lt"/>
            </a:endParaRPr>
          </a:p>
        </p:txBody>
      </p:sp>
      <p:sp>
        <p:nvSpPr>
          <p:cNvPr id="19" name="Text 10"/>
          <p:cNvSpPr/>
          <p:nvPr/>
        </p:nvSpPr>
        <p:spPr>
          <a:xfrm>
            <a:off x="950976" y="5440680"/>
            <a:ext cx="155448" cy="393192"/>
          </a:xfrm>
          <a:prstGeom prst="rect">
            <a:avLst/>
          </a:prstGeom>
          <a:noFill/>
          <a:ln/>
        </p:spPr>
        <p:txBody>
          <a:bodyPr wrap="none" lIns="0" tIns="0" rIns="0" bIns="0" rtlCol="0" anchor="ctr"/>
          <a:lstStyle/>
          <a:p>
            <a:pPr marL="0" indent="0" algn="ctr">
              <a:lnSpc>
                <a:spcPts val="2510"/>
              </a:lnSpc>
              <a:buNone/>
            </a:pPr>
            <a:endParaRPr lang="en-US" sz="2090" dirty="0"/>
          </a:p>
        </p:txBody>
      </p:sp>
      <p:pic>
        <p:nvPicPr>
          <p:cNvPr id="22" name="Picture 21">
            <a:extLst>
              <a:ext uri="{FF2B5EF4-FFF2-40B4-BE49-F238E27FC236}">
                <a16:creationId xmlns:a16="http://schemas.microsoft.com/office/drawing/2014/main" id="{24AD2AE0-6EBD-4D31-98CD-5D3E398C9A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1024128" y="4841748"/>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Simple and Effective in detecting single-bit errors</a:t>
            </a:r>
            <a:endParaRPr lang="en-US" sz="2000" dirty="0">
              <a:latin typeface="+mj-lt"/>
            </a:endParaRPr>
          </a:p>
        </p:txBody>
      </p:sp>
      <p:sp>
        <p:nvSpPr>
          <p:cNvPr id="5" name="Text 1"/>
          <p:cNvSpPr/>
          <p:nvPr/>
        </p:nvSpPr>
        <p:spPr>
          <a:xfrm>
            <a:off x="1024128" y="2958084"/>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Since odd parity, odd number of 1s required.</a:t>
            </a:r>
            <a:endParaRPr lang="en-US" sz="2000" dirty="0">
              <a:latin typeface="+mj-lt"/>
            </a:endParaRPr>
          </a:p>
        </p:txBody>
      </p:sp>
      <p:sp>
        <p:nvSpPr>
          <p:cNvPr id="6" name="Text 2"/>
          <p:cNvSpPr/>
          <p:nvPr/>
        </p:nvSpPr>
        <p:spPr>
          <a:xfrm>
            <a:off x="1024128" y="4375404"/>
            <a:ext cx="12591288" cy="338328"/>
          </a:xfrm>
          <a:prstGeom prst="rect">
            <a:avLst/>
          </a:prstGeom>
          <a:noFill/>
          <a:ln/>
        </p:spPr>
        <p:txBody>
          <a:bodyPr wrap="none" lIns="0" tIns="0" rIns="0" bIns="0" rtlCol="0" anchor="ctr"/>
          <a:lstStyle/>
          <a:p>
            <a:pPr marL="0" indent="0" algn="l">
              <a:lnSpc>
                <a:spcPct val="150000"/>
              </a:lnSpc>
              <a:buNone/>
            </a:pPr>
            <a:r>
              <a:rPr lang="en-US" sz="2000" b="1" dirty="0">
                <a:latin typeface="+mj-lt"/>
                <a:ea typeface="思源黑体-思源黑体-Medium" pitchFamily="34" charset="-122"/>
                <a:cs typeface="思源黑体-思源黑体-Medium" pitchFamily="34" charset="-120"/>
              </a:rPr>
              <a:t>Advantages</a:t>
            </a:r>
            <a:endParaRPr lang="en-US" sz="2000" b="1" dirty="0">
              <a:latin typeface="+mj-lt"/>
            </a:endParaRPr>
          </a:p>
        </p:txBody>
      </p:sp>
      <p:sp>
        <p:nvSpPr>
          <p:cNvPr id="7" name="Text 3"/>
          <p:cNvSpPr/>
          <p:nvPr/>
        </p:nvSpPr>
        <p:spPr>
          <a:xfrm>
            <a:off x="1024128" y="2404872"/>
            <a:ext cx="12591288" cy="338328"/>
          </a:xfrm>
          <a:prstGeom prst="rect">
            <a:avLst/>
          </a:prstGeom>
          <a:noFill/>
          <a:ln/>
        </p:spPr>
        <p:txBody>
          <a:bodyPr wrap="none" lIns="0" tIns="0" rIns="0" bIns="0" rtlCol="0" anchor="ctr"/>
          <a:lstStyle/>
          <a:p>
            <a:pPr marL="0" indent="0" algn="l">
              <a:lnSpc>
                <a:spcPts val="2620"/>
              </a:lnSpc>
              <a:buNone/>
            </a:pPr>
            <a:endParaRPr lang="en-US" sz="2000" dirty="0">
              <a:latin typeface="+mj-lt"/>
            </a:endParaRPr>
          </a:p>
        </p:txBody>
      </p:sp>
      <p:sp>
        <p:nvSpPr>
          <p:cNvPr id="8" name="Text 4"/>
          <p:cNvSpPr/>
          <p:nvPr/>
        </p:nvSpPr>
        <p:spPr>
          <a:xfrm>
            <a:off x="786384" y="136245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Parity Check-</a:t>
            </a:r>
            <a:r>
              <a:rPr lang="en-US" sz="4000" dirty="0">
                <a:solidFill>
                  <a:srgbClr val="183983"/>
                </a:solidFill>
                <a:latin typeface="Cambria" panose="02040503050406030204" pitchFamily="18" charset="0"/>
                <a:ea typeface="Cambria" panose="02040503050406030204" pitchFamily="18" charset="0"/>
                <a:cs typeface="思源黑体-思源黑体-Medium" pitchFamily="34" charset="-120"/>
              </a:rPr>
              <a:t>Example for Odd Parity</a:t>
            </a:r>
            <a:endParaRPr lang="en-US" sz="4000" dirty="0">
              <a:latin typeface="Cambria" panose="02040503050406030204" pitchFamily="18" charset="0"/>
              <a:ea typeface="Cambria" panose="02040503050406030204" pitchFamily="18" charset="0"/>
            </a:endParaRPr>
          </a:p>
        </p:txBody>
      </p:sp>
      <p:sp>
        <p:nvSpPr>
          <p:cNvPr id="9" name="Text 5"/>
          <p:cNvSpPr/>
          <p:nvPr/>
        </p:nvSpPr>
        <p:spPr>
          <a:xfrm>
            <a:off x="1024128" y="2528316"/>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Character: G → Binary: 1110001 (7 bits) - total number of 1s in G are 4.</a:t>
            </a:r>
            <a:endParaRPr lang="en-US" sz="2000" dirty="0">
              <a:latin typeface="+mj-lt"/>
            </a:endParaRPr>
          </a:p>
        </p:txBody>
      </p:sp>
      <p:sp>
        <p:nvSpPr>
          <p:cNvPr id="10" name="Text 6"/>
          <p:cNvSpPr/>
          <p:nvPr/>
        </p:nvSpPr>
        <p:spPr>
          <a:xfrm>
            <a:off x="1024128" y="3826764"/>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If total 1s remain odd → No error detected, else error detected.</a:t>
            </a:r>
            <a:endParaRPr lang="en-US" sz="2000" dirty="0">
              <a:latin typeface="+mj-lt"/>
            </a:endParaRPr>
          </a:p>
        </p:txBody>
      </p:sp>
      <p:sp>
        <p:nvSpPr>
          <p:cNvPr id="11" name="Text 7"/>
          <p:cNvSpPr/>
          <p:nvPr/>
        </p:nvSpPr>
        <p:spPr>
          <a:xfrm>
            <a:off x="1024128" y="5865876"/>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Cannot detect even-numbered bit errors</a:t>
            </a:r>
            <a:endParaRPr lang="en-US" sz="2000" dirty="0">
              <a:latin typeface="+mj-lt"/>
            </a:endParaRPr>
          </a:p>
        </p:txBody>
      </p:sp>
      <p:sp>
        <p:nvSpPr>
          <p:cNvPr id="12" name="Text 8"/>
          <p:cNvSpPr/>
          <p:nvPr/>
        </p:nvSpPr>
        <p:spPr>
          <a:xfrm>
            <a:off x="1024128" y="5399532"/>
            <a:ext cx="12591288" cy="338328"/>
          </a:xfrm>
          <a:prstGeom prst="rect">
            <a:avLst/>
          </a:prstGeom>
          <a:noFill/>
          <a:ln/>
        </p:spPr>
        <p:txBody>
          <a:bodyPr wrap="none" lIns="0" tIns="0" rIns="0" bIns="0" rtlCol="0" anchor="ctr"/>
          <a:lstStyle/>
          <a:p>
            <a:pPr marL="0" indent="0" algn="l">
              <a:lnSpc>
                <a:spcPct val="150000"/>
              </a:lnSpc>
              <a:buNone/>
            </a:pPr>
            <a:r>
              <a:rPr lang="en-US" sz="2000" b="1" dirty="0">
                <a:latin typeface="+mj-lt"/>
                <a:ea typeface="思源黑体-思源黑体-Medium" pitchFamily="34" charset="-122"/>
                <a:cs typeface="思源黑体-思源黑体-Medium" pitchFamily="34" charset="-120"/>
              </a:rPr>
              <a:t>Limitations</a:t>
            </a:r>
            <a:endParaRPr lang="en-US" sz="2000" b="1" dirty="0">
              <a:latin typeface="+mj-lt"/>
            </a:endParaRPr>
          </a:p>
        </p:txBody>
      </p:sp>
      <p:sp>
        <p:nvSpPr>
          <p:cNvPr id="13" name="Text 9"/>
          <p:cNvSpPr/>
          <p:nvPr/>
        </p:nvSpPr>
        <p:spPr>
          <a:xfrm>
            <a:off x="1024128" y="3387852"/>
            <a:ext cx="12591288" cy="301752"/>
          </a:xfrm>
          <a:prstGeom prst="rect">
            <a:avLst/>
          </a:prstGeom>
          <a:noFill/>
          <a:ln/>
        </p:spPr>
        <p:txBody>
          <a:bodyPr wrap="none" lIns="0" tIns="0" rIns="0" bIns="0" rtlCol="0" anchor="ctr"/>
          <a:lstStyle/>
          <a:p>
            <a:pPr marL="0" indent="0" algn="l">
              <a:lnSpc>
                <a:spcPct val="150000"/>
              </a:lnSpc>
              <a:buNone/>
            </a:pPr>
            <a:r>
              <a:rPr lang="en-US" sz="2000" dirty="0">
                <a:latin typeface="+mj-lt"/>
                <a:ea typeface="思源黑体-思源黑体-Medium" pitchFamily="34" charset="-122"/>
                <a:cs typeface="思源黑体-思源黑体-Medium" pitchFamily="34" charset="-120"/>
              </a:rPr>
              <a:t>• Add a 1 as parity bit → </a:t>
            </a:r>
            <a:r>
              <a:rPr lang="en-US" sz="2000" b="1" dirty="0">
                <a:latin typeface="+mj-lt"/>
                <a:ea typeface="思源黑体-思源黑体-Medium" pitchFamily="34" charset="-122"/>
                <a:cs typeface="思源黑体-思源黑体-Medium" pitchFamily="34" charset="-120"/>
              </a:rPr>
              <a:t>1</a:t>
            </a:r>
            <a:r>
              <a:rPr lang="en-US" sz="2000" dirty="0">
                <a:latin typeface="+mj-lt"/>
                <a:ea typeface="思源黑体-思源黑体-Medium" pitchFamily="34" charset="-122"/>
                <a:cs typeface="思源黑体-思源黑体-Medium" pitchFamily="34" charset="-120"/>
              </a:rPr>
              <a:t>1110001 - Hence Transmitted byte: 11110001</a:t>
            </a:r>
            <a:endParaRPr lang="en-US" sz="2000" dirty="0">
              <a:latin typeface="+mj-lt"/>
            </a:endParaRPr>
          </a:p>
        </p:txBody>
      </p:sp>
      <p:pic>
        <p:nvPicPr>
          <p:cNvPr id="14" name="Picture 13">
            <a:extLst>
              <a:ext uri="{FF2B5EF4-FFF2-40B4-BE49-F238E27FC236}">
                <a16:creationId xmlns:a16="http://schemas.microsoft.com/office/drawing/2014/main" id="{08220082-F3A4-4CC0-9A1D-F958A5487F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1024128" y="382066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Digital logic</a:t>
            </a:r>
            <a:endParaRPr lang="en-US" sz="2000" dirty="0">
              <a:latin typeface="+mj-lt"/>
            </a:endParaRPr>
          </a:p>
        </p:txBody>
      </p:sp>
      <p:sp>
        <p:nvSpPr>
          <p:cNvPr id="5" name="Text 1"/>
          <p:cNvSpPr/>
          <p:nvPr/>
        </p:nvSpPr>
        <p:spPr>
          <a:xfrm>
            <a:off x="1024128" y="610666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if no remainder, assume no error</a:t>
            </a:r>
            <a:endParaRPr lang="en-US" sz="2000" dirty="0">
              <a:latin typeface="+mj-lt"/>
            </a:endParaRPr>
          </a:p>
        </p:txBody>
      </p:sp>
      <p:sp>
        <p:nvSpPr>
          <p:cNvPr id="6" name="Text 2"/>
          <p:cNvSpPr/>
          <p:nvPr/>
        </p:nvSpPr>
        <p:spPr>
          <a:xfrm>
            <a:off x="1024128" y="523798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Transmits n bits which is exactly divisible by some number</a:t>
            </a:r>
            <a:endParaRPr lang="en-US" sz="2000" dirty="0">
              <a:latin typeface="+mj-lt"/>
            </a:endParaRPr>
          </a:p>
        </p:txBody>
      </p:sp>
      <p:sp>
        <p:nvSpPr>
          <p:cNvPr id="7" name="Text 3"/>
          <p:cNvSpPr/>
          <p:nvPr/>
        </p:nvSpPr>
        <p:spPr>
          <a:xfrm>
            <a:off x="1024128" y="5667756"/>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Receiver divides frame by that number</a:t>
            </a:r>
            <a:endParaRPr lang="en-US" sz="2000" dirty="0">
              <a:latin typeface="+mj-lt"/>
            </a:endParaRPr>
          </a:p>
        </p:txBody>
      </p:sp>
      <p:sp>
        <p:nvSpPr>
          <p:cNvPr id="8" name="Text 4"/>
          <p:cNvSpPr/>
          <p:nvPr/>
        </p:nvSpPr>
        <p:spPr>
          <a:xfrm>
            <a:off x="1024128" y="295198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Modulo-2 arithmetic</a:t>
            </a:r>
            <a:endParaRPr lang="en-US" sz="2000" dirty="0">
              <a:latin typeface="+mj-lt"/>
            </a:endParaRPr>
          </a:p>
        </p:txBody>
      </p:sp>
      <p:sp>
        <p:nvSpPr>
          <p:cNvPr id="9" name="Text 5"/>
          <p:cNvSpPr/>
          <p:nvPr/>
        </p:nvSpPr>
        <p:spPr>
          <a:xfrm>
            <a:off x="1024128" y="197358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One of the most common and powerful error detection methods.</a:t>
            </a:r>
            <a:endParaRPr lang="en-US" sz="2000" dirty="0">
              <a:latin typeface="+mj-lt"/>
            </a:endParaRPr>
          </a:p>
        </p:txBody>
      </p:sp>
      <p:sp>
        <p:nvSpPr>
          <p:cNvPr id="10" name="Text 6"/>
          <p:cNvSpPr/>
          <p:nvPr/>
        </p:nvSpPr>
        <p:spPr>
          <a:xfrm>
            <a:off x="632968" y="452628"/>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Cyclic Redundancy Check (CRC)</a:t>
            </a:r>
            <a:endParaRPr lang="en-US" sz="4400" dirty="0">
              <a:latin typeface="Cambria" panose="02040503050406030204" pitchFamily="18" charset="0"/>
              <a:ea typeface="Cambria" panose="02040503050406030204" pitchFamily="18" charset="0"/>
            </a:endParaRPr>
          </a:p>
        </p:txBody>
      </p:sp>
      <p:sp>
        <p:nvSpPr>
          <p:cNvPr id="11" name="Text 7"/>
          <p:cNvSpPr/>
          <p:nvPr/>
        </p:nvSpPr>
        <p:spPr>
          <a:xfrm>
            <a:off x="1024128" y="252222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3 Types</a:t>
            </a:r>
            <a:endParaRPr lang="en-US" sz="2000" dirty="0">
              <a:latin typeface="+mj-lt"/>
            </a:endParaRPr>
          </a:p>
        </p:txBody>
      </p:sp>
      <p:sp>
        <p:nvSpPr>
          <p:cNvPr id="12" name="Text 8"/>
          <p:cNvSpPr/>
          <p:nvPr/>
        </p:nvSpPr>
        <p:spPr>
          <a:xfrm>
            <a:off x="1024128" y="480822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for block of k bits, transmitter generates an n-k bit frame check sequence (FCS)</a:t>
            </a:r>
            <a:endParaRPr lang="en-US" sz="2000" dirty="0">
              <a:latin typeface="+mj-lt"/>
            </a:endParaRPr>
          </a:p>
        </p:txBody>
      </p:sp>
      <p:sp>
        <p:nvSpPr>
          <p:cNvPr id="13" name="Text 9"/>
          <p:cNvSpPr/>
          <p:nvPr/>
        </p:nvSpPr>
        <p:spPr>
          <a:xfrm>
            <a:off x="1024128" y="3390900"/>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Polynomial</a:t>
            </a:r>
            <a:endParaRPr lang="en-US" sz="2000" dirty="0">
              <a:latin typeface="+mj-lt"/>
            </a:endParaRPr>
          </a:p>
        </p:txBody>
      </p:sp>
      <p:sp>
        <p:nvSpPr>
          <p:cNvPr id="14" name="Text 10"/>
          <p:cNvSpPr/>
          <p:nvPr/>
        </p:nvSpPr>
        <p:spPr>
          <a:xfrm>
            <a:off x="1024128" y="4369308"/>
            <a:ext cx="1259128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In Modulo-2 arithmetic and polynomial:</a:t>
            </a:r>
            <a:endParaRPr lang="en-US" sz="2000" dirty="0">
              <a:latin typeface="+mj-lt"/>
            </a:endParaRPr>
          </a:p>
        </p:txBody>
      </p:sp>
      <p:pic>
        <p:nvPicPr>
          <p:cNvPr id="15" name="Picture 14">
            <a:extLst>
              <a:ext uri="{FF2B5EF4-FFF2-40B4-BE49-F238E27FC236}">
                <a16:creationId xmlns:a16="http://schemas.microsoft.com/office/drawing/2014/main" id="{0A9AACB4-7E53-41D2-84FB-77072C654B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609844" y="2667508"/>
            <a:ext cx="6025896" cy="3063240"/>
          </a:xfrm>
          <a:prstGeom prst="rect">
            <a:avLst/>
          </a:prstGeom>
        </p:spPr>
      </p:pic>
      <p:pic>
        <p:nvPicPr>
          <p:cNvPr id="4" name="Image 2" descr="preencoded.png"/>
          <p:cNvPicPr>
            <a:picLocks noChangeAspect="1"/>
          </p:cNvPicPr>
          <p:nvPr/>
        </p:nvPicPr>
        <p:blipFill>
          <a:blip r:embed="rId5"/>
          <a:stretch>
            <a:fillRect/>
          </a:stretch>
        </p:blipFill>
        <p:spPr>
          <a:xfrm>
            <a:off x="6089904" y="6004052"/>
            <a:ext cx="5463542" cy="1335024"/>
          </a:xfrm>
          <a:prstGeom prst="rect">
            <a:avLst/>
          </a:prstGeom>
        </p:spPr>
      </p:pic>
      <p:pic>
        <p:nvPicPr>
          <p:cNvPr id="5" name="Image 3" descr="preencoded.png"/>
          <p:cNvPicPr>
            <a:picLocks noChangeAspect="1"/>
          </p:cNvPicPr>
          <p:nvPr/>
        </p:nvPicPr>
        <p:blipFill>
          <a:blip r:embed="rId6"/>
          <a:stretch>
            <a:fillRect/>
          </a:stretch>
        </p:blipFill>
        <p:spPr>
          <a:xfrm>
            <a:off x="1600200" y="2651760"/>
            <a:ext cx="4489704" cy="4517136"/>
          </a:xfrm>
          <a:prstGeom prst="rect">
            <a:avLst/>
          </a:prstGeom>
        </p:spPr>
      </p:pic>
      <p:sp>
        <p:nvSpPr>
          <p:cNvPr id="6" name="Text 0"/>
          <p:cNvSpPr/>
          <p:nvPr/>
        </p:nvSpPr>
        <p:spPr>
          <a:xfrm>
            <a:off x="485648" y="224028"/>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CRC Example</a:t>
            </a:r>
            <a:endParaRPr lang="en-US" sz="4400" dirty="0">
              <a:latin typeface="Cambria" panose="02040503050406030204" pitchFamily="18" charset="0"/>
              <a:ea typeface="Cambria" panose="02040503050406030204" pitchFamily="18" charset="0"/>
            </a:endParaRPr>
          </a:p>
        </p:txBody>
      </p:sp>
      <p:sp>
        <p:nvSpPr>
          <p:cNvPr id="7" name="Text 1"/>
          <p:cNvSpPr/>
          <p:nvPr/>
        </p:nvSpPr>
        <p:spPr>
          <a:xfrm>
            <a:off x="6368288" y="4123944"/>
            <a:ext cx="5559552" cy="301752"/>
          </a:xfrm>
          <a:prstGeom prst="rect">
            <a:avLst/>
          </a:prstGeom>
          <a:noFill/>
          <a:ln/>
        </p:spPr>
        <p:txBody>
          <a:bodyPr wrap="non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 P=110101=x=6 bits.</a:t>
            </a:r>
            <a:endParaRPr lang="en-US" b="1" dirty="0">
              <a:latin typeface="+mj-lt"/>
            </a:endParaRPr>
          </a:p>
        </p:txBody>
      </p:sp>
      <p:sp>
        <p:nvSpPr>
          <p:cNvPr id="8" name="Text 2"/>
          <p:cNvSpPr/>
          <p:nvPr/>
        </p:nvSpPr>
        <p:spPr>
          <a:xfrm>
            <a:off x="6368288" y="3685032"/>
            <a:ext cx="5559552" cy="301752"/>
          </a:xfrm>
          <a:prstGeom prst="rect">
            <a:avLst/>
          </a:prstGeom>
          <a:noFill/>
          <a:ln/>
        </p:spPr>
        <p:txBody>
          <a:bodyPr wrap="non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 M=1010001101=10 bits</a:t>
            </a:r>
            <a:endParaRPr lang="en-US" b="1" dirty="0">
              <a:latin typeface="+mj-lt"/>
            </a:endParaRPr>
          </a:p>
        </p:txBody>
      </p:sp>
      <p:sp>
        <p:nvSpPr>
          <p:cNvPr id="9" name="Text 3"/>
          <p:cNvSpPr/>
          <p:nvPr/>
        </p:nvSpPr>
        <p:spPr>
          <a:xfrm>
            <a:off x="6368288" y="4553712"/>
            <a:ext cx="5559552" cy="603504"/>
          </a:xfrm>
          <a:prstGeom prst="rect">
            <a:avLst/>
          </a:prstGeom>
          <a:noFill/>
          <a:ln/>
        </p:spPr>
        <p:txBody>
          <a:bodyPr wrap="squar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 Hence number of bits in FCS=y=x-1=5 bits. Append 5 zeros to M</a:t>
            </a:r>
            <a:endParaRPr lang="en-US" b="1" dirty="0">
              <a:latin typeface="+mj-lt"/>
            </a:endParaRPr>
          </a:p>
        </p:txBody>
      </p:sp>
      <p:sp>
        <p:nvSpPr>
          <p:cNvPr id="10" name="Text 4"/>
          <p:cNvSpPr/>
          <p:nvPr/>
        </p:nvSpPr>
        <p:spPr>
          <a:xfrm>
            <a:off x="705104" y="1906016"/>
            <a:ext cx="13066776" cy="539496"/>
          </a:xfrm>
          <a:prstGeom prst="rect">
            <a:avLst/>
          </a:prstGeom>
          <a:noFill/>
          <a:ln/>
        </p:spPr>
        <p:txBody>
          <a:bodyPr wrap="none" lIns="0" tIns="0" rIns="0" bIns="0" rtlCol="0" anchor="ctr"/>
          <a:lstStyle/>
          <a:p>
            <a:pPr marL="0" indent="0" algn="l">
              <a:lnSpc>
                <a:spcPts val="4190"/>
              </a:lnSpc>
              <a:buNone/>
            </a:pPr>
            <a:r>
              <a:rPr lang="en-US" sz="3350" dirty="0">
                <a:solidFill>
                  <a:srgbClr val="183983"/>
                </a:solidFill>
                <a:latin typeface="思源黑体-思源黑体-Medium" pitchFamily="34" charset="0"/>
                <a:ea typeface="思源黑体-思源黑体-Medium" pitchFamily="34" charset="-122"/>
                <a:cs typeface="思源黑体-思源黑体-Medium" pitchFamily="34" charset="-120"/>
              </a:rPr>
              <a:t>Answer:</a:t>
            </a:r>
            <a:endParaRPr lang="en-US" sz="3350" dirty="0"/>
          </a:p>
        </p:txBody>
      </p:sp>
      <p:sp>
        <p:nvSpPr>
          <p:cNvPr id="11" name="Text 5"/>
          <p:cNvSpPr/>
          <p:nvPr/>
        </p:nvSpPr>
        <p:spPr>
          <a:xfrm>
            <a:off x="6076188" y="6556248"/>
            <a:ext cx="5559552" cy="603504"/>
          </a:xfrm>
          <a:prstGeom prst="rect">
            <a:avLst/>
          </a:prstGeom>
          <a:noFill/>
          <a:ln/>
        </p:spPr>
        <p:txBody>
          <a:bodyPr wrap="squar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Now, let us divide Q by P and calculate the remainder by performing an XOR operation between bits.</a:t>
            </a:r>
            <a:endParaRPr lang="en-US" b="1" dirty="0">
              <a:latin typeface="+mj-lt"/>
            </a:endParaRPr>
          </a:p>
        </p:txBody>
      </p:sp>
      <p:sp>
        <p:nvSpPr>
          <p:cNvPr id="12" name="Text 6"/>
          <p:cNvSpPr/>
          <p:nvPr/>
        </p:nvSpPr>
        <p:spPr>
          <a:xfrm>
            <a:off x="6368288" y="2788920"/>
            <a:ext cx="5559552" cy="338328"/>
          </a:xfrm>
          <a:prstGeom prst="rect">
            <a:avLst/>
          </a:prstGeom>
          <a:noFill/>
          <a:ln/>
        </p:spPr>
        <p:txBody>
          <a:bodyPr wrap="none" lIns="0" tIns="0" rIns="0" bIns="0" rtlCol="0" anchor="ctr"/>
          <a:lstStyle/>
          <a:p>
            <a:pPr marL="0" indent="0" algn="ctr">
              <a:lnSpc>
                <a:spcPts val="2620"/>
              </a:lnSpc>
              <a:buNone/>
            </a:pPr>
            <a:r>
              <a:rPr lang="en-US" b="1" dirty="0">
                <a:solidFill>
                  <a:srgbClr val="172748"/>
                </a:solidFill>
                <a:latin typeface="+mj-lt"/>
                <a:ea typeface="思源黑体-思源黑体-Medium" pitchFamily="34" charset="-122"/>
                <a:cs typeface="思源黑体-思源黑体-Medium" pitchFamily="34" charset="-120"/>
              </a:rPr>
              <a:t>Step 1</a:t>
            </a:r>
            <a:endParaRPr lang="en-US" b="1" dirty="0">
              <a:latin typeface="+mj-lt"/>
            </a:endParaRPr>
          </a:p>
        </p:txBody>
      </p:sp>
      <p:sp>
        <p:nvSpPr>
          <p:cNvPr id="13" name="Text 7"/>
          <p:cNvSpPr/>
          <p:nvPr/>
        </p:nvSpPr>
        <p:spPr>
          <a:xfrm>
            <a:off x="6076188" y="6089904"/>
            <a:ext cx="5559552" cy="338328"/>
          </a:xfrm>
          <a:prstGeom prst="rect">
            <a:avLst/>
          </a:prstGeom>
          <a:noFill/>
          <a:ln/>
        </p:spPr>
        <p:txBody>
          <a:bodyPr wrap="none" lIns="0" tIns="0" rIns="0" bIns="0" rtlCol="0" anchor="ctr"/>
          <a:lstStyle/>
          <a:p>
            <a:pPr marL="0" indent="0" algn="ctr">
              <a:lnSpc>
                <a:spcPts val="2620"/>
              </a:lnSpc>
              <a:buNone/>
            </a:pPr>
            <a:r>
              <a:rPr lang="en-US" b="1" dirty="0">
                <a:solidFill>
                  <a:srgbClr val="172748"/>
                </a:solidFill>
                <a:latin typeface="+mj-lt"/>
                <a:ea typeface="思源黑体-思源黑体-Medium" pitchFamily="34" charset="-122"/>
                <a:cs typeface="思源黑体-思源黑体-Medium" pitchFamily="34" charset="-120"/>
              </a:rPr>
              <a:t>Step 2</a:t>
            </a:r>
            <a:endParaRPr lang="en-US" b="1" dirty="0">
              <a:latin typeface="+mj-lt"/>
            </a:endParaRPr>
          </a:p>
        </p:txBody>
      </p:sp>
      <p:sp>
        <p:nvSpPr>
          <p:cNvPr id="14" name="Text 8"/>
          <p:cNvSpPr/>
          <p:nvPr/>
        </p:nvSpPr>
        <p:spPr>
          <a:xfrm>
            <a:off x="6368288" y="5285232"/>
            <a:ext cx="5559552" cy="301752"/>
          </a:xfrm>
          <a:prstGeom prst="rect">
            <a:avLst/>
          </a:prstGeom>
          <a:noFill/>
          <a:ln/>
        </p:spPr>
        <p:txBody>
          <a:bodyPr wrap="non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 101000110100000, which makes Q.</a:t>
            </a:r>
            <a:endParaRPr lang="en-US" b="1" dirty="0">
              <a:latin typeface="+mj-lt"/>
            </a:endParaRPr>
          </a:p>
        </p:txBody>
      </p:sp>
      <p:sp>
        <p:nvSpPr>
          <p:cNvPr id="15" name="Text 9"/>
          <p:cNvSpPr/>
          <p:nvPr/>
        </p:nvSpPr>
        <p:spPr>
          <a:xfrm>
            <a:off x="6368288" y="3255264"/>
            <a:ext cx="5559552" cy="301752"/>
          </a:xfrm>
          <a:prstGeom prst="rect">
            <a:avLst/>
          </a:prstGeom>
          <a:noFill/>
          <a:ln/>
        </p:spPr>
        <p:txBody>
          <a:bodyPr wrap="none" lIns="0" tIns="0" rIns="0" bIns="0" rtlCol="0" anchor="ctr"/>
          <a:lstStyle/>
          <a:p>
            <a:pPr marL="0" indent="0" algn="l">
              <a:lnSpc>
                <a:spcPts val="2340"/>
              </a:lnSpc>
              <a:buNone/>
            </a:pPr>
            <a:r>
              <a:rPr lang="en-US" b="1" dirty="0">
                <a:solidFill>
                  <a:srgbClr val="172748"/>
                </a:solidFill>
                <a:latin typeface="+mj-lt"/>
                <a:ea typeface="思源黑体-思源黑体-Medium" pitchFamily="34" charset="-122"/>
                <a:cs typeface="思源黑体-思源黑体-Medium" pitchFamily="34" charset="-120"/>
              </a:rPr>
              <a:t> Given</a:t>
            </a:r>
            <a:endParaRPr lang="en-US" b="1" dirty="0">
              <a:latin typeface="+mj-lt"/>
            </a:endParaRPr>
          </a:p>
        </p:txBody>
      </p:sp>
      <p:sp>
        <p:nvSpPr>
          <p:cNvPr id="16" name="Text 1">
            <a:extLst>
              <a:ext uri="{FF2B5EF4-FFF2-40B4-BE49-F238E27FC236}">
                <a16:creationId xmlns:a16="http://schemas.microsoft.com/office/drawing/2014/main" id="{14ED2A02-B12C-4B51-842C-5E9DF69DCFC1}"/>
              </a:ext>
            </a:extLst>
          </p:cNvPr>
          <p:cNvSpPr/>
          <p:nvPr/>
        </p:nvSpPr>
        <p:spPr>
          <a:xfrm>
            <a:off x="1024128" y="1469644"/>
            <a:ext cx="7616952" cy="301752"/>
          </a:xfrm>
          <a:prstGeom prst="rect">
            <a:avLst/>
          </a:prstGeom>
          <a:noFill/>
          <a:ln/>
        </p:spPr>
        <p:txBody>
          <a:bodyPr wrap="none" lIns="0" tIns="0" rIns="0" bIns="0" rtlCol="0" anchor="ctr"/>
          <a:lstStyle/>
          <a:p>
            <a:pPr algn="l">
              <a:lnSpc>
                <a:spcPts val="2340"/>
              </a:lnSpc>
            </a:pPr>
            <a:r>
              <a:rPr lang="en-US" sz="2000" b="1" dirty="0">
                <a:latin typeface="+mj-lt"/>
                <a:ea typeface="思源黑体-思源黑体-Medium" pitchFamily="34" charset="-122"/>
                <a:cs typeface="思源黑体-思源黑体-Medium" pitchFamily="34" charset="-120"/>
              </a:rPr>
              <a:t>.</a:t>
            </a:r>
            <a:endParaRPr lang="en-US" sz="2000" b="1" dirty="0">
              <a:latin typeface="+mj-lt"/>
            </a:endParaRPr>
          </a:p>
        </p:txBody>
      </p:sp>
      <p:sp>
        <p:nvSpPr>
          <p:cNvPr id="17" name="Text 2">
            <a:extLst>
              <a:ext uri="{FF2B5EF4-FFF2-40B4-BE49-F238E27FC236}">
                <a16:creationId xmlns:a16="http://schemas.microsoft.com/office/drawing/2014/main" id="{5D5E023D-956E-4873-9ED5-E8AD5B9D6984}"/>
              </a:ext>
            </a:extLst>
          </p:cNvPr>
          <p:cNvSpPr/>
          <p:nvPr/>
        </p:nvSpPr>
        <p:spPr>
          <a:xfrm>
            <a:off x="1024128" y="921004"/>
            <a:ext cx="7616952" cy="301752"/>
          </a:xfrm>
          <a:prstGeom prst="rect">
            <a:avLst/>
          </a:prstGeom>
          <a:noFill/>
          <a:ln/>
        </p:spPr>
        <p:txBody>
          <a:bodyPr wrap="none" lIns="0" tIns="0" rIns="0" bIns="0" rtlCol="0" anchor="ctr"/>
          <a:lstStyle/>
          <a:p>
            <a:pPr marL="342900" indent="-342900" algn="l">
              <a:lnSpc>
                <a:spcPts val="2340"/>
              </a:lnSpc>
              <a:buFont typeface="Arial" panose="020B0604020202020204" pitchFamily="34" charset="0"/>
              <a:buChar char="•"/>
            </a:pPr>
            <a:endParaRPr lang="en-US" sz="2000" b="1" dirty="0">
              <a:latin typeface="+mj-lt"/>
            </a:endParaRPr>
          </a:p>
        </p:txBody>
      </p:sp>
      <p:sp>
        <p:nvSpPr>
          <p:cNvPr id="18" name="Text 1">
            <a:extLst>
              <a:ext uri="{FF2B5EF4-FFF2-40B4-BE49-F238E27FC236}">
                <a16:creationId xmlns:a16="http://schemas.microsoft.com/office/drawing/2014/main" id="{B93EE0C9-A1A1-4B90-94F6-222E84CEF763}"/>
              </a:ext>
            </a:extLst>
          </p:cNvPr>
          <p:cNvSpPr/>
          <p:nvPr/>
        </p:nvSpPr>
        <p:spPr>
          <a:xfrm>
            <a:off x="1024128" y="4581144"/>
            <a:ext cx="7616952" cy="301752"/>
          </a:xfrm>
          <a:prstGeom prst="rect">
            <a:avLst/>
          </a:prstGeom>
          <a:noFill/>
          <a:ln/>
        </p:spPr>
        <p:txBody>
          <a:bodyPr wrap="none" lIns="0" tIns="0" rIns="0" bIns="0" rtlCol="0" anchor="ctr"/>
          <a:lstStyle/>
          <a:p>
            <a:pPr marL="0" indent="0" algn="l">
              <a:lnSpc>
                <a:spcPts val="2340"/>
              </a:lnSpc>
              <a:buNone/>
            </a:pPr>
            <a:endParaRPr lang="en-US" sz="1670" dirty="0"/>
          </a:p>
        </p:txBody>
      </p:sp>
      <p:sp>
        <p:nvSpPr>
          <p:cNvPr id="19" name="Text 2">
            <a:extLst>
              <a:ext uri="{FF2B5EF4-FFF2-40B4-BE49-F238E27FC236}">
                <a16:creationId xmlns:a16="http://schemas.microsoft.com/office/drawing/2014/main" id="{344B1F74-1EF8-45DA-9151-BCA14FD63367}"/>
              </a:ext>
            </a:extLst>
          </p:cNvPr>
          <p:cNvSpPr/>
          <p:nvPr/>
        </p:nvSpPr>
        <p:spPr>
          <a:xfrm>
            <a:off x="1024128" y="4032504"/>
            <a:ext cx="7616952" cy="301752"/>
          </a:xfrm>
          <a:prstGeom prst="rect">
            <a:avLst/>
          </a:prstGeom>
          <a:noFill/>
          <a:ln/>
        </p:spPr>
        <p:txBody>
          <a:bodyPr wrap="none" lIns="0" tIns="0" rIns="0" bIns="0" rtlCol="0" anchor="ctr"/>
          <a:lstStyle/>
          <a:p>
            <a:pPr marL="0" indent="0" algn="l">
              <a:lnSpc>
                <a:spcPts val="2340"/>
              </a:lnSpc>
              <a:buNone/>
            </a:pPr>
            <a:endParaRPr lang="en-US" sz="1670" dirty="0"/>
          </a:p>
        </p:txBody>
      </p:sp>
      <p:sp>
        <p:nvSpPr>
          <p:cNvPr id="21" name="TextBox 20">
            <a:extLst>
              <a:ext uri="{FF2B5EF4-FFF2-40B4-BE49-F238E27FC236}">
                <a16:creationId xmlns:a16="http://schemas.microsoft.com/office/drawing/2014/main" id="{857EF001-A7EE-4E6E-9FC8-1C4ADF814923}"/>
              </a:ext>
            </a:extLst>
          </p:cNvPr>
          <p:cNvSpPr txBox="1"/>
          <p:nvPr/>
        </p:nvSpPr>
        <p:spPr>
          <a:xfrm>
            <a:off x="596900" y="1060704"/>
            <a:ext cx="12942824" cy="682238"/>
          </a:xfrm>
          <a:prstGeom prst="rect">
            <a:avLst/>
          </a:prstGeom>
          <a:noFill/>
        </p:spPr>
        <p:txBody>
          <a:bodyPr wrap="square">
            <a:spAutoFit/>
          </a:bodyPr>
          <a:lstStyle/>
          <a:p>
            <a:pPr marL="0" indent="0" algn="l">
              <a:lnSpc>
                <a:spcPts val="2340"/>
              </a:lnSpc>
              <a:buNone/>
            </a:pPr>
            <a:r>
              <a:rPr lang="en-US" sz="2000" dirty="0">
                <a:latin typeface="+mj-lt"/>
                <a:ea typeface="思源黑体-思源黑体-Medium" pitchFamily="34" charset="-122"/>
                <a:cs typeface="思源黑体-思源黑体-Medium" pitchFamily="34" charset="-120"/>
              </a:rPr>
              <a:t>Consider the message sender wants to send is 1010001101, and the generator pattern is 110101. Find the message transmitted by the sender. If the receiver receives the message, check if the receiver receives the correct message or not.</a:t>
            </a:r>
            <a:endParaRPr lang="en-US" sz="2000" dirty="0">
              <a:latin typeface="+mj-lt"/>
            </a:endParaRPr>
          </a:p>
        </p:txBody>
      </p:sp>
      <p:pic>
        <p:nvPicPr>
          <p:cNvPr id="22" name="Picture 21">
            <a:extLst>
              <a:ext uri="{FF2B5EF4-FFF2-40B4-BE49-F238E27FC236}">
                <a16:creationId xmlns:a16="http://schemas.microsoft.com/office/drawing/2014/main" id="{B94746D6-5BAC-491D-9490-960708DA55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0131552" y="1384300"/>
            <a:ext cx="1069848" cy="1225296"/>
          </a:xfrm>
          <a:prstGeom prst="rect">
            <a:avLst/>
          </a:prstGeom>
        </p:spPr>
      </p:pic>
      <p:pic>
        <p:nvPicPr>
          <p:cNvPr id="4" name="Image 2" descr="preencoded.png"/>
          <p:cNvPicPr>
            <a:picLocks noChangeAspect="1"/>
          </p:cNvPicPr>
          <p:nvPr/>
        </p:nvPicPr>
        <p:blipFill>
          <a:blip r:embed="rId5"/>
          <a:stretch>
            <a:fillRect/>
          </a:stretch>
        </p:blipFill>
        <p:spPr>
          <a:xfrm>
            <a:off x="2117344" y="1641348"/>
            <a:ext cx="1069848" cy="1225296"/>
          </a:xfrm>
          <a:prstGeom prst="rect">
            <a:avLst/>
          </a:prstGeom>
        </p:spPr>
      </p:pic>
      <p:sp>
        <p:nvSpPr>
          <p:cNvPr id="5" name="Text 0"/>
          <p:cNvSpPr/>
          <p:nvPr/>
        </p:nvSpPr>
        <p:spPr>
          <a:xfrm>
            <a:off x="498348" y="3324860"/>
            <a:ext cx="6749288" cy="1971040"/>
          </a:xfrm>
          <a:prstGeom prst="rect">
            <a:avLst/>
          </a:prstGeom>
          <a:noFill/>
          <a:ln/>
        </p:spPr>
        <p:txBody>
          <a:bodyPr wrap="square" lIns="0" tIns="0" rIns="0" bIns="0" rtlCol="0" anchor="ctr"/>
          <a:lstStyle/>
          <a:p>
            <a:pPr marL="0" indent="0" algn="ctr">
              <a:lnSpc>
                <a:spcPts val="2340"/>
              </a:lnSpc>
              <a:buNone/>
            </a:pPr>
            <a:r>
              <a:rPr lang="en-US" sz="2000" dirty="0">
                <a:latin typeface="+mj-lt"/>
                <a:ea typeface="思源黑体-思源黑体-Medium" pitchFamily="34" charset="-122"/>
                <a:cs typeface="思源黑体-思源黑体-Medium" pitchFamily="34" charset="-120"/>
              </a:rPr>
              <a:t>Now, the remainder is then replaced with the appended number of 0 bits in Q. </a:t>
            </a:r>
          </a:p>
          <a:p>
            <a:pPr marL="0" indent="0" algn="ctr">
              <a:lnSpc>
                <a:spcPts val="2340"/>
              </a:lnSpc>
              <a:buNone/>
            </a:pPr>
            <a:r>
              <a:rPr lang="en-US" sz="2000" dirty="0">
                <a:latin typeface="+mj-lt"/>
                <a:ea typeface="思源黑体-思源黑体-Medium" pitchFamily="34" charset="-122"/>
                <a:cs typeface="思源黑体-思源黑体-Medium" pitchFamily="34" charset="-120"/>
              </a:rPr>
              <a:t>The input stream will be changed to 1010001101 + 01110 (original input data stream + remainder) = 101000110101110.</a:t>
            </a:r>
            <a:endParaRPr lang="en-US" sz="2000" dirty="0">
              <a:latin typeface="+mj-lt"/>
            </a:endParaRPr>
          </a:p>
        </p:txBody>
      </p:sp>
      <p:sp>
        <p:nvSpPr>
          <p:cNvPr id="6" name="Text 1"/>
          <p:cNvSpPr/>
          <p:nvPr/>
        </p:nvSpPr>
        <p:spPr>
          <a:xfrm>
            <a:off x="7832852" y="3324860"/>
            <a:ext cx="6117336" cy="1805940"/>
          </a:xfrm>
          <a:prstGeom prst="rect">
            <a:avLst/>
          </a:prstGeom>
          <a:noFill/>
          <a:ln/>
        </p:spPr>
        <p:txBody>
          <a:bodyPr wrap="square" lIns="0" tIns="0" rIns="0" bIns="0" rtlCol="0" anchor="ctr"/>
          <a:lstStyle/>
          <a:p>
            <a:pPr marL="0" indent="0" algn="ctr">
              <a:lnSpc>
                <a:spcPts val="2340"/>
              </a:lnSpc>
              <a:buNone/>
            </a:pPr>
            <a:r>
              <a:rPr lang="en-US" sz="2000" dirty="0">
                <a:latin typeface="+mj-lt"/>
                <a:ea typeface="思源黑体-思源黑体-Medium" pitchFamily="34" charset="-122"/>
                <a:cs typeface="思源黑体-思源黑体-Medium" pitchFamily="34" charset="-120"/>
              </a:rPr>
              <a:t>Thus, this data is then transferred over the internet and is received by the receiver. In the next step, the receiver will check whether the received bits are correct or not using the same method which was used in Step 2.</a:t>
            </a:r>
            <a:endParaRPr lang="en-US" sz="2000" dirty="0">
              <a:latin typeface="+mj-lt"/>
            </a:endParaRPr>
          </a:p>
        </p:txBody>
      </p:sp>
      <p:sp>
        <p:nvSpPr>
          <p:cNvPr id="7" name="Text 2"/>
          <p:cNvSpPr/>
          <p:nvPr/>
        </p:nvSpPr>
        <p:spPr>
          <a:xfrm>
            <a:off x="498348" y="576072"/>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CRC Step 3</a:t>
            </a:r>
            <a:endParaRPr lang="en-US" sz="4400" dirty="0">
              <a:latin typeface="Cambria" panose="02040503050406030204" pitchFamily="18" charset="0"/>
              <a:ea typeface="Cambria" panose="02040503050406030204" pitchFamily="18" charset="0"/>
            </a:endParaRPr>
          </a:p>
        </p:txBody>
      </p:sp>
      <p:sp>
        <p:nvSpPr>
          <p:cNvPr id="8" name="Text 0">
            <a:extLst>
              <a:ext uri="{FF2B5EF4-FFF2-40B4-BE49-F238E27FC236}">
                <a16:creationId xmlns:a16="http://schemas.microsoft.com/office/drawing/2014/main" id="{ED0037C3-68B9-4613-A345-D352F3940D11}"/>
              </a:ext>
            </a:extLst>
          </p:cNvPr>
          <p:cNvSpPr/>
          <p:nvPr/>
        </p:nvSpPr>
        <p:spPr>
          <a:xfrm>
            <a:off x="680212" y="6579616"/>
            <a:ext cx="6397244" cy="603504"/>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In this step, now receiver will perform the following division to check whether the received data is correct or not.</a:t>
            </a:r>
            <a:endParaRPr lang="en-US" sz="2000" dirty="0">
              <a:latin typeface="+mj-lt"/>
            </a:endParaRPr>
          </a:p>
        </p:txBody>
      </p:sp>
      <p:sp>
        <p:nvSpPr>
          <p:cNvPr id="9" name="Text 1">
            <a:extLst>
              <a:ext uri="{FF2B5EF4-FFF2-40B4-BE49-F238E27FC236}">
                <a16:creationId xmlns:a16="http://schemas.microsoft.com/office/drawing/2014/main" id="{0B0A76F4-FBB1-4DA2-9715-D0E9642F247F}"/>
              </a:ext>
            </a:extLst>
          </p:cNvPr>
          <p:cNvSpPr/>
          <p:nvPr/>
        </p:nvSpPr>
        <p:spPr>
          <a:xfrm>
            <a:off x="786384" y="5528056"/>
            <a:ext cx="13066776"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CRC Step 4</a:t>
            </a:r>
            <a:endParaRPr lang="en-US" sz="4400" dirty="0">
              <a:latin typeface="Cambria" panose="02040503050406030204" pitchFamily="18" charset="0"/>
              <a:ea typeface="Cambria" panose="02040503050406030204" pitchFamily="18" charset="0"/>
            </a:endParaRPr>
          </a:p>
        </p:txBody>
      </p:sp>
      <p:sp>
        <p:nvSpPr>
          <p:cNvPr id="10" name="Text 2">
            <a:extLst>
              <a:ext uri="{FF2B5EF4-FFF2-40B4-BE49-F238E27FC236}">
                <a16:creationId xmlns:a16="http://schemas.microsoft.com/office/drawing/2014/main" id="{610826F7-3809-43C5-8756-D6BF51E5BE9B}"/>
              </a:ext>
            </a:extLst>
          </p:cNvPr>
          <p:cNvSpPr/>
          <p:nvPr/>
        </p:nvSpPr>
        <p:spPr>
          <a:xfrm>
            <a:off x="7562088" y="6579616"/>
            <a:ext cx="6053328" cy="896112"/>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After division if the remainder is zero, then there is no error during transmission. Else error occurred during transmission.</a:t>
            </a:r>
            <a:endParaRPr lang="en-US" sz="2000" dirty="0">
              <a:latin typeface="+mj-lt"/>
            </a:endParaRPr>
          </a:p>
        </p:txBody>
      </p:sp>
      <p:pic>
        <p:nvPicPr>
          <p:cNvPr id="11" name="Picture 10">
            <a:extLst>
              <a:ext uri="{FF2B5EF4-FFF2-40B4-BE49-F238E27FC236}">
                <a16:creationId xmlns:a16="http://schemas.microsoft.com/office/drawing/2014/main" id="{2522BC0F-03BB-4BF2-AD2B-E7B1031211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86384" y="3538728"/>
            <a:ext cx="13066776" cy="923544"/>
          </a:xfrm>
          <a:prstGeom prst="rect">
            <a:avLst/>
          </a:prstGeom>
          <a:noFill/>
          <a:ln/>
        </p:spPr>
        <p:txBody>
          <a:bodyPr wrap="none" lIns="0" tIns="0" rIns="0" bIns="0" rtlCol="0" anchor="ctr"/>
          <a:lstStyle/>
          <a:p>
            <a:pPr marL="0" indent="0" algn="ctr">
              <a:lnSpc>
                <a:spcPts val="7230"/>
              </a:lnSpc>
              <a:buNone/>
            </a:pPr>
            <a:r>
              <a:rPr lang="en-US" sz="6000" dirty="0">
                <a:solidFill>
                  <a:srgbClr val="183983"/>
                </a:solidFill>
                <a:latin typeface="Cambria" panose="02040503050406030204" pitchFamily="18" charset="0"/>
                <a:ea typeface="Cambria" panose="02040503050406030204" pitchFamily="18" charset="0"/>
                <a:cs typeface="思源黑体-思源黑体-Medium" pitchFamily="34" charset="-120"/>
              </a:rPr>
              <a:t>Thank You</a:t>
            </a:r>
            <a:endParaRPr lang="en-US" sz="60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52D92C24-93B2-4ABA-AC70-B81D14CDBB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extLst>
      <p:ext uri="{BB962C8B-B14F-4D97-AF65-F5344CB8AC3E}">
        <p14:creationId xmlns:p14="http://schemas.microsoft.com/office/powerpoint/2010/main" val="224185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760720" y="2093976"/>
            <a:ext cx="8092440" cy="667512"/>
          </a:xfrm>
          <a:prstGeom prst="rect">
            <a:avLst/>
          </a:prstGeom>
          <a:noFill/>
          <a:ln/>
        </p:spPr>
        <p:txBody>
          <a:bodyPr wrap="none" lIns="0" tIns="0" rIns="0" bIns="0" rtlCol="0" anchor="ctr"/>
          <a:lstStyle/>
          <a:p>
            <a:pPr marL="0" indent="0" algn="l">
              <a:lnSpc>
                <a:spcPts val="5240"/>
              </a:lnSpc>
              <a:buNone/>
            </a:pPr>
            <a:r>
              <a:rPr lang="en-US" sz="4400" dirty="0">
                <a:solidFill>
                  <a:srgbClr val="183983"/>
                </a:solidFill>
                <a:latin typeface="Cambria" panose="02040503050406030204" pitchFamily="18" charset="0"/>
                <a:ea typeface="Cambria" panose="02040503050406030204" pitchFamily="18" charset="0"/>
                <a:cs typeface="思源黑体-思源黑体-Medium" pitchFamily="34" charset="-120"/>
              </a:rPr>
              <a:t>CRC-Polynomial</a:t>
            </a:r>
            <a:endParaRPr lang="en-US" sz="4400" dirty="0">
              <a:latin typeface="Cambria" panose="02040503050406030204" pitchFamily="18" charset="0"/>
              <a:ea typeface="Cambria" panose="02040503050406030204" pitchFamily="18" charset="0"/>
            </a:endParaRPr>
          </a:p>
        </p:txBody>
      </p:sp>
      <p:sp>
        <p:nvSpPr>
          <p:cNvPr id="5" name="Text 1"/>
          <p:cNvSpPr/>
          <p:nvPr/>
        </p:nvSpPr>
        <p:spPr>
          <a:xfrm>
            <a:off x="5998464" y="3145536"/>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Similar to modulo 2 arithmetic but representation using polynomial.</a:t>
            </a:r>
            <a:endParaRPr lang="en-US" sz="2000" dirty="0">
              <a:latin typeface="+mj-lt"/>
            </a:endParaRPr>
          </a:p>
        </p:txBody>
      </p:sp>
      <p:sp>
        <p:nvSpPr>
          <p:cNvPr id="6" name="Text 2"/>
          <p:cNvSpPr/>
          <p:nvPr/>
        </p:nvSpPr>
        <p:spPr>
          <a:xfrm>
            <a:off x="5998464" y="4873752"/>
            <a:ext cx="7616952" cy="896112"/>
          </a:xfrm>
          <a:prstGeom prst="rect">
            <a:avLst/>
          </a:prstGeom>
          <a:noFill/>
          <a:ln/>
        </p:spPr>
        <p:txBody>
          <a:bodyPr wrap="squar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a:t>
            </a:r>
            <a:endParaRPr lang="en-US" sz="2000" dirty="0">
              <a:latin typeface="+mj-lt"/>
            </a:endParaRPr>
          </a:p>
        </p:txBody>
      </p:sp>
      <p:sp>
        <p:nvSpPr>
          <p:cNvPr id="7" name="Text 3"/>
          <p:cNvSpPr/>
          <p:nvPr/>
        </p:nvSpPr>
        <p:spPr>
          <a:xfrm>
            <a:off x="5998464" y="4005072"/>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M = 1010001101 = X9 + X7 + X3 + X2 + 1,</a:t>
            </a:r>
            <a:endParaRPr lang="en-US" sz="2000" dirty="0">
              <a:latin typeface="+mj-lt"/>
            </a:endParaRPr>
          </a:p>
        </p:txBody>
      </p:sp>
      <p:sp>
        <p:nvSpPr>
          <p:cNvPr id="8" name="Text 4"/>
          <p:cNvSpPr/>
          <p:nvPr/>
        </p:nvSpPr>
        <p:spPr>
          <a:xfrm>
            <a:off x="5998464" y="4434840"/>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Pattern P = 110101 = X5 + X4 + X2 + 1</a:t>
            </a:r>
            <a:endParaRPr lang="en-US" sz="2000" dirty="0">
              <a:latin typeface="+mj-lt"/>
            </a:endParaRPr>
          </a:p>
        </p:txBody>
      </p:sp>
      <p:sp>
        <p:nvSpPr>
          <p:cNvPr id="9" name="Text 5"/>
          <p:cNvSpPr/>
          <p:nvPr/>
        </p:nvSpPr>
        <p:spPr>
          <a:xfrm>
            <a:off x="5998464" y="3575304"/>
            <a:ext cx="7616952"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Example:</a:t>
            </a:r>
            <a:endParaRPr lang="en-US" sz="2000" dirty="0">
              <a:latin typeface="+mj-lt"/>
            </a:endParaRPr>
          </a:p>
        </p:txBody>
      </p:sp>
      <p:pic>
        <p:nvPicPr>
          <p:cNvPr id="10" name="Picture 9">
            <a:extLst>
              <a:ext uri="{FF2B5EF4-FFF2-40B4-BE49-F238E27FC236}">
                <a16:creationId xmlns:a16="http://schemas.microsoft.com/office/drawing/2014/main" id="{36E346AC-8DD7-408A-95CA-3B98C14AAB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900" y="-544068"/>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7772400" y="3164894"/>
            <a:ext cx="6025896" cy="576072"/>
          </a:xfrm>
          <a:prstGeom prst="rect">
            <a:avLst/>
          </a:prstGeom>
        </p:spPr>
      </p:pic>
      <p:pic>
        <p:nvPicPr>
          <p:cNvPr id="4" name="Image 2" descr="preencoded.png"/>
          <p:cNvPicPr>
            <a:picLocks noChangeAspect="1"/>
          </p:cNvPicPr>
          <p:nvPr/>
        </p:nvPicPr>
        <p:blipFill>
          <a:blip r:embed="rId4"/>
          <a:stretch>
            <a:fillRect/>
          </a:stretch>
        </p:blipFill>
        <p:spPr>
          <a:xfrm>
            <a:off x="7772400" y="3803904"/>
            <a:ext cx="6025896" cy="576072"/>
          </a:xfrm>
          <a:prstGeom prst="rect">
            <a:avLst/>
          </a:prstGeom>
        </p:spPr>
      </p:pic>
      <p:pic>
        <p:nvPicPr>
          <p:cNvPr id="5" name="Image 3" descr="preencoded.png"/>
          <p:cNvPicPr>
            <a:picLocks noChangeAspect="1"/>
          </p:cNvPicPr>
          <p:nvPr/>
        </p:nvPicPr>
        <p:blipFill>
          <a:blip r:embed="rId5"/>
          <a:stretch>
            <a:fillRect/>
          </a:stretch>
        </p:blipFill>
        <p:spPr>
          <a:xfrm>
            <a:off x="1600200" y="2990088"/>
            <a:ext cx="4489704" cy="3968496"/>
          </a:xfrm>
          <a:prstGeom prst="rect">
            <a:avLst/>
          </a:prstGeom>
        </p:spPr>
      </p:pic>
      <p:sp>
        <p:nvSpPr>
          <p:cNvPr id="6" name="Text 0"/>
          <p:cNvSpPr/>
          <p:nvPr/>
        </p:nvSpPr>
        <p:spPr>
          <a:xfrm>
            <a:off x="8019288" y="4106726"/>
            <a:ext cx="5559552" cy="301752"/>
          </a:xfrm>
          <a:prstGeom prst="rect">
            <a:avLst/>
          </a:prstGeom>
          <a:noFill/>
          <a:ln/>
        </p:spPr>
        <p:txBody>
          <a:bodyPr wrap="none" lIns="0" tIns="0" rIns="0" bIns="0" rtlCol="0" anchor="ctr"/>
          <a:lstStyle/>
          <a:p>
            <a:pPr marL="0" indent="0" algn="ctr">
              <a:lnSpc>
                <a:spcPts val="2340"/>
              </a:lnSpc>
              <a:buNone/>
            </a:pPr>
            <a:r>
              <a:rPr lang="en-US" sz="2000" dirty="0">
                <a:solidFill>
                  <a:srgbClr val="172748"/>
                </a:solidFill>
                <a:latin typeface="+mj-lt"/>
                <a:ea typeface="思源黑体-思源黑体-Medium" pitchFamily="34" charset="-122"/>
                <a:cs typeface="思源黑体-思源黑体-Medium" pitchFamily="34" charset="-120"/>
              </a:rPr>
              <a:t>Q= Appending 3 bits to end of M, Q= X6 + X5</a:t>
            </a:r>
            <a:endParaRPr lang="en-US" sz="2000" dirty="0">
              <a:latin typeface="+mj-lt"/>
            </a:endParaRPr>
          </a:p>
        </p:txBody>
      </p:sp>
      <p:sp>
        <p:nvSpPr>
          <p:cNvPr id="7" name="Text 1"/>
          <p:cNvSpPr/>
          <p:nvPr/>
        </p:nvSpPr>
        <p:spPr>
          <a:xfrm>
            <a:off x="786384" y="1965960"/>
            <a:ext cx="13066776" cy="539496"/>
          </a:xfrm>
          <a:prstGeom prst="rect">
            <a:avLst/>
          </a:prstGeom>
          <a:noFill/>
          <a:ln/>
        </p:spPr>
        <p:txBody>
          <a:bodyPr wrap="none" lIns="0" tIns="0" rIns="0" bIns="0" rtlCol="0" anchor="ctr"/>
          <a:lstStyle/>
          <a:p>
            <a:pPr marL="0" indent="0" algn="l">
              <a:lnSpc>
                <a:spcPts val="4190"/>
              </a:lnSpc>
              <a:buNone/>
            </a:pPr>
            <a:r>
              <a:rPr lang="en-US" sz="3350" dirty="0">
                <a:solidFill>
                  <a:srgbClr val="183983"/>
                </a:solidFill>
                <a:latin typeface="思源黑体-思源黑体-Medium" pitchFamily="34" charset="0"/>
                <a:ea typeface="思源黑体-思源黑体-Medium" pitchFamily="34" charset="-122"/>
                <a:cs typeface="思源黑体-思源黑体-Medium" pitchFamily="34" charset="-120"/>
              </a:rPr>
              <a:t>Answer:</a:t>
            </a:r>
            <a:endParaRPr lang="en-US" sz="3350" dirty="0"/>
          </a:p>
        </p:txBody>
      </p:sp>
      <p:sp>
        <p:nvSpPr>
          <p:cNvPr id="8" name="Text 2"/>
          <p:cNvSpPr/>
          <p:nvPr/>
        </p:nvSpPr>
        <p:spPr>
          <a:xfrm>
            <a:off x="512064" y="155448"/>
            <a:ext cx="13066776" cy="667512"/>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思源黑体-思源黑体-Medium" pitchFamily="34" charset="0"/>
                <a:ea typeface="思源黑体-思源黑体-Medium" pitchFamily="34" charset="-122"/>
                <a:cs typeface="思源黑体-思源黑体-Medium" pitchFamily="34" charset="-120"/>
              </a:rPr>
              <a:t>Polynomial</a:t>
            </a:r>
            <a:endParaRPr lang="en-US" sz="4190" dirty="0"/>
          </a:p>
        </p:txBody>
      </p:sp>
      <p:sp>
        <p:nvSpPr>
          <p:cNvPr id="9" name="Text 3"/>
          <p:cNvSpPr/>
          <p:nvPr/>
        </p:nvSpPr>
        <p:spPr>
          <a:xfrm>
            <a:off x="8019288" y="3136392"/>
            <a:ext cx="5559552" cy="301752"/>
          </a:xfrm>
          <a:prstGeom prst="rect">
            <a:avLst/>
          </a:prstGeom>
          <a:noFill/>
          <a:ln/>
        </p:spPr>
        <p:txBody>
          <a:bodyPr wrap="none" lIns="0" tIns="0" rIns="0" bIns="0" rtlCol="0" anchor="ctr"/>
          <a:lstStyle/>
          <a:p>
            <a:pPr marL="0" indent="0" algn="ctr">
              <a:lnSpc>
                <a:spcPts val="2340"/>
              </a:lnSpc>
              <a:buNone/>
            </a:pPr>
            <a:r>
              <a:rPr lang="en-US" sz="1670" dirty="0">
                <a:solidFill>
                  <a:srgbClr val="172748"/>
                </a:solidFill>
                <a:latin typeface="思源黑体-思源黑体-Medium" pitchFamily="34" charset="0"/>
                <a:ea typeface="思源黑体-思源黑体-Medium" pitchFamily="34" charset="-122"/>
                <a:cs typeface="思源黑体-思源黑体-Medium" pitchFamily="34" charset="-120"/>
              </a:rPr>
              <a:t>M=4 bits P=4 bits hence FCS=3 bits</a:t>
            </a:r>
            <a:endParaRPr lang="en-US" sz="1670" dirty="0"/>
          </a:p>
        </p:txBody>
      </p:sp>
      <p:sp>
        <p:nvSpPr>
          <p:cNvPr id="11" name="TextBox 10">
            <a:extLst>
              <a:ext uri="{FF2B5EF4-FFF2-40B4-BE49-F238E27FC236}">
                <a16:creationId xmlns:a16="http://schemas.microsoft.com/office/drawing/2014/main" id="{E9ABDB69-8C89-4852-AA9B-7E4129C873B3}"/>
              </a:ext>
            </a:extLst>
          </p:cNvPr>
          <p:cNvSpPr txBox="1"/>
          <p:nvPr/>
        </p:nvSpPr>
        <p:spPr>
          <a:xfrm>
            <a:off x="599948" y="1098457"/>
            <a:ext cx="13066776" cy="707886"/>
          </a:xfrm>
          <a:prstGeom prst="rect">
            <a:avLst/>
          </a:prstGeom>
          <a:noFill/>
        </p:spPr>
        <p:txBody>
          <a:bodyPr wrap="square">
            <a:spAutoFit/>
          </a:bodyPr>
          <a:lstStyle/>
          <a:p>
            <a:r>
              <a:rPr lang="en-US" sz="2000" b="1" dirty="0">
                <a:latin typeface="+mj-lt"/>
                <a:ea typeface="思源黑体-思源黑体-Medium" pitchFamily="34" charset="-122"/>
                <a:cs typeface="思源黑体-思源黑体-Medium" pitchFamily="34" charset="-120"/>
              </a:rPr>
              <a:t>Question</a:t>
            </a:r>
            <a:r>
              <a:rPr lang="en-US" sz="2000" dirty="0">
                <a:latin typeface="+mj-lt"/>
                <a:ea typeface="思源黑体-思源黑体-Medium" pitchFamily="34" charset="-122"/>
                <a:cs typeface="思源黑体-思源黑体-Medium" pitchFamily="34" charset="-120"/>
              </a:rPr>
              <a:t>: Message is x3 + x2 and pattern P= x3 + x + 1. Find FCS using polynomial method and also check whether there is any error during transmission (introduce error in 4th bit position).</a:t>
            </a:r>
            <a:endParaRPr lang="en-IN" sz="2000" dirty="0">
              <a:latin typeface="+mj-lt"/>
            </a:endParaRPr>
          </a:p>
        </p:txBody>
      </p:sp>
      <p:pic>
        <p:nvPicPr>
          <p:cNvPr id="12" name="Picture 11">
            <a:extLst>
              <a:ext uri="{FF2B5EF4-FFF2-40B4-BE49-F238E27FC236}">
                <a16:creationId xmlns:a16="http://schemas.microsoft.com/office/drawing/2014/main" id="{977F1E6D-C338-4F01-B561-22CA13BDFA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437896" y="1609344"/>
            <a:ext cx="6382004" cy="5845556"/>
          </a:xfrm>
          <a:prstGeom prst="rect">
            <a:avLst/>
          </a:prstGeom>
        </p:spPr>
      </p:pic>
      <p:sp>
        <p:nvSpPr>
          <p:cNvPr id="4" name="Text 0"/>
          <p:cNvSpPr/>
          <p:nvPr/>
        </p:nvSpPr>
        <p:spPr>
          <a:xfrm>
            <a:off x="8010144" y="4864608"/>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Relies on retransmission when errors are detected.</a:t>
            </a:r>
            <a:endParaRPr lang="en-US" sz="2000" dirty="0">
              <a:latin typeface="+mj-lt"/>
            </a:endParaRPr>
          </a:p>
        </p:txBody>
      </p:sp>
      <p:sp>
        <p:nvSpPr>
          <p:cNvPr id="5" name="Text 1"/>
          <p:cNvSpPr/>
          <p:nvPr/>
        </p:nvSpPr>
        <p:spPr>
          <a:xfrm>
            <a:off x="8010144" y="3447288"/>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Widely used in:</a:t>
            </a:r>
            <a:endParaRPr lang="en-US" sz="2000" dirty="0">
              <a:latin typeface="+mj-lt"/>
            </a:endParaRPr>
          </a:p>
        </p:txBody>
      </p:sp>
      <p:sp>
        <p:nvSpPr>
          <p:cNvPr id="6" name="Text 2"/>
          <p:cNvSpPr/>
          <p:nvPr/>
        </p:nvSpPr>
        <p:spPr>
          <a:xfrm>
            <a:off x="8010144" y="3877056"/>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Data Link Layer: e.g., HDLC</a:t>
            </a:r>
            <a:endParaRPr lang="en-US" sz="2000" dirty="0">
              <a:latin typeface="+mj-lt"/>
            </a:endParaRPr>
          </a:p>
        </p:txBody>
      </p:sp>
      <p:sp>
        <p:nvSpPr>
          <p:cNvPr id="7" name="Text 3"/>
          <p:cNvSpPr/>
          <p:nvPr/>
        </p:nvSpPr>
        <p:spPr>
          <a:xfrm>
            <a:off x="8010144" y="5413248"/>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Waste of bandwidth,</a:t>
            </a:r>
            <a:endParaRPr lang="en-US" sz="2000" dirty="0">
              <a:latin typeface="+mj-lt"/>
            </a:endParaRPr>
          </a:p>
        </p:txBody>
      </p:sp>
      <p:sp>
        <p:nvSpPr>
          <p:cNvPr id="8" name="Text 4"/>
          <p:cNvSpPr/>
          <p:nvPr/>
        </p:nvSpPr>
        <p:spPr>
          <a:xfrm>
            <a:off x="8010144" y="2889504"/>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Error Detection in Protocols</a:t>
            </a:r>
            <a:endParaRPr lang="en-US" sz="2000" dirty="0">
              <a:latin typeface="+mj-lt"/>
            </a:endParaRPr>
          </a:p>
        </p:txBody>
      </p:sp>
      <p:sp>
        <p:nvSpPr>
          <p:cNvPr id="9" name="Text 5"/>
          <p:cNvSpPr/>
          <p:nvPr/>
        </p:nvSpPr>
        <p:spPr>
          <a:xfrm>
            <a:off x="8010144" y="4306824"/>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    • Transport Layer: e.g., TCP</a:t>
            </a:r>
            <a:endParaRPr lang="en-US" sz="2000" dirty="0">
              <a:latin typeface="+mj-lt"/>
            </a:endParaRPr>
          </a:p>
        </p:txBody>
      </p:sp>
      <p:sp>
        <p:nvSpPr>
          <p:cNvPr id="10" name="Text 6"/>
          <p:cNvSpPr/>
          <p:nvPr/>
        </p:nvSpPr>
        <p:spPr>
          <a:xfrm>
            <a:off x="539496" y="470916"/>
            <a:ext cx="13066776" cy="667512"/>
          </a:xfrm>
          <a:prstGeom prst="rect">
            <a:avLst/>
          </a:prstGeom>
          <a:noFill/>
          <a:ln/>
        </p:spPr>
        <p:txBody>
          <a:bodyPr wrap="none" lIns="0" tIns="0" rIns="0" bIns="0" rtlCol="0" anchor="ctr"/>
          <a:lstStyle/>
          <a:p>
            <a:pPr marL="0" indent="0" algn="l">
              <a:lnSpc>
                <a:spcPts val="5240"/>
              </a:lnSpc>
              <a:buNone/>
            </a:pPr>
            <a:r>
              <a:rPr lang="en-US" sz="4190" dirty="0">
                <a:solidFill>
                  <a:srgbClr val="183983"/>
                </a:solidFill>
                <a:latin typeface="Cambria" panose="02040503050406030204" pitchFamily="18" charset="0"/>
                <a:ea typeface="Cambria" panose="02040503050406030204" pitchFamily="18" charset="0"/>
                <a:cs typeface="思源黑体-思源黑体-Medium" pitchFamily="34" charset="-120"/>
              </a:rPr>
              <a:t>Forward Error Correction</a:t>
            </a:r>
            <a:endParaRPr lang="en-US" sz="4190" dirty="0">
              <a:latin typeface="Cambria" panose="02040503050406030204" pitchFamily="18" charset="0"/>
              <a:ea typeface="Cambria" panose="02040503050406030204" pitchFamily="18" charset="0"/>
            </a:endParaRPr>
          </a:p>
        </p:txBody>
      </p:sp>
      <p:sp>
        <p:nvSpPr>
          <p:cNvPr id="11" name="Text 7"/>
          <p:cNvSpPr/>
          <p:nvPr/>
        </p:nvSpPr>
        <p:spPr>
          <a:xfrm>
            <a:off x="8010144" y="5971032"/>
            <a:ext cx="5596128" cy="301752"/>
          </a:xfrm>
          <a:prstGeom prst="rect">
            <a:avLst/>
          </a:prstGeom>
          <a:noFill/>
          <a:ln/>
        </p:spPr>
        <p:txBody>
          <a:bodyPr wrap="none" lIns="0" tIns="0" rIns="0" bIns="0" rtlCol="0" anchor="ctr"/>
          <a:lstStyle/>
          <a:p>
            <a:pPr marL="0" indent="0" algn="l">
              <a:lnSpc>
                <a:spcPts val="2340"/>
              </a:lnSpc>
              <a:buNone/>
            </a:pPr>
            <a:r>
              <a:rPr lang="en-US" sz="2000" dirty="0">
                <a:latin typeface="+mj-lt"/>
                <a:ea typeface="思源黑体-思源黑体-Medium" pitchFamily="34" charset="-122"/>
                <a:cs typeface="思源黑体-思源黑体-Medium" pitchFamily="34" charset="-120"/>
              </a:rPr>
              <a:t>Instead need to correct errors on basis of bits received.</a:t>
            </a:r>
            <a:endParaRPr lang="en-US" sz="2000" dirty="0">
              <a:latin typeface="+mj-lt"/>
            </a:endParaRPr>
          </a:p>
        </p:txBody>
      </p:sp>
      <p:pic>
        <p:nvPicPr>
          <p:cNvPr id="12" name="Picture 11">
            <a:extLst>
              <a:ext uri="{FF2B5EF4-FFF2-40B4-BE49-F238E27FC236}">
                <a16:creationId xmlns:a16="http://schemas.microsoft.com/office/drawing/2014/main" id="{5BAE3F82-559B-4879-873D-887EC3D8AE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86384" y="3538728"/>
            <a:ext cx="13066776" cy="923544"/>
          </a:xfrm>
          <a:prstGeom prst="rect">
            <a:avLst/>
          </a:prstGeom>
          <a:noFill/>
          <a:ln/>
        </p:spPr>
        <p:txBody>
          <a:bodyPr wrap="none" lIns="0" tIns="0" rIns="0" bIns="0" rtlCol="0" anchor="ctr"/>
          <a:lstStyle/>
          <a:p>
            <a:pPr marL="0" indent="0" algn="ctr">
              <a:lnSpc>
                <a:spcPts val="7230"/>
              </a:lnSpc>
              <a:buNone/>
            </a:pPr>
            <a:r>
              <a:rPr lang="en-US" sz="6000" dirty="0">
                <a:solidFill>
                  <a:srgbClr val="183983"/>
                </a:solidFill>
                <a:latin typeface="Cambria" panose="02040503050406030204" pitchFamily="18" charset="0"/>
                <a:ea typeface="Cambria" panose="02040503050406030204" pitchFamily="18" charset="0"/>
                <a:cs typeface="思源黑体-思源黑体-Medium" pitchFamily="34" charset="-120"/>
              </a:rPr>
              <a:t>Thank You</a:t>
            </a:r>
            <a:endParaRPr lang="en-US" sz="60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52D92C24-93B2-4ABA-AC70-B81D14CDBB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800" y="7351846"/>
            <a:ext cx="2396067" cy="5662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621</TotalTime>
  <Words>2717</Words>
  <Application>Microsoft Office PowerPoint</Application>
  <PresentationFormat>Custom</PresentationFormat>
  <Paragraphs>369</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Cambria</vt:lpstr>
      <vt:lpstr>Wingdings</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Pushparaj shetty</cp:lastModifiedBy>
  <cp:revision>9</cp:revision>
  <dcterms:created xsi:type="dcterms:W3CDTF">2025-07-09T05:18:08Z</dcterms:created>
  <dcterms:modified xsi:type="dcterms:W3CDTF">2025-07-11T07:52:43Z</dcterms:modified>
</cp:coreProperties>
</file>