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61" r:id="rId3"/>
    <p:sldId id="263" r:id="rId4"/>
    <p:sldId id="265" r:id="rId5"/>
    <p:sldId id="266" r:id="rId6"/>
    <p:sldId id="268" r:id="rId7"/>
    <p:sldId id="269" r:id="rId8"/>
    <p:sldId id="271" r:id="rId9"/>
    <p:sldId id="272" r:id="rId10"/>
    <p:sldId id="289" r:id="rId11"/>
    <p:sldId id="275" r:id="rId12"/>
    <p:sldId id="277" r:id="rId13"/>
    <p:sldId id="279" r:id="rId14"/>
    <p:sldId id="283" r:id="rId15"/>
    <p:sldId id="290" r:id="rId16"/>
    <p:sldId id="287" r:id="rId17"/>
    <p:sldId id="288" r:id="rId18"/>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52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7710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51259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329425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21040"/>
          </a:xfrm>
          <a:prstGeom prst="rect">
            <a:avLst/>
          </a:prstGeom>
        </p:spPr>
      </p:pic>
      <p:pic>
        <p:nvPicPr>
          <p:cNvPr id="3" name="Image 1" descr="preencoded.png"/>
          <p:cNvPicPr>
            <a:picLocks noChangeAspect="1"/>
          </p:cNvPicPr>
          <p:nvPr/>
        </p:nvPicPr>
        <p:blipFill>
          <a:blip r:embed="rId4"/>
          <a:stretch>
            <a:fillRect/>
          </a:stretch>
        </p:blipFill>
        <p:spPr>
          <a:xfrm>
            <a:off x="0" y="0"/>
            <a:ext cx="14630400" cy="2807208"/>
          </a:xfrm>
          <a:prstGeom prst="rect">
            <a:avLst/>
          </a:prstGeom>
        </p:spPr>
      </p:pic>
      <p:sp>
        <p:nvSpPr>
          <p:cNvPr id="6" name="Text 0"/>
          <p:cNvSpPr/>
          <p:nvPr/>
        </p:nvSpPr>
        <p:spPr>
          <a:xfrm>
            <a:off x="1078992" y="6903720"/>
            <a:ext cx="5870448" cy="374904"/>
          </a:xfrm>
          <a:prstGeom prst="rect">
            <a:avLst/>
          </a:prstGeom>
          <a:noFill/>
          <a:ln/>
        </p:spPr>
        <p:txBody>
          <a:bodyPr wrap="none" lIns="0" tIns="0" rIns="0" bIns="0" rtlCol="0" anchor="ctr"/>
          <a:lstStyle/>
          <a:p>
            <a:pPr marL="0" indent="0" algn="ctr">
              <a:lnSpc>
                <a:spcPts val="2900"/>
              </a:lnSpc>
              <a:buNone/>
            </a:pPr>
            <a:endParaRPr lang="en-US" sz="2320" dirty="0"/>
          </a:p>
        </p:txBody>
      </p:sp>
      <p:sp>
        <p:nvSpPr>
          <p:cNvPr id="7" name="Text 1"/>
          <p:cNvSpPr/>
          <p:nvPr/>
        </p:nvSpPr>
        <p:spPr>
          <a:xfrm>
            <a:off x="832104" y="3456432"/>
            <a:ext cx="12984480" cy="1761018"/>
          </a:xfrm>
          <a:prstGeom prst="rect">
            <a:avLst/>
          </a:prstGeom>
          <a:noFill/>
          <a:ln/>
        </p:spPr>
        <p:txBody>
          <a:bodyPr wrap="square" lIns="0" tIns="0" rIns="0" bIns="0" rtlCol="0" anchor="ctr"/>
          <a:lstStyle/>
          <a:p>
            <a:pPr marL="0" indent="0" algn="ctr">
              <a:lnSpc>
                <a:spcPts val="8010"/>
              </a:lnSpc>
              <a:buNone/>
            </a:pPr>
            <a:r>
              <a:rPr lang="en-US" sz="4800" b="1" dirty="0">
                <a:latin typeface="Cambria" panose="02040503050406030204" pitchFamily="18" charset="0"/>
                <a:ea typeface="Cambria" panose="02040503050406030204" pitchFamily="18" charset="0"/>
                <a:cs typeface="思源黑体-思源黑体-SemiBold" pitchFamily="34" charset="-120"/>
              </a:rPr>
              <a:t>Data Communication and Networks </a:t>
            </a:r>
          </a:p>
          <a:p>
            <a:pPr marL="0" indent="0" algn="ctr">
              <a:lnSpc>
                <a:spcPts val="8010"/>
              </a:lnSpc>
              <a:buNone/>
            </a:pPr>
            <a:r>
              <a:rPr lang="en-US" sz="4400" b="1" dirty="0">
                <a:solidFill>
                  <a:schemeClr val="accent1"/>
                </a:solidFill>
                <a:latin typeface="Cambria" panose="02040503050406030204" pitchFamily="18" charset="0"/>
                <a:ea typeface="Cambria" panose="02040503050406030204" pitchFamily="18" charset="0"/>
                <a:cs typeface="思源黑体-思源黑体-SemiBold" pitchFamily="34" charset="-120"/>
              </a:rPr>
              <a:t> </a:t>
            </a:r>
            <a:r>
              <a:rPr lang="en-US" sz="4000" b="1" dirty="0">
                <a:solidFill>
                  <a:schemeClr val="accent1"/>
                </a:solidFill>
                <a:latin typeface="Cambria" panose="02040503050406030204" pitchFamily="18" charset="0"/>
                <a:ea typeface="Cambria" panose="02040503050406030204" pitchFamily="18" charset="0"/>
                <a:cs typeface="思源黑体-思源黑体-SemiBold" pitchFamily="34" charset="-120"/>
              </a:rPr>
              <a:t>Networks Protocols and Architecture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8" name="Text 2"/>
          <p:cNvSpPr/>
          <p:nvPr/>
        </p:nvSpPr>
        <p:spPr>
          <a:xfrm>
            <a:off x="7690104" y="6903720"/>
            <a:ext cx="5870448" cy="374904"/>
          </a:xfrm>
          <a:prstGeom prst="rect">
            <a:avLst/>
          </a:prstGeom>
          <a:noFill/>
          <a:ln/>
        </p:spPr>
        <p:txBody>
          <a:bodyPr wrap="none" lIns="0" tIns="0" rIns="0" bIns="0" rtlCol="0" anchor="ctr"/>
          <a:lstStyle/>
          <a:p>
            <a:pPr marL="0" indent="0" algn="ctr">
              <a:lnSpc>
                <a:spcPts val="2900"/>
              </a:lnSpc>
              <a:buNone/>
            </a:pPr>
            <a:endParaRPr lang="en-US" sz="2320" dirty="0"/>
          </a:p>
        </p:txBody>
      </p:sp>
      <p:sp>
        <p:nvSpPr>
          <p:cNvPr id="10" name="TextBox 9">
            <a:extLst>
              <a:ext uri="{FF2B5EF4-FFF2-40B4-BE49-F238E27FC236}">
                <a16:creationId xmlns:a16="http://schemas.microsoft.com/office/drawing/2014/main" id="{2C5F88E0-7107-4207-9010-6E8A14ABA743}"/>
              </a:ext>
            </a:extLst>
          </p:cNvPr>
          <p:cNvSpPr txBox="1"/>
          <p:nvPr/>
        </p:nvSpPr>
        <p:spPr>
          <a:xfrm>
            <a:off x="1498600" y="5861304"/>
            <a:ext cx="9944100" cy="1815882"/>
          </a:xfrm>
          <a:prstGeom prst="rect">
            <a:avLst/>
          </a:prstGeom>
          <a:noFill/>
        </p:spPr>
        <p:txBody>
          <a:bodyPr wrap="square">
            <a:spAutoFit/>
          </a:bodyPr>
          <a:lstStyle/>
          <a:p>
            <a:pPr marL="0" indent="0" algn="l">
              <a:buNone/>
            </a:pPr>
            <a:r>
              <a:rPr lang="en-US" sz="2800" b="1" dirty="0">
                <a:solidFill>
                  <a:srgbClr val="011C2A"/>
                </a:solidFill>
                <a:latin typeface="Calibri" panose="020F0502020204030204" pitchFamily="34" charset="0"/>
                <a:ea typeface="思源黑体-思源黑体-Bold" pitchFamily="34" charset="-122"/>
                <a:cs typeface="Calibri" panose="020F0502020204030204" pitchFamily="34" charset="0"/>
              </a:rPr>
              <a:t>Dr. </a:t>
            </a:r>
            <a:r>
              <a:rPr lang="en-US" sz="2800" b="1" dirty="0" err="1">
                <a:solidFill>
                  <a:srgbClr val="011C2A"/>
                </a:solidFill>
                <a:latin typeface="Calibri" panose="020F0502020204030204" pitchFamily="34" charset="0"/>
                <a:ea typeface="思源黑体-思源黑体-Bold" pitchFamily="34" charset="-122"/>
                <a:cs typeface="Calibri" panose="020F0502020204030204" pitchFamily="34" charset="0"/>
              </a:rPr>
              <a:t>Spoorthi</a:t>
            </a:r>
            <a:r>
              <a:rPr lang="en-US" sz="2800" b="1" dirty="0">
                <a:solidFill>
                  <a:srgbClr val="011C2A"/>
                </a:solidFill>
                <a:latin typeface="Calibri" panose="020F0502020204030204" pitchFamily="34" charset="0"/>
                <a:ea typeface="思源黑体-思源黑体-Bold" pitchFamily="34" charset="-122"/>
                <a:cs typeface="Calibri" panose="020F0502020204030204" pitchFamily="34" charset="0"/>
              </a:rPr>
              <a:t> P Shetty</a:t>
            </a:r>
          </a:p>
          <a:p>
            <a:r>
              <a:rPr lang="en-US" sz="2800" dirty="0">
                <a:solidFill>
                  <a:srgbClr val="03141C"/>
                </a:solidFill>
                <a:latin typeface="Calibri" panose="020F0502020204030204" pitchFamily="34" charset="0"/>
                <a:ea typeface="Arial-Regular" pitchFamily="34" charset="-122"/>
                <a:cs typeface="Calibri" panose="020F0502020204030204" pitchFamily="34" charset="0"/>
              </a:rPr>
              <a:t>Associate Professor</a:t>
            </a:r>
          </a:p>
          <a:p>
            <a:r>
              <a:rPr lang="en-US" sz="2800" dirty="0">
                <a:solidFill>
                  <a:srgbClr val="03141C"/>
                </a:solidFill>
                <a:latin typeface="Calibri" panose="020F0502020204030204" pitchFamily="34" charset="0"/>
                <a:ea typeface="Arial-Regular" pitchFamily="34" charset="-122"/>
                <a:cs typeface="Calibri" panose="020F0502020204030204" pitchFamily="34" charset="0"/>
              </a:rPr>
              <a:t>Department of MCA</a:t>
            </a:r>
          </a:p>
          <a:p>
            <a:r>
              <a:rPr lang="en-US" sz="2800" dirty="0">
                <a:solidFill>
                  <a:srgbClr val="03141C"/>
                </a:solidFill>
                <a:latin typeface="Calibri" panose="020F0502020204030204" pitchFamily="34" charset="0"/>
                <a:ea typeface="Arial-Regular" pitchFamily="34" charset="-122"/>
                <a:cs typeface="Calibri" panose="020F0502020204030204" pitchFamily="34" charset="0"/>
              </a:rPr>
              <a:t>NMAM Institute of Technology, </a:t>
            </a:r>
            <a:r>
              <a:rPr lang="en-US" sz="2800" dirty="0" err="1">
                <a:solidFill>
                  <a:srgbClr val="03141C"/>
                </a:solidFill>
                <a:latin typeface="Calibri" panose="020F0502020204030204" pitchFamily="34" charset="0"/>
                <a:ea typeface="Arial-Regular" pitchFamily="34" charset="-122"/>
                <a:cs typeface="Calibri" panose="020F0502020204030204" pitchFamily="34" charset="0"/>
              </a:rPr>
              <a:t>Nitte</a:t>
            </a:r>
            <a:r>
              <a:rPr lang="en-US" sz="2800" dirty="0">
                <a:solidFill>
                  <a:srgbClr val="03141C"/>
                </a:solidFill>
                <a:latin typeface="Calibri" panose="020F0502020204030204" pitchFamily="34" charset="0"/>
                <a:ea typeface="Arial-Regular" pitchFamily="34" charset="-122"/>
                <a:cs typeface="Calibri" panose="020F0502020204030204" pitchFamily="34" charset="0"/>
              </a:rPr>
              <a:t> (Deemed to be University)</a:t>
            </a:r>
            <a:endParaRPr lang="en-US" sz="28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6380C372-0FB4-4244-BAA7-CB220FFA49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9747504"/>
          </a:xfrm>
          <a:prstGeom prst="rect">
            <a:avLst/>
          </a:prstGeom>
        </p:spPr>
      </p:pic>
      <p:pic>
        <p:nvPicPr>
          <p:cNvPr id="3" name="Image 1" descr="preencoded.png"/>
          <p:cNvPicPr>
            <a:picLocks noChangeAspect="1"/>
          </p:cNvPicPr>
          <p:nvPr/>
        </p:nvPicPr>
        <p:blipFill>
          <a:blip r:embed="rId4"/>
          <a:stretch>
            <a:fillRect/>
          </a:stretch>
        </p:blipFill>
        <p:spPr>
          <a:xfrm>
            <a:off x="0" y="0"/>
            <a:ext cx="14630400" cy="9747504"/>
          </a:xfrm>
          <a:prstGeom prst="rect">
            <a:avLst/>
          </a:prstGeom>
        </p:spPr>
      </p:pic>
      <p:sp>
        <p:nvSpPr>
          <p:cNvPr id="4" name="Text 0"/>
          <p:cNvSpPr/>
          <p:nvPr/>
        </p:nvSpPr>
        <p:spPr>
          <a:xfrm>
            <a:off x="1078992" y="3721608"/>
            <a:ext cx="12481560" cy="758952"/>
          </a:xfrm>
          <a:prstGeom prst="rect">
            <a:avLst/>
          </a:prstGeom>
          <a:noFill/>
          <a:ln/>
        </p:spPr>
        <p:txBody>
          <a:bodyPr wrap="square" lIns="0" tIns="0" rIns="0" bIns="0" rtlCol="0" anchor="ctr"/>
          <a:lstStyle/>
          <a:p>
            <a:pPr marL="342900" indent="-342900" algn="just">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 The file transfer application on the source system must ascertain that the file management program on the destination system is prepared to accept and store the file for this particular user.</a:t>
            </a:r>
            <a:endParaRPr lang="en-US" sz="2400" dirty="0">
              <a:latin typeface="+mj-lt"/>
            </a:endParaRPr>
          </a:p>
        </p:txBody>
      </p:sp>
      <p:sp>
        <p:nvSpPr>
          <p:cNvPr id="5" name="Text 1"/>
          <p:cNvSpPr/>
          <p:nvPr/>
        </p:nvSpPr>
        <p:spPr>
          <a:xfrm>
            <a:off x="1078992" y="8321040"/>
            <a:ext cx="12481560" cy="384048"/>
          </a:xfrm>
          <a:prstGeom prst="rect">
            <a:avLst/>
          </a:prstGeom>
          <a:noFill/>
          <a:ln/>
        </p:spPr>
        <p:txBody>
          <a:bodyPr wrap="none" lIns="0" tIns="0" rIns="0" bIns="0" rtlCol="0" anchor="ctr"/>
          <a:lstStyle/>
          <a:p>
            <a:pPr marL="342900" indent="-342900" algn="just">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It provides services to the next higher layer.</a:t>
            </a:r>
            <a:endParaRPr lang="en-US" sz="2400" dirty="0">
              <a:latin typeface="+mj-lt"/>
            </a:endParaRPr>
          </a:p>
        </p:txBody>
      </p:sp>
      <p:sp>
        <p:nvSpPr>
          <p:cNvPr id="6" name="Text 2"/>
          <p:cNvSpPr/>
          <p:nvPr/>
        </p:nvSpPr>
        <p:spPr>
          <a:xfrm>
            <a:off x="965200" y="649224"/>
            <a:ext cx="12851384" cy="740664"/>
          </a:xfrm>
          <a:prstGeom prst="rect">
            <a:avLst/>
          </a:prstGeom>
          <a:noFill/>
          <a:ln/>
        </p:spPr>
        <p:txBody>
          <a:bodyPr wrap="none" lIns="0" tIns="0" rIns="0" bIns="0" rtlCol="0" anchor="ctr"/>
          <a:lstStyle/>
          <a:p>
            <a:pPr marL="0" indent="0" algn="l">
              <a:lnSpc>
                <a:spcPts val="580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Need for a Protocol Architecture</a:t>
            </a:r>
            <a:endParaRPr lang="en-US" sz="4400" dirty="0">
              <a:latin typeface="Cambria" panose="02040503050406030204" pitchFamily="18" charset="0"/>
              <a:ea typeface="Cambria" panose="02040503050406030204" pitchFamily="18" charset="0"/>
            </a:endParaRPr>
          </a:p>
        </p:txBody>
      </p:sp>
      <p:sp>
        <p:nvSpPr>
          <p:cNvPr id="7" name="Text 3"/>
          <p:cNvSpPr/>
          <p:nvPr/>
        </p:nvSpPr>
        <p:spPr>
          <a:xfrm>
            <a:off x="1078992" y="3200400"/>
            <a:ext cx="12481560" cy="384048"/>
          </a:xfrm>
          <a:prstGeom prst="rect">
            <a:avLst/>
          </a:prstGeom>
          <a:noFill/>
          <a:ln/>
        </p:spPr>
        <p:txBody>
          <a:bodyPr wrap="none" lIns="0" tIns="0" rIns="0" bIns="0" rtlCol="0" anchor="ctr"/>
          <a:lstStyle/>
          <a:p>
            <a:pPr marL="342900" indent="-342900" algn="just">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The source system must ascertain that the destination system is prepared to receive data.</a:t>
            </a:r>
            <a:endParaRPr lang="en-US" sz="2400" dirty="0">
              <a:latin typeface="+mj-lt"/>
            </a:endParaRPr>
          </a:p>
        </p:txBody>
      </p:sp>
      <p:sp>
        <p:nvSpPr>
          <p:cNvPr id="8" name="Text 4"/>
          <p:cNvSpPr/>
          <p:nvPr/>
        </p:nvSpPr>
        <p:spPr>
          <a:xfrm>
            <a:off x="1078992" y="6281928"/>
            <a:ext cx="12481560" cy="758952"/>
          </a:xfrm>
          <a:prstGeom prst="rect">
            <a:avLst/>
          </a:prstGeom>
          <a:noFill/>
          <a:ln/>
        </p:spPr>
        <p:txBody>
          <a:bodyPr wrap="square" lIns="0" tIns="0" rIns="0" bIns="0" rtlCol="0" anchor="ctr"/>
          <a:lstStyle/>
          <a:p>
            <a:pPr marL="342900" indent="-342900" algn="just">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Each layer in the stack performs a related subset of the functions required to communicate with another system.</a:t>
            </a:r>
            <a:endParaRPr lang="en-US" sz="2400" dirty="0">
              <a:latin typeface="+mj-lt"/>
            </a:endParaRPr>
          </a:p>
        </p:txBody>
      </p:sp>
      <p:sp>
        <p:nvSpPr>
          <p:cNvPr id="9" name="Text 5"/>
          <p:cNvSpPr/>
          <p:nvPr/>
        </p:nvSpPr>
        <p:spPr>
          <a:xfrm>
            <a:off x="1078992" y="5641848"/>
            <a:ext cx="12481560" cy="384048"/>
          </a:xfrm>
          <a:prstGeom prst="rect">
            <a:avLst/>
          </a:prstGeom>
          <a:noFill/>
          <a:ln/>
        </p:spPr>
        <p:txBody>
          <a:bodyPr wrap="none" lIns="0" tIns="0" rIns="0" bIns="0" rtlCol="0" anchor="ctr"/>
          <a:lstStyle/>
          <a:p>
            <a:pPr marL="342900" indent="-342900" algn="just">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In a protocol architecture, the modules are arranged in a vertical stack.</a:t>
            </a:r>
            <a:endParaRPr lang="en-US" sz="2400" dirty="0">
              <a:latin typeface="+mj-lt"/>
            </a:endParaRPr>
          </a:p>
        </p:txBody>
      </p:sp>
      <p:sp>
        <p:nvSpPr>
          <p:cNvPr id="10" name="Text 6"/>
          <p:cNvSpPr/>
          <p:nvPr/>
        </p:nvSpPr>
        <p:spPr>
          <a:xfrm>
            <a:off x="1078992" y="4617720"/>
            <a:ext cx="12481560" cy="758952"/>
          </a:xfrm>
          <a:prstGeom prst="rect">
            <a:avLst/>
          </a:prstGeom>
          <a:noFill/>
          <a:ln/>
        </p:spPr>
        <p:txBody>
          <a:bodyPr wrap="square" lIns="0" tIns="0" rIns="0" bIns="0" rtlCol="0" anchor="ctr"/>
          <a:lstStyle/>
          <a:p>
            <a:pPr marL="342900" indent="-342900" algn="just">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 If the file formats used on the two systems are different, one or the other system must perform a format translation function.</a:t>
            </a:r>
            <a:endParaRPr lang="en-US" sz="2400" dirty="0">
              <a:latin typeface="+mj-lt"/>
            </a:endParaRPr>
          </a:p>
        </p:txBody>
      </p:sp>
      <p:sp>
        <p:nvSpPr>
          <p:cNvPr id="11" name="Text 7"/>
          <p:cNvSpPr/>
          <p:nvPr/>
        </p:nvSpPr>
        <p:spPr>
          <a:xfrm>
            <a:off x="1078992" y="2304288"/>
            <a:ext cx="12481560" cy="758952"/>
          </a:xfrm>
          <a:prstGeom prst="rect">
            <a:avLst/>
          </a:prstGeom>
          <a:noFill/>
          <a:ln/>
        </p:spPr>
        <p:txBody>
          <a:bodyPr wrap="square" lIns="0" tIns="0" rIns="0" bIns="0" rtlCol="0" anchor="ctr"/>
          <a:lstStyle/>
          <a:p>
            <a:pPr marL="342900" indent="-342900" algn="just">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The source system must either activate the direct data communication path or inform the communication network of the identity of the desired destination system.</a:t>
            </a:r>
            <a:endParaRPr lang="en-US" sz="2400" dirty="0">
              <a:latin typeface="+mj-lt"/>
            </a:endParaRPr>
          </a:p>
        </p:txBody>
      </p:sp>
      <p:sp>
        <p:nvSpPr>
          <p:cNvPr id="12" name="Text 8"/>
          <p:cNvSpPr/>
          <p:nvPr/>
        </p:nvSpPr>
        <p:spPr>
          <a:xfrm>
            <a:off x="1078992" y="1792224"/>
            <a:ext cx="12481560" cy="384048"/>
          </a:xfrm>
          <a:prstGeom prst="rect">
            <a:avLst/>
          </a:prstGeom>
          <a:noFill/>
          <a:ln/>
        </p:spPr>
        <p:txBody>
          <a:bodyPr wrap="none" lIns="0" tIns="0" rIns="0" bIns="0" rtlCol="0" anchor="ctr"/>
          <a:lstStyle/>
          <a:p>
            <a:pPr marL="342900" indent="-342900" algn="just">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Tasks to be performed during the file transfer between two computers are:</a:t>
            </a:r>
            <a:endParaRPr lang="en-US" sz="2400" dirty="0">
              <a:latin typeface="+mj-lt"/>
            </a:endParaRPr>
          </a:p>
        </p:txBody>
      </p:sp>
      <p:sp>
        <p:nvSpPr>
          <p:cNvPr id="13" name="Text 9"/>
          <p:cNvSpPr/>
          <p:nvPr/>
        </p:nvSpPr>
        <p:spPr>
          <a:xfrm>
            <a:off x="1078992" y="7306056"/>
            <a:ext cx="12481560" cy="758952"/>
          </a:xfrm>
          <a:prstGeom prst="rect">
            <a:avLst/>
          </a:prstGeom>
          <a:noFill/>
          <a:ln/>
        </p:spPr>
        <p:txBody>
          <a:bodyPr wrap="square" lIns="0" tIns="0" rIns="0" bIns="0" rtlCol="0" anchor="ctr"/>
          <a:lstStyle/>
          <a:p>
            <a:pPr marL="342900" indent="-342900" algn="just">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It relies on the next lower layer to perform more primitive functions and to </a:t>
            </a:r>
          </a:p>
          <a:p>
            <a:pPr algn="just">
              <a:lnSpc>
                <a:spcPts val="2970"/>
              </a:lnSpc>
            </a:pPr>
            <a:r>
              <a:rPr lang="en-US" sz="2400" dirty="0">
                <a:latin typeface="+mj-lt"/>
                <a:ea typeface="思源黑体-思源黑体-Regular" pitchFamily="34" charset="-122"/>
                <a:cs typeface="思源黑体-思源黑体-Regular" pitchFamily="34" charset="-120"/>
              </a:rPr>
              <a:t>conceal the details of those functions.</a:t>
            </a:r>
            <a:endParaRPr lang="en-US" sz="2400" dirty="0">
              <a:latin typeface="+mj-lt"/>
            </a:endParaRPr>
          </a:p>
        </p:txBody>
      </p:sp>
      <p:pic>
        <p:nvPicPr>
          <p:cNvPr id="15" name="Picture 14">
            <a:extLst>
              <a:ext uri="{FF2B5EF4-FFF2-40B4-BE49-F238E27FC236}">
                <a16:creationId xmlns:a16="http://schemas.microsoft.com/office/drawing/2014/main" id="{6755F927-886C-44DE-AE5B-03D9FAC34B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1078992" y="2829560"/>
            <a:ext cx="12481560" cy="758952"/>
          </a:xfrm>
          <a:prstGeom prst="rect">
            <a:avLst/>
          </a:prstGeom>
          <a:noFill/>
          <a:ln/>
        </p:spPr>
        <p:txBody>
          <a:bodyPr wrap="square" lIns="0" tIns="0" rIns="0" bIns="0" rtlCol="0" anchor="ctr"/>
          <a:lstStyle/>
          <a:p>
            <a:pPr marL="342900" indent="-342900" algn="l">
              <a:lnSpc>
                <a:spcPct val="15000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The peer layers communicate by means of formatted blocks of data that obey a set of rules or conventions known as a protocol.</a:t>
            </a:r>
            <a:endParaRPr lang="en-US" sz="2400" dirty="0">
              <a:latin typeface="+mj-lt"/>
            </a:endParaRPr>
          </a:p>
        </p:txBody>
      </p:sp>
      <p:sp>
        <p:nvSpPr>
          <p:cNvPr id="5" name="Text 1"/>
          <p:cNvSpPr/>
          <p:nvPr/>
        </p:nvSpPr>
        <p:spPr>
          <a:xfrm>
            <a:off x="1078992" y="4365752"/>
            <a:ext cx="12481560" cy="384048"/>
          </a:xfrm>
          <a:prstGeom prst="rect">
            <a:avLst/>
          </a:prstGeom>
          <a:noFill/>
          <a:ln/>
        </p:spPr>
        <p:txBody>
          <a:bodyPr wrap="none" lIns="0" tIns="0" rIns="0" bIns="0" rtlCol="0" anchor="ctr"/>
          <a:lstStyle/>
          <a:p>
            <a:pPr algn="l">
              <a:lnSpc>
                <a:spcPct val="150000"/>
              </a:lnSpc>
            </a:pPr>
            <a:r>
              <a:rPr lang="en-US" sz="2400" dirty="0">
                <a:latin typeface="+mj-lt"/>
                <a:ea typeface="思源黑体-思源黑体-Regular" pitchFamily="34" charset="-122"/>
                <a:cs typeface="思源黑体-思源黑体-Regular" pitchFamily="34" charset="-120"/>
              </a:rPr>
              <a:t>    • Syntax: Concerns the format of the data blocks</a:t>
            </a:r>
            <a:endParaRPr lang="en-US" sz="2400" dirty="0">
              <a:latin typeface="+mj-lt"/>
            </a:endParaRPr>
          </a:p>
        </p:txBody>
      </p:sp>
      <p:sp>
        <p:nvSpPr>
          <p:cNvPr id="6" name="Text 2"/>
          <p:cNvSpPr/>
          <p:nvPr/>
        </p:nvSpPr>
        <p:spPr>
          <a:xfrm>
            <a:off x="1078992" y="3844544"/>
            <a:ext cx="12481560" cy="384048"/>
          </a:xfrm>
          <a:prstGeom prst="rect">
            <a:avLst/>
          </a:prstGeom>
          <a:noFill/>
          <a:ln/>
        </p:spPr>
        <p:txBody>
          <a:bodyPr wrap="none" lIns="0" tIns="0" rIns="0" bIns="0" rtlCol="0" anchor="ctr"/>
          <a:lstStyle/>
          <a:p>
            <a:pPr marL="342900" indent="-342900" algn="l">
              <a:lnSpc>
                <a:spcPct val="15000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The key features of a protocol are as follows:</a:t>
            </a:r>
            <a:endParaRPr lang="en-US" sz="2400" dirty="0">
              <a:latin typeface="+mj-lt"/>
            </a:endParaRPr>
          </a:p>
        </p:txBody>
      </p:sp>
      <p:sp>
        <p:nvSpPr>
          <p:cNvPr id="7" name="Text 3"/>
          <p:cNvSpPr/>
          <p:nvPr/>
        </p:nvSpPr>
        <p:spPr>
          <a:xfrm>
            <a:off x="1078992" y="4886960"/>
            <a:ext cx="12481560" cy="384048"/>
          </a:xfrm>
          <a:prstGeom prst="rect">
            <a:avLst/>
          </a:prstGeom>
          <a:noFill/>
          <a:ln/>
        </p:spPr>
        <p:txBody>
          <a:bodyPr wrap="none" lIns="0" tIns="0" rIns="0" bIns="0" rtlCol="0" anchor="ctr"/>
          <a:lstStyle/>
          <a:p>
            <a:pPr algn="l">
              <a:lnSpc>
                <a:spcPct val="150000"/>
              </a:lnSpc>
            </a:pPr>
            <a:r>
              <a:rPr lang="en-US" sz="2400" dirty="0">
                <a:latin typeface="+mj-lt"/>
                <a:ea typeface="思源黑体-思源黑体-Regular" pitchFamily="34" charset="-122"/>
                <a:cs typeface="思源黑体-思源黑体-Regular" pitchFamily="34" charset="-120"/>
              </a:rPr>
              <a:t>    • Semantics: Includes control information for coordination and error handling</a:t>
            </a:r>
            <a:endParaRPr lang="en-US" sz="2400" dirty="0">
              <a:latin typeface="+mj-lt"/>
            </a:endParaRPr>
          </a:p>
        </p:txBody>
      </p:sp>
      <p:sp>
        <p:nvSpPr>
          <p:cNvPr id="8" name="Text 4"/>
          <p:cNvSpPr/>
          <p:nvPr/>
        </p:nvSpPr>
        <p:spPr>
          <a:xfrm>
            <a:off x="1078992" y="2180336"/>
            <a:ext cx="12481560" cy="384048"/>
          </a:xfrm>
          <a:prstGeom prst="rect">
            <a:avLst/>
          </a:prstGeom>
          <a:noFill/>
          <a:ln/>
        </p:spPr>
        <p:txBody>
          <a:bodyPr wrap="none" lIns="0" tIns="0" rIns="0" bIns="0" rtlCol="0" anchor="ctr"/>
          <a:lstStyle/>
          <a:p>
            <a:pPr marL="342900" indent="-342900" algn="l">
              <a:lnSpc>
                <a:spcPct val="15000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Communication is achieved by having the corresponding, or peer, layers in two systems communicate.</a:t>
            </a:r>
            <a:endParaRPr lang="en-US" sz="2400" dirty="0">
              <a:latin typeface="+mj-lt"/>
            </a:endParaRPr>
          </a:p>
        </p:txBody>
      </p:sp>
      <p:sp>
        <p:nvSpPr>
          <p:cNvPr id="9" name="Text 5"/>
          <p:cNvSpPr/>
          <p:nvPr/>
        </p:nvSpPr>
        <p:spPr>
          <a:xfrm>
            <a:off x="635000" y="241300"/>
            <a:ext cx="13181584" cy="901700"/>
          </a:xfrm>
          <a:prstGeom prst="rect">
            <a:avLst/>
          </a:prstGeom>
          <a:noFill/>
          <a:ln/>
        </p:spPr>
        <p:txBody>
          <a:bodyPr wrap="none" lIns="0" tIns="0" rIns="0" bIns="0" rtlCol="0" anchor="ctr"/>
          <a:lstStyle/>
          <a:p>
            <a:pPr marL="0" indent="0" algn="l">
              <a:lnSpc>
                <a:spcPts val="580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Communication Protocols</a:t>
            </a:r>
            <a:endParaRPr lang="en-US" sz="4400" dirty="0">
              <a:latin typeface="Cambria" panose="02040503050406030204" pitchFamily="18" charset="0"/>
              <a:ea typeface="Cambria" panose="02040503050406030204" pitchFamily="18" charset="0"/>
            </a:endParaRPr>
          </a:p>
        </p:txBody>
      </p:sp>
      <p:sp>
        <p:nvSpPr>
          <p:cNvPr id="10" name="Text 6"/>
          <p:cNvSpPr/>
          <p:nvPr/>
        </p:nvSpPr>
        <p:spPr>
          <a:xfrm>
            <a:off x="1078992" y="5399024"/>
            <a:ext cx="12481560" cy="384048"/>
          </a:xfrm>
          <a:prstGeom prst="rect">
            <a:avLst/>
          </a:prstGeom>
          <a:noFill/>
          <a:ln/>
        </p:spPr>
        <p:txBody>
          <a:bodyPr wrap="none" lIns="0" tIns="0" rIns="0" bIns="0" rtlCol="0" anchor="ctr"/>
          <a:lstStyle/>
          <a:p>
            <a:pPr algn="l">
              <a:lnSpc>
                <a:spcPct val="150000"/>
              </a:lnSpc>
            </a:pPr>
            <a:r>
              <a:rPr lang="en-US" sz="2400" dirty="0">
                <a:latin typeface="+mj-lt"/>
                <a:ea typeface="思源黑体-思源黑体-Regular" pitchFamily="34" charset="-122"/>
                <a:cs typeface="思源黑体-思源黑体-Regular" pitchFamily="34" charset="-120"/>
              </a:rPr>
              <a:t>    • Timing: Includes speed matching and sequencing</a:t>
            </a:r>
            <a:endParaRPr lang="en-US" sz="2400" dirty="0">
              <a:latin typeface="+mj-lt"/>
            </a:endParaRPr>
          </a:p>
        </p:txBody>
      </p:sp>
      <p:pic>
        <p:nvPicPr>
          <p:cNvPr id="11" name="Picture 10">
            <a:extLst>
              <a:ext uri="{FF2B5EF4-FFF2-40B4-BE49-F238E27FC236}">
                <a16:creationId xmlns:a16="http://schemas.microsoft.com/office/drawing/2014/main" id="{597723CB-57B1-499F-997A-B02EDCE979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20662"/>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656064" y="0"/>
            <a:ext cx="4974336" cy="8238744"/>
          </a:xfrm>
          <a:prstGeom prst="rect">
            <a:avLst/>
          </a:prstGeom>
        </p:spPr>
      </p:pic>
      <p:sp>
        <p:nvSpPr>
          <p:cNvPr id="4" name="Text 0"/>
          <p:cNvSpPr/>
          <p:nvPr/>
        </p:nvSpPr>
        <p:spPr>
          <a:xfrm>
            <a:off x="493776" y="475488"/>
            <a:ext cx="8010144" cy="1481328"/>
          </a:xfrm>
          <a:prstGeom prst="rect">
            <a:avLst/>
          </a:prstGeom>
          <a:noFill/>
          <a:ln/>
        </p:spPr>
        <p:txBody>
          <a:bodyPr wrap="square" lIns="0" tIns="0" rIns="0" bIns="0" rtlCol="0" anchor="ctr"/>
          <a:lstStyle/>
          <a:p>
            <a:pPr marL="0" indent="0" algn="l">
              <a:lnSpc>
                <a:spcPts val="580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The TCP/IP Protocol Architecture</a:t>
            </a:r>
            <a:endParaRPr lang="en-US" sz="4400" dirty="0">
              <a:latin typeface="Cambria" panose="02040503050406030204" pitchFamily="18" charset="0"/>
              <a:ea typeface="Cambria" panose="02040503050406030204" pitchFamily="18" charset="0"/>
            </a:endParaRPr>
          </a:p>
        </p:txBody>
      </p:sp>
      <p:sp>
        <p:nvSpPr>
          <p:cNvPr id="5" name="Text 1"/>
          <p:cNvSpPr/>
          <p:nvPr/>
        </p:nvSpPr>
        <p:spPr>
          <a:xfrm>
            <a:off x="493776" y="2552700"/>
            <a:ext cx="8730906" cy="3014382"/>
          </a:xfrm>
          <a:prstGeom prst="rect">
            <a:avLst/>
          </a:prstGeom>
          <a:noFill/>
          <a:ln/>
        </p:spPr>
        <p:txBody>
          <a:bodyPr wrap="square" lIns="0" tIns="0" rIns="0" bIns="0" rtlCol="0" anchor="ctr"/>
          <a:lstStyle/>
          <a:p>
            <a:pPr marL="0" indent="0" algn="just">
              <a:lnSpc>
                <a:spcPct val="150000"/>
              </a:lnSpc>
              <a:buNone/>
            </a:pPr>
            <a:r>
              <a:rPr lang="en-US" sz="2800" dirty="0">
                <a:latin typeface="+mj-lt"/>
                <a:ea typeface="思源黑体-思源黑体-Regular" pitchFamily="34" charset="-122"/>
                <a:cs typeface="思源黑体-思源黑体-Regular" pitchFamily="34" charset="-120"/>
              </a:rPr>
              <a:t>The TCP/IP protocol architecture is a result of protocol research and development conducted on the experimental packet-switched network, ARPANET, funded by the Defense Advanced Research Projects Agency (DARPA), and is generally referred to as the TCP/IP protocol suite.</a:t>
            </a:r>
            <a:endParaRPr lang="en-US" sz="2800" dirty="0">
              <a:latin typeface="+mj-lt"/>
            </a:endParaRPr>
          </a:p>
        </p:txBody>
      </p:sp>
      <p:pic>
        <p:nvPicPr>
          <p:cNvPr id="6" name="Picture 5">
            <a:extLst>
              <a:ext uri="{FF2B5EF4-FFF2-40B4-BE49-F238E27FC236}">
                <a16:creationId xmlns:a16="http://schemas.microsoft.com/office/drawing/2014/main" id="{F6E28149-78A5-497B-8B00-BAACD99B9D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03632" y="192024"/>
            <a:ext cx="14630400" cy="8238744"/>
          </a:xfrm>
          <a:prstGeom prst="rect">
            <a:avLst/>
          </a:prstGeom>
        </p:spPr>
      </p:pic>
      <p:sp>
        <p:nvSpPr>
          <p:cNvPr id="4" name="Text 0"/>
          <p:cNvSpPr/>
          <p:nvPr/>
        </p:nvSpPr>
        <p:spPr>
          <a:xfrm>
            <a:off x="422656" y="4251706"/>
            <a:ext cx="5989320" cy="384048"/>
          </a:xfrm>
          <a:prstGeom prst="rect">
            <a:avLst/>
          </a:prstGeom>
          <a:noFill/>
          <a:ln/>
        </p:spPr>
        <p:txBody>
          <a:bodyPr wrap="none" lIns="0" tIns="0" rIns="0" bIns="0" rtlCol="0" anchor="ctr"/>
          <a:lstStyle/>
          <a:p>
            <a:pPr marL="0" indent="0" algn="just">
              <a:lnSpc>
                <a:spcPts val="2970"/>
              </a:lnSpc>
              <a:buNone/>
            </a:pPr>
            <a:endParaRPr lang="en-US" sz="2400" dirty="0">
              <a:latin typeface="+mj-lt"/>
            </a:endParaRPr>
          </a:p>
        </p:txBody>
      </p:sp>
      <p:sp>
        <p:nvSpPr>
          <p:cNvPr id="5" name="Text 1"/>
          <p:cNvSpPr/>
          <p:nvPr/>
        </p:nvSpPr>
        <p:spPr>
          <a:xfrm>
            <a:off x="795020" y="3471926"/>
            <a:ext cx="5989320" cy="384048"/>
          </a:xfrm>
          <a:prstGeom prst="rect">
            <a:avLst/>
          </a:prstGeom>
          <a:noFill/>
          <a:ln/>
        </p:spPr>
        <p:txBody>
          <a:bodyPr wrap="none" lIns="0" tIns="0" rIns="0" bIns="0" rtlCol="0" anchor="ctr"/>
          <a:lstStyle/>
          <a:p>
            <a:pPr marL="0" indent="0" algn="just">
              <a:lnSpc>
                <a:spcPts val="2970"/>
              </a:lnSpc>
              <a:buNone/>
            </a:pPr>
            <a:endParaRPr lang="en-US" sz="2400" dirty="0">
              <a:latin typeface="+mj-lt"/>
            </a:endParaRPr>
          </a:p>
        </p:txBody>
      </p:sp>
      <p:sp>
        <p:nvSpPr>
          <p:cNvPr id="6" name="Text 2"/>
          <p:cNvSpPr/>
          <p:nvPr/>
        </p:nvSpPr>
        <p:spPr>
          <a:xfrm>
            <a:off x="822960" y="749808"/>
            <a:ext cx="12984480" cy="740664"/>
          </a:xfrm>
          <a:prstGeom prst="rect">
            <a:avLst/>
          </a:prstGeom>
          <a:noFill/>
          <a:ln/>
        </p:spPr>
        <p:txBody>
          <a:bodyPr wrap="none" lIns="0" tIns="0" rIns="0" bIns="0" rtlCol="0" anchor="ctr"/>
          <a:lstStyle/>
          <a:p>
            <a:pPr marL="0" indent="0" algn="l">
              <a:lnSpc>
                <a:spcPts val="580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TCP/IP Layers</a:t>
            </a:r>
            <a:endParaRPr lang="en-US" sz="4400" dirty="0">
              <a:latin typeface="Cambria" panose="02040503050406030204" pitchFamily="18" charset="0"/>
              <a:ea typeface="Cambria" panose="02040503050406030204" pitchFamily="18" charset="0"/>
            </a:endParaRPr>
          </a:p>
        </p:txBody>
      </p:sp>
      <p:sp>
        <p:nvSpPr>
          <p:cNvPr id="7" name="Text 3"/>
          <p:cNvSpPr/>
          <p:nvPr/>
        </p:nvSpPr>
        <p:spPr>
          <a:xfrm>
            <a:off x="427228" y="2657475"/>
            <a:ext cx="5989320" cy="384048"/>
          </a:xfrm>
          <a:prstGeom prst="rect">
            <a:avLst/>
          </a:prstGeom>
          <a:noFill/>
          <a:ln/>
        </p:spPr>
        <p:txBody>
          <a:bodyPr wrap="none" lIns="0" tIns="0" rIns="0" bIns="0" rtlCol="0" anchor="ctr"/>
          <a:lstStyle/>
          <a:p>
            <a:pPr marL="0" indent="0" algn="just">
              <a:lnSpc>
                <a:spcPts val="2970"/>
              </a:lnSpc>
              <a:buNone/>
            </a:pPr>
            <a:endParaRPr lang="en-US" sz="2400" dirty="0">
              <a:latin typeface="+mj-lt"/>
            </a:endParaRPr>
          </a:p>
        </p:txBody>
      </p:sp>
      <p:sp>
        <p:nvSpPr>
          <p:cNvPr id="9" name="Text 5"/>
          <p:cNvSpPr/>
          <p:nvPr/>
        </p:nvSpPr>
        <p:spPr>
          <a:xfrm>
            <a:off x="822960" y="4967986"/>
            <a:ext cx="5989320" cy="384048"/>
          </a:xfrm>
          <a:prstGeom prst="rect">
            <a:avLst/>
          </a:prstGeom>
          <a:noFill/>
          <a:ln/>
        </p:spPr>
        <p:txBody>
          <a:bodyPr wrap="none" lIns="0" tIns="0" rIns="0" bIns="0" rtlCol="0" anchor="ctr"/>
          <a:lstStyle/>
          <a:p>
            <a:pPr marL="0" indent="0" algn="just">
              <a:lnSpc>
                <a:spcPts val="2970"/>
              </a:lnSpc>
              <a:buNone/>
            </a:pPr>
            <a:endParaRPr lang="en-US" sz="2400" dirty="0">
              <a:latin typeface="+mj-lt"/>
            </a:endParaRPr>
          </a:p>
        </p:txBody>
      </p:sp>
      <p:pic>
        <p:nvPicPr>
          <p:cNvPr id="11" name="Picture 10" descr="A diagram of a computer network&#10;&#10;Description automatically generated">
            <a:extLst>
              <a:ext uri="{FF2B5EF4-FFF2-40B4-BE49-F238E27FC236}">
                <a16:creationId xmlns:a16="http://schemas.microsoft.com/office/drawing/2014/main" id="{5F49251C-C1EC-4759-A786-8475A05EF176}"/>
              </a:ext>
            </a:extLst>
          </p:cNvPr>
          <p:cNvPicPr>
            <a:picLocks noChangeAspect="1"/>
          </p:cNvPicPr>
          <p:nvPr/>
        </p:nvPicPr>
        <p:blipFill>
          <a:blip r:embed="rId5"/>
          <a:stretch>
            <a:fillRect/>
          </a:stretch>
        </p:blipFill>
        <p:spPr>
          <a:xfrm>
            <a:off x="1126470" y="2048256"/>
            <a:ext cx="6982106" cy="5322976"/>
          </a:xfrm>
          <a:prstGeom prst="rect">
            <a:avLst/>
          </a:prstGeom>
        </p:spPr>
      </p:pic>
      <p:pic>
        <p:nvPicPr>
          <p:cNvPr id="12" name="Picture 11">
            <a:extLst>
              <a:ext uri="{FF2B5EF4-FFF2-40B4-BE49-F238E27FC236}">
                <a16:creationId xmlns:a16="http://schemas.microsoft.com/office/drawing/2014/main" id="{6254CBF5-D3F1-421C-8211-0093588738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656064" y="0"/>
            <a:ext cx="4974336" cy="8238744"/>
          </a:xfrm>
          <a:prstGeom prst="rect">
            <a:avLst/>
          </a:prstGeom>
        </p:spPr>
      </p:pic>
      <p:pic>
        <p:nvPicPr>
          <p:cNvPr id="4" name="Image 2" descr="preencoded.png"/>
          <p:cNvPicPr>
            <a:picLocks noChangeAspect="1"/>
          </p:cNvPicPr>
          <p:nvPr/>
        </p:nvPicPr>
        <p:blipFill>
          <a:blip r:embed="rId5"/>
          <a:stretch>
            <a:fillRect/>
          </a:stretch>
        </p:blipFill>
        <p:spPr>
          <a:xfrm>
            <a:off x="3593592" y="2670048"/>
            <a:ext cx="2487168" cy="3639312"/>
          </a:xfrm>
          <a:prstGeom prst="rect">
            <a:avLst/>
          </a:prstGeom>
        </p:spPr>
      </p:pic>
      <p:pic>
        <p:nvPicPr>
          <p:cNvPr id="5" name="Image 3" descr="preencoded.png"/>
          <p:cNvPicPr>
            <a:picLocks noChangeAspect="1"/>
          </p:cNvPicPr>
          <p:nvPr/>
        </p:nvPicPr>
        <p:blipFill>
          <a:blip r:embed="rId5"/>
          <a:stretch>
            <a:fillRect/>
          </a:stretch>
        </p:blipFill>
        <p:spPr>
          <a:xfrm>
            <a:off x="841248" y="2670048"/>
            <a:ext cx="2487168" cy="3639312"/>
          </a:xfrm>
          <a:prstGeom prst="rect">
            <a:avLst/>
          </a:prstGeom>
        </p:spPr>
      </p:pic>
      <p:pic>
        <p:nvPicPr>
          <p:cNvPr id="6" name="Image 4" descr="preencoded.png"/>
          <p:cNvPicPr>
            <a:picLocks noChangeAspect="1"/>
          </p:cNvPicPr>
          <p:nvPr/>
        </p:nvPicPr>
        <p:blipFill>
          <a:blip r:embed="rId5"/>
          <a:stretch>
            <a:fillRect/>
          </a:stretch>
        </p:blipFill>
        <p:spPr>
          <a:xfrm>
            <a:off x="6336792" y="2670048"/>
            <a:ext cx="2487168" cy="3639312"/>
          </a:xfrm>
          <a:prstGeom prst="rect">
            <a:avLst/>
          </a:prstGeom>
        </p:spPr>
      </p:pic>
      <p:sp>
        <p:nvSpPr>
          <p:cNvPr id="7" name="Text 0"/>
          <p:cNvSpPr/>
          <p:nvPr/>
        </p:nvSpPr>
        <p:spPr>
          <a:xfrm>
            <a:off x="6574536" y="2788920"/>
            <a:ext cx="2011680" cy="3401568"/>
          </a:xfrm>
          <a:prstGeom prst="rect">
            <a:avLst/>
          </a:prstGeom>
          <a:noFill/>
          <a:ln/>
        </p:spPr>
        <p:txBody>
          <a:bodyPr wrap="square" lIns="0" tIns="0" rIns="0" bIns="0" rtlCol="0" anchor="ctr"/>
          <a:lstStyle/>
          <a:p>
            <a:pPr marL="0" indent="0" algn="ctr">
              <a:lnSpc>
                <a:spcPts val="2970"/>
              </a:lnSpc>
              <a:buNone/>
            </a:pPr>
            <a:r>
              <a:rPr lang="en-US" sz="2000" dirty="0">
                <a:latin typeface="+mj-lt"/>
                <a:ea typeface="思源黑体-思源黑体-Regular" pitchFamily="34" charset="-122"/>
                <a:cs typeface="思源黑体-思源黑体-Regular" pitchFamily="34" charset="-120"/>
              </a:rPr>
              <a:t>When one application layer protocol wants to communicate with another application layer, it forwards its data to the transport layer.</a:t>
            </a:r>
            <a:endParaRPr lang="en-US" sz="2000" dirty="0">
              <a:latin typeface="+mj-lt"/>
            </a:endParaRPr>
          </a:p>
        </p:txBody>
      </p:sp>
      <p:sp>
        <p:nvSpPr>
          <p:cNvPr id="8" name="Text 1"/>
          <p:cNvSpPr/>
          <p:nvPr/>
        </p:nvSpPr>
        <p:spPr>
          <a:xfrm>
            <a:off x="3831336" y="2788920"/>
            <a:ext cx="2011680" cy="2267712"/>
          </a:xfrm>
          <a:prstGeom prst="rect">
            <a:avLst/>
          </a:prstGeom>
          <a:noFill/>
          <a:ln/>
        </p:spPr>
        <p:txBody>
          <a:bodyPr wrap="square" lIns="0" tIns="0" rIns="0" bIns="0" rtlCol="0" anchor="ctr"/>
          <a:lstStyle/>
          <a:p>
            <a:pPr marL="0" indent="0" algn="ctr">
              <a:lnSpc>
                <a:spcPts val="2970"/>
              </a:lnSpc>
              <a:buNone/>
            </a:pPr>
            <a:r>
              <a:rPr lang="en-US" sz="2000" dirty="0">
                <a:latin typeface="+mj-lt"/>
                <a:ea typeface="思源黑体-思源黑体-Regular" pitchFamily="34" charset="-122"/>
                <a:cs typeface="思源黑体-思源黑体-Regular" pitchFamily="34" charset="-120"/>
              </a:rPr>
              <a:t>This layer allows the user to interact with the application and supports user application</a:t>
            </a:r>
            <a:r>
              <a:rPr lang="en-US" sz="2000" dirty="0">
                <a:solidFill>
                  <a:srgbClr val="515151"/>
                </a:solidFill>
                <a:latin typeface="+mj-lt"/>
                <a:ea typeface="思源黑体-思源黑体-Regular" pitchFamily="34" charset="-122"/>
                <a:cs typeface="思源黑体-思源黑体-Regular" pitchFamily="34" charset="-120"/>
              </a:rPr>
              <a:t>.</a:t>
            </a:r>
            <a:endParaRPr lang="en-US" sz="2000" dirty="0">
              <a:latin typeface="+mj-lt"/>
            </a:endParaRPr>
          </a:p>
        </p:txBody>
      </p:sp>
      <p:sp>
        <p:nvSpPr>
          <p:cNvPr id="9" name="Text 2"/>
          <p:cNvSpPr/>
          <p:nvPr/>
        </p:nvSpPr>
        <p:spPr>
          <a:xfrm>
            <a:off x="282388" y="134471"/>
            <a:ext cx="8559860" cy="1183341"/>
          </a:xfrm>
          <a:prstGeom prst="rect">
            <a:avLst/>
          </a:prstGeom>
          <a:noFill/>
          <a:ln/>
        </p:spPr>
        <p:txBody>
          <a:bodyPr wrap="none" lIns="0" tIns="0" rIns="0" bIns="0" rtlCol="0" anchor="ctr"/>
          <a:lstStyle/>
          <a:p>
            <a:pPr marL="0" indent="0" algn="l">
              <a:lnSpc>
                <a:spcPts val="580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Application Layer</a:t>
            </a:r>
            <a:endParaRPr lang="en-US" sz="4400" dirty="0">
              <a:latin typeface="Cambria" panose="02040503050406030204" pitchFamily="18" charset="0"/>
              <a:ea typeface="Cambria" panose="02040503050406030204" pitchFamily="18" charset="0"/>
            </a:endParaRPr>
          </a:p>
        </p:txBody>
      </p:sp>
      <p:sp>
        <p:nvSpPr>
          <p:cNvPr id="10" name="Text 3"/>
          <p:cNvSpPr/>
          <p:nvPr/>
        </p:nvSpPr>
        <p:spPr>
          <a:xfrm>
            <a:off x="1078992" y="2788920"/>
            <a:ext cx="2011680" cy="1133856"/>
          </a:xfrm>
          <a:prstGeom prst="rect">
            <a:avLst/>
          </a:prstGeom>
          <a:noFill/>
          <a:ln/>
        </p:spPr>
        <p:txBody>
          <a:bodyPr wrap="square" lIns="0" tIns="0" rIns="0" bIns="0" rtlCol="0" anchor="ctr"/>
          <a:lstStyle/>
          <a:p>
            <a:pPr marL="0" indent="0" algn="ctr">
              <a:lnSpc>
                <a:spcPts val="2970"/>
              </a:lnSpc>
              <a:buNone/>
            </a:pPr>
            <a:r>
              <a:rPr lang="en-US" sz="2000" dirty="0">
                <a:latin typeface="+mj-lt"/>
                <a:ea typeface="思源黑体-思源黑体-Regular" pitchFamily="34" charset="-122"/>
                <a:cs typeface="思源黑体-思源黑体-Regular" pitchFamily="34" charset="-120"/>
              </a:rPr>
              <a:t>An application layer is the topmost layer.</a:t>
            </a:r>
            <a:endParaRPr lang="en-US" sz="2000" dirty="0">
              <a:latin typeface="+mj-lt"/>
            </a:endParaRPr>
          </a:p>
        </p:txBody>
      </p:sp>
      <p:pic>
        <p:nvPicPr>
          <p:cNvPr id="11" name="Picture 10">
            <a:extLst>
              <a:ext uri="{FF2B5EF4-FFF2-40B4-BE49-F238E27FC236}">
                <a16:creationId xmlns:a16="http://schemas.microsoft.com/office/drawing/2014/main" id="{AA0F79AD-3E43-442D-B200-E66773D8DE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21040"/>
          </a:xfrm>
          <a:prstGeom prst="rect">
            <a:avLst/>
          </a:prstGeom>
        </p:spPr>
      </p:pic>
      <p:pic>
        <p:nvPicPr>
          <p:cNvPr id="3" name="Image 1" descr="preencoded.png"/>
          <p:cNvPicPr>
            <a:picLocks noChangeAspect="1"/>
          </p:cNvPicPr>
          <p:nvPr/>
        </p:nvPicPr>
        <p:blipFill>
          <a:blip r:embed="rId4"/>
          <a:stretch>
            <a:fillRect/>
          </a:stretch>
        </p:blipFill>
        <p:spPr>
          <a:xfrm>
            <a:off x="0" y="0"/>
            <a:ext cx="14630400" cy="8321040"/>
          </a:xfrm>
          <a:prstGeom prst="rect">
            <a:avLst/>
          </a:prstGeom>
        </p:spPr>
      </p:pic>
      <p:sp>
        <p:nvSpPr>
          <p:cNvPr id="4" name="Text 0"/>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Protocols used in Application Layer</a:t>
            </a:r>
            <a:endParaRPr lang="en-US" sz="4400" dirty="0">
              <a:latin typeface="Cambria" panose="02040503050406030204" pitchFamily="18" charset="0"/>
              <a:ea typeface="Cambria" panose="02040503050406030204" pitchFamily="18" charset="0"/>
            </a:endParaRPr>
          </a:p>
        </p:txBody>
      </p:sp>
      <p:sp>
        <p:nvSpPr>
          <p:cNvPr id="5" name="Text 1"/>
          <p:cNvSpPr/>
          <p:nvPr/>
        </p:nvSpPr>
        <p:spPr>
          <a:xfrm>
            <a:off x="1078992" y="2807208"/>
            <a:ext cx="12481560" cy="758952"/>
          </a:xfrm>
          <a:prstGeom prst="rect">
            <a:avLst/>
          </a:prstGeom>
          <a:noFill/>
          <a:ln/>
        </p:spPr>
        <p:txBody>
          <a:bodyPr wrap="square" lIns="0" tIns="0" rIns="0" bIns="0" rtlCol="0" anchor="ctr"/>
          <a:lstStyle/>
          <a:p>
            <a:pPr marL="342900" indent="-342900" algn="just">
              <a:lnSpc>
                <a:spcPts val="2970"/>
              </a:lnSpc>
              <a:buFont typeface="Wingdings" panose="05000000000000000000" pitchFamily="2" charset="2"/>
              <a:buChar char="Ø"/>
            </a:pPr>
            <a:r>
              <a:rPr lang="en-US" sz="2000" dirty="0">
                <a:latin typeface="+mj-lt"/>
                <a:ea typeface="思源黑体-思源黑体-Regular" pitchFamily="34" charset="-122"/>
                <a:cs typeface="思源黑体-思源黑体-Regular" pitchFamily="34" charset="-120"/>
              </a:rPr>
              <a:t>SNMP (Simple Network Management Protocol): It is a framework used for managing the devices on the internet by using the TCP/IP protocol suite.</a:t>
            </a:r>
            <a:endParaRPr lang="en-US" sz="2000" dirty="0">
              <a:latin typeface="+mj-lt"/>
            </a:endParaRPr>
          </a:p>
        </p:txBody>
      </p:sp>
      <p:sp>
        <p:nvSpPr>
          <p:cNvPr id="6" name="Text 2"/>
          <p:cNvSpPr/>
          <p:nvPr/>
        </p:nvSpPr>
        <p:spPr>
          <a:xfrm>
            <a:off x="1078992" y="3831336"/>
            <a:ext cx="12481560" cy="384048"/>
          </a:xfrm>
          <a:prstGeom prst="rect">
            <a:avLst/>
          </a:prstGeom>
          <a:noFill/>
          <a:ln/>
        </p:spPr>
        <p:txBody>
          <a:bodyPr wrap="none" lIns="0" tIns="0" rIns="0" bIns="0" rtlCol="0" anchor="ctr"/>
          <a:lstStyle/>
          <a:p>
            <a:pPr marL="342900" indent="-342900" algn="just">
              <a:lnSpc>
                <a:spcPts val="2970"/>
              </a:lnSpc>
              <a:buFont typeface="Wingdings" panose="05000000000000000000" pitchFamily="2" charset="2"/>
              <a:buChar char="Ø"/>
            </a:pPr>
            <a:r>
              <a:rPr lang="en-US" sz="2000" dirty="0">
                <a:latin typeface="+mj-lt"/>
                <a:ea typeface="思源黑体-思源黑体-Regular" pitchFamily="34" charset="-122"/>
                <a:cs typeface="思源黑体-思源黑体-Regular" pitchFamily="34" charset="-120"/>
              </a:rPr>
              <a:t>SMTP (Simple Mail Transfer Protocol): This protocol is used to send the data to another e-mail address.</a:t>
            </a:r>
            <a:endParaRPr lang="en-US" sz="2000" dirty="0">
              <a:latin typeface="+mj-lt"/>
            </a:endParaRPr>
          </a:p>
        </p:txBody>
      </p:sp>
      <p:sp>
        <p:nvSpPr>
          <p:cNvPr id="7" name="Text 3"/>
          <p:cNvSpPr/>
          <p:nvPr/>
        </p:nvSpPr>
        <p:spPr>
          <a:xfrm>
            <a:off x="1078992" y="4471416"/>
            <a:ext cx="12481560" cy="1133856"/>
          </a:xfrm>
          <a:prstGeom prst="rect">
            <a:avLst/>
          </a:prstGeom>
          <a:noFill/>
          <a:ln/>
        </p:spPr>
        <p:txBody>
          <a:bodyPr wrap="square" lIns="0" tIns="0" rIns="0" bIns="0" rtlCol="0" anchor="ctr"/>
          <a:lstStyle/>
          <a:p>
            <a:pPr marL="342900" indent="-342900" algn="just">
              <a:lnSpc>
                <a:spcPts val="2970"/>
              </a:lnSpc>
              <a:buFont typeface="Wingdings" panose="05000000000000000000" pitchFamily="2" charset="2"/>
              <a:buChar char="Ø"/>
            </a:pPr>
            <a:r>
              <a:rPr lang="en-US" sz="2000" dirty="0">
                <a:latin typeface="+mj-lt"/>
                <a:ea typeface="思源黑体-思源黑体-Regular" pitchFamily="34" charset="-122"/>
                <a:cs typeface="思源黑体-思源黑体-Regular" pitchFamily="34" charset="-120"/>
              </a:rPr>
              <a:t>DNS (Domain Name System): An IP address is used to identify the connection of a host to the internet uniquely. But, people prefer to use the names instead of addresses. Therefore, the system that maps the name to the address is known as Domain Name System.</a:t>
            </a:r>
            <a:endParaRPr lang="en-US" sz="2000" dirty="0">
              <a:latin typeface="+mj-lt"/>
            </a:endParaRPr>
          </a:p>
        </p:txBody>
      </p:sp>
      <p:sp>
        <p:nvSpPr>
          <p:cNvPr id="8" name="Text 4"/>
          <p:cNvSpPr/>
          <p:nvPr/>
        </p:nvSpPr>
        <p:spPr>
          <a:xfrm>
            <a:off x="1078992" y="6894576"/>
            <a:ext cx="12481560" cy="384048"/>
          </a:xfrm>
          <a:prstGeom prst="rect">
            <a:avLst/>
          </a:prstGeom>
          <a:noFill/>
          <a:ln/>
        </p:spPr>
        <p:txBody>
          <a:bodyPr wrap="none" lIns="0" tIns="0" rIns="0" bIns="0" rtlCol="0" anchor="ctr"/>
          <a:lstStyle/>
          <a:p>
            <a:pPr marL="342900" indent="-342900" algn="just">
              <a:lnSpc>
                <a:spcPts val="2970"/>
              </a:lnSpc>
              <a:buFont typeface="Wingdings" panose="05000000000000000000" pitchFamily="2" charset="2"/>
              <a:buChar char="Ø"/>
            </a:pPr>
            <a:r>
              <a:rPr lang="en-US" sz="2000" dirty="0">
                <a:latin typeface="+mj-lt"/>
                <a:ea typeface="思源黑体-思源黑体-Regular" pitchFamily="34" charset="-122"/>
                <a:cs typeface="思源黑体-思源黑体-Regular" pitchFamily="34" charset="-120"/>
              </a:rPr>
              <a:t>FTP (File Transfer Protocol): It is used for transmitting the files from one computer to another.</a:t>
            </a:r>
            <a:endParaRPr lang="en-US" sz="2000" dirty="0">
              <a:latin typeface="+mj-lt"/>
            </a:endParaRPr>
          </a:p>
        </p:txBody>
      </p:sp>
      <p:sp>
        <p:nvSpPr>
          <p:cNvPr id="9" name="Text 5"/>
          <p:cNvSpPr/>
          <p:nvPr/>
        </p:nvSpPr>
        <p:spPr>
          <a:xfrm>
            <a:off x="1078992" y="1792224"/>
            <a:ext cx="12481560" cy="758952"/>
          </a:xfrm>
          <a:prstGeom prst="rect">
            <a:avLst/>
          </a:prstGeom>
          <a:noFill/>
          <a:ln/>
        </p:spPr>
        <p:txBody>
          <a:bodyPr wrap="square" lIns="0" tIns="0" rIns="0" bIns="0" rtlCol="0" anchor="ctr"/>
          <a:lstStyle/>
          <a:p>
            <a:pPr marL="342900" indent="-342900" algn="just">
              <a:lnSpc>
                <a:spcPts val="2970"/>
              </a:lnSpc>
              <a:buFont typeface="Wingdings" panose="05000000000000000000" pitchFamily="2" charset="2"/>
              <a:buChar char="Ø"/>
            </a:pPr>
            <a:r>
              <a:rPr lang="en-US" sz="2000" dirty="0">
                <a:latin typeface="+mj-lt"/>
                <a:ea typeface="思源黑体-思源黑体-Regular" pitchFamily="34" charset="-122"/>
                <a:cs typeface="思源黑体-思源黑体-Regular" pitchFamily="34" charset="-120"/>
              </a:rPr>
              <a:t>HTTP (Hypertext Transfer Protocol): This protocol allows us to access the data over the World Wide Web. It transfers the data in the form of plain text, audio, video.</a:t>
            </a:r>
            <a:endParaRPr lang="en-US" sz="2000" dirty="0">
              <a:latin typeface="+mj-lt"/>
            </a:endParaRPr>
          </a:p>
        </p:txBody>
      </p:sp>
      <p:sp>
        <p:nvSpPr>
          <p:cNvPr id="10" name="Text 6"/>
          <p:cNvSpPr/>
          <p:nvPr/>
        </p:nvSpPr>
        <p:spPr>
          <a:xfrm>
            <a:off x="1078992" y="5870448"/>
            <a:ext cx="12481560" cy="758952"/>
          </a:xfrm>
          <a:prstGeom prst="rect">
            <a:avLst/>
          </a:prstGeom>
          <a:noFill/>
          <a:ln/>
        </p:spPr>
        <p:txBody>
          <a:bodyPr wrap="square" lIns="0" tIns="0" rIns="0" bIns="0" rtlCol="0" anchor="ctr"/>
          <a:lstStyle/>
          <a:p>
            <a:pPr marL="342900" indent="-342900" algn="just">
              <a:lnSpc>
                <a:spcPts val="2970"/>
              </a:lnSpc>
              <a:buFont typeface="Wingdings" panose="05000000000000000000" pitchFamily="2" charset="2"/>
              <a:buChar char="Ø"/>
            </a:pPr>
            <a:r>
              <a:rPr lang="en-US" sz="2000" dirty="0">
                <a:latin typeface="+mj-lt"/>
                <a:ea typeface="思源黑体-思源黑体-Regular" pitchFamily="34" charset="-122"/>
                <a:cs typeface="思源黑体-思源黑体-Regular" pitchFamily="34" charset="-120"/>
              </a:rPr>
              <a:t>TELNET (Terminal Network): It establishes the connection between the local computer and remote computer in such a way that the local terminal appears to be a terminal at the remote system.</a:t>
            </a:r>
            <a:endParaRPr lang="en-US" sz="2000" dirty="0">
              <a:latin typeface="+mj-lt"/>
            </a:endParaRPr>
          </a:p>
        </p:txBody>
      </p:sp>
      <p:pic>
        <p:nvPicPr>
          <p:cNvPr id="11" name="Picture 10">
            <a:extLst>
              <a:ext uri="{FF2B5EF4-FFF2-40B4-BE49-F238E27FC236}">
                <a16:creationId xmlns:a16="http://schemas.microsoft.com/office/drawing/2014/main" id="{9A01B697-B6AD-4A4E-A4C2-2E3E036822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sp>
        <p:nvSpPr>
          <p:cNvPr id="6" name="Text 0"/>
          <p:cNvSpPr/>
          <p:nvPr/>
        </p:nvSpPr>
        <p:spPr>
          <a:xfrm>
            <a:off x="5212080" y="676656"/>
            <a:ext cx="8010144" cy="740664"/>
          </a:xfrm>
          <a:prstGeom prst="rect">
            <a:avLst/>
          </a:prstGeom>
          <a:noFill/>
          <a:ln/>
        </p:spPr>
        <p:txBody>
          <a:bodyPr wrap="none" lIns="0" tIns="0" rIns="0" bIns="0" rtlCol="0" anchor="ctr"/>
          <a:lstStyle/>
          <a:p>
            <a:pPr marL="0" indent="0" algn="l">
              <a:lnSpc>
                <a:spcPts val="580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Transport Layer (TCP)</a:t>
            </a:r>
            <a:endParaRPr lang="en-US" sz="4400" dirty="0">
              <a:latin typeface="Cambria" panose="02040503050406030204" pitchFamily="18" charset="0"/>
              <a:ea typeface="Cambria" panose="02040503050406030204" pitchFamily="18" charset="0"/>
            </a:endParaRPr>
          </a:p>
        </p:txBody>
      </p:sp>
      <p:sp>
        <p:nvSpPr>
          <p:cNvPr id="7" name="Text 1"/>
          <p:cNvSpPr/>
          <p:nvPr/>
        </p:nvSpPr>
        <p:spPr>
          <a:xfrm>
            <a:off x="6583680" y="3730752"/>
            <a:ext cx="7214616" cy="384048"/>
          </a:xfrm>
          <a:prstGeom prst="rect">
            <a:avLst/>
          </a:prstGeom>
          <a:noFill/>
          <a:ln/>
        </p:spPr>
        <p:txBody>
          <a:bodyPr wrap="none" lIns="0" tIns="0" rIns="0" bIns="0" rtlCol="0" anchor="ctr"/>
          <a:lstStyle/>
          <a:p>
            <a:pPr marL="342900" indent="-342900" algn="l">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Called as Host-to-Host layer.</a:t>
            </a:r>
            <a:endParaRPr lang="en-US" sz="2400" dirty="0">
              <a:latin typeface="+mj-lt"/>
            </a:endParaRPr>
          </a:p>
        </p:txBody>
      </p:sp>
      <p:sp>
        <p:nvSpPr>
          <p:cNvPr id="8" name="Text 2"/>
          <p:cNvSpPr/>
          <p:nvPr/>
        </p:nvSpPr>
        <p:spPr>
          <a:xfrm>
            <a:off x="5971032" y="4754880"/>
            <a:ext cx="173736" cy="43891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9" name="Text 3"/>
          <p:cNvSpPr/>
          <p:nvPr/>
        </p:nvSpPr>
        <p:spPr>
          <a:xfrm>
            <a:off x="5971032" y="3721608"/>
            <a:ext cx="173736" cy="43891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10" name="Text 4"/>
          <p:cNvSpPr/>
          <p:nvPr/>
        </p:nvSpPr>
        <p:spPr>
          <a:xfrm>
            <a:off x="6583680" y="4764024"/>
            <a:ext cx="7214616" cy="758952"/>
          </a:xfrm>
          <a:prstGeom prst="rect">
            <a:avLst/>
          </a:prstGeom>
          <a:noFill/>
          <a:ln/>
        </p:spPr>
        <p:txBody>
          <a:bodyPr wrap="square" lIns="0" tIns="0" rIns="0" bIns="0" rtlCol="0" anchor="ctr"/>
          <a:lstStyle/>
          <a:p>
            <a:pPr marL="342900" indent="-342900" algn="l">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Responsible for the reliability, flow control, and correction of data which is being sent over the network.</a:t>
            </a:r>
            <a:endParaRPr lang="en-US" sz="2400" dirty="0">
              <a:latin typeface="+mj-lt"/>
            </a:endParaRPr>
          </a:p>
        </p:txBody>
      </p:sp>
      <p:pic>
        <p:nvPicPr>
          <p:cNvPr id="11" name="Picture 10">
            <a:extLst>
              <a:ext uri="{FF2B5EF4-FFF2-40B4-BE49-F238E27FC236}">
                <a16:creationId xmlns:a16="http://schemas.microsoft.com/office/drawing/2014/main" id="{B08369AF-2CE0-45C4-B37E-484C614919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6967728"/>
          </a:xfrm>
          <a:prstGeom prst="rect">
            <a:avLst/>
          </a:prstGeom>
        </p:spPr>
      </p:pic>
      <p:pic>
        <p:nvPicPr>
          <p:cNvPr id="4" name="Image 2" descr="preencoded.png"/>
          <p:cNvPicPr>
            <a:picLocks noChangeAspect="1"/>
          </p:cNvPicPr>
          <p:nvPr/>
        </p:nvPicPr>
        <p:blipFill>
          <a:blip r:embed="rId5"/>
          <a:stretch>
            <a:fillRect/>
          </a:stretch>
        </p:blipFill>
        <p:spPr>
          <a:xfrm>
            <a:off x="9939528" y="4434840"/>
            <a:ext cx="3858768" cy="1746504"/>
          </a:xfrm>
          <a:prstGeom prst="rect">
            <a:avLst/>
          </a:prstGeom>
        </p:spPr>
      </p:pic>
      <p:pic>
        <p:nvPicPr>
          <p:cNvPr id="5" name="Image 3" descr="preencoded.png"/>
          <p:cNvPicPr>
            <a:picLocks noChangeAspect="1"/>
          </p:cNvPicPr>
          <p:nvPr/>
        </p:nvPicPr>
        <p:blipFill>
          <a:blip r:embed="rId6"/>
          <a:stretch>
            <a:fillRect/>
          </a:stretch>
        </p:blipFill>
        <p:spPr>
          <a:xfrm>
            <a:off x="9939528" y="2798064"/>
            <a:ext cx="3858768" cy="1371600"/>
          </a:xfrm>
          <a:prstGeom prst="rect">
            <a:avLst/>
          </a:prstGeom>
        </p:spPr>
      </p:pic>
      <p:pic>
        <p:nvPicPr>
          <p:cNvPr id="6" name="Image 4" descr="preencoded.png"/>
          <p:cNvPicPr>
            <a:picLocks noChangeAspect="1"/>
          </p:cNvPicPr>
          <p:nvPr/>
        </p:nvPicPr>
        <p:blipFill>
          <a:blip r:embed="rId5"/>
          <a:stretch>
            <a:fillRect/>
          </a:stretch>
        </p:blipFill>
        <p:spPr>
          <a:xfrm>
            <a:off x="5815584" y="4434840"/>
            <a:ext cx="3858768" cy="1746504"/>
          </a:xfrm>
          <a:prstGeom prst="rect">
            <a:avLst/>
          </a:prstGeom>
        </p:spPr>
      </p:pic>
      <p:pic>
        <p:nvPicPr>
          <p:cNvPr id="7" name="Image 5" descr="preencoded.png"/>
          <p:cNvPicPr>
            <a:picLocks noChangeAspect="1"/>
          </p:cNvPicPr>
          <p:nvPr/>
        </p:nvPicPr>
        <p:blipFill>
          <a:blip r:embed="rId6"/>
          <a:stretch>
            <a:fillRect/>
          </a:stretch>
        </p:blipFill>
        <p:spPr>
          <a:xfrm>
            <a:off x="5815584" y="2798064"/>
            <a:ext cx="3858768" cy="1371600"/>
          </a:xfrm>
          <a:prstGeom prst="rect">
            <a:avLst/>
          </a:prstGeom>
        </p:spPr>
      </p:pic>
      <p:sp>
        <p:nvSpPr>
          <p:cNvPr id="8" name="Text 0"/>
          <p:cNvSpPr/>
          <p:nvPr/>
        </p:nvSpPr>
        <p:spPr>
          <a:xfrm>
            <a:off x="10177272" y="4553712"/>
            <a:ext cx="3383280" cy="1014984"/>
          </a:xfrm>
          <a:prstGeom prst="rect">
            <a:avLst/>
          </a:prstGeom>
          <a:noFill/>
          <a:ln/>
        </p:spPr>
        <p:txBody>
          <a:bodyPr wrap="square" lIns="0" tIns="0" rIns="0" bIns="0" rtlCol="0" anchor="ctr"/>
          <a:lstStyle/>
          <a:p>
            <a:pPr marL="0" indent="0" algn="ctr">
              <a:lnSpc>
                <a:spcPts val="2970"/>
              </a:lnSpc>
              <a:buNone/>
            </a:pPr>
            <a:r>
              <a:rPr lang="en-US" sz="2000" dirty="0">
                <a:latin typeface="+mj-lt"/>
                <a:ea typeface="思源黑体-思源黑体-Regular" pitchFamily="34" charset="-122"/>
                <a:cs typeface="思源黑体-思源黑体-Regular" pitchFamily="34" charset="-120"/>
              </a:rPr>
              <a:t>.</a:t>
            </a:r>
          </a:p>
          <a:p>
            <a:pPr marL="0" indent="0" algn="just">
              <a:lnSpc>
                <a:spcPts val="2970"/>
              </a:lnSpc>
              <a:buNone/>
            </a:pPr>
            <a:r>
              <a:rPr lang="en-US" sz="2000" dirty="0">
                <a:latin typeface="+mj-lt"/>
                <a:ea typeface="思源黑体-思源黑体-Regular" pitchFamily="34" charset="-122"/>
                <a:cs typeface="思源黑体-思源黑体-Regular" pitchFamily="34" charset="-120"/>
              </a:rPr>
              <a:t>To each of these pieces, TCP appends control information known as TCP header</a:t>
            </a:r>
            <a:endParaRPr lang="en-US" sz="2000" dirty="0">
              <a:latin typeface="+mj-lt"/>
            </a:endParaRPr>
          </a:p>
        </p:txBody>
      </p:sp>
      <p:sp>
        <p:nvSpPr>
          <p:cNvPr id="9" name="Text 1"/>
          <p:cNvSpPr/>
          <p:nvPr/>
        </p:nvSpPr>
        <p:spPr>
          <a:xfrm>
            <a:off x="5650994" y="658368"/>
            <a:ext cx="8010144" cy="740664"/>
          </a:xfrm>
          <a:prstGeom prst="rect">
            <a:avLst/>
          </a:prstGeom>
          <a:noFill/>
          <a:ln/>
        </p:spPr>
        <p:txBody>
          <a:bodyPr wrap="none" lIns="0" tIns="0" rIns="0" bIns="0" rtlCol="0" anchor="ctr"/>
          <a:lstStyle/>
          <a:p>
            <a:pPr marL="0" indent="0" algn="l">
              <a:lnSpc>
                <a:spcPts val="5800"/>
              </a:lnSpc>
              <a:buNone/>
            </a:pPr>
            <a:r>
              <a:rPr lang="en-US" sz="4640" dirty="0">
                <a:solidFill>
                  <a:srgbClr val="6F7CA6"/>
                </a:solidFill>
                <a:latin typeface="Cambria" panose="02040503050406030204" pitchFamily="18" charset="0"/>
                <a:ea typeface="Cambria" panose="02040503050406030204" pitchFamily="18" charset="0"/>
                <a:cs typeface="思源黑体-思源黑体-SemiBold" pitchFamily="34" charset="-120"/>
              </a:rPr>
              <a:t>Protocols used</a:t>
            </a:r>
            <a:endParaRPr lang="en-US" sz="4640" dirty="0">
              <a:latin typeface="Cambria" panose="02040503050406030204" pitchFamily="18" charset="0"/>
              <a:ea typeface="Cambria" panose="02040503050406030204" pitchFamily="18" charset="0"/>
            </a:endParaRPr>
          </a:p>
        </p:txBody>
      </p:sp>
      <p:sp>
        <p:nvSpPr>
          <p:cNvPr id="10" name="Text 2"/>
          <p:cNvSpPr/>
          <p:nvPr/>
        </p:nvSpPr>
        <p:spPr>
          <a:xfrm>
            <a:off x="10177272" y="2916936"/>
            <a:ext cx="3383280" cy="1133856"/>
          </a:xfrm>
          <a:prstGeom prst="rect">
            <a:avLst/>
          </a:prstGeom>
          <a:noFill/>
          <a:ln/>
        </p:spPr>
        <p:txBody>
          <a:bodyPr wrap="square" lIns="0" tIns="0" rIns="0" bIns="0" rtlCol="0" anchor="ctr"/>
          <a:lstStyle/>
          <a:p>
            <a:pPr marL="0" indent="0" algn="ctr">
              <a:lnSpc>
                <a:spcPts val="2970"/>
              </a:lnSpc>
              <a:buNone/>
            </a:pPr>
            <a:r>
              <a:rPr lang="en-US" sz="2000" dirty="0">
                <a:latin typeface="+mj-lt"/>
                <a:ea typeface="思源黑体-思源黑体-Regular" pitchFamily="34" charset="-122"/>
                <a:cs typeface="思源黑体-思源黑体-Regular" pitchFamily="34" charset="-120"/>
              </a:rPr>
              <a:t>Application layer generates a block of data and passes this to TCP.</a:t>
            </a:r>
            <a:endParaRPr lang="en-US" sz="2000" dirty="0">
              <a:latin typeface="+mj-lt"/>
            </a:endParaRPr>
          </a:p>
        </p:txBody>
      </p:sp>
      <p:sp>
        <p:nvSpPr>
          <p:cNvPr id="11" name="Text 3"/>
          <p:cNvSpPr/>
          <p:nvPr/>
        </p:nvSpPr>
        <p:spPr>
          <a:xfrm>
            <a:off x="6053328" y="2916936"/>
            <a:ext cx="3383280" cy="384048"/>
          </a:xfrm>
          <a:prstGeom prst="rect">
            <a:avLst/>
          </a:prstGeom>
          <a:noFill/>
          <a:ln/>
        </p:spPr>
        <p:txBody>
          <a:bodyPr wrap="none" lIns="0" tIns="0" rIns="0" bIns="0" rtlCol="0" anchor="ctr"/>
          <a:lstStyle/>
          <a:p>
            <a:pPr marL="0" indent="0" algn="ctr">
              <a:lnSpc>
                <a:spcPts val="2970"/>
              </a:lnSpc>
              <a:buNone/>
            </a:pPr>
            <a:r>
              <a:rPr lang="en-US" sz="1850" dirty="0">
                <a:latin typeface="思源黑体-思源黑体-Regular" pitchFamily="34" charset="0"/>
                <a:ea typeface="思源黑体-思源黑体-Regular" pitchFamily="34" charset="-122"/>
                <a:cs typeface="思源黑体-思源黑体-Regular" pitchFamily="34" charset="-120"/>
              </a:rPr>
              <a:t>TCP, UDP</a:t>
            </a:r>
            <a:endParaRPr lang="en-US" sz="1850" dirty="0"/>
          </a:p>
        </p:txBody>
      </p:sp>
      <p:sp>
        <p:nvSpPr>
          <p:cNvPr id="12" name="Text 4"/>
          <p:cNvSpPr/>
          <p:nvPr/>
        </p:nvSpPr>
        <p:spPr>
          <a:xfrm>
            <a:off x="6053328" y="4553712"/>
            <a:ext cx="3383280" cy="1133856"/>
          </a:xfrm>
          <a:prstGeom prst="rect">
            <a:avLst/>
          </a:prstGeom>
          <a:noFill/>
          <a:ln/>
        </p:spPr>
        <p:txBody>
          <a:bodyPr wrap="square" lIns="0" tIns="0" rIns="0" bIns="0" rtlCol="0" anchor="ctr"/>
          <a:lstStyle/>
          <a:p>
            <a:pPr marL="0" indent="0" algn="ctr">
              <a:lnSpc>
                <a:spcPts val="2970"/>
              </a:lnSpc>
              <a:buNone/>
            </a:pPr>
            <a:r>
              <a:rPr lang="en-US" sz="2000" dirty="0">
                <a:latin typeface="+mj-lt"/>
                <a:ea typeface="思源黑体-思源黑体-Regular" pitchFamily="34" charset="-122"/>
                <a:cs typeface="思源黑体-思源黑体-Regular" pitchFamily="34" charset="-120"/>
              </a:rPr>
              <a:t>TCP may break this block into smaller pieces to make it more manageable.</a:t>
            </a:r>
            <a:endParaRPr lang="en-US" sz="2000" dirty="0">
              <a:latin typeface="+mj-lt"/>
            </a:endParaRPr>
          </a:p>
        </p:txBody>
      </p:sp>
      <p:pic>
        <p:nvPicPr>
          <p:cNvPr id="16" name="Image 3" descr="preencoded.png">
            <a:extLst>
              <a:ext uri="{FF2B5EF4-FFF2-40B4-BE49-F238E27FC236}">
                <a16:creationId xmlns:a16="http://schemas.microsoft.com/office/drawing/2014/main" id="{7C1C52B7-26A0-4772-9237-E17EF326576C}"/>
              </a:ext>
            </a:extLst>
          </p:cNvPr>
          <p:cNvPicPr>
            <a:picLocks noChangeAspect="1"/>
          </p:cNvPicPr>
          <p:nvPr/>
        </p:nvPicPr>
        <p:blipFill>
          <a:blip r:embed="rId6"/>
          <a:stretch>
            <a:fillRect/>
          </a:stretch>
        </p:blipFill>
        <p:spPr>
          <a:xfrm>
            <a:off x="7617221" y="6501653"/>
            <a:ext cx="4370293" cy="1371600"/>
          </a:xfrm>
          <a:prstGeom prst="rect">
            <a:avLst/>
          </a:prstGeom>
        </p:spPr>
      </p:pic>
      <p:sp>
        <p:nvSpPr>
          <p:cNvPr id="18" name="TextBox 17">
            <a:extLst>
              <a:ext uri="{FF2B5EF4-FFF2-40B4-BE49-F238E27FC236}">
                <a16:creationId xmlns:a16="http://schemas.microsoft.com/office/drawing/2014/main" id="{4EEDF599-4B2C-4938-93C6-6F0CF56F3E00}"/>
              </a:ext>
            </a:extLst>
          </p:cNvPr>
          <p:cNvSpPr txBox="1"/>
          <p:nvPr/>
        </p:nvSpPr>
        <p:spPr>
          <a:xfrm>
            <a:off x="7992125" y="6967728"/>
            <a:ext cx="4370293" cy="400110"/>
          </a:xfrm>
          <a:prstGeom prst="rect">
            <a:avLst/>
          </a:prstGeom>
          <a:noFill/>
        </p:spPr>
        <p:txBody>
          <a:bodyPr wrap="square">
            <a:spAutoFit/>
          </a:bodyPr>
          <a:lstStyle/>
          <a:p>
            <a:r>
              <a:rPr lang="en-US" sz="2000" b="1" dirty="0">
                <a:latin typeface="+mj-lt"/>
                <a:ea typeface="思源黑体-思源黑体-Regular" pitchFamily="34" charset="-122"/>
                <a:cs typeface="思源黑体-思源黑体-Regular" pitchFamily="34" charset="-120"/>
              </a:rPr>
              <a:t>Data + TCP header= TCP segment</a:t>
            </a:r>
            <a:endParaRPr lang="en-IN" sz="2000" b="1" dirty="0"/>
          </a:p>
        </p:txBody>
      </p:sp>
      <p:pic>
        <p:nvPicPr>
          <p:cNvPr id="19" name="Picture 18">
            <a:extLst>
              <a:ext uri="{FF2B5EF4-FFF2-40B4-BE49-F238E27FC236}">
                <a16:creationId xmlns:a16="http://schemas.microsoft.com/office/drawing/2014/main" id="{6B75B2AC-8A02-4458-96D1-94A84ECA028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174812"/>
            <a:ext cx="14630400" cy="8238744"/>
          </a:xfrm>
          <a:prstGeom prst="rect">
            <a:avLst/>
          </a:prstGeom>
        </p:spPr>
      </p:pic>
      <p:sp>
        <p:nvSpPr>
          <p:cNvPr id="4" name="Text 0"/>
          <p:cNvSpPr/>
          <p:nvPr/>
        </p:nvSpPr>
        <p:spPr>
          <a:xfrm>
            <a:off x="1078992" y="3666747"/>
            <a:ext cx="12481560" cy="758952"/>
          </a:xfrm>
          <a:prstGeom prst="rect">
            <a:avLst/>
          </a:prstGeom>
          <a:noFill/>
          <a:ln/>
        </p:spPr>
        <p:txBody>
          <a:bodyPr wrap="square" lIns="0" tIns="0" rIns="0" bIns="0" rtlCol="0" anchor="ctr"/>
          <a:lstStyle/>
          <a:p>
            <a:pPr algn="just">
              <a:lnSpc>
                <a:spcPct val="150000"/>
              </a:lnSpc>
            </a:pPr>
            <a:endParaRPr lang="en-US" sz="2400" dirty="0">
              <a:latin typeface="+mj-lt"/>
            </a:endParaRPr>
          </a:p>
        </p:txBody>
      </p:sp>
      <p:sp>
        <p:nvSpPr>
          <p:cNvPr id="5" name="Text 1"/>
          <p:cNvSpPr/>
          <p:nvPr/>
        </p:nvSpPr>
        <p:spPr>
          <a:xfrm>
            <a:off x="832104" y="1335024"/>
            <a:ext cx="12984480" cy="740664"/>
          </a:xfrm>
          <a:prstGeom prst="rect">
            <a:avLst/>
          </a:prstGeom>
          <a:noFill/>
          <a:ln/>
        </p:spPr>
        <p:txBody>
          <a:bodyPr wrap="none" lIns="0" tIns="0" rIns="0" bIns="0" rtlCol="0" anchor="ctr"/>
          <a:lstStyle/>
          <a:p>
            <a:pPr marL="0" indent="0" algn="l">
              <a:lnSpc>
                <a:spcPts val="5800"/>
              </a:lnSpc>
              <a:buNone/>
            </a:pPr>
            <a:endParaRPr lang="en-US" sz="4640" dirty="0"/>
          </a:p>
        </p:txBody>
      </p:sp>
      <p:sp>
        <p:nvSpPr>
          <p:cNvPr id="6" name="Text 2"/>
          <p:cNvSpPr/>
          <p:nvPr/>
        </p:nvSpPr>
        <p:spPr>
          <a:xfrm>
            <a:off x="1173659" y="2434461"/>
            <a:ext cx="12481560" cy="758952"/>
          </a:xfrm>
          <a:prstGeom prst="rect">
            <a:avLst/>
          </a:prstGeom>
          <a:noFill/>
          <a:ln/>
        </p:spPr>
        <p:txBody>
          <a:bodyPr wrap="square" lIns="0" tIns="0" rIns="0" bIns="0" rtlCol="0" anchor="ctr"/>
          <a:lstStyle/>
          <a:p>
            <a:pPr algn="just">
              <a:lnSpc>
                <a:spcPct val="150000"/>
              </a:lnSpc>
            </a:pPr>
            <a:endParaRPr lang="en-US" sz="2400" dirty="0">
              <a:latin typeface="+mj-lt"/>
            </a:endParaRPr>
          </a:p>
        </p:txBody>
      </p:sp>
      <p:sp>
        <p:nvSpPr>
          <p:cNvPr id="7" name="Text 3"/>
          <p:cNvSpPr/>
          <p:nvPr/>
        </p:nvSpPr>
        <p:spPr>
          <a:xfrm>
            <a:off x="1078992" y="5311588"/>
            <a:ext cx="12481560" cy="503998"/>
          </a:xfrm>
          <a:prstGeom prst="rect">
            <a:avLst/>
          </a:prstGeom>
          <a:noFill/>
          <a:ln/>
        </p:spPr>
        <p:txBody>
          <a:bodyPr wrap="square" lIns="0" tIns="0" rIns="0" bIns="0" rtlCol="0" anchor="ctr"/>
          <a:lstStyle/>
          <a:p>
            <a:pPr algn="just">
              <a:lnSpc>
                <a:spcPct val="150000"/>
              </a:lnSpc>
            </a:pPr>
            <a:endParaRPr lang="en-US" sz="2400" dirty="0">
              <a:latin typeface="+mj-lt"/>
            </a:endParaRPr>
          </a:p>
        </p:txBody>
      </p:sp>
      <p:sp>
        <p:nvSpPr>
          <p:cNvPr id="8" name="Text 4"/>
          <p:cNvSpPr/>
          <p:nvPr/>
        </p:nvSpPr>
        <p:spPr>
          <a:xfrm>
            <a:off x="670739" y="781812"/>
            <a:ext cx="12984480" cy="594360"/>
          </a:xfrm>
          <a:prstGeom prst="rect">
            <a:avLst/>
          </a:prstGeom>
          <a:noFill/>
          <a:ln/>
        </p:spPr>
        <p:txBody>
          <a:bodyPr wrap="none" lIns="0" tIns="0" rIns="0" bIns="0" rtlCol="0" anchor="ctr"/>
          <a:lstStyle/>
          <a:p>
            <a:pPr marL="0" indent="0" algn="l">
              <a:lnSpc>
                <a:spcPts val="464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TCP Header Includes</a:t>
            </a:r>
            <a:r>
              <a:rPr lang="en-US" sz="3710" dirty="0">
                <a:solidFill>
                  <a:srgbClr val="6F7CA6"/>
                </a:solidFill>
                <a:latin typeface="思源黑体-思源黑体-SemiBold" pitchFamily="34" charset="0"/>
                <a:ea typeface="思源黑体-思源黑体-SemiBold" pitchFamily="34" charset="-122"/>
                <a:cs typeface="思源黑体-思源黑体-SemiBold" pitchFamily="34" charset="-120"/>
              </a:rPr>
              <a:t>:</a:t>
            </a:r>
            <a:endParaRPr lang="en-US" sz="3710" dirty="0"/>
          </a:p>
        </p:txBody>
      </p:sp>
      <p:sp>
        <p:nvSpPr>
          <p:cNvPr id="10" name="TextBox 9">
            <a:extLst>
              <a:ext uri="{FF2B5EF4-FFF2-40B4-BE49-F238E27FC236}">
                <a16:creationId xmlns:a16="http://schemas.microsoft.com/office/drawing/2014/main" id="{C4231DD6-1742-4F22-82EB-A69D2A39C696}"/>
              </a:ext>
            </a:extLst>
          </p:cNvPr>
          <p:cNvSpPr txBox="1"/>
          <p:nvPr/>
        </p:nvSpPr>
        <p:spPr>
          <a:xfrm>
            <a:off x="1173659" y="2970685"/>
            <a:ext cx="12984480" cy="4342856"/>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400" b="1" dirty="0">
                <a:latin typeface="+mj-lt"/>
                <a:ea typeface="思源黑体-思源黑体-Regular" pitchFamily="34" charset="-122"/>
                <a:cs typeface="思源黑体-思源黑体-Regular" pitchFamily="34" charset="-120"/>
              </a:rPr>
              <a:t>Destination port</a:t>
            </a:r>
            <a:r>
              <a:rPr lang="en-US" sz="2400" dirty="0">
                <a:latin typeface="+mj-lt"/>
                <a:ea typeface="思源黑体-思源黑体-Regular" pitchFamily="34" charset="-122"/>
                <a:cs typeface="思源黑体-思源黑体-Regular" pitchFamily="34" charset="-120"/>
              </a:rPr>
              <a:t>: When the TCP entity at B receives the segment, it must know to whom the data are to be delivered.</a:t>
            </a:r>
          </a:p>
          <a:p>
            <a:pPr marL="342900" indent="-342900" algn="just">
              <a:lnSpc>
                <a:spcPct val="150000"/>
              </a:lnSpc>
              <a:buFont typeface="Wingdings" panose="05000000000000000000" pitchFamily="2" charset="2"/>
              <a:buChar char="Ø"/>
            </a:pPr>
            <a:r>
              <a:rPr lang="en-US" sz="2400" b="1" dirty="0">
                <a:latin typeface="+mj-lt"/>
                <a:ea typeface="思源黑体-思源黑体-Regular" pitchFamily="34" charset="-122"/>
                <a:cs typeface="思源黑体-思源黑体-Regular" pitchFamily="34" charset="-120"/>
              </a:rPr>
              <a:t>Sequence </a:t>
            </a:r>
            <a:r>
              <a:rPr lang="en-US" sz="2400" b="1" dirty="0" err="1">
                <a:latin typeface="+mj-lt"/>
                <a:ea typeface="思源黑体-思源黑体-Regular" pitchFamily="34" charset="-122"/>
                <a:cs typeface="思源黑体-思源黑体-Regular" pitchFamily="34" charset="-120"/>
              </a:rPr>
              <a:t>number:</a:t>
            </a:r>
            <a:r>
              <a:rPr lang="en-US" sz="2400" dirty="0" err="1">
                <a:latin typeface="+mj-lt"/>
                <a:ea typeface="思源黑体-思源黑体-Regular" pitchFamily="34" charset="-122"/>
                <a:cs typeface="思源黑体-思源黑体-Regular" pitchFamily="34" charset="-120"/>
              </a:rPr>
              <a:t>TCP</a:t>
            </a:r>
            <a:r>
              <a:rPr lang="en-US" sz="2400" dirty="0">
                <a:latin typeface="+mj-lt"/>
                <a:ea typeface="思源黑体-思源黑体-Regular" pitchFamily="34" charset="-122"/>
                <a:cs typeface="思源黑体-思源黑体-Regular" pitchFamily="34" charset="-120"/>
              </a:rPr>
              <a:t> numbers the segments that it sends to a particular destination port sequentially, so that if they arrive out of order, the TCP entity at host B can reorder them.</a:t>
            </a:r>
          </a:p>
          <a:p>
            <a:pPr marL="342900" indent="-342900" algn="just">
              <a:lnSpc>
                <a:spcPct val="150000"/>
              </a:lnSpc>
              <a:buFont typeface="Wingdings" panose="05000000000000000000" pitchFamily="2" charset="2"/>
              <a:buChar char="Ø"/>
            </a:pPr>
            <a:r>
              <a:rPr lang="en-US" sz="2400" b="1" dirty="0">
                <a:latin typeface="+mj-lt"/>
                <a:ea typeface="思源黑体-思源黑体-Regular" pitchFamily="34" charset="-122"/>
                <a:cs typeface="思源黑体-思源黑体-Regular" pitchFamily="34" charset="-120"/>
              </a:rPr>
              <a:t>Checksum (Error detection code)</a:t>
            </a:r>
            <a:r>
              <a:rPr lang="en-US" sz="2400" dirty="0">
                <a:latin typeface="+mj-lt"/>
                <a:ea typeface="思源黑体-思源黑体-Regular" pitchFamily="34" charset="-122"/>
                <a:cs typeface="思源黑体-思源黑体-Regular" pitchFamily="34" charset="-120"/>
              </a:rPr>
              <a:t>: The sending TCP includes a code that is a function of the contents of the remainder of the segment. The receiving TCP performs the same calculation and compares the result with the incoming code. A discrepancy results if there has been some error in transmission.</a:t>
            </a:r>
            <a:endParaRPr lang="en-US" sz="2400" dirty="0">
              <a:latin typeface="+mj-lt"/>
            </a:endParaRPr>
          </a:p>
          <a:p>
            <a:pPr marL="342900" indent="-342900" algn="just">
              <a:lnSpc>
                <a:spcPct val="150000"/>
              </a:lnSpc>
              <a:buFont typeface="Wingdings" panose="05000000000000000000" pitchFamily="2" charset="2"/>
              <a:buChar char="Ø"/>
            </a:pPr>
            <a:endParaRPr lang="en-US" sz="1800" b="1" dirty="0">
              <a:latin typeface="+mj-lt"/>
              <a:ea typeface="思源黑体-思源黑体-Regular" pitchFamily="34" charset="-122"/>
              <a:cs typeface="思源黑体-思源黑体-Regular" pitchFamily="34" charset="-120"/>
            </a:endParaRPr>
          </a:p>
        </p:txBody>
      </p:sp>
      <p:pic>
        <p:nvPicPr>
          <p:cNvPr id="11" name="Picture 10">
            <a:extLst>
              <a:ext uri="{FF2B5EF4-FFF2-40B4-BE49-F238E27FC236}">
                <a16:creationId xmlns:a16="http://schemas.microsoft.com/office/drawing/2014/main" id="{1D06179B-0680-4E56-AFB9-301D7F56EB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extLst>
      <p:ext uri="{BB962C8B-B14F-4D97-AF65-F5344CB8AC3E}">
        <p14:creationId xmlns:p14="http://schemas.microsoft.com/office/powerpoint/2010/main" val="2076044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8631936" y="2587752"/>
            <a:ext cx="2569464" cy="950976"/>
          </a:xfrm>
          <a:prstGeom prst="rect">
            <a:avLst/>
          </a:prstGeom>
        </p:spPr>
      </p:pic>
      <p:pic>
        <p:nvPicPr>
          <p:cNvPr id="5" name="Image 3" descr="preencoded.png"/>
          <p:cNvPicPr>
            <a:picLocks noChangeAspect="1"/>
          </p:cNvPicPr>
          <p:nvPr/>
        </p:nvPicPr>
        <p:blipFill>
          <a:blip r:embed="rId5"/>
          <a:stretch>
            <a:fillRect/>
          </a:stretch>
        </p:blipFill>
        <p:spPr>
          <a:xfrm>
            <a:off x="6035040" y="2587752"/>
            <a:ext cx="2569464" cy="950976"/>
          </a:xfrm>
          <a:prstGeom prst="rect">
            <a:avLst/>
          </a:prstGeom>
        </p:spPr>
      </p:pic>
      <p:pic>
        <p:nvPicPr>
          <p:cNvPr id="6" name="Image 4" descr="preencoded.png"/>
          <p:cNvPicPr>
            <a:picLocks noChangeAspect="1"/>
          </p:cNvPicPr>
          <p:nvPr/>
        </p:nvPicPr>
        <p:blipFill>
          <a:blip r:embed="rId6"/>
          <a:stretch>
            <a:fillRect/>
          </a:stretch>
        </p:blipFill>
        <p:spPr>
          <a:xfrm>
            <a:off x="11228832" y="2587752"/>
            <a:ext cx="2569464" cy="950976"/>
          </a:xfrm>
          <a:prstGeom prst="rect">
            <a:avLst/>
          </a:prstGeom>
        </p:spPr>
      </p:pic>
      <p:pic>
        <p:nvPicPr>
          <p:cNvPr id="7" name="Image 5" descr="preencoded.png"/>
          <p:cNvPicPr>
            <a:picLocks noChangeAspect="1"/>
          </p:cNvPicPr>
          <p:nvPr/>
        </p:nvPicPr>
        <p:blipFill>
          <a:blip r:embed="rId5"/>
          <a:stretch>
            <a:fillRect/>
          </a:stretch>
        </p:blipFill>
        <p:spPr>
          <a:xfrm>
            <a:off x="841248" y="2587752"/>
            <a:ext cx="2569464" cy="950976"/>
          </a:xfrm>
          <a:prstGeom prst="rect">
            <a:avLst/>
          </a:prstGeom>
        </p:spPr>
      </p:pic>
      <p:pic>
        <p:nvPicPr>
          <p:cNvPr id="8" name="Image 6" descr="preencoded.png"/>
          <p:cNvPicPr>
            <a:picLocks noChangeAspect="1"/>
          </p:cNvPicPr>
          <p:nvPr/>
        </p:nvPicPr>
        <p:blipFill>
          <a:blip r:embed="rId5"/>
          <a:stretch>
            <a:fillRect/>
          </a:stretch>
        </p:blipFill>
        <p:spPr>
          <a:xfrm>
            <a:off x="3438144" y="2587752"/>
            <a:ext cx="2569464" cy="950976"/>
          </a:xfrm>
          <a:prstGeom prst="rect">
            <a:avLst/>
          </a:prstGeom>
        </p:spPr>
      </p:pic>
      <p:sp>
        <p:nvSpPr>
          <p:cNvPr id="9" name="Text 0"/>
          <p:cNvSpPr/>
          <p:nvPr/>
        </p:nvSpPr>
        <p:spPr>
          <a:xfrm>
            <a:off x="6272784" y="3886200"/>
            <a:ext cx="2103120" cy="1133856"/>
          </a:xfrm>
          <a:prstGeom prst="rect">
            <a:avLst/>
          </a:prstGeom>
          <a:noFill/>
          <a:ln/>
        </p:spPr>
        <p:txBody>
          <a:bodyPr wrap="square" lIns="0" tIns="0" rIns="0" bIns="0" rtlCol="0" anchor="ctr"/>
          <a:lstStyle/>
          <a:p>
            <a:pPr marL="0" indent="0" algn="ctr">
              <a:lnSpc>
                <a:spcPts val="2970"/>
              </a:lnSpc>
              <a:buNone/>
            </a:pPr>
            <a:r>
              <a:rPr lang="en-US" sz="2000" dirty="0">
                <a:latin typeface="+mj-lt"/>
                <a:ea typeface="思源黑体-思源黑体-Regular" pitchFamily="34" charset="-122"/>
                <a:cs typeface="思源黑体-思源黑体-Regular" pitchFamily="34" charset="-120"/>
              </a:rPr>
              <a:t>TCP hands each segment over to IP.</a:t>
            </a:r>
            <a:endParaRPr lang="en-US" sz="2000" dirty="0">
              <a:latin typeface="+mj-lt"/>
            </a:endParaRPr>
          </a:p>
        </p:txBody>
      </p:sp>
      <p:sp>
        <p:nvSpPr>
          <p:cNvPr id="10" name="Text 1"/>
          <p:cNvSpPr/>
          <p:nvPr/>
        </p:nvSpPr>
        <p:spPr>
          <a:xfrm>
            <a:off x="9829800" y="2843784"/>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4</a:t>
            </a:r>
            <a:endParaRPr lang="en-US" sz="2320" dirty="0"/>
          </a:p>
        </p:txBody>
      </p:sp>
      <p:sp>
        <p:nvSpPr>
          <p:cNvPr id="11" name="Text 2"/>
          <p:cNvSpPr/>
          <p:nvPr/>
        </p:nvSpPr>
        <p:spPr>
          <a:xfrm>
            <a:off x="7232904" y="2843784"/>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3</a:t>
            </a:r>
            <a:endParaRPr lang="en-US" sz="2320" dirty="0"/>
          </a:p>
        </p:txBody>
      </p:sp>
      <p:sp>
        <p:nvSpPr>
          <p:cNvPr id="12" name="Text 3"/>
          <p:cNvSpPr/>
          <p:nvPr/>
        </p:nvSpPr>
        <p:spPr>
          <a:xfrm>
            <a:off x="8631935" y="3886200"/>
            <a:ext cx="2569463" cy="2267712"/>
          </a:xfrm>
          <a:prstGeom prst="rect">
            <a:avLst/>
          </a:prstGeom>
          <a:noFill/>
          <a:ln/>
        </p:spPr>
        <p:txBody>
          <a:bodyPr wrap="square" lIns="0" tIns="0" rIns="0" bIns="0" rtlCol="0" anchor="ctr"/>
          <a:lstStyle/>
          <a:p>
            <a:pPr marL="0" indent="0" algn="ctr">
              <a:lnSpc>
                <a:spcPts val="2970"/>
              </a:lnSpc>
              <a:buNone/>
            </a:pPr>
            <a:r>
              <a:rPr lang="en-US" sz="2000" dirty="0">
                <a:latin typeface="+mj-lt"/>
                <a:ea typeface="思源黑体-思源黑体-Regular" pitchFamily="34" charset="-122"/>
                <a:cs typeface="思源黑体-思源黑体-Regular" pitchFamily="34" charset="-120"/>
              </a:rPr>
              <a:t>IP appends a header of control information to each segment to form an IP datagram.</a:t>
            </a:r>
          </a:p>
          <a:p>
            <a:pPr marL="0" indent="0" algn="ctr">
              <a:lnSpc>
                <a:spcPts val="2970"/>
              </a:lnSpc>
              <a:buNone/>
            </a:pPr>
            <a:r>
              <a:rPr lang="en-US" sz="2000" b="1" dirty="0">
                <a:latin typeface="+mj-lt"/>
                <a:ea typeface="思源黑体-思源黑体-Regular" pitchFamily="34" charset="-122"/>
              </a:rPr>
              <a:t>TCP segment + IP header=IP datagram</a:t>
            </a:r>
            <a:endParaRPr lang="en-US" sz="2000" b="1" dirty="0">
              <a:latin typeface="+mj-lt"/>
            </a:endParaRPr>
          </a:p>
        </p:txBody>
      </p:sp>
      <p:sp>
        <p:nvSpPr>
          <p:cNvPr id="13" name="Text 4"/>
          <p:cNvSpPr/>
          <p:nvPr/>
        </p:nvSpPr>
        <p:spPr>
          <a:xfrm>
            <a:off x="12426696" y="2843784"/>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5</a:t>
            </a:r>
            <a:endParaRPr lang="en-US" sz="2320" dirty="0"/>
          </a:p>
        </p:txBody>
      </p:sp>
      <p:sp>
        <p:nvSpPr>
          <p:cNvPr id="14" name="Text 5"/>
          <p:cNvSpPr/>
          <p:nvPr/>
        </p:nvSpPr>
        <p:spPr>
          <a:xfrm>
            <a:off x="2039112" y="2843784"/>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1</a:t>
            </a:r>
            <a:endParaRPr lang="en-US" sz="2320" dirty="0"/>
          </a:p>
        </p:txBody>
      </p:sp>
      <p:sp>
        <p:nvSpPr>
          <p:cNvPr id="15" name="Text 6"/>
          <p:cNvSpPr/>
          <p:nvPr/>
        </p:nvSpPr>
        <p:spPr>
          <a:xfrm>
            <a:off x="1078992" y="3886200"/>
            <a:ext cx="2103120" cy="2267712"/>
          </a:xfrm>
          <a:prstGeom prst="rect">
            <a:avLst/>
          </a:prstGeom>
          <a:noFill/>
          <a:ln/>
        </p:spPr>
        <p:txBody>
          <a:bodyPr wrap="square" lIns="0" tIns="0" rIns="0" bIns="0" rtlCol="0" anchor="ctr"/>
          <a:lstStyle/>
          <a:p>
            <a:pPr marL="0" indent="0" algn="ctr">
              <a:lnSpc>
                <a:spcPts val="2970"/>
              </a:lnSpc>
              <a:buNone/>
            </a:pPr>
            <a:r>
              <a:rPr lang="en-US" sz="2000" dirty="0">
                <a:latin typeface="+mj-lt"/>
                <a:ea typeface="思源黑体-思源黑体-Regular" pitchFamily="34" charset="-122"/>
                <a:cs typeface="思源黑体-思源黑体-Regular" pitchFamily="34" charset="-120"/>
              </a:rPr>
              <a:t>Concerned with routing data across multiple interconnected networks using IP protocol.</a:t>
            </a:r>
            <a:endParaRPr lang="en-US" sz="2000" dirty="0">
              <a:latin typeface="+mj-lt"/>
            </a:endParaRPr>
          </a:p>
        </p:txBody>
      </p:sp>
      <p:sp>
        <p:nvSpPr>
          <p:cNvPr id="16" name="Text 7"/>
          <p:cNvSpPr/>
          <p:nvPr/>
        </p:nvSpPr>
        <p:spPr>
          <a:xfrm>
            <a:off x="4636008" y="2843784"/>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2</a:t>
            </a:r>
            <a:endParaRPr lang="en-US" sz="2320" dirty="0"/>
          </a:p>
        </p:txBody>
      </p:sp>
      <p:sp>
        <p:nvSpPr>
          <p:cNvPr id="17" name="Text 8"/>
          <p:cNvSpPr/>
          <p:nvPr/>
        </p:nvSpPr>
        <p:spPr>
          <a:xfrm>
            <a:off x="3675888" y="3886200"/>
            <a:ext cx="2103120" cy="1517904"/>
          </a:xfrm>
          <a:prstGeom prst="rect">
            <a:avLst/>
          </a:prstGeom>
          <a:noFill/>
          <a:ln/>
        </p:spPr>
        <p:txBody>
          <a:bodyPr wrap="square" lIns="0" tIns="0" rIns="0" bIns="0" rtlCol="0" anchor="ctr"/>
          <a:lstStyle/>
          <a:p>
            <a:pPr marL="0" indent="0" algn="ctr">
              <a:lnSpc>
                <a:spcPts val="2970"/>
              </a:lnSpc>
              <a:buNone/>
            </a:pPr>
            <a:r>
              <a:rPr lang="en-US" sz="2000" dirty="0">
                <a:latin typeface="+mj-lt"/>
                <a:ea typeface="思源黑体-思源黑体-Regular" pitchFamily="34" charset="-122"/>
                <a:cs typeface="思源黑体-思源黑体-Regular" pitchFamily="34" charset="-120"/>
              </a:rPr>
              <a:t>Routers connect two networks and relays data between them.</a:t>
            </a:r>
            <a:endParaRPr lang="en-US" sz="2000" dirty="0">
              <a:latin typeface="+mj-lt"/>
            </a:endParaRPr>
          </a:p>
        </p:txBody>
      </p:sp>
      <p:sp>
        <p:nvSpPr>
          <p:cNvPr id="18" name="Text 9"/>
          <p:cNvSpPr/>
          <p:nvPr/>
        </p:nvSpPr>
        <p:spPr>
          <a:xfrm>
            <a:off x="11466576" y="3886200"/>
            <a:ext cx="2103120" cy="1517904"/>
          </a:xfrm>
          <a:prstGeom prst="rect">
            <a:avLst/>
          </a:prstGeom>
          <a:noFill/>
          <a:ln/>
        </p:spPr>
        <p:txBody>
          <a:bodyPr wrap="square" lIns="0" tIns="0" rIns="0" bIns="0" rtlCol="0" anchor="ctr"/>
          <a:lstStyle/>
          <a:p>
            <a:pPr marL="0" indent="0" algn="ctr">
              <a:lnSpc>
                <a:spcPts val="2970"/>
              </a:lnSpc>
              <a:buNone/>
            </a:pPr>
            <a:r>
              <a:rPr lang="en-US" sz="2000" dirty="0">
                <a:latin typeface="+mj-lt"/>
                <a:ea typeface="思源黑体-思源黑体-Regular" pitchFamily="34" charset="-122"/>
                <a:cs typeface="思源黑体-思源黑体-Regular" pitchFamily="34" charset="-120"/>
              </a:rPr>
              <a:t>IP header includes the </a:t>
            </a:r>
            <a:r>
              <a:rPr lang="en-US" sz="2000" b="1" dirty="0">
                <a:latin typeface="+mj-lt"/>
                <a:ea typeface="思源黑体-思源黑体-Regular" pitchFamily="34" charset="-122"/>
                <a:cs typeface="思源黑体-思源黑体-Regular" pitchFamily="34" charset="-120"/>
              </a:rPr>
              <a:t>destination host address</a:t>
            </a:r>
            <a:r>
              <a:rPr lang="en-US" sz="2000" dirty="0">
                <a:latin typeface="+mj-lt"/>
                <a:ea typeface="思源黑体-思源黑体-Regular" pitchFamily="34" charset="-122"/>
                <a:cs typeface="思源黑体-思源黑体-Regular" pitchFamily="34" charset="-120"/>
              </a:rPr>
              <a:t>.</a:t>
            </a:r>
            <a:endParaRPr lang="en-US" sz="2000" dirty="0">
              <a:latin typeface="+mj-lt"/>
            </a:endParaRPr>
          </a:p>
        </p:txBody>
      </p:sp>
      <p:sp>
        <p:nvSpPr>
          <p:cNvPr id="19" name="Text 10"/>
          <p:cNvSpPr/>
          <p:nvPr/>
        </p:nvSpPr>
        <p:spPr>
          <a:xfrm>
            <a:off x="740664" y="681228"/>
            <a:ext cx="12984480" cy="740664"/>
          </a:xfrm>
          <a:prstGeom prst="rect">
            <a:avLst/>
          </a:prstGeom>
          <a:noFill/>
          <a:ln/>
        </p:spPr>
        <p:txBody>
          <a:bodyPr wrap="none" lIns="0" tIns="0" rIns="0" bIns="0" rtlCol="0" anchor="ctr"/>
          <a:lstStyle/>
          <a:p>
            <a:pPr marL="0" indent="0" algn="l">
              <a:lnSpc>
                <a:spcPts val="580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Internet Layer (IP)</a:t>
            </a:r>
            <a:endParaRPr lang="en-US" sz="4400" dirty="0">
              <a:latin typeface="Cambria" panose="02040503050406030204" pitchFamily="18" charset="0"/>
              <a:ea typeface="Cambria" panose="02040503050406030204" pitchFamily="18" charset="0"/>
            </a:endParaRPr>
          </a:p>
        </p:txBody>
      </p:sp>
      <p:pic>
        <p:nvPicPr>
          <p:cNvPr id="20" name="Picture 19">
            <a:extLst>
              <a:ext uri="{FF2B5EF4-FFF2-40B4-BE49-F238E27FC236}">
                <a16:creationId xmlns:a16="http://schemas.microsoft.com/office/drawing/2014/main" id="{E02F5068-064D-4126-AB9B-01C621EB7C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1078992" y="4370832"/>
            <a:ext cx="12481560" cy="384048"/>
          </a:xfrm>
          <a:prstGeom prst="rect">
            <a:avLst/>
          </a:prstGeom>
          <a:noFill/>
          <a:ln/>
        </p:spPr>
        <p:txBody>
          <a:bodyPr wrap="none" lIns="0" tIns="0" rIns="0" bIns="0" rtlCol="0" anchor="ctr"/>
          <a:lstStyle/>
          <a:p>
            <a:pPr marL="342900" indent="-342900" algn="l">
              <a:lnSpc>
                <a:spcPct val="15000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The packet header includes:</a:t>
            </a:r>
            <a:endParaRPr lang="en-US" sz="2400" dirty="0">
              <a:latin typeface="+mj-lt"/>
            </a:endParaRPr>
          </a:p>
        </p:txBody>
      </p:sp>
      <p:sp>
        <p:nvSpPr>
          <p:cNvPr id="5" name="Text 1"/>
          <p:cNvSpPr/>
          <p:nvPr/>
        </p:nvSpPr>
        <p:spPr>
          <a:xfrm>
            <a:off x="576072" y="739588"/>
            <a:ext cx="12984480" cy="740664"/>
          </a:xfrm>
          <a:prstGeom prst="rect">
            <a:avLst/>
          </a:prstGeom>
          <a:noFill/>
          <a:ln/>
        </p:spPr>
        <p:txBody>
          <a:bodyPr wrap="none" lIns="0" tIns="0" rIns="0" bIns="0" rtlCol="0" anchor="ctr"/>
          <a:lstStyle/>
          <a:p>
            <a:pPr marL="0" indent="0" algn="l">
              <a:lnSpc>
                <a:spcPts val="580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Network Access Layer</a:t>
            </a:r>
            <a:endParaRPr lang="en-US" sz="4400" dirty="0">
              <a:latin typeface="Cambria" panose="02040503050406030204" pitchFamily="18" charset="0"/>
              <a:ea typeface="Cambria" panose="02040503050406030204" pitchFamily="18" charset="0"/>
            </a:endParaRPr>
          </a:p>
        </p:txBody>
      </p:sp>
      <p:sp>
        <p:nvSpPr>
          <p:cNvPr id="6" name="Text 2"/>
          <p:cNvSpPr/>
          <p:nvPr/>
        </p:nvSpPr>
        <p:spPr>
          <a:xfrm>
            <a:off x="1347934" y="5101680"/>
            <a:ext cx="12481560" cy="758952"/>
          </a:xfrm>
          <a:prstGeom prst="rect">
            <a:avLst/>
          </a:prstGeom>
          <a:noFill/>
          <a:ln/>
        </p:spPr>
        <p:txBody>
          <a:bodyPr wrap="square" lIns="0" tIns="0" rIns="0" bIns="0" rtlCol="0" anchor="ctr"/>
          <a:lstStyle/>
          <a:p>
            <a:pPr algn="l">
              <a:lnSpc>
                <a:spcPct val="150000"/>
              </a:lnSpc>
            </a:pPr>
            <a:r>
              <a:rPr lang="en-US" sz="2400" dirty="0">
                <a:latin typeface="+mj-lt"/>
                <a:ea typeface="思源黑体-思源黑体-Regular" pitchFamily="34" charset="-122"/>
                <a:cs typeface="思源黑体-思源黑体-Regular" pitchFamily="34" charset="-120"/>
              </a:rPr>
              <a:t>  • </a:t>
            </a:r>
            <a:r>
              <a:rPr lang="en-US" sz="2400" b="1" dirty="0">
                <a:latin typeface="+mj-lt"/>
                <a:ea typeface="思源黑体-思源黑体-Regular" pitchFamily="34" charset="-122"/>
                <a:cs typeface="思源黑体-思源黑体-Regular" pitchFamily="34" charset="-120"/>
              </a:rPr>
              <a:t>Destination subnetwork address</a:t>
            </a:r>
            <a:r>
              <a:rPr lang="en-US" sz="2400" dirty="0">
                <a:latin typeface="+mj-lt"/>
                <a:ea typeface="思源黑体-思源黑体-Regular" pitchFamily="34" charset="-122"/>
                <a:cs typeface="思源黑体-思源黑体-Regular" pitchFamily="34" charset="-120"/>
              </a:rPr>
              <a:t>: The subnetwork must know to which attached device the packet is to be delivered.</a:t>
            </a:r>
            <a:endParaRPr lang="en-US" sz="2400" dirty="0">
              <a:latin typeface="+mj-lt"/>
            </a:endParaRPr>
          </a:p>
        </p:txBody>
      </p:sp>
      <p:sp>
        <p:nvSpPr>
          <p:cNvPr id="7" name="Text 3"/>
          <p:cNvSpPr/>
          <p:nvPr/>
        </p:nvSpPr>
        <p:spPr>
          <a:xfrm>
            <a:off x="1078992" y="2441448"/>
            <a:ext cx="12481560" cy="384048"/>
          </a:xfrm>
          <a:prstGeom prst="rect">
            <a:avLst/>
          </a:prstGeom>
          <a:noFill/>
          <a:ln/>
        </p:spPr>
        <p:txBody>
          <a:bodyPr wrap="none" lIns="0" tIns="0" rIns="0" bIns="0" rtlCol="0" anchor="ctr"/>
          <a:lstStyle/>
          <a:p>
            <a:pPr marL="342900" indent="-342900" algn="l">
              <a:lnSpc>
                <a:spcPct val="15000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Exchange of data between 2 end systems in the same network.</a:t>
            </a:r>
            <a:endParaRPr lang="en-US" sz="2400" dirty="0">
              <a:latin typeface="+mj-lt"/>
            </a:endParaRPr>
          </a:p>
        </p:txBody>
      </p:sp>
      <p:sp>
        <p:nvSpPr>
          <p:cNvPr id="8" name="Text 4"/>
          <p:cNvSpPr/>
          <p:nvPr/>
        </p:nvSpPr>
        <p:spPr>
          <a:xfrm>
            <a:off x="1078992" y="3081528"/>
            <a:ext cx="12481560" cy="384048"/>
          </a:xfrm>
          <a:prstGeom prst="rect">
            <a:avLst/>
          </a:prstGeom>
          <a:noFill/>
          <a:ln/>
        </p:spPr>
        <p:txBody>
          <a:bodyPr wrap="none" lIns="0" tIns="0" rIns="0" bIns="0" rtlCol="0" anchor="ctr"/>
          <a:lstStyle/>
          <a:p>
            <a:pPr marL="342900" indent="-342900" algn="l">
              <a:lnSpc>
                <a:spcPct val="15000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IP datagram is presented to the network access layer.</a:t>
            </a:r>
            <a:endParaRPr lang="en-US" sz="2400" dirty="0">
              <a:latin typeface="+mj-lt"/>
            </a:endParaRPr>
          </a:p>
        </p:txBody>
      </p:sp>
      <p:sp>
        <p:nvSpPr>
          <p:cNvPr id="9" name="Text 5"/>
          <p:cNvSpPr/>
          <p:nvPr/>
        </p:nvSpPr>
        <p:spPr>
          <a:xfrm>
            <a:off x="1078992" y="3721608"/>
            <a:ext cx="12481560" cy="384048"/>
          </a:xfrm>
          <a:prstGeom prst="rect">
            <a:avLst/>
          </a:prstGeom>
          <a:noFill/>
          <a:ln/>
        </p:spPr>
        <p:txBody>
          <a:bodyPr wrap="none" lIns="0" tIns="0" rIns="0" bIns="0" rtlCol="0" anchor="ctr"/>
          <a:lstStyle/>
          <a:p>
            <a:pPr marL="342900" indent="-342900" algn="l">
              <a:lnSpc>
                <a:spcPct val="15000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The network access layer appends its header, creating a packet/frame.</a:t>
            </a:r>
            <a:endParaRPr lang="en-US" sz="2400" dirty="0">
              <a:latin typeface="+mj-lt"/>
            </a:endParaRPr>
          </a:p>
        </p:txBody>
      </p:sp>
      <p:sp>
        <p:nvSpPr>
          <p:cNvPr id="10" name="Text 6"/>
          <p:cNvSpPr/>
          <p:nvPr/>
        </p:nvSpPr>
        <p:spPr>
          <a:xfrm>
            <a:off x="1347934" y="6185916"/>
            <a:ext cx="12481560" cy="758952"/>
          </a:xfrm>
          <a:prstGeom prst="rect">
            <a:avLst/>
          </a:prstGeom>
          <a:noFill/>
          <a:ln/>
        </p:spPr>
        <p:txBody>
          <a:bodyPr wrap="square" lIns="0" tIns="0" rIns="0" bIns="0" rtlCol="0" anchor="ctr"/>
          <a:lstStyle/>
          <a:p>
            <a:pPr algn="l">
              <a:lnSpc>
                <a:spcPct val="150000"/>
              </a:lnSpc>
            </a:pPr>
            <a:r>
              <a:rPr lang="en-US" sz="2400" dirty="0">
                <a:latin typeface="+mj-lt"/>
                <a:ea typeface="思源黑体-思源黑体-Regular" pitchFamily="34" charset="-122"/>
                <a:cs typeface="思源黑体-思源黑体-Regular" pitchFamily="34" charset="-120"/>
              </a:rPr>
              <a:t>  • </a:t>
            </a:r>
            <a:r>
              <a:rPr lang="en-US" sz="2400" b="1" dirty="0">
                <a:latin typeface="+mj-lt"/>
                <a:ea typeface="思源黑体-思源黑体-Regular" pitchFamily="34" charset="-122"/>
                <a:cs typeface="思源黑体-思源黑体-Regular" pitchFamily="34" charset="-120"/>
              </a:rPr>
              <a:t>Facilities requests</a:t>
            </a:r>
            <a:r>
              <a:rPr lang="en-US" sz="2400" dirty="0">
                <a:latin typeface="+mj-lt"/>
                <a:ea typeface="思源黑体-思源黑体-Regular" pitchFamily="34" charset="-122"/>
                <a:cs typeface="思源黑体-思源黑体-Regular" pitchFamily="34" charset="-120"/>
              </a:rPr>
              <a:t>: The network access protocol might request the use of certain subnetwork facilities, such as priority.</a:t>
            </a:r>
            <a:endParaRPr lang="en-US" sz="2400" dirty="0">
              <a:latin typeface="+mj-lt"/>
            </a:endParaRPr>
          </a:p>
        </p:txBody>
      </p:sp>
      <p:pic>
        <p:nvPicPr>
          <p:cNvPr id="11" name="Picture 10">
            <a:extLst>
              <a:ext uri="{FF2B5EF4-FFF2-40B4-BE49-F238E27FC236}">
                <a16:creationId xmlns:a16="http://schemas.microsoft.com/office/drawing/2014/main" id="{43804733-407F-4CEF-AD70-02E4E53FF2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sp>
        <p:nvSpPr>
          <p:cNvPr id="6" name="Text 0"/>
          <p:cNvSpPr/>
          <p:nvPr/>
        </p:nvSpPr>
        <p:spPr>
          <a:xfrm>
            <a:off x="6583680" y="2459736"/>
            <a:ext cx="7214616" cy="758952"/>
          </a:xfrm>
          <a:prstGeom prst="rect">
            <a:avLst/>
          </a:prstGeom>
          <a:noFill/>
          <a:ln/>
        </p:spPr>
        <p:txBody>
          <a:bodyPr wrap="square" lIns="0" tIns="0" rIns="0" bIns="0" rtlCol="0" anchor="ctr"/>
          <a:lstStyle/>
          <a:p>
            <a:pPr marL="342900" indent="-342900" algn="l">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Concerned with physical interface between computer and network.</a:t>
            </a:r>
            <a:endParaRPr lang="en-US" sz="2400" dirty="0">
              <a:latin typeface="+mj-lt"/>
            </a:endParaRPr>
          </a:p>
        </p:txBody>
      </p:sp>
      <p:sp>
        <p:nvSpPr>
          <p:cNvPr id="7" name="Text 1"/>
          <p:cNvSpPr/>
          <p:nvPr/>
        </p:nvSpPr>
        <p:spPr>
          <a:xfrm>
            <a:off x="6583680" y="4325112"/>
            <a:ext cx="7214616" cy="384048"/>
          </a:xfrm>
          <a:prstGeom prst="rect">
            <a:avLst/>
          </a:prstGeom>
          <a:noFill/>
          <a:ln/>
        </p:spPr>
        <p:txBody>
          <a:bodyPr wrap="none" lIns="0" tIns="0" rIns="0" bIns="0" rtlCol="0" anchor="ctr"/>
          <a:lstStyle/>
          <a:p>
            <a:pPr algn="l">
              <a:lnSpc>
                <a:spcPts val="2970"/>
              </a:lnSpc>
            </a:pPr>
            <a:r>
              <a:rPr lang="en-US" sz="2400" dirty="0">
                <a:latin typeface="+mj-lt"/>
                <a:ea typeface="思源黑体-思源黑体-Regular" pitchFamily="34" charset="-122"/>
                <a:cs typeface="思源黑体-思源黑体-Regular" pitchFamily="34" charset="-120"/>
              </a:rPr>
              <a:t>    • Characteristics of transmission medium</a:t>
            </a:r>
            <a:endParaRPr lang="en-US" sz="2400" dirty="0">
              <a:latin typeface="+mj-lt"/>
            </a:endParaRPr>
          </a:p>
        </p:txBody>
      </p:sp>
      <p:sp>
        <p:nvSpPr>
          <p:cNvPr id="8" name="Text 2"/>
          <p:cNvSpPr/>
          <p:nvPr/>
        </p:nvSpPr>
        <p:spPr>
          <a:xfrm>
            <a:off x="6583680" y="5367528"/>
            <a:ext cx="7214616" cy="384048"/>
          </a:xfrm>
          <a:prstGeom prst="rect">
            <a:avLst/>
          </a:prstGeom>
          <a:noFill/>
          <a:ln/>
        </p:spPr>
        <p:txBody>
          <a:bodyPr wrap="none" lIns="0" tIns="0" rIns="0" bIns="0" rtlCol="0" anchor="ctr"/>
          <a:lstStyle/>
          <a:p>
            <a:pPr algn="l">
              <a:lnSpc>
                <a:spcPts val="2970"/>
              </a:lnSpc>
            </a:pPr>
            <a:r>
              <a:rPr lang="en-US" sz="2400" dirty="0">
                <a:latin typeface="+mj-lt"/>
                <a:ea typeface="思源黑体-思源黑体-Regular" pitchFamily="34" charset="-122"/>
                <a:cs typeface="思源黑体-思源黑体-Regular" pitchFamily="34" charset="-120"/>
              </a:rPr>
              <a:t>    • Nature of signal</a:t>
            </a:r>
            <a:endParaRPr lang="en-US" sz="2400" dirty="0">
              <a:latin typeface="+mj-lt"/>
            </a:endParaRPr>
          </a:p>
        </p:txBody>
      </p:sp>
      <p:sp>
        <p:nvSpPr>
          <p:cNvPr id="9" name="Text 3"/>
          <p:cNvSpPr/>
          <p:nvPr/>
        </p:nvSpPr>
        <p:spPr>
          <a:xfrm>
            <a:off x="6583680" y="4846320"/>
            <a:ext cx="7214616" cy="384048"/>
          </a:xfrm>
          <a:prstGeom prst="rect">
            <a:avLst/>
          </a:prstGeom>
          <a:noFill/>
          <a:ln/>
        </p:spPr>
        <p:txBody>
          <a:bodyPr wrap="none" lIns="0" tIns="0" rIns="0" bIns="0" rtlCol="0" anchor="ctr"/>
          <a:lstStyle/>
          <a:p>
            <a:pPr algn="l">
              <a:lnSpc>
                <a:spcPts val="2970"/>
              </a:lnSpc>
            </a:pPr>
            <a:r>
              <a:rPr lang="en-US" sz="2400" dirty="0">
                <a:latin typeface="+mj-lt"/>
                <a:ea typeface="思源黑体-思源黑体-Regular" pitchFamily="34" charset="-122"/>
                <a:cs typeface="思源黑体-思源黑体-Regular" pitchFamily="34" charset="-120"/>
              </a:rPr>
              <a:t>    • Signal levels</a:t>
            </a:r>
            <a:endParaRPr lang="en-US" sz="2400" dirty="0">
              <a:latin typeface="+mj-lt"/>
            </a:endParaRPr>
          </a:p>
        </p:txBody>
      </p:sp>
      <p:sp>
        <p:nvSpPr>
          <p:cNvPr id="10" name="Text 4"/>
          <p:cNvSpPr/>
          <p:nvPr/>
        </p:nvSpPr>
        <p:spPr>
          <a:xfrm>
            <a:off x="5971032" y="3794760"/>
            <a:ext cx="173736" cy="43891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11" name="Text 5"/>
          <p:cNvSpPr/>
          <p:nvPr/>
        </p:nvSpPr>
        <p:spPr>
          <a:xfrm>
            <a:off x="6583680" y="6400800"/>
            <a:ext cx="7214616" cy="384048"/>
          </a:xfrm>
          <a:prstGeom prst="rect">
            <a:avLst/>
          </a:prstGeom>
          <a:noFill/>
          <a:ln/>
        </p:spPr>
        <p:txBody>
          <a:bodyPr wrap="none" lIns="0" tIns="0" rIns="0" bIns="0" rtlCol="0" anchor="ctr"/>
          <a:lstStyle/>
          <a:p>
            <a:pPr algn="l">
              <a:lnSpc>
                <a:spcPts val="2970"/>
              </a:lnSpc>
            </a:pPr>
            <a:r>
              <a:rPr lang="en-US" sz="2400" dirty="0">
                <a:latin typeface="+mj-lt"/>
                <a:ea typeface="思源黑体-思源黑体-Regular" pitchFamily="34" charset="-122"/>
                <a:cs typeface="思源黑体-思源黑体-Regular" pitchFamily="34" charset="-120"/>
              </a:rPr>
              <a:t>    • Other related matters</a:t>
            </a:r>
            <a:endParaRPr lang="en-US" sz="2400" dirty="0">
              <a:latin typeface="+mj-lt"/>
            </a:endParaRPr>
          </a:p>
        </p:txBody>
      </p:sp>
      <p:sp>
        <p:nvSpPr>
          <p:cNvPr id="12" name="Text 6"/>
          <p:cNvSpPr/>
          <p:nvPr/>
        </p:nvSpPr>
        <p:spPr>
          <a:xfrm>
            <a:off x="5308899" y="220532"/>
            <a:ext cx="8010144" cy="740664"/>
          </a:xfrm>
          <a:prstGeom prst="rect">
            <a:avLst/>
          </a:prstGeom>
          <a:noFill/>
          <a:ln/>
        </p:spPr>
        <p:txBody>
          <a:bodyPr wrap="none" lIns="0" tIns="0" rIns="0" bIns="0" rtlCol="0" anchor="ctr"/>
          <a:lstStyle/>
          <a:p>
            <a:pPr marL="0" indent="0" algn="l">
              <a:lnSpc>
                <a:spcPts val="580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Physical Layer</a:t>
            </a:r>
            <a:endParaRPr lang="en-US" sz="4400" dirty="0">
              <a:latin typeface="Cambria" panose="02040503050406030204" pitchFamily="18" charset="0"/>
              <a:ea typeface="Cambria" panose="02040503050406030204" pitchFamily="18" charset="0"/>
            </a:endParaRPr>
          </a:p>
        </p:txBody>
      </p:sp>
      <p:sp>
        <p:nvSpPr>
          <p:cNvPr id="13" name="Text 7"/>
          <p:cNvSpPr/>
          <p:nvPr/>
        </p:nvSpPr>
        <p:spPr>
          <a:xfrm>
            <a:off x="6583680" y="5888736"/>
            <a:ext cx="7214616" cy="384048"/>
          </a:xfrm>
          <a:prstGeom prst="rect">
            <a:avLst/>
          </a:prstGeom>
          <a:noFill/>
          <a:ln/>
        </p:spPr>
        <p:txBody>
          <a:bodyPr wrap="none" lIns="0" tIns="0" rIns="0" bIns="0" rtlCol="0" anchor="ctr"/>
          <a:lstStyle/>
          <a:p>
            <a:pPr algn="l">
              <a:lnSpc>
                <a:spcPts val="2970"/>
              </a:lnSpc>
            </a:pPr>
            <a:r>
              <a:rPr lang="en-US" sz="2400" dirty="0">
                <a:latin typeface="+mj-lt"/>
                <a:ea typeface="思源黑体-思源黑体-Regular" pitchFamily="34" charset="-122"/>
                <a:cs typeface="思源黑体-思源黑体-Regular" pitchFamily="34" charset="-120"/>
              </a:rPr>
              <a:t>    • Data rates</a:t>
            </a:r>
            <a:endParaRPr lang="en-US" sz="2400" dirty="0">
              <a:latin typeface="+mj-lt"/>
            </a:endParaRPr>
          </a:p>
        </p:txBody>
      </p:sp>
      <p:sp>
        <p:nvSpPr>
          <p:cNvPr id="15" name="Text 9"/>
          <p:cNvSpPr/>
          <p:nvPr/>
        </p:nvSpPr>
        <p:spPr>
          <a:xfrm>
            <a:off x="6583680" y="3813048"/>
            <a:ext cx="7214616" cy="384048"/>
          </a:xfrm>
          <a:prstGeom prst="rect">
            <a:avLst/>
          </a:prstGeom>
          <a:noFill/>
          <a:ln/>
        </p:spPr>
        <p:txBody>
          <a:bodyPr wrap="none" lIns="0" tIns="0" rIns="0" bIns="0" rtlCol="0" anchor="ctr"/>
          <a:lstStyle/>
          <a:p>
            <a:pPr marL="342900" indent="-342900" algn="l">
              <a:lnSpc>
                <a:spcPts val="2970"/>
              </a:lnSpc>
              <a:buFont typeface="Wingdings" panose="05000000000000000000" pitchFamily="2" charset="2"/>
              <a:buChar char="Ø"/>
            </a:pPr>
            <a:r>
              <a:rPr lang="en-US" sz="2400" dirty="0">
                <a:latin typeface="+mj-lt"/>
                <a:ea typeface="思源黑体-思源黑体-Regular" pitchFamily="34" charset="-122"/>
                <a:cs typeface="思源黑体-思源黑体-Regular" pitchFamily="34" charset="-120"/>
              </a:rPr>
              <a:t>Concerned with issues like:</a:t>
            </a:r>
            <a:endParaRPr lang="en-US" sz="2400" dirty="0">
              <a:latin typeface="+mj-lt"/>
            </a:endParaRPr>
          </a:p>
        </p:txBody>
      </p:sp>
      <p:pic>
        <p:nvPicPr>
          <p:cNvPr id="16" name="Picture 15">
            <a:extLst>
              <a:ext uri="{FF2B5EF4-FFF2-40B4-BE49-F238E27FC236}">
                <a16:creationId xmlns:a16="http://schemas.microsoft.com/office/drawing/2014/main" id="{F1C1B1E6-CF8B-49CC-B4BB-8FF4DC29DB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2296" y="-147917"/>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591671" y="1721224"/>
            <a:ext cx="7153835" cy="5795682"/>
          </a:xfrm>
          <a:prstGeom prst="rect">
            <a:avLst/>
          </a:prstGeom>
        </p:spPr>
      </p:pic>
      <p:pic>
        <p:nvPicPr>
          <p:cNvPr id="4" name="Image 2" descr="preencoded.png"/>
          <p:cNvPicPr>
            <a:picLocks noChangeAspect="1"/>
          </p:cNvPicPr>
          <p:nvPr/>
        </p:nvPicPr>
        <p:blipFill>
          <a:blip r:embed="rId5"/>
          <a:stretch>
            <a:fillRect/>
          </a:stretch>
        </p:blipFill>
        <p:spPr>
          <a:xfrm>
            <a:off x="8283388" y="1721224"/>
            <a:ext cx="5607424" cy="5620869"/>
          </a:xfrm>
          <a:prstGeom prst="rect">
            <a:avLst/>
          </a:prstGeom>
        </p:spPr>
      </p:pic>
      <p:sp>
        <p:nvSpPr>
          <p:cNvPr id="5" name="Text 0"/>
          <p:cNvSpPr/>
          <p:nvPr/>
        </p:nvSpPr>
        <p:spPr>
          <a:xfrm>
            <a:off x="495928" y="186646"/>
            <a:ext cx="12984480" cy="740664"/>
          </a:xfrm>
          <a:prstGeom prst="rect">
            <a:avLst/>
          </a:prstGeom>
          <a:noFill/>
          <a:ln/>
        </p:spPr>
        <p:txBody>
          <a:bodyPr wrap="none" lIns="0" tIns="0" rIns="0" bIns="0" rtlCol="0" anchor="ctr"/>
          <a:lstStyle/>
          <a:p>
            <a:pPr marL="0" indent="0" algn="l">
              <a:lnSpc>
                <a:spcPts val="5800"/>
              </a:lnSpc>
              <a:buNone/>
            </a:pPr>
            <a:r>
              <a:rPr lang="en-US" sz="4400" dirty="0">
                <a:solidFill>
                  <a:srgbClr val="6F7CA6"/>
                </a:solidFill>
                <a:latin typeface="Camria"/>
                <a:ea typeface="思源黑体-思源黑体-SemiBold" pitchFamily="34" charset="-122"/>
                <a:cs typeface="思源黑体-思源黑体-SemiBold" pitchFamily="34" charset="-120"/>
              </a:rPr>
              <a:t>Operation of TCP/IP</a:t>
            </a:r>
            <a:endParaRPr lang="en-US" sz="4400" dirty="0">
              <a:latin typeface="Camria"/>
            </a:endParaRPr>
          </a:p>
        </p:txBody>
      </p:sp>
      <p:pic>
        <p:nvPicPr>
          <p:cNvPr id="6" name="Picture 5">
            <a:extLst>
              <a:ext uri="{FF2B5EF4-FFF2-40B4-BE49-F238E27FC236}">
                <a16:creationId xmlns:a16="http://schemas.microsoft.com/office/drawing/2014/main" id="{AB064051-DA0D-40A4-962E-8FE4E18EC9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2296" y="-147917"/>
            <a:ext cx="14630400" cy="8238744"/>
          </a:xfrm>
          <a:prstGeom prst="rect">
            <a:avLst/>
          </a:prstGeom>
        </p:spPr>
      </p:pic>
      <p:sp>
        <p:nvSpPr>
          <p:cNvPr id="5" name="Text 0"/>
          <p:cNvSpPr/>
          <p:nvPr/>
        </p:nvSpPr>
        <p:spPr>
          <a:xfrm>
            <a:off x="495928" y="186646"/>
            <a:ext cx="12984480" cy="740664"/>
          </a:xfrm>
          <a:prstGeom prst="rect">
            <a:avLst/>
          </a:prstGeom>
          <a:noFill/>
          <a:ln/>
        </p:spPr>
        <p:txBody>
          <a:bodyPr wrap="none" lIns="0" tIns="0" rIns="0" bIns="0" rtlCol="0" anchor="ctr"/>
          <a:lstStyle/>
          <a:p>
            <a:pPr marL="0" indent="0" algn="l">
              <a:lnSpc>
                <a:spcPts val="580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The OSI Model</a:t>
            </a:r>
            <a:endParaRPr lang="en-US" sz="4400" dirty="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AB064051-DA0D-40A4-962E-8FE4E18EC9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
        <p:nvSpPr>
          <p:cNvPr id="8" name="TextBox 7">
            <a:extLst>
              <a:ext uri="{FF2B5EF4-FFF2-40B4-BE49-F238E27FC236}">
                <a16:creationId xmlns:a16="http://schemas.microsoft.com/office/drawing/2014/main" id="{7DEAFA33-2AB8-4936-B13B-EBDAA56520EC}"/>
              </a:ext>
            </a:extLst>
          </p:cNvPr>
          <p:cNvSpPr txBox="1"/>
          <p:nvPr/>
        </p:nvSpPr>
        <p:spPr>
          <a:xfrm>
            <a:off x="408522" y="1482999"/>
            <a:ext cx="12473760" cy="846835"/>
          </a:xfrm>
          <a:prstGeom prst="rect">
            <a:avLst/>
          </a:prstGeom>
          <a:noFill/>
        </p:spPr>
        <p:txBody>
          <a:bodyPr wrap="square">
            <a:spAutoFit/>
          </a:bodyPr>
          <a:lstStyle/>
          <a:p>
            <a:pPr marL="0" indent="0" algn="l">
              <a:lnSpc>
                <a:spcPts val="2970"/>
              </a:lnSpc>
              <a:buNone/>
            </a:pPr>
            <a:r>
              <a:rPr lang="en-US" sz="2400" dirty="0">
                <a:solidFill>
                  <a:srgbClr val="515151"/>
                </a:solidFill>
                <a:latin typeface="+mj-lt"/>
                <a:ea typeface="思源黑体-思源黑体-Regular" pitchFamily="34" charset="-122"/>
                <a:cs typeface="思源黑体-思源黑体-Regular" pitchFamily="34" charset="-120"/>
              </a:rPr>
              <a:t>The Open Systems </a:t>
            </a:r>
            <a:r>
              <a:rPr lang="en-US" sz="2400" dirty="0">
                <a:latin typeface="+mj-lt"/>
                <a:ea typeface="思源黑体-思源黑体-Regular" pitchFamily="34" charset="-122"/>
                <a:cs typeface="思源黑体-思源黑体-Regular" pitchFamily="34" charset="-120"/>
              </a:rPr>
              <a:t>Interconnection</a:t>
            </a:r>
            <a:r>
              <a:rPr lang="en-US" sz="2400" dirty="0">
                <a:solidFill>
                  <a:srgbClr val="515151"/>
                </a:solidFill>
                <a:latin typeface="+mj-lt"/>
                <a:ea typeface="思源黑体-思源黑体-Regular" pitchFamily="34" charset="-122"/>
                <a:cs typeface="思源黑体-思源黑体-Regular" pitchFamily="34" charset="-120"/>
              </a:rPr>
              <a:t> (OSI) reference model was developed by the International Organization for Standardization (ISO).</a:t>
            </a:r>
            <a:endParaRPr lang="en-US" sz="2400" dirty="0">
              <a:latin typeface="+mj-lt"/>
            </a:endParaRPr>
          </a:p>
        </p:txBody>
      </p:sp>
      <p:pic>
        <p:nvPicPr>
          <p:cNvPr id="9" name="Picture 8">
            <a:extLst>
              <a:ext uri="{FF2B5EF4-FFF2-40B4-BE49-F238E27FC236}">
                <a16:creationId xmlns:a16="http://schemas.microsoft.com/office/drawing/2014/main" id="{FD7F529A-B65B-42D8-84FF-448D126D7614}"/>
              </a:ext>
            </a:extLst>
          </p:cNvPr>
          <p:cNvPicPr>
            <a:picLocks noChangeAspect="1"/>
          </p:cNvPicPr>
          <p:nvPr/>
        </p:nvPicPr>
        <p:blipFill>
          <a:blip r:embed="rId5"/>
          <a:stretch>
            <a:fillRect/>
          </a:stretch>
        </p:blipFill>
        <p:spPr>
          <a:xfrm>
            <a:off x="712694" y="2689412"/>
            <a:ext cx="12667130" cy="4649220"/>
          </a:xfrm>
          <a:prstGeom prst="rect">
            <a:avLst/>
          </a:prstGeom>
        </p:spPr>
      </p:pic>
    </p:spTree>
    <p:extLst>
      <p:ext uri="{BB962C8B-B14F-4D97-AF65-F5344CB8AC3E}">
        <p14:creationId xmlns:p14="http://schemas.microsoft.com/office/powerpoint/2010/main" val="2974604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00953" y="1775012"/>
            <a:ext cx="12048565" cy="6172200"/>
          </a:xfrm>
          <a:prstGeom prst="rect">
            <a:avLst/>
          </a:prstGeom>
        </p:spPr>
      </p:pic>
      <p:sp>
        <p:nvSpPr>
          <p:cNvPr id="4" name="Text 0"/>
          <p:cNvSpPr/>
          <p:nvPr/>
        </p:nvSpPr>
        <p:spPr>
          <a:xfrm>
            <a:off x="657292" y="393730"/>
            <a:ext cx="12984480" cy="740664"/>
          </a:xfrm>
          <a:prstGeom prst="rect">
            <a:avLst/>
          </a:prstGeom>
          <a:noFill/>
          <a:ln/>
        </p:spPr>
        <p:txBody>
          <a:bodyPr wrap="none" lIns="0" tIns="0" rIns="0" bIns="0" rtlCol="0" anchor="ctr"/>
          <a:lstStyle/>
          <a:p>
            <a:pPr marL="0" indent="0" algn="l">
              <a:lnSpc>
                <a:spcPts val="5800"/>
              </a:lnSpc>
              <a:buNone/>
            </a:pPr>
            <a:r>
              <a:rPr lang="en-US" sz="4400" dirty="0">
                <a:solidFill>
                  <a:srgbClr val="6F7CA6"/>
                </a:solidFill>
                <a:latin typeface="Cambria" panose="02040503050406030204" pitchFamily="18" charset="0"/>
                <a:ea typeface="Cambria" panose="02040503050406030204" pitchFamily="18" charset="0"/>
                <a:cs typeface="思源黑体-思源黑体-SemiBold" pitchFamily="34" charset="-120"/>
              </a:rPr>
              <a:t>The OSI Model vs TCP/IP Model</a:t>
            </a:r>
            <a:endParaRPr lang="en-US" sz="440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B89CADB5-1B8D-487D-86CC-2027030C29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832104" y="3474720"/>
            <a:ext cx="12984480" cy="1024128"/>
          </a:xfrm>
          <a:prstGeom prst="rect">
            <a:avLst/>
          </a:prstGeom>
          <a:noFill/>
          <a:ln/>
        </p:spPr>
        <p:txBody>
          <a:bodyPr wrap="none" lIns="0" tIns="0" rIns="0" bIns="0" rtlCol="0" anchor="ctr"/>
          <a:lstStyle/>
          <a:p>
            <a:pPr marL="0" indent="0" algn="ctr">
              <a:lnSpc>
                <a:spcPts val="8010"/>
              </a:lnSpc>
              <a:buNone/>
            </a:pPr>
            <a:r>
              <a:rPr lang="en-US" sz="5400" b="1" dirty="0">
                <a:solidFill>
                  <a:srgbClr val="6F7CA6"/>
                </a:solidFill>
                <a:latin typeface="Cambria" panose="02040503050406030204" pitchFamily="18" charset="0"/>
                <a:ea typeface="Cambria" panose="02040503050406030204" pitchFamily="18" charset="0"/>
                <a:cs typeface="思源黑体-思源黑体-SemiBold" pitchFamily="34" charset="-120"/>
              </a:rPr>
              <a:t>Thank You</a:t>
            </a:r>
            <a:endParaRPr lang="en-US" sz="5400" b="1"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C0683B45-D7C9-4AE0-8096-09BB770255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37578" y="7338632"/>
            <a:ext cx="2661920" cy="6794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1050</Words>
  <Application>Microsoft Office PowerPoint</Application>
  <PresentationFormat>Custom</PresentationFormat>
  <Paragraphs>101</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Calibri Light</vt:lpstr>
      <vt:lpstr>Cambria</vt:lpstr>
      <vt:lpstr>Camria</vt:lpstr>
      <vt:lpstr>Wingdings</vt:lpstr>
      <vt:lpstr>思源黑体-思源黑体-Regular</vt:lpstr>
      <vt:lpstr>思源黑体-思源黑体-SemiBold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Pushparaj shetty</cp:lastModifiedBy>
  <cp:revision>6</cp:revision>
  <dcterms:created xsi:type="dcterms:W3CDTF">2025-07-08T10:45:27Z</dcterms:created>
  <dcterms:modified xsi:type="dcterms:W3CDTF">2025-07-10T09:12:38Z</dcterms:modified>
</cp:coreProperties>
</file>