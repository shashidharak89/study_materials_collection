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sldIdLst>
    <p:sldId id="377" r:id="rId2"/>
    <p:sldId id="378" r:id="rId3"/>
    <p:sldId id="379" r:id="rId4"/>
    <p:sldId id="398" r:id="rId5"/>
    <p:sldId id="381" r:id="rId6"/>
    <p:sldId id="399" r:id="rId7"/>
    <p:sldId id="404" r:id="rId8"/>
    <p:sldId id="400" r:id="rId9"/>
    <p:sldId id="406" r:id="rId10"/>
    <p:sldId id="405" r:id="rId11"/>
    <p:sldId id="401" r:id="rId12"/>
    <p:sldId id="402" r:id="rId13"/>
    <p:sldId id="403" r:id="rId14"/>
    <p:sldId id="409" r:id="rId15"/>
    <p:sldId id="410" r:id="rId16"/>
    <p:sldId id="411" r:id="rId17"/>
    <p:sldId id="382" r:id="rId18"/>
    <p:sldId id="412" r:id="rId19"/>
    <p:sldId id="383" r:id="rId20"/>
    <p:sldId id="384" r:id="rId21"/>
    <p:sldId id="413" r:id="rId22"/>
    <p:sldId id="264" r:id="rId23"/>
    <p:sldId id="386" r:id="rId24"/>
    <p:sldId id="414" r:id="rId25"/>
    <p:sldId id="415" r:id="rId26"/>
    <p:sldId id="416" r:id="rId27"/>
    <p:sldId id="389" r:id="rId28"/>
    <p:sldId id="390" r:id="rId29"/>
    <p:sldId id="417" r:id="rId30"/>
    <p:sldId id="393" r:id="rId31"/>
    <p:sldId id="397" r:id="rId3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882" autoAdjust="0"/>
    <p:restoredTop sz="94660"/>
  </p:normalViewPr>
  <p:slideViewPr>
    <p:cSldViewPr>
      <p:cViewPr varScale="1">
        <p:scale>
          <a:sx n="78" d="100"/>
          <a:sy n="78" d="100"/>
        </p:scale>
        <p:origin x="1906" y="6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396319" y="802299"/>
            <a:ext cx="5618515" cy="2541431"/>
          </a:xfrm>
        </p:spPr>
        <p:txBody>
          <a:bodyPr bIns="0" anchor="b">
            <a:normAutofit/>
          </a:bodyPr>
          <a:lstStyle>
            <a:lvl1pPr algn="l">
              <a:defRPr sz="5400"/>
            </a:lvl1pPr>
          </a:lstStyle>
          <a:p>
            <a:r>
              <a:rPr lang="en-US"/>
              <a:t>Click to edit Master title style</a:t>
            </a:r>
            <a:endParaRPr lang="en-US" dirty="0"/>
          </a:p>
        </p:txBody>
      </p:sp>
      <p:sp>
        <p:nvSpPr>
          <p:cNvPr id="3" name="Subtitle 2"/>
          <p:cNvSpPr>
            <a:spLocks noGrp="1"/>
          </p:cNvSpPr>
          <p:nvPr>
            <p:ph type="subTitle" idx="1"/>
          </p:nvPr>
        </p:nvSpPr>
        <p:spPr>
          <a:xfrm>
            <a:off x="2396319" y="3531205"/>
            <a:ext cx="5618515" cy="977621"/>
          </a:xfrm>
        </p:spPr>
        <p:txBody>
          <a:bodyPr tIns="91440" bIns="91440">
            <a:normAutofit/>
          </a:bodyPr>
          <a:lstStyle>
            <a:lvl1pPr marL="0" indent="0" algn="l">
              <a:buNone/>
              <a:defRPr sz="1600" b="0" cap="all"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4/27/2026</a:t>
            </a:fld>
            <a:endParaRPr lang="en-US"/>
          </a:p>
        </p:txBody>
      </p:sp>
      <p:sp>
        <p:nvSpPr>
          <p:cNvPr id="5" name="Footer Placeholder 4"/>
          <p:cNvSpPr>
            <a:spLocks noGrp="1"/>
          </p:cNvSpPr>
          <p:nvPr>
            <p:ph type="ftr" sz="quarter" idx="11"/>
          </p:nvPr>
        </p:nvSpPr>
        <p:spPr>
          <a:xfrm>
            <a:off x="2396319" y="329308"/>
            <a:ext cx="3086292" cy="309201"/>
          </a:xfrm>
        </p:spPr>
        <p:txBody>
          <a:bodyPr/>
          <a:lstStyle/>
          <a:p>
            <a:endParaRPr lang="en-US"/>
          </a:p>
        </p:txBody>
      </p:sp>
      <p:sp>
        <p:nvSpPr>
          <p:cNvPr id="6" name="Slide Number Placeholder 5"/>
          <p:cNvSpPr>
            <a:spLocks noGrp="1"/>
          </p:cNvSpPr>
          <p:nvPr>
            <p:ph type="sldNum" sz="quarter" idx="12"/>
          </p:nvPr>
        </p:nvSpPr>
        <p:spPr>
          <a:xfrm>
            <a:off x="1434703" y="798973"/>
            <a:ext cx="802005" cy="503578"/>
          </a:xfrm>
        </p:spPr>
        <p:txBody>
          <a:bodyPr/>
          <a:lstStyle/>
          <a:p>
            <a:fld id="{C1FF6DA9-008F-8B48-92A6-B652298478BF}" type="slidenum">
              <a:rPr lang="en-US" smtClean="0"/>
              <a:t>‹#›</a:t>
            </a:fld>
            <a:endParaRPr lang="en-US"/>
          </a:p>
        </p:txBody>
      </p:sp>
      <p:cxnSp>
        <p:nvCxnSpPr>
          <p:cNvPr id="15" name="Straight Connector 14"/>
          <p:cNvCxnSpPr/>
          <p:nvPr/>
        </p:nvCxnSpPr>
        <p:spPr>
          <a:xfrm>
            <a:off x="2396319" y="3528542"/>
            <a:ext cx="561851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965658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167664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43491" y="1756130"/>
            <a:ext cx="5617002" cy="1887950"/>
          </a:xfrm>
        </p:spPr>
        <p:txBody>
          <a:bodyPr anchor="b">
            <a:normAutofit/>
          </a:bodyPr>
          <a:lstStyle>
            <a:lvl1pPr algn="l">
              <a:defRPr sz="3200"/>
            </a:lvl1pPr>
          </a:lstStyle>
          <a:p>
            <a:r>
              <a:rPr lang="en-US"/>
              <a:t>Click to edit Master title style</a:t>
            </a:r>
            <a:endParaRPr lang="en-US" dirty="0"/>
          </a:p>
        </p:txBody>
      </p:sp>
      <p:sp>
        <p:nvSpPr>
          <p:cNvPr id="3" name="Text Placeholder 2"/>
          <p:cNvSpPr>
            <a:spLocks noGrp="1"/>
          </p:cNvSpPr>
          <p:nvPr>
            <p:ph type="body" idx="1"/>
          </p:nvPr>
        </p:nvSpPr>
        <p:spPr>
          <a:xfrm>
            <a:off x="1443492" y="3806196"/>
            <a:ext cx="5617002" cy="1012929"/>
          </a:xfrm>
        </p:spPr>
        <p:txBody>
          <a:bodyPr tIns="91440">
            <a:normAutofit/>
          </a:bodyPr>
          <a:lstStyle>
            <a:lvl1pPr marL="0" indent="0" algn="l">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1443491" y="3804985"/>
            <a:ext cx="561700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828360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3491" y="804890"/>
            <a:ext cx="6571343"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3490" y="2013936"/>
            <a:ext cx="3125871" cy="3437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89182" y="2013936"/>
            <a:ext cx="3125652" cy="34375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133024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36" name="Straight Connector 35"/>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a:xfrm>
            <a:off x="1443491" y="804164"/>
            <a:ext cx="6571344"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3491" y="2019550"/>
            <a:ext cx="3125766" cy="801943"/>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443491" y="2824270"/>
            <a:ext cx="3125766"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89182" y="2023004"/>
            <a:ext cx="3125652" cy="802237"/>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889182" y="2821491"/>
            <a:ext cx="31256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4/27/2026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4982925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32" name="Straight Connector 31"/>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4/27/2026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229498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9306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39042" y="798973"/>
            <a:ext cx="2425950"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4186656" y="798974"/>
            <a:ext cx="3828178"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39042" y="3205492"/>
            <a:ext cx="2427369" cy="2248181"/>
          </a:xfrm>
        </p:spPr>
        <p:txBody>
          <a:bodyPr>
            <a:normAutofit/>
          </a:bodyPr>
          <a:lstStyle>
            <a:lvl1pPr marL="0" indent="0" algn="l">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17" name="Straight Connector 16"/>
          <p:cNvCxnSpPr/>
          <p:nvPr/>
        </p:nvCxnSpPr>
        <p:spPr>
          <a:xfrm>
            <a:off x="1441748" y="3205491"/>
            <a:ext cx="242327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091394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3" name="Group 12"/>
          <p:cNvGrpSpPr/>
          <p:nvPr/>
        </p:nvGrpSpPr>
        <p:grpSpPr>
          <a:xfrm>
            <a:off x="4996501" y="482171"/>
            <a:ext cx="3511387" cy="5149101"/>
            <a:chOff x="6852919" y="583365"/>
            <a:chExt cx="4681849" cy="5181928"/>
          </a:xfrm>
        </p:grpSpPr>
        <p:sp>
          <p:nvSpPr>
            <p:cNvPr id="14" name="Rectangle 13"/>
            <p:cNvSpPr/>
            <p:nvPr/>
          </p:nvSpPr>
          <p:spPr>
            <a:xfrm>
              <a:off x="6852919" y="583365"/>
              <a:ext cx="4681849" cy="5181928"/>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5" name="Rectangle 14"/>
            <p:cNvSpPr/>
            <p:nvPr/>
          </p:nvSpPr>
          <p:spPr>
            <a:xfrm>
              <a:off x="7273787" y="915806"/>
              <a:ext cx="3844017" cy="4507918"/>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44148" y="1129513"/>
            <a:ext cx="3244935"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640128" y="1122543"/>
            <a:ext cx="2234998" cy="3866327"/>
          </a:xfrm>
          <a:solidFill>
            <a:schemeClr val="bg1">
              <a:lumMod val="8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1443492" y="3145992"/>
            <a:ext cx="3240286" cy="2003742"/>
          </a:xfrm>
        </p:spPr>
        <p:txBody>
          <a:bodyPr>
            <a:normAutofit/>
          </a:bodyPr>
          <a:lstStyle>
            <a:lvl1pPr marL="0" indent="0" algn="l">
              <a:buNone/>
              <a:defRPr sz="18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1436664" y="5469857"/>
            <a:ext cx="3252420" cy="320123"/>
          </a:xfrm>
        </p:spPr>
        <p:txBody>
          <a:bodyPr/>
          <a:lstStyle>
            <a:lvl1pPr algn="l">
              <a:defRPr/>
            </a:lvl1pPr>
          </a:lstStyle>
          <a:p>
            <a:fld id="{5BCAD085-E8A6-8845-BD4E-CB4CCA059FC4}" type="datetimeFigureOut">
              <a:rPr lang="en-US" smtClean="0"/>
              <a:t>4/27/2026</a:t>
            </a:fld>
            <a:endParaRPr lang="en-US"/>
          </a:p>
        </p:txBody>
      </p:sp>
      <p:sp>
        <p:nvSpPr>
          <p:cNvPr id="6" name="Footer Placeholder 5"/>
          <p:cNvSpPr>
            <a:spLocks noGrp="1"/>
          </p:cNvSpPr>
          <p:nvPr>
            <p:ph type="ftr" sz="quarter" idx="11"/>
          </p:nvPr>
        </p:nvSpPr>
        <p:spPr>
          <a:xfrm>
            <a:off x="1437530" y="318641"/>
            <a:ext cx="3251553" cy="320931"/>
          </a:xfrm>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31" name="Straight Connector 30"/>
          <p:cNvCxnSpPr/>
          <p:nvPr/>
        </p:nvCxnSpPr>
        <p:spPr>
          <a:xfrm>
            <a:off x="1441281" y="3143605"/>
            <a:ext cx="3242014"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54872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301146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18028" y="798974"/>
            <a:ext cx="1103027"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3491" y="798974"/>
            <a:ext cx="5301095"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6918028" y="798974"/>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4590912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10" name="Rectangle 9"/>
          <p:cNvSpPr/>
          <p:nvPr/>
        </p:nvSpPr>
        <p:spPr>
          <a:xfrm>
            <a:off x="0" y="2015734"/>
            <a:ext cx="9144000" cy="4079520"/>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2" name="Picture 11"/>
          <p:cNvPicPr>
            <a:picLocks noChangeAspect="1"/>
          </p:cNvPicPr>
          <p:nvPr/>
        </p:nvPicPr>
        <p:blipFill rotWithShape="1">
          <a:blip r:embed="rId13">
            <a:extLst>
              <a:ext uri="{28A0092B-C50C-407E-A947-70E740481C1C}">
                <a14:useLocalDpi xmlns:a14="http://schemas.microsoft.com/office/drawing/2010/main" val="0"/>
              </a:ext>
            </a:extLst>
          </a:blip>
          <a:srcRect l="12500" t="1538" r="12500" b="-1538"/>
          <a:stretch/>
        </p:blipFill>
        <p:spPr>
          <a:xfrm>
            <a:off x="-1" y="6095253"/>
            <a:ext cx="9144001" cy="774727"/>
          </a:xfrm>
          <a:prstGeom prst="rect">
            <a:avLst/>
          </a:prstGeom>
        </p:spPr>
      </p:pic>
      <p:cxnSp>
        <p:nvCxnSpPr>
          <p:cNvPr id="13" name="Straight Connector 12"/>
          <p:cNvCxnSpPr/>
          <p:nvPr/>
        </p:nvCxnSpPr>
        <p:spPr>
          <a:xfrm>
            <a:off x="0" y="6101127"/>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1443491" y="804520"/>
            <a:ext cx="6571343"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43491" y="2015733"/>
            <a:ext cx="6571343"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646542" y="330370"/>
            <a:ext cx="2368292"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46EC0456-662B-4A01-927C-54ECA426BBD8}" type="datetimeFigureOut">
              <a:rPr lang="en-US" smtClean="0"/>
              <a:pPr/>
              <a:t>4/27/2026</a:t>
            </a:fld>
            <a:endParaRPr lang="en-US"/>
          </a:p>
        </p:txBody>
      </p:sp>
      <p:sp>
        <p:nvSpPr>
          <p:cNvPr id="5" name="Footer Placeholder 4"/>
          <p:cNvSpPr>
            <a:spLocks noGrp="1"/>
          </p:cNvSpPr>
          <p:nvPr>
            <p:ph type="ftr" sz="quarter" idx="3"/>
          </p:nvPr>
        </p:nvSpPr>
        <p:spPr>
          <a:xfrm>
            <a:off x="1443491" y="329308"/>
            <a:ext cx="4034004"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7725" y="798973"/>
            <a:ext cx="795746" cy="503578"/>
          </a:xfrm>
          <a:prstGeom prst="rect">
            <a:avLst/>
          </a:prstGeom>
        </p:spPr>
        <p:txBody>
          <a:bodyPr vert="horz" lIns="91440" tIns="45720" rIns="91440" bIns="45720" rtlCol="0" anchor="t"/>
          <a:lstStyle>
            <a:lvl1pPr algn="r">
              <a:defRPr sz="2800">
                <a:solidFill>
                  <a:schemeClr val="accent1"/>
                </a:solidFill>
              </a:defRPr>
            </a:lvl1pPr>
          </a:lstStyle>
          <a:p>
            <a:fld id="{3ECB8C49-0691-4A16-B3E4-13CA33D67C4B}" type="slidenum">
              <a:rPr lang="en-US" smtClean="0"/>
              <a:pPr/>
              <a:t>‹#›</a:t>
            </a:fld>
            <a:endParaRPr lang="en-US"/>
          </a:p>
        </p:txBody>
      </p:sp>
    </p:spTree>
    <p:extLst>
      <p:ext uri="{BB962C8B-B14F-4D97-AF65-F5344CB8AC3E}">
        <p14:creationId xmlns:p14="http://schemas.microsoft.com/office/powerpoint/2010/main" val="90107973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6858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t>Software Testing Fundamentals and Testing Levels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Introduction to Software Testing</a:t>
            </a:r>
          </a:p>
        </p:txBody>
      </p:sp>
      <p:sp>
        <p:nvSpPr>
          <p:cNvPr id="3" name="Content Placeholder 2"/>
          <p:cNvSpPr>
            <a:spLocks noGrp="1"/>
          </p:cNvSpPr>
          <p:nvPr>
            <p:ph idx="1"/>
          </p:nvPr>
        </p:nvSpPr>
        <p:spPr/>
        <p:txBody>
          <a:bodyPr/>
          <a:lstStyle/>
          <a:p>
            <a:r>
              <a:t>Software testing evaluates correctness, quality, and reliability of software.</a:t>
            </a:r>
          </a:p>
          <a:p>
            <a:r>
              <a:t>Testing executes programs to identify defects.</a:t>
            </a:r>
          </a:p>
          <a:p>
            <a:r>
              <a:t>Helps ensure software meets requirements.</a:t>
            </a:r>
          </a:p>
          <a:p>
            <a:r>
              <a:t>Improves reliability and performance.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Objectives of Software Testing</a:t>
            </a:r>
          </a:p>
        </p:txBody>
      </p:sp>
      <p:sp>
        <p:nvSpPr>
          <p:cNvPr id="3" name="Content Placeholder 2"/>
          <p:cNvSpPr>
            <a:spLocks noGrp="1"/>
          </p:cNvSpPr>
          <p:nvPr>
            <p:ph idx="1"/>
          </p:nvPr>
        </p:nvSpPr>
        <p:spPr/>
        <p:txBody>
          <a:bodyPr>
            <a:normAutofit/>
          </a:bodyPr>
          <a:lstStyle/>
          <a:p>
            <a:r>
              <a:rPr dirty="0"/>
              <a:t>Detect defects in software</a:t>
            </a:r>
          </a:p>
          <a:p>
            <a:r>
              <a:rPr dirty="0"/>
              <a:t>Verify software functionality</a:t>
            </a:r>
          </a:p>
          <a:p>
            <a:r>
              <a:rPr dirty="0"/>
              <a:t>Validate requirements</a:t>
            </a:r>
          </a:p>
          <a:p>
            <a:r>
              <a:rPr dirty="0"/>
              <a:t>Improve quality and reliability</a:t>
            </a:r>
            <a:endParaRPr lang="en-US" dirty="0"/>
          </a:p>
          <a:p>
            <a:pPr marL="0" indent="0">
              <a:buNone/>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B34C8C-070D-24DF-B149-D713178945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AA544A-8309-0A89-F5F9-B9988F86E27F}"/>
              </a:ext>
            </a:extLst>
          </p:cNvPr>
          <p:cNvSpPr>
            <a:spLocks noGrp="1"/>
          </p:cNvSpPr>
          <p:nvPr>
            <p:ph type="title"/>
          </p:nvPr>
        </p:nvSpPr>
        <p:spPr/>
        <p:txBody>
          <a:bodyPr/>
          <a:lstStyle/>
          <a:p>
            <a:r>
              <a:rPr lang="en-US" b="1" dirty="0"/>
              <a:t>Need for software testing</a:t>
            </a:r>
          </a:p>
        </p:txBody>
      </p:sp>
      <p:sp>
        <p:nvSpPr>
          <p:cNvPr id="3" name="Content Placeholder 2">
            <a:extLst>
              <a:ext uri="{FF2B5EF4-FFF2-40B4-BE49-F238E27FC236}">
                <a16:creationId xmlns:a16="http://schemas.microsoft.com/office/drawing/2014/main" id="{8CB1C11D-2AF7-D54B-3ED8-C04D17D9CE17}"/>
              </a:ext>
            </a:extLst>
          </p:cNvPr>
          <p:cNvSpPr>
            <a:spLocks noGrp="1"/>
          </p:cNvSpPr>
          <p:nvPr>
            <p:ph idx="1"/>
          </p:nvPr>
        </p:nvSpPr>
        <p:spPr/>
        <p:txBody>
          <a:bodyPr>
            <a:normAutofit/>
          </a:bodyPr>
          <a:lstStyle/>
          <a:p>
            <a:r>
              <a:rPr lang="en-US" dirty="0"/>
              <a:t>Increasing software complexity</a:t>
            </a:r>
          </a:p>
          <a:p>
            <a:r>
              <a:rPr lang="en-US" dirty="0"/>
              <a:t>Human coding errors</a:t>
            </a:r>
          </a:p>
          <a:p>
            <a:r>
              <a:rPr lang="en-US" dirty="0"/>
              <a:t>Requirement misunderstandings</a:t>
            </a:r>
          </a:p>
          <a:p>
            <a:r>
              <a:rPr lang="en-US" dirty="0"/>
              <a:t>Critical systems require reliability</a:t>
            </a:r>
          </a:p>
          <a:p>
            <a:endParaRPr dirty="0"/>
          </a:p>
        </p:txBody>
      </p:sp>
    </p:spTree>
    <p:extLst>
      <p:ext uri="{BB962C8B-B14F-4D97-AF65-F5344CB8AC3E}">
        <p14:creationId xmlns:p14="http://schemas.microsoft.com/office/powerpoint/2010/main" val="6793406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Software Testing Process</a:t>
            </a:r>
          </a:p>
        </p:txBody>
      </p:sp>
      <p:sp>
        <p:nvSpPr>
          <p:cNvPr id="3" name="Content Placeholder 2"/>
          <p:cNvSpPr>
            <a:spLocks noGrp="1"/>
          </p:cNvSpPr>
          <p:nvPr>
            <p:ph idx="1"/>
          </p:nvPr>
        </p:nvSpPr>
        <p:spPr/>
        <p:txBody>
          <a:bodyPr/>
          <a:lstStyle/>
          <a:p>
            <a:r>
              <a:rPr dirty="0"/>
              <a:t>Test planning</a:t>
            </a:r>
          </a:p>
          <a:p>
            <a:r>
              <a:rPr dirty="0"/>
              <a:t>Test case design</a:t>
            </a:r>
          </a:p>
          <a:p>
            <a:r>
              <a:rPr dirty="0"/>
              <a:t>Test execution</a:t>
            </a:r>
          </a:p>
          <a:p>
            <a:r>
              <a:rPr dirty="0"/>
              <a:t>Defect reporting</a:t>
            </a:r>
          </a:p>
          <a:p>
            <a:r>
              <a:rPr dirty="0"/>
              <a:t>Test evaluation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79684A-608D-F846-5E5F-8F19C7F743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064DA5-7D93-3CE6-1F8B-2A15FA82246C}"/>
              </a:ext>
            </a:extLst>
          </p:cNvPr>
          <p:cNvSpPr>
            <a:spLocks noGrp="1"/>
          </p:cNvSpPr>
          <p:nvPr>
            <p:ph type="title"/>
          </p:nvPr>
        </p:nvSpPr>
        <p:spPr>
          <a:xfrm>
            <a:off x="1286328" y="836712"/>
            <a:ext cx="6571343" cy="1049235"/>
          </a:xfrm>
        </p:spPr>
        <p:txBody>
          <a:bodyPr/>
          <a:lstStyle/>
          <a:p>
            <a:r>
              <a:rPr dirty="0"/>
              <a:t>Software Testing Process</a:t>
            </a:r>
          </a:p>
        </p:txBody>
      </p:sp>
      <p:sp>
        <p:nvSpPr>
          <p:cNvPr id="3" name="Content Placeholder 2">
            <a:extLst>
              <a:ext uri="{FF2B5EF4-FFF2-40B4-BE49-F238E27FC236}">
                <a16:creationId xmlns:a16="http://schemas.microsoft.com/office/drawing/2014/main" id="{D379C0CB-D3A1-FE26-567D-30DC2230C24D}"/>
              </a:ext>
            </a:extLst>
          </p:cNvPr>
          <p:cNvSpPr>
            <a:spLocks noGrp="1"/>
          </p:cNvSpPr>
          <p:nvPr>
            <p:ph idx="1"/>
          </p:nvPr>
        </p:nvSpPr>
        <p:spPr>
          <a:xfrm>
            <a:off x="539552" y="1916831"/>
            <a:ext cx="8280919" cy="4104457"/>
          </a:xfrm>
        </p:spPr>
        <p:txBody>
          <a:bodyPr>
            <a:noAutofit/>
          </a:bodyPr>
          <a:lstStyle/>
          <a:p>
            <a:r>
              <a:rPr b="1" dirty="0"/>
              <a:t>Test planning</a:t>
            </a:r>
            <a:r>
              <a:rPr lang="en-IN" b="1" dirty="0"/>
              <a:t>: </a:t>
            </a:r>
            <a:r>
              <a:rPr lang="en-IN" dirty="0"/>
              <a:t>It </a:t>
            </a:r>
            <a:r>
              <a:rPr lang="en-US" dirty="0"/>
              <a:t>is the foundation of the entire testing effort. It defines </a:t>
            </a:r>
            <a:r>
              <a:rPr lang="en-US" b="1" dirty="0"/>
              <a:t>what</a:t>
            </a:r>
            <a:r>
              <a:rPr lang="en-US" dirty="0"/>
              <a:t> will be tested, </a:t>
            </a:r>
            <a:r>
              <a:rPr lang="en-US" b="1" dirty="0"/>
              <a:t>how</a:t>
            </a:r>
            <a:r>
              <a:rPr lang="en-US" dirty="0"/>
              <a:t>, </a:t>
            </a:r>
            <a:r>
              <a:rPr lang="en-US" b="1" dirty="0"/>
              <a:t>by whom</a:t>
            </a:r>
            <a:r>
              <a:rPr lang="en-US" dirty="0"/>
              <a:t>, and </a:t>
            </a:r>
            <a:r>
              <a:rPr lang="en-US" b="1" dirty="0"/>
              <a:t>when</a:t>
            </a:r>
            <a:r>
              <a:rPr lang="en-US" dirty="0"/>
              <a:t>.</a:t>
            </a:r>
          </a:p>
          <a:p>
            <a:r>
              <a:rPr lang="en-US" b="1" dirty="0"/>
              <a:t>Key activities:</a:t>
            </a:r>
            <a:endParaRPr lang="en-US" dirty="0"/>
          </a:p>
          <a:p>
            <a:r>
              <a:rPr lang="en-US" dirty="0"/>
              <a:t>Define the </a:t>
            </a:r>
            <a:r>
              <a:rPr lang="en-US" b="1" dirty="0"/>
              <a:t>scope</a:t>
            </a:r>
            <a:r>
              <a:rPr lang="en-US" dirty="0"/>
              <a:t> of testing (what's in and out of scope)</a:t>
            </a:r>
          </a:p>
          <a:p>
            <a:r>
              <a:rPr lang="en-US" dirty="0"/>
              <a:t>Identify </a:t>
            </a:r>
            <a:r>
              <a:rPr lang="en-US" b="1" dirty="0"/>
              <a:t>resources</a:t>
            </a:r>
            <a:r>
              <a:rPr lang="en-US" dirty="0"/>
              <a:t> (team, tools, environments)</a:t>
            </a:r>
          </a:p>
          <a:p>
            <a:r>
              <a:rPr lang="en-US" dirty="0"/>
              <a:t>Estimate </a:t>
            </a:r>
            <a:r>
              <a:rPr lang="en-US" b="1" dirty="0"/>
              <a:t>timelines</a:t>
            </a:r>
            <a:r>
              <a:rPr lang="en-US" dirty="0"/>
              <a:t> and </a:t>
            </a:r>
            <a:r>
              <a:rPr lang="en-US" b="1" dirty="0"/>
              <a:t>effort</a:t>
            </a:r>
            <a:endParaRPr lang="en-US" dirty="0"/>
          </a:p>
          <a:p>
            <a:r>
              <a:rPr lang="en-US" dirty="0"/>
              <a:t>Choose a </a:t>
            </a:r>
            <a:r>
              <a:rPr lang="en-US" b="1" dirty="0"/>
              <a:t>testing strategy</a:t>
            </a:r>
            <a:r>
              <a:rPr lang="en-US" dirty="0"/>
              <a:t> (manual, automated, or both)</a:t>
            </a:r>
          </a:p>
          <a:p>
            <a:r>
              <a:rPr lang="en-US" dirty="0"/>
              <a:t>Identify </a:t>
            </a:r>
            <a:r>
              <a:rPr lang="en-US" b="1" dirty="0"/>
              <a:t>risks</a:t>
            </a:r>
            <a:r>
              <a:rPr lang="en-US" dirty="0"/>
              <a:t> and mitigation plans</a:t>
            </a:r>
          </a:p>
          <a:p>
            <a:endParaRPr sz="1200" dirty="0"/>
          </a:p>
        </p:txBody>
      </p:sp>
    </p:spTree>
    <p:extLst>
      <p:ext uri="{BB962C8B-B14F-4D97-AF65-F5344CB8AC3E}">
        <p14:creationId xmlns:p14="http://schemas.microsoft.com/office/powerpoint/2010/main" val="12418561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62B2B-F6AD-8DC8-CEA8-FDAE6CA64F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66FFA3-F571-C087-EF52-3997DCF32BED}"/>
              </a:ext>
            </a:extLst>
          </p:cNvPr>
          <p:cNvSpPr>
            <a:spLocks noGrp="1"/>
          </p:cNvSpPr>
          <p:nvPr>
            <p:ph type="title"/>
          </p:nvPr>
        </p:nvSpPr>
        <p:spPr>
          <a:xfrm>
            <a:off x="1394339" y="1196752"/>
            <a:ext cx="6571343" cy="1049235"/>
          </a:xfrm>
        </p:spPr>
        <p:txBody>
          <a:bodyPr/>
          <a:lstStyle/>
          <a:p>
            <a:r>
              <a:rPr dirty="0"/>
              <a:t>Software Testing Process</a:t>
            </a:r>
          </a:p>
        </p:txBody>
      </p:sp>
      <p:sp>
        <p:nvSpPr>
          <p:cNvPr id="3" name="Content Placeholder 2">
            <a:extLst>
              <a:ext uri="{FF2B5EF4-FFF2-40B4-BE49-F238E27FC236}">
                <a16:creationId xmlns:a16="http://schemas.microsoft.com/office/drawing/2014/main" id="{309842B1-45EF-BEAA-7E28-06BB8548D3B9}"/>
              </a:ext>
            </a:extLst>
          </p:cNvPr>
          <p:cNvSpPr>
            <a:spLocks noGrp="1"/>
          </p:cNvSpPr>
          <p:nvPr>
            <p:ph idx="1"/>
          </p:nvPr>
        </p:nvSpPr>
        <p:spPr>
          <a:xfrm>
            <a:off x="539552" y="1916831"/>
            <a:ext cx="8280919" cy="4104457"/>
          </a:xfrm>
        </p:spPr>
        <p:txBody>
          <a:bodyPr>
            <a:noAutofit/>
          </a:bodyPr>
          <a:lstStyle/>
          <a:p>
            <a:r>
              <a:rPr sz="1800" b="1" dirty="0"/>
              <a:t>Test planning</a:t>
            </a:r>
            <a:r>
              <a:rPr lang="en-IN" sz="1800" b="1" dirty="0"/>
              <a:t>: </a:t>
            </a:r>
            <a:r>
              <a:rPr lang="en-IN" sz="1800" dirty="0"/>
              <a:t>It </a:t>
            </a:r>
            <a:r>
              <a:rPr lang="en-US" sz="1800" dirty="0"/>
              <a:t>is the foundation of the entire testing effort. It defines </a:t>
            </a:r>
            <a:r>
              <a:rPr lang="en-US" sz="1800" b="1" dirty="0"/>
              <a:t>what</a:t>
            </a:r>
            <a:r>
              <a:rPr lang="en-US" sz="1800" dirty="0"/>
              <a:t> will be tested, </a:t>
            </a:r>
            <a:r>
              <a:rPr lang="en-US" sz="1800" b="1" dirty="0"/>
              <a:t>how</a:t>
            </a:r>
            <a:r>
              <a:rPr lang="en-US" sz="1800" dirty="0"/>
              <a:t>, </a:t>
            </a:r>
            <a:r>
              <a:rPr lang="en-US" sz="1800" b="1" dirty="0"/>
              <a:t>by whom</a:t>
            </a:r>
            <a:r>
              <a:rPr lang="en-US" sz="1800" dirty="0"/>
              <a:t>, and </a:t>
            </a:r>
            <a:r>
              <a:rPr lang="en-US" sz="1800" b="1" dirty="0"/>
              <a:t>when</a:t>
            </a:r>
            <a:r>
              <a:rPr lang="en-US" sz="1800" dirty="0"/>
              <a:t>.</a:t>
            </a:r>
          </a:p>
          <a:p>
            <a:r>
              <a:rPr lang="en-US" sz="1800" b="1" dirty="0"/>
              <a:t>Example:</a:t>
            </a:r>
            <a:r>
              <a:rPr lang="en-US" sz="1800" dirty="0"/>
              <a:t> An e-commerce app is launching a new checkout feature. The test plan specifies:</a:t>
            </a:r>
          </a:p>
          <a:p>
            <a:r>
              <a:rPr lang="en-US" sz="1800" i="1" dirty="0"/>
              <a:t>Scope:</a:t>
            </a:r>
            <a:r>
              <a:rPr lang="en-US" sz="1800" dirty="0"/>
              <a:t> Cart, payment gateway, order confirmation (out of scope: product catalogue)</a:t>
            </a:r>
          </a:p>
          <a:p>
            <a:r>
              <a:rPr lang="en-US" sz="1800" i="1" dirty="0"/>
              <a:t>Tools:</a:t>
            </a:r>
            <a:r>
              <a:rPr lang="en-US" sz="1800" dirty="0"/>
              <a:t> Selenium for automation, JIRA for tracking</a:t>
            </a:r>
          </a:p>
          <a:p>
            <a:r>
              <a:rPr lang="en-US" sz="1800" i="1" dirty="0"/>
              <a:t>Timeline:</a:t>
            </a:r>
            <a:r>
              <a:rPr lang="en-US" sz="1800" dirty="0"/>
              <a:t> 2-week test cycle starting Sprint 5</a:t>
            </a:r>
          </a:p>
          <a:p>
            <a:r>
              <a:rPr lang="en-US" sz="1800" i="1" dirty="0"/>
              <a:t>Risk:</a:t>
            </a:r>
            <a:r>
              <a:rPr lang="en-US" sz="1800" dirty="0"/>
              <a:t> Payment API is third-party — mitigation is to use sandbox mocks</a:t>
            </a:r>
          </a:p>
          <a:p>
            <a:pPr marL="0" indent="0">
              <a:buNone/>
            </a:pPr>
            <a:endParaRPr lang="en-US" sz="1200" dirty="0"/>
          </a:p>
          <a:p>
            <a:endParaRPr sz="1200" dirty="0"/>
          </a:p>
        </p:txBody>
      </p:sp>
    </p:spTree>
    <p:extLst>
      <p:ext uri="{BB962C8B-B14F-4D97-AF65-F5344CB8AC3E}">
        <p14:creationId xmlns:p14="http://schemas.microsoft.com/office/powerpoint/2010/main" val="7917948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471CBA-6A4A-6833-3953-A7398278DC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D0F752-809E-722B-120C-514491E59E60}"/>
              </a:ext>
            </a:extLst>
          </p:cNvPr>
          <p:cNvSpPr>
            <a:spLocks noGrp="1"/>
          </p:cNvSpPr>
          <p:nvPr>
            <p:ph type="title"/>
          </p:nvPr>
        </p:nvSpPr>
        <p:spPr/>
        <p:txBody>
          <a:bodyPr/>
          <a:lstStyle/>
          <a:p>
            <a:r>
              <a:rPr dirty="0"/>
              <a:t>Software Testing Process</a:t>
            </a:r>
          </a:p>
        </p:txBody>
      </p:sp>
      <p:sp>
        <p:nvSpPr>
          <p:cNvPr id="3" name="Content Placeholder 2">
            <a:extLst>
              <a:ext uri="{FF2B5EF4-FFF2-40B4-BE49-F238E27FC236}">
                <a16:creationId xmlns:a16="http://schemas.microsoft.com/office/drawing/2014/main" id="{8CAC07B3-E488-43B9-68BA-D38B2CE4B15D}"/>
              </a:ext>
            </a:extLst>
          </p:cNvPr>
          <p:cNvSpPr>
            <a:spLocks noGrp="1"/>
          </p:cNvSpPr>
          <p:nvPr>
            <p:ph idx="1"/>
          </p:nvPr>
        </p:nvSpPr>
        <p:spPr>
          <a:xfrm>
            <a:off x="179512" y="2015733"/>
            <a:ext cx="8784975" cy="4037747"/>
          </a:xfrm>
        </p:spPr>
        <p:txBody>
          <a:bodyPr>
            <a:normAutofit fontScale="92500" lnSpcReduction="10000"/>
          </a:bodyPr>
          <a:lstStyle/>
          <a:p>
            <a:r>
              <a:rPr dirty="0"/>
              <a:t>Test case design</a:t>
            </a:r>
            <a:r>
              <a:rPr lang="en-IN" dirty="0"/>
              <a:t>: </a:t>
            </a:r>
            <a:r>
              <a:rPr lang="en-US" dirty="0"/>
              <a:t>This phase translates requirements into </a:t>
            </a:r>
            <a:r>
              <a:rPr lang="en-US" b="1" dirty="0"/>
              <a:t>structured, executable test scenarios</a:t>
            </a:r>
            <a:r>
              <a:rPr lang="en-US" dirty="0"/>
              <a:t>. Good test cases are clear, repeatable, and traceable to requirements.</a:t>
            </a:r>
          </a:p>
          <a:p>
            <a:r>
              <a:rPr lang="en-US" b="1" dirty="0"/>
              <a:t>A test case typically includes:</a:t>
            </a:r>
            <a:endParaRPr lang="en-US" dirty="0"/>
          </a:p>
          <a:p>
            <a:r>
              <a:rPr lang="en-US" dirty="0"/>
              <a:t>Test Case ID</a:t>
            </a:r>
          </a:p>
          <a:p>
            <a:r>
              <a:rPr lang="en-US" dirty="0"/>
              <a:t>Description / objective</a:t>
            </a:r>
          </a:p>
          <a:p>
            <a:r>
              <a:rPr lang="en-US" dirty="0"/>
              <a:t>Preconditions</a:t>
            </a:r>
          </a:p>
          <a:p>
            <a:r>
              <a:rPr lang="en-US" dirty="0"/>
              <a:t>Input data</a:t>
            </a:r>
          </a:p>
          <a:p>
            <a:r>
              <a:rPr lang="en-US" dirty="0"/>
              <a:t>Steps to execute</a:t>
            </a:r>
          </a:p>
          <a:p>
            <a:r>
              <a:rPr lang="en-US" dirty="0"/>
              <a:t>Expected result</a:t>
            </a:r>
          </a:p>
          <a:p>
            <a:endParaRPr dirty="0"/>
          </a:p>
        </p:txBody>
      </p:sp>
    </p:spTree>
    <p:extLst>
      <p:ext uri="{BB962C8B-B14F-4D97-AF65-F5344CB8AC3E}">
        <p14:creationId xmlns:p14="http://schemas.microsoft.com/office/powerpoint/2010/main" val="42143615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DB8241-E724-9AB3-03D0-25D4203945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8ECDE6-E0F8-28C9-805D-34A00902F47A}"/>
              </a:ext>
            </a:extLst>
          </p:cNvPr>
          <p:cNvSpPr>
            <a:spLocks noGrp="1"/>
          </p:cNvSpPr>
          <p:nvPr>
            <p:ph type="title"/>
          </p:nvPr>
        </p:nvSpPr>
        <p:spPr/>
        <p:txBody>
          <a:bodyPr/>
          <a:lstStyle/>
          <a:p>
            <a:r>
              <a:rPr dirty="0"/>
              <a:t>Software Testing Process</a:t>
            </a:r>
          </a:p>
        </p:txBody>
      </p:sp>
      <p:sp>
        <p:nvSpPr>
          <p:cNvPr id="3" name="Content Placeholder 2">
            <a:extLst>
              <a:ext uri="{FF2B5EF4-FFF2-40B4-BE49-F238E27FC236}">
                <a16:creationId xmlns:a16="http://schemas.microsoft.com/office/drawing/2014/main" id="{FA549CEF-C2FA-D3E8-96AC-C2CA950C9FB8}"/>
              </a:ext>
            </a:extLst>
          </p:cNvPr>
          <p:cNvSpPr>
            <a:spLocks noGrp="1"/>
          </p:cNvSpPr>
          <p:nvPr>
            <p:ph idx="1"/>
          </p:nvPr>
        </p:nvSpPr>
        <p:spPr>
          <a:xfrm>
            <a:off x="179512" y="2015733"/>
            <a:ext cx="8784975" cy="4037747"/>
          </a:xfrm>
        </p:spPr>
        <p:txBody>
          <a:bodyPr>
            <a:normAutofit fontScale="92500" lnSpcReduction="10000"/>
          </a:bodyPr>
          <a:lstStyle/>
          <a:p>
            <a:r>
              <a:rPr dirty="0"/>
              <a:t>Test case design</a:t>
            </a:r>
            <a:r>
              <a:rPr lang="en-IN" dirty="0"/>
              <a:t>: </a:t>
            </a:r>
            <a:r>
              <a:rPr lang="en-US" dirty="0"/>
              <a:t>This phase translates requirements into </a:t>
            </a:r>
            <a:r>
              <a:rPr lang="en-US" b="1" dirty="0"/>
              <a:t>structured, executable test scenarios</a:t>
            </a:r>
            <a:r>
              <a:rPr lang="en-US" dirty="0"/>
              <a:t>. Good test cases are clear, repeatable, and traceable to requirements.</a:t>
            </a:r>
          </a:p>
          <a:p>
            <a:r>
              <a:rPr lang="en-US" b="1" dirty="0"/>
              <a:t>A test case typically includes:</a:t>
            </a:r>
            <a:endParaRPr lang="en-US" dirty="0"/>
          </a:p>
          <a:p>
            <a:r>
              <a:rPr lang="en-US" dirty="0"/>
              <a:t>Test Case ID</a:t>
            </a:r>
          </a:p>
          <a:p>
            <a:r>
              <a:rPr lang="en-US" dirty="0"/>
              <a:t>Description / objective</a:t>
            </a:r>
          </a:p>
          <a:p>
            <a:r>
              <a:rPr lang="en-US" dirty="0"/>
              <a:t>Preconditions</a:t>
            </a:r>
          </a:p>
          <a:p>
            <a:r>
              <a:rPr lang="en-US" dirty="0"/>
              <a:t>Input data</a:t>
            </a:r>
          </a:p>
          <a:p>
            <a:r>
              <a:rPr lang="en-US" dirty="0"/>
              <a:t>Steps to execute</a:t>
            </a:r>
          </a:p>
          <a:p>
            <a:r>
              <a:rPr lang="en-US" dirty="0"/>
              <a:t>Expected result</a:t>
            </a:r>
          </a:p>
          <a:p>
            <a:endParaRPr dirty="0"/>
          </a:p>
        </p:txBody>
      </p:sp>
      <p:pic>
        <p:nvPicPr>
          <p:cNvPr id="5" name="Picture 4">
            <a:extLst>
              <a:ext uri="{FF2B5EF4-FFF2-40B4-BE49-F238E27FC236}">
                <a16:creationId xmlns:a16="http://schemas.microsoft.com/office/drawing/2014/main" id="{754E4870-78D1-CF93-B6DE-F78526DD26FB}"/>
              </a:ext>
            </a:extLst>
          </p:cNvPr>
          <p:cNvPicPr>
            <a:picLocks noChangeAspect="1"/>
          </p:cNvPicPr>
          <p:nvPr/>
        </p:nvPicPr>
        <p:blipFill>
          <a:blip r:embed="rId2"/>
          <a:stretch>
            <a:fillRect/>
          </a:stretch>
        </p:blipFill>
        <p:spPr>
          <a:xfrm>
            <a:off x="3635896" y="3212976"/>
            <a:ext cx="4680520" cy="2686291"/>
          </a:xfrm>
          <a:prstGeom prst="rect">
            <a:avLst/>
          </a:prstGeom>
        </p:spPr>
      </p:pic>
    </p:spTree>
    <p:extLst>
      <p:ext uri="{BB962C8B-B14F-4D97-AF65-F5344CB8AC3E}">
        <p14:creationId xmlns:p14="http://schemas.microsoft.com/office/powerpoint/2010/main" val="3839620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DB2881-A57C-C559-1861-7435D6669C4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0E18D8-016D-54E4-2FEB-5A6342A41EB8}"/>
              </a:ext>
            </a:extLst>
          </p:cNvPr>
          <p:cNvSpPr>
            <a:spLocks noGrp="1"/>
          </p:cNvSpPr>
          <p:nvPr>
            <p:ph type="title"/>
          </p:nvPr>
        </p:nvSpPr>
        <p:spPr/>
        <p:txBody>
          <a:bodyPr/>
          <a:lstStyle/>
          <a:p>
            <a:r>
              <a:rPr dirty="0"/>
              <a:t>Software Testing Process</a:t>
            </a:r>
          </a:p>
        </p:txBody>
      </p:sp>
      <p:sp>
        <p:nvSpPr>
          <p:cNvPr id="3" name="Content Placeholder 2">
            <a:extLst>
              <a:ext uri="{FF2B5EF4-FFF2-40B4-BE49-F238E27FC236}">
                <a16:creationId xmlns:a16="http://schemas.microsoft.com/office/drawing/2014/main" id="{B1820BBE-9FA7-EF6A-CEBF-0031A290BD45}"/>
              </a:ext>
            </a:extLst>
          </p:cNvPr>
          <p:cNvSpPr>
            <a:spLocks noGrp="1"/>
          </p:cNvSpPr>
          <p:nvPr>
            <p:ph idx="1"/>
          </p:nvPr>
        </p:nvSpPr>
        <p:spPr>
          <a:xfrm>
            <a:off x="179512" y="2015733"/>
            <a:ext cx="8784975" cy="4037747"/>
          </a:xfrm>
        </p:spPr>
        <p:txBody>
          <a:bodyPr>
            <a:normAutofit fontScale="85000" lnSpcReduction="10000"/>
          </a:bodyPr>
          <a:lstStyle/>
          <a:p>
            <a:pPr marL="0" indent="0">
              <a:buNone/>
            </a:pPr>
            <a:r>
              <a:rPr lang="en-US" b="1" dirty="0"/>
              <a:t>Common techniques:</a:t>
            </a:r>
            <a:endParaRPr lang="en-US" dirty="0"/>
          </a:p>
          <a:p>
            <a:r>
              <a:rPr lang="en-US" b="1" dirty="0"/>
              <a:t>Equivalence Partitioning</a:t>
            </a:r>
            <a:r>
              <a:rPr lang="en-US" dirty="0"/>
              <a:t> — group inputs into valid/invalid classes. Instead of testing every possible input (impossible), divide inputs into </a:t>
            </a:r>
            <a:r>
              <a:rPr lang="en-US" b="1" dirty="0"/>
              <a:t>classes/groups</a:t>
            </a:r>
            <a:r>
              <a:rPr lang="en-US" dirty="0"/>
              <a:t> where all values in a group are expected to behave the same way. If one value in the class works, they all should. If one fails, they all should.</a:t>
            </a:r>
          </a:p>
          <a:p>
            <a:r>
              <a:rPr lang="en-US" b="1" dirty="0"/>
              <a:t>Boundary Value Analysis</a:t>
            </a:r>
            <a:r>
              <a:rPr lang="en-US" dirty="0"/>
              <a:t> — test edges (e.g., min/max values); Equivalence Partitioning tells you </a:t>
            </a:r>
            <a:r>
              <a:rPr lang="en-US" i="1" dirty="0"/>
              <a:t>which classes</a:t>
            </a:r>
            <a:r>
              <a:rPr lang="en-US" dirty="0"/>
              <a:t> to test. BVA goes further, it targets the </a:t>
            </a:r>
            <a:r>
              <a:rPr lang="en-US" b="1" dirty="0"/>
              <a:t>edges of those classes</a:t>
            </a:r>
            <a:r>
              <a:rPr lang="en-US" dirty="0"/>
              <a:t>, because that's where bugs most commonly hide. Developers often make off-by-one errors like using &gt; instead of &gt;=, so the boundary is where the logic is most fragile.</a:t>
            </a:r>
          </a:p>
          <a:p>
            <a:r>
              <a:rPr lang="en-US" b="1" dirty="0"/>
              <a:t>Decision Tables</a:t>
            </a:r>
            <a:r>
              <a:rPr lang="en-US" dirty="0"/>
              <a:t> — for complex conditional logic. Some features don't just depend on a single input, they depend on </a:t>
            </a:r>
            <a:r>
              <a:rPr lang="en-US" b="1" dirty="0"/>
              <a:t>multiple conditions combining</a:t>
            </a:r>
            <a:r>
              <a:rPr lang="en-US" dirty="0"/>
              <a:t> to produce an outcome. Decision tables map every possible combination of conditions to its expected action.</a:t>
            </a:r>
          </a:p>
          <a:p>
            <a:endParaRPr dirty="0"/>
          </a:p>
        </p:txBody>
      </p:sp>
    </p:spTree>
    <p:extLst>
      <p:ext uri="{BB962C8B-B14F-4D97-AF65-F5344CB8AC3E}">
        <p14:creationId xmlns:p14="http://schemas.microsoft.com/office/powerpoint/2010/main" val="1703960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BB7EE7-6C51-C1A1-32F7-35DD64E5D1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8AB9DA-6CC6-A83B-4B87-5D7B16C66204}"/>
              </a:ext>
            </a:extLst>
          </p:cNvPr>
          <p:cNvSpPr>
            <a:spLocks noGrp="1"/>
          </p:cNvSpPr>
          <p:nvPr>
            <p:ph type="title"/>
          </p:nvPr>
        </p:nvSpPr>
        <p:spPr/>
        <p:txBody>
          <a:bodyPr/>
          <a:lstStyle/>
          <a:p>
            <a:r>
              <a:rPr dirty="0"/>
              <a:t>Software Testing Process</a:t>
            </a:r>
          </a:p>
        </p:txBody>
      </p:sp>
      <p:sp>
        <p:nvSpPr>
          <p:cNvPr id="3" name="Content Placeholder 2">
            <a:extLst>
              <a:ext uri="{FF2B5EF4-FFF2-40B4-BE49-F238E27FC236}">
                <a16:creationId xmlns:a16="http://schemas.microsoft.com/office/drawing/2014/main" id="{1071D582-1680-C776-5144-D841B9C95ED8}"/>
              </a:ext>
            </a:extLst>
          </p:cNvPr>
          <p:cNvSpPr>
            <a:spLocks noGrp="1"/>
          </p:cNvSpPr>
          <p:nvPr>
            <p:ph idx="1"/>
          </p:nvPr>
        </p:nvSpPr>
        <p:spPr>
          <a:xfrm>
            <a:off x="467544" y="2015733"/>
            <a:ext cx="8280919" cy="4037747"/>
          </a:xfrm>
        </p:spPr>
        <p:txBody>
          <a:bodyPr>
            <a:normAutofit fontScale="70000" lnSpcReduction="20000"/>
          </a:bodyPr>
          <a:lstStyle/>
          <a:p>
            <a:r>
              <a:rPr sz="2500" b="1" dirty="0"/>
              <a:t>Test execution</a:t>
            </a:r>
            <a:r>
              <a:rPr lang="en-IN" sz="2500" b="1" dirty="0"/>
              <a:t>: </a:t>
            </a:r>
            <a:r>
              <a:rPr lang="en-US" sz="2500" dirty="0"/>
              <a:t>This is where test cases are actually </a:t>
            </a:r>
            <a:r>
              <a:rPr lang="en-US" sz="2500" b="1" dirty="0"/>
              <a:t>run against the application</a:t>
            </a:r>
            <a:r>
              <a:rPr lang="en-US" sz="2500" dirty="0"/>
              <a:t>, and results are recorded.</a:t>
            </a:r>
          </a:p>
          <a:p>
            <a:r>
              <a:rPr lang="en-US" b="1" dirty="0"/>
              <a:t>Key activities:</a:t>
            </a:r>
            <a:endParaRPr lang="en-US" dirty="0"/>
          </a:p>
          <a:p>
            <a:r>
              <a:rPr lang="en-US" dirty="0"/>
              <a:t>Set up the </a:t>
            </a:r>
            <a:r>
              <a:rPr lang="en-US" b="1" dirty="0"/>
              <a:t>test environment</a:t>
            </a:r>
            <a:r>
              <a:rPr lang="en-US" dirty="0"/>
              <a:t> (staging server, test DB, mock APIs)</a:t>
            </a:r>
          </a:p>
          <a:p>
            <a:r>
              <a:rPr lang="en-US" dirty="0"/>
              <a:t>Execute test cases </a:t>
            </a:r>
            <a:r>
              <a:rPr lang="en-US" b="1" dirty="0"/>
              <a:t>manually or via automation</a:t>
            </a:r>
            <a:endParaRPr lang="en-US" dirty="0"/>
          </a:p>
          <a:p>
            <a:r>
              <a:rPr lang="en-US" dirty="0"/>
              <a:t>Log </a:t>
            </a:r>
            <a:r>
              <a:rPr lang="en-US" b="1" dirty="0"/>
              <a:t>actual results</a:t>
            </a:r>
            <a:r>
              <a:rPr lang="en-US" dirty="0"/>
              <a:t> vs. expected results</a:t>
            </a:r>
          </a:p>
          <a:p>
            <a:r>
              <a:rPr lang="en-US" dirty="0"/>
              <a:t>Mark each test as Pass, Fail, or Blocked</a:t>
            </a:r>
          </a:p>
          <a:p>
            <a:r>
              <a:rPr lang="en-US" b="1" dirty="0"/>
              <a:t>Example:</a:t>
            </a:r>
            <a:r>
              <a:rPr lang="en-US" dirty="0"/>
              <a:t> A tester runs TC_LOGIN_003 on the staging environment:</a:t>
            </a:r>
          </a:p>
          <a:p>
            <a:r>
              <a:rPr lang="en-US" dirty="0"/>
              <a:t>Entered the wrong password → the app showed a generic success message instead of an error</a:t>
            </a:r>
          </a:p>
          <a:p>
            <a:r>
              <a:rPr lang="en-US" dirty="0"/>
              <a:t>Result: </a:t>
            </a:r>
            <a:r>
              <a:rPr lang="en-US" b="1" dirty="0"/>
              <a:t>FAIL</a:t>
            </a:r>
            <a:r>
              <a:rPr lang="en-US" dirty="0"/>
              <a:t> — a defect is raised</a:t>
            </a:r>
          </a:p>
          <a:p>
            <a:r>
              <a:rPr lang="en-US" b="1" dirty="0"/>
              <a:t>Regression testing</a:t>
            </a:r>
            <a:r>
              <a:rPr lang="en-US" dirty="0"/>
              <a:t> is also performed here by re-running previously passing tests to ensure new changes haven't broken existing functionality.</a:t>
            </a:r>
          </a:p>
          <a:p>
            <a:endParaRPr dirty="0"/>
          </a:p>
        </p:txBody>
      </p:sp>
    </p:spTree>
    <p:extLst>
      <p:ext uri="{BB962C8B-B14F-4D97-AF65-F5344CB8AC3E}">
        <p14:creationId xmlns:p14="http://schemas.microsoft.com/office/powerpoint/2010/main" val="6430499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3EA43C-1FD9-39FA-A469-1E08952905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996B7B-291A-141A-C071-54E511E06914}"/>
              </a:ext>
            </a:extLst>
          </p:cNvPr>
          <p:cNvSpPr>
            <a:spLocks noGrp="1"/>
          </p:cNvSpPr>
          <p:nvPr>
            <p:ph type="title"/>
          </p:nvPr>
        </p:nvSpPr>
        <p:spPr/>
        <p:txBody>
          <a:bodyPr/>
          <a:lstStyle/>
          <a:p>
            <a:r>
              <a:rPr dirty="0"/>
              <a:t>Software Testing Process</a:t>
            </a:r>
          </a:p>
        </p:txBody>
      </p:sp>
      <p:sp>
        <p:nvSpPr>
          <p:cNvPr id="3" name="Content Placeholder 2">
            <a:extLst>
              <a:ext uri="{FF2B5EF4-FFF2-40B4-BE49-F238E27FC236}">
                <a16:creationId xmlns:a16="http://schemas.microsoft.com/office/drawing/2014/main" id="{8A26626F-05EA-25DA-3E49-25D1F7F1519F}"/>
              </a:ext>
            </a:extLst>
          </p:cNvPr>
          <p:cNvSpPr>
            <a:spLocks noGrp="1"/>
          </p:cNvSpPr>
          <p:nvPr>
            <p:ph idx="1"/>
          </p:nvPr>
        </p:nvSpPr>
        <p:spPr>
          <a:xfrm>
            <a:off x="179512" y="2015733"/>
            <a:ext cx="8640959" cy="4037747"/>
          </a:xfrm>
        </p:spPr>
        <p:txBody>
          <a:bodyPr>
            <a:normAutofit fontScale="92500" lnSpcReduction="20000"/>
          </a:bodyPr>
          <a:lstStyle/>
          <a:p>
            <a:r>
              <a:rPr b="1" dirty="0"/>
              <a:t>Defect reporting</a:t>
            </a:r>
            <a:r>
              <a:rPr lang="en-IN" b="1" dirty="0"/>
              <a:t>: </a:t>
            </a:r>
            <a:r>
              <a:rPr lang="en-US" dirty="0"/>
              <a:t>When a test fails, the issue is </a:t>
            </a:r>
            <a:r>
              <a:rPr lang="en-US" b="1" dirty="0"/>
              <a:t>formally documented</a:t>
            </a:r>
            <a:r>
              <a:rPr lang="en-US" dirty="0"/>
              <a:t> as a defect (bug) so developers can reproduce and fix it.</a:t>
            </a:r>
          </a:p>
          <a:p>
            <a:pPr marL="0" indent="0">
              <a:buNone/>
            </a:pPr>
            <a:r>
              <a:rPr lang="en-US" b="1" dirty="0"/>
              <a:t>A good defect report includes:</a:t>
            </a:r>
            <a:endParaRPr lang="en-US" dirty="0"/>
          </a:p>
          <a:p>
            <a:r>
              <a:rPr lang="en-US" b="1" dirty="0"/>
              <a:t>ID &amp; Title</a:t>
            </a:r>
            <a:r>
              <a:rPr lang="en-US" dirty="0"/>
              <a:t> — short, descriptive</a:t>
            </a:r>
          </a:p>
          <a:p>
            <a:r>
              <a:rPr lang="en-US" b="1" dirty="0"/>
              <a:t>Severity</a:t>
            </a:r>
            <a:r>
              <a:rPr lang="en-US" dirty="0"/>
              <a:t> — Critical / High / Medium / Low</a:t>
            </a:r>
          </a:p>
          <a:p>
            <a:r>
              <a:rPr lang="en-US" b="1" dirty="0"/>
              <a:t>Priority</a:t>
            </a:r>
            <a:r>
              <a:rPr lang="en-US" dirty="0"/>
              <a:t> — How urgently it needs fixing</a:t>
            </a:r>
          </a:p>
          <a:p>
            <a:r>
              <a:rPr lang="en-US" b="1" dirty="0"/>
              <a:t>Steps to Reproduce</a:t>
            </a:r>
            <a:r>
              <a:rPr lang="en-US" dirty="0"/>
              <a:t> — exact, numbered steps</a:t>
            </a:r>
          </a:p>
          <a:p>
            <a:r>
              <a:rPr lang="en-US" b="1" dirty="0"/>
              <a:t>Actual vs. Expected Result</a:t>
            </a:r>
            <a:endParaRPr lang="en-US" dirty="0"/>
          </a:p>
          <a:p>
            <a:r>
              <a:rPr lang="en-US" b="1" dirty="0"/>
              <a:t>Environment</a:t>
            </a:r>
            <a:r>
              <a:rPr lang="en-US" dirty="0"/>
              <a:t> — OS, browser, build version</a:t>
            </a:r>
          </a:p>
          <a:p>
            <a:r>
              <a:rPr lang="en-US" b="1" dirty="0"/>
              <a:t>Attachments</a:t>
            </a:r>
            <a:r>
              <a:rPr lang="en-US" dirty="0"/>
              <a:t> — screenshots, logs, videos</a:t>
            </a:r>
          </a:p>
          <a:p>
            <a:endParaRPr dirty="0"/>
          </a:p>
        </p:txBody>
      </p:sp>
      <p:pic>
        <p:nvPicPr>
          <p:cNvPr id="5" name="Picture 4">
            <a:extLst>
              <a:ext uri="{FF2B5EF4-FFF2-40B4-BE49-F238E27FC236}">
                <a16:creationId xmlns:a16="http://schemas.microsoft.com/office/drawing/2014/main" id="{40FB4832-BE50-F49C-5ACD-0200A6209197}"/>
              </a:ext>
            </a:extLst>
          </p:cNvPr>
          <p:cNvPicPr>
            <a:picLocks noChangeAspect="1"/>
          </p:cNvPicPr>
          <p:nvPr/>
        </p:nvPicPr>
        <p:blipFill>
          <a:blip r:embed="rId2"/>
          <a:stretch>
            <a:fillRect/>
          </a:stretch>
        </p:blipFill>
        <p:spPr>
          <a:xfrm>
            <a:off x="5407299" y="3212976"/>
            <a:ext cx="3736702" cy="2751835"/>
          </a:xfrm>
          <a:prstGeom prst="rect">
            <a:avLst/>
          </a:prstGeom>
        </p:spPr>
      </p:pic>
    </p:spTree>
    <p:extLst>
      <p:ext uri="{BB962C8B-B14F-4D97-AF65-F5344CB8AC3E}">
        <p14:creationId xmlns:p14="http://schemas.microsoft.com/office/powerpoint/2010/main" val="36972470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98B97-71AB-BB14-F78D-906A64B1E9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345E92-599C-A7AC-0292-19BC5E6DCAA4}"/>
              </a:ext>
            </a:extLst>
          </p:cNvPr>
          <p:cNvSpPr>
            <a:spLocks noGrp="1"/>
          </p:cNvSpPr>
          <p:nvPr>
            <p:ph type="title"/>
          </p:nvPr>
        </p:nvSpPr>
        <p:spPr/>
        <p:txBody>
          <a:bodyPr/>
          <a:lstStyle/>
          <a:p>
            <a:r>
              <a:rPr dirty="0"/>
              <a:t>Software Testing Process</a:t>
            </a:r>
          </a:p>
        </p:txBody>
      </p:sp>
      <p:sp>
        <p:nvSpPr>
          <p:cNvPr id="3" name="Content Placeholder 2">
            <a:extLst>
              <a:ext uri="{FF2B5EF4-FFF2-40B4-BE49-F238E27FC236}">
                <a16:creationId xmlns:a16="http://schemas.microsoft.com/office/drawing/2014/main" id="{0CFF4706-9B4F-963F-CC32-316CFC3D8A21}"/>
              </a:ext>
            </a:extLst>
          </p:cNvPr>
          <p:cNvSpPr>
            <a:spLocks noGrp="1"/>
          </p:cNvSpPr>
          <p:nvPr>
            <p:ph idx="1"/>
          </p:nvPr>
        </p:nvSpPr>
        <p:spPr>
          <a:xfrm>
            <a:off x="395536" y="2015733"/>
            <a:ext cx="8496943" cy="3450613"/>
          </a:xfrm>
        </p:spPr>
        <p:txBody>
          <a:bodyPr/>
          <a:lstStyle/>
          <a:p>
            <a:r>
              <a:rPr dirty="0"/>
              <a:t>Test evaluation</a:t>
            </a:r>
            <a:r>
              <a:rPr lang="en-IN" dirty="0"/>
              <a:t>: </a:t>
            </a:r>
            <a:r>
              <a:rPr lang="en-US" dirty="0"/>
              <a:t>The final phase assesses </a:t>
            </a:r>
            <a:r>
              <a:rPr lang="en-US" b="1" dirty="0"/>
              <a:t>whether testing is complete</a:t>
            </a:r>
            <a:r>
              <a:rPr lang="en-US" dirty="0"/>
              <a:t> and whether the software is ready for release.</a:t>
            </a:r>
          </a:p>
          <a:p>
            <a:r>
              <a:rPr lang="en-US" b="1" dirty="0"/>
              <a:t>Key activities:</a:t>
            </a:r>
            <a:endParaRPr lang="en-US" dirty="0"/>
          </a:p>
          <a:p>
            <a:r>
              <a:rPr lang="en-US" dirty="0"/>
              <a:t>Calculate </a:t>
            </a:r>
            <a:r>
              <a:rPr lang="en-US" b="1" dirty="0"/>
              <a:t>test metrics</a:t>
            </a:r>
            <a:r>
              <a:rPr lang="en-US" dirty="0"/>
              <a:t> (pass rate, defect density, coverage)</a:t>
            </a:r>
          </a:p>
          <a:p>
            <a:r>
              <a:rPr lang="en-US" dirty="0"/>
              <a:t>Evaluate against </a:t>
            </a:r>
            <a:r>
              <a:rPr lang="en-US" b="1" dirty="0"/>
              <a:t>exit criteria</a:t>
            </a:r>
            <a:r>
              <a:rPr lang="en-US" dirty="0"/>
              <a:t> set in the test plan</a:t>
            </a:r>
          </a:p>
          <a:p>
            <a:r>
              <a:rPr lang="en-US" dirty="0"/>
              <a:t>Produce a </a:t>
            </a:r>
            <a:r>
              <a:rPr lang="en-US" b="1" dirty="0"/>
              <a:t>Test Summary Report</a:t>
            </a:r>
            <a:endParaRPr lang="en-US" dirty="0"/>
          </a:p>
          <a:p>
            <a:r>
              <a:rPr lang="en-US" dirty="0"/>
              <a:t>Make a </a:t>
            </a:r>
            <a:r>
              <a:rPr lang="en-US" b="1" dirty="0"/>
              <a:t>go/no-go release recommendation</a:t>
            </a:r>
            <a:endParaRPr lang="en-US" dirty="0"/>
          </a:p>
          <a:p>
            <a:endParaRPr dirty="0"/>
          </a:p>
        </p:txBody>
      </p:sp>
      <p:pic>
        <p:nvPicPr>
          <p:cNvPr id="5" name="Picture 4">
            <a:extLst>
              <a:ext uri="{FF2B5EF4-FFF2-40B4-BE49-F238E27FC236}">
                <a16:creationId xmlns:a16="http://schemas.microsoft.com/office/drawing/2014/main" id="{A9A36A96-2B7E-A7E5-F729-CFBF2679549A}"/>
              </a:ext>
            </a:extLst>
          </p:cNvPr>
          <p:cNvPicPr>
            <a:picLocks noChangeAspect="1"/>
          </p:cNvPicPr>
          <p:nvPr/>
        </p:nvPicPr>
        <p:blipFill>
          <a:blip r:embed="rId2"/>
          <a:stretch>
            <a:fillRect/>
          </a:stretch>
        </p:blipFill>
        <p:spPr>
          <a:xfrm>
            <a:off x="5868144" y="4397296"/>
            <a:ext cx="3195854" cy="1656184"/>
          </a:xfrm>
          <a:prstGeom prst="rect">
            <a:avLst/>
          </a:prstGeom>
        </p:spPr>
      </p:pic>
    </p:spTree>
    <p:extLst>
      <p:ext uri="{BB962C8B-B14F-4D97-AF65-F5344CB8AC3E}">
        <p14:creationId xmlns:p14="http://schemas.microsoft.com/office/powerpoint/2010/main" val="14339034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E935BD-DDB5-E53F-6C41-D2C140DDC4B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0E35B2-9999-ACDE-7C80-46F36171D1F6}"/>
              </a:ext>
            </a:extLst>
          </p:cNvPr>
          <p:cNvSpPr>
            <a:spLocks noGrp="1"/>
          </p:cNvSpPr>
          <p:nvPr>
            <p:ph type="title"/>
          </p:nvPr>
        </p:nvSpPr>
        <p:spPr/>
        <p:txBody>
          <a:bodyPr/>
          <a:lstStyle/>
          <a:p>
            <a:r>
              <a:rPr dirty="0"/>
              <a:t>Software Testing Process</a:t>
            </a:r>
          </a:p>
        </p:txBody>
      </p:sp>
      <p:sp>
        <p:nvSpPr>
          <p:cNvPr id="6" name="Content Placeholder 5">
            <a:extLst>
              <a:ext uri="{FF2B5EF4-FFF2-40B4-BE49-F238E27FC236}">
                <a16:creationId xmlns:a16="http://schemas.microsoft.com/office/drawing/2014/main" id="{A1E639D7-8052-D072-7C6B-A4789D0D2453}"/>
              </a:ext>
            </a:extLst>
          </p:cNvPr>
          <p:cNvSpPr>
            <a:spLocks noGrp="1"/>
          </p:cNvSpPr>
          <p:nvPr>
            <p:ph idx="1"/>
          </p:nvPr>
        </p:nvSpPr>
        <p:spPr/>
        <p:txBody>
          <a:bodyPr/>
          <a:lstStyle/>
          <a:p>
            <a:endParaRPr lang="en-IN"/>
          </a:p>
        </p:txBody>
      </p:sp>
      <p:pic>
        <p:nvPicPr>
          <p:cNvPr id="8" name="Picture 7">
            <a:extLst>
              <a:ext uri="{FF2B5EF4-FFF2-40B4-BE49-F238E27FC236}">
                <a16:creationId xmlns:a16="http://schemas.microsoft.com/office/drawing/2014/main" id="{218F882F-3C13-0E42-B7C5-D91EECC2ABB5}"/>
              </a:ext>
            </a:extLst>
          </p:cNvPr>
          <p:cNvPicPr>
            <a:picLocks noChangeAspect="1"/>
          </p:cNvPicPr>
          <p:nvPr/>
        </p:nvPicPr>
        <p:blipFill>
          <a:blip r:embed="rId2"/>
          <a:stretch>
            <a:fillRect/>
          </a:stretch>
        </p:blipFill>
        <p:spPr>
          <a:xfrm>
            <a:off x="1043608" y="1853755"/>
            <a:ext cx="7259000" cy="3949922"/>
          </a:xfrm>
          <a:prstGeom prst="rect">
            <a:avLst/>
          </a:prstGeom>
        </p:spPr>
      </p:pic>
    </p:spTree>
    <p:extLst>
      <p:ext uri="{BB962C8B-B14F-4D97-AF65-F5344CB8AC3E}">
        <p14:creationId xmlns:p14="http://schemas.microsoft.com/office/powerpoint/2010/main" val="751731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61770A-8357-0970-D2FC-AC55444CDA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5FD12D-1399-CB4D-8F62-BAF27C1E0C3A}"/>
              </a:ext>
            </a:extLst>
          </p:cNvPr>
          <p:cNvSpPr>
            <a:spLocks noGrp="1"/>
          </p:cNvSpPr>
          <p:nvPr>
            <p:ph type="title"/>
          </p:nvPr>
        </p:nvSpPr>
        <p:spPr/>
        <p:txBody>
          <a:bodyPr/>
          <a:lstStyle/>
          <a:p>
            <a:r>
              <a:rPr dirty="0"/>
              <a:t>Software Testing Process</a:t>
            </a:r>
          </a:p>
        </p:txBody>
      </p:sp>
      <p:sp>
        <p:nvSpPr>
          <p:cNvPr id="6" name="Content Placeholder 5">
            <a:extLst>
              <a:ext uri="{FF2B5EF4-FFF2-40B4-BE49-F238E27FC236}">
                <a16:creationId xmlns:a16="http://schemas.microsoft.com/office/drawing/2014/main" id="{38978661-6E96-D666-A8D1-F828F7FA4438}"/>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C45DA359-D872-4D24-4133-A9228665B2FE}"/>
              </a:ext>
            </a:extLst>
          </p:cNvPr>
          <p:cNvPicPr>
            <a:picLocks noChangeAspect="1"/>
          </p:cNvPicPr>
          <p:nvPr/>
        </p:nvPicPr>
        <p:blipFill>
          <a:blip r:embed="rId2"/>
          <a:stretch>
            <a:fillRect/>
          </a:stretch>
        </p:blipFill>
        <p:spPr>
          <a:xfrm>
            <a:off x="971600" y="1391654"/>
            <a:ext cx="7416824" cy="5240277"/>
          </a:xfrm>
          <a:prstGeom prst="rect">
            <a:avLst/>
          </a:prstGeom>
        </p:spPr>
      </p:pic>
    </p:spTree>
    <p:extLst>
      <p:ext uri="{BB962C8B-B14F-4D97-AF65-F5344CB8AC3E}">
        <p14:creationId xmlns:p14="http://schemas.microsoft.com/office/powerpoint/2010/main" val="12328945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2913D-E1DA-91FE-5B08-A6E9A1D967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218EEB-F616-E8AF-8DAE-BC5EBC89717F}"/>
              </a:ext>
            </a:extLst>
          </p:cNvPr>
          <p:cNvSpPr>
            <a:spLocks noGrp="1"/>
          </p:cNvSpPr>
          <p:nvPr>
            <p:ph type="title"/>
          </p:nvPr>
        </p:nvSpPr>
        <p:spPr/>
        <p:txBody>
          <a:bodyPr/>
          <a:lstStyle/>
          <a:p>
            <a:r>
              <a:rPr dirty="0"/>
              <a:t>Software Testing Process</a:t>
            </a:r>
          </a:p>
        </p:txBody>
      </p:sp>
      <p:sp>
        <p:nvSpPr>
          <p:cNvPr id="6" name="Content Placeholder 5">
            <a:extLst>
              <a:ext uri="{FF2B5EF4-FFF2-40B4-BE49-F238E27FC236}">
                <a16:creationId xmlns:a16="http://schemas.microsoft.com/office/drawing/2014/main" id="{20E61173-2BA4-65AD-E774-27840744EB1A}"/>
              </a:ext>
            </a:extLst>
          </p:cNvPr>
          <p:cNvSpPr>
            <a:spLocks noGrp="1"/>
          </p:cNvSpPr>
          <p:nvPr>
            <p:ph idx="1"/>
          </p:nvPr>
        </p:nvSpPr>
        <p:spPr/>
        <p:txBody>
          <a:bodyPr/>
          <a:lstStyle/>
          <a:p>
            <a:endParaRPr lang="en-IN"/>
          </a:p>
        </p:txBody>
      </p:sp>
      <p:pic>
        <p:nvPicPr>
          <p:cNvPr id="5" name="Picture 4">
            <a:extLst>
              <a:ext uri="{FF2B5EF4-FFF2-40B4-BE49-F238E27FC236}">
                <a16:creationId xmlns:a16="http://schemas.microsoft.com/office/drawing/2014/main" id="{0D796CD3-7B0F-934A-C1BF-AAAA384F7EE8}"/>
              </a:ext>
            </a:extLst>
          </p:cNvPr>
          <p:cNvPicPr>
            <a:picLocks noChangeAspect="1"/>
          </p:cNvPicPr>
          <p:nvPr/>
        </p:nvPicPr>
        <p:blipFill>
          <a:blip r:embed="rId2"/>
          <a:stretch>
            <a:fillRect/>
          </a:stretch>
        </p:blipFill>
        <p:spPr>
          <a:xfrm>
            <a:off x="973057" y="1894213"/>
            <a:ext cx="7197885" cy="3693651"/>
          </a:xfrm>
          <a:prstGeom prst="rect">
            <a:avLst/>
          </a:prstGeom>
        </p:spPr>
      </p:pic>
    </p:spTree>
    <p:extLst>
      <p:ext uri="{BB962C8B-B14F-4D97-AF65-F5344CB8AC3E}">
        <p14:creationId xmlns:p14="http://schemas.microsoft.com/office/powerpoint/2010/main" val="22119482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Testing Principles</a:t>
            </a:r>
          </a:p>
        </p:txBody>
      </p:sp>
      <p:graphicFrame>
        <p:nvGraphicFramePr>
          <p:cNvPr id="4" name="Table 3">
            <a:extLst>
              <a:ext uri="{FF2B5EF4-FFF2-40B4-BE49-F238E27FC236}">
                <a16:creationId xmlns:a16="http://schemas.microsoft.com/office/drawing/2014/main" id="{7E4EDD7B-86C8-7D6A-F7D2-B60AE5B36757}"/>
              </a:ext>
            </a:extLst>
          </p:cNvPr>
          <p:cNvGraphicFramePr>
            <a:graphicFrameLocks noGrp="1"/>
          </p:cNvGraphicFramePr>
          <p:nvPr>
            <p:extLst>
              <p:ext uri="{D42A27DB-BD31-4B8C-83A1-F6EECF244321}">
                <p14:modId xmlns:p14="http://schemas.microsoft.com/office/powerpoint/2010/main" val="89062826"/>
              </p:ext>
            </p:extLst>
          </p:nvPr>
        </p:nvGraphicFramePr>
        <p:xfrm>
          <a:off x="107504" y="1875858"/>
          <a:ext cx="8856984" cy="4114800"/>
        </p:xfrm>
        <a:graphic>
          <a:graphicData uri="http://schemas.openxmlformats.org/drawingml/2006/table">
            <a:tbl>
              <a:tblPr/>
              <a:tblGrid>
                <a:gridCol w="432048">
                  <a:extLst>
                    <a:ext uri="{9D8B030D-6E8A-4147-A177-3AD203B41FA5}">
                      <a16:colId xmlns:a16="http://schemas.microsoft.com/office/drawing/2014/main" val="2050831698"/>
                    </a:ext>
                  </a:extLst>
                </a:gridCol>
                <a:gridCol w="8424936">
                  <a:extLst>
                    <a:ext uri="{9D8B030D-6E8A-4147-A177-3AD203B41FA5}">
                      <a16:colId xmlns:a16="http://schemas.microsoft.com/office/drawing/2014/main" val="3247140960"/>
                    </a:ext>
                  </a:extLst>
                </a:gridCol>
              </a:tblGrid>
              <a:tr h="0">
                <a:tc>
                  <a:txBody>
                    <a:bodyPr/>
                    <a:lstStyle/>
                    <a:p>
                      <a:pPr>
                        <a:buNone/>
                      </a:pPr>
                      <a:r>
                        <a:rPr lang="en-IN" sz="2400"/>
                        <a:t>1</a:t>
                      </a:r>
                    </a:p>
                  </a:txBody>
                  <a:tcPr anchor="ctr">
                    <a:lnL>
                      <a:noFill/>
                    </a:lnL>
                    <a:lnR>
                      <a:noFill/>
                    </a:lnR>
                    <a:lnT>
                      <a:noFill/>
                    </a:lnT>
                    <a:lnB>
                      <a:noFill/>
                    </a:lnB>
                    <a:noFill/>
                  </a:tcPr>
                </a:tc>
                <a:tc>
                  <a:txBody>
                    <a:bodyPr/>
                    <a:lstStyle/>
                    <a:p>
                      <a:pPr>
                        <a:buNone/>
                      </a:pPr>
                      <a:r>
                        <a:rPr lang="en-US" sz="2000" b="1" dirty="0"/>
                        <a:t>Testing shows presence of defects </a:t>
                      </a:r>
                      <a:r>
                        <a:rPr lang="en-US" sz="2000" dirty="0"/>
                        <a:t>- </a:t>
                      </a:r>
                      <a:r>
                        <a:rPr lang="en-US" sz="1600" dirty="0"/>
                        <a:t>Never say </a:t>
                      </a:r>
                      <a:r>
                        <a:rPr lang="en-US" sz="1600" i="1" dirty="0"/>
                        <a:t>"there are no bugs"</a:t>
                      </a:r>
                      <a:r>
                        <a:rPr lang="en-US" sz="1600" dirty="0"/>
                        <a:t> — say </a:t>
                      </a:r>
                      <a:r>
                        <a:rPr lang="en-US" sz="1600" i="1" dirty="0"/>
                        <a:t>"no bugs were found during testing"</a:t>
                      </a:r>
                      <a:endParaRPr lang="en-US" sz="2000" dirty="0"/>
                    </a:p>
                  </a:txBody>
                  <a:tcPr anchor="ctr">
                    <a:lnL>
                      <a:noFill/>
                    </a:lnL>
                    <a:lnR>
                      <a:noFill/>
                    </a:lnR>
                    <a:lnT>
                      <a:noFill/>
                    </a:lnT>
                    <a:lnB>
                      <a:noFill/>
                    </a:lnB>
                    <a:noFill/>
                  </a:tcPr>
                </a:tc>
                <a:extLst>
                  <a:ext uri="{0D108BD9-81ED-4DB2-BD59-A6C34878D82A}">
                    <a16:rowId xmlns:a16="http://schemas.microsoft.com/office/drawing/2014/main" val="2003438713"/>
                  </a:ext>
                </a:extLst>
              </a:tr>
              <a:tr h="0">
                <a:tc>
                  <a:txBody>
                    <a:bodyPr/>
                    <a:lstStyle/>
                    <a:p>
                      <a:pPr>
                        <a:buNone/>
                      </a:pPr>
                      <a:r>
                        <a:rPr lang="en-IN" sz="2400"/>
                        <a:t>2</a:t>
                      </a:r>
                    </a:p>
                  </a:txBody>
                  <a:tcPr anchor="ctr">
                    <a:lnL>
                      <a:noFill/>
                    </a:lnL>
                    <a:lnR>
                      <a:noFill/>
                    </a:lnR>
                    <a:lnT>
                      <a:noFill/>
                    </a:lnT>
                    <a:lnB>
                      <a:noFill/>
                    </a:lnB>
                    <a:noFill/>
                  </a:tcPr>
                </a:tc>
                <a:tc>
                  <a:txBody>
                    <a:bodyPr/>
                    <a:lstStyle/>
                    <a:p>
                      <a:pPr>
                        <a:buNone/>
                      </a:pPr>
                      <a:r>
                        <a:rPr lang="en-IN" sz="2000" b="1" dirty="0"/>
                        <a:t>Exhaustive testing is impossible </a:t>
                      </a:r>
                      <a:r>
                        <a:rPr lang="en-IN" sz="2000" dirty="0"/>
                        <a:t>- </a:t>
                      </a:r>
                      <a:r>
                        <a:rPr lang="en-US" sz="1600" dirty="0"/>
                        <a:t>The goal is not to test everything, it's to test the </a:t>
                      </a:r>
                      <a:r>
                        <a:rPr lang="en-US" sz="1600" b="1" dirty="0"/>
                        <a:t>right things</a:t>
                      </a:r>
                      <a:r>
                        <a:rPr lang="en-US" sz="1600" dirty="0"/>
                        <a:t>.</a:t>
                      </a:r>
                      <a:endParaRPr lang="en-IN" sz="2000" dirty="0"/>
                    </a:p>
                  </a:txBody>
                  <a:tcPr anchor="ctr">
                    <a:lnL>
                      <a:noFill/>
                    </a:lnL>
                    <a:lnR>
                      <a:noFill/>
                    </a:lnR>
                    <a:lnT>
                      <a:noFill/>
                    </a:lnT>
                    <a:lnB>
                      <a:noFill/>
                    </a:lnB>
                    <a:noFill/>
                  </a:tcPr>
                </a:tc>
                <a:extLst>
                  <a:ext uri="{0D108BD9-81ED-4DB2-BD59-A6C34878D82A}">
                    <a16:rowId xmlns:a16="http://schemas.microsoft.com/office/drawing/2014/main" val="999978985"/>
                  </a:ext>
                </a:extLst>
              </a:tr>
              <a:tr h="0">
                <a:tc>
                  <a:txBody>
                    <a:bodyPr/>
                    <a:lstStyle/>
                    <a:p>
                      <a:pPr>
                        <a:buNone/>
                      </a:pPr>
                      <a:r>
                        <a:rPr lang="en-IN" sz="2400"/>
                        <a:t>3</a:t>
                      </a:r>
                    </a:p>
                  </a:txBody>
                  <a:tcPr anchor="ctr">
                    <a:lnL>
                      <a:noFill/>
                    </a:lnL>
                    <a:lnR>
                      <a:noFill/>
                    </a:lnR>
                    <a:lnT>
                      <a:noFill/>
                    </a:lnT>
                    <a:lnB>
                      <a:noFill/>
                    </a:lnB>
                    <a:noFill/>
                  </a:tcPr>
                </a:tc>
                <a:tc>
                  <a:txBody>
                    <a:bodyPr/>
                    <a:lstStyle/>
                    <a:p>
                      <a:pPr>
                        <a:buNone/>
                      </a:pPr>
                      <a:r>
                        <a:rPr lang="en-US" sz="2000" b="1" dirty="0"/>
                        <a:t>Early testing saves time and money </a:t>
                      </a:r>
                      <a:r>
                        <a:rPr lang="en-US" sz="2000" dirty="0"/>
                        <a:t>- </a:t>
                      </a:r>
                      <a:r>
                        <a:rPr lang="en-US" sz="1600" dirty="0"/>
                        <a:t>This is often called the </a:t>
                      </a:r>
                      <a:r>
                        <a:rPr lang="en-US" sz="1600" b="1" dirty="0"/>
                        <a:t>"shift left"</a:t>
                      </a:r>
                      <a:r>
                        <a:rPr lang="en-US" sz="1600" dirty="0"/>
                        <a:t> principle </a:t>
                      </a:r>
                      <a:endParaRPr lang="en-US" sz="2000" dirty="0"/>
                    </a:p>
                  </a:txBody>
                  <a:tcPr anchor="ctr">
                    <a:lnL>
                      <a:noFill/>
                    </a:lnL>
                    <a:lnR>
                      <a:noFill/>
                    </a:lnR>
                    <a:lnT>
                      <a:noFill/>
                    </a:lnT>
                    <a:lnB>
                      <a:noFill/>
                    </a:lnB>
                    <a:noFill/>
                  </a:tcPr>
                </a:tc>
                <a:extLst>
                  <a:ext uri="{0D108BD9-81ED-4DB2-BD59-A6C34878D82A}">
                    <a16:rowId xmlns:a16="http://schemas.microsoft.com/office/drawing/2014/main" val="1091512337"/>
                  </a:ext>
                </a:extLst>
              </a:tr>
              <a:tr h="0">
                <a:tc>
                  <a:txBody>
                    <a:bodyPr/>
                    <a:lstStyle/>
                    <a:p>
                      <a:pPr>
                        <a:buNone/>
                      </a:pPr>
                      <a:r>
                        <a:rPr lang="en-IN" sz="2400"/>
                        <a:t>4</a:t>
                      </a:r>
                    </a:p>
                  </a:txBody>
                  <a:tcPr anchor="ctr">
                    <a:lnL>
                      <a:noFill/>
                    </a:lnL>
                    <a:lnR>
                      <a:noFill/>
                    </a:lnR>
                    <a:lnT>
                      <a:noFill/>
                    </a:lnT>
                    <a:lnB>
                      <a:noFill/>
                    </a:lnB>
                    <a:noFill/>
                  </a:tcPr>
                </a:tc>
                <a:tc>
                  <a:txBody>
                    <a:bodyPr/>
                    <a:lstStyle/>
                    <a:p>
                      <a:pPr>
                        <a:buNone/>
                      </a:pPr>
                      <a:r>
                        <a:rPr lang="en-IN" sz="2000" b="1" dirty="0"/>
                        <a:t>Defect clustering </a:t>
                      </a:r>
                      <a:r>
                        <a:rPr lang="en-IN" sz="2000" dirty="0"/>
                        <a:t>- </a:t>
                      </a:r>
                      <a:r>
                        <a:rPr lang="en-US" sz="1600" dirty="0"/>
                        <a:t>Also known as the </a:t>
                      </a:r>
                      <a:r>
                        <a:rPr lang="en-US" sz="1600" b="1" dirty="0"/>
                        <a:t>Pareto Principle (80/20 rule)</a:t>
                      </a:r>
                      <a:r>
                        <a:rPr lang="en-US" sz="1600" dirty="0"/>
                        <a:t> applied to software</a:t>
                      </a:r>
                      <a:endParaRPr lang="en-IN" sz="2000" dirty="0"/>
                    </a:p>
                  </a:txBody>
                  <a:tcPr anchor="ctr">
                    <a:lnL>
                      <a:noFill/>
                    </a:lnL>
                    <a:lnR>
                      <a:noFill/>
                    </a:lnR>
                    <a:lnT>
                      <a:noFill/>
                    </a:lnT>
                    <a:lnB>
                      <a:noFill/>
                    </a:lnB>
                    <a:noFill/>
                  </a:tcPr>
                </a:tc>
                <a:extLst>
                  <a:ext uri="{0D108BD9-81ED-4DB2-BD59-A6C34878D82A}">
                    <a16:rowId xmlns:a16="http://schemas.microsoft.com/office/drawing/2014/main" val="3245903022"/>
                  </a:ext>
                </a:extLst>
              </a:tr>
              <a:tr h="0">
                <a:tc>
                  <a:txBody>
                    <a:bodyPr/>
                    <a:lstStyle/>
                    <a:p>
                      <a:pPr>
                        <a:buNone/>
                      </a:pPr>
                      <a:r>
                        <a:rPr lang="en-IN" sz="2400"/>
                        <a:t>5</a:t>
                      </a:r>
                    </a:p>
                  </a:txBody>
                  <a:tcPr anchor="ctr">
                    <a:lnL>
                      <a:noFill/>
                    </a:lnL>
                    <a:lnR>
                      <a:noFill/>
                    </a:lnR>
                    <a:lnT>
                      <a:noFill/>
                    </a:lnT>
                    <a:lnB>
                      <a:noFill/>
                    </a:lnB>
                    <a:noFill/>
                  </a:tcPr>
                </a:tc>
                <a:tc>
                  <a:txBody>
                    <a:bodyPr/>
                    <a:lstStyle/>
                    <a:p>
                      <a:pPr>
                        <a:buNone/>
                      </a:pPr>
                      <a:r>
                        <a:rPr lang="en-IN" sz="2000" b="1" dirty="0"/>
                        <a:t>Pesticide paradox </a:t>
                      </a:r>
                      <a:r>
                        <a:rPr lang="en-IN" sz="2000" dirty="0"/>
                        <a:t>- </a:t>
                      </a:r>
                      <a:r>
                        <a:rPr lang="en-US" sz="1600" dirty="0"/>
                        <a:t>If you run the same tests repeatedly, they will eventually stop finding new bugs.</a:t>
                      </a:r>
                      <a:endParaRPr lang="en-IN" sz="2000" dirty="0"/>
                    </a:p>
                  </a:txBody>
                  <a:tcPr anchor="ctr">
                    <a:lnL>
                      <a:noFill/>
                    </a:lnL>
                    <a:lnR>
                      <a:noFill/>
                    </a:lnR>
                    <a:lnT>
                      <a:noFill/>
                    </a:lnT>
                    <a:lnB>
                      <a:noFill/>
                    </a:lnB>
                    <a:noFill/>
                  </a:tcPr>
                </a:tc>
                <a:extLst>
                  <a:ext uri="{0D108BD9-81ED-4DB2-BD59-A6C34878D82A}">
                    <a16:rowId xmlns:a16="http://schemas.microsoft.com/office/drawing/2014/main" val="1065818855"/>
                  </a:ext>
                </a:extLst>
              </a:tr>
              <a:tr h="0">
                <a:tc>
                  <a:txBody>
                    <a:bodyPr/>
                    <a:lstStyle/>
                    <a:p>
                      <a:pPr>
                        <a:buNone/>
                      </a:pPr>
                      <a:r>
                        <a:rPr lang="en-IN" sz="2400"/>
                        <a:t>6</a:t>
                      </a:r>
                    </a:p>
                  </a:txBody>
                  <a:tcPr anchor="ctr">
                    <a:lnL>
                      <a:noFill/>
                    </a:lnL>
                    <a:lnR>
                      <a:noFill/>
                    </a:lnR>
                    <a:lnT>
                      <a:noFill/>
                    </a:lnT>
                    <a:lnB>
                      <a:noFill/>
                    </a:lnB>
                    <a:noFill/>
                  </a:tcPr>
                </a:tc>
                <a:tc>
                  <a:txBody>
                    <a:bodyPr/>
                    <a:lstStyle/>
                    <a:p>
                      <a:pPr>
                        <a:buNone/>
                      </a:pPr>
                      <a:r>
                        <a:rPr lang="en-IN" sz="2000" b="1" dirty="0"/>
                        <a:t>Testing is context dependent - </a:t>
                      </a:r>
                      <a:r>
                        <a:rPr lang="en-US" sz="1600" dirty="0"/>
                        <a:t>There is no one-size-fits-all approach to testing. How you test depends entirely on what you're testing.</a:t>
                      </a:r>
                      <a:endParaRPr lang="en-IN" sz="2000" dirty="0"/>
                    </a:p>
                  </a:txBody>
                  <a:tcPr anchor="ctr">
                    <a:lnL>
                      <a:noFill/>
                    </a:lnL>
                    <a:lnR>
                      <a:noFill/>
                    </a:lnR>
                    <a:lnT>
                      <a:noFill/>
                    </a:lnT>
                    <a:lnB>
                      <a:noFill/>
                    </a:lnB>
                    <a:noFill/>
                  </a:tcPr>
                </a:tc>
                <a:extLst>
                  <a:ext uri="{0D108BD9-81ED-4DB2-BD59-A6C34878D82A}">
                    <a16:rowId xmlns:a16="http://schemas.microsoft.com/office/drawing/2014/main" val="1473161129"/>
                  </a:ext>
                </a:extLst>
              </a:tr>
              <a:tr h="0">
                <a:tc>
                  <a:txBody>
                    <a:bodyPr/>
                    <a:lstStyle/>
                    <a:p>
                      <a:pPr>
                        <a:buNone/>
                      </a:pPr>
                      <a:r>
                        <a:rPr lang="en-IN" sz="2400"/>
                        <a:t>7</a:t>
                      </a:r>
                    </a:p>
                  </a:txBody>
                  <a:tcPr anchor="ctr">
                    <a:lnL>
                      <a:noFill/>
                    </a:lnL>
                    <a:lnR>
                      <a:noFill/>
                    </a:lnR>
                    <a:lnT>
                      <a:noFill/>
                    </a:lnT>
                    <a:lnB>
                      <a:noFill/>
                    </a:lnB>
                    <a:noFill/>
                  </a:tcPr>
                </a:tc>
                <a:tc>
                  <a:txBody>
                    <a:bodyPr/>
                    <a:lstStyle/>
                    <a:p>
                      <a:pPr>
                        <a:buNone/>
                      </a:pPr>
                      <a:r>
                        <a:rPr lang="en-IN" sz="2000" b="1" dirty="0"/>
                        <a:t>Absence of errors fallacy - </a:t>
                      </a:r>
                      <a:r>
                        <a:rPr lang="en-US" sz="1600" dirty="0"/>
                        <a:t>A system can be technically flawless- no crashes, no bugs, all tests passing and still be a complete failure if it doesn't meet user needs or business goals.</a:t>
                      </a:r>
                      <a:endParaRPr lang="en-IN" sz="2000" dirty="0"/>
                    </a:p>
                  </a:txBody>
                  <a:tcPr anchor="ctr">
                    <a:lnL>
                      <a:noFill/>
                    </a:lnL>
                    <a:lnR>
                      <a:noFill/>
                    </a:lnR>
                    <a:lnT>
                      <a:noFill/>
                    </a:lnT>
                    <a:lnB>
                      <a:noFill/>
                    </a:lnB>
                    <a:noFill/>
                  </a:tcPr>
                </a:tc>
                <a:extLst>
                  <a:ext uri="{0D108BD9-81ED-4DB2-BD59-A6C34878D82A}">
                    <a16:rowId xmlns:a16="http://schemas.microsoft.com/office/drawing/2014/main" val="128374145"/>
                  </a:ext>
                </a:extLst>
              </a:tr>
            </a:tbl>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1A5CD8-9FD0-E0BA-5B74-1653A7EBA9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A4E775-F9F7-59C6-FF0A-ADE845784B08}"/>
              </a:ext>
            </a:extLst>
          </p:cNvPr>
          <p:cNvSpPr>
            <a:spLocks noGrp="1"/>
          </p:cNvSpPr>
          <p:nvPr>
            <p:ph type="title"/>
          </p:nvPr>
        </p:nvSpPr>
        <p:spPr/>
        <p:txBody>
          <a:bodyPr/>
          <a:lstStyle/>
          <a:p>
            <a:r>
              <a:rPr lang="en-US" dirty="0"/>
              <a:t>Advantages of testing</a:t>
            </a:r>
          </a:p>
        </p:txBody>
      </p:sp>
      <p:sp>
        <p:nvSpPr>
          <p:cNvPr id="3" name="Content Placeholder 2">
            <a:extLst>
              <a:ext uri="{FF2B5EF4-FFF2-40B4-BE49-F238E27FC236}">
                <a16:creationId xmlns:a16="http://schemas.microsoft.com/office/drawing/2014/main" id="{6FE9BEAB-7064-89F2-2C69-56C3EF3FEFC1}"/>
              </a:ext>
            </a:extLst>
          </p:cNvPr>
          <p:cNvSpPr>
            <a:spLocks noGrp="1"/>
          </p:cNvSpPr>
          <p:nvPr>
            <p:ph idx="1"/>
          </p:nvPr>
        </p:nvSpPr>
        <p:spPr/>
        <p:txBody>
          <a:bodyPr>
            <a:normAutofit/>
          </a:bodyPr>
          <a:lstStyle/>
          <a:p>
            <a:r>
              <a:rPr lang="en-US" dirty="0"/>
              <a:t>Early bug detection</a:t>
            </a:r>
          </a:p>
          <a:p>
            <a:r>
              <a:rPr lang="en-US" dirty="0"/>
              <a:t>Simplifies debugging</a:t>
            </a:r>
          </a:p>
          <a:p>
            <a:r>
              <a:rPr lang="en-US" dirty="0"/>
              <a:t>Improves code quality</a:t>
            </a:r>
          </a:p>
          <a:p>
            <a:r>
              <a:rPr lang="en-US" dirty="0"/>
              <a:t>Supports continuous integration</a:t>
            </a:r>
          </a:p>
          <a:p>
            <a:endParaRPr dirty="0"/>
          </a:p>
        </p:txBody>
      </p:sp>
    </p:spTree>
    <p:extLst>
      <p:ext uri="{BB962C8B-B14F-4D97-AF65-F5344CB8AC3E}">
        <p14:creationId xmlns:p14="http://schemas.microsoft.com/office/powerpoint/2010/main" val="7106068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86327" y="404664"/>
            <a:ext cx="6571343" cy="1049235"/>
          </a:xfrm>
        </p:spPr>
        <p:txBody>
          <a:bodyPr/>
          <a:lstStyle/>
          <a:p>
            <a:r>
              <a:rPr dirty="0"/>
              <a:t>Levels of Software Testing</a:t>
            </a:r>
          </a:p>
        </p:txBody>
      </p:sp>
      <p:pic>
        <p:nvPicPr>
          <p:cNvPr id="9" name="Picture 8">
            <a:extLst>
              <a:ext uri="{FF2B5EF4-FFF2-40B4-BE49-F238E27FC236}">
                <a16:creationId xmlns:a16="http://schemas.microsoft.com/office/drawing/2014/main" id="{690057B8-9C01-DE9B-A646-A9C173FC9F6D}"/>
              </a:ext>
            </a:extLst>
          </p:cNvPr>
          <p:cNvPicPr>
            <a:picLocks noChangeAspect="1"/>
          </p:cNvPicPr>
          <p:nvPr/>
        </p:nvPicPr>
        <p:blipFill>
          <a:blip r:embed="rId2"/>
          <a:stretch>
            <a:fillRect/>
          </a:stretch>
        </p:blipFill>
        <p:spPr>
          <a:xfrm>
            <a:off x="782877" y="1274174"/>
            <a:ext cx="7578245" cy="5568679"/>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Unit Testing</a:t>
            </a:r>
          </a:p>
        </p:txBody>
      </p:sp>
      <p:sp>
        <p:nvSpPr>
          <p:cNvPr id="3" name="Content Placeholder 2"/>
          <p:cNvSpPr>
            <a:spLocks noGrp="1"/>
          </p:cNvSpPr>
          <p:nvPr>
            <p:ph idx="1"/>
          </p:nvPr>
        </p:nvSpPr>
        <p:spPr>
          <a:xfrm>
            <a:off x="323528" y="2015733"/>
            <a:ext cx="8496943" cy="4037747"/>
          </a:xfrm>
        </p:spPr>
        <p:txBody>
          <a:bodyPr>
            <a:normAutofit/>
          </a:bodyPr>
          <a:lstStyle/>
          <a:p>
            <a:r>
              <a:rPr lang="en-US" dirty="0"/>
              <a:t>A "unit" is the </a:t>
            </a:r>
            <a:r>
              <a:rPr lang="en-US" b="1" dirty="0"/>
              <a:t>smallest testable piece of code</a:t>
            </a:r>
            <a:r>
              <a:rPr lang="en-US" dirty="0"/>
              <a:t> in your application, typically a single function or method. The key word is </a:t>
            </a:r>
            <a:r>
              <a:rPr lang="en-US" i="1" dirty="0"/>
              <a:t>isolated</a:t>
            </a:r>
            <a:r>
              <a:rPr lang="en-US" dirty="0"/>
              <a:t>. You test that one piece of logic, completely cut off from everything else around it.</a:t>
            </a:r>
            <a:r>
              <a:rPr dirty="0"/>
              <a:t> </a:t>
            </a:r>
            <a:endParaRPr lang="en-IN" dirty="0"/>
          </a:p>
          <a:p>
            <a:r>
              <a:rPr lang="en-US" dirty="0"/>
              <a:t>Written and run by developers, not testers</a:t>
            </a:r>
          </a:p>
          <a:p>
            <a:r>
              <a:rPr lang="en-US" dirty="0"/>
              <a:t>Runs extremely fast (milliseconds per test)</a:t>
            </a:r>
          </a:p>
          <a:p>
            <a:r>
              <a:rPr lang="en-US" dirty="0"/>
              <a:t>Uses mocks to replace dependencies (databases, APIs, other modules)</a:t>
            </a:r>
          </a:p>
          <a:p>
            <a:r>
              <a:rPr lang="en-US" dirty="0"/>
              <a:t>Catches bugs at the earliest possible stage</a:t>
            </a:r>
          </a:p>
          <a:p>
            <a:r>
              <a:rPr dirty="0"/>
              <a:t>Example: testing a login validation function</a:t>
            </a:r>
            <a:endParaRPr lang="en-US" dirty="0"/>
          </a:p>
          <a:p>
            <a:endParaRPr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035FF3-DE24-139B-24AD-2F59639F84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B5BCF3-F078-B58C-0F81-F4E41BC0DF1C}"/>
              </a:ext>
            </a:extLst>
          </p:cNvPr>
          <p:cNvSpPr>
            <a:spLocks noGrp="1"/>
          </p:cNvSpPr>
          <p:nvPr>
            <p:ph type="title"/>
          </p:nvPr>
        </p:nvSpPr>
        <p:spPr/>
        <p:txBody>
          <a:bodyPr/>
          <a:lstStyle/>
          <a:p>
            <a:r>
              <a:t>Unit Testing</a:t>
            </a:r>
          </a:p>
        </p:txBody>
      </p:sp>
      <p:sp>
        <p:nvSpPr>
          <p:cNvPr id="3" name="Content Placeholder 2">
            <a:extLst>
              <a:ext uri="{FF2B5EF4-FFF2-40B4-BE49-F238E27FC236}">
                <a16:creationId xmlns:a16="http://schemas.microsoft.com/office/drawing/2014/main" id="{C50D2E37-CF31-24D0-49EE-11E3146C4F14}"/>
              </a:ext>
            </a:extLst>
          </p:cNvPr>
          <p:cNvSpPr>
            <a:spLocks noGrp="1"/>
          </p:cNvSpPr>
          <p:nvPr>
            <p:ph idx="1"/>
          </p:nvPr>
        </p:nvSpPr>
        <p:spPr>
          <a:xfrm>
            <a:off x="323528" y="2015733"/>
            <a:ext cx="8496943" cy="4037747"/>
          </a:xfrm>
        </p:spPr>
        <p:txBody>
          <a:bodyPr>
            <a:normAutofit/>
          </a:bodyPr>
          <a:lstStyle/>
          <a:p>
            <a:r>
              <a:rPr lang="en-US" b="1" dirty="0"/>
              <a:t>Advantages of unit testing</a:t>
            </a:r>
          </a:p>
          <a:p>
            <a:r>
              <a:rPr lang="en-US" dirty="0"/>
              <a:t>Early bug detection</a:t>
            </a:r>
          </a:p>
          <a:p>
            <a:r>
              <a:rPr lang="en-US" dirty="0"/>
              <a:t>Simplifies debugging</a:t>
            </a:r>
          </a:p>
          <a:p>
            <a:r>
              <a:rPr lang="en-US" dirty="0"/>
              <a:t>Improves code quality</a:t>
            </a:r>
          </a:p>
          <a:p>
            <a:r>
              <a:rPr lang="en-US" dirty="0"/>
              <a:t>Supports continuous integration</a:t>
            </a:r>
          </a:p>
          <a:p>
            <a:endParaRPr dirty="0"/>
          </a:p>
        </p:txBody>
      </p:sp>
    </p:spTree>
    <p:extLst>
      <p:ext uri="{BB962C8B-B14F-4D97-AF65-F5344CB8AC3E}">
        <p14:creationId xmlns:p14="http://schemas.microsoft.com/office/powerpoint/2010/main" val="29054138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Unit Testing Diagram</a:t>
            </a:r>
          </a:p>
        </p:txBody>
      </p:sp>
      <p:pic>
        <p:nvPicPr>
          <p:cNvPr id="9" name="Picture 8">
            <a:extLst>
              <a:ext uri="{FF2B5EF4-FFF2-40B4-BE49-F238E27FC236}">
                <a16:creationId xmlns:a16="http://schemas.microsoft.com/office/drawing/2014/main" id="{E1B575BF-3707-5A71-0BB9-AB5BD2E4D8A9}"/>
              </a:ext>
            </a:extLst>
          </p:cNvPr>
          <p:cNvPicPr>
            <a:picLocks noChangeAspect="1"/>
          </p:cNvPicPr>
          <p:nvPr/>
        </p:nvPicPr>
        <p:blipFill>
          <a:blip r:embed="rId2"/>
          <a:stretch>
            <a:fillRect/>
          </a:stretch>
        </p:blipFill>
        <p:spPr>
          <a:xfrm>
            <a:off x="1223628" y="1975938"/>
            <a:ext cx="6696744" cy="4854186"/>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Integration Testing</a:t>
            </a:r>
          </a:p>
        </p:txBody>
      </p:sp>
      <p:sp>
        <p:nvSpPr>
          <p:cNvPr id="3" name="Content Placeholder 2"/>
          <p:cNvSpPr>
            <a:spLocks noGrp="1"/>
          </p:cNvSpPr>
          <p:nvPr>
            <p:ph idx="1"/>
          </p:nvPr>
        </p:nvSpPr>
        <p:spPr/>
        <p:txBody>
          <a:bodyPr>
            <a:normAutofit/>
          </a:bodyPr>
          <a:lstStyle/>
          <a:p>
            <a:r>
              <a:rPr lang="en-US" dirty="0"/>
              <a:t>The moment two modules start communicating- passing data, calling each other, sharing a database- new categories of bugs emerge that unit tests are completely blind to. Integration testing is specifically designed to find those bugs.</a:t>
            </a:r>
          </a:p>
          <a:p>
            <a:r>
              <a:rPr dirty="0"/>
              <a:t>Detects interface defects</a:t>
            </a:r>
          </a:p>
          <a:p>
            <a:r>
              <a:rPr dirty="0"/>
              <a:t>Ensures modules work together</a:t>
            </a:r>
          </a:p>
          <a:p>
            <a:r>
              <a:rPr dirty="0"/>
              <a:t>Occurs after unit testing</a:t>
            </a:r>
            <a:endParaRPr lang="en-US" dirty="0"/>
          </a:p>
          <a:p>
            <a:endParaRP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DF4566-52F5-6A11-0A6B-B0F9281E83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CB176F-DBE7-6407-DC76-D441D46AB31B}"/>
              </a:ext>
            </a:extLst>
          </p:cNvPr>
          <p:cNvSpPr>
            <a:spLocks noGrp="1"/>
          </p:cNvSpPr>
          <p:nvPr>
            <p:ph type="title"/>
          </p:nvPr>
        </p:nvSpPr>
        <p:spPr/>
        <p:txBody>
          <a:bodyPr/>
          <a:lstStyle/>
          <a:p>
            <a:r>
              <a:rPr lang="en-IN" dirty="0"/>
              <a:t>Integration Testing Strategies</a:t>
            </a:r>
            <a:endParaRPr dirty="0"/>
          </a:p>
        </p:txBody>
      </p:sp>
      <p:sp>
        <p:nvSpPr>
          <p:cNvPr id="3" name="Content Placeholder 2">
            <a:extLst>
              <a:ext uri="{FF2B5EF4-FFF2-40B4-BE49-F238E27FC236}">
                <a16:creationId xmlns:a16="http://schemas.microsoft.com/office/drawing/2014/main" id="{9C446193-6C5A-718E-8FE1-D30278B8517D}"/>
              </a:ext>
            </a:extLst>
          </p:cNvPr>
          <p:cNvSpPr>
            <a:spLocks noGrp="1"/>
          </p:cNvSpPr>
          <p:nvPr>
            <p:ph idx="1"/>
          </p:nvPr>
        </p:nvSpPr>
        <p:spPr/>
        <p:txBody>
          <a:bodyPr>
            <a:normAutofit/>
          </a:bodyPr>
          <a:lstStyle/>
          <a:p>
            <a:r>
              <a:rPr lang="en-IN" b="1" dirty="0"/>
              <a:t>Big Bang Integration: </a:t>
            </a:r>
            <a:r>
              <a:rPr lang="en-US" dirty="0"/>
              <a:t>Integrate all modules at once, then test the whole thing together.</a:t>
            </a:r>
          </a:p>
          <a:p>
            <a:r>
              <a:rPr lang="en-US" dirty="0"/>
              <a:t>When something fails, it's very hard to tell which module caused it. Only used for very small systems.</a:t>
            </a:r>
            <a:endParaRPr dirty="0"/>
          </a:p>
        </p:txBody>
      </p:sp>
      <p:pic>
        <p:nvPicPr>
          <p:cNvPr id="5" name="Picture 4">
            <a:extLst>
              <a:ext uri="{FF2B5EF4-FFF2-40B4-BE49-F238E27FC236}">
                <a16:creationId xmlns:a16="http://schemas.microsoft.com/office/drawing/2014/main" id="{78B6D420-DB57-2CB1-766C-9BDB91BD4E16}"/>
              </a:ext>
            </a:extLst>
          </p:cNvPr>
          <p:cNvPicPr>
            <a:picLocks noChangeAspect="1"/>
          </p:cNvPicPr>
          <p:nvPr/>
        </p:nvPicPr>
        <p:blipFill>
          <a:blip r:embed="rId2"/>
          <a:stretch>
            <a:fillRect/>
          </a:stretch>
        </p:blipFill>
        <p:spPr>
          <a:xfrm>
            <a:off x="1129166" y="4077072"/>
            <a:ext cx="7200800" cy="1118725"/>
          </a:xfrm>
          <a:prstGeom prst="rect">
            <a:avLst/>
          </a:prstGeom>
        </p:spPr>
      </p:pic>
    </p:spTree>
    <p:extLst>
      <p:ext uri="{BB962C8B-B14F-4D97-AF65-F5344CB8AC3E}">
        <p14:creationId xmlns:p14="http://schemas.microsoft.com/office/powerpoint/2010/main" val="40754826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85963D-0074-A595-F68A-84CA1345DE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60AADE-C2B5-E431-A1E2-B31E6DC683F7}"/>
              </a:ext>
            </a:extLst>
          </p:cNvPr>
          <p:cNvSpPr>
            <a:spLocks noGrp="1"/>
          </p:cNvSpPr>
          <p:nvPr>
            <p:ph type="title"/>
          </p:nvPr>
        </p:nvSpPr>
        <p:spPr/>
        <p:txBody>
          <a:bodyPr/>
          <a:lstStyle/>
          <a:p>
            <a:r>
              <a:rPr lang="en-IN" dirty="0"/>
              <a:t>Integration Testing Strategies</a:t>
            </a:r>
            <a:endParaRPr dirty="0"/>
          </a:p>
        </p:txBody>
      </p:sp>
      <p:sp>
        <p:nvSpPr>
          <p:cNvPr id="3" name="Content Placeholder 2">
            <a:extLst>
              <a:ext uri="{FF2B5EF4-FFF2-40B4-BE49-F238E27FC236}">
                <a16:creationId xmlns:a16="http://schemas.microsoft.com/office/drawing/2014/main" id="{06805E4D-B311-6CF9-3264-AFBF72C0CE1E}"/>
              </a:ext>
            </a:extLst>
          </p:cNvPr>
          <p:cNvSpPr>
            <a:spLocks noGrp="1"/>
          </p:cNvSpPr>
          <p:nvPr>
            <p:ph idx="1"/>
          </p:nvPr>
        </p:nvSpPr>
        <p:spPr>
          <a:xfrm>
            <a:off x="1443491" y="2015733"/>
            <a:ext cx="6571344" cy="3450613"/>
          </a:xfrm>
        </p:spPr>
        <p:txBody>
          <a:bodyPr>
            <a:normAutofit/>
          </a:bodyPr>
          <a:lstStyle/>
          <a:p>
            <a:r>
              <a:rPr lang="en-IN" b="1" dirty="0"/>
              <a:t>Incremental Integration: </a:t>
            </a:r>
            <a:r>
              <a:rPr lang="en-US" dirty="0"/>
              <a:t>Integrate and test </a:t>
            </a:r>
            <a:r>
              <a:rPr lang="en-US" b="1" dirty="0"/>
              <a:t>one module at a time</a:t>
            </a:r>
            <a:r>
              <a:rPr lang="en-US" dirty="0"/>
              <a:t>, building up progressively. This is the preferred approach.</a:t>
            </a:r>
          </a:p>
          <a:p>
            <a:r>
              <a:rPr lang="en-US" dirty="0"/>
              <a:t>When a failure appears, you know exactly which newly added module introduced it.</a:t>
            </a:r>
            <a:endParaRPr dirty="0"/>
          </a:p>
        </p:txBody>
      </p:sp>
      <p:pic>
        <p:nvPicPr>
          <p:cNvPr id="6" name="Picture 5">
            <a:extLst>
              <a:ext uri="{FF2B5EF4-FFF2-40B4-BE49-F238E27FC236}">
                <a16:creationId xmlns:a16="http://schemas.microsoft.com/office/drawing/2014/main" id="{1C6AFFF2-3F38-13F7-7ED9-CDF1AEC48D4F}"/>
              </a:ext>
            </a:extLst>
          </p:cNvPr>
          <p:cNvPicPr>
            <a:picLocks noChangeAspect="1"/>
          </p:cNvPicPr>
          <p:nvPr/>
        </p:nvPicPr>
        <p:blipFill>
          <a:blip r:embed="rId2"/>
          <a:stretch>
            <a:fillRect/>
          </a:stretch>
        </p:blipFill>
        <p:spPr>
          <a:xfrm>
            <a:off x="5508103" y="3741039"/>
            <a:ext cx="3312368" cy="2244362"/>
          </a:xfrm>
          <a:prstGeom prst="rect">
            <a:avLst/>
          </a:prstGeom>
        </p:spPr>
      </p:pic>
    </p:spTree>
    <p:extLst>
      <p:ext uri="{BB962C8B-B14F-4D97-AF65-F5344CB8AC3E}">
        <p14:creationId xmlns:p14="http://schemas.microsoft.com/office/powerpoint/2010/main" val="41156052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71DFD8-C57F-A87A-C14D-F319BD2E8E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F4BF9D-9DB2-9653-5022-5DE4C0296F5D}"/>
              </a:ext>
            </a:extLst>
          </p:cNvPr>
          <p:cNvSpPr>
            <a:spLocks noGrp="1"/>
          </p:cNvSpPr>
          <p:nvPr>
            <p:ph type="title"/>
          </p:nvPr>
        </p:nvSpPr>
        <p:spPr/>
        <p:txBody>
          <a:bodyPr/>
          <a:lstStyle/>
          <a:p>
            <a:r>
              <a:rPr lang="en-IN" dirty="0"/>
              <a:t>Integration Testing Strategies</a:t>
            </a:r>
            <a:endParaRPr dirty="0"/>
          </a:p>
        </p:txBody>
      </p:sp>
      <p:sp>
        <p:nvSpPr>
          <p:cNvPr id="3" name="Content Placeholder 2">
            <a:extLst>
              <a:ext uri="{FF2B5EF4-FFF2-40B4-BE49-F238E27FC236}">
                <a16:creationId xmlns:a16="http://schemas.microsoft.com/office/drawing/2014/main" id="{9A5166ED-DC78-BFE6-FC9F-BA5F5F4580A6}"/>
              </a:ext>
            </a:extLst>
          </p:cNvPr>
          <p:cNvSpPr>
            <a:spLocks noGrp="1"/>
          </p:cNvSpPr>
          <p:nvPr>
            <p:ph idx="1"/>
          </p:nvPr>
        </p:nvSpPr>
        <p:spPr>
          <a:xfrm>
            <a:off x="1443491" y="2015733"/>
            <a:ext cx="6571344" cy="3450613"/>
          </a:xfrm>
        </p:spPr>
        <p:txBody>
          <a:bodyPr>
            <a:normAutofit/>
          </a:bodyPr>
          <a:lstStyle/>
          <a:p>
            <a:r>
              <a:rPr lang="en-IN" b="1" dirty="0"/>
              <a:t>Bottom-Up Integration: </a:t>
            </a:r>
            <a:r>
              <a:rPr lang="en-US" dirty="0"/>
              <a:t>Start from the lowest-level modules and work upward. Higher modules not yet built are replaced with </a:t>
            </a:r>
            <a:r>
              <a:rPr lang="en-US" b="1" dirty="0"/>
              <a:t>drivers</a:t>
            </a:r>
            <a:r>
              <a:rPr lang="en-US" dirty="0"/>
              <a:t> (temporary callers that simulate the layer above).</a:t>
            </a:r>
          </a:p>
        </p:txBody>
      </p:sp>
      <p:pic>
        <p:nvPicPr>
          <p:cNvPr id="8" name="Picture 7">
            <a:extLst>
              <a:ext uri="{FF2B5EF4-FFF2-40B4-BE49-F238E27FC236}">
                <a16:creationId xmlns:a16="http://schemas.microsoft.com/office/drawing/2014/main" id="{F5792027-AC7C-1F75-FD08-4FF33D8C2BF5}"/>
              </a:ext>
            </a:extLst>
          </p:cNvPr>
          <p:cNvPicPr>
            <a:picLocks noChangeAspect="1"/>
          </p:cNvPicPr>
          <p:nvPr/>
        </p:nvPicPr>
        <p:blipFill>
          <a:blip r:embed="rId2"/>
          <a:stretch>
            <a:fillRect/>
          </a:stretch>
        </p:blipFill>
        <p:spPr>
          <a:xfrm>
            <a:off x="1619672" y="3741763"/>
            <a:ext cx="5832648" cy="2205802"/>
          </a:xfrm>
          <a:prstGeom prst="rect">
            <a:avLst/>
          </a:prstGeom>
        </p:spPr>
      </p:pic>
    </p:spTree>
    <p:extLst>
      <p:ext uri="{BB962C8B-B14F-4D97-AF65-F5344CB8AC3E}">
        <p14:creationId xmlns:p14="http://schemas.microsoft.com/office/powerpoint/2010/main" val="34239913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System Testing</a:t>
            </a:r>
          </a:p>
        </p:txBody>
      </p:sp>
      <p:sp>
        <p:nvSpPr>
          <p:cNvPr id="3" name="Content Placeholder 2"/>
          <p:cNvSpPr>
            <a:spLocks noGrp="1"/>
          </p:cNvSpPr>
          <p:nvPr>
            <p:ph idx="1"/>
          </p:nvPr>
        </p:nvSpPr>
        <p:spPr/>
        <p:txBody>
          <a:bodyPr/>
          <a:lstStyle/>
          <a:p>
            <a:r>
              <a:rPr lang="en-US" dirty="0"/>
              <a:t>Test the system </a:t>
            </a:r>
            <a:r>
              <a:rPr lang="en-US" b="1" dirty="0"/>
              <a:t>exactly the way a real user would use it, </a:t>
            </a:r>
            <a:r>
              <a:rPr lang="en-US" dirty="0"/>
              <a:t>through the actual interface, against a real database, in an environment that mirrors production. </a:t>
            </a:r>
            <a:r>
              <a:rPr dirty="0"/>
              <a:t>Ensures system meets requirements</a:t>
            </a:r>
          </a:p>
          <a:p>
            <a:r>
              <a:rPr dirty="0"/>
              <a:t>Performed by independent testing team</a:t>
            </a:r>
          </a:p>
          <a:p>
            <a:r>
              <a:rPr dirty="0"/>
              <a:t>Includes functional and non-functional testing</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System Testing Overview</a:t>
            </a:r>
          </a:p>
        </p:txBody>
      </p:sp>
      <p:sp>
        <p:nvSpPr>
          <p:cNvPr id="3" name="Rectangle 2"/>
          <p:cNvSpPr/>
          <p:nvPr/>
        </p:nvSpPr>
        <p:spPr>
          <a:xfrm>
            <a:off x="3657600" y="2743200"/>
            <a:ext cx="1828800" cy="91440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a:ln>
                  <a:noFill/>
                </a:ln>
                <a:solidFill>
                  <a:prstClr val="white"/>
                </a:solidFill>
                <a:effectLst/>
                <a:uLnTx/>
                <a:uFillTx/>
                <a:latin typeface="Calibri"/>
                <a:ea typeface="+mn-ea"/>
                <a:cs typeface="+mn-cs"/>
              </a:rPr>
              <a:t>Complete System</a:t>
            </a:r>
          </a:p>
        </p:txBody>
      </p:sp>
      <p:sp>
        <p:nvSpPr>
          <p:cNvPr id="4" name="Rectangle 3"/>
          <p:cNvSpPr/>
          <p:nvPr/>
        </p:nvSpPr>
        <p:spPr>
          <a:xfrm>
            <a:off x="914400" y="1371600"/>
            <a:ext cx="2011680" cy="73152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a:ln>
                  <a:noFill/>
                </a:ln>
                <a:solidFill>
                  <a:prstClr val="white"/>
                </a:solidFill>
                <a:effectLst/>
                <a:uLnTx/>
                <a:uFillTx/>
                <a:latin typeface="Calibri"/>
                <a:ea typeface="+mn-ea"/>
                <a:cs typeface="+mn-cs"/>
              </a:rPr>
              <a:t>Functional Test</a:t>
            </a:r>
          </a:p>
        </p:txBody>
      </p:sp>
      <p:sp>
        <p:nvSpPr>
          <p:cNvPr id="5" name="Rectangle 4"/>
          <p:cNvSpPr/>
          <p:nvPr/>
        </p:nvSpPr>
        <p:spPr>
          <a:xfrm>
            <a:off x="6400800" y="1371600"/>
            <a:ext cx="2011680" cy="73152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a:ln>
                  <a:noFill/>
                </a:ln>
                <a:solidFill>
                  <a:prstClr val="white"/>
                </a:solidFill>
                <a:effectLst/>
                <a:uLnTx/>
                <a:uFillTx/>
                <a:latin typeface="Calibri"/>
                <a:ea typeface="+mn-ea"/>
                <a:cs typeface="+mn-cs"/>
              </a:rPr>
              <a:t>Performance Test</a:t>
            </a:r>
          </a:p>
        </p:txBody>
      </p:sp>
      <p:sp>
        <p:nvSpPr>
          <p:cNvPr id="6" name="Rectangle 5"/>
          <p:cNvSpPr/>
          <p:nvPr/>
        </p:nvSpPr>
        <p:spPr>
          <a:xfrm>
            <a:off x="914400" y="4572000"/>
            <a:ext cx="2011680" cy="73152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a:ln>
                  <a:noFill/>
                </a:ln>
                <a:solidFill>
                  <a:prstClr val="white"/>
                </a:solidFill>
                <a:effectLst/>
                <a:uLnTx/>
                <a:uFillTx/>
                <a:latin typeface="Calibri"/>
                <a:ea typeface="+mn-ea"/>
                <a:cs typeface="+mn-cs"/>
              </a:rPr>
              <a:t>Security Test</a:t>
            </a:r>
          </a:p>
        </p:txBody>
      </p:sp>
      <p:sp>
        <p:nvSpPr>
          <p:cNvPr id="7" name="Rectangle 6"/>
          <p:cNvSpPr/>
          <p:nvPr/>
        </p:nvSpPr>
        <p:spPr>
          <a:xfrm>
            <a:off x="6400800" y="4572000"/>
            <a:ext cx="2011680" cy="73152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sz="1800" b="0" i="0" u="none" strike="noStrike" kern="1200" cap="none" spc="0" normalizeH="0" baseline="0" noProof="0">
                <a:ln>
                  <a:noFill/>
                </a:ln>
                <a:solidFill>
                  <a:prstClr val="white"/>
                </a:solidFill>
                <a:effectLst/>
                <a:uLnTx/>
                <a:uFillTx/>
                <a:latin typeface="Calibri"/>
                <a:ea typeface="+mn-ea"/>
                <a:cs typeface="+mn-cs"/>
              </a:rPr>
              <a:t>Usability Test</a:t>
            </a:r>
          </a:p>
        </p:txBody>
      </p:sp>
      <p:cxnSp>
        <p:nvCxnSpPr>
          <p:cNvPr id="8" name="Connector 7"/>
          <p:cNvCxnSpPr/>
          <p:nvPr/>
        </p:nvCxnSpPr>
        <p:spPr>
          <a:xfrm>
            <a:off x="2926080" y="2103120"/>
            <a:ext cx="731520" cy="640080"/>
          </a:xfrm>
          <a:prstGeom prst="line">
            <a:avLst/>
          </a:prstGeom>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flipH="1">
            <a:off x="5486400" y="2103120"/>
            <a:ext cx="914400" cy="640080"/>
          </a:xfrm>
          <a:prstGeom prst="line">
            <a:avLst/>
          </a:prstGeom>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V="1">
            <a:off x="2926080" y="3657600"/>
            <a:ext cx="731520" cy="9144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H="1" flipV="1">
            <a:off x="5486400" y="3657600"/>
            <a:ext cx="914400" cy="914400"/>
          </a:xfrm>
          <a:prstGeom prst="line">
            <a:avLst/>
          </a:prstGeom>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0532D5-3A90-150B-89A9-2547547EF4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853480-2B81-3F3F-3D59-B1007B05B878}"/>
              </a:ext>
            </a:extLst>
          </p:cNvPr>
          <p:cNvSpPr>
            <a:spLocks noGrp="1"/>
          </p:cNvSpPr>
          <p:nvPr>
            <p:ph type="title"/>
          </p:nvPr>
        </p:nvSpPr>
        <p:spPr/>
        <p:txBody>
          <a:bodyPr/>
          <a:lstStyle/>
          <a:p>
            <a:r>
              <a:rPr lang="en-IN" dirty="0"/>
              <a:t>Acceptance </a:t>
            </a:r>
            <a:r>
              <a:rPr dirty="0"/>
              <a:t> Testing</a:t>
            </a:r>
          </a:p>
        </p:txBody>
      </p:sp>
      <p:sp>
        <p:nvSpPr>
          <p:cNvPr id="3" name="Content Placeholder 2">
            <a:extLst>
              <a:ext uri="{FF2B5EF4-FFF2-40B4-BE49-F238E27FC236}">
                <a16:creationId xmlns:a16="http://schemas.microsoft.com/office/drawing/2014/main" id="{4B7F3156-D8EB-E7EC-28F5-0D5AF08DF60D}"/>
              </a:ext>
            </a:extLst>
          </p:cNvPr>
          <p:cNvSpPr>
            <a:spLocks noGrp="1"/>
          </p:cNvSpPr>
          <p:nvPr>
            <p:ph idx="1"/>
          </p:nvPr>
        </p:nvSpPr>
        <p:spPr/>
        <p:txBody>
          <a:bodyPr/>
          <a:lstStyle/>
          <a:p>
            <a:r>
              <a:rPr lang="en-US" b="1" dirty="0"/>
              <a:t>The development and QA team step back entirely</a:t>
            </a:r>
            <a:r>
              <a:rPr lang="en-US" dirty="0"/>
              <a:t> and hand control to the actual stakeholders — clients, business representatives, and end users — who evaluate the software against their real-world needs.</a:t>
            </a:r>
          </a:p>
          <a:p>
            <a:r>
              <a:rPr lang="en-US" dirty="0"/>
              <a:t>The people testing are not technical. They are not reading code or following scripted test cases. They are using the software the way they naturally would in their daily work or life and judging whether it serves their actual needs.</a:t>
            </a:r>
            <a:endParaRPr dirty="0"/>
          </a:p>
        </p:txBody>
      </p:sp>
    </p:spTree>
    <p:extLst>
      <p:ext uri="{BB962C8B-B14F-4D97-AF65-F5344CB8AC3E}">
        <p14:creationId xmlns:p14="http://schemas.microsoft.com/office/powerpoint/2010/main" val="97541360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62C06-C009-486C-22EE-F4F620856F29}"/>
              </a:ext>
            </a:extLst>
          </p:cNvPr>
          <p:cNvSpPr>
            <a:spLocks noGrp="1"/>
          </p:cNvSpPr>
          <p:nvPr>
            <p:ph type="title"/>
          </p:nvPr>
        </p:nvSpPr>
        <p:spPr>
          <a:xfrm>
            <a:off x="1443491" y="188641"/>
            <a:ext cx="6571343" cy="576064"/>
          </a:xfrm>
        </p:spPr>
        <p:txBody>
          <a:bodyPr>
            <a:noAutofit/>
          </a:bodyPr>
          <a:lstStyle/>
          <a:p>
            <a:r>
              <a:rPr lang="en-US" sz="2000" b="1" dirty="0"/>
              <a:t>Comparison of various testing levels</a:t>
            </a:r>
            <a:endParaRPr lang="en-IN" sz="2000" b="1" dirty="0"/>
          </a:p>
        </p:txBody>
      </p:sp>
      <p:pic>
        <p:nvPicPr>
          <p:cNvPr id="4" name="Picture 3">
            <a:extLst>
              <a:ext uri="{FF2B5EF4-FFF2-40B4-BE49-F238E27FC236}">
                <a16:creationId xmlns:a16="http://schemas.microsoft.com/office/drawing/2014/main" id="{7B10485D-5720-D01A-8920-BFC0BB84D541}"/>
              </a:ext>
            </a:extLst>
          </p:cNvPr>
          <p:cNvPicPr>
            <a:picLocks noChangeAspect="1"/>
          </p:cNvPicPr>
          <p:nvPr/>
        </p:nvPicPr>
        <p:blipFill>
          <a:blip r:embed="rId2"/>
          <a:stretch>
            <a:fillRect/>
          </a:stretch>
        </p:blipFill>
        <p:spPr>
          <a:xfrm>
            <a:off x="620771" y="1052736"/>
            <a:ext cx="7839662" cy="4752528"/>
          </a:xfrm>
          <a:prstGeom prst="rect">
            <a:avLst/>
          </a:prstGeom>
        </p:spPr>
      </p:pic>
    </p:spTree>
    <p:extLst>
      <p:ext uri="{BB962C8B-B14F-4D97-AF65-F5344CB8AC3E}">
        <p14:creationId xmlns:p14="http://schemas.microsoft.com/office/powerpoint/2010/main" val="1899072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88E16-C86C-D422-B6FA-11821E38324A}"/>
              </a:ext>
            </a:extLst>
          </p:cNvPr>
          <p:cNvSpPr>
            <a:spLocks noGrp="1"/>
          </p:cNvSpPr>
          <p:nvPr>
            <p:ph type="title"/>
          </p:nvPr>
        </p:nvSpPr>
        <p:spPr>
          <a:xfrm>
            <a:off x="1443491" y="804520"/>
            <a:ext cx="6571343" cy="4712712"/>
          </a:xfrm>
        </p:spPr>
        <p:txBody>
          <a:bodyPr>
            <a:normAutofit fontScale="90000"/>
          </a:bodyPr>
          <a:lstStyle/>
          <a:p>
            <a:r>
              <a:rPr lang="en-US" b="1" cap="none" dirty="0"/>
              <a:t>Levels Of Testing :</a:t>
            </a:r>
            <a:br>
              <a:rPr lang="en-US" b="1" cap="none" dirty="0"/>
            </a:br>
            <a:br>
              <a:rPr lang="en-US" b="1" cap="none" dirty="0"/>
            </a:br>
            <a:br>
              <a:rPr lang="en-US" b="1" cap="none" dirty="0"/>
            </a:br>
            <a:r>
              <a:rPr lang="en-US" cap="none" dirty="0"/>
              <a:t>Unit testing validates individual methods. </a:t>
            </a:r>
            <a:br>
              <a:rPr lang="en-US" cap="none" dirty="0"/>
            </a:br>
            <a:r>
              <a:rPr lang="en-US" cap="none" dirty="0"/>
              <a:t>Integration testing verifies interaction between modules. </a:t>
            </a:r>
            <a:br>
              <a:rPr lang="en-US" cap="none" dirty="0"/>
            </a:br>
            <a:r>
              <a:rPr lang="en-US" cap="none" dirty="0"/>
              <a:t>System testing checks the entire application.</a:t>
            </a:r>
            <a:br>
              <a:rPr lang="en-US" cap="none" dirty="0"/>
            </a:br>
            <a:r>
              <a:rPr lang="en-US" cap="none" dirty="0"/>
              <a:t>Acceptance Testing checks if the software has delivered its purpose.</a:t>
            </a:r>
            <a:br>
              <a:rPr lang="en-US" cap="none" dirty="0"/>
            </a:br>
            <a:endParaRPr lang="en-IN" cap="none" dirty="0"/>
          </a:p>
        </p:txBody>
      </p:sp>
    </p:spTree>
    <p:extLst>
      <p:ext uri="{BB962C8B-B14F-4D97-AF65-F5344CB8AC3E}">
        <p14:creationId xmlns:p14="http://schemas.microsoft.com/office/powerpoint/2010/main" val="3833238041"/>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834</TotalTime>
  <Words>1458</Words>
  <Application>Microsoft Office PowerPoint</Application>
  <PresentationFormat>On-screen Show (4:3)</PresentationFormat>
  <Paragraphs>154</Paragraphs>
  <Slides>31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31</vt:i4>
      </vt:variant>
    </vt:vector>
  </HeadingPairs>
  <TitlesOfParts>
    <vt:vector size="35" baseType="lpstr">
      <vt:lpstr>Arial</vt:lpstr>
      <vt:lpstr>Calibri</vt:lpstr>
      <vt:lpstr>Gill Sans MT</vt:lpstr>
      <vt:lpstr>Gallery</vt:lpstr>
      <vt:lpstr>Software Testing Fundamentals and Testing Levels</vt:lpstr>
      <vt:lpstr>Introduction to Software Testing</vt:lpstr>
      <vt:lpstr>Objectives of Software Testing</vt:lpstr>
      <vt:lpstr>Need for software testing</vt:lpstr>
      <vt:lpstr>Software Testing Process</vt:lpstr>
      <vt:lpstr>Software Testing Process</vt:lpstr>
      <vt:lpstr>Software Testing Process</vt:lpstr>
      <vt:lpstr>Software Testing Process</vt:lpstr>
      <vt:lpstr>Software Testing Process</vt:lpstr>
      <vt:lpstr>Software Testing Process</vt:lpstr>
      <vt:lpstr>Software Testing Process</vt:lpstr>
      <vt:lpstr>Software Testing Process</vt:lpstr>
      <vt:lpstr>Software Testing Process</vt:lpstr>
      <vt:lpstr>Software Testing Process</vt:lpstr>
      <vt:lpstr>Software Testing Process</vt:lpstr>
      <vt:lpstr>Software Testing Process</vt:lpstr>
      <vt:lpstr>Testing Principles</vt:lpstr>
      <vt:lpstr>Advantages of testing</vt:lpstr>
      <vt:lpstr>Levels of Software Testing</vt:lpstr>
      <vt:lpstr>Unit Testing</vt:lpstr>
      <vt:lpstr>Unit Testing</vt:lpstr>
      <vt:lpstr>Unit Testing Diagram</vt:lpstr>
      <vt:lpstr>Integration Testing</vt:lpstr>
      <vt:lpstr>Integration Testing Strategies</vt:lpstr>
      <vt:lpstr>Integration Testing Strategies</vt:lpstr>
      <vt:lpstr>Integration Testing Strategies</vt:lpstr>
      <vt:lpstr>System Testing</vt:lpstr>
      <vt:lpstr>System Testing Overview</vt:lpstr>
      <vt:lpstr>Acceptance  Testing</vt:lpstr>
      <vt:lpstr>Comparison of various testing levels</vt:lpstr>
      <vt:lpstr>Levels Of Testing :   Unit testing validates individual methods.  Integration testing verifies interaction between modules.  System testing checks the entire application. Acceptance Testing checks if the software has delivered its purpose.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shabari</dc:creator>
  <cp:lastModifiedBy>Premitha Kamath</cp:lastModifiedBy>
  <cp:revision>85</cp:revision>
  <dcterms:created xsi:type="dcterms:W3CDTF">2019-03-20T10:33:15Z</dcterms:created>
  <dcterms:modified xsi:type="dcterms:W3CDTF">2026-04-27T07:16:03Z</dcterms:modified>
</cp:coreProperties>
</file>