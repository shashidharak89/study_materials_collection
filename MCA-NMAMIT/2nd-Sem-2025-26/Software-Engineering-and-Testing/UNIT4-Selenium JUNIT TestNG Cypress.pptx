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6" r:id="rId3"/>
    <p:sldId id="277" r:id="rId4"/>
    <p:sldId id="305" r:id="rId5"/>
    <p:sldId id="393" r:id="rId6"/>
    <p:sldId id="289" r:id="rId7"/>
    <p:sldId id="306" r:id="rId8"/>
    <p:sldId id="397" r:id="rId9"/>
    <p:sldId id="395" r:id="rId10"/>
    <p:sldId id="396" r:id="rId11"/>
    <p:sldId id="400" r:id="rId12"/>
    <p:sldId id="398" r:id="rId13"/>
    <p:sldId id="399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311" r:id="rId25"/>
    <p:sldId id="411" r:id="rId26"/>
    <p:sldId id="310" r:id="rId27"/>
    <p:sldId id="307" r:id="rId28"/>
    <p:sldId id="262" r:id="rId29"/>
    <p:sldId id="265" r:id="rId30"/>
    <p:sldId id="267" r:id="rId31"/>
    <p:sldId id="269" r:id="rId32"/>
    <p:sldId id="271" r:id="rId33"/>
    <p:sldId id="394" r:id="rId34"/>
    <p:sldId id="274" r:id="rId35"/>
    <p:sldId id="278" r:id="rId36"/>
    <p:sldId id="279" r:id="rId37"/>
    <p:sldId id="412" r:id="rId38"/>
    <p:sldId id="282" r:id="rId39"/>
    <p:sldId id="284" r:id="rId40"/>
    <p:sldId id="286" r:id="rId41"/>
    <p:sldId id="288" r:id="rId42"/>
    <p:sldId id="304" r:id="rId43"/>
    <p:sldId id="413" r:id="rId44"/>
    <p:sldId id="293" r:id="rId45"/>
    <p:sldId id="294" r:id="rId46"/>
    <p:sldId id="296" r:id="rId47"/>
    <p:sldId id="297" r:id="rId48"/>
    <p:sldId id="298" r:id="rId49"/>
    <p:sldId id="392" r:id="rId50"/>
    <p:sldId id="303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00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10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6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97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2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6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7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85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7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5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31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5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922513"/>
          </a:xfrm>
        </p:spPr>
        <p:txBody>
          <a:bodyPr>
            <a:normAutofit/>
          </a:bodyPr>
          <a:lstStyle/>
          <a:p>
            <a:r>
              <a:rPr lang="en-IN" cap="none" dirty="0"/>
              <a:t>Automated Testing Tools</a:t>
            </a:r>
            <a:br>
              <a:rPr lang="en-US" dirty="0"/>
            </a:br>
            <a:r>
              <a:rPr lang="en-US" cap="none" dirty="0"/>
              <a:t>Selenium,</a:t>
            </a:r>
            <a:r>
              <a:rPr lang="en-IN" cap="none" dirty="0"/>
              <a:t>JUnit, TestNG And Cypress</a:t>
            </a:r>
            <a:br>
              <a:rPr lang="en-IN" cap="none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4F8CF-8D49-41C1-9B2E-5DD4C535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automation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F550-30B2-4864-961A-C7739C4F5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Manual testing is performed by a human sitting in front of a computer carefully executing the test steps.  Automation Testing means using an automation tool to execute your test case suite. </a:t>
            </a:r>
          </a:p>
          <a:p>
            <a:pPr algn="just"/>
            <a:r>
              <a:rPr lang="en-US" dirty="0"/>
              <a:t>The automation software can also enter test data into the system under test, compare expected and actual results and generate detailed test reports</a:t>
            </a:r>
          </a:p>
          <a:p>
            <a:pPr algn="just"/>
            <a:r>
              <a:rPr lang="en-US" dirty="0"/>
              <a:t>Using a test automation tool, it's possible to record this test suite and re-play it as required. </a:t>
            </a:r>
          </a:p>
          <a:p>
            <a:pPr algn="just"/>
            <a:r>
              <a:rPr lang="en-US" dirty="0"/>
              <a:t>The goal of Automation is to reduce the number of test cases to be run manually and not to eliminate manual testing altogether.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45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64CD-F4EF-4576-A4F2-E95EB0D1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automation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D526-9536-42C7-A423-2FFBD84D9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Manual Testing of all workflows, all fields, and all negative scenarios is time and money consuming. </a:t>
            </a:r>
          </a:p>
          <a:p>
            <a:pPr algn="just"/>
            <a:r>
              <a:rPr lang="en-US" dirty="0"/>
              <a:t> It is difficult to test for multilingual sites manually. </a:t>
            </a:r>
          </a:p>
          <a:p>
            <a:pPr algn="just"/>
            <a:r>
              <a:rPr lang="en-US" dirty="0"/>
              <a:t>Automation does not require Human intervention. </a:t>
            </a:r>
          </a:p>
          <a:p>
            <a:pPr algn="just"/>
            <a:r>
              <a:rPr lang="en-US" dirty="0"/>
              <a:t> Automation increases the speed of test execution. </a:t>
            </a:r>
          </a:p>
          <a:p>
            <a:pPr algn="just"/>
            <a:r>
              <a:rPr lang="en-US" dirty="0"/>
              <a:t> Automation helps increase test coverage. </a:t>
            </a:r>
          </a:p>
          <a:p>
            <a:pPr algn="just"/>
            <a:r>
              <a:rPr lang="en-US" dirty="0"/>
              <a:t> Manual Testing can become boring and hence error-prone.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42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872-EA6B-0948-9B9E-FF17B32A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 to Selenium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B6CDA-BA06-CCCA-4F71-41782A35A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Selenium is an </a:t>
            </a:r>
            <a:r>
              <a:rPr lang="en-US" b="1" dirty="0"/>
              <a:t>open-source automation testing tool</a:t>
            </a:r>
            <a:r>
              <a:rPr lang="en-US" dirty="0"/>
              <a:t> </a:t>
            </a:r>
          </a:p>
          <a:p>
            <a:r>
              <a:rPr lang="en-US" dirty="0"/>
              <a:t>Used for </a:t>
            </a:r>
            <a:r>
              <a:rPr lang="en-US" b="1" dirty="0"/>
              <a:t>testing web applications</a:t>
            </a:r>
            <a:r>
              <a:rPr lang="en-US" dirty="0"/>
              <a:t> </a:t>
            </a:r>
          </a:p>
          <a:p>
            <a:r>
              <a:rPr lang="en-US" dirty="0"/>
              <a:t>Supports multiple browsers(</a:t>
            </a:r>
            <a:r>
              <a:rPr lang="en-IN" dirty="0"/>
              <a:t>Chrome, Firefox, Edge, Safari)</a:t>
            </a:r>
            <a:r>
              <a:rPr lang="en-US" dirty="0"/>
              <a:t> and platforms (</a:t>
            </a:r>
            <a:r>
              <a:rPr lang="en-IN" dirty="0"/>
              <a:t>Windows, Mac, Linux)</a:t>
            </a:r>
            <a:endParaRPr lang="en-US" dirty="0"/>
          </a:p>
          <a:p>
            <a:r>
              <a:rPr lang="en-US" dirty="0"/>
              <a:t>Widely used in </a:t>
            </a:r>
            <a:r>
              <a:rPr lang="en-US" b="1" dirty="0"/>
              <a:t>software testing industry</a:t>
            </a:r>
          </a:p>
          <a:p>
            <a:r>
              <a:rPr lang="en-US" dirty="0"/>
              <a:t>Basic Selenium actions are click, type, and navigate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01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3078-9562-AC51-0E18-EC83BFA5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Selenium?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28C55-1B10-801B-DE92-464362894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Automates repetitive testing tasks (Regression Testing)</a:t>
            </a:r>
          </a:p>
          <a:p>
            <a:r>
              <a:rPr lang="en-US" dirty="0"/>
              <a:t>Saves time and effort </a:t>
            </a:r>
          </a:p>
          <a:p>
            <a:r>
              <a:rPr lang="en-US" dirty="0"/>
              <a:t>Supports cross-browser testing </a:t>
            </a:r>
          </a:p>
          <a:p>
            <a:r>
              <a:rPr lang="en-US" dirty="0"/>
              <a:t>Integrates with CI/CD tools </a:t>
            </a:r>
          </a:p>
          <a:p>
            <a:r>
              <a:rPr lang="en-US" dirty="0"/>
              <a:t>Cost-effective (open source)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30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79AB-D200-4B24-897A-60638144C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Using Selenium Web driver for automation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7448-B5FF-4871-AEBB-3AC9081B4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1 – Download and install the Java Software Development Kit (JDK). </a:t>
            </a:r>
          </a:p>
          <a:p>
            <a:r>
              <a:rPr lang="en-IN" dirty="0"/>
              <a:t>Step 2 – Download and install Eclipse IDE. </a:t>
            </a:r>
          </a:p>
          <a:p>
            <a:r>
              <a:rPr lang="en-IN" dirty="0"/>
              <a:t>Step 3 - Download the Selenium Java client driver. Client driver is also available for other languages. </a:t>
            </a:r>
          </a:p>
          <a:p>
            <a:r>
              <a:rPr lang="en-IN" dirty="0"/>
              <a:t>Step 4 - Configure Eclipse IDE with client driver. </a:t>
            </a:r>
          </a:p>
        </p:txBody>
      </p:sp>
    </p:spTree>
    <p:extLst>
      <p:ext uri="{BB962C8B-B14F-4D97-AF65-F5344CB8AC3E}">
        <p14:creationId xmlns:p14="http://schemas.microsoft.com/office/powerpoint/2010/main" val="3238948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F58F-B425-9CF7-4A08-EED6A12E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Components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AFC2F-2346-C1EF-4501-F5831844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Selenium IDE</a:t>
            </a:r>
            <a:r>
              <a:rPr lang="en-IN" dirty="0"/>
              <a:t> – Record &amp; playback </a:t>
            </a:r>
          </a:p>
          <a:p>
            <a:r>
              <a:rPr lang="en-IN" b="1" dirty="0"/>
              <a:t>Selenium WebDriver</a:t>
            </a:r>
            <a:r>
              <a:rPr lang="en-IN" dirty="0"/>
              <a:t> – Core automation tool </a:t>
            </a:r>
          </a:p>
          <a:p>
            <a:r>
              <a:rPr lang="en-IN" b="1" dirty="0"/>
              <a:t>Selenium Grid</a:t>
            </a:r>
            <a:r>
              <a:rPr lang="en-IN" dirty="0"/>
              <a:t> – Parallel testing </a:t>
            </a:r>
          </a:p>
          <a:p>
            <a:r>
              <a:rPr lang="en-IN" dirty="0"/>
              <a:t>Each component serves different testing needs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48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D24B-1D22-E314-22FE-AF7CB8B0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9912-7A24-695A-0E57-17F37EEF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IDE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4823-EE54-9DE2-00AF-5ED49CB0B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3826599" cy="39327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Selenium IDE is the </a:t>
            </a:r>
            <a:r>
              <a:rPr lang="en-US" b="1" dirty="0"/>
              <a:t>simplest and most beginner-friendly</a:t>
            </a:r>
            <a:r>
              <a:rPr lang="en-US" dirty="0"/>
              <a:t> component. It is a </a:t>
            </a:r>
            <a:r>
              <a:rPr lang="en-US" b="1" dirty="0"/>
              <a:t>browser extension</a:t>
            </a:r>
            <a:r>
              <a:rPr lang="en-US" dirty="0"/>
              <a:t> (like an add-on) that you install in Chrome or Firefox.</a:t>
            </a:r>
          </a:p>
          <a:p>
            <a:r>
              <a:rPr lang="en-US" dirty="0"/>
              <a:t>It works like a </a:t>
            </a:r>
            <a:r>
              <a:rPr lang="en-US" b="1" dirty="0"/>
              <a:t>screen recorder, </a:t>
            </a:r>
            <a:r>
              <a:rPr lang="en-US" dirty="0"/>
              <a:t>but instead of recording video, it records your </a:t>
            </a:r>
            <a:r>
              <a:rPr lang="en-US" b="1" dirty="0"/>
              <a:t>actions</a:t>
            </a:r>
            <a:r>
              <a:rPr lang="en-US" dirty="0"/>
              <a:t> on a website and converts them into a reusable test script.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A4031-F236-BD3D-CAC7-8818183D4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071" y="1853755"/>
            <a:ext cx="3578020" cy="423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5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D908-87E1-578E-E1F0-F510D13B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Selenium IDE Commands</a:t>
            </a:r>
            <a:endParaRPr lang="en-IN" cap="non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66F07A-294F-72CD-CDCE-D3485876F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558" y="2016125"/>
            <a:ext cx="650327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0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6E69C-D74F-589F-97FC-95DFA2A72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Continued…</a:t>
            </a:r>
            <a:endParaRPr lang="en-IN" cap="non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AE99B2-17B0-1390-67FB-A02C0AE44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490" y="2016125"/>
            <a:ext cx="6571343" cy="370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EA57-AC19-D7D8-0585-378C0D79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3C678-B6AB-A3C0-2D6F-72CE7EAE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Example: Testing an E-commerce Checkout</a:t>
            </a:r>
            <a:endParaRPr lang="en-IN" cap="non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6D0EB-A7A5-7B6F-43B8-97E8D771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2022906"/>
            <a:ext cx="6164131" cy="476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2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D8A56-4BE3-D704-3DC8-9B193609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16F9-24A8-678D-B314-5C4D5EED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IDE 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1B29-89B7-92B8-CA30-FCC0ADC15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727115" cy="3932783"/>
          </a:xfrm>
        </p:spPr>
        <p:txBody>
          <a:bodyPr>
            <a:normAutofit/>
          </a:bodyPr>
          <a:lstStyle/>
          <a:p>
            <a:r>
              <a:rPr lang="en-US" dirty="0"/>
              <a:t>Fragile- breaks when website changes</a:t>
            </a:r>
          </a:p>
          <a:p>
            <a:r>
              <a:rPr lang="en-US" dirty="0"/>
              <a:t>Only works in Chrome and Firefox</a:t>
            </a:r>
          </a:p>
          <a:p>
            <a:r>
              <a:rPr lang="en-IN" dirty="0"/>
              <a:t>No parallel execution</a:t>
            </a:r>
          </a:p>
          <a:p>
            <a:r>
              <a:rPr lang="en-IN" dirty="0"/>
              <a:t>Cannot handle complex logic such as :</a:t>
            </a:r>
          </a:p>
          <a:p>
            <a:pPr lvl="1"/>
            <a:r>
              <a:rPr lang="en-US" dirty="0"/>
              <a:t>- "If the item is out of stock, test the waitlist button instead" </a:t>
            </a:r>
          </a:p>
          <a:p>
            <a:pPr lvl="1"/>
            <a:r>
              <a:rPr lang="en-US" dirty="0"/>
              <a:t>- "Run this test 100 times with different data" </a:t>
            </a:r>
          </a:p>
          <a:p>
            <a:pPr lvl="1"/>
            <a:r>
              <a:rPr lang="en-US" dirty="0"/>
              <a:t>- "If step 3 fails, skip to step 7" </a:t>
            </a:r>
          </a:p>
          <a:p>
            <a:pPr marL="457200" lvl="1" indent="0">
              <a:buNone/>
            </a:pPr>
            <a:r>
              <a:rPr lang="en-US" dirty="0"/>
              <a:t>These require actual programming, which is where WebDriver comes in.</a:t>
            </a:r>
          </a:p>
        </p:txBody>
      </p:sp>
    </p:spTree>
    <p:extLst>
      <p:ext uri="{BB962C8B-B14F-4D97-AF65-F5344CB8AC3E}">
        <p14:creationId xmlns:p14="http://schemas.microsoft.com/office/powerpoint/2010/main" val="730177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1A2A-E8C6-AA6A-644D-9B09417A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16EE-DBA1-E803-CB12-EDE70DB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F9F1B-4CBD-4C52-FF95-96B56C21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3932783"/>
          </a:xfrm>
        </p:spPr>
        <p:txBody>
          <a:bodyPr>
            <a:normAutofit/>
          </a:bodyPr>
          <a:lstStyle/>
          <a:p>
            <a:r>
              <a:rPr lang="en-US" dirty="0"/>
              <a:t>WebDriver is the </a:t>
            </a:r>
            <a:r>
              <a:rPr lang="en-US" b="1" dirty="0"/>
              <a:t>heart of Selenium-</a:t>
            </a:r>
            <a:r>
              <a:rPr lang="en-US" dirty="0"/>
              <a:t> the most powerful and widely used component. Unlike Selenium IDE (which records clicks), WebDriver requires you to </a:t>
            </a:r>
            <a:r>
              <a:rPr lang="en-US" b="1" dirty="0"/>
              <a:t>write actual code</a:t>
            </a:r>
            <a:r>
              <a:rPr lang="en-US" dirty="0"/>
              <a:t> that directly controls the browser. </a:t>
            </a:r>
          </a:p>
          <a:p>
            <a:r>
              <a:rPr lang="en-US" dirty="0"/>
              <a:t>It is a </a:t>
            </a:r>
            <a:r>
              <a:rPr lang="en-US" b="1" dirty="0"/>
              <a:t>programming interface,</a:t>
            </a:r>
            <a:r>
              <a:rPr lang="en-US" dirty="0"/>
              <a:t> a set of tools and commands, that lets your code talk directly to a browser and control it completely.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055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C0EC-ABF6-65DE-7E96-18BF61EB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2E841-C418-D053-C283-C24BC299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 COMMANDS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BB3EC9-6612-9C67-A5FD-CD12B94A7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Read WebDriver Commands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6970AD-F11B-C832-B452-D4D9F18FF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2843130"/>
            <a:ext cx="7006299" cy="14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61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4D29-1B47-4685-3BEF-39CED021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F8EA-2A7E-ACBC-2F78-EC0951B6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 COMMANDS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FB1C66-CC5B-4487-DBAA-1DBE2971B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Open: </a:t>
            </a:r>
          </a:p>
          <a:p>
            <a:r>
              <a:rPr lang="en-IN" dirty="0"/>
              <a:t>Selenium IDE:   open | https://example.com // Selenium WebDriver:     </a:t>
            </a:r>
            <a:r>
              <a:rPr lang="en-IN" dirty="0" err="1"/>
              <a:t>driver.get</a:t>
            </a:r>
            <a:r>
              <a:rPr lang="en-IN" dirty="0"/>
              <a:t>("https://example.com");</a:t>
            </a:r>
          </a:p>
          <a:p>
            <a:r>
              <a:rPr lang="en-IN" b="1" dirty="0"/>
              <a:t>Set window size: </a:t>
            </a:r>
          </a:p>
          <a:p>
            <a:r>
              <a:rPr lang="en-IN" dirty="0"/>
              <a:t>Selenium IDE: set window size | 1024x768 </a:t>
            </a:r>
          </a:p>
          <a:p>
            <a:r>
              <a:rPr lang="en-IN" dirty="0"/>
              <a:t>Selenium WebDriver: </a:t>
            </a:r>
            <a:r>
              <a:rPr lang="en-IN" dirty="0" err="1"/>
              <a:t>driver.manage</a:t>
            </a:r>
            <a:r>
              <a:rPr lang="en-IN" dirty="0"/>
              <a:t>().window().</a:t>
            </a:r>
            <a:r>
              <a:rPr lang="en-IN" dirty="0" err="1"/>
              <a:t>setSize</a:t>
            </a:r>
            <a:r>
              <a:rPr lang="en-IN" dirty="0"/>
              <a:t>(new Dimension(1024, 768));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21211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E67C-2AD9-6101-9FFA-26522AB6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C122-4CF6-3471-9723-B51D795C1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 COMMANDS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33AE23-FBB6-A9DB-801A-E8D2C7AD0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Type:</a:t>
            </a:r>
          </a:p>
          <a:p>
            <a:r>
              <a:rPr lang="en-IN" dirty="0"/>
              <a:t>Selenium IDE:            type | id=username | admin </a:t>
            </a:r>
          </a:p>
          <a:p>
            <a:r>
              <a:rPr lang="en-IN" dirty="0"/>
              <a:t>Selenium WebDriver: </a:t>
            </a:r>
            <a:r>
              <a:rPr lang="en-IN" dirty="0" err="1"/>
              <a:t>driver.findElement</a:t>
            </a:r>
            <a:r>
              <a:rPr lang="en-IN" dirty="0"/>
              <a:t>(By.id("username")).</a:t>
            </a:r>
            <a:r>
              <a:rPr lang="en-IN" dirty="0" err="1"/>
              <a:t>sendKeys</a:t>
            </a:r>
            <a:r>
              <a:rPr lang="en-IN" dirty="0"/>
              <a:t>("admin");</a:t>
            </a:r>
          </a:p>
          <a:p>
            <a:r>
              <a:rPr lang="en-IN" b="1" dirty="0"/>
              <a:t> Click : </a:t>
            </a:r>
          </a:p>
          <a:p>
            <a:r>
              <a:rPr lang="en-IN" dirty="0"/>
              <a:t>Selenium IDE: click | id=</a:t>
            </a:r>
            <a:r>
              <a:rPr lang="en-IN" dirty="0" err="1"/>
              <a:t>loginBtn</a:t>
            </a:r>
            <a:r>
              <a:rPr lang="en-IN" dirty="0"/>
              <a:t> </a:t>
            </a:r>
          </a:p>
          <a:p>
            <a:r>
              <a:rPr lang="en-IN" dirty="0"/>
              <a:t>Selenium WebDriver: </a:t>
            </a:r>
            <a:r>
              <a:rPr lang="en-IN" dirty="0" err="1"/>
              <a:t>driver.findElement</a:t>
            </a:r>
            <a:r>
              <a:rPr lang="en-IN" dirty="0"/>
              <a:t>(By.id("</a:t>
            </a:r>
            <a:r>
              <a:rPr lang="en-IN" dirty="0" err="1"/>
              <a:t>loginBtn</a:t>
            </a:r>
            <a:r>
              <a:rPr lang="en-IN" dirty="0"/>
              <a:t>")).click();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32984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BDEB-24E8-FB52-746F-88307838C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DCD6-1F1E-8587-717E-473A4E63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 COMMANDS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ECD355-C54A-FA9A-2774-3C03C9A02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Pause:</a:t>
            </a:r>
          </a:p>
          <a:p>
            <a:r>
              <a:rPr lang="en-IN" dirty="0"/>
              <a:t>Selenium IDE:   pause | 2000</a:t>
            </a:r>
          </a:p>
          <a:p>
            <a:r>
              <a:rPr lang="en-IN" dirty="0"/>
              <a:t>Selenium WebDriver: </a:t>
            </a:r>
            <a:r>
              <a:rPr lang="en-US" dirty="0" err="1"/>
              <a:t>Thread.sleep</a:t>
            </a:r>
            <a:r>
              <a:rPr lang="en-US" dirty="0"/>
              <a:t>(2000); // Wait 2 seconds </a:t>
            </a:r>
            <a:endParaRPr lang="en-IN" dirty="0"/>
          </a:p>
          <a:p>
            <a:r>
              <a:rPr lang="en-IN" b="1" dirty="0"/>
              <a:t> Assert title : </a:t>
            </a:r>
          </a:p>
          <a:p>
            <a:r>
              <a:rPr lang="en-IN" dirty="0"/>
              <a:t>Selenium IDE: assert title | Dashboard </a:t>
            </a:r>
          </a:p>
          <a:p>
            <a:r>
              <a:rPr lang="en-IN" dirty="0"/>
              <a:t>Selenium WebDriver: </a:t>
            </a:r>
            <a:r>
              <a:rPr lang="en-US" dirty="0" err="1"/>
              <a:t>assertTrue</a:t>
            </a:r>
            <a:r>
              <a:rPr lang="en-US" dirty="0"/>
              <a:t>(</a:t>
            </a:r>
            <a:r>
              <a:rPr lang="en-US" dirty="0" err="1"/>
              <a:t>driver.getTitle</a:t>
            </a:r>
            <a:r>
              <a:rPr lang="en-US" dirty="0"/>
              <a:t>().contains("Dashboard"));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23949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D25F-9327-B208-FCBA-4C0C12B6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AED7-EF77-AEBB-A40E-0BCABEE6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 COMMANDS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EB701B-CC6D-04B1-C992-F570A0150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Select (Dropdown) :</a:t>
            </a:r>
          </a:p>
          <a:p>
            <a:r>
              <a:rPr lang="en-IN" dirty="0"/>
              <a:t>Selenium IDE:    select | id=country | India </a:t>
            </a:r>
          </a:p>
          <a:p>
            <a:r>
              <a:rPr lang="en-IN" dirty="0"/>
              <a:t>Selenium WebDriver: </a:t>
            </a:r>
          </a:p>
          <a:p>
            <a:r>
              <a:rPr lang="en-US" dirty="0"/>
              <a:t>Select dropdown = new Select(</a:t>
            </a:r>
            <a:r>
              <a:rPr lang="en-US" dirty="0" err="1"/>
              <a:t>driver.findElement</a:t>
            </a:r>
            <a:r>
              <a:rPr lang="en-US" dirty="0"/>
              <a:t>(By.id("country")));</a:t>
            </a:r>
          </a:p>
          <a:p>
            <a:r>
              <a:rPr lang="en-IN" dirty="0" err="1"/>
              <a:t>dropdown.selectByVisibleText</a:t>
            </a:r>
            <a:r>
              <a:rPr lang="en-IN" dirty="0"/>
              <a:t>("India");</a:t>
            </a:r>
          </a:p>
          <a:p>
            <a:r>
              <a:rPr lang="en-IN" dirty="0" err="1"/>
              <a:t>dropdown.selectByValue</a:t>
            </a:r>
            <a:r>
              <a:rPr lang="en-IN" dirty="0"/>
              <a:t>("IN");</a:t>
            </a:r>
          </a:p>
          <a:p>
            <a:r>
              <a:rPr lang="en-IN" dirty="0" err="1"/>
              <a:t>dropdown.selectByIndex</a:t>
            </a:r>
            <a:r>
              <a:rPr lang="en-IN" dirty="0"/>
              <a:t>(0);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32161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17CDA-38BA-DD8A-0B92-2ACAA1C5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21BD-0EBA-1FE3-E4DD-62746DDC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 COMMANDS Example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63B936-5B45-2C29-0F3E-50226FB1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1853755"/>
            <a:ext cx="6117208" cy="490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15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AB6A-6C5B-4BE6-B675-8285F64B8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E545-D071-8B7A-F536-1DED12F1B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WebDriver 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3A77B-2AB0-60FF-1A39-58851FD86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727115" cy="3932783"/>
          </a:xfrm>
        </p:spPr>
        <p:txBody>
          <a:bodyPr>
            <a:normAutofit/>
          </a:bodyPr>
          <a:lstStyle/>
          <a:p>
            <a:r>
              <a:rPr lang="en-IN" dirty="0"/>
              <a:t>Requires </a:t>
            </a:r>
            <a:r>
              <a:rPr lang="en-IN" b="1" dirty="0"/>
              <a:t>programming knowledge</a:t>
            </a:r>
          </a:p>
          <a:p>
            <a:r>
              <a:rPr lang="en-US" b="1" dirty="0"/>
              <a:t>Slower setup- </a:t>
            </a:r>
            <a:r>
              <a:rPr lang="en-US" dirty="0"/>
              <a:t>More configuration needed compared to Selenium IDE.</a:t>
            </a:r>
          </a:p>
          <a:p>
            <a:r>
              <a:rPr lang="en-US" b="1" dirty="0"/>
              <a:t>Tests can be brittle- </a:t>
            </a:r>
            <a:r>
              <a:rPr lang="en-US" dirty="0"/>
              <a:t>If website structure changes, tests break and need code fixes.</a:t>
            </a:r>
          </a:p>
          <a:p>
            <a:r>
              <a:rPr lang="en-IN" b="1" dirty="0"/>
              <a:t>No built-in reporting </a:t>
            </a:r>
            <a:r>
              <a:rPr lang="en-IN" dirty="0"/>
              <a:t>-</a:t>
            </a:r>
            <a:r>
              <a:rPr lang="en-US" dirty="0"/>
              <a:t> Need extra libraries (</a:t>
            </a:r>
            <a:r>
              <a:rPr lang="en-US" dirty="0" err="1"/>
              <a:t>ExtentReports</a:t>
            </a:r>
            <a:r>
              <a:rPr lang="en-US" dirty="0"/>
              <a:t>, Allure) for nice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4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CC5C-D1A0-437A-FA67-D2FE0DCE5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0463-52C8-13BD-C022-3ABBE0C5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GRID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9D915-50BE-7FAC-495A-AADCE67A2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1" y="2015733"/>
            <a:ext cx="3228966" cy="3932783"/>
          </a:xfrm>
        </p:spPr>
        <p:txBody>
          <a:bodyPr>
            <a:normAutofit/>
          </a:bodyPr>
          <a:lstStyle/>
          <a:p>
            <a:r>
              <a:rPr lang="en-US" dirty="0"/>
              <a:t>Selenium Grid is a tool that allows you to run </a:t>
            </a:r>
            <a:r>
              <a:rPr lang="en-US" b="1" dirty="0"/>
              <a:t>multiple tests simultaneously</a:t>
            </a:r>
            <a:r>
              <a:rPr lang="en-US" dirty="0"/>
              <a:t> across </a:t>
            </a:r>
            <a:r>
              <a:rPr lang="en-US" b="1" dirty="0"/>
              <a:t>multiple browsers, operating systems, and machines- </a:t>
            </a:r>
            <a:r>
              <a:rPr lang="en-US" dirty="0"/>
              <a:t>all at the same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C6A1A-1E4B-E245-A011-4403E919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837" y="2196285"/>
            <a:ext cx="4534533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38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48892-DC7C-3F7A-3753-4019CE98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9644-2C42-4531-F2E5-7C928BB4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0" y="492361"/>
            <a:ext cx="6571343" cy="1049235"/>
          </a:xfrm>
        </p:spPr>
        <p:txBody>
          <a:bodyPr/>
          <a:lstStyle/>
          <a:p>
            <a:r>
              <a:rPr lang="en-IN" b="1" dirty="0"/>
              <a:t>Selenium GRID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61197-1886-B0C9-86A6-EE10C018D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1" y="2015733"/>
            <a:ext cx="7000568" cy="1199415"/>
          </a:xfrm>
        </p:spPr>
        <p:txBody>
          <a:bodyPr>
            <a:normAutofit/>
          </a:bodyPr>
          <a:lstStyle/>
          <a:p>
            <a:r>
              <a:rPr lang="en-US" b="1" dirty="0"/>
              <a:t>Without Grid: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6FE3EF-9A6C-DD3B-9434-790DAB1B71CC}"/>
              </a:ext>
            </a:extLst>
          </p:cNvPr>
          <p:cNvSpPr txBox="1">
            <a:spLocks/>
          </p:cNvSpPr>
          <p:nvPr/>
        </p:nvSpPr>
        <p:spPr>
          <a:xfrm>
            <a:off x="1443490" y="1016978"/>
            <a:ext cx="6785956" cy="1199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Scenario:</a:t>
            </a:r>
            <a:r>
              <a:rPr lang="en-US" sz="1600" dirty="0"/>
              <a:t> A bank releases an update to their internet banking website. It must work perfectly on every browser and OS their customers use.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0A885-A49B-DC6E-CE49-2A71B02B8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965" y="2015733"/>
            <a:ext cx="5111100" cy="224208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A879C0-6FD3-BB03-C0BA-3A129B4602C1}"/>
              </a:ext>
            </a:extLst>
          </p:cNvPr>
          <p:cNvSpPr txBox="1">
            <a:spLocks/>
          </p:cNvSpPr>
          <p:nvPr/>
        </p:nvSpPr>
        <p:spPr>
          <a:xfrm>
            <a:off x="1179871" y="4400056"/>
            <a:ext cx="7000568" cy="1199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With Grid: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0A1E06-3869-5B0A-0C3D-313A3299F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462" y="4400056"/>
            <a:ext cx="3480951" cy="237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03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BE7C-8E76-EC65-A3F8-41F43CB1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B894-47D7-9BD6-9780-3BE7D548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Grid 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B5F7-3D66-FA3D-0C1E-BD67926D7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727115" cy="3932783"/>
          </a:xfrm>
        </p:spPr>
        <p:txBody>
          <a:bodyPr>
            <a:normAutofit/>
          </a:bodyPr>
          <a:lstStyle/>
          <a:p>
            <a:r>
              <a:rPr lang="en-IN" b="1" dirty="0"/>
              <a:t>Complex setup </a:t>
            </a:r>
            <a:r>
              <a:rPr lang="en-IN" dirty="0"/>
              <a:t>- Requires multiple machines, network configuration, maintenance.</a:t>
            </a:r>
          </a:p>
          <a:p>
            <a:r>
              <a:rPr lang="en-IN" b="1" dirty="0"/>
              <a:t>Network dependency- </a:t>
            </a:r>
            <a:r>
              <a:rPr lang="en-US" dirty="0"/>
              <a:t>If network between Hub and Node is slow, tests slow down.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i="1" dirty="0"/>
              <a:t>Cloud-based Grids like</a:t>
            </a:r>
            <a:r>
              <a:rPr lang="en-US" sz="1800" b="1" i="1" dirty="0"/>
              <a:t> </a:t>
            </a:r>
            <a:r>
              <a:rPr lang="en-US" sz="1800" b="1" i="1" dirty="0" err="1"/>
              <a:t>BrowserStack</a:t>
            </a:r>
            <a:r>
              <a:rPr lang="en-US" sz="1800" b="1" i="1" dirty="0"/>
              <a:t> </a:t>
            </a:r>
            <a:r>
              <a:rPr lang="en-US" sz="1800" i="1" dirty="0"/>
              <a:t>and </a:t>
            </a:r>
            <a:r>
              <a:rPr lang="en-US" sz="1800" b="1" i="1" dirty="0"/>
              <a:t>Sauce Labs </a:t>
            </a:r>
            <a:r>
              <a:rPr lang="en-US" sz="1800" i="1" dirty="0"/>
              <a:t>give you hundreds of </a:t>
            </a:r>
            <a:r>
              <a:rPr lang="en-US" sz="1800" b="1" i="1" dirty="0"/>
              <a:t>browser/OS combinations in</a:t>
            </a:r>
            <a:r>
              <a:rPr lang="en-US" sz="1800" i="1" dirty="0"/>
              <a:t> the </a:t>
            </a:r>
            <a:r>
              <a:rPr lang="en-US" sz="1800" b="1" i="1" dirty="0"/>
              <a:t>cloud- no setup, no maintenance, just connect and test.</a:t>
            </a:r>
          </a:p>
        </p:txBody>
      </p:sp>
    </p:spTree>
    <p:extLst>
      <p:ext uri="{BB962C8B-B14F-4D97-AF65-F5344CB8AC3E}">
        <p14:creationId xmlns:p14="http://schemas.microsoft.com/office/powerpoint/2010/main" val="2823286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13B8-6FC1-E5CA-D2C0-AD6E29C1F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3" y="804520"/>
            <a:ext cx="6745871" cy="1049235"/>
          </a:xfrm>
        </p:spPr>
        <p:txBody>
          <a:bodyPr/>
          <a:lstStyle/>
          <a:p>
            <a:r>
              <a:rPr lang="en-US" cap="none" dirty="0"/>
              <a:t>Features of Selenium</a:t>
            </a:r>
            <a:endParaRPr lang="en-IN" cap="non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2DC951-AA1B-7C6F-ABDC-D6D5DB06D6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3607" y="2771544"/>
            <a:ext cx="667122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Cross-Browser Testing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Executes tests on different browsers like Chrome, Firefox, and Edge.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Parallel Execution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Runs multiple tests simultaneously using Selenium Grid.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4443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158C-B28D-DD0D-5F22-00E36B5B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AFEF-E1BD-C952-92B7-979E1E1A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3" y="804520"/>
            <a:ext cx="6745871" cy="1049235"/>
          </a:xfrm>
        </p:spPr>
        <p:txBody>
          <a:bodyPr/>
          <a:lstStyle/>
          <a:p>
            <a:r>
              <a:rPr lang="en-US" cap="none" dirty="0"/>
              <a:t>Features of Selenium</a:t>
            </a:r>
            <a:endParaRPr lang="en-IN" cap="non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79A534-DFA9-C25F-E7D5-F14ADF436F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3607" y="1848216"/>
            <a:ext cx="667122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 Element Handling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Locates elements with changing attributes using XPath/CSS.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XPath: //button[contains(text(),'Submit')] This finds ANY button that says "Submit" — regardless of ID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Wait Mechanisms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Synchronizes test execution with page loading using waits.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CEF51-3617-3289-B1E6-F2940C02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23" y="2653084"/>
            <a:ext cx="3353268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66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980C-4F40-39C7-12A7-E008EE98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Continued…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00333-29A9-8EF6-D496-F63DC289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/>
              <a:t>Screenshot Capture</a:t>
            </a:r>
            <a:r>
              <a:rPr lang="en-US" altLang="en-US" dirty="0"/>
              <a:t> → Captures screenshots for debugging and reporting failures.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/>
              <a:t>Alert Handling</a:t>
            </a:r>
            <a:r>
              <a:rPr lang="en-US" altLang="en-US" dirty="0"/>
              <a:t> → Handles pop-ups and alerts (accept, dismiss, input).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/>
              <a:t>Data-Driven Testing</a:t>
            </a:r>
            <a:r>
              <a:rPr lang="en-US" altLang="en-US" dirty="0"/>
              <a:t> → Executes tests with multiple input datasets.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/>
              <a:t>Framework Integration</a:t>
            </a:r>
            <a:r>
              <a:rPr lang="en-US" altLang="en-US" dirty="0"/>
              <a:t> → Works with frameworks like TestNG and JUnit.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/>
              <a:t>Headless Testing</a:t>
            </a:r>
            <a:r>
              <a:rPr lang="en-US" altLang="en-US" dirty="0"/>
              <a:t> → Runs tests without opening the browser UI for faster execution.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756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BEE6-86C3-3C2E-B67B-55579AB5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&amp; Limitations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C35A-31DB-6DEF-A140-CDC5B0611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Open source </a:t>
            </a:r>
          </a:p>
          <a:p>
            <a:r>
              <a:rPr lang="en-US" dirty="0"/>
              <a:t>Flexible and powerful </a:t>
            </a:r>
          </a:p>
          <a:p>
            <a:r>
              <a:rPr lang="en-US" dirty="0"/>
              <a:t>Large community support </a:t>
            </a:r>
          </a:p>
          <a:p>
            <a:r>
              <a:rPr lang="en-US" b="1" dirty="0"/>
              <a:t>Limitations:</a:t>
            </a:r>
            <a:endParaRPr lang="en-US" dirty="0"/>
          </a:p>
          <a:p>
            <a:r>
              <a:rPr lang="en-US" dirty="0"/>
              <a:t>Only web applications </a:t>
            </a:r>
          </a:p>
          <a:p>
            <a:r>
              <a:rPr lang="en-US" dirty="0"/>
              <a:t>Requires programming knowledge </a:t>
            </a:r>
          </a:p>
          <a:p>
            <a:r>
              <a:rPr lang="en-US" dirty="0"/>
              <a:t>No built-in reporting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707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 of</a:t>
            </a:r>
            <a:r>
              <a:rPr lang="en-IN" dirty="0"/>
              <a:t> </a:t>
            </a:r>
            <a:r>
              <a:rPr lang="en-IN" cap="none" dirty="0"/>
              <a:t>JUnit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JUnit is one of the most widely used frameworks for unit testing Java applications. It allows developers to validate individual program components.</a:t>
            </a:r>
            <a:endParaRPr lang="en-US" dirty="0"/>
          </a:p>
          <a:p>
            <a:r>
              <a:rPr lang="en-US" dirty="0"/>
              <a:t>JUnit originated as a framework for automated Java unit testing and became a standard tool in test‑driven development environments.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587134"/>
          </a:xfrm>
        </p:spPr>
        <p:txBody>
          <a:bodyPr/>
          <a:lstStyle/>
          <a:p>
            <a:r>
              <a:rPr dirty="0"/>
              <a:t>Structure of a J</a:t>
            </a:r>
            <a:r>
              <a:rPr lang="en-IN" cap="none" dirty="0"/>
              <a:t>Unit</a:t>
            </a:r>
            <a:r>
              <a:rPr dirty="0"/>
              <a:t>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167" y="2015733"/>
            <a:ext cx="7445667" cy="3450613"/>
          </a:xfrm>
        </p:spPr>
        <p:txBody>
          <a:bodyPr/>
          <a:lstStyle/>
          <a:p>
            <a:r>
              <a:rPr dirty="0"/>
              <a:t>JUnit tests contain annotated Java methods that validate expected outputs using assertion methods.</a:t>
            </a:r>
            <a:r>
              <a:rPr lang="en-US" dirty="0"/>
              <a:t> Example :</a:t>
            </a:r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0D0B61-44B9-27A8-14BA-FD1867A449A4}"/>
              </a:ext>
            </a:extLst>
          </p:cNvPr>
          <p:cNvSpPr txBox="1">
            <a:spLocks/>
          </p:cNvSpPr>
          <p:nvPr/>
        </p:nvSpPr>
        <p:spPr>
          <a:xfrm>
            <a:off x="569167" y="2892489"/>
            <a:ext cx="7445667" cy="297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import </a:t>
            </a:r>
            <a:r>
              <a:rPr lang="en-IN" dirty="0" err="1"/>
              <a:t>org.junit.jupiter.api.Test</a:t>
            </a:r>
            <a:endParaRPr lang="en-IN" dirty="0"/>
          </a:p>
          <a:p>
            <a:r>
              <a:rPr lang="en-IN" dirty="0"/>
              <a:t>import static </a:t>
            </a:r>
            <a:r>
              <a:rPr lang="en-IN" dirty="0" err="1"/>
              <a:t>org.junit.jupiter.api.Assertions</a:t>
            </a:r>
            <a:r>
              <a:rPr lang="en-IN" dirty="0"/>
              <a:t>.*;</a:t>
            </a:r>
          </a:p>
          <a:p>
            <a:r>
              <a:rPr lang="en-IN" dirty="0"/>
              <a:t>@Test</a:t>
            </a:r>
          </a:p>
          <a:p>
            <a:r>
              <a:rPr lang="en-IN" dirty="0"/>
              <a:t>void </a:t>
            </a:r>
            <a:r>
              <a:rPr lang="en-IN" dirty="0" err="1"/>
              <a:t>testAddition</a:t>
            </a:r>
            <a:r>
              <a:rPr lang="en-IN" dirty="0"/>
              <a:t>(){</a:t>
            </a:r>
          </a:p>
          <a:p>
            <a:r>
              <a:rPr lang="en-IN" dirty="0"/>
              <a:t> int result = 5+3;</a:t>
            </a:r>
          </a:p>
          <a:p>
            <a:r>
              <a:rPr lang="en-IN" dirty="0"/>
              <a:t> </a:t>
            </a:r>
            <a:r>
              <a:rPr lang="en-IN" dirty="0" err="1"/>
              <a:t>assertEquals</a:t>
            </a:r>
            <a:r>
              <a:rPr lang="en-IN" dirty="0"/>
              <a:t>(8,result);</a:t>
            </a:r>
          </a:p>
          <a:p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JUnit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@Test identifies test methods. </a:t>
            </a:r>
            <a:endParaRPr lang="en-US" dirty="0"/>
          </a:p>
          <a:p>
            <a:pPr marL="0" indent="0">
              <a:buNone/>
            </a:pPr>
            <a:r>
              <a:rPr dirty="0"/>
              <a:t>@BeforeEach prepares environment before a test. </a:t>
            </a:r>
            <a:endParaRPr lang="en-US" dirty="0"/>
          </a:p>
          <a:p>
            <a:pPr marL="0" indent="0">
              <a:buNone/>
            </a:pPr>
            <a:r>
              <a:rPr dirty="0"/>
              <a:t>@AfterEach performs cleanup operations.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@BeforeAll executes once before all tests. @AfterAll executes once after test execution completes.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JUnit 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151" y="2015733"/>
            <a:ext cx="7389683" cy="345061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Assertions validate expected results. </a:t>
            </a:r>
            <a:endParaRPr lang="en-US" dirty="0"/>
          </a:p>
          <a:p>
            <a:r>
              <a:rPr dirty="0"/>
              <a:t>Common assertions include </a:t>
            </a:r>
            <a:r>
              <a:rPr dirty="0" err="1"/>
              <a:t>assertEquals</a:t>
            </a:r>
            <a:r>
              <a:rPr dirty="0"/>
              <a:t>, </a:t>
            </a:r>
            <a:r>
              <a:rPr dirty="0" err="1"/>
              <a:t>assertTrue</a:t>
            </a:r>
            <a:r>
              <a:rPr dirty="0"/>
              <a:t>, </a:t>
            </a:r>
            <a:r>
              <a:rPr dirty="0" err="1"/>
              <a:t>assertFalse</a:t>
            </a:r>
            <a:r>
              <a:rPr dirty="0"/>
              <a:t>, </a:t>
            </a:r>
            <a:r>
              <a:rPr dirty="0" err="1"/>
              <a:t>assertNull</a:t>
            </a:r>
            <a:r>
              <a:rPr dirty="0"/>
              <a:t> and </a:t>
            </a:r>
            <a:r>
              <a:rPr dirty="0" err="1"/>
              <a:t>assertNotNull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@Test</a:t>
            </a:r>
          </a:p>
          <a:p>
            <a:r>
              <a:rPr lang="en-US" dirty="0"/>
              <a:t>void </a:t>
            </a:r>
            <a:r>
              <a:rPr lang="en-US" dirty="0" err="1"/>
              <a:t>validateNumber</a:t>
            </a:r>
            <a:r>
              <a:rPr lang="en-US" dirty="0"/>
              <a:t>(){</a:t>
            </a:r>
          </a:p>
          <a:p>
            <a:r>
              <a:rPr lang="en-US" dirty="0"/>
              <a:t> int number=10;</a:t>
            </a:r>
          </a:p>
          <a:p>
            <a:r>
              <a:rPr lang="en-US" dirty="0"/>
              <a:t> </a:t>
            </a:r>
            <a:r>
              <a:rPr lang="en-US" dirty="0" err="1"/>
              <a:t>assertTrue</a:t>
            </a:r>
            <a:r>
              <a:rPr lang="en-US" dirty="0"/>
              <a:t>(number&gt;0);</a:t>
            </a:r>
          </a:p>
          <a:p>
            <a:r>
              <a:rPr lang="en-US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 </a:t>
            </a:r>
            <a:r>
              <a:rPr lang="en-US" dirty="0"/>
              <a:t>and limitations </a:t>
            </a:r>
            <a:r>
              <a:rPr dirty="0"/>
              <a:t>of 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3937518" cy="41567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Benefits</a:t>
            </a:r>
          </a:p>
          <a:p>
            <a:pPr algn="just"/>
            <a:r>
              <a:rPr sz="2000" dirty="0"/>
              <a:t>JUnit enables automated validation of code logic, supports regression testing and integrates with build tools like Maven.</a:t>
            </a:r>
            <a:endParaRPr lang="en-US" sz="2000" dirty="0"/>
          </a:p>
          <a:p>
            <a:pPr algn="just"/>
            <a:r>
              <a:rPr lang="en-US" sz="2000" dirty="0"/>
              <a:t>JUnit is used to test business logic in enterprise Java systems such as banking software and financial applications.</a:t>
            </a:r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5A7FBE-E29F-AACD-4383-7FC127E63FEF}"/>
              </a:ext>
            </a:extLst>
          </p:cNvPr>
          <p:cNvSpPr txBox="1">
            <a:spLocks/>
          </p:cNvSpPr>
          <p:nvPr/>
        </p:nvSpPr>
        <p:spPr>
          <a:xfrm>
            <a:off x="4823927" y="1600201"/>
            <a:ext cx="3153745" cy="3848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400" dirty="0"/>
              <a:t>Limitations</a:t>
            </a:r>
          </a:p>
          <a:p>
            <a:pPr algn="just"/>
            <a:r>
              <a:rPr lang="en-US" sz="2200" dirty="0"/>
              <a:t>JUnit is primarily focused on unit testing and does not provide advanced features such as test grouping.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F787-BCB1-39AC-9298-EFF6033B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selenium and </a:t>
            </a:r>
            <a:r>
              <a:rPr lang="en-US" cap="none" dirty="0"/>
              <a:t>JUnit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55FFCB-93D3-168F-447F-02035A06D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690" y="2016125"/>
            <a:ext cx="722189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77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Overview And Motivation For Tool TestNG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TestNG</a:t>
            </a:r>
            <a:r>
              <a:rPr lang="en-IN" dirty="0"/>
              <a:t> (Test Next Generation)</a:t>
            </a:r>
            <a:r>
              <a:rPr dirty="0"/>
              <a:t> is an advanced Java testing framework inspired by JUnit and designed for scalable automated testing.</a:t>
            </a:r>
            <a:endParaRPr lang="en-US" dirty="0"/>
          </a:p>
          <a:p>
            <a:r>
              <a:rPr lang="en-US" dirty="0"/>
              <a:t>Large applications require features like grouping, dependency management and parallel execution which are supported by TestNG.</a:t>
            </a:r>
          </a:p>
          <a:p>
            <a:r>
              <a:rPr lang="en-US" dirty="0"/>
              <a:t>TestNG supports annotations, parallel execution, data driven testing, grouping and dependency based test execution.</a:t>
            </a:r>
          </a:p>
          <a:p>
            <a:r>
              <a:rPr lang="en-US" dirty="0"/>
              <a:t>TestNG uses annotations in Java classes combined with XML configuration files to define test execution structure.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Basic </a:t>
            </a:r>
            <a:r>
              <a:rPr lang="en-IN" cap="none" dirty="0"/>
              <a:t>TestNG</a:t>
            </a:r>
            <a:r>
              <a:rPr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0" y="2015733"/>
            <a:ext cx="3128509" cy="4037747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import </a:t>
            </a:r>
            <a:r>
              <a:rPr lang="en-IN" b="1" dirty="0" err="1"/>
              <a:t>org.testng.annotations</a:t>
            </a:r>
            <a:r>
              <a:rPr lang="en-IN" b="1" dirty="0"/>
              <a:t>.*; </a:t>
            </a:r>
          </a:p>
          <a:p>
            <a:r>
              <a:rPr lang="en-IN" b="1" dirty="0"/>
              <a:t>import </a:t>
            </a:r>
            <a:r>
              <a:rPr lang="en-IN" b="1" dirty="0" err="1"/>
              <a:t>org.testng.Assert</a:t>
            </a:r>
            <a:r>
              <a:rPr lang="en-IN" b="1" dirty="0"/>
              <a:t>; </a:t>
            </a:r>
          </a:p>
          <a:p>
            <a:r>
              <a:rPr lang="en-IN" b="1" dirty="0"/>
              <a:t>public class </a:t>
            </a:r>
            <a:r>
              <a:rPr lang="en-IN" b="1" dirty="0" err="1"/>
              <a:t>CalculatorTest</a:t>
            </a:r>
            <a:r>
              <a:rPr lang="en-IN" b="1" dirty="0"/>
              <a:t> { </a:t>
            </a:r>
          </a:p>
          <a:p>
            <a:r>
              <a:rPr lang="en-IN" b="1" dirty="0"/>
              <a:t>Calculator calc; </a:t>
            </a:r>
          </a:p>
          <a:p>
            <a:r>
              <a:rPr lang="en-IN" b="1" dirty="0"/>
              <a:t>@BeforeMethod </a:t>
            </a:r>
          </a:p>
          <a:p>
            <a:r>
              <a:rPr lang="en-IN" b="1" dirty="0"/>
              <a:t>void setup() { </a:t>
            </a:r>
          </a:p>
          <a:p>
            <a:r>
              <a:rPr lang="en-IN" b="1" dirty="0"/>
              <a:t>calc = new Calculator(); </a:t>
            </a:r>
          </a:p>
          <a:p>
            <a:r>
              <a:rPr lang="en-IN" b="1" dirty="0"/>
              <a:t> } </a:t>
            </a:r>
          </a:p>
          <a:p>
            <a:r>
              <a:rPr lang="en-IN" b="1" dirty="0"/>
              <a:t>@Test </a:t>
            </a:r>
          </a:p>
          <a:p>
            <a:r>
              <a:rPr lang="en-IN" b="1" dirty="0"/>
              <a:t>void </a:t>
            </a:r>
            <a:r>
              <a:rPr lang="en-IN" b="1" dirty="0" err="1"/>
              <a:t>testAdd</a:t>
            </a:r>
            <a:r>
              <a:rPr lang="en-IN" b="1" dirty="0"/>
              <a:t>() {</a:t>
            </a:r>
          </a:p>
          <a:p>
            <a:r>
              <a:rPr lang="en-IN" b="1" dirty="0"/>
              <a:t> int result = </a:t>
            </a:r>
            <a:r>
              <a:rPr lang="en-IN" b="1" dirty="0" err="1"/>
              <a:t>calc.add</a:t>
            </a:r>
            <a:r>
              <a:rPr lang="en-IN" b="1" dirty="0"/>
              <a:t>(5, 3); </a:t>
            </a:r>
          </a:p>
          <a:p>
            <a:r>
              <a:rPr lang="en-IN" b="1" dirty="0"/>
              <a:t> </a:t>
            </a:r>
            <a:r>
              <a:rPr lang="en-IN" b="1" dirty="0" err="1"/>
              <a:t>Assert.assertEquals</a:t>
            </a:r>
            <a:r>
              <a:rPr lang="en-IN" b="1" dirty="0"/>
              <a:t>(result, 8);</a:t>
            </a:r>
          </a:p>
          <a:p>
            <a:r>
              <a:rPr lang="en-IN" b="1" dirty="0"/>
              <a:t>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CD42EB-2BBE-D34B-DBAA-2F0DA61BC392}"/>
              </a:ext>
            </a:extLst>
          </p:cNvPr>
          <p:cNvSpPr txBox="1">
            <a:spLocks/>
          </p:cNvSpPr>
          <p:nvPr/>
        </p:nvSpPr>
        <p:spPr>
          <a:xfrm>
            <a:off x="4901381" y="1947027"/>
            <a:ext cx="3200399" cy="403774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@Test </a:t>
            </a:r>
          </a:p>
          <a:p>
            <a:r>
              <a:rPr lang="en-IN" dirty="0"/>
              <a:t>void </a:t>
            </a:r>
            <a:r>
              <a:rPr lang="en-IN" dirty="0" err="1"/>
              <a:t>testSubtract</a:t>
            </a:r>
            <a:r>
              <a:rPr lang="en-IN" dirty="0"/>
              <a:t>() { </a:t>
            </a:r>
          </a:p>
          <a:p>
            <a:r>
              <a:rPr lang="en-IN" dirty="0"/>
              <a:t> int result = </a:t>
            </a:r>
            <a:r>
              <a:rPr lang="en-IN" dirty="0" err="1"/>
              <a:t>calc.subtract</a:t>
            </a:r>
            <a:r>
              <a:rPr lang="en-IN" dirty="0"/>
              <a:t>(10, 4); </a:t>
            </a:r>
          </a:p>
          <a:p>
            <a:r>
              <a:rPr lang="en-IN" dirty="0" err="1"/>
              <a:t>Assert.assertEquals</a:t>
            </a:r>
            <a:r>
              <a:rPr lang="en-IN" dirty="0"/>
              <a:t>(result, 6); </a:t>
            </a:r>
          </a:p>
          <a:p>
            <a:r>
              <a:rPr lang="en-IN" dirty="0"/>
              <a:t>} </a:t>
            </a:r>
          </a:p>
          <a:p>
            <a:r>
              <a:rPr lang="en-IN" dirty="0"/>
              <a:t> @AfterMethod </a:t>
            </a:r>
          </a:p>
          <a:p>
            <a:r>
              <a:rPr lang="en-IN" dirty="0"/>
              <a:t>void teardown() { </a:t>
            </a:r>
          </a:p>
          <a:p>
            <a:r>
              <a:rPr lang="en-IN" dirty="0"/>
              <a:t> </a:t>
            </a:r>
            <a:r>
              <a:rPr lang="en-IN" dirty="0" err="1"/>
              <a:t>System.out.println</a:t>
            </a:r>
            <a:r>
              <a:rPr lang="en-IN" dirty="0"/>
              <a:t>("Test done."); </a:t>
            </a:r>
          </a:p>
          <a:p>
            <a:r>
              <a:rPr lang="en-IN" dirty="0"/>
              <a:t> } </a:t>
            </a:r>
          </a:p>
          <a:p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Important </a:t>
            </a:r>
            <a:r>
              <a:rPr lang="en-IN" cap="none" dirty="0"/>
              <a:t>Test</a:t>
            </a:r>
            <a:r>
              <a:rPr dirty="0"/>
              <a:t>NG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4223779" cy="3450613"/>
          </a:xfrm>
        </p:spPr>
        <p:txBody>
          <a:bodyPr>
            <a:normAutofit fontScale="92500"/>
          </a:bodyPr>
          <a:lstStyle/>
          <a:p>
            <a:r>
              <a:rPr dirty="0"/>
              <a:t>@Test identifies test methods. </a:t>
            </a:r>
            <a:endParaRPr lang="en-US" dirty="0"/>
          </a:p>
          <a:p>
            <a:r>
              <a:rPr dirty="0"/>
              <a:t>@BeforeMethod and @AfterMethod control setup and cleanup tasks.</a:t>
            </a:r>
            <a:endParaRPr lang="en-IN" dirty="0"/>
          </a:p>
          <a:p>
            <a:r>
              <a:rPr lang="en-IN" dirty="0"/>
              <a:t>@BeforeSuite and @AfterSuite that runs once before and after an entire test Suite.</a:t>
            </a:r>
          </a:p>
          <a:p>
            <a:r>
              <a:rPr lang="en-IN" dirty="0"/>
              <a:t>@BeforeClass and @AfterClass runs once before and after a class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29374C-5EFB-A990-7308-3650D4F5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807" y="2012979"/>
            <a:ext cx="3251104" cy="379496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AB86-E21F-FF8C-1405-7CE4BDF4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B233-276D-4662-4222-9A53F284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Important </a:t>
            </a:r>
            <a:r>
              <a:rPr lang="en-IN" cap="none" dirty="0"/>
              <a:t>Test</a:t>
            </a:r>
            <a:r>
              <a:rPr dirty="0"/>
              <a:t>NG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1C9C2-950B-8E4F-683A-FD24E5DA7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 Grouping :</a:t>
            </a:r>
          </a:p>
          <a:p>
            <a:r>
              <a:rPr lang="en-US" dirty="0"/>
              <a:t>TestNG allows grouping of related test cases such as smoke tests, regression tests and integration tests.</a:t>
            </a:r>
          </a:p>
          <a:p>
            <a:r>
              <a:rPr lang="fr-FR" dirty="0"/>
              <a:t>@Test(groups="smoke")</a:t>
            </a:r>
          </a:p>
          <a:p>
            <a:r>
              <a:rPr lang="fr-FR" dirty="0"/>
              <a:t>public </a:t>
            </a:r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loginTest</a:t>
            </a:r>
            <a:r>
              <a:rPr lang="fr-FR" dirty="0"/>
              <a:t>(){ }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6A6CE-CB92-A261-F585-87C13CE8A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786" y="3351850"/>
            <a:ext cx="4040285" cy="257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54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TestNG allows tests to depend on other tests which is useful for validating sequential workflows.</a:t>
            </a:r>
            <a:endParaRPr lang="en-US" dirty="0"/>
          </a:p>
          <a:p>
            <a:r>
              <a:rPr lang="en-IN" dirty="0"/>
              <a:t>@Test</a:t>
            </a:r>
          </a:p>
          <a:p>
            <a:r>
              <a:rPr lang="en-IN" dirty="0"/>
              <a:t>public void login(){ }</a:t>
            </a:r>
          </a:p>
          <a:p>
            <a:r>
              <a:rPr lang="en-IN" dirty="0"/>
              <a:t>@Test(dependsOnMethods="login")</a:t>
            </a:r>
          </a:p>
          <a:p>
            <a:r>
              <a:rPr lang="en-IN" dirty="0"/>
              <a:t>public void </a:t>
            </a:r>
            <a:r>
              <a:rPr lang="en-IN" dirty="0" err="1"/>
              <a:t>dashboardAccess</a:t>
            </a:r>
            <a:r>
              <a:rPr lang="en-IN" dirty="0"/>
              <a:t>(){ }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484A4-4EA6-8CAC-2003-6A50C8CCB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35" y="5963632"/>
            <a:ext cx="4481565" cy="894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EB778-1DE6-69E0-36F4-6EFEE00C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20740"/>
            <a:ext cx="4737240" cy="9372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features of </a:t>
            </a:r>
            <a:r>
              <a:rPr lang="en-US" cap="none" dirty="0"/>
              <a:t>Test</a:t>
            </a:r>
            <a:r>
              <a:rPr lang="en-US" dirty="0"/>
              <a:t>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TestNG enables execution of multiple tests simultaneously which reduces overall testing time.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TestNG supports parameterized tests to run the same test with multiple input values.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09D60-C9C0-E1EE-D8D1-61E54C015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23" y="2744605"/>
            <a:ext cx="5153744" cy="16099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@Parameters({"username","password"})</a:t>
            </a:r>
          </a:p>
          <a:p>
            <a:r>
              <a:rPr dirty="0"/>
              <a:t>@Test</a:t>
            </a:r>
          </a:p>
          <a:p>
            <a:r>
              <a:rPr dirty="0"/>
              <a:t>public void </a:t>
            </a:r>
            <a:r>
              <a:rPr dirty="0" err="1"/>
              <a:t>loginTest</a:t>
            </a:r>
            <a:r>
              <a:rPr dirty="0"/>
              <a:t>(String </a:t>
            </a:r>
            <a:r>
              <a:rPr dirty="0" err="1"/>
              <a:t>u,String</a:t>
            </a:r>
            <a:r>
              <a:rPr dirty="0"/>
              <a:t> p){ }</a:t>
            </a:r>
            <a:endParaRPr lang="en-US" dirty="0"/>
          </a:p>
          <a:p>
            <a:endParaRPr lang="en-IN" dirty="0"/>
          </a:p>
          <a:p>
            <a:r>
              <a:rPr lang="en-US" dirty="0"/>
              <a:t>Enterprise applications use TestNG to automate complex testing workflows and large regression suites.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Cypress is a modern JavaScript based end to end testing framework used primarily for web applications.</a:t>
            </a:r>
            <a:endParaRPr lang="en-US" dirty="0"/>
          </a:p>
          <a:p>
            <a:pPr algn="just"/>
            <a:r>
              <a:rPr lang="en-US" dirty="0"/>
              <a:t>Cypress is used for automated testing of web applications, especially to test how a user interacts with a website from start to finish.</a:t>
            </a:r>
          </a:p>
          <a:p>
            <a:pPr algn="just"/>
            <a:r>
              <a:rPr lang="en-US" b="1" dirty="0"/>
              <a:t>Advantages</a:t>
            </a:r>
          </a:p>
          <a:p>
            <a:pPr algn="just"/>
            <a:r>
              <a:rPr lang="en-US" dirty="0"/>
              <a:t>Cypress simplifies UI automation testing and provides excellent debugging support for front end developers.</a:t>
            </a:r>
          </a:p>
          <a:p>
            <a:pPr algn="just"/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8946-E40B-0EAF-5A6D-234A8398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of Visiting a Website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44694-9D4E-C3FE-EC4F-43D7F00D9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This test checks whether a website opens successfully.</a:t>
            </a:r>
          </a:p>
          <a:p>
            <a:pPr marL="0" indent="0">
              <a:buNone/>
            </a:pPr>
            <a:r>
              <a:rPr lang="en-IN" dirty="0"/>
              <a:t>describe('Website Test', () =&gt;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it('Visit homepage', () =&gt;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cy.visit</a:t>
            </a:r>
            <a:r>
              <a:rPr lang="en-IN" dirty="0"/>
              <a:t>('https://example.com')</a:t>
            </a:r>
            <a:br>
              <a:rPr lang="en-IN" dirty="0"/>
            </a:br>
            <a:r>
              <a:rPr lang="en-IN" dirty="0"/>
              <a:t>  })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describe() → defines a </a:t>
            </a:r>
            <a:r>
              <a:rPr lang="en-IN" b="1" dirty="0"/>
              <a:t>test suite</a:t>
            </a:r>
            <a:endParaRPr lang="en-IN" dirty="0"/>
          </a:p>
          <a:p>
            <a:r>
              <a:rPr lang="en-IN" dirty="0"/>
              <a:t>it() → defines a </a:t>
            </a:r>
            <a:r>
              <a:rPr lang="en-IN" b="1" dirty="0"/>
              <a:t>test case</a:t>
            </a:r>
            <a:endParaRPr lang="en-IN" dirty="0"/>
          </a:p>
          <a:p>
            <a:r>
              <a:rPr lang="en-IN" dirty="0" err="1"/>
              <a:t>cy.visit</a:t>
            </a:r>
            <a:r>
              <a:rPr lang="en-IN" dirty="0"/>
              <a:t>() → opens the website in the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574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927B-191E-8295-FB96-5FB488F5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C19B-1174-BC66-A682-A7FAB3B6B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of Visiting a Website</a:t>
            </a:r>
            <a:br>
              <a:rPr lang="en-IN" b="1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DC141-8A06-6CDC-7034-EF946A6A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2013510"/>
            <a:ext cx="4908148" cy="472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89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Cypress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In Cypress, the following commands are commonly used to interact with web elements:</a:t>
            </a:r>
          </a:p>
          <a:p>
            <a:pPr algn="just"/>
            <a:r>
              <a:rPr lang="en-US" dirty="0" err="1"/>
              <a:t>cy.visit</a:t>
            </a:r>
            <a:r>
              <a:rPr lang="en-US" dirty="0"/>
              <a:t>() – Opens a specified URL in the browser to start testing a webpage.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cy.visit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('https://flipkart.com')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en-US" dirty="0" err="1"/>
              <a:t>cy.get</a:t>
            </a:r>
            <a:r>
              <a:rPr lang="en-US" dirty="0"/>
              <a:t>() – Selects a web element on the page using a selector such as an ID, class, or tag.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cy.get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('#username') // Find by ID (# means ID)</a:t>
            </a:r>
          </a:p>
          <a:p>
            <a:pPr algn="just"/>
            <a:r>
              <a:rPr lang="en-US" dirty="0" err="1"/>
              <a:t>cy.click</a:t>
            </a:r>
            <a:r>
              <a:rPr lang="en-US" dirty="0"/>
              <a:t>() – Simulates a user clicking on a selected button, link, or element.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cy.get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('#login-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btn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').click() // Click login button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en-US" dirty="0" err="1"/>
              <a:t>cy.type</a:t>
            </a:r>
            <a:r>
              <a:rPr lang="en-US" dirty="0"/>
              <a:t>() – Enters text into an input field such as a username or password box.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cy.get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('#username').type('john@email.com')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Testing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cy.get('#username').type('admin')</a:t>
            </a:r>
          </a:p>
          <a:p>
            <a:r>
              <a:t>cy.get('#password').type('1234')</a:t>
            </a:r>
          </a:p>
          <a:p>
            <a:r>
              <a:t>cy.get('#login').click()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Real-World Applications of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Cypress is commonly used in:</a:t>
            </a:r>
          </a:p>
          <a:p>
            <a:r>
              <a:rPr lang="en-IN" dirty="0"/>
              <a:t>E-commerce websites – testing checkout and cart flow</a:t>
            </a:r>
          </a:p>
          <a:p>
            <a:r>
              <a:rPr lang="en-IN" dirty="0"/>
              <a:t>Online banking systems – testing login and transactions</a:t>
            </a:r>
          </a:p>
          <a:p>
            <a:r>
              <a:rPr lang="en-IN" dirty="0"/>
              <a:t>Web dashboards – verifying UI functionality</a:t>
            </a:r>
          </a:p>
          <a:p>
            <a:r>
              <a:rPr lang="en-IN" dirty="0"/>
              <a:t>SaaS platforms – validating user workflows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Comparison: JUnit vs </a:t>
            </a:r>
            <a:r>
              <a:rPr lang="en-IN" cap="none" dirty="0"/>
              <a:t>Test</a:t>
            </a:r>
            <a:r>
              <a:rPr dirty="0"/>
              <a:t>NG vs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JUnit focuses on Java unit testing. </a:t>
            </a:r>
            <a:endParaRPr lang="en-US" dirty="0"/>
          </a:p>
          <a:p>
            <a:r>
              <a:rPr dirty="0"/>
              <a:t>TestNG extends JUnit with advanced features.</a:t>
            </a:r>
            <a:endParaRPr lang="en-US" dirty="0"/>
          </a:p>
          <a:p>
            <a:r>
              <a:rPr dirty="0"/>
              <a:t>Cypress focuses on web application end to end testing.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When to Use J</a:t>
            </a:r>
            <a:r>
              <a:rPr lang="en-IN" dirty="0"/>
              <a:t>u</a:t>
            </a:r>
            <a:r>
              <a:rPr dirty="0"/>
              <a:t>nit</a:t>
            </a:r>
            <a:r>
              <a:rPr lang="en-US" dirty="0"/>
              <a:t>, </a:t>
            </a:r>
            <a:r>
              <a:rPr lang="en-US" cap="none" dirty="0"/>
              <a:t>Test</a:t>
            </a:r>
            <a:r>
              <a:rPr lang="en-US" dirty="0"/>
              <a:t>NG and Cypress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/>
              <a:t>JUnit is best suited for validating individual Java methods and classes during early development.</a:t>
            </a:r>
            <a:endParaRPr lang="en-US" dirty="0"/>
          </a:p>
          <a:p>
            <a:pPr algn="just"/>
            <a:r>
              <a:rPr lang="en-US" dirty="0"/>
              <a:t>TestNG is ideal for large automation frameworks requiring grouping, dependencies and parallel testing.</a:t>
            </a:r>
          </a:p>
          <a:p>
            <a:pPr algn="just"/>
            <a:r>
              <a:rPr lang="en-US" dirty="0"/>
              <a:t>Cypress is best suited for modern web applications where UI workflows must be validated automatically.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5901-3283-AE0A-8C1F-40E317837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88641"/>
            <a:ext cx="6571343" cy="576064"/>
          </a:xfrm>
        </p:spPr>
        <p:txBody>
          <a:bodyPr/>
          <a:lstStyle/>
          <a:p>
            <a:r>
              <a:rPr lang="en-US" dirty="0"/>
              <a:t>Comparison of testing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471D-37A3-17E1-54FA-DA464994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8936B-2502-C34E-528D-87DD34984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8389"/>
            <a:ext cx="8568952" cy="504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891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Selenium is used for testing web applications</a:t>
            </a:r>
          </a:p>
          <a:p>
            <a:r>
              <a:rPr dirty="0"/>
              <a:t>JUnit, TestNG and Cypress represent different layers of automated testing covering unit testing, advanced automation and web UI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1105</TotalTime>
  <Words>2257</Words>
  <Application>Microsoft Office PowerPoint</Application>
  <PresentationFormat>On-screen Show (4:3)</PresentationFormat>
  <Paragraphs>263</Paragraphs>
  <Slides>50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Gill Sans MT</vt:lpstr>
      <vt:lpstr>Gallery</vt:lpstr>
      <vt:lpstr>Automated Testing Tools Selenium,JUnit, TestNG And Cypress </vt:lpstr>
      <vt:lpstr>Introduction to automation testing</vt:lpstr>
      <vt:lpstr>Why automation </vt:lpstr>
      <vt:lpstr>Introduction to Selenium </vt:lpstr>
      <vt:lpstr>Why Selenium? </vt:lpstr>
      <vt:lpstr>Using Selenium Web driver for automation testing</vt:lpstr>
      <vt:lpstr>Selenium Components </vt:lpstr>
      <vt:lpstr>Selenium IDE</vt:lpstr>
      <vt:lpstr>Selenium IDE Commands</vt:lpstr>
      <vt:lpstr>Continued…</vt:lpstr>
      <vt:lpstr>Example: Testing an E-commerce Checkout</vt:lpstr>
      <vt:lpstr>Selenium IDE LIMITATIONS</vt:lpstr>
      <vt:lpstr>Selenium WebDriver</vt:lpstr>
      <vt:lpstr>Selenium WebDriver COMMANDS</vt:lpstr>
      <vt:lpstr>Selenium WebDriver COMMANDS</vt:lpstr>
      <vt:lpstr>Selenium WebDriver COMMANDS</vt:lpstr>
      <vt:lpstr>Selenium WebDriver COMMANDS</vt:lpstr>
      <vt:lpstr>Selenium WebDriver COMMANDS</vt:lpstr>
      <vt:lpstr>Selenium WebDriver COMMANDS Example</vt:lpstr>
      <vt:lpstr>Selenium WebDriver LIMITATIONS</vt:lpstr>
      <vt:lpstr>Selenium GRID</vt:lpstr>
      <vt:lpstr>Selenium GRID Example</vt:lpstr>
      <vt:lpstr>Selenium Grid LIMITATIONS</vt:lpstr>
      <vt:lpstr>Features of Selenium</vt:lpstr>
      <vt:lpstr>Features of Selenium</vt:lpstr>
      <vt:lpstr>Continued…</vt:lpstr>
      <vt:lpstr>Advantages &amp; Limitations </vt:lpstr>
      <vt:lpstr>Overview of JUnit</vt:lpstr>
      <vt:lpstr>Structure of a JUnit Test</vt:lpstr>
      <vt:lpstr>JUnit Annotations</vt:lpstr>
      <vt:lpstr>JUnit Assertions</vt:lpstr>
      <vt:lpstr>Benefits and limitations of JUnit</vt:lpstr>
      <vt:lpstr>Comparison of selenium and JUnit</vt:lpstr>
      <vt:lpstr>Overview And Motivation For Tool TestNG</vt:lpstr>
      <vt:lpstr>Basic TestNG Example</vt:lpstr>
      <vt:lpstr>Important TestNG Annotations</vt:lpstr>
      <vt:lpstr>Important TestNG Annotations</vt:lpstr>
      <vt:lpstr>Test Dependencies</vt:lpstr>
      <vt:lpstr>Other features of TestNG</vt:lpstr>
      <vt:lpstr>Parameterized Example</vt:lpstr>
      <vt:lpstr>Overview of Cypress</vt:lpstr>
      <vt:lpstr>Example of Visiting a Website </vt:lpstr>
      <vt:lpstr>Example of Visiting a Website </vt:lpstr>
      <vt:lpstr>Cypress Commands</vt:lpstr>
      <vt:lpstr>Form Testing Example</vt:lpstr>
      <vt:lpstr>Real-World Applications of Cypress</vt:lpstr>
      <vt:lpstr>Comparison: JUnit vs TestNG vs Cypress</vt:lpstr>
      <vt:lpstr>When to Use Junit, TestNG and Cypress</vt:lpstr>
      <vt:lpstr>Comparison of testing tools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Premitha Kamath</cp:lastModifiedBy>
  <cp:revision>20</cp:revision>
  <dcterms:created xsi:type="dcterms:W3CDTF">2013-01-27T09:14:16Z</dcterms:created>
  <dcterms:modified xsi:type="dcterms:W3CDTF">2026-05-11T08:12:26Z</dcterms:modified>
  <cp:category/>
</cp:coreProperties>
</file>