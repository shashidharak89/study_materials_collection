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Lst>
  <p:notesMasterIdLst>
    <p:notesMasterId r:id="rId142"/>
  </p:notesMasterIdLst>
  <p:sldIdLst>
    <p:sldId id="256" r:id="rId2"/>
    <p:sldId id="804" r:id="rId3"/>
    <p:sldId id="829" r:id="rId4"/>
    <p:sldId id="830" r:id="rId5"/>
    <p:sldId id="809" r:id="rId6"/>
    <p:sldId id="810" r:id="rId7"/>
    <p:sldId id="811" r:id="rId8"/>
    <p:sldId id="812" r:id="rId9"/>
    <p:sldId id="813" r:id="rId10"/>
    <p:sldId id="814" r:id="rId11"/>
    <p:sldId id="815" r:id="rId12"/>
    <p:sldId id="816" r:id="rId13"/>
    <p:sldId id="817" r:id="rId14"/>
    <p:sldId id="818" r:id="rId15"/>
    <p:sldId id="819" r:id="rId16"/>
    <p:sldId id="820" r:id="rId17"/>
    <p:sldId id="888" r:id="rId18"/>
    <p:sldId id="821" r:id="rId19"/>
    <p:sldId id="822" r:id="rId20"/>
    <p:sldId id="893" r:id="rId21"/>
    <p:sldId id="823" r:id="rId22"/>
    <p:sldId id="824" r:id="rId23"/>
    <p:sldId id="889" r:id="rId24"/>
    <p:sldId id="825" r:id="rId25"/>
    <p:sldId id="890" r:id="rId26"/>
    <p:sldId id="827" r:id="rId27"/>
    <p:sldId id="891" r:id="rId28"/>
    <p:sldId id="892" r:id="rId29"/>
    <p:sldId id="826" r:id="rId30"/>
    <p:sldId id="894" r:id="rId31"/>
    <p:sldId id="895" r:id="rId32"/>
    <p:sldId id="896" r:id="rId33"/>
    <p:sldId id="897" r:id="rId34"/>
    <p:sldId id="898" r:id="rId35"/>
    <p:sldId id="899" r:id="rId36"/>
    <p:sldId id="900" r:id="rId37"/>
    <p:sldId id="901" r:id="rId38"/>
    <p:sldId id="902" r:id="rId39"/>
    <p:sldId id="903" r:id="rId40"/>
    <p:sldId id="904" r:id="rId41"/>
    <p:sldId id="905" r:id="rId42"/>
    <p:sldId id="906" r:id="rId43"/>
    <p:sldId id="907" r:id="rId44"/>
    <p:sldId id="927" r:id="rId45"/>
    <p:sldId id="908" r:id="rId46"/>
    <p:sldId id="909" r:id="rId47"/>
    <p:sldId id="910" r:id="rId48"/>
    <p:sldId id="911" r:id="rId49"/>
    <p:sldId id="912" r:id="rId50"/>
    <p:sldId id="913" r:id="rId51"/>
    <p:sldId id="914" r:id="rId52"/>
    <p:sldId id="928" r:id="rId53"/>
    <p:sldId id="915" r:id="rId54"/>
    <p:sldId id="916" r:id="rId55"/>
    <p:sldId id="917" r:id="rId56"/>
    <p:sldId id="918" r:id="rId57"/>
    <p:sldId id="919" r:id="rId58"/>
    <p:sldId id="920" r:id="rId59"/>
    <p:sldId id="926" r:id="rId60"/>
    <p:sldId id="838" r:id="rId61"/>
    <p:sldId id="922" r:id="rId62"/>
    <p:sldId id="921" r:id="rId63"/>
    <p:sldId id="923" r:id="rId64"/>
    <p:sldId id="924" r:id="rId65"/>
    <p:sldId id="925" r:id="rId66"/>
    <p:sldId id="929" r:id="rId67"/>
    <p:sldId id="930" r:id="rId68"/>
    <p:sldId id="932" r:id="rId69"/>
    <p:sldId id="842" r:id="rId70"/>
    <p:sldId id="934" r:id="rId71"/>
    <p:sldId id="933" r:id="rId72"/>
    <p:sldId id="935" r:id="rId73"/>
    <p:sldId id="847" r:id="rId74"/>
    <p:sldId id="941" r:id="rId75"/>
    <p:sldId id="940" r:id="rId76"/>
    <p:sldId id="837" r:id="rId77"/>
    <p:sldId id="938" r:id="rId78"/>
    <p:sldId id="939" r:id="rId79"/>
    <p:sldId id="848" r:id="rId80"/>
    <p:sldId id="936" r:id="rId81"/>
    <p:sldId id="845" r:id="rId82"/>
    <p:sldId id="942" r:id="rId83"/>
    <p:sldId id="846" r:id="rId84"/>
    <p:sldId id="943" r:id="rId85"/>
    <p:sldId id="944" r:id="rId86"/>
    <p:sldId id="945" r:id="rId87"/>
    <p:sldId id="946" r:id="rId88"/>
    <p:sldId id="834" r:id="rId89"/>
    <p:sldId id="835" r:id="rId90"/>
    <p:sldId id="947" r:id="rId91"/>
    <p:sldId id="733" r:id="rId92"/>
    <p:sldId id="871" r:id="rId93"/>
    <p:sldId id="872" r:id="rId94"/>
    <p:sldId id="948" r:id="rId95"/>
    <p:sldId id="950" r:id="rId96"/>
    <p:sldId id="949" r:id="rId97"/>
    <p:sldId id="873" r:id="rId98"/>
    <p:sldId id="874" r:id="rId99"/>
    <p:sldId id="875" r:id="rId100"/>
    <p:sldId id="876" r:id="rId101"/>
    <p:sldId id="951" r:id="rId102"/>
    <p:sldId id="952" r:id="rId103"/>
    <p:sldId id="877" r:id="rId104"/>
    <p:sldId id="878" r:id="rId105"/>
    <p:sldId id="879" r:id="rId106"/>
    <p:sldId id="953" r:id="rId107"/>
    <p:sldId id="886" r:id="rId108"/>
    <p:sldId id="887" r:id="rId109"/>
    <p:sldId id="880" r:id="rId110"/>
    <p:sldId id="881" r:id="rId111"/>
    <p:sldId id="882" r:id="rId112"/>
    <p:sldId id="883" r:id="rId113"/>
    <p:sldId id="884" r:id="rId114"/>
    <p:sldId id="885" r:id="rId115"/>
    <p:sldId id="793" r:id="rId116"/>
    <p:sldId id="850" r:id="rId117"/>
    <p:sldId id="851" r:id="rId118"/>
    <p:sldId id="854" r:id="rId119"/>
    <p:sldId id="852" r:id="rId120"/>
    <p:sldId id="853" r:id="rId121"/>
    <p:sldId id="849" r:id="rId122"/>
    <p:sldId id="855" r:id="rId123"/>
    <p:sldId id="954" r:id="rId124"/>
    <p:sldId id="856" r:id="rId125"/>
    <p:sldId id="955" r:id="rId126"/>
    <p:sldId id="857" r:id="rId127"/>
    <p:sldId id="858" r:id="rId128"/>
    <p:sldId id="859" r:id="rId129"/>
    <p:sldId id="956" r:id="rId130"/>
    <p:sldId id="957" r:id="rId131"/>
    <p:sldId id="870" r:id="rId132"/>
    <p:sldId id="958" r:id="rId133"/>
    <p:sldId id="959" r:id="rId134"/>
    <p:sldId id="860" r:id="rId135"/>
    <p:sldId id="861" r:id="rId136"/>
    <p:sldId id="862" r:id="rId137"/>
    <p:sldId id="863" r:id="rId138"/>
    <p:sldId id="865" r:id="rId139"/>
    <p:sldId id="866" r:id="rId140"/>
    <p:sldId id="869" r:id="rId1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9B9B9"/>
    <a:srgbClr val="C0C0C0"/>
    <a:srgbClr val="8498BD"/>
    <a:srgbClr val="C2C2C2"/>
    <a:srgbClr val="514870"/>
    <a:srgbClr val="FFFFFF"/>
    <a:srgbClr val="FFFDFF"/>
    <a:srgbClr val="D2D0D2"/>
    <a:srgbClr val="D5D3D5"/>
    <a:srgbClr val="FDFBF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884" autoAdjust="0"/>
  </p:normalViewPr>
  <p:slideViewPr>
    <p:cSldViewPr snapToGrid="0">
      <p:cViewPr varScale="1">
        <p:scale>
          <a:sx n="78" d="100"/>
          <a:sy n="78" d="100"/>
        </p:scale>
        <p:origin x="835" y="43"/>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notesMaster" Target="notesMasters/notes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emitha Kamath" userId="28f199cf60a73790" providerId="LiveId" clId="{7FB91F49-B0D8-428C-8853-CF78734DF816}"/>
    <pc:docChg chg="modSld">
      <pc:chgData name="Premitha Kamath" userId="28f199cf60a73790" providerId="LiveId" clId="{7FB91F49-B0D8-428C-8853-CF78734DF816}" dt="2026-04-17T04:59:04.355" v="6" actId="729"/>
      <pc:docMkLst>
        <pc:docMk/>
      </pc:docMkLst>
      <pc:sldChg chg="mod modShow">
        <pc:chgData name="Premitha Kamath" userId="28f199cf60a73790" providerId="LiveId" clId="{7FB91F49-B0D8-428C-8853-CF78734DF816}" dt="2026-04-17T04:58:40.787" v="3" actId="729"/>
        <pc:sldMkLst>
          <pc:docMk/>
          <pc:sldMk cId="1922064585" sldId="857"/>
        </pc:sldMkLst>
      </pc:sldChg>
      <pc:sldChg chg="mod modShow">
        <pc:chgData name="Premitha Kamath" userId="28f199cf60a73790" providerId="LiveId" clId="{7FB91F49-B0D8-428C-8853-CF78734DF816}" dt="2026-04-17T04:58:37.672" v="2" actId="729"/>
        <pc:sldMkLst>
          <pc:docMk/>
          <pc:sldMk cId="1553186508" sldId="858"/>
        </pc:sldMkLst>
      </pc:sldChg>
      <pc:sldChg chg="mod modShow">
        <pc:chgData name="Premitha Kamath" userId="28f199cf60a73790" providerId="LiveId" clId="{7FB91F49-B0D8-428C-8853-CF78734DF816}" dt="2026-04-17T04:58:33.107" v="1" actId="729"/>
        <pc:sldMkLst>
          <pc:docMk/>
          <pc:sldMk cId="2520087603" sldId="860"/>
        </pc:sldMkLst>
      </pc:sldChg>
      <pc:sldChg chg="mod modShow">
        <pc:chgData name="Premitha Kamath" userId="28f199cf60a73790" providerId="LiveId" clId="{7FB91F49-B0D8-428C-8853-CF78734DF816}" dt="2026-04-17T04:58:29.320" v="0" actId="729"/>
        <pc:sldMkLst>
          <pc:docMk/>
          <pc:sldMk cId="2034478905" sldId="863"/>
        </pc:sldMkLst>
      </pc:sldChg>
      <pc:sldChg chg="mod modShow">
        <pc:chgData name="Premitha Kamath" userId="28f199cf60a73790" providerId="LiveId" clId="{7FB91F49-B0D8-428C-8853-CF78734DF816}" dt="2026-04-17T04:59:04.355" v="6" actId="729"/>
        <pc:sldMkLst>
          <pc:docMk/>
          <pc:sldMk cId="3237395165" sldId="874"/>
        </pc:sldMkLst>
      </pc:sldChg>
      <pc:sldChg chg="mod modShow">
        <pc:chgData name="Premitha Kamath" userId="28f199cf60a73790" providerId="LiveId" clId="{7FB91F49-B0D8-428C-8853-CF78734DF816}" dt="2026-04-17T04:58:59.974" v="5" actId="729"/>
        <pc:sldMkLst>
          <pc:docMk/>
          <pc:sldMk cId="872811506" sldId="878"/>
        </pc:sldMkLst>
      </pc:sldChg>
      <pc:sldChg chg="mod modShow">
        <pc:chgData name="Premitha Kamath" userId="28f199cf60a73790" providerId="LiveId" clId="{7FB91F49-B0D8-428C-8853-CF78734DF816}" dt="2026-04-17T04:58:55.171" v="4" actId="729"/>
        <pc:sldMkLst>
          <pc:docMk/>
          <pc:sldMk cId="2596846722" sldId="88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DA9887-9249-49FD-809A-BACB264048C3}" type="datetimeFigureOut">
              <a:rPr lang="en-US" smtClean="0"/>
              <a:t>4/17/2026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F07A4B-4191-4CEB-845D-77B454B7E5DE}" type="slidenum">
              <a:rPr lang="en-US" smtClean="0"/>
              <a:t>‹#›</a:t>
            </a:fld>
            <a:endParaRPr lang="en-US"/>
          </a:p>
        </p:txBody>
      </p:sp>
    </p:spTree>
    <p:extLst>
      <p:ext uri="{BB962C8B-B14F-4D97-AF65-F5344CB8AC3E}">
        <p14:creationId xmlns:p14="http://schemas.microsoft.com/office/powerpoint/2010/main" val="12557064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0D4EE-7EE1-90A7-E69D-E36F12FFFC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97B4FE-3C11-410D-9287-F57F5A2E81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8829B7-8029-17AB-D4BD-E3249F2A51FB}"/>
              </a:ext>
            </a:extLst>
          </p:cNvPr>
          <p:cNvSpPr>
            <a:spLocks noGrp="1"/>
          </p:cNvSpPr>
          <p:nvPr>
            <p:ph type="body" idx="1"/>
          </p:nvPr>
        </p:nvSpPr>
        <p:spPr/>
        <p:txBody>
          <a:bodyPr/>
          <a:lstStyle/>
          <a:p>
            <a:r>
              <a:rPr lang="en-US" b="1" dirty="0"/>
              <a:t>Docker</a:t>
            </a:r>
            <a:r>
              <a:rPr lang="en-US" dirty="0"/>
              <a:t> is a tool that helps you </a:t>
            </a:r>
            <a:r>
              <a:rPr lang="en-US" b="1" dirty="0"/>
              <a:t>package an application along with everything it needs to run</a:t>
            </a:r>
            <a:r>
              <a:rPr lang="en-US" dirty="0"/>
              <a:t> (code, libraries, dependencies, settings) into a single unit called a </a:t>
            </a:r>
            <a:r>
              <a:rPr lang="en-US" b="1" dirty="0"/>
              <a:t>container</a:t>
            </a:r>
            <a:r>
              <a:rPr lang="en-US" dirty="0"/>
              <a:t>.</a:t>
            </a:r>
          </a:p>
          <a:p>
            <a:r>
              <a:rPr lang="en-US" b="1" dirty="0"/>
              <a:t>In simple words</a:t>
            </a:r>
          </a:p>
          <a:p>
            <a:r>
              <a:rPr lang="en-US" b="1" dirty="0"/>
              <a:t>Docker makes sure an application runs the same way on every system.</a:t>
            </a:r>
            <a:endParaRPr lang="en-US" dirty="0"/>
          </a:p>
          <a:p>
            <a:endParaRPr lang="en-IN" dirty="0"/>
          </a:p>
        </p:txBody>
      </p:sp>
      <p:sp>
        <p:nvSpPr>
          <p:cNvPr id="4" name="Slide Number Placeholder 3">
            <a:extLst>
              <a:ext uri="{FF2B5EF4-FFF2-40B4-BE49-F238E27FC236}">
                <a16:creationId xmlns:a16="http://schemas.microsoft.com/office/drawing/2014/main" id="{CF5EDFF9-BA1B-B898-0106-A0CE10715BD5}"/>
              </a:ext>
            </a:extLst>
          </p:cNvPr>
          <p:cNvSpPr>
            <a:spLocks noGrp="1"/>
          </p:cNvSpPr>
          <p:nvPr>
            <p:ph type="sldNum" sz="quarter" idx="10"/>
          </p:nvPr>
        </p:nvSpPr>
        <p:spPr/>
        <p:txBody>
          <a:bodyPr/>
          <a:lstStyle/>
          <a:p>
            <a:fld id="{DCF07A4B-4191-4CEB-845D-77B454B7E5DE}" type="slidenum">
              <a:rPr lang="en-US" smtClean="0"/>
              <a:t>67</a:t>
            </a:fld>
            <a:endParaRPr lang="en-US"/>
          </a:p>
        </p:txBody>
      </p:sp>
    </p:spTree>
    <p:extLst>
      <p:ext uri="{BB962C8B-B14F-4D97-AF65-F5344CB8AC3E}">
        <p14:creationId xmlns:p14="http://schemas.microsoft.com/office/powerpoint/2010/main" val="14845515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Docker</a:t>
            </a:r>
            <a:r>
              <a:rPr lang="en-US" dirty="0"/>
              <a:t> is a tool that helps you </a:t>
            </a:r>
            <a:r>
              <a:rPr lang="en-US" b="1" dirty="0"/>
              <a:t>package an application along with everything it needs to run</a:t>
            </a:r>
            <a:r>
              <a:rPr lang="en-US" dirty="0"/>
              <a:t> (code, libraries, dependencies, settings) into a single unit called a </a:t>
            </a:r>
            <a:r>
              <a:rPr lang="en-US" b="1" dirty="0"/>
              <a:t>container</a:t>
            </a:r>
            <a:r>
              <a:rPr lang="en-US" dirty="0"/>
              <a:t>.</a:t>
            </a:r>
          </a:p>
          <a:p>
            <a:r>
              <a:rPr lang="en-US" b="1" dirty="0"/>
              <a:t>In simple words</a:t>
            </a:r>
          </a:p>
          <a:p>
            <a:r>
              <a:rPr lang="en-US" b="1" dirty="0"/>
              <a:t>Docker makes sure an application runs the same way on every system.</a:t>
            </a:r>
            <a:endParaRPr lang="en-US" dirty="0"/>
          </a:p>
          <a:p>
            <a:endParaRPr lang="en-IN" dirty="0"/>
          </a:p>
        </p:txBody>
      </p:sp>
      <p:sp>
        <p:nvSpPr>
          <p:cNvPr id="4" name="Slide Number Placeholder 3"/>
          <p:cNvSpPr>
            <a:spLocks noGrp="1"/>
          </p:cNvSpPr>
          <p:nvPr>
            <p:ph type="sldNum" sz="quarter" idx="10"/>
          </p:nvPr>
        </p:nvSpPr>
        <p:spPr/>
        <p:txBody>
          <a:bodyPr/>
          <a:lstStyle/>
          <a:p>
            <a:fld id="{DCF07A4B-4191-4CEB-845D-77B454B7E5DE}" type="slidenum">
              <a:rPr lang="en-US" smtClean="0"/>
              <a:t>69</a:t>
            </a:fld>
            <a:endParaRPr lang="en-US"/>
          </a:p>
        </p:txBody>
      </p:sp>
    </p:spTree>
    <p:extLst>
      <p:ext uri="{BB962C8B-B14F-4D97-AF65-F5344CB8AC3E}">
        <p14:creationId xmlns:p14="http://schemas.microsoft.com/office/powerpoint/2010/main" val="25731146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CE2CB-F88B-A216-D230-E4C2DDEE63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3B6346-58D1-DFBA-FD5B-0F88811B50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663729-5EAF-496F-E18E-1A4BB82A0E9A}"/>
              </a:ext>
            </a:extLst>
          </p:cNvPr>
          <p:cNvSpPr>
            <a:spLocks noGrp="1"/>
          </p:cNvSpPr>
          <p:nvPr>
            <p:ph type="body" idx="1"/>
          </p:nvPr>
        </p:nvSpPr>
        <p:spPr/>
        <p:txBody>
          <a:bodyPr/>
          <a:lstStyle/>
          <a:p>
            <a:r>
              <a:rPr lang="en-US" b="1" dirty="0"/>
              <a:t>Docker</a:t>
            </a:r>
            <a:r>
              <a:rPr lang="en-US" dirty="0"/>
              <a:t> is a tool that helps you </a:t>
            </a:r>
            <a:r>
              <a:rPr lang="en-US" b="1" dirty="0"/>
              <a:t>package an application along with everything it needs to run</a:t>
            </a:r>
            <a:r>
              <a:rPr lang="en-US" dirty="0"/>
              <a:t> (code, libraries, dependencies, settings) into a single unit called a </a:t>
            </a:r>
            <a:r>
              <a:rPr lang="en-US" b="1" dirty="0"/>
              <a:t>container</a:t>
            </a:r>
            <a:r>
              <a:rPr lang="en-US" dirty="0"/>
              <a:t>.</a:t>
            </a:r>
          </a:p>
          <a:p>
            <a:r>
              <a:rPr lang="en-US" b="1" dirty="0"/>
              <a:t>In simple words</a:t>
            </a:r>
          </a:p>
          <a:p>
            <a:r>
              <a:rPr lang="en-US" b="1" dirty="0"/>
              <a:t>Docker makes sure an application runs the same way on every system.</a:t>
            </a:r>
            <a:endParaRPr lang="en-US" dirty="0"/>
          </a:p>
          <a:p>
            <a:endParaRPr lang="en-IN" dirty="0"/>
          </a:p>
        </p:txBody>
      </p:sp>
      <p:sp>
        <p:nvSpPr>
          <p:cNvPr id="4" name="Slide Number Placeholder 3">
            <a:extLst>
              <a:ext uri="{FF2B5EF4-FFF2-40B4-BE49-F238E27FC236}">
                <a16:creationId xmlns:a16="http://schemas.microsoft.com/office/drawing/2014/main" id="{A55C99BD-F7B6-6223-95C5-78301E0D4F51}"/>
              </a:ext>
            </a:extLst>
          </p:cNvPr>
          <p:cNvSpPr>
            <a:spLocks noGrp="1"/>
          </p:cNvSpPr>
          <p:nvPr>
            <p:ph type="sldNum" sz="quarter" idx="10"/>
          </p:nvPr>
        </p:nvSpPr>
        <p:spPr/>
        <p:txBody>
          <a:bodyPr/>
          <a:lstStyle/>
          <a:p>
            <a:fld id="{DCF07A4B-4191-4CEB-845D-77B454B7E5DE}" type="slidenum">
              <a:rPr lang="en-US" smtClean="0"/>
              <a:t>70</a:t>
            </a:fld>
            <a:endParaRPr lang="en-US"/>
          </a:p>
        </p:txBody>
      </p:sp>
    </p:spTree>
    <p:extLst>
      <p:ext uri="{BB962C8B-B14F-4D97-AF65-F5344CB8AC3E}">
        <p14:creationId xmlns:p14="http://schemas.microsoft.com/office/powerpoint/2010/main" val="23940281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AC456-7974-00AC-55CA-844924D133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76B7C9-9EA3-DFAC-82A4-3CA8FD4A22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9BD566-138F-CE2B-D371-4D5408F6DD9F}"/>
              </a:ext>
            </a:extLst>
          </p:cNvPr>
          <p:cNvSpPr>
            <a:spLocks noGrp="1"/>
          </p:cNvSpPr>
          <p:nvPr>
            <p:ph type="body" idx="1"/>
          </p:nvPr>
        </p:nvSpPr>
        <p:spPr/>
        <p:txBody>
          <a:bodyPr/>
          <a:lstStyle/>
          <a:p>
            <a:r>
              <a:rPr lang="en-US" b="1" dirty="0"/>
              <a:t>Docker</a:t>
            </a:r>
            <a:r>
              <a:rPr lang="en-US" dirty="0"/>
              <a:t> is a tool that helps you </a:t>
            </a:r>
            <a:r>
              <a:rPr lang="en-US" b="1" dirty="0"/>
              <a:t>package an application along with everything it needs to run</a:t>
            </a:r>
            <a:r>
              <a:rPr lang="en-US" dirty="0"/>
              <a:t> (code, libraries, dependencies, settings) into a single unit called a </a:t>
            </a:r>
            <a:r>
              <a:rPr lang="en-US" b="1" dirty="0"/>
              <a:t>container</a:t>
            </a:r>
            <a:r>
              <a:rPr lang="en-US" dirty="0"/>
              <a:t>.</a:t>
            </a:r>
          </a:p>
          <a:p>
            <a:r>
              <a:rPr lang="en-US" b="1" dirty="0"/>
              <a:t>In simple words</a:t>
            </a:r>
          </a:p>
          <a:p>
            <a:r>
              <a:rPr lang="en-US" b="1" dirty="0"/>
              <a:t>Docker makes sure an application runs the same way on every system.</a:t>
            </a:r>
            <a:endParaRPr lang="en-US" dirty="0"/>
          </a:p>
          <a:p>
            <a:endParaRPr lang="en-IN" dirty="0"/>
          </a:p>
        </p:txBody>
      </p:sp>
      <p:sp>
        <p:nvSpPr>
          <p:cNvPr id="4" name="Slide Number Placeholder 3">
            <a:extLst>
              <a:ext uri="{FF2B5EF4-FFF2-40B4-BE49-F238E27FC236}">
                <a16:creationId xmlns:a16="http://schemas.microsoft.com/office/drawing/2014/main" id="{22E2A4DF-CF57-584B-1EAA-A3A713AED87D}"/>
              </a:ext>
            </a:extLst>
          </p:cNvPr>
          <p:cNvSpPr>
            <a:spLocks noGrp="1"/>
          </p:cNvSpPr>
          <p:nvPr>
            <p:ph type="sldNum" sz="quarter" idx="10"/>
          </p:nvPr>
        </p:nvSpPr>
        <p:spPr/>
        <p:txBody>
          <a:bodyPr/>
          <a:lstStyle/>
          <a:p>
            <a:fld id="{DCF07A4B-4191-4CEB-845D-77B454B7E5DE}" type="slidenum">
              <a:rPr lang="en-US" smtClean="0"/>
              <a:t>71</a:t>
            </a:fld>
            <a:endParaRPr lang="en-US"/>
          </a:p>
        </p:txBody>
      </p:sp>
    </p:spTree>
    <p:extLst>
      <p:ext uri="{BB962C8B-B14F-4D97-AF65-F5344CB8AC3E}">
        <p14:creationId xmlns:p14="http://schemas.microsoft.com/office/powerpoint/2010/main" val="7531237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886D4-AAF5-4C15-A9B7-B1D88CE85F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702449-631D-19F2-31B1-B3404AE735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5435E5-5DDF-39E9-ACCC-E9CFF7DA0820}"/>
              </a:ext>
            </a:extLst>
          </p:cNvPr>
          <p:cNvSpPr>
            <a:spLocks noGrp="1"/>
          </p:cNvSpPr>
          <p:nvPr>
            <p:ph type="body" idx="1"/>
          </p:nvPr>
        </p:nvSpPr>
        <p:spPr/>
        <p:txBody>
          <a:bodyPr/>
          <a:lstStyle/>
          <a:p>
            <a:r>
              <a:rPr lang="en-US" b="1" dirty="0"/>
              <a:t>Docker</a:t>
            </a:r>
            <a:r>
              <a:rPr lang="en-US" dirty="0"/>
              <a:t> is a tool that helps you </a:t>
            </a:r>
            <a:r>
              <a:rPr lang="en-US" b="1" dirty="0"/>
              <a:t>package an application along with everything it needs to run</a:t>
            </a:r>
            <a:r>
              <a:rPr lang="en-US" dirty="0"/>
              <a:t> (code, libraries, dependencies, settings) into a single unit called a </a:t>
            </a:r>
            <a:r>
              <a:rPr lang="en-US" b="1" dirty="0"/>
              <a:t>container</a:t>
            </a:r>
            <a:r>
              <a:rPr lang="en-US" dirty="0"/>
              <a:t>.</a:t>
            </a:r>
          </a:p>
          <a:p>
            <a:r>
              <a:rPr lang="en-US" b="1" dirty="0"/>
              <a:t>In simple words</a:t>
            </a:r>
          </a:p>
          <a:p>
            <a:r>
              <a:rPr lang="en-US" b="1" dirty="0"/>
              <a:t>Docker makes sure an application runs the same way on every system.</a:t>
            </a:r>
            <a:endParaRPr lang="en-US" dirty="0"/>
          </a:p>
          <a:p>
            <a:endParaRPr lang="en-IN" dirty="0"/>
          </a:p>
        </p:txBody>
      </p:sp>
      <p:sp>
        <p:nvSpPr>
          <p:cNvPr id="4" name="Slide Number Placeholder 3">
            <a:extLst>
              <a:ext uri="{FF2B5EF4-FFF2-40B4-BE49-F238E27FC236}">
                <a16:creationId xmlns:a16="http://schemas.microsoft.com/office/drawing/2014/main" id="{AB7DE8F8-8587-62EA-DBD9-BCFFFCCB1ED5}"/>
              </a:ext>
            </a:extLst>
          </p:cNvPr>
          <p:cNvSpPr>
            <a:spLocks noGrp="1"/>
          </p:cNvSpPr>
          <p:nvPr>
            <p:ph type="sldNum" sz="quarter" idx="10"/>
          </p:nvPr>
        </p:nvSpPr>
        <p:spPr/>
        <p:txBody>
          <a:bodyPr/>
          <a:lstStyle/>
          <a:p>
            <a:fld id="{DCF07A4B-4191-4CEB-845D-77B454B7E5DE}" type="slidenum">
              <a:rPr lang="en-US" smtClean="0"/>
              <a:t>72</a:t>
            </a:fld>
            <a:endParaRPr lang="en-US"/>
          </a:p>
        </p:txBody>
      </p:sp>
    </p:spTree>
    <p:extLst>
      <p:ext uri="{BB962C8B-B14F-4D97-AF65-F5344CB8AC3E}">
        <p14:creationId xmlns:p14="http://schemas.microsoft.com/office/powerpoint/2010/main" val="24548221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 fan-out : one part of the system is connected to too many other parts, which can increase complexity and make the system harder to maintain or modify.</a:t>
            </a:r>
            <a:endParaRPr lang="en-IN" dirty="0"/>
          </a:p>
        </p:txBody>
      </p:sp>
      <p:sp>
        <p:nvSpPr>
          <p:cNvPr id="4" name="Slide Number Placeholder 3"/>
          <p:cNvSpPr>
            <a:spLocks noGrp="1"/>
          </p:cNvSpPr>
          <p:nvPr>
            <p:ph type="sldNum" sz="quarter" idx="10"/>
          </p:nvPr>
        </p:nvSpPr>
        <p:spPr/>
        <p:txBody>
          <a:bodyPr/>
          <a:lstStyle/>
          <a:p>
            <a:fld id="{DCF07A4B-4191-4CEB-845D-77B454B7E5DE}" type="slidenum">
              <a:rPr lang="en-US" smtClean="0"/>
              <a:t>113</a:t>
            </a:fld>
            <a:endParaRPr lang="en-US"/>
          </a:p>
        </p:txBody>
      </p:sp>
    </p:spTree>
    <p:extLst>
      <p:ext uri="{BB962C8B-B14F-4D97-AF65-F5344CB8AC3E}">
        <p14:creationId xmlns:p14="http://schemas.microsoft.com/office/powerpoint/2010/main" val="29625947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gRPC</a:t>
            </a:r>
            <a:r>
              <a:rPr lang="en-US" dirty="0"/>
              <a:t> (Google Remote Procedure Call) is a high-performance, open-source framework for building fast, language-agnostic APIs and </a:t>
            </a:r>
            <a:r>
              <a:rPr lang="en-US" dirty="0" err="1"/>
              <a:t>microservices</a:t>
            </a:r>
            <a:r>
              <a:rPr lang="en-US" sz="1200" b="0" i="0" kern="1200" dirty="0">
                <a:solidFill>
                  <a:schemeClr val="tx1"/>
                </a:solidFill>
                <a:effectLst/>
                <a:latin typeface="+mn-lt"/>
                <a:ea typeface="+mn-ea"/>
                <a:cs typeface="+mn-cs"/>
              </a:rPr>
              <a:t>.</a:t>
            </a:r>
            <a:endParaRPr lang="en-IN" dirty="0"/>
          </a:p>
        </p:txBody>
      </p:sp>
      <p:sp>
        <p:nvSpPr>
          <p:cNvPr id="4" name="Slide Number Placeholder 3"/>
          <p:cNvSpPr>
            <a:spLocks noGrp="1"/>
          </p:cNvSpPr>
          <p:nvPr>
            <p:ph type="sldNum" sz="quarter" idx="10"/>
          </p:nvPr>
        </p:nvSpPr>
        <p:spPr/>
        <p:txBody>
          <a:bodyPr/>
          <a:lstStyle/>
          <a:p>
            <a:fld id="{DCF07A4B-4191-4CEB-845D-77B454B7E5DE}" type="slidenum">
              <a:rPr lang="en-US" smtClean="0"/>
              <a:t>117</a:t>
            </a:fld>
            <a:endParaRPr lang="en-US"/>
          </a:p>
        </p:txBody>
      </p:sp>
    </p:spTree>
    <p:extLst>
      <p:ext uri="{BB962C8B-B14F-4D97-AF65-F5344CB8AC3E}">
        <p14:creationId xmlns:p14="http://schemas.microsoft.com/office/powerpoint/2010/main" val="28454858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gRPC</a:t>
            </a:r>
            <a:r>
              <a:rPr lang="en-US" dirty="0"/>
              <a:t> (Google Remote Procedure Call) is a high-performance, open-source framework for building fast, language-agnostic APIs and </a:t>
            </a:r>
            <a:r>
              <a:rPr lang="en-US" dirty="0" err="1"/>
              <a:t>microservices</a:t>
            </a:r>
            <a:r>
              <a:rPr lang="en-US" sz="1200" b="0" i="0" kern="1200" dirty="0">
                <a:solidFill>
                  <a:schemeClr val="tx1"/>
                </a:solidFill>
                <a:effectLst/>
                <a:latin typeface="+mn-lt"/>
                <a:ea typeface="+mn-ea"/>
                <a:cs typeface="+mn-cs"/>
              </a:rPr>
              <a:t>.</a:t>
            </a:r>
            <a:endParaRPr lang="en-IN" dirty="0"/>
          </a:p>
        </p:txBody>
      </p:sp>
      <p:sp>
        <p:nvSpPr>
          <p:cNvPr id="4" name="Slide Number Placeholder 3"/>
          <p:cNvSpPr>
            <a:spLocks noGrp="1"/>
          </p:cNvSpPr>
          <p:nvPr>
            <p:ph type="sldNum" sz="quarter" idx="10"/>
          </p:nvPr>
        </p:nvSpPr>
        <p:spPr/>
        <p:txBody>
          <a:bodyPr/>
          <a:lstStyle/>
          <a:p>
            <a:fld id="{DCF07A4B-4191-4CEB-845D-77B454B7E5DE}" type="slidenum">
              <a:rPr lang="en-US" smtClean="0"/>
              <a:t>118</a:t>
            </a:fld>
            <a:endParaRPr lang="en-US"/>
          </a:p>
        </p:txBody>
      </p:sp>
    </p:spTree>
    <p:extLst>
      <p:ext uri="{BB962C8B-B14F-4D97-AF65-F5344CB8AC3E}">
        <p14:creationId xmlns:p14="http://schemas.microsoft.com/office/powerpoint/2010/main" val="2437643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gRPC</a:t>
            </a:r>
            <a:r>
              <a:rPr lang="en-US" dirty="0"/>
              <a:t> (Google Remote Procedure Call) is a high-performance, open-source framework for building fast, language-agnostic APIs and </a:t>
            </a:r>
            <a:r>
              <a:rPr lang="en-US" dirty="0" err="1"/>
              <a:t>microservices</a:t>
            </a:r>
            <a:r>
              <a:rPr lang="en-US" sz="1200" b="0" i="0" kern="1200" dirty="0">
                <a:solidFill>
                  <a:schemeClr val="tx1"/>
                </a:solidFill>
                <a:effectLst/>
                <a:latin typeface="+mn-lt"/>
                <a:ea typeface="+mn-ea"/>
                <a:cs typeface="+mn-cs"/>
              </a:rPr>
              <a:t>.</a:t>
            </a:r>
            <a:endParaRPr lang="en-IN" dirty="0"/>
          </a:p>
        </p:txBody>
      </p:sp>
      <p:sp>
        <p:nvSpPr>
          <p:cNvPr id="4" name="Slide Number Placeholder 3"/>
          <p:cNvSpPr>
            <a:spLocks noGrp="1"/>
          </p:cNvSpPr>
          <p:nvPr>
            <p:ph type="sldNum" sz="quarter" idx="10"/>
          </p:nvPr>
        </p:nvSpPr>
        <p:spPr/>
        <p:txBody>
          <a:bodyPr/>
          <a:lstStyle/>
          <a:p>
            <a:fld id="{DCF07A4B-4191-4CEB-845D-77B454B7E5DE}" type="slidenum">
              <a:rPr lang="en-US" smtClean="0"/>
              <a:t>119</a:t>
            </a:fld>
            <a:endParaRPr lang="en-US"/>
          </a:p>
        </p:txBody>
      </p:sp>
    </p:spTree>
    <p:extLst>
      <p:ext uri="{BB962C8B-B14F-4D97-AF65-F5344CB8AC3E}">
        <p14:creationId xmlns:p14="http://schemas.microsoft.com/office/powerpoint/2010/main" val="3615691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2"/>
        <p:cNvGrpSpPr/>
        <p:nvPr/>
      </p:nvGrpSpPr>
      <p:grpSpPr>
        <a:xfrm>
          <a:off x="0" y="0"/>
          <a:ext cx="0" cy="0"/>
          <a:chOff x="0" y="0"/>
          <a:chExt cx="0" cy="0"/>
        </a:xfrm>
      </p:grpSpPr>
      <p:sp>
        <p:nvSpPr>
          <p:cNvPr id="13" name="Google Shape;13;p2"/>
          <p:cNvSpPr txBox="1">
            <a:spLocks noGrp="1"/>
          </p:cNvSpPr>
          <p:nvPr>
            <p:ph type="ctrTitle"/>
          </p:nvPr>
        </p:nvSpPr>
        <p:spPr>
          <a:xfrm>
            <a:off x="415611" y="992767"/>
            <a:ext cx="11360800" cy="2736800"/>
          </a:xfrm>
          <a:prstGeom prst="rect">
            <a:avLst/>
          </a:prstGeom>
        </p:spPr>
        <p:txBody>
          <a:bodyPr spcFirstLastPara="1" wrap="square" lIns="91425" tIns="91425" rIns="91425" bIns="91425" anchor="b" anchorCtr="0">
            <a:normAutofit/>
          </a:bodyPr>
          <a:lstStyle>
            <a:lvl1pPr lvl="0" algn="ctr">
              <a:spcBef>
                <a:spcPts val="0"/>
              </a:spcBef>
              <a:spcAft>
                <a:spcPts val="0"/>
              </a:spcAft>
              <a:buSzPts val="4900"/>
              <a:buNone/>
              <a:defRPr sz="6533"/>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r>
              <a:rPr lang="en-US"/>
              <a:t>Click to edit Master title style</a:t>
            </a:r>
            <a:endParaRPr/>
          </a:p>
        </p:txBody>
      </p:sp>
      <p:sp>
        <p:nvSpPr>
          <p:cNvPr id="14" name="Google Shape;14;p2"/>
          <p:cNvSpPr txBox="1">
            <a:spLocks noGrp="1"/>
          </p:cNvSpPr>
          <p:nvPr>
            <p:ph type="subTitle" idx="1"/>
          </p:nvPr>
        </p:nvSpPr>
        <p:spPr>
          <a:xfrm>
            <a:off x="415600" y="3778833"/>
            <a:ext cx="11360800" cy="105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3733"/>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a:r>
              <a:rPr lang="en-US"/>
              <a:t>Click to edit Master subtitle style</a:t>
            </a:r>
            <a:endParaRPr/>
          </a:p>
        </p:txBody>
      </p:sp>
    </p:spTree>
    <p:extLst>
      <p:ext uri="{BB962C8B-B14F-4D97-AF65-F5344CB8AC3E}">
        <p14:creationId xmlns:p14="http://schemas.microsoft.com/office/powerpoint/2010/main" val="1845933661"/>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415600" y="2867800"/>
            <a:ext cx="11360800" cy="1122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4800"/>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r>
              <a:rPr lang="en-US"/>
              <a:t>Click to edit Master title style</a:t>
            </a:r>
            <a:endParaRPr/>
          </a:p>
        </p:txBody>
      </p:sp>
    </p:spTree>
    <p:extLst>
      <p:ext uri="{BB962C8B-B14F-4D97-AF65-F5344CB8AC3E}">
        <p14:creationId xmlns:p14="http://schemas.microsoft.com/office/powerpoint/2010/main" val="602191917"/>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415600" y="1653533"/>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19" name="Google Shape;19;p4"/>
          <p:cNvSpPr txBox="1">
            <a:spLocks noGrp="1"/>
          </p:cNvSpPr>
          <p:nvPr>
            <p:ph type="body" idx="1"/>
          </p:nvPr>
        </p:nvSpPr>
        <p:spPr>
          <a:xfrm>
            <a:off x="415600" y="2660367"/>
            <a:ext cx="11360800" cy="34316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pPr lvl="0"/>
            <a:r>
              <a:rPr lang="en-US"/>
              <a:t>Edit Master text styles</a:t>
            </a:r>
          </a:p>
        </p:txBody>
      </p:sp>
    </p:spTree>
    <p:extLst>
      <p:ext uri="{BB962C8B-B14F-4D97-AF65-F5344CB8AC3E}">
        <p14:creationId xmlns:p14="http://schemas.microsoft.com/office/powerpoint/2010/main" val="333905174"/>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15600" y="1653533"/>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22" name="Google Shape;22;p5"/>
          <p:cNvSpPr txBox="1">
            <a:spLocks noGrp="1"/>
          </p:cNvSpPr>
          <p:nvPr>
            <p:ph type="body" idx="1"/>
          </p:nvPr>
        </p:nvSpPr>
        <p:spPr>
          <a:xfrm>
            <a:off x="415600" y="2577533"/>
            <a:ext cx="5333200" cy="35144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pPr lvl="0"/>
            <a:r>
              <a:rPr lang="en-US"/>
              <a:t>Edit Master text styles</a:t>
            </a:r>
          </a:p>
        </p:txBody>
      </p:sp>
      <p:sp>
        <p:nvSpPr>
          <p:cNvPr id="23" name="Google Shape;23;p5"/>
          <p:cNvSpPr txBox="1">
            <a:spLocks noGrp="1"/>
          </p:cNvSpPr>
          <p:nvPr>
            <p:ph type="body" idx="2"/>
          </p:nvPr>
        </p:nvSpPr>
        <p:spPr>
          <a:xfrm>
            <a:off x="6443200" y="2577533"/>
            <a:ext cx="5333200" cy="35144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pPr lvl="0"/>
            <a:r>
              <a:rPr lang="en-US"/>
              <a:t>Edit Master text styles</a:t>
            </a:r>
          </a:p>
        </p:txBody>
      </p:sp>
    </p:spTree>
    <p:extLst>
      <p:ext uri="{BB962C8B-B14F-4D97-AF65-F5344CB8AC3E}">
        <p14:creationId xmlns:p14="http://schemas.microsoft.com/office/powerpoint/2010/main" val="1680453004"/>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4"/>
        <p:cNvGrpSpPr/>
        <p:nvPr/>
      </p:nvGrpSpPr>
      <p:grpSpPr>
        <a:xfrm>
          <a:off x="0" y="0"/>
          <a:ext cx="0" cy="0"/>
          <a:chOff x="0" y="0"/>
          <a:chExt cx="0" cy="0"/>
        </a:xfrm>
      </p:grpSpPr>
      <p:sp>
        <p:nvSpPr>
          <p:cNvPr id="25" name="Google Shape;25;p6"/>
          <p:cNvSpPr txBox="1">
            <a:spLocks noGrp="1"/>
          </p:cNvSpPr>
          <p:nvPr>
            <p:ph type="title"/>
          </p:nvPr>
        </p:nvSpPr>
        <p:spPr>
          <a:xfrm>
            <a:off x="415600" y="1653533"/>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3586881837"/>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6"/>
        <p:cNvGrpSpPr/>
        <p:nvPr/>
      </p:nvGrpSpPr>
      <p:grpSpPr>
        <a:xfrm>
          <a:off x="0" y="0"/>
          <a:ext cx="0" cy="0"/>
          <a:chOff x="0" y="0"/>
          <a:chExt cx="0" cy="0"/>
        </a:xfrm>
      </p:grpSpPr>
      <p:sp>
        <p:nvSpPr>
          <p:cNvPr id="27" name="Google Shape;27;p7"/>
          <p:cNvSpPr txBox="1">
            <a:spLocks noGrp="1"/>
          </p:cNvSpPr>
          <p:nvPr>
            <p:ph type="title"/>
          </p:nvPr>
        </p:nvSpPr>
        <p:spPr>
          <a:xfrm>
            <a:off x="415600" y="740800"/>
            <a:ext cx="3744000" cy="10076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r>
              <a:rPr lang="en-US"/>
              <a:t>Click to edit Master title style</a:t>
            </a:r>
            <a:endParaRPr/>
          </a:p>
        </p:txBody>
      </p:sp>
      <p:sp>
        <p:nvSpPr>
          <p:cNvPr id="28" name="Google Shape;28;p7"/>
          <p:cNvSpPr txBox="1">
            <a:spLocks noGrp="1"/>
          </p:cNvSpPr>
          <p:nvPr>
            <p:ph type="body" idx="1"/>
          </p:nvPr>
        </p:nvSpPr>
        <p:spPr>
          <a:xfrm>
            <a:off x="415600" y="1852800"/>
            <a:ext cx="6727200" cy="4239200"/>
          </a:xfrm>
          <a:prstGeom prst="rect">
            <a:avLst/>
          </a:prstGeom>
        </p:spPr>
        <p:txBody>
          <a:bodyPr spcFirstLastPara="1" wrap="square" lIns="91425" tIns="91425" rIns="91425" bIns="91425" anchor="t" anchorCtr="0">
            <a:normAutofit/>
          </a:bodyPr>
          <a:lstStyle>
            <a:lvl1pPr marL="609585" lvl="0" indent="-406390">
              <a:spcBef>
                <a:spcPts val="0"/>
              </a:spcBef>
              <a:spcAft>
                <a:spcPts val="0"/>
              </a:spcAft>
              <a:buSzPts val="1200"/>
              <a:buChar char="●"/>
              <a:defRPr sz="1600"/>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pPr lvl="0"/>
            <a:r>
              <a:rPr lang="en-US"/>
              <a:t>Edit Master text styles</a:t>
            </a:r>
          </a:p>
        </p:txBody>
      </p:sp>
    </p:spTree>
    <p:extLst>
      <p:ext uri="{BB962C8B-B14F-4D97-AF65-F5344CB8AC3E}">
        <p14:creationId xmlns:p14="http://schemas.microsoft.com/office/powerpoint/2010/main" val="623411786"/>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29"/>
        <p:cNvGrpSpPr/>
        <p:nvPr/>
      </p:nvGrpSpPr>
      <p:grpSpPr>
        <a:xfrm>
          <a:off x="0" y="0"/>
          <a:ext cx="0" cy="0"/>
          <a:chOff x="0" y="0"/>
          <a:chExt cx="0" cy="0"/>
        </a:xfrm>
      </p:grpSpPr>
      <p:sp>
        <p:nvSpPr>
          <p:cNvPr id="30" name="Google Shape;30;p8"/>
          <p:cNvSpPr txBox="1">
            <a:spLocks noGrp="1"/>
          </p:cNvSpPr>
          <p:nvPr>
            <p:ph type="title"/>
          </p:nvPr>
        </p:nvSpPr>
        <p:spPr>
          <a:xfrm>
            <a:off x="653667" y="600200"/>
            <a:ext cx="8490400" cy="5454400"/>
          </a:xfrm>
          <a:prstGeom prst="rect">
            <a:avLst/>
          </a:prstGeom>
        </p:spPr>
        <p:txBody>
          <a:bodyPr spcFirstLastPara="1" wrap="square" lIns="91425" tIns="91425" rIns="91425" bIns="91425" anchor="ctr" anchorCtr="0">
            <a:normAutofit/>
          </a:bodyPr>
          <a:lstStyle>
            <a:lvl1pPr lvl="0">
              <a:spcBef>
                <a:spcPts val="0"/>
              </a:spcBef>
              <a:spcAft>
                <a:spcPts val="0"/>
              </a:spcAft>
              <a:buSzPts val="3900"/>
              <a:buNone/>
              <a:defRPr sz="52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r>
              <a:rPr lang="en-US"/>
              <a:t>Click to edit Master title style</a:t>
            </a:r>
            <a:endParaRPr/>
          </a:p>
        </p:txBody>
      </p:sp>
    </p:spTree>
    <p:extLst>
      <p:ext uri="{BB962C8B-B14F-4D97-AF65-F5344CB8AC3E}">
        <p14:creationId xmlns:p14="http://schemas.microsoft.com/office/powerpoint/2010/main" val="45310060"/>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1"/>
        <p:cNvGrpSpPr/>
        <p:nvPr/>
      </p:nvGrpSpPr>
      <p:grpSpPr>
        <a:xfrm>
          <a:off x="0" y="0"/>
          <a:ext cx="0" cy="0"/>
          <a:chOff x="0" y="0"/>
          <a:chExt cx="0" cy="0"/>
        </a:xfrm>
      </p:grpSpPr>
      <p:sp>
        <p:nvSpPr>
          <p:cNvPr id="32" name="Google Shape;32;p9"/>
          <p:cNvSpPr/>
          <p:nvPr/>
        </p:nvSpPr>
        <p:spPr>
          <a:xfrm>
            <a:off x="6096000" y="-167"/>
            <a:ext cx="6096000" cy="63548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3" name="Google Shape;33;p9"/>
          <p:cNvSpPr txBox="1">
            <a:spLocks noGrp="1"/>
          </p:cNvSpPr>
          <p:nvPr>
            <p:ph type="title"/>
          </p:nvPr>
        </p:nvSpPr>
        <p:spPr>
          <a:xfrm>
            <a:off x="354000" y="1644233"/>
            <a:ext cx="5393600" cy="19764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5600"/>
            </a:lvl1pPr>
            <a:lvl2pPr lvl="1" algn="ctr">
              <a:spcBef>
                <a:spcPts val="0"/>
              </a:spcBef>
              <a:spcAft>
                <a:spcPts val="0"/>
              </a:spcAft>
              <a:buSzPts val="4200"/>
              <a:buNone/>
              <a:defRPr sz="5600"/>
            </a:lvl2pPr>
            <a:lvl3pPr lvl="2" algn="ctr">
              <a:spcBef>
                <a:spcPts val="0"/>
              </a:spcBef>
              <a:spcAft>
                <a:spcPts val="0"/>
              </a:spcAft>
              <a:buSzPts val="4200"/>
              <a:buNone/>
              <a:defRPr sz="5600"/>
            </a:lvl3pPr>
            <a:lvl4pPr lvl="3" algn="ctr">
              <a:spcBef>
                <a:spcPts val="0"/>
              </a:spcBef>
              <a:spcAft>
                <a:spcPts val="0"/>
              </a:spcAft>
              <a:buSzPts val="4200"/>
              <a:buNone/>
              <a:defRPr sz="5600"/>
            </a:lvl4pPr>
            <a:lvl5pPr lvl="4" algn="ctr">
              <a:spcBef>
                <a:spcPts val="0"/>
              </a:spcBef>
              <a:spcAft>
                <a:spcPts val="0"/>
              </a:spcAft>
              <a:buSzPts val="4200"/>
              <a:buNone/>
              <a:defRPr sz="5600"/>
            </a:lvl5pPr>
            <a:lvl6pPr lvl="5" algn="ctr">
              <a:spcBef>
                <a:spcPts val="0"/>
              </a:spcBef>
              <a:spcAft>
                <a:spcPts val="0"/>
              </a:spcAft>
              <a:buSzPts val="4200"/>
              <a:buNone/>
              <a:defRPr sz="5600"/>
            </a:lvl6pPr>
            <a:lvl7pPr lvl="6" algn="ctr">
              <a:spcBef>
                <a:spcPts val="0"/>
              </a:spcBef>
              <a:spcAft>
                <a:spcPts val="0"/>
              </a:spcAft>
              <a:buSzPts val="4200"/>
              <a:buNone/>
              <a:defRPr sz="5600"/>
            </a:lvl7pPr>
            <a:lvl8pPr lvl="7" algn="ctr">
              <a:spcBef>
                <a:spcPts val="0"/>
              </a:spcBef>
              <a:spcAft>
                <a:spcPts val="0"/>
              </a:spcAft>
              <a:buSzPts val="4200"/>
              <a:buNone/>
              <a:defRPr sz="5600"/>
            </a:lvl8pPr>
            <a:lvl9pPr lvl="8" algn="ctr">
              <a:spcBef>
                <a:spcPts val="0"/>
              </a:spcBef>
              <a:spcAft>
                <a:spcPts val="0"/>
              </a:spcAft>
              <a:buSzPts val="4200"/>
              <a:buNone/>
              <a:defRPr sz="5600"/>
            </a:lvl9pPr>
          </a:lstStyle>
          <a:p>
            <a:r>
              <a:rPr lang="en-US"/>
              <a:t>Click to edit Master title style</a:t>
            </a:r>
            <a:endParaRPr/>
          </a:p>
        </p:txBody>
      </p:sp>
      <p:sp>
        <p:nvSpPr>
          <p:cNvPr id="34" name="Google Shape;34;p9"/>
          <p:cNvSpPr txBox="1">
            <a:spLocks noGrp="1"/>
          </p:cNvSpPr>
          <p:nvPr>
            <p:ph type="subTitle" idx="1"/>
          </p:nvPr>
        </p:nvSpPr>
        <p:spPr>
          <a:xfrm>
            <a:off x="354000" y="3737433"/>
            <a:ext cx="5393600" cy="164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r>
              <a:rPr lang="en-US"/>
              <a:t>Click to edit Master subtitle style</a:t>
            </a:r>
            <a:endParaRPr/>
          </a:p>
        </p:txBody>
      </p:sp>
      <p:sp>
        <p:nvSpPr>
          <p:cNvPr id="35" name="Google Shape;35;p9"/>
          <p:cNvSpPr txBox="1">
            <a:spLocks noGrp="1"/>
          </p:cNvSpPr>
          <p:nvPr>
            <p:ph type="body" idx="2"/>
          </p:nvPr>
        </p:nvSpPr>
        <p:spPr>
          <a:xfrm>
            <a:off x="6586000" y="965433"/>
            <a:ext cx="5116000" cy="4926800"/>
          </a:xfrm>
          <a:prstGeom prst="rect">
            <a:avLst/>
          </a:prstGeom>
        </p:spPr>
        <p:txBody>
          <a:bodyPr spcFirstLastPara="1" wrap="square" lIns="91425" tIns="91425" rIns="91425" bIns="91425" anchor="ctr"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pPr lvl="0"/>
            <a:r>
              <a:rPr lang="en-US"/>
              <a:t>Edit Master text styles</a:t>
            </a:r>
          </a:p>
        </p:txBody>
      </p:sp>
    </p:spTree>
    <p:extLst>
      <p:ext uri="{BB962C8B-B14F-4D97-AF65-F5344CB8AC3E}">
        <p14:creationId xmlns:p14="http://schemas.microsoft.com/office/powerpoint/2010/main" val="847478499"/>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36"/>
        <p:cNvGrpSpPr/>
        <p:nvPr/>
      </p:nvGrpSpPr>
      <p:grpSpPr>
        <a:xfrm>
          <a:off x="0" y="0"/>
          <a:ext cx="0" cy="0"/>
          <a:chOff x="0" y="0"/>
          <a:chExt cx="0" cy="0"/>
        </a:xfrm>
      </p:grpSpPr>
      <p:sp>
        <p:nvSpPr>
          <p:cNvPr id="37" name="Google Shape;37;p10"/>
          <p:cNvSpPr txBox="1">
            <a:spLocks noGrp="1"/>
          </p:cNvSpPr>
          <p:nvPr>
            <p:ph type="body" idx="1"/>
          </p:nvPr>
        </p:nvSpPr>
        <p:spPr>
          <a:xfrm>
            <a:off x="415600" y="5640767"/>
            <a:ext cx="7998400" cy="806800"/>
          </a:xfrm>
          <a:prstGeom prst="rect">
            <a:avLst/>
          </a:prstGeom>
        </p:spPr>
        <p:txBody>
          <a:bodyPr spcFirstLastPara="1" wrap="square" lIns="91425" tIns="91425" rIns="91425" bIns="91425" anchor="ctr" anchorCtr="0">
            <a:normAutofit/>
          </a:bodyPr>
          <a:lstStyle>
            <a:lvl1pPr marL="609585" lvl="0" indent="-304792">
              <a:lnSpc>
                <a:spcPct val="100000"/>
              </a:lnSpc>
              <a:spcBef>
                <a:spcPts val="0"/>
              </a:spcBef>
              <a:spcAft>
                <a:spcPts val="0"/>
              </a:spcAft>
              <a:buSzPts val="1800"/>
              <a:buNone/>
              <a:defRPr/>
            </a:lvl1pPr>
          </a:lstStyle>
          <a:p>
            <a:pPr lvl="0"/>
            <a:r>
              <a:rPr lang="en-US"/>
              <a:t>Edit Master text styles</a:t>
            </a:r>
          </a:p>
        </p:txBody>
      </p:sp>
    </p:spTree>
    <p:extLst>
      <p:ext uri="{BB962C8B-B14F-4D97-AF65-F5344CB8AC3E}">
        <p14:creationId xmlns:p14="http://schemas.microsoft.com/office/powerpoint/2010/main" val="198302932"/>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38"/>
        <p:cNvGrpSpPr/>
        <p:nvPr/>
      </p:nvGrpSpPr>
      <p:grpSpPr>
        <a:xfrm>
          <a:off x="0" y="0"/>
          <a:ext cx="0" cy="0"/>
          <a:chOff x="0" y="0"/>
          <a:chExt cx="0" cy="0"/>
        </a:xfrm>
      </p:grpSpPr>
      <p:sp>
        <p:nvSpPr>
          <p:cNvPr id="39" name="Google Shape;39;p11"/>
          <p:cNvSpPr txBox="1">
            <a:spLocks noGrp="1"/>
          </p:cNvSpPr>
          <p:nvPr>
            <p:ph type="title" hasCustomPrompt="1"/>
          </p:nvPr>
        </p:nvSpPr>
        <p:spPr>
          <a:xfrm>
            <a:off x="415600" y="1616767"/>
            <a:ext cx="11360800" cy="1358000"/>
          </a:xfrm>
          <a:prstGeom prst="rect">
            <a:avLst/>
          </a:prstGeom>
        </p:spPr>
        <p:txBody>
          <a:bodyPr spcFirstLastPara="1" wrap="square" lIns="91425" tIns="91425" rIns="91425" bIns="91425" anchor="b" anchorCtr="0">
            <a:normAutofit/>
          </a:bodyPr>
          <a:lstStyle>
            <a:lvl1pPr lvl="0" algn="ctr">
              <a:spcBef>
                <a:spcPts val="0"/>
              </a:spcBef>
              <a:spcAft>
                <a:spcPts val="0"/>
              </a:spcAft>
              <a:buSzPts val="7200"/>
              <a:buNone/>
              <a:defRPr sz="9600"/>
            </a:lvl1pPr>
            <a:lvl2pPr lvl="1" algn="ctr">
              <a:spcBef>
                <a:spcPts val="0"/>
              </a:spcBef>
              <a:spcAft>
                <a:spcPts val="0"/>
              </a:spcAft>
              <a:buSzPts val="12000"/>
              <a:buNone/>
              <a:defRPr sz="16000"/>
            </a:lvl2pPr>
            <a:lvl3pPr lvl="2" algn="ctr">
              <a:spcBef>
                <a:spcPts val="0"/>
              </a:spcBef>
              <a:spcAft>
                <a:spcPts val="0"/>
              </a:spcAft>
              <a:buSzPts val="12000"/>
              <a:buNone/>
              <a:defRPr sz="16000"/>
            </a:lvl3pPr>
            <a:lvl4pPr lvl="3" algn="ctr">
              <a:spcBef>
                <a:spcPts val="0"/>
              </a:spcBef>
              <a:spcAft>
                <a:spcPts val="0"/>
              </a:spcAft>
              <a:buSzPts val="12000"/>
              <a:buNone/>
              <a:defRPr sz="16000"/>
            </a:lvl4pPr>
            <a:lvl5pPr lvl="4" algn="ctr">
              <a:spcBef>
                <a:spcPts val="0"/>
              </a:spcBef>
              <a:spcAft>
                <a:spcPts val="0"/>
              </a:spcAft>
              <a:buSzPts val="12000"/>
              <a:buNone/>
              <a:defRPr sz="16000"/>
            </a:lvl5pPr>
            <a:lvl6pPr lvl="5" algn="ctr">
              <a:spcBef>
                <a:spcPts val="0"/>
              </a:spcBef>
              <a:spcAft>
                <a:spcPts val="0"/>
              </a:spcAft>
              <a:buSzPts val="12000"/>
              <a:buNone/>
              <a:defRPr sz="16000"/>
            </a:lvl6pPr>
            <a:lvl7pPr lvl="6" algn="ctr">
              <a:spcBef>
                <a:spcPts val="0"/>
              </a:spcBef>
              <a:spcAft>
                <a:spcPts val="0"/>
              </a:spcAft>
              <a:buSzPts val="12000"/>
              <a:buNone/>
              <a:defRPr sz="16000"/>
            </a:lvl7pPr>
            <a:lvl8pPr lvl="7" algn="ctr">
              <a:spcBef>
                <a:spcPts val="0"/>
              </a:spcBef>
              <a:spcAft>
                <a:spcPts val="0"/>
              </a:spcAft>
              <a:buSzPts val="12000"/>
              <a:buNone/>
              <a:defRPr sz="16000"/>
            </a:lvl8pPr>
            <a:lvl9pPr lvl="8" algn="ctr">
              <a:spcBef>
                <a:spcPts val="0"/>
              </a:spcBef>
              <a:spcAft>
                <a:spcPts val="0"/>
              </a:spcAft>
              <a:buSzPts val="12000"/>
              <a:buNone/>
              <a:defRPr sz="16000"/>
            </a:lvl9pPr>
          </a:lstStyle>
          <a:p>
            <a:r>
              <a:t>xx%</a:t>
            </a:r>
          </a:p>
        </p:txBody>
      </p:sp>
      <p:sp>
        <p:nvSpPr>
          <p:cNvPr id="40" name="Google Shape;40;p11"/>
          <p:cNvSpPr txBox="1">
            <a:spLocks noGrp="1"/>
          </p:cNvSpPr>
          <p:nvPr>
            <p:ph type="body" idx="1"/>
          </p:nvPr>
        </p:nvSpPr>
        <p:spPr>
          <a:xfrm>
            <a:off x="415600" y="2809467"/>
            <a:ext cx="11360800" cy="3128000"/>
          </a:xfrm>
          <a:prstGeom prst="rect">
            <a:avLst/>
          </a:prstGeom>
        </p:spPr>
        <p:txBody>
          <a:bodyPr spcFirstLastPara="1" wrap="square" lIns="91425" tIns="91425" rIns="91425" bIns="91425" anchor="t" anchorCtr="0">
            <a:normAutofit/>
          </a:bodyPr>
          <a:lstStyle>
            <a:lvl1pPr marL="609585" lvl="0" indent="-457189" algn="ctr">
              <a:spcBef>
                <a:spcPts val="0"/>
              </a:spcBef>
              <a:spcAft>
                <a:spcPts val="0"/>
              </a:spcAft>
              <a:buSzPts val="1800"/>
              <a:buChar char="●"/>
              <a:defRPr/>
            </a:lvl1pPr>
            <a:lvl2pPr marL="1219170" lvl="1" indent="-423323" algn="ctr">
              <a:spcBef>
                <a:spcPts val="0"/>
              </a:spcBef>
              <a:spcAft>
                <a:spcPts val="0"/>
              </a:spcAft>
              <a:buSzPts val="1400"/>
              <a:buChar char="○"/>
              <a:defRPr/>
            </a:lvl2pPr>
            <a:lvl3pPr marL="1828754" lvl="2" indent="-423323" algn="ctr">
              <a:spcBef>
                <a:spcPts val="0"/>
              </a:spcBef>
              <a:spcAft>
                <a:spcPts val="0"/>
              </a:spcAft>
              <a:buSzPts val="1400"/>
              <a:buChar char="■"/>
              <a:defRPr/>
            </a:lvl3pPr>
            <a:lvl4pPr marL="2438339" lvl="3" indent="-423323" algn="ctr">
              <a:spcBef>
                <a:spcPts val="0"/>
              </a:spcBef>
              <a:spcAft>
                <a:spcPts val="0"/>
              </a:spcAft>
              <a:buSzPts val="1400"/>
              <a:buChar char="●"/>
              <a:defRPr/>
            </a:lvl4pPr>
            <a:lvl5pPr marL="3047924" lvl="4" indent="-423323" algn="ctr">
              <a:spcBef>
                <a:spcPts val="0"/>
              </a:spcBef>
              <a:spcAft>
                <a:spcPts val="0"/>
              </a:spcAft>
              <a:buSzPts val="1400"/>
              <a:buChar char="○"/>
              <a:defRPr/>
            </a:lvl5pPr>
            <a:lvl6pPr marL="3657509" lvl="5" indent="-423323" algn="ctr">
              <a:spcBef>
                <a:spcPts val="0"/>
              </a:spcBef>
              <a:spcAft>
                <a:spcPts val="0"/>
              </a:spcAft>
              <a:buSzPts val="1400"/>
              <a:buChar char="■"/>
              <a:defRPr/>
            </a:lvl6pPr>
            <a:lvl7pPr marL="4267093" lvl="6" indent="-423323" algn="ctr">
              <a:spcBef>
                <a:spcPts val="0"/>
              </a:spcBef>
              <a:spcAft>
                <a:spcPts val="0"/>
              </a:spcAft>
              <a:buSzPts val="1400"/>
              <a:buChar char="●"/>
              <a:defRPr/>
            </a:lvl7pPr>
            <a:lvl8pPr marL="4876678" lvl="7" indent="-423323" algn="ctr">
              <a:spcBef>
                <a:spcPts val="0"/>
              </a:spcBef>
              <a:spcAft>
                <a:spcPts val="0"/>
              </a:spcAft>
              <a:buSzPts val="1400"/>
              <a:buChar char="○"/>
              <a:defRPr/>
            </a:lvl8pPr>
            <a:lvl9pPr marL="5486263" lvl="8" indent="-423323" algn="ctr">
              <a:spcBef>
                <a:spcPts val="0"/>
              </a:spcBef>
              <a:spcAft>
                <a:spcPts val="0"/>
              </a:spcAft>
              <a:buSzPts val="1400"/>
              <a:buChar char="■"/>
              <a:defRPr/>
            </a:lvl9pPr>
          </a:lstStyle>
          <a:p>
            <a:pPr lvl="0"/>
            <a:r>
              <a:rPr lang="en-US"/>
              <a:t>Edit Master text styles</a:t>
            </a:r>
          </a:p>
        </p:txBody>
      </p:sp>
    </p:spTree>
    <p:extLst>
      <p:ext uri="{BB962C8B-B14F-4D97-AF65-F5344CB8AC3E}">
        <p14:creationId xmlns:p14="http://schemas.microsoft.com/office/powerpoint/2010/main" val="435815020"/>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5AD32-6CC5-4449-D637-1E5701CFC0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A85347B-4EC0-55E5-FFBF-3861810AEF70}"/>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D607033-3A2F-9230-E28E-B568A2695B08}"/>
              </a:ext>
            </a:extLst>
          </p:cNvPr>
          <p:cNvSpPr>
            <a:spLocks noGrp="1"/>
          </p:cNvSpPr>
          <p:nvPr>
            <p:ph type="dt" sz="half" idx="10"/>
          </p:nvPr>
        </p:nvSpPr>
        <p:spPr/>
        <p:txBody>
          <a:bodyPr/>
          <a:lstStyle/>
          <a:p>
            <a:fld id="{BB961044-FC46-4CBC-9061-59528F4899F3}" type="datetime1">
              <a:rPr lang="en-US" smtClean="0"/>
              <a:t>4/17/2026</a:t>
            </a:fld>
            <a:endParaRPr lang="en-US"/>
          </a:p>
        </p:txBody>
      </p:sp>
      <p:sp>
        <p:nvSpPr>
          <p:cNvPr id="5" name="Footer Placeholder 4">
            <a:extLst>
              <a:ext uri="{FF2B5EF4-FFF2-40B4-BE49-F238E27FC236}">
                <a16:creationId xmlns:a16="http://schemas.microsoft.com/office/drawing/2014/main" id="{5610C4A3-5708-D88E-FE4B-462E0634773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4BCB57A-9EFC-55AA-E22F-5245AE52C5B0}"/>
              </a:ext>
            </a:extLst>
          </p:cNvPr>
          <p:cNvSpPr>
            <a:spLocks noGrp="1"/>
          </p:cNvSpPr>
          <p:nvPr>
            <p:ph type="sldNum" sz="quarter" idx="12"/>
          </p:nvPr>
        </p:nvSpPr>
        <p:spPr/>
        <p:txBody>
          <a:bodyPr/>
          <a:lstStyle/>
          <a:p>
            <a:fld id="{B8DACC02-A2BD-4578-8E03-6D891060A695}" type="slidenum">
              <a:rPr lang="en-US" smtClean="0"/>
              <a:pPr/>
              <a:t>‹#›</a:t>
            </a:fld>
            <a:endParaRPr lang="en-US" dirty="0"/>
          </a:p>
        </p:txBody>
      </p:sp>
      <p:sp>
        <p:nvSpPr>
          <p:cNvPr id="7" name="Rectangle 6"/>
          <p:cNvSpPr/>
          <p:nvPr userDrawn="1"/>
        </p:nvSpPr>
        <p:spPr>
          <a:xfrm>
            <a:off x="-2493" y="0"/>
            <a:ext cx="12192000" cy="1207301"/>
          </a:xfrm>
          <a:prstGeom prst="rect">
            <a:avLst/>
          </a:prstGeom>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8" name="Chevron 7"/>
          <p:cNvSpPr/>
          <p:nvPr userDrawn="1"/>
        </p:nvSpPr>
        <p:spPr>
          <a:xfrm>
            <a:off x="244267" y="6520960"/>
            <a:ext cx="11232732" cy="282011"/>
          </a:xfrm>
          <a:prstGeom prst="chevron">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solidFill>
                <a:schemeClr val="tx1"/>
              </a:solidFill>
            </a:endParaRPr>
          </a:p>
        </p:txBody>
      </p:sp>
      <p:sp>
        <p:nvSpPr>
          <p:cNvPr id="9" name="Hexagon 8"/>
          <p:cNvSpPr/>
          <p:nvPr userDrawn="1"/>
        </p:nvSpPr>
        <p:spPr>
          <a:xfrm>
            <a:off x="11477001" y="6520959"/>
            <a:ext cx="521291" cy="282011"/>
          </a:xfrm>
          <a:prstGeom prst="hexagon">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141731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1C93A2-B712-486A-8AB5-D41B95D547BE}" type="datetime1">
              <a:rPr lang="en-US" smtClean="0"/>
              <a:t>4/17/2026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DACC02-A2BD-4578-8E03-6D891060A695}" type="slidenum">
              <a:rPr lang="en-US" smtClean="0"/>
              <a:t>‹#›</a:t>
            </a:fld>
            <a:endParaRPr lang="en-US"/>
          </a:p>
        </p:txBody>
      </p:sp>
    </p:spTree>
    <p:extLst>
      <p:ext uri="{BB962C8B-B14F-4D97-AF65-F5344CB8AC3E}">
        <p14:creationId xmlns:p14="http://schemas.microsoft.com/office/powerpoint/2010/main" val="40183495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838200" y="6356350"/>
            <a:ext cx="2743200" cy="365125"/>
          </a:xfrm>
          <a:prstGeom prst="rect">
            <a:avLst/>
          </a:prstGeom>
        </p:spPr>
        <p:txBody>
          <a:bodyPr/>
          <a:lstStyle/>
          <a:p>
            <a:fld id="{AE6064B7-7A9F-432D-B7B9-6824267AA574}" type="datetime1">
              <a:rPr lang="en-US" smtClean="0"/>
              <a:t>4/17/2026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Rectangle 5"/>
          <p:cNvSpPr/>
          <p:nvPr userDrawn="1"/>
        </p:nvSpPr>
        <p:spPr>
          <a:xfrm>
            <a:off x="-2493" y="0"/>
            <a:ext cx="12192000" cy="1207301"/>
          </a:xfrm>
          <a:prstGeom prst="rect">
            <a:avLst/>
          </a:prstGeom>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7" name="Title 1"/>
          <p:cNvSpPr>
            <a:spLocks noGrp="1"/>
          </p:cNvSpPr>
          <p:nvPr>
            <p:ph type="title"/>
          </p:nvPr>
        </p:nvSpPr>
        <p:spPr>
          <a:xfrm>
            <a:off x="347527" y="-1"/>
            <a:ext cx="11650767" cy="1207301"/>
          </a:xfrm>
        </p:spPr>
        <p:txBody>
          <a:bodyPr/>
          <a:lstStyle>
            <a:lvl1pPr>
              <a:defRPr b="1">
                <a:solidFill>
                  <a:schemeClr val="bg1"/>
                </a:solidFill>
                <a:latin typeface="Candara" panose="020E0502030303020204" pitchFamily="34" charset="0"/>
              </a:defRPr>
            </a:lvl1pPr>
          </a:lstStyle>
          <a:p>
            <a:r>
              <a:rPr lang="en-US"/>
              <a:t>Click to edit Master title style</a:t>
            </a:r>
          </a:p>
        </p:txBody>
      </p:sp>
      <p:sp>
        <p:nvSpPr>
          <p:cNvPr id="8" name="Date Placeholder 3"/>
          <p:cNvSpPr txBox="1">
            <a:spLocks/>
          </p:cNvSpPr>
          <p:nvPr userDrawn="1"/>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2F5E2FA-C428-4CE7-95B0-168D3259A5BB}" type="datetimeFigureOut">
              <a:rPr lang="en-US" smtClean="0"/>
              <a:pPr/>
              <a:t>4/17/2026</a:t>
            </a:fld>
            <a:endParaRPr lang="en-US"/>
          </a:p>
        </p:txBody>
      </p:sp>
      <p:sp>
        <p:nvSpPr>
          <p:cNvPr id="9" name="Chevron 8"/>
          <p:cNvSpPr/>
          <p:nvPr userDrawn="1"/>
        </p:nvSpPr>
        <p:spPr>
          <a:xfrm>
            <a:off x="244267" y="6520960"/>
            <a:ext cx="11232732" cy="282011"/>
          </a:xfrm>
          <a:prstGeom prst="chevron">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solidFill>
                <a:schemeClr val="tx1"/>
              </a:solidFill>
            </a:endParaRPr>
          </a:p>
        </p:txBody>
      </p:sp>
      <p:sp>
        <p:nvSpPr>
          <p:cNvPr id="11" name="Hexagon 10"/>
          <p:cNvSpPr/>
          <p:nvPr userDrawn="1"/>
        </p:nvSpPr>
        <p:spPr>
          <a:xfrm>
            <a:off x="11477001" y="6520959"/>
            <a:ext cx="521291" cy="282011"/>
          </a:xfrm>
          <a:prstGeom prst="hexagon">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12" name="Slide Number Placeholder 5"/>
          <p:cNvSpPr>
            <a:spLocks noGrp="1"/>
          </p:cNvSpPr>
          <p:nvPr>
            <p:ph type="sldNum" sz="quarter" idx="12"/>
          </p:nvPr>
        </p:nvSpPr>
        <p:spPr>
          <a:xfrm>
            <a:off x="11477000" y="6492875"/>
            <a:ext cx="521291" cy="365125"/>
          </a:xfrm>
        </p:spPr>
        <p:txBody>
          <a:bodyPr/>
          <a:lstStyle>
            <a:lvl1pPr algn="ctr">
              <a:defRPr>
                <a:solidFill>
                  <a:schemeClr val="tx1"/>
                </a:solidFill>
                <a:latin typeface="Candara" panose="020E0502030303020204" pitchFamily="34" charset="0"/>
              </a:defRPr>
            </a:lvl1pPr>
          </a:lstStyle>
          <a:p>
            <a:fld id="{B8DACC02-A2BD-4578-8E03-6D891060A695}" type="slidenum">
              <a:rPr lang="en-US" smtClean="0"/>
              <a:pPr/>
              <a:t>‹#›</a:t>
            </a:fld>
            <a:endParaRPr lang="en-US" dirty="0"/>
          </a:p>
        </p:txBody>
      </p:sp>
    </p:spTree>
    <p:extLst>
      <p:ext uri="{BB962C8B-B14F-4D97-AF65-F5344CB8AC3E}">
        <p14:creationId xmlns:p14="http://schemas.microsoft.com/office/powerpoint/2010/main" val="39503407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2_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4/17/2026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9514308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1653533"/>
            <a:ext cx="11360800" cy="7636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415600" y="2660367"/>
            <a:ext cx="11360800" cy="34316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lvl="0" algn="r">
              <a:buNone/>
              <a:defRPr sz="1333">
                <a:solidFill>
                  <a:schemeClr val="dk2"/>
                </a:solidFill>
              </a:defRPr>
            </a:lvl1pPr>
            <a:lvl2pPr lvl="1" algn="r">
              <a:buNone/>
              <a:defRPr sz="1333">
                <a:solidFill>
                  <a:schemeClr val="dk2"/>
                </a:solidFill>
              </a:defRPr>
            </a:lvl2pPr>
            <a:lvl3pPr lvl="2" algn="r">
              <a:buNone/>
              <a:defRPr sz="1333">
                <a:solidFill>
                  <a:schemeClr val="dk2"/>
                </a:solidFill>
              </a:defRPr>
            </a:lvl3pPr>
            <a:lvl4pPr lvl="3" algn="r">
              <a:buNone/>
              <a:defRPr sz="1333">
                <a:solidFill>
                  <a:schemeClr val="dk2"/>
                </a:solidFill>
              </a:defRPr>
            </a:lvl4pPr>
            <a:lvl5pPr lvl="4" algn="r">
              <a:buNone/>
              <a:defRPr sz="1333">
                <a:solidFill>
                  <a:schemeClr val="dk2"/>
                </a:solidFill>
              </a:defRPr>
            </a:lvl5pPr>
            <a:lvl6pPr lvl="5" algn="r">
              <a:buNone/>
              <a:defRPr sz="1333">
                <a:solidFill>
                  <a:schemeClr val="dk2"/>
                </a:solidFill>
              </a:defRPr>
            </a:lvl6pPr>
            <a:lvl7pPr lvl="6" algn="r">
              <a:buNone/>
              <a:defRPr sz="1333">
                <a:solidFill>
                  <a:schemeClr val="dk2"/>
                </a:solidFill>
              </a:defRPr>
            </a:lvl7pPr>
            <a:lvl8pPr lvl="7" algn="r">
              <a:buNone/>
              <a:defRPr sz="1333">
                <a:solidFill>
                  <a:schemeClr val="dk2"/>
                </a:solidFill>
              </a:defRPr>
            </a:lvl8pPr>
            <a:lvl9pPr lvl="8" algn="r">
              <a:buNone/>
              <a:defRPr sz="1333">
                <a:solidFill>
                  <a:schemeClr val="dk2"/>
                </a:solidFill>
              </a:defRPr>
            </a:lvl9pPr>
          </a:lstStyle>
          <a:p>
            <a:fld id="{B8DACC02-A2BD-4578-8E03-6D891060A695}" type="slidenum">
              <a:rPr lang="en-US" smtClean="0"/>
              <a:t>‹#›</a:t>
            </a:fld>
            <a:endParaRPr lang="en-US"/>
          </a:p>
        </p:txBody>
      </p:sp>
      <p:pic>
        <p:nvPicPr>
          <p:cNvPr id="9" name="Google Shape;9;p1" title="Nitte University Logo Blue.png"/>
          <p:cNvPicPr preferRelativeResize="0"/>
          <p:nvPr/>
        </p:nvPicPr>
        <p:blipFill>
          <a:blip r:embed="rId16">
            <a:alphaModFix/>
          </a:blip>
          <a:stretch>
            <a:fillRect/>
          </a:stretch>
        </p:blipFill>
        <p:spPr>
          <a:xfrm>
            <a:off x="9294667" y="385234"/>
            <a:ext cx="2462269" cy="983468"/>
          </a:xfrm>
          <a:prstGeom prst="rect">
            <a:avLst/>
          </a:prstGeom>
          <a:noFill/>
          <a:ln>
            <a:noFill/>
          </a:ln>
        </p:spPr>
      </p:pic>
      <p:sp>
        <p:nvSpPr>
          <p:cNvPr id="10" name="Google Shape;10;p1"/>
          <p:cNvSpPr/>
          <p:nvPr/>
        </p:nvSpPr>
        <p:spPr>
          <a:xfrm>
            <a:off x="-129200" y="6370833"/>
            <a:ext cx="12427200" cy="646000"/>
          </a:xfrm>
          <a:prstGeom prst="rect">
            <a:avLst/>
          </a:prstGeom>
          <a:solidFill>
            <a:srgbClr val="FDB913"/>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2400"/>
          </a:p>
        </p:txBody>
      </p:sp>
      <p:sp>
        <p:nvSpPr>
          <p:cNvPr id="11" name="Google Shape;11;p1"/>
          <p:cNvSpPr txBox="1"/>
          <p:nvPr/>
        </p:nvSpPr>
        <p:spPr>
          <a:xfrm>
            <a:off x="0" y="6399200"/>
            <a:ext cx="12321200" cy="524800"/>
          </a:xfrm>
          <a:prstGeom prst="rect">
            <a:avLst/>
          </a:prstGeom>
          <a:noFill/>
          <a:ln>
            <a:noFill/>
          </a:ln>
        </p:spPr>
        <p:txBody>
          <a:bodyPr spcFirstLastPara="1" wrap="square" lIns="121900" tIns="121900" rIns="121900" bIns="121900" anchor="t" anchorCtr="0">
            <a:noAutofit/>
          </a:bodyPr>
          <a:lstStyle/>
          <a:p>
            <a:pPr marL="0" lvl="0" indent="0" algn="ctr" rtl="0">
              <a:spcBef>
                <a:spcPts val="0"/>
              </a:spcBef>
              <a:spcAft>
                <a:spcPts val="0"/>
              </a:spcAft>
              <a:buNone/>
            </a:pPr>
            <a:r>
              <a:rPr lang="en-GB" sz="2400" b="1"/>
              <a:t>nitte.edu.in</a:t>
            </a:r>
            <a:endParaRPr sz="2400" b="1"/>
          </a:p>
        </p:txBody>
      </p:sp>
    </p:spTree>
    <p:extLst>
      <p:ext uri="{BB962C8B-B14F-4D97-AF65-F5344CB8AC3E}">
        <p14:creationId xmlns:p14="http://schemas.microsoft.com/office/powerpoint/2010/main" val="3338160939"/>
      </p:ext>
    </p:extLst>
  </p:cSld>
  <p:clrMap bg1="lt1" tx1="dk1" bg2="dk2"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54" r:id="rId13"/>
    <p:sldLayoutId id="2147483675" r:id="rId14"/>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6.xml"/><Relationship Id="rId4" Type="http://schemas.openxmlformats.org/officeDocument/2006/relationships/image" Target="../media/image31.png"/></Relationships>
</file>

<file path=ppt/slides/_rels/slide4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48.png"/></Relationships>
</file>

<file path=ppt/slides/_rels/slide6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0.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2.xml"/></Relationships>
</file>

<file path=ppt/slides/_rels/slide101.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2.xml"/></Relationships>
</file>

<file path=ppt/slides/_rels/slide10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12.xml"/></Relationships>
</file>

<file path=ppt/slides/_rels/slide10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1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8.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12.xml"/><Relationship Id="rId4" Type="http://schemas.openxmlformats.org/officeDocument/2006/relationships/image" Target="../media/image70.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5.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7.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1.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1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4.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12.xml"/></Relationships>
</file>

<file path=ppt/slides/_rels/slide125.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2.xml"/></Relationships>
</file>

<file path=ppt/slides/_rels/slide126.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1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12.xml"/></Relationships>
</file>

<file path=ppt/slides/_rels/slide12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12.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png"/></Relationships>
</file>

<file path=ppt/slides/_rels/slide130.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12.xml"/><Relationship Id="rId4" Type="http://schemas.openxmlformats.org/officeDocument/2006/relationships/image" Target="../media/image87.png"/></Relationships>
</file>

<file path=ppt/slides/_rels/slide131.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1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3.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1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792315"/>
            <a:ext cx="9144000" cy="2387600"/>
          </a:xfrm>
        </p:spPr>
        <p:txBody>
          <a:bodyPr/>
          <a:lstStyle/>
          <a:p>
            <a:r>
              <a:rPr lang="en-US" dirty="0"/>
              <a:t>Advanced Software Engineering Concepts</a:t>
            </a:r>
          </a:p>
        </p:txBody>
      </p:sp>
      <p:sp>
        <p:nvSpPr>
          <p:cNvPr id="3" name="Subtitle 2"/>
          <p:cNvSpPr>
            <a:spLocks noGrp="1"/>
          </p:cNvSpPr>
          <p:nvPr>
            <p:ph type="subTitle" idx="1"/>
          </p:nvPr>
        </p:nvSpPr>
        <p:spPr>
          <a:xfrm>
            <a:off x="855407" y="4271990"/>
            <a:ext cx="10530348" cy="1655762"/>
          </a:xfrm>
        </p:spPr>
        <p:txBody>
          <a:bodyPr>
            <a:normAutofit/>
          </a:bodyPr>
          <a:lstStyle/>
          <a:p>
            <a:r>
              <a:rPr lang="en-US" sz="2800" dirty="0"/>
              <a:t>25MCA203: SOFTWARE ENGINEERING AND TESTING </a:t>
            </a:r>
          </a:p>
        </p:txBody>
      </p:sp>
      <p:sp>
        <p:nvSpPr>
          <p:cNvPr id="4" name="Slide Number Placeholder 3"/>
          <p:cNvSpPr>
            <a:spLocks noGrp="1"/>
          </p:cNvSpPr>
          <p:nvPr>
            <p:ph type="sldNum" sz="quarter" idx="4294967295"/>
          </p:nvPr>
        </p:nvSpPr>
        <p:spPr>
          <a:xfrm>
            <a:off x="9448800" y="6356350"/>
            <a:ext cx="2743200" cy="365125"/>
          </a:xfrm>
          <a:prstGeom prst="rect">
            <a:avLst/>
          </a:prstGeom>
        </p:spPr>
        <p:txBody>
          <a:bodyPr>
            <a:normAutofit fontScale="92500" lnSpcReduction="10000"/>
          </a:bodyPr>
          <a:lstStyle/>
          <a:p>
            <a:fld id="{B8DACC02-A2BD-4578-8E03-6D891060A695}" type="slidenum">
              <a:rPr lang="en-US" smtClean="0"/>
              <a:t>1</a:t>
            </a:fld>
            <a:endParaRPr lang="en-US"/>
          </a:p>
        </p:txBody>
      </p:sp>
      <p:sp>
        <p:nvSpPr>
          <p:cNvPr id="5" name="TextBox 4"/>
          <p:cNvSpPr txBox="1"/>
          <p:nvPr/>
        </p:nvSpPr>
        <p:spPr>
          <a:xfrm>
            <a:off x="4365522" y="1423112"/>
            <a:ext cx="3510117" cy="646331"/>
          </a:xfrm>
          <a:prstGeom prst="rect">
            <a:avLst/>
          </a:prstGeom>
          <a:noFill/>
        </p:spPr>
        <p:txBody>
          <a:bodyPr wrap="square" rtlCol="0">
            <a:spAutoFit/>
          </a:bodyPr>
          <a:lstStyle/>
          <a:p>
            <a:pPr algn="ctr"/>
            <a:r>
              <a:rPr lang="en-IN" sz="3600" b="1" dirty="0"/>
              <a:t>UNIT-III </a:t>
            </a:r>
          </a:p>
        </p:txBody>
      </p:sp>
    </p:spTree>
    <p:extLst>
      <p:ext uri="{BB962C8B-B14F-4D97-AF65-F5344CB8AC3E}">
        <p14:creationId xmlns:p14="http://schemas.microsoft.com/office/powerpoint/2010/main" val="8903790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416560" y="1137599"/>
            <a:ext cx="11360150" cy="518091"/>
          </a:xfrm>
          <a:prstGeom prst="rect">
            <a:avLst/>
          </a:prstGeom>
        </p:spPr>
        <p:txBody>
          <a:bodyPr spcFirstLastPara="1" vert="horz" wrap="square" lIns="0" tIns="12700" rIns="0" bIns="0" rtlCol="0" anchor="t" anchorCtr="0">
            <a:spAutoFit/>
          </a:bodyPr>
          <a:lstStyle/>
          <a:p>
            <a:pPr marL="12700">
              <a:spcBef>
                <a:spcPts val="100"/>
              </a:spcBef>
            </a:pPr>
            <a:r>
              <a:rPr sz="3200" b="1" dirty="0"/>
              <a:t>Software</a:t>
            </a:r>
            <a:r>
              <a:rPr sz="3200" b="1" spc="-45" dirty="0"/>
              <a:t> </a:t>
            </a:r>
            <a:r>
              <a:rPr sz="3200" b="1" dirty="0"/>
              <a:t>Engineering</a:t>
            </a:r>
            <a:r>
              <a:rPr sz="3200" b="1" spc="-40" dirty="0"/>
              <a:t> </a:t>
            </a:r>
            <a:r>
              <a:rPr sz="3200" b="1" spc="-10" dirty="0"/>
              <a:t>Paradigms</a:t>
            </a:r>
          </a:p>
        </p:txBody>
      </p:sp>
      <p:sp>
        <p:nvSpPr>
          <p:cNvPr id="6" name="Rectangle 5"/>
          <p:cNvSpPr/>
          <p:nvPr/>
        </p:nvSpPr>
        <p:spPr>
          <a:xfrm>
            <a:off x="416559" y="2300748"/>
            <a:ext cx="11131427" cy="3139321"/>
          </a:xfrm>
          <a:prstGeom prst="rect">
            <a:avLst/>
          </a:prstGeom>
        </p:spPr>
        <p:txBody>
          <a:bodyPr wrap="square">
            <a:spAutoFit/>
          </a:bodyPr>
          <a:lstStyle/>
          <a:p>
            <a:r>
              <a:rPr lang="en-US" dirty="0"/>
              <a:t>Software engineering paradigms are structured approaches used to design, develop, and organize software systems. They help manage complexity, provide clear structure, and guide the development process from requirements to maintenance.</a:t>
            </a:r>
          </a:p>
          <a:p>
            <a:endParaRPr lang="en-US" dirty="0"/>
          </a:p>
          <a:p>
            <a:r>
              <a:rPr lang="en-IN" dirty="0"/>
              <a:t>So paradigms help developers to:</a:t>
            </a:r>
          </a:p>
          <a:p>
            <a:pPr marL="285750" indent="-285750">
              <a:buFont typeface="Arial" panose="020B0604020202020204" pitchFamily="34" charset="0"/>
              <a:buChar char="•"/>
            </a:pPr>
            <a:r>
              <a:rPr lang="en-IN" dirty="0"/>
              <a:t>Manage complexity</a:t>
            </a:r>
          </a:p>
          <a:p>
            <a:pPr marL="285750" indent="-285750">
              <a:buFont typeface="Arial" panose="020B0604020202020204" pitchFamily="34" charset="0"/>
              <a:buChar char="•"/>
            </a:pPr>
            <a:r>
              <a:rPr lang="en-IN" dirty="0"/>
              <a:t>Structure software properly</a:t>
            </a:r>
          </a:p>
          <a:p>
            <a:pPr marL="285750" indent="-285750">
              <a:buFont typeface="Arial" panose="020B0604020202020204" pitchFamily="34" charset="0"/>
              <a:buChar char="•"/>
            </a:pPr>
            <a:r>
              <a:rPr lang="en-IN" dirty="0"/>
              <a:t>Improve teamwork</a:t>
            </a:r>
          </a:p>
          <a:p>
            <a:pPr marL="285750" indent="-285750">
              <a:buFont typeface="Arial" panose="020B0604020202020204" pitchFamily="34" charset="0"/>
              <a:buChar char="•"/>
            </a:pPr>
            <a:r>
              <a:rPr lang="en-IN" dirty="0"/>
              <a:t>Reduce errors</a:t>
            </a:r>
          </a:p>
          <a:p>
            <a:pPr marL="285750" indent="-285750">
              <a:buFont typeface="Arial" panose="020B0604020202020204" pitchFamily="34" charset="0"/>
              <a:buChar char="•"/>
            </a:pPr>
            <a:r>
              <a:rPr lang="en-IN" dirty="0"/>
              <a:t>Maintain software easily</a:t>
            </a:r>
          </a:p>
          <a:p>
            <a:endParaRPr lang="en-IN" dirty="0"/>
          </a:p>
        </p:txBody>
      </p:sp>
    </p:spTree>
    <p:extLst>
      <p:ext uri="{BB962C8B-B14F-4D97-AF65-F5344CB8AC3E}">
        <p14:creationId xmlns:p14="http://schemas.microsoft.com/office/powerpoint/2010/main" val="12715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11296611" y="5893158"/>
            <a:ext cx="731600" cy="524800"/>
          </a:xfrm>
        </p:spPr>
        <p:txBody>
          <a:bodyPr/>
          <a:lstStyle/>
          <a:p>
            <a:fld id="{B8DACC02-A2BD-4578-8E03-6D891060A695}" type="slidenum">
              <a:rPr lang="en-US" smtClean="0"/>
              <a:t>3</a:t>
            </a:fld>
            <a:endParaRPr lang="en-US"/>
          </a:p>
        </p:txBody>
      </p:sp>
      <p:sp>
        <p:nvSpPr>
          <p:cNvPr id="3" name="Rectangle 2"/>
          <p:cNvSpPr/>
          <p:nvPr/>
        </p:nvSpPr>
        <p:spPr>
          <a:xfrm>
            <a:off x="467033" y="480621"/>
            <a:ext cx="7644580" cy="369332"/>
          </a:xfrm>
          <a:prstGeom prst="rect">
            <a:avLst/>
          </a:prstGeom>
        </p:spPr>
        <p:txBody>
          <a:bodyPr wrap="square">
            <a:spAutoFit/>
          </a:bodyPr>
          <a:lstStyle/>
          <a:p>
            <a:r>
              <a:rPr lang="en-US" b="1" dirty="0">
                <a:solidFill>
                  <a:srgbClr val="001D35"/>
                </a:solidFill>
                <a:latin typeface="Google Sans"/>
              </a:rPr>
              <a:t>Software Engineering Paradigms (Conceptual Approaches)</a:t>
            </a:r>
            <a:endParaRPr lang="en-IN" dirty="0"/>
          </a:p>
        </p:txBody>
      </p:sp>
      <p:sp>
        <p:nvSpPr>
          <p:cNvPr id="28" name="TextBox 27"/>
          <p:cNvSpPr txBox="1"/>
          <p:nvPr/>
        </p:nvSpPr>
        <p:spPr>
          <a:xfrm>
            <a:off x="467033" y="1460853"/>
            <a:ext cx="10962967" cy="4247317"/>
          </a:xfrm>
          <a:prstGeom prst="rect">
            <a:avLst/>
          </a:prstGeom>
          <a:noFill/>
        </p:spPr>
        <p:txBody>
          <a:bodyPr wrap="square" rtlCol="0">
            <a:spAutoFit/>
          </a:bodyPr>
          <a:lstStyle/>
          <a:p>
            <a:r>
              <a:rPr lang="en-US" dirty="0"/>
              <a:t>1. Procedural Paradigm</a:t>
            </a:r>
          </a:p>
          <a:p>
            <a:r>
              <a:rPr lang="en-US" dirty="0"/>
              <a:t>•	Software is organized as a sequence of procedures or functions</a:t>
            </a:r>
          </a:p>
          <a:p>
            <a:r>
              <a:rPr lang="en-US" dirty="0"/>
              <a:t>•	Emphasis on step-by-step execution</a:t>
            </a:r>
          </a:p>
          <a:p>
            <a:r>
              <a:rPr lang="en-US" dirty="0"/>
              <a:t>•	Example: Payroll processing system using functions</a:t>
            </a:r>
          </a:p>
          <a:p>
            <a:endParaRPr lang="en-US" dirty="0"/>
          </a:p>
          <a:p>
            <a:r>
              <a:rPr lang="en-US" dirty="0"/>
              <a:t>2. Object-Oriented Paradigm</a:t>
            </a:r>
          </a:p>
          <a:p>
            <a:r>
              <a:rPr lang="en-US" dirty="0"/>
              <a:t>•	Software is modeled using objects and classes</a:t>
            </a:r>
          </a:p>
          <a:p>
            <a:r>
              <a:rPr lang="en-US" dirty="0"/>
              <a:t>•	Supports encapsulation, inheritance, and polymorphism</a:t>
            </a:r>
          </a:p>
          <a:p>
            <a:r>
              <a:rPr lang="en-US" dirty="0"/>
              <a:t>•	Example: Banking system with Account and Customer objects</a:t>
            </a:r>
          </a:p>
          <a:p>
            <a:endParaRPr lang="en-US" dirty="0"/>
          </a:p>
          <a:p>
            <a:r>
              <a:rPr lang="en-US" dirty="0"/>
              <a:t>3. Functional Paradigm</a:t>
            </a:r>
          </a:p>
          <a:p>
            <a:r>
              <a:rPr lang="en-US" dirty="0"/>
              <a:t>•	Focuses on mathematical functions and immutability.</a:t>
            </a:r>
          </a:p>
          <a:p>
            <a:r>
              <a:rPr lang="en-US" dirty="0"/>
              <a:t>•	Avoids shared data and side effects</a:t>
            </a:r>
          </a:p>
          <a:p>
            <a:r>
              <a:rPr lang="en-US" dirty="0"/>
              <a:t>•	Example: Data transformation using pure functions </a:t>
            </a:r>
          </a:p>
          <a:p>
            <a:endParaRPr lang="en-US" dirty="0"/>
          </a:p>
        </p:txBody>
      </p:sp>
      <p:pic>
        <p:nvPicPr>
          <p:cNvPr id="5" name="Picture 4">
            <a:extLst>
              <a:ext uri="{FF2B5EF4-FFF2-40B4-BE49-F238E27FC236}">
                <a16:creationId xmlns:a16="http://schemas.microsoft.com/office/drawing/2014/main" id="{5CF9E1A0-99FE-9B7E-6EF0-61C1D7479DA3}"/>
              </a:ext>
            </a:extLst>
          </p:cNvPr>
          <p:cNvPicPr>
            <a:picLocks noChangeAspect="1"/>
          </p:cNvPicPr>
          <p:nvPr/>
        </p:nvPicPr>
        <p:blipFill>
          <a:blip r:embed="rId2"/>
          <a:stretch>
            <a:fillRect/>
          </a:stretch>
        </p:blipFill>
        <p:spPr>
          <a:xfrm>
            <a:off x="9304807" y="1546188"/>
            <a:ext cx="2462138" cy="1882812"/>
          </a:xfrm>
          <a:prstGeom prst="rect">
            <a:avLst/>
          </a:prstGeom>
        </p:spPr>
      </p:pic>
      <p:pic>
        <p:nvPicPr>
          <p:cNvPr id="7" name="Picture 6">
            <a:extLst>
              <a:ext uri="{FF2B5EF4-FFF2-40B4-BE49-F238E27FC236}">
                <a16:creationId xmlns:a16="http://schemas.microsoft.com/office/drawing/2014/main" id="{06F91689-CBEF-B2A9-F7BF-FC3382ACFD74}"/>
              </a:ext>
            </a:extLst>
          </p:cNvPr>
          <p:cNvPicPr>
            <a:picLocks noChangeAspect="1"/>
          </p:cNvPicPr>
          <p:nvPr/>
        </p:nvPicPr>
        <p:blipFill>
          <a:blip r:embed="rId3"/>
          <a:stretch>
            <a:fillRect/>
          </a:stretch>
        </p:blipFill>
        <p:spPr>
          <a:xfrm>
            <a:off x="7978812" y="3584511"/>
            <a:ext cx="1788990" cy="1727301"/>
          </a:xfrm>
          <a:prstGeom prst="rect">
            <a:avLst/>
          </a:prstGeom>
        </p:spPr>
      </p:pic>
      <p:pic>
        <p:nvPicPr>
          <p:cNvPr id="11" name="Picture 10">
            <a:extLst>
              <a:ext uri="{FF2B5EF4-FFF2-40B4-BE49-F238E27FC236}">
                <a16:creationId xmlns:a16="http://schemas.microsoft.com/office/drawing/2014/main" id="{289144F7-989D-821F-EB14-AC2B5AFF28C3}"/>
              </a:ext>
            </a:extLst>
          </p:cNvPr>
          <p:cNvPicPr>
            <a:picLocks noChangeAspect="1"/>
          </p:cNvPicPr>
          <p:nvPr/>
        </p:nvPicPr>
        <p:blipFill>
          <a:blip r:embed="rId4"/>
          <a:stretch>
            <a:fillRect/>
          </a:stretch>
        </p:blipFill>
        <p:spPr>
          <a:xfrm>
            <a:off x="9468638" y="3514335"/>
            <a:ext cx="2634382" cy="1774859"/>
          </a:xfrm>
          <a:prstGeom prst="rect">
            <a:avLst/>
          </a:prstGeom>
        </p:spPr>
      </p:pic>
    </p:spTree>
    <p:extLst>
      <p:ext uri="{BB962C8B-B14F-4D97-AF65-F5344CB8AC3E}">
        <p14:creationId xmlns:p14="http://schemas.microsoft.com/office/powerpoint/2010/main" val="24516842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8DACC02-A2BD-4578-8E03-6D891060A695}" type="slidenum">
              <a:rPr lang="en-US" smtClean="0"/>
              <a:t>4</a:t>
            </a:fld>
            <a:endParaRPr lang="en-US"/>
          </a:p>
        </p:txBody>
      </p:sp>
      <p:sp>
        <p:nvSpPr>
          <p:cNvPr id="3" name="Rectangle 2"/>
          <p:cNvSpPr/>
          <p:nvPr/>
        </p:nvSpPr>
        <p:spPr>
          <a:xfrm>
            <a:off x="865239" y="805086"/>
            <a:ext cx="7246374" cy="369332"/>
          </a:xfrm>
          <a:prstGeom prst="rect">
            <a:avLst/>
          </a:prstGeom>
        </p:spPr>
        <p:txBody>
          <a:bodyPr wrap="square">
            <a:spAutoFit/>
          </a:bodyPr>
          <a:lstStyle/>
          <a:p>
            <a:r>
              <a:rPr lang="en-US" b="1" dirty="0">
                <a:solidFill>
                  <a:srgbClr val="001D35"/>
                </a:solidFill>
                <a:latin typeface="Google Sans"/>
              </a:rPr>
              <a:t>Software Engineering Paradigms (Conceptual Approaches)</a:t>
            </a:r>
            <a:endParaRPr lang="en-IN" dirty="0"/>
          </a:p>
        </p:txBody>
      </p:sp>
      <p:sp>
        <p:nvSpPr>
          <p:cNvPr id="4" name="Rectangle 3"/>
          <p:cNvSpPr/>
          <p:nvPr/>
        </p:nvSpPr>
        <p:spPr>
          <a:xfrm>
            <a:off x="865238" y="1829843"/>
            <a:ext cx="10019071" cy="3970318"/>
          </a:xfrm>
          <a:prstGeom prst="rect">
            <a:avLst/>
          </a:prstGeom>
        </p:spPr>
        <p:txBody>
          <a:bodyPr wrap="square">
            <a:spAutoFit/>
          </a:bodyPr>
          <a:lstStyle/>
          <a:p>
            <a:r>
              <a:rPr lang="en-US" dirty="0"/>
              <a:t>4. Data-Centered (Data-Driven) Paradigm</a:t>
            </a:r>
          </a:p>
          <a:p>
            <a:r>
              <a:rPr lang="en-US" dirty="0"/>
              <a:t>•	Software behavior revolves around data and databases</a:t>
            </a:r>
          </a:p>
          <a:p>
            <a:r>
              <a:rPr lang="en-US" dirty="0"/>
              <a:t>•	Applications are built around data storage and retrieval</a:t>
            </a:r>
          </a:p>
          <a:p>
            <a:r>
              <a:rPr lang="en-US" dirty="0"/>
              <a:t>•	Example: Inventory management system driven by database operations</a:t>
            </a:r>
          </a:p>
          <a:p>
            <a:endParaRPr lang="en-US" dirty="0"/>
          </a:p>
          <a:p>
            <a:r>
              <a:rPr lang="en-US" dirty="0"/>
              <a:t>5. Agile Paradigm</a:t>
            </a:r>
          </a:p>
          <a:p>
            <a:r>
              <a:rPr lang="en-US" dirty="0"/>
              <a:t>•	Emphasizes iterative development and customer feedback</a:t>
            </a:r>
          </a:p>
          <a:p>
            <a:r>
              <a:rPr lang="en-US" dirty="0"/>
              <a:t>•	Flexible to changing requirements</a:t>
            </a:r>
          </a:p>
          <a:p>
            <a:r>
              <a:rPr lang="en-US" dirty="0"/>
              <a:t>•	Example: Mobile app developed in short sprints</a:t>
            </a:r>
          </a:p>
          <a:p>
            <a:endParaRPr lang="en-US" dirty="0"/>
          </a:p>
          <a:p>
            <a:r>
              <a:rPr lang="en-US" dirty="0"/>
              <a:t>6. DevOps Paradigm</a:t>
            </a:r>
          </a:p>
          <a:p>
            <a:r>
              <a:rPr lang="en-US" dirty="0"/>
              <a:t>•	Integrates development and operations</a:t>
            </a:r>
          </a:p>
          <a:p>
            <a:r>
              <a:rPr lang="en-US" dirty="0"/>
              <a:t>•	Focuses on automation and continuous delivery</a:t>
            </a:r>
          </a:p>
          <a:p>
            <a:r>
              <a:rPr lang="en-US" dirty="0"/>
              <a:t>•	Example: Automated deployment of a web application</a:t>
            </a:r>
          </a:p>
        </p:txBody>
      </p:sp>
    </p:spTree>
    <p:extLst>
      <p:ext uri="{BB962C8B-B14F-4D97-AF65-F5344CB8AC3E}">
        <p14:creationId xmlns:p14="http://schemas.microsoft.com/office/powerpoint/2010/main" val="41401645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381953" y="548047"/>
            <a:ext cx="11565122" cy="394980"/>
          </a:xfrm>
          <a:prstGeom prst="rect">
            <a:avLst/>
          </a:prstGeom>
        </p:spPr>
        <p:txBody>
          <a:bodyPr spcFirstLastPara="1" vert="horz" wrap="square" lIns="0" tIns="12700" rIns="0" bIns="0" rtlCol="0" anchor="t" anchorCtr="0">
            <a:spAutoFit/>
          </a:bodyPr>
          <a:lstStyle/>
          <a:p>
            <a:pPr marL="12700">
              <a:spcBef>
                <a:spcPts val="100"/>
              </a:spcBef>
            </a:pPr>
            <a:r>
              <a:rPr lang="en-US" sz="2400" b="1" dirty="0"/>
              <a:t>Software Development Models (Process Flows/SDLCs)</a:t>
            </a:r>
            <a:endParaRPr sz="2400" spc="-10" dirty="0"/>
          </a:p>
        </p:txBody>
      </p:sp>
      <p:sp>
        <p:nvSpPr>
          <p:cNvPr id="3" name="object 3"/>
          <p:cNvSpPr txBox="1"/>
          <p:nvPr/>
        </p:nvSpPr>
        <p:spPr>
          <a:xfrm>
            <a:off x="381953" y="1439284"/>
            <a:ext cx="11196412" cy="3201517"/>
          </a:xfrm>
          <a:prstGeom prst="rect">
            <a:avLst/>
          </a:prstGeom>
        </p:spPr>
        <p:txBody>
          <a:bodyPr vert="horz" wrap="square" lIns="0" tIns="13335" rIns="0" bIns="0" rtlCol="0">
            <a:spAutoFit/>
          </a:bodyPr>
          <a:lstStyle/>
          <a:p>
            <a:pPr marL="355600" marR="5080" indent="-342900">
              <a:spcBef>
                <a:spcPts val="105"/>
              </a:spcBef>
              <a:buChar char="•"/>
              <a:tabLst>
                <a:tab pos="355600" algn="l"/>
              </a:tabLst>
            </a:pPr>
            <a:r>
              <a:rPr sz="2000" dirty="0">
                <a:latin typeface="Arial MT"/>
                <a:cs typeface="Arial MT"/>
              </a:rPr>
              <a:t>Every</a:t>
            </a:r>
            <a:r>
              <a:rPr sz="2000" spc="-45" dirty="0">
                <a:latin typeface="Arial MT"/>
                <a:cs typeface="Arial MT"/>
              </a:rPr>
              <a:t> </a:t>
            </a:r>
            <a:r>
              <a:rPr sz="2000" dirty="0">
                <a:latin typeface="Arial MT"/>
                <a:cs typeface="Arial MT"/>
              </a:rPr>
              <a:t>software</a:t>
            </a:r>
            <a:r>
              <a:rPr sz="2000" spc="-50" dirty="0">
                <a:latin typeface="Arial MT"/>
                <a:cs typeface="Arial MT"/>
              </a:rPr>
              <a:t> </a:t>
            </a:r>
            <a:r>
              <a:rPr sz="2000" dirty="0">
                <a:latin typeface="Arial MT"/>
                <a:cs typeface="Arial MT"/>
              </a:rPr>
              <a:t>engineering</a:t>
            </a:r>
            <a:r>
              <a:rPr sz="2000" spc="-40" dirty="0">
                <a:latin typeface="Arial MT"/>
                <a:cs typeface="Arial MT"/>
              </a:rPr>
              <a:t> </a:t>
            </a:r>
            <a:r>
              <a:rPr sz="2000" spc="-10" dirty="0">
                <a:latin typeface="Arial MT"/>
                <a:cs typeface="Arial MT"/>
              </a:rPr>
              <a:t>organization </a:t>
            </a:r>
            <a:r>
              <a:rPr sz="2000" dirty="0">
                <a:latin typeface="Arial MT"/>
                <a:cs typeface="Arial MT"/>
              </a:rPr>
              <a:t>should</a:t>
            </a:r>
            <a:r>
              <a:rPr sz="2000" spc="-45" dirty="0">
                <a:latin typeface="Arial MT"/>
                <a:cs typeface="Arial MT"/>
              </a:rPr>
              <a:t> </a:t>
            </a:r>
            <a:r>
              <a:rPr sz="2000" dirty="0">
                <a:latin typeface="Arial MT"/>
                <a:cs typeface="Arial MT"/>
              </a:rPr>
              <a:t>describe</a:t>
            </a:r>
            <a:r>
              <a:rPr sz="2000" spc="-30" dirty="0">
                <a:latin typeface="Arial MT"/>
                <a:cs typeface="Arial MT"/>
              </a:rPr>
              <a:t> </a:t>
            </a:r>
            <a:r>
              <a:rPr sz="2000" dirty="0">
                <a:latin typeface="Arial MT"/>
                <a:cs typeface="Arial MT"/>
              </a:rPr>
              <a:t>a</a:t>
            </a:r>
            <a:r>
              <a:rPr sz="2000" spc="-30" dirty="0">
                <a:latin typeface="Arial MT"/>
                <a:cs typeface="Arial MT"/>
              </a:rPr>
              <a:t> </a:t>
            </a:r>
            <a:r>
              <a:rPr sz="2000" dirty="0">
                <a:latin typeface="Arial MT"/>
                <a:cs typeface="Arial MT"/>
              </a:rPr>
              <a:t>unique</a:t>
            </a:r>
            <a:r>
              <a:rPr sz="2000" spc="-30" dirty="0">
                <a:latin typeface="Arial MT"/>
                <a:cs typeface="Arial MT"/>
              </a:rPr>
              <a:t> </a:t>
            </a:r>
            <a:r>
              <a:rPr sz="2000" dirty="0">
                <a:latin typeface="Arial MT"/>
                <a:cs typeface="Arial MT"/>
              </a:rPr>
              <a:t>set</a:t>
            </a:r>
            <a:r>
              <a:rPr sz="2000" spc="-15" dirty="0">
                <a:latin typeface="Arial MT"/>
                <a:cs typeface="Arial MT"/>
              </a:rPr>
              <a:t> </a:t>
            </a:r>
            <a:r>
              <a:rPr sz="2000" dirty="0">
                <a:latin typeface="Arial MT"/>
                <a:cs typeface="Arial MT"/>
              </a:rPr>
              <a:t>of</a:t>
            </a:r>
            <a:r>
              <a:rPr sz="2000" spc="-35" dirty="0">
                <a:latin typeface="Arial MT"/>
                <a:cs typeface="Arial MT"/>
              </a:rPr>
              <a:t> </a:t>
            </a:r>
            <a:r>
              <a:rPr sz="2000" spc="-10" dirty="0">
                <a:latin typeface="Arial MT"/>
                <a:cs typeface="Arial MT"/>
              </a:rPr>
              <a:t>framework </a:t>
            </a:r>
            <a:r>
              <a:rPr sz="2000" dirty="0">
                <a:latin typeface="Arial MT"/>
                <a:cs typeface="Arial MT"/>
              </a:rPr>
              <a:t>activities</a:t>
            </a:r>
            <a:r>
              <a:rPr sz="2000" spc="-25" dirty="0">
                <a:latin typeface="Arial MT"/>
                <a:cs typeface="Arial MT"/>
              </a:rPr>
              <a:t> </a:t>
            </a:r>
            <a:r>
              <a:rPr sz="2000" dirty="0">
                <a:latin typeface="Arial MT"/>
                <a:cs typeface="Arial MT"/>
              </a:rPr>
              <a:t>for</a:t>
            </a:r>
            <a:r>
              <a:rPr sz="2000" spc="-15" dirty="0">
                <a:latin typeface="Arial MT"/>
                <a:cs typeface="Arial MT"/>
              </a:rPr>
              <a:t> </a:t>
            </a:r>
            <a:r>
              <a:rPr sz="2000" dirty="0">
                <a:latin typeface="Arial MT"/>
                <a:cs typeface="Arial MT"/>
              </a:rPr>
              <a:t>the</a:t>
            </a:r>
            <a:r>
              <a:rPr sz="2000" spc="-10" dirty="0">
                <a:latin typeface="Arial MT"/>
                <a:cs typeface="Arial MT"/>
              </a:rPr>
              <a:t> </a:t>
            </a:r>
            <a:r>
              <a:rPr sz="2000" dirty="0">
                <a:latin typeface="Arial MT"/>
                <a:cs typeface="Arial MT"/>
              </a:rPr>
              <a:t>software</a:t>
            </a:r>
            <a:r>
              <a:rPr sz="2000" spc="-35" dirty="0">
                <a:latin typeface="Arial MT"/>
                <a:cs typeface="Arial MT"/>
              </a:rPr>
              <a:t> </a:t>
            </a:r>
            <a:r>
              <a:rPr sz="2000" dirty="0">
                <a:latin typeface="Arial MT"/>
                <a:cs typeface="Arial MT"/>
              </a:rPr>
              <a:t>process</a:t>
            </a:r>
            <a:r>
              <a:rPr sz="2000" spc="-40" dirty="0">
                <a:latin typeface="Arial MT"/>
                <a:cs typeface="Arial MT"/>
              </a:rPr>
              <a:t> </a:t>
            </a:r>
            <a:r>
              <a:rPr sz="2000" spc="-25" dirty="0">
                <a:latin typeface="Arial MT"/>
                <a:cs typeface="Arial MT"/>
              </a:rPr>
              <a:t>it </a:t>
            </a:r>
            <a:r>
              <a:rPr sz="2000" spc="-10" dirty="0">
                <a:latin typeface="Arial MT"/>
                <a:cs typeface="Arial MT"/>
              </a:rPr>
              <a:t>adopts.</a:t>
            </a:r>
            <a:endParaRPr lang="en-US" sz="2000" spc="-10" dirty="0">
              <a:latin typeface="Arial MT"/>
              <a:cs typeface="Arial MT"/>
            </a:endParaRPr>
          </a:p>
          <a:p>
            <a:pPr marL="355600" marR="5080" indent="-342900">
              <a:spcBef>
                <a:spcPts val="105"/>
              </a:spcBef>
              <a:buChar char="•"/>
              <a:tabLst>
                <a:tab pos="355600" algn="l"/>
              </a:tabLst>
            </a:pPr>
            <a:endParaRPr sz="2000" dirty="0">
              <a:latin typeface="Arial MT"/>
              <a:cs typeface="Arial MT"/>
            </a:endParaRPr>
          </a:p>
          <a:p>
            <a:pPr marL="1165225" indent="-227013">
              <a:spcBef>
                <a:spcPts val="185"/>
              </a:spcBef>
              <a:buChar char="•"/>
              <a:tabLst>
                <a:tab pos="2983865" algn="l"/>
              </a:tabLst>
            </a:pPr>
            <a:r>
              <a:rPr spc="-10" dirty="0">
                <a:latin typeface="Arial MT"/>
                <a:cs typeface="Arial MT"/>
              </a:rPr>
              <a:t>Waterfall</a:t>
            </a:r>
            <a:r>
              <a:rPr spc="-95" dirty="0">
                <a:latin typeface="Arial MT"/>
                <a:cs typeface="Arial MT"/>
              </a:rPr>
              <a:t> </a:t>
            </a:r>
            <a:r>
              <a:rPr dirty="0">
                <a:latin typeface="Arial MT"/>
                <a:cs typeface="Arial MT"/>
              </a:rPr>
              <a:t>Life</a:t>
            </a:r>
            <a:r>
              <a:rPr spc="-95" dirty="0">
                <a:latin typeface="Arial MT"/>
                <a:cs typeface="Arial MT"/>
              </a:rPr>
              <a:t> </a:t>
            </a:r>
            <a:r>
              <a:rPr dirty="0">
                <a:latin typeface="Arial MT"/>
                <a:cs typeface="Arial MT"/>
              </a:rPr>
              <a:t>Cycle</a:t>
            </a:r>
            <a:r>
              <a:rPr spc="-80" dirty="0">
                <a:latin typeface="Arial MT"/>
                <a:cs typeface="Arial MT"/>
              </a:rPr>
              <a:t> </a:t>
            </a:r>
            <a:r>
              <a:rPr spc="-10" dirty="0">
                <a:latin typeface="Arial MT"/>
                <a:cs typeface="Arial MT"/>
              </a:rPr>
              <a:t>Model.</a:t>
            </a:r>
            <a:endParaRPr dirty="0">
              <a:latin typeface="Arial MT"/>
              <a:cs typeface="Arial MT"/>
            </a:endParaRPr>
          </a:p>
          <a:p>
            <a:pPr marL="1165225" marR="594360" indent="-227013">
              <a:lnSpc>
                <a:spcPts val="3020"/>
              </a:lnSpc>
              <a:spcBef>
                <a:spcPts val="540"/>
              </a:spcBef>
              <a:buChar char="•"/>
              <a:tabLst>
                <a:tab pos="2985135" algn="l"/>
              </a:tabLst>
            </a:pPr>
            <a:r>
              <a:rPr dirty="0">
                <a:latin typeface="Arial MT"/>
                <a:cs typeface="Arial MT"/>
              </a:rPr>
              <a:t>Iterative</a:t>
            </a:r>
            <a:r>
              <a:rPr spc="-110" dirty="0">
                <a:latin typeface="Arial MT"/>
                <a:cs typeface="Arial MT"/>
              </a:rPr>
              <a:t> </a:t>
            </a:r>
            <a:r>
              <a:rPr dirty="0">
                <a:latin typeface="Arial MT"/>
                <a:cs typeface="Arial MT"/>
              </a:rPr>
              <a:t>Waterfall</a:t>
            </a:r>
            <a:r>
              <a:rPr spc="-110" dirty="0">
                <a:latin typeface="Arial MT"/>
                <a:cs typeface="Arial MT"/>
              </a:rPr>
              <a:t> </a:t>
            </a:r>
            <a:r>
              <a:rPr dirty="0">
                <a:latin typeface="Arial MT"/>
                <a:cs typeface="Arial MT"/>
              </a:rPr>
              <a:t>Life</a:t>
            </a:r>
            <a:r>
              <a:rPr spc="-114" dirty="0">
                <a:latin typeface="Arial MT"/>
                <a:cs typeface="Arial MT"/>
              </a:rPr>
              <a:t> </a:t>
            </a:r>
            <a:r>
              <a:rPr spc="-10" dirty="0">
                <a:latin typeface="Arial MT"/>
                <a:cs typeface="Arial MT"/>
              </a:rPr>
              <a:t>Cycle</a:t>
            </a:r>
            <a:r>
              <a:rPr lang="en-US" spc="-10" dirty="0">
                <a:latin typeface="Arial MT"/>
                <a:cs typeface="Arial MT"/>
              </a:rPr>
              <a:t> </a:t>
            </a:r>
            <a:r>
              <a:rPr spc="-10" dirty="0">
                <a:latin typeface="Arial MT"/>
                <a:cs typeface="Arial MT"/>
              </a:rPr>
              <a:t>Model.</a:t>
            </a:r>
            <a:endParaRPr dirty="0">
              <a:latin typeface="Arial MT"/>
              <a:cs typeface="Arial MT"/>
            </a:endParaRPr>
          </a:p>
          <a:p>
            <a:pPr marL="1165225" indent="-227013">
              <a:spcBef>
                <a:spcPts val="130"/>
              </a:spcBef>
              <a:buChar char="•"/>
              <a:tabLst>
                <a:tab pos="2983865" algn="l"/>
              </a:tabLst>
            </a:pPr>
            <a:r>
              <a:rPr dirty="0">
                <a:latin typeface="Arial MT"/>
                <a:cs typeface="Arial MT"/>
              </a:rPr>
              <a:t>Prototyping</a:t>
            </a:r>
            <a:r>
              <a:rPr spc="-150" dirty="0">
                <a:latin typeface="Arial MT"/>
                <a:cs typeface="Arial MT"/>
              </a:rPr>
              <a:t> </a:t>
            </a:r>
            <a:r>
              <a:rPr spc="-10" dirty="0">
                <a:latin typeface="Arial MT"/>
                <a:cs typeface="Arial MT"/>
              </a:rPr>
              <a:t>Model.</a:t>
            </a:r>
            <a:endParaRPr dirty="0">
              <a:latin typeface="Arial MT"/>
              <a:cs typeface="Arial MT"/>
            </a:endParaRPr>
          </a:p>
          <a:p>
            <a:pPr marL="1165225" indent="-227013">
              <a:spcBef>
                <a:spcPts val="170"/>
              </a:spcBef>
              <a:buChar char="•"/>
              <a:tabLst>
                <a:tab pos="2983865" algn="l"/>
              </a:tabLst>
            </a:pPr>
            <a:r>
              <a:rPr dirty="0">
                <a:latin typeface="Arial MT"/>
                <a:cs typeface="Arial MT"/>
              </a:rPr>
              <a:t>Incremental</a:t>
            </a:r>
            <a:r>
              <a:rPr spc="-150" dirty="0">
                <a:latin typeface="Arial MT"/>
                <a:cs typeface="Arial MT"/>
              </a:rPr>
              <a:t> </a:t>
            </a:r>
            <a:r>
              <a:rPr spc="-10" dirty="0">
                <a:latin typeface="Arial MT"/>
                <a:cs typeface="Arial MT"/>
              </a:rPr>
              <a:t>Model.</a:t>
            </a:r>
            <a:endParaRPr dirty="0">
              <a:latin typeface="Arial MT"/>
              <a:cs typeface="Arial MT"/>
            </a:endParaRPr>
          </a:p>
          <a:p>
            <a:pPr marL="1165225" indent="-227013">
              <a:spcBef>
                <a:spcPts val="155"/>
              </a:spcBef>
              <a:buChar char="•"/>
              <a:tabLst>
                <a:tab pos="2983865" algn="l"/>
              </a:tabLst>
            </a:pPr>
            <a:r>
              <a:rPr dirty="0">
                <a:latin typeface="Arial MT"/>
                <a:cs typeface="Arial MT"/>
              </a:rPr>
              <a:t>Sprial</a:t>
            </a:r>
            <a:r>
              <a:rPr spc="-90" dirty="0">
                <a:latin typeface="Arial MT"/>
                <a:cs typeface="Arial MT"/>
              </a:rPr>
              <a:t> </a:t>
            </a:r>
            <a:r>
              <a:rPr spc="-10" dirty="0">
                <a:latin typeface="Arial MT"/>
                <a:cs typeface="Arial MT"/>
              </a:rPr>
              <a:t>Model.</a:t>
            </a:r>
            <a:endParaRPr dirty="0">
              <a:latin typeface="Arial MT"/>
              <a:cs typeface="Arial MT"/>
            </a:endParaRPr>
          </a:p>
          <a:p>
            <a:pPr marL="1165225" indent="-227013">
              <a:spcBef>
                <a:spcPts val="170"/>
              </a:spcBef>
              <a:buChar char="•"/>
              <a:tabLst>
                <a:tab pos="2983865" algn="l"/>
              </a:tabLst>
            </a:pPr>
            <a:r>
              <a:rPr dirty="0">
                <a:latin typeface="Arial MT"/>
                <a:cs typeface="Arial MT"/>
              </a:rPr>
              <a:t>RAD</a:t>
            </a:r>
            <a:r>
              <a:rPr spc="-65" dirty="0">
                <a:latin typeface="Arial MT"/>
                <a:cs typeface="Arial MT"/>
              </a:rPr>
              <a:t> </a:t>
            </a:r>
            <a:r>
              <a:rPr spc="-10" dirty="0">
                <a:latin typeface="Arial MT"/>
                <a:cs typeface="Arial MT"/>
              </a:rPr>
              <a:t>Model.</a:t>
            </a:r>
            <a:endParaRPr dirty="0">
              <a:latin typeface="Arial MT"/>
              <a:cs typeface="Arial MT"/>
            </a:endParaRPr>
          </a:p>
          <a:p>
            <a:pPr marL="1165225" indent="-227013">
              <a:spcBef>
                <a:spcPts val="165"/>
              </a:spcBef>
              <a:buChar char="•"/>
              <a:tabLst>
                <a:tab pos="2983865" algn="l"/>
              </a:tabLst>
            </a:pPr>
            <a:r>
              <a:rPr dirty="0">
                <a:latin typeface="Arial MT"/>
                <a:cs typeface="Arial MT"/>
              </a:rPr>
              <a:t>Sprial</a:t>
            </a:r>
            <a:r>
              <a:rPr spc="-95" dirty="0">
                <a:latin typeface="Arial MT"/>
                <a:cs typeface="Arial MT"/>
              </a:rPr>
              <a:t> </a:t>
            </a:r>
            <a:r>
              <a:rPr spc="-10" dirty="0">
                <a:latin typeface="Arial MT"/>
                <a:cs typeface="Arial MT"/>
              </a:rPr>
              <a:t>Model.</a:t>
            </a:r>
            <a:endParaRPr sz="2800" dirty="0">
              <a:latin typeface="Arial MT"/>
              <a:cs typeface="Arial MT"/>
            </a:endParaRPr>
          </a:p>
        </p:txBody>
      </p:sp>
    </p:spTree>
    <p:extLst>
      <p:ext uri="{BB962C8B-B14F-4D97-AF65-F5344CB8AC3E}">
        <p14:creationId xmlns:p14="http://schemas.microsoft.com/office/powerpoint/2010/main" val="39774547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367665" y="657059"/>
            <a:ext cx="11360150" cy="394980"/>
          </a:xfrm>
          <a:prstGeom prst="rect">
            <a:avLst/>
          </a:prstGeom>
        </p:spPr>
        <p:txBody>
          <a:bodyPr spcFirstLastPara="1" vert="horz" wrap="square" lIns="0" tIns="12700" rIns="0" bIns="0" rtlCol="0" anchor="t" anchorCtr="0">
            <a:spAutoFit/>
          </a:bodyPr>
          <a:lstStyle/>
          <a:p>
            <a:pPr marL="12700">
              <a:spcBef>
                <a:spcPts val="100"/>
              </a:spcBef>
            </a:pPr>
            <a:r>
              <a:rPr sz="2400" b="1" dirty="0"/>
              <a:t>Waterfall</a:t>
            </a:r>
            <a:r>
              <a:rPr sz="2400" b="1" spc="-70" dirty="0"/>
              <a:t> </a:t>
            </a:r>
            <a:r>
              <a:rPr sz="2400" b="1" dirty="0"/>
              <a:t>Life</a:t>
            </a:r>
            <a:r>
              <a:rPr sz="2400" b="1" spc="-55" dirty="0"/>
              <a:t> </a:t>
            </a:r>
            <a:r>
              <a:rPr sz="2400" b="1" dirty="0"/>
              <a:t>Cycle</a:t>
            </a:r>
            <a:r>
              <a:rPr sz="2400" b="1" spc="-70" dirty="0"/>
              <a:t> </a:t>
            </a:r>
            <a:r>
              <a:rPr sz="2400" b="1" spc="-10" dirty="0"/>
              <a:t>Model.</a:t>
            </a:r>
          </a:p>
        </p:txBody>
      </p:sp>
      <p:sp>
        <p:nvSpPr>
          <p:cNvPr id="3" name="object 3"/>
          <p:cNvSpPr txBox="1"/>
          <p:nvPr/>
        </p:nvSpPr>
        <p:spPr>
          <a:xfrm>
            <a:off x="496610" y="1540375"/>
            <a:ext cx="11021879" cy="2687274"/>
          </a:xfrm>
          <a:prstGeom prst="rect">
            <a:avLst/>
          </a:prstGeom>
        </p:spPr>
        <p:txBody>
          <a:bodyPr vert="horz" wrap="square" lIns="0" tIns="98425" rIns="0" bIns="0" rtlCol="0">
            <a:spAutoFit/>
          </a:bodyPr>
          <a:lstStyle/>
          <a:p>
            <a:pPr marL="354965" indent="-342265">
              <a:spcBef>
                <a:spcPts val="775"/>
              </a:spcBef>
              <a:buChar char="•"/>
              <a:tabLst>
                <a:tab pos="354965" algn="l"/>
              </a:tabLst>
            </a:pPr>
            <a:r>
              <a:rPr dirty="0">
                <a:latin typeface="Arial MT"/>
                <a:cs typeface="Arial MT"/>
              </a:rPr>
              <a:t>It</a:t>
            </a:r>
            <a:r>
              <a:rPr spc="-35" dirty="0">
                <a:latin typeface="Arial MT"/>
                <a:cs typeface="Arial MT"/>
              </a:rPr>
              <a:t> </a:t>
            </a:r>
            <a:r>
              <a:rPr dirty="0">
                <a:latin typeface="Arial MT"/>
                <a:cs typeface="Arial MT"/>
              </a:rPr>
              <a:t>is</a:t>
            </a:r>
            <a:r>
              <a:rPr spc="-45" dirty="0">
                <a:latin typeface="Arial MT"/>
                <a:cs typeface="Arial MT"/>
              </a:rPr>
              <a:t> </a:t>
            </a:r>
            <a:r>
              <a:rPr dirty="0">
                <a:latin typeface="Arial MT"/>
                <a:cs typeface="Arial MT"/>
              </a:rPr>
              <a:t>called</a:t>
            </a:r>
            <a:r>
              <a:rPr spc="-30" dirty="0">
                <a:latin typeface="Arial MT"/>
                <a:cs typeface="Arial MT"/>
              </a:rPr>
              <a:t> </a:t>
            </a:r>
            <a:r>
              <a:rPr dirty="0">
                <a:latin typeface="Arial MT"/>
                <a:cs typeface="Arial MT"/>
              </a:rPr>
              <a:t>classic</a:t>
            </a:r>
            <a:r>
              <a:rPr spc="-30" dirty="0">
                <a:latin typeface="Arial MT"/>
                <a:cs typeface="Arial MT"/>
              </a:rPr>
              <a:t> </a:t>
            </a:r>
            <a:r>
              <a:rPr dirty="0">
                <a:latin typeface="Arial MT"/>
                <a:cs typeface="Arial MT"/>
              </a:rPr>
              <a:t>life</a:t>
            </a:r>
            <a:r>
              <a:rPr spc="-45" dirty="0">
                <a:latin typeface="Arial MT"/>
                <a:cs typeface="Arial MT"/>
              </a:rPr>
              <a:t> </a:t>
            </a:r>
            <a:r>
              <a:rPr dirty="0">
                <a:latin typeface="Arial MT"/>
                <a:cs typeface="Arial MT"/>
              </a:rPr>
              <a:t>cycle</a:t>
            </a:r>
            <a:r>
              <a:rPr spc="-30" dirty="0">
                <a:latin typeface="Arial MT"/>
                <a:cs typeface="Arial MT"/>
              </a:rPr>
              <a:t> </a:t>
            </a:r>
            <a:r>
              <a:rPr dirty="0">
                <a:latin typeface="Arial MT"/>
                <a:cs typeface="Arial MT"/>
              </a:rPr>
              <a:t>or</a:t>
            </a:r>
            <a:r>
              <a:rPr spc="-30" dirty="0">
                <a:latin typeface="Arial MT"/>
                <a:cs typeface="Arial MT"/>
              </a:rPr>
              <a:t> </a:t>
            </a:r>
            <a:r>
              <a:rPr dirty="0">
                <a:latin typeface="Arial MT"/>
                <a:cs typeface="Arial MT"/>
              </a:rPr>
              <a:t>Linear</a:t>
            </a:r>
            <a:r>
              <a:rPr spc="-25" dirty="0">
                <a:latin typeface="Arial MT"/>
                <a:cs typeface="Arial MT"/>
              </a:rPr>
              <a:t> </a:t>
            </a:r>
            <a:r>
              <a:rPr spc="-10" dirty="0">
                <a:latin typeface="Arial MT"/>
                <a:cs typeface="Arial MT"/>
              </a:rPr>
              <a:t>model.</a:t>
            </a:r>
            <a:endParaRPr dirty="0">
              <a:latin typeface="Arial MT"/>
              <a:cs typeface="Arial MT"/>
            </a:endParaRPr>
          </a:p>
          <a:p>
            <a:pPr marL="354965" indent="-342265">
              <a:spcBef>
                <a:spcPts val="670"/>
              </a:spcBef>
              <a:buChar char="•"/>
              <a:tabLst>
                <a:tab pos="354965" algn="l"/>
              </a:tabLst>
            </a:pPr>
            <a:r>
              <a:rPr dirty="0">
                <a:latin typeface="Arial MT"/>
                <a:cs typeface="Arial MT"/>
              </a:rPr>
              <a:t>Requirements</a:t>
            </a:r>
            <a:r>
              <a:rPr spc="-45" dirty="0">
                <a:latin typeface="Arial MT"/>
                <a:cs typeface="Arial MT"/>
              </a:rPr>
              <a:t> </a:t>
            </a:r>
            <a:r>
              <a:rPr dirty="0">
                <a:latin typeface="Arial MT"/>
                <a:cs typeface="Arial MT"/>
              </a:rPr>
              <a:t>are</a:t>
            </a:r>
            <a:r>
              <a:rPr spc="-60" dirty="0">
                <a:latin typeface="Arial MT"/>
                <a:cs typeface="Arial MT"/>
              </a:rPr>
              <a:t> </a:t>
            </a:r>
            <a:r>
              <a:rPr dirty="0">
                <a:latin typeface="Arial MT"/>
                <a:cs typeface="Arial MT"/>
              </a:rPr>
              <a:t>well</a:t>
            </a:r>
            <a:r>
              <a:rPr spc="-60" dirty="0">
                <a:latin typeface="Arial MT"/>
                <a:cs typeface="Arial MT"/>
              </a:rPr>
              <a:t> </a:t>
            </a:r>
            <a:r>
              <a:rPr dirty="0">
                <a:latin typeface="Arial MT"/>
                <a:cs typeface="Arial MT"/>
              </a:rPr>
              <a:t>defined</a:t>
            </a:r>
            <a:r>
              <a:rPr spc="-60" dirty="0">
                <a:latin typeface="Arial MT"/>
                <a:cs typeface="Arial MT"/>
              </a:rPr>
              <a:t> </a:t>
            </a:r>
            <a:r>
              <a:rPr dirty="0">
                <a:latin typeface="Arial MT"/>
                <a:cs typeface="Arial MT"/>
              </a:rPr>
              <a:t>and</a:t>
            </a:r>
            <a:r>
              <a:rPr spc="-60" dirty="0">
                <a:latin typeface="Arial MT"/>
                <a:cs typeface="Arial MT"/>
              </a:rPr>
              <a:t> </a:t>
            </a:r>
            <a:r>
              <a:rPr spc="-10" dirty="0">
                <a:latin typeface="Arial MT"/>
                <a:cs typeface="Arial MT"/>
              </a:rPr>
              <a:t>stable.</a:t>
            </a:r>
            <a:endParaRPr dirty="0">
              <a:latin typeface="Arial MT"/>
              <a:cs typeface="Arial MT"/>
            </a:endParaRPr>
          </a:p>
          <a:p>
            <a:pPr marL="355600" marR="5080" indent="-342900">
              <a:spcBef>
                <a:spcPts val="675"/>
              </a:spcBef>
              <a:buChar char="•"/>
              <a:tabLst>
                <a:tab pos="355600" algn="l"/>
              </a:tabLst>
            </a:pPr>
            <a:r>
              <a:rPr dirty="0">
                <a:latin typeface="Arial MT"/>
                <a:cs typeface="Arial MT"/>
              </a:rPr>
              <a:t>It</a:t>
            </a:r>
            <a:r>
              <a:rPr spc="-65" dirty="0">
                <a:latin typeface="Arial MT"/>
                <a:cs typeface="Arial MT"/>
              </a:rPr>
              <a:t> </a:t>
            </a:r>
            <a:r>
              <a:rPr dirty="0">
                <a:latin typeface="Arial MT"/>
                <a:cs typeface="Arial MT"/>
              </a:rPr>
              <a:t>suggests</a:t>
            </a:r>
            <a:r>
              <a:rPr spc="-65" dirty="0">
                <a:latin typeface="Arial MT"/>
                <a:cs typeface="Arial MT"/>
              </a:rPr>
              <a:t> </a:t>
            </a:r>
            <a:r>
              <a:rPr dirty="0">
                <a:latin typeface="Arial MT"/>
                <a:cs typeface="Arial MT"/>
              </a:rPr>
              <a:t>a</a:t>
            </a:r>
            <a:r>
              <a:rPr spc="-75" dirty="0">
                <a:latin typeface="Arial MT"/>
                <a:cs typeface="Arial MT"/>
              </a:rPr>
              <a:t> </a:t>
            </a:r>
            <a:r>
              <a:rPr dirty="0">
                <a:latin typeface="Arial MT"/>
                <a:cs typeface="Arial MT"/>
              </a:rPr>
              <a:t>systematic,</a:t>
            </a:r>
            <a:r>
              <a:rPr spc="-80" dirty="0">
                <a:latin typeface="Arial MT"/>
                <a:cs typeface="Arial MT"/>
              </a:rPr>
              <a:t> </a:t>
            </a:r>
            <a:r>
              <a:rPr dirty="0">
                <a:latin typeface="Arial MT"/>
                <a:cs typeface="Arial MT"/>
              </a:rPr>
              <a:t>sequential</a:t>
            </a:r>
            <a:r>
              <a:rPr spc="-60" dirty="0">
                <a:latin typeface="Arial MT"/>
                <a:cs typeface="Arial MT"/>
              </a:rPr>
              <a:t> </a:t>
            </a:r>
            <a:r>
              <a:rPr dirty="0">
                <a:latin typeface="Arial MT"/>
                <a:cs typeface="Arial MT"/>
              </a:rPr>
              <a:t>approach</a:t>
            </a:r>
            <a:r>
              <a:rPr spc="-50" dirty="0">
                <a:latin typeface="Arial MT"/>
                <a:cs typeface="Arial MT"/>
              </a:rPr>
              <a:t> </a:t>
            </a:r>
            <a:r>
              <a:rPr spc="-25" dirty="0">
                <a:latin typeface="Arial MT"/>
                <a:cs typeface="Arial MT"/>
              </a:rPr>
              <a:t>to </a:t>
            </a:r>
            <a:r>
              <a:rPr dirty="0">
                <a:latin typeface="Arial MT"/>
                <a:cs typeface="Arial MT"/>
              </a:rPr>
              <a:t>software</a:t>
            </a:r>
            <a:r>
              <a:rPr spc="-90" dirty="0">
                <a:latin typeface="Arial MT"/>
                <a:cs typeface="Arial MT"/>
              </a:rPr>
              <a:t> </a:t>
            </a:r>
            <a:r>
              <a:rPr spc="-10" dirty="0">
                <a:latin typeface="Arial MT"/>
                <a:cs typeface="Arial MT"/>
              </a:rPr>
              <a:t>development.</a:t>
            </a:r>
            <a:endParaRPr dirty="0">
              <a:latin typeface="Arial MT"/>
              <a:cs typeface="Arial MT"/>
            </a:endParaRPr>
          </a:p>
          <a:p>
            <a:pPr marL="355600" marR="1510665" indent="-342900">
              <a:spcBef>
                <a:spcPts val="670"/>
              </a:spcBef>
              <a:buChar char="•"/>
              <a:tabLst>
                <a:tab pos="355600" algn="l"/>
              </a:tabLst>
            </a:pPr>
            <a:r>
              <a:rPr dirty="0">
                <a:latin typeface="Arial MT"/>
                <a:cs typeface="Arial MT"/>
              </a:rPr>
              <a:t>It</a:t>
            </a:r>
            <a:r>
              <a:rPr spc="-75" dirty="0">
                <a:latin typeface="Arial MT"/>
                <a:cs typeface="Arial MT"/>
              </a:rPr>
              <a:t> </a:t>
            </a:r>
            <a:r>
              <a:rPr dirty="0">
                <a:latin typeface="Arial MT"/>
                <a:cs typeface="Arial MT"/>
              </a:rPr>
              <a:t>begins</a:t>
            </a:r>
            <a:r>
              <a:rPr spc="-75" dirty="0">
                <a:latin typeface="Arial MT"/>
                <a:cs typeface="Arial MT"/>
              </a:rPr>
              <a:t> </a:t>
            </a:r>
            <a:r>
              <a:rPr dirty="0">
                <a:latin typeface="Arial MT"/>
                <a:cs typeface="Arial MT"/>
              </a:rPr>
              <a:t>with</a:t>
            </a:r>
            <a:r>
              <a:rPr spc="-70" dirty="0">
                <a:latin typeface="Arial MT"/>
                <a:cs typeface="Arial MT"/>
              </a:rPr>
              <a:t> </a:t>
            </a:r>
            <a:r>
              <a:rPr dirty="0">
                <a:latin typeface="Arial MT"/>
                <a:cs typeface="Arial MT"/>
              </a:rPr>
              <a:t>customer</a:t>
            </a:r>
            <a:r>
              <a:rPr spc="-75" dirty="0">
                <a:latin typeface="Arial MT"/>
                <a:cs typeface="Arial MT"/>
              </a:rPr>
              <a:t> </a:t>
            </a:r>
            <a:r>
              <a:rPr dirty="0">
                <a:latin typeface="Arial MT"/>
                <a:cs typeface="Arial MT"/>
              </a:rPr>
              <a:t>specification</a:t>
            </a:r>
            <a:r>
              <a:rPr spc="-70" dirty="0">
                <a:latin typeface="Arial MT"/>
                <a:cs typeface="Arial MT"/>
              </a:rPr>
              <a:t> </a:t>
            </a:r>
            <a:r>
              <a:rPr spc="-25" dirty="0">
                <a:latin typeface="Arial MT"/>
                <a:cs typeface="Arial MT"/>
              </a:rPr>
              <a:t>of </a:t>
            </a:r>
            <a:r>
              <a:rPr dirty="0">
                <a:latin typeface="Arial MT"/>
                <a:cs typeface="Arial MT"/>
              </a:rPr>
              <a:t>requirements</a:t>
            </a:r>
            <a:r>
              <a:rPr spc="-80" dirty="0">
                <a:latin typeface="Arial MT"/>
                <a:cs typeface="Arial MT"/>
              </a:rPr>
              <a:t> </a:t>
            </a:r>
            <a:r>
              <a:rPr dirty="0">
                <a:latin typeface="Arial MT"/>
                <a:cs typeface="Arial MT"/>
              </a:rPr>
              <a:t>and</a:t>
            </a:r>
            <a:r>
              <a:rPr spc="-75" dirty="0">
                <a:latin typeface="Arial MT"/>
                <a:cs typeface="Arial MT"/>
              </a:rPr>
              <a:t> </a:t>
            </a:r>
            <a:r>
              <a:rPr spc="-10" dirty="0">
                <a:latin typeface="Arial MT"/>
                <a:cs typeface="Arial MT"/>
              </a:rPr>
              <a:t>progresses.</a:t>
            </a:r>
            <a:endParaRPr dirty="0">
              <a:latin typeface="Arial MT"/>
              <a:cs typeface="Arial MT"/>
            </a:endParaRPr>
          </a:p>
          <a:p>
            <a:pPr marL="900113" indent="-227013">
              <a:spcBef>
                <a:spcPts val="170"/>
              </a:spcBef>
              <a:buChar char="•"/>
              <a:tabLst>
                <a:tab pos="2983865" algn="l"/>
              </a:tabLst>
            </a:pPr>
            <a:r>
              <a:rPr spc="-10" dirty="0">
                <a:latin typeface="Arial MT"/>
                <a:cs typeface="Arial MT"/>
              </a:rPr>
              <a:t>Planning.</a:t>
            </a:r>
            <a:endParaRPr dirty="0">
              <a:latin typeface="Arial MT"/>
              <a:cs typeface="Arial MT"/>
            </a:endParaRPr>
          </a:p>
          <a:p>
            <a:pPr marL="900113" indent="-227013">
              <a:spcBef>
                <a:spcPts val="160"/>
              </a:spcBef>
              <a:buChar char="•"/>
              <a:tabLst>
                <a:tab pos="2983865" algn="l"/>
              </a:tabLst>
            </a:pPr>
            <a:r>
              <a:rPr spc="-10" dirty="0">
                <a:latin typeface="Arial MT"/>
                <a:cs typeface="Arial MT"/>
              </a:rPr>
              <a:t>Modeling.</a:t>
            </a:r>
            <a:endParaRPr dirty="0">
              <a:latin typeface="Arial MT"/>
              <a:cs typeface="Arial MT"/>
            </a:endParaRPr>
          </a:p>
          <a:p>
            <a:pPr marL="900113" indent="-227013">
              <a:spcBef>
                <a:spcPts val="170"/>
              </a:spcBef>
              <a:buChar char="•"/>
              <a:tabLst>
                <a:tab pos="2983865" algn="l"/>
              </a:tabLst>
            </a:pPr>
            <a:r>
              <a:rPr dirty="0">
                <a:latin typeface="Arial MT"/>
                <a:cs typeface="Arial MT"/>
              </a:rPr>
              <a:t>Construction</a:t>
            </a:r>
            <a:r>
              <a:rPr spc="-150" dirty="0">
                <a:latin typeface="Arial MT"/>
                <a:cs typeface="Arial MT"/>
              </a:rPr>
              <a:t> </a:t>
            </a:r>
            <a:r>
              <a:rPr spc="-25" dirty="0">
                <a:latin typeface="Arial MT"/>
                <a:cs typeface="Arial MT"/>
              </a:rPr>
              <a:t>and</a:t>
            </a:r>
            <a:endParaRPr dirty="0">
              <a:latin typeface="Arial MT"/>
              <a:cs typeface="Arial MT"/>
            </a:endParaRPr>
          </a:p>
          <a:p>
            <a:pPr marL="900113" indent="-227013">
              <a:spcBef>
                <a:spcPts val="165"/>
              </a:spcBef>
              <a:buChar char="•"/>
              <a:tabLst>
                <a:tab pos="2983865" algn="l"/>
              </a:tabLst>
            </a:pPr>
            <a:r>
              <a:rPr spc="-10" dirty="0">
                <a:latin typeface="Arial MT"/>
                <a:cs typeface="Arial MT"/>
              </a:rPr>
              <a:t>Deployment.</a:t>
            </a:r>
            <a:endParaRPr dirty="0">
              <a:latin typeface="Arial MT"/>
              <a:cs typeface="Arial MT"/>
            </a:endParaRPr>
          </a:p>
        </p:txBody>
      </p:sp>
    </p:spTree>
    <p:extLst>
      <p:ext uri="{BB962C8B-B14F-4D97-AF65-F5344CB8AC3E}">
        <p14:creationId xmlns:p14="http://schemas.microsoft.com/office/powerpoint/2010/main" val="18572917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66451" y="1425088"/>
            <a:ext cx="8229600" cy="4402836"/>
          </a:xfrm>
          <a:prstGeom prst="rect">
            <a:avLst/>
          </a:prstGeom>
        </p:spPr>
      </p:pic>
    </p:spTree>
    <p:extLst>
      <p:ext uri="{BB962C8B-B14F-4D97-AF65-F5344CB8AC3E}">
        <p14:creationId xmlns:p14="http://schemas.microsoft.com/office/powerpoint/2010/main" val="4237036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22134" y="917271"/>
            <a:ext cx="11360150" cy="5171287"/>
          </a:xfrm>
          <a:prstGeom prst="rect">
            <a:avLst/>
          </a:prstGeom>
        </p:spPr>
        <p:txBody>
          <a:bodyPr vert="horz" wrap="square" lIns="0" tIns="94615" rIns="0" bIns="0" rtlCol="0">
            <a:spAutoFit/>
          </a:bodyPr>
          <a:lstStyle/>
          <a:p>
            <a:pPr>
              <a:lnSpc>
                <a:spcPct val="150000"/>
              </a:lnSpc>
            </a:pPr>
            <a:r>
              <a:rPr lang="en-US" b="1" dirty="0"/>
              <a:t>Advantages:</a:t>
            </a:r>
            <a:endParaRPr lang="en-US" dirty="0"/>
          </a:p>
          <a:p>
            <a:pPr marL="742950" lvl="1" indent="-285750">
              <a:lnSpc>
                <a:spcPct val="150000"/>
              </a:lnSpc>
              <a:buFont typeface="Arial" panose="020B0604020202020204" pitchFamily="34" charset="0"/>
              <a:buChar char="•"/>
            </a:pPr>
            <a:r>
              <a:rPr lang="en-US" dirty="0"/>
              <a:t>Easy to understand.</a:t>
            </a:r>
          </a:p>
          <a:p>
            <a:pPr marL="742950" lvl="1" indent="-285750">
              <a:lnSpc>
                <a:spcPct val="150000"/>
              </a:lnSpc>
              <a:buFont typeface="Arial" panose="020B0604020202020204" pitchFamily="34" charset="0"/>
              <a:buChar char="•"/>
            </a:pPr>
            <a:r>
              <a:rPr lang="en-US" dirty="0"/>
              <a:t>Each phase has well defined input and output.</a:t>
            </a:r>
          </a:p>
          <a:p>
            <a:pPr marL="742950" lvl="1" indent="-285750">
              <a:lnSpc>
                <a:spcPct val="150000"/>
              </a:lnSpc>
              <a:buFont typeface="Arial" panose="020B0604020202020204" pitchFamily="34" charset="0"/>
              <a:buChar char="•"/>
            </a:pPr>
            <a:r>
              <a:rPr lang="en-US" dirty="0"/>
              <a:t>Helps project manger in proper planning of project.</a:t>
            </a:r>
          </a:p>
          <a:p>
            <a:pPr marL="742950" lvl="1" indent="-285750">
              <a:lnSpc>
                <a:spcPct val="150000"/>
              </a:lnSpc>
              <a:buFont typeface="Arial" panose="020B0604020202020204" pitchFamily="34" charset="0"/>
              <a:buChar char="•"/>
            </a:pPr>
            <a:r>
              <a:rPr lang="en-US" dirty="0"/>
              <a:t>Provides a templates into which methods of analysis, design, code and support can be placed.</a:t>
            </a:r>
          </a:p>
          <a:p>
            <a:pPr>
              <a:lnSpc>
                <a:spcPct val="150000"/>
              </a:lnSpc>
            </a:pPr>
            <a:endParaRPr lang="en-US" dirty="0"/>
          </a:p>
          <a:p>
            <a:pPr>
              <a:lnSpc>
                <a:spcPct val="150000"/>
              </a:lnSpc>
            </a:pPr>
            <a:endParaRPr lang="en-US" dirty="0"/>
          </a:p>
          <a:p>
            <a:pPr>
              <a:lnSpc>
                <a:spcPct val="150000"/>
              </a:lnSpc>
            </a:pPr>
            <a:r>
              <a:rPr lang="en-US" b="1" dirty="0"/>
              <a:t>Disadvantages:</a:t>
            </a:r>
            <a:endParaRPr lang="en-US" dirty="0"/>
          </a:p>
          <a:p>
            <a:pPr marL="742950" lvl="1" indent="-285750">
              <a:lnSpc>
                <a:spcPct val="150000"/>
              </a:lnSpc>
              <a:buFont typeface="Arial" panose="020B0604020202020204" pitchFamily="34" charset="0"/>
              <a:buChar char="•"/>
            </a:pPr>
            <a:r>
              <a:rPr lang="en-US" dirty="0"/>
              <a:t>One way street.</a:t>
            </a:r>
          </a:p>
          <a:p>
            <a:pPr marL="742950" lvl="1" indent="-285750">
              <a:lnSpc>
                <a:spcPct val="150000"/>
              </a:lnSpc>
              <a:buFont typeface="Arial" panose="020B0604020202020204" pitchFamily="34" charset="0"/>
              <a:buChar char="•"/>
            </a:pPr>
            <a:r>
              <a:rPr lang="en-US" dirty="0"/>
              <a:t>It lack overlapping and interactions among phases.</a:t>
            </a:r>
          </a:p>
          <a:p>
            <a:pPr marL="742950" lvl="1" indent="-285750">
              <a:lnSpc>
                <a:spcPct val="150000"/>
              </a:lnSpc>
              <a:buFont typeface="Arial" panose="020B0604020202020204" pitchFamily="34" charset="0"/>
              <a:buChar char="•"/>
            </a:pPr>
            <a:r>
              <a:rPr lang="en-US" dirty="0"/>
              <a:t>Model doesn’t support delivery of system in pieces.</a:t>
            </a:r>
          </a:p>
          <a:p>
            <a:pPr marL="354965" indent="-342265">
              <a:lnSpc>
                <a:spcPct val="150000"/>
              </a:lnSpc>
              <a:spcBef>
                <a:spcPts val="650"/>
              </a:spcBef>
              <a:buChar char="•"/>
              <a:tabLst>
                <a:tab pos="354965" algn="l"/>
                <a:tab pos="899794" algn="l"/>
                <a:tab pos="1859914" algn="l"/>
                <a:tab pos="3982720" algn="l"/>
                <a:tab pos="4906645" algn="l"/>
                <a:tab pos="7011670" algn="l"/>
              </a:tabLst>
            </a:pPr>
            <a:endParaRPr dirty="0">
              <a:latin typeface="+mj-lt"/>
              <a:cs typeface="Arial MT"/>
            </a:endParaRPr>
          </a:p>
        </p:txBody>
      </p:sp>
    </p:spTree>
    <p:extLst>
      <p:ext uri="{BB962C8B-B14F-4D97-AF65-F5344CB8AC3E}">
        <p14:creationId xmlns:p14="http://schemas.microsoft.com/office/powerpoint/2010/main" val="33701617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728611" y="594994"/>
            <a:ext cx="11360150" cy="517525"/>
          </a:xfrm>
          <a:prstGeom prst="rect">
            <a:avLst/>
          </a:prstGeom>
        </p:spPr>
        <p:txBody>
          <a:bodyPr spcFirstLastPara="1" vert="horz" wrap="square" lIns="0" tIns="12700" rIns="0" bIns="0" rtlCol="0" anchor="t" anchorCtr="0">
            <a:spAutoFit/>
          </a:bodyPr>
          <a:lstStyle/>
          <a:p>
            <a:pPr marL="12700">
              <a:spcBef>
                <a:spcPts val="100"/>
              </a:spcBef>
            </a:pPr>
            <a:r>
              <a:rPr sz="3200" dirty="0"/>
              <a:t>Phases</a:t>
            </a:r>
            <a:r>
              <a:rPr sz="3200" spc="-70" dirty="0"/>
              <a:t> </a:t>
            </a:r>
            <a:r>
              <a:rPr sz="3200" dirty="0"/>
              <a:t>of</a:t>
            </a:r>
            <a:r>
              <a:rPr sz="3200" spc="-55" dirty="0"/>
              <a:t> </a:t>
            </a:r>
            <a:r>
              <a:rPr sz="3200" dirty="0"/>
              <a:t>the</a:t>
            </a:r>
            <a:r>
              <a:rPr sz="3200" spc="-60" dirty="0"/>
              <a:t> </a:t>
            </a:r>
            <a:r>
              <a:rPr sz="3200" dirty="0"/>
              <a:t>Classical</a:t>
            </a:r>
            <a:r>
              <a:rPr sz="3200" spc="-65" dirty="0"/>
              <a:t> </a:t>
            </a:r>
            <a:r>
              <a:rPr sz="3200" dirty="0"/>
              <a:t>Waterfall</a:t>
            </a:r>
            <a:r>
              <a:rPr sz="3200" spc="-70" dirty="0"/>
              <a:t> </a:t>
            </a:r>
            <a:r>
              <a:rPr sz="3200" spc="-10" dirty="0"/>
              <a:t>Model:</a:t>
            </a:r>
            <a:endParaRPr sz="3200" dirty="0"/>
          </a:p>
        </p:txBody>
      </p:sp>
      <p:pic>
        <p:nvPicPr>
          <p:cNvPr id="3" name="object 3"/>
          <p:cNvPicPr/>
          <p:nvPr/>
        </p:nvPicPr>
        <p:blipFill>
          <a:blip r:embed="rId2" cstate="print"/>
          <a:stretch>
            <a:fillRect/>
          </a:stretch>
        </p:blipFill>
        <p:spPr>
          <a:xfrm>
            <a:off x="1795272" y="1112519"/>
            <a:ext cx="8244840" cy="5076444"/>
          </a:xfrm>
          <a:prstGeom prst="rect">
            <a:avLst/>
          </a:prstGeom>
        </p:spPr>
      </p:pic>
    </p:spTree>
    <p:extLst>
      <p:ext uri="{BB962C8B-B14F-4D97-AF65-F5344CB8AC3E}">
        <p14:creationId xmlns:p14="http://schemas.microsoft.com/office/powerpoint/2010/main" val="34828401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595876" y="450989"/>
            <a:ext cx="11360150" cy="394339"/>
          </a:xfrm>
          <a:prstGeom prst="rect">
            <a:avLst/>
          </a:prstGeom>
        </p:spPr>
        <p:txBody>
          <a:bodyPr spcFirstLastPara="1" vert="horz" wrap="square" lIns="0" tIns="12065" rIns="0" bIns="0" rtlCol="0" anchor="t" anchorCtr="0">
            <a:spAutoFit/>
          </a:bodyPr>
          <a:lstStyle/>
          <a:p>
            <a:pPr marL="12700">
              <a:spcBef>
                <a:spcPts val="95"/>
              </a:spcBef>
            </a:pPr>
            <a:r>
              <a:rPr sz="2400" b="1" dirty="0"/>
              <a:t>Feasibility</a:t>
            </a:r>
            <a:r>
              <a:rPr sz="2400" b="1" spc="-125" dirty="0"/>
              <a:t> </a:t>
            </a:r>
            <a:r>
              <a:rPr sz="2400" b="1" spc="-10" dirty="0"/>
              <a:t>Study:</a:t>
            </a:r>
            <a:endParaRPr sz="2400" b="1" dirty="0"/>
          </a:p>
        </p:txBody>
      </p:sp>
      <p:sp>
        <p:nvSpPr>
          <p:cNvPr id="3" name="object 3"/>
          <p:cNvSpPr txBox="1"/>
          <p:nvPr/>
        </p:nvSpPr>
        <p:spPr>
          <a:xfrm>
            <a:off x="477889" y="1363802"/>
            <a:ext cx="11158587" cy="4544834"/>
          </a:xfrm>
          <a:prstGeom prst="rect">
            <a:avLst/>
          </a:prstGeom>
        </p:spPr>
        <p:txBody>
          <a:bodyPr vert="horz" wrap="square" lIns="0" tIns="12700" rIns="0" bIns="0" rtlCol="0">
            <a:spAutoFit/>
          </a:bodyPr>
          <a:lstStyle/>
          <a:p>
            <a:pPr marL="354965" indent="-342265">
              <a:spcBef>
                <a:spcPts val="100"/>
              </a:spcBef>
              <a:buChar char="•"/>
              <a:tabLst>
                <a:tab pos="354965" algn="l"/>
              </a:tabLst>
            </a:pPr>
            <a:r>
              <a:rPr sz="2000" dirty="0">
                <a:latin typeface="Arial MT"/>
                <a:cs typeface="Arial MT"/>
              </a:rPr>
              <a:t>It</a:t>
            </a:r>
            <a:r>
              <a:rPr sz="2000" spc="-70" dirty="0">
                <a:latin typeface="Arial MT"/>
                <a:cs typeface="Arial MT"/>
              </a:rPr>
              <a:t> </a:t>
            </a:r>
            <a:r>
              <a:rPr sz="2000" dirty="0">
                <a:latin typeface="Arial MT"/>
                <a:cs typeface="Arial MT"/>
              </a:rPr>
              <a:t>involves</a:t>
            </a:r>
            <a:r>
              <a:rPr sz="2000" spc="-30" dirty="0">
                <a:latin typeface="Arial MT"/>
                <a:cs typeface="Arial MT"/>
              </a:rPr>
              <a:t> </a:t>
            </a:r>
            <a:r>
              <a:rPr sz="2000" dirty="0">
                <a:latin typeface="Arial MT"/>
                <a:cs typeface="Arial MT"/>
              </a:rPr>
              <a:t>analysis</a:t>
            </a:r>
            <a:r>
              <a:rPr sz="2000" spc="-35" dirty="0">
                <a:latin typeface="Arial MT"/>
                <a:cs typeface="Arial MT"/>
              </a:rPr>
              <a:t> </a:t>
            </a:r>
            <a:r>
              <a:rPr sz="2000" dirty="0">
                <a:latin typeface="Arial MT"/>
                <a:cs typeface="Arial MT"/>
              </a:rPr>
              <a:t>of</a:t>
            </a:r>
            <a:r>
              <a:rPr sz="2000" spc="-55" dirty="0">
                <a:latin typeface="Arial MT"/>
                <a:cs typeface="Arial MT"/>
              </a:rPr>
              <a:t> </a:t>
            </a:r>
            <a:r>
              <a:rPr sz="2000" dirty="0">
                <a:latin typeface="Arial MT"/>
                <a:cs typeface="Arial MT"/>
              </a:rPr>
              <a:t>the</a:t>
            </a:r>
            <a:r>
              <a:rPr sz="2000" spc="-55" dirty="0">
                <a:latin typeface="Arial MT"/>
                <a:cs typeface="Arial MT"/>
              </a:rPr>
              <a:t> </a:t>
            </a:r>
            <a:r>
              <a:rPr sz="2000" dirty="0">
                <a:latin typeface="Arial MT"/>
                <a:cs typeface="Arial MT"/>
              </a:rPr>
              <a:t>problem</a:t>
            </a:r>
            <a:r>
              <a:rPr sz="2000" spc="-45" dirty="0">
                <a:latin typeface="Arial MT"/>
                <a:cs typeface="Arial MT"/>
              </a:rPr>
              <a:t> </a:t>
            </a:r>
            <a:r>
              <a:rPr sz="2000" dirty="0">
                <a:latin typeface="Arial MT"/>
                <a:cs typeface="Arial MT"/>
              </a:rPr>
              <a:t>and</a:t>
            </a:r>
            <a:r>
              <a:rPr sz="2000" spc="-45" dirty="0">
                <a:latin typeface="Arial MT"/>
                <a:cs typeface="Arial MT"/>
              </a:rPr>
              <a:t> </a:t>
            </a:r>
            <a:r>
              <a:rPr sz="2000" dirty="0">
                <a:latin typeface="Arial MT"/>
                <a:cs typeface="Arial MT"/>
              </a:rPr>
              <a:t>collection</a:t>
            </a:r>
            <a:r>
              <a:rPr sz="2000" spc="-30" dirty="0">
                <a:latin typeface="Arial MT"/>
                <a:cs typeface="Arial MT"/>
              </a:rPr>
              <a:t> </a:t>
            </a:r>
            <a:r>
              <a:rPr sz="2000" spc="-25" dirty="0">
                <a:latin typeface="Arial MT"/>
                <a:cs typeface="Arial MT"/>
              </a:rPr>
              <a:t>of</a:t>
            </a:r>
            <a:r>
              <a:rPr lang="en-IN" sz="2000" spc="-25" dirty="0">
                <a:latin typeface="Arial MT"/>
                <a:cs typeface="Arial MT"/>
              </a:rPr>
              <a:t> a</a:t>
            </a:r>
            <a:r>
              <a:rPr sz="2000" dirty="0" err="1">
                <a:latin typeface="Arial MT"/>
                <a:cs typeface="Arial MT"/>
              </a:rPr>
              <a:t>ll</a:t>
            </a:r>
            <a:r>
              <a:rPr lang="en-IN" sz="2000" dirty="0">
                <a:latin typeface="Arial MT"/>
                <a:cs typeface="Arial MT"/>
              </a:rPr>
              <a:t> </a:t>
            </a:r>
            <a:r>
              <a:rPr sz="2000" dirty="0">
                <a:latin typeface="Arial MT"/>
                <a:cs typeface="Arial MT"/>
              </a:rPr>
              <a:t>relevant</a:t>
            </a:r>
            <a:r>
              <a:rPr sz="2000" spc="-30" dirty="0">
                <a:latin typeface="Arial MT"/>
                <a:cs typeface="Arial MT"/>
              </a:rPr>
              <a:t> </a:t>
            </a:r>
            <a:r>
              <a:rPr sz="2000" dirty="0">
                <a:latin typeface="Arial MT"/>
                <a:cs typeface="Arial MT"/>
              </a:rPr>
              <a:t>information</a:t>
            </a:r>
            <a:r>
              <a:rPr sz="2000" spc="-55" dirty="0">
                <a:latin typeface="Arial MT"/>
                <a:cs typeface="Arial MT"/>
              </a:rPr>
              <a:t> </a:t>
            </a:r>
            <a:r>
              <a:rPr sz="2000" dirty="0">
                <a:latin typeface="Arial MT"/>
                <a:cs typeface="Arial MT"/>
              </a:rPr>
              <a:t>relating</a:t>
            </a:r>
            <a:r>
              <a:rPr sz="2000" spc="-55" dirty="0">
                <a:latin typeface="Arial MT"/>
                <a:cs typeface="Arial MT"/>
              </a:rPr>
              <a:t> </a:t>
            </a:r>
            <a:r>
              <a:rPr sz="2000" dirty="0">
                <a:latin typeface="Arial MT"/>
                <a:cs typeface="Arial MT"/>
              </a:rPr>
              <a:t>to</a:t>
            </a:r>
            <a:r>
              <a:rPr sz="2000" spc="-65" dirty="0">
                <a:latin typeface="Arial MT"/>
                <a:cs typeface="Arial MT"/>
              </a:rPr>
              <a:t> </a:t>
            </a:r>
            <a:r>
              <a:rPr sz="2000" dirty="0">
                <a:latin typeface="Arial MT"/>
                <a:cs typeface="Arial MT"/>
              </a:rPr>
              <a:t>the</a:t>
            </a:r>
            <a:r>
              <a:rPr sz="2000" spc="-70" dirty="0">
                <a:latin typeface="Arial MT"/>
                <a:cs typeface="Arial MT"/>
              </a:rPr>
              <a:t> </a:t>
            </a:r>
            <a:r>
              <a:rPr sz="2000" spc="-10" dirty="0">
                <a:latin typeface="Arial MT"/>
                <a:cs typeface="Arial MT"/>
              </a:rPr>
              <a:t>product.</a:t>
            </a:r>
            <a:endParaRPr sz="2000" dirty="0">
              <a:latin typeface="Arial MT"/>
              <a:cs typeface="Arial MT"/>
            </a:endParaRPr>
          </a:p>
          <a:p>
            <a:pPr marL="354965" indent="-342265">
              <a:spcBef>
                <a:spcPts val="575"/>
              </a:spcBef>
              <a:buChar char="•"/>
              <a:tabLst>
                <a:tab pos="354965" algn="l"/>
              </a:tabLst>
            </a:pPr>
            <a:r>
              <a:rPr sz="2000" dirty="0">
                <a:latin typeface="Arial MT"/>
                <a:cs typeface="Arial MT"/>
              </a:rPr>
              <a:t>The</a:t>
            </a:r>
            <a:r>
              <a:rPr sz="2000" spc="-70" dirty="0">
                <a:latin typeface="Arial MT"/>
                <a:cs typeface="Arial MT"/>
              </a:rPr>
              <a:t> </a:t>
            </a:r>
            <a:r>
              <a:rPr sz="2000" dirty="0">
                <a:latin typeface="Arial MT"/>
                <a:cs typeface="Arial MT"/>
              </a:rPr>
              <a:t>collected</a:t>
            </a:r>
            <a:r>
              <a:rPr sz="2000" spc="-35" dirty="0">
                <a:latin typeface="Arial MT"/>
                <a:cs typeface="Arial MT"/>
              </a:rPr>
              <a:t> </a:t>
            </a:r>
            <a:r>
              <a:rPr sz="2000" dirty="0">
                <a:latin typeface="Arial MT"/>
                <a:cs typeface="Arial MT"/>
              </a:rPr>
              <a:t>data</a:t>
            </a:r>
            <a:r>
              <a:rPr sz="2000" spc="-70" dirty="0">
                <a:latin typeface="Arial MT"/>
                <a:cs typeface="Arial MT"/>
              </a:rPr>
              <a:t> </a:t>
            </a:r>
            <a:r>
              <a:rPr sz="2000" dirty="0">
                <a:latin typeface="Arial MT"/>
                <a:cs typeface="Arial MT"/>
              </a:rPr>
              <a:t>are</a:t>
            </a:r>
            <a:r>
              <a:rPr sz="2000" spc="-65" dirty="0">
                <a:latin typeface="Arial MT"/>
                <a:cs typeface="Arial MT"/>
              </a:rPr>
              <a:t> </a:t>
            </a:r>
            <a:r>
              <a:rPr sz="2000" spc="-10" dirty="0">
                <a:latin typeface="Arial MT"/>
                <a:cs typeface="Arial MT"/>
              </a:rPr>
              <a:t>analysed.</a:t>
            </a:r>
            <a:endParaRPr sz="2000" dirty="0">
              <a:latin typeface="Arial MT"/>
              <a:cs typeface="Arial MT"/>
            </a:endParaRPr>
          </a:p>
          <a:p>
            <a:pPr marL="1610995" lvl="1" indent="-226695">
              <a:spcBef>
                <a:spcPts val="484"/>
              </a:spcBef>
              <a:buChar char="–"/>
              <a:tabLst>
                <a:tab pos="1610995" algn="l"/>
              </a:tabLst>
            </a:pPr>
            <a:r>
              <a:rPr dirty="0">
                <a:latin typeface="Arial MT"/>
                <a:cs typeface="Arial MT"/>
              </a:rPr>
              <a:t>Requriments</a:t>
            </a:r>
            <a:r>
              <a:rPr spc="-55" dirty="0">
                <a:latin typeface="Arial MT"/>
                <a:cs typeface="Arial MT"/>
              </a:rPr>
              <a:t> </a:t>
            </a:r>
            <a:r>
              <a:rPr dirty="0">
                <a:latin typeface="Arial MT"/>
                <a:cs typeface="Arial MT"/>
              </a:rPr>
              <a:t>of</a:t>
            </a:r>
            <a:r>
              <a:rPr spc="-30" dirty="0">
                <a:latin typeface="Arial MT"/>
                <a:cs typeface="Arial MT"/>
              </a:rPr>
              <a:t> </a:t>
            </a:r>
            <a:r>
              <a:rPr dirty="0">
                <a:latin typeface="Arial MT"/>
                <a:cs typeface="Arial MT"/>
              </a:rPr>
              <a:t>the</a:t>
            </a:r>
            <a:r>
              <a:rPr spc="-35" dirty="0">
                <a:latin typeface="Arial MT"/>
                <a:cs typeface="Arial MT"/>
              </a:rPr>
              <a:t> </a:t>
            </a:r>
            <a:r>
              <a:rPr spc="-10" dirty="0">
                <a:latin typeface="Arial MT"/>
                <a:cs typeface="Arial MT"/>
              </a:rPr>
              <a:t>Customer.</a:t>
            </a:r>
            <a:endParaRPr dirty="0">
              <a:latin typeface="Arial MT"/>
              <a:cs typeface="Arial MT"/>
            </a:endParaRPr>
          </a:p>
          <a:p>
            <a:pPr marL="1611630" lvl="1" indent="-227329">
              <a:spcBef>
                <a:spcPts val="480"/>
              </a:spcBef>
              <a:buChar char="–"/>
              <a:tabLst>
                <a:tab pos="1611630" algn="l"/>
              </a:tabLst>
            </a:pPr>
            <a:r>
              <a:rPr dirty="0">
                <a:latin typeface="Arial MT"/>
                <a:cs typeface="Arial MT"/>
              </a:rPr>
              <a:t>Formulations</a:t>
            </a:r>
            <a:r>
              <a:rPr spc="-65" dirty="0">
                <a:latin typeface="Arial MT"/>
                <a:cs typeface="Arial MT"/>
              </a:rPr>
              <a:t> </a:t>
            </a:r>
            <a:r>
              <a:rPr dirty="0">
                <a:latin typeface="Arial MT"/>
                <a:cs typeface="Arial MT"/>
              </a:rPr>
              <a:t>of</a:t>
            </a:r>
            <a:r>
              <a:rPr spc="-25" dirty="0">
                <a:latin typeface="Arial MT"/>
                <a:cs typeface="Arial MT"/>
              </a:rPr>
              <a:t> </a:t>
            </a:r>
            <a:r>
              <a:rPr dirty="0">
                <a:latin typeface="Arial MT"/>
                <a:cs typeface="Arial MT"/>
              </a:rPr>
              <a:t>the</a:t>
            </a:r>
            <a:r>
              <a:rPr spc="-40" dirty="0">
                <a:latin typeface="Arial MT"/>
                <a:cs typeface="Arial MT"/>
              </a:rPr>
              <a:t> </a:t>
            </a:r>
            <a:r>
              <a:rPr dirty="0">
                <a:latin typeface="Arial MT"/>
                <a:cs typeface="Arial MT"/>
              </a:rPr>
              <a:t>different</a:t>
            </a:r>
            <a:r>
              <a:rPr spc="-45" dirty="0">
                <a:latin typeface="Arial MT"/>
                <a:cs typeface="Arial MT"/>
              </a:rPr>
              <a:t> </a:t>
            </a:r>
            <a:r>
              <a:rPr dirty="0">
                <a:latin typeface="Arial MT"/>
                <a:cs typeface="Arial MT"/>
              </a:rPr>
              <a:t>strategies</a:t>
            </a:r>
            <a:r>
              <a:rPr spc="-70" dirty="0">
                <a:latin typeface="Arial MT"/>
                <a:cs typeface="Arial MT"/>
              </a:rPr>
              <a:t> </a:t>
            </a:r>
            <a:r>
              <a:rPr dirty="0">
                <a:latin typeface="Arial MT"/>
                <a:cs typeface="Arial MT"/>
              </a:rPr>
              <a:t>for</a:t>
            </a:r>
            <a:r>
              <a:rPr spc="-35" dirty="0">
                <a:latin typeface="Arial MT"/>
                <a:cs typeface="Arial MT"/>
              </a:rPr>
              <a:t> </a:t>
            </a:r>
            <a:r>
              <a:rPr dirty="0">
                <a:latin typeface="Arial MT"/>
                <a:cs typeface="Arial MT"/>
              </a:rPr>
              <a:t>solving</a:t>
            </a:r>
            <a:r>
              <a:rPr spc="-20" dirty="0">
                <a:latin typeface="Arial MT"/>
                <a:cs typeface="Arial MT"/>
              </a:rPr>
              <a:t> </a:t>
            </a:r>
            <a:r>
              <a:rPr spc="-25" dirty="0">
                <a:latin typeface="Arial MT"/>
                <a:cs typeface="Arial MT"/>
              </a:rPr>
              <a:t>the</a:t>
            </a:r>
            <a:endParaRPr dirty="0">
              <a:latin typeface="Arial MT"/>
              <a:cs typeface="Arial MT"/>
            </a:endParaRPr>
          </a:p>
          <a:p>
            <a:pPr marL="1612900"/>
            <a:r>
              <a:rPr spc="-10" dirty="0">
                <a:latin typeface="Arial MT"/>
                <a:cs typeface="Arial MT"/>
              </a:rPr>
              <a:t>problem.</a:t>
            </a:r>
            <a:endParaRPr dirty="0">
              <a:latin typeface="Arial MT"/>
              <a:cs typeface="Arial MT"/>
            </a:endParaRPr>
          </a:p>
          <a:p>
            <a:pPr marL="1610995" lvl="1" indent="-226695">
              <a:spcBef>
                <a:spcPts val="480"/>
              </a:spcBef>
              <a:buChar char="–"/>
              <a:tabLst>
                <a:tab pos="1610995" algn="l"/>
              </a:tabLst>
            </a:pPr>
            <a:r>
              <a:rPr dirty="0">
                <a:latin typeface="Arial MT"/>
                <a:cs typeface="Arial MT"/>
              </a:rPr>
              <a:t>Evaluation</a:t>
            </a:r>
            <a:r>
              <a:rPr spc="-40" dirty="0">
                <a:latin typeface="Arial MT"/>
                <a:cs typeface="Arial MT"/>
              </a:rPr>
              <a:t> </a:t>
            </a:r>
            <a:r>
              <a:rPr dirty="0">
                <a:latin typeface="Arial MT"/>
                <a:cs typeface="Arial MT"/>
              </a:rPr>
              <a:t>of</a:t>
            </a:r>
            <a:r>
              <a:rPr spc="-55" dirty="0">
                <a:latin typeface="Arial MT"/>
                <a:cs typeface="Arial MT"/>
              </a:rPr>
              <a:t> </a:t>
            </a:r>
            <a:r>
              <a:rPr dirty="0">
                <a:latin typeface="Arial MT"/>
                <a:cs typeface="Arial MT"/>
              </a:rPr>
              <a:t>different</a:t>
            </a:r>
            <a:r>
              <a:rPr spc="-55" dirty="0">
                <a:latin typeface="Arial MT"/>
                <a:cs typeface="Arial MT"/>
              </a:rPr>
              <a:t> </a:t>
            </a:r>
            <a:r>
              <a:rPr dirty="0">
                <a:latin typeface="Arial MT"/>
                <a:cs typeface="Arial MT"/>
              </a:rPr>
              <a:t>solution</a:t>
            </a:r>
            <a:r>
              <a:rPr spc="-45" dirty="0">
                <a:latin typeface="Arial MT"/>
                <a:cs typeface="Arial MT"/>
              </a:rPr>
              <a:t> </a:t>
            </a:r>
            <a:r>
              <a:rPr spc="-10" dirty="0">
                <a:latin typeface="Arial MT"/>
                <a:cs typeface="Arial MT"/>
              </a:rPr>
              <a:t>strategies.</a:t>
            </a:r>
            <a:endParaRPr dirty="0">
              <a:latin typeface="Arial MT"/>
              <a:cs typeface="Arial MT"/>
            </a:endParaRPr>
          </a:p>
          <a:p>
            <a:pPr marL="12700">
              <a:spcBef>
                <a:spcPts val="575"/>
              </a:spcBef>
            </a:pPr>
            <a:endParaRPr lang="en-US" sz="2000" b="1" dirty="0">
              <a:latin typeface="Arial"/>
              <a:cs typeface="Arial"/>
            </a:endParaRPr>
          </a:p>
          <a:p>
            <a:pPr marL="12700">
              <a:spcBef>
                <a:spcPts val="575"/>
              </a:spcBef>
            </a:pPr>
            <a:r>
              <a:rPr sz="2000" b="1" dirty="0" err="1">
                <a:latin typeface="Arial"/>
                <a:cs typeface="Arial"/>
              </a:rPr>
              <a:t>Requriments</a:t>
            </a:r>
            <a:r>
              <a:rPr sz="2000" b="1" spc="-135" dirty="0">
                <a:latin typeface="Arial"/>
                <a:cs typeface="Arial"/>
              </a:rPr>
              <a:t> </a:t>
            </a:r>
            <a:r>
              <a:rPr sz="2000" b="1" dirty="0">
                <a:latin typeface="Arial"/>
                <a:cs typeface="Arial"/>
              </a:rPr>
              <a:t>Analysis</a:t>
            </a:r>
            <a:r>
              <a:rPr sz="2000" b="1" spc="-40" dirty="0">
                <a:latin typeface="Arial"/>
                <a:cs typeface="Arial"/>
              </a:rPr>
              <a:t> </a:t>
            </a:r>
            <a:r>
              <a:rPr sz="2000" b="1" dirty="0">
                <a:latin typeface="Arial"/>
                <a:cs typeface="Arial"/>
              </a:rPr>
              <a:t>and</a:t>
            </a:r>
            <a:r>
              <a:rPr sz="2000" b="1" spc="-65" dirty="0">
                <a:latin typeface="Arial"/>
                <a:cs typeface="Arial"/>
              </a:rPr>
              <a:t> </a:t>
            </a:r>
            <a:r>
              <a:rPr sz="2000" b="1" spc="-10" dirty="0">
                <a:latin typeface="Arial"/>
                <a:cs typeface="Arial"/>
              </a:rPr>
              <a:t>Specification:</a:t>
            </a:r>
            <a:endParaRPr sz="2000" dirty="0">
              <a:latin typeface="Arial"/>
              <a:cs typeface="Arial"/>
            </a:endParaRPr>
          </a:p>
          <a:p>
            <a:pPr marL="354965" indent="-342265">
              <a:spcBef>
                <a:spcPts val="575"/>
              </a:spcBef>
              <a:buChar char="•"/>
              <a:tabLst>
                <a:tab pos="354965" algn="l"/>
              </a:tabLst>
            </a:pPr>
            <a:r>
              <a:rPr sz="2000" dirty="0">
                <a:latin typeface="Arial MT"/>
                <a:cs typeface="Arial MT"/>
              </a:rPr>
              <a:t>It</a:t>
            </a:r>
            <a:r>
              <a:rPr sz="2000" spc="-30" dirty="0">
                <a:latin typeface="Arial MT"/>
                <a:cs typeface="Arial MT"/>
              </a:rPr>
              <a:t> </a:t>
            </a:r>
            <a:r>
              <a:rPr sz="2000" dirty="0">
                <a:latin typeface="Arial MT"/>
                <a:cs typeface="Arial MT"/>
              </a:rPr>
              <a:t>is</a:t>
            </a:r>
            <a:r>
              <a:rPr sz="2000" spc="-20" dirty="0">
                <a:latin typeface="Arial MT"/>
                <a:cs typeface="Arial MT"/>
              </a:rPr>
              <a:t> </a:t>
            </a:r>
            <a:r>
              <a:rPr sz="2000" dirty="0">
                <a:latin typeface="Arial MT"/>
                <a:cs typeface="Arial MT"/>
              </a:rPr>
              <a:t>understand</a:t>
            </a:r>
            <a:r>
              <a:rPr sz="2000" spc="-5" dirty="0">
                <a:latin typeface="Arial MT"/>
                <a:cs typeface="Arial MT"/>
              </a:rPr>
              <a:t> </a:t>
            </a:r>
            <a:r>
              <a:rPr sz="2000" dirty="0">
                <a:latin typeface="Arial MT"/>
                <a:cs typeface="Arial MT"/>
              </a:rPr>
              <a:t>the</a:t>
            </a:r>
            <a:r>
              <a:rPr sz="2000" spc="-20" dirty="0">
                <a:latin typeface="Arial MT"/>
                <a:cs typeface="Arial MT"/>
              </a:rPr>
              <a:t> </a:t>
            </a:r>
            <a:r>
              <a:rPr sz="2000" dirty="0">
                <a:latin typeface="Arial MT"/>
                <a:cs typeface="Arial MT"/>
              </a:rPr>
              <a:t>exact</a:t>
            </a:r>
            <a:r>
              <a:rPr sz="2000" spc="5" dirty="0">
                <a:latin typeface="Arial MT"/>
                <a:cs typeface="Arial MT"/>
              </a:rPr>
              <a:t> </a:t>
            </a:r>
            <a:r>
              <a:rPr sz="2000" dirty="0">
                <a:latin typeface="Arial MT"/>
                <a:cs typeface="Arial MT"/>
              </a:rPr>
              <a:t>requriments</a:t>
            </a:r>
            <a:r>
              <a:rPr sz="2000" spc="-15" dirty="0">
                <a:latin typeface="Arial MT"/>
                <a:cs typeface="Arial MT"/>
              </a:rPr>
              <a:t> </a:t>
            </a:r>
            <a:r>
              <a:rPr sz="2000" dirty="0">
                <a:latin typeface="Arial MT"/>
                <a:cs typeface="Arial MT"/>
              </a:rPr>
              <a:t>of</a:t>
            </a:r>
            <a:r>
              <a:rPr sz="2000" spc="-10" dirty="0">
                <a:latin typeface="Arial MT"/>
                <a:cs typeface="Arial MT"/>
              </a:rPr>
              <a:t> </a:t>
            </a:r>
            <a:r>
              <a:rPr sz="2000" dirty="0">
                <a:latin typeface="Arial MT"/>
                <a:cs typeface="Arial MT"/>
              </a:rPr>
              <a:t>the</a:t>
            </a:r>
            <a:r>
              <a:rPr sz="2000" spc="-15" dirty="0">
                <a:latin typeface="Arial MT"/>
                <a:cs typeface="Arial MT"/>
              </a:rPr>
              <a:t> </a:t>
            </a:r>
            <a:r>
              <a:rPr sz="2000" spc="-10" dirty="0">
                <a:latin typeface="Arial MT"/>
                <a:cs typeface="Arial MT"/>
              </a:rPr>
              <a:t>customer</a:t>
            </a:r>
            <a:endParaRPr sz="2000" dirty="0">
              <a:latin typeface="Arial MT"/>
              <a:cs typeface="Arial MT"/>
            </a:endParaRPr>
          </a:p>
          <a:p>
            <a:pPr marL="355600"/>
            <a:r>
              <a:rPr sz="2000" dirty="0">
                <a:latin typeface="Arial MT"/>
                <a:cs typeface="Arial MT"/>
              </a:rPr>
              <a:t>and</a:t>
            </a:r>
            <a:r>
              <a:rPr sz="2000" spc="-35" dirty="0">
                <a:latin typeface="Arial MT"/>
                <a:cs typeface="Arial MT"/>
              </a:rPr>
              <a:t> </a:t>
            </a:r>
            <a:r>
              <a:rPr sz="2000" dirty="0">
                <a:latin typeface="Arial MT"/>
                <a:cs typeface="Arial MT"/>
              </a:rPr>
              <a:t>to</a:t>
            </a:r>
            <a:r>
              <a:rPr sz="2000" spc="-65" dirty="0">
                <a:latin typeface="Arial MT"/>
                <a:cs typeface="Arial MT"/>
              </a:rPr>
              <a:t> </a:t>
            </a:r>
            <a:r>
              <a:rPr sz="2000" dirty="0">
                <a:latin typeface="Arial MT"/>
                <a:cs typeface="Arial MT"/>
              </a:rPr>
              <a:t>document</a:t>
            </a:r>
            <a:r>
              <a:rPr sz="2000" spc="-30" dirty="0">
                <a:latin typeface="Arial MT"/>
                <a:cs typeface="Arial MT"/>
              </a:rPr>
              <a:t> </a:t>
            </a:r>
            <a:r>
              <a:rPr sz="2000" dirty="0">
                <a:latin typeface="Arial MT"/>
                <a:cs typeface="Arial MT"/>
              </a:rPr>
              <a:t>them</a:t>
            </a:r>
            <a:r>
              <a:rPr sz="2000" spc="-40" dirty="0">
                <a:latin typeface="Arial MT"/>
                <a:cs typeface="Arial MT"/>
              </a:rPr>
              <a:t> </a:t>
            </a:r>
            <a:r>
              <a:rPr sz="2000" spc="-10" dirty="0">
                <a:latin typeface="Arial MT"/>
                <a:cs typeface="Arial MT"/>
              </a:rPr>
              <a:t>properly.</a:t>
            </a:r>
            <a:endParaRPr sz="2000" dirty="0">
              <a:latin typeface="Arial MT"/>
              <a:cs typeface="Arial MT"/>
            </a:endParaRPr>
          </a:p>
          <a:p>
            <a:pPr marL="1611630" lvl="1" indent="-227329">
              <a:spcBef>
                <a:spcPts val="575"/>
              </a:spcBef>
              <a:buChar char="–"/>
              <a:tabLst>
                <a:tab pos="1611630" algn="l"/>
              </a:tabLst>
            </a:pPr>
            <a:r>
              <a:rPr sz="2000" dirty="0">
                <a:latin typeface="Arial MT"/>
                <a:cs typeface="Arial MT"/>
              </a:rPr>
              <a:t>Requirements</a:t>
            </a:r>
            <a:r>
              <a:rPr sz="2000" spc="-114" dirty="0">
                <a:latin typeface="Arial MT"/>
                <a:cs typeface="Arial MT"/>
              </a:rPr>
              <a:t> </a:t>
            </a:r>
            <a:r>
              <a:rPr sz="2000" dirty="0">
                <a:latin typeface="Arial MT"/>
                <a:cs typeface="Arial MT"/>
              </a:rPr>
              <a:t>gathering</a:t>
            </a:r>
            <a:r>
              <a:rPr sz="2000" spc="-110" dirty="0">
                <a:latin typeface="Arial MT"/>
                <a:cs typeface="Arial MT"/>
              </a:rPr>
              <a:t> </a:t>
            </a:r>
            <a:r>
              <a:rPr sz="2000" dirty="0">
                <a:latin typeface="Arial MT"/>
                <a:cs typeface="Arial MT"/>
              </a:rPr>
              <a:t>and</a:t>
            </a:r>
            <a:r>
              <a:rPr sz="2000" spc="-130" dirty="0">
                <a:latin typeface="Arial MT"/>
                <a:cs typeface="Arial MT"/>
              </a:rPr>
              <a:t> </a:t>
            </a:r>
            <a:r>
              <a:rPr sz="2000" spc="-10" dirty="0">
                <a:latin typeface="Arial MT"/>
                <a:cs typeface="Arial MT"/>
              </a:rPr>
              <a:t>analysis.</a:t>
            </a:r>
            <a:endParaRPr sz="2000" dirty="0">
              <a:latin typeface="Arial MT"/>
              <a:cs typeface="Arial MT"/>
            </a:endParaRPr>
          </a:p>
          <a:p>
            <a:pPr marL="1611630" lvl="1" indent="-227329">
              <a:spcBef>
                <a:spcPts val="580"/>
              </a:spcBef>
              <a:buChar char="–"/>
              <a:tabLst>
                <a:tab pos="1611630" algn="l"/>
              </a:tabLst>
            </a:pPr>
            <a:r>
              <a:rPr sz="2000" dirty="0">
                <a:latin typeface="Arial MT"/>
                <a:cs typeface="Arial MT"/>
              </a:rPr>
              <a:t>Requirements</a:t>
            </a:r>
            <a:r>
              <a:rPr sz="2000" spc="-160" dirty="0">
                <a:latin typeface="Arial MT"/>
                <a:cs typeface="Arial MT"/>
              </a:rPr>
              <a:t> </a:t>
            </a:r>
            <a:r>
              <a:rPr sz="2000" spc="-10" dirty="0">
                <a:latin typeface="Arial MT"/>
                <a:cs typeface="Arial MT"/>
              </a:rPr>
              <a:t>specification.</a:t>
            </a:r>
            <a:endParaRPr sz="2000" dirty="0">
              <a:latin typeface="Arial MT"/>
              <a:cs typeface="Arial MT"/>
            </a:endParaRPr>
          </a:p>
        </p:txBody>
      </p:sp>
    </p:spTree>
    <p:extLst>
      <p:ext uri="{BB962C8B-B14F-4D97-AF65-F5344CB8AC3E}">
        <p14:creationId xmlns:p14="http://schemas.microsoft.com/office/powerpoint/2010/main" val="15006924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551631" y="438213"/>
            <a:ext cx="11360150" cy="455613"/>
          </a:xfrm>
          <a:prstGeom prst="rect">
            <a:avLst/>
          </a:prstGeom>
        </p:spPr>
        <p:txBody>
          <a:bodyPr spcFirstLastPara="1" vert="horz" wrap="square" lIns="0" tIns="12065" rIns="0" bIns="0" rtlCol="0" anchor="t" anchorCtr="0">
            <a:spAutoFit/>
          </a:bodyPr>
          <a:lstStyle/>
          <a:p>
            <a:pPr marL="12700">
              <a:spcBef>
                <a:spcPts val="95"/>
              </a:spcBef>
            </a:pPr>
            <a:r>
              <a:rPr b="1" spc="-10" dirty="0"/>
              <a:t>Design:</a:t>
            </a:r>
            <a:endParaRPr b="1" dirty="0"/>
          </a:p>
        </p:txBody>
      </p:sp>
      <p:sp>
        <p:nvSpPr>
          <p:cNvPr id="3" name="object 3"/>
          <p:cNvSpPr txBox="1"/>
          <p:nvPr/>
        </p:nvSpPr>
        <p:spPr>
          <a:xfrm>
            <a:off x="345153" y="1410024"/>
            <a:ext cx="11129092" cy="4526880"/>
          </a:xfrm>
          <a:prstGeom prst="rect">
            <a:avLst/>
          </a:prstGeom>
        </p:spPr>
        <p:txBody>
          <a:bodyPr vert="horz" wrap="square" lIns="0" tIns="12700" rIns="0" bIns="0" rtlCol="0">
            <a:spAutoFit/>
          </a:bodyPr>
          <a:lstStyle/>
          <a:p>
            <a:pPr marL="353060" marR="8255" indent="-340360" algn="just">
              <a:spcBef>
                <a:spcPts val="100"/>
              </a:spcBef>
              <a:buChar char="•"/>
              <a:tabLst>
                <a:tab pos="355600" algn="l"/>
              </a:tabLst>
            </a:pPr>
            <a:r>
              <a:rPr sz="2000" dirty="0">
                <a:latin typeface="Arial MT"/>
                <a:cs typeface="Arial MT"/>
              </a:rPr>
              <a:t>The</a:t>
            </a:r>
            <a:r>
              <a:rPr sz="2000" spc="220" dirty="0">
                <a:latin typeface="Arial MT"/>
                <a:cs typeface="Arial MT"/>
              </a:rPr>
              <a:t>  </a:t>
            </a:r>
            <a:r>
              <a:rPr sz="2000" dirty="0">
                <a:latin typeface="Arial MT"/>
                <a:cs typeface="Arial MT"/>
              </a:rPr>
              <a:t>deign</a:t>
            </a:r>
            <a:r>
              <a:rPr sz="2000" spc="229" dirty="0">
                <a:latin typeface="Arial MT"/>
                <a:cs typeface="Arial MT"/>
              </a:rPr>
              <a:t>  </a:t>
            </a:r>
            <a:r>
              <a:rPr sz="2000" dirty="0">
                <a:latin typeface="Arial MT"/>
                <a:cs typeface="Arial MT"/>
              </a:rPr>
              <a:t>phase</a:t>
            </a:r>
            <a:r>
              <a:rPr sz="2000" spc="225" dirty="0">
                <a:latin typeface="Arial MT"/>
                <a:cs typeface="Arial MT"/>
              </a:rPr>
              <a:t>  </a:t>
            </a:r>
            <a:r>
              <a:rPr sz="2000" dirty="0">
                <a:latin typeface="Arial MT"/>
                <a:cs typeface="Arial MT"/>
              </a:rPr>
              <a:t>is</a:t>
            </a:r>
            <a:r>
              <a:rPr sz="2000" spc="220" dirty="0">
                <a:latin typeface="Arial MT"/>
                <a:cs typeface="Arial MT"/>
              </a:rPr>
              <a:t>  </a:t>
            </a:r>
            <a:r>
              <a:rPr sz="2000" dirty="0">
                <a:latin typeface="Arial MT"/>
                <a:cs typeface="Arial MT"/>
              </a:rPr>
              <a:t>to</a:t>
            </a:r>
            <a:r>
              <a:rPr sz="2000" spc="215" dirty="0">
                <a:latin typeface="Arial MT"/>
                <a:cs typeface="Arial MT"/>
              </a:rPr>
              <a:t>  </a:t>
            </a:r>
            <a:r>
              <a:rPr sz="2000" dirty="0">
                <a:latin typeface="Arial MT"/>
                <a:cs typeface="Arial MT"/>
              </a:rPr>
              <a:t>transform</a:t>
            </a:r>
            <a:r>
              <a:rPr sz="2000" spc="225" dirty="0">
                <a:latin typeface="Arial MT"/>
                <a:cs typeface="Arial MT"/>
              </a:rPr>
              <a:t>  </a:t>
            </a:r>
            <a:r>
              <a:rPr sz="2000" dirty="0">
                <a:latin typeface="Arial MT"/>
                <a:cs typeface="Arial MT"/>
              </a:rPr>
              <a:t>the</a:t>
            </a:r>
            <a:r>
              <a:rPr sz="2000" spc="220" dirty="0">
                <a:latin typeface="Arial MT"/>
                <a:cs typeface="Arial MT"/>
              </a:rPr>
              <a:t>  </a:t>
            </a:r>
            <a:r>
              <a:rPr sz="2000" spc="-10" dirty="0">
                <a:latin typeface="Arial MT"/>
                <a:cs typeface="Arial MT"/>
              </a:rPr>
              <a:t>requirements 	</a:t>
            </a:r>
            <a:r>
              <a:rPr sz="2000" dirty="0">
                <a:latin typeface="Arial MT"/>
                <a:cs typeface="Arial MT"/>
              </a:rPr>
              <a:t>specified</a:t>
            </a:r>
            <a:r>
              <a:rPr sz="2000" spc="25" dirty="0">
                <a:latin typeface="Arial MT"/>
                <a:cs typeface="Arial MT"/>
              </a:rPr>
              <a:t> </a:t>
            </a:r>
            <a:r>
              <a:rPr sz="2000" dirty="0">
                <a:latin typeface="Arial MT"/>
                <a:cs typeface="Arial MT"/>
              </a:rPr>
              <a:t>in</a:t>
            </a:r>
            <a:r>
              <a:rPr sz="2000" spc="35" dirty="0">
                <a:latin typeface="Arial MT"/>
                <a:cs typeface="Arial MT"/>
              </a:rPr>
              <a:t> </a:t>
            </a:r>
            <a:r>
              <a:rPr sz="2000" dirty="0">
                <a:latin typeface="Arial MT"/>
                <a:cs typeface="Arial MT"/>
              </a:rPr>
              <a:t>the</a:t>
            </a:r>
            <a:r>
              <a:rPr sz="2000" spc="45" dirty="0">
                <a:latin typeface="Arial MT"/>
                <a:cs typeface="Arial MT"/>
              </a:rPr>
              <a:t> </a:t>
            </a:r>
            <a:r>
              <a:rPr sz="2000" dirty="0">
                <a:latin typeface="Arial MT"/>
                <a:cs typeface="Arial MT"/>
              </a:rPr>
              <a:t>document</a:t>
            </a:r>
            <a:r>
              <a:rPr sz="2000" spc="40" dirty="0">
                <a:latin typeface="Arial MT"/>
                <a:cs typeface="Arial MT"/>
              </a:rPr>
              <a:t> </a:t>
            </a:r>
            <a:r>
              <a:rPr sz="2000" dirty="0">
                <a:latin typeface="Arial MT"/>
                <a:cs typeface="Arial MT"/>
              </a:rPr>
              <a:t>into</a:t>
            </a:r>
            <a:r>
              <a:rPr sz="2000" spc="40" dirty="0">
                <a:latin typeface="Arial MT"/>
                <a:cs typeface="Arial MT"/>
              </a:rPr>
              <a:t> </a:t>
            </a:r>
            <a:r>
              <a:rPr sz="2000" dirty="0">
                <a:latin typeface="Arial MT"/>
                <a:cs typeface="Arial MT"/>
              </a:rPr>
              <a:t>a</a:t>
            </a:r>
            <a:r>
              <a:rPr sz="2000" spc="40" dirty="0">
                <a:latin typeface="Arial MT"/>
                <a:cs typeface="Arial MT"/>
              </a:rPr>
              <a:t> </a:t>
            </a:r>
            <a:r>
              <a:rPr sz="2000" dirty="0">
                <a:latin typeface="Arial MT"/>
                <a:cs typeface="Arial MT"/>
              </a:rPr>
              <a:t>structure</a:t>
            </a:r>
            <a:r>
              <a:rPr sz="2000" spc="40" dirty="0">
                <a:latin typeface="Arial MT"/>
                <a:cs typeface="Arial MT"/>
              </a:rPr>
              <a:t> </a:t>
            </a:r>
            <a:r>
              <a:rPr sz="2000" dirty="0">
                <a:latin typeface="Arial MT"/>
                <a:cs typeface="Arial MT"/>
              </a:rPr>
              <a:t>that</a:t>
            </a:r>
            <a:r>
              <a:rPr sz="2000" spc="35" dirty="0">
                <a:latin typeface="Arial MT"/>
                <a:cs typeface="Arial MT"/>
              </a:rPr>
              <a:t> </a:t>
            </a:r>
            <a:r>
              <a:rPr sz="2000" dirty="0">
                <a:latin typeface="Arial MT"/>
                <a:cs typeface="Arial MT"/>
              </a:rPr>
              <a:t>is</a:t>
            </a:r>
            <a:r>
              <a:rPr sz="2000" spc="40" dirty="0">
                <a:latin typeface="Arial MT"/>
                <a:cs typeface="Arial MT"/>
              </a:rPr>
              <a:t> </a:t>
            </a:r>
            <a:r>
              <a:rPr sz="2000" spc="-10" dirty="0">
                <a:latin typeface="Arial MT"/>
                <a:cs typeface="Arial MT"/>
              </a:rPr>
              <a:t>suitable </a:t>
            </a:r>
            <a:r>
              <a:rPr sz="2000" dirty="0">
                <a:latin typeface="Arial MT"/>
                <a:cs typeface="Arial MT"/>
              </a:rPr>
              <a:t>for</a:t>
            </a:r>
            <a:r>
              <a:rPr sz="2000" spc="-70" dirty="0">
                <a:latin typeface="Arial MT"/>
                <a:cs typeface="Arial MT"/>
              </a:rPr>
              <a:t> </a:t>
            </a:r>
            <a:r>
              <a:rPr sz="2000" spc="-10" dirty="0">
                <a:latin typeface="Arial MT"/>
                <a:cs typeface="Arial MT"/>
              </a:rPr>
              <a:t>implementation</a:t>
            </a:r>
            <a:r>
              <a:rPr sz="2000" spc="-45" dirty="0">
                <a:latin typeface="Arial MT"/>
                <a:cs typeface="Arial MT"/>
              </a:rPr>
              <a:t> </a:t>
            </a:r>
            <a:r>
              <a:rPr sz="2000" dirty="0">
                <a:latin typeface="Arial MT"/>
                <a:cs typeface="Arial MT"/>
              </a:rPr>
              <a:t>in</a:t>
            </a:r>
            <a:r>
              <a:rPr sz="2000" spc="-55" dirty="0">
                <a:latin typeface="Arial MT"/>
                <a:cs typeface="Arial MT"/>
              </a:rPr>
              <a:t> </a:t>
            </a:r>
            <a:r>
              <a:rPr sz="2000" dirty="0">
                <a:latin typeface="Arial MT"/>
                <a:cs typeface="Arial MT"/>
              </a:rPr>
              <a:t>some</a:t>
            </a:r>
            <a:r>
              <a:rPr sz="2000" spc="-75" dirty="0">
                <a:latin typeface="Arial MT"/>
                <a:cs typeface="Arial MT"/>
              </a:rPr>
              <a:t> </a:t>
            </a:r>
            <a:r>
              <a:rPr sz="2000" dirty="0">
                <a:latin typeface="Arial MT"/>
                <a:cs typeface="Arial MT"/>
              </a:rPr>
              <a:t>programming</a:t>
            </a:r>
            <a:r>
              <a:rPr sz="2000" spc="-45" dirty="0">
                <a:latin typeface="Arial MT"/>
                <a:cs typeface="Arial MT"/>
              </a:rPr>
              <a:t> </a:t>
            </a:r>
            <a:r>
              <a:rPr sz="2000" spc="-10" dirty="0">
                <a:latin typeface="Arial MT"/>
                <a:cs typeface="Arial MT"/>
              </a:rPr>
              <a:t>languaage.</a:t>
            </a:r>
            <a:endParaRPr sz="2000" dirty="0">
              <a:latin typeface="Arial MT"/>
              <a:cs typeface="Arial MT"/>
            </a:endParaRPr>
          </a:p>
          <a:p>
            <a:pPr marL="1165225" indent="-227013" algn="just">
              <a:spcBef>
                <a:spcPts val="204"/>
              </a:spcBef>
              <a:buChar char="•"/>
              <a:tabLst>
                <a:tab pos="2526665" algn="l"/>
              </a:tabLst>
            </a:pPr>
            <a:r>
              <a:rPr sz="2000" spc="-10" dirty="0">
                <a:latin typeface="Arial MT"/>
                <a:cs typeface="Arial MT"/>
              </a:rPr>
              <a:t>Traditional</a:t>
            </a:r>
            <a:r>
              <a:rPr sz="2000" spc="-70" dirty="0">
                <a:latin typeface="Arial MT"/>
                <a:cs typeface="Arial MT"/>
              </a:rPr>
              <a:t> </a:t>
            </a:r>
            <a:r>
              <a:rPr sz="2000" spc="-20" dirty="0">
                <a:latin typeface="Arial MT"/>
                <a:cs typeface="Arial MT"/>
              </a:rPr>
              <a:t>Design</a:t>
            </a:r>
            <a:r>
              <a:rPr sz="2000" spc="-145" dirty="0">
                <a:latin typeface="Arial MT"/>
                <a:cs typeface="Arial MT"/>
              </a:rPr>
              <a:t> </a:t>
            </a:r>
            <a:r>
              <a:rPr sz="2000" spc="-10" dirty="0">
                <a:latin typeface="Arial MT"/>
                <a:cs typeface="Arial MT"/>
              </a:rPr>
              <a:t>Approach.</a:t>
            </a:r>
            <a:endParaRPr sz="2000" dirty="0">
              <a:latin typeface="Arial MT"/>
              <a:cs typeface="Arial MT"/>
            </a:endParaRPr>
          </a:p>
          <a:p>
            <a:pPr marL="1165225" indent="-227013" algn="just">
              <a:spcBef>
                <a:spcPts val="215"/>
              </a:spcBef>
              <a:buChar char="•"/>
              <a:tabLst>
                <a:tab pos="2526665" algn="l"/>
              </a:tabLst>
            </a:pPr>
            <a:r>
              <a:rPr sz="2000" spc="-10" dirty="0">
                <a:latin typeface="Arial MT"/>
                <a:cs typeface="Arial MT"/>
              </a:rPr>
              <a:t>Object-</a:t>
            </a:r>
            <a:r>
              <a:rPr sz="2000" dirty="0">
                <a:latin typeface="Arial MT"/>
                <a:cs typeface="Arial MT"/>
              </a:rPr>
              <a:t>Oriented</a:t>
            </a:r>
            <a:r>
              <a:rPr sz="2000" spc="-80" dirty="0">
                <a:latin typeface="Arial MT"/>
                <a:cs typeface="Arial MT"/>
              </a:rPr>
              <a:t> </a:t>
            </a:r>
            <a:r>
              <a:rPr sz="2000" spc="-10" dirty="0">
                <a:latin typeface="Arial MT"/>
                <a:cs typeface="Arial MT"/>
              </a:rPr>
              <a:t>Design</a:t>
            </a:r>
            <a:r>
              <a:rPr sz="2000" spc="-155" dirty="0">
                <a:latin typeface="Arial MT"/>
                <a:cs typeface="Arial MT"/>
              </a:rPr>
              <a:t> </a:t>
            </a:r>
            <a:r>
              <a:rPr sz="2000" spc="-10" dirty="0">
                <a:latin typeface="Arial MT"/>
                <a:cs typeface="Arial MT"/>
              </a:rPr>
              <a:t>Approach.</a:t>
            </a:r>
            <a:endParaRPr lang="en-US" sz="2000" b="1" dirty="0">
              <a:latin typeface="Arial"/>
              <a:cs typeface="Arial"/>
            </a:endParaRPr>
          </a:p>
          <a:p>
            <a:pPr marL="12700">
              <a:spcBef>
                <a:spcPts val="575"/>
              </a:spcBef>
            </a:pPr>
            <a:r>
              <a:rPr sz="2000" b="1" dirty="0">
                <a:latin typeface="Arial"/>
                <a:cs typeface="Arial"/>
              </a:rPr>
              <a:t>Coding</a:t>
            </a:r>
            <a:r>
              <a:rPr sz="2000" b="1" spc="-45" dirty="0">
                <a:latin typeface="Arial"/>
                <a:cs typeface="Arial"/>
              </a:rPr>
              <a:t> </a:t>
            </a:r>
            <a:r>
              <a:rPr sz="2000" b="1" dirty="0">
                <a:latin typeface="Arial"/>
                <a:cs typeface="Arial"/>
              </a:rPr>
              <a:t>and</a:t>
            </a:r>
            <a:r>
              <a:rPr sz="2000" b="1" spc="-40" dirty="0">
                <a:latin typeface="Arial"/>
                <a:cs typeface="Arial"/>
              </a:rPr>
              <a:t> </a:t>
            </a:r>
            <a:r>
              <a:rPr sz="2000" b="1" dirty="0">
                <a:latin typeface="Arial"/>
                <a:cs typeface="Arial"/>
              </a:rPr>
              <a:t>Unit</a:t>
            </a:r>
            <a:r>
              <a:rPr sz="2000" b="1" spc="-30" dirty="0">
                <a:latin typeface="Arial"/>
                <a:cs typeface="Arial"/>
              </a:rPr>
              <a:t> </a:t>
            </a:r>
            <a:r>
              <a:rPr sz="2000" b="1" spc="-10" dirty="0">
                <a:latin typeface="Arial"/>
                <a:cs typeface="Arial"/>
              </a:rPr>
              <a:t>Testing:</a:t>
            </a:r>
            <a:endParaRPr sz="2000" dirty="0">
              <a:latin typeface="Arial"/>
              <a:cs typeface="Arial"/>
            </a:endParaRPr>
          </a:p>
          <a:p>
            <a:pPr marL="353060" marR="5080" indent="-340360" algn="just">
              <a:spcBef>
                <a:spcPts val="580"/>
              </a:spcBef>
              <a:buChar char="•"/>
              <a:tabLst>
                <a:tab pos="355600" algn="l"/>
              </a:tabLst>
            </a:pPr>
            <a:r>
              <a:rPr sz="2000" dirty="0">
                <a:latin typeface="Arial MT"/>
                <a:cs typeface="Arial MT"/>
              </a:rPr>
              <a:t>The</a:t>
            </a:r>
            <a:r>
              <a:rPr sz="2000" spc="365" dirty="0">
                <a:latin typeface="Arial MT"/>
                <a:cs typeface="Arial MT"/>
              </a:rPr>
              <a:t> </a:t>
            </a:r>
            <a:r>
              <a:rPr sz="2000" dirty="0">
                <a:latin typeface="Arial MT"/>
                <a:cs typeface="Arial MT"/>
              </a:rPr>
              <a:t>purpose</a:t>
            </a:r>
            <a:r>
              <a:rPr sz="2000" spc="375" dirty="0">
                <a:latin typeface="Arial MT"/>
                <a:cs typeface="Arial MT"/>
              </a:rPr>
              <a:t> </a:t>
            </a:r>
            <a:r>
              <a:rPr sz="2000" dirty="0">
                <a:latin typeface="Arial MT"/>
                <a:cs typeface="Arial MT"/>
              </a:rPr>
              <a:t>of</a:t>
            </a:r>
            <a:r>
              <a:rPr sz="2000" spc="365" dirty="0">
                <a:latin typeface="Arial MT"/>
                <a:cs typeface="Arial MT"/>
              </a:rPr>
              <a:t> </a:t>
            </a:r>
            <a:r>
              <a:rPr sz="2000" dirty="0">
                <a:latin typeface="Arial MT"/>
                <a:cs typeface="Arial MT"/>
              </a:rPr>
              <a:t>the</a:t>
            </a:r>
            <a:r>
              <a:rPr sz="2000" spc="375" dirty="0">
                <a:latin typeface="Arial MT"/>
                <a:cs typeface="Arial MT"/>
              </a:rPr>
              <a:t> </a:t>
            </a:r>
            <a:r>
              <a:rPr sz="2000" dirty="0">
                <a:latin typeface="Arial MT"/>
                <a:cs typeface="Arial MT"/>
              </a:rPr>
              <a:t>coding</a:t>
            </a:r>
            <a:r>
              <a:rPr sz="2000" spc="370" dirty="0">
                <a:latin typeface="Arial MT"/>
                <a:cs typeface="Arial MT"/>
              </a:rPr>
              <a:t> </a:t>
            </a:r>
            <a:r>
              <a:rPr sz="2000" dirty="0">
                <a:latin typeface="Arial MT"/>
                <a:cs typeface="Arial MT"/>
              </a:rPr>
              <a:t>and</a:t>
            </a:r>
            <a:r>
              <a:rPr sz="2000" spc="360" dirty="0">
                <a:latin typeface="Arial MT"/>
                <a:cs typeface="Arial MT"/>
              </a:rPr>
              <a:t> </a:t>
            </a:r>
            <a:r>
              <a:rPr sz="2000" dirty="0">
                <a:latin typeface="Arial MT"/>
                <a:cs typeface="Arial MT"/>
              </a:rPr>
              <a:t>unit</a:t>
            </a:r>
            <a:r>
              <a:rPr sz="2000" spc="375" dirty="0">
                <a:latin typeface="Arial MT"/>
                <a:cs typeface="Arial MT"/>
              </a:rPr>
              <a:t> </a:t>
            </a:r>
            <a:r>
              <a:rPr sz="2000" dirty="0">
                <a:latin typeface="Arial MT"/>
                <a:cs typeface="Arial MT"/>
              </a:rPr>
              <a:t>testing</a:t>
            </a:r>
            <a:r>
              <a:rPr sz="2000" spc="370" dirty="0">
                <a:latin typeface="Arial MT"/>
                <a:cs typeface="Arial MT"/>
              </a:rPr>
              <a:t> </a:t>
            </a:r>
            <a:r>
              <a:rPr sz="2000" dirty="0">
                <a:latin typeface="Arial MT"/>
                <a:cs typeface="Arial MT"/>
              </a:rPr>
              <a:t>phase</a:t>
            </a:r>
            <a:r>
              <a:rPr sz="2000" spc="385" dirty="0">
                <a:latin typeface="Arial MT"/>
                <a:cs typeface="Arial MT"/>
              </a:rPr>
              <a:t> </a:t>
            </a:r>
            <a:r>
              <a:rPr sz="2000" spc="-25" dirty="0">
                <a:latin typeface="Arial MT"/>
                <a:cs typeface="Arial MT"/>
              </a:rPr>
              <a:t>of </a:t>
            </a:r>
            <a:r>
              <a:rPr sz="2000" dirty="0">
                <a:latin typeface="Arial MT"/>
                <a:cs typeface="Arial MT"/>
              </a:rPr>
              <a:t>software</a:t>
            </a:r>
            <a:r>
              <a:rPr sz="2000" spc="35" dirty="0">
                <a:latin typeface="Arial MT"/>
                <a:cs typeface="Arial MT"/>
              </a:rPr>
              <a:t> </a:t>
            </a:r>
            <a:r>
              <a:rPr sz="2000" dirty="0">
                <a:latin typeface="Arial MT"/>
                <a:cs typeface="Arial MT"/>
              </a:rPr>
              <a:t>development</a:t>
            </a:r>
            <a:r>
              <a:rPr sz="2000" spc="55" dirty="0">
                <a:latin typeface="Arial MT"/>
                <a:cs typeface="Arial MT"/>
              </a:rPr>
              <a:t> </a:t>
            </a:r>
            <a:r>
              <a:rPr sz="2000" dirty="0">
                <a:latin typeface="Arial MT"/>
                <a:cs typeface="Arial MT"/>
              </a:rPr>
              <a:t>is</a:t>
            </a:r>
            <a:r>
              <a:rPr sz="2000" spc="35" dirty="0">
                <a:latin typeface="Arial MT"/>
                <a:cs typeface="Arial MT"/>
              </a:rPr>
              <a:t> </a:t>
            </a:r>
            <a:r>
              <a:rPr sz="2000" dirty="0">
                <a:latin typeface="Arial MT"/>
                <a:cs typeface="Arial MT"/>
              </a:rPr>
              <a:t>to</a:t>
            </a:r>
            <a:r>
              <a:rPr sz="2000" spc="30" dirty="0">
                <a:latin typeface="Arial MT"/>
                <a:cs typeface="Arial MT"/>
              </a:rPr>
              <a:t> </a:t>
            </a:r>
            <a:r>
              <a:rPr sz="2000" dirty="0">
                <a:latin typeface="Arial MT"/>
                <a:cs typeface="Arial MT"/>
              </a:rPr>
              <a:t>translate</a:t>
            </a:r>
            <a:r>
              <a:rPr sz="2000" spc="60" dirty="0">
                <a:latin typeface="Arial MT"/>
                <a:cs typeface="Arial MT"/>
              </a:rPr>
              <a:t> </a:t>
            </a:r>
            <a:r>
              <a:rPr sz="2000" dirty="0">
                <a:latin typeface="Arial MT"/>
                <a:cs typeface="Arial MT"/>
              </a:rPr>
              <a:t>the</a:t>
            </a:r>
            <a:r>
              <a:rPr sz="2000" spc="50" dirty="0">
                <a:latin typeface="Arial MT"/>
                <a:cs typeface="Arial MT"/>
              </a:rPr>
              <a:t> </a:t>
            </a:r>
            <a:r>
              <a:rPr sz="2000" dirty="0">
                <a:latin typeface="Arial MT"/>
                <a:cs typeface="Arial MT"/>
              </a:rPr>
              <a:t>software</a:t>
            </a:r>
            <a:r>
              <a:rPr sz="2000" spc="45" dirty="0">
                <a:latin typeface="Arial MT"/>
                <a:cs typeface="Arial MT"/>
              </a:rPr>
              <a:t> </a:t>
            </a:r>
            <a:r>
              <a:rPr sz="2000" spc="-10" dirty="0">
                <a:latin typeface="Arial MT"/>
                <a:cs typeface="Arial MT"/>
              </a:rPr>
              <a:t>design </a:t>
            </a:r>
            <a:r>
              <a:rPr sz="2000" dirty="0">
                <a:latin typeface="Arial MT"/>
                <a:cs typeface="Arial MT"/>
              </a:rPr>
              <a:t>into</a:t>
            </a:r>
            <a:r>
              <a:rPr sz="2000" spc="-80" dirty="0">
                <a:latin typeface="Arial MT"/>
                <a:cs typeface="Arial MT"/>
              </a:rPr>
              <a:t> </a:t>
            </a:r>
            <a:r>
              <a:rPr sz="2000" dirty="0">
                <a:latin typeface="Arial MT"/>
                <a:cs typeface="Arial MT"/>
              </a:rPr>
              <a:t>source</a:t>
            </a:r>
            <a:r>
              <a:rPr sz="2000" spc="-75" dirty="0">
                <a:latin typeface="Arial MT"/>
                <a:cs typeface="Arial MT"/>
              </a:rPr>
              <a:t> </a:t>
            </a:r>
            <a:r>
              <a:rPr sz="2000" spc="-10" dirty="0">
                <a:latin typeface="Arial MT"/>
                <a:cs typeface="Arial MT"/>
              </a:rPr>
              <a:t>code.</a:t>
            </a:r>
            <a:endParaRPr sz="2000" dirty="0">
              <a:latin typeface="Arial MT"/>
              <a:cs typeface="Arial MT"/>
            </a:endParaRPr>
          </a:p>
          <a:p>
            <a:pPr marL="12700">
              <a:spcBef>
                <a:spcPts val="575"/>
              </a:spcBef>
            </a:pPr>
            <a:r>
              <a:rPr sz="2000" b="1" dirty="0">
                <a:latin typeface="Arial"/>
                <a:cs typeface="Arial"/>
              </a:rPr>
              <a:t>Integration</a:t>
            </a:r>
            <a:r>
              <a:rPr sz="2000" b="1" spc="-60" dirty="0">
                <a:latin typeface="Arial"/>
                <a:cs typeface="Arial"/>
              </a:rPr>
              <a:t> </a:t>
            </a:r>
            <a:r>
              <a:rPr sz="2000" b="1" dirty="0">
                <a:latin typeface="Arial"/>
                <a:cs typeface="Arial"/>
              </a:rPr>
              <a:t>and</a:t>
            </a:r>
            <a:r>
              <a:rPr sz="2000" b="1" spc="-50" dirty="0">
                <a:latin typeface="Arial"/>
                <a:cs typeface="Arial"/>
              </a:rPr>
              <a:t> </a:t>
            </a:r>
            <a:r>
              <a:rPr sz="2000" b="1" dirty="0">
                <a:latin typeface="Arial"/>
                <a:cs typeface="Arial"/>
              </a:rPr>
              <a:t>System</a:t>
            </a:r>
            <a:r>
              <a:rPr sz="2000" b="1" spc="-5" dirty="0">
                <a:latin typeface="Arial"/>
                <a:cs typeface="Arial"/>
              </a:rPr>
              <a:t> </a:t>
            </a:r>
            <a:r>
              <a:rPr sz="2000" b="1" spc="-10" dirty="0">
                <a:latin typeface="Arial"/>
                <a:cs typeface="Arial"/>
              </a:rPr>
              <a:t>Testing:</a:t>
            </a:r>
            <a:endParaRPr sz="2000" dirty="0">
              <a:latin typeface="Arial"/>
              <a:cs typeface="Arial"/>
            </a:endParaRPr>
          </a:p>
          <a:p>
            <a:pPr marL="354965" indent="-342265">
              <a:spcBef>
                <a:spcPts val="575"/>
              </a:spcBef>
              <a:buChar char="•"/>
              <a:tabLst>
                <a:tab pos="354965" algn="l"/>
              </a:tabLst>
            </a:pPr>
            <a:r>
              <a:rPr sz="2000" dirty="0">
                <a:latin typeface="Arial MT"/>
                <a:cs typeface="Arial MT"/>
              </a:rPr>
              <a:t>‘Integration</a:t>
            </a:r>
            <a:r>
              <a:rPr sz="2000" spc="-75" dirty="0">
                <a:latin typeface="Arial MT"/>
                <a:cs typeface="Arial MT"/>
              </a:rPr>
              <a:t> </a:t>
            </a:r>
            <a:r>
              <a:rPr sz="2000" dirty="0">
                <a:latin typeface="Arial MT"/>
                <a:cs typeface="Arial MT"/>
              </a:rPr>
              <a:t>of</a:t>
            </a:r>
            <a:r>
              <a:rPr sz="2000" spc="-65" dirty="0">
                <a:latin typeface="Arial MT"/>
                <a:cs typeface="Arial MT"/>
              </a:rPr>
              <a:t> </a:t>
            </a:r>
            <a:r>
              <a:rPr sz="2000" dirty="0">
                <a:latin typeface="Arial MT"/>
                <a:cs typeface="Arial MT"/>
              </a:rPr>
              <a:t>different</a:t>
            </a:r>
            <a:r>
              <a:rPr sz="2000" spc="-65" dirty="0">
                <a:latin typeface="Arial MT"/>
                <a:cs typeface="Arial MT"/>
              </a:rPr>
              <a:t> </a:t>
            </a:r>
            <a:r>
              <a:rPr sz="2000" dirty="0">
                <a:latin typeface="Arial MT"/>
                <a:cs typeface="Arial MT"/>
              </a:rPr>
              <a:t>modules</a:t>
            </a:r>
            <a:r>
              <a:rPr sz="2000" spc="-30" dirty="0">
                <a:latin typeface="Arial MT"/>
                <a:cs typeface="Arial MT"/>
              </a:rPr>
              <a:t> </a:t>
            </a:r>
            <a:r>
              <a:rPr sz="2000" dirty="0">
                <a:latin typeface="Arial MT"/>
                <a:cs typeface="Arial MT"/>
              </a:rPr>
              <a:t>is</a:t>
            </a:r>
            <a:r>
              <a:rPr sz="2000" spc="-65" dirty="0">
                <a:latin typeface="Arial MT"/>
                <a:cs typeface="Arial MT"/>
              </a:rPr>
              <a:t> </a:t>
            </a:r>
            <a:r>
              <a:rPr sz="2000" dirty="0">
                <a:latin typeface="Arial MT"/>
                <a:cs typeface="Arial MT"/>
              </a:rPr>
              <a:t>coded</a:t>
            </a:r>
            <a:r>
              <a:rPr sz="2000" spc="-55" dirty="0">
                <a:latin typeface="Arial MT"/>
                <a:cs typeface="Arial MT"/>
              </a:rPr>
              <a:t> </a:t>
            </a:r>
            <a:r>
              <a:rPr sz="2000" dirty="0">
                <a:latin typeface="Arial MT"/>
                <a:cs typeface="Arial MT"/>
              </a:rPr>
              <a:t>and</a:t>
            </a:r>
            <a:r>
              <a:rPr sz="2000" spc="-60" dirty="0">
                <a:latin typeface="Arial MT"/>
                <a:cs typeface="Arial MT"/>
              </a:rPr>
              <a:t> </a:t>
            </a:r>
            <a:r>
              <a:rPr sz="2000" dirty="0">
                <a:latin typeface="Arial MT"/>
                <a:cs typeface="Arial MT"/>
              </a:rPr>
              <a:t>unit</a:t>
            </a:r>
            <a:r>
              <a:rPr sz="2000" spc="-60" dirty="0">
                <a:latin typeface="Arial MT"/>
                <a:cs typeface="Arial MT"/>
              </a:rPr>
              <a:t> </a:t>
            </a:r>
            <a:r>
              <a:rPr sz="2000" spc="-10" dirty="0">
                <a:latin typeface="Arial MT"/>
                <a:cs typeface="Arial MT"/>
              </a:rPr>
              <a:t>tested.</a:t>
            </a:r>
            <a:endParaRPr lang="en-IN" sz="2000" spc="-10" dirty="0">
              <a:latin typeface="Arial MT"/>
              <a:cs typeface="Arial MT"/>
            </a:endParaRPr>
          </a:p>
          <a:p>
            <a:pPr marL="3098165" lvl="6" indent="-342265">
              <a:spcBef>
                <a:spcPts val="575"/>
              </a:spcBef>
              <a:buChar char="•"/>
              <a:tabLst>
                <a:tab pos="354965" algn="l"/>
              </a:tabLst>
            </a:pPr>
            <a:r>
              <a:rPr lang="en-IN" sz="2000" spc="-10" dirty="0">
                <a:latin typeface="Arial MT"/>
                <a:cs typeface="Arial MT"/>
              </a:rPr>
              <a:t>Integration testing</a:t>
            </a:r>
            <a:endParaRPr sz="2000" dirty="0">
              <a:latin typeface="Arial MT"/>
              <a:cs typeface="Arial MT"/>
            </a:endParaRPr>
          </a:p>
          <a:p>
            <a:pPr marL="2983865" lvl="1" indent="-227329">
              <a:spcBef>
                <a:spcPts val="220"/>
              </a:spcBef>
              <a:buFont typeface="Arial MT"/>
              <a:buChar char="•"/>
              <a:tabLst>
                <a:tab pos="2983865" algn="l"/>
                <a:tab pos="3606800" algn="l"/>
              </a:tabLst>
            </a:pPr>
            <a:r>
              <a:rPr sz="2000" dirty="0">
                <a:latin typeface="Cambria Math"/>
                <a:cs typeface="Cambria Math"/>
              </a:rPr>
              <a:t>𝛼</a:t>
            </a:r>
            <a:r>
              <a:rPr sz="2000" spc="70" dirty="0">
                <a:latin typeface="Cambria Math"/>
                <a:cs typeface="Cambria Math"/>
              </a:rPr>
              <a:t> </a:t>
            </a:r>
            <a:r>
              <a:rPr sz="2000" spc="-50" dirty="0">
                <a:latin typeface="Cambria Math"/>
                <a:cs typeface="Cambria Math"/>
              </a:rPr>
              <a:t>−</a:t>
            </a:r>
            <a:r>
              <a:rPr sz="2000" dirty="0">
                <a:latin typeface="Cambria Math"/>
                <a:cs typeface="Cambria Math"/>
              </a:rPr>
              <a:t>	</a:t>
            </a:r>
            <a:r>
              <a:rPr sz="2000" spc="-10" dirty="0">
                <a:latin typeface="Cambria Math"/>
                <a:cs typeface="Cambria Math"/>
              </a:rPr>
              <a:t>𝑇𝑒𝑠𝑡𝑖𝑛𝑔</a:t>
            </a:r>
            <a:endParaRPr sz="2000" dirty="0">
              <a:latin typeface="Cambria Math"/>
              <a:cs typeface="Cambria Math"/>
            </a:endParaRPr>
          </a:p>
          <a:p>
            <a:pPr marL="2983865" lvl="1" indent="-227329">
              <a:spcBef>
                <a:spcPts val="204"/>
              </a:spcBef>
              <a:buFont typeface="Arial MT"/>
              <a:buChar char="•"/>
              <a:tabLst>
                <a:tab pos="2983865" algn="l"/>
                <a:tab pos="3608070" algn="l"/>
              </a:tabLst>
            </a:pPr>
            <a:r>
              <a:rPr sz="2000" dirty="0">
                <a:latin typeface="Cambria Math"/>
                <a:cs typeface="Cambria Math"/>
              </a:rPr>
              <a:t>𝛽</a:t>
            </a:r>
            <a:r>
              <a:rPr sz="2000" spc="65" dirty="0">
                <a:latin typeface="Cambria Math"/>
                <a:cs typeface="Cambria Math"/>
              </a:rPr>
              <a:t> </a:t>
            </a:r>
            <a:r>
              <a:rPr sz="2000" spc="-60" dirty="0">
                <a:latin typeface="Cambria Math"/>
                <a:cs typeface="Cambria Math"/>
              </a:rPr>
              <a:t>−</a:t>
            </a:r>
            <a:r>
              <a:rPr sz="2000" dirty="0">
                <a:latin typeface="Cambria Math"/>
                <a:cs typeface="Cambria Math"/>
              </a:rPr>
              <a:t>	</a:t>
            </a:r>
            <a:r>
              <a:rPr sz="2000" spc="-10" dirty="0">
                <a:latin typeface="Cambria Math"/>
                <a:cs typeface="Cambria Math"/>
              </a:rPr>
              <a:t>𝑇𝑒𝑠𝑡𝑖𝑛𝑔</a:t>
            </a:r>
            <a:endParaRPr sz="2000" dirty="0">
              <a:latin typeface="Cambria Math"/>
              <a:cs typeface="Cambria Math"/>
            </a:endParaRPr>
          </a:p>
          <a:p>
            <a:pPr marL="2983865" lvl="1" indent="-227329">
              <a:spcBef>
                <a:spcPts val="215"/>
              </a:spcBef>
              <a:buChar char="•"/>
              <a:tabLst>
                <a:tab pos="2983865" algn="l"/>
              </a:tabLst>
            </a:pPr>
            <a:r>
              <a:rPr sz="2000" spc="-10" dirty="0">
                <a:latin typeface="Arial MT"/>
                <a:cs typeface="Arial MT"/>
              </a:rPr>
              <a:t>Acceptance</a:t>
            </a:r>
            <a:r>
              <a:rPr sz="2000" spc="-105" dirty="0">
                <a:latin typeface="Arial MT"/>
                <a:cs typeface="Arial MT"/>
              </a:rPr>
              <a:t> </a:t>
            </a:r>
            <a:r>
              <a:rPr sz="2000" spc="-10" dirty="0">
                <a:latin typeface="Arial MT"/>
                <a:cs typeface="Arial MT"/>
              </a:rPr>
              <a:t>Testing.</a:t>
            </a:r>
            <a:endParaRPr sz="2000" dirty="0">
              <a:latin typeface="Arial MT"/>
              <a:cs typeface="Arial MT"/>
            </a:endParaRPr>
          </a:p>
        </p:txBody>
      </p:sp>
    </p:spTree>
    <p:extLst>
      <p:ext uri="{BB962C8B-B14F-4D97-AF65-F5344CB8AC3E}">
        <p14:creationId xmlns:p14="http://schemas.microsoft.com/office/powerpoint/2010/main" val="31869518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625374" y="621785"/>
            <a:ext cx="11360150" cy="394980"/>
          </a:xfrm>
          <a:prstGeom prst="rect">
            <a:avLst/>
          </a:prstGeom>
        </p:spPr>
        <p:txBody>
          <a:bodyPr spcFirstLastPara="1" vert="horz" wrap="square" lIns="0" tIns="12700" rIns="0" bIns="0" rtlCol="0" anchor="t" anchorCtr="0">
            <a:spAutoFit/>
          </a:bodyPr>
          <a:lstStyle/>
          <a:p>
            <a:pPr marL="12700">
              <a:spcBef>
                <a:spcPts val="100"/>
              </a:spcBef>
            </a:pPr>
            <a:r>
              <a:rPr sz="2400" b="1" spc="-10" dirty="0"/>
              <a:t>Maintenance:</a:t>
            </a:r>
          </a:p>
        </p:txBody>
      </p:sp>
      <p:sp>
        <p:nvSpPr>
          <p:cNvPr id="3" name="object 3"/>
          <p:cNvSpPr txBox="1"/>
          <p:nvPr/>
        </p:nvSpPr>
        <p:spPr>
          <a:xfrm>
            <a:off x="433645" y="1743242"/>
            <a:ext cx="10612898" cy="2078133"/>
          </a:xfrm>
          <a:prstGeom prst="rect">
            <a:avLst/>
          </a:prstGeom>
        </p:spPr>
        <p:txBody>
          <a:bodyPr vert="horz" wrap="square" lIns="0" tIns="13335" rIns="0" bIns="0" rtlCol="0">
            <a:spAutoFit/>
          </a:bodyPr>
          <a:lstStyle/>
          <a:p>
            <a:pPr marL="355600" marR="5080" indent="-342900">
              <a:spcBef>
                <a:spcPts val="105"/>
              </a:spcBef>
              <a:buChar char="•"/>
              <a:tabLst>
                <a:tab pos="355600" algn="l"/>
              </a:tabLst>
            </a:pPr>
            <a:r>
              <a:rPr sz="2000" dirty="0">
                <a:latin typeface="+mj-lt"/>
                <a:cs typeface="Arial MT"/>
              </a:rPr>
              <a:t>Maintenance</a:t>
            </a:r>
            <a:r>
              <a:rPr sz="2000" spc="-30" dirty="0">
                <a:latin typeface="+mj-lt"/>
                <a:cs typeface="Arial MT"/>
              </a:rPr>
              <a:t> </a:t>
            </a:r>
            <a:r>
              <a:rPr sz="2000" dirty="0">
                <a:latin typeface="+mj-lt"/>
                <a:cs typeface="Arial MT"/>
              </a:rPr>
              <a:t>of</a:t>
            </a:r>
            <a:r>
              <a:rPr sz="2000" spc="-25" dirty="0">
                <a:latin typeface="+mj-lt"/>
                <a:cs typeface="Arial MT"/>
              </a:rPr>
              <a:t> </a:t>
            </a:r>
            <a:r>
              <a:rPr sz="2000" dirty="0">
                <a:latin typeface="+mj-lt"/>
                <a:cs typeface="Arial MT"/>
              </a:rPr>
              <a:t>a</a:t>
            </a:r>
            <a:r>
              <a:rPr sz="2000" spc="-25" dirty="0">
                <a:latin typeface="+mj-lt"/>
                <a:cs typeface="Arial MT"/>
              </a:rPr>
              <a:t> </a:t>
            </a:r>
            <a:r>
              <a:rPr sz="2000" dirty="0">
                <a:latin typeface="+mj-lt"/>
                <a:cs typeface="Arial MT"/>
              </a:rPr>
              <a:t>typical</a:t>
            </a:r>
            <a:r>
              <a:rPr sz="2000" spc="-25" dirty="0">
                <a:latin typeface="+mj-lt"/>
                <a:cs typeface="Arial MT"/>
              </a:rPr>
              <a:t> </a:t>
            </a:r>
            <a:r>
              <a:rPr sz="2000" dirty="0">
                <a:latin typeface="+mj-lt"/>
                <a:cs typeface="Arial MT"/>
              </a:rPr>
              <a:t>software</a:t>
            </a:r>
            <a:r>
              <a:rPr sz="2000" spc="-45" dirty="0">
                <a:latin typeface="+mj-lt"/>
                <a:cs typeface="Arial MT"/>
              </a:rPr>
              <a:t> </a:t>
            </a:r>
            <a:r>
              <a:rPr sz="2000" spc="-10" dirty="0">
                <a:latin typeface="+mj-lt"/>
                <a:cs typeface="Arial MT"/>
              </a:rPr>
              <a:t>products </a:t>
            </a:r>
            <a:r>
              <a:rPr sz="2000" dirty="0">
                <a:latin typeface="+mj-lt"/>
                <a:cs typeface="Arial MT"/>
              </a:rPr>
              <a:t>requires</a:t>
            </a:r>
            <a:r>
              <a:rPr sz="2000" spc="-40" dirty="0">
                <a:latin typeface="+mj-lt"/>
                <a:cs typeface="Arial MT"/>
              </a:rPr>
              <a:t> </a:t>
            </a:r>
            <a:r>
              <a:rPr sz="2000" dirty="0">
                <a:latin typeface="+mj-lt"/>
                <a:cs typeface="Arial MT"/>
              </a:rPr>
              <a:t>much</a:t>
            </a:r>
            <a:r>
              <a:rPr sz="2000" spc="-30" dirty="0">
                <a:latin typeface="+mj-lt"/>
                <a:cs typeface="Arial MT"/>
              </a:rPr>
              <a:t> </a:t>
            </a:r>
            <a:r>
              <a:rPr sz="2000" dirty="0">
                <a:latin typeface="+mj-lt"/>
                <a:cs typeface="Arial MT"/>
              </a:rPr>
              <a:t>more</a:t>
            </a:r>
            <a:r>
              <a:rPr sz="2000" spc="-10" dirty="0">
                <a:latin typeface="+mj-lt"/>
                <a:cs typeface="Arial MT"/>
              </a:rPr>
              <a:t> </a:t>
            </a:r>
            <a:r>
              <a:rPr sz="2000" dirty="0">
                <a:latin typeface="+mj-lt"/>
                <a:cs typeface="Arial MT"/>
              </a:rPr>
              <a:t>than</a:t>
            </a:r>
            <a:r>
              <a:rPr sz="2000" spc="-30" dirty="0">
                <a:latin typeface="+mj-lt"/>
                <a:cs typeface="Arial MT"/>
              </a:rPr>
              <a:t> </a:t>
            </a:r>
            <a:r>
              <a:rPr sz="2000" dirty="0">
                <a:latin typeface="+mj-lt"/>
                <a:cs typeface="Arial MT"/>
              </a:rPr>
              <a:t>the</a:t>
            </a:r>
            <a:r>
              <a:rPr sz="2000" spc="-10" dirty="0">
                <a:latin typeface="+mj-lt"/>
                <a:cs typeface="Arial MT"/>
              </a:rPr>
              <a:t> effort </a:t>
            </a:r>
            <a:r>
              <a:rPr sz="2000" dirty="0">
                <a:latin typeface="+mj-lt"/>
                <a:cs typeface="Arial MT"/>
              </a:rPr>
              <a:t>necessary</a:t>
            </a:r>
            <a:r>
              <a:rPr sz="2000" spc="-40" dirty="0">
                <a:latin typeface="+mj-lt"/>
                <a:cs typeface="Arial MT"/>
              </a:rPr>
              <a:t> </a:t>
            </a:r>
            <a:r>
              <a:rPr sz="2000" dirty="0">
                <a:latin typeface="+mj-lt"/>
                <a:cs typeface="Arial MT"/>
              </a:rPr>
              <a:t>to</a:t>
            </a:r>
            <a:r>
              <a:rPr sz="2000" spc="-25" dirty="0">
                <a:latin typeface="+mj-lt"/>
                <a:cs typeface="Arial MT"/>
              </a:rPr>
              <a:t> </a:t>
            </a:r>
            <a:r>
              <a:rPr sz="2000" dirty="0">
                <a:latin typeface="+mj-lt"/>
                <a:cs typeface="Arial MT"/>
              </a:rPr>
              <a:t>develope</a:t>
            </a:r>
            <a:r>
              <a:rPr sz="2000" spc="-15" dirty="0">
                <a:latin typeface="+mj-lt"/>
                <a:cs typeface="Arial MT"/>
              </a:rPr>
              <a:t> </a:t>
            </a:r>
            <a:r>
              <a:rPr sz="2000" dirty="0">
                <a:latin typeface="+mj-lt"/>
                <a:cs typeface="Arial MT"/>
              </a:rPr>
              <a:t>the</a:t>
            </a:r>
            <a:r>
              <a:rPr sz="2000" spc="-30" dirty="0">
                <a:latin typeface="+mj-lt"/>
                <a:cs typeface="Arial MT"/>
              </a:rPr>
              <a:t> </a:t>
            </a:r>
            <a:r>
              <a:rPr sz="2000" dirty="0">
                <a:latin typeface="+mj-lt"/>
                <a:cs typeface="Arial MT"/>
              </a:rPr>
              <a:t>product</a:t>
            </a:r>
            <a:r>
              <a:rPr sz="2000" spc="-20" dirty="0">
                <a:latin typeface="+mj-lt"/>
                <a:cs typeface="Arial MT"/>
              </a:rPr>
              <a:t> </a:t>
            </a:r>
            <a:r>
              <a:rPr sz="2000" spc="-10" dirty="0">
                <a:latin typeface="+mj-lt"/>
                <a:cs typeface="Arial MT"/>
              </a:rPr>
              <a:t>itself.</a:t>
            </a:r>
            <a:endParaRPr lang="en-US" sz="2000" spc="-10" dirty="0">
              <a:latin typeface="+mj-lt"/>
              <a:cs typeface="Arial MT"/>
            </a:endParaRPr>
          </a:p>
          <a:p>
            <a:pPr marL="355600" marR="5080" indent="-342900">
              <a:spcBef>
                <a:spcPts val="105"/>
              </a:spcBef>
              <a:buChar char="•"/>
              <a:tabLst>
                <a:tab pos="355600" algn="l"/>
              </a:tabLst>
            </a:pPr>
            <a:endParaRPr sz="2000" dirty="0">
              <a:latin typeface="+mj-lt"/>
              <a:cs typeface="Arial MT"/>
            </a:endParaRPr>
          </a:p>
          <a:p>
            <a:pPr marL="12700">
              <a:spcBef>
                <a:spcPts val="770"/>
              </a:spcBef>
            </a:pPr>
            <a:r>
              <a:rPr sz="2000" b="1" dirty="0">
                <a:latin typeface="+mj-lt"/>
                <a:cs typeface="Arial"/>
              </a:rPr>
              <a:t>Iterative</a:t>
            </a:r>
            <a:r>
              <a:rPr sz="2000" b="1" spc="-80" dirty="0">
                <a:latin typeface="+mj-lt"/>
                <a:cs typeface="Arial"/>
              </a:rPr>
              <a:t> </a:t>
            </a:r>
            <a:r>
              <a:rPr sz="2000" b="1" dirty="0">
                <a:latin typeface="+mj-lt"/>
                <a:cs typeface="Arial"/>
              </a:rPr>
              <a:t>Waterfall</a:t>
            </a:r>
            <a:r>
              <a:rPr sz="2000" b="1" spc="-70" dirty="0">
                <a:latin typeface="+mj-lt"/>
                <a:cs typeface="Arial"/>
              </a:rPr>
              <a:t> </a:t>
            </a:r>
            <a:r>
              <a:rPr sz="2000" b="1" dirty="0">
                <a:latin typeface="+mj-lt"/>
                <a:cs typeface="Arial"/>
              </a:rPr>
              <a:t>life</a:t>
            </a:r>
            <a:r>
              <a:rPr sz="2000" b="1" spc="-70" dirty="0">
                <a:latin typeface="+mj-lt"/>
                <a:cs typeface="Arial"/>
              </a:rPr>
              <a:t> </a:t>
            </a:r>
            <a:r>
              <a:rPr sz="2000" b="1" dirty="0">
                <a:latin typeface="+mj-lt"/>
                <a:cs typeface="Arial"/>
              </a:rPr>
              <a:t>cycle</a:t>
            </a:r>
            <a:r>
              <a:rPr sz="2000" b="1" spc="-65" dirty="0">
                <a:latin typeface="+mj-lt"/>
                <a:cs typeface="Arial"/>
              </a:rPr>
              <a:t> </a:t>
            </a:r>
            <a:r>
              <a:rPr sz="2000" b="1" spc="-10" dirty="0">
                <a:latin typeface="+mj-lt"/>
                <a:cs typeface="Arial"/>
              </a:rPr>
              <a:t>model:</a:t>
            </a:r>
            <a:endParaRPr sz="2000" dirty="0">
              <a:latin typeface="+mj-lt"/>
              <a:cs typeface="Arial"/>
            </a:endParaRPr>
          </a:p>
          <a:p>
            <a:pPr marL="355600" marR="637540" indent="-342900" algn="just">
              <a:spcBef>
                <a:spcPts val="765"/>
              </a:spcBef>
              <a:buChar char="•"/>
              <a:tabLst>
                <a:tab pos="355600" algn="l"/>
              </a:tabLst>
            </a:pPr>
            <a:r>
              <a:rPr sz="2000" dirty="0">
                <a:latin typeface="+mj-lt"/>
                <a:cs typeface="Arial MT"/>
              </a:rPr>
              <a:t>The</a:t>
            </a:r>
            <a:r>
              <a:rPr sz="2000" spc="-25" dirty="0">
                <a:latin typeface="+mj-lt"/>
                <a:cs typeface="Arial MT"/>
              </a:rPr>
              <a:t> </a:t>
            </a:r>
            <a:r>
              <a:rPr sz="2000" dirty="0">
                <a:latin typeface="+mj-lt"/>
                <a:cs typeface="Arial MT"/>
              </a:rPr>
              <a:t>main</a:t>
            </a:r>
            <a:r>
              <a:rPr sz="2000" spc="-20" dirty="0">
                <a:latin typeface="+mj-lt"/>
                <a:cs typeface="Arial MT"/>
              </a:rPr>
              <a:t> </a:t>
            </a:r>
            <a:r>
              <a:rPr sz="2000" dirty="0">
                <a:latin typeface="+mj-lt"/>
                <a:cs typeface="Arial MT"/>
              </a:rPr>
              <a:t>changes</a:t>
            </a:r>
            <a:r>
              <a:rPr sz="2000" spc="-15" dirty="0">
                <a:latin typeface="+mj-lt"/>
                <a:cs typeface="Arial MT"/>
              </a:rPr>
              <a:t> </a:t>
            </a:r>
            <a:r>
              <a:rPr sz="2000" dirty="0">
                <a:latin typeface="+mj-lt"/>
                <a:cs typeface="Arial MT"/>
              </a:rPr>
              <a:t>is</a:t>
            </a:r>
            <a:r>
              <a:rPr sz="2000" spc="-10" dirty="0">
                <a:latin typeface="+mj-lt"/>
                <a:cs typeface="Arial MT"/>
              </a:rPr>
              <a:t> </a:t>
            </a:r>
            <a:r>
              <a:rPr sz="2000" dirty="0">
                <a:latin typeface="+mj-lt"/>
                <a:cs typeface="Arial MT"/>
              </a:rPr>
              <a:t>done</a:t>
            </a:r>
            <a:r>
              <a:rPr sz="2000" spc="-10" dirty="0">
                <a:latin typeface="+mj-lt"/>
                <a:cs typeface="Arial MT"/>
              </a:rPr>
              <a:t> </a:t>
            </a:r>
            <a:r>
              <a:rPr sz="2000" dirty="0">
                <a:latin typeface="+mj-lt"/>
                <a:cs typeface="Arial MT"/>
              </a:rPr>
              <a:t>by</a:t>
            </a:r>
            <a:r>
              <a:rPr sz="2000" spc="-20" dirty="0">
                <a:latin typeface="+mj-lt"/>
                <a:cs typeface="Arial MT"/>
              </a:rPr>
              <a:t> </a:t>
            </a:r>
            <a:r>
              <a:rPr sz="2000" spc="-10" dirty="0">
                <a:latin typeface="+mj-lt"/>
                <a:cs typeface="Arial MT"/>
              </a:rPr>
              <a:t>providing </a:t>
            </a:r>
            <a:r>
              <a:rPr sz="2000" dirty="0">
                <a:latin typeface="+mj-lt"/>
                <a:cs typeface="Arial MT"/>
              </a:rPr>
              <a:t>feedback</a:t>
            </a:r>
            <a:r>
              <a:rPr sz="2000" spc="-25" dirty="0">
                <a:latin typeface="+mj-lt"/>
                <a:cs typeface="Arial MT"/>
              </a:rPr>
              <a:t> </a:t>
            </a:r>
            <a:r>
              <a:rPr sz="2000" dirty="0">
                <a:latin typeface="+mj-lt"/>
                <a:cs typeface="Arial MT"/>
              </a:rPr>
              <a:t>paths</a:t>
            </a:r>
            <a:r>
              <a:rPr sz="2000" spc="-25" dirty="0">
                <a:latin typeface="+mj-lt"/>
                <a:cs typeface="Arial MT"/>
              </a:rPr>
              <a:t> </a:t>
            </a:r>
            <a:r>
              <a:rPr sz="2000" dirty="0">
                <a:latin typeface="+mj-lt"/>
                <a:cs typeface="Arial MT"/>
              </a:rPr>
              <a:t>from</a:t>
            </a:r>
            <a:r>
              <a:rPr sz="2000" spc="-25" dirty="0">
                <a:latin typeface="+mj-lt"/>
                <a:cs typeface="Arial MT"/>
              </a:rPr>
              <a:t> </a:t>
            </a:r>
            <a:r>
              <a:rPr sz="2000" dirty="0">
                <a:latin typeface="+mj-lt"/>
                <a:cs typeface="Arial MT"/>
              </a:rPr>
              <a:t>every</a:t>
            </a:r>
            <a:r>
              <a:rPr sz="2000" spc="-25" dirty="0">
                <a:latin typeface="+mj-lt"/>
                <a:cs typeface="Arial MT"/>
              </a:rPr>
              <a:t> </a:t>
            </a:r>
            <a:r>
              <a:rPr sz="2000" dirty="0">
                <a:latin typeface="+mj-lt"/>
                <a:cs typeface="Arial MT"/>
              </a:rPr>
              <a:t>phase</a:t>
            </a:r>
            <a:r>
              <a:rPr sz="2000" spc="-25" dirty="0">
                <a:latin typeface="+mj-lt"/>
                <a:cs typeface="Arial MT"/>
              </a:rPr>
              <a:t> </a:t>
            </a:r>
            <a:r>
              <a:rPr sz="2000" dirty="0">
                <a:latin typeface="+mj-lt"/>
                <a:cs typeface="Arial MT"/>
              </a:rPr>
              <a:t>to</a:t>
            </a:r>
            <a:r>
              <a:rPr sz="2000" spc="-10" dirty="0">
                <a:latin typeface="+mj-lt"/>
                <a:cs typeface="Arial MT"/>
              </a:rPr>
              <a:t> </a:t>
            </a:r>
            <a:r>
              <a:rPr sz="2000" spc="-25" dirty="0">
                <a:latin typeface="+mj-lt"/>
                <a:cs typeface="Arial MT"/>
              </a:rPr>
              <a:t>its </a:t>
            </a:r>
            <a:r>
              <a:rPr sz="2000" dirty="0">
                <a:latin typeface="+mj-lt"/>
                <a:cs typeface="Arial MT"/>
              </a:rPr>
              <a:t>preceding</a:t>
            </a:r>
            <a:r>
              <a:rPr sz="2000" spc="-60" dirty="0">
                <a:latin typeface="+mj-lt"/>
                <a:cs typeface="Arial MT"/>
              </a:rPr>
              <a:t> </a:t>
            </a:r>
            <a:r>
              <a:rPr sz="2000" spc="-10" dirty="0">
                <a:latin typeface="+mj-lt"/>
                <a:cs typeface="Arial MT"/>
              </a:rPr>
              <a:t>phase.</a:t>
            </a:r>
            <a:endParaRPr sz="2000" dirty="0">
              <a:latin typeface="+mj-lt"/>
              <a:cs typeface="Arial MT"/>
            </a:endParaRPr>
          </a:p>
        </p:txBody>
      </p:sp>
    </p:spTree>
    <p:extLst>
      <p:ext uri="{BB962C8B-B14F-4D97-AF65-F5344CB8AC3E}">
        <p14:creationId xmlns:p14="http://schemas.microsoft.com/office/powerpoint/2010/main" val="12953949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917345" y="453572"/>
            <a:ext cx="5820587" cy="5744377"/>
          </a:xfrm>
          <a:prstGeom prst="rect">
            <a:avLst/>
          </a:prstGeom>
        </p:spPr>
      </p:pic>
    </p:spTree>
    <p:extLst>
      <p:ext uri="{BB962C8B-B14F-4D97-AF65-F5344CB8AC3E}">
        <p14:creationId xmlns:p14="http://schemas.microsoft.com/office/powerpoint/2010/main" val="34450532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640121" y="373442"/>
            <a:ext cx="11360150" cy="394980"/>
          </a:xfrm>
          <a:prstGeom prst="rect">
            <a:avLst/>
          </a:prstGeom>
        </p:spPr>
        <p:txBody>
          <a:bodyPr spcFirstLastPara="1" vert="horz" wrap="square" lIns="0" tIns="12700" rIns="0" bIns="0" rtlCol="0" anchor="t" anchorCtr="0">
            <a:spAutoFit/>
          </a:bodyPr>
          <a:lstStyle/>
          <a:p>
            <a:pPr marL="12700">
              <a:spcBef>
                <a:spcPts val="100"/>
              </a:spcBef>
            </a:pPr>
            <a:r>
              <a:rPr sz="2400" b="1" dirty="0"/>
              <a:t>Prototype </a:t>
            </a:r>
            <a:r>
              <a:rPr sz="2400" b="1" spc="-10" dirty="0"/>
              <a:t>Model:</a:t>
            </a:r>
          </a:p>
        </p:txBody>
      </p:sp>
      <p:pic>
        <p:nvPicPr>
          <p:cNvPr id="9" name="object 9"/>
          <p:cNvPicPr/>
          <p:nvPr/>
        </p:nvPicPr>
        <p:blipFill>
          <a:blip r:embed="rId2" cstate="print"/>
          <a:stretch>
            <a:fillRect/>
          </a:stretch>
        </p:blipFill>
        <p:spPr>
          <a:xfrm>
            <a:off x="5619135" y="1006035"/>
            <a:ext cx="5980471" cy="5298948"/>
          </a:xfrm>
          <a:prstGeom prst="rect">
            <a:avLst/>
          </a:prstGeom>
        </p:spPr>
      </p:pic>
      <p:sp>
        <p:nvSpPr>
          <p:cNvPr id="10" name="Rectangle 9"/>
          <p:cNvSpPr/>
          <p:nvPr/>
        </p:nvSpPr>
        <p:spPr>
          <a:xfrm>
            <a:off x="640121" y="2120914"/>
            <a:ext cx="4979014" cy="1200329"/>
          </a:xfrm>
          <a:prstGeom prst="rect">
            <a:avLst/>
          </a:prstGeom>
        </p:spPr>
        <p:txBody>
          <a:bodyPr wrap="square">
            <a:spAutoFit/>
          </a:bodyPr>
          <a:lstStyle/>
          <a:p>
            <a:r>
              <a:rPr lang="en-US" dirty="0"/>
              <a:t>A software prototyping model is a development model in which a prototype is built, tested, and reworked until an acceptable prototype is achieved.</a:t>
            </a:r>
            <a:endParaRPr lang="en-IN" dirty="0"/>
          </a:p>
        </p:txBody>
      </p:sp>
    </p:spTree>
    <p:extLst>
      <p:ext uri="{BB962C8B-B14F-4D97-AF65-F5344CB8AC3E}">
        <p14:creationId xmlns:p14="http://schemas.microsoft.com/office/powerpoint/2010/main" val="30723176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516195" y="1241219"/>
            <a:ext cx="11360150" cy="333425"/>
          </a:xfrm>
          <a:prstGeom prst="rect">
            <a:avLst/>
          </a:prstGeom>
        </p:spPr>
        <p:txBody>
          <a:bodyPr spcFirstLastPara="1" vert="horz" wrap="square" lIns="0" tIns="12700" rIns="0" bIns="0" rtlCol="0" anchor="t" anchorCtr="0">
            <a:spAutoFit/>
          </a:bodyPr>
          <a:lstStyle/>
          <a:p>
            <a:pPr marL="12700">
              <a:spcBef>
                <a:spcPts val="100"/>
              </a:spcBef>
            </a:pPr>
            <a:r>
              <a:rPr sz="2000" b="1" spc="-10" dirty="0"/>
              <a:t>Advantages:</a:t>
            </a:r>
          </a:p>
        </p:txBody>
      </p:sp>
      <p:sp>
        <p:nvSpPr>
          <p:cNvPr id="3" name="object 3"/>
          <p:cNvSpPr txBox="1"/>
          <p:nvPr/>
        </p:nvSpPr>
        <p:spPr>
          <a:xfrm>
            <a:off x="516195" y="1836072"/>
            <a:ext cx="5931248" cy="3702296"/>
          </a:xfrm>
          <a:prstGeom prst="rect">
            <a:avLst/>
          </a:prstGeom>
        </p:spPr>
        <p:txBody>
          <a:bodyPr vert="horz" wrap="square" lIns="0" tIns="110490" rIns="0" bIns="0" rtlCol="0">
            <a:spAutoFit/>
          </a:bodyPr>
          <a:lstStyle/>
          <a:p>
            <a:pPr marL="354965" indent="-342265">
              <a:spcBef>
                <a:spcPts val="870"/>
              </a:spcBef>
              <a:buChar char="•"/>
              <a:tabLst>
                <a:tab pos="354965" algn="l"/>
              </a:tabLst>
            </a:pPr>
            <a:r>
              <a:rPr sz="2000" spc="-10" dirty="0">
                <a:latin typeface="Arial MT"/>
                <a:cs typeface="Arial MT"/>
              </a:rPr>
              <a:t>Clarity.</a:t>
            </a:r>
            <a:endParaRPr sz="2000" dirty="0">
              <a:latin typeface="Arial MT"/>
              <a:cs typeface="Arial MT"/>
            </a:endParaRPr>
          </a:p>
          <a:p>
            <a:pPr marL="354965" indent="-342265">
              <a:spcBef>
                <a:spcPts val="770"/>
              </a:spcBef>
              <a:buChar char="•"/>
              <a:tabLst>
                <a:tab pos="354965" algn="l"/>
              </a:tabLst>
            </a:pPr>
            <a:r>
              <a:rPr sz="2000" dirty="0">
                <a:latin typeface="Arial MT"/>
                <a:cs typeface="Arial MT"/>
              </a:rPr>
              <a:t>Risk</a:t>
            </a:r>
            <a:r>
              <a:rPr sz="2000" spc="5" dirty="0">
                <a:latin typeface="Arial MT"/>
                <a:cs typeface="Arial MT"/>
              </a:rPr>
              <a:t> </a:t>
            </a:r>
            <a:r>
              <a:rPr sz="2000" spc="-10" dirty="0">
                <a:latin typeface="Arial MT"/>
                <a:cs typeface="Arial MT"/>
              </a:rPr>
              <a:t>Identification.</a:t>
            </a:r>
            <a:endParaRPr sz="2000" dirty="0">
              <a:latin typeface="Arial MT"/>
              <a:cs typeface="Arial MT"/>
            </a:endParaRPr>
          </a:p>
          <a:p>
            <a:pPr marL="354965" indent="-342265">
              <a:spcBef>
                <a:spcPts val="765"/>
              </a:spcBef>
              <a:buChar char="•"/>
              <a:tabLst>
                <a:tab pos="354965" algn="l"/>
              </a:tabLst>
            </a:pPr>
            <a:r>
              <a:rPr sz="2000" dirty="0">
                <a:latin typeface="Arial MT"/>
                <a:cs typeface="Arial MT"/>
              </a:rPr>
              <a:t>Good</a:t>
            </a:r>
            <a:r>
              <a:rPr sz="2000" spc="-30" dirty="0">
                <a:latin typeface="Arial MT"/>
                <a:cs typeface="Arial MT"/>
              </a:rPr>
              <a:t> </a:t>
            </a:r>
            <a:r>
              <a:rPr sz="2000" spc="-10" dirty="0">
                <a:latin typeface="Arial MT"/>
                <a:cs typeface="Arial MT"/>
              </a:rPr>
              <a:t>Environment.</a:t>
            </a:r>
            <a:endParaRPr sz="2000" dirty="0">
              <a:latin typeface="Arial MT"/>
              <a:cs typeface="Arial MT"/>
            </a:endParaRPr>
          </a:p>
          <a:p>
            <a:pPr marL="354965" indent="-342265">
              <a:spcBef>
                <a:spcPts val="770"/>
              </a:spcBef>
              <a:buChar char="•"/>
              <a:tabLst>
                <a:tab pos="354965" algn="l"/>
              </a:tabLst>
            </a:pPr>
            <a:r>
              <a:rPr sz="2000" spc="-60" dirty="0">
                <a:latin typeface="Arial MT"/>
                <a:cs typeface="Arial MT"/>
              </a:rPr>
              <a:t>Take</a:t>
            </a:r>
            <a:r>
              <a:rPr sz="2000" spc="-65" dirty="0">
                <a:latin typeface="Arial MT"/>
                <a:cs typeface="Arial MT"/>
              </a:rPr>
              <a:t> </a:t>
            </a:r>
            <a:r>
              <a:rPr sz="2000" dirty="0">
                <a:latin typeface="Arial MT"/>
                <a:cs typeface="Arial MT"/>
              </a:rPr>
              <a:t>less</a:t>
            </a:r>
            <a:r>
              <a:rPr sz="2000" spc="-35" dirty="0">
                <a:latin typeface="Arial MT"/>
                <a:cs typeface="Arial MT"/>
              </a:rPr>
              <a:t> </a:t>
            </a:r>
            <a:r>
              <a:rPr sz="2000" dirty="0">
                <a:latin typeface="Arial MT"/>
                <a:cs typeface="Arial MT"/>
              </a:rPr>
              <a:t>time</a:t>
            </a:r>
            <a:r>
              <a:rPr sz="2000" spc="-40" dirty="0">
                <a:latin typeface="Arial MT"/>
                <a:cs typeface="Arial MT"/>
              </a:rPr>
              <a:t> </a:t>
            </a:r>
            <a:r>
              <a:rPr sz="2000" dirty="0">
                <a:latin typeface="Arial MT"/>
                <a:cs typeface="Arial MT"/>
              </a:rPr>
              <a:t>to</a:t>
            </a:r>
            <a:r>
              <a:rPr sz="2000" spc="-45" dirty="0">
                <a:latin typeface="Arial MT"/>
                <a:cs typeface="Arial MT"/>
              </a:rPr>
              <a:t> </a:t>
            </a:r>
            <a:r>
              <a:rPr sz="2000" spc="-10" dirty="0">
                <a:latin typeface="Arial MT"/>
                <a:cs typeface="Arial MT"/>
              </a:rPr>
              <a:t>complete.</a:t>
            </a:r>
            <a:endParaRPr sz="2000" dirty="0">
              <a:latin typeface="Arial MT"/>
              <a:cs typeface="Arial MT"/>
            </a:endParaRPr>
          </a:p>
          <a:p>
            <a:pPr marL="12700">
              <a:spcBef>
                <a:spcPts val="770"/>
              </a:spcBef>
            </a:pPr>
            <a:endParaRPr lang="en-US" sz="2000" b="1" spc="-10" dirty="0">
              <a:latin typeface="Arial"/>
              <a:cs typeface="Arial"/>
            </a:endParaRPr>
          </a:p>
          <a:p>
            <a:pPr marL="12700">
              <a:spcBef>
                <a:spcPts val="770"/>
              </a:spcBef>
            </a:pPr>
            <a:r>
              <a:rPr sz="2000" b="1" spc="-10" dirty="0">
                <a:latin typeface="Arial"/>
                <a:cs typeface="Arial"/>
              </a:rPr>
              <a:t>Disadvantages:</a:t>
            </a:r>
            <a:endParaRPr sz="2000" dirty="0">
              <a:latin typeface="Arial"/>
              <a:cs typeface="Arial"/>
            </a:endParaRPr>
          </a:p>
          <a:p>
            <a:pPr marL="354965" indent="-342265">
              <a:spcBef>
                <a:spcPts val="770"/>
              </a:spcBef>
              <a:buChar char="•"/>
              <a:tabLst>
                <a:tab pos="354965" algn="l"/>
              </a:tabLst>
            </a:pPr>
            <a:r>
              <a:rPr sz="2000" dirty="0">
                <a:latin typeface="Arial MT"/>
                <a:cs typeface="Arial MT"/>
              </a:rPr>
              <a:t>High</a:t>
            </a:r>
            <a:r>
              <a:rPr sz="2000" spc="-15" dirty="0">
                <a:latin typeface="Arial MT"/>
                <a:cs typeface="Arial MT"/>
              </a:rPr>
              <a:t> </a:t>
            </a:r>
            <a:r>
              <a:rPr sz="2000" spc="-10" dirty="0">
                <a:latin typeface="Arial MT"/>
                <a:cs typeface="Arial MT"/>
              </a:rPr>
              <a:t>cost.</a:t>
            </a:r>
            <a:endParaRPr sz="2000" dirty="0">
              <a:latin typeface="Arial MT"/>
              <a:cs typeface="Arial MT"/>
            </a:endParaRPr>
          </a:p>
          <a:p>
            <a:pPr marL="354965" indent="-342265">
              <a:spcBef>
                <a:spcPts val="765"/>
              </a:spcBef>
              <a:buChar char="•"/>
              <a:tabLst>
                <a:tab pos="354965" algn="l"/>
              </a:tabLst>
            </a:pPr>
            <a:r>
              <a:rPr sz="2000" dirty="0">
                <a:latin typeface="Arial MT"/>
                <a:cs typeface="Arial MT"/>
              </a:rPr>
              <a:t>Slow</a:t>
            </a:r>
            <a:r>
              <a:rPr sz="2000" spc="-15" dirty="0">
                <a:latin typeface="Arial MT"/>
                <a:cs typeface="Arial MT"/>
              </a:rPr>
              <a:t> </a:t>
            </a:r>
            <a:r>
              <a:rPr sz="2000" spc="-10" dirty="0">
                <a:latin typeface="Arial MT"/>
                <a:cs typeface="Arial MT"/>
              </a:rPr>
              <a:t>process.</a:t>
            </a:r>
            <a:endParaRPr sz="2000" dirty="0">
              <a:latin typeface="Arial MT"/>
              <a:cs typeface="Arial MT"/>
            </a:endParaRPr>
          </a:p>
          <a:p>
            <a:pPr marL="354965" indent="-342265">
              <a:spcBef>
                <a:spcPts val="770"/>
              </a:spcBef>
              <a:buChar char="•"/>
              <a:tabLst>
                <a:tab pos="354965" algn="l"/>
              </a:tabLst>
            </a:pPr>
            <a:r>
              <a:rPr sz="2000" spc="-80" dirty="0">
                <a:latin typeface="Arial MT"/>
                <a:cs typeface="Arial MT"/>
              </a:rPr>
              <a:t>Too</a:t>
            </a:r>
            <a:r>
              <a:rPr sz="2000" spc="-75" dirty="0">
                <a:latin typeface="Arial MT"/>
                <a:cs typeface="Arial MT"/>
              </a:rPr>
              <a:t> </a:t>
            </a:r>
            <a:r>
              <a:rPr sz="2000" dirty="0">
                <a:latin typeface="Arial MT"/>
                <a:cs typeface="Arial MT"/>
              </a:rPr>
              <a:t>many</a:t>
            </a:r>
            <a:r>
              <a:rPr sz="2000" spc="-70" dirty="0">
                <a:latin typeface="Arial MT"/>
                <a:cs typeface="Arial MT"/>
              </a:rPr>
              <a:t> </a:t>
            </a:r>
            <a:r>
              <a:rPr sz="2000" spc="-10" dirty="0">
                <a:latin typeface="Arial MT"/>
                <a:cs typeface="Arial MT"/>
              </a:rPr>
              <a:t>changes.</a:t>
            </a:r>
            <a:endParaRPr sz="2000" dirty="0">
              <a:latin typeface="Arial MT"/>
              <a:cs typeface="Arial MT"/>
            </a:endParaRPr>
          </a:p>
        </p:txBody>
      </p:sp>
    </p:spTree>
    <p:extLst>
      <p:ext uri="{BB962C8B-B14F-4D97-AF65-F5344CB8AC3E}">
        <p14:creationId xmlns:p14="http://schemas.microsoft.com/office/powerpoint/2010/main" val="28828724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654869" y="975749"/>
            <a:ext cx="11360150" cy="394980"/>
          </a:xfrm>
          <a:prstGeom prst="rect">
            <a:avLst/>
          </a:prstGeom>
        </p:spPr>
        <p:txBody>
          <a:bodyPr spcFirstLastPara="1" vert="horz" wrap="square" lIns="0" tIns="12700" rIns="0" bIns="0" rtlCol="0" anchor="t" anchorCtr="0">
            <a:spAutoFit/>
          </a:bodyPr>
          <a:lstStyle/>
          <a:p>
            <a:pPr marL="12700">
              <a:spcBef>
                <a:spcPts val="100"/>
              </a:spcBef>
            </a:pPr>
            <a:r>
              <a:rPr sz="2400" b="1" dirty="0">
                <a:latin typeface="Arial MT"/>
                <a:cs typeface="Arial MT"/>
              </a:rPr>
              <a:t>RAD</a:t>
            </a:r>
            <a:r>
              <a:rPr sz="2400" b="1" spc="-90" dirty="0">
                <a:latin typeface="Arial MT"/>
                <a:cs typeface="Arial MT"/>
              </a:rPr>
              <a:t> </a:t>
            </a:r>
            <a:r>
              <a:rPr sz="2400" b="1" spc="-10" dirty="0">
                <a:latin typeface="Arial MT"/>
                <a:cs typeface="Arial MT"/>
              </a:rPr>
              <a:t>Model:</a:t>
            </a:r>
          </a:p>
        </p:txBody>
      </p:sp>
      <p:sp>
        <p:nvSpPr>
          <p:cNvPr id="3" name="object 3"/>
          <p:cNvSpPr txBox="1"/>
          <p:nvPr/>
        </p:nvSpPr>
        <p:spPr>
          <a:xfrm>
            <a:off x="654869" y="1918503"/>
            <a:ext cx="6355531" cy="4322337"/>
          </a:xfrm>
          <a:prstGeom prst="rect">
            <a:avLst/>
          </a:prstGeom>
        </p:spPr>
        <p:txBody>
          <a:bodyPr vert="horz" wrap="square" lIns="0" tIns="13335" rIns="0" bIns="0" rtlCol="0">
            <a:spAutoFit/>
          </a:bodyPr>
          <a:lstStyle/>
          <a:p>
            <a:pPr marL="355600" marR="5080" indent="-342900">
              <a:spcBef>
                <a:spcPts val="105"/>
              </a:spcBef>
              <a:buChar char="•"/>
              <a:tabLst>
                <a:tab pos="355600" algn="l"/>
              </a:tabLst>
            </a:pPr>
            <a:r>
              <a:rPr sz="2000" dirty="0">
                <a:latin typeface="Arial MT"/>
                <a:cs typeface="Arial MT"/>
              </a:rPr>
              <a:t>Rapid</a:t>
            </a:r>
            <a:r>
              <a:rPr sz="2000" spc="-220" dirty="0">
                <a:latin typeface="Arial MT"/>
                <a:cs typeface="Arial MT"/>
              </a:rPr>
              <a:t> </a:t>
            </a:r>
            <a:r>
              <a:rPr sz="2000" dirty="0">
                <a:latin typeface="Arial MT"/>
                <a:cs typeface="Arial MT"/>
              </a:rPr>
              <a:t>Application</a:t>
            </a:r>
            <a:r>
              <a:rPr sz="2000" spc="-30" dirty="0">
                <a:latin typeface="Arial MT"/>
                <a:cs typeface="Arial MT"/>
              </a:rPr>
              <a:t> </a:t>
            </a:r>
            <a:r>
              <a:rPr sz="2000" dirty="0">
                <a:latin typeface="Arial MT"/>
                <a:cs typeface="Arial MT"/>
              </a:rPr>
              <a:t>Development(RAD)</a:t>
            </a:r>
            <a:r>
              <a:rPr sz="2000" spc="-40" dirty="0">
                <a:latin typeface="Arial MT"/>
                <a:cs typeface="Arial MT"/>
              </a:rPr>
              <a:t> </a:t>
            </a:r>
            <a:r>
              <a:rPr sz="2000" spc="-25" dirty="0">
                <a:latin typeface="Arial MT"/>
                <a:cs typeface="Arial MT"/>
              </a:rPr>
              <a:t>is </a:t>
            </a:r>
            <a:r>
              <a:rPr sz="2000" dirty="0">
                <a:latin typeface="Arial MT"/>
                <a:cs typeface="Arial MT"/>
              </a:rPr>
              <a:t>an</a:t>
            </a:r>
            <a:r>
              <a:rPr sz="2000" spc="-25" dirty="0">
                <a:latin typeface="Arial MT"/>
                <a:cs typeface="Arial MT"/>
              </a:rPr>
              <a:t> </a:t>
            </a:r>
            <a:r>
              <a:rPr sz="2000" dirty="0">
                <a:latin typeface="Arial MT"/>
                <a:cs typeface="Arial MT"/>
              </a:rPr>
              <a:t>incremental</a:t>
            </a:r>
            <a:r>
              <a:rPr sz="2000" spc="-35" dirty="0">
                <a:latin typeface="Arial MT"/>
                <a:cs typeface="Arial MT"/>
              </a:rPr>
              <a:t> </a:t>
            </a:r>
            <a:r>
              <a:rPr sz="2000" dirty="0">
                <a:latin typeface="Arial MT"/>
                <a:cs typeface="Arial MT"/>
              </a:rPr>
              <a:t>software</a:t>
            </a:r>
            <a:r>
              <a:rPr sz="2000" spc="-45" dirty="0">
                <a:latin typeface="Arial MT"/>
                <a:cs typeface="Arial MT"/>
              </a:rPr>
              <a:t> </a:t>
            </a:r>
            <a:r>
              <a:rPr sz="2000" dirty="0">
                <a:latin typeface="Arial MT"/>
                <a:cs typeface="Arial MT"/>
              </a:rPr>
              <a:t>model</a:t>
            </a:r>
            <a:r>
              <a:rPr sz="2000" spc="-20" dirty="0">
                <a:latin typeface="Arial MT"/>
                <a:cs typeface="Arial MT"/>
              </a:rPr>
              <a:t> </a:t>
            </a:r>
            <a:r>
              <a:rPr sz="2000" dirty="0">
                <a:latin typeface="Arial MT"/>
                <a:cs typeface="Arial MT"/>
              </a:rPr>
              <a:t>that</a:t>
            </a:r>
            <a:r>
              <a:rPr sz="2000" spc="-20" dirty="0">
                <a:latin typeface="Arial MT"/>
                <a:cs typeface="Arial MT"/>
              </a:rPr>
              <a:t> </a:t>
            </a:r>
            <a:r>
              <a:rPr sz="2000" dirty="0">
                <a:latin typeface="Arial MT"/>
                <a:cs typeface="Arial MT"/>
              </a:rPr>
              <a:t>a</a:t>
            </a:r>
            <a:r>
              <a:rPr sz="2000" spc="-30" dirty="0">
                <a:latin typeface="Arial MT"/>
                <a:cs typeface="Arial MT"/>
              </a:rPr>
              <a:t> </a:t>
            </a:r>
            <a:r>
              <a:rPr sz="2000" spc="-10" dirty="0">
                <a:latin typeface="Arial MT"/>
                <a:cs typeface="Arial MT"/>
              </a:rPr>
              <a:t>short </a:t>
            </a:r>
            <a:r>
              <a:rPr sz="2000" dirty="0">
                <a:latin typeface="Arial MT"/>
                <a:cs typeface="Arial MT"/>
              </a:rPr>
              <a:t>development</a:t>
            </a:r>
            <a:r>
              <a:rPr sz="2000" spc="-30" dirty="0">
                <a:latin typeface="Arial MT"/>
                <a:cs typeface="Arial MT"/>
              </a:rPr>
              <a:t> </a:t>
            </a:r>
            <a:r>
              <a:rPr sz="2000" spc="-10" dirty="0">
                <a:latin typeface="Arial MT"/>
                <a:cs typeface="Arial MT"/>
              </a:rPr>
              <a:t>cycle.</a:t>
            </a:r>
            <a:endParaRPr sz="2000" dirty="0">
              <a:latin typeface="Arial MT"/>
              <a:cs typeface="Arial MT"/>
            </a:endParaRPr>
          </a:p>
          <a:p>
            <a:pPr marL="355600" marR="533400" indent="-342900">
              <a:spcBef>
                <a:spcPts val="765"/>
              </a:spcBef>
              <a:buChar char="•"/>
              <a:tabLst>
                <a:tab pos="355600" algn="l"/>
              </a:tabLst>
            </a:pPr>
            <a:r>
              <a:rPr sz="2000" dirty="0">
                <a:latin typeface="Arial MT"/>
                <a:cs typeface="Arial MT"/>
              </a:rPr>
              <a:t>The</a:t>
            </a:r>
            <a:r>
              <a:rPr sz="2000" spc="-25" dirty="0">
                <a:latin typeface="Arial MT"/>
                <a:cs typeface="Arial MT"/>
              </a:rPr>
              <a:t> </a:t>
            </a:r>
            <a:r>
              <a:rPr sz="2000" dirty="0">
                <a:latin typeface="Arial MT"/>
                <a:cs typeface="Arial MT"/>
              </a:rPr>
              <a:t>RAD</a:t>
            </a:r>
            <a:r>
              <a:rPr sz="2000" spc="5" dirty="0">
                <a:latin typeface="Arial MT"/>
                <a:cs typeface="Arial MT"/>
              </a:rPr>
              <a:t> </a:t>
            </a:r>
            <a:r>
              <a:rPr sz="2000" dirty="0">
                <a:latin typeface="Arial MT"/>
                <a:cs typeface="Arial MT"/>
              </a:rPr>
              <a:t>model</a:t>
            </a:r>
            <a:r>
              <a:rPr sz="2000" spc="-10" dirty="0">
                <a:latin typeface="Arial MT"/>
                <a:cs typeface="Arial MT"/>
              </a:rPr>
              <a:t> </a:t>
            </a:r>
            <a:r>
              <a:rPr sz="2000" dirty="0">
                <a:latin typeface="Arial MT"/>
                <a:cs typeface="Arial MT"/>
              </a:rPr>
              <a:t>is</a:t>
            </a:r>
            <a:r>
              <a:rPr sz="2000" spc="-5" dirty="0">
                <a:latin typeface="Arial MT"/>
                <a:cs typeface="Arial MT"/>
              </a:rPr>
              <a:t> </a:t>
            </a:r>
            <a:r>
              <a:rPr sz="2000" dirty="0">
                <a:latin typeface="Arial MT"/>
                <a:cs typeface="Arial MT"/>
              </a:rPr>
              <a:t>a</a:t>
            </a:r>
            <a:r>
              <a:rPr sz="2000" spc="-10" dirty="0">
                <a:latin typeface="Arial MT"/>
                <a:cs typeface="Arial MT"/>
              </a:rPr>
              <a:t> </a:t>
            </a:r>
            <a:r>
              <a:rPr sz="2000" spc="-20" dirty="0">
                <a:latin typeface="Arial MT"/>
                <a:cs typeface="Arial MT"/>
              </a:rPr>
              <a:t>“high-</a:t>
            </a:r>
            <a:r>
              <a:rPr sz="2000" dirty="0">
                <a:latin typeface="Arial MT"/>
                <a:cs typeface="Arial MT"/>
              </a:rPr>
              <a:t>speed”</a:t>
            </a:r>
            <a:r>
              <a:rPr sz="2000" spc="-40" dirty="0">
                <a:latin typeface="Arial MT"/>
                <a:cs typeface="Arial MT"/>
              </a:rPr>
              <a:t> </a:t>
            </a:r>
            <a:r>
              <a:rPr sz="2000" dirty="0">
                <a:latin typeface="Arial MT"/>
                <a:cs typeface="Arial MT"/>
              </a:rPr>
              <a:t>of</a:t>
            </a:r>
            <a:r>
              <a:rPr sz="2000" spc="-20" dirty="0">
                <a:latin typeface="Arial MT"/>
                <a:cs typeface="Arial MT"/>
              </a:rPr>
              <a:t> </a:t>
            </a:r>
            <a:r>
              <a:rPr sz="2000" spc="-25" dirty="0">
                <a:latin typeface="Arial MT"/>
                <a:cs typeface="Arial MT"/>
              </a:rPr>
              <a:t>the </a:t>
            </a:r>
            <a:r>
              <a:rPr sz="2000" dirty="0">
                <a:latin typeface="Arial MT"/>
                <a:cs typeface="Arial MT"/>
              </a:rPr>
              <a:t>waterfall</a:t>
            </a:r>
            <a:r>
              <a:rPr sz="2000" spc="-40" dirty="0">
                <a:latin typeface="Arial MT"/>
                <a:cs typeface="Arial MT"/>
              </a:rPr>
              <a:t> </a:t>
            </a:r>
            <a:r>
              <a:rPr sz="2000" spc="-10" dirty="0">
                <a:latin typeface="Arial MT"/>
                <a:cs typeface="Arial MT"/>
              </a:rPr>
              <a:t>model.</a:t>
            </a:r>
            <a:endParaRPr sz="2000" dirty="0">
              <a:latin typeface="Arial MT"/>
              <a:cs typeface="Arial MT"/>
            </a:endParaRPr>
          </a:p>
          <a:p>
            <a:pPr marL="355600" marR="160655" indent="-342900">
              <a:spcBef>
                <a:spcPts val="775"/>
              </a:spcBef>
              <a:buChar char="•"/>
              <a:tabLst>
                <a:tab pos="355600" algn="l"/>
              </a:tabLst>
            </a:pPr>
            <a:r>
              <a:rPr sz="2000" dirty="0">
                <a:latin typeface="Arial MT"/>
                <a:cs typeface="Arial MT"/>
              </a:rPr>
              <a:t>The</a:t>
            </a:r>
            <a:r>
              <a:rPr sz="2000" spc="-25" dirty="0">
                <a:latin typeface="Arial MT"/>
                <a:cs typeface="Arial MT"/>
              </a:rPr>
              <a:t> </a:t>
            </a:r>
            <a:r>
              <a:rPr sz="2000" dirty="0">
                <a:latin typeface="Arial MT"/>
                <a:cs typeface="Arial MT"/>
              </a:rPr>
              <a:t>RAD</a:t>
            </a:r>
            <a:r>
              <a:rPr sz="2000" spc="5" dirty="0">
                <a:latin typeface="Arial MT"/>
                <a:cs typeface="Arial MT"/>
              </a:rPr>
              <a:t> </a:t>
            </a:r>
            <a:r>
              <a:rPr sz="2000" dirty="0">
                <a:latin typeface="Arial MT"/>
                <a:cs typeface="Arial MT"/>
              </a:rPr>
              <a:t>process</a:t>
            </a:r>
            <a:r>
              <a:rPr sz="2000" spc="-40" dirty="0">
                <a:latin typeface="Arial MT"/>
                <a:cs typeface="Arial MT"/>
              </a:rPr>
              <a:t> </a:t>
            </a:r>
            <a:r>
              <a:rPr sz="2000" dirty="0">
                <a:latin typeface="Arial MT"/>
                <a:cs typeface="Arial MT"/>
              </a:rPr>
              <a:t>enables</a:t>
            </a:r>
            <a:r>
              <a:rPr sz="2000" spc="-5" dirty="0">
                <a:latin typeface="Arial MT"/>
                <a:cs typeface="Arial MT"/>
              </a:rPr>
              <a:t> </a:t>
            </a:r>
            <a:r>
              <a:rPr sz="2000" dirty="0">
                <a:latin typeface="Arial MT"/>
                <a:cs typeface="Arial MT"/>
              </a:rPr>
              <a:t>a</a:t>
            </a:r>
            <a:r>
              <a:rPr sz="2000" spc="-15" dirty="0">
                <a:latin typeface="Arial MT"/>
                <a:cs typeface="Arial MT"/>
              </a:rPr>
              <a:t> </a:t>
            </a:r>
            <a:r>
              <a:rPr sz="2000" spc="-10" dirty="0">
                <a:latin typeface="Arial MT"/>
                <a:cs typeface="Arial MT"/>
              </a:rPr>
              <a:t>development </a:t>
            </a:r>
            <a:r>
              <a:rPr sz="2000" dirty="0">
                <a:latin typeface="Arial MT"/>
                <a:cs typeface="Arial MT"/>
              </a:rPr>
              <a:t>team</a:t>
            </a:r>
            <a:r>
              <a:rPr sz="2000" spc="-25" dirty="0">
                <a:latin typeface="Arial MT"/>
                <a:cs typeface="Arial MT"/>
              </a:rPr>
              <a:t> </a:t>
            </a:r>
            <a:r>
              <a:rPr sz="2000" dirty="0">
                <a:latin typeface="Arial MT"/>
                <a:cs typeface="Arial MT"/>
              </a:rPr>
              <a:t>to</a:t>
            </a:r>
            <a:r>
              <a:rPr sz="2000" spc="-30" dirty="0">
                <a:latin typeface="Arial MT"/>
                <a:cs typeface="Arial MT"/>
              </a:rPr>
              <a:t> </a:t>
            </a:r>
            <a:r>
              <a:rPr sz="2000" dirty="0">
                <a:latin typeface="Arial MT"/>
                <a:cs typeface="Arial MT"/>
              </a:rPr>
              <a:t>create</a:t>
            </a:r>
            <a:r>
              <a:rPr sz="2000" spc="-35" dirty="0">
                <a:latin typeface="Arial MT"/>
                <a:cs typeface="Arial MT"/>
              </a:rPr>
              <a:t> </a:t>
            </a:r>
            <a:r>
              <a:rPr sz="2000" dirty="0">
                <a:latin typeface="Arial MT"/>
                <a:cs typeface="Arial MT"/>
              </a:rPr>
              <a:t>a</a:t>
            </a:r>
            <a:r>
              <a:rPr sz="2000" spc="-10" dirty="0">
                <a:latin typeface="Arial MT"/>
                <a:cs typeface="Arial MT"/>
              </a:rPr>
              <a:t> </a:t>
            </a:r>
            <a:r>
              <a:rPr sz="2000" dirty="0">
                <a:latin typeface="Arial MT"/>
                <a:cs typeface="Arial MT"/>
              </a:rPr>
              <a:t>fully</a:t>
            </a:r>
            <a:r>
              <a:rPr sz="2000" spc="-15" dirty="0">
                <a:latin typeface="Arial MT"/>
                <a:cs typeface="Arial MT"/>
              </a:rPr>
              <a:t> </a:t>
            </a:r>
            <a:r>
              <a:rPr sz="2000" dirty="0">
                <a:latin typeface="Arial MT"/>
                <a:cs typeface="Arial MT"/>
              </a:rPr>
              <a:t>functional</a:t>
            </a:r>
            <a:r>
              <a:rPr sz="2000" spc="-30" dirty="0">
                <a:latin typeface="Arial MT"/>
                <a:cs typeface="Arial MT"/>
              </a:rPr>
              <a:t> </a:t>
            </a:r>
            <a:r>
              <a:rPr sz="2000" spc="-10" dirty="0">
                <a:latin typeface="Arial MT"/>
                <a:cs typeface="Arial MT"/>
              </a:rPr>
              <a:t>system </a:t>
            </a:r>
            <a:r>
              <a:rPr sz="2000" dirty="0">
                <a:latin typeface="Arial MT"/>
                <a:cs typeface="Arial MT"/>
              </a:rPr>
              <a:t>within</a:t>
            </a:r>
            <a:r>
              <a:rPr sz="2000" spc="-20" dirty="0">
                <a:latin typeface="Arial MT"/>
                <a:cs typeface="Arial MT"/>
              </a:rPr>
              <a:t> </a:t>
            </a:r>
            <a:r>
              <a:rPr sz="2000" dirty="0">
                <a:latin typeface="Arial MT"/>
                <a:cs typeface="Arial MT"/>
              </a:rPr>
              <a:t>a</a:t>
            </a:r>
            <a:r>
              <a:rPr sz="2000" spc="-5" dirty="0">
                <a:latin typeface="Arial MT"/>
                <a:cs typeface="Arial MT"/>
              </a:rPr>
              <a:t> </a:t>
            </a:r>
            <a:r>
              <a:rPr sz="2000" dirty="0">
                <a:latin typeface="Arial MT"/>
                <a:cs typeface="Arial MT"/>
              </a:rPr>
              <a:t>very</a:t>
            </a:r>
            <a:r>
              <a:rPr sz="2000" spc="-30" dirty="0">
                <a:latin typeface="Arial MT"/>
                <a:cs typeface="Arial MT"/>
              </a:rPr>
              <a:t> </a:t>
            </a:r>
            <a:r>
              <a:rPr sz="2000" dirty="0">
                <a:latin typeface="Arial MT"/>
                <a:cs typeface="Arial MT"/>
              </a:rPr>
              <a:t>short</a:t>
            </a:r>
            <a:r>
              <a:rPr sz="2000" spc="-5" dirty="0">
                <a:latin typeface="Arial MT"/>
                <a:cs typeface="Arial MT"/>
              </a:rPr>
              <a:t> </a:t>
            </a:r>
            <a:r>
              <a:rPr sz="2000" dirty="0">
                <a:latin typeface="Arial MT"/>
                <a:cs typeface="Arial MT"/>
              </a:rPr>
              <a:t>time</a:t>
            </a:r>
            <a:r>
              <a:rPr sz="2000" spc="-5" dirty="0">
                <a:latin typeface="Arial MT"/>
                <a:cs typeface="Arial MT"/>
              </a:rPr>
              <a:t> </a:t>
            </a:r>
            <a:r>
              <a:rPr sz="2000" spc="-10" dirty="0">
                <a:latin typeface="Arial MT"/>
                <a:cs typeface="Arial MT"/>
              </a:rPr>
              <a:t>period.</a:t>
            </a:r>
            <a:endParaRPr lang="en-IN" sz="2000" spc="-10" dirty="0">
              <a:latin typeface="Arial MT"/>
              <a:cs typeface="Arial MT"/>
            </a:endParaRPr>
          </a:p>
          <a:p>
            <a:pPr marL="355600" marR="160655" indent="-342900">
              <a:spcBef>
                <a:spcPts val="775"/>
              </a:spcBef>
              <a:buChar char="•"/>
              <a:tabLst>
                <a:tab pos="355600" algn="l"/>
              </a:tabLst>
            </a:pPr>
            <a:r>
              <a:rPr lang="en-US" sz="2000" dirty="0"/>
              <a:t>In traditional models (like Waterfall), you spend months planning before you ever see the software. In RAD, you build a "rough draft" almost immediately, show it to the user, get their feedback, and fix it right then and there.</a:t>
            </a:r>
            <a:endParaRPr sz="2000" dirty="0">
              <a:latin typeface="Arial MT"/>
              <a:cs typeface="Arial MT"/>
            </a:endParaRPr>
          </a:p>
        </p:txBody>
      </p:sp>
      <p:pic>
        <p:nvPicPr>
          <p:cNvPr id="6146" name="Picture 2" descr="Rapid Application Development (RAD) Model &amp; Tools – NIX United">
            <a:extLst>
              <a:ext uri="{FF2B5EF4-FFF2-40B4-BE49-F238E27FC236}">
                <a16:creationId xmlns:a16="http://schemas.microsoft.com/office/drawing/2014/main" id="{2EAC553D-8A4A-E457-CA69-85B589358BD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90057" y="2838912"/>
            <a:ext cx="5401943" cy="24815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87933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D811844-4B9B-F05D-E2DE-B8BD1C554FA4}"/>
              </a:ext>
            </a:extLst>
          </p:cNvPr>
          <p:cNvSpPr>
            <a:spLocks noGrp="1"/>
          </p:cNvSpPr>
          <p:nvPr>
            <p:ph type="sldNum" sz="quarter" idx="12"/>
          </p:nvPr>
        </p:nvSpPr>
        <p:spPr/>
        <p:txBody>
          <a:bodyPr/>
          <a:lstStyle/>
          <a:p>
            <a:fld id="{B8DACC02-A2BD-4578-8E03-6D891060A695}" type="slidenum">
              <a:rPr lang="en-US" smtClean="0"/>
              <a:t>17</a:t>
            </a:fld>
            <a:endParaRPr lang="en-US"/>
          </a:p>
        </p:txBody>
      </p:sp>
      <p:sp>
        <p:nvSpPr>
          <p:cNvPr id="5" name="object 2">
            <a:extLst>
              <a:ext uri="{FF2B5EF4-FFF2-40B4-BE49-F238E27FC236}">
                <a16:creationId xmlns:a16="http://schemas.microsoft.com/office/drawing/2014/main" id="{F8A95AAB-8006-1F7E-6A49-9BC2D8B99A78}"/>
              </a:ext>
            </a:extLst>
          </p:cNvPr>
          <p:cNvSpPr txBox="1">
            <a:spLocks/>
          </p:cNvSpPr>
          <p:nvPr/>
        </p:nvSpPr>
        <p:spPr>
          <a:xfrm>
            <a:off x="654869" y="963180"/>
            <a:ext cx="11360150" cy="394980"/>
          </a:xfrm>
          <a:prstGeom prst="rect">
            <a:avLst/>
          </a:prstGeom>
          <a:noFill/>
          <a:ln>
            <a:noFill/>
          </a:ln>
        </p:spPr>
        <p:txBody>
          <a:bodyPr spcFirstLastPara="1" vert="horz" wrap="square" lIns="0" tIns="12700" rIns="0" bIns="0" rtlCol="0" anchor="t" anchorCtr="0">
            <a:sp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eaLnBrk="1" hangingPunct="1">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eaLnBrk="1" hangingPunct="1">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eaLnBrk="1" hangingPunct="1">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eaLnBrk="1" hangingPunct="1">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eaLnBrk="1" hangingPunct="1">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eaLnBrk="1" hangingPunct="1">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eaLnBrk="1" hangingPunct="1">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eaLnBrk="1" hangingPunct="1">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marL="12700">
              <a:spcBef>
                <a:spcPts val="100"/>
              </a:spcBef>
            </a:pPr>
            <a:r>
              <a:rPr lang="en-US" sz="2400" b="1" dirty="0"/>
              <a:t>The 4 Key Phases of RAD</a:t>
            </a:r>
            <a:endParaRPr lang="en-IN" sz="2400" b="1" kern="0" spc="-10" dirty="0">
              <a:latin typeface="Arial MT"/>
              <a:cs typeface="Arial MT"/>
            </a:endParaRPr>
          </a:p>
        </p:txBody>
      </p:sp>
      <p:sp>
        <p:nvSpPr>
          <p:cNvPr id="6" name="object 3">
            <a:extLst>
              <a:ext uri="{FF2B5EF4-FFF2-40B4-BE49-F238E27FC236}">
                <a16:creationId xmlns:a16="http://schemas.microsoft.com/office/drawing/2014/main" id="{9FF05E60-E5C9-3A6A-A2C8-9866D968C6F0}"/>
              </a:ext>
            </a:extLst>
          </p:cNvPr>
          <p:cNvSpPr txBox="1"/>
          <p:nvPr/>
        </p:nvSpPr>
        <p:spPr>
          <a:xfrm>
            <a:off x="646983" y="1495716"/>
            <a:ext cx="10898034" cy="4322337"/>
          </a:xfrm>
          <a:prstGeom prst="rect">
            <a:avLst/>
          </a:prstGeom>
        </p:spPr>
        <p:txBody>
          <a:bodyPr vert="horz" wrap="square" lIns="0" tIns="13335" rIns="0" bIns="0" rtlCol="0">
            <a:spAutoFit/>
          </a:bodyPr>
          <a:lstStyle/>
          <a:p>
            <a:pPr lvl="0" eaLnBrk="0" fontAlgn="base" hangingPunct="0">
              <a:spcBef>
                <a:spcPct val="0"/>
              </a:spcBef>
              <a:spcAft>
                <a:spcPct val="0"/>
              </a:spcAft>
              <a:buFontTx/>
              <a:buChar char="•"/>
            </a:pPr>
            <a:r>
              <a:rPr lang="en-US" altLang="en-US" sz="2000" b="1" dirty="0">
                <a:latin typeface="Google Sans Text"/>
              </a:rPr>
              <a:t>Requirements Planning:</a:t>
            </a:r>
            <a:r>
              <a:rPr lang="en-US" altLang="en-US" sz="2000" dirty="0">
                <a:latin typeface="Google Sans Text"/>
              </a:rPr>
              <a:t> Instead of a 200-page document, developers and users meet to agree on the </a:t>
            </a:r>
            <a:r>
              <a:rPr lang="en-US" altLang="en-US" sz="2000" i="1" dirty="0">
                <a:latin typeface="Google Sans Text"/>
              </a:rPr>
              <a:t>broad goals</a:t>
            </a:r>
            <a:r>
              <a:rPr lang="en-US" altLang="en-US" sz="2000" dirty="0">
                <a:latin typeface="Google Sans Text"/>
              </a:rPr>
              <a:t> and project scope. We don't worry about every tiny detail yet.</a:t>
            </a:r>
          </a:p>
          <a:p>
            <a:pPr lvl="1" eaLnBrk="0" fontAlgn="base" hangingPunct="0">
              <a:spcBef>
                <a:spcPct val="0"/>
              </a:spcBef>
              <a:spcAft>
                <a:spcPct val="0"/>
              </a:spcAft>
              <a:buFontTx/>
              <a:buChar char="•"/>
            </a:pPr>
            <a:r>
              <a:rPr lang="en-US" altLang="en-US" sz="2000" i="1" dirty="0">
                <a:latin typeface="Google Sans Text"/>
              </a:rPr>
              <a:t>Real-Life Example:</a:t>
            </a:r>
            <a:r>
              <a:rPr lang="en-US" altLang="en-US" sz="2000" dirty="0">
                <a:latin typeface="Google Sans Text"/>
              </a:rPr>
              <a:t> "We need an app for our delivery drivers to track packages.“</a:t>
            </a:r>
          </a:p>
          <a:p>
            <a:pPr lvl="1" eaLnBrk="0" fontAlgn="base" hangingPunct="0">
              <a:spcBef>
                <a:spcPct val="0"/>
              </a:spcBef>
              <a:spcAft>
                <a:spcPct val="0"/>
              </a:spcAft>
            </a:pPr>
            <a:endParaRPr lang="en-US" altLang="en-US" sz="2000" dirty="0">
              <a:latin typeface="Google Sans Text"/>
            </a:endParaRPr>
          </a:p>
          <a:p>
            <a:pPr lvl="0" eaLnBrk="0" fontAlgn="base" hangingPunct="0">
              <a:spcBef>
                <a:spcPct val="0"/>
              </a:spcBef>
              <a:spcAft>
                <a:spcPct val="0"/>
              </a:spcAft>
              <a:buFontTx/>
              <a:buChar char="•"/>
            </a:pPr>
            <a:r>
              <a:rPr lang="en-US" altLang="en-US" sz="2000" b="1" dirty="0">
                <a:latin typeface="Google Sans Text"/>
              </a:rPr>
              <a:t>User Design (Prototyping Loop):</a:t>
            </a:r>
            <a:r>
              <a:rPr lang="en-US" altLang="en-US" sz="2000" dirty="0">
                <a:latin typeface="Google Sans Text"/>
              </a:rPr>
              <a:t> This is the "heart" of RAD. Developers build multiple </a:t>
            </a:r>
            <a:r>
              <a:rPr lang="en-US" altLang="en-US" sz="2000" b="1" dirty="0">
                <a:latin typeface="Google Sans Text"/>
              </a:rPr>
              <a:t>prototypes</a:t>
            </a:r>
            <a:r>
              <a:rPr lang="en-US" altLang="en-US" sz="2000" dirty="0">
                <a:latin typeface="Google Sans Text"/>
              </a:rPr>
              <a:t> (rough versions) of the app. Users test them and say, "I don't like this button" or "This screen is confusing."</a:t>
            </a:r>
          </a:p>
          <a:p>
            <a:pPr lvl="1" eaLnBrk="0" fontAlgn="base" hangingPunct="0">
              <a:spcBef>
                <a:spcPct val="0"/>
              </a:spcBef>
              <a:spcAft>
                <a:spcPct val="0"/>
              </a:spcAft>
              <a:buFontTx/>
              <a:buChar char="•"/>
            </a:pPr>
            <a:r>
              <a:rPr lang="en-US" altLang="en-US" sz="2000" i="1" dirty="0">
                <a:latin typeface="Google Sans Text"/>
              </a:rPr>
              <a:t>Real-Life Example:</a:t>
            </a:r>
            <a:r>
              <a:rPr lang="en-US" altLang="en-US" sz="2000" dirty="0">
                <a:latin typeface="Google Sans Text"/>
              </a:rPr>
              <a:t> The driver says, "The text is too small to read while I'm wearing gloves." The developer changes it immediately.</a:t>
            </a:r>
          </a:p>
          <a:p>
            <a:pPr lvl="1" eaLnBrk="0" fontAlgn="base" hangingPunct="0">
              <a:spcBef>
                <a:spcPct val="0"/>
              </a:spcBef>
              <a:spcAft>
                <a:spcPct val="0"/>
              </a:spcAft>
            </a:pPr>
            <a:endParaRPr lang="en-US" altLang="en-US" sz="2000" dirty="0">
              <a:latin typeface="Google Sans Text"/>
            </a:endParaRPr>
          </a:p>
          <a:p>
            <a:pPr lvl="0" eaLnBrk="0" fontAlgn="base" hangingPunct="0">
              <a:spcBef>
                <a:spcPct val="0"/>
              </a:spcBef>
              <a:spcAft>
                <a:spcPct val="0"/>
              </a:spcAft>
              <a:buFontTx/>
              <a:buChar char="•"/>
            </a:pPr>
            <a:r>
              <a:rPr lang="en-US" altLang="en-US" sz="2000" b="1" dirty="0">
                <a:latin typeface="Google Sans Text"/>
              </a:rPr>
              <a:t>Construction (Rapid Development):</a:t>
            </a:r>
            <a:r>
              <a:rPr lang="en-US" altLang="en-US" sz="2000" dirty="0">
                <a:latin typeface="Google Sans Text"/>
              </a:rPr>
              <a:t> Once the prototype is approved, the team uses automated tools (like Low-Code platforms or code generators) to turn those rough drafts into a polished, final product.</a:t>
            </a:r>
          </a:p>
          <a:p>
            <a:pPr lvl="0" eaLnBrk="0" fontAlgn="base" hangingPunct="0">
              <a:spcBef>
                <a:spcPct val="0"/>
              </a:spcBef>
              <a:spcAft>
                <a:spcPct val="0"/>
              </a:spcAft>
            </a:pPr>
            <a:endParaRPr lang="en-US" altLang="en-US" sz="2000" dirty="0">
              <a:latin typeface="Google Sans Text"/>
            </a:endParaRPr>
          </a:p>
          <a:p>
            <a:pPr lvl="0" eaLnBrk="0" fontAlgn="base" hangingPunct="0">
              <a:spcBef>
                <a:spcPct val="0"/>
              </a:spcBef>
              <a:spcAft>
                <a:spcPct val="0"/>
              </a:spcAft>
              <a:buFontTx/>
              <a:buChar char="•"/>
            </a:pPr>
            <a:r>
              <a:rPr lang="en-US" altLang="en-US" sz="2000" b="1" dirty="0">
                <a:latin typeface="Google Sans Text"/>
              </a:rPr>
              <a:t>Cutover (Deployment):</a:t>
            </a:r>
            <a:r>
              <a:rPr lang="en-US" altLang="en-US" sz="2000" dirty="0">
                <a:latin typeface="Google Sans Text"/>
              </a:rPr>
              <a:t> The final system is integrated, tested, and handed over to the user. Because the user has been involved since Day 1, there are rarely any "surprises" at this stage.</a:t>
            </a:r>
            <a:endParaRPr lang="en-US" altLang="en-US" sz="2000" dirty="0">
              <a:latin typeface="Arial" panose="020B0604020202020204" pitchFamily="34" charset="0"/>
            </a:endParaRPr>
          </a:p>
        </p:txBody>
      </p:sp>
      <p:pic>
        <p:nvPicPr>
          <p:cNvPr id="1034" name="Picture 10" descr="What is Rapid Application Development (RAD)? | CodeBots">
            <a:extLst>
              <a:ext uri="{FF2B5EF4-FFF2-40B4-BE49-F238E27FC236}">
                <a16:creationId xmlns:a16="http://schemas.microsoft.com/office/drawing/2014/main" id="{02EF6EAB-3E22-BA5A-20F5-C3E6457CC7DF}"/>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3919" t="16484" r="2903" b="16517"/>
          <a:stretch>
            <a:fillRect/>
          </a:stretch>
        </p:blipFill>
        <p:spPr bwMode="auto">
          <a:xfrm>
            <a:off x="7095531" y="0"/>
            <a:ext cx="5096469" cy="15556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48534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80220" y="751603"/>
            <a:ext cx="7228332" cy="5689092"/>
          </a:xfrm>
          <a:prstGeom prst="rect">
            <a:avLst/>
          </a:prstGeom>
        </p:spPr>
      </p:pic>
      <p:pic>
        <p:nvPicPr>
          <p:cNvPr id="7170" name="Picture 2" descr="Rapid Application Development Model | RAD Model Phases">
            <a:extLst>
              <a:ext uri="{FF2B5EF4-FFF2-40B4-BE49-F238E27FC236}">
                <a16:creationId xmlns:a16="http://schemas.microsoft.com/office/drawing/2014/main" id="{6D5778EF-514E-A2DC-3FF2-5AAED2E045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81821" y="1750141"/>
            <a:ext cx="4362695" cy="31162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6073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463140" y="392328"/>
            <a:ext cx="11360150" cy="394980"/>
          </a:xfrm>
          <a:prstGeom prst="rect">
            <a:avLst/>
          </a:prstGeom>
        </p:spPr>
        <p:txBody>
          <a:bodyPr spcFirstLastPara="1" vert="horz" wrap="square" lIns="0" tIns="12700" rIns="0" bIns="0" rtlCol="0" anchor="t" anchorCtr="0">
            <a:spAutoFit/>
          </a:bodyPr>
          <a:lstStyle/>
          <a:p>
            <a:pPr marL="12700">
              <a:spcBef>
                <a:spcPts val="100"/>
              </a:spcBef>
            </a:pPr>
            <a:r>
              <a:rPr sz="2400" b="1" dirty="0"/>
              <a:t>Contents</a:t>
            </a:r>
            <a:r>
              <a:rPr sz="2400" b="1" spc="-75" dirty="0"/>
              <a:t> </a:t>
            </a:r>
            <a:r>
              <a:rPr sz="2400" b="1" dirty="0"/>
              <a:t>of</a:t>
            </a:r>
            <a:r>
              <a:rPr sz="2400" b="1" spc="-65" dirty="0"/>
              <a:t> </a:t>
            </a:r>
            <a:r>
              <a:rPr sz="2400" b="1" dirty="0"/>
              <a:t>RAD</a:t>
            </a:r>
            <a:r>
              <a:rPr sz="2400" b="1" spc="-70" dirty="0"/>
              <a:t> </a:t>
            </a:r>
            <a:r>
              <a:rPr sz="2400" b="1" spc="-10" dirty="0"/>
              <a:t>Pakages:</a:t>
            </a:r>
          </a:p>
        </p:txBody>
      </p:sp>
      <p:sp>
        <p:nvSpPr>
          <p:cNvPr id="3" name="object 3"/>
          <p:cNvSpPr txBox="1"/>
          <p:nvPr/>
        </p:nvSpPr>
        <p:spPr>
          <a:xfrm>
            <a:off x="599848" y="1201902"/>
            <a:ext cx="11223441" cy="4600618"/>
          </a:xfrm>
          <a:prstGeom prst="rect">
            <a:avLst/>
          </a:prstGeom>
        </p:spPr>
        <p:txBody>
          <a:bodyPr vert="horz" wrap="square" lIns="0" tIns="98425" rIns="0" bIns="0" rtlCol="0">
            <a:spAutoFit/>
          </a:bodyPr>
          <a:lstStyle/>
          <a:p>
            <a:pPr marL="354965" indent="-342265">
              <a:spcBef>
                <a:spcPts val="775"/>
              </a:spcBef>
              <a:buChar char="•"/>
              <a:tabLst>
                <a:tab pos="354965" algn="l"/>
              </a:tabLst>
            </a:pPr>
            <a:r>
              <a:rPr sz="2000" dirty="0">
                <a:latin typeface="Arial MT"/>
                <a:cs typeface="Arial MT"/>
              </a:rPr>
              <a:t>Graphical</a:t>
            </a:r>
            <a:r>
              <a:rPr sz="2000" spc="-85" dirty="0">
                <a:latin typeface="Arial MT"/>
                <a:cs typeface="Arial MT"/>
              </a:rPr>
              <a:t> </a:t>
            </a:r>
            <a:r>
              <a:rPr sz="2000" dirty="0">
                <a:latin typeface="Arial MT"/>
                <a:cs typeface="Arial MT"/>
              </a:rPr>
              <a:t>user</a:t>
            </a:r>
            <a:r>
              <a:rPr sz="2000" spc="-90" dirty="0">
                <a:latin typeface="Arial MT"/>
                <a:cs typeface="Arial MT"/>
              </a:rPr>
              <a:t> </a:t>
            </a:r>
            <a:r>
              <a:rPr sz="2000" dirty="0">
                <a:latin typeface="Arial MT"/>
                <a:cs typeface="Arial MT"/>
              </a:rPr>
              <a:t>development</a:t>
            </a:r>
            <a:r>
              <a:rPr sz="2000" spc="-75" dirty="0">
                <a:latin typeface="Arial MT"/>
                <a:cs typeface="Arial MT"/>
              </a:rPr>
              <a:t> </a:t>
            </a:r>
            <a:r>
              <a:rPr sz="2000" spc="-10" dirty="0">
                <a:latin typeface="Arial MT"/>
                <a:cs typeface="Arial MT"/>
              </a:rPr>
              <a:t>environment</a:t>
            </a:r>
            <a:r>
              <a:rPr lang="en-IN" sz="2000" spc="-10" dirty="0">
                <a:latin typeface="Arial MT"/>
                <a:cs typeface="Arial MT"/>
              </a:rPr>
              <a:t> - </a:t>
            </a:r>
            <a:r>
              <a:rPr lang="en-US" sz="2000" dirty="0"/>
              <a:t>Using visual tools to "drag and drop" interface elements instead of writing every line of UI code.</a:t>
            </a:r>
            <a:endParaRPr sz="2000" dirty="0">
              <a:latin typeface="Arial MT"/>
              <a:cs typeface="Arial MT"/>
            </a:endParaRPr>
          </a:p>
          <a:p>
            <a:pPr marL="354965" indent="-342265">
              <a:spcBef>
                <a:spcPts val="675"/>
              </a:spcBef>
              <a:buChar char="•"/>
              <a:tabLst>
                <a:tab pos="354965" algn="l"/>
              </a:tabLst>
            </a:pPr>
            <a:r>
              <a:rPr sz="2000" dirty="0">
                <a:latin typeface="Arial MT"/>
                <a:cs typeface="Arial MT"/>
              </a:rPr>
              <a:t>Reusable</a:t>
            </a:r>
            <a:r>
              <a:rPr sz="2000" spc="-95" dirty="0">
                <a:latin typeface="Arial MT"/>
                <a:cs typeface="Arial MT"/>
              </a:rPr>
              <a:t> </a:t>
            </a:r>
            <a:r>
              <a:rPr sz="2000" spc="-10" dirty="0">
                <a:latin typeface="Arial MT"/>
                <a:cs typeface="Arial MT"/>
              </a:rPr>
              <a:t>Components</a:t>
            </a:r>
            <a:r>
              <a:rPr lang="en-IN" sz="2000" spc="-10" dirty="0">
                <a:latin typeface="Arial MT"/>
                <a:cs typeface="Arial MT"/>
              </a:rPr>
              <a:t>- </a:t>
            </a:r>
            <a:r>
              <a:rPr lang="en-US" sz="2000" dirty="0"/>
              <a:t>use pre-written code modules for common tasks.</a:t>
            </a:r>
            <a:endParaRPr sz="2000" dirty="0">
              <a:latin typeface="Arial MT"/>
              <a:cs typeface="Arial MT"/>
            </a:endParaRPr>
          </a:p>
          <a:p>
            <a:pPr marL="354965" indent="-342265">
              <a:spcBef>
                <a:spcPts val="675"/>
              </a:spcBef>
              <a:buChar char="•"/>
              <a:tabLst>
                <a:tab pos="354965" algn="l"/>
              </a:tabLst>
            </a:pPr>
            <a:r>
              <a:rPr sz="2000" dirty="0">
                <a:latin typeface="Arial MT"/>
                <a:cs typeface="Arial MT"/>
              </a:rPr>
              <a:t>Code</a:t>
            </a:r>
            <a:r>
              <a:rPr sz="2000" spc="-50" dirty="0">
                <a:latin typeface="Arial MT"/>
                <a:cs typeface="Arial MT"/>
              </a:rPr>
              <a:t> </a:t>
            </a:r>
            <a:r>
              <a:rPr sz="2000" spc="-10" dirty="0">
                <a:latin typeface="Arial MT"/>
                <a:cs typeface="Arial MT"/>
              </a:rPr>
              <a:t>generator</a:t>
            </a:r>
            <a:r>
              <a:rPr lang="en-IN" sz="2000" spc="-10" dirty="0">
                <a:latin typeface="Arial MT"/>
                <a:cs typeface="Arial MT"/>
              </a:rPr>
              <a:t>-</a:t>
            </a:r>
            <a:r>
              <a:rPr lang="en-US" sz="2000" dirty="0"/>
              <a:t> Software that automatically writes the basic "back-end" code for you based on your design models.</a:t>
            </a:r>
            <a:endParaRPr sz="2000" dirty="0">
              <a:latin typeface="Arial MT"/>
              <a:cs typeface="Arial MT"/>
            </a:endParaRPr>
          </a:p>
          <a:p>
            <a:pPr marL="12700">
              <a:spcBef>
                <a:spcPts val="675"/>
              </a:spcBef>
            </a:pPr>
            <a:r>
              <a:rPr sz="2000" b="1" spc="-10" dirty="0">
                <a:latin typeface="Arial"/>
                <a:cs typeface="Arial"/>
              </a:rPr>
              <a:t>Advantages:</a:t>
            </a:r>
            <a:endParaRPr sz="2000" dirty="0">
              <a:latin typeface="Arial"/>
              <a:cs typeface="Arial"/>
            </a:endParaRPr>
          </a:p>
          <a:p>
            <a:pPr marL="354965" indent="-342265">
              <a:spcBef>
                <a:spcPts val="670"/>
              </a:spcBef>
              <a:buChar char="•"/>
              <a:tabLst>
                <a:tab pos="354965" algn="l"/>
              </a:tabLst>
            </a:pPr>
            <a:r>
              <a:rPr sz="2000" dirty="0">
                <a:latin typeface="Arial MT"/>
                <a:cs typeface="Arial MT"/>
              </a:rPr>
              <a:t>Fast</a:t>
            </a:r>
            <a:r>
              <a:rPr sz="2000" spc="-35" dirty="0">
                <a:latin typeface="Arial MT"/>
                <a:cs typeface="Arial MT"/>
              </a:rPr>
              <a:t> </a:t>
            </a:r>
            <a:r>
              <a:rPr sz="2000" spc="-10" dirty="0">
                <a:latin typeface="Arial MT"/>
                <a:cs typeface="Arial MT"/>
              </a:rPr>
              <a:t>products.</a:t>
            </a:r>
            <a:endParaRPr sz="2000" dirty="0">
              <a:latin typeface="Arial MT"/>
              <a:cs typeface="Arial MT"/>
            </a:endParaRPr>
          </a:p>
          <a:p>
            <a:pPr marL="354965" indent="-342265">
              <a:spcBef>
                <a:spcPts val="675"/>
              </a:spcBef>
              <a:buChar char="•"/>
              <a:tabLst>
                <a:tab pos="354965" algn="l"/>
              </a:tabLst>
            </a:pPr>
            <a:r>
              <a:rPr sz="2000" dirty="0">
                <a:latin typeface="Arial MT"/>
                <a:cs typeface="Arial MT"/>
              </a:rPr>
              <a:t>Efficient</a:t>
            </a:r>
            <a:r>
              <a:rPr sz="2000" spc="-114" dirty="0">
                <a:latin typeface="Arial MT"/>
                <a:cs typeface="Arial MT"/>
              </a:rPr>
              <a:t> </a:t>
            </a:r>
            <a:r>
              <a:rPr sz="2000" spc="-10" dirty="0">
                <a:latin typeface="Arial MT"/>
                <a:cs typeface="Arial MT"/>
              </a:rPr>
              <a:t>Documentation.</a:t>
            </a:r>
            <a:endParaRPr sz="2000" dirty="0">
              <a:latin typeface="Arial MT"/>
              <a:cs typeface="Arial MT"/>
            </a:endParaRPr>
          </a:p>
          <a:p>
            <a:pPr marL="354965" indent="-342265">
              <a:spcBef>
                <a:spcPts val="675"/>
              </a:spcBef>
              <a:buChar char="•"/>
              <a:tabLst>
                <a:tab pos="354965" algn="l"/>
              </a:tabLst>
            </a:pPr>
            <a:r>
              <a:rPr sz="2000" dirty="0">
                <a:latin typeface="Arial MT"/>
                <a:cs typeface="Arial MT"/>
              </a:rPr>
              <a:t>Interaction</a:t>
            </a:r>
            <a:r>
              <a:rPr sz="2000" spc="-85" dirty="0">
                <a:latin typeface="Arial MT"/>
                <a:cs typeface="Arial MT"/>
              </a:rPr>
              <a:t> </a:t>
            </a:r>
            <a:r>
              <a:rPr sz="2000" dirty="0">
                <a:latin typeface="Arial MT"/>
                <a:cs typeface="Arial MT"/>
              </a:rPr>
              <a:t>with</a:t>
            </a:r>
            <a:r>
              <a:rPr sz="2000" spc="-85" dirty="0">
                <a:latin typeface="Arial MT"/>
                <a:cs typeface="Arial MT"/>
              </a:rPr>
              <a:t> </a:t>
            </a:r>
            <a:r>
              <a:rPr sz="2000" spc="-20" dirty="0">
                <a:latin typeface="Arial MT"/>
                <a:cs typeface="Arial MT"/>
              </a:rPr>
              <a:t>user.</a:t>
            </a:r>
            <a:endParaRPr sz="2000" dirty="0">
              <a:latin typeface="Arial MT"/>
              <a:cs typeface="Arial MT"/>
            </a:endParaRPr>
          </a:p>
          <a:p>
            <a:pPr marL="12700">
              <a:spcBef>
                <a:spcPts val="670"/>
              </a:spcBef>
            </a:pPr>
            <a:r>
              <a:rPr sz="2000" b="1" spc="-10" dirty="0">
                <a:latin typeface="Arial"/>
                <a:cs typeface="Arial"/>
              </a:rPr>
              <a:t>Disadvantages:</a:t>
            </a:r>
            <a:endParaRPr sz="2000" dirty="0">
              <a:latin typeface="Arial"/>
              <a:cs typeface="Arial"/>
            </a:endParaRPr>
          </a:p>
          <a:p>
            <a:pPr marL="354965" indent="-342265">
              <a:spcBef>
                <a:spcPts val="670"/>
              </a:spcBef>
              <a:buChar char="•"/>
              <a:tabLst>
                <a:tab pos="354965" algn="l"/>
              </a:tabLst>
            </a:pPr>
            <a:r>
              <a:rPr sz="2000" dirty="0">
                <a:latin typeface="Arial MT"/>
                <a:cs typeface="Arial MT"/>
              </a:rPr>
              <a:t>User</a:t>
            </a:r>
            <a:r>
              <a:rPr sz="2000" spc="-35" dirty="0">
                <a:latin typeface="Arial MT"/>
                <a:cs typeface="Arial MT"/>
              </a:rPr>
              <a:t> </a:t>
            </a:r>
            <a:r>
              <a:rPr sz="2000" dirty="0">
                <a:latin typeface="Arial MT"/>
                <a:cs typeface="Arial MT"/>
              </a:rPr>
              <a:t>may</a:t>
            </a:r>
            <a:r>
              <a:rPr sz="2000" spc="-20" dirty="0">
                <a:latin typeface="Arial MT"/>
                <a:cs typeface="Arial MT"/>
              </a:rPr>
              <a:t> </a:t>
            </a:r>
            <a:r>
              <a:rPr sz="2000" dirty="0">
                <a:latin typeface="Arial MT"/>
                <a:cs typeface="Arial MT"/>
              </a:rPr>
              <a:t>not</a:t>
            </a:r>
            <a:r>
              <a:rPr sz="2000" spc="-40" dirty="0">
                <a:latin typeface="Arial MT"/>
                <a:cs typeface="Arial MT"/>
              </a:rPr>
              <a:t> </a:t>
            </a:r>
            <a:r>
              <a:rPr sz="2000" dirty="0">
                <a:latin typeface="Arial MT"/>
                <a:cs typeface="Arial MT"/>
              </a:rPr>
              <a:t>like</a:t>
            </a:r>
            <a:r>
              <a:rPr sz="2000" spc="-35" dirty="0">
                <a:latin typeface="Arial MT"/>
                <a:cs typeface="Arial MT"/>
              </a:rPr>
              <a:t> </a:t>
            </a:r>
            <a:r>
              <a:rPr sz="2000" dirty="0">
                <a:latin typeface="Arial MT"/>
                <a:cs typeface="Arial MT"/>
              </a:rPr>
              <a:t>fast</a:t>
            </a:r>
            <a:r>
              <a:rPr sz="2000" spc="-50" dirty="0">
                <a:latin typeface="Arial MT"/>
                <a:cs typeface="Arial MT"/>
              </a:rPr>
              <a:t> </a:t>
            </a:r>
            <a:r>
              <a:rPr sz="2000" spc="-10" dirty="0">
                <a:latin typeface="Arial MT"/>
                <a:cs typeface="Arial MT"/>
              </a:rPr>
              <a:t>activities.</a:t>
            </a:r>
            <a:endParaRPr sz="2000" dirty="0">
              <a:latin typeface="Arial MT"/>
              <a:cs typeface="Arial MT"/>
            </a:endParaRPr>
          </a:p>
          <a:p>
            <a:pPr marL="354965" indent="-342265">
              <a:spcBef>
                <a:spcPts val="675"/>
              </a:spcBef>
              <a:buChar char="•"/>
              <a:tabLst>
                <a:tab pos="354965" algn="l"/>
              </a:tabLst>
            </a:pPr>
            <a:r>
              <a:rPr sz="2000" dirty="0">
                <a:latin typeface="Arial MT"/>
                <a:cs typeface="Arial MT"/>
              </a:rPr>
              <a:t>Not</a:t>
            </a:r>
            <a:r>
              <a:rPr sz="2000" spc="-50" dirty="0">
                <a:latin typeface="Arial MT"/>
                <a:cs typeface="Arial MT"/>
              </a:rPr>
              <a:t> </a:t>
            </a:r>
            <a:r>
              <a:rPr sz="2000" dirty="0">
                <a:latin typeface="Arial MT"/>
                <a:cs typeface="Arial MT"/>
              </a:rPr>
              <a:t>suitable</a:t>
            </a:r>
            <a:r>
              <a:rPr sz="2000" spc="-50" dirty="0">
                <a:latin typeface="Arial MT"/>
                <a:cs typeface="Arial MT"/>
              </a:rPr>
              <a:t> </a:t>
            </a:r>
            <a:r>
              <a:rPr sz="2000" dirty="0">
                <a:latin typeface="Arial MT"/>
                <a:cs typeface="Arial MT"/>
              </a:rPr>
              <a:t>for</a:t>
            </a:r>
            <a:r>
              <a:rPr sz="2000" spc="-65" dirty="0">
                <a:latin typeface="Arial MT"/>
                <a:cs typeface="Arial MT"/>
              </a:rPr>
              <a:t> </a:t>
            </a:r>
            <a:r>
              <a:rPr sz="2000" dirty="0">
                <a:latin typeface="Arial MT"/>
                <a:cs typeface="Arial MT"/>
              </a:rPr>
              <a:t>technical</a:t>
            </a:r>
            <a:r>
              <a:rPr sz="2000" spc="-45" dirty="0">
                <a:latin typeface="Arial MT"/>
                <a:cs typeface="Arial MT"/>
              </a:rPr>
              <a:t> </a:t>
            </a:r>
            <a:r>
              <a:rPr sz="2000" spc="-10" dirty="0">
                <a:latin typeface="Arial MT"/>
                <a:cs typeface="Arial MT"/>
              </a:rPr>
              <a:t>risks.</a:t>
            </a:r>
            <a:endParaRPr sz="2000" dirty="0">
              <a:latin typeface="Arial MT"/>
              <a:cs typeface="Arial MT"/>
            </a:endParaRPr>
          </a:p>
        </p:txBody>
      </p:sp>
    </p:spTree>
    <p:extLst>
      <p:ext uri="{BB962C8B-B14F-4D97-AF65-F5344CB8AC3E}">
        <p14:creationId xmlns:p14="http://schemas.microsoft.com/office/powerpoint/2010/main" val="26011596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BAE3EBC-0FA1-3FBB-69E3-5421C9B71C6D}"/>
              </a:ext>
            </a:extLst>
          </p:cNvPr>
          <p:cNvSpPr>
            <a:spLocks noGrp="1"/>
          </p:cNvSpPr>
          <p:nvPr>
            <p:ph type="sldNum" sz="quarter" idx="12"/>
          </p:nvPr>
        </p:nvSpPr>
        <p:spPr/>
        <p:txBody>
          <a:bodyPr/>
          <a:lstStyle/>
          <a:p>
            <a:fld id="{B8DACC02-A2BD-4578-8E03-6D891060A695}" type="slidenum">
              <a:rPr lang="en-US" smtClean="0"/>
              <a:t>20</a:t>
            </a:fld>
            <a:endParaRPr lang="en-US"/>
          </a:p>
        </p:txBody>
      </p:sp>
      <p:pic>
        <p:nvPicPr>
          <p:cNvPr id="1026" name="Picture 2" descr="Responsive/adaptive design with views | Views | Android Developers">
            <a:extLst>
              <a:ext uri="{FF2B5EF4-FFF2-40B4-BE49-F238E27FC236}">
                <a16:creationId xmlns:a16="http://schemas.microsoft.com/office/drawing/2014/main" id="{424A8F40-3EC8-642C-196B-6B8E87400B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8090" y="0"/>
            <a:ext cx="10510683" cy="7011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59062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551630" y="935101"/>
            <a:ext cx="11360150" cy="394980"/>
          </a:xfrm>
          <a:prstGeom prst="rect">
            <a:avLst/>
          </a:prstGeom>
        </p:spPr>
        <p:txBody>
          <a:bodyPr spcFirstLastPara="1" vert="horz" wrap="square" lIns="0" tIns="12700" rIns="0" bIns="0" rtlCol="0" anchor="t" anchorCtr="0">
            <a:spAutoFit/>
          </a:bodyPr>
          <a:lstStyle/>
          <a:p>
            <a:pPr marL="12700">
              <a:spcBef>
                <a:spcPts val="100"/>
              </a:spcBef>
            </a:pPr>
            <a:r>
              <a:rPr sz="2400" b="1" dirty="0"/>
              <a:t>Sprial Model </a:t>
            </a:r>
            <a:r>
              <a:rPr sz="2400" b="1" spc="-50" dirty="0"/>
              <a:t>:</a:t>
            </a:r>
          </a:p>
        </p:txBody>
      </p:sp>
      <p:sp>
        <p:nvSpPr>
          <p:cNvPr id="3" name="object 3"/>
          <p:cNvSpPr txBox="1"/>
          <p:nvPr/>
        </p:nvSpPr>
        <p:spPr>
          <a:xfrm>
            <a:off x="551631" y="1877411"/>
            <a:ext cx="6763570" cy="4117153"/>
          </a:xfrm>
          <a:prstGeom prst="rect">
            <a:avLst/>
          </a:prstGeom>
        </p:spPr>
        <p:txBody>
          <a:bodyPr vert="horz" wrap="square" lIns="0" tIns="13335" rIns="0" bIns="0" rtlCol="0">
            <a:spAutoFit/>
          </a:bodyPr>
          <a:lstStyle/>
          <a:p>
            <a:pPr marL="355600" marR="5080" indent="-342900">
              <a:spcBef>
                <a:spcPts val="105"/>
              </a:spcBef>
              <a:buChar char="•"/>
              <a:tabLst>
                <a:tab pos="355600" algn="l"/>
              </a:tabLst>
            </a:pPr>
            <a:r>
              <a:rPr sz="2000" dirty="0">
                <a:latin typeface="Arial MT"/>
                <a:cs typeface="Arial MT"/>
              </a:rPr>
              <a:t>This</a:t>
            </a:r>
            <a:r>
              <a:rPr sz="2000" spc="-25" dirty="0">
                <a:latin typeface="Arial MT"/>
                <a:cs typeface="Arial MT"/>
              </a:rPr>
              <a:t> </a:t>
            </a:r>
            <a:r>
              <a:rPr sz="2000" dirty="0">
                <a:latin typeface="Arial MT"/>
                <a:cs typeface="Arial MT"/>
              </a:rPr>
              <a:t>Spiral</a:t>
            </a:r>
            <a:r>
              <a:rPr sz="2000" spc="-20" dirty="0">
                <a:latin typeface="Arial MT"/>
                <a:cs typeface="Arial MT"/>
              </a:rPr>
              <a:t> </a:t>
            </a:r>
            <a:r>
              <a:rPr sz="2000" dirty="0">
                <a:latin typeface="Arial MT"/>
                <a:cs typeface="Arial MT"/>
              </a:rPr>
              <a:t>model</a:t>
            </a:r>
            <a:r>
              <a:rPr sz="2000" spc="-20" dirty="0">
                <a:latin typeface="Arial MT"/>
                <a:cs typeface="Arial MT"/>
              </a:rPr>
              <a:t> </a:t>
            </a:r>
            <a:r>
              <a:rPr sz="2000" dirty="0">
                <a:latin typeface="Arial MT"/>
                <a:cs typeface="Arial MT"/>
              </a:rPr>
              <a:t>is</a:t>
            </a:r>
            <a:r>
              <a:rPr sz="2000" spc="-20" dirty="0">
                <a:latin typeface="Arial MT"/>
                <a:cs typeface="Arial MT"/>
              </a:rPr>
              <a:t> </a:t>
            </a:r>
            <a:r>
              <a:rPr sz="2000" dirty="0">
                <a:latin typeface="Arial MT"/>
                <a:cs typeface="Arial MT"/>
              </a:rPr>
              <a:t>a</a:t>
            </a:r>
            <a:r>
              <a:rPr sz="2000" spc="-20" dirty="0">
                <a:latin typeface="Arial MT"/>
                <a:cs typeface="Arial MT"/>
              </a:rPr>
              <a:t> </a:t>
            </a:r>
            <a:r>
              <a:rPr sz="2000" dirty="0">
                <a:latin typeface="Arial MT"/>
                <a:cs typeface="Arial MT"/>
              </a:rPr>
              <a:t>combination</a:t>
            </a:r>
            <a:r>
              <a:rPr sz="2000" spc="-45" dirty="0">
                <a:latin typeface="Arial MT"/>
                <a:cs typeface="Arial MT"/>
              </a:rPr>
              <a:t> </a:t>
            </a:r>
            <a:r>
              <a:rPr sz="2000" spc="-25" dirty="0">
                <a:latin typeface="Arial MT"/>
                <a:cs typeface="Arial MT"/>
              </a:rPr>
              <a:t>of </a:t>
            </a:r>
            <a:r>
              <a:rPr sz="2000" dirty="0">
                <a:latin typeface="Arial MT"/>
                <a:cs typeface="Arial MT"/>
              </a:rPr>
              <a:t>iterative</a:t>
            </a:r>
            <a:r>
              <a:rPr sz="2000" spc="-40" dirty="0">
                <a:latin typeface="Arial MT"/>
                <a:cs typeface="Arial MT"/>
              </a:rPr>
              <a:t> </a:t>
            </a:r>
            <a:r>
              <a:rPr sz="2000" dirty="0">
                <a:latin typeface="Arial MT"/>
                <a:cs typeface="Arial MT"/>
              </a:rPr>
              <a:t>development</a:t>
            </a:r>
            <a:r>
              <a:rPr sz="2000" spc="-40" dirty="0">
                <a:latin typeface="Arial MT"/>
                <a:cs typeface="Arial MT"/>
              </a:rPr>
              <a:t> </a:t>
            </a:r>
            <a:r>
              <a:rPr sz="2000" dirty="0">
                <a:latin typeface="Arial MT"/>
                <a:cs typeface="Arial MT"/>
              </a:rPr>
              <a:t>process</a:t>
            </a:r>
            <a:r>
              <a:rPr sz="2000" spc="-50" dirty="0">
                <a:latin typeface="Arial MT"/>
                <a:cs typeface="Arial MT"/>
              </a:rPr>
              <a:t> </a:t>
            </a:r>
            <a:r>
              <a:rPr sz="2000" dirty="0">
                <a:latin typeface="Arial MT"/>
                <a:cs typeface="Arial MT"/>
              </a:rPr>
              <a:t>model</a:t>
            </a:r>
            <a:r>
              <a:rPr sz="2000" spc="-20" dirty="0">
                <a:latin typeface="Arial MT"/>
                <a:cs typeface="Arial MT"/>
              </a:rPr>
              <a:t> </a:t>
            </a:r>
            <a:r>
              <a:rPr sz="2000" spc="-25" dirty="0">
                <a:latin typeface="Arial MT"/>
                <a:cs typeface="Arial MT"/>
              </a:rPr>
              <a:t>and </a:t>
            </a:r>
            <a:r>
              <a:rPr sz="2000" dirty="0">
                <a:latin typeface="Arial MT"/>
                <a:cs typeface="Arial MT"/>
              </a:rPr>
              <a:t>sequential</a:t>
            </a:r>
            <a:r>
              <a:rPr sz="2000" spc="-45" dirty="0">
                <a:latin typeface="Arial MT"/>
                <a:cs typeface="Arial MT"/>
              </a:rPr>
              <a:t> </a:t>
            </a:r>
            <a:r>
              <a:rPr sz="2000" dirty="0">
                <a:latin typeface="Arial MT"/>
                <a:cs typeface="Arial MT"/>
              </a:rPr>
              <a:t>linear</a:t>
            </a:r>
            <a:r>
              <a:rPr sz="2000" spc="-40" dirty="0">
                <a:latin typeface="Arial MT"/>
                <a:cs typeface="Arial MT"/>
              </a:rPr>
              <a:t> </a:t>
            </a:r>
            <a:r>
              <a:rPr sz="2000" dirty="0">
                <a:latin typeface="Arial MT"/>
                <a:cs typeface="Arial MT"/>
              </a:rPr>
              <a:t>development</a:t>
            </a:r>
            <a:r>
              <a:rPr sz="2000" spc="-75" dirty="0">
                <a:latin typeface="Arial MT"/>
                <a:cs typeface="Arial MT"/>
              </a:rPr>
              <a:t> </a:t>
            </a:r>
            <a:r>
              <a:rPr sz="2000" dirty="0">
                <a:latin typeface="Arial MT"/>
                <a:cs typeface="Arial MT"/>
              </a:rPr>
              <a:t>model</a:t>
            </a:r>
            <a:r>
              <a:rPr sz="2000" spc="-45" dirty="0">
                <a:latin typeface="Arial MT"/>
                <a:cs typeface="Arial MT"/>
              </a:rPr>
              <a:t> </a:t>
            </a:r>
            <a:r>
              <a:rPr sz="2000" spc="-20" dirty="0">
                <a:latin typeface="Arial MT"/>
                <a:cs typeface="Arial MT"/>
              </a:rPr>
              <a:t>i.e. </a:t>
            </a:r>
            <a:r>
              <a:rPr sz="2000" dirty="0">
                <a:latin typeface="Arial MT"/>
                <a:cs typeface="Arial MT"/>
              </a:rPr>
              <a:t>the</a:t>
            </a:r>
            <a:r>
              <a:rPr sz="2000" spc="-20" dirty="0">
                <a:latin typeface="Arial MT"/>
                <a:cs typeface="Arial MT"/>
              </a:rPr>
              <a:t> </a:t>
            </a:r>
            <a:r>
              <a:rPr sz="2000" dirty="0">
                <a:latin typeface="Arial MT"/>
                <a:cs typeface="Arial MT"/>
              </a:rPr>
              <a:t>waterfall</a:t>
            </a:r>
            <a:r>
              <a:rPr sz="2000" spc="-40" dirty="0">
                <a:latin typeface="Arial MT"/>
                <a:cs typeface="Arial MT"/>
              </a:rPr>
              <a:t> </a:t>
            </a:r>
            <a:r>
              <a:rPr sz="2000" dirty="0">
                <a:latin typeface="Arial MT"/>
                <a:cs typeface="Arial MT"/>
              </a:rPr>
              <a:t>model</a:t>
            </a:r>
            <a:r>
              <a:rPr sz="2000" spc="-20" dirty="0">
                <a:latin typeface="Arial MT"/>
                <a:cs typeface="Arial MT"/>
              </a:rPr>
              <a:t> </a:t>
            </a:r>
            <a:r>
              <a:rPr sz="2000" dirty="0">
                <a:latin typeface="Arial MT"/>
                <a:cs typeface="Arial MT"/>
              </a:rPr>
              <a:t>with</a:t>
            </a:r>
            <a:r>
              <a:rPr sz="2000" spc="-15" dirty="0">
                <a:latin typeface="Arial MT"/>
                <a:cs typeface="Arial MT"/>
              </a:rPr>
              <a:t> </a:t>
            </a:r>
            <a:r>
              <a:rPr sz="2000" dirty="0">
                <a:latin typeface="Arial MT"/>
                <a:cs typeface="Arial MT"/>
              </a:rPr>
              <a:t>a</a:t>
            </a:r>
            <a:r>
              <a:rPr sz="2000" spc="-20" dirty="0">
                <a:latin typeface="Arial MT"/>
                <a:cs typeface="Arial MT"/>
              </a:rPr>
              <a:t> </a:t>
            </a:r>
            <a:r>
              <a:rPr sz="2000" dirty="0">
                <a:latin typeface="Arial MT"/>
                <a:cs typeface="Arial MT"/>
              </a:rPr>
              <a:t>very</a:t>
            </a:r>
            <a:r>
              <a:rPr sz="2000" spc="-30" dirty="0">
                <a:latin typeface="Arial MT"/>
                <a:cs typeface="Arial MT"/>
              </a:rPr>
              <a:t> </a:t>
            </a:r>
            <a:r>
              <a:rPr sz="2000" spc="-20" dirty="0">
                <a:latin typeface="Arial MT"/>
                <a:cs typeface="Arial MT"/>
              </a:rPr>
              <a:t>high </a:t>
            </a:r>
            <a:r>
              <a:rPr sz="2000" dirty="0">
                <a:latin typeface="Arial MT"/>
                <a:cs typeface="Arial MT"/>
              </a:rPr>
              <a:t>emphasis</a:t>
            </a:r>
            <a:r>
              <a:rPr sz="2000" spc="-25" dirty="0">
                <a:latin typeface="Arial MT"/>
                <a:cs typeface="Arial MT"/>
              </a:rPr>
              <a:t> </a:t>
            </a:r>
            <a:r>
              <a:rPr sz="2000" dirty="0">
                <a:latin typeface="Arial MT"/>
                <a:cs typeface="Arial MT"/>
              </a:rPr>
              <a:t>on</a:t>
            </a:r>
            <a:r>
              <a:rPr sz="2000" spc="-30" dirty="0">
                <a:latin typeface="Arial MT"/>
                <a:cs typeface="Arial MT"/>
              </a:rPr>
              <a:t> </a:t>
            </a:r>
            <a:r>
              <a:rPr sz="2000" dirty="0">
                <a:latin typeface="Arial MT"/>
                <a:cs typeface="Arial MT"/>
              </a:rPr>
              <a:t>risk</a:t>
            </a:r>
            <a:r>
              <a:rPr sz="2000" spc="-10" dirty="0">
                <a:latin typeface="Arial MT"/>
                <a:cs typeface="Arial MT"/>
              </a:rPr>
              <a:t> analysis.</a:t>
            </a:r>
            <a:endParaRPr sz="2000" dirty="0">
              <a:latin typeface="Arial MT"/>
              <a:cs typeface="Arial MT"/>
            </a:endParaRPr>
          </a:p>
          <a:p>
            <a:pPr marL="355600" marR="1290955" indent="-342900">
              <a:spcBef>
                <a:spcPts val="770"/>
              </a:spcBef>
              <a:buChar char="•"/>
              <a:tabLst>
                <a:tab pos="355600" algn="l"/>
              </a:tabLst>
            </a:pPr>
            <a:endParaRPr lang="en-US" sz="2000" dirty="0">
              <a:latin typeface="Arial MT"/>
              <a:cs typeface="Arial MT"/>
            </a:endParaRPr>
          </a:p>
          <a:p>
            <a:pPr marL="355600" marR="1290955" indent="-342900">
              <a:spcBef>
                <a:spcPts val="770"/>
              </a:spcBef>
              <a:buChar char="•"/>
              <a:tabLst>
                <a:tab pos="355600" algn="l"/>
              </a:tabLst>
            </a:pPr>
            <a:r>
              <a:rPr sz="2000" dirty="0">
                <a:latin typeface="Arial MT"/>
                <a:cs typeface="Arial MT"/>
              </a:rPr>
              <a:t>The</a:t>
            </a:r>
            <a:r>
              <a:rPr sz="2000" spc="-50" dirty="0">
                <a:latin typeface="Arial MT"/>
                <a:cs typeface="Arial MT"/>
              </a:rPr>
              <a:t> </a:t>
            </a:r>
            <a:r>
              <a:rPr sz="2000" dirty="0">
                <a:latin typeface="Arial MT"/>
                <a:cs typeface="Arial MT"/>
              </a:rPr>
              <a:t>spiral</a:t>
            </a:r>
            <a:r>
              <a:rPr sz="2000" spc="-20" dirty="0">
                <a:latin typeface="Arial MT"/>
                <a:cs typeface="Arial MT"/>
              </a:rPr>
              <a:t> </a:t>
            </a:r>
            <a:r>
              <a:rPr sz="2000" dirty="0">
                <a:latin typeface="Arial MT"/>
                <a:cs typeface="Arial MT"/>
              </a:rPr>
              <a:t>model</a:t>
            </a:r>
            <a:r>
              <a:rPr sz="2000" spc="-30" dirty="0">
                <a:latin typeface="Arial MT"/>
                <a:cs typeface="Arial MT"/>
              </a:rPr>
              <a:t> </a:t>
            </a:r>
            <a:r>
              <a:rPr sz="2000" dirty="0">
                <a:latin typeface="Arial MT"/>
                <a:cs typeface="Arial MT"/>
              </a:rPr>
              <a:t>has</a:t>
            </a:r>
            <a:r>
              <a:rPr sz="2000" spc="-20" dirty="0">
                <a:latin typeface="Arial MT"/>
                <a:cs typeface="Arial MT"/>
              </a:rPr>
              <a:t> </a:t>
            </a:r>
            <a:r>
              <a:rPr sz="2000" dirty="0">
                <a:latin typeface="Arial MT"/>
                <a:cs typeface="Arial MT"/>
              </a:rPr>
              <a:t>four</a:t>
            </a:r>
            <a:r>
              <a:rPr sz="2000" spc="-35" dirty="0">
                <a:latin typeface="Arial MT"/>
                <a:cs typeface="Arial MT"/>
              </a:rPr>
              <a:t> </a:t>
            </a:r>
            <a:r>
              <a:rPr sz="2000" spc="-10" dirty="0">
                <a:latin typeface="Arial MT"/>
                <a:cs typeface="Arial MT"/>
              </a:rPr>
              <a:t>phases: </a:t>
            </a:r>
            <a:r>
              <a:rPr sz="2000" dirty="0">
                <a:latin typeface="Arial MT"/>
                <a:cs typeface="Arial MT"/>
              </a:rPr>
              <a:t>Planning,</a:t>
            </a:r>
            <a:r>
              <a:rPr sz="2000" spc="-15" dirty="0">
                <a:latin typeface="Arial MT"/>
                <a:cs typeface="Arial MT"/>
              </a:rPr>
              <a:t> </a:t>
            </a:r>
            <a:r>
              <a:rPr sz="2000" dirty="0">
                <a:latin typeface="Arial MT"/>
                <a:cs typeface="Arial MT"/>
              </a:rPr>
              <a:t>Design,</a:t>
            </a:r>
            <a:r>
              <a:rPr sz="2000" spc="-30" dirty="0">
                <a:latin typeface="Arial MT"/>
                <a:cs typeface="Arial MT"/>
              </a:rPr>
              <a:t> </a:t>
            </a:r>
            <a:r>
              <a:rPr sz="2000" dirty="0">
                <a:latin typeface="Arial MT"/>
                <a:cs typeface="Arial MT"/>
              </a:rPr>
              <a:t>Construct</a:t>
            </a:r>
            <a:r>
              <a:rPr sz="2000" spc="-30" dirty="0">
                <a:latin typeface="Arial MT"/>
                <a:cs typeface="Arial MT"/>
              </a:rPr>
              <a:t> </a:t>
            </a:r>
            <a:r>
              <a:rPr sz="2000" spc="-25" dirty="0">
                <a:latin typeface="Arial MT"/>
                <a:cs typeface="Arial MT"/>
              </a:rPr>
              <a:t>and </a:t>
            </a:r>
            <a:r>
              <a:rPr sz="2000" spc="-10" dirty="0">
                <a:latin typeface="Arial MT"/>
                <a:cs typeface="Arial MT"/>
              </a:rPr>
              <a:t>Evaluation.</a:t>
            </a:r>
            <a:endParaRPr lang="en-IN" sz="2000" spc="-10" dirty="0">
              <a:latin typeface="Arial MT"/>
              <a:cs typeface="Arial MT"/>
            </a:endParaRPr>
          </a:p>
          <a:p>
            <a:pPr marL="355600" marR="1290955" indent="-342900">
              <a:spcBef>
                <a:spcPts val="770"/>
              </a:spcBef>
              <a:buChar char="•"/>
              <a:tabLst>
                <a:tab pos="355600" algn="l"/>
              </a:tabLst>
            </a:pPr>
            <a:endParaRPr lang="en-IN" sz="2000" spc="-10" dirty="0">
              <a:latin typeface="Arial MT"/>
              <a:cs typeface="Arial MT"/>
            </a:endParaRPr>
          </a:p>
          <a:p>
            <a:pPr marL="355600" marR="1290955" indent="-342900">
              <a:spcBef>
                <a:spcPts val="770"/>
              </a:spcBef>
              <a:buChar char="•"/>
              <a:tabLst>
                <a:tab pos="355600" algn="l"/>
              </a:tabLst>
            </a:pPr>
            <a:r>
              <a:rPr lang="en-US" sz="2000" dirty="0"/>
              <a:t>Every time you go around the circle, you build a more complete version of the software, but only after you have carefully analyzed what could go wrong.</a:t>
            </a:r>
            <a:endParaRPr sz="2000" dirty="0">
              <a:latin typeface="Arial MT"/>
              <a:cs typeface="Arial MT"/>
            </a:endParaRPr>
          </a:p>
        </p:txBody>
      </p:sp>
      <p:pic>
        <p:nvPicPr>
          <p:cNvPr id="4" name="Picture 3">
            <a:extLst>
              <a:ext uri="{FF2B5EF4-FFF2-40B4-BE49-F238E27FC236}">
                <a16:creationId xmlns:a16="http://schemas.microsoft.com/office/drawing/2014/main" id="{F9695961-F32E-1DA7-9A35-1C9BDA8AA367}"/>
              </a:ext>
            </a:extLst>
          </p:cNvPr>
          <p:cNvPicPr>
            <a:picLocks noChangeAspect="1"/>
          </p:cNvPicPr>
          <p:nvPr/>
        </p:nvPicPr>
        <p:blipFill>
          <a:blip r:embed="rId2"/>
          <a:stretch>
            <a:fillRect/>
          </a:stretch>
        </p:blipFill>
        <p:spPr>
          <a:xfrm>
            <a:off x="6420465" y="3067665"/>
            <a:ext cx="5491315" cy="3088865"/>
          </a:xfrm>
          <a:prstGeom prst="rect">
            <a:avLst/>
          </a:prstGeom>
        </p:spPr>
      </p:pic>
    </p:spTree>
    <p:extLst>
      <p:ext uri="{BB962C8B-B14F-4D97-AF65-F5344CB8AC3E}">
        <p14:creationId xmlns:p14="http://schemas.microsoft.com/office/powerpoint/2010/main" val="27598053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565378" y="519196"/>
            <a:ext cx="11360150" cy="394980"/>
          </a:xfrm>
          <a:prstGeom prst="rect">
            <a:avLst/>
          </a:prstGeom>
        </p:spPr>
        <p:txBody>
          <a:bodyPr spcFirstLastPara="1" vert="horz" wrap="square" lIns="0" tIns="12700" rIns="0" bIns="0" rtlCol="0" anchor="t" anchorCtr="0">
            <a:spAutoFit/>
          </a:bodyPr>
          <a:lstStyle/>
          <a:p>
            <a:pPr marL="12700">
              <a:spcBef>
                <a:spcPts val="100"/>
              </a:spcBef>
            </a:pPr>
            <a:r>
              <a:rPr sz="2400" b="1" dirty="0"/>
              <a:t>Quadrants</a:t>
            </a:r>
            <a:r>
              <a:rPr sz="2400" b="1" spc="-10" dirty="0"/>
              <a:t> </a:t>
            </a:r>
            <a:r>
              <a:rPr sz="2400" b="1" dirty="0"/>
              <a:t>in</a:t>
            </a:r>
            <a:r>
              <a:rPr sz="2400" b="1" spc="-10" dirty="0"/>
              <a:t> </a:t>
            </a:r>
            <a:r>
              <a:rPr sz="2400" b="1" dirty="0"/>
              <a:t>sprial</a:t>
            </a:r>
            <a:r>
              <a:rPr sz="2400" b="1" spc="-10" dirty="0"/>
              <a:t> </a:t>
            </a:r>
            <a:r>
              <a:rPr sz="2400" b="1" dirty="0"/>
              <a:t>model</a:t>
            </a:r>
            <a:r>
              <a:rPr sz="2400" b="1" spc="-10" dirty="0"/>
              <a:t> </a:t>
            </a:r>
            <a:r>
              <a:rPr sz="2400" b="1" spc="-50" dirty="0"/>
              <a:t>:</a:t>
            </a:r>
          </a:p>
        </p:txBody>
      </p:sp>
      <p:pic>
        <p:nvPicPr>
          <p:cNvPr id="3" name="object 3"/>
          <p:cNvPicPr/>
          <p:nvPr/>
        </p:nvPicPr>
        <p:blipFill>
          <a:blip r:embed="rId2" cstate="print"/>
          <a:stretch>
            <a:fillRect/>
          </a:stretch>
        </p:blipFill>
        <p:spPr>
          <a:xfrm>
            <a:off x="580545" y="1175003"/>
            <a:ext cx="5366004" cy="4953000"/>
          </a:xfrm>
          <a:prstGeom prst="rect">
            <a:avLst/>
          </a:prstGeom>
        </p:spPr>
      </p:pic>
      <p:sp>
        <p:nvSpPr>
          <p:cNvPr id="4" name="object 3">
            <a:extLst>
              <a:ext uri="{FF2B5EF4-FFF2-40B4-BE49-F238E27FC236}">
                <a16:creationId xmlns:a16="http://schemas.microsoft.com/office/drawing/2014/main" id="{DDFB4BA7-ABB8-0A03-E871-F8FEC3D7F117}"/>
              </a:ext>
            </a:extLst>
          </p:cNvPr>
          <p:cNvSpPr txBox="1"/>
          <p:nvPr/>
        </p:nvSpPr>
        <p:spPr>
          <a:xfrm>
            <a:off x="6245453" y="1017463"/>
            <a:ext cx="5680075" cy="5553443"/>
          </a:xfrm>
          <a:prstGeom prst="rect">
            <a:avLst/>
          </a:prstGeom>
        </p:spPr>
        <p:txBody>
          <a:bodyPr vert="horz" wrap="square" lIns="0" tIns="13335" rIns="0" bIns="0" rtlCol="0">
            <a:spAutoFit/>
          </a:bodyPr>
          <a:lstStyle/>
          <a:p>
            <a:pPr lvl="0" eaLnBrk="0" fontAlgn="base" hangingPunct="0">
              <a:spcBef>
                <a:spcPct val="0"/>
              </a:spcBef>
              <a:spcAft>
                <a:spcPct val="0"/>
              </a:spcAft>
            </a:pPr>
            <a:endParaRPr lang="en-US" altLang="en-US" dirty="0">
              <a:latin typeface="Arial" panose="020B0604020202020204" pitchFamily="34" charset="0"/>
            </a:endParaRPr>
          </a:p>
          <a:p>
            <a:pPr lvl="0" eaLnBrk="0" fontAlgn="base" hangingPunct="0">
              <a:spcBef>
                <a:spcPct val="0"/>
              </a:spcBef>
              <a:spcAft>
                <a:spcPct val="0"/>
              </a:spcAft>
              <a:buFontTx/>
              <a:buAutoNum type="arabicPeriod"/>
            </a:pPr>
            <a:r>
              <a:rPr lang="en-US" altLang="en-US" b="1" dirty="0">
                <a:latin typeface="Google Sans Text"/>
              </a:rPr>
              <a:t>Objective Setting (Top-Left):</a:t>
            </a:r>
            <a:r>
              <a:rPr lang="en-US" altLang="en-US" dirty="0">
                <a:latin typeface="Google Sans Text"/>
              </a:rPr>
              <a:t> You define the goals for this specific loop. What features are we adding? What are the constraints (budget, time)?</a:t>
            </a:r>
          </a:p>
          <a:p>
            <a:pPr lvl="0" eaLnBrk="0" fontAlgn="base" hangingPunct="0">
              <a:spcBef>
                <a:spcPct val="0"/>
              </a:spcBef>
              <a:spcAft>
                <a:spcPct val="0"/>
              </a:spcAft>
              <a:buFontTx/>
              <a:buAutoNum type="arabicPeriod"/>
            </a:pPr>
            <a:endParaRPr lang="en-US" altLang="en-US" dirty="0">
              <a:latin typeface="Google Sans Text"/>
            </a:endParaRPr>
          </a:p>
          <a:p>
            <a:pPr lvl="0" eaLnBrk="0" fontAlgn="base" hangingPunct="0">
              <a:spcBef>
                <a:spcPct val="0"/>
              </a:spcBef>
              <a:spcAft>
                <a:spcPct val="0"/>
              </a:spcAft>
              <a:buFontTx/>
              <a:buAutoNum type="arabicPeriod" startAt="2"/>
            </a:pPr>
            <a:r>
              <a:rPr lang="en-US" altLang="en-US" b="1" dirty="0">
                <a:latin typeface="Google Sans Text"/>
              </a:rPr>
              <a:t>Risk Assessment and Reduction (Top-Right):</a:t>
            </a:r>
            <a:r>
              <a:rPr lang="en-US" altLang="en-US" dirty="0">
                <a:latin typeface="Google Sans Text"/>
              </a:rPr>
              <a:t> This is the most unique part of the model. You identify everything that could fail (technical bugs, high costs, user rejection) and create prototypes to "prove" the concept before moving forward.</a:t>
            </a:r>
          </a:p>
          <a:p>
            <a:pPr lvl="0" eaLnBrk="0" fontAlgn="base" hangingPunct="0">
              <a:spcBef>
                <a:spcPct val="0"/>
              </a:spcBef>
              <a:spcAft>
                <a:spcPct val="0"/>
              </a:spcAft>
              <a:buFontTx/>
              <a:buAutoNum type="arabicPeriod" startAt="2"/>
            </a:pPr>
            <a:endParaRPr lang="en-US" altLang="en-US" dirty="0">
              <a:latin typeface="Google Sans Text"/>
            </a:endParaRPr>
          </a:p>
          <a:p>
            <a:pPr lvl="0" eaLnBrk="0" fontAlgn="base" hangingPunct="0">
              <a:spcBef>
                <a:spcPct val="0"/>
              </a:spcBef>
              <a:spcAft>
                <a:spcPct val="0"/>
              </a:spcAft>
              <a:buFontTx/>
              <a:buAutoNum type="arabicPeriod" startAt="3"/>
            </a:pPr>
            <a:r>
              <a:rPr lang="en-US" altLang="en-US" b="1" dirty="0">
                <a:latin typeface="Google Sans Text"/>
              </a:rPr>
              <a:t>Development and Validation (Bottom-Right):</a:t>
            </a:r>
            <a:r>
              <a:rPr lang="en-US" altLang="en-US" dirty="0">
                <a:latin typeface="Google Sans Text"/>
              </a:rPr>
              <a:t> You actually write the code. Depending on where you are in the project, you might use different methods here—for example, using </a:t>
            </a:r>
            <a:r>
              <a:rPr lang="en-US" altLang="en-US" b="1" dirty="0">
                <a:latin typeface="Google Sans Text"/>
              </a:rPr>
              <a:t>Object-Oriented Design (OOD)</a:t>
            </a:r>
            <a:r>
              <a:rPr lang="en-US" altLang="en-US" dirty="0">
                <a:latin typeface="Google Sans Text"/>
              </a:rPr>
              <a:t> to structure the code or </a:t>
            </a:r>
            <a:r>
              <a:rPr lang="en-US" altLang="en-US" b="1" dirty="0">
                <a:latin typeface="Google Sans Text"/>
              </a:rPr>
              <a:t>Implementation</a:t>
            </a:r>
            <a:r>
              <a:rPr lang="en-US" altLang="en-US" dirty="0">
                <a:latin typeface="Google Sans Text"/>
              </a:rPr>
              <a:t> to realize the program.</a:t>
            </a:r>
          </a:p>
          <a:p>
            <a:pPr lvl="0" eaLnBrk="0" fontAlgn="base" hangingPunct="0">
              <a:spcBef>
                <a:spcPct val="0"/>
              </a:spcBef>
              <a:spcAft>
                <a:spcPct val="0"/>
              </a:spcAft>
              <a:buFontTx/>
              <a:buAutoNum type="arabicPeriod" startAt="3"/>
            </a:pPr>
            <a:endParaRPr lang="en-US" altLang="en-US" dirty="0">
              <a:latin typeface="Google Sans Text"/>
            </a:endParaRPr>
          </a:p>
          <a:p>
            <a:pPr lvl="0" eaLnBrk="0" fontAlgn="base" hangingPunct="0">
              <a:spcBef>
                <a:spcPct val="0"/>
              </a:spcBef>
              <a:spcAft>
                <a:spcPct val="0"/>
              </a:spcAft>
              <a:buFontTx/>
              <a:buAutoNum type="arabicPeriod" startAt="4"/>
            </a:pPr>
            <a:r>
              <a:rPr lang="en-US" altLang="en-US" b="1" dirty="0">
                <a:latin typeface="Google Sans Text"/>
              </a:rPr>
              <a:t>Planning (Bottom-Left):</a:t>
            </a:r>
            <a:r>
              <a:rPr lang="en-US" altLang="en-US" dirty="0">
                <a:latin typeface="Google Sans Text"/>
              </a:rPr>
              <a:t> You review the progress with the client and plan the next loop of the spiral.</a:t>
            </a:r>
          </a:p>
          <a:p>
            <a:pPr lvl="0" eaLnBrk="0" fontAlgn="base" hangingPunct="0">
              <a:spcBef>
                <a:spcPct val="0"/>
              </a:spcBef>
              <a:spcAft>
                <a:spcPct val="0"/>
              </a:spcAft>
            </a:pPr>
            <a:endParaRPr lang="en-US" altLang="en-US" dirty="0">
              <a:latin typeface="Arial" panose="020B0604020202020204" pitchFamily="34" charset="0"/>
            </a:endParaRPr>
          </a:p>
        </p:txBody>
      </p:sp>
    </p:spTree>
    <p:extLst>
      <p:ext uri="{BB962C8B-B14F-4D97-AF65-F5344CB8AC3E}">
        <p14:creationId xmlns:p14="http://schemas.microsoft.com/office/powerpoint/2010/main" val="22256581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6E8C9-DBC7-3E31-DA4F-678AFBCF55D1}"/>
              </a:ext>
            </a:extLst>
          </p:cNvPr>
          <p:cNvSpPr>
            <a:spLocks noGrp="1"/>
          </p:cNvSpPr>
          <p:nvPr>
            <p:ph type="title"/>
          </p:nvPr>
        </p:nvSpPr>
        <p:spPr/>
        <p:txBody>
          <a:bodyPr>
            <a:normAutofit fontScale="90000"/>
          </a:bodyPr>
          <a:lstStyle/>
          <a:p>
            <a:r>
              <a:rPr lang="en-US" b="1" dirty="0"/>
              <a:t>Why Use the Spiral Model? </a:t>
            </a:r>
            <a:br>
              <a:rPr lang="en-US" b="1" dirty="0"/>
            </a:br>
            <a:endParaRPr lang="en-IN" dirty="0"/>
          </a:p>
        </p:txBody>
      </p:sp>
      <p:sp>
        <p:nvSpPr>
          <p:cNvPr id="3" name="Text Placeholder 2">
            <a:extLst>
              <a:ext uri="{FF2B5EF4-FFF2-40B4-BE49-F238E27FC236}">
                <a16:creationId xmlns:a16="http://schemas.microsoft.com/office/drawing/2014/main" id="{F029F9C9-39F0-D884-F941-CD9542B59D26}"/>
              </a:ext>
            </a:extLst>
          </p:cNvPr>
          <p:cNvSpPr>
            <a:spLocks noGrp="1"/>
          </p:cNvSpPr>
          <p:nvPr>
            <p:ph type="body" idx="1"/>
          </p:nvPr>
        </p:nvSpPr>
        <p:spPr/>
        <p:txBody>
          <a:bodyPr/>
          <a:lstStyle/>
          <a:p>
            <a:r>
              <a:rPr lang="en-US" dirty="0">
                <a:solidFill>
                  <a:schemeClr val="tx1"/>
                </a:solidFill>
              </a:rPr>
              <a:t>The Spiral model is essentially a series of </a:t>
            </a:r>
            <a:r>
              <a:rPr lang="en-US" b="1" dirty="0">
                <a:solidFill>
                  <a:schemeClr val="tx1"/>
                </a:solidFill>
              </a:rPr>
              <a:t>Waterfalls</a:t>
            </a:r>
            <a:r>
              <a:rPr lang="en-US" dirty="0">
                <a:solidFill>
                  <a:schemeClr val="tx1"/>
                </a:solidFill>
              </a:rPr>
              <a:t> or </a:t>
            </a:r>
            <a:r>
              <a:rPr lang="en-US" b="1" dirty="0">
                <a:solidFill>
                  <a:schemeClr val="tx1"/>
                </a:solidFill>
              </a:rPr>
              <a:t>RAD</a:t>
            </a:r>
            <a:r>
              <a:rPr lang="en-US" dirty="0">
                <a:solidFill>
                  <a:schemeClr val="tx1"/>
                </a:solidFill>
              </a:rPr>
              <a:t> cycles joined together by heavy risk analysis.</a:t>
            </a:r>
          </a:p>
          <a:p>
            <a:r>
              <a:rPr lang="en-US" b="1" dirty="0">
                <a:solidFill>
                  <a:schemeClr val="tx1"/>
                </a:solidFill>
              </a:rPr>
              <a:t>Real-Life Example:</a:t>
            </a:r>
            <a:r>
              <a:rPr lang="en-US" dirty="0">
                <a:solidFill>
                  <a:schemeClr val="tx1"/>
                </a:solidFill>
              </a:rPr>
              <a:t> Imagine NASA building software for a Mars Rover.</a:t>
            </a:r>
          </a:p>
          <a:p>
            <a:pPr lvl="1"/>
            <a:r>
              <a:rPr lang="en-US" b="1" dirty="0">
                <a:solidFill>
                  <a:schemeClr val="tx1"/>
                </a:solidFill>
              </a:rPr>
              <a:t>Loop 1:</a:t>
            </a:r>
            <a:r>
              <a:rPr lang="en-US" dirty="0">
                <a:solidFill>
                  <a:schemeClr val="tx1"/>
                </a:solidFill>
              </a:rPr>
              <a:t> Can the Rover move its wheels? (Build a prototype, test it).</a:t>
            </a:r>
          </a:p>
          <a:p>
            <a:pPr lvl="1"/>
            <a:r>
              <a:rPr lang="en-US" b="1" dirty="0">
                <a:solidFill>
                  <a:schemeClr val="tx1"/>
                </a:solidFill>
              </a:rPr>
              <a:t>Loop 2:</a:t>
            </a:r>
            <a:r>
              <a:rPr lang="en-US" dirty="0">
                <a:solidFill>
                  <a:schemeClr val="tx1"/>
                </a:solidFill>
              </a:rPr>
              <a:t> Can it survive a sandstorm? (Simulate risks, build more code).</a:t>
            </a:r>
          </a:p>
          <a:p>
            <a:pPr lvl="1"/>
            <a:r>
              <a:rPr lang="en-US" b="1" dirty="0">
                <a:solidFill>
                  <a:schemeClr val="tx1"/>
                </a:solidFill>
              </a:rPr>
              <a:t>Loop 3:</a:t>
            </a:r>
            <a:r>
              <a:rPr lang="en-US" dirty="0">
                <a:solidFill>
                  <a:schemeClr val="tx1"/>
                </a:solidFill>
              </a:rPr>
              <a:t> Can it send photos to Earth?</a:t>
            </a:r>
          </a:p>
          <a:p>
            <a:pPr lvl="1"/>
            <a:r>
              <a:rPr lang="en-US" dirty="0">
                <a:solidFill>
                  <a:schemeClr val="tx1"/>
                </a:solidFill>
              </a:rPr>
              <a:t>Each loop adds a layer of complexity only after the previous layer is proven safe.</a:t>
            </a:r>
          </a:p>
          <a:p>
            <a:endParaRPr lang="en-IN" dirty="0"/>
          </a:p>
        </p:txBody>
      </p:sp>
    </p:spTree>
    <p:extLst>
      <p:ext uri="{BB962C8B-B14F-4D97-AF65-F5344CB8AC3E}">
        <p14:creationId xmlns:p14="http://schemas.microsoft.com/office/powerpoint/2010/main" val="4191692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831850" y="921330"/>
            <a:ext cx="11360150" cy="333425"/>
          </a:xfrm>
          <a:prstGeom prst="rect">
            <a:avLst/>
          </a:prstGeom>
        </p:spPr>
        <p:txBody>
          <a:bodyPr spcFirstLastPara="1" vert="horz" wrap="square" lIns="0" tIns="12700" rIns="0" bIns="0" rtlCol="0" anchor="t" anchorCtr="0">
            <a:spAutoFit/>
          </a:bodyPr>
          <a:lstStyle/>
          <a:p>
            <a:pPr marL="12700">
              <a:spcBef>
                <a:spcPts val="100"/>
              </a:spcBef>
            </a:pPr>
            <a:r>
              <a:rPr sz="2000" b="1" dirty="0"/>
              <a:t>Advantages </a:t>
            </a:r>
            <a:r>
              <a:rPr sz="2000" b="1" spc="-50" dirty="0"/>
              <a:t>:</a:t>
            </a:r>
          </a:p>
        </p:txBody>
      </p:sp>
      <p:sp>
        <p:nvSpPr>
          <p:cNvPr id="3" name="object 3"/>
          <p:cNvSpPr txBox="1"/>
          <p:nvPr/>
        </p:nvSpPr>
        <p:spPr>
          <a:xfrm>
            <a:off x="831850" y="1311686"/>
            <a:ext cx="10154675" cy="4624984"/>
          </a:xfrm>
          <a:prstGeom prst="rect">
            <a:avLst/>
          </a:prstGeom>
        </p:spPr>
        <p:txBody>
          <a:bodyPr vert="horz" wrap="square" lIns="0" tIns="109855" rIns="0" bIns="0" rtlCol="0">
            <a:spAutoFit/>
          </a:bodyPr>
          <a:lstStyle/>
          <a:p>
            <a:pPr marL="354965" indent="-342265">
              <a:spcBef>
                <a:spcPts val="865"/>
              </a:spcBef>
              <a:buChar char="•"/>
              <a:tabLst>
                <a:tab pos="354965" algn="l"/>
              </a:tabLst>
            </a:pPr>
            <a:r>
              <a:rPr sz="2000" dirty="0">
                <a:latin typeface="Arial MT"/>
                <a:cs typeface="Arial MT"/>
              </a:rPr>
              <a:t>Risk</a:t>
            </a:r>
            <a:r>
              <a:rPr sz="2000" spc="-45" dirty="0">
                <a:latin typeface="Arial MT"/>
                <a:cs typeface="Arial MT"/>
              </a:rPr>
              <a:t> </a:t>
            </a:r>
            <a:r>
              <a:rPr sz="2000" dirty="0">
                <a:latin typeface="Arial MT"/>
                <a:cs typeface="Arial MT"/>
              </a:rPr>
              <a:t>Identification</a:t>
            </a:r>
            <a:r>
              <a:rPr sz="2000" spc="-55" dirty="0">
                <a:latin typeface="Arial MT"/>
                <a:cs typeface="Arial MT"/>
              </a:rPr>
              <a:t> </a:t>
            </a:r>
            <a:r>
              <a:rPr sz="2000" dirty="0">
                <a:latin typeface="Arial MT"/>
                <a:cs typeface="Arial MT"/>
              </a:rPr>
              <a:t>at</a:t>
            </a:r>
            <a:r>
              <a:rPr sz="2000" spc="-40" dirty="0">
                <a:latin typeface="Arial MT"/>
                <a:cs typeface="Arial MT"/>
              </a:rPr>
              <a:t> </a:t>
            </a:r>
            <a:r>
              <a:rPr sz="2000" dirty="0">
                <a:latin typeface="Arial MT"/>
                <a:cs typeface="Arial MT"/>
              </a:rPr>
              <a:t>early</a:t>
            </a:r>
            <a:r>
              <a:rPr sz="2000" spc="-35" dirty="0">
                <a:latin typeface="Arial MT"/>
                <a:cs typeface="Arial MT"/>
              </a:rPr>
              <a:t> </a:t>
            </a:r>
            <a:r>
              <a:rPr sz="2000" spc="-10" dirty="0">
                <a:latin typeface="Arial MT"/>
                <a:cs typeface="Arial MT"/>
              </a:rPr>
              <a:t>stage.</a:t>
            </a:r>
            <a:endParaRPr sz="2000" dirty="0">
              <a:latin typeface="Arial MT"/>
              <a:cs typeface="Arial MT"/>
            </a:endParaRPr>
          </a:p>
          <a:p>
            <a:pPr marL="354965" indent="-342265">
              <a:spcBef>
                <a:spcPts val="765"/>
              </a:spcBef>
              <a:buChar char="•"/>
              <a:tabLst>
                <a:tab pos="354965" algn="l"/>
              </a:tabLst>
            </a:pPr>
            <a:r>
              <a:rPr sz="2000" dirty="0">
                <a:latin typeface="Arial MT"/>
                <a:cs typeface="Arial MT"/>
              </a:rPr>
              <a:t>Suitable</a:t>
            </a:r>
            <a:r>
              <a:rPr sz="2000" spc="-50" dirty="0">
                <a:latin typeface="Arial MT"/>
                <a:cs typeface="Arial MT"/>
              </a:rPr>
              <a:t> </a:t>
            </a:r>
            <a:r>
              <a:rPr sz="2000" dirty="0">
                <a:latin typeface="Arial MT"/>
                <a:cs typeface="Arial MT"/>
              </a:rPr>
              <a:t>for</a:t>
            </a:r>
            <a:r>
              <a:rPr sz="2000" spc="-35" dirty="0">
                <a:latin typeface="Arial MT"/>
                <a:cs typeface="Arial MT"/>
              </a:rPr>
              <a:t> </a:t>
            </a:r>
            <a:r>
              <a:rPr sz="2000" dirty="0">
                <a:latin typeface="Arial MT"/>
                <a:cs typeface="Arial MT"/>
              </a:rPr>
              <a:t>high</a:t>
            </a:r>
            <a:r>
              <a:rPr sz="2000" spc="-40" dirty="0">
                <a:latin typeface="Arial MT"/>
                <a:cs typeface="Arial MT"/>
              </a:rPr>
              <a:t> </a:t>
            </a:r>
            <a:r>
              <a:rPr sz="2000" dirty="0">
                <a:latin typeface="Arial MT"/>
                <a:cs typeface="Arial MT"/>
              </a:rPr>
              <a:t>r</a:t>
            </a:r>
            <a:r>
              <a:rPr lang="en-IN" sz="2000" dirty="0">
                <a:latin typeface="Arial MT"/>
                <a:cs typeface="Arial MT"/>
              </a:rPr>
              <a:t>is</a:t>
            </a:r>
            <a:r>
              <a:rPr sz="2000" dirty="0">
                <a:latin typeface="Arial MT"/>
                <a:cs typeface="Arial MT"/>
              </a:rPr>
              <a:t>k</a:t>
            </a:r>
            <a:r>
              <a:rPr sz="2000" spc="-35" dirty="0">
                <a:latin typeface="Arial MT"/>
                <a:cs typeface="Arial MT"/>
              </a:rPr>
              <a:t> </a:t>
            </a:r>
            <a:r>
              <a:rPr sz="2000" spc="-10" dirty="0">
                <a:latin typeface="Arial MT"/>
                <a:cs typeface="Arial MT"/>
              </a:rPr>
              <a:t>projects.</a:t>
            </a:r>
            <a:endParaRPr sz="2000" dirty="0">
              <a:latin typeface="Arial MT"/>
              <a:cs typeface="Arial MT"/>
            </a:endParaRPr>
          </a:p>
          <a:p>
            <a:pPr marL="354965" indent="-342265">
              <a:spcBef>
                <a:spcPts val="770"/>
              </a:spcBef>
              <a:buChar char="•"/>
              <a:tabLst>
                <a:tab pos="354965" algn="l"/>
              </a:tabLst>
            </a:pPr>
            <a:r>
              <a:rPr sz="2000" dirty="0">
                <a:latin typeface="Arial MT"/>
                <a:cs typeface="Arial MT"/>
              </a:rPr>
              <a:t>Flexibility</a:t>
            </a:r>
            <a:r>
              <a:rPr sz="2000" spc="-50" dirty="0">
                <a:latin typeface="Arial MT"/>
                <a:cs typeface="Arial MT"/>
              </a:rPr>
              <a:t> </a:t>
            </a:r>
            <a:r>
              <a:rPr sz="2000" dirty="0">
                <a:latin typeface="Arial MT"/>
                <a:cs typeface="Arial MT"/>
              </a:rPr>
              <a:t>for</a:t>
            </a:r>
            <a:r>
              <a:rPr sz="2000" spc="-60" dirty="0">
                <a:latin typeface="Arial MT"/>
                <a:cs typeface="Arial MT"/>
              </a:rPr>
              <a:t> </a:t>
            </a:r>
            <a:r>
              <a:rPr sz="2000" dirty="0">
                <a:latin typeface="Arial MT"/>
                <a:cs typeface="Arial MT"/>
              </a:rPr>
              <a:t>adding</a:t>
            </a:r>
            <a:r>
              <a:rPr sz="2000" spc="-35" dirty="0">
                <a:latin typeface="Arial MT"/>
                <a:cs typeface="Arial MT"/>
              </a:rPr>
              <a:t> </a:t>
            </a:r>
            <a:r>
              <a:rPr sz="2000" spc="-10" dirty="0">
                <a:latin typeface="Arial MT"/>
                <a:cs typeface="Arial MT"/>
              </a:rPr>
              <a:t>functionality</a:t>
            </a:r>
            <a:r>
              <a:rPr lang="en-IN" sz="2000" spc="-10" dirty="0">
                <a:latin typeface="Arial MT"/>
                <a:cs typeface="Arial MT"/>
              </a:rPr>
              <a:t>- </a:t>
            </a:r>
            <a:r>
              <a:rPr lang="en-US" sz="2000" dirty="0"/>
              <a:t>You can add new requirements even late in the life cycle.</a:t>
            </a:r>
            <a:endParaRPr sz="2000" dirty="0">
              <a:latin typeface="Arial MT"/>
              <a:cs typeface="Arial MT"/>
            </a:endParaRPr>
          </a:p>
          <a:p>
            <a:pPr marL="12700">
              <a:spcBef>
                <a:spcPts val="770"/>
              </a:spcBef>
            </a:pPr>
            <a:endParaRPr lang="en-US" sz="2000" b="1" spc="-10" dirty="0">
              <a:latin typeface="Arial"/>
              <a:cs typeface="Arial"/>
            </a:endParaRPr>
          </a:p>
          <a:p>
            <a:pPr marL="12700">
              <a:spcBef>
                <a:spcPts val="770"/>
              </a:spcBef>
            </a:pPr>
            <a:r>
              <a:rPr sz="2000" b="1" spc="-10" dirty="0">
                <a:latin typeface="Arial"/>
                <a:cs typeface="Arial"/>
              </a:rPr>
              <a:t>Disadvantages:</a:t>
            </a:r>
            <a:endParaRPr sz="2000" dirty="0">
              <a:latin typeface="Arial"/>
              <a:cs typeface="Arial"/>
            </a:endParaRPr>
          </a:p>
          <a:p>
            <a:pPr marL="354965" indent="-342265">
              <a:spcBef>
                <a:spcPts val="770"/>
              </a:spcBef>
              <a:buChar char="•"/>
              <a:tabLst>
                <a:tab pos="354965" algn="l"/>
              </a:tabLst>
            </a:pPr>
            <a:r>
              <a:rPr lang="en-US" sz="2000" b="1" dirty="0"/>
              <a:t>Expensive:</a:t>
            </a:r>
            <a:r>
              <a:rPr lang="en-US" sz="2000" dirty="0"/>
              <a:t> Analyzing risks every single loop requires highly skilled experts</a:t>
            </a:r>
            <a:r>
              <a:rPr sz="2000" spc="-10" dirty="0">
                <a:latin typeface="Arial MT"/>
                <a:cs typeface="Arial MT"/>
              </a:rPr>
              <a:t>.</a:t>
            </a:r>
            <a:endParaRPr sz="2000" dirty="0">
              <a:latin typeface="Arial MT"/>
              <a:cs typeface="Arial MT"/>
            </a:endParaRPr>
          </a:p>
          <a:p>
            <a:pPr marL="354965" indent="-342265">
              <a:spcBef>
                <a:spcPts val="770"/>
              </a:spcBef>
              <a:buChar char="•"/>
              <a:tabLst>
                <a:tab pos="354965" algn="l"/>
              </a:tabLst>
            </a:pPr>
            <a:r>
              <a:rPr lang="en-US" sz="2000" b="1" dirty="0"/>
              <a:t>Complex Management:</a:t>
            </a:r>
            <a:r>
              <a:rPr lang="en-US" sz="2000" dirty="0"/>
              <a:t> The project doesn't have a clear "end date" because the spiral can theoretically go on forever.</a:t>
            </a:r>
          </a:p>
          <a:p>
            <a:pPr marL="354965" indent="-342265">
              <a:spcBef>
                <a:spcPts val="770"/>
              </a:spcBef>
              <a:buChar char="•"/>
              <a:tabLst>
                <a:tab pos="354965" algn="l"/>
              </a:tabLst>
            </a:pPr>
            <a:r>
              <a:rPr sz="2000" dirty="0">
                <a:latin typeface="Arial MT"/>
                <a:cs typeface="Arial MT"/>
              </a:rPr>
              <a:t>Not</a:t>
            </a:r>
            <a:r>
              <a:rPr sz="2000" spc="-45" dirty="0">
                <a:latin typeface="Arial MT"/>
                <a:cs typeface="Arial MT"/>
              </a:rPr>
              <a:t> </a:t>
            </a:r>
            <a:r>
              <a:rPr sz="2000" dirty="0">
                <a:latin typeface="Arial MT"/>
                <a:cs typeface="Arial MT"/>
              </a:rPr>
              <a:t>suitable</a:t>
            </a:r>
            <a:r>
              <a:rPr sz="2000" spc="-55" dirty="0">
                <a:latin typeface="Arial MT"/>
                <a:cs typeface="Arial MT"/>
              </a:rPr>
              <a:t> </a:t>
            </a:r>
            <a:r>
              <a:rPr sz="2000" dirty="0">
                <a:latin typeface="Arial MT"/>
                <a:cs typeface="Arial MT"/>
              </a:rPr>
              <a:t>for</a:t>
            </a:r>
            <a:r>
              <a:rPr sz="2000" spc="-35" dirty="0">
                <a:latin typeface="Arial MT"/>
                <a:cs typeface="Arial MT"/>
              </a:rPr>
              <a:t> </a:t>
            </a:r>
            <a:r>
              <a:rPr sz="2000" dirty="0">
                <a:latin typeface="Arial MT"/>
                <a:cs typeface="Arial MT"/>
              </a:rPr>
              <a:t>smaller</a:t>
            </a:r>
            <a:r>
              <a:rPr sz="2000" spc="-45" dirty="0">
                <a:latin typeface="Arial MT"/>
                <a:cs typeface="Arial MT"/>
              </a:rPr>
              <a:t> </a:t>
            </a:r>
            <a:r>
              <a:rPr sz="2000" spc="-10" dirty="0">
                <a:latin typeface="Arial MT"/>
                <a:cs typeface="Arial MT"/>
              </a:rPr>
              <a:t>projects</a:t>
            </a:r>
            <a:r>
              <a:rPr lang="en-IN" sz="2000" spc="-10" dirty="0">
                <a:latin typeface="Arial MT"/>
                <a:cs typeface="Arial MT"/>
              </a:rPr>
              <a:t>: </a:t>
            </a:r>
            <a:r>
              <a:rPr lang="en-US" sz="2000" dirty="0"/>
              <a:t>For a simple website, the "Risk Assessment" would take longer than the actual coding!</a:t>
            </a:r>
            <a:endParaRPr sz="2000" dirty="0">
              <a:latin typeface="Arial MT"/>
              <a:cs typeface="Arial MT"/>
            </a:endParaRPr>
          </a:p>
          <a:p>
            <a:pPr marL="354965" indent="-342265">
              <a:spcBef>
                <a:spcPts val="770"/>
              </a:spcBef>
              <a:buChar char="•"/>
              <a:tabLst>
                <a:tab pos="354965" algn="l"/>
              </a:tabLst>
            </a:pPr>
            <a:r>
              <a:rPr sz="2000" dirty="0">
                <a:latin typeface="Arial MT"/>
                <a:cs typeface="Arial MT"/>
              </a:rPr>
              <a:t>Difficult</a:t>
            </a:r>
            <a:r>
              <a:rPr sz="2000" spc="-65" dirty="0">
                <a:latin typeface="Arial MT"/>
                <a:cs typeface="Arial MT"/>
              </a:rPr>
              <a:t> </a:t>
            </a:r>
            <a:r>
              <a:rPr sz="2000" dirty="0">
                <a:latin typeface="Arial MT"/>
                <a:cs typeface="Arial MT"/>
              </a:rPr>
              <a:t>to</a:t>
            </a:r>
            <a:r>
              <a:rPr sz="2000" spc="-50" dirty="0">
                <a:latin typeface="Arial MT"/>
                <a:cs typeface="Arial MT"/>
              </a:rPr>
              <a:t> </a:t>
            </a:r>
            <a:r>
              <a:rPr sz="2000" dirty="0">
                <a:latin typeface="Arial MT"/>
                <a:cs typeface="Arial MT"/>
              </a:rPr>
              <a:t>meeting</a:t>
            </a:r>
            <a:r>
              <a:rPr sz="2000" spc="-50" dirty="0">
                <a:latin typeface="Arial MT"/>
                <a:cs typeface="Arial MT"/>
              </a:rPr>
              <a:t> </a:t>
            </a:r>
            <a:r>
              <a:rPr sz="2000" spc="-10" dirty="0">
                <a:latin typeface="Arial MT"/>
                <a:cs typeface="Arial MT"/>
              </a:rPr>
              <a:t>budget.</a:t>
            </a:r>
            <a:endParaRPr sz="2000" dirty="0">
              <a:latin typeface="Arial MT"/>
              <a:cs typeface="Arial MT"/>
            </a:endParaRPr>
          </a:p>
        </p:txBody>
      </p:sp>
    </p:spTree>
    <p:extLst>
      <p:ext uri="{BB962C8B-B14F-4D97-AF65-F5344CB8AC3E}">
        <p14:creationId xmlns:p14="http://schemas.microsoft.com/office/powerpoint/2010/main" val="13635035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7D94F-D672-6C6A-9B29-902F7BF01257}"/>
              </a:ext>
            </a:extLst>
          </p:cNvPr>
          <p:cNvSpPr>
            <a:spLocks noGrp="1"/>
          </p:cNvSpPr>
          <p:nvPr>
            <p:ph type="title"/>
          </p:nvPr>
        </p:nvSpPr>
        <p:spPr/>
        <p:txBody>
          <a:bodyPr/>
          <a:lstStyle/>
          <a:p>
            <a:r>
              <a:rPr lang="en-IN" b="1" spc="-40" dirty="0"/>
              <a:t>Win-</a:t>
            </a:r>
            <a:r>
              <a:rPr lang="en-IN" b="1" dirty="0"/>
              <a:t>Win</a:t>
            </a:r>
            <a:r>
              <a:rPr lang="en-IN" b="1" spc="-20" dirty="0"/>
              <a:t> </a:t>
            </a:r>
            <a:r>
              <a:rPr lang="en-IN" b="1" dirty="0"/>
              <a:t>Spiral</a:t>
            </a:r>
            <a:r>
              <a:rPr lang="en-IN" b="1" spc="-35" dirty="0"/>
              <a:t> </a:t>
            </a:r>
            <a:r>
              <a:rPr lang="en-IN" b="1" spc="-10" dirty="0"/>
              <a:t>Model</a:t>
            </a:r>
            <a:endParaRPr lang="en-IN" dirty="0"/>
          </a:p>
        </p:txBody>
      </p:sp>
      <p:sp>
        <p:nvSpPr>
          <p:cNvPr id="3" name="Text Placeholder 2">
            <a:extLst>
              <a:ext uri="{FF2B5EF4-FFF2-40B4-BE49-F238E27FC236}">
                <a16:creationId xmlns:a16="http://schemas.microsoft.com/office/drawing/2014/main" id="{DD09DA74-02EB-C7D5-2B8E-B4CB3AB1B804}"/>
              </a:ext>
            </a:extLst>
          </p:cNvPr>
          <p:cNvSpPr>
            <a:spLocks noGrp="1"/>
          </p:cNvSpPr>
          <p:nvPr>
            <p:ph type="body" idx="1"/>
          </p:nvPr>
        </p:nvSpPr>
        <p:spPr/>
        <p:txBody>
          <a:bodyPr/>
          <a:lstStyle/>
          <a:p>
            <a:r>
              <a:rPr lang="en-US" dirty="0">
                <a:solidFill>
                  <a:schemeClr val="tx1"/>
                </a:solidFill>
              </a:rPr>
              <a:t>While the standard Spiral Model focuses on </a:t>
            </a:r>
            <a:r>
              <a:rPr lang="en-US" b="1" dirty="0">
                <a:solidFill>
                  <a:schemeClr val="tx1"/>
                </a:solidFill>
              </a:rPr>
              <a:t>Risk</a:t>
            </a:r>
            <a:r>
              <a:rPr lang="en-US" dirty="0">
                <a:solidFill>
                  <a:schemeClr val="tx1"/>
                </a:solidFill>
              </a:rPr>
              <a:t>, the Win-Win Spiral Model adds a focus on </a:t>
            </a:r>
            <a:r>
              <a:rPr lang="en-US" b="1" dirty="0">
                <a:solidFill>
                  <a:schemeClr val="tx1"/>
                </a:solidFill>
              </a:rPr>
              <a:t>People and Negotiation</a:t>
            </a:r>
            <a:r>
              <a:rPr lang="en-US" dirty="0">
                <a:solidFill>
                  <a:schemeClr val="tx1"/>
                </a:solidFill>
              </a:rPr>
              <a:t>. </a:t>
            </a:r>
          </a:p>
          <a:p>
            <a:r>
              <a:rPr lang="en-US" b="1" i="1" dirty="0">
                <a:solidFill>
                  <a:schemeClr val="tx1"/>
                </a:solidFill>
                <a:effectLst>
                  <a:outerShdw blurRad="38100" dist="38100" dir="2700000" algn="tl">
                    <a:srgbClr val="000000">
                      <a:alpha val="43137"/>
                    </a:srgbClr>
                  </a:outerShdw>
                </a:effectLst>
              </a:rPr>
              <a:t>It acknowledges a simple truth: in software engineering, if the customer is unhappy because it costs too much, or the developer is unhappy because the deadline is impossible, the project will fail—even if the code is perfect.</a:t>
            </a:r>
          </a:p>
          <a:p>
            <a:r>
              <a:rPr lang="en-US" dirty="0">
                <a:solidFill>
                  <a:schemeClr val="tx1"/>
                </a:solidFill>
              </a:rPr>
              <a:t>The customer wins by getting the system satisfying most of their requirements and developers wins by working on achievable budgets and deadlines.</a:t>
            </a:r>
          </a:p>
          <a:p>
            <a:r>
              <a:rPr lang="en-US" dirty="0">
                <a:solidFill>
                  <a:schemeClr val="tx1"/>
                </a:solidFill>
              </a:rPr>
              <a:t>The Win-Win Spiral Model teaches us that </a:t>
            </a:r>
            <a:r>
              <a:rPr lang="en-US" b="1" dirty="0">
                <a:solidFill>
                  <a:schemeClr val="tx1"/>
                </a:solidFill>
              </a:rPr>
              <a:t>negotiation is a technical skill</a:t>
            </a:r>
            <a:r>
              <a:rPr lang="en-US" dirty="0">
                <a:solidFill>
                  <a:schemeClr val="tx1"/>
                </a:solidFill>
              </a:rPr>
              <a:t>. If you can't get your stakeholders to agree on a "Win-Win" plan, no amount of clever coding will save the project.</a:t>
            </a:r>
          </a:p>
          <a:p>
            <a:endParaRPr lang="en-US" dirty="0">
              <a:solidFill>
                <a:schemeClr val="tx1"/>
              </a:solidFill>
            </a:endParaRPr>
          </a:p>
          <a:p>
            <a:endParaRPr lang="en-IN" dirty="0">
              <a:solidFill>
                <a:schemeClr val="tx1"/>
              </a:solidFill>
            </a:endParaRPr>
          </a:p>
        </p:txBody>
      </p:sp>
    </p:spTree>
    <p:extLst>
      <p:ext uri="{BB962C8B-B14F-4D97-AF65-F5344CB8AC3E}">
        <p14:creationId xmlns:p14="http://schemas.microsoft.com/office/powerpoint/2010/main" val="2786813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959971" y="1681316"/>
            <a:ext cx="6232029" cy="3972232"/>
          </a:xfrm>
          <a:prstGeom prst="rect">
            <a:avLst/>
          </a:prstGeom>
        </p:spPr>
      </p:pic>
      <p:sp>
        <p:nvSpPr>
          <p:cNvPr id="3" name="object 3">
            <a:extLst>
              <a:ext uri="{FF2B5EF4-FFF2-40B4-BE49-F238E27FC236}">
                <a16:creationId xmlns:a16="http://schemas.microsoft.com/office/drawing/2014/main" id="{CF73DBEC-7089-FE89-6F13-286F7C1CAB23}"/>
              </a:ext>
            </a:extLst>
          </p:cNvPr>
          <p:cNvSpPr txBox="1"/>
          <p:nvPr/>
        </p:nvSpPr>
        <p:spPr>
          <a:xfrm>
            <a:off x="386428" y="1160109"/>
            <a:ext cx="5326114" cy="4537781"/>
          </a:xfrm>
          <a:prstGeom prst="rect">
            <a:avLst/>
          </a:prstGeom>
        </p:spPr>
        <p:txBody>
          <a:bodyPr vert="horz" wrap="square" lIns="0" tIns="13335" rIns="0" bIns="0" rtlCol="0">
            <a:spAutoFit/>
          </a:bodyPr>
          <a:lstStyle/>
          <a:p>
            <a:r>
              <a:rPr lang="en-US" b="1" dirty="0"/>
              <a:t>Phase 1: Identifying Stakeholders</a:t>
            </a:r>
          </a:p>
          <a:p>
            <a:r>
              <a:rPr lang="en-US" sz="1600" dirty="0"/>
              <a:t>The process starts in the top-left quadrant of the spiral.</a:t>
            </a:r>
          </a:p>
          <a:p>
            <a:r>
              <a:rPr lang="en-US" sz="1600" b="1" dirty="0"/>
              <a:t>Action</a:t>
            </a:r>
            <a:r>
              <a:rPr lang="en-US" sz="1600" dirty="0"/>
              <a:t>: Before any technical work begins, you must </a:t>
            </a:r>
            <a:r>
              <a:rPr lang="en-US" sz="1600" b="1" dirty="0"/>
              <a:t>Identify next-level Stakeholders</a:t>
            </a:r>
            <a:r>
              <a:rPr lang="en-US" sz="1600" dirty="0"/>
              <a:t>.</a:t>
            </a:r>
          </a:p>
          <a:p>
            <a:r>
              <a:rPr lang="en-US" sz="1600" dirty="0"/>
              <a:t>This means looking ahead to the next phase of the project and seeing whose "buy-in" you need—be it the legal team for a new feature or the actual end-users who will operate the weather station.</a:t>
            </a:r>
          </a:p>
          <a:p>
            <a:endParaRPr lang="en-US" dirty="0"/>
          </a:p>
          <a:p>
            <a:r>
              <a:rPr lang="en-US" b="1" dirty="0"/>
              <a:t>Phase 2: Identifying Win Conditions</a:t>
            </a:r>
          </a:p>
          <a:p>
            <a:r>
              <a:rPr lang="en-US" sz="1600" dirty="0"/>
              <a:t>Moving to the top-right quadrant, the focus shifts to individual goals.</a:t>
            </a:r>
          </a:p>
          <a:p>
            <a:r>
              <a:rPr lang="en-US" sz="1600" b="1" dirty="0"/>
              <a:t>Action</a:t>
            </a:r>
            <a:r>
              <a:rPr lang="en-US" sz="1600" dirty="0"/>
              <a:t>: You must </a:t>
            </a:r>
            <a:r>
              <a:rPr lang="en-US" sz="1600" b="1" dirty="0"/>
              <a:t>Identify Stakeholders' win conditions</a:t>
            </a:r>
            <a:r>
              <a:rPr lang="en-US" sz="1600" dirty="0"/>
              <a:t>.</a:t>
            </a:r>
          </a:p>
          <a:p>
            <a:r>
              <a:rPr lang="en-US" sz="1600" b="1" dirty="0"/>
              <a:t>The Goal</a:t>
            </a:r>
            <a:r>
              <a:rPr lang="en-US" sz="1600" dirty="0"/>
              <a:t>: You are explicitly asking what each group needs to consider the project a success.</a:t>
            </a:r>
          </a:p>
          <a:p>
            <a:r>
              <a:rPr lang="en-US" sz="1600" b="1" dirty="0"/>
              <a:t>Example</a:t>
            </a:r>
            <a:r>
              <a:rPr lang="en-US" sz="1600" dirty="0"/>
              <a:t>: For our Weather Station, a "Win" for the maintenance team might be "remote restart capability," while a "Win" for the customer is "low manufacturing cost"</a:t>
            </a:r>
          </a:p>
        </p:txBody>
      </p:sp>
    </p:spTree>
    <p:extLst>
      <p:ext uri="{BB962C8B-B14F-4D97-AF65-F5344CB8AC3E}">
        <p14:creationId xmlns:p14="http://schemas.microsoft.com/office/powerpoint/2010/main" val="5281661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96728-694E-7971-5123-177937045323}"/>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F42CA2A6-C340-C99C-CEC6-72FF189881E7}"/>
              </a:ext>
            </a:extLst>
          </p:cNvPr>
          <p:cNvPicPr/>
          <p:nvPr/>
        </p:nvPicPr>
        <p:blipFill>
          <a:blip r:embed="rId2" cstate="print"/>
          <a:stretch>
            <a:fillRect/>
          </a:stretch>
        </p:blipFill>
        <p:spPr>
          <a:xfrm>
            <a:off x="5959971" y="1681316"/>
            <a:ext cx="6232029" cy="3972232"/>
          </a:xfrm>
          <a:prstGeom prst="rect">
            <a:avLst/>
          </a:prstGeom>
        </p:spPr>
      </p:pic>
      <p:sp>
        <p:nvSpPr>
          <p:cNvPr id="3" name="object 3">
            <a:extLst>
              <a:ext uri="{FF2B5EF4-FFF2-40B4-BE49-F238E27FC236}">
                <a16:creationId xmlns:a16="http://schemas.microsoft.com/office/drawing/2014/main" id="{FE97FAA5-A063-0B83-D8FD-4A1DEC3D9CF4}"/>
              </a:ext>
            </a:extLst>
          </p:cNvPr>
          <p:cNvSpPr txBox="1"/>
          <p:nvPr/>
        </p:nvSpPr>
        <p:spPr>
          <a:xfrm>
            <a:off x="386428" y="1160109"/>
            <a:ext cx="5326114" cy="4168449"/>
          </a:xfrm>
          <a:prstGeom prst="rect">
            <a:avLst/>
          </a:prstGeom>
        </p:spPr>
        <p:txBody>
          <a:bodyPr vert="horz" wrap="square" lIns="0" tIns="13335" rIns="0" bIns="0" rtlCol="0">
            <a:spAutoFit/>
          </a:bodyPr>
          <a:lstStyle/>
          <a:p>
            <a:pPr lvl="0" eaLnBrk="0" fontAlgn="base" hangingPunct="0">
              <a:spcBef>
                <a:spcPct val="0"/>
              </a:spcBef>
              <a:spcAft>
                <a:spcPct val="0"/>
              </a:spcAft>
            </a:pPr>
            <a:r>
              <a:rPr lang="en-IN" b="1" dirty="0"/>
              <a:t>Building a Library App</a:t>
            </a:r>
            <a:endParaRPr lang="en-US" altLang="en-US" b="1" dirty="0">
              <a:latin typeface="Arial" panose="020B0604020202020204" pitchFamily="34" charset="0"/>
            </a:endParaRPr>
          </a:p>
          <a:p>
            <a:pPr lvl="0" eaLnBrk="0" fontAlgn="base" hangingPunct="0">
              <a:spcBef>
                <a:spcPct val="0"/>
              </a:spcBef>
              <a:spcAft>
                <a:spcPct val="0"/>
              </a:spcAft>
              <a:buFontTx/>
              <a:buChar char="•"/>
            </a:pPr>
            <a:endParaRPr lang="en-US" altLang="en-US" b="1" dirty="0">
              <a:latin typeface="Arial" panose="020B0604020202020204" pitchFamily="34" charset="0"/>
            </a:endParaRPr>
          </a:p>
          <a:p>
            <a:pPr lvl="0" eaLnBrk="0" fontAlgn="base" hangingPunct="0">
              <a:spcBef>
                <a:spcPct val="0"/>
              </a:spcBef>
              <a:spcAft>
                <a:spcPct val="0"/>
              </a:spcAft>
              <a:buFontTx/>
              <a:buChar char="•"/>
            </a:pPr>
            <a:r>
              <a:rPr lang="en-US" altLang="en-US" b="1" dirty="0">
                <a:latin typeface="Arial" panose="020B0604020202020204" pitchFamily="34" charset="0"/>
              </a:rPr>
              <a:t>The Conflict:</a:t>
            </a:r>
            <a:r>
              <a:rPr lang="en-US" altLang="en-US" dirty="0">
                <a:latin typeface="Arial" panose="020B0604020202020204" pitchFamily="34" charset="0"/>
              </a:rPr>
              <a:t> The </a:t>
            </a:r>
            <a:r>
              <a:rPr lang="en-US" altLang="en-US" b="1" dirty="0">
                <a:latin typeface="Arial" panose="020B0604020202020204" pitchFamily="34" charset="0"/>
              </a:rPr>
              <a:t>Librarians</a:t>
            </a:r>
            <a:r>
              <a:rPr lang="en-US" altLang="en-US" dirty="0">
                <a:latin typeface="Arial" panose="020B0604020202020204" pitchFamily="34" charset="0"/>
              </a:rPr>
              <a:t> want a feature that tracks every book a student has ever read. The </a:t>
            </a:r>
            <a:r>
              <a:rPr lang="en-US" altLang="en-US" b="1" dirty="0">
                <a:latin typeface="Arial" panose="020B0604020202020204" pitchFamily="34" charset="0"/>
              </a:rPr>
              <a:t>Legal Team</a:t>
            </a:r>
            <a:r>
              <a:rPr lang="en-US" altLang="en-US" dirty="0">
                <a:latin typeface="Arial" panose="020B0604020202020204" pitchFamily="34" charset="0"/>
              </a:rPr>
              <a:t> says that's a privacy violation and could lead to a lawsuit.</a:t>
            </a:r>
          </a:p>
          <a:p>
            <a:pPr lvl="0" eaLnBrk="0" fontAlgn="base" hangingPunct="0">
              <a:spcBef>
                <a:spcPct val="0"/>
              </a:spcBef>
              <a:spcAft>
                <a:spcPct val="0"/>
              </a:spcAft>
              <a:buFontTx/>
              <a:buChar char="•"/>
            </a:pPr>
            <a:endParaRPr lang="en-US" altLang="en-US" dirty="0">
              <a:latin typeface="Arial" panose="020B0604020202020204" pitchFamily="34" charset="0"/>
            </a:endParaRPr>
          </a:p>
          <a:p>
            <a:pPr lvl="0" eaLnBrk="0" fontAlgn="base" hangingPunct="0">
              <a:spcBef>
                <a:spcPct val="0"/>
              </a:spcBef>
              <a:spcAft>
                <a:spcPct val="0"/>
              </a:spcAft>
              <a:buFontTx/>
              <a:buChar char="•"/>
            </a:pPr>
            <a:r>
              <a:rPr lang="en-US" altLang="en-US" b="1" dirty="0">
                <a:latin typeface="Arial" panose="020B0604020202020204" pitchFamily="34" charset="0"/>
              </a:rPr>
              <a:t>The Win-Win Negotiation:</a:t>
            </a:r>
            <a:r>
              <a:rPr lang="en-US" altLang="en-US" dirty="0">
                <a:latin typeface="Arial" panose="020B0604020202020204" pitchFamily="34" charset="0"/>
              </a:rPr>
              <a:t> * The Librarians agree to only track </a:t>
            </a:r>
            <a:r>
              <a:rPr lang="en-US" altLang="en-US" i="1" dirty="0">
                <a:latin typeface="Arial" panose="020B0604020202020204" pitchFamily="34" charset="0"/>
              </a:rPr>
              <a:t>current</a:t>
            </a:r>
            <a:r>
              <a:rPr lang="en-US" altLang="en-US" dirty="0">
                <a:latin typeface="Arial" panose="020B0604020202020204" pitchFamily="34" charset="0"/>
              </a:rPr>
              <a:t> books.</a:t>
            </a:r>
          </a:p>
          <a:p>
            <a:pPr lvl="0" eaLnBrk="0" fontAlgn="base" hangingPunct="0">
              <a:spcBef>
                <a:spcPct val="0"/>
              </a:spcBef>
              <a:spcAft>
                <a:spcPct val="0"/>
              </a:spcAft>
              <a:buFontTx/>
              <a:buChar char="•"/>
            </a:pPr>
            <a:r>
              <a:rPr lang="en-US" altLang="en-US" dirty="0">
                <a:latin typeface="Arial" panose="020B0604020202020204" pitchFamily="34" charset="0"/>
              </a:rPr>
              <a:t>The Legal Team approves the privacy policy.</a:t>
            </a:r>
          </a:p>
          <a:p>
            <a:pPr lvl="0" eaLnBrk="0" fontAlgn="base" hangingPunct="0">
              <a:spcBef>
                <a:spcPct val="0"/>
              </a:spcBef>
              <a:spcAft>
                <a:spcPct val="0"/>
              </a:spcAft>
              <a:buFontTx/>
              <a:buChar char="•"/>
            </a:pPr>
            <a:endParaRPr lang="en-US" altLang="en-US" dirty="0">
              <a:latin typeface="Arial" panose="020B0604020202020204" pitchFamily="34" charset="0"/>
            </a:endParaRPr>
          </a:p>
          <a:p>
            <a:pPr lvl="0" eaLnBrk="0" fontAlgn="base" hangingPunct="0">
              <a:spcBef>
                <a:spcPct val="0"/>
              </a:spcBef>
              <a:spcAft>
                <a:spcPct val="0"/>
              </a:spcAft>
              <a:buFontTx/>
              <a:buChar char="•"/>
            </a:pPr>
            <a:r>
              <a:rPr lang="en-US" altLang="en-US" b="1" dirty="0">
                <a:latin typeface="Arial" panose="020B0604020202020204" pitchFamily="34" charset="0"/>
              </a:rPr>
              <a:t>Result:</a:t>
            </a:r>
            <a:r>
              <a:rPr lang="en-US" altLang="en-US" dirty="0">
                <a:latin typeface="Arial" panose="020B0604020202020204" pitchFamily="34" charset="0"/>
              </a:rPr>
              <a:t> The Librarians get their tracking, and the Legal Team gets their safety. Both "win," and the project moves to the next loop of the spiral.</a:t>
            </a:r>
          </a:p>
          <a:p>
            <a:pPr lvl="0" eaLnBrk="0" fontAlgn="base" hangingPunct="0">
              <a:spcBef>
                <a:spcPct val="0"/>
              </a:spcBef>
              <a:spcAft>
                <a:spcPct val="0"/>
              </a:spcAft>
            </a:pPr>
            <a:endParaRPr lang="en-US" altLang="en-US" dirty="0">
              <a:latin typeface="Arial" panose="020B0604020202020204" pitchFamily="34" charset="0"/>
            </a:endParaRPr>
          </a:p>
        </p:txBody>
      </p:sp>
    </p:spTree>
    <p:extLst>
      <p:ext uri="{BB962C8B-B14F-4D97-AF65-F5344CB8AC3E}">
        <p14:creationId xmlns:p14="http://schemas.microsoft.com/office/powerpoint/2010/main" val="13174879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39916-A1DD-2BBA-23FC-BCB6BA03515C}"/>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E0B84DC5-D9B3-4049-73DA-EDDC79976B98}"/>
              </a:ext>
            </a:extLst>
          </p:cNvPr>
          <p:cNvPicPr/>
          <p:nvPr/>
        </p:nvPicPr>
        <p:blipFill>
          <a:blip r:embed="rId2" cstate="print"/>
          <a:stretch>
            <a:fillRect/>
          </a:stretch>
        </p:blipFill>
        <p:spPr>
          <a:xfrm>
            <a:off x="5959971" y="1681316"/>
            <a:ext cx="6232029" cy="3972232"/>
          </a:xfrm>
          <a:prstGeom prst="rect">
            <a:avLst/>
          </a:prstGeom>
        </p:spPr>
      </p:pic>
      <p:sp>
        <p:nvSpPr>
          <p:cNvPr id="3" name="object 3">
            <a:extLst>
              <a:ext uri="{FF2B5EF4-FFF2-40B4-BE49-F238E27FC236}">
                <a16:creationId xmlns:a16="http://schemas.microsoft.com/office/drawing/2014/main" id="{7D5902D6-7B76-6608-374C-BEE7EE76A7FC}"/>
              </a:ext>
            </a:extLst>
          </p:cNvPr>
          <p:cNvSpPr txBox="1"/>
          <p:nvPr/>
        </p:nvSpPr>
        <p:spPr>
          <a:xfrm>
            <a:off x="356931" y="806166"/>
            <a:ext cx="5326114" cy="5245667"/>
          </a:xfrm>
          <a:prstGeom prst="rect">
            <a:avLst/>
          </a:prstGeom>
        </p:spPr>
        <p:txBody>
          <a:bodyPr vert="horz" wrap="square" lIns="0" tIns="13335" rIns="0" bIns="0" rtlCol="0">
            <a:spAutoFit/>
          </a:bodyPr>
          <a:lstStyle/>
          <a:p>
            <a:r>
              <a:rPr lang="en-US" b="1" dirty="0"/>
              <a:t>Phase 3: Negotiating Reconciliations</a:t>
            </a:r>
          </a:p>
          <a:p>
            <a:r>
              <a:rPr lang="en-US" sz="1600" dirty="0"/>
              <a:t>This is the most critical addition, occurring just before the standard "Risk" assessment.</a:t>
            </a:r>
          </a:p>
          <a:p>
            <a:r>
              <a:rPr lang="en-US" sz="1600" b="1" dirty="0"/>
              <a:t>Action</a:t>
            </a:r>
            <a:r>
              <a:rPr lang="en-US" sz="1600" dirty="0"/>
              <a:t>: You </a:t>
            </a:r>
            <a:r>
              <a:rPr lang="en-US" sz="1600" b="1" dirty="0"/>
              <a:t>Reconcile win conditions</a:t>
            </a:r>
            <a:r>
              <a:rPr lang="en-US" sz="1600" dirty="0"/>
              <a:t>.</a:t>
            </a:r>
          </a:p>
          <a:p>
            <a:r>
              <a:rPr lang="en-US" sz="1600" b="1" dirty="0"/>
              <a:t>The Process</a:t>
            </a:r>
            <a:r>
              <a:rPr lang="en-US" sz="1600" dirty="0"/>
              <a:t>: If the maintenance team wants a feature that makes the station too expensive for the customer, you negotiate here to find a middle ground.</a:t>
            </a:r>
          </a:p>
          <a:p>
            <a:r>
              <a:rPr lang="en-US" sz="1600" b="1" dirty="0"/>
              <a:t>Result</a:t>
            </a:r>
            <a:r>
              <a:rPr lang="en-US" sz="1600" dirty="0"/>
              <a:t>: This allows you to </a:t>
            </a:r>
            <a:r>
              <a:rPr lang="en-US" sz="1600" b="1" dirty="0"/>
              <a:t>Establish next-level objectives, constraints, and alternatives</a:t>
            </a:r>
            <a:r>
              <a:rPr lang="en-US" sz="1600" dirty="0"/>
              <a:t> that everyone has already agreed upon.</a:t>
            </a:r>
          </a:p>
          <a:p>
            <a:endParaRPr lang="en-US" sz="1600" dirty="0"/>
          </a:p>
          <a:p>
            <a:r>
              <a:rPr lang="en-US" b="1" dirty="0"/>
              <a:t>Phase 4: Moving into the Standard Spiral</a:t>
            </a:r>
          </a:p>
          <a:p>
            <a:r>
              <a:rPr lang="en-US" sz="1600" dirty="0"/>
              <a:t>Once these three extra steps are complete, the cycle continues into the familiar spiral activities:</a:t>
            </a:r>
          </a:p>
          <a:p>
            <a:r>
              <a:rPr lang="en-US" sz="1600" b="1" dirty="0"/>
              <a:t>Evaluate and Resolve Risks</a:t>
            </a:r>
            <a:r>
              <a:rPr lang="en-US" sz="1600" dirty="0"/>
              <a:t>: You check if the negotiated plan is technically possible.</a:t>
            </a:r>
          </a:p>
          <a:p>
            <a:r>
              <a:rPr lang="en-US" sz="1600" b="1" dirty="0"/>
              <a:t>Define and Validate</a:t>
            </a:r>
            <a:r>
              <a:rPr lang="en-US" sz="1600" dirty="0"/>
              <a:t>: You build the "next level of product" based on those reconciled wins.</a:t>
            </a:r>
          </a:p>
          <a:p>
            <a:r>
              <a:rPr lang="en-US" sz="1600" b="1" dirty="0"/>
              <a:t>Review and Commitment</a:t>
            </a:r>
            <a:r>
              <a:rPr lang="en-US" sz="1600" dirty="0"/>
              <a:t>: Finally, you review the progress with the stakeholders to ensure everyone is still "winning" before starting the next loop.</a:t>
            </a:r>
          </a:p>
        </p:txBody>
      </p:sp>
    </p:spTree>
    <p:extLst>
      <p:ext uri="{BB962C8B-B14F-4D97-AF65-F5344CB8AC3E}">
        <p14:creationId xmlns:p14="http://schemas.microsoft.com/office/powerpoint/2010/main" val="28259688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22402" y="766589"/>
            <a:ext cx="10947196" cy="6129883"/>
          </a:xfrm>
          <a:prstGeom prst="rect">
            <a:avLst/>
          </a:prstGeom>
        </p:spPr>
        <p:txBody>
          <a:bodyPr vert="horz" wrap="square" lIns="0" tIns="12700" rIns="0" bIns="0" rtlCol="0">
            <a:spAutoFit/>
          </a:bodyPr>
          <a:lstStyle/>
          <a:p>
            <a:pPr marL="12700">
              <a:spcBef>
                <a:spcPts val="575"/>
              </a:spcBef>
              <a:tabLst>
                <a:tab pos="354965" algn="l"/>
              </a:tabLst>
            </a:pPr>
            <a:r>
              <a:rPr sz="2000" b="1" spc="-10" dirty="0">
                <a:latin typeface="Arial"/>
                <a:cs typeface="Arial"/>
              </a:rPr>
              <a:t>Advantages:</a:t>
            </a:r>
            <a:endParaRPr sz="2000" dirty="0">
              <a:latin typeface="Arial"/>
              <a:cs typeface="Arial"/>
            </a:endParaRPr>
          </a:p>
          <a:p>
            <a:pPr marL="342900" lvl="0" indent="-342900" eaLnBrk="0" fontAlgn="base" hangingPunct="0">
              <a:spcBef>
                <a:spcPct val="0"/>
              </a:spcBef>
              <a:spcAft>
                <a:spcPct val="0"/>
              </a:spcAft>
              <a:buFont typeface="Arial" panose="020B0604020202020204" pitchFamily="34" charset="0"/>
              <a:buChar char="•"/>
            </a:pPr>
            <a:r>
              <a:rPr lang="en-US" altLang="en-US" b="1" dirty="0">
                <a:latin typeface="Arial" panose="020B0604020202020204" pitchFamily="34" charset="0"/>
              </a:rPr>
              <a:t>Prevents "Late-Stage Disasters":</a:t>
            </a:r>
            <a:r>
              <a:rPr lang="en-US" altLang="en-US" dirty="0">
                <a:latin typeface="Arial" panose="020B0604020202020204" pitchFamily="34" charset="0"/>
              </a:rPr>
              <a:t> You don't build a whole system only to find out the customer hates it or it’s illegal.</a:t>
            </a:r>
          </a:p>
          <a:p>
            <a:pPr marL="342900" lvl="0" indent="-342900" eaLnBrk="0" fontAlgn="base" hangingPunct="0">
              <a:spcBef>
                <a:spcPct val="0"/>
              </a:spcBef>
              <a:spcAft>
                <a:spcPct val="0"/>
              </a:spcAft>
              <a:buFont typeface="Arial" panose="020B0604020202020204" pitchFamily="34" charset="0"/>
              <a:buChar char="•"/>
            </a:pPr>
            <a:r>
              <a:rPr lang="en-US" altLang="en-US" b="1" dirty="0">
                <a:latin typeface="Arial" panose="020B0604020202020204" pitchFamily="34" charset="0"/>
              </a:rPr>
              <a:t>Builds Trust:</a:t>
            </a:r>
            <a:r>
              <a:rPr lang="en-US" altLang="en-US" dirty="0">
                <a:latin typeface="Arial" panose="020B0604020202020204" pitchFamily="34" charset="0"/>
              </a:rPr>
              <a:t> By including everyone in the negotiation, the team feels more like partners and less like "order-takers."</a:t>
            </a:r>
          </a:p>
          <a:p>
            <a:pPr marL="342900" lvl="0" indent="-342900" eaLnBrk="0" fontAlgn="base" hangingPunct="0">
              <a:spcBef>
                <a:spcPct val="0"/>
              </a:spcBef>
              <a:spcAft>
                <a:spcPct val="0"/>
              </a:spcAft>
              <a:buFont typeface="Arial" panose="020B0604020202020204" pitchFamily="34" charset="0"/>
              <a:buChar char="•"/>
            </a:pPr>
            <a:r>
              <a:rPr lang="en-US" altLang="en-US" b="1" dirty="0">
                <a:latin typeface="Arial" panose="020B0604020202020204" pitchFamily="34" charset="0"/>
              </a:rPr>
              <a:t>Best for:</a:t>
            </a:r>
            <a:r>
              <a:rPr lang="en-US" altLang="en-US" dirty="0">
                <a:latin typeface="Arial" panose="020B0604020202020204" pitchFamily="34" charset="0"/>
              </a:rPr>
              <a:t> Massive, complex systems with many different bosses (like government software, bank systems, or hospital management).</a:t>
            </a:r>
            <a:endParaRPr lang="en-US" sz="2000" b="1" spc="-10" dirty="0">
              <a:latin typeface="Arial"/>
              <a:cs typeface="Arial"/>
            </a:endParaRPr>
          </a:p>
          <a:p>
            <a:pPr marL="12700">
              <a:spcBef>
                <a:spcPts val="865"/>
              </a:spcBef>
            </a:pPr>
            <a:r>
              <a:rPr sz="2000" b="1" spc="-10" dirty="0">
                <a:latin typeface="Arial"/>
                <a:cs typeface="Arial"/>
              </a:rPr>
              <a:t>Disadvantages:</a:t>
            </a:r>
            <a:endParaRPr sz="2000" dirty="0">
              <a:latin typeface="Arial"/>
              <a:cs typeface="Arial"/>
            </a:endParaRPr>
          </a:p>
          <a:p>
            <a:pPr marL="355600" indent="-342900">
              <a:spcBef>
                <a:spcPts val="830"/>
              </a:spcBef>
              <a:buFont typeface="Arial" panose="020B0604020202020204" pitchFamily="34" charset="0"/>
              <a:buChar char="•"/>
              <a:tabLst>
                <a:tab pos="354965" algn="l"/>
              </a:tabLst>
            </a:pPr>
            <a:r>
              <a:rPr lang="en-US" b="1" dirty="0"/>
              <a:t>Negotiation Heavy</a:t>
            </a:r>
            <a:r>
              <a:rPr lang="en-US" dirty="0"/>
              <a:t>: The model requires constant meetings to "Identify Stakeholders" and "Reconcile win conditions". This can feel like "death by a thousand meetings" for the development team.</a:t>
            </a:r>
          </a:p>
          <a:p>
            <a:pPr marL="355600" indent="-342900">
              <a:spcBef>
                <a:spcPts val="830"/>
              </a:spcBef>
              <a:buFont typeface="Arial" panose="020B0604020202020204" pitchFamily="34" charset="0"/>
              <a:buChar char="•"/>
              <a:tabLst>
                <a:tab pos="354965" algn="l"/>
              </a:tabLst>
            </a:pPr>
            <a:r>
              <a:rPr lang="en-US" altLang="en-US" b="1" dirty="0">
                <a:latin typeface="Arial" panose="020B0604020202020204" pitchFamily="34" charset="0"/>
              </a:rPr>
              <a:t>Slow Start</a:t>
            </a:r>
            <a:r>
              <a:rPr lang="en-US" altLang="en-US" dirty="0">
                <a:latin typeface="Arial" panose="020B0604020202020204" pitchFamily="34" charset="0"/>
              </a:rPr>
              <a:t>: You spend a lot of time in the first two quadrants (Identifying and Reconciling) before a single line of code is written.</a:t>
            </a:r>
          </a:p>
          <a:p>
            <a:pPr marL="355600" indent="-342900">
              <a:spcBef>
                <a:spcPts val="830"/>
              </a:spcBef>
              <a:buFont typeface="Arial" panose="020B0604020202020204" pitchFamily="34" charset="0"/>
              <a:buChar char="•"/>
              <a:tabLst>
                <a:tab pos="354965" algn="l"/>
              </a:tabLst>
            </a:pPr>
            <a:r>
              <a:rPr lang="en-US" altLang="en-US" b="1" dirty="0">
                <a:latin typeface="Arial" panose="020B0604020202020204" pitchFamily="34" charset="0"/>
              </a:rPr>
              <a:t>Expertise Required</a:t>
            </a:r>
            <a:r>
              <a:rPr lang="en-US" altLang="en-US" dirty="0">
                <a:latin typeface="Arial" panose="020B0604020202020204" pitchFamily="34" charset="0"/>
              </a:rPr>
              <a:t>: You need highly skilled project managers who are good at </a:t>
            </a:r>
            <a:r>
              <a:rPr lang="en-US" altLang="en-US" b="1" dirty="0">
                <a:latin typeface="Arial" panose="020B0604020202020204" pitchFamily="34" charset="0"/>
              </a:rPr>
              <a:t>negotiation</a:t>
            </a:r>
            <a:r>
              <a:rPr lang="en-US" altLang="en-US" dirty="0">
                <a:latin typeface="Arial" panose="020B0604020202020204" pitchFamily="34" charset="0"/>
              </a:rPr>
              <a:t>, not just technical coding. Hiring these "people-skilled" managers is expensive.</a:t>
            </a:r>
          </a:p>
          <a:p>
            <a:pPr marL="355600" indent="-342900">
              <a:spcBef>
                <a:spcPts val="830"/>
              </a:spcBef>
              <a:buFont typeface="Arial" panose="020B0604020202020204" pitchFamily="34" charset="0"/>
              <a:buChar char="•"/>
              <a:tabLst>
                <a:tab pos="354965" algn="l"/>
              </a:tabLst>
            </a:pPr>
            <a:r>
              <a:rPr lang="en-US" b="1" dirty="0"/>
              <a:t>Spiral Fatigue</a:t>
            </a:r>
            <a:r>
              <a:rPr lang="en-US" dirty="0"/>
              <a:t>: Because the model is iterative, it can be hard to define a clear "Finish Line". If stakeholders keep adding new "Win Conditions" in every loop, the project can spiral out of control in terms of time and budget.</a:t>
            </a:r>
            <a:endParaRPr lang="en-US" altLang="en-US" dirty="0">
              <a:latin typeface="Arial" panose="020B0604020202020204" pitchFamily="34" charset="0"/>
            </a:endParaRPr>
          </a:p>
          <a:p>
            <a:pPr marL="354965" indent="-342265">
              <a:spcBef>
                <a:spcPts val="830"/>
              </a:spcBef>
              <a:buChar char="•"/>
              <a:tabLst>
                <a:tab pos="354965" algn="l"/>
              </a:tabLst>
            </a:pPr>
            <a:endParaRPr lang="en-US" sz="2000" dirty="0"/>
          </a:p>
          <a:p>
            <a:pPr marL="354965" indent="-342265">
              <a:spcBef>
                <a:spcPts val="830"/>
              </a:spcBef>
              <a:buChar char="•"/>
              <a:tabLst>
                <a:tab pos="354965" algn="l"/>
              </a:tabLst>
            </a:pPr>
            <a:endParaRPr sz="2000" dirty="0">
              <a:latin typeface="Arial MT"/>
              <a:cs typeface="Arial MT"/>
            </a:endParaRPr>
          </a:p>
        </p:txBody>
      </p:sp>
    </p:spTree>
    <p:extLst>
      <p:ext uri="{BB962C8B-B14F-4D97-AF65-F5344CB8AC3E}">
        <p14:creationId xmlns:p14="http://schemas.microsoft.com/office/powerpoint/2010/main" val="31150198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DACC02-A2BD-4578-8E03-6D891060A695}" type="slidenum">
              <a:rPr kumimoji="0" lang="en-US" sz="1333" b="0" i="0" u="none" strike="noStrike" kern="1200" cap="none" spc="0" normalizeH="0" baseline="0" noProof="0" smtClean="0">
                <a:ln>
                  <a:noFill/>
                </a:ln>
                <a:solidFill>
                  <a:srgbClr val="595959"/>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333" b="0" i="0" u="none" strike="noStrike" kern="1200" cap="none" spc="0" normalizeH="0" baseline="0" noProof="0">
              <a:ln>
                <a:noFill/>
              </a:ln>
              <a:solidFill>
                <a:srgbClr val="595959"/>
              </a:solidFill>
              <a:effectLst/>
              <a:uLnTx/>
              <a:uFillTx/>
              <a:latin typeface="Arial"/>
              <a:ea typeface="+mn-ea"/>
              <a:cs typeface="+mn-cs"/>
            </a:endParaRPr>
          </a:p>
        </p:txBody>
      </p:sp>
      <p:sp>
        <p:nvSpPr>
          <p:cNvPr id="3" name="Rectangle 2"/>
          <p:cNvSpPr/>
          <p:nvPr/>
        </p:nvSpPr>
        <p:spPr>
          <a:xfrm>
            <a:off x="678426" y="958334"/>
            <a:ext cx="4643382" cy="52322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1" i="0" u="none" strike="noStrike" kern="1200" cap="none" spc="0" normalizeH="0" baseline="0" noProof="0" dirty="0">
                <a:ln>
                  <a:noFill/>
                </a:ln>
                <a:solidFill>
                  <a:srgbClr val="000000"/>
                </a:solidFill>
                <a:effectLst/>
                <a:uLnTx/>
                <a:uFillTx/>
                <a:latin typeface="Arial"/>
                <a:ea typeface="+mn-ea"/>
                <a:cs typeface="+mn-cs"/>
              </a:rPr>
              <a:t>Introduction to DevOps</a:t>
            </a:r>
          </a:p>
        </p:txBody>
      </p:sp>
      <p:sp>
        <p:nvSpPr>
          <p:cNvPr id="4" name="Rectangle 3"/>
          <p:cNvSpPr/>
          <p:nvPr/>
        </p:nvSpPr>
        <p:spPr>
          <a:xfrm>
            <a:off x="678425" y="2035277"/>
            <a:ext cx="5640079" cy="3266985"/>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000000"/>
                </a:solidFill>
                <a:effectLst/>
                <a:uLnTx/>
                <a:uFillTx/>
                <a:latin typeface="Arial"/>
                <a:ea typeface="+mn-ea"/>
                <a:cs typeface="+mn-cs"/>
              </a:rPr>
              <a:t>DevOps is a </a:t>
            </a:r>
            <a:r>
              <a:rPr kumimoji="0" lang="en-US" sz="2000" b="1" i="0" u="none" strike="noStrike" kern="1200" cap="none" spc="0" normalizeH="0" baseline="0" noProof="0" dirty="0">
                <a:ln>
                  <a:noFill/>
                </a:ln>
                <a:solidFill>
                  <a:srgbClr val="000000"/>
                </a:solidFill>
                <a:effectLst/>
                <a:uLnTx/>
                <a:uFillTx/>
                <a:latin typeface="Arial"/>
                <a:ea typeface="+mn-ea"/>
                <a:cs typeface="+mn-cs"/>
              </a:rPr>
              <a:t>software development paradigm</a:t>
            </a:r>
            <a:r>
              <a:rPr kumimoji="0" lang="en-US" sz="2000" b="0" i="0" u="none" strike="noStrike" kern="1200" cap="none" spc="0" normalizeH="0" baseline="0" noProof="0" dirty="0">
                <a:ln>
                  <a:noFill/>
                </a:ln>
                <a:solidFill>
                  <a:srgbClr val="000000"/>
                </a:solidFill>
                <a:effectLst/>
                <a:uLnTx/>
                <a:uFillTx/>
                <a:latin typeface="Arial"/>
                <a:ea typeface="+mn-ea"/>
                <a:cs typeface="+mn-cs"/>
              </a:rPr>
              <a:t> that combines </a:t>
            </a:r>
            <a:r>
              <a:rPr kumimoji="0" lang="en-US" sz="2000" b="1" i="0" u="none" strike="noStrike" kern="1200" cap="none" spc="0" normalizeH="0" baseline="0" noProof="0" dirty="0">
                <a:ln>
                  <a:noFill/>
                </a:ln>
                <a:solidFill>
                  <a:srgbClr val="000000"/>
                </a:solidFill>
                <a:effectLst/>
                <a:uLnTx/>
                <a:uFillTx/>
                <a:latin typeface="Arial"/>
                <a:ea typeface="+mn-ea"/>
                <a:cs typeface="+mn-cs"/>
              </a:rPr>
              <a:t>Development (Dev)</a:t>
            </a:r>
            <a:r>
              <a:rPr kumimoji="0" lang="en-US" sz="2000" b="0" i="0" u="none" strike="noStrike" kern="1200" cap="none" spc="0" normalizeH="0" baseline="0" noProof="0" dirty="0">
                <a:ln>
                  <a:noFill/>
                </a:ln>
                <a:solidFill>
                  <a:srgbClr val="000000"/>
                </a:solidFill>
                <a:effectLst/>
                <a:uLnTx/>
                <a:uFillTx/>
                <a:latin typeface="Arial"/>
                <a:ea typeface="+mn-ea"/>
                <a:cs typeface="+mn-cs"/>
              </a:rPr>
              <a:t> and </a:t>
            </a:r>
            <a:r>
              <a:rPr kumimoji="0" lang="en-US" sz="2000" b="1" i="0" u="none" strike="noStrike" kern="1200" cap="none" spc="0" normalizeH="0" baseline="0" noProof="0" dirty="0">
                <a:ln>
                  <a:noFill/>
                </a:ln>
                <a:solidFill>
                  <a:srgbClr val="000000"/>
                </a:solidFill>
                <a:effectLst/>
                <a:uLnTx/>
                <a:uFillTx/>
                <a:latin typeface="Arial"/>
                <a:ea typeface="+mn-ea"/>
                <a:cs typeface="+mn-cs"/>
              </a:rPr>
              <a:t>Operations (Ops)</a:t>
            </a:r>
            <a:r>
              <a:rPr kumimoji="0" lang="en-US" sz="2000" b="0" i="0" u="none" strike="noStrike" kern="1200" cap="none" spc="0" normalizeH="0" baseline="0" noProof="0" dirty="0">
                <a:ln>
                  <a:noFill/>
                </a:ln>
                <a:solidFill>
                  <a:srgbClr val="000000"/>
                </a:solidFill>
                <a:effectLst/>
                <a:uLnTx/>
                <a:uFillTx/>
                <a:latin typeface="Arial"/>
                <a:ea typeface="+mn-ea"/>
                <a:cs typeface="+mn-cs"/>
              </a:rPr>
              <a:t>.</a:t>
            </a: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000000"/>
                </a:solidFill>
                <a:effectLst/>
                <a:uLnTx/>
                <a:uFillTx/>
                <a:latin typeface="Arial"/>
                <a:ea typeface="+mn-ea"/>
                <a:cs typeface="+mn-cs"/>
              </a:rPr>
              <a:t>It focuses on </a:t>
            </a:r>
            <a:r>
              <a:rPr kumimoji="0" lang="en-US" sz="2000" b="1" i="0" u="none" strike="noStrike" kern="1200" cap="none" spc="0" normalizeH="0" baseline="0" noProof="0" dirty="0">
                <a:ln>
                  <a:noFill/>
                </a:ln>
                <a:solidFill>
                  <a:srgbClr val="000000"/>
                </a:solidFill>
                <a:effectLst/>
                <a:uLnTx/>
                <a:uFillTx/>
                <a:latin typeface="Arial"/>
                <a:ea typeface="+mn-ea"/>
                <a:cs typeface="+mn-cs"/>
              </a:rPr>
              <a:t>continuous collaboration</a:t>
            </a:r>
            <a:r>
              <a:rPr kumimoji="0" lang="en-US" sz="2000" b="0" i="0" u="none" strike="noStrike" kern="1200" cap="none" spc="0" normalizeH="0" baseline="0" noProof="0" dirty="0">
                <a:ln>
                  <a:noFill/>
                </a:ln>
                <a:solidFill>
                  <a:srgbClr val="000000"/>
                </a:solidFill>
                <a:effectLst/>
                <a:uLnTx/>
                <a:uFillTx/>
                <a:latin typeface="Arial"/>
                <a:ea typeface="+mn-ea"/>
                <a:cs typeface="+mn-cs"/>
              </a:rPr>
              <a:t> between developers and IT operations teams.</a:t>
            </a: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000000"/>
                </a:solidFill>
                <a:effectLst/>
                <a:uLnTx/>
                <a:uFillTx/>
                <a:latin typeface="Arial"/>
                <a:ea typeface="+mn-ea"/>
                <a:cs typeface="+mn-cs"/>
              </a:rPr>
              <a:t>The goal is to </a:t>
            </a:r>
            <a:r>
              <a:rPr kumimoji="0" lang="en-US" sz="2000" b="1" i="0" u="none" strike="noStrike" kern="1200" cap="none" spc="0" normalizeH="0" baseline="0" noProof="0" dirty="0">
                <a:ln>
                  <a:noFill/>
                </a:ln>
                <a:solidFill>
                  <a:srgbClr val="000000"/>
                </a:solidFill>
                <a:effectLst/>
                <a:uLnTx/>
                <a:uFillTx/>
                <a:latin typeface="Arial"/>
                <a:ea typeface="+mn-ea"/>
                <a:cs typeface="+mn-cs"/>
              </a:rPr>
              <a:t>deliver software faster, reliably, and with high quality</a:t>
            </a:r>
            <a:r>
              <a:rPr kumimoji="0" lang="en-US" sz="2000" b="0" i="0" u="none" strike="noStrike" kern="1200" cap="none" spc="0" normalizeH="0" baseline="0" noProof="0" dirty="0">
                <a:ln>
                  <a:noFill/>
                </a:ln>
                <a:solidFill>
                  <a:srgbClr val="000000"/>
                </a:solidFill>
                <a:effectLst/>
                <a:uLnTx/>
                <a:uFillTx/>
                <a:latin typeface="Arial"/>
                <a:ea typeface="+mn-ea"/>
                <a:cs typeface="+mn-cs"/>
              </a:rPr>
              <a:t>.</a:t>
            </a:r>
          </a:p>
        </p:txBody>
      </p:sp>
      <p:pic>
        <p:nvPicPr>
          <p:cNvPr id="10" name="Picture 9">
            <a:extLst>
              <a:ext uri="{FF2B5EF4-FFF2-40B4-BE49-F238E27FC236}">
                <a16:creationId xmlns:a16="http://schemas.microsoft.com/office/drawing/2014/main" id="{CE9BA7E7-5F32-3B55-27CC-FA0FAE08D26C}"/>
              </a:ext>
            </a:extLst>
          </p:cNvPr>
          <p:cNvPicPr>
            <a:picLocks noChangeAspect="1"/>
          </p:cNvPicPr>
          <p:nvPr/>
        </p:nvPicPr>
        <p:blipFill>
          <a:blip r:embed="rId2"/>
          <a:stretch>
            <a:fillRect/>
          </a:stretch>
        </p:blipFill>
        <p:spPr>
          <a:xfrm>
            <a:off x="6892833" y="2181581"/>
            <a:ext cx="5044877" cy="3391194"/>
          </a:xfrm>
          <a:prstGeom prst="rect">
            <a:avLst/>
          </a:prstGeom>
        </p:spPr>
      </p:pic>
    </p:spTree>
    <p:extLst>
      <p:ext uri="{BB962C8B-B14F-4D97-AF65-F5344CB8AC3E}">
        <p14:creationId xmlns:p14="http://schemas.microsoft.com/office/powerpoint/2010/main" val="41830433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128968C-7BBA-3B7D-4BF7-7C3A4C94396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DACC02-A2BD-4578-8E03-6D891060A695}" type="slidenum">
              <a:rPr kumimoji="0" lang="en-US" sz="1333" b="0" i="0" u="none" strike="noStrike" kern="1200" cap="none" spc="0" normalizeH="0" baseline="0" noProof="0" smtClean="0">
                <a:ln>
                  <a:noFill/>
                </a:ln>
                <a:solidFill>
                  <a:srgbClr val="595959"/>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333" b="0" i="0" u="none" strike="noStrike" kern="1200" cap="none" spc="0" normalizeH="0" baseline="0" noProof="0">
              <a:ln>
                <a:noFill/>
              </a:ln>
              <a:solidFill>
                <a:srgbClr val="595959"/>
              </a:solidFill>
              <a:effectLst/>
              <a:uLnTx/>
              <a:uFillTx/>
              <a:latin typeface="Arial"/>
              <a:ea typeface="+mn-ea"/>
              <a:cs typeface="+mn-cs"/>
            </a:endParaRPr>
          </a:p>
        </p:txBody>
      </p:sp>
      <p:pic>
        <p:nvPicPr>
          <p:cNvPr id="3" name="Picture 2">
            <a:extLst>
              <a:ext uri="{FF2B5EF4-FFF2-40B4-BE49-F238E27FC236}">
                <a16:creationId xmlns:a16="http://schemas.microsoft.com/office/drawing/2014/main" id="{D83F98BE-5ECF-4CC5-5D6A-43F6E18B7397}"/>
              </a:ext>
            </a:extLst>
          </p:cNvPr>
          <p:cNvPicPr>
            <a:picLocks noChangeAspect="1"/>
          </p:cNvPicPr>
          <p:nvPr/>
        </p:nvPicPr>
        <p:blipFill>
          <a:blip r:embed="rId2"/>
          <a:stretch>
            <a:fillRect/>
          </a:stretch>
        </p:blipFill>
        <p:spPr>
          <a:xfrm>
            <a:off x="1348042" y="1508760"/>
            <a:ext cx="9495915" cy="4621626"/>
          </a:xfrm>
          <a:prstGeom prst="rect">
            <a:avLst/>
          </a:prstGeom>
        </p:spPr>
      </p:pic>
      <p:sp>
        <p:nvSpPr>
          <p:cNvPr id="4" name="Rectangle 3">
            <a:extLst>
              <a:ext uri="{FF2B5EF4-FFF2-40B4-BE49-F238E27FC236}">
                <a16:creationId xmlns:a16="http://schemas.microsoft.com/office/drawing/2014/main" id="{5E927FD0-25E0-CA36-58F1-10E5427C6AE7}"/>
              </a:ext>
            </a:extLst>
          </p:cNvPr>
          <p:cNvSpPr/>
          <p:nvPr/>
        </p:nvSpPr>
        <p:spPr>
          <a:xfrm>
            <a:off x="678426" y="466004"/>
            <a:ext cx="4643382" cy="52322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1" i="0" u="none" strike="noStrike" kern="1200" cap="none" spc="0" normalizeH="0" baseline="0" noProof="0" dirty="0">
                <a:ln>
                  <a:noFill/>
                </a:ln>
                <a:solidFill>
                  <a:srgbClr val="000000"/>
                </a:solidFill>
                <a:effectLst/>
                <a:uLnTx/>
                <a:uFillTx/>
                <a:latin typeface="Arial"/>
                <a:ea typeface="+mn-ea"/>
                <a:cs typeface="+mn-cs"/>
              </a:rPr>
              <a:t>Typical SDLC </a:t>
            </a:r>
          </a:p>
        </p:txBody>
      </p:sp>
    </p:spTree>
    <p:extLst>
      <p:ext uri="{BB962C8B-B14F-4D97-AF65-F5344CB8AC3E}">
        <p14:creationId xmlns:p14="http://schemas.microsoft.com/office/powerpoint/2010/main" val="36466143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0F028D0-F2A1-E4EE-40BC-269ABF2594F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DACC02-A2BD-4578-8E03-6D891060A695}" type="slidenum">
              <a:rPr kumimoji="0" lang="en-US" sz="1333" b="0" i="0" u="none" strike="noStrike" kern="1200" cap="none" spc="0" normalizeH="0" baseline="0" noProof="0" smtClean="0">
                <a:ln>
                  <a:noFill/>
                </a:ln>
                <a:solidFill>
                  <a:srgbClr val="595959"/>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333" b="0" i="0" u="none" strike="noStrike" kern="1200" cap="none" spc="0" normalizeH="0" baseline="0" noProof="0">
              <a:ln>
                <a:noFill/>
              </a:ln>
              <a:solidFill>
                <a:srgbClr val="595959"/>
              </a:solidFill>
              <a:effectLst/>
              <a:uLnTx/>
              <a:uFillTx/>
              <a:latin typeface="Arial"/>
              <a:ea typeface="+mn-ea"/>
              <a:cs typeface="+mn-cs"/>
            </a:endParaRPr>
          </a:p>
        </p:txBody>
      </p:sp>
      <p:pic>
        <p:nvPicPr>
          <p:cNvPr id="4" name="Picture 3">
            <a:extLst>
              <a:ext uri="{FF2B5EF4-FFF2-40B4-BE49-F238E27FC236}">
                <a16:creationId xmlns:a16="http://schemas.microsoft.com/office/drawing/2014/main" id="{4F0D5DE4-D4E4-D9F9-0E4B-B3BDD11057BA}"/>
              </a:ext>
            </a:extLst>
          </p:cNvPr>
          <p:cNvPicPr>
            <a:picLocks noChangeAspect="1"/>
          </p:cNvPicPr>
          <p:nvPr/>
        </p:nvPicPr>
        <p:blipFill>
          <a:blip r:embed="rId2"/>
          <a:stretch>
            <a:fillRect/>
          </a:stretch>
        </p:blipFill>
        <p:spPr>
          <a:xfrm>
            <a:off x="1416754" y="1398656"/>
            <a:ext cx="8995607" cy="4927121"/>
          </a:xfrm>
          <a:prstGeom prst="rect">
            <a:avLst/>
          </a:prstGeom>
        </p:spPr>
      </p:pic>
    </p:spTree>
    <p:extLst>
      <p:ext uri="{BB962C8B-B14F-4D97-AF65-F5344CB8AC3E}">
        <p14:creationId xmlns:p14="http://schemas.microsoft.com/office/powerpoint/2010/main" val="23246277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CD14ED0-82E3-6416-2020-8CA670BB334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DACC02-A2BD-4578-8E03-6D891060A695}" type="slidenum">
              <a:rPr kumimoji="0" lang="en-US" sz="1333" b="0" i="0" u="none" strike="noStrike" kern="1200" cap="none" spc="0" normalizeH="0" baseline="0" noProof="0" smtClean="0">
                <a:ln>
                  <a:noFill/>
                </a:ln>
                <a:solidFill>
                  <a:srgbClr val="595959"/>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333" b="0" i="0" u="none" strike="noStrike" kern="1200" cap="none" spc="0" normalizeH="0" baseline="0" noProof="0">
              <a:ln>
                <a:noFill/>
              </a:ln>
              <a:solidFill>
                <a:srgbClr val="595959"/>
              </a:solidFill>
              <a:effectLst/>
              <a:uLnTx/>
              <a:uFillTx/>
              <a:latin typeface="Arial"/>
              <a:ea typeface="+mn-ea"/>
              <a:cs typeface="+mn-cs"/>
            </a:endParaRPr>
          </a:p>
        </p:txBody>
      </p:sp>
      <p:pic>
        <p:nvPicPr>
          <p:cNvPr id="4" name="Picture 3">
            <a:extLst>
              <a:ext uri="{FF2B5EF4-FFF2-40B4-BE49-F238E27FC236}">
                <a16:creationId xmlns:a16="http://schemas.microsoft.com/office/drawing/2014/main" id="{79E6E492-1802-5845-D0DF-0FB6956DFF53}"/>
              </a:ext>
            </a:extLst>
          </p:cNvPr>
          <p:cNvPicPr>
            <a:picLocks noChangeAspect="1"/>
          </p:cNvPicPr>
          <p:nvPr/>
        </p:nvPicPr>
        <p:blipFill>
          <a:blip r:embed="rId2"/>
          <a:stretch>
            <a:fillRect/>
          </a:stretch>
        </p:blipFill>
        <p:spPr>
          <a:xfrm>
            <a:off x="1440997" y="1394920"/>
            <a:ext cx="9310006" cy="4985412"/>
          </a:xfrm>
          <a:prstGeom prst="rect">
            <a:avLst/>
          </a:prstGeom>
        </p:spPr>
      </p:pic>
      <p:sp>
        <p:nvSpPr>
          <p:cNvPr id="5" name="TextBox 4">
            <a:extLst>
              <a:ext uri="{FF2B5EF4-FFF2-40B4-BE49-F238E27FC236}">
                <a16:creationId xmlns:a16="http://schemas.microsoft.com/office/drawing/2014/main" id="{47F4DFF4-F327-6061-86DE-1AC0047B2B4F}"/>
              </a:ext>
            </a:extLst>
          </p:cNvPr>
          <p:cNvSpPr txBox="1"/>
          <p:nvPr/>
        </p:nvSpPr>
        <p:spPr>
          <a:xfrm>
            <a:off x="8049743" y="5001415"/>
            <a:ext cx="2370103"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Arial"/>
                <a:ea typeface="+mn-ea"/>
                <a:cs typeface="+mn-cs"/>
              </a:rPr>
              <a:t>Make improvements accessible to end users immediately!</a:t>
            </a:r>
          </a:p>
        </p:txBody>
      </p:sp>
    </p:spTree>
    <p:extLst>
      <p:ext uri="{BB962C8B-B14F-4D97-AF65-F5344CB8AC3E}">
        <p14:creationId xmlns:p14="http://schemas.microsoft.com/office/powerpoint/2010/main" val="1779323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5BBD1C3-018F-3678-0414-53A2E843CE2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DACC02-A2BD-4578-8E03-6D891060A695}" type="slidenum">
              <a:rPr kumimoji="0" lang="en-US" sz="1333" b="0" i="0" u="none" strike="noStrike" kern="1200" cap="none" spc="0" normalizeH="0" baseline="0" noProof="0" smtClean="0">
                <a:ln>
                  <a:noFill/>
                </a:ln>
                <a:solidFill>
                  <a:srgbClr val="595959"/>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333" b="0" i="0" u="none" strike="noStrike" kern="1200" cap="none" spc="0" normalizeH="0" baseline="0" noProof="0">
              <a:ln>
                <a:noFill/>
              </a:ln>
              <a:solidFill>
                <a:srgbClr val="595959"/>
              </a:solidFill>
              <a:effectLst/>
              <a:uLnTx/>
              <a:uFillTx/>
              <a:latin typeface="Arial"/>
              <a:ea typeface="+mn-ea"/>
              <a:cs typeface="+mn-cs"/>
            </a:endParaRPr>
          </a:p>
        </p:txBody>
      </p:sp>
      <p:pic>
        <p:nvPicPr>
          <p:cNvPr id="4" name="Picture 3">
            <a:extLst>
              <a:ext uri="{FF2B5EF4-FFF2-40B4-BE49-F238E27FC236}">
                <a16:creationId xmlns:a16="http://schemas.microsoft.com/office/drawing/2014/main" id="{26559D07-2339-3C93-618E-B9C830398060}"/>
              </a:ext>
            </a:extLst>
          </p:cNvPr>
          <p:cNvPicPr>
            <a:picLocks noChangeAspect="1"/>
          </p:cNvPicPr>
          <p:nvPr/>
        </p:nvPicPr>
        <p:blipFill>
          <a:blip r:embed="rId2"/>
          <a:stretch>
            <a:fillRect/>
          </a:stretch>
        </p:blipFill>
        <p:spPr>
          <a:xfrm>
            <a:off x="1858312" y="1370712"/>
            <a:ext cx="8475376" cy="4925569"/>
          </a:xfrm>
          <a:prstGeom prst="rect">
            <a:avLst/>
          </a:prstGeom>
        </p:spPr>
      </p:pic>
    </p:spTree>
    <p:extLst>
      <p:ext uri="{BB962C8B-B14F-4D97-AF65-F5344CB8AC3E}">
        <p14:creationId xmlns:p14="http://schemas.microsoft.com/office/powerpoint/2010/main" val="37035348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CB85384-B29F-044F-9AC7-4E31833BBD0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DACC02-A2BD-4578-8E03-6D891060A695}" type="slidenum">
              <a:rPr kumimoji="0" lang="en-US" sz="1333" b="0" i="0" u="none" strike="noStrike" kern="1200" cap="none" spc="0" normalizeH="0" baseline="0" noProof="0" smtClean="0">
                <a:ln>
                  <a:noFill/>
                </a:ln>
                <a:solidFill>
                  <a:srgbClr val="595959"/>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333" b="0" i="0" u="none" strike="noStrike" kern="1200" cap="none" spc="0" normalizeH="0" baseline="0" noProof="0">
              <a:ln>
                <a:noFill/>
              </a:ln>
              <a:solidFill>
                <a:srgbClr val="595959"/>
              </a:solidFill>
              <a:effectLst/>
              <a:uLnTx/>
              <a:uFillTx/>
              <a:latin typeface="Arial"/>
              <a:ea typeface="+mn-ea"/>
              <a:cs typeface="+mn-cs"/>
            </a:endParaRPr>
          </a:p>
        </p:txBody>
      </p:sp>
      <p:pic>
        <p:nvPicPr>
          <p:cNvPr id="4" name="Picture 3">
            <a:extLst>
              <a:ext uri="{FF2B5EF4-FFF2-40B4-BE49-F238E27FC236}">
                <a16:creationId xmlns:a16="http://schemas.microsoft.com/office/drawing/2014/main" id="{4561059A-0003-6E31-5AC8-A7D3C531F418}"/>
              </a:ext>
            </a:extLst>
          </p:cNvPr>
          <p:cNvPicPr>
            <a:picLocks noChangeAspect="1"/>
          </p:cNvPicPr>
          <p:nvPr/>
        </p:nvPicPr>
        <p:blipFill>
          <a:blip r:embed="rId2"/>
          <a:stretch>
            <a:fillRect/>
          </a:stretch>
        </p:blipFill>
        <p:spPr>
          <a:xfrm>
            <a:off x="4768498" y="2007160"/>
            <a:ext cx="5258256" cy="3863675"/>
          </a:xfrm>
          <a:prstGeom prst="rect">
            <a:avLst/>
          </a:prstGeom>
        </p:spPr>
      </p:pic>
      <p:sp>
        <p:nvSpPr>
          <p:cNvPr id="5" name="TextBox 4">
            <a:extLst>
              <a:ext uri="{FF2B5EF4-FFF2-40B4-BE49-F238E27FC236}">
                <a16:creationId xmlns:a16="http://schemas.microsoft.com/office/drawing/2014/main" id="{79581E74-6030-B3CE-AD42-E8550CC7B715}"/>
              </a:ext>
            </a:extLst>
          </p:cNvPr>
          <p:cNvSpPr txBox="1"/>
          <p:nvPr/>
        </p:nvSpPr>
        <p:spPr>
          <a:xfrm>
            <a:off x="1307396" y="1532492"/>
            <a:ext cx="9104966"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0000"/>
                </a:solidFill>
                <a:effectLst/>
                <a:uLnTx/>
                <a:uFillTx/>
                <a:latin typeface="Arial"/>
                <a:ea typeface="+mn-ea"/>
                <a:cs typeface="+mn-cs"/>
              </a:rPr>
              <a:t>Continuous Development process – Quickly Delivering High Quality Code</a:t>
            </a:r>
          </a:p>
        </p:txBody>
      </p:sp>
      <p:pic>
        <p:nvPicPr>
          <p:cNvPr id="7" name="Picture 6">
            <a:extLst>
              <a:ext uri="{FF2B5EF4-FFF2-40B4-BE49-F238E27FC236}">
                <a16:creationId xmlns:a16="http://schemas.microsoft.com/office/drawing/2014/main" id="{A188253E-9C16-C222-1A23-8FC4BA116968}"/>
              </a:ext>
            </a:extLst>
          </p:cNvPr>
          <p:cNvPicPr>
            <a:picLocks noChangeAspect="1"/>
          </p:cNvPicPr>
          <p:nvPr/>
        </p:nvPicPr>
        <p:blipFill>
          <a:blip r:embed="rId3"/>
          <a:stretch>
            <a:fillRect/>
          </a:stretch>
        </p:blipFill>
        <p:spPr>
          <a:xfrm>
            <a:off x="2118505" y="2007160"/>
            <a:ext cx="2649993" cy="3863675"/>
          </a:xfrm>
          <a:prstGeom prst="rect">
            <a:avLst/>
          </a:prstGeom>
        </p:spPr>
      </p:pic>
    </p:spTree>
    <p:extLst>
      <p:ext uri="{BB962C8B-B14F-4D97-AF65-F5344CB8AC3E}">
        <p14:creationId xmlns:p14="http://schemas.microsoft.com/office/powerpoint/2010/main" val="15198754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87B55-8F77-7DD5-79BF-667C2AE3CA1A}"/>
              </a:ext>
            </a:extLst>
          </p:cNvPr>
          <p:cNvSpPr>
            <a:spLocks noGrp="1"/>
          </p:cNvSpPr>
          <p:nvPr>
            <p:ph type="title"/>
          </p:nvPr>
        </p:nvSpPr>
        <p:spPr/>
        <p:txBody>
          <a:bodyPr/>
          <a:lstStyle/>
          <a:p>
            <a:r>
              <a:rPr lang="en-IN" dirty="0"/>
              <a:t>Why </a:t>
            </a:r>
            <a:r>
              <a:rPr lang="en-IN" dirty="0" err="1"/>
              <a:t>Devops</a:t>
            </a:r>
            <a:r>
              <a:rPr lang="en-IN" dirty="0"/>
              <a:t>?</a:t>
            </a:r>
          </a:p>
        </p:txBody>
      </p:sp>
      <p:sp>
        <p:nvSpPr>
          <p:cNvPr id="3" name="Text Placeholder 2">
            <a:extLst>
              <a:ext uri="{FF2B5EF4-FFF2-40B4-BE49-F238E27FC236}">
                <a16:creationId xmlns:a16="http://schemas.microsoft.com/office/drawing/2014/main" id="{28DC4A77-7462-0632-398E-FAE5AFC293C7}"/>
              </a:ext>
            </a:extLst>
          </p:cNvPr>
          <p:cNvSpPr>
            <a:spLocks noGrp="1"/>
          </p:cNvSpPr>
          <p:nvPr>
            <p:ph type="body" idx="1"/>
          </p:nvPr>
        </p:nvSpPr>
        <p:spPr>
          <a:xfrm>
            <a:off x="415600" y="1852800"/>
            <a:ext cx="5756600" cy="4239200"/>
          </a:xfrm>
        </p:spPr>
        <p:txBody>
          <a:bodyPr/>
          <a:lstStyle/>
          <a:p>
            <a:pPr marL="203195" indent="0">
              <a:buNone/>
            </a:pPr>
            <a:r>
              <a:rPr lang="en-IN" b="1" dirty="0">
                <a:solidFill>
                  <a:schemeClr val="tx1"/>
                </a:solidFill>
              </a:rPr>
              <a:t>Miscommunications and lack of collaboration between the development and IT teams:</a:t>
            </a:r>
          </a:p>
          <a:p>
            <a:r>
              <a:rPr lang="en-US" dirty="0">
                <a:solidFill>
                  <a:schemeClr val="tx1"/>
                </a:solidFill>
              </a:rPr>
              <a:t>Netflix developers push a new video recommendation algorithm. It works perfectly on their laptop. But on the production server, it uses 3x more RAM because the server has a different configuration. The app crashes for millions of users.</a:t>
            </a:r>
          </a:p>
          <a:p>
            <a:r>
              <a:rPr lang="en-US" i="1" dirty="0">
                <a:solidFill>
                  <a:schemeClr val="tx1"/>
                </a:solidFill>
              </a:rPr>
              <a:t>Why?</a:t>
            </a:r>
            <a:r>
              <a:rPr lang="en-US" dirty="0">
                <a:solidFill>
                  <a:schemeClr val="tx1"/>
                </a:solidFill>
              </a:rPr>
              <a:t> Developers didn't think about production environment. Operations didn't understand what the code needed.</a:t>
            </a:r>
          </a:p>
          <a:p>
            <a:r>
              <a:rPr lang="en-US" b="1" dirty="0">
                <a:solidFill>
                  <a:schemeClr val="tx1"/>
                </a:solidFill>
              </a:rPr>
              <a:t>DevOps Fix:</a:t>
            </a:r>
            <a:r>
              <a:rPr lang="en-US" dirty="0">
                <a:solidFill>
                  <a:schemeClr val="tx1"/>
                </a:solidFill>
              </a:rPr>
              <a:t> Both teams sit together. Developers document infrastructure needs. Operations are involved from day one.</a:t>
            </a:r>
          </a:p>
          <a:p>
            <a:pPr marL="203195" indent="0">
              <a:buNone/>
            </a:pPr>
            <a:endParaRPr lang="en-IN" b="1" dirty="0">
              <a:solidFill>
                <a:schemeClr val="tx1"/>
              </a:solidFill>
            </a:endParaRPr>
          </a:p>
        </p:txBody>
      </p:sp>
      <p:pic>
        <p:nvPicPr>
          <p:cNvPr id="5" name="Picture 4">
            <a:extLst>
              <a:ext uri="{FF2B5EF4-FFF2-40B4-BE49-F238E27FC236}">
                <a16:creationId xmlns:a16="http://schemas.microsoft.com/office/drawing/2014/main" id="{E661B56C-17AE-3007-9D65-B87C99C9A2A0}"/>
              </a:ext>
            </a:extLst>
          </p:cNvPr>
          <p:cNvPicPr>
            <a:picLocks noChangeAspect="1"/>
          </p:cNvPicPr>
          <p:nvPr/>
        </p:nvPicPr>
        <p:blipFill>
          <a:blip r:embed="rId2"/>
          <a:stretch>
            <a:fillRect/>
          </a:stretch>
        </p:blipFill>
        <p:spPr>
          <a:xfrm>
            <a:off x="6454471" y="2144940"/>
            <a:ext cx="5630098" cy="2820252"/>
          </a:xfrm>
          <a:prstGeom prst="rect">
            <a:avLst/>
          </a:prstGeom>
        </p:spPr>
      </p:pic>
      <p:sp>
        <p:nvSpPr>
          <p:cNvPr id="6" name="TextBox 5">
            <a:extLst>
              <a:ext uri="{FF2B5EF4-FFF2-40B4-BE49-F238E27FC236}">
                <a16:creationId xmlns:a16="http://schemas.microsoft.com/office/drawing/2014/main" id="{5CA1C20C-E964-6DE0-B4B2-25CDCB03BEDE}"/>
              </a:ext>
            </a:extLst>
          </p:cNvPr>
          <p:cNvSpPr txBox="1"/>
          <p:nvPr/>
        </p:nvSpPr>
        <p:spPr>
          <a:xfrm>
            <a:off x="8518850" y="4445358"/>
            <a:ext cx="1903444"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Arial"/>
                <a:ea typeface="+mn-ea"/>
                <a:cs typeface="+mn-cs"/>
              </a:rPr>
              <a:t>Deployment guide for operations is not good enough</a:t>
            </a:r>
          </a:p>
        </p:txBody>
      </p:sp>
      <p:pic>
        <p:nvPicPr>
          <p:cNvPr id="8" name="Picture 7">
            <a:extLst>
              <a:ext uri="{FF2B5EF4-FFF2-40B4-BE49-F238E27FC236}">
                <a16:creationId xmlns:a16="http://schemas.microsoft.com/office/drawing/2014/main" id="{91F89B20-9C62-9E2E-53D8-0F98DEFD8836}"/>
              </a:ext>
            </a:extLst>
          </p:cNvPr>
          <p:cNvPicPr>
            <a:picLocks noChangeAspect="1"/>
          </p:cNvPicPr>
          <p:nvPr/>
        </p:nvPicPr>
        <p:blipFill>
          <a:blip r:embed="rId3"/>
          <a:stretch>
            <a:fillRect/>
          </a:stretch>
        </p:blipFill>
        <p:spPr>
          <a:xfrm>
            <a:off x="10347649" y="4388111"/>
            <a:ext cx="1650173" cy="496512"/>
          </a:xfrm>
          <a:prstGeom prst="rect">
            <a:avLst/>
          </a:prstGeom>
        </p:spPr>
      </p:pic>
    </p:spTree>
    <p:extLst>
      <p:ext uri="{BB962C8B-B14F-4D97-AF65-F5344CB8AC3E}">
        <p14:creationId xmlns:p14="http://schemas.microsoft.com/office/powerpoint/2010/main" val="18295961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3FD72-119D-DD96-EE20-73A76B1F4E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FE5458-AA26-D784-F3B0-3093A522B777}"/>
              </a:ext>
            </a:extLst>
          </p:cNvPr>
          <p:cNvSpPr>
            <a:spLocks noGrp="1"/>
          </p:cNvSpPr>
          <p:nvPr>
            <p:ph type="title"/>
          </p:nvPr>
        </p:nvSpPr>
        <p:spPr/>
        <p:txBody>
          <a:bodyPr/>
          <a:lstStyle/>
          <a:p>
            <a:r>
              <a:rPr lang="en-IN" dirty="0"/>
              <a:t>Why </a:t>
            </a:r>
            <a:r>
              <a:rPr lang="en-IN" dirty="0" err="1"/>
              <a:t>Devops</a:t>
            </a:r>
            <a:r>
              <a:rPr lang="en-IN" dirty="0"/>
              <a:t>?</a:t>
            </a:r>
          </a:p>
        </p:txBody>
      </p:sp>
      <p:sp>
        <p:nvSpPr>
          <p:cNvPr id="3" name="Text Placeholder 2">
            <a:extLst>
              <a:ext uri="{FF2B5EF4-FFF2-40B4-BE49-F238E27FC236}">
                <a16:creationId xmlns:a16="http://schemas.microsoft.com/office/drawing/2014/main" id="{F24F31E0-2698-F0B0-7FA1-00F354E66C30}"/>
              </a:ext>
            </a:extLst>
          </p:cNvPr>
          <p:cNvSpPr>
            <a:spLocks noGrp="1"/>
          </p:cNvSpPr>
          <p:nvPr>
            <p:ph type="body" idx="1"/>
          </p:nvPr>
        </p:nvSpPr>
        <p:spPr>
          <a:xfrm>
            <a:off x="415600" y="1852800"/>
            <a:ext cx="4500529" cy="4239200"/>
          </a:xfrm>
        </p:spPr>
        <p:txBody>
          <a:bodyPr/>
          <a:lstStyle/>
          <a:p>
            <a:pPr marL="203195" indent="0">
              <a:buNone/>
            </a:pPr>
            <a:r>
              <a:rPr lang="en-IN" sz="2000" b="1" dirty="0">
                <a:solidFill>
                  <a:schemeClr val="tx1"/>
                </a:solidFill>
              </a:rPr>
              <a:t>Conflicting Goals: </a:t>
            </a:r>
          </a:p>
          <a:p>
            <a:pPr marL="203195" indent="0">
              <a:buNone/>
            </a:pPr>
            <a:endParaRPr lang="en-IN" b="1" dirty="0">
              <a:solidFill>
                <a:schemeClr val="tx1"/>
              </a:solidFill>
            </a:endParaRPr>
          </a:p>
          <a:p>
            <a:pPr marL="203195" indent="0">
              <a:buNone/>
            </a:pPr>
            <a:r>
              <a:rPr lang="en-US" dirty="0">
                <a:solidFill>
                  <a:schemeClr val="tx1"/>
                </a:solidFill>
              </a:rPr>
              <a:t>Developers are measured by: </a:t>
            </a:r>
            <a:r>
              <a:rPr lang="en-US" i="1" dirty="0">
                <a:solidFill>
                  <a:schemeClr val="tx1"/>
                </a:solidFill>
              </a:rPr>
              <a:t>"How many features did you ship this month?"</a:t>
            </a:r>
            <a:endParaRPr lang="en-US" dirty="0">
              <a:solidFill>
                <a:schemeClr val="tx1"/>
              </a:solidFill>
            </a:endParaRPr>
          </a:p>
          <a:p>
            <a:pPr marL="203195" indent="0">
              <a:buNone/>
            </a:pPr>
            <a:r>
              <a:rPr lang="en-US" dirty="0">
                <a:solidFill>
                  <a:schemeClr val="tx1"/>
                </a:solidFill>
              </a:rPr>
              <a:t>Operations are measured by: </a:t>
            </a:r>
            <a:r>
              <a:rPr lang="en-US" i="1" dirty="0">
                <a:solidFill>
                  <a:schemeClr val="tx1"/>
                </a:solidFill>
              </a:rPr>
              <a:t>"How many hours was the app DOWN this month?“</a:t>
            </a:r>
          </a:p>
          <a:p>
            <a:pPr marL="203195" indent="0">
              <a:buNone/>
            </a:pPr>
            <a:endParaRPr lang="en-US" dirty="0">
              <a:solidFill>
                <a:schemeClr val="tx1"/>
              </a:solidFill>
            </a:endParaRPr>
          </a:p>
          <a:p>
            <a:pPr marL="203195" indent="0">
              <a:buNone/>
            </a:pPr>
            <a:r>
              <a:rPr lang="en-US" dirty="0">
                <a:solidFill>
                  <a:schemeClr val="tx1"/>
                </a:solidFill>
              </a:rPr>
              <a:t>These are </a:t>
            </a:r>
            <a:r>
              <a:rPr lang="en-US" b="1" dirty="0">
                <a:solidFill>
                  <a:schemeClr val="tx1"/>
                </a:solidFill>
              </a:rPr>
              <a:t>opposite incentives</a:t>
            </a:r>
            <a:r>
              <a:rPr lang="en-US" dirty="0">
                <a:solidFill>
                  <a:schemeClr val="tx1"/>
                </a:solidFill>
              </a:rPr>
              <a:t>.</a:t>
            </a:r>
          </a:p>
          <a:p>
            <a:pPr marL="203195" indent="0">
              <a:buNone/>
            </a:pPr>
            <a:endParaRPr lang="en-US" dirty="0">
              <a:solidFill>
                <a:schemeClr val="tx1"/>
              </a:solidFill>
            </a:endParaRPr>
          </a:p>
          <a:p>
            <a:pPr marL="203195" indent="0">
              <a:buNone/>
            </a:pPr>
            <a:r>
              <a:rPr lang="en-US" dirty="0">
                <a:solidFill>
                  <a:schemeClr val="tx1"/>
                </a:solidFill>
              </a:rPr>
              <a:t>Amazon deploys code to production every </a:t>
            </a:r>
            <a:r>
              <a:rPr lang="en-US" b="1" dirty="0">
                <a:solidFill>
                  <a:schemeClr val="tx1"/>
                </a:solidFill>
              </a:rPr>
              <a:t>11.7 seconds</a:t>
            </a:r>
            <a:r>
              <a:rPr lang="en-US" dirty="0">
                <a:solidFill>
                  <a:schemeClr val="tx1"/>
                </a:solidFill>
              </a:rPr>
              <a:t> (yes, really). This is only possible because Dev and Ops are no longer separate tribes — they share responsibility.</a:t>
            </a:r>
          </a:p>
          <a:p>
            <a:pPr marL="203195" indent="0">
              <a:buNone/>
            </a:pPr>
            <a:endParaRPr lang="en-IN" b="1" dirty="0">
              <a:solidFill>
                <a:schemeClr val="tx1"/>
              </a:solidFill>
            </a:endParaRPr>
          </a:p>
        </p:txBody>
      </p:sp>
      <p:pic>
        <p:nvPicPr>
          <p:cNvPr id="7" name="Picture 6">
            <a:extLst>
              <a:ext uri="{FF2B5EF4-FFF2-40B4-BE49-F238E27FC236}">
                <a16:creationId xmlns:a16="http://schemas.microsoft.com/office/drawing/2014/main" id="{D59F79FA-71AA-854B-C849-DAB589DCA822}"/>
              </a:ext>
            </a:extLst>
          </p:cNvPr>
          <p:cNvPicPr>
            <a:picLocks noChangeAspect="1"/>
          </p:cNvPicPr>
          <p:nvPr/>
        </p:nvPicPr>
        <p:blipFill>
          <a:blip r:embed="rId2"/>
          <a:stretch>
            <a:fillRect/>
          </a:stretch>
        </p:blipFill>
        <p:spPr>
          <a:xfrm>
            <a:off x="4916129" y="1329190"/>
            <a:ext cx="7023604" cy="3447247"/>
          </a:xfrm>
          <a:prstGeom prst="rect">
            <a:avLst/>
          </a:prstGeom>
        </p:spPr>
      </p:pic>
      <p:pic>
        <p:nvPicPr>
          <p:cNvPr id="10" name="Picture 9">
            <a:extLst>
              <a:ext uri="{FF2B5EF4-FFF2-40B4-BE49-F238E27FC236}">
                <a16:creationId xmlns:a16="http://schemas.microsoft.com/office/drawing/2014/main" id="{3CF805F7-28B1-3D3D-8B6D-A5683007D68C}"/>
              </a:ext>
            </a:extLst>
          </p:cNvPr>
          <p:cNvPicPr>
            <a:picLocks noChangeAspect="1"/>
          </p:cNvPicPr>
          <p:nvPr/>
        </p:nvPicPr>
        <p:blipFill>
          <a:blip r:embed="rId3"/>
          <a:stretch>
            <a:fillRect/>
          </a:stretch>
        </p:blipFill>
        <p:spPr>
          <a:xfrm>
            <a:off x="4916129" y="4696710"/>
            <a:ext cx="7023604" cy="1664199"/>
          </a:xfrm>
          <a:prstGeom prst="rect">
            <a:avLst/>
          </a:prstGeom>
        </p:spPr>
      </p:pic>
    </p:spTree>
    <p:extLst>
      <p:ext uri="{BB962C8B-B14F-4D97-AF65-F5344CB8AC3E}">
        <p14:creationId xmlns:p14="http://schemas.microsoft.com/office/powerpoint/2010/main" val="4405510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F62B4-2D8E-1DE7-3CD0-55B2D86604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B1766A-8DAA-AF21-E9CB-5BC8D883C278}"/>
              </a:ext>
            </a:extLst>
          </p:cNvPr>
          <p:cNvSpPr>
            <a:spLocks noGrp="1"/>
          </p:cNvSpPr>
          <p:nvPr>
            <p:ph type="title"/>
          </p:nvPr>
        </p:nvSpPr>
        <p:spPr/>
        <p:txBody>
          <a:bodyPr/>
          <a:lstStyle/>
          <a:p>
            <a:r>
              <a:rPr lang="en-IN" dirty="0"/>
              <a:t>Why </a:t>
            </a:r>
            <a:r>
              <a:rPr lang="en-IN" dirty="0" err="1"/>
              <a:t>Devops</a:t>
            </a:r>
            <a:r>
              <a:rPr lang="en-IN" dirty="0"/>
              <a:t>?</a:t>
            </a:r>
          </a:p>
        </p:txBody>
      </p:sp>
      <p:sp>
        <p:nvSpPr>
          <p:cNvPr id="3" name="Text Placeholder 2">
            <a:extLst>
              <a:ext uri="{FF2B5EF4-FFF2-40B4-BE49-F238E27FC236}">
                <a16:creationId xmlns:a16="http://schemas.microsoft.com/office/drawing/2014/main" id="{C65110BA-7800-0525-6365-734F8CCB4249}"/>
              </a:ext>
            </a:extLst>
          </p:cNvPr>
          <p:cNvSpPr>
            <a:spLocks noGrp="1"/>
          </p:cNvSpPr>
          <p:nvPr>
            <p:ph type="body" idx="1"/>
          </p:nvPr>
        </p:nvSpPr>
        <p:spPr>
          <a:xfrm>
            <a:off x="415600" y="1852800"/>
            <a:ext cx="4500529" cy="4239200"/>
          </a:xfrm>
        </p:spPr>
        <p:txBody>
          <a:bodyPr>
            <a:normAutofit/>
          </a:bodyPr>
          <a:lstStyle/>
          <a:p>
            <a:pPr marL="203195" indent="0">
              <a:buNone/>
            </a:pPr>
            <a:r>
              <a:rPr lang="en-IN" sz="2000" b="1" dirty="0">
                <a:solidFill>
                  <a:schemeClr val="tx1"/>
                </a:solidFill>
              </a:rPr>
              <a:t>Security:</a:t>
            </a:r>
            <a:endParaRPr lang="en-IN" b="1" dirty="0">
              <a:solidFill>
                <a:schemeClr val="tx1"/>
              </a:solidFill>
            </a:endParaRPr>
          </a:p>
          <a:p>
            <a:pPr marL="203195" indent="0">
              <a:buNone/>
            </a:pPr>
            <a:r>
              <a:rPr lang="en-US" dirty="0">
                <a:solidFill>
                  <a:schemeClr val="tx1"/>
                </a:solidFill>
              </a:rPr>
              <a:t>A startup builds an app, ships it fast, and only calls the security team </a:t>
            </a:r>
            <a:r>
              <a:rPr lang="en-US" i="1" dirty="0">
                <a:solidFill>
                  <a:schemeClr val="tx1"/>
                </a:solidFill>
              </a:rPr>
              <a:t>after</a:t>
            </a:r>
            <a:r>
              <a:rPr lang="en-US" dirty="0">
                <a:solidFill>
                  <a:schemeClr val="tx1"/>
                </a:solidFill>
              </a:rPr>
              <a:t> launch. Security team finds 12 vulnerabilities. Now they have to patch a live system used by customers — very risky.</a:t>
            </a:r>
          </a:p>
          <a:p>
            <a:endParaRPr lang="en-US" dirty="0">
              <a:solidFill>
                <a:schemeClr val="tx1"/>
              </a:solidFill>
            </a:endParaRPr>
          </a:p>
          <a:p>
            <a:pPr marL="203195" indent="0">
              <a:buNone/>
            </a:pPr>
            <a:r>
              <a:rPr lang="en-US" b="1" dirty="0" err="1">
                <a:solidFill>
                  <a:schemeClr val="tx1"/>
                </a:solidFill>
              </a:rPr>
              <a:t>DevSecOps</a:t>
            </a:r>
            <a:r>
              <a:rPr lang="en-US" b="1" dirty="0">
                <a:solidFill>
                  <a:schemeClr val="tx1"/>
                </a:solidFill>
              </a:rPr>
              <a:t> Fix:</a:t>
            </a:r>
            <a:r>
              <a:rPr lang="en-US" dirty="0">
                <a:solidFill>
                  <a:schemeClr val="tx1"/>
                </a:solidFill>
              </a:rPr>
              <a:t> Security checks are </a:t>
            </a:r>
            <a:r>
              <a:rPr lang="en-US" i="1" dirty="0">
                <a:solidFill>
                  <a:schemeClr val="tx1"/>
                </a:solidFill>
              </a:rPr>
              <a:t>baked into</a:t>
            </a:r>
            <a:r>
              <a:rPr lang="en-US" dirty="0">
                <a:solidFill>
                  <a:schemeClr val="tx1"/>
                </a:solidFill>
              </a:rPr>
              <a:t> the pipeline. Every time code is pushed, an automated security scanner runs. No human bottleneck.</a:t>
            </a:r>
          </a:p>
          <a:p>
            <a:pPr marL="203195" indent="0">
              <a:buNone/>
            </a:pPr>
            <a:r>
              <a:rPr lang="en-US" dirty="0">
                <a:solidFill>
                  <a:schemeClr val="tx1"/>
                </a:solidFill>
              </a:rPr>
              <a:t>.</a:t>
            </a:r>
          </a:p>
          <a:p>
            <a:pPr marL="203195" indent="0">
              <a:buNone/>
            </a:pPr>
            <a:endParaRPr lang="en-IN" b="1" dirty="0">
              <a:solidFill>
                <a:schemeClr val="tx1"/>
              </a:solidFill>
            </a:endParaRPr>
          </a:p>
        </p:txBody>
      </p:sp>
      <p:pic>
        <p:nvPicPr>
          <p:cNvPr id="5" name="Picture 4">
            <a:extLst>
              <a:ext uri="{FF2B5EF4-FFF2-40B4-BE49-F238E27FC236}">
                <a16:creationId xmlns:a16="http://schemas.microsoft.com/office/drawing/2014/main" id="{C55E5630-BDAF-83F0-70ED-1160B63AB03F}"/>
              </a:ext>
            </a:extLst>
          </p:cNvPr>
          <p:cNvPicPr>
            <a:picLocks noChangeAspect="1"/>
          </p:cNvPicPr>
          <p:nvPr/>
        </p:nvPicPr>
        <p:blipFill>
          <a:blip r:embed="rId2"/>
          <a:stretch>
            <a:fillRect/>
          </a:stretch>
        </p:blipFill>
        <p:spPr>
          <a:xfrm>
            <a:off x="4916129" y="1852800"/>
            <a:ext cx="7019505" cy="3302590"/>
          </a:xfrm>
          <a:prstGeom prst="rect">
            <a:avLst/>
          </a:prstGeom>
        </p:spPr>
      </p:pic>
    </p:spTree>
    <p:extLst>
      <p:ext uri="{BB962C8B-B14F-4D97-AF65-F5344CB8AC3E}">
        <p14:creationId xmlns:p14="http://schemas.microsoft.com/office/powerpoint/2010/main" val="33959806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8463C-BB5D-F45D-546E-183EC7FC38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B1A935-1078-8F23-ECAF-72FD1D226F4E}"/>
              </a:ext>
            </a:extLst>
          </p:cNvPr>
          <p:cNvSpPr>
            <a:spLocks noGrp="1"/>
          </p:cNvSpPr>
          <p:nvPr>
            <p:ph type="title"/>
          </p:nvPr>
        </p:nvSpPr>
        <p:spPr/>
        <p:txBody>
          <a:bodyPr/>
          <a:lstStyle/>
          <a:p>
            <a:r>
              <a:rPr lang="en-IN" dirty="0"/>
              <a:t>Why </a:t>
            </a:r>
            <a:r>
              <a:rPr lang="en-IN" dirty="0" err="1"/>
              <a:t>Devops</a:t>
            </a:r>
            <a:r>
              <a:rPr lang="en-IN" dirty="0"/>
              <a:t>?</a:t>
            </a:r>
          </a:p>
        </p:txBody>
      </p:sp>
      <p:sp>
        <p:nvSpPr>
          <p:cNvPr id="3" name="Text Placeholder 2">
            <a:extLst>
              <a:ext uri="{FF2B5EF4-FFF2-40B4-BE49-F238E27FC236}">
                <a16:creationId xmlns:a16="http://schemas.microsoft.com/office/drawing/2014/main" id="{2C945D72-814D-CE9A-4FC2-45AC2AE78AA9}"/>
              </a:ext>
            </a:extLst>
          </p:cNvPr>
          <p:cNvSpPr>
            <a:spLocks noGrp="1"/>
          </p:cNvSpPr>
          <p:nvPr>
            <p:ph type="body" idx="1"/>
          </p:nvPr>
        </p:nvSpPr>
        <p:spPr>
          <a:xfrm>
            <a:off x="415600" y="1852800"/>
            <a:ext cx="4500529" cy="4239200"/>
          </a:xfrm>
        </p:spPr>
        <p:txBody>
          <a:bodyPr>
            <a:normAutofit/>
          </a:bodyPr>
          <a:lstStyle/>
          <a:p>
            <a:pPr marL="203195" indent="0">
              <a:buNone/>
            </a:pPr>
            <a:r>
              <a:rPr lang="en-IN" sz="2000" b="1" dirty="0">
                <a:solidFill>
                  <a:schemeClr val="tx1"/>
                </a:solidFill>
              </a:rPr>
              <a:t>No Automated Testing: </a:t>
            </a:r>
          </a:p>
          <a:p>
            <a:pPr marL="203195" indent="0">
              <a:buNone/>
            </a:pPr>
            <a:endParaRPr lang="en-IN" sz="2000" dirty="0">
              <a:solidFill>
                <a:schemeClr val="tx1"/>
              </a:solidFill>
            </a:endParaRPr>
          </a:p>
          <a:p>
            <a:pPr marL="203195" indent="0">
              <a:buNone/>
            </a:pPr>
            <a:r>
              <a:rPr lang="en-US" dirty="0">
                <a:solidFill>
                  <a:schemeClr val="tx1"/>
                </a:solidFill>
              </a:rPr>
              <a:t>Facebook once pushed a bug that logged out </a:t>
            </a:r>
            <a:r>
              <a:rPr lang="en-US" i="1" dirty="0">
                <a:solidFill>
                  <a:schemeClr val="tx1"/>
                </a:solidFill>
              </a:rPr>
              <a:t>every user on Earth</a:t>
            </a:r>
            <a:r>
              <a:rPr lang="en-US" dirty="0">
                <a:solidFill>
                  <a:schemeClr val="tx1"/>
                </a:solidFill>
              </a:rPr>
              <a:t> simultaneously. Why? A routine config change wasn't tested properly.</a:t>
            </a:r>
          </a:p>
          <a:p>
            <a:pPr marL="203195" indent="0">
              <a:buNone/>
            </a:pPr>
            <a:endParaRPr lang="en-US" b="1" dirty="0">
              <a:solidFill>
                <a:schemeClr val="tx1"/>
              </a:solidFill>
            </a:endParaRPr>
          </a:p>
          <a:p>
            <a:pPr marL="203195" indent="0">
              <a:buNone/>
            </a:pPr>
            <a:r>
              <a:rPr lang="en-US" b="1" dirty="0">
                <a:solidFill>
                  <a:schemeClr val="tx1"/>
                </a:solidFill>
              </a:rPr>
              <a:t>DevOps Fix:</a:t>
            </a:r>
            <a:r>
              <a:rPr lang="en-US" dirty="0">
                <a:solidFill>
                  <a:schemeClr val="tx1"/>
                </a:solidFill>
              </a:rPr>
              <a:t> Automated tests run on </a:t>
            </a:r>
            <a:r>
              <a:rPr lang="en-US" i="1" dirty="0">
                <a:solidFill>
                  <a:schemeClr val="tx1"/>
                </a:solidFill>
              </a:rPr>
              <a:t>every single code change</a:t>
            </a:r>
            <a:r>
              <a:rPr lang="en-US" dirty="0">
                <a:solidFill>
                  <a:schemeClr val="tx1"/>
                </a:solidFill>
              </a:rPr>
              <a:t>, before it ever reaches production</a:t>
            </a:r>
            <a:r>
              <a:rPr lang="en-US" dirty="0"/>
              <a:t>.</a:t>
            </a:r>
          </a:p>
          <a:p>
            <a:pPr marL="203195" indent="0">
              <a:buNone/>
            </a:pPr>
            <a:r>
              <a:rPr lang="en-US" dirty="0">
                <a:solidFill>
                  <a:schemeClr val="tx1"/>
                </a:solidFill>
              </a:rPr>
              <a:t>.</a:t>
            </a:r>
          </a:p>
          <a:p>
            <a:pPr marL="203195" indent="0">
              <a:buNone/>
            </a:pPr>
            <a:endParaRPr lang="en-IN" b="1" dirty="0">
              <a:solidFill>
                <a:schemeClr val="tx1"/>
              </a:solidFill>
            </a:endParaRPr>
          </a:p>
        </p:txBody>
      </p:sp>
      <p:pic>
        <p:nvPicPr>
          <p:cNvPr id="6" name="Picture 5">
            <a:extLst>
              <a:ext uri="{FF2B5EF4-FFF2-40B4-BE49-F238E27FC236}">
                <a16:creationId xmlns:a16="http://schemas.microsoft.com/office/drawing/2014/main" id="{D4614A8E-2DF2-F6D1-6A5C-C83C00DFCE8C}"/>
              </a:ext>
            </a:extLst>
          </p:cNvPr>
          <p:cNvPicPr>
            <a:picLocks noChangeAspect="1"/>
          </p:cNvPicPr>
          <p:nvPr/>
        </p:nvPicPr>
        <p:blipFill>
          <a:blip r:embed="rId2"/>
          <a:stretch>
            <a:fillRect/>
          </a:stretch>
        </p:blipFill>
        <p:spPr>
          <a:xfrm>
            <a:off x="5773564" y="1454636"/>
            <a:ext cx="5408808" cy="2783068"/>
          </a:xfrm>
          <a:prstGeom prst="rect">
            <a:avLst/>
          </a:prstGeom>
        </p:spPr>
      </p:pic>
      <p:pic>
        <p:nvPicPr>
          <p:cNvPr id="8" name="Picture 7">
            <a:extLst>
              <a:ext uri="{FF2B5EF4-FFF2-40B4-BE49-F238E27FC236}">
                <a16:creationId xmlns:a16="http://schemas.microsoft.com/office/drawing/2014/main" id="{C8FB868E-B8F0-33C9-AE59-74C023829475}"/>
              </a:ext>
            </a:extLst>
          </p:cNvPr>
          <p:cNvPicPr>
            <a:picLocks noChangeAspect="1"/>
          </p:cNvPicPr>
          <p:nvPr/>
        </p:nvPicPr>
        <p:blipFill>
          <a:blip r:embed="rId3"/>
          <a:stretch>
            <a:fillRect/>
          </a:stretch>
        </p:blipFill>
        <p:spPr>
          <a:xfrm>
            <a:off x="1877962" y="4475808"/>
            <a:ext cx="1787578" cy="1830467"/>
          </a:xfrm>
          <a:prstGeom prst="rect">
            <a:avLst/>
          </a:prstGeom>
        </p:spPr>
      </p:pic>
      <p:pic>
        <p:nvPicPr>
          <p:cNvPr id="12" name="Picture 11">
            <a:extLst>
              <a:ext uri="{FF2B5EF4-FFF2-40B4-BE49-F238E27FC236}">
                <a16:creationId xmlns:a16="http://schemas.microsoft.com/office/drawing/2014/main" id="{B4FE150A-1E70-AD53-C9FB-7694EB43777C}"/>
              </a:ext>
            </a:extLst>
          </p:cNvPr>
          <p:cNvPicPr>
            <a:picLocks noChangeAspect="1"/>
          </p:cNvPicPr>
          <p:nvPr/>
        </p:nvPicPr>
        <p:blipFill>
          <a:blip r:embed="rId4"/>
          <a:stretch>
            <a:fillRect/>
          </a:stretch>
        </p:blipFill>
        <p:spPr>
          <a:xfrm>
            <a:off x="5773565" y="4237704"/>
            <a:ext cx="5408808" cy="1996883"/>
          </a:xfrm>
          <a:prstGeom prst="rect">
            <a:avLst/>
          </a:prstGeom>
        </p:spPr>
      </p:pic>
    </p:spTree>
    <p:extLst>
      <p:ext uri="{BB962C8B-B14F-4D97-AF65-F5344CB8AC3E}">
        <p14:creationId xmlns:p14="http://schemas.microsoft.com/office/powerpoint/2010/main" val="17540951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FA3B7-8AE7-A5A2-3D3D-F805B00C2DB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295B561-189F-3AED-F3D4-CE8D00A791A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DACC02-A2BD-4578-8E03-6D891060A695}" type="slidenum">
              <a:rPr kumimoji="0" lang="en-US" sz="1333" b="0" i="0" u="none" strike="noStrike" kern="1200" cap="none" spc="0" normalizeH="0" baseline="0" noProof="0" smtClean="0">
                <a:ln>
                  <a:noFill/>
                </a:ln>
                <a:solidFill>
                  <a:srgbClr val="595959"/>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333" b="0" i="0" u="none" strike="noStrike" kern="1200" cap="none" spc="0" normalizeH="0" baseline="0" noProof="0">
              <a:ln>
                <a:noFill/>
              </a:ln>
              <a:solidFill>
                <a:srgbClr val="595959"/>
              </a:solidFill>
              <a:effectLst/>
              <a:uLnTx/>
              <a:uFillTx/>
              <a:latin typeface="Arial"/>
              <a:ea typeface="+mn-ea"/>
              <a:cs typeface="+mn-cs"/>
            </a:endParaRPr>
          </a:p>
        </p:txBody>
      </p:sp>
      <p:pic>
        <p:nvPicPr>
          <p:cNvPr id="10" name="Picture 9">
            <a:extLst>
              <a:ext uri="{FF2B5EF4-FFF2-40B4-BE49-F238E27FC236}">
                <a16:creationId xmlns:a16="http://schemas.microsoft.com/office/drawing/2014/main" id="{F53BB235-87FA-AA2F-E983-6DF8765D3156}"/>
              </a:ext>
            </a:extLst>
          </p:cNvPr>
          <p:cNvPicPr>
            <a:picLocks noChangeAspect="1"/>
          </p:cNvPicPr>
          <p:nvPr/>
        </p:nvPicPr>
        <p:blipFill>
          <a:blip r:embed="rId2"/>
          <a:stretch>
            <a:fillRect/>
          </a:stretch>
        </p:blipFill>
        <p:spPr>
          <a:xfrm>
            <a:off x="6302478" y="1095758"/>
            <a:ext cx="2931362" cy="1970478"/>
          </a:xfrm>
          <a:prstGeom prst="rect">
            <a:avLst/>
          </a:prstGeom>
        </p:spPr>
      </p:pic>
      <p:pic>
        <p:nvPicPr>
          <p:cNvPr id="6" name="Picture 5">
            <a:extLst>
              <a:ext uri="{FF2B5EF4-FFF2-40B4-BE49-F238E27FC236}">
                <a16:creationId xmlns:a16="http://schemas.microsoft.com/office/drawing/2014/main" id="{6A9C399B-29BC-4586-F6F4-A53DEEDA622B}"/>
              </a:ext>
            </a:extLst>
          </p:cNvPr>
          <p:cNvPicPr>
            <a:picLocks noChangeAspect="1"/>
          </p:cNvPicPr>
          <p:nvPr/>
        </p:nvPicPr>
        <p:blipFill>
          <a:blip r:embed="rId3"/>
          <a:stretch>
            <a:fillRect/>
          </a:stretch>
        </p:blipFill>
        <p:spPr>
          <a:xfrm>
            <a:off x="678424" y="3286273"/>
            <a:ext cx="9448801" cy="2849146"/>
          </a:xfrm>
          <a:prstGeom prst="rect">
            <a:avLst/>
          </a:prstGeom>
        </p:spPr>
      </p:pic>
      <p:sp>
        <p:nvSpPr>
          <p:cNvPr id="7" name="Rectangle 6">
            <a:extLst>
              <a:ext uri="{FF2B5EF4-FFF2-40B4-BE49-F238E27FC236}">
                <a16:creationId xmlns:a16="http://schemas.microsoft.com/office/drawing/2014/main" id="{F614F03C-1013-7143-4CB6-72ADFA208C62}"/>
              </a:ext>
            </a:extLst>
          </p:cNvPr>
          <p:cNvSpPr/>
          <p:nvPr/>
        </p:nvSpPr>
        <p:spPr>
          <a:xfrm>
            <a:off x="646642" y="722581"/>
            <a:ext cx="5587010" cy="2343655"/>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a:ea typeface="+mn-ea"/>
                <a:cs typeface="+mn-cs"/>
              </a:rPr>
              <a:t>DevOps is the practice of </a:t>
            </a:r>
            <a:r>
              <a:rPr kumimoji="0" lang="en-US" sz="2000" b="0" i="0" u="none" strike="noStrike" kern="1200" cap="none" spc="0" normalizeH="0" baseline="0" noProof="0" dirty="0">
                <a:ln>
                  <a:noFill/>
                </a:ln>
                <a:solidFill>
                  <a:srgbClr val="EEFF41">
                    <a:lumMod val="50000"/>
                  </a:srgbClr>
                </a:solidFill>
                <a:effectLst/>
                <a:uLnTx/>
                <a:uFillTx/>
                <a:latin typeface="Arial"/>
                <a:ea typeface="+mn-ea"/>
                <a:cs typeface="+mn-cs"/>
              </a:rPr>
              <a:t>continuously delivering</a:t>
            </a:r>
            <a:r>
              <a:rPr kumimoji="0" lang="en-US" sz="2000" b="0" i="0" u="none" strike="noStrike" kern="1200" cap="none" spc="0" normalizeH="0" baseline="0" noProof="0" dirty="0">
                <a:ln>
                  <a:noFill/>
                </a:ln>
                <a:solidFill>
                  <a:srgbClr val="000000"/>
                </a:solidFill>
                <a:effectLst/>
                <a:uLnTx/>
                <a:uFillTx/>
                <a:latin typeface="Arial"/>
                <a:ea typeface="+mn-ea"/>
                <a:cs typeface="+mn-cs"/>
              </a:rPr>
              <a:t> </a:t>
            </a:r>
            <a:r>
              <a:rPr kumimoji="0" lang="en-US" sz="2000" b="0" i="0" u="none" strike="noStrike" kern="1200" cap="none" spc="0" normalizeH="0" baseline="0" noProof="0" dirty="0">
                <a:ln>
                  <a:noFill/>
                </a:ln>
                <a:solidFill>
                  <a:srgbClr val="FFAB40">
                    <a:lumMod val="75000"/>
                  </a:srgbClr>
                </a:solidFill>
                <a:effectLst/>
                <a:uLnTx/>
                <a:uFillTx/>
                <a:latin typeface="Arial"/>
                <a:ea typeface="+mn-ea"/>
                <a:cs typeface="+mn-cs"/>
              </a:rPr>
              <a:t>high-quality software </a:t>
            </a:r>
            <a:r>
              <a:rPr kumimoji="0" lang="en-US" sz="2000" b="0" i="0" u="none" strike="noStrike" kern="1200" cap="none" spc="0" normalizeH="0" baseline="0" noProof="0" dirty="0">
                <a:ln>
                  <a:noFill/>
                </a:ln>
                <a:solidFill>
                  <a:srgbClr val="0097A7">
                    <a:lumMod val="60000"/>
                    <a:lumOff val="40000"/>
                  </a:srgbClr>
                </a:solidFill>
                <a:effectLst/>
                <a:uLnTx/>
                <a:uFillTx/>
                <a:latin typeface="Arial"/>
                <a:ea typeface="+mn-ea"/>
                <a:cs typeface="+mn-cs"/>
              </a:rPr>
              <a:t>faster</a:t>
            </a:r>
            <a:r>
              <a:rPr kumimoji="0" lang="en-US" sz="2000" b="0" i="0" u="none" strike="noStrike" kern="1200" cap="none" spc="0" normalizeH="0" baseline="0" noProof="0" dirty="0">
                <a:ln>
                  <a:noFill/>
                </a:ln>
                <a:solidFill>
                  <a:srgbClr val="000000"/>
                </a:solidFill>
                <a:effectLst/>
                <a:uLnTx/>
                <a:uFillTx/>
                <a:latin typeface="Arial"/>
                <a:ea typeface="+mn-ea"/>
                <a:cs typeface="+mn-cs"/>
              </a:rPr>
              <a:t> by </a:t>
            </a:r>
            <a:r>
              <a:rPr kumimoji="0" lang="en-US" sz="2000" b="0" i="0" u="none" strike="noStrike" kern="1200" cap="none" spc="0" normalizeH="0" baseline="0" noProof="0" dirty="0">
                <a:ln>
                  <a:noFill/>
                </a:ln>
                <a:solidFill>
                  <a:srgbClr val="4285F4">
                    <a:lumMod val="75000"/>
                  </a:srgbClr>
                </a:solidFill>
                <a:effectLst/>
                <a:uLnTx/>
                <a:uFillTx/>
                <a:latin typeface="Arial"/>
                <a:ea typeface="+mn-ea"/>
                <a:cs typeface="+mn-cs"/>
              </a:rPr>
              <a:t>unifying development and operations </a:t>
            </a:r>
            <a:r>
              <a:rPr kumimoji="0" lang="en-US" sz="2000" b="0" i="0" u="none" strike="noStrike" kern="1200" cap="none" spc="0" normalizeH="0" baseline="0" noProof="0" dirty="0">
                <a:ln>
                  <a:noFill/>
                </a:ln>
                <a:solidFill>
                  <a:srgbClr val="000000"/>
                </a:solidFill>
                <a:effectLst/>
                <a:uLnTx/>
                <a:uFillTx/>
                <a:latin typeface="Arial"/>
                <a:ea typeface="+mn-ea"/>
                <a:cs typeface="+mn-cs"/>
              </a:rPr>
              <a:t>through shared culture, automation, </a:t>
            </a:r>
            <a:r>
              <a:rPr kumimoji="0" lang="en-US" sz="2000" b="0" i="0" u="none" strike="noStrike" kern="1200" cap="none" spc="0" normalizeH="0" baseline="0" noProof="0" dirty="0">
                <a:ln>
                  <a:noFill/>
                </a:ln>
                <a:solidFill>
                  <a:srgbClr val="FFC000"/>
                </a:solidFill>
                <a:effectLst/>
                <a:uLnTx/>
                <a:uFillTx/>
                <a:latin typeface="Arial"/>
                <a:ea typeface="+mn-ea"/>
                <a:cs typeface="+mn-cs"/>
              </a:rPr>
              <a:t>continuous testing</a:t>
            </a:r>
            <a:r>
              <a:rPr kumimoji="0" lang="en-US" sz="2000" b="0" i="0" u="none" strike="noStrike" kern="1200" cap="none" spc="0" normalizeH="0" baseline="0" noProof="0" dirty="0">
                <a:ln>
                  <a:noFill/>
                </a:ln>
                <a:solidFill>
                  <a:srgbClr val="000000"/>
                </a:solidFill>
                <a:effectLst/>
                <a:uLnTx/>
                <a:uFillTx/>
                <a:latin typeface="Arial"/>
                <a:ea typeface="+mn-ea"/>
                <a:cs typeface="+mn-cs"/>
              </a:rPr>
              <a:t>, and </a:t>
            </a:r>
            <a:r>
              <a:rPr kumimoji="0" lang="en-US" sz="2000" b="0" i="0" u="none" strike="noStrike" kern="1200" cap="none" spc="0" normalizeH="0" baseline="0" noProof="0" dirty="0">
                <a:ln>
                  <a:noFill/>
                </a:ln>
                <a:solidFill>
                  <a:srgbClr val="7030A0"/>
                </a:solidFill>
                <a:effectLst/>
                <a:uLnTx/>
                <a:uFillTx/>
                <a:latin typeface="Arial"/>
                <a:ea typeface="+mn-ea"/>
                <a:cs typeface="+mn-cs"/>
              </a:rPr>
              <a:t>constant monitoring.</a:t>
            </a:r>
          </a:p>
        </p:txBody>
      </p:sp>
    </p:spTree>
    <p:extLst>
      <p:ext uri="{BB962C8B-B14F-4D97-AF65-F5344CB8AC3E}">
        <p14:creationId xmlns:p14="http://schemas.microsoft.com/office/powerpoint/2010/main" val="10110601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DACC02-A2BD-4578-8E03-6D891060A695}" type="slidenum">
              <a:rPr kumimoji="0" lang="en-US" sz="1333" b="0" i="0" u="none" strike="noStrike" kern="1200" cap="none" spc="0" normalizeH="0" baseline="0" noProof="0" smtClean="0">
                <a:ln>
                  <a:noFill/>
                </a:ln>
                <a:solidFill>
                  <a:srgbClr val="595959"/>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333" b="0" i="0" u="none" strike="noStrike" kern="1200" cap="none" spc="0" normalizeH="0" baseline="0" noProof="0">
              <a:ln>
                <a:noFill/>
              </a:ln>
              <a:solidFill>
                <a:srgbClr val="595959"/>
              </a:solidFill>
              <a:effectLst/>
              <a:uLnTx/>
              <a:uFillTx/>
              <a:latin typeface="Arial"/>
              <a:ea typeface="+mn-ea"/>
              <a:cs typeface="+mn-cs"/>
            </a:endParaRPr>
          </a:p>
        </p:txBody>
      </p:sp>
      <p:sp>
        <p:nvSpPr>
          <p:cNvPr id="3" name="Rectangle 2"/>
          <p:cNvSpPr/>
          <p:nvPr/>
        </p:nvSpPr>
        <p:spPr>
          <a:xfrm>
            <a:off x="678426" y="525715"/>
            <a:ext cx="6843251" cy="52322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1" i="0" u="none" strike="noStrike" kern="1200" cap="none" spc="0" normalizeH="0" baseline="0" noProof="0" dirty="0">
                <a:ln>
                  <a:noFill/>
                </a:ln>
                <a:solidFill>
                  <a:srgbClr val="000000"/>
                </a:solidFill>
                <a:effectLst/>
                <a:uLnTx/>
                <a:uFillTx/>
                <a:latin typeface="Arial"/>
                <a:ea typeface="+mn-ea"/>
                <a:cs typeface="+mn-cs"/>
              </a:rPr>
              <a:t>Key Principles of DevOps</a:t>
            </a:r>
          </a:p>
        </p:txBody>
      </p:sp>
      <p:sp>
        <p:nvSpPr>
          <p:cNvPr id="7" name="Rectangle 6"/>
          <p:cNvSpPr/>
          <p:nvPr/>
        </p:nvSpPr>
        <p:spPr>
          <a:xfrm>
            <a:off x="678426" y="1280352"/>
            <a:ext cx="10323872" cy="5078313"/>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1. Collaboration &amp; Shared Responsibility</a:t>
            </a:r>
            <a:r>
              <a:rPr kumimoji="0" lang="en-US" sz="1800" b="0" i="0" u="none" strike="noStrike" kern="1200" cap="none" spc="0" normalizeH="0" baseline="0" noProof="0" dirty="0">
                <a:ln>
                  <a:noFill/>
                </a:ln>
                <a:solidFill>
                  <a:srgbClr val="000000"/>
                </a:solidFill>
                <a:effectLst/>
                <a:uLnTx/>
                <a:uFillTx/>
                <a:latin typeface="Arial"/>
                <a:ea typeface="+mn-ea"/>
                <a:cs typeface="+mn-cs"/>
              </a:rPr>
              <a:t> Developers and operations work as a single unified team, sharing ownership of the entire software lifecycle — from writing code to keeping it running in production. There are no silos, no blame games. When something breaks at 2 AM, it's everyone's problem, not just Ops.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2. Automation</a:t>
            </a:r>
            <a:r>
              <a:rPr kumimoji="0" lang="en-US" sz="1800" b="0" i="0" u="none" strike="noStrike" kern="1200" cap="none" spc="0" normalizeH="0" baseline="0" noProof="0" dirty="0">
                <a:ln>
                  <a:noFill/>
                </a:ln>
                <a:solidFill>
                  <a:srgbClr val="000000"/>
                </a:solidFill>
                <a:effectLst/>
                <a:uLnTx/>
                <a:uFillTx/>
                <a:latin typeface="Arial"/>
                <a:ea typeface="+mn-ea"/>
                <a:cs typeface="+mn-cs"/>
              </a:rPr>
              <a:t> Every repetitive manual task — building, testing, deploying, infrastructure setup, security checks — is automated. This eliminates human error, speeds up delivery, and frees engineers to focus on meaningful work rather than clicking buttons.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3. Continuous Integration &amp; Continuous Deployment (CI/CD)</a:t>
            </a:r>
            <a:r>
              <a:rPr kumimoji="0" lang="en-US" sz="1800" b="0" i="0" u="none" strike="noStrike" kern="1200" cap="none" spc="0" normalizeH="0" baseline="0" noProof="0" dirty="0">
                <a:ln>
                  <a:noFill/>
                </a:ln>
                <a:solidFill>
                  <a:srgbClr val="000000"/>
                </a:solidFill>
                <a:effectLst/>
                <a:uLnTx/>
                <a:uFillTx/>
                <a:latin typeface="Arial"/>
                <a:ea typeface="+mn-ea"/>
                <a:cs typeface="+mn-cs"/>
              </a:rPr>
              <a:t> Code changes are frequently merged, automatically tested, and rapidly released to users. Instead of one big risky release every few months, small safe changes go out constantly — making each deployment less scary and easier to roll back if needed.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4. Continuous Testing</a:t>
            </a:r>
            <a:r>
              <a:rPr kumimoji="0" lang="en-US" sz="1800" b="0" i="0" u="none" strike="noStrike" kern="1200" cap="none" spc="0" normalizeH="0" baseline="0" noProof="0" dirty="0">
                <a:ln>
                  <a:noFill/>
                </a:ln>
                <a:solidFill>
                  <a:srgbClr val="000000"/>
                </a:solidFill>
                <a:effectLst/>
                <a:uLnTx/>
                <a:uFillTx/>
                <a:latin typeface="Arial"/>
                <a:ea typeface="+mn-ea"/>
                <a:cs typeface="+mn-cs"/>
              </a:rPr>
              <a:t> Quality is not an afterthought. Every code change automatically triggers a suite of tests before it progresses through the pipeline. Bugs are caught immediately at the source — not weeks later in production where they cost far more to fix.</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5. Continuous Monitoring</a:t>
            </a:r>
            <a:r>
              <a:rPr kumimoji="0" lang="en-US" sz="1800" b="0" i="0" u="none" strike="noStrike" kern="1200" cap="none" spc="0" normalizeH="0" baseline="0" noProof="0" dirty="0">
                <a:ln>
                  <a:noFill/>
                </a:ln>
                <a:solidFill>
                  <a:srgbClr val="000000"/>
                </a:solidFill>
                <a:effectLst/>
                <a:uLnTx/>
                <a:uFillTx/>
                <a:latin typeface="Arial"/>
                <a:ea typeface="+mn-ea"/>
                <a:cs typeface="+mn-cs"/>
              </a:rPr>
              <a:t> Once deployed, applications and infrastructure are watched 24/7 through real-time dashboards and alerts. Issues like performance degradation, crashes, or unusual traffic spikes are detected and acted on instantly — often before users even notice something is wrong.</a:t>
            </a:r>
          </a:p>
        </p:txBody>
      </p:sp>
    </p:spTree>
    <p:extLst>
      <p:ext uri="{BB962C8B-B14F-4D97-AF65-F5344CB8AC3E}">
        <p14:creationId xmlns:p14="http://schemas.microsoft.com/office/powerpoint/2010/main" val="22807753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DACC02-A2BD-4578-8E03-6D891060A695}" type="slidenum">
              <a:rPr kumimoji="0" lang="en-US" sz="1333" b="0" i="0" u="none" strike="noStrike" kern="1200" cap="none" spc="0" normalizeH="0" baseline="0" noProof="0" smtClean="0">
                <a:ln>
                  <a:noFill/>
                </a:ln>
                <a:solidFill>
                  <a:srgbClr val="595959"/>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333" b="0" i="0" u="none" strike="noStrike" kern="1200" cap="none" spc="0" normalizeH="0" baseline="0" noProof="0">
              <a:ln>
                <a:noFill/>
              </a:ln>
              <a:solidFill>
                <a:srgbClr val="595959"/>
              </a:solidFill>
              <a:effectLst/>
              <a:uLnTx/>
              <a:uFillTx/>
              <a:latin typeface="Arial"/>
              <a:ea typeface="+mn-ea"/>
              <a:cs typeface="+mn-cs"/>
            </a:endParaRPr>
          </a:p>
        </p:txBody>
      </p:sp>
      <p:sp>
        <p:nvSpPr>
          <p:cNvPr id="3" name="Rectangle 2"/>
          <p:cNvSpPr/>
          <p:nvPr/>
        </p:nvSpPr>
        <p:spPr>
          <a:xfrm>
            <a:off x="314633" y="1853381"/>
            <a:ext cx="5781367" cy="425372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0000"/>
                </a:solidFill>
                <a:effectLst/>
                <a:uLnTx/>
                <a:uFillTx/>
                <a:latin typeface="Arial"/>
                <a:ea typeface="+mn-ea"/>
                <a:cs typeface="+mn-cs"/>
              </a:rPr>
              <a:t>DevOps Lifecycle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2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Plan:</a:t>
            </a:r>
            <a:r>
              <a:rPr kumimoji="0" lang="en-US" sz="1800" b="0" i="0" u="none" strike="noStrike" kern="1200" cap="none" spc="0" normalizeH="0" baseline="0" noProof="0" dirty="0">
                <a:ln>
                  <a:noFill/>
                </a:ln>
                <a:solidFill>
                  <a:srgbClr val="000000"/>
                </a:solidFill>
                <a:effectLst/>
                <a:uLnTx/>
                <a:uFillTx/>
                <a:latin typeface="Arial"/>
                <a:ea typeface="+mn-ea"/>
                <a:cs typeface="+mn-cs"/>
              </a:rPr>
              <a:t> Define features and requirements.</a:t>
            </a:r>
          </a:p>
          <a:p>
            <a:pPr marL="0" marR="0" lvl="0" indent="0" algn="l" defTabSz="914400" rtl="0" eaLnBrk="1" fontAlgn="auto" latinLnBrk="0" hangingPunct="1">
              <a:lnSpc>
                <a:spcPct val="2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Develop:</a:t>
            </a:r>
            <a:r>
              <a:rPr kumimoji="0" lang="en-US" sz="1800" b="0" i="0" u="none" strike="noStrike" kern="1200" cap="none" spc="0" normalizeH="0" baseline="0" noProof="0" dirty="0">
                <a:ln>
                  <a:noFill/>
                </a:ln>
                <a:solidFill>
                  <a:srgbClr val="000000"/>
                </a:solidFill>
                <a:effectLst/>
                <a:uLnTx/>
                <a:uFillTx/>
                <a:latin typeface="Arial"/>
                <a:ea typeface="+mn-ea"/>
                <a:cs typeface="+mn-cs"/>
              </a:rPr>
              <a:t> Write and review code.</a:t>
            </a:r>
          </a:p>
          <a:p>
            <a:pPr marL="0" marR="0" lvl="0" indent="0" algn="l" defTabSz="914400" rtl="0" eaLnBrk="1" fontAlgn="auto" latinLnBrk="0" hangingPunct="1">
              <a:lnSpc>
                <a:spcPct val="2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Build &amp; Test:</a:t>
            </a:r>
            <a:r>
              <a:rPr kumimoji="0" lang="en-US" sz="1800" b="0" i="0" u="none" strike="noStrike" kern="1200" cap="none" spc="0" normalizeH="0" baseline="0" noProof="0" dirty="0">
                <a:ln>
                  <a:noFill/>
                </a:ln>
                <a:solidFill>
                  <a:srgbClr val="000000"/>
                </a:solidFill>
                <a:effectLst/>
                <a:uLnTx/>
                <a:uFillTx/>
                <a:latin typeface="Arial"/>
                <a:ea typeface="+mn-ea"/>
                <a:cs typeface="+mn-cs"/>
              </a:rPr>
              <a:t> Automatically build and test code.</a:t>
            </a:r>
          </a:p>
          <a:p>
            <a:pPr marL="0" marR="0" lvl="0" indent="0" algn="l" defTabSz="914400" rtl="0" eaLnBrk="1" fontAlgn="auto" latinLnBrk="0" hangingPunct="1">
              <a:lnSpc>
                <a:spcPct val="2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Deploy:</a:t>
            </a:r>
            <a:r>
              <a:rPr kumimoji="0" lang="en-US" sz="1800" b="0" i="0" u="none" strike="noStrike" kern="1200" cap="none" spc="0" normalizeH="0" baseline="0" noProof="0" dirty="0">
                <a:ln>
                  <a:noFill/>
                </a:ln>
                <a:solidFill>
                  <a:srgbClr val="000000"/>
                </a:solidFill>
                <a:effectLst/>
                <a:uLnTx/>
                <a:uFillTx/>
                <a:latin typeface="Arial"/>
                <a:ea typeface="+mn-ea"/>
                <a:cs typeface="+mn-cs"/>
              </a:rPr>
              <a:t> Release software to production automatically.</a:t>
            </a:r>
          </a:p>
          <a:p>
            <a:pPr marL="0" marR="0" lvl="0" indent="0" algn="l" defTabSz="914400" rtl="0" eaLnBrk="1" fontAlgn="auto" latinLnBrk="0" hangingPunct="1">
              <a:lnSpc>
                <a:spcPct val="2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Operate:</a:t>
            </a:r>
            <a:r>
              <a:rPr kumimoji="0" lang="en-US" sz="1800" b="0" i="0" u="none" strike="noStrike" kern="1200" cap="none" spc="0" normalizeH="0" baseline="0" noProof="0" dirty="0">
                <a:ln>
                  <a:noFill/>
                </a:ln>
                <a:solidFill>
                  <a:srgbClr val="000000"/>
                </a:solidFill>
                <a:effectLst/>
                <a:uLnTx/>
                <a:uFillTx/>
                <a:latin typeface="Arial"/>
                <a:ea typeface="+mn-ea"/>
                <a:cs typeface="+mn-cs"/>
              </a:rPr>
              <a:t> Maintain and manage infrastructure.</a:t>
            </a:r>
          </a:p>
          <a:p>
            <a:pPr marL="0" marR="0" lvl="0" indent="0" algn="l" defTabSz="914400" rtl="0" eaLnBrk="1" fontAlgn="auto" latinLnBrk="0" hangingPunct="1">
              <a:lnSpc>
                <a:spcPct val="2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Monitor:</a:t>
            </a:r>
            <a:r>
              <a:rPr kumimoji="0" lang="en-US" sz="1800" b="0" i="0" u="none" strike="noStrike" kern="1200" cap="none" spc="0" normalizeH="0" baseline="0" noProof="0" dirty="0">
                <a:ln>
                  <a:noFill/>
                </a:ln>
                <a:solidFill>
                  <a:srgbClr val="000000"/>
                </a:solidFill>
                <a:effectLst/>
                <a:uLnTx/>
                <a:uFillTx/>
                <a:latin typeface="Arial"/>
                <a:ea typeface="+mn-ea"/>
                <a:cs typeface="+mn-cs"/>
              </a:rPr>
              <a:t> Track performance and user feedback.</a:t>
            </a:r>
          </a:p>
        </p:txBody>
      </p:sp>
      <p:pic>
        <p:nvPicPr>
          <p:cNvPr id="2050" name="Picture 2" descr="The DevOps lifecycle: A quick and easy walkthrough | Nulab"/>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45045" y="2768345"/>
            <a:ext cx="5583166" cy="278801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EB042B7B-5ED3-8F87-F958-9C308990DF52}"/>
              </a:ext>
            </a:extLst>
          </p:cNvPr>
          <p:cNvPicPr>
            <a:picLocks noChangeAspect="1"/>
          </p:cNvPicPr>
          <p:nvPr/>
        </p:nvPicPr>
        <p:blipFill>
          <a:blip r:embed="rId3"/>
          <a:srcRect t="25404" b="47979"/>
          <a:stretch>
            <a:fillRect/>
          </a:stretch>
        </p:blipFill>
        <p:spPr>
          <a:xfrm>
            <a:off x="0" y="0"/>
            <a:ext cx="9055510" cy="1290310"/>
          </a:xfrm>
          <a:prstGeom prst="rect">
            <a:avLst/>
          </a:prstGeom>
        </p:spPr>
      </p:pic>
    </p:spTree>
    <p:extLst>
      <p:ext uri="{BB962C8B-B14F-4D97-AF65-F5344CB8AC3E}">
        <p14:creationId xmlns:p14="http://schemas.microsoft.com/office/powerpoint/2010/main" val="17050488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DACC02-A2BD-4578-8E03-6D891060A695}" type="slidenum">
              <a:rPr kumimoji="0" lang="en-US" sz="1333" b="0" i="0" u="none" strike="noStrike" kern="1200" cap="none" spc="0" normalizeH="0" baseline="0" noProof="0" smtClean="0">
                <a:ln>
                  <a:noFill/>
                </a:ln>
                <a:solidFill>
                  <a:srgbClr val="595959"/>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333" b="0" i="0" u="none" strike="noStrike" kern="1200" cap="none" spc="0" normalizeH="0" baseline="0" noProof="0">
              <a:ln>
                <a:noFill/>
              </a:ln>
              <a:solidFill>
                <a:srgbClr val="595959"/>
              </a:solidFill>
              <a:effectLst/>
              <a:uLnTx/>
              <a:uFillTx/>
              <a:latin typeface="Arial"/>
              <a:ea typeface="+mn-ea"/>
              <a:cs typeface="+mn-cs"/>
            </a:endParaRPr>
          </a:p>
        </p:txBody>
      </p:sp>
      <p:pic>
        <p:nvPicPr>
          <p:cNvPr id="3" name="Picture 2"/>
          <p:cNvPicPr>
            <a:picLocks noChangeAspect="1"/>
          </p:cNvPicPr>
          <p:nvPr/>
        </p:nvPicPr>
        <p:blipFill>
          <a:blip r:embed="rId2"/>
          <a:stretch>
            <a:fillRect/>
          </a:stretch>
        </p:blipFill>
        <p:spPr>
          <a:xfrm>
            <a:off x="976941" y="1651820"/>
            <a:ext cx="9645755" cy="3805084"/>
          </a:xfrm>
          <a:prstGeom prst="rect">
            <a:avLst/>
          </a:prstGeom>
        </p:spPr>
      </p:pic>
      <p:sp>
        <p:nvSpPr>
          <p:cNvPr id="4" name="Rectangle 3"/>
          <p:cNvSpPr/>
          <p:nvPr/>
        </p:nvSpPr>
        <p:spPr>
          <a:xfrm>
            <a:off x="696217" y="725489"/>
            <a:ext cx="3374642"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0000"/>
                </a:solidFill>
                <a:effectLst/>
                <a:uLnTx/>
                <a:uFillTx/>
                <a:latin typeface="Arial"/>
                <a:ea typeface="+mn-ea"/>
                <a:cs typeface="+mn-cs"/>
              </a:rPr>
              <a:t>DevOps Lifecycle (Contd.)</a:t>
            </a:r>
          </a:p>
        </p:txBody>
      </p:sp>
      <p:sp>
        <p:nvSpPr>
          <p:cNvPr id="5" name="Rectangle 4"/>
          <p:cNvSpPr/>
          <p:nvPr/>
        </p:nvSpPr>
        <p:spPr>
          <a:xfrm>
            <a:off x="4725178" y="5848291"/>
            <a:ext cx="2108269"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srgbClr val="000000"/>
                </a:solidFill>
                <a:effectLst/>
                <a:uLnTx/>
                <a:uFillTx/>
                <a:latin typeface="Arial"/>
                <a:ea typeface="+mn-ea"/>
                <a:cs typeface="+mn-cs"/>
              </a:rPr>
              <a:t>DevOps Lifecycle</a:t>
            </a:r>
          </a:p>
        </p:txBody>
      </p:sp>
    </p:spTree>
    <p:extLst>
      <p:ext uri="{BB962C8B-B14F-4D97-AF65-F5344CB8AC3E}">
        <p14:creationId xmlns:p14="http://schemas.microsoft.com/office/powerpoint/2010/main" val="39291468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47754-B85E-8E07-B8BA-17BC7A82C12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6BA2113-88DD-A65D-C4C6-2E040027B635}"/>
              </a:ext>
            </a:extLst>
          </p:cNvPr>
          <p:cNvSpPr>
            <a:spLocks noGrp="1"/>
          </p:cNvSpPr>
          <p:nvPr>
            <p:ph type="title"/>
          </p:nvPr>
        </p:nvSpPr>
        <p:spPr/>
        <p:txBody>
          <a:bodyPr/>
          <a:lstStyle/>
          <a:p>
            <a:r>
              <a:rPr lang="en-IN" dirty="0"/>
              <a:t>Continuous Development</a:t>
            </a:r>
          </a:p>
        </p:txBody>
      </p:sp>
      <p:sp>
        <p:nvSpPr>
          <p:cNvPr id="2" name="Slide Number Placeholder 1">
            <a:extLst>
              <a:ext uri="{FF2B5EF4-FFF2-40B4-BE49-F238E27FC236}">
                <a16:creationId xmlns:a16="http://schemas.microsoft.com/office/drawing/2014/main" id="{2489736C-CF50-2B2B-7F07-342230DF0C97}"/>
              </a:ext>
            </a:extLst>
          </p:cNvPr>
          <p:cNvSpPr>
            <a:spLocks noGrp="1"/>
          </p:cNvSpPr>
          <p:nvPr>
            <p:ph type="sldNum" sz="quarter" idx="4294967295"/>
          </p:nvPr>
        </p:nvSpPr>
        <p:spPr>
          <a:xfrm>
            <a:off x="11460163" y="6218238"/>
            <a:ext cx="731837" cy="523875"/>
          </a:xfrm>
        </p:spPr>
        <p:txBody>
          <a:bodyPr/>
          <a:lstStyle/>
          <a:p>
            <a:fld id="{B8DACC02-A2BD-4578-8E03-6D891060A695}" type="slidenum">
              <a:rPr lang="en-US" smtClean="0"/>
              <a:t>44</a:t>
            </a:fld>
            <a:endParaRPr lang="en-US"/>
          </a:p>
        </p:txBody>
      </p:sp>
    </p:spTree>
    <p:extLst>
      <p:ext uri="{BB962C8B-B14F-4D97-AF65-F5344CB8AC3E}">
        <p14:creationId xmlns:p14="http://schemas.microsoft.com/office/powerpoint/2010/main" val="28984967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682800" y="2315497"/>
            <a:ext cx="8955701" cy="3902126"/>
          </a:xfrm>
          <a:prstGeom prst="rect">
            <a:avLst/>
          </a:prstGeom>
        </p:spPr>
      </p:pic>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DACC02-A2BD-4578-8E03-6D891060A695}" type="slidenum">
              <a:rPr kumimoji="0" lang="en-US" sz="1333" b="0" i="0" u="none" strike="noStrike" kern="1200" cap="none" spc="0" normalizeH="0" baseline="0" noProof="0" smtClean="0">
                <a:ln>
                  <a:noFill/>
                </a:ln>
                <a:solidFill>
                  <a:srgbClr val="595959"/>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333" b="0" i="0" u="none" strike="noStrike" kern="1200" cap="none" spc="0" normalizeH="0" baseline="0" noProof="0">
              <a:ln>
                <a:noFill/>
              </a:ln>
              <a:solidFill>
                <a:srgbClr val="595959"/>
              </a:solidFill>
              <a:effectLst/>
              <a:uLnTx/>
              <a:uFillTx/>
              <a:latin typeface="Arial"/>
              <a:ea typeface="+mn-ea"/>
              <a:cs typeface="+mn-cs"/>
            </a:endParaRPr>
          </a:p>
        </p:txBody>
      </p:sp>
      <p:sp>
        <p:nvSpPr>
          <p:cNvPr id="3" name="Rectangle 2"/>
          <p:cNvSpPr/>
          <p:nvPr/>
        </p:nvSpPr>
        <p:spPr>
          <a:xfrm>
            <a:off x="371752" y="1593509"/>
            <a:ext cx="11205732" cy="456535"/>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Stage 1: Continuous Development</a:t>
            </a:r>
          </a:p>
        </p:txBody>
      </p:sp>
      <p:sp>
        <p:nvSpPr>
          <p:cNvPr id="4" name="Rectangle 3"/>
          <p:cNvSpPr/>
          <p:nvPr/>
        </p:nvSpPr>
        <p:spPr>
          <a:xfrm>
            <a:off x="371752" y="710741"/>
            <a:ext cx="3374642"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0000"/>
                </a:solidFill>
                <a:effectLst/>
                <a:uLnTx/>
                <a:uFillTx/>
                <a:latin typeface="Arial"/>
                <a:ea typeface="+mn-ea"/>
                <a:cs typeface="+mn-cs"/>
              </a:rPr>
              <a:t>DevOps Lifecycle (Contd.)</a:t>
            </a:r>
          </a:p>
        </p:txBody>
      </p:sp>
    </p:spTree>
    <p:extLst>
      <p:ext uri="{BB962C8B-B14F-4D97-AF65-F5344CB8AC3E}">
        <p14:creationId xmlns:p14="http://schemas.microsoft.com/office/powerpoint/2010/main" val="3895171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52B15-AD81-DDBA-DB74-1978947DDD0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82720AA-3F15-B790-E7D0-1B598FEEFFA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DACC02-A2BD-4578-8E03-6D891060A695}" type="slidenum">
              <a:rPr kumimoji="0" lang="en-US" sz="1333" b="0" i="0" u="none" strike="noStrike" kern="1200" cap="none" spc="0" normalizeH="0" baseline="0" noProof="0" smtClean="0">
                <a:ln>
                  <a:noFill/>
                </a:ln>
                <a:solidFill>
                  <a:srgbClr val="595959"/>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333" b="0" i="0" u="none" strike="noStrike" kern="1200" cap="none" spc="0" normalizeH="0" baseline="0" noProof="0">
              <a:ln>
                <a:noFill/>
              </a:ln>
              <a:solidFill>
                <a:srgbClr val="595959"/>
              </a:solidFill>
              <a:effectLst/>
              <a:uLnTx/>
              <a:uFillTx/>
              <a:latin typeface="Arial"/>
              <a:ea typeface="+mn-ea"/>
              <a:cs typeface="+mn-cs"/>
            </a:endParaRPr>
          </a:p>
        </p:txBody>
      </p:sp>
      <p:sp>
        <p:nvSpPr>
          <p:cNvPr id="3" name="Rectangle 2">
            <a:extLst>
              <a:ext uri="{FF2B5EF4-FFF2-40B4-BE49-F238E27FC236}">
                <a16:creationId xmlns:a16="http://schemas.microsoft.com/office/drawing/2014/main" id="{73F4333B-F8F7-EFA9-E890-C7764FA12641}"/>
              </a:ext>
            </a:extLst>
          </p:cNvPr>
          <p:cNvSpPr/>
          <p:nvPr/>
        </p:nvSpPr>
        <p:spPr>
          <a:xfrm>
            <a:off x="283262" y="1059552"/>
            <a:ext cx="11205732" cy="6719788"/>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Stage 1: Continuous Development  -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Continuous Development is the foundation of the entire DevOps lifecycle. Rather than planning everything upfront and coding in one giant batch, teams work in </a:t>
            </a:r>
            <a:r>
              <a:rPr kumimoji="0" lang="en-US" sz="1600" b="1" i="0" u="none" strike="noStrike" kern="1200" cap="none" spc="0" normalizeH="0" baseline="0" noProof="0" dirty="0">
                <a:ln>
                  <a:noFill/>
                </a:ln>
                <a:solidFill>
                  <a:srgbClr val="000000"/>
                </a:solidFill>
                <a:effectLst/>
                <a:uLnTx/>
                <a:uFillTx/>
                <a:latin typeface="Arial"/>
                <a:ea typeface="+mn-ea"/>
                <a:cs typeface="+mn-cs"/>
              </a:rPr>
              <a:t>small, continuous cycles</a:t>
            </a:r>
            <a:r>
              <a:rPr kumimoji="0" lang="en-US" sz="1600" b="0" i="0" u="none" strike="noStrike" kern="1200" cap="none" spc="0" normalizeH="0" baseline="0" noProof="0" dirty="0">
                <a:ln>
                  <a:noFill/>
                </a:ln>
                <a:solidFill>
                  <a:srgbClr val="000000"/>
                </a:solidFill>
                <a:effectLst/>
                <a:uLnTx/>
                <a:uFillTx/>
                <a:latin typeface="Arial"/>
                <a:ea typeface="+mn-ea"/>
                <a:cs typeface="+mn-cs"/>
              </a:rPr>
              <a:t> — constantly planning, coding, and improving. The goal is to keep development always moving forward, never stalled.</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50000"/>
              </a:lnSpc>
              <a:spcBef>
                <a:spcPct val="0"/>
              </a:spcBef>
              <a:spcAft>
                <a:spcPct val="0"/>
              </a:spcAft>
              <a:buClrTx/>
              <a:buSzTx/>
              <a:buFontTx/>
              <a:buChar char="•"/>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Planning, Before a Single Line of Code is Written </a:t>
            </a:r>
            <a:r>
              <a:rPr kumimoji="0" lang="en-US" sz="1800" b="0" i="0" u="none" strike="noStrike" kern="1200" cap="none" spc="0" normalizeH="0" baseline="0" noProof="0" dirty="0">
                <a:ln>
                  <a:noFill/>
                </a:ln>
                <a:solidFill>
                  <a:srgbClr val="000000"/>
                </a:solidFill>
                <a:effectLst/>
                <a:uLnTx/>
                <a:uFillTx/>
                <a:latin typeface="Arial"/>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Every development cycle starts with planning. Teams decide: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Arial"/>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What features to build next?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What bugs to fix?</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What improvements to prioritize?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Tools like Jira, Trello, or Azure Boards are used to break work into small manageable tasks. Instead of planning a 6-month release, teams plan 2-week sprints — small focused bursts of work with clear goals.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000000"/>
                </a:solidFill>
                <a:effectLst/>
                <a:uLnTx/>
                <a:uFillTx/>
                <a:latin typeface="Arial"/>
                <a:ea typeface="+mn-ea"/>
                <a:cs typeface="+mn-cs"/>
              </a:rPr>
              <a:t>A food delivery app team plans Sprint 14: "Add live order tracking, fix payment timeout bug, improve search speed." Three tasks, two weeks, clear ownership.</a:t>
            </a:r>
          </a:p>
          <a:p>
            <a:pPr marL="0" marR="0" lvl="0" indent="0" algn="l" defTabSz="914400" rtl="0" eaLnBrk="0" fontAlgn="base" latinLnBrk="0" hangingPunct="0">
              <a:lnSpc>
                <a:spcPct val="150000"/>
              </a:lnSpc>
              <a:spcBef>
                <a:spcPct val="0"/>
              </a:spcBef>
              <a:spcAft>
                <a:spcPct val="0"/>
              </a:spcAft>
              <a:buClrTx/>
              <a:buSzTx/>
              <a:buFontTx/>
              <a:buChar char="•"/>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0" fontAlgn="base" latinLnBrk="0" hangingPunct="0">
              <a:lnSpc>
                <a:spcPct val="150000"/>
              </a:lnSpc>
              <a:spcBef>
                <a:spcPct val="0"/>
              </a:spcBef>
              <a:spcAft>
                <a:spcPct val="0"/>
              </a:spcAft>
              <a:buClrTx/>
              <a:buSzTx/>
              <a:buFontTx/>
              <a:buChar char="•"/>
              <a:tabLst/>
              <a:defRPr/>
            </a:pP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5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Arial"/>
              <a:ea typeface="+mn-ea"/>
              <a:cs typeface="+mn-cs"/>
            </a:endParaRPr>
          </a:p>
        </p:txBody>
      </p:sp>
      <p:sp>
        <p:nvSpPr>
          <p:cNvPr id="4" name="Rectangle 3">
            <a:extLst>
              <a:ext uri="{FF2B5EF4-FFF2-40B4-BE49-F238E27FC236}">
                <a16:creationId xmlns:a16="http://schemas.microsoft.com/office/drawing/2014/main" id="{7CE2D4D3-1BC1-0ED7-697D-42AE198E1551}"/>
              </a:ext>
            </a:extLst>
          </p:cNvPr>
          <p:cNvSpPr/>
          <p:nvPr/>
        </p:nvSpPr>
        <p:spPr>
          <a:xfrm>
            <a:off x="371752" y="356780"/>
            <a:ext cx="3374642"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0000"/>
                </a:solidFill>
                <a:effectLst/>
                <a:uLnTx/>
                <a:uFillTx/>
                <a:latin typeface="Arial"/>
                <a:ea typeface="+mn-ea"/>
                <a:cs typeface="+mn-cs"/>
              </a:rPr>
              <a:t>DevOps Lifecycle (Contd.)</a:t>
            </a:r>
          </a:p>
        </p:txBody>
      </p:sp>
    </p:spTree>
    <p:extLst>
      <p:ext uri="{BB962C8B-B14F-4D97-AF65-F5344CB8AC3E}">
        <p14:creationId xmlns:p14="http://schemas.microsoft.com/office/powerpoint/2010/main" val="21627894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DACC02-A2BD-4578-8E03-6D891060A695}" type="slidenum">
              <a:rPr kumimoji="0" lang="en-US" sz="1333" b="0" i="0" u="none" strike="noStrike" kern="1200" cap="none" spc="0" normalizeH="0" baseline="0" noProof="0" smtClean="0">
                <a:ln>
                  <a:noFill/>
                </a:ln>
                <a:solidFill>
                  <a:srgbClr val="595959"/>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sz="1333" b="0" i="0" u="none" strike="noStrike" kern="1200" cap="none" spc="0" normalizeH="0" baseline="0" noProof="0">
              <a:ln>
                <a:noFill/>
              </a:ln>
              <a:solidFill>
                <a:srgbClr val="595959"/>
              </a:solidFill>
              <a:effectLst/>
              <a:uLnTx/>
              <a:uFillTx/>
              <a:latin typeface="Arial"/>
              <a:ea typeface="+mn-ea"/>
              <a:cs typeface="+mn-cs"/>
            </a:endParaRPr>
          </a:p>
        </p:txBody>
      </p:sp>
      <p:sp>
        <p:nvSpPr>
          <p:cNvPr id="3" name="Rectangle 2"/>
          <p:cNvSpPr/>
          <p:nvPr/>
        </p:nvSpPr>
        <p:spPr>
          <a:xfrm>
            <a:off x="243933" y="1423346"/>
            <a:ext cx="11205732" cy="3919022"/>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Coding can be written in any language. </a:t>
            </a:r>
            <a:r>
              <a:rPr kumimoji="0" lang="en-US" sz="1800" b="0" i="0" u="none" strike="noStrike" kern="1200" cap="none" spc="0" normalizeH="0" baseline="0" noProof="0" dirty="0">
                <a:ln>
                  <a:noFill/>
                </a:ln>
                <a:solidFill>
                  <a:srgbClr val="000000"/>
                </a:solidFill>
                <a:effectLst/>
                <a:uLnTx/>
                <a:uFillTx/>
                <a:latin typeface="Arial"/>
                <a:ea typeface="+mn-ea"/>
                <a:cs typeface="+mn-cs"/>
              </a:rPr>
              <a:t>The actual development can be done in </a:t>
            </a:r>
            <a:r>
              <a:rPr kumimoji="0" lang="en-US" sz="1800" b="1" i="0" u="none" strike="noStrike" kern="1200" cap="none" spc="0" normalizeH="0" baseline="0" noProof="0" dirty="0">
                <a:ln>
                  <a:noFill/>
                </a:ln>
                <a:solidFill>
                  <a:srgbClr val="000000"/>
                </a:solidFill>
                <a:effectLst/>
                <a:uLnTx/>
                <a:uFillTx/>
                <a:latin typeface="Arial"/>
                <a:ea typeface="+mn-ea"/>
                <a:cs typeface="+mn-cs"/>
              </a:rPr>
              <a:t>any programming language</a:t>
            </a:r>
            <a:r>
              <a:rPr kumimoji="0" lang="en-US" sz="1800" b="0" i="0" u="none" strike="noStrike" kern="1200" cap="none" spc="0" normalizeH="0" baseline="0" noProof="0" dirty="0">
                <a:ln>
                  <a:noFill/>
                </a:ln>
                <a:solidFill>
                  <a:srgbClr val="000000"/>
                </a:solidFill>
                <a:effectLst/>
                <a:uLnTx/>
                <a:uFillTx/>
                <a:latin typeface="Arial"/>
                <a:ea typeface="+mn-ea"/>
                <a:cs typeface="+mn-cs"/>
              </a:rPr>
              <a:t> — Python, Java, JavaScript, Go, Ruby — whatever suits the application best. DevOps doesn't dictate how you write code, only how you manage and deliver it.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All code is maintained using </a:t>
            </a:r>
            <a:r>
              <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Version Control Systems (VCS)</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t>
            </a:r>
            <a:r>
              <a:rPr kumimoji="0" lang="en-US" sz="1800" b="0" i="0" u="none" strike="noStrike" kern="1200" cap="none" spc="0" normalizeH="0" baseline="0" noProof="0" dirty="0">
                <a:ln>
                  <a:noFill/>
                </a:ln>
                <a:solidFill>
                  <a:srgbClr val="000000"/>
                </a:solidFill>
                <a:effectLst/>
                <a:uLnTx/>
                <a:uFillTx/>
                <a:latin typeface="Arial"/>
                <a:ea typeface="+mn-ea"/>
                <a:cs typeface="+mn-cs"/>
              </a:rPr>
              <a:t>Every line of code written is tracked using a </a:t>
            </a:r>
            <a:r>
              <a:rPr kumimoji="0" lang="en-US" sz="1800" b="1" i="0" u="none" strike="noStrike" kern="1200" cap="none" spc="0" normalizeH="0" baseline="0" noProof="0" dirty="0">
                <a:ln>
                  <a:noFill/>
                </a:ln>
                <a:solidFill>
                  <a:srgbClr val="000000"/>
                </a:solidFill>
                <a:effectLst/>
                <a:uLnTx/>
                <a:uFillTx/>
                <a:latin typeface="Arial"/>
                <a:ea typeface="+mn-ea"/>
                <a:cs typeface="+mn-cs"/>
              </a:rPr>
              <a:t>Version Control System (VCS)</a:t>
            </a:r>
            <a:r>
              <a:rPr kumimoji="0" lang="en-US" sz="1800" b="0" i="0" u="none" strike="noStrike" kern="1200" cap="none" spc="0" normalizeH="0" baseline="0" noProof="0" dirty="0">
                <a:ln>
                  <a:noFill/>
                </a:ln>
                <a:solidFill>
                  <a:srgbClr val="000000"/>
                </a:solidFill>
                <a:effectLst/>
                <a:uLnTx/>
                <a:uFillTx/>
                <a:latin typeface="Arial"/>
                <a:ea typeface="+mn-ea"/>
                <a:cs typeface="+mn-cs"/>
              </a:rPr>
              <a:t>, most commonly </a:t>
            </a:r>
            <a:r>
              <a:rPr kumimoji="0" lang="en-US" sz="1800" b="1" i="0" u="none" strike="noStrike" kern="1200" cap="none" spc="0" normalizeH="0" baseline="0" noProof="0" dirty="0">
                <a:ln>
                  <a:noFill/>
                </a:ln>
                <a:solidFill>
                  <a:srgbClr val="000000"/>
                </a:solidFill>
                <a:effectLst/>
                <a:uLnTx/>
                <a:uFillTx/>
                <a:latin typeface="Arial"/>
                <a:ea typeface="+mn-ea"/>
                <a:cs typeface="+mn-cs"/>
              </a:rPr>
              <a:t>Git</a:t>
            </a:r>
            <a:r>
              <a:rPr kumimoji="0" lang="en-US" sz="1800" b="0" i="0" u="none" strike="noStrike" kern="1200" cap="none" spc="0" normalizeH="0" baseline="0" noProof="0" dirty="0">
                <a:ln>
                  <a:noFill/>
                </a:ln>
                <a:solidFill>
                  <a:srgbClr val="000000"/>
                </a:solidFill>
                <a:effectLst/>
                <a:uLnTx/>
                <a:uFillTx/>
                <a:latin typeface="Arial"/>
                <a:ea typeface="+mn-ea"/>
                <a:cs typeface="+mn-cs"/>
              </a:rPr>
              <a:t>. This means: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Every change is recorded with </a:t>
            </a:r>
            <a:r>
              <a:rPr kumimoji="0" lang="en-US" sz="1800" b="0" i="1" u="none" strike="noStrike" kern="1200" cap="none" spc="0" normalizeH="0" baseline="0" noProof="0" dirty="0">
                <a:ln>
                  <a:noFill/>
                </a:ln>
                <a:solidFill>
                  <a:srgbClr val="000000"/>
                </a:solidFill>
                <a:effectLst/>
                <a:uLnTx/>
                <a:uFillTx/>
                <a:latin typeface="Arial"/>
                <a:ea typeface="+mn-ea"/>
                <a:cs typeface="+mn-cs"/>
              </a:rPr>
              <a:t>who made it, when, and why</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Any mistake can be </a:t>
            </a:r>
            <a:r>
              <a:rPr kumimoji="0" lang="en-US" sz="1800" b="1" i="0" u="none" strike="noStrike" kern="1200" cap="none" spc="0" normalizeH="0" baseline="0" noProof="0" dirty="0">
                <a:ln>
                  <a:noFill/>
                </a:ln>
                <a:solidFill>
                  <a:srgbClr val="000000"/>
                </a:solidFill>
                <a:effectLst/>
                <a:uLnTx/>
                <a:uFillTx/>
                <a:latin typeface="Arial"/>
                <a:ea typeface="+mn-ea"/>
                <a:cs typeface="+mn-cs"/>
              </a:rPr>
              <a:t>rolled back</a:t>
            </a:r>
            <a:r>
              <a:rPr kumimoji="0" lang="en-US" sz="1800" b="0" i="0" u="none" strike="noStrike" kern="1200" cap="none" spc="0" normalizeH="0" baseline="0" noProof="0" dirty="0">
                <a:ln>
                  <a:noFill/>
                </a:ln>
                <a:solidFill>
                  <a:srgbClr val="000000"/>
                </a:solidFill>
                <a:effectLst/>
                <a:uLnTx/>
                <a:uFillTx/>
                <a:latin typeface="Arial"/>
                <a:ea typeface="+mn-ea"/>
                <a:cs typeface="+mn-cs"/>
              </a:rPr>
              <a:t> instantly to a previous working state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Multiple developers can work </a:t>
            </a:r>
            <a:r>
              <a:rPr kumimoji="0" lang="en-US" sz="1800" b="1" i="0" u="none" strike="noStrike" kern="1200" cap="none" spc="0" normalizeH="0" baseline="0" noProof="0" dirty="0">
                <a:ln>
                  <a:noFill/>
                </a:ln>
                <a:solidFill>
                  <a:srgbClr val="000000"/>
                </a:solidFill>
                <a:effectLst/>
                <a:uLnTx/>
                <a:uFillTx/>
                <a:latin typeface="Arial"/>
                <a:ea typeface="+mn-ea"/>
                <a:cs typeface="+mn-cs"/>
              </a:rPr>
              <a:t>simultaneously</a:t>
            </a:r>
            <a:r>
              <a:rPr kumimoji="0" lang="en-US" sz="1800" b="0" i="0" u="none" strike="noStrike" kern="1200" cap="none" spc="0" normalizeH="0" baseline="0" noProof="0" dirty="0">
                <a:ln>
                  <a:noFill/>
                </a:ln>
                <a:solidFill>
                  <a:srgbClr val="000000"/>
                </a:solidFill>
                <a:effectLst/>
                <a:uLnTx/>
                <a:uFillTx/>
                <a:latin typeface="Arial"/>
                <a:ea typeface="+mn-ea"/>
                <a:cs typeface="+mn-cs"/>
              </a:rPr>
              <a:t> without overwriting each other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	Example:</a:t>
            </a:r>
            <a:r>
              <a:rPr kumimoji="0" lang="en-US" sz="1800" b="0" i="0" u="none" strike="noStrike" kern="1200" cap="none" spc="0" normalizeH="0" baseline="0" noProof="0" dirty="0">
                <a:ln>
                  <a:noFill/>
                </a:ln>
                <a:solidFill>
                  <a:srgbClr val="000000"/>
                </a:solidFill>
                <a:effectLst/>
                <a:uLnTx/>
                <a:uFillTx/>
                <a:latin typeface="Arial"/>
                <a:ea typeface="+mn-ea"/>
                <a:cs typeface="+mn-cs"/>
              </a:rPr>
              <a:t> A developer accidentally deletes a critical function. Without Git, it's gone forever. With Git, 	one command restores it in seconds (</a:t>
            </a:r>
            <a:r>
              <a:rPr kumimoji="0" lang="en-IN" sz="1800" b="0" i="0" u="none" strike="noStrike" kern="1200" cap="none" spc="0" normalizeH="0" baseline="0" noProof="0" dirty="0">
                <a:ln>
                  <a:noFill/>
                </a:ln>
                <a:solidFill>
                  <a:srgbClr val="000000"/>
                </a:solidFill>
                <a:effectLst/>
                <a:uLnTx/>
                <a:uFillTx/>
                <a:latin typeface="Arial"/>
                <a:ea typeface="+mn-ea"/>
                <a:cs typeface="+mn-cs"/>
              </a:rPr>
              <a:t>git revert </a:t>
            </a:r>
            <a:r>
              <a:rPr kumimoji="0" lang="en-IN" sz="1800" b="0" i="0" u="none" strike="noStrike" kern="1200" cap="none" spc="0" normalizeH="0" baseline="0" noProof="0" dirty="0" err="1">
                <a:ln>
                  <a:noFill/>
                </a:ln>
                <a:solidFill>
                  <a:srgbClr val="000000"/>
                </a:solidFill>
                <a:effectLst/>
                <a:uLnTx/>
                <a:uFillTx/>
                <a:latin typeface="Arial"/>
                <a:ea typeface="+mn-ea"/>
                <a:cs typeface="+mn-cs"/>
              </a:rPr>
              <a:t>commit_id</a:t>
            </a:r>
            <a:r>
              <a:rPr kumimoji="0" lang="en-IN" sz="1800" b="0" i="0" u="none" strike="noStrike" kern="1200" cap="none" spc="0" normalizeH="0" baseline="0" noProof="0" dirty="0">
                <a:ln>
                  <a:noFill/>
                </a:ln>
                <a:solidFill>
                  <a:srgbClr val="000000"/>
                </a:solidFill>
                <a:effectLst/>
                <a:uLnTx/>
                <a:uFillTx/>
                <a:latin typeface="Arial"/>
                <a:ea typeface="+mn-ea"/>
                <a:cs typeface="+mn-cs"/>
              </a:rPr>
              <a:t>)</a:t>
            </a: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50000"/>
              </a:lnSpc>
              <a:spcBef>
                <a:spcPct val="0"/>
              </a:spcBef>
              <a:spcAft>
                <a:spcPct val="0"/>
              </a:spcAft>
              <a:buClrTx/>
              <a:buSzTx/>
              <a:buFontTx/>
              <a:buChar char="•"/>
              <a:tabLst/>
              <a:defRPr/>
            </a:pP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A </a:t>
            </a:r>
            <a:r>
              <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central repository</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acts as a </a:t>
            </a:r>
            <a:r>
              <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single source of truth</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for the project.</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Arial"/>
              <a:ea typeface="+mn-ea"/>
              <a:cs typeface="+mn-cs"/>
            </a:endParaRPr>
          </a:p>
        </p:txBody>
      </p:sp>
      <p:sp>
        <p:nvSpPr>
          <p:cNvPr id="4" name="Rectangle 3"/>
          <p:cNvSpPr/>
          <p:nvPr/>
        </p:nvSpPr>
        <p:spPr>
          <a:xfrm>
            <a:off x="371752" y="356780"/>
            <a:ext cx="8919732" cy="40011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0000"/>
                </a:solidFill>
                <a:effectLst/>
                <a:uLnTx/>
                <a:uFillTx/>
                <a:latin typeface="Arial"/>
                <a:ea typeface="+mn-ea"/>
                <a:cs typeface="+mn-cs"/>
              </a:rPr>
              <a:t>DevOps Lifecycle </a:t>
            </a:r>
            <a:r>
              <a:rPr kumimoji="0" lang="en-US" sz="2000" b="1" i="0" u="none" strike="noStrike" kern="1200" cap="none" spc="0" normalizeH="0" baseline="0" noProof="0" dirty="0">
                <a:ln>
                  <a:noFill/>
                </a:ln>
                <a:solidFill>
                  <a:srgbClr val="000000"/>
                </a:solidFill>
                <a:effectLst/>
                <a:uLnTx/>
                <a:uFillTx/>
                <a:latin typeface="Arial"/>
                <a:ea typeface="+mn-ea"/>
                <a:cs typeface="+mn-cs"/>
              </a:rPr>
              <a:t>Stage 1: Continuous Development </a:t>
            </a:r>
            <a:r>
              <a:rPr kumimoji="0" lang="en-IN" sz="2000" b="1" i="0" u="none" strike="noStrike" kern="1200" cap="none" spc="0" normalizeH="0" baseline="0" noProof="0" dirty="0">
                <a:ln>
                  <a:noFill/>
                </a:ln>
                <a:solidFill>
                  <a:srgbClr val="000000"/>
                </a:solidFill>
                <a:effectLst/>
                <a:uLnTx/>
                <a:uFillTx/>
                <a:latin typeface="Arial"/>
                <a:ea typeface="+mn-ea"/>
                <a:cs typeface="+mn-cs"/>
              </a:rPr>
              <a:t>(Contd.)</a:t>
            </a:r>
          </a:p>
        </p:txBody>
      </p:sp>
    </p:spTree>
    <p:extLst>
      <p:ext uri="{BB962C8B-B14F-4D97-AF65-F5344CB8AC3E}">
        <p14:creationId xmlns:p14="http://schemas.microsoft.com/office/powerpoint/2010/main" val="7232318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368C8-DAA5-7D7C-98BF-6FD360C0F69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F3434D4-EEEF-521E-CD23-8A6EDB53CEB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DACC02-A2BD-4578-8E03-6D891060A695}" type="slidenum">
              <a:rPr kumimoji="0" lang="en-US" sz="1333" b="0" i="0" u="none" strike="noStrike" kern="1200" cap="none" spc="0" normalizeH="0" baseline="0" noProof="0" smtClean="0">
                <a:ln>
                  <a:noFill/>
                </a:ln>
                <a:solidFill>
                  <a:srgbClr val="595959"/>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sz="1333" b="0" i="0" u="none" strike="noStrike" kern="1200" cap="none" spc="0" normalizeH="0" baseline="0" noProof="0">
              <a:ln>
                <a:noFill/>
              </a:ln>
              <a:solidFill>
                <a:srgbClr val="595959"/>
              </a:solidFill>
              <a:effectLst/>
              <a:uLnTx/>
              <a:uFillTx/>
              <a:latin typeface="Arial"/>
              <a:ea typeface="+mn-ea"/>
              <a:cs typeface="+mn-cs"/>
            </a:endParaRPr>
          </a:p>
        </p:txBody>
      </p:sp>
      <p:sp>
        <p:nvSpPr>
          <p:cNvPr id="3" name="Rectangle 2">
            <a:extLst>
              <a:ext uri="{FF2B5EF4-FFF2-40B4-BE49-F238E27FC236}">
                <a16:creationId xmlns:a16="http://schemas.microsoft.com/office/drawing/2014/main" id="{FCEA5677-B53D-179E-56B1-76C678290882}"/>
              </a:ext>
            </a:extLst>
          </p:cNvPr>
          <p:cNvSpPr/>
          <p:nvPr/>
        </p:nvSpPr>
        <p:spPr>
          <a:xfrm>
            <a:off x="243933" y="1423346"/>
            <a:ext cx="11205732" cy="3919022"/>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Developer Collaboration: </a:t>
            </a:r>
            <a:r>
              <a:rPr kumimoji="0" lang="en-US" sz="1800" b="0" i="0" u="none" strike="noStrike" kern="1200" cap="none" spc="0" normalizeH="0" baseline="0" noProof="0" dirty="0">
                <a:ln>
                  <a:noFill/>
                </a:ln>
                <a:solidFill>
                  <a:srgbClr val="000000"/>
                </a:solidFill>
                <a:effectLst/>
                <a:uLnTx/>
                <a:uFillTx/>
                <a:latin typeface="Arial"/>
                <a:ea typeface="+mn-ea"/>
                <a:cs typeface="+mn-cs"/>
              </a:rPr>
              <a:t>Developers don't work in isolation.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Developers collaborate using the </a:t>
            </a:r>
            <a:r>
              <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latest committed code</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They continuously:</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Pull</a:t>
            </a:r>
            <a:r>
              <a:rPr kumimoji="0" lang="en-US" sz="1800" b="0" i="0" u="none" strike="noStrike" kern="1200" cap="none" spc="0" normalizeH="0" baseline="0" noProof="0" dirty="0">
                <a:ln>
                  <a:noFill/>
                </a:ln>
                <a:solidFill>
                  <a:srgbClr val="000000"/>
                </a:solidFill>
                <a:effectLst/>
                <a:uLnTx/>
                <a:uFillTx/>
                <a:latin typeface="Arial"/>
                <a:ea typeface="+mn-ea"/>
                <a:cs typeface="+mn-cs"/>
              </a:rPr>
              <a:t> the latest code before starting work — so they're always building on the most current version.</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Commit</a:t>
            </a:r>
            <a:r>
              <a:rPr kumimoji="0" lang="en-US" sz="1800" b="0" i="0" u="none" strike="noStrike" kern="1200" cap="none" spc="0" normalizeH="0" baseline="0" noProof="0" dirty="0">
                <a:ln>
                  <a:noFill/>
                </a:ln>
                <a:solidFill>
                  <a:srgbClr val="000000"/>
                </a:solidFill>
                <a:effectLst/>
                <a:uLnTx/>
                <a:uFillTx/>
                <a:latin typeface="Arial"/>
                <a:ea typeface="+mn-ea"/>
                <a:cs typeface="+mn-cs"/>
              </a:rPr>
              <a:t> changes frequently in small chunks — reducing the risk of conflicts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Push</a:t>
            </a:r>
            <a:r>
              <a:rPr kumimoji="0" lang="en-US" sz="1800" b="0" i="0" u="none" strike="noStrike" kern="1200" cap="none" spc="0" normalizeH="0" baseline="0" noProof="0" dirty="0">
                <a:ln>
                  <a:noFill/>
                </a:ln>
                <a:solidFill>
                  <a:srgbClr val="000000"/>
                </a:solidFill>
                <a:effectLst/>
                <a:uLnTx/>
                <a:uFillTx/>
                <a:latin typeface="Arial"/>
                <a:ea typeface="+mn-ea"/>
                <a:cs typeface="+mn-cs"/>
              </a:rPr>
              <a:t> completed work back to the central repo — so teammates immediately benefit from their changes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Review</a:t>
            </a:r>
            <a:r>
              <a:rPr kumimoji="0" lang="en-US" sz="1800" b="0" i="0" u="none" strike="noStrike" kern="1200" cap="none" spc="0" normalizeH="0" baseline="0" noProof="0" dirty="0">
                <a:ln>
                  <a:noFill/>
                </a:ln>
                <a:solidFill>
                  <a:srgbClr val="000000"/>
                </a:solidFill>
                <a:effectLst/>
                <a:uLnTx/>
                <a:uFillTx/>
                <a:latin typeface="Arial"/>
                <a:ea typeface="+mn-ea"/>
                <a:cs typeface="+mn-cs"/>
              </a:rPr>
              <a:t> each other's code through Pull Requests — catching bugs before they spread</a:t>
            </a: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Example:</a:t>
            </a:r>
            <a:r>
              <a:rPr kumimoji="0" lang="en-US" sz="1800" b="0" i="0" u="none" strike="noStrike" kern="1200" cap="none" spc="0" normalizeH="0" baseline="0" noProof="0" dirty="0">
                <a:ln>
                  <a:noFill/>
                </a:ln>
                <a:solidFill>
                  <a:srgbClr val="000000"/>
                </a:solidFill>
                <a:effectLst/>
                <a:uLnTx/>
                <a:uFillTx/>
                <a:latin typeface="Arial"/>
                <a:ea typeface="+mn-ea"/>
                <a:cs typeface="+mn-cs"/>
              </a:rPr>
              <a:t> Developer 1 finishes the payment module at 11 AM and pushes it. Developer 2, working on the checkout flow, pulls that update at 11:05 AM and immediately builds on top of it. No waiting, no delays.</a:t>
            </a:r>
          </a:p>
          <a:p>
            <a:pPr marL="0" marR="0" lvl="0" indent="0" algn="l" defTabSz="914400" rtl="0" eaLnBrk="0" fontAlgn="base" latinLnBrk="0" hangingPunct="0">
              <a:lnSpc>
                <a:spcPct val="15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Arial"/>
              <a:ea typeface="+mn-ea"/>
              <a:cs typeface="+mn-cs"/>
            </a:endParaRPr>
          </a:p>
        </p:txBody>
      </p:sp>
      <p:sp>
        <p:nvSpPr>
          <p:cNvPr id="4" name="Rectangle 3">
            <a:extLst>
              <a:ext uri="{FF2B5EF4-FFF2-40B4-BE49-F238E27FC236}">
                <a16:creationId xmlns:a16="http://schemas.microsoft.com/office/drawing/2014/main" id="{825FBC53-B016-CE9B-D542-890878EE5FBD}"/>
              </a:ext>
            </a:extLst>
          </p:cNvPr>
          <p:cNvSpPr/>
          <p:nvPr/>
        </p:nvSpPr>
        <p:spPr>
          <a:xfrm>
            <a:off x="371752" y="356780"/>
            <a:ext cx="7620997"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0000"/>
                </a:solidFill>
                <a:effectLst/>
                <a:uLnTx/>
                <a:uFillTx/>
                <a:latin typeface="Arial"/>
                <a:ea typeface="+mn-ea"/>
                <a:cs typeface="+mn-cs"/>
              </a:rPr>
              <a:t>DevOps Lifecycle </a:t>
            </a:r>
            <a:r>
              <a:rPr kumimoji="0" lang="en-US" sz="2000" b="1" i="0" u="none" strike="noStrike" kern="1200" cap="none" spc="0" normalizeH="0" baseline="0" noProof="0" dirty="0">
                <a:ln>
                  <a:noFill/>
                </a:ln>
                <a:solidFill>
                  <a:srgbClr val="000000"/>
                </a:solidFill>
                <a:effectLst/>
                <a:uLnTx/>
                <a:uFillTx/>
                <a:latin typeface="Arial"/>
                <a:ea typeface="+mn-ea"/>
                <a:cs typeface="+mn-cs"/>
              </a:rPr>
              <a:t>Stage 1: Continuous Development </a:t>
            </a:r>
            <a:r>
              <a:rPr kumimoji="0" lang="en-IN" sz="2000" b="1" i="0" u="none" strike="noStrike" kern="1200" cap="none" spc="0" normalizeH="0" baseline="0" noProof="0" dirty="0">
                <a:ln>
                  <a:noFill/>
                </a:ln>
                <a:solidFill>
                  <a:srgbClr val="000000"/>
                </a:solidFill>
                <a:effectLst/>
                <a:uLnTx/>
                <a:uFillTx/>
                <a:latin typeface="Arial"/>
                <a:ea typeface="+mn-ea"/>
                <a:cs typeface="+mn-cs"/>
              </a:rPr>
              <a:t>(Contd.)</a:t>
            </a:r>
          </a:p>
        </p:txBody>
      </p:sp>
    </p:spTree>
    <p:extLst>
      <p:ext uri="{BB962C8B-B14F-4D97-AF65-F5344CB8AC3E}">
        <p14:creationId xmlns:p14="http://schemas.microsoft.com/office/powerpoint/2010/main" val="297406593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EF80B-449A-E8F5-3D7D-333C8FD4A13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A9A0F45-E7D5-6F32-6ABF-733AFDD64A5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DACC02-A2BD-4578-8E03-6D891060A695}" type="slidenum">
              <a:rPr kumimoji="0" lang="en-US" sz="1333" b="0" i="0" u="none" strike="noStrike" kern="1200" cap="none" spc="0" normalizeH="0" baseline="0" noProof="0" smtClean="0">
                <a:ln>
                  <a:noFill/>
                </a:ln>
                <a:solidFill>
                  <a:srgbClr val="595959"/>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US" sz="1333" b="0" i="0" u="none" strike="noStrike" kern="1200" cap="none" spc="0" normalizeH="0" baseline="0" noProof="0">
              <a:ln>
                <a:noFill/>
              </a:ln>
              <a:solidFill>
                <a:srgbClr val="595959"/>
              </a:solidFill>
              <a:effectLst/>
              <a:uLnTx/>
              <a:uFillTx/>
              <a:latin typeface="Arial"/>
              <a:ea typeface="+mn-ea"/>
              <a:cs typeface="+mn-cs"/>
            </a:endParaRPr>
          </a:p>
        </p:txBody>
      </p:sp>
      <p:sp>
        <p:nvSpPr>
          <p:cNvPr id="3" name="Rectangle 2">
            <a:extLst>
              <a:ext uri="{FF2B5EF4-FFF2-40B4-BE49-F238E27FC236}">
                <a16:creationId xmlns:a16="http://schemas.microsoft.com/office/drawing/2014/main" id="{D05AC322-4A1B-13E1-9F06-17B4F3C7782A}"/>
              </a:ext>
            </a:extLst>
          </p:cNvPr>
          <p:cNvSpPr/>
          <p:nvPr/>
        </p:nvSpPr>
        <p:spPr>
          <a:xfrm>
            <a:off x="283262" y="1393849"/>
            <a:ext cx="11205732" cy="3503523"/>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A key DevOps principle is that </a:t>
            </a:r>
            <a:r>
              <a:rPr kumimoji="0" lang="en-US" sz="1800" b="1" i="0" u="none" strike="noStrike" kern="1200" cap="none" spc="0" normalizeH="0" baseline="0" noProof="0" dirty="0">
                <a:ln>
                  <a:noFill/>
                </a:ln>
                <a:solidFill>
                  <a:srgbClr val="000000"/>
                </a:solidFill>
                <a:effectLst/>
                <a:uLnTx/>
                <a:uFillTx/>
                <a:latin typeface="Arial"/>
                <a:ea typeface="+mn-ea"/>
                <a:cs typeface="+mn-cs"/>
              </a:rPr>
              <a:t>Operations teams have full visibility into the same codebase</a:t>
            </a:r>
            <a:r>
              <a:rPr kumimoji="0" lang="en-US" sz="1800" b="0" i="0" u="none" strike="noStrike" kern="1200" cap="none" spc="0" normalizeH="0" baseline="0" noProof="0" dirty="0">
                <a:ln>
                  <a:noFill/>
                </a:ln>
                <a:solidFill>
                  <a:srgbClr val="000000"/>
                </a:solidFill>
                <a:effectLst/>
                <a:uLnTx/>
                <a:uFillTx/>
                <a:latin typeface="Arial"/>
                <a:ea typeface="+mn-ea"/>
                <a:cs typeface="+mn-cs"/>
              </a:rPr>
              <a:t> as developers.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Operations teams can access the same code while </a:t>
            </a:r>
            <a:r>
              <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planning releases</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 This means: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Ops can understand </a:t>
            </a:r>
            <a:r>
              <a:rPr kumimoji="0" lang="en-US" sz="1800" b="0" i="1" u="none" strike="noStrike" kern="1200" cap="none" spc="0" normalizeH="0" baseline="0" noProof="0" dirty="0">
                <a:ln>
                  <a:noFill/>
                </a:ln>
                <a:solidFill>
                  <a:srgbClr val="000000"/>
                </a:solidFill>
                <a:effectLst/>
                <a:uLnTx/>
                <a:uFillTx/>
                <a:latin typeface="Arial"/>
                <a:ea typeface="+mn-ea"/>
                <a:cs typeface="+mn-cs"/>
              </a:rPr>
              <a:t>what</a:t>
            </a:r>
            <a:r>
              <a:rPr kumimoji="0" lang="en-US" sz="1800" b="0" i="0" u="none" strike="noStrike" kern="1200" cap="none" spc="0" normalizeH="0" baseline="0" noProof="0" dirty="0">
                <a:ln>
                  <a:noFill/>
                </a:ln>
                <a:solidFill>
                  <a:srgbClr val="000000"/>
                </a:solidFill>
                <a:effectLst/>
                <a:uLnTx/>
                <a:uFillTx/>
                <a:latin typeface="Arial"/>
                <a:ea typeface="+mn-ea"/>
                <a:cs typeface="+mn-cs"/>
              </a:rPr>
              <a:t> is being built before release day surprises them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Ops can plan infrastructure needs based on upcoming features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Ops can flag deployment concerns </a:t>
            </a:r>
            <a:r>
              <a:rPr kumimoji="0" lang="en-US" sz="1800" b="0" i="1" u="none" strike="noStrike" kern="1200" cap="none" spc="0" normalizeH="0" baseline="0" noProof="0" dirty="0">
                <a:ln>
                  <a:noFill/>
                </a:ln>
                <a:solidFill>
                  <a:srgbClr val="000000"/>
                </a:solidFill>
                <a:effectLst/>
                <a:uLnTx/>
                <a:uFillTx/>
                <a:latin typeface="Arial"/>
                <a:ea typeface="+mn-ea"/>
                <a:cs typeface="+mn-cs"/>
              </a:rPr>
              <a:t>during</a:t>
            </a:r>
            <a:r>
              <a:rPr kumimoji="0" lang="en-US" sz="1800" b="0" i="0" u="none" strike="noStrike" kern="1200" cap="none" spc="0" normalizeH="0" baseline="0" noProof="0" dirty="0">
                <a:ln>
                  <a:noFill/>
                </a:ln>
                <a:solidFill>
                  <a:srgbClr val="000000"/>
                </a:solidFill>
                <a:effectLst/>
                <a:uLnTx/>
                <a:uFillTx/>
                <a:latin typeface="Arial"/>
                <a:ea typeface="+mn-ea"/>
                <a:cs typeface="+mn-cs"/>
              </a:rPr>
              <a:t> development — not after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Example:</a:t>
            </a:r>
            <a:r>
              <a:rPr kumimoji="0" lang="en-US" sz="1800" b="0" i="0" u="none" strike="noStrike" kern="1200" cap="none" spc="0" normalizeH="0" baseline="0" noProof="0" dirty="0">
                <a:ln>
                  <a:noFill/>
                </a:ln>
                <a:solidFill>
                  <a:srgbClr val="000000"/>
                </a:solidFill>
                <a:effectLst/>
                <a:uLnTx/>
                <a:uFillTx/>
                <a:latin typeface="Arial"/>
                <a:ea typeface="+mn-ea"/>
                <a:cs typeface="+mn-cs"/>
              </a:rPr>
              <a:t> Operations notices developers are building a video upload feature. They proactively scale up storage capacity on AWS </a:t>
            </a:r>
            <a:r>
              <a:rPr kumimoji="0" lang="en-US" sz="1800" b="0" i="1" u="none" strike="noStrike" kern="1200" cap="none" spc="0" normalizeH="0" baseline="0" noProof="0" dirty="0">
                <a:ln>
                  <a:noFill/>
                </a:ln>
                <a:solidFill>
                  <a:srgbClr val="000000"/>
                </a:solidFill>
                <a:effectLst/>
                <a:uLnTx/>
                <a:uFillTx/>
                <a:latin typeface="Arial"/>
                <a:ea typeface="+mn-ea"/>
                <a:cs typeface="+mn-cs"/>
              </a:rPr>
              <a:t>before</a:t>
            </a:r>
            <a:r>
              <a:rPr kumimoji="0" lang="en-US" sz="1800" b="0" i="0" u="none" strike="noStrike" kern="1200" cap="none" spc="0" normalizeH="0" baseline="0" noProof="0" dirty="0">
                <a:ln>
                  <a:noFill/>
                </a:ln>
                <a:solidFill>
                  <a:srgbClr val="000000"/>
                </a:solidFill>
                <a:effectLst/>
                <a:uLnTx/>
                <a:uFillTx/>
                <a:latin typeface="Arial"/>
                <a:ea typeface="+mn-ea"/>
                <a:cs typeface="+mn-cs"/>
              </a:rPr>
              <a:t> the feature ships — avoiding a launch-day crisis.</a:t>
            </a:r>
          </a:p>
          <a:p>
            <a:pPr marL="0" marR="0" lvl="0" indent="0" algn="l" defTabSz="914400" rtl="0" eaLnBrk="0" fontAlgn="base" latinLnBrk="0" hangingPunct="0">
              <a:lnSpc>
                <a:spcPct val="150000"/>
              </a:lnSpc>
              <a:spcBef>
                <a:spcPct val="0"/>
              </a:spcBef>
              <a:spcAft>
                <a:spcPct val="0"/>
              </a:spcAft>
              <a:buClrTx/>
              <a:buSzTx/>
              <a:buFontTx/>
              <a:buChar char="•"/>
              <a:tabLst/>
              <a:defRPr/>
            </a:pP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5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Arial"/>
              <a:ea typeface="+mn-ea"/>
              <a:cs typeface="+mn-cs"/>
            </a:endParaRPr>
          </a:p>
        </p:txBody>
      </p:sp>
      <p:sp>
        <p:nvSpPr>
          <p:cNvPr id="4" name="Rectangle 3">
            <a:extLst>
              <a:ext uri="{FF2B5EF4-FFF2-40B4-BE49-F238E27FC236}">
                <a16:creationId xmlns:a16="http://schemas.microsoft.com/office/drawing/2014/main" id="{C0ACE646-919D-C6C1-014E-07678AD40EAB}"/>
              </a:ext>
            </a:extLst>
          </p:cNvPr>
          <p:cNvSpPr/>
          <p:nvPr/>
        </p:nvSpPr>
        <p:spPr>
          <a:xfrm>
            <a:off x="371752" y="356780"/>
            <a:ext cx="7620997"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0000"/>
                </a:solidFill>
                <a:effectLst/>
                <a:uLnTx/>
                <a:uFillTx/>
                <a:latin typeface="Arial"/>
                <a:ea typeface="+mn-ea"/>
                <a:cs typeface="+mn-cs"/>
              </a:rPr>
              <a:t>DevOps Lifecycle </a:t>
            </a:r>
            <a:r>
              <a:rPr kumimoji="0" lang="en-US" sz="2000" b="1" i="0" u="none" strike="noStrike" kern="1200" cap="none" spc="0" normalizeH="0" baseline="0" noProof="0" dirty="0">
                <a:ln>
                  <a:noFill/>
                </a:ln>
                <a:solidFill>
                  <a:srgbClr val="000000"/>
                </a:solidFill>
                <a:effectLst/>
                <a:uLnTx/>
                <a:uFillTx/>
                <a:latin typeface="Arial"/>
                <a:ea typeface="+mn-ea"/>
                <a:cs typeface="+mn-cs"/>
              </a:rPr>
              <a:t>Stage 1: Continuous Development </a:t>
            </a:r>
            <a:r>
              <a:rPr kumimoji="0" lang="en-IN" sz="2000" b="1" i="0" u="none" strike="noStrike" kern="1200" cap="none" spc="0" normalizeH="0" baseline="0" noProof="0" dirty="0">
                <a:ln>
                  <a:noFill/>
                </a:ln>
                <a:solidFill>
                  <a:srgbClr val="000000"/>
                </a:solidFill>
                <a:effectLst/>
                <a:uLnTx/>
                <a:uFillTx/>
                <a:latin typeface="Arial"/>
                <a:ea typeface="+mn-ea"/>
                <a:cs typeface="+mn-cs"/>
              </a:rPr>
              <a:t>(Contd.)</a:t>
            </a:r>
          </a:p>
        </p:txBody>
      </p:sp>
    </p:spTree>
    <p:extLst>
      <p:ext uri="{BB962C8B-B14F-4D97-AF65-F5344CB8AC3E}">
        <p14:creationId xmlns:p14="http://schemas.microsoft.com/office/powerpoint/2010/main" val="254797830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DACC02-A2BD-4578-8E03-6D891060A695}" type="slidenum">
              <a:rPr kumimoji="0" lang="en-US" sz="1333" b="0" i="0" u="none" strike="noStrike" kern="1200" cap="none" spc="0" normalizeH="0" baseline="0" noProof="0" smtClean="0">
                <a:ln>
                  <a:noFill/>
                </a:ln>
                <a:solidFill>
                  <a:srgbClr val="595959"/>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US" sz="1333" b="0" i="0" u="none" strike="noStrike" kern="1200" cap="none" spc="0" normalizeH="0" baseline="0" noProof="0">
              <a:ln>
                <a:noFill/>
              </a:ln>
              <a:solidFill>
                <a:srgbClr val="595959"/>
              </a:solidFill>
              <a:effectLst/>
              <a:uLnTx/>
              <a:uFillTx/>
              <a:latin typeface="Arial"/>
              <a:ea typeface="+mn-ea"/>
              <a:cs typeface="+mn-cs"/>
            </a:endParaRPr>
          </a:p>
        </p:txBody>
      </p:sp>
      <p:sp>
        <p:nvSpPr>
          <p:cNvPr id="3" name="Rectangle 2"/>
          <p:cNvSpPr/>
          <p:nvPr/>
        </p:nvSpPr>
        <p:spPr>
          <a:xfrm>
            <a:off x="371752" y="1593509"/>
            <a:ext cx="11205732" cy="5027017"/>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Stage 1: Continuous Development ( Recap)</a:t>
            </a:r>
          </a:p>
          <a:p>
            <a:pPr marL="0" marR="0" lvl="0" indent="0" algn="l" defTabSz="914400" rtl="0" eaLnBrk="0" fontAlgn="base" latinLnBrk="0" hangingPunct="0">
              <a:lnSpc>
                <a:spcPct val="150000"/>
              </a:lnSpc>
              <a:spcBef>
                <a:spcPct val="0"/>
              </a:spcBef>
              <a:spcAft>
                <a:spcPct val="0"/>
              </a:spcAft>
              <a:buClrTx/>
              <a:buSzTx/>
              <a:buFontTx/>
              <a:buChar char="•"/>
              <a:tabLst/>
              <a:defRPr/>
            </a:pP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Version control enables:</a:t>
            </a:r>
          </a:p>
          <a:p>
            <a:pPr marL="457200" marR="0" lvl="1" indent="0" algn="l" defTabSz="914400" rtl="0" eaLnBrk="0" fontAlgn="base" latinLnBrk="0" hangingPunct="0">
              <a:lnSpc>
                <a:spcPct val="150000"/>
              </a:lnSpc>
              <a:spcBef>
                <a:spcPct val="0"/>
              </a:spcBef>
              <a:spcAft>
                <a:spcPct val="0"/>
              </a:spcAft>
              <a:buClrTx/>
              <a:buSzTx/>
              <a:buFontTx/>
              <a:buChar char="•"/>
              <a:tabLst/>
              <a:defRPr/>
            </a:pPr>
            <a:r>
              <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Tracking code changes</a:t>
            </a: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p>
            <a:pPr marL="457200" marR="0" lvl="1" indent="0" algn="l" defTabSz="914400" rtl="0" eaLnBrk="0" fontAlgn="base" latinLnBrk="0" hangingPunct="0">
              <a:lnSpc>
                <a:spcPct val="150000"/>
              </a:lnSpc>
              <a:spcBef>
                <a:spcPct val="0"/>
              </a:spcBef>
              <a:spcAft>
                <a:spcPct val="0"/>
              </a:spcAft>
              <a:buClrTx/>
              <a:buSzTx/>
              <a:buFontTx/>
              <a:buChar char="•"/>
              <a:tabLst/>
              <a:defRPr/>
            </a:pPr>
            <a:r>
              <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Collaboration among team members</a:t>
            </a: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p>
            <a:pPr marL="457200" marR="0" lvl="1" indent="0" algn="l" defTabSz="914400" rtl="0" eaLnBrk="0" fontAlgn="base" latinLnBrk="0" hangingPunct="0">
              <a:lnSpc>
                <a:spcPct val="150000"/>
              </a:lnSpc>
              <a:spcBef>
                <a:spcPct val="0"/>
              </a:spcBef>
              <a:spcAft>
                <a:spcPct val="0"/>
              </a:spcAft>
              <a:buClrTx/>
              <a:buSzTx/>
              <a:buFontTx/>
              <a:buChar char="•"/>
              <a:tabLst/>
              <a:defRPr/>
            </a:pPr>
            <a:r>
              <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Rollback to previous stable versions</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in case of bugs or failures</a:t>
            </a:r>
          </a:p>
          <a:p>
            <a:pPr marL="0" marR="0" lvl="0" indent="0" algn="l" defTabSz="914400" rtl="0" eaLnBrk="0" fontAlgn="base" latinLnBrk="0" hangingPunct="0">
              <a:lnSpc>
                <a:spcPct val="150000"/>
              </a:lnSpc>
              <a:spcBef>
                <a:spcPct val="0"/>
              </a:spcBef>
              <a:spcAft>
                <a:spcPct val="0"/>
              </a:spcAft>
              <a:buClrTx/>
              <a:buSzTx/>
              <a:buFontTx/>
              <a:buChar char="•"/>
              <a:tabLst/>
              <a:defRPr/>
            </a:pP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Commonly used tools:</a:t>
            </a:r>
          </a:p>
          <a:p>
            <a:pPr marL="2286000" marR="0" lvl="5" indent="0" algn="l" defTabSz="914400" rtl="0" eaLnBrk="0" fontAlgn="base" latinLnBrk="0" hangingPunct="0">
              <a:lnSpc>
                <a:spcPct val="100000"/>
              </a:lnSpc>
              <a:spcBef>
                <a:spcPct val="0"/>
              </a:spcBef>
              <a:spcAft>
                <a:spcPct val="0"/>
              </a:spcAft>
              <a:buClrTx/>
              <a:buSzTx/>
              <a:buFontTx/>
              <a:buChar char="•"/>
              <a:tabLst/>
              <a:defRPr/>
            </a:pPr>
            <a:r>
              <a:rPr kumimoji="0" lang="en-US" altLang="en-US" sz="1800" b="1" i="0" u="none" strike="noStrike" kern="1200" cap="none" spc="0" normalizeH="0" baseline="0" noProof="0" dirty="0" err="1">
                <a:ln>
                  <a:noFill/>
                </a:ln>
                <a:solidFill>
                  <a:srgbClr val="000000"/>
                </a:solidFill>
                <a:effectLst/>
                <a:uLnTx/>
                <a:uFillTx/>
                <a:latin typeface="Arial" panose="020B0604020202020204" pitchFamily="34" charset="0"/>
                <a:ea typeface="+mn-ea"/>
                <a:cs typeface="+mn-cs"/>
              </a:rPr>
              <a:t>Git</a:t>
            </a: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p>
            <a:pPr marL="2286000" marR="0" lvl="5" indent="0" algn="l" defTabSz="914400" rtl="0" eaLnBrk="0" fontAlgn="base" latinLnBrk="0" hangingPunct="0">
              <a:lnSpc>
                <a:spcPct val="100000"/>
              </a:lnSpc>
              <a:spcBef>
                <a:spcPct val="0"/>
              </a:spcBef>
              <a:spcAft>
                <a:spcPct val="0"/>
              </a:spcAft>
              <a:buClrTx/>
              <a:buSzTx/>
              <a:buFontTx/>
              <a:buChar char="•"/>
              <a:tabLst/>
              <a:defRPr/>
            </a:pPr>
            <a:r>
              <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SVN</a:t>
            </a: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p>
            <a:pPr marL="2286000" marR="0" lvl="5" indent="0" algn="l" defTabSz="914400" rtl="0" eaLnBrk="0" fontAlgn="base" latinLnBrk="0" hangingPunct="0">
              <a:lnSpc>
                <a:spcPct val="100000"/>
              </a:lnSpc>
              <a:spcBef>
                <a:spcPct val="0"/>
              </a:spcBef>
              <a:spcAft>
                <a:spcPct val="0"/>
              </a:spcAft>
              <a:buClrTx/>
              <a:buSzTx/>
              <a:buFontTx/>
              <a:buChar char="•"/>
              <a:tabLst/>
              <a:defRPr/>
            </a:pPr>
            <a:r>
              <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Mercurial</a:t>
            </a: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p>
            <a:pPr marL="2286000" marR="0" lvl="5" indent="0" algn="l" defTabSz="914400" rtl="0" eaLnBrk="0" fontAlgn="base" latinLnBrk="0" hangingPunct="0">
              <a:lnSpc>
                <a:spcPct val="100000"/>
              </a:lnSpc>
              <a:spcBef>
                <a:spcPct val="0"/>
              </a:spcBef>
              <a:spcAft>
                <a:spcPct val="0"/>
              </a:spcAft>
              <a:buClrTx/>
              <a:buSzTx/>
              <a:buFontTx/>
              <a:buChar char="•"/>
              <a:tabLst/>
              <a:defRPr/>
            </a:pPr>
            <a:r>
              <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CVS</a:t>
            </a: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p>
            <a:pPr marL="2286000" marR="0" lvl="5" indent="0" algn="l" defTabSz="914400" rtl="0" eaLnBrk="0" fontAlgn="base" latinLnBrk="0" hangingPunct="0">
              <a:lnSpc>
                <a:spcPct val="100000"/>
              </a:lnSpc>
              <a:spcBef>
                <a:spcPct val="0"/>
              </a:spcBef>
              <a:spcAft>
                <a:spcPct val="0"/>
              </a:spcAft>
              <a:buClrTx/>
              <a:buSzTx/>
              <a:buFontTx/>
              <a:buChar char="•"/>
              <a:tabLst/>
              <a:defRPr/>
            </a:pPr>
            <a:r>
              <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JIRA</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(for issue tracking and coordination)</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Arial"/>
              <a:ea typeface="+mn-ea"/>
              <a:cs typeface="+mn-cs"/>
            </a:endParaRPr>
          </a:p>
        </p:txBody>
      </p:sp>
      <p:sp>
        <p:nvSpPr>
          <p:cNvPr id="4" name="Rectangle 3"/>
          <p:cNvSpPr/>
          <p:nvPr/>
        </p:nvSpPr>
        <p:spPr>
          <a:xfrm>
            <a:off x="371752" y="710741"/>
            <a:ext cx="3374642"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0000"/>
                </a:solidFill>
                <a:effectLst/>
                <a:uLnTx/>
                <a:uFillTx/>
                <a:latin typeface="Arial"/>
                <a:ea typeface="+mn-ea"/>
                <a:cs typeface="+mn-cs"/>
              </a:rPr>
              <a:t>DevOps Lifecycle (Contd.)</a:t>
            </a:r>
          </a:p>
        </p:txBody>
      </p:sp>
    </p:spTree>
    <p:extLst>
      <p:ext uri="{BB962C8B-B14F-4D97-AF65-F5344CB8AC3E}">
        <p14:creationId xmlns:p14="http://schemas.microsoft.com/office/powerpoint/2010/main" val="275568764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6243E8E-C8FC-A6F0-C1E3-6377776F6AC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DACC02-A2BD-4578-8E03-6D891060A695}" type="slidenum">
              <a:rPr kumimoji="0" lang="en-US" sz="1333" b="0" i="0" u="none" strike="noStrike" kern="1200" cap="none" spc="0" normalizeH="0" baseline="0" noProof="0" smtClean="0">
                <a:ln>
                  <a:noFill/>
                </a:ln>
                <a:solidFill>
                  <a:srgbClr val="595959"/>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n-US" sz="1333" b="0" i="0" u="none" strike="noStrike" kern="1200" cap="none" spc="0" normalizeH="0" baseline="0" noProof="0">
              <a:ln>
                <a:noFill/>
              </a:ln>
              <a:solidFill>
                <a:srgbClr val="595959"/>
              </a:solidFill>
              <a:effectLst/>
              <a:uLnTx/>
              <a:uFillTx/>
              <a:latin typeface="Arial"/>
              <a:ea typeface="+mn-ea"/>
              <a:cs typeface="+mn-cs"/>
            </a:endParaRPr>
          </a:p>
        </p:txBody>
      </p:sp>
      <p:pic>
        <p:nvPicPr>
          <p:cNvPr id="4" name="Picture 3">
            <a:extLst>
              <a:ext uri="{FF2B5EF4-FFF2-40B4-BE49-F238E27FC236}">
                <a16:creationId xmlns:a16="http://schemas.microsoft.com/office/drawing/2014/main" id="{16457256-5722-1FCC-EC20-91F29C23CCC8}"/>
              </a:ext>
            </a:extLst>
          </p:cNvPr>
          <p:cNvPicPr>
            <a:picLocks noChangeAspect="1"/>
          </p:cNvPicPr>
          <p:nvPr/>
        </p:nvPicPr>
        <p:blipFill>
          <a:blip r:embed="rId2"/>
          <a:stretch>
            <a:fillRect/>
          </a:stretch>
        </p:blipFill>
        <p:spPr>
          <a:xfrm>
            <a:off x="478937" y="1576798"/>
            <a:ext cx="11381968" cy="4640825"/>
          </a:xfrm>
          <a:prstGeom prst="rect">
            <a:avLst/>
          </a:prstGeom>
        </p:spPr>
      </p:pic>
    </p:spTree>
    <p:extLst>
      <p:ext uri="{BB962C8B-B14F-4D97-AF65-F5344CB8AC3E}">
        <p14:creationId xmlns:p14="http://schemas.microsoft.com/office/powerpoint/2010/main" val="18204419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E7451-0BDF-DA28-897A-85FBDBDCA30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DD9C301-2A32-4405-79E2-C13EAB097020}"/>
              </a:ext>
            </a:extLst>
          </p:cNvPr>
          <p:cNvSpPr>
            <a:spLocks noGrp="1"/>
          </p:cNvSpPr>
          <p:nvPr>
            <p:ph type="title"/>
          </p:nvPr>
        </p:nvSpPr>
        <p:spPr/>
        <p:txBody>
          <a:bodyPr/>
          <a:lstStyle/>
          <a:p>
            <a:r>
              <a:rPr lang="en-IN" dirty="0"/>
              <a:t>Continuous Integration</a:t>
            </a:r>
          </a:p>
        </p:txBody>
      </p:sp>
      <p:sp>
        <p:nvSpPr>
          <p:cNvPr id="2" name="Slide Number Placeholder 1">
            <a:extLst>
              <a:ext uri="{FF2B5EF4-FFF2-40B4-BE49-F238E27FC236}">
                <a16:creationId xmlns:a16="http://schemas.microsoft.com/office/drawing/2014/main" id="{DA26CDD7-6EEC-6065-2D87-870F66AE6BBE}"/>
              </a:ext>
            </a:extLst>
          </p:cNvPr>
          <p:cNvSpPr>
            <a:spLocks noGrp="1"/>
          </p:cNvSpPr>
          <p:nvPr>
            <p:ph type="sldNum" sz="quarter" idx="4294967295"/>
          </p:nvPr>
        </p:nvSpPr>
        <p:spPr>
          <a:xfrm>
            <a:off x="11460163" y="6218238"/>
            <a:ext cx="731837" cy="523875"/>
          </a:xfrm>
        </p:spPr>
        <p:txBody>
          <a:bodyPr/>
          <a:lstStyle/>
          <a:p>
            <a:fld id="{B8DACC02-A2BD-4578-8E03-6D891060A695}" type="slidenum">
              <a:rPr lang="en-US" smtClean="0"/>
              <a:t>52</a:t>
            </a:fld>
            <a:endParaRPr lang="en-US"/>
          </a:p>
        </p:txBody>
      </p:sp>
    </p:spTree>
    <p:extLst>
      <p:ext uri="{BB962C8B-B14F-4D97-AF65-F5344CB8AC3E}">
        <p14:creationId xmlns:p14="http://schemas.microsoft.com/office/powerpoint/2010/main" val="289381849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11296611" y="5834169"/>
            <a:ext cx="731600" cy="524800"/>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DACC02-A2BD-4578-8E03-6D891060A695}" type="slidenum">
              <a:rPr kumimoji="0" lang="en-US" sz="1333" b="0" i="0" u="none" strike="noStrike" kern="1200" cap="none" spc="0" normalizeH="0" baseline="0" noProof="0" smtClean="0">
                <a:ln>
                  <a:noFill/>
                </a:ln>
                <a:solidFill>
                  <a:srgbClr val="595959"/>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en-US" sz="1333" b="0" i="0" u="none" strike="noStrike" kern="1200" cap="none" spc="0" normalizeH="0" baseline="0" noProof="0">
              <a:ln>
                <a:noFill/>
              </a:ln>
              <a:solidFill>
                <a:srgbClr val="595959"/>
              </a:solidFill>
              <a:effectLst/>
              <a:uLnTx/>
              <a:uFillTx/>
              <a:latin typeface="Arial"/>
              <a:ea typeface="+mn-ea"/>
              <a:cs typeface="+mn-cs"/>
            </a:endParaRPr>
          </a:p>
        </p:txBody>
      </p:sp>
      <p:sp>
        <p:nvSpPr>
          <p:cNvPr id="3" name="Rectangle 2"/>
          <p:cNvSpPr/>
          <p:nvPr/>
        </p:nvSpPr>
        <p:spPr>
          <a:xfrm>
            <a:off x="342253" y="929837"/>
            <a:ext cx="11331994" cy="5581015"/>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Stage 2: Continuous Integration:</a:t>
            </a:r>
            <a:br>
              <a:rPr kumimoji="0" lang="en-US" sz="1800" b="1" i="0" u="none" strike="noStrike" kern="1200" cap="none" spc="0" normalizeH="0" baseline="0" noProof="0" dirty="0">
                <a:ln>
                  <a:noFill/>
                </a:ln>
                <a:solidFill>
                  <a:srgbClr val="000000"/>
                </a:solidFill>
                <a:effectLst/>
                <a:uLnTx/>
                <a:uFillTx/>
                <a:latin typeface="Arial"/>
                <a:ea typeface="+mn-ea"/>
                <a:cs typeface="+mn-cs"/>
              </a:rPr>
            </a:br>
            <a:r>
              <a:rPr kumimoji="0" lang="en-US" sz="1800" b="0" i="0" u="none" strike="noStrike" kern="1200" cap="none" spc="0" normalizeH="0" baseline="0" noProof="0" dirty="0">
                <a:ln>
                  <a:noFill/>
                </a:ln>
                <a:solidFill>
                  <a:srgbClr val="000000"/>
                </a:solidFill>
                <a:effectLst/>
                <a:uLnTx/>
                <a:uFillTx/>
                <a:latin typeface="Arial"/>
                <a:ea typeface="+mn-ea"/>
                <a:cs typeface="+mn-cs"/>
              </a:rPr>
              <a:t>Continuous Integration is the practice of </a:t>
            </a:r>
            <a:r>
              <a:rPr kumimoji="0" lang="en-US" sz="1800" b="1" i="0" u="none" strike="noStrike" kern="1200" cap="none" spc="0" normalizeH="0" baseline="0" noProof="0" dirty="0">
                <a:ln>
                  <a:noFill/>
                </a:ln>
                <a:solidFill>
                  <a:srgbClr val="000000"/>
                </a:solidFill>
                <a:effectLst/>
                <a:uLnTx/>
                <a:uFillTx/>
                <a:latin typeface="Arial"/>
                <a:ea typeface="+mn-ea"/>
                <a:cs typeface="+mn-cs"/>
              </a:rPr>
              <a:t>frequently merging every developer's code into a shared central repository</a:t>
            </a:r>
            <a:r>
              <a:rPr kumimoji="0" lang="en-US" sz="1800" b="0" i="0" u="none" strike="noStrike" kern="1200" cap="none" spc="0" normalizeH="0" baseline="0" noProof="0" dirty="0">
                <a:ln>
                  <a:noFill/>
                </a:ln>
                <a:solidFill>
                  <a:srgbClr val="000000"/>
                </a:solidFill>
                <a:effectLst/>
                <a:uLnTx/>
                <a:uFillTx/>
                <a:latin typeface="Arial"/>
                <a:ea typeface="+mn-ea"/>
                <a:cs typeface="+mn-cs"/>
              </a:rPr>
              <a:t> — and </a:t>
            </a:r>
            <a:r>
              <a:rPr kumimoji="0" lang="en-US" sz="1800" b="1" i="0" u="none" strike="noStrike" kern="1200" cap="none" spc="0" normalizeH="0" baseline="0" noProof="0" dirty="0">
                <a:ln>
                  <a:noFill/>
                </a:ln>
                <a:solidFill>
                  <a:srgbClr val="000000"/>
                </a:solidFill>
                <a:effectLst/>
                <a:uLnTx/>
                <a:uFillTx/>
                <a:latin typeface="Arial"/>
                <a:ea typeface="+mn-ea"/>
                <a:cs typeface="+mn-cs"/>
              </a:rPr>
              <a:t>automatically testing and building it each time</a:t>
            </a:r>
            <a:r>
              <a:rPr kumimoji="0" lang="en-US" sz="1800" b="0" i="0" u="none" strike="noStrike" kern="1200" cap="none" spc="0" normalizeH="0" baseline="0" noProof="0" dirty="0">
                <a:ln>
                  <a:noFill/>
                </a:ln>
                <a:solidFill>
                  <a:srgbClr val="000000"/>
                </a:solidFill>
                <a:effectLst/>
                <a:uLnTx/>
                <a:uFillTx/>
                <a:latin typeface="Arial"/>
                <a:ea typeface="+mn-ea"/>
                <a:cs typeface="+mn-cs"/>
              </a:rPr>
              <a:t>. The goal is simple: catch problems </a:t>
            </a:r>
            <a:r>
              <a:rPr kumimoji="0" lang="en-US" sz="1800" b="0" i="1" u="none" strike="noStrike" kern="1200" cap="none" spc="0" normalizeH="0" baseline="0" noProof="0" dirty="0">
                <a:ln>
                  <a:noFill/>
                </a:ln>
                <a:solidFill>
                  <a:srgbClr val="000000"/>
                </a:solidFill>
                <a:effectLst/>
                <a:uLnTx/>
                <a:uFillTx/>
                <a:latin typeface="Arial"/>
                <a:ea typeface="+mn-ea"/>
                <a:cs typeface="+mn-cs"/>
              </a:rPr>
              <a:t>immediately</a:t>
            </a:r>
            <a:r>
              <a:rPr kumimoji="0" lang="en-US" sz="1800" b="0" i="0" u="none" strike="noStrike" kern="1200" cap="none" spc="0" normalizeH="0" baseline="0" noProof="0" dirty="0">
                <a:ln>
                  <a:noFill/>
                </a:ln>
                <a:solidFill>
                  <a:srgbClr val="000000"/>
                </a:solidFill>
                <a:effectLst/>
                <a:uLnTx/>
                <a:uFillTx/>
                <a:latin typeface="Arial"/>
                <a:ea typeface="+mn-ea"/>
                <a:cs typeface="+mn-cs"/>
              </a:rPr>
              <a:t> when they're introduced, not weeks later when they've grown into something much harder to fix.</a:t>
            </a:r>
            <a:endParaRPr kumimoji="0" lang="en-US" sz="1800" b="1"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Before CI, teams would develop in isolation for weeks or months, then try to merge everything together at the end. This was so painful it earned a name — </a:t>
            </a:r>
            <a:r>
              <a:rPr kumimoji="0" lang="en-US" sz="1800" b="1" i="0" u="none" strike="noStrike" kern="1200" cap="none" spc="0" normalizeH="0" baseline="0" noProof="0" dirty="0">
                <a:ln>
                  <a:noFill/>
                </a:ln>
                <a:solidFill>
                  <a:srgbClr val="000000"/>
                </a:solidFill>
                <a:effectLst/>
                <a:uLnTx/>
                <a:uFillTx/>
                <a:latin typeface="Arial"/>
                <a:ea typeface="+mn-ea"/>
                <a:cs typeface="+mn-cs"/>
              </a:rPr>
              <a:t>Integration Hell.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Example:</a:t>
            </a:r>
            <a:r>
              <a:rPr kumimoji="0" lang="en-US" sz="1800" b="0" i="0" u="none" strike="noStrike" kern="1200" cap="none" spc="0" normalizeH="0" baseline="0" noProof="0" dirty="0">
                <a:ln>
                  <a:noFill/>
                </a:ln>
                <a:solidFill>
                  <a:srgbClr val="000000"/>
                </a:solidFill>
                <a:effectLst/>
                <a:uLnTx/>
                <a:uFillTx/>
                <a:latin typeface="Arial"/>
                <a:ea typeface="+mn-ea"/>
                <a:cs typeface="+mn-cs"/>
              </a:rPr>
              <a:t> Five developers each spend 3 weeks building separate features of a banking app. On merge day they try to combine everything. The code conflicts are everywhere, features break each other, the database schema is incompatible, and nobody remembers exactly what they changed 3 weeks ago. Fixing this takes another 2 weeks.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With CI, each developer merges their code </a:t>
            </a:r>
            <a:r>
              <a:rPr kumimoji="0" lang="en-US" sz="1800" b="1" i="0" u="none" strike="noStrike" kern="1200" cap="none" spc="0" normalizeH="0" baseline="0" noProof="0" dirty="0">
                <a:ln>
                  <a:noFill/>
                </a:ln>
                <a:solidFill>
                  <a:srgbClr val="000000"/>
                </a:solidFill>
                <a:effectLst/>
                <a:uLnTx/>
                <a:uFillTx/>
                <a:latin typeface="Arial"/>
                <a:ea typeface="+mn-ea"/>
                <a:cs typeface="+mn-cs"/>
              </a:rPr>
              <a:t>daily</a:t>
            </a:r>
            <a:r>
              <a:rPr kumimoji="0" lang="en-US" sz="1800" b="0" i="0" u="none" strike="noStrike" kern="1200" cap="none" spc="0" normalizeH="0" baseline="0" noProof="0" dirty="0">
                <a:ln>
                  <a:noFill/>
                </a:ln>
                <a:solidFill>
                  <a:srgbClr val="000000"/>
                </a:solidFill>
                <a:effectLst/>
                <a:uLnTx/>
                <a:uFillTx/>
                <a:latin typeface="Arial"/>
                <a:ea typeface="+mn-ea"/>
                <a:cs typeface="+mn-cs"/>
              </a:rPr>
              <a:t>. Conflicts are tiny, caught immediately, and fixed in minutes.</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Arial"/>
              <a:ea typeface="+mn-ea"/>
              <a:cs typeface="+mn-cs"/>
            </a:endParaRPr>
          </a:p>
        </p:txBody>
      </p:sp>
      <p:sp>
        <p:nvSpPr>
          <p:cNvPr id="4" name="Rectangle 3"/>
          <p:cNvSpPr/>
          <p:nvPr/>
        </p:nvSpPr>
        <p:spPr>
          <a:xfrm>
            <a:off x="342253" y="356783"/>
            <a:ext cx="3374642"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0000"/>
                </a:solidFill>
                <a:effectLst/>
                <a:uLnTx/>
                <a:uFillTx/>
                <a:latin typeface="Arial"/>
                <a:ea typeface="+mn-ea"/>
                <a:cs typeface="+mn-cs"/>
              </a:rPr>
              <a:t>DevOps Lifecycle (Contd.)</a:t>
            </a:r>
          </a:p>
        </p:txBody>
      </p:sp>
    </p:spTree>
    <p:extLst>
      <p:ext uri="{BB962C8B-B14F-4D97-AF65-F5344CB8AC3E}">
        <p14:creationId xmlns:p14="http://schemas.microsoft.com/office/powerpoint/2010/main" val="302759459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5227B-2349-F0DF-F1D8-4B9A70D0F18A}"/>
              </a:ext>
            </a:extLst>
          </p:cNvPr>
          <p:cNvSpPr>
            <a:spLocks noGrp="1"/>
          </p:cNvSpPr>
          <p:nvPr>
            <p:ph type="title"/>
          </p:nvPr>
        </p:nvSpPr>
        <p:spPr>
          <a:xfrm>
            <a:off x="415599" y="375339"/>
            <a:ext cx="11360800" cy="763600"/>
          </a:xfrm>
        </p:spPr>
        <p:txBody>
          <a:bodyPr>
            <a:normAutofit fontScale="90000"/>
          </a:bodyPr>
          <a:lstStyle/>
          <a:p>
            <a:r>
              <a:rPr lang="en-US" b="1" dirty="0"/>
              <a:t>How CI Works — Step by Step</a:t>
            </a:r>
            <a:br>
              <a:rPr lang="en-IN" b="1" dirty="0"/>
            </a:br>
            <a:br>
              <a:rPr lang="en-IN" b="1" dirty="0"/>
            </a:br>
            <a:endParaRPr lang="en-IN" b="1" dirty="0"/>
          </a:p>
        </p:txBody>
      </p:sp>
      <p:pic>
        <p:nvPicPr>
          <p:cNvPr id="5" name="Picture 4">
            <a:extLst>
              <a:ext uri="{FF2B5EF4-FFF2-40B4-BE49-F238E27FC236}">
                <a16:creationId xmlns:a16="http://schemas.microsoft.com/office/drawing/2014/main" id="{95CCF1CA-620E-7D44-D4F4-78D60519FE4D}"/>
              </a:ext>
            </a:extLst>
          </p:cNvPr>
          <p:cNvPicPr>
            <a:picLocks noChangeAspect="1"/>
          </p:cNvPicPr>
          <p:nvPr/>
        </p:nvPicPr>
        <p:blipFill>
          <a:blip r:embed="rId2"/>
          <a:stretch>
            <a:fillRect/>
          </a:stretch>
        </p:blipFill>
        <p:spPr>
          <a:xfrm>
            <a:off x="503233" y="962757"/>
            <a:ext cx="8542444" cy="5379962"/>
          </a:xfrm>
          <a:prstGeom prst="rect">
            <a:avLst/>
          </a:prstGeom>
        </p:spPr>
      </p:pic>
    </p:spTree>
    <p:extLst>
      <p:ext uri="{BB962C8B-B14F-4D97-AF65-F5344CB8AC3E}">
        <p14:creationId xmlns:p14="http://schemas.microsoft.com/office/powerpoint/2010/main" val="3972496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C72FE-7570-0618-5C38-37EE0C3309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CA92FA-89DA-336B-529A-26A7D5F3827C}"/>
              </a:ext>
            </a:extLst>
          </p:cNvPr>
          <p:cNvSpPr>
            <a:spLocks noGrp="1"/>
          </p:cNvSpPr>
          <p:nvPr>
            <p:ph type="title"/>
          </p:nvPr>
        </p:nvSpPr>
        <p:spPr>
          <a:xfrm>
            <a:off x="415599" y="375339"/>
            <a:ext cx="11360800" cy="763600"/>
          </a:xfrm>
        </p:spPr>
        <p:txBody>
          <a:bodyPr>
            <a:normAutofit/>
          </a:bodyPr>
          <a:lstStyle/>
          <a:p>
            <a:r>
              <a:rPr lang="en-IN" b="1" dirty="0"/>
              <a:t>Benefits of Frequent Integration </a:t>
            </a:r>
          </a:p>
        </p:txBody>
      </p:sp>
      <p:pic>
        <p:nvPicPr>
          <p:cNvPr id="4" name="Picture 3">
            <a:extLst>
              <a:ext uri="{FF2B5EF4-FFF2-40B4-BE49-F238E27FC236}">
                <a16:creationId xmlns:a16="http://schemas.microsoft.com/office/drawing/2014/main" id="{E3CD649A-F4BD-4290-9104-D265893F37F8}"/>
              </a:ext>
            </a:extLst>
          </p:cNvPr>
          <p:cNvPicPr>
            <a:picLocks noChangeAspect="1"/>
          </p:cNvPicPr>
          <p:nvPr/>
        </p:nvPicPr>
        <p:blipFill>
          <a:blip r:embed="rId2"/>
          <a:stretch>
            <a:fillRect/>
          </a:stretch>
        </p:blipFill>
        <p:spPr>
          <a:xfrm>
            <a:off x="531504" y="1289906"/>
            <a:ext cx="8691154" cy="3031798"/>
          </a:xfrm>
          <a:prstGeom prst="rect">
            <a:avLst/>
          </a:prstGeom>
        </p:spPr>
      </p:pic>
      <p:sp>
        <p:nvSpPr>
          <p:cNvPr id="6" name="TextBox 5">
            <a:extLst>
              <a:ext uri="{FF2B5EF4-FFF2-40B4-BE49-F238E27FC236}">
                <a16:creationId xmlns:a16="http://schemas.microsoft.com/office/drawing/2014/main" id="{200A87EB-503C-C5B7-77F4-C8175757730A}"/>
              </a:ext>
            </a:extLst>
          </p:cNvPr>
          <p:cNvSpPr txBox="1"/>
          <p:nvPr/>
        </p:nvSpPr>
        <p:spPr>
          <a:xfrm>
            <a:off x="531504" y="4472672"/>
            <a:ext cx="10418845"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Example:</a:t>
            </a:r>
            <a:r>
              <a:rPr kumimoji="0" lang="en-US" sz="1800" b="0" i="0" u="none" strike="noStrike" kern="1200" cap="none" spc="0" normalizeH="0" baseline="0" noProof="0" dirty="0">
                <a:ln>
                  <a:noFill/>
                </a:ln>
                <a:solidFill>
                  <a:srgbClr val="000000"/>
                </a:solidFill>
                <a:effectLst/>
                <a:uLnTx/>
                <a:uFillTx/>
                <a:latin typeface="Arial"/>
                <a:ea typeface="+mn-ea"/>
                <a:cs typeface="+mn-cs"/>
              </a:rPr>
              <a:t> Amazon integrates and deploys code thousands of times per day. Each change is tiny and automatically tested. If something breaks, they know within minutes exactly which change caused it and who made it.</a:t>
            </a:r>
            <a:endParaRPr kumimoji="0" lang="en-IN" sz="1800" b="0" i="0" u="none" strike="noStrike" kern="120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67165649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08DCA-5445-3E5C-66D1-4268EBB2BE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F56857-DAC6-1581-B883-464C58E7F277}"/>
              </a:ext>
            </a:extLst>
          </p:cNvPr>
          <p:cNvSpPr>
            <a:spLocks noGrp="1"/>
          </p:cNvSpPr>
          <p:nvPr>
            <p:ph type="title"/>
          </p:nvPr>
        </p:nvSpPr>
        <p:spPr>
          <a:xfrm>
            <a:off x="415599" y="375339"/>
            <a:ext cx="11360800" cy="763600"/>
          </a:xfrm>
        </p:spPr>
        <p:txBody>
          <a:bodyPr>
            <a:normAutofit/>
          </a:bodyPr>
          <a:lstStyle/>
          <a:p>
            <a:r>
              <a:rPr lang="en-IN" b="1" dirty="0"/>
              <a:t>Automated Build &amp; Packaging</a:t>
            </a:r>
          </a:p>
        </p:txBody>
      </p:sp>
      <p:sp>
        <p:nvSpPr>
          <p:cNvPr id="6" name="TextBox 5">
            <a:extLst>
              <a:ext uri="{FF2B5EF4-FFF2-40B4-BE49-F238E27FC236}">
                <a16:creationId xmlns:a16="http://schemas.microsoft.com/office/drawing/2014/main" id="{814407D1-9B51-980C-2BAC-A303F1EC0F8E}"/>
              </a:ext>
            </a:extLst>
          </p:cNvPr>
          <p:cNvSpPr txBox="1"/>
          <p:nvPr/>
        </p:nvSpPr>
        <p:spPr>
          <a:xfrm>
            <a:off x="415599" y="1138939"/>
            <a:ext cx="10418845"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When code is pushed, the CI tool automatically </a:t>
            </a:r>
            <a:r>
              <a:rPr kumimoji="0" lang="en-US" sz="1800" b="1" i="0" u="none" strike="noStrike" kern="1200" cap="none" spc="0" normalizeH="0" baseline="0" noProof="0" dirty="0">
                <a:ln>
                  <a:noFill/>
                </a:ln>
                <a:solidFill>
                  <a:srgbClr val="000000"/>
                </a:solidFill>
                <a:effectLst/>
                <a:uLnTx/>
                <a:uFillTx/>
                <a:latin typeface="Arial"/>
                <a:ea typeface="+mn-ea"/>
                <a:cs typeface="+mn-cs"/>
              </a:rPr>
              <a:t>builds and packages</a:t>
            </a:r>
            <a:r>
              <a:rPr kumimoji="0" lang="en-US" sz="1800" b="0" i="0" u="none" strike="noStrike" kern="1200" cap="none" spc="0" normalizeH="0" baseline="0" noProof="0" dirty="0">
                <a:ln>
                  <a:noFill/>
                </a:ln>
                <a:solidFill>
                  <a:srgbClr val="000000"/>
                </a:solidFill>
                <a:effectLst/>
                <a:uLnTx/>
                <a:uFillTx/>
                <a:latin typeface="Arial"/>
                <a:ea typeface="+mn-ea"/>
                <a:cs typeface="+mn-cs"/>
              </a:rPr>
              <a:t> the application into a deployable format. Depending on the technology stack this looks different:</a:t>
            </a:r>
          </a:p>
        </p:txBody>
      </p:sp>
      <p:pic>
        <p:nvPicPr>
          <p:cNvPr id="5" name="Picture 4">
            <a:extLst>
              <a:ext uri="{FF2B5EF4-FFF2-40B4-BE49-F238E27FC236}">
                <a16:creationId xmlns:a16="http://schemas.microsoft.com/office/drawing/2014/main" id="{4BB13972-1DD0-2E66-9A3B-33110E669067}"/>
              </a:ext>
            </a:extLst>
          </p:cNvPr>
          <p:cNvPicPr>
            <a:picLocks noChangeAspect="1"/>
          </p:cNvPicPr>
          <p:nvPr/>
        </p:nvPicPr>
        <p:blipFill>
          <a:blip r:embed="rId2"/>
          <a:stretch>
            <a:fillRect/>
          </a:stretch>
        </p:blipFill>
        <p:spPr>
          <a:xfrm>
            <a:off x="415599" y="2092585"/>
            <a:ext cx="10272066" cy="2975279"/>
          </a:xfrm>
          <a:prstGeom prst="rect">
            <a:avLst/>
          </a:prstGeom>
        </p:spPr>
      </p:pic>
      <p:sp>
        <p:nvSpPr>
          <p:cNvPr id="7" name="TextBox 6">
            <a:extLst>
              <a:ext uri="{FF2B5EF4-FFF2-40B4-BE49-F238E27FC236}">
                <a16:creationId xmlns:a16="http://schemas.microsoft.com/office/drawing/2014/main" id="{F542EA3E-6AB1-1851-74DC-503ED524E7B0}"/>
              </a:ext>
            </a:extLst>
          </p:cNvPr>
          <p:cNvSpPr txBox="1"/>
          <p:nvPr/>
        </p:nvSpPr>
        <p:spPr>
          <a:xfrm>
            <a:off x="415599" y="5184913"/>
            <a:ext cx="10418845"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Example:</a:t>
            </a:r>
            <a:r>
              <a:rPr kumimoji="0" lang="en-US" sz="1800" b="0" i="0" u="none" strike="noStrike" kern="1200" cap="none" spc="0" normalizeH="0" baseline="0" noProof="0" dirty="0">
                <a:ln>
                  <a:noFill/>
                </a:ln>
                <a:solidFill>
                  <a:srgbClr val="000000"/>
                </a:solidFill>
                <a:effectLst/>
                <a:uLnTx/>
                <a:uFillTx/>
                <a:latin typeface="Arial"/>
                <a:ea typeface="+mn-ea"/>
                <a:cs typeface="+mn-cs"/>
              </a:rPr>
              <a:t> A developer pushes a bug fix to the checkout service. </a:t>
            </a:r>
            <a:r>
              <a:rPr kumimoji="0" lang="en-US" sz="1800" b="1" i="0" u="none" strike="noStrike" kern="1200" cap="none" spc="0" normalizeH="0" baseline="0" noProof="0" dirty="0">
                <a:ln>
                  <a:noFill/>
                </a:ln>
                <a:solidFill>
                  <a:srgbClr val="000000"/>
                </a:solidFill>
                <a:effectLst/>
                <a:uLnTx/>
                <a:uFillTx/>
                <a:latin typeface="Arial"/>
                <a:ea typeface="+mn-ea"/>
                <a:cs typeface="+mn-cs"/>
              </a:rPr>
              <a:t>Jenkins</a:t>
            </a:r>
            <a:r>
              <a:rPr kumimoji="0" lang="en-US" sz="1800" b="0" i="0" u="none" strike="noStrike" kern="1200" cap="none" spc="0" normalizeH="0" baseline="0" noProof="0" dirty="0">
                <a:ln>
                  <a:noFill/>
                </a:ln>
                <a:solidFill>
                  <a:srgbClr val="000000"/>
                </a:solidFill>
                <a:effectLst/>
                <a:uLnTx/>
                <a:uFillTx/>
                <a:latin typeface="Arial"/>
                <a:ea typeface="+mn-ea"/>
                <a:cs typeface="+mn-cs"/>
              </a:rPr>
              <a:t> automatically pulls the code, runs </a:t>
            </a:r>
            <a:r>
              <a:rPr kumimoji="0" lang="en-US" sz="1800" b="0" i="0" u="none" strike="noStrike" kern="1200" cap="none" spc="0" normalizeH="0" baseline="0" noProof="0" dirty="0" err="1">
                <a:ln>
                  <a:noFill/>
                </a:ln>
                <a:solidFill>
                  <a:srgbClr val="000000"/>
                </a:solidFill>
                <a:effectLst/>
                <a:uLnTx/>
                <a:uFillTx/>
                <a:latin typeface="Arial"/>
                <a:ea typeface="+mn-ea"/>
                <a:cs typeface="+mn-cs"/>
              </a:rPr>
              <a:t>mvn</a:t>
            </a:r>
            <a:r>
              <a:rPr kumimoji="0" lang="en-US" sz="1800" b="0" i="0" u="none" strike="noStrike" kern="1200" cap="none" spc="0" normalizeH="0" baseline="0" noProof="0" dirty="0">
                <a:ln>
                  <a:noFill/>
                </a:ln>
                <a:solidFill>
                  <a:srgbClr val="000000"/>
                </a:solidFill>
                <a:effectLst/>
                <a:uLnTx/>
                <a:uFillTx/>
                <a:latin typeface="Arial"/>
                <a:ea typeface="+mn-ea"/>
                <a:cs typeface="+mn-cs"/>
              </a:rPr>
              <a:t> package, produces a fresh .jar file, wraps it in a Docker image, and pushes it to </a:t>
            </a:r>
            <a:r>
              <a:rPr kumimoji="0" lang="en-US" sz="1800" b="0" i="0" u="none" strike="noStrike" kern="1200" cap="none" spc="0" normalizeH="0" baseline="0" noProof="0" dirty="0" err="1">
                <a:ln>
                  <a:noFill/>
                </a:ln>
                <a:solidFill>
                  <a:srgbClr val="000000"/>
                </a:solidFill>
                <a:effectLst/>
                <a:uLnTx/>
                <a:uFillTx/>
                <a:latin typeface="Arial"/>
                <a:ea typeface="+mn-ea"/>
                <a:cs typeface="+mn-cs"/>
              </a:rPr>
              <a:t>DockerHub</a:t>
            </a:r>
            <a:r>
              <a:rPr kumimoji="0" lang="en-US" sz="1800" b="0" i="0" u="none" strike="noStrike" kern="1200" cap="none" spc="0" normalizeH="0" baseline="0" noProof="0" dirty="0">
                <a:ln>
                  <a:noFill/>
                </a:ln>
                <a:solidFill>
                  <a:srgbClr val="000000"/>
                </a:solidFill>
                <a:effectLst/>
                <a:uLnTx/>
                <a:uFillTx/>
                <a:latin typeface="Arial"/>
                <a:ea typeface="+mn-ea"/>
                <a:cs typeface="+mn-cs"/>
              </a:rPr>
              <a:t> — all within 3 minutes, without any human involvement.</a:t>
            </a:r>
          </a:p>
        </p:txBody>
      </p:sp>
    </p:spTree>
    <p:extLst>
      <p:ext uri="{BB962C8B-B14F-4D97-AF65-F5344CB8AC3E}">
        <p14:creationId xmlns:p14="http://schemas.microsoft.com/office/powerpoint/2010/main" val="116484570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5FF7D-DD5C-E5B2-8771-0404DD1788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C2C74D-8C77-3C36-EE76-A85E599ABC83}"/>
              </a:ext>
            </a:extLst>
          </p:cNvPr>
          <p:cNvSpPr>
            <a:spLocks noGrp="1"/>
          </p:cNvSpPr>
          <p:nvPr>
            <p:ph type="title"/>
          </p:nvPr>
        </p:nvSpPr>
        <p:spPr>
          <a:xfrm>
            <a:off x="415599" y="375339"/>
            <a:ext cx="11360800" cy="763600"/>
          </a:xfrm>
        </p:spPr>
        <p:txBody>
          <a:bodyPr>
            <a:normAutofit/>
          </a:bodyPr>
          <a:lstStyle/>
          <a:p>
            <a:r>
              <a:rPr lang="en-IN" b="1" dirty="0"/>
              <a:t>Automated Testing </a:t>
            </a:r>
          </a:p>
        </p:txBody>
      </p:sp>
      <p:sp>
        <p:nvSpPr>
          <p:cNvPr id="6" name="TextBox 5">
            <a:extLst>
              <a:ext uri="{FF2B5EF4-FFF2-40B4-BE49-F238E27FC236}">
                <a16:creationId xmlns:a16="http://schemas.microsoft.com/office/drawing/2014/main" id="{48A688A6-6C11-56EF-1C9A-AB849EE97453}"/>
              </a:ext>
            </a:extLst>
          </p:cNvPr>
          <p:cNvSpPr txBox="1"/>
          <p:nvPr/>
        </p:nvSpPr>
        <p:spPr>
          <a:xfrm>
            <a:off x="415599" y="1522397"/>
            <a:ext cx="10753846" cy="31393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Code is </a:t>
            </a:r>
            <a:r>
              <a:rPr kumimoji="0" lang="en-US" sz="1800" b="1" i="0" u="none" strike="noStrike" kern="1200" cap="none" spc="0" normalizeH="0" baseline="0" noProof="0" dirty="0">
                <a:ln>
                  <a:noFill/>
                </a:ln>
                <a:solidFill>
                  <a:srgbClr val="000000"/>
                </a:solidFill>
                <a:effectLst/>
                <a:uLnTx/>
                <a:uFillTx/>
                <a:latin typeface="Arial"/>
                <a:ea typeface="+mn-ea"/>
                <a:cs typeface="+mn-cs"/>
              </a:rPr>
              <a:t>not allowed to move forward</a:t>
            </a:r>
            <a:r>
              <a:rPr kumimoji="0" lang="en-US" sz="1800" b="0" i="0" u="none" strike="noStrike" kern="1200" cap="none" spc="0" normalizeH="0" baseline="0" noProof="0" dirty="0">
                <a:ln>
                  <a:noFill/>
                </a:ln>
                <a:solidFill>
                  <a:srgbClr val="000000"/>
                </a:solidFill>
                <a:effectLst/>
                <a:uLnTx/>
                <a:uFillTx/>
                <a:latin typeface="Arial"/>
                <a:ea typeface="+mn-ea"/>
                <a:cs typeface="+mn-cs"/>
              </a:rPr>
              <a:t> unless it passes all automated tests. Think of it as a quality checkpoint that never sleeps.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Three levels of testing typically run in CI:</a:t>
            </a: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Unit Tests</a:t>
            </a:r>
            <a:r>
              <a:rPr kumimoji="0" lang="en-US" sz="1800" b="0" i="0" u="none" strike="noStrike" kern="1200" cap="none" spc="0" normalizeH="0" baseline="0" noProof="0" dirty="0">
                <a:ln>
                  <a:noFill/>
                </a:ln>
                <a:solidFill>
                  <a:srgbClr val="000000"/>
                </a:solidFill>
                <a:effectLst/>
                <a:uLnTx/>
                <a:uFillTx/>
                <a:latin typeface="Arial"/>
                <a:ea typeface="+mn-ea"/>
                <a:cs typeface="+mn-cs"/>
              </a:rPr>
              <a:t> — Test individual functions in isolation. </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Example- Does the </a:t>
            </a:r>
            <a:r>
              <a:rPr kumimoji="0" lang="en-US" sz="1800" b="0" i="0" u="none" strike="noStrike" kern="1200" cap="none" spc="0" normalizeH="0" baseline="0" noProof="0" dirty="0" err="1">
                <a:ln>
                  <a:noFill/>
                </a:ln>
                <a:solidFill>
                  <a:srgbClr val="000000"/>
                </a:solidFill>
                <a:effectLst/>
                <a:uLnTx/>
                <a:uFillTx/>
                <a:latin typeface="Arial"/>
                <a:ea typeface="+mn-ea"/>
                <a:cs typeface="+mn-cs"/>
              </a:rPr>
              <a:t>calculate_delivery_fee</a:t>
            </a:r>
            <a:r>
              <a:rPr kumimoji="0" lang="en-US" sz="1800" b="0" i="0" u="none" strike="noStrike" kern="1200" cap="none" spc="0" normalizeH="0" baseline="0" noProof="0" dirty="0">
                <a:ln>
                  <a:noFill/>
                </a:ln>
                <a:solidFill>
                  <a:srgbClr val="000000"/>
                </a:solidFill>
                <a:effectLst/>
                <a:uLnTx/>
                <a:uFillTx/>
                <a:latin typeface="Arial"/>
                <a:ea typeface="+mn-ea"/>
                <a:cs typeface="+mn-cs"/>
              </a:rPr>
              <a:t>() function return the correct value for different inputs?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2. Integration Tests</a:t>
            </a:r>
            <a:r>
              <a:rPr kumimoji="0" lang="en-US" sz="1800" b="0" i="0" u="none" strike="noStrike" kern="1200" cap="none" spc="0" normalizeH="0" baseline="0" noProof="0" dirty="0">
                <a:ln>
                  <a:noFill/>
                </a:ln>
                <a:solidFill>
                  <a:srgbClr val="000000"/>
                </a:solidFill>
                <a:effectLst/>
                <a:uLnTx/>
                <a:uFillTx/>
                <a:latin typeface="Arial"/>
                <a:ea typeface="+mn-ea"/>
                <a:cs typeface="+mn-cs"/>
              </a:rPr>
              <a:t> — Test how different parts work together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        Example- Does the payment service communicate correctly with the order service?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3. Code Quality Checks</a:t>
            </a:r>
            <a:r>
              <a:rPr kumimoji="0" lang="en-US" sz="1800" b="0" i="0" u="none" strike="noStrike" kern="1200" cap="none" spc="0" normalizeH="0" baseline="0" noProof="0" dirty="0">
                <a:ln>
                  <a:noFill/>
                </a:ln>
                <a:solidFill>
                  <a:srgbClr val="000000"/>
                </a:solidFill>
                <a:effectLst/>
                <a:uLnTx/>
                <a:uFillTx/>
                <a:latin typeface="Arial"/>
                <a:ea typeface="+mn-ea"/>
                <a:cs typeface="+mn-cs"/>
              </a:rPr>
              <a:t> — Catch bad code patterns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        Example- Are there unused variables? Is the code too complex? Does it follow team coding              	standards?</a:t>
            </a:r>
          </a:p>
        </p:txBody>
      </p:sp>
      <p:sp>
        <p:nvSpPr>
          <p:cNvPr id="7" name="TextBox 6">
            <a:extLst>
              <a:ext uri="{FF2B5EF4-FFF2-40B4-BE49-F238E27FC236}">
                <a16:creationId xmlns:a16="http://schemas.microsoft.com/office/drawing/2014/main" id="{FC5F7BBD-63DB-AFDB-7AF6-505AFEFFCADA}"/>
              </a:ext>
            </a:extLst>
          </p:cNvPr>
          <p:cNvSpPr txBox="1"/>
          <p:nvPr/>
        </p:nvSpPr>
        <p:spPr>
          <a:xfrm>
            <a:off x="327109" y="4722010"/>
            <a:ext cx="5542750"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Example:</a:t>
            </a:r>
            <a:r>
              <a:rPr kumimoji="0" lang="en-US" sz="1800" b="0" i="0" u="none" strike="noStrike" kern="1200" cap="none" spc="0" normalizeH="0" baseline="0" noProof="0" dirty="0">
                <a:ln>
                  <a:noFill/>
                </a:ln>
                <a:solidFill>
                  <a:srgbClr val="000000"/>
                </a:solidFill>
                <a:effectLst/>
                <a:uLnTx/>
                <a:uFillTx/>
                <a:latin typeface="Arial"/>
                <a:ea typeface="+mn-ea"/>
                <a:cs typeface="+mn-cs"/>
              </a:rPr>
              <a:t> Netflix runs thousands of automated tests on every code push. A change that breaks even one test is immediately rejected and the developer is notified. Nothing broken ever reaches the user.</a:t>
            </a:r>
          </a:p>
        </p:txBody>
      </p:sp>
      <p:pic>
        <p:nvPicPr>
          <p:cNvPr id="4" name="Picture 3">
            <a:extLst>
              <a:ext uri="{FF2B5EF4-FFF2-40B4-BE49-F238E27FC236}">
                <a16:creationId xmlns:a16="http://schemas.microsoft.com/office/drawing/2014/main" id="{E2CE1842-93C8-AE1B-6B0C-6DFE58F5DF88}"/>
              </a:ext>
            </a:extLst>
          </p:cNvPr>
          <p:cNvPicPr>
            <a:picLocks noChangeAspect="1"/>
          </p:cNvPicPr>
          <p:nvPr/>
        </p:nvPicPr>
        <p:blipFill>
          <a:blip r:embed="rId2"/>
          <a:stretch>
            <a:fillRect/>
          </a:stretch>
        </p:blipFill>
        <p:spPr>
          <a:xfrm>
            <a:off x="7287889" y="4575748"/>
            <a:ext cx="3409607" cy="2228718"/>
          </a:xfrm>
          <a:prstGeom prst="rect">
            <a:avLst/>
          </a:prstGeom>
        </p:spPr>
      </p:pic>
    </p:spTree>
    <p:extLst>
      <p:ext uri="{BB962C8B-B14F-4D97-AF65-F5344CB8AC3E}">
        <p14:creationId xmlns:p14="http://schemas.microsoft.com/office/powerpoint/2010/main" val="412088446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605E7-0897-8216-A8E7-E48A1765E41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B39682C-103D-6743-BA98-1DBA7D9C1940}"/>
              </a:ext>
            </a:extLst>
          </p:cNvPr>
          <p:cNvSpPr>
            <a:spLocks noGrp="1"/>
          </p:cNvSpPr>
          <p:nvPr>
            <p:ph type="sldNum" sz="quarter" idx="12"/>
          </p:nvPr>
        </p:nvSpPr>
        <p:spPr>
          <a:xfrm>
            <a:off x="11296611" y="5834169"/>
            <a:ext cx="731600" cy="524800"/>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DACC02-A2BD-4578-8E03-6D891060A695}" type="slidenum">
              <a:rPr kumimoji="0" lang="en-US" sz="1333" b="0" i="0" u="none" strike="noStrike" kern="1200" cap="none" spc="0" normalizeH="0" baseline="0" noProof="0" smtClean="0">
                <a:ln>
                  <a:noFill/>
                </a:ln>
                <a:solidFill>
                  <a:srgbClr val="595959"/>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en-US" sz="1333" b="0" i="0" u="none" strike="noStrike" kern="1200" cap="none" spc="0" normalizeH="0" baseline="0" noProof="0">
              <a:ln>
                <a:noFill/>
              </a:ln>
              <a:solidFill>
                <a:srgbClr val="595959"/>
              </a:solidFill>
              <a:effectLst/>
              <a:uLnTx/>
              <a:uFillTx/>
              <a:latin typeface="Arial"/>
              <a:ea typeface="+mn-ea"/>
              <a:cs typeface="+mn-cs"/>
            </a:endParaRPr>
          </a:p>
        </p:txBody>
      </p:sp>
      <p:sp>
        <p:nvSpPr>
          <p:cNvPr id="3" name="Rectangle 2">
            <a:extLst>
              <a:ext uri="{FF2B5EF4-FFF2-40B4-BE49-F238E27FC236}">
                <a16:creationId xmlns:a16="http://schemas.microsoft.com/office/drawing/2014/main" id="{61090477-8366-4242-8647-841ED1F1F85D}"/>
              </a:ext>
            </a:extLst>
          </p:cNvPr>
          <p:cNvSpPr/>
          <p:nvPr/>
        </p:nvSpPr>
        <p:spPr>
          <a:xfrm>
            <a:off x="342253" y="929837"/>
            <a:ext cx="11331994" cy="6325321"/>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Arial"/>
                <a:ea typeface="+mn-ea"/>
                <a:cs typeface="+mn-cs"/>
              </a:rPr>
              <a:t>Stage 2: Continuous Integration (Recap.):</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Continuous Integration transforms code merging from a dreaded, painful event into a routine, automated, stress-free process. Every push is an opportunity to verify that the codebase is healthy. Every failure is caught early and cheaply. By the time code reaches users, it has already passed through multiple automated quality gates — making releases faster, safer, and far more reliable.</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a:t>
            </a:r>
          </a:p>
          <a:p>
            <a:pPr marL="0" marR="0" lvl="0" indent="0" algn="l" defTabSz="914400" rtl="0" eaLnBrk="0" fontAlgn="base" latinLnBrk="0" hangingPunct="0">
              <a:lnSpc>
                <a:spcPct val="200000"/>
              </a:lnSpc>
              <a:spcBef>
                <a:spcPct val="0"/>
              </a:spcBef>
              <a:spcAft>
                <a:spcPct val="0"/>
              </a:spcAft>
              <a:buClrTx/>
              <a:buSzTx/>
              <a:buFontTx/>
              <a:buChar char="•"/>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New features are </a:t>
            </a:r>
            <a:r>
              <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integrated with existing code</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early and often. Frequent integration helps </a:t>
            </a:r>
            <a:r>
              <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detect conflicts and defects early</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Continuous Integration reduces </a:t>
            </a:r>
            <a:r>
              <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integration problems and build costs</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a:t>
            </a:r>
          </a:p>
          <a:p>
            <a:pPr marL="0" marR="0" lvl="0" indent="0" algn="l" defTabSz="914400" rtl="0" eaLnBrk="0" fontAlgn="base" latinLnBrk="0" hangingPunct="0">
              <a:lnSpc>
                <a:spcPct val="200000"/>
              </a:lnSpc>
              <a:spcBef>
                <a:spcPct val="0"/>
              </a:spcBef>
              <a:spcAft>
                <a:spcPct val="0"/>
              </a:spcAft>
              <a:buClrTx/>
              <a:buSzTx/>
              <a:buFontTx/>
              <a:buChar char="•"/>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Code is </a:t>
            </a:r>
            <a:r>
              <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automatically built, packaged, and tested</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after integration.</a:t>
            </a:r>
          </a:p>
          <a:p>
            <a:pPr marL="0" marR="0" lvl="0" indent="0" algn="l" defTabSz="914400" rtl="0" eaLnBrk="0" fontAlgn="base" latinLnBrk="0" hangingPunct="0">
              <a:lnSpc>
                <a:spcPct val="200000"/>
              </a:lnSpc>
              <a:spcBef>
                <a:spcPct val="0"/>
              </a:spcBef>
              <a:spcAft>
                <a:spcPct val="0"/>
              </a:spcAft>
              <a:buClrTx/>
              <a:buSzTx/>
              <a:buFontTx/>
              <a:buChar char="•"/>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Integrated code is sent to </a:t>
            </a:r>
            <a:r>
              <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testing or production servers</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a:t>
            </a:r>
          </a:p>
          <a:p>
            <a:pPr marL="0" marR="0" lvl="0" indent="0" algn="l" defTabSz="914400" rtl="0" eaLnBrk="0" fontAlgn="base" latinLnBrk="0" hangingPunct="0">
              <a:lnSpc>
                <a:spcPct val="200000"/>
              </a:lnSpc>
              <a:spcBef>
                <a:spcPct val="0"/>
              </a:spcBef>
              <a:spcAft>
                <a:spcPct val="0"/>
              </a:spcAft>
              <a:buClrTx/>
              <a:buSzTx/>
              <a:buFontTx/>
              <a:buChar char="•"/>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CI relies on </a:t>
            </a:r>
            <a:r>
              <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automated test execution</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to reduce manual effort.</a:t>
            </a:r>
          </a:p>
          <a:p>
            <a:pPr marL="0" marR="0" lvl="0" indent="0" algn="l" defTabSz="914400" rtl="0" eaLnBrk="0" fontAlgn="base" latinLnBrk="0" hangingPunct="0">
              <a:lnSpc>
                <a:spcPct val="200000"/>
              </a:lnSpc>
              <a:spcBef>
                <a:spcPct val="0"/>
              </a:spcBef>
              <a:spcAft>
                <a:spcPct val="0"/>
              </a:spcAft>
              <a:buClrTx/>
              <a:buSzTx/>
              <a:buFontTx/>
              <a:buChar char="•"/>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Commonly used CI tools include:</a:t>
            </a:r>
          </a:p>
          <a:p>
            <a:pPr marL="457200" marR="0" lvl="1" indent="0" algn="l" defTabSz="914400" rtl="0" eaLnBrk="0" fontAlgn="base" latinLnBrk="0" hangingPunct="0">
              <a:lnSpc>
                <a:spcPct val="100000"/>
              </a:lnSpc>
              <a:spcBef>
                <a:spcPct val="0"/>
              </a:spcBef>
              <a:spcAft>
                <a:spcPct val="0"/>
              </a:spcAft>
              <a:buClrTx/>
              <a:buSzTx/>
              <a:buFontTx/>
              <a:buChar char="•"/>
              <a:tabLst/>
              <a:defRPr/>
            </a:pPr>
            <a:r>
              <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Jenkins</a:t>
            </a: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p>
            <a:pPr marL="457200" marR="0" lvl="1" indent="0" algn="l" defTabSz="914400" rtl="0" eaLnBrk="0" fontAlgn="base" latinLnBrk="0" hangingPunct="0">
              <a:lnSpc>
                <a:spcPct val="100000"/>
              </a:lnSpc>
              <a:spcBef>
                <a:spcPct val="0"/>
              </a:spcBef>
              <a:spcAft>
                <a:spcPct val="0"/>
              </a:spcAft>
              <a:buClrTx/>
              <a:buSzTx/>
              <a:buFontTx/>
              <a:buChar char="•"/>
              <a:tabLst/>
              <a:defRPr/>
            </a:pPr>
            <a:r>
              <a:rPr kumimoji="0" lang="en-US" altLang="en-US" sz="1600" b="1" i="0" u="none" strike="noStrike" kern="1200" cap="none" spc="0" normalizeH="0" baseline="0" noProof="0" dirty="0" err="1">
                <a:ln>
                  <a:noFill/>
                </a:ln>
                <a:solidFill>
                  <a:srgbClr val="000000"/>
                </a:solidFill>
                <a:effectLst/>
                <a:uLnTx/>
                <a:uFillTx/>
                <a:latin typeface="Arial" panose="020B0604020202020204" pitchFamily="34" charset="0"/>
                <a:ea typeface="+mn-ea"/>
                <a:cs typeface="+mn-cs"/>
              </a:rPr>
              <a:t>GitLab</a:t>
            </a:r>
            <a:r>
              <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CI</a:t>
            </a: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1600" b="1"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1600" b="1" i="0" u="none" strike="noStrike" kern="1200" cap="none" spc="0" normalizeH="0" baseline="0" noProof="0" dirty="0">
              <a:ln>
                <a:noFill/>
              </a:ln>
              <a:solidFill>
                <a:srgbClr val="000000"/>
              </a:solidFill>
              <a:effectLst/>
              <a:uLnTx/>
              <a:uFillTx/>
              <a:latin typeface="Arial"/>
              <a:ea typeface="+mn-ea"/>
              <a:cs typeface="+mn-cs"/>
            </a:endParaRPr>
          </a:p>
        </p:txBody>
      </p:sp>
      <p:sp>
        <p:nvSpPr>
          <p:cNvPr id="4" name="Rectangle 3">
            <a:extLst>
              <a:ext uri="{FF2B5EF4-FFF2-40B4-BE49-F238E27FC236}">
                <a16:creationId xmlns:a16="http://schemas.microsoft.com/office/drawing/2014/main" id="{3F7A1AEF-1207-3671-312B-79A861A5C934}"/>
              </a:ext>
            </a:extLst>
          </p:cNvPr>
          <p:cNvSpPr/>
          <p:nvPr/>
        </p:nvSpPr>
        <p:spPr>
          <a:xfrm>
            <a:off x="342253" y="356783"/>
            <a:ext cx="3374642"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0000"/>
                </a:solidFill>
                <a:effectLst/>
                <a:uLnTx/>
                <a:uFillTx/>
                <a:latin typeface="Arial"/>
                <a:ea typeface="+mn-ea"/>
                <a:cs typeface="+mn-cs"/>
              </a:rPr>
              <a:t>DevOps Lifecycle (Contd.)</a:t>
            </a:r>
          </a:p>
        </p:txBody>
      </p:sp>
    </p:spTree>
    <p:extLst>
      <p:ext uri="{BB962C8B-B14F-4D97-AF65-F5344CB8AC3E}">
        <p14:creationId xmlns:p14="http://schemas.microsoft.com/office/powerpoint/2010/main" val="120742019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6FC3C21-71CC-9803-380F-CFCD96D3AACA}"/>
              </a:ext>
            </a:extLst>
          </p:cNvPr>
          <p:cNvSpPr>
            <a:spLocks noGrp="1"/>
          </p:cNvSpPr>
          <p:nvPr>
            <p:ph type="title"/>
          </p:nvPr>
        </p:nvSpPr>
        <p:spPr/>
        <p:txBody>
          <a:bodyPr/>
          <a:lstStyle/>
          <a:p>
            <a:r>
              <a:rPr lang="en-IN" dirty="0"/>
              <a:t>Continuous Testing</a:t>
            </a:r>
          </a:p>
        </p:txBody>
      </p:sp>
      <p:sp>
        <p:nvSpPr>
          <p:cNvPr id="2" name="Slide Number Placeholder 1">
            <a:extLst>
              <a:ext uri="{FF2B5EF4-FFF2-40B4-BE49-F238E27FC236}">
                <a16:creationId xmlns:a16="http://schemas.microsoft.com/office/drawing/2014/main" id="{4C70D45C-68D7-D379-3E8A-C8ADC7049B54}"/>
              </a:ext>
            </a:extLst>
          </p:cNvPr>
          <p:cNvSpPr>
            <a:spLocks noGrp="1"/>
          </p:cNvSpPr>
          <p:nvPr>
            <p:ph type="sldNum" sz="quarter" idx="4294967295"/>
          </p:nvPr>
        </p:nvSpPr>
        <p:spPr>
          <a:xfrm>
            <a:off x="11460163" y="6218238"/>
            <a:ext cx="731837" cy="523875"/>
          </a:xfrm>
        </p:spPr>
        <p:txBody>
          <a:bodyPr/>
          <a:lstStyle/>
          <a:p>
            <a:fld id="{B8DACC02-A2BD-4578-8E03-6D891060A695}" type="slidenum">
              <a:rPr lang="en-US" smtClean="0"/>
              <a:t>59</a:t>
            </a:fld>
            <a:endParaRPr lang="en-US"/>
          </a:p>
        </p:txBody>
      </p:sp>
    </p:spTree>
    <p:extLst>
      <p:ext uri="{BB962C8B-B14F-4D97-AF65-F5344CB8AC3E}">
        <p14:creationId xmlns:p14="http://schemas.microsoft.com/office/powerpoint/2010/main" val="16556436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8DACC02-A2BD-4578-8E03-6D891060A695}" type="slidenum">
              <a:rPr lang="en-US" smtClean="0"/>
              <a:t>60</a:t>
            </a:fld>
            <a:endParaRPr lang="en-US"/>
          </a:p>
        </p:txBody>
      </p:sp>
      <p:sp>
        <p:nvSpPr>
          <p:cNvPr id="3" name="Rectangle 2"/>
          <p:cNvSpPr/>
          <p:nvPr/>
        </p:nvSpPr>
        <p:spPr>
          <a:xfrm>
            <a:off x="445495" y="1233898"/>
            <a:ext cx="11367964" cy="3365024"/>
          </a:xfrm>
          <a:prstGeom prst="rect">
            <a:avLst/>
          </a:prstGeom>
        </p:spPr>
        <p:txBody>
          <a:bodyPr wrap="square">
            <a:spAutoFit/>
          </a:bodyPr>
          <a:lstStyle/>
          <a:p>
            <a:pPr>
              <a:lnSpc>
                <a:spcPct val="150000"/>
              </a:lnSpc>
            </a:pPr>
            <a:endParaRPr lang="en-US" b="1" dirty="0"/>
          </a:p>
          <a:p>
            <a:pPr>
              <a:lnSpc>
                <a:spcPct val="150000"/>
              </a:lnSpc>
            </a:pPr>
            <a:r>
              <a:rPr lang="en-US" b="1" dirty="0"/>
              <a:t>Stage 3: Continuous Testing </a:t>
            </a:r>
          </a:p>
          <a:p>
            <a:pPr>
              <a:lnSpc>
                <a:spcPct val="150000"/>
              </a:lnSpc>
            </a:pPr>
            <a:r>
              <a:rPr lang="en-US" i="1" dirty="0"/>
              <a:t>Continuous Testing is the practice of </a:t>
            </a:r>
            <a:r>
              <a:rPr lang="en-US" b="1" i="1" dirty="0"/>
              <a:t>automatically running tests at every stage of the delivery pipeline</a:t>
            </a:r>
            <a:r>
              <a:rPr lang="en-US" i="1" dirty="0"/>
              <a:t> — catching bugs, performance issues, and security vulnerabilities as early as possible, before they ever reach real users.</a:t>
            </a:r>
            <a:endParaRPr lang="en-US" b="1" i="1" dirty="0"/>
          </a:p>
          <a:p>
            <a:pPr lvl="0" eaLnBrk="0" fontAlgn="base" hangingPunct="0">
              <a:lnSpc>
                <a:spcPct val="150000"/>
              </a:lnSpc>
              <a:spcBef>
                <a:spcPct val="0"/>
              </a:spcBef>
              <a:spcAft>
                <a:spcPct val="0"/>
              </a:spcAft>
              <a:buFontTx/>
              <a:buChar char="•"/>
            </a:pPr>
            <a:r>
              <a:rPr lang="en-US" b="1" dirty="0"/>
              <a:t>Testing in Isolated Environments Using Docker</a:t>
            </a:r>
            <a:r>
              <a:rPr lang="en-US" dirty="0"/>
              <a:t>: Tests don't run on the actual production server; they run in </a:t>
            </a:r>
            <a:r>
              <a:rPr lang="en-US" b="1" dirty="0"/>
              <a:t>dedicated test environments</a:t>
            </a:r>
            <a:r>
              <a:rPr lang="en-US" dirty="0"/>
              <a:t> that closely mirror production. Today, these environments are almost always built using </a:t>
            </a:r>
            <a:r>
              <a:rPr lang="en-US" b="1" dirty="0"/>
              <a:t>Docker containers.</a:t>
            </a:r>
            <a:endParaRPr lang="en-US" altLang="en-US" dirty="0">
              <a:latin typeface="Arial" panose="020B0604020202020204" pitchFamily="34" charset="0"/>
            </a:endParaRPr>
          </a:p>
        </p:txBody>
      </p:sp>
      <p:sp>
        <p:nvSpPr>
          <p:cNvPr id="4" name="Rectangle 3"/>
          <p:cNvSpPr/>
          <p:nvPr/>
        </p:nvSpPr>
        <p:spPr>
          <a:xfrm>
            <a:off x="445494" y="725489"/>
            <a:ext cx="4200247" cy="400110"/>
          </a:xfrm>
          <a:prstGeom prst="rect">
            <a:avLst/>
          </a:prstGeom>
        </p:spPr>
        <p:txBody>
          <a:bodyPr wrap="square">
            <a:spAutoFit/>
          </a:bodyPr>
          <a:lstStyle/>
          <a:p>
            <a:r>
              <a:rPr lang="en-IN" sz="2000" b="1" dirty="0"/>
              <a:t>DevOps Lifecycle (Contd.)</a:t>
            </a:r>
          </a:p>
        </p:txBody>
      </p:sp>
      <p:pic>
        <p:nvPicPr>
          <p:cNvPr id="5" name="Picture 4">
            <a:extLst>
              <a:ext uri="{FF2B5EF4-FFF2-40B4-BE49-F238E27FC236}">
                <a16:creationId xmlns:a16="http://schemas.microsoft.com/office/drawing/2014/main" id="{C2C739D0-DD86-BB8F-1EEC-23D0A01202F2}"/>
              </a:ext>
            </a:extLst>
          </p:cNvPr>
          <p:cNvPicPr>
            <a:picLocks noChangeAspect="1"/>
          </p:cNvPicPr>
          <p:nvPr/>
        </p:nvPicPr>
        <p:blipFill>
          <a:blip r:embed="rId2"/>
          <a:stretch>
            <a:fillRect/>
          </a:stretch>
        </p:blipFill>
        <p:spPr>
          <a:xfrm>
            <a:off x="8447050" y="4156614"/>
            <a:ext cx="3823607" cy="2150779"/>
          </a:xfrm>
          <a:prstGeom prst="rect">
            <a:avLst/>
          </a:prstGeom>
        </p:spPr>
      </p:pic>
    </p:spTree>
    <p:extLst>
      <p:ext uri="{BB962C8B-B14F-4D97-AF65-F5344CB8AC3E}">
        <p14:creationId xmlns:p14="http://schemas.microsoft.com/office/powerpoint/2010/main" val="39285749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66ABE8A-06BB-CD2A-6A9D-876826449AD4}"/>
              </a:ext>
            </a:extLst>
          </p:cNvPr>
          <p:cNvSpPr>
            <a:spLocks noGrp="1"/>
          </p:cNvSpPr>
          <p:nvPr>
            <p:ph type="body" idx="1"/>
          </p:nvPr>
        </p:nvSpPr>
        <p:spPr>
          <a:xfrm>
            <a:off x="336942" y="1854121"/>
            <a:ext cx="11360800" cy="4546679"/>
          </a:xfrm>
        </p:spPr>
        <p:txBody>
          <a:bodyPr>
            <a:normAutofit fontScale="85000" lnSpcReduction="20000"/>
          </a:bodyPr>
          <a:lstStyle/>
          <a:p>
            <a:r>
              <a:rPr lang="en-IN" b="1" dirty="0">
                <a:solidFill>
                  <a:schemeClr val="tx1"/>
                </a:solidFill>
              </a:rPr>
              <a:t>Why Docker for testing?</a:t>
            </a:r>
          </a:p>
          <a:p>
            <a:pPr marL="152396" indent="0">
              <a:buNone/>
            </a:pPr>
            <a:endParaRPr lang="en-US" b="1" dirty="0">
              <a:solidFill>
                <a:schemeClr val="tx1"/>
              </a:solidFill>
            </a:endParaRPr>
          </a:p>
          <a:p>
            <a:r>
              <a:rPr lang="en-US" b="1" dirty="0">
                <a:solidFill>
                  <a:schemeClr val="tx1"/>
                </a:solidFill>
              </a:rPr>
              <a:t>Docker is a containerization platform that packages your application together with everything it needs to run — so it runs identically everywhere. </a:t>
            </a:r>
            <a:r>
              <a:rPr lang="en-US" dirty="0">
                <a:solidFill>
                  <a:schemeClr val="tx1"/>
                </a:solidFill>
              </a:rPr>
              <a:t>That "everything it needs" includes:</a:t>
            </a:r>
          </a:p>
          <a:p>
            <a:pPr lvl="1"/>
            <a:r>
              <a:rPr lang="en-US" dirty="0">
                <a:solidFill>
                  <a:schemeClr val="tx1"/>
                </a:solidFill>
              </a:rPr>
              <a:t>The programming language runtime (Python, Java, Node.js)</a:t>
            </a:r>
          </a:p>
          <a:p>
            <a:pPr lvl="1"/>
            <a:r>
              <a:rPr lang="en-US" dirty="0">
                <a:solidFill>
                  <a:schemeClr val="tx1"/>
                </a:solidFill>
              </a:rPr>
              <a:t>All libraries and dependencies</a:t>
            </a:r>
          </a:p>
          <a:p>
            <a:pPr lvl="1"/>
            <a:r>
              <a:rPr lang="en-US" dirty="0">
                <a:solidFill>
                  <a:schemeClr val="tx1"/>
                </a:solidFill>
              </a:rPr>
              <a:t>Configuration files</a:t>
            </a:r>
          </a:p>
          <a:p>
            <a:pPr lvl="1"/>
            <a:r>
              <a:rPr lang="en-US" dirty="0">
                <a:solidFill>
                  <a:schemeClr val="tx1"/>
                </a:solidFill>
              </a:rPr>
              <a:t>Environment variables</a:t>
            </a:r>
          </a:p>
          <a:p>
            <a:pPr lvl="1"/>
            <a:r>
              <a:rPr lang="en-US" dirty="0">
                <a:solidFill>
                  <a:schemeClr val="tx1"/>
                </a:solidFill>
              </a:rPr>
              <a:t>System tools</a:t>
            </a:r>
          </a:p>
          <a:p>
            <a:r>
              <a:rPr lang="en-US" dirty="0">
                <a:solidFill>
                  <a:schemeClr val="tx1"/>
                </a:solidFill>
              </a:rPr>
              <a:t>This complete package is called a </a:t>
            </a:r>
            <a:r>
              <a:rPr lang="en-US" b="1" dirty="0">
                <a:solidFill>
                  <a:schemeClr val="tx1"/>
                </a:solidFill>
              </a:rPr>
              <a:t>Container.</a:t>
            </a:r>
            <a:endParaRPr lang="en-US" dirty="0">
              <a:solidFill>
                <a:schemeClr val="tx1"/>
              </a:solidFill>
            </a:endParaRPr>
          </a:p>
          <a:p>
            <a:endParaRPr lang="en-US" b="1" dirty="0">
              <a:solidFill>
                <a:schemeClr val="tx1"/>
              </a:solidFill>
            </a:endParaRPr>
          </a:p>
          <a:p>
            <a:r>
              <a:rPr lang="en-US" b="1" dirty="0">
                <a:solidFill>
                  <a:schemeClr val="tx1"/>
                </a:solidFill>
              </a:rPr>
              <a:t>Example:</a:t>
            </a:r>
            <a:r>
              <a:rPr lang="en-US" dirty="0">
                <a:solidFill>
                  <a:schemeClr val="tx1"/>
                </a:solidFill>
              </a:rPr>
              <a:t> Your food delivery app needs to test against a real database. Instead of using the live production database (dangerous), Docker spins up a fresh, isolated database container just for testing. Tests run, results are captured, container is destroyed. Production is never touched.</a:t>
            </a:r>
          </a:p>
          <a:p>
            <a:r>
              <a:rPr lang="en-US" dirty="0">
                <a:solidFill>
                  <a:schemeClr val="tx1"/>
                </a:solidFill>
              </a:rPr>
              <a:t>Each test environment is:</a:t>
            </a:r>
          </a:p>
          <a:p>
            <a:pPr lvl="1"/>
            <a:r>
              <a:rPr lang="en-US" b="1" dirty="0">
                <a:solidFill>
                  <a:schemeClr val="tx1"/>
                </a:solidFill>
              </a:rPr>
              <a:t>Identical</a:t>
            </a:r>
            <a:r>
              <a:rPr lang="en-US" dirty="0">
                <a:solidFill>
                  <a:schemeClr val="tx1"/>
                </a:solidFill>
              </a:rPr>
              <a:t> to production</a:t>
            </a:r>
          </a:p>
          <a:p>
            <a:pPr lvl="1"/>
            <a:r>
              <a:rPr lang="en-US" b="1" dirty="0">
                <a:solidFill>
                  <a:schemeClr val="tx1"/>
                </a:solidFill>
              </a:rPr>
              <a:t>Isolated</a:t>
            </a:r>
            <a:r>
              <a:rPr lang="en-US" dirty="0">
                <a:solidFill>
                  <a:schemeClr val="tx1"/>
                </a:solidFill>
              </a:rPr>
              <a:t> from other environments</a:t>
            </a:r>
          </a:p>
          <a:p>
            <a:pPr lvl="1"/>
            <a:r>
              <a:rPr lang="en-US" b="1" dirty="0">
                <a:solidFill>
                  <a:schemeClr val="tx1"/>
                </a:solidFill>
              </a:rPr>
              <a:t>Disposable</a:t>
            </a:r>
            <a:r>
              <a:rPr lang="en-US" dirty="0">
                <a:solidFill>
                  <a:schemeClr val="tx1"/>
                </a:solidFill>
              </a:rPr>
              <a:t> — created and destroyed automatically per test run</a:t>
            </a:r>
            <a:endParaRPr lang="en-IN" b="1" dirty="0">
              <a:solidFill>
                <a:schemeClr val="tx1"/>
              </a:solidFill>
            </a:endParaRPr>
          </a:p>
        </p:txBody>
      </p:sp>
      <p:pic>
        <p:nvPicPr>
          <p:cNvPr id="4" name="Picture 3">
            <a:extLst>
              <a:ext uri="{FF2B5EF4-FFF2-40B4-BE49-F238E27FC236}">
                <a16:creationId xmlns:a16="http://schemas.microsoft.com/office/drawing/2014/main" id="{65DE43DF-DE34-409C-8E76-F94BC7038952}"/>
              </a:ext>
            </a:extLst>
          </p:cNvPr>
          <p:cNvPicPr>
            <a:picLocks noChangeAspect="1"/>
          </p:cNvPicPr>
          <p:nvPr/>
        </p:nvPicPr>
        <p:blipFill>
          <a:blip r:embed="rId2"/>
          <a:stretch>
            <a:fillRect/>
          </a:stretch>
        </p:blipFill>
        <p:spPr>
          <a:xfrm>
            <a:off x="-76845" y="140939"/>
            <a:ext cx="2202423" cy="1238863"/>
          </a:xfrm>
          <a:prstGeom prst="rect">
            <a:avLst/>
          </a:prstGeom>
        </p:spPr>
      </p:pic>
      <p:pic>
        <p:nvPicPr>
          <p:cNvPr id="6" name="Picture 5">
            <a:extLst>
              <a:ext uri="{FF2B5EF4-FFF2-40B4-BE49-F238E27FC236}">
                <a16:creationId xmlns:a16="http://schemas.microsoft.com/office/drawing/2014/main" id="{7E838474-37DC-503F-536E-691F7F507025}"/>
              </a:ext>
            </a:extLst>
          </p:cNvPr>
          <p:cNvPicPr>
            <a:picLocks noChangeAspect="1"/>
          </p:cNvPicPr>
          <p:nvPr/>
        </p:nvPicPr>
        <p:blipFill>
          <a:blip r:embed="rId3"/>
          <a:stretch>
            <a:fillRect/>
          </a:stretch>
        </p:blipFill>
        <p:spPr>
          <a:xfrm>
            <a:off x="1919101" y="146601"/>
            <a:ext cx="6439458" cy="1501270"/>
          </a:xfrm>
          <a:prstGeom prst="rect">
            <a:avLst/>
          </a:prstGeom>
        </p:spPr>
      </p:pic>
    </p:spTree>
    <p:extLst>
      <p:ext uri="{BB962C8B-B14F-4D97-AF65-F5344CB8AC3E}">
        <p14:creationId xmlns:p14="http://schemas.microsoft.com/office/powerpoint/2010/main" val="72470051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D581C-7DF5-4B2E-D0AC-BD196ECCF76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FF64C22-5075-8022-8F3D-B72774ECB58F}"/>
              </a:ext>
            </a:extLst>
          </p:cNvPr>
          <p:cNvSpPr>
            <a:spLocks noGrp="1"/>
          </p:cNvSpPr>
          <p:nvPr>
            <p:ph type="sldNum" sz="quarter" idx="12"/>
          </p:nvPr>
        </p:nvSpPr>
        <p:spPr/>
        <p:txBody>
          <a:bodyPr/>
          <a:lstStyle/>
          <a:p>
            <a:fld id="{B8DACC02-A2BD-4578-8E03-6D891060A695}" type="slidenum">
              <a:rPr lang="en-US" smtClean="0"/>
              <a:t>62</a:t>
            </a:fld>
            <a:endParaRPr lang="en-US"/>
          </a:p>
        </p:txBody>
      </p:sp>
      <p:sp>
        <p:nvSpPr>
          <p:cNvPr id="3" name="Rectangle 2">
            <a:extLst>
              <a:ext uri="{FF2B5EF4-FFF2-40B4-BE49-F238E27FC236}">
                <a16:creationId xmlns:a16="http://schemas.microsoft.com/office/drawing/2014/main" id="{4826F879-3FB8-9270-ED8F-F81B72703215}"/>
              </a:ext>
            </a:extLst>
          </p:cNvPr>
          <p:cNvSpPr/>
          <p:nvPr/>
        </p:nvSpPr>
        <p:spPr>
          <a:xfrm>
            <a:off x="445495" y="1233898"/>
            <a:ext cx="7577628" cy="4801314"/>
          </a:xfrm>
          <a:prstGeom prst="rect">
            <a:avLst/>
          </a:prstGeom>
        </p:spPr>
        <p:txBody>
          <a:bodyPr wrap="square">
            <a:spAutoFit/>
          </a:bodyPr>
          <a:lstStyle/>
          <a:p>
            <a:pPr>
              <a:lnSpc>
                <a:spcPct val="150000"/>
              </a:lnSpc>
            </a:pPr>
            <a:endParaRPr lang="en-US" b="1" dirty="0"/>
          </a:p>
          <a:p>
            <a:pPr>
              <a:lnSpc>
                <a:spcPct val="150000"/>
              </a:lnSpc>
            </a:pPr>
            <a:r>
              <a:rPr lang="en-US" b="1" dirty="0"/>
              <a:t>Stage 3: Continuous Testing </a:t>
            </a:r>
          </a:p>
          <a:p>
            <a:r>
              <a:rPr lang="en-US" altLang="en-US" b="1" dirty="0">
                <a:latin typeface="Arial" panose="020B0604020202020204" pitchFamily="34" charset="0"/>
              </a:rPr>
              <a:t>Automation testing</a:t>
            </a:r>
            <a:r>
              <a:rPr lang="en-US" altLang="en-US" dirty="0">
                <a:latin typeface="Arial" panose="020B0604020202020204" pitchFamily="34" charset="0"/>
              </a:rPr>
              <a:t> replaces repetitive manual testing and improves accuracy. </a:t>
            </a:r>
            <a:r>
              <a:rPr lang="en-US" dirty="0"/>
              <a:t>Before Continuous Testing, a QA engineer would manually click through the application checking every feature after every change. This was:</a:t>
            </a:r>
          </a:p>
          <a:p>
            <a:pPr marL="285750" indent="-285750">
              <a:buFont typeface="Arial" panose="020B0604020202020204" pitchFamily="34" charset="0"/>
              <a:buChar char="•"/>
            </a:pPr>
            <a:r>
              <a:rPr lang="en-US" dirty="0"/>
              <a:t>Slow — taking days or weeks</a:t>
            </a:r>
          </a:p>
          <a:p>
            <a:pPr marL="285750" indent="-285750">
              <a:buFont typeface="Arial" panose="020B0604020202020204" pitchFamily="34" charset="0"/>
              <a:buChar char="•"/>
            </a:pPr>
            <a:r>
              <a:rPr lang="en-US" dirty="0"/>
              <a:t>Inconsistent — humans miss things when tired</a:t>
            </a:r>
          </a:p>
          <a:p>
            <a:pPr marL="285750" indent="-285750">
              <a:buFont typeface="Arial" panose="020B0604020202020204" pitchFamily="34" charset="0"/>
              <a:buChar char="•"/>
            </a:pPr>
            <a:r>
              <a:rPr lang="en-US" dirty="0"/>
              <a:t>Unscalable — 10 developers pushing code daily cannot be manually tested</a:t>
            </a:r>
          </a:p>
          <a:p>
            <a:pPr marL="285750" indent="-285750">
              <a:buFont typeface="Arial" panose="020B0604020202020204" pitchFamily="34" charset="0"/>
              <a:buChar char="•"/>
            </a:pPr>
            <a:endParaRPr lang="en-US" altLang="en-US" dirty="0">
              <a:latin typeface="Arial" panose="020B0604020202020204" pitchFamily="34" charset="0"/>
            </a:endParaRPr>
          </a:p>
          <a:p>
            <a:pPr marL="285750" indent="-285750">
              <a:buFont typeface="Arial" panose="020B0604020202020204" pitchFamily="34" charset="0"/>
              <a:buChar char="•"/>
            </a:pPr>
            <a:r>
              <a:rPr lang="en-US" b="1" dirty="0"/>
              <a:t>CI Tools Trigger Tests Automatically</a:t>
            </a:r>
            <a:r>
              <a:rPr lang="en-US" dirty="0"/>
              <a:t>:  Continuous Testing doesn't work in isolation, it is triggered and orchestrated by </a:t>
            </a:r>
            <a:r>
              <a:rPr lang="en-US" b="1" dirty="0"/>
              <a:t>CI tools</a:t>
            </a:r>
            <a:r>
              <a:rPr lang="en-US" dirty="0"/>
              <a:t> like Jenkins or GitLab CI. The CI tool watches the repository and fires the test pipeline the moment new code arrives. This entire process is </a:t>
            </a:r>
            <a:r>
              <a:rPr lang="en-US" b="1" dirty="0"/>
              <a:t>fully hands-free,</a:t>
            </a:r>
            <a:r>
              <a:rPr lang="en-US" dirty="0"/>
              <a:t> running identically every single time, day or night.</a:t>
            </a:r>
            <a:endParaRPr lang="en-US" altLang="en-US" dirty="0">
              <a:latin typeface="Arial" panose="020B0604020202020204" pitchFamily="34" charset="0"/>
            </a:endParaRPr>
          </a:p>
        </p:txBody>
      </p:sp>
      <p:sp>
        <p:nvSpPr>
          <p:cNvPr id="4" name="Rectangle 3">
            <a:extLst>
              <a:ext uri="{FF2B5EF4-FFF2-40B4-BE49-F238E27FC236}">
                <a16:creationId xmlns:a16="http://schemas.microsoft.com/office/drawing/2014/main" id="{36696623-2B24-E7E2-7940-35DC2FBD8847}"/>
              </a:ext>
            </a:extLst>
          </p:cNvPr>
          <p:cNvSpPr/>
          <p:nvPr/>
        </p:nvSpPr>
        <p:spPr>
          <a:xfrm>
            <a:off x="445494" y="725489"/>
            <a:ext cx="4200247" cy="400110"/>
          </a:xfrm>
          <a:prstGeom prst="rect">
            <a:avLst/>
          </a:prstGeom>
        </p:spPr>
        <p:txBody>
          <a:bodyPr wrap="square">
            <a:spAutoFit/>
          </a:bodyPr>
          <a:lstStyle/>
          <a:p>
            <a:r>
              <a:rPr lang="en-IN" sz="2000" b="1" dirty="0"/>
              <a:t>DevOps Lifecycle (Contd.)</a:t>
            </a:r>
          </a:p>
        </p:txBody>
      </p:sp>
      <p:pic>
        <p:nvPicPr>
          <p:cNvPr id="6" name="Picture 5">
            <a:extLst>
              <a:ext uri="{FF2B5EF4-FFF2-40B4-BE49-F238E27FC236}">
                <a16:creationId xmlns:a16="http://schemas.microsoft.com/office/drawing/2014/main" id="{770F9719-A6E9-6DDC-F7E9-8F0471B9CC13}"/>
              </a:ext>
            </a:extLst>
          </p:cNvPr>
          <p:cNvPicPr>
            <a:picLocks noChangeAspect="1"/>
          </p:cNvPicPr>
          <p:nvPr/>
        </p:nvPicPr>
        <p:blipFill>
          <a:blip r:embed="rId2"/>
          <a:stretch>
            <a:fillRect/>
          </a:stretch>
        </p:blipFill>
        <p:spPr>
          <a:xfrm>
            <a:off x="8060304" y="2432435"/>
            <a:ext cx="4131696" cy="3250610"/>
          </a:xfrm>
          <a:prstGeom prst="rect">
            <a:avLst/>
          </a:prstGeom>
        </p:spPr>
      </p:pic>
    </p:spTree>
    <p:extLst>
      <p:ext uri="{BB962C8B-B14F-4D97-AF65-F5344CB8AC3E}">
        <p14:creationId xmlns:p14="http://schemas.microsoft.com/office/powerpoint/2010/main" val="244029356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C4A47-223B-6AFC-7C0F-155C807AD46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3F03E87-D3C7-DC3C-87EA-BA5A1941B7DC}"/>
              </a:ext>
            </a:extLst>
          </p:cNvPr>
          <p:cNvSpPr>
            <a:spLocks noGrp="1"/>
          </p:cNvSpPr>
          <p:nvPr>
            <p:ph type="sldNum" sz="quarter" idx="12"/>
          </p:nvPr>
        </p:nvSpPr>
        <p:spPr/>
        <p:txBody>
          <a:bodyPr/>
          <a:lstStyle/>
          <a:p>
            <a:fld id="{B8DACC02-A2BD-4578-8E03-6D891060A695}" type="slidenum">
              <a:rPr lang="en-US" smtClean="0"/>
              <a:t>63</a:t>
            </a:fld>
            <a:endParaRPr lang="en-US"/>
          </a:p>
        </p:txBody>
      </p:sp>
      <p:sp>
        <p:nvSpPr>
          <p:cNvPr id="3" name="Rectangle 2">
            <a:extLst>
              <a:ext uri="{FF2B5EF4-FFF2-40B4-BE49-F238E27FC236}">
                <a16:creationId xmlns:a16="http://schemas.microsoft.com/office/drawing/2014/main" id="{AA8A8738-3B95-E512-E62F-34E7FE4053AF}"/>
              </a:ext>
            </a:extLst>
          </p:cNvPr>
          <p:cNvSpPr/>
          <p:nvPr/>
        </p:nvSpPr>
        <p:spPr>
          <a:xfrm>
            <a:off x="445495" y="1233898"/>
            <a:ext cx="11367964" cy="4161396"/>
          </a:xfrm>
          <a:prstGeom prst="rect">
            <a:avLst/>
          </a:prstGeom>
        </p:spPr>
        <p:txBody>
          <a:bodyPr wrap="square">
            <a:spAutoFit/>
          </a:bodyPr>
          <a:lstStyle/>
          <a:p>
            <a:pPr>
              <a:lnSpc>
                <a:spcPct val="150000"/>
              </a:lnSpc>
            </a:pPr>
            <a:endParaRPr lang="en-US" b="1" dirty="0"/>
          </a:p>
          <a:p>
            <a:pPr>
              <a:lnSpc>
                <a:spcPct val="150000"/>
              </a:lnSpc>
            </a:pPr>
            <a:r>
              <a:rPr lang="en-US" b="1" dirty="0"/>
              <a:t>Stage 3: Continuous Testing </a:t>
            </a:r>
          </a:p>
          <a:p>
            <a:pPr lvl="0" eaLnBrk="0" fontAlgn="base" hangingPunct="0">
              <a:lnSpc>
                <a:spcPct val="200000"/>
              </a:lnSpc>
              <a:spcBef>
                <a:spcPct val="0"/>
              </a:spcBef>
              <a:spcAft>
                <a:spcPct val="0"/>
              </a:spcAft>
            </a:pPr>
            <a:r>
              <a:rPr lang="en-IN" b="1" dirty="0"/>
              <a:t>Types of Automated Tests:</a:t>
            </a:r>
          </a:p>
          <a:p>
            <a:pPr marL="342900" lvl="0" indent="-342900" eaLnBrk="0" fontAlgn="base" hangingPunct="0">
              <a:lnSpc>
                <a:spcPct val="200000"/>
              </a:lnSpc>
              <a:spcBef>
                <a:spcPct val="0"/>
              </a:spcBef>
              <a:spcAft>
                <a:spcPct val="0"/>
              </a:spcAft>
              <a:buFont typeface="+mj-lt"/>
              <a:buAutoNum type="arabicPeriod"/>
            </a:pPr>
            <a:r>
              <a:rPr lang="en-US" b="1" dirty="0"/>
              <a:t>Unit Tests</a:t>
            </a:r>
            <a:r>
              <a:rPr lang="en-US" dirty="0"/>
              <a:t> — Test individual functions in isolation</a:t>
            </a:r>
          </a:p>
          <a:p>
            <a:pPr marL="342900" lvl="0" indent="-342900" eaLnBrk="0" fontAlgn="base" hangingPunct="0">
              <a:lnSpc>
                <a:spcPct val="200000"/>
              </a:lnSpc>
              <a:spcBef>
                <a:spcPct val="0"/>
              </a:spcBef>
              <a:spcAft>
                <a:spcPct val="0"/>
              </a:spcAft>
              <a:buFont typeface="+mj-lt"/>
              <a:buAutoNum type="arabicPeriod"/>
            </a:pPr>
            <a:r>
              <a:rPr lang="en-US" b="1" dirty="0"/>
              <a:t>Integration Tests</a:t>
            </a:r>
            <a:r>
              <a:rPr lang="en-US" dirty="0"/>
              <a:t> — Test how services work together</a:t>
            </a:r>
          </a:p>
          <a:p>
            <a:pPr marL="342900" lvl="0" indent="-342900" eaLnBrk="0" fontAlgn="base" hangingPunct="0">
              <a:lnSpc>
                <a:spcPct val="200000"/>
              </a:lnSpc>
              <a:spcBef>
                <a:spcPct val="0"/>
              </a:spcBef>
              <a:spcAft>
                <a:spcPct val="0"/>
              </a:spcAft>
              <a:buFont typeface="+mj-lt"/>
              <a:buAutoNum type="arabicPeriod"/>
            </a:pPr>
            <a:r>
              <a:rPr lang="en-US" b="1" dirty="0"/>
              <a:t>Performance Tests</a:t>
            </a:r>
            <a:r>
              <a:rPr lang="en-US" dirty="0"/>
              <a:t> — Test behavior under heavy load</a:t>
            </a:r>
          </a:p>
          <a:p>
            <a:pPr marL="342900" lvl="0" indent="-342900" eaLnBrk="0" fontAlgn="base" hangingPunct="0">
              <a:lnSpc>
                <a:spcPct val="200000"/>
              </a:lnSpc>
              <a:spcBef>
                <a:spcPct val="0"/>
              </a:spcBef>
              <a:spcAft>
                <a:spcPct val="0"/>
              </a:spcAft>
              <a:buFont typeface="+mj-lt"/>
              <a:buAutoNum type="arabicPeriod"/>
            </a:pPr>
            <a:r>
              <a:rPr lang="en-US" b="1" dirty="0"/>
              <a:t>Regression Tests</a:t>
            </a:r>
            <a:r>
              <a:rPr lang="en-US" dirty="0"/>
              <a:t> — Ensure old features still work after new changes</a:t>
            </a:r>
          </a:p>
          <a:p>
            <a:pPr marL="342900" lvl="0" indent="-342900" eaLnBrk="0" fontAlgn="base" hangingPunct="0">
              <a:lnSpc>
                <a:spcPct val="200000"/>
              </a:lnSpc>
              <a:spcBef>
                <a:spcPct val="0"/>
              </a:spcBef>
              <a:spcAft>
                <a:spcPct val="0"/>
              </a:spcAft>
              <a:buFont typeface="+mj-lt"/>
              <a:buAutoNum type="arabicPeriod"/>
            </a:pPr>
            <a:r>
              <a:rPr lang="en-US" b="1" dirty="0"/>
              <a:t>Security Tests</a:t>
            </a:r>
            <a:r>
              <a:rPr lang="en-US" dirty="0"/>
              <a:t> — Scan for vulnerabilities automatically</a:t>
            </a:r>
            <a:endParaRPr lang="en-US" altLang="en-US" b="1" dirty="0">
              <a:latin typeface="Arial" panose="020B0604020202020204" pitchFamily="34" charset="0"/>
            </a:endParaRPr>
          </a:p>
        </p:txBody>
      </p:sp>
      <p:sp>
        <p:nvSpPr>
          <p:cNvPr id="4" name="Rectangle 3">
            <a:extLst>
              <a:ext uri="{FF2B5EF4-FFF2-40B4-BE49-F238E27FC236}">
                <a16:creationId xmlns:a16="http://schemas.microsoft.com/office/drawing/2014/main" id="{112A563A-4218-1CF2-A0F1-A447C421E226}"/>
              </a:ext>
            </a:extLst>
          </p:cNvPr>
          <p:cNvSpPr/>
          <p:nvPr/>
        </p:nvSpPr>
        <p:spPr>
          <a:xfrm>
            <a:off x="445494" y="725489"/>
            <a:ext cx="4200247" cy="400110"/>
          </a:xfrm>
          <a:prstGeom prst="rect">
            <a:avLst/>
          </a:prstGeom>
        </p:spPr>
        <p:txBody>
          <a:bodyPr wrap="square">
            <a:spAutoFit/>
          </a:bodyPr>
          <a:lstStyle/>
          <a:p>
            <a:r>
              <a:rPr lang="en-IN" sz="2000" b="1" dirty="0"/>
              <a:t>DevOps Lifecycle (Contd.)</a:t>
            </a:r>
          </a:p>
        </p:txBody>
      </p:sp>
    </p:spTree>
    <p:extLst>
      <p:ext uri="{BB962C8B-B14F-4D97-AF65-F5344CB8AC3E}">
        <p14:creationId xmlns:p14="http://schemas.microsoft.com/office/powerpoint/2010/main" val="79039131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02B6F-7768-BC58-7855-8B5C4EF0BDC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1873D13-5694-889F-6FC5-8676593F583D}"/>
              </a:ext>
            </a:extLst>
          </p:cNvPr>
          <p:cNvSpPr>
            <a:spLocks noGrp="1"/>
          </p:cNvSpPr>
          <p:nvPr>
            <p:ph type="sldNum" sz="quarter" idx="12"/>
          </p:nvPr>
        </p:nvSpPr>
        <p:spPr/>
        <p:txBody>
          <a:bodyPr/>
          <a:lstStyle/>
          <a:p>
            <a:fld id="{B8DACC02-A2BD-4578-8E03-6D891060A695}" type="slidenum">
              <a:rPr lang="en-US" smtClean="0"/>
              <a:t>64</a:t>
            </a:fld>
            <a:endParaRPr lang="en-US"/>
          </a:p>
        </p:txBody>
      </p:sp>
      <p:sp>
        <p:nvSpPr>
          <p:cNvPr id="3" name="Rectangle 2">
            <a:extLst>
              <a:ext uri="{FF2B5EF4-FFF2-40B4-BE49-F238E27FC236}">
                <a16:creationId xmlns:a16="http://schemas.microsoft.com/office/drawing/2014/main" id="{C6CA0093-6FD7-2366-F0B9-218871A31AA3}"/>
              </a:ext>
            </a:extLst>
          </p:cNvPr>
          <p:cNvSpPr/>
          <p:nvPr/>
        </p:nvSpPr>
        <p:spPr>
          <a:xfrm>
            <a:off x="445494" y="1233898"/>
            <a:ext cx="5852561" cy="4438395"/>
          </a:xfrm>
          <a:prstGeom prst="rect">
            <a:avLst/>
          </a:prstGeom>
        </p:spPr>
        <p:txBody>
          <a:bodyPr wrap="square">
            <a:spAutoFit/>
          </a:bodyPr>
          <a:lstStyle/>
          <a:p>
            <a:pPr>
              <a:lnSpc>
                <a:spcPct val="150000"/>
              </a:lnSpc>
            </a:pPr>
            <a:endParaRPr lang="en-US" b="1" dirty="0"/>
          </a:p>
          <a:p>
            <a:pPr>
              <a:lnSpc>
                <a:spcPct val="150000"/>
              </a:lnSpc>
            </a:pPr>
            <a:r>
              <a:rPr lang="en-US" b="1" dirty="0"/>
              <a:t>Stage 3: Continuous Testing </a:t>
            </a:r>
          </a:p>
          <a:p>
            <a:pPr lvl="0" eaLnBrk="0" fontAlgn="base" hangingPunct="0">
              <a:lnSpc>
                <a:spcPct val="200000"/>
              </a:lnSpc>
              <a:spcBef>
                <a:spcPct val="0"/>
              </a:spcBef>
              <a:spcAft>
                <a:spcPct val="0"/>
              </a:spcAft>
            </a:pPr>
            <a:r>
              <a:rPr lang="en-IN" b="1" dirty="0"/>
              <a:t>Automatic Test Reports:</a:t>
            </a:r>
          </a:p>
          <a:p>
            <a:r>
              <a:rPr lang="en-US" dirty="0"/>
              <a:t>After every test run, the CI tool automatically generates a </a:t>
            </a:r>
            <a:r>
              <a:rPr lang="en-US" b="1" dirty="0"/>
              <a:t>detailed test report</a:t>
            </a:r>
            <a:r>
              <a:rPr lang="en-US" dirty="0"/>
              <a:t> showing:</a:t>
            </a:r>
          </a:p>
          <a:p>
            <a:endParaRPr lang="en-US" dirty="0"/>
          </a:p>
          <a:p>
            <a:pPr marL="285750" indent="-285750">
              <a:buFont typeface="Arial" panose="020B0604020202020204" pitchFamily="34" charset="0"/>
              <a:buChar char="•"/>
            </a:pPr>
            <a:r>
              <a:rPr lang="en-US" dirty="0"/>
              <a:t>How many tests ran</a:t>
            </a:r>
          </a:p>
          <a:p>
            <a:pPr marL="285750" indent="-285750">
              <a:buFont typeface="Arial" panose="020B0604020202020204" pitchFamily="34" charset="0"/>
              <a:buChar char="•"/>
            </a:pPr>
            <a:r>
              <a:rPr lang="en-US" dirty="0"/>
              <a:t>How many passed and failed</a:t>
            </a:r>
          </a:p>
          <a:p>
            <a:pPr marL="285750" indent="-285750">
              <a:buFont typeface="Arial" panose="020B0604020202020204" pitchFamily="34" charset="0"/>
              <a:buChar char="•"/>
            </a:pPr>
            <a:r>
              <a:rPr lang="en-US" dirty="0"/>
              <a:t>Exactly which test failed and why</a:t>
            </a:r>
          </a:p>
          <a:p>
            <a:pPr marL="285750" indent="-285750">
              <a:buFont typeface="Arial" panose="020B0604020202020204" pitchFamily="34" charset="0"/>
              <a:buChar char="•"/>
            </a:pPr>
            <a:r>
              <a:rPr lang="en-US" dirty="0"/>
              <a:t>How long each test took</a:t>
            </a:r>
          </a:p>
          <a:p>
            <a:pPr marL="285750" indent="-285750">
              <a:buFont typeface="Arial" panose="020B0604020202020204" pitchFamily="34" charset="0"/>
              <a:buChar char="•"/>
            </a:pPr>
            <a:r>
              <a:rPr lang="en-US" dirty="0"/>
              <a:t>Trends over time — is the codebase getting healthier or worse?</a:t>
            </a:r>
          </a:p>
          <a:p>
            <a:pPr lvl="0" eaLnBrk="0" fontAlgn="base" hangingPunct="0">
              <a:lnSpc>
                <a:spcPct val="200000"/>
              </a:lnSpc>
              <a:spcBef>
                <a:spcPct val="0"/>
              </a:spcBef>
              <a:spcAft>
                <a:spcPct val="0"/>
              </a:spcAft>
            </a:pPr>
            <a:r>
              <a:rPr lang="en-IN" b="1" dirty="0"/>
              <a:t> </a:t>
            </a:r>
            <a:endParaRPr lang="en-US" altLang="en-US" b="1" dirty="0">
              <a:latin typeface="Arial" panose="020B0604020202020204" pitchFamily="34" charset="0"/>
            </a:endParaRPr>
          </a:p>
        </p:txBody>
      </p:sp>
      <p:sp>
        <p:nvSpPr>
          <p:cNvPr id="4" name="Rectangle 3">
            <a:extLst>
              <a:ext uri="{FF2B5EF4-FFF2-40B4-BE49-F238E27FC236}">
                <a16:creationId xmlns:a16="http://schemas.microsoft.com/office/drawing/2014/main" id="{56C1390D-3BAA-1BC2-23E4-97C3C9117EA3}"/>
              </a:ext>
            </a:extLst>
          </p:cNvPr>
          <p:cNvSpPr/>
          <p:nvPr/>
        </p:nvSpPr>
        <p:spPr>
          <a:xfrm>
            <a:off x="445494" y="725489"/>
            <a:ext cx="4200247" cy="400110"/>
          </a:xfrm>
          <a:prstGeom prst="rect">
            <a:avLst/>
          </a:prstGeom>
        </p:spPr>
        <p:txBody>
          <a:bodyPr wrap="square">
            <a:spAutoFit/>
          </a:bodyPr>
          <a:lstStyle/>
          <a:p>
            <a:r>
              <a:rPr lang="en-IN" sz="2000" b="1" dirty="0"/>
              <a:t>DevOps Lifecycle (Contd.)</a:t>
            </a:r>
          </a:p>
        </p:txBody>
      </p:sp>
      <p:pic>
        <p:nvPicPr>
          <p:cNvPr id="6" name="Picture 5">
            <a:extLst>
              <a:ext uri="{FF2B5EF4-FFF2-40B4-BE49-F238E27FC236}">
                <a16:creationId xmlns:a16="http://schemas.microsoft.com/office/drawing/2014/main" id="{91D9BA1C-BF13-A7DB-E799-08233117EB12}"/>
              </a:ext>
            </a:extLst>
          </p:cNvPr>
          <p:cNvPicPr>
            <a:picLocks noChangeAspect="1"/>
          </p:cNvPicPr>
          <p:nvPr/>
        </p:nvPicPr>
        <p:blipFill>
          <a:blip r:embed="rId2"/>
          <a:stretch>
            <a:fillRect/>
          </a:stretch>
        </p:blipFill>
        <p:spPr>
          <a:xfrm>
            <a:off x="6298056" y="1927894"/>
            <a:ext cx="5593565" cy="3467400"/>
          </a:xfrm>
          <a:prstGeom prst="rect">
            <a:avLst/>
          </a:prstGeom>
        </p:spPr>
      </p:pic>
    </p:spTree>
    <p:extLst>
      <p:ext uri="{BB962C8B-B14F-4D97-AF65-F5344CB8AC3E}">
        <p14:creationId xmlns:p14="http://schemas.microsoft.com/office/powerpoint/2010/main" val="349106825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22342-0203-86B4-5D10-961F318D164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F52CAB6-448C-85E7-C17F-7EFCA406B8D3}"/>
              </a:ext>
            </a:extLst>
          </p:cNvPr>
          <p:cNvSpPr>
            <a:spLocks noGrp="1"/>
          </p:cNvSpPr>
          <p:nvPr>
            <p:ph type="sldNum" sz="quarter" idx="12"/>
          </p:nvPr>
        </p:nvSpPr>
        <p:spPr/>
        <p:txBody>
          <a:bodyPr/>
          <a:lstStyle/>
          <a:p>
            <a:fld id="{B8DACC02-A2BD-4578-8E03-6D891060A695}" type="slidenum">
              <a:rPr lang="en-US" smtClean="0"/>
              <a:t>65</a:t>
            </a:fld>
            <a:endParaRPr lang="en-US"/>
          </a:p>
        </p:txBody>
      </p:sp>
      <p:sp>
        <p:nvSpPr>
          <p:cNvPr id="3" name="Rectangle 2">
            <a:extLst>
              <a:ext uri="{FF2B5EF4-FFF2-40B4-BE49-F238E27FC236}">
                <a16:creationId xmlns:a16="http://schemas.microsoft.com/office/drawing/2014/main" id="{176DF54E-0B0C-4AAA-0BCB-BFEB2E3310B2}"/>
              </a:ext>
            </a:extLst>
          </p:cNvPr>
          <p:cNvSpPr/>
          <p:nvPr/>
        </p:nvSpPr>
        <p:spPr>
          <a:xfrm>
            <a:off x="445494" y="1233898"/>
            <a:ext cx="5852561" cy="3277820"/>
          </a:xfrm>
          <a:prstGeom prst="rect">
            <a:avLst/>
          </a:prstGeom>
        </p:spPr>
        <p:txBody>
          <a:bodyPr wrap="square">
            <a:spAutoFit/>
          </a:bodyPr>
          <a:lstStyle/>
          <a:p>
            <a:pPr>
              <a:lnSpc>
                <a:spcPct val="150000"/>
              </a:lnSpc>
            </a:pPr>
            <a:endParaRPr lang="en-US" b="1" dirty="0"/>
          </a:p>
          <a:p>
            <a:pPr>
              <a:lnSpc>
                <a:spcPct val="150000"/>
              </a:lnSpc>
            </a:pPr>
            <a:r>
              <a:rPr lang="en-US" b="1" dirty="0"/>
              <a:t>Stage 3: Continuous Testing </a:t>
            </a:r>
          </a:p>
          <a:p>
            <a:pPr marL="285750" lvl="0" indent="-285750" eaLnBrk="0" fontAlgn="base" hangingPunct="0">
              <a:lnSpc>
                <a:spcPct val="150000"/>
              </a:lnSpc>
              <a:spcBef>
                <a:spcPct val="0"/>
              </a:spcBef>
              <a:spcAft>
                <a:spcPct val="0"/>
              </a:spcAft>
              <a:buFont typeface="Arial" panose="020B0604020202020204" pitchFamily="34" charset="0"/>
              <a:buChar char="•"/>
            </a:pPr>
            <a:r>
              <a:rPr lang="en-US" b="1" dirty="0"/>
              <a:t>Continuous Testing Reduces Bugs &amp; Improves Reliability: </a:t>
            </a:r>
            <a:r>
              <a:rPr lang="en-US" dirty="0"/>
              <a:t>The core reason bugs reach production is that they go undetected for too long. Continuous Testing eliminates this by creating multiple automatic checkpoints.</a:t>
            </a:r>
          </a:p>
          <a:p>
            <a:pPr lvl="0" eaLnBrk="0" fontAlgn="base" hangingPunct="0">
              <a:spcBef>
                <a:spcPct val="0"/>
              </a:spcBef>
              <a:spcAft>
                <a:spcPct val="0"/>
              </a:spcAft>
            </a:pPr>
            <a:endParaRPr lang="en-US" altLang="en-US" b="1" dirty="0">
              <a:latin typeface="Arial" panose="020B0604020202020204" pitchFamily="34" charset="0"/>
            </a:endParaRPr>
          </a:p>
        </p:txBody>
      </p:sp>
      <p:sp>
        <p:nvSpPr>
          <p:cNvPr id="4" name="Rectangle 3">
            <a:extLst>
              <a:ext uri="{FF2B5EF4-FFF2-40B4-BE49-F238E27FC236}">
                <a16:creationId xmlns:a16="http://schemas.microsoft.com/office/drawing/2014/main" id="{AA9BA6E2-C626-FC94-886A-C73399B520DF}"/>
              </a:ext>
            </a:extLst>
          </p:cNvPr>
          <p:cNvSpPr/>
          <p:nvPr/>
        </p:nvSpPr>
        <p:spPr>
          <a:xfrm>
            <a:off x="445494" y="725489"/>
            <a:ext cx="4200247" cy="400110"/>
          </a:xfrm>
          <a:prstGeom prst="rect">
            <a:avLst/>
          </a:prstGeom>
        </p:spPr>
        <p:txBody>
          <a:bodyPr wrap="square">
            <a:spAutoFit/>
          </a:bodyPr>
          <a:lstStyle/>
          <a:p>
            <a:r>
              <a:rPr lang="en-IN" sz="2000" b="1" dirty="0"/>
              <a:t>DevOps Lifecycle (Contd.)</a:t>
            </a:r>
          </a:p>
        </p:txBody>
      </p:sp>
      <p:pic>
        <p:nvPicPr>
          <p:cNvPr id="7" name="Picture 6">
            <a:extLst>
              <a:ext uri="{FF2B5EF4-FFF2-40B4-BE49-F238E27FC236}">
                <a16:creationId xmlns:a16="http://schemas.microsoft.com/office/drawing/2014/main" id="{AAB3A21E-51EF-535F-1B4C-BD0D49CDCC4E}"/>
              </a:ext>
            </a:extLst>
          </p:cNvPr>
          <p:cNvPicPr>
            <a:picLocks noChangeAspect="1"/>
          </p:cNvPicPr>
          <p:nvPr/>
        </p:nvPicPr>
        <p:blipFill>
          <a:blip r:embed="rId2"/>
          <a:stretch>
            <a:fillRect/>
          </a:stretch>
        </p:blipFill>
        <p:spPr>
          <a:xfrm>
            <a:off x="6717563" y="1475952"/>
            <a:ext cx="5220152" cy="2667231"/>
          </a:xfrm>
          <a:prstGeom prst="rect">
            <a:avLst/>
          </a:prstGeom>
        </p:spPr>
      </p:pic>
      <p:sp>
        <p:nvSpPr>
          <p:cNvPr id="8" name="Rectangle 7">
            <a:extLst>
              <a:ext uri="{FF2B5EF4-FFF2-40B4-BE49-F238E27FC236}">
                <a16:creationId xmlns:a16="http://schemas.microsoft.com/office/drawing/2014/main" id="{BA45E47F-0FD2-86E3-65A7-32F637A6891E}"/>
              </a:ext>
            </a:extLst>
          </p:cNvPr>
          <p:cNvSpPr/>
          <p:nvPr/>
        </p:nvSpPr>
        <p:spPr>
          <a:xfrm>
            <a:off x="445494" y="4300499"/>
            <a:ext cx="11492221" cy="2118529"/>
          </a:xfrm>
          <a:prstGeom prst="rect">
            <a:avLst/>
          </a:prstGeom>
        </p:spPr>
        <p:txBody>
          <a:bodyPr wrap="square">
            <a:spAutoFit/>
          </a:bodyPr>
          <a:lstStyle/>
          <a:p>
            <a:pPr>
              <a:lnSpc>
                <a:spcPct val="150000"/>
              </a:lnSpc>
            </a:pPr>
            <a:r>
              <a:rPr lang="en-US" dirty="0"/>
              <a:t>Continuous Testing is the </a:t>
            </a:r>
            <a:r>
              <a:rPr lang="en-US" b="1" dirty="0"/>
              <a:t>quality backbone</a:t>
            </a:r>
            <a:r>
              <a:rPr lang="en-US" dirty="0"/>
              <a:t> of the DevOps pipeline. By automatically testing every code change in isolated environments, generating instant reports, and blocking broken code from progressing, it ensures that only well-verified, reliable software reaches deployment. The result is fewer bugs in production, faster releases, and a team that can ship confidently knowing every change has been thoroughly and automatically validated.</a:t>
            </a:r>
            <a:endParaRPr lang="en-US" altLang="en-US" b="1" dirty="0">
              <a:latin typeface="Arial" panose="020B0604020202020204" pitchFamily="34" charset="0"/>
            </a:endParaRPr>
          </a:p>
        </p:txBody>
      </p:sp>
    </p:spTree>
    <p:extLst>
      <p:ext uri="{BB962C8B-B14F-4D97-AF65-F5344CB8AC3E}">
        <p14:creationId xmlns:p14="http://schemas.microsoft.com/office/powerpoint/2010/main" val="83562369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1EB42-4EEE-098B-9702-38A41912C3D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FA1FB89-ECEF-F336-6731-C081053B6BB4}"/>
              </a:ext>
            </a:extLst>
          </p:cNvPr>
          <p:cNvSpPr>
            <a:spLocks noGrp="1"/>
          </p:cNvSpPr>
          <p:nvPr>
            <p:ph type="title"/>
          </p:nvPr>
        </p:nvSpPr>
        <p:spPr/>
        <p:txBody>
          <a:bodyPr/>
          <a:lstStyle/>
          <a:p>
            <a:r>
              <a:rPr lang="en-IN" dirty="0"/>
              <a:t>Continuous Deployment</a:t>
            </a:r>
          </a:p>
        </p:txBody>
      </p:sp>
      <p:sp>
        <p:nvSpPr>
          <p:cNvPr id="2" name="Slide Number Placeholder 1">
            <a:extLst>
              <a:ext uri="{FF2B5EF4-FFF2-40B4-BE49-F238E27FC236}">
                <a16:creationId xmlns:a16="http://schemas.microsoft.com/office/drawing/2014/main" id="{051BD8E1-3BAE-F11F-9223-003B8796A135}"/>
              </a:ext>
            </a:extLst>
          </p:cNvPr>
          <p:cNvSpPr>
            <a:spLocks noGrp="1"/>
          </p:cNvSpPr>
          <p:nvPr>
            <p:ph type="sldNum" sz="quarter" idx="4294967295"/>
          </p:nvPr>
        </p:nvSpPr>
        <p:spPr>
          <a:xfrm>
            <a:off x="11460163" y="6218238"/>
            <a:ext cx="731837" cy="523875"/>
          </a:xfrm>
        </p:spPr>
        <p:txBody>
          <a:bodyPr/>
          <a:lstStyle/>
          <a:p>
            <a:fld id="{B8DACC02-A2BD-4578-8E03-6D891060A695}" type="slidenum">
              <a:rPr lang="en-US" smtClean="0"/>
              <a:t>66</a:t>
            </a:fld>
            <a:endParaRPr lang="en-US"/>
          </a:p>
        </p:txBody>
      </p:sp>
    </p:spTree>
    <p:extLst>
      <p:ext uri="{BB962C8B-B14F-4D97-AF65-F5344CB8AC3E}">
        <p14:creationId xmlns:p14="http://schemas.microsoft.com/office/powerpoint/2010/main" val="406900865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63AA8-FA16-ADC7-A3B1-2DF409E698C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761345-42D4-B2FC-0C35-BCFA054AD7E0}"/>
              </a:ext>
            </a:extLst>
          </p:cNvPr>
          <p:cNvSpPr>
            <a:spLocks noGrp="1"/>
          </p:cNvSpPr>
          <p:nvPr>
            <p:ph type="sldNum" sz="quarter" idx="12"/>
          </p:nvPr>
        </p:nvSpPr>
        <p:spPr>
          <a:xfrm>
            <a:off x="11296611" y="6070142"/>
            <a:ext cx="731600" cy="524800"/>
          </a:xfrm>
        </p:spPr>
        <p:txBody>
          <a:bodyPr/>
          <a:lstStyle/>
          <a:p>
            <a:fld id="{B8DACC02-A2BD-4578-8E03-6D891060A695}" type="slidenum">
              <a:rPr lang="en-US" smtClean="0"/>
              <a:t>67</a:t>
            </a:fld>
            <a:endParaRPr lang="en-US"/>
          </a:p>
        </p:txBody>
      </p:sp>
      <p:sp>
        <p:nvSpPr>
          <p:cNvPr id="3" name="Rectangle 2">
            <a:extLst>
              <a:ext uri="{FF2B5EF4-FFF2-40B4-BE49-F238E27FC236}">
                <a16:creationId xmlns:a16="http://schemas.microsoft.com/office/drawing/2014/main" id="{1DC2C136-94E3-2B3F-0817-A5F3A4142366}"/>
              </a:ext>
            </a:extLst>
          </p:cNvPr>
          <p:cNvSpPr/>
          <p:nvPr/>
        </p:nvSpPr>
        <p:spPr>
          <a:xfrm>
            <a:off x="681473" y="397902"/>
            <a:ext cx="3057247" cy="369332"/>
          </a:xfrm>
          <a:prstGeom prst="rect">
            <a:avLst/>
          </a:prstGeom>
        </p:spPr>
        <p:txBody>
          <a:bodyPr wrap="none">
            <a:spAutoFit/>
          </a:bodyPr>
          <a:lstStyle/>
          <a:p>
            <a:r>
              <a:rPr lang="en-IN" b="1" dirty="0"/>
              <a:t>DevOps Lifecycle (Contd.)</a:t>
            </a:r>
          </a:p>
        </p:txBody>
      </p:sp>
      <p:sp>
        <p:nvSpPr>
          <p:cNvPr id="4" name="Rectangle 3">
            <a:extLst>
              <a:ext uri="{FF2B5EF4-FFF2-40B4-BE49-F238E27FC236}">
                <a16:creationId xmlns:a16="http://schemas.microsoft.com/office/drawing/2014/main" id="{081D0A9D-2977-66BD-EAE3-8305F1496894}"/>
              </a:ext>
            </a:extLst>
          </p:cNvPr>
          <p:cNvSpPr/>
          <p:nvPr/>
        </p:nvSpPr>
        <p:spPr>
          <a:xfrm>
            <a:off x="560439" y="932622"/>
            <a:ext cx="5994631" cy="3919022"/>
          </a:xfrm>
          <a:prstGeom prst="rect">
            <a:avLst/>
          </a:prstGeom>
        </p:spPr>
        <p:txBody>
          <a:bodyPr wrap="square">
            <a:spAutoFit/>
          </a:bodyPr>
          <a:lstStyle/>
          <a:p>
            <a:pPr>
              <a:lnSpc>
                <a:spcPct val="150000"/>
              </a:lnSpc>
            </a:pPr>
            <a:r>
              <a:rPr lang="en-US" sz="2400" b="1" dirty="0"/>
              <a:t>Stage 4: Continuous Deployment</a:t>
            </a:r>
          </a:p>
          <a:p>
            <a:pPr>
              <a:lnSpc>
                <a:spcPct val="150000"/>
              </a:lnSpc>
            </a:pPr>
            <a:r>
              <a:rPr lang="en-US" dirty="0"/>
              <a:t>Continuous Deployment is the stage where </a:t>
            </a:r>
            <a:r>
              <a:rPr lang="en-US" b="1" dirty="0"/>
              <a:t>code that has passed all tests is automatically delivered to servers and made live for real users</a:t>
            </a:r>
            <a:r>
              <a:rPr lang="en-US" dirty="0"/>
              <a:t> — with zero manual intervention. It is the final and most critical bridge between your development pipeline and the end user.</a:t>
            </a:r>
          </a:p>
          <a:p>
            <a:pPr>
              <a:lnSpc>
                <a:spcPct val="150000"/>
              </a:lnSpc>
            </a:pPr>
            <a:r>
              <a:rPr lang="en-US" b="1" dirty="0"/>
              <a:t>The Problem CD Solves — Manual Deployment Pain</a:t>
            </a:r>
          </a:p>
          <a:p>
            <a:pPr>
              <a:lnSpc>
                <a:spcPct val="150000"/>
              </a:lnSpc>
            </a:pPr>
            <a:endParaRPr lang="en-US" dirty="0"/>
          </a:p>
          <a:p>
            <a:pPr>
              <a:lnSpc>
                <a:spcPct val="150000"/>
              </a:lnSpc>
            </a:pPr>
            <a:endParaRPr lang="en-US" b="1" dirty="0"/>
          </a:p>
        </p:txBody>
      </p:sp>
      <p:pic>
        <p:nvPicPr>
          <p:cNvPr id="6" name="Picture 5">
            <a:extLst>
              <a:ext uri="{FF2B5EF4-FFF2-40B4-BE49-F238E27FC236}">
                <a16:creationId xmlns:a16="http://schemas.microsoft.com/office/drawing/2014/main" id="{15732F04-BEE1-8DD0-5F7A-0131A644FBBA}"/>
              </a:ext>
            </a:extLst>
          </p:cNvPr>
          <p:cNvPicPr>
            <a:picLocks noChangeAspect="1"/>
          </p:cNvPicPr>
          <p:nvPr/>
        </p:nvPicPr>
        <p:blipFill>
          <a:blip r:embed="rId3"/>
          <a:stretch>
            <a:fillRect/>
          </a:stretch>
        </p:blipFill>
        <p:spPr>
          <a:xfrm>
            <a:off x="6806316" y="1591384"/>
            <a:ext cx="4825245" cy="4114156"/>
          </a:xfrm>
          <a:prstGeom prst="rect">
            <a:avLst/>
          </a:prstGeom>
        </p:spPr>
      </p:pic>
      <p:pic>
        <p:nvPicPr>
          <p:cNvPr id="8" name="Picture 7">
            <a:extLst>
              <a:ext uri="{FF2B5EF4-FFF2-40B4-BE49-F238E27FC236}">
                <a16:creationId xmlns:a16="http://schemas.microsoft.com/office/drawing/2014/main" id="{CDB42AD8-C11E-9C79-4429-F22601BE2F1E}"/>
              </a:ext>
            </a:extLst>
          </p:cNvPr>
          <p:cNvPicPr>
            <a:picLocks noChangeAspect="1"/>
          </p:cNvPicPr>
          <p:nvPr/>
        </p:nvPicPr>
        <p:blipFill>
          <a:blip r:embed="rId4"/>
          <a:stretch>
            <a:fillRect/>
          </a:stretch>
        </p:blipFill>
        <p:spPr>
          <a:xfrm>
            <a:off x="560439" y="4128588"/>
            <a:ext cx="5136830" cy="2801907"/>
          </a:xfrm>
          <a:prstGeom prst="rect">
            <a:avLst/>
          </a:prstGeom>
        </p:spPr>
      </p:pic>
    </p:spTree>
    <p:extLst>
      <p:ext uri="{BB962C8B-B14F-4D97-AF65-F5344CB8AC3E}">
        <p14:creationId xmlns:p14="http://schemas.microsoft.com/office/powerpoint/2010/main" val="353275008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B96A83-8C48-652D-CF1E-38CA1350E72E}"/>
              </a:ext>
            </a:extLst>
          </p:cNvPr>
          <p:cNvSpPr>
            <a:spLocks noGrp="1"/>
          </p:cNvSpPr>
          <p:nvPr>
            <p:ph type="sldNum" sz="quarter" idx="12"/>
          </p:nvPr>
        </p:nvSpPr>
        <p:spPr/>
        <p:txBody>
          <a:bodyPr/>
          <a:lstStyle/>
          <a:p>
            <a:fld id="{B8DACC02-A2BD-4578-8E03-6D891060A695}" type="slidenum">
              <a:rPr lang="en-US" smtClean="0"/>
              <a:t>68</a:t>
            </a:fld>
            <a:endParaRPr lang="en-US"/>
          </a:p>
        </p:txBody>
      </p:sp>
      <p:pic>
        <p:nvPicPr>
          <p:cNvPr id="4" name="Picture 3">
            <a:extLst>
              <a:ext uri="{FF2B5EF4-FFF2-40B4-BE49-F238E27FC236}">
                <a16:creationId xmlns:a16="http://schemas.microsoft.com/office/drawing/2014/main" id="{0860A94D-5A9E-0D05-29A3-714AEE81E789}"/>
              </a:ext>
            </a:extLst>
          </p:cNvPr>
          <p:cNvPicPr>
            <a:picLocks noChangeAspect="1"/>
          </p:cNvPicPr>
          <p:nvPr/>
        </p:nvPicPr>
        <p:blipFill>
          <a:blip r:embed="rId2"/>
          <a:stretch>
            <a:fillRect/>
          </a:stretch>
        </p:blipFill>
        <p:spPr>
          <a:xfrm>
            <a:off x="955303" y="612605"/>
            <a:ext cx="7775741" cy="5476412"/>
          </a:xfrm>
          <a:prstGeom prst="rect">
            <a:avLst/>
          </a:prstGeom>
        </p:spPr>
      </p:pic>
    </p:spTree>
    <p:extLst>
      <p:ext uri="{BB962C8B-B14F-4D97-AF65-F5344CB8AC3E}">
        <p14:creationId xmlns:p14="http://schemas.microsoft.com/office/powerpoint/2010/main" val="317310270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11296611" y="6070142"/>
            <a:ext cx="731600" cy="524800"/>
          </a:xfrm>
        </p:spPr>
        <p:txBody>
          <a:bodyPr/>
          <a:lstStyle/>
          <a:p>
            <a:fld id="{B8DACC02-A2BD-4578-8E03-6D891060A695}" type="slidenum">
              <a:rPr lang="en-US" smtClean="0"/>
              <a:t>69</a:t>
            </a:fld>
            <a:endParaRPr lang="en-US"/>
          </a:p>
        </p:txBody>
      </p:sp>
      <p:sp>
        <p:nvSpPr>
          <p:cNvPr id="3" name="Rectangle 2"/>
          <p:cNvSpPr/>
          <p:nvPr/>
        </p:nvSpPr>
        <p:spPr>
          <a:xfrm>
            <a:off x="681473" y="397902"/>
            <a:ext cx="3057247" cy="369332"/>
          </a:xfrm>
          <a:prstGeom prst="rect">
            <a:avLst/>
          </a:prstGeom>
        </p:spPr>
        <p:txBody>
          <a:bodyPr wrap="none">
            <a:spAutoFit/>
          </a:bodyPr>
          <a:lstStyle/>
          <a:p>
            <a:r>
              <a:rPr lang="en-IN" b="1" dirty="0"/>
              <a:t>DevOps Lifecycle (Contd.)</a:t>
            </a:r>
          </a:p>
        </p:txBody>
      </p:sp>
      <p:sp>
        <p:nvSpPr>
          <p:cNvPr id="4" name="Rectangle 3"/>
          <p:cNvSpPr/>
          <p:nvPr/>
        </p:nvSpPr>
        <p:spPr>
          <a:xfrm>
            <a:off x="681473" y="1364188"/>
            <a:ext cx="8872260" cy="2118529"/>
          </a:xfrm>
          <a:prstGeom prst="rect">
            <a:avLst/>
          </a:prstGeom>
        </p:spPr>
        <p:txBody>
          <a:bodyPr wrap="square">
            <a:spAutoFit/>
          </a:bodyPr>
          <a:lstStyle/>
          <a:p>
            <a:pPr>
              <a:lnSpc>
                <a:spcPct val="150000"/>
              </a:lnSpc>
            </a:pPr>
            <a:r>
              <a:rPr lang="en-US" b="1" dirty="0"/>
              <a:t>Stage 4: Continuous Deployment</a:t>
            </a:r>
          </a:p>
          <a:p>
            <a:pPr>
              <a:lnSpc>
                <a:spcPct val="150000"/>
              </a:lnSpc>
            </a:pPr>
            <a:r>
              <a:rPr lang="en-US" dirty="0"/>
              <a:t>Deployment is handled using mainly two tools working together:</a:t>
            </a:r>
          </a:p>
          <a:p>
            <a:pPr lvl="1">
              <a:lnSpc>
                <a:spcPct val="150000"/>
              </a:lnSpc>
            </a:pPr>
            <a:r>
              <a:rPr lang="en-US" b="1" dirty="0"/>
              <a:t>Configuration Management tools</a:t>
            </a:r>
            <a:endParaRPr lang="en-US" dirty="0"/>
          </a:p>
          <a:p>
            <a:pPr lvl="1">
              <a:lnSpc>
                <a:spcPct val="150000"/>
              </a:lnSpc>
            </a:pPr>
            <a:r>
              <a:rPr lang="en-US" b="1" dirty="0"/>
              <a:t>Containerization tools</a:t>
            </a:r>
            <a:endParaRPr lang="en-US" dirty="0"/>
          </a:p>
          <a:p>
            <a:pPr>
              <a:lnSpc>
                <a:spcPct val="150000"/>
              </a:lnSpc>
            </a:pPr>
            <a:endParaRPr lang="en-US" b="1" dirty="0"/>
          </a:p>
        </p:txBody>
      </p:sp>
      <p:pic>
        <p:nvPicPr>
          <p:cNvPr id="6" name="Picture 5">
            <a:extLst>
              <a:ext uri="{FF2B5EF4-FFF2-40B4-BE49-F238E27FC236}">
                <a16:creationId xmlns:a16="http://schemas.microsoft.com/office/drawing/2014/main" id="{A4391264-E6DB-A5F0-6D17-7FDCC25AB166}"/>
              </a:ext>
            </a:extLst>
          </p:cNvPr>
          <p:cNvPicPr>
            <a:picLocks noChangeAspect="1"/>
          </p:cNvPicPr>
          <p:nvPr/>
        </p:nvPicPr>
        <p:blipFill>
          <a:blip r:embed="rId3"/>
          <a:stretch>
            <a:fillRect/>
          </a:stretch>
        </p:blipFill>
        <p:spPr>
          <a:xfrm>
            <a:off x="7821606" y="1535399"/>
            <a:ext cx="4206605" cy="3551228"/>
          </a:xfrm>
          <a:prstGeom prst="rect">
            <a:avLst/>
          </a:prstGeom>
        </p:spPr>
      </p:pic>
    </p:spTree>
    <p:extLst>
      <p:ext uri="{BB962C8B-B14F-4D97-AF65-F5344CB8AC3E}">
        <p14:creationId xmlns:p14="http://schemas.microsoft.com/office/powerpoint/2010/main" val="219529709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6FA67-7EA3-FF87-8CD9-F8567FC2A0D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9E46E28-F751-1677-B010-7D36A1EA252B}"/>
              </a:ext>
            </a:extLst>
          </p:cNvPr>
          <p:cNvSpPr>
            <a:spLocks noGrp="1"/>
          </p:cNvSpPr>
          <p:nvPr>
            <p:ph type="sldNum" sz="quarter" idx="12"/>
          </p:nvPr>
        </p:nvSpPr>
        <p:spPr>
          <a:xfrm>
            <a:off x="11296611" y="6070142"/>
            <a:ext cx="731600" cy="524800"/>
          </a:xfrm>
        </p:spPr>
        <p:txBody>
          <a:bodyPr/>
          <a:lstStyle/>
          <a:p>
            <a:fld id="{B8DACC02-A2BD-4578-8E03-6D891060A695}" type="slidenum">
              <a:rPr lang="en-US" smtClean="0"/>
              <a:t>70</a:t>
            </a:fld>
            <a:endParaRPr lang="en-US"/>
          </a:p>
        </p:txBody>
      </p:sp>
      <p:sp>
        <p:nvSpPr>
          <p:cNvPr id="3" name="Rectangle 2">
            <a:extLst>
              <a:ext uri="{FF2B5EF4-FFF2-40B4-BE49-F238E27FC236}">
                <a16:creationId xmlns:a16="http://schemas.microsoft.com/office/drawing/2014/main" id="{F99FF9BE-8431-1BEC-7784-3000276BDE8A}"/>
              </a:ext>
            </a:extLst>
          </p:cNvPr>
          <p:cNvSpPr/>
          <p:nvPr/>
        </p:nvSpPr>
        <p:spPr>
          <a:xfrm>
            <a:off x="681473" y="397902"/>
            <a:ext cx="3057247" cy="369332"/>
          </a:xfrm>
          <a:prstGeom prst="rect">
            <a:avLst/>
          </a:prstGeom>
        </p:spPr>
        <p:txBody>
          <a:bodyPr wrap="none">
            <a:spAutoFit/>
          </a:bodyPr>
          <a:lstStyle/>
          <a:p>
            <a:r>
              <a:rPr lang="en-IN" b="1" dirty="0"/>
              <a:t>DevOps Lifecycle (Contd.)</a:t>
            </a:r>
          </a:p>
        </p:txBody>
      </p:sp>
      <p:sp>
        <p:nvSpPr>
          <p:cNvPr id="4" name="Rectangle 3">
            <a:extLst>
              <a:ext uri="{FF2B5EF4-FFF2-40B4-BE49-F238E27FC236}">
                <a16:creationId xmlns:a16="http://schemas.microsoft.com/office/drawing/2014/main" id="{C2C71889-F23F-060F-169B-1A753C3FA329}"/>
              </a:ext>
            </a:extLst>
          </p:cNvPr>
          <p:cNvSpPr/>
          <p:nvPr/>
        </p:nvSpPr>
        <p:spPr>
          <a:xfrm>
            <a:off x="601291" y="843078"/>
            <a:ext cx="10989417" cy="5904180"/>
          </a:xfrm>
          <a:prstGeom prst="rect">
            <a:avLst/>
          </a:prstGeom>
        </p:spPr>
        <p:txBody>
          <a:bodyPr wrap="square">
            <a:spAutoFit/>
          </a:bodyPr>
          <a:lstStyle/>
          <a:p>
            <a:pPr>
              <a:lnSpc>
                <a:spcPct val="150000"/>
              </a:lnSpc>
            </a:pPr>
            <a:r>
              <a:rPr lang="en-US" sz="2000" b="1" dirty="0"/>
              <a:t>Stage 4: Continuous Deployment</a:t>
            </a:r>
          </a:p>
          <a:p>
            <a:r>
              <a:rPr lang="en-US" b="1" dirty="0"/>
              <a:t>What is Configuration Management?</a:t>
            </a:r>
          </a:p>
          <a:p>
            <a:r>
              <a:rPr lang="en-US" dirty="0"/>
              <a:t>Before your application runs on a server, that server needs to be </a:t>
            </a:r>
            <a:r>
              <a:rPr lang="en-US" b="1" dirty="0"/>
              <a:t>properly set up.</a:t>
            </a:r>
            <a:r>
              <a:rPr lang="en-US" dirty="0"/>
              <a:t> It needs:</a:t>
            </a:r>
          </a:p>
          <a:p>
            <a:pPr marL="285750" indent="-285750">
              <a:buFont typeface="Arial" panose="020B0604020202020204" pitchFamily="34" charset="0"/>
              <a:buChar char="•"/>
            </a:pPr>
            <a:r>
              <a:rPr lang="en-US" dirty="0"/>
              <a:t>Correct software installed (Docker, Java, Nginx)</a:t>
            </a:r>
          </a:p>
          <a:p>
            <a:pPr marL="285750" indent="-285750">
              <a:buFont typeface="Arial" panose="020B0604020202020204" pitchFamily="34" charset="0"/>
              <a:buChar char="•"/>
            </a:pPr>
            <a:r>
              <a:rPr lang="en-US" dirty="0"/>
              <a:t>Correct firewall rules configured</a:t>
            </a:r>
          </a:p>
          <a:p>
            <a:pPr marL="285750" indent="-285750">
              <a:buFont typeface="Arial" panose="020B0604020202020204" pitchFamily="34" charset="0"/>
              <a:buChar char="•"/>
            </a:pPr>
            <a:r>
              <a:rPr lang="en-US" dirty="0"/>
              <a:t>Correct ports opened</a:t>
            </a:r>
          </a:p>
          <a:p>
            <a:pPr marL="285750" indent="-285750">
              <a:buFont typeface="Arial" panose="020B0604020202020204" pitchFamily="34" charset="0"/>
              <a:buChar char="•"/>
            </a:pPr>
            <a:r>
              <a:rPr lang="en-US" dirty="0"/>
              <a:t>Correct environment variables set</a:t>
            </a:r>
          </a:p>
          <a:p>
            <a:pPr marL="285750" indent="-285750">
              <a:buFont typeface="Arial" panose="020B0604020202020204" pitchFamily="34" charset="0"/>
              <a:buChar char="•"/>
            </a:pPr>
            <a:r>
              <a:rPr lang="en-US" dirty="0"/>
              <a:t>Correct user permissions applied</a:t>
            </a:r>
          </a:p>
          <a:p>
            <a:endParaRPr lang="en-US" dirty="0"/>
          </a:p>
          <a:p>
            <a:r>
              <a:rPr lang="en-US" dirty="0"/>
              <a:t>Doing this manually on one server is painful. On 100 servers it is completely impractical.</a:t>
            </a:r>
          </a:p>
          <a:p>
            <a:r>
              <a:rPr lang="en-US" b="1" dirty="0"/>
              <a:t>Configuration Management tools automate this</a:t>
            </a:r>
            <a:r>
              <a:rPr lang="en-US" dirty="0"/>
              <a:t> by letting you describe the desired state of a server in code and automatically applying it across every server simultaneously.</a:t>
            </a:r>
          </a:p>
          <a:p>
            <a:r>
              <a:rPr lang="en-US" dirty="0"/>
              <a:t>This concept is called </a:t>
            </a:r>
            <a:r>
              <a:rPr lang="en-US" b="1" dirty="0"/>
              <a:t>Infrastructure as Code (</a:t>
            </a:r>
            <a:r>
              <a:rPr lang="en-US" b="1" dirty="0" err="1"/>
              <a:t>IaC</a:t>
            </a:r>
            <a:r>
              <a:rPr lang="en-US" b="1" dirty="0"/>
              <a:t>),</a:t>
            </a:r>
            <a:r>
              <a:rPr lang="en-US" dirty="0"/>
              <a:t> your server configuration is written, versioned, and managed just like application code.</a:t>
            </a:r>
          </a:p>
          <a:p>
            <a:endParaRPr lang="en-US" dirty="0"/>
          </a:p>
          <a:p>
            <a:r>
              <a:rPr lang="en-US" dirty="0"/>
              <a:t>Example: Your food delivery app suddenly needs a security patch applied to 80 servers. Without Config Management: two engineers spend two days </a:t>
            </a:r>
            <a:r>
              <a:rPr lang="en-US" dirty="0" err="1"/>
              <a:t>SSHing</a:t>
            </a:r>
            <a:r>
              <a:rPr lang="en-US" dirty="0"/>
              <a:t> into each server manually. One typo on server 47 causes a crash at 2 AM. With Ansible: one engineer changes one line of code, runs the playbook, all 80 servers patched in 10 minutes — identically.</a:t>
            </a:r>
          </a:p>
          <a:p>
            <a:pPr>
              <a:lnSpc>
                <a:spcPct val="150000"/>
              </a:lnSpc>
            </a:pPr>
            <a:endParaRPr lang="en-US" b="1" dirty="0"/>
          </a:p>
        </p:txBody>
      </p:sp>
    </p:spTree>
    <p:extLst>
      <p:ext uri="{BB962C8B-B14F-4D97-AF65-F5344CB8AC3E}">
        <p14:creationId xmlns:p14="http://schemas.microsoft.com/office/powerpoint/2010/main" val="40668273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7BF3E-7FD1-090E-AD0E-D9EE79CED67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17AD0CE-5CA6-7519-AC58-5E7707E5D71D}"/>
              </a:ext>
            </a:extLst>
          </p:cNvPr>
          <p:cNvSpPr>
            <a:spLocks noGrp="1"/>
          </p:cNvSpPr>
          <p:nvPr>
            <p:ph type="sldNum" sz="quarter" idx="12"/>
          </p:nvPr>
        </p:nvSpPr>
        <p:spPr>
          <a:xfrm>
            <a:off x="11296611" y="6070142"/>
            <a:ext cx="731600" cy="524800"/>
          </a:xfrm>
        </p:spPr>
        <p:txBody>
          <a:bodyPr/>
          <a:lstStyle/>
          <a:p>
            <a:fld id="{B8DACC02-A2BD-4578-8E03-6D891060A695}" type="slidenum">
              <a:rPr lang="en-US" smtClean="0"/>
              <a:t>71</a:t>
            </a:fld>
            <a:endParaRPr lang="en-US"/>
          </a:p>
        </p:txBody>
      </p:sp>
      <p:sp>
        <p:nvSpPr>
          <p:cNvPr id="3" name="Rectangle 2">
            <a:extLst>
              <a:ext uri="{FF2B5EF4-FFF2-40B4-BE49-F238E27FC236}">
                <a16:creationId xmlns:a16="http://schemas.microsoft.com/office/drawing/2014/main" id="{B35E8379-1DB8-925F-0768-DC674BDACDEB}"/>
              </a:ext>
            </a:extLst>
          </p:cNvPr>
          <p:cNvSpPr/>
          <p:nvPr/>
        </p:nvSpPr>
        <p:spPr>
          <a:xfrm>
            <a:off x="681473" y="397902"/>
            <a:ext cx="3057247" cy="369332"/>
          </a:xfrm>
          <a:prstGeom prst="rect">
            <a:avLst/>
          </a:prstGeom>
        </p:spPr>
        <p:txBody>
          <a:bodyPr wrap="none">
            <a:spAutoFit/>
          </a:bodyPr>
          <a:lstStyle/>
          <a:p>
            <a:r>
              <a:rPr lang="en-IN" b="1" dirty="0"/>
              <a:t>DevOps Lifecycle (Contd.)</a:t>
            </a:r>
          </a:p>
        </p:txBody>
      </p:sp>
      <p:sp>
        <p:nvSpPr>
          <p:cNvPr id="4" name="Rectangle 3">
            <a:extLst>
              <a:ext uri="{FF2B5EF4-FFF2-40B4-BE49-F238E27FC236}">
                <a16:creationId xmlns:a16="http://schemas.microsoft.com/office/drawing/2014/main" id="{1207FD0A-C682-6C2A-D20C-7A520B1F1448}"/>
              </a:ext>
            </a:extLst>
          </p:cNvPr>
          <p:cNvSpPr/>
          <p:nvPr/>
        </p:nvSpPr>
        <p:spPr>
          <a:xfrm>
            <a:off x="681473" y="1364188"/>
            <a:ext cx="7781731" cy="4196020"/>
          </a:xfrm>
          <a:prstGeom prst="rect">
            <a:avLst/>
          </a:prstGeom>
        </p:spPr>
        <p:txBody>
          <a:bodyPr wrap="square">
            <a:spAutoFit/>
          </a:bodyPr>
          <a:lstStyle/>
          <a:p>
            <a:pPr>
              <a:lnSpc>
                <a:spcPct val="150000"/>
              </a:lnSpc>
            </a:pPr>
            <a:r>
              <a:rPr lang="en-US" b="1" dirty="0"/>
              <a:t>Stage 4: Continuous Deployment</a:t>
            </a:r>
          </a:p>
          <a:p>
            <a:pPr>
              <a:lnSpc>
                <a:spcPct val="150000"/>
              </a:lnSpc>
            </a:pPr>
            <a:r>
              <a:rPr lang="en-US" b="1" dirty="0"/>
              <a:t>2. Containerization tools: </a:t>
            </a:r>
            <a:r>
              <a:rPr lang="en-US" dirty="0"/>
              <a:t>Containerization means </a:t>
            </a:r>
            <a:r>
              <a:rPr lang="en-US" b="1" dirty="0"/>
              <a:t>packaging your application together with everything it needs to run, </a:t>
            </a:r>
            <a:r>
              <a:rPr lang="en-US" dirty="0"/>
              <a:t>into one self-contained unit called a </a:t>
            </a:r>
            <a:r>
              <a:rPr lang="en-US" b="1" dirty="0"/>
              <a:t>container.</a:t>
            </a:r>
            <a:r>
              <a:rPr lang="en-US" dirty="0"/>
              <a:t> This container behaves identically no matter where it runs ,your laptop, a test server, or a live production server.</a:t>
            </a:r>
          </a:p>
          <a:p>
            <a:pPr>
              <a:lnSpc>
                <a:spcPct val="150000"/>
              </a:lnSpc>
            </a:pPr>
            <a:r>
              <a:rPr lang="en-US" dirty="0"/>
              <a:t>A container is not just your code. It is your code </a:t>
            </a:r>
            <a:r>
              <a:rPr lang="en-US" b="1" dirty="0"/>
              <a:t>plus its entire world </a:t>
            </a:r>
            <a:r>
              <a:rPr lang="en-US" b="1" dirty="0">
                <a:sym typeface="Wingdings" panose="05000000000000000000" pitchFamily="2" charset="2"/>
              </a:rPr>
              <a:t></a:t>
            </a:r>
          </a:p>
          <a:p>
            <a:pPr>
              <a:lnSpc>
                <a:spcPct val="150000"/>
              </a:lnSpc>
            </a:pPr>
            <a:endParaRPr lang="en-US" b="1" dirty="0">
              <a:sym typeface="Wingdings" panose="05000000000000000000" pitchFamily="2" charset="2"/>
            </a:endParaRPr>
          </a:p>
          <a:p>
            <a:pPr>
              <a:lnSpc>
                <a:spcPct val="150000"/>
              </a:lnSpc>
            </a:pPr>
            <a:r>
              <a:rPr lang="en-US" dirty="0"/>
              <a:t>Docker is by far the most widely used containerization tool in DevOps today. It is the industry standard that almost every company uses.</a:t>
            </a:r>
          </a:p>
          <a:p>
            <a:pPr>
              <a:lnSpc>
                <a:spcPct val="150000"/>
              </a:lnSpc>
            </a:pPr>
            <a:endParaRPr lang="en-US" b="1" dirty="0"/>
          </a:p>
        </p:txBody>
      </p:sp>
      <p:pic>
        <p:nvPicPr>
          <p:cNvPr id="6" name="Picture 5">
            <a:extLst>
              <a:ext uri="{FF2B5EF4-FFF2-40B4-BE49-F238E27FC236}">
                <a16:creationId xmlns:a16="http://schemas.microsoft.com/office/drawing/2014/main" id="{9A82D236-D0B9-D342-5220-3B7F53975964}"/>
              </a:ext>
            </a:extLst>
          </p:cNvPr>
          <p:cNvPicPr>
            <a:picLocks noChangeAspect="1"/>
          </p:cNvPicPr>
          <p:nvPr/>
        </p:nvPicPr>
        <p:blipFill>
          <a:blip r:embed="rId3"/>
          <a:stretch>
            <a:fillRect/>
          </a:stretch>
        </p:blipFill>
        <p:spPr>
          <a:xfrm>
            <a:off x="8463204" y="1503078"/>
            <a:ext cx="3642676" cy="3497883"/>
          </a:xfrm>
          <a:prstGeom prst="rect">
            <a:avLst/>
          </a:prstGeom>
        </p:spPr>
      </p:pic>
    </p:spTree>
    <p:extLst>
      <p:ext uri="{BB962C8B-B14F-4D97-AF65-F5344CB8AC3E}">
        <p14:creationId xmlns:p14="http://schemas.microsoft.com/office/powerpoint/2010/main" val="56300905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0B09A-08B6-3C2B-3E99-779278A6A65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F0A5109-B321-5D08-5DE6-5CE54FD2D18A}"/>
              </a:ext>
            </a:extLst>
          </p:cNvPr>
          <p:cNvSpPr>
            <a:spLocks noGrp="1"/>
          </p:cNvSpPr>
          <p:nvPr>
            <p:ph type="sldNum" sz="quarter" idx="12"/>
          </p:nvPr>
        </p:nvSpPr>
        <p:spPr>
          <a:xfrm>
            <a:off x="11296611" y="6070142"/>
            <a:ext cx="731600" cy="524800"/>
          </a:xfrm>
        </p:spPr>
        <p:txBody>
          <a:bodyPr/>
          <a:lstStyle/>
          <a:p>
            <a:fld id="{B8DACC02-A2BD-4578-8E03-6D891060A695}" type="slidenum">
              <a:rPr lang="en-US" smtClean="0"/>
              <a:t>72</a:t>
            </a:fld>
            <a:endParaRPr lang="en-US"/>
          </a:p>
        </p:txBody>
      </p:sp>
      <p:sp>
        <p:nvSpPr>
          <p:cNvPr id="3" name="Rectangle 2">
            <a:extLst>
              <a:ext uri="{FF2B5EF4-FFF2-40B4-BE49-F238E27FC236}">
                <a16:creationId xmlns:a16="http://schemas.microsoft.com/office/drawing/2014/main" id="{F4DF5DFD-3B87-FC6A-2E76-B6B0D6953FFA}"/>
              </a:ext>
            </a:extLst>
          </p:cNvPr>
          <p:cNvSpPr/>
          <p:nvPr/>
        </p:nvSpPr>
        <p:spPr>
          <a:xfrm>
            <a:off x="681473" y="397902"/>
            <a:ext cx="3057247" cy="369332"/>
          </a:xfrm>
          <a:prstGeom prst="rect">
            <a:avLst/>
          </a:prstGeom>
        </p:spPr>
        <p:txBody>
          <a:bodyPr wrap="none">
            <a:spAutoFit/>
          </a:bodyPr>
          <a:lstStyle/>
          <a:p>
            <a:r>
              <a:rPr lang="en-IN" b="1" dirty="0"/>
              <a:t>DevOps Lifecycle (Contd.)</a:t>
            </a:r>
          </a:p>
        </p:txBody>
      </p:sp>
      <p:sp>
        <p:nvSpPr>
          <p:cNvPr id="4" name="Rectangle 3">
            <a:extLst>
              <a:ext uri="{FF2B5EF4-FFF2-40B4-BE49-F238E27FC236}">
                <a16:creationId xmlns:a16="http://schemas.microsoft.com/office/drawing/2014/main" id="{5F5429F3-0E34-106C-79D4-BCBAEDB3AA80}"/>
              </a:ext>
            </a:extLst>
          </p:cNvPr>
          <p:cNvSpPr/>
          <p:nvPr/>
        </p:nvSpPr>
        <p:spPr>
          <a:xfrm>
            <a:off x="681473" y="1364188"/>
            <a:ext cx="8872260" cy="3780522"/>
          </a:xfrm>
          <a:prstGeom prst="rect">
            <a:avLst/>
          </a:prstGeom>
        </p:spPr>
        <p:txBody>
          <a:bodyPr wrap="square">
            <a:spAutoFit/>
          </a:bodyPr>
          <a:lstStyle/>
          <a:p>
            <a:pPr>
              <a:lnSpc>
                <a:spcPct val="150000"/>
              </a:lnSpc>
            </a:pPr>
            <a:r>
              <a:rPr lang="en-US" b="1" dirty="0"/>
              <a:t>Stage 4: Continuous Deployment(Recap)</a:t>
            </a:r>
          </a:p>
          <a:p>
            <a:pPr>
              <a:lnSpc>
                <a:spcPct val="150000"/>
              </a:lnSpc>
            </a:pPr>
            <a:endParaRPr lang="en-US" b="1" dirty="0"/>
          </a:p>
          <a:p>
            <a:pPr marL="342900" indent="-342900">
              <a:lnSpc>
                <a:spcPct val="150000"/>
              </a:lnSpc>
              <a:buFont typeface="+mj-lt"/>
              <a:buAutoNum type="arabicPeriod"/>
            </a:pPr>
            <a:r>
              <a:rPr lang="en-US" dirty="0"/>
              <a:t>Ensures </a:t>
            </a:r>
            <a:r>
              <a:rPr lang="en-US" b="1" dirty="0"/>
              <a:t>consistent environments</a:t>
            </a:r>
            <a:r>
              <a:rPr lang="en-US" dirty="0"/>
              <a:t> across development, testing, and production.</a:t>
            </a:r>
          </a:p>
          <a:p>
            <a:pPr marL="342900" indent="-342900">
              <a:lnSpc>
                <a:spcPct val="150000"/>
              </a:lnSpc>
              <a:buFont typeface="+mj-lt"/>
              <a:buAutoNum type="arabicPeriod"/>
            </a:pPr>
            <a:r>
              <a:rPr lang="en-US" dirty="0"/>
              <a:t>Helps achieve </a:t>
            </a:r>
            <a:r>
              <a:rPr lang="en-US" b="1" dirty="0"/>
              <a:t>consistent and high-quality releases</a:t>
            </a:r>
            <a:r>
              <a:rPr lang="en-US" dirty="0"/>
              <a:t>.</a:t>
            </a:r>
          </a:p>
          <a:p>
            <a:pPr marL="342900" indent="-342900">
              <a:lnSpc>
                <a:spcPct val="150000"/>
              </a:lnSpc>
              <a:buFont typeface="+mj-lt"/>
              <a:buAutoNum type="arabicPeriod"/>
            </a:pPr>
            <a:r>
              <a:rPr lang="en-US" b="1" dirty="0"/>
              <a:t>Reduces manual deployment effort</a:t>
            </a:r>
            <a:r>
              <a:rPr lang="en-US" dirty="0"/>
              <a:t> and minimizes human errors.</a:t>
            </a:r>
          </a:p>
          <a:p>
            <a:pPr marL="342900" indent="-342900">
              <a:lnSpc>
                <a:spcPct val="150000"/>
              </a:lnSpc>
              <a:buFont typeface="+mj-lt"/>
              <a:buAutoNum type="arabicPeriod"/>
            </a:pPr>
            <a:r>
              <a:rPr lang="en-US" dirty="0"/>
              <a:t>Containerization </a:t>
            </a:r>
            <a:r>
              <a:rPr lang="en-US" b="1" dirty="0"/>
              <a:t>packages applications with all dependencies</a:t>
            </a:r>
            <a:r>
              <a:rPr lang="en-US" dirty="0"/>
              <a:t>, ensuring uniform behavior across environments.</a:t>
            </a:r>
          </a:p>
          <a:p>
            <a:pPr marL="342900" indent="-342900">
              <a:lnSpc>
                <a:spcPct val="150000"/>
              </a:lnSpc>
              <a:buFont typeface="+mj-lt"/>
              <a:buAutoNum type="arabicPeriod"/>
            </a:pPr>
            <a:r>
              <a:rPr lang="en-US" b="1" dirty="0"/>
              <a:t>Docker</a:t>
            </a:r>
            <a:r>
              <a:rPr lang="en-US" dirty="0"/>
              <a:t> is the most widely used containerization tool.</a:t>
            </a:r>
          </a:p>
          <a:p>
            <a:pPr>
              <a:lnSpc>
                <a:spcPct val="150000"/>
              </a:lnSpc>
            </a:pPr>
            <a:endParaRPr lang="en-US" b="1" dirty="0"/>
          </a:p>
        </p:txBody>
      </p:sp>
    </p:spTree>
    <p:extLst>
      <p:ext uri="{BB962C8B-B14F-4D97-AF65-F5344CB8AC3E}">
        <p14:creationId xmlns:p14="http://schemas.microsoft.com/office/powerpoint/2010/main" val="176034409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6003771" y="1822540"/>
            <a:ext cx="5658640" cy="2695951"/>
          </a:xfrm>
          <a:prstGeom prst="rect">
            <a:avLst/>
          </a:prstGeom>
        </p:spPr>
      </p:pic>
      <p:sp>
        <p:nvSpPr>
          <p:cNvPr id="2" name="Slide Number Placeholder 1"/>
          <p:cNvSpPr>
            <a:spLocks noGrp="1"/>
          </p:cNvSpPr>
          <p:nvPr>
            <p:ph type="sldNum" sz="quarter" idx="12"/>
          </p:nvPr>
        </p:nvSpPr>
        <p:spPr>
          <a:xfrm>
            <a:off x="11296611" y="6070142"/>
            <a:ext cx="731600" cy="524800"/>
          </a:xfrm>
        </p:spPr>
        <p:txBody>
          <a:bodyPr/>
          <a:lstStyle/>
          <a:p>
            <a:fld id="{B8DACC02-A2BD-4578-8E03-6D891060A695}" type="slidenum">
              <a:rPr lang="en-US" smtClean="0"/>
              <a:t>73</a:t>
            </a:fld>
            <a:endParaRPr lang="en-US"/>
          </a:p>
        </p:txBody>
      </p:sp>
      <p:sp>
        <p:nvSpPr>
          <p:cNvPr id="3" name="Rectangle 2"/>
          <p:cNvSpPr/>
          <p:nvPr/>
        </p:nvSpPr>
        <p:spPr>
          <a:xfrm>
            <a:off x="681473" y="692874"/>
            <a:ext cx="3374642" cy="400110"/>
          </a:xfrm>
          <a:prstGeom prst="rect">
            <a:avLst/>
          </a:prstGeom>
        </p:spPr>
        <p:txBody>
          <a:bodyPr wrap="none">
            <a:spAutoFit/>
          </a:bodyPr>
          <a:lstStyle/>
          <a:p>
            <a:r>
              <a:rPr lang="en-IN" sz="2000" b="1" dirty="0"/>
              <a:t>DevOps Lifecycle (Contd.)</a:t>
            </a:r>
          </a:p>
        </p:txBody>
      </p:sp>
      <p:sp>
        <p:nvSpPr>
          <p:cNvPr id="4" name="Rectangle 3"/>
          <p:cNvSpPr/>
          <p:nvPr/>
        </p:nvSpPr>
        <p:spPr>
          <a:xfrm>
            <a:off x="655198" y="1527894"/>
            <a:ext cx="11007213" cy="4247317"/>
          </a:xfrm>
          <a:prstGeom prst="rect">
            <a:avLst/>
          </a:prstGeom>
        </p:spPr>
        <p:txBody>
          <a:bodyPr wrap="square">
            <a:spAutoFit/>
          </a:bodyPr>
          <a:lstStyle/>
          <a:p>
            <a:pPr>
              <a:lnSpc>
                <a:spcPct val="150000"/>
              </a:lnSpc>
            </a:pPr>
            <a:r>
              <a:rPr lang="en-US" b="1" dirty="0"/>
              <a:t>Stage 4: Continuous Deployment   (Contd.)</a:t>
            </a:r>
          </a:p>
          <a:p>
            <a:endParaRPr lang="en-US" dirty="0"/>
          </a:p>
          <a:p>
            <a:endParaRPr lang="en-US" dirty="0"/>
          </a:p>
          <a:p>
            <a:r>
              <a:rPr lang="en-US" b="1" dirty="0"/>
              <a:t>Configuration Management Tools</a:t>
            </a:r>
          </a:p>
          <a:p>
            <a:pPr lvl="1"/>
            <a:r>
              <a:rPr lang="en-US" dirty="0"/>
              <a:t>Puppet</a:t>
            </a:r>
          </a:p>
          <a:p>
            <a:pPr lvl="1"/>
            <a:r>
              <a:rPr lang="en-US" dirty="0"/>
              <a:t>Chef</a:t>
            </a:r>
          </a:p>
          <a:p>
            <a:pPr lvl="1"/>
            <a:r>
              <a:rPr lang="en-US" dirty="0" err="1"/>
              <a:t>Ansible</a:t>
            </a:r>
            <a:endParaRPr lang="en-US" dirty="0"/>
          </a:p>
          <a:p>
            <a:pPr lvl="1"/>
            <a:r>
              <a:rPr lang="en-US" dirty="0" err="1"/>
              <a:t>SaltStack</a:t>
            </a:r>
            <a:endParaRPr lang="en-US" dirty="0"/>
          </a:p>
          <a:p>
            <a:endParaRPr lang="en-US" b="1" dirty="0"/>
          </a:p>
          <a:p>
            <a:r>
              <a:rPr lang="en-US" b="1" dirty="0"/>
              <a:t>Cloud Platforms Supporting Containers</a:t>
            </a:r>
          </a:p>
          <a:p>
            <a:pPr lvl="1"/>
            <a:r>
              <a:rPr lang="en-US" dirty="0"/>
              <a:t>AWS ECS</a:t>
            </a:r>
          </a:p>
          <a:p>
            <a:pPr lvl="1"/>
            <a:r>
              <a:rPr lang="en-US" dirty="0"/>
              <a:t>Azure Container Service</a:t>
            </a:r>
          </a:p>
          <a:p>
            <a:pPr lvl="1"/>
            <a:r>
              <a:rPr lang="en-US" dirty="0"/>
              <a:t>Google Container Engine</a:t>
            </a:r>
          </a:p>
          <a:p>
            <a:pPr>
              <a:lnSpc>
                <a:spcPct val="150000"/>
              </a:lnSpc>
            </a:pPr>
            <a:endParaRPr lang="en-US" b="1" dirty="0"/>
          </a:p>
        </p:txBody>
      </p:sp>
    </p:spTree>
    <p:extLst>
      <p:ext uri="{BB962C8B-B14F-4D97-AF65-F5344CB8AC3E}">
        <p14:creationId xmlns:p14="http://schemas.microsoft.com/office/powerpoint/2010/main" val="240001698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109D0-1569-9F60-C520-A8854AE41C6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58DEC86-3AA8-5A9A-EDB0-D9FDC305E663}"/>
              </a:ext>
            </a:extLst>
          </p:cNvPr>
          <p:cNvSpPr>
            <a:spLocks noGrp="1"/>
          </p:cNvSpPr>
          <p:nvPr>
            <p:ph type="title"/>
          </p:nvPr>
        </p:nvSpPr>
        <p:spPr/>
        <p:txBody>
          <a:bodyPr/>
          <a:lstStyle/>
          <a:p>
            <a:r>
              <a:rPr lang="en-IN" dirty="0"/>
              <a:t>Continuous Monitoring</a:t>
            </a:r>
          </a:p>
        </p:txBody>
      </p:sp>
      <p:sp>
        <p:nvSpPr>
          <p:cNvPr id="2" name="Slide Number Placeholder 1">
            <a:extLst>
              <a:ext uri="{FF2B5EF4-FFF2-40B4-BE49-F238E27FC236}">
                <a16:creationId xmlns:a16="http://schemas.microsoft.com/office/drawing/2014/main" id="{40DEE328-C2D9-8F16-7610-6A418C984B4C}"/>
              </a:ext>
            </a:extLst>
          </p:cNvPr>
          <p:cNvSpPr>
            <a:spLocks noGrp="1"/>
          </p:cNvSpPr>
          <p:nvPr>
            <p:ph type="sldNum" sz="quarter" idx="4294967295"/>
          </p:nvPr>
        </p:nvSpPr>
        <p:spPr>
          <a:xfrm>
            <a:off x="11460163" y="6218238"/>
            <a:ext cx="731837" cy="523875"/>
          </a:xfrm>
        </p:spPr>
        <p:txBody>
          <a:bodyPr/>
          <a:lstStyle/>
          <a:p>
            <a:fld id="{B8DACC02-A2BD-4578-8E03-6D891060A695}" type="slidenum">
              <a:rPr lang="en-US" smtClean="0"/>
              <a:t>74</a:t>
            </a:fld>
            <a:endParaRPr lang="en-US"/>
          </a:p>
        </p:txBody>
      </p:sp>
    </p:spTree>
    <p:extLst>
      <p:ext uri="{BB962C8B-B14F-4D97-AF65-F5344CB8AC3E}">
        <p14:creationId xmlns:p14="http://schemas.microsoft.com/office/powerpoint/2010/main" val="351851722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CCC092C-1989-FA8B-95BE-63D64F6F0945}"/>
              </a:ext>
            </a:extLst>
          </p:cNvPr>
          <p:cNvSpPr>
            <a:spLocks noGrp="1"/>
          </p:cNvSpPr>
          <p:nvPr>
            <p:ph type="sldNum" sz="quarter" idx="12"/>
          </p:nvPr>
        </p:nvSpPr>
        <p:spPr/>
        <p:txBody>
          <a:bodyPr/>
          <a:lstStyle/>
          <a:p>
            <a:fld id="{B8DACC02-A2BD-4578-8E03-6D891060A695}" type="slidenum">
              <a:rPr lang="en-US" smtClean="0"/>
              <a:t>75</a:t>
            </a:fld>
            <a:endParaRPr lang="en-US"/>
          </a:p>
        </p:txBody>
      </p:sp>
      <p:pic>
        <p:nvPicPr>
          <p:cNvPr id="4" name="Picture 3">
            <a:extLst>
              <a:ext uri="{FF2B5EF4-FFF2-40B4-BE49-F238E27FC236}">
                <a16:creationId xmlns:a16="http://schemas.microsoft.com/office/drawing/2014/main" id="{6C04DFE4-BF3D-7D8B-65A1-623CFF9B154D}"/>
              </a:ext>
            </a:extLst>
          </p:cNvPr>
          <p:cNvPicPr>
            <a:picLocks noChangeAspect="1"/>
          </p:cNvPicPr>
          <p:nvPr/>
        </p:nvPicPr>
        <p:blipFill>
          <a:blip r:embed="rId2"/>
          <a:stretch>
            <a:fillRect/>
          </a:stretch>
        </p:blipFill>
        <p:spPr>
          <a:xfrm>
            <a:off x="507137" y="0"/>
            <a:ext cx="11177725" cy="6858000"/>
          </a:xfrm>
          <a:prstGeom prst="rect">
            <a:avLst/>
          </a:prstGeom>
        </p:spPr>
      </p:pic>
    </p:spTree>
    <p:extLst>
      <p:ext uri="{BB962C8B-B14F-4D97-AF65-F5344CB8AC3E}">
        <p14:creationId xmlns:p14="http://schemas.microsoft.com/office/powerpoint/2010/main" val="55820933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11296611" y="5435965"/>
            <a:ext cx="731600" cy="524800"/>
          </a:xfrm>
        </p:spPr>
        <p:txBody>
          <a:bodyPr/>
          <a:lstStyle/>
          <a:p>
            <a:fld id="{B8DACC02-A2BD-4578-8E03-6D891060A695}" type="slidenum">
              <a:rPr lang="en-US" smtClean="0"/>
              <a:t>76</a:t>
            </a:fld>
            <a:endParaRPr lang="en-US"/>
          </a:p>
        </p:txBody>
      </p:sp>
      <p:sp>
        <p:nvSpPr>
          <p:cNvPr id="3" name="Rectangle 2"/>
          <p:cNvSpPr/>
          <p:nvPr/>
        </p:nvSpPr>
        <p:spPr>
          <a:xfrm>
            <a:off x="688257" y="633875"/>
            <a:ext cx="3374642" cy="400110"/>
          </a:xfrm>
          <a:prstGeom prst="rect">
            <a:avLst/>
          </a:prstGeom>
        </p:spPr>
        <p:txBody>
          <a:bodyPr wrap="none">
            <a:spAutoFit/>
          </a:bodyPr>
          <a:lstStyle/>
          <a:p>
            <a:r>
              <a:rPr lang="en-IN" sz="2000" b="1" dirty="0"/>
              <a:t>DevOps Lifecycle (Contd.)</a:t>
            </a:r>
          </a:p>
        </p:txBody>
      </p:sp>
      <p:sp>
        <p:nvSpPr>
          <p:cNvPr id="4" name="Rectangle 3"/>
          <p:cNvSpPr/>
          <p:nvPr/>
        </p:nvSpPr>
        <p:spPr>
          <a:xfrm>
            <a:off x="688257" y="1719888"/>
            <a:ext cx="9738853" cy="3780522"/>
          </a:xfrm>
          <a:prstGeom prst="rect">
            <a:avLst/>
          </a:prstGeom>
        </p:spPr>
        <p:txBody>
          <a:bodyPr wrap="square">
            <a:spAutoFit/>
          </a:bodyPr>
          <a:lstStyle/>
          <a:p>
            <a:pPr>
              <a:lnSpc>
                <a:spcPct val="150000"/>
              </a:lnSpc>
            </a:pPr>
            <a:r>
              <a:rPr lang="en-US" b="1" dirty="0"/>
              <a:t>Stage 5: Continuous Monitoring</a:t>
            </a:r>
          </a:p>
          <a:p>
            <a:pPr lvl="0" eaLnBrk="0" fontAlgn="base" hangingPunct="0">
              <a:lnSpc>
                <a:spcPct val="150000"/>
              </a:lnSpc>
              <a:spcBef>
                <a:spcPct val="0"/>
              </a:spcBef>
              <a:spcAft>
                <a:spcPct val="0"/>
              </a:spcAft>
              <a:buFontTx/>
              <a:buChar char="•"/>
            </a:pPr>
            <a:endParaRPr lang="en-US" altLang="en-US" dirty="0">
              <a:latin typeface="Arial" panose="020B0604020202020204" pitchFamily="34" charset="0"/>
            </a:endParaRPr>
          </a:p>
          <a:p>
            <a:pPr lvl="0" eaLnBrk="0" fontAlgn="base" hangingPunct="0">
              <a:lnSpc>
                <a:spcPct val="150000"/>
              </a:lnSpc>
              <a:spcBef>
                <a:spcPct val="0"/>
              </a:spcBef>
              <a:spcAft>
                <a:spcPct val="0"/>
              </a:spcAft>
              <a:buFontTx/>
              <a:buChar char="•"/>
            </a:pPr>
            <a:r>
              <a:rPr lang="en-US" dirty="0"/>
              <a:t>Once code is deployed and live, the job isn't done. Continuous Monitoring means the system is watched 24/7, automatically, so problems are caught before users even notice them. It is the safety net of the entire DevOps lifecycle.</a:t>
            </a:r>
          </a:p>
          <a:p>
            <a:pPr lvl="0" eaLnBrk="0" fontAlgn="base" hangingPunct="0">
              <a:lnSpc>
                <a:spcPct val="150000"/>
              </a:lnSpc>
              <a:spcBef>
                <a:spcPct val="0"/>
              </a:spcBef>
              <a:spcAft>
                <a:spcPct val="0"/>
              </a:spcAft>
              <a:buFontTx/>
              <a:buChar char="•"/>
            </a:pPr>
            <a:endParaRPr lang="en-US" altLang="en-US" dirty="0">
              <a:latin typeface="Arial" panose="020B0604020202020204" pitchFamily="34" charset="0"/>
            </a:endParaRPr>
          </a:p>
          <a:p>
            <a:pPr lvl="0" eaLnBrk="0" fontAlgn="base" hangingPunct="0">
              <a:lnSpc>
                <a:spcPct val="150000"/>
              </a:lnSpc>
              <a:spcBef>
                <a:spcPct val="0"/>
              </a:spcBef>
              <a:spcAft>
                <a:spcPct val="0"/>
              </a:spcAft>
              <a:buFontTx/>
              <a:buChar char="•"/>
            </a:pPr>
            <a:r>
              <a:rPr lang="en-US" b="1" dirty="0"/>
              <a:t>Infrastructure metrics</a:t>
            </a:r>
            <a:r>
              <a:rPr lang="en-US" dirty="0"/>
              <a:t> track the health of the servers and cloud resources running the app- CPU usage, RAM consumption, disk I/O, and network throughput. If a server is running out of memory, this catches it.</a:t>
            </a:r>
            <a:endParaRPr lang="en-US" altLang="en-US" dirty="0">
              <a:latin typeface="Arial" panose="020B0604020202020204" pitchFamily="34" charset="0"/>
            </a:endParaRPr>
          </a:p>
        </p:txBody>
      </p:sp>
    </p:spTree>
    <p:extLst>
      <p:ext uri="{BB962C8B-B14F-4D97-AF65-F5344CB8AC3E}">
        <p14:creationId xmlns:p14="http://schemas.microsoft.com/office/powerpoint/2010/main" val="187349220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B8920-C271-6320-2811-87D2DB57C4C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D48BE67-C154-E72A-A547-FF07C2F08F65}"/>
              </a:ext>
            </a:extLst>
          </p:cNvPr>
          <p:cNvSpPr>
            <a:spLocks noGrp="1"/>
          </p:cNvSpPr>
          <p:nvPr>
            <p:ph type="sldNum" sz="quarter" idx="12"/>
          </p:nvPr>
        </p:nvSpPr>
        <p:spPr>
          <a:xfrm>
            <a:off x="11296611" y="5435965"/>
            <a:ext cx="731600" cy="524800"/>
          </a:xfrm>
        </p:spPr>
        <p:txBody>
          <a:bodyPr/>
          <a:lstStyle/>
          <a:p>
            <a:fld id="{B8DACC02-A2BD-4578-8E03-6D891060A695}" type="slidenum">
              <a:rPr lang="en-US" smtClean="0"/>
              <a:t>77</a:t>
            </a:fld>
            <a:endParaRPr lang="en-US"/>
          </a:p>
        </p:txBody>
      </p:sp>
      <p:sp>
        <p:nvSpPr>
          <p:cNvPr id="3" name="Rectangle 2">
            <a:extLst>
              <a:ext uri="{FF2B5EF4-FFF2-40B4-BE49-F238E27FC236}">
                <a16:creationId xmlns:a16="http://schemas.microsoft.com/office/drawing/2014/main" id="{74DBC3D1-F680-211D-EF60-024F18520E3C}"/>
              </a:ext>
            </a:extLst>
          </p:cNvPr>
          <p:cNvSpPr/>
          <p:nvPr/>
        </p:nvSpPr>
        <p:spPr>
          <a:xfrm>
            <a:off x="688257" y="633875"/>
            <a:ext cx="3374642" cy="400110"/>
          </a:xfrm>
          <a:prstGeom prst="rect">
            <a:avLst/>
          </a:prstGeom>
        </p:spPr>
        <p:txBody>
          <a:bodyPr wrap="none">
            <a:spAutoFit/>
          </a:bodyPr>
          <a:lstStyle/>
          <a:p>
            <a:r>
              <a:rPr lang="en-IN" sz="2000" b="1" dirty="0"/>
              <a:t>DevOps Lifecycle (Contd.)</a:t>
            </a:r>
          </a:p>
        </p:txBody>
      </p:sp>
      <p:sp>
        <p:nvSpPr>
          <p:cNvPr id="4" name="Rectangle 3">
            <a:extLst>
              <a:ext uri="{FF2B5EF4-FFF2-40B4-BE49-F238E27FC236}">
                <a16:creationId xmlns:a16="http://schemas.microsoft.com/office/drawing/2014/main" id="{21F76C11-480A-3F95-B662-9ADBF24A6E5C}"/>
              </a:ext>
            </a:extLst>
          </p:cNvPr>
          <p:cNvSpPr/>
          <p:nvPr/>
        </p:nvSpPr>
        <p:spPr>
          <a:xfrm>
            <a:off x="688257" y="1719888"/>
            <a:ext cx="9738853" cy="4196020"/>
          </a:xfrm>
          <a:prstGeom prst="rect">
            <a:avLst/>
          </a:prstGeom>
        </p:spPr>
        <p:txBody>
          <a:bodyPr wrap="square">
            <a:spAutoFit/>
          </a:bodyPr>
          <a:lstStyle/>
          <a:p>
            <a:pPr>
              <a:lnSpc>
                <a:spcPct val="150000"/>
              </a:lnSpc>
            </a:pPr>
            <a:r>
              <a:rPr lang="en-US" b="1" dirty="0"/>
              <a:t>Stage 5: Continuous Monitoring</a:t>
            </a:r>
          </a:p>
          <a:p>
            <a:pPr lvl="0" eaLnBrk="0" fontAlgn="base" hangingPunct="0">
              <a:lnSpc>
                <a:spcPct val="150000"/>
              </a:lnSpc>
              <a:spcBef>
                <a:spcPct val="0"/>
              </a:spcBef>
              <a:spcAft>
                <a:spcPct val="0"/>
              </a:spcAft>
              <a:buFontTx/>
              <a:buChar char="•"/>
            </a:pPr>
            <a:endParaRPr lang="en-US" altLang="en-US" dirty="0">
              <a:latin typeface="Arial" panose="020B0604020202020204" pitchFamily="34" charset="0"/>
            </a:endParaRPr>
          </a:p>
          <a:p>
            <a:pPr lvl="0" eaLnBrk="0" fontAlgn="base" hangingPunct="0">
              <a:lnSpc>
                <a:spcPct val="150000"/>
              </a:lnSpc>
              <a:spcBef>
                <a:spcPct val="0"/>
              </a:spcBef>
              <a:spcAft>
                <a:spcPct val="0"/>
              </a:spcAft>
              <a:buFontTx/>
              <a:buChar char="•"/>
            </a:pPr>
            <a:r>
              <a:rPr lang="en-US" b="1" dirty="0"/>
              <a:t>Application metrics</a:t>
            </a:r>
            <a:r>
              <a:rPr lang="en-US" dirty="0"/>
              <a:t> track how the software itself is performing, response times (latency), request throughput, error rates, and queue depths. These reveal whether the code is behaving correctly under real load.</a:t>
            </a:r>
          </a:p>
          <a:p>
            <a:pPr lvl="0" eaLnBrk="0" fontAlgn="base" hangingPunct="0">
              <a:lnSpc>
                <a:spcPct val="150000"/>
              </a:lnSpc>
              <a:spcBef>
                <a:spcPct val="0"/>
              </a:spcBef>
              <a:spcAft>
                <a:spcPct val="0"/>
              </a:spcAft>
              <a:buFontTx/>
              <a:buChar char="•"/>
            </a:pPr>
            <a:endParaRPr lang="en-US" altLang="en-US" dirty="0">
              <a:latin typeface="Arial" panose="020B0604020202020204" pitchFamily="34" charset="0"/>
            </a:endParaRPr>
          </a:p>
          <a:p>
            <a:pPr lvl="0" eaLnBrk="0" fontAlgn="base" hangingPunct="0">
              <a:lnSpc>
                <a:spcPct val="150000"/>
              </a:lnSpc>
              <a:spcBef>
                <a:spcPct val="0"/>
              </a:spcBef>
              <a:spcAft>
                <a:spcPct val="0"/>
              </a:spcAft>
              <a:buFontTx/>
              <a:buChar char="•"/>
            </a:pPr>
            <a:r>
              <a:rPr lang="en-US" b="1" dirty="0"/>
              <a:t>Logs</a:t>
            </a:r>
            <a:r>
              <a:rPr lang="en-US" dirty="0"/>
              <a:t> are detailed event records generated by the application — every request handled, every exception thrown, every database call made. Tools like the ELK Stack (Elasticsearch, Logstash, Kibana) or Splunk aggregate and search these. They're essential for diagnosing exactly </a:t>
            </a:r>
            <a:r>
              <a:rPr lang="en-US" i="1" dirty="0"/>
              <a:t>what</a:t>
            </a:r>
            <a:r>
              <a:rPr lang="en-US" dirty="0"/>
              <a:t> went wrong.</a:t>
            </a:r>
            <a:endParaRPr lang="en-US" altLang="en-US" dirty="0">
              <a:latin typeface="Arial" panose="020B0604020202020204" pitchFamily="34" charset="0"/>
            </a:endParaRPr>
          </a:p>
        </p:txBody>
      </p:sp>
    </p:spTree>
    <p:extLst>
      <p:ext uri="{BB962C8B-B14F-4D97-AF65-F5344CB8AC3E}">
        <p14:creationId xmlns:p14="http://schemas.microsoft.com/office/powerpoint/2010/main" val="246403867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519FD-F43B-6959-C3B6-491140B4343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94E6DD9-901D-5A3A-0C07-4B326715D0E8}"/>
              </a:ext>
            </a:extLst>
          </p:cNvPr>
          <p:cNvSpPr>
            <a:spLocks noGrp="1"/>
          </p:cNvSpPr>
          <p:nvPr>
            <p:ph type="sldNum" sz="quarter" idx="12"/>
          </p:nvPr>
        </p:nvSpPr>
        <p:spPr>
          <a:xfrm>
            <a:off x="11296611" y="5435965"/>
            <a:ext cx="731600" cy="524800"/>
          </a:xfrm>
        </p:spPr>
        <p:txBody>
          <a:bodyPr/>
          <a:lstStyle/>
          <a:p>
            <a:fld id="{B8DACC02-A2BD-4578-8E03-6D891060A695}" type="slidenum">
              <a:rPr lang="en-US" smtClean="0"/>
              <a:t>78</a:t>
            </a:fld>
            <a:endParaRPr lang="en-US"/>
          </a:p>
        </p:txBody>
      </p:sp>
      <p:sp>
        <p:nvSpPr>
          <p:cNvPr id="3" name="Rectangle 2">
            <a:extLst>
              <a:ext uri="{FF2B5EF4-FFF2-40B4-BE49-F238E27FC236}">
                <a16:creationId xmlns:a16="http://schemas.microsoft.com/office/drawing/2014/main" id="{5FCB7462-82F4-BFBB-F3C0-65D96B68CEF1}"/>
              </a:ext>
            </a:extLst>
          </p:cNvPr>
          <p:cNvSpPr/>
          <p:nvPr/>
        </p:nvSpPr>
        <p:spPr>
          <a:xfrm>
            <a:off x="688257" y="633875"/>
            <a:ext cx="3374642" cy="400110"/>
          </a:xfrm>
          <a:prstGeom prst="rect">
            <a:avLst/>
          </a:prstGeom>
        </p:spPr>
        <p:txBody>
          <a:bodyPr wrap="none">
            <a:spAutoFit/>
          </a:bodyPr>
          <a:lstStyle/>
          <a:p>
            <a:r>
              <a:rPr lang="en-IN" sz="2000" b="1" dirty="0"/>
              <a:t>DevOps Lifecycle (Contd.)</a:t>
            </a:r>
          </a:p>
        </p:txBody>
      </p:sp>
      <p:sp>
        <p:nvSpPr>
          <p:cNvPr id="4" name="Rectangle 3">
            <a:extLst>
              <a:ext uri="{FF2B5EF4-FFF2-40B4-BE49-F238E27FC236}">
                <a16:creationId xmlns:a16="http://schemas.microsoft.com/office/drawing/2014/main" id="{B6C44DA1-8B3D-427F-CC3E-93B6CD4F6B14}"/>
              </a:ext>
            </a:extLst>
          </p:cNvPr>
          <p:cNvSpPr/>
          <p:nvPr/>
        </p:nvSpPr>
        <p:spPr>
          <a:xfrm>
            <a:off x="688257" y="1719888"/>
            <a:ext cx="11218608" cy="4247317"/>
          </a:xfrm>
          <a:prstGeom prst="rect">
            <a:avLst/>
          </a:prstGeom>
        </p:spPr>
        <p:txBody>
          <a:bodyPr wrap="square">
            <a:spAutoFit/>
          </a:bodyPr>
          <a:lstStyle/>
          <a:p>
            <a:pPr>
              <a:lnSpc>
                <a:spcPct val="150000"/>
              </a:lnSpc>
            </a:pPr>
            <a:r>
              <a:rPr lang="en-US" b="1" dirty="0"/>
              <a:t>Stage 5: Continuous Monitoring</a:t>
            </a:r>
          </a:p>
          <a:p>
            <a:pPr lvl="0" eaLnBrk="0" fontAlgn="base" hangingPunct="0">
              <a:lnSpc>
                <a:spcPct val="150000"/>
              </a:lnSpc>
              <a:spcBef>
                <a:spcPct val="0"/>
              </a:spcBef>
              <a:spcAft>
                <a:spcPct val="0"/>
              </a:spcAft>
              <a:buFontTx/>
              <a:buChar char="•"/>
            </a:pPr>
            <a:endParaRPr lang="en-US" altLang="en-US" dirty="0">
              <a:latin typeface="Arial" panose="020B0604020202020204" pitchFamily="34" charset="0"/>
            </a:endParaRPr>
          </a:p>
          <a:p>
            <a:pPr lvl="0" eaLnBrk="0" fontAlgn="base" hangingPunct="0">
              <a:lnSpc>
                <a:spcPct val="150000"/>
              </a:lnSpc>
              <a:spcBef>
                <a:spcPct val="0"/>
              </a:spcBef>
              <a:spcAft>
                <a:spcPct val="0"/>
              </a:spcAft>
              <a:buFontTx/>
              <a:buChar char="•"/>
            </a:pPr>
            <a:r>
              <a:rPr lang="en-US" b="1" dirty="0"/>
              <a:t>UX signals</a:t>
            </a:r>
            <a:r>
              <a:rPr lang="en-US" dirty="0"/>
              <a:t> come from the end-user side- real user monitoring (RUM) tools measure actual page load times, JavaScript errors in the browser, and mobile app crash rates. This catches issues that only appear on certain devices or network conditions.</a:t>
            </a:r>
          </a:p>
          <a:p>
            <a:pPr lvl="0" eaLnBrk="0" fontAlgn="base" hangingPunct="0">
              <a:lnSpc>
                <a:spcPct val="150000"/>
              </a:lnSpc>
              <a:spcBef>
                <a:spcPct val="0"/>
              </a:spcBef>
              <a:spcAft>
                <a:spcPct val="0"/>
              </a:spcAft>
              <a:buFontTx/>
              <a:buChar char="•"/>
            </a:pPr>
            <a:endParaRPr lang="en-US" altLang="en-US" dirty="0">
              <a:latin typeface="Arial" panose="020B0604020202020204" pitchFamily="34" charset="0"/>
            </a:endParaRPr>
          </a:p>
          <a:p>
            <a:r>
              <a:rPr lang="en-US" dirty="0"/>
              <a:t>The ops team (also called SRE - Site Reliability Engineers) owns this stage. Their responsibilities include:</a:t>
            </a:r>
          </a:p>
          <a:p>
            <a:pPr marL="285750" indent="-285750">
              <a:buFont typeface="Arial" panose="020B0604020202020204" pitchFamily="34" charset="0"/>
              <a:buChar char="•"/>
            </a:pPr>
            <a:r>
              <a:rPr lang="en-US" dirty="0"/>
              <a:t>Maintaining the monitoring infrastructure and keeping dashboards up to date</a:t>
            </a:r>
          </a:p>
          <a:p>
            <a:pPr marL="285750" indent="-285750">
              <a:buFont typeface="Arial" panose="020B0604020202020204" pitchFamily="34" charset="0"/>
              <a:buChar char="•"/>
            </a:pPr>
            <a:r>
              <a:rPr lang="en-US" dirty="0"/>
              <a:t>Writing and tuning alert rules so the team gets notified without alert fatigue.</a:t>
            </a:r>
          </a:p>
          <a:p>
            <a:pPr marL="285750" indent="-285750">
              <a:buFont typeface="Arial" panose="020B0604020202020204" pitchFamily="34" charset="0"/>
              <a:buChar char="•"/>
            </a:pPr>
            <a:r>
              <a:rPr lang="en-US" dirty="0"/>
              <a:t>Being on-call to respond to incidents, often following runbooks (step-by-step response guides)</a:t>
            </a:r>
          </a:p>
          <a:p>
            <a:pPr marL="285750" indent="-285750">
              <a:buFont typeface="Arial" panose="020B0604020202020204" pitchFamily="34" charset="0"/>
              <a:buChar char="•"/>
            </a:pPr>
            <a:r>
              <a:rPr lang="en-US" dirty="0"/>
              <a:t>Performing root cause analysis (RCA) after incidents and writing post-mortems</a:t>
            </a:r>
          </a:p>
          <a:p>
            <a:pPr marL="285750" indent="-285750">
              <a:buFont typeface="Arial" panose="020B0604020202020204" pitchFamily="34" charset="0"/>
              <a:buChar char="•"/>
            </a:pPr>
            <a:r>
              <a:rPr lang="en-US" dirty="0"/>
              <a:t>Feeding findings back into Stage 5 (Continuous Feedback) so developers can fix underlying issues</a:t>
            </a:r>
          </a:p>
        </p:txBody>
      </p:sp>
    </p:spTree>
    <p:extLst>
      <p:ext uri="{BB962C8B-B14F-4D97-AF65-F5344CB8AC3E}">
        <p14:creationId xmlns:p14="http://schemas.microsoft.com/office/powerpoint/2010/main" val="244154760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11296611" y="5435965"/>
            <a:ext cx="731600" cy="524800"/>
          </a:xfrm>
        </p:spPr>
        <p:txBody>
          <a:bodyPr/>
          <a:lstStyle/>
          <a:p>
            <a:fld id="{B8DACC02-A2BD-4578-8E03-6D891060A695}" type="slidenum">
              <a:rPr lang="en-US" smtClean="0"/>
              <a:t>79</a:t>
            </a:fld>
            <a:endParaRPr lang="en-US"/>
          </a:p>
        </p:txBody>
      </p:sp>
      <p:sp>
        <p:nvSpPr>
          <p:cNvPr id="3" name="Rectangle 2"/>
          <p:cNvSpPr/>
          <p:nvPr/>
        </p:nvSpPr>
        <p:spPr>
          <a:xfrm>
            <a:off x="806244" y="574882"/>
            <a:ext cx="3057247" cy="369332"/>
          </a:xfrm>
          <a:prstGeom prst="rect">
            <a:avLst/>
          </a:prstGeom>
        </p:spPr>
        <p:txBody>
          <a:bodyPr wrap="none">
            <a:spAutoFit/>
          </a:bodyPr>
          <a:lstStyle/>
          <a:p>
            <a:r>
              <a:rPr lang="en-IN" b="1" dirty="0"/>
              <a:t>DevOps Lifecycle (Contd.)</a:t>
            </a:r>
          </a:p>
        </p:txBody>
      </p:sp>
      <p:sp>
        <p:nvSpPr>
          <p:cNvPr id="4" name="Rectangle 3"/>
          <p:cNvSpPr/>
          <p:nvPr/>
        </p:nvSpPr>
        <p:spPr>
          <a:xfrm>
            <a:off x="806244" y="1380675"/>
            <a:ext cx="8558981" cy="5355312"/>
          </a:xfrm>
          <a:prstGeom prst="rect">
            <a:avLst/>
          </a:prstGeom>
        </p:spPr>
        <p:txBody>
          <a:bodyPr wrap="square">
            <a:spAutoFit/>
          </a:bodyPr>
          <a:lstStyle/>
          <a:p>
            <a:pPr>
              <a:lnSpc>
                <a:spcPct val="150000"/>
              </a:lnSpc>
            </a:pPr>
            <a:r>
              <a:rPr lang="en-US" b="1" dirty="0"/>
              <a:t>Stage 5: Continuous Monitoring   (Contd.)</a:t>
            </a:r>
          </a:p>
          <a:p>
            <a:pPr lvl="0" eaLnBrk="0" fontAlgn="base" hangingPunct="0">
              <a:lnSpc>
                <a:spcPct val="150000"/>
              </a:lnSpc>
              <a:spcBef>
                <a:spcPct val="0"/>
              </a:spcBef>
              <a:spcAft>
                <a:spcPct val="0"/>
              </a:spcAft>
              <a:buFontTx/>
              <a:buChar char="•"/>
            </a:pPr>
            <a:endParaRPr lang="en-US" altLang="en-US" dirty="0">
              <a:latin typeface="Arial" panose="020B0604020202020204" pitchFamily="34" charset="0"/>
            </a:endParaRPr>
          </a:p>
          <a:p>
            <a:pPr lvl="0" eaLnBrk="0" fontAlgn="base" hangingPunct="0">
              <a:lnSpc>
                <a:spcPct val="150000"/>
              </a:lnSpc>
              <a:spcBef>
                <a:spcPct val="0"/>
              </a:spcBef>
              <a:spcAft>
                <a:spcPct val="0"/>
              </a:spcAft>
              <a:buFontTx/>
              <a:buChar char="•"/>
            </a:pPr>
            <a:r>
              <a:rPr lang="en-US" altLang="en-US" dirty="0">
                <a:latin typeface="Arial" panose="020B0604020202020204" pitchFamily="34" charset="0"/>
              </a:rPr>
              <a:t>Common monitoring tools:</a:t>
            </a:r>
          </a:p>
          <a:p>
            <a:pPr lvl="1" eaLnBrk="0" fontAlgn="base" hangingPunct="0">
              <a:lnSpc>
                <a:spcPct val="150000"/>
              </a:lnSpc>
              <a:spcBef>
                <a:spcPct val="0"/>
              </a:spcBef>
              <a:spcAft>
                <a:spcPct val="0"/>
              </a:spcAft>
              <a:buFontTx/>
              <a:buChar char="•"/>
            </a:pPr>
            <a:r>
              <a:rPr lang="en-US" altLang="en-US" b="1" dirty="0" err="1">
                <a:latin typeface="Arial" panose="020B0604020202020204" pitchFamily="34" charset="0"/>
              </a:rPr>
              <a:t>Splunk</a:t>
            </a:r>
            <a:endParaRPr lang="en-US" altLang="en-US" dirty="0">
              <a:latin typeface="Arial" panose="020B0604020202020204" pitchFamily="34" charset="0"/>
            </a:endParaRPr>
          </a:p>
          <a:p>
            <a:pPr lvl="1" eaLnBrk="0" fontAlgn="base" hangingPunct="0">
              <a:lnSpc>
                <a:spcPct val="150000"/>
              </a:lnSpc>
              <a:spcBef>
                <a:spcPct val="0"/>
              </a:spcBef>
              <a:spcAft>
                <a:spcPct val="0"/>
              </a:spcAft>
              <a:buFontTx/>
              <a:buChar char="•"/>
            </a:pPr>
            <a:r>
              <a:rPr lang="en-US" altLang="en-US" b="1" dirty="0">
                <a:latin typeface="Arial" panose="020B0604020202020204" pitchFamily="34" charset="0"/>
              </a:rPr>
              <a:t>ELK Stack (</a:t>
            </a:r>
            <a:r>
              <a:rPr lang="en-US" altLang="en-US" b="1" dirty="0" err="1">
                <a:latin typeface="Arial" panose="020B0604020202020204" pitchFamily="34" charset="0"/>
              </a:rPr>
              <a:t>Elasticsearch</a:t>
            </a:r>
            <a:r>
              <a:rPr lang="en-US" altLang="en-US" b="1" dirty="0">
                <a:latin typeface="Arial" panose="020B0604020202020204" pitchFamily="34" charset="0"/>
              </a:rPr>
              <a:t>, </a:t>
            </a:r>
            <a:r>
              <a:rPr lang="en-US" altLang="en-US" b="1" dirty="0" err="1">
                <a:latin typeface="Arial" panose="020B0604020202020204" pitchFamily="34" charset="0"/>
              </a:rPr>
              <a:t>Logstash</a:t>
            </a:r>
            <a:r>
              <a:rPr lang="en-US" altLang="en-US" b="1" dirty="0">
                <a:latin typeface="Arial" panose="020B0604020202020204" pitchFamily="34" charset="0"/>
              </a:rPr>
              <a:t>, </a:t>
            </a:r>
            <a:r>
              <a:rPr lang="en-US" altLang="en-US" b="1" dirty="0" err="1">
                <a:latin typeface="Arial" panose="020B0604020202020204" pitchFamily="34" charset="0"/>
              </a:rPr>
              <a:t>Kibana</a:t>
            </a:r>
            <a:r>
              <a:rPr lang="en-US" altLang="en-US" b="1" dirty="0">
                <a:latin typeface="Arial" panose="020B0604020202020204" pitchFamily="34" charset="0"/>
              </a:rPr>
              <a:t>)</a:t>
            </a:r>
            <a:endParaRPr lang="en-US" altLang="en-US" dirty="0">
              <a:latin typeface="Arial" panose="020B0604020202020204" pitchFamily="34" charset="0"/>
            </a:endParaRPr>
          </a:p>
          <a:p>
            <a:pPr lvl="1" eaLnBrk="0" fontAlgn="base" hangingPunct="0">
              <a:lnSpc>
                <a:spcPct val="150000"/>
              </a:lnSpc>
              <a:spcBef>
                <a:spcPct val="0"/>
              </a:spcBef>
              <a:spcAft>
                <a:spcPct val="0"/>
              </a:spcAft>
              <a:buFontTx/>
              <a:buChar char="•"/>
            </a:pPr>
            <a:r>
              <a:rPr lang="en-US" altLang="en-US" b="1" dirty="0">
                <a:latin typeface="Arial" panose="020B0604020202020204" pitchFamily="34" charset="0"/>
              </a:rPr>
              <a:t>Nagios</a:t>
            </a:r>
            <a:endParaRPr lang="en-US" altLang="en-US" dirty="0">
              <a:latin typeface="Arial" panose="020B0604020202020204" pitchFamily="34" charset="0"/>
            </a:endParaRPr>
          </a:p>
          <a:p>
            <a:pPr lvl="1" eaLnBrk="0" fontAlgn="base" hangingPunct="0">
              <a:lnSpc>
                <a:spcPct val="150000"/>
              </a:lnSpc>
              <a:spcBef>
                <a:spcPct val="0"/>
              </a:spcBef>
              <a:spcAft>
                <a:spcPct val="0"/>
              </a:spcAft>
              <a:buFontTx/>
              <a:buChar char="•"/>
            </a:pPr>
            <a:r>
              <a:rPr lang="en-US" altLang="en-US" b="1" dirty="0">
                <a:latin typeface="Arial" panose="020B0604020202020204" pitchFamily="34" charset="0"/>
              </a:rPr>
              <a:t>New Relic</a:t>
            </a:r>
            <a:endParaRPr lang="en-US" altLang="en-US" dirty="0">
              <a:latin typeface="Arial" panose="020B0604020202020204" pitchFamily="34" charset="0"/>
            </a:endParaRPr>
          </a:p>
          <a:p>
            <a:pPr lvl="0" eaLnBrk="0" fontAlgn="base" hangingPunct="0">
              <a:lnSpc>
                <a:spcPct val="150000"/>
              </a:lnSpc>
              <a:spcBef>
                <a:spcPct val="0"/>
              </a:spcBef>
              <a:spcAft>
                <a:spcPct val="0"/>
              </a:spcAft>
              <a:buFontTx/>
              <a:buChar char="•"/>
            </a:pPr>
            <a:endParaRPr lang="en-US" altLang="en-US" dirty="0">
              <a:latin typeface="Arial" panose="020B0604020202020204" pitchFamily="34" charset="0"/>
            </a:endParaRPr>
          </a:p>
          <a:p>
            <a:pPr lvl="0" eaLnBrk="0" fontAlgn="base" hangingPunct="0">
              <a:lnSpc>
                <a:spcPct val="150000"/>
              </a:lnSpc>
              <a:spcBef>
                <a:spcPct val="0"/>
              </a:spcBef>
              <a:spcAft>
                <a:spcPct val="0"/>
              </a:spcAft>
              <a:buFontTx/>
              <a:buChar char="•"/>
            </a:pPr>
            <a:r>
              <a:rPr lang="en-US" altLang="en-US" dirty="0">
                <a:latin typeface="Arial" panose="020B0604020202020204" pitchFamily="34" charset="0"/>
              </a:rPr>
              <a:t>ELK Stack helps in:</a:t>
            </a:r>
          </a:p>
          <a:p>
            <a:pPr lvl="1" eaLnBrk="0" fontAlgn="base" hangingPunct="0">
              <a:lnSpc>
                <a:spcPct val="150000"/>
              </a:lnSpc>
              <a:spcBef>
                <a:spcPct val="0"/>
              </a:spcBef>
              <a:spcAft>
                <a:spcPct val="0"/>
              </a:spcAft>
              <a:buFontTx/>
              <a:buChar char="•"/>
            </a:pPr>
            <a:r>
              <a:rPr lang="en-US" altLang="en-US" b="1" dirty="0">
                <a:latin typeface="Arial" panose="020B0604020202020204" pitchFamily="34" charset="0"/>
              </a:rPr>
              <a:t>Log collection</a:t>
            </a:r>
          </a:p>
          <a:p>
            <a:pPr lvl="1" eaLnBrk="0" fontAlgn="base" hangingPunct="0">
              <a:lnSpc>
                <a:spcPct val="150000"/>
              </a:lnSpc>
              <a:spcBef>
                <a:spcPct val="0"/>
              </a:spcBef>
              <a:spcAft>
                <a:spcPct val="0"/>
              </a:spcAft>
              <a:buFontTx/>
              <a:buChar char="•"/>
            </a:pPr>
            <a:r>
              <a:rPr lang="en-US" altLang="en-US" b="1" dirty="0">
                <a:latin typeface="Arial" panose="020B0604020202020204" pitchFamily="34" charset="0"/>
              </a:rPr>
              <a:t>Search and analysis</a:t>
            </a:r>
          </a:p>
          <a:p>
            <a:pPr lvl="1" eaLnBrk="0" fontAlgn="base" hangingPunct="0">
              <a:lnSpc>
                <a:spcPct val="150000"/>
              </a:lnSpc>
              <a:spcBef>
                <a:spcPct val="0"/>
              </a:spcBef>
              <a:spcAft>
                <a:spcPct val="0"/>
              </a:spcAft>
              <a:buFontTx/>
              <a:buChar char="•"/>
            </a:pPr>
            <a:r>
              <a:rPr lang="en-US" altLang="en-US" b="1" dirty="0">
                <a:latin typeface="Arial" panose="020B0604020202020204" pitchFamily="34" charset="0"/>
              </a:rPr>
              <a:t>Visualization and management</a:t>
            </a:r>
          </a:p>
          <a:p>
            <a:pPr lvl="1" eaLnBrk="0" fontAlgn="base" hangingPunct="0">
              <a:spcBef>
                <a:spcPct val="0"/>
              </a:spcBef>
              <a:spcAft>
                <a:spcPct val="0"/>
              </a:spcAft>
            </a:pPr>
            <a:endParaRPr lang="en-US" altLang="en-US" dirty="0">
              <a:latin typeface="Arial" panose="020B0604020202020204" pitchFamily="34" charset="0"/>
            </a:endParaRPr>
          </a:p>
        </p:txBody>
      </p:sp>
    </p:spTree>
    <p:extLst>
      <p:ext uri="{BB962C8B-B14F-4D97-AF65-F5344CB8AC3E}">
        <p14:creationId xmlns:p14="http://schemas.microsoft.com/office/powerpoint/2010/main" val="143007721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543D9-099C-9B8A-AF27-FD5DC19D825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A8EE1B1-4B1B-0076-673C-991D88AD2EB0}"/>
              </a:ext>
            </a:extLst>
          </p:cNvPr>
          <p:cNvSpPr>
            <a:spLocks noGrp="1"/>
          </p:cNvSpPr>
          <p:nvPr>
            <p:ph type="title"/>
          </p:nvPr>
        </p:nvSpPr>
        <p:spPr/>
        <p:txBody>
          <a:bodyPr/>
          <a:lstStyle/>
          <a:p>
            <a:r>
              <a:rPr lang="en-IN"/>
              <a:t>Continuous Feedback</a:t>
            </a:r>
            <a:endParaRPr lang="en-IN" dirty="0"/>
          </a:p>
        </p:txBody>
      </p:sp>
      <p:sp>
        <p:nvSpPr>
          <p:cNvPr id="2" name="Slide Number Placeholder 1">
            <a:extLst>
              <a:ext uri="{FF2B5EF4-FFF2-40B4-BE49-F238E27FC236}">
                <a16:creationId xmlns:a16="http://schemas.microsoft.com/office/drawing/2014/main" id="{583AF552-8573-79C0-F22C-13A31878B82F}"/>
              </a:ext>
            </a:extLst>
          </p:cNvPr>
          <p:cNvSpPr>
            <a:spLocks noGrp="1"/>
          </p:cNvSpPr>
          <p:nvPr>
            <p:ph type="sldNum" sz="quarter" idx="4294967295"/>
          </p:nvPr>
        </p:nvSpPr>
        <p:spPr>
          <a:xfrm>
            <a:off x="11460163" y="6218238"/>
            <a:ext cx="731837" cy="523875"/>
          </a:xfrm>
        </p:spPr>
        <p:txBody>
          <a:bodyPr/>
          <a:lstStyle/>
          <a:p>
            <a:fld id="{B8DACC02-A2BD-4578-8E03-6D891060A695}" type="slidenum">
              <a:rPr lang="en-US" smtClean="0"/>
              <a:t>80</a:t>
            </a:fld>
            <a:endParaRPr lang="en-US"/>
          </a:p>
        </p:txBody>
      </p:sp>
    </p:spTree>
    <p:extLst>
      <p:ext uri="{BB962C8B-B14F-4D97-AF65-F5344CB8AC3E}">
        <p14:creationId xmlns:p14="http://schemas.microsoft.com/office/powerpoint/2010/main" val="6357039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11296611" y="6070142"/>
            <a:ext cx="731600" cy="524800"/>
          </a:xfrm>
        </p:spPr>
        <p:txBody>
          <a:bodyPr/>
          <a:lstStyle/>
          <a:p>
            <a:fld id="{B8DACC02-A2BD-4578-8E03-6D891060A695}" type="slidenum">
              <a:rPr lang="en-US" smtClean="0"/>
              <a:t>81</a:t>
            </a:fld>
            <a:endParaRPr lang="en-US"/>
          </a:p>
        </p:txBody>
      </p:sp>
      <p:sp>
        <p:nvSpPr>
          <p:cNvPr id="3" name="Rectangle 2"/>
          <p:cNvSpPr/>
          <p:nvPr/>
        </p:nvSpPr>
        <p:spPr>
          <a:xfrm>
            <a:off x="806244" y="1164814"/>
            <a:ext cx="3374642" cy="400110"/>
          </a:xfrm>
          <a:prstGeom prst="rect">
            <a:avLst/>
          </a:prstGeom>
        </p:spPr>
        <p:txBody>
          <a:bodyPr wrap="none">
            <a:spAutoFit/>
          </a:bodyPr>
          <a:lstStyle/>
          <a:p>
            <a:r>
              <a:rPr lang="en-IN" sz="2000" b="1" dirty="0"/>
              <a:t>DevOps Lifecycle (Contd.)</a:t>
            </a:r>
          </a:p>
        </p:txBody>
      </p:sp>
      <p:sp>
        <p:nvSpPr>
          <p:cNvPr id="4" name="Rectangle 3"/>
          <p:cNvSpPr/>
          <p:nvPr/>
        </p:nvSpPr>
        <p:spPr>
          <a:xfrm>
            <a:off x="806245" y="1793626"/>
            <a:ext cx="5515898" cy="3365024"/>
          </a:xfrm>
          <a:prstGeom prst="rect">
            <a:avLst/>
          </a:prstGeom>
        </p:spPr>
        <p:txBody>
          <a:bodyPr wrap="square">
            <a:spAutoFit/>
          </a:bodyPr>
          <a:lstStyle/>
          <a:p>
            <a:pPr>
              <a:lnSpc>
                <a:spcPct val="150000"/>
              </a:lnSpc>
            </a:pPr>
            <a:r>
              <a:rPr lang="en-US" b="1" dirty="0"/>
              <a:t>Stage 6: Continuous Feedback</a:t>
            </a:r>
          </a:p>
          <a:p>
            <a:pPr>
              <a:lnSpc>
                <a:spcPct val="150000"/>
              </a:lnSpc>
            </a:pPr>
            <a:r>
              <a:rPr lang="en-US" dirty="0"/>
              <a:t>Continuous Feedback is the stage where the DevOps loop "</a:t>
            </a:r>
            <a:r>
              <a:rPr lang="en-US" b="1" dirty="0"/>
              <a:t>listens.</a:t>
            </a:r>
            <a:r>
              <a:rPr lang="en-US" dirty="0"/>
              <a:t>" After software is deployed and running in production, the system gathers signals from real users and the live environment to inform what comes next. Without this stage, teams are guessing about what to improve — with it, every release is smarter than the last.</a:t>
            </a:r>
          </a:p>
        </p:txBody>
      </p:sp>
      <p:pic>
        <p:nvPicPr>
          <p:cNvPr id="6" name="Picture 5">
            <a:extLst>
              <a:ext uri="{FF2B5EF4-FFF2-40B4-BE49-F238E27FC236}">
                <a16:creationId xmlns:a16="http://schemas.microsoft.com/office/drawing/2014/main" id="{05378F9C-F4F2-523C-6C3E-AE85D84DD393}"/>
              </a:ext>
            </a:extLst>
          </p:cNvPr>
          <p:cNvPicPr>
            <a:picLocks noChangeAspect="1"/>
          </p:cNvPicPr>
          <p:nvPr/>
        </p:nvPicPr>
        <p:blipFill>
          <a:blip r:embed="rId2"/>
          <a:stretch>
            <a:fillRect/>
          </a:stretch>
        </p:blipFill>
        <p:spPr>
          <a:xfrm>
            <a:off x="6322142" y="1668361"/>
            <a:ext cx="5767917" cy="4700448"/>
          </a:xfrm>
          <a:prstGeom prst="rect">
            <a:avLst/>
          </a:prstGeom>
        </p:spPr>
      </p:pic>
    </p:spTree>
    <p:extLst>
      <p:ext uri="{BB962C8B-B14F-4D97-AF65-F5344CB8AC3E}">
        <p14:creationId xmlns:p14="http://schemas.microsoft.com/office/powerpoint/2010/main" val="60556548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9B177-34F2-A38B-B243-1930BEC95C6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8F98FDE-96AD-7120-BE89-205F8A20B3C7}"/>
              </a:ext>
            </a:extLst>
          </p:cNvPr>
          <p:cNvSpPr>
            <a:spLocks noGrp="1"/>
          </p:cNvSpPr>
          <p:nvPr>
            <p:ph type="title"/>
          </p:nvPr>
        </p:nvSpPr>
        <p:spPr/>
        <p:txBody>
          <a:bodyPr/>
          <a:lstStyle/>
          <a:p>
            <a:r>
              <a:rPr lang="en-IN" dirty="0"/>
              <a:t>Continuous Operations</a:t>
            </a:r>
          </a:p>
        </p:txBody>
      </p:sp>
      <p:sp>
        <p:nvSpPr>
          <p:cNvPr id="2" name="Slide Number Placeholder 1">
            <a:extLst>
              <a:ext uri="{FF2B5EF4-FFF2-40B4-BE49-F238E27FC236}">
                <a16:creationId xmlns:a16="http://schemas.microsoft.com/office/drawing/2014/main" id="{3CBABF43-FC6B-0F62-F23A-4F027F043DD4}"/>
              </a:ext>
            </a:extLst>
          </p:cNvPr>
          <p:cNvSpPr>
            <a:spLocks noGrp="1"/>
          </p:cNvSpPr>
          <p:nvPr>
            <p:ph type="sldNum" sz="quarter" idx="4294967295"/>
          </p:nvPr>
        </p:nvSpPr>
        <p:spPr>
          <a:xfrm>
            <a:off x="11460163" y="6218238"/>
            <a:ext cx="731837" cy="523875"/>
          </a:xfrm>
        </p:spPr>
        <p:txBody>
          <a:bodyPr/>
          <a:lstStyle/>
          <a:p>
            <a:fld id="{B8DACC02-A2BD-4578-8E03-6D891060A695}" type="slidenum">
              <a:rPr lang="en-US" smtClean="0"/>
              <a:t>82</a:t>
            </a:fld>
            <a:endParaRPr lang="en-US"/>
          </a:p>
        </p:txBody>
      </p:sp>
    </p:spTree>
    <p:extLst>
      <p:ext uri="{BB962C8B-B14F-4D97-AF65-F5344CB8AC3E}">
        <p14:creationId xmlns:p14="http://schemas.microsoft.com/office/powerpoint/2010/main" val="113431202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11296611" y="6070142"/>
            <a:ext cx="731600" cy="524800"/>
          </a:xfrm>
        </p:spPr>
        <p:txBody>
          <a:bodyPr/>
          <a:lstStyle/>
          <a:p>
            <a:fld id="{B8DACC02-A2BD-4578-8E03-6D891060A695}" type="slidenum">
              <a:rPr lang="en-US" smtClean="0"/>
              <a:t>83</a:t>
            </a:fld>
            <a:endParaRPr lang="en-US"/>
          </a:p>
        </p:txBody>
      </p:sp>
      <p:sp>
        <p:nvSpPr>
          <p:cNvPr id="3" name="Rectangle 2"/>
          <p:cNvSpPr/>
          <p:nvPr/>
        </p:nvSpPr>
        <p:spPr>
          <a:xfrm>
            <a:off x="917443" y="1091072"/>
            <a:ext cx="3374642" cy="400110"/>
          </a:xfrm>
          <a:prstGeom prst="rect">
            <a:avLst/>
          </a:prstGeom>
        </p:spPr>
        <p:txBody>
          <a:bodyPr wrap="none">
            <a:spAutoFit/>
          </a:bodyPr>
          <a:lstStyle/>
          <a:p>
            <a:r>
              <a:rPr lang="en-IN" sz="2000" b="1" dirty="0"/>
              <a:t>DevOps Lifecycle (Contd.)</a:t>
            </a:r>
          </a:p>
        </p:txBody>
      </p:sp>
      <p:sp>
        <p:nvSpPr>
          <p:cNvPr id="4" name="Rectangle 3"/>
          <p:cNvSpPr/>
          <p:nvPr/>
        </p:nvSpPr>
        <p:spPr>
          <a:xfrm>
            <a:off x="917444" y="1970609"/>
            <a:ext cx="4893422" cy="4196020"/>
          </a:xfrm>
          <a:prstGeom prst="rect">
            <a:avLst/>
          </a:prstGeom>
        </p:spPr>
        <p:txBody>
          <a:bodyPr wrap="square">
            <a:spAutoFit/>
          </a:bodyPr>
          <a:lstStyle/>
          <a:p>
            <a:pPr>
              <a:lnSpc>
                <a:spcPct val="150000"/>
              </a:lnSpc>
            </a:pPr>
            <a:r>
              <a:rPr lang="en-US" b="1" dirty="0"/>
              <a:t>Stage 7: Continuous Operations</a:t>
            </a:r>
          </a:p>
          <a:p>
            <a:pPr>
              <a:lnSpc>
                <a:spcPct val="150000"/>
              </a:lnSpc>
              <a:buFont typeface="Arial" panose="020B0604020202020204" pitchFamily="34" charset="0"/>
              <a:buChar char="•"/>
            </a:pPr>
            <a:r>
              <a:rPr lang="en-US" dirty="0"/>
              <a:t>Continuous Operations is the stage where everything that used to require manual human effort — provisioning servers, running tests, deploying code, restarting services — is fully automated. The goal is that a developer can push code and the system takes it all the way to production on its own, reliably and repeatedly, without anyone having to "do the deploy."</a:t>
            </a:r>
          </a:p>
        </p:txBody>
      </p:sp>
      <p:pic>
        <p:nvPicPr>
          <p:cNvPr id="6" name="Picture 5">
            <a:extLst>
              <a:ext uri="{FF2B5EF4-FFF2-40B4-BE49-F238E27FC236}">
                <a16:creationId xmlns:a16="http://schemas.microsoft.com/office/drawing/2014/main" id="{CFE3FC48-B9CD-B7A8-4F32-2C019F221BA5}"/>
              </a:ext>
            </a:extLst>
          </p:cNvPr>
          <p:cNvPicPr>
            <a:picLocks noChangeAspect="1"/>
          </p:cNvPicPr>
          <p:nvPr/>
        </p:nvPicPr>
        <p:blipFill>
          <a:blip r:embed="rId2"/>
          <a:stretch>
            <a:fillRect/>
          </a:stretch>
        </p:blipFill>
        <p:spPr>
          <a:xfrm>
            <a:off x="6733761" y="1491182"/>
            <a:ext cx="5151566" cy="4496190"/>
          </a:xfrm>
          <a:prstGeom prst="rect">
            <a:avLst/>
          </a:prstGeom>
        </p:spPr>
      </p:pic>
    </p:spTree>
    <p:extLst>
      <p:ext uri="{BB962C8B-B14F-4D97-AF65-F5344CB8AC3E}">
        <p14:creationId xmlns:p14="http://schemas.microsoft.com/office/powerpoint/2010/main" val="274166986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2169E-CED8-02DF-DF0B-F67CE4EFD56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E4BB0EA-BC80-F994-3BB2-A3786BC50F29}"/>
              </a:ext>
            </a:extLst>
          </p:cNvPr>
          <p:cNvSpPr>
            <a:spLocks noGrp="1"/>
          </p:cNvSpPr>
          <p:nvPr>
            <p:ph type="sldNum" sz="quarter" idx="12"/>
          </p:nvPr>
        </p:nvSpPr>
        <p:spPr>
          <a:xfrm>
            <a:off x="11296611" y="6070142"/>
            <a:ext cx="731600" cy="524800"/>
          </a:xfrm>
        </p:spPr>
        <p:txBody>
          <a:bodyPr/>
          <a:lstStyle/>
          <a:p>
            <a:fld id="{B8DACC02-A2BD-4578-8E03-6D891060A695}" type="slidenum">
              <a:rPr lang="en-US" smtClean="0"/>
              <a:t>84</a:t>
            </a:fld>
            <a:endParaRPr lang="en-US"/>
          </a:p>
        </p:txBody>
      </p:sp>
      <p:sp>
        <p:nvSpPr>
          <p:cNvPr id="3" name="Rectangle 2">
            <a:extLst>
              <a:ext uri="{FF2B5EF4-FFF2-40B4-BE49-F238E27FC236}">
                <a16:creationId xmlns:a16="http://schemas.microsoft.com/office/drawing/2014/main" id="{84A361BB-F2FE-445E-16CA-1CD019EC9F61}"/>
              </a:ext>
            </a:extLst>
          </p:cNvPr>
          <p:cNvSpPr/>
          <p:nvPr/>
        </p:nvSpPr>
        <p:spPr>
          <a:xfrm>
            <a:off x="917443" y="471640"/>
            <a:ext cx="3374642" cy="400110"/>
          </a:xfrm>
          <a:prstGeom prst="rect">
            <a:avLst/>
          </a:prstGeom>
        </p:spPr>
        <p:txBody>
          <a:bodyPr wrap="none">
            <a:spAutoFit/>
          </a:bodyPr>
          <a:lstStyle/>
          <a:p>
            <a:r>
              <a:rPr lang="en-IN" sz="2000" b="1" dirty="0"/>
              <a:t>DevOps Lifecycle (Contd.)</a:t>
            </a:r>
          </a:p>
        </p:txBody>
      </p:sp>
      <p:sp>
        <p:nvSpPr>
          <p:cNvPr id="4" name="Rectangle 3">
            <a:extLst>
              <a:ext uri="{FF2B5EF4-FFF2-40B4-BE49-F238E27FC236}">
                <a16:creationId xmlns:a16="http://schemas.microsoft.com/office/drawing/2014/main" id="{ABAFDA7D-276D-9B89-964A-9721E608D91D}"/>
              </a:ext>
            </a:extLst>
          </p:cNvPr>
          <p:cNvSpPr/>
          <p:nvPr/>
        </p:nvSpPr>
        <p:spPr>
          <a:xfrm>
            <a:off x="601476" y="1225768"/>
            <a:ext cx="6132285" cy="5027017"/>
          </a:xfrm>
          <a:prstGeom prst="rect">
            <a:avLst/>
          </a:prstGeom>
        </p:spPr>
        <p:txBody>
          <a:bodyPr wrap="square">
            <a:spAutoFit/>
          </a:bodyPr>
          <a:lstStyle/>
          <a:p>
            <a:pPr>
              <a:lnSpc>
                <a:spcPct val="150000"/>
              </a:lnSpc>
            </a:pPr>
            <a:r>
              <a:rPr lang="en-US" b="1" dirty="0"/>
              <a:t>Stage 7: Continuous Operations</a:t>
            </a:r>
          </a:p>
          <a:p>
            <a:pPr>
              <a:lnSpc>
                <a:spcPct val="150000"/>
              </a:lnSpc>
              <a:buFont typeface="Arial" panose="020B0604020202020204" pitchFamily="34" charset="0"/>
              <a:buChar char="•"/>
            </a:pPr>
            <a:r>
              <a:rPr lang="en-US" b="1" dirty="0"/>
              <a:t>Automated testing</a:t>
            </a:r>
            <a:r>
              <a:rPr lang="en-US" dirty="0"/>
              <a:t> runs first — unit tests, integration tests, and smoke tests validate the code before it ever touches production. If anything fails, the pipeline stops and the developer is notified immediately.</a:t>
            </a:r>
          </a:p>
          <a:p>
            <a:pPr>
              <a:lnSpc>
                <a:spcPct val="150000"/>
              </a:lnSpc>
              <a:buFont typeface="Arial" panose="020B0604020202020204" pitchFamily="34" charset="0"/>
              <a:buChar char="•"/>
            </a:pPr>
            <a:r>
              <a:rPr lang="en-US" b="1" dirty="0"/>
              <a:t>Infrastructure as Code (</a:t>
            </a:r>
            <a:r>
              <a:rPr lang="en-US" b="1" dirty="0" err="1"/>
              <a:t>IaC</a:t>
            </a:r>
            <a:r>
              <a:rPr lang="en-US" b="1" dirty="0"/>
              <a:t>)</a:t>
            </a:r>
            <a:r>
              <a:rPr lang="en-US" dirty="0"/>
              <a:t> tools like Terraform and Ansible automatically provision and configure the servers, databases, and network rules an application needs, while configuration management ensures the correct environment variables and secrets are injected into each environment — eliminating manual setup and making every deployment fast, consistent, and reproducible.</a:t>
            </a:r>
          </a:p>
        </p:txBody>
      </p:sp>
      <p:pic>
        <p:nvPicPr>
          <p:cNvPr id="6" name="Picture 5">
            <a:extLst>
              <a:ext uri="{FF2B5EF4-FFF2-40B4-BE49-F238E27FC236}">
                <a16:creationId xmlns:a16="http://schemas.microsoft.com/office/drawing/2014/main" id="{9906D07B-984F-241F-410B-4664AFB85F0D}"/>
              </a:ext>
            </a:extLst>
          </p:cNvPr>
          <p:cNvPicPr>
            <a:picLocks noChangeAspect="1"/>
          </p:cNvPicPr>
          <p:nvPr/>
        </p:nvPicPr>
        <p:blipFill>
          <a:blip r:embed="rId2"/>
          <a:stretch>
            <a:fillRect/>
          </a:stretch>
        </p:blipFill>
        <p:spPr>
          <a:xfrm>
            <a:off x="6733761" y="1491182"/>
            <a:ext cx="5151566" cy="4496190"/>
          </a:xfrm>
          <a:prstGeom prst="rect">
            <a:avLst/>
          </a:prstGeom>
        </p:spPr>
      </p:pic>
    </p:spTree>
    <p:extLst>
      <p:ext uri="{BB962C8B-B14F-4D97-AF65-F5344CB8AC3E}">
        <p14:creationId xmlns:p14="http://schemas.microsoft.com/office/powerpoint/2010/main" val="400446524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C3FD3-8E50-5CA2-FBC4-FB6BD99AB82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CF08683-DADC-0EFF-2FB1-4A1C7F5B6C84}"/>
              </a:ext>
            </a:extLst>
          </p:cNvPr>
          <p:cNvSpPr>
            <a:spLocks noGrp="1"/>
          </p:cNvSpPr>
          <p:nvPr>
            <p:ph type="sldNum" sz="quarter" idx="12"/>
          </p:nvPr>
        </p:nvSpPr>
        <p:spPr>
          <a:xfrm>
            <a:off x="11296611" y="6070142"/>
            <a:ext cx="731600" cy="524800"/>
          </a:xfrm>
        </p:spPr>
        <p:txBody>
          <a:bodyPr/>
          <a:lstStyle/>
          <a:p>
            <a:fld id="{B8DACC02-A2BD-4578-8E03-6D891060A695}" type="slidenum">
              <a:rPr lang="en-US" smtClean="0"/>
              <a:t>85</a:t>
            </a:fld>
            <a:endParaRPr lang="en-US"/>
          </a:p>
        </p:txBody>
      </p:sp>
      <p:sp>
        <p:nvSpPr>
          <p:cNvPr id="3" name="Rectangle 2">
            <a:extLst>
              <a:ext uri="{FF2B5EF4-FFF2-40B4-BE49-F238E27FC236}">
                <a16:creationId xmlns:a16="http://schemas.microsoft.com/office/drawing/2014/main" id="{DAEA24DA-597F-A823-6530-86F42F2C9C79}"/>
              </a:ext>
            </a:extLst>
          </p:cNvPr>
          <p:cNvSpPr/>
          <p:nvPr/>
        </p:nvSpPr>
        <p:spPr>
          <a:xfrm>
            <a:off x="917443" y="1091072"/>
            <a:ext cx="3374642" cy="400110"/>
          </a:xfrm>
          <a:prstGeom prst="rect">
            <a:avLst/>
          </a:prstGeom>
        </p:spPr>
        <p:txBody>
          <a:bodyPr wrap="none">
            <a:spAutoFit/>
          </a:bodyPr>
          <a:lstStyle/>
          <a:p>
            <a:r>
              <a:rPr lang="en-IN" sz="2000" b="1" dirty="0"/>
              <a:t>DevOps Lifecycle (Contd.)</a:t>
            </a:r>
          </a:p>
        </p:txBody>
      </p:sp>
      <p:sp>
        <p:nvSpPr>
          <p:cNvPr id="4" name="Rectangle 3">
            <a:extLst>
              <a:ext uri="{FF2B5EF4-FFF2-40B4-BE49-F238E27FC236}">
                <a16:creationId xmlns:a16="http://schemas.microsoft.com/office/drawing/2014/main" id="{055F485B-A1B9-19A2-505A-A85F147F7E2E}"/>
              </a:ext>
            </a:extLst>
          </p:cNvPr>
          <p:cNvSpPr/>
          <p:nvPr/>
        </p:nvSpPr>
        <p:spPr>
          <a:xfrm>
            <a:off x="917444" y="1970609"/>
            <a:ext cx="4893422" cy="1287532"/>
          </a:xfrm>
          <a:prstGeom prst="rect">
            <a:avLst/>
          </a:prstGeom>
        </p:spPr>
        <p:txBody>
          <a:bodyPr wrap="square">
            <a:spAutoFit/>
          </a:bodyPr>
          <a:lstStyle/>
          <a:p>
            <a:pPr>
              <a:lnSpc>
                <a:spcPct val="150000"/>
              </a:lnSpc>
            </a:pPr>
            <a:r>
              <a:rPr lang="en-US" b="1" dirty="0"/>
              <a:t>Stage 7: Continuous Operations</a:t>
            </a:r>
          </a:p>
          <a:p>
            <a:pPr>
              <a:lnSpc>
                <a:spcPct val="150000"/>
              </a:lnSpc>
              <a:buFont typeface="Arial" panose="020B0604020202020204" pitchFamily="34" charset="0"/>
              <a:buChar char="•"/>
            </a:pPr>
            <a:r>
              <a:rPr lang="en-US" b="1" dirty="0"/>
              <a:t>Deployment itself</a:t>
            </a:r>
            <a:r>
              <a:rPr lang="en-US" dirty="0"/>
              <a:t> is executed via strategies designed to be safe and automatic:</a:t>
            </a:r>
          </a:p>
        </p:txBody>
      </p:sp>
      <p:pic>
        <p:nvPicPr>
          <p:cNvPr id="6" name="Picture 5">
            <a:extLst>
              <a:ext uri="{FF2B5EF4-FFF2-40B4-BE49-F238E27FC236}">
                <a16:creationId xmlns:a16="http://schemas.microsoft.com/office/drawing/2014/main" id="{92532C04-10C5-8147-A54C-E3AA6A86787B}"/>
              </a:ext>
            </a:extLst>
          </p:cNvPr>
          <p:cNvPicPr>
            <a:picLocks noChangeAspect="1"/>
          </p:cNvPicPr>
          <p:nvPr/>
        </p:nvPicPr>
        <p:blipFill>
          <a:blip r:embed="rId2"/>
          <a:stretch>
            <a:fillRect/>
          </a:stretch>
        </p:blipFill>
        <p:spPr>
          <a:xfrm>
            <a:off x="6733761" y="1491182"/>
            <a:ext cx="5151566" cy="4496190"/>
          </a:xfrm>
          <a:prstGeom prst="rect">
            <a:avLst/>
          </a:prstGeom>
        </p:spPr>
      </p:pic>
      <p:pic>
        <p:nvPicPr>
          <p:cNvPr id="7" name="Picture 6">
            <a:extLst>
              <a:ext uri="{FF2B5EF4-FFF2-40B4-BE49-F238E27FC236}">
                <a16:creationId xmlns:a16="http://schemas.microsoft.com/office/drawing/2014/main" id="{BB71D923-19EC-A19C-1B52-BBA95B3607A8}"/>
              </a:ext>
            </a:extLst>
          </p:cNvPr>
          <p:cNvPicPr>
            <a:picLocks noChangeAspect="1"/>
          </p:cNvPicPr>
          <p:nvPr/>
        </p:nvPicPr>
        <p:blipFill>
          <a:blip r:embed="rId3"/>
          <a:stretch>
            <a:fillRect/>
          </a:stretch>
        </p:blipFill>
        <p:spPr>
          <a:xfrm>
            <a:off x="600572" y="3599860"/>
            <a:ext cx="6043647" cy="1961535"/>
          </a:xfrm>
          <a:prstGeom prst="rect">
            <a:avLst/>
          </a:prstGeom>
        </p:spPr>
      </p:pic>
    </p:spTree>
    <p:extLst>
      <p:ext uri="{BB962C8B-B14F-4D97-AF65-F5344CB8AC3E}">
        <p14:creationId xmlns:p14="http://schemas.microsoft.com/office/powerpoint/2010/main" val="400509967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05E9A-A5E4-A501-734C-567A01D7223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CE317CC-A622-3953-7A5D-53FB0E8F19A0}"/>
              </a:ext>
            </a:extLst>
          </p:cNvPr>
          <p:cNvSpPr>
            <a:spLocks noGrp="1"/>
          </p:cNvSpPr>
          <p:nvPr>
            <p:ph type="sldNum" sz="quarter" idx="12"/>
          </p:nvPr>
        </p:nvSpPr>
        <p:spPr>
          <a:xfrm>
            <a:off x="11296611" y="6070142"/>
            <a:ext cx="731600" cy="524800"/>
          </a:xfrm>
        </p:spPr>
        <p:txBody>
          <a:bodyPr/>
          <a:lstStyle/>
          <a:p>
            <a:fld id="{B8DACC02-A2BD-4578-8E03-6D891060A695}" type="slidenum">
              <a:rPr lang="en-US" smtClean="0"/>
              <a:t>86</a:t>
            </a:fld>
            <a:endParaRPr lang="en-US"/>
          </a:p>
        </p:txBody>
      </p:sp>
      <p:sp>
        <p:nvSpPr>
          <p:cNvPr id="3" name="Rectangle 2">
            <a:extLst>
              <a:ext uri="{FF2B5EF4-FFF2-40B4-BE49-F238E27FC236}">
                <a16:creationId xmlns:a16="http://schemas.microsoft.com/office/drawing/2014/main" id="{128600F7-7A3B-D9C5-9A1E-F13377BF9D12}"/>
              </a:ext>
            </a:extLst>
          </p:cNvPr>
          <p:cNvSpPr/>
          <p:nvPr/>
        </p:nvSpPr>
        <p:spPr>
          <a:xfrm>
            <a:off x="917443" y="1091072"/>
            <a:ext cx="3374642" cy="400110"/>
          </a:xfrm>
          <a:prstGeom prst="rect">
            <a:avLst/>
          </a:prstGeom>
        </p:spPr>
        <p:txBody>
          <a:bodyPr wrap="none">
            <a:spAutoFit/>
          </a:bodyPr>
          <a:lstStyle/>
          <a:p>
            <a:r>
              <a:rPr lang="en-IN" sz="2000" b="1" dirty="0"/>
              <a:t>DevOps Lifecycle (Contd.)</a:t>
            </a:r>
          </a:p>
        </p:txBody>
      </p:sp>
      <p:sp>
        <p:nvSpPr>
          <p:cNvPr id="4" name="Rectangle 3">
            <a:extLst>
              <a:ext uri="{FF2B5EF4-FFF2-40B4-BE49-F238E27FC236}">
                <a16:creationId xmlns:a16="http://schemas.microsoft.com/office/drawing/2014/main" id="{18976EEA-4921-C985-4A5C-3C599C22157B}"/>
              </a:ext>
            </a:extLst>
          </p:cNvPr>
          <p:cNvSpPr/>
          <p:nvPr/>
        </p:nvSpPr>
        <p:spPr>
          <a:xfrm>
            <a:off x="917444" y="1970609"/>
            <a:ext cx="10497808" cy="3831818"/>
          </a:xfrm>
          <a:prstGeom prst="rect">
            <a:avLst/>
          </a:prstGeom>
        </p:spPr>
        <p:txBody>
          <a:bodyPr wrap="square">
            <a:spAutoFit/>
          </a:bodyPr>
          <a:lstStyle/>
          <a:p>
            <a:pPr>
              <a:lnSpc>
                <a:spcPct val="150000"/>
              </a:lnSpc>
            </a:pPr>
            <a:r>
              <a:rPr lang="en-US" b="1" dirty="0"/>
              <a:t>Stage 7: Continuous Operations</a:t>
            </a:r>
          </a:p>
          <a:p>
            <a:r>
              <a:rPr lang="en-US" dirty="0"/>
              <a:t>Before DevOps, a "release cycle" could take weeks or months, code was batched up, tested manually, and deployed in large risky chunks. Continuous Operations shrinks this dramatically.</a:t>
            </a:r>
          </a:p>
          <a:p>
            <a:r>
              <a:rPr lang="en-US" b="1" dirty="0"/>
              <a:t>Short cycles </a:t>
            </a:r>
            <a:r>
              <a:rPr lang="en-US" dirty="0"/>
              <a:t>matter because:</a:t>
            </a:r>
          </a:p>
          <a:p>
            <a:pPr marL="285750" indent="-285750">
              <a:buFont typeface="Arial" panose="020B0604020202020204" pitchFamily="34" charset="0"/>
              <a:buChar char="•"/>
            </a:pPr>
            <a:r>
              <a:rPr lang="en-US" dirty="0"/>
              <a:t>Smaller releases carry less risk, if something breaks, there's less code to investigate</a:t>
            </a:r>
          </a:p>
          <a:p>
            <a:pPr marL="285750" indent="-285750">
              <a:buFont typeface="Arial" panose="020B0604020202020204" pitchFamily="34" charset="0"/>
              <a:buChar char="•"/>
            </a:pPr>
            <a:r>
              <a:rPr lang="en-US" dirty="0"/>
              <a:t>Bugs are fixed and in users' hands faster</a:t>
            </a:r>
          </a:p>
          <a:p>
            <a:pPr marL="285750" indent="-285750">
              <a:buFont typeface="Arial" panose="020B0604020202020204" pitchFamily="34" charset="0"/>
              <a:buChar char="•"/>
            </a:pPr>
            <a:r>
              <a:rPr lang="en-US" dirty="0"/>
              <a:t>Feedback from Stage 5 and Stage 6 reaches developers quickly, so improvements happen in days rather than months</a:t>
            </a:r>
          </a:p>
          <a:p>
            <a:pPr marL="285750" indent="-285750">
              <a:buFont typeface="Arial" panose="020B0604020202020204" pitchFamily="34" charset="0"/>
              <a:buChar char="•"/>
            </a:pPr>
            <a:r>
              <a:rPr lang="en-US" dirty="0"/>
              <a:t>The team never sits on a pile of unreleased work, which creates anxiety and instability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r>
              <a:rPr lang="en-US" dirty="0"/>
              <a:t>Companies like Amazon and Netflix deploy to production hundreds or even thousands of times per day — this is only possible because of Continuous Operations automation.</a:t>
            </a:r>
          </a:p>
        </p:txBody>
      </p:sp>
    </p:spTree>
    <p:extLst>
      <p:ext uri="{BB962C8B-B14F-4D97-AF65-F5344CB8AC3E}">
        <p14:creationId xmlns:p14="http://schemas.microsoft.com/office/powerpoint/2010/main" val="184605162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FF4CA-5A56-A713-9794-418035987F7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B59CF83-A450-1C14-C74D-C4C2FEB1658A}"/>
              </a:ext>
            </a:extLst>
          </p:cNvPr>
          <p:cNvSpPr>
            <a:spLocks noGrp="1"/>
          </p:cNvSpPr>
          <p:nvPr>
            <p:ph type="sldNum" sz="quarter" idx="12"/>
          </p:nvPr>
        </p:nvSpPr>
        <p:spPr>
          <a:xfrm>
            <a:off x="11296611" y="6070142"/>
            <a:ext cx="731600" cy="524800"/>
          </a:xfrm>
        </p:spPr>
        <p:txBody>
          <a:bodyPr/>
          <a:lstStyle/>
          <a:p>
            <a:fld id="{B8DACC02-A2BD-4578-8E03-6D891060A695}" type="slidenum">
              <a:rPr lang="en-US" smtClean="0"/>
              <a:t>87</a:t>
            </a:fld>
            <a:endParaRPr lang="en-US"/>
          </a:p>
        </p:txBody>
      </p:sp>
      <p:sp>
        <p:nvSpPr>
          <p:cNvPr id="3" name="Rectangle 2">
            <a:extLst>
              <a:ext uri="{FF2B5EF4-FFF2-40B4-BE49-F238E27FC236}">
                <a16:creationId xmlns:a16="http://schemas.microsoft.com/office/drawing/2014/main" id="{5E7D6798-A9DF-69F7-5819-8619A2757B11}"/>
              </a:ext>
            </a:extLst>
          </p:cNvPr>
          <p:cNvSpPr/>
          <p:nvPr/>
        </p:nvSpPr>
        <p:spPr>
          <a:xfrm>
            <a:off x="917443" y="1091072"/>
            <a:ext cx="3374642" cy="400110"/>
          </a:xfrm>
          <a:prstGeom prst="rect">
            <a:avLst/>
          </a:prstGeom>
        </p:spPr>
        <p:txBody>
          <a:bodyPr wrap="none">
            <a:spAutoFit/>
          </a:bodyPr>
          <a:lstStyle/>
          <a:p>
            <a:r>
              <a:rPr lang="en-IN" sz="2000" b="1" dirty="0"/>
              <a:t>DevOps Lifecycle (Contd.)</a:t>
            </a:r>
          </a:p>
        </p:txBody>
      </p:sp>
      <p:sp>
        <p:nvSpPr>
          <p:cNvPr id="4" name="Rectangle 3">
            <a:extLst>
              <a:ext uri="{FF2B5EF4-FFF2-40B4-BE49-F238E27FC236}">
                <a16:creationId xmlns:a16="http://schemas.microsoft.com/office/drawing/2014/main" id="{54BC1D0E-6CC4-E5D1-84DC-277C1D2BC805}"/>
              </a:ext>
            </a:extLst>
          </p:cNvPr>
          <p:cNvSpPr/>
          <p:nvPr/>
        </p:nvSpPr>
        <p:spPr>
          <a:xfrm>
            <a:off x="917444" y="1970609"/>
            <a:ext cx="10497808" cy="3554819"/>
          </a:xfrm>
          <a:prstGeom prst="rect">
            <a:avLst/>
          </a:prstGeom>
        </p:spPr>
        <p:txBody>
          <a:bodyPr wrap="square">
            <a:spAutoFit/>
          </a:bodyPr>
          <a:lstStyle/>
          <a:p>
            <a:pPr>
              <a:lnSpc>
                <a:spcPct val="150000"/>
              </a:lnSpc>
            </a:pPr>
            <a:r>
              <a:rPr lang="en-US" b="1" dirty="0"/>
              <a:t>Stage 7: Continuous Operations</a:t>
            </a:r>
          </a:p>
          <a:p>
            <a:r>
              <a:rPr lang="en-US" b="1" dirty="0"/>
              <a:t>Developers Focus on New Features: </a:t>
            </a:r>
            <a:r>
              <a:rPr lang="en-US" dirty="0"/>
              <a:t>Before Continuous Operations, developers spent significant time on operational work, manually running deployments, </a:t>
            </a:r>
            <a:r>
              <a:rPr lang="en-US" dirty="0" err="1"/>
              <a:t>SSHing</a:t>
            </a:r>
            <a:r>
              <a:rPr lang="en-US" dirty="0"/>
              <a:t> into servers, debugging environment mismatches, and babysitting releases. That time is expensive and </a:t>
            </a:r>
            <a:r>
              <a:rPr lang="en-US" dirty="0" err="1"/>
              <a:t>demoralising</a:t>
            </a:r>
            <a:r>
              <a:rPr lang="en-US" dirty="0"/>
              <a:t>.</a:t>
            </a:r>
          </a:p>
          <a:p>
            <a:r>
              <a:rPr lang="en-US" dirty="0"/>
              <a:t>With Continuous Operations fully in place:</a:t>
            </a:r>
          </a:p>
          <a:p>
            <a:pPr marL="285750" indent="-285750">
              <a:buFont typeface="Arial" panose="020B0604020202020204" pitchFamily="34" charset="0"/>
              <a:buChar char="•"/>
            </a:pPr>
            <a:r>
              <a:rPr lang="en-US" dirty="0"/>
              <a:t>A developer writes code, pushes it, and the system handles everything else</a:t>
            </a:r>
          </a:p>
          <a:p>
            <a:pPr marL="285750" indent="-285750">
              <a:buFont typeface="Arial" panose="020B0604020202020204" pitchFamily="34" charset="0"/>
              <a:buChar char="•"/>
            </a:pPr>
            <a:r>
              <a:rPr lang="en-US" dirty="0"/>
              <a:t>No waiting for an ops team to "do the deploy“- it just happens</a:t>
            </a:r>
          </a:p>
          <a:p>
            <a:pPr marL="285750" indent="-285750">
              <a:buFont typeface="Arial" panose="020B0604020202020204" pitchFamily="34" charset="0"/>
              <a:buChar char="•"/>
            </a:pPr>
            <a:r>
              <a:rPr lang="en-US" dirty="0"/>
              <a:t>No "works on my machine" problems because environments are codified and reproducible</a:t>
            </a:r>
          </a:p>
          <a:p>
            <a:pPr marL="285750" indent="-285750">
              <a:buFont typeface="Arial" panose="020B0604020202020204" pitchFamily="34" charset="0"/>
              <a:buChar char="•"/>
            </a:pPr>
            <a:r>
              <a:rPr lang="en-US" dirty="0"/>
              <a:t>Energy that was spent on repetitive ops tasks flows back into building new features, improving UX, and solving real user problems</a:t>
            </a:r>
          </a:p>
          <a:p>
            <a:endParaRPr lang="en-US" b="1" dirty="0"/>
          </a:p>
          <a:p>
            <a:endParaRPr lang="en-US" dirty="0"/>
          </a:p>
        </p:txBody>
      </p:sp>
    </p:spTree>
    <p:extLst>
      <p:ext uri="{BB962C8B-B14F-4D97-AF65-F5344CB8AC3E}">
        <p14:creationId xmlns:p14="http://schemas.microsoft.com/office/powerpoint/2010/main" val="223752530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8DACC02-A2BD-4578-8E03-6D891060A695}" type="slidenum">
              <a:rPr lang="en-US" smtClean="0"/>
              <a:t>88</a:t>
            </a:fld>
            <a:endParaRPr lang="en-US"/>
          </a:p>
        </p:txBody>
      </p:sp>
      <p:sp>
        <p:nvSpPr>
          <p:cNvPr id="6" name="Rectangle 5"/>
          <p:cNvSpPr/>
          <p:nvPr/>
        </p:nvSpPr>
        <p:spPr>
          <a:xfrm>
            <a:off x="383458" y="751856"/>
            <a:ext cx="2549096" cy="400110"/>
          </a:xfrm>
          <a:prstGeom prst="rect">
            <a:avLst/>
          </a:prstGeom>
        </p:spPr>
        <p:txBody>
          <a:bodyPr wrap="none">
            <a:spAutoFit/>
          </a:bodyPr>
          <a:lstStyle/>
          <a:p>
            <a:r>
              <a:rPr lang="en-IN" sz="2000" b="1" dirty="0"/>
              <a:t>Benefits of DevOps</a:t>
            </a:r>
          </a:p>
        </p:txBody>
      </p:sp>
      <p:sp>
        <p:nvSpPr>
          <p:cNvPr id="8" name="Rectangle 7"/>
          <p:cNvSpPr/>
          <p:nvPr/>
        </p:nvSpPr>
        <p:spPr>
          <a:xfrm>
            <a:off x="383458" y="1720840"/>
            <a:ext cx="8760542" cy="4196020"/>
          </a:xfrm>
          <a:prstGeom prst="rect">
            <a:avLst/>
          </a:prstGeom>
        </p:spPr>
        <p:txBody>
          <a:bodyPr wrap="square">
            <a:spAutoFit/>
          </a:bodyPr>
          <a:lstStyle/>
          <a:p>
            <a:pPr lvl="0" eaLnBrk="0" fontAlgn="base" hangingPunct="0">
              <a:lnSpc>
                <a:spcPct val="150000"/>
              </a:lnSpc>
              <a:spcBef>
                <a:spcPct val="0"/>
              </a:spcBef>
              <a:spcAft>
                <a:spcPct val="0"/>
              </a:spcAft>
              <a:buFontTx/>
              <a:buChar char="•"/>
            </a:pPr>
            <a:r>
              <a:rPr lang="en-US" altLang="en-US" b="1" dirty="0">
                <a:latin typeface="Arial" panose="020B0604020202020204" pitchFamily="34" charset="0"/>
              </a:rPr>
              <a:t>Faster and more efficient</a:t>
            </a:r>
            <a:r>
              <a:rPr lang="en-US" altLang="en-US" dirty="0">
                <a:latin typeface="Arial" panose="020B0604020202020204" pitchFamily="34" charset="0"/>
              </a:rPr>
              <a:t> software development</a:t>
            </a:r>
          </a:p>
          <a:p>
            <a:pPr lvl="0" eaLnBrk="0" fontAlgn="base" hangingPunct="0">
              <a:lnSpc>
                <a:spcPct val="150000"/>
              </a:lnSpc>
              <a:spcBef>
                <a:spcPct val="0"/>
              </a:spcBef>
              <a:spcAft>
                <a:spcPct val="0"/>
              </a:spcAft>
              <a:buFontTx/>
              <a:buChar char="•"/>
            </a:pPr>
            <a:r>
              <a:rPr lang="en-US" altLang="en-US" b="1" dirty="0">
                <a:latin typeface="Arial" panose="020B0604020202020204" pitchFamily="34" charset="0"/>
              </a:rPr>
              <a:t>Fewer bugs</a:t>
            </a:r>
            <a:r>
              <a:rPr lang="en-US" altLang="en-US" dirty="0">
                <a:latin typeface="Arial" panose="020B0604020202020204" pitchFamily="34" charset="0"/>
              </a:rPr>
              <a:t> and improved user experience</a:t>
            </a:r>
          </a:p>
          <a:p>
            <a:pPr lvl="0" eaLnBrk="0" fontAlgn="base" hangingPunct="0">
              <a:lnSpc>
                <a:spcPct val="150000"/>
              </a:lnSpc>
              <a:spcBef>
                <a:spcPct val="0"/>
              </a:spcBef>
              <a:spcAft>
                <a:spcPct val="0"/>
              </a:spcAft>
              <a:buFontTx/>
              <a:buChar char="•"/>
            </a:pPr>
            <a:r>
              <a:rPr lang="en-US" altLang="en-US" dirty="0">
                <a:latin typeface="Arial" panose="020B0604020202020204" pitchFamily="34" charset="0"/>
              </a:rPr>
              <a:t>Better </a:t>
            </a:r>
            <a:r>
              <a:rPr lang="en-US" altLang="en-US" b="1" dirty="0">
                <a:latin typeface="Arial" panose="020B0604020202020204" pitchFamily="34" charset="0"/>
              </a:rPr>
              <a:t>collaboration</a:t>
            </a:r>
            <a:r>
              <a:rPr lang="en-US" altLang="en-US" dirty="0">
                <a:latin typeface="Arial" panose="020B0604020202020204" pitchFamily="34" charset="0"/>
              </a:rPr>
              <a:t> between Dev and Ops teams</a:t>
            </a:r>
          </a:p>
          <a:p>
            <a:pPr lvl="0" eaLnBrk="0" fontAlgn="base" hangingPunct="0">
              <a:lnSpc>
                <a:spcPct val="150000"/>
              </a:lnSpc>
              <a:spcBef>
                <a:spcPct val="0"/>
              </a:spcBef>
              <a:spcAft>
                <a:spcPct val="0"/>
              </a:spcAft>
              <a:buFontTx/>
              <a:buChar char="•"/>
            </a:pPr>
            <a:r>
              <a:rPr lang="en-US" altLang="en-US" b="1" dirty="0">
                <a:latin typeface="Arial" panose="020B0604020202020204" pitchFamily="34" charset="0"/>
              </a:rPr>
              <a:t>Higher return on investment (ROI)</a:t>
            </a:r>
            <a:endParaRPr lang="en-US" altLang="en-US" dirty="0">
              <a:latin typeface="Arial" panose="020B0604020202020204" pitchFamily="34" charset="0"/>
            </a:endParaRPr>
          </a:p>
          <a:p>
            <a:pPr lvl="0" eaLnBrk="0" fontAlgn="base" hangingPunct="0">
              <a:lnSpc>
                <a:spcPct val="150000"/>
              </a:lnSpc>
              <a:spcBef>
                <a:spcPct val="0"/>
              </a:spcBef>
              <a:spcAft>
                <a:spcPct val="0"/>
              </a:spcAft>
              <a:buFontTx/>
              <a:buChar char="•"/>
            </a:pPr>
            <a:r>
              <a:rPr lang="en-US" altLang="en-US" dirty="0">
                <a:latin typeface="Arial" panose="020B0604020202020204" pitchFamily="34" charset="0"/>
              </a:rPr>
              <a:t>Automatic deployment supports </a:t>
            </a:r>
            <a:r>
              <a:rPr lang="en-US" altLang="en-US" b="1" dirty="0">
                <a:latin typeface="Arial" panose="020B0604020202020204" pitchFamily="34" charset="0"/>
              </a:rPr>
              <a:t>large-scale systems</a:t>
            </a:r>
            <a:endParaRPr lang="en-US" altLang="en-US" dirty="0">
              <a:latin typeface="Arial" panose="020B0604020202020204" pitchFamily="34" charset="0"/>
            </a:endParaRPr>
          </a:p>
          <a:p>
            <a:pPr lvl="0" eaLnBrk="0" fontAlgn="base" hangingPunct="0">
              <a:lnSpc>
                <a:spcPct val="150000"/>
              </a:lnSpc>
              <a:spcBef>
                <a:spcPct val="0"/>
              </a:spcBef>
              <a:spcAft>
                <a:spcPct val="0"/>
              </a:spcAft>
              <a:buFontTx/>
              <a:buChar char="•"/>
            </a:pPr>
            <a:r>
              <a:rPr lang="en-US" altLang="en-US" dirty="0">
                <a:latin typeface="Arial" panose="020B0604020202020204" pitchFamily="34" charset="0"/>
              </a:rPr>
              <a:t>Suitable for </a:t>
            </a:r>
            <a:r>
              <a:rPr lang="en-US" altLang="en-US" b="1" dirty="0">
                <a:latin typeface="Arial" panose="020B0604020202020204" pitchFamily="34" charset="0"/>
              </a:rPr>
              <a:t>both small and large teams</a:t>
            </a:r>
            <a:endParaRPr lang="en-US" altLang="en-US" dirty="0">
              <a:latin typeface="Arial" panose="020B0604020202020204" pitchFamily="34" charset="0"/>
            </a:endParaRPr>
          </a:p>
          <a:p>
            <a:pPr lvl="0" eaLnBrk="0" fontAlgn="base" hangingPunct="0">
              <a:lnSpc>
                <a:spcPct val="150000"/>
              </a:lnSpc>
              <a:spcBef>
                <a:spcPct val="0"/>
              </a:spcBef>
              <a:spcAft>
                <a:spcPct val="0"/>
              </a:spcAft>
              <a:buFontTx/>
              <a:buChar char="•"/>
            </a:pPr>
            <a:r>
              <a:rPr lang="en-US" altLang="en-US" dirty="0">
                <a:latin typeface="Arial" panose="020B0604020202020204" pitchFamily="34" charset="0"/>
              </a:rPr>
              <a:t>Early bug detection through </a:t>
            </a:r>
            <a:r>
              <a:rPr lang="en-US" altLang="en-US" b="1" dirty="0">
                <a:latin typeface="Arial" panose="020B0604020202020204" pitchFamily="34" charset="0"/>
              </a:rPr>
              <a:t>automated testing &amp; monitoring</a:t>
            </a:r>
            <a:endParaRPr lang="en-US" altLang="en-US" dirty="0">
              <a:latin typeface="Arial" panose="020B0604020202020204" pitchFamily="34" charset="0"/>
            </a:endParaRPr>
          </a:p>
          <a:p>
            <a:pPr lvl="0" eaLnBrk="0" fontAlgn="base" hangingPunct="0">
              <a:lnSpc>
                <a:spcPct val="150000"/>
              </a:lnSpc>
              <a:spcBef>
                <a:spcPct val="0"/>
              </a:spcBef>
              <a:spcAft>
                <a:spcPct val="0"/>
              </a:spcAft>
              <a:buFontTx/>
              <a:buChar char="•"/>
            </a:pPr>
            <a:r>
              <a:rPr lang="en-US" altLang="en-US" b="1" dirty="0">
                <a:latin typeface="Arial" panose="020B0604020202020204" pitchFamily="34" charset="0"/>
              </a:rPr>
              <a:t>Streamlined workflows</a:t>
            </a:r>
            <a:r>
              <a:rPr lang="en-US" altLang="en-US" dirty="0">
                <a:latin typeface="Arial" panose="020B0604020202020204" pitchFamily="34" charset="0"/>
              </a:rPr>
              <a:t> using version control and automation</a:t>
            </a:r>
          </a:p>
          <a:p>
            <a:pPr lvl="0" eaLnBrk="0" fontAlgn="base" hangingPunct="0">
              <a:lnSpc>
                <a:spcPct val="150000"/>
              </a:lnSpc>
              <a:spcBef>
                <a:spcPct val="0"/>
              </a:spcBef>
              <a:spcAft>
                <a:spcPct val="0"/>
              </a:spcAft>
              <a:buFontTx/>
              <a:buChar char="•"/>
            </a:pPr>
            <a:r>
              <a:rPr lang="en-US" altLang="en-US" dirty="0">
                <a:latin typeface="Arial" panose="020B0604020202020204" pitchFamily="34" charset="0"/>
              </a:rPr>
              <a:t>Continuous feedback improves </a:t>
            </a:r>
            <a:r>
              <a:rPr lang="en-US" altLang="en-US" b="1" dirty="0">
                <a:latin typeface="Arial" panose="020B0604020202020204" pitchFamily="34" charset="0"/>
              </a:rPr>
              <a:t>product quality</a:t>
            </a:r>
            <a:endParaRPr lang="en-US" altLang="en-US" dirty="0">
              <a:latin typeface="Arial" panose="020B0604020202020204" pitchFamily="34" charset="0"/>
            </a:endParaRPr>
          </a:p>
          <a:p>
            <a:pPr lvl="0" eaLnBrk="0" fontAlgn="base" hangingPunct="0">
              <a:lnSpc>
                <a:spcPct val="150000"/>
              </a:lnSpc>
              <a:spcBef>
                <a:spcPct val="0"/>
              </a:spcBef>
              <a:spcAft>
                <a:spcPct val="0"/>
              </a:spcAft>
              <a:buFontTx/>
              <a:buChar char="•"/>
            </a:pPr>
            <a:r>
              <a:rPr lang="en-US" altLang="en-US" dirty="0">
                <a:latin typeface="Arial" panose="020B0604020202020204" pitchFamily="34" charset="0"/>
              </a:rPr>
              <a:t>Automation reduces effort in testing and deployment</a:t>
            </a:r>
          </a:p>
        </p:txBody>
      </p:sp>
    </p:spTree>
    <p:extLst>
      <p:ext uri="{BB962C8B-B14F-4D97-AF65-F5344CB8AC3E}">
        <p14:creationId xmlns:p14="http://schemas.microsoft.com/office/powerpoint/2010/main" val="121841318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8DACC02-A2BD-4578-8E03-6D891060A695}" type="slidenum">
              <a:rPr lang="en-US" smtClean="0"/>
              <a:t>89</a:t>
            </a:fld>
            <a:endParaRPr lang="en-US"/>
          </a:p>
        </p:txBody>
      </p:sp>
      <p:sp>
        <p:nvSpPr>
          <p:cNvPr id="3" name="Rectangle 2"/>
          <p:cNvSpPr/>
          <p:nvPr/>
        </p:nvSpPr>
        <p:spPr>
          <a:xfrm>
            <a:off x="530942" y="943898"/>
            <a:ext cx="8613058" cy="4939814"/>
          </a:xfrm>
          <a:prstGeom prst="rect">
            <a:avLst/>
          </a:prstGeom>
        </p:spPr>
        <p:txBody>
          <a:bodyPr wrap="square">
            <a:spAutoFit/>
          </a:bodyPr>
          <a:lstStyle/>
          <a:p>
            <a:r>
              <a:rPr lang="en-IN" sz="2000" b="1" dirty="0"/>
              <a:t>Tools Commonly Used in DevOps</a:t>
            </a:r>
          </a:p>
          <a:p>
            <a:endParaRPr lang="en-US" b="1" dirty="0"/>
          </a:p>
          <a:p>
            <a:endParaRPr lang="en-US" b="1" dirty="0"/>
          </a:p>
          <a:p>
            <a:endParaRPr lang="en-IN" b="1" dirty="0"/>
          </a:p>
          <a:p>
            <a:pPr>
              <a:lnSpc>
                <a:spcPct val="150000"/>
              </a:lnSpc>
              <a:buFont typeface="Arial" panose="020B0604020202020204" pitchFamily="34" charset="0"/>
              <a:buChar char="•"/>
            </a:pPr>
            <a:r>
              <a:rPr lang="en-IN" b="1" dirty="0"/>
              <a:t>Version Control:</a:t>
            </a:r>
            <a:r>
              <a:rPr lang="en-IN" dirty="0"/>
              <a:t> Git, GitHub, </a:t>
            </a:r>
            <a:r>
              <a:rPr lang="en-IN" dirty="0" err="1"/>
              <a:t>GitLab</a:t>
            </a:r>
            <a:endParaRPr lang="en-IN" dirty="0"/>
          </a:p>
          <a:p>
            <a:pPr>
              <a:lnSpc>
                <a:spcPct val="150000"/>
              </a:lnSpc>
              <a:buFont typeface="Arial" panose="020B0604020202020204" pitchFamily="34" charset="0"/>
              <a:buChar char="•"/>
            </a:pPr>
            <a:r>
              <a:rPr lang="en-IN" b="1" dirty="0"/>
              <a:t>CI/CD Tools:</a:t>
            </a:r>
            <a:r>
              <a:rPr lang="en-IN" dirty="0"/>
              <a:t> Jenkins, GitHub Actions, </a:t>
            </a:r>
            <a:r>
              <a:rPr lang="en-IN" dirty="0" err="1"/>
              <a:t>GitLab</a:t>
            </a:r>
            <a:r>
              <a:rPr lang="en-IN" dirty="0"/>
              <a:t> CI</a:t>
            </a:r>
          </a:p>
          <a:p>
            <a:pPr>
              <a:lnSpc>
                <a:spcPct val="150000"/>
              </a:lnSpc>
              <a:buFont typeface="Arial" panose="020B0604020202020204" pitchFamily="34" charset="0"/>
              <a:buChar char="•"/>
            </a:pPr>
            <a:r>
              <a:rPr lang="en-IN" b="1" dirty="0"/>
              <a:t>Build Tools:</a:t>
            </a:r>
            <a:r>
              <a:rPr lang="en-IN" dirty="0"/>
              <a:t> Maven, </a:t>
            </a:r>
            <a:r>
              <a:rPr lang="en-IN" dirty="0" err="1"/>
              <a:t>Gradle</a:t>
            </a:r>
            <a:endParaRPr lang="en-IN" dirty="0"/>
          </a:p>
          <a:p>
            <a:pPr>
              <a:lnSpc>
                <a:spcPct val="150000"/>
              </a:lnSpc>
              <a:buFont typeface="Arial" panose="020B0604020202020204" pitchFamily="34" charset="0"/>
              <a:buChar char="•"/>
            </a:pPr>
            <a:r>
              <a:rPr lang="en-IN" b="1" dirty="0"/>
              <a:t>Configuration Management:</a:t>
            </a:r>
            <a:r>
              <a:rPr lang="en-IN" dirty="0"/>
              <a:t> </a:t>
            </a:r>
            <a:r>
              <a:rPr lang="en-IN" dirty="0" err="1"/>
              <a:t>Ansible</a:t>
            </a:r>
            <a:r>
              <a:rPr lang="en-IN" dirty="0"/>
              <a:t>, Chef, Puppet</a:t>
            </a:r>
          </a:p>
          <a:p>
            <a:pPr>
              <a:lnSpc>
                <a:spcPct val="150000"/>
              </a:lnSpc>
              <a:buFont typeface="Arial" panose="020B0604020202020204" pitchFamily="34" charset="0"/>
              <a:buChar char="•"/>
            </a:pPr>
            <a:r>
              <a:rPr lang="en-IN" b="1" dirty="0"/>
              <a:t>Containerization:</a:t>
            </a:r>
            <a:r>
              <a:rPr lang="en-IN" dirty="0"/>
              <a:t> Docker</a:t>
            </a:r>
          </a:p>
          <a:p>
            <a:pPr>
              <a:lnSpc>
                <a:spcPct val="150000"/>
              </a:lnSpc>
              <a:buFont typeface="Arial" panose="020B0604020202020204" pitchFamily="34" charset="0"/>
              <a:buChar char="•"/>
            </a:pPr>
            <a:r>
              <a:rPr lang="en-IN" b="1" dirty="0"/>
              <a:t>Container Orchestration:</a:t>
            </a:r>
            <a:r>
              <a:rPr lang="en-IN" dirty="0"/>
              <a:t> Kubernetes</a:t>
            </a:r>
          </a:p>
          <a:p>
            <a:pPr>
              <a:lnSpc>
                <a:spcPct val="150000"/>
              </a:lnSpc>
              <a:buFont typeface="Arial" panose="020B0604020202020204" pitchFamily="34" charset="0"/>
              <a:buChar char="•"/>
            </a:pPr>
            <a:r>
              <a:rPr lang="en-IN" b="1" dirty="0"/>
              <a:t>Monitoring &amp; Logging:</a:t>
            </a:r>
            <a:r>
              <a:rPr lang="en-IN" dirty="0"/>
              <a:t> Prometheus, </a:t>
            </a:r>
            <a:r>
              <a:rPr lang="en-IN" dirty="0" err="1"/>
              <a:t>Grafana</a:t>
            </a:r>
            <a:r>
              <a:rPr lang="en-IN" dirty="0"/>
              <a:t>, ELK Stack</a:t>
            </a:r>
          </a:p>
          <a:p>
            <a:pPr>
              <a:lnSpc>
                <a:spcPct val="150000"/>
              </a:lnSpc>
              <a:buFont typeface="Arial" panose="020B0604020202020204" pitchFamily="34" charset="0"/>
              <a:buChar char="•"/>
            </a:pPr>
            <a:r>
              <a:rPr lang="en-IN" b="1" dirty="0"/>
              <a:t>Cloud Platforms:</a:t>
            </a:r>
            <a:r>
              <a:rPr lang="en-IN" dirty="0"/>
              <a:t> AWS, Azure, Google Cloud</a:t>
            </a:r>
          </a:p>
          <a:p>
            <a:pPr>
              <a:lnSpc>
                <a:spcPct val="150000"/>
              </a:lnSpc>
              <a:buFont typeface="Arial" panose="020B0604020202020204" pitchFamily="34" charset="0"/>
              <a:buChar char="•"/>
            </a:pPr>
            <a:r>
              <a:rPr lang="en-IN" b="1" dirty="0"/>
              <a:t>Testing Tools:</a:t>
            </a:r>
            <a:r>
              <a:rPr lang="en-IN" dirty="0"/>
              <a:t> Selenium, JUnit, </a:t>
            </a:r>
            <a:r>
              <a:rPr lang="en-IN" dirty="0" err="1"/>
              <a:t>TestNG</a:t>
            </a:r>
            <a:endParaRPr lang="en-IN" dirty="0"/>
          </a:p>
        </p:txBody>
      </p:sp>
    </p:spTree>
    <p:extLst>
      <p:ext uri="{BB962C8B-B14F-4D97-AF65-F5344CB8AC3E}">
        <p14:creationId xmlns:p14="http://schemas.microsoft.com/office/powerpoint/2010/main" val="147550569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1A2B4-EA60-3DFC-805E-F181AC409E9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C8D1214-50D4-8C0F-8018-154B8D6C7B11}"/>
              </a:ext>
            </a:extLst>
          </p:cNvPr>
          <p:cNvSpPr>
            <a:spLocks noGrp="1"/>
          </p:cNvSpPr>
          <p:nvPr>
            <p:ph type="title"/>
          </p:nvPr>
        </p:nvSpPr>
        <p:spPr/>
        <p:txBody>
          <a:bodyPr/>
          <a:lstStyle/>
          <a:p>
            <a:r>
              <a:rPr lang="en-IN" dirty="0"/>
              <a:t>Software Architecture</a:t>
            </a:r>
          </a:p>
        </p:txBody>
      </p:sp>
      <p:sp>
        <p:nvSpPr>
          <p:cNvPr id="2" name="Slide Number Placeholder 1">
            <a:extLst>
              <a:ext uri="{FF2B5EF4-FFF2-40B4-BE49-F238E27FC236}">
                <a16:creationId xmlns:a16="http://schemas.microsoft.com/office/drawing/2014/main" id="{80B485BE-90FE-0C5B-A4A8-9540B11B8A82}"/>
              </a:ext>
            </a:extLst>
          </p:cNvPr>
          <p:cNvSpPr>
            <a:spLocks noGrp="1"/>
          </p:cNvSpPr>
          <p:nvPr>
            <p:ph type="sldNum" sz="quarter" idx="4294967295"/>
          </p:nvPr>
        </p:nvSpPr>
        <p:spPr>
          <a:xfrm>
            <a:off x="11460163" y="6218238"/>
            <a:ext cx="731837" cy="523875"/>
          </a:xfrm>
        </p:spPr>
        <p:txBody>
          <a:bodyPr/>
          <a:lstStyle/>
          <a:p>
            <a:fld id="{B8DACC02-A2BD-4578-8E03-6D891060A695}" type="slidenum">
              <a:rPr lang="en-US" smtClean="0"/>
              <a:t>90</a:t>
            </a:fld>
            <a:endParaRPr lang="en-US"/>
          </a:p>
        </p:txBody>
      </p:sp>
    </p:spTree>
    <p:extLst>
      <p:ext uri="{BB962C8B-B14F-4D97-AF65-F5344CB8AC3E}">
        <p14:creationId xmlns:p14="http://schemas.microsoft.com/office/powerpoint/2010/main" val="322479029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8DACC02-A2BD-4578-8E03-6D891060A695}" type="slidenum">
              <a:rPr lang="en-US" smtClean="0"/>
              <a:pPr/>
              <a:t>91</a:t>
            </a:fld>
            <a:endParaRPr lang="en-US" dirty="0"/>
          </a:p>
        </p:txBody>
      </p:sp>
      <p:sp>
        <p:nvSpPr>
          <p:cNvPr id="2" name="Title 1"/>
          <p:cNvSpPr>
            <a:spLocks noGrp="1"/>
          </p:cNvSpPr>
          <p:nvPr>
            <p:ph type="title" idx="4294967295"/>
          </p:nvPr>
        </p:nvSpPr>
        <p:spPr>
          <a:xfrm>
            <a:off x="302261" y="1211723"/>
            <a:ext cx="11360150" cy="763588"/>
          </a:xfrm>
        </p:spPr>
        <p:txBody>
          <a:bodyPr/>
          <a:lstStyle/>
          <a:p>
            <a:r>
              <a:rPr lang="en-US" b="1" dirty="0"/>
              <a:t>Understanding Software Architecture</a:t>
            </a:r>
          </a:p>
        </p:txBody>
      </p:sp>
      <p:sp>
        <p:nvSpPr>
          <p:cNvPr id="3" name="Content Placeholder 2"/>
          <p:cNvSpPr>
            <a:spLocks noGrp="1"/>
          </p:cNvSpPr>
          <p:nvPr>
            <p:ph idx="4294967295"/>
          </p:nvPr>
        </p:nvSpPr>
        <p:spPr>
          <a:xfrm>
            <a:off x="302261" y="2381173"/>
            <a:ext cx="10994350" cy="3430588"/>
          </a:xfrm>
        </p:spPr>
        <p:txBody>
          <a:bodyPr>
            <a:normAutofit/>
          </a:bodyPr>
          <a:lstStyle/>
          <a:p>
            <a:pPr>
              <a:lnSpc>
                <a:spcPct val="150000"/>
              </a:lnSpc>
            </a:pPr>
            <a:r>
              <a:rPr lang="en-US" sz="2000" dirty="0"/>
              <a:t>Software architecture refers to the high-level structure of a software system, including the components, interactions, and relationships between them. </a:t>
            </a:r>
          </a:p>
          <a:p>
            <a:pPr>
              <a:lnSpc>
                <a:spcPct val="150000"/>
              </a:lnSpc>
            </a:pPr>
            <a:r>
              <a:rPr lang="en-US" sz="2000" dirty="0"/>
              <a:t>It provides a blueprint for the software system, which helps in understanding how the different parts of the system fit together and how they will work together to meet the requirements.</a:t>
            </a:r>
          </a:p>
        </p:txBody>
      </p:sp>
    </p:spTree>
    <p:extLst>
      <p:ext uri="{BB962C8B-B14F-4D97-AF65-F5344CB8AC3E}">
        <p14:creationId xmlns:p14="http://schemas.microsoft.com/office/powerpoint/2010/main" val="69771456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325197" y="6217623"/>
            <a:ext cx="703014" cy="524800"/>
          </a:xfrm>
        </p:spPr>
        <p:txBody>
          <a:bodyPr/>
          <a:lstStyle/>
          <a:p>
            <a:fld id="{B8DACC02-A2BD-4578-8E03-6D891060A695}" type="slidenum">
              <a:rPr lang="en-US" smtClean="0"/>
              <a:pPr/>
              <a:t>92</a:t>
            </a:fld>
            <a:endParaRPr lang="en-US" dirty="0"/>
          </a:p>
        </p:txBody>
      </p:sp>
      <p:sp>
        <p:nvSpPr>
          <p:cNvPr id="2" name="Title 1"/>
          <p:cNvSpPr>
            <a:spLocks noGrp="1"/>
          </p:cNvSpPr>
          <p:nvPr>
            <p:ph type="title" idx="4294967295"/>
          </p:nvPr>
        </p:nvSpPr>
        <p:spPr>
          <a:xfrm>
            <a:off x="760437" y="208833"/>
            <a:ext cx="10916267" cy="763588"/>
          </a:xfrm>
          <a:prstGeom prst="rect">
            <a:avLst/>
          </a:prstGeom>
        </p:spPr>
        <p:txBody>
          <a:bodyPr/>
          <a:lstStyle/>
          <a:p>
            <a:r>
              <a:rPr lang="en-US" b="1" dirty="0"/>
              <a:t>Why is Software Architecture Important?</a:t>
            </a:r>
          </a:p>
        </p:txBody>
      </p:sp>
      <p:sp>
        <p:nvSpPr>
          <p:cNvPr id="3" name="Content Placeholder 2"/>
          <p:cNvSpPr>
            <a:spLocks noGrp="1"/>
          </p:cNvSpPr>
          <p:nvPr>
            <p:ph idx="4294967295"/>
          </p:nvPr>
        </p:nvSpPr>
        <p:spPr>
          <a:xfrm>
            <a:off x="456866" y="1628263"/>
            <a:ext cx="10626571" cy="3430588"/>
          </a:xfrm>
          <a:prstGeom prst="rect">
            <a:avLst/>
          </a:prstGeom>
        </p:spPr>
        <p:txBody>
          <a:bodyPr>
            <a:normAutofit/>
          </a:bodyPr>
          <a:lstStyle/>
          <a:p>
            <a:pPr lvl="1">
              <a:lnSpc>
                <a:spcPct val="100000"/>
              </a:lnSpc>
              <a:spcBef>
                <a:spcPts val="1200"/>
              </a:spcBef>
            </a:pPr>
            <a:r>
              <a:rPr lang="en-US" b="1" dirty="0"/>
              <a:t>Quality Attributes:</a:t>
            </a:r>
            <a:r>
              <a:rPr lang="en-US" dirty="0"/>
              <a:t> It defines the system's properties, such as scalability, reliability, and performance.</a:t>
            </a:r>
          </a:p>
          <a:p>
            <a:pPr lvl="1">
              <a:lnSpc>
                <a:spcPct val="100000"/>
              </a:lnSpc>
              <a:spcBef>
                <a:spcPts val="1200"/>
              </a:spcBef>
            </a:pPr>
            <a:r>
              <a:rPr lang="en-US" b="1" dirty="0"/>
              <a:t>Risk Management: </a:t>
            </a:r>
            <a:r>
              <a:rPr lang="en-US" dirty="0"/>
              <a:t>It helps identify and mitigate potential risks in the early stages of software development.</a:t>
            </a:r>
          </a:p>
          <a:p>
            <a:pPr lvl="1">
              <a:lnSpc>
                <a:spcPct val="100000"/>
              </a:lnSpc>
              <a:spcBef>
                <a:spcPts val="1200"/>
              </a:spcBef>
            </a:pPr>
            <a:r>
              <a:rPr lang="en-US" b="1" dirty="0"/>
              <a:t>Communication: </a:t>
            </a:r>
            <a:r>
              <a:rPr lang="en-US" dirty="0"/>
              <a:t>It provides communication between stakeholders, aiding understanding and collaboration.</a:t>
            </a:r>
          </a:p>
          <a:p>
            <a:pPr lvl="1">
              <a:lnSpc>
                <a:spcPct val="100000"/>
              </a:lnSpc>
              <a:spcBef>
                <a:spcPts val="1200"/>
              </a:spcBef>
            </a:pPr>
            <a:r>
              <a:rPr lang="en-US" b="1" dirty="0"/>
              <a:t>Future-Proofing: </a:t>
            </a:r>
            <a:r>
              <a:rPr lang="en-US" dirty="0"/>
              <a:t>It makes future changes and enhancements more manageable by providing a clear structure and roadmap.</a:t>
            </a:r>
          </a:p>
        </p:txBody>
      </p:sp>
    </p:spTree>
    <p:extLst>
      <p:ext uri="{BB962C8B-B14F-4D97-AF65-F5344CB8AC3E}">
        <p14:creationId xmlns:p14="http://schemas.microsoft.com/office/powerpoint/2010/main" val="4531540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351817" y="6217623"/>
            <a:ext cx="676393" cy="524800"/>
          </a:xfrm>
        </p:spPr>
        <p:txBody>
          <a:bodyPr/>
          <a:lstStyle/>
          <a:p>
            <a:fld id="{B8DACC02-A2BD-4578-8E03-6D891060A695}" type="slidenum">
              <a:rPr lang="en-US" smtClean="0"/>
              <a:pPr/>
              <a:t>93</a:t>
            </a:fld>
            <a:endParaRPr lang="en-US" dirty="0"/>
          </a:p>
        </p:txBody>
      </p:sp>
      <p:sp>
        <p:nvSpPr>
          <p:cNvPr id="2" name="Title 1"/>
          <p:cNvSpPr>
            <a:spLocks noGrp="1"/>
          </p:cNvSpPr>
          <p:nvPr>
            <p:ph type="title" idx="4294967295"/>
          </p:nvPr>
        </p:nvSpPr>
        <p:spPr>
          <a:xfrm>
            <a:off x="857250" y="503800"/>
            <a:ext cx="10502900" cy="763588"/>
          </a:xfrm>
          <a:prstGeom prst="rect">
            <a:avLst/>
          </a:prstGeom>
        </p:spPr>
        <p:txBody>
          <a:bodyPr>
            <a:normAutofit/>
          </a:bodyPr>
          <a:lstStyle/>
          <a:p>
            <a:r>
              <a:rPr lang="en-US" b="1" dirty="0"/>
              <a:t>Key Concepts in Software Architecture</a:t>
            </a:r>
          </a:p>
        </p:txBody>
      </p:sp>
      <p:sp>
        <p:nvSpPr>
          <p:cNvPr id="3" name="Content Placeholder 2"/>
          <p:cNvSpPr>
            <a:spLocks noGrp="1"/>
          </p:cNvSpPr>
          <p:nvPr>
            <p:ph idx="4294967295"/>
          </p:nvPr>
        </p:nvSpPr>
        <p:spPr>
          <a:xfrm>
            <a:off x="848917" y="1569269"/>
            <a:ext cx="10812142" cy="2786421"/>
          </a:xfrm>
          <a:prstGeom prst="rect">
            <a:avLst/>
          </a:prstGeom>
        </p:spPr>
        <p:txBody>
          <a:bodyPr>
            <a:normAutofit fontScale="92500" lnSpcReduction="20000"/>
          </a:bodyPr>
          <a:lstStyle/>
          <a:p>
            <a:pPr marL="0" lvl="0" indent="0" eaLnBrk="0" fontAlgn="base" hangingPunct="0">
              <a:lnSpc>
                <a:spcPct val="100000"/>
              </a:lnSpc>
              <a:spcBef>
                <a:spcPct val="0"/>
              </a:spcBef>
              <a:spcAft>
                <a:spcPct val="0"/>
              </a:spcAft>
              <a:buClrTx/>
              <a:buSzTx/>
              <a:buFontTx/>
              <a:buChar char="•"/>
            </a:pPr>
            <a:r>
              <a:rPr lang="en-US" altLang="en-US" b="1" dirty="0">
                <a:solidFill>
                  <a:schemeClr val="tx1"/>
                </a:solidFill>
                <a:latin typeface="Arial" panose="020B0604020202020204" pitchFamily="34" charset="0"/>
              </a:rPr>
              <a:t>Components, Connectors, and Configurations:</a:t>
            </a:r>
            <a:r>
              <a:rPr lang="en-US" altLang="en-US" dirty="0">
                <a:solidFill>
                  <a:schemeClr val="tx1"/>
                </a:solidFill>
                <a:latin typeface="Arial" panose="020B0604020202020204" pitchFamily="34" charset="0"/>
              </a:rPr>
              <a:t> Components are the main building blocks, connectors define how they communicate, and configuration describes how they are arranged in the system.</a:t>
            </a:r>
          </a:p>
          <a:p>
            <a:pPr marL="0" lvl="0" indent="0" eaLnBrk="0" fontAlgn="base" hangingPunct="0">
              <a:lnSpc>
                <a:spcPct val="100000"/>
              </a:lnSpc>
              <a:spcBef>
                <a:spcPct val="0"/>
              </a:spcBef>
              <a:spcAft>
                <a:spcPct val="0"/>
              </a:spcAft>
              <a:buClrTx/>
              <a:buSzTx/>
              <a:buNone/>
            </a:pPr>
            <a:endParaRPr lang="en-US" altLang="en-US" dirty="0">
              <a:solidFill>
                <a:schemeClr val="tx1"/>
              </a:solidFill>
              <a:latin typeface="Arial" panose="020B0604020202020204" pitchFamily="34" charset="0"/>
            </a:endParaRPr>
          </a:p>
          <a:p>
            <a:pPr marL="0" lvl="0" indent="0" eaLnBrk="0" fontAlgn="base" hangingPunct="0">
              <a:lnSpc>
                <a:spcPct val="100000"/>
              </a:lnSpc>
              <a:spcBef>
                <a:spcPct val="0"/>
              </a:spcBef>
              <a:spcAft>
                <a:spcPct val="0"/>
              </a:spcAft>
              <a:buClrTx/>
              <a:buSzTx/>
              <a:buNone/>
            </a:pPr>
            <a:r>
              <a:rPr lang="en-US" altLang="en-US" b="1" dirty="0">
                <a:solidFill>
                  <a:schemeClr val="tx1"/>
                </a:solidFill>
              </a:rPr>
              <a:t>Component - </a:t>
            </a:r>
            <a:r>
              <a:rPr lang="en-US" dirty="0">
                <a:solidFill>
                  <a:schemeClr val="tx1"/>
                </a:solidFill>
              </a:rPr>
              <a:t>A </a:t>
            </a:r>
            <a:r>
              <a:rPr lang="en-US" b="1" dirty="0">
                <a:solidFill>
                  <a:schemeClr val="tx1"/>
                </a:solidFill>
              </a:rPr>
              <a:t>component</a:t>
            </a:r>
            <a:r>
              <a:rPr lang="en-US" dirty="0">
                <a:solidFill>
                  <a:schemeClr val="tx1"/>
                </a:solidFill>
              </a:rPr>
              <a:t> is a modular, deployable, and replaceable unit of a system that encapsulates a set of related functions or data. </a:t>
            </a:r>
          </a:p>
          <a:p>
            <a:pPr marL="0" lvl="0" indent="0" eaLnBrk="0" fontAlgn="base" hangingPunct="0">
              <a:lnSpc>
                <a:spcPct val="100000"/>
              </a:lnSpc>
              <a:spcBef>
                <a:spcPct val="0"/>
              </a:spcBef>
              <a:spcAft>
                <a:spcPct val="0"/>
              </a:spcAft>
              <a:buClrTx/>
              <a:buSzTx/>
              <a:buNone/>
            </a:pPr>
            <a:endParaRPr lang="en-US" dirty="0">
              <a:solidFill>
                <a:schemeClr val="tx1"/>
              </a:solidFill>
            </a:endParaRPr>
          </a:p>
          <a:p>
            <a:pPr marL="0" lvl="0" indent="0" eaLnBrk="0" fontAlgn="base" hangingPunct="0">
              <a:lnSpc>
                <a:spcPct val="100000"/>
              </a:lnSpc>
              <a:spcBef>
                <a:spcPct val="0"/>
              </a:spcBef>
              <a:spcAft>
                <a:spcPct val="0"/>
              </a:spcAft>
              <a:buClrTx/>
              <a:buSzTx/>
              <a:buNone/>
            </a:pPr>
            <a:r>
              <a:rPr lang="en-US" b="1" dirty="0">
                <a:solidFill>
                  <a:schemeClr val="tx1"/>
                </a:solidFill>
              </a:rPr>
              <a:t>Key Properties of a Good Component</a:t>
            </a:r>
          </a:p>
          <a:p>
            <a:r>
              <a:rPr lang="en-US" b="1" dirty="0">
                <a:solidFill>
                  <a:schemeClr val="tx1"/>
                </a:solidFill>
              </a:rPr>
              <a:t>High Cohesion</a:t>
            </a:r>
            <a:r>
              <a:rPr lang="en-US" dirty="0">
                <a:solidFill>
                  <a:schemeClr val="tx1"/>
                </a:solidFill>
              </a:rPr>
              <a:t> — everything inside it belongs together</a:t>
            </a:r>
          </a:p>
          <a:p>
            <a:r>
              <a:rPr lang="en-US" b="1" dirty="0">
                <a:solidFill>
                  <a:schemeClr val="tx1"/>
                </a:solidFill>
              </a:rPr>
              <a:t>Low Coupling</a:t>
            </a:r>
            <a:r>
              <a:rPr lang="en-US" dirty="0">
                <a:solidFill>
                  <a:schemeClr val="tx1"/>
                </a:solidFill>
              </a:rPr>
              <a:t> — it depends minimally on other components</a:t>
            </a:r>
          </a:p>
          <a:p>
            <a:r>
              <a:rPr lang="en-US" b="1" dirty="0">
                <a:solidFill>
                  <a:schemeClr val="tx1"/>
                </a:solidFill>
              </a:rPr>
              <a:t>Encapsulation</a:t>
            </a:r>
            <a:r>
              <a:rPr lang="en-US" dirty="0">
                <a:solidFill>
                  <a:schemeClr val="tx1"/>
                </a:solidFill>
              </a:rPr>
              <a:t> — it hides its internal implementation</a:t>
            </a:r>
          </a:p>
          <a:p>
            <a:r>
              <a:rPr lang="en-US" b="1" dirty="0">
                <a:solidFill>
                  <a:schemeClr val="tx1"/>
                </a:solidFill>
              </a:rPr>
              <a:t>Replaceability</a:t>
            </a:r>
            <a:r>
              <a:rPr lang="en-US" dirty="0">
                <a:solidFill>
                  <a:schemeClr val="tx1"/>
                </a:solidFill>
              </a:rPr>
              <a:t> — it can be swapped without breaking others</a:t>
            </a:r>
          </a:p>
          <a:p>
            <a:pPr marL="0" lvl="0" indent="0" eaLnBrk="0" fontAlgn="base" hangingPunct="0">
              <a:lnSpc>
                <a:spcPct val="100000"/>
              </a:lnSpc>
              <a:spcBef>
                <a:spcPct val="0"/>
              </a:spcBef>
              <a:spcAft>
                <a:spcPct val="0"/>
              </a:spcAft>
              <a:buClrTx/>
              <a:buSzTx/>
              <a:buNone/>
            </a:pPr>
            <a:endParaRPr lang="en-US" altLang="en-US" dirty="0">
              <a:solidFill>
                <a:schemeClr val="tx1"/>
              </a:solidFill>
              <a:latin typeface="Arial" panose="020B0604020202020204" pitchFamily="34" charset="0"/>
            </a:endParaRPr>
          </a:p>
        </p:txBody>
      </p:sp>
      <p:pic>
        <p:nvPicPr>
          <p:cNvPr id="6" name="Picture 5">
            <a:extLst>
              <a:ext uri="{FF2B5EF4-FFF2-40B4-BE49-F238E27FC236}">
                <a16:creationId xmlns:a16="http://schemas.microsoft.com/office/drawing/2014/main" id="{F54C34DD-4D2C-9DAA-A86C-2AB56EB5AFC3}"/>
              </a:ext>
            </a:extLst>
          </p:cNvPr>
          <p:cNvPicPr>
            <a:picLocks noChangeAspect="1"/>
          </p:cNvPicPr>
          <p:nvPr/>
        </p:nvPicPr>
        <p:blipFill>
          <a:blip r:embed="rId2"/>
          <a:stretch>
            <a:fillRect/>
          </a:stretch>
        </p:blipFill>
        <p:spPr>
          <a:xfrm>
            <a:off x="857251" y="4355690"/>
            <a:ext cx="5691858" cy="1998510"/>
          </a:xfrm>
          <a:prstGeom prst="rect">
            <a:avLst/>
          </a:prstGeom>
        </p:spPr>
      </p:pic>
    </p:spTree>
    <p:extLst>
      <p:ext uri="{BB962C8B-B14F-4D97-AF65-F5344CB8AC3E}">
        <p14:creationId xmlns:p14="http://schemas.microsoft.com/office/powerpoint/2010/main" val="89810314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04632-E4E9-BC9C-D291-6AA1B22A5D8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D4379FA-9BD0-CE48-2E74-00B045968F5B}"/>
              </a:ext>
            </a:extLst>
          </p:cNvPr>
          <p:cNvSpPr>
            <a:spLocks noGrp="1"/>
          </p:cNvSpPr>
          <p:nvPr>
            <p:ph type="sldNum" sz="quarter" idx="12"/>
          </p:nvPr>
        </p:nvSpPr>
        <p:spPr>
          <a:xfrm>
            <a:off x="11351817" y="6217623"/>
            <a:ext cx="676393" cy="524800"/>
          </a:xfrm>
        </p:spPr>
        <p:txBody>
          <a:bodyPr/>
          <a:lstStyle/>
          <a:p>
            <a:fld id="{B8DACC02-A2BD-4578-8E03-6D891060A695}" type="slidenum">
              <a:rPr lang="en-US" smtClean="0"/>
              <a:pPr/>
              <a:t>94</a:t>
            </a:fld>
            <a:endParaRPr lang="en-US" dirty="0"/>
          </a:p>
        </p:txBody>
      </p:sp>
      <p:sp>
        <p:nvSpPr>
          <p:cNvPr id="2" name="Title 1">
            <a:extLst>
              <a:ext uri="{FF2B5EF4-FFF2-40B4-BE49-F238E27FC236}">
                <a16:creationId xmlns:a16="http://schemas.microsoft.com/office/drawing/2014/main" id="{1434C78F-6364-76F2-4DE4-FB6970ECADE3}"/>
              </a:ext>
            </a:extLst>
          </p:cNvPr>
          <p:cNvSpPr>
            <a:spLocks noGrp="1"/>
          </p:cNvSpPr>
          <p:nvPr>
            <p:ph type="title" idx="4294967295"/>
          </p:nvPr>
        </p:nvSpPr>
        <p:spPr>
          <a:xfrm>
            <a:off x="1053895" y="474304"/>
            <a:ext cx="10502900" cy="763588"/>
          </a:xfrm>
          <a:prstGeom prst="rect">
            <a:avLst/>
          </a:prstGeom>
        </p:spPr>
        <p:txBody>
          <a:bodyPr>
            <a:normAutofit/>
          </a:bodyPr>
          <a:lstStyle/>
          <a:p>
            <a:r>
              <a:rPr lang="en-US" b="1" dirty="0"/>
              <a:t>Key Concepts in Software Architecture</a:t>
            </a:r>
          </a:p>
        </p:txBody>
      </p:sp>
      <p:sp>
        <p:nvSpPr>
          <p:cNvPr id="3" name="Content Placeholder 2">
            <a:extLst>
              <a:ext uri="{FF2B5EF4-FFF2-40B4-BE49-F238E27FC236}">
                <a16:creationId xmlns:a16="http://schemas.microsoft.com/office/drawing/2014/main" id="{2B432598-B3A0-C2C1-E113-F527DEBA3A83}"/>
              </a:ext>
            </a:extLst>
          </p:cNvPr>
          <p:cNvSpPr>
            <a:spLocks noGrp="1"/>
          </p:cNvSpPr>
          <p:nvPr>
            <p:ph idx="4294967295"/>
          </p:nvPr>
        </p:nvSpPr>
        <p:spPr>
          <a:xfrm>
            <a:off x="844550" y="1638095"/>
            <a:ext cx="10502900" cy="3430588"/>
          </a:xfrm>
          <a:prstGeom prst="rect">
            <a:avLst/>
          </a:prstGeom>
        </p:spPr>
        <p:txBody>
          <a:bodyPr>
            <a:normAutofit/>
          </a:bodyPr>
          <a:lstStyle/>
          <a:p>
            <a:pPr marL="0" lvl="0" indent="0" eaLnBrk="0" fontAlgn="base" hangingPunct="0">
              <a:lnSpc>
                <a:spcPct val="100000"/>
              </a:lnSpc>
              <a:spcBef>
                <a:spcPct val="0"/>
              </a:spcBef>
              <a:spcAft>
                <a:spcPct val="0"/>
              </a:spcAft>
              <a:buClrTx/>
              <a:buSzTx/>
              <a:buFontTx/>
              <a:buChar char="•"/>
            </a:pPr>
            <a:r>
              <a:rPr lang="en-IN" b="1" dirty="0">
                <a:solidFill>
                  <a:schemeClr val="tx1"/>
                </a:solidFill>
              </a:rPr>
              <a:t>Connectors — The Communication Channels</a:t>
            </a:r>
          </a:p>
          <a:p>
            <a:pPr marL="0" lvl="0" indent="0" eaLnBrk="0" fontAlgn="base" hangingPunct="0">
              <a:lnSpc>
                <a:spcPct val="100000"/>
              </a:lnSpc>
              <a:spcBef>
                <a:spcPct val="0"/>
              </a:spcBef>
              <a:spcAft>
                <a:spcPct val="0"/>
              </a:spcAft>
              <a:buClrTx/>
              <a:buSzTx/>
              <a:buFontTx/>
              <a:buChar char="•"/>
            </a:pPr>
            <a:endParaRPr lang="en-IN" altLang="en-US" b="1" dirty="0">
              <a:solidFill>
                <a:schemeClr val="tx1"/>
              </a:solidFill>
              <a:latin typeface="Arial" panose="020B0604020202020204" pitchFamily="34" charset="0"/>
            </a:endParaRPr>
          </a:p>
          <a:p>
            <a:pPr marL="0" lvl="0" indent="0" eaLnBrk="0" fontAlgn="base" hangingPunct="0">
              <a:lnSpc>
                <a:spcPct val="100000"/>
              </a:lnSpc>
              <a:spcBef>
                <a:spcPct val="0"/>
              </a:spcBef>
              <a:spcAft>
                <a:spcPct val="0"/>
              </a:spcAft>
              <a:buClrTx/>
              <a:buSzTx/>
              <a:buNone/>
            </a:pPr>
            <a:r>
              <a:rPr lang="en-US" dirty="0">
                <a:solidFill>
                  <a:schemeClr val="tx1"/>
                </a:solidFill>
              </a:rPr>
              <a:t>They define </a:t>
            </a:r>
            <a:r>
              <a:rPr lang="en-US" i="1" dirty="0">
                <a:solidFill>
                  <a:schemeClr val="tx1"/>
                </a:solidFill>
              </a:rPr>
              <a:t>how</a:t>
            </a:r>
            <a:r>
              <a:rPr lang="en-US" dirty="0">
                <a:solidFill>
                  <a:schemeClr val="tx1"/>
                </a:solidFill>
              </a:rPr>
              <a:t> components talk to each other. Connectors carry data, control, and coordination signals between components.</a:t>
            </a:r>
          </a:p>
          <a:p>
            <a:pPr marL="0" lvl="0" indent="0" eaLnBrk="0" fontAlgn="base" hangingPunct="0">
              <a:lnSpc>
                <a:spcPct val="100000"/>
              </a:lnSpc>
              <a:spcBef>
                <a:spcPct val="0"/>
              </a:spcBef>
              <a:spcAft>
                <a:spcPct val="0"/>
              </a:spcAft>
              <a:buClrTx/>
              <a:buSzTx/>
              <a:buNone/>
            </a:pPr>
            <a:endParaRPr lang="en-US" altLang="en-US" b="1" dirty="0">
              <a:solidFill>
                <a:schemeClr val="tx1"/>
              </a:solidFill>
              <a:latin typeface="Arial" panose="020B0604020202020204" pitchFamily="34" charset="0"/>
            </a:endParaRPr>
          </a:p>
          <a:p>
            <a:pPr marL="0" indent="0" eaLnBrk="0" fontAlgn="base" hangingPunct="0">
              <a:lnSpc>
                <a:spcPct val="100000"/>
              </a:lnSpc>
              <a:spcBef>
                <a:spcPct val="0"/>
              </a:spcBef>
              <a:spcAft>
                <a:spcPct val="0"/>
              </a:spcAft>
              <a:buClrTx/>
              <a:buSzTx/>
              <a:buNone/>
            </a:pPr>
            <a:r>
              <a:rPr lang="en-US" b="1" dirty="0">
                <a:solidFill>
                  <a:schemeClr val="tx1"/>
                </a:solidFill>
              </a:rPr>
              <a:t>Types of Connectors</a:t>
            </a:r>
          </a:p>
          <a:p>
            <a:pPr marL="342900" eaLnBrk="0" fontAlgn="base" hangingPunct="0">
              <a:lnSpc>
                <a:spcPct val="100000"/>
              </a:lnSpc>
              <a:spcBef>
                <a:spcPct val="0"/>
              </a:spcBef>
              <a:spcAft>
                <a:spcPct val="0"/>
              </a:spcAft>
              <a:buClrTx/>
              <a:buSzTx/>
              <a:buFont typeface="Arial"/>
              <a:buAutoNum type="arabicPeriod"/>
            </a:pPr>
            <a:r>
              <a:rPr lang="en-US" b="1" dirty="0">
                <a:solidFill>
                  <a:schemeClr val="tx1"/>
                </a:solidFill>
              </a:rPr>
              <a:t>Procedure Call Connectors (Synchronous) </a:t>
            </a:r>
            <a:r>
              <a:rPr lang="en-US" dirty="0">
                <a:solidFill>
                  <a:schemeClr val="tx1"/>
                </a:solidFill>
              </a:rPr>
              <a:t>The caller waits for a response before continuing. Simple and predictable.</a:t>
            </a:r>
          </a:p>
          <a:p>
            <a:pPr marL="342900" eaLnBrk="0" fontAlgn="base" hangingPunct="0">
              <a:lnSpc>
                <a:spcPct val="100000"/>
              </a:lnSpc>
              <a:spcBef>
                <a:spcPct val="0"/>
              </a:spcBef>
              <a:spcAft>
                <a:spcPct val="0"/>
              </a:spcAft>
              <a:buClrTx/>
              <a:buSzTx/>
              <a:buFont typeface="Arial"/>
              <a:buAutoNum type="arabicPeriod"/>
            </a:pPr>
            <a:r>
              <a:rPr lang="en-US" b="1" dirty="0">
                <a:solidFill>
                  <a:schemeClr val="tx1"/>
                </a:solidFill>
              </a:rPr>
              <a:t>Event-Based Connectors (Asynchronous) </a:t>
            </a:r>
            <a:r>
              <a:rPr lang="en-US" dirty="0">
                <a:solidFill>
                  <a:schemeClr val="tx1"/>
                </a:solidFill>
              </a:rPr>
              <a:t>The sender fires a message and moves on. The receiver processes it independently.</a:t>
            </a:r>
          </a:p>
          <a:p>
            <a:pPr marL="0" lvl="0" indent="0" eaLnBrk="0" fontAlgn="base" hangingPunct="0">
              <a:lnSpc>
                <a:spcPct val="100000"/>
              </a:lnSpc>
              <a:spcBef>
                <a:spcPct val="0"/>
              </a:spcBef>
              <a:spcAft>
                <a:spcPct val="0"/>
              </a:spcAft>
              <a:buClrTx/>
              <a:buSzTx/>
              <a:buNone/>
            </a:pPr>
            <a:r>
              <a:rPr lang="en-US" altLang="en-US" b="1" dirty="0">
                <a:solidFill>
                  <a:schemeClr val="tx1"/>
                </a:solidFill>
                <a:latin typeface="Arial" panose="020B0604020202020204" pitchFamily="34" charset="0"/>
              </a:rPr>
              <a:t>3.  Data Stream Connectors - </a:t>
            </a:r>
            <a:r>
              <a:rPr lang="en-US" altLang="en-US" dirty="0">
                <a:solidFill>
                  <a:schemeClr val="tx1"/>
                </a:solidFill>
                <a:latin typeface="Arial" panose="020B0604020202020204" pitchFamily="34" charset="0"/>
              </a:rPr>
              <a:t>Continuous flow of data between components, processed in real time.</a:t>
            </a:r>
          </a:p>
        </p:txBody>
      </p:sp>
    </p:spTree>
    <p:extLst>
      <p:ext uri="{BB962C8B-B14F-4D97-AF65-F5344CB8AC3E}">
        <p14:creationId xmlns:p14="http://schemas.microsoft.com/office/powerpoint/2010/main" val="289525039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9B264-C54A-0693-8742-55D9AB6CF56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6AAA012-0128-8F8E-FD72-37F4C4E7B2AC}"/>
              </a:ext>
            </a:extLst>
          </p:cNvPr>
          <p:cNvSpPr>
            <a:spLocks noGrp="1"/>
          </p:cNvSpPr>
          <p:nvPr>
            <p:ph type="sldNum" sz="quarter" idx="12"/>
          </p:nvPr>
        </p:nvSpPr>
        <p:spPr>
          <a:xfrm>
            <a:off x="11351817" y="6217623"/>
            <a:ext cx="676393" cy="524800"/>
          </a:xfrm>
        </p:spPr>
        <p:txBody>
          <a:bodyPr/>
          <a:lstStyle/>
          <a:p>
            <a:fld id="{B8DACC02-A2BD-4578-8E03-6D891060A695}" type="slidenum">
              <a:rPr lang="en-US" smtClean="0"/>
              <a:pPr/>
              <a:t>95</a:t>
            </a:fld>
            <a:endParaRPr lang="en-US" dirty="0"/>
          </a:p>
        </p:txBody>
      </p:sp>
      <p:sp>
        <p:nvSpPr>
          <p:cNvPr id="2" name="Title 1">
            <a:extLst>
              <a:ext uri="{FF2B5EF4-FFF2-40B4-BE49-F238E27FC236}">
                <a16:creationId xmlns:a16="http://schemas.microsoft.com/office/drawing/2014/main" id="{7570F04C-38DA-0168-591F-89FD8DE1F8A7}"/>
              </a:ext>
            </a:extLst>
          </p:cNvPr>
          <p:cNvSpPr>
            <a:spLocks noGrp="1"/>
          </p:cNvSpPr>
          <p:nvPr>
            <p:ph type="title" idx="4294967295"/>
          </p:nvPr>
        </p:nvSpPr>
        <p:spPr>
          <a:xfrm>
            <a:off x="1053895" y="474304"/>
            <a:ext cx="10502900" cy="763588"/>
          </a:xfrm>
          <a:prstGeom prst="rect">
            <a:avLst/>
          </a:prstGeom>
        </p:spPr>
        <p:txBody>
          <a:bodyPr>
            <a:normAutofit/>
          </a:bodyPr>
          <a:lstStyle/>
          <a:p>
            <a:r>
              <a:rPr lang="en-US" b="1" dirty="0"/>
              <a:t>Key Concepts in Software Architecture</a:t>
            </a:r>
          </a:p>
        </p:txBody>
      </p:sp>
      <p:sp>
        <p:nvSpPr>
          <p:cNvPr id="3" name="Content Placeholder 2">
            <a:extLst>
              <a:ext uri="{FF2B5EF4-FFF2-40B4-BE49-F238E27FC236}">
                <a16:creationId xmlns:a16="http://schemas.microsoft.com/office/drawing/2014/main" id="{58BC87AC-62C2-E4C1-AF0C-E5FA202CC059}"/>
              </a:ext>
            </a:extLst>
          </p:cNvPr>
          <p:cNvSpPr>
            <a:spLocks noGrp="1"/>
          </p:cNvSpPr>
          <p:nvPr>
            <p:ph idx="4294967295"/>
          </p:nvPr>
        </p:nvSpPr>
        <p:spPr>
          <a:xfrm>
            <a:off x="379837" y="1715319"/>
            <a:ext cx="5456394" cy="3430588"/>
          </a:xfrm>
          <a:prstGeom prst="rect">
            <a:avLst/>
          </a:prstGeom>
        </p:spPr>
        <p:txBody>
          <a:bodyPr>
            <a:normAutofit/>
          </a:bodyPr>
          <a:lstStyle/>
          <a:p>
            <a:pPr marL="0" lvl="0" indent="0" eaLnBrk="0" fontAlgn="base" hangingPunct="0">
              <a:lnSpc>
                <a:spcPct val="100000"/>
              </a:lnSpc>
              <a:spcBef>
                <a:spcPct val="0"/>
              </a:spcBef>
              <a:spcAft>
                <a:spcPct val="0"/>
              </a:spcAft>
              <a:buClrTx/>
              <a:buSzTx/>
              <a:buFontTx/>
              <a:buChar char="•"/>
            </a:pPr>
            <a:r>
              <a:rPr lang="en-IN" b="1" dirty="0">
                <a:solidFill>
                  <a:schemeClr val="tx1"/>
                </a:solidFill>
              </a:rPr>
              <a:t>Configurations — The Arrangement</a:t>
            </a:r>
          </a:p>
          <a:p>
            <a:pPr marL="0" lvl="0" indent="0" eaLnBrk="0" fontAlgn="base" hangingPunct="0">
              <a:lnSpc>
                <a:spcPct val="100000"/>
              </a:lnSpc>
              <a:spcBef>
                <a:spcPct val="0"/>
              </a:spcBef>
              <a:spcAft>
                <a:spcPct val="0"/>
              </a:spcAft>
              <a:buClrTx/>
              <a:buSzTx/>
              <a:buFontTx/>
              <a:buChar char="•"/>
            </a:pPr>
            <a:endParaRPr lang="en-IN" altLang="en-US" b="1" dirty="0">
              <a:solidFill>
                <a:schemeClr val="tx1"/>
              </a:solidFill>
              <a:latin typeface="Arial" panose="020B0604020202020204" pitchFamily="34" charset="0"/>
            </a:endParaRPr>
          </a:p>
          <a:p>
            <a:pPr marL="0" lvl="0" indent="0" eaLnBrk="0" fontAlgn="base" hangingPunct="0">
              <a:lnSpc>
                <a:spcPct val="100000"/>
              </a:lnSpc>
              <a:spcBef>
                <a:spcPct val="0"/>
              </a:spcBef>
              <a:spcAft>
                <a:spcPct val="0"/>
              </a:spcAft>
              <a:buClrTx/>
              <a:buSzTx/>
              <a:buNone/>
            </a:pPr>
            <a:r>
              <a:rPr lang="en-US" dirty="0">
                <a:solidFill>
                  <a:schemeClr val="tx1"/>
                </a:solidFill>
              </a:rPr>
              <a:t>A </a:t>
            </a:r>
            <a:r>
              <a:rPr lang="en-US" b="1" dirty="0">
                <a:solidFill>
                  <a:schemeClr val="tx1"/>
                </a:solidFill>
              </a:rPr>
              <a:t>configuration</a:t>
            </a:r>
            <a:r>
              <a:rPr lang="en-US" dirty="0">
                <a:solidFill>
                  <a:schemeClr val="tx1"/>
                </a:solidFill>
              </a:rPr>
              <a:t> describes how components and connectors are assembled and arranged to form a working system. The same components with different configurations create entirely different systems.</a:t>
            </a:r>
          </a:p>
          <a:p>
            <a:pPr marL="0" lvl="0" indent="0" eaLnBrk="0" fontAlgn="base" hangingPunct="0">
              <a:lnSpc>
                <a:spcPct val="100000"/>
              </a:lnSpc>
              <a:spcBef>
                <a:spcPct val="0"/>
              </a:spcBef>
              <a:spcAft>
                <a:spcPct val="0"/>
              </a:spcAft>
              <a:buClrTx/>
              <a:buSzTx/>
              <a:buNone/>
            </a:pPr>
            <a:endParaRPr lang="en-US" altLang="en-US" b="1" dirty="0">
              <a:solidFill>
                <a:schemeClr val="tx1"/>
              </a:solidFill>
              <a:latin typeface="Arial" panose="020B0604020202020204" pitchFamily="34" charset="0"/>
            </a:endParaRPr>
          </a:p>
        </p:txBody>
      </p:sp>
      <p:pic>
        <p:nvPicPr>
          <p:cNvPr id="6" name="Picture 5">
            <a:extLst>
              <a:ext uri="{FF2B5EF4-FFF2-40B4-BE49-F238E27FC236}">
                <a16:creationId xmlns:a16="http://schemas.microsoft.com/office/drawing/2014/main" id="{B9455207-5B6D-7C39-8F68-8D85E5A6329E}"/>
              </a:ext>
            </a:extLst>
          </p:cNvPr>
          <p:cNvPicPr>
            <a:picLocks noChangeAspect="1"/>
          </p:cNvPicPr>
          <p:nvPr/>
        </p:nvPicPr>
        <p:blipFill>
          <a:blip r:embed="rId2"/>
          <a:stretch>
            <a:fillRect/>
          </a:stretch>
        </p:blipFill>
        <p:spPr>
          <a:xfrm>
            <a:off x="5732207" y="1712093"/>
            <a:ext cx="6029532" cy="4454779"/>
          </a:xfrm>
          <a:prstGeom prst="rect">
            <a:avLst/>
          </a:prstGeom>
        </p:spPr>
      </p:pic>
    </p:spTree>
    <p:extLst>
      <p:ext uri="{BB962C8B-B14F-4D97-AF65-F5344CB8AC3E}">
        <p14:creationId xmlns:p14="http://schemas.microsoft.com/office/powerpoint/2010/main" val="273642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B5656-B62F-46FE-6B0A-BE600C9F448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432B818-6DAA-032D-F3F1-1944B9A49BE1}"/>
              </a:ext>
            </a:extLst>
          </p:cNvPr>
          <p:cNvSpPr>
            <a:spLocks noGrp="1"/>
          </p:cNvSpPr>
          <p:nvPr>
            <p:ph type="sldNum" sz="quarter" idx="12"/>
          </p:nvPr>
        </p:nvSpPr>
        <p:spPr>
          <a:xfrm>
            <a:off x="11351817" y="6217623"/>
            <a:ext cx="676393" cy="524800"/>
          </a:xfrm>
        </p:spPr>
        <p:txBody>
          <a:bodyPr/>
          <a:lstStyle/>
          <a:p>
            <a:fld id="{B8DACC02-A2BD-4578-8E03-6D891060A695}" type="slidenum">
              <a:rPr lang="en-US" smtClean="0"/>
              <a:pPr/>
              <a:t>96</a:t>
            </a:fld>
            <a:endParaRPr lang="en-US" dirty="0"/>
          </a:p>
        </p:txBody>
      </p:sp>
      <p:sp>
        <p:nvSpPr>
          <p:cNvPr id="2" name="Title 1">
            <a:extLst>
              <a:ext uri="{FF2B5EF4-FFF2-40B4-BE49-F238E27FC236}">
                <a16:creationId xmlns:a16="http://schemas.microsoft.com/office/drawing/2014/main" id="{C8F8D914-483F-D7B4-B235-AC8E1B5B3EE3}"/>
              </a:ext>
            </a:extLst>
          </p:cNvPr>
          <p:cNvSpPr>
            <a:spLocks noGrp="1"/>
          </p:cNvSpPr>
          <p:nvPr>
            <p:ph type="title" idx="4294967295"/>
          </p:nvPr>
        </p:nvSpPr>
        <p:spPr>
          <a:xfrm>
            <a:off x="1004734" y="464471"/>
            <a:ext cx="10502900" cy="763588"/>
          </a:xfrm>
          <a:prstGeom prst="rect">
            <a:avLst/>
          </a:prstGeom>
        </p:spPr>
        <p:txBody>
          <a:bodyPr>
            <a:normAutofit/>
          </a:bodyPr>
          <a:lstStyle/>
          <a:p>
            <a:r>
              <a:rPr lang="en-US" b="1" dirty="0"/>
              <a:t>Key Concepts in Software Architecture</a:t>
            </a:r>
          </a:p>
        </p:txBody>
      </p:sp>
      <p:sp>
        <p:nvSpPr>
          <p:cNvPr id="3" name="Content Placeholder 2">
            <a:extLst>
              <a:ext uri="{FF2B5EF4-FFF2-40B4-BE49-F238E27FC236}">
                <a16:creationId xmlns:a16="http://schemas.microsoft.com/office/drawing/2014/main" id="{48161B85-74C1-0902-354B-32E933BD7780}"/>
              </a:ext>
            </a:extLst>
          </p:cNvPr>
          <p:cNvSpPr>
            <a:spLocks noGrp="1"/>
          </p:cNvSpPr>
          <p:nvPr>
            <p:ph idx="4294967295"/>
          </p:nvPr>
        </p:nvSpPr>
        <p:spPr>
          <a:xfrm>
            <a:off x="848917" y="1451283"/>
            <a:ext cx="10502900" cy="3430588"/>
          </a:xfrm>
          <a:prstGeom prst="rect">
            <a:avLst/>
          </a:prstGeom>
        </p:spPr>
        <p:txBody>
          <a:bodyPr/>
          <a:lstStyle/>
          <a:p>
            <a:pPr marL="0" lvl="0" indent="0" eaLnBrk="0" fontAlgn="base" hangingPunct="0">
              <a:lnSpc>
                <a:spcPct val="100000"/>
              </a:lnSpc>
              <a:spcBef>
                <a:spcPct val="0"/>
              </a:spcBef>
              <a:spcAft>
                <a:spcPct val="0"/>
              </a:spcAft>
              <a:buClrTx/>
              <a:buSzTx/>
              <a:buFontTx/>
              <a:buChar char="•"/>
            </a:pPr>
            <a:r>
              <a:rPr lang="en-US" altLang="en-US" b="1" dirty="0">
                <a:solidFill>
                  <a:schemeClr val="bg2">
                    <a:lumMod val="75000"/>
                  </a:schemeClr>
                </a:solidFill>
                <a:latin typeface="Arial" panose="020B0604020202020204" pitchFamily="34" charset="0"/>
              </a:rPr>
              <a:t>Architectural Styles and Patterns:</a:t>
            </a:r>
            <a:r>
              <a:rPr lang="en-US" altLang="en-US" dirty="0">
                <a:solidFill>
                  <a:schemeClr val="bg2">
                    <a:lumMod val="75000"/>
                  </a:schemeClr>
                </a:solidFill>
                <a:latin typeface="Arial" panose="020B0604020202020204" pitchFamily="34" charset="0"/>
              </a:rPr>
              <a:t> Standard design approaches that provide proven solutions for organizing system structure (e.g., layered, microservices).</a:t>
            </a:r>
          </a:p>
          <a:p>
            <a:pPr marL="0" lvl="0" indent="0" eaLnBrk="0" fontAlgn="base" hangingPunct="0">
              <a:lnSpc>
                <a:spcPct val="100000"/>
              </a:lnSpc>
              <a:spcBef>
                <a:spcPct val="0"/>
              </a:spcBef>
              <a:spcAft>
                <a:spcPct val="0"/>
              </a:spcAft>
              <a:buClrTx/>
              <a:buSzTx/>
              <a:buFontTx/>
              <a:buChar char="•"/>
            </a:pPr>
            <a:endParaRPr lang="en-US" altLang="en-US" dirty="0">
              <a:solidFill>
                <a:schemeClr val="bg2">
                  <a:lumMod val="75000"/>
                </a:schemeClr>
              </a:solidFill>
              <a:latin typeface="Arial" panose="020B0604020202020204" pitchFamily="34" charset="0"/>
            </a:endParaRPr>
          </a:p>
          <a:p>
            <a:pPr marL="0" lvl="0" indent="0" eaLnBrk="0" fontAlgn="base" hangingPunct="0">
              <a:lnSpc>
                <a:spcPct val="100000"/>
              </a:lnSpc>
              <a:spcBef>
                <a:spcPct val="0"/>
              </a:spcBef>
              <a:spcAft>
                <a:spcPct val="0"/>
              </a:spcAft>
              <a:buClrTx/>
              <a:buSzTx/>
              <a:buFontTx/>
              <a:buChar char="•"/>
            </a:pPr>
            <a:r>
              <a:rPr lang="en-US" altLang="en-US" b="1" dirty="0">
                <a:solidFill>
                  <a:schemeClr val="bg2">
                    <a:lumMod val="75000"/>
                  </a:schemeClr>
                </a:solidFill>
                <a:latin typeface="Arial" panose="020B0604020202020204" pitchFamily="34" charset="0"/>
              </a:rPr>
              <a:t>Layers and Tiers in Architecture:</a:t>
            </a:r>
            <a:r>
              <a:rPr lang="en-US" altLang="en-US" dirty="0">
                <a:solidFill>
                  <a:schemeClr val="bg2">
                    <a:lumMod val="75000"/>
                  </a:schemeClr>
                </a:solidFill>
                <a:latin typeface="Arial" panose="020B0604020202020204" pitchFamily="34" charset="0"/>
              </a:rPr>
              <a:t> Layers separate responsibilities logically, while tiers separate system parts physically across different machines or environments.</a:t>
            </a:r>
          </a:p>
        </p:txBody>
      </p:sp>
      <p:pic>
        <p:nvPicPr>
          <p:cNvPr id="6" name="Picture 5">
            <a:extLst>
              <a:ext uri="{FF2B5EF4-FFF2-40B4-BE49-F238E27FC236}">
                <a16:creationId xmlns:a16="http://schemas.microsoft.com/office/drawing/2014/main" id="{E50B4140-8ED1-288E-5638-9133909BA4BC}"/>
              </a:ext>
            </a:extLst>
          </p:cNvPr>
          <p:cNvPicPr>
            <a:picLocks noChangeAspect="1"/>
          </p:cNvPicPr>
          <p:nvPr/>
        </p:nvPicPr>
        <p:blipFill>
          <a:blip r:embed="rId2"/>
          <a:stretch>
            <a:fillRect/>
          </a:stretch>
        </p:blipFill>
        <p:spPr>
          <a:xfrm>
            <a:off x="814882" y="3166577"/>
            <a:ext cx="5281118" cy="2659610"/>
          </a:xfrm>
          <a:prstGeom prst="rect">
            <a:avLst/>
          </a:prstGeom>
        </p:spPr>
      </p:pic>
      <p:pic>
        <p:nvPicPr>
          <p:cNvPr id="8" name="Picture 7">
            <a:extLst>
              <a:ext uri="{FF2B5EF4-FFF2-40B4-BE49-F238E27FC236}">
                <a16:creationId xmlns:a16="http://schemas.microsoft.com/office/drawing/2014/main" id="{B2DEBBDE-A88D-3626-E787-AC87736DBEB8}"/>
              </a:ext>
            </a:extLst>
          </p:cNvPr>
          <p:cNvPicPr>
            <a:picLocks noChangeAspect="1"/>
          </p:cNvPicPr>
          <p:nvPr/>
        </p:nvPicPr>
        <p:blipFill>
          <a:blip r:embed="rId3"/>
          <a:stretch>
            <a:fillRect/>
          </a:stretch>
        </p:blipFill>
        <p:spPr>
          <a:xfrm>
            <a:off x="6256184" y="3166577"/>
            <a:ext cx="5197290" cy="2766300"/>
          </a:xfrm>
          <a:prstGeom prst="rect">
            <a:avLst/>
          </a:prstGeom>
        </p:spPr>
      </p:pic>
    </p:spTree>
    <p:extLst>
      <p:ext uri="{BB962C8B-B14F-4D97-AF65-F5344CB8AC3E}">
        <p14:creationId xmlns:p14="http://schemas.microsoft.com/office/powerpoint/2010/main" val="397467595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8DACC02-A2BD-4578-8E03-6D891060A695}" type="slidenum">
              <a:rPr lang="en-US" smtClean="0"/>
              <a:pPr/>
              <a:t>97</a:t>
            </a:fld>
            <a:endParaRPr lang="en-US" dirty="0"/>
          </a:p>
        </p:txBody>
      </p:sp>
      <p:pic>
        <p:nvPicPr>
          <p:cNvPr id="1026" name="Picture 2" descr="Image preview"/>
          <p:cNvPicPr>
            <a:picLocks noChangeAspect="1" noChangeArrowheads="1"/>
          </p:cNvPicPr>
          <p:nvPr/>
        </p:nvPicPr>
        <p:blipFill rotWithShape="1">
          <a:blip r:embed="rId2">
            <a:extLst>
              <a:ext uri="{28A0092B-C50C-407E-A947-70E740481C1C}">
                <a14:useLocalDpi xmlns:a14="http://schemas.microsoft.com/office/drawing/2010/main" val="0"/>
              </a:ext>
            </a:extLst>
          </a:blip>
          <a:srcRect t="11737" b="3984"/>
          <a:stretch/>
        </p:blipFill>
        <p:spPr bwMode="auto">
          <a:xfrm>
            <a:off x="1203328" y="0"/>
            <a:ext cx="9474198" cy="7034981"/>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3223034" y="6356350"/>
            <a:ext cx="2018922" cy="5016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8296761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8DACC02-A2BD-4578-8E03-6D891060A695}" type="slidenum">
              <a:rPr lang="en-US" smtClean="0"/>
              <a:pPr/>
              <a:t>98</a:t>
            </a:fld>
            <a:endParaRPr lang="en-US" dirty="0"/>
          </a:p>
        </p:txBody>
      </p:sp>
      <p:sp>
        <p:nvSpPr>
          <p:cNvPr id="2" name="Title 1"/>
          <p:cNvSpPr>
            <a:spLocks noGrp="1"/>
          </p:cNvSpPr>
          <p:nvPr>
            <p:ph type="title" idx="4294967295"/>
          </p:nvPr>
        </p:nvSpPr>
        <p:spPr>
          <a:xfrm>
            <a:off x="692786" y="411316"/>
            <a:ext cx="10969625" cy="763588"/>
          </a:xfrm>
          <a:prstGeom prst="rect">
            <a:avLst/>
          </a:prstGeom>
        </p:spPr>
        <p:txBody>
          <a:bodyPr/>
          <a:lstStyle/>
          <a:p>
            <a:r>
              <a:rPr lang="en-US" b="1" dirty="0"/>
              <a:t>Architectural Design Decisions</a:t>
            </a:r>
          </a:p>
        </p:txBody>
      </p:sp>
      <p:sp>
        <p:nvSpPr>
          <p:cNvPr id="3" name="Content Placeholder 2"/>
          <p:cNvSpPr>
            <a:spLocks noGrp="1"/>
          </p:cNvSpPr>
          <p:nvPr>
            <p:ph idx="4294967295"/>
          </p:nvPr>
        </p:nvSpPr>
        <p:spPr>
          <a:xfrm>
            <a:off x="410188" y="1360539"/>
            <a:ext cx="10969625" cy="3893523"/>
          </a:xfrm>
          <a:prstGeom prst="rect">
            <a:avLst/>
          </a:prstGeom>
        </p:spPr>
        <p:txBody>
          <a:bodyPr>
            <a:normAutofit/>
          </a:bodyPr>
          <a:lstStyle/>
          <a:p>
            <a:pPr>
              <a:lnSpc>
                <a:spcPct val="200000"/>
              </a:lnSpc>
            </a:pPr>
            <a:r>
              <a:rPr lang="en-US" dirty="0"/>
              <a:t>How and when to make design decisions</a:t>
            </a:r>
          </a:p>
          <a:p>
            <a:pPr lvl="1">
              <a:lnSpc>
                <a:spcPct val="110000"/>
              </a:lnSpc>
            </a:pPr>
            <a:r>
              <a:rPr lang="en-US" dirty="0"/>
              <a:t>Made after understanding business goals and system requirements.</a:t>
            </a:r>
          </a:p>
          <a:p>
            <a:pPr lvl="1">
              <a:lnSpc>
                <a:spcPct val="110000"/>
              </a:lnSpc>
            </a:pPr>
            <a:r>
              <a:rPr lang="en-US" dirty="0"/>
              <a:t>Focus first on high-impact components; delay uncertain decisions when possible.</a:t>
            </a:r>
          </a:p>
          <a:p>
            <a:pPr>
              <a:lnSpc>
                <a:spcPct val="200000"/>
              </a:lnSpc>
            </a:pPr>
            <a:r>
              <a:rPr lang="en-US" dirty="0"/>
              <a:t>Factors influencing these decisions</a:t>
            </a:r>
          </a:p>
          <a:p>
            <a:pPr lvl="1">
              <a:lnSpc>
                <a:spcPct val="110000"/>
              </a:lnSpc>
            </a:pPr>
            <a:r>
              <a:rPr lang="en-US" sz="1800" dirty="0"/>
              <a:t>Business needs, budget, scalability, security, and performance requirements.</a:t>
            </a:r>
          </a:p>
          <a:p>
            <a:pPr lvl="1">
              <a:lnSpc>
                <a:spcPct val="110000"/>
              </a:lnSpc>
            </a:pPr>
            <a:r>
              <a:rPr lang="en-US" sz="1800" dirty="0"/>
              <a:t>Team expertise, technology choices, time constraints, and compliance needs.</a:t>
            </a:r>
          </a:p>
          <a:p>
            <a:pPr>
              <a:lnSpc>
                <a:spcPct val="200000"/>
              </a:lnSpc>
            </a:pPr>
            <a:r>
              <a:rPr lang="en-US" dirty="0"/>
              <a:t>Importance of trade-offs in architecture</a:t>
            </a:r>
          </a:p>
          <a:p>
            <a:pPr lvl="1" fontAlgn="base">
              <a:lnSpc>
                <a:spcPct val="110000"/>
              </a:lnSpc>
            </a:pPr>
            <a:r>
              <a:rPr lang="en-US" altLang="en-US" sz="1800" dirty="0"/>
              <a:t>Every architectural choice has advantages and disadvantages.</a:t>
            </a:r>
          </a:p>
          <a:p>
            <a:pPr lvl="1" fontAlgn="base">
              <a:lnSpc>
                <a:spcPct val="110000"/>
              </a:lnSpc>
            </a:pPr>
            <a:r>
              <a:rPr lang="en-US" altLang="en-US" sz="1800" dirty="0"/>
              <a:t>Architects must balance cost, performance, scalability, and maintainability.</a:t>
            </a:r>
          </a:p>
          <a:p>
            <a:pPr>
              <a:lnSpc>
                <a:spcPct val="200000"/>
              </a:lnSpc>
            </a:pPr>
            <a:endParaRPr lang="en-US" dirty="0"/>
          </a:p>
          <a:p>
            <a:pPr>
              <a:lnSpc>
                <a:spcPct val="200000"/>
              </a:lnSpc>
            </a:pPr>
            <a:endParaRPr lang="en-US" dirty="0"/>
          </a:p>
        </p:txBody>
      </p:sp>
    </p:spTree>
    <p:extLst>
      <p:ext uri="{BB962C8B-B14F-4D97-AF65-F5344CB8AC3E}">
        <p14:creationId xmlns:p14="http://schemas.microsoft.com/office/powerpoint/2010/main" val="323739516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334917" y="6217623"/>
            <a:ext cx="693294" cy="524800"/>
          </a:xfrm>
        </p:spPr>
        <p:txBody>
          <a:bodyPr/>
          <a:lstStyle/>
          <a:p>
            <a:fld id="{B8DACC02-A2BD-4578-8E03-6D891060A695}" type="slidenum">
              <a:rPr lang="en-US" smtClean="0"/>
              <a:pPr/>
              <a:t>99</a:t>
            </a:fld>
            <a:endParaRPr lang="en-US" dirty="0"/>
          </a:p>
        </p:txBody>
      </p:sp>
      <p:sp>
        <p:nvSpPr>
          <p:cNvPr id="2" name="Title 1"/>
          <p:cNvSpPr>
            <a:spLocks noGrp="1"/>
          </p:cNvSpPr>
          <p:nvPr>
            <p:ph type="title" idx="4294967295"/>
          </p:nvPr>
        </p:nvSpPr>
        <p:spPr>
          <a:xfrm>
            <a:off x="594804" y="493123"/>
            <a:ext cx="10765346" cy="763588"/>
          </a:xfrm>
          <a:prstGeom prst="rect">
            <a:avLst/>
          </a:prstGeom>
        </p:spPr>
        <p:txBody>
          <a:bodyPr/>
          <a:lstStyle/>
          <a:p>
            <a:r>
              <a:rPr lang="en-US" b="1" dirty="0"/>
              <a:t>Common Architectural Styles</a:t>
            </a:r>
          </a:p>
        </p:txBody>
      </p:sp>
      <p:sp>
        <p:nvSpPr>
          <p:cNvPr id="3" name="Content Placeholder 2"/>
          <p:cNvSpPr>
            <a:spLocks noGrp="1"/>
          </p:cNvSpPr>
          <p:nvPr>
            <p:ph idx="4294967295"/>
          </p:nvPr>
        </p:nvSpPr>
        <p:spPr>
          <a:xfrm>
            <a:off x="594804" y="1579102"/>
            <a:ext cx="10765346" cy="3430588"/>
          </a:xfrm>
          <a:prstGeom prst="rect">
            <a:avLst/>
          </a:prstGeom>
        </p:spPr>
        <p:txBody>
          <a:bodyPr/>
          <a:lstStyle/>
          <a:p>
            <a:pPr>
              <a:lnSpc>
                <a:spcPct val="200000"/>
              </a:lnSpc>
            </a:pPr>
            <a:r>
              <a:rPr lang="en-US" dirty="0"/>
              <a:t>Monolithic Architecture</a:t>
            </a:r>
          </a:p>
          <a:p>
            <a:pPr>
              <a:lnSpc>
                <a:spcPct val="200000"/>
              </a:lnSpc>
            </a:pPr>
            <a:r>
              <a:rPr lang="en-US" dirty="0"/>
              <a:t>Microservices Architecture</a:t>
            </a:r>
          </a:p>
          <a:p>
            <a:pPr>
              <a:lnSpc>
                <a:spcPct val="200000"/>
              </a:lnSpc>
            </a:pPr>
            <a:r>
              <a:rPr lang="en-US" dirty="0"/>
              <a:t>Serverless Architecture</a:t>
            </a:r>
          </a:p>
          <a:p>
            <a:pPr>
              <a:lnSpc>
                <a:spcPct val="200000"/>
              </a:lnSpc>
            </a:pPr>
            <a:r>
              <a:rPr lang="en-US" dirty="0"/>
              <a:t>Event-Driven Architecture</a:t>
            </a:r>
          </a:p>
          <a:p>
            <a:pPr>
              <a:lnSpc>
                <a:spcPct val="200000"/>
              </a:lnSpc>
            </a:pPr>
            <a:endParaRPr lang="en-US" dirty="0"/>
          </a:p>
        </p:txBody>
      </p:sp>
    </p:spTree>
    <p:extLst>
      <p:ext uri="{BB962C8B-B14F-4D97-AF65-F5344CB8AC3E}">
        <p14:creationId xmlns:p14="http://schemas.microsoft.com/office/powerpoint/2010/main" val="211893783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336483" y="5915780"/>
            <a:ext cx="691728" cy="524800"/>
          </a:xfrm>
        </p:spPr>
        <p:txBody>
          <a:bodyPr/>
          <a:lstStyle/>
          <a:p>
            <a:fld id="{B8DACC02-A2BD-4578-8E03-6D891060A695}" type="slidenum">
              <a:rPr lang="en-US" smtClean="0"/>
              <a:pPr/>
              <a:t>100</a:t>
            </a:fld>
            <a:endParaRPr lang="en-US" dirty="0"/>
          </a:p>
        </p:txBody>
      </p:sp>
      <p:sp>
        <p:nvSpPr>
          <p:cNvPr id="2" name="Title 1"/>
          <p:cNvSpPr>
            <a:spLocks noGrp="1"/>
          </p:cNvSpPr>
          <p:nvPr>
            <p:ph type="title" idx="4294967295"/>
          </p:nvPr>
        </p:nvSpPr>
        <p:spPr>
          <a:xfrm>
            <a:off x="619124" y="441811"/>
            <a:ext cx="10741025" cy="763588"/>
          </a:xfrm>
          <a:prstGeom prst="rect">
            <a:avLst/>
          </a:prstGeom>
        </p:spPr>
        <p:txBody>
          <a:bodyPr>
            <a:normAutofit/>
          </a:bodyPr>
          <a:lstStyle/>
          <a:p>
            <a:r>
              <a:rPr lang="en-US" b="1" dirty="0"/>
              <a:t>Common Architectural Styles (Contd.)</a:t>
            </a:r>
          </a:p>
        </p:txBody>
      </p:sp>
      <p:sp>
        <p:nvSpPr>
          <p:cNvPr id="5" name="Rectangle 1"/>
          <p:cNvSpPr>
            <a:spLocks noGrp="1" noChangeArrowheads="1"/>
          </p:cNvSpPr>
          <p:nvPr>
            <p:ph idx="4294967295"/>
          </p:nvPr>
        </p:nvSpPr>
        <p:spPr bwMode="auto">
          <a:xfrm>
            <a:off x="619124" y="1149969"/>
            <a:ext cx="7569582" cy="5549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5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Monolithic Architecture:</a:t>
            </a:r>
            <a:r>
              <a:rPr kumimoji="0" lang="en-US" altLang="en-US" sz="1800" b="0" i="0" u="none" strike="noStrike" cap="none" normalizeH="0" baseline="0" dirty="0">
                <a:ln>
                  <a:noFill/>
                </a:ln>
                <a:solidFill>
                  <a:schemeClr val="tx1"/>
                </a:solidFill>
                <a:effectLst/>
                <a:latin typeface="Arial" panose="020B0604020202020204" pitchFamily="34" charset="0"/>
              </a:rPr>
              <a:t> The entire application is built as a single unified system where all components are tightly connected. </a:t>
            </a:r>
            <a:r>
              <a:rPr lang="en-US" dirty="0">
                <a:solidFill>
                  <a:schemeClr val="tx1"/>
                </a:solidFill>
              </a:rPr>
              <a:t>Everything lives in </a:t>
            </a:r>
            <a:r>
              <a:rPr lang="en-US" b="1" dirty="0">
                <a:solidFill>
                  <a:schemeClr val="tx1"/>
                </a:solidFill>
              </a:rPr>
              <a:t>one giant codebase</a:t>
            </a:r>
            <a:r>
              <a:rPr lang="en-US" dirty="0">
                <a:solidFill>
                  <a:schemeClr val="tx1"/>
                </a:solidFill>
              </a:rPr>
              <a:t>, deployed as </a:t>
            </a:r>
            <a:r>
              <a:rPr lang="en-US" b="1" dirty="0">
                <a:solidFill>
                  <a:schemeClr val="tx1"/>
                </a:solidFill>
              </a:rPr>
              <a:t>one single unit. </a:t>
            </a:r>
            <a:r>
              <a:rPr kumimoji="0" lang="en-US" altLang="en-US" sz="1800" b="0" i="0" u="none" strike="noStrike" cap="none" normalizeH="0" baseline="0" dirty="0">
                <a:ln>
                  <a:noFill/>
                </a:ln>
                <a:solidFill>
                  <a:schemeClr val="tx1"/>
                </a:solidFill>
                <a:effectLst/>
                <a:latin typeface="Arial" panose="020B0604020202020204" pitchFamily="34" charset="0"/>
              </a:rPr>
              <a:t>It is simple to develop initially but can become difficult to scale and maintain as the system grows.</a:t>
            </a:r>
          </a:p>
          <a:p>
            <a:pPr marL="0" lvl="0" indent="0" eaLnBrk="0" fontAlgn="base" hangingPunct="0">
              <a:lnSpc>
                <a:spcPct val="15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114300" indent="0">
              <a:buNone/>
            </a:pPr>
            <a:r>
              <a:rPr lang="en-US" b="1" dirty="0">
                <a:solidFill>
                  <a:schemeClr val="tx1"/>
                </a:solidFill>
              </a:rPr>
              <a:t>How it Works in Real Life</a:t>
            </a:r>
          </a:p>
          <a:p>
            <a:r>
              <a:rPr lang="en-US" dirty="0">
                <a:solidFill>
                  <a:schemeClr val="tx1"/>
                </a:solidFill>
              </a:rPr>
              <a:t>Imagine building a </a:t>
            </a:r>
            <a:r>
              <a:rPr lang="en-US" b="1" dirty="0">
                <a:solidFill>
                  <a:schemeClr val="tx1"/>
                </a:solidFill>
              </a:rPr>
              <a:t>food delivery app</a:t>
            </a:r>
            <a:r>
              <a:rPr lang="en-US" dirty="0">
                <a:solidFill>
                  <a:schemeClr val="tx1"/>
                </a:solidFill>
              </a:rPr>
              <a:t> as a monolith:</a:t>
            </a:r>
          </a:p>
          <a:p>
            <a:r>
              <a:rPr lang="en-US" dirty="0">
                <a:solidFill>
                  <a:schemeClr val="tx1"/>
                </a:solidFill>
              </a:rPr>
              <a:t>All code — users, restaurants, orders, payments, delivery tracking — lives in </a:t>
            </a:r>
            <a:r>
              <a:rPr lang="en-US" b="1" dirty="0">
                <a:solidFill>
                  <a:schemeClr val="tx1"/>
                </a:solidFill>
              </a:rPr>
              <a:t>one project</a:t>
            </a:r>
            <a:endParaRPr lang="en-US" dirty="0">
              <a:solidFill>
                <a:schemeClr val="tx1"/>
              </a:solidFill>
            </a:endParaRPr>
          </a:p>
          <a:p>
            <a:r>
              <a:rPr lang="en-US" dirty="0">
                <a:solidFill>
                  <a:schemeClr val="tx1"/>
                </a:solidFill>
              </a:rPr>
              <a:t>You run </a:t>
            </a:r>
            <a:r>
              <a:rPr lang="en-US" b="1" dirty="0">
                <a:solidFill>
                  <a:schemeClr val="tx1"/>
                </a:solidFill>
              </a:rPr>
              <a:t>one server</a:t>
            </a:r>
            <a:r>
              <a:rPr lang="en-US" dirty="0">
                <a:solidFill>
                  <a:schemeClr val="tx1"/>
                </a:solidFill>
              </a:rPr>
              <a:t>, deploy </a:t>
            </a:r>
            <a:r>
              <a:rPr lang="en-US" b="1" dirty="0">
                <a:solidFill>
                  <a:schemeClr val="tx1"/>
                </a:solidFill>
              </a:rPr>
              <a:t>one application</a:t>
            </a:r>
            <a:endParaRPr lang="en-US" dirty="0">
              <a:solidFill>
                <a:schemeClr val="tx1"/>
              </a:solidFill>
            </a:endParaRPr>
          </a:p>
          <a:p>
            <a:r>
              <a:rPr lang="en-US" dirty="0">
                <a:solidFill>
                  <a:schemeClr val="tx1"/>
                </a:solidFill>
              </a:rPr>
              <a:t>A bug in the coupon system? You redeploy </a:t>
            </a:r>
            <a:r>
              <a:rPr lang="en-US" b="1" dirty="0">
                <a:solidFill>
                  <a:schemeClr val="tx1"/>
                </a:solidFill>
              </a:rPr>
              <a:t>the entire app</a:t>
            </a:r>
            <a:r>
              <a:rPr lang="en-US" dirty="0">
                <a:solidFill>
                  <a:schemeClr val="tx1"/>
                </a:solidFill>
              </a:rPr>
              <a:t> to fix it</a:t>
            </a:r>
          </a:p>
          <a:p>
            <a:r>
              <a:rPr lang="en-US" dirty="0">
                <a:solidFill>
                  <a:schemeClr val="tx1"/>
                </a:solidFill>
              </a:rPr>
              <a:t>Traffic spikes during lunch? You scale up </a:t>
            </a:r>
            <a:r>
              <a:rPr lang="en-US" b="1" dirty="0">
                <a:solidFill>
                  <a:schemeClr val="tx1"/>
                </a:solidFill>
              </a:rPr>
              <a:t>everything</a:t>
            </a:r>
            <a:r>
              <a:rPr lang="en-US" dirty="0">
                <a:solidFill>
                  <a:schemeClr val="tx1"/>
                </a:solidFill>
              </a:rPr>
              <a:t>, even the parts that aren't busy</a:t>
            </a:r>
          </a:p>
          <a:p>
            <a:pPr marL="0" marR="0" lvl="0" indent="0" algn="l" defTabSz="914400" rtl="0" eaLnBrk="0" fontAlgn="base" latinLnBrk="0" hangingPunct="0">
              <a:lnSpc>
                <a:spcPct val="150000"/>
              </a:lnSpc>
              <a:spcBef>
                <a:spcPct val="0"/>
              </a:spcBef>
              <a:spcAft>
                <a:spcPct val="0"/>
              </a:spcAft>
              <a:buClrTx/>
              <a:buSzTx/>
              <a:buNone/>
              <a:tabLst/>
            </a:pPr>
            <a:endParaRPr kumimoji="0" lang="en-US" altLang="en-US" sz="1800" b="0" i="0" u="none" strike="noStrike" cap="none" normalizeH="0" baseline="0" dirty="0">
              <a:ln>
                <a:noFill/>
              </a:ln>
              <a:solidFill>
                <a:schemeClr val="bg2">
                  <a:lumMod val="75000"/>
                </a:schemeClr>
              </a:solidFill>
              <a:effectLst/>
              <a:latin typeface="Arial" panose="020B0604020202020204" pitchFamily="34" charset="0"/>
            </a:endParaRPr>
          </a:p>
        </p:txBody>
      </p:sp>
      <p:pic>
        <p:nvPicPr>
          <p:cNvPr id="6" name="Picture 5">
            <a:extLst>
              <a:ext uri="{FF2B5EF4-FFF2-40B4-BE49-F238E27FC236}">
                <a16:creationId xmlns:a16="http://schemas.microsoft.com/office/drawing/2014/main" id="{E630206F-AE7B-BE76-98B8-DD5E42149643}"/>
              </a:ext>
            </a:extLst>
          </p:cNvPr>
          <p:cNvPicPr>
            <a:picLocks noChangeAspect="1"/>
          </p:cNvPicPr>
          <p:nvPr/>
        </p:nvPicPr>
        <p:blipFill>
          <a:blip r:embed="rId2"/>
          <a:stretch>
            <a:fillRect/>
          </a:stretch>
        </p:blipFill>
        <p:spPr>
          <a:xfrm>
            <a:off x="8013827" y="1816668"/>
            <a:ext cx="4014384" cy="3640162"/>
          </a:xfrm>
          <a:prstGeom prst="rect">
            <a:avLst/>
          </a:prstGeom>
        </p:spPr>
      </p:pic>
    </p:spTree>
    <p:extLst>
      <p:ext uri="{BB962C8B-B14F-4D97-AF65-F5344CB8AC3E}">
        <p14:creationId xmlns:p14="http://schemas.microsoft.com/office/powerpoint/2010/main" val="131370717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6A8C2-2DB1-53E8-4852-E9A7F8310D2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49E9CDD-0596-DF0F-F754-0003F45DC6C5}"/>
              </a:ext>
            </a:extLst>
          </p:cNvPr>
          <p:cNvSpPr>
            <a:spLocks noGrp="1"/>
          </p:cNvSpPr>
          <p:nvPr>
            <p:ph type="sldNum" sz="quarter" idx="12"/>
          </p:nvPr>
        </p:nvSpPr>
        <p:spPr>
          <a:xfrm>
            <a:off x="11336483" y="5915780"/>
            <a:ext cx="691728" cy="524800"/>
          </a:xfrm>
        </p:spPr>
        <p:txBody>
          <a:bodyPr/>
          <a:lstStyle/>
          <a:p>
            <a:fld id="{B8DACC02-A2BD-4578-8E03-6D891060A695}" type="slidenum">
              <a:rPr lang="en-US" smtClean="0"/>
              <a:pPr/>
              <a:t>101</a:t>
            </a:fld>
            <a:endParaRPr lang="en-US" dirty="0"/>
          </a:p>
        </p:txBody>
      </p:sp>
      <p:sp>
        <p:nvSpPr>
          <p:cNvPr id="2" name="Title 1">
            <a:extLst>
              <a:ext uri="{FF2B5EF4-FFF2-40B4-BE49-F238E27FC236}">
                <a16:creationId xmlns:a16="http://schemas.microsoft.com/office/drawing/2014/main" id="{0D8A92DE-01BB-7CE9-8C9B-38FDCFA1BD58}"/>
              </a:ext>
            </a:extLst>
          </p:cNvPr>
          <p:cNvSpPr>
            <a:spLocks noGrp="1"/>
          </p:cNvSpPr>
          <p:nvPr>
            <p:ph type="title" idx="4294967295"/>
          </p:nvPr>
        </p:nvSpPr>
        <p:spPr>
          <a:xfrm>
            <a:off x="502703" y="350898"/>
            <a:ext cx="10741025" cy="763588"/>
          </a:xfrm>
          <a:prstGeom prst="rect">
            <a:avLst/>
          </a:prstGeom>
        </p:spPr>
        <p:txBody>
          <a:bodyPr>
            <a:normAutofit/>
          </a:bodyPr>
          <a:lstStyle/>
          <a:p>
            <a:r>
              <a:rPr lang="en-US" b="1" dirty="0"/>
              <a:t>Common Architectural Styles (Contd.)</a:t>
            </a:r>
          </a:p>
        </p:txBody>
      </p:sp>
      <p:sp>
        <p:nvSpPr>
          <p:cNvPr id="5" name="Rectangle 1">
            <a:extLst>
              <a:ext uri="{FF2B5EF4-FFF2-40B4-BE49-F238E27FC236}">
                <a16:creationId xmlns:a16="http://schemas.microsoft.com/office/drawing/2014/main" id="{407D0264-4398-C570-36BE-114796850D64}"/>
              </a:ext>
            </a:extLst>
          </p:cNvPr>
          <p:cNvSpPr>
            <a:spLocks noGrp="1" noChangeArrowheads="1"/>
          </p:cNvSpPr>
          <p:nvPr>
            <p:ph idx="4294967295"/>
          </p:nvPr>
        </p:nvSpPr>
        <p:spPr bwMode="auto">
          <a:xfrm>
            <a:off x="163789" y="967002"/>
            <a:ext cx="7343439" cy="53491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None/>
              <a:tabLst/>
            </a:pPr>
            <a:r>
              <a:rPr kumimoji="0" lang="en-US" altLang="en-US" sz="1400" b="1" i="0" u="none" strike="noStrike" cap="none" normalizeH="0" baseline="0" dirty="0">
                <a:ln>
                  <a:noFill/>
                </a:ln>
                <a:solidFill>
                  <a:schemeClr val="tx1"/>
                </a:solidFill>
                <a:effectLst/>
                <a:latin typeface="Arial" panose="020B0604020202020204" pitchFamily="34" charset="0"/>
              </a:rPr>
              <a:t>Microservices Architecture:</a:t>
            </a:r>
            <a:r>
              <a:rPr kumimoji="0" lang="en-US" altLang="en-US" sz="1400" b="0" i="0" u="none" strike="noStrike" cap="none" normalizeH="0" baseline="0" dirty="0">
                <a:ln>
                  <a:noFill/>
                </a:ln>
                <a:solidFill>
                  <a:schemeClr val="tx1"/>
                </a:solidFill>
                <a:effectLst/>
                <a:latin typeface="Arial" panose="020B0604020202020204" pitchFamily="34" charset="0"/>
              </a:rPr>
              <a:t> The application is divided into small, independent services that communicate through APIs. It improves scalability and flexibility but increases system complexity and management effort.</a:t>
            </a:r>
            <a:endParaRPr lang="en-US" altLang="en-US" sz="1400" dirty="0">
              <a:solidFill>
                <a:schemeClr val="tx1"/>
              </a:solidFill>
              <a:latin typeface="Arial" panose="020B0604020202020204" pitchFamily="34" charset="0"/>
            </a:endParaRPr>
          </a:p>
          <a:p>
            <a:pPr marL="0" indent="0" eaLnBrk="0" fontAlgn="base" hangingPunct="0">
              <a:lnSpc>
                <a:spcPct val="150000"/>
              </a:lnSpc>
              <a:spcBef>
                <a:spcPct val="0"/>
              </a:spcBef>
              <a:spcAft>
                <a:spcPct val="0"/>
              </a:spcAft>
              <a:buClrTx/>
              <a:buSzTx/>
              <a:buNone/>
            </a:pPr>
            <a:r>
              <a:rPr lang="en-US" sz="1400" b="1" dirty="0">
                <a:solidFill>
                  <a:schemeClr val="tx1"/>
                </a:solidFill>
              </a:rPr>
              <a:t>How it Works in Real Life :</a:t>
            </a:r>
            <a:r>
              <a:rPr lang="en-US" sz="1400" dirty="0">
                <a:solidFill>
                  <a:schemeClr val="tx1"/>
                </a:solidFill>
              </a:rPr>
              <a:t>Same </a:t>
            </a:r>
            <a:r>
              <a:rPr lang="en-US" sz="1400" b="1" dirty="0">
                <a:solidFill>
                  <a:schemeClr val="tx1"/>
                </a:solidFill>
              </a:rPr>
              <a:t>food delivery app</a:t>
            </a:r>
            <a:r>
              <a:rPr lang="en-US" sz="1400" dirty="0">
                <a:solidFill>
                  <a:schemeClr val="tx1"/>
                </a:solidFill>
              </a:rPr>
              <a:t>, now as microservices:</a:t>
            </a:r>
            <a:endParaRPr lang="en-US" sz="1400" b="1" dirty="0">
              <a:solidFill>
                <a:schemeClr val="tx1"/>
              </a:solidFill>
            </a:endParaRPr>
          </a:p>
          <a:p>
            <a:r>
              <a:rPr lang="en-US" sz="1400" b="1" dirty="0">
                <a:solidFill>
                  <a:schemeClr val="tx1"/>
                </a:solidFill>
              </a:rPr>
              <a:t>User Service</a:t>
            </a:r>
            <a:r>
              <a:rPr lang="en-US" sz="1400" dirty="0">
                <a:solidFill>
                  <a:schemeClr val="tx1"/>
                </a:solidFill>
              </a:rPr>
              <a:t> — handles registration, login, profiles</a:t>
            </a:r>
          </a:p>
          <a:p>
            <a:r>
              <a:rPr lang="en-US" sz="1400" b="1" dirty="0">
                <a:solidFill>
                  <a:schemeClr val="tx1"/>
                </a:solidFill>
              </a:rPr>
              <a:t>Restaurant Service</a:t>
            </a:r>
            <a:r>
              <a:rPr lang="en-US" sz="1400" dirty="0">
                <a:solidFill>
                  <a:schemeClr val="tx1"/>
                </a:solidFill>
              </a:rPr>
              <a:t> — manages menus and availability</a:t>
            </a:r>
          </a:p>
          <a:p>
            <a:r>
              <a:rPr lang="en-US" sz="1400" b="1" dirty="0">
                <a:solidFill>
                  <a:schemeClr val="tx1"/>
                </a:solidFill>
              </a:rPr>
              <a:t>Order Service</a:t>
            </a:r>
            <a:r>
              <a:rPr lang="en-US" sz="1400" dirty="0">
                <a:solidFill>
                  <a:schemeClr val="tx1"/>
                </a:solidFill>
              </a:rPr>
              <a:t> — processes and tracks orders</a:t>
            </a:r>
          </a:p>
          <a:p>
            <a:r>
              <a:rPr lang="en-US" sz="1400" b="1" dirty="0">
                <a:solidFill>
                  <a:schemeClr val="tx1"/>
                </a:solidFill>
              </a:rPr>
              <a:t>Payment Service</a:t>
            </a:r>
            <a:r>
              <a:rPr lang="en-US" sz="1400" dirty="0">
                <a:solidFill>
                  <a:schemeClr val="tx1"/>
                </a:solidFill>
              </a:rPr>
              <a:t> — handles transactions</a:t>
            </a:r>
          </a:p>
          <a:p>
            <a:r>
              <a:rPr lang="en-US" sz="1400" b="1" dirty="0">
                <a:solidFill>
                  <a:schemeClr val="tx1"/>
                </a:solidFill>
              </a:rPr>
              <a:t>Delivery Service</a:t>
            </a:r>
            <a:r>
              <a:rPr lang="en-US" sz="1400" dirty="0">
                <a:solidFill>
                  <a:schemeClr val="tx1"/>
                </a:solidFill>
              </a:rPr>
              <a:t> — tracks drivers in real time</a:t>
            </a:r>
          </a:p>
          <a:p>
            <a:r>
              <a:rPr lang="en-US" sz="1400" b="1" dirty="0">
                <a:solidFill>
                  <a:schemeClr val="tx1"/>
                </a:solidFill>
              </a:rPr>
              <a:t>Notification Service</a:t>
            </a:r>
            <a:r>
              <a:rPr lang="en-US" sz="1400" dirty="0">
                <a:solidFill>
                  <a:schemeClr val="tx1"/>
                </a:solidFill>
              </a:rPr>
              <a:t> — sends SMS and emails</a:t>
            </a:r>
          </a:p>
          <a:p>
            <a:pPr marL="114300" indent="0">
              <a:buNone/>
            </a:pPr>
            <a:r>
              <a:rPr lang="en-US" sz="1400" dirty="0">
                <a:solidFill>
                  <a:schemeClr val="tx1"/>
                </a:solidFill>
              </a:rPr>
              <a:t>Each service has its </a:t>
            </a:r>
            <a:r>
              <a:rPr lang="en-US" sz="1400" b="1" dirty="0">
                <a:solidFill>
                  <a:schemeClr val="tx1"/>
                </a:solidFill>
              </a:rPr>
              <a:t>own codebase, its own database, its own deployment.</a:t>
            </a:r>
            <a:r>
              <a:rPr lang="en-US" sz="1400" dirty="0">
                <a:solidFill>
                  <a:schemeClr val="tx1"/>
                </a:solidFill>
              </a:rPr>
              <a:t> They talk to each other through </a:t>
            </a:r>
            <a:r>
              <a:rPr lang="en-US" sz="1400" b="1" dirty="0">
                <a:solidFill>
                  <a:schemeClr val="tx1"/>
                </a:solidFill>
              </a:rPr>
              <a:t>APIs</a:t>
            </a:r>
            <a:r>
              <a:rPr lang="en-US" sz="1400" dirty="0">
                <a:solidFill>
                  <a:schemeClr val="tx1"/>
                </a:solidFill>
              </a:rPr>
              <a:t> — like separate departments in a company sending emails to coordinate.</a:t>
            </a:r>
          </a:p>
          <a:p>
            <a:pPr marL="114300" indent="0">
              <a:buNone/>
            </a:pPr>
            <a:r>
              <a:rPr lang="en-US" sz="1400" b="1" dirty="0">
                <a:solidFill>
                  <a:schemeClr val="tx1"/>
                </a:solidFill>
              </a:rPr>
              <a:t>Why It's Powerful</a:t>
            </a:r>
          </a:p>
          <a:p>
            <a:r>
              <a:rPr lang="en-US" sz="1400" b="1" dirty="0">
                <a:solidFill>
                  <a:schemeClr val="tx1"/>
                </a:solidFill>
              </a:rPr>
              <a:t>Independent scaling</a:t>
            </a:r>
            <a:r>
              <a:rPr lang="en-US" sz="1400" dirty="0">
                <a:solidFill>
                  <a:schemeClr val="tx1"/>
                </a:solidFill>
              </a:rPr>
              <a:t> — lunch rush hits Order Service? Scale just that, nothing else</a:t>
            </a:r>
          </a:p>
          <a:p>
            <a:r>
              <a:rPr lang="en-US" sz="1400" b="1" dirty="0">
                <a:solidFill>
                  <a:schemeClr val="tx1"/>
                </a:solidFill>
              </a:rPr>
              <a:t>Independent deployment</a:t>
            </a:r>
            <a:r>
              <a:rPr lang="en-US" sz="1400" dirty="0">
                <a:solidFill>
                  <a:schemeClr val="tx1"/>
                </a:solidFill>
              </a:rPr>
              <a:t> — fix a bug in Payments without touching Delivery</a:t>
            </a:r>
          </a:p>
          <a:p>
            <a:r>
              <a:rPr lang="en-US" sz="1400" b="1" dirty="0">
                <a:solidFill>
                  <a:schemeClr val="tx1"/>
                </a:solidFill>
              </a:rPr>
              <a:t>Fault isolation</a:t>
            </a:r>
            <a:r>
              <a:rPr lang="en-US" sz="1400" dirty="0">
                <a:solidFill>
                  <a:schemeClr val="tx1"/>
                </a:solidFill>
              </a:rPr>
              <a:t> — Notifications go down? Orders still process fine</a:t>
            </a:r>
          </a:p>
          <a:p>
            <a:r>
              <a:rPr lang="en-US" sz="1400" b="1" dirty="0">
                <a:solidFill>
                  <a:schemeClr val="tx1"/>
                </a:solidFill>
              </a:rPr>
              <a:t>Technology freedom</a:t>
            </a:r>
            <a:r>
              <a:rPr lang="en-US" sz="1400" dirty="0">
                <a:solidFill>
                  <a:schemeClr val="tx1"/>
                </a:solidFill>
              </a:rPr>
              <a:t> — Payment Service in Java, Recommendation Service in Python, no problem</a:t>
            </a:r>
          </a:p>
          <a:p>
            <a:r>
              <a:rPr lang="en-US" sz="1400" b="1" dirty="0">
                <a:solidFill>
                  <a:schemeClr val="tx1"/>
                </a:solidFill>
              </a:rPr>
              <a:t>Team independence</a:t>
            </a:r>
            <a:r>
              <a:rPr lang="en-US" sz="1400" dirty="0">
                <a:solidFill>
                  <a:schemeClr val="tx1"/>
                </a:solidFill>
              </a:rPr>
              <a:t> — each team owns their service end-to-end</a:t>
            </a:r>
          </a:p>
        </p:txBody>
      </p:sp>
      <p:pic>
        <p:nvPicPr>
          <p:cNvPr id="6" name="Picture 5">
            <a:extLst>
              <a:ext uri="{FF2B5EF4-FFF2-40B4-BE49-F238E27FC236}">
                <a16:creationId xmlns:a16="http://schemas.microsoft.com/office/drawing/2014/main" id="{270D5A53-6FD1-72A2-3DC2-F44CD5E17E83}"/>
              </a:ext>
            </a:extLst>
          </p:cNvPr>
          <p:cNvPicPr>
            <a:picLocks noChangeAspect="1"/>
          </p:cNvPicPr>
          <p:nvPr/>
        </p:nvPicPr>
        <p:blipFill>
          <a:blip r:embed="rId2"/>
          <a:stretch>
            <a:fillRect/>
          </a:stretch>
        </p:blipFill>
        <p:spPr>
          <a:xfrm>
            <a:off x="7629832" y="1942250"/>
            <a:ext cx="4486869" cy="3242125"/>
          </a:xfrm>
          <a:prstGeom prst="rect">
            <a:avLst/>
          </a:prstGeom>
        </p:spPr>
      </p:pic>
    </p:spTree>
    <p:extLst>
      <p:ext uri="{BB962C8B-B14F-4D97-AF65-F5344CB8AC3E}">
        <p14:creationId xmlns:p14="http://schemas.microsoft.com/office/powerpoint/2010/main" val="215003059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EE57E-394B-D55A-6141-7C580A08E17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70A89A7-DD0B-5F57-E73C-762285D636F3}"/>
              </a:ext>
            </a:extLst>
          </p:cNvPr>
          <p:cNvSpPr>
            <a:spLocks noGrp="1"/>
          </p:cNvSpPr>
          <p:nvPr>
            <p:ph type="sldNum" sz="quarter" idx="12"/>
          </p:nvPr>
        </p:nvSpPr>
        <p:spPr>
          <a:xfrm>
            <a:off x="11336483" y="5915780"/>
            <a:ext cx="691728" cy="524800"/>
          </a:xfrm>
        </p:spPr>
        <p:txBody>
          <a:bodyPr/>
          <a:lstStyle/>
          <a:p>
            <a:fld id="{B8DACC02-A2BD-4578-8E03-6D891060A695}" type="slidenum">
              <a:rPr lang="en-US" smtClean="0"/>
              <a:pPr/>
              <a:t>102</a:t>
            </a:fld>
            <a:endParaRPr lang="en-US" dirty="0"/>
          </a:p>
        </p:txBody>
      </p:sp>
      <p:sp>
        <p:nvSpPr>
          <p:cNvPr id="2" name="Title 1">
            <a:extLst>
              <a:ext uri="{FF2B5EF4-FFF2-40B4-BE49-F238E27FC236}">
                <a16:creationId xmlns:a16="http://schemas.microsoft.com/office/drawing/2014/main" id="{9088CA6A-815E-D1B3-BBDB-768FC4DB51C0}"/>
              </a:ext>
            </a:extLst>
          </p:cNvPr>
          <p:cNvSpPr>
            <a:spLocks noGrp="1"/>
          </p:cNvSpPr>
          <p:nvPr>
            <p:ph type="title" idx="4294967295"/>
          </p:nvPr>
        </p:nvSpPr>
        <p:spPr>
          <a:xfrm>
            <a:off x="595458" y="417420"/>
            <a:ext cx="10741025" cy="763588"/>
          </a:xfrm>
          <a:prstGeom prst="rect">
            <a:avLst/>
          </a:prstGeom>
        </p:spPr>
        <p:txBody>
          <a:bodyPr>
            <a:normAutofit/>
          </a:bodyPr>
          <a:lstStyle/>
          <a:p>
            <a:r>
              <a:rPr lang="en-US" b="1" dirty="0"/>
              <a:t>Common Architectural Styles (Contd.)</a:t>
            </a:r>
          </a:p>
        </p:txBody>
      </p:sp>
      <p:sp>
        <p:nvSpPr>
          <p:cNvPr id="5" name="Rectangle 1">
            <a:extLst>
              <a:ext uri="{FF2B5EF4-FFF2-40B4-BE49-F238E27FC236}">
                <a16:creationId xmlns:a16="http://schemas.microsoft.com/office/drawing/2014/main" id="{566D5D49-52E4-11C1-A084-593CCFD2F932}"/>
              </a:ext>
            </a:extLst>
          </p:cNvPr>
          <p:cNvSpPr>
            <a:spLocks noGrp="1" noChangeArrowheads="1"/>
          </p:cNvSpPr>
          <p:nvPr>
            <p:ph idx="4294967295"/>
          </p:nvPr>
        </p:nvSpPr>
        <p:spPr bwMode="auto">
          <a:xfrm>
            <a:off x="728844" y="1324042"/>
            <a:ext cx="11186595" cy="2354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err="1">
                <a:ln>
                  <a:noFill/>
                </a:ln>
                <a:solidFill>
                  <a:schemeClr val="tx1"/>
                </a:solidFill>
                <a:effectLst/>
                <a:latin typeface="Arial" panose="020B0604020202020204" pitchFamily="34" charset="0"/>
              </a:rPr>
              <a:t>Serverless</a:t>
            </a:r>
            <a:r>
              <a:rPr kumimoji="0" lang="en-US" altLang="en-US" sz="1600" b="1" i="0" u="none" strike="noStrike" cap="none" normalizeH="0" baseline="0" dirty="0">
                <a:ln>
                  <a:noFill/>
                </a:ln>
                <a:solidFill>
                  <a:schemeClr val="tx1"/>
                </a:solidFill>
                <a:effectLst/>
                <a:latin typeface="Arial" panose="020B0604020202020204" pitchFamily="34" charset="0"/>
              </a:rPr>
              <a:t> Architecture:</a:t>
            </a:r>
            <a:r>
              <a:rPr kumimoji="0" lang="en-US" altLang="en-US" sz="1600" b="0" i="0" u="none" strike="noStrike" cap="none" normalizeH="0" baseline="0" dirty="0">
                <a:ln>
                  <a:noFill/>
                </a:ln>
                <a:solidFill>
                  <a:schemeClr val="tx1"/>
                </a:solidFill>
                <a:effectLst/>
                <a:latin typeface="Arial" panose="020B0604020202020204" pitchFamily="34" charset="0"/>
              </a:rPr>
              <a:t> Applications run on cloud-managed services where the provider handles infrastructure and scaling. It reduces operational overhead but may lead to vendor dependency and limited control.</a:t>
            </a:r>
          </a:p>
          <a:p>
            <a:pPr marL="0" lvl="0" indent="0" eaLnBrk="0" fontAlgn="base" hangingPunct="0">
              <a:lnSpc>
                <a:spcPct val="150000"/>
              </a:lnSpc>
              <a:spcBef>
                <a:spcPct val="0"/>
              </a:spcBef>
              <a:spcAft>
                <a:spcPct val="0"/>
              </a:spcAft>
              <a:buClrTx/>
              <a:buSzTx/>
              <a:buNone/>
            </a:pPr>
            <a:r>
              <a:rPr lang="en-IN" sz="1600" b="1" dirty="0">
                <a:solidFill>
                  <a:schemeClr val="tx1"/>
                </a:solidFill>
              </a:rPr>
              <a:t>Benefits of Serverless: </a:t>
            </a:r>
          </a:p>
          <a:p>
            <a:pPr marL="285750" indent="-285750" eaLnBrk="0" fontAlgn="base" hangingPunct="0">
              <a:lnSpc>
                <a:spcPct val="150000"/>
              </a:lnSpc>
              <a:spcBef>
                <a:spcPct val="0"/>
              </a:spcBef>
              <a:spcAft>
                <a:spcPct val="0"/>
              </a:spcAft>
              <a:buClrTx/>
              <a:buSzTx/>
            </a:pPr>
            <a:r>
              <a:rPr lang="en-IN" sz="1600" dirty="0">
                <a:solidFill>
                  <a:schemeClr val="tx1"/>
                </a:solidFill>
              </a:rPr>
              <a:t>No Infrastructure Management</a:t>
            </a:r>
          </a:p>
          <a:p>
            <a:pPr marL="285750" indent="-285750" eaLnBrk="0" fontAlgn="base" hangingPunct="0">
              <a:lnSpc>
                <a:spcPct val="150000"/>
              </a:lnSpc>
              <a:spcBef>
                <a:spcPct val="0"/>
              </a:spcBef>
              <a:spcAft>
                <a:spcPct val="0"/>
              </a:spcAft>
              <a:buClrTx/>
              <a:buSzTx/>
            </a:pPr>
            <a:r>
              <a:rPr lang="en-IN" sz="1600" dirty="0">
                <a:solidFill>
                  <a:schemeClr val="tx1"/>
                </a:solidFill>
              </a:rPr>
              <a:t>True Pay-Per-Use</a:t>
            </a:r>
          </a:p>
          <a:p>
            <a:pPr marL="285750" indent="-285750" eaLnBrk="0" fontAlgn="base" hangingPunct="0">
              <a:lnSpc>
                <a:spcPct val="150000"/>
              </a:lnSpc>
              <a:spcBef>
                <a:spcPct val="0"/>
              </a:spcBef>
              <a:spcAft>
                <a:spcPct val="0"/>
              </a:spcAft>
              <a:buClrTx/>
              <a:buSzTx/>
            </a:pPr>
            <a:r>
              <a:rPr lang="en-IN" sz="1600" dirty="0">
                <a:solidFill>
                  <a:schemeClr val="tx1"/>
                </a:solidFill>
              </a:rPr>
              <a:t>Infinite Auto-Scaling</a:t>
            </a:r>
            <a:endParaRPr kumimoji="0" lang="en-US" altLang="en-US" sz="1600" b="1"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C6B0FD93-A847-1C27-E7ED-542EFE70230D}"/>
              </a:ext>
            </a:extLst>
          </p:cNvPr>
          <p:cNvPicPr>
            <a:picLocks noChangeAspect="1"/>
          </p:cNvPicPr>
          <p:nvPr/>
        </p:nvPicPr>
        <p:blipFill>
          <a:blip r:embed="rId2"/>
          <a:stretch>
            <a:fillRect/>
          </a:stretch>
        </p:blipFill>
        <p:spPr>
          <a:xfrm>
            <a:off x="502702" y="3885478"/>
            <a:ext cx="4468813" cy="2030302"/>
          </a:xfrm>
          <a:prstGeom prst="rect">
            <a:avLst/>
          </a:prstGeom>
        </p:spPr>
      </p:pic>
      <p:pic>
        <p:nvPicPr>
          <p:cNvPr id="8" name="Picture 7">
            <a:extLst>
              <a:ext uri="{FF2B5EF4-FFF2-40B4-BE49-F238E27FC236}">
                <a16:creationId xmlns:a16="http://schemas.microsoft.com/office/drawing/2014/main" id="{C4E52E32-B405-5070-FCF9-734402964860}"/>
              </a:ext>
            </a:extLst>
          </p:cNvPr>
          <p:cNvPicPr>
            <a:picLocks noChangeAspect="1"/>
          </p:cNvPicPr>
          <p:nvPr/>
        </p:nvPicPr>
        <p:blipFill>
          <a:blip r:embed="rId3"/>
          <a:stretch>
            <a:fillRect/>
          </a:stretch>
        </p:blipFill>
        <p:spPr>
          <a:xfrm>
            <a:off x="7492181" y="2531673"/>
            <a:ext cx="4190166" cy="3757694"/>
          </a:xfrm>
          <a:prstGeom prst="rect">
            <a:avLst/>
          </a:prstGeom>
        </p:spPr>
      </p:pic>
    </p:spTree>
    <p:extLst>
      <p:ext uri="{BB962C8B-B14F-4D97-AF65-F5344CB8AC3E}">
        <p14:creationId xmlns:p14="http://schemas.microsoft.com/office/powerpoint/2010/main" val="91286874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336483" y="5915780"/>
            <a:ext cx="691728" cy="524800"/>
          </a:xfrm>
        </p:spPr>
        <p:txBody>
          <a:bodyPr/>
          <a:lstStyle/>
          <a:p>
            <a:fld id="{B8DACC02-A2BD-4578-8E03-6D891060A695}" type="slidenum">
              <a:rPr lang="en-US" smtClean="0"/>
              <a:pPr/>
              <a:t>103</a:t>
            </a:fld>
            <a:endParaRPr lang="en-US" dirty="0"/>
          </a:p>
        </p:txBody>
      </p:sp>
      <p:sp>
        <p:nvSpPr>
          <p:cNvPr id="2" name="Title 1"/>
          <p:cNvSpPr>
            <a:spLocks noGrp="1"/>
          </p:cNvSpPr>
          <p:nvPr>
            <p:ph type="title" idx="4294967295"/>
          </p:nvPr>
        </p:nvSpPr>
        <p:spPr>
          <a:xfrm>
            <a:off x="619124" y="487093"/>
            <a:ext cx="10741025" cy="763588"/>
          </a:xfrm>
          <a:prstGeom prst="rect">
            <a:avLst/>
          </a:prstGeom>
        </p:spPr>
        <p:txBody>
          <a:bodyPr>
            <a:normAutofit/>
          </a:bodyPr>
          <a:lstStyle/>
          <a:p>
            <a:r>
              <a:rPr lang="en-US" b="1" dirty="0"/>
              <a:t>Common Architectural Styles (Contd.)</a:t>
            </a:r>
          </a:p>
        </p:txBody>
      </p:sp>
      <p:sp>
        <p:nvSpPr>
          <p:cNvPr id="5" name="Rectangle 1"/>
          <p:cNvSpPr>
            <a:spLocks noGrp="1" noChangeArrowheads="1"/>
          </p:cNvSpPr>
          <p:nvPr>
            <p:ph idx="4294967295"/>
          </p:nvPr>
        </p:nvSpPr>
        <p:spPr bwMode="auto">
          <a:xfrm>
            <a:off x="619124" y="1543529"/>
            <a:ext cx="1118659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None/>
              <a:tabLst/>
            </a:pPr>
            <a:r>
              <a:rPr kumimoji="0" lang="en-US" altLang="en-US" sz="1800" b="1" i="0" u="none" strike="noStrike" cap="none" normalizeH="0" baseline="0" dirty="0">
                <a:ln>
                  <a:noFill/>
                </a:ln>
                <a:solidFill>
                  <a:schemeClr val="bg2">
                    <a:lumMod val="75000"/>
                  </a:schemeClr>
                </a:solidFill>
                <a:effectLst/>
                <a:latin typeface="Arial" panose="020B0604020202020204" pitchFamily="34" charset="0"/>
              </a:rPr>
              <a:t>Event-Driven Architecture:</a:t>
            </a:r>
            <a:r>
              <a:rPr kumimoji="0" lang="en-US" altLang="en-US" sz="1800" b="0" i="0" u="none" strike="noStrike" cap="none" normalizeH="0" baseline="0" dirty="0">
                <a:ln>
                  <a:noFill/>
                </a:ln>
                <a:solidFill>
                  <a:schemeClr val="bg2">
                    <a:lumMod val="75000"/>
                  </a:schemeClr>
                </a:solidFill>
                <a:effectLst/>
                <a:latin typeface="Arial" panose="020B0604020202020204" pitchFamily="34" charset="0"/>
              </a:rPr>
              <a:t> Components communicate by producing and responding to events. This allows high scalability and loose coupling but can make debugging and monitoring more complex.</a:t>
            </a:r>
          </a:p>
        </p:txBody>
      </p:sp>
      <p:pic>
        <p:nvPicPr>
          <p:cNvPr id="6" name="Picture 5">
            <a:extLst>
              <a:ext uri="{FF2B5EF4-FFF2-40B4-BE49-F238E27FC236}">
                <a16:creationId xmlns:a16="http://schemas.microsoft.com/office/drawing/2014/main" id="{B4EC66E6-F2FE-CA17-5B07-B332ADD61CBE}"/>
              </a:ext>
            </a:extLst>
          </p:cNvPr>
          <p:cNvPicPr>
            <a:picLocks noChangeAspect="1"/>
          </p:cNvPicPr>
          <p:nvPr/>
        </p:nvPicPr>
        <p:blipFill>
          <a:blip r:embed="rId2"/>
          <a:stretch>
            <a:fillRect/>
          </a:stretch>
        </p:blipFill>
        <p:spPr>
          <a:xfrm>
            <a:off x="256421" y="2466858"/>
            <a:ext cx="6152036" cy="3855039"/>
          </a:xfrm>
          <a:prstGeom prst="rect">
            <a:avLst/>
          </a:prstGeom>
        </p:spPr>
      </p:pic>
      <p:pic>
        <p:nvPicPr>
          <p:cNvPr id="8" name="Picture 7">
            <a:extLst>
              <a:ext uri="{FF2B5EF4-FFF2-40B4-BE49-F238E27FC236}">
                <a16:creationId xmlns:a16="http://schemas.microsoft.com/office/drawing/2014/main" id="{8DF37C06-12B8-DE26-45A0-964B9727713F}"/>
              </a:ext>
            </a:extLst>
          </p:cNvPr>
          <p:cNvPicPr>
            <a:picLocks noChangeAspect="1"/>
          </p:cNvPicPr>
          <p:nvPr/>
        </p:nvPicPr>
        <p:blipFill>
          <a:blip r:embed="rId3"/>
          <a:stretch>
            <a:fillRect/>
          </a:stretch>
        </p:blipFill>
        <p:spPr>
          <a:xfrm>
            <a:off x="6408457" y="2466856"/>
            <a:ext cx="5272266" cy="3935765"/>
          </a:xfrm>
          <a:prstGeom prst="rect">
            <a:avLst/>
          </a:prstGeom>
        </p:spPr>
      </p:pic>
    </p:spTree>
    <p:extLst>
      <p:ext uri="{BB962C8B-B14F-4D97-AF65-F5344CB8AC3E}">
        <p14:creationId xmlns:p14="http://schemas.microsoft.com/office/powerpoint/2010/main" val="391139358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330349" y="6217623"/>
            <a:ext cx="697862" cy="524800"/>
          </a:xfrm>
        </p:spPr>
        <p:txBody>
          <a:bodyPr/>
          <a:lstStyle/>
          <a:p>
            <a:fld id="{B8DACC02-A2BD-4578-8E03-6D891060A695}" type="slidenum">
              <a:rPr lang="en-US" smtClean="0"/>
              <a:pPr/>
              <a:t>104</a:t>
            </a:fld>
            <a:endParaRPr lang="en-US" dirty="0"/>
          </a:p>
        </p:txBody>
      </p:sp>
      <p:sp>
        <p:nvSpPr>
          <p:cNvPr id="2" name="Title 1"/>
          <p:cNvSpPr>
            <a:spLocks noGrp="1"/>
          </p:cNvSpPr>
          <p:nvPr>
            <p:ph type="title" idx="4294967295"/>
          </p:nvPr>
        </p:nvSpPr>
        <p:spPr>
          <a:xfrm>
            <a:off x="523875" y="1654175"/>
            <a:ext cx="10836274" cy="763588"/>
          </a:xfrm>
          <a:prstGeom prst="rect">
            <a:avLst/>
          </a:prstGeom>
        </p:spPr>
        <p:txBody>
          <a:bodyPr/>
          <a:lstStyle/>
          <a:p>
            <a:r>
              <a:rPr lang="en-US" b="1" dirty="0"/>
              <a:t>Importance of Modularity</a:t>
            </a:r>
          </a:p>
        </p:txBody>
      </p:sp>
      <p:sp>
        <p:nvSpPr>
          <p:cNvPr id="3" name="Content Placeholder 2"/>
          <p:cNvSpPr>
            <a:spLocks noGrp="1"/>
          </p:cNvSpPr>
          <p:nvPr>
            <p:ph idx="4294967295"/>
          </p:nvPr>
        </p:nvSpPr>
        <p:spPr>
          <a:xfrm>
            <a:off x="523875" y="2660650"/>
            <a:ext cx="11504336" cy="3430588"/>
          </a:xfrm>
          <a:prstGeom prst="rect">
            <a:avLst/>
          </a:prstGeom>
        </p:spPr>
        <p:txBody>
          <a:bodyPr>
            <a:normAutofit fontScale="92500"/>
          </a:bodyPr>
          <a:lstStyle/>
          <a:p>
            <a:r>
              <a:rPr lang="en-US" b="1" dirty="0"/>
              <a:t>Definition of Modularity</a:t>
            </a:r>
            <a:endParaRPr lang="en-US" dirty="0"/>
          </a:p>
          <a:p>
            <a:pPr marL="114300" indent="0">
              <a:buNone/>
            </a:pPr>
            <a:r>
              <a:rPr lang="en-US" dirty="0"/>
              <a:t>	Modularity is designing software as independent, self-contained modules with specific responsibilities.</a:t>
            </a:r>
          </a:p>
          <a:p>
            <a:endParaRPr lang="en-US" b="1" dirty="0"/>
          </a:p>
          <a:p>
            <a:r>
              <a:rPr lang="en-US" b="1" dirty="0"/>
              <a:t>Benefits of Modularity in Software Design</a:t>
            </a:r>
            <a:endParaRPr lang="en-US" dirty="0"/>
          </a:p>
          <a:p>
            <a:pPr marL="114300" indent="0">
              <a:buNone/>
            </a:pPr>
            <a:r>
              <a:rPr lang="en-US" dirty="0"/>
              <a:t>	Improves maintainability, scalability, reusability, and easier testing.</a:t>
            </a:r>
          </a:p>
          <a:p>
            <a:endParaRPr lang="en-US" b="1" dirty="0"/>
          </a:p>
          <a:p>
            <a:r>
              <a:rPr lang="en-US" b="1" dirty="0"/>
              <a:t>Strategies to Achieve Modularity: </a:t>
            </a:r>
            <a:r>
              <a:rPr lang="en-US" dirty="0"/>
              <a:t>Use</a:t>
            </a:r>
          </a:p>
          <a:p>
            <a:pPr marL="914400" lvl="2" indent="0" eaLnBrk="0" fontAlgn="base" hangingPunct="0">
              <a:lnSpc>
                <a:spcPct val="100000"/>
              </a:lnSpc>
              <a:spcBef>
                <a:spcPct val="0"/>
              </a:spcBef>
              <a:spcAft>
                <a:spcPct val="0"/>
              </a:spcAft>
              <a:buClrTx/>
              <a:buSzTx/>
              <a:buFontTx/>
              <a:buChar char="•"/>
            </a:pPr>
            <a:r>
              <a:rPr lang="en-US" altLang="en-US" b="1" dirty="0">
                <a:solidFill>
                  <a:schemeClr val="bg2">
                    <a:lumMod val="75000"/>
                  </a:schemeClr>
                </a:solidFill>
                <a:latin typeface="Arial" panose="020B0604020202020204" pitchFamily="34" charset="0"/>
              </a:rPr>
              <a:t>Separation of concerns:</a:t>
            </a:r>
            <a:r>
              <a:rPr lang="en-US" altLang="en-US" dirty="0">
                <a:solidFill>
                  <a:schemeClr val="bg2">
                    <a:lumMod val="75000"/>
                  </a:schemeClr>
                </a:solidFill>
                <a:latin typeface="Arial" panose="020B0604020202020204" pitchFamily="34" charset="0"/>
              </a:rPr>
              <a:t> Divide the system so each part handles one specific task only.</a:t>
            </a:r>
          </a:p>
          <a:p>
            <a:pPr marL="914400" lvl="2" indent="0" eaLnBrk="0" fontAlgn="base" hangingPunct="0">
              <a:lnSpc>
                <a:spcPct val="100000"/>
              </a:lnSpc>
              <a:spcBef>
                <a:spcPct val="0"/>
              </a:spcBef>
              <a:spcAft>
                <a:spcPct val="0"/>
              </a:spcAft>
              <a:buClrTx/>
              <a:buSzTx/>
              <a:buFontTx/>
              <a:buChar char="•"/>
            </a:pPr>
            <a:r>
              <a:rPr lang="en-US" altLang="en-US" b="1" dirty="0">
                <a:solidFill>
                  <a:schemeClr val="bg2">
                    <a:lumMod val="75000"/>
                  </a:schemeClr>
                </a:solidFill>
                <a:latin typeface="Arial" panose="020B0604020202020204" pitchFamily="34" charset="0"/>
              </a:rPr>
              <a:t>Clear interfaces:</a:t>
            </a:r>
            <a:r>
              <a:rPr lang="en-US" altLang="en-US" dirty="0">
                <a:solidFill>
                  <a:schemeClr val="bg2">
                    <a:lumMod val="75000"/>
                  </a:schemeClr>
                </a:solidFill>
                <a:latin typeface="Arial" panose="020B0604020202020204" pitchFamily="34" charset="0"/>
              </a:rPr>
              <a:t> Define simple and clear rules for how different parts communicate with each other.</a:t>
            </a:r>
          </a:p>
          <a:p>
            <a:pPr marL="914400" lvl="2" indent="0" eaLnBrk="0" fontAlgn="base" hangingPunct="0">
              <a:lnSpc>
                <a:spcPct val="100000"/>
              </a:lnSpc>
              <a:spcBef>
                <a:spcPct val="0"/>
              </a:spcBef>
              <a:spcAft>
                <a:spcPct val="0"/>
              </a:spcAft>
              <a:buClrTx/>
              <a:buSzTx/>
              <a:buFontTx/>
              <a:buChar char="•"/>
            </a:pPr>
            <a:r>
              <a:rPr lang="en-US" altLang="en-US" b="1" dirty="0">
                <a:solidFill>
                  <a:schemeClr val="bg2">
                    <a:lumMod val="75000"/>
                  </a:schemeClr>
                </a:solidFill>
                <a:latin typeface="Arial" panose="020B0604020202020204" pitchFamily="34" charset="0"/>
              </a:rPr>
              <a:t>Loose coupling:</a:t>
            </a:r>
            <a:r>
              <a:rPr lang="en-US" altLang="en-US" dirty="0">
                <a:solidFill>
                  <a:schemeClr val="bg2">
                    <a:lumMod val="75000"/>
                  </a:schemeClr>
                </a:solidFill>
                <a:latin typeface="Arial" panose="020B0604020202020204" pitchFamily="34" charset="0"/>
              </a:rPr>
              <a:t> Keep modules independent so changes in one module don’t heavily affect others.</a:t>
            </a:r>
          </a:p>
          <a:p>
            <a:pPr marL="914400" lvl="2" indent="0" eaLnBrk="0" fontAlgn="base" hangingPunct="0">
              <a:lnSpc>
                <a:spcPct val="100000"/>
              </a:lnSpc>
              <a:spcBef>
                <a:spcPct val="0"/>
              </a:spcBef>
              <a:spcAft>
                <a:spcPct val="0"/>
              </a:spcAft>
              <a:buClrTx/>
              <a:buSzTx/>
              <a:buFontTx/>
              <a:buChar char="•"/>
            </a:pPr>
            <a:r>
              <a:rPr lang="en-US" altLang="en-US" b="1" dirty="0">
                <a:solidFill>
                  <a:schemeClr val="bg2">
                    <a:lumMod val="75000"/>
                  </a:schemeClr>
                </a:solidFill>
                <a:latin typeface="Arial" panose="020B0604020202020204" pitchFamily="34" charset="0"/>
              </a:rPr>
              <a:t>High cohesion:</a:t>
            </a:r>
            <a:r>
              <a:rPr lang="en-US" altLang="en-US" dirty="0">
                <a:solidFill>
                  <a:schemeClr val="bg2">
                    <a:lumMod val="75000"/>
                  </a:schemeClr>
                </a:solidFill>
                <a:latin typeface="Arial" panose="020B0604020202020204" pitchFamily="34" charset="0"/>
              </a:rPr>
              <a:t> Make sure each module focuses on closely related tasks and has a clear purpose</a:t>
            </a:r>
            <a:r>
              <a:rPr lang="en-US" altLang="en-US" dirty="0">
                <a:solidFill>
                  <a:schemeClr val="tx1"/>
                </a:solidFill>
                <a:latin typeface="Arial" panose="020B0604020202020204" pitchFamily="34" charset="0"/>
              </a:rPr>
              <a:t>.</a:t>
            </a:r>
          </a:p>
          <a:p>
            <a:pPr marL="114300" indent="0">
              <a:buNone/>
            </a:pPr>
            <a:endParaRPr lang="en-US" dirty="0"/>
          </a:p>
          <a:p>
            <a:pPr>
              <a:lnSpc>
                <a:spcPct val="200000"/>
              </a:lnSpc>
            </a:pPr>
            <a:endParaRPr lang="en-US" dirty="0"/>
          </a:p>
          <a:p>
            <a:pPr>
              <a:lnSpc>
                <a:spcPct val="200000"/>
              </a:lnSpc>
            </a:pPr>
            <a:endParaRPr lang="en-US" dirty="0"/>
          </a:p>
        </p:txBody>
      </p:sp>
    </p:spTree>
    <p:extLst>
      <p:ext uri="{BB962C8B-B14F-4D97-AF65-F5344CB8AC3E}">
        <p14:creationId xmlns:p14="http://schemas.microsoft.com/office/powerpoint/2010/main" val="87281150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330349" y="5701429"/>
            <a:ext cx="697862" cy="524800"/>
          </a:xfrm>
        </p:spPr>
        <p:txBody>
          <a:bodyPr/>
          <a:lstStyle/>
          <a:p>
            <a:fld id="{B8DACC02-A2BD-4578-8E03-6D891060A695}" type="slidenum">
              <a:rPr lang="en-US" smtClean="0"/>
              <a:pPr/>
              <a:t>105</a:t>
            </a:fld>
            <a:endParaRPr lang="en-US" dirty="0"/>
          </a:p>
        </p:txBody>
      </p:sp>
      <p:sp>
        <p:nvSpPr>
          <p:cNvPr id="2" name="Title 1"/>
          <p:cNvSpPr>
            <a:spLocks noGrp="1"/>
          </p:cNvSpPr>
          <p:nvPr>
            <p:ph type="title" idx="4294967295"/>
          </p:nvPr>
        </p:nvSpPr>
        <p:spPr>
          <a:xfrm>
            <a:off x="523874" y="631771"/>
            <a:ext cx="10836275" cy="763588"/>
          </a:xfrm>
          <a:prstGeom prst="rect">
            <a:avLst/>
          </a:prstGeom>
        </p:spPr>
        <p:txBody>
          <a:bodyPr/>
          <a:lstStyle/>
          <a:p>
            <a:r>
              <a:rPr lang="en-US" b="1" dirty="0"/>
              <a:t>Software architecture characteristics</a:t>
            </a:r>
            <a:r>
              <a:rPr lang="en-US" dirty="0"/>
              <a:t> </a:t>
            </a:r>
          </a:p>
        </p:txBody>
      </p:sp>
      <p:sp>
        <p:nvSpPr>
          <p:cNvPr id="3" name="Content Placeholder 2"/>
          <p:cNvSpPr>
            <a:spLocks noGrp="1"/>
          </p:cNvSpPr>
          <p:nvPr>
            <p:ph idx="4294967295"/>
          </p:nvPr>
        </p:nvSpPr>
        <p:spPr>
          <a:xfrm>
            <a:off x="480704" y="1619656"/>
            <a:ext cx="11230591" cy="4081773"/>
          </a:xfrm>
          <a:prstGeom prst="rect">
            <a:avLst/>
          </a:prstGeom>
        </p:spPr>
        <p:txBody>
          <a:bodyPr>
            <a:normAutofit fontScale="92500" lnSpcReduction="20000"/>
          </a:bodyPr>
          <a:lstStyle/>
          <a:p>
            <a:pPr marL="0" lvl="0" indent="0" eaLnBrk="0" fontAlgn="base" hangingPunct="0">
              <a:lnSpc>
                <a:spcPct val="170000"/>
              </a:lnSpc>
              <a:spcBef>
                <a:spcPct val="0"/>
              </a:spcBef>
              <a:spcAft>
                <a:spcPct val="0"/>
              </a:spcAft>
              <a:buClrTx/>
              <a:buSzTx/>
              <a:buFontTx/>
              <a:buChar char="•"/>
            </a:pPr>
            <a:r>
              <a:rPr lang="en-US" altLang="en-US" b="1" dirty="0">
                <a:solidFill>
                  <a:schemeClr val="bg2">
                    <a:lumMod val="75000"/>
                  </a:schemeClr>
                </a:solidFill>
                <a:latin typeface="Arial" panose="020B0604020202020204" pitchFamily="34" charset="0"/>
              </a:rPr>
              <a:t>Aligning Architecture with Business Goals:</a:t>
            </a:r>
            <a:r>
              <a:rPr lang="en-US" altLang="en-US" dirty="0">
                <a:solidFill>
                  <a:schemeClr val="bg2">
                    <a:lumMod val="75000"/>
                  </a:schemeClr>
                </a:solidFill>
                <a:latin typeface="Arial" panose="020B0604020202020204" pitchFamily="34" charset="0"/>
              </a:rPr>
              <a:t> The system design should support business objectives and deliver value.</a:t>
            </a:r>
          </a:p>
          <a:p>
            <a:pPr marL="0" lvl="0" indent="0" eaLnBrk="0" fontAlgn="base" hangingPunct="0">
              <a:lnSpc>
                <a:spcPct val="170000"/>
              </a:lnSpc>
              <a:spcBef>
                <a:spcPct val="0"/>
              </a:spcBef>
              <a:spcAft>
                <a:spcPct val="0"/>
              </a:spcAft>
              <a:buClrTx/>
              <a:buSzTx/>
              <a:buFontTx/>
              <a:buChar char="•"/>
            </a:pPr>
            <a:r>
              <a:rPr lang="en-US" altLang="en-US" b="1" dirty="0">
                <a:solidFill>
                  <a:schemeClr val="bg2">
                    <a:lumMod val="75000"/>
                  </a:schemeClr>
                </a:solidFill>
                <a:latin typeface="Arial" panose="020B0604020202020204" pitchFamily="34" charset="0"/>
              </a:rPr>
              <a:t>Scalability:</a:t>
            </a:r>
            <a:r>
              <a:rPr lang="en-US" altLang="en-US" dirty="0">
                <a:solidFill>
                  <a:schemeClr val="bg2">
                    <a:lumMod val="75000"/>
                  </a:schemeClr>
                </a:solidFill>
                <a:latin typeface="Arial" panose="020B0604020202020204" pitchFamily="34" charset="0"/>
              </a:rPr>
              <a:t> Ability of the system to handle growth in users, data, or workload.</a:t>
            </a:r>
          </a:p>
          <a:p>
            <a:pPr marL="0" lvl="0" indent="0" eaLnBrk="0" fontAlgn="base" hangingPunct="0">
              <a:lnSpc>
                <a:spcPct val="170000"/>
              </a:lnSpc>
              <a:spcBef>
                <a:spcPct val="0"/>
              </a:spcBef>
              <a:spcAft>
                <a:spcPct val="0"/>
              </a:spcAft>
              <a:buClrTx/>
              <a:buSzTx/>
              <a:buFontTx/>
              <a:buChar char="•"/>
            </a:pPr>
            <a:r>
              <a:rPr lang="en-US" altLang="en-US" b="1" dirty="0">
                <a:solidFill>
                  <a:schemeClr val="bg2">
                    <a:lumMod val="75000"/>
                  </a:schemeClr>
                </a:solidFill>
                <a:latin typeface="Arial" panose="020B0604020202020204" pitchFamily="34" charset="0"/>
              </a:rPr>
              <a:t>Maintainability:</a:t>
            </a:r>
            <a:r>
              <a:rPr lang="en-US" altLang="en-US" dirty="0">
                <a:solidFill>
                  <a:schemeClr val="bg2">
                    <a:lumMod val="75000"/>
                  </a:schemeClr>
                </a:solidFill>
                <a:latin typeface="Arial" panose="020B0604020202020204" pitchFamily="34" charset="0"/>
              </a:rPr>
              <a:t> Ease of fixing bugs, updating features, and improving the system.</a:t>
            </a:r>
          </a:p>
          <a:p>
            <a:pPr marL="0" lvl="0" indent="0" eaLnBrk="0" fontAlgn="base" hangingPunct="0">
              <a:lnSpc>
                <a:spcPct val="170000"/>
              </a:lnSpc>
              <a:spcBef>
                <a:spcPct val="0"/>
              </a:spcBef>
              <a:spcAft>
                <a:spcPct val="0"/>
              </a:spcAft>
              <a:buClrTx/>
              <a:buSzTx/>
              <a:buFontTx/>
              <a:buChar char="•"/>
            </a:pPr>
            <a:r>
              <a:rPr lang="en-US" altLang="en-US" b="1" dirty="0">
                <a:solidFill>
                  <a:schemeClr val="bg2">
                    <a:lumMod val="75000"/>
                  </a:schemeClr>
                </a:solidFill>
                <a:latin typeface="Arial" panose="020B0604020202020204" pitchFamily="34" charset="0"/>
              </a:rPr>
              <a:t>Extensibility:</a:t>
            </a:r>
            <a:r>
              <a:rPr lang="en-US" altLang="en-US" dirty="0">
                <a:solidFill>
                  <a:schemeClr val="bg2">
                    <a:lumMod val="75000"/>
                  </a:schemeClr>
                </a:solidFill>
                <a:latin typeface="Arial" panose="020B0604020202020204" pitchFamily="34" charset="0"/>
              </a:rPr>
              <a:t> Ability to add new features without major changes to existing code.</a:t>
            </a:r>
          </a:p>
          <a:p>
            <a:pPr marL="0" lvl="0" indent="0" eaLnBrk="0" fontAlgn="base" hangingPunct="0">
              <a:lnSpc>
                <a:spcPct val="170000"/>
              </a:lnSpc>
              <a:spcBef>
                <a:spcPct val="0"/>
              </a:spcBef>
              <a:spcAft>
                <a:spcPct val="0"/>
              </a:spcAft>
              <a:buClrTx/>
              <a:buSzTx/>
              <a:buFontTx/>
              <a:buChar char="•"/>
            </a:pPr>
            <a:r>
              <a:rPr lang="en-US" altLang="en-US" b="1" dirty="0">
                <a:solidFill>
                  <a:schemeClr val="bg2">
                    <a:lumMod val="75000"/>
                  </a:schemeClr>
                </a:solidFill>
                <a:latin typeface="Arial" panose="020B0604020202020204" pitchFamily="34" charset="0"/>
              </a:rPr>
              <a:t>Flexibility:</a:t>
            </a:r>
            <a:r>
              <a:rPr lang="en-US" altLang="en-US" dirty="0">
                <a:solidFill>
                  <a:schemeClr val="bg2">
                    <a:lumMod val="75000"/>
                  </a:schemeClr>
                </a:solidFill>
                <a:latin typeface="Arial" panose="020B0604020202020204" pitchFamily="34" charset="0"/>
              </a:rPr>
              <a:t> Ability to adapt to changing requirements or technologies.</a:t>
            </a:r>
          </a:p>
          <a:p>
            <a:pPr marL="0" lvl="0" indent="0" eaLnBrk="0" fontAlgn="base" hangingPunct="0">
              <a:lnSpc>
                <a:spcPct val="170000"/>
              </a:lnSpc>
              <a:spcBef>
                <a:spcPct val="0"/>
              </a:spcBef>
              <a:spcAft>
                <a:spcPct val="0"/>
              </a:spcAft>
              <a:buClrTx/>
              <a:buSzTx/>
              <a:buFontTx/>
              <a:buChar char="•"/>
            </a:pPr>
            <a:r>
              <a:rPr lang="en-US" altLang="en-US" b="1" dirty="0">
                <a:solidFill>
                  <a:schemeClr val="bg2">
                    <a:lumMod val="75000"/>
                  </a:schemeClr>
                </a:solidFill>
                <a:latin typeface="Arial" panose="020B0604020202020204" pitchFamily="34" charset="0"/>
              </a:rPr>
              <a:t>Performance Efficiency:</a:t>
            </a:r>
            <a:r>
              <a:rPr lang="en-US" altLang="en-US" dirty="0">
                <a:solidFill>
                  <a:schemeClr val="bg2">
                    <a:lumMod val="75000"/>
                  </a:schemeClr>
                </a:solidFill>
                <a:latin typeface="Arial" panose="020B0604020202020204" pitchFamily="34" charset="0"/>
              </a:rPr>
              <a:t> System should respond quickly and use resources effectively.</a:t>
            </a:r>
          </a:p>
          <a:p>
            <a:pPr marL="0" lvl="0" indent="0" eaLnBrk="0" fontAlgn="base" hangingPunct="0">
              <a:lnSpc>
                <a:spcPct val="170000"/>
              </a:lnSpc>
              <a:spcBef>
                <a:spcPct val="0"/>
              </a:spcBef>
              <a:spcAft>
                <a:spcPct val="0"/>
              </a:spcAft>
              <a:buClrTx/>
              <a:buSzTx/>
              <a:buFontTx/>
              <a:buChar char="•"/>
            </a:pPr>
            <a:r>
              <a:rPr lang="en-US" altLang="en-US" b="1" dirty="0">
                <a:solidFill>
                  <a:schemeClr val="bg2">
                    <a:lumMod val="75000"/>
                  </a:schemeClr>
                </a:solidFill>
                <a:latin typeface="Arial" panose="020B0604020202020204" pitchFamily="34" charset="0"/>
              </a:rPr>
              <a:t>Security:</a:t>
            </a:r>
            <a:r>
              <a:rPr lang="en-US" altLang="en-US" dirty="0">
                <a:solidFill>
                  <a:schemeClr val="bg2">
                    <a:lumMod val="75000"/>
                  </a:schemeClr>
                </a:solidFill>
                <a:latin typeface="Arial" panose="020B0604020202020204" pitchFamily="34" charset="0"/>
              </a:rPr>
              <a:t> Protects data and system from unauthorized access and threats.</a:t>
            </a:r>
          </a:p>
          <a:p>
            <a:pPr marL="0" lvl="0" indent="0" eaLnBrk="0" fontAlgn="base" hangingPunct="0">
              <a:lnSpc>
                <a:spcPct val="170000"/>
              </a:lnSpc>
              <a:spcBef>
                <a:spcPct val="0"/>
              </a:spcBef>
              <a:spcAft>
                <a:spcPct val="0"/>
              </a:spcAft>
              <a:buClrTx/>
              <a:buSzTx/>
              <a:buFontTx/>
              <a:buChar char="•"/>
            </a:pPr>
            <a:r>
              <a:rPr lang="en-US" altLang="en-US" b="1" dirty="0">
                <a:solidFill>
                  <a:schemeClr val="bg2">
                    <a:lumMod val="75000"/>
                  </a:schemeClr>
                </a:solidFill>
                <a:latin typeface="Arial" panose="020B0604020202020204" pitchFamily="34" charset="0"/>
              </a:rPr>
              <a:t>Usability:</a:t>
            </a:r>
            <a:r>
              <a:rPr lang="en-US" altLang="en-US" dirty="0">
                <a:solidFill>
                  <a:schemeClr val="bg2">
                    <a:lumMod val="75000"/>
                  </a:schemeClr>
                </a:solidFill>
                <a:latin typeface="Arial" panose="020B0604020202020204" pitchFamily="34" charset="0"/>
              </a:rPr>
              <a:t> System should be easy and user-friendly to operate.</a:t>
            </a:r>
          </a:p>
          <a:p>
            <a:pPr marL="0" lvl="0" indent="0" eaLnBrk="0" fontAlgn="base" hangingPunct="0">
              <a:lnSpc>
                <a:spcPct val="170000"/>
              </a:lnSpc>
              <a:spcBef>
                <a:spcPct val="0"/>
              </a:spcBef>
              <a:spcAft>
                <a:spcPct val="0"/>
              </a:spcAft>
              <a:buClrTx/>
              <a:buSzTx/>
              <a:buFontTx/>
              <a:buChar char="•"/>
            </a:pPr>
            <a:r>
              <a:rPr lang="en-US" altLang="en-US" b="1" dirty="0">
                <a:solidFill>
                  <a:schemeClr val="bg2">
                    <a:lumMod val="75000"/>
                  </a:schemeClr>
                </a:solidFill>
                <a:latin typeface="Arial" panose="020B0604020202020204" pitchFamily="34" charset="0"/>
              </a:rPr>
              <a:t>Reusability:</a:t>
            </a:r>
            <a:r>
              <a:rPr lang="en-US" altLang="en-US" dirty="0">
                <a:solidFill>
                  <a:schemeClr val="bg2">
                    <a:lumMod val="75000"/>
                  </a:schemeClr>
                </a:solidFill>
                <a:latin typeface="Arial" panose="020B0604020202020204" pitchFamily="34" charset="0"/>
              </a:rPr>
              <a:t> Components can be reused in other parts of the system or in different projects.</a:t>
            </a:r>
          </a:p>
          <a:p>
            <a:pPr>
              <a:lnSpc>
                <a:spcPct val="170000"/>
              </a:lnSpc>
            </a:pPr>
            <a:endParaRPr lang="en-US" dirty="0">
              <a:solidFill>
                <a:schemeClr val="bg2">
                  <a:lumMod val="75000"/>
                </a:schemeClr>
              </a:solidFill>
            </a:endParaRPr>
          </a:p>
        </p:txBody>
      </p:sp>
    </p:spTree>
    <p:extLst>
      <p:ext uri="{BB962C8B-B14F-4D97-AF65-F5344CB8AC3E}">
        <p14:creationId xmlns:p14="http://schemas.microsoft.com/office/powerpoint/2010/main" val="393664954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E0C51-156C-7503-1A45-A66FBA4309E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C0F600D-6E53-C3B9-C0DB-78764F420824}"/>
              </a:ext>
            </a:extLst>
          </p:cNvPr>
          <p:cNvSpPr>
            <a:spLocks noGrp="1"/>
          </p:cNvSpPr>
          <p:nvPr>
            <p:ph type="title"/>
          </p:nvPr>
        </p:nvSpPr>
        <p:spPr>
          <a:xfrm>
            <a:off x="415600" y="2563000"/>
            <a:ext cx="11360800" cy="1122400"/>
          </a:xfrm>
        </p:spPr>
        <p:txBody>
          <a:bodyPr/>
          <a:lstStyle/>
          <a:p>
            <a:r>
              <a:rPr lang="en-IN" dirty="0"/>
              <a:t>Software Design</a:t>
            </a:r>
          </a:p>
        </p:txBody>
      </p:sp>
      <p:sp>
        <p:nvSpPr>
          <p:cNvPr id="2" name="Slide Number Placeholder 1">
            <a:extLst>
              <a:ext uri="{FF2B5EF4-FFF2-40B4-BE49-F238E27FC236}">
                <a16:creationId xmlns:a16="http://schemas.microsoft.com/office/drawing/2014/main" id="{E281FF9A-6360-A39B-831B-1705BE83F159}"/>
              </a:ext>
            </a:extLst>
          </p:cNvPr>
          <p:cNvSpPr>
            <a:spLocks noGrp="1"/>
          </p:cNvSpPr>
          <p:nvPr>
            <p:ph type="sldNum" sz="quarter" idx="4294967295"/>
          </p:nvPr>
        </p:nvSpPr>
        <p:spPr>
          <a:xfrm>
            <a:off x="11460163" y="6218238"/>
            <a:ext cx="731837" cy="523875"/>
          </a:xfrm>
        </p:spPr>
        <p:txBody>
          <a:bodyPr/>
          <a:lstStyle/>
          <a:p>
            <a:fld id="{B8DACC02-A2BD-4578-8E03-6D891060A695}" type="slidenum">
              <a:rPr lang="en-US" smtClean="0"/>
              <a:t>106</a:t>
            </a:fld>
            <a:endParaRPr lang="en-US"/>
          </a:p>
        </p:txBody>
      </p:sp>
    </p:spTree>
    <p:extLst>
      <p:ext uri="{BB962C8B-B14F-4D97-AF65-F5344CB8AC3E}">
        <p14:creationId xmlns:p14="http://schemas.microsoft.com/office/powerpoint/2010/main" val="356440718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8DACC02-A2BD-4578-8E03-6D891060A695}" type="slidenum">
              <a:rPr lang="en-US" smtClean="0"/>
              <a:pPr/>
              <a:t>107</a:t>
            </a:fld>
            <a:endParaRPr lang="en-US" dirty="0"/>
          </a:p>
        </p:txBody>
      </p:sp>
      <p:sp>
        <p:nvSpPr>
          <p:cNvPr id="2" name="Title 1"/>
          <p:cNvSpPr>
            <a:spLocks noGrp="1"/>
          </p:cNvSpPr>
          <p:nvPr>
            <p:ph type="title" idx="4294967295"/>
          </p:nvPr>
        </p:nvSpPr>
        <p:spPr>
          <a:xfrm>
            <a:off x="563409" y="582458"/>
            <a:ext cx="11065182" cy="763588"/>
          </a:xfrm>
          <a:prstGeom prst="rect">
            <a:avLst/>
          </a:prstGeom>
        </p:spPr>
        <p:txBody>
          <a:bodyPr>
            <a:normAutofit/>
          </a:bodyPr>
          <a:lstStyle/>
          <a:p>
            <a:r>
              <a:rPr lang="en-US" sz="2400" b="1" dirty="0"/>
              <a:t>Understanding Software Design</a:t>
            </a:r>
          </a:p>
        </p:txBody>
      </p:sp>
      <p:sp>
        <p:nvSpPr>
          <p:cNvPr id="3" name="Content Placeholder 2"/>
          <p:cNvSpPr>
            <a:spLocks noGrp="1"/>
          </p:cNvSpPr>
          <p:nvPr>
            <p:ph idx="4294967295"/>
          </p:nvPr>
        </p:nvSpPr>
        <p:spPr>
          <a:xfrm>
            <a:off x="639096" y="1569270"/>
            <a:ext cx="10799711" cy="3430588"/>
          </a:xfrm>
          <a:prstGeom prst="rect">
            <a:avLst/>
          </a:prstGeom>
        </p:spPr>
        <p:txBody>
          <a:bodyPr/>
          <a:lstStyle/>
          <a:p>
            <a:pPr>
              <a:lnSpc>
                <a:spcPct val="150000"/>
              </a:lnSpc>
            </a:pPr>
            <a:r>
              <a:rPr lang="en-US" dirty="0"/>
              <a:t>Software design refers to the process of creating a plan, blueprint, or architecture for a software system. </a:t>
            </a:r>
          </a:p>
          <a:p>
            <a:pPr>
              <a:lnSpc>
                <a:spcPct val="150000"/>
              </a:lnSpc>
            </a:pPr>
            <a:r>
              <a:rPr lang="en-US" dirty="0"/>
              <a:t>It involves making decisions about the structure, functionality, and behavior of the system, as well as the algorithms and data structures that will be used to implement it.</a:t>
            </a:r>
          </a:p>
        </p:txBody>
      </p:sp>
    </p:spTree>
    <p:extLst>
      <p:ext uri="{BB962C8B-B14F-4D97-AF65-F5344CB8AC3E}">
        <p14:creationId xmlns:p14="http://schemas.microsoft.com/office/powerpoint/2010/main" val="388365659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296611" y="5671941"/>
            <a:ext cx="731600" cy="524800"/>
          </a:xfrm>
        </p:spPr>
        <p:txBody>
          <a:bodyPr/>
          <a:lstStyle/>
          <a:p>
            <a:fld id="{B8DACC02-A2BD-4578-8E03-6D891060A695}" type="slidenum">
              <a:rPr lang="en-US" smtClean="0"/>
              <a:pPr/>
              <a:t>108</a:t>
            </a:fld>
            <a:endParaRPr lang="en-US" dirty="0"/>
          </a:p>
        </p:txBody>
      </p:sp>
      <p:sp>
        <p:nvSpPr>
          <p:cNvPr id="2" name="Title 1"/>
          <p:cNvSpPr>
            <a:spLocks noGrp="1"/>
          </p:cNvSpPr>
          <p:nvPr>
            <p:ph type="title" idx="4294967295"/>
          </p:nvPr>
        </p:nvSpPr>
        <p:spPr>
          <a:xfrm>
            <a:off x="319919" y="533306"/>
            <a:ext cx="10976692" cy="763588"/>
          </a:xfrm>
          <a:prstGeom prst="rect">
            <a:avLst/>
          </a:prstGeom>
        </p:spPr>
        <p:txBody>
          <a:bodyPr>
            <a:normAutofit/>
          </a:bodyPr>
          <a:lstStyle/>
          <a:p>
            <a:r>
              <a:rPr lang="en-US" sz="2400" b="1" dirty="0"/>
              <a:t>Understanding Software Design</a:t>
            </a:r>
          </a:p>
        </p:txBody>
      </p:sp>
      <p:sp>
        <p:nvSpPr>
          <p:cNvPr id="3" name="Content Placeholder 2"/>
          <p:cNvSpPr>
            <a:spLocks noGrp="1"/>
          </p:cNvSpPr>
          <p:nvPr>
            <p:ph idx="4294967295"/>
          </p:nvPr>
        </p:nvSpPr>
        <p:spPr>
          <a:xfrm>
            <a:off x="319919" y="1130710"/>
            <a:ext cx="7899849" cy="1022555"/>
          </a:xfrm>
          <a:prstGeom prst="rect">
            <a:avLst/>
          </a:prstGeom>
        </p:spPr>
        <p:txBody>
          <a:bodyPr>
            <a:noAutofit/>
          </a:bodyPr>
          <a:lstStyle/>
          <a:p>
            <a:pPr>
              <a:lnSpc>
                <a:spcPct val="150000"/>
              </a:lnSpc>
            </a:pPr>
            <a:r>
              <a:rPr lang="en-US" sz="1400" dirty="0"/>
              <a:t>Software design is a critical step in the software development process, as it helps ensure that the system is developed efficiently, effectively, and meets the requirements of its users. </a:t>
            </a:r>
          </a:p>
        </p:txBody>
      </p:sp>
      <p:pic>
        <p:nvPicPr>
          <p:cNvPr id="6" name="Picture 5">
            <a:extLst>
              <a:ext uri="{FF2B5EF4-FFF2-40B4-BE49-F238E27FC236}">
                <a16:creationId xmlns:a16="http://schemas.microsoft.com/office/drawing/2014/main" id="{3A3C0374-687C-3510-A689-F7364F9025AA}"/>
              </a:ext>
            </a:extLst>
          </p:cNvPr>
          <p:cNvPicPr>
            <a:picLocks noChangeAspect="1"/>
          </p:cNvPicPr>
          <p:nvPr/>
        </p:nvPicPr>
        <p:blipFill>
          <a:blip r:embed="rId2"/>
          <a:stretch>
            <a:fillRect/>
          </a:stretch>
        </p:blipFill>
        <p:spPr>
          <a:xfrm>
            <a:off x="8137792" y="0"/>
            <a:ext cx="4054208" cy="3951923"/>
          </a:xfrm>
          <a:prstGeom prst="rect">
            <a:avLst/>
          </a:prstGeom>
        </p:spPr>
      </p:pic>
      <p:pic>
        <p:nvPicPr>
          <p:cNvPr id="8" name="Picture 7">
            <a:extLst>
              <a:ext uri="{FF2B5EF4-FFF2-40B4-BE49-F238E27FC236}">
                <a16:creationId xmlns:a16="http://schemas.microsoft.com/office/drawing/2014/main" id="{A54753AB-513A-D46C-5D3A-75BDBA700646}"/>
              </a:ext>
            </a:extLst>
          </p:cNvPr>
          <p:cNvPicPr>
            <a:picLocks noChangeAspect="1"/>
          </p:cNvPicPr>
          <p:nvPr/>
        </p:nvPicPr>
        <p:blipFill>
          <a:blip r:embed="rId3"/>
          <a:stretch>
            <a:fillRect/>
          </a:stretch>
        </p:blipFill>
        <p:spPr>
          <a:xfrm>
            <a:off x="4985077" y="2953421"/>
            <a:ext cx="3152713" cy="2295396"/>
          </a:xfrm>
          <a:prstGeom prst="rect">
            <a:avLst/>
          </a:prstGeom>
        </p:spPr>
      </p:pic>
      <p:pic>
        <p:nvPicPr>
          <p:cNvPr id="10" name="Picture 9">
            <a:extLst>
              <a:ext uri="{FF2B5EF4-FFF2-40B4-BE49-F238E27FC236}">
                <a16:creationId xmlns:a16="http://schemas.microsoft.com/office/drawing/2014/main" id="{3DE663AD-2443-30E9-8A35-0380BDE65E5A}"/>
              </a:ext>
            </a:extLst>
          </p:cNvPr>
          <p:cNvPicPr>
            <a:picLocks noChangeAspect="1"/>
          </p:cNvPicPr>
          <p:nvPr/>
        </p:nvPicPr>
        <p:blipFill>
          <a:blip r:embed="rId4"/>
          <a:stretch>
            <a:fillRect/>
          </a:stretch>
        </p:blipFill>
        <p:spPr>
          <a:xfrm>
            <a:off x="8137791" y="3951923"/>
            <a:ext cx="4010833" cy="3059427"/>
          </a:xfrm>
          <a:prstGeom prst="rect">
            <a:avLst/>
          </a:prstGeom>
        </p:spPr>
      </p:pic>
      <p:sp>
        <p:nvSpPr>
          <p:cNvPr id="13" name="Content Placeholder 2">
            <a:extLst>
              <a:ext uri="{FF2B5EF4-FFF2-40B4-BE49-F238E27FC236}">
                <a16:creationId xmlns:a16="http://schemas.microsoft.com/office/drawing/2014/main" id="{37CAE464-4041-587B-1961-25A9A0AD2781}"/>
              </a:ext>
            </a:extLst>
          </p:cNvPr>
          <p:cNvSpPr txBox="1">
            <a:spLocks/>
          </p:cNvSpPr>
          <p:nvPr/>
        </p:nvSpPr>
        <p:spPr>
          <a:xfrm>
            <a:off x="398196" y="1975961"/>
            <a:ext cx="4449107" cy="519398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eaLnBrk="1" hangingPunct="1">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eaLnBrk="1" hangingPunct="1">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2pPr>
            <a:lvl3pPr marL="1371600" marR="0" lvl="2" indent="-317500" algn="l" rtl="0" eaLnBrk="1" hangingPunct="1">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3pPr>
            <a:lvl4pPr marL="1828800" marR="0" lvl="3" indent="-317500" algn="l" rtl="0" eaLnBrk="1" hangingPunct="1">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4pPr>
            <a:lvl5pPr marL="2286000" marR="0" lvl="4" indent="-317500" algn="l" rtl="0" eaLnBrk="1" hangingPunct="1">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5pPr>
            <a:lvl6pPr marL="2743200" marR="0" lvl="5" indent="-317500" algn="l" rtl="0" eaLnBrk="1" hangingPunct="1">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6pPr>
            <a:lvl7pPr marL="3200400" marR="0" lvl="6" indent="-317500" algn="l" rtl="0" eaLnBrk="1" hangingPunct="1">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7pPr>
            <a:lvl8pPr marL="3657600" marR="0" lvl="7" indent="-317500" algn="l" rtl="0" eaLnBrk="1" hangingPunct="1">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8pPr>
            <a:lvl9pPr marL="4114800" marR="0" lvl="8" indent="-317500" algn="l" rtl="0" eaLnBrk="1" hangingPunct="1">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9pPr>
          </a:lstStyle>
          <a:p>
            <a:pPr marL="114300" indent="0">
              <a:lnSpc>
                <a:spcPct val="150000"/>
              </a:lnSpc>
              <a:buNone/>
            </a:pPr>
            <a:r>
              <a:rPr lang="en-US" sz="1400" kern="0" dirty="0"/>
              <a:t>It involves a series of activities, including:</a:t>
            </a:r>
          </a:p>
          <a:p>
            <a:pPr lvl="1">
              <a:lnSpc>
                <a:spcPct val="150000"/>
              </a:lnSpc>
            </a:pPr>
            <a:r>
              <a:rPr lang="en-US" sz="1400" kern="0" dirty="0"/>
              <a:t>Defining the system's requirements and constraints</a:t>
            </a:r>
          </a:p>
          <a:p>
            <a:pPr lvl="1">
              <a:lnSpc>
                <a:spcPct val="150000"/>
              </a:lnSpc>
            </a:pPr>
            <a:r>
              <a:rPr lang="en-US" sz="1400" kern="0" dirty="0"/>
              <a:t>Creating models, prototypes, and diagrams to represent the system's architecture and functionality</a:t>
            </a:r>
          </a:p>
          <a:p>
            <a:pPr lvl="1">
              <a:lnSpc>
                <a:spcPct val="150000"/>
              </a:lnSpc>
            </a:pPr>
            <a:r>
              <a:rPr lang="en-US" sz="1400" kern="0" dirty="0"/>
              <a:t>Identifying and evaluating design options and trade-offs</a:t>
            </a:r>
          </a:p>
          <a:p>
            <a:pPr lvl="1">
              <a:lnSpc>
                <a:spcPct val="150000"/>
              </a:lnSpc>
            </a:pPr>
            <a:r>
              <a:rPr lang="en-US" sz="1400" kern="0" dirty="0"/>
              <a:t>Selecting the most appropriate design solution</a:t>
            </a:r>
          </a:p>
          <a:p>
            <a:pPr lvl="1">
              <a:lnSpc>
                <a:spcPct val="150000"/>
              </a:lnSpc>
            </a:pPr>
            <a:r>
              <a:rPr lang="en-US" sz="1400" kern="0" dirty="0"/>
              <a:t>Documenting the design in sufficient detail to allow for its implementation</a:t>
            </a:r>
          </a:p>
        </p:txBody>
      </p:sp>
    </p:spTree>
    <p:extLst>
      <p:ext uri="{BB962C8B-B14F-4D97-AF65-F5344CB8AC3E}">
        <p14:creationId xmlns:p14="http://schemas.microsoft.com/office/powerpoint/2010/main" val="87501033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327895" y="6217623"/>
            <a:ext cx="700316" cy="524800"/>
          </a:xfrm>
        </p:spPr>
        <p:txBody>
          <a:bodyPr/>
          <a:lstStyle/>
          <a:p>
            <a:fld id="{B8DACC02-A2BD-4578-8E03-6D891060A695}" type="slidenum">
              <a:rPr lang="en-US" smtClean="0"/>
              <a:pPr/>
              <a:t>109</a:t>
            </a:fld>
            <a:endParaRPr lang="en-US" dirty="0"/>
          </a:p>
        </p:txBody>
      </p:sp>
      <p:sp>
        <p:nvSpPr>
          <p:cNvPr id="2" name="Title 1"/>
          <p:cNvSpPr>
            <a:spLocks noGrp="1"/>
          </p:cNvSpPr>
          <p:nvPr>
            <p:ph type="title" idx="4294967295"/>
          </p:nvPr>
        </p:nvSpPr>
        <p:spPr>
          <a:xfrm>
            <a:off x="485774" y="1187450"/>
            <a:ext cx="10842121" cy="763588"/>
          </a:xfrm>
          <a:prstGeom prst="rect">
            <a:avLst/>
          </a:prstGeom>
        </p:spPr>
        <p:txBody>
          <a:bodyPr/>
          <a:lstStyle/>
          <a:p>
            <a:r>
              <a:rPr lang="en-US" sz="2400" b="1" dirty="0"/>
              <a:t>Design</a:t>
            </a:r>
            <a:r>
              <a:rPr lang="en-US" dirty="0"/>
              <a:t> </a:t>
            </a:r>
            <a:r>
              <a:rPr lang="en-US" sz="2400" b="1" dirty="0"/>
              <a:t>Principles</a:t>
            </a:r>
          </a:p>
        </p:txBody>
      </p:sp>
      <p:sp>
        <p:nvSpPr>
          <p:cNvPr id="5" name="Rectangle 1"/>
          <p:cNvSpPr>
            <a:spLocks noGrp="1" noChangeArrowheads="1"/>
          </p:cNvSpPr>
          <p:nvPr>
            <p:ph idx="4294967295"/>
          </p:nvPr>
        </p:nvSpPr>
        <p:spPr bwMode="auto">
          <a:xfrm>
            <a:off x="485774" y="2460035"/>
            <a:ext cx="10525126" cy="3831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50000"/>
              </a:lnSpc>
              <a:spcBef>
                <a:spcPct val="0"/>
              </a:spcBef>
              <a:spcAft>
                <a:spcPct val="0"/>
              </a:spcAft>
              <a:buClrTx/>
              <a:buSzTx/>
              <a:buFontTx/>
              <a:buChar char="•"/>
            </a:pPr>
            <a:r>
              <a:rPr lang="en-US" altLang="en-US" dirty="0">
                <a:solidFill>
                  <a:schemeClr val="bg2">
                    <a:lumMod val="75000"/>
                  </a:schemeClr>
                </a:solidFill>
                <a:latin typeface="Arial" panose="020B0604020202020204" pitchFamily="34" charset="0"/>
              </a:rPr>
              <a:t>Divide the system so each part handles a specific responsibility.</a:t>
            </a:r>
          </a:p>
          <a:p>
            <a:pPr marL="0" lvl="0" indent="0" eaLnBrk="0" fontAlgn="base" hangingPunct="0">
              <a:lnSpc>
                <a:spcPct val="150000"/>
              </a:lnSpc>
              <a:spcBef>
                <a:spcPct val="0"/>
              </a:spcBef>
              <a:spcAft>
                <a:spcPct val="0"/>
              </a:spcAft>
              <a:buClrTx/>
              <a:buSzTx/>
              <a:buFontTx/>
              <a:buChar char="•"/>
            </a:pPr>
            <a:r>
              <a:rPr lang="en-US" altLang="en-US" dirty="0">
                <a:solidFill>
                  <a:schemeClr val="bg2">
                    <a:lumMod val="75000"/>
                  </a:schemeClr>
                </a:solidFill>
                <a:latin typeface="Arial" panose="020B0604020202020204" pitchFamily="34" charset="0"/>
              </a:rPr>
              <a:t>Build the system using independent, self-contained components.</a:t>
            </a:r>
          </a:p>
          <a:p>
            <a:pPr marL="0" lvl="0" indent="0" eaLnBrk="0" fontAlgn="base" hangingPunct="0">
              <a:lnSpc>
                <a:spcPct val="150000"/>
              </a:lnSpc>
              <a:spcBef>
                <a:spcPct val="0"/>
              </a:spcBef>
              <a:spcAft>
                <a:spcPct val="0"/>
              </a:spcAft>
              <a:buClrTx/>
              <a:buSzTx/>
              <a:buFontTx/>
              <a:buChar char="•"/>
            </a:pPr>
            <a:r>
              <a:rPr lang="en-US" altLang="en-US" dirty="0">
                <a:solidFill>
                  <a:schemeClr val="bg2">
                    <a:lumMod val="75000"/>
                  </a:schemeClr>
                </a:solidFill>
                <a:latin typeface="Arial" panose="020B0604020202020204" pitchFamily="34" charset="0"/>
              </a:rPr>
              <a:t>Hide complex details and show only necessary features.</a:t>
            </a:r>
          </a:p>
          <a:p>
            <a:pPr marL="0" lvl="0" indent="0" eaLnBrk="0" fontAlgn="base" hangingPunct="0">
              <a:lnSpc>
                <a:spcPct val="150000"/>
              </a:lnSpc>
              <a:spcBef>
                <a:spcPct val="0"/>
              </a:spcBef>
              <a:spcAft>
                <a:spcPct val="0"/>
              </a:spcAft>
              <a:buClrTx/>
              <a:buSzTx/>
              <a:buFontTx/>
              <a:buChar char="•"/>
            </a:pPr>
            <a:r>
              <a:rPr lang="en-US" altLang="en-US" dirty="0">
                <a:solidFill>
                  <a:schemeClr val="bg2">
                    <a:lumMod val="75000"/>
                  </a:schemeClr>
                </a:solidFill>
                <a:latin typeface="Arial" panose="020B0604020202020204" pitchFamily="34" charset="0"/>
              </a:rPr>
              <a:t>Follow five object-oriented principles that improve design and maintainability.</a:t>
            </a:r>
          </a:p>
          <a:p>
            <a:pPr marL="0" lvl="0" indent="0" eaLnBrk="0" fontAlgn="base" hangingPunct="0">
              <a:lnSpc>
                <a:spcPct val="150000"/>
              </a:lnSpc>
              <a:spcBef>
                <a:spcPct val="0"/>
              </a:spcBef>
              <a:spcAft>
                <a:spcPct val="0"/>
              </a:spcAft>
              <a:buClrTx/>
              <a:buSzTx/>
              <a:buFontTx/>
              <a:buChar char="•"/>
            </a:pPr>
            <a:r>
              <a:rPr lang="en-US" altLang="en-US" dirty="0">
                <a:solidFill>
                  <a:schemeClr val="bg2">
                    <a:lumMod val="75000"/>
                  </a:schemeClr>
                </a:solidFill>
                <a:latin typeface="Arial" panose="020B0604020202020204" pitchFamily="34" charset="0"/>
              </a:rPr>
              <a:t>Avoid duplicating code or logic.</a:t>
            </a:r>
          </a:p>
          <a:p>
            <a:pPr marL="0" lvl="0" indent="0" eaLnBrk="0" fontAlgn="base" hangingPunct="0">
              <a:lnSpc>
                <a:spcPct val="150000"/>
              </a:lnSpc>
              <a:spcBef>
                <a:spcPct val="0"/>
              </a:spcBef>
              <a:spcAft>
                <a:spcPct val="0"/>
              </a:spcAft>
              <a:buClrTx/>
              <a:buSzTx/>
              <a:buFontTx/>
              <a:buChar char="•"/>
            </a:pPr>
            <a:r>
              <a:rPr lang="en-US" altLang="en-US" dirty="0">
                <a:solidFill>
                  <a:schemeClr val="bg2">
                    <a:lumMod val="75000"/>
                  </a:schemeClr>
                </a:solidFill>
                <a:latin typeface="Arial" panose="020B0604020202020204" pitchFamily="34" charset="0"/>
              </a:rPr>
              <a:t>Keep the design simple and avoid unnecessary complexity.</a:t>
            </a:r>
          </a:p>
          <a:p>
            <a:pPr marL="0" lvl="0" indent="0" eaLnBrk="0" fontAlgn="base" hangingPunct="0">
              <a:lnSpc>
                <a:spcPct val="150000"/>
              </a:lnSpc>
              <a:spcBef>
                <a:spcPct val="0"/>
              </a:spcBef>
              <a:spcAft>
                <a:spcPct val="0"/>
              </a:spcAft>
              <a:buClrTx/>
              <a:buSzTx/>
              <a:buFontTx/>
              <a:buChar char="•"/>
            </a:pPr>
            <a:r>
              <a:rPr lang="en-US" altLang="en-US" dirty="0">
                <a:solidFill>
                  <a:schemeClr val="bg2">
                    <a:lumMod val="75000"/>
                  </a:schemeClr>
                </a:solidFill>
                <a:latin typeface="Arial" panose="020B0604020202020204" pitchFamily="34" charset="0"/>
              </a:rPr>
              <a:t>Do not add features until they are actually required.</a:t>
            </a:r>
          </a:p>
          <a:p>
            <a:pPr marL="0" lvl="0" indent="0" eaLnBrk="0" fontAlgn="base" hangingPunct="0">
              <a:lnSpc>
                <a:spcPct val="150000"/>
              </a:lnSpc>
              <a:spcBef>
                <a:spcPct val="0"/>
              </a:spcBef>
              <a:spcAft>
                <a:spcPct val="0"/>
              </a:spcAft>
              <a:buClrTx/>
              <a:buSzTx/>
              <a:buFontTx/>
              <a:buChar char="•"/>
            </a:pPr>
            <a:r>
              <a:rPr lang="en-US" altLang="en-US" dirty="0">
                <a:solidFill>
                  <a:schemeClr val="bg2">
                    <a:lumMod val="75000"/>
                  </a:schemeClr>
                </a:solidFill>
                <a:latin typeface="Arial" panose="020B0604020202020204" pitchFamily="34" charset="0"/>
              </a:rPr>
              <a:t>Write tests before writing the actual code to ensure correctness.</a:t>
            </a: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sz="1800" b="0" i="0" u="none" strike="noStrike" cap="none" normalizeH="0" baseline="0" dirty="0">
              <a:ln>
                <a:noFill/>
              </a:ln>
              <a:solidFill>
                <a:schemeClr val="bg2">
                  <a:lumMod val="75000"/>
                </a:schemeClr>
              </a:solidFill>
              <a:effectLst/>
              <a:latin typeface="Arial" panose="020B0604020202020204" pitchFamily="34" charset="0"/>
            </a:endParaRPr>
          </a:p>
        </p:txBody>
      </p:sp>
    </p:spTree>
    <p:extLst>
      <p:ext uri="{BB962C8B-B14F-4D97-AF65-F5344CB8AC3E}">
        <p14:creationId xmlns:p14="http://schemas.microsoft.com/office/powerpoint/2010/main" val="193874599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332189" y="6217623"/>
            <a:ext cx="696022" cy="524800"/>
          </a:xfrm>
        </p:spPr>
        <p:txBody>
          <a:bodyPr/>
          <a:lstStyle/>
          <a:p>
            <a:fld id="{B8DACC02-A2BD-4578-8E03-6D891060A695}" type="slidenum">
              <a:rPr lang="en-US" smtClean="0"/>
              <a:pPr/>
              <a:t>110</a:t>
            </a:fld>
            <a:endParaRPr lang="en-US" dirty="0"/>
          </a:p>
        </p:txBody>
      </p:sp>
      <p:sp>
        <p:nvSpPr>
          <p:cNvPr id="2" name="Title 1"/>
          <p:cNvSpPr>
            <a:spLocks noGrp="1"/>
          </p:cNvSpPr>
          <p:nvPr>
            <p:ph type="title" idx="4294967295"/>
          </p:nvPr>
        </p:nvSpPr>
        <p:spPr>
          <a:xfrm>
            <a:off x="552450" y="1654175"/>
            <a:ext cx="10807700" cy="763588"/>
          </a:xfrm>
          <a:prstGeom prst="rect">
            <a:avLst/>
          </a:prstGeom>
        </p:spPr>
        <p:txBody>
          <a:bodyPr/>
          <a:lstStyle/>
          <a:p>
            <a:r>
              <a:rPr lang="en-US" sz="2400" b="1" dirty="0"/>
              <a:t>Design</a:t>
            </a:r>
            <a:r>
              <a:rPr lang="en-US" dirty="0"/>
              <a:t> </a:t>
            </a:r>
            <a:r>
              <a:rPr lang="en-US" sz="2400" b="1" dirty="0"/>
              <a:t>Patterns</a:t>
            </a:r>
          </a:p>
        </p:txBody>
      </p:sp>
      <p:sp>
        <p:nvSpPr>
          <p:cNvPr id="3" name="Content Placeholder 2"/>
          <p:cNvSpPr>
            <a:spLocks noGrp="1"/>
          </p:cNvSpPr>
          <p:nvPr>
            <p:ph idx="4294967295"/>
          </p:nvPr>
        </p:nvSpPr>
        <p:spPr>
          <a:xfrm>
            <a:off x="552450" y="2660650"/>
            <a:ext cx="10807700" cy="3430588"/>
          </a:xfrm>
          <a:prstGeom prst="rect">
            <a:avLst/>
          </a:prstGeom>
        </p:spPr>
        <p:txBody>
          <a:bodyPr/>
          <a:lstStyle/>
          <a:p>
            <a:r>
              <a:rPr lang="en-US" dirty="0"/>
              <a:t>Design patterns at the software design level are reusable solutions to common problems that arise during the software design process. </a:t>
            </a:r>
          </a:p>
          <a:p>
            <a:endParaRPr lang="en-US" dirty="0"/>
          </a:p>
          <a:p>
            <a:r>
              <a:rPr lang="en-US" dirty="0"/>
              <a:t>They provide a proven, standardized approach to solving specific design problems, making it easier for developers to create robust, maintainable, and extensible software systems.</a:t>
            </a:r>
          </a:p>
        </p:txBody>
      </p:sp>
    </p:spTree>
    <p:extLst>
      <p:ext uri="{BB962C8B-B14F-4D97-AF65-F5344CB8AC3E}">
        <p14:creationId xmlns:p14="http://schemas.microsoft.com/office/powerpoint/2010/main" val="259684672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341389" y="6217623"/>
            <a:ext cx="686821" cy="524800"/>
          </a:xfrm>
        </p:spPr>
        <p:txBody>
          <a:bodyPr/>
          <a:lstStyle/>
          <a:p>
            <a:fld id="{B8DACC02-A2BD-4578-8E03-6D891060A695}" type="slidenum">
              <a:rPr lang="en-US" smtClean="0"/>
              <a:pPr/>
              <a:t>111</a:t>
            </a:fld>
            <a:endParaRPr lang="en-US" dirty="0"/>
          </a:p>
        </p:txBody>
      </p:sp>
      <p:sp>
        <p:nvSpPr>
          <p:cNvPr id="2" name="Title 1"/>
          <p:cNvSpPr>
            <a:spLocks noGrp="1"/>
          </p:cNvSpPr>
          <p:nvPr>
            <p:ph type="title" idx="4294967295"/>
          </p:nvPr>
        </p:nvSpPr>
        <p:spPr>
          <a:xfrm>
            <a:off x="682625" y="533298"/>
            <a:ext cx="10826749" cy="763588"/>
          </a:xfrm>
          <a:prstGeom prst="rect">
            <a:avLst/>
          </a:prstGeom>
        </p:spPr>
        <p:txBody>
          <a:bodyPr/>
          <a:lstStyle/>
          <a:p>
            <a:r>
              <a:rPr lang="en-US" sz="2400" b="1" dirty="0"/>
              <a:t>Desirable</a:t>
            </a:r>
            <a:r>
              <a:rPr lang="en-US" dirty="0"/>
              <a:t> </a:t>
            </a:r>
            <a:r>
              <a:rPr lang="en-US" sz="2400" b="1" dirty="0"/>
              <a:t>Characteristics of a Design</a:t>
            </a:r>
          </a:p>
        </p:txBody>
      </p:sp>
      <p:sp>
        <p:nvSpPr>
          <p:cNvPr id="3" name="Content Placeholder 2"/>
          <p:cNvSpPr>
            <a:spLocks noGrp="1"/>
          </p:cNvSpPr>
          <p:nvPr>
            <p:ph idx="4294967295"/>
          </p:nvPr>
        </p:nvSpPr>
        <p:spPr>
          <a:xfrm>
            <a:off x="514640" y="1470946"/>
            <a:ext cx="10826749" cy="3430588"/>
          </a:xfrm>
          <a:prstGeom prst="rect">
            <a:avLst/>
          </a:prstGeom>
        </p:spPr>
        <p:txBody>
          <a:bodyPr>
            <a:normAutofit fontScale="92500" lnSpcReduction="20000"/>
          </a:bodyPr>
          <a:lstStyle/>
          <a:p>
            <a:pPr>
              <a:lnSpc>
                <a:spcPct val="100000"/>
              </a:lnSpc>
            </a:pPr>
            <a:r>
              <a:rPr lang="en-US" dirty="0">
                <a:solidFill>
                  <a:schemeClr val="tx1"/>
                </a:solidFill>
              </a:rPr>
              <a:t>Minimal complexity</a:t>
            </a:r>
          </a:p>
          <a:p>
            <a:pPr lvl="1">
              <a:lnSpc>
                <a:spcPct val="100000"/>
              </a:lnSpc>
            </a:pPr>
            <a:r>
              <a:rPr lang="en-US" dirty="0">
                <a:solidFill>
                  <a:schemeClr val="tx1"/>
                </a:solidFill>
              </a:rPr>
              <a:t>A design should be simple and easy to understand, avoiding unnecessary complexity that can make it hard to maintain and extend. </a:t>
            </a:r>
            <a:r>
              <a:rPr lang="en-US" b="1" dirty="0">
                <a:solidFill>
                  <a:schemeClr val="tx1"/>
                </a:solidFill>
              </a:rPr>
              <a:t>Example:</a:t>
            </a:r>
            <a:r>
              <a:rPr lang="en-US" dirty="0">
                <a:solidFill>
                  <a:schemeClr val="tx1"/>
                </a:solidFill>
              </a:rPr>
              <a:t> If you need to store a list of names, don't use a complex, custom-built binary tree if a simple </a:t>
            </a:r>
            <a:r>
              <a:rPr lang="en-US" b="1" dirty="0">
                <a:solidFill>
                  <a:schemeClr val="tx1"/>
                </a:solidFill>
              </a:rPr>
              <a:t>Array</a:t>
            </a:r>
            <a:r>
              <a:rPr lang="en-US" dirty="0">
                <a:solidFill>
                  <a:schemeClr val="tx1"/>
                </a:solidFill>
              </a:rPr>
              <a:t> or </a:t>
            </a:r>
            <a:r>
              <a:rPr lang="en-US" b="1" dirty="0">
                <a:solidFill>
                  <a:schemeClr val="tx1"/>
                </a:solidFill>
              </a:rPr>
              <a:t>List</a:t>
            </a:r>
            <a:r>
              <a:rPr lang="en-US" dirty="0">
                <a:solidFill>
                  <a:schemeClr val="tx1"/>
                </a:solidFill>
              </a:rPr>
              <a:t> does the job.</a:t>
            </a:r>
          </a:p>
          <a:p>
            <a:pPr>
              <a:lnSpc>
                <a:spcPct val="100000"/>
              </a:lnSpc>
            </a:pPr>
            <a:endParaRPr lang="en-US" dirty="0">
              <a:solidFill>
                <a:schemeClr val="tx1"/>
              </a:solidFill>
            </a:endParaRPr>
          </a:p>
          <a:p>
            <a:pPr>
              <a:lnSpc>
                <a:spcPct val="100000"/>
              </a:lnSpc>
            </a:pPr>
            <a:r>
              <a:rPr lang="en-US" dirty="0">
                <a:solidFill>
                  <a:schemeClr val="tx1"/>
                </a:solidFill>
              </a:rPr>
              <a:t>Ease of maintenance</a:t>
            </a:r>
          </a:p>
          <a:p>
            <a:pPr lvl="1">
              <a:lnSpc>
                <a:spcPct val="100000"/>
              </a:lnSpc>
            </a:pPr>
            <a:r>
              <a:rPr lang="en-US" dirty="0">
                <a:solidFill>
                  <a:schemeClr val="tx1"/>
                </a:solidFill>
              </a:rPr>
              <a:t>A design should be easy to maintain and modify, with a focus on making it self-explanatory for maintenance programmers. </a:t>
            </a:r>
            <a:r>
              <a:rPr lang="en-US" b="1" dirty="0">
                <a:solidFill>
                  <a:schemeClr val="tx1"/>
                </a:solidFill>
              </a:rPr>
              <a:t>Example: </a:t>
            </a:r>
            <a:r>
              <a:rPr lang="en-US" dirty="0">
                <a:solidFill>
                  <a:schemeClr val="tx1"/>
                </a:solidFill>
              </a:rPr>
              <a:t>Using meaningful variable names like </a:t>
            </a:r>
            <a:r>
              <a:rPr lang="en-US" dirty="0" err="1">
                <a:solidFill>
                  <a:schemeClr val="tx1"/>
                </a:solidFill>
              </a:rPr>
              <a:t>dailyTemperatureAverage</a:t>
            </a:r>
            <a:r>
              <a:rPr lang="en-US" dirty="0">
                <a:solidFill>
                  <a:schemeClr val="tx1"/>
                </a:solidFill>
              </a:rPr>
              <a:t> instead of </a:t>
            </a:r>
            <a:r>
              <a:rPr lang="en-US" dirty="0" err="1">
                <a:solidFill>
                  <a:schemeClr val="tx1"/>
                </a:solidFill>
              </a:rPr>
              <a:t>dta</a:t>
            </a:r>
            <a:r>
              <a:rPr lang="en-US" dirty="0">
                <a:solidFill>
                  <a:schemeClr val="tx1"/>
                </a:solidFill>
              </a:rPr>
              <a:t>.</a:t>
            </a:r>
          </a:p>
          <a:p>
            <a:pPr>
              <a:lnSpc>
                <a:spcPct val="100000"/>
              </a:lnSpc>
            </a:pPr>
            <a:endParaRPr lang="en-US" dirty="0">
              <a:solidFill>
                <a:schemeClr val="tx1"/>
              </a:solidFill>
            </a:endParaRPr>
          </a:p>
          <a:p>
            <a:pPr>
              <a:lnSpc>
                <a:spcPct val="100000"/>
              </a:lnSpc>
            </a:pPr>
            <a:r>
              <a:rPr lang="en-US" dirty="0">
                <a:solidFill>
                  <a:schemeClr val="tx1"/>
                </a:solidFill>
              </a:rPr>
              <a:t>Loose coupling</a:t>
            </a:r>
          </a:p>
          <a:p>
            <a:pPr lvl="1">
              <a:lnSpc>
                <a:spcPct val="100000"/>
              </a:lnSpc>
            </a:pPr>
            <a:r>
              <a:rPr lang="en-US" dirty="0">
                <a:solidFill>
                  <a:schemeClr val="tx1"/>
                </a:solidFill>
              </a:rPr>
              <a:t>A design should minimize connections between different parts of a program to reduce the impact of changes and improvements. </a:t>
            </a:r>
            <a:r>
              <a:rPr lang="en-US" b="1" dirty="0">
                <a:solidFill>
                  <a:schemeClr val="tx1"/>
                </a:solidFill>
              </a:rPr>
              <a:t>Loose coupling</a:t>
            </a:r>
            <a:r>
              <a:rPr lang="en-US" dirty="0">
                <a:solidFill>
                  <a:schemeClr val="tx1"/>
                </a:solidFill>
              </a:rPr>
              <a:t> means that if you change the code in Component A, you don't accidentally break Component B.</a:t>
            </a:r>
          </a:p>
        </p:txBody>
      </p:sp>
    </p:spTree>
    <p:extLst>
      <p:ext uri="{BB962C8B-B14F-4D97-AF65-F5344CB8AC3E}">
        <p14:creationId xmlns:p14="http://schemas.microsoft.com/office/powerpoint/2010/main" val="106394889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328627" y="6217623"/>
            <a:ext cx="699583" cy="524800"/>
          </a:xfrm>
        </p:spPr>
        <p:txBody>
          <a:bodyPr/>
          <a:lstStyle/>
          <a:p>
            <a:fld id="{B8DACC02-A2BD-4578-8E03-6D891060A695}" type="slidenum">
              <a:rPr lang="en-US" smtClean="0"/>
              <a:pPr/>
              <a:t>112</a:t>
            </a:fld>
            <a:endParaRPr lang="en-US" dirty="0"/>
          </a:p>
        </p:txBody>
      </p:sp>
      <p:sp>
        <p:nvSpPr>
          <p:cNvPr id="2" name="Title 1"/>
          <p:cNvSpPr>
            <a:spLocks noGrp="1"/>
          </p:cNvSpPr>
          <p:nvPr>
            <p:ph type="title" idx="4294967295"/>
          </p:nvPr>
        </p:nvSpPr>
        <p:spPr>
          <a:xfrm>
            <a:off x="497150" y="1654175"/>
            <a:ext cx="10863000" cy="763588"/>
          </a:xfrm>
          <a:prstGeom prst="rect">
            <a:avLst/>
          </a:prstGeom>
        </p:spPr>
        <p:txBody>
          <a:bodyPr/>
          <a:lstStyle/>
          <a:p>
            <a:r>
              <a:rPr lang="en-US" sz="2400" b="1" dirty="0"/>
              <a:t>Desirable</a:t>
            </a:r>
            <a:r>
              <a:rPr lang="en-US" dirty="0"/>
              <a:t> </a:t>
            </a:r>
            <a:r>
              <a:rPr lang="en-US" sz="2400" b="1" dirty="0"/>
              <a:t>Characteristics of a Design (Contd.)</a:t>
            </a:r>
          </a:p>
        </p:txBody>
      </p:sp>
      <p:sp>
        <p:nvSpPr>
          <p:cNvPr id="3" name="Content Placeholder 2"/>
          <p:cNvSpPr>
            <a:spLocks noGrp="1"/>
          </p:cNvSpPr>
          <p:nvPr>
            <p:ph idx="4294967295"/>
          </p:nvPr>
        </p:nvSpPr>
        <p:spPr>
          <a:xfrm>
            <a:off x="497150" y="2660650"/>
            <a:ext cx="10863000" cy="3430588"/>
          </a:xfrm>
          <a:prstGeom prst="rect">
            <a:avLst/>
          </a:prstGeom>
        </p:spPr>
        <p:txBody>
          <a:bodyPr>
            <a:normAutofit fontScale="92500" lnSpcReduction="20000"/>
          </a:bodyPr>
          <a:lstStyle/>
          <a:p>
            <a:pPr>
              <a:lnSpc>
                <a:spcPct val="100000"/>
              </a:lnSpc>
            </a:pPr>
            <a:r>
              <a:rPr lang="en-US" dirty="0">
                <a:solidFill>
                  <a:schemeClr val="tx1"/>
                </a:solidFill>
              </a:rPr>
              <a:t>Extensibility</a:t>
            </a:r>
          </a:p>
          <a:p>
            <a:pPr lvl="1">
              <a:lnSpc>
                <a:spcPct val="100000"/>
              </a:lnSpc>
            </a:pPr>
            <a:r>
              <a:rPr lang="en-US" dirty="0">
                <a:solidFill>
                  <a:schemeClr val="tx1"/>
                </a:solidFill>
              </a:rPr>
              <a:t>A design should be modular and allow for easy extension and modification without affecting the underlying structure. </a:t>
            </a:r>
            <a:r>
              <a:rPr lang="en-US" b="1" dirty="0">
                <a:solidFill>
                  <a:schemeClr val="tx1"/>
                </a:solidFill>
              </a:rPr>
              <a:t>Example:</a:t>
            </a:r>
            <a:r>
              <a:rPr lang="en-US" dirty="0">
                <a:solidFill>
                  <a:schemeClr val="tx1"/>
                </a:solidFill>
              </a:rPr>
              <a:t> An E-commerce site. You should be able to add "Crypto Payments" as a new module without having to rewrite the "Shopping Cart" or "Product Catalog" logic.</a:t>
            </a:r>
          </a:p>
          <a:p>
            <a:pPr>
              <a:lnSpc>
                <a:spcPct val="100000"/>
              </a:lnSpc>
            </a:pPr>
            <a:endParaRPr lang="en-US" dirty="0">
              <a:solidFill>
                <a:schemeClr val="tx1"/>
              </a:solidFill>
            </a:endParaRPr>
          </a:p>
          <a:p>
            <a:pPr>
              <a:lnSpc>
                <a:spcPct val="100000"/>
              </a:lnSpc>
            </a:pPr>
            <a:r>
              <a:rPr lang="en-US" dirty="0">
                <a:solidFill>
                  <a:schemeClr val="tx1"/>
                </a:solidFill>
              </a:rPr>
              <a:t>Reusability</a:t>
            </a:r>
          </a:p>
          <a:p>
            <a:pPr lvl="1">
              <a:lnSpc>
                <a:spcPct val="100000"/>
              </a:lnSpc>
            </a:pPr>
            <a:r>
              <a:rPr lang="en-US" dirty="0">
                <a:solidFill>
                  <a:schemeClr val="tx1"/>
                </a:solidFill>
              </a:rPr>
              <a:t>A design should promote reusability by utilizing modular, flexible, and standardized components. </a:t>
            </a:r>
            <a:r>
              <a:rPr lang="en-US" b="1" dirty="0">
                <a:solidFill>
                  <a:schemeClr val="tx1"/>
                </a:solidFill>
              </a:rPr>
              <a:t>Example:</a:t>
            </a:r>
            <a:r>
              <a:rPr lang="en-US" dirty="0">
                <a:solidFill>
                  <a:schemeClr val="tx1"/>
                </a:solidFill>
              </a:rPr>
              <a:t> A </a:t>
            </a:r>
            <a:r>
              <a:rPr lang="en-US" b="1" dirty="0">
                <a:solidFill>
                  <a:schemeClr val="tx1"/>
                </a:solidFill>
              </a:rPr>
              <a:t>Login/Authentication module</a:t>
            </a:r>
            <a:r>
              <a:rPr lang="en-US" dirty="0">
                <a:solidFill>
                  <a:schemeClr val="tx1"/>
                </a:solidFill>
              </a:rPr>
              <a:t>. Instead of writing a login system for every app, a company builds one high-quality, secure "Login Service" that all their apps use.</a:t>
            </a:r>
          </a:p>
          <a:p>
            <a:pPr>
              <a:lnSpc>
                <a:spcPct val="100000"/>
              </a:lnSpc>
            </a:pPr>
            <a:endParaRPr lang="en-US" dirty="0">
              <a:solidFill>
                <a:schemeClr val="tx1"/>
              </a:solidFill>
            </a:endParaRPr>
          </a:p>
          <a:p>
            <a:pPr>
              <a:lnSpc>
                <a:spcPct val="100000"/>
              </a:lnSpc>
            </a:pPr>
            <a:r>
              <a:rPr lang="en-US" dirty="0">
                <a:solidFill>
                  <a:schemeClr val="tx1"/>
                </a:solidFill>
              </a:rPr>
              <a:t>High fan-in</a:t>
            </a:r>
          </a:p>
          <a:p>
            <a:pPr lvl="1">
              <a:lnSpc>
                <a:spcPct val="100000"/>
              </a:lnSpc>
            </a:pPr>
            <a:r>
              <a:rPr lang="en-US" dirty="0">
                <a:solidFill>
                  <a:schemeClr val="tx1"/>
                </a:solidFill>
              </a:rPr>
              <a:t>A design should have a high number of classes that use a given class, indicating good use of utility classes </a:t>
            </a:r>
            <a:r>
              <a:rPr lang="en-US" b="1" dirty="0">
                <a:solidFill>
                  <a:schemeClr val="tx1"/>
                </a:solidFill>
              </a:rPr>
              <a:t>Example:</a:t>
            </a:r>
            <a:r>
              <a:rPr lang="en-US" dirty="0">
                <a:solidFill>
                  <a:schemeClr val="tx1"/>
                </a:solidFill>
              </a:rPr>
              <a:t> A </a:t>
            </a:r>
            <a:r>
              <a:rPr lang="en-US" dirty="0" err="1">
                <a:solidFill>
                  <a:schemeClr val="tx1"/>
                </a:solidFill>
              </a:rPr>
              <a:t>MathLibrary</a:t>
            </a:r>
            <a:r>
              <a:rPr lang="en-US" dirty="0">
                <a:solidFill>
                  <a:schemeClr val="tx1"/>
                </a:solidFill>
              </a:rPr>
              <a:t> class that has methods for </a:t>
            </a:r>
            <a:r>
              <a:rPr lang="en-US" dirty="0" err="1">
                <a:solidFill>
                  <a:schemeClr val="tx1"/>
                </a:solidFill>
              </a:rPr>
              <a:t>calculateTax</a:t>
            </a:r>
            <a:r>
              <a:rPr lang="en-US" dirty="0">
                <a:solidFill>
                  <a:schemeClr val="tx1"/>
                </a:solidFill>
              </a:rPr>
              <a:t>() or </a:t>
            </a:r>
            <a:r>
              <a:rPr lang="en-US" dirty="0" err="1">
                <a:solidFill>
                  <a:schemeClr val="tx1"/>
                </a:solidFill>
              </a:rPr>
              <a:t>convertCurrency</a:t>
            </a:r>
            <a:r>
              <a:rPr lang="en-US" dirty="0">
                <a:solidFill>
                  <a:schemeClr val="tx1"/>
                </a:solidFill>
              </a:rPr>
              <a:t>(). If every other class in the system uses it, it has </a:t>
            </a:r>
            <a:r>
              <a:rPr lang="en-US" b="1" dirty="0">
                <a:solidFill>
                  <a:schemeClr val="tx1"/>
                </a:solidFill>
              </a:rPr>
              <a:t>High Fan-in</a:t>
            </a:r>
            <a:r>
              <a:rPr lang="en-US" dirty="0">
                <a:solidFill>
                  <a:schemeClr val="tx1"/>
                </a:solidFill>
              </a:rPr>
              <a:t>..</a:t>
            </a:r>
          </a:p>
        </p:txBody>
      </p:sp>
    </p:spTree>
    <p:extLst>
      <p:ext uri="{BB962C8B-B14F-4D97-AF65-F5344CB8AC3E}">
        <p14:creationId xmlns:p14="http://schemas.microsoft.com/office/powerpoint/2010/main" val="310668012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325197" y="6217623"/>
            <a:ext cx="703014" cy="524800"/>
          </a:xfrm>
        </p:spPr>
        <p:txBody>
          <a:bodyPr/>
          <a:lstStyle/>
          <a:p>
            <a:fld id="{B8DACC02-A2BD-4578-8E03-6D891060A695}" type="slidenum">
              <a:rPr lang="en-US" smtClean="0"/>
              <a:pPr/>
              <a:t>113</a:t>
            </a:fld>
            <a:endParaRPr lang="en-US" dirty="0"/>
          </a:p>
        </p:txBody>
      </p:sp>
      <p:sp>
        <p:nvSpPr>
          <p:cNvPr id="2" name="Title 1"/>
          <p:cNvSpPr>
            <a:spLocks noGrp="1"/>
          </p:cNvSpPr>
          <p:nvPr>
            <p:ph type="title" idx="4294967295"/>
          </p:nvPr>
        </p:nvSpPr>
        <p:spPr>
          <a:xfrm>
            <a:off x="443882" y="1654175"/>
            <a:ext cx="10916267" cy="763588"/>
          </a:xfrm>
          <a:prstGeom prst="rect">
            <a:avLst/>
          </a:prstGeom>
        </p:spPr>
        <p:txBody>
          <a:bodyPr/>
          <a:lstStyle/>
          <a:p>
            <a:r>
              <a:rPr lang="en-US" sz="2400" b="1" dirty="0"/>
              <a:t>Desirable</a:t>
            </a:r>
            <a:r>
              <a:rPr lang="en-US" dirty="0"/>
              <a:t> </a:t>
            </a:r>
            <a:r>
              <a:rPr lang="en-US" sz="2400" b="1" dirty="0"/>
              <a:t>Characteristics of a Design (Contd.)</a:t>
            </a:r>
          </a:p>
        </p:txBody>
      </p:sp>
      <p:sp>
        <p:nvSpPr>
          <p:cNvPr id="3" name="Content Placeholder 2"/>
          <p:cNvSpPr>
            <a:spLocks noGrp="1"/>
          </p:cNvSpPr>
          <p:nvPr>
            <p:ph idx="4294967295"/>
          </p:nvPr>
        </p:nvSpPr>
        <p:spPr>
          <a:xfrm>
            <a:off x="443882" y="2660650"/>
            <a:ext cx="10916267" cy="3430588"/>
          </a:xfrm>
          <a:prstGeom prst="rect">
            <a:avLst/>
          </a:prstGeom>
        </p:spPr>
        <p:txBody>
          <a:bodyPr>
            <a:normAutofit fontScale="92500" lnSpcReduction="20000"/>
          </a:bodyPr>
          <a:lstStyle/>
          <a:p>
            <a:pPr>
              <a:lnSpc>
                <a:spcPct val="100000"/>
              </a:lnSpc>
            </a:pPr>
            <a:r>
              <a:rPr lang="en-US" dirty="0">
                <a:solidFill>
                  <a:schemeClr val="tx1"/>
                </a:solidFill>
              </a:rPr>
              <a:t>Low-to-medium fan-out</a:t>
            </a:r>
          </a:p>
          <a:p>
            <a:pPr lvl="1">
              <a:lnSpc>
                <a:spcPct val="100000"/>
              </a:lnSpc>
            </a:pPr>
            <a:r>
              <a:rPr lang="en-US" dirty="0">
                <a:solidFill>
                  <a:schemeClr val="tx1"/>
                </a:solidFill>
              </a:rPr>
              <a:t>A design should have a low-to-medium number of classes used by a given class, avoiding high fan-out that may indicate complexity.</a:t>
            </a:r>
          </a:p>
          <a:p>
            <a:pPr lvl="1">
              <a:lnSpc>
                <a:spcPct val="100000"/>
              </a:lnSpc>
            </a:pPr>
            <a:r>
              <a:rPr lang="en-US" b="1" dirty="0">
                <a:solidFill>
                  <a:schemeClr val="tx1"/>
                </a:solidFill>
              </a:rPr>
              <a:t>Example:</a:t>
            </a:r>
            <a:r>
              <a:rPr lang="en-US" dirty="0">
                <a:solidFill>
                  <a:schemeClr val="tx1"/>
                </a:solidFill>
              </a:rPr>
              <a:t> If your </a:t>
            </a:r>
            <a:r>
              <a:rPr lang="en-US" dirty="0" err="1">
                <a:solidFill>
                  <a:schemeClr val="tx1"/>
                </a:solidFill>
              </a:rPr>
              <a:t>GenerateInvoice</a:t>
            </a:r>
            <a:r>
              <a:rPr lang="en-US" dirty="0">
                <a:solidFill>
                  <a:schemeClr val="tx1"/>
                </a:solidFill>
              </a:rPr>
              <a:t> class needs to talk to the Database, Printer, </a:t>
            </a:r>
            <a:r>
              <a:rPr lang="en-US" dirty="0" err="1">
                <a:solidFill>
                  <a:schemeClr val="tx1"/>
                </a:solidFill>
              </a:rPr>
              <a:t>EmailServer</a:t>
            </a:r>
            <a:r>
              <a:rPr lang="en-US" dirty="0">
                <a:solidFill>
                  <a:schemeClr val="tx1"/>
                </a:solidFill>
              </a:rPr>
              <a:t>, </a:t>
            </a:r>
            <a:r>
              <a:rPr lang="en-US" dirty="0" err="1">
                <a:solidFill>
                  <a:schemeClr val="tx1"/>
                </a:solidFill>
              </a:rPr>
              <a:t>TaxOffice</a:t>
            </a:r>
            <a:r>
              <a:rPr lang="en-US" dirty="0">
                <a:solidFill>
                  <a:schemeClr val="tx1"/>
                </a:solidFill>
              </a:rPr>
              <a:t>, and </a:t>
            </a:r>
            <a:r>
              <a:rPr lang="en-US" dirty="0" err="1">
                <a:solidFill>
                  <a:schemeClr val="tx1"/>
                </a:solidFill>
              </a:rPr>
              <a:t>InventoryManager</a:t>
            </a:r>
            <a:r>
              <a:rPr lang="en-US" dirty="0">
                <a:solidFill>
                  <a:schemeClr val="tx1"/>
                </a:solidFill>
              </a:rPr>
              <a:t> directly, its fan-out is too high. You should simplify it.</a:t>
            </a:r>
          </a:p>
          <a:p>
            <a:pPr>
              <a:lnSpc>
                <a:spcPct val="100000"/>
              </a:lnSpc>
            </a:pPr>
            <a:endParaRPr lang="en-US" dirty="0">
              <a:solidFill>
                <a:schemeClr val="tx1"/>
              </a:solidFill>
            </a:endParaRPr>
          </a:p>
          <a:p>
            <a:pPr>
              <a:lnSpc>
                <a:spcPct val="100000"/>
              </a:lnSpc>
            </a:pPr>
            <a:r>
              <a:rPr lang="en-US" dirty="0">
                <a:solidFill>
                  <a:schemeClr val="tx1"/>
                </a:solidFill>
              </a:rPr>
              <a:t>Portability</a:t>
            </a:r>
          </a:p>
          <a:p>
            <a:pPr lvl="1">
              <a:lnSpc>
                <a:spcPct val="100000"/>
              </a:lnSpc>
            </a:pPr>
            <a:r>
              <a:rPr lang="en-US" dirty="0">
                <a:solidFill>
                  <a:schemeClr val="tx1"/>
                </a:solidFill>
              </a:rPr>
              <a:t>A design should be easy to move to another environment, minimizing environment-specific dependencies. </a:t>
            </a:r>
            <a:r>
              <a:rPr lang="en-US" b="1" dirty="0">
                <a:solidFill>
                  <a:schemeClr val="tx1"/>
                </a:solidFill>
              </a:rPr>
              <a:t>Example:</a:t>
            </a:r>
            <a:r>
              <a:rPr lang="en-US" dirty="0">
                <a:solidFill>
                  <a:schemeClr val="tx1"/>
                </a:solidFill>
              </a:rPr>
              <a:t> Writing an app in </a:t>
            </a:r>
            <a:r>
              <a:rPr lang="en-US" b="1" dirty="0">
                <a:solidFill>
                  <a:schemeClr val="tx1"/>
                </a:solidFill>
              </a:rPr>
              <a:t>Java</a:t>
            </a:r>
            <a:r>
              <a:rPr lang="en-US" dirty="0">
                <a:solidFill>
                  <a:schemeClr val="tx1"/>
                </a:solidFill>
              </a:rPr>
              <a:t> or using </a:t>
            </a:r>
            <a:r>
              <a:rPr lang="en-US" b="1" dirty="0">
                <a:solidFill>
                  <a:schemeClr val="tx1"/>
                </a:solidFill>
              </a:rPr>
              <a:t>Docker containers</a:t>
            </a:r>
            <a:r>
              <a:rPr lang="en-US" dirty="0">
                <a:solidFill>
                  <a:schemeClr val="tx1"/>
                </a:solidFill>
              </a:rPr>
              <a:t>.</a:t>
            </a:r>
          </a:p>
          <a:p>
            <a:pPr>
              <a:lnSpc>
                <a:spcPct val="100000"/>
              </a:lnSpc>
            </a:pPr>
            <a:endParaRPr lang="en-US" dirty="0">
              <a:solidFill>
                <a:schemeClr val="tx1"/>
              </a:solidFill>
            </a:endParaRPr>
          </a:p>
          <a:p>
            <a:pPr>
              <a:lnSpc>
                <a:spcPct val="100000"/>
              </a:lnSpc>
            </a:pPr>
            <a:r>
              <a:rPr lang="en-US" dirty="0">
                <a:solidFill>
                  <a:schemeClr val="tx1"/>
                </a:solidFill>
              </a:rPr>
              <a:t>Leanness</a:t>
            </a:r>
          </a:p>
          <a:p>
            <a:pPr lvl="1">
              <a:lnSpc>
                <a:spcPct val="100000"/>
              </a:lnSpc>
            </a:pPr>
            <a:r>
              <a:rPr lang="en-US" dirty="0">
                <a:solidFill>
                  <a:schemeClr val="tx1"/>
                </a:solidFill>
              </a:rPr>
              <a:t>A design should avoid unnecessary parts and code, minimizing the effort required for development, review, testing, and maintenance. </a:t>
            </a:r>
            <a:r>
              <a:rPr lang="en-US" b="1" dirty="0">
                <a:solidFill>
                  <a:schemeClr val="tx1"/>
                </a:solidFill>
              </a:rPr>
              <a:t>Example:</a:t>
            </a:r>
            <a:r>
              <a:rPr lang="en-US" dirty="0">
                <a:solidFill>
                  <a:schemeClr val="tx1"/>
                </a:solidFill>
              </a:rPr>
              <a:t> If the customer only needs a report in PDF, don't spend three days writing code to export it to Excel, CSV, and HTML "just in case."</a:t>
            </a:r>
          </a:p>
        </p:txBody>
      </p:sp>
    </p:spTree>
    <p:extLst>
      <p:ext uri="{BB962C8B-B14F-4D97-AF65-F5344CB8AC3E}">
        <p14:creationId xmlns:p14="http://schemas.microsoft.com/office/powerpoint/2010/main" val="3990506890"/>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329173" y="6217623"/>
            <a:ext cx="699037" cy="524800"/>
          </a:xfrm>
        </p:spPr>
        <p:txBody>
          <a:bodyPr/>
          <a:lstStyle/>
          <a:p>
            <a:fld id="{B8DACC02-A2BD-4578-8E03-6D891060A695}" type="slidenum">
              <a:rPr lang="en-US" smtClean="0"/>
              <a:pPr/>
              <a:t>114</a:t>
            </a:fld>
            <a:endParaRPr lang="en-US" dirty="0"/>
          </a:p>
        </p:txBody>
      </p:sp>
      <p:sp>
        <p:nvSpPr>
          <p:cNvPr id="2" name="Title 1"/>
          <p:cNvSpPr>
            <a:spLocks noGrp="1"/>
          </p:cNvSpPr>
          <p:nvPr>
            <p:ph type="title" idx="4294967295"/>
          </p:nvPr>
        </p:nvSpPr>
        <p:spPr>
          <a:xfrm>
            <a:off x="505632" y="1654175"/>
            <a:ext cx="10854517" cy="763588"/>
          </a:xfrm>
          <a:prstGeom prst="rect">
            <a:avLst/>
          </a:prstGeom>
        </p:spPr>
        <p:txBody>
          <a:bodyPr/>
          <a:lstStyle/>
          <a:p>
            <a:r>
              <a:rPr lang="en-US" sz="2400" b="1" dirty="0"/>
              <a:t>Desirable</a:t>
            </a:r>
            <a:r>
              <a:rPr lang="en-US" dirty="0"/>
              <a:t> </a:t>
            </a:r>
            <a:r>
              <a:rPr lang="en-US" sz="2400" b="1" dirty="0"/>
              <a:t>Characteristics of a Design (Contd.)</a:t>
            </a:r>
          </a:p>
        </p:txBody>
      </p:sp>
      <p:sp>
        <p:nvSpPr>
          <p:cNvPr id="3" name="Content Placeholder 2"/>
          <p:cNvSpPr>
            <a:spLocks noGrp="1"/>
          </p:cNvSpPr>
          <p:nvPr>
            <p:ph idx="4294967295"/>
          </p:nvPr>
        </p:nvSpPr>
        <p:spPr>
          <a:xfrm>
            <a:off x="497150" y="2660650"/>
            <a:ext cx="10863000" cy="3430588"/>
          </a:xfrm>
          <a:prstGeom prst="rect">
            <a:avLst/>
          </a:prstGeom>
        </p:spPr>
        <p:txBody>
          <a:bodyPr>
            <a:normAutofit/>
          </a:bodyPr>
          <a:lstStyle/>
          <a:p>
            <a:pPr>
              <a:lnSpc>
                <a:spcPct val="100000"/>
              </a:lnSpc>
            </a:pPr>
            <a:r>
              <a:rPr lang="en-US" dirty="0">
                <a:solidFill>
                  <a:schemeClr val="tx1"/>
                </a:solidFill>
              </a:rPr>
              <a:t>Stratification</a:t>
            </a:r>
          </a:p>
          <a:p>
            <a:pPr lvl="1">
              <a:lnSpc>
                <a:spcPct val="100000"/>
              </a:lnSpc>
            </a:pPr>
            <a:r>
              <a:rPr lang="en-US" dirty="0">
                <a:solidFill>
                  <a:schemeClr val="tx1"/>
                </a:solidFill>
              </a:rPr>
              <a:t>A design should have clear levels of decomposition, allowing for a consistent view at each level without dipping into other levels. The high-level UI shouldn't be talking directly to the low-level hardware bits.</a:t>
            </a:r>
          </a:p>
          <a:p>
            <a:pPr>
              <a:lnSpc>
                <a:spcPct val="100000"/>
              </a:lnSpc>
            </a:pPr>
            <a:endParaRPr lang="en-US" dirty="0">
              <a:solidFill>
                <a:schemeClr val="tx1"/>
              </a:solidFill>
            </a:endParaRPr>
          </a:p>
          <a:p>
            <a:pPr>
              <a:lnSpc>
                <a:spcPct val="100000"/>
              </a:lnSpc>
            </a:pPr>
            <a:r>
              <a:rPr lang="en-US" dirty="0">
                <a:solidFill>
                  <a:schemeClr val="tx1"/>
                </a:solidFill>
              </a:rPr>
              <a:t>Standard techniques</a:t>
            </a:r>
          </a:p>
          <a:p>
            <a:pPr marL="914400" lvl="2" indent="0" eaLnBrk="0" fontAlgn="base" hangingPunct="0">
              <a:lnSpc>
                <a:spcPct val="100000"/>
              </a:lnSpc>
              <a:spcBef>
                <a:spcPct val="0"/>
              </a:spcBef>
              <a:spcAft>
                <a:spcPct val="0"/>
              </a:spcAft>
              <a:buClrTx/>
              <a:buSzTx/>
              <a:buFontTx/>
              <a:buChar char="•"/>
            </a:pPr>
            <a:r>
              <a:rPr lang="en-US" dirty="0">
                <a:solidFill>
                  <a:schemeClr val="tx1"/>
                </a:solidFill>
              </a:rPr>
              <a:t>A design should utilize established, widely-used techniques and tools to create a familiar and easy-to-understand </a:t>
            </a:r>
            <a:r>
              <a:rPr lang="en-US" dirty="0" err="1">
                <a:solidFill>
                  <a:schemeClr val="tx1"/>
                </a:solidFill>
              </a:rPr>
              <a:t>design.</a:t>
            </a:r>
            <a:r>
              <a:rPr lang="en-US" altLang="en-US" dirty="0" err="1">
                <a:solidFill>
                  <a:schemeClr val="tx1"/>
                </a:solidFill>
                <a:latin typeface="Arial" panose="020B0604020202020204" pitchFamily="34" charset="0"/>
              </a:rPr>
              <a:t>Don't</a:t>
            </a:r>
            <a:r>
              <a:rPr lang="en-US" altLang="en-US" dirty="0">
                <a:solidFill>
                  <a:schemeClr val="tx1"/>
                </a:solidFill>
                <a:latin typeface="Arial" panose="020B0604020202020204" pitchFamily="34" charset="0"/>
              </a:rPr>
              <a:t> reinvent the wheel. Use established Design Patterns (like Singleton or Factory) and standard tools that the global community of software engineers already knows. </a:t>
            </a:r>
            <a:r>
              <a:rPr lang="en-US" altLang="en-US" b="1" dirty="0">
                <a:solidFill>
                  <a:schemeClr val="tx1"/>
                </a:solidFill>
                <a:latin typeface="Arial" panose="020B0604020202020204" pitchFamily="34" charset="0"/>
              </a:rPr>
              <a:t>Example:</a:t>
            </a:r>
            <a:r>
              <a:rPr lang="en-US" altLang="en-US" dirty="0">
                <a:solidFill>
                  <a:schemeClr val="tx1"/>
                </a:solidFill>
                <a:latin typeface="Arial" panose="020B0604020202020204" pitchFamily="34" charset="0"/>
              </a:rPr>
              <a:t> Using </a:t>
            </a:r>
            <a:r>
              <a:rPr lang="en-US" altLang="en-US" b="1" dirty="0">
                <a:solidFill>
                  <a:schemeClr val="tx1"/>
                </a:solidFill>
                <a:latin typeface="Arial" panose="020B0604020202020204" pitchFamily="34" charset="0"/>
              </a:rPr>
              <a:t>JSON</a:t>
            </a:r>
            <a:r>
              <a:rPr lang="en-US" altLang="en-US" dirty="0">
                <a:solidFill>
                  <a:schemeClr val="tx1"/>
                </a:solidFill>
                <a:latin typeface="Arial" panose="020B0604020202020204" pitchFamily="34" charset="0"/>
              </a:rPr>
              <a:t> for data transfer instead of creating your own custom text format.</a:t>
            </a:r>
          </a:p>
          <a:p>
            <a:pPr lvl="1">
              <a:lnSpc>
                <a:spcPct val="100000"/>
              </a:lnSpc>
            </a:pPr>
            <a:endParaRPr lang="en-US" dirty="0"/>
          </a:p>
        </p:txBody>
      </p:sp>
    </p:spTree>
    <p:extLst>
      <p:ext uri="{BB962C8B-B14F-4D97-AF65-F5344CB8AC3E}">
        <p14:creationId xmlns:p14="http://schemas.microsoft.com/office/powerpoint/2010/main" val="2106910086"/>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296611" y="5553945"/>
            <a:ext cx="731600" cy="524800"/>
          </a:xfrm>
        </p:spPr>
        <p:txBody>
          <a:bodyPr/>
          <a:lstStyle/>
          <a:p>
            <a:fld id="{B8DACC02-A2BD-4578-8E03-6D891060A695}" type="slidenum">
              <a:rPr lang="en-US" smtClean="0"/>
              <a:pPr/>
              <a:t>115</a:t>
            </a:fld>
            <a:endParaRPr lang="en-US" dirty="0"/>
          </a:p>
        </p:txBody>
      </p:sp>
      <p:sp>
        <p:nvSpPr>
          <p:cNvPr id="2" name="Title 1"/>
          <p:cNvSpPr>
            <a:spLocks noGrp="1"/>
          </p:cNvSpPr>
          <p:nvPr>
            <p:ph type="title" idx="4294967295"/>
          </p:nvPr>
        </p:nvSpPr>
        <p:spPr>
          <a:xfrm>
            <a:off x="442452" y="990497"/>
            <a:ext cx="10917698" cy="763588"/>
          </a:xfrm>
          <a:prstGeom prst="rect">
            <a:avLst/>
          </a:prstGeom>
        </p:spPr>
        <p:txBody>
          <a:bodyPr>
            <a:normAutofit/>
          </a:bodyPr>
          <a:lstStyle/>
          <a:p>
            <a:r>
              <a:rPr lang="en-US" sz="2400" b="1" dirty="0"/>
              <a:t>Difference between Architecture and Design</a:t>
            </a:r>
          </a:p>
        </p:txBody>
      </p:sp>
      <p:sp>
        <p:nvSpPr>
          <p:cNvPr id="3" name="Content Placeholder 2"/>
          <p:cNvSpPr>
            <a:spLocks noGrp="1"/>
          </p:cNvSpPr>
          <p:nvPr>
            <p:ph idx="4294967295"/>
          </p:nvPr>
        </p:nvSpPr>
        <p:spPr>
          <a:xfrm>
            <a:off x="442452" y="1718187"/>
            <a:ext cx="7875638" cy="1880419"/>
          </a:xfrm>
          <a:prstGeom prst="rect">
            <a:avLst/>
          </a:prstGeom>
        </p:spPr>
        <p:txBody>
          <a:bodyPr>
            <a:normAutofit/>
          </a:bodyPr>
          <a:lstStyle/>
          <a:p>
            <a:pPr>
              <a:lnSpc>
                <a:spcPct val="150000"/>
              </a:lnSpc>
            </a:pPr>
            <a:r>
              <a:rPr lang="en-US" dirty="0"/>
              <a:t>Software design typically involves making decisions about the algorithms, data structures, and other low-level details of the system, while software architecture focuses on the overall shape of the system and how it will meet the requirements.</a:t>
            </a:r>
          </a:p>
        </p:txBody>
      </p:sp>
      <p:pic>
        <p:nvPicPr>
          <p:cNvPr id="2050" name="Picture 2" descr="Difference between Architecture and Design in Softwa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09636" y="1718187"/>
            <a:ext cx="3152775" cy="1647825"/>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2">
            <a:extLst>
              <a:ext uri="{FF2B5EF4-FFF2-40B4-BE49-F238E27FC236}">
                <a16:creationId xmlns:a16="http://schemas.microsoft.com/office/drawing/2014/main" id="{D0022AC7-F4D3-3CF2-A75A-2743AADBC115}"/>
              </a:ext>
            </a:extLst>
          </p:cNvPr>
          <p:cNvSpPr txBox="1">
            <a:spLocks/>
          </p:cNvSpPr>
          <p:nvPr/>
        </p:nvSpPr>
        <p:spPr>
          <a:xfrm>
            <a:off x="6096000" y="3598605"/>
            <a:ext cx="5566411" cy="256621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eaLnBrk="1" hangingPunct="1">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eaLnBrk="1" hangingPunct="1">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2pPr>
            <a:lvl3pPr marL="1371600" marR="0" lvl="2" indent="-317500" algn="l" rtl="0" eaLnBrk="1" hangingPunct="1">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3pPr>
            <a:lvl4pPr marL="1828800" marR="0" lvl="3" indent="-317500" algn="l" rtl="0" eaLnBrk="1" hangingPunct="1">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4pPr>
            <a:lvl5pPr marL="2286000" marR="0" lvl="4" indent="-317500" algn="l" rtl="0" eaLnBrk="1" hangingPunct="1">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5pPr>
            <a:lvl6pPr marL="2743200" marR="0" lvl="5" indent="-317500" algn="l" rtl="0" eaLnBrk="1" hangingPunct="1">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6pPr>
            <a:lvl7pPr marL="3200400" marR="0" lvl="6" indent="-317500" algn="l" rtl="0" eaLnBrk="1" hangingPunct="1">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7pPr>
            <a:lvl8pPr marL="3657600" marR="0" lvl="7" indent="-317500" algn="l" rtl="0" eaLnBrk="1" hangingPunct="1">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8pPr>
            <a:lvl9pPr marL="4114800" marR="0" lvl="8" indent="-317500" algn="l" rtl="0" eaLnBrk="1" hangingPunct="1">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9pPr>
          </a:lstStyle>
          <a:p>
            <a:pPr>
              <a:lnSpc>
                <a:spcPct val="150000"/>
              </a:lnSpc>
            </a:pPr>
            <a:r>
              <a:rPr lang="en-IN" sz="1600" b="1" dirty="0"/>
              <a:t>Software Design</a:t>
            </a:r>
            <a:r>
              <a:rPr lang="en-IN" sz="1600" dirty="0"/>
              <a:t>: </a:t>
            </a:r>
            <a:r>
              <a:rPr lang="en-US" sz="1600" dirty="0"/>
              <a:t>Design is concerned with the </a:t>
            </a:r>
            <a:r>
              <a:rPr lang="en-US" sz="1600" b="1" dirty="0"/>
              <a:t>low-level details</a:t>
            </a:r>
            <a:r>
              <a:rPr lang="en-US" sz="1600" dirty="0"/>
              <a:t> and the "Functional Requirements" (how a specific feature actually works). Choosing specific algorithms, data structures (like using a Linked List vs. an Array), and defining how classes interact. These are easier to change or refactor without breaking the whole system.</a:t>
            </a:r>
            <a:endParaRPr lang="en-US" sz="1600" kern="0" dirty="0"/>
          </a:p>
        </p:txBody>
      </p:sp>
      <p:sp>
        <p:nvSpPr>
          <p:cNvPr id="8" name="Content Placeholder 2">
            <a:extLst>
              <a:ext uri="{FF2B5EF4-FFF2-40B4-BE49-F238E27FC236}">
                <a16:creationId xmlns:a16="http://schemas.microsoft.com/office/drawing/2014/main" id="{C75179EC-462A-E773-5187-F92DB4EAA99F}"/>
              </a:ext>
            </a:extLst>
          </p:cNvPr>
          <p:cNvSpPr txBox="1">
            <a:spLocks/>
          </p:cNvSpPr>
          <p:nvPr/>
        </p:nvSpPr>
        <p:spPr>
          <a:xfrm>
            <a:off x="163788" y="3598607"/>
            <a:ext cx="5784727" cy="2566220"/>
          </a:xfrm>
          <a:prstGeom prst="rect">
            <a:avLst/>
          </a:prstGeom>
          <a:noFill/>
          <a:ln>
            <a:noFill/>
          </a:ln>
        </p:spPr>
        <p:txBody>
          <a:bodyPr spcFirstLastPara="1" wrap="square" lIns="91425" tIns="91425" rIns="91425" bIns="91425" anchor="t" anchorCtr="0">
            <a:normAutofit fontScale="92500" lnSpcReduction="20000"/>
          </a:bodyPr>
          <a:lstStyle>
            <a:defPPr marR="0" lvl="0" algn="l" rtl="0">
              <a:lnSpc>
                <a:spcPct val="100000"/>
              </a:lnSpc>
              <a:spcBef>
                <a:spcPts val="0"/>
              </a:spcBef>
              <a:spcAft>
                <a:spcPts val="0"/>
              </a:spcAft>
            </a:defPPr>
            <a:lvl1pPr marL="457200" marR="0" lvl="0" indent="-342900" algn="l" rtl="0" eaLnBrk="1" hangingPunct="1">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eaLnBrk="1" hangingPunct="1">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2pPr>
            <a:lvl3pPr marL="1371600" marR="0" lvl="2" indent="-317500" algn="l" rtl="0" eaLnBrk="1" hangingPunct="1">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3pPr>
            <a:lvl4pPr marL="1828800" marR="0" lvl="3" indent="-317500" algn="l" rtl="0" eaLnBrk="1" hangingPunct="1">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4pPr>
            <a:lvl5pPr marL="2286000" marR="0" lvl="4" indent="-317500" algn="l" rtl="0" eaLnBrk="1" hangingPunct="1">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5pPr>
            <a:lvl6pPr marL="2743200" marR="0" lvl="5" indent="-317500" algn="l" rtl="0" eaLnBrk="1" hangingPunct="1">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6pPr>
            <a:lvl7pPr marL="3200400" marR="0" lvl="6" indent="-317500" algn="l" rtl="0" eaLnBrk="1" hangingPunct="1">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7pPr>
            <a:lvl8pPr marL="3657600" marR="0" lvl="7" indent="-317500" algn="l" rtl="0" eaLnBrk="1" hangingPunct="1">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8pPr>
            <a:lvl9pPr marL="4114800" marR="0" lvl="8" indent="-317500" algn="l" rtl="0" eaLnBrk="1" hangingPunct="1">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9pPr>
          </a:lstStyle>
          <a:p>
            <a:pPr>
              <a:lnSpc>
                <a:spcPct val="150000"/>
              </a:lnSpc>
            </a:pPr>
            <a:r>
              <a:rPr lang="en-IN" b="1" dirty="0"/>
              <a:t>Software Architecture: </a:t>
            </a:r>
            <a:r>
              <a:rPr lang="en-US" dirty="0"/>
              <a:t>Architecture is concerned with the </a:t>
            </a:r>
            <a:r>
              <a:rPr lang="en-US" b="1" dirty="0"/>
              <a:t>high-level structure</a:t>
            </a:r>
            <a:r>
              <a:rPr lang="en-US" dirty="0"/>
              <a:t> and the "Non-functional Requirements" (like security, scalability, and performance). These are the hardest decisions to change later. If you choose a "Microservices" architecture and realize a year later it should have been a "Monolith," it is extremely expensive to fix.</a:t>
            </a:r>
            <a:endParaRPr lang="en-US" kern="0" dirty="0"/>
          </a:p>
        </p:txBody>
      </p:sp>
    </p:spTree>
    <p:extLst>
      <p:ext uri="{BB962C8B-B14F-4D97-AF65-F5344CB8AC3E}">
        <p14:creationId xmlns:p14="http://schemas.microsoft.com/office/powerpoint/2010/main" val="424204794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8DACC02-A2BD-4578-8E03-6D891060A695}" type="slidenum">
              <a:rPr lang="en-US" smtClean="0"/>
              <a:t>116</a:t>
            </a:fld>
            <a:endParaRPr lang="en-US"/>
          </a:p>
        </p:txBody>
      </p:sp>
      <p:sp>
        <p:nvSpPr>
          <p:cNvPr id="4" name="TextBox 3"/>
          <p:cNvSpPr txBox="1"/>
          <p:nvPr/>
        </p:nvSpPr>
        <p:spPr>
          <a:xfrm>
            <a:off x="2197510" y="2831690"/>
            <a:ext cx="8303342" cy="523220"/>
          </a:xfrm>
          <a:prstGeom prst="rect">
            <a:avLst/>
          </a:prstGeom>
          <a:noFill/>
        </p:spPr>
        <p:txBody>
          <a:bodyPr wrap="square" rtlCol="0">
            <a:spAutoFit/>
          </a:bodyPr>
          <a:lstStyle/>
          <a:p>
            <a:r>
              <a:rPr lang="en-IN" sz="2800" b="1" dirty="0" err="1"/>
              <a:t>Microservices</a:t>
            </a:r>
            <a:r>
              <a:rPr lang="en-IN" sz="2800" b="1" dirty="0"/>
              <a:t> and </a:t>
            </a:r>
            <a:r>
              <a:rPr lang="en-IN" sz="2800" b="1" dirty="0" err="1"/>
              <a:t>Serverless</a:t>
            </a:r>
            <a:r>
              <a:rPr lang="en-IN" sz="2800" b="1" dirty="0"/>
              <a:t> Architectures</a:t>
            </a:r>
          </a:p>
        </p:txBody>
      </p:sp>
    </p:spTree>
    <p:extLst>
      <p:ext uri="{BB962C8B-B14F-4D97-AF65-F5344CB8AC3E}">
        <p14:creationId xmlns:p14="http://schemas.microsoft.com/office/powerpoint/2010/main" val="70592749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8DACC02-A2BD-4578-8E03-6D891060A695}" type="slidenum">
              <a:rPr lang="en-US" smtClean="0"/>
              <a:t>117</a:t>
            </a:fld>
            <a:endParaRPr lang="en-US"/>
          </a:p>
        </p:txBody>
      </p:sp>
      <p:sp>
        <p:nvSpPr>
          <p:cNvPr id="3" name="TextBox 2"/>
          <p:cNvSpPr txBox="1"/>
          <p:nvPr/>
        </p:nvSpPr>
        <p:spPr>
          <a:xfrm>
            <a:off x="442451" y="678759"/>
            <a:ext cx="4734233" cy="4657685"/>
          </a:xfrm>
          <a:prstGeom prst="rect">
            <a:avLst/>
          </a:prstGeom>
          <a:noFill/>
        </p:spPr>
        <p:txBody>
          <a:bodyPr wrap="square" rtlCol="0">
            <a:spAutoFit/>
          </a:bodyPr>
          <a:lstStyle/>
          <a:p>
            <a:pPr algn="ctr">
              <a:lnSpc>
                <a:spcPct val="150000"/>
              </a:lnSpc>
            </a:pPr>
            <a:r>
              <a:rPr lang="en-IN" sz="2000" b="1" dirty="0" err="1"/>
              <a:t>Microservices</a:t>
            </a:r>
            <a:r>
              <a:rPr lang="en-IN" sz="2000" b="1" dirty="0"/>
              <a:t> Architecture (MSA)</a:t>
            </a:r>
          </a:p>
          <a:p>
            <a:pPr>
              <a:lnSpc>
                <a:spcPct val="150000"/>
              </a:lnSpc>
            </a:pPr>
            <a:endParaRPr lang="en-US" dirty="0"/>
          </a:p>
          <a:p>
            <a:pPr>
              <a:lnSpc>
                <a:spcPct val="150000"/>
              </a:lnSpc>
            </a:pPr>
            <a:endParaRPr lang="en-US" dirty="0"/>
          </a:p>
          <a:p>
            <a:pPr>
              <a:lnSpc>
                <a:spcPct val="150000"/>
              </a:lnSpc>
            </a:pPr>
            <a:r>
              <a:rPr lang="en-US" b="1" dirty="0"/>
              <a:t>Definition:</a:t>
            </a:r>
            <a:r>
              <a:rPr lang="en-US" dirty="0"/>
              <a:t> Microservices Architecture is an architectural style in which an application is developed as a collection of </a:t>
            </a:r>
            <a:r>
              <a:rPr lang="en-US" b="1" dirty="0"/>
              <a:t>small, autonomous services</a:t>
            </a:r>
            <a:r>
              <a:rPr lang="en-US" dirty="0"/>
              <a:t>, each running in its </a:t>
            </a:r>
            <a:r>
              <a:rPr lang="en-US" b="1" dirty="0"/>
              <a:t>own process</a:t>
            </a:r>
            <a:r>
              <a:rPr lang="en-US" dirty="0"/>
              <a:t> and communicating through </a:t>
            </a:r>
            <a:r>
              <a:rPr lang="en-US" b="1" dirty="0"/>
              <a:t>lightweight mechanisms</a:t>
            </a:r>
            <a:r>
              <a:rPr lang="en-US" dirty="0"/>
              <a:t> such as </a:t>
            </a:r>
            <a:r>
              <a:rPr lang="en-US" b="1" dirty="0"/>
              <a:t>REST </a:t>
            </a:r>
            <a:r>
              <a:rPr lang="en-IN" dirty="0"/>
              <a:t>(Representational State Transfer) </a:t>
            </a:r>
            <a:r>
              <a:rPr lang="en-US" b="1" dirty="0"/>
              <a:t>or </a:t>
            </a:r>
            <a:r>
              <a:rPr lang="en-US" b="1" dirty="0" err="1"/>
              <a:t>gRPC</a:t>
            </a:r>
            <a:r>
              <a:rPr lang="en-US" b="1" dirty="0"/>
              <a:t> </a:t>
            </a:r>
            <a:r>
              <a:rPr lang="en-IN" dirty="0"/>
              <a:t>(Google Remote Procedure Call)</a:t>
            </a:r>
            <a:r>
              <a:rPr lang="en-US" dirty="0"/>
              <a:t>.</a:t>
            </a:r>
          </a:p>
        </p:txBody>
      </p:sp>
      <p:pic>
        <p:nvPicPr>
          <p:cNvPr id="4" name="Picture 2" descr="https://miro.medium.com/v2/resize:fit:700/1*Jn_OZgq9dAG854kLEvG_-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7966" y="1788121"/>
            <a:ext cx="6291425" cy="3604088"/>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7505962" y="5620250"/>
            <a:ext cx="3138423" cy="369332"/>
          </a:xfrm>
          <a:prstGeom prst="rect">
            <a:avLst/>
          </a:prstGeom>
        </p:spPr>
        <p:txBody>
          <a:bodyPr wrap="none">
            <a:spAutoFit/>
          </a:bodyPr>
          <a:lstStyle/>
          <a:p>
            <a:r>
              <a:rPr lang="en-IN" b="1" dirty="0" err="1"/>
              <a:t>Microservices</a:t>
            </a:r>
            <a:r>
              <a:rPr lang="en-IN" b="1" dirty="0"/>
              <a:t> Architecture</a:t>
            </a:r>
            <a:endParaRPr lang="en-IN" dirty="0"/>
          </a:p>
        </p:txBody>
      </p:sp>
    </p:spTree>
    <p:extLst>
      <p:ext uri="{BB962C8B-B14F-4D97-AF65-F5344CB8AC3E}">
        <p14:creationId xmlns:p14="http://schemas.microsoft.com/office/powerpoint/2010/main" val="233215408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8DACC02-A2BD-4578-8E03-6D891060A695}" type="slidenum">
              <a:rPr lang="en-US" smtClean="0"/>
              <a:t>118</a:t>
            </a:fld>
            <a:endParaRPr lang="en-US"/>
          </a:p>
        </p:txBody>
      </p:sp>
      <p:sp>
        <p:nvSpPr>
          <p:cNvPr id="3" name="TextBox 2"/>
          <p:cNvSpPr txBox="1"/>
          <p:nvPr/>
        </p:nvSpPr>
        <p:spPr>
          <a:xfrm>
            <a:off x="442451" y="487025"/>
            <a:ext cx="10854159" cy="5955476"/>
          </a:xfrm>
          <a:prstGeom prst="rect">
            <a:avLst/>
          </a:prstGeom>
          <a:noFill/>
        </p:spPr>
        <p:txBody>
          <a:bodyPr wrap="square" rtlCol="0">
            <a:spAutoFit/>
          </a:bodyPr>
          <a:lstStyle/>
          <a:p>
            <a:pPr algn="ctr">
              <a:lnSpc>
                <a:spcPct val="150000"/>
              </a:lnSpc>
            </a:pPr>
            <a:r>
              <a:rPr lang="en-IN" sz="2000" b="1" dirty="0" err="1"/>
              <a:t>Microservices</a:t>
            </a:r>
            <a:r>
              <a:rPr lang="en-IN" sz="2000" b="1" dirty="0"/>
              <a:t> Architecture (MSA)</a:t>
            </a:r>
          </a:p>
          <a:p>
            <a:pPr>
              <a:lnSpc>
                <a:spcPct val="150000"/>
              </a:lnSpc>
            </a:pPr>
            <a:endParaRPr lang="en-US" dirty="0"/>
          </a:p>
          <a:p>
            <a:pPr>
              <a:lnSpc>
                <a:spcPct val="150000"/>
              </a:lnSpc>
            </a:pPr>
            <a:endParaRPr lang="en-US" dirty="0"/>
          </a:p>
          <a:p>
            <a:pPr>
              <a:lnSpc>
                <a:spcPct val="150000"/>
              </a:lnSpc>
            </a:pPr>
            <a:r>
              <a:rPr lang="en-US" b="1" dirty="0"/>
              <a:t>Key Characteristics:</a:t>
            </a:r>
          </a:p>
          <a:p>
            <a:pPr>
              <a:lnSpc>
                <a:spcPct val="150000"/>
              </a:lnSpc>
            </a:pPr>
            <a:endParaRPr lang="en-US" dirty="0"/>
          </a:p>
          <a:p>
            <a:pPr lvl="0" eaLnBrk="0" fontAlgn="base" hangingPunct="0">
              <a:lnSpc>
                <a:spcPct val="150000"/>
              </a:lnSpc>
              <a:spcBef>
                <a:spcPct val="0"/>
              </a:spcBef>
              <a:spcAft>
                <a:spcPct val="0"/>
              </a:spcAft>
              <a:buFontTx/>
              <a:buChar char="•"/>
            </a:pPr>
            <a:r>
              <a:rPr lang="en-US" altLang="en-US" b="1" dirty="0">
                <a:latin typeface="Arial" panose="020B0604020202020204" pitchFamily="34" charset="0"/>
              </a:rPr>
              <a:t>Autonomous Services</a:t>
            </a:r>
            <a:br>
              <a:rPr lang="en-US" altLang="en-US" dirty="0">
                <a:latin typeface="Arial" panose="020B0604020202020204" pitchFamily="34" charset="0"/>
              </a:rPr>
            </a:br>
            <a:r>
              <a:rPr lang="en-US" altLang="en-US" dirty="0">
                <a:latin typeface="Arial" panose="020B0604020202020204" pitchFamily="34" charset="0"/>
              </a:rPr>
              <a:t>Each service is </a:t>
            </a:r>
            <a:r>
              <a:rPr lang="en-US" altLang="en-US" b="1" dirty="0">
                <a:latin typeface="Arial" panose="020B0604020202020204" pitchFamily="34" charset="0"/>
              </a:rPr>
              <a:t>independently deployable</a:t>
            </a:r>
            <a:r>
              <a:rPr lang="en-US" altLang="en-US" dirty="0">
                <a:latin typeface="Arial" panose="020B0604020202020204" pitchFamily="34" charset="0"/>
              </a:rPr>
              <a:t>, allowing faster releases and minimal impact on other services.</a:t>
            </a:r>
          </a:p>
          <a:p>
            <a:pPr lvl="0" eaLnBrk="0" fontAlgn="base" hangingPunct="0">
              <a:lnSpc>
                <a:spcPct val="150000"/>
              </a:lnSpc>
              <a:spcBef>
                <a:spcPct val="0"/>
              </a:spcBef>
              <a:spcAft>
                <a:spcPct val="0"/>
              </a:spcAft>
              <a:buFontTx/>
              <a:buChar char="•"/>
            </a:pPr>
            <a:r>
              <a:rPr lang="en-US" altLang="en-US" b="1" dirty="0">
                <a:latin typeface="Arial" panose="020B0604020202020204" pitchFamily="34" charset="0"/>
              </a:rPr>
              <a:t>Loose Coupling</a:t>
            </a:r>
            <a:br>
              <a:rPr lang="en-US" altLang="en-US" dirty="0">
                <a:latin typeface="Arial" panose="020B0604020202020204" pitchFamily="34" charset="0"/>
              </a:rPr>
            </a:br>
            <a:r>
              <a:rPr lang="en-US" altLang="en-US" dirty="0">
                <a:latin typeface="Arial" panose="020B0604020202020204" pitchFamily="34" charset="0"/>
              </a:rPr>
              <a:t>Services are loosely coupled, enabling independent development, testing, and maintenance.</a:t>
            </a:r>
          </a:p>
          <a:p>
            <a:pPr lvl="0" eaLnBrk="0" fontAlgn="base" hangingPunct="0">
              <a:lnSpc>
                <a:spcPct val="150000"/>
              </a:lnSpc>
              <a:spcBef>
                <a:spcPct val="0"/>
              </a:spcBef>
              <a:spcAft>
                <a:spcPct val="0"/>
              </a:spcAft>
              <a:buFontTx/>
              <a:buChar char="•"/>
            </a:pPr>
            <a:r>
              <a:rPr lang="en-US" altLang="en-US" b="1" dirty="0">
                <a:latin typeface="Arial" panose="020B0604020202020204" pitchFamily="34" charset="0"/>
              </a:rPr>
              <a:t>Business Capability–Driven</a:t>
            </a:r>
            <a:br>
              <a:rPr lang="en-US" altLang="en-US" dirty="0">
                <a:latin typeface="Arial" panose="020B0604020202020204" pitchFamily="34" charset="0"/>
              </a:rPr>
            </a:br>
            <a:r>
              <a:rPr lang="en-US" altLang="en-US" dirty="0">
                <a:latin typeface="Arial" panose="020B0604020202020204" pitchFamily="34" charset="0"/>
              </a:rPr>
              <a:t>Services are organized around </a:t>
            </a:r>
            <a:r>
              <a:rPr lang="en-US" altLang="en-US" b="1" dirty="0">
                <a:latin typeface="Arial" panose="020B0604020202020204" pitchFamily="34" charset="0"/>
              </a:rPr>
              <a:t>specific business functions</a:t>
            </a:r>
            <a:r>
              <a:rPr lang="en-US" altLang="en-US" dirty="0">
                <a:latin typeface="Arial" panose="020B0604020202020204" pitchFamily="34" charset="0"/>
              </a:rPr>
              <a:t>, often aligned with </a:t>
            </a:r>
            <a:r>
              <a:rPr lang="en-US" altLang="en-US" b="1" dirty="0">
                <a:latin typeface="Arial" panose="020B0604020202020204" pitchFamily="34" charset="0"/>
              </a:rPr>
              <a:t>Domain-Driven Design (DDD)</a:t>
            </a:r>
            <a:r>
              <a:rPr lang="en-US" altLang="en-US" dirty="0">
                <a:latin typeface="Arial" panose="020B0604020202020204" pitchFamily="34" charset="0"/>
              </a:rPr>
              <a:t> and </a:t>
            </a:r>
            <a:r>
              <a:rPr lang="en-US" altLang="en-US" b="1" dirty="0">
                <a:latin typeface="Arial" panose="020B0604020202020204" pitchFamily="34" charset="0"/>
              </a:rPr>
              <a:t>bounded contexts</a:t>
            </a:r>
            <a:r>
              <a:rPr lang="en-US" altLang="en-US" dirty="0">
                <a:latin typeface="Arial" panose="020B0604020202020204" pitchFamily="34" charset="0"/>
              </a:rPr>
              <a:t>.</a:t>
            </a:r>
          </a:p>
          <a:p>
            <a:pPr lvl="0" eaLnBrk="0" fontAlgn="base" hangingPunct="0">
              <a:lnSpc>
                <a:spcPct val="150000"/>
              </a:lnSpc>
              <a:spcBef>
                <a:spcPct val="0"/>
              </a:spcBef>
              <a:spcAft>
                <a:spcPct val="0"/>
              </a:spcAft>
              <a:buFontTx/>
              <a:buChar char="•"/>
            </a:pPr>
            <a:endParaRPr lang="en-US" altLang="en-US" dirty="0">
              <a:latin typeface="Arial" panose="020B0604020202020204" pitchFamily="34" charset="0"/>
            </a:endParaRPr>
          </a:p>
        </p:txBody>
      </p:sp>
    </p:spTree>
    <p:extLst>
      <p:ext uri="{BB962C8B-B14F-4D97-AF65-F5344CB8AC3E}">
        <p14:creationId xmlns:p14="http://schemas.microsoft.com/office/powerpoint/2010/main" val="105983672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8DACC02-A2BD-4578-8E03-6D891060A695}" type="slidenum">
              <a:rPr lang="en-US" smtClean="0"/>
              <a:t>119</a:t>
            </a:fld>
            <a:endParaRPr lang="en-US"/>
          </a:p>
        </p:txBody>
      </p:sp>
      <p:sp>
        <p:nvSpPr>
          <p:cNvPr id="3" name="TextBox 2"/>
          <p:cNvSpPr txBox="1"/>
          <p:nvPr/>
        </p:nvSpPr>
        <p:spPr>
          <a:xfrm>
            <a:off x="442451" y="487025"/>
            <a:ext cx="11400503" cy="5539978"/>
          </a:xfrm>
          <a:prstGeom prst="rect">
            <a:avLst/>
          </a:prstGeom>
          <a:noFill/>
        </p:spPr>
        <p:txBody>
          <a:bodyPr wrap="square" rtlCol="0">
            <a:spAutoFit/>
          </a:bodyPr>
          <a:lstStyle/>
          <a:p>
            <a:pPr algn="ctr">
              <a:lnSpc>
                <a:spcPct val="150000"/>
              </a:lnSpc>
            </a:pPr>
            <a:r>
              <a:rPr lang="en-IN" sz="2000" b="1" dirty="0" err="1"/>
              <a:t>Microservices</a:t>
            </a:r>
            <a:r>
              <a:rPr lang="en-IN" sz="2000" b="1" dirty="0"/>
              <a:t> Architecture (MSA)</a:t>
            </a:r>
          </a:p>
          <a:p>
            <a:pPr>
              <a:lnSpc>
                <a:spcPct val="150000"/>
              </a:lnSpc>
            </a:pPr>
            <a:endParaRPr lang="en-US" b="1" dirty="0"/>
          </a:p>
          <a:p>
            <a:pPr>
              <a:lnSpc>
                <a:spcPct val="150000"/>
              </a:lnSpc>
            </a:pPr>
            <a:endParaRPr lang="en-US" b="1" dirty="0"/>
          </a:p>
          <a:p>
            <a:pPr>
              <a:lnSpc>
                <a:spcPct val="150000"/>
              </a:lnSpc>
            </a:pPr>
            <a:r>
              <a:rPr lang="en-US" b="1" dirty="0"/>
              <a:t>Key Characteristics: (Contd.)</a:t>
            </a:r>
          </a:p>
          <a:p>
            <a:pPr>
              <a:lnSpc>
                <a:spcPct val="150000"/>
              </a:lnSpc>
            </a:pPr>
            <a:endParaRPr lang="en-US" dirty="0"/>
          </a:p>
          <a:p>
            <a:pPr lvl="0">
              <a:lnSpc>
                <a:spcPct val="150000"/>
              </a:lnSpc>
            </a:pPr>
            <a:r>
              <a:rPr lang="en-US" altLang="en-US" b="1" dirty="0">
                <a:latin typeface="Arial" panose="020B0604020202020204" pitchFamily="34" charset="0"/>
              </a:rPr>
              <a:t>Decentralized Data Management</a:t>
            </a:r>
            <a:br>
              <a:rPr lang="en-US" altLang="en-US" dirty="0">
                <a:latin typeface="Arial" panose="020B0604020202020204" pitchFamily="34" charset="0"/>
              </a:rPr>
            </a:br>
            <a:r>
              <a:rPr lang="en-US" altLang="en-US" dirty="0">
                <a:latin typeface="Arial" panose="020B0604020202020204" pitchFamily="34" charset="0"/>
              </a:rPr>
              <a:t>Each service follows the </a:t>
            </a:r>
            <a:r>
              <a:rPr lang="en-US" altLang="en-US" b="1" dirty="0">
                <a:latin typeface="Arial" panose="020B0604020202020204" pitchFamily="34" charset="0"/>
              </a:rPr>
              <a:t>database-per-service</a:t>
            </a:r>
            <a:r>
              <a:rPr lang="en-US" altLang="en-US" dirty="0">
                <a:latin typeface="Arial" panose="020B0604020202020204" pitchFamily="34" charset="0"/>
              </a:rPr>
              <a:t> pattern, ensuring data ownership and independence.</a:t>
            </a:r>
          </a:p>
          <a:p>
            <a:pPr lvl="0" eaLnBrk="0" fontAlgn="base" hangingPunct="0">
              <a:lnSpc>
                <a:spcPct val="150000"/>
              </a:lnSpc>
              <a:spcBef>
                <a:spcPct val="0"/>
              </a:spcBef>
              <a:spcAft>
                <a:spcPct val="0"/>
              </a:spcAft>
              <a:buFontTx/>
              <a:buChar char="•"/>
            </a:pPr>
            <a:r>
              <a:rPr lang="en-US" altLang="en-US" b="1" dirty="0">
                <a:latin typeface="Arial" panose="020B0604020202020204" pitchFamily="34" charset="0"/>
              </a:rPr>
              <a:t>Resilience and Fault Isolation</a:t>
            </a:r>
            <a:br>
              <a:rPr lang="en-US" altLang="en-US" dirty="0">
                <a:latin typeface="Arial" panose="020B0604020202020204" pitchFamily="34" charset="0"/>
              </a:rPr>
            </a:br>
            <a:r>
              <a:rPr lang="en-US" altLang="en-US" dirty="0">
                <a:latin typeface="Arial" panose="020B0604020202020204" pitchFamily="34" charset="0"/>
              </a:rPr>
              <a:t>Failures in one service do not propagate to others, supported by patterns such as the </a:t>
            </a:r>
            <a:r>
              <a:rPr lang="en-US" altLang="en-US" b="1" dirty="0">
                <a:latin typeface="Arial" panose="020B0604020202020204" pitchFamily="34" charset="0"/>
              </a:rPr>
              <a:t>Bulkhead pattern</a:t>
            </a:r>
            <a:r>
              <a:rPr lang="en-US" altLang="en-US" dirty="0">
                <a:latin typeface="Arial" panose="020B0604020202020204" pitchFamily="34" charset="0"/>
              </a:rPr>
              <a:t>.</a:t>
            </a:r>
          </a:p>
          <a:p>
            <a:pPr lvl="0" eaLnBrk="0" fontAlgn="base" hangingPunct="0">
              <a:lnSpc>
                <a:spcPct val="150000"/>
              </a:lnSpc>
              <a:spcBef>
                <a:spcPct val="0"/>
              </a:spcBef>
              <a:spcAft>
                <a:spcPct val="0"/>
              </a:spcAft>
              <a:buFontTx/>
              <a:buChar char="•"/>
            </a:pPr>
            <a:r>
              <a:rPr lang="en-US" altLang="en-US" b="1" dirty="0">
                <a:latin typeface="Arial" panose="020B0604020202020204" pitchFamily="34" charset="0"/>
              </a:rPr>
              <a:t>Small, Cross-Functional Teams</a:t>
            </a:r>
            <a:br>
              <a:rPr lang="en-US" altLang="en-US" dirty="0">
                <a:latin typeface="Arial" panose="020B0604020202020204" pitchFamily="34" charset="0"/>
              </a:rPr>
            </a:br>
            <a:r>
              <a:rPr lang="en-US" altLang="en-US" dirty="0">
                <a:latin typeface="Arial" panose="020B0604020202020204" pitchFamily="34" charset="0"/>
              </a:rPr>
              <a:t>Each service is typically owned by a </a:t>
            </a:r>
            <a:r>
              <a:rPr lang="en-US" altLang="en-US" b="1" dirty="0">
                <a:latin typeface="Arial" panose="020B0604020202020204" pitchFamily="34" charset="0"/>
              </a:rPr>
              <a:t>small, dedicated team</a:t>
            </a:r>
            <a:r>
              <a:rPr lang="en-US" altLang="en-US" dirty="0">
                <a:latin typeface="Arial" panose="020B0604020202020204" pitchFamily="34" charset="0"/>
              </a:rPr>
              <a:t>, improving accountability and agility.</a:t>
            </a:r>
          </a:p>
          <a:p>
            <a:pPr lvl="0" eaLnBrk="0" fontAlgn="base" hangingPunct="0">
              <a:lnSpc>
                <a:spcPct val="150000"/>
              </a:lnSpc>
              <a:spcBef>
                <a:spcPct val="0"/>
              </a:spcBef>
              <a:spcAft>
                <a:spcPct val="0"/>
              </a:spcAft>
              <a:buFontTx/>
              <a:buChar char="•"/>
            </a:pPr>
            <a:r>
              <a:rPr lang="en-US" altLang="en-US" b="1" dirty="0">
                <a:latin typeface="Arial" panose="020B0604020202020204" pitchFamily="34" charset="0"/>
              </a:rPr>
              <a:t>Ease of Maintenance and Testing</a:t>
            </a:r>
            <a:br>
              <a:rPr lang="en-US" altLang="en-US" dirty="0">
                <a:latin typeface="Arial" panose="020B0604020202020204" pitchFamily="34" charset="0"/>
              </a:rPr>
            </a:br>
            <a:r>
              <a:rPr lang="en-US" altLang="en-US" dirty="0">
                <a:latin typeface="Arial" panose="020B0604020202020204" pitchFamily="34" charset="0"/>
              </a:rPr>
              <a:t>Smaller codebases make services </a:t>
            </a:r>
            <a:r>
              <a:rPr lang="en-US" altLang="en-US" b="1" dirty="0">
                <a:latin typeface="Arial" panose="020B0604020202020204" pitchFamily="34" charset="0"/>
              </a:rPr>
              <a:t>easier to maintain, test, and evolve</a:t>
            </a:r>
            <a:r>
              <a:rPr lang="en-US" altLang="en-US" dirty="0">
                <a:latin typeface="Arial" panose="020B0604020202020204" pitchFamily="34" charset="0"/>
              </a:rPr>
              <a:t>.</a:t>
            </a:r>
          </a:p>
        </p:txBody>
      </p:sp>
    </p:spTree>
    <p:extLst>
      <p:ext uri="{BB962C8B-B14F-4D97-AF65-F5344CB8AC3E}">
        <p14:creationId xmlns:p14="http://schemas.microsoft.com/office/powerpoint/2010/main" val="60782119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8DACC02-A2BD-4578-8E03-6D891060A695}" type="slidenum">
              <a:rPr lang="en-US" smtClean="0"/>
              <a:t>120</a:t>
            </a:fld>
            <a:endParaRPr lang="en-US"/>
          </a:p>
        </p:txBody>
      </p:sp>
      <p:sp>
        <p:nvSpPr>
          <p:cNvPr id="3" name="Rectangle 2"/>
          <p:cNvSpPr/>
          <p:nvPr/>
        </p:nvSpPr>
        <p:spPr>
          <a:xfrm>
            <a:off x="319549" y="396912"/>
            <a:ext cx="10741088" cy="6934142"/>
          </a:xfrm>
          <a:prstGeom prst="rect">
            <a:avLst/>
          </a:prstGeom>
        </p:spPr>
        <p:txBody>
          <a:bodyPr wrap="square">
            <a:spAutoFit/>
          </a:bodyPr>
          <a:lstStyle/>
          <a:p>
            <a:pPr>
              <a:lnSpc>
                <a:spcPct val="107000"/>
              </a:lnSpc>
              <a:spcAft>
                <a:spcPts val="800"/>
              </a:spcAft>
            </a:pPr>
            <a:r>
              <a:rPr lang="en-IN" sz="2000" b="1" dirty="0">
                <a:latin typeface="+mj-lt"/>
                <a:ea typeface="Times New Roman" panose="02020603050405020304" pitchFamily="18" charset="0"/>
                <a:cs typeface="Times New Roman" panose="02020603050405020304" pitchFamily="18" charset="0"/>
              </a:rPr>
              <a:t>Microservice vs API – What’s the Difference?</a:t>
            </a:r>
            <a:endParaRPr lang="en-IN" sz="1600" dirty="0">
              <a:latin typeface="+mj-lt"/>
              <a:ea typeface="Calibri" panose="020F0502020204030204" pitchFamily="34" charset="0"/>
              <a:cs typeface="Times New Roman" panose="02020603050405020304" pitchFamily="18" charset="0"/>
            </a:endParaRPr>
          </a:p>
          <a:p>
            <a:pPr>
              <a:lnSpc>
                <a:spcPct val="107000"/>
              </a:lnSpc>
              <a:spcAft>
                <a:spcPts val="800"/>
              </a:spcAft>
            </a:pPr>
            <a:r>
              <a:rPr lang="en-IN" dirty="0">
                <a:latin typeface="+mj-lt"/>
                <a:ea typeface="Times New Roman" panose="02020603050405020304" pitchFamily="18" charset="0"/>
                <a:cs typeface="Times New Roman" panose="02020603050405020304" pitchFamily="18" charset="0"/>
              </a:rPr>
              <a:t>An API is NOT a Microservice</a:t>
            </a:r>
          </a:p>
          <a:p>
            <a:pPr>
              <a:lnSpc>
                <a:spcPct val="107000"/>
              </a:lnSpc>
              <a:spcAft>
                <a:spcPts val="800"/>
              </a:spcAft>
            </a:pPr>
            <a:endParaRPr lang="en-US" b="1" dirty="0">
              <a:effectLst/>
              <a:latin typeface="+mj-lt"/>
              <a:ea typeface="Calibri" panose="020F0502020204030204" pitchFamily="34" charset="0"/>
              <a:cs typeface="Times New Roman" panose="02020603050405020304" pitchFamily="18" charset="0"/>
            </a:endParaRPr>
          </a:p>
          <a:p>
            <a:pPr lvl="0" eaLnBrk="0" fontAlgn="base" hangingPunct="0">
              <a:lnSpc>
                <a:spcPct val="150000"/>
              </a:lnSpc>
              <a:spcBef>
                <a:spcPct val="0"/>
              </a:spcBef>
              <a:spcAft>
                <a:spcPct val="0"/>
              </a:spcAft>
            </a:pPr>
            <a:r>
              <a:rPr lang="en-US" altLang="en-US" sz="2000" b="1" dirty="0">
                <a:latin typeface="+mj-lt"/>
                <a:ea typeface="Times New Roman" panose="02020603050405020304" pitchFamily="18" charset="0"/>
                <a:cs typeface="Times New Roman" panose="02020603050405020304" pitchFamily="18" charset="0"/>
              </a:rPr>
              <a:t>What is an API?</a:t>
            </a:r>
            <a:endParaRPr lang="en-US" altLang="en-US" sz="1600" dirty="0">
              <a:latin typeface="+mj-lt"/>
              <a:cs typeface="Times New Roman" panose="02020603050405020304" pitchFamily="18" charset="0"/>
            </a:endParaRPr>
          </a:p>
          <a:p>
            <a:pPr lvl="1" eaLnBrk="0" fontAlgn="base" hangingPunct="0">
              <a:lnSpc>
                <a:spcPct val="150000"/>
              </a:lnSpc>
              <a:spcBef>
                <a:spcPct val="0"/>
              </a:spcBef>
              <a:spcAft>
                <a:spcPct val="0"/>
              </a:spcAft>
              <a:buFontTx/>
              <a:buChar char="•"/>
            </a:pPr>
            <a:r>
              <a:rPr lang="en-US" altLang="en-US" dirty="0">
                <a:latin typeface="+mj-lt"/>
                <a:ea typeface="Times New Roman" panose="02020603050405020304" pitchFamily="18" charset="0"/>
                <a:cs typeface="Times New Roman" panose="02020603050405020304" pitchFamily="18" charset="0"/>
              </a:rPr>
              <a:t>An </a:t>
            </a:r>
            <a:r>
              <a:rPr lang="en-US" altLang="en-US" b="1" dirty="0">
                <a:latin typeface="+mj-lt"/>
                <a:ea typeface="Times New Roman" panose="02020603050405020304" pitchFamily="18" charset="0"/>
                <a:cs typeface="Times New Roman" panose="02020603050405020304" pitchFamily="18" charset="0"/>
              </a:rPr>
              <a:t>API (Application Programming Interface)</a:t>
            </a:r>
            <a:r>
              <a:rPr lang="en-US" altLang="en-US" dirty="0">
                <a:latin typeface="+mj-lt"/>
                <a:ea typeface="Times New Roman" panose="02020603050405020304" pitchFamily="18" charset="0"/>
                <a:cs typeface="Times New Roman" panose="02020603050405020304" pitchFamily="18" charset="0"/>
              </a:rPr>
              <a:t> exposes </a:t>
            </a:r>
            <a:r>
              <a:rPr lang="en-US" altLang="en-US" b="1" dirty="0">
                <a:latin typeface="+mj-lt"/>
                <a:ea typeface="Times New Roman" panose="02020603050405020304" pitchFamily="18" charset="0"/>
                <a:cs typeface="Times New Roman" panose="02020603050405020304" pitchFamily="18" charset="0"/>
              </a:rPr>
              <a:t>data and behavior</a:t>
            </a:r>
            <a:r>
              <a:rPr lang="en-US" altLang="en-US" dirty="0">
                <a:latin typeface="+mj-lt"/>
                <a:ea typeface="Times New Roman" panose="02020603050405020304" pitchFamily="18" charset="0"/>
                <a:cs typeface="Times New Roman" panose="02020603050405020304" pitchFamily="18" charset="0"/>
              </a:rPr>
              <a:t> to consumers.</a:t>
            </a:r>
            <a:endParaRPr lang="en-US" altLang="en-US" sz="1600" dirty="0">
              <a:latin typeface="+mj-lt"/>
              <a:ea typeface="Calibri" panose="020F0502020204030204" pitchFamily="34" charset="0"/>
              <a:cs typeface="Times New Roman" panose="02020603050405020304" pitchFamily="18" charset="0"/>
            </a:endParaRPr>
          </a:p>
          <a:p>
            <a:pPr lvl="1" eaLnBrk="0" fontAlgn="base" hangingPunct="0">
              <a:lnSpc>
                <a:spcPct val="150000"/>
              </a:lnSpc>
              <a:spcBef>
                <a:spcPct val="0"/>
              </a:spcBef>
              <a:spcAft>
                <a:spcPct val="0"/>
              </a:spcAft>
              <a:buFontTx/>
              <a:buChar char="•"/>
            </a:pPr>
            <a:r>
              <a:rPr lang="en-US" altLang="en-US" dirty="0">
                <a:latin typeface="+mj-lt"/>
                <a:ea typeface="Times New Roman" panose="02020603050405020304" pitchFamily="18" charset="0"/>
                <a:cs typeface="Times New Roman" panose="02020603050405020304" pitchFamily="18" charset="0"/>
              </a:rPr>
              <a:t>Acts as a </a:t>
            </a:r>
            <a:r>
              <a:rPr lang="en-US" altLang="en-US" b="1" dirty="0">
                <a:latin typeface="+mj-lt"/>
                <a:ea typeface="Times New Roman" panose="02020603050405020304" pitchFamily="18" charset="0"/>
                <a:cs typeface="Times New Roman" panose="02020603050405020304" pitchFamily="18" charset="0"/>
              </a:rPr>
              <a:t>contract</a:t>
            </a:r>
            <a:r>
              <a:rPr lang="en-US" altLang="en-US" dirty="0">
                <a:latin typeface="+mj-lt"/>
                <a:ea typeface="Times New Roman" panose="02020603050405020304" pitchFamily="18" charset="0"/>
                <a:cs typeface="Times New Roman" panose="02020603050405020304" pitchFamily="18" charset="0"/>
              </a:rPr>
              <a:t> between a system and its clients.</a:t>
            </a:r>
          </a:p>
          <a:p>
            <a:pPr lvl="1" eaLnBrk="0" fontAlgn="base" hangingPunct="0">
              <a:lnSpc>
                <a:spcPct val="150000"/>
              </a:lnSpc>
              <a:spcBef>
                <a:spcPct val="0"/>
              </a:spcBef>
              <a:spcAft>
                <a:spcPct val="0"/>
              </a:spcAft>
              <a:buFontTx/>
              <a:buChar char="•"/>
            </a:pPr>
            <a:r>
              <a:rPr lang="en-US" sz="1600" dirty="0"/>
              <a:t>It is an </a:t>
            </a:r>
            <a:r>
              <a:rPr lang="en-US" sz="1600" b="1" dirty="0"/>
              <a:t>Interface</a:t>
            </a:r>
            <a:r>
              <a:rPr lang="en-US" sz="1600" dirty="0"/>
              <a:t>. It tells you </a:t>
            </a:r>
            <a:r>
              <a:rPr lang="en-US" sz="1600" i="1" dirty="0"/>
              <a:t>how</a:t>
            </a:r>
            <a:r>
              <a:rPr lang="en-US" sz="1600" dirty="0"/>
              <a:t> to talk to a system but doesn't care how the system is built.</a:t>
            </a:r>
            <a:endParaRPr lang="en-US" altLang="en-US" sz="1600" dirty="0">
              <a:latin typeface="+mj-lt"/>
              <a:ea typeface="Calibri" panose="020F0502020204030204" pitchFamily="34" charset="0"/>
              <a:cs typeface="Times New Roman" panose="02020603050405020304" pitchFamily="18" charset="0"/>
            </a:endParaRPr>
          </a:p>
          <a:p>
            <a:pPr lvl="1" eaLnBrk="0" fontAlgn="base" hangingPunct="0">
              <a:lnSpc>
                <a:spcPct val="150000"/>
              </a:lnSpc>
              <a:spcBef>
                <a:spcPct val="0"/>
              </a:spcBef>
              <a:spcAft>
                <a:spcPct val="0"/>
              </a:spcAft>
              <a:buFontTx/>
              <a:buChar char="•"/>
            </a:pPr>
            <a:r>
              <a:rPr lang="en-US" altLang="en-US" dirty="0">
                <a:latin typeface="+mj-lt"/>
                <a:ea typeface="Times New Roman" panose="02020603050405020304" pitchFamily="18" charset="0"/>
                <a:cs typeface="Times New Roman" panose="02020603050405020304" pitchFamily="18" charset="0"/>
              </a:rPr>
              <a:t>An API does </a:t>
            </a:r>
            <a:r>
              <a:rPr lang="en-US" altLang="en-US" b="1" dirty="0">
                <a:latin typeface="+mj-lt"/>
                <a:ea typeface="Times New Roman" panose="02020603050405020304" pitchFamily="18" charset="0"/>
                <a:cs typeface="Times New Roman" panose="02020603050405020304" pitchFamily="18" charset="0"/>
              </a:rPr>
              <a:t>not define architecture</a:t>
            </a:r>
            <a:r>
              <a:rPr lang="en-US" altLang="en-US" dirty="0">
                <a:latin typeface="+mj-lt"/>
                <a:ea typeface="Times New Roman" panose="02020603050405020304" pitchFamily="18" charset="0"/>
                <a:cs typeface="Times New Roman" panose="02020603050405020304" pitchFamily="18" charset="0"/>
              </a:rPr>
              <a:t>.</a:t>
            </a:r>
            <a:endParaRPr lang="en-US" altLang="en-US" sz="1600" dirty="0">
              <a:latin typeface="+mj-lt"/>
              <a:cs typeface="Times New Roman" panose="02020603050405020304" pitchFamily="18" charset="0"/>
            </a:endParaRPr>
          </a:p>
          <a:p>
            <a:pPr lvl="0" eaLnBrk="0" fontAlgn="base" hangingPunct="0">
              <a:lnSpc>
                <a:spcPct val="150000"/>
              </a:lnSpc>
              <a:spcBef>
                <a:spcPct val="0"/>
              </a:spcBef>
              <a:spcAft>
                <a:spcPct val="0"/>
              </a:spcAft>
            </a:pPr>
            <a:endParaRPr lang="en-US" altLang="en-US" sz="2000" b="1" dirty="0">
              <a:latin typeface="+mj-lt"/>
              <a:ea typeface="Times New Roman" panose="02020603050405020304" pitchFamily="18" charset="0"/>
              <a:cs typeface="Times New Roman" panose="02020603050405020304" pitchFamily="18" charset="0"/>
            </a:endParaRPr>
          </a:p>
          <a:p>
            <a:pPr lvl="0" eaLnBrk="0" fontAlgn="base" hangingPunct="0">
              <a:lnSpc>
                <a:spcPct val="150000"/>
              </a:lnSpc>
              <a:spcBef>
                <a:spcPct val="0"/>
              </a:spcBef>
              <a:spcAft>
                <a:spcPct val="0"/>
              </a:spcAft>
            </a:pPr>
            <a:r>
              <a:rPr lang="en-US" altLang="en-US" sz="2000" b="1" dirty="0">
                <a:latin typeface="+mj-lt"/>
                <a:ea typeface="Times New Roman" panose="02020603050405020304" pitchFamily="18" charset="0"/>
                <a:cs typeface="Times New Roman" panose="02020603050405020304" pitchFamily="18" charset="0"/>
              </a:rPr>
              <a:t>What is a Microservice?</a:t>
            </a:r>
            <a:endParaRPr lang="en-US" altLang="en-US" sz="1600" dirty="0">
              <a:latin typeface="+mj-lt"/>
              <a:cs typeface="Times New Roman" panose="02020603050405020304" pitchFamily="18" charset="0"/>
            </a:endParaRPr>
          </a:p>
          <a:p>
            <a:pPr lvl="1" eaLnBrk="0" fontAlgn="base" hangingPunct="0">
              <a:lnSpc>
                <a:spcPct val="150000"/>
              </a:lnSpc>
              <a:spcBef>
                <a:spcPct val="0"/>
              </a:spcBef>
              <a:spcAft>
                <a:spcPct val="0"/>
              </a:spcAft>
              <a:buFontTx/>
              <a:buChar char="•"/>
            </a:pPr>
            <a:r>
              <a:rPr lang="en-US" altLang="en-US" dirty="0">
                <a:latin typeface="+mj-lt"/>
                <a:ea typeface="Times New Roman" panose="02020603050405020304" pitchFamily="18" charset="0"/>
                <a:cs typeface="Times New Roman" panose="02020603050405020304" pitchFamily="18" charset="0"/>
              </a:rPr>
              <a:t>A </a:t>
            </a:r>
            <a:r>
              <a:rPr lang="en-US" altLang="en-US" b="1" dirty="0">
                <a:latin typeface="+mj-lt"/>
                <a:ea typeface="Times New Roman" panose="02020603050405020304" pitchFamily="18" charset="0"/>
                <a:cs typeface="Times New Roman" panose="02020603050405020304" pitchFamily="18" charset="0"/>
              </a:rPr>
              <a:t>microservice</a:t>
            </a:r>
            <a:r>
              <a:rPr lang="en-US" altLang="en-US" dirty="0">
                <a:latin typeface="+mj-lt"/>
                <a:ea typeface="Times New Roman" panose="02020603050405020304" pitchFamily="18" charset="0"/>
                <a:cs typeface="Times New Roman" panose="02020603050405020304" pitchFamily="18" charset="0"/>
              </a:rPr>
              <a:t> is an </a:t>
            </a:r>
            <a:r>
              <a:rPr lang="en-US" altLang="en-US" b="1" dirty="0">
                <a:latin typeface="+mj-lt"/>
                <a:ea typeface="Times New Roman" panose="02020603050405020304" pitchFamily="18" charset="0"/>
                <a:cs typeface="Times New Roman" panose="02020603050405020304" pitchFamily="18" charset="0"/>
              </a:rPr>
              <a:t>architectural style</a:t>
            </a:r>
            <a:r>
              <a:rPr lang="en-US" altLang="en-US" dirty="0">
                <a:latin typeface="+mj-lt"/>
                <a:ea typeface="Times New Roman" panose="02020603050405020304" pitchFamily="18" charset="0"/>
                <a:cs typeface="Times New Roman" panose="02020603050405020304" pitchFamily="18" charset="0"/>
              </a:rPr>
              <a:t>.</a:t>
            </a:r>
            <a:endParaRPr lang="en-US" altLang="en-US" sz="1600" dirty="0">
              <a:latin typeface="+mj-lt"/>
              <a:ea typeface="Calibri" panose="020F0502020204030204" pitchFamily="34" charset="0"/>
              <a:cs typeface="Times New Roman" panose="02020603050405020304" pitchFamily="18" charset="0"/>
            </a:endParaRPr>
          </a:p>
          <a:p>
            <a:pPr lvl="1" eaLnBrk="0" fontAlgn="base" hangingPunct="0">
              <a:lnSpc>
                <a:spcPct val="150000"/>
              </a:lnSpc>
              <a:spcBef>
                <a:spcPct val="0"/>
              </a:spcBef>
              <a:spcAft>
                <a:spcPct val="0"/>
              </a:spcAft>
              <a:buFontTx/>
              <a:buChar char="•"/>
            </a:pPr>
            <a:r>
              <a:rPr lang="en-US" altLang="en-US" dirty="0">
                <a:latin typeface="+mj-lt"/>
                <a:ea typeface="Times New Roman" panose="02020603050405020304" pitchFamily="18" charset="0"/>
                <a:cs typeface="Times New Roman" panose="02020603050405020304" pitchFamily="18" charset="0"/>
              </a:rPr>
              <a:t>Represents a </a:t>
            </a:r>
            <a:r>
              <a:rPr lang="en-US" altLang="en-US" b="1" dirty="0">
                <a:latin typeface="+mj-lt"/>
                <a:ea typeface="Times New Roman" panose="02020603050405020304" pitchFamily="18" charset="0"/>
                <a:cs typeface="Times New Roman" panose="02020603050405020304" pitchFamily="18" charset="0"/>
              </a:rPr>
              <a:t>fine-grained, independently deployable service</a:t>
            </a:r>
            <a:r>
              <a:rPr lang="en-US" altLang="en-US" dirty="0">
                <a:latin typeface="+mj-lt"/>
                <a:ea typeface="Times New Roman" panose="02020603050405020304" pitchFamily="18" charset="0"/>
                <a:cs typeface="Times New Roman" panose="02020603050405020304" pitchFamily="18" charset="0"/>
              </a:rPr>
              <a:t>.</a:t>
            </a:r>
            <a:endParaRPr lang="en-US" altLang="en-US" sz="1600" dirty="0">
              <a:latin typeface="+mj-lt"/>
              <a:ea typeface="Calibri" panose="020F0502020204030204" pitchFamily="34" charset="0"/>
              <a:cs typeface="Times New Roman" panose="02020603050405020304" pitchFamily="18" charset="0"/>
            </a:endParaRPr>
          </a:p>
          <a:p>
            <a:pPr lvl="1" eaLnBrk="0" fontAlgn="base" hangingPunct="0">
              <a:lnSpc>
                <a:spcPct val="150000"/>
              </a:lnSpc>
              <a:spcBef>
                <a:spcPct val="0"/>
              </a:spcBef>
              <a:spcAft>
                <a:spcPct val="0"/>
              </a:spcAft>
              <a:buFontTx/>
              <a:buChar char="•"/>
            </a:pPr>
            <a:r>
              <a:rPr lang="en-US" altLang="en-US" dirty="0">
                <a:latin typeface="+mj-lt"/>
                <a:ea typeface="Times New Roman" panose="02020603050405020304" pitchFamily="18" charset="0"/>
                <a:cs typeface="Times New Roman" panose="02020603050405020304" pitchFamily="18" charset="0"/>
              </a:rPr>
              <a:t>Built around a </a:t>
            </a:r>
            <a:r>
              <a:rPr lang="en-US" altLang="en-US" b="1" dirty="0">
                <a:latin typeface="+mj-lt"/>
                <a:ea typeface="Times New Roman" panose="02020603050405020304" pitchFamily="18" charset="0"/>
                <a:cs typeface="Times New Roman" panose="02020603050405020304" pitchFamily="18" charset="0"/>
              </a:rPr>
              <a:t>specific business capability</a:t>
            </a:r>
            <a:r>
              <a:rPr lang="en-US" altLang="en-US" dirty="0">
                <a:latin typeface="+mj-lt"/>
                <a:ea typeface="Times New Roman" panose="02020603050405020304" pitchFamily="18" charset="0"/>
                <a:cs typeface="Times New Roman" panose="02020603050405020304" pitchFamily="18" charset="0"/>
              </a:rPr>
              <a:t>.</a:t>
            </a:r>
            <a:endParaRPr lang="en-US" altLang="en-US" sz="1600" dirty="0">
              <a:latin typeface="+mj-lt"/>
              <a:ea typeface="Calibri" panose="020F0502020204030204" pitchFamily="34" charset="0"/>
              <a:cs typeface="Times New Roman" panose="02020603050405020304" pitchFamily="18" charset="0"/>
            </a:endParaRPr>
          </a:p>
          <a:p>
            <a:pPr lvl="1" eaLnBrk="0" fontAlgn="base" hangingPunct="0">
              <a:lnSpc>
                <a:spcPct val="150000"/>
              </a:lnSpc>
              <a:spcBef>
                <a:spcPct val="0"/>
              </a:spcBef>
              <a:spcAft>
                <a:spcPct val="0"/>
              </a:spcAft>
              <a:buFontTx/>
              <a:buChar char="•"/>
            </a:pPr>
            <a:r>
              <a:rPr lang="en-US" altLang="en-US" dirty="0">
                <a:latin typeface="+mj-lt"/>
                <a:ea typeface="Times New Roman" panose="02020603050405020304" pitchFamily="18" charset="0"/>
                <a:cs typeface="Times New Roman" panose="02020603050405020304" pitchFamily="18" charset="0"/>
              </a:rPr>
              <a:t>Owns its </a:t>
            </a:r>
            <a:r>
              <a:rPr lang="en-US" altLang="en-US" b="1" dirty="0">
                <a:latin typeface="+mj-lt"/>
                <a:ea typeface="Times New Roman" panose="02020603050405020304" pitchFamily="18" charset="0"/>
                <a:cs typeface="Times New Roman" panose="02020603050405020304" pitchFamily="18" charset="0"/>
              </a:rPr>
              <a:t>logic, data, and lifecycle</a:t>
            </a:r>
            <a:r>
              <a:rPr lang="en-US" altLang="en-US" dirty="0">
                <a:latin typeface="+mj-lt"/>
                <a:ea typeface="Times New Roman" panose="02020603050405020304" pitchFamily="18" charset="0"/>
                <a:cs typeface="Times New Roman" panose="02020603050405020304" pitchFamily="18" charset="0"/>
              </a:rPr>
              <a:t>.</a:t>
            </a:r>
            <a:endParaRPr lang="en-US" altLang="en-US" sz="1600" dirty="0">
              <a:latin typeface="+mj-lt"/>
              <a:cs typeface="Times New Roman" panose="02020603050405020304" pitchFamily="18" charset="0"/>
            </a:endParaRPr>
          </a:p>
          <a:p>
            <a:pPr lvl="0" eaLnBrk="0" fontAlgn="base" hangingPunct="0">
              <a:spcBef>
                <a:spcPct val="0"/>
              </a:spcBef>
              <a:spcAft>
                <a:spcPct val="0"/>
              </a:spcAft>
            </a:pPr>
            <a:endParaRPr lang="en-US" altLang="en-US" sz="2400" dirty="0">
              <a:latin typeface="+mj-lt"/>
            </a:endParaRPr>
          </a:p>
          <a:p>
            <a:pPr>
              <a:lnSpc>
                <a:spcPct val="107000"/>
              </a:lnSpc>
              <a:spcAft>
                <a:spcPts val="800"/>
              </a:spcAft>
            </a:pPr>
            <a:endParaRPr lang="en-US" sz="1600" b="1" dirty="0">
              <a:effectLst/>
              <a:latin typeface="+mj-lt"/>
              <a:ea typeface="Calibri" panose="020F0502020204030204" pitchFamily="34" charset="0"/>
              <a:cs typeface="Times New Roman" panose="02020603050405020304" pitchFamily="18" charset="0"/>
            </a:endParaRPr>
          </a:p>
          <a:p>
            <a:pPr>
              <a:lnSpc>
                <a:spcPct val="107000"/>
              </a:lnSpc>
              <a:spcAft>
                <a:spcPts val="800"/>
              </a:spcAft>
            </a:pPr>
            <a:endParaRPr lang="en-IN" sz="1400" dirty="0">
              <a:effectLst/>
              <a:latin typeface="+mj-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30784225"/>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8DACC02-A2BD-4578-8E03-6D891060A695}" type="slidenum">
              <a:rPr lang="en-US" smtClean="0"/>
              <a:t>121</a:t>
            </a:fld>
            <a:endParaRPr lang="en-US"/>
          </a:p>
        </p:txBody>
      </p:sp>
      <p:pic>
        <p:nvPicPr>
          <p:cNvPr id="5" name="Picture 4"/>
          <p:cNvPicPr>
            <a:picLocks noChangeAspect="1"/>
          </p:cNvPicPr>
          <p:nvPr/>
        </p:nvPicPr>
        <p:blipFill>
          <a:blip r:embed="rId2"/>
          <a:stretch>
            <a:fillRect/>
          </a:stretch>
        </p:blipFill>
        <p:spPr>
          <a:xfrm>
            <a:off x="2740062" y="3412152"/>
            <a:ext cx="6913659" cy="2908707"/>
          </a:xfrm>
          <a:prstGeom prst="rect">
            <a:avLst/>
          </a:prstGeom>
        </p:spPr>
      </p:pic>
      <p:sp>
        <p:nvSpPr>
          <p:cNvPr id="3" name="TextBox 2"/>
          <p:cNvSpPr txBox="1"/>
          <p:nvPr/>
        </p:nvSpPr>
        <p:spPr>
          <a:xfrm>
            <a:off x="924233" y="941598"/>
            <a:ext cx="9571702" cy="2308324"/>
          </a:xfrm>
          <a:prstGeom prst="rect">
            <a:avLst/>
          </a:prstGeom>
          <a:noFill/>
        </p:spPr>
        <p:txBody>
          <a:bodyPr wrap="square" rtlCol="0">
            <a:spAutoFit/>
          </a:bodyPr>
          <a:lstStyle/>
          <a:p>
            <a:r>
              <a:rPr lang="en-US" b="1" dirty="0"/>
              <a:t>Relationship Between API and </a:t>
            </a:r>
            <a:r>
              <a:rPr lang="en-US" b="1" dirty="0" err="1"/>
              <a:t>Microservices</a:t>
            </a:r>
            <a:endParaRPr lang="en-US" b="1" dirty="0"/>
          </a:p>
          <a:p>
            <a:endParaRPr lang="en-US" dirty="0"/>
          </a:p>
          <a:p>
            <a:endParaRPr lang="en-US" dirty="0"/>
          </a:p>
          <a:p>
            <a:r>
              <a:rPr lang="en-US" dirty="0" err="1"/>
              <a:t>Microservices</a:t>
            </a:r>
            <a:r>
              <a:rPr lang="en-US" dirty="0"/>
              <a:t> </a:t>
            </a:r>
            <a:r>
              <a:rPr lang="en-US" b="1" dirty="0"/>
              <a:t>may expose APIs</a:t>
            </a:r>
            <a:r>
              <a:rPr lang="en-US" dirty="0"/>
              <a:t>, but:</a:t>
            </a:r>
          </a:p>
          <a:p>
            <a:pPr marL="742950" lvl="1" indent="-285750">
              <a:buFont typeface="Arial" panose="020B0604020202020204" pitchFamily="34" charset="0"/>
              <a:buChar char="•"/>
            </a:pPr>
            <a:r>
              <a:rPr lang="en-US" dirty="0"/>
              <a:t>There is </a:t>
            </a:r>
            <a:r>
              <a:rPr lang="en-US" b="1" dirty="0"/>
              <a:t>no one-to-one relationship</a:t>
            </a:r>
            <a:r>
              <a:rPr lang="en-US" dirty="0"/>
              <a:t>.</a:t>
            </a:r>
          </a:p>
          <a:p>
            <a:pPr marL="742950" lvl="1" indent="-285750">
              <a:buFont typeface="Arial" panose="020B0604020202020204" pitchFamily="34" charset="0"/>
              <a:buChar char="•"/>
            </a:pPr>
            <a:r>
              <a:rPr lang="en-US" b="1" dirty="0"/>
              <a:t>Multiple </a:t>
            </a:r>
            <a:r>
              <a:rPr lang="en-US" b="1" dirty="0" err="1"/>
              <a:t>microservices</a:t>
            </a:r>
            <a:r>
              <a:rPr lang="en-US" dirty="0"/>
              <a:t> can together form </a:t>
            </a:r>
            <a:r>
              <a:rPr lang="en-US" b="1" dirty="0"/>
              <a:t>a single API</a:t>
            </a:r>
            <a:r>
              <a:rPr lang="en-US" dirty="0"/>
              <a:t>.</a:t>
            </a:r>
          </a:p>
          <a:p>
            <a:pPr marL="742950" lvl="1" indent="-285750">
              <a:buFont typeface="Arial" panose="020B0604020202020204" pitchFamily="34" charset="0"/>
              <a:buChar char="•"/>
            </a:pPr>
            <a:r>
              <a:rPr lang="en-US" b="1" dirty="0"/>
              <a:t>One API endpoint</a:t>
            </a:r>
            <a:r>
              <a:rPr lang="en-US" dirty="0"/>
              <a:t> may aggregate responses from </a:t>
            </a:r>
            <a:r>
              <a:rPr lang="en-US" b="1" dirty="0"/>
              <a:t>multiple </a:t>
            </a:r>
            <a:r>
              <a:rPr lang="en-US" b="1" dirty="0" err="1"/>
              <a:t>microservices</a:t>
            </a:r>
            <a:r>
              <a:rPr lang="en-US" dirty="0"/>
              <a:t>.</a:t>
            </a:r>
          </a:p>
          <a:p>
            <a:endParaRPr lang="en-IN" dirty="0"/>
          </a:p>
        </p:txBody>
      </p:sp>
    </p:spTree>
    <p:extLst>
      <p:ext uri="{BB962C8B-B14F-4D97-AF65-F5344CB8AC3E}">
        <p14:creationId xmlns:p14="http://schemas.microsoft.com/office/powerpoint/2010/main" val="4004073273"/>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8DACC02-A2BD-4578-8E03-6D891060A695}" type="slidenum">
              <a:rPr lang="en-US" smtClean="0"/>
              <a:t>122</a:t>
            </a:fld>
            <a:endParaRPr lang="en-US"/>
          </a:p>
        </p:txBody>
      </p:sp>
      <p:sp>
        <p:nvSpPr>
          <p:cNvPr id="3" name="TextBox 2"/>
          <p:cNvSpPr txBox="1"/>
          <p:nvPr/>
        </p:nvSpPr>
        <p:spPr>
          <a:xfrm>
            <a:off x="559785" y="678425"/>
            <a:ext cx="10736826" cy="5909310"/>
          </a:xfrm>
          <a:prstGeom prst="rect">
            <a:avLst/>
          </a:prstGeom>
          <a:noFill/>
        </p:spPr>
        <p:txBody>
          <a:bodyPr wrap="square" rtlCol="0">
            <a:spAutoFit/>
          </a:bodyPr>
          <a:lstStyle/>
          <a:p>
            <a:r>
              <a:rPr lang="en-IN" b="1" dirty="0"/>
              <a:t>When to Use </a:t>
            </a:r>
            <a:r>
              <a:rPr lang="en-IN" b="1" dirty="0" err="1"/>
              <a:t>Microservices</a:t>
            </a:r>
            <a:r>
              <a:rPr lang="en-IN" b="1" dirty="0"/>
              <a:t>?</a:t>
            </a:r>
          </a:p>
          <a:p>
            <a:endParaRPr lang="en-US" dirty="0"/>
          </a:p>
          <a:p>
            <a:endParaRPr lang="en-US" dirty="0"/>
          </a:p>
          <a:p>
            <a:r>
              <a:rPr lang="en-US" b="1" dirty="0"/>
              <a:t>Use </a:t>
            </a:r>
            <a:r>
              <a:rPr lang="en-US" b="1" dirty="0" err="1"/>
              <a:t>Microservices</a:t>
            </a:r>
            <a:r>
              <a:rPr lang="en-US" b="1" dirty="0"/>
              <a:t> When:</a:t>
            </a:r>
          </a:p>
          <a:p>
            <a:endParaRPr lang="en-US" b="1" dirty="0"/>
          </a:p>
          <a:p>
            <a:pPr>
              <a:lnSpc>
                <a:spcPct val="150000"/>
              </a:lnSpc>
            </a:pPr>
            <a:r>
              <a:rPr lang="en-US" b="1" dirty="0"/>
              <a:t>Monolith becomes too complex to manage</a:t>
            </a:r>
            <a:br>
              <a:rPr lang="en-US" dirty="0"/>
            </a:br>
            <a:r>
              <a:rPr lang="en-US" dirty="0"/>
              <a:t>The application grows so large that it becomes </a:t>
            </a:r>
            <a:r>
              <a:rPr lang="en-US" b="1" dirty="0"/>
              <a:t>hard to modify and deploy</a:t>
            </a:r>
            <a:r>
              <a:rPr lang="en-US" dirty="0"/>
              <a:t>.</a:t>
            </a:r>
          </a:p>
          <a:p>
            <a:pPr>
              <a:lnSpc>
                <a:spcPct val="150000"/>
              </a:lnSpc>
            </a:pPr>
            <a:r>
              <a:rPr lang="en-US" b="1" dirty="0"/>
              <a:t>Large teams are involved</a:t>
            </a:r>
            <a:br>
              <a:rPr lang="en-US" dirty="0"/>
            </a:br>
            <a:r>
              <a:rPr lang="en-US" dirty="0"/>
              <a:t>Multiple teams need to work </a:t>
            </a:r>
            <a:r>
              <a:rPr lang="en-US" b="1" dirty="0"/>
              <a:t>independently</a:t>
            </a:r>
            <a:r>
              <a:rPr lang="en-US" dirty="0"/>
              <a:t> on different business functions.</a:t>
            </a:r>
          </a:p>
          <a:p>
            <a:pPr>
              <a:lnSpc>
                <a:spcPct val="150000"/>
              </a:lnSpc>
            </a:pPr>
            <a:r>
              <a:rPr lang="en-US" b="1" dirty="0"/>
              <a:t>Independent evolution of business functions is required</a:t>
            </a:r>
            <a:br>
              <a:rPr lang="en-US" dirty="0"/>
            </a:br>
            <a:r>
              <a:rPr lang="en-US" dirty="0"/>
              <a:t>Different modules must change and scale </a:t>
            </a:r>
            <a:r>
              <a:rPr lang="en-US" b="1" dirty="0"/>
              <a:t>without affecting the whole system</a:t>
            </a:r>
            <a:r>
              <a:rPr lang="en-US" dirty="0"/>
              <a:t>.</a:t>
            </a:r>
          </a:p>
          <a:p>
            <a:pPr>
              <a:lnSpc>
                <a:spcPct val="150000"/>
              </a:lnSpc>
            </a:pPr>
            <a:r>
              <a:rPr lang="en-US" b="1" dirty="0"/>
              <a:t>Scalability requirements increase</a:t>
            </a:r>
            <a:br>
              <a:rPr lang="en-US" dirty="0"/>
            </a:br>
            <a:r>
              <a:rPr lang="en-US" dirty="0"/>
              <a:t>Different parts of the system need </a:t>
            </a:r>
            <a:r>
              <a:rPr lang="en-US" b="1" dirty="0"/>
              <a:t>independent scaling</a:t>
            </a:r>
            <a:r>
              <a:rPr lang="en-US" dirty="0"/>
              <a:t>.</a:t>
            </a:r>
          </a:p>
          <a:p>
            <a:pPr>
              <a:lnSpc>
                <a:spcPct val="150000"/>
              </a:lnSpc>
            </a:pPr>
            <a:r>
              <a:rPr lang="en-US" b="1" dirty="0"/>
              <a:t>Multiple user interaction models or tenants exist</a:t>
            </a:r>
            <a:br>
              <a:rPr lang="en-US" dirty="0"/>
            </a:br>
            <a:r>
              <a:rPr lang="en-US" dirty="0"/>
              <a:t>The system must support </a:t>
            </a:r>
            <a:r>
              <a:rPr lang="en-US" b="1" dirty="0"/>
              <a:t>diverse clients or multi-tenant environments</a:t>
            </a:r>
            <a:r>
              <a:rPr lang="en-US" dirty="0"/>
              <a:t>.</a:t>
            </a:r>
          </a:p>
          <a:p>
            <a:endParaRPr lang="en-IN" dirty="0"/>
          </a:p>
        </p:txBody>
      </p:sp>
    </p:spTree>
    <p:extLst>
      <p:ext uri="{BB962C8B-B14F-4D97-AF65-F5344CB8AC3E}">
        <p14:creationId xmlns:p14="http://schemas.microsoft.com/office/powerpoint/2010/main" val="15958566"/>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6A5E4-652C-411A-9327-F3626E84341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6CF85D8-417F-D3B4-8823-CC721932A028}"/>
              </a:ext>
            </a:extLst>
          </p:cNvPr>
          <p:cNvSpPr>
            <a:spLocks noGrp="1"/>
          </p:cNvSpPr>
          <p:nvPr>
            <p:ph type="sldNum" sz="quarter" idx="12"/>
          </p:nvPr>
        </p:nvSpPr>
        <p:spPr/>
        <p:txBody>
          <a:bodyPr/>
          <a:lstStyle/>
          <a:p>
            <a:fld id="{B8DACC02-A2BD-4578-8E03-6D891060A695}" type="slidenum">
              <a:rPr lang="en-US" smtClean="0"/>
              <a:t>123</a:t>
            </a:fld>
            <a:endParaRPr lang="en-US"/>
          </a:p>
        </p:txBody>
      </p:sp>
      <p:sp>
        <p:nvSpPr>
          <p:cNvPr id="4" name="TextBox 3">
            <a:extLst>
              <a:ext uri="{FF2B5EF4-FFF2-40B4-BE49-F238E27FC236}">
                <a16:creationId xmlns:a16="http://schemas.microsoft.com/office/drawing/2014/main" id="{5DC4BCAE-A34F-0F3A-97E4-ADC71BBF2DAA}"/>
              </a:ext>
            </a:extLst>
          </p:cNvPr>
          <p:cNvSpPr txBox="1"/>
          <p:nvPr/>
        </p:nvSpPr>
        <p:spPr>
          <a:xfrm>
            <a:off x="3795251" y="2932819"/>
            <a:ext cx="4385188" cy="523220"/>
          </a:xfrm>
          <a:prstGeom prst="rect">
            <a:avLst/>
          </a:prstGeom>
          <a:noFill/>
        </p:spPr>
        <p:txBody>
          <a:bodyPr wrap="square" rtlCol="0">
            <a:spAutoFit/>
          </a:bodyPr>
          <a:lstStyle/>
          <a:p>
            <a:r>
              <a:rPr lang="en-IN" sz="2800" b="1" dirty="0"/>
              <a:t>Serverless Architecture</a:t>
            </a:r>
          </a:p>
        </p:txBody>
      </p:sp>
    </p:spTree>
    <p:extLst>
      <p:ext uri="{BB962C8B-B14F-4D97-AF65-F5344CB8AC3E}">
        <p14:creationId xmlns:p14="http://schemas.microsoft.com/office/powerpoint/2010/main" val="22103922"/>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8DACC02-A2BD-4578-8E03-6D891060A695}" type="slidenum">
              <a:rPr lang="en-US" smtClean="0"/>
              <a:t>124</a:t>
            </a:fld>
            <a:endParaRPr lang="en-US"/>
          </a:p>
        </p:txBody>
      </p:sp>
      <p:sp>
        <p:nvSpPr>
          <p:cNvPr id="3" name="Rectangle 2"/>
          <p:cNvSpPr/>
          <p:nvPr/>
        </p:nvSpPr>
        <p:spPr>
          <a:xfrm>
            <a:off x="211393" y="555523"/>
            <a:ext cx="11267768" cy="3365024"/>
          </a:xfrm>
          <a:prstGeom prst="rect">
            <a:avLst/>
          </a:prstGeom>
        </p:spPr>
        <p:txBody>
          <a:bodyPr wrap="square">
            <a:spAutoFit/>
          </a:bodyPr>
          <a:lstStyle/>
          <a:p>
            <a:pPr algn="ctr"/>
            <a:r>
              <a:rPr lang="en-US" b="1" dirty="0" err="1"/>
              <a:t>Serverless</a:t>
            </a:r>
            <a:r>
              <a:rPr lang="en-US" b="1" dirty="0"/>
              <a:t> Architecture</a:t>
            </a:r>
          </a:p>
          <a:p>
            <a:endParaRPr lang="en-US" b="1" dirty="0"/>
          </a:p>
          <a:p>
            <a:endParaRPr lang="en-US" b="1" dirty="0"/>
          </a:p>
          <a:p>
            <a:pPr>
              <a:lnSpc>
                <a:spcPct val="150000"/>
              </a:lnSpc>
              <a:buFont typeface="Arial" panose="020B0604020202020204" pitchFamily="34" charset="0"/>
              <a:buChar char="•"/>
            </a:pPr>
            <a:r>
              <a:rPr lang="en-US" dirty="0"/>
              <a:t>A </a:t>
            </a:r>
            <a:r>
              <a:rPr lang="en-US" b="1" dirty="0"/>
              <a:t>cloud computing model</a:t>
            </a:r>
            <a:r>
              <a:rPr lang="en-US" dirty="0"/>
              <a:t> where the </a:t>
            </a:r>
            <a:r>
              <a:rPr lang="en-US" b="1" dirty="0"/>
              <a:t>cloud provider manages server provisioning, scaling, and maintenance</a:t>
            </a:r>
            <a:r>
              <a:rPr lang="en-US" dirty="0"/>
              <a:t>.</a:t>
            </a:r>
          </a:p>
          <a:p>
            <a:pPr>
              <a:lnSpc>
                <a:spcPct val="150000"/>
              </a:lnSpc>
              <a:buFont typeface="Arial" panose="020B0604020202020204" pitchFamily="34" charset="0"/>
              <a:buChar char="•"/>
            </a:pPr>
            <a:r>
              <a:rPr lang="en-US" dirty="0"/>
              <a:t>Developers focus entirely on </a:t>
            </a:r>
            <a:r>
              <a:rPr lang="en-US" b="1" dirty="0"/>
              <a:t>writing and deploying code</a:t>
            </a:r>
            <a:r>
              <a:rPr lang="en-US" dirty="0"/>
              <a:t>.</a:t>
            </a:r>
          </a:p>
          <a:p>
            <a:pPr>
              <a:lnSpc>
                <a:spcPct val="150000"/>
              </a:lnSpc>
              <a:buFont typeface="Arial" panose="020B0604020202020204" pitchFamily="34" charset="0"/>
              <a:buChar char="•"/>
            </a:pPr>
            <a:r>
              <a:rPr lang="en-US" dirty="0"/>
              <a:t>Code runs in </a:t>
            </a:r>
            <a:r>
              <a:rPr lang="en-US" b="1" dirty="0"/>
              <a:t>fully managed, stateless environments</a:t>
            </a:r>
            <a:r>
              <a:rPr lang="en-US" dirty="0"/>
              <a:t> and is </a:t>
            </a:r>
            <a:r>
              <a:rPr lang="en-US" b="1" dirty="0"/>
              <a:t>triggered by events</a:t>
            </a:r>
            <a:r>
              <a:rPr lang="en-US" dirty="0"/>
              <a:t>.</a:t>
            </a:r>
          </a:p>
          <a:p>
            <a:pPr>
              <a:lnSpc>
                <a:spcPct val="150000"/>
              </a:lnSpc>
              <a:buFont typeface="Arial" panose="020B0604020202020204" pitchFamily="34" charset="0"/>
              <a:buChar char="•"/>
            </a:pPr>
            <a:r>
              <a:rPr lang="en-US" dirty="0"/>
              <a:t>Cloud providers dynamically handle </a:t>
            </a:r>
            <a:r>
              <a:rPr lang="en-US" b="1" dirty="0"/>
              <a:t>infrastructure, scaling, and resource allocation</a:t>
            </a:r>
            <a:r>
              <a:rPr lang="en-US" dirty="0"/>
              <a:t>.</a:t>
            </a:r>
          </a:p>
          <a:p>
            <a:pPr>
              <a:lnSpc>
                <a:spcPct val="150000"/>
              </a:lnSpc>
              <a:buFont typeface="Arial" panose="020B0604020202020204" pitchFamily="34" charset="0"/>
              <a:buChar char="•"/>
            </a:pPr>
            <a:r>
              <a:rPr lang="en-US" dirty="0"/>
              <a:t>Developers are </a:t>
            </a:r>
            <a:r>
              <a:rPr lang="en-US" b="1" dirty="0"/>
              <a:t>abstracted from server management tasks</a:t>
            </a:r>
            <a:r>
              <a:rPr lang="en-US" dirty="0"/>
              <a:t> like capacity planning and maintenance.</a:t>
            </a:r>
          </a:p>
        </p:txBody>
      </p:sp>
      <p:pic>
        <p:nvPicPr>
          <p:cNvPr id="5" name="Picture 4">
            <a:extLst>
              <a:ext uri="{FF2B5EF4-FFF2-40B4-BE49-F238E27FC236}">
                <a16:creationId xmlns:a16="http://schemas.microsoft.com/office/drawing/2014/main" id="{EFCD8082-F6B4-9F1D-8DC7-B5FD7F198447}"/>
              </a:ext>
            </a:extLst>
          </p:cNvPr>
          <p:cNvPicPr>
            <a:picLocks noChangeAspect="1"/>
          </p:cNvPicPr>
          <p:nvPr/>
        </p:nvPicPr>
        <p:blipFill>
          <a:blip r:embed="rId2"/>
          <a:stretch>
            <a:fillRect/>
          </a:stretch>
        </p:blipFill>
        <p:spPr>
          <a:xfrm>
            <a:off x="341600" y="4387341"/>
            <a:ext cx="4387715" cy="2583164"/>
          </a:xfrm>
          <a:prstGeom prst="rect">
            <a:avLst/>
          </a:prstGeom>
        </p:spPr>
      </p:pic>
      <p:pic>
        <p:nvPicPr>
          <p:cNvPr id="7" name="Picture 6">
            <a:extLst>
              <a:ext uri="{FF2B5EF4-FFF2-40B4-BE49-F238E27FC236}">
                <a16:creationId xmlns:a16="http://schemas.microsoft.com/office/drawing/2014/main" id="{83A7AA9F-25D1-1D25-78FC-93B44563FE9F}"/>
              </a:ext>
            </a:extLst>
          </p:cNvPr>
          <p:cNvPicPr>
            <a:picLocks noChangeAspect="1"/>
          </p:cNvPicPr>
          <p:nvPr/>
        </p:nvPicPr>
        <p:blipFill>
          <a:blip r:embed="rId3"/>
          <a:stretch>
            <a:fillRect/>
          </a:stretch>
        </p:blipFill>
        <p:spPr>
          <a:xfrm>
            <a:off x="5639862" y="4344914"/>
            <a:ext cx="6388349" cy="1915136"/>
          </a:xfrm>
          <a:prstGeom prst="rect">
            <a:avLst/>
          </a:prstGeom>
        </p:spPr>
      </p:pic>
    </p:spTree>
    <p:extLst>
      <p:ext uri="{BB962C8B-B14F-4D97-AF65-F5344CB8AC3E}">
        <p14:creationId xmlns:p14="http://schemas.microsoft.com/office/powerpoint/2010/main" val="275788598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63EA93-49D2-5D02-AB74-3E0D7D926851}"/>
              </a:ext>
            </a:extLst>
          </p:cNvPr>
          <p:cNvSpPr>
            <a:spLocks noGrp="1"/>
          </p:cNvSpPr>
          <p:nvPr>
            <p:ph type="sldNum" sz="quarter" idx="12"/>
          </p:nvPr>
        </p:nvSpPr>
        <p:spPr/>
        <p:txBody>
          <a:bodyPr/>
          <a:lstStyle/>
          <a:p>
            <a:fld id="{B8DACC02-A2BD-4578-8E03-6D891060A695}" type="slidenum">
              <a:rPr lang="en-US" smtClean="0"/>
              <a:t>125</a:t>
            </a:fld>
            <a:endParaRPr lang="en-US"/>
          </a:p>
        </p:txBody>
      </p:sp>
      <p:pic>
        <p:nvPicPr>
          <p:cNvPr id="6" name="Picture 5">
            <a:extLst>
              <a:ext uri="{FF2B5EF4-FFF2-40B4-BE49-F238E27FC236}">
                <a16:creationId xmlns:a16="http://schemas.microsoft.com/office/drawing/2014/main" id="{A2962E28-3A2F-2121-23CE-5F636F674D8C}"/>
              </a:ext>
            </a:extLst>
          </p:cNvPr>
          <p:cNvPicPr>
            <a:picLocks noChangeAspect="1"/>
          </p:cNvPicPr>
          <p:nvPr/>
        </p:nvPicPr>
        <p:blipFill>
          <a:blip r:embed="rId2"/>
          <a:stretch>
            <a:fillRect/>
          </a:stretch>
        </p:blipFill>
        <p:spPr>
          <a:xfrm>
            <a:off x="3490452" y="130383"/>
            <a:ext cx="4532671" cy="6868988"/>
          </a:xfrm>
          <a:prstGeom prst="rect">
            <a:avLst/>
          </a:prstGeom>
        </p:spPr>
      </p:pic>
    </p:spTree>
    <p:extLst>
      <p:ext uri="{BB962C8B-B14F-4D97-AF65-F5344CB8AC3E}">
        <p14:creationId xmlns:p14="http://schemas.microsoft.com/office/powerpoint/2010/main" val="1385486719"/>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8DACC02-A2BD-4578-8E03-6D891060A695}" type="slidenum">
              <a:rPr lang="en-US" smtClean="0"/>
              <a:t>126</a:t>
            </a:fld>
            <a:endParaRPr lang="en-US"/>
          </a:p>
        </p:txBody>
      </p:sp>
      <p:pic>
        <p:nvPicPr>
          <p:cNvPr id="5" name="Picture 4"/>
          <p:cNvPicPr>
            <a:picLocks noChangeAspect="1"/>
          </p:cNvPicPr>
          <p:nvPr/>
        </p:nvPicPr>
        <p:blipFill>
          <a:blip r:embed="rId2"/>
          <a:stretch>
            <a:fillRect/>
          </a:stretch>
        </p:blipFill>
        <p:spPr>
          <a:xfrm>
            <a:off x="1887794" y="1789471"/>
            <a:ext cx="7620000" cy="3810000"/>
          </a:xfrm>
          <a:prstGeom prst="rect">
            <a:avLst/>
          </a:prstGeom>
        </p:spPr>
      </p:pic>
      <p:sp>
        <p:nvSpPr>
          <p:cNvPr id="6" name="Rectangle 5"/>
          <p:cNvSpPr/>
          <p:nvPr/>
        </p:nvSpPr>
        <p:spPr>
          <a:xfrm>
            <a:off x="4462013" y="928837"/>
            <a:ext cx="2766527" cy="369332"/>
          </a:xfrm>
          <a:prstGeom prst="rect">
            <a:avLst/>
          </a:prstGeom>
        </p:spPr>
        <p:txBody>
          <a:bodyPr wrap="none">
            <a:spAutoFit/>
          </a:bodyPr>
          <a:lstStyle/>
          <a:p>
            <a:r>
              <a:rPr lang="en-IN" b="1" dirty="0" err="1">
                <a:solidFill>
                  <a:srgbClr val="273239"/>
                </a:solidFill>
                <a:latin typeface="Source Sans 3"/>
              </a:rPr>
              <a:t>Serverless</a:t>
            </a:r>
            <a:r>
              <a:rPr lang="en-IN" b="1" dirty="0">
                <a:solidFill>
                  <a:srgbClr val="273239"/>
                </a:solidFill>
                <a:latin typeface="Source Sans 3"/>
              </a:rPr>
              <a:t> Architecture</a:t>
            </a:r>
            <a:endParaRPr lang="en-IN" b="1" i="0" dirty="0">
              <a:solidFill>
                <a:srgbClr val="273239"/>
              </a:solidFill>
              <a:effectLst/>
              <a:latin typeface="Source Sans 3"/>
            </a:endParaRPr>
          </a:p>
        </p:txBody>
      </p:sp>
    </p:spTree>
    <p:extLst>
      <p:ext uri="{BB962C8B-B14F-4D97-AF65-F5344CB8AC3E}">
        <p14:creationId xmlns:p14="http://schemas.microsoft.com/office/powerpoint/2010/main" val="192206458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8DACC02-A2BD-4578-8E03-6D891060A695}" type="slidenum">
              <a:rPr lang="en-US" smtClean="0"/>
              <a:t>127</a:t>
            </a:fld>
            <a:endParaRPr lang="en-US"/>
          </a:p>
        </p:txBody>
      </p:sp>
      <p:sp>
        <p:nvSpPr>
          <p:cNvPr id="3" name="Rectangle 2"/>
          <p:cNvSpPr/>
          <p:nvPr/>
        </p:nvSpPr>
        <p:spPr>
          <a:xfrm>
            <a:off x="501445" y="432214"/>
            <a:ext cx="10795166" cy="6047809"/>
          </a:xfrm>
          <a:prstGeom prst="rect">
            <a:avLst/>
          </a:prstGeom>
        </p:spPr>
        <p:txBody>
          <a:bodyPr wrap="square">
            <a:spAutoFit/>
          </a:bodyPr>
          <a:lstStyle/>
          <a:p>
            <a:pPr algn="ctr"/>
            <a:r>
              <a:rPr lang="en-US" b="1" dirty="0" err="1"/>
              <a:t>Serverless</a:t>
            </a:r>
            <a:r>
              <a:rPr lang="en-US" b="1" dirty="0"/>
              <a:t> Computing Providers and Platforms</a:t>
            </a:r>
          </a:p>
          <a:p>
            <a:endParaRPr lang="en-US" b="1" dirty="0"/>
          </a:p>
          <a:p>
            <a:pPr>
              <a:lnSpc>
                <a:spcPct val="150000"/>
              </a:lnSpc>
              <a:buFont typeface="Arial" panose="020B0604020202020204" pitchFamily="34" charset="0"/>
              <a:buChar char="•"/>
            </a:pPr>
            <a:r>
              <a:rPr lang="en-US" b="1" dirty="0"/>
              <a:t>AWS Lambda</a:t>
            </a:r>
            <a:endParaRPr lang="en-US" dirty="0"/>
          </a:p>
          <a:p>
            <a:pPr marL="742950" lvl="1" indent="-285750">
              <a:lnSpc>
                <a:spcPct val="150000"/>
              </a:lnSpc>
              <a:buFont typeface="Arial" panose="020B0604020202020204" pitchFamily="34" charset="0"/>
              <a:buChar char="•"/>
            </a:pPr>
            <a:r>
              <a:rPr lang="en-US" dirty="0"/>
              <a:t>Executes code without provisioning or managing servers</a:t>
            </a:r>
          </a:p>
          <a:p>
            <a:pPr marL="742950" lvl="1" indent="-285750">
              <a:lnSpc>
                <a:spcPct val="150000"/>
              </a:lnSpc>
              <a:buFont typeface="Arial" panose="020B0604020202020204" pitchFamily="34" charset="0"/>
              <a:buChar char="•"/>
            </a:pPr>
            <a:r>
              <a:rPr lang="en-US" dirty="0"/>
              <a:t>Triggered by events from 200+ AWS services and SaaS apps</a:t>
            </a:r>
          </a:p>
          <a:p>
            <a:pPr>
              <a:lnSpc>
                <a:spcPct val="150000"/>
              </a:lnSpc>
              <a:buFont typeface="Arial" panose="020B0604020202020204" pitchFamily="34" charset="0"/>
              <a:buChar char="•"/>
            </a:pPr>
            <a:r>
              <a:rPr lang="en-US" b="1" dirty="0"/>
              <a:t>Azure Functions</a:t>
            </a:r>
            <a:endParaRPr lang="en-US" dirty="0"/>
          </a:p>
          <a:p>
            <a:pPr marL="742950" lvl="1" indent="-285750">
              <a:lnSpc>
                <a:spcPct val="150000"/>
              </a:lnSpc>
              <a:buFont typeface="Arial" panose="020B0604020202020204" pitchFamily="34" charset="0"/>
              <a:buChar char="•"/>
            </a:pPr>
            <a:r>
              <a:rPr lang="en-US" dirty="0"/>
              <a:t>Event-triggered </a:t>
            </a:r>
            <a:r>
              <a:rPr lang="en-US" dirty="0" err="1"/>
              <a:t>serverless</a:t>
            </a:r>
            <a:r>
              <a:rPr lang="en-US" dirty="0"/>
              <a:t> compute</a:t>
            </a:r>
          </a:p>
          <a:p>
            <a:pPr marL="742950" lvl="1" indent="-285750">
              <a:lnSpc>
                <a:spcPct val="150000"/>
              </a:lnSpc>
              <a:buFont typeface="Arial" panose="020B0604020202020204" pitchFamily="34" charset="0"/>
              <a:buChar char="•"/>
            </a:pPr>
            <a:r>
              <a:rPr lang="en-US" dirty="0"/>
              <a:t>Integrates with Azure services</a:t>
            </a:r>
          </a:p>
          <a:p>
            <a:pPr marL="742950" lvl="1" indent="-285750">
              <a:lnSpc>
                <a:spcPct val="150000"/>
              </a:lnSpc>
              <a:buFont typeface="Arial" panose="020B0604020202020204" pitchFamily="34" charset="0"/>
              <a:buChar char="•"/>
            </a:pPr>
            <a:r>
              <a:rPr lang="en-US" dirty="0"/>
              <a:t>Supports multiple programming languages</a:t>
            </a:r>
          </a:p>
          <a:p>
            <a:pPr>
              <a:lnSpc>
                <a:spcPct val="150000"/>
              </a:lnSpc>
              <a:buFont typeface="Arial" panose="020B0604020202020204" pitchFamily="34" charset="0"/>
              <a:buChar char="•"/>
            </a:pPr>
            <a:r>
              <a:rPr lang="en-US" b="1" dirty="0"/>
              <a:t>Google Cloud Functions</a:t>
            </a:r>
            <a:endParaRPr lang="en-US" dirty="0"/>
          </a:p>
          <a:p>
            <a:pPr marL="742950" lvl="1" indent="-285750">
              <a:lnSpc>
                <a:spcPct val="150000"/>
              </a:lnSpc>
              <a:buFont typeface="Arial" panose="020B0604020202020204" pitchFamily="34" charset="0"/>
              <a:buChar char="•"/>
            </a:pPr>
            <a:r>
              <a:rPr lang="en-US" dirty="0" err="1"/>
              <a:t>Serverless</a:t>
            </a:r>
            <a:r>
              <a:rPr lang="en-US" dirty="0"/>
              <a:t> execution environment</a:t>
            </a:r>
          </a:p>
          <a:p>
            <a:pPr marL="742950" lvl="1" indent="-285750">
              <a:lnSpc>
                <a:spcPct val="150000"/>
              </a:lnSpc>
              <a:buFont typeface="Arial" panose="020B0604020202020204" pitchFamily="34" charset="0"/>
              <a:buChar char="•"/>
            </a:pPr>
            <a:r>
              <a:rPr lang="en-US" dirty="0"/>
              <a:t>Google manages scaling and infrastructure</a:t>
            </a:r>
          </a:p>
          <a:p>
            <a:pPr>
              <a:lnSpc>
                <a:spcPct val="150000"/>
              </a:lnSpc>
              <a:buFont typeface="Arial" panose="020B0604020202020204" pitchFamily="34" charset="0"/>
              <a:buChar char="•"/>
            </a:pPr>
            <a:r>
              <a:rPr lang="en-US" b="1" dirty="0"/>
              <a:t>Oracle Cloud Functions</a:t>
            </a:r>
            <a:endParaRPr lang="en-US" dirty="0"/>
          </a:p>
          <a:p>
            <a:pPr marL="742950" lvl="1" indent="-285750">
              <a:lnSpc>
                <a:spcPct val="150000"/>
              </a:lnSpc>
              <a:buFont typeface="Arial" panose="020B0604020202020204" pitchFamily="34" charset="0"/>
              <a:buChar char="•"/>
            </a:pPr>
            <a:r>
              <a:rPr lang="en-US" dirty="0"/>
              <a:t>Functions triggered by HTTP or Oracle Cloud events</a:t>
            </a:r>
          </a:p>
          <a:p>
            <a:pPr marL="742950" lvl="1" indent="-285750">
              <a:lnSpc>
                <a:spcPct val="150000"/>
              </a:lnSpc>
              <a:buFont typeface="Arial" panose="020B0604020202020204" pitchFamily="34" charset="0"/>
              <a:buChar char="•"/>
            </a:pPr>
            <a:r>
              <a:rPr lang="en-US" dirty="0"/>
              <a:t>Integrates with Oracle Cloud services</a:t>
            </a:r>
          </a:p>
        </p:txBody>
      </p:sp>
    </p:spTree>
    <p:extLst>
      <p:ext uri="{BB962C8B-B14F-4D97-AF65-F5344CB8AC3E}">
        <p14:creationId xmlns:p14="http://schemas.microsoft.com/office/powerpoint/2010/main" val="1553186508"/>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8DACC02-A2BD-4578-8E03-6D891060A695}" type="slidenum">
              <a:rPr lang="en-US" smtClean="0"/>
              <a:t>128</a:t>
            </a:fld>
            <a:endParaRPr lang="en-US"/>
          </a:p>
        </p:txBody>
      </p:sp>
      <p:sp>
        <p:nvSpPr>
          <p:cNvPr id="3" name="Rectangle 2"/>
          <p:cNvSpPr/>
          <p:nvPr/>
        </p:nvSpPr>
        <p:spPr>
          <a:xfrm>
            <a:off x="365147" y="894973"/>
            <a:ext cx="11297264" cy="2534027"/>
          </a:xfrm>
          <a:prstGeom prst="rect">
            <a:avLst/>
          </a:prstGeom>
        </p:spPr>
        <p:txBody>
          <a:bodyPr wrap="square">
            <a:spAutoFit/>
          </a:bodyPr>
          <a:lstStyle/>
          <a:p>
            <a:pPr algn="ctr"/>
            <a:r>
              <a:rPr lang="en-IN" b="1" dirty="0"/>
              <a:t>Steps for Developing </a:t>
            </a:r>
            <a:r>
              <a:rPr lang="en-IN" b="1" dirty="0" err="1"/>
              <a:t>Serverless</a:t>
            </a:r>
            <a:r>
              <a:rPr lang="en-IN" b="1" dirty="0"/>
              <a:t> Applications</a:t>
            </a:r>
          </a:p>
          <a:p>
            <a:endParaRPr lang="en-IN" b="1" dirty="0"/>
          </a:p>
          <a:p>
            <a:endParaRPr lang="en-IN" b="1" dirty="0"/>
          </a:p>
          <a:p>
            <a:pPr>
              <a:lnSpc>
                <a:spcPct val="150000"/>
              </a:lnSpc>
            </a:pPr>
            <a:r>
              <a:rPr lang="en-IN" b="1" dirty="0"/>
              <a:t>Step 1: Understand the </a:t>
            </a:r>
            <a:r>
              <a:rPr lang="en-IN" b="1" dirty="0" err="1"/>
              <a:t>Serverless</a:t>
            </a:r>
            <a:r>
              <a:rPr lang="en-IN" b="1" dirty="0"/>
              <a:t> Model</a:t>
            </a:r>
          </a:p>
          <a:p>
            <a:pPr>
              <a:lnSpc>
                <a:spcPct val="150000"/>
              </a:lnSpc>
              <a:buFont typeface="Arial" panose="020B0604020202020204" pitchFamily="34" charset="0"/>
              <a:buChar char="•"/>
            </a:pPr>
            <a:r>
              <a:rPr lang="en-IN" dirty="0"/>
              <a:t>Suitable for </a:t>
            </a:r>
            <a:r>
              <a:rPr lang="en-IN" b="1" dirty="0"/>
              <a:t>unpredictable traffic</a:t>
            </a:r>
            <a:endParaRPr lang="en-IN" dirty="0"/>
          </a:p>
          <a:p>
            <a:pPr>
              <a:lnSpc>
                <a:spcPct val="150000"/>
              </a:lnSpc>
              <a:buFont typeface="Arial" panose="020B0604020202020204" pitchFamily="34" charset="0"/>
              <a:buChar char="•"/>
            </a:pPr>
            <a:r>
              <a:rPr lang="en-IN" dirty="0"/>
              <a:t>Well-suited for </a:t>
            </a:r>
            <a:r>
              <a:rPr lang="en-IN" b="1" dirty="0" err="1"/>
              <a:t>microservices</a:t>
            </a:r>
            <a:r>
              <a:rPr lang="en-IN" b="1" dirty="0"/>
              <a:t>-based applications</a:t>
            </a:r>
            <a:endParaRPr lang="en-IN" dirty="0"/>
          </a:p>
          <a:p>
            <a:pPr>
              <a:lnSpc>
                <a:spcPct val="150000"/>
              </a:lnSpc>
            </a:pPr>
            <a:endParaRPr lang="en-IN" b="1" dirty="0"/>
          </a:p>
        </p:txBody>
      </p:sp>
      <p:pic>
        <p:nvPicPr>
          <p:cNvPr id="5" name="Picture 4">
            <a:extLst>
              <a:ext uri="{FF2B5EF4-FFF2-40B4-BE49-F238E27FC236}">
                <a16:creationId xmlns:a16="http://schemas.microsoft.com/office/drawing/2014/main" id="{E66CB885-3815-6A10-E581-DBA722B7584E}"/>
              </a:ext>
            </a:extLst>
          </p:cNvPr>
          <p:cNvPicPr>
            <a:picLocks noChangeAspect="1"/>
          </p:cNvPicPr>
          <p:nvPr/>
        </p:nvPicPr>
        <p:blipFill>
          <a:blip r:embed="rId2"/>
          <a:stretch>
            <a:fillRect/>
          </a:stretch>
        </p:blipFill>
        <p:spPr>
          <a:xfrm>
            <a:off x="6548263" y="1758151"/>
            <a:ext cx="5278590" cy="3835610"/>
          </a:xfrm>
          <a:prstGeom prst="rect">
            <a:avLst/>
          </a:prstGeom>
        </p:spPr>
      </p:pic>
      <p:pic>
        <p:nvPicPr>
          <p:cNvPr id="7" name="Picture 6">
            <a:extLst>
              <a:ext uri="{FF2B5EF4-FFF2-40B4-BE49-F238E27FC236}">
                <a16:creationId xmlns:a16="http://schemas.microsoft.com/office/drawing/2014/main" id="{47644AC5-D262-46AC-23E8-9C26F6C1606C}"/>
              </a:ext>
            </a:extLst>
          </p:cNvPr>
          <p:cNvPicPr>
            <a:picLocks noChangeAspect="1"/>
          </p:cNvPicPr>
          <p:nvPr/>
        </p:nvPicPr>
        <p:blipFill>
          <a:blip r:embed="rId3"/>
          <a:stretch>
            <a:fillRect/>
          </a:stretch>
        </p:blipFill>
        <p:spPr>
          <a:xfrm>
            <a:off x="312407" y="3413392"/>
            <a:ext cx="6235856" cy="2180369"/>
          </a:xfrm>
          <a:prstGeom prst="rect">
            <a:avLst/>
          </a:prstGeom>
        </p:spPr>
      </p:pic>
    </p:spTree>
    <p:extLst>
      <p:ext uri="{BB962C8B-B14F-4D97-AF65-F5344CB8AC3E}">
        <p14:creationId xmlns:p14="http://schemas.microsoft.com/office/powerpoint/2010/main" val="3327281199"/>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10BE7-2F36-BA53-67E4-7BC4C3909F4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6ED6382-18BE-241D-7C35-3FBE9D204B1C}"/>
              </a:ext>
            </a:extLst>
          </p:cNvPr>
          <p:cNvSpPr>
            <a:spLocks noGrp="1"/>
          </p:cNvSpPr>
          <p:nvPr>
            <p:ph type="sldNum" sz="quarter" idx="12"/>
          </p:nvPr>
        </p:nvSpPr>
        <p:spPr/>
        <p:txBody>
          <a:bodyPr/>
          <a:lstStyle/>
          <a:p>
            <a:fld id="{B8DACC02-A2BD-4578-8E03-6D891060A695}" type="slidenum">
              <a:rPr lang="en-US" smtClean="0"/>
              <a:t>129</a:t>
            </a:fld>
            <a:endParaRPr lang="en-US"/>
          </a:p>
        </p:txBody>
      </p:sp>
      <p:sp>
        <p:nvSpPr>
          <p:cNvPr id="3" name="Rectangle 2">
            <a:extLst>
              <a:ext uri="{FF2B5EF4-FFF2-40B4-BE49-F238E27FC236}">
                <a16:creationId xmlns:a16="http://schemas.microsoft.com/office/drawing/2014/main" id="{E56DF045-A27A-399F-33E8-113D1C1DCBBF}"/>
              </a:ext>
            </a:extLst>
          </p:cNvPr>
          <p:cNvSpPr/>
          <p:nvPr/>
        </p:nvSpPr>
        <p:spPr>
          <a:xfrm>
            <a:off x="365147" y="155215"/>
            <a:ext cx="11297264" cy="2395528"/>
          </a:xfrm>
          <a:prstGeom prst="rect">
            <a:avLst/>
          </a:prstGeom>
        </p:spPr>
        <p:txBody>
          <a:bodyPr wrap="square">
            <a:spAutoFit/>
          </a:bodyPr>
          <a:lstStyle/>
          <a:p>
            <a:pPr algn="ctr"/>
            <a:r>
              <a:rPr lang="en-IN" b="1" dirty="0"/>
              <a:t>Steps for Developing </a:t>
            </a:r>
            <a:r>
              <a:rPr lang="en-IN" b="1" dirty="0" err="1"/>
              <a:t>Serverless</a:t>
            </a:r>
            <a:r>
              <a:rPr lang="en-IN" b="1" dirty="0"/>
              <a:t> Applications</a:t>
            </a:r>
          </a:p>
          <a:p>
            <a:pPr>
              <a:lnSpc>
                <a:spcPct val="150000"/>
              </a:lnSpc>
            </a:pPr>
            <a:endParaRPr lang="en-IN" b="1" dirty="0"/>
          </a:p>
          <a:p>
            <a:pPr>
              <a:lnSpc>
                <a:spcPct val="150000"/>
              </a:lnSpc>
            </a:pPr>
            <a:r>
              <a:rPr lang="en-IN" b="1" dirty="0"/>
              <a:t>Step 2: Choose the Right Provider</a:t>
            </a:r>
          </a:p>
          <a:p>
            <a:pPr>
              <a:lnSpc>
                <a:spcPct val="150000"/>
              </a:lnSpc>
              <a:buFont typeface="Arial" panose="020B0604020202020204" pitchFamily="34" charset="0"/>
              <a:buChar char="•"/>
            </a:pPr>
            <a:r>
              <a:rPr lang="en-IN" dirty="0"/>
              <a:t>Evaluate supported </a:t>
            </a:r>
            <a:r>
              <a:rPr lang="en-IN" b="1" dirty="0"/>
              <a:t>languages, integrations, provider features</a:t>
            </a:r>
            <a:endParaRPr lang="en-IN" dirty="0"/>
          </a:p>
          <a:p>
            <a:pPr>
              <a:lnSpc>
                <a:spcPct val="150000"/>
              </a:lnSpc>
              <a:buFont typeface="Arial" panose="020B0604020202020204" pitchFamily="34" charset="0"/>
              <a:buChar char="•"/>
            </a:pPr>
            <a:r>
              <a:rPr lang="en-IN" dirty="0"/>
              <a:t>Compare </a:t>
            </a:r>
            <a:r>
              <a:rPr lang="en-IN" b="1" dirty="0"/>
              <a:t>cost, performance, cold start behaviour</a:t>
            </a:r>
            <a:endParaRPr lang="en-IN" dirty="0"/>
          </a:p>
          <a:p>
            <a:pPr>
              <a:lnSpc>
                <a:spcPct val="150000"/>
              </a:lnSpc>
              <a:buFont typeface="Arial" panose="020B0604020202020204" pitchFamily="34" charset="0"/>
              <a:buChar char="•"/>
            </a:pPr>
            <a:r>
              <a:rPr lang="en-IN" dirty="0"/>
              <a:t>Providers: AWS Lambda, Azure Functions, Google Cloud Functions, Oracle Cloud Functions</a:t>
            </a:r>
          </a:p>
        </p:txBody>
      </p:sp>
      <p:pic>
        <p:nvPicPr>
          <p:cNvPr id="5" name="Picture 4">
            <a:extLst>
              <a:ext uri="{FF2B5EF4-FFF2-40B4-BE49-F238E27FC236}">
                <a16:creationId xmlns:a16="http://schemas.microsoft.com/office/drawing/2014/main" id="{750379DB-5801-C0E2-7C56-341CF2E2B198}"/>
              </a:ext>
            </a:extLst>
          </p:cNvPr>
          <p:cNvPicPr>
            <a:picLocks noChangeAspect="1"/>
          </p:cNvPicPr>
          <p:nvPr/>
        </p:nvPicPr>
        <p:blipFill>
          <a:blip r:embed="rId2"/>
          <a:stretch>
            <a:fillRect/>
          </a:stretch>
        </p:blipFill>
        <p:spPr>
          <a:xfrm>
            <a:off x="365147" y="2852430"/>
            <a:ext cx="4147344" cy="1454827"/>
          </a:xfrm>
          <a:prstGeom prst="rect">
            <a:avLst/>
          </a:prstGeom>
        </p:spPr>
      </p:pic>
      <p:pic>
        <p:nvPicPr>
          <p:cNvPr id="7" name="Picture 6">
            <a:extLst>
              <a:ext uri="{FF2B5EF4-FFF2-40B4-BE49-F238E27FC236}">
                <a16:creationId xmlns:a16="http://schemas.microsoft.com/office/drawing/2014/main" id="{9BB2427C-6ED2-5ABF-8164-F205DECD7ECE}"/>
              </a:ext>
            </a:extLst>
          </p:cNvPr>
          <p:cNvPicPr>
            <a:picLocks noChangeAspect="1"/>
          </p:cNvPicPr>
          <p:nvPr/>
        </p:nvPicPr>
        <p:blipFill>
          <a:blip r:embed="rId3"/>
          <a:stretch>
            <a:fillRect/>
          </a:stretch>
        </p:blipFill>
        <p:spPr>
          <a:xfrm>
            <a:off x="4659505" y="2852430"/>
            <a:ext cx="4002714" cy="1454566"/>
          </a:xfrm>
          <a:prstGeom prst="rect">
            <a:avLst/>
          </a:prstGeom>
        </p:spPr>
      </p:pic>
      <p:pic>
        <p:nvPicPr>
          <p:cNvPr id="9" name="Picture 8">
            <a:extLst>
              <a:ext uri="{FF2B5EF4-FFF2-40B4-BE49-F238E27FC236}">
                <a16:creationId xmlns:a16="http://schemas.microsoft.com/office/drawing/2014/main" id="{73348F35-F909-0B55-029D-3113DCAB644D}"/>
              </a:ext>
            </a:extLst>
          </p:cNvPr>
          <p:cNvPicPr>
            <a:picLocks noChangeAspect="1"/>
          </p:cNvPicPr>
          <p:nvPr/>
        </p:nvPicPr>
        <p:blipFill>
          <a:blip r:embed="rId4"/>
          <a:stretch>
            <a:fillRect/>
          </a:stretch>
        </p:blipFill>
        <p:spPr>
          <a:xfrm>
            <a:off x="365147" y="4484329"/>
            <a:ext cx="4069201" cy="1356400"/>
          </a:xfrm>
          <a:prstGeom prst="rect">
            <a:avLst/>
          </a:prstGeom>
        </p:spPr>
      </p:pic>
      <p:pic>
        <p:nvPicPr>
          <p:cNvPr id="11" name="Picture 10">
            <a:extLst>
              <a:ext uri="{FF2B5EF4-FFF2-40B4-BE49-F238E27FC236}">
                <a16:creationId xmlns:a16="http://schemas.microsoft.com/office/drawing/2014/main" id="{5A2DBCDE-5D04-6BAD-FC9A-31C00EAC9875}"/>
              </a:ext>
            </a:extLst>
          </p:cNvPr>
          <p:cNvPicPr>
            <a:picLocks noChangeAspect="1"/>
          </p:cNvPicPr>
          <p:nvPr/>
        </p:nvPicPr>
        <p:blipFill>
          <a:blip r:embed="rId5"/>
          <a:stretch>
            <a:fillRect/>
          </a:stretch>
        </p:blipFill>
        <p:spPr>
          <a:xfrm>
            <a:off x="4659504" y="4531032"/>
            <a:ext cx="3965229" cy="1014362"/>
          </a:xfrm>
          <a:prstGeom prst="rect">
            <a:avLst/>
          </a:prstGeom>
        </p:spPr>
      </p:pic>
      <p:pic>
        <p:nvPicPr>
          <p:cNvPr id="13" name="Picture 12">
            <a:extLst>
              <a:ext uri="{FF2B5EF4-FFF2-40B4-BE49-F238E27FC236}">
                <a16:creationId xmlns:a16="http://schemas.microsoft.com/office/drawing/2014/main" id="{A47C4B09-49B4-09B5-EB2C-7B5492AB6286}"/>
              </a:ext>
            </a:extLst>
          </p:cNvPr>
          <p:cNvPicPr>
            <a:picLocks noChangeAspect="1"/>
          </p:cNvPicPr>
          <p:nvPr/>
        </p:nvPicPr>
        <p:blipFill>
          <a:blip r:embed="rId6"/>
          <a:stretch>
            <a:fillRect/>
          </a:stretch>
        </p:blipFill>
        <p:spPr>
          <a:xfrm>
            <a:off x="8809233" y="2550743"/>
            <a:ext cx="3078334" cy="3706210"/>
          </a:xfrm>
          <a:prstGeom prst="rect">
            <a:avLst/>
          </a:prstGeom>
        </p:spPr>
      </p:pic>
    </p:spTree>
    <p:extLst>
      <p:ext uri="{BB962C8B-B14F-4D97-AF65-F5344CB8AC3E}">
        <p14:creationId xmlns:p14="http://schemas.microsoft.com/office/powerpoint/2010/main" val="1657232908"/>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E14D3-2848-3C27-F190-12ADCAB804A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D4A36EF-74B1-D940-8EFB-36A44F58870E}"/>
              </a:ext>
            </a:extLst>
          </p:cNvPr>
          <p:cNvSpPr>
            <a:spLocks noGrp="1"/>
          </p:cNvSpPr>
          <p:nvPr>
            <p:ph type="sldNum" sz="quarter" idx="12"/>
          </p:nvPr>
        </p:nvSpPr>
        <p:spPr/>
        <p:txBody>
          <a:bodyPr/>
          <a:lstStyle/>
          <a:p>
            <a:fld id="{B8DACC02-A2BD-4578-8E03-6D891060A695}" type="slidenum">
              <a:rPr lang="en-US" smtClean="0"/>
              <a:t>130</a:t>
            </a:fld>
            <a:endParaRPr lang="en-US"/>
          </a:p>
        </p:txBody>
      </p:sp>
      <p:sp>
        <p:nvSpPr>
          <p:cNvPr id="3" name="Rectangle 2">
            <a:extLst>
              <a:ext uri="{FF2B5EF4-FFF2-40B4-BE49-F238E27FC236}">
                <a16:creationId xmlns:a16="http://schemas.microsoft.com/office/drawing/2014/main" id="{E0354B2F-7D6A-B130-9D49-A3F7F41F9B30}"/>
              </a:ext>
            </a:extLst>
          </p:cNvPr>
          <p:cNvSpPr/>
          <p:nvPr/>
        </p:nvSpPr>
        <p:spPr>
          <a:xfrm>
            <a:off x="365147" y="155215"/>
            <a:ext cx="11297264" cy="1980029"/>
          </a:xfrm>
          <a:prstGeom prst="rect">
            <a:avLst/>
          </a:prstGeom>
        </p:spPr>
        <p:txBody>
          <a:bodyPr wrap="square">
            <a:spAutoFit/>
          </a:bodyPr>
          <a:lstStyle/>
          <a:p>
            <a:pPr algn="ctr"/>
            <a:r>
              <a:rPr lang="en-IN" b="1" dirty="0"/>
              <a:t>Steps for Developing </a:t>
            </a:r>
            <a:r>
              <a:rPr lang="en-IN" b="1" dirty="0" err="1"/>
              <a:t>Serverless</a:t>
            </a:r>
            <a:r>
              <a:rPr lang="en-IN" b="1" dirty="0"/>
              <a:t> Applications</a:t>
            </a:r>
          </a:p>
          <a:p>
            <a:pPr>
              <a:lnSpc>
                <a:spcPct val="150000"/>
              </a:lnSpc>
            </a:pPr>
            <a:endParaRPr lang="en-IN" b="1" dirty="0"/>
          </a:p>
          <a:p>
            <a:pPr>
              <a:lnSpc>
                <a:spcPct val="150000"/>
              </a:lnSpc>
            </a:pPr>
            <a:r>
              <a:rPr lang="en-IN" b="1" dirty="0"/>
              <a:t>Step 3: Designing Your Application</a:t>
            </a:r>
          </a:p>
          <a:p>
            <a:pPr>
              <a:lnSpc>
                <a:spcPct val="150000"/>
              </a:lnSpc>
              <a:buFont typeface="Arial" panose="020B0604020202020204" pitchFamily="34" charset="0"/>
              <a:buChar char="•"/>
            </a:pPr>
            <a:r>
              <a:rPr lang="en-IN" b="1" dirty="0"/>
              <a:t>Event-driven design</a:t>
            </a:r>
            <a:r>
              <a:rPr lang="en-IN" dirty="0"/>
              <a:t>, </a:t>
            </a:r>
            <a:r>
              <a:rPr lang="en-IN" b="1" dirty="0"/>
              <a:t>Stateless functions</a:t>
            </a:r>
            <a:r>
              <a:rPr lang="en-IN" dirty="0"/>
              <a:t> (use databases/cloud storage for state)</a:t>
            </a:r>
          </a:p>
          <a:p>
            <a:pPr>
              <a:lnSpc>
                <a:spcPct val="150000"/>
              </a:lnSpc>
              <a:buFont typeface="Arial" panose="020B0604020202020204" pitchFamily="34" charset="0"/>
              <a:buChar char="•"/>
            </a:pPr>
            <a:r>
              <a:rPr lang="en-IN" b="1" dirty="0" err="1"/>
              <a:t>Microservices</a:t>
            </a:r>
            <a:r>
              <a:rPr lang="en-IN" b="1" dirty="0"/>
              <a:t>-oriented</a:t>
            </a:r>
            <a:r>
              <a:rPr lang="en-IN" dirty="0"/>
              <a:t> design</a:t>
            </a:r>
          </a:p>
        </p:txBody>
      </p:sp>
      <p:pic>
        <p:nvPicPr>
          <p:cNvPr id="5" name="Picture 4">
            <a:extLst>
              <a:ext uri="{FF2B5EF4-FFF2-40B4-BE49-F238E27FC236}">
                <a16:creationId xmlns:a16="http://schemas.microsoft.com/office/drawing/2014/main" id="{9CBE0387-13CF-AD75-9F85-94C33700487B}"/>
              </a:ext>
            </a:extLst>
          </p:cNvPr>
          <p:cNvPicPr>
            <a:picLocks noChangeAspect="1"/>
          </p:cNvPicPr>
          <p:nvPr/>
        </p:nvPicPr>
        <p:blipFill>
          <a:blip r:embed="rId2"/>
          <a:stretch>
            <a:fillRect/>
          </a:stretch>
        </p:blipFill>
        <p:spPr>
          <a:xfrm>
            <a:off x="16538" y="2251585"/>
            <a:ext cx="4876258" cy="4677014"/>
          </a:xfrm>
          <a:prstGeom prst="rect">
            <a:avLst/>
          </a:prstGeom>
          <a:ln>
            <a:solidFill>
              <a:schemeClr val="tx1"/>
            </a:solidFill>
          </a:ln>
        </p:spPr>
      </p:pic>
      <p:pic>
        <p:nvPicPr>
          <p:cNvPr id="7" name="Picture 6">
            <a:extLst>
              <a:ext uri="{FF2B5EF4-FFF2-40B4-BE49-F238E27FC236}">
                <a16:creationId xmlns:a16="http://schemas.microsoft.com/office/drawing/2014/main" id="{7AF0172C-C270-AD20-EF05-E66036D59B14}"/>
              </a:ext>
            </a:extLst>
          </p:cNvPr>
          <p:cNvPicPr>
            <a:picLocks noChangeAspect="1"/>
          </p:cNvPicPr>
          <p:nvPr/>
        </p:nvPicPr>
        <p:blipFill>
          <a:blip r:embed="rId3"/>
          <a:stretch>
            <a:fillRect/>
          </a:stretch>
        </p:blipFill>
        <p:spPr>
          <a:xfrm>
            <a:off x="4892796" y="2251585"/>
            <a:ext cx="3778656" cy="4677013"/>
          </a:xfrm>
          <a:prstGeom prst="rect">
            <a:avLst/>
          </a:prstGeom>
          <a:ln>
            <a:solidFill>
              <a:schemeClr val="tx1"/>
            </a:solidFill>
          </a:ln>
        </p:spPr>
      </p:pic>
      <p:pic>
        <p:nvPicPr>
          <p:cNvPr id="9" name="Picture 8">
            <a:extLst>
              <a:ext uri="{FF2B5EF4-FFF2-40B4-BE49-F238E27FC236}">
                <a16:creationId xmlns:a16="http://schemas.microsoft.com/office/drawing/2014/main" id="{821864F5-2BD2-23A9-CF06-1756877865C1}"/>
              </a:ext>
            </a:extLst>
          </p:cNvPr>
          <p:cNvPicPr>
            <a:picLocks noChangeAspect="1"/>
          </p:cNvPicPr>
          <p:nvPr/>
        </p:nvPicPr>
        <p:blipFill>
          <a:blip r:embed="rId4"/>
          <a:stretch>
            <a:fillRect/>
          </a:stretch>
        </p:blipFill>
        <p:spPr>
          <a:xfrm>
            <a:off x="8658954" y="2251584"/>
            <a:ext cx="3516508" cy="3608442"/>
          </a:xfrm>
          <a:prstGeom prst="rect">
            <a:avLst/>
          </a:prstGeom>
          <a:ln>
            <a:solidFill>
              <a:schemeClr val="tx1"/>
            </a:solidFill>
          </a:ln>
        </p:spPr>
      </p:pic>
    </p:spTree>
    <p:extLst>
      <p:ext uri="{BB962C8B-B14F-4D97-AF65-F5344CB8AC3E}">
        <p14:creationId xmlns:p14="http://schemas.microsoft.com/office/powerpoint/2010/main" val="3622454735"/>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8DACC02-A2BD-4578-8E03-6D891060A695}" type="slidenum">
              <a:rPr lang="en-US" smtClean="0"/>
              <a:t>131</a:t>
            </a:fld>
            <a:endParaRPr lang="en-US"/>
          </a:p>
        </p:txBody>
      </p:sp>
      <p:sp>
        <p:nvSpPr>
          <p:cNvPr id="3" name="Rectangle 2"/>
          <p:cNvSpPr/>
          <p:nvPr/>
        </p:nvSpPr>
        <p:spPr>
          <a:xfrm>
            <a:off x="365147" y="1057559"/>
            <a:ext cx="7714309" cy="3139321"/>
          </a:xfrm>
          <a:prstGeom prst="rect">
            <a:avLst/>
          </a:prstGeom>
        </p:spPr>
        <p:txBody>
          <a:bodyPr wrap="square">
            <a:spAutoFit/>
          </a:bodyPr>
          <a:lstStyle/>
          <a:p>
            <a:pPr algn="ctr"/>
            <a:r>
              <a:rPr lang="en-IN" b="1" dirty="0"/>
              <a:t>Steps for Developing </a:t>
            </a:r>
            <a:r>
              <a:rPr lang="en-IN" b="1" dirty="0" err="1"/>
              <a:t>Serverless</a:t>
            </a:r>
            <a:r>
              <a:rPr lang="en-IN" b="1" dirty="0"/>
              <a:t> Applications (Contd.)</a:t>
            </a:r>
          </a:p>
          <a:p>
            <a:endParaRPr lang="en-IN" b="1" dirty="0"/>
          </a:p>
          <a:p>
            <a:endParaRPr lang="en-IN" b="1" dirty="0"/>
          </a:p>
          <a:p>
            <a:r>
              <a:rPr lang="en-IN" b="1" dirty="0"/>
              <a:t>Step 4: Development Environment Setup</a:t>
            </a:r>
          </a:p>
          <a:p>
            <a:r>
              <a:rPr lang="en-IN" dirty="0"/>
              <a:t>Use tools like:</a:t>
            </a:r>
          </a:p>
          <a:p>
            <a:pPr lvl="1"/>
            <a:r>
              <a:rPr lang="en-IN" dirty="0"/>
              <a:t>Serverless Framework</a:t>
            </a:r>
          </a:p>
          <a:p>
            <a:pPr lvl="1"/>
            <a:r>
              <a:rPr lang="en-IN" dirty="0"/>
              <a:t>AWS SAM (Serverless Application Model)/ Azure Functions Core Tools</a:t>
            </a:r>
          </a:p>
          <a:p>
            <a:r>
              <a:rPr lang="en-IN" dirty="0"/>
              <a:t>Configure </a:t>
            </a:r>
            <a:r>
              <a:rPr lang="en-IN" b="1" dirty="0"/>
              <a:t>local testing and simulation tools</a:t>
            </a:r>
            <a:endParaRPr lang="en-IN" dirty="0"/>
          </a:p>
          <a:p>
            <a:endParaRPr lang="en-IN" b="1" dirty="0"/>
          </a:p>
          <a:p>
            <a:endParaRPr lang="en-IN" dirty="0"/>
          </a:p>
        </p:txBody>
      </p:sp>
      <p:pic>
        <p:nvPicPr>
          <p:cNvPr id="5" name="Picture 4">
            <a:extLst>
              <a:ext uri="{FF2B5EF4-FFF2-40B4-BE49-F238E27FC236}">
                <a16:creationId xmlns:a16="http://schemas.microsoft.com/office/drawing/2014/main" id="{1C5D5A48-F02B-244A-CD3D-52EE1C5C4A27}"/>
              </a:ext>
            </a:extLst>
          </p:cNvPr>
          <p:cNvPicPr>
            <a:picLocks noChangeAspect="1"/>
          </p:cNvPicPr>
          <p:nvPr/>
        </p:nvPicPr>
        <p:blipFill>
          <a:blip r:embed="rId2"/>
          <a:stretch>
            <a:fillRect/>
          </a:stretch>
        </p:blipFill>
        <p:spPr>
          <a:xfrm>
            <a:off x="8171306" y="1517225"/>
            <a:ext cx="3765055" cy="4840783"/>
          </a:xfrm>
          <a:prstGeom prst="rect">
            <a:avLst/>
          </a:prstGeom>
        </p:spPr>
      </p:pic>
    </p:spTree>
    <p:extLst>
      <p:ext uri="{BB962C8B-B14F-4D97-AF65-F5344CB8AC3E}">
        <p14:creationId xmlns:p14="http://schemas.microsoft.com/office/powerpoint/2010/main" val="236737139"/>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8CAF3-2FAF-6502-A480-C118E43D613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A202025-9958-9CE8-9CC5-9DE345D42562}"/>
              </a:ext>
            </a:extLst>
          </p:cNvPr>
          <p:cNvSpPr>
            <a:spLocks noGrp="1"/>
          </p:cNvSpPr>
          <p:nvPr>
            <p:ph type="sldNum" sz="quarter" idx="12"/>
          </p:nvPr>
        </p:nvSpPr>
        <p:spPr/>
        <p:txBody>
          <a:bodyPr/>
          <a:lstStyle/>
          <a:p>
            <a:fld id="{B8DACC02-A2BD-4578-8E03-6D891060A695}" type="slidenum">
              <a:rPr lang="en-US" smtClean="0"/>
              <a:t>132</a:t>
            </a:fld>
            <a:endParaRPr lang="en-US"/>
          </a:p>
        </p:txBody>
      </p:sp>
      <p:sp>
        <p:nvSpPr>
          <p:cNvPr id="3" name="Rectangle 2">
            <a:extLst>
              <a:ext uri="{FF2B5EF4-FFF2-40B4-BE49-F238E27FC236}">
                <a16:creationId xmlns:a16="http://schemas.microsoft.com/office/drawing/2014/main" id="{8DA1B2AF-2408-2A35-CA71-0BE9D71FD5E0}"/>
              </a:ext>
            </a:extLst>
          </p:cNvPr>
          <p:cNvSpPr/>
          <p:nvPr/>
        </p:nvSpPr>
        <p:spPr>
          <a:xfrm>
            <a:off x="365147" y="556114"/>
            <a:ext cx="11297264" cy="6186309"/>
          </a:xfrm>
          <a:prstGeom prst="rect">
            <a:avLst/>
          </a:prstGeom>
        </p:spPr>
        <p:txBody>
          <a:bodyPr wrap="square">
            <a:spAutoFit/>
          </a:bodyPr>
          <a:lstStyle/>
          <a:p>
            <a:pPr algn="ctr"/>
            <a:r>
              <a:rPr lang="en-IN" b="1" dirty="0"/>
              <a:t>Steps for Developing </a:t>
            </a:r>
            <a:r>
              <a:rPr lang="en-IN" b="1" dirty="0" err="1"/>
              <a:t>Serverless</a:t>
            </a:r>
            <a:r>
              <a:rPr lang="en-IN" b="1" dirty="0"/>
              <a:t> Applications (Contd.)</a:t>
            </a:r>
          </a:p>
          <a:p>
            <a:endParaRPr lang="en-IN" b="1" dirty="0"/>
          </a:p>
          <a:p>
            <a:endParaRPr lang="en-IN" b="1" dirty="0"/>
          </a:p>
          <a:p>
            <a:r>
              <a:rPr lang="en-IN" b="1" dirty="0"/>
              <a:t>Step 4: Development Environment Setup</a:t>
            </a:r>
          </a:p>
          <a:p>
            <a:r>
              <a:rPr lang="en-IN" dirty="0"/>
              <a:t>Use tools like:</a:t>
            </a:r>
          </a:p>
          <a:p>
            <a:pPr lvl="1"/>
            <a:r>
              <a:rPr lang="en-IN" dirty="0" err="1"/>
              <a:t>Serverless</a:t>
            </a:r>
            <a:r>
              <a:rPr lang="en-IN" dirty="0"/>
              <a:t> Framework</a:t>
            </a:r>
          </a:p>
          <a:p>
            <a:pPr lvl="1"/>
            <a:r>
              <a:rPr lang="en-IN" dirty="0"/>
              <a:t>AWS SAM</a:t>
            </a:r>
          </a:p>
          <a:p>
            <a:pPr lvl="1"/>
            <a:r>
              <a:rPr lang="en-IN" dirty="0"/>
              <a:t>Azure Functions Core Tools</a:t>
            </a:r>
          </a:p>
          <a:p>
            <a:r>
              <a:rPr lang="en-IN" dirty="0"/>
              <a:t>Configure </a:t>
            </a:r>
            <a:r>
              <a:rPr lang="en-IN" b="1" dirty="0"/>
              <a:t>local testing and simulation tools</a:t>
            </a:r>
            <a:endParaRPr lang="en-IN" dirty="0"/>
          </a:p>
          <a:p>
            <a:endParaRPr lang="en-IN" b="1" dirty="0"/>
          </a:p>
          <a:p>
            <a:r>
              <a:rPr lang="en-IN" b="1" dirty="0"/>
              <a:t>Step 5: Implementing Functions</a:t>
            </a:r>
          </a:p>
          <a:p>
            <a:r>
              <a:rPr lang="en-IN" dirty="0"/>
              <a:t>Write </a:t>
            </a:r>
            <a:r>
              <a:rPr lang="en-IN" b="1" dirty="0"/>
              <a:t>small, single-purpose functions</a:t>
            </a:r>
            <a:endParaRPr lang="en-IN" dirty="0"/>
          </a:p>
          <a:p>
            <a:r>
              <a:rPr lang="en-IN" dirty="0"/>
              <a:t>Integrate </a:t>
            </a:r>
            <a:r>
              <a:rPr lang="en-IN" b="1" dirty="0"/>
              <a:t>managed services</a:t>
            </a:r>
            <a:r>
              <a:rPr lang="en-IN" dirty="0"/>
              <a:t> for DB, authentication, storage</a:t>
            </a:r>
          </a:p>
          <a:p>
            <a:endParaRPr lang="en-IN" b="1" dirty="0"/>
          </a:p>
          <a:p>
            <a:r>
              <a:rPr lang="en-IN" b="1" dirty="0"/>
              <a:t>Step 6: Managing Dependencies</a:t>
            </a:r>
          </a:p>
          <a:p>
            <a:r>
              <a:rPr lang="en-IN" dirty="0"/>
              <a:t>Include only </a:t>
            </a:r>
            <a:r>
              <a:rPr lang="en-IN" b="1" dirty="0"/>
              <a:t>necessary libraries</a:t>
            </a:r>
            <a:endParaRPr lang="en-IN" dirty="0"/>
          </a:p>
          <a:p>
            <a:r>
              <a:rPr lang="en-IN" dirty="0"/>
              <a:t>Smaller packages improve </a:t>
            </a:r>
            <a:r>
              <a:rPr lang="en-IN" b="1" dirty="0"/>
              <a:t>cold start performance</a:t>
            </a:r>
            <a:endParaRPr lang="en-IN" dirty="0"/>
          </a:p>
          <a:p>
            <a:endParaRPr lang="en-IN" b="1" dirty="0"/>
          </a:p>
          <a:p>
            <a:r>
              <a:rPr lang="en-IN" b="1" dirty="0"/>
              <a:t>Step 7: Deployment and Continuous Integration</a:t>
            </a:r>
          </a:p>
          <a:p>
            <a:r>
              <a:rPr lang="en-IN" dirty="0"/>
              <a:t>Automate using </a:t>
            </a:r>
            <a:r>
              <a:rPr lang="en-IN" b="1" dirty="0"/>
              <a:t>CI/CD pipelines</a:t>
            </a:r>
            <a:endParaRPr lang="en-IN" dirty="0"/>
          </a:p>
          <a:p>
            <a:r>
              <a:rPr lang="en-IN" dirty="0"/>
              <a:t>Tools: GitHub Actions, Jenkins, </a:t>
            </a:r>
            <a:r>
              <a:rPr lang="en-IN" dirty="0" err="1"/>
              <a:t>CircleCI</a:t>
            </a:r>
            <a:endParaRPr lang="en-IN" dirty="0"/>
          </a:p>
          <a:p>
            <a:pPr>
              <a:buFont typeface="Arial" panose="020B0604020202020204" pitchFamily="34" charset="0"/>
              <a:buChar char="•"/>
            </a:pPr>
            <a:endParaRPr lang="en-IN" dirty="0"/>
          </a:p>
        </p:txBody>
      </p:sp>
    </p:spTree>
    <p:extLst>
      <p:ext uri="{BB962C8B-B14F-4D97-AF65-F5344CB8AC3E}">
        <p14:creationId xmlns:p14="http://schemas.microsoft.com/office/powerpoint/2010/main" val="353546773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8D260-D12C-3226-D779-FD107D1218E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2E384DE-DCDF-6068-7118-A64DD2EB8004}"/>
              </a:ext>
            </a:extLst>
          </p:cNvPr>
          <p:cNvSpPr>
            <a:spLocks noGrp="1"/>
          </p:cNvSpPr>
          <p:nvPr>
            <p:ph type="sldNum" sz="quarter" idx="12"/>
          </p:nvPr>
        </p:nvSpPr>
        <p:spPr/>
        <p:txBody>
          <a:bodyPr/>
          <a:lstStyle/>
          <a:p>
            <a:fld id="{B8DACC02-A2BD-4578-8E03-6D891060A695}" type="slidenum">
              <a:rPr lang="en-US" smtClean="0"/>
              <a:t>133</a:t>
            </a:fld>
            <a:endParaRPr lang="en-US"/>
          </a:p>
        </p:txBody>
      </p:sp>
      <p:sp>
        <p:nvSpPr>
          <p:cNvPr id="3" name="Rectangle 2">
            <a:extLst>
              <a:ext uri="{FF2B5EF4-FFF2-40B4-BE49-F238E27FC236}">
                <a16:creationId xmlns:a16="http://schemas.microsoft.com/office/drawing/2014/main" id="{292915AE-CE04-9798-3C03-38D2A59802D4}"/>
              </a:ext>
            </a:extLst>
          </p:cNvPr>
          <p:cNvSpPr/>
          <p:nvPr/>
        </p:nvSpPr>
        <p:spPr>
          <a:xfrm>
            <a:off x="365147" y="556114"/>
            <a:ext cx="11297264" cy="5909310"/>
          </a:xfrm>
          <a:prstGeom prst="rect">
            <a:avLst/>
          </a:prstGeom>
        </p:spPr>
        <p:txBody>
          <a:bodyPr wrap="square">
            <a:spAutoFit/>
          </a:bodyPr>
          <a:lstStyle/>
          <a:p>
            <a:pPr algn="ctr"/>
            <a:r>
              <a:rPr lang="en-IN" b="1" dirty="0"/>
              <a:t>Steps for Developing </a:t>
            </a:r>
            <a:r>
              <a:rPr lang="en-IN" b="1" dirty="0" err="1"/>
              <a:t>Serverless</a:t>
            </a:r>
            <a:r>
              <a:rPr lang="en-IN" b="1" dirty="0"/>
              <a:t> Applications (Contd.)</a:t>
            </a:r>
          </a:p>
          <a:p>
            <a:endParaRPr lang="en-IN" b="1" dirty="0"/>
          </a:p>
          <a:p>
            <a:r>
              <a:rPr lang="en-IN" b="1" dirty="0"/>
              <a:t>Step 5: Implementing Functions</a:t>
            </a:r>
          </a:p>
          <a:p>
            <a:r>
              <a:rPr lang="en-IN" dirty="0"/>
              <a:t>Write </a:t>
            </a:r>
            <a:r>
              <a:rPr lang="en-IN" b="1" dirty="0"/>
              <a:t>small, single-purpose functions</a:t>
            </a:r>
            <a:endParaRPr lang="en-IN" dirty="0"/>
          </a:p>
          <a:p>
            <a:r>
              <a:rPr lang="en-IN" dirty="0"/>
              <a:t>Integrate </a:t>
            </a:r>
            <a:r>
              <a:rPr lang="en-IN" b="1" dirty="0"/>
              <a:t>managed services</a:t>
            </a:r>
            <a:r>
              <a:rPr lang="en-IN" dirty="0"/>
              <a:t> for DB, authentication, storage</a:t>
            </a:r>
          </a:p>
          <a:p>
            <a:endParaRPr lang="en-IN" b="1" dirty="0"/>
          </a:p>
          <a:p>
            <a:r>
              <a:rPr lang="en-IN" b="1" dirty="0"/>
              <a:t>Step 6: Managing Dependencies</a:t>
            </a:r>
          </a:p>
          <a:p>
            <a:r>
              <a:rPr lang="en-IN" dirty="0"/>
              <a:t>Include only </a:t>
            </a:r>
            <a:r>
              <a:rPr lang="en-IN" b="1" dirty="0"/>
              <a:t>necessary libraries</a:t>
            </a:r>
            <a:endParaRPr lang="en-IN" dirty="0"/>
          </a:p>
          <a:p>
            <a:r>
              <a:rPr lang="en-IN" dirty="0"/>
              <a:t>Smaller packages improve </a:t>
            </a:r>
            <a:r>
              <a:rPr lang="en-IN" b="1" dirty="0"/>
              <a:t>cold start performance</a:t>
            </a:r>
          </a:p>
          <a:p>
            <a:endParaRPr lang="en-IN" b="1" dirty="0"/>
          </a:p>
          <a:p>
            <a:endParaRPr lang="en-IN" b="1" dirty="0"/>
          </a:p>
          <a:p>
            <a:endParaRPr lang="en-IN" b="1" dirty="0"/>
          </a:p>
          <a:p>
            <a:endParaRPr lang="en-IN" b="1" dirty="0"/>
          </a:p>
          <a:p>
            <a:endParaRPr lang="en-IN" b="1" dirty="0"/>
          </a:p>
          <a:p>
            <a:endParaRPr lang="en-IN" b="1" dirty="0"/>
          </a:p>
          <a:p>
            <a:endParaRPr lang="en-IN" dirty="0"/>
          </a:p>
          <a:p>
            <a:endParaRPr lang="en-IN" b="1" dirty="0"/>
          </a:p>
          <a:p>
            <a:r>
              <a:rPr lang="en-IN" b="1" dirty="0"/>
              <a:t>Step 7: Deployment and Continuous Integration</a:t>
            </a:r>
          </a:p>
          <a:p>
            <a:r>
              <a:rPr lang="en-IN" dirty="0"/>
              <a:t>Automate using </a:t>
            </a:r>
            <a:r>
              <a:rPr lang="en-IN" b="1" dirty="0"/>
              <a:t>CI/CD pipelines</a:t>
            </a:r>
            <a:endParaRPr lang="en-IN" dirty="0"/>
          </a:p>
          <a:p>
            <a:r>
              <a:rPr lang="en-IN" dirty="0"/>
              <a:t>Tools: GitHub Actions, Jenkins, </a:t>
            </a:r>
            <a:r>
              <a:rPr lang="en-IN" dirty="0" err="1"/>
              <a:t>CircleCI</a:t>
            </a:r>
            <a:endParaRPr lang="en-IN" dirty="0"/>
          </a:p>
          <a:p>
            <a:pPr>
              <a:buFont typeface="Arial" panose="020B0604020202020204" pitchFamily="34" charset="0"/>
              <a:buChar char="•"/>
            </a:pPr>
            <a:endParaRPr lang="en-IN" dirty="0"/>
          </a:p>
        </p:txBody>
      </p:sp>
      <p:pic>
        <p:nvPicPr>
          <p:cNvPr id="5" name="Picture 4">
            <a:extLst>
              <a:ext uri="{FF2B5EF4-FFF2-40B4-BE49-F238E27FC236}">
                <a16:creationId xmlns:a16="http://schemas.microsoft.com/office/drawing/2014/main" id="{10D750CC-866E-DB0B-9337-D3B18EE0C081}"/>
              </a:ext>
            </a:extLst>
          </p:cNvPr>
          <p:cNvPicPr>
            <a:picLocks noChangeAspect="1"/>
          </p:cNvPicPr>
          <p:nvPr/>
        </p:nvPicPr>
        <p:blipFill>
          <a:blip r:embed="rId2"/>
          <a:stretch>
            <a:fillRect/>
          </a:stretch>
        </p:blipFill>
        <p:spPr>
          <a:xfrm>
            <a:off x="7388796" y="1507394"/>
            <a:ext cx="4639415" cy="4365267"/>
          </a:xfrm>
          <a:prstGeom prst="rect">
            <a:avLst/>
          </a:prstGeom>
        </p:spPr>
      </p:pic>
      <p:pic>
        <p:nvPicPr>
          <p:cNvPr id="7" name="Picture 6">
            <a:extLst>
              <a:ext uri="{FF2B5EF4-FFF2-40B4-BE49-F238E27FC236}">
                <a16:creationId xmlns:a16="http://schemas.microsoft.com/office/drawing/2014/main" id="{02CFE896-1E8A-225D-1B46-A08BBE4EDE1C}"/>
              </a:ext>
            </a:extLst>
          </p:cNvPr>
          <p:cNvPicPr>
            <a:picLocks noChangeAspect="1"/>
          </p:cNvPicPr>
          <p:nvPr/>
        </p:nvPicPr>
        <p:blipFill>
          <a:blip r:embed="rId3"/>
          <a:stretch>
            <a:fillRect/>
          </a:stretch>
        </p:blipFill>
        <p:spPr>
          <a:xfrm>
            <a:off x="459106" y="3153003"/>
            <a:ext cx="3857255" cy="2073388"/>
          </a:xfrm>
          <a:prstGeom prst="rect">
            <a:avLst/>
          </a:prstGeom>
        </p:spPr>
      </p:pic>
    </p:spTree>
    <p:extLst>
      <p:ext uri="{BB962C8B-B14F-4D97-AF65-F5344CB8AC3E}">
        <p14:creationId xmlns:p14="http://schemas.microsoft.com/office/powerpoint/2010/main" val="42237668"/>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8DACC02-A2BD-4578-8E03-6D891060A695}" type="slidenum">
              <a:rPr lang="en-US" smtClean="0"/>
              <a:t>134</a:t>
            </a:fld>
            <a:endParaRPr lang="en-US"/>
          </a:p>
        </p:txBody>
      </p:sp>
      <p:sp>
        <p:nvSpPr>
          <p:cNvPr id="3" name="Rectangle 2"/>
          <p:cNvSpPr/>
          <p:nvPr/>
        </p:nvSpPr>
        <p:spPr>
          <a:xfrm>
            <a:off x="648929" y="368711"/>
            <a:ext cx="10250129" cy="5955476"/>
          </a:xfrm>
          <a:prstGeom prst="rect">
            <a:avLst/>
          </a:prstGeom>
        </p:spPr>
        <p:txBody>
          <a:bodyPr wrap="square">
            <a:spAutoFit/>
          </a:bodyPr>
          <a:lstStyle/>
          <a:p>
            <a:pPr algn="ctr"/>
            <a:r>
              <a:rPr lang="en-US" b="1" dirty="0" err="1"/>
              <a:t>Serverless</a:t>
            </a:r>
            <a:r>
              <a:rPr lang="en-US" b="1" dirty="0"/>
              <a:t> Application Design Patterns</a:t>
            </a:r>
          </a:p>
          <a:p>
            <a:endParaRPr lang="en-US" b="1" dirty="0"/>
          </a:p>
          <a:p>
            <a:pPr>
              <a:spcBef>
                <a:spcPts val="600"/>
              </a:spcBef>
              <a:buFont typeface="Arial" panose="020B0604020202020204" pitchFamily="34" charset="0"/>
              <a:buChar char="•"/>
            </a:pPr>
            <a:r>
              <a:rPr lang="en-US" b="1" dirty="0"/>
              <a:t>Function-as-a-Gateway (</a:t>
            </a:r>
            <a:r>
              <a:rPr lang="en-US" b="1" dirty="0" err="1"/>
              <a:t>FaG</a:t>
            </a:r>
            <a:r>
              <a:rPr lang="en-US" b="1" dirty="0"/>
              <a:t>)</a:t>
            </a:r>
            <a:endParaRPr lang="en-US" dirty="0"/>
          </a:p>
          <a:p>
            <a:pPr marL="742950" lvl="1" indent="-285750">
              <a:spcBef>
                <a:spcPts val="600"/>
              </a:spcBef>
              <a:buFont typeface="Arial" panose="020B0604020202020204" pitchFamily="34" charset="0"/>
              <a:buChar char="•"/>
            </a:pPr>
            <a:r>
              <a:rPr lang="en-US" dirty="0"/>
              <a:t>Routes incoming HTTP requests</a:t>
            </a:r>
          </a:p>
          <a:p>
            <a:pPr marL="742950" lvl="1" indent="-285750">
              <a:spcBef>
                <a:spcPts val="600"/>
              </a:spcBef>
              <a:buFont typeface="Arial" panose="020B0604020202020204" pitchFamily="34" charset="0"/>
              <a:buChar char="•"/>
            </a:pPr>
            <a:r>
              <a:rPr lang="en-US" dirty="0"/>
              <a:t>Used for lightweight API gateways</a:t>
            </a:r>
          </a:p>
          <a:p>
            <a:pPr>
              <a:spcBef>
                <a:spcPts val="600"/>
              </a:spcBef>
              <a:buFont typeface="Arial" panose="020B0604020202020204" pitchFamily="34" charset="0"/>
              <a:buChar char="•"/>
            </a:pPr>
            <a:r>
              <a:rPr lang="en-US" b="1" dirty="0"/>
              <a:t>Event Stream Processing</a:t>
            </a:r>
            <a:endParaRPr lang="en-US" dirty="0"/>
          </a:p>
          <a:p>
            <a:pPr marL="742950" lvl="1" indent="-285750">
              <a:spcBef>
                <a:spcPts val="600"/>
              </a:spcBef>
              <a:buFont typeface="Arial" panose="020B0604020202020204" pitchFamily="34" charset="0"/>
              <a:buChar char="•"/>
            </a:pPr>
            <a:r>
              <a:rPr lang="en-US" dirty="0"/>
              <a:t>Processes streams of logs, transactions, </a:t>
            </a:r>
            <a:r>
              <a:rPr lang="en-US" dirty="0" err="1"/>
              <a:t>IoT</a:t>
            </a:r>
            <a:r>
              <a:rPr lang="en-US" dirty="0"/>
              <a:t> data</a:t>
            </a:r>
          </a:p>
          <a:p>
            <a:pPr marL="742950" lvl="1" indent="-285750">
              <a:spcBef>
                <a:spcPts val="600"/>
              </a:spcBef>
              <a:buFont typeface="Arial" panose="020B0604020202020204" pitchFamily="34" charset="0"/>
              <a:buChar char="•"/>
            </a:pPr>
            <a:r>
              <a:rPr lang="en-US" dirty="0"/>
              <a:t>Used for real-time analytics and monitoring</a:t>
            </a:r>
          </a:p>
          <a:p>
            <a:pPr>
              <a:spcBef>
                <a:spcPts val="600"/>
              </a:spcBef>
              <a:buFont typeface="Arial" panose="020B0604020202020204" pitchFamily="34" charset="0"/>
              <a:buChar char="•"/>
            </a:pPr>
            <a:r>
              <a:rPr lang="en-US" b="1" dirty="0"/>
              <a:t>Aggregator</a:t>
            </a:r>
            <a:endParaRPr lang="en-US" dirty="0"/>
          </a:p>
          <a:p>
            <a:pPr marL="742950" lvl="1" indent="-285750">
              <a:spcBef>
                <a:spcPts val="600"/>
              </a:spcBef>
              <a:buFont typeface="Arial" panose="020B0604020202020204" pitchFamily="34" charset="0"/>
              <a:buChar char="•"/>
            </a:pPr>
            <a:r>
              <a:rPr lang="en-US" dirty="0"/>
              <a:t>Combines responses from multiple services/functions</a:t>
            </a:r>
          </a:p>
          <a:p>
            <a:pPr marL="742950" lvl="1" indent="-285750">
              <a:spcBef>
                <a:spcPts val="600"/>
              </a:spcBef>
              <a:buFont typeface="Arial" panose="020B0604020202020204" pitchFamily="34" charset="0"/>
              <a:buChar char="•"/>
            </a:pPr>
            <a:r>
              <a:rPr lang="en-US" dirty="0"/>
              <a:t>Returns a unified response</a:t>
            </a:r>
          </a:p>
          <a:p>
            <a:pPr>
              <a:spcBef>
                <a:spcPts val="600"/>
              </a:spcBef>
              <a:buFont typeface="Arial" panose="020B0604020202020204" pitchFamily="34" charset="0"/>
              <a:buChar char="•"/>
            </a:pPr>
            <a:r>
              <a:rPr lang="en-US" b="1" dirty="0"/>
              <a:t>Strangler Fig Pattern</a:t>
            </a:r>
            <a:endParaRPr lang="en-US" dirty="0"/>
          </a:p>
          <a:p>
            <a:pPr marL="742950" lvl="1" indent="-285750">
              <a:spcBef>
                <a:spcPts val="600"/>
              </a:spcBef>
              <a:buFont typeface="Arial" panose="020B0604020202020204" pitchFamily="34" charset="0"/>
              <a:buChar char="•"/>
            </a:pPr>
            <a:r>
              <a:rPr lang="en-US" dirty="0"/>
              <a:t>Gradual migration from legacy systems</a:t>
            </a:r>
          </a:p>
          <a:p>
            <a:pPr marL="742950" lvl="1" indent="-285750">
              <a:spcBef>
                <a:spcPts val="600"/>
              </a:spcBef>
              <a:buFont typeface="Arial" panose="020B0604020202020204" pitchFamily="34" charset="0"/>
              <a:buChar char="•"/>
            </a:pPr>
            <a:r>
              <a:rPr lang="en-US" dirty="0"/>
              <a:t>New features built using </a:t>
            </a:r>
            <a:r>
              <a:rPr lang="en-US" dirty="0" err="1"/>
              <a:t>serverless</a:t>
            </a:r>
            <a:endParaRPr lang="en-US" dirty="0"/>
          </a:p>
          <a:p>
            <a:pPr>
              <a:spcBef>
                <a:spcPts val="600"/>
              </a:spcBef>
              <a:buFont typeface="Arial" panose="020B0604020202020204" pitchFamily="34" charset="0"/>
              <a:buChar char="•"/>
            </a:pPr>
            <a:r>
              <a:rPr lang="en-US" b="1" dirty="0"/>
              <a:t>Circuit Breaker</a:t>
            </a:r>
            <a:endParaRPr lang="en-US" dirty="0"/>
          </a:p>
          <a:p>
            <a:pPr marL="742950" lvl="1" indent="-285750">
              <a:spcBef>
                <a:spcPts val="600"/>
              </a:spcBef>
              <a:buFont typeface="Arial" panose="020B0604020202020204" pitchFamily="34" charset="0"/>
              <a:buChar char="•"/>
            </a:pPr>
            <a:r>
              <a:rPr lang="en-US" dirty="0"/>
              <a:t>Prevents cascading failures</a:t>
            </a:r>
          </a:p>
          <a:p>
            <a:pPr marL="742950" lvl="1" indent="-285750">
              <a:spcBef>
                <a:spcPts val="600"/>
              </a:spcBef>
              <a:buFont typeface="Arial" panose="020B0604020202020204" pitchFamily="34" charset="0"/>
              <a:buChar char="•"/>
            </a:pPr>
            <a:r>
              <a:rPr lang="en-US" dirty="0"/>
              <a:t>Stops repeated failed function calls</a:t>
            </a:r>
          </a:p>
        </p:txBody>
      </p:sp>
    </p:spTree>
    <p:extLst>
      <p:ext uri="{BB962C8B-B14F-4D97-AF65-F5344CB8AC3E}">
        <p14:creationId xmlns:p14="http://schemas.microsoft.com/office/powerpoint/2010/main" val="2520087603"/>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8DACC02-A2BD-4578-8E03-6D891060A695}" type="slidenum">
              <a:rPr lang="en-US" smtClean="0"/>
              <a:t>135</a:t>
            </a:fld>
            <a:endParaRPr lang="en-US"/>
          </a:p>
        </p:txBody>
      </p:sp>
      <p:sp>
        <p:nvSpPr>
          <p:cNvPr id="3" name="Rectangle 2"/>
          <p:cNvSpPr/>
          <p:nvPr/>
        </p:nvSpPr>
        <p:spPr>
          <a:xfrm>
            <a:off x="619432" y="1017639"/>
            <a:ext cx="9733936" cy="5632311"/>
          </a:xfrm>
          <a:prstGeom prst="rect">
            <a:avLst/>
          </a:prstGeom>
        </p:spPr>
        <p:txBody>
          <a:bodyPr wrap="square">
            <a:spAutoFit/>
          </a:bodyPr>
          <a:lstStyle/>
          <a:p>
            <a:pPr algn="ctr"/>
            <a:r>
              <a:rPr lang="en-US" b="1" dirty="0"/>
              <a:t>Scaling and Performance Considerations</a:t>
            </a:r>
          </a:p>
          <a:p>
            <a:endParaRPr lang="en-US" b="1" dirty="0"/>
          </a:p>
          <a:p>
            <a:r>
              <a:rPr lang="en-US" b="1" dirty="0"/>
              <a:t>Scaling in </a:t>
            </a:r>
            <a:r>
              <a:rPr lang="en-US" b="1" dirty="0" err="1"/>
              <a:t>Serverless</a:t>
            </a:r>
            <a:endParaRPr lang="en-US" b="1" dirty="0"/>
          </a:p>
          <a:p>
            <a:endParaRPr lang="en-US" b="1" dirty="0"/>
          </a:p>
          <a:p>
            <a:pPr lvl="0" eaLnBrk="0" fontAlgn="base" hangingPunct="0">
              <a:lnSpc>
                <a:spcPct val="150000"/>
              </a:lnSpc>
              <a:spcBef>
                <a:spcPct val="0"/>
              </a:spcBef>
              <a:spcAft>
                <a:spcPct val="0"/>
              </a:spcAft>
              <a:buFontTx/>
              <a:buChar char="•"/>
            </a:pPr>
            <a:r>
              <a:rPr lang="en-US" altLang="en-US" b="1" dirty="0">
                <a:latin typeface="Arial" panose="020B0604020202020204" pitchFamily="34" charset="0"/>
              </a:rPr>
              <a:t>Automatic Scaling</a:t>
            </a:r>
            <a:br>
              <a:rPr lang="en-US" altLang="en-US" dirty="0">
                <a:latin typeface="Arial" panose="020B0604020202020204" pitchFamily="34" charset="0"/>
              </a:rPr>
            </a:br>
            <a:r>
              <a:rPr lang="en-US" altLang="en-US" dirty="0">
                <a:latin typeface="Arial" panose="020B0604020202020204" pitchFamily="34" charset="0"/>
              </a:rPr>
              <a:t>Cloud platform automatically increases or decreases resources based on number of requests/events.</a:t>
            </a:r>
            <a:br>
              <a:rPr lang="en-US" altLang="en-US" dirty="0">
                <a:latin typeface="Arial" panose="020B0604020202020204" pitchFamily="34" charset="0"/>
              </a:rPr>
            </a:br>
            <a:r>
              <a:rPr lang="en-US" altLang="en-US" dirty="0">
                <a:latin typeface="Arial" panose="020B0604020202020204" pitchFamily="34" charset="0"/>
              </a:rPr>
              <a:t>No manual scaling required.</a:t>
            </a:r>
          </a:p>
          <a:p>
            <a:pPr lvl="0" eaLnBrk="0" fontAlgn="base" hangingPunct="0">
              <a:lnSpc>
                <a:spcPct val="150000"/>
              </a:lnSpc>
              <a:spcBef>
                <a:spcPct val="0"/>
              </a:spcBef>
              <a:spcAft>
                <a:spcPct val="0"/>
              </a:spcAft>
              <a:buFontTx/>
              <a:buChar char="•"/>
            </a:pPr>
            <a:r>
              <a:rPr lang="en-US" altLang="en-US" b="1" dirty="0">
                <a:latin typeface="Arial" panose="020B0604020202020204" pitchFamily="34" charset="0"/>
              </a:rPr>
              <a:t>Cold Start Latency</a:t>
            </a:r>
            <a:br>
              <a:rPr lang="en-US" altLang="en-US" dirty="0">
                <a:latin typeface="Arial" panose="020B0604020202020204" pitchFamily="34" charset="0"/>
              </a:rPr>
            </a:br>
            <a:r>
              <a:rPr lang="en-US" altLang="en-US" dirty="0">
                <a:latin typeface="Arial" panose="020B0604020202020204" pitchFamily="34" charset="0"/>
              </a:rPr>
              <a:t>When a function runs after being idle, it may take extra time to start.</a:t>
            </a:r>
            <a:br>
              <a:rPr lang="en-US" altLang="en-US" dirty="0">
                <a:latin typeface="Arial" panose="020B0604020202020204" pitchFamily="34" charset="0"/>
              </a:rPr>
            </a:br>
            <a:r>
              <a:rPr lang="en-US" altLang="en-US" dirty="0">
                <a:latin typeface="Arial" panose="020B0604020202020204" pitchFamily="34" charset="0"/>
              </a:rPr>
              <a:t>This causes a small delay in the first request.</a:t>
            </a:r>
          </a:p>
          <a:p>
            <a:pPr lvl="0" eaLnBrk="0" fontAlgn="base" hangingPunct="0">
              <a:lnSpc>
                <a:spcPct val="150000"/>
              </a:lnSpc>
              <a:spcBef>
                <a:spcPct val="0"/>
              </a:spcBef>
              <a:spcAft>
                <a:spcPct val="0"/>
              </a:spcAft>
              <a:buFontTx/>
              <a:buChar char="•"/>
            </a:pPr>
            <a:r>
              <a:rPr lang="en-US" altLang="en-US" b="1" dirty="0">
                <a:latin typeface="Arial" panose="020B0604020202020204" pitchFamily="34" charset="0"/>
              </a:rPr>
              <a:t>Throttling</a:t>
            </a:r>
            <a:br>
              <a:rPr lang="en-US" altLang="en-US" dirty="0">
                <a:latin typeface="Arial" panose="020B0604020202020204" pitchFamily="34" charset="0"/>
              </a:rPr>
            </a:br>
            <a:r>
              <a:rPr lang="en-US" altLang="en-US" dirty="0">
                <a:latin typeface="Arial" panose="020B0604020202020204" pitchFamily="34" charset="0"/>
              </a:rPr>
              <a:t>Cloud providers limit how many function executions can run at a time.</a:t>
            </a:r>
            <a:br>
              <a:rPr lang="en-US" altLang="en-US" dirty="0">
                <a:latin typeface="Arial" panose="020B0604020202020204" pitchFamily="34" charset="0"/>
              </a:rPr>
            </a:br>
            <a:r>
              <a:rPr lang="en-US" altLang="en-US" dirty="0">
                <a:latin typeface="Arial" panose="020B0604020202020204" pitchFamily="34" charset="0"/>
              </a:rPr>
              <a:t>If requests exceed the limit, some requests may be delayed.</a:t>
            </a:r>
          </a:p>
          <a:p>
            <a:endParaRPr lang="en-US" b="1" dirty="0"/>
          </a:p>
        </p:txBody>
      </p:sp>
    </p:spTree>
    <p:extLst>
      <p:ext uri="{BB962C8B-B14F-4D97-AF65-F5344CB8AC3E}">
        <p14:creationId xmlns:p14="http://schemas.microsoft.com/office/powerpoint/2010/main" val="3508343356"/>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8DACC02-A2BD-4578-8E03-6D891060A695}" type="slidenum">
              <a:rPr lang="en-US" smtClean="0"/>
              <a:t>136</a:t>
            </a:fld>
            <a:endParaRPr lang="en-US"/>
          </a:p>
        </p:txBody>
      </p:sp>
      <p:sp>
        <p:nvSpPr>
          <p:cNvPr id="4" name="Rectangle 3"/>
          <p:cNvSpPr/>
          <p:nvPr/>
        </p:nvSpPr>
        <p:spPr>
          <a:xfrm>
            <a:off x="540774" y="914400"/>
            <a:ext cx="9989575" cy="3831818"/>
          </a:xfrm>
          <a:prstGeom prst="rect">
            <a:avLst/>
          </a:prstGeom>
        </p:spPr>
        <p:txBody>
          <a:bodyPr wrap="square">
            <a:spAutoFit/>
          </a:bodyPr>
          <a:lstStyle/>
          <a:p>
            <a:pPr algn="ctr"/>
            <a:r>
              <a:rPr lang="en-US" b="1" dirty="0"/>
              <a:t>Performance Optimization Strategies</a:t>
            </a:r>
          </a:p>
          <a:p>
            <a:endParaRPr lang="en-US" b="1" dirty="0"/>
          </a:p>
          <a:p>
            <a:endParaRPr lang="en-US" b="1" dirty="0"/>
          </a:p>
          <a:p>
            <a:pPr>
              <a:lnSpc>
                <a:spcPct val="150000"/>
              </a:lnSpc>
              <a:buFont typeface="Arial" panose="020B0604020202020204" pitchFamily="34" charset="0"/>
              <a:buChar char="•"/>
            </a:pPr>
            <a:r>
              <a:rPr lang="en-US" b="1" dirty="0"/>
              <a:t>Optimize Function Code</a:t>
            </a:r>
            <a:br>
              <a:rPr lang="en-US" dirty="0"/>
            </a:br>
            <a:r>
              <a:rPr lang="en-US" dirty="0"/>
              <a:t>Keep functions small and efficient to reduce execution time.</a:t>
            </a:r>
          </a:p>
          <a:p>
            <a:pPr>
              <a:lnSpc>
                <a:spcPct val="150000"/>
              </a:lnSpc>
              <a:buFont typeface="Arial" panose="020B0604020202020204" pitchFamily="34" charset="0"/>
              <a:buChar char="•"/>
            </a:pPr>
            <a:r>
              <a:rPr lang="en-US" b="1" dirty="0"/>
              <a:t>Manage Dependencies</a:t>
            </a:r>
            <a:br>
              <a:rPr lang="en-US" dirty="0"/>
            </a:br>
            <a:r>
              <a:rPr lang="en-US" dirty="0"/>
              <a:t>Avoid unnecessary libraries.</a:t>
            </a:r>
            <a:br>
              <a:rPr lang="en-US" dirty="0"/>
            </a:br>
            <a:r>
              <a:rPr lang="en-US" dirty="0"/>
              <a:t>Smaller code loads faster and reduces startup time.</a:t>
            </a:r>
          </a:p>
          <a:p>
            <a:pPr>
              <a:lnSpc>
                <a:spcPct val="150000"/>
              </a:lnSpc>
              <a:buFont typeface="Arial" panose="020B0604020202020204" pitchFamily="34" charset="0"/>
              <a:buChar char="•"/>
            </a:pPr>
            <a:r>
              <a:rPr lang="en-US" b="1" dirty="0"/>
              <a:t>Persistent Connections</a:t>
            </a:r>
            <a:br>
              <a:rPr lang="en-US" dirty="0"/>
            </a:br>
            <a:r>
              <a:rPr lang="en-US" dirty="0"/>
              <a:t>Reuse database or service connections to reduce repeated connection delays.</a:t>
            </a:r>
          </a:p>
        </p:txBody>
      </p:sp>
    </p:spTree>
    <p:extLst>
      <p:ext uri="{BB962C8B-B14F-4D97-AF65-F5344CB8AC3E}">
        <p14:creationId xmlns:p14="http://schemas.microsoft.com/office/powerpoint/2010/main" val="467470283"/>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8DACC02-A2BD-4578-8E03-6D891060A695}" type="slidenum">
              <a:rPr lang="en-US" smtClean="0"/>
              <a:t>137</a:t>
            </a:fld>
            <a:endParaRPr lang="en-US"/>
          </a:p>
        </p:txBody>
      </p:sp>
      <p:sp>
        <p:nvSpPr>
          <p:cNvPr id="4" name="Rectangle 3"/>
          <p:cNvSpPr/>
          <p:nvPr/>
        </p:nvSpPr>
        <p:spPr>
          <a:xfrm>
            <a:off x="618779" y="723811"/>
            <a:ext cx="10677832" cy="5493812"/>
          </a:xfrm>
          <a:prstGeom prst="rect">
            <a:avLst/>
          </a:prstGeom>
        </p:spPr>
        <p:txBody>
          <a:bodyPr wrap="square">
            <a:spAutoFit/>
          </a:bodyPr>
          <a:lstStyle/>
          <a:p>
            <a:pPr algn="ctr"/>
            <a:r>
              <a:rPr lang="en-US" b="1" dirty="0"/>
              <a:t>Security Best Practices in </a:t>
            </a:r>
            <a:r>
              <a:rPr lang="en-US" b="1" dirty="0" err="1"/>
              <a:t>Serverless</a:t>
            </a:r>
            <a:r>
              <a:rPr lang="en-US" b="1" dirty="0"/>
              <a:t> architecture.</a:t>
            </a:r>
          </a:p>
          <a:p>
            <a:endParaRPr lang="en-US" b="1" dirty="0"/>
          </a:p>
          <a:p>
            <a:endParaRPr lang="en-US" b="1" dirty="0"/>
          </a:p>
          <a:p>
            <a:pPr>
              <a:lnSpc>
                <a:spcPct val="150000"/>
              </a:lnSpc>
              <a:buFont typeface="Arial" panose="020B0604020202020204" pitchFamily="34" charset="0"/>
              <a:buChar char="•"/>
            </a:pPr>
            <a:r>
              <a:rPr lang="en-US" b="1" dirty="0"/>
              <a:t>Least Privilege Principle (</a:t>
            </a:r>
            <a:r>
              <a:rPr lang="en-US" b="1" dirty="0" err="1"/>
              <a:t>PoLP</a:t>
            </a:r>
            <a:r>
              <a:rPr lang="en-US" b="1" dirty="0"/>
              <a:t>)</a:t>
            </a:r>
            <a:br>
              <a:rPr lang="en-US" dirty="0"/>
            </a:br>
            <a:r>
              <a:rPr lang="en-US" dirty="0"/>
              <a:t>Give each function only the permissions it really needs.</a:t>
            </a:r>
          </a:p>
          <a:p>
            <a:pPr>
              <a:lnSpc>
                <a:spcPct val="150000"/>
              </a:lnSpc>
              <a:buFont typeface="Arial" panose="020B0604020202020204" pitchFamily="34" charset="0"/>
              <a:buChar char="•"/>
            </a:pPr>
            <a:r>
              <a:rPr lang="en-US" b="1" dirty="0"/>
              <a:t>Secure Application Secrets</a:t>
            </a:r>
            <a:br>
              <a:rPr lang="en-US" dirty="0"/>
            </a:br>
            <a:r>
              <a:rPr lang="en-US" dirty="0"/>
              <a:t>Do not hard-code API keys or passwords.</a:t>
            </a:r>
            <a:br>
              <a:rPr lang="en-US" dirty="0"/>
            </a:br>
            <a:r>
              <a:rPr lang="en-US" dirty="0"/>
              <a:t>Use cloud secret managers.</a:t>
            </a:r>
          </a:p>
          <a:p>
            <a:pPr>
              <a:lnSpc>
                <a:spcPct val="150000"/>
              </a:lnSpc>
              <a:buFont typeface="Arial" panose="020B0604020202020204" pitchFamily="34" charset="0"/>
              <a:buChar char="•"/>
            </a:pPr>
            <a:r>
              <a:rPr lang="en-US" b="1" dirty="0"/>
              <a:t>Input Validation</a:t>
            </a:r>
            <a:br>
              <a:rPr lang="en-US" dirty="0"/>
            </a:br>
            <a:r>
              <a:rPr lang="en-US" dirty="0"/>
              <a:t>Validate inputs to prevent attacks like SQL injection and XSS.</a:t>
            </a:r>
          </a:p>
          <a:p>
            <a:pPr>
              <a:lnSpc>
                <a:spcPct val="150000"/>
              </a:lnSpc>
              <a:buFont typeface="Arial" panose="020B0604020202020204" pitchFamily="34" charset="0"/>
              <a:buChar char="•"/>
            </a:pPr>
            <a:r>
              <a:rPr lang="en-US" b="1" dirty="0"/>
              <a:t>Secure API Gateway</a:t>
            </a:r>
            <a:br>
              <a:rPr lang="en-US" dirty="0"/>
            </a:br>
            <a:r>
              <a:rPr lang="en-US" dirty="0"/>
              <a:t>Use authentication, rate limiting, and access control for APIs.</a:t>
            </a:r>
          </a:p>
          <a:p>
            <a:pPr>
              <a:lnSpc>
                <a:spcPct val="150000"/>
              </a:lnSpc>
              <a:buFont typeface="Arial" panose="020B0604020202020204" pitchFamily="34" charset="0"/>
              <a:buChar char="•"/>
            </a:pPr>
            <a:r>
              <a:rPr lang="en-US" b="1" dirty="0"/>
              <a:t>Encryption</a:t>
            </a:r>
            <a:br>
              <a:rPr lang="en-US" dirty="0"/>
            </a:br>
            <a:r>
              <a:rPr lang="en-US" dirty="0"/>
              <a:t>Encrypt data while sending (HTTPS) and while storing.</a:t>
            </a:r>
          </a:p>
        </p:txBody>
      </p:sp>
    </p:spTree>
    <p:extLst>
      <p:ext uri="{BB962C8B-B14F-4D97-AF65-F5344CB8AC3E}">
        <p14:creationId xmlns:p14="http://schemas.microsoft.com/office/powerpoint/2010/main" val="203447890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8DACC02-A2BD-4578-8E03-6D891060A695}" type="slidenum">
              <a:rPr lang="en-US" smtClean="0"/>
              <a:t>138</a:t>
            </a:fld>
            <a:endParaRPr lang="en-US"/>
          </a:p>
        </p:txBody>
      </p:sp>
      <p:sp>
        <p:nvSpPr>
          <p:cNvPr id="5" name="Rectangle 4"/>
          <p:cNvSpPr/>
          <p:nvPr/>
        </p:nvSpPr>
        <p:spPr>
          <a:xfrm>
            <a:off x="840658" y="1047135"/>
            <a:ext cx="9660194" cy="2723823"/>
          </a:xfrm>
          <a:prstGeom prst="rect">
            <a:avLst/>
          </a:prstGeom>
        </p:spPr>
        <p:txBody>
          <a:bodyPr wrap="square">
            <a:spAutoFit/>
          </a:bodyPr>
          <a:lstStyle/>
          <a:p>
            <a:pPr algn="ctr"/>
            <a:r>
              <a:rPr lang="en-US" b="1" dirty="0" err="1"/>
              <a:t>Serverless</a:t>
            </a:r>
            <a:r>
              <a:rPr lang="en-US" b="1" dirty="0"/>
              <a:t> Architecture – Use Cases</a:t>
            </a:r>
          </a:p>
          <a:p>
            <a:endParaRPr lang="en-US" b="1" dirty="0"/>
          </a:p>
          <a:p>
            <a:pPr>
              <a:lnSpc>
                <a:spcPct val="150000"/>
              </a:lnSpc>
            </a:pPr>
            <a:endParaRPr lang="en-US" b="1" dirty="0"/>
          </a:p>
          <a:p>
            <a:pPr>
              <a:lnSpc>
                <a:spcPct val="150000"/>
              </a:lnSpc>
              <a:buFont typeface="Arial" panose="020B0604020202020204" pitchFamily="34" charset="0"/>
              <a:buChar char="•"/>
            </a:pPr>
            <a:r>
              <a:rPr lang="en-US" dirty="0" err="1"/>
              <a:t>Chatbots</a:t>
            </a:r>
            <a:r>
              <a:rPr lang="en-US" dirty="0"/>
              <a:t> and Virtual Assistants</a:t>
            </a:r>
          </a:p>
          <a:p>
            <a:pPr>
              <a:lnSpc>
                <a:spcPct val="150000"/>
              </a:lnSpc>
              <a:buFont typeface="Arial" panose="020B0604020202020204" pitchFamily="34" charset="0"/>
              <a:buChar char="•"/>
            </a:pPr>
            <a:r>
              <a:rPr lang="en-US" dirty="0"/>
              <a:t>Real-time Data Processing and Analytics</a:t>
            </a:r>
          </a:p>
          <a:p>
            <a:pPr>
              <a:lnSpc>
                <a:spcPct val="150000"/>
              </a:lnSpc>
              <a:buFont typeface="Arial" panose="020B0604020202020204" pitchFamily="34" charset="0"/>
              <a:buChar char="•"/>
            </a:pPr>
            <a:r>
              <a:rPr lang="en-US" dirty="0"/>
              <a:t>Web and Mobile </a:t>
            </a:r>
            <a:r>
              <a:rPr lang="en-US" dirty="0" err="1"/>
              <a:t>Backends</a:t>
            </a:r>
            <a:endParaRPr lang="en-US" dirty="0"/>
          </a:p>
          <a:p>
            <a:pPr>
              <a:lnSpc>
                <a:spcPct val="150000"/>
              </a:lnSpc>
              <a:buFont typeface="Arial" panose="020B0604020202020204" pitchFamily="34" charset="0"/>
              <a:buChar char="•"/>
            </a:pPr>
            <a:r>
              <a:rPr lang="en-US" dirty="0"/>
              <a:t>Scheduled Tasks / </a:t>
            </a:r>
            <a:r>
              <a:rPr lang="en-US" dirty="0" err="1"/>
              <a:t>Cron</a:t>
            </a:r>
            <a:r>
              <a:rPr lang="en-US" dirty="0"/>
              <a:t> Jobs</a:t>
            </a:r>
          </a:p>
        </p:txBody>
      </p:sp>
    </p:spTree>
    <p:extLst>
      <p:ext uri="{BB962C8B-B14F-4D97-AF65-F5344CB8AC3E}">
        <p14:creationId xmlns:p14="http://schemas.microsoft.com/office/powerpoint/2010/main" val="2080526278"/>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8DACC02-A2BD-4578-8E03-6D891060A695}" type="slidenum">
              <a:rPr lang="en-US" smtClean="0"/>
              <a:t>139</a:t>
            </a:fld>
            <a:endParaRPr lang="en-US"/>
          </a:p>
        </p:txBody>
      </p:sp>
      <p:sp>
        <p:nvSpPr>
          <p:cNvPr id="3" name="Rectangle 2"/>
          <p:cNvSpPr/>
          <p:nvPr/>
        </p:nvSpPr>
        <p:spPr>
          <a:xfrm>
            <a:off x="811161" y="811161"/>
            <a:ext cx="8332839" cy="5078313"/>
          </a:xfrm>
          <a:prstGeom prst="rect">
            <a:avLst/>
          </a:prstGeom>
        </p:spPr>
        <p:txBody>
          <a:bodyPr wrap="square">
            <a:spAutoFit/>
          </a:bodyPr>
          <a:lstStyle/>
          <a:p>
            <a:pPr algn="ctr"/>
            <a:r>
              <a:rPr lang="en-US" b="1" dirty="0"/>
              <a:t>Challenges of </a:t>
            </a:r>
            <a:r>
              <a:rPr lang="en-US" b="1" dirty="0" err="1"/>
              <a:t>Serverless</a:t>
            </a:r>
            <a:r>
              <a:rPr lang="en-US" b="1" dirty="0"/>
              <a:t> Architecture</a:t>
            </a:r>
          </a:p>
          <a:p>
            <a:endParaRPr lang="en-US" b="1" dirty="0"/>
          </a:p>
          <a:p>
            <a:endParaRPr lang="en-US" b="1" dirty="0"/>
          </a:p>
          <a:p>
            <a:pPr>
              <a:lnSpc>
                <a:spcPct val="150000"/>
              </a:lnSpc>
              <a:buFont typeface="Arial" panose="020B0604020202020204" pitchFamily="34" charset="0"/>
              <a:buChar char="•"/>
            </a:pPr>
            <a:r>
              <a:rPr lang="en-US" b="1" dirty="0"/>
              <a:t>Cold Start Delay</a:t>
            </a:r>
            <a:br>
              <a:rPr lang="en-US" dirty="0"/>
            </a:br>
            <a:r>
              <a:rPr lang="en-US" dirty="0"/>
              <a:t>First request may be slow after inactivity.</a:t>
            </a:r>
          </a:p>
          <a:p>
            <a:pPr>
              <a:lnSpc>
                <a:spcPct val="150000"/>
              </a:lnSpc>
              <a:buFont typeface="Arial" panose="020B0604020202020204" pitchFamily="34" charset="0"/>
              <a:buChar char="•"/>
            </a:pPr>
            <a:r>
              <a:rPr lang="en-US" b="1" dirty="0"/>
              <a:t>Limited Execution Environment</a:t>
            </a:r>
            <a:br>
              <a:rPr lang="en-US" dirty="0"/>
            </a:br>
            <a:r>
              <a:rPr lang="en-US" dirty="0"/>
              <a:t>Limits on memory, execution time, and language support.</a:t>
            </a:r>
          </a:p>
          <a:p>
            <a:pPr>
              <a:lnSpc>
                <a:spcPct val="150000"/>
              </a:lnSpc>
              <a:buFont typeface="Arial" panose="020B0604020202020204" pitchFamily="34" charset="0"/>
              <a:buChar char="•"/>
            </a:pPr>
            <a:r>
              <a:rPr lang="en-US" b="1" dirty="0"/>
              <a:t>Debugging and Monitoring Difficulty</a:t>
            </a:r>
            <a:br>
              <a:rPr lang="en-US" dirty="0"/>
            </a:br>
            <a:r>
              <a:rPr lang="en-US" dirty="0"/>
              <a:t>Harder to trace errors across many small functions.</a:t>
            </a:r>
          </a:p>
          <a:p>
            <a:pPr>
              <a:lnSpc>
                <a:spcPct val="150000"/>
              </a:lnSpc>
              <a:buFont typeface="Arial" panose="020B0604020202020204" pitchFamily="34" charset="0"/>
              <a:buChar char="•"/>
            </a:pPr>
            <a:r>
              <a:rPr lang="en-US" b="1" dirty="0"/>
              <a:t>State Management Complexity</a:t>
            </a:r>
            <a:br>
              <a:rPr lang="en-US" dirty="0"/>
            </a:br>
            <a:r>
              <a:rPr lang="en-US" dirty="0"/>
              <a:t>Functions are stateless; state must be stored externally.</a:t>
            </a:r>
          </a:p>
          <a:p>
            <a:pPr>
              <a:lnSpc>
                <a:spcPct val="150000"/>
              </a:lnSpc>
              <a:buFont typeface="Arial" panose="020B0604020202020204" pitchFamily="34" charset="0"/>
              <a:buChar char="•"/>
            </a:pPr>
            <a:r>
              <a:rPr lang="en-US" b="1" dirty="0"/>
              <a:t>Security and Compliance Challenges</a:t>
            </a:r>
            <a:br>
              <a:rPr lang="en-US" dirty="0"/>
            </a:br>
            <a:r>
              <a:rPr lang="en-US" dirty="0"/>
              <a:t>More effort needed to manage security and regulatory requirements.</a:t>
            </a:r>
          </a:p>
        </p:txBody>
      </p:sp>
    </p:spTree>
    <p:extLst>
      <p:ext uri="{BB962C8B-B14F-4D97-AF65-F5344CB8AC3E}">
        <p14:creationId xmlns:p14="http://schemas.microsoft.com/office/powerpoint/2010/main" val="2786416268"/>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8DACC02-A2BD-4578-8E03-6D891060A695}" type="slidenum">
              <a:rPr lang="en-US" smtClean="0"/>
              <a:t>140</a:t>
            </a:fld>
            <a:endParaRPr lang="en-US"/>
          </a:p>
        </p:txBody>
      </p:sp>
      <p:sp>
        <p:nvSpPr>
          <p:cNvPr id="3" name="TextBox 2"/>
          <p:cNvSpPr txBox="1"/>
          <p:nvPr/>
        </p:nvSpPr>
        <p:spPr>
          <a:xfrm>
            <a:off x="2448232" y="2654710"/>
            <a:ext cx="6725264" cy="461665"/>
          </a:xfrm>
          <a:prstGeom prst="rect">
            <a:avLst/>
          </a:prstGeom>
          <a:noFill/>
        </p:spPr>
        <p:txBody>
          <a:bodyPr wrap="square" rtlCol="0">
            <a:spAutoFit/>
          </a:bodyPr>
          <a:lstStyle/>
          <a:p>
            <a:pPr algn="ctr"/>
            <a:r>
              <a:rPr lang="en-US" sz="2400" b="1" dirty="0"/>
              <a:t>END OF UNIT-3</a:t>
            </a:r>
            <a:endParaRPr lang="en-IN" sz="2400" b="1" dirty="0"/>
          </a:p>
        </p:txBody>
      </p:sp>
    </p:spTree>
    <p:extLst>
      <p:ext uri="{BB962C8B-B14F-4D97-AF65-F5344CB8AC3E}">
        <p14:creationId xmlns:p14="http://schemas.microsoft.com/office/powerpoint/2010/main" val="1990797786"/>
      </p:ext>
    </p:extLst>
  </p:cSld>
  <p:clrMapOvr>
    <a:masterClrMapping/>
  </p:clrMapOvr>
</p:sld>
</file>

<file path=ppt/theme/theme1.xml><?xml version="1.0" encoding="utf-8"?>
<a:theme xmlns:a="http://schemas.openxmlformats.org/drawingml/2006/main" name="Theme 1 White">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Cybersecurity MODULE 1</Template>
  <TotalTime>3641</TotalTime>
  <Words>10302</Words>
  <Application>Microsoft Office PowerPoint</Application>
  <PresentationFormat>Widescreen</PresentationFormat>
  <Paragraphs>1074</Paragraphs>
  <Slides>140</Slides>
  <Notes>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140</vt:i4>
      </vt:variant>
    </vt:vector>
  </HeadingPairs>
  <TitlesOfParts>
    <vt:vector size="150" baseType="lpstr">
      <vt:lpstr>Arial</vt:lpstr>
      <vt:lpstr>Arial MT</vt:lpstr>
      <vt:lpstr>Calibri</vt:lpstr>
      <vt:lpstr>Cambria Math</vt:lpstr>
      <vt:lpstr>Candara</vt:lpstr>
      <vt:lpstr>Google Sans</vt:lpstr>
      <vt:lpstr>Google Sans Text</vt:lpstr>
      <vt:lpstr>Source Sans 3</vt:lpstr>
      <vt:lpstr>Wingdings</vt:lpstr>
      <vt:lpstr>Theme 1 White</vt:lpstr>
      <vt:lpstr>Advanced Software Engineering Concepts</vt:lpstr>
      <vt:lpstr>Software Engineering Paradigms</vt:lpstr>
      <vt:lpstr>PowerPoint Presentation</vt:lpstr>
      <vt:lpstr>PowerPoint Presentation</vt:lpstr>
      <vt:lpstr>Software Development Models (Process Flows/SDLCs)</vt:lpstr>
      <vt:lpstr>Waterfall Life Cycle Model.</vt:lpstr>
      <vt:lpstr>PowerPoint Presentation</vt:lpstr>
      <vt:lpstr>PowerPoint Presentation</vt:lpstr>
      <vt:lpstr>Phases of the Classical Waterfall Model:</vt:lpstr>
      <vt:lpstr>Feasibility Study:</vt:lpstr>
      <vt:lpstr>Design:</vt:lpstr>
      <vt:lpstr>Maintenance:</vt:lpstr>
      <vt:lpstr>PowerPoint Presentation</vt:lpstr>
      <vt:lpstr>Prototype Model:</vt:lpstr>
      <vt:lpstr>Advantages:</vt:lpstr>
      <vt:lpstr>RAD Model:</vt:lpstr>
      <vt:lpstr>PowerPoint Presentation</vt:lpstr>
      <vt:lpstr>PowerPoint Presentation</vt:lpstr>
      <vt:lpstr>Contents of RAD Pakages:</vt:lpstr>
      <vt:lpstr>PowerPoint Presentation</vt:lpstr>
      <vt:lpstr>Sprial Model :</vt:lpstr>
      <vt:lpstr>Quadrants in sprial model :</vt:lpstr>
      <vt:lpstr>Why Use the Spiral Model?  </vt:lpstr>
      <vt:lpstr>Advantages :</vt:lpstr>
      <vt:lpstr>Win-Win Spiral Model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Why Devops?</vt:lpstr>
      <vt:lpstr>Why Devops?</vt:lpstr>
      <vt:lpstr>Why Devops?</vt:lpstr>
      <vt:lpstr>Why Devops?</vt:lpstr>
      <vt:lpstr>PowerPoint Presentation</vt:lpstr>
      <vt:lpstr>PowerPoint Presentation</vt:lpstr>
      <vt:lpstr>PowerPoint Presentation</vt:lpstr>
      <vt:lpstr>PowerPoint Presentation</vt:lpstr>
      <vt:lpstr>Continuous Development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Continuous Integration</vt:lpstr>
      <vt:lpstr>PowerPoint Presentation</vt:lpstr>
      <vt:lpstr>How CI Works — Step by Step  </vt:lpstr>
      <vt:lpstr>Benefits of Frequent Integration </vt:lpstr>
      <vt:lpstr>Automated Build &amp; Packaging</vt:lpstr>
      <vt:lpstr>Automated Testing </vt:lpstr>
      <vt:lpstr>PowerPoint Presentation</vt:lpstr>
      <vt:lpstr>Continuous Testing</vt:lpstr>
      <vt:lpstr>PowerPoint Presentation</vt:lpstr>
      <vt:lpstr>PowerPoint Presentation</vt:lpstr>
      <vt:lpstr>PowerPoint Presentation</vt:lpstr>
      <vt:lpstr>PowerPoint Presentation</vt:lpstr>
      <vt:lpstr>PowerPoint Presentation</vt:lpstr>
      <vt:lpstr>PowerPoint Presentation</vt:lpstr>
      <vt:lpstr>Continuous Deployment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Continuous Monitoring</vt:lpstr>
      <vt:lpstr>PowerPoint Presentation</vt:lpstr>
      <vt:lpstr>PowerPoint Presentation</vt:lpstr>
      <vt:lpstr>PowerPoint Presentation</vt:lpstr>
      <vt:lpstr>PowerPoint Presentation</vt:lpstr>
      <vt:lpstr>PowerPoint Presentation</vt:lpstr>
      <vt:lpstr>Continuous Feedback</vt:lpstr>
      <vt:lpstr>PowerPoint Presentation</vt:lpstr>
      <vt:lpstr>Continuous Operations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Software Architecture</vt:lpstr>
      <vt:lpstr>Understanding Software Architecture</vt:lpstr>
      <vt:lpstr>Why is Software Architecture Important?</vt:lpstr>
      <vt:lpstr>Key Concepts in Software Architecture</vt:lpstr>
      <vt:lpstr>Key Concepts in Software Architecture</vt:lpstr>
      <vt:lpstr>Key Concepts in Software Architecture</vt:lpstr>
      <vt:lpstr>Key Concepts in Software Architecture</vt:lpstr>
      <vt:lpstr>PowerPoint Presentation</vt:lpstr>
      <vt:lpstr>Architectural Design Decisions</vt:lpstr>
      <vt:lpstr>Common Architectural Styles</vt:lpstr>
      <vt:lpstr>Common Architectural Styles (Contd.)</vt:lpstr>
      <vt:lpstr>Common Architectural Styles (Contd.)</vt:lpstr>
      <vt:lpstr>Common Architectural Styles (Contd.)</vt:lpstr>
      <vt:lpstr>Common Architectural Styles (Contd.)</vt:lpstr>
      <vt:lpstr>Importance of Modularity</vt:lpstr>
      <vt:lpstr>Software architecture characteristics </vt:lpstr>
      <vt:lpstr>Software Design</vt:lpstr>
      <vt:lpstr>Understanding Software Design</vt:lpstr>
      <vt:lpstr>Understanding Software Design</vt:lpstr>
      <vt:lpstr>Design Principles</vt:lpstr>
      <vt:lpstr>Design Patterns</vt:lpstr>
      <vt:lpstr>Desirable Characteristics of a Design</vt:lpstr>
      <vt:lpstr>Desirable Characteristics of a Design (Contd.)</vt:lpstr>
      <vt:lpstr>Desirable Characteristics of a Design (Contd.)</vt:lpstr>
      <vt:lpstr>Desirable Characteristics of a Design (Contd.)</vt:lpstr>
      <vt:lpstr>Difference between Architecture and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Mamdouh Alenezi</dc:creator>
  <cp:lastModifiedBy>Premitha Kamath</cp:lastModifiedBy>
  <cp:revision>283</cp:revision>
  <cp:lastPrinted>2021-10-18T07:27:50Z</cp:lastPrinted>
  <dcterms:created xsi:type="dcterms:W3CDTF">2021-10-12T10:09:12Z</dcterms:created>
  <dcterms:modified xsi:type="dcterms:W3CDTF">2026-04-17T04:59:06Z</dcterms:modified>
</cp:coreProperties>
</file>