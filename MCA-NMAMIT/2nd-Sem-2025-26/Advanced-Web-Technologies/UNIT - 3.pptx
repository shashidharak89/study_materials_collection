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6"/>
  </p:notesMasterIdLst>
  <p:handoutMasterIdLst>
    <p:handoutMasterId r:id="rId97"/>
  </p:handoutMasterIdLst>
  <p:sldIdLst>
    <p:sldId id="375" r:id="rId2"/>
    <p:sldId id="376" r:id="rId3"/>
    <p:sldId id="270" r:id="rId4"/>
    <p:sldId id="377" r:id="rId5"/>
    <p:sldId id="272"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78" r:id="rId62"/>
    <p:sldId id="379" r:id="rId63"/>
    <p:sldId id="380" r:id="rId64"/>
    <p:sldId id="381" r:id="rId65"/>
    <p:sldId id="382" r:id="rId66"/>
    <p:sldId id="383" r:id="rId67"/>
    <p:sldId id="384" r:id="rId68"/>
    <p:sldId id="385" r:id="rId69"/>
    <p:sldId id="386" r:id="rId70"/>
    <p:sldId id="387" r:id="rId71"/>
    <p:sldId id="388" r:id="rId72"/>
    <p:sldId id="389" r:id="rId73"/>
    <p:sldId id="390" r:id="rId74"/>
    <p:sldId id="391" r:id="rId75"/>
    <p:sldId id="392" r:id="rId76"/>
    <p:sldId id="393" r:id="rId77"/>
    <p:sldId id="394" r:id="rId78"/>
    <p:sldId id="395" r:id="rId79"/>
    <p:sldId id="396" r:id="rId80"/>
    <p:sldId id="397" r:id="rId81"/>
    <p:sldId id="398" r:id="rId82"/>
    <p:sldId id="399" r:id="rId83"/>
    <p:sldId id="400" r:id="rId84"/>
    <p:sldId id="401" r:id="rId85"/>
    <p:sldId id="402" r:id="rId86"/>
    <p:sldId id="403" r:id="rId87"/>
    <p:sldId id="404" r:id="rId88"/>
    <p:sldId id="405" r:id="rId89"/>
    <p:sldId id="406" r:id="rId90"/>
    <p:sldId id="407" r:id="rId91"/>
    <p:sldId id="408" r:id="rId92"/>
    <p:sldId id="409" r:id="rId93"/>
    <p:sldId id="410" r:id="rId94"/>
    <p:sldId id="411"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69" d="100"/>
          <a:sy n="69" d="100"/>
        </p:scale>
        <p:origin x="564" y="3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6" d="100"/>
          <a:sy n="76" d="100"/>
        </p:scale>
        <p:origin x="2412"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58A34-83F4-4B2E-BC5A-DE51EE8822F9}" type="datetimeFigureOut">
              <a:rPr lang="en-US" smtClean="0"/>
              <a:t>4/9/2026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8FE58C-C1A6-4C4C-90C2-B7F5B0504B2D}" type="slidenum">
              <a:rPr lang="en-US" smtClean="0"/>
              <a:t>‹#›</a:t>
            </a:fld>
            <a:endParaRPr lang="en-US"/>
          </a:p>
        </p:txBody>
      </p:sp>
    </p:spTree>
    <p:extLst>
      <p:ext uri="{BB962C8B-B14F-4D97-AF65-F5344CB8AC3E}">
        <p14:creationId xmlns:p14="http://schemas.microsoft.com/office/powerpoint/2010/main" val="40346050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2E1917-0BAF-4687-978A-82FFF05559C3}"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0E1E9A-E921-4174-A0FC-51868D7AC568}" type="slidenum">
              <a:rPr lang="en-US" smtClean="0"/>
              <a:t>‹#›</a:t>
            </a:fld>
            <a:endParaRPr lang="en-US"/>
          </a:p>
        </p:txBody>
      </p:sp>
    </p:spTree>
    <p:extLst>
      <p:ext uri="{BB962C8B-B14F-4D97-AF65-F5344CB8AC3E}">
        <p14:creationId xmlns:p14="http://schemas.microsoft.com/office/powerpoint/2010/main" val="373786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041400"/>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accent3">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4/9/2026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646705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EAB7D7-3608-4730-B2E2-670834DF882C}" type="datetimeFigureOut">
              <a:rPr lang="en-US" smtClean="0"/>
              <a:t>4/9/2026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198793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1658" y="1709738"/>
            <a:ext cx="10105791" cy="2862262"/>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1241658" y="4589463"/>
            <a:ext cx="10105791"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4EAB7D7-3608-4730-B2E2-670834DF882C}" type="datetimeFigureOut">
              <a:rPr lang="en-US" smtClean="0"/>
              <a:t>4/9/2026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4067686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569700" y="1825625"/>
            <a:ext cx="475488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5325" y="1825625"/>
            <a:ext cx="475488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4EAB7D7-3608-4730-B2E2-670834DF882C}" type="datetimeFigureOut">
              <a:rPr lang="en-US" smtClean="0"/>
              <a:t>4/9/2026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063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24100" y="274638"/>
            <a:ext cx="9023350" cy="11430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1562100" y="1489075"/>
            <a:ext cx="4754880" cy="641350"/>
          </a:xfrm>
          <a:noFill/>
          <a:ln>
            <a:noFill/>
          </a:ln>
        </p:spPr>
        <p:txBody>
          <a:bodyPr anchor="b"/>
          <a:lstStyle>
            <a:lvl1pPr marL="0" indent="0">
              <a:buNone/>
              <a:defRPr sz="2400" b="0">
                <a:solidFill>
                  <a:schemeClr val="accent3">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2100" y="2193925"/>
            <a:ext cx="4754880"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598920" y="1489075"/>
            <a:ext cx="4754880" cy="641350"/>
          </a:xfrm>
          <a:noFill/>
          <a:ln>
            <a:noFill/>
          </a:ln>
        </p:spPr>
        <p:txBody>
          <a:bodyPr anchor="b"/>
          <a:lstStyle>
            <a:lvl1pPr marL="0" indent="0">
              <a:buNone/>
              <a:defRPr sz="2400" b="0">
                <a:solidFill>
                  <a:schemeClr val="accent3">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98920" y="2193925"/>
            <a:ext cx="4754880" cy="3978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4EAB7D7-3608-4730-B2E2-670834DF882C}" type="datetimeFigureOut">
              <a:rPr lang="en-US" smtClean="0"/>
              <a:t>4/9/2026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23166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EAB7D7-3608-4730-B2E2-670834DF882C}" type="datetimeFigureOut">
              <a:rPr lang="en-US" smtClean="0"/>
              <a:t>4/9/2026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51058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EAB7D7-3608-4730-B2E2-670834DF882C}" type="datetimeFigureOut">
              <a:rPr lang="en-US" smtClean="0"/>
              <a:t>4/9/2026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21514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2100"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678905" y="987425"/>
            <a:ext cx="567648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4/9/2026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198712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9" name="Title 1"/>
          <p:cNvSpPr>
            <a:spLocks noGrp="1"/>
          </p:cNvSpPr>
          <p:nvPr>
            <p:ph type="title"/>
          </p:nvPr>
        </p:nvSpPr>
        <p:spPr>
          <a:xfrm>
            <a:off x="1562100" y="457200"/>
            <a:ext cx="3932237" cy="1600200"/>
          </a:xfrm>
        </p:spPr>
        <p:txBody>
          <a:bodyPr anchor="b"/>
          <a:lstStyle>
            <a:lvl1pPr>
              <a:defRPr sz="3200"/>
            </a:lvl1pPr>
          </a:lstStyle>
          <a:p>
            <a:r>
              <a:rPr lang="en-US" smtClean="0"/>
              <a:t>Click to edit Master title style</a:t>
            </a: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5678904" y="987425"/>
            <a:ext cx="567842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4/9/2026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1619359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562100" y="1825625"/>
            <a:ext cx="9791700" cy="43513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EAB7D7-3608-4730-B2E2-670834DF882C}" type="datetimeFigureOut">
              <a:rPr lang="en-US" smtClean="0"/>
              <a:t>4/9/2026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2821885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1562100" y="365125"/>
            <a:ext cx="70104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4EAB7D7-3608-4730-B2E2-670834DF882C}" type="datetimeFigureOut">
              <a:rPr lang="en-US" smtClean="0"/>
              <a:t>4/9/2026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388830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9" name="Title 1"/>
          <p:cNvSpPr>
            <a:spLocks noGrp="1"/>
          </p:cNvSpPr>
          <p:nvPr>
            <p:ph type="title"/>
          </p:nvPr>
        </p:nvSpPr>
        <p:spPr>
          <a:xfrm>
            <a:off x="1562100" y="457200"/>
            <a:ext cx="3932237" cy="1600200"/>
          </a:xfrm>
        </p:spPr>
        <p:txBody>
          <a:bodyPr anchor="b"/>
          <a:lstStyle>
            <a:lvl1pPr>
              <a:defRPr sz="3200"/>
            </a:lvl1pPr>
          </a:lstStyle>
          <a:p>
            <a:r>
              <a:rPr lang="en-US" smtClean="0"/>
              <a:t>Click to edit Master title style</a:t>
            </a:r>
            <a:endParaRPr lang="en-US"/>
          </a:p>
        </p:txBody>
      </p:sp>
      <p:sp>
        <p:nvSpPr>
          <p:cNvPr id="3" name="Picture Placeholder 2" descr="An empty placeholder to add an image. Click on the placeholder and select the image that you wish to add"/>
          <p:cNvSpPr>
            <a:spLocks noGrp="1"/>
          </p:cNvSpPr>
          <p:nvPr>
            <p:ph type="pic" idx="1"/>
          </p:nvPr>
        </p:nvSpPr>
        <p:spPr>
          <a:xfrm>
            <a:off x="5678904" y="987425"/>
            <a:ext cx="5678424"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Text Placeholder 3"/>
          <p:cNvSpPr>
            <a:spLocks noGrp="1"/>
          </p:cNvSpPr>
          <p:nvPr>
            <p:ph type="body" sz="half" idx="2"/>
          </p:nvPr>
        </p:nvSpPr>
        <p:spPr>
          <a:xfrm>
            <a:off x="1562100"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4EAB7D7-3608-4730-B2E2-670834DF882C}" type="datetimeFigureOut">
              <a:rPr lang="en-US" smtClean="0"/>
              <a:t>4/9/2026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71B7BAC7-FE87-40F6-AA24-4F4685D1B022}" type="slidenum">
              <a:rPr lang="en-US" smtClean="0"/>
              <a:t>‹#›</a:t>
            </a:fld>
            <a:endParaRPr lang="en-US"/>
          </a:p>
        </p:txBody>
      </p:sp>
    </p:spTree>
    <p:extLst>
      <p:ext uri="{BB962C8B-B14F-4D97-AF65-F5344CB8AC3E}">
        <p14:creationId xmlns:p14="http://schemas.microsoft.com/office/powerpoint/2010/main" val="3413888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24100" y="365125"/>
            <a:ext cx="9029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2100" y="1825625"/>
            <a:ext cx="9791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562100" y="6356350"/>
            <a:ext cx="2552700" cy="365125"/>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84EAB7D7-3608-4730-B2E2-670834DF882C}" type="datetimeFigureOut">
              <a:rPr lang="en-US" smtClean="0"/>
              <a:pPr/>
              <a:t>4/9/2026</a:t>
            </a:fld>
            <a:endParaRPr lang="en-US"/>
          </a:p>
        </p:txBody>
      </p:sp>
      <p:sp>
        <p:nvSpPr>
          <p:cNvPr id="5" name="Footer Placeholder 4"/>
          <p:cNvSpPr>
            <a:spLocks noGrp="1"/>
          </p:cNvSpPr>
          <p:nvPr>
            <p:ph type="ftr" sz="quarter" idx="3"/>
          </p:nvPr>
        </p:nvSpPr>
        <p:spPr>
          <a:xfrm>
            <a:off x="4648200" y="6356350"/>
            <a:ext cx="2895600" cy="365125"/>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8077200" y="6356350"/>
            <a:ext cx="3276600" cy="365125"/>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B7BAC7-FE87-40F6-AA24-4F4685D1B022}" type="slidenum">
              <a:rPr lang="en-US" smtClean="0"/>
              <a:pPr/>
              <a:t>‹#›</a:t>
            </a:fld>
            <a:endParaRPr lang="en-US"/>
          </a:p>
        </p:txBody>
      </p:sp>
    </p:spTree>
    <p:extLst>
      <p:ext uri="{BB962C8B-B14F-4D97-AF65-F5344CB8AC3E}">
        <p14:creationId xmlns:p14="http://schemas.microsoft.com/office/powerpoint/2010/main" val="321936725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8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4400"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pos="1464" userDrawn="1">
          <p15:clr>
            <a:srgbClr val="F26B43"/>
          </p15:clr>
        </p15:guide>
        <p15:guide id="3" pos="7152" userDrawn="1">
          <p15:clr>
            <a:srgbClr val="F26B43"/>
          </p15:clr>
        </p15:guide>
        <p15:guide id="4" pos="984" userDrawn="1">
          <p15:clr>
            <a:srgbClr val="F26B43"/>
          </p15:clr>
        </p15:guide>
        <p15:guide id="5"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3964" y="-157018"/>
            <a:ext cx="10575636" cy="5190837"/>
          </a:xfrm>
        </p:spPr>
        <p:txBody>
          <a:bodyPr>
            <a:normAutofit fontScale="90000"/>
          </a:bodyPr>
          <a:lstStyle/>
          <a:p>
            <a:r>
              <a:rPr lang="en-US" sz="7200" dirty="0" smtClean="0"/>
              <a:t/>
            </a:r>
            <a:br>
              <a:rPr lang="en-US" sz="7200" dirty="0" smtClean="0"/>
            </a:br>
            <a:r>
              <a:rPr lang="en-US" sz="7200" dirty="0"/>
              <a:t/>
            </a:r>
            <a:br>
              <a:rPr lang="en-US" sz="7200" dirty="0"/>
            </a:br>
            <a:r>
              <a:rPr lang="en-US" sz="7200" dirty="0" smtClean="0"/>
              <a:t/>
            </a:r>
            <a:br>
              <a:rPr lang="en-US" sz="7200" dirty="0" smtClean="0"/>
            </a:br>
            <a:r>
              <a:rPr lang="en-US" sz="7200" dirty="0"/>
              <a:t/>
            </a:r>
            <a:br>
              <a:rPr lang="en-US" sz="7200" dirty="0"/>
            </a:br>
            <a:r>
              <a:rPr lang="en-US" sz="7200" dirty="0" smtClean="0"/>
              <a:t/>
            </a:r>
            <a:br>
              <a:rPr lang="en-US" sz="7200" dirty="0" smtClean="0"/>
            </a:br>
            <a:r>
              <a:rPr lang="en-IN" sz="5300" dirty="0" smtClean="0"/>
              <a:t>ADVANCED </a:t>
            </a:r>
            <a:r>
              <a:rPr lang="en-IN" sz="5300" dirty="0"/>
              <a:t>WEB </a:t>
            </a:r>
            <a:r>
              <a:rPr lang="en-IN" sz="5300" dirty="0" smtClean="0"/>
              <a:t>TECHNOLOGIES</a:t>
            </a:r>
            <a:br>
              <a:rPr lang="en-IN" sz="5300" dirty="0" smtClean="0"/>
            </a:br>
            <a:r>
              <a:rPr lang="en-US" sz="5300" dirty="0"/>
              <a:t/>
            </a:r>
            <a:br>
              <a:rPr lang="en-US" sz="5300" dirty="0"/>
            </a:br>
            <a:r>
              <a:rPr lang="en-US" sz="4900" dirty="0" smtClean="0"/>
              <a:t>UNIT – III</a:t>
            </a:r>
            <a:br>
              <a:rPr lang="en-US" sz="4900" dirty="0" smtClean="0"/>
            </a:br>
            <a:endParaRPr lang="en-US" sz="4900" dirty="0"/>
          </a:p>
        </p:txBody>
      </p:sp>
      <p:sp>
        <p:nvSpPr>
          <p:cNvPr id="3" name="Subtitle 2"/>
          <p:cNvSpPr>
            <a:spLocks noGrp="1"/>
          </p:cNvSpPr>
          <p:nvPr>
            <p:ph type="subTitle" idx="1"/>
          </p:nvPr>
        </p:nvSpPr>
        <p:spPr>
          <a:xfrm>
            <a:off x="4488873" y="4904508"/>
            <a:ext cx="9374909" cy="3084945"/>
          </a:xfrm>
        </p:spPr>
        <p:txBody>
          <a:bodyPr/>
          <a:lstStyle/>
          <a:p>
            <a:r>
              <a:rPr lang="en-US" dirty="0" smtClean="0"/>
              <a:t/>
            </a:r>
            <a:br>
              <a:rPr lang="en-US" dirty="0" smtClean="0"/>
            </a:br>
            <a:r>
              <a:rPr lang="en-US" sz="2800" b="1" dirty="0" smtClean="0"/>
              <a:t>Shreya J Shetty</a:t>
            </a:r>
          </a:p>
          <a:p>
            <a:r>
              <a:rPr lang="en-US" sz="2800" b="1" dirty="0" smtClean="0"/>
              <a:t>                   Assistant Professor </a:t>
            </a:r>
            <a:r>
              <a:rPr lang="en-US" sz="2800" b="1" dirty="0" err="1" smtClean="0"/>
              <a:t>Gd</a:t>
            </a:r>
            <a:r>
              <a:rPr lang="en-US" sz="2800" b="1" dirty="0" smtClean="0"/>
              <a:t> – </a:t>
            </a:r>
            <a:r>
              <a:rPr lang="en-US" sz="2800" b="1" dirty="0" smtClean="0"/>
              <a:t>I</a:t>
            </a:r>
            <a:endParaRPr lang="en-US" sz="2800" b="1" dirty="0" smtClean="0"/>
          </a:p>
          <a:p>
            <a:r>
              <a:rPr lang="en-US" sz="2800" b="1" dirty="0" smtClean="0"/>
              <a:t>         Department of MCA</a:t>
            </a:r>
            <a:endParaRPr lang="en-US" sz="2800" b="1" dirty="0"/>
          </a:p>
        </p:txBody>
      </p:sp>
    </p:spTree>
    <p:extLst>
      <p:ext uri="{BB962C8B-B14F-4D97-AF65-F5344CB8AC3E}">
        <p14:creationId xmlns:p14="http://schemas.microsoft.com/office/powerpoint/2010/main" val="956430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Origins</a:t>
            </a:r>
          </a:p>
        </p:txBody>
      </p:sp>
      <p:sp>
        <p:nvSpPr>
          <p:cNvPr id="3" name="Content Placeholder 2"/>
          <p:cNvSpPr>
            <a:spLocks noGrp="1"/>
          </p:cNvSpPr>
          <p:nvPr>
            <p:ph idx="1"/>
          </p:nvPr>
        </p:nvSpPr>
        <p:spPr/>
        <p:txBody>
          <a:bodyPr>
            <a:normAutofit fontScale="92500" lnSpcReduction="20000"/>
          </a:bodyPr>
          <a:lstStyle/>
          <a:p>
            <a:r>
              <a:rPr lang="en-US" dirty="0"/>
              <a:t>JavaScript was developed by Brendan </a:t>
            </a:r>
            <a:r>
              <a:rPr lang="en-US" dirty="0" err="1"/>
              <a:t>Eich</a:t>
            </a:r>
            <a:r>
              <a:rPr lang="en-US" dirty="0"/>
              <a:t> at Netscape.</a:t>
            </a:r>
          </a:p>
          <a:p>
            <a:r>
              <a:rPr lang="en-US" dirty="0"/>
              <a:t>It was initially called Mocha, then renamed </a:t>
            </a:r>
            <a:r>
              <a:rPr lang="en-US" dirty="0" err="1"/>
              <a:t>LiveScript</a:t>
            </a:r>
            <a:r>
              <a:rPr lang="en-US" dirty="0"/>
              <a:t>, and finally JavaScript in 1995.</a:t>
            </a:r>
          </a:p>
          <a:p>
            <a:r>
              <a:rPr lang="en-US" dirty="0"/>
              <a:t>JavaScript was standardized by ECMA International as ECMA-262.</a:t>
            </a:r>
          </a:p>
          <a:p>
            <a:r>
              <a:rPr lang="en-US" dirty="0"/>
              <a:t>It was also approved by International Organization for Standardization as ISO-16262.</a:t>
            </a:r>
          </a:p>
          <a:p>
            <a:r>
              <a:rPr lang="en-US" dirty="0"/>
              <a:t>The official name of the standard language is </a:t>
            </a:r>
            <a:r>
              <a:rPr lang="en-US" dirty="0" err="1"/>
              <a:t>ECMAScript</a:t>
            </a:r>
            <a:r>
              <a:rPr lang="en-US" dirty="0"/>
              <a:t>.</a:t>
            </a:r>
          </a:p>
          <a:p>
            <a:r>
              <a:rPr lang="en-US" dirty="0"/>
              <a:t>Microsoft developed its own version called </a:t>
            </a:r>
            <a:r>
              <a:rPr lang="en-US" dirty="0" err="1"/>
              <a:t>JScript</a:t>
            </a:r>
            <a:r>
              <a:rPr lang="en-US" dirty="0"/>
              <a:t>.</a:t>
            </a:r>
          </a:p>
          <a:p>
            <a:r>
              <a:rPr lang="en-US" dirty="0"/>
              <a:t>JavaScript has three parts: Core, Client-side, and Server-side.</a:t>
            </a:r>
          </a:p>
          <a:p>
            <a:r>
              <a:rPr lang="en-US" dirty="0"/>
              <a:t>Client-side JavaScript is embedded in HTML and is used to handle user interactions like mouse clicks and keyboard input.</a:t>
            </a:r>
            <a:endParaRPr lang="en-IN" dirty="0"/>
          </a:p>
        </p:txBody>
      </p:sp>
    </p:spTree>
    <p:extLst>
      <p:ext uri="{BB962C8B-B14F-4D97-AF65-F5344CB8AC3E}">
        <p14:creationId xmlns:p14="http://schemas.microsoft.com/office/powerpoint/2010/main" val="3971441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865E1A6-FE90-19E6-6E3A-9A13A2AD0D5F}"/>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93C88D80-E445-57E8-2520-DD2B26C96657}"/>
              </a:ext>
            </a:extLst>
          </p:cNvPr>
          <p:cNvSpPr txBox="1"/>
          <p:nvPr/>
        </p:nvSpPr>
        <p:spPr>
          <a:xfrm>
            <a:off x="528918" y="421341"/>
            <a:ext cx="11143129" cy="5078313"/>
          </a:xfrm>
          <a:prstGeom prst="rect">
            <a:avLst/>
          </a:prstGeom>
          <a:noFill/>
        </p:spPr>
        <p:txBody>
          <a:bodyPr wrap="square" rtlCol="0">
            <a:spAutoFit/>
          </a:bodyPr>
          <a:lstStyle/>
          <a:p>
            <a:r>
              <a:rPr lang="en-IN" sz="2400" dirty="0" smtClean="0"/>
              <a:t>JavaScript and Java</a:t>
            </a:r>
            <a:endParaRPr lang="en-US" sz="2400" dirty="0" smtClean="0"/>
          </a:p>
          <a:p>
            <a:endParaRPr lang="en-US" sz="2000" dirty="0"/>
          </a:p>
          <a:p>
            <a:pPr marL="342900" indent="-342900" algn="just">
              <a:buFont typeface="Arial" panose="020B0604020202020204" pitchFamily="34" charset="0"/>
              <a:buChar char="•"/>
            </a:pPr>
            <a:r>
              <a:rPr lang="en-US" sz="2000" dirty="0"/>
              <a:t>One important difference is support for object-oriented programming. Although JavaScript is sometimes said to be an object-oriented language, its object model is quite different from that of Java and C++</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Java is a strongly typed language.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Variables in JavaScript need not be declared and are dynamically typed</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Another important difference between Java and JavaScript is that objects in Java are static and objects in JavaScript is dynamic</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main </a:t>
            </a:r>
            <a:r>
              <a:rPr lang="en-US" sz="2000" dirty="0">
                <a:solidFill>
                  <a:srgbClr val="FF0000"/>
                </a:solidFill>
              </a:rPr>
              <a:t>similarity</a:t>
            </a:r>
            <a:r>
              <a:rPr lang="en-US" sz="2000" dirty="0"/>
              <a:t> between Java and JavaScript is the syntax of their expressions, assignment statements, and control statements.</a:t>
            </a:r>
            <a:endParaRPr lang="en-IN" sz="2000" dirty="0"/>
          </a:p>
        </p:txBody>
      </p:sp>
    </p:spTree>
    <p:extLst>
      <p:ext uri="{BB962C8B-B14F-4D97-AF65-F5344CB8AC3E}">
        <p14:creationId xmlns:p14="http://schemas.microsoft.com/office/powerpoint/2010/main" val="106170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JavaScript</a:t>
            </a:r>
          </a:p>
        </p:txBody>
      </p:sp>
      <p:sp>
        <p:nvSpPr>
          <p:cNvPr id="3" name="Content Placeholder 2"/>
          <p:cNvSpPr>
            <a:spLocks noGrp="1"/>
          </p:cNvSpPr>
          <p:nvPr>
            <p:ph idx="1"/>
          </p:nvPr>
        </p:nvSpPr>
        <p:spPr/>
        <p:txBody>
          <a:bodyPr>
            <a:normAutofit fontScale="77500" lnSpcReduction="20000"/>
          </a:bodyPr>
          <a:lstStyle/>
          <a:p>
            <a:r>
              <a:rPr lang="en-US" dirty="0"/>
              <a:t>JavaScript was originally designed for both client-side and server-side programming.</a:t>
            </a:r>
          </a:p>
          <a:p>
            <a:r>
              <a:rPr lang="en-US" dirty="0"/>
              <a:t>It has evolved into a full-fledged programming language used in many application areas.</a:t>
            </a:r>
          </a:p>
          <a:p>
            <a:r>
              <a:rPr lang="en-US" dirty="0"/>
              <a:t>Client-side JavaScript helps reduce </a:t>
            </a:r>
            <a:r>
              <a:rPr lang="en-US" b="1" dirty="0">
                <a:solidFill>
                  <a:srgbClr val="FF0000"/>
                </a:solidFill>
              </a:rPr>
              <a:t>server load </a:t>
            </a:r>
            <a:r>
              <a:rPr lang="en-US" dirty="0"/>
              <a:t>by performing computations in the browser.</a:t>
            </a:r>
          </a:p>
          <a:p>
            <a:r>
              <a:rPr lang="en-US" dirty="0"/>
              <a:t>It is embedded in HTML and executed (interpreted) by the browser.</a:t>
            </a:r>
          </a:p>
          <a:p>
            <a:r>
              <a:rPr lang="en-US" dirty="0"/>
              <a:t>Client-side JavaScript cannot handle file operations, database access, or networking, unlike server-side languages.</a:t>
            </a:r>
          </a:p>
          <a:p>
            <a:r>
              <a:rPr lang="en-US" dirty="0"/>
              <a:t>It is widely used for user interaction, such as handling buttons, forms, menus, and mouse/keyboard events.</a:t>
            </a:r>
          </a:p>
          <a:p>
            <a:r>
              <a:rPr lang="en-US" dirty="0"/>
              <a:t>With the </a:t>
            </a:r>
            <a:r>
              <a:rPr lang="en-US" dirty="0">
                <a:solidFill>
                  <a:srgbClr val="FF0000"/>
                </a:solidFill>
              </a:rPr>
              <a:t>Document Object Model (DOM), </a:t>
            </a:r>
            <a:r>
              <a:rPr lang="en-US" dirty="0"/>
              <a:t>JavaScript can modify HTML content and styles dynamically, making web pages interactive.</a:t>
            </a:r>
          </a:p>
          <a:p>
            <a:r>
              <a:rPr lang="en-US" dirty="0"/>
              <a:t>JavaScript is </a:t>
            </a:r>
            <a:r>
              <a:rPr lang="en-US" dirty="0">
                <a:solidFill>
                  <a:srgbClr val="FF0000"/>
                </a:solidFill>
              </a:rPr>
              <a:t>event-driven</a:t>
            </a:r>
            <a:r>
              <a:rPr lang="en-US" dirty="0"/>
              <a:t>, meaning actions are triggered by user activities like clicks, mouse movements, and form submissions.</a:t>
            </a:r>
            <a:endParaRPr lang="en-IN" dirty="0"/>
          </a:p>
        </p:txBody>
      </p:sp>
    </p:spTree>
    <p:extLst>
      <p:ext uri="{BB962C8B-B14F-4D97-AF65-F5344CB8AC3E}">
        <p14:creationId xmlns:p14="http://schemas.microsoft.com/office/powerpoint/2010/main" val="1873792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9D00A3D-7FCD-C4C3-1162-75458C478EBA}"/>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5B7046B-1957-FDEA-8939-C303B36910FF}"/>
              </a:ext>
            </a:extLst>
          </p:cNvPr>
          <p:cNvSpPr txBox="1"/>
          <p:nvPr/>
        </p:nvSpPr>
        <p:spPr>
          <a:xfrm>
            <a:off x="528918" y="421341"/>
            <a:ext cx="11143129" cy="4893647"/>
          </a:xfrm>
          <a:prstGeom prst="rect">
            <a:avLst/>
          </a:prstGeom>
          <a:noFill/>
        </p:spPr>
        <p:txBody>
          <a:bodyPr wrap="square" rtlCol="0">
            <a:spAutoFit/>
          </a:bodyPr>
          <a:lstStyle/>
          <a:p>
            <a:r>
              <a:rPr lang="en-US" sz="2400" b="1" dirty="0"/>
              <a:t>Browsers and HTML–JavaScript Documents</a:t>
            </a:r>
          </a:p>
          <a:p>
            <a:r>
              <a:rPr lang="en-US" sz="2400" dirty="0"/>
              <a:t>If an HTML document does not contain any scripts, the browser simply reads each line and displays the content based on the tags, attributes, and text present.</a:t>
            </a:r>
          </a:p>
          <a:p>
            <a:r>
              <a:rPr lang="en-US" sz="2400" dirty="0"/>
              <a:t>When the browser comes across a JavaScript code, it uses its JavaScript interpreter to execute the script.</a:t>
            </a:r>
          </a:p>
          <a:p>
            <a:r>
              <a:rPr lang="en-US" sz="2400" dirty="0"/>
              <a:t>The output produced by the script is treated as new content and displayed in the browser. After executing the script, the browser continues reading the remaining HTML and renders it.</a:t>
            </a:r>
          </a:p>
          <a:p>
            <a:r>
              <a:rPr lang="en-US" sz="2400" dirty="0"/>
              <a:t>There are two ways to include JavaScript in an HTML document:</a:t>
            </a:r>
          </a:p>
          <a:p>
            <a:r>
              <a:rPr lang="en-US" sz="2400" b="1" dirty="0"/>
              <a:t>Explicit embedding</a:t>
            </a:r>
            <a:r>
              <a:rPr lang="en-US" sz="2400" dirty="0"/>
              <a:t> – The JavaScript code is written directly inside the HTML file (in the head or body section). </a:t>
            </a:r>
          </a:p>
          <a:p>
            <a:r>
              <a:rPr lang="en-US" sz="2400" b="1" dirty="0"/>
              <a:t>Implicit embedding</a:t>
            </a:r>
            <a:r>
              <a:rPr lang="en-US" sz="2400" dirty="0"/>
              <a:t> – The JavaScript code is stored in a separate file and linked to the HTML document.</a:t>
            </a:r>
          </a:p>
        </p:txBody>
      </p:sp>
    </p:spTree>
    <p:extLst>
      <p:ext uri="{BB962C8B-B14F-4D97-AF65-F5344CB8AC3E}">
        <p14:creationId xmlns:p14="http://schemas.microsoft.com/office/powerpoint/2010/main" val="3072098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75A2F80-4EF7-85EE-6B40-C3EA9B25F1BE}"/>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3547728F-9704-B46B-60FB-B2E7B2C36FA8}"/>
              </a:ext>
            </a:extLst>
          </p:cNvPr>
          <p:cNvSpPr txBox="1"/>
          <p:nvPr/>
        </p:nvSpPr>
        <p:spPr>
          <a:xfrm>
            <a:off x="528918" y="421341"/>
            <a:ext cx="11143129" cy="3539430"/>
          </a:xfrm>
          <a:prstGeom prst="rect">
            <a:avLst/>
          </a:prstGeom>
          <a:noFill/>
        </p:spPr>
        <p:txBody>
          <a:bodyPr wrap="square" rtlCol="0">
            <a:spAutoFit/>
          </a:bodyPr>
          <a:lstStyle/>
          <a:p>
            <a:r>
              <a:rPr lang="en-IN" sz="2400" b="1" dirty="0"/>
              <a:t>2 Object Orientation and JavaScript</a:t>
            </a:r>
            <a:endParaRPr lang="en-US" sz="2400" b="1" dirty="0"/>
          </a:p>
          <a:p>
            <a:endParaRPr lang="en-US" sz="2000" dirty="0"/>
          </a:p>
          <a:p>
            <a:pPr marL="342900" indent="-342900" algn="just">
              <a:buFont typeface="Arial" panose="020B0604020202020204" pitchFamily="34" charset="0"/>
              <a:buChar char="•"/>
            </a:pPr>
            <a:r>
              <a:rPr lang="en-US" sz="2000" dirty="0"/>
              <a:t>As stated previously, JavaScript is not an object-oriented programming language. Rather, it is an object-based language.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JavaScript does not have classes.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Despite the fact that JavaScript is not an object-oriented language, much of its design is rooted in the concepts and approaches used in object-oriented programming.</a:t>
            </a:r>
          </a:p>
          <a:p>
            <a:endParaRPr lang="en-IN" sz="2000" dirty="0"/>
          </a:p>
          <a:p>
            <a:endParaRPr lang="en-IN" sz="2000" dirty="0"/>
          </a:p>
        </p:txBody>
      </p:sp>
      <p:sp>
        <p:nvSpPr>
          <p:cNvPr id="3" name="Rectangle 1">
            <a:extLst>
              <a:ext uri="{FF2B5EF4-FFF2-40B4-BE49-F238E27FC236}">
                <a16:creationId xmlns="" xmlns:a16="http://schemas.microsoft.com/office/drawing/2014/main" id="{40574114-B491-8380-DC55-E58541DB2BD9}"/>
              </a:ext>
            </a:extLst>
          </p:cNvPr>
          <p:cNvSpPr>
            <a:spLocks noChangeArrowheads="1"/>
          </p:cNvSpPr>
          <p:nvPr/>
        </p:nvSpPr>
        <p:spPr bwMode="auto">
          <a:xfrm>
            <a:off x="530053" y="3192252"/>
            <a:ext cx="491512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Arial Unicode MS"/>
              </a:rPr>
              <a:t>const person = {</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t>
            </a:r>
            <a:r>
              <a:rPr kumimoji="0" lang="en-US" altLang="en-US" sz="1400" b="0" i="0" u="none" strike="noStrike" cap="none" normalizeH="0" baseline="0" dirty="0" err="1">
                <a:ln>
                  <a:noFill/>
                </a:ln>
                <a:effectLst/>
                <a:latin typeface="Arial Unicode MS"/>
              </a:rPr>
              <a:t>firstName</a:t>
            </a:r>
            <a:r>
              <a:rPr kumimoji="0" lang="en-US" altLang="en-US" sz="1400" b="0" i="0" u="none" strike="noStrike" cap="none" normalizeH="0" baseline="0" dirty="0">
                <a:ln>
                  <a:noFill/>
                </a:ln>
                <a:effectLst/>
                <a:latin typeface="Arial Unicode MS"/>
              </a:rPr>
              <a:t>: "Jane",</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t>
            </a:r>
            <a:r>
              <a:rPr kumimoji="0" lang="en-US" altLang="en-US" sz="1400" b="0" i="0" u="none" strike="noStrike" cap="none" normalizeH="0" baseline="0" dirty="0" err="1">
                <a:ln>
                  <a:noFill/>
                </a:ln>
                <a:effectLst/>
                <a:latin typeface="Arial Unicode MS"/>
              </a:rPr>
              <a:t>lastName</a:t>
            </a:r>
            <a:r>
              <a:rPr kumimoji="0" lang="en-US" altLang="en-US" sz="1400" b="0" i="0" u="none" strike="noStrike" cap="none" normalizeH="0" baseline="0" dirty="0">
                <a:ln>
                  <a:noFill/>
                </a:ln>
                <a:effectLst/>
                <a:latin typeface="Arial Unicode MS"/>
              </a:rPr>
              <a:t>: "Doe",</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age: 30,</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t>
            </a:r>
            <a:r>
              <a:rPr kumimoji="0" lang="en-US" altLang="en-US" sz="1400" b="0" i="0" u="none" strike="noStrike" cap="none" normalizeH="0" baseline="0" dirty="0" err="1">
                <a:ln>
                  <a:noFill/>
                </a:ln>
                <a:effectLst/>
                <a:latin typeface="Arial Unicode MS"/>
              </a:rPr>
              <a:t>isStudent</a:t>
            </a:r>
            <a:r>
              <a:rPr kumimoji="0" lang="en-US" altLang="en-US" sz="1400" b="0" i="0" u="none" strike="noStrike" cap="none" normalizeH="0" baseline="0" dirty="0">
                <a:ln>
                  <a:noFill/>
                </a:ln>
                <a:effectLst/>
                <a:latin typeface="Arial Unicode MS"/>
              </a:rPr>
              <a:t>: false,</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hobbies: ["reading", "hiking", "cooking"],</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address: {</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street: "123 Main St",</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city: "Anytown",</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t>
            </a:r>
            <a:r>
              <a:rPr kumimoji="0" lang="en-US" altLang="en-US" sz="1400" b="0" i="0" u="none" strike="noStrike" cap="none" normalizeH="0" baseline="0" dirty="0" err="1">
                <a:ln>
                  <a:noFill/>
                </a:ln>
                <a:effectLst/>
                <a:latin typeface="Arial Unicode MS"/>
              </a:rPr>
              <a:t>zipCode</a:t>
            </a:r>
            <a:r>
              <a:rPr kumimoji="0" lang="en-US" altLang="en-US" sz="1400" b="0" i="0" u="none" strike="noStrike" cap="none" normalizeH="0" baseline="0" dirty="0">
                <a:ln>
                  <a:noFill/>
                </a:ln>
                <a:effectLst/>
                <a:latin typeface="Arial Unicode MS"/>
              </a:rPr>
              <a:t>: "12345"</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greet: function() {</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console.log(`Hello, my name is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latin typeface="Arial Unicode MS"/>
              </a:rPr>
              <a:t>		</a:t>
            </a:r>
            <a:r>
              <a:rPr kumimoji="0" lang="en-US" altLang="en-US" sz="1400" b="0" i="0" u="none" strike="noStrike" cap="none" normalizeH="0" baseline="0" dirty="0">
                <a:ln>
                  <a:noFill/>
                </a:ln>
                <a:effectLst/>
                <a:latin typeface="Arial Unicode MS"/>
              </a:rPr>
              <a:t>${</a:t>
            </a:r>
            <a:r>
              <a:rPr kumimoji="0" lang="en-US" altLang="en-US" sz="1400" b="0" i="0" u="none" strike="noStrike" cap="none" normalizeH="0" baseline="0" dirty="0" err="1">
                <a:ln>
                  <a:noFill/>
                </a:ln>
                <a:effectLst/>
                <a:latin typeface="Arial Unicode MS"/>
              </a:rPr>
              <a:t>this.firstName</a:t>
            </a:r>
            <a:r>
              <a:rPr kumimoji="0" lang="en-US" altLang="en-US" sz="1400" b="0" i="0" u="none" strike="noStrike" cap="none" normalizeH="0" baseline="0" dirty="0">
                <a:ln>
                  <a:noFill/>
                </a:ln>
                <a:effectLst/>
                <a:latin typeface="Arial Unicode MS"/>
              </a:rPr>
              <a:t>} ${</a:t>
            </a:r>
            <a:r>
              <a:rPr kumimoji="0" lang="en-US" altLang="en-US" sz="1400" b="0" i="0" u="none" strike="noStrike" cap="none" normalizeH="0" baseline="0" dirty="0" err="1">
                <a:ln>
                  <a:noFill/>
                </a:ln>
                <a:effectLst/>
                <a:latin typeface="Arial Unicode MS"/>
              </a:rPr>
              <a:t>this.lastName</a:t>
            </a:r>
            <a:r>
              <a:rPr kumimoji="0" lang="en-US" altLang="en-US" sz="1400" b="0" i="0" u="none" strike="noStrike" cap="none" normalizeH="0" baseline="0" dirty="0">
                <a:ln>
                  <a:noFill/>
                </a:ln>
                <a:effectLst/>
                <a:latin typeface="Arial Unicode MS"/>
              </a:rPr>
              <a:t>}.`);</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a:t>
            </a:r>
            <a:r>
              <a:rPr kumimoji="0" lang="en-US" altLang="en-US" sz="1100" b="0" i="0" u="none" strike="noStrike" cap="none" normalizeH="0" baseline="0" dirty="0">
                <a:ln>
                  <a:noFill/>
                </a:ln>
                <a:effectLst/>
              </a:rPr>
              <a:t> </a:t>
            </a:r>
            <a:endParaRPr kumimoji="0" lang="en-US" altLang="en-US" sz="3200" b="0" i="0" u="none" strike="noStrike" cap="none" normalizeH="0" baseline="0" dirty="0">
              <a:ln>
                <a:noFill/>
              </a:ln>
              <a:effectLst/>
              <a:latin typeface="Arial" panose="020B0604020202020204" pitchFamily="34" charset="0"/>
            </a:endParaRPr>
          </a:p>
        </p:txBody>
      </p:sp>
      <p:sp>
        <p:nvSpPr>
          <p:cNvPr id="4" name="Rectangle 2">
            <a:extLst>
              <a:ext uri="{FF2B5EF4-FFF2-40B4-BE49-F238E27FC236}">
                <a16:creationId xmlns="" xmlns:a16="http://schemas.microsoft.com/office/drawing/2014/main" id="{8011F350-A25A-EAB5-D7BF-6FFD933D44FF}"/>
              </a:ext>
            </a:extLst>
          </p:cNvPr>
          <p:cNvSpPr>
            <a:spLocks noChangeArrowheads="1"/>
          </p:cNvSpPr>
          <p:nvPr/>
        </p:nvSpPr>
        <p:spPr bwMode="auto">
          <a:xfrm>
            <a:off x="6033247" y="3429000"/>
            <a:ext cx="582537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effectLst/>
                <a:latin typeface="Arial Unicode MS"/>
              </a:rPr>
              <a:t>// Accessing properties using dot notation</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console.log(</a:t>
            </a:r>
            <a:r>
              <a:rPr kumimoji="0" lang="en-US" altLang="en-US" sz="1400" b="0" i="0" u="none" strike="noStrike" cap="none" normalizeH="0" baseline="0" dirty="0" err="1">
                <a:ln>
                  <a:noFill/>
                </a:ln>
                <a:effectLst/>
                <a:latin typeface="Arial Unicode MS"/>
              </a:rPr>
              <a:t>person.firstName</a:t>
            </a:r>
            <a:r>
              <a:rPr kumimoji="0" lang="en-US" altLang="en-US" sz="1400" b="0" i="0" u="none" strike="noStrike" cap="none" normalizeH="0" baseline="0" dirty="0">
                <a:ln>
                  <a:noFill/>
                </a:ln>
                <a:effectLst/>
                <a:latin typeface="Arial Unicode MS"/>
              </a:rPr>
              <a:t>); // Output: Jane</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console.log(</a:t>
            </a:r>
            <a:r>
              <a:rPr kumimoji="0" lang="en-US" altLang="en-US" sz="1400" b="0" i="0" u="none" strike="noStrike" cap="none" normalizeH="0" baseline="0" dirty="0" err="1">
                <a:ln>
                  <a:noFill/>
                </a:ln>
                <a:effectLst/>
                <a:latin typeface="Arial Unicode MS"/>
              </a:rPr>
              <a:t>person.address.city</a:t>
            </a:r>
            <a:r>
              <a:rPr kumimoji="0" lang="en-US" altLang="en-US" sz="1400" b="0" i="0" u="none" strike="noStrike" cap="none" normalizeH="0" baseline="0" dirty="0">
                <a:ln>
                  <a:noFill/>
                </a:ln>
                <a:effectLst/>
                <a:latin typeface="Arial Unicode MS"/>
              </a:rPr>
              <a:t>); // Output: Anytown</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Accessing properties using bracket notation (useful for dynamic keys)</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console.log(person["</a:t>
            </a:r>
            <a:r>
              <a:rPr kumimoji="0" lang="en-US" altLang="en-US" sz="1400" b="0" i="0" u="none" strike="noStrike" cap="none" normalizeH="0" baseline="0" dirty="0" err="1">
                <a:ln>
                  <a:noFill/>
                </a:ln>
                <a:effectLst/>
                <a:latin typeface="Arial Unicode MS"/>
              </a:rPr>
              <a:t>lastName</a:t>
            </a:r>
            <a:r>
              <a:rPr kumimoji="0" lang="en-US" altLang="en-US" sz="1400" b="0" i="0" u="none" strike="noStrike" cap="none" normalizeH="0" baseline="0" dirty="0">
                <a:ln>
                  <a:noFill/>
                </a:ln>
                <a:effectLst/>
                <a:latin typeface="Arial Unicode MS"/>
              </a:rPr>
              <a:t>"]); // Output: Doe</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a:ln>
                  <a:noFill/>
                </a:ln>
                <a:effectLst/>
                <a:latin typeface="Arial Unicode MS"/>
              </a:rPr>
              <a:t>// Calling a method</a:t>
            </a:r>
            <a:br>
              <a:rPr kumimoji="0" lang="en-US" altLang="en-US" sz="1400" b="0" i="0" u="none" strike="noStrike" cap="none" normalizeH="0" baseline="0" dirty="0">
                <a:ln>
                  <a:noFill/>
                </a:ln>
                <a:effectLst/>
                <a:latin typeface="Arial Unicode MS"/>
              </a:rPr>
            </a:br>
            <a:r>
              <a:rPr kumimoji="0" lang="en-US" altLang="en-US" sz="1400" b="0" i="0" u="none" strike="noStrike" cap="none" normalizeH="0" baseline="0" dirty="0" err="1">
                <a:ln>
                  <a:noFill/>
                </a:ln>
                <a:effectLst/>
                <a:latin typeface="Arial Unicode MS"/>
              </a:rPr>
              <a:t>person.greet</a:t>
            </a:r>
            <a:r>
              <a:rPr kumimoji="0" lang="en-US" altLang="en-US" sz="1400" b="0" i="0" u="none" strike="noStrike" cap="none" normalizeH="0" baseline="0" dirty="0">
                <a:ln>
                  <a:noFill/>
                </a:ln>
                <a:effectLst/>
                <a:latin typeface="Arial Unicode MS"/>
              </a:rPr>
              <a:t>(); // Output: Hello, my name is Jane Doe</a:t>
            </a:r>
            <a:r>
              <a:rPr kumimoji="0" lang="en-US" altLang="en-US" sz="1000" b="0" i="0" u="none" strike="noStrike" cap="none" normalizeH="0" baseline="0" dirty="0">
                <a:ln>
                  <a:noFill/>
                </a:ln>
                <a:effectLst/>
                <a:latin typeface="Arial Unicode MS"/>
              </a:rPr>
              <a:t>.</a:t>
            </a:r>
            <a:r>
              <a:rPr kumimoji="0" lang="en-US" altLang="en-US" sz="800" b="0" i="0" u="none" strike="noStrike" cap="none" normalizeH="0" baseline="0" dirty="0">
                <a:ln>
                  <a:noFill/>
                </a:ln>
                <a:effectLst/>
              </a:rPr>
              <a:t> </a:t>
            </a: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321610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F46205A-6285-99EB-0E80-2D74509BF5B5}"/>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8B713E0E-1867-646C-DA4D-757105191D4A}"/>
              </a:ext>
            </a:extLst>
          </p:cNvPr>
          <p:cNvSpPr txBox="1"/>
          <p:nvPr/>
        </p:nvSpPr>
        <p:spPr>
          <a:xfrm>
            <a:off x="528918" y="421341"/>
            <a:ext cx="11143129" cy="6309420"/>
          </a:xfrm>
          <a:prstGeom prst="rect">
            <a:avLst/>
          </a:prstGeom>
          <a:noFill/>
        </p:spPr>
        <p:txBody>
          <a:bodyPr wrap="square" rtlCol="0">
            <a:spAutoFit/>
          </a:bodyPr>
          <a:lstStyle/>
          <a:p>
            <a:r>
              <a:rPr lang="en-IN" sz="2400" b="1" dirty="0"/>
              <a:t>2.1 JavaScript Objects</a:t>
            </a:r>
            <a:endParaRPr lang="en-US" sz="2400" b="1" dirty="0"/>
          </a:p>
          <a:p>
            <a:pPr algn="just"/>
            <a:endParaRPr lang="en-US" sz="2000" dirty="0"/>
          </a:p>
          <a:p>
            <a:pPr marL="342900" indent="-342900" algn="just">
              <a:buFont typeface="Arial" panose="020B0604020202020204" pitchFamily="34" charset="0"/>
              <a:buChar char="•"/>
            </a:pPr>
            <a:r>
              <a:rPr lang="en-US" sz="2000" dirty="0"/>
              <a:t>In JavaScript, objects are collections of properties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Each property is either a data property or a function or method property.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Data properties appear in two categories: primitive values and references to other objects.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All primitive values in JavaScript are accessed directly—these are like the scalar types in Java and C++.</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properties of an object are referenced by attaching the name of the property to the variable that references the object. - </a:t>
            </a:r>
            <a:r>
              <a:rPr lang="en-US" sz="2000" dirty="0" err="1">
                <a:solidFill>
                  <a:srgbClr val="FF0000"/>
                </a:solidFill>
              </a:rPr>
              <a:t>myCar.engine</a:t>
            </a:r>
            <a:r>
              <a:rPr lang="en-US" sz="2000" dirty="0">
                <a:solidFill>
                  <a:srgbClr val="FF0000"/>
                </a:solidFill>
              </a:rPr>
              <a:t>. </a:t>
            </a:r>
            <a:r>
              <a:rPr lang="en-US" sz="2000" dirty="0"/>
              <a:t>(</a:t>
            </a:r>
            <a:r>
              <a:rPr lang="en-US" sz="2000" dirty="0" err="1">
                <a:solidFill>
                  <a:srgbClr val="FF0000"/>
                </a:solidFill>
              </a:rPr>
              <a:t>myCar</a:t>
            </a:r>
            <a:r>
              <a:rPr lang="en-US" sz="2000" dirty="0"/>
              <a:t> is object and </a:t>
            </a:r>
            <a:r>
              <a:rPr lang="en-US" sz="2000" dirty="0">
                <a:solidFill>
                  <a:srgbClr val="FF0000"/>
                </a:solidFill>
              </a:rPr>
              <a:t>engine</a:t>
            </a:r>
            <a:r>
              <a:rPr lang="en-US" sz="2000" dirty="0"/>
              <a:t> is a property)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JavaScript object appears, both internally and externally, as a list of property–value pairs. </a:t>
            </a:r>
          </a:p>
          <a:p>
            <a:pPr marL="342900" indent="-342900" algn="just">
              <a:buFont typeface="Arial" panose="020B0604020202020204" pitchFamily="34" charset="0"/>
              <a:buChar char="•"/>
            </a:pPr>
            <a:r>
              <a:rPr lang="en-US" sz="2000" dirty="0"/>
              <a:t>The properties are names; the values are data values or functions. </a:t>
            </a:r>
          </a:p>
          <a:p>
            <a:pPr marL="342900" indent="-342900" algn="just">
              <a:buFont typeface="Arial" panose="020B0604020202020204" pitchFamily="34" charset="0"/>
              <a:buChar char="•"/>
            </a:pPr>
            <a:r>
              <a:rPr lang="en-US" sz="2000" dirty="0"/>
              <a:t>All functions are objects and are referenced through variables. </a:t>
            </a:r>
          </a:p>
          <a:p>
            <a:pPr marL="342900" indent="-342900" algn="just">
              <a:buFont typeface="Arial" panose="020B0604020202020204" pitchFamily="34" charset="0"/>
              <a:buChar char="•"/>
            </a:pPr>
            <a:r>
              <a:rPr lang="en-US" sz="2000" dirty="0"/>
              <a:t>The collection of properties of a JavaScript object is dynamic: Properties can be added or deleted at any time during execution.</a:t>
            </a:r>
          </a:p>
          <a:p>
            <a:endParaRPr lang="en-IN" sz="2000" dirty="0"/>
          </a:p>
        </p:txBody>
      </p:sp>
    </p:spTree>
    <p:extLst>
      <p:ext uri="{BB962C8B-B14F-4D97-AF65-F5344CB8AC3E}">
        <p14:creationId xmlns:p14="http://schemas.microsoft.com/office/powerpoint/2010/main" val="3165702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C4DB554-28B9-3492-71BC-67099A10577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56D4129-9BA6-1238-E5F5-819904A7C5CD}"/>
              </a:ext>
            </a:extLst>
          </p:cNvPr>
          <p:cNvSpPr txBox="1"/>
          <p:nvPr/>
        </p:nvSpPr>
        <p:spPr>
          <a:xfrm>
            <a:off x="528918" y="421341"/>
            <a:ext cx="11143129" cy="5693866"/>
          </a:xfrm>
          <a:prstGeom prst="rect">
            <a:avLst/>
          </a:prstGeom>
          <a:noFill/>
        </p:spPr>
        <p:txBody>
          <a:bodyPr wrap="square" rtlCol="0">
            <a:spAutoFit/>
          </a:bodyPr>
          <a:lstStyle/>
          <a:p>
            <a:r>
              <a:rPr lang="en-IN" sz="2400" b="1" dirty="0"/>
              <a:t>3 General Syntactic Characteristics</a:t>
            </a:r>
            <a:endParaRPr lang="en-US" sz="2400" b="1" dirty="0"/>
          </a:p>
          <a:p>
            <a:endParaRPr lang="en-US" sz="2000" dirty="0"/>
          </a:p>
          <a:p>
            <a:pPr marL="342900" indent="-342900" algn="just">
              <a:buFont typeface="Arial" panose="020B0604020202020204" pitchFamily="34" charset="0"/>
              <a:buChar char="•"/>
            </a:pPr>
            <a:r>
              <a:rPr lang="en-US" sz="2000" dirty="0"/>
              <a:t>Scripts can appear directly as the content of a &lt;script&gt; tag. The </a:t>
            </a:r>
            <a:r>
              <a:rPr lang="en-US" sz="2000" dirty="0">
                <a:solidFill>
                  <a:srgbClr val="FF0000"/>
                </a:solidFill>
              </a:rPr>
              <a:t>type</a:t>
            </a:r>
            <a:r>
              <a:rPr lang="en-US" sz="2000" dirty="0"/>
              <a:t> attribute of </a:t>
            </a:r>
            <a:r>
              <a:rPr lang="en-US" sz="2000" dirty="0">
                <a:solidFill>
                  <a:srgbClr val="FF0000"/>
                </a:solidFill>
              </a:rPr>
              <a:t>&lt;script&gt; </a:t>
            </a:r>
            <a:r>
              <a:rPr lang="en-US" sz="2000" dirty="0"/>
              <a:t>must be set to "</a:t>
            </a:r>
            <a:r>
              <a:rPr lang="en-US" sz="2000" dirty="0">
                <a:solidFill>
                  <a:srgbClr val="FF0000"/>
                </a:solidFill>
              </a:rPr>
              <a:t>text/</a:t>
            </a:r>
            <a:r>
              <a:rPr lang="en-US" sz="2000" dirty="0" err="1">
                <a:solidFill>
                  <a:srgbClr val="FF0000"/>
                </a:solidFill>
              </a:rPr>
              <a:t>javascript</a:t>
            </a:r>
            <a:r>
              <a:rPr lang="en-US" sz="2000" dirty="0"/>
              <a:t>".</a:t>
            </a:r>
          </a:p>
          <a:p>
            <a:pPr algn="just"/>
            <a:endParaRPr lang="en-US" sz="2000" dirty="0"/>
          </a:p>
          <a:p>
            <a:pPr marL="342900" indent="-342900" algn="just">
              <a:buFont typeface="Arial" panose="020B0604020202020204" pitchFamily="34" charset="0"/>
              <a:buChar char="•"/>
            </a:pPr>
            <a:r>
              <a:rPr lang="en-US" sz="2000" dirty="0"/>
              <a:t>The JavaScript script can be indirectly embedded in an HTML document with the </a:t>
            </a:r>
            <a:r>
              <a:rPr lang="en-US" sz="2000" dirty="0" err="1">
                <a:solidFill>
                  <a:srgbClr val="FF0000"/>
                </a:solidFill>
              </a:rPr>
              <a:t>src</a:t>
            </a:r>
            <a:r>
              <a:rPr lang="en-US" sz="2000" dirty="0"/>
              <a:t> attribute of a &lt;script&gt; tag </a:t>
            </a:r>
          </a:p>
          <a:p>
            <a:endParaRPr lang="en-US" sz="2000" dirty="0"/>
          </a:p>
          <a:p>
            <a:r>
              <a:rPr lang="en-US" sz="2000" dirty="0"/>
              <a:t>	&lt;script type = "text/</a:t>
            </a:r>
            <a:r>
              <a:rPr lang="en-US" sz="2000" dirty="0" err="1"/>
              <a:t>javascript</a:t>
            </a:r>
            <a:r>
              <a:rPr lang="en-US" sz="2000" dirty="0"/>
              <a:t>" </a:t>
            </a:r>
            <a:r>
              <a:rPr lang="en-US" sz="2000" dirty="0" err="1"/>
              <a:t>src</a:t>
            </a:r>
            <a:r>
              <a:rPr lang="en-US" sz="2000" dirty="0"/>
              <a:t> = "tst_number.js" &gt;</a:t>
            </a:r>
          </a:p>
          <a:p>
            <a:r>
              <a:rPr lang="en-US" sz="2000" dirty="0"/>
              <a:t> 	&lt;/script&gt;</a:t>
            </a:r>
          </a:p>
          <a:p>
            <a:endParaRPr lang="en-US" sz="2000" dirty="0"/>
          </a:p>
          <a:p>
            <a:pPr marL="342900" indent="-342900" algn="just">
              <a:buFont typeface="Arial" panose="020B0604020202020204" pitchFamily="34" charset="0"/>
              <a:buChar char="•"/>
            </a:pPr>
            <a:r>
              <a:rPr lang="en-US" sz="2000" dirty="0"/>
              <a:t>In JavaScript, </a:t>
            </a:r>
            <a:r>
              <a:rPr lang="en-US" sz="2000" dirty="0">
                <a:solidFill>
                  <a:srgbClr val="FF0000"/>
                </a:solidFill>
              </a:rPr>
              <a:t>identifiers</a:t>
            </a:r>
            <a:r>
              <a:rPr lang="en-US" sz="2000" dirty="0"/>
              <a:t>, or names, are similar to those of other common programming languages. </a:t>
            </a:r>
          </a:p>
          <a:p>
            <a:pPr marL="342900" indent="-342900" algn="just">
              <a:buFont typeface="Arial" panose="020B0604020202020204" pitchFamily="34" charset="0"/>
              <a:buChar char="•"/>
            </a:pPr>
            <a:r>
              <a:rPr lang="en-US" sz="2000" dirty="0"/>
              <a:t>They must begin with a letter, an underscore (_), or a dollar sign ($). Subsequent characters may be letters, underscores, dollar signs, or digits.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Identifiers are case sensitive.</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p:txBody>
      </p:sp>
      <p:pic>
        <p:nvPicPr>
          <p:cNvPr id="4" name="Picture 3">
            <a:extLst>
              <a:ext uri="{FF2B5EF4-FFF2-40B4-BE49-F238E27FC236}">
                <a16:creationId xmlns="" xmlns:a16="http://schemas.microsoft.com/office/drawing/2014/main" id="{A9CF00BD-AFA1-4872-1BA2-23D2D0903E30}"/>
              </a:ext>
            </a:extLst>
          </p:cNvPr>
          <p:cNvPicPr>
            <a:picLocks noChangeAspect="1"/>
          </p:cNvPicPr>
          <p:nvPr/>
        </p:nvPicPr>
        <p:blipFill>
          <a:blip r:embed="rId2"/>
          <a:stretch>
            <a:fillRect/>
          </a:stretch>
        </p:blipFill>
        <p:spPr>
          <a:xfrm>
            <a:off x="4406615" y="4847229"/>
            <a:ext cx="5316830" cy="1828813"/>
          </a:xfrm>
          <a:prstGeom prst="rect">
            <a:avLst/>
          </a:prstGeom>
        </p:spPr>
      </p:pic>
    </p:spTree>
    <p:extLst>
      <p:ext uri="{BB962C8B-B14F-4D97-AF65-F5344CB8AC3E}">
        <p14:creationId xmlns:p14="http://schemas.microsoft.com/office/powerpoint/2010/main" val="3828830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20FF665-8233-55E6-46A5-20F773F12F5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BD4673EA-248F-6C63-C905-BA12754E0778}"/>
              </a:ext>
            </a:extLst>
          </p:cNvPr>
          <p:cNvSpPr txBox="1"/>
          <p:nvPr/>
        </p:nvSpPr>
        <p:spPr>
          <a:xfrm>
            <a:off x="528918" y="421341"/>
            <a:ext cx="11143129" cy="5016758"/>
          </a:xfrm>
          <a:prstGeom prst="rect">
            <a:avLst/>
          </a:prstGeom>
          <a:noFill/>
        </p:spPr>
        <p:txBody>
          <a:bodyPr wrap="square" rtlCol="0">
            <a:spAutoFit/>
          </a:bodyPr>
          <a:lstStyle/>
          <a:p>
            <a:endParaRPr lang="en-US" sz="2000" dirty="0"/>
          </a:p>
          <a:p>
            <a:pPr marL="342900" indent="-342900" algn="just">
              <a:buFont typeface="Arial" panose="020B0604020202020204" pitchFamily="34" charset="0"/>
              <a:buChar char="•"/>
            </a:pPr>
            <a:r>
              <a:rPr lang="en-US" sz="2000" dirty="0"/>
              <a:t>JavaScript has two forms of comments, both of which are used in other languages.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First, whenever two adjacent slashes (//) appear on a line, the rest of the line is considered a comment.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Second, /* may be used to introduce a comment, and */ to terminate it, in both single- and multiple-line comments.</a:t>
            </a:r>
          </a:p>
          <a:p>
            <a:endParaRPr lang="en-US" sz="2000" dirty="0"/>
          </a:p>
          <a:p>
            <a:pPr marL="342900" indent="-342900">
              <a:buFont typeface="Arial" panose="020B0604020202020204" pitchFamily="34" charset="0"/>
              <a:buChar char="•"/>
            </a:pPr>
            <a:r>
              <a:rPr lang="en-US" sz="2000" dirty="0"/>
              <a:t>Two issues arise regarding embedding JavaScript in HTML documents:</a:t>
            </a:r>
          </a:p>
          <a:p>
            <a:endParaRPr lang="en-US" sz="2000" dirty="0"/>
          </a:p>
          <a:p>
            <a:pPr marL="800100" lvl="1" indent="-342900">
              <a:buFont typeface="Arial" panose="020B0604020202020204" pitchFamily="34" charset="0"/>
              <a:buChar char="•"/>
            </a:pPr>
            <a:r>
              <a:rPr lang="en-US" sz="2000" dirty="0"/>
              <a:t>First, some browsers that are still in use recognize the &lt;script&gt; tag but do not have JavaScript interpreters. – Ignore the tags.</a:t>
            </a:r>
          </a:p>
          <a:p>
            <a:pPr marL="800100" lvl="1"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Second, a few browsers that are still in use are so old that they do not recognize the &lt;script&gt; tag. - Such browsers would display the contents of the script element as if it were just text.</a:t>
            </a:r>
          </a:p>
        </p:txBody>
      </p:sp>
    </p:spTree>
    <p:extLst>
      <p:ext uri="{BB962C8B-B14F-4D97-AF65-F5344CB8AC3E}">
        <p14:creationId xmlns:p14="http://schemas.microsoft.com/office/powerpoint/2010/main" val="2472669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BB93D6C-C1F5-816B-0397-04D5BA2D1C67}"/>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54315B2-8207-15C8-DFAF-B97228687307}"/>
              </a:ext>
            </a:extLst>
          </p:cNvPr>
          <p:cNvSpPr txBox="1"/>
          <p:nvPr/>
        </p:nvSpPr>
        <p:spPr>
          <a:xfrm>
            <a:off x="528918" y="421341"/>
            <a:ext cx="11143129" cy="5324535"/>
          </a:xfrm>
          <a:prstGeom prst="rect">
            <a:avLst/>
          </a:prstGeom>
          <a:noFill/>
        </p:spPr>
        <p:txBody>
          <a:bodyPr wrap="square" rtlCol="0">
            <a:spAutoFit/>
          </a:bodyPr>
          <a:lstStyle/>
          <a:p>
            <a:endParaRPr lang="en-US" sz="2000" dirty="0"/>
          </a:p>
          <a:p>
            <a:pPr marL="342900" indent="-342900" algn="just">
              <a:buFont typeface="Arial" panose="020B0604020202020204" pitchFamily="34" charset="0"/>
              <a:buChar char="•"/>
            </a:pPr>
            <a:r>
              <a:rPr lang="en-US" sz="2000" dirty="0"/>
              <a:t>The HTML comment used to hide JavaScript uses the normal beginning syntax, &lt;!--. However, the syntax for closing such a comment is special. It is the usual HTML comment closer, but it must be on its own line and must be preceded by two slashes.</a:t>
            </a:r>
          </a:p>
          <a:p>
            <a:pPr marL="342900" indent="-342900" algn="just">
              <a:buFont typeface="Arial" panose="020B0604020202020204" pitchFamily="34" charset="0"/>
              <a:buChar char="•"/>
            </a:pPr>
            <a:endParaRPr lang="en-US" sz="2000" dirty="0"/>
          </a:p>
          <a:p>
            <a:pPr lvl="1" algn="just"/>
            <a:r>
              <a:rPr lang="en-US" sz="2000" dirty="0"/>
              <a:t> &lt;!- - </a:t>
            </a:r>
          </a:p>
          <a:p>
            <a:pPr lvl="1" algn="just"/>
            <a:r>
              <a:rPr lang="en-US" sz="2000" dirty="0"/>
              <a:t>- - JavaScript script - -</a:t>
            </a:r>
          </a:p>
          <a:p>
            <a:pPr lvl="1" algn="just"/>
            <a:r>
              <a:rPr lang="en-US" sz="2000" dirty="0"/>
              <a:t>// - -&gt;</a:t>
            </a:r>
          </a:p>
          <a:p>
            <a:endParaRPr lang="en-US" sz="2000" dirty="0"/>
          </a:p>
          <a:p>
            <a:pPr marL="342900" indent="-342900" algn="just">
              <a:buFont typeface="Arial" panose="020B0604020202020204" pitchFamily="34" charset="0"/>
              <a:buChar char="•"/>
            </a:pPr>
            <a:r>
              <a:rPr lang="en-US" sz="2000" dirty="0"/>
              <a:t>There are other problems with putting embedded JavaScript in comments in HTML documents. The best solution to all of these problems is to put all JavaScript scripts that are of significant size in separate files and embed them implicitly.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use of </a:t>
            </a:r>
            <a:r>
              <a:rPr lang="en-US" sz="2000" dirty="0">
                <a:solidFill>
                  <a:srgbClr val="FF0000"/>
                </a:solidFill>
              </a:rPr>
              <a:t>semicolons</a:t>
            </a:r>
            <a:r>
              <a:rPr lang="en-US" sz="2000" dirty="0"/>
              <a:t> in JavaScript is unusual.</a:t>
            </a:r>
          </a:p>
          <a:p>
            <a:pPr marL="800100" lvl="1" indent="-342900" algn="just">
              <a:buFont typeface="Arial" panose="020B0604020202020204" pitchFamily="34" charset="0"/>
              <a:buChar char="•"/>
            </a:pPr>
            <a:r>
              <a:rPr lang="en-IN" sz="2000" dirty="0"/>
              <a:t>return </a:t>
            </a:r>
          </a:p>
          <a:p>
            <a:pPr marL="800100" lvl="1" indent="-342900" algn="just">
              <a:buFont typeface="Arial" panose="020B0604020202020204" pitchFamily="34" charset="0"/>
              <a:buChar char="•"/>
            </a:pPr>
            <a:r>
              <a:rPr lang="en-IN" sz="2000" dirty="0"/>
              <a:t>x;</a:t>
            </a:r>
            <a:endParaRPr lang="en-US" sz="2000" dirty="0"/>
          </a:p>
          <a:p>
            <a:r>
              <a:rPr lang="en-IN" sz="2000" dirty="0"/>
              <a:t>Here the </a:t>
            </a:r>
            <a:r>
              <a:rPr lang="en-IN" sz="2000" dirty="0">
                <a:solidFill>
                  <a:srgbClr val="FF0000"/>
                </a:solidFill>
              </a:rPr>
              <a:t>return</a:t>
            </a:r>
            <a:r>
              <a:rPr lang="en-IN" sz="2000" dirty="0"/>
              <a:t> is considered different and </a:t>
            </a:r>
            <a:r>
              <a:rPr lang="en-IN" sz="2000" dirty="0">
                <a:solidFill>
                  <a:srgbClr val="FF0000"/>
                </a:solidFill>
              </a:rPr>
              <a:t>x</a:t>
            </a:r>
            <a:r>
              <a:rPr lang="en-IN" sz="2000" dirty="0"/>
              <a:t> different.</a:t>
            </a:r>
          </a:p>
        </p:txBody>
      </p:sp>
    </p:spTree>
    <p:extLst>
      <p:ext uri="{BB962C8B-B14F-4D97-AF65-F5344CB8AC3E}">
        <p14:creationId xmlns:p14="http://schemas.microsoft.com/office/powerpoint/2010/main" val="142806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C2A2BFB-447F-859F-B4BF-10577D9FB745}"/>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5C2E97D0-0659-DC17-A45F-37AA42F22605}"/>
              </a:ext>
            </a:extLst>
          </p:cNvPr>
          <p:cNvSpPr txBox="1"/>
          <p:nvPr/>
        </p:nvSpPr>
        <p:spPr>
          <a:xfrm>
            <a:off x="524435" y="206188"/>
            <a:ext cx="11143129" cy="5078313"/>
          </a:xfrm>
          <a:prstGeom prst="rect">
            <a:avLst/>
          </a:prstGeom>
          <a:noFill/>
        </p:spPr>
        <p:txBody>
          <a:bodyPr wrap="square" rtlCol="0">
            <a:spAutoFit/>
          </a:bodyPr>
          <a:lstStyle/>
          <a:p>
            <a:r>
              <a:rPr lang="en-US" sz="2400" dirty="0"/>
              <a:t>4 Primitives, Operations, and Expressions</a:t>
            </a:r>
          </a:p>
          <a:p>
            <a:endParaRPr lang="en-US" sz="2000" dirty="0"/>
          </a:p>
          <a:p>
            <a:r>
              <a:rPr lang="en-IN" sz="2000" b="1" dirty="0"/>
              <a:t>4.1 Primitive Types</a:t>
            </a:r>
          </a:p>
          <a:p>
            <a:endParaRPr lang="en-IN" sz="2000" dirty="0"/>
          </a:p>
          <a:p>
            <a:pPr marL="342900" indent="-342900" algn="just">
              <a:buFont typeface="Arial" panose="020B0604020202020204" pitchFamily="34" charset="0"/>
              <a:buChar char="•"/>
            </a:pPr>
            <a:r>
              <a:rPr lang="en-US" sz="2000" dirty="0"/>
              <a:t>JavaScript has five primitive types: Number, String, Boolean, Undefined, and Null.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JavaScript includes predefined objects that are closely related to the Number, String, and Boolean types, named </a:t>
            </a:r>
            <a:r>
              <a:rPr lang="en-US" sz="2000" i="1" dirty="0">
                <a:solidFill>
                  <a:srgbClr val="FF0000"/>
                </a:solidFill>
              </a:rPr>
              <a:t>Number</a:t>
            </a:r>
            <a:r>
              <a:rPr lang="en-US" sz="2000" dirty="0"/>
              <a:t>, </a:t>
            </a:r>
            <a:r>
              <a:rPr lang="en-US" sz="2000" i="1" dirty="0">
                <a:solidFill>
                  <a:srgbClr val="FF0000"/>
                </a:solidFill>
              </a:rPr>
              <a:t>String</a:t>
            </a:r>
            <a:r>
              <a:rPr lang="en-US" sz="2000" dirty="0"/>
              <a:t>, and </a:t>
            </a:r>
            <a:r>
              <a:rPr lang="en-US" sz="2000" i="1" dirty="0">
                <a:solidFill>
                  <a:srgbClr val="FF0000"/>
                </a:solidFill>
              </a:rPr>
              <a:t>Boolean</a:t>
            </a:r>
            <a:r>
              <a:rPr lang="en-US" sz="2000" dirty="0"/>
              <a:t>, respectively and they are called </a:t>
            </a:r>
            <a:r>
              <a:rPr lang="en-US" sz="2000" i="1" dirty="0">
                <a:solidFill>
                  <a:srgbClr val="FF0000"/>
                </a:solidFill>
              </a:rPr>
              <a:t>wrapper objects</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purpose of the wrapper objects is to provide properties and methods that are convenient for use with values of the primitive types. In the case of </a:t>
            </a:r>
            <a:r>
              <a:rPr lang="en-US" sz="2000" dirty="0">
                <a:solidFill>
                  <a:srgbClr val="FF0000"/>
                </a:solidFill>
              </a:rPr>
              <a:t>Number</a:t>
            </a:r>
            <a:r>
              <a:rPr lang="en-US" sz="2000" dirty="0"/>
              <a:t>, the </a:t>
            </a:r>
            <a:r>
              <a:rPr lang="en-US" sz="2000" dirty="0">
                <a:solidFill>
                  <a:srgbClr val="FF0000"/>
                </a:solidFill>
              </a:rPr>
              <a:t>properties</a:t>
            </a:r>
            <a:r>
              <a:rPr lang="en-US" sz="2000" dirty="0"/>
              <a:t> are more useful; in the case of </a:t>
            </a:r>
            <a:r>
              <a:rPr lang="en-US" sz="2000" dirty="0">
                <a:solidFill>
                  <a:srgbClr val="FF0000"/>
                </a:solidFill>
              </a:rPr>
              <a:t>String</a:t>
            </a:r>
            <a:r>
              <a:rPr lang="en-US" sz="2000" dirty="0"/>
              <a:t>, the </a:t>
            </a:r>
            <a:r>
              <a:rPr lang="en-US" sz="2000" dirty="0">
                <a:solidFill>
                  <a:srgbClr val="FF0000"/>
                </a:solidFill>
              </a:rPr>
              <a:t>methods</a:t>
            </a:r>
            <a:r>
              <a:rPr lang="en-US" sz="2000" dirty="0"/>
              <a:t> are more useful.</a:t>
            </a:r>
          </a:p>
          <a:p>
            <a:endParaRPr lang="en-IN" sz="2000" dirty="0"/>
          </a:p>
          <a:p>
            <a:pPr marL="342900" indent="-342900" algn="just">
              <a:buFont typeface="Arial" panose="020B0604020202020204" pitchFamily="34" charset="0"/>
              <a:buChar char="•"/>
            </a:pPr>
            <a:r>
              <a:rPr lang="en-US" sz="2000" dirty="0"/>
              <a:t>The difference between primitives and objects is shown in the following example. Suppose that prim is a primitive variable with the value 17 and obj is a Number object whose property value is 17.</a:t>
            </a:r>
            <a:endParaRPr lang="en-IN" sz="2000" dirty="0"/>
          </a:p>
        </p:txBody>
      </p:sp>
      <p:pic>
        <p:nvPicPr>
          <p:cNvPr id="4" name="Picture 3">
            <a:extLst>
              <a:ext uri="{FF2B5EF4-FFF2-40B4-BE49-F238E27FC236}">
                <a16:creationId xmlns="" xmlns:a16="http://schemas.microsoft.com/office/drawing/2014/main" id="{4DFFE477-66B5-F722-6CDC-15812CA43847}"/>
              </a:ext>
            </a:extLst>
          </p:cNvPr>
          <p:cNvPicPr>
            <a:picLocks noChangeAspect="1"/>
          </p:cNvPicPr>
          <p:nvPr/>
        </p:nvPicPr>
        <p:blipFill>
          <a:blip r:embed="rId2"/>
          <a:stretch>
            <a:fillRect/>
          </a:stretch>
        </p:blipFill>
        <p:spPr>
          <a:xfrm>
            <a:off x="4844549" y="4930407"/>
            <a:ext cx="3546416" cy="1925400"/>
          </a:xfrm>
          <a:prstGeom prst="rect">
            <a:avLst/>
          </a:prstGeom>
        </p:spPr>
      </p:pic>
    </p:spTree>
    <p:extLst>
      <p:ext uri="{BB962C8B-B14F-4D97-AF65-F5344CB8AC3E}">
        <p14:creationId xmlns:p14="http://schemas.microsoft.com/office/powerpoint/2010/main" val="4250640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0B961CE-23F5-7625-BF18-3A27A022527B}"/>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5971494B-A1F7-3B0F-2388-BCD2F30B1B57}"/>
              </a:ext>
            </a:extLst>
          </p:cNvPr>
          <p:cNvSpPr txBox="1"/>
          <p:nvPr/>
        </p:nvSpPr>
        <p:spPr>
          <a:xfrm>
            <a:off x="528918" y="421341"/>
            <a:ext cx="11143129" cy="5693866"/>
          </a:xfrm>
          <a:prstGeom prst="rect">
            <a:avLst/>
          </a:prstGeom>
          <a:noFill/>
        </p:spPr>
        <p:txBody>
          <a:bodyPr wrap="square" rtlCol="0">
            <a:spAutoFit/>
          </a:bodyPr>
          <a:lstStyle/>
          <a:p>
            <a:r>
              <a:rPr lang="en-US" sz="2400" b="1" dirty="0"/>
              <a:t>4.2 Numeric and String Literals</a:t>
            </a:r>
          </a:p>
          <a:p>
            <a:endParaRPr lang="en-US" sz="2000" dirty="0"/>
          </a:p>
          <a:p>
            <a:pPr marL="342900" indent="-342900">
              <a:buFont typeface="Arial" panose="020B0604020202020204" pitchFamily="34" charset="0"/>
              <a:buChar char="•"/>
            </a:pPr>
            <a:r>
              <a:rPr lang="en-US" sz="2000" dirty="0"/>
              <a:t>All numeric literals are </a:t>
            </a:r>
            <a:r>
              <a:rPr lang="en-US" sz="2000" dirty="0">
                <a:solidFill>
                  <a:srgbClr val="FF0000"/>
                </a:solidFill>
              </a:rPr>
              <a:t>primitive values </a:t>
            </a:r>
            <a:r>
              <a:rPr lang="en-US" sz="2000" dirty="0"/>
              <a:t>of type Number.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Number type values are represented internally in double-precision floating-point form.</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Literal numbers in a script can have the forms of either integer </a:t>
            </a:r>
            <a:r>
              <a:rPr lang="en-IN" sz="2000" dirty="0"/>
              <a:t>or floating-point values.</a:t>
            </a:r>
            <a:endParaRPr lang="en-US" sz="2000" dirty="0"/>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000" dirty="0"/>
              <a:t>72   7.2   .72   72.   7E2   </a:t>
            </a:r>
            <a:r>
              <a:rPr lang="en-US" sz="2000" dirty="0" err="1"/>
              <a:t>7e2</a:t>
            </a:r>
            <a:r>
              <a:rPr lang="en-US" sz="2000" dirty="0"/>
              <a:t>   .7e2   7.e2   7.2E-2</a:t>
            </a:r>
          </a:p>
          <a:p>
            <a:r>
              <a:rPr lang="en-US" sz="2000" dirty="0"/>
              <a:t>Integer literals can be written in hexadecimal form by preceding their first digit with either 0x or 0X.</a:t>
            </a:r>
          </a:p>
          <a:p>
            <a:endParaRPr lang="en-US" sz="2000" dirty="0"/>
          </a:p>
          <a:p>
            <a:r>
              <a:rPr lang="en-US" sz="2000" dirty="0"/>
              <a:t>A string literal is a sequence of zero or more characters delimited by either single quotes (') or double quotes (").</a:t>
            </a:r>
          </a:p>
          <a:p>
            <a:endParaRPr lang="en-US" sz="2000" dirty="0"/>
          </a:p>
          <a:p>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'You\'re the most freckly person I\'ve ever seen’</a:t>
            </a:r>
          </a:p>
          <a:p>
            <a:pPr lvl="2"/>
            <a:r>
              <a:rPr lang="en-IN" sz="2000" dirty="0">
                <a:latin typeface="Calibri Light" panose="020F0302020204030204" pitchFamily="34" charset="0"/>
                <a:ea typeface="Calibri Light" panose="020F0302020204030204" pitchFamily="34" charset="0"/>
                <a:cs typeface="Calibri Light" panose="020F0302020204030204" pitchFamily="34" charset="0"/>
              </a:rPr>
              <a:t>"D:\\bookfiles"</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endParaRPr lang="en-US" sz="2000" dirty="0"/>
          </a:p>
          <a:p>
            <a:endParaRPr lang="en-IN" sz="2000" dirty="0"/>
          </a:p>
        </p:txBody>
      </p:sp>
    </p:spTree>
    <p:extLst>
      <p:ext uri="{BB962C8B-B14F-4D97-AF65-F5344CB8AC3E}">
        <p14:creationId xmlns:p14="http://schemas.microsoft.com/office/powerpoint/2010/main" val="292606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1D11648-D234-8DF0-8AF7-237777A3F0DA}"/>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216A4827-A0CA-6EED-6D9E-B9FA6D753FA7}"/>
              </a:ext>
            </a:extLst>
          </p:cNvPr>
          <p:cNvSpPr txBox="1"/>
          <p:nvPr/>
        </p:nvSpPr>
        <p:spPr>
          <a:xfrm>
            <a:off x="524435" y="286870"/>
            <a:ext cx="11143129" cy="4154984"/>
          </a:xfrm>
          <a:prstGeom prst="rect">
            <a:avLst/>
          </a:prstGeom>
          <a:noFill/>
        </p:spPr>
        <p:txBody>
          <a:bodyPr wrap="square" rtlCol="0">
            <a:spAutoFit/>
          </a:bodyPr>
          <a:lstStyle/>
          <a:p>
            <a:r>
              <a:rPr lang="en-IN" sz="2400" b="1" dirty="0"/>
              <a:t>4.3 Other Primitive Types</a:t>
            </a:r>
            <a:endParaRPr lang="en-US" sz="2400" b="1" dirty="0"/>
          </a:p>
          <a:p>
            <a:endParaRPr lang="en-US" sz="2000" dirty="0"/>
          </a:p>
          <a:p>
            <a:pPr marL="342900" indent="-342900">
              <a:buFont typeface="Arial" panose="020B0604020202020204" pitchFamily="34" charset="0"/>
              <a:buChar char="•"/>
            </a:pPr>
            <a:r>
              <a:rPr lang="en-US" sz="2000" dirty="0"/>
              <a:t>The only value of type Null is the reserved word </a:t>
            </a:r>
            <a:r>
              <a:rPr lang="en-US" sz="2000" dirty="0">
                <a:solidFill>
                  <a:srgbClr val="FF0000"/>
                </a:solidFill>
              </a:rPr>
              <a:t>null</a:t>
            </a:r>
            <a:r>
              <a:rPr lang="en-US" sz="2000" dirty="0"/>
              <a:t>, which indicates no value. A variable is null if it has not been explicitly declared or assigned a value.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Causes runtime error if it is used.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only value of type Undefined is </a:t>
            </a:r>
            <a:r>
              <a:rPr lang="en-US" sz="2000" dirty="0">
                <a:solidFill>
                  <a:srgbClr val="FF0000"/>
                </a:solidFill>
              </a:rPr>
              <a:t>undefined</a:t>
            </a:r>
            <a:r>
              <a:rPr lang="en-US" sz="2000" dirty="0"/>
              <a:t>. Unlike null, there is no reserved word undefined. If a variable has been explicitly declared, but </a:t>
            </a:r>
            <a:r>
              <a:rPr lang="en-US" sz="2000" dirty="0">
                <a:solidFill>
                  <a:srgbClr val="FF0000"/>
                </a:solidFill>
              </a:rPr>
              <a:t>not assigned a value</a:t>
            </a:r>
            <a:r>
              <a:rPr lang="en-US" sz="2000" dirty="0"/>
              <a:t>, it has the value undefined. If the value of an undefined variable is displayed, the word undefined is displayed.</a:t>
            </a:r>
          </a:p>
          <a:p>
            <a:pPr marL="342900" indent="-342900">
              <a:buFont typeface="Arial" panose="020B0604020202020204" pitchFamily="34" charset="0"/>
              <a:buChar char="•"/>
            </a:pPr>
            <a:r>
              <a:rPr lang="en-US" sz="2000" dirty="0"/>
              <a:t>The only values of type Boolean are </a:t>
            </a:r>
            <a:r>
              <a:rPr lang="en-US" sz="2000" dirty="0">
                <a:solidFill>
                  <a:srgbClr val="FF0000"/>
                </a:solidFill>
              </a:rPr>
              <a:t>true</a:t>
            </a:r>
            <a:r>
              <a:rPr lang="en-US" sz="2000" dirty="0"/>
              <a:t> and </a:t>
            </a:r>
            <a:r>
              <a:rPr lang="en-US" sz="2000" dirty="0">
                <a:solidFill>
                  <a:srgbClr val="FF0000"/>
                </a:solidFill>
              </a:rPr>
              <a:t>false</a:t>
            </a:r>
            <a:r>
              <a:rPr lang="en-US" sz="2000" dirty="0"/>
              <a:t>. </a:t>
            </a:r>
          </a:p>
          <a:p>
            <a:endParaRPr lang="en-US" sz="2000" dirty="0"/>
          </a:p>
          <a:p>
            <a:endParaRPr lang="en-IN" sz="2000" dirty="0"/>
          </a:p>
        </p:txBody>
      </p:sp>
      <p:pic>
        <p:nvPicPr>
          <p:cNvPr id="4" name="Picture 3">
            <a:extLst>
              <a:ext uri="{FF2B5EF4-FFF2-40B4-BE49-F238E27FC236}">
                <a16:creationId xmlns="" xmlns:a16="http://schemas.microsoft.com/office/drawing/2014/main" id="{C09B1C02-4607-09CC-7C0E-CE229F3B40D8}"/>
              </a:ext>
            </a:extLst>
          </p:cNvPr>
          <p:cNvPicPr>
            <a:picLocks noChangeAspect="1"/>
          </p:cNvPicPr>
          <p:nvPr/>
        </p:nvPicPr>
        <p:blipFill>
          <a:blip r:embed="rId2"/>
          <a:stretch>
            <a:fillRect/>
          </a:stretch>
        </p:blipFill>
        <p:spPr>
          <a:xfrm>
            <a:off x="3541459" y="3895873"/>
            <a:ext cx="4320590" cy="2471186"/>
          </a:xfrm>
          <a:prstGeom prst="rect">
            <a:avLst/>
          </a:prstGeom>
        </p:spPr>
      </p:pic>
    </p:spTree>
    <p:extLst>
      <p:ext uri="{BB962C8B-B14F-4D97-AF65-F5344CB8AC3E}">
        <p14:creationId xmlns:p14="http://schemas.microsoft.com/office/powerpoint/2010/main" val="70847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D49B0C8-06BE-EBAC-5222-592BBDA5AE56}"/>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587B783F-A679-6240-95AC-2F4EC42EF755}"/>
              </a:ext>
            </a:extLst>
          </p:cNvPr>
          <p:cNvSpPr txBox="1"/>
          <p:nvPr/>
        </p:nvSpPr>
        <p:spPr>
          <a:xfrm>
            <a:off x="528918" y="421341"/>
            <a:ext cx="11143129" cy="5386090"/>
          </a:xfrm>
          <a:prstGeom prst="rect">
            <a:avLst/>
          </a:prstGeom>
          <a:noFill/>
        </p:spPr>
        <p:txBody>
          <a:bodyPr wrap="square" rtlCol="0">
            <a:spAutoFit/>
          </a:bodyPr>
          <a:lstStyle/>
          <a:p>
            <a:r>
              <a:rPr lang="en-IN" sz="2400" b="1" dirty="0"/>
              <a:t>4.4 Declaring Variables</a:t>
            </a:r>
            <a:endParaRPr lang="en-US" sz="2400" b="1" dirty="0"/>
          </a:p>
          <a:p>
            <a:pPr algn="just"/>
            <a:endParaRPr lang="en-US" sz="2000" dirty="0"/>
          </a:p>
          <a:p>
            <a:pPr algn="just"/>
            <a:r>
              <a:rPr lang="en-US" sz="2000" dirty="0"/>
              <a:t>One of the characteristics of JavaScript that sets it apart from most common non scripting programming languages is that it is </a:t>
            </a:r>
            <a:r>
              <a:rPr lang="en-US" sz="2000" dirty="0">
                <a:solidFill>
                  <a:srgbClr val="FF0000"/>
                </a:solidFill>
              </a:rPr>
              <a:t>dynamically</a:t>
            </a:r>
            <a:r>
              <a:rPr lang="en-US" sz="2000" dirty="0"/>
              <a:t> typed.</a:t>
            </a:r>
          </a:p>
          <a:p>
            <a:pPr algn="just"/>
            <a:endParaRPr lang="en-US" sz="2000" dirty="0"/>
          </a:p>
          <a:p>
            <a:pPr algn="just"/>
            <a:r>
              <a:rPr lang="en-US" sz="2000" dirty="0"/>
              <a:t>The type of the value of a particular appearance of a variable in a program can be </a:t>
            </a:r>
            <a:r>
              <a:rPr lang="en-IN" sz="2000" dirty="0"/>
              <a:t>determined by the interpreter.</a:t>
            </a:r>
            <a:endParaRPr lang="en-US" sz="2000" dirty="0"/>
          </a:p>
          <a:p>
            <a:pPr algn="just"/>
            <a:endParaRPr lang="en-IN" sz="2000" dirty="0"/>
          </a:p>
          <a:p>
            <a:pPr algn="just"/>
            <a:r>
              <a:rPr lang="en-US" sz="2000" dirty="0"/>
              <a:t>A variable can be declared either by assigning it a value, in which case the interpreter implicitly declares it to be a variable, or by listing it in a declaration statement that begins with the reserved word </a:t>
            </a:r>
            <a:r>
              <a:rPr lang="en-US" sz="2000" dirty="0">
                <a:solidFill>
                  <a:srgbClr val="FF0000"/>
                </a:solidFill>
              </a:rPr>
              <a:t>var</a:t>
            </a:r>
            <a:r>
              <a:rPr lang="en-US" sz="2000" dirty="0"/>
              <a:t>.</a:t>
            </a:r>
          </a:p>
          <a:p>
            <a:pPr algn="just"/>
            <a:endParaRPr lang="en-US" sz="2000" dirty="0"/>
          </a:p>
          <a:p>
            <a:pPr lvl="1" algn="just"/>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var counter,</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index,</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pi = 3.14159265, </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quarterback = "Elway",</a:t>
            </a:r>
          </a:p>
          <a:p>
            <a:pPr lvl="1" algn="just"/>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stop_flag</a:t>
            </a:r>
            <a:r>
              <a:rPr lang="en-US" sz="2000" dirty="0">
                <a:latin typeface="Calibri Light" panose="020F0302020204030204" pitchFamily="34" charset="0"/>
                <a:ea typeface="Calibri Light" panose="020F0302020204030204" pitchFamily="34" charset="0"/>
                <a:cs typeface="Calibri Light" panose="020F0302020204030204" pitchFamily="34" charset="0"/>
              </a:rPr>
              <a:t> = true;</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2835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19C35B1-05F0-15BA-929B-BEF67B652E4F}"/>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2F35F3E9-1DE1-0917-B90F-127A5BB6C944}"/>
              </a:ext>
            </a:extLst>
          </p:cNvPr>
          <p:cNvSpPr txBox="1"/>
          <p:nvPr/>
        </p:nvSpPr>
        <p:spPr>
          <a:xfrm>
            <a:off x="528918" y="421341"/>
            <a:ext cx="11143129" cy="5693866"/>
          </a:xfrm>
          <a:prstGeom prst="rect">
            <a:avLst/>
          </a:prstGeom>
          <a:noFill/>
        </p:spPr>
        <p:txBody>
          <a:bodyPr wrap="square" rtlCol="0">
            <a:spAutoFit/>
          </a:bodyPr>
          <a:lstStyle/>
          <a:p>
            <a:r>
              <a:rPr lang="en-IN" sz="2400" b="1" dirty="0"/>
              <a:t>4.5 Numeric Operators</a:t>
            </a:r>
            <a:endParaRPr lang="en-US" sz="2400" b="1" dirty="0"/>
          </a:p>
          <a:p>
            <a:endParaRPr lang="en-US" sz="2000" dirty="0"/>
          </a:p>
          <a:p>
            <a:pPr marL="342900" indent="-342900">
              <a:buFont typeface="Arial" panose="020B0604020202020204" pitchFamily="34" charset="0"/>
              <a:buChar char="•"/>
            </a:pPr>
            <a:r>
              <a:rPr lang="en-US" sz="2000" dirty="0"/>
              <a:t>JavaScript has the typical collection of numeric operators: the binary operators + for addition, - for subtraction, * for multiplication, / for division, and % for modulus.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unary operators are plus (+), negate (-), decrement (--), and increment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associativity rules of a language specify which operator is evaluated first when two operators with the same precedence are adjacent in an expression.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en-IN" sz="2000" dirty="0"/>
          </a:p>
        </p:txBody>
      </p:sp>
      <p:pic>
        <p:nvPicPr>
          <p:cNvPr id="4" name="Picture 3">
            <a:extLst>
              <a:ext uri="{FF2B5EF4-FFF2-40B4-BE49-F238E27FC236}">
                <a16:creationId xmlns="" xmlns:a16="http://schemas.microsoft.com/office/drawing/2014/main" id="{02B15C11-3D86-2712-4A33-1B5B32495543}"/>
              </a:ext>
            </a:extLst>
          </p:cNvPr>
          <p:cNvPicPr>
            <a:picLocks noChangeAspect="1"/>
          </p:cNvPicPr>
          <p:nvPr/>
        </p:nvPicPr>
        <p:blipFill>
          <a:blip r:embed="rId2"/>
          <a:stretch>
            <a:fillRect/>
          </a:stretch>
        </p:blipFill>
        <p:spPr>
          <a:xfrm>
            <a:off x="2714153" y="3631400"/>
            <a:ext cx="6763694" cy="2105319"/>
          </a:xfrm>
          <a:prstGeom prst="rect">
            <a:avLst/>
          </a:prstGeom>
        </p:spPr>
      </p:pic>
    </p:spTree>
    <p:extLst>
      <p:ext uri="{BB962C8B-B14F-4D97-AF65-F5344CB8AC3E}">
        <p14:creationId xmlns:p14="http://schemas.microsoft.com/office/powerpoint/2010/main" val="4148277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8FA50A0-76B9-3977-F42E-03D8C40472FD}"/>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3E8ACC8D-6B3B-6765-FE3D-129971363D72}"/>
              </a:ext>
            </a:extLst>
          </p:cNvPr>
          <p:cNvSpPr txBox="1"/>
          <p:nvPr/>
        </p:nvSpPr>
        <p:spPr>
          <a:xfrm>
            <a:off x="528918" y="421341"/>
            <a:ext cx="11143129" cy="4770537"/>
          </a:xfrm>
          <a:prstGeom prst="rect">
            <a:avLst/>
          </a:prstGeom>
          <a:noFill/>
        </p:spPr>
        <p:txBody>
          <a:bodyPr wrap="square" rtlCol="0">
            <a:spAutoFit/>
          </a:bodyPr>
          <a:lstStyle/>
          <a:p>
            <a:r>
              <a:rPr lang="en-IN" sz="2400" b="1" dirty="0"/>
              <a:t>4.6 The Math Object</a:t>
            </a:r>
            <a:endParaRPr lang="en-US" sz="2400" b="1" dirty="0"/>
          </a:p>
          <a:p>
            <a:endParaRPr lang="en-US" sz="2000" dirty="0"/>
          </a:p>
          <a:p>
            <a:pPr marL="342900" indent="-342900" algn="just">
              <a:buFont typeface="Arial" panose="020B0604020202020204" pitchFamily="34" charset="0"/>
              <a:buChar char="•"/>
            </a:pPr>
            <a:r>
              <a:rPr lang="en-US" sz="2000" dirty="0"/>
              <a:t>The Math object provides a collection of properties of Number objects and methods that operate on Number objects.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Math object has methods for the trigonometric functions, such as sin (for sine) and cos (for cosine), as well as for other commonly used mathematical operations.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Among these are floor, to truncate a number; round, to round a number; and max, to return the largest of two given numbers.</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Math.sin</a:t>
            </a:r>
            <a:r>
              <a:rPr lang="en-US" sz="2000" dirty="0">
                <a:latin typeface="Calibri Light" panose="020F0302020204030204" pitchFamily="34" charset="0"/>
                <a:ea typeface="Calibri Light" panose="020F0302020204030204" pitchFamily="34" charset="0"/>
                <a:cs typeface="Calibri Light" panose="020F0302020204030204" pitchFamily="34" charset="0"/>
              </a:rPr>
              <a:t>(x)</a:t>
            </a:r>
          </a:p>
          <a:p>
            <a:endParaRPr lang="en-US" sz="2000" dirty="0"/>
          </a:p>
          <a:p>
            <a:endParaRPr lang="en-US" sz="2000" dirty="0"/>
          </a:p>
          <a:p>
            <a:endParaRPr lang="en-IN" sz="2000" dirty="0"/>
          </a:p>
        </p:txBody>
      </p:sp>
    </p:spTree>
    <p:extLst>
      <p:ext uri="{BB962C8B-B14F-4D97-AF65-F5344CB8AC3E}">
        <p14:creationId xmlns:p14="http://schemas.microsoft.com/office/powerpoint/2010/main" val="914979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38057A-6130-F7D2-9409-E84B93616DC0}"/>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E9952427-D84A-B225-7AC7-DF3EC9D63606}"/>
              </a:ext>
            </a:extLst>
          </p:cNvPr>
          <p:cNvSpPr txBox="1"/>
          <p:nvPr/>
        </p:nvSpPr>
        <p:spPr>
          <a:xfrm>
            <a:off x="528918" y="421341"/>
            <a:ext cx="11143129" cy="5693866"/>
          </a:xfrm>
          <a:prstGeom prst="rect">
            <a:avLst/>
          </a:prstGeom>
          <a:noFill/>
        </p:spPr>
        <p:txBody>
          <a:bodyPr wrap="square" rtlCol="0">
            <a:spAutoFit/>
          </a:bodyPr>
          <a:lstStyle/>
          <a:p>
            <a:r>
              <a:rPr lang="en-IN" sz="2400" b="1" dirty="0"/>
              <a:t>4.7 The Number Object</a:t>
            </a:r>
            <a:endParaRPr lang="en-US" sz="2400" b="1" dirty="0"/>
          </a:p>
          <a:p>
            <a:endParaRPr lang="en-US" sz="2000" dirty="0"/>
          </a:p>
          <a:p>
            <a:r>
              <a:rPr lang="en-US" sz="2000" dirty="0"/>
              <a:t>The Number object includes a collection of useful properties that have constant values.</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var price = 427,</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str_price</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 . .</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str_price</a:t>
            </a:r>
            <a:r>
              <a:rPr lang="en-US" sz="2000" dirty="0">
                <a:latin typeface="Calibri Light" panose="020F0302020204030204" pitchFamily="34" charset="0"/>
                <a:ea typeface="Calibri Light" panose="020F0302020204030204" pitchFamily="34" charset="0"/>
                <a:cs typeface="Calibri Light" panose="020F0302020204030204" pitchFamily="34" charset="0"/>
              </a:rPr>
              <a:t> =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price.toString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a:p>
            <a:endParaRPr lang="en-US" sz="2000" dirty="0"/>
          </a:p>
          <a:p>
            <a:endParaRPr lang="en-IN" sz="2000" dirty="0"/>
          </a:p>
        </p:txBody>
      </p:sp>
      <p:pic>
        <p:nvPicPr>
          <p:cNvPr id="4" name="Picture 3">
            <a:extLst>
              <a:ext uri="{FF2B5EF4-FFF2-40B4-BE49-F238E27FC236}">
                <a16:creationId xmlns="" xmlns:a16="http://schemas.microsoft.com/office/drawing/2014/main" id="{BB75D7E8-9620-716A-653C-1346A9E198AE}"/>
              </a:ext>
            </a:extLst>
          </p:cNvPr>
          <p:cNvPicPr>
            <a:picLocks noChangeAspect="1"/>
          </p:cNvPicPr>
          <p:nvPr/>
        </p:nvPicPr>
        <p:blipFill>
          <a:blip r:embed="rId2"/>
          <a:stretch>
            <a:fillRect/>
          </a:stretch>
        </p:blipFill>
        <p:spPr>
          <a:xfrm>
            <a:off x="2076138" y="1515724"/>
            <a:ext cx="7005109" cy="2437243"/>
          </a:xfrm>
          <a:prstGeom prst="rect">
            <a:avLst/>
          </a:prstGeom>
        </p:spPr>
      </p:pic>
    </p:spTree>
    <p:extLst>
      <p:ext uri="{BB962C8B-B14F-4D97-AF65-F5344CB8AC3E}">
        <p14:creationId xmlns:p14="http://schemas.microsoft.com/office/powerpoint/2010/main" val="154241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83AAF7F-5D2F-B2F2-A4D0-0A5182A14A51}"/>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A2EA22-B466-4EC1-BB98-70D52F3E7CC9}"/>
              </a:ext>
            </a:extLst>
          </p:cNvPr>
          <p:cNvSpPr txBox="1"/>
          <p:nvPr/>
        </p:nvSpPr>
        <p:spPr>
          <a:xfrm>
            <a:off x="528918" y="421341"/>
            <a:ext cx="11143129" cy="6063198"/>
          </a:xfrm>
          <a:prstGeom prst="rect">
            <a:avLst/>
          </a:prstGeom>
          <a:noFill/>
        </p:spPr>
        <p:txBody>
          <a:bodyPr wrap="square" rtlCol="0">
            <a:spAutoFit/>
          </a:bodyPr>
          <a:lstStyle/>
          <a:p>
            <a:r>
              <a:rPr lang="en-US" sz="2400" b="1" dirty="0"/>
              <a:t>4.8 The String Catenation Operator</a:t>
            </a:r>
          </a:p>
          <a:p>
            <a:endParaRPr lang="en-US" sz="2000" dirty="0"/>
          </a:p>
          <a:p>
            <a:pPr marL="342900" indent="-342900">
              <a:buFont typeface="Arial" panose="020B0604020202020204" pitchFamily="34" charset="0"/>
              <a:buChar char="•"/>
            </a:pPr>
            <a:r>
              <a:rPr lang="en-US" sz="2000" dirty="0"/>
              <a:t>JavaScript strings are not stored or treated as arrays of characters; rather, they are unit scalar values.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String catenation is specified with the operator denoted by a plus sign (+).</a:t>
            </a:r>
          </a:p>
          <a:p>
            <a:endParaRPr lang="en-US" sz="2000" dirty="0"/>
          </a:p>
          <a:p>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first + " Freeloader"</a:t>
            </a:r>
          </a:p>
          <a:p>
            <a:endParaRPr lang="en-IN" sz="2000" dirty="0"/>
          </a:p>
          <a:p>
            <a:r>
              <a:rPr lang="en-IN" sz="2400" b="1" dirty="0"/>
              <a:t>4.9 Implicit Type Conversions</a:t>
            </a:r>
            <a:endParaRPr lang="en-US" sz="2400" b="1" dirty="0"/>
          </a:p>
          <a:p>
            <a:endParaRPr lang="en-US" sz="2000" dirty="0"/>
          </a:p>
          <a:p>
            <a:pPr marL="342900" indent="-342900">
              <a:buFont typeface="Arial" panose="020B0604020202020204" pitchFamily="34" charset="0"/>
              <a:buChar char="•"/>
            </a:pPr>
            <a:r>
              <a:rPr lang="en-US" sz="2000" dirty="0"/>
              <a:t>The JavaScript interpreter performs several different implicit type conversions. Such conversions are called </a:t>
            </a:r>
            <a:r>
              <a:rPr lang="en-US" sz="2000" i="1" dirty="0">
                <a:latin typeface="Calibri Light" panose="020F0302020204030204" pitchFamily="34" charset="0"/>
                <a:ea typeface="Calibri Light" panose="020F0302020204030204" pitchFamily="34" charset="0"/>
                <a:cs typeface="Calibri Light" panose="020F0302020204030204" pitchFamily="34" charset="0"/>
              </a:rPr>
              <a:t>coercions</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If either operand of a + operator is a string, the operator is interpreted as a string catenation operator.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"August " + 1977</a:t>
            </a:r>
            <a:endParaRPr lang="en-IN" sz="2000" dirty="0"/>
          </a:p>
          <a:p>
            <a:pPr marL="342900" indent="-342900">
              <a:buFont typeface="Arial" panose="020B0604020202020204" pitchFamily="34" charset="0"/>
              <a:buChar char="•"/>
            </a:pPr>
            <a:r>
              <a:rPr lang="en-IN" sz="2000" dirty="0"/>
              <a:t>	7 * "3"</a:t>
            </a:r>
          </a:p>
        </p:txBody>
      </p:sp>
    </p:spTree>
    <p:extLst>
      <p:ext uri="{BB962C8B-B14F-4D97-AF65-F5344CB8AC3E}">
        <p14:creationId xmlns:p14="http://schemas.microsoft.com/office/powerpoint/2010/main" val="670236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0060111-BBB5-89A2-BAB8-9C9253F502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0BBCA25E-2791-4919-97DF-435B41C194F8}"/>
              </a:ext>
            </a:extLst>
          </p:cNvPr>
          <p:cNvSpPr txBox="1"/>
          <p:nvPr/>
        </p:nvSpPr>
        <p:spPr>
          <a:xfrm>
            <a:off x="528918" y="421341"/>
            <a:ext cx="11143129" cy="6063198"/>
          </a:xfrm>
          <a:prstGeom prst="rect">
            <a:avLst/>
          </a:prstGeom>
          <a:noFill/>
        </p:spPr>
        <p:txBody>
          <a:bodyPr wrap="square" rtlCol="0">
            <a:spAutoFit/>
          </a:bodyPr>
          <a:lstStyle/>
          <a:p>
            <a:r>
              <a:rPr lang="en-IN" sz="2400" b="1" dirty="0"/>
              <a:t>4.10 Explicit Type Conversions</a:t>
            </a:r>
          </a:p>
          <a:p>
            <a:endParaRPr lang="en-IN" sz="2400" dirty="0"/>
          </a:p>
          <a:p>
            <a:pPr marL="342900" indent="-342900">
              <a:buFont typeface="Arial" panose="020B0604020202020204" pitchFamily="34" charset="0"/>
              <a:buChar char="•"/>
            </a:pPr>
            <a:r>
              <a:rPr lang="en-US" sz="2000" dirty="0"/>
              <a:t>There are several different ways to force type conversions, primarily between strings and numbers.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Strings that contain numbers can be converted to numbers with the String constructor</a:t>
            </a:r>
          </a:p>
          <a:p>
            <a:pPr lvl="1"/>
            <a:r>
              <a:rPr lang="en-US" sz="2000" dirty="0"/>
              <a:t>Ex1:</a:t>
            </a:r>
          </a:p>
          <a:p>
            <a:pPr lvl="2"/>
            <a:r>
              <a:rPr lang="en-IN" sz="2000" dirty="0">
                <a:latin typeface="Calibri Light" panose="020F0302020204030204" pitchFamily="34" charset="0"/>
                <a:ea typeface="Calibri Light" panose="020F0302020204030204" pitchFamily="34" charset="0"/>
                <a:cs typeface="Calibri Light" panose="020F0302020204030204" pitchFamily="34" charset="0"/>
              </a:rPr>
              <a:t>var </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str_value</a:t>
            </a:r>
            <a:r>
              <a:rPr lang="en-IN" sz="2000" dirty="0">
                <a:latin typeface="Calibri Light" panose="020F0302020204030204" pitchFamily="34" charset="0"/>
                <a:ea typeface="Calibri Light" panose="020F0302020204030204" pitchFamily="34" charset="0"/>
                <a:cs typeface="Calibri Light" panose="020F0302020204030204" pitchFamily="34" charset="0"/>
              </a:rPr>
              <a:t> = String(value);</a:t>
            </a:r>
          </a:p>
          <a:p>
            <a:pPr lvl="1"/>
            <a:r>
              <a:rPr lang="en-IN" sz="2000" dirty="0"/>
              <a:t>Ex2:</a:t>
            </a:r>
          </a:p>
          <a:p>
            <a:pPr lvl="2"/>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var num = 6;</a:t>
            </a:r>
          </a:p>
          <a:p>
            <a:pPr lvl="2"/>
            <a:r>
              <a:rPr lang="en-US" sz="2000" dirty="0">
                <a:latin typeface="Calibri Light" panose="020F0302020204030204" pitchFamily="34" charset="0"/>
                <a:ea typeface="Calibri Light" panose="020F0302020204030204" pitchFamily="34" charset="0"/>
                <a:cs typeface="Calibri Light" panose="020F0302020204030204" pitchFamily="34" charset="0"/>
              </a:rPr>
              <a:t> var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str_value</a:t>
            </a:r>
            <a:r>
              <a:rPr lang="en-US" sz="2000" dirty="0">
                <a:latin typeface="Calibri Light" panose="020F0302020204030204" pitchFamily="34" charset="0"/>
                <a:ea typeface="Calibri Light" panose="020F0302020204030204" pitchFamily="34" charset="0"/>
                <a:cs typeface="Calibri Light" panose="020F0302020204030204" pitchFamily="34" charset="0"/>
              </a:rPr>
              <a:t> =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num.toString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r>
              <a:rPr lang="en-US" sz="2000" dirty="0"/>
              <a:t>		//”6”</a:t>
            </a:r>
          </a:p>
          <a:p>
            <a:pPr lvl="2"/>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var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str_value_binary</a:t>
            </a:r>
            <a:r>
              <a:rPr lang="en-US" sz="2000" dirty="0">
                <a:latin typeface="Calibri Light" panose="020F0302020204030204" pitchFamily="34" charset="0"/>
                <a:ea typeface="Calibri Light" panose="020F0302020204030204" pitchFamily="34" charset="0"/>
                <a:cs typeface="Calibri Light" panose="020F0302020204030204" pitchFamily="34" charset="0"/>
              </a:rPr>
              <a:t> =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num.toString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(2);</a:t>
            </a:r>
            <a:r>
              <a:rPr lang="en-US" sz="2000" dirty="0"/>
              <a:t>	//”110”</a:t>
            </a:r>
          </a:p>
          <a:p>
            <a:pPr marL="342900" indent="-342900">
              <a:buFont typeface="Arial" panose="020B0604020202020204" pitchFamily="34" charset="0"/>
              <a:buChar char="•"/>
            </a:pPr>
            <a:r>
              <a:rPr lang="en-US" sz="2000" dirty="0"/>
              <a:t>A number also can be converted to a string by catenating it with the empty string.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Strings can be explicitly converted to numbers in several different ways.</a:t>
            </a:r>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var number = Number(</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aString</a:t>
            </a:r>
            <a:r>
              <a:rPr lang="en-IN" sz="2000" dirty="0">
                <a:latin typeface="Calibri Light" panose="020F0302020204030204" pitchFamily="34" charset="0"/>
                <a:ea typeface="Calibri Light" panose="020F0302020204030204" pitchFamily="34" charset="0"/>
                <a:cs typeface="Calibri Light" panose="020F0302020204030204" pitchFamily="34" charset="0"/>
              </a:rPr>
              <a:t>);</a:t>
            </a:r>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var number = </a:t>
            </a:r>
            <a:r>
              <a:rPr lang="en-IN" sz="2000" dirty="0" err="1">
                <a:latin typeface="Calibri Light" panose="020F0302020204030204" pitchFamily="34" charset="0"/>
                <a:ea typeface="Calibri Light" panose="020F0302020204030204" pitchFamily="34" charset="0"/>
                <a:cs typeface="Calibri Light" panose="020F0302020204030204" pitchFamily="34" charset="0"/>
              </a:rPr>
              <a:t>aString</a:t>
            </a:r>
            <a:r>
              <a:rPr lang="en-IN" sz="2000" dirty="0">
                <a:latin typeface="Calibri Light" panose="020F0302020204030204" pitchFamily="34" charset="0"/>
                <a:ea typeface="Calibri Light" panose="020F0302020204030204" pitchFamily="34" charset="0"/>
                <a:cs typeface="Calibri Light" panose="020F0302020204030204" pitchFamily="34" charset="0"/>
              </a:rPr>
              <a:t> - 0;</a:t>
            </a:r>
          </a:p>
          <a:p>
            <a:pPr marL="342900" indent="-342900">
              <a:buFont typeface="Arial" panose="020B0604020202020204" pitchFamily="34" charset="0"/>
              <a:buChar char="•"/>
            </a:pPr>
            <a:r>
              <a:rPr lang="en-US" sz="2000" dirty="0"/>
              <a:t>The two, </a:t>
            </a:r>
            <a:r>
              <a:rPr lang="en-US" sz="2000" dirty="0" err="1"/>
              <a:t>parseInt</a:t>
            </a:r>
            <a:r>
              <a:rPr lang="en-US" sz="2000" dirty="0"/>
              <a:t> and </a:t>
            </a:r>
            <a:r>
              <a:rPr lang="en-US" sz="2000" dirty="0" err="1"/>
              <a:t>parseFloat</a:t>
            </a:r>
            <a:r>
              <a:rPr lang="en-US" sz="2000" dirty="0"/>
              <a:t>, are not String methods, so they are not called through String objects.</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386397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5C3FDBB-20C5-2E07-B040-7EADAC48EBA2}"/>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90945465-FD30-06B7-9610-0517633E15C8}"/>
              </a:ext>
            </a:extLst>
          </p:cNvPr>
          <p:cNvSpPr txBox="1"/>
          <p:nvPr/>
        </p:nvSpPr>
        <p:spPr>
          <a:xfrm>
            <a:off x="528918" y="421341"/>
            <a:ext cx="11143129" cy="5078313"/>
          </a:xfrm>
          <a:prstGeom prst="rect">
            <a:avLst/>
          </a:prstGeom>
          <a:noFill/>
        </p:spPr>
        <p:txBody>
          <a:bodyPr wrap="square" rtlCol="0">
            <a:spAutoFit/>
          </a:bodyPr>
          <a:lstStyle/>
          <a:p>
            <a:r>
              <a:rPr lang="en-US" sz="2400" b="1" dirty="0"/>
              <a:t>4.11 String Properties and Methods</a:t>
            </a:r>
          </a:p>
          <a:p>
            <a:endParaRPr lang="en-US" sz="2000" dirty="0"/>
          </a:p>
          <a:p>
            <a:pPr marL="342900" indent="-342900" algn="just">
              <a:buFont typeface="Arial" panose="020B0604020202020204" pitchFamily="34" charset="0"/>
              <a:buChar char="•"/>
            </a:pPr>
            <a:r>
              <a:rPr lang="en-US" sz="2000" dirty="0"/>
              <a:t>String methods can always be used through String primitive values, as if the values were objects because of coercion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length property: gives number of characters in a string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String Methods: </a:t>
            </a:r>
          </a:p>
          <a:p>
            <a:endParaRPr lang="en-US" sz="2000" dirty="0"/>
          </a:p>
          <a:p>
            <a:pPr lvl="1"/>
            <a:r>
              <a:rPr lang="en-IN" sz="2000" dirty="0">
                <a:latin typeface="Calibri Light" panose="020F0302020204030204" pitchFamily="34" charset="0"/>
                <a:ea typeface="Calibri Light" panose="020F0302020204030204" pitchFamily="34" charset="0"/>
                <a:cs typeface="Calibri Light" panose="020F0302020204030204" pitchFamily="34" charset="0"/>
              </a:rPr>
              <a:t>var str = "George";</a:t>
            </a:r>
          </a:p>
          <a:p>
            <a:pPr lvl="1"/>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str.charAt</a:t>
            </a:r>
            <a:r>
              <a:rPr lang="en-US" sz="2000" dirty="0">
                <a:latin typeface="Calibri Light" panose="020F0302020204030204" pitchFamily="34" charset="0"/>
                <a:ea typeface="Calibri Light" panose="020F0302020204030204" pitchFamily="34" charset="0"/>
                <a:cs typeface="Calibri Light" panose="020F0302020204030204" pitchFamily="34" charset="0"/>
              </a:rPr>
              <a:t>(2)  is 'o'</a:t>
            </a: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str.indexOf</a:t>
            </a:r>
            <a:r>
              <a:rPr lang="en-US" sz="2000" dirty="0">
                <a:latin typeface="Calibri Light" panose="020F0302020204030204" pitchFamily="34" charset="0"/>
                <a:ea typeface="Calibri Light" panose="020F0302020204030204" pitchFamily="34" charset="0"/>
                <a:cs typeface="Calibri Light" panose="020F0302020204030204" pitchFamily="34" charset="0"/>
              </a:rPr>
              <a:t>('r')  is 3</a:t>
            </a: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str.substring</a:t>
            </a:r>
            <a:r>
              <a:rPr lang="en-US" sz="2000" dirty="0">
                <a:latin typeface="Calibri Light" panose="020F0302020204030204" pitchFamily="34" charset="0"/>
                <a:ea typeface="Calibri Light" panose="020F0302020204030204" pitchFamily="34" charset="0"/>
                <a:cs typeface="Calibri Light" panose="020F0302020204030204" pitchFamily="34" charset="0"/>
              </a:rPr>
              <a:t>(2, 4)  is 'org'</a:t>
            </a:r>
          </a:p>
          <a:p>
            <a:pPr lvl="1"/>
            <a:r>
              <a:rPr lang="en-US" sz="2000" dirty="0" err="1">
                <a:latin typeface="Calibri Light" panose="020F0302020204030204" pitchFamily="34" charset="0"/>
                <a:ea typeface="Calibri Light" panose="020F0302020204030204" pitchFamily="34" charset="0"/>
                <a:cs typeface="Calibri Light" panose="020F0302020204030204" pitchFamily="34" charset="0"/>
              </a:rPr>
              <a:t>str.toLowerCase</a:t>
            </a:r>
            <a:r>
              <a:rPr lang="en-US" sz="2000" dirty="0">
                <a:latin typeface="Calibri Light" panose="020F0302020204030204" pitchFamily="34" charset="0"/>
                <a:ea typeface="Calibri Light" panose="020F0302020204030204" pitchFamily="34" charset="0"/>
                <a:cs typeface="Calibri Light" panose="020F0302020204030204" pitchFamily="34" charset="0"/>
              </a:rPr>
              <a:t>()  is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george</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a:p>
            <a:endParaRPr lang="en-IN" sz="2000" dirty="0"/>
          </a:p>
        </p:txBody>
      </p:sp>
      <p:pic>
        <p:nvPicPr>
          <p:cNvPr id="4" name="Picture 3">
            <a:extLst>
              <a:ext uri="{FF2B5EF4-FFF2-40B4-BE49-F238E27FC236}">
                <a16:creationId xmlns="" xmlns:a16="http://schemas.microsoft.com/office/drawing/2014/main" id="{0FFD04F0-553F-4775-4F49-77D64752EF92}"/>
              </a:ext>
            </a:extLst>
          </p:cNvPr>
          <p:cNvPicPr>
            <a:picLocks noChangeAspect="1"/>
          </p:cNvPicPr>
          <p:nvPr/>
        </p:nvPicPr>
        <p:blipFill>
          <a:blip r:embed="rId2"/>
          <a:stretch>
            <a:fillRect/>
          </a:stretch>
        </p:blipFill>
        <p:spPr>
          <a:xfrm>
            <a:off x="4366470" y="3113826"/>
            <a:ext cx="7529035" cy="2843785"/>
          </a:xfrm>
          <a:prstGeom prst="rect">
            <a:avLst/>
          </a:prstGeom>
        </p:spPr>
      </p:pic>
    </p:spTree>
    <p:extLst>
      <p:ext uri="{BB962C8B-B14F-4D97-AF65-F5344CB8AC3E}">
        <p14:creationId xmlns:p14="http://schemas.microsoft.com/office/powerpoint/2010/main" val="4286449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205E99-5F94-D695-7B0F-ECECDEB9771D}"/>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93E23804-2F5A-96A7-810D-3A1504C52EED}"/>
              </a:ext>
            </a:extLst>
          </p:cNvPr>
          <p:cNvSpPr txBox="1"/>
          <p:nvPr/>
        </p:nvSpPr>
        <p:spPr>
          <a:xfrm>
            <a:off x="528918" y="421341"/>
            <a:ext cx="11143129" cy="5693866"/>
          </a:xfrm>
          <a:prstGeom prst="rect">
            <a:avLst/>
          </a:prstGeom>
          <a:noFill/>
        </p:spPr>
        <p:txBody>
          <a:bodyPr wrap="square" rtlCol="0">
            <a:spAutoFit/>
          </a:bodyPr>
          <a:lstStyle/>
          <a:p>
            <a:r>
              <a:rPr lang="en-IN" sz="2400" b="1" dirty="0"/>
              <a:t>4.12 The </a:t>
            </a:r>
            <a:r>
              <a:rPr lang="en-IN" sz="2400" b="1" dirty="0" err="1"/>
              <a:t>typeof</a:t>
            </a:r>
            <a:r>
              <a:rPr lang="en-IN" sz="2400" b="1" dirty="0"/>
              <a:t> Operator</a:t>
            </a:r>
            <a:endParaRPr lang="en-US" sz="2400" b="1" dirty="0"/>
          </a:p>
          <a:p>
            <a:endParaRPr lang="en-US" sz="2000" dirty="0"/>
          </a:p>
          <a:p>
            <a:pPr marL="342900" indent="-342900" algn="just">
              <a:buFont typeface="Arial" panose="020B0604020202020204" pitchFamily="34" charset="0"/>
              <a:buChar char="•"/>
            </a:pPr>
            <a:r>
              <a:rPr lang="en-US" sz="2000" dirty="0"/>
              <a:t>returns the type of its single operand</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IN" sz="2000" dirty="0"/>
              <a:t>produces " </a:t>
            </a:r>
            <a:r>
              <a:rPr lang="en-IN" sz="2000" dirty="0" err="1"/>
              <a:t>number","string</a:t>
            </a:r>
            <a:r>
              <a:rPr lang="en-IN" sz="2000" dirty="0"/>
              <a:t> ", or “</a:t>
            </a:r>
            <a:r>
              <a:rPr lang="en-IN" sz="2000" dirty="0" err="1"/>
              <a:t>boolean</a:t>
            </a:r>
            <a:r>
              <a:rPr lang="en-IN" sz="2000" dirty="0"/>
              <a:t>” </a:t>
            </a:r>
            <a:r>
              <a:rPr lang="en-US" sz="2000" dirty="0"/>
              <a:t>if the operand is of primitive type Number,</a:t>
            </a:r>
            <a:r>
              <a:rPr lang="en-IN" sz="2000" dirty="0"/>
              <a:t> String, or Boolean, respectively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the operand is an object or null,</a:t>
            </a:r>
            <a:r>
              <a:rPr lang="en-IN" sz="2000" dirty="0"/>
              <a:t> </a:t>
            </a:r>
            <a:r>
              <a:rPr lang="en-IN" sz="2000" dirty="0" err="1"/>
              <a:t>typeof</a:t>
            </a:r>
            <a:r>
              <a:rPr lang="en-IN" sz="2000" dirty="0"/>
              <a:t> produces "object“=&gt;Objects do not have types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the operand is a variable that has not been assigned a value,</a:t>
            </a:r>
            <a:r>
              <a:rPr lang="en-IN" sz="2000" dirty="0"/>
              <a:t> </a:t>
            </a:r>
            <a:r>
              <a:rPr lang="en-IN" sz="2000" dirty="0" err="1"/>
              <a:t>typeof</a:t>
            </a:r>
            <a:r>
              <a:rPr lang="en-IN" sz="2000" dirty="0"/>
              <a:t> produces </a:t>
            </a:r>
            <a:r>
              <a:rPr lang="en-US" sz="2000" dirty="0"/>
              <a:t>"undefined", reflecting the fact that variables themselves are not typed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err="1"/>
              <a:t>typeof</a:t>
            </a:r>
            <a:r>
              <a:rPr lang="en-US" sz="2000" dirty="0"/>
              <a:t> operator always returns a string</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err="1"/>
              <a:t>typeof</a:t>
            </a:r>
            <a:r>
              <a:rPr lang="en-US" sz="2000" dirty="0"/>
              <a:t> operator always returns a string x and </a:t>
            </a:r>
            <a:r>
              <a:rPr lang="en-US" sz="2000" dirty="0" err="1"/>
              <a:t>typeof</a:t>
            </a:r>
            <a:r>
              <a:rPr lang="en-US" sz="2000" dirty="0"/>
              <a:t> (x) are equivalent </a:t>
            </a:r>
          </a:p>
          <a:p>
            <a:endParaRPr lang="en-US" sz="2000" dirty="0"/>
          </a:p>
          <a:p>
            <a:endParaRPr lang="en-US" sz="2000" dirty="0"/>
          </a:p>
          <a:p>
            <a:endParaRPr lang="en-IN" sz="2000" dirty="0"/>
          </a:p>
        </p:txBody>
      </p:sp>
    </p:spTree>
    <p:extLst>
      <p:ext uri="{BB962C8B-B14F-4D97-AF65-F5344CB8AC3E}">
        <p14:creationId xmlns:p14="http://schemas.microsoft.com/office/powerpoint/2010/main" val="2074338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583DCA6-8AC1-440F-38FF-BE5541B2FCAE}"/>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95806C5-75A8-71BA-9F08-67BD126E89DE}"/>
              </a:ext>
            </a:extLst>
          </p:cNvPr>
          <p:cNvSpPr txBox="1"/>
          <p:nvPr/>
        </p:nvSpPr>
        <p:spPr>
          <a:xfrm>
            <a:off x="528918" y="421341"/>
            <a:ext cx="11143129" cy="3539430"/>
          </a:xfrm>
          <a:prstGeom prst="rect">
            <a:avLst/>
          </a:prstGeom>
          <a:noFill/>
        </p:spPr>
        <p:txBody>
          <a:bodyPr wrap="square" rtlCol="0">
            <a:spAutoFit/>
          </a:bodyPr>
          <a:lstStyle/>
          <a:p>
            <a:r>
              <a:rPr lang="en-IN" sz="2400" b="1" dirty="0"/>
              <a:t>4.13 Assignment Statements</a:t>
            </a:r>
            <a:endParaRPr lang="en-US" sz="2400" b="1" dirty="0"/>
          </a:p>
          <a:p>
            <a:endParaRPr lang="en-US" sz="2000" dirty="0"/>
          </a:p>
          <a:p>
            <a:pPr marL="342900" indent="-342900">
              <a:buFont typeface="Arial" panose="020B0604020202020204" pitchFamily="34" charset="0"/>
              <a:buChar char="•"/>
            </a:pPr>
            <a:r>
              <a:rPr lang="en-US" sz="2000" dirty="0"/>
              <a:t>There is a </a:t>
            </a:r>
            <a:r>
              <a:rPr lang="en-US" sz="2000" dirty="0">
                <a:solidFill>
                  <a:srgbClr val="FF0000"/>
                </a:solidFill>
              </a:rPr>
              <a:t>simple assignment </a:t>
            </a:r>
            <a:r>
              <a:rPr lang="en-US" sz="2000" dirty="0"/>
              <a:t>operator, denoted by =, and a host of </a:t>
            </a:r>
            <a:r>
              <a:rPr lang="en-US" sz="2000" dirty="0">
                <a:solidFill>
                  <a:srgbClr val="FF0000"/>
                </a:solidFill>
              </a:rPr>
              <a:t>compound assignment </a:t>
            </a:r>
            <a:r>
              <a:rPr lang="en-US" sz="2000" dirty="0"/>
              <a:t>operators, such as += and /=.</a:t>
            </a:r>
          </a:p>
          <a:p>
            <a:pPr marL="342900"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a += 7;</a:t>
            </a:r>
          </a:p>
          <a:p>
            <a:pPr marL="800100" lvl="1" indent="-342900">
              <a:buFont typeface="Arial" panose="020B0604020202020204" pitchFamily="34" charset="0"/>
              <a:buChar char="•"/>
            </a:pP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a:p>
            <a:pPr marL="800100" lvl="1" indent="-342900">
              <a:buFont typeface="Arial" panose="020B0604020202020204" pitchFamily="34" charset="0"/>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a = a + 7;</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endParaRPr lang="en-US" sz="2000" dirty="0"/>
          </a:p>
          <a:p>
            <a:endParaRPr lang="en-US" sz="2000" dirty="0"/>
          </a:p>
          <a:p>
            <a:endParaRPr lang="en-IN" sz="2000" dirty="0"/>
          </a:p>
        </p:txBody>
      </p:sp>
    </p:spTree>
    <p:extLst>
      <p:ext uri="{BB962C8B-B14F-4D97-AF65-F5344CB8AC3E}">
        <p14:creationId xmlns:p14="http://schemas.microsoft.com/office/powerpoint/2010/main" val="265877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0D199F8-FA3D-D734-44A6-7A72F72F5669}"/>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3C19C07-1B9D-EE39-478E-4903DD7146BF}"/>
              </a:ext>
            </a:extLst>
          </p:cNvPr>
          <p:cNvSpPr txBox="1"/>
          <p:nvPr/>
        </p:nvSpPr>
        <p:spPr>
          <a:xfrm>
            <a:off x="528918" y="421341"/>
            <a:ext cx="11143129" cy="2923877"/>
          </a:xfrm>
          <a:prstGeom prst="rect">
            <a:avLst/>
          </a:prstGeom>
          <a:noFill/>
        </p:spPr>
        <p:txBody>
          <a:bodyPr wrap="square" rtlCol="0">
            <a:spAutoFit/>
          </a:bodyPr>
          <a:lstStyle/>
          <a:p>
            <a:r>
              <a:rPr lang="en-IN" sz="2400" dirty="0">
                <a:solidFill>
                  <a:srgbClr val="FF0000"/>
                </a:solidFill>
              </a:rPr>
              <a:t>4.14 The Date Object</a:t>
            </a:r>
            <a:endParaRPr lang="en-US" sz="2400" dirty="0">
              <a:solidFill>
                <a:srgbClr val="FF0000"/>
              </a:solidFill>
            </a:endParaRPr>
          </a:p>
          <a:p>
            <a:endParaRPr lang="en-US" sz="2000" dirty="0"/>
          </a:p>
          <a:p>
            <a:pPr marL="342900" indent="-342900">
              <a:buFont typeface="Arial" panose="020B0604020202020204" pitchFamily="34" charset="0"/>
              <a:buChar char="•"/>
            </a:pPr>
            <a:r>
              <a:rPr lang="en-US" sz="2000" dirty="0"/>
              <a:t>There are occasions when information about the current date and time is useful in a program.</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Date object is created with the new operator and the Date constructor, which has several forms.</a:t>
            </a:r>
          </a:p>
          <a:p>
            <a:pPr marL="342900" indent="-342900">
              <a:buFont typeface="Arial" panose="020B0604020202020204" pitchFamily="34" charset="0"/>
              <a:buChar char="•"/>
            </a:pPr>
            <a:endParaRPr lang="en-US" sz="2000" dirty="0"/>
          </a:p>
          <a:p>
            <a:r>
              <a:rPr lang="en-US" sz="2000" dirty="0"/>
              <a:t>	</a:t>
            </a:r>
            <a:r>
              <a:rPr lang="en-IN" sz="2000" dirty="0">
                <a:latin typeface="Calibri Light" panose="020F0302020204030204" pitchFamily="34" charset="0"/>
                <a:ea typeface="Calibri Light" panose="020F0302020204030204" pitchFamily="34" charset="0"/>
                <a:cs typeface="Calibri Light" panose="020F0302020204030204" pitchFamily="34" charset="0"/>
              </a:rPr>
              <a:t>var today = new Date();</a:t>
            </a: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endParaRPr lang="en-IN" sz="2000" dirty="0"/>
          </a:p>
          <a:p>
            <a:endParaRPr lang="en-IN" sz="2000" dirty="0"/>
          </a:p>
        </p:txBody>
      </p:sp>
      <p:pic>
        <p:nvPicPr>
          <p:cNvPr id="4" name="Picture 3">
            <a:extLst>
              <a:ext uri="{FF2B5EF4-FFF2-40B4-BE49-F238E27FC236}">
                <a16:creationId xmlns="" xmlns:a16="http://schemas.microsoft.com/office/drawing/2014/main" id="{E557FDD7-6C34-1567-F597-BD235A2E6981}"/>
              </a:ext>
            </a:extLst>
          </p:cNvPr>
          <p:cNvPicPr>
            <a:picLocks noChangeAspect="1"/>
          </p:cNvPicPr>
          <p:nvPr/>
        </p:nvPicPr>
        <p:blipFill>
          <a:blip r:embed="rId2"/>
          <a:stretch>
            <a:fillRect/>
          </a:stretch>
        </p:blipFill>
        <p:spPr>
          <a:xfrm>
            <a:off x="2752422" y="2983571"/>
            <a:ext cx="6535014" cy="3114750"/>
          </a:xfrm>
          <a:prstGeom prst="rect">
            <a:avLst/>
          </a:prstGeom>
        </p:spPr>
      </p:pic>
    </p:spTree>
    <p:extLst>
      <p:ext uri="{BB962C8B-B14F-4D97-AF65-F5344CB8AC3E}">
        <p14:creationId xmlns:p14="http://schemas.microsoft.com/office/powerpoint/2010/main" val="1821653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5A87986-F6D0-78AA-82B2-81CB1CCDC53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DF8F622-3465-FE62-2CA9-4F6526AD5B9C}"/>
              </a:ext>
            </a:extLst>
          </p:cNvPr>
          <p:cNvSpPr txBox="1"/>
          <p:nvPr/>
        </p:nvSpPr>
        <p:spPr>
          <a:xfrm>
            <a:off x="528918" y="421341"/>
            <a:ext cx="11143129" cy="5693866"/>
          </a:xfrm>
          <a:prstGeom prst="rect">
            <a:avLst/>
          </a:prstGeom>
          <a:noFill/>
        </p:spPr>
        <p:txBody>
          <a:bodyPr wrap="square" rtlCol="0">
            <a:spAutoFit/>
          </a:bodyPr>
          <a:lstStyle/>
          <a:p>
            <a:r>
              <a:rPr lang="en-US" sz="2400" dirty="0">
                <a:solidFill>
                  <a:srgbClr val="FF0000"/>
                </a:solidFill>
              </a:rPr>
              <a:t>5 Screen Output and Keyboard Input</a:t>
            </a:r>
          </a:p>
          <a:p>
            <a:endParaRPr lang="en-US" sz="2000" dirty="0"/>
          </a:p>
          <a:p>
            <a:pPr marL="342900" indent="-342900" algn="just">
              <a:buFont typeface="Arial" panose="020B0604020202020204" pitchFamily="34" charset="0"/>
              <a:buChar char="•"/>
            </a:pPr>
            <a:r>
              <a:rPr lang="en-US" sz="2000" dirty="0"/>
              <a:t>A JavaScript script is interpreted when the browser finds the script or a reference to a separate script file in the body of the HTML document.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Thus, the normal output screen for JavaScript is the same as the screen in which the content of the host HTML document is displayed.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JavaScript models the HTML document with the </a:t>
            </a:r>
            <a:r>
              <a:rPr lang="en-US" sz="2000" dirty="0">
                <a:solidFill>
                  <a:srgbClr val="FF0000"/>
                </a:solidFill>
              </a:rPr>
              <a:t>Document</a:t>
            </a:r>
            <a:r>
              <a:rPr lang="en-US" sz="2000" dirty="0"/>
              <a:t> object.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window in which the browser displays an HTML document is modeled with the </a:t>
            </a:r>
            <a:r>
              <a:rPr lang="en-US" sz="2000" dirty="0">
                <a:solidFill>
                  <a:srgbClr val="FF0000"/>
                </a:solidFill>
              </a:rPr>
              <a:t>Window</a:t>
            </a:r>
            <a:r>
              <a:rPr lang="en-US" sz="2000" dirty="0"/>
              <a:t> object.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Window</a:t>
            </a:r>
            <a:r>
              <a:rPr lang="en-US" sz="2000" dirty="0"/>
              <a:t> object includes two properties, </a:t>
            </a:r>
            <a:r>
              <a:rPr lang="en-US" sz="2000" dirty="0">
                <a:solidFill>
                  <a:srgbClr val="FF0000"/>
                </a:solidFill>
              </a:rPr>
              <a:t>document</a:t>
            </a:r>
            <a:r>
              <a:rPr lang="en-US" sz="2000" dirty="0"/>
              <a:t> and </a:t>
            </a:r>
            <a:r>
              <a:rPr lang="en-US" sz="2000" dirty="0">
                <a:solidFill>
                  <a:srgbClr val="FF0000"/>
                </a:solidFill>
              </a:rPr>
              <a:t>window</a:t>
            </a:r>
            <a:r>
              <a:rPr lang="en-US" sz="2000" dirty="0"/>
              <a:t>.</a:t>
            </a:r>
          </a:p>
          <a:p>
            <a:pPr marL="342900" indent="-342900">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Document object has several properties and methods. The most interesting and useful of its methods, is </a:t>
            </a:r>
            <a:r>
              <a:rPr lang="en-US" sz="2000" dirty="0">
                <a:solidFill>
                  <a:srgbClr val="FF0000"/>
                </a:solidFill>
              </a:rPr>
              <a:t>write</a:t>
            </a:r>
            <a:r>
              <a:rPr lang="en-US" sz="2000" dirty="0"/>
              <a:t>, which is used to create output, </a:t>
            </a:r>
            <a:r>
              <a:rPr lang="en-US" sz="2000" dirty="0">
                <a:solidFill>
                  <a:srgbClr val="FF0000"/>
                </a:solidFill>
              </a:rPr>
              <a:t>which is dynamically created HTML document content</a:t>
            </a:r>
            <a:r>
              <a:rPr lang="en-US" sz="2000" dirty="0"/>
              <a:t>.</a:t>
            </a:r>
          </a:p>
          <a:p>
            <a:r>
              <a:rPr lang="en-IN" sz="2000" dirty="0"/>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document.write</a:t>
            </a:r>
            <a:r>
              <a:rPr lang="en-US" sz="2000" dirty="0">
                <a:latin typeface="Calibri Light" panose="020F0302020204030204" pitchFamily="34" charset="0"/>
                <a:ea typeface="Calibri Light" panose="020F0302020204030204" pitchFamily="34" charset="0"/>
                <a:cs typeface="Calibri Light" panose="020F0302020204030204" pitchFamily="34" charset="0"/>
              </a:rPr>
              <a:t>("The result is: ", result,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617532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296AC20-E77F-EB79-981E-5FAAFC4DA3E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DFF6D99F-9A13-011E-254E-BA4DB98FA610}"/>
              </a:ext>
            </a:extLst>
          </p:cNvPr>
          <p:cNvSpPr txBox="1"/>
          <p:nvPr/>
        </p:nvSpPr>
        <p:spPr>
          <a:xfrm>
            <a:off x="528918" y="421341"/>
            <a:ext cx="11143129" cy="5078313"/>
          </a:xfrm>
          <a:prstGeom prst="rect">
            <a:avLst/>
          </a:prstGeom>
          <a:noFill/>
        </p:spPr>
        <p:txBody>
          <a:bodyPr wrap="square" rtlCol="0">
            <a:spAutoFit/>
          </a:bodyPr>
          <a:lstStyle/>
          <a:p>
            <a:endParaRPr lang="en-US" sz="2400" dirty="0"/>
          </a:p>
          <a:p>
            <a:endParaRPr lang="en-US" sz="2000" dirty="0"/>
          </a:p>
          <a:p>
            <a:pPr marL="342900" indent="-342900" algn="just">
              <a:buFont typeface="Arial" panose="020B0604020202020204" pitchFamily="34" charset="0"/>
              <a:buChar char="•"/>
            </a:pPr>
            <a:r>
              <a:rPr lang="en-US" sz="2000" dirty="0">
                <a:solidFill>
                  <a:srgbClr val="FF0000"/>
                </a:solidFill>
              </a:rPr>
              <a:t>write</a:t>
            </a:r>
            <a:r>
              <a:rPr lang="en-US" sz="2000" dirty="0"/>
              <a:t> is used to create markup</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err="1">
                <a:solidFill>
                  <a:srgbClr val="FF0000"/>
                </a:solidFill>
              </a:rPr>
              <a:t>writeln</a:t>
            </a:r>
            <a:r>
              <a:rPr lang="en-US" sz="2000" dirty="0"/>
              <a:t> method implicitly adds "\n" to its parameter</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parameter of </a:t>
            </a:r>
            <a:r>
              <a:rPr lang="en-US" sz="2000" dirty="0">
                <a:solidFill>
                  <a:srgbClr val="FF0000"/>
                </a:solidFill>
              </a:rPr>
              <a:t>write</a:t>
            </a:r>
            <a:r>
              <a:rPr lang="en-US" sz="2000" dirty="0"/>
              <a:t> can include any HTML tags and content. The parameter is simply given to the browser, which treats it exactly like any other part of the HTML document.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Window</a:t>
            </a:r>
            <a:r>
              <a:rPr lang="en-US" sz="2000" dirty="0"/>
              <a:t> object is the JavaScript model for the browser window. Window includes three methods that create dialog boxes for three specific kinds of user interactions:</a:t>
            </a:r>
          </a:p>
          <a:p>
            <a:pPr marL="800100" lvl="1" indent="-342900" algn="just">
              <a:buFont typeface="Arial" panose="020B0604020202020204" pitchFamily="34" charset="0"/>
              <a:buChar char="•"/>
            </a:pPr>
            <a:r>
              <a:rPr lang="en-US" sz="2000" dirty="0"/>
              <a:t>alert</a:t>
            </a:r>
          </a:p>
          <a:p>
            <a:pPr marL="800100" lvl="1" indent="-342900" algn="just">
              <a:buFont typeface="Arial" panose="020B0604020202020204" pitchFamily="34" charset="0"/>
              <a:buChar char="•"/>
            </a:pPr>
            <a:r>
              <a:rPr lang="en-IN" sz="2000" dirty="0"/>
              <a:t>prompt</a:t>
            </a:r>
          </a:p>
          <a:p>
            <a:pPr marL="800100" lvl="1" indent="-342900" algn="just">
              <a:buFont typeface="Arial" panose="020B0604020202020204" pitchFamily="34" charset="0"/>
              <a:buChar char="•"/>
            </a:pPr>
            <a:r>
              <a:rPr lang="en-IN" sz="2000" dirty="0"/>
              <a:t>confirm</a:t>
            </a:r>
          </a:p>
          <a:p>
            <a:pPr marL="800100" lvl="1" indent="-342900" algn="just">
              <a:buFont typeface="Arial" panose="020B0604020202020204" pitchFamily="34" charset="0"/>
              <a:buChar char="•"/>
            </a:pPr>
            <a:endParaRPr lang="en-IN" sz="2000" dirty="0"/>
          </a:p>
          <a:p>
            <a:pPr marL="800100" lvl="1" indent="-342900" algn="just">
              <a:buFont typeface="Arial" panose="020B0604020202020204" pitchFamily="34" charset="0"/>
              <a:buChar char="•"/>
            </a:pPr>
            <a:endParaRPr lang="en-IN" sz="2000" dirty="0"/>
          </a:p>
        </p:txBody>
      </p:sp>
    </p:spTree>
    <p:extLst>
      <p:ext uri="{BB962C8B-B14F-4D97-AF65-F5344CB8AC3E}">
        <p14:creationId xmlns:p14="http://schemas.microsoft.com/office/powerpoint/2010/main" val="3321678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3FFBB24-D67F-D0A4-B973-85AAD54AB6BD}"/>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DC16DE95-C14C-5CC4-A25A-99C2D98C98AC}"/>
              </a:ext>
            </a:extLst>
          </p:cNvPr>
          <p:cNvSpPr txBox="1"/>
          <p:nvPr/>
        </p:nvSpPr>
        <p:spPr>
          <a:xfrm>
            <a:off x="528918" y="421341"/>
            <a:ext cx="11143129" cy="3847207"/>
          </a:xfrm>
          <a:prstGeom prst="rect">
            <a:avLst/>
          </a:prstGeom>
          <a:noFill/>
        </p:spPr>
        <p:txBody>
          <a:bodyPr wrap="square" rtlCol="0">
            <a:spAutoFit/>
          </a:bodyPr>
          <a:lstStyle/>
          <a:p>
            <a:r>
              <a:rPr lang="en-US" sz="2400" dirty="0"/>
              <a:t>alert method:</a:t>
            </a:r>
          </a:p>
          <a:p>
            <a:endParaRPr lang="en-US" sz="2000" dirty="0"/>
          </a:p>
          <a:p>
            <a:pPr marL="342900" indent="-342900" algn="just">
              <a:buFont typeface="Arial" panose="020B0604020202020204" pitchFamily="34" charset="0"/>
              <a:buChar char="•"/>
            </a:pPr>
            <a:r>
              <a:rPr lang="en-US" sz="2000" dirty="0"/>
              <a:t>The alert method opens a dialog window and displays its parameter in that window.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also displays an OK button.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string parameter of alert is not HTML code</a:t>
            </a:r>
            <a:r>
              <a:rPr lang="en-US" sz="2000" dirty="0"/>
              <a:t>; it is plain text. Therefore, the string parameter of alert may include \n but never should include &lt;</a:t>
            </a:r>
            <a:r>
              <a:rPr lang="en-US" sz="2000" dirty="0" err="1"/>
              <a:t>br</a:t>
            </a:r>
            <a:r>
              <a:rPr lang="en-US" sz="2000" dirty="0"/>
              <a:t> /&gt;.</a:t>
            </a:r>
          </a:p>
          <a:p>
            <a:endParaRPr lang="en-US" sz="2000" dirty="0"/>
          </a:p>
          <a:p>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alert("The sum is:" + sum + "\n");</a:t>
            </a:r>
          </a:p>
          <a:p>
            <a:endParaRPr lang="en-IN" sz="2000" dirty="0"/>
          </a:p>
          <a:p>
            <a:endParaRPr lang="en-IN" sz="2000" dirty="0"/>
          </a:p>
        </p:txBody>
      </p:sp>
      <p:pic>
        <p:nvPicPr>
          <p:cNvPr id="4" name="Picture 3">
            <a:extLst>
              <a:ext uri="{FF2B5EF4-FFF2-40B4-BE49-F238E27FC236}">
                <a16:creationId xmlns="" xmlns:a16="http://schemas.microsoft.com/office/drawing/2014/main" id="{027FC629-EB97-0695-36C8-EBDBF53CD41B}"/>
              </a:ext>
            </a:extLst>
          </p:cNvPr>
          <p:cNvPicPr>
            <a:picLocks noChangeAspect="1"/>
          </p:cNvPicPr>
          <p:nvPr/>
        </p:nvPicPr>
        <p:blipFill>
          <a:blip r:embed="rId2"/>
          <a:stretch>
            <a:fillRect/>
          </a:stretch>
        </p:blipFill>
        <p:spPr>
          <a:xfrm>
            <a:off x="2088024" y="3810111"/>
            <a:ext cx="2107459" cy="1853110"/>
          </a:xfrm>
          <a:prstGeom prst="rect">
            <a:avLst/>
          </a:prstGeom>
        </p:spPr>
      </p:pic>
    </p:spTree>
    <p:extLst>
      <p:ext uri="{BB962C8B-B14F-4D97-AF65-F5344CB8AC3E}">
        <p14:creationId xmlns:p14="http://schemas.microsoft.com/office/powerpoint/2010/main" val="38350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C386724-E1BA-363D-70EA-3680A834F1D9}"/>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DFE1AD39-AB12-A8C3-A6BB-2F6D97CA5A1D}"/>
              </a:ext>
            </a:extLst>
          </p:cNvPr>
          <p:cNvSpPr txBox="1"/>
          <p:nvPr/>
        </p:nvSpPr>
        <p:spPr>
          <a:xfrm>
            <a:off x="528918" y="421341"/>
            <a:ext cx="11143129" cy="5447645"/>
          </a:xfrm>
          <a:prstGeom prst="rect">
            <a:avLst/>
          </a:prstGeom>
          <a:noFill/>
        </p:spPr>
        <p:txBody>
          <a:bodyPr wrap="square" rtlCol="0">
            <a:spAutoFit/>
          </a:bodyPr>
          <a:lstStyle/>
          <a:p>
            <a:r>
              <a:rPr lang="en-US" sz="2400" dirty="0"/>
              <a:t>confirm method…</a:t>
            </a:r>
          </a:p>
          <a:p>
            <a:endParaRPr lang="en-US" sz="2000" dirty="0"/>
          </a:p>
          <a:p>
            <a:pPr marL="342900" indent="-342900" algn="just">
              <a:buFont typeface="Arial" panose="020B0604020202020204" pitchFamily="34" charset="0"/>
              <a:buChar char="•"/>
            </a:pPr>
            <a:r>
              <a:rPr lang="en-US" sz="2000" dirty="0"/>
              <a:t>The confirm method opens a dialog window in which the method displays its string parameter, along with two buttons: OK and Cancel.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confirm returns a Boolean value that indicates the user’s button input: true for OK and false for Cancel.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var question = confirm("Do you want to continue this download?"); </a:t>
            </a:r>
          </a:p>
          <a:p>
            <a:endParaRPr lang="en-US" sz="2000" dirty="0"/>
          </a:p>
          <a:p>
            <a:r>
              <a:rPr lang="en-US" sz="2400" dirty="0"/>
              <a:t>prompt method…</a:t>
            </a:r>
          </a:p>
          <a:p>
            <a:endParaRPr lang="en-US" sz="2000" dirty="0"/>
          </a:p>
          <a:p>
            <a:pPr marL="342900" indent="-342900">
              <a:buFont typeface="Arial" panose="020B0604020202020204" pitchFamily="34" charset="0"/>
              <a:buChar char="•"/>
            </a:pPr>
            <a:r>
              <a:rPr lang="en-US" sz="2000" dirty="0"/>
              <a:t>The prompt method creates a dialog window that contains a text box used to collect a string of input from the user, which prompt returns as its value. </a:t>
            </a:r>
          </a:p>
          <a:p>
            <a:pPr marL="342900" indent="-342900">
              <a:buFont typeface="Arial" panose="020B0604020202020204" pitchFamily="34" charset="0"/>
              <a:buChar char="•"/>
            </a:pPr>
            <a:r>
              <a:rPr lang="en-US" sz="2000" dirty="0"/>
              <a:t>As with confirm, this window also includes two buttons: OK and Cancel.</a:t>
            </a:r>
          </a:p>
          <a:p>
            <a:endParaRPr lang="en-IN" sz="2000" dirty="0"/>
          </a:p>
          <a:p>
            <a:pPr marL="342900" indent="-342900">
              <a:buFont typeface="Arial" panose="020B0604020202020204" pitchFamily="34" charset="0"/>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name = prompt("What is your name?", "");</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 xmlns:a16="http://schemas.microsoft.com/office/drawing/2014/main" id="{11E25CBB-5B5D-CAFF-0974-E4B9799220D5}"/>
              </a:ext>
            </a:extLst>
          </p:cNvPr>
          <p:cNvPicPr>
            <a:picLocks noChangeAspect="1"/>
          </p:cNvPicPr>
          <p:nvPr/>
        </p:nvPicPr>
        <p:blipFill>
          <a:blip r:embed="rId2"/>
          <a:stretch>
            <a:fillRect/>
          </a:stretch>
        </p:blipFill>
        <p:spPr>
          <a:xfrm>
            <a:off x="8483680" y="2533708"/>
            <a:ext cx="2820814" cy="1461798"/>
          </a:xfrm>
          <a:prstGeom prst="rect">
            <a:avLst/>
          </a:prstGeom>
        </p:spPr>
      </p:pic>
      <p:pic>
        <p:nvPicPr>
          <p:cNvPr id="6" name="Picture 5">
            <a:extLst>
              <a:ext uri="{FF2B5EF4-FFF2-40B4-BE49-F238E27FC236}">
                <a16:creationId xmlns="" xmlns:a16="http://schemas.microsoft.com/office/drawing/2014/main" id="{155C5F28-E65D-1C11-6DD7-F340D8C5C0F4}"/>
              </a:ext>
            </a:extLst>
          </p:cNvPr>
          <p:cNvPicPr>
            <a:picLocks noChangeAspect="1"/>
          </p:cNvPicPr>
          <p:nvPr/>
        </p:nvPicPr>
        <p:blipFill>
          <a:blip r:embed="rId3"/>
          <a:stretch>
            <a:fillRect/>
          </a:stretch>
        </p:blipFill>
        <p:spPr>
          <a:xfrm>
            <a:off x="6443135" y="5267761"/>
            <a:ext cx="4861359" cy="1366122"/>
          </a:xfrm>
          <a:prstGeom prst="rect">
            <a:avLst/>
          </a:prstGeom>
        </p:spPr>
      </p:pic>
    </p:spTree>
    <p:extLst>
      <p:ext uri="{BB962C8B-B14F-4D97-AF65-F5344CB8AC3E}">
        <p14:creationId xmlns:p14="http://schemas.microsoft.com/office/powerpoint/2010/main" val="1334352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6C7AE9-2B92-51D7-2FFD-283B835AE5C0}"/>
            </a:ext>
          </a:extLst>
        </p:cNvPr>
        <p:cNvGrpSpPr/>
        <p:nvPr/>
      </p:nvGrpSpPr>
      <p:grpSpPr>
        <a:xfrm>
          <a:off x="0" y="0"/>
          <a:ext cx="0" cy="0"/>
          <a:chOff x="0" y="0"/>
          <a:chExt cx="0" cy="0"/>
        </a:xfrm>
      </p:grpSpPr>
      <p:pic>
        <p:nvPicPr>
          <p:cNvPr id="4" name="Picture 3">
            <a:extLst>
              <a:ext uri="{FF2B5EF4-FFF2-40B4-BE49-F238E27FC236}">
                <a16:creationId xmlns="" xmlns:a16="http://schemas.microsoft.com/office/drawing/2014/main" id="{F6E8E074-5618-3FA2-7592-FBABDA3CA16C}"/>
              </a:ext>
            </a:extLst>
          </p:cNvPr>
          <p:cNvPicPr>
            <a:picLocks noChangeAspect="1"/>
          </p:cNvPicPr>
          <p:nvPr/>
        </p:nvPicPr>
        <p:blipFill>
          <a:blip r:embed="rId2"/>
          <a:stretch>
            <a:fillRect/>
          </a:stretch>
        </p:blipFill>
        <p:spPr>
          <a:xfrm>
            <a:off x="3257461" y="259976"/>
            <a:ext cx="5250045" cy="6147972"/>
          </a:xfrm>
          <a:prstGeom prst="rect">
            <a:avLst/>
          </a:prstGeom>
        </p:spPr>
      </p:pic>
    </p:spTree>
    <p:extLst>
      <p:ext uri="{BB962C8B-B14F-4D97-AF65-F5344CB8AC3E}">
        <p14:creationId xmlns:p14="http://schemas.microsoft.com/office/powerpoint/2010/main" val="293603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CDD1426-C930-F380-69D4-28EF87AE4E6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AF153C31-0688-056E-E63D-82E6BB43C0C3}"/>
              </a:ext>
            </a:extLst>
          </p:cNvPr>
          <p:cNvSpPr txBox="1"/>
          <p:nvPr/>
        </p:nvSpPr>
        <p:spPr>
          <a:xfrm>
            <a:off x="528918" y="421341"/>
            <a:ext cx="11143129" cy="5078313"/>
          </a:xfrm>
          <a:prstGeom prst="rect">
            <a:avLst/>
          </a:prstGeom>
          <a:noFill/>
        </p:spPr>
        <p:txBody>
          <a:bodyPr wrap="square" rtlCol="0">
            <a:spAutoFit/>
          </a:bodyPr>
          <a:lstStyle/>
          <a:p>
            <a:r>
              <a:rPr lang="en-IN" sz="2400" b="1" dirty="0"/>
              <a:t>6 Control Statements</a:t>
            </a:r>
            <a:endParaRPr lang="en-US" sz="2400" b="1" dirty="0"/>
          </a:p>
          <a:p>
            <a:endParaRPr lang="en-US" sz="2000" dirty="0"/>
          </a:p>
          <a:p>
            <a:endParaRPr lang="en-IN" sz="2000" dirty="0"/>
          </a:p>
          <a:p>
            <a:pPr marL="342900" indent="-342900" algn="just">
              <a:buFont typeface="Arial" panose="020B0604020202020204" pitchFamily="34" charset="0"/>
              <a:buChar char="•"/>
            </a:pPr>
            <a:r>
              <a:rPr lang="en-US" sz="2000" dirty="0"/>
              <a:t>which provide the basis for controlling the order of execution of statements.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Control statements often require some syntactic container for sequences of statements whose execution they are meant to control.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a:t>
            </a:r>
            <a:r>
              <a:rPr lang="en-US" sz="2000" i="1" dirty="0">
                <a:latin typeface="Calibri Light" panose="020F0302020204030204" pitchFamily="34" charset="0"/>
                <a:ea typeface="Calibri Light" panose="020F0302020204030204" pitchFamily="34" charset="0"/>
                <a:cs typeface="Calibri Light" panose="020F0302020204030204" pitchFamily="34" charset="0"/>
              </a:rPr>
              <a:t>compound statement</a:t>
            </a:r>
            <a:r>
              <a:rPr lang="en-US" sz="2000" dirty="0"/>
              <a:t> in JavaScript is a sequence of statements delimited by braces.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a:t>
            </a:r>
            <a:r>
              <a:rPr lang="en-US" sz="2000" i="1" dirty="0">
                <a:latin typeface="Calibri Light" panose="020F0302020204030204" pitchFamily="34" charset="0"/>
                <a:ea typeface="Calibri Light" panose="020F0302020204030204" pitchFamily="34" charset="0"/>
                <a:cs typeface="Calibri Light" panose="020F0302020204030204" pitchFamily="34" charset="0"/>
              </a:rPr>
              <a:t>control construct</a:t>
            </a:r>
            <a:r>
              <a:rPr lang="en-US" sz="2000" dirty="0"/>
              <a:t> is a control statement together with the statement or compound statement whose execution it controls.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Unlike several related languages, JavaScript does not allow compound statements to create local variables.</a:t>
            </a:r>
          </a:p>
          <a:p>
            <a:endParaRPr lang="en-IN" sz="2000" dirty="0"/>
          </a:p>
        </p:txBody>
      </p:sp>
    </p:spTree>
    <p:extLst>
      <p:ext uri="{BB962C8B-B14F-4D97-AF65-F5344CB8AC3E}">
        <p14:creationId xmlns:p14="http://schemas.microsoft.com/office/powerpoint/2010/main" val="408758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A9C869D-9CD4-6FAF-E119-70109F1B551E}"/>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0C8B42A-DA17-D68B-12DA-53A850040AC3}"/>
              </a:ext>
            </a:extLst>
          </p:cNvPr>
          <p:cNvSpPr txBox="1"/>
          <p:nvPr/>
        </p:nvSpPr>
        <p:spPr>
          <a:xfrm>
            <a:off x="528918" y="421341"/>
            <a:ext cx="11143129" cy="5078313"/>
          </a:xfrm>
          <a:prstGeom prst="rect">
            <a:avLst/>
          </a:prstGeom>
          <a:noFill/>
        </p:spPr>
        <p:txBody>
          <a:bodyPr wrap="square" rtlCol="0">
            <a:spAutoFit/>
          </a:bodyPr>
          <a:lstStyle/>
          <a:p>
            <a:r>
              <a:rPr lang="en-IN" sz="2400" b="1" dirty="0"/>
              <a:t>6.1 Control Expressions</a:t>
            </a:r>
            <a:endParaRPr lang="en-US" sz="2000" b="1" dirty="0"/>
          </a:p>
          <a:p>
            <a:endParaRPr lang="en-IN" sz="2000" dirty="0"/>
          </a:p>
          <a:p>
            <a:pPr marL="342900" indent="-342900">
              <a:buFont typeface="Arial" panose="020B0604020202020204" pitchFamily="34" charset="0"/>
              <a:buChar char="•"/>
            </a:pPr>
            <a:r>
              <a:rPr lang="en-US" sz="2000" dirty="0"/>
              <a:t>The expressions upon which statement flow control can be based include primitive values, relational expressions, and compound expressions.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result of evaluating a control expression is one of the Boolean values true and false.</a:t>
            </a:r>
          </a:p>
          <a:p>
            <a:pPr marL="342900" indent="-342900">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t>If the value of a control expression is a string, it is interpreted as true unless it is either the empty </a:t>
            </a:r>
          </a:p>
          <a:p>
            <a:pPr marL="800100" lvl="1" indent="-342900" algn="just">
              <a:buFont typeface="Arial" panose="020B0604020202020204" pitchFamily="34" charset="0"/>
              <a:buChar char="•"/>
            </a:pPr>
            <a:r>
              <a:rPr lang="en-US" sz="2000" dirty="0"/>
              <a:t>string ("") or a zero string ("0"). </a:t>
            </a:r>
          </a:p>
          <a:p>
            <a:pPr marL="800100" lvl="1" indent="-342900" algn="just">
              <a:buFont typeface="Arial" panose="020B0604020202020204" pitchFamily="34" charset="0"/>
              <a:buChar char="•"/>
            </a:pPr>
            <a:r>
              <a:rPr lang="en-US" sz="2000" dirty="0"/>
              <a:t>If the value is a number, it is true unless it is zero (0).  </a:t>
            </a:r>
          </a:p>
          <a:p>
            <a:pPr marL="800100" lvl="1" indent="-342900" algn="just">
              <a:buFont typeface="Arial" panose="020B0604020202020204" pitchFamily="34" charset="0"/>
              <a:buChar char="•"/>
            </a:pPr>
            <a:r>
              <a:rPr lang="en-US" sz="2000" dirty="0"/>
              <a:t>If the special value, </a:t>
            </a:r>
            <a:r>
              <a:rPr lang="en-US" sz="2000" dirty="0" err="1"/>
              <a:t>NaN</a:t>
            </a:r>
            <a:r>
              <a:rPr lang="en-US" sz="2000" dirty="0"/>
              <a:t>, is interpreted as a Boolean, it is false. </a:t>
            </a:r>
          </a:p>
          <a:p>
            <a:pPr marL="800100" lvl="1" indent="-342900" algn="just">
              <a:buFont typeface="Arial" panose="020B0604020202020204" pitchFamily="34" charset="0"/>
              <a:buChar char="•"/>
            </a:pPr>
            <a:r>
              <a:rPr lang="en-US" sz="2000" dirty="0"/>
              <a:t>If undefined is used as a Boolean, it is false. </a:t>
            </a:r>
          </a:p>
          <a:p>
            <a:pPr marL="800100" lvl="1" indent="-342900" algn="just">
              <a:buFont typeface="Arial" panose="020B0604020202020204" pitchFamily="34" charset="0"/>
              <a:buChar char="•"/>
            </a:pPr>
            <a:r>
              <a:rPr lang="en-US" sz="2000" dirty="0"/>
              <a:t>When interpreted as a Boolean, null is false. </a:t>
            </a:r>
          </a:p>
          <a:p>
            <a:pPr marL="800100" lvl="1" indent="-342900" algn="just">
              <a:buFont typeface="Arial" panose="020B0604020202020204" pitchFamily="34" charset="0"/>
              <a:buChar char="•"/>
            </a:pPr>
            <a:r>
              <a:rPr lang="en-US" sz="2000" dirty="0"/>
              <a:t>When interpreted as a number, true has the value 1 and false has the value 0.</a:t>
            </a:r>
            <a:endParaRPr lang="en-IN" sz="2000" dirty="0"/>
          </a:p>
          <a:p>
            <a:endParaRPr lang="en-IN" sz="2000" dirty="0"/>
          </a:p>
        </p:txBody>
      </p:sp>
    </p:spTree>
    <p:extLst>
      <p:ext uri="{BB962C8B-B14F-4D97-AF65-F5344CB8AC3E}">
        <p14:creationId xmlns:p14="http://schemas.microsoft.com/office/powerpoint/2010/main" val="1544243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183F68F-A1D6-2316-E414-4B3313E543CB}"/>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8FACD5C1-0201-F9A6-E4A7-E899CFFC7F4A}"/>
              </a:ext>
            </a:extLst>
          </p:cNvPr>
          <p:cNvSpPr txBox="1"/>
          <p:nvPr/>
        </p:nvSpPr>
        <p:spPr>
          <a:xfrm>
            <a:off x="528918" y="421341"/>
            <a:ext cx="11143129" cy="5693866"/>
          </a:xfrm>
          <a:prstGeom prst="rect">
            <a:avLst/>
          </a:prstGeom>
          <a:noFill/>
        </p:spPr>
        <p:txBody>
          <a:bodyPr wrap="square" rtlCol="0">
            <a:spAutoFit/>
          </a:bodyPr>
          <a:lstStyle/>
          <a:p>
            <a:r>
              <a:rPr lang="en-IN" sz="2400" dirty="0"/>
              <a:t>Control Statements continued…</a:t>
            </a:r>
            <a:endParaRPr lang="en-US" sz="2400" dirty="0"/>
          </a:p>
          <a:p>
            <a:endParaRPr lang="en-US" sz="2000" dirty="0"/>
          </a:p>
          <a:p>
            <a:pPr marL="342900" indent="-342900" algn="just">
              <a:buFont typeface="Arial" panose="020B0604020202020204" pitchFamily="34" charset="0"/>
              <a:buChar char="•"/>
            </a:pPr>
            <a:r>
              <a:rPr lang="en-US" sz="2000" dirty="0"/>
              <a:t>A relational expression has two operands and one relational operator.</a:t>
            </a: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last two operators in Table disallow type conversion of either operand. Thus, the expression "3" === 3 evaluates to false, while "3" == 3 evaluates to true.</a:t>
            </a:r>
            <a:endParaRPr lang="en-IN" sz="2000" dirty="0"/>
          </a:p>
        </p:txBody>
      </p:sp>
      <p:pic>
        <p:nvPicPr>
          <p:cNvPr id="4" name="Picture 3">
            <a:extLst>
              <a:ext uri="{FF2B5EF4-FFF2-40B4-BE49-F238E27FC236}">
                <a16:creationId xmlns="" xmlns:a16="http://schemas.microsoft.com/office/drawing/2014/main" id="{D25F54A8-1FE9-30F3-B805-E7B21C792866}"/>
              </a:ext>
            </a:extLst>
          </p:cNvPr>
          <p:cNvPicPr>
            <a:picLocks noChangeAspect="1"/>
          </p:cNvPicPr>
          <p:nvPr/>
        </p:nvPicPr>
        <p:blipFill>
          <a:blip r:embed="rId2"/>
          <a:stretch>
            <a:fillRect/>
          </a:stretch>
        </p:blipFill>
        <p:spPr>
          <a:xfrm>
            <a:off x="2469070" y="1676860"/>
            <a:ext cx="7253860" cy="3504280"/>
          </a:xfrm>
          <a:prstGeom prst="rect">
            <a:avLst/>
          </a:prstGeom>
        </p:spPr>
      </p:pic>
    </p:spTree>
    <p:extLst>
      <p:ext uri="{BB962C8B-B14F-4D97-AF65-F5344CB8AC3E}">
        <p14:creationId xmlns:p14="http://schemas.microsoft.com/office/powerpoint/2010/main" val="180701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C1B805D-431A-88A9-4742-11352399A3A2}"/>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4FA4D89-4B2C-2DC1-5062-0EBED7F4C585}"/>
              </a:ext>
            </a:extLst>
          </p:cNvPr>
          <p:cNvSpPr txBox="1"/>
          <p:nvPr/>
        </p:nvSpPr>
        <p:spPr>
          <a:xfrm>
            <a:off x="279536" y="338213"/>
            <a:ext cx="11143129" cy="1384995"/>
          </a:xfrm>
          <a:prstGeom prst="rect">
            <a:avLst/>
          </a:prstGeom>
          <a:noFill/>
        </p:spPr>
        <p:txBody>
          <a:bodyPr wrap="square" rtlCol="0">
            <a:spAutoFit/>
          </a:bodyPr>
          <a:lstStyle/>
          <a:p>
            <a:endParaRPr lang="en-US" sz="2400" dirty="0"/>
          </a:p>
          <a:p>
            <a:endParaRPr lang="en-US" sz="2000" dirty="0"/>
          </a:p>
          <a:p>
            <a:r>
              <a:rPr lang="en-IN" sz="2000" dirty="0"/>
              <a:t>Operator precedence and associativity</a:t>
            </a:r>
          </a:p>
          <a:p>
            <a:endParaRPr lang="en-IN" sz="2000" dirty="0"/>
          </a:p>
        </p:txBody>
      </p:sp>
      <p:pic>
        <p:nvPicPr>
          <p:cNvPr id="4" name="Picture 3">
            <a:extLst>
              <a:ext uri="{FF2B5EF4-FFF2-40B4-BE49-F238E27FC236}">
                <a16:creationId xmlns="" xmlns:a16="http://schemas.microsoft.com/office/drawing/2014/main" id="{752A1D9E-D5F2-8216-8EE4-22D500F38F0C}"/>
              </a:ext>
            </a:extLst>
          </p:cNvPr>
          <p:cNvPicPr>
            <a:picLocks noChangeAspect="1"/>
          </p:cNvPicPr>
          <p:nvPr/>
        </p:nvPicPr>
        <p:blipFill>
          <a:blip r:embed="rId2"/>
          <a:stretch>
            <a:fillRect/>
          </a:stretch>
        </p:blipFill>
        <p:spPr>
          <a:xfrm>
            <a:off x="2754838" y="1569273"/>
            <a:ext cx="6867545" cy="3719453"/>
          </a:xfrm>
          <a:prstGeom prst="rect">
            <a:avLst/>
          </a:prstGeom>
        </p:spPr>
      </p:pic>
    </p:spTree>
    <p:extLst>
      <p:ext uri="{BB962C8B-B14F-4D97-AF65-F5344CB8AC3E}">
        <p14:creationId xmlns:p14="http://schemas.microsoft.com/office/powerpoint/2010/main" val="3368346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8EE2F10-B0BB-4AE4-2D13-4BCC6551E83B}"/>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EDDF0923-6776-D626-EDB1-F3D96249647A}"/>
              </a:ext>
            </a:extLst>
          </p:cNvPr>
          <p:cNvSpPr txBox="1"/>
          <p:nvPr/>
        </p:nvSpPr>
        <p:spPr>
          <a:xfrm>
            <a:off x="528918" y="421341"/>
            <a:ext cx="11143129" cy="3847207"/>
          </a:xfrm>
          <a:prstGeom prst="rect">
            <a:avLst/>
          </a:prstGeom>
          <a:noFill/>
        </p:spPr>
        <p:txBody>
          <a:bodyPr wrap="square" rtlCol="0">
            <a:spAutoFit/>
          </a:bodyPr>
          <a:lstStyle/>
          <a:p>
            <a:r>
              <a:rPr lang="en-IN" sz="2400" b="1" dirty="0"/>
              <a:t>6.2 Selection Statements</a:t>
            </a:r>
            <a:endParaRPr lang="en-US" sz="2000" b="1" dirty="0"/>
          </a:p>
          <a:p>
            <a:endParaRPr lang="en-IN" sz="2000" dirty="0"/>
          </a:p>
          <a:p>
            <a:r>
              <a:rPr lang="en-US" sz="2000" dirty="0"/>
              <a:t>The selection statements (if-then and if-then-else) of JavaScript are similar to those of the common programming languages. Either single statements or compound statements can be selected</a:t>
            </a:r>
            <a:endParaRPr lang="en-IN" sz="2000" dirty="0"/>
          </a:p>
          <a:p>
            <a:endParaRPr lang="en-IN" sz="2000" dirty="0"/>
          </a:p>
          <a:p>
            <a:pPr lvl="1"/>
            <a:r>
              <a:rPr lang="en-US" sz="2000" dirty="0"/>
              <a:t> </a:t>
            </a:r>
            <a:r>
              <a:rPr lang="en-US" sz="2000" dirty="0">
                <a:latin typeface="Calibri Light" panose="020F0302020204030204" pitchFamily="34" charset="0"/>
                <a:ea typeface="Calibri Light" panose="020F0302020204030204" pitchFamily="34" charset="0"/>
                <a:cs typeface="Calibri Light" panose="020F0302020204030204" pitchFamily="34" charset="0"/>
              </a:rPr>
              <a:t>if (a &gt; b)</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document.write</a:t>
            </a:r>
            <a:r>
              <a:rPr lang="en-US" sz="2000" dirty="0">
                <a:latin typeface="Calibri Light" panose="020F0302020204030204" pitchFamily="34" charset="0"/>
                <a:ea typeface="Calibri Light" panose="020F0302020204030204" pitchFamily="34" charset="0"/>
                <a:cs typeface="Calibri Light" panose="020F0302020204030204" pitchFamily="34" charset="0"/>
              </a:rPr>
              <a:t>("a is greater than b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else {</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 = b;</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document.write</a:t>
            </a:r>
            <a:r>
              <a:rPr lang="en-US" sz="2000" dirty="0">
                <a:latin typeface="Calibri Light" panose="020F0302020204030204" pitchFamily="34" charset="0"/>
                <a:ea typeface="Calibri Light" panose="020F0302020204030204" pitchFamily="34" charset="0"/>
                <a:cs typeface="Calibri Light" panose="020F0302020204030204" pitchFamily="34" charset="0"/>
              </a:rPr>
              <a:t>("a was not greater than b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"Now they are equal &lt;</a:t>
            </a:r>
            <a:r>
              <a:rPr lang="en-US" sz="2000" dirty="0" err="1">
                <a:latin typeface="Calibri Light" panose="020F0302020204030204" pitchFamily="34" charset="0"/>
                <a:ea typeface="Calibri Light" panose="020F0302020204030204" pitchFamily="34" charset="0"/>
                <a:cs typeface="Calibri Light" panose="020F0302020204030204" pitchFamily="34" charset="0"/>
              </a:rPr>
              <a:t>br</a:t>
            </a:r>
            <a:r>
              <a:rPr lang="en-US" sz="2000" dirty="0">
                <a:latin typeface="Calibri Light" panose="020F0302020204030204" pitchFamily="34" charset="0"/>
                <a:ea typeface="Calibri Light" panose="020F0302020204030204" pitchFamily="34" charset="0"/>
                <a:cs typeface="Calibri Light" panose="020F0302020204030204" pitchFamily="34" charset="0"/>
              </a:rPr>
              <a:t> /&gt;");</a:t>
            </a:r>
          </a:p>
          <a:p>
            <a:pPr lvl="1"/>
            <a:r>
              <a:rPr lang="en-US" sz="2000" dirty="0">
                <a:latin typeface="Calibri Light" panose="020F0302020204030204" pitchFamily="34" charset="0"/>
                <a:ea typeface="Calibri Light" panose="020F0302020204030204" pitchFamily="34" charset="0"/>
                <a:cs typeface="Calibri Light" panose="020F0302020204030204" pitchFamily="34" charset="0"/>
              </a:rPr>
              <a:t> }</a:t>
            </a:r>
            <a:endParaRPr lang="en-IN" sz="20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866171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C60687D-4E5C-C2E2-A097-C1F8C4E5BA2E}"/>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EE12A8F5-C4F8-5D43-12EC-2E2BEC938040}"/>
              </a:ext>
            </a:extLst>
          </p:cNvPr>
          <p:cNvSpPr txBox="1"/>
          <p:nvPr/>
        </p:nvSpPr>
        <p:spPr>
          <a:xfrm>
            <a:off x="528918" y="421341"/>
            <a:ext cx="11143129" cy="4278094"/>
          </a:xfrm>
          <a:prstGeom prst="rect">
            <a:avLst/>
          </a:prstGeom>
          <a:noFill/>
        </p:spPr>
        <p:txBody>
          <a:bodyPr wrap="square" rtlCol="0">
            <a:spAutoFit/>
          </a:bodyPr>
          <a:lstStyle/>
          <a:p>
            <a:r>
              <a:rPr lang="en-IN" sz="2400" dirty="0"/>
              <a:t>6.3 The switch Statement</a:t>
            </a:r>
            <a:endParaRPr lang="en-US" sz="2400" dirty="0"/>
          </a:p>
          <a:p>
            <a:endParaRPr lang="en-US" sz="2000" dirty="0"/>
          </a:p>
          <a:p>
            <a:pPr marL="342900" indent="-342900">
              <a:buFont typeface="Arial" panose="020B0604020202020204" pitchFamily="34" charset="0"/>
              <a:buChar char="•"/>
            </a:pPr>
            <a:r>
              <a:rPr lang="en-US" sz="2000" dirty="0"/>
              <a:t>JavaScript has a switch statement that is similar to that of Java.</a:t>
            </a:r>
          </a:p>
          <a:p>
            <a:endParaRPr lang="en-US" sz="2000" dirty="0"/>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switch (expression)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case value_1:</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statement(s)</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case value_2:</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statement(s)</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[default:</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 </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statement(s)]</a:t>
            </a:r>
          </a:p>
          <a:p>
            <a:pPr lvl="1"/>
            <a:r>
              <a:rPr lang="en-US" sz="1400" dirty="0">
                <a:latin typeface="Calibri Light" panose="020F0302020204030204" pitchFamily="34" charset="0"/>
                <a:ea typeface="Calibri Light" panose="020F0302020204030204" pitchFamily="34" charset="0"/>
                <a:cs typeface="Calibri Light" panose="020F0302020204030204" pitchFamily="34" charset="0"/>
              </a:rPr>
              <a:t> }</a:t>
            </a:r>
            <a:endParaRPr lang="en-IN" sz="1400" dirty="0">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Arial" panose="020B0604020202020204" pitchFamily="34" charset="0"/>
              <a:buChar char="•"/>
            </a:pPr>
            <a:r>
              <a:rPr lang="en-US" sz="2000" dirty="0"/>
              <a:t>A </a:t>
            </a:r>
            <a:r>
              <a:rPr lang="en-US" sz="2000" dirty="0">
                <a:solidFill>
                  <a:srgbClr val="FF0000"/>
                </a:solidFill>
              </a:rPr>
              <a:t>break</a:t>
            </a:r>
            <a:r>
              <a:rPr lang="en-US" sz="2000" dirty="0"/>
              <a:t> statement appears as the last statement in each sequence of statements following a case.</a:t>
            </a:r>
            <a:endParaRPr lang="en-IN" sz="2000" dirty="0"/>
          </a:p>
        </p:txBody>
      </p:sp>
    </p:spTree>
    <p:extLst>
      <p:ext uri="{BB962C8B-B14F-4D97-AF65-F5344CB8AC3E}">
        <p14:creationId xmlns:p14="http://schemas.microsoft.com/office/powerpoint/2010/main" val="85118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B401CBF-B45A-6BF6-F972-C07D7B26B4D0}"/>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0D173E9-737E-20E2-7D43-A03F76214A17}"/>
              </a:ext>
            </a:extLst>
          </p:cNvPr>
          <p:cNvSpPr txBox="1"/>
          <p:nvPr/>
        </p:nvSpPr>
        <p:spPr>
          <a:xfrm>
            <a:off x="528918" y="421341"/>
            <a:ext cx="11143129" cy="4462760"/>
          </a:xfrm>
          <a:prstGeom prst="rect">
            <a:avLst/>
          </a:prstGeom>
          <a:noFill/>
        </p:spPr>
        <p:txBody>
          <a:bodyPr wrap="square" rtlCol="0">
            <a:spAutoFit/>
          </a:bodyPr>
          <a:lstStyle/>
          <a:p>
            <a:r>
              <a:rPr lang="en-IN" sz="2400" b="1" dirty="0"/>
              <a:t>6.4 Loop Statements</a:t>
            </a:r>
            <a:endParaRPr lang="en-US" sz="2400" b="1" dirty="0"/>
          </a:p>
          <a:p>
            <a:endParaRPr lang="en-US" sz="2000" dirty="0"/>
          </a:p>
          <a:p>
            <a:pPr marL="342900" indent="-342900">
              <a:buFont typeface="Arial" panose="020B0604020202020204" pitchFamily="34" charset="0"/>
              <a:buChar char="•"/>
            </a:pPr>
            <a:r>
              <a:rPr lang="en-US" sz="2000" dirty="0"/>
              <a:t>The JavaScript while and for statements are similar to those of Java and C++.</a:t>
            </a:r>
          </a:p>
          <a:p>
            <a:pPr marL="342900" indent="-342900">
              <a:buFont typeface="Arial" panose="020B0604020202020204" pitchFamily="34" charset="0"/>
              <a:buChar char="•"/>
            </a:pPr>
            <a:endParaRPr lang="en-US" sz="2000" dirty="0"/>
          </a:p>
          <a:p>
            <a:pPr lvl="1"/>
            <a:r>
              <a:rPr lang="en-US" sz="2000" b="1" dirty="0">
                <a:latin typeface="Microsoft Yi Baiti" panose="03000500000000000000" pitchFamily="66" charset="0"/>
                <a:ea typeface="Microsoft Yi Baiti" panose="03000500000000000000" pitchFamily="66" charset="0"/>
              </a:rPr>
              <a:t>while (control expression)</a:t>
            </a:r>
          </a:p>
          <a:p>
            <a:pPr lvl="1"/>
            <a:r>
              <a:rPr lang="en-US" sz="2000" b="1" dirty="0">
                <a:latin typeface="Microsoft Yi Baiti" panose="03000500000000000000" pitchFamily="66" charset="0"/>
                <a:ea typeface="Microsoft Yi Baiti" panose="03000500000000000000" pitchFamily="66" charset="0"/>
              </a:rPr>
              <a:t> 	statement or compound statement</a:t>
            </a:r>
            <a:endParaRPr lang="en-IN" sz="2000" b="1" dirty="0">
              <a:latin typeface="Microsoft Yi Baiti" panose="03000500000000000000" pitchFamily="66" charset="0"/>
              <a:ea typeface="Microsoft Yi Baiti" panose="03000500000000000000" pitchFamily="66" charset="0"/>
            </a:endParaRPr>
          </a:p>
          <a:p>
            <a:pPr lvl="1"/>
            <a:endParaRPr lang="en-IN" sz="2000" b="1" dirty="0">
              <a:latin typeface="Microsoft Yi Baiti" panose="03000500000000000000" pitchFamily="66" charset="0"/>
              <a:ea typeface="Microsoft Yi Baiti" panose="03000500000000000000" pitchFamily="66" charset="0"/>
            </a:endParaRPr>
          </a:p>
          <a:p>
            <a:pPr lvl="1"/>
            <a:r>
              <a:rPr lang="en-IN" sz="2000" b="1" dirty="0">
                <a:latin typeface="Microsoft Yi Baiti" panose="03000500000000000000" pitchFamily="66" charset="0"/>
                <a:ea typeface="Microsoft Yi Baiti" panose="03000500000000000000" pitchFamily="66" charset="0"/>
              </a:rPr>
              <a:t>for (initial expression; control expression; increment expression)</a:t>
            </a:r>
          </a:p>
          <a:p>
            <a:pPr lvl="1"/>
            <a:r>
              <a:rPr lang="en-IN" sz="2000" b="1" dirty="0">
                <a:latin typeface="Microsoft Yi Baiti" panose="03000500000000000000" pitchFamily="66" charset="0"/>
                <a:ea typeface="Microsoft Yi Baiti" panose="03000500000000000000" pitchFamily="66" charset="0"/>
              </a:rPr>
              <a:t>	statement or compound statement</a:t>
            </a:r>
          </a:p>
          <a:p>
            <a:pPr lvl="1"/>
            <a:endParaRPr lang="en-IN" sz="2000" b="1" dirty="0">
              <a:latin typeface="Microsoft Yi Baiti" panose="03000500000000000000" pitchFamily="66" charset="0"/>
              <a:ea typeface="Microsoft Yi Baiti" panose="03000500000000000000" pitchFamily="66" charset="0"/>
            </a:endParaRPr>
          </a:p>
          <a:p>
            <a:pPr lvl="1"/>
            <a:r>
              <a:rPr lang="en-US" sz="2000" b="1" dirty="0">
                <a:latin typeface="Microsoft Yi Baiti" panose="03000500000000000000" pitchFamily="66" charset="0"/>
                <a:ea typeface="Microsoft Yi Baiti" panose="03000500000000000000" pitchFamily="66" charset="0"/>
              </a:rPr>
              <a:t>do statement or compound statement </a:t>
            </a:r>
          </a:p>
          <a:p>
            <a:pPr lvl="1"/>
            <a:r>
              <a:rPr lang="en-US" sz="2000" b="1" dirty="0">
                <a:latin typeface="Microsoft Yi Baiti" panose="03000500000000000000" pitchFamily="66" charset="0"/>
                <a:ea typeface="Microsoft Yi Baiti" panose="03000500000000000000" pitchFamily="66" charset="0"/>
              </a:rPr>
              <a:t>	while (control expression)</a:t>
            </a:r>
            <a:endParaRPr lang="en-IN" sz="2000" b="1" dirty="0">
              <a:latin typeface="Microsoft Yi Baiti" panose="03000500000000000000" pitchFamily="66" charset="0"/>
              <a:ea typeface="Microsoft Yi Baiti" panose="03000500000000000000" pitchFamily="66" charset="0"/>
            </a:endParaRPr>
          </a:p>
          <a:p>
            <a:endParaRPr lang="en-IN" sz="2000" dirty="0"/>
          </a:p>
          <a:p>
            <a:endParaRPr lang="en-IN" sz="2000" dirty="0"/>
          </a:p>
        </p:txBody>
      </p:sp>
    </p:spTree>
    <p:extLst>
      <p:ext uri="{BB962C8B-B14F-4D97-AF65-F5344CB8AC3E}">
        <p14:creationId xmlns:p14="http://schemas.microsoft.com/office/powerpoint/2010/main" val="3346969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02E3C30-6DC6-7BDA-6AC8-8CE7BEB47BE7}"/>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E6DAD487-F87F-6D8A-F3A8-904AB6C8839E}"/>
              </a:ext>
            </a:extLst>
          </p:cNvPr>
          <p:cNvSpPr txBox="1"/>
          <p:nvPr/>
        </p:nvSpPr>
        <p:spPr>
          <a:xfrm>
            <a:off x="528918" y="421341"/>
            <a:ext cx="11143129" cy="5693866"/>
          </a:xfrm>
          <a:prstGeom prst="rect">
            <a:avLst/>
          </a:prstGeom>
          <a:noFill/>
        </p:spPr>
        <p:txBody>
          <a:bodyPr wrap="square" rtlCol="0">
            <a:spAutoFit/>
          </a:bodyPr>
          <a:lstStyle/>
          <a:p>
            <a:r>
              <a:rPr lang="en-US" sz="2400" b="1" dirty="0"/>
              <a:t>7 Object Creation and Modification</a:t>
            </a:r>
          </a:p>
          <a:p>
            <a:endParaRPr lang="en-US" sz="2000" dirty="0"/>
          </a:p>
          <a:p>
            <a:pPr marL="342900" indent="-342900" algn="just">
              <a:buFont typeface="Arial" panose="020B0604020202020204" pitchFamily="34" charset="0"/>
              <a:buChar char="•"/>
            </a:pPr>
            <a:r>
              <a:rPr lang="en-US" sz="2000" dirty="0"/>
              <a:t>Objects are often created with a </a:t>
            </a:r>
            <a:r>
              <a:rPr lang="en-US" sz="2000" i="1" dirty="0">
                <a:solidFill>
                  <a:srgbClr val="FF0000"/>
                </a:solidFill>
              </a:rPr>
              <a:t>new</a:t>
            </a:r>
            <a:r>
              <a:rPr lang="en-US" sz="2000" dirty="0"/>
              <a:t> expression, which must include a call to a constructor method.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constructor that is called in the new expression creates the properties that characterize the new object.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JavaScript, however, the new operator creates a blank object—that is, one with no properties.</a:t>
            </a:r>
          </a:p>
          <a:p>
            <a:endParaRPr lang="en-US" sz="2000" dirty="0"/>
          </a:p>
          <a:p>
            <a:r>
              <a:rPr lang="en-US" sz="2000" dirty="0"/>
              <a:t>	</a:t>
            </a:r>
            <a:r>
              <a:rPr lang="en-US" sz="2000" b="1" dirty="0">
                <a:latin typeface="Microsoft Yi Baiti" panose="03000500000000000000" pitchFamily="66" charset="0"/>
                <a:ea typeface="Microsoft Yi Baiti" panose="03000500000000000000" pitchFamily="66" charset="0"/>
              </a:rPr>
              <a:t>var </a:t>
            </a:r>
            <a:r>
              <a:rPr lang="en-US" sz="2000" b="1" dirty="0" err="1">
                <a:latin typeface="Microsoft Yi Baiti" panose="03000500000000000000" pitchFamily="66" charset="0"/>
                <a:ea typeface="Microsoft Yi Baiti" panose="03000500000000000000" pitchFamily="66" charset="0"/>
              </a:rPr>
              <a:t>my_object</a:t>
            </a:r>
            <a:r>
              <a:rPr lang="en-US" sz="2000" b="1" dirty="0">
                <a:latin typeface="Microsoft Yi Baiti" panose="03000500000000000000" pitchFamily="66" charset="0"/>
                <a:ea typeface="Microsoft Yi Baiti" panose="03000500000000000000" pitchFamily="66" charset="0"/>
              </a:rPr>
              <a:t> = new Object();</a:t>
            </a:r>
          </a:p>
          <a:p>
            <a:endParaRPr lang="en-US" sz="2000" dirty="0"/>
          </a:p>
          <a:p>
            <a:pPr marL="342900" indent="-342900" algn="just">
              <a:buFont typeface="Arial" panose="020B0604020202020204" pitchFamily="34" charset="0"/>
              <a:buChar char="•"/>
            </a:pPr>
            <a:r>
              <a:rPr lang="en-US" sz="2000" dirty="0"/>
              <a:t>In this case, the constructor called is that of Object, which endows the new object with no properties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variable </a:t>
            </a:r>
            <a:r>
              <a:rPr lang="en-US" sz="2000" dirty="0" err="1"/>
              <a:t>my_object</a:t>
            </a:r>
            <a:r>
              <a:rPr lang="en-US" sz="2000" dirty="0"/>
              <a:t> references the new object. Calls to constructors must include parentheses, even if there are no parameters.</a:t>
            </a:r>
            <a:endParaRPr lang="en-IN" sz="2000" dirty="0"/>
          </a:p>
          <a:p>
            <a:endParaRPr lang="en-IN" sz="2000" dirty="0"/>
          </a:p>
        </p:txBody>
      </p:sp>
    </p:spTree>
    <p:extLst>
      <p:ext uri="{BB962C8B-B14F-4D97-AF65-F5344CB8AC3E}">
        <p14:creationId xmlns:p14="http://schemas.microsoft.com/office/powerpoint/2010/main" val="77093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42F07E-6EAB-505D-B961-D5AD23EA098B}"/>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BD00885C-0B8B-A783-E7C2-066286160745}"/>
              </a:ext>
            </a:extLst>
          </p:cNvPr>
          <p:cNvSpPr txBox="1"/>
          <p:nvPr/>
        </p:nvSpPr>
        <p:spPr>
          <a:xfrm>
            <a:off x="528918" y="421341"/>
            <a:ext cx="11143129" cy="6001643"/>
          </a:xfrm>
          <a:prstGeom prst="rect">
            <a:avLst/>
          </a:prstGeom>
          <a:noFill/>
        </p:spPr>
        <p:txBody>
          <a:bodyPr wrap="square" rtlCol="0">
            <a:spAutoFit/>
          </a:bodyPr>
          <a:lstStyle/>
          <a:p>
            <a:endParaRPr lang="en-US" sz="2400" dirty="0"/>
          </a:p>
          <a:p>
            <a:endParaRPr lang="en-US" sz="2000" dirty="0"/>
          </a:p>
          <a:p>
            <a:pPr marL="342900" indent="-342900" algn="just">
              <a:buFont typeface="Arial" panose="020B0604020202020204" pitchFamily="34" charset="0"/>
              <a:buChar char="•"/>
            </a:pPr>
            <a:r>
              <a:rPr lang="en-US" sz="2000" dirty="0"/>
              <a:t>The number of members of a class in Java or C++ is fixed at compile time.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number of properties in a JavaScript object is dynamic.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At any time during interpretation, properties can be added to or deleted from an object.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property for an object is created by assigning a value to that property’s name.</a:t>
            </a:r>
            <a:endParaRPr lang="en-IN" sz="2000" dirty="0"/>
          </a:p>
          <a:p>
            <a:endParaRPr lang="en-IN" sz="2000" dirty="0"/>
          </a:p>
          <a:p>
            <a:pPr lvl="1"/>
            <a:r>
              <a:rPr lang="en-US" sz="2000" dirty="0">
                <a:latin typeface="Microsoft Yi Baiti" panose="03000500000000000000" pitchFamily="66" charset="0"/>
                <a:ea typeface="Microsoft Yi Baiti" panose="03000500000000000000" pitchFamily="66" charset="0"/>
              </a:rPr>
              <a:t> // Create an Object </a:t>
            </a:r>
            <a:r>
              <a:rPr lang="en-US" sz="2000" dirty="0" err="1">
                <a:latin typeface="Microsoft Yi Baiti" panose="03000500000000000000" pitchFamily="66" charset="0"/>
                <a:ea typeface="Microsoft Yi Baiti" panose="03000500000000000000" pitchFamily="66" charset="0"/>
              </a:rPr>
              <a:t>object</a:t>
            </a:r>
            <a:endParaRPr lang="en-US" sz="2000" dirty="0">
              <a:latin typeface="Microsoft Yi Baiti" panose="03000500000000000000" pitchFamily="66" charset="0"/>
              <a:ea typeface="Microsoft Yi Baiti" panose="03000500000000000000" pitchFamily="66" charset="0"/>
            </a:endParaRPr>
          </a:p>
          <a:p>
            <a:pPr lvl="1"/>
            <a:r>
              <a:rPr lang="en-US" sz="2000" dirty="0">
                <a:latin typeface="Microsoft Yi Baiti" panose="03000500000000000000" pitchFamily="66" charset="0"/>
                <a:ea typeface="Microsoft Yi Baiti" panose="03000500000000000000" pitchFamily="66" charset="0"/>
              </a:rPr>
              <a:t> var </a:t>
            </a:r>
            <a:r>
              <a:rPr lang="en-US" sz="2000" dirty="0" err="1">
                <a:latin typeface="Microsoft Yi Baiti" panose="03000500000000000000" pitchFamily="66" charset="0"/>
                <a:ea typeface="Microsoft Yi Baiti" panose="03000500000000000000" pitchFamily="66" charset="0"/>
              </a:rPr>
              <a:t>my_car</a:t>
            </a:r>
            <a:r>
              <a:rPr lang="en-US" sz="2000" dirty="0">
                <a:latin typeface="Microsoft Yi Baiti" panose="03000500000000000000" pitchFamily="66" charset="0"/>
                <a:ea typeface="Microsoft Yi Baiti" panose="03000500000000000000" pitchFamily="66" charset="0"/>
              </a:rPr>
              <a:t> = new Object();     </a:t>
            </a:r>
          </a:p>
          <a:p>
            <a:pPr lvl="1"/>
            <a:r>
              <a:rPr lang="en-US" sz="2000" dirty="0">
                <a:latin typeface="Microsoft Yi Baiti" panose="03000500000000000000" pitchFamily="66" charset="0"/>
                <a:ea typeface="Microsoft Yi Baiti" panose="03000500000000000000" pitchFamily="66" charset="0"/>
              </a:rPr>
              <a:t>// Create and initialize the make property</a:t>
            </a:r>
          </a:p>
          <a:p>
            <a:pPr lvl="1"/>
            <a:r>
              <a:rPr lang="en-US" sz="2000" dirty="0">
                <a:latin typeface="Microsoft Yi Baiti" panose="03000500000000000000" pitchFamily="66" charset="0"/>
                <a:ea typeface="Microsoft Yi Baiti" panose="03000500000000000000" pitchFamily="66" charset="0"/>
              </a:rPr>
              <a:t> </a:t>
            </a:r>
            <a:r>
              <a:rPr lang="en-US" sz="2000" dirty="0" err="1">
                <a:latin typeface="Microsoft Yi Baiti" panose="03000500000000000000" pitchFamily="66" charset="0"/>
                <a:ea typeface="Microsoft Yi Baiti" panose="03000500000000000000" pitchFamily="66" charset="0"/>
              </a:rPr>
              <a:t>my_car.make</a:t>
            </a:r>
            <a:r>
              <a:rPr lang="en-US" sz="2000" dirty="0">
                <a:latin typeface="Microsoft Yi Baiti" panose="03000500000000000000" pitchFamily="66" charset="0"/>
                <a:ea typeface="Microsoft Yi Baiti" panose="03000500000000000000" pitchFamily="66" charset="0"/>
              </a:rPr>
              <a:t> = "Ford"; </a:t>
            </a:r>
          </a:p>
          <a:p>
            <a:pPr lvl="1"/>
            <a:r>
              <a:rPr lang="en-US" sz="2000" dirty="0">
                <a:latin typeface="Microsoft Yi Baiti" panose="03000500000000000000" pitchFamily="66" charset="0"/>
                <a:ea typeface="Microsoft Yi Baiti" panose="03000500000000000000" pitchFamily="66" charset="0"/>
              </a:rPr>
              <a:t>// Create and initialize model</a:t>
            </a:r>
          </a:p>
          <a:p>
            <a:pPr lvl="1"/>
            <a:r>
              <a:rPr lang="en-US" sz="2000" dirty="0">
                <a:latin typeface="Microsoft Yi Baiti" panose="03000500000000000000" pitchFamily="66" charset="0"/>
                <a:ea typeface="Microsoft Yi Baiti" panose="03000500000000000000" pitchFamily="66" charset="0"/>
              </a:rPr>
              <a:t> </a:t>
            </a:r>
            <a:r>
              <a:rPr lang="en-US" sz="2000" dirty="0" err="1">
                <a:latin typeface="Microsoft Yi Baiti" panose="03000500000000000000" pitchFamily="66" charset="0"/>
                <a:ea typeface="Microsoft Yi Baiti" panose="03000500000000000000" pitchFamily="66" charset="0"/>
              </a:rPr>
              <a:t>my_car.model</a:t>
            </a:r>
            <a:r>
              <a:rPr lang="en-US" sz="2000" dirty="0">
                <a:latin typeface="Microsoft Yi Baiti" panose="03000500000000000000" pitchFamily="66" charset="0"/>
                <a:ea typeface="Microsoft Yi Baiti" panose="03000500000000000000" pitchFamily="66" charset="0"/>
              </a:rPr>
              <a:t> = "Fusion"; </a:t>
            </a:r>
          </a:p>
          <a:p>
            <a:pPr lvl="1"/>
            <a:endParaRPr lang="en-US" sz="2000" dirty="0">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There is an abbreviated way to create an object and its properties.</a:t>
            </a:r>
          </a:p>
          <a:p>
            <a:pPr lvl="1"/>
            <a:r>
              <a:rPr lang="en-US" sz="2000" dirty="0">
                <a:latin typeface="Microsoft Yi Baiti" panose="03000500000000000000" pitchFamily="66" charset="0"/>
                <a:ea typeface="Microsoft Yi Baiti" panose="03000500000000000000" pitchFamily="66" charset="0"/>
              </a:rPr>
              <a:t>var </a:t>
            </a:r>
            <a:r>
              <a:rPr lang="en-US" sz="2000" dirty="0" err="1">
                <a:latin typeface="Microsoft Yi Baiti" panose="03000500000000000000" pitchFamily="66" charset="0"/>
                <a:ea typeface="Microsoft Yi Baiti" panose="03000500000000000000" pitchFamily="66" charset="0"/>
              </a:rPr>
              <a:t>my_car</a:t>
            </a:r>
            <a:r>
              <a:rPr lang="en-US" sz="2000" dirty="0">
                <a:latin typeface="Microsoft Yi Baiti" panose="03000500000000000000" pitchFamily="66" charset="0"/>
                <a:ea typeface="Microsoft Yi Baiti" panose="03000500000000000000" pitchFamily="66" charset="0"/>
              </a:rPr>
              <a:t> = {make: "Ford", model: "Fusion"};</a:t>
            </a:r>
            <a:endParaRPr lang="en-IN" sz="2000" dirty="0">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4216612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03A5637-596D-AFFE-F66E-7CC3962C3EA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3C96A0A-A4D7-8545-FA27-54AC05C8C2A1}"/>
              </a:ext>
            </a:extLst>
          </p:cNvPr>
          <p:cNvSpPr txBox="1"/>
          <p:nvPr/>
        </p:nvSpPr>
        <p:spPr>
          <a:xfrm>
            <a:off x="528918" y="421341"/>
            <a:ext cx="11143129" cy="5632311"/>
          </a:xfrm>
          <a:prstGeom prst="rect">
            <a:avLst/>
          </a:prstGeom>
          <a:noFill/>
        </p:spPr>
        <p:txBody>
          <a:bodyPr wrap="square" rtlCol="0">
            <a:spAutoFit/>
          </a:bodyPr>
          <a:lstStyle/>
          <a:p>
            <a:pPr marL="342900" indent="-342900">
              <a:buFont typeface="Arial" panose="020B0604020202020204" pitchFamily="34" charset="0"/>
              <a:buChar char="•"/>
            </a:pPr>
            <a:r>
              <a:rPr lang="en-US" sz="2000" dirty="0"/>
              <a:t>Because objects can be nested, you can create a new object that is a property of </a:t>
            </a:r>
            <a:r>
              <a:rPr lang="en-US" sz="2000" dirty="0" err="1"/>
              <a:t>my_car</a:t>
            </a:r>
            <a:r>
              <a:rPr lang="en-US" sz="2000" dirty="0"/>
              <a:t> with properties of its own, as in the following statements:</a:t>
            </a:r>
          </a:p>
          <a:p>
            <a:pPr lvl="1"/>
            <a:r>
              <a:rPr lang="en-US" sz="2000" dirty="0" err="1">
                <a:latin typeface="Microsoft Yi Baiti" panose="03000500000000000000" pitchFamily="66" charset="0"/>
                <a:ea typeface="Microsoft Yi Baiti" panose="03000500000000000000" pitchFamily="66" charset="0"/>
              </a:rPr>
              <a:t>my_car.engine</a:t>
            </a:r>
            <a:r>
              <a:rPr lang="en-US" sz="2000" dirty="0">
                <a:latin typeface="Microsoft Yi Baiti" panose="03000500000000000000" pitchFamily="66" charset="0"/>
                <a:ea typeface="Microsoft Yi Baiti" panose="03000500000000000000" pitchFamily="66" charset="0"/>
              </a:rPr>
              <a:t> = new Object();</a:t>
            </a:r>
          </a:p>
          <a:p>
            <a:pPr lvl="1"/>
            <a:r>
              <a:rPr lang="en-US" sz="2000" dirty="0" err="1">
                <a:latin typeface="Microsoft Yi Baiti" panose="03000500000000000000" pitchFamily="66" charset="0"/>
                <a:ea typeface="Microsoft Yi Baiti" panose="03000500000000000000" pitchFamily="66" charset="0"/>
              </a:rPr>
              <a:t>my_car.engine.config</a:t>
            </a:r>
            <a:r>
              <a:rPr lang="en-US" sz="2000" dirty="0">
                <a:latin typeface="Microsoft Yi Baiti" panose="03000500000000000000" pitchFamily="66" charset="0"/>
                <a:ea typeface="Microsoft Yi Baiti" panose="03000500000000000000" pitchFamily="66" charset="0"/>
              </a:rPr>
              <a:t> = "V6";</a:t>
            </a:r>
          </a:p>
          <a:p>
            <a:pPr lvl="1"/>
            <a:r>
              <a:rPr lang="en-US" sz="2000" dirty="0" err="1">
                <a:latin typeface="Microsoft Yi Baiti" panose="03000500000000000000" pitchFamily="66" charset="0"/>
                <a:ea typeface="Microsoft Yi Baiti" panose="03000500000000000000" pitchFamily="66" charset="0"/>
              </a:rPr>
              <a:t>my_car.engine.hp</a:t>
            </a:r>
            <a:r>
              <a:rPr lang="en-US" sz="2000" dirty="0">
                <a:latin typeface="Microsoft Yi Baiti" panose="03000500000000000000" pitchFamily="66" charset="0"/>
                <a:ea typeface="Microsoft Yi Baiti" panose="03000500000000000000" pitchFamily="66" charset="0"/>
              </a:rPr>
              <a:t> = 263;</a:t>
            </a:r>
            <a:endParaRPr lang="en-IN" sz="2000" dirty="0">
              <a:latin typeface="Microsoft Yi Baiti" panose="03000500000000000000" pitchFamily="66" charset="0"/>
              <a:ea typeface="Microsoft Yi Baiti" panose="03000500000000000000" pitchFamily="66" charset="0"/>
            </a:endParaRPr>
          </a:p>
          <a:p>
            <a:endParaRPr lang="en-IN" sz="2000" dirty="0">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Properties can be accessed in two ways.</a:t>
            </a:r>
          </a:p>
          <a:p>
            <a:r>
              <a:rPr lang="en-US" sz="2000" dirty="0"/>
              <a:t>	</a:t>
            </a:r>
            <a:r>
              <a:rPr lang="en-US" sz="2000" dirty="0">
                <a:latin typeface="Microsoft Yi Baiti" panose="03000500000000000000" pitchFamily="66" charset="0"/>
                <a:ea typeface="Microsoft Yi Baiti" panose="03000500000000000000" pitchFamily="66" charset="0"/>
              </a:rPr>
              <a:t>var prop1 = </a:t>
            </a:r>
            <a:r>
              <a:rPr lang="en-US" sz="2000" dirty="0" err="1">
                <a:latin typeface="Microsoft Yi Baiti" panose="03000500000000000000" pitchFamily="66" charset="0"/>
                <a:ea typeface="Microsoft Yi Baiti" panose="03000500000000000000" pitchFamily="66" charset="0"/>
              </a:rPr>
              <a:t>my_car.make</a:t>
            </a:r>
            <a:r>
              <a:rPr lang="en-US" sz="2000" dirty="0">
                <a:latin typeface="Microsoft Yi Baiti" panose="03000500000000000000" pitchFamily="66" charset="0"/>
                <a:ea typeface="Microsoft Yi Baiti" panose="03000500000000000000" pitchFamily="66" charset="0"/>
              </a:rPr>
              <a:t>;</a:t>
            </a:r>
          </a:p>
          <a:p>
            <a:r>
              <a:rPr lang="en-US" sz="2000" dirty="0">
                <a:latin typeface="Microsoft Yi Baiti" panose="03000500000000000000" pitchFamily="66" charset="0"/>
                <a:ea typeface="Microsoft Yi Baiti" panose="03000500000000000000" pitchFamily="66" charset="0"/>
              </a:rPr>
              <a:t> 	var prop2 = </a:t>
            </a:r>
            <a:r>
              <a:rPr lang="en-US" sz="2000" dirty="0" err="1">
                <a:latin typeface="Microsoft Yi Baiti" panose="03000500000000000000" pitchFamily="66" charset="0"/>
                <a:ea typeface="Microsoft Yi Baiti" panose="03000500000000000000" pitchFamily="66" charset="0"/>
              </a:rPr>
              <a:t>my_car</a:t>
            </a:r>
            <a:r>
              <a:rPr lang="en-US" sz="2000" dirty="0">
                <a:latin typeface="Microsoft Yi Baiti" panose="03000500000000000000" pitchFamily="66" charset="0"/>
                <a:ea typeface="Microsoft Yi Baiti" panose="03000500000000000000" pitchFamily="66" charset="0"/>
              </a:rPr>
              <a:t>["make"];</a:t>
            </a:r>
          </a:p>
          <a:p>
            <a:endParaRPr lang="en-US" sz="2000" dirty="0">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If an attempt is made to access a property of an object that does not exist, the value </a:t>
            </a:r>
            <a:r>
              <a:rPr lang="en-US" sz="2000" dirty="0">
                <a:solidFill>
                  <a:srgbClr val="FF0000"/>
                </a:solidFill>
              </a:rPr>
              <a:t>undefined</a:t>
            </a:r>
            <a:r>
              <a:rPr lang="en-US" sz="2000" dirty="0"/>
              <a:t> is used. </a:t>
            </a:r>
          </a:p>
          <a:p>
            <a:pPr marL="342900" indent="-342900">
              <a:buFont typeface="Arial" panose="020B0604020202020204" pitchFamily="34" charset="0"/>
              <a:buChar char="•"/>
            </a:pPr>
            <a:r>
              <a:rPr lang="en-US" sz="2000" dirty="0"/>
              <a:t>A property can be deleted with </a:t>
            </a:r>
            <a:r>
              <a:rPr lang="en-US" sz="2000" dirty="0">
                <a:solidFill>
                  <a:srgbClr val="FF0000"/>
                </a:solidFill>
              </a:rPr>
              <a:t>delete</a:t>
            </a:r>
          </a:p>
          <a:p>
            <a:r>
              <a:rPr lang="en-US" sz="2000" dirty="0">
                <a:solidFill>
                  <a:srgbClr val="FF0000"/>
                </a:solidFill>
                <a:latin typeface="Microsoft Yi Baiti" panose="03000500000000000000" pitchFamily="66" charset="0"/>
                <a:ea typeface="Microsoft Yi Baiti" panose="03000500000000000000" pitchFamily="66" charset="0"/>
              </a:rPr>
              <a:t>	</a:t>
            </a:r>
            <a:r>
              <a:rPr lang="en-IN" sz="2000" dirty="0">
                <a:latin typeface="Microsoft Yi Baiti" panose="03000500000000000000" pitchFamily="66" charset="0"/>
                <a:ea typeface="Microsoft Yi Baiti" panose="03000500000000000000" pitchFamily="66" charset="0"/>
              </a:rPr>
              <a:t>delete </a:t>
            </a:r>
            <a:r>
              <a:rPr lang="en-IN" sz="2000" dirty="0" err="1">
                <a:latin typeface="Microsoft Yi Baiti" panose="03000500000000000000" pitchFamily="66" charset="0"/>
                <a:ea typeface="Microsoft Yi Baiti" panose="03000500000000000000" pitchFamily="66" charset="0"/>
              </a:rPr>
              <a:t>my_car.model</a:t>
            </a:r>
            <a:r>
              <a:rPr lang="en-IN" sz="2000" dirty="0">
                <a:latin typeface="Microsoft Yi Baiti" panose="03000500000000000000" pitchFamily="66" charset="0"/>
                <a:ea typeface="Microsoft Yi Baiti" panose="03000500000000000000" pitchFamily="66" charset="0"/>
              </a:rPr>
              <a:t>;</a:t>
            </a:r>
          </a:p>
          <a:p>
            <a:endParaRPr lang="en-IN" sz="2000" dirty="0">
              <a:solidFill>
                <a:srgbClr val="FF0000"/>
              </a:solidFill>
              <a:latin typeface="Microsoft Yi Baiti" panose="03000500000000000000" pitchFamily="66" charset="0"/>
              <a:ea typeface="Microsoft Yi Baiti" panose="03000500000000000000" pitchFamily="66" charset="0"/>
            </a:endParaRPr>
          </a:p>
          <a:p>
            <a:pPr marL="342900" indent="-342900">
              <a:buFont typeface="Arial" panose="020B0604020202020204" pitchFamily="34" charset="0"/>
              <a:buChar char="•"/>
            </a:pPr>
            <a:r>
              <a:rPr lang="en-US" sz="2000" dirty="0"/>
              <a:t>JavaScript has a loop statement, for-in, that is perfect for listing the properties of an object</a:t>
            </a:r>
          </a:p>
          <a:p>
            <a:pPr lvl="2"/>
            <a:r>
              <a:rPr lang="en-US" sz="2000" dirty="0">
                <a:solidFill>
                  <a:srgbClr val="FF0000"/>
                </a:solidFill>
                <a:latin typeface="Microsoft Yi Baiti" panose="03000500000000000000" pitchFamily="66" charset="0"/>
                <a:ea typeface="Microsoft Yi Baiti" panose="03000500000000000000" pitchFamily="66" charset="0"/>
              </a:rPr>
              <a:t>for (var prop in </a:t>
            </a:r>
            <a:r>
              <a:rPr lang="en-US" sz="2000" dirty="0" err="1">
                <a:solidFill>
                  <a:srgbClr val="FF0000"/>
                </a:solidFill>
                <a:latin typeface="Microsoft Yi Baiti" panose="03000500000000000000" pitchFamily="66" charset="0"/>
                <a:ea typeface="Microsoft Yi Baiti" panose="03000500000000000000" pitchFamily="66" charset="0"/>
              </a:rPr>
              <a:t>my_car</a:t>
            </a:r>
            <a:r>
              <a:rPr lang="en-US" sz="2000" dirty="0">
                <a:solidFill>
                  <a:srgbClr val="FF0000"/>
                </a:solidFill>
                <a:latin typeface="Microsoft Yi Baiti" panose="03000500000000000000" pitchFamily="66" charset="0"/>
                <a:ea typeface="Microsoft Yi Baiti" panose="03000500000000000000" pitchFamily="66" charset="0"/>
              </a:rPr>
              <a:t>) </a:t>
            </a:r>
          </a:p>
          <a:p>
            <a:pPr lvl="2"/>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document.write</a:t>
            </a:r>
            <a:r>
              <a:rPr lang="en-US" sz="2000" dirty="0">
                <a:solidFill>
                  <a:srgbClr val="FF0000"/>
                </a:solidFill>
                <a:latin typeface="Microsoft Yi Baiti" panose="03000500000000000000" pitchFamily="66" charset="0"/>
                <a:ea typeface="Microsoft Yi Baiti" panose="03000500000000000000" pitchFamily="66" charset="0"/>
              </a:rPr>
              <a:t>("Name: ", prop, "; Value: ", </a:t>
            </a:r>
            <a:r>
              <a:rPr lang="en-US" sz="2000" dirty="0" err="1">
                <a:solidFill>
                  <a:srgbClr val="FF0000"/>
                </a:solidFill>
                <a:latin typeface="Microsoft Yi Baiti" panose="03000500000000000000" pitchFamily="66" charset="0"/>
                <a:ea typeface="Microsoft Yi Baiti" panose="03000500000000000000" pitchFamily="66" charset="0"/>
              </a:rPr>
              <a:t>my_car</a:t>
            </a:r>
            <a:r>
              <a:rPr lang="en-US" sz="2000" dirty="0">
                <a:solidFill>
                  <a:srgbClr val="FF0000"/>
                </a:solidFill>
                <a:latin typeface="Microsoft Yi Baiti" panose="03000500000000000000" pitchFamily="66" charset="0"/>
                <a:ea typeface="Microsoft Yi Baiti" panose="03000500000000000000" pitchFamily="66" charset="0"/>
              </a:rPr>
              <a:t>[prop], "&lt;</a:t>
            </a:r>
            <a:r>
              <a:rPr lang="en-US" sz="2000" dirty="0" err="1">
                <a:solidFill>
                  <a:srgbClr val="FF0000"/>
                </a:solidFill>
                <a:latin typeface="Microsoft Yi Baiti" panose="03000500000000000000" pitchFamily="66" charset="0"/>
                <a:ea typeface="Microsoft Yi Baiti" panose="03000500000000000000" pitchFamily="66" charset="0"/>
              </a:rPr>
              <a:t>br</a:t>
            </a:r>
            <a:r>
              <a:rPr lang="en-US" sz="2000" dirty="0">
                <a:solidFill>
                  <a:srgbClr val="FF0000"/>
                </a:solidFill>
                <a:latin typeface="Microsoft Yi Baiti" panose="03000500000000000000" pitchFamily="66" charset="0"/>
                <a:ea typeface="Microsoft Yi Baiti" panose="03000500000000000000" pitchFamily="66" charset="0"/>
              </a:rPr>
              <a:t> /&gt;");</a:t>
            </a:r>
            <a:endParaRPr lang="en-IN" sz="2000" dirty="0">
              <a:solidFill>
                <a:srgbClr val="FF0000"/>
              </a:solidFill>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2028663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8AE5FC4-E41E-0EBD-A174-CEDC2B9B7A41}"/>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DF074D8A-7AA4-299E-8CF6-2CF492B5DCF2}"/>
              </a:ext>
            </a:extLst>
          </p:cNvPr>
          <p:cNvSpPr txBox="1"/>
          <p:nvPr/>
        </p:nvSpPr>
        <p:spPr>
          <a:xfrm>
            <a:off x="528918" y="421341"/>
            <a:ext cx="11143129" cy="5386090"/>
          </a:xfrm>
          <a:prstGeom prst="rect">
            <a:avLst/>
          </a:prstGeom>
          <a:noFill/>
        </p:spPr>
        <p:txBody>
          <a:bodyPr wrap="square" rtlCol="0">
            <a:spAutoFit/>
          </a:bodyPr>
          <a:lstStyle/>
          <a:p>
            <a:r>
              <a:rPr lang="en-IN" sz="2400" b="1" dirty="0"/>
              <a:t>8 Arrays</a:t>
            </a:r>
            <a:endParaRPr lang="en-US" sz="2400" b="1" dirty="0"/>
          </a:p>
          <a:p>
            <a:endParaRPr lang="en-US" sz="2000" dirty="0"/>
          </a:p>
          <a:p>
            <a:pPr marL="342900" indent="-342900">
              <a:buFont typeface="Arial" panose="020B0604020202020204" pitchFamily="34" charset="0"/>
              <a:buChar char="•"/>
            </a:pPr>
            <a:r>
              <a:rPr lang="en-US" sz="2000" dirty="0"/>
              <a:t>In JavaScript, arrays are objects that have some special functionality. </a:t>
            </a:r>
          </a:p>
          <a:p>
            <a:pPr marL="342900" indent="-342900">
              <a:buFont typeface="Arial" panose="020B0604020202020204" pitchFamily="34" charset="0"/>
              <a:buChar char="•"/>
            </a:pPr>
            <a:r>
              <a:rPr lang="en-US" sz="2000" dirty="0"/>
              <a:t>Array elements can be primitive values or references to other objects, including other arrays.</a:t>
            </a:r>
          </a:p>
          <a:p>
            <a:endParaRPr lang="en-US" sz="2000" dirty="0"/>
          </a:p>
          <a:p>
            <a:r>
              <a:rPr lang="en-IN" sz="2000" dirty="0"/>
              <a:t>8.1 Array Object Creation</a:t>
            </a:r>
          </a:p>
          <a:p>
            <a:endParaRPr lang="en-IN" sz="2000" dirty="0"/>
          </a:p>
          <a:p>
            <a:pPr marL="342900" indent="-342900">
              <a:buFont typeface="Arial" panose="020B0604020202020204" pitchFamily="34" charset="0"/>
              <a:buChar char="•"/>
            </a:pPr>
            <a:r>
              <a:rPr lang="en-US" sz="2000" dirty="0"/>
              <a:t>Array objects, unlike most other JavaScript objects, can be created in two distinct ways. </a:t>
            </a:r>
          </a:p>
          <a:p>
            <a:pPr marL="342900" indent="-342900">
              <a:buFont typeface="Arial" panose="020B0604020202020204" pitchFamily="34" charset="0"/>
              <a:buChar char="•"/>
            </a:pPr>
            <a:r>
              <a:rPr lang="en-US" sz="2000" dirty="0"/>
              <a:t>The usual way to create any object is with the </a:t>
            </a:r>
            <a:r>
              <a:rPr lang="en-US" sz="2000" dirty="0">
                <a:solidFill>
                  <a:srgbClr val="FF0000"/>
                </a:solidFill>
              </a:rPr>
              <a:t>new</a:t>
            </a:r>
            <a:r>
              <a:rPr lang="en-US" sz="2000" dirty="0"/>
              <a:t> operator and a call to a </a:t>
            </a:r>
            <a:r>
              <a:rPr lang="en-US" sz="2000" dirty="0">
                <a:solidFill>
                  <a:srgbClr val="FF0000"/>
                </a:solidFill>
              </a:rPr>
              <a:t>constructor</a:t>
            </a:r>
            <a:r>
              <a:rPr lang="en-US" sz="2000" dirty="0"/>
              <a:t>.</a:t>
            </a:r>
          </a:p>
          <a:p>
            <a:endParaRPr lang="en-US" sz="2000" dirty="0"/>
          </a:p>
          <a:p>
            <a:pPr lvl="1"/>
            <a:r>
              <a:rPr lang="en-US" sz="2000" dirty="0">
                <a:solidFill>
                  <a:srgbClr val="C00000"/>
                </a:solidFill>
              </a:rPr>
              <a:t> 	</a:t>
            </a:r>
            <a:r>
              <a:rPr lang="en-US" sz="2000" dirty="0">
                <a:solidFill>
                  <a:srgbClr val="C00000"/>
                </a:solidFill>
                <a:latin typeface="Microsoft Yi Baiti" panose="03000500000000000000" pitchFamily="66" charset="0"/>
                <a:ea typeface="Microsoft Yi Baiti" panose="03000500000000000000" pitchFamily="66" charset="0"/>
              </a:rPr>
              <a:t>var </a:t>
            </a:r>
            <a:r>
              <a:rPr lang="en-US" sz="2000" dirty="0" err="1">
                <a:solidFill>
                  <a:srgbClr val="C00000"/>
                </a:solidFill>
                <a:latin typeface="Microsoft Yi Baiti" panose="03000500000000000000" pitchFamily="66" charset="0"/>
                <a:ea typeface="Microsoft Yi Baiti" panose="03000500000000000000" pitchFamily="66" charset="0"/>
              </a:rPr>
              <a:t>my_list</a:t>
            </a:r>
            <a:r>
              <a:rPr lang="en-US" sz="2000" dirty="0">
                <a:solidFill>
                  <a:srgbClr val="C00000"/>
                </a:solidFill>
                <a:latin typeface="Microsoft Yi Baiti" panose="03000500000000000000" pitchFamily="66" charset="0"/>
                <a:ea typeface="Microsoft Yi Baiti" panose="03000500000000000000" pitchFamily="66" charset="0"/>
              </a:rPr>
              <a:t> = new Array(1, 2, "three", "four");</a:t>
            </a:r>
          </a:p>
          <a:p>
            <a:pPr lvl="1"/>
            <a:r>
              <a:rPr lang="en-US" sz="2000" dirty="0">
                <a:solidFill>
                  <a:srgbClr val="C00000"/>
                </a:solidFill>
                <a:latin typeface="Microsoft Yi Baiti" panose="03000500000000000000" pitchFamily="66" charset="0"/>
                <a:ea typeface="Microsoft Yi Baiti" panose="03000500000000000000" pitchFamily="66" charset="0"/>
              </a:rPr>
              <a:t> 	var </a:t>
            </a:r>
            <a:r>
              <a:rPr lang="en-US" sz="2000" dirty="0" err="1">
                <a:solidFill>
                  <a:srgbClr val="C00000"/>
                </a:solidFill>
                <a:latin typeface="Microsoft Yi Baiti" panose="03000500000000000000" pitchFamily="66" charset="0"/>
                <a:ea typeface="Microsoft Yi Baiti" panose="03000500000000000000" pitchFamily="66" charset="0"/>
              </a:rPr>
              <a:t>your_list</a:t>
            </a:r>
            <a:r>
              <a:rPr lang="en-US" sz="2000" dirty="0">
                <a:solidFill>
                  <a:srgbClr val="C00000"/>
                </a:solidFill>
                <a:latin typeface="Microsoft Yi Baiti" panose="03000500000000000000" pitchFamily="66" charset="0"/>
                <a:ea typeface="Microsoft Yi Baiti" panose="03000500000000000000" pitchFamily="66" charset="0"/>
              </a:rPr>
              <a:t> = new Array(100);</a:t>
            </a:r>
          </a:p>
          <a:p>
            <a:endParaRPr lang="en-US" sz="2000" dirty="0"/>
          </a:p>
          <a:p>
            <a:pPr marL="342900" indent="-342900">
              <a:buFont typeface="Arial" panose="020B0604020202020204" pitchFamily="34" charset="0"/>
              <a:buChar char="•"/>
            </a:pPr>
            <a:r>
              <a:rPr lang="en-US" sz="2000" dirty="0"/>
              <a:t>The second way to create an Array object is with a literal array value, which is a list of values enclosed in brackets: </a:t>
            </a:r>
          </a:p>
          <a:p>
            <a:endParaRPr lang="en-US" sz="2000" dirty="0"/>
          </a:p>
          <a:p>
            <a:r>
              <a:rPr lang="en-US" sz="2000" dirty="0"/>
              <a:t>	</a:t>
            </a:r>
            <a:r>
              <a:rPr lang="en-US" sz="2000" dirty="0">
                <a:solidFill>
                  <a:srgbClr val="C00000"/>
                </a:solidFill>
                <a:latin typeface="Microsoft Yi Baiti" panose="03000500000000000000" pitchFamily="66" charset="0"/>
                <a:ea typeface="Microsoft Yi Baiti" panose="03000500000000000000" pitchFamily="66" charset="0"/>
              </a:rPr>
              <a:t>var my_list_2 = [1, 2, "three", "four"];</a:t>
            </a:r>
          </a:p>
        </p:txBody>
      </p:sp>
    </p:spTree>
    <p:extLst>
      <p:ext uri="{BB962C8B-B14F-4D97-AF65-F5344CB8AC3E}">
        <p14:creationId xmlns:p14="http://schemas.microsoft.com/office/powerpoint/2010/main" val="352601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D8C4DF7-1D63-7862-A1C8-BB6FBCDAC452}"/>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5790CD7-BF7E-7414-34A5-877F07C7EEA9}"/>
              </a:ext>
            </a:extLst>
          </p:cNvPr>
          <p:cNvSpPr txBox="1"/>
          <p:nvPr/>
        </p:nvSpPr>
        <p:spPr>
          <a:xfrm>
            <a:off x="528918" y="421341"/>
            <a:ext cx="11143129" cy="3231654"/>
          </a:xfrm>
          <a:prstGeom prst="rect">
            <a:avLst/>
          </a:prstGeom>
          <a:noFill/>
        </p:spPr>
        <p:txBody>
          <a:bodyPr wrap="square" rtlCol="0">
            <a:spAutoFit/>
          </a:bodyPr>
          <a:lstStyle/>
          <a:p>
            <a:r>
              <a:rPr lang="en-US" sz="2400" dirty="0"/>
              <a:t>8.2 Characteristics of Array Objects</a:t>
            </a:r>
          </a:p>
          <a:p>
            <a:endParaRPr lang="en-US" sz="2000" dirty="0"/>
          </a:p>
          <a:p>
            <a:pPr marL="342900" indent="-342900" algn="just">
              <a:buFont typeface="Arial" panose="020B0604020202020204" pitchFamily="34" charset="0"/>
              <a:buChar char="•"/>
            </a:pPr>
            <a:r>
              <a:rPr lang="en-US" sz="2000" dirty="0"/>
              <a:t>The lowest index of every JavaScript array is zero. </a:t>
            </a:r>
          </a:p>
          <a:p>
            <a:pPr marL="342900" indent="-342900" algn="just">
              <a:buFont typeface="Arial" panose="020B0604020202020204" pitchFamily="34" charset="0"/>
              <a:buChar char="•"/>
            </a:pPr>
            <a:r>
              <a:rPr lang="en-US" sz="2000" dirty="0"/>
              <a:t>Access to the elements of an array is specified with </a:t>
            </a:r>
            <a:r>
              <a:rPr lang="en-US" sz="2000" dirty="0">
                <a:solidFill>
                  <a:srgbClr val="FF0000"/>
                </a:solidFill>
              </a:rPr>
              <a:t>numeric subscript</a:t>
            </a:r>
            <a:r>
              <a:rPr lang="en-US" sz="2000" dirty="0"/>
              <a:t> expressions placed in brackets. </a:t>
            </a:r>
          </a:p>
          <a:p>
            <a:pPr marL="342900" indent="-342900" algn="just">
              <a:buFont typeface="Arial" panose="020B0604020202020204" pitchFamily="34" charset="0"/>
              <a:buChar char="•"/>
            </a:pPr>
            <a:r>
              <a:rPr lang="en-US" sz="2000" dirty="0"/>
              <a:t>The length of an array is the highest subscript to which a value has been assigned, plus 1.</a:t>
            </a:r>
            <a:endParaRPr lang="en-IN" sz="2000" dirty="0"/>
          </a:p>
          <a:p>
            <a:pPr marL="342900" indent="-342900">
              <a:buFont typeface="Arial" panose="020B0604020202020204" pitchFamily="34" charset="0"/>
              <a:buChar char="•"/>
            </a:pPr>
            <a:r>
              <a:rPr lang="en-US" sz="2000" dirty="0"/>
              <a:t>the length of an array can be set to whatever you like by assigning the length property,</a:t>
            </a:r>
          </a:p>
          <a:p>
            <a:pPr marL="800100" lvl="1" indent="-342900">
              <a:buFont typeface="Arial" panose="020B0604020202020204" pitchFamily="34" charset="0"/>
              <a:buChar char="•"/>
            </a:pPr>
            <a:r>
              <a:rPr lang="en-US" sz="2000" dirty="0" err="1">
                <a:solidFill>
                  <a:srgbClr val="C00000"/>
                </a:solidFill>
                <a:latin typeface="Microsoft Yi Baiti" panose="03000500000000000000" pitchFamily="66" charset="0"/>
                <a:ea typeface="Microsoft Yi Baiti" panose="03000500000000000000" pitchFamily="66" charset="0"/>
              </a:rPr>
              <a:t>my_list.length</a:t>
            </a:r>
            <a:r>
              <a:rPr lang="en-US" sz="2000" dirty="0">
                <a:solidFill>
                  <a:srgbClr val="C00000"/>
                </a:solidFill>
                <a:latin typeface="Microsoft Yi Baiti" panose="03000500000000000000" pitchFamily="66" charset="0"/>
                <a:ea typeface="Microsoft Yi Baiti" panose="03000500000000000000" pitchFamily="66" charset="0"/>
              </a:rPr>
              <a:t> = 1002;</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4250251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5B159A-DB56-6CEE-45F6-03DDA35A1F8F}"/>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B20B958-3A85-3A5B-A7CA-93C6B4DF3DCA}"/>
              </a:ext>
            </a:extLst>
          </p:cNvPr>
          <p:cNvSpPr txBox="1"/>
          <p:nvPr/>
        </p:nvSpPr>
        <p:spPr>
          <a:xfrm>
            <a:off x="528918" y="421341"/>
            <a:ext cx="11143129" cy="6001643"/>
          </a:xfrm>
          <a:prstGeom prst="rect">
            <a:avLst/>
          </a:prstGeom>
          <a:noFill/>
        </p:spPr>
        <p:txBody>
          <a:bodyPr wrap="square" rtlCol="0">
            <a:spAutoFit/>
          </a:bodyPr>
          <a:lstStyle/>
          <a:p>
            <a:r>
              <a:rPr lang="en-IN" sz="2400" b="1" dirty="0"/>
              <a:t>8.3 Array Methods</a:t>
            </a:r>
            <a:endParaRPr lang="en-US" sz="2000" b="1" dirty="0"/>
          </a:p>
          <a:p>
            <a:pPr marL="342900" indent="-342900">
              <a:buFont typeface="Arial" panose="020B0604020202020204" pitchFamily="34" charset="0"/>
              <a:buChar char="•"/>
            </a:pPr>
            <a:r>
              <a:rPr lang="en-US" sz="2000" dirty="0"/>
              <a:t>The </a:t>
            </a:r>
            <a:r>
              <a:rPr lang="en-US" sz="2000" dirty="0">
                <a:solidFill>
                  <a:srgbClr val="FF0000"/>
                </a:solidFill>
              </a:rPr>
              <a:t>join</a:t>
            </a:r>
            <a:r>
              <a:rPr lang="en-US" sz="2000" dirty="0"/>
              <a:t> method converts all of the elements of an array to strings and catenates them into a single string. </a:t>
            </a:r>
          </a:p>
          <a:p>
            <a:pPr marL="342900" indent="-342900">
              <a:buFont typeface="Arial" panose="020B0604020202020204" pitchFamily="34" charset="0"/>
              <a:buChar char="•"/>
            </a:pPr>
            <a:r>
              <a:rPr lang="en-US" sz="2000" dirty="0"/>
              <a:t>If no parameter is provided to join, the values in the new string are separated by </a:t>
            </a:r>
            <a:r>
              <a:rPr lang="en-US" sz="2000" dirty="0">
                <a:solidFill>
                  <a:srgbClr val="FF0000"/>
                </a:solidFill>
              </a:rPr>
              <a:t>commas</a:t>
            </a:r>
            <a:r>
              <a:rPr lang="en-US" sz="2000" dirty="0"/>
              <a:t>. </a:t>
            </a:r>
          </a:p>
          <a:p>
            <a:pPr marL="342900" indent="-342900">
              <a:buFont typeface="Arial" panose="020B0604020202020204" pitchFamily="34" charset="0"/>
              <a:buChar char="•"/>
            </a:pPr>
            <a:r>
              <a:rPr lang="en-US" sz="2000" dirty="0"/>
              <a:t>If a string </a:t>
            </a:r>
            <a:r>
              <a:rPr lang="en-US" sz="2000" dirty="0">
                <a:solidFill>
                  <a:srgbClr val="FF0000"/>
                </a:solidFill>
              </a:rPr>
              <a:t>parameter</a:t>
            </a:r>
            <a:r>
              <a:rPr lang="en-US" sz="2000" dirty="0"/>
              <a:t> is provided, it is used as the element separator.</a:t>
            </a:r>
            <a:endParaRPr lang="en-IN" sz="2000" dirty="0"/>
          </a:p>
          <a:p>
            <a:pPr lvl="1"/>
            <a:r>
              <a:rPr lang="en-US" sz="2000" dirty="0">
                <a:solidFill>
                  <a:srgbClr val="C00000"/>
                </a:solidFill>
                <a:latin typeface="Microsoft Yi Baiti" panose="03000500000000000000" pitchFamily="66" charset="0"/>
                <a:ea typeface="Microsoft Yi Baiti" panose="03000500000000000000" pitchFamily="66" charset="0"/>
              </a:rPr>
              <a:t>var names = new Array["Mary", "Murray", "Murphy", "Max"];</a:t>
            </a:r>
          </a:p>
          <a:p>
            <a:pPr lvl="1"/>
            <a:r>
              <a:rPr lang="en-US" sz="2000" dirty="0">
                <a:solidFill>
                  <a:srgbClr val="C00000"/>
                </a:solidFill>
                <a:latin typeface="Microsoft Yi Baiti" panose="03000500000000000000" pitchFamily="66" charset="0"/>
                <a:ea typeface="Microsoft Yi Baiti" panose="03000500000000000000" pitchFamily="66" charset="0"/>
              </a:rPr>
              <a:t> . . .</a:t>
            </a:r>
          </a:p>
          <a:p>
            <a:pPr lvl="1"/>
            <a:r>
              <a:rPr lang="en-US" sz="2000" dirty="0">
                <a:solidFill>
                  <a:srgbClr val="C00000"/>
                </a:solidFill>
                <a:latin typeface="Microsoft Yi Baiti" panose="03000500000000000000" pitchFamily="66" charset="0"/>
                <a:ea typeface="Microsoft Yi Baiti" panose="03000500000000000000" pitchFamily="66" charset="0"/>
              </a:rPr>
              <a:t> var </a:t>
            </a:r>
            <a:r>
              <a:rPr lang="en-US" sz="2000" dirty="0" err="1">
                <a:solidFill>
                  <a:srgbClr val="C00000"/>
                </a:solidFill>
                <a:latin typeface="Microsoft Yi Baiti" panose="03000500000000000000" pitchFamily="66" charset="0"/>
                <a:ea typeface="Microsoft Yi Baiti" panose="03000500000000000000" pitchFamily="66" charset="0"/>
              </a:rPr>
              <a:t>name_string</a:t>
            </a:r>
            <a:r>
              <a:rPr lang="en-US" sz="2000" dirty="0">
                <a:solidFill>
                  <a:srgbClr val="C00000"/>
                </a:solidFill>
                <a:latin typeface="Microsoft Yi Baiti" panose="03000500000000000000" pitchFamily="66" charset="0"/>
                <a:ea typeface="Microsoft Yi Baiti" panose="03000500000000000000" pitchFamily="66" charset="0"/>
              </a:rPr>
              <a:t> = </a:t>
            </a:r>
            <a:r>
              <a:rPr lang="en-US" sz="2000" dirty="0" err="1">
                <a:solidFill>
                  <a:srgbClr val="C00000"/>
                </a:solidFill>
                <a:latin typeface="Microsoft Yi Baiti" panose="03000500000000000000" pitchFamily="66" charset="0"/>
                <a:ea typeface="Microsoft Yi Baiti" panose="03000500000000000000" pitchFamily="66" charset="0"/>
              </a:rPr>
              <a:t>names.join</a:t>
            </a:r>
            <a:r>
              <a:rPr lang="en-US" sz="2000" dirty="0">
                <a:solidFill>
                  <a:srgbClr val="C00000"/>
                </a:solidFill>
                <a:latin typeface="Microsoft Yi Baiti" panose="03000500000000000000" pitchFamily="66" charset="0"/>
                <a:ea typeface="Microsoft Yi Baiti" panose="03000500000000000000" pitchFamily="66" charset="0"/>
              </a:rPr>
              <a:t>(" : ");</a:t>
            </a:r>
          </a:p>
          <a:p>
            <a:pPr lvl="1"/>
            <a:r>
              <a:rPr lang="en-US" sz="2000" dirty="0">
                <a:solidFill>
                  <a:srgbClr val="C00000"/>
                </a:solidFill>
                <a:latin typeface="Microsoft Yi Baiti" panose="03000500000000000000" pitchFamily="66" charset="0"/>
                <a:ea typeface="Microsoft Yi Baiti" panose="03000500000000000000" pitchFamily="66" charset="0"/>
              </a:rPr>
              <a:t> The value of </a:t>
            </a:r>
            <a:r>
              <a:rPr lang="en-US" sz="2000" dirty="0" err="1">
                <a:solidFill>
                  <a:srgbClr val="C00000"/>
                </a:solidFill>
                <a:latin typeface="Microsoft Yi Baiti" panose="03000500000000000000" pitchFamily="66" charset="0"/>
                <a:ea typeface="Microsoft Yi Baiti" panose="03000500000000000000" pitchFamily="66" charset="0"/>
              </a:rPr>
              <a:t>name_string</a:t>
            </a:r>
            <a:r>
              <a:rPr lang="en-US" sz="2000" dirty="0">
                <a:solidFill>
                  <a:srgbClr val="C00000"/>
                </a:solidFill>
                <a:latin typeface="Microsoft Yi Baiti" panose="03000500000000000000" pitchFamily="66" charset="0"/>
                <a:ea typeface="Microsoft Yi Baiti" panose="03000500000000000000" pitchFamily="66" charset="0"/>
              </a:rPr>
              <a:t> is now "Mary : Murray : Murphy : Max".</a:t>
            </a:r>
            <a:endParaRPr lang="en-IN" sz="2000" dirty="0">
              <a:solidFill>
                <a:srgbClr val="C00000"/>
              </a:solidFill>
              <a:latin typeface="Microsoft Yi Baiti" panose="03000500000000000000" pitchFamily="66" charset="0"/>
              <a:ea typeface="Microsoft Yi Baiti" panose="03000500000000000000" pitchFamily="66" charset="0"/>
            </a:endParaRPr>
          </a:p>
          <a:p>
            <a:endParaRPr lang="en-IN" sz="2000" dirty="0"/>
          </a:p>
          <a:p>
            <a:pPr marL="342900" indent="-342900">
              <a:buFont typeface="Arial" panose="020B0604020202020204" pitchFamily="34" charset="0"/>
              <a:buChar char="•"/>
            </a:pPr>
            <a:r>
              <a:rPr lang="en-IN" sz="2000" dirty="0"/>
              <a:t>The </a:t>
            </a:r>
            <a:r>
              <a:rPr lang="en-IN" sz="2000" dirty="0">
                <a:solidFill>
                  <a:srgbClr val="FF0000"/>
                </a:solidFill>
              </a:rPr>
              <a:t>reverse</a:t>
            </a:r>
            <a:r>
              <a:rPr lang="en-IN" sz="2000" dirty="0"/>
              <a:t> method </a:t>
            </a:r>
            <a:r>
              <a:rPr lang="en-US" sz="2000" dirty="0"/>
              <a:t>reverses the order of the elements of the Array object through which it is called.</a:t>
            </a:r>
          </a:p>
          <a:p>
            <a:pPr marL="342900" indent="-342900">
              <a:buFont typeface="Arial" panose="020B0604020202020204" pitchFamily="34" charset="0"/>
              <a:buChar char="•"/>
            </a:pPr>
            <a:r>
              <a:rPr lang="en-US" sz="2000" dirty="0"/>
              <a:t>The </a:t>
            </a:r>
            <a:r>
              <a:rPr lang="en-US" sz="2000" dirty="0">
                <a:solidFill>
                  <a:srgbClr val="FF0000"/>
                </a:solidFill>
              </a:rPr>
              <a:t>sort</a:t>
            </a:r>
            <a:r>
              <a:rPr lang="en-US" sz="2000" dirty="0"/>
              <a:t> method coerces the elements of the array to become strings if they are not already strings and sorts them alphabetically.</a:t>
            </a:r>
          </a:p>
          <a:p>
            <a:r>
              <a:rPr lang="en-US" sz="2000" dirty="0"/>
              <a:t>	</a:t>
            </a:r>
            <a:r>
              <a:rPr lang="en-US" sz="2000" dirty="0" err="1">
                <a:solidFill>
                  <a:srgbClr val="C00000"/>
                </a:solidFill>
                <a:latin typeface="Microsoft Yi Baiti" panose="03000500000000000000" pitchFamily="66" charset="0"/>
                <a:ea typeface="Microsoft Yi Baiti" panose="03000500000000000000" pitchFamily="66" charset="0"/>
              </a:rPr>
              <a:t>names.sort</a:t>
            </a:r>
            <a:r>
              <a:rPr lang="en-US" sz="2000" dirty="0">
                <a:solidFill>
                  <a:srgbClr val="C00000"/>
                </a:solidFill>
                <a:latin typeface="Microsoft Yi Baiti" panose="03000500000000000000" pitchFamily="66" charset="0"/>
                <a:ea typeface="Microsoft Yi Baiti" panose="03000500000000000000" pitchFamily="66" charset="0"/>
              </a:rPr>
              <a:t>();</a:t>
            </a:r>
            <a:r>
              <a:rPr lang="en-US" sz="2000" dirty="0"/>
              <a:t>	</a:t>
            </a:r>
          </a:p>
          <a:p>
            <a:r>
              <a:rPr lang="en-US" sz="2000" dirty="0"/>
              <a:t>The </a:t>
            </a:r>
            <a:r>
              <a:rPr lang="en-US" sz="2000" dirty="0" err="1">
                <a:solidFill>
                  <a:srgbClr val="FF0000"/>
                </a:solidFill>
              </a:rPr>
              <a:t>concat</a:t>
            </a:r>
            <a:r>
              <a:rPr lang="en-US" sz="2000" dirty="0"/>
              <a:t> method catenates its actual parameters to the end of the Array object on which it is called.</a:t>
            </a:r>
          </a:p>
          <a:p>
            <a:pPr lvl="2"/>
            <a:r>
              <a:rPr lang="en-US" sz="2000" dirty="0"/>
              <a:t> </a:t>
            </a:r>
            <a:r>
              <a:rPr lang="en-US" sz="2000" dirty="0">
                <a:solidFill>
                  <a:srgbClr val="C00000"/>
                </a:solidFill>
                <a:latin typeface="Microsoft Yi Baiti" panose="03000500000000000000" pitchFamily="66" charset="0"/>
                <a:ea typeface="Microsoft Yi Baiti" panose="03000500000000000000" pitchFamily="66" charset="0"/>
              </a:rPr>
              <a:t>var names = new Array["Mary", "Murray", "Murphy", "Max"];</a:t>
            </a:r>
          </a:p>
          <a:p>
            <a:pPr lvl="2"/>
            <a:r>
              <a:rPr lang="en-US" sz="2000" dirty="0">
                <a:solidFill>
                  <a:srgbClr val="C00000"/>
                </a:solidFill>
                <a:latin typeface="Microsoft Yi Baiti" panose="03000500000000000000" pitchFamily="66" charset="0"/>
                <a:ea typeface="Microsoft Yi Baiti" panose="03000500000000000000" pitchFamily="66" charset="0"/>
              </a:rPr>
              <a:t> . . .</a:t>
            </a:r>
          </a:p>
          <a:p>
            <a:pPr lvl="2"/>
            <a:r>
              <a:rPr lang="en-US" sz="2000" dirty="0">
                <a:solidFill>
                  <a:srgbClr val="C00000"/>
                </a:solidFill>
                <a:latin typeface="Microsoft Yi Baiti" panose="03000500000000000000" pitchFamily="66" charset="0"/>
                <a:ea typeface="Microsoft Yi Baiti" panose="03000500000000000000" pitchFamily="66" charset="0"/>
              </a:rPr>
              <a:t> var </a:t>
            </a:r>
            <a:r>
              <a:rPr lang="en-US" sz="2000" dirty="0" err="1">
                <a:solidFill>
                  <a:srgbClr val="C00000"/>
                </a:solidFill>
                <a:latin typeface="Microsoft Yi Baiti" panose="03000500000000000000" pitchFamily="66" charset="0"/>
                <a:ea typeface="Microsoft Yi Baiti" panose="03000500000000000000" pitchFamily="66" charset="0"/>
              </a:rPr>
              <a:t>new_names</a:t>
            </a:r>
            <a:r>
              <a:rPr lang="en-US" sz="2000" dirty="0">
                <a:solidFill>
                  <a:srgbClr val="C00000"/>
                </a:solidFill>
                <a:latin typeface="Microsoft Yi Baiti" panose="03000500000000000000" pitchFamily="66" charset="0"/>
                <a:ea typeface="Microsoft Yi Baiti" panose="03000500000000000000" pitchFamily="66" charset="0"/>
              </a:rPr>
              <a:t> = </a:t>
            </a:r>
            <a:r>
              <a:rPr lang="en-US" sz="2000" dirty="0" err="1">
                <a:solidFill>
                  <a:srgbClr val="C00000"/>
                </a:solidFill>
                <a:latin typeface="Microsoft Yi Baiti" panose="03000500000000000000" pitchFamily="66" charset="0"/>
                <a:ea typeface="Microsoft Yi Baiti" panose="03000500000000000000" pitchFamily="66" charset="0"/>
              </a:rPr>
              <a:t>names.concat</a:t>
            </a:r>
            <a:r>
              <a:rPr lang="en-US" sz="2000" dirty="0">
                <a:solidFill>
                  <a:srgbClr val="C00000"/>
                </a:solidFill>
                <a:latin typeface="Microsoft Yi Baiti" panose="03000500000000000000" pitchFamily="66" charset="0"/>
                <a:ea typeface="Microsoft Yi Baiti" panose="03000500000000000000" pitchFamily="66" charset="0"/>
              </a:rPr>
              <a:t>("Moo", "Meow");</a:t>
            </a:r>
            <a:endParaRPr lang="en-IN" sz="2000" dirty="0">
              <a:solidFill>
                <a:srgbClr val="C00000"/>
              </a:solidFill>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2948140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799FACC-399F-662E-86A1-9B5DE123A69A}"/>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2358B0C-43EA-EBFF-19D2-934970DC8F98}"/>
              </a:ext>
            </a:extLst>
          </p:cNvPr>
          <p:cNvSpPr txBox="1"/>
          <p:nvPr/>
        </p:nvSpPr>
        <p:spPr>
          <a:xfrm>
            <a:off x="528918" y="421341"/>
            <a:ext cx="11143129" cy="6001643"/>
          </a:xfrm>
          <a:prstGeom prst="rect">
            <a:avLst/>
          </a:prstGeom>
          <a:noFill/>
        </p:spPr>
        <p:txBody>
          <a:bodyPr wrap="square" rtlCol="0">
            <a:spAutoFit/>
          </a:bodyPr>
          <a:lstStyle/>
          <a:p>
            <a:r>
              <a:rPr lang="en-US" sz="2400" dirty="0"/>
              <a:t>Array methods continued…</a:t>
            </a:r>
          </a:p>
          <a:p>
            <a:pPr marL="342900" indent="-342900">
              <a:buFont typeface="Arial" panose="020B0604020202020204" pitchFamily="34" charset="0"/>
              <a:buChar char="•"/>
            </a:pPr>
            <a:r>
              <a:rPr lang="en-US" sz="2000" dirty="0"/>
              <a:t>The </a:t>
            </a:r>
            <a:r>
              <a:rPr lang="en-US" sz="2000" dirty="0">
                <a:solidFill>
                  <a:srgbClr val="FF0000"/>
                </a:solidFill>
              </a:rPr>
              <a:t>slice</a:t>
            </a:r>
            <a:r>
              <a:rPr lang="en-US" sz="2000" dirty="0"/>
              <a:t> method does for arrays what the substring method does for strings, returning the part of the Array object specified by its parameters, which are used as subscripts.</a:t>
            </a:r>
            <a:endParaRPr lang="en-IN" sz="2000" dirty="0"/>
          </a:p>
          <a:p>
            <a:pPr lvl="1"/>
            <a:r>
              <a:rPr lang="en-IN" sz="2000" dirty="0">
                <a:solidFill>
                  <a:srgbClr val="C00000"/>
                </a:solidFill>
                <a:latin typeface="Microsoft Yi Baiti" panose="03000500000000000000" pitchFamily="66" charset="0"/>
                <a:ea typeface="Microsoft Yi Baiti" panose="03000500000000000000" pitchFamily="66" charset="0"/>
              </a:rPr>
              <a:t>var list = [2, 4, 6, 8, 10];</a:t>
            </a:r>
          </a:p>
          <a:p>
            <a:pPr lvl="1"/>
            <a:r>
              <a:rPr lang="en-IN" sz="2000" dirty="0">
                <a:solidFill>
                  <a:srgbClr val="C00000"/>
                </a:solidFill>
                <a:latin typeface="Microsoft Yi Baiti" panose="03000500000000000000" pitchFamily="66" charset="0"/>
                <a:ea typeface="Microsoft Yi Baiti" panose="03000500000000000000" pitchFamily="66" charset="0"/>
              </a:rPr>
              <a:t> . . .</a:t>
            </a:r>
          </a:p>
          <a:p>
            <a:pPr lvl="1"/>
            <a:r>
              <a:rPr lang="en-IN" sz="2000" dirty="0">
                <a:solidFill>
                  <a:srgbClr val="C00000"/>
                </a:solidFill>
                <a:latin typeface="Microsoft Yi Baiti" panose="03000500000000000000" pitchFamily="66" charset="0"/>
                <a:ea typeface="Microsoft Yi Baiti" panose="03000500000000000000" pitchFamily="66" charset="0"/>
              </a:rPr>
              <a:t> var list2 = </a:t>
            </a:r>
            <a:r>
              <a:rPr lang="en-IN" sz="2000" dirty="0" err="1">
                <a:solidFill>
                  <a:srgbClr val="C00000"/>
                </a:solidFill>
                <a:latin typeface="Microsoft Yi Baiti" panose="03000500000000000000" pitchFamily="66" charset="0"/>
                <a:ea typeface="Microsoft Yi Baiti" panose="03000500000000000000" pitchFamily="66" charset="0"/>
              </a:rPr>
              <a:t>list.slice</a:t>
            </a:r>
            <a:r>
              <a:rPr lang="en-IN" sz="2000" dirty="0">
                <a:solidFill>
                  <a:srgbClr val="C00000"/>
                </a:solidFill>
                <a:latin typeface="Microsoft Yi Baiti" panose="03000500000000000000" pitchFamily="66" charset="0"/>
                <a:ea typeface="Microsoft Yi Baiti" panose="03000500000000000000" pitchFamily="66" charset="0"/>
              </a:rPr>
              <a:t>(1, 3);</a:t>
            </a:r>
          </a:p>
          <a:p>
            <a:pPr lvl="1"/>
            <a:r>
              <a:rPr lang="en-US" sz="2000" dirty="0">
                <a:solidFill>
                  <a:srgbClr val="C00000"/>
                </a:solidFill>
                <a:latin typeface="Microsoft Yi Baiti" panose="03000500000000000000" pitchFamily="66" charset="0"/>
                <a:ea typeface="Microsoft Yi Baiti" panose="03000500000000000000" pitchFamily="66" charset="0"/>
              </a:rPr>
              <a:t>list2 is now [4, 6].</a:t>
            </a:r>
          </a:p>
          <a:p>
            <a:pPr lvl="1"/>
            <a:endParaRPr lang="en-US" sz="2000" dirty="0"/>
          </a:p>
          <a:p>
            <a:pPr marL="342900" indent="-342900">
              <a:buFont typeface="Arial" panose="020B0604020202020204" pitchFamily="34" charset="0"/>
              <a:buChar char="•"/>
            </a:pPr>
            <a:r>
              <a:rPr lang="en-US" sz="2000" dirty="0"/>
              <a:t>If slice is given just one parameter, the array that is returned has all of the elements of the object, starting with the specified index.</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When the </a:t>
            </a:r>
            <a:r>
              <a:rPr lang="en-US" sz="2000" dirty="0" err="1">
                <a:solidFill>
                  <a:srgbClr val="FF0000"/>
                </a:solidFill>
              </a:rPr>
              <a:t>toString</a:t>
            </a:r>
            <a:r>
              <a:rPr lang="en-US" sz="2000" dirty="0"/>
              <a:t> method is called through an Array object, each of the elements of the object is converted (if necessary) to a string.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push</a:t>
            </a:r>
            <a:r>
              <a:rPr lang="en-US" sz="2000" dirty="0"/>
              <a:t>, </a:t>
            </a:r>
            <a:r>
              <a:rPr lang="en-US" sz="2000" dirty="0">
                <a:solidFill>
                  <a:srgbClr val="FF0000"/>
                </a:solidFill>
              </a:rPr>
              <a:t>pop</a:t>
            </a:r>
            <a:r>
              <a:rPr lang="en-US" sz="2000" dirty="0"/>
              <a:t>, </a:t>
            </a:r>
            <a:r>
              <a:rPr lang="en-US" sz="2000" dirty="0">
                <a:solidFill>
                  <a:srgbClr val="FF0000"/>
                </a:solidFill>
              </a:rPr>
              <a:t>unshift</a:t>
            </a:r>
            <a:r>
              <a:rPr lang="en-US" sz="2000" dirty="0"/>
              <a:t>, and </a:t>
            </a:r>
            <a:r>
              <a:rPr lang="en-US" sz="2000" dirty="0">
                <a:solidFill>
                  <a:srgbClr val="FF0000"/>
                </a:solidFill>
              </a:rPr>
              <a:t>shift</a:t>
            </a:r>
            <a:r>
              <a:rPr lang="en-US" sz="2000" dirty="0"/>
              <a:t> methods of Array allow the easy implementation of stacks and queues in arrays.</a:t>
            </a:r>
          </a:p>
          <a:p>
            <a:pPr lvl="1"/>
            <a:r>
              <a:rPr lang="en-IN" sz="2000" dirty="0"/>
              <a:t> </a:t>
            </a:r>
            <a:r>
              <a:rPr lang="en-IN" sz="2000" dirty="0">
                <a:solidFill>
                  <a:srgbClr val="C00000"/>
                </a:solidFill>
                <a:latin typeface="Microsoft Yi Baiti" panose="03000500000000000000" pitchFamily="66" charset="0"/>
                <a:ea typeface="Microsoft Yi Baiti" panose="03000500000000000000" pitchFamily="66" charset="0"/>
              </a:rPr>
              <a:t>var list = ["Dasher", "Dancer", "Donner", "Blitzen"];</a:t>
            </a:r>
          </a:p>
          <a:p>
            <a:pPr lvl="1"/>
            <a:r>
              <a:rPr lang="en-IN" sz="2000" dirty="0">
                <a:solidFill>
                  <a:srgbClr val="C00000"/>
                </a:solidFill>
                <a:latin typeface="Microsoft Yi Baiti" panose="03000500000000000000" pitchFamily="66" charset="0"/>
                <a:ea typeface="Microsoft Yi Baiti" panose="03000500000000000000" pitchFamily="66" charset="0"/>
              </a:rPr>
              <a:t> var deer = </a:t>
            </a:r>
            <a:r>
              <a:rPr lang="en-IN" sz="2000" dirty="0" err="1">
                <a:solidFill>
                  <a:srgbClr val="C00000"/>
                </a:solidFill>
                <a:latin typeface="Microsoft Yi Baiti" panose="03000500000000000000" pitchFamily="66" charset="0"/>
                <a:ea typeface="Microsoft Yi Baiti" panose="03000500000000000000" pitchFamily="66" charset="0"/>
              </a:rPr>
              <a:t>list.pop</a:t>
            </a:r>
            <a:r>
              <a:rPr lang="en-IN" sz="2000" dirty="0">
                <a:solidFill>
                  <a:srgbClr val="C00000"/>
                </a:solidFill>
                <a:latin typeface="Microsoft Yi Baiti" panose="03000500000000000000" pitchFamily="66" charset="0"/>
                <a:ea typeface="Microsoft Yi Baiti" panose="03000500000000000000" pitchFamily="66" charset="0"/>
              </a:rPr>
              <a:t>();    // deer is "Blitzen"</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list.push</a:t>
            </a:r>
            <a:r>
              <a:rPr lang="en-IN" sz="2000" dirty="0">
                <a:solidFill>
                  <a:srgbClr val="C00000"/>
                </a:solidFill>
                <a:latin typeface="Microsoft Yi Baiti" panose="03000500000000000000" pitchFamily="66" charset="0"/>
                <a:ea typeface="Microsoft Yi Baiti" panose="03000500000000000000" pitchFamily="66" charset="0"/>
              </a:rPr>
              <a:t>("Blitzen"); </a:t>
            </a:r>
          </a:p>
        </p:txBody>
      </p:sp>
    </p:spTree>
    <p:extLst>
      <p:ext uri="{BB962C8B-B14F-4D97-AF65-F5344CB8AC3E}">
        <p14:creationId xmlns:p14="http://schemas.microsoft.com/office/powerpoint/2010/main" val="133504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160E12-E751-C172-0ED1-3A0C187616A8}"/>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0A0B8327-1868-9898-D0A9-614F1FB94040}"/>
              </a:ext>
            </a:extLst>
          </p:cNvPr>
          <p:cNvSpPr txBox="1"/>
          <p:nvPr/>
        </p:nvSpPr>
        <p:spPr>
          <a:xfrm>
            <a:off x="528918" y="421341"/>
            <a:ext cx="11143129" cy="5016758"/>
          </a:xfrm>
          <a:prstGeom prst="rect">
            <a:avLst/>
          </a:prstGeom>
          <a:noFill/>
        </p:spPr>
        <p:txBody>
          <a:bodyPr wrap="square" rtlCol="0">
            <a:spAutoFit/>
          </a:bodyPr>
          <a:lstStyle/>
          <a:p>
            <a:endParaRPr lang="en-US" sz="2000" dirty="0"/>
          </a:p>
          <a:p>
            <a:r>
              <a:rPr lang="en-US" sz="2000" dirty="0"/>
              <a:t>A two-dimensional array is implemented in JavaScript as an array of arrays. This can be done with the new operator or with nested array literals</a:t>
            </a:r>
            <a:endParaRPr lang="en-IN" sz="2000" dirty="0"/>
          </a:p>
          <a:p>
            <a:pPr lvl="1"/>
            <a:r>
              <a:rPr lang="en-IN" sz="2000" dirty="0">
                <a:solidFill>
                  <a:srgbClr val="C00000"/>
                </a:solidFill>
                <a:latin typeface="Microsoft Yi Baiti" panose="03000500000000000000" pitchFamily="66" charset="0"/>
                <a:ea typeface="Microsoft Yi Baiti" panose="03000500000000000000" pitchFamily="66" charset="0"/>
              </a:rPr>
              <a:t>	// nested_arrays.js </a:t>
            </a:r>
          </a:p>
          <a:p>
            <a:pPr lvl="1"/>
            <a:r>
              <a:rPr lang="en-IN" sz="2000" dirty="0">
                <a:solidFill>
                  <a:srgbClr val="C00000"/>
                </a:solidFill>
                <a:latin typeface="Microsoft Yi Baiti" panose="03000500000000000000" pitchFamily="66" charset="0"/>
                <a:ea typeface="Microsoft Yi Baiti" panose="03000500000000000000" pitchFamily="66" charset="0"/>
              </a:rPr>
              <a:t>	//   An example illustrating an array of arrays</a:t>
            </a:r>
          </a:p>
          <a:p>
            <a:pPr lvl="1"/>
            <a:r>
              <a:rPr lang="en-IN" sz="2000" dirty="0">
                <a:solidFill>
                  <a:srgbClr val="C00000"/>
                </a:solidFill>
                <a:latin typeface="Microsoft Yi Baiti" panose="03000500000000000000" pitchFamily="66" charset="0"/>
                <a:ea typeface="Microsoft Yi Baiti" panose="03000500000000000000" pitchFamily="66" charset="0"/>
              </a:rPr>
              <a:t> 	// Create an array object with three arrays as its elements</a:t>
            </a:r>
          </a:p>
          <a:p>
            <a:pPr lvl="1"/>
            <a:r>
              <a:rPr lang="en-IN" sz="2000" dirty="0">
                <a:solidFill>
                  <a:srgbClr val="C00000"/>
                </a:solidFill>
                <a:latin typeface="Microsoft Yi Baiti" panose="03000500000000000000" pitchFamily="66" charset="0"/>
                <a:ea typeface="Microsoft Yi Baiti" panose="03000500000000000000" pitchFamily="66" charset="0"/>
              </a:rPr>
              <a:t> 	var </a:t>
            </a:r>
            <a:r>
              <a:rPr lang="en-IN" sz="2000" dirty="0" err="1">
                <a:solidFill>
                  <a:srgbClr val="C00000"/>
                </a:solidFill>
                <a:latin typeface="Microsoft Yi Baiti" panose="03000500000000000000" pitchFamily="66" charset="0"/>
                <a:ea typeface="Microsoft Yi Baiti" panose="03000500000000000000" pitchFamily="66" charset="0"/>
              </a:rPr>
              <a:t>nested_array</a:t>
            </a:r>
            <a:r>
              <a:rPr lang="en-IN" sz="2000" dirty="0">
                <a:solidFill>
                  <a:srgbClr val="C00000"/>
                </a:solidFill>
                <a:latin typeface="Microsoft Yi Baiti" panose="03000500000000000000" pitchFamily="66" charset="0"/>
                <a:ea typeface="Microsoft Yi Baiti" panose="03000500000000000000" pitchFamily="66" charset="0"/>
              </a:rPr>
              <a:t> = [[2, 4, 6], [1, 3, 5], [10, 20, 30]];</a:t>
            </a:r>
          </a:p>
          <a:p>
            <a:pPr lvl="1"/>
            <a:r>
              <a:rPr lang="en-IN" sz="2000" dirty="0">
                <a:solidFill>
                  <a:srgbClr val="C00000"/>
                </a:solidFill>
                <a:latin typeface="Microsoft Yi Baiti" panose="03000500000000000000" pitchFamily="66" charset="0"/>
                <a:ea typeface="Microsoft Yi Baiti" panose="03000500000000000000" pitchFamily="66" charset="0"/>
              </a:rPr>
              <a:t> 	// Display the elements of </a:t>
            </a:r>
            <a:r>
              <a:rPr lang="en-IN" sz="2000" dirty="0" err="1">
                <a:solidFill>
                  <a:srgbClr val="C00000"/>
                </a:solidFill>
                <a:latin typeface="Microsoft Yi Baiti" panose="03000500000000000000" pitchFamily="66" charset="0"/>
                <a:ea typeface="Microsoft Yi Baiti" panose="03000500000000000000" pitchFamily="66" charset="0"/>
              </a:rPr>
              <a:t>nested_list</a:t>
            </a:r>
            <a:endParaRPr lang="en-IN" sz="2000" dirty="0">
              <a:solidFill>
                <a:srgbClr val="C00000"/>
              </a:solidFill>
              <a:latin typeface="Microsoft Yi Baiti" panose="03000500000000000000" pitchFamily="66" charset="0"/>
              <a:ea typeface="Microsoft Yi Baiti" panose="03000500000000000000" pitchFamily="66" charset="0"/>
            </a:endParaRPr>
          </a:p>
          <a:p>
            <a:pPr lvl="1"/>
            <a:r>
              <a:rPr lang="en-IN" sz="2000" dirty="0">
                <a:solidFill>
                  <a:srgbClr val="C00000"/>
                </a:solidFill>
                <a:latin typeface="Microsoft Yi Baiti" panose="03000500000000000000" pitchFamily="66" charset="0"/>
                <a:ea typeface="Microsoft Yi Baiti" panose="03000500000000000000" pitchFamily="66" charset="0"/>
              </a:rPr>
              <a:t> 	for (var row = 0; row &lt;= 2; row++) { </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document.write</a:t>
            </a:r>
            <a:r>
              <a:rPr lang="en-IN" sz="2000" dirty="0">
                <a:solidFill>
                  <a:srgbClr val="C00000"/>
                </a:solidFill>
                <a:latin typeface="Microsoft Yi Baiti" panose="03000500000000000000" pitchFamily="66" charset="0"/>
                <a:ea typeface="Microsoft Yi Baiti" panose="03000500000000000000" pitchFamily="66" charset="0"/>
              </a:rPr>
              <a:t>("Row ", row, ":  ");</a:t>
            </a:r>
          </a:p>
          <a:p>
            <a:pPr lvl="1"/>
            <a:r>
              <a:rPr lang="en-IN" sz="2000" dirty="0">
                <a:solidFill>
                  <a:srgbClr val="C00000"/>
                </a:solidFill>
                <a:latin typeface="Microsoft Yi Baiti" panose="03000500000000000000" pitchFamily="66" charset="0"/>
                <a:ea typeface="Microsoft Yi Baiti" panose="03000500000000000000" pitchFamily="66" charset="0"/>
              </a:rPr>
              <a:t>  		for (var col = 0; col &lt;=2; col++) </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document.write</a:t>
            </a:r>
            <a:r>
              <a:rPr lang="en-IN" sz="2000" dirty="0">
                <a:solidFill>
                  <a:srgbClr val="C00000"/>
                </a:solidFill>
                <a:latin typeface="Microsoft Yi Baiti" panose="03000500000000000000" pitchFamily="66" charset="0"/>
                <a:ea typeface="Microsoft Yi Baiti" panose="03000500000000000000" pitchFamily="66" charset="0"/>
              </a:rPr>
              <a:t>(</a:t>
            </a:r>
            <a:r>
              <a:rPr lang="en-IN" sz="2000" dirty="0" err="1">
                <a:solidFill>
                  <a:srgbClr val="C00000"/>
                </a:solidFill>
                <a:latin typeface="Microsoft Yi Baiti" panose="03000500000000000000" pitchFamily="66" charset="0"/>
                <a:ea typeface="Microsoft Yi Baiti" panose="03000500000000000000" pitchFamily="66" charset="0"/>
              </a:rPr>
              <a:t>nested_array</a:t>
            </a:r>
            <a:r>
              <a:rPr lang="en-IN" sz="2000" dirty="0">
                <a:solidFill>
                  <a:srgbClr val="C00000"/>
                </a:solidFill>
                <a:latin typeface="Microsoft Yi Baiti" panose="03000500000000000000" pitchFamily="66" charset="0"/>
                <a:ea typeface="Microsoft Yi Baiti" panose="03000500000000000000" pitchFamily="66" charset="0"/>
              </a:rPr>
              <a:t>[row][col], " ");</a:t>
            </a:r>
          </a:p>
          <a:p>
            <a:pPr lvl="1"/>
            <a:r>
              <a:rPr lang="en-IN" sz="2000" dirty="0">
                <a:solidFill>
                  <a:srgbClr val="C00000"/>
                </a:solidFill>
                <a:latin typeface="Microsoft Yi Baiti" panose="03000500000000000000" pitchFamily="66" charset="0"/>
                <a:ea typeface="Microsoft Yi Baiti" panose="03000500000000000000" pitchFamily="66" charset="0"/>
              </a:rPr>
              <a:t>  		</a:t>
            </a:r>
            <a:r>
              <a:rPr lang="en-IN" sz="2000" dirty="0" err="1">
                <a:solidFill>
                  <a:srgbClr val="C00000"/>
                </a:solidFill>
                <a:latin typeface="Microsoft Yi Baiti" panose="03000500000000000000" pitchFamily="66" charset="0"/>
                <a:ea typeface="Microsoft Yi Baiti" panose="03000500000000000000" pitchFamily="66" charset="0"/>
              </a:rPr>
              <a:t>document.write</a:t>
            </a:r>
            <a:r>
              <a:rPr lang="en-IN" sz="2000" dirty="0">
                <a:solidFill>
                  <a:srgbClr val="C00000"/>
                </a:solidFill>
                <a:latin typeface="Microsoft Yi Baiti" panose="03000500000000000000" pitchFamily="66" charset="0"/>
                <a:ea typeface="Microsoft Yi Baiti" panose="03000500000000000000" pitchFamily="66" charset="0"/>
              </a:rPr>
              <a:t>("&lt;</a:t>
            </a:r>
            <a:r>
              <a:rPr lang="en-IN" sz="2000" dirty="0" err="1">
                <a:solidFill>
                  <a:srgbClr val="C00000"/>
                </a:solidFill>
                <a:latin typeface="Microsoft Yi Baiti" panose="03000500000000000000" pitchFamily="66" charset="0"/>
                <a:ea typeface="Microsoft Yi Baiti" panose="03000500000000000000" pitchFamily="66" charset="0"/>
              </a:rPr>
              <a:t>br</a:t>
            </a:r>
            <a:r>
              <a:rPr lang="en-IN" sz="2000" dirty="0">
                <a:solidFill>
                  <a:srgbClr val="C00000"/>
                </a:solidFill>
                <a:latin typeface="Microsoft Yi Baiti" panose="03000500000000000000" pitchFamily="66" charset="0"/>
                <a:ea typeface="Microsoft Yi Baiti" panose="03000500000000000000" pitchFamily="66" charset="0"/>
              </a:rPr>
              <a:t> /&gt;");</a:t>
            </a:r>
          </a:p>
          <a:p>
            <a:pPr lvl="1"/>
            <a:r>
              <a:rPr lang="en-IN" sz="2000" dirty="0">
                <a:solidFill>
                  <a:srgbClr val="C00000"/>
                </a:solidFill>
                <a:latin typeface="Microsoft Yi Baiti" panose="03000500000000000000" pitchFamily="66" charset="0"/>
                <a:ea typeface="Microsoft Yi Baiti" panose="03000500000000000000" pitchFamily="66" charset="0"/>
              </a:rPr>
              <a:t> 	}</a:t>
            </a:r>
          </a:p>
          <a:p>
            <a:r>
              <a:rPr lang="en-IN" sz="2000" dirty="0"/>
              <a:t> </a:t>
            </a:r>
          </a:p>
          <a:p>
            <a:endParaRPr lang="en-IN" sz="2000" dirty="0"/>
          </a:p>
        </p:txBody>
      </p:sp>
    </p:spTree>
    <p:extLst>
      <p:ext uri="{BB962C8B-B14F-4D97-AF65-F5344CB8AC3E}">
        <p14:creationId xmlns:p14="http://schemas.microsoft.com/office/powerpoint/2010/main" val="603311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52B7C9-C3E1-3ACF-7157-951BED730B69}"/>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0C6EF49F-FE22-2A0A-ADD8-3D82EC34F9AD}"/>
              </a:ext>
            </a:extLst>
          </p:cNvPr>
          <p:cNvSpPr txBox="1"/>
          <p:nvPr/>
        </p:nvSpPr>
        <p:spPr>
          <a:xfrm>
            <a:off x="528918" y="421341"/>
            <a:ext cx="11143129" cy="5078313"/>
          </a:xfrm>
          <a:prstGeom prst="rect">
            <a:avLst/>
          </a:prstGeom>
          <a:noFill/>
        </p:spPr>
        <p:txBody>
          <a:bodyPr wrap="square" rtlCol="0">
            <a:spAutoFit/>
          </a:bodyPr>
          <a:lstStyle/>
          <a:p>
            <a:r>
              <a:rPr lang="en-IN" sz="2400" b="1" dirty="0"/>
              <a:t>9 Functions</a:t>
            </a:r>
            <a:endParaRPr lang="en-US" sz="2400" b="1" dirty="0"/>
          </a:p>
          <a:p>
            <a:endParaRPr lang="en-US" sz="2000" dirty="0"/>
          </a:p>
          <a:p>
            <a:r>
              <a:rPr lang="en-IN" sz="2000" dirty="0"/>
              <a:t>9.1 Fundamentals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US" sz="2000" dirty="0"/>
              <a:t>A </a:t>
            </a:r>
            <a:r>
              <a:rPr lang="en-US" sz="2000" i="1" dirty="0"/>
              <a:t>function</a:t>
            </a:r>
            <a:r>
              <a:rPr lang="en-US" sz="2000" dirty="0"/>
              <a:t> definition consists of the </a:t>
            </a:r>
            <a:r>
              <a:rPr lang="en-US" sz="2000" dirty="0">
                <a:solidFill>
                  <a:srgbClr val="FF0000"/>
                </a:solidFill>
              </a:rPr>
              <a:t>function’s </a:t>
            </a:r>
            <a:r>
              <a:rPr lang="en-US" sz="2000" i="1" dirty="0">
                <a:solidFill>
                  <a:srgbClr val="FF0000"/>
                </a:solidFill>
              </a:rPr>
              <a:t>header</a:t>
            </a:r>
            <a:r>
              <a:rPr lang="en-US" sz="2000" dirty="0">
                <a:solidFill>
                  <a:srgbClr val="FF0000"/>
                </a:solidFill>
              </a:rPr>
              <a:t> </a:t>
            </a:r>
            <a:r>
              <a:rPr lang="en-US" sz="2000" dirty="0"/>
              <a:t>and a </a:t>
            </a:r>
            <a:r>
              <a:rPr lang="en-US" sz="2000" dirty="0">
                <a:solidFill>
                  <a:srgbClr val="FF0000"/>
                </a:solidFill>
              </a:rPr>
              <a:t>compound statement </a:t>
            </a:r>
            <a:r>
              <a:rPr lang="en-US" sz="2000" dirty="0"/>
              <a:t>that describes the actions of the function. This compound statement is called the </a:t>
            </a:r>
            <a:r>
              <a:rPr lang="en-US" sz="2000" i="1" dirty="0">
                <a:solidFill>
                  <a:srgbClr val="FF0000"/>
                </a:solidFill>
              </a:rPr>
              <a:t>body</a:t>
            </a:r>
            <a:r>
              <a:rPr lang="en-US" sz="2000" dirty="0"/>
              <a:t> of the function.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function header consists of the reserved word </a:t>
            </a:r>
            <a:r>
              <a:rPr lang="en-US" sz="2000" i="1" dirty="0"/>
              <a:t>function</a:t>
            </a:r>
            <a:r>
              <a:rPr lang="en-US" sz="2000" dirty="0"/>
              <a:t>, the function’s name, and a parenthesized list of parameters if there are any.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parentheses are required even if there are no parameters.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 return statement returns control from the function in which it appears to the function’s caller.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Syntactically, a call to a function with no parameters states the function’s name followed by an empty pair of parentheses.</a:t>
            </a:r>
            <a:endParaRPr lang="en-IN" sz="2000" dirty="0"/>
          </a:p>
        </p:txBody>
      </p:sp>
    </p:spTree>
    <p:extLst>
      <p:ext uri="{BB962C8B-B14F-4D97-AF65-F5344CB8AC3E}">
        <p14:creationId xmlns:p14="http://schemas.microsoft.com/office/powerpoint/2010/main" val="2102646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FC64C25-1855-D125-FCF0-94459E022AE7}"/>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783732C-FCAE-5178-99FF-AF1675B1569D}"/>
              </a:ext>
            </a:extLst>
          </p:cNvPr>
          <p:cNvSpPr txBox="1"/>
          <p:nvPr/>
        </p:nvSpPr>
        <p:spPr>
          <a:xfrm>
            <a:off x="528918" y="421341"/>
            <a:ext cx="11143129" cy="5386090"/>
          </a:xfrm>
          <a:prstGeom prst="rect">
            <a:avLst/>
          </a:prstGeom>
          <a:noFill/>
        </p:spPr>
        <p:txBody>
          <a:bodyPr wrap="square" rtlCol="0">
            <a:spAutoFit/>
          </a:bodyPr>
          <a:lstStyle/>
          <a:p>
            <a:endParaRPr lang="en-US" sz="2400" dirty="0"/>
          </a:p>
          <a:p>
            <a:endParaRPr lang="en-US" sz="2000" dirty="0"/>
          </a:p>
          <a:p>
            <a:pPr marL="342900" indent="-342900" algn="just">
              <a:buFont typeface="Arial" panose="020B0604020202020204" pitchFamily="34" charset="0"/>
              <a:buChar char="•"/>
            </a:pPr>
            <a:r>
              <a:rPr lang="en-US" sz="2000" dirty="0"/>
              <a:t>JavaScript functions are objects, so variables that reference them can be treated as are other object references—they can be passed as parameters, be assigned to other variables, and be the elements of an array. </a:t>
            </a:r>
          </a:p>
          <a:p>
            <a:pPr algn="just"/>
            <a:endParaRPr lang="en-US" sz="2000" dirty="0"/>
          </a:p>
          <a:p>
            <a:pPr lvl="2" algn="just"/>
            <a:r>
              <a:rPr lang="en-US" sz="2000" dirty="0">
                <a:solidFill>
                  <a:srgbClr val="FF0000"/>
                </a:solidFill>
                <a:latin typeface="Microsoft Yi Baiti" panose="03000500000000000000" pitchFamily="66" charset="0"/>
                <a:ea typeface="Microsoft Yi Baiti" panose="03000500000000000000" pitchFamily="66" charset="0"/>
              </a:rPr>
              <a:t>function fun() {</a:t>
            </a:r>
          </a:p>
          <a:p>
            <a:pPr lvl="2" algn="just"/>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document.write</a:t>
            </a:r>
            <a:r>
              <a:rPr lang="en-US" sz="2000" dirty="0">
                <a:solidFill>
                  <a:srgbClr val="FF0000"/>
                </a:solidFill>
                <a:latin typeface="Microsoft Yi Baiti" panose="03000500000000000000" pitchFamily="66" charset="0"/>
                <a:ea typeface="Microsoft Yi Baiti" panose="03000500000000000000" pitchFamily="66" charset="0"/>
              </a:rPr>
              <a:t>("This surely is fun! &lt;</a:t>
            </a:r>
            <a:r>
              <a:rPr lang="en-US" sz="2000" dirty="0" err="1">
                <a:solidFill>
                  <a:srgbClr val="FF0000"/>
                </a:solidFill>
                <a:latin typeface="Microsoft Yi Baiti" panose="03000500000000000000" pitchFamily="66" charset="0"/>
                <a:ea typeface="Microsoft Yi Baiti" panose="03000500000000000000" pitchFamily="66" charset="0"/>
              </a:rPr>
              <a:t>br</a:t>
            </a:r>
            <a:r>
              <a:rPr lang="en-US" sz="2000" dirty="0">
                <a:solidFill>
                  <a:srgbClr val="FF0000"/>
                </a:solidFill>
                <a:latin typeface="Microsoft Yi Baiti" panose="03000500000000000000" pitchFamily="66" charset="0"/>
                <a:ea typeface="Microsoft Yi Baiti" panose="03000500000000000000" pitchFamily="66" charset="0"/>
              </a:rPr>
              <a:t>/&gt;");</a:t>
            </a:r>
          </a:p>
          <a:p>
            <a:pPr lvl="2" algn="just"/>
            <a:r>
              <a:rPr lang="en-US" sz="2000" dirty="0">
                <a:solidFill>
                  <a:srgbClr val="FF0000"/>
                </a:solidFill>
                <a:latin typeface="Microsoft Yi Baiti" panose="03000500000000000000" pitchFamily="66" charset="0"/>
                <a:ea typeface="Microsoft Yi Baiti" panose="03000500000000000000" pitchFamily="66" charset="0"/>
              </a:rPr>
              <a:t>}</a:t>
            </a:r>
          </a:p>
          <a:p>
            <a:pPr lvl="2" algn="just"/>
            <a:r>
              <a:rPr lang="en-US" sz="2000" dirty="0" err="1">
                <a:solidFill>
                  <a:srgbClr val="FF0000"/>
                </a:solidFill>
                <a:latin typeface="Microsoft Yi Baiti" panose="03000500000000000000" pitchFamily="66" charset="0"/>
                <a:ea typeface="Microsoft Yi Baiti" panose="03000500000000000000" pitchFamily="66" charset="0"/>
              </a:rPr>
              <a:t>ref_fun</a:t>
            </a:r>
            <a:r>
              <a:rPr lang="en-US" sz="2000" dirty="0">
                <a:solidFill>
                  <a:srgbClr val="FF0000"/>
                </a:solidFill>
                <a:latin typeface="Microsoft Yi Baiti" panose="03000500000000000000" pitchFamily="66" charset="0"/>
                <a:ea typeface="Microsoft Yi Baiti" panose="03000500000000000000" pitchFamily="66" charset="0"/>
              </a:rPr>
              <a:t> = fun;   // Now, </a:t>
            </a:r>
            <a:r>
              <a:rPr lang="en-US" sz="2000" dirty="0" err="1">
                <a:solidFill>
                  <a:srgbClr val="FF0000"/>
                </a:solidFill>
                <a:latin typeface="Microsoft Yi Baiti" panose="03000500000000000000" pitchFamily="66" charset="0"/>
                <a:ea typeface="Microsoft Yi Baiti" panose="03000500000000000000" pitchFamily="66" charset="0"/>
              </a:rPr>
              <a:t>ref_fun</a:t>
            </a:r>
            <a:r>
              <a:rPr lang="en-US" sz="2000" dirty="0">
                <a:solidFill>
                  <a:srgbClr val="FF0000"/>
                </a:solidFill>
                <a:latin typeface="Microsoft Yi Baiti" panose="03000500000000000000" pitchFamily="66" charset="0"/>
                <a:ea typeface="Microsoft Yi Baiti" panose="03000500000000000000" pitchFamily="66" charset="0"/>
              </a:rPr>
              <a:t> refers to the fun object</a:t>
            </a:r>
          </a:p>
          <a:p>
            <a:pPr lvl="2" algn="just"/>
            <a:r>
              <a:rPr lang="en-US" sz="2000" dirty="0">
                <a:solidFill>
                  <a:srgbClr val="FF0000"/>
                </a:solidFill>
                <a:latin typeface="Microsoft Yi Baiti" panose="03000500000000000000" pitchFamily="66" charset="0"/>
                <a:ea typeface="Microsoft Yi Baiti" panose="03000500000000000000" pitchFamily="66" charset="0"/>
              </a:rPr>
              <a:t>fun();           // A call to fun</a:t>
            </a:r>
          </a:p>
          <a:p>
            <a:pPr lvl="2" algn="just"/>
            <a:r>
              <a:rPr lang="en-US" sz="2000" dirty="0" err="1">
                <a:solidFill>
                  <a:srgbClr val="FF0000"/>
                </a:solidFill>
                <a:latin typeface="Microsoft Yi Baiti" panose="03000500000000000000" pitchFamily="66" charset="0"/>
                <a:ea typeface="Microsoft Yi Baiti" panose="03000500000000000000" pitchFamily="66" charset="0"/>
              </a:rPr>
              <a:t>ref_fun</a:t>
            </a:r>
            <a:r>
              <a:rPr lang="en-US" sz="2000" dirty="0">
                <a:solidFill>
                  <a:srgbClr val="FF0000"/>
                </a:solidFill>
                <a:latin typeface="Microsoft Yi Baiti" panose="03000500000000000000" pitchFamily="66" charset="0"/>
                <a:ea typeface="Microsoft Yi Baiti" panose="03000500000000000000" pitchFamily="66" charset="0"/>
              </a:rPr>
              <a:t>();       // Also a call to fun</a:t>
            </a:r>
            <a:endParaRPr lang="en-IN" sz="2000" dirty="0">
              <a:solidFill>
                <a:srgbClr val="FF0000"/>
              </a:solidFill>
              <a:latin typeface="Microsoft Yi Baiti" panose="03000500000000000000" pitchFamily="66" charset="0"/>
              <a:ea typeface="Microsoft Yi Baiti" panose="03000500000000000000" pitchFamily="66" charset="0"/>
            </a:endParaRPr>
          </a:p>
          <a:p>
            <a:endParaRPr lang="en-IN" sz="2000" dirty="0"/>
          </a:p>
          <a:p>
            <a:pPr marL="342900" indent="-342900">
              <a:buFont typeface="Arial" panose="020B0604020202020204" pitchFamily="34" charset="0"/>
              <a:buChar char="•"/>
            </a:pPr>
            <a:r>
              <a:rPr lang="en-US" sz="2000" dirty="0"/>
              <a:t>To ensure that the interpreter sees the definition of a function before it sees a call to the function—a requirement in JavaScript—function definitions are placed in the </a:t>
            </a:r>
            <a:r>
              <a:rPr lang="en-US" sz="2000" dirty="0">
                <a:solidFill>
                  <a:srgbClr val="FF0000"/>
                </a:solidFill>
              </a:rPr>
              <a:t>head of an HTML document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Normally, but not always, calls to functions appear in the document body.</a:t>
            </a:r>
            <a:endParaRPr lang="en-IN" sz="2000" dirty="0"/>
          </a:p>
        </p:txBody>
      </p:sp>
    </p:spTree>
    <p:extLst>
      <p:ext uri="{BB962C8B-B14F-4D97-AF65-F5344CB8AC3E}">
        <p14:creationId xmlns:p14="http://schemas.microsoft.com/office/powerpoint/2010/main" val="205801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C72769A-DA95-F258-05CA-ADF9C068306E}"/>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FEA274A4-A2D2-1A6A-0BC4-B779B2BB1355}"/>
              </a:ext>
            </a:extLst>
          </p:cNvPr>
          <p:cNvSpPr txBox="1"/>
          <p:nvPr/>
        </p:nvSpPr>
        <p:spPr>
          <a:xfrm>
            <a:off x="528918" y="421341"/>
            <a:ext cx="11143129" cy="5386090"/>
          </a:xfrm>
          <a:prstGeom prst="rect">
            <a:avLst/>
          </a:prstGeom>
          <a:noFill/>
        </p:spPr>
        <p:txBody>
          <a:bodyPr wrap="square" rtlCol="0">
            <a:spAutoFit/>
          </a:bodyPr>
          <a:lstStyle/>
          <a:p>
            <a:r>
              <a:rPr lang="en-IN" sz="2400" dirty="0"/>
              <a:t>9.2 Local Variables</a:t>
            </a:r>
            <a:endParaRPr lang="en-US" sz="2400" dirty="0"/>
          </a:p>
          <a:p>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scope of a variable </a:t>
            </a:r>
            <a:r>
              <a:rPr lang="en-US" sz="2000" dirty="0"/>
              <a:t>is the range of statements over which it is visible. </a:t>
            </a:r>
          </a:p>
          <a:p>
            <a:pPr marL="342900" indent="-342900" algn="just">
              <a:buFont typeface="Arial" panose="020B0604020202020204" pitchFamily="34" charset="0"/>
              <a:buChar char="•"/>
            </a:pPr>
            <a:r>
              <a:rPr lang="en-US" sz="2000" dirty="0"/>
              <a:t>When JavaScript is embedded in an HTML document, the scope of a variable is the range of lines of the document over which the variable is visible.</a:t>
            </a:r>
          </a:p>
          <a:p>
            <a:pPr marL="342900" indent="-342900" algn="just">
              <a:buFont typeface="Arial" panose="020B0604020202020204" pitchFamily="34" charset="0"/>
              <a:buChar char="•"/>
            </a:pPr>
            <a:r>
              <a:rPr lang="en-US" sz="2000" dirty="0"/>
              <a:t>A variable that is not declared with a var statement is </a:t>
            </a:r>
            <a:r>
              <a:rPr lang="en-US" sz="2000" dirty="0">
                <a:solidFill>
                  <a:srgbClr val="FF0000"/>
                </a:solidFill>
              </a:rPr>
              <a:t>implicitly declared </a:t>
            </a:r>
            <a:r>
              <a:rPr lang="en-US" sz="2000" dirty="0"/>
              <a:t>by the JavaScript interpreter at the time it is first encountered in the script. </a:t>
            </a:r>
          </a:p>
          <a:p>
            <a:pPr marL="342900" indent="-342900" algn="just">
              <a:buFont typeface="Arial" panose="020B0604020202020204" pitchFamily="34" charset="0"/>
              <a:buChar char="•"/>
            </a:pPr>
            <a:r>
              <a:rPr lang="en-US" sz="2000" dirty="0"/>
              <a:t>Variables that are implicitly declared have </a:t>
            </a:r>
            <a:r>
              <a:rPr lang="en-US" sz="2000" dirty="0">
                <a:solidFill>
                  <a:srgbClr val="FF0000"/>
                </a:solidFill>
              </a:rPr>
              <a:t>global scope</a:t>
            </a:r>
            <a:r>
              <a:rPr lang="en-US" sz="2000" dirty="0"/>
              <a:t>—that is, they are visible in the entire HTML document </a:t>
            </a:r>
          </a:p>
          <a:p>
            <a:pPr marL="342900" indent="-342900" algn="just">
              <a:buFont typeface="Arial" panose="020B0604020202020204" pitchFamily="34" charset="0"/>
              <a:buChar char="•"/>
            </a:pPr>
            <a:r>
              <a:rPr lang="en-US" sz="2000" dirty="0"/>
              <a:t>Variables that are </a:t>
            </a:r>
            <a:r>
              <a:rPr lang="en-US" sz="2000" dirty="0">
                <a:solidFill>
                  <a:srgbClr val="FF0000"/>
                </a:solidFill>
              </a:rPr>
              <a:t>explicitly declared </a:t>
            </a:r>
            <a:r>
              <a:rPr lang="en-US" sz="2000" dirty="0"/>
              <a:t>outside function definitions also have global scope.</a:t>
            </a:r>
          </a:p>
          <a:p>
            <a:pPr marL="342900" indent="-342900" algn="just">
              <a:buFont typeface="Arial" panose="020B0604020202020204" pitchFamily="34" charset="0"/>
              <a:buChar char="•"/>
            </a:pPr>
            <a:r>
              <a:rPr lang="en-US" sz="2000" dirty="0"/>
              <a:t>It is usually best for variables that are used only within a function to have </a:t>
            </a:r>
            <a:r>
              <a:rPr lang="en-US" sz="2000" i="1" dirty="0">
                <a:solidFill>
                  <a:srgbClr val="FF0000"/>
                </a:solidFill>
              </a:rPr>
              <a:t>local scope</a:t>
            </a:r>
            <a:endParaRPr lang="en-IN" sz="2000" i="1" dirty="0">
              <a:solidFill>
                <a:srgbClr val="FF0000"/>
              </a:solidFill>
            </a:endParaRPr>
          </a:p>
          <a:p>
            <a:pPr marL="342900" indent="-342900" algn="just">
              <a:buFont typeface="Arial" panose="020B0604020202020204" pitchFamily="34" charset="0"/>
              <a:buChar char="•"/>
            </a:pPr>
            <a:r>
              <a:rPr lang="en-US" sz="2000" dirty="0"/>
              <a:t>If a variable that is defined </a:t>
            </a:r>
            <a:r>
              <a:rPr lang="en-US" sz="2000" dirty="0">
                <a:solidFill>
                  <a:srgbClr val="FF0000"/>
                </a:solidFill>
              </a:rPr>
              <a:t>both as a local variable and as a global variable</a:t>
            </a:r>
            <a:r>
              <a:rPr lang="en-US" sz="2000" dirty="0"/>
              <a:t> appears in a function, the local variable has precedence, effectively hiding the global variable with the same name.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 </a:t>
            </a:r>
            <a:endParaRPr lang="en-IN" sz="2000" dirty="0"/>
          </a:p>
        </p:txBody>
      </p:sp>
    </p:spTree>
    <p:extLst>
      <p:ext uri="{BB962C8B-B14F-4D97-AF65-F5344CB8AC3E}">
        <p14:creationId xmlns:p14="http://schemas.microsoft.com/office/powerpoint/2010/main" val="251075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122B39E-3670-3E28-3C49-A073A9483FA5}"/>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ED3CDA78-ADD1-51EC-AF12-B13B4EED1210}"/>
              </a:ext>
            </a:extLst>
          </p:cNvPr>
          <p:cNvSpPr txBox="1"/>
          <p:nvPr/>
        </p:nvSpPr>
        <p:spPr>
          <a:xfrm>
            <a:off x="528918" y="421341"/>
            <a:ext cx="11143129" cy="4462760"/>
          </a:xfrm>
          <a:prstGeom prst="rect">
            <a:avLst/>
          </a:prstGeom>
          <a:noFill/>
        </p:spPr>
        <p:txBody>
          <a:bodyPr wrap="square" rtlCol="0">
            <a:spAutoFit/>
          </a:bodyPr>
          <a:lstStyle/>
          <a:p>
            <a:r>
              <a:rPr lang="en-IN" sz="2400" dirty="0"/>
              <a:t>9.3 Parameters</a:t>
            </a:r>
            <a:endParaRPr lang="en-US" sz="2400" dirty="0"/>
          </a:p>
          <a:p>
            <a:pPr algn="just"/>
            <a:endParaRPr lang="en-US" sz="2000" dirty="0"/>
          </a:p>
          <a:p>
            <a:pPr marL="342900" indent="-342900" algn="just">
              <a:buFont typeface="Arial" panose="020B0604020202020204" pitchFamily="34" charset="0"/>
              <a:buChar char="•"/>
            </a:pPr>
            <a:r>
              <a:rPr lang="en-US" sz="2000" dirty="0"/>
              <a:t>The parameter values that appear in a </a:t>
            </a:r>
            <a:r>
              <a:rPr lang="en-US" sz="2000" dirty="0">
                <a:solidFill>
                  <a:srgbClr val="FF0000"/>
                </a:solidFill>
              </a:rPr>
              <a:t>call to a function </a:t>
            </a:r>
            <a:r>
              <a:rPr lang="en-US" sz="2000" dirty="0"/>
              <a:t>are called </a:t>
            </a:r>
            <a:r>
              <a:rPr lang="en-US" sz="2000" i="1" dirty="0">
                <a:solidFill>
                  <a:srgbClr val="FF0000"/>
                </a:solidFill>
              </a:rPr>
              <a:t>actual parameters</a:t>
            </a:r>
            <a:r>
              <a:rPr lang="en-US" sz="2000" dirty="0"/>
              <a:t>. </a:t>
            </a:r>
          </a:p>
          <a:p>
            <a:pPr marL="342900" indent="-342900" algn="just">
              <a:buFont typeface="Arial" panose="020B0604020202020204" pitchFamily="34" charset="0"/>
              <a:buChar char="•"/>
            </a:pPr>
            <a:r>
              <a:rPr lang="en-US" sz="2000" dirty="0"/>
              <a:t>The parameter names that appear in the </a:t>
            </a:r>
            <a:r>
              <a:rPr lang="en-US" sz="2000" dirty="0">
                <a:solidFill>
                  <a:srgbClr val="FF0000"/>
                </a:solidFill>
              </a:rPr>
              <a:t>header of a function definition</a:t>
            </a:r>
            <a:r>
              <a:rPr lang="en-US" sz="2000" dirty="0"/>
              <a:t>, which correspond to the actual parameters in calls to the function, are called </a:t>
            </a:r>
            <a:r>
              <a:rPr lang="en-US" sz="2000" i="1" dirty="0">
                <a:solidFill>
                  <a:srgbClr val="FF0000"/>
                </a:solidFill>
              </a:rPr>
              <a:t>formal parameters</a:t>
            </a:r>
            <a:r>
              <a:rPr lang="en-US" sz="2000" dirty="0"/>
              <a:t>.</a:t>
            </a:r>
          </a:p>
          <a:p>
            <a:pPr marL="342900" indent="-342900" algn="just">
              <a:buFont typeface="Arial" panose="020B0604020202020204" pitchFamily="34" charset="0"/>
              <a:buChar char="•"/>
            </a:pPr>
            <a:r>
              <a:rPr lang="en-US" sz="2000" dirty="0"/>
              <a:t>JavaScript uses the </a:t>
            </a:r>
            <a:r>
              <a:rPr lang="en-US" sz="2000" dirty="0">
                <a:solidFill>
                  <a:srgbClr val="FF0000"/>
                </a:solidFill>
              </a:rPr>
              <a:t>pass-by-value</a:t>
            </a:r>
            <a:r>
              <a:rPr lang="en-US" sz="2000" dirty="0"/>
              <a:t> parameter-passing method. When a function is called, the values of the actual parameters specified in the call are, in effect, copied into their corresponding formal parameters, which behave exactly like local variables. </a:t>
            </a:r>
          </a:p>
          <a:p>
            <a:pPr marL="342900" indent="-342900" algn="just">
              <a:buFont typeface="Arial" panose="020B0604020202020204" pitchFamily="34" charset="0"/>
              <a:buChar char="•"/>
            </a:pPr>
            <a:r>
              <a:rPr lang="en-US" sz="2000" dirty="0"/>
              <a:t>Because </a:t>
            </a:r>
            <a:r>
              <a:rPr lang="en-US" sz="2000" dirty="0">
                <a:solidFill>
                  <a:srgbClr val="FF0000"/>
                </a:solidFill>
              </a:rPr>
              <a:t>references are passed as the actual parameters of </a:t>
            </a:r>
            <a:r>
              <a:rPr lang="en-US" sz="2000" dirty="0">
                <a:solidFill>
                  <a:srgbClr val="00B0F0"/>
                </a:solidFill>
              </a:rPr>
              <a:t>objects</a:t>
            </a:r>
            <a:r>
              <a:rPr lang="en-US" sz="2000" dirty="0"/>
              <a:t>, the called function has access to the objects and can change them, thereby providing the semantics of </a:t>
            </a:r>
            <a:r>
              <a:rPr lang="en-US" sz="2000" dirty="0">
                <a:solidFill>
                  <a:srgbClr val="FF0000"/>
                </a:solidFill>
              </a:rPr>
              <a:t>pass-by-reference</a:t>
            </a:r>
            <a:r>
              <a:rPr lang="en-US" sz="2000" dirty="0"/>
              <a:t> parameters.</a:t>
            </a:r>
          </a:p>
          <a:p>
            <a:pPr marL="342900" indent="-342900" algn="just">
              <a:buFont typeface="Arial" panose="020B0604020202020204" pitchFamily="34" charset="0"/>
              <a:buChar char="•"/>
            </a:pPr>
            <a:r>
              <a:rPr lang="en-US" sz="2000" dirty="0"/>
              <a:t>However, if a reference to an object is passed to a function and the function changes its corresponding formal parameter then the change has no effect on the actual parameter.</a:t>
            </a:r>
            <a:endParaRPr lang="en-IN" sz="2000" dirty="0"/>
          </a:p>
          <a:p>
            <a:endParaRPr lang="en-IN" sz="2000" dirty="0"/>
          </a:p>
        </p:txBody>
      </p:sp>
    </p:spTree>
    <p:extLst>
      <p:ext uri="{BB962C8B-B14F-4D97-AF65-F5344CB8AC3E}">
        <p14:creationId xmlns:p14="http://schemas.microsoft.com/office/powerpoint/2010/main" val="1215442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3CB35AE-60F8-0B85-5511-BA344B42AFCA}"/>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246CEE1D-0CFC-8D2D-15BD-5A46F4177178}"/>
              </a:ext>
            </a:extLst>
          </p:cNvPr>
          <p:cNvSpPr txBox="1"/>
          <p:nvPr/>
        </p:nvSpPr>
        <p:spPr>
          <a:xfrm>
            <a:off x="528918" y="421341"/>
            <a:ext cx="11143129" cy="1384995"/>
          </a:xfrm>
          <a:prstGeom prst="rect">
            <a:avLst/>
          </a:prstGeom>
          <a:noFill/>
        </p:spPr>
        <p:txBody>
          <a:bodyPr wrap="square" rtlCol="0">
            <a:spAutoFit/>
          </a:bodyPr>
          <a:lstStyle/>
          <a:p>
            <a:r>
              <a:rPr lang="en-US" sz="2400" dirty="0"/>
              <a:t>Example</a:t>
            </a:r>
          </a:p>
          <a:p>
            <a:endParaRPr lang="en-IN" sz="2000" dirty="0"/>
          </a:p>
          <a:p>
            <a:endParaRPr lang="en-IN" sz="2000" dirty="0"/>
          </a:p>
          <a:p>
            <a:endParaRPr lang="en-IN" sz="2000" dirty="0"/>
          </a:p>
        </p:txBody>
      </p:sp>
      <p:pic>
        <p:nvPicPr>
          <p:cNvPr id="8" name="Picture 7">
            <a:extLst>
              <a:ext uri="{FF2B5EF4-FFF2-40B4-BE49-F238E27FC236}">
                <a16:creationId xmlns="" xmlns:a16="http://schemas.microsoft.com/office/drawing/2014/main" id="{E8167A3E-E8A7-1170-35EC-54D612719A50}"/>
              </a:ext>
            </a:extLst>
          </p:cNvPr>
          <p:cNvPicPr>
            <a:picLocks noChangeAspect="1"/>
          </p:cNvPicPr>
          <p:nvPr/>
        </p:nvPicPr>
        <p:blipFill>
          <a:blip r:embed="rId2"/>
          <a:stretch>
            <a:fillRect/>
          </a:stretch>
        </p:blipFill>
        <p:spPr>
          <a:xfrm>
            <a:off x="215152" y="1529097"/>
            <a:ext cx="5629673" cy="3208750"/>
          </a:xfrm>
          <a:prstGeom prst="rect">
            <a:avLst/>
          </a:prstGeom>
        </p:spPr>
      </p:pic>
      <p:pic>
        <p:nvPicPr>
          <p:cNvPr id="10" name="Picture 9">
            <a:extLst>
              <a:ext uri="{FF2B5EF4-FFF2-40B4-BE49-F238E27FC236}">
                <a16:creationId xmlns="" xmlns:a16="http://schemas.microsoft.com/office/drawing/2014/main" id="{C5AB745D-4B74-1C05-AE24-31A112AF033B}"/>
              </a:ext>
            </a:extLst>
          </p:cNvPr>
          <p:cNvPicPr>
            <a:picLocks noChangeAspect="1"/>
          </p:cNvPicPr>
          <p:nvPr/>
        </p:nvPicPr>
        <p:blipFill>
          <a:blip r:embed="rId3"/>
          <a:stretch>
            <a:fillRect/>
          </a:stretch>
        </p:blipFill>
        <p:spPr>
          <a:xfrm>
            <a:off x="5883343" y="220250"/>
            <a:ext cx="5900765" cy="3208750"/>
          </a:xfrm>
          <a:prstGeom prst="rect">
            <a:avLst/>
          </a:prstGeom>
        </p:spPr>
      </p:pic>
      <p:pic>
        <p:nvPicPr>
          <p:cNvPr id="12" name="Picture 11">
            <a:extLst>
              <a:ext uri="{FF2B5EF4-FFF2-40B4-BE49-F238E27FC236}">
                <a16:creationId xmlns="" xmlns:a16="http://schemas.microsoft.com/office/drawing/2014/main" id="{886B3BE4-6402-5AF0-FC60-88886CDB97CB}"/>
              </a:ext>
            </a:extLst>
          </p:cNvPr>
          <p:cNvPicPr>
            <a:picLocks noChangeAspect="1"/>
          </p:cNvPicPr>
          <p:nvPr/>
        </p:nvPicPr>
        <p:blipFill>
          <a:blip r:embed="rId4"/>
          <a:stretch>
            <a:fillRect/>
          </a:stretch>
        </p:blipFill>
        <p:spPr>
          <a:xfrm>
            <a:off x="5883343" y="3429000"/>
            <a:ext cx="5900765" cy="3307604"/>
          </a:xfrm>
          <a:prstGeom prst="rect">
            <a:avLst/>
          </a:prstGeom>
        </p:spPr>
      </p:pic>
    </p:spTree>
    <p:extLst>
      <p:ext uri="{BB962C8B-B14F-4D97-AF65-F5344CB8AC3E}">
        <p14:creationId xmlns:p14="http://schemas.microsoft.com/office/powerpoint/2010/main" val="23338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9432ACA-EED7-2878-CF36-7338777ED24D}"/>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C69FC0C-7E3B-3B46-455E-7D1E8319546C}"/>
              </a:ext>
            </a:extLst>
          </p:cNvPr>
          <p:cNvSpPr txBox="1"/>
          <p:nvPr/>
        </p:nvSpPr>
        <p:spPr>
          <a:xfrm>
            <a:off x="528918" y="421341"/>
            <a:ext cx="11143129" cy="6309420"/>
          </a:xfrm>
          <a:prstGeom prst="rect">
            <a:avLst/>
          </a:prstGeom>
          <a:noFill/>
        </p:spPr>
        <p:txBody>
          <a:bodyPr wrap="square" rtlCol="0">
            <a:spAutoFit/>
          </a:bodyPr>
          <a:lstStyle/>
          <a:p>
            <a:r>
              <a:rPr lang="en-US" sz="2400" dirty="0"/>
              <a:t>Continued…</a:t>
            </a:r>
          </a:p>
          <a:p>
            <a:endParaRPr lang="en-US" sz="2000" dirty="0"/>
          </a:p>
          <a:p>
            <a:r>
              <a:rPr lang="en-US" sz="2000" dirty="0"/>
              <a:t>All parameters are communicated through a property array, </a:t>
            </a:r>
            <a:r>
              <a:rPr lang="en-US" sz="2000" i="1" dirty="0">
                <a:solidFill>
                  <a:srgbClr val="00B0F0"/>
                </a:solidFill>
              </a:rPr>
              <a:t>arguments</a:t>
            </a:r>
            <a:r>
              <a:rPr lang="en-US" sz="2000" dirty="0"/>
              <a:t>, that, like other array objects, has a property named </a:t>
            </a:r>
            <a:r>
              <a:rPr lang="en-US" sz="2000" i="1" dirty="0">
                <a:solidFill>
                  <a:srgbClr val="00B0F0"/>
                </a:solidFill>
              </a:rPr>
              <a:t>length</a:t>
            </a:r>
            <a:r>
              <a:rPr lang="en-US" sz="2000" dirty="0"/>
              <a:t>.</a:t>
            </a:r>
          </a:p>
          <a:p>
            <a:r>
              <a:rPr lang="en-US" sz="2000" dirty="0"/>
              <a:t>By accessing </a:t>
            </a:r>
            <a:r>
              <a:rPr lang="en-US" sz="2000" dirty="0" err="1">
                <a:solidFill>
                  <a:srgbClr val="00B0F0"/>
                </a:solidFill>
              </a:rPr>
              <a:t>arguments.length</a:t>
            </a:r>
            <a:r>
              <a:rPr lang="en-US" sz="2000" dirty="0"/>
              <a:t>, a function can determine the number of actual parameters that were passed.</a:t>
            </a:r>
          </a:p>
          <a:p>
            <a:endParaRPr lang="en-IN" sz="2000" dirty="0"/>
          </a:p>
          <a:p>
            <a:pPr lvl="1"/>
            <a:r>
              <a:rPr lang="en-IN" sz="2000" dirty="0">
                <a:solidFill>
                  <a:srgbClr val="FF0000"/>
                </a:solidFill>
                <a:latin typeface="Microsoft Yi Baiti" panose="03000500000000000000" pitchFamily="66" charset="0"/>
                <a:ea typeface="Microsoft Yi Baiti" panose="03000500000000000000" pitchFamily="66" charset="0"/>
              </a:rPr>
              <a:t>function params(a, b) {</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("Function params was passed ", </a:t>
            </a:r>
            <a:r>
              <a:rPr lang="en-IN" sz="2000" dirty="0" err="1">
                <a:solidFill>
                  <a:srgbClr val="FF0000"/>
                </a:solidFill>
                <a:latin typeface="Microsoft Yi Baiti" panose="03000500000000000000" pitchFamily="66" charset="0"/>
                <a:ea typeface="Microsoft Yi Baiti" panose="03000500000000000000" pitchFamily="66" charset="0"/>
              </a:rPr>
              <a:t>arguments.length</a:t>
            </a:r>
            <a:r>
              <a:rPr lang="en-IN" sz="2000" dirty="0">
                <a:solidFill>
                  <a:srgbClr val="FF0000"/>
                </a:solidFill>
                <a:latin typeface="Microsoft Yi Baiti" panose="03000500000000000000" pitchFamily="66" charset="0"/>
                <a:ea typeface="Microsoft Yi Baiti" panose="03000500000000000000" pitchFamily="66" charset="0"/>
              </a:rPr>
              <a:t>, " parameter(s) &lt;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("Parameter values are: &lt;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r>
              <a:rPr lang="en-IN" sz="2000" dirty="0">
                <a:solidFill>
                  <a:srgbClr val="FF0000"/>
                </a:solidFill>
                <a:latin typeface="Microsoft Yi Baiti" panose="03000500000000000000" pitchFamily="66" charset="0"/>
                <a:ea typeface="Microsoft Yi Baiti" panose="03000500000000000000" pitchFamily="66" charset="0"/>
              </a:rPr>
              <a:t>}</a:t>
            </a:r>
          </a:p>
          <a:p>
            <a:pPr lvl="1"/>
            <a:r>
              <a:rPr lang="en-IN" sz="2000" dirty="0">
                <a:solidFill>
                  <a:srgbClr val="FF0000"/>
                </a:solidFill>
                <a:latin typeface="Microsoft Yi Baiti" panose="03000500000000000000" pitchFamily="66" charset="0"/>
                <a:ea typeface="Microsoft Yi Baiti" panose="03000500000000000000" pitchFamily="66" charset="0"/>
              </a:rPr>
              <a:t>for (var </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 = 0; </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 &lt; </a:t>
            </a:r>
            <a:r>
              <a:rPr lang="en-IN" sz="2000" dirty="0" err="1">
                <a:solidFill>
                  <a:srgbClr val="FF0000"/>
                </a:solidFill>
                <a:latin typeface="Microsoft Yi Baiti" panose="03000500000000000000" pitchFamily="66" charset="0"/>
                <a:ea typeface="Microsoft Yi Baiti" panose="03000500000000000000" pitchFamily="66" charset="0"/>
              </a:rPr>
              <a:t>arguments.length</a:t>
            </a:r>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a:t>
            </a:r>
          </a:p>
          <a:p>
            <a:pPr lvl="1"/>
            <a:r>
              <a:rPr lang="en-IN" sz="2000" dirty="0">
                <a:solidFill>
                  <a:srgbClr val="FF0000"/>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document.write</a:t>
            </a:r>
            <a:r>
              <a:rPr lang="en-IN" sz="2000" dirty="0">
                <a:solidFill>
                  <a:srgbClr val="FF0000"/>
                </a:solidFill>
                <a:latin typeface="Microsoft Yi Baiti" panose="03000500000000000000" pitchFamily="66" charset="0"/>
                <a:ea typeface="Microsoft Yi Baiti" panose="03000500000000000000" pitchFamily="66" charset="0"/>
              </a:rPr>
              <a:t>(arguments[</a:t>
            </a:r>
            <a:r>
              <a:rPr lang="en-IN" sz="2000" dirty="0" err="1">
                <a:solidFill>
                  <a:srgbClr val="FF0000"/>
                </a:solidFill>
                <a:latin typeface="Microsoft Yi Baiti" panose="03000500000000000000" pitchFamily="66" charset="0"/>
                <a:ea typeface="Microsoft Yi Baiti" panose="03000500000000000000" pitchFamily="66" charset="0"/>
              </a:rPr>
              <a:t>arg</a:t>
            </a:r>
            <a:r>
              <a:rPr lang="en-IN" sz="2000" dirty="0">
                <a:solidFill>
                  <a:srgbClr val="FF0000"/>
                </a:solidFill>
                <a:latin typeface="Microsoft Yi Baiti" panose="03000500000000000000" pitchFamily="66" charset="0"/>
                <a:ea typeface="Microsoft Yi Baiti" panose="03000500000000000000" pitchFamily="66" charset="0"/>
              </a:rPr>
              <a:t>], "&lt;</a:t>
            </a:r>
            <a:r>
              <a:rPr lang="en-IN" sz="2000" dirty="0" err="1">
                <a:solidFill>
                  <a:srgbClr val="FF0000"/>
                </a:solidFill>
                <a:latin typeface="Microsoft Yi Baiti" panose="03000500000000000000" pitchFamily="66" charset="0"/>
                <a:ea typeface="Microsoft Yi Baiti" panose="03000500000000000000" pitchFamily="66" charset="0"/>
              </a:rPr>
              <a:t>br</a:t>
            </a:r>
            <a:r>
              <a:rPr lang="en-IN" sz="2000" dirty="0">
                <a:solidFill>
                  <a:srgbClr val="FF0000"/>
                </a:solidFill>
                <a:latin typeface="Microsoft Yi Baiti" panose="03000500000000000000" pitchFamily="66" charset="0"/>
                <a:ea typeface="Microsoft Yi Baiti" panose="03000500000000000000" pitchFamily="66" charset="0"/>
              </a:rPr>
              <a:t> /&gt;");</a:t>
            </a:r>
          </a:p>
          <a:p>
            <a:pPr lvl="1"/>
            <a:endParaRPr lang="en-IN" sz="2000" dirty="0">
              <a:solidFill>
                <a:srgbClr val="FF0000"/>
              </a:solidFill>
              <a:latin typeface="Microsoft Yi Baiti" panose="03000500000000000000" pitchFamily="66" charset="0"/>
              <a:ea typeface="Microsoft Yi Baiti" panose="03000500000000000000" pitchFamily="66" charset="0"/>
            </a:endParaRPr>
          </a:p>
          <a:p>
            <a:pPr lvl="1"/>
            <a:r>
              <a:rPr lang="en-IN" sz="2000" dirty="0">
                <a:solidFill>
                  <a:srgbClr val="FF0000"/>
                </a:solidFill>
                <a:latin typeface="Microsoft Yi Baiti" panose="03000500000000000000" pitchFamily="66" charset="0"/>
                <a:ea typeface="Microsoft Yi Baiti" panose="03000500000000000000" pitchFamily="66" charset="0"/>
              </a:rPr>
              <a:t>// A test driver for function params</a:t>
            </a:r>
          </a:p>
          <a:p>
            <a:pPr lvl="1"/>
            <a:r>
              <a:rPr lang="en-IN" sz="2000" dirty="0">
                <a:solidFill>
                  <a:srgbClr val="FF0000"/>
                </a:solidFill>
                <a:latin typeface="Microsoft Yi Baiti" panose="03000500000000000000" pitchFamily="66" charset="0"/>
                <a:ea typeface="Microsoft Yi Baiti" panose="03000500000000000000" pitchFamily="66" charset="0"/>
              </a:rPr>
              <a:t>params("Mozart");</a:t>
            </a:r>
          </a:p>
          <a:p>
            <a:pPr lvl="1"/>
            <a:r>
              <a:rPr lang="en-IN" sz="2000" dirty="0">
                <a:solidFill>
                  <a:srgbClr val="FF0000"/>
                </a:solidFill>
                <a:latin typeface="Microsoft Yi Baiti" panose="03000500000000000000" pitchFamily="66" charset="0"/>
                <a:ea typeface="Microsoft Yi Baiti" panose="03000500000000000000" pitchFamily="66" charset="0"/>
              </a:rPr>
              <a:t>params("Mozart", "Beethoven");</a:t>
            </a:r>
          </a:p>
          <a:p>
            <a:pPr lvl="1"/>
            <a:r>
              <a:rPr lang="en-IN" sz="2000" dirty="0">
                <a:solidFill>
                  <a:srgbClr val="FF0000"/>
                </a:solidFill>
                <a:latin typeface="Microsoft Yi Baiti" panose="03000500000000000000" pitchFamily="66" charset="0"/>
                <a:ea typeface="Microsoft Yi Baiti" panose="03000500000000000000" pitchFamily="66" charset="0"/>
              </a:rPr>
              <a:t>params("Mozart", "Beethoven", "Tchaikowsky");</a:t>
            </a:r>
          </a:p>
          <a:p>
            <a:endParaRPr lang="en-IN" sz="2000" dirty="0"/>
          </a:p>
        </p:txBody>
      </p:sp>
    </p:spTree>
    <p:extLst>
      <p:ext uri="{BB962C8B-B14F-4D97-AF65-F5344CB8AC3E}">
        <p14:creationId xmlns:p14="http://schemas.microsoft.com/office/powerpoint/2010/main" val="185766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85FCD2A-F434-56EB-6892-AE1B545DF7CE}"/>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EAE1D5C-6F9F-53C6-7161-8C7674646F29}"/>
              </a:ext>
            </a:extLst>
          </p:cNvPr>
          <p:cNvSpPr txBox="1"/>
          <p:nvPr/>
        </p:nvSpPr>
        <p:spPr>
          <a:xfrm>
            <a:off x="528918" y="421341"/>
            <a:ext cx="11143129" cy="6001643"/>
          </a:xfrm>
          <a:prstGeom prst="rect">
            <a:avLst/>
          </a:prstGeom>
          <a:noFill/>
        </p:spPr>
        <p:txBody>
          <a:bodyPr wrap="square" rtlCol="0">
            <a:spAutoFit/>
          </a:bodyPr>
          <a:lstStyle/>
          <a:p>
            <a:r>
              <a:rPr lang="en-US" sz="2400" b="1" dirty="0"/>
              <a:t>9.4 The sort Method, Revisited</a:t>
            </a:r>
          </a:p>
          <a:p>
            <a:pPr marL="342900" indent="-342900" algn="just">
              <a:buFont typeface="Arial" panose="020B0604020202020204" pitchFamily="34" charset="0"/>
              <a:buChar char="•"/>
            </a:pPr>
            <a:r>
              <a:rPr lang="en-US" sz="2000" dirty="0"/>
              <a:t>sort method for array objects converts the array’s elements to strings, if necessary, and then sorts them alphabetically</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If we need to sort something other than strings, or if you want an array to be sorted in some order other than alphabetically as strings, the comparison operation must be supplied to the sort method by the caller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Such a comparison operation is passed as a parameter to sort</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comparison function must return a negative number if the two elements being compared are in the desired order, zero if they are equal, and a number greater than zero if they must be interchanged</a:t>
            </a:r>
          </a:p>
          <a:p>
            <a:pPr lvl="2"/>
            <a:r>
              <a:rPr lang="en-US" sz="2000" dirty="0">
                <a:solidFill>
                  <a:srgbClr val="FF0000"/>
                </a:solidFill>
              </a:rPr>
              <a:t>function </a:t>
            </a:r>
            <a:r>
              <a:rPr lang="en-US" sz="2000" dirty="0" err="1">
                <a:solidFill>
                  <a:srgbClr val="FF0000"/>
                </a:solidFill>
              </a:rPr>
              <a:t>my_order</a:t>
            </a:r>
            <a:r>
              <a:rPr lang="en-US" sz="2000" dirty="0">
                <a:solidFill>
                  <a:srgbClr val="FF0000"/>
                </a:solidFill>
              </a:rPr>
              <a:t> ( </a:t>
            </a:r>
            <a:r>
              <a:rPr lang="en-US" sz="2000" dirty="0" err="1">
                <a:solidFill>
                  <a:srgbClr val="FF0000"/>
                </a:solidFill>
              </a:rPr>
              <a:t>a,b</a:t>
            </a:r>
            <a:r>
              <a:rPr lang="en-US" sz="2000" dirty="0">
                <a:solidFill>
                  <a:srgbClr val="FF0000"/>
                </a:solidFill>
              </a:rPr>
              <a:t> ){return a-b;} </a:t>
            </a:r>
          </a:p>
          <a:p>
            <a:pPr lvl="2"/>
            <a:r>
              <a:rPr lang="en-US" sz="2000" dirty="0" err="1">
                <a:solidFill>
                  <a:srgbClr val="FF0000"/>
                </a:solidFill>
              </a:rPr>
              <a:t>array.sort</a:t>
            </a:r>
            <a:r>
              <a:rPr lang="en-US" sz="2000" dirty="0">
                <a:solidFill>
                  <a:srgbClr val="FF0000"/>
                </a:solidFill>
              </a:rPr>
              <a:t> ( </a:t>
            </a:r>
            <a:r>
              <a:rPr lang="en-US" sz="2000" dirty="0" err="1">
                <a:solidFill>
                  <a:srgbClr val="FF0000"/>
                </a:solidFill>
              </a:rPr>
              <a:t>my_order</a:t>
            </a:r>
            <a:r>
              <a:rPr lang="en-US" sz="2000" dirty="0">
                <a:solidFill>
                  <a:srgbClr val="FF0000"/>
                </a:solidFill>
              </a:rPr>
              <a: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Rather than defining a comparison function elsewhere and passing its name, the function definition can appear as the actual parameter in the call to sort</a:t>
            </a:r>
          </a:p>
          <a:p>
            <a:r>
              <a:rPr lang="en-US" sz="2000" dirty="0"/>
              <a:t>	</a:t>
            </a:r>
            <a:r>
              <a:rPr lang="en-US" sz="2000" dirty="0" err="1">
                <a:solidFill>
                  <a:srgbClr val="FF0000"/>
                </a:solidFill>
              </a:rPr>
              <a:t>array.sort</a:t>
            </a:r>
            <a:r>
              <a:rPr lang="en-US" sz="2000" dirty="0">
                <a:solidFill>
                  <a:srgbClr val="FF0000"/>
                </a:solidFill>
              </a:rPr>
              <a:t> (function(a, b){return a-b};)</a:t>
            </a:r>
          </a:p>
        </p:txBody>
      </p:sp>
    </p:spTree>
    <p:extLst>
      <p:ext uri="{BB962C8B-B14F-4D97-AF65-F5344CB8AC3E}">
        <p14:creationId xmlns:p14="http://schemas.microsoft.com/office/powerpoint/2010/main" val="2998165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7D4E80D-40E3-8309-5EA3-65B7A2A00138}"/>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9A7849C-C20E-8A65-5A4F-14AD7DE4DD73}"/>
              </a:ext>
            </a:extLst>
          </p:cNvPr>
          <p:cNvSpPr txBox="1"/>
          <p:nvPr/>
        </p:nvSpPr>
        <p:spPr>
          <a:xfrm>
            <a:off x="528918" y="421341"/>
            <a:ext cx="11143129" cy="6001643"/>
          </a:xfrm>
          <a:prstGeom prst="rect">
            <a:avLst/>
          </a:prstGeom>
          <a:noFill/>
        </p:spPr>
        <p:txBody>
          <a:bodyPr wrap="square" rtlCol="0">
            <a:spAutoFit/>
          </a:bodyPr>
          <a:lstStyle/>
          <a:p>
            <a:r>
              <a:rPr lang="en-IN" sz="2400" b="1" dirty="0"/>
              <a:t>11 Constructors</a:t>
            </a:r>
            <a:endParaRPr lang="en-US" sz="2000" dirty="0"/>
          </a:p>
          <a:p>
            <a:pPr marL="342900" indent="-342900" algn="just">
              <a:buFont typeface="Arial" panose="020B0604020202020204" pitchFamily="34" charset="0"/>
              <a:buChar char="•"/>
            </a:pPr>
            <a:r>
              <a:rPr lang="en-US" sz="2000" dirty="0"/>
              <a:t>JavaScript constructors are special functions that create and initialize the proper ties of newly created objects. </a:t>
            </a:r>
          </a:p>
          <a:p>
            <a:pPr marL="342900" indent="-342900" algn="just">
              <a:buFont typeface="Arial" panose="020B0604020202020204" pitchFamily="34" charset="0"/>
              <a:buChar char="•"/>
            </a:pPr>
            <a:r>
              <a:rPr lang="en-US" sz="2000" dirty="0"/>
              <a:t>Every </a:t>
            </a:r>
            <a:r>
              <a:rPr lang="en-US" sz="2000" dirty="0">
                <a:solidFill>
                  <a:srgbClr val="FF0000"/>
                </a:solidFill>
              </a:rPr>
              <a:t>new</a:t>
            </a:r>
            <a:r>
              <a:rPr lang="en-US" sz="2000" dirty="0"/>
              <a:t> expression must include a call to a constructor whose name is the same as that of the object being created.</a:t>
            </a:r>
            <a:endParaRPr lang="en-IN" sz="2000" dirty="0"/>
          </a:p>
          <a:p>
            <a:pPr marL="342900" indent="-342900">
              <a:buFont typeface="Arial" panose="020B0604020202020204" pitchFamily="34" charset="0"/>
              <a:buChar char="•"/>
            </a:pPr>
            <a:r>
              <a:rPr lang="en-US" sz="2000" dirty="0">
                <a:solidFill>
                  <a:srgbClr val="FF0000"/>
                </a:solidFill>
              </a:rPr>
              <a:t>this</a:t>
            </a:r>
            <a:r>
              <a:rPr lang="en-US" sz="2000" dirty="0"/>
              <a:t> variable is used to construct and initialize the properties of the object </a:t>
            </a:r>
          </a:p>
          <a:p>
            <a:pPr lvl="1"/>
            <a:r>
              <a:rPr lang="en-US" sz="2000" dirty="0">
                <a:solidFill>
                  <a:srgbClr val="FF0000"/>
                </a:solidFill>
                <a:latin typeface="Microsoft Yi Baiti" panose="03000500000000000000" pitchFamily="66" charset="0"/>
                <a:ea typeface="Microsoft Yi Baiti" panose="03000500000000000000" pitchFamily="66" charset="0"/>
              </a:rPr>
              <a:t>function car(</a:t>
            </a:r>
            <a:r>
              <a:rPr lang="en-US" sz="2000" dirty="0" err="1">
                <a:solidFill>
                  <a:srgbClr val="FF0000"/>
                </a:solidFill>
                <a:latin typeface="Microsoft Yi Baiti" panose="03000500000000000000" pitchFamily="66" charset="0"/>
                <a:ea typeface="Microsoft Yi Baiti" panose="03000500000000000000" pitchFamily="66" charset="0"/>
              </a:rPr>
              <a:t>new_make</a:t>
            </a:r>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new_model</a:t>
            </a:r>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new_year</a:t>
            </a:r>
            <a:r>
              <a:rPr lang="en-US" sz="2000" dirty="0">
                <a:solidFill>
                  <a:srgbClr val="FF0000"/>
                </a:solidFill>
                <a:latin typeface="Microsoft Yi Baiti" panose="03000500000000000000" pitchFamily="66" charset="0"/>
                <a:ea typeface="Microsoft Yi Baiti" panose="03000500000000000000" pitchFamily="66" charset="0"/>
              </a:rPr>
              <a:t>) {</a:t>
            </a:r>
          </a:p>
          <a:p>
            <a:pPr lvl="1"/>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this.make</a:t>
            </a:r>
            <a:r>
              <a:rPr lang="en-US" sz="2000" dirty="0">
                <a:solidFill>
                  <a:srgbClr val="FF0000"/>
                </a:solidFill>
                <a:latin typeface="Microsoft Yi Baiti" panose="03000500000000000000" pitchFamily="66" charset="0"/>
                <a:ea typeface="Microsoft Yi Baiti" panose="03000500000000000000" pitchFamily="66" charset="0"/>
              </a:rPr>
              <a:t> = </a:t>
            </a:r>
            <a:r>
              <a:rPr lang="en-US" sz="2000" dirty="0" err="1">
                <a:solidFill>
                  <a:srgbClr val="FF0000"/>
                </a:solidFill>
                <a:latin typeface="Microsoft Yi Baiti" panose="03000500000000000000" pitchFamily="66" charset="0"/>
                <a:ea typeface="Microsoft Yi Baiti" panose="03000500000000000000" pitchFamily="66" charset="0"/>
              </a:rPr>
              <a:t>new_make</a:t>
            </a:r>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this.model</a:t>
            </a:r>
            <a:r>
              <a:rPr lang="en-US" sz="2000" dirty="0">
                <a:solidFill>
                  <a:srgbClr val="FF0000"/>
                </a:solidFill>
                <a:latin typeface="Microsoft Yi Baiti" panose="03000500000000000000" pitchFamily="66" charset="0"/>
                <a:ea typeface="Microsoft Yi Baiti" panose="03000500000000000000" pitchFamily="66" charset="0"/>
              </a:rPr>
              <a:t> = </a:t>
            </a:r>
            <a:r>
              <a:rPr lang="en-US" sz="2000" dirty="0" err="1">
                <a:solidFill>
                  <a:srgbClr val="FF0000"/>
                </a:solidFill>
                <a:latin typeface="Microsoft Yi Baiti" panose="03000500000000000000" pitchFamily="66" charset="0"/>
                <a:ea typeface="Microsoft Yi Baiti" panose="03000500000000000000" pitchFamily="66" charset="0"/>
              </a:rPr>
              <a:t>new_model</a:t>
            </a:r>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a:solidFill>
                  <a:srgbClr val="FF0000"/>
                </a:solidFill>
                <a:latin typeface="Microsoft Yi Baiti" panose="03000500000000000000" pitchFamily="66" charset="0"/>
                <a:ea typeface="Microsoft Yi Baiti" panose="03000500000000000000" pitchFamily="66" charset="0"/>
              </a:rPr>
              <a:t>    </a:t>
            </a:r>
            <a:r>
              <a:rPr lang="en-US" sz="2000" dirty="0" err="1">
                <a:solidFill>
                  <a:srgbClr val="FF0000"/>
                </a:solidFill>
                <a:latin typeface="Microsoft Yi Baiti" panose="03000500000000000000" pitchFamily="66" charset="0"/>
                <a:ea typeface="Microsoft Yi Baiti" panose="03000500000000000000" pitchFamily="66" charset="0"/>
              </a:rPr>
              <a:t>this.year</a:t>
            </a:r>
            <a:r>
              <a:rPr lang="en-US" sz="2000" dirty="0">
                <a:solidFill>
                  <a:srgbClr val="FF0000"/>
                </a:solidFill>
                <a:latin typeface="Microsoft Yi Baiti" panose="03000500000000000000" pitchFamily="66" charset="0"/>
                <a:ea typeface="Microsoft Yi Baiti" panose="03000500000000000000" pitchFamily="66" charset="0"/>
              </a:rPr>
              <a:t> = </a:t>
            </a:r>
            <a:r>
              <a:rPr lang="en-US" sz="2000" dirty="0" err="1">
                <a:solidFill>
                  <a:srgbClr val="FF0000"/>
                </a:solidFill>
                <a:latin typeface="Microsoft Yi Baiti" panose="03000500000000000000" pitchFamily="66" charset="0"/>
                <a:ea typeface="Microsoft Yi Baiti" panose="03000500000000000000" pitchFamily="66" charset="0"/>
              </a:rPr>
              <a:t>new_year</a:t>
            </a:r>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a:solidFill>
                  <a:srgbClr val="FF0000"/>
                </a:solidFill>
                <a:latin typeface="Microsoft Yi Baiti" panose="03000500000000000000" pitchFamily="66" charset="0"/>
                <a:ea typeface="Microsoft Yi Baiti" panose="03000500000000000000" pitchFamily="66" charset="0"/>
              </a:rPr>
              <a:t>}</a:t>
            </a:r>
          </a:p>
          <a:p>
            <a:pPr lvl="1"/>
            <a:r>
              <a:rPr lang="en-US" sz="2000" dirty="0" err="1">
                <a:solidFill>
                  <a:srgbClr val="000066"/>
                </a:solidFill>
                <a:latin typeface="Microsoft Yi Baiti" panose="03000500000000000000" pitchFamily="66" charset="0"/>
                <a:ea typeface="Microsoft Yi Baiti" panose="03000500000000000000" pitchFamily="66" charset="0"/>
              </a:rPr>
              <a:t>my_car</a:t>
            </a:r>
            <a:r>
              <a:rPr lang="en-US" sz="2000" dirty="0">
                <a:solidFill>
                  <a:srgbClr val="000066"/>
                </a:solidFill>
                <a:latin typeface="Microsoft Yi Baiti" panose="03000500000000000000" pitchFamily="66" charset="0"/>
                <a:ea typeface="Microsoft Yi Baiti" panose="03000500000000000000" pitchFamily="66" charset="0"/>
              </a:rPr>
              <a:t> = new car("Ford", "Fusion", "2012");</a:t>
            </a:r>
          </a:p>
          <a:p>
            <a:r>
              <a:rPr lang="en-US" sz="2000" dirty="0"/>
              <a:t>If a method is to be included in the object, it is initialized the same way as if it were a data property.</a:t>
            </a:r>
          </a:p>
          <a:p>
            <a:r>
              <a:rPr lang="en-IN" sz="2000" dirty="0">
                <a:solidFill>
                  <a:srgbClr val="000066"/>
                </a:solidFill>
                <a:latin typeface="Microsoft Yi Baiti" panose="03000500000000000000" pitchFamily="66" charset="0"/>
                <a:ea typeface="Microsoft Yi Baiti" panose="03000500000000000000" pitchFamily="66" charset="0"/>
              </a:rPr>
              <a:t>function </a:t>
            </a:r>
            <a:r>
              <a:rPr lang="en-IN" sz="2000" dirty="0" err="1">
                <a:solidFill>
                  <a:srgbClr val="000066"/>
                </a:solidFill>
                <a:latin typeface="Microsoft Yi Baiti" panose="03000500000000000000" pitchFamily="66" charset="0"/>
                <a:ea typeface="Microsoft Yi Baiti" panose="03000500000000000000" pitchFamily="66" charset="0"/>
              </a:rPr>
              <a:t>display_car</a:t>
            </a:r>
            <a:r>
              <a:rPr lang="en-IN" sz="2000" dirty="0">
                <a:solidFill>
                  <a:srgbClr val="000066"/>
                </a:solidFill>
                <a:latin typeface="Microsoft Yi Baiti" panose="03000500000000000000" pitchFamily="66" charset="0"/>
                <a:ea typeface="Microsoft Yi Baiti" panose="03000500000000000000" pitchFamily="66" charset="0"/>
              </a:rPr>
              <a:t>() {</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000066"/>
                </a:solidFill>
                <a:latin typeface="Microsoft Yi Baiti" panose="03000500000000000000" pitchFamily="66" charset="0"/>
                <a:ea typeface="Microsoft Yi Baiti" panose="03000500000000000000" pitchFamily="66" charset="0"/>
              </a:rPr>
              <a:t>document.write</a:t>
            </a:r>
            <a:r>
              <a:rPr lang="en-IN" sz="2000" dirty="0">
                <a:solidFill>
                  <a:srgbClr val="000066"/>
                </a:solidFill>
                <a:latin typeface="Microsoft Yi Baiti" panose="03000500000000000000" pitchFamily="66" charset="0"/>
                <a:ea typeface="Microsoft Yi Baiti" panose="03000500000000000000" pitchFamily="66" charset="0"/>
              </a:rPr>
              <a:t>("Car make: ", </a:t>
            </a:r>
            <a:r>
              <a:rPr lang="en-IN" sz="2000" dirty="0" err="1">
                <a:solidFill>
                  <a:srgbClr val="000066"/>
                </a:solidFill>
                <a:latin typeface="Microsoft Yi Baiti" panose="03000500000000000000" pitchFamily="66" charset="0"/>
                <a:ea typeface="Microsoft Yi Baiti" panose="03000500000000000000" pitchFamily="66" charset="0"/>
              </a:rPr>
              <a:t>this.make</a:t>
            </a:r>
            <a:r>
              <a:rPr lang="en-IN" sz="2000" dirty="0">
                <a:solidFill>
                  <a:srgbClr val="000066"/>
                </a:solidFill>
                <a:latin typeface="Microsoft Yi Baiti" panose="03000500000000000000" pitchFamily="66" charset="0"/>
                <a:ea typeface="Microsoft Yi Baiti" panose="03000500000000000000" pitchFamily="66" charset="0"/>
              </a:rPr>
              <a:t>, "&lt;</a:t>
            </a:r>
            <a:r>
              <a:rPr lang="en-IN" sz="2000" dirty="0" err="1">
                <a:solidFill>
                  <a:srgbClr val="000066"/>
                </a:solidFill>
                <a:latin typeface="Microsoft Yi Baiti" panose="03000500000000000000" pitchFamily="66" charset="0"/>
                <a:ea typeface="Microsoft Yi Baiti" panose="03000500000000000000" pitchFamily="66" charset="0"/>
              </a:rPr>
              <a:t>br</a:t>
            </a:r>
            <a:r>
              <a:rPr lang="en-IN" sz="2000" dirty="0">
                <a:solidFill>
                  <a:srgbClr val="000066"/>
                </a:solidFill>
                <a:latin typeface="Microsoft Yi Baiti" panose="03000500000000000000" pitchFamily="66" charset="0"/>
                <a:ea typeface="Microsoft Yi Baiti" panose="03000500000000000000" pitchFamily="66" charset="0"/>
              </a:rPr>
              <a:t>/&gt;");</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000066"/>
                </a:solidFill>
                <a:latin typeface="Microsoft Yi Baiti" panose="03000500000000000000" pitchFamily="66" charset="0"/>
                <a:ea typeface="Microsoft Yi Baiti" panose="03000500000000000000" pitchFamily="66" charset="0"/>
              </a:rPr>
              <a:t>document.write</a:t>
            </a:r>
            <a:r>
              <a:rPr lang="en-IN" sz="2000" dirty="0">
                <a:solidFill>
                  <a:srgbClr val="000066"/>
                </a:solidFill>
                <a:latin typeface="Microsoft Yi Baiti" panose="03000500000000000000" pitchFamily="66" charset="0"/>
                <a:ea typeface="Microsoft Yi Baiti" panose="03000500000000000000" pitchFamily="66" charset="0"/>
              </a:rPr>
              <a:t>("Car model: ", </a:t>
            </a:r>
            <a:r>
              <a:rPr lang="en-IN" sz="2000" dirty="0" err="1">
                <a:solidFill>
                  <a:srgbClr val="000066"/>
                </a:solidFill>
                <a:latin typeface="Microsoft Yi Baiti" panose="03000500000000000000" pitchFamily="66" charset="0"/>
                <a:ea typeface="Microsoft Yi Baiti" panose="03000500000000000000" pitchFamily="66" charset="0"/>
              </a:rPr>
              <a:t>this.model</a:t>
            </a:r>
            <a:r>
              <a:rPr lang="en-IN" sz="2000" dirty="0">
                <a:solidFill>
                  <a:srgbClr val="000066"/>
                </a:solidFill>
                <a:latin typeface="Microsoft Yi Baiti" panose="03000500000000000000" pitchFamily="66" charset="0"/>
                <a:ea typeface="Microsoft Yi Baiti" panose="03000500000000000000" pitchFamily="66" charset="0"/>
              </a:rPr>
              <a:t>, "&lt;</a:t>
            </a:r>
            <a:r>
              <a:rPr lang="en-IN" sz="2000" dirty="0" err="1">
                <a:solidFill>
                  <a:srgbClr val="000066"/>
                </a:solidFill>
                <a:latin typeface="Microsoft Yi Baiti" panose="03000500000000000000" pitchFamily="66" charset="0"/>
                <a:ea typeface="Microsoft Yi Baiti" panose="03000500000000000000" pitchFamily="66" charset="0"/>
              </a:rPr>
              <a:t>br</a:t>
            </a:r>
            <a:r>
              <a:rPr lang="en-IN" sz="2000" dirty="0">
                <a:solidFill>
                  <a:srgbClr val="000066"/>
                </a:solidFill>
                <a:latin typeface="Microsoft Yi Baiti" panose="03000500000000000000" pitchFamily="66" charset="0"/>
                <a:ea typeface="Microsoft Yi Baiti" panose="03000500000000000000" pitchFamily="66" charset="0"/>
              </a:rPr>
              <a:t>/&gt;");</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000066"/>
                </a:solidFill>
                <a:latin typeface="Microsoft Yi Baiti" panose="03000500000000000000" pitchFamily="66" charset="0"/>
                <a:ea typeface="Microsoft Yi Baiti" panose="03000500000000000000" pitchFamily="66" charset="0"/>
              </a:rPr>
              <a:t>document.write</a:t>
            </a:r>
            <a:r>
              <a:rPr lang="en-IN" sz="2000" dirty="0">
                <a:solidFill>
                  <a:srgbClr val="000066"/>
                </a:solidFill>
                <a:latin typeface="Microsoft Yi Baiti" panose="03000500000000000000" pitchFamily="66" charset="0"/>
                <a:ea typeface="Microsoft Yi Baiti" panose="03000500000000000000" pitchFamily="66" charset="0"/>
              </a:rPr>
              <a:t>("Car year: ", </a:t>
            </a:r>
            <a:r>
              <a:rPr lang="en-IN" sz="2000" dirty="0" err="1">
                <a:solidFill>
                  <a:srgbClr val="000066"/>
                </a:solidFill>
                <a:latin typeface="Microsoft Yi Baiti" panose="03000500000000000000" pitchFamily="66" charset="0"/>
                <a:ea typeface="Microsoft Yi Baiti" panose="03000500000000000000" pitchFamily="66" charset="0"/>
              </a:rPr>
              <a:t>this.year</a:t>
            </a:r>
            <a:r>
              <a:rPr lang="en-IN" sz="2000" dirty="0">
                <a:solidFill>
                  <a:srgbClr val="000066"/>
                </a:solidFill>
                <a:latin typeface="Microsoft Yi Baiti" panose="03000500000000000000" pitchFamily="66" charset="0"/>
                <a:ea typeface="Microsoft Yi Baiti" panose="03000500000000000000" pitchFamily="66" charset="0"/>
              </a:rPr>
              <a:t>, "&lt;</a:t>
            </a:r>
            <a:r>
              <a:rPr lang="en-IN" sz="2000" dirty="0" err="1">
                <a:solidFill>
                  <a:srgbClr val="000066"/>
                </a:solidFill>
                <a:latin typeface="Microsoft Yi Baiti" panose="03000500000000000000" pitchFamily="66" charset="0"/>
                <a:ea typeface="Microsoft Yi Baiti" panose="03000500000000000000" pitchFamily="66" charset="0"/>
              </a:rPr>
              <a:t>br</a:t>
            </a:r>
            <a:r>
              <a:rPr lang="en-IN" sz="2000" dirty="0">
                <a:solidFill>
                  <a:srgbClr val="000066"/>
                </a:solidFill>
                <a:latin typeface="Microsoft Yi Baiti" panose="03000500000000000000" pitchFamily="66" charset="0"/>
                <a:ea typeface="Microsoft Yi Baiti" panose="03000500000000000000" pitchFamily="66" charset="0"/>
              </a:rPr>
              <a:t>/&gt;");</a:t>
            </a:r>
          </a:p>
          <a:p>
            <a:r>
              <a:rPr lang="en-IN" sz="2000" dirty="0">
                <a:solidFill>
                  <a:srgbClr val="000066"/>
                </a:solidFill>
                <a:latin typeface="Microsoft Yi Baiti" panose="03000500000000000000" pitchFamily="66" charset="0"/>
                <a:ea typeface="Microsoft Yi Baiti" panose="03000500000000000000" pitchFamily="66" charset="0"/>
              </a:rPr>
              <a:t> }</a:t>
            </a:r>
          </a:p>
          <a:p>
            <a:r>
              <a:rPr lang="en-IN" sz="2000" dirty="0">
                <a:solidFill>
                  <a:srgbClr val="000066"/>
                </a:solidFill>
                <a:latin typeface="Microsoft Yi Baiti" panose="03000500000000000000" pitchFamily="66" charset="0"/>
                <a:ea typeface="Microsoft Yi Baiti" panose="03000500000000000000" pitchFamily="66" charset="0"/>
              </a:rPr>
              <a:t> </a:t>
            </a:r>
            <a:r>
              <a:rPr lang="en-IN" sz="2000" dirty="0" err="1">
                <a:solidFill>
                  <a:srgbClr val="FF0000"/>
                </a:solidFill>
                <a:latin typeface="Microsoft Yi Baiti" panose="03000500000000000000" pitchFamily="66" charset="0"/>
                <a:ea typeface="Microsoft Yi Baiti" panose="03000500000000000000" pitchFamily="66" charset="0"/>
              </a:rPr>
              <a:t>this.display</a:t>
            </a:r>
            <a:r>
              <a:rPr lang="en-IN" sz="2000" dirty="0">
                <a:solidFill>
                  <a:srgbClr val="FF0000"/>
                </a:solidFill>
                <a:latin typeface="Microsoft Yi Baiti" panose="03000500000000000000" pitchFamily="66" charset="0"/>
                <a:ea typeface="Microsoft Yi Baiti" panose="03000500000000000000" pitchFamily="66" charset="0"/>
              </a:rPr>
              <a:t> = </a:t>
            </a:r>
            <a:r>
              <a:rPr lang="en-IN" sz="2000" dirty="0" err="1">
                <a:solidFill>
                  <a:srgbClr val="FF0000"/>
                </a:solidFill>
                <a:latin typeface="Microsoft Yi Baiti" panose="03000500000000000000" pitchFamily="66" charset="0"/>
                <a:ea typeface="Microsoft Yi Baiti" panose="03000500000000000000" pitchFamily="66" charset="0"/>
              </a:rPr>
              <a:t>display_car</a:t>
            </a:r>
            <a:r>
              <a:rPr lang="en-IN" sz="2000" dirty="0">
                <a:solidFill>
                  <a:srgbClr val="FF0000"/>
                </a:solidFill>
                <a:latin typeface="Microsoft Yi Baiti" panose="03000500000000000000" pitchFamily="66" charset="0"/>
                <a:ea typeface="Microsoft Yi Baiti" panose="03000500000000000000" pitchFamily="66" charset="0"/>
              </a:rPr>
              <a:t>;</a:t>
            </a:r>
          </a:p>
        </p:txBody>
      </p:sp>
    </p:spTree>
    <p:extLst>
      <p:ext uri="{BB962C8B-B14F-4D97-AF65-F5344CB8AC3E}">
        <p14:creationId xmlns:p14="http://schemas.microsoft.com/office/powerpoint/2010/main" val="111431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6140D75-E9AA-D515-496E-99D442D6AAD8}"/>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A98E51E0-13EE-3FC5-472E-D171A808C0B4}"/>
              </a:ext>
            </a:extLst>
          </p:cNvPr>
          <p:cNvSpPr txBox="1"/>
          <p:nvPr/>
        </p:nvSpPr>
        <p:spPr>
          <a:xfrm>
            <a:off x="528918" y="421341"/>
            <a:ext cx="11143129" cy="5816977"/>
          </a:xfrm>
          <a:prstGeom prst="rect">
            <a:avLst/>
          </a:prstGeom>
          <a:noFill/>
        </p:spPr>
        <p:txBody>
          <a:bodyPr wrap="square" rtlCol="0">
            <a:spAutoFit/>
          </a:bodyPr>
          <a:lstStyle/>
          <a:p>
            <a:r>
              <a:rPr lang="en-US" sz="2400" b="1" dirty="0"/>
              <a:t>12 Pattern Matching by Using Regular Expressions</a:t>
            </a:r>
          </a:p>
          <a:p>
            <a:endParaRPr lang="en-US" sz="2000" dirty="0"/>
          </a:p>
          <a:p>
            <a:pPr marL="342900" indent="-342900" algn="just">
              <a:buFont typeface="Arial" panose="020B0604020202020204" pitchFamily="34" charset="0"/>
              <a:buChar char="•"/>
            </a:pPr>
            <a:r>
              <a:rPr lang="en-US" sz="2000" dirty="0"/>
              <a:t>There are two approaches to pattern matching in JavaScript: one that is based on the methods of the </a:t>
            </a:r>
            <a:r>
              <a:rPr lang="en-US" sz="2000" dirty="0" err="1">
                <a:solidFill>
                  <a:srgbClr val="FF0000"/>
                </a:solidFill>
              </a:rPr>
              <a:t>RegExp</a:t>
            </a:r>
            <a:r>
              <a:rPr lang="en-US" sz="2000" dirty="0"/>
              <a:t> object and one that is based on methods of the </a:t>
            </a:r>
            <a:r>
              <a:rPr lang="en-US" sz="2000" dirty="0">
                <a:solidFill>
                  <a:srgbClr val="FF0000"/>
                </a:solidFill>
              </a:rPr>
              <a:t>String</a:t>
            </a:r>
            <a:r>
              <a:rPr lang="en-US" sz="2000" dirty="0"/>
              <a:t> object.</a:t>
            </a:r>
            <a:endParaRPr lang="en-IN" sz="2000" dirty="0"/>
          </a:p>
          <a:p>
            <a:pPr marL="342900" indent="-342900" algn="just">
              <a:buFont typeface="Arial" panose="020B0604020202020204" pitchFamily="34" charset="0"/>
              <a:buChar char="•"/>
            </a:pPr>
            <a:r>
              <a:rPr lang="en-US" sz="2000" dirty="0"/>
              <a:t>patterns are specified in a form that is based on regular expressions, which were developed to define members of a simple class of formal languages.</a:t>
            </a:r>
          </a:p>
          <a:p>
            <a:pPr marL="342900" indent="-342900" algn="just">
              <a:buFont typeface="Arial" panose="020B0604020202020204" pitchFamily="34" charset="0"/>
              <a:buChar char="•"/>
            </a:pPr>
            <a:r>
              <a:rPr lang="en-US" sz="2000" dirty="0"/>
              <a:t>Elaborate and complex patterns can be used to describe specific strings or categories of strings. </a:t>
            </a:r>
          </a:p>
          <a:p>
            <a:pPr marL="342900" indent="-342900" algn="just">
              <a:buFont typeface="Arial" panose="020B0604020202020204" pitchFamily="34" charset="0"/>
              <a:buChar char="•"/>
            </a:pPr>
            <a:r>
              <a:rPr lang="en-US" sz="2000" dirty="0"/>
              <a:t>Patterns, which are sent as parameters to the pattern matching methods, are </a:t>
            </a:r>
            <a:r>
              <a:rPr lang="en-US" sz="2000" dirty="0">
                <a:solidFill>
                  <a:srgbClr val="FF0000"/>
                </a:solidFill>
              </a:rPr>
              <a:t>delimited with slashes</a:t>
            </a:r>
            <a:r>
              <a:rPr lang="en-US" sz="2000" dirty="0"/>
              <a:t>.</a:t>
            </a:r>
          </a:p>
          <a:p>
            <a:pPr marL="342900" indent="-342900" algn="just">
              <a:buFont typeface="Arial" panose="020B0604020202020204" pitchFamily="34" charset="0"/>
              <a:buChar char="•"/>
            </a:pPr>
            <a:r>
              <a:rPr lang="en-US" sz="2000" dirty="0"/>
              <a:t>The simplest pattern-matching method is </a:t>
            </a:r>
            <a:r>
              <a:rPr lang="en-US" sz="2000" dirty="0">
                <a:solidFill>
                  <a:srgbClr val="FF0000"/>
                </a:solidFill>
              </a:rPr>
              <a:t>search</a:t>
            </a:r>
            <a:r>
              <a:rPr lang="en-US" sz="2000" dirty="0"/>
              <a:t>, which takes a pattern as a parameter.</a:t>
            </a:r>
          </a:p>
          <a:p>
            <a:pPr marL="342900" indent="-342900" algn="just">
              <a:buFont typeface="Arial" panose="020B0604020202020204" pitchFamily="34" charset="0"/>
              <a:buChar char="•"/>
            </a:pPr>
            <a:r>
              <a:rPr lang="en-US" sz="2000" dirty="0"/>
              <a:t>The search method </a:t>
            </a:r>
            <a:r>
              <a:rPr lang="en-US" sz="2000" dirty="0">
                <a:solidFill>
                  <a:srgbClr val="FF0000"/>
                </a:solidFill>
              </a:rPr>
              <a:t>returns the position </a:t>
            </a:r>
            <a:r>
              <a:rPr lang="en-US" sz="2000" dirty="0"/>
              <a:t>in the String object at which the pattern matched.</a:t>
            </a:r>
          </a:p>
          <a:p>
            <a:pPr marL="342900" indent="-342900" algn="just">
              <a:buFont typeface="Arial" panose="020B0604020202020204" pitchFamily="34" charset="0"/>
              <a:buChar char="•"/>
            </a:pPr>
            <a:r>
              <a:rPr lang="en-US" sz="2000" dirty="0"/>
              <a:t>If there is no match, search returns –1. </a:t>
            </a:r>
          </a:p>
          <a:p>
            <a:pPr lvl="2" algn="just"/>
            <a:r>
              <a:rPr lang="en-IN" sz="1600" dirty="0">
                <a:solidFill>
                  <a:srgbClr val="FF0000"/>
                </a:solidFill>
              </a:rPr>
              <a:t>var str = "Rabbits are furry";</a:t>
            </a:r>
          </a:p>
          <a:p>
            <a:pPr lvl="2" algn="just"/>
            <a:r>
              <a:rPr lang="en-IN" sz="1600" dirty="0">
                <a:solidFill>
                  <a:srgbClr val="FF0000"/>
                </a:solidFill>
              </a:rPr>
              <a:t>var position = </a:t>
            </a:r>
            <a:r>
              <a:rPr lang="en-IN" sz="1600" dirty="0" err="1">
                <a:solidFill>
                  <a:srgbClr val="FF0000"/>
                </a:solidFill>
              </a:rPr>
              <a:t>str.search</a:t>
            </a:r>
            <a:r>
              <a:rPr lang="en-IN" sz="1600" dirty="0">
                <a:solidFill>
                  <a:srgbClr val="FF0000"/>
                </a:solidFill>
              </a:rPr>
              <a:t>(/bits/);</a:t>
            </a:r>
          </a:p>
          <a:p>
            <a:pPr lvl="2" algn="just"/>
            <a:r>
              <a:rPr lang="en-IN" sz="1600" dirty="0">
                <a:solidFill>
                  <a:srgbClr val="FF0000"/>
                </a:solidFill>
              </a:rPr>
              <a:t>if (position &gt;= 0)</a:t>
            </a:r>
          </a:p>
          <a:p>
            <a:pPr lvl="2" algn="just"/>
            <a:r>
              <a:rPr lang="en-IN" sz="1600" dirty="0">
                <a:solidFill>
                  <a:srgbClr val="FF0000"/>
                </a:solidFill>
              </a:rPr>
              <a:t>    	</a:t>
            </a:r>
            <a:r>
              <a:rPr lang="en-IN" sz="1600" dirty="0" err="1">
                <a:solidFill>
                  <a:srgbClr val="FF0000"/>
                </a:solidFill>
              </a:rPr>
              <a:t>document.write</a:t>
            </a:r>
            <a:r>
              <a:rPr lang="en-IN" sz="1600" dirty="0">
                <a:solidFill>
                  <a:srgbClr val="FF0000"/>
                </a:solidFill>
              </a:rPr>
              <a:t>("'bits' appears in position", position,"&lt;</a:t>
            </a:r>
            <a:r>
              <a:rPr lang="en-IN" sz="1600" dirty="0" err="1">
                <a:solidFill>
                  <a:srgbClr val="FF0000"/>
                </a:solidFill>
              </a:rPr>
              <a:t>br</a:t>
            </a:r>
            <a:r>
              <a:rPr lang="en-IN" sz="1600" dirty="0">
                <a:solidFill>
                  <a:srgbClr val="FF0000"/>
                </a:solidFill>
              </a:rPr>
              <a:t> /&gt;");</a:t>
            </a:r>
          </a:p>
          <a:p>
            <a:pPr lvl="2" algn="just"/>
            <a:r>
              <a:rPr lang="en-IN" sz="1600" dirty="0">
                <a:solidFill>
                  <a:srgbClr val="FF0000"/>
                </a:solidFill>
              </a:rPr>
              <a:t>else</a:t>
            </a:r>
          </a:p>
          <a:p>
            <a:pPr lvl="2" algn="just"/>
            <a:r>
              <a:rPr lang="en-IN" sz="1600" dirty="0">
                <a:solidFill>
                  <a:srgbClr val="FF0000"/>
                </a:solidFill>
              </a:rPr>
              <a:t>    	</a:t>
            </a:r>
            <a:r>
              <a:rPr lang="en-IN" sz="1600" dirty="0" err="1">
                <a:solidFill>
                  <a:srgbClr val="FF0000"/>
                </a:solidFill>
              </a:rPr>
              <a:t>document.write</a:t>
            </a:r>
            <a:r>
              <a:rPr lang="en-IN" sz="1600" dirty="0">
                <a:solidFill>
                  <a:srgbClr val="FF0000"/>
                </a:solidFill>
              </a:rPr>
              <a:t>("'bits' does not appear in str &lt;</a:t>
            </a:r>
            <a:r>
              <a:rPr lang="en-IN" sz="1600" dirty="0" err="1">
                <a:solidFill>
                  <a:srgbClr val="FF0000"/>
                </a:solidFill>
              </a:rPr>
              <a:t>br</a:t>
            </a:r>
            <a:r>
              <a:rPr lang="en-IN" sz="1600" dirty="0">
                <a:solidFill>
                  <a:srgbClr val="FF0000"/>
                </a:solidFill>
              </a:rPr>
              <a:t> /&gt;");</a:t>
            </a:r>
          </a:p>
          <a:p>
            <a:pPr algn="just"/>
            <a:r>
              <a:rPr lang="en-IN" sz="1600" dirty="0">
                <a:solidFill>
                  <a:srgbClr val="00B0F0"/>
                </a:solidFill>
              </a:rPr>
              <a:t>Ans:</a:t>
            </a:r>
          </a:p>
          <a:p>
            <a:pPr algn="just"/>
            <a:r>
              <a:rPr lang="en-IN" sz="1600" dirty="0">
                <a:solidFill>
                  <a:srgbClr val="00B0F0"/>
                </a:solidFill>
              </a:rPr>
              <a:t>	</a:t>
            </a:r>
            <a:r>
              <a:rPr lang="en-US" sz="1600" dirty="0">
                <a:solidFill>
                  <a:srgbClr val="00B0F0"/>
                </a:solidFill>
              </a:rPr>
              <a:t>'bits' appears in position 3</a:t>
            </a:r>
            <a:endParaRPr lang="en-IN" sz="1600" dirty="0">
              <a:solidFill>
                <a:srgbClr val="00B0F0"/>
              </a:solidFill>
            </a:endParaRPr>
          </a:p>
        </p:txBody>
      </p:sp>
    </p:spTree>
    <p:extLst>
      <p:ext uri="{BB962C8B-B14F-4D97-AF65-F5344CB8AC3E}">
        <p14:creationId xmlns:p14="http://schemas.microsoft.com/office/powerpoint/2010/main" val="2362887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6DEE6B8-5934-2BF2-AB78-1CB11466B75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3E47658-1D4D-5015-B799-6EC2331C93B0}"/>
              </a:ext>
            </a:extLst>
          </p:cNvPr>
          <p:cNvSpPr txBox="1"/>
          <p:nvPr/>
        </p:nvSpPr>
        <p:spPr>
          <a:xfrm>
            <a:off x="528918" y="421341"/>
            <a:ext cx="11143129" cy="5693866"/>
          </a:xfrm>
          <a:prstGeom prst="rect">
            <a:avLst/>
          </a:prstGeom>
          <a:noFill/>
        </p:spPr>
        <p:txBody>
          <a:bodyPr wrap="square" rtlCol="0">
            <a:spAutoFit/>
          </a:bodyPr>
          <a:lstStyle/>
          <a:p>
            <a:r>
              <a:rPr lang="en-US" sz="2400" b="1" dirty="0"/>
              <a:t>12.1 Character and Character-Class Patterns</a:t>
            </a:r>
          </a:p>
          <a:p>
            <a:endParaRPr lang="en-US" sz="2000" dirty="0"/>
          </a:p>
          <a:p>
            <a:pPr marL="342900" indent="-342900">
              <a:buFont typeface="Arial" panose="020B0604020202020204" pitchFamily="34" charset="0"/>
              <a:buChar char="•"/>
            </a:pPr>
            <a:r>
              <a:rPr lang="en-US" sz="2000" dirty="0"/>
              <a:t>Metacharacters are characters that have special meanings in some contexts in patterns.</a:t>
            </a:r>
          </a:p>
          <a:p>
            <a:r>
              <a:rPr lang="en-US" sz="2000" dirty="0"/>
              <a:t>	</a:t>
            </a:r>
            <a:r>
              <a:rPr lang="en-IN" sz="2000" dirty="0">
                <a:solidFill>
                  <a:srgbClr val="FF0000"/>
                </a:solidFill>
              </a:rPr>
              <a:t>\ | ( ) [ ] { } ^ $ * + ? </a:t>
            </a:r>
            <a:r>
              <a:rPr lang="en-IN"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Metacharacters can themselves be matched by being immediately preceded by a backslash.</a:t>
            </a:r>
          </a:p>
          <a:p>
            <a:pPr marL="342900" indent="-342900">
              <a:buFont typeface="Arial" panose="020B0604020202020204" pitchFamily="34" charset="0"/>
              <a:buChar char="•"/>
            </a:pPr>
            <a:r>
              <a:rPr lang="en-US" sz="2000" dirty="0"/>
              <a:t>A period matches any character except newline. So, the following pattern matches "snowy", "</a:t>
            </a:r>
            <a:r>
              <a:rPr lang="en-US" sz="2000" dirty="0" err="1"/>
              <a:t>snowe</a:t>
            </a:r>
            <a:r>
              <a:rPr lang="en-US" sz="2000" dirty="0"/>
              <a:t>", and "</a:t>
            </a:r>
            <a:r>
              <a:rPr lang="en-US" sz="2000" dirty="0" err="1"/>
              <a:t>snowd</a:t>
            </a:r>
            <a:r>
              <a:rPr lang="en-US" sz="2000" dirty="0"/>
              <a:t>", among others:</a:t>
            </a:r>
          </a:p>
          <a:p>
            <a:r>
              <a:rPr lang="en-US" sz="2000" dirty="0"/>
              <a:t>	</a:t>
            </a:r>
            <a:r>
              <a:rPr lang="en-IN" sz="2000" dirty="0">
                <a:solidFill>
                  <a:srgbClr val="FF0000"/>
                </a:solidFill>
              </a:rPr>
              <a:t>/snow./</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To match a period in a string, the period must be preceded by a backslash in the pattern. For example, the pattern </a:t>
            </a:r>
            <a:r>
              <a:rPr lang="en-US" sz="2000" dirty="0">
                <a:solidFill>
                  <a:srgbClr val="FF0000"/>
                </a:solidFill>
              </a:rPr>
              <a:t>/3\.4/ </a:t>
            </a:r>
            <a:r>
              <a:rPr lang="en-US" sz="2000" dirty="0"/>
              <a:t>matches </a:t>
            </a:r>
            <a:r>
              <a:rPr lang="en-US" sz="2000" dirty="0">
                <a:solidFill>
                  <a:srgbClr val="FF0000"/>
                </a:solidFill>
              </a:rPr>
              <a:t>3.4</a:t>
            </a:r>
            <a:r>
              <a:rPr lang="en-US" sz="2000" dirty="0"/>
              <a:t>. The pattern </a:t>
            </a:r>
            <a:r>
              <a:rPr lang="en-US" sz="2000" dirty="0">
                <a:solidFill>
                  <a:srgbClr val="FF0000"/>
                </a:solidFill>
              </a:rPr>
              <a:t>/ 3.4/ </a:t>
            </a:r>
            <a:r>
              <a:rPr lang="en-US" sz="2000" dirty="0"/>
              <a:t>matches </a:t>
            </a:r>
            <a:r>
              <a:rPr lang="en-US" sz="2000" dirty="0">
                <a:solidFill>
                  <a:srgbClr val="FF0000"/>
                </a:solidFill>
              </a:rPr>
              <a:t>3.4</a:t>
            </a:r>
            <a:r>
              <a:rPr lang="en-US" sz="2000" dirty="0"/>
              <a:t> and </a:t>
            </a:r>
            <a:r>
              <a:rPr lang="en-US" sz="2000" dirty="0">
                <a:solidFill>
                  <a:srgbClr val="FF0000"/>
                </a:solidFill>
              </a:rPr>
              <a:t>374</a:t>
            </a:r>
            <a:r>
              <a:rPr lang="en-US" sz="2000" dirty="0"/>
              <a:t>, among others.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is often convenient to be able to specify classes of characters rather than individual characters. Such classes are defined by placing the desired characters in brackets.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Example: 	</a:t>
            </a:r>
            <a:r>
              <a:rPr lang="en-IN" sz="2000" dirty="0">
                <a:solidFill>
                  <a:srgbClr val="FF0000"/>
                </a:solidFill>
              </a:rPr>
              <a:t>[</a:t>
            </a:r>
            <a:r>
              <a:rPr lang="en-IN" sz="2000" dirty="0" err="1">
                <a:solidFill>
                  <a:srgbClr val="FF0000"/>
                </a:solidFill>
              </a:rPr>
              <a:t>abc</a:t>
            </a:r>
            <a:r>
              <a:rPr lang="en-IN" sz="2000" dirty="0">
                <a:solidFill>
                  <a:srgbClr val="FF0000"/>
                </a:solidFill>
              </a:rPr>
              <a:t>] </a:t>
            </a:r>
          </a:p>
          <a:p>
            <a:pPr lvl="3" algn="just"/>
            <a:r>
              <a:rPr lang="en-IN" sz="2000" dirty="0"/>
              <a:t>	</a:t>
            </a:r>
            <a:r>
              <a:rPr lang="en-IN" sz="2000" dirty="0">
                <a:solidFill>
                  <a:srgbClr val="FF0000"/>
                </a:solidFill>
              </a:rPr>
              <a:t>[a-h]</a:t>
            </a:r>
          </a:p>
        </p:txBody>
      </p:sp>
    </p:spTree>
    <p:extLst>
      <p:ext uri="{BB962C8B-B14F-4D97-AF65-F5344CB8AC3E}">
        <p14:creationId xmlns:p14="http://schemas.microsoft.com/office/powerpoint/2010/main" val="594328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6F63147-72D3-6485-47B7-1A9B1CC6EF21}"/>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5C380DD-112B-B76C-D776-F8C33BC04641}"/>
              </a:ext>
            </a:extLst>
          </p:cNvPr>
          <p:cNvSpPr txBox="1"/>
          <p:nvPr/>
        </p:nvSpPr>
        <p:spPr>
          <a:xfrm>
            <a:off x="528918" y="421341"/>
            <a:ext cx="11143129" cy="5693866"/>
          </a:xfrm>
          <a:prstGeom prst="rect">
            <a:avLst/>
          </a:prstGeom>
          <a:noFill/>
        </p:spPr>
        <p:txBody>
          <a:bodyPr wrap="square" rtlCol="0">
            <a:spAutoFit/>
          </a:bodyPr>
          <a:lstStyle/>
          <a:p>
            <a:endParaRPr lang="en-US" sz="2400" dirty="0"/>
          </a:p>
          <a:p>
            <a:endParaRPr lang="en-US" sz="2000" dirty="0"/>
          </a:p>
          <a:p>
            <a:pPr marL="342900" indent="-342900">
              <a:buFont typeface="Arial" panose="020B0604020202020204" pitchFamily="34" charset="0"/>
              <a:buChar char="•"/>
            </a:pPr>
            <a:r>
              <a:rPr lang="en-US" sz="2000" dirty="0"/>
              <a:t>If a circumflex character (^) is the first character in a class, it inverts the specified set.</a:t>
            </a:r>
            <a:endParaRPr lang="en-IN" sz="2000" dirty="0"/>
          </a:p>
          <a:p>
            <a:r>
              <a:rPr lang="en-IN" sz="2000" dirty="0"/>
              <a:t>	</a:t>
            </a:r>
            <a:r>
              <a:rPr lang="en-IN" sz="2000" dirty="0">
                <a:solidFill>
                  <a:srgbClr val="FF0000"/>
                </a:solidFill>
              </a:rPr>
              <a:t>[^</a:t>
            </a:r>
            <a:r>
              <a:rPr lang="en-IN" sz="2000" dirty="0" err="1">
                <a:solidFill>
                  <a:srgbClr val="FF0000"/>
                </a:solidFill>
              </a:rPr>
              <a:t>aeiou</a:t>
            </a:r>
            <a:r>
              <a:rPr lang="en-IN" sz="2000" dirty="0">
                <a:solidFill>
                  <a:srgbClr val="FF0000"/>
                </a:solidFill>
              </a:rPr>
              <a:t>]</a:t>
            </a:r>
          </a:p>
          <a:p>
            <a:pPr marL="342900" indent="-342900">
              <a:buFont typeface="Arial" panose="020B0604020202020204" pitchFamily="34" charset="0"/>
              <a:buChar char="•"/>
            </a:pPr>
            <a:r>
              <a:rPr lang="en-US" sz="2000" dirty="0"/>
              <a:t>some character classes are predefined and named and can be specified by their names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lvl="1"/>
            <a:r>
              <a:rPr lang="en-US" sz="2000" dirty="0"/>
              <a:t> </a:t>
            </a:r>
          </a:p>
          <a:p>
            <a:pPr lvl="1"/>
            <a:r>
              <a:rPr lang="en-US" sz="2000" dirty="0">
                <a:solidFill>
                  <a:srgbClr val="FF0000"/>
                </a:solidFill>
                <a:latin typeface="Microsoft Yi Baiti" panose="03000500000000000000" pitchFamily="66" charset="0"/>
                <a:ea typeface="Microsoft Yi Baiti" panose="03000500000000000000" pitchFamily="66" charset="0"/>
              </a:rPr>
              <a:t>	/\d\.\d\d/    // Matches a digit, followed by a period, followed by two digits</a:t>
            </a:r>
          </a:p>
          <a:p>
            <a:pPr lvl="1"/>
            <a:r>
              <a:rPr lang="en-US" sz="2000" dirty="0">
                <a:solidFill>
                  <a:srgbClr val="FF0000"/>
                </a:solidFill>
                <a:latin typeface="Microsoft Yi Baiti" panose="03000500000000000000" pitchFamily="66" charset="0"/>
                <a:ea typeface="Microsoft Yi Baiti" panose="03000500000000000000" pitchFamily="66" charset="0"/>
              </a:rPr>
              <a:t> 	/\D\d\D/      // Matches a single digit</a:t>
            </a:r>
          </a:p>
          <a:p>
            <a:pPr lvl="1"/>
            <a:r>
              <a:rPr lang="en-US" sz="2000" dirty="0">
                <a:solidFill>
                  <a:srgbClr val="FF0000"/>
                </a:solidFill>
                <a:latin typeface="Microsoft Yi Baiti" panose="03000500000000000000" pitchFamily="66" charset="0"/>
                <a:ea typeface="Microsoft Yi Baiti" panose="03000500000000000000" pitchFamily="66" charset="0"/>
              </a:rPr>
              <a:t> 	/\w\w\w/      // Matches three adjacent word characters</a:t>
            </a:r>
          </a:p>
          <a:p>
            <a:endParaRPr lang="en-IN" sz="2000" dirty="0"/>
          </a:p>
        </p:txBody>
      </p:sp>
      <p:pic>
        <p:nvPicPr>
          <p:cNvPr id="4" name="Picture 3">
            <a:extLst>
              <a:ext uri="{FF2B5EF4-FFF2-40B4-BE49-F238E27FC236}">
                <a16:creationId xmlns="" xmlns:a16="http://schemas.microsoft.com/office/drawing/2014/main" id="{DA46AB25-6FF5-EEBB-E315-8CD2229D2496}"/>
              </a:ext>
            </a:extLst>
          </p:cNvPr>
          <p:cNvPicPr>
            <a:picLocks noChangeAspect="1"/>
          </p:cNvPicPr>
          <p:nvPr/>
        </p:nvPicPr>
        <p:blipFill>
          <a:blip r:embed="rId2"/>
          <a:stretch>
            <a:fillRect/>
          </a:stretch>
        </p:blipFill>
        <p:spPr>
          <a:xfrm>
            <a:off x="2690401" y="2197425"/>
            <a:ext cx="5896798" cy="2238687"/>
          </a:xfrm>
          <a:prstGeom prst="rect">
            <a:avLst/>
          </a:prstGeom>
        </p:spPr>
      </p:pic>
    </p:spTree>
    <p:extLst>
      <p:ext uri="{BB962C8B-B14F-4D97-AF65-F5344CB8AC3E}">
        <p14:creationId xmlns:p14="http://schemas.microsoft.com/office/powerpoint/2010/main" val="59927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2B5AB80-AFCE-C796-9DAE-E561A5B881C7}"/>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DA0C5509-6A55-8395-FACA-FAB5FD3202D1}"/>
              </a:ext>
            </a:extLst>
          </p:cNvPr>
          <p:cNvSpPr txBox="1"/>
          <p:nvPr/>
        </p:nvSpPr>
        <p:spPr>
          <a:xfrm>
            <a:off x="528918" y="421341"/>
            <a:ext cx="11143129" cy="5324535"/>
          </a:xfrm>
          <a:prstGeom prst="rect">
            <a:avLst/>
          </a:prstGeom>
          <a:noFill/>
        </p:spPr>
        <p:txBody>
          <a:bodyPr wrap="square" rtlCol="0">
            <a:spAutoFit/>
          </a:bodyPr>
          <a:lstStyle/>
          <a:p>
            <a:endParaRPr lang="en-US" sz="2000" dirty="0"/>
          </a:p>
          <a:p>
            <a:r>
              <a:rPr lang="en-IN" sz="2000" dirty="0"/>
              <a:t>	/</a:t>
            </a:r>
            <a:r>
              <a:rPr lang="en-IN" sz="2000" dirty="0" err="1"/>
              <a:t>xy</a:t>
            </a:r>
            <a:r>
              <a:rPr lang="en-IN" sz="2000" dirty="0"/>
              <a:t>{4}z/ - matches </a:t>
            </a:r>
            <a:r>
              <a:rPr lang="en-IN" sz="2000" dirty="0" err="1"/>
              <a:t>xyyyyz</a:t>
            </a:r>
            <a:endParaRPr lang="en-IN" sz="2000" dirty="0"/>
          </a:p>
          <a:p>
            <a:endParaRPr lang="en-IN" sz="2000" dirty="0"/>
          </a:p>
          <a:p>
            <a:pPr marL="342900" indent="-342900" algn="just">
              <a:buFont typeface="Arial" panose="020B0604020202020204" pitchFamily="34" charset="0"/>
              <a:buChar char="•"/>
            </a:pPr>
            <a:r>
              <a:rPr lang="en-US" sz="2000" dirty="0"/>
              <a:t>There are also three symbolic quantifiers: asterisk (*), plus (+), and question mark (?). </a:t>
            </a:r>
          </a:p>
          <a:p>
            <a:pPr marL="342900" indent="-342900" algn="just">
              <a:buFont typeface="Arial" panose="020B0604020202020204" pitchFamily="34" charset="0"/>
              <a:buChar char="•"/>
            </a:pPr>
            <a:r>
              <a:rPr lang="en-US" sz="2000" dirty="0"/>
              <a:t>An </a:t>
            </a:r>
            <a:r>
              <a:rPr lang="en-US" sz="2000" dirty="0">
                <a:solidFill>
                  <a:srgbClr val="FF0000"/>
                </a:solidFill>
              </a:rPr>
              <a:t>asterisk</a:t>
            </a:r>
            <a:r>
              <a:rPr lang="en-US" sz="2000" dirty="0"/>
              <a:t> means </a:t>
            </a:r>
            <a:r>
              <a:rPr lang="en-US" sz="2000" dirty="0">
                <a:solidFill>
                  <a:srgbClr val="FF0000"/>
                </a:solidFill>
              </a:rPr>
              <a:t>zero or more </a:t>
            </a:r>
            <a:r>
              <a:rPr lang="en-US" sz="2000" dirty="0"/>
              <a:t>repetitions, a </a:t>
            </a:r>
            <a:r>
              <a:rPr lang="en-US" sz="2000" dirty="0">
                <a:solidFill>
                  <a:srgbClr val="FF0000"/>
                </a:solidFill>
              </a:rPr>
              <a:t>plus</a:t>
            </a:r>
            <a:r>
              <a:rPr lang="en-US" sz="2000" dirty="0"/>
              <a:t> sign means </a:t>
            </a:r>
            <a:r>
              <a:rPr lang="en-US" sz="2000" dirty="0">
                <a:solidFill>
                  <a:srgbClr val="FF0000"/>
                </a:solidFill>
              </a:rPr>
              <a:t>one or more </a:t>
            </a:r>
            <a:r>
              <a:rPr lang="en-US" sz="2000" dirty="0"/>
              <a:t>repetitions, and a </a:t>
            </a:r>
            <a:r>
              <a:rPr lang="en-US" sz="2000" dirty="0">
                <a:solidFill>
                  <a:srgbClr val="FF0000"/>
                </a:solidFill>
              </a:rPr>
              <a:t>question</a:t>
            </a:r>
            <a:r>
              <a:rPr lang="en-US" sz="2000" dirty="0"/>
              <a:t> mark means </a:t>
            </a:r>
            <a:r>
              <a:rPr lang="en-US" sz="2000" dirty="0">
                <a:solidFill>
                  <a:srgbClr val="FF0000"/>
                </a:solidFill>
              </a:rPr>
              <a:t>one or none</a:t>
            </a:r>
            <a:r>
              <a:rPr lang="en-US" sz="2000" dirty="0"/>
              <a:t>.</a:t>
            </a:r>
          </a:p>
          <a:p>
            <a:pPr algn="just"/>
            <a:r>
              <a:rPr lang="en-US" sz="2000" dirty="0"/>
              <a:t>	</a:t>
            </a:r>
            <a:r>
              <a:rPr lang="en-IN" sz="2000" dirty="0"/>
              <a:t>/x*</a:t>
            </a:r>
            <a:r>
              <a:rPr lang="en-IN" sz="2000" dirty="0" err="1"/>
              <a:t>y+z</a:t>
            </a:r>
            <a:r>
              <a:rPr lang="en-IN" sz="2000" dirty="0"/>
              <a:t>?/</a:t>
            </a:r>
          </a:p>
          <a:p>
            <a:endParaRPr lang="en-IN" sz="2000" dirty="0"/>
          </a:p>
          <a:p>
            <a:pPr marL="342900" indent="-342900">
              <a:buFont typeface="Arial" panose="020B0604020202020204" pitchFamily="34" charset="0"/>
              <a:buChar char="•"/>
            </a:pPr>
            <a:r>
              <a:rPr lang="en-US" sz="2000" dirty="0"/>
              <a:t>The quantifiers are often used with the predefined character-class names</a:t>
            </a:r>
          </a:p>
          <a:p>
            <a:r>
              <a:rPr lang="en-US" sz="2000" dirty="0"/>
              <a:t>	</a:t>
            </a:r>
            <a:r>
              <a:rPr lang="en-IN" sz="2000" dirty="0">
                <a:solidFill>
                  <a:srgbClr val="FF0000"/>
                </a:solidFill>
              </a:rPr>
              <a:t>/\d+\.\d*/          </a:t>
            </a:r>
            <a:r>
              <a:rPr lang="en-IN" sz="2000" dirty="0"/>
              <a:t>- matches 99999.999</a:t>
            </a:r>
          </a:p>
          <a:p>
            <a:r>
              <a:rPr lang="en-IN" sz="2000" dirty="0"/>
              <a:t>	</a:t>
            </a:r>
            <a:r>
              <a:rPr lang="en-IN" sz="2000" dirty="0">
                <a:solidFill>
                  <a:srgbClr val="FF0000"/>
                </a:solidFill>
              </a:rPr>
              <a:t>/[A-Za-z]\w*/	</a:t>
            </a:r>
            <a:r>
              <a:rPr lang="en-IN" sz="2000" dirty="0"/>
              <a:t>- </a:t>
            </a:r>
            <a:r>
              <a:rPr lang="en-US" sz="2000" dirty="0"/>
              <a:t>matches the identifiers (a letter, followed by zero or more letters, digits, or 			  under scores)</a:t>
            </a:r>
            <a:endParaRPr lang="en-IN" sz="2000" dirty="0"/>
          </a:p>
          <a:p>
            <a:pPr marL="342900" indent="-342900" algn="just">
              <a:buFont typeface="Arial" panose="020B0604020202020204" pitchFamily="34" charset="0"/>
              <a:buChar char="•"/>
            </a:pPr>
            <a:r>
              <a:rPr lang="en-US" sz="2000" dirty="0"/>
              <a:t>There is one additional named pattern that is often useful: \b (boundary), which matches the boundary position between a word character (\w) and a non word character (\W), in either order.</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i="1" dirty="0"/>
              <a:t>"A tulip </a:t>
            </a:r>
            <a:r>
              <a:rPr lang="en-US" sz="2000" i="1" dirty="0">
                <a:solidFill>
                  <a:srgbClr val="FF0000"/>
                </a:solidFill>
              </a:rPr>
              <a:t>is</a:t>
            </a:r>
            <a:r>
              <a:rPr lang="en-US" sz="2000" i="1" dirty="0"/>
              <a:t> a flower" but not "A frog </a:t>
            </a:r>
            <a:r>
              <a:rPr lang="en-US" sz="2000" i="1" dirty="0">
                <a:solidFill>
                  <a:srgbClr val="FF0000"/>
                </a:solidFill>
              </a:rPr>
              <a:t>is</a:t>
            </a:r>
            <a:r>
              <a:rPr lang="en-US" sz="2000" i="1" dirty="0"/>
              <a:t>n’t”:</a:t>
            </a:r>
          </a:p>
          <a:p>
            <a:pPr marL="800100" lvl="1" indent="-342900" algn="just">
              <a:buFont typeface="Arial" panose="020B0604020202020204" pitchFamily="34" charset="0"/>
              <a:buChar char="•"/>
            </a:pPr>
            <a:r>
              <a:rPr lang="en-IN" sz="2000" i="1" dirty="0"/>
              <a:t>/\bis\b/</a:t>
            </a:r>
            <a:r>
              <a:rPr lang="en-IN" sz="2000" dirty="0"/>
              <a:t>		- recognize the is but isn’t is not recognized</a:t>
            </a:r>
          </a:p>
        </p:txBody>
      </p:sp>
    </p:spTree>
    <p:extLst>
      <p:ext uri="{BB962C8B-B14F-4D97-AF65-F5344CB8AC3E}">
        <p14:creationId xmlns:p14="http://schemas.microsoft.com/office/powerpoint/2010/main" val="2866983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8A4CE68-B09D-B7F6-B2B9-475E29D8EDE5}"/>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3DBA1076-96D4-2F46-271E-9B61B6817CA8}"/>
              </a:ext>
            </a:extLst>
          </p:cNvPr>
          <p:cNvSpPr txBox="1"/>
          <p:nvPr/>
        </p:nvSpPr>
        <p:spPr>
          <a:xfrm>
            <a:off x="528918" y="421341"/>
            <a:ext cx="11143129" cy="6001643"/>
          </a:xfrm>
          <a:prstGeom prst="rect">
            <a:avLst/>
          </a:prstGeom>
          <a:noFill/>
        </p:spPr>
        <p:txBody>
          <a:bodyPr wrap="square" rtlCol="0">
            <a:spAutoFit/>
          </a:bodyPr>
          <a:lstStyle/>
          <a:p>
            <a:r>
              <a:rPr lang="en-IN" sz="2400" b="1" dirty="0"/>
              <a:t>12.2 Anchors</a:t>
            </a:r>
          </a:p>
          <a:p>
            <a:endParaRPr lang="en-US" sz="2000" dirty="0"/>
          </a:p>
          <a:p>
            <a:pPr marL="342900" indent="-342900" algn="just">
              <a:buFont typeface="Arial" panose="020B0604020202020204" pitchFamily="34" charset="0"/>
              <a:buChar char="•"/>
            </a:pPr>
            <a:r>
              <a:rPr lang="en-US" sz="2000" dirty="0"/>
              <a:t>It is useful to be able to specify that a pattern must match at a particular position in a string i.e. </a:t>
            </a:r>
            <a:r>
              <a:rPr lang="en-US" sz="2000" dirty="0">
                <a:solidFill>
                  <a:srgbClr val="FF0000"/>
                </a:solidFill>
              </a:rPr>
              <a:t>first or last</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pattern can be specified to match only at the beginning of the string by preceding it with a circumflex (^) anchor.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the following pattern matches </a:t>
            </a:r>
            <a:r>
              <a:rPr lang="en-US" sz="2000" i="1" dirty="0">
                <a:solidFill>
                  <a:srgbClr val="FF0000"/>
                </a:solidFill>
              </a:rPr>
              <a:t>"pearls are pretty" </a:t>
            </a:r>
            <a:r>
              <a:rPr lang="en-US" sz="2000" dirty="0"/>
              <a:t>but does not match </a:t>
            </a:r>
            <a:r>
              <a:rPr lang="en-US" sz="2000" i="1" dirty="0">
                <a:solidFill>
                  <a:srgbClr val="FF0000"/>
                </a:solidFill>
              </a:rPr>
              <a:t>"My pearls are pretty“</a:t>
            </a:r>
          </a:p>
          <a:p>
            <a:endParaRPr lang="en-US" sz="2000" dirty="0"/>
          </a:p>
          <a:p>
            <a:r>
              <a:rPr lang="en-US" sz="2000" dirty="0"/>
              <a:t>	</a:t>
            </a:r>
            <a:r>
              <a:rPr lang="en-IN" sz="2000" i="1" dirty="0"/>
              <a:t>/^pearl/</a:t>
            </a:r>
            <a:endParaRPr lang="en-US" sz="2000" i="1" dirty="0"/>
          </a:p>
          <a:p>
            <a:pPr marL="342900" indent="-342900" algn="just">
              <a:buFont typeface="Arial" panose="020B0604020202020204" pitchFamily="34" charset="0"/>
              <a:buChar char="•"/>
            </a:pPr>
            <a:r>
              <a:rPr lang="en-US" sz="2000" dirty="0"/>
              <a:t>A pattern can be specified to match at the end of a string only by following the pattern with a dollar sign anchor.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the following pattern matches </a:t>
            </a:r>
            <a:r>
              <a:rPr lang="en-US" sz="2000" dirty="0">
                <a:solidFill>
                  <a:srgbClr val="FF0000"/>
                </a:solidFill>
              </a:rPr>
              <a:t>"I like gold" </a:t>
            </a:r>
            <a:r>
              <a:rPr lang="en-US" sz="2000" dirty="0"/>
              <a:t>but does not match </a:t>
            </a:r>
            <a:r>
              <a:rPr lang="en-US" sz="2000" dirty="0">
                <a:solidFill>
                  <a:srgbClr val="FF0000"/>
                </a:solidFill>
              </a:rPr>
              <a:t>"golden":</a:t>
            </a:r>
          </a:p>
          <a:p>
            <a:pPr algn="just"/>
            <a:endParaRPr lang="en-US" sz="2000" dirty="0"/>
          </a:p>
          <a:p>
            <a:pPr lvl="2" algn="just"/>
            <a:r>
              <a:rPr lang="en-IN" sz="2000" i="1" dirty="0"/>
              <a:t>/gold$/</a:t>
            </a:r>
          </a:p>
          <a:p>
            <a:endParaRPr lang="en-IN" sz="2000" dirty="0"/>
          </a:p>
        </p:txBody>
      </p:sp>
    </p:spTree>
    <p:extLst>
      <p:ext uri="{BB962C8B-B14F-4D97-AF65-F5344CB8AC3E}">
        <p14:creationId xmlns:p14="http://schemas.microsoft.com/office/powerpoint/2010/main" val="401484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05B0596-C747-1180-7910-81D6E397FB65}"/>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7F258028-3DDB-D60C-D0B0-68AEA0D48C6F}"/>
              </a:ext>
            </a:extLst>
          </p:cNvPr>
          <p:cNvSpPr txBox="1"/>
          <p:nvPr/>
        </p:nvSpPr>
        <p:spPr>
          <a:xfrm>
            <a:off x="524435" y="259976"/>
            <a:ext cx="11143129" cy="6001643"/>
          </a:xfrm>
          <a:prstGeom prst="rect">
            <a:avLst/>
          </a:prstGeom>
          <a:noFill/>
        </p:spPr>
        <p:txBody>
          <a:bodyPr wrap="square" rtlCol="0">
            <a:spAutoFit/>
          </a:bodyPr>
          <a:lstStyle/>
          <a:p>
            <a:r>
              <a:rPr lang="en-IN" sz="2400" b="1" dirty="0"/>
              <a:t>12.3 Pattern Modifiers</a:t>
            </a:r>
            <a:endParaRPr lang="en-US" sz="2400" b="1" dirty="0"/>
          </a:p>
          <a:p>
            <a:endParaRPr lang="en-US" sz="2000" dirty="0"/>
          </a:p>
          <a:p>
            <a:pPr marL="342900" indent="-342900" algn="just">
              <a:buFont typeface="Arial" panose="020B0604020202020204" pitchFamily="34" charset="0"/>
              <a:buChar char="•"/>
            </a:pPr>
            <a:r>
              <a:rPr lang="en-US" sz="2000" dirty="0"/>
              <a:t>Modifiers can be attached to patterns to change how they are used, thereby increasing their flexibility. The modifiers are specified as letters just after the right delimiter of the pattern.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err="1">
                <a:solidFill>
                  <a:srgbClr val="FF0000"/>
                </a:solidFill>
              </a:rPr>
              <a:t>i</a:t>
            </a:r>
            <a:r>
              <a:rPr lang="en-US" sz="2000" dirty="0"/>
              <a:t> modifier makes the letters in the pattern match either uppercase or lowercase letters in the string.</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For example, the pattern </a:t>
            </a:r>
            <a:r>
              <a:rPr lang="en-US" sz="2000" dirty="0">
                <a:solidFill>
                  <a:srgbClr val="FF0000"/>
                </a:solidFill>
              </a:rPr>
              <a:t>/Apple/</a:t>
            </a:r>
            <a:r>
              <a:rPr lang="en-US" sz="2000" dirty="0" err="1">
                <a:solidFill>
                  <a:srgbClr val="FF0000"/>
                </a:solidFill>
              </a:rPr>
              <a:t>i</a:t>
            </a:r>
            <a:r>
              <a:rPr lang="en-US" sz="2000" dirty="0">
                <a:solidFill>
                  <a:srgbClr val="FF0000"/>
                </a:solidFill>
              </a:rPr>
              <a:t> </a:t>
            </a:r>
            <a:r>
              <a:rPr lang="en-US" sz="2000" dirty="0"/>
              <a:t>matches ‘APPLE’, ‘apple’, ‘</a:t>
            </a:r>
            <a:r>
              <a:rPr lang="en-US" sz="2000" dirty="0" err="1"/>
              <a:t>APPle</a:t>
            </a:r>
            <a:r>
              <a:rPr lang="en-US" sz="2000" dirty="0"/>
              <a:t>’, and any other combination of uppercase and lowercase spellings of the word “apple.”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a:t>
            </a:r>
            <a:r>
              <a:rPr lang="en-US" sz="2000" dirty="0">
                <a:solidFill>
                  <a:srgbClr val="FF0000"/>
                </a:solidFill>
              </a:rPr>
              <a:t>x</a:t>
            </a:r>
            <a:r>
              <a:rPr lang="en-US" sz="2000" dirty="0"/>
              <a:t> modifier allows white space to appear in the pattern.</a:t>
            </a:r>
          </a:p>
          <a:p>
            <a:endParaRPr lang="en-US" sz="2000" dirty="0"/>
          </a:p>
          <a:p>
            <a:pPr lvl="2"/>
            <a:r>
              <a:rPr lang="en-US" sz="2000" dirty="0"/>
              <a:t> </a:t>
            </a:r>
            <a:r>
              <a:rPr lang="en-US" sz="2000" dirty="0">
                <a:latin typeface="Microsoft Yi Baiti" panose="03000500000000000000" pitchFamily="66" charset="0"/>
                <a:ea typeface="Microsoft Yi Baiti" panose="03000500000000000000" pitchFamily="66" charset="0"/>
              </a:rPr>
              <a:t>/\d+          # The street number</a:t>
            </a:r>
          </a:p>
          <a:p>
            <a:pPr lvl="2"/>
            <a:r>
              <a:rPr lang="en-US" sz="2000" dirty="0">
                <a:latin typeface="Microsoft Yi Baiti" panose="03000500000000000000" pitchFamily="66" charset="0"/>
                <a:ea typeface="Microsoft Yi Baiti" panose="03000500000000000000" pitchFamily="66" charset="0"/>
              </a:rPr>
              <a:t> \s            # The space before the street name</a:t>
            </a:r>
          </a:p>
          <a:p>
            <a:pPr lvl="2"/>
            <a:r>
              <a:rPr lang="en-US" sz="2000" dirty="0">
                <a:latin typeface="Microsoft Yi Baiti" panose="03000500000000000000" pitchFamily="66" charset="0"/>
                <a:ea typeface="Microsoft Yi Baiti" panose="03000500000000000000" pitchFamily="66" charset="0"/>
              </a:rPr>
              <a:t> [A-Z][a-z]+   # The street name</a:t>
            </a:r>
          </a:p>
          <a:p>
            <a:pPr lvl="2"/>
            <a:r>
              <a:rPr lang="en-US" sz="2000" dirty="0">
                <a:latin typeface="Microsoft Yi Baiti" panose="03000500000000000000" pitchFamily="66" charset="0"/>
                <a:ea typeface="Microsoft Yi Baiti" panose="03000500000000000000" pitchFamily="66" charset="0"/>
              </a:rPr>
              <a:t> /x</a:t>
            </a:r>
          </a:p>
          <a:p>
            <a:r>
              <a:rPr lang="en-IN" sz="2000" dirty="0"/>
              <a:t>is equivalent to </a:t>
            </a:r>
          </a:p>
          <a:p>
            <a:pPr lvl="2"/>
            <a:r>
              <a:rPr lang="en-IN" sz="2000" i="1" dirty="0">
                <a:solidFill>
                  <a:srgbClr val="FF0000"/>
                </a:solidFill>
              </a:rPr>
              <a:t>/\d+\s[A-Z][a-z]+/</a:t>
            </a:r>
            <a:endParaRPr lang="en-IN" sz="2000" i="1" dirty="0">
              <a:solidFill>
                <a:srgbClr val="FF0000"/>
              </a:solidFill>
              <a:latin typeface="Microsoft Yi Baiti" panose="03000500000000000000" pitchFamily="66" charset="0"/>
              <a:ea typeface="Microsoft Yi Baiti" panose="03000500000000000000" pitchFamily="66" charset="0"/>
            </a:endParaRPr>
          </a:p>
        </p:txBody>
      </p:sp>
    </p:spTree>
    <p:extLst>
      <p:ext uri="{BB962C8B-B14F-4D97-AF65-F5344CB8AC3E}">
        <p14:creationId xmlns:p14="http://schemas.microsoft.com/office/powerpoint/2010/main" val="1775678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FAD54E5-F5C5-72B9-8113-D1D37BCF1F66}"/>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E0F97D35-F69D-4AEE-9D54-9467DB6BB530}"/>
              </a:ext>
            </a:extLst>
          </p:cNvPr>
          <p:cNvSpPr txBox="1"/>
          <p:nvPr/>
        </p:nvSpPr>
        <p:spPr>
          <a:xfrm>
            <a:off x="528918" y="421341"/>
            <a:ext cx="11143129" cy="5693866"/>
          </a:xfrm>
          <a:prstGeom prst="rect">
            <a:avLst/>
          </a:prstGeom>
          <a:noFill/>
        </p:spPr>
        <p:txBody>
          <a:bodyPr wrap="square" rtlCol="0">
            <a:spAutoFit/>
          </a:bodyPr>
          <a:lstStyle/>
          <a:p>
            <a:r>
              <a:rPr lang="en-US" sz="2400" dirty="0"/>
              <a:t>12.4 Other Pattern-Matching Methods of </a:t>
            </a:r>
            <a:r>
              <a:rPr lang="en-US" sz="2400" i="1" dirty="0">
                <a:latin typeface="+mj-lt"/>
              </a:rPr>
              <a:t>String</a:t>
            </a:r>
          </a:p>
          <a:p>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replace</a:t>
            </a:r>
            <a:r>
              <a:rPr lang="en-US" sz="2000" dirty="0"/>
              <a:t> method is used to replace substrings of the </a:t>
            </a:r>
            <a:r>
              <a:rPr lang="en-US" sz="2000" dirty="0">
                <a:solidFill>
                  <a:srgbClr val="FF0000"/>
                </a:solidFill>
              </a:rPr>
              <a:t>String</a:t>
            </a:r>
            <a:r>
              <a:rPr lang="en-US" sz="2000" dirty="0"/>
              <a:t> object that match the given pattern.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replace</a:t>
            </a:r>
            <a:r>
              <a:rPr lang="en-US" sz="2000" dirty="0"/>
              <a:t> method takes two parameters: the </a:t>
            </a:r>
            <a:r>
              <a:rPr lang="en-US" sz="2000" dirty="0">
                <a:solidFill>
                  <a:srgbClr val="FF0000"/>
                </a:solidFill>
              </a:rPr>
              <a:t>pattern</a:t>
            </a:r>
            <a:r>
              <a:rPr lang="en-US" sz="2000" dirty="0"/>
              <a:t> and the </a:t>
            </a:r>
            <a:r>
              <a:rPr lang="en-US" sz="2000" dirty="0">
                <a:solidFill>
                  <a:srgbClr val="FF0000"/>
                </a:solidFill>
              </a:rPr>
              <a:t>replacement string</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a:t>
            </a:r>
            <a:r>
              <a:rPr lang="en-US" sz="2000" dirty="0">
                <a:solidFill>
                  <a:srgbClr val="FF0000"/>
                </a:solidFill>
              </a:rPr>
              <a:t>g</a:t>
            </a:r>
            <a:r>
              <a:rPr lang="en-US" sz="2000" dirty="0"/>
              <a:t> modifier can be attached to the pattern if the replacement is to be global in the string.</a:t>
            </a:r>
          </a:p>
          <a:p>
            <a:endParaRPr lang="en-US" sz="2000" dirty="0"/>
          </a:p>
          <a:p>
            <a:pPr lvl="2"/>
            <a:r>
              <a:rPr lang="en-IN" sz="2000" i="1" dirty="0">
                <a:solidFill>
                  <a:srgbClr val="7030A0"/>
                </a:solidFill>
                <a:latin typeface="Century" panose="02040604050505020304" pitchFamily="18" charset="0"/>
                <a:ea typeface="Microsoft Yi Baiti" panose="03000500000000000000" pitchFamily="66" charset="0"/>
              </a:rPr>
              <a:t>var str = "Fred, Freddie, and Frederica were siblings";</a:t>
            </a:r>
          </a:p>
          <a:p>
            <a:pPr lvl="2"/>
            <a:r>
              <a:rPr lang="en-IN" sz="2000" i="1" dirty="0" err="1">
                <a:solidFill>
                  <a:srgbClr val="7030A0"/>
                </a:solidFill>
                <a:latin typeface="Century" panose="02040604050505020304" pitchFamily="18" charset="0"/>
                <a:ea typeface="Microsoft Yi Baiti" panose="03000500000000000000" pitchFamily="66" charset="0"/>
              </a:rPr>
              <a:t>str.replace</a:t>
            </a:r>
            <a:r>
              <a:rPr lang="en-IN" sz="2000" i="1" dirty="0">
                <a:solidFill>
                  <a:srgbClr val="7030A0"/>
                </a:solidFill>
                <a:latin typeface="Century" panose="02040604050505020304" pitchFamily="18" charset="0"/>
                <a:ea typeface="Microsoft Yi Baiti" panose="03000500000000000000" pitchFamily="66" charset="0"/>
              </a:rPr>
              <a:t>(/Fre/g, "Boy");</a:t>
            </a:r>
          </a:p>
          <a:p>
            <a:pPr marL="342900" indent="-342900">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The </a:t>
            </a:r>
            <a:r>
              <a:rPr lang="en-US" sz="2000" dirty="0">
                <a:solidFill>
                  <a:srgbClr val="FF0000"/>
                </a:solidFill>
              </a:rPr>
              <a:t>match</a:t>
            </a:r>
            <a:r>
              <a:rPr lang="en-US" sz="2000" dirty="0"/>
              <a:t> method is the most general of the </a:t>
            </a:r>
            <a:r>
              <a:rPr lang="en-US" sz="2000" dirty="0">
                <a:solidFill>
                  <a:srgbClr val="FF0000"/>
                </a:solidFill>
              </a:rPr>
              <a:t>String</a:t>
            </a:r>
            <a:r>
              <a:rPr lang="en-US" sz="2000" dirty="0"/>
              <a:t> pattern-matching methods. </a:t>
            </a:r>
          </a:p>
          <a:p>
            <a:pPr marL="342900" indent="-342900" algn="just">
              <a:buFont typeface="Arial" panose="020B0604020202020204" pitchFamily="34" charset="0"/>
              <a:buChar char="•"/>
            </a:pPr>
            <a:r>
              <a:rPr lang="en-US" sz="2000" dirty="0"/>
              <a:t>The match method takes a single parameter: a </a:t>
            </a:r>
            <a:r>
              <a:rPr lang="en-US" sz="2000" dirty="0">
                <a:solidFill>
                  <a:srgbClr val="FF0000"/>
                </a:solidFill>
              </a:rPr>
              <a:t>pattern</a:t>
            </a:r>
            <a:r>
              <a:rPr lang="en-US" sz="2000" dirty="0"/>
              <a:t>. It returns an array of the results of the pattern-matching operation. </a:t>
            </a:r>
          </a:p>
          <a:p>
            <a:pPr marL="342900" indent="-342900" algn="just">
              <a:buFont typeface="Arial" panose="020B0604020202020204" pitchFamily="34" charset="0"/>
              <a:buChar char="•"/>
            </a:pPr>
            <a:endParaRPr lang="en-US" sz="2000" dirty="0"/>
          </a:p>
          <a:p>
            <a:pPr lvl="2" algn="just"/>
            <a:r>
              <a:rPr lang="en-US" sz="2000" i="1" dirty="0">
                <a:solidFill>
                  <a:srgbClr val="7030A0"/>
                </a:solidFill>
                <a:latin typeface="Century" panose="02040604050505020304" pitchFamily="18" charset="0"/>
              </a:rPr>
              <a:t>var str = "Having 4 apples is better than having 3 oranges";</a:t>
            </a:r>
          </a:p>
          <a:p>
            <a:pPr lvl="2" algn="just"/>
            <a:r>
              <a:rPr lang="en-US" sz="2000" i="1" dirty="0">
                <a:solidFill>
                  <a:srgbClr val="7030A0"/>
                </a:solidFill>
                <a:latin typeface="Century" panose="02040604050505020304" pitchFamily="18" charset="0"/>
              </a:rPr>
              <a:t>var matches = </a:t>
            </a:r>
            <a:r>
              <a:rPr lang="en-US" sz="2000" i="1" dirty="0" err="1">
                <a:solidFill>
                  <a:srgbClr val="7030A0"/>
                </a:solidFill>
                <a:latin typeface="Century" panose="02040604050505020304" pitchFamily="18" charset="0"/>
              </a:rPr>
              <a:t>str.match</a:t>
            </a:r>
            <a:r>
              <a:rPr lang="en-US" sz="2000" i="1" dirty="0">
                <a:solidFill>
                  <a:srgbClr val="7030A0"/>
                </a:solidFill>
                <a:latin typeface="Century" panose="02040604050505020304" pitchFamily="18" charset="0"/>
              </a:rPr>
              <a:t>(/\d/g);</a:t>
            </a:r>
          </a:p>
          <a:p>
            <a:pPr lvl="2" algn="just"/>
            <a:r>
              <a:rPr lang="en-US" sz="2000" dirty="0"/>
              <a:t>In this example, </a:t>
            </a:r>
            <a:r>
              <a:rPr lang="en-US" sz="2000" dirty="0">
                <a:solidFill>
                  <a:srgbClr val="FF0000"/>
                </a:solidFill>
              </a:rPr>
              <a:t>matches</a:t>
            </a:r>
            <a:r>
              <a:rPr lang="en-US" sz="2000" dirty="0"/>
              <a:t> is set to [4, 3].</a:t>
            </a:r>
            <a:endParaRPr lang="en-IN" sz="2000" dirty="0"/>
          </a:p>
        </p:txBody>
      </p:sp>
    </p:spTree>
    <p:extLst>
      <p:ext uri="{BB962C8B-B14F-4D97-AF65-F5344CB8AC3E}">
        <p14:creationId xmlns:p14="http://schemas.microsoft.com/office/powerpoint/2010/main" val="121607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191A219-5373-DACC-4465-8C5EC2CD0B5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89086327-EA74-7547-262C-01F4417FFBBC}"/>
              </a:ext>
            </a:extLst>
          </p:cNvPr>
          <p:cNvSpPr txBox="1"/>
          <p:nvPr/>
        </p:nvSpPr>
        <p:spPr>
          <a:xfrm>
            <a:off x="528918" y="421341"/>
            <a:ext cx="11143129" cy="2862322"/>
          </a:xfrm>
          <a:prstGeom prst="rect">
            <a:avLst/>
          </a:prstGeom>
          <a:noFill/>
        </p:spPr>
        <p:txBody>
          <a:bodyPr wrap="square" rtlCol="0">
            <a:spAutoFit/>
          </a:bodyPr>
          <a:lstStyle/>
          <a:p>
            <a:endParaRPr lang="en-US" sz="2000" dirty="0"/>
          </a:p>
          <a:p>
            <a:r>
              <a:rPr lang="en-US" sz="2000" dirty="0"/>
              <a:t>The </a:t>
            </a:r>
            <a:r>
              <a:rPr lang="en-US" sz="2000" dirty="0">
                <a:solidFill>
                  <a:srgbClr val="FF0000"/>
                </a:solidFill>
              </a:rPr>
              <a:t>split</a:t>
            </a:r>
            <a:r>
              <a:rPr lang="en-US" sz="2000" dirty="0"/>
              <a:t> method of </a:t>
            </a:r>
            <a:r>
              <a:rPr lang="en-US" sz="2000" dirty="0">
                <a:solidFill>
                  <a:srgbClr val="FF0000"/>
                </a:solidFill>
              </a:rPr>
              <a:t>String</a:t>
            </a:r>
            <a:r>
              <a:rPr lang="en-US" sz="2000" dirty="0"/>
              <a:t> splits its object string into substrings on the basis of a given string or pattern. The substrings are returned in an array. For example, consider the following code:</a:t>
            </a:r>
            <a:endParaRPr lang="en-IN" sz="2000" dirty="0"/>
          </a:p>
          <a:p>
            <a:endParaRPr lang="en-IN" sz="2000" dirty="0"/>
          </a:p>
          <a:p>
            <a:endParaRPr lang="en-IN" sz="2000" dirty="0"/>
          </a:p>
          <a:p>
            <a:pPr lvl="2"/>
            <a:r>
              <a:rPr lang="en-US" sz="2000" i="1" dirty="0">
                <a:solidFill>
                  <a:schemeClr val="accent2">
                    <a:lumMod val="75000"/>
                  </a:schemeClr>
                </a:solidFill>
              </a:rPr>
              <a:t>var str = "</a:t>
            </a:r>
            <a:r>
              <a:rPr lang="en-US" sz="2000" i="1" dirty="0" err="1">
                <a:solidFill>
                  <a:schemeClr val="accent2">
                    <a:lumMod val="75000"/>
                  </a:schemeClr>
                </a:solidFill>
              </a:rPr>
              <a:t>grapes:apples:oranges</a:t>
            </a:r>
            <a:r>
              <a:rPr lang="en-US" sz="2000" i="1" dirty="0">
                <a:solidFill>
                  <a:schemeClr val="accent2">
                    <a:lumMod val="75000"/>
                  </a:schemeClr>
                </a:solidFill>
              </a:rPr>
              <a:t>";</a:t>
            </a:r>
          </a:p>
          <a:p>
            <a:pPr lvl="2"/>
            <a:r>
              <a:rPr lang="en-US" sz="2000" i="1" dirty="0">
                <a:solidFill>
                  <a:schemeClr val="accent2">
                    <a:lumMod val="75000"/>
                  </a:schemeClr>
                </a:solidFill>
              </a:rPr>
              <a:t>var fruit = </a:t>
            </a:r>
            <a:r>
              <a:rPr lang="en-US" sz="2000" i="1" dirty="0" err="1">
                <a:solidFill>
                  <a:schemeClr val="accent2">
                    <a:lumMod val="75000"/>
                  </a:schemeClr>
                </a:solidFill>
              </a:rPr>
              <a:t>str.split</a:t>
            </a:r>
            <a:r>
              <a:rPr lang="en-US" sz="2000" i="1" dirty="0">
                <a:solidFill>
                  <a:schemeClr val="accent2">
                    <a:lumMod val="75000"/>
                  </a:schemeClr>
                </a:solidFill>
              </a:rPr>
              <a:t>(":");</a:t>
            </a:r>
          </a:p>
          <a:p>
            <a:endParaRPr lang="en-US" sz="2000" dirty="0"/>
          </a:p>
          <a:p>
            <a:r>
              <a:rPr lang="en-US" sz="2000" dirty="0"/>
              <a:t>In this example, fruit is set to [grapes, apples, oranges].</a:t>
            </a:r>
            <a:endParaRPr lang="en-IN" sz="2000" dirty="0"/>
          </a:p>
        </p:txBody>
      </p:sp>
    </p:spTree>
    <p:extLst>
      <p:ext uri="{BB962C8B-B14F-4D97-AF65-F5344CB8AC3E}">
        <p14:creationId xmlns:p14="http://schemas.microsoft.com/office/powerpoint/2010/main" val="3492046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6B53C8B-4DF4-0BCD-87BD-A7635988CE99}"/>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2ABC48D6-71FF-BA8D-26D0-FC17C4EEFEFE}"/>
              </a:ext>
            </a:extLst>
          </p:cNvPr>
          <p:cNvSpPr txBox="1"/>
          <p:nvPr/>
        </p:nvSpPr>
        <p:spPr>
          <a:xfrm>
            <a:off x="528918" y="421341"/>
            <a:ext cx="11143129" cy="6155531"/>
          </a:xfrm>
          <a:prstGeom prst="rect">
            <a:avLst/>
          </a:prstGeom>
          <a:noFill/>
        </p:spPr>
        <p:txBody>
          <a:bodyPr wrap="square" rtlCol="0">
            <a:spAutoFit/>
          </a:bodyPr>
          <a:lstStyle/>
          <a:p>
            <a:r>
              <a:rPr lang="en-US" sz="2400" dirty="0"/>
              <a:t>Example:</a:t>
            </a:r>
            <a:endParaRPr lang="en-US" sz="2000" dirty="0"/>
          </a:p>
          <a:p>
            <a:r>
              <a:rPr lang="en-IN" sz="1400" b="1" dirty="0"/>
              <a:t>function </a:t>
            </a:r>
            <a:r>
              <a:rPr lang="en-IN" sz="1400" b="1" dirty="0" err="1"/>
              <a:t>tst_phone_num</a:t>
            </a:r>
            <a:r>
              <a:rPr lang="en-IN" sz="1400" b="1" dirty="0"/>
              <a:t>(</a:t>
            </a:r>
            <a:r>
              <a:rPr lang="en-IN" sz="1400" b="1" dirty="0" err="1"/>
              <a:t>num</a:t>
            </a:r>
            <a:r>
              <a:rPr lang="en-IN" sz="1400" b="1" dirty="0"/>
              <a:t>) {</a:t>
            </a:r>
          </a:p>
          <a:p>
            <a:r>
              <a:rPr lang="en-IN" sz="1400" b="1" dirty="0"/>
              <a:t>// Use a simple pattern to check the number of digits and the dash</a:t>
            </a:r>
          </a:p>
          <a:p>
            <a:r>
              <a:rPr lang="en-IN" sz="1400" b="1" dirty="0"/>
              <a:t>	var ok = </a:t>
            </a:r>
            <a:r>
              <a:rPr lang="en-IN" sz="1400" b="1" dirty="0" err="1"/>
              <a:t>num.search</a:t>
            </a:r>
            <a:r>
              <a:rPr lang="en-IN" sz="1400" b="1" dirty="0"/>
              <a:t>(/^\d{3}-\d{4}$/);</a:t>
            </a:r>
          </a:p>
          <a:p>
            <a:r>
              <a:rPr lang="en-IN" sz="1400" b="1" dirty="0"/>
              <a:t>	if (ok == 0) </a:t>
            </a:r>
          </a:p>
          <a:p>
            <a:r>
              <a:rPr lang="en-IN" sz="1400" b="1" dirty="0"/>
              <a:t>		return true;</a:t>
            </a:r>
          </a:p>
          <a:p>
            <a:r>
              <a:rPr lang="en-IN" sz="1400" b="1" dirty="0"/>
              <a:t>	else </a:t>
            </a:r>
          </a:p>
          <a:p>
            <a:r>
              <a:rPr lang="en-IN" sz="1400" b="1" dirty="0"/>
              <a:t>		return false;</a:t>
            </a:r>
          </a:p>
          <a:p>
            <a:r>
              <a:rPr lang="en-IN" sz="1400" b="1" dirty="0"/>
              <a:t>}  // end of function </a:t>
            </a:r>
            <a:r>
              <a:rPr lang="en-IN" sz="1400" b="1" dirty="0" err="1"/>
              <a:t>tst_phone_num</a:t>
            </a:r>
            <a:endParaRPr lang="en-IN" sz="1400" b="1" dirty="0"/>
          </a:p>
          <a:p>
            <a:endParaRPr lang="en-IN" sz="1400" dirty="0"/>
          </a:p>
          <a:p>
            <a:r>
              <a:rPr lang="en-IN" sz="1400" dirty="0"/>
              <a:t>// A script to test </a:t>
            </a:r>
            <a:r>
              <a:rPr lang="en-IN" sz="1400" dirty="0" err="1"/>
              <a:t>tst_phone_num</a:t>
            </a:r>
            <a:r>
              <a:rPr lang="en-IN" sz="1400" dirty="0"/>
              <a:t> </a:t>
            </a:r>
          </a:p>
          <a:p>
            <a:r>
              <a:rPr lang="en-IN" sz="1400" b="1" dirty="0"/>
              <a:t>var </a:t>
            </a:r>
            <a:r>
              <a:rPr lang="en-IN" sz="1400" b="1" dirty="0" err="1"/>
              <a:t>tst</a:t>
            </a:r>
            <a:r>
              <a:rPr lang="en-IN" sz="1400" b="1" dirty="0"/>
              <a:t> = </a:t>
            </a:r>
            <a:r>
              <a:rPr lang="en-IN" sz="1400" b="1" dirty="0" err="1"/>
              <a:t>tst_phone_num</a:t>
            </a:r>
            <a:r>
              <a:rPr lang="en-IN" sz="1400" b="1" dirty="0"/>
              <a:t>("444-5432");</a:t>
            </a:r>
          </a:p>
          <a:p>
            <a:r>
              <a:rPr lang="en-IN" sz="1400" dirty="0"/>
              <a:t>	if (</a:t>
            </a:r>
            <a:r>
              <a:rPr lang="en-IN" sz="1400" dirty="0" err="1"/>
              <a:t>tst</a:t>
            </a:r>
            <a:r>
              <a:rPr lang="en-IN" sz="1400" dirty="0"/>
              <a:t>) </a:t>
            </a:r>
          </a:p>
          <a:p>
            <a:r>
              <a:rPr lang="en-IN" sz="1400" dirty="0"/>
              <a:t>		</a:t>
            </a:r>
            <a:r>
              <a:rPr lang="en-IN" sz="1400" dirty="0" err="1"/>
              <a:t>document.write</a:t>
            </a:r>
            <a:r>
              <a:rPr lang="en-IN" sz="1400" dirty="0"/>
              <a:t>("444-5432 is a valid phone number &lt;</a:t>
            </a:r>
            <a:r>
              <a:rPr lang="en-IN" sz="1400" dirty="0" err="1"/>
              <a:t>br</a:t>
            </a:r>
            <a:r>
              <a:rPr lang="en-IN" sz="1400" dirty="0"/>
              <a:t> /&gt;");</a:t>
            </a:r>
          </a:p>
          <a:p>
            <a:r>
              <a:rPr lang="en-IN" sz="1400" dirty="0"/>
              <a:t>	else </a:t>
            </a:r>
          </a:p>
          <a:p>
            <a:r>
              <a:rPr lang="en-IN" sz="1400" dirty="0"/>
              <a:t>		</a:t>
            </a:r>
            <a:r>
              <a:rPr lang="en-IN" sz="1400" dirty="0" err="1"/>
              <a:t>document.write</a:t>
            </a:r>
            <a:r>
              <a:rPr lang="en-IN" sz="1400" dirty="0"/>
              <a:t>("Error in </a:t>
            </a:r>
            <a:r>
              <a:rPr lang="en-IN" sz="1400" dirty="0" err="1"/>
              <a:t>tst_phone_num</a:t>
            </a:r>
            <a:r>
              <a:rPr lang="en-IN" sz="1400" dirty="0"/>
              <a:t> &lt;</a:t>
            </a:r>
            <a:r>
              <a:rPr lang="en-IN" sz="1400" dirty="0" err="1"/>
              <a:t>br</a:t>
            </a:r>
            <a:r>
              <a:rPr lang="en-IN" sz="1400" dirty="0"/>
              <a:t> /&gt;");</a:t>
            </a:r>
          </a:p>
          <a:p>
            <a:r>
              <a:rPr lang="en-IN" sz="1400" b="1" dirty="0" err="1"/>
              <a:t>tst</a:t>
            </a:r>
            <a:r>
              <a:rPr lang="en-IN" sz="1400" b="1" dirty="0"/>
              <a:t> = </a:t>
            </a:r>
            <a:r>
              <a:rPr lang="en-IN" sz="1400" b="1" dirty="0" err="1"/>
              <a:t>tst_phone_num</a:t>
            </a:r>
            <a:r>
              <a:rPr lang="en-IN" sz="1400" b="1" dirty="0"/>
              <a:t>("444-r432");</a:t>
            </a:r>
          </a:p>
          <a:p>
            <a:r>
              <a:rPr lang="en-IN" sz="1400" dirty="0"/>
              <a:t>	if (</a:t>
            </a:r>
            <a:r>
              <a:rPr lang="en-IN" sz="1400" dirty="0" err="1"/>
              <a:t>tst</a:t>
            </a:r>
            <a:r>
              <a:rPr lang="en-IN" sz="1400" dirty="0"/>
              <a:t>) </a:t>
            </a:r>
          </a:p>
          <a:p>
            <a:r>
              <a:rPr lang="en-IN" sz="1400" dirty="0"/>
              <a:t>		</a:t>
            </a:r>
            <a:r>
              <a:rPr lang="en-IN" sz="1400" dirty="0" err="1"/>
              <a:t>document.write</a:t>
            </a:r>
            <a:r>
              <a:rPr lang="en-IN" sz="1400" dirty="0"/>
              <a:t>("Program error &lt;</a:t>
            </a:r>
            <a:r>
              <a:rPr lang="en-IN" sz="1400" dirty="0" err="1"/>
              <a:t>br</a:t>
            </a:r>
            <a:r>
              <a:rPr lang="en-IN" sz="1400" dirty="0"/>
              <a:t> /&gt;");</a:t>
            </a:r>
          </a:p>
          <a:p>
            <a:r>
              <a:rPr lang="en-IN" sz="1400" dirty="0"/>
              <a:t>	else</a:t>
            </a:r>
          </a:p>
          <a:p>
            <a:r>
              <a:rPr lang="en-IN" sz="1400" dirty="0"/>
              <a:t>		</a:t>
            </a:r>
            <a:r>
              <a:rPr lang="en-IN" sz="1400" dirty="0" err="1"/>
              <a:t>document.write</a:t>
            </a:r>
            <a:r>
              <a:rPr lang="en-IN" sz="1400" dirty="0"/>
              <a:t>( "444-r432 is not a valid phone number &lt;</a:t>
            </a:r>
            <a:r>
              <a:rPr lang="en-IN" sz="1400" dirty="0" err="1"/>
              <a:t>br</a:t>
            </a:r>
            <a:r>
              <a:rPr lang="en-IN" sz="1400" dirty="0"/>
              <a:t> /&gt;");</a:t>
            </a:r>
          </a:p>
          <a:p>
            <a:r>
              <a:rPr lang="en-IN" sz="1400" b="1" dirty="0" err="1"/>
              <a:t>tst</a:t>
            </a:r>
            <a:r>
              <a:rPr lang="en-IN" sz="1400" b="1" dirty="0"/>
              <a:t> = </a:t>
            </a:r>
            <a:r>
              <a:rPr lang="en-IN" sz="1400" b="1" dirty="0" err="1"/>
              <a:t>tst_phone_num</a:t>
            </a:r>
            <a:r>
              <a:rPr lang="en-IN" sz="1400" b="1" dirty="0"/>
              <a:t>("44-1234");</a:t>
            </a:r>
          </a:p>
          <a:p>
            <a:r>
              <a:rPr lang="en-IN" sz="1400" dirty="0"/>
              <a:t>	if (</a:t>
            </a:r>
            <a:r>
              <a:rPr lang="en-IN" sz="1400" dirty="0" err="1"/>
              <a:t>tst</a:t>
            </a:r>
            <a:r>
              <a:rPr lang="en-IN" sz="1400" dirty="0"/>
              <a:t>)</a:t>
            </a:r>
          </a:p>
          <a:p>
            <a:r>
              <a:rPr lang="en-IN" sz="1400" dirty="0"/>
              <a:t>		</a:t>
            </a:r>
            <a:r>
              <a:rPr lang="en-IN" sz="1400" dirty="0" err="1"/>
              <a:t>document.write</a:t>
            </a:r>
            <a:r>
              <a:rPr lang="en-IN" sz="1400" dirty="0"/>
              <a:t>("Program error &lt;</a:t>
            </a:r>
            <a:r>
              <a:rPr lang="en-IN" sz="1400" dirty="0" err="1"/>
              <a:t>br</a:t>
            </a:r>
            <a:r>
              <a:rPr lang="en-IN" sz="1400" dirty="0"/>
              <a:t> /&gt;");</a:t>
            </a:r>
          </a:p>
          <a:p>
            <a:r>
              <a:rPr lang="en-IN" sz="1400" dirty="0"/>
              <a:t>	else</a:t>
            </a:r>
          </a:p>
          <a:p>
            <a:r>
              <a:rPr lang="en-IN" sz="1400" dirty="0"/>
              <a:t>		</a:t>
            </a:r>
            <a:r>
              <a:rPr lang="en-IN" sz="1400" dirty="0" err="1"/>
              <a:t>document.write</a:t>
            </a:r>
            <a:r>
              <a:rPr lang="en-IN" sz="1400" dirty="0"/>
              <a:t>("44-1234 is not a valid phone number &lt;</a:t>
            </a:r>
            <a:r>
              <a:rPr lang="en-IN" sz="1400" dirty="0" err="1"/>
              <a:t>br</a:t>
            </a:r>
            <a:r>
              <a:rPr lang="en-IN" sz="1400" dirty="0"/>
              <a:t> /");</a:t>
            </a:r>
          </a:p>
          <a:p>
            <a:endParaRPr lang="en-IN" sz="2000" dirty="0"/>
          </a:p>
        </p:txBody>
      </p:sp>
      <p:pic>
        <p:nvPicPr>
          <p:cNvPr id="4" name="Picture 3">
            <a:extLst>
              <a:ext uri="{FF2B5EF4-FFF2-40B4-BE49-F238E27FC236}">
                <a16:creationId xmlns="" xmlns:a16="http://schemas.microsoft.com/office/drawing/2014/main" id="{7818F2A4-0038-DDB4-F8BF-559BA0B150F9}"/>
              </a:ext>
            </a:extLst>
          </p:cNvPr>
          <p:cNvPicPr>
            <a:picLocks noChangeAspect="1"/>
          </p:cNvPicPr>
          <p:nvPr/>
        </p:nvPicPr>
        <p:blipFill>
          <a:blip r:embed="rId2"/>
          <a:stretch>
            <a:fillRect/>
          </a:stretch>
        </p:blipFill>
        <p:spPr>
          <a:xfrm>
            <a:off x="5003856" y="1757590"/>
            <a:ext cx="7016370" cy="886997"/>
          </a:xfrm>
          <a:prstGeom prst="rect">
            <a:avLst/>
          </a:prstGeom>
        </p:spPr>
      </p:pic>
    </p:spTree>
    <p:extLst>
      <p:ext uri="{BB962C8B-B14F-4D97-AF65-F5344CB8AC3E}">
        <p14:creationId xmlns:p14="http://schemas.microsoft.com/office/powerpoint/2010/main" val="2918472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FC8F26-5966-8E49-E28C-9F8E8D9541B1}"/>
              </a:ext>
            </a:extLst>
          </p:cNvPr>
          <p:cNvSpPr>
            <a:spLocks noGrp="1"/>
          </p:cNvSpPr>
          <p:nvPr>
            <p:ph type="ctrTitle"/>
          </p:nvPr>
        </p:nvSpPr>
        <p:spPr/>
        <p:txBody>
          <a:bodyPr/>
          <a:lstStyle/>
          <a:p>
            <a:r>
              <a:rPr lang="en-IN" dirty="0"/>
              <a:t>Dynamic Object Model (DOM)</a:t>
            </a:r>
            <a:endParaRPr lang="en-IN" dirty="0"/>
          </a:p>
        </p:txBody>
      </p:sp>
    </p:spTree>
    <p:extLst>
      <p:ext uri="{BB962C8B-B14F-4D97-AF65-F5344CB8AC3E}">
        <p14:creationId xmlns:p14="http://schemas.microsoft.com/office/powerpoint/2010/main" val="1062528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8BD4C43-06A5-5339-4F50-31D7B1D9F9AB}"/>
              </a:ext>
            </a:extLst>
          </p:cNvPr>
          <p:cNvSpPr>
            <a:spLocks noGrp="1"/>
          </p:cNvSpPr>
          <p:nvPr>
            <p:ph idx="1"/>
          </p:nvPr>
        </p:nvSpPr>
        <p:spPr>
          <a:xfrm>
            <a:off x="838200" y="263951"/>
            <a:ext cx="10515600" cy="6400800"/>
          </a:xfrm>
        </p:spPr>
        <p:txBody>
          <a:bodyPr>
            <a:normAutofit lnSpcReduction="10000"/>
          </a:bodyPr>
          <a:lstStyle/>
          <a:p>
            <a:pPr marL="0" indent="0">
              <a:buNone/>
            </a:pPr>
            <a:r>
              <a:rPr lang="en-IN" b="1" dirty="0" smtClean="0"/>
              <a:t>1 The JavaScript Execution Environment</a:t>
            </a:r>
            <a:endParaRPr lang="en-US" b="1" dirty="0" smtClean="0"/>
          </a:p>
          <a:p>
            <a:r>
              <a:rPr lang="en-US" sz="2400" dirty="0"/>
              <a:t>The JavaScript </a:t>
            </a:r>
            <a:r>
              <a:rPr lang="en-US" sz="2400" b="1" dirty="0"/>
              <a:t>Window object</a:t>
            </a:r>
            <a:r>
              <a:rPr lang="en-US" sz="2400" dirty="0"/>
              <a:t> represents the browser window where the document is shown.</a:t>
            </a:r>
          </a:p>
          <a:p>
            <a:r>
              <a:rPr lang="en-US" sz="2400" dirty="0"/>
              <a:t>All variables in JavaScript are actually properties of some object.</a:t>
            </a:r>
          </a:p>
          <a:p>
            <a:r>
              <a:rPr lang="en-US" sz="2400" dirty="0"/>
              <a:t>The properties of the Window object are accessible to all JavaScript code, whether it is written inside the HTML file or in an external file. These properties include all global variables.</a:t>
            </a:r>
          </a:p>
          <a:p>
            <a:r>
              <a:rPr lang="en-US" sz="2400" dirty="0"/>
              <a:t>When a global variable is declared in client-side JavaScript, it automatically becomes a property of the Window object. This makes the Window object the main environment for all JavaScript execution.</a:t>
            </a:r>
          </a:p>
          <a:p>
            <a:r>
              <a:rPr lang="en-US" sz="2400" dirty="0"/>
              <a:t>The </a:t>
            </a:r>
            <a:r>
              <a:rPr lang="en-US" sz="2400" b="1" dirty="0"/>
              <a:t>Document object</a:t>
            </a:r>
            <a:r>
              <a:rPr lang="en-US" sz="2400" dirty="0"/>
              <a:t> represents the HTML page that is displayed in the browser.</a:t>
            </a:r>
          </a:p>
          <a:p>
            <a:r>
              <a:rPr lang="en-US" sz="2400" dirty="0"/>
              <a:t>Each Window object contains a property called </a:t>
            </a:r>
            <a:r>
              <a:rPr lang="en-US" sz="2400" b="1" dirty="0"/>
              <a:t>document</a:t>
            </a:r>
            <a:r>
              <a:rPr lang="en-US" sz="2400" dirty="0"/>
              <a:t>, which refers to the Document object being shown.</a:t>
            </a:r>
          </a:p>
          <a:p>
            <a:r>
              <a:rPr lang="en-US" sz="2400" dirty="0"/>
              <a:t>The Document object has a </a:t>
            </a:r>
            <a:r>
              <a:rPr lang="en-US" sz="2400" b="1" dirty="0"/>
              <a:t>forms array</a:t>
            </a:r>
            <a:r>
              <a:rPr lang="en-US" sz="2400" dirty="0"/>
              <a:t>, where each element represents a form present in the document.</a:t>
            </a:r>
          </a:p>
          <a:p>
            <a:r>
              <a:rPr lang="en-US" sz="2400" dirty="0"/>
              <a:t>Each form in this array contains an </a:t>
            </a:r>
            <a:r>
              <a:rPr lang="en-US" sz="2400" b="1" dirty="0"/>
              <a:t>elements array</a:t>
            </a:r>
            <a:r>
              <a:rPr lang="en-US" sz="2400" dirty="0"/>
              <a:t>, which includes objects representing form elements like buttons, input fields, and menus.</a:t>
            </a:r>
          </a:p>
          <a:p>
            <a:pPr marL="0" indent="0" algn="just">
              <a:buNone/>
            </a:pPr>
            <a:endParaRPr lang="en-IN" sz="2400" dirty="0" smtClean="0"/>
          </a:p>
          <a:p>
            <a:pPr algn="just"/>
            <a:endParaRPr lang="en-IN" sz="2400" dirty="0" smtClean="0"/>
          </a:p>
          <a:p>
            <a:pPr algn="just"/>
            <a:endParaRPr lang="en-IN" sz="2400" dirty="0" smtClean="0"/>
          </a:p>
          <a:p>
            <a:pPr algn="just"/>
            <a:endParaRPr lang="en-IN" sz="2400" dirty="0" smtClean="0"/>
          </a:p>
          <a:p>
            <a:pPr algn="just"/>
            <a:endParaRPr lang="en-IN" sz="2400" dirty="0" smtClean="0"/>
          </a:p>
          <a:p>
            <a:pPr algn="just"/>
            <a:endParaRPr lang="en-IN" sz="2400" dirty="0" smtClean="0"/>
          </a:p>
          <a:p>
            <a:pPr algn="just"/>
            <a:endParaRPr lang="en-US" sz="2400" dirty="0"/>
          </a:p>
        </p:txBody>
      </p:sp>
    </p:spTree>
    <p:extLst>
      <p:ext uri="{BB962C8B-B14F-4D97-AF65-F5344CB8AC3E}">
        <p14:creationId xmlns:p14="http://schemas.microsoft.com/office/powerpoint/2010/main" val="489440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96A01B5-38D9-887C-4EB6-67A00A23FA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63F4D06-525B-FC58-9615-3DD56326D2B6}"/>
              </a:ext>
            </a:extLst>
          </p:cNvPr>
          <p:cNvSpPr>
            <a:spLocks noGrp="1"/>
          </p:cNvSpPr>
          <p:nvPr>
            <p:ph idx="1"/>
          </p:nvPr>
        </p:nvSpPr>
        <p:spPr>
          <a:xfrm>
            <a:off x="838200" y="263951"/>
            <a:ext cx="10515600" cy="6400800"/>
          </a:xfrm>
        </p:spPr>
        <p:txBody>
          <a:bodyPr/>
          <a:lstStyle/>
          <a:p>
            <a:pPr marL="0" indent="0">
              <a:buNone/>
            </a:pPr>
            <a:r>
              <a:rPr lang="en-IN" dirty="0"/>
              <a:t>2 The Document Object Model</a:t>
            </a:r>
            <a:endParaRPr lang="en-US" dirty="0"/>
          </a:p>
          <a:p>
            <a:pPr algn="just"/>
            <a:r>
              <a:rPr lang="en-US" sz="2400" dirty="0"/>
              <a:t>The DOM is an application programming interface (API) that defines an interface between HTML documents and application programs.</a:t>
            </a:r>
          </a:p>
          <a:p>
            <a:pPr algn="just"/>
            <a:r>
              <a:rPr lang="en-US" sz="2400" dirty="0"/>
              <a:t>Each language that interfaces with the DOM must define a binding to that inter face.</a:t>
            </a:r>
          </a:p>
          <a:p>
            <a:pPr algn="just"/>
            <a:r>
              <a:rPr lang="en-US" sz="2400" dirty="0"/>
              <a:t>The actual DOM specification consists of a collection of interfaces, including one for each document tree node type.</a:t>
            </a:r>
          </a:p>
          <a:p>
            <a:pPr algn="just"/>
            <a:r>
              <a:rPr lang="en-US" sz="2400" dirty="0"/>
              <a:t>They define the objects, methods, and properties that are associated with their respective node types.</a:t>
            </a:r>
            <a:endParaRPr lang="en-IN" sz="2400" dirty="0"/>
          </a:p>
          <a:p>
            <a:pPr algn="just"/>
            <a:r>
              <a:rPr lang="en-US" sz="2400" dirty="0"/>
              <a:t>With the DOM, users can write code in programming languages to create documents, move around in their structures, and change, add, or delete elements and their content.</a:t>
            </a:r>
            <a:endParaRPr lang="en-IN" sz="2400" dirty="0"/>
          </a:p>
          <a:p>
            <a:pPr algn="just"/>
            <a:r>
              <a:rPr lang="en-US" sz="2400" dirty="0">
                <a:solidFill>
                  <a:srgbClr val="FF0000"/>
                </a:solidFill>
              </a:rPr>
              <a:t>Documents in the DOM have a treelike structure</a:t>
            </a:r>
            <a:r>
              <a:rPr lang="en-US" sz="2400" dirty="0"/>
              <a:t>, but there can be more than one tree in a document</a:t>
            </a:r>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Tree>
    <p:extLst>
      <p:ext uri="{BB962C8B-B14F-4D97-AF65-F5344CB8AC3E}">
        <p14:creationId xmlns:p14="http://schemas.microsoft.com/office/powerpoint/2010/main" val="293024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E763FC1-D2A9-2273-7FB7-43072516DAF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B750B33-AB54-832C-A5EC-FB0DC4533B22}"/>
              </a:ext>
            </a:extLst>
          </p:cNvPr>
          <p:cNvSpPr>
            <a:spLocks noGrp="1"/>
          </p:cNvSpPr>
          <p:nvPr>
            <p:ph idx="1"/>
          </p:nvPr>
        </p:nvSpPr>
        <p:spPr>
          <a:xfrm>
            <a:off x="838200" y="263951"/>
            <a:ext cx="10515600" cy="6400800"/>
          </a:xfrm>
        </p:spPr>
        <p:txBody>
          <a:bodyPr/>
          <a:lstStyle/>
          <a:p>
            <a:r>
              <a:rPr lang="en-US" dirty="0"/>
              <a:t>Title</a:t>
            </a:r>
          </a:p>
          <a:p>
            <a:pPr algn="just"/>
            <a:r>
              <a:rPr lang="en-US" sz="2400" dirty="0"/>
              <a:t>A language that is designed to support the DOM must have a binding to the DOM constructs. </a:t>
            </a:r>
          </a:p>
          <a:p>
            <a:pPr algn="just"/>
            <a:r>
              <a:rPr lang="en-US" sz="2400" dirty="0"/>
              <a:t>This binding amounts to a correspondence between constructs in the language and elements in the DOM.</a:t>
            </a:r>
            <a:endParaRPr lang="en-IN" sz="2400" dirty="0"/>
          </a:p>
          <a:p>
            <a:pPr algn="just"/>
            <a:r>
              <a:rPr lang="en-US" sz="2400" dirty="0"/>
              <a:t>In the JavaScript binding to the DOM, the elements of a document are objects, with both data and operations.</a:t>
            </a:r>
          </a:p>
          <a:p>
            <a:pPr algn="just"/>
            <a:r>
              <a:rPr lang="en-US" sz="2400" dirty="0"/>
              <a:t>The </a:t>
            </a:r>
            <a:r>
              <a:rPr lang="en-US" sz="2400" dirty="0">
                <a:solidFill>
                  <a:srgbClr val="FF0000"/>
                </a:solidFill>
              </a:rPr>
              <a:t>data</a:t>
            </a:r>
            <a:r>
              <a:rPr lang="en-US" sz="2400" dirty="0"/>
              <a:t> are called </a:t>
            </a:r>
            <a:r>
              <a:rPr lang="en-US" sz="2400" dirty="0">
                <a:solidFill>
                  <a:srgbClr val="FF0000"/>
                </a:solidFill>
              </a:rPr>
              <a:t>properties</a:t>
            </a:r>
            <a:r>
              <a:rPr lang="en-US" sz="2400" dirty="0"/>
              <a:t>, and the </a:t>
            </a:r>
            <a:r>
              <a:rPr lang="en-US" sz="2400" dirty="0">
                <a:solidFill>
                  <a:srgbClr val="FF0000"/>
                </a:solidFill>
              </a:rPr>
              <a:t>operations</a:t>
            </a:r>
            <a:r>
              <a:rPr lang="en-US" sz="2400" dirty="0"/>
              <a:t> are, naturally, called </a:t>
            </a:r>
            <a:r>
              <a:rPr lang="en-US" sz="2400" dirty="0">
                <a:solidFill>
                  <a:srgbClr val="FF0000"/>
                </a:solidFill>
              </a:rPr>
              <a:t>methods</a:t>
            </a:r>
            <a:r>
              <a:rPr lang="en-US" sz="2400" dirty="0"/>
              <a:t>.</a:t>
            </a:r>
            <a:endParaRPr lang="en-IN" sz="2400" dirty="0"/>
          </a:p>
          <a:p>
            <a:pPr algn="just"/>
            <a:r>
              <a:rPr lang="en-US" sz="2400" dirty="0"/>
              <a:t>For example, the following HTML element would be represented as an object with two properties, </a:t>
            </a:r>
            <a:r>
              <a:rPr lang="en-US" sz="2400" dirty="0">
                <a:solidFill>
                  <a:srgbClr val="FF0000"/>
                </a:solidFill>
              </a:rPr>
              <a:t>type</a:t>
            </a:r>
            <a:r>
              <a:rPr lang="en-US" sz="2400" dirty="0"/>
              <a:t> and </a:t>
            </a:r>
            <a:r>
              <a:rPr lang="en-US" sz="2400" dirty="0">
                <a:solidFill>
                  <a:srgbClr val="FF0000"/>
                </a:solidFill>
              </a:rPr>
              <a:t>name</a:t>
            </a:r>
            <a:r>
              <a:rPr lang="en-US" sz="2400" dirty="0"/>
              <a:t>, with the values "text" and "address", respectively</a:t>
            </a:r>
          </a:p>
          <a:p>
            <a:pPr lvl="1" algn="just"/>
            <a:r>
              <a:rPr lang="en-US" sz="2000" dirty="0"/>
              <a:t> &lt;input type = "text"  name = "address"&gt;</a:t>
            </a:r>
            <a:endParaRPr lang="en-IN" sz="20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Tree>
    <p:extLst>
      <p:ext uri="{BB962C8B-B14F-4D97-AF65-F5344CB8AC3E}">
        <p14:creationId xmlns:p14="http://schemas.microsoft.com/office/powerpoint/2010/main" val="4166283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39DC30-F201-B054-2FDD-4A6DC81B9C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DFCC800-CE84-952E-332F-2249CDB2BF3E}"/>
              </a:ext>
            </a:extLst>
          </p:cNvPr>
          <p:cNvSpPr>
            <a:spLocks noGrp="1"/>
          </p:cNvSpPr>
          <p:nvPr>
            <p:ph idx="1"/>
          </p:nvPr>
        </p:nvSpPr>
        <p:spPr>
          <a:xfrm>
            <a:off x="838200" y="263951"/>
            <a:ext cx="10515600" cy="6400800"/>
          </a:xfrm>
        </p:spPr>
        <p:txBody>
          <a:bodyPr/>
          <a:lstStyle/>
          <a:p>
            <a:r>
              <a:rPr lang="en-US" dirty="0"/>
              <a:t>Title</a:t>
            </a:r>
          </a:p>
          <a:p>
            <a:pPr algn="just"/>
            <a:r>
              <a:rPr lang="en-US" sz="2400" dirty="0"/>
              <a:t>IE8+, FX3, and C10+ provide a way of viewing the DOM structure of a displayed document.</a:t>
            </a:r>
          </a:p>
          <a:p>
            <a:pPr algn="just"/>
            <a:r>
              <a:rPr lang="en-US" sz="2400" dirty="0"/>
              <a:t>After displaying a document with IE9, select Tools/Developer Tools. The lower-left area of the resulting display will show an elided version of the DOM structure.</a:t>
            </a:r>
            <a:endParaRPr lang="en-IN" sz="2400" dirty="0"/>
          </a:p>
          <a:p>
            <a:pPr algn="just"/>
            <a:r>
              <a:rPr lang="en-US" sz="2400" dirty="0"/>
              <a:t>To be able to display the DOM structure of a document with FX3, an add on must be downloaded.</a:t>
            </a:r>
            <a:endParaRPr lang="en-IN" sz="2400" dirty="0"/>
          </a:p>
          <a:p>
            <a:pPr lvl="1" algn="just"/>
            <a:r>
              <a:rPr lang="en-IN" sz="2000" dirty="0" err="1"/>
              <a:t>addOn</a:t>
            </a:r>
            <a:r>
              <a:rPr lang="en-IN" sz="2000" dirty="0"/>
              <a:t>  - “</a:t>
            </a:r>
            <a:r>
              <a:rPr lang="en-US" sz="2000" dirty="0"/>
              <a:t> https://addons .mozilla.org/</a:t>
            </a:r>
            <a:r>
              <a:rPr lang="en-US" sz="2000" dirty="0" err="1"/>
              <a:t>en</a:t>
            </a:r>
            <a:r>
              <a:rPr lang="en-US" sz="2000" dirty="0"/>
              <a:t>-US/</a:t>
            </a:r>
            <a:r>
              <a:rPr lang="en-US" sz="2000" dirty="0" err="1"/>
              <a:t>firefox</a:t>
            </a:r>
            <a:r>
              <a:rPr lang="en-US" sz="2000" dirty="0"/>
              <a:t>/addon/6622”</a:t>
            </a:r>
            <a:endParaRPr lang="en-IN" sz="20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Tree>
    <p:extLst>
      <p:ext uri="{BB962C8B-B14F-4D97-AF65-F5344CB8AC3E}">
        <p14:creationId xmlns:p14="http://schemas.microsoft.com/office/powerpoint/2010/main" val="78430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76EEF7F-B595-C49E-8FE3-A45B9E9118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17DDE8B-C8FB-86A4-FC10-BA59DA8A5B08}"/>
              </a:ext>
            </a:extLst>
          </p:cNvPr>
          <p:cNvSpPr>
            <a:spLocks noGrp="1"/>
          </p:cNvSpPr>
          <p:nvPr>
            <p:ph idx="1"/>
          </p:nvPr>
        </p:nvSpPr>
        <p:spPr>
          <a:xfrm>
            <a:off x="838200" y="263951"/>
            <a:ext cx="10515600" cy="6400800"/>
          </a:xfrm>
        </p:spPr>
        <p:txBody>
          <a:bodyPr>
            <a:normAutofit fontScale="92500" lnSpcReduction="10000"/>
          </a:bodyPr>
          <a:lstStyle/>
          <a:p>
            <a:pPr marL="0" indent="0">
              <a:buNone/>
            </a:pPr>
            <a:r>
              <a:rPr lang="en-US" dirty="0"/>
              <a:t>3 Element Access in JavaScript</a:t>
            </a:r>
          </a:p>
          <a:p>
            <a:pPr algn="just"/>
            <a:r>
              <a:rPr lang="en-US" sz="2400" dirty="0"/>
              <a:t>The </a:t>
            </a:r>
            <a:r>
              <a:rPr lang="en-US" sz="2400" dirty="0">
                <a:solidFill>
                  <a:srgbClr val="FF0000"/>
                </a:solidFill>
              </a:rPr>
              <a:t>elements</a:t>
            </a:r>
            <a:r>
              <a:rPr lang="en-US" sz="2400" dirty="0"/>
              <a:t> of an HTML document have </a:t>
            </a:r>
            <a:r>
              <a:rPr lang="en-US" sz="2400" dirty="0">
                <a:solidFill>
                  <a:srgbClr val="FF0000"/>
                </a:solidFill>
              </a:rPr>
              <a:t>corresponding objects </a:t>
            </a:r>
            <a:r>
              <a:rPr lang="en-US" sz="2400" dirty="0"/>
              <a:t>that are visible to an embedded JavaScript script.</a:t>
            </a:r>
            <a:endParaRPr lang="en-IN" sz="2400" dirty="0"/>
          </a:p>
          <a:p>
            <a:pPr algn="just"/>
            <a:r>
              <a:rPr lang="en-US" sz="2400" dirty="0"/>
              <a:t>There are several ways the object associated with a form element can be addressed in JavaScript</a:t>
            </a:r>
            <a:endParaRPr lang="en-IN" sz="2400" dirty="0"/>
          </a:p>
          <a:p>
            <a:pPr algn="just"/>
            <a:r>
              <a:rPr lang="en-US" sz="2400" dirty="0"/>
              <a:t>The original (DOM 0) way is to use the </a:t>
            </a:r>
            <a:r>
              <a:rPr lang="en-US" sz="2400" dirty="0">
                <a:solidFill>
                  <a:srgbClr val="FF0000"/>
                </a:solidFill>
              </a:rPr>
              <a:t>forms</a:t>
            </a:r>
            <a:r>
              <a:rPr lang="en-US" sz="2400" dirty="0"/>
              <a:t> and </a:t>
            </a:r>
            <a:r>
              <a:rPr lang="en-US" sz="2400" dirty="0">
                <a:solidFill>
                  <a:srgbClr val="FF0000"/>
                </a:solidFill>
              </a:rPr>
              <a:t>elements</a:t>
            </a:r>
            <a:r>
              <a:rPr lang="en-US" sz="2400" dirty="0"/>
              <a:t> arrays of the </a:t>
            </a:r>
            <a:r>
              <a:rPr lang="en-US" sz="2400" dirty="0">
                <a:solidFill>
                  <a:srgbClr val="FF0000"/>
                </a:solidFill>
              </a:rPr>
              <a:t>Document</a:t>
            </a:r>
            <a:r>
              <a:rPr lang="en-US" sz="2400" dirty="0"/>
              <a:t> object, which is referenced through the document property of the Window object.</a:t>
            </a:r>
            <a:endParaRPr lang="en-IN" sz="2400" dirty="0"/>
          </a:p>
          <a:p>
            <a:pPr marL="457200" lvl="1" indent="0" algn="just">
              <a:buNone/>
            </a:pPr>
            <a:r>
              <a:rPr lang="en-US" sz="1800" dirty="0"/>
              <a:t> </a:t>
            </a:r>
            <a:r>
              <a:rPr lang="en-US" sz="1800" dirty="0">
                <a:solidFill>
                  <a:srgbClr val="00B0F0"/>
                </a:solidFill>
              </a:rPr>
              <a:t>&lt;html lang = "</a:t>
            </a:r>
            <a:r>
              <a:rPr lang="en-US" sz="1800" dirty="0" err="1">
                <a:solidFill>
                  <a:srgbClr val="00B0F0"/>
                </a:solidFill>
              </a:rPr>
              <a:t>en</a:t>
            </a:r>
            <a:r>
              <a:rPr lang="en-US" sz="1800" dirty="0">
                <a:solidFill>
                  <a:srgbClr val="00B0F0"/>
                </a:solidFill>
              </a:rPr>
              <a:t>"&gt;</a:t>
            </a:r>
          </a:p>
          <a:p>
            <a:pPr marL="457200" lvl="1" indent="0" algn="just">
              <a:buNone/>
            </a:pPr>
            <a:r>
              <a:rPr lang="en-US" sz="2000" dirty="0">
                <a:solidFill>
                  <a:srgbClr val="00B0F0"/>
                </a:solidFill>
              </a:rPr>
              <a:t> </a:t>
            </a:r>
            <a:r>
              <a:rPr lang="en-US" sz="1800" dirty="0">
                <a:solidFill>
                  <a:srgbClr val="00B0F0"/>
                </a:solidFill>
              </a:rPr>
              <a:t> &lt;head&gt; </a:t>
            </a:r>
          </a:p>
          <a:p>
            <a:pPr marL="457200" lvl="1" indent="0" algn="just">
              <a:buNone/>
            </a:pPr>
            <a:r>
              <a:rPr lang="en-US" sz="1800" dirty="0">
                <a:solidFill>
                  <a:srgbClr val="00B0F0"/>
                </a:solidFill>
              </a:rPr>
              <a:t>    &lt;title&gt; Access to form elements &lt;/title&gt;</a:t>
            </a:r>
          </a:p>
          <a:p>
            <a:pPr marL="457200" lvl="1" indent="0" algn="just">
              <a:buNone/>
            </a:pPr>
            <a:r>
              <a:rPr lang="en-US" sz="1800" dirty="0">
                <a:solidFill>
                  <a:srgbClr val="00B0F0"/>
                </a:solidFill>
              </a:rPr>
              <a:t>    &lt;meta charset = "utf-8" /&gt;</a:t>
            </a:r>
          </a:p>
          <a:p>
            <a:pPr marL="457200" lvl="1" indent="0" algn="just">
              <a:buNone/>
            </a:pPr>
            <a:r>
              <a:rPr lang="en-US" sz="1800" dirty="0">
                <a:solidFill>
                  <a:srgbClr val="00B0F0"/>
                </a:solidFill>
              </a:rPr>
              <a:t>  &lt;/head&gt;</a:t>
            </a:r>
          </a:p>
          <a:p>
            <a:pPr marL="457200" lvl="1" indent="0" algn="just">
              <a:buNone/>
            </a:pPr>
            <a:r>
              <a:rPr lang="en-US" sz="1800" dirty="0">
                <a:solidFill>
                  <a:srgbClr val="00B0F0"/>
                </a:solidFill>
              </a:rPr>
              <a:t>  &lt;body&gt;</a:t>
            </a:r>
          </a:p>
          <a:p>
            <a:pPr marL="457200" lvl="1" indent="0" algn="just">
              <a:buNone/>
            </a:pPr>
            <a:r>
              <a:rPr lang="en-US" sz="1800" dirty="0">
                <a:solidFill>
                  <a:srgbClr val="00B0F0"/>
                </a:solidFill>
              </a:rPr>
              <a:t>    &lt;form action = ""&gt;</a:t>
            </a:r>
          </a:p>
          <a:p>
            <a:pPr marL="457200" lvl="1" indent="0" algn="just">
              <a:buNone/>
            </a:pPr>
            <a:r>
              <a:rPr lang="en-US" sz="1800" dirty="0">
                <a:solidFill>
                  <a:srgbClr val="00B0F0"/>
                </a:solidFill>
              </a:rPr>
              <a:t>      &lt;input type = "button"  name = "</a:t>
            </a:r>
            <a:r>
              <a:rPr lang="en-US" sz="1800" dirty="0" err="1">
                <a:solidFill>
                  <a:srgbClr val="00B0F0"/>
                </a:solidFill>
              </a:rPr>
              <a:t>turnItOn</a:t>
            </a:r>
            <a:r>
              <a:rPr lang="en-US" sz="1800" dirty="0">
                <a:solidFill>
                  <a:srgbClr val="00B0F0"/>
                </a:solidFill>
              </a:rPr>
              <a:t>" /&gt;</a:t>
            </a:r>
          </a:p>
          <a:p>
            <a:pPr marL="457200" lvl="1" indent="0" algn="just">
              <a:buNone/>
            </a:pPr>
            <a:r>
              <a:rPr lang="en-US" sz="1800" dirty="0">
                <a:solidFill>
                  <a:srgbClr val="00B0F0"/>
                </a:solidFill>
              </a:rPr>
              <a:t>    &lt;/form&gt;</a:t>
            </a:r>
          </a:p>
          <a:p>
            <a:pPr marL="457200" lvl="1" indent="0" algn="just">
              <a:buNone/>
            </a:pPr>
            <a:r>
              <a:rPr lang="en-US" sz="1800" dirty="0">
                <a:solidFill>
                  <a:srgbClr val="00B0F0"/>
                </a:solidFill>
              </a:rPr>
              <a:t>  &lt;/body&gt;</a:t>
            </a:r>
          </a:p>
          <a:p>
            <a:pPr marL="457200" lvl="1" indent="0" algn="just">
              <a:buNone/>
            </a:pPr>
            <a:r>
              <a:rPr lang="en-US" sz="1800" dirty="0">
                <a:solidFill>
                  <a:srgbClr val="00B0F0"/>
                </a:solidFill>
              </a:rPr>
              <a:t> &lt;/html&gt;</a:t>
            </a:r>
            <a:endParaRPr lang="en-IN" sz="1800" dirty="0">
              <a:solidFill>
                <a:srgbClr val="00B0F0"/>
              </a:solidFill>
            </a:endParaRPr>
          </a:p>
          <a:p>
            <a:pPr algn="just"/>
            <a:r>
              <a:rPr lang="en-IN" sz="2400" dirty="0">
                <a:solidFill>
                  <a:srgbClr val="0070C0"/>
                </a:solidFill>
              </a:rPr>
              <a:t>var </a:t>
            </a:r>
            <a:r>
              <a:rPr lang="en-IN" sz="2400" dirty="0" err="1">
                <a:solidFill>
                  <a:srgbClr val="0070C0"/>
                </a:solidFill>
              </a:rPr>
              <a:t>dom</a:t>
            </a:r>
            <a:r>
              <a:rPr lang="en-IN" sz="2400" dirty="0">
                <a:solidFill>
                  <a:srgbClr val="0070C0"/>
                </a:solidFill>
              </a:rPr>
              <a:t> = </a:t>
            </a:r>
            <a:r>
              <a:rPr lang="en-IN" sz="2400" dirty="0" err="1">
                <a:solidFill>
                  <a:srgbClr val="0070C0"/>
                </a:solidFill>
              </a:rPr>
              <a:t>document.forms</a:t>
            </a:r>
            <a:r>
              <a:rPr lang="en-IN" sz="2400" dirty="0">
                <a:solidFill>
                  <a:srgbClr val="0070C0"/>
                </a:solidFill>
              </a:rPr>
              <a:t>[0].elements[0];</a:t>
            </a: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Tree>
    <p:extLst>
      <p:ext uri="{BB962C8B-B14F-4D97-AF65-F5344CB8AC3E}">
        <p14:creationId xmlns:p14="http://schemas.microsoft.com/office/powerpoint/2010/main" val="37302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E7B6F20-2319-EBBF-BC40-2908F6D9A8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68E35D6-FB64-A921-D993-C6C356420926}"/>
              </a:ext>
            </a:extLst>
          </p:cNvPr>
          <p:cNvSpPr>
            <a:spLocks noGrp="1"/>
          </p:cNvSpPr>
          <p:nvPr>
            <p:ph idx="1"/>
          </p:nvPr>
        </p:nvSpPr>
        <p:spPr>
          <a:xfrm>
            <a:off x="838200" y="263951"/>
            <a:ext cx="10515600" cy="6400800"/>
          </a:xfrm>
        </p:spPr>
        <p:txBody>
          <a:bodyPr>
            <a:normAutofit fontScale="92500" lnSpcReduction="10000"/>
          </a:bodyPr>
          <a:lstStyle/>
          <a:p>
            <a:r>
              <a:rPr lang="en-US" dirty="0"/>
              <a:t>Continued…</a:t>
            </a:r>
          </a:p>
          <a:p>
            <a:pPr algn="just"/>
            <a:r>
              <a:rPr lang="en-US" sz="2400" dirty="0"/>
              <a:t>Another approach to DOM addressing is to use </a:t>
            </a:r>
            <a:r>
              <a:rPr lang="en-US" sz="2400" dirty="0">
                <a:solidFill>
                  <a:srgbClr val="FF0000"/>
                </a:solidFill>
              </a:rPr>
              <a:t>element names</a:t>
            </a:r>
            <a:r>
              <a:rPr lang="en-US" sz="2400" dirty="0"/>
              <a:t>. For this, the element and its enclosing elements, up to but not including the body element, must include name attributes</a:t>
            </a:r>
            <a:endParaRPr lang="en-IN" sz="2400" dirty="0"/>
          </a:p>
          <a:p>
            <a:pPr marL="457200" lvl="1" indent="0" algn="just">
              <a:buNone/>
            </a:pPr>
            <a:r>
              <a:rPr lang="en-US" sz="2000" dirty="0">
                <a:solidFill>
                  <a:srgbClr val="00B0F0"/>
                </a:solidFill>
              </a:rPr>
              <a:t>&lt;html lang = "</a:t>
            </a:r>
            <a:r>
              <a:rPr lang="en-US" sz="2000" dirty="0" err="1">
                <a:solidFill>
                  <a:srgbClr val="00B0F0"/>
                </a:solidFill>
              </a:rPr>
              <a:t>en</a:t>
            </a:r>
            <a:r>
              <a:rPr lang="en-US" sz="2000" dirty="0">
                <a:solidFill>
                  <a:srgbClr val="00B0F0"/>
                </a:solidFill>
              </a:rPr>
              <a:t>"&gt;</a:t>
            </a:r>
          </a:p>
          <a:p>
            <a:pPr marL="457200" lvl="1" indent="0" algn="just">
              <a:buNone/>
            </a:pPr>
            <a:r>
              <a:rPr lang="en-US" sz="2000" dirty="0">
                <a:solidFill>
                  <a:srgbClr val="00B0F0"/>
                </a:solidFill>
              </a:rPr>
              <a:t>  &lt;head&gt; </a:t>
            </a:r>
          </a:p>
          <a:p>
            <a:pPr marL="457200" lvl="1" indent="0" algn="just">
              <a:buNone/>
            </a:pPr>
            <a:r>
              <a:rPr lang="en-US" sz="2000" dirty="0">
                <a:solidFill>
                  <a:srgbClr val="00B0F0"/>
                </a:solidFill>
              </a:rPr>
              <a:t>    &lt;title&gt; Access to form elements &lt;/title&gt;</a:t>
            </a:r>
          </a:p>
          <a:p>
            <a:pPr marL="457200" lvl="1" indent="0" algn="just">
              <a:buNone/>
            </a:pPr>
            <a:r>
              <a:rPr lang="en-US" sz="2000" dirty="0">
                <a:solidFill>
                  <a:srgbClr val="00B0F0"/>
                </a:solidFill>
              </a:rPr>
              <a:t>    &lt;meta charset = "utf-8" /&gt;</a:t>
            </a:r>
          </a:p>
          <a:p>
            <a:pPr marL="457200" lvl="1" indent="0" algn="just">
              <a:buNone/>
            </a:pPr>
            <a:r>
              <a:rPr lang="en-US" sz="2000" dirty="0">
                <a:solidFill>
                  <a:srgbClr val="00B0F0"/>
                </a:solidFill>
              </a:rPr>
              <a:t>  &lt;/head&gt;</a:t>
            </a:r>
          </a:p>
          <a:p>
            <a:pPr marL="457200" lvl="1" indent="0" algn="just">
              <a:buNone/>
            </a:pPr>
            <a:r>
              <a:rPr lang="en-US" sz="2000" dirty="0">
                <a:solidFill>
                  <a:srgbClr val="00B0F0"/>
                </a:solidFill>
              </a:rPr>
              <a:t>  &lt;body&gt;</a:t>
            </a:r>
          </a:p>
          <a:p>
            <a:pPr marL="457200" lvl="1" indent="0" algn="just">
              <a:buNone/>
            </a:pPr>
            <a:r>
              <a:rPr lang="en-US" sz="2000" dirty="0">
                <a:solidFill>
                  <a:srgbClr val="00B0F0"/>
                </a:solidFill>
              </a:rPr>
              <a:t>    &lt;form name = "</a:t>
            </a:r>
            <a:r>
              <a:rPr lang="en-US" sz="2000" dirty="0" err="1">
                <a:solidFill>
                  <a:srgbClr val="00B0F0"/>
                </a:solidFill>
              </a:rPr>
              <a:t>myForm</a:t>
            </a:r>
            <a:r>
              <a:rPr lang="en-US" sz="2000" dirty="0">
                <a:solidFill>
                  <a:srgbClr val="00B0F0"/>
                </a:solidFill>
              </a:rPr>
              <a:t>"  action = ""&gt;</a:t>
            </a:r>
          </a:p>
          <a:p>
            <a:pPr marL="457200" lvl="1" indent="0" algn="just">
              <a:buNone/>
            </a:pPr>
            <a:r>
              <a:rPr lang="en-US" sz="2000" dirty="0">
                <a:solidFill>
                  <a:srgbClr val="00B0F0"/>
                </a:solidFill>
              </a:rPr>
              <a:t>      &lt;input type = "button"  name = "</a:t>
            </a:r>
            <a:r>
              <a:rPr lang="en-US" sz="2000" dirty="0" err="1">
                <a:solidFill>
                  <a:srgbClr val="00B0F0"/>
                </a:solidFill>
              </a:rPr>
              <a:t>turnItOn</a:t>
            </a:r>
            <a:r>
              <a:rPr lang="en-US" sz="2000" dirty="0">
                <a:solidFill>
                  <a:srgbClr val="00B0F0"/>
                </a:solidFill>
              </a:rPr>
              <a:t>" /&gt;</a:t>
            </a:r>
          </a:p>
          <a:p>
            <a:pPr marL="457200" lvl="1" indent="0" algn="just">
              <a:buNone/>
            </a:pPr>
            <a:r>
              <a:rPr lang="en-US" sz="2000" dirty="0">
                <a:solidFill>
                  <a:srgbClr val="00B0F0"/>
                </a:solidFill>
              </a:rPr>
              <a:t>    &lt;/form&gt;</a:t>
            </a:r>
          </a:p>
          <a:p>
            <a:pPr marL="457200" lvl="1" indent="0" algn="just">
              <a:buNone/>
            </a:pPr>
            <a:r>
              <a:rPr lang="en-US" sz="2000" dirty="0">
                <a:solidFill>
                  <a:srgbClr val="00B0F0"/>
                </a:solidFill>
              </a:rPr>
              <a:t>  &lt;/body&gt;</a:t>
            </a:r>
          </a:p>
          <a:p>
            <a:pPr marL="457200" lvl="1" indent="0" algn="just">
              <a:buNone/>
            </a:pPr>
            <a:r>
              <a:rPr lang="en-US" sz="2000" dirty="0">
                <a:solidFill>
                  <a:srgbClr val="00B0F0"/>
                </a:solidFill>
              </a:rPr>
              <a:t> &lt;/html&gt;</a:t>
            </a:r>
            <a:endParaRPr lang="en-IN" sz="2000" dirty="0">
              <a:solidFill>
                <a:srgbClr val="00B0F0"/>
              </a:solidFill>
            </a:endParaRPr>
          </a:p>
          <a:p>
            <a:pPr algn="just"/>
            <a:r>
              <a:rPr lang="en-IN" sz="2400" dirty="0">
                <a:solidFill>
                  <a:schemeClr val="tx2"/>
                </a:solidFill>
              </a:rPr>
              <a:t>var </a:t>
            </a:r>
            <a:r>
              <a:rPr lang="en-IN" sz="2400" dirty="0" err="1">
                <a:solidFill>
                  <a:schemeClr val="tx2"/>
                </a:solidFill>
              </a:rPr>
              <a:t>dom</a:t>
            </a:r>
            <a:r>
              <a:rPr lang="en-IN" sz="2400" dirty="0">
                <a:solidFill>
                  <a:schemeClr val="tx2"/>
                </a:solidFill>
              </a:rPr>
              <a:t> = </a:t>
            </a:r>
            <a:r>
              <a:rPr lang="en-IN" sz="2400" dirty="0" err="1">
                <a:solidFill>
                  <a:schemeClr val="tx2"/>
                </a:solidFill>
              </a:rPr>
              <a:t>document.myForm.turnItOn</a:t>
            </a:r>
            <a:r>
              <a:rPr lang="en-IN" sz="2400" dirty="0">
                <a:solidFill>
                  <a:schemeClr val="tx2"/>
                </a:solidFill>
              </a:rPr>
              <a:t>;</a:t>
            </a:r>
          </a:p>
          <a:p>
            <a:pPr algn="just"/>
            <a:r>
              <a:rPr lang="en-US" sz="2400" dirty="0"/>
              <a:t>One minor drawback of this approach is that the XHTML 1.1 standard does not allow the name attribute in the form element, even though the attribute is now valid for form elements.</a:t>
            </a:r>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Tree>
    <p:extLst>
      <p:ext uri="{BB962C8B-B14F-4D97-AF65-F5344CB8AC3E}">
        <p14:creationId xmlns:p14="http://schemas.microsoft.com/office/powerpoint/2010/main" val="344261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E05E28-9A57-8452-4C54-6788406979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4AA7344-EC72-DED7-2768-E750D723A39C}"/>
              </a:ext>
            </a:extLst>
          </p:cNvPr>
          <p:cNvSpPr>
            <a:spLocks noGrp="1"/>
          </p:cNvSpPr>
          <p:nvPr>
            <p:ph idx="1"/>
          </p:nvPr>
        </p:nvSpPr>
        <p:spPr>
          <a:xfrm>
            <a:off x="838200" y="263951"/>
            <a:ext cx="10515600" cy="6400800"/>
          </a:xfrm>
        </p:spPr>
        <p:txBody>
          <a:bodyPr/>
          <a:lstStyle/>
          <a:p>
            <a:r>
              <a:rPr lang="en-US" dirty="0"/>
              <a:t>Continued…</a:t>
            </a:r>
          </a:p>
          <a:p>
            <a:pPr algn="just"/>
            <a:r>
              <a:rPr lang="en-US" sz="2400" dirty="0"/>
              <a:t>Yet another approach to element addressing is to use the JavaScript method </a:t>
            </a:r>
            <a:r>
              <a:rPr lang="en-US" sz="2400" dirty="0" err="1">
                <a:solidFill>
                  <a:schemeClr val="accent1">
                    <a:lumMod val="75000"/>
                  </a:schemeClr>
                </a:solidFill>
              </a:rPr>
              <a:t>getElementById</a:t>
            </a:r>
            <a:r>
              <a:rPr lang="en-US" sz="2400" dirty="0"/>
              <a:t>,</a:t>
            </a:r>
            <a:endParaRPr lang="en-IN" sz="2400" dirty="0"/>
          </a:p>
          <a:p>
            <a:pPr lvl="1" algn="just"/>
            <a:r>
              <a:rPr lang="en-IN" sz="2000" dirty="0"/>
              <a:t>var </a:t>
            </a:r>
            <a:r>
              <a:rPr lang="en-IN" sz="2000" dirty="0" err="1"/>
              <a:t>dom</a:t>
            </a:r>
            <a:r>
              <a:rPr lang="en-IN" sz="2000" dirty="0"/>
              <a:t> = </a:t>
            </a:r>
            <a:r>
              <a:rPr lang="en-IN" sz="2000" dirty="0" err="1"/>
              <a:t>document.getElementById</a:t>
            </a:r>
            <a:r>
              <a:rPr lang="en-IN" sz="2000" dirty="0"/>
              <a:t>("</a:t>
            </a:r>
            <a:r>
              <a:rPr lang="en-IN" sz="2000" dirty="0" err="1"/>
              <a:t>turnItOn</a:t>
            </a:r>
            <a:r>
              <a:rPr lang="en-IN" sz="2000" dirty="0"/>
              <a:t>");</a:t>
            </a:r>
          </a:p>
          <a:p>
            <a:pPr algn="just"/>
            <a:r>
              <a:rPr lang="en-US" sz="2400" dirty="0"/>
              <a:t>Because ids are useful for DOM addressing and names are required for form processing code, form elements often have both ids and names, set to the same value.</a:t>
            </a:r>
            <a:endParaRPr lang="en-IN" sz="2400" dirty="0"/>
          </a:p>
          <a:p>
            <a:pPr algn="just"/>
            <a:r>
              <a:rPr lang="en-US" sz="2400" dirty="0"/>
              <a:t>Buttons in a group of checkboxes often share the same name. The buttons in a radio button group always have the same name. </a:t>
            </a:r>
          </a:p>
          <a:p>
            <a:pPr algn="just"/>
            <a:r>
              <a:rPr lang="en-US" sz="2400" dirty="0"/>
              <a:t>In these cases, the names of the individual buttons obviously cannot be used in their DOM addresses. </a:t>
            </a:r>
          </a:p>
          <a:p>
            <a:pPr algn="just"/>
            <a:r>
              <a:rPr lang="en-US" sz="2400" dirty="0"/>
              <a:t>Of course, each radio button and checkbox can have an id, which would make them easy to address by using </a:t>
            </a:r>
            <a:r>
              <a:rPr lang="en-US" sz="2400" dirty="0" err="1"/>
              <a:t>getElementById</a:t>
            </a:r>
            <a:r>
              <a:rPr lang="en-US" sz="2400" dirty="0"/>
              <a:t>. </a:t>
            </a:r>
            <a:endParaRPr lang="en-IN" sz="2400" dirty="0"/>
          </a:p>
          <a:p>
            <a:pPr algn="just"/>
            <a:r>
              <a:rPr lang="en-US" sz="2400" dirty="0"/>
              <a:t>However, this approach does not provide a convenient way to search a group of radio buttons or checkboxes to determine which is checked.</a:t>
            </a:r>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Tree>
    <p:extLst>
      <p:ext uri="{BB962C8B-B14F-4D97-AF65-F5344CB8AC3E}">
        <p14:creationId xmlns:p14="http://schemas.microsoft.com/office/powerpoint/2010/main" val="379558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A7A7F55-7A21-41DB-D23C-AC6B7B1B3F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843FC13-A6F1-692C-7096-8D4DC4614794}"/>
              </a:ext>
            </a:extLst>
          </p:cNvPr>
          <p:cNvSpPr>
            <a:spLocks noGrp="1"/>
          </p:cNvSpPr>
          <p:nvPr>
            <p:ph idx="1"/>
          </p:nvPr>
        </p:nvSpPr>
        <p:spPr>
          <a:xfrm>
            <a:off x="838200" y="263951"/>
            <a:ext cx="10515600" cy="6400800"/>
          </a:xfrm>
        </p:spPr>
        <p:txBody>
          <a:bodyPr/>
          <a:lstStyle/>
          <a:p>
            <a:r>
              <a:rPr lang="en-US" dirty="0"/>
              <a:t>Continued…</a:t>
            </a:r>
          </a:p>
          <a:p>
            <a:pPr algn="just"/>
            <a:r>
              <a:rPr lang="en-US" sz="2400" dirty="0"/>
              <a:t>An alternative to both names and ids is provided by the implicit arrays associated with each checkbox and radio button group. </a:t>
            </a:r>
          </a:p>
          <a:p>
            <a:pPr algn="just"/>
            <a:r>
              <a:rPr lang="en-US" sz="2400" dirty="0"/>
              <a:t>Every such group has an array, which has the same name as the group name, that stores the DOM addresses of the individual buttons in the group.</a:t>
            </a:r>
            <a:endParaRPr lang="en-IN" sz="2400" dirty="0"/>
          </a:p>
          <a:p>
            <a:pPr algn="just"/>
            <a:r>
              <a:rPr lang="en-US" sz="2400" dirty="0"/>
              <a:t>These arrays are properties of the form in which the buttons appear. To access the arrays, the DOM address of the form object must first be obtained</a:t>
            </a:r>
            <a:endParaRPr lang="en-IN" sz="2400" dirty="0"/>
          </a:p>
          <a:p>
            <a:pPr algn="just"/>
            <a:endParaRPr lang="en-IN" sz="2400" dirty="0"/>
          </a:p>
          <a:p>
            <a:pPr algn="just"/>
            <a:endParaRPr lang="en-IN" sz="2400" dirty="0"/>
          </a:p>
          <a:p>
            <a:pPr algn="just"/>
            <a:endParaRPr lang="en-IN" sz="2400" dirty="0"/>
          </a:p>
          <a:p>
            <a:pPr algn="just"/>
            <a:endParaRPr lang="en-IN" sz="2400" dirty="0"/>
          </a:p>
          <a:p>
            <a:pPr algn="just"/>
            <a:r>
              <a:rPr lang="en-US" sz="2400" dirty="0"/>
              <a:t>the following code counts the number of checkboxes that were checked</a:t>
            </a:r>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pic>
        <p:nvPicPr>
          <p:cNvPr id="4" name="Picture 3">
            <a:extLst>
              <a:ext uri="{FF2B5EF4-FFF2-40B4-BE49-F238E27FC236}">
                <a16:creationId xmlns:a16="http://schemas.microsoft.com/office/drawing/2014/main" xmlns="" id="{87650FBA-B065-D125-B648-5FC045BD58A2}"/>
              </a:ext>
            </a:extLst>
          </p:cNvPr>
          <p:cNvPicPr>
            <a:picLocks noChangeAspect="1"/>
          </p:cNvPicPr>
          <p:nvPr/>
        </p:nvPicPr>
        <p:blipFill>
          <a:blip r:embed="rId2"/>
          <a:stretch>
            <a:fillRect/>
          </a:stretch>
        </p:blipFill>
        <p:spPr>
          <a:xfrm>
            <a:off x="838200" y="3046440"/>
            <a:ext cx="5334744" cy="1952898"/>
          </a:xfrm>
          <a:prstGeom prst="rect">
            <a:avLst/>
          </a:prstGeom>
        </p:spPr>
      </p:pic>
      <p:pic>
        <p:nvPicPr>
          <p:cNvPr id="6" name="Picture 5">
            <a:extLst>
              <a:ext uri="{FF2B5EF4-FFF2-40B4-BE49-F238E27FC236}">
                <a16:creationId xmlns:a16="http://schemas.microsoft.com/office/drawing/2014/main" xmlns="" id="{E2A95E2B-F1EC-68E3-C148-E83C452703DE}"/>
              </a:ext>
            </a:extLst>
          </p:cNvPr>
          <p:cNvPicPr>
            <a:picLocks noChangeAspect="1"/>
          </p:cNvPicPr>
          <p:nvPr/>
        </p:nvPicPr>
        <p:blipFill>
          <a:blip r:embed="rId3"/>
          <a:stretch>
            <a:fillRect/>
          </a:stretch>
        </p:blipFill>
        <p:spPr>
          <a:xfrm>
            <a:off x="1099380" y="5493012"/>
            <a:ext cx="6192114" cy="1171739"/>
          </a:xfrm>
          <a:prstGeom prst="rect">
            <a:avLst/>
          </a:prstGeom>
        </p:spPr>
      </p:pic>
    </p:spTree>
    <p:extLst>
      <p:ext uri="{BB962C8B-B14F-4D97-AF65-F5344CB8AC3E}">
        <p14:creationId xmlns:p14="http://schemas.microsoft.com/office/powerpoint/2010/main" val="2393033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1CDD3E5-4673-D4A7-9F26-128E2E9A48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B8ADD7C-C6E2-3085-1E5C-53E1038725DE}"/>
              </a:ext>
            </a:extLst>
          </p:cNvPr>
          <p:cNvSpPr>
            <a:spLocks noGrp="1"/>
          </p:cNvSpPr>
          <p:nvPr>
            <p:ph idx="1"/>
          </p:nvPr>
        </p:nvSpPr>
        <p:spPr>
          <a:xfrm>
            <a:off x="838200" y="263951"/>
            <a:ext cx="10515600" cy="6400800"/>
          </a:xfrm>
        </p:spPr>
        <p:txBody>
          <a:bodyPr/>
          <a:lstStyle/>
          <a:p>
            <a:pPr marL="0" indent="0">
              <a:buNone/>
            </a:pPr>
            <a:r>
              <a:rPr lang="en-IN" dirty="0"/>
              <a:t>4 Events and Event Handling</a:t>
            </a:r>
            <a:endParaRPr lang="en-US" dirty="0"/>
          </a:p>
          <a:p>
            <a:pPr marL="0" indent="0" algn="just">
              <a:buNone/>
            </a:pPr>
            <a:r>
              <a:rPr lang="en-US" sz="2400" dirty="0"/>
              <a:t>4.1 Basic Concepts of Event Handling</a:t>
            </a:r>
            <a:endParaRPr lang="en-IN" sz="2400" dirty="0"/>
          </a:p>
          <a:p>
            <a:pPr algn="just"/>
            <a:r>
              <a:rPr lang="en-US" sz="2400" dirty="0"/>
              <a:t>One important use of JavaScript for Web programming is to detect certain activities of the browser and the browser user and provide computation when those activities occur. </a:t>
            </a:r>
          </a:p>
          <a:p>
            <a:pPr algn="just"/>
            <a:r>
              <a:rPr lang="en-US" sz="2400" dirty="0"/>
              <a:t>These computations are specified with a special form of programming called </a:t>
            </a:r>
            <a:r>
              <a:rPr lang="en-US" sz="2400" dirty="0">
                <a:solidFill>
                  <a:srgbClr val="FF0000"/>
                </a:solidFill>
              </a:rPr>
              <a:t>event-driven</a:t>
            </a:r>
            <a:r>
              <a:rPr lang="en-US" sz="2400" dirty="0"/>
              <a:t> programming.</a:t>
            </a:r>
            <a:endParaRPr lang="en-IN" sz="2400" dirty="0"/>
          </a:p>
          <a:p>
            <a:pPr algn="just"/>
            <a:r>
              <a:rPr lang="en-US" sz="2400" dirty="0"/>
              <a:t>In event-driven programming, parts of the program are executed at completely unpredictable times, often triggered by user interactions with the program that is executing.</a:t>
            </a:r>
            <a:endParaRPr lang="en-IN" sz="2400" dirty="0"/>
          </a:p>
          <a:p>
            <a:pPr algn="just"/>
            <a:r>
              <a:rPr lang="en-US" sz="2400" dirty="0"/>
              <a:t>An </a:t>
            </a:r>
            <a:r>
              <a:rPr lang="en-US" sz="2400" dirty="0">
                <a:solidFill>
                  <a:srgbClr val="FF0000"/>
                </a:solidFill>
              </a:rPr>
              <a:t>event</a:t>
            </a:r>
            <a:r>
              <a:rPr lang="en-US" sz="2400" dirty="0"/>
              <a:t> is a notification that something specific has occurred, either in the browser, such as the completion of the loading of a document, or a browser user action, such as a mouse click on a form button.</a:t>
            </a:r>
            <a:endParaRPr lang="en-IN" sz="2400" dirty="0"/>
          </a:p>
          <a:p>
            <a:pPr algn="just"/>
            <a:r>
              <a:rPr lang="en-US" sz="2400" dirty="0"/>
              <a:t>An </a:t>
            </a:r>
            <a:r>
              <a:rPr lang="en-US" sz="2400" dirty="0">
                <a:solidFill>
                  <a:srgbClr val="FF0000"/>
                </a:solidFill>
              </a:rPr>
              <a:t>event handler </a:t>
            </a:r>
            <a:r>
              <a:rPr lang="en-US" sz="2400" dirty="0"/>
              <a:t>is a script that is implicitly executed in response to the appearance of an </a:t>
            </a:r>
            <a:r>
              <a:rPr lang="en-US" sz="2400" dirty="0">
                <a:solidFill>
                  <a:srgbClr val="FF0000"/>
                </a:solidFill>
              </a:rPr>
              <a:t>event</a:t>
            </a:r>
            <a:r>
              <a:rPr lang="en-US" sz="2400" dirty="0"/>
              <a:t>.</a:t>
            </a:r>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US" sz="2400" dirty="0"/>
          </a:p>
        </p:txBody>
      </p:sp>
    </p:spTree>
    <p:extLst>
      <p:ext uri="{BB962C8B-B14F-4D97-AF65-F5344CB8AC3E}">
        <p14:creationId xmlns:p14="http://schemas.microsoft.com/office/powerpoint/2010/main" val="953030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EFFEEC0-B855-0183-D16E-9CC604E15980}"/>
              </a:ext>
            </a:extLst>
          </p:cNvPr>
          <p:cNvSpPr>
            <a:spLocks noGrp="1"/>
          </p:cNvSpPr>
          <p:nvPr>
            <p:ph idx="1"/>
          </p:nvPr>
        </p:nvSpPr>
        <p:spPr>
          <a:xfrm>
            <a:off x="838200" y="320510"/>
            <a:ext cx="10515600" cy="6297105"/>
          </a:xfrm>
        </p:spPr>
        <p:txBody>
          <a:bodyPr/>
          <a:lstStyle/>
          <a:p>
            <a:pPr marL="0" indent="0">
              <a:buNone/>
            </a:pPr>
            <a:r>
              <a:rPr lang="en-US" b="1" dirty="0"/>
              <a:t>Continued…</a:t>
            </a:r>
          </a:p>
          <a:p>
            <a:pPr algn="just"/>
            <a:r>
              <a:rPr lang="en-US" sz="2400" dirty="0"/>
              <a:t>Events are created by </a:t>
            </a:r>
            <a:r>
              <a:rPr lang="en-US" sz="2400" dirty="0">
                <a:solidFill>
                  <a:srgbClr val="FF0000"/>
                </a:solidFill>
              </a:rPr>
              <a:t>activities</a:t>
            </a:r>
            <a:r>
              <a:rPr lang="en-US" sz="2400" dirty="0"/>
              <a:t> associated with specific HTML elements. </a:t>
            </a:r>
          </a:p>
          <a:p>
            <a:pPr algn="just"/>
            <a:r>
              <a:rPr lang="en-US" sz="2400" dirty="0"/>
              <a:t>For example, the click event can be caused by the browser user clicking a radio button or the link of an anchor tag, among other things.</a:t>
            </a:r>
          </a:p>
          <a:p>
            <a:pPr algn="just"/>
            <a:r>
              <a:rPr lang="en-US" sz="2400" dirty="0"/>
              <a:t>The process of connecting an event handler to an event is called </a:t>
            </a:r>
            <a:r>
              <a:rPr lang="en-US" sz="2400" dirty="0">
                <a:solidFill>
                  <a:srgbClr val="FF0000"/>
                </a:solidFill>
              </a:rPr>
              <a:t>registration</a:t>
            </a:r>
            <a:r>
              <a:rPr lang="en-US" sz="2400" dirty="0"/>
              <a:t>. </a:t>
            </a:r>
          </a:p>
          <a:p>
            <a:pPr algn="just"/>
            <a:r>
              <a:rPr lang="en-US" sz="2400" dirty="0"/>
              <a:t>There are two distinct approaches to event handler registration, one that assigns tag attributes and one that assigns handler addresses to object properties.</a:t>
            </a:r>
          </a:p>
          <a:p>
            <a:pPr algn="just"/>
            <a:r>
              <a:rPr lang="en-US" sz="2400" dirty="0"/>
              <a:t>The </a:t>
            </a:r>
            <a:r>
              <a:rPr lang="en-US" sz="2400" dirty="0">
                <a:solidFill>
                  <a:srgbClr val="FF0000"/>
                </a:solidFill>
              </a:rPr>
              <a:t>write</a:t>
            </a:r>
            <a:r>
              <a:rPr lang="en-US" sz="2400" dirty="0"/>
              <a:t> method of document should never be used in an event handler.</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35759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B175999-A31C-F6B9-05E9-DB94BBAADF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D450404-24DA-075A-DCD1-69BF0A0A1656}"/>
              </a:ext>
            </a:extLst>
          </p:cNvPr>
          <p:cNvSpPr>
            <a:spLocks noGrp="1"/>
          </p:cNvSpPr>
          <p:nvPr>
            <p:ph idx="1"/>
          </p:nvPr>
        </p:nvSpPr>
        <p:spPr>
          <a:xfrm>
            <a:off x="838200" y="320510"/>
            <a:ext cx="10515600" cy="6297105"/>
          </a:xfrm>
        </p:spPr>
        <p:txBody>
          <a:bodyPr/>
          <a:lstStyle/>
          <a:p>
            <a:pPr marL="0" indent="0">
              <a:buNone/>
            </a:pPr>
            <a:r>
              <a:rPr lang="en-US" dirty="0"/>
              <a:t>4.2 Events, Attributes, and Tags</a:t>
            </a:r>
            <a:endParaRPr lang="en-US" b="1" dirty="0"/>
          </a:p>
          <a:p>
            <a:pPr algn="just"/>
            <a:r>
              <a:rPr lang="en-US" sz="2400" dirty="0"/>
              <a:t>HTML4 defined a collection of events that browsers implement and with which JavaScript can deal. </a:t>
            </a:r>
          </a:p>
          <a:p>
            <a:pPr algn="just"/>
            <a:r>
              <a:rPr lang="en-US" sz="2400" dirty="0"/>
              <a:t>These events are associated with HTML tag attributes, which can be used to connect the events to handlers. </a:t>
            </a:r>
          </a:p>
          <a:p>
            <a:pPr algn="just"/>
            <a:r>
              <a:rPr lang="en-US" sz="2400" dirty="0"/>
              <a:t>The attributes have names that are closely related to their associated events.</a:t>
            </a:r>
          </a:p>
          <a:p>
            <a:pPr algn="just"/>
            <a:r>
              <a:rPr lang="en-US" sz="2400" dirty="0"/>
              <a:t>The same attribute can appear in several different tags .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57676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6D12672-5638-DCB1-DE2E-E529B3E93F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8B07818-0DE2-3125-8F90-90DC91BFCC33}"/>
              </a:ext>
            </a:extLst>
          </p:cNvPr>
          <p:cNvSpPr>
            <a:spLocks noGrp="1"/>
          </p:cNvSpPr>
          <p:nvPr>
            <p:ph idx="1"/>
          </p:nvPr>
        </p:nvSpPr>
        <p:spPr>
          <a:xfrm>
            <a:off x="838200" y="320510"/>
            <a:ext cx="10515600" cy="6297105"/>
          </a:xfrm>
        </p:spPr>
        <p:txBody>
          <a:bodyPr/>
          <a:lstStyle/>
          <a:p>
            <a:pPr marL="0" indent="0">
              <a:buNone/>
            </a:pPr>
            <a:r>
              <a:rPr lang="en-US" b="1" dirty="0"/>
              <a:t>Continued…</a:t>
            </a:r>
          </a:p>
          <a:p>
            <a:pPr algn="just"/>
            <a:r>
              <a:rPr lang="en-US" sz="2400" dirty="0"/>
              <a:t>Events and their tag attributes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xmlns="" id="{A6DB5229-2C37-54BD-00F2-03DC4D680EE5}"/>
              </a:ext>
            </a:extLst>
          </p:cNvPr>
          <p:cNvPicPr>
            <a:picLocks noChangeAspect="1"/>
          </p:cNvPicPr>
          <p:nvPr/>
        </p:nvPicPr>
        <p:blipFill>
          <a:blip r:embed="rId2"/>
          <a:stretch>
            <a:fillRect/>
          </a:stretch>
        </p:blipFill>
        <p:spPr>
          <a:xfrm>
            <a:off x="5117611" y="214460"/>
            <a:ext cx="5952542" cy="6429080"/>
          </a:xfrm>
          <a:prstGeom prst="rect">
            <a:avLst/>
          </a:prstGeom>
        </p:spPr>
      </p:pic>
    </p:spTree>
    <p:extLst>
      <p:ext uri="{BB962C8B-B14F-4D97-AF65-F5344CB8AC3E}">
        <p14:creationId xmlns:p14="http://schemas.microsoft.com/office/powerpoint/2010/main" val="1288911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AEF1869-C07F-5D6E-BD15-5820D067891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0BD6CA1-F503-533B-C123-40AD40081352}"/>
              </a:ext>
            </a:extLst>
          </p:cNvPr>
          <p:cNvSpPr>
            <a:spLocks noGrp="1"/>
          </p:cNvSpPr>
          <p:nvPr>
            <p:ph idx="1"/>
          </p:nvPr>
        </p:nvSpPr>
        <p:spPr>
          <a:xfrm>
            <a:off x="838200" y="320510"/>
            <a:ext cx="10515600" cy="6297105"/>
          </a:xfrm>
        </p:spPr>
        <p:txBody>
          <a:bodyPr/>
          <a:lstStyle/>
          <a:p>
            <a:pPr marL="0" indent="0">
              <a:buNone/>
            </a:pPr>
            <a:r>
              <a:rPr lang="en-US" b="1" dirty="0"/>
              <a:t>Continued…</a:t>
            </a:r>
          </a:p>
          <a:p>
            <a:pPr algn="just"/>
            <a:r>
              <a:rPr lang="en-US" sz="2400" dirty="0"/>
              <a:t>Table 2 shows (1) the most commonly used attributes related to events, (2) tags that can include the attributes, and (3) the circumstances under which the associated events are created.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10" name="Picture 9">
            <a:extLst>
              <a:ext uri="{FF2B5EF4-FFF2-40B4-BE49-F238E27FC236}">
                <a16:creationId xmlns:a16="http://schemas.microsoft.com/office/drawing/2014/main" xmlns="" id="{51B5B609-1109-5EB8-F1F6-ECC4374D93EC}"/>
              </a:ext>
            </a:extLst>
          </p:cNvPr>
          <p:cNvPicPr>
            <a:picLocks noChangeAspect="1"/>
          </p:cNvPicPr>
          <p:nvPr/>
        </p:nvPicPr>
        <p:blipFill>
          <a:blip r:embed="rId2"/>
          <a:stretch>
            <a:fillRect/>
          </a:stretch>
        </p:blipFill>
        <p:spPr>
          <a:xfrm>
            <a:off x="2577785" y="2015877"/>
            <a:ext cx="6537935" cy="4722248"/>
          </a:xfrm>
          <a:prstGeom prst="rect">
            <a:avLst/>
          </a:prstGeom>
        </p:spPr>
      </p:pic>
    </p:spTree>
    <p:extLst>
      <p:ext uri="{BB962C8B-B14F-4D97-AF65-F5344CB8AC3E}">
        <p14:creationId xmlns:p14="http://schemas.microsoft.com/office/powerpoint/2010/main" val="219550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5D14506-7653-F457-5491-E57941E750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722DBCB-C60B-B0C0-5073-AB34A92B77C7}"/>
              </a:ext>
            </a:extLst>
          </p:cNvPr>
          <p:cNvSpPr>
            <a:spLocks noGrp="1"/>
          </p:cNvSpPr>
          <p:nvPr>
            <p:ph idx="1"/>
          </p:nvPr>
        </p:nvSpPr>
        <p:spPr>
          <a:xfrm>
            <a:off x="838200" y="320510"/>
            <a:ext cx="10515600" cy="6297105"/>
          </a:xfrm>
        </p:spPr>
        <p:txBody>
          <a:bodyPr/>
          <a:lstStyle/>
          <a:p>
            <a:pPr algn="just"/>
            <a:r>
              <a:rPr lang="en-US" sz="2400" dirty="0"/>
              <a:t>Continued…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xmlns="" id="{0A40EEBC-27B9-E59B-F70C-E5C610B75F9B}"/>
              </a:ext>
            </a:extLst>
          </p:cNvPr>
          <p:cNvPicPr>
            <a:picLocks noChangeAspect="1"/>
          </p:cNvPicPr>
          <p:nvPr/>
        </p:nvPicPr>
        <p:blipFill>
          <a:blip r:embed="rId2"/>
          <a:stretch>
            <a:fillRect/>
          </a:stretch>
        </p:blipFill>
        <p:spPr>
          <a:xfrm>
            <a:off x="1573880" y="1062958"/>
            <a:ext cx="8497486" cy="2791215"/>
          </a:xfrm>
          <a:prstGeom prst="rect">
            <a:avLst/>
          </a:prstGeom>
        </p:spPr>
      </p:pic>
      <p:pic>
        <p:nvPicPr>
          <p:cNvPr id="6" name="Picture 5">
            <a:extLst>
              <a:ext uri="{FF2B5EF4-FFF2-40B4-BE49-F238E27FC236}">
                <a16:creationId xmlns:a16="http://schemas.microsoft.com/office/drawing/2014/main" xmlns="" id="{183C295E-F391-515C-0E7B-F69E3C602045}"/>
              </a:ext>
            </a:extLst>
          </p:cNvPr>
          <p:cNvPicPr>
            <a:picLocks noChangeAspect="1"/>
          </p:cNvPicPr>
          <p:nvPr/>
        </p:nvPicPr>
        <p:blipFill>
          <a:blip r:embed="rId3"/>
          <a:stretch>
            <a:fillRect/>
          </a:stretch>
        </p:blipFill>
        <p:spPr>
          <a:xfrm>
            <a:off x="1573880" y="3854173"/>
            <a:ext cx="8507012" cy="2572109"/>
          </a:xfrm>
          <a:prstGeom prst="rect">
            <a:avLst/>
          </a:prstGeom>
        </p:spPr>
      </p:pic>
    </p:spTree>
    <p:extLst>
      <p:ext uri="{BB962C8B-B14F-4D97-AF65-F5344CB8AC3E}">
        <p14:creationId xmlns:p14="http://schemas.microsoft.com/office/powerpoint/2010/main" val="137310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6D21703-4D59-84F9-AB20-CE90230186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E7511EE-066B-5819-19FD-8822587FB2F5}"/>
              </a:ext>
            </a:extLst>
          </p:cNvPr>
          <p:cNvSpPr>
            <a:spLocks noGrp="1"/>
          </p:cNvSpPr>
          <p:nvPr>
            <p:ph idx="1"/>
          </p:nvPr>
        </p:nvSpPr>
        <p:spPr>
          <a:xfrm>
            <a:off x="838200" y="320510"/>
            <a:ext cx="10515600" cy="6297105"/>
          </a:xfrm>
        </p:spPr>
        <p:txBody>
          <a:bodyPr/>
          <a:lstStyle/>
          <a:p>
            <a:pPr marL="0" indent="0">
              <a:buNone/>
            </a:pPr>
            <a:r>
              <a:rPr lang="en-US" b="1" dirty="0"/>
              <a:t>Event Registration</a:t>
            </a:r>
          </a:p>
          <a:p>
            <a:pPr algn="just"/>
            <a:endParaRPr lang="en-US" sz="2400" dirty="0"/>
          </a:p>
          <a:p>
            <a:pPr algn="just"/>
            <a:r>
              <a:rPr lang="en-US" sz="2400" dirty="0"/>
              <a:t>Assigning the event handler script to an event tag attribute</a:t>
            </a:r>
          </a:p>
          <a:p>
            <a:pPr marL="457200" lvl="1" indent="0" algn="just">
              <a:buNone/>
            </a:pPr>
            <a:r>
              <a:rPr lang="en-US" sz="2000" dirty="0"/>
              <a:t> </a:t>
            </a:r>
            <a:r>
              <a:rPr lang="en-US" sz="2000" dirty="0">
                <a:solidFill>
                  <a:srgbClr val="FF0000"/>
                </a:solidFill>
              </a:rPr>
              <a:t>&lt;input type = "button" id = "</a:t>
            </a:r>
            <a:r>
              <a:rPr lang="en-US" sz="2000" dirty="0" err="1">
                <a:solidFill>
                  <a:srgbClr val="FF0000"/>
                </a:solidFill>
              </a:rPr>
              <a:t>myButton</a:t>
            </a:r>
            <a:r>
              <a:rPr lang="en-US" sz="2000" dirty="0">
                <a:solidFill>
                  <a:srgbClr val="FF0000"/>
                </a:solidFill>
              </a:rPr>
              <a:t>"</a:t>
            </a:r>
          </a:p>
          <a:p>
            <a:pPr marL="457200" lvl="1" indent="0" algn="just">
              <a:buNone/>
            </a:pPr>
            <a:r>
              <a:rPr lang="en-US" sz="2000" dirty="0">
                <a:solidFill>
                  <a:srgbClr val="FF0000"/>
                </a:solidFill>
              </a:rPr>
              <a:t>       onclick = "alert('You clicked my button!');" /&gt;</a:t>
            </a:r>
          </a:p>
          <a:p>
            <a:pPr algn="just"/>
            <a:endParaRPr lang="en-US" sz="2400" dirty="0"/>
          </a:p>
          <a:p>
            <a:pPr algn="just"/>
            <a:r>
              <a:rPr lang="en-US" sz="2400" dirty="0"/>
              <a:t>If the handler consists of more than a single statement, a function is used</a:t>
            </a:r>
          </a:p>
          <a:p>
            <a:pPr marL="457200" lvl="1" indent="0" algn="just">
              <a:buNone/>
            </a:pPr>
            <a:r>
              <a:rPr lang="en-US" sz="2000" dirty="0"/>
              <a:t> </a:t>
            </a:r>
            <a:r>
              <a:rPr lang="en-US" sz="2000" dirty="0">
                <a:solidFill>
                  <a:srgbClr val="FF0000"/>
                </a:solidFill>
              </a:rPr>
              <a:t>&lt;input type = "button" id = "</a:t>
            </a:r>
            <a:r>
              <a:rPr lang="en-US" sz="2000" dirty="0" err="1">
                <a:solidFill>
                  <a:srgbClr val="FF0000"/>
                </a:solidFill>
              </a:rPr>
              <a:t>myButton</a:t>
            </a:r>
            <a:r>
              <a:rPr lang="en-US" sz="2000" dirty="0">
                <a:solidFill>
                  <a:srgbClr val="FF0000"/>
                </a:solidFill>
              </a:rPr>
              <a:t>"</a:t>
            </a:r>
          </a:p>
          <a:p>
            <a:pPr marL="457200" lvl="1" indent="0" algn="just">
              <a:buNone/>
            </a:pPr>
            <a:r>
              <a:rPr lang="en-US" sz="2000" dirty="0">
                <a:solidFill>
                  <a:srgbClr val="FF0000"/>
                </a:solidFill>
              </a:rPr>
              <a:t>       onclick = "</a:t>
            </a:r>
            <a:r>
              <a:rPr lang="en-US" sz="2000" dirty="0" err="1">
                <a:solidFill>
                  <a:srgbClr val="FF0000"/>
                </a:solidFill>
              </a:rPr>
              <a:t>myButtonHandler</a:t>
            </a:r>
            <a:r>
              <a:rPr lang="en-US" sz="2000" dirty="0">
                <a:solidFill>
                  <a:srgbClr val="FF0000"/>
                </a:solidFill>
              </a:rPr>
              <a:t>();" /&gt;</a:t>
            </a:r>
          </a:p>
          <a:p>
            <a:pPr algn="just"/>
            <a:endParaRPr lang="en-US" sz="2400" dirty="0"/>
          </a:p>
          <a:p>
            <a:pPr algn="just"/>
            <a:r>
              <a:rPr lang="en-US" sz="2400" dirty="0"/>
              <a:t>An event handler function could also be registered by assigning its name to the associated event property on the button object</a:t>
            </a:r>
          </a:p>
          <a:p>
            <a:pPr marL="457200" lvl="1" indent="0" algn="just">
              <a:buNone/>
            </a:pPr>
            <a:r>
              <a:rPr lang="en-IN" sz="2000" dirty="0" err="1">
                <a:solidFill>
                  <a:srgbClr val="FF0000"/>
                </a:solidFill>
              </a:rPr>
              <a:t>document.getElementById</a:t>
            </a:r>
            <a:r>
              <a:rPr lang="en-IN" sz="2000" dirty="0">
                <a:solidFill>
                  <a:srgbClr val="FF0000"/>
                </a:solidFill>
              </a:rPr>
              <a:t>("</a:t>
            </a:r>
            <a:r>
              <a:rPr lang="en-IN" sz="2000" dirty="0" err="1">
                <a:solidFill>
                  <a:srgbClr val="FF0000"/>
                </a:solidFill>
              </a:rPr>
              <a:t>myButton</a:t>
            </a:r>
            <a:r>
              <a:rPr lang="en-IN" sz="2000" dirty="0">
                <a:solidFill>
                  <a:srgbClr val="FF0000"/>
                </a:solidFill>
              </a:rPr>
              <a:t>").onclick = </a:t>
            </a:r>
            <a:r>
              <a:rPr lang="en-IN" sz="2000" dirty="0" err="1">
                <a:solidFill>
                  <a:srgbClr val="FF0000"/>
                </a:solidFill>
              </a:rPr>
              <a:t>myButtonHandler</a:t>
            </a:r>
            <a:r>
              <a:rPr lang="en-IN" sz="2000" dirty="0">
                <a:solidFill>
                  <a:srgbClr val="FF0000"/>
                </a:solidFill>
              </a:rPr>
              <a:t>;</a:t>
            </a:r>
            <a:endParaRPr lang="en-US" sz="2000" dirty="0">
              <a:solidFill>
                <a:srgbClr val="FF0000"/>
              </a:solidFill>
            </a:endParaRP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284878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63B77E4-4377-1869-5F59-24AB38BF33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5EAC921-1151-4433-8A63-2A6DC1EF09C9}"/>
              </a:ext>
            </a:extLst>
          </p:cNvPr>
          <p:cNvSpPr>
            <a:spLocks noGrp="1"/>
          </p:cNvSpPr>
          <p:nvPr>
            <p:ph idx="1"/>
          </p:nvPr>
        </p:nvSpPr>
        <p:spPr>
          <a:xfrm>
            <a:off x="838200" y="320510"/>
            <a:ext cx="10515600" cy="6297105"/>
          </a:xfrm>
        </p:spPr>
        <p:txBody>
          <a:bodyPr>
            <a:normAutofit lnSpcReduction="10000"/>
          </a:bodyPr>
          <a:lstStyle/>
          <a:p>
            <a:pPr marL="0" indent="0">
              <a:buNone/>
            </a:pPr>
            <a:r>
              <a:rPr lang="en-US" b="1" dirty="0"/>
              <a:t>5 Handling Events from Body Elements</a:t>
            </a:r>
          </a:p>
          <a:p>
            <a:pPr algn="just"/>
            <a:r>
              <a:rPr lang="en-US" sz="2400" dirty="0"/>
              <a:t>The events most often created by body elements are </a:t>
            </a:r>
            <a:r>
              <a:rPr lang="en-US" sz="2400" dirty="0">
                <a:solidFill>
                  <a:srgbClr val="FF0000"/>
                </a:solidFill>
              </a:rPr>
              <a:t>load</a:t>
            </a:r>
            <a:r>
              <a:rPr lang="en-US" sz="2400" dirty="0"/>
              <a:t> and </a:t>
            </a:r>
            <a:r>
              <a:rPr lang="en-US" sz="2400" dirty="0">
                <a:solidFill>
                  <a:srgbClr val="FF0000"/>
                </a:solidFill>
              </a:rPr>
              <a:t>unload</a:t>
            </a:r>
            <a:r>
              <a:rPr lang="en-US" sz="2400" dirty="0"/>
              <a:t>.</a:t>
            </a:r>
          </a:p>
          <a:p>
            <a:pPr algn="just"/>
            <a:r>
              <a:rPr lang="en-US" sz="2400" dirty="0"/>
              <a:t>Ex: consider the simple case of producing an alert message when the body of the document has been loaded.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r>
              <a:rPr lang="en-US" sz="2400" dirty="0"/>
              <a:t>The unload event is probably more useful than the load event. </a:t>
            </a:r>
          </a:p>
          <a:p>
            <a:pPr algn="just"/>
            <a:r>
              <a:rPr lang="en-US" sz="2400" dirty="0"/>
              <a:t>It is used to do some cleanup before a document is unloaded, as when the browser user goes on to some new document. </a:t>
            </a:r>
          </a:p>
          <a:p>
            <a:pPr algn="just"/>
            <a:r>
              <a:rPr lang="en-US" sz="2400" dirty="0"/>
              <a:t>For example, if the document opened a second browser window, that window could be closed by an unload event handler.</a:t>
            </a:r>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xmlns="" id="{1F99C03C-5F5A-2D18-DF62-C143219CB66E}"/>
              </a:ext>
            </a:extLst>
          </p:cNvPr>
          <p:cNvPicPr>
            <a:picLocks noChangeAspect="1"/>
          </p:cNvPicPr>
          <p:nvPr/>
        </p:nvPicPr>
        <p:blipFill>
          <a:blip r:embed="rId2"/>
          <a:stretch>
            <a:fillRect/>
          </a:stretch>
        </p:blipFill>
        <p:spPr>
          <a:xfrm>
            <a:off x="1099789" y="1757213"/>
            <a:ext cx="4273490" cy="2420384"/>
          </a:xfrm>
          <a:prstGeom prst="rect">
            <a:avLst/>
          </a:prstGeom>
        </p:spPr>
      </p:pic>
      <p:pic>
        <p:nvPicPr>
          <p:cNvPr id="6" name="Picture 5">
            <a:extLst>
              <a:ext uri="{FF2B5EF4-FFF2-40B4-BE49-F238E27FC236}">
                <a16:creationId xmlns:a16="http://schemas.microsoft.com/office/drawing/2014/main" xmlns="" id="{E8332F40-F59F-C8EE-0913-DEDB7897814F}"/>
              </a:ext>
            </a:extLst>
          </p:cNvPr>
          <p:cNvPicPr>
            <a:picLocks noChangeAspect="1"/>
          </p:cNvPicPr>
          <p:nvPr/>
        </p:nvPicPr>
        <p:blipFill>
          <a:blip r:embed="rId3"/>
          <a:stretch>
            <a:fillRect/>
          </a:stretch>
        </p:blipFill>
        <p:spPr>
          <a:xfrm>
            <a:off x="5373279" y="1738990"/>
            <a:ext cx="4893348" cy="1690010"/>
          </a:xfrm>
          <a:prstGeom prst="rect">
            <a:avLst/>
          </a:prstGeom>
        </p:spPr>
      </p:pic>
      <p:pic>
        <p:nvPicPr>
          <p:cNvPr id="8" name="Picture 7">
            <a:extLst>
              <a:ext uri="{FF2B5EF4-FFF2-40B4-BE49-F238E27FC236}">
                <a16:creationId xmlns:a16="http://schemas.microsoft.com/office/drawing/2014/main" xmlns="" id="{F9F53722-A470-231A-8690-377CF9FF7CF8}"/>
              </a:ext>
            </a:extLst>
          </p:cNvPr>
          <p:cNvPicPr>
            <a:picLocks noChangeAspect="1"/>
          </p:cNvPicPr>
          <p:nvPr/>
        </p:nvPicPr>
        <p:blipFill>
          <a:blip r:embed="rId4"/>
          <a:stretch>
            <a:fillRect/>
          </a:stretch>
        </p:blipFill>
        <p:spPr>
          <a:xfrm>
            <a:off x="9561623" y="3510745"/>
            <a:ext cx="2133926" cy="1333703"/>
          </a:xfrm>
          <a:prstGeom prst="rect">
            <a:avLst/>
          </a:prstGeom>
        </p:spPr>
      </p:pic>
    </p:spTree>
    <p:extLst>
      <p:ext uri="{BB962C8B-B14F-4D97-AF65-F5344CB8AC3E}">
        <p14:creationId xmlns:p14="http://schemas.microsoft.com/office/powerpoint/2010/main" val="2850246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22282FF-D907-4CF4-4EDA-0A7C8A9A85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8E938C0-BCD7-5A6F-1959-3AAC496927CA}"/>
              </a:ext>
            </a:extLst>
          </p:cNvPr>
          <p:cNvSpPr>
            <a:spLocks noGrp="1"/>
          </p:cNvSpPr>
          <p:nvPr>
            <p:ph idx="1"/>
          </p:nvPr>
        </p:nvSpPr>
        <p:spPr>
          <a:xfrm>
            <a:off x="838200" y="320510"/>
            <a:ext cx="10860464" cy="6297105"/>
          </a:xfrm>
        </p:spPr>
        <p:txBody>
          <a:bodyPr>
            <a:normAutofit lnSpcReduction="10000"/>
          </a:bodyPr>
          <a:lstStyle/>
          <a:p>
            <a:pPr marL="0" indent="0">
              <a:buNone/>
            </a:pPr>
            <a:r>
              <a:rPr lang="en-US" b="1" dirty="0"/>
              <a:t>6 Handling Events from Button Elements</a:t>
            </a:r>
          </a:p>
          <a:p>
            <a:pPr algn="just"/>
            <a:r>
              <a:rPr lang="en-US" sz="2400" dirty="0"/>
              <a:t>Buttons in a Web document provide an effective way to collect simple input from the browser user. The most commonly used event created by button actions is </a:t>
            </a:r>
            <a:r>
              <a:rPr lang="en-US" sz="2400" dirty="0">
                <a:solidFill>
                  <a:srgbClr val="FF0000"/>
                </a:solidFill>
              </a:rPr>
              <a:t>click</a:t>
            </a:r>
            <a:r>
              <a:rPr lang="en-US" sz="2400" dirty="0"/>
              <a:t>.</a:t>
            </a:r>
          </a:p>
          <a:p>
            <a:pPr marL="457200" lvl="1" indent="0" algn="just">
              <a:buNone/>
            </a:pPr>
            <a:r>
              <a:rPr lang="en-US" sz="2000" dirty="0"/>
              <a:t> </a:t>
            </a:r>
            <a:r>
              <a:rPr lang="en-US" sz="1400" dirty="0"/>
              <a:t>&lt;!DOCTYPE html&gt;</a:t>
            </a:r>
          </a:p>
          <a:p>
            <a:pPr marL="457200" lvl="1" indent="0" algn="just">
              <a:buNone/>
            </a:pPr>
            <a:r>
              <a:rPr lang="en-US" sz="1400" dirty="0"/>
              <a:t> &lt;!-- </a:t>
            </a:r>
            <a:r>
              <a:rPr lang="en-US" sz="1400" dirty="0" err="1"/>
              <a:t>radio_click.hmtl</a:t>
            </a:r>
            <a:endParaRPr lang="en-US" sz="1400" dirty="0"/>
          </a:p>
          <a:p>
            <a:pPr marL="457200" lvl="1" indent="0" algn="just">
              <a:buNone/>
            </a:pPr>
            <a:r>
              <a:rPr lang="en-US" sz="1400" dirty="0"/>
              <a:t>     A document for radio_click.js Creates four radio buttons that call the </a:t>
            </a:r>
            <a:r>
              <a:rPr lang="en-US" sz="1400" dirty="0" err="1"/>
              <a:t>planeChoice</a:t>
            </a:r>
            <a:r>
              <a:rPr lang="en-US" sz="1400" dirty="0"/>
              <a:t> event handler to display descriptions</a:t>
            </a:r>
          </a:p>
          <a:p>
            <a:pPr marL="457200" lvl="1" indent="0" algn="just">
              <a:buNone/>
            </a:pPr>
            <a:r>
              <a:rPr lang="en-US" sz="1400" dirty="0"/>
              <a:t>     --&gt;</a:t>
            </a:r>
          </a:p>
          <a:p>
            <a:pPr marL="457200" lvl="1" indent="0" algn="just">
              <a:buNone/>
            </a:pPr>
            <a:r>
              <a:rPr lang="en-US" sz="1400" dirty="0"/>
              <a:t> &lt;html lang = "</a:t>
            </a:r>
            <a:r>
              <a:rPr lang="en-US" sz="1400" dirty="0" err="1"/>
              <a:t>en</a:t>
            </a:r>
            <a:r>
              <a:rPr lang="en-US" sz="1400" dirty="0"/>
              <a:t>"&gt;</a:t>
            </a:r>
          </a:p>
          <a:p>
            <a:pPr marL="457200" lvl="1" indent="0" algn="just">
              <a:buNone/>
            </a:pPr>
            <a:r>
              <a:rPr lang="en-US" sz="1400" dirty="0"/>
              <a:t>  &lt;head&gt;</a:t>
            </a:r>
          </a:p>
          <a:p>
            <a:pPr marL="457200" lvl="1" indent="0" algn="just">
              <a:buNone/>
            </a:pPr>
            <a:r>
              <a:rPr lang="en-US" sz="1400" dirty="0"/>
              <a:t>    &lt;title&gt; radio_click.html &lt;/title&gt;</a:t>
            </a:r>
          </a:p>
          <a:p>
            <a:pPr marL="457200" lvl="1" indent="0" algn="just">
              <a:buNone/>
            </a:pPr>
            <a:r>
              <a:rPr lang="en-US" sz="1400" dirty="0"/>
              <a:t>    &lt;meta charset = "utf-8" /&gt;</a:t>
            </a:r>
          </a:p>
          <a:p>
            <a:pPr marL="457200" lvl="1" indent="0" algn="just">
              <a:buNone/>
            </a:pPr>
            <a:r>
              <a:rPr lang="en-US" sz="1400" dirty="0"/>
              <a:t>    &lt;script type = "text/</a:t>
            </a:r>
            <a:r>
              <a:rPr lang="en-US" sz="1400" dirty="0" err="1"/>
              <a:t>javascript</a:t>
            </a:r>
            <a:r>
              <a:rPr lang="en-US" sz="1400" dirty="0"/>
              <a:t>"  </a:t>
            </a:r>
            <a:r>
              <a:rPr lang="en-US" sz="1400" dirty="0" err="1"/>
              <a:t>src</a:t>
            </a:r>
            <a:r>
              <a:rPr lang="en-US" sz="1400" dirty="0"/>
              <a:t> = "radio_click.js" &gt;   &lt;/script&gt;</a:t>
            </a:r>
          </a:p>
          <a:p>
            <a:pPr marL="457200" lvl="1" indent="0" algn="just">
              <a:buNone/>
            </a:pPr>
            <a:r>
              <a:rPr lang="en-US" sz="1400" dirty="0"/>
              <a:t>  &lt;/head&gt;</a:t>
            </a:r>
          </a:p>
          <a:p>
            <a:pPr marL="457200" lvl="1" indent="0" algn="just">
              <a:buNone/>
            </a:pPr>
            <a:r>
              <a:rPr lang="en-US" sz="1400" dirty="0"/>
              <a:t>  &lt;body&gt;</a:t>
            </a:r>
          </a:p>
          <a:p>
            <a:pPr marL="457200" lvl="1" indent="0" algn="just">
              <a:buNone/>
            </a:pPr>
            <a:r>
              <a:rPr lang="en-US" sz="1400" dirty="0"/>
              <a:t>    &lt;h4&gt; Cessna single-engine airplane descriptions &lt;/h4&gt;</a:t>
            </a:r>
          </a:p>
          <a:p>
            <a:pPr marL="457200" lvl="1" indent="0" algn="just">
              <a:buNone/>
            </a:pPr>
            <a:r>
              <a:rPr lang="en-US" sz="1400" dirty="0"/>
              <a:t>    &lt;form id = "</a:t>
            </a:r>
            <a:r>
              <a:rPr lang="en-US" sz="1400" dirty="0" err="1"/>
              <a:t>myForm</a:t>
            </a:r>
            <a:r>
              <a:rPr lang="en-US" sz="1400" dirty="0"/>
              <a:t>"  action = ""&gt;</a:t>
            </a:r>
          </a:p>
          <a:p>
            <a:pPr marL="457200" lvl="1" indent="0" algn="just">
              <a:buNone/>
            </a:pPr>
            <a:r>
              <a:rPr lang="en-US" sz="1400" dirty="0"/>
              <a:t>        &lt;p&gt;</a:t>
            </a:r>
          </a:p>
          <a:p>
            <a:pPr marL="457200" lvl="1" indent="0" algn="just">
              <a:buNone/>
            </a:pPr>
            <a:r>
              <a:rPr lang="en-US" sz="1400" dirty="0"/>
              <a:t>        &lt;label&gt; &lt;input type = "radio"  name = "</a:t>
            </a:r>
            <a:r>
              <a:rPr lang="en-US" sz="1400" dirty="0" err="1"/>
              <a:t>planeButton</a:t>
            </a:r>
            <a:r>
              <a:rPr lang="en-US" sz="1400" dirty="0"/>
              <a:t>“ value = "152"   onclick = "</a:t>
            </a:r>
            <a:r>
              <a:rPr lang="en-US" sz="1400" dirty="0" err="1"/>
              <a:t>planeChoice</a:t>
            </a:r>
            <a:r>
              <a:rPr lang="en-US" sz="1400" dirty="0"/>
              <a:t>(152)" /&gt; Model 152 &lt;/</a:t>
            </a:r>
            <a:r>
              <a:rPr lang="en-US" sz="1400" dirty="0" err="1"/>
              <a:t>labe</a:t>
            </a:r>
            <a:r>
              <a:rPr lang="en-US" sz="1400" dirty="0"/>
              <a:t>&gt;&lt;</a:t>
            </a:r>
            <a:r>
              <a:rPr lang="en-US" sz="1400" dirty="0" err="1"/>
              <a:t>br</a:t>
            </a:r>
            <a:r>
              <a:rPr lang="en-US" sz="1400" dirty="0"/>
              <a:t> /&gt;</a:t>
            </a:r>
          </a:p>
          <a:p>
            <a:pPr marL="457200" lvl="1" indent="0" algn="just">
              <a:buNone/>
            </a:pPr>
            <a:r>
              <a:rPr lang="en-US" sz="1400" dirty="0"/>
              <a:t>        &lt;label&gt; &lt;input type = "radio"  name = "</a:t>
            </a:r>
            <a:r>
              <a:rPr lang="en-US" sz="1400" dirty="0" err="1"/>
              <a:t>planeButton</a:t>
            </a:r>
            <a:r>
              <a:rPr lang="en-US" sz="1400" dirty="0"/>
              <a:t>"  value = "172“ onclick = "</a:t>
            </a:r>
            <a:r>
              <a:rPr lang="en-US" sz="1400" dirty="0" err="1"/>
              <a:t>planeChoice</a:t>
            </a:r>
            <a:r>
              <a:rPr lang="en-US" sz="1400" dirty="0"/>
              <a:t>(172)" /&gt;Model 172 (Skyhawk) &lt;/label&gt;&lt;</a:t>
            </a:r>
            <a:r>
              <a:rPr lang="en-US" sz="1400" dirty="0" err="1"/>
              <a:t>br</a:t>
            </a:r>
            <a:r>
              <a:rPr lang="en-US" sz="1400" dirty="0"/>
              <a:t> /&gt;</a:t>
            </a:r>
          </a:p>
          <a:p>
            <a:pPr marL="457200" lvl="1" indent="0" algn="just">
              <a:buNone/>
            </a:pPr>
            <a:r>
              <a:rPr lang="en-US" sz="1400" dirty="0"/>
              <a:t>        &lt;label&gt; &lt;input type = "radio"  name = "</a:t>
            </a:r>
            <a:r>
              <a:rPr lang="en-US" sz="1400" dirty="0" err="1"/>
              <a:t>planeButton</a:t>
            </a:r>
            <a:r>
              <a:rPr lang="en-US" sz="1400" dirty="0"/>
              <a:t>"  value = "182“ onclick = "</a:t>
            </a:r>
            <a:r>
              <a:rPr lang="en-US" sz="1400" dirty="0" err="1"/>
              <a:t>planeChoice</a:t>
            </a:r>
            <a:r>
              <a:rPr lang="en-US" sz="1400" dirty="0"/>
              <a:t>(182)" /&gt; Model 182 (</a:t>
            </a:r>
            <a:r>
              <a:rPr lang="en-US" sz="1400" dirty="0" err="1"/>
              <a:t>Skylane</a:t>
            </a:r>
            <a:r>
              <a:rPr lang="en-US" sz="1400" dirty="0"/>
              <a:t>) &lt;/label&gt; &lt;</a:t>
            </a:r>
            <a:r>
              <a:rPr lang="en-US" sz="1400" dirty="0" err="1"/>
              <a:t>br</a:t>
            </a:r>
            <a:r>
              <a:rPr lang="en-US" sz="1400" dirty="0"/>
              <a:t> /&gt;</a:t>
            </a:r>
          </a:p>
          <a:p>
            <a:pPr marL="457200" lvl="1" indent="0" algn="just">
              <a:buNone/>
            </a:pPr>
            <a:r>
              <a:rPr lang="en-US" sz="1400" dirty="0"/>
              <a:t>        &lt;label&gt; &lt;input type = "radio"  name = "</a:t>
            </a:r>
            <a:r>
              <a:rPr lang="en-US" sz="1400" dirty="0" err="1"/>
              <a:t>planeButton</a:t>
            </a:r>
            <a:r>
              <a:rPr lang="en-US" sz="1400" dirty="0"/>
              <a:t>"  value = "210" onclick = "</a:t>
            </a:r>
            <a:r>
              <a:rPr lang="en-US" sz="1400" dirty="0" err="1"/>
              <a:t>planeChoice</a:t>
            </a:r>
            <a:r>
              <a:rPr lang="en-US" sz="1400" dirty="0"/>
              <a:t>(210)" /&gt; Model 210 (Centurian) &lt;/label&gt; &lt;/p&gt;</a:t>
            </a:r>
          </a:p>
          <a:p>
            <a:pPr marL="457200" lvl="1" indent="0" algn="just">
              <a:buNone/>
            </a:pPr>
            <a:r>
              <a:rPr lang="en-US" sz="1400" dirty="0"/>
              <a:t>    &lt;/form&gt;</a:t>
            </a:r>
          </a:p>
          <a:p>
            <a:pPr marL="457200" lvl="1" indent="0" algn="just">
              <a:buNone/>
            </a:pPr>
            <a:r>
              <a:rPr lang="en-US" sz="1400" dirty="0"/>
              <a:t>  &lt;/body&gt;</a:t>
            </a:r>
          </a:p>
          <a:p>
            <a:pPr marL="457200" lvl="1" indent="0" algn="just">
              <a:buNone/>
            </a:pPr>
            <a:r>
              <a:rPr lang="en-US" sz="1400" dirty="0"/>
              <a:t> &lt;/html&gt;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220259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A3927D-C247-9E11-1BB3-1530C24228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0653BE6-5FD4-1DA0-8DDD-233216851E8B}"/>
              </a:ext>
            </a:extLst>
          </p:cNvPr>
          <p:cNvSpPr>
            <a:spLocks noGrp="1"/>
          </p:cNvSpPr>
          <p:nvPr>
            <p:ph idx="1"/>
          </p:nvPr>
        </p:nvSpPr>
        <p:spPr>
          <a:xfrm>
            <a:off x="838200" y="320510"/>
            <a:ext cx="10515600" cy="6297105"/>
          </a:xfrm>
        </p:spPr>
        <p:txBody>
          <a:bodyPr>
            <a:normAutofit fontScale="70000" lnSpcReduction="20000"/>
          </a:bodyPr>
          <a:lstStyle/>
          <a:p>
            <a:pPr marL="0" indent="0">
              <a:buNone/>
            </a:pPr>
            <a:r>
              <a:rPr lang="en-US" b="1" dirty="0"/>
              <a:t>Continued…</a:t>
            </a:r>
          </a:p>
          <a:p>
            <a:pPr marL="457200" lvl="1" indent="0" algn="just">
              <a:buNone/>
            </a:pPr>
            <a:r>
              <a:rPr lang="en-US" sz="2000" dirty="0"/>
              <a:t> // radio_click.js</a:t>
            </a:r>
          </a:p>
          <a:p>
            <a:pPr marL="457200" lvl="1" indent="0" algn="just">
              <a:buNone/>
            </a:pPr>
            <a:r>
              <a:rPr lang="en-US" sz="2000" dirty="0"/>
              <a:t> //   An example of the use of the click event with radio buttons,</a:t>
            </a:r>
          </a:p>
          <a:p>
            <a:pPr marL="457200" lvl="1" indent="0" algn="just">
              <a:buNone/>
            </a:pPr>
            <a:r>
              <a:rPr lang="en-US" sz="2000" dirty="0"/>
              <a:t> //   registering the event handler by assignment to the button</a:t>
            </a:r>
          </a:p>
          <a:p>
            <a:pPr marL="457200" lvl="1" indent="0" algn="just">
              <a:buNone/>
            </a:pPr>
            <a:r>
              <a:rPr lang="en-US" sz="2000" dirty="0"/>
              <a:t> //   attributes</a:t>
            </a:r>
          </a:p>
          <a:p>
            <a:pPr marL="457200" lvl="1" indent="0" algn="just">
              <a:buNone/>
            </a:pPr>
            <a:r>
              <a:rPr lang="en-US" sz="2000" dirty="0"/>
              <a:t> // The event handler for a radio button collection</a:t>
            </a:r>
          </a:p>
          <a:p>
            <a:pPr marL="457200" lvl="1" indent="0" algn="just">
              <a:buNone/>
            </a:pPr>
            <a:r>
              <a:rPr lang="en-US" sz="2000" dirty="0"/>
              <a:t> function </a:t>
            </a:r>
            <a:r>
              <a:rPr lang="en-US" sz="2000" dirty="0" err="1"/>
              <a:t>planeChoice</a:t>
            </a:r>
            <a:r>
              <a:rPr lang="en-US" sz="2000" dirty="0"/>
              <a:t> (plane) {</a:t>
            </a:r>
          </a:p>
          <a:p>
            <a:pPr marL="457200" lvl="1" indent="0" algn="just">
              <a:buNone/>
            </a:pPr>
            <a:r>
              <a:rPr lang="en-US" sz="2000" dirty="0"/>
              <a:t> // Produce an alert message about the chosen airplane</a:t>
            </a:r>
          </a:p>
          <a:p>
            <a:pPr marL="457200" lvl="1" indent="0" algn="just">
              <a:buNone/>
            </a:pPr>
            <a:r>
              <a:rPr lang="en-US" sz="2000" dirty="0"/>
              <a:t>  switch (plane) {</a:t>
            </a:r>
          </a:p>
          <a:p>
            <a:pPr marL="457200" lvl="1" indent="0" algn="just">
              <a:buNone/>
            </a:pPr>
            <a:r>
              <a:rPr lang="en-US" sz="2000" dirty="0"/>
              <a:t>    case 152: </a:t>
            </a:r>
          </a:p>
          <a:p>
            <a:pPr marL="457200" lvl="1" indent="0" algn="just">
              <a:buNone/>
            </a:pPr>
            <a:r>
              <a:rPr lang="en-US" sz="2000" dirty="0"/>
              <a:t>      alert("A small two-place airplane for flight training");</a:t>
            </a:r>
          </a:p>
          <a:p>
            <a:pPr marL="457200" lvl="1" indent="0" algn="just">
              <a:buNone/>
            </a:pPr>
            <a:r>
              <a:rPr lang="en-US" sz="2000" dirty="0"/>
              <a:t>      break;</a:t>
            </a:r>
          </a:p>
          <a:p>
            <a:pPr marL="457200" lvl="1" indent="0" algn="just">
              <a:buNone/>
            </a:pPr>
            <a:r>
              <a:rPr lang="en-US" sz="2000" dirty="0"/>
              <a:t>    case 172: </a:t>
            </a:r>
          </a:p>
          <a:p>
            <a:pPr marL="457200" lvl="1" indent="0" algn="just">
              <a:buNone/>
            </a:pPr>
            <a:r>
              <a:rPr lang="en-US" sz="2000" dirty="0"/>
              <a:t>      alert("The smaller of two four-place airplanes");</a:t>
            </a:r>
          </a:p>
          <a:p>
            <a:pPr marL="457200" lvl="1" indent="0" algn="just">
              <a:buNone/>
            </a:pPr>
            <a:r>
              <a:rPr lang="en-US" sz="2000" dirty="0"/>
              <a:t>      break; </a:t>
            </a:r>
          </a:p>
          <a:p>
            <a:pPr marL="457200" lvl="1" indent="0" algn="just">
              <a:buNone/>
            </a:pPr>
            <a:r>
              <a:rPr lang="en-US" sz="2000" dirty="0"/>
              <a:t>    case 182:</a:t>
            </a:r>
          </a:p>
          <a:p>
            <a:pPr marL="457200" lvl="1" indent="0" algn="just">
              <a:buNone/>
            </a:pPr>
            <a:r>
              <a:rPr lang="en-US" sz="2000" dirty="0"/>
              <a:t>      alert("The larger of two four-place airplanes");</a:t>
            </a:r>
          </a:p>
          <a:p>
            <a:pPr marL="457200" lvl="1" indent="0" algn="just">
              <a:buNone/>
            </a:pPr>
            <a:r>
              <a:rPr lang="en-US" sz="2000" dirty="0"/>
              <a:t>      break;    </a:t>
            </a:r>
          </a:p>
          <a:p>
            <a:pPr marL="457200" lvl="1" indent="0" algn="just">
              <a:buNone/>
            </a:pPr>
            <a:r>
              <a:rPr lang="en-US" sz="2000" dirty="0"/>
              <a:t>    case 210:</a:t>
            </a:r>
          </a:p>
          <a:p>
            <a:pPr marL="457200" lvl="1" indent="0" algn="just">
              <a:buNone/>
            </a:pPr>
            <a:r>
              <a:rPr lang="en-US" sz="2000" dirty="0"/>
              <a:t>      alert("A six-place high-performance airplane");</a:t>
            </a:r>
          </a:p>
          <a:p>
            <a:pPr marL="457200" lvl="1" indent="0" algn="just">
              <a:buNone/>
            </a:pPr>
            <a:r>
              <a:rPr lang="en-US" sz="2000" dirty="0"/>
              <a:t>      break; </a:t>
            </a:r>
          </a:p>
          <a:p>
            <a:pPr marL="457200" lvl="1" indent="0" algn="just">
              <a:buNone/>
            </a:pPr>
            <a:r>
              <a:rPr lang="en-US" sz="2000" dirty="0"/>
              <a:t>    default:</a:t>
            </a:r>
          </a:p>
          <a:p>
            <a:pPr marL="457200" lvl="1" indent="0" algn="just">
              <a:buNone/>
            </a:pPr>
            <a:r>
              <a:rPr lang="en-US" sz="2000" dirty="0"/>
              <a:t>      alert("Error in JavaScript function </a:t>
            </a:r>
            <a:r>
              <a:rPr lang="en-US" sz="2000" dirty="0" err="1"/>
              <a:t>planeChoice</a:t>
            </a:r>
            <a:r>
              <a:rPr lang="en-US" sz="2000" dirty="0"/>
              <a:t>");</a:t>
            </a:r>
          </a:p>
          <a:p>
            <a:pPr marL="457200" lvl="1" indent="0" algn="just">
              <a:buNone/>
            </a:pPr>
            <a:r>
              <a:rPr lang="en-US" sz="2000" dirty="0"/>
              <a:t>      break;</a:t>
            </a:r>
          </a:p>
          <a:p>
            <a:pPr marL="457200" lvl="1" indent="0" algn="just">
              <a:buNone/>
            </a:pPr>
            <a:r>
              <a:rPr lang="en-US" sz="2000" dirty="0"/>
              <a:t>  }</a:t>
            </a:r>
          </a:p>
          <a:p>
            <a:pPr marL="457200" lvl="1" indent="0" algn="just">
              <a:buNone/>
            </a:pPr>
            <a:r>
              <a:rPr lang="en-US" sz="20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03033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C12F182-0D76-BC0C-1E31-C3CEF30F5B7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AD843D8-AAEF-3437-A3B0-C5028A382D67}"/>
              </a:ext>
            </a:extLst>
          </p:cNvPr>
          <p:cNvSpPr>
            <a:spLocks noGrp="1"/>
          </p:cNvSpPr>
          <p:nvPr>
            <p:ph idx="1"/>
          </p:nvPr>
        </p:nvSpPr>
        <p:spPr>
          <a:xfrm>
            <a:off x="838200" y="320510"/>
            <a:ext cx="10515600" cy="6297105"/>
          </a:xfrm>
        </p:spPr>
        <p:txBody>
          <a:bodyPr/>
          <a:lstStyle/>
          <a:p>
            <a:pPr marL="0" indent="0">
              <a:buNone/>
            </a:pPr>
            <a:r>
              <a:rPr lang="en-US" b="1" dirty="0"/>
              <a:t>Continued…</a:t>
            </a:r>
          </a:p>
          <a:p>
            <a:pPr algn="just"/>
            <a:r>
              <a:rPr lang="en-US" sz="2400" dirty="0"/>
              <a:t>Approach2: assigning an event handler function’s name to the associated event property on the object</a:t>
            </a:r>
          </a:p>
          <a:p>
            <a:pPr lvl="1" algn="just"/>
            <a:r>
              <a:rPr lang="en-IN" sz="2000" dirty="0" err="1"/>
              <a:t>document.getElementById</a:t>
            </a:r>
            <a:r>
              <a:rPr lang="en-IN" sz="2000" dirty="0"/>
              <a:t> (" </a:t>
            </a:r>
            <a:r>
              <a:rPr lang="en-IN" sz="2000" dirty="0" err="1"/>
              <a:t>myButton</a:t>
            </a:r>
            <a:r>
              <a:rPr lang="en-IN" sz="2000" dirty="0"/>
              <a:t>").onclick = </a:t>
            </a:r>
            <a:r>
              <a:rPr lang="en-IN" sz="2000" dirty="0" err="1"/>
              <a:t>myButtonHandler</a:t>
            </a:r>
            <a:r>
              <a:rPr lang="en-IN" sz="2000" dirty="0"/>
              <a:t> ;</a:t>
            </a:r>
            <a:endParaRPr lang="en-US" sz="2000" dirty="0"/>
          </a:p>
          <a:p>
            <a:pPr algn="just"/>
            <a:r>
              <a:rPr lang="en-US" sz="2400" dirty="0"/>
              <a:t>This statement must follow both the handler function and the form element so that JavaScript has seen both before assigning the property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00360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993E5D-8017-C0CE-AAFF-7032D1AE9AC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8D1127B-7439-5B98-E3C0-4F8127528C16}"/>
              </a:ext>
            </a:extLst>
          </p:cNvPr>
          <p:cNvSpPr>
            <a:spLocks noGrp="1"/>
          </p:cNvSpPr>
          <p:nvPr>
            <p:ph idx="1"/>
          </p:nvPr>
        </p:nvSpPr>
        <p:spPr>
          <a:xfrm>
            <a:off x="838200" y="320510"/>
            <a:ext cx="10515600" cy="6297105"/>
          </a:xfrm>
        </p:spPr>
        <p:txBody>
          <a:bodyPr/>
          <a:lstStyle/>
          <a:p>
            <a:pPr marL="0" indent="0">
              <a:buNone/>
            </a:pPr>
            <a:r>
              <a:rPr lang="en-US" dirty="0"/>
              <a:t>7 Handling Events from Text Box and Password Elements</a:t>
            </a:r>
            <a:endParaRPr lang="en-US" b="1" dirty="0"/>
          </a:p>
          <a:p>
            <a:pPr algn="just"/>
            <a:r>
              <a:rPr lang="en-US" sz="2400" dirty="0"/>
              <a:t>Text boxes and passwords can create four different events: </a:t>
            </a:r>
            <a:r>
              <a:rPr lang="en-US" sz="2400" dirty="0">
                <a:solidFill>
                  <a:srgbClr val="FF0000"/>
                </a:solidFill>
              </a:rPr>
              <a:t>blur</a:t>
            </a:r>
            <a:r>
              <a:rPr lang="en-US" sz="2400" dirty="0"/>
              <a:t>, </a:t>
            </a:r>
            <a:r>
              <a:rPr lang="en-US" sz="2400" dirty="0">
                <a:solidFill>
                  <a:srgbClr val="FF0000"/>
                </a:solidFill>
              </a:rPr>
              <a:t>focus</a:t>
            </a:r>
            <a:r>
              <a:rPr lang="en-US" sz="2400" dirty="0"/>
              <a:t>, </a:t>
            </a:r>
            <a:r>
              <a:rPr lang="en-US" sz="2400" dirty="0">
                <a:solidFill>
                  <a:srgbClr val="FF0000"/>
                </a:solidFill>
              </a:rPr>
              <a:t>change</a:t>
            </a:r>
            <a:r>
              <a:rPr lang="en-US" sz="2400" dirty="0"/>
              <a:t>, and </a:t>
            </a:r>
            <a:r>
              <a:rPr lang="en-US" sz="2400" dirty="0">
                <a:solidFill>
                  <a:srgbClr val="FF0000"/>
                </a:solidFill>
              </a:rPr>
              <a:t>select</a:t>
            </a:r>
            <a:r>
              <a:rPr lang="en-US" sz="2400" dirty="0"/>
              <a:t>.</a:t>
            </a:r>
          </a:p>
          <a:p>
            <a:pPr algn="just"/>
            <a:r>
              <a:rPr lang="en-IN" sz="2400" dirty="0"/>
              <a:t>An HTML element is said to get focus when the user puts the mouse cursor over it and clicks the left mouse button. An element can also get focus when the user tabs to the element. When a text element has focus, any keyboard input goes into that element. Only one text element can have focus at onetime</a:t>
            </a:r>
            <a:endParaRPr lang="en-US" sz="2400" dirty="0"/>
          </a:p>
          <a:p>
            <a:pPr algn="just"/>
            <a:r>
              <a:rPr lang="en-IN" sz="2400" dirty="0"/>
              <a:t>An element becomes blurred when the user moves the cursor away from the element and clicks the left mouse button or when the user tabs away from the element </a:t>
            </a: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223315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870A6BA-91BC-9CD8-9A4E-5D00176107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A188AAE-587C-B244-B113-52B9DEB6D1BA}"/>
              </a:ext>
            </a:extLst>
          </p:cNvPr>
          <p:cNvSpPr>
            <a:spLocks noGrp="1"/>
          </p:cNvSpPr>
          <p:nvPr>
            <p:ph idx="1"/>
          </p:nvPr>
        </p:nvSpPr>
        <p:spPr>
          <a:xfrm>
            <a:off x="838200" y="320510"/>
            <a:ext cx="10515600" cy="6297105"/>
          </a:xfrm>
        </p:spPr>
        <p:txBody>
          <a:bodyPr/>
          <a:lstStyle/>
          <a:p>
            <a:pPr marL="0" indent="0">
              <a:buNone/>
            </a:pPr>
            <a:r>
              <a:rPr lang="en-IN" dirty="0"/>
              <a:t>THE DOM 2 EVENT MODEL</a:t>
            </a:r>
            <a:endParaRPr lang="en-US" b="1" dirty="0"/>
          </a:p>
          <a:p>
            <a:pPr algn="just"/>
            <a:r>
              <a:rPr lang="en-US" sz="2400" dirty="0"/>
              <a:t>The DOM 2 model is a modularized interface. One of the DOM 2 modules is </a:t>
            </a:r>
            <a:r>
              <a:rPr lang="en-US" sz="2400" dirty="0">
                <a:solidFill>
                  <a:srgbClr val="FF0000"/>
                </a:solidFill>
              </a:rPr>
              <a:t>Events</a:t>
            </a:r>
            <a:r>
              <a:rPr lang="en-US" sz="2400" dirty="0"/>
              <a:t>, which includes several submodules.</a:t>
            </a:r>
          </a:p>
          <a:p>
            <a:pPr algn="just"/>
            <a:r>
              <a:rPr lang="en-US" sz="2400" dirty="0"/>
              <a:t>The ones most commonly used are </a:t>
            </a:r>
            <a:r>
              <a:rPr lang="en-US" sz="2400" dirty="0" err="1">
                <a:solidFill>
                  <a:srgbClr val="FF0000"/>
                </a:solidFill>
              </a:rPr>
              <a:t>HTMLEvents</a:t>
            </a:r>
            <a:r>
              <a:rPr lang="en-US" sz="2400" dirty="0"/>
              <a:t> and </a:t>
            </a:r>
            <a:r>
              <a:rPr lang="en-US" sz="2400" dirty="0" err="1">
                <a:solidFill>
                  <a:srgbClr val="FF0000"/>
                </a:solidFill>
              </a:rPr>
              <a:t>MouseEvents</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r>
              <a:rPr lang="en-US" sz="2400" dirty="0"/>
              <a:t>When an event occurs and an event handler is called, an object that implements the event interface associated with the event type is implicitly passed to the handler.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xmlns="" id="{A3BCF338-2E37-AB46-9FC8-28109276AF48}"/>
              </a:ext>
            </a:extLst>
          </p:cNvPr>
          <p:cNvPicPr>
            <a:picLocks noChangeAspect="1"/>
          </p:cNvPicPr>
          <p:nvPr/>
        </p:nvPicPr>
        <p:blipFill>
          <a:blip r:embed="rId2"/>
          <a:stretch>
            <a:fillRect/>
          </a:stretch>
        </p:blipFill>
        <p:spPr>
          <a:xfrm>
            <a:off x="2083225" y="2114678"/>
            <a:ext cx="8440328" cy="1667108"/>
          </a:xfrm>
          <a:prstGeom prst="rect">
            <a:avLst/>
          </a:prstGeom>
        </p:spPr>
      </p:pic>
    </p:spTree>
    <p:extLst>
      <p:ext uri="{BB962C8B-B14F-4D97-AF65-F5344CB8AC3E}">
        <p14:creationId xmlns:p14="http://schemas.microsoft.com/office/powerpoint/2010/main" val="124461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DAFD224-4477-37DA-6BB8-6D63F62B69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445D4A5-B9D9-6221-8F59-6AB6A14357CE}"/>
              </a:ext>
            </a:extLst>
          </p:cNvPr>
          <p:cNvSpPr>
            <a:spLocks noGrp="1"/>
          </p:cNvSpPr>
          <p:nvPr>
            <p:ph idx="1"/>
          </p:nvPr>
        </p:nvSpPr>
        <p:spPr>
          <a:xfrm>
            <a:off x="838200" y="320510"/>
            <a:ext cx="10515600" cy="6297105"/>
          </a:xfrm>
        </p:spPr>
        <p:txBody>
          <a:bodyPr/>
          <a:lstStyle/>
          <a:p>
            <a:pPr marL="0" indent="0">
              <a:buNone/>
            </a:pPr>
            <a:r>
              <a:rPr lang="en-IN" dirty="0"/>
              <a:t>8.1 Event Propagation</a:t>
            </a:r>
            <a:endParaRPr lang="en-US" b="1" dirty="0"/>
          </a:p>
          <a:p>
            <a:pPr algn="just"/>
            <a:r>
              <a:rPr lang="en-US" sz="2400" dirty="0"/>
              <a:t>The connection between an event and the handler that deals with it is very simple in the DOM 0 event model. </a:t>
            </a:r>
          </a:p>
          <a:p>
            <a:pPr algn="just"/>
            <a:r>
              <a:rPr lang="en-US" sz="2400" dirty="0"/>
              <a:t>When the browser senses that an event has occurred, the object associated with the element that caused the event is checked for event handlers. </a:t>
            </a:r>
          </a:p>
          <a:p>
            <a:pPr algn="just"/>
            <a:r>
              <a:rPr lang="en-US" sz="2400" dirty="0"/>
              <a:t>If that object has a registered handler for the particular event that occurred, that handler is executed.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69769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9E7000B-12BC-4D3F-1FF7-EBD814341D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517A243-2BD0-E1C8-9CF9-A761B3656FB2}"/>
              </a:ext>
            </a:extLst>
          </p:cNvPr>
          <p:cNvSpPr>
            <a:spLocks noGrp="1"/>
          </p:cNvSpPr>
          <p:nvPr>
            <p:ph idx="1"/>
          </p:nvPr>
        </p:nvSpPr>
        <p:spPr>
          <a:xfrm>
            <a:off x="838200" y="320510"/>
            <a:ext cx="10515600" cy="6297105"/>
          </a:xfrm>
        </p:spPr>
        <p:txBody>
          <a:bodyPr>
            <a:normAutofit lnSpcReduction="10000"/>
          </a:bodyPr>
          <a:lstStyle/>
          <a:p>
            <a:pPr marL="0" indent="0">
              <a:buNone/>
            </a:pPr>
            <a:r>
              <a:rPr lang="en-US" b="1" dirty="0"/>
              <a:t>Continued…</a:t>
            </a:r>
          </a:p>
          <a:p>
            <a:pPr algn="just"/>
            <a:r>
              <a:rPr lang="en-US" sz="2400" dirty="0"/>
              <a:t>In DOM2 An event object is created at some node in the document tree. For that event, that node is called the target node. Event creation causes a three-phase process to begin.</a:t>
            </a:r>
          </a:p>
          <a:p>
            <a:pPr lvl="1" algn="just"/>
            <a:r>
              <a:rPr lang="en-US" sz="2000" dirty="0"/>
              <a:t>The first of these phases is called the </a:t>
            </a:r>
            <a:r>
              <a:rPr lang="en-US" sz="2000" i="1" dirty="0">
                <a:solidFill>
                  <a:srgbClr val="FF0000"/>
                </a:solidFill>
              </a:rPr>
              <a:t>capturing phase</a:t>
            </a:r>
            <a:r>
              <a:rPr lang="en-US" sz="2000" dirty="0"/>
              <a:t>. </a:t>
            </a:r>
          </a:p>
          <a:p>
            <a:pPr lvl="1" algn="just"/>
            <a:r>
              <a:rPr lang="en-US" sz="2000" dirty="0"/>
              <a:t>The event created at the target node starts at the document root node and propagates down the tree to the target node. </a:t>
            </a:r>
          </a:p>
          <a:p>
            <a:pPr lvl="1" algn="just"/>
            <a:r>
              <a:rPr lang="en-US" sz="2000" dirty="0"/>
              <a:t>If there are any handlers for the event that are registered on any node encountered in this propagation, including the document node but not the target node, these handlers are checked to determine whether they are </a:t>
            </a:r>
            <a:r>
              <a:rPr lang="en-US" sz="2000" dirty="0">
                <a:solidFill>
                  <a:srgbClr val="FF0000"/>
                </a:solidFill>
              </a:rPr>
              <a:t>enabled</a:t>
            </a:r>
            <a:r>
              <a:rPr lang="en-US" sz="2000" dirty="0"/>
              <a:t>.</a:t>
            </a:r>
          </a:p>
          <a:p>
            <a:pPr lvl="1" algn="just"/>
            <a:r>
              <a:rPr lang="en-US" sz="2000" dirty="0"/>
              <a:t>Any enabled handler for the event that is found during capturing is executed. </a:t>
            </a:r>
          </a:p>
          <a:p>
            <a:pPr lvl="1" algn="just"/>
            <a:r>
              <a:rPr lang="en-US" sz="2000" dirty="0"/>
              <a:t>When the event reaches the target node, the second phase, called the </a:t>
            </a:r>
            <a:r>
              <a:rPr lang="en-US" sz="2000" dirty="0">
                <a:solidFill>
                  <a:srgbClr val="FF0000"/>
                </a:solidFill>
              </a:rPr>
              <a:t>target node phase</a:t>
            </a:r>
            <a:r>
              <a:rPr lang="en-US" sz="2000" dirty="0"/>
              <a:t>, takes place. In this phase, the handlers registered for the event at the target node are executed, regardless of whether they are enabled or not. </a:t>
            </a:r>
          </a:p>
          <a:p>
            <a:pPr lvl="1" algn="just"/>
            <a:r>
              <a:rPr lang="en-US" sz="2000" dirty="0"/>
              <a:t>The process is similar to what happens with the DOM 0 event model. </a:t>
            </a:r>
          </a:p>
          <a:p>
            <a:pPr lvl="1" algn="just"/>
            <a:r>
              <a:rPr lang="en-US" sz="2000" dirty="0"/>
              <a:t>After execution of any appropriate handlers at the target node, the third phase begins. This is the </a:t>
            </a:r>
            <a:r>
              <a:rPr lang="en-US" sz="2000" dirty="0">
                <a:solidFill>
                  <a:srgbClr val="FF0000"/>
                </a:solidFill>
              </a:rPr>
              <a:t>bubbling phase</a:t>
            </a:r>
            <a:r>
              <a:rPr lang="en-US" sz="2000" dirty="0"/>
              <a:t>, in which the event bubbles back up the document tree to the document node. </a:t>
            </a:r>
          </a:p>
          <a:p>
            <a:pPr lvl="1" algn="just"/>
            <a:r>
              <a:rPr lang="en-US" sz="2000" dirty="0"/>
              <a:t>On this trip back up the tree, any handler registered for the event at any node on the way is executed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46916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B2F1003-DF4E-6643-F95B-89D0ED0289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D2D1271-2FD2-E8DE-7388-36C4C96441F6}"/>
              </a:ext>
            </a:extLst>
          </p:cNvPr>
          <p:cNvSpPr>
            <a:spLocks noGrp="1"/>
          </p:cNvSpPr>
          <p:nvPr>
            <p:ph idx="1"/>
          </p:nvPr>
        </p:nvSpPr>
        <p:spPr>
          <a:xfrm>
            <a:off x="838200" y="320510"/>
            <a:ext cx="10515600" cy="6297105"/>
          </a:xfrm>
        </p:spPr>
        <p:txBody>
          <a:bodyPr>
            <a:normAutofit fontScale="92500" lnSpcReduction="10000"/>
          </a:bodyPr>
          <a:lstStyle/>
          <a:p>
            <a:pPr marL="0" indent="0">
              <a:buNone/>
            </a:pPr>
            <a:r>
              <a:rPr lang="en-US" b="1" dirty="0"/>
              <a:t>Continued…</a:t>
            </a:r>
          </a:p>
          <a:p>
            <a:pPr algn="just"/>
            <a:r>
              <a:rPr lang="en-US" sz="2400" dirty="0"/>
              <a:t>In a large and complicated document, having event handlers for every element would require a great deal of code. </a:t>
            </a:r>
          </a:p>
          <a:p>
            <a:pPr algn="just"/>
            <a:r>
              <a:rPr lang="en-US" sz="2400" dirty="0"/>
              <a:t>Much of this code would be redundant, both in the handlers and in the registering of handlers for events. </a:t>
            </a:r>
          </a:p>
          <a:p>
            <a:pPr algn="just"/>
            <a:r>
              <a:rPr lang="en-US" sz="2400" dirty="0"/>
              <a:t>Therefore, it was better to define a way for a single handler to deal with events created from a number of similar or related elements.</a:t>
            </a:r>
          </a:p>
          <a:p>
            <a:pPr algn="just"/>
            <a:r>
              <a:rPr lang="en-US" sz="2400" dirty="0"/>
              <a:t>The concept involved is that events can be propagated to some central place for handling, rather than always being handled locally</a:t>
            </a:r>
          </a:p>
          <a:p>
            <a:pPr algn="just"/>
            <a:r>
              <a:rPr lang="en-IN" sz="2400" dirty="0"/>
              <a:t>In the DOM,</a:t>
            </a:r>
            <a:r>
              <a:rPr lang="en-US" sz="2400" dirty="0"/>
              <a:t> the natural central place for event handling is at the document or window level, so that is the direction of bubbling.</a:t>
            </a:r>
          </a:p>
          <a:p>
            <a:pPr algn="just"/>
            <a:r>
              <a:rPr lang="en-US" sz="2400" dirty="0"/>
              <a:t>Many events cause the browser to perform some action; for example, a mouse click on a link causes the document referenced in the link to replace the current document. </a:t>
            </a:r>
          </a:p>
          <a:p>
            <a:pPr algn="just"/>
            <a:r>
              <a:rPr lang="en-US" sz="2400" dirty="0"/>
              <a:t>In some cases, we want to prevent this action from taking place. </a:t>
            </a:r>
          </a:p>
          <a:p>
            <a:pPr algn="just"/>
            <a:r>
              <a:rPr lang="en-US" sz="2400" dirty="0"/>
              <a:t>For example, if a value in a form is found to be invalid by a Submit button event handler, we do not want the form to be submitted to the server. In the DOM 0 event model, the action is prevented by having the handler return false. The DOM 2 event interface provides a method, </a:t>
            </a:r>
            <a:r>
              <a:rPr lang="en-US" sz="2400" dirty="0" err="1"/>
              <a:t>preventDefault</a:t>
            </a:r>
            <a:r>
              <a:rPr lang="en-US" sz="2400" dirty="0"/>
              <a:t>, that accomplishes the same thing. Every event object implements </a:t>
            </a:r>
            <a:r>
              <a:rPr lang="en-US" sz="2400" dirty="0" err="1"/>
              <a:t>preventDefault</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015504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7C057D1-42D1-5C3C-3CA1-C534E74476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D9BB32B-8D94-91F9-CFFB-8F36638483AF}"/>
              </a:ext>
            </a:extLst>
          </p:cNvPr>
          <p:cNvSpPr>
            <a:spLocks noGrp="1"/>
          </p:cNvSpPr>
          <p:nvPr>
            <p:ph idx="1"/>
          </p:nvPr>
        </p:nvSpPr>
        <p:spPr>
          <a:xfrm>
            <a:off x="838200" y="320510"/>
            <a:ext cx="10515600" cy="6297105"/>
          </a:xfrm>
        </p:spPr>
        <p:txBody>
          <a:bodyPr>
            <a:normAutofit fontScale="92500" lnSpcReduction="10000"/>
          </a:bodyPr>
          <a:lstStyle/>
          <a:p>
            <a:pPr marL="0" indent="0">
              <a:buNone/>
            </a:pPr>
            <a:r>
              <a:rPr lang="en-IN" dirty="0"/>
              <a:t>8.2 Event Handler Registration</a:t>
            </a:r>
            <a:endParaRPr lang="en-US" b="1" dirty="0"/>
          </a:p>
          <a:p>
            <a:pPr algn="just"/>
            <a:r>
              <a:rPr lang="en-US" sz="2400" dirty="0"/>
              <a:t>The DOM 0 event model uses two different ways of registering event handlers. </a:t>
            </a:r>
          </a:p>
          <a:p>
            <a:pPr algn="just"/>
            <a:r>
              <a:rPr lang="en-US" sz="2400" dirty="0"/>
              <a:t>First, the handler code can be assigned as a string literal to the event’s associated attribute in the element. </a:t>
            </a:r>
          </a:p>
          <a:p>
            <a:pPr algn="just"/>
            <a:r>
              <a:rPr lang="en-US" sz="2400" dirty="0"/>
              <a:t>Second, the name of the handler function can be assigned to the property associated with the event.</a:t>
            </a:r>
          </a:p>
          <a:p>
            <a:pPr algn="just"/>
            <a:endParaRPr lang="en-US" sz="2400" dirty="0"/>
          </a:p>
          <a:p>
            <a:pPr algn="just"/>
            <a:r>
              <a:rPr lang="en-US" sz="2400" dirty="0"/>
              <a:t>Handler registration in the DOM 2 event model is performed by the method </a:t>
            </a:r>
            <a:r>
              <a:rPr lang="en-US" sz="2400" dirty="0" err="1">
                <a:solidFill>
                  <a:srgbClr val="FF0000"/>
                </a:solidFill>
              </a:rPr>
              <a:t>addEventListener</a:t>
            </a:r>
            <a:r>
              <a:rPr lang="en-US" sz="2400" dirty="0"/>
              <a:t>, which is defined in the </a:t>
            </a:r>
            <a:r>
              <a:rPr lang="en-US" sz="2400" dirty="0" err="1"/>
              <a:t>EventTarget</a:t>
            </a:r>
            <a:r>
              <a:rPr lang="en-US" sz="2400" dirty="0"/>
              <a:t> interface, which is implemented by all objects that descend from Document.</a:t>
            </a:r>
          </a:p>
          <a:p>
            <a:pPr algn="just"/>
            <a:r>
              <a:rPr lang="en-US" sz="2400" dirty="0"/>
              <a:t>The </a:t>
            </a:r>
            <a:r>
              <a:rPr lang="en-US" sz="2400" dirty="0" err="1"/>
              <a:t>addEventListener</a:t>
            </a:r>
            <a:r>
              <a:rPr lang="en-US" sz="2400" dirty="0"/>
              <a:t> method takes three parameters, the first of which is the </a:t>
            </a:r>
            <a:r>
              <a:rPr lang="en-US" sz="2400" dirty="0">
                <a:solidFill>
                  <a:srgbClr val="FF0000"/>
                </a:solidFill>
              </a:rPr>
              <a:t>name of the event</a:t>
            </a:r>
            <a:r>
              <a:rPr lang="en-US" sz="2400" dirty="0"/>
              <a:t> as a string literal. For example, "</a:t>
            </a:r>
            <a:r>
              <a:rPr lang="en-US" sz="2400" dirty="0" err="1"/>
              <a:t>mouseup</a:t>
            </a:r>
            <a:r>
              <a:rPr lang="en-US" sz="2400" dirty="0"/>
              <a:t>" and "submit" would be legitimate first parameters. </a:t>
            </a:r>
          </a:p>
          <a:p>
            <a:pPr algn="just"/>
            <a:r>
              <a:rPr lang="en-US" sz="2400" dirty="0"/>
              <a:t>The second parameter is the handler function, which could be specified as the </a:t>
            </a:r>
            <a:r>
              <a:rPr lang="en-US" sz="2400" dirty="0">
                <a:solidFill>
                  <a:srgbClr val="FF0000"/>
                </a:solidFill>
              </a:rPr>
              <a:t>function code itself </a:t>
            </a:r>
            <a:r>
              <a:rPr lang="en-US" sz="2400" dirty="0"/>
              <a:t>or as the </a:t>
            </a:r>
            <a:r>
              <a:rPr lang="en-US" sz="2400" dirty="0">
                <a:solidFill>
                  <a:srgbClr val="FF0000"/>
                </a:solidFill>
              </a:rPr>
              <a:t>name of a function </a:t>
            </a:r>
            <a:r>
              <a:rPr lang="en-US" sz="2400" dirty="0"/>
              <a:t>that is defined elsewhere. Note that this parameter is not a string type, so it is not quoted. </a:t>
            </a:r>
          </a:p>
          <a:p>
            <a:pPr algn="just"/>
            <a:r>
              <a:rPr lang="en-US" sz="2400" dirty="0"/>
              <a:t>The third parameter is a Boolean value that specifies whether the </a:t>
            </a:r>
            <a:r>
              <a:rPr lang="en-US" sz="2400" dirty="0">
                <a:solidFill>
                  <a:srgbClr val="FF0000"/>
                </a:solidFill>
              </a:rPr>
              <a:t>handler is enabled</a:t>
            </a:r>
            <a:r>
              <a:rPr lang="en-US" sz="2400" dirty="0"/>
              <a:t> for calling during the capturing phase.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599114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F51802-6454-C7C6-FEF9-90EBE122B1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7008D87-658B-82EE-9EAC-76ED7E9985AD}"/>
              </a:ext>
            </a:extLst>
          </p:cNvPr>
          <p:cNvSpPr>
            <a:spLocks noGrp="1"/>
          </p:cNvSpPr>
          <p:nvPr>
            <p:ph idx="1"/>
          </p:nvPr>
        </p:nvSpPr>
        <p:spPr>
          <a:xfrm>
            <a:off x="838200" y="320510"/>
            <a:ext cx="10515600" cy="6297105"/>
          </a:xfrm>
        </p:spPr>
        <p:txBody>
          <a:bodyPr/>
          <a:lstStyle/>
          <a:p>
            <a:pPr marL="0" indent="0">
              <a:buNone/>
            </a:pPr>
            <a:r>
              <a:rPr lang="en-US" b="1" dirty="0"/>
              <a:t>Continued…</a:t>
            </a:r>
          </a:p>
          <a:p>
            <a:pPr algn="just"/>
            <a:r>
              <a:rPr lang="en-US" sz="2400" dirty="0"/>
              <a:t>When a handler is called, it is passed a single parameter, the event object. </a:t>
            </a:r>
          </a:p>
          <a:p>
            <a:pPr algn="just"/>
            <a:r>
              <a:rPr lang="en-US" sz="2400" dirty="0"/>
              <a:t>For example, suppose we want to register the event handler </a:t>
            </a:r>
            <a:r>
              <a:rPr lang="en-US" sz="2400" dirty="0" err="1">
                <a:solidFill>
                  <a:srgbClr val="FF0000"/>
                </a:solidFill>
              </a:rPr>
              <a:t>chkName</a:t>
            </a:r>
            <a:r>
              <a:rPr lang="en-US" sz="2400" dirty="0"/>
              <a:t> on the text element whose </a:t>
            </a:r>
            <a:r>
              <a:rPr lang="en-US" sz="2400" dirty="0">
                <a:solidFill>
                  <a:srgbClr val="FF0000"/>
                </a:solidFill>
              </a:rPr>
              <a:t>id</a:t>
            </a:r>
            <a:r>
              <a:rPr lang="en-US" sz="2400" dirty="0"/>
              <a:t> is </a:t>
            </a:r>
            <a:r>
              <a:rPr lang="en-US" sz="2400" dirty="0" err="1">
                <a:solidFill>
                  <a:srgbClr val="FF0000"/>
                </a:solidFill>
              </a:rPr>
              <a:t>custName</a:t>
            </a:r>
            <a:r>
              <a:rPr lang="en-US" sz="2400" dirty="0"/>
              <a:t> for the change event. </a:t>
            </a:r>
          </a:p>
          <a:p>
            <a:pPr lvl="1" algn="just"/>
            <a:r>
              <a:rPr lang="en-US" sz="2000" dirty="0" err="1"/>
              <a:t>document.custName.addEventListener</a:t>
            </a:r>
            <a:r>
              <a:rPr lang="en-US" sz="2000" dirty="0"/>
              <a:t>("change", </a:t>
            </a:r>
            <a:r>
              <a:rPr lang="en-US" sz="2000" dirty="0" err="1"/>
              <a:t>chkName</a:t>
            </a:r>
            <a:r>
              <a:rPr lang="en-US" sz="2000" dirty="0"/>
              <a:t>, false);</a:t>
            </a:r>
          </a:p>
          <a:p>
            <a:pPr algn="just"/>
            <a:r>
              <a:rPr lang="en-US" sz="2400" dirty="0"/>
              <a:t> The </a:t>
            </a:r>
            <a:r>
              <a:rPr lang="en-US" sz="2400" dirty="0" err="1"/>
              <a:t>removeEventListener</a:t>
            </a:r>
            <a:r>
              <a:rPr lang="en-US" sz="2400" dirty="0"/>
              <a:t> method deletes the registration of an event handler. This method takes the same parameters as </a:t>
            </a:r>
            <a:r>
              <a:rPr lang="en-US" sz="2400" dirty="0" err="1">
                <a:solidFill>
                  <a:srgbClr val="FF0000"/>
                </a:solidFill>
              </a:rPr>
              <a:t>addEventListener</a:t>
            </a:r>
            <a:r>
              <a:rPr lang="en-US" sz="2400" dirty="0"/>
              <a:t>.</a:t>
            </a:r>
          </a:p>
          <a:p>
            <a:pPr algn="just"/>
            <a:endParaRPr lang="en-US" sz="2400" dirty="0"/>
          </a:p>
          <a:p>
            <a:pPr algn="just"/>
            <a:endParaRPr lang="en-US" sz="2400" dirty="0"/>
          </a:p>
          <a:p>
            <a:pPr algn="just"/>
            <a:r>
              <a:rPr lang="en-US" sz="2400" b="1" dirty="0"/>
              <a:t>DOM2Example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964917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38E85D3-7B06-552F-B4D5-DA10A76C7D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0B91DC3-E11C-E479-5C1D-39B1D0ACA6C6}"/>
              </a:ext>
            </a:extLst>
          </p:cNvPr>
          <p:cNvSpPr>
            <a:spLocks noGrp="1"/>
          </p:cNvSpPr>
          <p:nvPr>
            <p:ph idx="1"/>
          </p:nvPr>
        </p:nvSpPr>
        <p:spPr>
          <a:xfrm>
            <a:off x="838200" y="320510"/>
            <a:ext cx="10515600" cy="6297105"/>
          </a:xfrm>
        </p:spPr>
        <p:txBody>
          <a:bodyPr/>
          <a:lstStyle/>
          <a:p>
            <a:pPr marL="0" indent="0">
              <a:buNone/>
            </a:pPr>
            <a:r>
              <a:rPr lang="en-US" b="1" dirty="0"/>
              <a:t>11 DOM Tree Traversal and Modification</a:t>
            </a:r>
          </a:p>
          <a:p>
            <a:pPr algn="just"/>
            <a:r>
              <a:rPr lang="en-US" sz="2400" dirty="0"/>
              <a:t>There are many objects, properties, and methods associated with DOM 2 document representations</a:t>
            </a:r>
          </a:p>
          <a:p>
            <a:pPr algn="just"/>
            <a:r>
              <a:rPr lang="en-US" sz="2400" dirty="0"/>
              <a:t>One collection of these is defined in the Node interface, which is implemented by all node objects in the DOM structure. </a:t>
            </a:r>
          </a:p>
          <a:p>
            <a:pPr algn="just"/>
            <a:r>
              <a:rPr lang="en-US" sz="2400" dirty="0"/>
              <a:t>Some can be used to traverse and modify the DOM tree structure of the document being displayed.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1308467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35E337B-0C3A-5DD7-1322-183D6D00D90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B3B7463-0154-877B-3137-325E6221F99D}"/>
              </a:ext>
            </a:extLst>
          </p:cNvPr>
          <p:cNvSpPr>
            <a:spLocks noGrp="1"/>
          </p:cNvSpPr>
          <p:nvPr>
            <p:ph idx="1"/>
          </p:nvPr>
        </p:nvSpPr>
        <p:spPr>
          <a:xfrm>
            <a:off x="84841" y="320510"/>
            <a:ext cx="11268959" cy="6297105"/>
          </a:xfrm>
        </p:spPr>
        <p:txBody>
          <a:bodyPr/>
          <a:lstStyle/>
          <a:p>
            <a:pPr marL="0" indent="0">
              <a:buNone/>
            </a:pPr>
            <a:r>
              <a:rPr lang="en-US" b="1" dirty="0"/>
              <a:t>Continued…</a:t>
            </a:r>
          </a:p>
          <a:p>
            <a:pPr algn="just"/>
            <a:r>
              <a:rPr lang="en-US" sz="2400" dirty="0"/>
              <a:t>According to the W3C HTML DOM standard, everything in an HTML document is a node:</a:t>
            </a:r>
          </a:p>
          <a:p>
            <a:pPr algn="just"/>
            <a:r>
              <a:rPr lang="en-IN" sz="2400" dirty="0"/>
              <a:t>The entire document is a document node</a:t>
            </a:r>
            <a:endParaRPr lang="en-US" sz="2400" dirty="0"/>
          </a:p>
          <a:p>
            <a:pPr algn="just"/>
            <a:r>
              <a:rPr lang="en-US" sz="2400" dirty="0"/>
              <a:t>Every HTML element is an element node</a:t>
            </a:r>
          </a:p>
          <a:p>
            <a:pPr algn="just"/>
            <a:r>
              <a:rPr lang="en-US" sz="2400" dirty="0"/>
              <a:t>The text inside HTML elements are text nodes</a:t>
            </a:r>
          </a:p>
          <a:p>
            <a:pPr algn="just"/>
            <a:r>
              <a:rPr lang="en-US" sz="2400" dirty="0"/>
              <a:t>Every HTML attribute is an attribute node</a:t>
            </a:r>
          </a:p>
          <a:p>
            <a:pPr algn="just"/>
            <a:r>
              <a:rPr lang="en-US" sz="2400" dirty="0"/>
              <a:t>All comments are comment nodes</a:t>
            </a:r>
          </a:p>
          <a:p>
            <a:pPr algn="just"/>
            <a:r>
              <a:rPr lang="en-US" sz="2400" dirty="0"/>
              <a:t>With the HTML DOM, all nodes in the node </a:t>
            </a:r>
          </a:p>
          <a:p>
            <a:pPr marL="0" indent="0" algn="just">
              <a:buNone/>
            </a:pPr>
            <a:r>
              <a:rPr lang="en-US" sz="2400" dirty="0"/>
              <a:t>   tree can be accessed by JavaScript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xmlns="" id="{350C7BF6-AAB3-97DE-9127-505EC3CBBBE0}"/>
              </a:ext>
            </a:extLst>
          </p:cNvPr>
          <p:cNvPicPr>
            <a:picLocks noChangeAspect="1"/>
          </p:cNvPicPr>
          <p:nvPr/>
        </p:nvPicPr>
        <p:blipFill>
          <a:blip r:embed="rId2"/>
          <a:stretch>
            <a:fillRect/>
          </a:stretch>
        </p:blipFill>
        <p:spPr>
          <a:xfrm>
            <a:off x="6212352" y="2597408"/>
            <a:ext cx="5706271" cy="3096057"/>
          </a:xfrm>
          <a:prstGeom prst="rect">
            <a:avLst/>
          </a:prstGeom>
        </p:spPr>
      </p:pic>
    </p:spTree>
    <p:extLst>
      <p:ext uri="{BB962C8B-B14F-4D97-AF65-F5344CB8AC3E}">
        <p14:creationId xmlns:p14="http://schemas.microsoft.com/office/powerpoint/2010/main" val="1872068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3F80B1-243C-85FF-17DA-36482B7256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0BD4A43-4ADB-7F6D-544E-3ACC79E9485A}"/>
              </a:ext>
            </a:extLst>
          </p:cNvPr>
          <p:cNvSpPr>
            <a:spLocks noGrp="1"/>
          </p:cNvSpPr>
          <p:nvPr>
            <p:ph idx="1"/>
          </p:nvPr>
        </p:nvSpPr>
        <p:spPr>
          <a:xfrm>
            <a:off x="838200" y="320510"/>
            <a:ext cx="10515600" cy="6297105"/>
          </a:xfrm>
        </p:spPr>
        <p:txBody>
          <a:bodyPr>
            <a:normAutofit lnSpcReduction="10000"/>
          </a:bodyPr>
          <a:lstStyle/>
          <a:p>
            <a:pPr marL="0" indent="0">
              <a:buNone/>
            </a:pPr>
            <a:r>
              <a:rPr lang="en-IN" dirty="0"/>
              <a:t>11.1 DOM Tree Traversal</a:t>
            </a:r>
            <a:endParaRPr lang="en-US" b="1" dirty="0"/>
          </a:p>
          <a:p>
            <a:pPr algn="just"/>
            <a:r>
              <a:rPr lang="en-US" sz="2400" dirty="0"/>
              <a:t>The </a:t>
            </a:r>
            <a:r>
              <a:rPr lang="en-US" sz="2400" dirty="0" err="1"/>
              <a:t>parentNode</a:t>
            </a:r>
            <a:r>
              <a:rPr lang="en-US" sz="2400" dirty="0"/>
              <a:t> property has the DOM address of the parent node of the node through which it is referenced. </a:t>
            </a:r>
          </a:p>
          <a:p>
            <a:pPr algn="just"/>
            <a:r>
              <a:rPr lang="en-US" sz="2400" dirty="0"/>
              <a:t>The </a:t>
            </a:r>
            <a:r>
              <a:rPr lang="en-US" sz="2400" dirty="0" err="1"/>
              <a:t>childNodes</a:t>
            </a:r>
            <a:r>
              <a:rPr lang="en-US" sz="2400" dirty="0"/>
              <a:t> property is an array of the child nodes of the node through which it is referenced. </a:t>
            </a:r>
          </a:p>
          <a:p>
            <a:pPr algn="just"/>
            <a:r>
              <a:rPr lang="en-US" sz="2400" dirty="0"/>
              <a:t>For example, if the document has an unordered list with the id </a:t>
            </a:r>
            <a:r>
              <a:rPr lang="en-US" sz="2400" dirty="0" err="1"/>
              <a:t>mylist</a:t>
            </a:r>
            <a:r>
              <a:rPr lang="en-US" sz="2400" dirty="0"/>
              <a:t>, the number of items in the list can be displayed with the following code</a:t>
            </a:r>
          </a:p>
          <a:p>
            <a:pPr marL="457200" lvl="1" indent="0" algn="just">
              <a:buNone/>
            </a:pPr>
            <a:r>
              <a:rPr lang="en-IN" sz="2000" dirty="0">
                <a:solidFill>
                  <a:srgbClr val="FF0000"/>
                </a:solidFill>
              </a:rPr>
              <a:t>var nod = </a:t>
            </a:r>
            <a:r>
              <a:rPr lang="en-IN" sz="2000" dirty="0" err="1">
                <a:solidFill>
                  <a:srgbClr val="FF0000"/>
                </a:solidFill>
              </a:rPr>
              <a:t>document.getElementById</a:t>
            </a:r>
            <a:r>
              <a:rPr lang="en-IN" sz="2000" dirty="0">
                <a:solidFill>
                  <a:srgbClr val="FF0000"/>
                </a:solidFill>
              </a:rPr>
              <a:t>("</a:t>
            </a:r>
            <a:r>
              <a:rPr lang="en-IN" sz="2000" dirty="0" err="1">
                <a:solidFill>
                  <a:srgbClr val="FF0000"/>
                </a:solidFill>
              </a:rPr>
              <a:t>mylist</a:t>
            </a:r>
            <a:r>
              <a:rPr lang="en-IN" sz="2000" dirty="0">
                <a:solidFill>
                  <a:srgbClr val="FF0000"/>
                </a:solidFill>
              </a:rPr>
              <a:t>"); </a:t>
            </a:r>
          </a:p>
          <a:p>
            <a:pPr marL="457200" lvl="1" indent="0" algn="just">
              <a:buNone/>
            </a:pPr>
            <a:r>
              <a:rPr lang="en-IN" sz="2000" dirty="0">
                <a:solidFill>
                  <a:srgbClr val="FF0000"/>
                </a:solidFill>
              </a:rPr>
              <a:t>var </a:t>
            </a:r>
            <a:r>
              <a:rPr lang="en-IN" sz="2000" dirty="0" err="1">
                <a:solidFill>
                  <a:srgbClr val="FF0000"/>
                </a:solidFill>
              </a:rPr>
              <a:t>listitems</a:t>
            </a:r>
            <a:r>
              <a:rPr lang="en-IN" sz="2000" dirty="0">
                <a:solidFill>
                  <a:srgbClr val="FF0000"/>
                </a:solidFill>
              </a:rPr>
              <a:t> = </a:t>
            </a:r>
            <a:r>
              <a:rPr lang="en-IN" sz="2000" dirty="0" err="1">
                <a:solidFill>
                  <a:srgbClr val="FF0000"/>
                </a:solidFill>
              </a:rPr>
              <a:t>nod.childNodes.length</a:t>
            </a:r>
            <a:r>
              <a:rPr lang="en-IN" sz="2000" dirty="0">
                <a:solidFill>
                  <a:srgbClr val="FF0000"/>
                </a:solidFill>
              </a:rPr>
              <a:t>; </a:t>
            </a:r>
          </a:p>
          <a:p>
            <a:pPr marL="457200" lvl="1" indent="0" algn="just">
              <a:buNone/>
            </a:pPr>
            <a:r>
              <a:rPr lang="en-IN" sz="2000" dirty="0" err="1">
                <a:solidFill>
                  <a:srgbClr val="FF0000"/>
                </a:solidFill>
              </a:rPr>
              <a:t>document.write</a:t>
            </a:r>
            <a:r>
              <a:rPr lang="en-IN" sz="2000" dirty="0">
                <a:solidFill>
                  <a:srgbClr val="FF0000"/>
                </a:solidFill>
              </a:rPr>
              <a:t>("Number of list items is: " + </a:t>
            </a:r>
            <a:r>
              <a:rPr lang="en-IN" sz="2000" dirty="0" err="1">
                <a:solidFill>
                  <a:srgbClr val="FF0000"/>
                </a:solidFill>
              </a:rPr>
              <a:t>listitems</a:t>
            </a:r>
            <a:r>
              <a:rPr lang="en-IN" sz="2000" dirty="0">
                <a:solidFill>
                  <a:srgbClr val="FF0000"/>
                </a:solidFill>
              </a:rPr>
              <a:t> + “ ");</a:t>
            </a:r>
            <a:endParaRPr lang="en-US" sz="2000" dirty="0">
              <a:solidFill>
                <a:srgbClr val="FF0000"/>
              </a:solidFill>
            </a:endParaRPr>
          </a:p>
          <a:p>
            <a:pPr algn="just"/>
            <a:r>
              <a:rPr lang="en-US" sz="2400" dirty="0"/>
              <a:t>The </a:t>
            </a:r>
            <a:r>
              <a:rPr lang="en-US" sz="2400" dirty="0" err="1">
                <a:solidFill>
                  <a:srgbClr val="FF0000"/>
                </a:solidFill>
              </a:rPr>
              <a:t>previousSibling</a:t>
            </a:r>
            <a:r>
              <a:rPr lang="en-US" sz="2400" dirty="0"/>
              <a:t> property has the DOM address of the previous sibling node of the node through which it is referenced. </a:t>
            </a:r>
          </a:p>
          <a:p>
            <a:pPr algn="just"/>
            <a:r>
              <a:rPr lang="en-US" sz="2400" dirty="0"/>
              <a:t>The </a:t>
            </a:r>
            <a:r>
              <a:rPr lang="en-US" sz="2400" dirty="0" err="1">
                <a:solidFill>
                  <a:srgbClr val="FF0000"/>
                </a:solidFill>
              </a:rPr>
              <a:t>nextSibling</a:t>
            </a:r>
            <a:r>
              <a:rPr lang="en-US" sz="2400" dirty="0"/>
              <a:t> property has the DOM address of the next sibling node of the node through which it is referenced. </a:t>
            </a:r>
          </a:p>
          <a:p>
            <a:pPr algn="just"/>
            <a:r>
              <a:rPr lang="en-US" sz="2400" dirty="0"/>
              <a:t>The </a:t>
            </a:r>
            <a:r>
              <a:rPr lang="en-US" sz="2400" dirty="0" err="1">
                <a:solidFill>
                  <a:srgbClr val="FF0000"/>
                </a:solidFill>
              </a:rPr>
              <a:t>firstChild</a:t>
            </a:r>
            <a:r>
              <a:rPr lang="en-US" sz="2400" dirty="0"/>
              <a:t> and </a:t>
            </a:r>
            <a:r>
              <a:rPr lang="en-US" sz="2400" dirty="0" err="1">
                <a:solidFill>
                  <a:srgbClr val="FF0000"/>
                </a:solidFill>
              </a:rPr>
              <a:t>lastChild</a:t>
            </a:r>
            <a:r>
              <a:rPr lang="en-US" sz="2400" dirty="0"/>
              <a:t> properties have the DOM addresses of the first and last child nodes, respectively, of the node through which they are referenced. </a:t>
            </a:r>
          </a:p>
          <a:p>
            <a:pPr algn="just"/>
            <a:r>
              <a:rPr lang="en-US" sz="2400" dirty="0"/>
              <a:t>The </a:t>
            </a:r>
            <a:r>
              <a:rPr lang="en-US" sz="2400" dirty="0" err="1">
                <a:solidFill>
                  <a:srgbClr val="FF0000"/>
                </a:solidFill>
              </a:rPr>
              <a:t>nodeType</a:t>
            </a:r>
            <a:r>
              <a:rPr lang="en-US" sz="2400" dirty="0"/>
              <a:t> property has the type of the node through which it is referenced.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84041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BBCD84E-DAFA-4527-BAB0-F45AC59851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3CEF7FA-5536-4881-B24A-92690D29099F}"/>
              </a:ext>
            </a:extLst>
          </p:cNvPr>
          <p:cNvSpPr>
            <a:spLocks noGrp="1"/>
          </p:cNvSpPr>
          <p:nvPr>
            <p:ph idx="1"/>
          </p:nvPr>
        </p:nvSpPr>
        <p:spPr>
          <a:xfrm>
            <a:off x="838200" y="320510"/>
            <a:ext cx="10515600" cy="6297105"/>
          </a:xfrm>
        </p:spPr>
        <p:txBody>
          <a:bodyPr/>
          <a:lstStyle/>
          <a:p>
            <a:pPr marL="0" indent="0">
              <a:buNone/>
            </a:pPr>
            <a:r>
              <a:rPr lang="en-US" b="1" dirty="0"/>
              <a:t>Title</a:t>
            </a:r>
          </a:p>
          <a:p>
            <a:pPr algn="just"/>
            <a:r>
              <a:rPr lang="en-US" sz="2400" dirty="0"/>
              <a:t>Content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pic>
        <p:nvPicPr>
          <p:cNvPr id="4" name="Picture 3">
            <a:extLst>
              <a:ext uri="{FF2B5EF4-FFF2-40B4-BE49-F238E27FC236}">
                <a16:creationId xmlns:a16="http://schemas.microsoft.com/office/drawing/2014/main" xmlns="" id="{5C51806D-8FE5-8946-83AD-32B9D4800ADF}"/>
              </a:ext>
            </a:extLst>
          </p:cNvPr>
          <p:cNvPicPr>
            <a:picLocks noChangeAspect="1"/>
          </p:cNvPicPr>
          <p:nvPr/>
        </p:nvPicPr>
        <p:blipFill>
          <a:blip r:embed="rId2"/>
          <a:stretch>
            <a:fillRect/>
          </a:stretch>
        </p:blipFill>
        <p:spPr>
          <a:xfrm>
            <a:off x="490194" y="320510"/>
            <a:ext cx="11620113" cy="3980469"/>
          </a:xfrm>
          <a:prstGeom prst="rect">
            <a:avLst/>
          </a:prstGeom>
        </p:spPr>
      </p:pic>
    </p:spTree>
    <p:extLst>
      <p:ext uri="{BB962C8B-B14F-4D97-AF65-F5344CB8AC3E}">
        <p14:creationId xmlns:p14="http://schemas.microsoft.com/office/powerpoint/2010/main" val="3942012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BFEF23-69CC-00AC-A58F-6D8939124A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004F1B2-BC79-4FB8-45E9-E17DB1C091BA}"/>
              </a:ext>
            </a:extLst>
          </p:cNvPr>
          <p:cNvSpPr>
            <a:spLocks noGrp="1"/>
          </p:cNvSpPr>
          <p:nvPr>
            <p:ph idx="1"/>
          </p:nvPr>
        </p:nvSpPr>
        <p:spPr>
          <a:xfrm>
            <a:off x="838200" y="320510"/>
            <a:ext cx="10515600" cy="6297105"/>
          </a:xfrm>
        </p:spPr>
        <p:txBody>
          <a:bodyPr/>
          <a:lstStyle/>
          <a:p>
            <a:pPr marL="0" indent="0">
              <a:buNone/>
            </a:pPr>
            <a:r>
              <a:rPr lang="en-IN" dirty="0"/>
              <a:t>11.2 DOM Tree Modification</a:t>
            </a:r>
            <a:endParaRPr lang="en-US" b="1" dirty="0"/>
          </a:p>
          <a:p>
            <a:pPr algn="just"/>
            <a:r>
              <a:rPr lang="en-US" sz="2400" dirty="0"/>
              <a:t>A number of methods allow JavaScript code to modify an existing DOM tree structure. </a:t>
            </a:r>
          </a:p>
          <a:p>
            <a:pPr algn="just"/>
            <a:r>
              <a:rPr lang="en-US" sz="2400" dirty="0"/>
              <a:t>The </a:t>
            </a:r>
            <a:r>
              <a:rPr lang="en-US" sz="2400" dirty="0" err="1">
                <a:solidFill>
                  <a:srgbClr val="FF0000"/>
                </a:solidFill>
              </a:rPr>
              <a:t>insertBefore</a:t>
            </a:r>
            <a:r>
              <a:rPr lang="en-US" sz="2400" dirty="0">
                <a:solidFill>
                  <a:srgbClr val="FF0000"/>
                </a:solidFill>
              </a:rPr>
              <a:t>(</a:t>
            </a:r>
            <a:r>
              <a:rPr lang="en-US" sz="2400" dirty="0" err="1">
                <a:solidFill>
                  <a:srgbClr val="FF0000"/>
                </a:solidFill>
              </a:rPr>
              <a:t>newChild</a:t>
            </a:r>
            <a:r>
              <a:rPr lang="en-US" sz="2400" dirty="0">
                <a:solidFill>
                  <a:srgbClr val="FF0000"/>
                </a:solidFill>
              </a:rPr>
              <a:t>, </a:t>
            </a:r>
            <a:r>
              <a:rPr lang="en-US" sz="2400" dirty="0" err="1">
                <a:solidFill>
                  <a:srgbClr val="FF0000"/>
                </a:solidFill>
              </a:rPr>
              <a:t>refChild</a:t>
            </a:r>
            <a:r>
              <a:rPr lang="en-US" sz="2400" dirty="0">
                <a:solidFill>
                  <a:srgbClr val="FF0000"/>
                </a:solidFill>
              </a:rPr>
              <a:t>) </a:t>
            </a:r>
            <a:r>
              <a:rPr lang="en-US" sz="2400" dirty="0"/>
              <a:t>method places the </a:t>
            </a:r>
            <a:r>
              <a:rPr lang="en-US" sz="2400" dirty="0" err="1"/>
              <a:t>newChild</a:t>
            </a:r>
            <a:r>
              <a:rPr lang="en-US" sz="2400" dirty="0"/>
              <a:t> node before the </a:t>
            </a:r>
            <a:r>
              <a:rPr lang="en-US" sz="2400" dirty="0" err="1"/>
              <a:t>refChild</a:t>
            </a:r>
            <a:r>
              <a:rPr lang="en-US" sz="2400" dirty="0"/>
              <a:t> node. </a:t>
            </a:r>
          </a:p>
          <a:p>
            <a:pPr algn="just"/>
            <a:r>
              <a:rPr lang="en-US" sz="2400" dirty="0"/>
              <a:t>The </a:t>
            </a:r>
            <a:r>
              <a:rPr lang="en-US" sz="2400" dirty="0" err="1">
                <a:solidFill>
                  <a:srgbClr val="FF0000"/>
                </a:solidFill>
              </a:rPr>
              <a:t>replaceChild</a:t>
            </a:r>
            <a:r>
              <a:rPr lang="en-US" sz="2400" dirty="0">
                <a:solidFill>
                  <a:srgbClr val="FF0000"/>
                </a:solidFill>
              </a:rPr>
              <a:t>(</a:t>
            </a:r>
            <a:r>
              <a:rPr lang="en-US" sz="2400" dirty="0" err="1">
                <a:solidFill>
                  <a:srgbClr val="FF0000"/>
                </a:solidFill>
              </a:rPr>
              <a:t>newChild</a:t>
            </a:r>
            <a:r>
              <a:rPr lang="en-US" sz="2400" dirty="0">
                <a:solidFill>
                  <a:srgbClr val="FF0000"/>
                </a:solidFill>
              </a:rPr>
              <a:t>, </a:t>
            </a:r>
            <a:r>
              <a:rPr lang="en-US" sz="2400" dirty="0" err="1">
                <a:solidFill>
                  <a:srgbClr val="FF0000"/>
                </a:solidFill>
              </a:rPr>
              <a:t>oldChild</a:t>
            </a:r>
            <a:r>
              <a:rPr lang="en-US" sz="2400" dirty="0">
                <a:solidFill>
                  <a:srgbClr val="FF0000"/>
                </a:solidFill>
              </a:rPr>
              <a:t>) </a:t>
            </a:r>
            <a:r>
              <a:rPr lang="en-US" sz="2400" dirty="0"/>
              <a:t>method replaces the </a:t>
            </a:r>
            <a:r>
              <a:rPr lang="en-US" sz="2400" dirty="0" err="1"/>
              <a:t>oldChild</a:t>
            </a:r>
            <a:r>
              <a:rPr lang="en-US" sz="2400" dirty="0"/>
              <a:t> node with the </a:t>
            </a:r>
            <a:r>
              <a:rPr lang="en-US" sz="2400" dirty="0" err="1"/>
              <a:t>newChild</a:t>
            </a:r>
            <a:r>
              <a:rPr lang="en-US" sz="2400" dirty="0"/>
              <a:t> node. </a:t>
            </a:r>
          </a:p>
          <a:p>
            <a:pPr algn="just"/>
            <a:r>
              <a:rPr lang="en-US" sz="2400" dirty="0"/>
              <a:t>The </a:t>
            </a:r>
            <a:r>
              <a:rPr lang="en-US" sz="2400" dirty="0" err="1">
                <a:solidFill>
                  <a:srgbClr val="FF0000"/>
                </a:solidFill>
              </a:rPr>
              <a:t>removeChild</a:t>
            </a:r>
            <a:r>
              <a:rPr lang="en-US" sz="2400" dirty="0">
                <a:solidFill>
                  <a:srgbClr val="FF0000"/>
                </a:solidFill>
              </a:rPr>
              <a:t>(</a:t>
            </a:r>
            <a:r>
              <a:rPr lang="en-US" sz="2400" dirty="0" err="1">
                <a:solidFill>
                  <a:srgbClr val="FF0000"/>
                </a:solidFill>
              </a:rPr>
              <a:t>oldChild</a:t>
            </a:r>
            <a:r>
              <a:rPr lang="en-US" sz="2400" dirty="0">
                <a:solidFill>
                  <a:srgbClr val="FF0000"/>
                </a:solidFill>
              </a:rPr>
              <a:t>) </a:t>
            </a:r>
            <a:r>
              <a:rPr lang="en-US" sz="2400" dirty="0"/>
              <a:t>method removes the specified node from the DOM structure. </a:t>
            </a:r>
          </a:p>
          <a:p>
            <a:pPr algn="just"/>
            <a:r>
              <a:rPr lang="en-US" sz="2400" dirty="0"/>
              <a:t>The </a:t>
            </a:r>
            <a:r>
              <a:rPr lang="en-US" sz="2400" dirty="0" err="1">
                <a:solidFill>
                  <a:srgbClr val="FF0000"/>
                </a:solidFill>
              </a:rPr>
              <a:t>appendChild</a:t>
            </a:r>
            <a:r>
              <a:rPr lang="en-US" sz="2400" dirty="0">
                <a:solidFill>
                  <a:srgbClr val="FF0000"/>
                </a:solidFill>
              </a:rPr>
              <a:t>(</a:t>
            </a:r>
            <a:r>
              <a:rPr lang="en-US" sz="2400" dirty="0" err="1">
                <a:solidFill>
                  <a:srgbClr val="FF0000"/>
                </a:solidFill>
              </a:rPr>
              <a:t>newChild</a:t>
            </a:r>
            <a:r>
              <a:rPr lang="en-US" sz="2400" dirty="0">
                <a:solidFill>
                  <a:srgbClr val="FF0000"/>
                </a:solidFill>
              </a:rPr>
              <a:t>) </a:t>
            </a:r>
            <a:r>
              <a:rPr lang="en-US" sz="2400" dirty="0"/>
              <a:t>method adds the given node to the end of the list of siblings of the node through which it is called.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IN" sz="2400" dirty="0"/>
          </a:p>
        </p:txBody>
      </p:sp>
    </p:spTree>
    <p:extLst>
      <p:ext uri="{BB962C8B-B14F-4D97-AF65-F5344CB8AC3E}">
        <p14:creationId xmlns:p14="http://schemas.microsoft.com/office/powerpoint/2010/main" val="3578257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Navigator Object </a:t>
            </a:r>
          </a:p>
        </p:txBody>
      </p:sp>
      <p:sp>
        <p:nvSpPr>
          <p:cNvPr id="6" name="Content Placeholder 5"/>
          <p:cNvSpPr>
            <a:spLocks noGrp="1"/>
          </p:cNvSpPr>
          <p:nvPr>
            <p:ph idx="1"/>
          </p:nvPr>
        </p:nvSpPr>
        <p:spPr/>
        <p:txBody>
          <a:bodyPr/>
          <a:lstStyle/>
          <a:p>
            <a:r>
              <a:rPr lang="en-US" dirty="0"/>
              <a:t>The Navigator object is a built-in JavaScript object.</a:t>
            </a:r>
          </a:p>
          <a:p>
            <a:r>
              <a:rPr lang="en-US" dirty="0"/>
              <a:t>It provides information about the browser used to view the webpage.</a:t>
            </a:r>
          </a:p>
          <a:p>
            <a:r>
              <a:rPr lang="en-US" dirty="0"/>
              <a:t>It is part of the Browser Object Model (BOM).</a:t>
            </a:r>
          </a:p>
          <a:p>
            <a:r>
              <a:rPr lang="en-US" dirty="0"/>
              <a:t>It is accessed using the </a:t>
            </a:r>
            <a:r>
              <a:rPr lang="en-US" dirty="0">
                <a:solidFill>
                  <a:srgbClr val="FF0000"/>
                </a:solidFill>
              </a:rPr>
              <a:t>navigator</a:t>
            </a:r>
            <a:r>
              <a:rPr lang="en-US" dirty="0"/>
              <a:t> keyword.</a:t>
            </a:r>
          </a:p>
          <a:p>
            <a:r>
              <a:rPr lang="en-US" dirty="0" err="1">
                <a:solidFill>
                  <a:srgbClr val="FF0000"/>
                </a:solidFill>
              </a:rPr>
              <a:t>navigator.appName</a:t>
            </a:r>
            <a:r>
              <a:rPr lang="en-US" dirty="0"/>
              <a:t> returns the browser name.</a:t>
            </a:r>
          </a:p>
          <a:p>
            <a:r>
              <a:rPr lang="en-US" dirty="0" err="1">
                <a:solidFill>
                  <a:srgbClr val="FF0000"/>
                </a:solidFill>
              </a:rPr>
              <a:t>navigator.appVersion</a:t>
            </a:r>
            <a:r>
              <a:rPr lang="en-US" dirty="0">
                <a:solidFill>
                  <a:srgbClr val="FF0000"/>
                </a:solidFill>
              </a:rPr>
              <a:t> </a:t>
            </a:r>
            <a:r>
              <a:rPr lang="en-US" dirty="0"/>
              <a:t>returns the browser version.</a:t>
            </a:r>
            <a:endParaRPr lang="en-IN" dirty="0"/>
          </a:p>
        </p:txBody>
      </p:sp>
    </p:spTree>
    <p:extLst>
      <p:ext uri="{BB962C8B-B14F-4D97-AF65-F5344CB8AC3E}">
        <p14:creationId xmlns:p14="http://schemas.microsoft.com/office/powerpoint/2010/main" val="2729786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545" t="36761"/>
          <a:stretch/>
        </p:blipFill>
        <p:spPr>
          <a:xfrm>
            <a:off x="504824" y="104774"/>
            <a:ext cx="8143876" cy="4025529"/>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312" y="3169274"/>
            <a:ext cx="7496175" cy="3973804"/>
          </a:xfrm>
          <a:prstGeom prst="rect">
            <a:avLst/>
          </a:prstGeom>
        </p:spPr>
      </p:pic>
    </p:spTree>
    <p:extLst>
      <p:ext uri="{BB962C8B-B14F-4D97-AF65-F5344CB8AC3E}">
        <p14:creationId xmlns:p14="http://schemas.microsoft.com/office/powerpoint/2010/main" val="331339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oud skipper design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2"/>
        </a:lnRef>
        <a:fillRef idx="0">
          <a:schemeClr val="accent2"/>
        </a:fillRef>
        <a:effectRef idx="0">
          <a:schemeClr val="accent2"/>
        </a:effectRef>
        <a:fontRef idx="minor">
          <a:schemeClr val="tx1"/>
        </a:fontRef>
      </a:style>
    </a:lnDef>
    <a:txDef>
      <a:spPr>
        <a:noFill/>
        <a:ln>
          <a:solidFill>
            <a:schemeClr val="bg2"/>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Cloud skipper design slides.potx" id="{A839CB2D-CAF8-4C90-9E08-F1ACA2C5BDD5}" vid="{4C3DFA96-B4CF-43D6-AFA3-6C4764C0CD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panose="02040503050406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Cloud skipper design slides</Template>
  <TotalTime>279</TotalTime>
  <Words>8660</Words>
  <Application>Microsoft Office PowerPoint</Application>
  <PresentationFormat>Widescreen</PresentationFormat>
  <Paragraphs>1259</Paragraphs>
  <Slides>94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94</vt:i4>
      </vt:variant>
    </vt:vector>
  </HeadingPairs>
  <TitlesOfParts>
    <vt:vector size="102" baseType="lpstr">
      <vt:lpstr>Arial Unicode MS</vt:lpstr>
      <vt:lpstr>Arial</vt:lpstr>
      <vt:lpstr>Calibri</vt:lpstr>
      <vt:lpstr>Calibri Light</vt:lpstr>
      <vt:lpstr>Cambria</vt:lpstr>
      <vt:lpstr>Century</vt:lpstr>
      <vt:lpstr>Microsoft Yi Baiti</vt:lpstr>
      <vt:lpstr>Cloud skipper design template</vt:lpstr>
      <vt:lpstr>     ADVANCED WEB TECHNOLOGIES  UNIT – III </vt:lpstr>
      <vt:lpstr>Origins</vt:lpstr>
      <vt:lpstr>PowerPoint Presentation</vt:lpstr>
      <vt:lpstr>Uses of JavaScript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Dynamic Object Model (DOM)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Navigator Object </vt:lpstr>
      <vt:lpstr>PowerPoint Presentation</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HP</dc:creator>
  <cp:lastModifiedBy>HP</cp:lastModifiedBy>
  <cp:revision>27</cp:revision>
  <dcterms:created xsi:type="dcterms:W3CDTF">2026-03-24T06:09:26Z</dcterms:created>
  <dcterms:modified xsi:type="dcterms:W3CDTF">2026-04-09T08:03:31Z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74062900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