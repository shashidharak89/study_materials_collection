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FADF1-BD19-EC5F-C8DF-3FFFB06D7E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5358EF-3ED5-4A34-E7A6-EC9408CCF1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D45AC3-2237-A1E2-95A5-35A715BF25CC}"/>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5" name="Footer Placeholder 4">
            <a:extLst>
              <a:ext uri="{FF2B5EF4-FFF2-40B4-BE49-F238E27FC236}">
                <a16:creationId xmlns:a16="http://schemas.microsoft.com/office/drawing/2014/main" id="{F7B6CDC6-9F4F-ADE0-5807-0B83391600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412CEC-54D6-D33B-9709-6B4131A59E56}"/>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1344233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342AD-FA1F-F4A9-0D0A-719EF7C18A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BC30F1-2B6D-72AA-7DC7-85581D35A6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788795-67F6-3DD6-DECE-7E52B631CBE7}"/>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5" name="Footer Placeholder 4">
            <a:extLst>
              <a:ext uri="{FF2B5EF4-FFF2-40B4-BE49-F238E27FC236}">
                <a16:creationId xmlns:a16="http://schemas.microsoft.com/office/drawing/2014/main" id="{54D31B34-25A3-58BE-E23E-CCE08EEBCD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6ED978-E38A-D980-1A8A-B9E0186E397F}"/>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3006319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E04DD-D020-53AD-6DF9-6779B4C8B8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AC1A71-394A-E4BB-5838-85E86E602A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DD26F8-843B-AA15-9C82-4001CFEC31B0}"/>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5" name="Footer Placeholder 4">
            <a:extLst>
              <a:ext uri="{FF2B5EF4-FFF2-40B4-BE49-F238E27FC236}">
                <a16:creationId xmlns:a16="http://schemas.microsoft.com/office/drawing/2014/main" id="{C86F9528-7F06-2E60-DFCE-46B36FAAE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1B4BBC-57F8-D332-800D-2D68B4D5EA84}"/>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1958734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2AC24-BE54-1FB6-A1DD-FCA6DCE73B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2C76A0-1177-259A-15C5-2351190A0F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BCA1BFC-26A1-1620-2461-624C13A914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8AC1D8-EA21-C05D-0B2C-CEB5776D775B}"/>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6" name="Footer Placeholder 5">
            <a:extLst>
              <a:ext uri="{FF2B5EF4-FFF2-40B4-BE49-F238E27FC236}">
                <a16:creationId xmlns:a16="http://schemas.microsoft.com/office/drawing/2014/main" id="{5B9CE3B9-9BC4-AC43-1D1A-968D2BA22C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DD4DD1-236D-E907-561C-658B98717D00}"/>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3191953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8DF77-FB1D-526A-6A22-50C9BDE5C7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1F2401-47C7-59DD-4331-F07F962B09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21E2AD-8FC6-B44A-EF01-7B2479F9FE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8D841F2-EEC2-26AB-290C-4C4EC6243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BFF540-5170-131F-A345-369373455C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C38A62-3039-4D2E-765D-0A4F8D93F922}"/>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8" name="Footer Placeholder 7">
            <a:extLst>
              <a:ext uri="{FF2B5EF4-FFF2-40B4-BE49-F238E27FC236}">
                <a16:creationId xmlns:a16="http://schemas.microsoft.com/office/drawing/2014/main" id="{CC129F15-6960-DE56-BACA-490843AD50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975A87E-262D-8815-F8BC-6D445034D8E7}"/>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385768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87DC9-361D-66F7-CA8E-CEBD85B9470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011A2D-54B2-B00C-A73D-8D3E7B7613A2}"/>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4" name="Footer Placeholder 3">
            <a:extLst>
              <a:ext uri="{FF2B5EF4-FFF2-40B4-BE49-F238E27FC236}">
                <a16:creationId xmlns:a16="http://schemas.microsoft.com/office/drawing/2014/main" id="{F37B49C9-5679-F2A5-11DA-C92E95AEBF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E738DE-EBEE-A6C9-2501-3DE5060E99D7}"/>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377444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BD3C8B-BB74-F453-434D-223A2C11C154}"/>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3" name="Footer Placeholder 2">
            <a:extLst>
              <a:ext uri="{FF2B5EF4-FFF2-40B4-BE49-F238E27FC236}">
                <a16:creationId xmlns:a16="http://schemas.microsoft.com/office/drawing/2014/main" id="{EAF0DE34-25D6-A27A-3453-77515B6DD6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424F28-3DE7-7A84-7389-3BF1AD26909C}"/>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2865421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865B-E534-E4F3-D757-27E165A3D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10C531-D00E-CE0E-D041-F97DE10DE8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1C2A77-14ED-85D8-655C-F2C74E5135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FFCEDF-780F-1325-DF38-501291640B88}"/>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6" name="Footer Placeholder 5">
            <a:extLst>
              <a:ext uri="{FF2B5EF4-FFF2-40B4-BE49-F238E27FC236}">
                <a16:creationId xmlns:a16="http://schemas.microsoft.com/office/drawing/2014/main" id="{AE115DD1-5318-C3A0-13CD-F04C7A1CF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66069B-3D92-A4E0-CD01-4EF551BE37AC}"/>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449294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62800-0A22-93FA-516E-8E1E30AC63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AAFCE2-4771-A967-3474-443854C529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C05C5C-A2E6-B9C6-4127-8540AFB67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16A2B9-D42E-2E52-63D3-78CE1B0B099A}"/>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6" name="Footer Placeholder 5">
            <a:extLst>
              <a:ext uri="{FF2B5EF4-FFF2-40B4-BE49-F238E27FC236}">
                <a16:creationId xmlns:a16="http://schemas.microsoft.com/office/drawing/2014/main" id="{FC7AECBF-69E9-57C8-65F9-98E04A7243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05A6E7-39CC-7E17-DC1F-7512E6D3C1A9}"/>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788983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004F-9A5D-D640-E635-98B2AF2ABFA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BCF8C9-D3E2-25AA-A0AC-46C5478094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680E7E-390B-9E5A-905B-1D5F17B55DA4}"/>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5" name="Footer Placeholder 4">
            <a:extLst>
              <a:ext uri="{FF2B5EF4-FFF2-40B4-BE49-F238E27FC236}">
                <a16:creationId xmlns:a16="http://schemas.microsoft.com/office/drawing/2014/main" id="{D83454C9-FA19-931F-695D-3314D03D87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4E6F45-B383-A31A-778D-A9227249368D}"/>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1611559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DADD89-99C0-75E0-C257-932383E10C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0590AB-B941-0FBB-ADDD-92CC280004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C6E3EE-1877-A7FF-131C-05C423A4FF8A}"/>
              </a:ext>
            </a:extLst>
          </p:cNvPr>
          <p:cNvSpPr>
            <a:spLocks noGrp="1"/>
          </p:cNvSpPr>
          <p:nvPr>
            <p:ph type="dt" sz="half" idx="10"/>
          </p:nvPr>
        </p:nvSpPr>
        <p:spPr/>
        <p:txBody>
          <a:bodyPr/>
          <a:lstStyle/>
          <a:p>
            <a:fld id="{18ACAEB1-6AD1-4C0A-B468-7AFF3739721E}" type="datetimeFigureOut">
              <a:rPr lang="en-IN" smtClean="0"/>
              <a:t>20-10-2025</a:t>
            </a:fld>
            <a:endParaRPr lang="en-IN"/>
          </a:p>
        </p:txBody>
      </p:sp>
      <p:sp>
        <p:nvSpPr>
          <p:cNvPr id="5" name="Footer Placeholder 4">
            <a:extLst>
              <a:ext uri="{FF2B5EF4-FFF2-40B4-BE49-F238E27FC236}">
                <a16:creationId xmlns:a16="http://schemas.microsoft.com/office/drawing/2014/main" id="{C20D1FCE-B308-5296-2F97-6B0A75FACF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5A3286-6185-60B2-B9CC-E1EBF137497E}"/>
              </a:ext>
            </a:extLst>
          </p:cNvPr>
          <p:cNvSpPr>
            <a:spLocks noGrp="1"/>
          </p:cNvSpPr>
          <p:nvPr>
            <p:ph type="sldNum" sz="quarter" idx="12"/>
          </p:nvPr>
        </p:nvSpPr>
        <p:spPr/>
        <p:txBody>
          <a:bodyPr/>
          <a:lstStyle/>
          <a:p>
            <a:fld id="{40BD7D57-9FF9-4195-9982-338C0D79ED6F}" type="slidenum">
              <a:rPr lang="en-IN" smtClean="0"/>
              <a:t>‹#›</a:t>
            </a:fld>
            <a:endParaRPr lang="en-IN"/>
          </a:p>
        </p:txBody>
      </p:sp>
    </p:spTree>
    <p:extLst>
      <p:ext uri="{BB962C8B-B14F-4D97-AF65-F5344CB8AC3E}">
        <p14:creationId xmlns:p14="http://schemas.microsoft.com/office/powerpoint/2010/main" val="3845750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EA30D8-C0EE-EF5A-7936-057C98F06A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C776BC-3A67-CEBF-6BBC-2A7EB62786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B71574-A40A-E255-36D9-CEC1CF391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ACAEB1-6AD1-4C0A-B468-7AFF3739721E}" type="datetimeFigureOut">
              <a:rPr lang="en-IN" smtClean="0"/>
              <a:t>20-10-2025</a:t>
            </a:fld>
            <a:endParaRPr lang="en-IN"/>
          </a:p>
        </p:txBody>
      </p:sp>
      <p:sp>
        <p:nvSpPr>
          <p:cNvPr id="5" name="Footer Placeholder 4">
            <a:extLst>
              <a:ext uri="{FF2B5EF4-FFF2-40B4-BE49-F238E27FC236}">
                <a16:creationId xmlns:a16="http://schemas.microsoft.com/office/drawing/2014/main" id="{6A55CD84-ECD0-D4C9-3256-DBEAFABFC8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96ECADE-7C3F-6227-1D8D-FA7ABE6263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BD7D57-9FF9-4195-9982-338C0D79ED6F}" type="slidenum">
              <a:rPr lang="en-IN" smtClean="0"/>
              <a:t>‹#›</a:t>
            </a:fld>
            <a:endParaRPr lang="en-IN"/>
          </a:p>
        </p:txBody>
      </p:sp>
    </p:spTree>
    <p:extLst>
      <p:ext uri="{BB962C8B-B14F-4D97-AF65-F5344CB8AC3E}">
        <p14:creationId xmlns:p14="http://schemas.microsoft.com/office/powerpoint/2010/main" val="2671413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w3schools.com/cssref/css_selectors.as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C743-5D4B-E6C3-D44E-0AE04A02F695}"/>
              </a:ext>
            </a:extLst>
          </p:cNvPr>
          <p:cNvSpPr>
            <a:spLocks noGrp="1"/>
          </p:cNvSpPr>
          <p:nvPr>
            <p:ph type="ctrTitle"/>
          </p:nvPr>
        </p:nvSpPr>
        <p:spPr/>
        <p:txBody>
          <a:bodyPr/>
          <a:lstStyle/>
          <a:p>
            <a:r>
              <a:rPr lang="en-US" b="1" dirty="0"/>
              <a:t>JQUERY and Introduction to Angular JS</a:t>
            </a:r>
            <a:endParaRPr lang="en-IN" dirty="0"/>
          </a:p>
        </p:txBody>
      </p:sp>
      <p:sp>
        <p:nvSpPr>
          <p:cNvPr id="3" name="Subtitle 2">
            <a:extLst>
              <a:ext uri="{FF2B5EF4-FFF2-40B4-BE49-F238E27FC236}">
                <a16:creationId xmlns:a16="http://schemas.microsoft.com/office/drawing/2014/main" id="{BDA0FA40-11E0-8CBB-ED82-C4147A7D3B32}"/>
              </a:ext>
            </a:extLst>
          </p:cNvPr>
          <p:cNvSpPr>
            <a:spLocks noGrp="1"/>
          </p:cNvSpPr>
          <p:nvPr>
            <p:ph type="subTitle" idx="1"/>
          </p:nvPr>
        </p:nvSpPr>
        <p:spPr/>
        <p:txBody>
          <a:bodyPr/>
          <a:lstStyle/>
          <a:p>
            <a:r>
              <a:rPr lang="en-US" dirty="0"/>
              <a:t>Dr. Roshan D Suvaris</a:t>
            </a:r>
          </a:p>
          <a:p>
            <a:r>
              <a:rPr lang="en-US" dirty="0"/>
              <a:t>Asst. Professor</a:t>
            </a:r>
          </a:p>
          <a:p>
            <a:r>
              <a:rPr lang="en-US" dirty="0"/>
              <a:t>MCA Department</a:t>
            </a:r>
            <a:endParaRPr lang="en-IN" dirty="0"/>
          </a:p>
        </p:txBody>
      </p:sp>
    </p:spTree>
    <p:extLst>
      <p:ext uri="{BB962C8B-B14F-4D97-AF65-F5344CB8AC3E}">
        <p14:creationId xmlns:p14="http://schemas.microsoft.com/office/powerpoint/2010/main" val="3786875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B6800-E46D-C29B-1D4A-3CE797396118}"/>
              </a:ext>
            </a:extLst>
          </p:cNvPr>
          <p:cNvSpPr>
            <a:spLocks noGrp="1"/>
          </p:cNvSpPr>
          <p:nvPr>
            <p:ph idx="1"/>
          </p:nvPr>
        </p:nvSpPr>
        <p:spPr>
          <a:xfrm>
            <a:off x="838200" y="254524"/>
            <a:ext cx="10515600" cy="6410227"/>
          </a:xfrm>
        </p:spPr>
        <p:txBody>
          <a:bodyPr/>
          <a:lstStyle/>
          <a:p>
            <a:r>
              <a:rPr lang="en-US" b="1" dirty="0"/>
              <a:t>JQUERY</a:t>
            </a:r>
            <a:endParaRPr lang="en-US" dirty="0"/>
          </a:p>
          <a:p>
            <a:pPr lvl="1" algn="just"/>
            <a:endParaRPr lang="en-US" dirty="0"/>
          </a:p>
          <a:p>
            <a:pPr lvl="1" algn="just"/>
            <a:endParaRPr lang="en-US" dirty="0"/>
          </a:p>
          <a:p>
            <a:pPr lvl="1" algn="just"/>
            <a:r>
              <a:rPr lang="en-US" dirty="0"/>
              <a:t>Introduction, </a:t>
            </a:r>
          </a:p>
          <a:p>
            <a:pPr lvl="1" algn="just"/>
            <a:r>
              <a:rPr lang="en-US" dirty="0"/>
              <a:t>Syntax, </a:t>
            </a:r>
          </a:p>
          <a:p>
            <a:pPr lvl="1" algn="just"/>
            <a:r>
              <a:rPr lang="en-US" dirty="0"/>
              <a:t>selectors, </a:t>
            </a:r>
          </a:p>
          <a:p>
            <a:pPr lvl="1" algn="just"/>
            <a:r>
              <a:rPr lang="en-US" dirty="0"/>
              <a:t>events, </a:t>
            </a:r>
          </a:p>
          <a:p>
            <a:pPr lvl="1" algn="just"/>
            <a:r>
              <a:rPr lang="en-US" dirty="0" err="1"/>
              <a:t>JQuery</a:t>
            </a:r>
            <a:r>
              <a:rPr lang="en-US" dirty="0"/>
              <a:t> HTML, </a:t>
            </a:r>
          </a:p>
          <a:p>
            <a:pPr lvl="1" algn="just"/>
            <a:r>
              <a:rPr lang="en-US" dirty="0"/>
              <a:t>Effects</a:t>
            </a:r>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104324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29331-4D52-F0CA-42E8-64C5700B51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CD701-65BC-B71B-CCA4-5E265F2D354F}"/>
              </a:ext>
            </a:extLst>
          </p:cNvPr>
          <p:cNvSpPr>
            <a:spLocks noGrp="1"/>
          </p:cNvSpPr>
          <p:nvPr>
            <p:ph idx="1"/>
          </p:nvPr>
        </p:nvSpPr>
        <p:spPr>
          <a:xfrm>
            <a:off x="838200" y="254524"/>
            <a:ext cx="10515600" cy="6410227"/>
          </a:xfrm>
        </p:spPr>
        <p:txBody>
          <a:bodyPr/>
          <a:lstStyle/>
          <a:p>
            <a:r>
              <a:rPr lang="en-US" dirty="0"/>
              <a:t>Introduction</a:t>
            </a:r>
          </a:p>
          <a:p>
            <a:pPr algn="just"/>
            <a:endParaRPr lang="en-US" sz="2400" dirty="0"/>
          </a:p>
          <a:p>
            <a:pPr algn="just"/>
            <a:r>
              <a:rPr lang="en-US" sz="2400" dirty="0"/>
              <a:t>The purpose of jQuery is to make it much easier to use JavaScript on your website.</a:t>
            </a:r>
          </a:p>
          <a:p>
            <a:pPr algn="just"/>
            <a:r>
              <a:rPr lang="en-US" sz="2400" dirty="0"/>
              <a:t>jQuery is a lightweight, "write less, do more", JavaScript library.</a:t>
            </a:r>
          </a:p>
          <a:p>
            <a:pPr algn="just"/>
            <a:r>
              <a:rPr lang="en-US" sz="2400" dirty="0"/>
              <a:t>The purpose of jQuery is to make it much easier to use JavaScript on your website.</a:t>
            </a:r>
          </a:p>
          <a:p>
            <a:pPr algn="just"/>
            <a:r>
              <a:rPr lang="en-US" sz="2400" dirty="0"/>
              <a:t>jQuery takes a lot of common tasks that require many lines of JavaScript code to accomplish, and wraps them into methods that you can call with a single line of code.</a:t>
            </a:r>
          </a:p>
          <a:p>
            <a:pPr algn="just"/>
            <a:r>
              <a:rPr lang="en-US" sz="2400" dirty="0"/>
              <a:t>jQuery also simplifies a lot of the complicated things from JavaScript, like AJAX calls and DOM manipulation.</a:t>
            </a:r>
          </a:p>
          <a:p>
            <a:pPr algn="just"/>
            <a:r>
              <a:rPr lang="en-US" sz="2400" dirty="0"/>
              <a:t>There are lots of other JavaScript libraries out there, but jQuery is probably the </a:t>
            </a:r>
            <a:r>
              <a:rPr lang="en-US" sz="2400" dirty="0">
                <a:solidFill>
                  <a:srgbClr val="FF0000"/>
                </a:solidFill>
              </a:rPr>
              <a:t>most popular</a:t>
            </a:r>
            <a:r>
              <a:rPr lang="en-US" sz="2400" dirty="0"/>
              <a:t>, and also the </a:t>
            </a:r>
            <a:r>
              <a:rPr lang="en-US" sz="2400" dirty="0">
                <a:solidFill>
                  <a:srgbClr val="FF0000"/>
                </a:solidFill>
              </a:rPr>
              <a:t>most extendable</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363485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C3D12-5696-61E5-2F61-0813C25138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292A3-ADA6-2BD0-683F-8084C5B07DCF}"/>
              </a:ext>
            </a:extLst>
          </p:cNvPr>
          <p:cNvSpPr>
            <a:spLocks noGrp="1"/>
          </p:cNvSpPr>
          <p:nvPr>
            <p:ph idx="1"/>
          </p:nvPr>
        </p:nvSpPr>
        <p:spPr>
          <a:xfrm>
            <a:off x="838200" y="254524"/>
            <a:ext cx="10515600" cy="6410227"/>
          </a:xfrm>
        </p:spPr>
        <p:txBody>
          <a:bodyPr/>
          <a:lstStyle/>
          <a:p>
            <a:r>
              <a:rPr lang="en-US" b="1" dirty="0"/>
              <a:t>Adding jQuery to Your Web Pages</a:t>
            </a:r>
            <a:endParaRPr lang="en-US" dirty="0"/>
          </a:p>
          <a:p>
            <a:pPr algn="just"/>
            <a:r>
              <a:rPr lang="en-US" sz="2400" dirty="0"/>
              <a:t>There are several ways to start using jQuery on your web site. You can:</a:t>
            </a:r>
          </a:p>
          <a:p>
            <a:pPr lvl="1"/>
            <a:r>
              <a:rPr lang="en-US" sz="2000" dirty="0">
                <a:solidFill>
                  <a:schemeClr val="accent5">
                    <a:lumMod val="50000"/>
                  </a:schemeClr>
                </a:solidFill>
              </a:rPr>
              <a:t>Download the jQuery library from jQuery.com</a:t>
            </a:r>
          </a:p>
          <a:p>
            <a:pPr lvl="2"/>
            <a:r>
              <a:rPr lang="en-US" dirty="0"/>
              <a:t>Production version - this is for your live website because it has been minified and compressed</a:t>
            </a:r>
          </a:p>
          <a:p>
            <a:pPr lvl="2"/>
            <a:r>
              <a:rPr lang="en-US" dirty="0"/>
              <a:t>Development version - this is for testing and development (uncompressed and readable code)</a:t>
            </a:r>
            <a:endParaRPr lang="en-US" sz="2000" dirty="0"/>
          </a:p>
          <a:p>
            <a:pPr lvl="1" algn="just"/>
            <a:r>
              <a:rPr lang="en-US" sz="2000" dirty="0"/>
              <a:t>The jQuery library is a single JavaScript file, and you reference it with the HTML </a:t>
            </a:r>
            <a:r>
              <a:rPr lang="en-US" dirty="0"/>
              <a:t>&lt;script&gt;</a:t>
            </a:r>
            <a:r>
              <a:rPr lang="en-US" sz="2000" dirty="0"/>
              <a:t> tag (notice that the </a:t>
            </a:r>
            <a:r>
              <a:rPr lang="en-US" dirty="0"/>
              <a:t>&lt;script&gt;</a:t>
            </a:r>
            <a:r>
              <a:rPr lang="en-US" sz="2000" dirty="0"/>
              <a:t> tag should be inside the </a:t>
            </a:r>
            <a:r>
              <a:rPr lang="en-US" dirty="0"/>
              <a:t>&lt;head&gt;</a:t>
            </a:r>
            <a:r>
              <a:rPr lang="en-US" sz="2000" dirty="0"/>
              <a:t> section):</a:t>
            </a:r>
          </a:p>
          <a:p>
            <a:pPr>
              <a:buNone/>
            </a:pPr>
            <a:r>
              <a:rPr lang="en-US" sz="1400" dirty="0">
                <a:solidFill>
                  <a:srgbClr val="999999"/>
                </a:solidFill>
                <a:effectLst/>
              </a:rPr>
              <a:t>		&lt;</a:t>
            </a:r>
            <a:r>
              <a:rPr lang="en-US" sz="1400" dirty="0">
                <a:solidFill>
                  <a:srgbClr val="990055"/>
                </a:solidFill>
                <a:effectLst/>
              </a:rPr>
              <a:t>head</a:t>
            </a:r>
            <a:r>
              <a:rPr lang="en-US" sz="1400" dirty="0">
                <a:solidFill>
                  <a:srgbClr val="999999"/>
                </a:solidFill>
                <a:effectLst/>
              </a:rPr>
              <a:t>&gt;</a:t>
            </a:r>
            <a:br>
              <a:rPr lang="en-US" sz="1400" dirty="0"/>
            </a:br>
            <a:r>
              <a:rPr lang="en-US" sz="1400" dirty="0"/>
              <a:t>	</a:t>
            </a:r>
            <a:r>
              <a:rPr lang="en-US" sz="1400" dirty="0">
                <a:solidFill>
                  <a:srgbClr val="999999"/>
                </a:solidFill>
                <a:effectLst/>
              </a:rPr>
              <a:t>&lt;</a:t>
            </a:r>
            <a:r>
              <a:rPr lang="en-US" sz="1400" dirty="0">
                <a:solidFill>
                  <a:srgbClr val="990055"/>
                </a:solidFill>
                <a:effectLst/>
              </a:rPr>
              <a:t>script</a:t>
            </a:r>
            <a:r>
              <a:rPr lang="en-US" sz="1400" dirty="0">
                <a:solidFill>
                  <a:srgbClr val="008000"/>
                </a:solidFill>
                <a:effectLst/>
              </a:rPr>
              <a:t> </a:t>
            </a:r>
            <a:r>
              <a:rPr lang="en-US" sz="1400" dirty="0" err="1">
                <a:solidFill>
                  <a:srgbClr val="008000"/>
                </a:solidFill>
                <a:effectLst/>
              </a:rPr>
              <a:t>src</a:t>
            </a:r>
            <a:r>
              <a:rPr lang="en-US" sz="1400" dirty="0">
                <a:solidFill>
                  <a:srgbClr val="005CC5"/>
                </a:solidFill>
                <a:effectLst/>
              </a:rPr>
              <a:t>="jquery-3.7.1.min.js"</a:t>
            </a:r>
            <a:r>
              <a:rPr lang="en-US" sz="1400" dirty="0">
                <a:solidFill>
                  <a:srgbClr val="999999"/>
                </a:solidFill>
                <a:effectLst/>
              </a:rPr>
              <a:t>&gt;&lt;</a:t>
            </a:r>
            <a:r>
              <a:rPr lang="en-US" sz="1400" dirty="0">
                <a:solidFill>
                  <a:srgbClr val="990055"/>
                </a:solidFill>
                <a:effectLst/>
              </a:rPr>
              <a:t>/script</a:t>
            </a:r>
            <a:r>
              <a:rPr lang="en-US" sz="1400" dirty="0">
                <a:solidFill>
                  <a:srgbClr val="999999"/>
                </a:solidFill>
                <a:effectLst/>
              </a:rPr>
              <a:t>&gt;</a:t>
            </a:r>
            <a:br>
              <a:rPr lang="en-US" sz="1400" dirty="0"/>
            </a:br>
            <a:r>
              <a:rPr lang="en-US" sz="1400" dirty="0"/>
              <a:t>	</a:t>
            </a:r>
            <a:r>
              <a:rPr lang="en-US" sz="1400" dirty="0">
                <a:solidFill>
                  <a:srgbClr val="999999"/>
                </a:solidFill>
                <a:effectLst/>
              </a:rPr>
              <a:t>&lt;</a:t>
            </a:r>
            <a:r>
              <a:rPr lang="en-US" sz="1400" dirty="0">
                <a:solidFill>
                  <a:srgbClr val="990055"/>
                </a:solidFill>
                <a:effectLst/>
              </a:rPr>
              <a:t>/head</a:t>
            </a:r>
            <a:r>
              <a:rPr lang="en-US" sz="1400" dirty="0">
                <a:solidFill>
                  <a:srgbClr val="999999"/>
                </a:solidFill>
                <a:effectLst/>
              </a:rPr>
              <a:t>&gt;</a:t>
            </a:r>
            <a:r>
              <a:rPr lang="en-US" sz="1400" dirty="0"/>
              <a:t> </a:t>
            </a:r>
          </a:p>
          <a:p>
            <a:pPr lvl="2" algn="just"/>
            <a:endParaRPr lang="en-US" sz="1600" dirty="0"/>
          </a:p>
          <a:p>
            <a:pPr lvl="1" algn="just"/>
            <a:r>
              <a:rPr lang="en-US" sz="2000" dirty="0">
                <a:solidFill>
                  <a:schemeClr val="accent5">
                    <a:lumMod val="50000"/>
                  </a:schemeClr>
                </a:solidFill>
              </a:rPr>
              <a:t>Include jQuery from a CDN, like Google</a:t>
            </a:r>
          </a:p>
          <a:p>
            <a:pPr lvl="2" algn="just"/>
            <a:r>
              <a:rPr lang="en-US" dirty="0"/>
              <a:t>If you don't want to download and host jQuery yourself, you can include it from a CDN</a:t>
            </a:r>
          </a:p>
          <a:p>
            <a:pPr algn="just"/>
            <a:endParaRPr lang="en-US" sz="2400" dirty="0"/>
          </a:p>
          <a:p>
            <a:pPr>
              <a:buNone/>
            </a:pPr>
            <a:r>
              <a:rPr lang="en-US" sz="1600" dirty="0">
                <a:solidFill>
                  <a:srgbClr val="999999"/>
                </a:solidFill>
                <a:effectLst/>
              </a:rPr>
              <a:t>		&lt;</a:t>
            </a:r>
            <a:r>
              <a:rPr lang="en-US" sz="1600" dirty="0">
                <a:solidFill>
                  <a:srgbClr val="990055"/>
                </a:solidFill>
                <a:effectLst/>
              </a:rPr>
              <a:t>head</a:t>
            </a:r>
            <a:r>
              <a:rPr lang="en-US" sz="1600" dirty="0">
                <a:solidFill>
                  <a:srgbClr val="999999"/>
                </a:solidFill>
                <a:effectLst/>
              </a:rPr>
              <a:t>&gt;</a:t>
            </a:r>
            <a:br>
              <a:rPr lang="en-US" sz="1600" dirty="0"/>
            </a:br>
            <a:r>
              <a:rPr lang="en-US" sz="1600" dirty="0"/>
              <a:t>	</a:t>
            </a:r>
            <a:r>
              <a:rPr lang="en-US" sz="1600" dirty="0">
                <a:solidFill>
                  <a:srgbClr val="999999"/>
                </a:solidFill>
                <a:effectLst/>
              </a:rPr>
              <a:t>&lt;</a:t>
            </a:r>
            <a:r>
              <a:rPr lang="en-US" sz="1600" dirty="0">
                <a:solidFill>
                  <a:srgbClr val="990055"/>
                </a:solidFill>
                <a:effectLst/>
              </a:rPr>
              <a:t>script</a:t>
            </a:r>
            <a:r>
              <a:rPr lang="en-US" sz="1600" dirty="0">
                <a:solidFill>
                  <a:srgbClr val="008000"/>
                </a:solidFill>
                <a:effectLst/>
              </a:rPr>
              <a:t> </a:t>
            </a:r>
            <a:r>
              <a:rPr lang="en-US" sz="1600" dirty="0" err="1">
                <a:solidFill>
                  <a:srgbClr val="008000"/>
                </a:solidFill>
                <a:effectLst/>
              </a:rPr>
              <a:t>src</a:t>
            </a:r>
            <a:r>
              <a:rPr lang="en-US" sz="1600" dirty="0">
                <a:solidFill>
                  <a:srgbClr val="005CC5"/>
                </a:solidFill>
                <a:effectLst/>
              </a:rPr>
              <a:t>="https://ajax.googleapis.com/ajax/libs/</a:t>
            </a:r>
            <a:r>
              <a:rPr lang="en-US" sz="1600" dirty="0" err="1">
                <a:solidFill>
                  <a:srgbClr val="005CC5"/>
                </a:solidFill>
                <a:effectLst/>
              </a:rPr>
              <a:t>jquery</a:t>
            </a:r>
            <a:r>
              <a:rPr lang="en-US" sz="1600" dirty="0">
                <a:solidFill>
                  <a:srgbClr val="005CC5"/>
                </a:solidFill>
                <a:effectLst/>
              </a:rPr>
              <a:t>/3.7.1/jquery.min.js"</a:t>
            </a:r>
            <a:r>
              <a:rPr lang="en-US" sz="1600" dirty="0">
                <a:solidFill>
                  <a:srgbClr val="999999"/>
                </a:solidFill>
                <a:effectLst/>
              </a:rPr>
              <a:t>&gt;&lt;</a:t>
            </a:r>
            <a:r>
              <a:rPr lang="en-US" sz="1600" dirty="0">
                <a:solidFill>
                  <a:srgbClr val="990055"/>
                </a:solidFill>
                <a:effectLst/>
              </a:rPr>
              <a:t>/script</a:t>
            </a:r>
            <a:r>
              <a:rPr lang="en-US" sz="1600" dirty="0">
                <a:solidFill>
                  <a:srgbClr val="999999"/>
                </a:solidFill>
                <a:effectLst/>
              </a:rPr>
              <a:t>&gt;</a:t>
            </a:r>
            <a:br>
              <a:rPr lang="en-US" sz="1600" dirty="0"/>
            </a:br>
            <a:r>
              <a:rPr lang="en-US" sz="1600" dirty="0"/>
              <a:t>	</a:t>
            </a:r>
            <a:r>
              <a:rPr lang="en-US" sz="1600" dirty="0">
                <a:solidFill>
                  <a:srgbClr val="999999"/>
                </a:solidFill>
                <a:effectLst/>
              </a:rPr>
              <a:t>&lt;</a:t>
            </a:r>
            <a:r>
              <a:rPr lang="en-US" sz="1600" dirty="0">
                <a:solidFill>
                  <a:srgbClr val="990055"/>
                </a:solidFill>
                <a:effectLst/>
              </a:rPr>
              <a:t>/head</a:t>
            </a:r>
            <a:r>
              <a:rPr lang="en-US" sz="1600" dirty="0">
                <a:solidFill>
                  <a:srgbClr val="999999"/>
                </a:solidFill>
                <a:effectLst/>
              </a:rPr>
              <a:t>&gt;</a:t>
            </a:r>
            <a:r>
              <a:rPr lang="en-US" sz="16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426972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270A6-4F53-8098-FEBE-9EE1E4062D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CCFBCC-82FD-EF0A-1A92-49D1FDDA9E0C}"/>
              </a:ext>
            </a:extLst>
          </p:cNvPr>
          <p:cNvSpPr>
            <a:spLocks noGrp="1"/>
          </p:cNvSpPr>
          <p:nvPr>
            <p:ph idx="1"/>
          </p:nvPr>
        </p:nvSpPr>
        <p:spPr>
          <a:xfrm>
            <a:off x="838200" y="254524"/>
            <a:ext cx="10515600" cy="6410227"/>
          </a:xfrm>
        </p:spPr>
        <p:txBody>
          <a:bodyPr/>
          <a:lstStyle/>
          <a:p>
            <a:r>
              <a:rPr lang="en-IN" b="1" dirty="0"/>
              <a:t>jQuery Syntax</a:t>
            </a:r>
            <a:endParaRPr lang="en-US" dirty="0"/>
          </a:p>
          <a:p>
            <a:pPr algn="just"/>
            <a:r>
              <a:rPr lang="en-US" sz="2400" dirty="0"/>
              <a:t>The jQuery syntax is made for </a:t>
            </a:r>
            <a:r>
              <a:rPr lang="en-US" sz="2400" b="1" dirty="0"/>
              <a:t>selecting</a:t>
            </a:r>
            <a:r>
              <a:rPr lang="en-US" sz="2400" dirty="0"/>
              <a:t> HTML elements and performing some </a:t>
            </a:r>
            <a:r>
              <a:rPr lang="en-US" sz="2400" b="1" dirty="0"/>
              <a:t>action</a:t>
            </a:r>
            <a:r>
              <a:rPr lang="en-US" sz="2400" dirty="0"/>
              <a:t> on the element(s).</a:t>
            </a:r>
          </a:p>
          <a:p>
            <a:r>
              <a:rPr lang="en-US" sz="2400" dirty="0"/>
              <a:t>Basic syntax is: </a:t>
            </a:r>
            <a:r>
              <a:rPr lang="en-US" sz="2400" b="1" dirty="0">
                <a:solidFill>
                  <a:srgbClr val="FF0000"/>
                </a:solidFill>
              </a:rPr>
              <a:t>$(</a:t>
            </a:r>
            <a:r>
              <a:rPr lang="en-US" sz="2400" b="1" i="1" dirty="0">
                <a:solidFill>
                  <a:srgbClr val="FF0000"/>
                </a:solidFill>
              </a:rPr>
              <a:t>selector</a:t>
            </a:r>
            <a:r>
              <a:rPr lang="en-US" sz="2400" b="1" dirty="0">
                <a:solidFill>
                  <a:srgbClr val="FF0000"/>
                </a:solidFill>
              </a:rPr>
              <a:t>).</a:t>
            </a:r>
            <a:r>
              <a:rPr lang="en-US" sz="2400" b="1" i="1" dirty="0">
                <a:solidFill>
                  <a:srgbClr val="FF0000"/>
                </a:solidFill>
              </a:rPr>
              <a:t>action</a:t>
            </a:r>
            <a:r>
              <a:rPr lang="en-US" sz="2400" b="1" dirty="0">
                <a:solidFill>
                  <a:srgbClr val="FF0000"/>
                </a:solidFill>
              </a:rPr>
              <a:t>()</a:t>
            </a:r>
            <a:endParaRPr lang="en-US" sz="2400" dirty="0">
              <a:solidFill>
                <a:srgbClr val="FF0000"/>
              </a:solidFill>
            </a:endParaRPr>
          </a:p>
          <a:p>
            <a:pPr lvl="1"/>
            <a:r>
              <a:rPr lang="en-US" sz="2000" dirty="0"/>
              <a:t>A $ sign to define/access jQuery</a:t>
            </a:r>
          </a:p>
          <a:p>
            <a:pPr lvl="1"/>
            <a:r>
              <a:rPr lang="en-US" sz="2000" dirty="0"/>
              <a:t>A (</a:t>
            </a:r>
            <a:r>
              <a:rPr lang="en-US" sz="2000" i="1" dirty="0"/>
              <a:t>selector</a:t>
            </a:r>
            <a:r>
              <a:rPr lang="en-US" sz="2000" dirty="0"/>
              <a:t>) to "query (or find)" HTML elements</a:t>
            </a:r>
          </a:p>
          <a:p>
            <a:pPr lvl="1"/>
            <a:r>
              <a:rPr lang="en-US" sz="2000" dirty="0"/>
              <a:t>A jQuery </a:t>
            </a:r>
            <a:r>
              <a:rPr lang="en-US" sz="2000" i="1" dirty="0"/>
              <a:t>action</a:t>
            </a:r>
            <a:r>
              <a:rPr lang="en-US" sz="2000" dirty="0"/>
              <a:t>() to be performed on the element(s)</a:t>
            </a:r>
          </a:p>
          <a:p>
            <a:pPr algn="just"/>
            <a:endParaRPr lang="en-US" sz="2400" dirty="0"/>
          </a:p>
          <a:p>
            <a:pPr>
              <a:buNone/>
            </a:pPr>
            <a:r>
              <a:rPr lang="en-US" sz="1600" dirty="0"/>
              <a:t>Examples:</a:t>
            </a:r>
          </a:p>
          <a:p>
            <a:pPr lvl="1">
              <a:buNone/>
            </a:pPr>
            <a:r>
              <a:rPr lang="en-US" sz="2000" dirty="0">
                <a:solidFill>
                  <a:srgbClr val="FF0000"/>
                </a:solidFill>
                <a:latin typeface="Courier New" panose="02070309020205020404" pitchFamily="49" charset="0"/>
              </a:rPr>
              <a:t>$(this).hide()</a:t>
            </a:r>
            <a:r>
              <a:rPr lang="en-US" sz="2000" dirty="0">
                <a:solidFill>
                  <a:srgbClr val="FF0000"/>
                </a:solidFill>
              </a:rPr>
              <a:t> 		</a:t>
            </a:r>
            <a:r>
              <a:rPr lang="en-US" sz="2000" dirty="0"/>
              <a:t>- hides the current element.</a:t>
            </a:r>
          </a:p>
          <a:p>
            <a:pPr lvl="1">
              <a:buNone/>
            </a:pPr>
            <a:r>
              <a:rPr lang="en-US" sz="2000" dirty="0">
                <a:solidFill>
                  <a:srgbClr val="FF0000"/>
                </a:solidFill>
                <a:latin typeface="Courier New" panose="02070309020205020404" pitchFamily="49" charset="0"/>
              </a:rPr>
              <a:t>$("p").hide()</a:t>
            </a:r>
            <a:r>
              <a:rPr lang="en-US" sz="2000" dirty="0">
                <a:solidFill>
                  <a:srgbClr val="FF0000"/>
                </a:solidFill>
              </a:rPr>
              <a:t> 		</a:t>
            </a:r>
            <a:r>
              <a:rPr lang="en-US" sz="2000" dirty="0"/>
              <a:t>- hides all &lt;p&gt; elements.			 //</a:t>
            </a:r>
            <a:r>
              <a:rPr lang="en-IN" sz="2000" b="1" dirty="0"/>
              <a:t>CSS selectors</a:t>
            </a:r>
            <a:r>
              <a:rPr lang="en-US" sz="2000" dirty="0"/>
              <a:t>	</a:t>
            </a:r>
          </a:p>
          <a:p>
            <a:pPr lvl="1">
              <a:buNone/>
            </a:pPr>
            <a:r>
              <a:rPr lang="en-US" sz="2000" dirty="0">
                <a:solidFill>
                  <a:srgbClr val="FF0000"/>
                </a:solidFill>
                <a:latin typeface="Courier New" panose="02070309020205020404" pitchFamily="49" charset="0"/>
              </a:rPr>
              <a:t>$(".test").hide()</a:t>
            </a:r>
            <a:r>
              <a:rPr lang="en-US" sz="2000" dirty="0">
                <a:solidFill>
                  <a:srgbClr val="FF0000"/>
                </a:solidFill>
              </a:rPr>
              <a:t> 	</a:t>
            </a:r>
            <a:r>
              <a:rPr lang="en-US" sz="2000" dirty="0"/>
              <a:t>- hides all elements with class="test".	 //</a:t>
            </a:r>
            <a:r>
              <a:rPr lang="en-IN" sz="2000" b="1" dirty="0"/>
              <a:t>CSS selectors</a:t>
            </a:r>
            <a:endParaRPr lang="en-US" sz="2000" dirty="0"/>
          </a:p>
          <a:p>
            <a:pPr lvl="1">
              <a:buNone/>
            </a:pPr>
            <a:r>
              <a:rPr lang="en-US" sz="2000" dirty="0">
                <a:solidFill>
                  <a:srgbClr val="FF0000"/>
                </a:solidFill>
                <a:latin typeface="Courier New" panose="02070309020205020404" pitchFamily="49" charset="0"/>
              </a:rPr>
              <a:t>$("#test").hide()</a:t>
            </a:r>
            <a:r>
              <a:rPr lang="en-US" sz="2000" dirty="0">
                <a:solidFill>
                  <a:srgbClr val="FF0000"/>
                </a:solidFill>
              </a:rPr>
              <a:t> 	</a:t>
            </a:r>
            <a:r>
              <a:rPr lang="en-US" sz="2000" dirty="0"/>
              <a:t>- hides the element with id="test".		 //</a:t>
            </a:r>
            <a:r>
              <a:rPr lang="en-IN" sz="2000" b="1" dirty="0"/>
              <a:t>CSS selectors</a:t>
            </a:r>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47771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B78B4-6164-5BC7-F479-3D9A27EA26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35E86-B66E-EC32-B4A6-A00F6E41F8AF}"/>
              </a:ext>
            </a:extLst>
          </p:cNvPr>
          <p:cNvSpPr>
            <a:spLocks noGrp="1"/>
          </p:cNvSpPr>
          <p:nvPr>
            <p:ph idx="1"/>
          </p:nvPr>
        </p:nvSpPr>
        <p:spPr>
          <a:xfrm>
            <a:off x="838200" y="254524"/>
            <a:ext cx="10515600" cy="6410227"/>
          </a:xfrm>
        </p:spPr>
        <p:txBody>
          <a:bodyPr>
            <a:normAutofit/>
          </a:bodyPr>
          <a:lstStyle/>
          <a:p>
            <a:r>
              <a:rPr lang="en-US" dirty="0"/>
              <a:t>Continued…</a:t>
            </a:r>
          </a:p>
          <a:p>
            <a:pPr algn="just"/>
            <a:r>
              <a:rPr lang="en-IN" sz="2400" dirty="0"/>
              <a:t>The Document Ready Event – jQuery methods are written inside document ready event</a:t>
            </a:r>
          </a:p>
          <a:p>
            <a:pPr marL="914400" lvl="2" indent="0" algn="just">
              <a:buNone/>
            </a:pPr>
            <a:r>
              <a:rPr lang="en-US" dirty="0"/>
              <a:t>$(document).ready(function(){</a:t>
            </a:r>
          </a:p>
          <a:p>
            <a:pPr marL="914400" lvl="2" indent="0" algn="just">
              <a:buNone/>
            </a:pPr>
            <a:r>
              <a:rPr lang="en-US" dirty="0"/>
              <a:t>  	// jQuery methods go here...</a:t>
            </a:r>
          </a:p>
          <a:p>
            <a:pPr marL="914400" lvl="2" indent="0" algn="just">
              <a:buNone/>
            </a:pPr>
            <a:r>
              <a:rPr lang="en-US" dirty="0"/>
              <a:t>}); </a:t>
            </a:r>
          </a:p>
          <a:p>
            <a:pPr algn="just"/>
            <a:r>
              <a:rPr lang="en-US" sz="2400" dirty="0"/>
              <a:t>This is to prevent any jQuery code from running before the document is finished loading (is ready).</a:t>
            </a:r>
          </a:p>
          <a:p>
            <a:pPr algn="just"/>
            <a:r>
              <a:rPr lang="en-US" sz="2400" dirty="0"/>
              <a:t>It is good practice to wait for the document to be fully loaded and ready before working with it. </a:t>
            </a:r>
          </a:p>
          <a:p>
            <a:pPr algn="just"/>
            <a:r>
              <a:rPr lang="en-US" sz="2400" dirty="0"/>
              <a:t>This also allows you to have your JavaScript code before the body of your document, in the head section.</a:t>
            </a:r>
          </a:p>
          <a:p>
            <a:pPr algn="just"/>
            <a:r>
              <a:rPr lang="en-US" sz="2400" dirty="0"/>
              <a:t>Shorter method for document ready event:</a:t>
            </a:r>
          </a:p>
          <a:p>
            <a:pPr marL="914400" lvl="2" indent="0" algn="just">
              <a:buNone/>
            </a:pPr>
            <a:r>
              <a:rPr lang="en-US" dirty="0"/>
              <a:t>$(function(){</a:t>
            </a:r>
          </a:p>
          <a:p>
            <a:pPr marL="914400" lvl="2" indent="0" algn="just">
              <a:buNone/>
            </a:pPr>
            <a:r>
              <a:rPr lang="en-US" dirty="0"/>
              <a:t>  // jQuery methods go here...</a:t>
            </a:r>
          </a:p>
          <a:p>
            <a:pPr marL="914400" lvl="2" indent="0" algn="just">
              <a:buNone/>
            </a:pPr>
            <a:r>
              <a:rPr lang="en-US"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746730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B2851-E55F-D008-BCD5-744E7B7B96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EDEA08-F287-F8EE-7384-EEA2AF10D8BC}"/>
              </a:ext>
            </a:extLst>
          </p:cNvPr>
          <p:cNvSpPr>
            <a:spLocks noGrp="1"/>
          </p:cNvSpPr>
          <p:nvPr>
            <p:ph idx="1"/>
          </p:nvPr>
        </p:nvSpPr>
        <p:spPr>
          <a:xfrm>
            <a:off x="838200" y="254524"/>
            <a:ext cx="10515600" cy="6410227"/>
          </a:xfrm>
        </p:spPr>
        <p:txBody>
          <a:bodyPr>
            <a:normAutofit fontScale="92500" lnSpcReduction="10000"/>
          </a:bodyPr>
          <a:lstStyle/>
          <a:p>
            <a:r>
              <a:rPr lang="en-IN" b="1" dirty="0"/>
              <a:t>jQuery Selectors</a:t>
            </a:r>
            <a:endParaRPr lang="en-US" dirty="0"/>
          </a:p>
          <a:p>
            <a:pPr algn="just"/>
            <a:r>
              <a:rPr lang="en-US" sz="2400" dirty="0"/>
              <a:t>jQuery selectors allow you to select and manipulate HTML element(s).</a:t>
            </a:r>
          </a:p>
          <a:p>
            <a:pPr algn="just"/>
            <a:r>
              <a:rPr lang="en-US" sz="2400" dirty="0"/>
              <a:t>jQuery selectors are used to "find" (or select) HTML elements based on their name, id, classes, types, attributes, values of attributes and much more. </a:t>
            </a:r>
          </a:p>
          <a:p>
            <a:pPr algn="just"/>
            <a:r>
              <a:rPr lang="en-US" sz="2400" dirty="0"/>
              <a:t>It's based on the existing </a:t>
            </a:r>
            <a:r>
              <a:rPr lang="en-US" sz="2400" dirty="0">
                <a:hlinkClick r:id="rId2"/>
              </a:rPr>
              <a:t>CSS Selectors</a:t>
            </a:r>
            <a:r>
              <a:rPr lang="en-US" sz="2400" dirty="0"/>
              <a:t>, and in addition, it has some own custom selectors.</a:t>
            </a:r>
          </a:p>
          <a:p>
            <a:pPr algn="just"/>
            <a:r>
              <a:rPr lang="en-US" sz="2400" dirty="0"/>
              <a:t>All selectors in jQuery start with the dollar sign and parentheses: $().</a:t>
            </a:r>
          </a:p>
          <a:p>
            <a:pPr algn="just"/>
            <a:endParaRPr lang="en-US" sz="2400" dirty="0"/>
          </a:p>
          <a:p>
            <a:pPr algn="just"/>
            <a:r>
              <a:rPr lang="en-IN" sz="2400" b="1" dirty="0"/>
              <a:t>The element Selector</a:t>
            </a:r>
          </a:p>
          <a:p>
            <a:pPr lvl="1" algn="just"/>
            <a:r>
              <a:rPr lang="en-US" sz="2000" dirty="0"/>
              <a:t>The jQuery element selector selects elements based on the element name.</a:t>
            </a:r>
          </a:p>
          <a:p>
            <a:pPr lvl="1" algn="just"/>
            <a:r>
              <a:rPr lang="en-US" sz="2000" dirty="0"/>
              <a:t>You can select all </a:t>
            </a:r>
            <a:r>
              <a:rPr lang="en-US" dirty="0"/>
              <a:t>&lt;p&gt;</a:t>
            </a:r>
            <a:r>
              <a:rPr lang="en-US" sz="2000" dirty="0"/>
              <a:t> elements on a page like this:	</a:t>
            </a:r>
            <a:r>
              <a:rPr lang="en-IN" dirty="0"/>
              <a:t> </a:t>
            </a:r>
            <a:r>
              <a:rPr lang="en-IN" dirty="0">
                <a:solidFill>
                  <a:srgbClr val="FF0000"/>
                </a:solidFill>
              </a:rPr>
              <a:t>$("p")</a:t>
            </a:r>
          </a:p>
          <a:p>
            <a:pPr marL="0" indent="0" algn="just">
              <a:buNone/>
            </a:pPr>
            <a:r>
              <a:rPr lang="en-US" sz="2000" dirty="0">
                <a:solidFill>
                  <a:srgbClr val="000000"/>
                </a:solidFill>
                <a:effectLst/>
              </a:rPr>
              <a:t>	</a:t>
            </a:r>
          </a:p>
          <a:p>
            <a:pPr marL="0" indent="0" algn="just">
              <a:buNone/>
            </a:pPr>
            <a:r>
              <a:rPr lang="en-US" sz="2000" dirty="0">
                <a:solidFill>
                  <a:srgbClr val="000000"/>
                </a:solidFill>
                <a:effectLst/>
              </a:rPr>
              <a:t>	$(document).ready(</a:t>
            </a:r>
            <a:r>
              <a:rPr lang="en-US" sz="2000" dirty="0">
                <a:solidFill>
                  <a:srgbClr val="005CC5"/>
                </a:solidFill>
                <a:effectLst/>
              </a:rPr>
              <a:t>function</a:t>
            </a:r>
            <a:r>
              <a:rPr lang="en-US" sz="2000" dirty="0">
                <a:solidFill>
                  <a:srgbClr val="000000"/>
                </a:solidFill>
                <a:effectLst/>
              </a:rPr>
              <a:t>(){</a:t>
            </a:r>
          </a:p>
          <a:p>
            <a:pPr marL="0" indent="0" algn="just">
              <a:buNone/>
            </a:pPr>
            <a:r>
              <a:rPr lang="en-US" sz="2000" dirty="0">
                <a:solidFill>
                  <a:srgbClr val="000000"/>
                </a:solidFill>
                <a:effectLst/>
              </a:rPr>
              <a:t>		$(</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0" indent="0" algn="just">
              <a:buNone/>
            </a:pPr>
            <a:r>
              <a:rPr lang="en-US" sz="2000" dirty="0">
                <a:solidFill>
                  <a:srgbClr val="000000"/>
                </a:solidFill>
                <a:effectLst/>
              </a:rPr>
              <a:t>			$(</a:t>
            </a:r>
            <a:r>
              <a:rPr lang="en-US" sz="2000" dirty="0">
                <a:solidFill>
                  <a:srgbClr val="008000"/>
                </a:solidFill>
                <a:effectLst/>
              </a:rPr>
              <a:t>"p"</a:t>
            </a:r>
            <a:r>
              <a:rPr lang="en-US" sz="2000" dirty="0">
                <a:solidFill>
                  <a:srgbClr val="000000"/>
                </a:solidFill>
                <a:effectLst/>
              </a:rPr>
              <a:t>).hide();</a:t>
            </a:r>
          </a:p>
          <a:p>
            <a:pPr marL="0" indent="0" algn="just">
              <a:buNone/>
            </a:pPr>
            <a:r>
              <a:rPr lang="en-US" sz="2000" dirty="0">
                <a:solidFill>
                  <a:srgbClr val="000000"/>
                </a:solidFill>
                <a:effectLst/>
              </a:rPr>
              <a:t>		});</a:t>
            </a:r>
          </a:p>
          <a:p>
            <a:pPr marL="0" indent="0" algn="just">
              <a:buNone/>
            </a:pPr>
            <a:r>
              <a:rPr lang="en-US" sz="2000" dirty="0">
                <a:solidFill>
                  <a:srgbClr val="000000"/>
                </a:solidFill>
                <a:effectLst/>
              </a:rPr>
              <a:t>	});</a:t>
            </a:r>
            <a:endParaRPr lang="en-US"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78480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E7483-6315-E8AC-007D-4916D44BF3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880B7-6CBE-F4A4-471C-FC899125336A}"/>
              </a:ext>
            </a:extLst>
          </p:cNvPr>
          <p:cNvSpPr>
            <a:spLocks noGrp="1"/>
          </p:cNvSpPr>
          <p:nvPr>
            <p:ph idx="1"/>
          </p:nvPr>
        </p:nvSpPr>
        <p:spPr>
          <a:xfrm>
            <a:off x="838200" y="254524"/>
            <a:ext cx="10515600" cy="6410227"/>
          </a:xfrm>
        </p:spPr>
        <p:txBody>
          <a:bodyPr/>
          <a:lstStyle/>
          <a:p>
            <a:r>
              <a:rPr lang="en-IN" b="1" dirty="0"/>
              <a:t>The #id Selector</a:t>
            </a:r>
            <a:endParaRPr lang="en-US" dirty="0"/>
          </a:p>
          <a:p>
            <a:r>
              <a:rPr lang="en-US" sz="2400" dirty="0"/>
              <a:t>The jQuery </a:t>
            </a:r>
            <a:r>
              <a:rPr lang="en-US" dirty="0"/>
              <a:t>#</a:t>
            </a:r>
            <a:r>
              <a:rPr lang="en-US" i="1" dirty="0"/>
              <a:t>id</a:t>
            </a:r>
            <a:r>
              <a:rPr lang="en-US" sz="2400" dirty="0"/>
              <a:t> selector uses the id attribute of an HTML tag to find the specific element.</a:t>
            </a:r>
          </a:p>
          <a:p>
            <a:r>
              <a:rPr lang="en-US" sz="2400" dirty="0"/>
              <a:t>An id should be unique within a page, so you should use the #id selector when you want to find a single, unique element.</a:t>
            </a:r>
          </a:p>
          <a:p>
            <a:r>
              <a:rPr lang="en-US" sz="2400" dirty="0"/>
              <a:t>To find an element with a specific id, write a hash character, followed by the id of the HTML element: </a:t>
            </a:r>
            <a:r>
              <a:rPr lang="en-IN" dirty="0">
                <a:solidFill>
                  <a:srgbClr val="FF0000"/>
                </a:solidFill>
              </a:rPr>
              <a:t>$("#test") </a:t>
            </a:r>
            <a:endParaRPr lang="en-US" sz="2400" dirty="0">
              <a:solidFill>
                <a:srgbClr val="FF0000"/>
              </a:solidFill>
            </a:endParaRPr>
          </a:p>
          <a:p>
            <a:pPr marL="0" indent="0" algn="just">
              <a:buNone/>
            </a:pPr>
            <a:r>
              <a:rPr lang="en-US" sz="2000" dirty="0">
                <a:solidFill>
                  <a:srgbClr val="000000"/>
                </a:solidFill>
                <a:effectLst/>
              </a:rPr>
              <a:t>	$(document).ready(</a:t>
            </a:r>
            <a:r>
              <a:rPr lang="en-US" sz="2000" dirty="0">
                <a:solidFill>
                  <a:srgbClr val="005CC5"/>
                </a:solidFill>
                <a:effectLst/>
              </a:rPr>
              <a:t>function</a:t>
            </a:r>
            <a:r>
              <a:rPr lang="en-US" sz="2000" dirty="0">
                <a:solidFill>
                  <a:srgbClr val="000000"/>
                </a:solidFill>
                <a:effectLst/>
              </a:rPr>
              <a:t>(){</a:t>
            </a:r>
          </a:p>
          <a:p>
            <a:pPr marL="0" indent="0" algn="just">
              <a:buNone/>
            </a:pPr>
            <a:r>
              <a:rPr lang="en-US" sz="2000" dirty="0">
                <a:solidFill>
                  <a:srgbClr val="000000"/>
                </a:solidFill>
              </a:rPr>
              <a:t>		</a:t>
            </a: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0" indent="0" algn="just">
              <a:buNone/>
            </a:pPr>
            <a:r>
              <a:rPr lang="en-US" sz="2000" dirty="0">
                <a:solidFill>
                  <a:srgbClr val="000000"/>
                </a:solidFill>
              </a:rPr>
              <a:t>			</a:t>
            </a:r>
            <a:r>
              <a:rPr lang="en-US" sz="2000" dirty="0">
                <a:solidFill>
                  <a:srgbClr val="000000"/>
                </a:solidFill>
                <a:effectLst/>
              </a:rPr>
              <a:t>$(</a:t>
            </a:r>
            <a:r>
              <a:rPr lang="en-US" sz="2000" dirty="0">
                <a:solidFill>
                  <a:srgbClr val="008000"/>
                </a:solidFill>
                <a:effectLst/>
              </a:rPr>
              <a:t>"#test"</a:t>
            </a:r>
            <a:r>
              <a:rPr lang="en-US" sz="2000" dirty="0">
                <a:solidFill>
                  <a:srgbClr val="000000"/>
                </a:solidFill>
                <a:effectLst/>
              </a:rPr>
              <a:t>).hide();</a:t>
            </a:r>
          </a:p>
          <a:p>
            <a:pPr marL="0" indent="0" algn="just">
              <a:buNone/>
            </a:pPr>
            <a:r>
              <a:rPr lang="en-US" sz="2000" dirty="0">
                <a:solidFill>
                  <a:srgbClr val="000000"/>
                </a:solidFill>
              </a:rPr>
              <a:t>		</a:t>
            </a:r>
            <a:r>
              <a:rPr lang="en-US" sz="2000" dirty="0">
                <a:solidFill>
                  <a:srgbClr val="000000"/>
                </a:solidFill>
                <a:effectLst/>
              </a:rPr>
              <a:t>});</a:t>
            </a:r>
          </a:p>
          <a:p>
            <a:pPr marL="0" indent="0" algn="just">
              <a:buNone/>
            </a:pPr>
            <a:r>
              <a:rPr lang="en-US" sz="2000" dirty="0">
                <a:solidFill>
                  <a:srgbClr val="000000"/>
                </a:solidFill>
              </a:rPr>
              <a:t>	</a:t>
            </a:r>
            <a:r>
              <a:rPr lang="en-US" sz="2000" dirty="0">
                <a:solidFill>
                  <a:srgbClr val="000000"/>
                </a:solidFill>
                <a:effectLst/>
              </a:rPr>
              <a: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432961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B0F15-A181-5D26-5D02-9B4357C505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441DCA-4473-C276-63E4-F891F88AB1F6}"/>
              </a:ext>
            </a:extLst>
          </p:cNvPr>
          <p:cNvSpPr>
            <a:spLocks noGrp="1"/>
          </p:cNvSpPr>
          <p:nvPr>
            <p:ph idx="1"/>
          </p:nvPr>
        </p:nvSpPr>
        <p:spPr>
          <a:xfrm>
            <a:off x="838200" y="254524"/>
            <a:ext cx="10515600" cy="6410227"/>
          </a:xfrm>
        </p:spPr>
        <p:txBody>
          <a:bodyPr/>
          <a:lstStyle/>
          <a:p>
            <a:r>
              <a:rPr lang="en-IN" b="1" dirty="0"/>
              <a:t>The .class Selector</a:t>
            </a:r>
            <a:endParaRPr lang="en-US" dirty="0"/>
          </a:p>
          <a:p>
            <a:r>
              <a:rPr lang="en-US" sz="2400" dirty="0"/>
              <a:t>The jQuery </a:t>
            </a:r>
            <a:r>
              <a:rPr lang="en-US" i="1" dirty="0"/>
              <a:t>.class</a:t>
            </a:r>
            <a:r>
              <a:rPr lang="en-US" sz="2400" dirty="0"/>
              <a:t> selector finds elements with a specific class.</a:t>
            </a:r>
          </a:p>
          <a:p>
            <a:r>
              <a:rPr lang="en-US" sz="2400" dirty="0"/>
              <a:t>To find elements with a specific class, write a period character, followed by the name of the class: </a:t>
            </a:r>
            <a:r>
              <a:rPr lang="en-IN" dirty="0"/>
              <a:t>$(".test") </a:t>
            </a:r>
            <a:endParaRPr lang="en-US" sz="2400" dirty="0"/>
          </a:p>
          <a:p>
            <a:pPr marL="457200" lvl="1" indent="0" algn="just">
              <a:buNone/>
            </a:pPr>
            <a:endParaRPr lang="en-US" dirty="0">
              <a:solidFill>
                <a:srgbClr val="000000"/>
              </a:solidFill>
              <a:effectLst/>
            </a:endParaRPr>
          </a:p>
          <a:p>
            <a:pPr marL="457200" lvl="1" indent="0" algn="just">
              <a:buNone/>
            </a:pPr>
            <a:r>
              <a:rPr lang="en-US" sz="2000" dirty="0">
                <a:solidFill>
                  <a:srgbClr val="000000"/>
                </a:solidFill>
                <a:effectLst/>
              </a:rPr>
              <a:t>$(document).ready(</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".test"</a:t>
            </a:r>
            <a:r>
              <a:rPr lang="en-US" sz="2000" dirty="0">
                <a:solidFill>
                  <a:srgbClr val="000000"/>
                </a:solidFill>
                <a:effectLst/>
              </a:rPr>
              <a:t>).hide();</a:t>
            </a:r>
          </a:p>
          <a:p>
            <a:pPr marL="457200" lvl="1" indent="0" algn="just">
              <a:buNone/>
            </a:pPr>
            <a:r>
              <a:rPr lang="en-US" sz="2000" dirty="0">
                <a:solidFill>
                  <a:srgbClr val="000000"/>
                </a:solidFill>
                <a:effectLst/>
              </a:rPr>
              <a:t>	});</a:t>
            </a:r>
          </a:p>
          <a:p>
            <a:pPr marL="457200" lvl="1" indent="0" algn="just">
              <a:buNone/>
            </a:pP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548994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6183-9CA5-462B-3159-A2B3C666CA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FF4908-7F59-D4DA-4528-678F7BB8CFDF}"/>
              </a:ext>
            </a:extLst>
          </p:cNvPr>
          <p:cNvSpPr>
            <a:spLocks noGrp="1"/>
          </p:cNvSpPr>
          <p:nvPr>
            <p:ph idx="1"/>
          </p:nvPr>
        </p:nvSpPr>
        <p:spPr>
          <a:xfrm>
            <a:off x="838200" y="254524"/>
            <a:ext cx="10515600" cy="6410227"/>
          </a:xfrm>
        </p:spPr>
        <p:txBody>
          <a:bodyPr/>
          <a:lstStyle/>
          <a:p>
            <a:r>
              <a:rPr lang="en-US" b="1" dirty="0"/>
              <a:t>More Examples of jQuery Selectors</a:t>
            </a:r>
            <a:endParaRPr lang="en-US"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id="{DDB6ECA0-5305-F6CC-7BAC-471FE719F81B}"/>
              </a:ext>
            </a:extLst>
          </p:cNvPr>
          <p:cNvPicPr>
            <a:picLocks noChangeAspect="1"/>
          </p:cNvPicPr>
          <p:nvPr/>
        </p:nvPicPr>
        <p:blipFill>
          <a:blip r:embed="rId2"/>
          <a:stretch>
            <a:fillRect/>
          </a:stretch>
        </p:blipFill>
        <p:spPr>
          <a:xfrm>
            <a:off x="2675508" y="627333"/>
            <a:ext cx="7203783" cy="4700593"/>
          </a:xfrm>
          <a:prstGeom prst="rect">
            <a:avLst/>
          </a:prstGeom>
        </p:spPr>
      </p:pic>
      <p:pic>
        <p:nvPicPr>
          <p:cNvPr id="6" name="Picture 5">
            <a:extLst>
              <a:ext uri="{FF2B5EF4-FFF2-40B4-BE49-F238E27FC236}">
                <a16:creationId xmlns:a16="http://schemas.microsoft.com/office/drawing/2014/main" id="{987A71CA-AC76-05A4-BA4D-A54FAE486A95}"/>
              </a:ext>
            </a:extLst>
          </p:cNvPr>
          <p:cNvPicPr>
            <a:picLocks noChangeAspect="1"/>
          </p:cNvPicPr>
          <p:nvPr/>
        </p:nvPicPr>
        <p:blipFill>
          <a:blip r:embed="rId3"/>
          <a:stretch>
            <a:fillRect/>
          </a:stretch>
        </p:blipFill>
        <p:spPr>
          <a:xfrm>
            <a:off x="2675508" y="5327926"/>
            <a:ext cx="7228443" cy="1402429"/>
          </a:xfrm>
          <a:prstGeom prst="rect">
            <a:avLst/>
          </a:prstGeom>
        </p:spPr>
      </p:pic>
    </p:spTree>
    <p:extLst>
      <p:ext uri="{BB962C8B-B14F-4D97-AF65-F5344CB8AC3E}">
        <p14:creationId xmlns:p14="http://schemas.microsoft.com/office/powerpoint/2010/main" val="1724676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3BD35-23F3-980B-AEA9-781345E867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77E4BF-C298-BB86-3DA4-BBE01B2344CE}"/>
              </a:ext>
            </a:extLst>
          </p:cNvPr>
          <p:cNvSpPr>
            <a:spLocks noGrp="1"/>
          </p:cNvSpPr>
          <p:nvPr>
            <p:ph idx="1"/>
          </p:nvPr>
        </p:nvSpPr>
        <p:spPr>
          <a:xfrm>
            <a:off x="838200" y="254524"/>
            <a:ext cx="10515600" cy="6410227"/>
          </a:xfrm>
        </p:spPr>
        <p:txBody>
          <a:bodyPr/>
          <a:lstStyle/>
          <a:p>
            <a:r>
              <a:rPr lang="en-US" b="1" dirty="0"/>
              <a:t>Functions In a Separate File</a:t>
            </a:r>
            <a:endParaRPr lang="en-US" dirty="0"/>
          </a:p>
          <a:p>
            <a:r>
              <a:rPr lang="en-US" sz="2400" dirty="0"/>
              <a:t>If your website contains a lot of pages, and you want your </a:t>
            </a:r>
            <a:r>
              <a:rPr lang="en-US" sz="2400" dirty="0">
                <a:solidFill>
                  <a:srgbClr val="FF0000"/>
                </a:solidFill>
              </a:rPr>
              <a:t>jQuery</a:t>
            </a:r>
            <a:r>
              <a:rPr lang="en-US" sz="2400" dirty="0"/>
              <a:t> functions to be easy to maintain, you can put your jQuery functions in a separate </a:t>
            </a:r>
            <a:r>
              <a:rPr lang="en-US" sz="2400" dirty="0">
                <a:solidFill>
                  <a:srgbClr val="FF0000"/>
                </a:solidFill>
              </a:rPr>
              <a:t>.</a:t>
            </a:r>
            <a:r>
              <a:rPr lang="en-US" sz="2400" dirty="0" err="1">
                <a:solidFill>
                  <a:srgbClr val="FF0000"/>
                </a:solidFill>
              </a:rPr>
              <a:t>js</a:t>
            </a:r>
            <a:r>
              <a:rPr lang="en-US" sz="2400" dirty="0">
                <a:solidFill>
                  <a:srgbClr val="FF0000"/>
                </a:solidFill>
              </a:rPr>
              <a:t> file</a:t>
            </a:r>
            <a:r>
              <a:rPr lang="en-US" sz="2400" dirty="0"/>
              <a:t>.</a:t>
            </a:r>
          </a:p>
          <a:p>
            <a:r>
              <a:rPr lang="en-US" sz="2400" dirty="0"/>
              <a:t>Sometimes it is preferable to place them in a separate file, like this (use the </a:t>
            </a:r>
            <a:r>
              <a:rPr lang="en-US" sz="2400" dirty="0" err="1"/>
              <a:t>src</a:t>
            </a:r>
            <a:r>
              <a:rPr lang="en-US" sz="2400" dirty="0"/>
              <a:t> attribute to refer to the .</a:t>
            </a:r>
            <a:r>
              <a:rPr lang="en-US" sz="2400" dirty="0" err="1"/>
              <a:t>js</a:t>
            </a:r>
            <a:r>
              <a:rPr lang="en-US" sz="2400" dirty="0"/>
              <a:t> file): </a:t>
            </a:r>
          </a:p>
          <a:p>
            <a:pPr>
              <a:buNone/>
            </a:pPr>
            <a:r>
              <a:rPr lang="en-US" sz="1600" dirty="0">
                <a:solidFill>
                  <a:srgbClr val="999999"/>
                </a:solidFill>
                <a:effectLst/>
              </a:rPr>
              <a:t>	</a:t>
            </a:r>
            <a:r>
              <a:rPr lang="en-US" sz="2000" dirty="0">
                <a:solidFill>
                  <a:srgbClr val="999999"/>
                </a:solidFill>
                <a:effectLst/>
              </a:rPr>
              <a:t>&lt;</a:t>
            </a:r>
            <a:r>
              <a:rPr lang="en-US" sz="2000" dirty="0">
                <a:solidFill>
                  <a:srgbClr val="990055"/>
                </a:solidFill>
                <a:effectLst/>
              </a:rPr>
              <a:t>head</a:t>
            </a:r>
            <a:r>
              <a:rPr lang="en-US" sz="2000" dirty="0">
                <a:solidFill>
                  <a:srgbClr val="999999"/>
                </a:solidFill>
                <a:effectLst/>
              </a:rPr>
              <a:t>&gt;</a:t>
            </a:r>
            <a:br>
              <a:rPr lang="en-US" sz="2000" dirty="0"/>
            </a:br>
            <a:r>
              <a:rPr lang="en-US" sz="2000" dirty="0">
                <a:solidFill>
                  <a:srgbClr val="999999"/>
                </a:solidFill>
                <a:effectLst/>
              </a:rPr>
              <a:t>&lt;</a:t>
            </a:r>
            <a:r>
              <a:rPr lang="en-US" sz="2000" dirty="0">
                <a:solidFill>
                  <a:srgbClr val="990055"/>
                </a:solidFill>
                <a:effectLst/>
              </a:rPr>
              <a:t>script</a:t>
            </a:r>
            <a:r>
              <a:rPr lang="en-US" sz="2000" dirty="0">
                <a:solidFill>
                  <a:srgbClr val="008000"/>
                </a:solidFill>
                <a:effectLst/>
              </a:rPr>
              <a:t> </a:t>
            </a:r>
            <a:r>
              <a:rPr lang="en-US" sz="2000" dirty="0" err="1">
                <a:solidFill>
                  <a:srgbClr val="008000"/>
                </a:solidFill>
                <a:effectLst/>
              </a:rPr>
              <a:t>src</a:t>
            </a:r>
            <a:r>
              <a:rPr lang="en-US" sz="2000" dirty="0">
                <a:solidFill>
                  <a:srgbClr val="005CC5"/>
                </a:solidFill>
                <a:effectLst/>
              </a:rPr>
              <a:t>="https://ajax.googleapis.com/ajax/libs/</a:t>
            </a:r>
            <a:r>
              <a:rPr lang="en-US" sz="2000" dirty="0" err="1">
                <a:solidFill>
                  <a:srgbClr val="005CC5"/>
                </a:solidFill>
                <a:effectLst/>
              </a:rPr>
              <a:t>jquery</a:t>
            </a:r>
            <a:r>
              <a:rPr lang="en-US" sz="2000" dirty="0">
                <a:solidFill>
                  <a:srgbClr val="005CC5"/>
                </a:solidFill>
                <a:effectLst/>
              </a:rPr>
              <a:t>/3.7.1/jquery.min.js"</a:t>
            </a:r>
            <a:r>
              <a:rPr lang="en-US" sz="2000" dirty="0">
                <a:solidFill>
                  <a:srgbClr val="999999"/>
                </a:solidFill>
                <a:effectLst/>
              </a:rPr>
              <a:t>&gt;&lt;</a:t>
            </a:r>
            <a:r>
              <a:rPr lang="en-US" sz="2000" dirty="0">
                <a:solidFill>
                  <a:srgbClr val="990055"/>
                </a:solidFill>
                <a:effectLst/>
              </a:rPr>
              <a:t>/script</a:t>
            </a:r>
            <a:r>
              <a:rPr lang="en-US" sz="2000" dirty="0">
                <a:solidFill>
                  <a:srgbClr val="999999"/>
                </a:solidFill>
                <a:effectLst/>
              </a:rPr>
              <a:t>&gt;</a:t>
            </a:r>
            <a:br>
              <a:rPr lang="en-US" sz="2000" dirty="0"/>
            </a:br>
            <a:r>
              <a:rPr lang="en-US" sz="2000" dirty="0">
                <a:solidFill>
                  <a:srgbClr val="999999"/>
                </a:solidFill>
                <a:effectLst/>
              </a:rPr>
              <a:t>&lt;</a:t>
            </a:r>
            <a:r>
              <a:rPr lang="en-US" sz="2000" dirty="0">
                <a:solidFill>
                  <a:srgbClr val="990055"/>
                </a:solidFill>
                <a:effectLst/>
              </a:rPr>
              <a:t>script</a:t>
            </a:r>
            <a:r>
              <a:rPr lang="en-US" sz="2000" dirty="0">
                <a:solidFill>
                  <a:srgbClr val="008000"/>
                </a:solidFill>
                <a:effectLst/>
              </a:rPr>
              <a:t> </a:t>
            </a:r>
            <a:r>
              <a:rPr lang="en-US" sz="2000" dirty="0" err="1">
                <a:solidFill>
                  <a:srgbClr val="008000"/>
                </a:solidFill>
                <a:effectLst/>
              </a:rPr>
              <a:t>src</a:t>
            </a:r>
            <a:r>
              <a:rPr lang="en-US" sz="2000" dirty="0">
                <a:solidFill>
                  <a:srgbClr val="005CC5"/>
                </a:solidFill>
                <a:effectLst/>
              </a:rPr>
              <a:t>="my_jquery_functions.js"</a:t>
            </a:r>
            <a:r>
              <a:rPr lang="en-US" sz="2000" dirty="0">
                <a:solidFill>
                  <a:srgbClr val="999999"/>
                </a:solidFill>
                <a:effectLst/>
              </a:rPr>
              <a:t>&gt;&lt;</a:t>
            </a:r>
            <a:r>
              <a:rPr lang="en-US" sz="2000" dirty="0">
                <a:solidFill>
                  <a:srgbClr val="990055"/>
                </a:solidFill>
                <a:effectLst/>
              </a:rPr>
              <a:t>/script</a:t>
            </a:r>
            <a:r>
              <a:rPr lang="en-US" sz="2000" dirty="0">
                <a:solidFill>
                  <a:srgbClr val="999999"/>
                </a:solidFill>
                <a:effectLst/>
              </a:rPr>
              <a:t>&gt;</a:t>
            </a:r>
            <a:br>
              <a:rPr lang="en-US" sz="2000" dirty="0"/>
            </a:br>
            <a:r>
              <a:rPr lang="en-US" sz="2000" dirty="0">
                <a:solidFill>
                  <a:srgbClr val="999999"/>
                </a:solidFill>
                <a:effectLst/>
              </a:rPr>
              <a:t>&lt;</a:t>
            </a:r>
            <a:r>
              <a:rPr lang="en-US" sz="2000" dirty="0">
                <a:solidFill>
                  <a:srgbClr val="990055"/>
                </a:solidFill>
                <a:effectLst/>
              </a:rPr>
              <a:t>/head</a:t>
            </a:r>
            <a:r>
              <a:rPr lang="en-US" sz="2000" dirty="0">
                <a:solidFill>
                  <a:srgbClr val="999999"/>
                </a:solidFill>
                <a:effectLst/>
              </a:rPr>
              <a:t>&gt;</a:t>
            </a:r>
            <a:r>
              <a:rPr lang="en-US" sz="20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30351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2DD1E-F850-F731-BDF9-1BC3895DAC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95427-A691-B908-C405-2C3D8CA722D2}"/>
              </a:ext>
            </a:extLst>
          </p:cNvPr>
          <p:cNvSpPr>
            <a:spLocks noGrp="1"/>
          </p:cNvSpPr>
          <p:nvPr>
            <p:ph idx="1"/>
          </p:nvPr>
        </p:nvSpPr>
        <p:spPr>
          <a:xfrm>
            <a:off x="838200" y="254524"/>
            <a:ext cx="10515600" cy="6410227"/>
          </a:xfrm>
        </p:spPr>
        <p:txBody>
          <a:bodyPr/>
          <a:lstStyle/>
          <a:p>
            <a:r>
              <a:rPr lang="en-IN" b="1" dirty="0"/>
              <a:t>jQuery Event Methods</a:t>
            </a:r>
            <a:endParaRPr lang="en-US" dirty="0"/>
          </a:p>
          <a:p>
            <a:pPr algn="just"/>
            <a:r>
              <a:rPr lang="en-US" sz="2400" dirty="0"/>
              <a:t>All the different visitors' actions that a web page can respond to are called events.</a:t>
            </a:r>
          </a:p>
          <a:p>
            <a:pPr algn="just"/>
            <a:r>
              <a:rPr lang="en-US" sz="2400" dirty="0"/>
              <a:t>An event represents the precise moment when something happens.</a:t>
            </a:r>
          </a:p>
          <a:p>
            <a:pPr algn="just"/>
            <a:r>
              <a:rPr lang="en-US" sz="2400" dirty="0"/>
              <a:t>Here are some common DOM events: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id="{E03DEFD9-84B6-DFC7-2AAD-60743111BD00}"/>
              </a:ext>
            </a:extLst>
          </p:cNvPr>
          <p:cNvPicPr>
            <a:picLocks noChangeAspect="1"/>
          </p:cNvPicPr>
          <p:nvPr/>
        </p:nvPicPr>
        <p:blipFill>
          <a:blip r:embed="rId2"/>
          <a:stretch>
            <a:fillRect/>
          </a:stretch>
        </p:blipFill>
        <p:spPr>
          <a:xfrm>
            <a:off x="603686" y="2502872"/>
            <a:ext cx="10984628" cy="2229384"/>
          </a:xfrm>
          <a:prstGeom prst="rect">
            <a:avLst/>
          </a:prstGeom>
        </p:spPr>
      </p:pic>
    </p:spTree>
    <p:extLst>
      <p:ext uri="{BB962C8B-B14F-4D97-AF65-F5344CB8AC3E}">
        <p14:creationId xmlns:p14="http://schemas.microsoft.com/office/powerpoint/2010/main" val="3060542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8BEEF-B10A-35C2-5E22-7CC1B63D23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AC9DA-2AAA-24E0-E43F-459AB7709444}"/>
              </a:ext>
            </a:extLst>
          </p:cNvPr>
          <p:cNvSpPr>
            <a:spLocks noGrp="1"/>
          </p:cNvSpPr>
          <p:nvPr>
            <p:ph idx="1"/>
          </p:nvPr>
        </p:nvSpPr>
        <p:spPr>
          <a:xfrm>
            <a:off x="838200" y="254524"/>
            <a:ext cx="10515600" cy="6410227"/>
          </a:xfrm>
        </p:spPr>
        <p:txBody>
          <a:bodyPr/>
          <a:lstStyle/>
          <a:p>
            <a:r>
              <a:rPr lang="en-US" b="1" dirty="0"/>
              <a:t>jQuery Syntax For Event Methods</a:t>
            </a:r>
          </a:p>
          <a:p>
            <a:endParaRPr lang="en-US" dirty="0"/>
          </a:p>
          <a:p>
            <a:r>
              <a:rPr lang="en-US" sz="2400" dirty="0"/>
              <a:t>In jQuery, most DOM events have an equivalent jQuery method.</a:t>
            </a:r>
          </a:p>
          <a:p>
            <a:r>
              <a:rPr lang="en-US" sz="2400" dirty="0"/>
              <a:t>To assign a click event to all paragraphs on a page, you can do this: </a:t>
            </a:r>
          </a:p>
          <a:p>
            <a:pPr lvl="1" algn="just"/>
            <a:r>
              <a:rPr lang="en-IN" dirty="0"/>
              <a:t>$("p").click();</a:t>
            </a:r>
            <a:endParaRPr lang="en-US" sz="2000" dirty="0"/>
          </a:p>
          <a:p>
            <a:pPr algn="just"/>
            <a:r>
              <a:rPr lang="en-US" sz="2400" dirty="0"/>
              <a:t>The next step is to define what should happen when the event fires. You must pass a function to the event:</a:t>
            </a:r>
          </a:p>
          <a:p>
            <a:pPr marL="457200" lvl="1" indent="0" algn="just">
              <a:buNone/>
            </a:pPr>
            <a:r>
              <a:rPr lang="en-US" sz="2000" dirty="0">
                <a:solidFill>
                  <a:srgbClr val="000000"/>
                </a:solidFill>
                <a:effectLst/>
              </a:rPr>
              <a:t>$(</a:t>
            </a:r>
            <a:r>
              <a:rPr lang="en-US" sz="2000" dirty="0">
                <a:solidFill>
                  <a:srgbClr val="008000"/>
                </a:solidFill>
                <a:effectLst/>
              </a:rPr>
              <a:t>"p"</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708090"/>
                </a:solidFill>
                <a:effectLst/>
              </a:rPr>
              <a:t>//</a:t>
            </a:r>
            <a:r>
              <a:rPr lang="en-US" sz="2000" dirty="0" err="1">
                <a:solidFill>
                  <a:srgbClr val="708090"/>
                </a:solidFill>
                <a:effectLst/>
              </a:rPr>
              <a:t>actiongoeshere</a:t>
            </a:r>
            <a:r>
              <a:rPr lang="en-US" sz="2000" dirty="0">
                <a:solidFill>
                  <a:srgbClr val="708090"/>
                </a:solidFill>
                <a:effectLst/>
              </a:rPr>
              <a:t>!!</a:t>
            </a:r>
          </a:p>
          <a:p>
            <a:pPr marL="457200" lvl="1" indent="0" algn="just">
              <a:buNone/>
            </a:pPr>
            <a:r>
              <a:rPr lang="en-US" sz="2000" dirty="0">
                <a:solidFill>
                  <a:srgbClr val="000000"/>
                </a:solidFill>
                <a:effectLst/>
              </a:rPr>
              <a:t>});</a:t>
            </a:r>
            <a:endParaRPr lang="en-US" sz="4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028245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417E2-F550-5291-18CA-6C74479C4D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DD01E8-988A-1A49-84C6-891346BFBA4E}"/>
              </a:ext>
            </a:extLst>
          </p:cNvPr>
          <p:cNvSpPr>
            <a:spLocks noGrp="1"/>
          </p:cNvSpPr>
          <p:nvPr>
            <p:ph idx="1"/>
          </p:nvPr>
        </p:nvSpPr>
        <p:spPr>
          <a:xfrm>
            <a:off x="838200" y="254524"/>
            <a:ext cx="10515600" cy="6410227"/>
          </a:xfrm>
        </p:spPr>
        <p:txBody>
          <a:bodyPr>
            <a:normAutofit lnSpcReduction="10000"/>
          </a:bodyPr>
          <a:lstStyle/>
          <a:p>
            <a:r>
              <a:rPr lang="en-US" b="1" dirty="0"/>
              <a:t>Commonly Used jQuery Event Methods</a:t>
            </a:r>
            <a:endParaRPr lang="en-US" dirty="0"/>
          </a:p>
          <a:p>
            <a:r>
              <a:rPr lang="en-US" sz="2400" b="1" dirty="0"/>
              <a:t>$(document).ready()</a:t>
            </a:r>
            <a:endParaRPr lang="en-US" sz="2400" dirty="0"/>
          </a:p>
          <a:p>
            <a:r>
              <a:rPr lang="en-US" sz="2400" dirty="0"/>
              <a:t>The </a:t>
            </a:r>
            <a:r>
              <a:rPr lang="en-US" dirty="0"/>
              <a:t>$(document).ready()</a:t>
            </a:r>
            <a:r>
              <a:rPr lang="en-US" sz="2400" dirty="0"/>
              <a:t> method allows us to execute a function when the document is fully loaded.</a:t>
            </a:r>
          </a:p>
          <a:p>
            <a:pPr algn="just"/>
            <a:endParaRPr lang="en-US" sz="2400" dirty="0"/>
          </a:p>
          <a:p>
            <a:r>
              <a:rPr lang="en-US" sz="2400" b="1" dirty="0"/>
              <a:t>click()</a:t>
            </a:r>
            <a:endParaRPr lang="en-US" sz="2400" dirty="0"/>
          </a:p>
          <a:p>
            <a:r>
              <a:rPr lang="en-US" sz="2400" dirty="0"/>
              <a:t>The </a:t>
            </a:r>
            <a:r>
              <a:rPr lang="en-US" dirty="0"/>
              <a:t>click()</a:t>
            </a:r>
            <a:r>
              <a:rPr lang="en-US" sz="2400" dirty="0"/>
              <a:t> method attaches an event handler function to an HTML element.</a:t>
            </a:r>
          </a:p>
          <a:p>
            <a:r>
              <a:rPr lang="en-US" sz="2400" dirty="0"/>
              <a:t>The function is executed when the user clicks on the HTML element.</a:t>
            </a:r>
          </a:p>
          <a:p>
            <a:pPr marL="457200" lvl="1" indent="0" algn="just">
              <a:buNone/>
            </a:pPr>
            <a:r>
              <a:rPr lang="en-US" dirty="0">
                <a:solidFill>
                  <a:srgbClr val="000000"/>
                </a:solidFill>
                <a:effectLst/>
              </a:rPr>
              <a:t>$(</a:t>
            </a:r>
            <a:r>
              <a:rPr lang="en-US" dirty="0">
                <a:solidFill>
                  <a:srgbClr val="008000"/>
                </a:solidFill>
                <a:effectLst/>
              </a:rPr>
              <a:t>"p"</a:t>
            </a:r>
            <a:r>
              <a:rPr lang="en-US" dirty="0">
                <a:solidFill>
                  <a:srgbClr val="000000"/>
                </a:solidFill>
                <a:effectLst/>
              </a:rPr>
              <a:t>).click(</a:t>
            </a:r>
            <a:r>
              <a:rPr lang="en-US" dirty="0">
                <a:solidFill>
                  <a:srgbClr val="005CC5"/>
                </a:solidFill>
                <a:effectLst/>
              </a:rPr>
              <a:t>function</a:t>
            </a:r>
            <a:r>
              <a:rPr lang="en-US" dirty="0">
                <a:solidFill>
                  <a:srgbClr val="000000"/>
                </a:solidFill>
                <a:effectLst/>
              </a:rPr>
              <a:t>(){</a:t>
            </a:r>
          </a:p>
          <a:p>
            <a:pPr marL="457200" lvl="1" indent="0" algn="just">
              <a:buNone/>
            </a:pPr>
            <a:r>
              <a:rPr lang="en-US" dirty="0">
                <a:solidFill>
                  <a:srgbClr val="000000"/>
                </a:solidFill>
              </a:rPr>
              <a:t>	</a:t>
            </a:r>
            <a:r>
              <a:rPr lang="en-US" dirty="0">
                <a:solidFill>
                  <a:srgbClr val="000000"/>
                </a:solidFill>
                <a:effectLst/>
              </a:rPr>
              <a:t>$(</a:t>
            </a:r>
            <a:r>
              <a:rPr lang="en-US" dirty="0">
                <a:solidFill>
                  <a:srgbClr val="005CC5"/>
                </a:solidFill>
                <a:effectLst/>
              </a:rPr>
              <a:t>this</a:t>
            </a:r>
            <a:r>
              <a:rPr lang="en-US" dirty="0">
                <a:solidFill>
                  <a:srgbClr val="000000"/>
                </a:solidFill>
                <a:effectLst/>
              </a:rPr>
              <a:t>).hide();</a:t>
            </a:r>
          </a:p>
          <a:p>
            <a:pPr marL="457200" lvl="1" indent="0" algn="just">
              <a:buNone/>
            </a:pPr>
            <a:r>
              <a:rPr lang="en-US" dirty="0">
                <a:solidFill>
                  <a:srgbClr val="000000"/>
                </a:solidFill>
                <a:effectLst/>
              </a:rPr>
              <a:t>});</a:t>
            </a:r>
            <a:endParaRPr lang="en-US" sz="4000" dirty="0"/>
          </a:p>
          <a:p>
            <a:r>
              <a:rPr lang="en-US" sz="2400" b="1" dirty="0" err="1"/>
              <a:t>dblclick</a:t>
            </a:r>
            <a:r>
              <a:rPr lang="en-US" sz="2400" b="1" dirty="0"/>
              <a:t>()</a:t>
            </a:r>
            <a:endParaRPr lang="en-US" sz="2400" dirty="0"/>
          </a:p>
          <a:p>
            <a:r>
              <a:rPr lang="en-US" sz="2400" dirty="0"/>
              <a:t>The </a:t>
            </a:r>
            <a:r>
              <a:rPr lang="en-US" dirty="0" err="1"/>
              <a:t>dblclick</a:t>
            </a:r>
            <a:r>
              <a:rPr lang="en-US" dirty="0"/>
              <a:t>()</a:t>
            </a:r>
            <a:r>
              <a:rPr lang="en-US" sz="2400" dirty="0"/>
              <a:t> method attaches an event handler function to an HTML element.</a:t>
            </a:r>
          </a:p>
          <a:p>
            <a:pPr marL="457200" lvl="1" indent="0" algn="just">
              <a:buNone/>
            </a:pPr>
            <a:r>
              <a:rPr lang="en-US" dirty="0">
                <a:solidFill>
                  <a:srgbClr val="000000"/>
                </a:solidFill>
                <a:effectLst/>
              </a:rPr>
              <a:t>$(</a:t>
            </a:r>
            <a:r>
              <a:rPr lang="en-US" dirty="0">
                <a:solidFill>
                  <a:srgbClr val="008000"/>
                </a:solidFill>
                <a:effectLst/>
              </a:rPr>
              <a:t>"p"</a:t>
            </a:r>
            <a:r>
              <a:rPr lang="en-US" dirty="0">
                <a:solidFill>
                  <a:srgbClr val="000000"/>
                </a:solidFill>
                <a:effectLst/>
              </a:rPr>
              <a:t>).</a:t>
            </a:r>
            <a:r>
              <a:rPr lang="en-US" dirty="0" err="1">
                <a:solidFill>
                  <a:srgbClr val="000000"/>
                </a:solidFill>
                <a:effectLst/>
              </a:rPr>
              <a:t>dblclick</a:t>
            </a:r>
            <a:r>
              <a:rPr lang="en-US" dirty="0">
                <a:solidFill>
                  <a:srgbClr val="000000"/>
                </a:solidFill>
                <a:effectLst/>
              </a:rPr>
              <a:t>(</a:t>
            </a:r>
            <a:r>
              <a:rPr lang="en-US" dirty="0">
                <a:solidFill>
                  <a:srgbClr val="005CC5"/>
                </a:solidFill>
                <a:effectLst/>
              </a:rPr>
              <a:t>function</a:t>
            </a:r>
            <a:r>
              <a:rPr lang="en-US" dirty="0">
                <a:solidFill>
                  <a:srgbClr val="000000"/>
                </a:solidFill>
                <a:effectLst/>
              </a:rPr>
              <a:t>(){</a:t>
            </a:r>
          </a:p>
          <a:p>
            <a:pPr marL="457200" lvl="1" indent="0" algn="just">
              <a:buNone/>
            </a:pPr>
            <a:r>
              <a:rPr lang="en-US" dirty="0">
                <a:solidFill>
                  <a:srgbClr val="000000"/>
                </a:solidFill>
              </a:rPr>
              <a:t>	</a:t>
            </a:r>
            <a:r>
              <a:rPr lang="en-US" dirty="0">
                <a:solidFill>
                  <a:srgbClr val="000000"/>
                </a:solidFill>
                <a:effectLst/>
              </a:rPr>
              <a:t>$(</a:t>
            </a:r>
            <a:r>
              <a:rPr lang="en-US" dirty="0">
                <a:solidFill>
                  <a:srgbClr val="005CC5"/>
                </a:solidFill>
                <a:effectLst/>
              </a:rPr>
              <a:t>this</a:t>
            </a:r>
            <a:r>
              <a:rPr lang="en-US" dirty="0">
                <a:solidFill>
                  <a:srgbClr val="000000"/>
                </a:solidFill>
                <a:effectLst/>
              </a:rPr>
              <a:t>).hide();</a:t>
            </a:r>
          </a:p>
          <a:p>
            <a:pPr marL="457200" lvl="1" indent="0" algn="just">
              <a:buNone/>
            </a:pPr>
            <a:r>
              <a:rPr lang="en-US" dirty="0">
                <a:solidFill>
                  <a:srgbClr val="000000"/>
                </a:solidFill>
                <a:effectLst/>
              </a:rPr>
              <a:t>});</a:t>
            </a:r>
            <a:endParaRPr lang="en-US" sz="4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563493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A3E17-9E91-385E-5E00-D60D149627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C4F03-28C2-7692-5B4F-6B49AB8C2B42}"/>
              </a:ext>
            </a:extLst>
          </p:cNvPr>
          <p:cNvSpPr>
            <a:spLocks noGrp="1"/>
          </p:cNvSpPr>
          <p:nvPr>
            <p:ph idx="1"/>
          </p:nvPr>
        </p:nvSpPr>
        <p:spPr>
          <a:xfrm>
            <a:off x="838200" y="254524"/>
            <a:ext cx="10515600" cy="6410227"/>
          </a:xfrm>
        </p:spPr>
        <p:txBody>
          <a:bodyPr/>
          <a:lstStyle/>
          <a:p>
            <a:r>
              <a:rPr lang="en-US" dirty="0"/>
              <a:t>Continued…</a:t>
            </a:r>
          </a:p>
          <a:p>
            <a:r>
              <a:rPr lang="en-US" sz="2400" b="1" dirty="0" err="1"/>
              <a:t>mouseenter</a:t>
            </a:r>
            <a:r>
              <a:rPr lang="en-US" sz="2400" b="1" dirty="0"/>
              <a:t>()</a:t>
            </a:r>
            <a:endParaRPr lang="en-US" sz="2400" dirty="0"/>
          </a:p>
          <a:p>
            <a:r>
              <a:rPr lang="en-US" sz="2400" dirty="0"/>
              <a:t>The </a:t>
            </a:r>
            <a:r>
              <a:rPr lang="en-US" dirty="0" err="1"/>
              <a:t>mouseenter</a:t>
            </a:r>
            <a:r>
              <a:rPr lang="en-US" dirty="0"/>
              <a:t>()</a:t>
            </a:r>
            <a:r>
              <a:rPr lang="en-US" sz="2400" dirty="0"/>
              <a:t> method attaches an event handler function to an HTML element.</a:t>
            </a:r>
          </a:p>
          <a:p>
            <a:pPr marL="457200" lvl="1" indent="0" algn="just">
              <a:buNone/>
            </a:pPr>
            <a:r>
              <a:rPr lang="en-US" dirty="0">
                <a:solidFill>
                  <a:srgbClr val="000000"/>
                </a:solidFill>
                <a:effectLst/>
              </a:rPr>
              <a:t>$(</a:t>
            </a:r>
            <a:r>
              <a:rPr lang="en-US" dirty="0">
                <a:solidFill>
                  <a:srgbClr val="008000"/>
                </a:solidFill>
                <a:effectLst/>
              </a:rPr>
              <a:t>"#p1"</a:t>
            </a:r>
            <a:r>
              <a:rPr lang="en-US" dirty="0">
                <a:solidFill>
                  <a:srgbClr val="000000"/>
                </a:solidFill>
                <a:effectLst/>
              </a:rPr>
              <a:t>).</a:t>
            </a:r>
            <a:r>
              <a:rPr lang="en-US" dirty="0" err="1">
                <a:solidFill>
                  <a:srgbClr val="000000"/>
                </a:solidFill>
                <a:effectLst/>
              </a:rPr>
              <a:t>mouseenter</a:t>
            </a:r>
            <a:r>
              <a:rPr lang="en-US" dirty="0">
                <a:solidFill>
                  <a:srgbClr val="000000"/>
                </a:solidFill>
                <a:effectLst/>
              </a:rPr>
              <a:t>(</a:t>
            </a:r>
            <a:r>
              <a:rPr lang="en-US" dirty="0">
                <a:solidFill>
                  <a:srgbClr val="005CC5"/>
                </a:solidFill>
                <a:effectLst/>
              </a:rPr>
              <a:t>function</a:t>
            </a:r>
            <a:r>
              <a:rPr lang="en-US" dirty="0">
                <a:solidFill>
                  <a:srgbClr val="000000"/>
                </a:solidFill>
                <a:effectLst/>
              </a:rPr>
              <a:t>(){</a:t>
            </a:r>
          </a:p>
          <a:p>
            <a:pPr marL="457200" lvl="1" indent="0" algn="just">
              <a:buNone/>
            </a:pPr>
            <a:r>
              <a:rPr lang="en-US" dirty="0">
                <a:solidFill>
                  <a:srgbClr val="000000"/>
                </a:solidFill>
                <a:effectLst/>
              </a:rPr>
              <a:t>alert(</a:t>
            </a:r>
            <a:r>
              <a:rPr lang="en-US" dirty="0">
                <a:solidFill>
                  <a:srgbClr val="008000"/>
                </a:solidFill>
                <a:effectLst/>
              </a:rPr>
              <a:t>"You entered p1!"</a:t>
            </a:r>
            <a:r>
              <a:rPr lang="en-US" dirty="0">
                <a:solidFill>
                  <a:srgbClr val="000000"/>
                </a:solidFill>
                <a:effectLst/>
              </a:rPr>
              <a:t>);</a:t>
            </a:r>
          </a:p>
          <a:p>
            <a:pPr marL="457200" lvl="1" indent="0" algn="just">
              <a:buNone/>
            </a:pPr>
            <a:r>
              <a:rPr lang="en-US" dirty="0">
                <a:solidFill>
                  <a:srgbClr val="000000"/>
                </a:solidFill>
                <a:effectLst/>
              </a:rPr>
              <a:t>});</a:t>
            </a:r>
            <a:endParaRPr lang="en-US" sz="4000" dirty="0"/>
          </a:p>
          <a:p>
            <a:pPr algn="just"/>
            <a:endParaRPr lang="en-US" sz="2400" dirty="0"/>
          </a:p>
          <a:p>
            <a:r>
              <a:rPr lang="en-US" sz="2400" b="1" dirty="0" err="1"/>
              <a:t>mouseleave</a:t>
            </a:r>
            <a:r>
              <a:rPr lang="en-US" sz="2400" b="1" dirty="0"/>
              <a:t>()</a:t>
            </a:r>
            <a:endParaRPr lang="en-US" sz="2400" dirty="0"/>
          </a:p>
          <a:p>
            <a:r>
              <a:rPr lang="en-US" sz="2400" dirty="0"/>
              <a:t>The </a:t>
            </a:r>
            <a:r>
              <a:rPr lang="en-US" dirty="0" err="1"/>
              <a:t>mouseleave</a:t>
            </a:r>
            <a:r>
              <a:rPr lang="en-US" dirty="0"/>
              <a:t>()</a:t>
            </a:r>
            <a:r>
              <a:rPr lang="en-US" sz="2400" dirty="0"/>
              <a:t> method attaches an event handler function to an HTML element.</a:t>
            </a:r>
          </a:p>
          <a:p>
            <a:pPr marL="457200" lvl="1" indent="0" algn="just">
              <a:buNone/>
            </a:pPr>
            <a:r>
              <a:rPr lang="en-US" dirty="0">
                <a:solidFill>
                  <a:srgbClr val="000000"/>
                </a:solidFill>
                <a:effectLst/>
              </a:rPr>
              <a:t>$(</a:t>
            </a:r>
            <a:r>
              <a:rPr lang="en-US" dirty="0">
                <a:solidFill>
                  <a:srgbClr val="008000"/>
                </a:solidFill>
                <a:effectLst/>
              </a:rPr>
              <a:t>"#p1"</a:t>
            </a:r>
            <a:r>
              <a:rPr lang="en-US" dirty="0">
                <a:solidFill>
                  <a:srgbClr val="000000"/>
                </a:solidFill>
                <a:effectLst/>
              </a:rPr>
              <a:t>).</a:t>
            </a:r>
            <a:r>
              <a:rPr lang="en-US" dirty="0" err="1">
                <a:solidFill>
                  <a:srgbClr val="000000"/>
                </a:solidFill>
                <a:effectLst/>
              </a:rPr>
              <a:t>mouseleave</a:t>
            </a:r>
            <a:r>
              <a:rPr lang="en-US" dirty="0">
                <a:solidFill>
                  <a:srgbClr val="000000"/>
                </a:solidFill>
                <a:effectLst/>
              </a:rPr>
              <a:t>(</a:t>
            </a:r>
            <a:r>
              <a:rPr lang="en-US" dirty="0">
                <a:solidFill>
                  <a:srgbClr val="005CC5"/>
                </a:solidFill>
                <a:effectLst/>
              </a:rPr>
              <a:t>function</a:t>
            </a:r>
            <a:r>
              <a:rPr lang="en-US" dirty="0">
                <a:solidFill>
                  <a:srgbClr val="000000"/>
                </a:solidFill>
                <a:effectLst/>
              </a:rPr>
              <a:t>(){  </a:t>
            </a:r>
          </a:p>
          <a:p>
            <a:pPr marL="457200" lvl="1" indent="0" algn="just">
              <a:buNone/>
            </a:pPr>
            <a:r>
              <a:rPr lang="en-US" dirty="0">
                <a:solidFill>
                  <a:srgbClr val="000000"/>
                </a:solidFill>
                <a:effectLst/>
              </a:rPr>
              <a:t>	alert(</a:t>
            </a:r>
            <a:r>
              <a:rPr lang="en-US" dirty="0">
                <a:solidFill>
                  <a:srgbClr val="008000"/>
                </a:solidFill>
                <a:effectLst/>
              </a:rPr>
              <a:t>"Bye! You now leave p1!"</a:t>
            </a:r>
            <a:r>
              <a:rPr lang="en-US" dirty="0">
                <a:solidFill>
                  <a:srgbClr val="000000"/>
                </a:solidFill>
                <a:effectLst/>
              </a:rPr>
              <a:t>);</a:t>
            </a:r>
          </a:p>
          <a:p>
            <a:pPr marL="457200" lvl="1" indent="0" algn="just">
              <a:buNone/>
            </a:pPr>
            <a:r>
              <a:rPr lang="en-US" dirty="0">
                <a:solidFill>
                  <a:srgbClr val="000000"/>
                </a:solidFill>
                <a:effectLst/>
              </a:rPr>
              <a:t>});</a:t>
            </a:r>
            <a:endParaRPr lang="en-US" sz="4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570779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CF0E7-432C-8FB7-72C0-FFCAFBE65D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5D2C78-A0D5-2E08-2540-4D0DAD73498B}"/>
              </a:ext>
            </a:extLst>
          </p:cNvPr>
          <p:cNvSpPr>
            <a:spLocks noGrp="1"/>
          </p:cNvSpPr>
          <p:nvPr>
            <p:ph idx="1"/>
          </p:nvPr>
        </p:nvSpPr>
        <p:spPr>
          <a:xfrm>
            <a:off x="838200" y="254524"/>
            <a:ext cx="10515600" cy="6410227"/>
          </a:xfrm>
        </p:spPr>
        <p:txBody>
          <a:bodyPr/>
          <a:lstStyle/>
          <a:p>
            <a:r>
              <a:rPr lang="en-US" dirty="0"/>
              <a:t>Continued…</a:t>
            </a:r>
          </a:p>
          <a:p>
            <a:r>
              <a:rPr lang="en-US" sz="2400" b="1" dirty="0" err="1"/>
              <a:t>mousedown</a:t>
            </a:r>
            <a:r>
              <a:rPr lang="en-US" sz="2400" b="1" dirty="0"/>
              <a:t>()</a:t>
            </a:r>
            <a:endParaRPr lang="en-US" sz="2400" dirty="0"/>
          </a:p>
          <a:p>
            <a:r>
              <a:rPr lang="en-US" sz="2400" dirty="0"/>
              <a:t>The </a:t>
            </a:r>
            <a:r>
              <a:rPr lang="en-US" dirty="0" err="1"/>
              <a:t>mousedown</a:t>
            </a:r>
            <a:r>
              <a:rPr lang="en-US" dirty="0"/>
              <a:t>()</a:t>
            </a:r>
            <a:r>
              <a:rPr lang="en-US" sz="2400" dirty="0"/>
              <a:t> method attaches an event handler function to an HTML element.</a:t>
            </a:r>
          </a:p>
          <a:p>
            <a:r>
              <a:rPr lang="en-US" sz="2400" dirty="0"/>
              <a:t>The function is executed, when the left, middle or right mouse button is pressed down, while the mouse is over the HTML element:</a:t>
            </a:r>
          </a:p>
          <a:p>
            <a:pPr marL="457200" lvl="1" indent="0">
              <a:buNone/>
            </a:pPr>
            <a:r>
              <a:rPr lang="en-US" dirty="0">
                <a:solidFill>
                  <a:srgbClr val="000000"/>
                </a:solidFill>
                <a:effectLst/>
              </a:rPr>
              <a:t>$(</a:t>
            </a:r>
            <a:r>
              <a:rPr lang="en-US" dirty="0">
                <a:solidFill>
                  <a:srgbClr val="008000"/>
                </a:solidFill>
                <a:effectLst/>
              </a:rPr>
              <a:t>"#p1"</a:t>
            </a:r>
            <a:r>
              <a:rPr lang="en-US" dirty="0">
                <a:solidFill>
                  <a:srgbClr val="000000"/>
                </a:solidFill>
                <a:effectLst/>
              </a:rPr>
              <a:t>).</a:t>
            </a:r>
            <a:r>
              <a:rPr lang="en-US" dirty="0" err="1">
                <a:solidFill>
                  <a:srgbClr val="000000"/>
                </a:solidFill>
                <a:effectLst/>
              </a:rPr>
              <a:t>mousedown</a:t>
            </a:r>
            <a:r>
              <a:rPr lang="en-US" dirty="0">
                <a:solidFill>
                  <a:srgbClr val="000000"/>
                </a:solidFill>
                <a:effectLst/>
              </a:rPr>
              <a:t>(</a:t>
            </a:r>
            <a:r>
              <a:rPr lang="en-US" dirty="0">
                <a:solidFill>
                  <a:srgbClr val="005CC5"/>
                </a:solidFill>
                <a:effectLst/>
              </a:rPr>
              <a:t>function</a:t>
            </a:r>
            <a:r>
              <a:rPr lang="en-US" dirty="0">
                <a:solidFill>
                  <a:srgbClr val="000000"/>
                </a:solidFill>
                <a:effectLst/>
              </a:rPr>
              <a:t>(){</a:t>
            </a:r>
            <a:br>
              <a:rPr lang="en-US" dirty="0">
                <a:solidFill>
                  <a:srgbClr val="000000"/>
                </a:solidFill>
                <a:effectLst/>
              </a:rPr>
            </a:br>
            <a:r>
              <a:rPr lang="en-US" dirty="0">
                <a:solidFill>
                  <a:srgbClr val="000000"/>
                </a:solidFill>
                <a:effectLst/>
              </a:rPr>
              <a:t>  alert(</a:t>
            </a:r>
            <a:r>
              <a:rPr lang="en-US" dirty="0">
                <a:solidFill>
                  <a:srgbClr val="008000"/>
                </a:solidFill>
                <a:effectLst/>
              </a:rPr>
              <a:t>"Mouse down over p1!"</a:t>
            </a:r>
            <a:r>
              <a:rPr lang="en-US" dirty="0">
                <a:solidFill>
                  <a:srgbClr val="000000"/>
                </a:solidFill>
                <a:effectLst/>
              </a:rPr>
              <a:t>);</a:t>
            </a:r>
            <a:br>
              <a:rPr lang="en-US" dirty="0">
                <a:solidFill>
                  <a:srgbClr val="000000"/>
                </a:solidFill>
                <a:effectLst/>
              </a:rPr>
            </a:br>
            <a:r>
              <a:rPr lang="en-US" dirty="0">
                <a:solidFill>
                  <a:srgbClr val="000000"/>
                </a:solidFill>
                <a:effectLst/>
              </a:rPr>
              <a:t>});</a:t>
            </a:r>
            <a:endParaRPr lang="en-US" sz="3200" dirty="0"/>
          </a:p>
          <a:p>
            <a:r>
              <a:rPr lang="en-US" sz="2400" b="1" dirty="0" err="1"/>
              <a:t>mouseup</a:t>
            </a:r>
            <a:r>
              <a:rPr lang="en-US" sz="2400" b="1" dirty="0"/>
              <a:t>()</a:t>
            </a:r>
            <a:endParaRPr lang="en-US" sz="2400" dirty="0"/>
          </a:p>
          <a:p>
            <a:r>
              <a:rPr lang="en-US" sz="2400" dirty="0"/>
              <a:t>The </a:t>
            </a:r>
            <a:r>
              <a:rPr lang="en-US" dirty="0" err="1"/>
              <a:t>mouseup</a:t>
            </a:r>
            <a:r>
              <a:rPr lang="en-US" dirty="0"/>
              <a:t>()</a:t>
            </a:r>
            <a:r>
              <a:rPr lang="en-US" sz="2400" dirty="0"/>
              <a:t> method attaches an event handler function to an HTML element.</a:t>
            </a:r>
          </a:p>
          <a:p>
            <a:pPr marL="457200" lvl="1" indent="0">
              <a:buNone/>
            </a:pPr>
            <a:r>
              <a:rPr lang="en-US" dirty="0">
                <a:solidFill>
                  <a:srgbClr val="000000"/>
                </a:solidFill>
                <a:effectLst/>
              </a:rPr>
              <a:t>$(</a:t>
            </a:r>
            <a:r>
              <a:rPr lang="en-US" dirty="0">
                <a:solidFill>
                  <a:srgbClr val="008000"/>
                </a:solidFill>
                <a:effectLst/>
              </a:rPr>
              <a:t>"#p1"</a:t>
            </a:r>
            <a:r>
              <a:rPr lang="en-US" dirty="0">
                <a:solidFill>
                  <a:srgbClr val="000000"/>
                </a:solidFill>
                <a:effectLst/>
              </a:rPr>
              <a:t>).</a:t>
            </a:r>
            <a:r>
              <a:rPr lang="en-US" dirty="0" err="1">
                <a:solidFill>
                  <a:srgbClr val="000000"/>
                </a:solidFill>
                <a:effectLst/>
              </a:rPr>
              <a:t>mouseup</a:t>
            </a:r>
            <a:r>
              <a:rPr lang="en-US" dirty="0">
                <a:solidFill>
                  <a:srgbClr val="000000"/>
                </a:solidFill>
                <a:effectLst/>
              </a:rPr>
              <a:t>(</a:t>
            </a:r>
            <a:r>
              <a:rPr lang="en-US" dirty="0">
                <a:solidFill>
                  <a:srgbClr val="005CC5"/>
                </a:solidFill>
                <a:effectLst/>
              </a:rPr>
              <a:t>function</a:t>
            </a:r>
            <a:r>
              <a:rPr lang="en-US" dirty="0">
                <a:solidFill>
                  <a:srgbClr val="000000"/>
                </a:solidFill>
                <a:effectLst/>
              </a:rPr>
              <a:t>(){</a:t>
            </a:r>
            <a:br>
              <a:rPr lang="en-US" dirty="0">
                <a:solidFill>
                  <a:srgbClr val="000000"/>
                </a:solidFill>
                <a:effectLst/>
              </a:rPr>
            </a:br>
            <a:r>
              <a:rPr lang="en-US" dirty="0">
                <a:solidFill>
                  <a:srgbClr val="000000"/>
                </a:solidFill>
                <a:effectLst/>
              </a:rPr>
              <a:t>  alert(</a:t>
            </a:r>
            <a:r>
              <a:rPr lang="en-US" dirty="0">
                <a:solidFill>
                  <a:srgbClr val="008000"/>
                </a:solidFill>
                <a:effectLst/>
              </a:rPr>
              <a:t>"Mouse up over p1!"</a:t>
            </a:r>
            <a:r>
              <a:rPr lang="en-US" dirty="0">
                <a:solidFill>
                  <a:srgbClr val="000000"/>
                </a:solidFill>
                <a:effectLst/>
              </a:rPr>
              <a:t>);</a:t>
            </a:r>
            <a:br>
              <a:rPr lang="en-US" dirty="0">
                <a:solidFill>
                  <a:srgbClr val="000000"/>
                </a:solidFill>
                <a:effectLst/>
              </a:rPr>
            </a:br>
            <a:r>
              <a:rPr lang="en-US" dirty="0">
                <a:solidFill>
                  <a:srgbClr val="000000"/>
                </a:solidFill>
                <a:effectLst/>
              </a:rPr>
              <a:t>});</a:t>
            </a:r>
            <a:endParaRPr lang="en-US" sz="4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748488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90E72-9744-F1DA-DFEB-8D47155E56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32B372-C911-15CF-06BC-00D2CEB8D809}"/>
              </a:ext>
            </a:extLst>
          </p:cNvPr>
          <p:cNvSpPr>
            <a:spLocks noGrp="1"/>
          </p:cNvSpPr>
          <p:nvPr>
            <p:ph idx="1"/>
          </p:nvPr>
        </p:nvSpPr>
        <p:spPr>
          <a:xfrm>
            <a:off x="838200" y="254524"/>
            <a:ext cx="10515600" cy="6410227"/>
          </a:xfrm>
        </p:spPr>
        <p:txBody>
          <a:bodyPr>
            <a:normAutofit fontScale="92500" lnSpcReduction="10000"/>
          </a:bodyPr>
          <a:lstStyle/>
          <a:p>
            <a:r>
              <a:rPr lang="en-US" dirty="0"/>
              <a:t>Continued…</a:t>
            </a:r>
          </a:p>
          <a:p>
            <a:r>
              <a:rPr lang="en-US" sz="2400" b="1" dirty="0"/>
              <a:t>hover()</a:t>
            </a:r>
            <a:endParaRPr lang="en-US" sz="2400" dirty="0"/>
          </a:p>
          <a:p>
            <a:r>
              <a:rPr lang="en-US" sz="2000" dirty="0"/>
              <a:t>The </a:t>
            </a:r>
            <a:r>
              <a:rPr lang="en-US" sz="2400" dirty="0"/>
              <a:t>hover()</a:t>
            </a:r>
            <a:r>
              <a:rPr lang="en-US" sz="2000" dirty="0"/>
              <a:t> method takes two functions and is a combination of the </a:t>
            </a:r>
            <a:r>
              <a:rPr lang="en-US" sz="2400" dirty="0" err="1">
                <a:solidFill>
                  <a:srgbClr val="FF0000"/>
                </a:solidFill>
              </a:rPr>
              <a:t>mouseenter</a:t>
            </a:r>
            <a:r>
              <a:rPr lang="en-US" sz="2400" dirty="0">
                <a:solidFill>
                  <a:srgbClr val="FF0000"/>
                </a:solidFill>
              </a:rPr>
              <a:t>()</a:t>
            </a:r>
            <a:r>
              <a:rPr lang="en-US" sz="2000" dirty="0">
                <a:solidFill>
                  <a:srgbClr val="FF0000"/>
                </a:solidFill>
              </a:rPr>
              <a:t> </a:t>
            </a:r>
            <a:r>
              <a:rPr lang="en-US" sz="2000" dirty="0"/>
              <a:t>and </a:t>
            </a:r>
            <a:r>
              <a:rPr lang="en-US" sz="2400" dirty="0" err="1">
                <a:solidFill>
                  <a:srgbClr val="FF0000"/>
                </a:solidFill>
              </a:rPr>
              <a:t>mouseleave</a:t>
            </a:r>
            <a:r>
              <a:rPr lang="en-US" sz="2400" dirty="0">
                <a:solidFill>
                  <a:srgbClr val="FF0000"/>
                </a:solidFill>
              </a:rPr>
              <a:t>()</a:t>
            </a:r>
            <a:r>
              <a:rPr lang="en-US" sz="2000" dirty="0">
                <a:solidFill>
                  <a:srgbClr val="FF0000"/>
                </a:solidFill>
              </a:rPr>
              <a:t> </a:t>
            </a:r>
            <a:r>
              <a:rPr lang="en-US" sz="2000" dirty="0"/>
              <a:t>methods.</a:t>
            </a:r>
          </a:p>
          <a:p>
            <a:pPr algn="just"/>
            <a:r>
              <a:rPr lang="en-US" sz="2400" dirty="0"/>
              <a:t>The first function is executed when the mouse enters the HTML element, and the second function is executed when the mouse leaves the HTML element:</a:t>
            </a:r>
          </a:p>
          <a:p>
            <a:pPr marL="457200" lvl="1" indent="0" algn="just">
              <a:buNone/>
            </a:pPr>
            <a:r>
              <a:rPr lang="en-US" sz="2000" dirty="0">
                <a:solidFill>
                  <a:srgbClr val="000000"/>
                </a:solidFill>
                <a:effectLst/>
              </a:rPr>
              <a:t>$(</a:t>
            </a:r>
            <a:r>
              <a:rPr lang="en-US" sz="2000" dirty="0">
                <a:solidFill>
                  <a:srgbClr val="008000"/>
                </a:solidFill>
                <a:effectLst/>
              </a:rPr>
              <a:t>"#p1"</a:t>
            </a:r>
            <a:r>
              <a:rPr lang="en-US" sz="2000" dirty="0">
                <a:solidFill>
                  <a:srgbClr val="000000"/>
                </a:solidFill>
                <a:effectLst/>
              </a:rPr>
              <a:t>).hover(</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alert(</a:t>
            </a:r>
            <a:r>
              <a:rPr lang="en-US" sz="2000" dirty="0">
                <a:solidFill>
                  <a:srgbClr val="008000"/>
                </a:solidFill>
                <a:effectLst/>
              </a:rPr>
              <a:t>"You entered p1!"</a:t>
            </a:r>
            <a:r>
              <a:rPr lang="en-US" sz="2000" dirty="0">
                <a:solidFill>
                  <a:srgbClr val="000000"/>
                </a:solidFill>
                <a:effectLst/>
              </a:rPr>
              <a:t>);</a:t>
            </a:r>
          </a:p>
          <a:p>
            <a:pPr marL="457200" lvl="1" indent="0" algn="just">
              <a:buNone/>
            </a:pPr>
            <a:r>
              <a:rPr lang="en-US" sz="2000" dirty="0">
                <a:solidFill>
                  <a:srgbClr val="000000"/>
                </a:solidFill>
                <a:effectLst/>
              </a:rPr>
              <a:t>},</a:t>
            </a:r>
          </a:p>
          <a:p>
            <a:pPr marL="457200" lvl="1" indent="0" algn="just">
              <a:buNone/>
            </a:pP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alert(</a:t>
            </a:r>
            <a:r>
              <a:rPr lang="en-US" sz="2000" dirty="0">
                <a:solidFill>
                  <a:srgbClr val="008000"/>
                </a:solidFill>
                <a:effectLst/>
              </a:rPr>
              <a:t>"Bye! You now leave p1!"</a:t>
            </a:r>
            <a:r>
              <a:rPr lang="en-US" sz="2000" dirty="0">
                <a:solidFill>
                  <a:srgbClr val="000000"/>
                </a:solidFill>
                <a:effectLst/>
              </a:rPr>
              <a:t>);</a:t>
            </a:r>
          </a:p>
          <a:p>
            <a:pPr marL="457200" lvl="1" indent="0" algn="just">
              <a:buNone/>
            </a:pPr>
            <a:r>
              <a:rPr lang="en-US" sz="2000" dirty="0">
                <a:solidFill>
                  <a:srgbClr val="000000"/>
                </a:solidFill>
                <a:effectLst/>
              </a:rPr>
              <a:t>});</a:t>
            </a:r>
            <a:endParaRPr lang="en-US" sz="3200" dirty="0"/>
          </a:p>
          <a:p>
            <a:r>
              <a:rPr lang="en-US" sz="2400" b="1" dirty="0"/>
              <a:t>focus()</a:t>
            </a:r>
            <a:endParaRPr lang="en-US" sz="2400" dirty="0"/>
          </a:p>
          <a:p>
            <a:r>
              <a:rPr lang="en-US" sz="2400" dirty="0"/>
              <a:t>The </a:t>
            </a:r>
            <a:r>
              <a:rPr lang="en-US" dirty="0"/>
              <a:t>focus()</a:t>
            </a:r>
            <a:r>
              <a:rPr lang="en-US" sz="2400" dirty="0"/>
              <a:t> method attaches an event handler function to an HTML form field.</a:t>
            </a:r>
          </a:p>
          <a:p>
            <a:r>
              <a:rPr lang="en-US" sz="2400" dirty="0"/>
              <a:t>The function is executed when the form field gets focus:</a:t>
            </a:r>
          </a:p>
          <a:p>
            <a:pPr marL="457200" lvl="1" indent="0">
              <a:buNone/>
            </a:pPr>
            <a:r>
              <a:rPr lang="en-US" sz="2000" dirty="0">
                <a:solidFill>
                  <a:srgbClr val="000000"/>
                </a:solidFill>
                <a:effectLst/>
              </a:rPr>
              <a:t>$(</a:t>
            </a:r>
            <a:r>
              <a:rPr lang="en-US" sz="2000" dirty="0">
                <a:solidFill>
                  <a:srgbClr val="008000"/>
                </a:solidFill>
                <a:effectLst/>
              </a:rPr>
              <a:t>"input"</a:t>
            </a:r>
            <a:r>
              <a:rPr lang="en-US" sz="2000" dirty="0">
                <a:solidFill>
                  <a:srgbClr val="000000"/>
                </a:solidFill>
                <a:effectLst/>
              </a:rPr>
              <a:t>).focus(</a:t>
            </a:r>
            <a:r>
              <a:rPr lang="en-US" sz="2000" dirty="0">
                <a:solidFill>
                  <a:srgbClr val="005CC5"/>
                </a:solidFill>
                <a:effectLst/>
              </a:rPr>
              <a:t>function</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  $(</a:t>
            </a:r>
            <a:r>
              <a:rPr lang="en-US" sz="2000" dirty="0">
                <a:solidFill>
                  <a:srgbClr val="005CC5"/>
                </a:solidFill>
                <a:effectLst/>
              </a:rPr>
              <a:t>this</a:t>
            </a:r>
            <a:r>
              <a:rPr lang="en-US" sz="2000" dirty="0">
                <a:solidFill>
                  <a:srgbClr val="000000"/>
                </a:solidFill>
                <a:effectLst/>
              </a:rPr>
              <a:t>).</a:t>
            </a:r>
            <a:r>
              <a:rPr lang="en-US" sz="2000" dirty="0" err="1">
                <a:solidFill>
                  <a:srgbClr val="000000"/>
                </a:solidFill>
                <a:effectLst/>
              </a:rPr>
              <a:t>css</a:t>
            </a:r>
            <a:r>
              <a:rPr lang="en-US" sz="2000" dirty="0">
                <a:solidFill>
                  <a:srgbClr val="000000"/>
                </a:solidFill>
                <a:effectLst/>
              </a:rPr>
              <a:t>(</a:t>
            </a:r>
            <a:r>
              <a:rPr lang="en-US" sz="2000" dirty="0">
                <a:solidFill>
                  <a:srgbClr val="008000"/>
                </a:solidFill>
                <a:effectLst/>
              </a:rPr>
              <a:t>"background-color"</a:t>
            </a:r>
            <a:r>
              <a:rPr lang="en-US" sz="2000" dirty="0">
                <a:solidFill>
                  <a:srgbClr val="000000"/>
                </a:solidFill>
                <a:effectLst/>
              </a:rPr>
              <a:t>, </a:t>
            </a:r>
            <a:r>
              <a:rPr lang="en-US" sz="2000" dirty="0">
                <a:solidFill>
                  <a:srgbClr val="008000"/>
                </a:solidFill>
                <a:effectLst/>
              </a:rPr>
              <a:t>"#</a:t>
            </a:r>
            <a:r>
              <a:rPr lang="en-US" sz="2000" dirty="0" err="1">
                <a:solidFill>
                  <a:srgbClr val="008000"/>
                </a:solidFill>
                <a:effectLst/>
              </a:rPr>
              <a:t>cccccc</a:t>
            </a:r>
            <a:r>
              <a:rPr lang="en-US" sz="2000" dirty="0">
                <a:solidFill>
                  <a:srgbClr val="008000"/>
                </a:solidFill>
                <a:effectLst/>
              </a:rPr>
              <a:t>"</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a:t>
            </a:r>
            <a:endParaRPr lang="en-US" sz="3200" dirty="0"/>
          </a:p>
        </p:txBody>
      </p:sp>
    </p:spTree>
    <p:extLst>
      <p:ext uri="{BB962C8B-B14F-4D97-AF65-F5344CB8AC3E}">
        <p14:creationId xmlns:p14="http://schemas.microsoft.com/office/powerpoint/2010/main" val="687747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CA45E-2B23-3214-AB69-EB5E221FA4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7AC67-7104-EA35-816A-41F60FCEFA88}"/>
              </a:ext>
            </a:extLst>
          </p:cNvPr>
          <p:cNvSpPr>
            <a:spLocks noGrp="1"/>
          </p:cNvSpPr>
          <p:nvPr>
            <p:ph idx="1"/>
          </p:nvPr>
        </p:nvSpPr>
        <p:spPr>
          <a:xfrm>
            <a:off x="838200" y="254524"/>
            <a:ext cx="10515600" cy="6410227"/>
          </a:xfrm>
        </p:spPr>
        <p:txBody>
          <a:bodyPr>
            <a:normAutofit fontScale="92500" lnSpcReduction="20000"/>
          </a:bodyPr>
          <a:lstStyle/>
          <a:p>
            <a:r>
              <a:rPr lang="en-US" sz="2400" b="1" dirty="0"/>
              <a:t>blur()</a:t>
            </a:r>
            <a:endParaRPr lang="en-US" sz="2400" dirty="0"/>
          </a:p>
          <a:p>
            <a:r>
              <a:rPr lang="en-US" sz="2400" dirty="0"/>
              <a:t>The </a:t>
            </a:r>
            <a:r>
              <a:rPr lang="en-US" dirty="0"/>
              <a:t>blur()</a:t>
            </a:r>
            <a:r>
              <a:rPr lang="en-US" sz="2400" dirty="0"/>
              <a:t> method attaches an event handler function to an HTML form field.</a:t>
            </a:r>
          </a:p>
          <a:p>
            <a:r>
              <a:rPr lang="en-US" sz="2400" dirty="0"/>
              <a:t>The function is executed when the form field loses focus:</a:t>
            </a:r>
          </a:p>
          <a:p>
            <a:pPr marL="457200" lvl="1" indent="0">
              <a:buNone/>
            </a:pPr>
            <a:r>
              <a:rPr lang="en-US" dirty="0">
                <a:solidFill>
                  <a:srgbClr val="000000"/>
                </a:solidFill>
                <a:effectLst/>
              </a:rPr>
              <a:t>$(</a:t>
            </a:r>
            <a:r>
              <a:rPr lang="en-US" dirty="0">
                <a:solidFill>
                  <a:srgbClr val="008000"/>
                </a:solidFill>
                <a:effectLst/>
              </a:rPr>
              <a:t>"input"</a:t>
            </a:r>
            <a:r>
              <a:rPr lang="en-US" dirty="0">
                <a:solidFill>
                  <a:srgbClr val="000000"/>
                </a:solidFill>
                <a:effectLst/>
              </a:rPr>
              <a:t>).blur(</a:t>
            </a:r>
            <a:r>
              <a:rPr lang="en-US" dirty="0">
                <a:solidFill>
                  <a:srgbClr val="005CC5"/>
                </a:solidFill>
                <a:effectLst/>
              </a:rPr>
              <a:t>function</a:t>
            </a:r>
            <a:r>
              <a:rPr lang="en-US" dirty="0">
                <a:solidFill>
                  <a:srgbClr val="000000"/>
                </a:solidFill>
                <a:effectLst/>
              </a:rPr>
              <a:t>(){</a:t>
            </a:r>
            <a:br>
              <a:rPr lang="en-US" dirty="0">
                <a:solidFill>
                  <a:srgbClr val="000000"/>
                </a:solidFill>
                <a:effectLst/>
              </a:rPr>
            </a:br>
            <a:r>
              <a:rPr lang="en-US" dirty="0">
                <a:solidFill>
                  <a:srgbClr val="000000"/>
                </a:solidFill>
                <a:effectLst/>
              </a:rPr>
              <a:t>  $(</a:t>
            </a:r>
            <a:r>
              <a:rPr lang="en-US" dirty="0">
                <a:solidFill>
                  <a:srgbClr val="005CC5"/>
                </a:solidFill>
                <a:effectLst/>
              </a:rPr>
              <a:t>this</a:t>
            </a:r>
            <a:r>
              <a:rPr lang="en-US" dirty="0">
                <a:solidFill>
                  <a:srgbClr val="000000"/>
                </a:solidFill>
                <a:effectLst/>
              </a:rPr>
              <a:t>).</a:t>
            </a:r>
            <a:r>
              <a:rPr lang="en-US" dirty="0" err="1">
                <a:solidFill>
                  <a:srgbClr val="000000"/>
                </a:solidFill>
                <a:effectLst/>
              </a:rPr>
              <a:t>css</a:t>
            </a:r>
            <a:r>
              <a:rPr lang="en-US" dirty="0">
                <a:solidFill>
                  <a:srgbClr val="000000"/>
                </a:solidFill>
                <a:effectLst/>
              </a:rPr>
              <a:t>(</a:t>
            </a:r>
            <a:r>
              <a:rPr lang="en-US" dirty="0">
                <a:solidFill>
                  <a:srgbClr val="008000"/>
                </a:solidFill>
                <a:effectLst/>
              </a:rPr>
              <a:t>"background-color"</a:t>
            </a:r>
            <a:r>
              <a:rPr lang="en-US" dirty="0">
                <a:solidFill>
                  <a:srgbClr val="000000"/>
                </a:solidFill>
                <a:effectLst/>
              </a:rPr>
              <a:t>, </a:t>
            </a:r>
            <a:r>
              <a:rPr lang="en-US" dirty="0">
                <a:solidFill>
                  <a:srgbClr val="008000"/>
                </a:solidFill>
                <a:effectLst/>
              </a:rPr>
              <a:t>"#</a:t>
            </a:r>
            <a:r>
              <a:rPr lang="en-US" dirty="0" err="1">
                <a:solidFill>
                  <a:srgbClr val="008000"/>
                </a:solidFill>
                <a:effectLst/>
              </a:rPr>
              <a:t>ffffff</a:t>
            </a:r>
            <a:r>
              <a:rPr lang="en-US" dirty="0">
                <a:solidFill>
                  <a:srgbClr val="008000"/>
                </a:solidFill>
                <a:effectLst/>
              </a:rPr>
              <a:t>"</a:t>
            </a:r>
            <a:r>
              <a:rPr lang="en-US" dirty="0">
                <a:solidFill>
                  <a:srgbClr val="000000"/>
                </a:solidFill>
                <a:effectLst/>
              </a:rPr>
              <a:t>);</a:t>
            </a:r>
            <a:br>
              <a:rPr lang="en-US" dirty="0">
                <a:solidFill>
                  <a:srgbClr val="000000"/>
                </a:solidFill>
                <a:effectLst/>
              </a:rPr>
            </a:br>
            <a:r>
              <a:rPr lang="en-US" dirty="0">
                <a:solidFill>
                  <a:srgbClr val="000000"/>
                </a:solidFill>
                <a:effectLst/>
              </a:rPr>
              <a:t>});</a:t>
            </a:r>
            <a:endParaRPr lang="en-US" sz="2400" dirty="0"/>
          </a:p>
          <a:p>
            <a:pPr algn="just"/>
            <a:r>
              <a:rPr lang="en-IN" sz="2400" b="1" dirty="0"/>
              <a:t>The on() Method</a:t>
            </a:r>
          </a:p>
          <a:p>
            <a:pPr algn="just"/>
            <a:r>
              <a:rPr lang="en-US" sz="2400" dirty="0"/>
              <a:t>The </a:t>
            </a:r>
            <a:r>
              <a:rPr lang="en-US" dirty="0"/>
              <a:t>on()</a:t>
            </a:r>
            <a:r>
              <a:rPr lang="en-US" sz="2400" dirty="0"/>
              <a:t> method attaches one or more event handlers for the selected elements.</a:t>
            </a:r>
          </a:p>
          <a:p>
            <a:pPr marL="457200" lvl="1" indent="0" algn="just">
              <a:buNone/>
            </a:pPr>
            <a:r>
              <a:rPr lang="en-US" sz="2000" dirty="0">
                <a:solidFill>
                  <a:srgbClr val="000000"/>
                </a:solidFill>
                <a:effectLst/>
              </a:rPr>
              <a:t>$(</a:t>
            </a:r>
            <a:r>
              <a:rPr lang="en-US" sz="2000" dirty="0">
                <a:solidFill>
                  <a:srgbClr val="008000"/>
                </a:solidFill>
                <a:effectLst/>
              </a:rPr>
              <a:t>"p"</a:t>
            </a:r>
            <a:r>
              <a:rPr lang="en-US" sz="2000" dirty="0">
                <a:solidFill>
                  <a:srgbClr val="000000"/>
                </a:solidFill>
                <a:effectLst/>
              </a:rPr>
              <a:t>).on(</a:t>
            </a:r>
            <a:r>
              <a:rPr lang="en-US" sz="2000" dirty="0">
                <a:solidFill>
                  <a:srgbClr val="008000"/>
                </a:solidFill>
                <a:effectLst/>
              </a:rPr>
              <a:t>"</a:t>
            </a:r>
            <a:r>
              <a:rPr lang="en-US" sz="2000" dirty="0" err="1">
                <a:solidFill>
                  <a:srgbClr val="008000"/>
                </a:solidFill>
                <a:effectLst/>
              </a:rPr>
              <a:t>click"</a:t>
            </a:r>
            <a:r>
              <a:rPr lang="en-US" sz="2000" dirty="0" err="1">
                <a:solidFill>
                  <a:srgbClr val="000000"/>
                </a:solidFill>
                <a:effectLst/>
              </a:rPr>
              <a:t>,</a:t>
            </a:r>
            <a:r>
              <a:rPr lang="en-US" sz="2000" dirty="0" err="1">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5CC5"/>
                </a:solidFill>
                <a:effectLst/>
              </a:rPr>
              <a:t>this</a:t>
            </a:r>
            <a:r>
              <a:rPr lang="en-US" sz="2000" dirty="0">
                <a:solidFill>
                  <a:srgbClr val="000000"/>
                </a:solidFill>
                <a:effectLst/>
              </a:rPr>
              <a:t>).hide();</a:t>
            </a:r>
          </a:p>
          <a:p>
            <a:pPr marL="457200" lvl="1" indent="0" algn="just">
              <a:buNone/>
            </a:pPr>
            <a:r>
              <a:rPr lang="en-US" sz="2000" dirty="0">
                <a:solidFill>
                  <a:srgbClr val="000000"/>
                </a:solidFill>
                <a:effectLst/>
              </a:rPr>
              <a:t>}); </a:t>
            </a:r>
            <a:endParaRPr lang="en-US" sz="3600" dirty="0"/>
          </a:p>
          <a:p>
            <a:pPr algn="just"/>
            <a:r>
              <a:rPr lang="en-US" sz="2400" dirty="0"/>
              <a:t>Attach multiple event handlers to a </a:t>
            </a:r>
            <a:r>
              <a:rPr lang="en-US" dirty="0"/>
              <a:t>&lt;p&gt;</a:t>
            </a:r>
            <a:r>
              <a:rPr lang="en-US" sz="2400" dirty="0"/>
              <a:t> element:</a:t>
            </a:r>
          </a:p>
          <a:p>
            <a:pPr marL="457200" lvl="1" indent="0" algn="just">
              <a:buNone/>
            </a:pPr>
            <a:r>
              <a:rPr lang="en-IN" sz="1700" dirty="0">
                <a:solidFill>
                  <a:srgbClr val="000000"/>
                </a:solidFill>
                <a:effectLst/>
              </a:rPr>
              <a:t>$(</a:t>
            </a:r>
            <a:r>
              <a:rPr lang="en-IN" sz="1700" dirty="0">
                <a:solidFill>
                  <a:srgbClr val="008000"/>
                </a:solidFill>
                <a:effectLst/>
              </a:rPr>
              <a:t>"p"</a:t>
            </a:r>
            <a:r>
              <a:rPr lang="en-IN" sz="1700" dirty="0">
                <a:solidFill>
                  <a:srgbClr val="000000"/>
                </a:solidFill>
                <a:effectLst/>
              </a:rPr>
              <a:t>).on({</a:t>
            </a:r>
          </a:p>
          <a:p>
            <a:pPr marL="457200" lvl="1" indent="0" algn="just">
              <a:buNone/>
            </a:pPr>
            <a:r>
              <a:rPr lang="en-IN" sz="1700" dirty="0" err="1">
                <a:solidFill>
                  <a:srgbClr val="000000"/>
                </a:solidFill>
                <a:effectLst/>
              </a:rPr>
              <a:t>mouseenter:</a:t>
            </a:r>
            <a:r>
              <a:rPr lang="en-IN" sz="1700" dirty="0" err="1">
                <a:solidFill>
                  <a:srgbClr val="005CC5"/>
                </a:solidFill>
                <a:effectLst/>
              </a:rPr>
              <a:t>function</a:t>
            </a:r>
            <a:r>
              <a:rPr lang="en-IN" sz="1700" dirty="0">
                <a:solidFill>
                  <a:srgbClr val="000000"/>
                </a:solidFill>
                <a:effectLst/>
              </a:rPr>
              <a:t>(){</a:t>
            </a:r>
          </a:p>
          <a:p>
            <a:pPr marL="457200" lvl="1" indent="0" algn="just">
              <a:buNone/>
            </a:pPr>
            <a:r>
              <a:rPr lang="en-IN" sz="1700" dirty="0">
                <a:solidFill>
                  <a:srgbClr val="000000"/>
                </a:solidFill>
                <a:effectLst/>
              </a:rPr>
              <a:t>$(</a:t>
            </a:r>
            <a:r>
              <a:rPr lang="en-IN" sz="1700" dirty="0">
                <a:solidFill>
                  <a:srgbClr val="005CC5"/>
                </a:solidFill>
                <a:effectLst/>
              </a:rPr>
              <a:t>this</a:t>
            </a:r>
            <a:r>
              <a:rPr lang="en-IN" sz="1700" dirty="0">
                <a:solidFill>
                  <a:srgbClr val="000000"/>
                </a:solidFill>
                <a:effectLst/>
              </a:rPr>
              <a:t>).</a:t>
            </a:r>
            <a:r>
              <a:rPr lang="en-IN" sz="1700" dirty="0" err="1">
                <a:solidFill>
                  <a:srgbClr val="000000"/>
                </a:solidFill>
                <a:effectLst/>
              </a:rPr>
              <a:t>css</a:t>
            </a:r>
            <a:r>
              <a:rPr lang="en-IN" sz="1700" dirty="0">
                <a:solidFill>
                  <a:srgbClr val="000000"/>
                </a:solidFill>
                <a:effectLst/>
              </a:rPr>
              <a:t>(</a:t>
            </a:r>
            <a:r>
              <a:rPr lang="en-IN" sz="1700" dirty="0">
                <a:solidFill>
                  <a:srgbClr val="008000"/>
                </a:solidFill>
                <a:effectLst/>
              </a:rPr>
              <a:t>"background-</a:t>
            </a:r>
            <a:r>
              <a:rPr lang="en-IN" sz="1700" dirty="0" err="1">
                <a:solidFill>
                  <a:srgbClr val="008000"/>
                </a:solidFill>
                <a:effectLst/>
              </a:rPr>
              <a:t>color</a:t>
            </a:r>
            <a:r>
              <a:rPr lang="en-IN" sz="1700" dirty="0">
                <a:solidFill>
                  <a:srgbClr val="008000"/>
                </a:solidFill>
                <a:effectLst/>
              </a:rPr>
              <a:t>"</a:t>
            </a:r>
            <a:r>
              <a:rPr lang="en-IN" sz="1700" dirty="0">
                <a:solidFill>
                  <a:srgbClr val="000000"/>
                </a:solidFill>
                <a:effectLst/>
              </a:rPr>
              <a:t>,</a:t>
            </a:r>
            <a:r>
              <a:rPr lang="en-IN" sz="1700" dirty="0">
                <a:solidFill>
                  <a:srgbClr val="008000"/>
                </a:solidFill>
                <a:effectLst/>
              </a:rPr>
              <a:t>"</a:t>
            </a:r>
            <a:r>
              <a:rPr lang="en-IN" sz="1700" dirty="0" err="1">
                <a:solidFill>
                  <a:srgbClr val="008000"/>
                </a:solidFill>
                <a:effectLst/>
              </a:rPr>
              <a:t>lightgray</a:t>
            </a:r>
            <a:r>
              <a:rPr lang="en-IN" sz="1700" dirty="0">
                <a:solidFill>
                  <a:srgbClr val="008000"/>
                </a:solidFill>
                <a:effectLst/>
              </a:rPr>
              <a:t>"</a:t>
            </a:r>
            <a:r>
              <a:rPr lang="en-IN" sz="1700" dirty="0">
                <a:solidFill>
                  <a:srgbClr val="000000"/>
                </a:solidFill>
                <a:effectLst/>
              </a:rPr>
              <a:t>);</a:t>
            </a:r>
          </a:p>
          <a:p>
            <a:pPr marL="457200" lvl="1" indent="0" algn="just">
              <a:buNone/>
            </a:pPr>
            <a:r>
              <a:rPr lang="en-IN" sz="1700" dirty="0">
                <a:solidFill>
                  <a:srgbClr val="000000"/>
                </a:solidFill>
                <a:effectLst/>
              </a:rPr>
              <a:t>},</a:t>
            </a:r>
          </a:p>
          <a:p>
            <a:pPr marL="457200" lvl="1" indent="0" algn="just">
              <a:buNone/>
            </a:pPr>
            <a:r>
              <a:rPr lang="en-IN" sz="1700" dirty="0" err="1">
                <a:solidFill>
                  <a:srgbClr val="000000"/>
                </a:solidFill>
                <a:effectLst/>
              </a:rPr>
              <a:t>mouseleave:</a:t>
            </a:r>
            <a:r>
              <a:rPr lang="en-IN" sz="1700" dirty="0" err="1">
                <a:solidFill>
                  <a:srgbClr val="005CC5"/>
                </a:solidFill>
                <a:effectLst/>
              </a:rPr>
              <a:t>function</a:t>
            </a:r>
            <a:r>
              <a:rPr lang="en-IN" sz="1700" dirty="0">
                <a:solidFill>
                  <a:srgbClr val="000000"/>
                </a:solidFill>
                <a:effectLst/>
              </a:rPr>
              <a:t>(){</a:t>
            </a:r>
          </a:p>
          <a:p>
            <a:pPr marL="457200" lvl="1" indent="0" algn="just">
              <a:buNone/>
            </a:pPr>
            <a:r>
              <a:rPr lang="en-IN" sz="1700" dirty="0">
                <a:solidFill>
                  <a:srgbClr val="000000"/>
                </a:solidFill>
                <a:effectLst/>
              </a:rPr>
              <a:t>$(</a:t>
            </a:r>
            <a:r>
              <a:rPr lang="en-IN" sz="1700" dirty="0">
                <a:solidFill>
                  <a:srgbClr val="005CC5"/>
                </a:solidFill>
                <a:effectLst/>
              </a:rPr>
              <a:t>this</a:t>
            </a:r>
            <a:r>
              <a:rPr lang="en-IN" sz="1700" dirty="0">
                <a:solidFill>
                  <a:srgbClr val="000000"/>
                </a:solidFill>
                <a:effectLst/>
              </a:rPr>
              <a:t>).</a:t>
            </a:r>
            <a:r>
              <a:rPr lang="en-IN" sz="1700" dirty="0" err="1">
                <a:solidFill>
                  <a:srgbClr val="000000"/>
                </a:solidFill>
                <a:effectLst/>
              </a:rPr>
              <a:t>css</a:t>
            </a:r>
            <a:r>
              <a:rPr lang="en-IN" sz="1700" dirty="0">
                <a:solidFill>
                  <a:srgbClr val="000000"/>
                </a:solidFill>
                <a:effectLst/>
              </a:rPr>
              <a:t>(</a:t>
            </a:r>
            <a:r>
              <a:rPr lang="en-IN" sz="1700" dirty="0">
                <a:solidFill>
                  <a:srgbClr val="008000"/>
                </a:solidFill>
                <a:effectLst/>
              </a:rPr>
              <a:t>"background-</a:t>
            </a:r>
            <a:r>
              <a:rPr lang="en-IN" sz="1700" dirty="0" err="1">
                <a:solidFill>
                  <a:srgbClr val="008000"/>
                </a:solidFill>
                <a:effectLst/>
              </a:rPr>
              <a:t>color</a:t>
            </a:r>
            <a:r>
              <a:rPr lang="en-IN" sz="1700" dirty="0">
                <a:solidFill>
                  <a:srgbClr val="008000"/>
                </a:solidFill>
                <a:effectLst/>
              </a:rPr>
              <a:t>"</a:t>
            </a:r>
            <a:r>
              <a:rPr lang="en-IN" sz="1700" dirty="0">
                <a:solidFill>
                  <a:srgbClr val="000000"/>
                </a:solidFill>
                <a:effectLst/>
              </a:rPr>
              <a:t>,</a:t>
            </a:r>
            <a:r>
              <a:rPr lang="en-IN" sz="1700" dirty="0">
                <a:solidFill>
                  <a:srgbClr val="008000"/>
                </a:solidFill>
                <a:effectLst/>
              </a:rPr>
              <a:t>"</a:t>
            </a:r>
            <a:r>
              <a:rPr lang="en-IN" sz="1700" dirty="0" err="1">
                <a:solidFill>
                  <a:srgbClr val="008000"/>
                </a:solidFill>
                <a:effectLst/>
              </a:rPr>
              <a:t>lightblue</a:t>
            </a:r>
            <a:r>
              <a:rPr lang="en-IN" sz="1700" dirty="0">
                <a:solidFill>
                  <a:srgbClr val="008000"/>
                </a:solidFill>
                <a:effectLst/>
              </a:rPr>
              <a:t>"</a:t>
            </a:r>
            <a:r>
              <a:rPr lang="en-IN" sz="1700" dirty="0">
                <a:solidFill>
                  <a:srgbClr val="000000"/>
                </a:solidFill>
                <a:effectLst/>
              </a:rPr>
              <a:t>);</a:t>
            </a:r>
          </a:p>
          <a:p>
            <a:pPr marL="457200" lvl="1" indent="0" algn="just">
              <a:buNone/>
            </a:pPr>
            <a:r>
              <a:rPr lang="en-IN" sz="1700" dirty="0">
                <a:solidFill>
                  <a:srgbClr val="000000"/>
                </a:solidFill>
                <a:effectLst/>
              </a:rPr>
              <a:t>},</a:t>
            </a:r>
          </a:p>
          <a:p>
            <a:pPr marL="457200" lvl="1" indent="0" algn="just">
              <a:buNone/>
            </a:pPr>
            <a:r>
              <a:rPr lang="en-IN" sz="1700" dirty="0" err="1">
                <a:solidFill>
                  <a:srgbClr val="000000"/>
                </a:solidFill>
                <a:effectLst/>
              </a:rPr>
              <a:t>click:</a:t>
            </a:r>
            <a:r>
              <a:rPr lang="en-IN" sz="1700" dirty="0" err="1">
                <a:solidFill>
                  <a:srgbClr val="005CC5"/>
                </a:solidFill>
                <a:effectLst/>
              </a:rPr>
              <a:t>function</a:t>
            </a:r>
            <a:r>
              <a:rPr lang="en-IN" sz="1700" dirty="0">
                <a:solidFill>
                  <a:srgbClr val="000000"/>
                </a:solidFill>
                <a:effectLst/>
              </a:rPr>
              <a:t>(){</a:t>
            </a:r>
          </a:p>
          <a:p>
            <a:pPr marL="457200" lvl="1" indent="0" algn="just">
              <a:buNone/>
            </a:pPr>
            <a:r>
              <a:rPr lang="en-IN" sz="1700" dirty="0">
                <a:solidFill>
                  <a:srgbClr val="000000"/>
                </a:solidFill>
                <a:effectLst/>
              </a:rPr>
              <a:t>$(</a:t>
            </a:r>
            <a:r>
              <a:rPr lang="en-IN" sz="1700" dirty="0">
                <a:solidFill>
                  <a:srgbClr val="005CC5"/>
                </a:solidFill>
                <a:effectLst/>
              </a:rPr>
              <a:t>this</a:t>
            </a:r>
            <a:r>
              <a:rPr lang="en-IN" sz="1700" dirty="0">
                <a:solidFill>
                  <a:srgbClr val="000000"/>
                </a:solidFill>
                <a:effectLst/>
              </a:rPr>
              <a:t>).</a:t>
            </a:r>
            <a:r>
              <a:rPr lang="en-IN" sz="1700" dirty="0" err="1">
                <a:solidFill>
                  <a:srgbClr val="000000"/>
                </a:solidFill>
                <a:effectLst/>
              </a:rPr>
              <a:t>css</a:t>
            </a:r>
            <a:r>
              <a:rPr lang="en-IN" sz="1700" dirty="0">
                <a:solidFill>
                  <a:srgbClr val="000000"/>
                </a:solidFill>
                <a:effectLst/>
              </a:rPr>
              <a:t>(</a:t>
            </a:r>
            <a:r>
              <a:rPr lang="en-IN" sz="1700" dirty="0">
                <a:solidFill>
                  <a:srgbClr val="008000"/>
                </a:solidFill>
                <a:effectLst/>
              </a:rPr>
              <a:t>"background-</a:t>
            </a:r>
            <a:r>
              <a:rPr lang="en-IN" sz="1700" dirty="0" err="1">
                <a:solidFill>
                  <a:srgbClr val="008000"/>
                </a:solidFill>
                <a:effectLst/>
              </a:rPr>
              <a:t>color</a:t>
            </a:r>
            <a:r>
              <a:rPr lang="en-IN" sz="1700" dirty="0">
                <a:solidFill>
                  <a:srgbClr val="008000"/>
                </a:solidFill>
                <a:effectLst/>
              </a:rPr>
              <a:t>"</a:t>
            </a:r>
            <a:r>
              <a:rPr lang="en-IN" sz="1700" dirty="0">
                <a:solidFill>
                  <a:srgbClr val="000000"/>
                </a:solidFill>
                <a:effectLst/>
              </a:rPr>
              <a:t>,</a:t>
            </a:r>
            <a:r>
              <a:rPr lang="en-IN" sz="1700" dirty="0">
                <a:solidFill>
                  <a:srgbClr val="008000"/>
                </a:solidFill>
                <a:effectLst/>
              </a:rPr>
              <a:t>"yellow"</a:t>
            </a:r>
            <a:r>
              <a:rPr lang="en-IN" sz="1700" dirty="0">
                <a:solidFill>
                  <a:srgbClr val="000000"/>
                </a:solidFill>
                <a:effectLst/>
              </a:rPr>
              <a:t>);</a:t>
            </a:r>
          </a:p>
          <a:p>
            <a:pPr marL="457200" lvl="1" indent="0" algn="just">
              <a:buNone/>
            </a:pPr>
            <a:r>
              <a:rPr lang="en-IN" sz="1700" dirty="0">
                <a:solidFill>
                  <a:srgbClr val="000000"/>
                </a:solidFill>
                <a:effectLst/>
              </a:rPr>
              <a:t>}</a:t>
            </a:r>
          </a:p>
          <a:p>
            <a:pPr marL="457200" lvl="1" indent="0" algn="just">
              <a:buNone/>
            </a:pPr>
            <a:r>
              <a:rPr lang="en-IN" sz="1700" dirty="0">
                <a:solidFill>
                  <a:srgbClr val="000000"/>
                </a:solidFill>
                <a:effectLst/>
              </a:rPr>
              <a:t>}); </a:t>
            </a:r>
            <a:endParaRPr lang="en-US" sz="3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520300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4187-543A-DF02-24E8-3F5BF9F770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27A960-3DB3-D7B2-DB6D-FB0DB73583C4}"/>
              </a:ext>
            </a:extLst>
          </p:cNvPr>
          <p:cNvSpPr>
            <a:spLocks noGrp="1"/>
          </p:cNvSpPr>
          <p:nvPr>
            <p:ph idx="1"/>
          </p:nvPr>
        </p:nvSpPr>
        <p:spPr>
          <a:xfrm>
            <a:off x="838200" y="254524"/>
            <a:ext cx="10515600" cy="6410227"/>
          </a:xfrm>
        </p:spPr>
        <p:txBody>
          <a:bodyPr>
            <a:normAutofit lnSpcReduction="10000"/>
          </a:bodyPr>
          <a:lstStyle/>
          <a:p>
            <a:r>
              <a:rPr lang="en-IN" b="1" dirty="0">
                <a:solidFill>
                  <a:srgbClr val="FF0000"/>
                </a:solidFill>
              </a:rPr>
              <a:t>jQuery Effects</a:t>
            </a:r>
            <a:endParaRPr lang="en-US" dirty="0">
              <a:solidFill>
                <a:srgbClr val="FF0000"/>
              </a:solidFill>
            </a:endParaRPr>
          </a:p>
          <a:p>
            <a:pPr algn="just"/>
            <a:r>
              <a:rPr lang="en-US" sz="2400" dirty="0">
                <a:solidFill>
                  <a:srgbClr val="FF3399"/>
                </a:solidFill>
              </a:rPr>
              <a:t>Hide, Show, Toggle, Slide, Fade, and Animate</a:t>
            </a:r>
            <a:r>
              <a:rPr lang="en-US" sz="2400" dirty="0"/>
              <a:t>.</a:t>
            </a:r>
          </a:p>
          <a:p>
            <a:r>
              <a:rPr lang="en-US" sz="2400" b="1" dirty="0"/>
              <a:t>jQuery hide() and show()</a:t>
            </a:r>
          </a:p>
          <a:p>
            <a:r>
              <a:rPr lang="en-US" sz="2400" dirty="0"/>
              <a:t>With jQuery, you can hide and show HTML elements with the </a:t>
            </a:r>
            <a:r>
              <a:rPr lang="en-US" dirty="0">
                <a:solidFill>
                  <a:srgbClr val="FF0000"/>
                </a:solidFill>
              </a:rPr>
              <a:t>hide()</a:t>
            </a:r>
            <a:r>
              <a:rPr lang="en-US" sz="2400" dirty="0">
                <a:solidFill>
                  <a:srgbClr val="FF0000"/>
                </a:solidFill>
              </a:rPr>
              <a:t> </a:t>
            </a:r>
            <a:r>
              <a:rPr lang="en-US" sz="2400" dirty="0"/>
              <a:t>and </a:t>
            </a:r>
            <a:r>
              <a:rPr lang="en-US" dirty="0">
                <a:solidFill>
                  <a:srgbClr val="FF0000"/>
                </a:solidFill>
              </a:rPr>
              <a:t>show()</a:t>
            </a:r>
            <a:r>
              <a:rPr lang="en-US" sz="2400" dirty="0">
                <a:solidFill>
                  <a:srgbClr val="FF0000"/>
                </a:solidFill>
              </a:rPr>
              <a:t> </a:t>
            </a:r>
            <a:r>
              <a:rPr lang="en-US" sz="2400" dirty="0"/>
              <a:t>methods.</a:t>
            </a:r>
          </a:p>
          <a:p>
            <a:pPr algn="just"/>
            <a:r>
              <a:rPr lang="en-IN" sz="2400" b="1" dirty="0"/>
              <a:t>Syntax:</a:t>
            </a:r>
            <a:endParaRPr lang="en-US" sz="2400" b="1" dirty="0"/>
          </a:p>
          <a:p>
            <a:pPr lvl="1" algn="just"/>
            <a:r>
              <a:rPr lang="en-US" dirty="0"/>
              <a:t>$(</a:t>
            </a:r>
            <a:r>
              <a:rPr lang="en-US" i="1" dirty="0"/>
              <a:t>selector</a:t>
            </a:r>
            <a:r>
              <a:rPr lang="en-US" dirty="0"/>
              <a:t>).hide(</a:t>
            </a:r>
            <a:r>
              <a:rPr lang="en-US" i="1" dirty="0" err="1"/>
              <a:t>speed,callback</a:t>
            </a:r>
            <a:r>
              <a:rPr lang="en-US" dirty="0"/>
              <a:t>);</a:t>
            </a:r>
          </a:p>
          <a:p>
            <a:pPr lvl="1" algn="just"/>
            <a:r>
              <a:rPr lang="en-US" dirty="0"/>
              <a:t>$(</a:t>
            </a:r>
            <a:r>
              <a:rPr lang="en-US" i="1" dirty="0"/>
              <a:t>selector</a:t>
            </a:r>
            <a:r>
              <a:rPr lang="en-US" dirty="0"/>
              <a:t>).show(</a:t>
            </a:r>
            <a:r>
              <a:rPr lang="en-US" i="1" dirty="0" err="1"/>
              <a:t>speed,callback</a:t>
            </a:r>
            <a:r>
              <a:rPr lang="en-US" dirty="0"/>
              <a:t>); </a:t>
            </a:r>
            <a:endParaRPr lang="en-US" sz="2000" dirty="0"/>
          </a:p>
          <a:p>
            <a:r>
              <a:rPr lang="en-US" sz="2400" dirty="0"/>
              <a:t>The optional speed parameter specifies the speed of the hiding/showing, and can take the following values: "slow", "fast", or milliseconds.</a:t>
            </a:r>
          </a:p>
          <a:p>
            <a:r>
              <a:rPr lang="en-US" sz="2400" dirty="0"/>
              <a:t>The optional callback parameter is a function to be executed after the </a:t>
            </a:r>
            <a:r>
              <a:rPr lang="en-US" dirty="0"/>
              <a:t>hide()</a:t>
            </a:r>
            <a:r>
              <a:rPr lang="en-US" sz="2400" dirty="0"/>
              <a:t> or </a:t>
            </a:r>
            <a:r>
              <a:rPr lang="en-US" dirty="0"/>
              <a:t>show()</a:t>
            </a:r>
            <a:r>
              <a:rPr lang="en-US" sz="2400" dirty="0"/>
              <a:t> method completes.</a:t>
            </a:r>
          </a:p>
          <a:p>
            <a:pPr algn="just"/>
            <a:r>
              <a:rPr lang="en-IN" sz="2400" b="1" dirty="0"/>
              <a:t>jQuery toggle()</a:t>
            </a:r>
          </a:p>
          <a:p>
            <a:pPr algn="just"/>
            <a:r>
              <a:rPr lang="en-US" sz="2400" dirty="0"/>
              <a:t>You can also toggle between hiding and showing an element with the </a:t>
            </a:r>
            <a:r>
              <a:rPr lang="en-US" dirty="0"/>
              <a:t>toggle()</a:t>
            </a:r>
            <a:r>
              <a:rPr lang="en-US" sz="2400" dirty="0"/>
              <a:t> method.</a:t>
            </a:r>
          </a:p>
          <a:p>
            <a:pPr lvl="1" algn="just"/>
            <a:r>
              <a:rPr lang="en-IN" dirty="0"/>
              <a:t>$(</a:t>
            </a:r>
            <a:r>
              <a:rPr lang="en-IN" i="1" dirty="0"/>
              <a:t>selector</a:t>
            </a:r>
            <a:r>
              <a:rPr lang="en-IN" dirty="0"/>
              <a:t>).toggle(</a:t>
            </a:r>
            <a:r>
              <a:rPr lang="en-IN" i="1" dirty="0" err="1"/>
              <a:t>speed,callback</a:t>
            </a:r>
            <a:r>
              <a:rPr lang="en-IN" dirty="0"/>
              <a:t>); </a:t>
            </a:r>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797138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6A1D7-ABF8-B1DE-1A76-B18B864D64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CEB9C9-C55C-0765-E386-8F91F76F5674}"/>
              </a:ext>
            </a:extLst>
          </p:cNvPr>
          <p:cNvSpPr>
            <a:spLocks noGrp="1"/>
          </p:cNvSpPr>
          <p:nvPr>
            <p:ph idx="1"/>
          </p:nvPr>
        </p:nvSpPr>
        <p:spPr>
          <a:xfrm>
            <a:off x="838200" y="254524"/>
            <a:ext cx="10515600" cy="6410227"/>
          </a:xfrm>
        </p:spPr>
        <p:txBody>
          <a:bodyPr/>
          <a:lstStyle/>
          <a:p>
            <a:r>
              <a:rPr lang="en-IN" b="1" dirty="0"/>
              <a:t>jQuery Effects - Fading</a:t>
            </a:r>
          </a:p>
          <a:p>
            <a:pPr algn="just"/>
            <a:r>
              <a:rPr lang="en-IN" sz="2400" b="1" dirty="0"/>
              <a:t>jQuery Fading Methods</a:t>
            </a:r>
          </a:p>
          <a:p>
            <a:pPr algn="just"/>
            <a:r>
              <a:rPr lang="en-US" sz="2400" dirty="0"/>
              <a:t>With jQuery you can fade an element in and out of visibility</a:t>
            </a:r>
          </a:p>
          <a:p>
            <a:pPr algn="just"/>
            <a:r>
              <a:rPr lang="en-US" sz="2400" dirty="0"/>
              <a:t>jQuery has the following fade methods:</a:t>
            </a:r>
          </a:p>
          <a:p>
            <a:pPr lvl="1"/>
            <a:r>
              <a:rPr lang="en-IN" sz="2000" dirty="0" err="1">
                <a:solidFill>
                  <a:srgbClr val="FF3399"/>
                </a:solidFill>
                <a:latin typeface="Courier New" panose="02070309020205020404" pitchFamily="49" charset="0"/>
              </a:rPr>
              <a:t>fadeIn</a:t>
            </a:r>
            <a:r>
              <a:rPr lang="en-IN" sz="2000" dirty="0">
                <a:solidFill>
                  <a:srgbClr val="FF3399"/>
                </a:solidFill>
                <a:latin typeface="Courier New" panose="02070309020205020404" pitchFamily="49" charset="0"/>
              </a:rPr>
              <a:t>()	</a:t>
            </a:r>
            <a:endParaRPr lang="en-IN" sz="2000" dirty="0">
              <a:solidFill>
                <a:srgbClr val="FF3399"/>
              </a:solidFill>
            </a:endParaRPr>
          </a:p>
          <a:p>
            <a:pPr lvl="1"/>
            <a:r>
              <a:rPr lang="en-IN" sz="2000" dirty="0" err="1">
                <a:solidFill>
                  <a:srgbClr val="FF3399"/>
                </a:solidFill>
                <a:latin typeface="Courier New" panose="02070309020205020404" pitchFamily="49" charset="0"/>
              </a:rPr>
              <a:t>fadeOut</a:t>
            </a:r>
            <a:r>
              <a:rPr lang="en-IN" sz="2000" dirty="0">
                <a:solidFill>
                  <a:srgbClr val="FF3399"/>
                </a:solidFill>
                <a:latin typeface="Courier New" panose="02070309020205020404" pitchFamily="49" charset="0"/>
              </a:rPr>
              <a:t>()</a:t>
            </a:r>
            <a:endParaRPr lang="en-IN" sz="2000" dirty="0">
              <a:solidFill>
                <a:srgbClr val="FF3399"/>
              </a:solidFill>
            </a:endParaRPr>
          </a:p>
          <a:p>
            <a:pPr lvl="1"/>
            <a:r>
              <a:rPr lang="en-IN" sz="2000" dirty="0" err="1">
                <a:solidFill>
                  <a:srgbClr val="FF3399"/>
                </a:solidFill>
                <a:latin typeface="Courier New" panose="02070309020205020404" pitchFamily="49" charset="0"/>
              </a:rPr>
              <a:t>fadeToggle</a:t>
            </a:r>
            <a:r>
              <a:rPr lang="en-IN" sz="2000" dirty="0">
                <a:solidFill>
                  <a:srgbClr val="FF3399"/>
                </a:solidFill>
                <a:latin typeface="Courier New" panose="02070309020205020404" pitchFamily="49" charset="0"/>
              </a:rPr>
              <a:t>()</a:t>
            </a:r>
            <a:endParaRPr lang="en-IN" sz="2000" dirty="0">
              <a:solidFill>
                <a:srgbClr val="FF3399"/>
              </a:solidFill>
            </a:endParaRPr>
          </a:p>
          <a:p>
            <a:pPr lvl="1"/>
            <a:r>
              <a:rPr lang="en-IN" sz="2000" dirty="0" err="1">
                <a:solidFill>
                  <a:srgbClr val="FF3399"/>
                </a:solidFill>
                <a:latin typeface="Courier New" panose="02070309020205020404" pitchFamily="49" charset="0"/>
              </a:rPr>
              <a:t>fadeTo</a:t>
            </a:r>
            <a:r>
              <a:rPr lang="en-IN" sz="2000" dirty="0">
                <a:solidFill>
                  <a:srgbClr val="FF3399"/>
                </a:solidFill>
                <a:latin typeface="Courier New" panose="02070309020205020404" pitchFamily="49" charset="0"/>
              </a:rPr>
              <a:t>()</a:t>
            </a:r>
            <a:endParaRPr lang="en-IN" sz="2000" dirty="0">
              <a:solidFill>
                <a:srgbClr val="FF3399"/>
              </a:solidFill>
            </a:endParaRPr>
          </a:p>
          <a:p>
            <a:pPr algn="just"/>
            <a:r>
              <a:rPr lang="en-IN" sz="2400" dirty="0"/>
              <a:t>$(</a:t>
            </a:r>
            <a:r>
              <a:rPr lang="en-IN" sz="2400" i="1" dirty="0"/>
              <a:t>selector</a:t>
            </a:r>
            <a:r>
              <a:rPr lang="en-IN" sz="2400" dirty="0"/>
              <a:t>).</a:t>
            </a:r>
            <a:r>
              <a:rPr lang="en-IN" sz="2400" dirty="0" err="1"/>
              <a:t>fadeIn</a:t>
            </a:r>
            <a:r>
              <a:rPr lang="en-IN" sz="2400" dirty="0"/>
              <a:t>(</a:t>
            </a:r>
            <a:r>
              <a:rPr lang="en-IN" sz="2400" i="1" dirty="0" err="1"/>
              <a:t>speed,callback</a:t>
            </a:r>
            <a:r>
              <a:rPr lang="en-IN" sz="2400" dirty="0"/>
              <a:t>);</a:t>
            </a: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id="{1D5C0FFB-68B2-C533-B81D-D45CF3BFCD2F}"/>
              </a:ext>
            </a:extLst>
          </p:cNvPr>
          <p:cNvPicPr>
            <a:picLocks noChangeAspect="1"/>
          </p:cNvPicPr>
          <p:nvPr/>
        </p:nvPicPr>
        <p:blipFill>
          <a:blip r:embed="rId2"/>
          <a:stretch>
            <a:fillRect/>
          </a:stretch>
        </p:blipFill>
        <p:spPr>
          <a:xfrm>
            <a:off x="7915529" y="3241346"/>
            <a:ext cx="3105583" cy="1495634"/>
          </a:xfrm>
          <a:prstGeom prst="rect">
            <a:avLst/>
          </a:prstGeom>
        </p:spPr>
      </p:pic>
      <p:pic>
        <p:nvPicPr>
          <p:cNvPr id="6" name="Picture 5">
            <a:extLst>
              <a:ext uri="{FF2B5EF4-FFF2-40B4-BE49-F238E27FC236}">
                <a16:creationId xmlns:a16="http://schemas.microsoft.com/office/drawing/2014/main" id="{38754CCA-3490-3C8C-28EF-989FA67237FC}"/>
              </a:ext>
            </a:extLst>
          </p:cNvPr>
          <p:cNvPicPr>
            <a:picLocks noChangeAspect="1"/>
          </p:cNvPicPr>
          <p:nvPr/>
        </p:nvPicPr>
        <p:blipFill>
          <a:blip r:embed="rId3"/>
          <a:stretch>
            <a:fillRect/>
          </a:stretch>
        </p:blipFill>
        <p:spPr>
          <a:xfrm>
            <a:off x="8855722" y="1313575"/>
            <a:ext cx="3153215" cy="1524213"/>
          </a:xfrm>
          <a:prstGeom prst="rect">
            <a:avLst/>
          </a:prstGeom>
        </p:spPr>
      </p:pic>
      <p:pic>
        <p:nvPicPr>
          <p:cNvPr id="8" name="Picture 7">
            <a:extLst>
              <a:ext uri="{FF2B5EF4-FFF2-40B4-BE49-F238E27FC236}">
                <a16:creationId xmlns:a16="http://schemas.microsoft.com/office/drawing/2014/main" id="{65C33F77-807F-A2A6-8F47-532D4ADC4EEB}"/>
              </a:ext>
            </a:extLst>
          </p:cNvPr>
          <p:cNvPicPr>
            <a:picLocks noChangeAspect="1"/>
          </p:cNvPicPr>
          <p:nvPr/>
        </p:nvPicPr>
        <p:blipFill>
          <a:blip r:embed="rId4"/>
          <a:stretch>
            <a:fillRect/>
          </a:stretch>
        </p:blipFill>
        <p:spPr>
          <a:xfrm>
            <a:off x="4276471" y="4574377"/>
            <a:ext cx="3639058" cy="1505160"/>
          </a:xfrm>
          <a:prstGeom prst="rect">
            <a:avLst/>
          </a:prstGeom>
        </p:spPr>
      </p:pic>
      <p:pic>
        <p:nvPicPr>
          <p:cNvPr id="10" name="Picture 9">
            <a:extLst>
              <a:ext uri="{FF2B5EF4-FFF2-40B4-BE49-F238E27FC236}">
                <a16:creationId xmlns:a16="http://schemas.microsoft.com/office/drawing/2014/main" id="{5FF671C4-7EC9-00AD-5C92-1828B4F8C330}"/>
              </a:ext>
            </a:extLst>
          </p:cNvPr>
          <p:cNvPicPr>
            <a:picLocks noChangeAspect="1"/>
          </p:cNvPicPr>
          <p:nvPr/>
        </p:nvPicPr>
        <p:blipFill>
          <a:blip r:embed="rId5"/>
          <a:stretch>
            <a:fillRect/>
          </a:stretch>
        </p:blipFill>
        <p:spPr>
          <a:xfrm>
            <a:off x="971470" y="5398214"/>
            <a:ext cx="3534268" cy="1448002"/>
          </a:xfrm>
          <a:prstGeom prst="rect">
            <a:avLst/>
          </a:prstGeom>
        </p:spPr>
      </p:pic>
    </p:spTree>
    <p:extLst>
      <p:ext uri="{BB962C8B-B14F-4D97-AF65-F5344CB8AC3E}">
        <p14:creationId xmlns:p14="http://schemas.microsoft.com/office/powerpoint/2010/main" val="90868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F48D1-E0B9-90E6-54F0-1693985E95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8FF566-385D-BC1F-133A-A1EA53B9889D}"/>
              </a:ext>
            </a:extLst>
          </p:cNvPr>
          <p:cNvSpPr>
            <a:spLocks noGrp="1"/>
          </p:cNvSpPr>
          <p:nvPr>
            <p:ph idx="1"/>
          </p:nvPr>
        </p:nvSpPr>
        <p:spPr>
          <a:xfrm>
            <a:off x="838200" y="254524"/>
            <a:ext cx="10515600" cy="6410227"/>
          </a:xfrm>
        </p:spPr>
        <p:txBody>
          <a:bodyPr>
            <a:normAutofit/>
          </a:bodyPr>
          <a:lstStyle/>
          <a:p>
            <a:r>
              <a:rPr lang="en-IN" b="1" dirty="0"/>
              <a:t>jQuery Effects - Sliding</a:t>
            </a:r>
            <a:endParaRPr lang="en-US" dirty="0"/>
          </a:p>
          <a:p>
            <a:r>
              <a:rPr lang="en-US" sz="2400" dirty="0"/>
              <a:t>With jQuery you can create a sliding effect on elements.</a:t>
            </a:r>
          </a:p>
          <a:p>
            <a:r>
              <a:rPr lang="en-US" sz="2400" dirty="0"/>
              <a:t>jQuery has the following slide methods:</a:t>
            </a:r>
          </a:p>
          <a:p>
            <a:pPr lvl="1"/>
            <a:r>
              <a:rPr lang="en-US" dirty="0" err="1">
                <a:solidFill>
                  <a:srgbClr val="FF3399"/>
                </a:solidFill>
              </a:rPr>
              <a:t>slideDown</a:t>
            </a:r>
            <a:r>
              <a:rPr lang="en-US" dirty="0">
                <a:solidFill>
                  <a:srgbClr val="FF3399"/>
                </a:solidFill>
              </a:rPr>
              <a:t>()</a:t>
            </a:r>
            <a:endParaRPr lang="en-US" sz="2000" dirty="0">
              <a:solidFill>
                <a:srgbClr val="FF3399"/>
              </a:solidFill>
            </a:endParaRPr>
          </a:p>
          <a:p>
            <a:pPr lvl="1"/>
            <a:r>
              <a:rPr lang="en-US" dirty="0" err="1">
                <a:solidFill>
                  <a:srgbClr val="FF3399"/>
                </a:solidFill>
              </a:rPr>
              <a:t>slideUp</a:t>
            </a:r>
            <a:r>
              <a:rPr lang="en-US" dirty="0">
                <a:solidFill>
                  <a:srgbClr val="FF3399"/>
                </a:solidFill>
              </a:rPr>
              <a:t>()</a:t>
            </a:r>
            <a:endParaRPr lang="en-US" sz="2000" dirty="0">
              <a:solidFill>
                <a:srgbClr val="FF3399"/>
              </a:solidFill>
            </a:endParaRPr>
          </a:p>
          <a:p>
            <a:pPr lvl="1"/>
            <a:r>
              <a:rPr lang="en-US" dirty="0" err="1">
                <a:solidFill>
                  <a:srgbClr val="FF3399"/>
                </a:solidFill>
              </a:rPr>
              <a:t>slideToggle</a:t>
            </a:r>
            <a:r>
              <a:rPr lang="en-US" dirty="0">
                <a:solidFill>
                  <a:srgbClr val="FF3399"/>
                </a:solidFill>
              </a:rPr>
              <a:t>()</a:t>
            </a:r>
            <a:endParaRPr lang="en-US" sz="2000" dirty="0">
              <a:solidFill>
                <a:srgbClr val="FF3399"/>
              </a:solidFill>
            </a:endParaRPr>
          </a:p>
          <a:p>
            <a:pPr algn="just"/>
            <a:r>
              <a:rPr lang="en-IN" sz="2400" b="1" dirty="0"/>
              <a:t>jQuery </a:t>
            </a:r>
            <a:r>
              <a:rPr lang="en-IN" sz="2400" b="1" dirty="0" err="1"/>
              <a:t>slideDown</a:t>
            </a:r>
            <a:r>
              <a:rPr lang="en-IN" sz="2400" b="1" dirty="0"/>
              <a:t>() Method</a:t>
            </a:r>
          </a:p>
          <a:p>
            <a:pPr lvl="1" algn="just"/>
            <a:r>
              <a:rPr lang="en-US" sz="2000" dirty="0"/>
              <a:t>The jQuery </a:t>
            </a:r>
            <a:r>
              <a:rPr lang="en-US" dirty="0" err="1"/>
              <a:t>slideDown</a:t>
            </a:r>
            <a:r>
              <a:rPr lang="en-US" dirty="0"/>
              <a:t>()</a:t>
            </a:r>
            <a:r>
              <a:rPr lang="en-US" sz="2000" dirty="0"/>
              <a:t> method is used to slide down an element.</a:t>
            </a:r>
          </a:p>
          <a:p>
            <a:r>
              <a:rPr lang="en-US" sz="2400" b="1" dirty="0"/>
              <a:t>Syntax: </a:t>
            </a:r>
            <a:r>
              <a:rPr lang="en-US" sz="2400" dirty="0"/>
              <a:t>$(</a:t>
            </a:r>
            <a:r>
              <a:rPr lang="en-US" sz="2400" i="1" dirty="0"/>
              <a:t>selector</a:t>
            </a:r>
            <a:r>
              <a:rPr lang="en-US" sz="2400" dirty="0"/>
              <a:t>).</a:t>
            </a:r>
            <a:r>
              <a:rPr lang="en-US" sz="2400" dirty="0" err="1"/>
              <a:t>slideDown</a:t>
            </a:r>
            <a:r>
              <a:rPr lang="en-US" sz="2400" dirty="0"/>
              <a:t>(</a:t>
            </a:r>
            <a:r>
              <a:rPr lang="en-US" sz="2400" i="1" dirty="0" err="1"/>
              <a:t>speed,callback</a:t>
            </a:r>
            <a:r>
              <a:rPr lang="en-US" sz="2400" dirty="0"/>
              <a:t>);</a:t>
            </a:r>
          </a:p>
          <a:p>
            <a:pPr marL="457200" lvl="1" indent="0">
              <a:buNone/>
            </a:pPr>
            <a:r>
              <a:rPr lang="en-US" sz="2000" dirty="0">
                <a:solidFill>
                  <a:srgbClr val="000000"/>
                </a:solidFill>
                <a:effectLst/>
              </a:rPr>
              <a:t>$(</a:t>
            </a:r>
            <a:r>
              <a:rPr lang="en-US" sz="2000" dirty="0">
                <a:solidFill>
                  <a:srgbClr val="008000"/>
                </a:solidFill>
                <a:effectLst/>
              </a:rPr>
              <a:t>"#flip"</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  $(</a:t>
            </a:r>
            <a:r>
              <a:rPr lang="en-US" sz="2000" dirty="0">
                <a:solidFill>
                  <a:srgbClr val="008000"/>
                </a:solidFill>
                <a:effectLst/>
              </a:rPr>
              <a:t>"#panel"</a:t>
            </a:r>
            <a:r>
              <a:rPr lang="en-US" sz="2000" dirty="0">
                <a:solidFill>
                  <a:srgbClr val="000000"/>
                </a:solidFill>
                <a:effectLst/>
              </a:rPr>
              <a:t>).</a:t>
            </a:r>
            <a:r>
              <a:rPr lang="en-US" sz="2000" dirty="0" err="1">
                <a:solidFill>
                  <a:srgbClr val="000000"/>
                </a:solidFill>
                <a:effectLst/>
              </a:rPr>
              <a:t>slideDown</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a:t>
            </a:r>
            <a:endParaRPr lang="en-US" sz="3600" dirty="0"/>
          </a:p>
          <a:p>
            <a:pPr algn="just"/>
            <a:r>
              <a:rPr lang="en-IN" sz="2400" b="1" dirty="0"/>
              <a:t>jQuery </a:t>
            </a:r>
            <a:r>
              <a:rPr lang="en-IN" sz="2400" b="1" dirty="0" err="1"/>
              <a:t>slideUp</a:t>
            </a:r>
            <a:r>
              <a:rPr lang="en-IN" sz="2400" b="1" dirty="0"/>
              <a:t>() Method</a:t>
            </a:r>
          </a:p>
          <a:p>
            <a:pPr lvl="1" algn="just"/>
            <a:r>
              <a:rPr lang="en-US" sz="2000" dirty="0"/>
              <a:t>The jQuery </a:t>
            </a:r>
            <a:r>
              <a:rPr lang="en-US" dirty="0" err="1"/>
              <a:t>slideUp</a:t>
            </a:r>
            <a:r>
              <a:rPr lang="en-US" dirty="0"/>
              <a:t>()</a:t>
            </a:r>
            <a:r>
              <a:rPr lang="en-US" sz="2000" dirty="0"/>
              <a:t> method is used to slide up an element.</a:t>
            </a:r>
          </a:p>
          <a:p>
            <a:r>
              <a:rPr lang="en-US" sz="2400" b="1" dirty="0"/>
              <a:t>Syntax: </a:t>
            </a:r>
            <a:r>
              <a:rPr lang="en-US" sz="2400" dirty="0"/>
              <a:t>(</a:t>
            </a:r>
            <a:r>
              <a:rPr lang="en-US" sz="2400" i="1" dirty="0"/>
              <a:t>selector</a:t>
            </a:r>
            <a:r>
              <a:rPr lang="en-US" sz="2400" dirty="0"/>
              <a:t>).</a:t>
            </a:r>
            <a:r>
              <a:rPr lang="en-US" sz="2400" dirty="0" err="1"/>
              <a:t>slideUp</a:t>
            </a:r>
            <a:r>
              <a:rPr lang="en-US" sz="2400" dirty="0"/>
              <a:t>(</a:t>
            </a:r>
            <a:r>
              <a:rPr lang="en-US" sz="2400" i="1" dirty="0" err="1"/>
              <a:t>speed,callback</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949405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EBCCE-AC2E-60DD-3BA6-9D7ED728D4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51156E-B37B-EA4E-FA15-0077B713B798}"/>
              </a:ext>
            </a:extLst>
          </p:cNvPr>
          <p:cNvSpPr>
            <a:spLocks noGrp="1"/>
          </p:cNvSpPr>
          <p:nvPr>
            <p:ph idx="1"/>
          </p:nvPr>
        </p:nvSpPr>
        <p:spPr>
          <a:xfrm>
            <a:off x="838200" y="254524"/>
            <a:ext cx="10515600" cy="6410227"/>
          </a:xfrm>
        </p:spPr>
        <p:txBody>
          <a:bodyPr/>
          <a:lstStyle/>
          <a:p>
            <a:r>
              <a:rPr lang="en-US" dirty="0"/>
              <a:t>Continued…</a:t>
            </a:r>
          </a:p>
          <a:p>
            <a:pPr algn="just"/>
            <a:r>
              <a:rPr lang="en-IN" sz="2400" b="1" dirty="0"/>
              <a:t>jQuery </a:t>
            </a:r>
            <a:r>
              <a:rPr lang="en-IN" sz="2400" b="1" dirty="0" err="1"/>
              <a:t>slideToggle</a:t>
            </a:r>
            <a:r>
              <a:rPr lang="en-IN" sz="2400" b="1" dirty="0"/>
              <a:t>() Method</a:t>
            </a:r>
          </a:p>
          <a:p>
            <a:pPr lvl="1"/>
            <a:r>
              <a:rPr lang="en-US" sz="2000" dirty="0"/>
              <a:t>The jQuery </a:t>
            </a:r>
            <a:r>
              <a:rPr lang="en-US" dirty="0" err="1"/>
              <a:t>slideToggle</a:t>
            </a:r>
            <a:r>
              <a:rPr lang="en-US" dirty="0"/>
              <a:t>()</a:t>
            </a:r>
            <a:r>
              <a:rPr lang="en-US" sz="2000" dirty="0"/>
              <a:t> method toggles between the </a:t>
            </a:r>
            <a:r>
              <a:rPr lang="en-US" dirty="0" err="1"/>
              <a:t>slideDown</a:t>
            </a:r>
            <a:r>
              <a:rPr lang="en-US" dirty="0"/>
              <a:t>()</a:t>
            </a:r>
            <a:r>
              <a:rPr lang="en-US" sz="2000" dirty="0"/>
              <a:t> and </a:t>
            </a:r>
            <a:r>
              <a:rPr lang="en-US" dirty="0" err="1"/>
              <a:t>slideUp</a:t>
            </a:r>
            <a:r>
              <a:rPr lang="en-US" dirty="0"/>
              <a:t>()</a:t>
            </a:r>
            <a:r>
              <a:rPr lang="en-US" sz="2000" dirty="0"/>
              <a:t> methods.</a:t>
            </a:r>
          </a:p>
          <a:p>
            <a:pPr lvl="1"/>
            <a:r>
              <a:rPr lang="en-US" sz="2000" dirty="0"/>
              <a:t>If the elements have been slid down, </a:t>
            </a:r>
            <a:r>
              <a:rPr lang="en-US" dirty="0" err="1"/>
              <a:t>slideToggle</a:t>
            </a:r>
            <a:r>
              <a:rPr lang="en-US" dirty="0"/>
              <a:t>()</a:t>
            </a:r>
            <a:r>
              <a:rPr lang="en-US" sz="2000" dirty="0"/>
              <a:t> will slide them up.</a:t>
            </a:r>
          </a:p>
          <a:p>
            <a:pPr lvl="1"/>
            <a:r>
              <a:rPr lang="en-US" sz="2000" dirty="0"/>
              <a:t>If the elements have been slid up, </a:t>
            </a:r>
            <a:r>
              <a:rPr lang="en-US" dirty="0" err="1"/>
              <a:t>slideToggle</a:t>
            </a:r>
            <a:r>
              <a:rPr lang="en-US" dirty="0"/>
              <a:t>()</a:t>
            </a:r>
            <a:r>
              <a:rPr lang="en-US" sz="2000" dirty="0"/>
              <a:t> will slide them down. </a:t>
            </a:r>
          </a:p>
          <a:p>
            <a:pPr algn="just"/>
            <a:r>
              <a:rPr lang="en-IN" sz="2400" dirty="0"/>
              <a:t>$(</a:t>
            </a:r>
            <a:r>
              <a:rPr lang="en-IN" sz="2400" i="1" dirty="0"/>
              <a:t>selector</a:t>
            </a:r>
            <a:r>
              <a:rPr lang="en-IN" sz="2400" dirty="0"/>
              <a:t>).</a:t>
            </a:r>
            <a:r>
              <a:rPr lang="en-IN" sz="2400" dirty="0" err="1"/>
              <a:t>slideToggle</a:t>
            </a:r>
            <a:r>
              <a:rPr lang="en-IN" sz="2400" dirty="0"/>
              <a:t>(</a:t>
            </a:r>
            <a:r>
              <a:rPr lang="en-IN" sz="2400" i="1" dirty="0" err="1"/>
              <a:t>speed,callback</a:t>
            </a:r>
            <a:r>
              <a:rPr lang="en-IN" sz="2400" dirty="0"/>
              <a:t>);</a:t>
            </a:r>
            <a:endParaRPr lang="en-US" sz="2400" dirty="0"/>
          </a:p>
          <a:p>
            <a:pPr marL="457200" lvl="1" indent="0" algn="just">
              <a:buNone/>
            </a:pPr>
            <a:r>
              <a:rPr lang="en-US" sz="2000" dirty="0">
                <a:solidFill>
                  <a:srgbClr val="000000"/>
                </a:solidFill>
                <a:effectLst/>
              </a:rPr>
              <a:t>$(</a:t>
            </a:r>
            <a:r>
              <a:rPr lang="en-US" sz="2000" dirty="0">
                <a:solidFill>
                  <a:srgbClr val="008000"/>
                </a:solidFill>
                <a:effectLst/>
              </a:rPr>
              <a:t>"#flip"</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rPr>
              <a:t>	</a:t>
            </a:r>
            <a:r>
              <a:rPr lang="en-US" sz="2000" dirty="0">
                <a:solidFill>
                  <a:srgbClr val="000000"/>
                </a:solidFill>
                <a:effectLst/>
              </a:rPr>
              <a:t>$(</a:t>
            </a:r>
            <a:r>
              <a:rPr lang="en-US" sz="2000" dirty="0">
                <a:solidFill>
                  <a:srgbClr val="008000"/>
                </a:solidFill>
                <a:effectLst/>
              </a:rPr>
              <a:t>"#panel"</a:t>
            </a:r>
            <a:r>
              <a:rPr lang="en-US" sz="2000" dirty="0">
                <a:solidFill>
                  <a:srgbClr val="000000"/>
                </a:solidFill>
                <a:effectLst/>
              </a:rPr>
              <a:t>).</a:t>
            </a:r>
            <a:r>
              <a:rPr lang="en-US" sz="2000" dirty="0" err="1">
                <a:solidFill>
                  <a:srgbClr val="000000"/>
                </a:solidFill>
                <a:effectLst/>
              </a:rPr>
              <a:t>slideToggle</a:t>
            </a:r>
            <a:r>
              <a:rPr lang="en-US" sz="2000" dirty="0">
                <a:solidFill>
                  <a:srgbClr val="000000"/>
                </a:solidFill>
                <a:effectLst/>
              </a:rPr>
              <a:t>();</a:t>
            </a:r>
          </a:p>
          <a:p>
            <a:pPr marL="457200" lvl="1" indent="0" algn="just">
              <a:buNone/>
            </a:pP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543581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6A53-15AB-4476-E433-D7198EBFF0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2CCCD1-8C28-62AD-D455-C2908FA18EBA}"/>
              </a:ext>
            </a:extLst>
          </p:cNvPr>
          <p:cNvSpPr>
            <a:spLocks noGrp="1"/>
          </p:cNvSpPr>
          <p:nvPr>
            <p:ph idx="1"/>
          </p:nvPr>
        </p:nvSpPr>
        <p:spPr>
          <a:xfrm>
            <a:off x="838200" y="254524"/>
            <a:ext cx="10515600" cy="6410227"/>
          </a:xfrm>
        </p:spPr>
        <p:txBody>
          <a:bodyPr>
            <a:normAutofit lnSpcReduction="10000"/>
          </a:bodyPr>
          <a:lstStyle/>
          <a:p>
            <a:r>
              <a:rPr lang="en-IN" b="1" dirty="0"/>
              <a:t>jQuery Effects - Animation</a:t>
            </a:r>
            <a:endParaRPr lang="en-US" dirty="0"/>
          </a:p>
          <a:p>
            <a:pPr algn="just"/>
            <a:r>
              <a:rPr lang="en-US" sz="2400" dirty="0"/>
              <a:t>The jQuery </a:t>
            </a:r>
            <a:r>
              <a:rPr lang="en-US" dirty="0">
                <a:solidFill>
                  <a:srgbClr val="FF3399"/>
                </a:solidFill>
              </a:rPr>
              <a:t>animate()</a:t>
            </a:r>
            <a:r>
              <a:rPr lang="en-US" sz="2400" dirty="0">
                <a:solidFill>
                  <a:srgbClr val="FF3399"/>
                </a:solidFill>
              </a:rPr>
              <a:t> </a:t>
            </a:r>
            <a:r>
              <a:rPr lang="en-US" sz="2400" dirty="0"/>
              <a:t>method is used to create custom animations.</a:t>
            </a:r>
          </a:p>
          <a:p>
            <a:r>
              <a:rPr lang="en-US" sz="2400" b="1" dirty="0"/>
              <a:t>Syntax: </a:t>
            </a:r>
            <a:r>
              <a:rPr lang="en-US" sz="2400" dirty="0"/>
              <a:t>$(</a:t>
            </a:r>
            <a:r>
              <a:rPr lang="en-US" sz="2400" i="1" dirty="0"/>
              <a:t>selector</a:t>
            </a:r>
            <a:r>
              <a:rPr lang="en-US" sz="2400" dirty="0"/>
              <a:t>).animate({</a:t>
            </a:r>
            <a:r>
              <a:rPr lang="en-US" sz="2400" i="1" dirty="0"/>
              <a:t>params</a:t>
            </a:r>
            <a:r>
              <a:rPr lang="en-US" sz="2400" dirty="0"/>
              <a:t>}</a:t>
            </a:r>
            <a:r>
              <a:rPr lang="en-US" sz="2400" i="1" dirty="0"/>
              <a:t>,</a:t>
            </a:r>
            <a:r>
              <a:rPr lang="en-US" sz="2400" i="1" dirty="0" err="1"/>
              <a:t>speed,callback</a:t>
            </a:r>
            <a:r>
              <a:rPr lang="en-US" sz="2400" dirty="0"/>
              <a:t>);</a:t>
            </a:r>
          </a:p>
          <a:p>
            <a:pPr algn="just"/>
            <a:r>
              <a:rPr lang="en-US" sz="2400" dirty="0"/>
              <a:t>The required </a:t>
            </a:r>
            <a:r>
              <a:rPr lang="en-US" sz="2400" dirty="0">
                <a:solidFill>
                  <a:srgbClr val="FF0000"/>
                </a:solidFill>
              </a:rPr>
              <a:t>params</a:t>
            </a:r>
            <a:r>
              <a:rPr lang="en-US" sz="2400" dirty="0"/>
              <a:t> parameter defines the CSS properties to be animated.</a:t>
            </a:r>
          </a:p>
          <a:p>
            <a:pPr marL="457200" lvl="1" indent="0" algn="just">
              <a:buNone/>
            </a:pPr>
            <a:r>
              <a:rPr lang="en-IN" sz="2000" dirty="0">
                <a:solidFill>
                  <a:srgbClr val="000000"/>
                </a:solidFill>
                <a:effectLst/>
              </a:rPr>
              <a:t>$(</a:t>
            </a:r>
            <a:r>
              <a:rPr lang="en-IN" sz="2000" dirty="0">
                <a:solidFill>
                  <a:srgbClr val="008000"/>
                </a:solidFill>
                <a:effectLst/>
              </a:rPr>
              <a:t>"button"</a:t>
            </a:r>
            <a:r>
              <a:rPr lang="en-IN" sz="2000" dirty="0">
                <a:solidFill>
                  <a:srgbClr val="000000"/>
                </a:solidFill>
                <a:effectLst/>
              </a:rPr>
              <a:t>).click(</a:t>
            </a:r>
            <a:r>
              <a:rPr lang="en-IN" sz="2000" dirty="0">
                <a:solidFill>
                  <a:srgbClr val="005CC5"/>
                </a:solidFill>
                <a:effectLst/>
              </a:rPr>
              <a:t>function</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a:t>
            </a:r>
            <a:r>
              <a:rPr lang="en-IN" sz="2000" dirty="0">
                <a:solidFill>
                  <a:srgbClr val="008000"/>
                </a:solidFill>
                <a:effectLst/>
              </a:rPr>
              <a:t>"div"</a:t>
            </a:r>
            <a:r>
              <a:rPr lang="en-IN" sz="2000" dirty="0">
                <a:solidFill>
                  <a:srgbClr val="000000"/>
                </a:solidFill>
                <a:effectLst/>
              </a:rPr>
              <a:t>).animate({</a:t>
            </a:r>
          </a:p>
          <a:p>
            <a:pPr marL="457200" lvl="1" indent="0" algn="just">
              <a:buNone/>
            </a:pPr>
            <a:r>
              <a:rPr lang="en-IN" sz="2000" dirty="0">
                <a:solidFill>
                  <a:srgbClr val="000000"/>
                </a:solidFill>
              </a:rPr>
              <a:t>		</a:t>
            </a:r>
            <a:r>
              <a:rPr lang="en-IN" sz="2000" dirty="0">
                <a:solidFill>
                  <a:srgbClr val="000000"/>
                </a:solidFill>
                <a:effectLst/>
              </a:rPr>
              <a:t>left:</a:t>
            </a:r>
            <a:r>
              <a:rPr lang="en-IN" sz="2000" dirty="0">
                <a:solidFill>
                  <a:srgbClr val="008000"/>
                </a:solidFill>
                <a:effectLst/>
              </a:rPr>
              <a:t>'250px’</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opacity:</a:t>
            </a:r>
            <a:r>
              <a:rPr lang="en-IN" sz="2000" dirty="0">
                <a:solidFill>
                  <a:srgbClr val="008000"/>
                </a:solidFill>
                <a:effectLst/>
              </a:rPr>
              <a:t>'0.5’</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height:</a:t>
            </a:r>
            <a:r>
              <a:rPr lang="en-IN" sz="2000" dirty="0">
                <a:solidFill>
                  <a:srgbClr val="008000"/>
                </a:solidFill>
                <a:effectLst/>
              </a:rPr>
              <a:t>'150px’</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width:</a:t>
            </a:r>
            <a:r>
              <a:rPr lang="en-IN" sz="2000" dirty="0">
                <a:solidFill>
                  <a:srgbClr val="008000"/>
                </a:solidFill>
                <a:effectLst/>
              </a:rPr>
              <a:t>'150px’</a:t>
            </a:r>
          </a:p>
          <a:p>
            <a:pPr marL="457200" lvl="1" indent="0" algn="just">
              <a:buNone/>
            </a:pPr>
            <a:r>
              <a:rPr lang="en-IN" sz="2000" dirty="0">
                <a:solidFill>
                  <a:srgbClr val="008000"/>
                </a:solidFill>
              </a:rPr>
              <a:t>	</a:t>
            </a:r>
            <a:r>
              <a:rPr lang="en-IN" sz="2000" dirty="0">
                <a:solidFill>
                  <a:srgbClr val="000000"/>
                </a:solidFill>
                <a:effectLst/>
              </a:rPr>
              <a:t>});</a:t>
            </a:r>
          </a:p>
          <a:p>
            <a:pPr marL="457200" lvl="1" indent="0" algn="just">
              <a:buNone/>
            </a:pPr>
            <a:r>
              <a:rPr lang="en-IN" sz="2000" dirty="0">
                <a:solidFill>
                  <a:srgbClr val="000000"/>
                </a:solidFill>
                <a:effectLst/>
              </a:rPr>
              <a:t>}); </a:t>
            </a:r>
            <a:endParaRPr lang="en-US" sz="3600" dirty="0"/>
          </a:p>
          <a:p>
            <a:r>
              <a:rPr lang="en-US" sz="2400" b="1" dirty="0"/>
              <a:t>jQuery animate() - Using Pre-defined Values</a:t>
            </a:r>
          </a:p>
          <a:p>
            <a:r>
              <a:rPr lang="en-US" sz="2000" dirty="0"/>
              <a:t>You can even specify a property's animation value as "</a:t>
            </a:r>
            <a:r>
              <a:rPr lang="en-US" sz="2400" dirty="0">
                <a:solidFill>
                  <a:srgbClr val="FF3399"/>
                </a:solidFill>
              </a:rPr>
              <a:t>show</a:t>
            </a:r>
            <a:r>
              <a:rPr lang="en-US" sz="2000" dirty="0"/>
              <a:t>", "</a:t>
            </a:r>
            <a:r>
              <a:rPr lang="en-US" sz="2400" dirty="0">
                <a:solidFill>
                  <a:srgbClr val="FF3399"/>
                </a:solidFill>
              </a:rPr>
              <a:t>hide</a:t>
            </a:r>
            <a:r>
              <a:rPr lang="en-US" sz="2000" dirty="0"/>
              <a:t>", or "</a:t>
            </a:r>
            <a:r>
              <a:rPr lang="en-US" sz="2400" dirty="0">
                <a:solidFill>
                  <a:srgbClr val="FF3399"/>
                </a:solidFill>
              </a:rPr>
              <a:t>toggle</a:t>
            </a:r>
            <a:r>
              <a:rPr lang="en-US" sz="2000" dirty="0"/>
              <a:t>":</a:t>
            </a:r>
          </a:p>
          <a:p>
            <a:pPr marL="457200" lvl="1" indent="0">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  $(</a:t>
            </a:r>
            <a:r>
              <a:rPr lang="en-US" sz="2000" dirty="0">
                <a:solidFill>
                  <a:srgbClr val="008000"/>
                </a:solidFill>
                <a:effectLst/>
              </a:rPr>
              <a:t>"div"</a:t>
            </a:r>
            <a:r>
              <a:rPr lang="en-US" sz="2000" dirty="0">
                <a:solidFill>
                  <a:srgbClr val="000000"/>
                </a:solidFill>
                <a:effectLst/>
              </a:rPr>
              <a:t>).animate({</a:t>
            </a:r>
            <a:br>
              <a:rPr lang="en-US" sz="2000" dirty="0">
                <a:solidFill>
                  <a:srgbClr val="000000"/>
                </a:solidFill>
                <a:effectLst/>
              </a:rPr>
            </a:br>
            <a:r>
              <a:rPr lang="en-US" sz="2000" dirty="0">
                <a:solidFill>
                  <a:srgbClr val="000000"/>
                </a:solidFill>
                <a:effectLst/>
              </a:rPr>
              <a:t>    height: </a:t>
            </a:r>
            <a:r>
              <a:rPr lang="en-US" sz="2000" dirty="0">
                <a:solidFill>
                  <a:srgbClr val="008000"/>
                </a:solidFill>
                <a:effectLst/>
              </a:rPr>
              <a:t>'toggle'</a:t>
            </a:r>
            <a:br>
              <a:rPr lang="en-US" sz="2000" dirty="0">
                <a:solidFill>
                  <a:srgbClr val="000000"/>
                </a:solidFill>
                <a:effectLst/>
              </a:rPr>
            </a:br>
            <a:r>
              <a:rPr lang="en-US" sz="2000" dirty="0">
                <a:solidFill>
                  <a:srgbClr val="000000"/>
                </a:solidFill>
                <a:effectLst/>
              </a:rPr>
              <a:t>  });</a:t>
            </a:r>
            <a:br>
              <a:rPr lang="en-US" sz="2000" dirty="0">
                <a:solidFill>
                  <a:srgbClr val="000000"/>
                </a:solidFill>
                <a:effectLst/>
              </a:rPr>
            </a:b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569534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26A5F-ED52-A6EC-79E4-2B40D4E7FD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017C2-D0CD-4655-6391-BCC9C26FFD42}"/>
              </a:ext>
            </a:extLst>
          </p:cNvPr>
          <p:cNvSpPr>
            <a:spLocks noGrp="1"/>
          </p:cNvSpPr>
          <p:nvPr>
            <p:ph idx="1"/>
          </p:nvPr>
        </p:nvSpPr>
        <p:spPr>
          <a:xfrm>
            <a:off x="838200" y="254524"/>
            <a:ext cx="10515600" cy="6410227"/>
          </a:xfrm>
        </p:spPr>
        <p:txBody>
          <a:bodyPr/>
          <a:lstStyle/>
          <a:p>
            <a:r>
              <a:rPr lang="en-US" dirty="0"/>
              <a:t>Continued…</a:t>
            </a:r>
          </a:p>
          <a:p>
            <a:pPr algn="just"/>
            <a:r>
              <a:rPr lang="en-US" sz="2400" b="1" dirty="0"/>
              <a:t>jQuery animate() - Uses Queue Functionality</a:t>
            </a:r>
          </a:p>
          <a:p>
            <a:pPr algn="just"/>
            <a:r>
              <a:rPr lang="en-US" sz="2400" dirty="0"/>
              <a:t>By default, jQuery comes with queue functionality for animations.</a:t>
            </a:r>
          </a:p>
          <a:p>
            <a:pPr algn="just"/>
            <a:r>
              <a:rPr lang="en-US" sz="2400" dirty="0"/>
              <a:t>This means that if you write multiple </a:t>
            </a:r>
            <a:r>
              <a:rPr lang="en-US" dirty="0"/>
              <a:t>animate()</a:t>
            </a:r>
            <a:r>
              <a:rPr lang="en-US" sz="2400" dirty="0"/>
              <a:t> calls after each other, jQuery creates an "internal" queue with these method calls. Then it runs the animate calls ONE by ONE.</a:t>
            </a:r>
          </a:p>
          <a:p>
            <a:pPr marL="457200" lvl="1" indent="0" algn="just">
              <a:buNone/>
            </a:pPr>
            <a:r>
              <a:rPr lang="en-IN" sz="1800" dirty="0">
                <a:solidFill>
                  <a:srgbClr val="000000"/>
                </a:solidFill>
                <a:effectLst/>
              </a:rPr>
              <a:t>$(</a:t>
            </a:r>
            <a:r>
              <a:rPr lang="en-IN" sz="1800" dirty="0">
                <a:solidFill>
                  <a:srgbClr val="008000"/>
                </a:solidFill>
                <a:effectLst/>
              </a:rPr>
              <a:t>"button"</a:t>
            </a:r>
            <a:r>
              <a:rPr lang="en-IN" sz="1800" dirty="0">
                <a:solidFill>
                  <a:srgbClr val="000000"/>
                </a:solidFill>
                <a:effectLst/>
              </a:rPr>
              <a:t>).click(</a:t>
            </a:r>
            <a:r>
              <a:rPr lang="en-IN" sz="1800" dirty="0">
                <a:solidFill>
                  <a:srgbClr val="005CC5"/>
                </a:solidFill>
                <a:effectLst/>
              </a:rPr>
              <a:t>function</a:t>
            </a:r>
            <a:r>
              <a:rPr lang="en-IN" sz="1800" dirty="0">
                <a:solidFill>
                  <a:srgbClr val="000000"/>
                </a:solidFill>
                <a:effectLst/>
              </a:rPr>
              <a:t>(){</a:t>
            </a:r>
          </a:p>
          <a:p>
            <a:pPr marL="457200" lvl="1" indent="0" algn="just">
              <a:buNone/>
            </a:pPr>
            <a:r>
              <a:rPr lang="en-IN" sz="1800" dirty="0">
                <a:solidFill>
                  <a:srgbClr val="005CC5"/>
                </a:solidFill>
                <a:effectLst/>
              </a:rPr>
              <a:t>var</a:t>
            </a:r>
            <a:r>
              <a:rPr lang="en-IN" sz="1800" dirty="0">
                <a:solidFill>
                  <a:srgbClr val="000000"/>
                </a:solidFill>
                <a:effectLst/>
              </a:rPr>
              <a:t> div = $(</a:t>
            </a:r>
            <a:r>
              <a:rPr lang="en-IN" sz="1800" dirty="0">
                <a:solidFill>
                  <a:srgbClr val="008000"/>
                </a:solidFill>
                <a:effectLst/>
              </a:rPr>
              <a:t>"div"</a:t>
            </a:r>
            <a:r>
              <a:rPr lang="en-IN" sz="1800" dirty="0">
                <a:solidFill>
                  <a:srgbClr val="000000"/>
                </a:solidFill>
                <a:effectLst/>
              </a:rPr>
              <a:t>);</a:t>
            </a:r>
          </a:p>
          <a:p>
            <a:pPr marL="457200" lvl="1" indent="0" algn="just">
              <a:buNone/>
            </a:pPr>
            <a:r>
              <a:rPr lang="en-IN" sz="1800" dirty="0" err="1">
                <a:solidFill>
                  <a:srgbClr val="000000"/>
                </a:solidFill>
                <a:effectLst/>
              </a:rPr>
              <a:t>div.animate</a:t>
            </a:r>
            <a:r>
              <a:rPr lang="en-IN" sz="1800" dirty="0">
                <a:solidFill>
                  <a:srgbClr val="000000"/>
                </a:solidFill>
                <a:effectLst/>
              </a:rPr>
              <a:t>({height: </a:t>
            </a:r>
            <a:r>
              <a:rPr lang="en-IN" sz="1800" dirty="0">
                <a:solidFill>
                  <a:srgbClr val="008000"/>
                </a:solidFill>
                <a:effectLst/>
              </a:rPr>
              <a:t>'300px'</a:t>
            </a:r>
            <a:r>
              <a:rPr lang="en-IN" sz="1800" dirty="0">
                <a:solidFill>
                  <a:srgbClr val="000000"/>
                </a:solidFill>
                <a:effectLst/>
              </a:rPr>
              <a:t>, opacity: </a:t>
            </a:r>
            <a:r>
              <a:rPr lang="en-IN" sz="1800" dirty="0">
                <a:solidFill>
                  <a:srgbClr val="008000"/>
                </a:solidFill>
                <a:effectLst/>
              </a:rPr>
              <a:t>'0.4'</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a:solidFill>
                  <a:srgbClr val="000000"/>
                </a:solidFill>
                <a:effectLst/>
              </a:rPr>
              <a:t> </a:t>
            </a:r>
            <a:r>
              <a:rPr lang="en-IN" sz="1800" dirty="0" err="1">
                <a:solidFill>
                  <a:srgbClr val="000000"/>
                </a:solidFill>
                <a:effectLst/>
              </a:rPr>
              <a:t>div.animate</a:t>
            </a:r>
            <a:r>
              <a:rPr lang="en-IN" sz="1800" dirty="0">
                <a:solidFill>
                  <a:srgbClr val="000000"/>
                </a:solidFill>
                <a:effectLst/>
              </a:rPr>
              <a:t>({width: </a:t>
            </a:r>
            <a:r>
              <a:rPr lang="en-IN" sz="1800" dirty="0">
                <a:solidFill>
                  <a:srgbClr val="008000"/>
                </a:solidFill>
                <a:effectLst/>
              </a:rPr>
              <a:t>'300px'</a:t>
            </a:r>
            <a:r>
              <a:rPr lang="en-IN" sz="1800" dirty="0">
                <a:solidFill>
                  <a:srgbClr val="000000"/>
                </a:solidFill>
                <a:effectLst/>
              </a:rPr>
              <a:t>, opacity: </a:t>
            </a:r>
            <a:r>
              <a:rPr lang="en-IN" sz="1800" dirty="0">
                <a:solidFill>
                  <a:srgbClr val="008000"/>
                </a:solidFill>
                <a:effectLst/>
              </a:rPr>
              <a:t>'0.8'</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a:solidFill>
                  <a:srgbClr val="000000"/>
                </a:solidFill>
                <a:effectLst/>
              </a:rPr>
              <a:t> </a:t>
            </a:r>
            <a:r>
              <a:rPr lang="en-IN" sz="1800" dirty="0" err="1">
                <a:solidFill>
                  <a:srgbClr val="000000"/>
                </a:solidFill>
                <a:effectLst/>
              </a:rPr>
              <a:t>div.animate</a:t>
            </a:r>
            <a:r>
              <a:rPr lang="en-IN" sz="1800" dirty="0">
                <a:solidFill>
                  <a:srgbClr val="000000"/>
                </a:solidFill>
                <a:effectLst/>
              </a:rPr>
              <a:t>({height: </a:t>
            </a:r>
            <a:r>
              <a:rPr lang="en-IN" sz="1800" dirty="0">
                <a:solidFill>
                  <a:srgbClr val="008000"/>
                </a:solidFill>
                <a:effectLst/>
              </a:rPr>
              <a:t>'100px'</a:t>
            </a:r>
            <a:r>
              <a:rPr lang="en-IN" sz="1800" dirty="0">
                <a:solidFill>
                  <a:srgbClr val="000000"/>
                </a:solidFill>
                <a:effectLst/>
              </a:rPr>
              <a:t>, opacity: </a:t>
            </a:r>
            <a:r>
              <a:rPr lang="en-IN" sz="1800" dirty="0">
                <a:solidFill>
                  <a:srgbClr val="008000"/>
                </a:solidFill>
                <a:effectLst/>
              </a:rPr>
              <a:t>'0.4'</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err="1">
                <a:solidFill>
                  <a:srgbClr val="000000"/>
                </a:solidFill>
                <a:effectLst/>
              </a:rPr>
              <a:t>div.animate</a:t>
            </a:r>
            <a:r>
              <a:rPr lang="en-IN" sz="1800" dirty="0">
                <a:solidFill>
                  <a:srgbClr val="000000"/>
                </a:solidFill>
                <a:effectLst/>
              </a:rPr>
              <a:t>({width: </a:t>
            </a:r>
            <a:r>
              <a:rPr lang="en-IN" sz="1800" dirty="0">
                <a:solidFill>
                  <a:srgbClr val="008000"/>
                </a:solidFill>
                <a:effectLst/>
              </a:rPr>
              <a:t>'100px'</a:t>
            </a:r>
            <a:r>
              <a:rPr lang="en-IN" sz="1800" dirty="0">
                <a:solidFill>
                  <a:srgbClr val="000000"/>
                </a:solidFill>
                <a:effectLst/>
              </a:rPr>
              <a:t>, opacity: </a:t>
            </a:r>
            <a:r>
              <a:rPr lang="en-IN" sz="1800" dirty="0">
                <a:solidFill>
                  <a:srgbClr val="008000"/>
                </a:solidFill>
                <a:effectLst/>
              </a:rPr>
              <a:t>'0.8'</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a:solidFill>
                  <a:srgbClr val="000000"/>
                </a:solidFill>
                <a:effectLst/>
              </a:rPr>
              <a: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305984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21980-5C35-DB59-BDDA-3ABAB08EB8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AAD1A0-AFD5-03F5-F6E0-BC3108E351CD}"/>
              </a:ext>
            </a:extLst>
          </p:cNvPr>
          <p:cNvSpPr>
            <a:spLocks noGrp="1"/>
          </p:cNvSpPr>
          <p:nvPr>
            <p:ph idx="1"/>
          </p:nvPr>
        </p:nvSpPr>
        <p:spPr>
          <a:xfrm>
            <a:off x="838200" y="254524"/>
            <a:ext cx="10515600" cy="6410227"/>
          </a:xfrm>
        </p:spPr>
        <p:txBody>
          <a:bodyPr>
            <a:normAutofit lnSpcReduction="10000"/>
          </a:bodyPr>
          <a:lstStyle/>
          <a:p>
            <a:r>
              <a:rPr lang="en-IN" b="1" dirty="0"/>
              <a:t>jQuery Stop Animations</a:t>
            </a:r>
          </a:p>
          <a:p>
            <a:pPr algn="just"/>
            <a:r>
              <a:rPr lang="en-US" sz="2400" dirty="0"/>
              <a:t>The jQuery stop() method is used to stop animations or effects before it is finished.</a:t>
            </a:r>
          </a:p>
          <a:p>
            <a:pPr algn="just"/>
            <a:r>
              <a:rPr lang="en-US" sz="2400" dirty="0"/>
              <a:t>The </a:t>
            </a:r>
            <a:r>
              <a:rPr lang="en-US" dirty="0"/>
              <a:t>stop()</a:t>
            </a:r>
            <a:r>
              <a:rPr lang="en-US" sz="2400" dirty="0"/>
              <a:t> method works for all jQuery effect functions, including sliding, fading and custom animations.</a:t>
            </a:r>
          </a:p>
          <a:p>
            <a:pPr lvl="1"/>
            <a:r>
              <a:rPr lang="en-US" sz="2000" b="1" dirty="0"/>
              <a:t>Syntax: </a:t>
            </a:r>
            <a:r>
              <a:rPr lang="en-US" sz="2000" dirty="0"/>
              <a:t>$(</a:t>
            </a:r>
            <a:r>
              <a:rPr lang="en-US" sz="2000" i="1" dirty="0"/>
              <a:t>selector</a:t>
            </a:r>
            <a:r>
              <a:rPr lang="en-US" sz="2000" dirty="0"/>
              <a:t>).stop(</a:t>
            </a:r>
            <a:r>
              <a:rPr lang="en-US" sz="2000" i="1" dirty="0" err="1"/>
              <a:t>stopAll,goToEnd</a:t>
            </a:r>
            <a:r>
              <a:rPr lang="en-US" sz="2000" dirty="0"/>
              <a:t>);</a:t>
            </a:r>
          </a:p>
          <a:p>
            <a:pPr algn="just"/>
            <a:r>
              <a:rPr lang="en-US" sz="2400" dirty="0"/>
              <a:t>The optional </a:t>
            </a:r>
            <a:r>
              <a:rPr lang="en-US" sz="2400" dirty="0" err="1"/>
              <a:t>stopAll</a:t>
            </a:r>
            <a:r>
              <a:rPr lang="en-US" sz="2400" dirty="0"/>
              <a:t> parameter specifies whether also the animation queue should be cleared or not. Default is false, which means that only the active animation will be stopped, allowing any queued animations to be performed afterwards.</a:t>
            </a:r>
          </a:p>
          <a:p>
            <a:pPr algn="just"/>
            <a:r>
              <a:rPr lang="en-US" sz="2400" dirty="0"/>
              <a:t>The optional </a:t>
            </a:r>
            <a:r>
              <a:rPr lang="en-US" sz="2400" dirty="0" err="1"/>
              <a:t>goToEnd</a:t>
            </a:r>
            <a:r>
              <a:rPr lang="en-US" sz="2400" dirty="0"/>
              <a:t> parameter specifies whether or not to complete the current animation immediately. Default is false.</a:t>
            </a:r>
          </a:p>
          <a:p>
            <a:pPr marL="914400" lvl="2" indent="0" algn="just">
              <a:buNone/>
            </a:pPr>
            <a:r>
              <a:rPr lang="en-US" sz="1600" dirty="0"/>
              <a:t>$(document).ready(function(){</a:t>
            </a:r>
          </a:p>
          <a:p>
            <a:pPr marL="914400" lvl="2" indent="0" algn="just">
              <a:buNone/>
            </a:pPr>
            <a:r>
              <a:rPr lang="en-US" sz="1600" dirty="0"/>
              <a:t>  $("#flip").click(function(){</a:t>
            </a:r>
          </a:p>
          <a:p>
            <a:pPr marL="914400" lvl="2" indent="0" algn="just">
              <a:buNone/>
            </a:pPr>
            <a:r>
              <a:rPr lang="en-US" sz="1600" dirty="0"/>
              <a:t>    $("#panel").</a:t>
            </a:r>
            <a:r>
              <a:rPr lang="en-US" sz="1600" dirty="0" err="1"/>
              <a:t>slideDown</a:t>
            </a:r>
            <a:r>
              <a:rPr lang="en-US" sz="1600" dirty="0"/>
              <a:t>(5000);</a:t>
            </a:r>
          </a:p>
          <a:p>
            <a:pPr marL="914400" lvl="2" indent="0" algn="just">
              <a:buNone/>
            </a:pPr>
            <a:r>
              <a:rPr lang="en-US" sz="1600" dirty="0"/>
              <a:t>  });</a:t>
            </a:r>
          </a:p>
          <a:p>
            <a:pPr marL="914400" lvl="2" indent="0" algn="just">
              <a:buNone/>
            </a:pPr>
            <a:r>
              <a:rPr lang="en-US" sz="1600" dirty="0"/>
              <a:t>  $("#stop").click(function(){</a:t>
            </a:r>
          </a:p>
          <a:p>
            <a:pPr marL="914400" lvl="2" indent="0" algn="just">
              <a:buNone/>
            </a:pPr>
            <a:r>
              <a:rPr lang="en-US" sz="1600" dirty="0"/>
              <a:t>    $("#panel").stop();</a:t>
            </a:r>
          </a:p>
          <a:p>
            <a:pPr marL="914400" lvl="2" indent="0" algn="just">
              <a:buNone/>
            </a:pPr>
            <a:r>
              <a:rPr lang="en-US" sz="1600" dirty="0"/>
              <a:t>  });</a:t>
            </a:r>
          </a:p>
          <a:p>
            <a:pPr marL="914400" lvl="2" indent="0" algn="just">
              <a:buNone/>
            </a:pPr>
            <a:r>
              <a:rPr lang="en-US" sz="16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4241427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B8DC-EF42-32BB-B362-65A6EDA38E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908EE1-C6D3-2ED7-DBCC-7A3009E4E5F4}"/>
              </a:ext>
            </a:extLst>
          </p:cNvPr>
          <p:cNvSpPr>
            <a:spLocks noGrp="1"/>
          </p:cNvSpPr>
          <p:nvPr>
            <p:ph idx="1"/>
          </p:nvPr>
        </p:nvSpPr>
        <p:spPr>
          <a:xfrm>
            <a:off x="838200" y="254524"/>
            <a:ext cx="10515600" cy="6410227"/>
          </a:xfrm>
        </p:spPr>
        <p:txBody>
          <a:bodyPr>
            <a:normAutofit/>
          </a:bodyPr>
          <a:lstStyle/>
          <a:p>
            <a:r>
              <a:rPr lang="en-IN" b="1" dirty="0"/>
              <a:t>jQuery Callback Functions</a:t>
            </a:r>
          </a:p>
          <a:p>
            <a:endParaRPr lang="en-US" dirty="0"/>
          </a:p>
          <a:p>
            <a:r>
              <a:rPr lang="en-US" sz="2400" dirty="0"/>
              <a:t>JavaScript statements are executed line by line. However, with effects, the next line of code can be run even though the effect is not finished. This can create errors.</a:t>
            </a:r>
          </a:p>
          <a:p>
            <a:r>
              <a:rPr lang="en-US" sz="2400" dirty="0"/>
              <a:t>To prevent this, you can create a callback function.</a:t>
            </a:r>
          </a:p>
          <a:p>
            <a:r>
              <a:rPr lang="en-US" sz="2400" dirty="0"/>
              <a:t>A callback function is executed after the current effect is finished.</a:t>
            </a:r>
          </a:p>
          <a:p>
            <a:pPr algn="just"/>
            <a:r>
              <a:rPr lang="en-IN" sz="2400" b="1" dirty="0"/>
              <a:t>Examples</a:t>
            </a:r>
            <a:endParaRPr lang="en-US" sz="2400" dirty="0"/>
          </a:p>
          <a:p>
            <a:pPr algn="just"/>
            <a:r>
              <a:rPr lang="en-US" sz="2400" dirty="0"/>
              <a:t>The example below has a callback parameter that is a function that will be executed </a:t>
            </a:r>
            <a:r>
              <a:rPr lang="en-US" sz="2400" dirty="0">
                <a:solidFill>
                  <a:srgbClr val="FF3399"/>
                </a:solidFill>
              </a:rPr>
              <a:t>after</a:t>
            </a:r>
            <a:r>
              <a:rPr lang="en-US" sz="2400" dirty="0"/>
              <a:t> the </a:t>
            </a:r>
            <a:r>
              <a:rPr lang="en-US" sz="2400" dirty="0">
                <a:solidFill>
                  <a:srgbClr val="FF3399"/>
                </a:solidFill>
              </a:rPr>
              <a:t>hide effect is completed</a:t>
            </a:r>
            <a:r>
              <a:rPr lang="en-US" sz="2400" dirty="0"/>
              <a:t>:</a:t>
            </a:r>
          </a:p>
          <a:p>
            <a:pPr marL="457200" lvl="1" indent="0" algn="just">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"p"</a:t>
            </a:r>
            <a:r>
              <a:rPr lang="en-US" sz="2000" dirty="0">
                <a:solidFill>
                  <a:srgbClr val="000000"/>
                </a:solidFill>
                <a:effectLst/>
              </a:rPr>
              <a:t>).hide(</a:t>
            </a:r>
            <a:r>
              <a:rPr lang="en-US" sz="2000" dirty="0">
                <a:solidFill>
                  <a:srgbClr val="008000"/>
                </a:solidFill>
                <a:effectLst/>
              </a:rPr>
              <a:t>"slow"</a:t>
            </a:r>
            <a:r>
              <a:rPr lang="en-US" sz="2000" dirty="0">
                <a:solidFill>
                  <a:srgbClr val="000000"/>
                </a:solidFill>
                <a:effectLst/>
              </a:rPr>
              <a:t>, </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alert(</a:t>
            </a:r>
            <a:r>
              <a:rPr lang="en-US" sz="2000" dirty="0">
                <a:solidFill>
                  <a:srgbClr val="008000"/>
                </a:solidFill>
                <a:effectLst/>
              </a:rPr>
              <a:t>"The paragraph is now hidden"</a:t>
            </a:r>
            <a:r>
              <a:rPr lang="en-US" sz="2000" dirty="0">
                <a:solidFill>
                  <a:srgbClr val="000000"/>
                </a:solidFill>
                <a:effectLst/>
              </a:rPr>
              <a:t>);</a:t>
            </a:r>
          </a:p>
          <a:p>
            <a:pPr marL="457200" lvl="1" indent="0" algn="just">
              <a:buNone/>
            </a:pPr>
            <a:r>
              <a:rPr lang="en-US" sz="2000" dirty="0">
                <a:solidFill>
                  <a:srgbClr val="000000"/>
                </a:solidFill>
                <a:effectLst/>
              </a:rPr>
              <a:t>	});</a:t>
            </a:r>
          </a:p>
          <a:p>
            <a:pPr marL="457200" lvl="1" indent="0" algn="just">
              <a:buNone/>
            </a:pP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4176127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F1AB5-F292-8514-27A8-BFE0E147E2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C78C5B-2107-892D-116E-38343099217C}"/>
              </a:ext>
            </a:extLst>
          </p:cNvPr>
          <p:cNvSpPr>
            <a:spLocks noGrp="1"/>
          </p:cNvSpPr>
          <p:nvPr>
            <p:ph idx="1"/>
          </p:nvPr>
        </p:nvSpPr>
        <p:spPr>
          <a:xfrm>
            <a:off x="838200" y="254524"/>
            <a:ext cx="10515600" cy="6410227"/>
          </a:xfrm>
        </p:spPr>
        <p:txBody>
          <a:bodyPr/>
          <a:lstStyle/>
          <a:p>
            <a:r>
              <a:rPr lang="en-US" dirty="0"/>
              <a:t>Continued…</a:t>
            </a:r>
          </a:p>
          <a:p>
            <a:pPr algn="just"/>
            <a:r>
              <a:rPr lang="en-US" sz="2400" dirty="0"/>
              <a:t>The example below has no callback parameter, and the alert box will be displayed before the hide effect is completed:</a:t>
            </a:r>
          </a:p>
          <a:p>
            <a:pPr marL="457200" lvl="1" indent="0" algn="just">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"p"</a:t>
            </a:r>
            <a:r>
              <a:rPr lang="en-US" sz="2000" dirty="0">
                <a:solidFill>
                  <a:srgbClr val="000000"/>
                </a:solidFill>
                <a:effectLst/>
              </a:rPr>
              <a:t>).hide(</a:t>
            </a:r>
            <a:r>
              <a:rPr lang="en-US" sz="2000" dirty="0">
                <a:solidFill>
                  <a:srgbClr val="990055"/>
                </a:solidFill>
                <a:effectLst/>
              </a:rPr>
              <a:t>1000</a:t>
            </a:r>
            <a:r>
              <a:rPr lang="en-US" sz="2000" dirty="0">
                <a:solidFill>
                  <a:srgbClr val="000000"/>
                </a:solidFill>
                <a:effectLst/>
              </a:rPr>
              <a:t>);</a:t>
            </a:r>
          </a:p>
          <a:p>
            <a:pPr marL="457200" lvl="1" indent="0" algn="just">
              <a:buNone/>
            </a:pPr>
            <a:r>
              <a:rPr lang="en-US" sz="2000" dirty="0">
                <a:solidFill>
                  <a:srgbClr val="000000"/>
                </a:solidFill>
                <a:effectLst/>
              </a:rPr>
              <a:t>	alert(</a:t>
            </a:r>
            <a:r>
              <a:rPr lang="en-US" sz="2000" dirty="0">
                <a:solidFill>
                  <a:srgbClr val="008000"/>
                </a:solidFill>
                <a:effectLst/>
              </a:rPr>
              <a:t>"The paragraph is now hidden"</a:t>
            </a:r>
            <a:r>
              <a:rPr lang="en-US" sz="2000" dirty="0">
                <a:solidFill>
                  <a:srgbClr val="000000"/>
                </a:solidFill>
                <a:effectLst/>
              </a:rPr>
              <a:t>);</a:t>
            </a:r>
          </a:p>
          <a:p>
            <a:pPr marL="457200" lvl="1" indent="0" algn="just">
              <a:buNone/>
            </a:pP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877541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F5C13-5491-819D-8870-395234C16C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1FA4F-795D-2E00-A4AB-3D197EC59F24}"/>
              </a:ext>
            </a:extLst>
          </p:cNvPr>
          <p:cNvSpPr>
            <a:spLocks noGrp="1"/>
          </p:cNvSpPr>
          <p:nvPr>
            <p:ph idx="1"/>
          </p:nvPr>
        </p:nvSpPr>
        <p:spPr>
          <a:xfrm>
            <a:off x="838200" y="254524"/>
            <a:ext cx="10515600" cy="6410227"/>
          </a:xfrm>
        </p:spPr>
        <p:txBody>
          <a:bodyPr/>
          <a:lstStyle/>
          <a:p>
            <a:r>
              <a:rPr lang="en-IN" b="1" dirty="0"/>
              <a:t>jQuery - Chaining</a:t>
            </a:r>
            <a:endParaRPr lang="en-US" dirty="0"/>
          </a:p>
          <a:p>
            <a:r>
              <a:rPr lang="en-US" sz="2400" dirty="0"/>
              <a:t>With jQuery, you can chain together actions/methods.</a:t>
            </a:r>
          </a:p>
          <a:p>
            <a:r>
              <a:rPr lang="en-US" sz="2400" dirty="0"/>
              <a:t>Chaining allows us to run multiple jQuery methods (on the same element) within a single statement.</a:t>
            </a:r>
          </a:p>
          <a:p>
            <a:pPr algn="just"/>
            <a:r>
              <a:rPr lang="en-US" sz="2400" dirty="0"/>
              <a:t>To chain an action, you simply append the action to the previous action.</a:t>
            </a:r>
          </a:p>
          <a:p>
            <a:pPr algn="just"/>
            <a:r>
              <a:rPr lang="en-US" sz="2400" dirty="0"/>
              <a:t>The following example chains together the </a:t>
            </a:r>
            <a:r>
              <a:rPr lang="en-US" sz="2400" dirty="0" err="1">
                <a:solidFill>
                  <a:srgbClr val="FF3399"/>
                </a:solidFill>
              </a:rPr>
              <a:t>css</a:t>
            </a:r>
            <a:r>
              <a:rPr lang="en-US" sz="2400" dirty="0">
                <a:solidFill>
                  <a:srgbClr val="FF3399"/>
                </a:solidFill>
              </a:rPr>
              <a:t>()</a:t>
            </a:r>
            <a:r>
              <a:rPr lang="en-US" sz="2400" dirty="0"/>
              <a:t>, </a:t>
            </a:r>
            <a:r>
              <a:rPr lang="en-US" sz="2400" dirty="0" err="1">
                <a:solidFill>
                  <a:srgbClr val="FF3399"/>
                </a:solidFill>
              </a:rPr>
              <a:t>slideUp</a:t>
            </a:r>
            <a:r>
              <a:rPr lang="en-US" sz="2400" dirty="0">
                <a:solidFill>
                  <a:srgbClr val="FF3399"/>
                </a:solidFill>
              </a:rPr>
              <a:t>()</a:t>
            </a:r>
            <a:r>
              <a:rPr lang="en-US" sz="2400" dirty="0"/>
              <a:t>, and </a:t>
            </a:r>
            <a:r>
              <a:rPr lang="en-US" sz="2400" dirty="0" err="1">
                <a:solidFill>
                  <a:srgbClr val="FF3399"/>
                </a:solidFill>
              </a:rPr>
              <a:t>slideDown</a:t>
            </a:r>
            <a:r>
              <a:rPr lang="en-US" sz="2400" dirty="0">
                <a:solidFill>
                  <a:srgbClr val="FF3399"/>
                </a:solidFill>
              </a:rPr>
              <a:t>()</a:t>
            </a:r>
            <a:r>
              <a:rPr lang="en-US" sz="2000" dirty="0">
                <a:solidFill>
                  <a:srgbClr val="FF3399"/>
                </a:solidFill>
              </a:rPr>
              <a:t> </a:t>
            </a:r>
            <a:r>
              <a:rPr lang="en-US" sz="2400" dirty="0"/>
              <a:t>methods. The "p1" element first changes to red, then it slides up, and then it slides down</a:t>
            </a:r>
          </a:p>
          <a:p>
            <a:pPr lvl="1" algn="just"/>
            <a:r>
              <a:rPr lang="en-US" dirty="0">
                <a:solidFill>
                  <a:srgbClr val="000000"/>
                </a:solidFill>
                <a:effectLst/>
              </a:rPr>
              <a:t>$(</a:t>
            </a:r>
            <a:r>
              <a:rPr lang="en-US" dirty="0">
                <a:solidFill>
                  <a:srgbClr val="008000"/>
                </a:solidFill>
                <a:effectLst/>
              </a:rPr>
              <a:t>"#p1"</a:t>
            </a:r>
            <a:r>
              <a:rPr lang="en-US" dirty="0">
                <a:solidFill>
                  <a:srgbClr val="000000"/>
                </a:solidFill>
                <a:effectLst/>
              </a:rPr>
              <a:t>).</a:t>
            </a:r>
            <a:r>
              <a:rPr lang="en-US" dirty="0" err="1">
                <a:solidFill>
                  <a:srgbClr val="000000"/>
                </a:solidFill>
                <a:effectLst/>
              </a:rPr>
              <a:t>css</a:t>
            </a:r>
            <a:r>
              <a:rPr lang="en-US" dirty="0">
                <a:solidFill>
                  <a:srgbClr val="000000"/>
                </a:solidFill>
                <a:effectLst/>
              </a:rPr>
              <a:t>(</a:t>
            </a:r>
            <a:r>
              <a:rPr lang="en-US" dirty="0">
                <a:solidFill>
                  <a:srgbClr val="008000"/>
                </a:solidFill>
                <a:effectLst/>
              </a:rPr>
              <a:t>"color"</a:t>
            </a:r>
            <a:r>
              <a:rPr lang="en-US" dirty="0">
                <a:solidFill>
                  <a:srgbClr val="000000"/>
                </a:solidFill>
                <a:effectLst/>
              </a:rPr>
              <a:t>, </a:t>
            </a:r>
            <a:r>
              <a:rPr lang="en-US" dirty="0">
                <a:solidFill>
                  <a:srgbClr val="008000"/>
                </a:solidFill>
                <a:effectLst/>
              </a:rPr>
              <a:t>"red"</a:t>
            </a:r>
            <a:r>
              <a:rPr lang="en-US" dirty="0">
                <a:solidFill>
                  <a:srgbClr val="000000"/>
                </a:solidFill>
                <a:effectLst/>
              </a:rPr>
              <a:t>).</a:t>
            </a:r>
            <a:r>
              <a:rPr lang="en-US" dirty="0" err="1">
                <a:solidFill>
                  <a:srgbClr val="000000"/>
                </a:solidFill>
                <a:effectLst/>
              </a:rPr>
              <a:t>slideUp</a:t>
            </a:r>
            <a:r>
              <a:rPr lang="en-US" dirty="0">
                <a:solidFill>
                  <a:srgbClr val="000000"/>
                </a:solidFill>
                <a:effectLst/>
              </a:rPr>
              <a:t>(</a:t>
            </a:r>
            <a:r>
              <a:rPr lang="en-US" dirty="0">
                <a:solidFill>
                  <a:srgbClr val="990055"/>
                </a:solidFill>
                <a:effectLst/>
              </a:rPr>
              <a:t>2000</a:t>
            </a:r>
            <a:r>
              <a:rPr lang="en-US" dirty="0">
                <a:solidFill>
                  <a:srgbClr val="000000"/>
                </a:solidFill>
                <a:effectLst/>
              </a:rPr>
              <a:t>).</a:t>
            </a:r>
            <a:r>
              <a:rPr lang="en-US" dirty="0" err="1">
                <a:solidFill>
                  <a:srgbClr val="000000"/>
                </a:solidFill>
                <a:effectLst/>
              </a:rPr>
              <a:t>slideDown</a:t>
            </a:r>
            <a:r>
              <a:rPr lang="en-US" dirty="0">
                <a:solidFill>
                  <a:srgbClr val="000000"/>
                </a:solidFill>
                <a:effectLst/>
              </a:rPr>
              <a:t>(</a:t>
            </a:r>
            <a:r>
              <a:rPr lang="en-US" dirty="0">
                <a:solidFill>
                  <a:srgbClr val="990055"/>
                </a:solidFill>
                <a:effectLst/>
              </a:rPr>
              <a:t>2000</a:t>
            </a:r>
            <a:r>
              <a:rPr lang="en-US" dirty="0">
                <a:solidFill>
                  <a:srgbClr val="000000"/>
                </a:solidFill>
                <a:effectLst/>
              </a:rPr>
              <a:t>);</a:t>
            </a:r>
            <a:endParaRPr lang="en-US" sz="4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942350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B990-160B-9CE9-762C-F18D9BEFF1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22566-17D6-59B7-2F14-E9EF9139497B}"/>
              </a:ext>
            </a:extLst>
          </p:cNvPr>
          <p:cNvSpPr>
            <a:spLocks noGrp="1"/>
          </p:cNvSpPr>
          <p:nvPr>
            <p:ph idx="1"/>
          </p:nvPr>
        </p:nvSpPr>
        <p:spPr>
          <a:xfrm>
            <a:off x="838200" y="254524"/>
            <a:ext cx="10515600" cy="6410227"/>
          </a:xfrm>
        </p:spPr>
        <p:txBody>
          <a:bodyPr>
            <a:normAutofit fontScale="92500" lnSpcReduction="10000"/>
          </a:bodyPr>
          <a:lstStyle/>
          <a:p>
            <a:r>
              <a:rPr lang="en-US" b="1" dirty="0"/>
              <a:t>jQuery - Get Content and Attributes</a:t>
            </a:r>
            <a:endParaRPr lang="en-US" dirty="0"/>
          </a:p>
          <a:p>
            <a:pPr algn="just"/>
            <a:r>
              <a:rPr lang="en-US" sz="2400" dirty="0"/>
              <a:t>jQuery contains powerful methods for changing and manipulating HTML elements and attributes.</a:t>
            </a:r>
          </a:p>
          <a:p>
            <a:pPr algn="just"/>
            <a:r>
              <a:rPr lang="en-US" sz="2400" dirty="0"/>
              <a:t>One very important part of jQuery is the possibility to manipulate the DOM.</a:t>
            </a:r>
          </a:p>
          <a:p>
            <a:pPr algn="just"/>
            <a:r>
              <a:rPr lang="en-US" sz="2400" dirty="0"/>
              <a:t>jQuery comes with a bunch of DOM related </a:t>
            </a:r>
            <a:r>
              <a:rPr lang="en-US" sz="2400" dirty="0">
                <a:solidFill>
                  <a:srgbClr val="FF3399"/>
                </a:solidFill>
              </a:rPr>
              <a:t>methods</a:t>
            </a:r>
            <a:r>
              <a:rPr lang="en-US" sz="2400" dirty="0"/>
              <a:t> that make it easy to access and manipulate elements and attributes.</a:t>
            </a:r>
          </a:p>
          <a:p>
            <a:pPr algn="just"/>
            <a:r>
              <a:rPr lang="en-US" sz="2400" dirty="0"/>
              <a:t>Three simple, but useful, jQuery methods for DOM manipulation are:</a:t>
            </a:r>
          </a:p>
          <a:p>
            <a:pPr lvl="1"/>
            <a:r>
              <a:rPr lang="en-US" sz="1800" dirty="0">
                <a:solidFill>
                  <a:srgbClr val="FF3399"/>
                </a:solidFill>
                <a:latin typeface="Courier New" panose="02070309020205020404" pitchFamily="49" charset="0"/>
              </a:rPr>
              <a:t>text()</a:t>
            </a:r>
            <a:r>
              <a:rPr lang="en-US" sz="1800" dirty="0">
                <a:solidFill>
                  <a:srgbClr val="FF3399"/>
                </a:solidFill>
              </a:rPr>
              <a:t> </a:t>
            </a:r>
            <a:r>
              <a:rPr lang="en-US" sz="1800" dirty="0"/>
              <a:t>- Sets or returns the text content of selected elements</a:t>
            </a:r>
          </a:p>
          <a:p>
            <a:pPr lvl="1"/>
            <a:r>
              <a:rPr lang="en-US" sz="1800" dirty="0">
                <a:solidFill>
                  <a:srgbClr val="FF3399"/>
                </a:solidFill>
                <a:latin typeface="Courier New" panose="02070309020205020404" pitchFamily="49" charset="0"/>
              </a:rPr>
              <a:t>html()</a:t>
            </a:r>
            <a:r>
              <a:rPr lang="en-US" sz="1800" dirty="0">
                <a:solidFill>
                  <a:srgbClr val="FF3399"/>
                </a:solidFill>
              </a:rPr>
              <a:t> </a:t>
            </a:r>
            <a:r>
              <a:rPr lang="en-US" sz="1800" dirty="0"/>
              <a:t>- Sets or returns the content of selected elements (including HTML markup)</a:t>
            </a:r>
          </a:p>
          <a:p>
            <a:pPr lvl="1"/>
            <a:r>
              <a:rPr lang="en-US" sz="1800" dirty="0" err="1">
                <a:solidFill>
                  <a:srgbClr val="FF3399"/>
                </a:solidFill>
                <a:latin typeface="Courier New" panose="02070309020205020404" pitchFamily="49" charset="0"/>
              </a:rPr>
              <a:t>val</a:t>
            </a:r>
            <a:r>
              <a:rPr lang="en-US" sz="1800" dirty="0">
                <a:solidFill>
                  <a:srgbClr val="FF3399"/>
                </a:solidFill>
                <a:latin typeface="Courier New" panose="02070309020205020404" pitchFamily="49" charset="0"/>
              </a:rPr>
              <a:t>()</a:t>
            </a:r>
            <a:r>
              <a:rPr lang="en-US" sz="1800" dirty="0">
                <a:solidFill>
                  <a:srgbClr val="FF3399"/>
                </a:solidFill>
              </a:rPr>
              <a:t> </a:t>
            </a:r>
            <a:r>
              <a:rPr lang="en-US" sz="1800" dirty="0"/>
              <a:t>- Sets or returns the value of form fields</a:t>
            </a:r>
            <a:endParaRPr lang="en-US" sz="3200" dirty="0"/>
          </a:p>
          <a:p>
            <a:pPr marL="457200" lvl="1" indent="0" algn="just">
              <a:buNone/>
            </a:pPr>
            <a:r>
              <a:rPr lang="en-IN" sz="2000" dirty="0">
                <a:solidFill>
                  <a:srgbClr val="000000"/>
                </a:solidFill>
                <a:effectLst/>
              </a:rPr>
              <a:t>$(</a:t>
            </a:r>
            <a:r>
              <a:rPr lang="en-IN" sz="2000" dirty="0">
                <a:solidFill>
                  <a:srgbClr val="008000"/>
                </a:solidFill>
                <a:effectLst/>
              </a:rPr>
              <a:t>"#btn1"</a:t>
            </a:r>
            <a:r>
              <a:rPr lang="en-IN" sz="2000" dirty="0">
                <a:solidFill>
                  <a:srgbClr val="000000"/>
                </a:solidFill>
                <a:effectLst/>
              </a:rPr>
              <a:t>).click(</a:t>
            </a:r>
            <a:r>
              <a:rPr lang="en-IN" sz="2000" dirty="0">
                <a:solidFill>
                  <a:srgbClr val="005CC5"/>
                </a:solidFill>
                <a:effectLst/>
              </a:rPr>
              <a:t>function</a:t>
            </a:r>
            <a:r>
              <a:rPr lang="en-IN" sz="2000" dirty="0">
                <a:solidFill>
                  <a:srgbClr val="000000"/>
                </a:solidFill>
                <a:effectLst/>
              </a:rPr>
              <a:t>(){</a:t>
            </a:r>
          </a:p>
          <a:p>
            <a:pPr marL="457200" lvl="1" indent="0" algn="just">
              <a:buNone/>
            </a:pPr>
            <a:r>
              <a:rPr lang="en-IN" sz="2000" dirty="0">
                <a:solidFill>
                  <a:srgbClr val="000000"/>
                </a:solidFill>
                <a:effectLst/>
              </a:rPr>
              <a:t>	alert(</a:t>
            </a:r>
            <a:r>
              <a:rPr lang="en-IN" sz="2000" dirty="0">
                <a:solidFill>
                  <a:srgbClr val="008000"/>
                </a:solidFill>
                <a:effectLst/>
              </a:rPr>
              <a:t>"Text: "</a:t>
            </a:r>
            <a:r>
              <a:rPr lang="en-IN" sz="2000" dirty="0">
                <a:solidFill>
                  <a:srgbClr val="000000"/>
                </a:solidFill>
                <a:effectLst/>
              </a:rPr>
              <a:t> + $(</a:t>
            </a:r>
            <a:r>
              <a:rPr lang="en-IN" sz="2000" dirty="0">
                <a:solidFill>
                  <a:srgbClr val="008000"/>
                </a:solidFill>
                <a:effectLst/>
              </a:rPr>
              <a:t>"#test"</a:t>
            </a:r>
            <a:r>
              <a:rPr lang="en-IN" sz="2000" dirty="0">
                <a:solidFill>
                  <a:srgbClr val="000000"/>
                </a:solidFill>
                <a:effectLst/>
              </a:rPr>
              <a:t>).text());	//returns the text written inside paragraph tag</a:t>
            </a:r>
          </a:p>
          <a:p>
            <a:pPr marL="457200" lvl="1" indent="0" algn="just">
              <a:buNone/>
            </a:pPr>
            <a:r>
              <a:rPr lang="en-IN" sz="2000" dirty="0">
                <a:solidFill>
                  <a:srgbClr val="000000"/>
                </a:solidFill>
                <a:effectLst/>
              </a:rPr>
              <a:t>});</a:t>
            </a:r>
          </a:p>
          <a:p>
            <a:pPr marL="457200" lvl="1" indent="0" algn="just">
              <a:buNone/>
            </a:pPr>
            <a:r>
              <a:rPr lang="en-IN" sz="2000" dirty="0">
                <a:solidFill>
                  <a:srgbClr val="000000"/>
                </a:solidFill>
                <a:effectLst/>
              </a:rPr>
              <a:t>$(</a:t>
            </a:r>
            <a:r>
              <a:rPr lang="en-IN" sz="2000" dirty="0">
                <a:solidFill>
                  <a:srgbClr val="008000"/>
                </a:solidFill>
                <a:effectLst/>
              </a:rPr>
              <a:t>"#btn2"</a:t>
            </a:r>
            <a:r>
              <a:rPr lang="en-IN" sz="2000" dirty="0">
                <a:solidFill>
                  <a:srgbClr val="000000"/>
                </a:solidFill>
                <a:effectLst/>
              </a:rPr>
              <a:t>).click(</a:t>
            </a:r>
            <a:r>
              <a:rPr lang="en-IN" sz="2000" dirty="0">
                <a:solidFill>
                  <a:srgbClr val="005CC5"/>
                </a:solidFill>
                <a:effectLst/>
              </a:rPr>
              <a:t>function</a:t>
            </a:r>
            <a:r>
              <a:rPr lang="en-IN" sz="2000" dirty="0">
                <a:solidFill>
                  <a:srgbClr val="000000"/>
                </a:solidFill>
                <a:effectLst/>
              </a:rPr>
              <a:t>(){</a:t>
            </a:r>
          </a:p>
          <a:p>
            <a:pPr marL="457200" lvl="1" indent="0" algn="just">
              <a:buNone/>
            </a:pPr>
            <a:r>
              <a:rPr lang="en-IN" sz="2000" dirty="0">
                <a:solidFill>
                  <a:srgbClr val="000000"/>
                </a:solidFill>
                <a:effectLst/>
              </a:rPr>
              <a:t>	alert(</a:t>
            </a:r>
            <a:r>
              <a:rPr lang="en-IN" sz="2000" dirty="0">
                <a:solidFill>
                  <a:srgbClr val="008000"/>
                </a:solidFill>
                <a:effectLst/>
              </a:rPr>
              <a:t>"HTML: "</a:t>
            </a:r>
            <a:r>
              <a:rPr lang="en-IN" sz="2000" dirty="0">
                <a:solidFill>
                  <a:srgbClr val="000000"/>
                </a:solidFill>
                <a:effectLst/>
              </a:rPr>
              <a:t> + $(</a:t>
            </a:r>
            <a:r>
              <a:rPr lang="en-IN" sz="2000" dirty="0">
                <a:solidFill>
                  <a:srgbClr val="008000"/>
                </a:solidFill>
                <a:effectLst/>
              </a:rPr>
              <a:t>"#test"</a:t>
            </a:r>
            <a:r>
              <a:rPr lang="en-IN" sz="2000" dirty="0">
                <a:solidFill>
                  <a:srgbClr val="000000"/>
                </a:solidFill>
                <a:effectLst/>
              </a:rPr>
              <a:t>).html());	//Returns the html tags inside paragraph</a:t>
            </a:r>
          </a:p>
          <a:p>
            <a:pPr marL="457200" lvl="1" indent="0" algn="just">
              <a:buNone/>
            </a:pPr>
            <a:r>
              <a:rPr lang="en-IN" sz="2000" dirty="0">
                <a:solidFill>
                  <a:srgbClr val="000000"/>
                </a:solidFill>
                <a:effectLst/>
              </a:rPr>
              <a:t>});</a:t>
            </a:r>
            <a:endParaRPr lang="en-US" sz="2800" dirty="0">
              <a:solidFill>
                <a:srgbClr val="000000"/>
              </a:solidFill>
            </a:endParaRPr>
          </a:p>
          <a:p>
            <a:pPr marL="457200" lvl="1" indent="0" algn="just">
              <a:buNone/>
            </a:pPr>
            <a:r>
              <a:rPr lang="en-US" sz="1900" dirty="0">
                <a:solidFill>
                  <a:srgbClr val="000000"/>
                </a:solidFill>
                <a:effectLst/>
              </a:rPr>
              <a:t>$(</a:t>
            </a:r>
            <a:r>
              <a:rPr lang="en-US" sz="1900" dirty="0">
                <a:solidFill>
                  <a:srgbClr val="008000"/>
                </a:solidFill>
                <a:effectLst/>
              </a:rPr>
              <a:t>"#btn1"</a:t>
            </a:r>
            <a:r>
              <a:rPr lang="en-US" sz="1900" dirty="0">
                <a:solidFill>
                  <a:srgbClr val="000000"/>
                </a:solidFill>
                <a:effectLst/>
              </a:rPr>
              <a:t>).click(</a:t>
            </a:r>
            <a:r>
              <a:rPr lang="en-US" sz="1900" dirty="0">
                <a:solidFill>
                  <a:srgbClr val="005CC5"/>
                </a:solidFill>
                <a:effectLst/>
              </a:rPr>
              <a:t>function</a:t>
            </a:r>
            <a:r>
              <a:rPr lang="en-US" sz="1900" dirty="0">
                <a:solidFill>
                  <a:srgbClr val="000000"/>
                </a:solidFill>
                <a:effectLst/>
              </a:rPr>
              <a:t>(){</a:t>
            </a:r>
          </a:p>
          <a:p>
            <a:pPr marL="457200" lvl="1" indent="0" algn="just">
              <a:buNone/>
            </a:pPr>
            <a:r>
              <a:rPr lang="en-US" sz="1900" dirty="0">
                <a:solidFill>
                  <a:srgbClr val="000000"/>
                </a:solidFill>
                <a:effectLst/>
              </a:rPr>
              <a:t>	alert(</a:t>
            </a:r>
            <a:r>
              <a:rPr lang="en-US" sz="1900" dirty="0">
                <a:solidFill>
                  <a:srgbClr val="008000"/>
                </a:solidFill>
                <a:effectLst/>
              </a:rPr>
              <a:t>"Value: "</a:t>
            </a:r>
            <a:r>
              <a:rPr lang="en-US" sz="1900" dirty="0">
                <a:solidFill>
                  <a:srgbClr val="000000"/>
                </a:solidFill>
                <a:effectLst/>
              </a:rPr>
              <a:t> + $(</a:t>
            </a:r>
            <a:r>
              <a:rPr lang="en-US" sz="1900" dirty="0">
                <a:solidFill>
                  <a:srgbClr val="008000"/>
                </a:solidFill>
                <a:effectLst/>
              </a:rPr>
              <a:t>"#test"</a:t>
            </a:r>
            <a:r>
              <a:rPr lang="en-US" sz="1900" dirty="0">
                <a:solidFill>
                  <a:srgbClr val="000000"/>
                </a:solidFill>
                <a:effectLst/>
              </a:rPr>
              <a:t>).</a:t>
            </a:r>
            <a:r>
              <a:rPr lang="en-US" sz="1900" dirty="0" err="1">
                <a:solidFill>
                  <a:srgbClr val="000000"/>
                </a:solidFill>
                <a:effectLst/>
              </a:rPr>
              <a:t>val</a:t>
            </a:r>
            <a:r>
              <a:rPr lang="en-US" sz="1900" dirty="0">
                <a:solidFill>
                  <a:srgbClr val="000000"/>
                </a:solidFill>
                <a:effectLst/>
              </a:rPr>
              <a:t>());	//Returns value of the input filed.</a:t>
            </a:r>
          </a:p>
          <a:p>
            <a:pPr marL="457200" lvl="1" indent="0" algn="just">
              <a:buNone/>
            </a:pPr>
            <a:r>
              <a:rPr lang="en-US" sz="1900" dirty="0">
                <a:solidFill>
                  <a:srgbClr val="000000"/>
                </a:solidFill>
                <a:effectLst/>
              </a:rPr>
              <a:t>});</a:t>
            </a: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617755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A6FEB-6E32-E4C4-1337-EEC6B50EC4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AC0EE1-C215-D939-F42A-0E9DD6DD70A4}"/>
              </a:ext>
            </a:extLst>
          </p:cNvPr>
          <p:cNvSpPr>
            <a:spLocks noGrp="1"/>
          </p:cNvSpPr>
          <p:nvPr>
            <p:ph idx="1"/>
          </p:nvPr>
        </p:nvSpPr>
        <p:spPr>
          <a:xfrm>
            <a:off x="838200" y="254524"/>
            <a:ext cx="10515600" cy="6410227"/>
          </a:xfrm>
        </p:spPr>
        <p:txBody>
          <a:bodyPr/>
          <a:lstStyle/>
          <a:p>
            <a:r>
              <a:rPr lang="en-IN" b="1" dirty="0"/>
              <a:t>Get Attributes - </a:t>
            </a:r>
            <a:r>
              <a:rPr lang="en-IN" b="1" dirty="0" err="1"/>
              <a:t>attr</a:t>
            </a:r>
            <a:r>
              <a:rPr lang="en-IN" b="1" dirty="0"/>
              <a:t>()</a:t>
            </a:r>
          </a:p>
          <a:p>
            <a:endParaRPr lang="en-US" dirty="0"/>
          </a:p>
          <a:p>
            <a:r>
              <a:rPr lang="en-US" sz="2400" dirty="0"/>
              <a:t>The jQuery </a:t>
            </a:r>
            <a:r>
              <a:rPr lang="en-US" dirty="0" err="1">
                <a:solidFill>
                  <a:srgbClr val="FF3399"/>
                </a:solidFill>
              </a:rPr>
              <a:t>attr</a:t>
            </a:r>
            <a:r>
              <a:rPr lang="en-US" dirty="0">
                <a:solidFill>
                  <a:srgbClr val="FF3399"/>
                </a:solidFill>
              </a:rPr>
              <a:t>()</a:t>
            </a:r>
            <a:r>
              <a:rPr lang="en-US" sz="2400" dirty="0">
                <a:solidFill>
                  <a:srgbClr val="FF3399"/>
                </a:solidFill>
              </a:rPr>
              <a:t> </a:t>
            </a:r>
            <a:r>
              <a:rPr lang="en-US" sz="2400" dirty="0"/>
              <a:t>method is used to get attribute values.</a:t>
            </a:r>
          </a:p>
          <a:p>
            <a:r>
              <a:rPr lang="en-US" sz="2400" dirty="0"/>
              <a:t>The following example demonstrates how to get the value of the </a:t>
            </a:r>
            <a:r>
              <a:rPr lang="en-US" sz="2400" dirty="0" err="1"/>
              <a:t>href</a:t>
            </a:r>
            <a:r>
              <a:rPr lang="en-US" sz="2400" dirty="0"/>
              <a:t> attribute in a link:</a:t>
            </a:r>
          </a:p>
          <a:p>
            <a:pPr marL="457200" lvl="1" indent="0" algn="just">
              <a:buNone/>
            </a:pPr>
            <a:endParaRPr lang="en-US" sz="2000" dirty="0">
              <a:solidFill>
                <a:srgbClr val="000000"/>
              </a:solidFill>
              <a:effectLst/>
            </a:endParaRPr>
          </a:p>
          <a:p>
            <a:pPr marL="457200" lvl="1" indent="0" algn="just">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alert($(</a:t>
            </a:r>
            <a:r>
              <a:rPr lang="en-US" sz="2000" dirty="0">
                <a:solidFill>
                  <a:srgbClr val="008000"/>
                </a:solidFill>
                <a:effectLst/>
              </a:rPr>
              <a:t>"#w3s"</a:t>
            </a:r>
            <a:r>
              <a:rPr lang="en-US" sz="2000" dirty="0">
                <a:solidFill>
                  <a:srgbClr val="000000"/>
                </a:solidFill>
                <a:effectLst/>
              </a:rPr>
              <a:t>).</a:t>
            </a:r>
            <a:r>
              <a:rPr lang="en-US" sz="2000" dirty="0" err="1">
                <a:solidFill>
                  <a:srgbClr val="000000"/>
                </a:solidFill>
                <a:effectLst/>
              </a:rPr>
              <a:t>attr</a:t>
            </a:r>
            <a:r>
              <a:rPr lang="en-US" sz="2000" dirty="0">
                <a:solidFill>
                  <a:srgbClr val="000000"/>
                </a:solidFill>
                <a:effectLst/>
              </a:rPr>
              <a:t>(</a:t>
            </a:r>
            <a:r>
              <a:rPr lang="en-US" sz="2000" dirty="0">
                <a:solidFill>
                  <a:srgbClr val="008000"/>
                </a:solidFill>
                <a:effectLst/>
              </a:rPr>
              <a:t>"</a:t>
            </a:r>
            <a:r>
              <a:rPr lang="en-US" sz="2000" dirty="0" err="1">
                <a:solidFill>
                  <a:srgbClr val="008000"/>
                </a:solidFill>
                <a:effectLst/>
              </a:rPr>
              <a:t>href</a:t>
            </a:r>
            <a:r>
              <a:rPr lang="en-US" sz="2000" dirty="0">
                <a:solidFill>
                  <a:srgbClr val="008000"/>
                </a:solidFill>
                <a:effectLst/>
              </a:rPr>
              <a:t>"</a:t>
            </a:r>
            <a:r>
              <a:rPr lang="en-US" sz="2000" dirty="0">
                <a:solidFill>
                  <a:srgbClr val="000000"/>
                </a:solidFill>
                <a:effectLst/>
              </a:rPr>
              <a:t>));</a:t>
            </a:r>
          </a:p>
          <a:p>
            <a:pPr marL="457200" lvl="1" indent="0" algn="just">
              <a:buNone/>
            </a:pP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913403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97556-154F-5B10-8D34-D9630C92B4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DD47BB-C17D-E22E-FAE7-5A0BE00B8224}"/>
              </a:ext>
            </a:extLst>
          </p:cNvPr>
          <p:cNvSpPr>
            <a:spLocks noGrp="1"/>
          </p:cNvSpPr>
          <p:nvPr>
            <p:ph idx="1"/>
          </p:nvPr>
        </p:nvSpPr>
        <p:spPr>
          <a:xfrm>
            <a:off x="838200" y="254524"/>
            <a:ext cx="10515600" cy="6410227"/>
          </a:xfrm>
        </p:spPr>
        <p:txBody>
          <a:bodyPr>
            <a:normAutofit/>
          </a:bodyPr>
          <a:lstStyle/>
          <a:p>
            <a:r>
              <a:rPr lang="en-US" b="1" dirty="0"/>
              <a:t>jQuery - Set Content and Attributes</a:t>
            </a:r>
          </a:p>
          <a:p>
            <a:r>
              <a:rPr lang="en-US" sz="2400" dirty="0"/>
              <a:t>We will use the same three methods from the previous page to </a:t>
            </a:r>
            <a:r>
              <a:rPr lang="en-US" sz="2400" b="1" dirty="0"/>
              <a:t>set content</a:t>
            </a:r>
            <a:r>
              <a:rPr lang="en-US" sz="2400" dirty="0"/>
              <a:t>:</a:t>
            </a:r>
          </a:p>
          <a:p>
            <a:pPr lvl="1"/>
            <a:r>
              <a:rPr lang="en-US" dirty="0">
                <a:solidFill>
                  <a:srgbClr val="FF3399"/>
                </a:solidFill>
              </a:rPr>
              <a:t>text()</a:t>
            </a:r>
            <a:r>
              <a:rPr lang="en-US" sz="2000" dirty="0">
                <a:solidFill>
                  <a:srgbClr val="FF3399"/>
                </a:solidFill>
              </a:rPr>
              <a:t> </a:t>
            </a:r>
            <a:r>
              <a:rPr lang="en-US" sz="2000" dirty="0"/>
              <a:t>- Sets or returns the text content of selected elements</a:t>
            </a:r>
          </a:p>
          <a:p>
            <a:pPr lvl="1"/>
            <a:r>
              <a:rPr lang="en-US" dirty="0">
                <a:solidFill>
                  <a:srgbClr val="FF3399"/>
                </a:solidFill>
              </a:rPr>
              <a:t>html()</a:t>
            </a:r>
            <a:r>
              <a:rPr lang="en-US" sz="2000" dirty="0">
                <a:solidFill>
                  <a:srgbClr val="FF3399"/>
                </a:solidFill>
              </a:rPr>
              <a:t> </a:t>
            </a:r>
            <a:r>
              <a:rPr lang="en-US" sz="2000" dirty="0"/>
              <a:t>- Sets or returns the content of selected elements (including HTML markup)</a:t>
            </a:r>
          </a:p>
          <a:p>
            <a:pPr lvl="1"/>
            <a:r>
              <a:rPr lang="en-US" dirty="0" err="1">
                <a:solidFill>
                  <a:srgbClr val="FF3399"/>
                </a:solidFill>
              </a:rPr>
              <a:t>val</a:t>
            </a:r>
            <a:r>
              <a:rPr lang="en-US" dirty="0">
                <a:solidFill>
                  <a:srgbClr val="FF3399"/>
                </a:solidFill>
              </a:rPr>
              <a:t>()</a:t>
            </a:r>
            <a:r>
              <a:rPr lang="en-US" sz="2000" dirty="0">
                <a:solidFill>
                  <a:srgbClr val="FF3399"/>
                </a:solidFill>
              </a:rPr>
              <a:t> </a:t>
            </a:r>
            <a:r>
              <a:rPr lang="en-US" sz="2000" dirty="0"/>
              <a:t>- Sets or returns the value of form fields</a:t>
            </a:r>
          </a:p>
          <a:p>
            <a:pPr lvl="1" algn="just"/>
            <a:endParaRPr lang="en-US" sz="2000" dirty="0"/>
          </a:p>
          <a:p>
            <a:pPr marL="457200" lvl="1" indent="0" algn="just">
              <a:buNone/>
            </a:pPr>
            <a:r>
              <a:rPr lang="en-IN" dirty="0">
                <a:solidFill>
                  <a:srgbClr val="000000"/>
                </a:solidFill>
                <a:effectLst/>
              </a:rPr>
              <a:t>$(</a:t>
            </a:r>
            <a:r>
              <a:rPr lang="en-IN" dirty="0">
                <a:solidFill>
                  <a:srgbClr val="008000"/>
                </a:solidFill>
                <a:effectLst/>
              </a:rPr>
              <a:t>"#btn1"</a:t>
            </a:r>
            <a:r>
              <a:rPr lang="en-IN" dirty="0">
                <a:solidFill>
                  <a:srgbClr val="000000"/>
                </a:solidFill>
                <a:effectLst/>
              </a:rPr>
              <a:t>).click(</a:t>
            </a:r>
            <a:r>
              <a:rPr lang="en-IN" dirty="0">
                <a:solidFill>
                  <a:srgbClr val="005CC5"/>
                </a:solidFill>
                <a:effectLst/>
              </a:rPr>
              <a:t>function</a:t>
            </a:r>
            <a:r>
              <a:rPr lang="en-IN" dirty="0">
                <a:solidFill>
                  <a:srgbClr val="000000"/>
                </a:solidFill>
                <a:effectLst/>
              </a:rPr>
              <a:t>(){</a:t>
            </a:r>
          </a:p>
          <a:p>
            <a:pPr marL="457200" lvl="1" indent="0" algn="just">
              <a:buNone/>
            </a:pPr>
            <a:r>
              <a:rPr lang="en-IN" dirty="0">
                <a:solidFill>
                  <a:srgbClr val="000000"/>
                </a:solidFill>
                <a:effectLst/>
              </a:rPr>
              <a:t>$(</a:t>
            </a:r>
            <a:r>
              <a:rPr lang="en-IN" dirty="0">
                <a:solidFill>
                  <a:srgbClr val="008000"/>
                </a:solidFill>
                <a:effectLst/>
              </a:rPr>
              <a:t>"#test1"</a:t>
            </a:r>
            <a:r>
              <a:rPr lang="en-IN" dirty="0">
                <a:solidFill>
                  <a:srgbClr val="000000"/>
                </a:solidFill>
                <a:effectLst/>
              </a:rPr>
              <a:t>).text(</a:t>
            </a:r>
            <a:r>
              <a:rPr lang="en-IN" dirty="0">
                <a:solidFill>
                  <a:srgbClr val="008000"/>
                </a:solidFill>
                <a:effectLst/>
              </a:rPr>
              <a:t>"Hello world!"</a:t>
            </a:r>
            <a:r>
              <a:rPr lang="en-IN" dirty="0">
                <a:solidFill>
                  <a:srgbClr val="000000"/>
                </a:solidFill>
                <a:effectLst/>
              </a:rPr>
              <a:t>);</a:t>
            </a:r>
          </a:p>
          <a:p>
            <a:pPr marL="457200" lvl="1" indent="0" algn="just">
              <a:buNone/>
            </a:pPr>
            <a:r>
              <a:rPr lang="en-IN" dirty="0">
                <a:solidFill>
                  <a:srgbClr val="000000"/>
                </a:solidFill>
                <a:effectLst/>
              </a:rPr>
              <a:t>});</a:t>
            </a:r>
          </a:p>
          <a:p>
            <a:pPr marL="457200" lvl="1" indent="0" algn="just">
              <a:buNone/>
            </a:pPr>
            <a:r>
              <a:rPr lang="en-IN" dirty="0">
                <a:solidFill>
                  <a:srgbClr val="000000"/>
                </a:solidFill>
                <a:effectLst/>
              </a:rPr>
              <a:t>$(</a:t>
            </a:r>
            <a:r>
              <a:rPr lang="en-IN" dirty="0">
                <a:solidFill>
                  <a:srgbClr val="008000"/>
                </a:solidFill>
                <a:effectLst/>
              </a:rPr>
              <a:t>"#btn2"</a:t>
            </a:r>
            <a:r>
              <a:rPr lang="en-IN" dirty="0">
                <a:solidFill>
                  <a:srgbClr val="000000"/>
                </a:solidFill>
                <a:effectLst/>
              </a:rPr>
              <a:t>).click(</a:t>
            </a:r>
            <a:r>
              <a:rPr lang="en-IN" dirty="0">
                <a:solidFill>
                  <a:srgbClr val="005CC5"/>
                </a:solidFill>
                <a:effectLst/>
              </a:rPr>
              <a:t>function</a:t>
            </a:r>
            <a:r>
              <a:rPr lang="en-IN" dirty="0">
                <a:solidFill>
                  <a:srgbClr val="000000"/>
                </a:solidFill>
                <a:effectLst/>
              </a:rPr>
              <a:t>(){</a:t>
            </a:r>
          </a:p>
          <a:p>
            <a:pPr marL="457200" lvl="1" indent="0" algn="just">
              <a:buNone/>
            </a:pPr>
            <a:r>
              <a:rPr lang="en-IN" dirty="0">
                <a:solidFill>
                  <a:srgbClr val="000000"/>
                </a:solidFill>
                <a:effectLst/>
              </a:rPr>
              <a:t>$(</a:t>
            </a:r>
            <a:r>
              <a:rPr lang="en-IN" dirty="0">
                <a:solidFill>
                  <a:srgbClr val="008000"/>
                </a:solidFill>
                <a:effectLst/>
              </a:rPr>
              <a:t>"#test2"</a:t>
            </a:r>
            <a:r>
              <a:rPr lang="en-IN" dirty="0">
                <a:solidFill>
                  <a:srgbClr val="000000"/>
                </a:solidFill>
                <a:effectLst/>
              </a:rPr>
              <a:t>).html(</a:t>
            </a:r>
            <a:r>
              <a:rPr lang="en-IN" dirty="0">
                <a:solidFill>
                  <a:srgbClr val="008000"/>
                </a:solidFill>
                <a:effectLst/>
              </a:rPr>
              <a:t>"&lt;b&gt;Hello world!&lt;/b&gt;"</a:t>
            </a:r>
            <a:r>
              <a:rPr lang="en-IN" dirty="0">
                <a:solidFill>
                  <a:srgbClr val="000000"/>
                </a:solidFill>
                <a:effectLst/>
              </a:rPr>
              <a:t>);</a:t>
            </a:r>
          </a:p>
          <a:p>
            <a:pPr marL="457200" lvl="1" indent="0" algn="just">
              <a:buNone/>
            </a:pPr>
            <a:r>
              <a:rPr lang="en-IN" dirty="0">
                <a:solidFill>
                  <a:srgbClr val="000000"/>
                </a:solidFill>
                <a:effectLst/>
              </a:rPr>
              <a:t>});</a:t>
            </a:r>
          </a:p>
          <a:p>
            <a:pPr marL="457200" lvl="1" indent="0" algn="just">
              <a:buNone/>
            </a:pPr>
            <a:r>
              <a:rPr lang="en-IN" dirty="0">
                <a:solidFill>
                  <a:srgbClr val="000000"/>
                </a:solidFill>
                <a:effectLst/>
              </a:rPr>
              <a:t>$(</a:t>
            </a:r>
            <a:r>
              <a:rPr lang="en-IN" dirty="0">
                <a:solidFill>
                  <a:srgbClr val="008000"/>
                </a:solidFill>
                <a:effectLst/>
              </a:rPr>
              <a:t>"#btn3"</a:t>
            </a:r>
            <a:r>
              <a:rPr lang="en-IN" dirty="0">
                <a:solidFill>
                  <a:srgbClr val="000000"/>
                </a:solidFill>
                <a:effectLst/>
              </a:rPr>
              <a:t>).click(</a:t>
            </a:r>
            <a:r>
              <a:rPr lang="en-IN" dirty="0">
                <a:solidFill>
                  <a:srgbClr val="005CC5"/>
                </a:solidFill>
                <a:effectLst/>
              </a:rPr>
              <a:t>function</a:t>
            </a:r>
            <a:r>
              <a:rPr lang="en-IN" dirty="0">
                <a:solidFill>
                  <a:srgbClr val="000000"/>
                </a:solidFill>
                <a:effectLst/>
              </a:rPr>
              <a:t>(){</a:t>
            </a:r>
          </a:p>
          <a:p>
            <a:pPr marL="457200" lvl="1" indent="0" algn="just">
              <a:buNone/>
            </a:pPr>
            <a:r>
              <a:rPr lang="en-IN" dirty="0">
                <a:solidFill>
                  <a:srgbClr val="000000"/>
                </a:solidFill>
                <a:effectLst/>
              </a:rPr>
              <a:t>$(</a:t>
            </a:r>
            <a:r>
              <a:rPr lang="en-IN" dirty="0">
                <a:solidFill>
                  <a:srgbClr val="008000"/>
                </a:solidFill>
                <a:effectLst/>
              </a:rPr>
              <a:t>"#test3"</a:t>
            </a:r>
            <a:r>
              <a:rPr lang="en-IN" dirty="0">
                <a:solidFill>
                  <a:srgbClr val="000000"/>
                </a:solidFill>
                <a:effectLst/>
              </a:rPr>
              <a:t>).</a:t>
            </a:r>
            <a:r>
              <a:rPr lang="en-IN" dirty="0" err="1">
                <a:solidFill>
                  <a:srgbClr val="000000"/>
                </a:solidFill>
                <a:effectLst/>
              </a:rPr>
              <a:t>val</a:t>
            </a:r>
            <a:r>
              <a:rPr lang="en-IN" dirty="0">
                <a:solidFill>
                  <a:srgbClr val="000000"/>
                </a:solidFill>
                <a:effectLst/>
              </a:rPr>
              <a:t>(</a:t>
            </a:r>
            <a:r>
              <a:rPr lang="en-IN" dirty="0">
                <a:solidFill>
                  <a:srgbClr val="008000"/>
                </a:solidFill>
                <a:effectLst/>
              </a:rPr>
              <a:t>"Dolly Duck"</a:t>
            </a:r>
            <a:r>
              <a:rPr lang="en-IN" dirty="0">
                <a:solidFill>
                  <a:srgbClr val="000000"/>
                </a:solidFill>
                <a:effectLst/>
              </a:rPr>
              <a:t>);</a:t>
            </a:r>
          </a:p>
          <a:p>
            <a:pPr marL="457200" lvl="1" indent="0" algn="just">
              <a:buNone/>
            </a:pPr>
            <a:r>
              <a:rPr lang="en-IN" dirty="0">
                <a:solidFill>
                  <a:srgbClr val="000000"/>
                </a:solidFill>
                <a:effectLst/>
              </a:rPr>
              <a:t>});</a:t>
            </a:r>
            <a:endParaRPr lang="en-US" sz="4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741066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81DFF-0BCE-D813-DB57-572912D75D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F84FBF-C8BD-4C88-5869-E95D583DB90A}"/>
              </a:ext>
            </a:extLst>
          </p:cNvPr>
          <p:cNvSpPr>
            <a:spLocks noGrp="1"/>
          </p:cNvSpPr>
          <p:nvPr>
            <p:ph idx="1"/>
          </p:nvPr>
        </p:nvSpPr>
        <p:spPr>
          <a:xfrm>
            <a:off x="838200" y="254524"/>
            <a:ext cx="10515600" cy="6410227"/>
          </a:xfrm>
        </p:spPr>
        <p:txBody>
          <a:bodyPr>
            <a:normAutofit/>
          </a:bodyPr>
          <a:lstStyle/>
          <a:p>
            <a:r>
              <a:rPr lang="en-US" b="1" dirty="0"/>
              <a:t>A Callback Function for text(), html(), and </a:t>
            </a:r>
            <a:r>
              <a:rPr lang="en-US" b="1" dirty="0" err="1"/>
              <a:t>val</a:t>
            </a:r>
            <a:r>
              <a:rPr lang="en-US" b="1" dirty="0"/>
              <a:t>()</a:t>
            </a:r>
            <a:endParaRPr lang="en-US" dirty="0"/>
          </a:p>
          <a:p>
            <a:pPr algn="just"/>
            <a:r>
              <a:rPr lang="en-US" sz="2400" dirty="0"/>
              <a:t>All of the three jQuery methods above: </a:t>
            </a:r>
            <a:r>
              <a:rPr lang="en-US" sz="2400" dirty="0">
                <a:solidFill>
                  <a:srgbClr val="FF3399"/>
                </a:solidFill>
              </a:rPr>
              <a:t>text()</a:t>
            </a:r>
            <a:r>
              <a:rPr lang="en-US" sz="2000" dirty="0">
                <a:solidFill>
                  <a:srgbClr val="FF3399"/>
                </a:solidFill>
              </a:rPr>
              <a:t>, </a:t>
            </a:r>
            <a:r>
              <a:rPr lang="en-US" sz="2400" dirty="0">
                <a:solidFill>
                  <a:srgbClr val="FF3399"/>
                </a:solidFill>
              </a:rPr>
              <a:t>html()</a:t>
            </a:r>
            <a:r>
              <a:rPr lang="en-US" sz="2400" dirty="0"/>
              <a:t>, and </a:t>
            </a:r>
            <a:r>
              <a:rPr lang="en-US" sz="2400" dirty="0" err="1">
                <a:solidFill>
                  <a:srgbClr val="FF3399"/>
                </a:solidFill>
              </a:rPr>
              <a:t>val</a:t>
            </a:r>
            <a:r>
              <a:rPr lang="en-US" sz="2400" dirty="0">
                <a:solidFill>
                  <a:srgbClr val="FF3399"/>
                </a:solidFill>
              </a:rPr>
              <a:t>()</a:t>
            </a:r>
            <a:r>
              <a:rPr lang="en-US" sz="2400" dirty="0"/>
              <a:t>, also come with a callback function. </a:t>
            </a:r>
          </a:p>
          <a:p>
            <a:pPr algn="just"/>
            <a:r>
              <a:rPr lang="en-US" sz="2400" dirty="0"/>
              <a:t>The callback function has two parameters: the </a:t>
            </a:r>
            <a:r>
              <a:rPr lang="en-US" sz="2400" dirty="0">
                <a:solidFill>
                  <a:srgbClr val="FF3399"/>
                </a:solidFill>
              </a:rPr>
              <a:t>index of the current element </a:t>
            </a:r>
            <a:r>
              <a:rPr lang="en-US" sz="2400" dirty="0"/>
              <a:t>in the list of elements selected and the </a:t>
            </a:r>
            <a:r>
              <a:rPr lang="en-US" sz="2400" dirty="0">
                <a:solidFill>
                  <a:srgbClr val="FF3399"/>
                </a:solidFill>
              </a:rPr>
              <a:t>original (old) value</a:t>
            </a:r>
            <a:r>
              <a:rPr lang="en-US" sz="2400" dirty="0"/>
              <a:t>. You then return the string you wish to use as the new value from the function.</a:t>
            </a:r>
          </a:p>
          <a:p>
            <a:pPr marL="457200" lvl="1" indent="0" algn="just">
              <a:buNone/>
            </a:pPr>
            <a:endParaRPr lang="en-IN" sz="2000" dirty="0">
              <a:solidFill>
                <a:srgbClr val="000000"/>
              </a:solidFill>
              <a:effectLst/>
            </a:endParaRPr>
          </a:p>
          <a:p>
            <a:pPr marL="457200" lvl="1" indent="0" algn="just">
              <a:buNone/>
            </a:pPr>
            <a:r>
              <a:rPr lang="en-IN" sz="2000" dirty="0">
                <a:solidFill>
                  <a:srgbClr val="000000"/>
                </a:solidFill>
                <a:effectLst/>
              </a:rPr>
              <a:t>$(</a:t>
            </a:r>
            <a:r>
              <a:rPr lang="en-IN" sz="2000" dirty="0">
                <a:solidFill>
                  <a:srgbClr val="008000"/>
                </a:solidFill>
                <a:effectLst/>
              </a:rPr>
              <a:t>"#btn1"</a:t>
            </a:r>
            <a:r>
              <a:rPr lang="en-IN" sz="2000" dirty="0">
                <a:solidFill>
                  <a:srgbClr val="000000"/>
                </a:solidFill>
                <a:effectLst/>
              </a:rPr>
              <a:t>).click(</a:t>
            </a:r>
            <a:r>
              <a:rPr lang="en-IN" sz="2000" dirty="0">
                <a:solidFill>
                  <a:srgbClr val="005CC5"/>
                </a:solidFill>
                <a:effectLst/>
              </a:rPr>
              <a:t>function</a:t>
            </a:r>
            <a:r>
              <a:rPr lang="en-IN" sz="2000" dirty="0">
                <a:solidFill>
                  <a:srgbClr val="000000"/>
                </a:solidFill>
                <a:effectLst/>
              </a:rPr>
              <a:t>(){</a:t>
            </a:r>
          </a:p>
          <a:p>
            <a:pPr marL="457200" lvl="1" indent="0" algn="just">
              <a:buNone/>
            </a:pPr>
            <a:r>
              <a:rPr lang="en-IN" sz="2000" dirty="0">
                <a:solidFill>
                  <a:srgbClr val="000000"/>
                </a:solidFill>
                <a:effectLst/>
              </a:rPr>
              <a:t>	$(</a:t>
            </a:r>
            <a:r>
              <a:rPr lang="en-IN" sz="2000" dirty="0">
                <a:solidFill>
                  <a:srgbClr val="008000"/>
                </a:solidFill>
                <a:effectLst/>
              </a:rPr>
              <a:t>"#test1"</a:t>
            </a:r>
            <a:r>
              <a:rPr lang="en-IN" sz="2000" dirty="0">
                <a:solidFill>
                  <a:srgbClr val="000000"/>
                </a:solidFill>
                <a:effectLst/>
              </a:rPr>
              <a:t>).text(</a:t>
            </a:r>
            <a:r>
              <a:rPr lang="en-IN" sz="2000" dirty="0">
                <a:solidFill>
                  <a:srgbClr val="005CC5"/>
                </a:solidFill>
                <a:effectLst/>
              </a:rPr>
              <a:t>function</a:t>
            </a:r>
            <a:r>
              <a:rPr lang="en-IN" sz="2000" dirty="0">
                <a:solidFill>
                  <a:srgbClr val="000000"/>
                </a:solidFill>
                <a:effectLst/>
              </a:rPr>
              <a:t>(</a:t>
            </a:r>
            <a:r>
              <a:rPr lang="en-IN" sz="2000" dirty="0" err="1">
                <a:solidFill>
                  <a:srgbClr val="000000"/>
                </a:solidFill>
                <a:effectLst/>
              </a:rPr>
              <a:t>i</a:t>
            </a:r>
            <a:r>
              <a:rPr lang="en-IN" sz="2000" dirty="0">
                <a:solidFill>
                  <a:srgbClr val="000000"/>
                </a:solidFill>
                <a:effectLst/>
              </a:rPr>
              <a:t>, </a:t>
            </a:r>
            <a:r>
              <a:rPr lang="en-IN" sz="2000" dirty="0" err="1">
                <a:solidFill>
                  <a:srgbClr val="000000"/>
                </a:solidFill>
                <a:effectLst/>
              </a:rPr>
              <a:t>origText</a:t>
            </a:r>
            <a:r>
              <a:rPr lang="en-IN" sz="2000" dirty="0">
                <a:solidFill>
                  <a:srgbClr val="000000"/>
                </a:solidFill>
                <a:effectLst/>
              </a:rPr>
              <a:t>){</a:t>
            </a:r>
          </a:p>
          <a:p>
            <a:pPr marL="457200" lvl="1" indent="0" algn="just">
              <a:buNone/>
            </a:pPr>
            <a:r>
              <a:rPr lang="en-IN" sz="2000" dirty="0">
                <a:solidFill>
                  <a:srgbClr val="005CC5"/>
                </a:solidFill>
                <a:effectLst/>
              </a:rPr>
              <a:t>		return</a:t>
            </a:r>
            <a:r>
              <a:rPr lang="en-IN" sz="2000" dirty="0">
                <a:solidFill>
                  <a:srgbClr val="000000"/>
                </a:solidFill>
                <a:effectLst/>
              </a:rPr>
              <a:t> </a:t>
            </a:r>
            <a:r>
              <a:rPr lang="en-IN" sz="2000" dirty="0">
                <a:solidFill>
                  <a:srgbClr val="008000"/>
                </a:solidFill>
                <a:effectLst/>
              </a:rPr>
              <a:t>"Old text: "</a:t>
            </a:r>
            <a:r>
              <a:rPr lang="en-IN" sz="2000" dirty="0">
                <a:solidFill>
                  <a:srgbClr val="000000"/>
                </a:solidFill>
                <a:effectLst/>
              </a:rPr>
              <a:t> + </a:t>
            </a:r>
            <a:r>
              <a:rPr lang="en-IN" sz="2000" dirty="0" err="1">
                <a:solidFill>
                  <a:srgbClr val="000000"/>
                </a:solidFill>
                <a:effectLst/>
              </a:rPr>
              <a:t>origText</a:t>
            </a:r>
            <a:r>
              <a:rPr lang="en-IN" sz="2000" dirty="0">
                <a:solidFill>
                  <a:srgbClr val="000000"/>
                </a:solidFill>
                <a:effectLst/>
              </a:rPr>
              <a:t> + </a:t>
            </a:r>
            <a:r>
              <a:rPr lang="en-IN" sz="2000" dirty="0">
                <a:solidFill>
                  <a:srgbClr val="008000"/>
                </a:solidFill>
                <a:effectLst/>
              </a:rPr>
              <a:t>" New text: Hello world!(index: "</a:t>
            </a:r>
            <a:r>
              <a:rPr lang="en-IN" sz="2000" dirty="0">
                <a:solidFill>
                  <a:srgbClr val="000000"/>
                </a:solidFill>
                <a:effectLst/>
              </a:rPr>
              <a:t> + </a:t>
            </a:r>
            <a:r>
              <a:rPr lang="en-IN" sz="2000" dirty="0" err="1">
                <a:solidFill>
                  <a:srgbClr val="000000"/>
                </a:solidFill>
                <a:effectLst/>
              </a:rPr>
              <a:t>i</a:t>
            </a:r>
            <a:r>
              <a:rPr lang="en-IN" sz="2000" dirty="0">
                <a:solidFill>
                  <a:srgbClr val="000000"/>
                </a:solidFill>
                <a:effectLst/>
              </a:rPr>
              <a:t> + </a:t>
            </a:r>
            <a:r>
              <a:rPr lang="en-IN" sz="2000" dirty="0">
                <a:solidFill>
                  <a:srgbClr val="008000"/>
                </a:solidFill>
                <a:effectLst/>
              </a:rPr>
              <a:t>")"</a:t>
            </a:r>
            <a:r>
              <a:rPr lang="en-IN" sz="2000" dirty="0">
                <a:solidFill>
                  <a:srgbClr val="000000"/>
                </a:solidFill>
                <a:effectLst/>
              </a:rPr>
              <a:t>;</a:t>
            </a:r>
          </a:p>
          <a:p>
            <a:pPr marL="457200" lvl="1" indent="0" algn="just">
              <a:buNone/>
            </a:pPr>
            <a:r>
              <a:rPr lang="en-IN" sz="2000" dirty="0">
                <a:solidFill>
                  <a:srgbClr val="000000"/>
                </a:solidFill>
                <a:effectLst/>
              </a:rPr>
              <a:t> 	});</a:t>
            </a:r>
          </a:p>
          <a:p>
            <a:pPr marL="457200" lvl="1" indent="0" algn="just">
              <a:buNone/>
            </a:pPr>
            <a:r>
              <a:rPr lang="en-IN" sz="2000" dirty="0">
                <a:solidFill>
                  <a:srgbClr val="000000"/>
                </a:solidFill>
                <a:effectLst/>
              </a:rPr>
              <a:t>});</a:t>
            </a:r>
          </a:p>
          <a:p>
            <a:pPr marL="457200" lvl="1" indent="0" algn="just">
              <a:buNone/>
            </a:pPr>
            <a:r>
              <a:rPr lang="en-IN" sz="2000" dirty="0">
                <a:solidFill>
                  <a:srgbClr val="000000"/>
                </a:solidFill>
                <a:effectLst/>
              </a:rPr>
              <a:t>$(</a:t>
            </a:r>
            <a:r>
              <a:rPr lang="en-IN" sz="2000" dirty="0">
                <a:solidFill>
                  <a:srgbClr val="008000"/>
                </a:solidFill>
                <a:effectLst/>
              </a:rPr>
              <a:t>"#btn2"</a:t>
            </a:r>
            <a:r>
              <a:rPr lang="en-IN" sz="2000" dirty="0">
                <a:solidFill>
                  <a:srgbClr val="000000"/>
                </a:solidFill>
                <a:effectLst/>
              </a:rPr>
              <a:t>).click(</a:t>
            </a:r>
            <a:r>
              <a:rPr lang="en-IN" sz="2000" dirty="0">
                <a:solidFill>
                  <a:srgbClr val="005CC5"/>
                </a:solidFill>
                <a:effectLst/>
              </a:rPr>
              <a:t>function</a:t>
            </a:r>
            <a:r>
              <a:rPr lang="en-IN" sz="2000" dirty="0">
                <a:solidFill>
                  <a:srgbClr val="000000"/>
                </a:solidFill>
                <a:effectLst/>
              </a:rPr>
              <a:t>(){</a:t>
            </a:r>
          </a:p>
          <a:p>
            <a:pPr marL="457200" lvl="1" indent="0" algn="just">
              <a:buNone/>
            </a:pPr>
            <a:r>
              <a:rPr lang="en-IN" sz="2000" dirty="0">
                <a:solidFill>
                  <a:srgbClr val="000000"/>
                </a:solidFill>
                <a:effectLst/>
              </a:rPr>
              <a:t>	$(</a:t>
            </a:r>
            <a:r>
              <a:rPr lang="en-IN" sz="2000" dirty="0">
                <a:solidFill>
                  <a:srgbClr val="008000"/>
                </a:solidFill>
                <a:effectLst/>
              </a:rPr>
              <a:t>"#test2"</a:t>
            </a:r>
            <a:r>
              <a:rPr lang="en-IN" sz="2000" dirty="0">
                <a:solidFill>
                  <a:srgbClr val="000000"/>
                </a:solidFill>
                <a:effectLst/>
              </a:rPr>
              <a:t>).html(</a:t>
            </a:r>
            <a:r>
              <a:rPr lang="en-IN" sz="2000" dirty="0">
                <a:solidFill>
                  <a:srgbClr val="005CC5"/>
                </a:solidFill>
                <a:effectLst/>
              </a:rPr>
              <a:t>function</a:t>
            </a:r>
            <a:r>
              <a:rPr lang="en-IN" sz="2000" dirty="0">
                <a:solidFill>
                  <a:srgbClr val="000000"/>
                </a:solidFill>
                <a:effectLst/>
              </a:rPr>
              <a:t>(</a:t>
            </a:r>
            <a:r>
              <a:rPr lang="en-IN" sz="2000" dirty="0" err="1">
                <a:solidFill>
                  <a:srgbClr val="000000"/>
                </a:solidFill>
                <a:effectLst/>
              </a:rPr>
              <a:t>i</a:t>
            </a:r>
            <a:r>
              <a:rPr lang="en-IN" sz="2000" dirty="0">
                <a:solidFill>
                  <a:srgbClr val="000000"/>
                </a:solidFill>
                <a:effectLst/>
              </a:rPr>
              <a:t>, </a:t>
            </a:r>
            <a:r>
              <a:rPr lang="en-IN" sz="2000" dirty="0" err="1">
                <a:solidFill>
                  <a:srgbClr val="000000"/>
                </a:solidFill>
                <a:effectLst/>
              </a:rPr>
              <a:t>origText</a:t>
            </a:r>
            <a:r>
              <a:rPr lang="en-IN" sz="2000" dirty="0">
                <a:solidFill>
                  <a:srgbClr val="000000"/>
                </a:solidFill>
                <a:effectLst/>
              </a:rPr>
              <a:t>){</a:t>
            </a:r>
          </a:p>
          <a:p>
            <a:pPr marL="457200" lvl="1" indent="0" algn="just">
              <a:buNone/>
            </a:pPr>
            <a:r>
              <a:rPr lang="en-IN" sz="2000" dirty="0">
                <a:solidFill>
                  <a:srgbClr val="005CC5"/>
                </a:solidFill>
                <a:effectLst/>
              </a:rPr>
              <a:t>		return</a:t>
            </a:r>
            <a:r>
              <a:rPr lang="en-IN" sz="2000" dirty="0">
                <a:solidFill>
                  <a:srgbClr val="000000"/>
                </a:solidFill>
                <a:effectLst/>
              </a:rPr>
              <a:t> </a:t>
            </a:r>
            <a:r>
              <a:rPr lang="en-IN" sz="2000" dirty="0">
                <a:solidFill>
                  <a:srgbClr val="008000"/>
                </a:solidFill>
                <a:effectLst/>
              </a:rPr>
              <a:t>"Old html: "</a:t>
            </a:r>
            <a:r>
              <a:rPr lang="en-IN" sz="2000" dirty="0">
                <a:solidFill>
                  <a:srgbClr val="000000"/>
                </a:solidFill>
                <a:effectLst/>
              </a:rPr>
              <a:t> + </a:t>
            </a:r>
            <a:r>
              <a:rPr lang="en-IN" sz="2000" dirty="0" err="1">
                <a:solidFill>
                  <a:srgbClr val="000000"/>
                </a:solidFill>
                <a:effectLst/>
              </a:rPr>
              <a:t>origText</a:t>
            </a:r>
            <a:r>
              <a:rPr lang="en-IN" sz="2000" dirty="0">
                <a:solidFill>
                  <a:srgbClr val="000000"/>
                </a:solidFill>
                <a:effectLst/>
              </a:rPr>
              <a:t> + </a:t>
            </a:r>
            <a:r>
              <a:rPr lang="en-IN" sz="2000" dirty="0">
                <a:solidFill>
                  <a:srgbClr val="008000"/>
                </a:solidFill>
                <a:effectLst/>
              </a:rPr>
              <a:t>" New html: Hello &lt;b&gt;world!&lt;/b&gt;(index: "</a:t>
            </a:r>
            <a:r>
              <a:rPr lang="en-IN" sz="2000" dirty="0">
                <a:solidFill>
                  <a:srgbClr val="000000"/>
                </a:solidFill>
                <a:effectLst/>
              </a:rPr>
              <a:t> + </a:t>
            </a:r>
            <a:r>
              <a:rPr lang="en-IN" sz="2000" dirty="0" err="1">
                <a:solidFill>
                  <a:srgbClr val="000000"/>
                </a:solidFill>
                <a:effectLst/>
              </a:rPr>
              <a:t>i</a:t>
            </a:r>
            <a:r>
              <a:rPr lang="en-IN" sz="2000" dirty="0">
                <a:solidFill>
                  <a:srgbClr val="000000"/>
                </a:solidFill>
                <a:effectLst/>
              </a:rPr>
              <a:t> + </a:t>
            </a:r>
            <a:r>
              <a:rPr lang="en-IN" sz="2000" dirty="0">
                <a:solidFill>
                  <a:srgbClr val="008000"/>
                </a:solidFill>
                <a:effectLst/>
              </a:rPr>
              <a:t>")"</a:t>
            </a:r>
            <a:r>
              <a:rPr lang="en-IN" sz="2000" dirty="0">
                <a:solidFill>
                  <a:srgbClr val="000000"/>
                </a:solidFill>
                <a:effectLst/>
              </a:rPr>
              <a:t>;</a:t>
            </a:r>
          </a:p>
          <a:p>
            <a:pPr marL="457200" lvl="1" indent="0" algn="just">
              <a:buNone/>
            </a:pPr>
            <a:r>
              <a:rPr lang="en-IN" sz="2000" dirty="0">
                <a:solidFill>
                  <a:srgbClr val="000000"/>
                </a:solidFill>
                <a:effectLst/>
              </a:rPr>
              <a:t> 	});</a:t>
            </a:r>
          </a:p>
          <a:p>
            <a:pPr marL="457200" lvl="1" indent="0" algn="just">
              <a:buNone/>
            </a:pPr>
            <a:r>
              <a:rPr lang="en-IN"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624059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0E62-EA82-6134-5970-5A9291C6C5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21DD90-0112-970A-F444-A1608C64435A}"/>
              </a:ext>
            </a:extLst>
          </p:cNvPr>
          <p:cNvSpPr>
            <a:spLocks noGrp="1"/>
          </p:cNvSpPr>
          <p:nvPr>
            <p:ph idx="1"/>
          </p:nvPr>
        </p:nvSpPr>
        <p:spPr>
          <a:xfrm>
            <a:off x="838200" y="254524"/>
            <a:ext cx="10515600" cy="6410227"/>
          </a:xfrm>
        </p:spPr>
        <p:txBody>
          <a:bodyPr/>
          <a:lstStyle/>
          <a:p>
            <a:r>
              <a:rPr lang="en-IN" b="1" dirty="0"/>
              <a:t>Set Attributes - </a:t>
            </a:r>
            <a:r>
              <a:rPr lang="en-IN" b="1" dirty="0" err="1"/>
              <a:t>attr</a:t>
            </a:r>
            <a:r>
              <a:rPr lang="en-IN" b="1" dirty="0"/>
              <a:t>()</a:t>
            </a:r>
            <a:endParaRPr lang="en-US" dirty="0"/>
          </a:p>
          <a:p>
            <a:r>
              <a:rPr lang="en-US" sz="2400" dirty="0"/>
              <a:t>The jQuery </a:t>
            </a:r>
            <a:r>
              <a:rPr lang="en-US" sz="2400" dirty="0" err="1">
                <a:solidFill>
                  <a:srgbClr val="FF3399"/>
                </a:solidFill>
              </a:rPr>
              <a:t>attr</a:t>
            </a:r>
            <a:r>
              <a:rPr lang="en-US" sz="2400" dirty="0">
                <a:solidFill>
                  <a:srgbClr val="FF3399"/>
                </a:solidFill>
              </a:rPr>
              <a:t>()</a:t>
            </a:r>
            <a:r>
              <a:rPr lang="en-US" sz="2000" dirty="0">
                <a:solidFill>
                  <a:srgbClr val="FF3399"/>
                </a:solidFill>
              </a:rPr>
              <a:t> </a:t>
            </a:r>
            <a:r>
              <a:rPr lang="en-US" sz="2400" dirty="0"/>
              <a:t>method is also used to set/change attribute values.</a:t>
            </a:r>
          </a:p>
          <a:p>
            <a:r>
              <a:rPr lang="en-US" sz="2400" dirty="0"/>
              <a:t>The following example demonstrates how to change (set) the value of the </a:t>
            </a:r>
            <a:r>
              <a:rPr lang="en-US" sz="2400" dirty="0" err="1"/>
              <a:t>href</a:t>
            </a:r>
            <a:r>
              <a:rPr lang="en-US" sz="2400" dirty="0"/>
              <a:t> attribute in a link:</a:t>
            </a:r>
          </a:p>
          <a:p>
            <a:pPr marL="457200" lvl="1" indent="0" algn="just">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"#w3s"</a:t>
            </a:r>
            <a:r>
              <a:rPr lang="en-US" sz="2000" dirty="0">
                <a:solidFill>
                  <a:srgbClr val="000000"/>
                </a:solidFill>
                <a:effectLst/>
              </a:rPr>
              <a:t>).</a:t>
            </a:r>
            <a:r>
              <a:rPr lang="en-US" sz="2000" dirty="0" err="1">
                <a:solidFill>
                  <a:srgbClr val="000000"/>
                </a:solidFill>
                <a:effectLst/>
              </a:rPr>
              <a:t>attr</a:t>
            </a:r>
            <a:r>
              <a:rPr lang="en-US" sz="2000" dirty="0">
                <a:solidFill>
                  <a:srgbClr val="000000"/>
                </a:solidFill>
                <a:effectLst/>
              </a:rPr>
              <a:t>(</a:t>
            </a:r>
            <a:r>
              <a:rPr lang="en-US" sz="2000" dirty="0">
                <a:solidFill>
                  <a:srgbClr val="008000"/>
                </a:solidFill>
                <a:effectLst/>
              </a:rPr>
              <a:t>"</a:t>
            </a:r>
            <a:r>
              <a:rPr lang="en-US" sz="2000" dirty="0" err="1">
                <a:solidFill>
                  <a:srgbClr val="008000"/>
                </a:solidFill>
                <a:effectLst/>
              </a:rPr>
              <a:t>href</a:t>
            </a:r>
            <a:r>
              <a:rPr lang="en-US" sz="2000" dirty="0">
                <a:solidFill>
                  <a:srgbClr val="008000"/>
                </a:solidFill>
                <a:effectLst/>
              </a:rPr>
              <a:t>"</a:t>
            </a:r>
            <a:r>
              <a:rPr lang="en-US" sz="2000" dirty="0">
                <a:solidFill>
                  <a:srgbClr val="000000"/>
                </a:solidFill>
                <a:effectLst/>
              </a:rPr>
              <a:t>, </a:t>
            </a:r>
            <a:r>
              <a:rPr lang="en-US" sz="2000" dirty="0">
                <a:solidFill>
                  <a:srgbClr val="008000"/>
                </a:solidFill>
                <a:effectLst/>
              </a:rPr>
              <a:t>"https://www.google.com/"</a:t>
            </a:r>
            <a:r>
              <a:rPr lang="en-US" sz="2000" dirty="0">
                <a:solidFill>
                  <a:srgbClr val="000000"/>
                </a:solidFill>
                <a:effectLst/>
              </a:rPr>
              <a:t>);</a:t>
            </a:r>
          </a:p>
          <a:p>
            <a:pPr marL="457200" lvl="1" indent="0" algn="just">
              <a:buNone/>
            </a:pPr>
            <a:r>
              <a:rPr lang="en-US" sz="2000" dirty="0">
                <a:solidFill>
                  <a:srgbClr val="000000"/>
                </a:solidFill>
                <a:effectLst/>
              </a:rPr>
              <a:t>});</a:t>
            </a:r>
          </a:p>
          <a:p>
            <a:pPr algn="just"/>
            <a:r>
              <a:rPr lang="en-US" sz="2400" dirty="0"/>
              <a:t>The </a:t>
            </a:r>
            <a:r>
              <a:rPr lang="en-US" sz="2400" dirty="0" err="1">
                <a:solidFill>
                  <a:srgbClr val="FF3399"/>
                </a:solidFill>
              </a:rPr>
              <a:t>attr</a:t>
            </a:r>
            <a:r>
              <a:rPr lang="en-US" sz="2400" dirty="0">
                <a:solidFill>
                  <a:srgbClr val="FF3399"/>
                </a:solidFill>
              </a:rPr>
              <a:t>()</a:t>
            </a:r>
            <a:r>
              <a:rPr lang="en-US" sz="2000" dirty="0">
                <a:solidFill>
                  <a:srgbClr val="FF3399"/>
                </a:solidFill>
              </a:rPr>
              <a:t> </a:t>
            </a:r>
            <a:r>
              <a:rPr lang="en-US" sz="2400" dirty="0"/>
              <a:t>method also allows you to set multiple attributes at the same time.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7906627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B9419-88F1-0A0C-AE20-C2D10AEE2D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1E364A-052D-9956-8596-1CB23106300D}"/>
              </a:ext>
            </a:extLst>
          </p:cNvPr>
          <p:cNvSpPr>
            <a:spLocks noGrp="1"/>
          </p:cNvSpPr>
          <p:nvPr>
            <p:ph idx="1"/>
          </p:nvPr>
        </p:nvSpPr>
        <p:spPr>
          <a:xfrm>
            <a:off x="838200" y="254524"/>
            <a:ext cx="10515600" cy="6410227"/>
          </a:xfrm>
        </p:spPr>
        <p:txBody>
          <a:bodyPr/>
          <a:lstStyle/>
          <a:p>
            <a:r>
              <a:rPr lang="en-IN" b="1" dirty="0"/>
              <a:t>jQuery - Add Elements</a:t>
            </a:r>
            <a:endParaRPr lang="en-US" dirty="0"/>
          </a:p>
          <a:p>
            <a:pPr>
              <a:buNone/>
            </a:pPr>
            <a:r>
              <a:rPr lang="en-US" sz="2000" dirty="0"/>
              <a:t>We will look at four jQuery methods that are used to add new content:</a:t>
            </a:r>
          </a:p>
          <a:p>
            <a:pPr>
              <a:buFont typeface="Arial" panose="020B0604020202020204" pitchFamily="34" charset="0"/>
              <a:buChar char="•"/>
            </a:pPr>
            <a:r>
              <a:rPr lang="en-US" sz="2000" dirty="0">
                <a:solidFill>
                  <a:srgbClr val="FF3399"/>
                </a:solidFill>
                <a:latin typeface="Courier New" panose="02070309020205020404" pitchFamily="49" charset="0"/>
              </a:rPr>
              <a:t>append()</a:t>
            </a:r>
            <a:r>
              <a:rPr lang="en-US" sz="2000" dirty="0">
                <a:solidFill>
                  <a:srgbClr val="FF3399"/>
                </a:solidFill>
              </a:rPr>
              <a:t> </a:t>
            </a:r>
            <a:r>
              <a:rPr lang="en-US" sz="2000" dirty="0"/>
              <a:t>- Inserts content at the end of the selected elements</a:t>
            </a:r>
          </a:p>
          <a:p>
            <a:pPr>
              <a:buFont typeface="Arial" panose="020B0604020202020204" pitchFamily="34" charset="0"/>
              <a:buChar char="•"/>
            </a:pPr>
            <a:r>
              <a:rPr lang="en-US" sz="2000" dirty="0">
                <a:solidFill>
                  <a:srgbClr val="FF3399"/>
                </a:solidFill>
                <a:latin typeface="Courier New" panose="02070309020205020404" pitchFamily="49" charset="0"/>
              </a:rPr>
              <a:t>prepend()</a:t>
            </a:r>
            <a:r>
              <a:rPr lang="en-US" sz="2000" dirty="0">
                <a:solidFill>
                  <a:srgbClr val="FF3399"/>
                </a:solidFill>
              </a:rPr>
              <a:t> </a:t>
            </a:r>
            <a:r>
              <a:rPr lang="en-US" sz="2000" dirty="0"/>
              <a:t>- Inserts content at the beginning of the selected elements</a:t>
            </a:r>
          </a:p>
          <a:p>
            <a:pPr>
              <a:buFont typeface="Arial" panose="020B0604020202020204" pitchFamily="34" charset="0"/>
              <a:buChar char="•"/>
            </a:pPr>
            <a:r>
              <a:rPr lang="en-US" sz="2000" dirty="0">
                <a:solidFill>
                  <a:srgbClr val="FF3399"/>
                </a:solidFill>
                <a:latin typeface="Courier New" panose="02070309020205020404" pitchFamily="49" charset="0"/>
              </a:rPr>
              <a:t>after()</a:t>
            </a:r>
            <a:r>
              <a:rPr lang="en-US" sz="2000" dirty="0">
                <a:solidFill>
                  <a:srgbClr val="FF3399"/>
                </a:solidFill>
              </a:rPr>
              <a:t> </a:t>
            </a:r>
            <a:r>
              <a:rPr lang="en-US" sz="2000" dirty="0"/>
              <a:t>- Inserts content after the selected elements</a:t>
            </a:r>
          </a:p>
          <a:p>
            <a:pPr>
              <a:buFont typeface="Arial" panose="020B0604020202020204" pitchFamily="34" charset="0"/>
              <a:buChar char="•"/>
            </a:pPr>
            <a:r>
              <a:rPr lang="en-US" sz="2000" dirty="0">
                <a:solidFill>
                  <a:srgbClr val="FF3399"/>
                </a:solidFill>
                <a:latin typeface="Courier New" panose="02070309020205020404" pitchFamily="49" charset="0"/>
              </a:rPr>
              <a:t>before()</a:t>
            </a:r>
            <a:r>
              <a:rPr lang="en-US" sz="2000" dirty="0">
                <a:solidFill>
                  <a:srgbClr val="FF3399"/>
                </a:solidFill>
              </a:rPr>
              <a:t> </a:t>
            </a:r>
            <a:r>
              <a:rPr lang="en-US" sz="2000" dirty="0"/>
              <a:t>- Inserts content before the selected elements</a:t>
            </a:r>
          </a:p>
          <a:p>
            <a:pPr algn="just"/>
            <a:endParaRPr lang="en-US" sz="2400" dirty="0"/>
          </a:p>
          <a:p>
            <a:r>
              <a:rPr lang="en-US" sz="2400" b="1" dirty="0"/>
              <a:t>jQuery append() Method</a:t>
            </a:r>
          </a:p>
          <a:p>
            <a:r>
              <a:rPr lang="en-US" sz="2400" dirty="0"/>
              <a:t>The jQuery </a:t>
            </a:r>
            <a:r>
              <a:rPr lang="en-US" dirty="0"/>
              <a:t>append()</a:t>
            </a:r>
            <a:r>
              <a:rPr lang="en-US" sz="2400" dirty="0"/>
              <a:t> method inserts content AT THE END of the selected HTML elements.</a:t>
            </a:r>
          </a:p>
          <a:p>
            <a:pPr lvl="1" algn="just"/>
            <a:r>
              <a:rPr lang="en-US" dirty="0">
                <a:solidFill>
                  <a:srgbClr val="000000"/>
                </a:solidFill>
                <a:effectLst/>
              </a:rPr>
              <a:t>$(</a:t>
            </a:r>
            <a:r>
              <a:rPr lang="en-US" dirty="0">
                <a:solidFill>
                  <a:srgbClr val="008000"/>
                </a:solidFill>
                <a:effectLst/>
              </a:rPr>
              <a:t>"p"</a:t>
            </a:r>
            <a:r>
              <a:rPr lang="en-US" dirty="0">
                <a:solidFill>
                  <a:srgbClr val="000000"/>
                </a:solidFill>
                <a:effectLst/>
              </a:rPr>
              <a:t>).append(</a:t>
            </a:r>
            <a:r>
              <a:rPr lang="en-US" dirty="0">
                <a:solidFill>
                  <a:srgbClr val="008000"/>
                </a:solidFill>
                <a:effectLst/>
              </a:rPr>
              <a:t>"Some appended text."</a:t>
            </a:r>
            <a:r>
              <a:rPr lang="en-US" dirty="0">
                <a:solidFill>
                  <a:srgbClr val="000000"/>
                </a:solidFill>
                <a:effectLst/>
              </a:rPr>
              <a:t>);</a:t>
            </a:r>
            <a:endParaRPr lang="en-US" sz="4000" dirty="0"/>
          </a:p>
          <a:p>
            <a:r>
              <a:rPr lang="en-US" sz="2400" b="1" dirty="0"/>
              <a:t>jQuery prepend() Method</a:t>
            </a:r>
          </a:p>
          <a:p>
            <a:r>
              <a:rPr lang="en-US" sz="2400" dirty="0"/>
              <a:t>The jQuery </a:t>
            </a:r>
            <a:r>
              <a:rPr lang="en-US" dirty="0"/>
              <a:t>prepend()</a:t>
            </a:r>
            <a:r>
              <a:rPr lang="en-US" sz="2400" dirty="0"/>
              <a:t> method inserts content AT THE BEGINNING of the selected HTML elements.</a:t>
            </a:r>
          </a:p>
          <a:p>
            <a:pPr lvl="1" algn="just"/>
            <a:r>
              <a:rPr lang="en-US" sz="1800" dirty="0">
                <a:solidFill>
                  <a:srgbClr val="000000"/>
                </a:solidFill>
                <a:effectLst/>
              </a:rPr>
              <a:t>$(</a:t>
            </a:r>
            <a:r>
              <a:rPr lang="en-US" sz="1800" dirty="0">
                <a:solidFill>
                  <a:srgbClr val="008000"/>
                </a:solidFill>
                <a:effectLst/>
              </a:rPr>
              <a:t>"p"</a:t>
            </a:r>
            <a:r>
              <a:rPr lang="en-US" sz="1800" dirty="0">
                <a:solidFill>
                  <a:srgbClr val="000000"/>
                </a:solidFill>
                <a:effectLst/>
              </a:rPr>
              <a:t>).prepend(</a:t>
            </a:r>
            <a:r>
              <a:rPr lang="en-US" sz="1800" dirty="0">
                <a:solidFill>
                  <a:srgbClr val="008000"/>
                </a:solidFill>
                <a:effectLst/>
              </a:rPr>
              <a:t>"Some prepended text."</a:t>
            </a:r>
            <a:r>
              <a:rPr lang="en-US" sz="1800" dirty="0">
                <a:solidFill>
                  <a:srgbClr val="000000"/>
                </a:solidFill>
                <a:effectLst/>
              </a:rPr>
              <a:t>);</a:t>
            </a:r>
            <a:endParaRPr lang="en-US"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237680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84152-3842-2BCB-B2BE-F3E3A91876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1AE3F1-BF25-DDD4-CB5B-1BF32563FBF5}"/>
              </a:ext>
            </a:extLst>
          </p:cNvPr>
          <p:cNvSpPr>
            <a:spLocks noGrp="1"/>
          </p:cNvSpPr>
          <p:nvPr>
            <p:ph idx="1"/>
          </p:nvPr>
        </p:nvSpPr>
        <p:spPr>
          <a:xfrm>
            <a:off x="838200" y="254524"/>
            <a:ext cx="10515600" cy="6410227"/>
          </a:xfrm>
        </p:spPr>
        <p:txBody>
          <a:bodyPr/>
          <a:lstStyle/>
          <a:p>
            <a:r>
              <a:rPr lang="en-US" dirty="0"/>
              <a:t>Continued…</a:t>
            </a:r>
          </a:p>
          <a:p>
            <a:pPr algn="just"/>
            <a:r>
              <a:rPr lang="en-US" sz="2400" dirty="0"/>
              <a:t>both the </a:t>
            </a:r>
            <a:r>
              <a:rPr lang="en-US" dirty="0">
                <a:solidFill>
                  <a:srgbClr val="FF3399"/>
                </a:solidFill>
              </a:rPr>
              <a:t>append</a:t>
            </a:r>
            <a:r>
              <a:rPr lang="en-US" dirty="0"/>
              <a:t>()</a:t>
            </a:r>
            <a:r>
              <a:rPr lang="en-US" sz="2400" dirty="0"/>
              <a:t> and </a:t>
            </a:r>
            <a:r>
              <a:rPr lang="en-US" dirty="0">
                <a:solidFill>
                  <a:srgbClr val="FF3399"/>
                </a:solidFill>
              </a:rPr>
              <a:t>prepend</a:t>
            </a:r>
            <a:r>
              <a:rPr lang="en-US" dirty="0"/>
              <a:t>()</a:t>
            </a:r>
            <a:r>
              <a:rPr lang="en-US" sz="2400" dirty="0"/>
              <a:t> methods can take an infinite number of new elements as parameters.</a:t>
            </a:r>
          </a:p>
          <a:p>
            <a:pPr algn="just"/>
            <a:r>
              <a:rPr lang="en-US" sz="2400" dirty="0"/>
              <a:t>The new elements can be generated with text/HTML, with jQuery, or with JavaScript code and DOM elements.</a:t>
            </a:r>
          </a:p>
          <a:p>
            <a:pPr marL="457200" lvl="1" indent="0" algn="just">
              <a:buNone/>
            </a:pPr>
            <a:endParaRPr lang="en-IN" dirty="0">
              <a:solidFill>
                <a:srgbClr val="005CC5"/>
              </a:solidFill>
              <a:effectLst/>
            </a:endParaRPr>
          </a:p>
          <a:p>
            <a:pPr marL="457200" lvl="1" indent="0" algn="just">
              <a:buNone/>
            </a:pPr>
            <a:r>
              <a:rPr lang="en-IN" dirty="0">
                <a:solidFill>
                  <a:srgbClr val="005CC5"/>
                </a:solidFill>
                <a:effectLst/>
              </a:rPr>
              <a:t>function</a:t>
            </a:r>
            <a:r>
              <a:rPr lang="en-IN" dirty="0">
                <a:solidFill>
                  <a:srgbClr val="000000"/>
                </a:solidFill>
                <a:effectLst/>
              </a:rPr>
              <a:t> </a:t>
            </a:r>
            <a:r>
              <a:rPr lang="en-IN" dirty="0" err="1">
                <a:solidFill>
                  <a:srgbClr val="000000"/>
                </a:solidFill>
                <a:effectLst/>
              </a:rPr>
              <a:t>appendText</a:t>
            </a:r>
            <a:r>
              <a:rPr lang="en-IN" dirty="0">
                <a:solidFill>
                  <a:srgbClr val="000000"/>
                </a:solidFill>
                <a:effectLst/>
              </a:rPr>
              <a:t>()</a:t>
            </a:r>
            <a:r>
              <a:rPr lang="en-IN" dirty="0">
                <a:solidFill>
                  <a:srgbClr val="990055"/>
                </a:solidFill>
                <a:effectLst/>
              </a:rPr>
              <a:t> </a:t>
            </a:r>
            <a:r>
              <a:rPr lang="en-IN" dirty="0">
                <a:solidFill>
                  <a:srgbClr val="000000"/>
                </a:solidFill>
                <a:effectLst/>
              </a:rPr>
              <a:t>{</a:t>
            </a:r>
          </a:p>
          <a:p>
            <a:pPr marL="457200" lvl="1" indent="0" algn="just">
              <a:buNone/>
            </a:pPr>
            <a:r>
              <a:rPr lang="en-IN" dirty="0">
                <a:solidFill>
                  <a:srgbClr val="005CC5"/>
                </a:solidFill>
                <a:effectLst/>
              </a:rPr>
              <a:t>var</a:t>
            </a:r>
            <a:r>
              <a:rPr lang="en-IN" dirty="0">
                <a:solidFill>
                  <a:srgbClr val="000000"/>
                </a:solidFill>
                <a:effectLst/>
              </a:rPr>
              <a:t> txt1 = </a:t>
            </a:r>
            <a:r>
              <a:rPr lang="en-IN" dirty="0">
                <a:solidFill>
                  <a:srgbClr val="008000"/>
                </a:solidFill>
                <a:effectLst/>
              </a:rPr>
              <a:t>"&lt;p&gt;Text.&lt;/p&gt;"</a:t>
            </a:r>
            <a:r>
              <a:rPr lang="en-IN" dirty="0">
                <a:solidFill>
                  <a:srgbClr val="000000"/>
                </a:solidFill>
                <a:effectLst/>
              </a:rPr>
              <a:t>;               	</a:t>
            </a:r>
            <a:r>
              <a:rPr lang="en-IN" dirty="0">
                <a:solidFill>
                  <a:srgbClr val="708090"/>
                </a:solidFill>
                <a:effectLst/>
              </a:rPr>
              <a:t>// Create element with HTML </a:t>
            </a:r>
          </a:p>
          <a:p>
            <a:pPr marL="457200" lvl="1" indent="0" algn="just">
              <a:buNone/>
            </a:pPr>
            <a:r>
              <a:rPr lang="en-IN" dirty="0">
                <a:solidFill>
                  <a:srgbClr val="708090"/>
                </a:solidFill>
                <a:effectLst/>
              </a:rPr>
              <a:t> </a:t>
            </a:r>
            <a:r>
              <a:rPr lang="en-IN" dirty="0">
                <a:solidFill>
                  <a:srgbClr val="005CC5"/>
                </a:solidFill>
                <a:effectLst/>
              </a:rPr>
              <a:t>var</a:t>
            </a:r>
            <a:r>
              <a:rPr lang="en-IN" dirty="0">
                <a:solidFill>
                  <a:srgbClr val="000000"/>
                </a:solidFill>
                <a:effectLst/>
              </a:rPr>
              <a:t> txt2 = $(</a:t>
            </a:r>
            <a:r>
              <a:rPr lang="en-IN" dirty="0">
                <a:solidFill>
                  <a:srgbClr val="008000"/>
                </a:solidFill>
                <a:effectLst/>
              </a:rPr>
              <a:t>"&lt;p&gt;&lt;/p&gt;"</a:t>
            </a:r>
            <a:r>
              <a:rPr lang="en-IN" dirty="0">
                <a:solidFill>
                  <a:srgbClr val="000000"/>
                </a:solidFill>
                <a:effectLst/>
              </a:rPr>
              <a:t>).text(</a:t>
            </a:r>
            <a:r>
              <a:rPr lang="en-IN" dirty="0">
                <a:solidFill>
                  <a:srgbClr val="008000"/>
                </a:solidFill>
                <a:effectLst/>
              </a:rPr>
              <a:t>"Text."</a:t>
            </a:r>
            <a:r>
              <a:rPr lang="en-IN" dirty="0">
                <a:solidFill>
                  <a:srgbClr val="000000"/>
                </a:solidFill>
                <a:effectLst/>
              </a:rPr>
              <a:t>);   	</a:t>
            </a:r>
            <a:r>
              <a:rPr lang="en-IN" dirty="0">
                <a:solidFill>
                  <a:srgbClr val="708090"/>
                </a:solidFill>
                <a:effectLst/>
              </a:rPr>
              <a:t>// Create with jQuery</a:t>
            </a:r>
          </a:p>
          <a:p>
            <a:pPr marL="457200" lvl="1" indent="0" algn="just">
              <a:buNone/>
            </a:pPr>
            <a:r>
              <a:rPr lang="en-IN" dirty="0">
                <a:solidFill>
                  <a:srgbClr val="005CC5"/>
                </a:solidFill>
                <a:effectLst/>
              </a:rPr>
              <a:t>var</a:t>
            </a:r>
            <a:r>
              <a:rPr lang="en-IN" dirty="0">
                <a:solidFill>
                  <a:srgbClr val="000000"/>
                </a:solidFill>
                <a:effectLst/>
              </a:rPr>
              <a:t> txt3 = </a:t>
            </a:r>
            <a:r>
              <a:rPr lang="en-IN" dirty="0" err="1">
                <a:solidFill>
                  <a:srgbClr val="000000"/>
                </a:solidFill>
                <a:effectLst/>
              </a:rPr>
              <a:t>document.createElement</a:t>
            </a:r>
            <a:r>
              <a:rPr lang="en-IN" dirty="0">
                <a:solidFill>
                  <a:srgbClr val="000000"/>
                </a:solidFill>
                <a:effectLst/>
              </a:rPr>
              <a:t>(</a:t>
            </a:r>
            <a:r>
              <a:rPr lang="en-IN" dirty="0">
                <a:solidFill>
                  <a:srgbClr val="008000"/>
                </a:solidFill>
                <a:effectLst/>
              </a:rPr>
              <a:t>"p"</a:t>
            </a:r>
            <a:r>
              <a:rPr lang="en-IN" dirty="0">
                <a:solidFill>
                  <a:srgbClr val="000000"/>
                </a:solidFill>
                <a:effectLst/>
              </a:rPr>
              <a:t>);  </a:t>
            </a:r>
            <a:r>
              <a:rPr lang="en-IN" dirty="0">
                <a:solidFill>
                  <a:srgbClr val="708090"/>
                </a:solidFill>
                <a:effectLst/>
              </a:rPr>
              <a:t>// Create with DOM</a:t>
            </a:r>
          </a:p>
          <a:p>
            <a:pPr marL="457200" lvl="1" indent="0" algn="just">
              <a:buNone/>
            </a:pPr>
            <a:r>
              <a:rPr lang="en-IN" dirty="0">
                <a:solidFill>
                  <a:srgbClr val="000000"/>
                </a:solidFill>
                <a:effectLst/>
              </a:rPr>
              <a:t> txt3.innerHTML = </a:t>
            </a:r>
            <a:r>
              <a:rPr lang="en-IN" dirty="0">
                <a:solidFill>
                  <a:srgbClr val="008000"/>
                </a:solidFill>
                <a:effectLst/>
              </a:rPr>
              <a:t>"Text."</a:t>
            </a:r>
            <a:r>
              <a:rPr lang="en-IN" dirty="0">
                <a:solidFill>
                  <a:srgbClr val="000000"/>
                </a:solidFill>
                <a:effectLst/>
              </a:rPr>
              <a:t>;</a:t>
            </a:r>
          </a:p>
          <a:p>
            <a:pPr marL="457200" lvl="1" indent="0" algn="just">
              <a:buNone/>
            </a:pPr>
            <a:r>
              <a:rPr lang="en-IN" dirty="0">
                <a:solidFill>
                  <a:srgbClr val="000000"/>
                </a:solidFill>
                <a:effectLst/>
              </a:rPr>
              <a:t>$(</a:t>
            </a:r>
            <a:r>
              <a:rPr lang="en-IN" dirty="0">
                <a:solidFill>
                  <a:srgbClr val="008000"/>
                </a:solidFill>
                <a:effectLst/>
              </a:rPr>
              <a:t>"body"</a:t>
            </a:r>
            <a:r>
              <a:rPr lang="en-IN" dirty="0">
                <a:solidFill>
                  <a:srgbClr val="000000"/>
                </a:solidFill>
                <a:effectLst/>
              </a:rPr>
              <a:t>).append(txt1, txt2, txt3);      	</a:t>
            </a:r>
            <a:r>
              <a:rPr lang="en-IN" dirty="0">
                <a:solidFill>
                  <a:srgbClr val="708090"/>
                </a:solidFill>
                <a:effectLst/>
              </a:rPr>
              <a:t>// Append the new elements</a:t>
            </a:r>
          </a:p>
          <a:p>
            <a:pPr marL="457200" lvl="1" indent="0" algn="just">
              <a:buNone/>
            </a:pPr>
            <a:r>
              <a:rPr lang="en-IN" dirty="0">
                <a:solidFill>
                  <a:srgbClr val="708090"/>
                </a:solidFill>
                <a:effectLst/>
              </a:rPr>
              <a:t> </a:t>
            </a:r>
            <a:r>
              <a:rPr lang="en-IN" dirty="0">
                <a:solidFill>
                  <a:srgbClr val="000000"/>
                </a:solidFill>
                <a:effectLst/>
              </a:rPr>
              <a:t>}</a:t>
            </a:r>
            <a:endParaRPr lang="en-US" sz="4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387184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A833-90E4-0D86-94EA-F8912DED37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427CBF-4EF3-17B7-F68A-7E7CD785187A}"/>
              </a:ext>
            </a:extLst>
          </p:cNvPr>
          <p:cNvSpPr>
            <a:spLocks noGrp="1"/>
          </p:cNvSpPr>
          <p:nvPr>
            <p:ph idx="1"/>
          </p:nvPr>
        </p:nvSpPr>
        <p:spPr>
          <a:xfrm>
            <a:off x="838200" y="254524"/>
            <a:ext cx="10515600" cy="6410227"/>
          </a:xfrm>
        </p:spPr>
        <p:txBody>
          <a:bodyPr/>
          <a:lstStyle/>
          <a:p>
            <a:r>
              <a:rPr lang="en-US" b="1" dirty="0"/>
              <a:t>jQuery after() and before() Methods</a:t>
            </a:r>
          </a:p>
          <a:p>
            <a:r>
              <a:rPr lang="en-US" sz="2400" dirty="0"/>
              <a:t>The jQuery after() method inserts content AFTER the selected HTML elements.</a:t>
            </a:r>
          </a:p>
          <a:p>
            <a:r>
              <a:rPr lang="en-US" sz="2400" dirty="0"/>
              <a:t>The jQuery before() method inserts content BEFORE the selected HTML elements.</a:t>
            </a:r>
          </a:p>
          <a:p>
            <a:pPr marL="457200" lvl="1" indent="0" algn="just">
              <a:buNone/>
            </a:pPr>
            <a:r>
              <a:rPr lang="en-US" dirty="0">
                <a:solidFill>
                  <a:srgbClr val="000000"/>
                </a:solidFill>
                <a:effectLst/>
              </a:rPr>
              <a:t>$(</a:t>
            </a:r>
            <a:r>
              <a:rPr lang="en-US" dirty="0">
                <a:solidFill>
                  <a:srgbClr val="008000"/>
                </a:solidFill>
                <a:effectLst/>
              </a:rPr>
              <a:t>"</a:t>
            </a:r>
            <a:r>
              <a:rPr lang="en-US" dirty="0" err="1">
                <a:solidFill>
                  <a:srgbClr val="008000"/>
                </a:solidFill>
                <a:effectLst/>
              </a:rPr>
              <a:t>img</a:t>
            </a:r>
            <a:r>
              <a:rPr lang="en-US" dirty="0">
                <a:solidFill>
                  <a:srgbClr val="008000"/>
                </a:solidFill>
                <a:effectLst/>
              </a:rPr>
              <a:t>"</a:t>
            </a:r>
            <a:r>
              <a:rPr lang="en-US" dirty="0">
                <a:solidFill>
                  <a:srgbClr val="000000"/>
                </a:solidFill>
                <a:effectLst/>
              </a:rPr>
              <a:t>).after(</a:t>
            </a:r>
            <a:r>
              <a:rPr lang="en-US" dirty="0">
                <a:solidFill>
                  <a:srgbClr val="008000"/>
                </a:solidFill>
                <a:effectLst/>
              </a:rPr>
              <a:t>"Some text after"</a:t>
            </a:r>
            <a:r>
              <a:rPr lang="en-US" dirty="0">
                <a:solidFill>
                  <a:srgbClr val="000000"/>
                </a:solidFill>
                <a:effectLst/>
              </a:rPr>
              <a:t>);</a:t>
            </a:r>
          </a:p>
          <a:p>
            <a:pPr marL="457200" lvl="1" indent="0" algn="just">
              <a:buNone/>
            </a:pPr>
            <a:r>
              <a:rPr lang="en-US" dirty="0">
                <a:solidFill>
                  <a:srgbClr val="000000"/>
                </a:solidFill>
                <a:effectLst/>
              </a:rPr>
              <a:t>$(</a:t>
            </a:r>
            <a:r>
              <a:rPr lang="en-US" dirty="0">
                <a:solidFill>
                  <a:srgbClr val="008000"/>
                </a:solidFill>
                <a:effectLst/>
              </a:rPr>
              <a:t>"</a:t>
            </a:r>
            <a:r>
              <a:rPr lang="en-US" dirty="0" err="1">
                <a:solidFill>
                  <a:srgbClr val="008000"/>
                </a:solidFill>
                <a:effectLst/>
              </a:rPr>
              <a:t>img</a:t>
            </a:r>
            <a:r>
              <a:rPr lang="en-US" dirty="0">
                <a:solidFill>
                  <a:srgbClr val="008000"/>
                </a:solidFill>
                <a:effectLst/>
              </a:rPr>
              <a:t>"</a:t>
            </a:r>
            <a:r>
              <a:rPr lang="en-US" dirty="0">
                <a:solidFill>
                  <a:srgbClr val="000000"/>
                </a:solidFill>
                <a:effectLst/>
              </a:rPr>
              <a:t>).before(</a:t>
            </a:r>
            <a:r>
              <a:rPr lang="en-US" dirty="0">
                <a:solidFill>
                  <a:srgbClr val="008000"/>
                </a:solidFill>
                <a:effectLst/>
              </a:rPr>
              <a:t>"Some text before"</a:t>
            </a:r>
            <a:r>
              <a:rPr lang="en-US" dirty="0">
                <a:solidFill>
                  <a:srgbClr val="000000"/>
                </a:solidFill>
                <a:effectLst/>
              </a:rPr>
              <a:t>);</a:t>
            </a:r>
            <a:endParaRPr lang="en-US" sz="4000" dirty="0"/>
          </a:p>
          <a:p>
            <a:pPr algn="just"/>
            <a:endParaRPr lang="en-US" sz="2400" dirty="0"/>
          </a:p>
          <a:p>
            <a:pPr algn="just"/>
            <a:r>
              <a:rPr lang="en-US" sz="2400" dirty="0"/>
              <a:t>both the </a:t>
            </a:r>
            <a:r>
              <a:rPr lang="en-US" sz="2400" dirty="0">
                <a:solidFill>
                  <a:srgbClr val="FF3399"/>
                </a:solidFill>
              </a:rPr>
              <a:t>after()</a:t>
            </a:r>
            <a:r>
              <a:rPr lang="en-US" sz="2000" dirty="0">
                <a:solidFill>
                  <a:srgbClr val="FF3399"/>
                </a:solidFill>
              </a:rPr>
              <a:t> </a:t>
            </a:r>
            <a:r>
              <a:rPr lang="en-US" sz="2400" dirty="0"/>
              <a:t>and </a:t>
            </a:r>
            <a:r>
              <a:rPr lang="en-US" sz="2400" dirty="0">
                <a:solidFill>
                  <a:srgbClr val="FF3399"/>
                </a:solidFill>
              </a:rPr>
              <a:t>before()</a:t>
            </a:r>
            <a:r>
              <a:rPr lang="en-US" sz="2000" dirty="0">
                <a:solidFill>
                  <a:srgbClr val="FF3399"/>
                </a:solidFill>
              </a:rPr>
              <a:t> </a:t>
            </a:r>
            <a:r>
              <a:rPr lang="en-US" sz="2400" dirty="0"/>
              <a:t>methods can take an infinite number of new elements as parameters. </a:t>
            </a:r>
          </a:p>
          <a:p>
            <a:pPr algn="just"/>
            <a:r>
              <a:rPr lang="en-US" sz="2400" dirty="0"/>
              <a:t>The new elements can be generated with text/HTML, with jQuery, or with JavaScript code and DOM elements.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674069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E2B0-28A4-FAE0-2DBA-16B9B03885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6CE378-EF90-4DDE-7327-A271874733D6}"/>
              </a:ext>
            </a:extLst>
          </p:cNvPr>
          <p:cNvSpPr>
            <a:spLocks noGrp="1"/>
          </p:cNvSpPr>
          <p:nvPr>
            <p:ph idx="1"/>
          </p:nvPr>
        </p:nvSpPr>
        <p:spPr>
          <a:xfrm>
            <a:off x="838200" y="254524"/>
            <a:ext cx="10515600" cy="6410227"/>
          </a:xfrm>
        </p:spPr>
        <p:txBody>
          <a:bodyPr>
            <a:normAutofit fontScale="92500"/>
          </a:bodyPr>
          <a:lstStyle/>
          <a:p>
            <a:r>
              <a:rPr lang="en-IN" b="1" dirty="0"/>
              <a:t>jQuery - Remove Elements</a:t>
            </a:r>
            <a:endParaRPr lang="en-US" dirty="0"/>
          </a:p>
          <a:p>
            <a:r>
              <a:rPr lang="en-US" sz="2400" b="1" dirty="0"/>
              <a:t>Remove Elements/Content</a:t>
            </a:r>
          </a:p>
          <a:p>
            <a:r>
              <a:rPr lang="en-US" sz="2400" dirty="0"/>
              <a:t>To remove elements and content, there are mainly two jQuery methods:</a:t>
            </a:r>
          </a:p>
          <a:p>
            <a:pPr lvl="1"/>
            <a:r>
              <a:rPr lang="en-US" dirty="0">
                <a:solidFill>
                  <a:srgbClr val="FF3399"/>
                </a:solidFill>
              </a:rPr>
              <a:t>remove()</a:t>
            </a:r>
            <a:r>
              <a:rPr lang="en-US" sz="2000" dirty="0">
                <a:solidFill>
                  <a:srgbClr val="FF3399"/>
                </a:solidFill>
              </a:rPr>
              <a:t> </a:t>
            </a:r>
            <a:r>
              <a:rPr lang="en-US" sz="2000" dirty="0"/>
              <a:t>- Removes the selected element (and its child elements)</a:t>
            </a:r>
          </a:p>
          <a:p>
            <a:pPr lvl="1"/>
            <a:r>
              <a:rPr lang="en-US" dirty="0">
                <a:solidFill>
                  <a:srgbClr val="FF3399"/>
                </a:solidFill>
              </a:rPr>
              <a:t>empty()</a:t>
            </a:r>
            <a:r>
              <a:rPr lang="en-US" sz="2000" dirty="0">
                <a:solidFill>
                  <a:srgbClr val="FF3399"/>
                </a:solidFill>
              </a:rPr>
              <a:t> </a:t>
            </a:r>
            <a:r>
              <a:rPr lang="en-US" sz="2000" dirty="0"/>
              <a:t>- Removes the child elements from the selected element</a:t>
            </a:r>
          </a:p>
          <a:p>
            <a:r>
              <a:rPr lang="en-US" sz="2400" b="1" dirty="0"/>
              <a:t>jQuery remove() Method</a:t>
            </a:r>
          </a:p>
          <a:p>
            <a:r>
              <a:rPr lang="en-US" sz="2400" dirty="0"/>
              <a:t>The jQuery </a:t>
            </a:r>
            <a:r>
              <a:rPr lang="en-US" dirty="0"/>
              <a:t>remove()</a:t>
            </a:r>
            <a:r>
              <a:rPr lang="en-US" sz="2400" dirty="0"/>
              <a:t> method removes the selected element(s) and its child elements.</a:t>
            </a:r>
          </a:p>
          <a:p>
            <a:pPr lvl="1" algn="just"/>
            <a:r>
              <a:rPr lang="en-IN" sz="1600" dirty="0">
                <a:solidFill>
                  <a:srgbClr val="000000"/>
                </a:solidFill>
                <a:effectLst/>
              </a:rPr>
              <a:t>$(</a:t>
            </a:r>
            <a:r>
              <a:rPr lang="en-IN" sz="1600" dirty="0">
                <a:solidFill>
                  <a:srgbClr val="008000"/>
                </a:solidFill>
                <a:effectLst/>
              </a:rPr>
              <a:t>"#div1"</a:t>
            </a:r>
            <a:r>
              <a:rPr lang="en-IN" sz="1600" dirty="0">
                <a:solidFill>
                  <a:srgbClr val="000000"/>
                </a:solidFill>
                <a:effectLst/>
              </a:rPr>
              <a:t>).remove();</a:t>
            </a:r>
            <a:endParaRPr lang="en-US" sz="2000" dirty="0"/>
          </a:p>
          <a:p>
            <a:r>
              <a:rPr lang="en-US" sz="2400" b="1" dirty="0"/>
              <a:t>jQuery empty() Method</a:t>
            </a:r>
          </a:p>
          <a:p>
            <a:r>
              <a:rPr lang="en-US" sz="2400" dirty="0"/>
              <a:t>The jQuery </a:t>
            </a:r>
            <a:r>
              <a:rPr lang="en-US" dirty="0"/>
              <a:t>empty()</a:t>
            </a:r>
            <a:r>
              <a:rPr lang="en-US" sz="2400" dirty="0"/>
              <a:t> method removes the child elements of the selected element(s).</a:t>
            </a:r>
          </a:p>
          <a:p>
            <a:pPr lvl="1" algn="just"/>
            <a:r>
              <a:rPr lang="en-IN" sz="1600" dirty="0">
                <a:solidFill>
                  <a:srgbClr val="000000"/>
                </a:solidFill>
                <a:effectLst/>
              </a:rPr>
              <a:t>$(</a:t>
            </a:r>
            <a:r>
              <a:rPr lang="en-IN" sz="1600" dirty="0">
                <a:solidFill>
                  <a:srgbClr val="008000"/>
                </a:solidFill>
                <a:effectLst/>
              </a:rPr>
              <a:t>"#div1"</a:t>
            </a:r>
            <a:r>
              <a:rPr lang="en-IN" sz="1600" dirty="0">
                <a:solidFill>
                  <a:srgbClr val="000000"/>
                </a:solidFill>
                <a:effectLst/>
              </a:rPr>
              <a:t>).empty();</a:t>
            </a:r>
            <a:endParaRPr lang="en-US" sz="2000" dirty="0"/>
          </a:p>
          <a:p>
            <a:r>
              <a:rPr lang="en-US" sz="2400" b="1" dirty="0"/>
              <a:t>Filter the Elements to be Removed</a:t>
            </a:r>
          </a:p>
          <a:p>
            <a:r>
              <a:rPr lang="en-US" sz="2400" dirty="0"/>
              <a:t>The jQuery </a:t>
            </a:r>
            <a:r>
              <a:rPr lang="en-US" dirty="0"/>
              <a:t>remove()</a:t>
            </a:r>
            <a:r>
              <a:rPr lang="en-US" sz="2400" dirty="0"/>
              <a:t> method also accepts one parameter, which allows you to filter the elements to be removed.</a:t>
            </a:r>
          </a:p>
          <a:p>
            <a:r>
              <a:rPr lang="en-US" sz="2400" dirty="0"/>
              <a:t>The parameter can be any of the jQuery selector syntaxes.</a:t>
            </a:r>
          </a:p>
          <a:p>
            <a:pPr lvl="1" algn="just"/>
            <a:r>
              <a:rPr lang="en-IN" sz="1600" dirty="0">
                <a:solidFill>
                  <a:srgbClr val="000000"/>
                </a:solidFill>
                <a:effectLst/>
              </a:rPr>
              <a:t>$(</a:t>
            </a:r>
            <a:r>
              <a:rPr lang="en-IN" sz="1600" dirty="0">
                <a:solidFill>
                  <a:srgbClr val="008000"/>
                </a:solidFill>
                <a:effectLst/>
              </a:rPr>
              <a:t>"p"</a:t>
            </a:r>
            <a:r>
              <a:rPr lang="en-IN" sz="1600" dirty="0">
                <a:solidFill>
                  <a:srgbClr val="000000"/>
                </a:solidFill>
                <a:effectLst/>
              </a:rPr>
              <a:t>).remove(</a:t>
            </a:r>
            <a:r>
              <a:rPr lang="en-IN" sz="1600" dirty="0">
                <a:solidFill>
                  <a:srgbClr val="008000"/>
                </a:solidFill>
                <a:effectLst/>
              </a:rPr>
              <a:t>".test"</a:t>
            </a:r>
            <a:r>
              <a:rPr lang="en-IN" sz="1600" dirty="0">
                <a:solidFill>
                  <a:srgbClr val="000000"/>
                </a:solidFill>
                <a:effectLst/>
              </a:rPr>
              <a:t>);</a:t>
            </a:r>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42695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1531D-7407-378F-52FD-0830F61800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2644C0-7D6A-6E58-3759-2841260911CA}"/>
              </a:ext>
            </a:extLst>
          </p:cNvPr>
          <p:cNvSpPr>
            <a:spLocks noGrp="1"/>
          </p:cNvSpPr>
          <p:nvPr>
            <p:ph idx="1"/>
          </p:nvPr>
        </p:nvSpPr>
        <p:spPr>
          <a:xfrm>
            <a:off x="838200" y="254524"/>
            <a:ext cx="10515600" cy="6410227"/>
          </a:xfrm>
        </p:spPr>
        <p:txBody>
          <a:bodyPr/>
          <a:lstStyle/>
          <a:p>
            <a:r>
              <a:rPr lang="en-US" b="1" dirty="0"/>
              <a:t>jQuery - Get and Set CSS Classes</a:t>
            </a:r>
            <a:endParaRPr lang="en-US" dirty="0"/>
          </a:p>
          <a:p>
            <a:r>
              <a:rPr lang="en-US" sz="2400" dirty="0"/>
              <a:t>jQuery has several methods for CSS manipulation. We will look at the following methods:</a:t>
            </a:r>
          </a:p>
          <a:p>
            <a:pPr lvl="1"/>
            <a:r>
              <a:rPr lang="en-US" sz="2000" dirty="0" err="1">
                <a:solidFill>
                  <a:srgbClr val="FF3399"/>
                </a:solidFill>
              </a:rPr>
              <a:t>addClass</a:t>
            </a:r>
            <a:r>
              <a:rPr lang="en-US" sz="2000" dirty="0">
                <a:solidFill>
                  <a:srgbClr val="FF3399"/>
                </a:solidFill>
              </a:rPr>
              <a:t>()</a:t>
            </a:r>
            <a:r>
              <a:rPr lang="en-US" sz="1800" dirty="0">
                <a:solidFill>
                  <a:srgbClr val="FF3399"/>
                </a:solidFill>
              </a:rPr>
              <a:t> </a:t>
            </a:r>
            <a:r>
              <a:rPr lang="en-US" sz="2000" dirty="0"/>
              <a:t>- Adds one or more classes to the selected elements</a:t>
            </a:r>
          </a:p>
          <a:p>
            <a:pPr lvl="1"/>
            <a:r>
              <a:rPr lang="en-US" sz="2000" dirty="0" err="1">
                <a:solidFill>
                  <a:srgbClr val="FF3399"/>
                </a:solidFill>
              </a:rPr>
              <a:t>removeClass</a:t>
            </a:r>
            <a:r>
              <a:rPr lang="en-US" sz="2000" dirty="0">
                <a:solidFill>
                  <a:srgbClr val="FF3399"/>
                </a:solidFill>
              </a:rPr>
              <a:t>()</a:t>
            </a:r>
            <a:r>
              <a:rPr lang="en-US" sz="1800" dirty="0">
                <a:solidFill>
                  <a:srgbClr val="FF3399"/>
                </a:solidFill>
              </a:rPr>
              <a:t> </a:t>
            </a:r>
            <a:r>
              <a:rPr lang="en-US" sz="2000" dirty="0"/>
              <a:t>- Removes one or more classes from the selected elements</a:t>
            </a:r>
          </a:p>
          <a:p>
            <a:pPr lvl="1"/>
            <a:r>
              <a:rPr lang="en-US" sz="2000" dirty="0" err="1">
                <a:solidFill>
                  <a:srgbClr val="FF3399"/>
                </a:solidFill>
              </a:rPr>
              <a:t>toggleClass</a:t>
            </a:r>
            <a:r>
              <a:rPr lang="en-US" sz="2000" dirty="0">
                <a:solidFill>
                  <a:srgbClr val="FF3399"/>
                </a:solidFill>
              </a:rPr>
              <a:t>()</a:t>
            </a:r>
            <a:r>
              <a:rPr lang="en-US" sz="1800" dirty="0">
                <a:solidFill>
                  <a:srgbClr val="FF3399"/>
                </a:solidFill>
              </a:rPr>
              <a:t> </a:t>
            </a:r>
            <a:r>
              <a:rPr lang="en-US" sz="2000" dirty="0"/>
              <a:t>- Toggles between adding/removing classes from the selected elements</a:t>
            </a:r>
          </a:p>
          <a:p>
            <a:pPr lvl="1"/>
            <a:r>
              <a:rPr lang="en-US" sz="2000" dirty="0" err="1">
                <a:solidFill>
                  <a:srgbClr val="FF3399"/>
                </a:solidFill>
              </a:rPr>
              <a:t>css</a:t>
            </a:r>
            <a:r>
              <a:rPr lang="en-US" sz="2000" dirty="0">
                <a:solidFill>
                  <a:srgbClr val="FF3399"/>
                </a:solidFill>
              </a:rPr>
              <a:t>()</a:t>
            </a:r>
            <a:r>
              <a:rPr lang="en-US" sz="2000" dirty="0"/>
              <a:t> - Sets or returns the style attribute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027809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9550-AA20-2854-7597-D2EEF258D9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744239-C284-6159-47BB-A656B05D88FA}"/>
              </a:ext>
            </a:extLst>
          </p:cNvPr>
          <p:cNvSpPr>
            <a:spLocks noGrp="1"/>
          </p:cNvSpPr>
          <p:nvPr>
            <p:ph idx="1"/>
          </p:nvPr>
        </p:nvSpPr>
        <p:spPr>
          <a:xfrm>
            <a:off x="838200" y="254524"/>
            <a:ext cx="10515600" cy="6410227"/>
          </a:xfrm>
        </p:spPr>
        <p:txBody>
          <a:bodyPr/>
          <a:lstStyle/>
          <a:p>
            <a:r>
              <a:rPr lang="en-US" dirty="0"/>
              <a:t>Title</a:t>
            </a:r>
          </a:p>
          <a:p>
            <a:pPr algn="just"/>
            <a:r>
              <a:rPr lang="en-US" sz="2400" dirty="0"/>
              <a:t>Content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id="{2DE525AE-7F23-0096-D580-F03E1018857D}"/>
              </a:ext>
            </a:extLst>
          </p:cNvPr>
          <p:cNvPicPr>
            <a:picLocks noChangeAspect="1"/>
          </p:cNvPicPr>
          <p:nvPr/>
        </p:nvPicPr>
        <p:blipFill>
          <a:blip r:embed="rId2"/>
          <a:stretch>
            <a:fillRect/>
          </a:stretch>
        </p:blipFill>
        <p:spPr>
          <a:xfrm>
            <a:off x="384510" y="163527"/>
            <a:ext cx="8802328" cy="6592220"/>
          </a:xfrm>
          <a:prstGeom prst="rect">
            <a:avLst/>
          </a:prstGeom>
        </p:spPr>
      </p:pic>
    </p:spTree>
    <p:extLst>
      <p:ext uri="{BB962C8B-B14F-4D97-AF65-F5344CB8AC3E}">
        <p14:creationId xmlns:p14="http://schemas.microsoft.com/office/powerpoint/2010/main" val="25215710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8A672-9F06-329C-A9EE-A5BB751057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448199-3BB7-EED6-BB19-2B9054965AD8}"/>
              </a:ext>
            </a:extLst>
          </p:cNvPr>
          <p:cNvSpPr>
            <a:spLocks noGrp="1"/>
          </p:cNvSpPr>
          <p:nvPr>
            <p:ph idx="1"/>
          </p:nvPr>
        </p:nvSpPr>
        <p:spPr>
          <a:xfrm>
            <a:off x="838200" y="254524"/>
            <a:ext cx="10515600" cy="6410227"/>
          </a:xfrm>
        </p:spPr>
        <p:txBody>
          <a:bodyPr>
            <a:normAutofit/>
          </a:bodyPr>
          <a:lstStyle/>
          <a:p>
            <a:r>
              <a:rPr lang="en-US" sz="2400" b="1" dirty="0"/>
              <a:t>jQuery </a:t>
            </a:r>
            <a:r>
              <a:rPr lang="en-US" sz="2400" b="1" dirty="0" err="1"/>
              <a:t>addClass</a:t>
            </a:r>
            <a:r>
              <a:rPr lang="en-US" sz="2400" b="1" dirty="0"/>
              <a:t>() Method</a:t>
            </a:r>
          </a:p>
          <a:p>
            <a:r>
              <a:rPr lang="en-US" sz="2400" dirty="0"/>
              <a:t>The following example shows how to add class attributes to different elements. Of course you can select multiple elements, when adding classes</a:t>
            </a:r>
            <a:endParaRPr lang="en-US" dirty="0">
              <a:solidFill>
                <a:srgbClr val="000000"/>
              </a:solidFill>
              <a:effectLst/>
            </a:endParaRPr>
          </a:p>
          <a:p>
            <a:pPr marL="457200" lvl="1" indent="0" algn="just">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"h1, h2, p"</a:t>
            </a:r>
            <a:r>
              <a:rPr lang="en-US" sz="2000" dirty="0">
                <a:solidFill>
                  <a:srgbClr val="000000"/>
                </a:solidFill>
                <a:effectLst/>
              </a:rPr>
              <a:t>).</a:t>
            </a:r>
            <a:r>
              <a:rPr lang="en-US" sz="2000" dirty="0" err="1">
                <a:solidFill>
                  <a:srgbClr val="000000"/>
                </a:solidFill>
                <a:effectLst/>
              </a:rPr>
              <a:t>addClass</a:t>
            </a:r>
            <a:r>
              <a:rPr lang="en-US" sz="2000" dirty="0">
                <a:solidFill>
                  <a:srgbClr val="000000"/>
                </a:solidFill>
                <a:effectLst/>
              </a:rPr>
              <a:t>(</a:t>
            </a:r>
            <a:r>
              <a:rPr lang="en-US" sz="2000" dirty="0">
                <a:solidFill>
                  <a:srgbClr val="008000"/>
                </a:solidFill>
                <a:effectLst/>
              </a:rPr>
              <a:t>"blue"</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"div"</a:t>
            </a:r>
            <a:r>
              <a:rPr lang="en-US" sz="2000" dirty="0">
                <a:solidFill>
                  <a:srgbClr val="000000"/>
                </a:solidFill>
                <a:effectLst/>
              </a:rPr>
              <a:t>).</a:t>
            </a:r>
            <a:r>
              <a:rPr lang="en-US" sz="2000" dirty="0" err="1">
                <a:solidFill>
                  <a:srgbClr val="000000"/>
                </a:solidFill>
                <a:effectLst/>
              </a:rPr>
              <a:t>addClass</a:t>
            </a:r>
            <a:r>
              <a:rPr lang="en-US" sz="2000" dirty="0">
                <a:solidFill>
                  <a:srgbClr val="000000"/>
                </a:solidFill>
                <a:effectLst/>
              </a:rPr>
              <a:t>(</a:t>
            </a:r>
            <a:r>
              <a:rPr lang="en-US" sz="2000" dirty="0">
                <a:solidFill>
                  <a:srgbClr val="008000"/>
                </a:solidFill>
                <a:effectLst/>
              </a:rPr>
              <a:t>"important"</a:t>
            </a:r>
            <a:r>
              <a:rPr lang="en-US" sz="2000" dirty="0">
                <a:solidFill>
                  <a:srgbClr val="000000"/>
                </a:solidFill>
                <a:effectLst/>
              </a:rPr>
              <a:t>);</a:t>
            </a:r>
          </a:p>
          <a:p>
            <a:pPr marL="457200" lvl="1" indent="0" algn="just">
              <a:buNone/>
            </a:pPr>
            <a:r>
              <a:rPr lang="en-US" sz="2000" dirty="0">
                <a:solidFill>
                  <a:srgbClr val="000000"/>
                </a:solidFill>
                <a:effectLst/>
              </a:rPr>
              <a:t>});</a:t>
            </a:r>
            <a:endParaRPr lang="en-US" sz="3600" dirty="0"/>
          </a:p>
          <a:p>
            <a:pPr algn="just"/>
            <a:r>
              <a:rPr lang="en-IN" sz="2400" b="1" dirty="0"/>
              <a:t>jQuery </a:t>
            </a:r>
            <a:r>
              <a:rPr lang="en-IN" sz="2400" b="1" dirty="0" err="1"/>
              <a:t>removeClass</a:t>
            </a:r>
            <a:r>
              <a:rPr lang="en-IN" sz="2400" b="1" dirty="0"/>
              <a:t>() Method</a:t>
            </a:r>
          </a:p>
          <a:p>
            <a:pPr algn="just"/>
            <a:r>
              <a:rPr lang="en-US" sz="2400" dirty="0"/>
              <a:t>remove a specific class attribute from different elements</a:t>
            </a:r>
          </a:p>
          <a:p>
            <a:pPr marL="457200" lvl="1" indent="0" algn="just">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	$(</a:t>
            </a:r>
            <a:r>
              <a:rPr lang="en-US" sz="2000" dirty="0">
                <a:solidFill>
                  <a:srgbClr val="008000"/>
                </a:solidFill>
                <a:effectLst/>
              </a:rPr>
              <a:t>"h1, h2, p"</a:t>
            </a:r>
            <a:r>
              <a:rPr lang="en-US" sz="2000" dirty="0">
                <a:solidFill>
                  <a:srgbClr val="000000"/>
                </a:solidFill>
                <a:effectLst/>
              </a:rPr>
              <a:t>).</a:t>
            </a:r>
            <a:r>
              <a:rPr lang="en-US" sz="2000" dirty="0" err="1">
                <a:solidFill>
                  <a:srgbClr val="000000"/>
                </a:solidFill>
                <a:effectLst/>
              </a:rPr>
              <a:t>removeClass</a:t>
            </a:r>
            <a:r>
              <a:rPr lang="en-US" sz="2000" dirty="0">
                <a:solidFill>
                  <a:srgbClr val="000000"/>
                </a:solidFill>
                <a:effectLst/>
              </a:rPr>
              <a:t>(</a:t>
            </a:r>
            <a:r>
              <a:rPr lang="en-US" sz="2000" dirty="0">
                <a:solidFill>
                  <a:srgbClr val="008000"/>
                </a:solidFill>
                <a:effectLst/>
              </a:rPr>
              <a:t>"blue"</a:t>
            </a:r>
            <a:r>
              <a:rPr lang="en-US" sz="2000" dirty="0">
                <a:solidFill>
                  <a:srgbClr val="000000"/>
                </a:solidFill>
                <a:effectLst/>
              </a:rPr>
              <a:t>);</a:t>
            </a:r>
          </a:p>
          <a:p>
            <a:pPr marL="457200" lvl="1" indent="0" algn="just">
              <a:buNone/>
            </a:pPr>
            <a:r>
              <a:rPr lang="en-US" sz="2000" dirty="0">
                <a:solidFill>
                  <a:srgbClr val="000000"/>
                </a:solidFill>
                <a:effectLst/>
              </a:rPr>
              <a:t>});</a:t>
            </a:r>
            <a:endParaRPr lang="en-US" sz="2800" dirty="0"/>
          </a:p>
          <a:p>
            <a:pPr algn="just"/>
            <a:r>
              <a:rPr lang="en-IN" sz="2400" b="1" dirty="0"/>
              <a:t>jQuery </a:t>
            </a:r>
            <a:r>
              <a:rPr lang="en-IN" sz="2400" b="1" dirty="0" err="1"/>
              <a:t>toggleClass</a:t>
            </a:r>
            <a:r>
              <a:rPr lang="en-IN" sz="2400" b="1" dirty="0"/>
              <a:t>() Method - </a:t>
            </a:r>
            <a:r>
              <a:rPr lang="en-US" sz="2400" dirty="0"/>
              <a:t>adding/removing classes from the selected elements</a:t>
            </a:r>
            <a:endParaRPr lang="en-IN" sz="2400" b="1" dirty="0"/>
          </a:p>
          <a:p>
            <a:pPr marL="457200" lvl="1" indent="0" algn="just">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effectLst/>
              </a:rPr>
              <a:t>$(</a:t>
            </a:r>
            <a:r>
              <a:rPr lang="en-US" sz="2000" dirty="0">
                <a:solidFill>
                  <a:srgbClr val="008000"/>
                </a:solidFill>
                <a:effectLst/>
              </a:rPr>
              <a:t>"h1, h2, p"</a:t>
            </a:r>
            <a:r>
              <a:rPr lang="en-US" sz="2000" dirty="0">
                <a:solidFill>
                  <a:srgbClr val="000000"/>
                </a:solidFill>
                <a:effectLst/>
              </a:rPr>
              <a:t>).</a:t>
            </a:r>
            <a:r>
              <a:rPr lang="en-US" sz="2000" dirty="0" err="1">
                <a:solidFill>
                  <a:srgbClr val="000000"/>
                </a:solidFill>
                <a:effectLst/>
              </a:rPr>
              <a:t>toggleClass</a:t>
            </a:r>
            <a:r>
              <a:rPr lang="en-US" sz="2000" dirty="0">
                <a:solidFill>
                  <a:srgbClr val="000000"/>
                </a:solidFill>
                <a:effectLst/>
              </a:rPr>
              <a:t>(</a:t>
            </a:r>
            <a:r>
              <a:rPr lang="en-US" sz="2000" dirty="0">
                <a:solidFill>
                  <a:srgbClr val="008000"/>
                </a:solidFill>
                <a:effectLst/>
              </a:rPr>
              <a:t>"blue"</a:t>
            </a:r>
            <a:r>
              <a:rPr lang="en-US" sz="2000" dirty="0">
                <a:solidFill>
                  <a:srgbClr val="000000"/>
                </a:solidFill>
                <a:effectLst/>
              </a:rPr>
              <a:t>);</a:t>
            </a:r>
          </a:p>
          <a:p>
            <a:pPr marL="457200" lvl="1" indent="0" algn="just">
              <a:buNone/>
            </a:pPr>
            <a:r>
              <a:rPr lang="en-US" sz="2000" dirty="0">
                <a:solidFill>
                  <a:srgbClr val="000000"/>
                </a:solidFill>
                <a:effectLst/>
              </a:rPr>
              <a:t>});</a:t>
            </a:r>
            <a:endParaRPr lang="en-US" sz="28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36976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8F5CD-7F1C-2754-BB0A-8323504F05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A67AE9-25FB-CBCE-763E-5D85CE37D525}"/>
              </a:ext>
            </a:extLst>
          </p:cNvPr>
          <p:cNvSpPr>
            <a:spLocks noGrp="1"/>
          </p:cNvSpPr>
          <p:nvPr>
            <p:ph idx="1"/>
          </p:nvPr>
        </p:nvSpPr>
        <p:spPr>
          <a:xfrm>
            <a:off x="838200" y="254524"/>
            <a:ext cx="10515600" cy="6410227"/>
          </a:xfrm>
        </p:spPr>
        <p:txBody>
          <a:bodyPr/>
          <a:lstStyle/>
          <a:p>
            <a:r>
              <a:rPr lang="en-US" b="1" dirty="0"/>
              <a:t>jQuery </a:t>
            </a:r>
            <a:r>
              <a:rPr lang="en-US" b="1" dirty="0" err="1"/>
              <a:t>css</a:t>
            </a:r>
            <a:r>
              <a:rPr lang="en-US" b="1" dirty="0"/>
              <a:t>() Method</a:t>
            </a:r>
          </a:p>
          <a:p>
            <a:r>
              <a:rPr lang="en-US" sz="2400" dirty="0"/>
              <a:t>The </a:t>
            </a:r>
            <a:r>
              <a:rPr lang="en-US" sz="2400" dirty="0" err="1"/>
              <a:t>css</a:t>
            </a:r>
            <a:r>
              <a:rPr lang="en-US" sz="2400" dirty="0"/>
              <a:t>() method sets or returns one or more style properties for the selected elements.</a:t>
            </a:r>
            <a:endParaRPr lang="en-US" dirty="0"/>
          </a:p>
          <a:p>
            <a:pPr algn="just"/>
            <a:r>
              <a:rPr lang="en-IN" sz="2400" b="1" dirty="0"/>
              <a:t>Return a CSS Property - </a:t>
            </a:r>
            <a:r>
              <a:rPr lang="en-US" sz="2400" dirty="0"/>
              <a:t>To return the value of a specified CSS property</a:t>
            </a:r>
            <a:endParaRPr lang="en-IN" sz="2400" b="1" dirty="0"/>
          </a:p>
          <a:p>
            <a:pPr lvl="1" algn="just"/>
            <a:r>
              <a:rPr lang="en-IN" sz="2000" dirty="0">
                <a:solidFill>
                  <a:srgbClr val="000000"/>
                </a:solidFill>
                <a:effectLst/>
              </a:rPr>
              <a:t>$(</a:t>
            </a:r>
            <a:r>
              <a:rPr lang="en-IN" sz="2000" dirty="0">
                <a:solidFill>
                  <a:srgbClr val="008000"/>
                </a:solidFill>
                <a:effectLst/>
              </a:rPr>
              <a:t>"p"</a:t>
            </a:r>
            <a:r>
              <a:rPr lang="en-IN" sz="2000" dirty="0">
                <a:solidFill>
                  <a:srgbClr val="000000"/>
                </a:solidFill>
                <a:effectLst/>
              </a:rPr>
              <a:t>).</a:t>
            </a:r>
            <a:r>
              <a:rPr lang="en-IN" sz="2000" dirty="0" err="1">
                <a:solidFill>
                  <a:srgbClr val="000000"/>
                </a:solidFill>
                <a:effectLst/>
              </a:rPr>
              <a:t>css</a:t>
            </a:r>
            <a:r>
              <a:rPr lang="en-IN" sz="2000" dirty="0">
                <a:solidFill>
                  <a:srgbClr val="000000"/>
                </a:solidFill>
                <a:effectLst/>
              </a:rPr>
              <a:t>(</a:t>
            </a:r>
            <a:r>
              <a:rPr lang="en-IN" sz="2000" dirty="0">
                <a:solidFill>
                  <a:srgbClr val="008000"/>
                </a:solidFill>
                <a:effectLst/>
              </a:rPr>
              <a:t>"background-</a:t>
            </a:r>
            <a:r>
              <a:rPr lang="en-IN" sz="2000" dirty="0" err="1">
                <a:solidFill>
                  <a:srgbClr val="008000"/>
                </a:solidFill>
                <a:effectLst/>
              </a:rPr>
              <a:t>color</a:t>
            </a:r>
            <a:r>
              <a:rPr lang="en-IN" sz="2000" dirty="0">
                <a:solidFill>
                  <a:srgbClr val="008000"/>
                </a:solidFill>
                <a:effectLst/>
              </a:rPr>
              <a:t>"</a:t>
            </a:r>
            <a:r>
              <a:rPr lang="en-IN" sz="2000" dirty="0">
                <a:solidFill>
                  <a:srgbClr val="000000"/>
                </a:solidFill>
                <a:effectLst/>
              </a:rPr>
              <a:t>);</a:t>
            </a:r>
            <a:endParaRPr lang="en-US" sz="2800" dirty="0"/>
          </a:p>
          <a:p>
            <a:pPr algn="just"/>
            <a:r>
              <a:rPr lang="en-IN" sz="2400" b="1" dirty="0"/>
              <a:t>Set a CSS Property</a:t>
            </a:r>
          </a:p>
          <a:p>
            <a:pPr lvl="1" algn="just"/>
            <a:r>
              <a:rPr lang="en-IN" sz="2000" dirty="0">
                <a:solidFill>
                  <a:srgbClr val="000000"/>
                </a:solidFill>
                <a:effectLst/>
              </a:rPr>
              <a:t>$(</a:t>
            </a:r>
            <a:r>
              <a:rPr lang="en-IN" sz="2000" dirty="0">
                <a:solidFill>
                  <a:srgbClr val="008000"/>
                </a:solidFill>
                <a:effectLst/>
              </a:rPr>
              <a:t>"p"</a:t>
            </a:r>
            <a:r>
              <a:rPr lang="en-IN" sz="2000" dirty="0">
                <a:solidFill>
                  <a:srgbClr val="000000"/>
                </a:solidFill>
                <a:effectLst/>
              </a:rPr>
              <a:t>).</a:t>
            </a:r>
            <a:r>
              <a:rPr lang="en-IN" sz="2000" dirty="0" err="1">
                <a:solidFill>
                  <a:srgbClr val="000000"/>
                </a:solidFill>
                <a:effectLst/>
              </a:rPr>
              <a:t>css</a:t>
            </a:r>
            <a:r>
              <a:rPr lang="en-IN" sz="2000" dirty="0">
                <a:solidFill>
                  <a:srgbClr val="000000"/>
                </a:solidFill>
                <a:effectLst/>
              </a:rPr>
              <a:t>(</a:t>
            </a:r>
            <a:r>
              <a:rPr lang="en-IN" sz="2000" dirty="0">
                <a:solidFill>
                  <a:srgbClr val="008000"/>
                </a:solidFill>
                <a:effectLst/>
              </a:rPr>
              <a:t>"background-</a:t>
            </a:r>
            <a:r>
              <a:rPr lang="en-IN" sz="2000" dirty="0" err="1">
                <a:solidFill>
                  <a:srgbClr val="008000"/>
                </a:solidFill>
                <a:effectLst/>
              </a:rPr>
              <a:t>color</a:t>
            </a:r>
            <a:r>
              <a:rPr lang="en-IN" sz="2000" dirty="0">
                <a:solidFill>
                  <a:srgbClr val="008000"/>
                </a:solidFill>
                <a:effectLst/>
              </a:rPr>
              <a:t>"</a:t>
            </a:r>
            <a:r>
              <a:rPr lang="en-IN" sz="2000" dirty="0">
                <a:solidFill>
                  <a:srgbClr val="000000"/>
                </a:solidFill>
                <a:effectLst/>
              </a:rPr>
              <a:t>, </a:t>
            </a:r>
            <a:r>
              <a:rPr lang="en-IN" sz="2000" dirty="0">
                <a:solidFill>
                  <a:srgbClr val="008000"/>
                </a:solidFill>
                <a:effectLst/>
              </a:rPr>
              <a:t>"yellow"</a:t>
            </a:r>
            <a:r>
              <a:rPr lang="en-IN" sz="2000" dirty="0">
                <a:solidFill>
                  <a:srgbClr val="000000"/>
                </a:solidFill>
                <a:effectLst/>
              </a:rPr>
              <a:t>);</a:t>
            </a:r>
            <a:endParaRPr lang="en-US" sz="2800" dirty="0"/>
          </a:p>
          <a:p>
            <a:pPr algn="just"/>
            <a:r>
              <a:rPr lang="en-IN" sz="2400" b="1" dirty="0"/>
              <a:t>Set Multiple CSS Properties</a:t>
            </a:r>
          </a:p>
          <a:p>
            <a:pPr lvl="1" algn="just"/>
            <a:r>
              <a:rPr lang="en-US" sz="2000" dirty="0">
                <a:solidFill>
                  <a:srgbClr val="000000"/>
                </a:solidFill>
                <a:effectLst/>
              </a:rPr>
              <a:t>$(</a:t>
            </a:r>
            <a:r>
              <a:rPr lang="en-US" sz="2000" dirty="0">
                <a:solidFill>
                  <a:srgbClr val="008000"/>
                </a:solidFill>
                <a:effectLst/>
              </a:rPr>
              <a:t>"p"</a:t>
            </a:r>
            <a:r>
              <a:rPr lang="en-US" sz="2000" dirty="0">
                <a:solidFill>
                  <a:srgbClr val="000000"/>
                </a:solidFill>
                <a:effectLst/>
              </a:rPr>
              <a:t>).</a:t>
            </a:r>
            <a:r>
              <a:rPr lang="en-US" sz="2000" dirty="0" err="1">
                <a:solidFill>
                  <a:srgbClr val="000000"/>
                </a:solidFill>
                <a:effectLst/>
              </a:rPr>
              <a:t>css</a:t>
            </a:r>
            <a:r>
              <a:rPr lang="en-US" sz="2000" dirty="0">
                <a:solidFill>
                  <a:srgbClr val="000000"/>
                </a:solidFill>
                <a:effectLst/>
              </a:rPr>
              <a:t>({</a:t>
            </a:r>
            <a:r>
              <a:rPr lang="en-US" sz="2000" dirty="0">
                <a:solidFill>
                  <a:srgbClr val="008000"/>
                </a:solidFill>
                <a:effectLst/>
              </a:rPr>
              <a:t>"background-color"</a:t>
            </a:r>
            <a:r>
              <a:rPr lang="en-US" sz="2000" dirty="0">
                <a:solidFill>
                  <a:srgbClr val="000000"/>
                </a:solidFill>
                <a:effectLst/>
              </a:rPr>
              <a:t>: </a:t>
            </a:r>
            <a:r>
              <a:rPr lang="en-US" sz="2000" dirty="0">
                <a:solidFill>
                  <a:srgbClr val="008000"/>
                </a:solidFill>
                <a:effectLst/>
              </a:rPr>
              <a:t>"yellow"</a:t>
            </a:r>
            <a:r>
              <a:rPr lang="en-US" sz="2000" dirty="0">
                <a:solidFill>
                  <a:srgbClr val="000000"/>
                </a:solidFill>
                <a:effectLst/>
              </a:rPr>
              <a:t>, </a:t>
            </a:r>
            <a:r>
              <a:rPr lang="en-US" sz="2000" dirty="0">
                <a:solidFill>
                  <a:srgbClr val="008000"/>
                </a:solidFill>
                <a:effectLst/>
              </a:rPr>
              <a:t>"font-size"</a:t>
            </a:r>
            <a:r>
              <a:rPr lang="en-US" sz="2000" dirty="0">
                <a:solidFill>
                  <a:srgbClr val="000000"/>
                </a:solidFill>
                <a:effectLst/>
              </a:rPr>
              <a:t>: </a:t>
            </a:r>
            <a:r>
              <a:rPr lang="en-US" sz="2000" dirty="0">
                <a:solidFill>
                  <a:srgbClr val="008000"/>
                </a:solidFill>
                <a:effectLst/>
              </a:rPr>
              <a:t>"200%"</a:t>
            </a:r>
            <a:r>
              <a:rPr lang="en-US" sz="2000" dirty="0">
                <a:solidFill>
                  <a:srgbClr val="000000"/>
                </a:solidFill>
                <a:effectLst/>
              </a:rPr>
              <a:t>});</a:t>
            </a:r>
            <a:endParaRPr lang="en-US" sz="28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658097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07ACE-3553-4382-C1B4-0595DBE037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9EDD46-2DAE-A02F-EE3A-4A961CE17E6C}"/>
              </a:ext>
            </a:extLst>
          </p:cNvPr>
          <p:cNvSpPr>
            <a:spLocks noGrp="1"/>
          </p:cNvSpPr>
          <p:nvPr>
            <p:ph idx="1"/>
          </p:nvPr>
        </p:nvSpPr>
        <p:spPr>
          <a:xfrm>
            <a:off x="838200" y="254524"/>
            <a:ext cx="10515600" cy="6410227"/>
          </a:xfrm>
        </p:spPr>
        <p:txBody>
          <a:bodyPr/>
          <a:lstStyle/>
          <a:p>
            <a:r>
              <a:rPr lang="en-IN" b="1" dirty="0"/>
              <a:t>jQuery - Dimensions</a:t>
            </a:r>
            <a:endParaRPr lang="en-US" dirty="0"/>
          </a:p>
          <a:p>
            <a:r>
              <a:rPr lang="en-US" sz="2400" dirty="0"/>
              <a:t>jQuery has several important methods for working with dimensions:</a:t>
            </a:r>
          </a:p>
          <a:p>
            <a:pPr lvl="1"/>
            <a:r>
              <a:rPr lang="en-US" dirty="0">
                <a:solidFill>
                  <a:srgbClr val="FF3399"/>
                </a:solidFill>
              </a:rPr>
              <a:t>width()</a:t>
            </a:r>
            <a:endParaRPr lang="en-US" sz="2000" dirty="0">
              <a:solidFill>
                <a:srgbClr val="FF3399"/>
              </a:solidFill>
            </a:endParaRPr>
          </a:p>
          <a:p>
            <a:pPr lvl="1"/>
            <a:r>
              <a:rPr lang="en-US" dirty="0">
                <a:solidFill>
                  <a:srgbClr val="FF3399"/>
                </a:solidFill>
              </a:rPr>
              <a:t>height()</a:t>
            </a:r>
            <a:endParaRPr lang="en-US" sz="2000" dirty="0">
              <a:solidFill>
                <a:srgbClr val="FF3399"/>
              </a:solidFill>
            </a:endParaRPr>
          </a:p>
          <a:p>
            <a:pPr lvl="1"/>
            <a:r>
              <a:rPr lang="en-US" dirty="0" err="1">
                <a:solidFill>
                  <a:srgbClr val="FF3399"/>
                </a:solidFill>
              </a:rPr>
              <a:t>innerWidth</a:t>
            </a:r>
            <a:r>
              <a:rPr lang="en-US" dirty="0">
                <a:solidFill>
                  <a:srgbClr val="FF3399"/>
                </a:solidFill>
              </a:rPr>
              <a:t>()</a:t>
            </a:r>
            <a:endParaRPr lang="en-US" sz="2000" dirty="0">
              <a:solidFill>
                <a:srgbClr val="FF3399"/>
              </a:solidFill>
            </a:endParaRPr>
          </a:p>
          <a:p>
            <a:pPr lvl="1"/>
            <a:r>
              <a:rPr lang="en-US" dirty="0" err="1">
                <a:solidFill>
                  <a:srgbClr val="FF3399"/>
                </a:solidFill>
              </a:rPr>
              <a:t>innerHeight</a:t>
            </a:r>
            <a:r>
              <a:rPr lang="en-US" dirty="0">
                <a:solidFill>
                  <a:srgbClr val="FF3399"/>
                </a:solidFill>
              </a:rPr>
              <a:t>()</a:t>
            </a:r>
            <a:endParaRPr lang="en-US" sz="2000" dirty="0">
              <a:solidFill>
                <a:srgbClr val="FF3399"/>
              </a:solidFill>
            </a:endParaRPr>
          </a:p>
          <a:p>
            <a:pPr lvl="1"/>
            <a:r>
              <a:rPr lang="en-US" dirty="0" err="1">
                <a:solidFill>
                  <a:srgbClr val="FF3399"/>
                </a:solidFill>
              </a:rPr>
              <a:t>outerWidth</a:t>
            </a:r>
            <a:r>
              <a:rPr lang="en-US" dirty="0">
                <a:solidFill>
                  <a:srgbClr val="FF3399"/>
                </a:solidFill>
              </a:rPr>
              <a:t>()</a:t>
            </a:r>
            <a:endParaRPr lang="en-US" sz="2000" dirty="0">
              <a:solidFill>
                <a:srgbClr val="FF3399"/>
              </a:solidFill>
            </a:endParaRPr>
          </a:p>
          <a:p>
            <a:pPr lvl="1"/>
            <a:r>
              <a:rPr lang="en-US" dirty="0" err="1">
                <a:solidFill>
                  <a:srgbClr val="FF3399"/>
                </a:solidFill>
              </a:rPr>
              <a:t>outerHeight</a:t>
            </a:r>
            <a:r>
              <a:rPr lang="en-US" dirty="0">
                <a:solidFill>
                  <a:srgbClr val="FF3399"/>
                </a:solidFill>
              </a:rPr>
              <a:t>()</a:t>
            </a:r>
            <a:endParaRPr lang="en-US" sz="2000" dirty="0">
              <a:solidFill>
                <a:srgbClr val="FF3399"/>
              </a:solidFill>
            </a:endParaRP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id="{4315D622-17BF-495C-4F9E-CC084907CE58}"/>
              </a:ext>
            </a:extLst>
          </p:cNvPr>
          <p:cNvPicPr>
            <a:picLocks noChangeAspect="1"/>
          </p:cNvPicPr>
          <p:nvPr/>
        </p:nvPicPr>
        <p:blipFill>
          <a:blip r:embed="rId2"/>
          <a:stretch>
            <a:fillRect/>
          </a:stretch>
        </p:blipFill>
        <p:spPr>
          <a:xfrm>
            <a:off x="4685365" y="1790457"/>
            <a:ext cx="5668166" cy="4182059"/>
          </a:xfrm>
          <a:prstGeom prst="rect">
            <a:avLst/>
          </a:prstGeom>
        </p:spPr>
      </p:pic>
    </p:spTree>
    <p:extLst>
      <p:ext uri="{BB962C8B-B14F-4D97-AF65-F5344CB8AC3E}">
        <p14:creationId xmlns:p14="http://schemas.microsoft.com/office/powerpoint/2010/main" val="24660256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92255-A1BE-3AE6-042E-B9A262FA93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3D972F-BF94-9A20-E762-3ED31CD69C48}"/>
              </a:ext>
            </a:extLst>
          </p:cNvPr>
          <p:cNvSpPr>
            <a:spLocks noGrp="1"/>
          </p:cNvSpPr>
          <p:nvPr>
            <p:ph idx="1"/>
          </p:nvPr>
        </p:nvSpPr>
        <p:spPr>
          <a:xfrm>
            <a:off x="838200" y="254524"/>
            <a:ext cx="10515600" cy="6410227"/>
          </a:xfrm>
        </p:spPr>
        <p:txBody>
          <a:bodyPr/>
          <a:lstStyle/>
          <a:p>
            <a:r>
              <a:rPr lang="en-US" sz="2400" b="1" dirty="0"/>
              <a:t>jQuery width() and height() Methods</a:t>
            </a:r>
          </a:p>
          <a:p>
            <a:pPr lvl="1"/>
            <a:r>
              <a:rPr lang="en-US" sz="2000" dirty="0"/>
              <a:t>The </a:t>
            </a:r>
            <a:r>
              <a:rPr lang="en-US" dirty="0"/>
              <a:t>width()</a:t>
            </a:r>
            <a:r>
              <a:rPr lang="en-US" sz="2000" dirty="0"/>
              <a:t> method sets or returns the width of an element (excludes padding, border and margin).</a:t>
            </a:r>
          </a:p>
          <a:p>
            <a:pPr lvl="1"/>
            <a:r>
              <a:rPr lang="en-US" sz="2000" dirty="0"/>
              <a:t>The </a:t>
            </a:r>
            <a:r>
              <a:rPr lang="en-US" dirty="0"/>
              <a:t>height()</a:t>
            </a:r>
            <a:r>
              <a:rPr lang="en-US" sz="2000" dirty="0"/>
              <a:t> method sets or returns the height of an element (excludes padding, border and margin).</a:t>
            </a:r>
          </a:p>
          <a:p>
            <a:pPr lvl="1"/>
            <a:r>
              <a:rPr lang="en-US" sz="2000" dirty="0">
                <a:solidFill>
                  <a:srgbClr val="000000"/>
                </a:solidFill>
                <a:effectLst/>
              </a:rPr>
              <a:t>//get width and height of div element</a:t>
            </a:r>
            <a:endParaRPr lang="en-IN" sz="2400" dirty="0">
              <a:solidFill>
                <a:srgbClr val="000000"/>
              </a:solidFill>
              <a:effectLst/>
            </a:endParaRPr>
          </a:p>
          <a:p>
            <a:pPr marL="914400" lvl="2" indent="0" algn="just">
              <a:buNone/>
            </a:pPr>
            <a:r>
              <a:rPr lang="en-IN" sz="2400" dirty="0">
                <a:solidFill>
                  <a:srgbClr val="000000"/>
                </a:solidFill>
                <a:effectLst/>
              </a:rPr>
              <a:t>$(</a:t>
            </a:r>
            <a:r>
              <a:rPr lang="en-IN" sz="2400" dirty="0">
                <a:solidFill>
                  <a:srgbClr val="008000"/>
                </a:solidFill>
                <a:effectLst/>
              </a:rPr>
              <a:t>"button"</a:t>
            </a:r>
            <a:r>
              <a:rPr lang="en-IN" sz="2400" dirty="0">
                <a:solidFill>
                  <a:srgbClr val="000000"/>
                </a:solidFill>
                <a:effectLst/>
              </a:rPr>
              <a:t>).click(</a:t>
            </a:r>
            <a:r>
              <a:rPr lang="en-IN" sz="2400" dirty="0">
                <a:solidFill>
                  <a:srgbClr val="005CC5"/>
                </a:solidFill>
                <a:effectLst/>
              </a:rPr>
              <a:t>function</a:t>
            </a:r>
            <a:r>
              <a:rPr lang="en-IN" sz="2400" dirty="0">
                <a:solidFill>
                  <a:srgbClr val="000000"/>
                </a:solidFill>
                <a:effectLst/>
              </a:rPr>
              <a:t>(){</a:t>
            </a:r>
          </a:p>
          <a:p>
            <a:pPr marL="914400" lvl="2" indent="0" algn="just">
              <a:buNone/>
            </a:pPr>
            <a:r>
              <a:rPr lang="en-IN" sz="2400" dirty="0">
                <a:solidFill>
                  <a:srgbClr val="005CC5"/>
                </a:solidFill>
                <a:effectLst/>
              </a:rPr>
              <a:t>var</a:t>
            </a:r>
            <a:r>
              <a:rPr lang="en-IN" sz="2400" dirty="0">
                <a:solidFill>
                  <a:srgbClr val="000000"/>
                </a:solidFill>
                <a:effectLst/>
              </a:rPr>
              <a:t> txt = </a:t>
            </a:r>
            <a:r>
              <a:rPr lang="en-IN" sz="2400" dirty="0">
                <a:solidFill>
                  <a:srgbClr val="008000"/>
                </a:solidFill>
                <a:effectLst/>
              </a:rPr>
              <a:t>""</a:t>
            </a:r>
            <a:r>
              <a:rPr lang="en-IN" sz="2400" dirty="0">
                <a:solidFill>
                  <a:srgbClr val="000000"/>
                </a:solidFill>
                <a:effectLst/>
              </a:rPr>
              <a:t>;</a:t>
            </a:r>
          </a:p>
          <a:p>
            <a:pPr marL="914400" lvl="2" indent="0" algn="just">
              <a:buNone/>
            </a:pPr>
            <a:r>
              <a:rPr lang="en-IN" sz="2400" dirty="0">
                <a:solidFill>
                  <a:srgbClr val="000000"/>
                </a:solidFill>
                <a:effectLst/>
              </a:rPr>
              <a:t>	txt += </a:t>
            </a:r>
            <a:r>
              <a:rPr lang="en-IN" sz="2400" dirty="0">
                <a:solidFill>
                  <a:srgbClr val="008000"/>
                </a:solidFill>
                <a:effectLst/>
              </a:rPr>
              <a:t>"Width: "</a:t>
            </a:r>
            <a:r>
              <a:rPr lang="en-IN" sz="2400" dirty="0">
                <a:solidFill>
                  <a:srgbClr val="000000"/>
                </a:solidFill>
                <a:effectLst/>
              </a:rPr>
              <a:t> + $(</a:t>
            </a:r>
            <a:r>
              <a:rPr lang="en-IN" sz="2400" dirty="0">
                <a:solidFill>
                  <a:srgbClr val="008000"/>
                </a:solidFill>
                <a:effectLst/>
              </a:rPr>
              <a:t>"#div1"</a:t>
            </a:r>
            <a:r>
              <a:rPr lang="en-IN" sz="2400" dirty="0">
                <a:solidFill>
                  <a:srgbClr val="000000"/>
                </a:solidFill>
                <a:effectLst/>
              </a:rPr>
              <a:t>).width() + </a:t>
            </a:r>
            <a:r>
              <a:rPr lang="en-IN" sz="2400" dirty="0">
                <a:solidFill>
                  <a:srgbClr val="008000"/>
                </a:solidFill>
                <a:effectLst/>
              </a:rPr>
              <a:t>"&lt;/</a:t>
            </a:r>
            <a:r>
              <a:rPr lang="en-IN" sz="2400" dirty="0" err="1">
                <a:solidFill>
                  <a:srgbClr val="008000"/>
                </a:solidFill>
                <a:effectLst/>
              </a:rPr>
              <a:t>br</a:t>
            </a:r>
            <a:r>
              <a:rPr lang="en-IN" sz="2400" dirty="0">
                <a:solidFill>
                  <a:srgbClr val="008000"/>
                </a:solidFill>
                <a:effectLst/>
              </a:rPr>
              <a:t>&gt;"</a:t>
            </a:r>
            <a:r>
              <a:rPr lang="en-IN" sz="2400" dirty="0">
                <a:solidFill>
                  <a:srgbClr val="000000"/>
                </a:solidFill>
                <a:effectLst/>
              </a:rPr>
              <a:t>;</a:t>
            </a:r>
          </a:p>
          <a:p>
            <a:pPr marL="914400" lvl="2" indent="0" algn="just">
              <a:buNone/>
            </a:pPr>
            <a:r>
              <a:rPr lang="en-IN" sz="2400" dirty="0">
                <a:solidFill>
                  <a:srgbClr val="000000"/>
                </a:solidFill>
                <a:effectLst/>
              </a:rPr>
              <a:t>	txt += </a:t>
            </a:r>
            <a:r>
              <a:rPr lang="en-IN" sz="2400" dirty="0">
                <a:solidFill>
                  <a:srgbClr val="008000"/>
                </a:solidFill>
                <a:effectLst/>
              </a:rPr>
              <a:t>"Height: "</a:t>
            </a:r>
            <a:r>
              <a:rPr lang="en-IN" sz="2400" dirty="0">
                <a:solidFill>
                  <a:srgbClr val="000000"/>
                </a:solidFill>
                <a:effectLst/>
              </a:rPr>
              <a:t> + $(</a:t>
            </a:r>
            <a:r>
              <a:rPr lang="en-IN" sz="2400" dirty="0">
                <a:solidFill>
                  <a:srgbClr val="008000"/>
                </a:solidFill>
                <a:effectLst/>
              </a:rPr>
              <a:t>"#div1"</a:t>
            </a:r>
            <a:r>
              <a:rPr lang="en-IN" sz="2400" dirty="0">
                <a:solidFill>
                  <a:srgbClr val="000000"/>
                </a:solidFill>
                <a:effectLst/>
              </a:rPr>
              <a:t>).height();</a:t>
            </a:r>
          </a:p>
          <a:p>
            <a:pPr marL="914400" lvl="2" indent="0" algn="just">
              <a:buNone/>
            </a:pPr>
            <a:r>
              <a:rPr lang="en-IN" sz="2400" dirty="0">
                <a:solidFill>
                  <a:srgbClr val="000000"/>
                </a:solidFill>
                <a:effectLst/>
              </a:rPr>
              <a:t>	$(</a:t>
            </a:r>
            <a:r>
              <a:rPr lang="en-IN" sz="2400" dirty="0">
                <a:solidFill>
                  <a:srgbClr val="008000"/>
                </a:solidFill>
                <a:effectLst/>
              </a:rPr>
              <a:t>"#div1"</a:t>
            </a:r>
            <a:r>
              <a:rPr lang="en-IN" sz="2400" dirty="0">
                <a:solidFill>
                  <a:srgbClr val="000000"/>
                </a:solidFill>
                <a:effectLst/>
              </a:rPr>
              <a:t>).html(txt);</a:t>
            </a:r>
          </a:p>
          <a:p>
            <a:pPr marL="914400" lvl="2" indent="0" algn="just">
              <a:buNone/>
            </a:pPr>
            <a:r>
              <a:rPr lang="en-IN" sz="2400" dirty="0">
                <a:solidFill>
                  <a:srgbClr val="000000"/>
                </a:solidFill>
                <a:effectLst/>
              </a:rPr>
              <a: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842741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FA2E8-4F21-4768-75BC-8AB625EE27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251014-AEE8-2065-E6D0-EF90FFF4BAE3}"/>
              </a:ext>
            </a:extLst>
          </p:cNvPr>
          <p:cNvSpPr>
            <a:spLocks noGrp="1"/>
          </p:cNvSpPr>
          <p:nvPr>
            <p:ph idx="1"/>
          </p:nvPr>
        </p:nvSpPr>
        <p:spPr>
          <a:xfrm>
            <a:off x="838200" y="254524"/>
            <a:ext cx="10515600" cy="6410227"/>
          </a:xfrm>
        </p:spPr>
        <p:txBody>
          <a:bodyPr/>
          <a:lstStyle/>
          <a:p>
            <a:r>
              <a:rPr lang="en-US" dirty="0"/>
              <a:t>Continued…</a:t>
            </a:r>
          </a:p>
          <a:p>
            <a:r>
              <a:rPr lang="en-US" sz="2400" b="1" dirty="0"/>
              <a:t>jQuery </a:t>
            </a:r>
            <a:r>
              <a:rPr lang="en-US" sz="2400" b="1" dirty="0" err="1"/>
              <a:t>innerWidth</a:t>
            </a:r>
            <a:r>
              <a:rPr lang="en-US" sz="2400" b="1" dirty="0"/>
              <a:t>() and </a:t>
            </a:r>
            <a:r>
              <a:rPr lang="en-US" sz="2400" b="1" dirty="0" err="1"/>
              <a:t>innerHeight</a:t>
            </a:r>
            <a:r>
              <a:rPr lang="en-US" sz="2400" b="1" dirty="0"/>
              <a:t>() Methods</a:t>
            </a:r>
          </a:p>
          <a:p>
            <a:pPr lvl="1"/>
            <a:r>
              <a:rPr lang="en-US" sz="2000" dirty="0"/>
              <a:t>The </a:t>
            </a:r>
            <a:r>
              <a:rPr lang="en-US" dirty="0" err="1">
                <a:solidFill>
                  <a:srgbClr val="FF3399"/>
                </a:solidFill>
              </a:rPr>
              <a:t>innerWidth</a:t>
            </a:r>
            <a:r>
              <a:rPr lang="en-US" dirty="0">
                <a:solidFill>
                  <a:srgbClr val="FF3399"/>
                </a:solidFill>
              </a:rPr>
              <a:t>()</a:t>
            </a:r>
            <a:r>
              <a:rPr lang="en-US" sz="2000" dirty="0">
                <a:solidFill>
                  <a:srgbClr val="FF3399"/>
                </a:solidFill>
              </a:rPr>
              <a:t> </a:t>
            </a:r>
            <a:r>
              <a:rPr lang="en-US" sz="2000" dirty="0"/>
              <a:t>method returns the width of an element (includes padding).</a:t>
            </a:r>
          </a:p>
          <a:p>
            <a:pPr lvl="1"/>
            <a:r>
              <a:rPr lang="en-US" sz="2000" dirty="0"/>
              <a:t>The </a:t>
            </a:r>
            <a:r>
              <a:rPr lang="en-US" dirty="0" err="1">
                <a:solidFill>
                  <a:srgbClr val="FF3399"/>
                </a:solidFill>
              </a:rPr>
              <a:t>innerHeight</a:t>
            </a:r>
            <a:r>
              <a:rPr lang="en-US" dirty="0">
                <a:solidFill>
                  <a:srgbClr val="FF3399"/>
                </a:solidFill>
              </a:rPr>
              <a:t>()</a:t>
            </a:r>
            <a:r>
              <a:rPr lang="en-US" sz="2000" dirty="0">
                <a:solidFill>
                  <a:srgbClr val="FF3399"/>
                </a:solidFill>
              </a:rPr>
              <a:t> </a:t>
            </a:r>
            <a:r>
              <a:rPr lang="en-US" sz="2000" dirty="0"/>
              <a:t>method returns the height of an element (includes padding).</a:t>
            </a:r>
          </a:p>
          <a:p>
            <a:pPr algn="just"/>
            <a:endParaRPr lang="en-US" sz="2400" dirty="0"/>
          </a:p>
          <a:p>
            <a:r>
              <a:rPr lang="en-US" sz="2400" b="1" dirty="0"/>
              <a:t>jQuery </a:t>
            </a:r>
            <a:r>
              <a:rPr lang="en-US" sz="2400" b="1" dirty="0" err="1"/>
              <a:t>outerWidth</a:t>
            </a:r>
            <a:r>
              <a:rPr lang="en-US" sz="2400" b="1" dirty="0"/>
              <a:t>() and </a:t>
            </a:r>
            <a:r>
              <a:rPr lang="en-US" sz="2400" b="1" dirty="0" err="1"/>
              <a:t>outerHeight</a:t>
            </a:r>
            <a:r>
              <a:rPr lang="en-US" sz="2400" b="1" dirty="0"/>
              <a:t>() Methods</a:t>
            </a:r>
          </a:p>
          <a:p>
            <a:pPr lvl="1"/>
            <a:r>
              <a:rPr lang="en-US" sz="2000" dirty="0"/>
              <a:t>The </a:t>
            </a:r>
            <a:r>
              <a:rPr lang="en-US" dirty="0" err="1">
                <a:solidFill>
                  <a:srgbClr val="FF3399"/>
                </a:solidFill>
              </a:rPr>
              <a:t>outerWidth</a:t>
            </a:r>
            <a:r>
              <a:rPr lang="en-US" dirty="0">
                <a:solidFill>
                  <a:srgbClr val="FF3399"/>
                </a:solidFill>
              </a:rPr>
              <a:t>()</a:t>
            </a:r>
            <a:r>
              <a:rPr lang="en-US" sz="2000" dirty="0">
                <a:solidFill>
                  <a:srgbClr val="FF3399"/>
                </a:solidFill>
              </a:rPr>
              <a:t> </a:t>
            </a:r>
            <a:r>
              <a:rPr lang="en-US" sz="2000" dirty="0"/>
              <a:t>method returns the width of an element (includes padding and border).</a:t>
            </a:r>
          </a:p>
          <a:p>
            <a:pPr lvl="1"/>
            <a:r>
              <a:rPr lang="en-US" sz="2000" dirty="0"/>
              <a:t>The </a:t>
            </a:r>
            <a:r>
              <a:rPr lang="en-US" dirty="0" err="1">
                <a:solidFill>
                  <a:srgbClr val="FF3399"/>
                </a:solidFill>
              </a:rPr>
              <a:t>outerHeight</a:t>
            </a:r>
            <a:r>
              <a:rPr lang="en-US" dirty="0">
                <a:solidFill>
                  <a:srgbClr val="FF3399"/>
                </a:solidFill>
              </a:rPr>
              <a:t>()</a:t>
            </a:r>
            <a:r>
              <a:rPr lang="en-US" sz="2000" dirty="0">
                <a:solidFill>
                  <a:srgbClr val="FF3399"/>
                </a:solidFill>
              </a:rPr>
              <a:t> </a:t>
            </a:r>
            <a:r>
              <a:rPr lang="en-US" sz="2000" dirty="0"/>
              <a:t>method returns the height of an element (includes padding and border).</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2566397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16823-EF02-1B9B-A508-FA7CEBFC46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294457-E5D9-6F01-B150-31FF6234A38A}"/>
              </a:ext>
            </a:extLst>
          </p:cNvPr>
          <p:cNvSpPr>
            <a:spLocks noGrp="1"/>
          </p:cNvSpPr>
          <p:nvPr>
            <p:ph idx="1"/>
          </p:nvPr>
        </p:nvSpPr>
        <p:spPr>
          <a:xfrm>
            <a:off x="838200" y="254524"/>
            <a:ext cx="10515600" cy="6410227"/>
          </a:xfrm>
        </p:spPr>
        <p:txBody>
          <a:bodyPr/>
          <a:lstStyle/>
          <a:p>
            <a:r>
              <a:rPr lang="en-US" b="1" dirty="0"/>
              <a:t>jQuery More width() and height()</a:t>
            </a:r>
          </a:p>
          <a:p>
            <a:pPr lvl="1"/>
            <a:r>
              <a:rPr lang="en-US" dirty="0"/>
              <a:t>The following example returns the width and height of the document (the HTML document) and window (the browser viewport)</a:t>
            </a:r>
          </a:p>
          <a:p>
            <a:pPr marL="914400" lvl="2" indent="0" algn="just">
              <a:buNone/>
            </a:pPr>
            <a:r>
              <a:rPr lang="en-IN" dirty="0">
                <a:solidFill>
                  <a:srgbClr val="000000"/>
                </a:solidFill>
                <a:effectLst/>
              </a:rPr>
              <a:t>$(</a:t>
            </a:r>
            <a:r>
              <a:rPr lang="en-IN" dirty="0">
                <a:solidFill>
                  <a:srgbClr val="008000"/>
                </a:solidFill>
                <a:effectLst/>
              </a:rPr>
              <a:t>"button"</a:t>
            </a:r>
            <a:r>
              <a:rPr lang="en-IN" dirty="0">
                <a:solidFill>
                  <a:srgbClr val="000000"/>
                </a:solidFill>
                <a:effectLst/>
              </a:rPr>
              <a:t>).click(</a:t>
            </a:r>
            <a:r>
              <a:rPr lang="en-IN" dirty="0">
                <a:solidFill>
                  <a:srgbClr val="005CC5"/>
                </a:solidFill>
                <a:effectLst/>
              </a:rPr>
              <a:t>function</a:t>
            </a:r>
            <a:r>
              <a:rPr lang="en-IN" dirty="0">
                <a:solidFill>
                  <a:srgbClr val="000000"/>
                </a:solidFill>
                <a:effectLst/>
              </a:rPr>
              <a:t>(){</a:t>
            </a:r>
          </a:p>
          <a:p>
            <a:pPr marL="914400" lvl="2" indent="0" algn="just">
              <a:buNone/>
            </a:pPr>
            <a:r>
              <a:rPr lang="en-IN" dirty="0">
                <a:solidFill>
                  <a:srgbClr val="005CC5"/>
                </a:solidFill>
                <a:effectLst/>
              </a:rPr>
              <a:t>var</a:t>
            </a:r>
            <a:r>
              <a:rPr lang="en-IN" dirty="0">
                <a:solidFill>
                  <a:srgbClr val="000000"/>
                </a:solidFill>
                <a:effectLst/>
              </a:rPr>
              <a:t> txt = </a:t>
            </a:r>
            <a:r>
              <a:rPr lang="en-IN" dirty="0">
                <a:solidFill>
                  <a:srgbClr val="008000"/>
                </a:solidFill>
                <a:effectLst/>
              </a:rPr>
              <a:t>""</a:t>
            </a:r>
            <a:r>
              <a:rPr lang="en-IN" dirty="0">
                <a:solidFill>
                  <a:srgbClr val="000000"/>
                </a:solidFill>
                <a:effectLst/>
              </a:rPr>
              <a:t>;</a:t>
            </a:r>
          </a:p>
          <a:p>
            <a:pPr marL="914400" lvl="2" indent="0" algn="just">
              <a:buNone/>
            </a:pPr>
            <a:r>
              <a:rPr lang="en-IN" dirty="0">
                <a:solidFill>
                  <a:srgbClr val="000000"/>
                </a:solidFill>
                <a:effectLst/>
              </a:rPr>
              <a:t>txt += </a:t>
            </a:r>
            <a:r>
              <a:rPr lang="en-IN" dirty="0">
                <a:solidFill>
                  <a:srgbClr val="008000"/>
                </a:solidFill>
                <a:effectLst/>
              </a:rPr>
              <a:t>"Document width/height: "</a:t>
            </a:r>
            <a:r>
              <a:rPr lang="en-IN" dirty="0">
                <a:solidFill>
                  <a:srgbClr val="000000"/>
                </a:solidFill>
                <a:effectLst/>
              </a:rPr>
              <a:t> + $(document).width();</a:t>
            </a:r>
          </a:p>
          <a:p>
            <a:pPr marL="914400" lvl="2" indent="0" algn="just">
              <a:buNone/>
            </a:pPr>
            <a:r>
              <a:rPr lang="en-IN" dirty="0">
                <a:solidFill>
                  <a:srgbClr val="000000"/>
                </a:solidFill>
                <a:effectLst/>
              </a:rPr>
              <a:t>txt += </a:t>
            </a:r>
            <a:r>
              <a:rPr lang="en-IN" dirty="0">
                <a:solidFill>
                  <a:srgbClr val="008000"/>
                </a:solidFill>
                <a:effectLst/>
              </a:rPr>
              <a:t>"x"</a:t>
            </a:r>
            <a:r>
              <a:rPr lang="en-IN" dirty="0">
                <a:solidFill>
                  <a:srgbClr val="000000"/>
                </a:solidFill>
                <a:effectLst/>
              </a:rPr>
              <a:t> + $(document).height() + </a:t>
            </a:r>
            <a:r>
              <a:rPr lang="en-IN" dirty="0">
                <a:solidFill>
                  <a:srgbClr val="008000"/>
                </a:solidFill>
                <a:effectLst/>
              </a:rPr>
              <a:t>"\n"</a:t>
            </a:r>
            <a:r>
              <a:rPr lang="en-IN" dirty="0">
                <a:solidFill>
                  <a:srgbClr val="000000"/>
                </a:solidFill>
                <a:effectLst/>
              </a:rPr>
              <a:t>;</a:t>
            </a:r>
          </a:p>
          <a:p>
            <a:pPr marL="914400" lvl="2" indent="0" algn="just">
              <a:buNone/>
            </a:pPr>
            <a:r>
              <a:rPr lang="en-IN" dirty="0">
                <a:solidFill>
                  <a:srgbClr val="000000"/>
                </a:solidFill>
                <a:effectLst/>
              </a:rPr>
              <a:t>txt += </a:t>
            </a:r>
            <a:r>
              <a:rPr lang="en-IN" dirty="0">
                <a:solidFill>
                  <a:srgbClr val="008000"/>
                </a:solidFill>
                <a:effectLst/>
              </a:rPr>
              <a:t>"Window width/height: "</a:t>
            </a:r>
            <a:r>
              <a:rPr lang="en-IN" dirty="0">
                <a:solidFill>
                  <a:srgbClr val="000000"/>
                </a:solidFill>
                <a:effectLst/>
              </a:rPr>
              <a:t> + $(window).width();</a:t>
            </a:r>
          </a:p>
          <a:p>
            <a:pPr marL="914400" lvl="2" indent="0" algn="just">
              <a:buNone/>
            </a:pPr>
            <a:r>
              <a:rPr lang="en-IN" dirty="0">
                <a:solidFill>
                  <a:srgbClr val="000000"/>
                </a:solidFill>
                <a:effectLst/>
              </a:rPr>
              <a:t>txt += </a:t>
            </a:r>
            <a:r>
              <a:rPr lang="en-IN" dirty="0">
                <a:solidFill>
                  <a:srgbClr val="008000"/>
                </a:solidFill>
                <a:effectLst/>
              </a:rPr>
              <a:t>"x"</a:t>
            </a:r>
            <a:r>
              <a:rPr lang="en-IN" dirty="0">
                <a:solidFill>
                  <a:srgbClr val="000000"/>
                </a:solidFill>
                <a:effectLst/>
              </a:rPr>
              <a:t> + $(window).height();</a:t>
            </a:r>
          </a:p>
          <a:p>
            <a:pPr marL="914400" lvl="2" indent="0" algn="just">
              <a:buNone/>
            </a:pPr>
            <a:r>
              <a:rPr lang="en-IN" dirty="0">
                <a:solidFill>
                  <a:srgbClr val="000000"/>
                </a:solidFill>
                <a:effectLst/>
              </a:rPr>
              <a:t>alert(txt);</a:t>
            </a:r>
          </a:p>
          <a:p>
            <a:pPr marL="914400" lvl="2" indent="0" algn="just">
              <a:buNone/>
            </a:pPr>
            <a:r>
              <a:rPr lang="en-IN" dirty="0">
                <a:solidFill>
                  <a:srgbClr val="000000"/>
                </a:solidFill>
                <a:effectLst/>
              </a:rPr>
              <a:t>});</a:t>
            </a:r>
            <a:endParaRPr lang="en-US" sz="4800" dirty="0"/>
          </a:p>
          <a:p>
            <a:pPr algn="just"/>
            <a:r>
              <a:rPr lang="en-US" sz="2400" dirty="0"/>
              <a:t>The following example sets the width and height of a specified </a:t>
            </a:r>
            <a:r>
              <a:rPr lang="en-US" dirty="0"/>
              <a:t>&lt;div&gt;</a:t>
            </a:r>
            <a:r>
              <a:rPr lang="en-US" sz="2400" dirty="0"/>
              <a:t> element:</a:t>
            </a:r>
          </a:p>
          <a:p>
            <a:pPr marL="914400" lvl="2" indent="0" algn="just">
              <a:buNone/>
            </a:pPr>
            <a:r>
              <a:rPr lang="en-US" sz="2400" dirty="0">
                <a:solidFill>
                  <a:srgbClr val="000000"/>
                </a:solidFill>
                <a:effectLst/>
              </a:rPr>
              <a:t>$(</a:t>
            </a:r>
            <a:r>
              <a:rPr lang="en-US" sz="2400" dirty="0">
                <a:solidFill>
                  <a:srgbClr val="008000"/>
                </a:solidFill>
                <a:effectLst/>
              </a:rPr>
              <a:t>"button"</a:t>
            </a:r>
            <a:r>
              <a:rPr lang="en-US" sz="2400" dirty="0">
                <a:solidFill>
                  <a:srgbClr val="000000"/>
                </a:solidFill>
                <a:effectLst/>
              </a:rPr>
              <a:t>).click(</a:t>
            </a:r>
            <a:r>
              <a:rPr lang="en-US" sz="2400" dirty="0">
                <a:solidFill>
                  <a:srgbClr val="005CC5"/>
                </a:solidFill>
                <a:effectLst/>
              </a:rPr>
              <a:t>function</a:t>
            </a:r>
            <a:r>
              <a:rPr lang="en-US" sz="2400" dirty="0">
                <a:solidFill>
                  <a:srgbClr val="000000"/>
                </a:solidFill>
                <a:effectLst/>
              </a:rPr>
              <a:t>(){</a:t>
            </a:r>
          </a:p>
          <a:p>
            <a:pPr marL="914400" lvl="2" indent="0" algn="just">
              <a:buNone/>
            </a:pPr>
            <a:r>
              <a:rPr lang="en-US" sz="2400" dirty="0">
                <a:solidFill>
                  <a:srgbClr val="000000"/>
                </a:solidFill>
                <a:effectLst/>
              </a:rPr>
              <a:t>$(</a:t>
            </a:r>
            <a:r>
              <a:rPr lang="en-US" sz="2400" dirty="0">
                <a:solidFill>
                  <a:srgbClr val="008000"/>
                </a:solidFill>
                <a:effectLst/>
              </a:rPr>
              <a:t>"#div1"</a:t>
            </a:r>
            <a:r>
              <a:rPr lang="en-US" sz="2400" dirty="0">
                <a:solidFill>
                  <a:srgbClr val="000000"/>
                </a:solidFill>
                <a:effectLst/>
              </a:rPr>
              <a:t>).width(</a:t>
            </a:r>
            <a:r>
              <a:rPr lang="en-US" sz="2400" dirty="0">
                <a:solidFill>
                  <a:srgbClr val="990055"/>
                </a:solidFill>
                <a:effectLst/>
              </a:rPr>
              <a:t>500</a:t>
            </a:r>
            <a:r>
              <a:rPr lang="en-US" sz="2400" dirty="0">
                <a:solidFill>
                  <a:srgbClr val="000000"/>
                </a:solidFill>
                <a:effectLst/>
              </a:rPr>
              <a:t>).height(</a:t>
            </a:r>
            <a:r>
              <a:rPr lang="en-US" sz="2400" dirty="0">
                <a:solidFill>
                  <a:srgbClr val="990055"/>
                </a:solidFill>
                <a:effectLst/>
              </a:rPr>
              <a:t>500</a:t>
            </a:r>
            <a:r>
              <a:rPr lang="en-US" sz="2400" dirty="0">
                <a:solidFill>
                  <a:srgbClr val="000000"/>
                </a:solidFill>
                <a:effectLst/>
              </a:rPr>
              <a:t>);</a:t>
            </a:r>
          </a:p>
          <a:p>
            <a:pPr marL="914400" lvl="2" indent="0" algn="just">
              <a:buNone/>
            </a:pPr>
            <a:r>
              <a:rPr lang="en-US" sz="2400" dirty="0">
                <a:solidFill>
                  <a:srgbClr val="000000"/>
                </a:solidFill>
                <a:effectLst/>
              </a:rPr>
              <a: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5116078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6AB8E-F665-798C-24C1-6E1336FE67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11C02-BA70-8845-6AD1-BE6C8C6BBD37}"/>
              </a:ext>
            </a:extLst>
          </p:cNvPr>
          <p:cNvSpPr>
            <a:spLocks noGrp="1"/>
          </p:cNvSpPr>
          <p:nvPr>
            <p:ph idx="1"/>
          </p:nvPr>
        </p:nvSpPr>
        <p:spPr>
          <a:xfrm>
            <a:off x="838200" y="254524"/>
            <a:ext cx="10515600" cy="6410227"/>
          </a:xfrm>
        </p:spPr>
        <p:txBody>
          <a:bodyPr/>
          <a:lstStyle/>
          <a:p>
            <a:r>
              <a:rPr lang="en-US" dirty="0"/>
              <a:t>Contents:</a:t>
            </a:r>
          </a:p>
          <a:p>
            <a:pPr lvl="1" algn="just"/>
            <a:endParaRPr lang="en-US" dirty="0"/>
          </a:p>
          <a:p>
            <a:pPr lvl="1" algn="just"/>
            <a:r>
              <a:rPr lang="en-US" dirty="0"/>
              <a:t>What is AngularJS? </a:t>
            </a:r>
          </a:p>
          <a:p>
            <a:pPr lvl="1" algn="just"/>
            <a:r>
              <a:rPr lang="en-US" dirty="0"/>
              <a:t>Angular Directives, </a:t>
            </a:r>
          </a:p>
          <a:p>
            <a:pPr lvl="1" algn="just"/>
            <a:r>
              <a:rPr lang="en-US" dirty="0"/>
              <a:t>AngularJS Expression, </a:t>
            </a:r>
          </a:p>
          <a:p>
            <a:pPr lvl="1" algn="just"/>
            <a:r>
              <a:rPr lang="en-US" dirty="0"/>
              <a:t>Angular Expression, </a:t>
            </a:r>
          </a:p>
          <a:p>
            <a:pPr lvl="1" algn="just"/>
            <a:r>
              <a:rPr lang="en-US" dirty="0"/>
              <a:t>AngularJS Module, </a:t>
            </a:r>
          </a:p>
          <a:p>
            <a:pPr lvl="1" algn="just"/>
            <a:r>
              <a:rPr lang="en-US" dirty="0"/>
              <a:t>AngularJS Controller, </a:t>
            </a:r>
          </a:p>
          <a:p>
            <a:pPr lvl="1" algn="just"/>
            <a:r>
              <a:rPr lang="en-US" dirty="0"/>
              <a:t>AngularJS Filter.</a:t>
            </a:r>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936954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082FE-9121-941D-2459-DB6ADEBA0F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6540A-3585-C197-0E20-5DB724254EAE}"/>
              </a:ext>
            </a:extLst>
          </p:cNvPr>
          <p:cNvSpPr>
            <a:spLocks noGrp="1"/>
          </p:cNvSpPr>
          <p:nvPr>
            <p:ph idx="1"/>
          </p:nvPr>
        </p:nvSpPr>
        <p:spPr>
          <a:xfrm>
            <a:off x="518473" y="254524"/>
            <a:ext cx="11123629" cy="6410227"/>
          </a:xfrm>
        </p:spPr>
        <p:txBody>
          <a:bodyPr/>
          <a:lstStyle/>
          <a:p>
            <a:r>
              <a:rPr lang="en-IN" b="1" dirty="0"/>
              <a:t>AngularJS Introduction</a:t>
            </a:r>
            <a:endParaRPr lang="en-US" dirty="0"/>
          </a:p>
          <a:p>
            <a:r>
              <a:rPr lang="en-US" sz="2400" dirty="0"/>
              <a:t>AngularJS is a </a:t>
            </a:r>
            <a:r>
              <a:rPr lang="en-US" sz="2400" b="1" dirty="0"/>
              <a:t>JavaScript framework</a:t>
            </a:r>
            <a:r>
              <a:rPr lang="en-US" sz="2400" dirty="0"/>
              <a:t>.</a:t>
            </a:r>
          </a:p>
          <a:p>
            <a:pPr lvl="1"/>
            <a:r>
              <a:rPr lang="en-US" dirty="0"/>
              <a:t>AngularJS is a JavaScript framework written in JavaScript.</a:t>
            </a:r>
          </a:p>
          <a:p>
            <a:pPr lvl="1"/>
            <a:r>
              <a:rPr lang="en-US" dirty="0"/>
              <a:t>AngularJS is distributed as a JavaScript file. </a:t>
            </a:r>
          </a:p>
          <a:p>
            <a:pPr lvl="1"/>
            <a:r>
              <a:rPr lang="en-US" dirty="0"/>
              <a:t>It can be added to a web page with a script tag</a:t>
            </a:r>
          </a:p>
          <a:p>
            <a:pPr lvl="2">
              <a:buNone/>
            </a:pPr>
            <a:r>
              <a:rPr lang="en-IN" dirty="0">
                <a:solidFill>
                  <a:srgbClr val="999999"/>
                </a:solidFill>
                <a:effectLst/>
              </a:rPr>
              <a:t>&lt;</a:t>
            </a:r>
            <a:r>
              <a:rPr lang="en-IN" dirty="0">
                <a:solidFill>
                  <a:srgbClr val="990055"/>
                </a:solidFill>
                <a:effectLst/>
              </a:rPr>
              <a:t>script</a:t>
            </a:r>
            <a:r>
              <a:rPr lang="en-IN" dirty="0">
                <a:solidFill>
                  <a:srgbClr val="008000"/>
                </a:solidFill>
                <a:effectLst/>
              </a:rPr>
              <a:t> </a:t>
            </a:r>
            <a:r>
              <a:rPr lang="en-IN" dirty="0" err="1">
                <a:solidFill>
                  <a:srgbClr val="008000"/>
                </a:solidFill>
                <a:effectLst/>
              </a:rPr>
              <a:t>src</a:t>
            </a:r>
            <a:r>
              <a:rPr lang="en-IN" dirty="0">
                <a:solidFill>
                  <a:srgbClr val="005CC5"/>
                </a:solidFill>
                <a:effectLst/>
              </a:rPr>
              <a:t>="https://ajax.googleapis.com/ajax/libs/</a:t>
            </a:r>
            <a:r>
              <a:rPr lang="en-IN" dirty="0" err="1">
                <a:solidFill>
                  <a:srgbClr val="005CC5"/>
                </a:solidFill>
                <a:effectLst/>
              </a:rPr>
              <a:t>angularjs</a:t>
            </a:r>
            <a:r>
              <a:rPr lang="en-IN" dirty="0">
                <a:solidFill>
                  <a:srgbClr val="005CC5"/>
                </a:solidFill>
                <a:effectLst/>
              </a:rPr>
              <a:t>/1.6.9/angular.min.js"</a:t>
            </a:r>
            <a:r>
              <a:rPr lang="en-IN" dirty="0">
                <a:solidFill>
                  <a:srgbClr val="999999"/>
                </a:solidFill>
                <a:effectLst/>
              </a:rPr>
              <a:t>&gt;&lt;</a:t>
            </a:r>
            <a:r>
              <a:rPr lang="en-IN" dirty="0">
                <a:solidFill>
                  <a:srgbClr val="990055"/>
                </a:solidFill>
                <a:effectLst/>
              </a:rPr>
              <a:t>/script</a:t>
            </a:r>
            <a:r>
              <a:rPr lang="en-IN" dirty="0">
                <a:solidFill>
                  <a:srgbClr val="999999"/>
                </a:solidFill>
                <a:effectLst/>
              </a:rPr>
              <a:t>&gt;</a:t>
            </a:r>
            <a:r>
              <a:rPr lang="en-IN" dirty="0"/>
              <a:t> </a:t>
            </a:r>
          </a:p>
          <a:p>
            <a:pPr marL="457200" lvl="1" indent="0">
              <a:buNone/>
            </a:pPr>
            <a:endParaRPr lang="en-US" sz="2000" dirty="0"/>
          </a:p>
          <a:p>
            <a:r>
              <a:rPr lang="en-US" sz="2400" dirty="0"/>
              <a:t>AngularJS extends HTML attributes with </a:t>
            </a:r>
            <a:r>
              <a:rPr lang="en-US" sz="2400" b="1" dirty="0"/>
              <a:t>Directives</a:t>
            </a:r>
            <a:r>
              <a:rPr lang="en-US" sz="2400" dirty="0"/>
              <a:t>, and binds data to HTML with </a:t>
            </a:r>
            <a:r>
              <a:rPr lang="en-US" sz="2400" b="1" dirty="0"/>
              <a:t>Expressions</a:t>
            </a:r>
            <a:r>
              <a:rPr lang="en-US" sz="2400" dirty="0"/>
              <a:t>.</a:t>
            </a:r>
          </a:p>
          <a:p>
            <a:pPr lvl="1"/>
            <a:r>
              <a:rPr lang="en-US" sz="2000" dirty="0"/>
              <a:t>AngularJS extends HTML with </a:t>
            </a:r>
            <a:r>
              <a:rPr lang="en-US" sz="2000" b="1" dirty="0"/>
              <a:t>ng-directives</a:t>
            </a:r>
            <a:r>
              <a:rPr lang="en-US" sz="2000" dirty="0"/>
              <a:t>.</a:t>
            </a:r>
          </a:p>
          <a:p>
            <a:pPr lvl="1"/>
            <a:r>
              <a:rPr lang="en-US" sz="2000" dirty="0"/>
              <a:t>The </a:t>
            </a:r>
            <a:r>
              <a:rPr lang="en-US" sz="2000" b="1" dirty="0"/>
              <a:t>ng-app</a:t>
            </a:r>
            <a:r>
              <a:rPr lang="en-US" sz="2000" dirty="0"/>
              <a:t> directive defines an AngularJS application.</a:t>
            </a:r>
          </a:p>
          <a:p>
            <a:pPr lvl="1"/>
            <a:r>
              <a:rPr lang="en-US" sz="2000" dirty="0"/>
              <a:t>The </a:t>
            </a:r>
            <a:r>
              <a:rPr lang="en-US" sz="2000" b="1" dirty="0"/>
              <a:t>ng-model</a:t>
            </a:r>
            <a:r>
              <a:rPr lang="en-US" sz="2000" dirty="0"/>
              <a:t> directive binds the value of HTML controls (input, select, </a:t>
            </a:r>
            <a:r>
              <a:rPr lang="en-US" sz="2000" dirty="0" err="1"/>
              <a:t>textarea</a:t>
            </a:r>
            <a:r>
              <a:rPr lang="en-US" sz="2000" dirty="0"/>
              <a:t>) to application data.</a:t>
            </a:r>
          </a:p>
          <a:p>
            <a:pPr lvl="1"/>
            <a:r>
              <a:rPr lang="en-US" sz="2000" dirty="0"/>
              <a:t>The </a:t>
            </a:r>
            <a:r>
              <a:rPr lang="en-US" sz="2000" b="1" dirty="0"/>
              <a:t>ng-bind</a:t>
            </a:r>
            <a:r>
              <a:rPr lang="en-US" sz="2000" dirty="0"/>
              <a:t> directive binds application data to the HTML view.</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3045482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9313-1846-F08C-F47E-9F15D595D5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53FB3-9705-9085-F3C2-B4521FA006DC}"/>
              </a:ext>
            </a:extLst>
          </p:cNvPr>
          <p:cNvSpPr>
            <a:spLocks noGrp="1"/>
          </p:cNvSpPr>
          <p:nvPr>
            <p:ph idx="1"/>
          </p:nvPr>
        </p:nvSpPr>
        <p:spPr>
          <a:xfrm>
            <a:off x="838200" y="254524"/>
            <a:ext cx="10515600" cy="6410227"/>
          </a:xfrm>
        </p:spPr>
        <p:txBody>
          <a:bodyPr>
            <a:normAutofit lnSpcReduction="10000"/>
          </a:bodyPr>
          <a:lstStyle/>
          <a:p>
            <a:r>
              <a:rPr lang="en-US" dirty="0"/>
              <a:t>Example:</a:t>
            </a:r>
          </a:p>
          <a:p>
            <a:pPr marL="457200" lvl="1" indent="0" algn="just">
              <a:buNone/>
            </a:pPr>
            <a:endParaRPr lang="en-US" sz="2000" dirty="0"/>
          </a:p>
          <a:p>
            <a:pPr marL="457200" lvl="1" indent="0" algn="just">
              <a:buNone/>
            </a:pPr>
            <a:r>
              <a:rPr lang="en-US" sz="2000" dirty="0"/>
              <a:t>&lt;!DOCTYPE html&gt;</a:t>
            </a:r>
          </a:p>
          <a:p>
            <a:pPr marL="457200" lvl="1" indent="0" algn="just">
              <a:buNone/>
            </a:pPr>
            <a:r>
              <a:rPr lang="en-US" sz="2000" dirty="0"/>
              <a:t>&lt;html&gt;</a:t>
            </a:r>
          </a:p>
          <a:p>
            <a:pPr marL="457200" lvl="1" indent="0" algn="just">
              <a:buNone/>
            </a:pPr>
            <a:r>
              <a:rPr lang="en-US" sz="2000" dirty="0"/>
              <a:t>&lt;script </a:t>
            </a:r>
            <a:r>
              <a:rPr lang="en-US" sz="2000" dirty="0" err="1"/>
              <a:t>src</a:t>
            </a:r>
            <a:r>
              <a:rPr lang="en-US" sz="2000" dirty="0"/>
              <a:t>="https://ajax.googleapis.com/ajax/libs/</a:t>
            </a:r>
            <a:r>
              <a:rPr lang="en-US" sz="2000" dirty="0" err="1"/>
              <a:t>angularjs</a:t>
            </a:r>
            <a:r>
              <a:rPr lang="en-US" sz="2000" dirty="0"/>
              <a:t>/1.6.9/angular.min.js"&gt;&lt;/script&gt;</a:t>
            </a:r>
          </a:p>
          <a:p>
            <a:pPr marL="457200" lvl="1" indent="0" algn="just">
              <a:buNone/>
            </a:pPr>
            <a:r>
              <a:rPr lang="en-US" sz="2000" dirty="0"/>
              <a:t>&lt;body&gt;</a:t>
            </a:r>
          </a:p>
          <a:p>
            <a:pPr marL="457200" lvl="1" indent="0" algn="just">
              <a:buNone/>
            </a:pPr>
            <a:r>
              <a:rPr lang="en-US" sz="2000" dirty="0"/>
              <a:t>&lt;div </a:t>
            </a:r>
            <a:r>
              <a:rPr lang="en-US" sz="2000" dirty="0">
                <a:solidFill>
                  <a:srgbClr val="FF3399"/>
                </a:solidFill>
              </a:rPr>
              <a:t>ng-app</a:t>
            </a:r>
            <a:r>
              <a:rPr lang="en-US" sz="2000" dirty="0"/>
              <a:t>=""&gt;</a:t>
            </a:r>
          </a:p>
          <a:p>
            <a:pPr marL="457200" lvl="1" indent="0" algn="just">
              <a:buNone/>
            </a:pPr>
            <a:r>
              <a:rPr lang="en-US" sz="2000" dirty="0"/>
              <a:t> &lt;p&gt;Input something in the input box:&lt;/p&gt;</a:t>
            </a:r>
          </a:p>
          <a:p>
            <a:pPr marL="457200" lvl="1" indent="0" algn="just">
              <a:buNone/>
            </a:pPr>
            <a:r>
              <a:rPr lang="en-US" sz="2000" dirty="0"/>
              <a:t>&lt;p&gt;Name: &lt;input type="text" </a:t>
            </a:r>
            <a:r>
              <a:rPr lang="en-US" sz="2000" dirty="0">
                <a:solidFill>
                  <a:srgbClr val="FF3399"/>
                </a:solidFill>
              </a:rPr>
              <a:t>ng-model</a:t>
            </a:r>
            <a:r>
              <a:rPr lang="en-US" sz="2000" dirty="0"/>
              <a:t>="</a:t>
            </a:r>
            <a:r>
              <a:rPr lang="en-US" sz="2000" dirty="0">
                <a:solidFill>
                  <a:srgbClr val="00B0F0"/>
                </a:solidFill>
              </a:rPr>
              <a:t>name</a:t>
            </a:r>
            <a:r>
              <a:rPr lang="en-US" sz="2000" dirty="0"/>
              <a:t>"&gt;&lt;/p&gt;</a:t>
            </a:r>
          </a:p>
          <a:p>
            <a:pPr marL="457200" lvl="1" indent="0" algn="just">
              <a:buNone/>
            </a:pPr>
            <a:r>
              <a:rPr lang="en-US" sz="2000" dirty="0"/>
              <a:t>&lt;p </a:t>
            </a:r>
            <a:r>
              <a:rPr lang="en-US" sz="2000" dirty="0">
                <a:solidFill>
                  <a:srgbClr val="FF3399"/>
                </a:solidFill>
              </a:rPr>
              <a:t>ng-bind</a:t>
            </a:r>
            <a:r>
              <a:rPr lang="en-US" sz="2000" dirty="0"/>
              <a:t>="</a:t>
            </a:r>
            <a:r>
              <a:rPr lang="en-US" sz="2000" dirty="0">
                <a:solidFill>
                  <a:srgbClr val="00B0F0"/>
                </a:solidFill>
              </a:rPr>
              <a:t>name</a:t>
            </a:r>
            <a:r>
              <a:rPr lang="en-US" sz="2000" dirty="0"/>
              <a:t>"&gt;&lt;/p&gt;</a:t>
            </a:r>
          </a:p>
          <a:p>
            <a:pPr marL="457200" lvl="1" indent="0" algn="just">
              <a:buNone/>
            </a:pPr>
            <a:r>
              <a:rPr lang="en-US" sz="2000" dirty="0"/>
              <a:t>&lt;/div&gt;</a:t>
            </a:r>
          </a:p>
          <a:p>
            <a:pPr marL="457200" lvl="1" indent="0" algn="just">
              <a:buNone/>
            </a:pPr>
            <a:r>
              <a:rPr lang="en-US" sz="2000" dirty="0"/>
              <a:t>&lt;/body&gt;</a:t>
            </a:r>
          </a:p>
          <a:p>
            <a:pPr marL="457200" lvl="1" indent="0" algn="just">
              <a:buNone/>
            </a:pPr>
            <a:r>
              <a:rPr lang="en-US" sz="2000" dirty="0"/>
              <a:t>&lt;/html&gt;</a:t>
            </a:r>
          </a:p>
          <a:p>
            <a:pPr marL="457200" lvl="1" indent="0" algn="just">
              <a:buNone/>
            </a:pPr>
            <a:endParaRPr lang="en-US" sz="2000" dirty="0"/>
          </a:p>
          <a:p>
            <a:pPr lvl="1"/>
            <a:r>
              <a:rPr lang="en-US" sz="2000" dirty="0"/>
              <a:t>AngularJS starts automatically when the web page has loaded.</a:t>
            </a:r>
          </a:p>
          <a:p>
            <a:pPr lvl="1"/>
            <a:r>
              <a:rPr lang="en-US" sz="2000" dirty="0"/>
              <a:t>The </a:t>
            </a:r>
            <a:r>
              <a:rPr lang="en-US" sz="2000" b="1" dirty="0"/>
              <a:t>ng-app</a:t>
            </a:r>
            <a:r>
              <a:rPr lang="en-US" sz="2000" dirty="0"/>
              <a:t> directive tells AngularJS that the &lt;div&gt; element is the "owner" of an AngularJS </a:t>
            </a:r>
            <a:r>
              <a:rPr lang="en-US" sz="2000" b="1" dirty="0"/>
              <a:t>application</a:t>
            </a:r>
            <a:r>
              <a:rPr lang="en-US" sz="2000" dirty="0"/>
              <a:t>.</a:t>
            </a:r>
          </a:p>
          <a:p>
            <a:pPr lvl="1"/>
            <a:r>
              <a:rPr lang="en-US" sz="2000" dirty="0"/>
              <a:t>The </a:t>
            </a:r>
            <a:r>
              <a:rPr lang="en-US" sz="2000" b="1" dirty="0"/>
              <a:t>ng-model</a:t>
            </a:r>
            <a:r>
              <a:rPr lang="en-US" sz="2000" dirty="0"/>
              <a:t> directive binds the value of the input field to the application variable </a:t>
            </a:r>
            <a:r>
              <a:rPr lang="en-US" sz="2000" b="1" dirty="0"/>
              <a:t>name</a:t>
            </a:r>
            <a:r>
              <a:rPr lang="en-US" sz="2000" dirty="0"/>
              <a:t>.</a:t>
            </a:r>
          </a:p>
          <a:p>
            <a:pPr lvl="1"/>
            <a:r>
              <a:rPr lang="en-US" sz="2000" dirty="0"/>
              <a:t>The </a:t>
            </a:r>
            <a:r>
              <a:rPr lang="en-US" sz="2000" b="1" dirty="0"/>
              <a:t>ng-bind</a:t>
            </a:r>
            <a:r>
              <a:rPr lang="en-US" sz="2000" dirty="0"/>
              <a:t> directive binds the content of the &lt;p&gt; element to the application variable </a:t>
            </a:r>
            <a:r>
              <a:rPr lang="en-US" sz="2000" b="1" dirty="0"/>
              <a:t>name</a:t>
            </a:r>
            <a:r>
              <a:rPr lang="en-US" sz="2000" dirty="0"/>
              <a:t>.</a:t>
            </a: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8186634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F59C6-9F95-5733-C619-B7FAB588A4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6411BB-E6C5-E194-6DC9-57A719B20CDA}"/>
              </a:ext>
            </a:extLst>
          </p:cNvPr>
          <p:cNvSpPr>
            <a:spLocks noGrp="1"/>
          </p:cNvSpPr>
          <p:nvPr>
            <p:ph idx="1"/>
          </p:nvPr>
        </p:nvSpPr>
        <p:spPr>
          <a:xfrm>
            <a:off x="838200" y="254524"/>
            <a:ext cx="10515600" cy="6410227"/>
          </a:xfrm>
        </p:spPr>
        <p:txBody>
          <a:bodyPr/>
          <a:lstStyle/>
          <a:p>
            <a:r>
              <a:rPr lang="en-US" dirty="0"/>
              <a:t>Continued…</a:t>
            </a:r>
          </a:p>
          <a:p>
            <a:r>
              <a:rPr lang="en-US" sz="2400" b="1" dirty="0"/>
              <a:t>AngularJS Directives</a:t>
            </a:r>
          </a:p>
          <a:p>
            <a:pPr lvl="1"/>
            <a:r>
              <a:rPr lang="en-US" sz="2000" dirty="0"/>
              <a:t>AngularJS directives are HTML attributes with an </a:t>
            </a:r>
            <a:r>
              <a:rPr lang="en-US" sz="2000" b="1" dirty="0"/>
              <a:t>ng</a:t>
            </a:r>
            <a:r>
              <a:rPr lang="en-US" sz="2000" dirty="0"/>
              <a:t> prefix.</a:t>
            </a:r>
          </a:p>
          <a:p>
            <a:pPr lvl="1"/>
            <a:r>
              <a:rPr lang="en-US" sz="2000" dirty="0"/>
              <a:t>The </a:t>
            </a:r>
            <a:r>
              <a:rPr lang="en-US" sz="2000" b="1" dirty="0"/>
              <a:t>ng-</a:t>
            </a:r>
            <a:r>
              <a:rPr lang="en-US" sz="2000" b="1" dirty="0" err="1"/>
              <a:t>init</a:t>
            </a:r>
            <a:r>
              <a:rPr lang="en-US" sz="2000" dirty="0"/>
              <a:t> directive initializes AngularJS application variables.</a:t>
            </a:r>
          </a:p>
          <a:p>
            <a:pPr lvl="1">
              <a:buNone/>
            </a:pPr>
            <a:r>
              <a:rPr lang="en-US" sz="2000" dirty="0">
                <a:solidFill>
                  <a:srgbClr val="999999"/>
                </a:solidFill>
                <a:effectLst/>
              </a:rPr>
              <a:t>	</a:t>
            </a:r>
          </a:p>
          <a:p>
            <a:pPr lvl="1">
              <a:buNone/>
            </a:pPr>
            <a:r>
              <a:rPr lang="en-US" sz="2000" dirty="0">
                <a:solidFill>
                  <a:srgbClr val="999999"/>
                </a:solidFill>
              </a:rPr>
              <a:t>	</a:t>
            </a:r>
            <a:r>
              <a:rPr lang="en-US" sz="2000" dirty="0">
                <a:solidFill>
                  <a:srgbClr val="999999"/>
                </a:solidFill>
                <a:effectLst/>
              </a:rPr>
              <a:t>&lt;</a:t>
            </a:r>
            <a:r>
              <a:rPr lang="en-US" sz="2000" dirty="0">
                <a:solidFill>
                  <a:srgbClr val="990055"/>
                </a:solidFill>
                <a:effectLst/>
              </a:rPr>
              <a:t>div</a:t>
            </a:r>
            <a:r>
              <a:rPr lang="en-US" sz="2000" dirty="0">
                <a:solidFill>
                  <a:srgbClr val="008000"/>
                </a:solidFill>
                <a:effectLst/>
              </a:rPr>
              <a:t> ng-app</a:t>
            </a:r>
            <a:r>
              <a:rPr lang="en-US" sz="2000" dirty="0">
                <a:solidFill>
                  <a:srgbClr val="005CC5"/>
                </a:solidFill>
                <a:effectLst/>
              </a:rPr>
              <a:t>=""</a:t>
            </a:r>
            <a:r>
              <a:rPr lang="en-US" sz="2000" dirty="0">
                <a:solidFill>
                  <a:srgbClr val="008000"/>
                </a:solidFill>
                <a:effectLst/>
              </a:rPr>
              <a:t> ng-</a:t>
            </a:r>
            <a:r>
              <a:rPr lang="en-US" sz="2000" dirty="0" err="1">
                <a:solidFill>
                  <a:srgbClr val="008000"/>
                </a:solidFill>
                <a:effectLst/>
              </a:rPr>
              <a:t>init</a:t>
            </a:r>
            <a:r>
              <a:rPr lang="en-US" sz="2000" dirty="0">
                <a:solidFill>
                  <a:srgbClr val="005CC5"/>
                </a:solidFill>
                <a:effectLst/>
              </a:rPr>
              <a:t>="</a:t>
            </a:r>
            <a:r>
              <a:rPr lang="en-US" sz="2000" dirty="0" err="1">
                <a:solidFill>
                  <a:srgbClr val="005CC5"/>
                </a:solidFill>
                <a:effectLst/>
              </a:rPr>
              <a:t>firstName</a:t>
            </a:r>
            <a:r>
              <a:rPr lang="en-US" sz="2000" dirty="0">
                <a:solidFill>
                  <a:srgbClr val="005CC5"/>
                </a:solidFill>
                <a:effectLst/>
              </a:rPr>
              <a:t>='John'"</a:t>
            </a:r>
            <a:r>
              <a:rPr lang="en-US" sz="2000" dirty="0">
                <a:solidFill>
                  <a:srgbClr val="999999"/>
                </a:solidFill>
                <a:effectLst/>
              </a:rPr>
              <a:t>&gt;</a:t>
            </a:r>
            <a:br>
              <a:rPr lang="en-US" sz="2000" dirty="0"/>
            </a:b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r>
              <a:rPr lang="en-US" sz="2000" dirty="0"/>
              <a:t>The name is </a:t>
            </a:r>
            <a:r>
              <a:rPr lang="en-US" sz="2000" dirty="0">
                <a:solidFill>
                  <a:srgbClr val="999999"/>
                </a:solidFill>
                <a:effectLst/>
              </a:rPr>
              <a:t>&lt;</a:t>
            </a:r>
            <a:r>
              <a:rPr lang="en-US" sz="2000" dirty="0">
                <a:solidFill>
                  <a:srgbClr val="990055"/>
                </a:solidFill>
                <a:effectLst/>
              </a:rPr>
              <a:t>span</a:t>
            </a:r>
            <a:r>
              <a:rPr lang="en-US" sz="2000" dirty="0">
                <a:solidFill>
                  <a:srgbClr val="008000"/>
                </a:solidFill>
                <a:effectLst/>
              </a:rPr>
              <a:t> ng-bind</a:t>
            </a:r>
            <a:r>
              <a:rPr lang="en-US" sz="2000" dirty="0">
                <a:solidFill>
                  <a:srgbClr val="005CC5"/>
                </a:solidFill>
                <a:effectLst/>
              </a:rPr>
              <a:t>="</a:t>
            </a:r>
            <a:r>
              <a:rPr lang="en-US" sz="2000" dirty="0" err="1">
                <a:solidFill>
                  <a:srgbClr val="005CC5"/>
                </a:solidFill>
                <a:effectLst/>
              </a:rPr>
              <a:t>firstName</a:t>
            </a:r>
            <a:r>
              <a:rPr lang="en-US" sz="2000" dirty="0">
                <a:solidFill>
                  <a:srgbClr val="005CC5"/>
                </a:solidFill>
                <a:effectLst/>
              </a:rPr>
              <a:t>"</a:t>
            </a:r>
            <a:r>
              <a:rPr lang="en-US" sz="2000" dirty="0">
                <a:solidFill>
                  <a:srgbClr val="999999"/>
                </a:solidFill>
                <a:effectLst/>
              </a:rPr>
              <a:t>&gt;&lt;</a:t>
            </a:r>
            <a:r>
              <a:rPr lang="en-US" sz="2000" dirty="0">
                <a:solidFill>
                  <a:srgbClr val="990055"/>
                </a:solidFill>
                <a:effectLst/>
              </a:rPr>
              <a:t>/span</a:t>
            </a:r>
            <a:r>
              <a:rPr lang="en-US" sz="2000" dirty="0">
                <a:solidFill>
                  <a:srgbClr val="999999"/>
                </a:solidFill>
                <a:effectLst/>
              </a:rPr>
              <a:t>&gt;&lt;</a:t>
            </a:r>
            <a:r>
              <a:rPr lang="en-US" sz="2000" dirty="0">
                <a:solidFill>
                  <a:srgbClr val="990055"/>
                </a:solidFill>
                <a:effectLst/>
              </a:rPr>
              <a:t>/p</a:t>
            </a:r>
            <a:r>
              <a:rPr lang="en-US" sz="2000" dirty="0">
                <a:solidFill>
                  <a:srgbClr val="999999"/>
                </a:solidFill>
                <a:effectLst/>
              </a:rPr>
              <a:t>&gt;</a:t>
            </a:r>
            <a:br>
              <a:rPr lang="en-US" sz="2000" dirty="0"/>
            </a:br>
            <a:r>
              <a:rPr lang="en-US" sz="2000" dirty="0">
                <a:solidFill>
                  <a:srgbClr val="999999"/>
                </a:solidFill>
                <a:effectLst/>
              </a:rPr>
              <a:t>&lt;</a:t>
            </a:r>
            <a:r>
              <a:rPr lang="en-US" sz="2000" dirty="0">
                <a:solidFill>
                  <a:srgbClr val="990055"/>
                </a:solidFill>
                <a:effectLst/>
              </a:rPr>
              <a:t>/div</a:t>
            </a:r>
            <a:r>
              <a:rPr lang="en-US" sz="2000" dirty="0">
                <a:solidFill>
                  <a:srgbClr val="999999"/>
                </a:solidFill>
                <a:effectLst/>
              </a:rPr>
              <a:t>&gt;</a:t>
            </a:r>
            <a:r>
              <a:rPr lang="en-US" sz="2000" dirty="0"/>
              <a:t> </a:t>
            </a:r>
          </a:p>
          <a:p>
            <a:pPr lvl="1">
              <a:buNone/>
            </a:pPr>
            <a:endParaRPr lang="en-US" sz="2000" dirty="0"/>
          </a:p>
          <a:p>
            <a:pPr lvl="1" algn="just"/>
            <a:r>
              <a:rPr lang="en-US" sz="2000" dirty="0"/>
              <a:t>You can use </a:t>
            </a:r>
            <a:r>
              <a:rPr lang="en-US" sz="2000" b="1" dirty="0"/>
              <a:t>data-ng-</a:t>
            </a:r>
            <a:r>
              <a:rPr lang="en-US" sz="2000" dirty="0"/>
              <a:t>, instead of </a:t>
            </a:r>
            <a:r>
              <a:rPr lang="en-US" sz="2000" b="1" dirty="0"/>
              <a:t>ng-</a:t>
            </a:r>
            <a:r>
              <a:rPr lang="en-US" sz="2000" dirty="0"/>
              <a:t>, if you want to make your page HTML valid.</a:t>
            </a:r>
          </a:p>
          <a:p>
            <a:r>
              <a:rPr lang="en-US" sz="2400" b="1" dirty="0"/>
              <a:t>AngularJS Expressions</a:t>
            </a:r>
          </a:p>
          <a:p>
            <a:pPr lvl="1"/>
            <a:r>
              <a:rPr lang="en-US" sz="2000" dirty="0"/>
              <a:t>AngularJS expressions are written inside double braces: </a:t>
            </a:r>
            <a:r>
              <a:rPr lang="en-US" sz="2000" b="1" dirty="0"/>
              <a:t>{{ expression }}</a:t>
            </a:r>
            <a:r>
              <a:rPr lang="en-US" sz="2000" dirty="0"/>
              <a:t>.</a:t>
            </a:r>
          </a:p>
          <a:p>
            <a:pPr lvl="1"/>
            <a:r>
              <a:rPr lang="en-US" sz="2000" dirty="0"/>
              <a:t>AngularJS will "output" data exactly where the expression is written:</a:t>
            </a:r>
          </a:p>
          <a:p>
            <a:pPr marL="914400" lvl="2" indent="0" algn="just">
              <a:buNone/>
            </a:pPr>
            <a:endParaRPr lang="en-US" dirty="0">
              <a:solidFill>
                <a:srgbClr val="999999"/>
              </a:solidFill>
              <a:effectLst/>
            </a:endParaRPr>
          </a:p>
          <a:p>
            <a:pPr marL="914400" lvl="2" indent="0" algn="just">
              <a:buNone/>
            </a:pPr>
            <a:r>
              <a:rPr lang="en-US" dirty="0">
                <a:solidFill>
                  <a:srgbClr val="999999"/>
                </a:solidFill>
                <a:effectLst/>
              </a:rPr>
              <a:t>&lt;</a:t>
            </a:r>
            <a:r>
              <a:rPr lang="en-US" dirty="0">
                <a:solidFill>
                  <a:srgbClr val="990055"/>
                </a:solidFill>
                <a:effectLst/>
              </a:rPr>
              <a:t>div</a:t>
            </a:r>
            <a:r>
              <a:rPr lang="en-US" dirty="0">
                <a:solidFill>
                  <a:srgbClr val="008000"/>
                </a:solidFill>
                <a:effectLst/>
              </a:rPr>
              <a:t> ng-app</a:t>
            </a:r>
            <a:r>
              <a:rPr lang="en-US" dirty="0">
                <a:solidFill>
                  <a:srgbClr val="005CC5"/>
                </a:solidFill>
                <a:effectLst/>
              </a:rPr>
              <a:t>=""</a:t>
            </a:r>
            <a:r>
              <a:rPr lang="en-US" dirty="0">
                <a:solidFill>
                  <a:srgbClr val="999999"/>
                </a:solidFill>
                <a:effectLst/>
              </a:rPr>
              <a:t>&gt;</a:t>
            </a:r>
          </a:p>
          <a:p>
            <a:pPr marL="914400" lvl="2" indent="0" algn="just">
              <a:buNone/>
            </a:pPr>
            <a:r>
              <a:rPr lang="en-US" dirty="0">
                <a:solidFill>
                  <a:srgbClr val="999999"/>
                </a:solidFill>
                <a:effectLst/>
              </a:rPr>
              <a:t>&lt;</a:t>
            </a:r>
            <a:r>
              <a:rPr lang="en-US" dirty="0">
                <a:solidFill>
                  <a:srgbClr val="990055"/>
                </a:solidFill>
                <a:effectLst/>
              </a:rPr>
              <a:t>p</a:t>
            </a:r>
            <a:r>
              <a:rPr lang="en-US" dirty="0">
                <a:solidFill>
                  <a:srgbClr val="999999"/>
                </a:solidFill>
                <a:effectLst/>
              </a:rPr>
              <a:t>&gt;</a:t>
            </a:r>
            <a:r>
              <a:rPr lang="en-US" dirty="0"/>
              <a:t>My first expression: </a:t>
            </a:r>
            <a:r>
              <a:rPr lang="en-US" dirty="0">
                <a:solidFill>
                  <a:srgbClr val="D73A49"/>
                </a:solidFill>
                <a:effectLst/>
              </a:rPr>
              <a:t>{{ 5 + 5 }}</a:t>
            </a:r>
            <a:r>
              <a:rPr lang="en-US" dirty="0">
                <a:solidFill>
                  <a:srgbClr val="999999"/>
                </a:solidFill>
                <a:effectLst/>
              </a:rPr>
              <a:t>&lt;</a:t>
            </a:r>
            <a:r>
              <a:rPr lang="en-US" dirty="0">
                <a:solidFill>
                  <a:srgbClr val="990055"/>
                </a:solidFill>
                <a:effectLst/>
              </a:rPr>
              <a:t>/p</a:t>
            </a:r>
            <a:r>
              <a:rPr lang="en-US" dirty="0">
                <a:solidFill>
                  <a:srgbClr val="999999"/>
                </a:solidFill>
                <a:effectLst/>
              </a:rPr>
              <a:t>&gt;</a:t>
            </a:r>
          </a:p>
          <a:p>
            <a:pPr marL="914400" lvl="2" indent="0" algn="just">
              <a:buNone/>
            </a:pPr>
            <a:r>
              <a:rPr lang="en-US" dirty="0">
                <a:solidFill>
                  <a:srgbClr val="999999"/>
                </a:solidFill>
                <a:effectLst/>
              </a:rPr>
              <a:t>&lt;</a:t>
            </a:r>
            <a:r>
              <a:rPr lang="en-US" dirty="0">
                <a:solidFill>
                  <a:srgbClr val="990055"/>
                </a:solidFill>
                <a:effectLst/>
              </a:rPr>
              <a:t>/div</a:t>
            </a:r>
            <a:r>
              <a:rPr lang="en-US" dirty="0">
                <a:solidFill>
                  <a:srgbClr val="999999"/>
                </a:solidFill>
                <a:effectLst/>
              </a:rPr>
              <a:t>&gt;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0110785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F12B1-8FF9-5000-61FF-6BEB1CBBCE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79321E-7642-57D5-201C-09225107A5B3}"/>
              </a:ext>
            </a:extLst>
          </p:cNvPr>
          <p:cNvSpPr>
            <a:spLocks noGrp="1"/>
          </p:cNvSpPr>
          <p:nvPr>
            <p:ph idx="1"/>
          </p:nvPr>
        </p:nvSpPr>
        <p:spPr>
          <a:xfrm>
            <a:off x="838200" y="254524"/>
            <a:ext cx="10515600" cy="6410227"/>
          </a:xfrm>
        </p:spPr>
        <p:txBody>
          <a:bodyPr>
            <a:normAutofit fontScale="92500" lnSpcReduction="10000"/>
          </a:bodyPr>
          <a:lstStyle/>
          <a:p>
            <a:r>
              <a:rPr lang="en-US" dirty="0"/>
              <a:t>Continued…</a:t>
            </a:r>
          </a:p>
          <a:p>
            <a:pPr lvl="1" algn="just"/>
            <a:r>
              <a:rPr lang="en-US" sz="2000" dirty="0"/>
              <a:t>AngularJS </a:t>
            </a:r>
            <a:r>
              <a:rPr lang="en-US" sz="2000" dirty="0">
                <a:solidFill>
                  <a:srgbClr val="00B0F0"/>
                </a:solidFill>
              </a:rPr>
              <a:t>expressions</a:t>
            </a:r>
            <a:r>
              <a:rPr lang="en-US" sz="2000" dirty="0"/>
              <a:t> bind AngularJS data to HTML the same way as the </a:t>
            </a:r>
            <a:r>
              <a:rPr lang="en-US" sz="2000" b="1" dirty="0"/>
              <a:t>ng-bind</a:t>
            </a:r>
            <a:r>
              <a:rPr lang="en-US" sz="2000" dirty="0"/>
              <a:t> directive.</a:t>
            </a:r>
          </a:p>
          <a:p>
            <a:pPr marL="914400" lvl="2" indent="0" algn="just">
              <a:buNone/>
            </a:pPr>
            <a:r>
              <a:rPr lang="en-IN" dirty="0">
                <a:solidFill>
                  <a:srgbClr val="999999"/>
                </a:solidFill>
                <a:effectLst/>
              </a:rPr>
              <a:t>&lt;</a:t>
            </a:r>
            <a:r>
              <a:rPr lang="en-IN" dirty="0">
                <a:solidFill>
                  <a:srgbClr val="990055"/>
                </a:solidFill>
                <a:effectLst/>
              </a:rPr>
              <a:t>div</a:t>
            </a:r>
            <a:r>
              <a:rPr lang="en-IN" dirty="0">
                <a:solidFill>
                  <a:srgbClr val="008000"/>
                </a:solidFill>
                <a:effectLst/>
              </a:rPr>
              <a:t> ng-app</a:t>
            </a:r>
            <a:r>
              <a:rPr lang="en-IN" dirty="0">
                <a:solidFill>
                  <a:srgbClr val="005CC5"/>
                </a:solidFill>
                <a:effectLst/>
              </a:rPr>
              <a:t>=""</a:t>
            </a:r>
            <a:r>
              <a:rPr lang="en-IN" dirty="0">
                <a:solidFill>
                  <a:srgbClr val="999999"/>
                </a:solidFill>
                <a:effectLst/>
              </a:rPr>
              <a:t>&gt;</a:t>
            </a:r>
          </a:p>
          <a:p>
            <a:pPr marL="914400" lvl="2" indent="0" algn="just">
              <a:buNone/>
            </a:pPr>
            <a:r>
              <a:rPr lang="en-IN" dirty="0">
                <a:solidFill>
                  <a:srgbClr val="999999"/>
                </a:solidFill>
                <a:effectLst/>
              </a:rPr>
              <a:t>&lt;</a:t>
            </a:r>
            <a:r>
              <a:rPr lang="en-IN" dirty="0">
                <a:solidFill>
                  <a:srgbClr val="990055"/>
                </a:solidFill>
                <a:effectLst/>
              </a:rPr>
              <a:t>p</a:t>
            </a:r>
            <a:r>
              <a:rPr lang="en-IN" dirty="0">
                <a:solidFill>
                  <a:srgbClr val="999999"/>
                </a:solidFill>
                <a:effectLst/>
              </a:rPr>
              <a:t>&gt;</a:t>
            </a:r>
            <a:r>
              <a:rPr lang="en-IN" dirty="0"/>
              <a:t>Name: </a:t>
            </a:r>
            <a:r>
              <a:rPr lang="en-IN" dirty="0">
                <a:solidFill>
                  <a:srgbClr val="999999"/>
                </a:solidFill>
                <a:effectLst/>
              </a:rPr>
              <a:t>&lt;</a:t>
            </a:r>
            <a:r>
              <a:rPr lang="en-IN" dirty="0">
                <a:solidFill>
                  <a:srgbClr val="990055"/>
                </a:solidFill>
                <a:effectLst/>
              </a:rPr>
              <a:t>input</a:t>
            </a:r>
            <a:r>
              <a:rPr lang="en-IN" dirty="0">
                <a:solidFill>
                  <a:srgbClr val="008000"/>
                </a:solidFill>
                <a:effectLst/>
              </a:rPr>
              <a:t> type</a:t>
            </a:r>
            <a:r>
              <a:rPr lang="en-IN" dirty="0">
                <a:solidFill>
                  <a:srgbClr val="005CC5"/>
                </a:solidFill>
                <a:effectLst/>
              </a:rPr>
              <a:t>="text"</a:t>
            </a:r>
            <a:r>
              <a:rPr lang="en-IN" dirty="0">
                <a:solidFill>
                  <a:srgbClr val="008000"/>
                </a:solidFill>
                <a:effectLst/>
              </a:rPr>
              <a:t> ng-model</a:t>
            </a:r>
            <a:r>
              <a:rPr lang="en-IN" dirty="0">
                <a:solidFill>
                  <a:srgbClr val="005CC5"/>
                </a:solidFill>
                <a:effectLst/>
              </a:rPr>
              <a:t>="name"</a:t>
            </a:r>
            <a:r>
              <a:rPr lang="en-IN" dirty="0">
                <a:solidFill>
                  <a:srgbClr val="999999"/>
                </a:solidFill>
                <a:effectLst/>
              </a:rPr>
              <a:t>&gt;&lt;</a:t>
            </a:r>
            <a:r>
              <a:rPr lang="en-IN" dirty="0">
                <a:solidFill>
                  <a:srgbClr val="990055"/>
                </a:solidFill>
                <a:effectLst/>
              </a:rPr>
              <a:t>/p</a:t>
            </a:r>
            <a:r>
              <a:rPr lang="en-IN" dirty="0">
                <a:solidFill>
                  <a:srgbClr val="999999"/>
                </a:solidFill>
                <a:effectLst/>
              </a:rPr>
              <a:t>&gt;</a:t>
            </a:r>
          </a:p>
          <a:p>
            <a:pPr marL="914400" lvl="2" indent="0" algn="just">
              <a:buNone/>
            </a:pPr>
            <a:r>
              <a:rPr lang="en-IN" dirty="0">
                <a:solidFill>
                  <a:srgbClr val="999999"/>
                </a:solidFill>
                <a:effectLst/>
              </a:rPr>
              <a:t>&lt;</a:t>
            </a:r>
            <a:r>
              <a:rPr lang="en-IN" dirty="0">
                <a:solidFill>
                  <a:srgbClr val="990055"/>
                </a:solidFill>
                <a:effectLst/>
              </a:rPr>
              <a:t>p</a:t>
            </a:r>
            <a:r>
              <a:rPr lang="en-IN" dirty="0">
                <a:solidFill>
                  <a:srgbClr val="999999"/>
                </a:solidFill>
                <a:effectLst/>
              </a:rPr>
              <a:t>&gt;</a:t>
            </a:r>
            <a:r>
              <a:rPr lang="en-IN" dirty="0">
                <a:solidFill>
                  <a:srgbClr val="D73A49"/>
                </a:solidFill>
                <a:effectLst/>
              </a:rPr>
              <a:t>{{name}}</a:t>
            </a:r>
            <a:r>
              <a:rPr lang="en-IN" dirty="0">
                <a:solidFill>
                  <a:srgbClr val="999999"/>
                </a:solidFill>
                <a:effectLst/>
              </a:rPr>
              <a:t>&lt;</a:t>
            </a:r>
            <a:r>
              <a:rPr lang="en-IN" dirty="0">
                <a:solidFill>
                  <a:srgbClr val="990055"/>
                </a:solidFill>
                <a:effectLst/>
              </a:rPr>
              <a:t>/p</a:t>
            </a:r>
            <a:r>
              <a:rPr lang="en-IN" dirty="0">
                <a:solidFill>
                  <a:srgbClr val="999999"/>
                </a:solidFill>
                <a:effectLst/>
              </a:rPr>
              <a:t>&gt;</a:t>
            </a:r>
          </a:p>
          <a:p>
            <a:pPr marL="914400" lvl="2" indent="0" algn="just">
              <a:buNone/>
            </a:pPr>
            <a:r>
              <a:rPr lang="en-IN" dirty="0">
                <a:solidFill>
                  <a:srgbClr val="999999"/>
                </a:solidFill>
                <a:effectLst/>
              </a:rPr>
              <a:t>&lt;</a:t>
            </a:r>
            <a:r>
              <a:rPr lang="en-IN" dirty="0">
                <a:solidFill>
                  <a:srgbClr val="990055"/>
                </a:solidFill>
                <a:effectLst/>
              </a:rPr>
              <a:t>/div</a:t>
            </a:r>
            <a:r>
              <a:rPr lang="en-IN" dirty="0">
                <a:solidFill>
                  <a:srgbClr val="999999"/>
                </a:solidFill>
                <a:effectLst/>
              </a:rPr>
              <a:t>&gt;</a:t>
            </a:r>
            <a:endParaRPr lang="en-US" sz="2800" dirty="0"/>
          </a:p>
          <a:p>
            <a:r>
              <a:rPr lang="en-IN" sz="2400" b="1" dirty="0"/>
              <a:t>AngularJS Applications</a:t>
            </a:r>
          </a:p>
          <a:p>
            <a:pPr lvl="1"/>
            <a:r>
              <a:rPr lang="en-IN" sz="2000" dirty="0"/>
              <a:t>AngularJS </a:t>
            </a:r>
            <a:r>
              <a:rPr lang="en-IN" sz="2000" b="1" dirty="0"/>
              <a:t>modules</a:t>
            </a:r>
            <a:r>
              <a:rPr lang="en-IN" sz="2000" dirty="0"/>
              <a:t> define AngularJS applications.</a:t>
            </a:r>
          </a:p>
          <a:p>
            <a:pPr lvl="1"/>
            <a:r>
              <a:rPr lang="en-IN" sz="2000" dirty="0"/>
              <a:t>AngularJS </a:t>
            </a:r>
            <a:r>
              <a:rPr lang="en-IN" sz="2000" b="1" dirty="0"/>
              <a:t>controllers</a:t>
            </a:r>
            <a:r>
              <a:rPr lang="en-IN" sz="2000" dirty="0"/>
              <a:t> control AngularJS applications.</a:t>
            </a:r>
          </a:p>
          <a:p>
            <a:pPr lvl="1"/>
            <a:r>
              <a:rPr lang="en-IN" sz="2000" dirty="0"/>
              <a:t>The </a:t>
            </a:r>
            <a:r>
              <a:rPr lang="en-IN" sz="2000" b="1" dirty="0"/>
              <a:t>ng-app</a:t>
            </a:r>
            <a:r>
              <a:rPr lang="en-IN" sz="2000" dirty="0"/>
              <a:t> directive defines the application, the </a:t>
            </a:r>
            <a:r>
              <a:rPr lang="en-IN" sz="2000" b="1" dirty="0"/>
              <a:t>ng-controller</a:t>
            </a:r>
            <a:r>
              <a:rPr lang="en-IN" sz="2000" dirty="0"/>
              <a:t> directive defines the controller.</a:t>
            </a:r>
          </a:p>
          <a:p>
            <a:pPr>
              <a:buNone/>
            </a:pPr>
            <a:r>
              <a:rPr lang="en-IN" sz="1600" dirty="0">
                <a:solidFill>
                  <a:srgbClr val="999999"/>
                </a:solidFill>
                <a:effectLst/>
              </a:rPr>
              <a:t>	</a:t>
            </a:r>
          </a:p>
          <a:p>
            <a:pPr>
              <a:buNone/>
            </a:pPr>
            <a:r>
              <a:rPr lang="en-IN" sz="1600" dirty="0">
                <a:solidFill>
                  <a:srgbClr val="999999"/>
                </a:solidFill>
              </a:rPr>
              <a:t>	</a:t>
            </a:r>
            <a:r>
              <a:rPr lang="en-IN" sz="1800" dirty="0">
                <a:solidFill>
                  <a:srgbClr val="999999"/>
                </a:solidFill>
                <a:effectLst/>
              </a:rPr>
              <a:t>&lt;</a:t>
            </a:r>
            <a:r>
              <a:rPr lang="en-IN" sz="1800" dirty="0">
                <a:solidFill>
                  <a:srgbClr val="990055"/>
                </a:solidFill>
                <a:effectLst/>
              </a:rPr>
              <a:t>div</a:t>
            </a:r>
            <a:r>
              <a:rPr lang="en-IN" sz="1800" dirty="0">
                <a:solidFill>
                  <a:srgbClr val="008000"/>
                </a:solidFill>
                <a:effectLst/>
              </a:rPr>
              <a:t> ng-app</a:t>
            </a:r>
            <a:r>
              <a:rPr lang="en-IN" sz="1800" dirty="0">
                <a:solidFill>
                  <a:srgbClr val="005CC5"/>
                </a:solidFill>
                <a:effectLst/>
              </a:rPr>
              <a:t>="</a:t>
            </a:r>
            <a:r>
              <a:rPr lang="en-IN" sz="1800" b="1" dirty="0" err="1">
                <a:solidFill>
                  <a:srgbClr val="005CC5"/>
                </a:solidFill>
                <a:effectLst/>
              </a:rPr>
              <a:t>myApp</a:t>
            </a:r>
            <a:r>
              <a:rPr lang="en-IN" sz="1800" dirty="0">
                <a:solidFill>
                  <a:srgbClr val="005CC5"/>
                </a:solidFill>
                <a:effectLst/>
              </a:rPr>
              <a:t>"</a:t>
            </a:r>
            <a:r>
              <a:rPr lang="en-IN" sz="1800" dirty="0">
                <a:solidFill>
                  <a:srgbClr val="008000"/>
                </a:solidFill>
                <a:effectLst/>
              </a:rPr>
              <a:t> ng-controller</a:t>
            </a:r>
            <a:r>
              <a:rPr lang="en-IN" sz="1800" dirty="0">
                <a:solidFill>
                  <a:srgbClr val="005CC5"/>
                </a:solidFill>
                <a:effectLst/>
              </a:rPr>
              <a:t>="</a:t>
            </a:r>
            <a:r>
              <a:rPr lang="en-IN" sz="1800" b="1" dirty="0" err="1">
                <a:solidFill>
                  <a:srgbClr val="005CC5"/>
                </a:solidFill>
                <a:effectLst/>
              </a:rPr>
              <a:t>myCtrl</a:t>
            </a:r>
            <a:r>
              <a:rPr lang="en-IN" sz="1800" dirty="0">
                <a:solidFill>
                  <a:srgbClr val="005CC5"/>
                </a:solidFill>
                <a:effectLst/>
              </a:rPr>
              <a:t>"</a:t>
            </a:r>
            <a:r>
              <a:rPr lang="en-IN" sz="1800" dirty="0">
                <a:solidFill>
                  <a:srgbClr val="999999"/>
                </a:solidFill>
                <a:effectLst/>
              </a:rPr>
              <a:t>&gt;</a:t>
            </a:r>
            <a:br>
              <a:rPr lang="en-IN" sz="1800" dirty="0"/>
            </a:br>
            <a:r>
              <a:rPr lang="en-IN" sz="1800" dirty="0"/>
              <a:t>First Name: </a:t>
            </a:r>
            <a:r>
              <a:rPr lang="en-IN" sz="1800" dirty="0">
                <a:solidFill>
                  <a:srgbClr val="999999"/>
                </a:solidFill>
                <a:effectLst/>
              </a:rPr>
              <a:t>&lt;</a:t>
            </a:r>
            <a:r>
              <a:rPr lang="en-IN" sz="1800" dirty="0">
                <a:solidFill>
                  <a:srgbClr val="990055"/>
                </a:solidFill>
                <a:effectLst/>
              </a:rPr>
              <a:t>input</a:t>
            </a:r>
            <a:r>
              <a:rPr lang="en-IN" sz="1800" dirty="0">
                <a:solidFill>
                  <a:srgbClr val="008000"/>
                </a:solidFill>
                <a:effectLst/>
              </a:rPr>
              <a:t> type</a:t>
            </a:r>
            <a:r>
              <a:rPr lang="en-IN" sz="1800" dirty="0">
                <a:solidFill>
                  <a:srgbClr val="005CC5"/>
                </a:solidFill>
                <a:effectLst/>
              </a:rPr>
              <a:t>="text"</a:t>
            </a:r>
            <a:r>
              <a:rPr lang="en-IN" sz="1800" dirty="0">
                <a:solidFill>
                  <a:srgbClr val="008000"/>
                </a:solidFill>
                <a:effectLst/>
              </a:rPr>
              <a:t> ng-model</a:t>
            </a:r>
            <a:r>
              <a:rPr lang="en-IN" sz="1800" dirty="0">
                <a:solidFill>
                  <a:srgbClr val="005CC5"/>
                </a:solidFill>
                <a:effectLst/>
              </a:rPr>
              <a:t>="</a:t>
            </a:r>
            <a:r>
              <a:rPr lang="en-IN" sz="1800" dirty="0" err="1">
                <a:solidFill>
                  <a:srgbClr val="005CC5"/>
                </a:solidFill>
                <a:effectLst/>
              </a:rPr>
              <a:t>firstName</a:t>
            </a:r>
            <a:r>
              <a:rPr lang="en-IN" sz="1800" dirty="0">
                <a:solidFill>
                  <a:srgbClr val="005CC5"/>
                </a:solidFill>
                <a:effectLst/>
              </a:rPr>
              <a:t>"</a:t>
            </a:r>
            <a:r>
              <a:rPr lang="en-IN" sz="1800" dirty="0">
                <a:solidFill>
                  <a:srgbClr val="999999"/>
                </a:solidFill>
                <a:effectLst/>
              </a:rPr>
              <a:t>&gt;&lt;</a:t>
            </a:r>
            <a:r>
              <a:rPr lang="en-IN" sz="1800" dirty="0" err="1">
                <a:solidFill>
                  <a:srgbClr val="990055"/>
                </a:solidFill>
                <a:effectLst/>
              </a:rPr>
              <a:t>br</a:t>
            </a:r>
            <a:r>
              <a:rPr lang="en-IN" sz="1800" dirty="0">
                <a:solidFill>
                  <a:srgbClr val="999999"/>
                </a:solidFill>
                <a:effectLst/>
              </a:rPr>
              <a:t>&gt;</a:t>
            </a:r>
            <a:br>
              <a:rPr lang="en-IN" sz="1800" dirty="0"/>
            </a:br>
            <a:r>
              <a:rPr lang="en-IN" sz="1800" dirty="0"/>
              <a:t>Last Name: </a:t>
            </a:r>
            <a:r>
              <a:rPr lang="en-IN" sz="1800" dirty="0">
                <a:solidFill>
                  <a:srgbClr val="999999"/>
                </a:solidFill>
                <a:effectLst/>
              </a:rPr>
              <a:t>&lt;</a:t>
            </a:r>
            <a:r>
              <a:rPr lang="en-IN" sz="1800" dirty="0">
                <a:solidFill>
                  <a:srgbClr val="990055"/>
                </a:solidFill>
                <a:effectLst/>
              </a:rPr>
              <a:t>input</a:t>
            </a:r>
            <a:r>
              <a:rPr lang="en-IN" sz="1800" dirty="0">
                <a:solidFill>
                  <a:srgbClr val="008000"/>
                </a:solidFill>
                <a:effectLst/>
              </a:rPr>
              <a:t> type</a:t>
            </a:r>
            <a:r>
              <a:rPr lang="en-IN" sz="1800" dirty="0">
                <a:solidFill>
                  <a:srgbClr val="005CC5"/>
                </a:solidFill>
                <a:effectLst/>
              </a:rPr>
              <a:t>="text"</a:t>
            </a:r>
            <a:r>
              <a:rPr lang="en-IN" sz="1800" dirty="0">
                <a:solidFill>
                  <a:srgbClr val="008000"/>
                </a:solidFill>
                <a:effectLst/>
              </a:rPr>
              <a:t> ng-model</a:t>
            </a:r>
            <a:r>
              <a:rPr lang="en-IN" sz="1800" dirty="0">
                <a:solidFill>
                  <a:srgbClr val="005CC5"/>
                </a:solidFill>
                <a:effectLst/>
              </a:rPr>
              <a:t>="</a:t>
            </a:r>
            <a:r>
              <a:rPr lang="en-IN" sz="1800" dirty="0" err="1">
                <a:solidFill>
                  <a:srgbClr val="005CC5"/>
                </a:solidFill>
                <a:effectLst/>
              </a:rPr>
              <a:t>lastName</a:t>
            </a:r>
            <a:r>
              <a:rPr lang="en-IN" sz="1800" dirty="0">
                <a:solidFill>
                  <a:srgbClr val="005CC5"/>
                </a:solidFill>
                <a:effectLst/>
              </a:rPr>
              <a:t>"</a:t>
            </a:r>
            <a:r>
              <a:rPr lang="en-IN" sz="1800" dirty="0">
                <a:solidFill>
                  <a:srgbClr val="999999"/>
                </a:solidFill>
                <a:effectLst/>
              </a:rPr>
              <a:t>&gt;&lt;</a:t>
            </a:r>
            <a:r>
              <a:rPr lang="en-IN" sz="1800" dirty="0" err="1">
                <a:solidFill>
                  <a:srgbClr val="990055"/>
                </a:solidFill>
                <a:effectLst/>
              </a:rPr>
              <a:t>br</a:t>
            </a:r>
            <a:r>
              <a:rPr lang="en-IN" sz="1800" dirty="0">
                <a:solidFill>
                  <a:srgbClr val="999999"/>
                </a:solidFill>
                <a:effectLst/>
              </a:rPr>
              <a:t>&gt;&lt;</a:t>
            </a:r>
            <a:r>
              <a:rPr lang="en-IN" sz="1800" dirty="0" err="1">
                <a:solidFill>
                  <a:srgbClr val="990055"/>
                </a:solidFill>
                <a:effectLst/>
              </a:rPr>
              <a:t>br</a:t>
            </a:r>
            <a:r>
              <a:rPr lang="en-IN" sz="1800" dirty="0">
                <a:solidFill>
                  <a:srgbClr val="999999"/>
                </a:solidFill>
                <a:effectLst/>
              </a:rPr>
              <a:t>&gt;</a:t>
            </a:r>
            <a:br>
              <a:rPr lang="en-IN" sz="1800" dirty="0"/>
            </a:br>
            <a:r>
              <a:rPr lang="en-IN" sz="1800" dirty="0"/>
              <a:t>Full Name: </a:t>
            </a:r>
            <a:r>
              <a:rPr lang="en-IN" sz="1800" dirty="0">
                <a:solidFill>
                  <a:srgbClr val="D73A49"/>
                </a:solidFill>
                <a:effectLst/>
              </a:rPr>
              <a:t>{{</a:t>
            </a:r>
            <a:r>
              <a:rPr lang="en-IN" sz="1800" dirty="0" err="1">
                <a:solidFill>
                  <a:srgbClr val="D73A49"/>
                </a:solidFill>
                <a:effectLst/>
              </a:rPr>
              <a:t>firstName</a:t>
            </a:r>
            <a:r>
              <a:rPr lang="en-IN" sz="1800" dirty="0">
                <a:solidFill>
                  <a:srgbClr val="D73A49"/>
                </a:solidFill>
                <a:effectLst/>
              </a:rPr>
              <a:t> + " " + </a:t>
            </a:r>
            <a:r>
              <a:rPr lang="en-IN" sz="1800" dirty="0" err="1">
                <a:solidFill>
                  <a:srgbClr val="D73A49"/>
                </a:solidFill>
                <a:effectLst/>
              </a:rPr>
              <a:t>lastName</a:t>
            </a:r>
            <a:r>
              <a:rPr lang="en-IN" sz="1800" dirty="0">
                <a:solidFill>
                  <a:srgbClr val="D73A49"/>
                </a:solidFill>
                <a:effectLst/>
              </a:rPr>
              <a:t>}}</a:t>
            </a:r>
            <a:br>
              <a:rPr lang="en-IN" sz="1800" dirty="0"/>
            </a:br>
            <a:r>
              <a:rPr lang="en-IN" sz="1800" dirty="0">
                <a:solidFill>
                  <a:srgbClr val="999999"/>
                </a:solidFill>
                <a:effectLst/>
              </a:rPr>
              <a:t>&lt;</a:t>
            </a:r>
            <a:r>
              <a:rPr lang="en-IN" sz="1800" dirty="0">
                <a:solidFill>
                  <a:srgbClr val="990055"/>
                </a:solidFill>
                <a:effectLst/>
              </a:rPr>
              <a:t>/div</a:t>
            </a:r>
            <a:r>
              <a:rPr lang="en-IN" sz="1800" dirty="0">
                <a:solidFill>
                  <a:srgbClr val="999999"/>
                </a:solidFill>
                <a:effectLst/>
              </a:rPr>
              <a:t>&gt;</a:t>
            </a:r>
            <a:br>
              <a:rPr lang="en-IN" sz="1800" dirty="0"/>
            </a:br>
            <a:br>
              <a:rPr lang="en-IN" sz="1800" dirty="0"/>
            </a:br>
            <a:r>
              <a:rPr lang="en-IN" sz="1800" dirty="0">
                <a:solidFill>
                  <a:srgbClr val="999999"/>
                </a:solidFill>
                <a:effectLst/>
              </a:rPr>
              <a:t>&lt;</a:t>
            </a:r>
            <a:r>
              <a:rPr lang="en-IN" sz="1800" dirty="0">
                <a:solidFill>
                  <a:srgbClr val="990055"/>
                </a:solidFill>
                <a:effectLst/>
              </a:rPr>
              <a:t>script</a:t>
            </a:r>
            <a:r>
              <a:rPr lang="en-IN" sz="1800" dirty="0">
                <a:solidFill>
                  <a:srgbClr val="999999"/>
                </a:solidFill>
                <a:effectLst/>
              </a:rPr>
              <a:t>&gt;</a:t>
            </a:r>
            <a:br>
              <a:rPr lang="en-IN" sz="1800" dirty="0">
                <a:solidFill>
                  <a:srgbClr val="000000"/>
                </a:solidFill>
                <a:effectLst/>
              </a:rPr>
            </a:br>
            <a:r>
              <a:rPr lang="en-IN" sz="1800" dirty="0">
                <a:solidFill>
                  <a:srgbClr val="005CC5"/>
                </a:solidFill>
                <a:effectLst/>
              </a:rPr>
              <a:t>var</a:t>
            </a:r>
            <a:r>
              <a:rPr lang="en-IN" sz="1800" dirty="0">
                <a:solidFill>
                  <a:srgbClr val="000000"/>
                </a:solidFill>
                <a:effectLst/>
              </a:rPr>
              <a:t> app = </a:t>
            </a:r>
            <a:r>
              <a:rPr lang="en-IN" sz="1800" dirty="0" err="1">
                <a:solidFill>
                  <a:srgbClr val="000000"/>
                </a:solidFill>
                <a:effectLst/>
              </a:rPr>
              <a:t>angular.module</a:t>
            </a:r>
            <a:r>
              <a:rPr lang="en-IN" sz="1800" dirty="0">
                <a:solidFill>
                  <a:srgbClr val="000000"/>
                </a:solidFill>
                <a:effectLst/>
              </a:rPr>
              <a:t>(</a:t>
            </a:r>
            <a:r>
              <a:rPr lang="en-IN" sz="1800" dirty="0">
                <a:solidFill>
                  <a:srgbClr val="008000"/>
                </a:solidFill>
                <a:effectLst/>
              </a:rPr>
              <a:t>'</a:t>
            </a:r>
            <a:r>
              <a:rPr lang="en-IN" sz="1800" b="1" dirty="0" err="1">
                <a:solidFill>
                  <a:srgbClr val="008000"/>
                </a:solidFill>
                <a:effectLst/>
              </a:rPr>
              <a:t>myApp</a:t>
            </a:r>
            <a:r>
              <a:rPr lang="en-IN" sz="1800" dirty="0">
                <a:solidFill>
                  <a:srgbClr val="008000"/>
                </a:solidFill>
                <a:effectLst/>
              </a:rPr>
              <a:t>'</a:t>
            </a:r>
            <a:r>
              <a:rPr lang="en-IN" sz="1800" dirty="0">
                <a:solidFill>
                  <a:srgbClr val="000000"/>
                </a:solidFill>
                <a:effectLst/>
              </a:rPr>
              <a:t>, []);</a:t>
            </a:r>
            <a:br>
              <a:rPr lang="en-IN" sz="1800" dirty="0">
                <a:solidFill>
                  <a:srgbClr val="000000"/>
                </a:solidFill>
                <a:effectLst/>
              </a:rPr>
            </a:br>
            <a:r>
              <a:rPr lang="en-IN" sz="1800" dirty="0" err="1">
                <a:solidFill>
                  <a:srgbClr val="000000"/>
                </a:solidFill>
                <a:effectLst/>
              </a:rPr>
              <a:t>app.controller</a:t>
            </a:r>
            <a:r>
              <a:rPr lang="en-IN" sz="1800" dirty="0">
                <a:solidFill>
                  <a:srgbClr val="000000"/>
                </a:solidFill>
                <a:effectLst/>
              </a:rPr>
              <a:t>(</a:t>
            </a:r>
            <a:r>
              <a:rPr lang="en-IN" sz="1800" dirty="0">
                <a:solidFill>
                  <a:srgbClr val="008000"/>
                </a:solidFill>
                <a:effectLst/>
              </a:rPr>
              <a:t>'</a:t>
            </a:r>
            <a:r>
              <a:rPr lang="en-IN" sz="1800" b="1" dirty="0" err="1">
                <a:solidFill>
                  <a:srgbClr val="008000"/>
                </a:solidFill>
                <a:effectLst/>
              </a:rPr>
              <a:t>myCtrl</a:t>
            </a:r>
            <a:r>
              <a:rPr lang="en-IN" sz="1800" dirty="0">
                <a:solidFill>
                  <a:srgbClr val="008000"/>
                </a:solidFill>
                <a:effectLst/>
              </a:rPr>
              <a:t>'</a:t>
            </a:r>
            <a:r>
              <a:rPr lang="en-IN" sz="1800" dirty="0">
                <a:solidFill>
                  <a:srgbClr val="000000"/>
                </a:solidFill>
                <a:effectLst/>
              </a:rPr>
              <a:t>, </a:t>
            </a:r>
            <a:r>
              <a:rPr lang="en-IN" sz="1800" dirty="0">
                <a:solidFill>
                  <a:srgbClr val="005CC5"/>
                </a:solidFill>
                <a:effectLst/>
              </a:rPr>
              <a:t>function</a:t>
            </a:r>
            <a:r>
              <a:rPr lang="en-IN" sz="1800" dirty="0">
                <a:solidFill>
                  <a:srgbClr val="000000"/>
                </a:solidFill>
                <a:effectLst/>
              </a:rPr>
              <a:t>($scope) {</a:t>
            </a:r>
            <a:br>
              <a:rPr lang="en-IN" sz="1800" dirty="0">
                <a:solidFill>
                  <a:srgbClr val="000000"/>
                </a:solidFill>
                <a:effectLst/>
              </a:rPr>
            </a:br>
            <a:r>
              <a:rPr lang="en-IN" sz="1800" dirty="0">
                <a:solidFill>
                  <a:srgbClr val="000000"/>
                </a:solidFill>
                <a:effectLst/>
              </a:rPr>
              <a:t>  	$</a:t>
            </a:r>
            <a:r>
              <a:rPr lang="en-IN" sz="1800" dirty="0" err="1">
                <a:solidFill>
                  <a:srgbClr val="000000"/>
                </a:solidFill>
                <a:effectLst/>
              </a:rPr>
              <a:t>scope.firstName</a:t>
            </a:r>
            <a:r>
              <a:rPr lang="en-IN" sz="1800" dirty="0">
                <a:solidFill>
                  <a:srgbClr val="000000"/>
                </a:solidFill>
                <a:effectLst/>
              </a:rPr>
              <a:t>= </a:t>
            </a:r>
            <a:r>
              <a:rPr lang="en-IN" sz="1800" dirty="0">
                <a:solidFill>
                  <a:srgbClr val="008000"/>
                </a:solidFill>
                <a:effectLst/>
              </a:rPr>
              <a:t>"John"</a:t>
            </a:r>
            <a:r>
              <a:rPr lang="en-IN" sz="1800" dirty="0">
                <a:solidFill>
                  <a:srgbClr val="000000"/>
                </a:solidFill>
                <a:effectLst/>
              </a:rPr>
              <a:t>;</a:t>
            </a:r>
            <a:br>
              <a:rPr lang="en-IN" sz="1800" dirty="0">
                <a:solidFill>
                  <a:srgbClr val="000000"/>
                </a:solidFill>
                <a:effectLst/>
              </a:rPr>
            </a:br>
            <a:r>
              <a:rPr lang="en-IN" sz="1800" dirty="0">
                <a:solidFill>
                  <a:srgbClr val="000000"/>
                </a:solidFill>
                <a:effectLst/>
              </a:rPr>
              <a:t>  	$</a:t>
            </a:r>
            <a:r>
              <a:rPr lang="en-IN" sz="1800" dirty="0" err="1">
                <a:solidFill>
                  <a:srgbClr val="000000"/>
                </a:solidFill>
                <a:effectLst/>
              </a:rPr>
              <a:t>scope.lastName</a:t>
            </a:r>
            <a:r>
              <a:rPr lang="en-IN" sz="1800" dirty="0">
                <a:solidFill>
                  <a:srgbClr val="000000"/>
                </a:solidFill>
                <a:effectLst/>
              </a:rPr>
              <a:t>= </a:t>
            </a:r>
            <a:r>
              <a:rPr lang="en-IN" sz="1800" dirty="0">
                <a:solidFill>
                  <a:srgbClr val="008000"/>
                </a:solidFill>
                <a:effectLst/>
              </a:rPr>
              <a:t>"Doe"</a:t>
            </a:r>
            <a:r>
              <a:rPr lang="en-IN" sz="1800" dirty="0">
                <a:solidFill>
                  <a:srgbClr val="000000"/>
                </a:solidFill>
                <a:effectLst/>
              </a:rPr>
              <a:t>;</a:t>
            </a:r>
            <a:br>
              <a:rPr lang="en-IN" sz="1800" dirty="0">
                <a:solidFill>
                  <a:srgbClr val="000000"/>
                </a:solidFill>
                <a:effectLst/>
              </a:rPr>
            </a:br>
            <a:r>
              <a:rPr lang="en-IN" sz="1800" dirty="0">
                <a:solidFill>
                  <a:srgbClr val="000000"/>
                </a:solidFill>
                <a:effectLst/>
              </a:rPr>
              <a:t>});</a:t>
            </a:r>
            <a:br>
              <a:rPr lang="en-IN" sz="1800" dirty="0">
                <a:solidFill>
                  <a:srgbClr val="000000"/>
                </a:solidFill>
                <a:effectLst/>
              </a:rPr>
            </a:br>
            <a:r>
              <a:rPr lang="en-IN" sz="1800" dirty="0">
                <a:solidFill>
                  <a:srgbClr val="999999"/>
                </a:solidFill>
                <a:effectLst/>
              </a:rPr>
              <a:t>&lt;</a:t>
            </a:r>
            <a:r>
              <a:rPr lang="en-IN" sz="1800" dirty="0">
                <a:solidFill>
                  <a:srgbClr val="990055"/>
                </a:solidFill>
                <a:effectLst/>
              </a:rPr>
              <a:t>/script</a:t>
            </a:r>
            <a:r>
              <a:rPr lang="en-IN" sz="1800" dirty="0">
                <a:solidFill>
                  <a:srgbClr val="999999"/>
                </a:solidFill>
                <a:effectLst/>
              </a:rPr>
              <a:t>&gt;</a:t>
            </a:r>
            <a:r>
              <a:rPr lang="en-IN" sz="1800" dirty="0"/>
              <a:t> </a:t>
            </a:r>
            <a:endParaRPr lang="en-US" sz="2400" dirty="0"/>
          </a:p>
        </p:txBody>
      </p:sp>
    </p:spTree>
    <p:extLst>
      <p:ext uri="{BB962C8B-B14F-4D97-AF65-F5344CB8AC3E}">
        <p14:creationId xmlns:p14="http://schemas.microsoft.com/office/powerpoint/2010/main" val="4085262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AC0B2-817A-97B0-64D3-D7BBB51F27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7A6CFD-B384-0699-7A9B-D65E4CD0E69A}"/>
              </a:ext>
            </a:extLst>
          </p:cNvPr>
          <p:cNvSpPr>
            <a:spLocks noGrp="1"/>
          </p:cNvSpPr>
          <p:nvPr>
            <p:ph idx="1"/>
          </p:nvPr>
        </p:nvSpPr>
        <p:spPr>
          <a:xfrm>
            <a:off x="838200" y="254524"/>
            <a:ext cx="10515600" cy="6410227"/>
          </a:xfrm>
        </p:spPr>
        <p:txBody>
          <a:bodyPr/>
          <a:lstStyle/>
          <a:p>
            <a:r>
              <a:rPr lang="en-IN" b="1" dirty="0"/>
              <a:t>AngularJS Expressions</a:t>
            </a:r>
            <a:endParaRPr lang="en-US" dirty="0"/>
          </a:p>
          <a:p>
            <a:pPr lvl="1"/>
            <a:r>
              <a:rPr lang="en-US" sz="2000" dirty="0"/>
              <a:t>AngularJS binds data to HTML using </a:t>
            </a:r>
            <a:r>
              <a:rPr lang="en-US" sz="2000" b="1" dirty="0"/>
              <a:t>Expressions</a:t>
            </a:r>
            <a:r>
              <a:rPr lang="en-US" sz="2000" dirty="0"/>
              <a:t>.</a:t>
            </a:r>
          </a:p>
          <a:p>
            <a:pPr lvl="1"/>
            <a:r>
              <a:rPr lang="en-US" sz="2000" dirty="0"/>
              <a:t>AngularJS expressions can be written inside double braces: </a:t>
            </a:r>
            <a:r>
              <a:rPr lang="en-US" dirty="0"/>
              <a:t>{{ </a:t>
            </a:r>
            <a:r>
              <a:rPr lang="en-US" i="1" dirty="0"/>
              <a:t>expression</a:t>
            </a:r>
            <a:r>
              <a:rPr lang="en-US" dirty="0"/>
              <a:t> }}</a:t>
            </a:r>
            <a:r>
              <a:rPr lang="en-US" sz="2000" dirty="0"/>
              <a:t>.</a:t>
            </a:r>
          </a:p>
          <a:p>
            <a:pPr lvl="1"/>
            <a:r>
              <a:rPr lang="en-US" sz="2000" dirty="0"/>
              <a:t>AngularJS expressions can also be written inside a directive: </a:t>
            </a:r>
            <a:r>
              <a:rPr lang="en-US" dirty="0"/>
              <a:t>ng-bind="</a:t>
            </a:r>
            <a:r>
              <a:rPr lang="en-US" i="1" dirty="0"/>
              <a:t>expression</a:t>
            </a:r>
            <a:r>
              <a:rPr lang="en-US" dirty="0"/>
              <a:t>"</a:t>
            </a:r>
            <a:r>
              <a:rPr lang="en-US" sz="2000" dirty="0"/>
              <a:t>.</a:t>
            </a:r>
          </a:p>
          <a:p>
            <a:pPr lvl="1"/>
            <a:r>
              <a:rPr lang="en-US" sz="2000" dirty="0"/>
              <a:t>AngularJS will resolve the expression, and return the result exactly where the expression is written.</a:t>
            </a:r>
          </a:p>
          <a:p>
            <a:pPr lvl="1"/>
            <a:r>
              <a:rPr lang="en-US" sz="2000" b="1" dirty="0"/>
              <a:t>AngularJS expressions</a:t>
            </a:r>
            <a:r>
              <a:rPr lang="en-US" sz="2000" dirty="0"/>
              <a:t> are much like </a:t>
            </a:r>
            <a:r>
              <a:rPr lang="en-US" sz="2000" b="1" dirty="0"/>
              <a:t>JavaScript expressions:</a:t>
            </a:r>
            <a:r>
              <a:rPr lang="en-US" sz="2000" dirty="0"/>
              <a:t> They can contain literals, operators, and variables.</a:t>
            </a:r>
          </a:p>
          <a:p>
            <a:pPr lvl="1"/>
            <a:r>
              <a:rPr lang="en-US" sz="2000" dirty="0"/>
              <a:t>Example {{ 5 + 5 }} or {{ </a:t>
            </a:r>
            <a:r>
              <a:rPr lang="en-US" sz="2000" dirty="0" err="1"/>
              <a:t>firstName</a:t>
            </a:r>
            <a:r>
              <a:rPr lang="en-US" sz="2000" dirty="0"/>
              <a:t> + " " + </a:t>
            </a:r>
            <a:r>
              <a:rPr lang="en-US" sz="2000" dirty="0" err="1"/>
              <a:t>lastName</a:t>
            </a:r>
            <a:r>
              <a:rPr lang="en-US" sz="2000" dirty="0"/>
              <a:t> }}</a:t>
            </a:r>
          </a:p>
          <a:p>
            <a:r>
              <a:rPr lang="en-US" sz="2400" dirty="0"/>
              <a:t>Example to change the color of textbox using </a:t>
            </a:r>
            <a:r>
              <a:rPr lang="en-US" sz="2400" dirty="0" err="1"/>
              <a:t>css</a:t>
            </a:r>
            <a:r>
              <a:rPr lang="en-US" sz="2400" dirty="0"/>
              <a:t> property</a:t>
            </a:r>
            <a:br>
              <a:rPr lang="en-US" sz="2400" dirty="0"/>
            </a:br>
            <a:endParaRPr lang="en-US" sz="2400" dirty="0"/>
          </a:p>
          <a:p>
            <a:pPr marL="0" indent="0">
              <a:buNone/>
            </a:pPr>
            <a:r>
              <a:rPr lang="en-IN" sz="2000" dirty="0">
                <a:solidFill>
                  <a:srgbClr val="999999"/>
                </a:solidFill>
                <a:effectLst/>
              </a:rPr>
              <a:t>	&lt;</a:t>
            </a:r>
            <a:r>
              <a:rPr lang="en-IN" sz="2000" dirty="0">
                <a:solidFill>
                  <a:srgbClr val="990055"/>
                </a:solidFill>
                <a:effectLst/>
              </a:rPr>
              <a:t>div</a:t>
            </a:r>
            <a:r>
              <a:rPr lang="en-IN" sz="2000" dirty="0">
                <a:solidFill>
                  <a:srgbClr val="008000"/>
                </a:solidFill>
                <a:effectLst/>
              </a:rPr>
              <a:t> ng-app</a:t>
            </a:r>
            <a:r>
              <a:rPr lang="en-IN" sz="2000" dirty="0">
                <a:solidFill>
                  <a:srgbClr val="005CC5"/>
                </a:solidFill>
                <a:effectLst/>
              </a:rPr>
              <a:t>=""</a:t>
            </a:r>
            <a:r>
              <a:rPr lang="en-IN" sz="2000" dirty="0">
                <a:solidFill>
                  <a:srgbClr val="008000"/>
                </a:solidFill>
                <a:effectLst/>
              </a:rPr>
              <a:t> ng-</a:t>
            </a:r>
            <a:r>
              <a:rPr lang="en-IN" sz="2000" dirty="0" err="1">
                <a:solidFill>
                  <a:srgbClr val="008000"/>
                </a:solidFill>
                <a:effectLst/>
              </a:rPr>
              <a:t>init</a:t>
            </a:r>
            <a:r>
              <a:rPr lang="en-IN" sz="2000" dirty="0">
                <a:solidFill>
                  <a:srgbClr val="005CC5"/>
                </a:solidFill>
                <a:effectLst/>
              </a:rPr>
              <a:t>="</a:t>
            </a:r>
            <a:r>
              <a:rPr lang="en-IN" sz="2000" dirty="0" err="1">
                <a:solidFill>
                  <a:srgbClr val="005CC5"/>
                </a:solidFill>
                <a:effectLst/>
              </a:rPr>
              <a:t>myCol</a:t>
            </a:r>
            <a:r>
              <a:rPr lang="en-IN" sz="2000" dirty="0">
                <a:solidFill>
                  <a:srgbClr val="005CC5"/>
                </a:solidFill>
                <a:effectLst/>
              </a:rPr>
              <a:t>='</a:t>
            </a:r>
            <a:r>
              <a:rPr lang="en-IN" sz="2000" dirty="0" err="1">
                <a:solidFill>
                  <a:srgbClr val="005CC5"/>
                </a:solidFill>
                <a:effectLst/>
              </a:rPr>
              <a:t>lightblue</a:t>
            </a:r>
            <a:r>
              <a:rPr lang="en-IN" sz="2000" dirty="0">
                <a:solidFill>
                  <a:srgbClr val="005CC5"/>
                </a:solidFill>
                <a:effectLst/>
              </a:rPr>
              <a:t>’”</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style</a:t>
            </a:r>
            <a:r>
              <a:rPr lang="en-IN" sz="2000" dirty="0">
                <a:solidFill>
                  <a:srgbClr val="005CC5"/>
                </a:solidFill>
                <a:effectLst/>
              </a:rPr>
              <a:t>="background-</a:t>
            </a:r>
            <a:r>
              <a:rPr lang="en-IN" sz="2000" dirty="0" err="1">
                <a:solidFill>
                  <a:srgbClr val="005CC5"/>
                </a:solidFill>
                <a:effectLst/>
              </a:rPr>
              <a:t>color</a:t>
            </a:r>
            <a:r>
              <a:rPr lang="en-IN" sz="2000" dirty="0">
                <a:solidFill>
                  <a:srgbClr val="005CC5"/>
                </a:solidFill>
                <a:effectLst/>
              </a:rPr>
              <a:t>:</a:t>
            </a:r>
            <a:r>
              <a:rPr lang="en-IN" sz="2000" dirty="0">
                <a:solidFill>
                  <a:srgbClr val="D73A49"/>
                </a:solidFill>
                <a:effectLst/>
              </a:rPr>
              <a:t>{{</a:t>
            </a:r>
            <a:r>
              <a:rPr lang="en-IN" sz="2000" dirty="0" err="1">
                <a:solidFill>
                  <a:srgbClr val="D73A49"/>
                </a:solidFill>
                <a:effectLst/>
              </a:rPr>
              <a:t>myCol</a:t>
            </a:r>
            <a:r>
              <a:rPr lang="en-IN" sz="2000" dirty="0">
                <a:solidFill>
                  <a:srgbClr val="D73A49"/>
                </a:solidFill>
                <a:effectLst/>
              </a:rPr>
              <a:t>}}</a:t>
            </a:r>
            <a:r>
              <a:rPr lang="en-IN" sz="2000" dirty="0">
                <a:solidFill>
                  <a:srgbClr val="005CC5"/>
                </a:solidFill>
                <a:effectLst/>
              </a:rPr>
              <a:t>"</a:t>
            </a:r>
            <a:r>
              <a:rPr lang="en-IN" sz="2000" dirty="0">
                <a:solidFill>
                  <a:srgbClr val="008000"/>
                </a:solidFill>
                <a:effectLst/>
              </a:rPr>
              <a:t> ng-model</a:t>
            </a:r>
            <a:r>
              <a:rPr lang="en-IN" sz="2000" dirty="0">
                <a:solidFill>
                  <a:srgbClr val="005CC5"/>
                </a:solidFill>
                <a:effectLst/>
              </a:rPr>
              <a:t>="</a:t>
            </a:r>
            <a:r>
              <a:rPr lang="en-IN" sz="2000" dirty="0" err="1">
                <a:solidFill>
                  <a:srgbClr val="005CC5"/>
                </a:solidFill>
                <a:effectLst/>
              </a:rPr>
              <a:t>myCol</a:t>
            </a:r>
            <a:r>
              <a:rPr lang="en-IN" sz="2000" dirty="0">
                <a:solidFill>
                  <a:srgbClr val="005CC5"/>
                </a:solidFill>
                <a:effectLst/>
              </a:rPr>
              <a:t>"</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8338989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5D0CE-138E-C39F-7D5B-81524778B3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79AEB-F818-F34A-BCEF-0E49F0E73B0C}"/>
              </a:ext>
            </a:extLst>
          </p:cNvPr>
          <p:cNvSpPr>
            <a:spLocks noGrp="1"/>
          </p:cNvSpPr>
          <p:nvPr>
            <p:ph idx="1"/>
          </p:nvPr>
        </p:nvSpPr>
        <p:spPr>
          <a:xfrm>
            <a:off x="838200" y="254524"/>
            <a:ext cx="10515600" cy="6410227"/>
          </a:xfrm>
        </p:spPr>
        <p:txBody>
          <a:bodyPr/>
          <a:lstStyle/>
          <a:p>
            <a:r>
              <a:rPr lang="en-IN" b="1" dirty="0"/>
              <a:t>AngularJS Numbers</a:t>
            </a:r>
            <a:endParaRPr lang="en-US" dirty="0"/>
          </a:p>
          <a:p>
            <a:pPr algn="just"/>
            <a:r>
              <a:rPr lang="en-US" sz="2400" dirty="0"/>
              <a:t>AngularJS numbers are like JavaScript numbers:</a:t>
            </a:r>
          </a:p>
          <a:p>
            <a:pPr>
              <a:buNone/>
            </a:pPr>
            <a:r>
              <a:rPr lang="en-US" sz="1600" dirty="0">
                <a:solidFill>
                  <a:srgbClr val="999999"/>
                </a:solidFill>
                <a:effectLst/>
              </a:rPr>
              <a:t>		</a:t>
            </a:r>
            <a:r>
              <a:rPr lang="en-US" sz="2000" dirty="0">
                <a:solidFill>
                  <a:srgbClr val="999999"/>
                </a:solidFill>
                <a:effectLst/>
              </a:rPr>
              <a:t>&lt;</a:t>
            </a:r>
            <a:r>
              <a:rPr lang="en-US" sz="2000" dirty="0">
                <a:solidFill>
                  <a:srgbClr val="990055"/>
                </a:solidFill>
                <a:effectLst/>
              </a:rPr>
              <a:t>div</a:t>
            </a:r>
            <a:r>
              <a:rPr lang="en-US" sz="2000" dirty="0">
                <a:solidFill>
                  <a:srgbClr val="008000"/>
                </a:solidFill>
                <a:effectLst/>
              </a:rPr>
              <a:t> ng-app</a:t>
            </a:r>
            <a:r>
              <a:rPr lang="en-US" sz="2000" dirty="0">
                <a:solidFill>
                  <a:srgbClr val="005CC5"/>
                </a:solidFill>
                <a:effectLst/>
              </a:rPr>
              <a:t>=""</a:t>
            </a:r>
            <a:r>
              <a:rPr lang="en-US" sz="2000" dirty="0">
                <a:solidFill>
                  <a:srgbClr val="008000"/>
                </a:solidFill>
                <a:effectLst/>
              </a:rPr>
              <a:t> ng-</a:t>
            </a:r>
            <a:r>
              <a:rPr lang="en-US" sz="2000" dirty="0" err="1">
                <a:solidFill>
                  <a:srgbClr val="008000"/>
                </a:solidFill>
                <a:effectLst/>
              </a:rPr>
              <a:t>init</a:t>
            </a:r>
            <a:r>
              <a:rPr lang="en-US" sz="2000" dirty="0">
                <a:solidFill>
                  <a:srgbClr val="005CC5"/>
                </a:solidFill>
                <a:effectLst/>
              </a:rPr>
              <a:t>="quantity=1;cost=5"</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r>
              <a:rPr lang="en-US" sz="2000" dirty="0"/>
              <a:t>Total in dollar: </a:t>
            </a:r>
            <a:r>
              <a:rPr lang="en-US" sz="2000" dirty="0">
                <a:solidFill>
                  <a:srgbClr val="D73A49"/>
                </a:solidFill>
                <a:effectLst/>
              </a:rPr>
              <a:t>{{ quantity * cost }}</a:t>
            </a: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/div</a:t>
            </a:r>
            <a:r>
              <a:rPr lang="en-US" sz="2000" dirty="0">
                <a:solidFill>
                  <a:srgbClr val="999999"/>
                </a:solidFill>
                <a:effectLst/>
              </a:rPr>
              <a:t>&gt;</a:t>
            </a:r>
            <a:r>
              <a:rPr lang="en-US" sz="2000" dirty="0"/>
              <a:t> </a:t>
            </a:r>
          </a:p>
          <a:p>
            <a:pPr lvl="1" algn="just"/>
            <a:endParaRPr lang="en-IN" sz="2000" dirty="0"/>
          </a:p>
          <a:p>
            <a:pPr lvl="1" algn="just"/>
            <a:r>
              <a:rPr lang="en-IN" sz="2000" dirty="0"/>
              <a:t>Same example using </a:t>
            </a:r>
            <a:r>
              <a:rPr lang="en-IN" dirty="0"/>
              <a:t>ng-bind</a:t>
            </a:r>
            <a:r>
              <a:rPr lang="en-IN" sz="2000" dirty="0"/>
              <a:t>:</a:t>
            </a:r>
            <a:endParaRPr lang="en-US" sz="2000" dirty="0"/>
          </a:p>
          <a:p>
            <a:pPr>
              <a:buNone/>
            </a:pPr>
            <a:r>
              <a:rPr lang="en-US" sz="1600" dirty="0">
                <a:solidFill>
                  <a:srgbClr val="999999"/>
                </a:solidFill>
                <a:effectLst/>
              </a:rPr>
              <a:t>		</a:t>
            </a:r>
            <a:r>
              <a:rPr lang="en-US" sz="2000" dirty="0">
                <a:solidFill>
                  <a:srgbClr val="999999"/>
                </a:solidFill>
                <a:effectLst/>
              </a:rPr>
              <a:t>&lt;</a:t>
            </a:r>
            <a:r>
              <a:rPr lang="en-US" sz="2000" dirty="0">
                <a:solidFill>
                  <a:srgbClr val="990055"/>
                </a:solidFill>
                <a:effectLst/>
              </a:rPr>
              <a:t>div</a:t>
            </a:r>
            <a:r>
              <a:rPr lang="en-US" sz="2000" dirty="0">
                <a:solidFill>
                  <a:srgbClr val="008000"/>
                </a:solidFill>
                <a:effectLst/>
              </a:rPr>
              <a:t> ng-app</a:t>
            </a:r>
            <a:r>
              <a:rPr lang="en-US" sz="2000" dirty="0">
                <a:solidFill>
                  <a:srgbClr val="005CC5"/>
                </a:solidFill>
                <a:effectLst/>
              </a:rPr>
              <a:t>=""</a:t>
            </a:r>
            <a:r>
              <a:rPr lang="en-US" sz="2000" dirty="0">
                <a:solidFill>
                  <a:srgbClr val="008000"/>
                </a:solidFill>
                <a:effectLst/>
              </a:rPr>
              <a:t> ng-</a:t>
            </a:r>
            <a:r>
              <a:rPr lang="en-US" sz="2000" dirty="0" err="1">
                <a:solidFill>
                  <a:srgbClr val="008000"/>
                </a:solidFill>
                <a:effectLst/>
              </a:rPr>
              <a:t>init</a:t>
            </a:r>
            <a:r>
              <a:rPr lang="en-US" sz="2000" dirty="0">
                <a:solidFill>
                  <a:srgbClr val="005CC5"/>
                </a:solidFill>
                <a:effectLst/>
              </a:rPr>
              <a:t>="quantity=1;cost=5"</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r>
              <a:rPr lang="en-US" sz="2000" dirty="0"/>
              <a:t>Total in dollar: </a:t>
            </a:r>
            <a:r>
              <a:rPr lang="en-US" sz="2000" dirty="0">
                <a:solidFill>
                  <a:srgbClr val="999999"/>
                </a:solidFill>
                <a:effectLst/>
              </a:rPr>
              <a:t>&lt;</a:t>
            </a:r>
            <a:r>
              <a:rPr lang="en-US" sz="2000" dirty="0">
                <a:solidFill>
                  <a:srgbClr val="990055"/>
                </a:solidFill>
                <a:effectLst/>
              </a:rPr>
              <a:t>span</a:t>
            </a:r>
            <a:r>
              <a:rPr lang="en-US" sz="2000" dirty="0">
                <a:solidFill>
                  <a:srgbClr val="008000"/>
                </a:solidFill>
                <a:effectLst/>
              </a:rPr>
              <a:t> ng-bind</a:t>
            </a:r>
            <a:r>
              <a:rPr lang="en-US" sz="2000" dirty="0">
                <a:solidFill>
                  <a:srgbClr val="005CC5"/>
                </a:solidFill>
                <a:effectLst/>
              </a:rPr>
              <a:t>="quantity * cost"</a:t>
            </a:r>
            <a:r>
              <a:rPr lang="en-US" sz="2000" dirty="0">
                <a:solidFill>
                  <a:srgbClr val="999999"/>
                </a:solidFill>
                <a:effectLst/>
              </a:rPr>
              <a:t>&gt;&lt;</a:t>
            </a:r>
            <a:r>
              <a:rPr lang="en-US" sz="2000" dirty="0">
                <a:solidFill>
                  <a:srgbClr val="990055"/>
                </a:solidFill>
                <a:effectLst/>
              </a:rPr>
              <a:t>/span</a:t>
            </a:r>
            <a:r>
              <a:rPr lang="en-US" sz="2000" dirty="0">
                <a:solidFill>
                  <a:srgbClr val="999999"/>
                </a:solidFill>
                <a:effectLst/>
              </a:rPr>
              <a:t>&gt;&lt;</a:t>
            </a:r>
            <a:r>
              <a:rPr lang="en-US" sz="2000" dirty="0">
                <a:solidFill>
                  <a:srgbClr val="990055"/>
                </a:solidFill>
                <a:effectLst/>
              </a:rPr>
              <a:t>/p</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/div</a:t>
            </a:r>
            <a:r>
              <a:rPr lang="en-US" sz="2000" dirty="0">
                <a:solidFill>
                  <a:srgbClr val="999999"/>
                </a:solidFill>
                <a:effectLst/>
              </a:rPr>
              <a:t>&gt;</a:t>
            </a:r>
            <a:r>
              <a:rPr lang="en-US" sz="2000" dirty="0"/>
              <a:t> </a:t>
            </a:r>
            <a:endParaRPr lang="en-US" sz="1600" dirty="0"/>
          </a:p>
          <a:p>
            <a:pPr algn="just"/>
            <a:r>
              <a:rPr lang="en-IN" sz="2400" b="1" dirty="0"/>
              <a:t>AngularJS Strings</a:t>
            </a:r>
          </a:p>
          <a:p>
            <a:pPr algn="just"/>
            <a:r>
              <a:rPr lang="en-US" sz="2400" dirty="0"/>
              <a:t>AngularJS strings are like JavaScript strings:</a:t>
            </a:r>
          </a:p>
          <a:p>
            <a:pPr>
              <a:buNone/>
            </a:pPr>
            <a:r>
              <a:rPr lang="en-US" sz="1600" dirty="0">
                <a:solidFill>
                  <a:srgbClr val="999999"/>
                </a:solidFill>
                <a:effectLst/>
              </a:rPr>
              <a:t>		</a:t>
            </a:r>
            <a:r>
              <a:rPr lang="en-US" sz="2000" dirty="0">
                <a:solidFill>
                  <a:srgbClr val="999999"/>
                </a:solidFill>
                <a:effectLst/>
              </a:rPr>
              <a:t>&lt;</a:t>
            </a:r>
            <a:r>
              <a:rPr lang="en-US" sz="2000" dirty="0">
                <a:solidFill>
                  <a:srgbClr val="990055"/>
                </a:solidFill>
                <a:effectLst/>
              </a:rPr>
              <a:t>div</a:t>
            </a:r>
            <a:r>
              <a:rPr lang="en-US" sz="2000" dirty="0">
                <a:solidFill>
                  <a:srgbClr val="008000"/>
                </a:solidFill>
                <a:effectLst/>
              </a:rPr>
              <a:t> ng-app</a:t>
            </a:r>
            <a:r>
              <a:rPr lang="en-US" sz="2000" dirty="0">
                <a:solidFill>
                  <a:srgbClr val="005CC5"/>
                </a:solidFill>
                <a:effectLst/>
              </a:rPr>
              <a:t>=""</a:t>
            </a:r>
            <a:r>
              <a:rPr lang="en-US" sz="2000" dirty="0">
                <a:solidFill>
                  <a:srgbClr val="008000"/>
                </a:solidFill>
                <a:effectLst/>
              </a:rPr>
              <a:t> ng-</a:t>
            </a:r>
            <a:r>
              <a:rPr lang="en-US" sz="2000" dirty="0" err="1">
                <a:solidFill>
                  <a:srgbClr val="008000"/>
                </a:solidFill>
                <a:effectLst/>
              </a:rPr>
              <a:t>init</a:t>
            </a:r>
            <a:r>
              <a:rPr lang="en-US" sz="2000" dirty="0">
                <a:solidFill>
                  <a:srgbClr val="005CC5"/>
                </a:solidFill>
                <a:effectLst/>
              </a:rPr>
              <a:t>="</a:t>
            </a:r>
            <a:r>
              <a:rPr lang="en-US" sz="2000" dirty="0" err="1">
                <a:solidFill>
                  <a:srgbClr val="005CC5"/>
                </a:solidFill>
                <a:effectLst/>
              </a:rPr>
              <a:t>firstName</a:t>
            </a:r>
            <a:r>
              <a:rPr lang="en-US" sz="2000" dirty="0">
                <a:solidFill>
                  <a:srgbClr val="005CC5"/>
                </a:solidFill>
                <a:effectLst/>
              </a:rPr>
              <a:t>='John';</a:t>
            </a:r>
            <a:r>
              <a:rPr lang="en-US" sz="2000" dirty="0" err="1">
                <a:solidFill>
                  <a:srgbClr val="005CC5"/>
                </a:solidFill>
                <a:effectLst/>
              </a:rPr>
              <a:t>lastName</a:t>
            </a:r>
            <a:r>
              <a:rPr lang="en-US" sz="2000" dirty="0">
                <a:solidFill>
                  <a:srgbClr val="005CC5"/>
                </a:solidFill>
                <a:effectLst/>
              </a:rPr>
              <a:t>='Doe’”</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r>
              <a:rPr lang="en-US" sz="2000" dirty="0"/>
              <a:t>The name is </a:t>
            </a:r>
            <a:r>
              <a:rPr lang="en-US" sz="2000" dirty="0">
                <a:solidFill>
                  <a:srgbClr val="D73A49"/>
                </a:solidFill>
                <a:effectLst/>
              </a:rPr>
              <a:t>{{ </a:t>
            </a:r>
            <a:r>
              <a:rPr lang="en-US" sz="2000" dirty="0" err="1">
                <a:solidFill>
                  <a:srgbClr val="D73A49"/>
                </a:solidFill>
                <a:effectLst/>
              </a:rPr>
              <a:t>firstName</a:t>
            </a:r>
            <a:r>
              <a:rPr lang="en-US" sz="2000" dirty="0">
                <a:solidFill>
                  <a:srgbClr val="D73A49"/>
                </a:solidFill>
                <a:effectLst/>
              </a:rPr>
              <a:t> + " " + </a:t>
            </a:r>
            <a:r>
              <a:rPr lang="en-US" sz="2000" dirty="0" err="1">
                <a:solidFill>
                  <a:srgbClr val="D73A49"/>
                </a:solidFill>
                <a:effectLst/>
              </a:rPr>
              <a:t>lastName</a:t>
            </a:r>
            <a:r>
              <a:rPr lang="en-US" sz="2000" dirty="0">
                <a:solidFill>
                  <a:srgbClr val="D73A49"/>
                </a:solidFill>
                <a:effectLst/>
              </a:rPr>
              <a:t> }}</a:t>
            </a: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/div</a:t>
            </a:r>
            <a:r>
              <a:rPr lang="en-US" sz="2000" dirty="0">
                <a:solidFill>
                  <a:srgbClr val="999999"/>
                </a:solidFill>
                <a:effectLst/>
              </a:rPr>
              <a:t>&gt;</a:t>
            </a:r>
            <a:r>
              <a:rPr lang="en-US" sz="2000" dirty="0"/>
              <a:t> </a:t>
            </a:r>
            <a:endParaRPr lang="en-US" sz="1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8193781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A04EE-38BD-CE99-9F4E-EA9A3AF5CE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004004-0681-205D-3D4A-9B679D72D496}"/>
              </a:ext>
            </a:extLst>
          </p:cNvPr>
          <p:cNvSpPr>
            <a:spLocks noGrp="1"/>
          </p:cNvSpPr>
          <p:nvPr>
            <p:ph idx="1"/>
          </p:nvPr>
        </p:nvSpPr>
        <p:spPr>
          <a:xfrm>
            <a:off x="838200" y="254524"/>
            <a:ext cx="10515600" cy="6410227"/>
          </a:xfrm>
        </p:spPr>
        <p:txBody>
          <a:bodyPr>
            <a:normAutofit/>
          </a:bodyPr>
          <a:lstStyle/>
          <a:p>
            <a:r>
              <a:rPr lang="en-US" dirty="0"/>
              <a:t>Continued…</a:t>
            </a:r>
          </a:p>
          <a:p>
            <a:r>
              <a:rPr lang="en-US" sz="2400" b="1" dirty="0"/>
              <a:t>AngularJS Objects</a:t>
            </a:r>
          </a:p>
          <a:p>
            <a:pPr lvl="1"/>
            <a:r>
              <a:rPr lang="en-US" sz="2000" dirty="0"/>
              <a:t>AngularJS objects are like JavaScript objects:</a:t>
            </a:r>
          </a:p>
          <a:p>
            <a:pPr>
              <a:buNone/>
            </a:pPr>
            <a:r>
              <a:rPr lang="en-IN" sz="1600" dirty="0">
                <a:solidFill>
                  <a:srgbClr val="999999"/>
                </a:solidFill>
                <a:effectLst/>
              </a:rPr>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ng-app</a:t>
            </a:r>
            <a:r>
              <a:rPr lang="en-IN" sz="2000" dirty="0">
                <a:solidFill>
                  <a:srgbClr val="005CC5"/>
                </a:solidFill>
                <a:effectLst/>
              </a:rPr>
              <a:t>=""</a:t>
            </a:r>
            <a:r>
              <a:rPr lang="en-IN" sz="2000" dirty="0">
                <a:solidFill>
                  <a:srgbClr val="008000"/>
                </a:solidFill>
                <a:effectLst/>
              </a:rPr>
              <a:t> ng-</a:t>
            </a:r>
            <a:r>
              <a:rPr lang="en-IN" sz="2000" dirty="0" err="1">
                <a:solidFill>
                  <a:srgbClr val="008000"/>
                </a:solidFill>
                <a:effectLst/>
              </a:rPr>
              <a:t>init</a:t>
            </a:r>
            <a:r>
              <a:rPr lang="en-IN" sz="2000" dirty="0">
                <a:solidFill>
                  <a:srgbClr val="005CC5"/>
                </a:solidFill>
                <a:effectLst/>
              </a:rPr>
              <a:t>="person={</a:t>
            </a:r>
            <a:r>
              <a:rPr lang="en-IN" sz="2000" dirty="0" err="1">
                <a:solidFill>
                  <a:srgbClr val="005CC5"/>
                </a:solidFill>
                <a:effectLst/>
              </a:rPr>
              <a:t>firstName</a:t>
            </a:r>
            <a:r>
              <a:rPr lang="en-IN" sz="2000" dirty="0">
                <a:solidFill>
                  <a:srgbClr val="005CC5"/>
                </a:solidFill>
                <a:effectLst/>
              </a:rPr>
              <a:t>:'John',</a:t>
            </a:r>
            <a:r>
              <a:rPr lang="en-IN" sz="2000" dirty="0" err="1">
                <a:solidFill>
                  <a:srgbClr val="005CC5"/>
                </a:solidFill>
                <a:effectLst/>
              </a:rPr>
              <a:t>lastName</a:t>
            </a:r>
            <a:r>
              <a:rPr lang="en-IN" sz="2000" dirty="0">
                <a:solidFill>
                  <a:srgbClr val="005CC5"/>
                </a:solidFill>
                <a:effectLst/>
              </a:rPr>
              <a:t>:'Doe'}"</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p</a:t>
            </a:r>
            <a:r>
              <a:rPr lang="en-IN" sz="2000" dirty="0">
                <a:solidFill>
                  <a:srgbClr val="999999"/>
                </a:solidFill>
                <a:effectLst/>
              </a:rPr>
              <a:t>&gt;</a:t>
            </a:r>
            <a:r>
              <a:rPr lang="en-IN" sz="2000" dirty="0"/>
              <a:t>The name is </a:t>
            </a:r>
            <a:r>
              <a:rPr lang="en-IN" sz="2000" dirty="0">
                <a:solidFill>
                  <a:srgbClr val="D73A49"/>
                </a:solidFill>
                <a:effectLst/>
              </a:rPr>
              <a:t>{{ </a:t>
            </a:r>
            <a:r>
              <a:rPr lang="en-IN" sz="2000" dirty="0" err="1">
                <a:solidFill>
                  <a:srgbClr val="D73A49"/>
                </a:solidFill>
                <a:effectLst/>
              </a:rPr>
              <a:t>person.lastName</a:t>
            </a:r>
            <a:r>
              <a:rPr lang="en-IN" sz="2000" dirty="0">
                <a:solidFill>
                  <a:srgbClr val="D73A49"/>
                </a:solidFill>
                <a:effectLst/>
              </a:rPr>
              <a:t> }}</a:t>
            </a:r>
            <a:r>
              <a:rPr lang="en-IN" sz="2000" dirty="0">
                <a:solidFill>
                  <a:srgbClr val="999999"/>
                </a:solidFill>
                <a:effectLst/>
              </a:rPr>
              <a:t>&lt;</a:t>
            </a:r>
            <a:r>
              <a:rPr lang="en-IN" sz="2000" dirty="0">
                <a:solidFill>
                  <a:srgbClr val="990055"/>
                </a:solidFill>
                <a:effectLst/>
              </a:rPr>
              <a:t>/p</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pPr algn="just"/>
            <a:r>
              <a:rPr lang="en-IN" sz="2400" b="1" dirty="0"/>
              <a:t>AngularJS Arrays</a:t>
            </a:r>
          </a:p>
          <a:p>
            <a:pPr lvl="1" algn="just"/>
            <a:r>
              <a:rPr lang="en-US" sz="2000" dirty="0"/>
              <a:t>AngularJS arrays are like JavaScript arrays:</a:t>
            </a:r>
          </a:p>
          <a:p>
            <a:pPr>
              <a:buNone/>
            </a:pPr>
            <a:r>
              <a:rPr lang="en-US" sz="1600" dirty="0">
                <a:solidFill>
                  <a:srgbClr val="999999"/>
                </a:solidFill>
                <a:effectLst/>
              </a:rPr>
              <a:t>		</a:t>
            </a:r>
            <a:r>
              <a:rPr lang="en-US" sz="2000" dirty="0">
                <a:solidFill>
                  <a:srgbClr val="999999"/>
                </a:solidFill>
                <a:effectLst/>
              </a:rPr>
              <a:t>&lt;</a:t>
            </a:r>
            <a:r>
              <a:rPr lang="en-US" sz="2000" dirty="0">
                <a:solidFill>
                  <a:srgbClr val="990055"/>
                </a:solidFill>
                <a:effectLst/>
              </a:rPr>
              <a:t>div</a:t>
            </a:r>
            <a:r>
              <a:rPr lang="en-US" sz="2000" dirty="0">
                <a:solidFill>
                  <a:srgbClr val="008000"/>
                </a:solidFill>
                <a:effectLst/>
              </a:rPr>
              <a:t> ng-app</a:t>
            </a:r>
            <a:r>
              <a:rPr lang="en-US" sz="2000" dirty="0">
                <a:solidFill>
                  <a:srgbClr val="005CC5"/>
                </a:solidFill>
                <a:effectLst/>
              </a:rPr>
              <a:t>=""</a:t>
            </a:r>
            <a:r>
              <a:rPr lang="en-US" sz="2000" dirty="0">
                <a:solidFill>
                  <a:srgbClr val="008000"/>
                </a:solidFill>
                <a:effectLst/>
              </a:rPr>
              <a:t> ng-</a:t>
            </a:r>
            <a:r>
              <a:rPr lang="en-US" sz="2000" dirty="0" err="1">
                <a:solidFill>
                  <a:srgbClr val="008000"/>
                </a:solidFill>
                <a:effectLst/>
              </a:rPr>
              <a:t>init</a:t>
            </a:r>
            <a:r>
              <a:rPr lang="en-US" sz="2000" dirty="0">
                <a:solidFill>
                  <a:srgbClr val="005CC5"/>
                </a:solidFill>
                <a:effectLst/>
              </a:rPr>
              <a:t>="points=[1,15,19,2,40]"</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r>
              <a:rPr lang="en-US" sz="2000" dirty="0"/>
              <a:t>The third result is </a:t>
            </a:r>
            <a:r>
              <a:rPr lang="en-US" sz="2000" dirty="0">
                <a:solidFill>
                  <a:srgbClr val="D73A49"/>
                </a:solidFill>
                <a:effectLst/>
              </a:rPr>
              <a:t>{{ points[2] }}</a:t>
            </a:r>
            <a:r>
              <a:rPr lang="en-US" sz="2000" dirty="0">
                <a:solidFill>
                  <a:srgbClr val="999999"/>
                </a:solidFill>
                <a:effectLst/>
              </a:rPr>
              <a:t>&lt;</a:t>
            </a:r>
            <a:r>
              <a:rPr lang="en-US" sz="2000" dirty="0">
                <a:solidFill>
                  <a:srgbClr val="990055"/>
                </a:solidFill>
                <a:effectLst/>
              </a:rPr>
              <a:t>/p</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/div</a:t>
            </a:r>
            <a:r>
              <a:rPr lang="en-US" sz="2000" dirty="0">
                <a:solidFill>
                  <a:srgbClr val="999999"/>
                </a:solidFill>
                <a:effectLst/>
              </a:rPr>
              <a:t>&gt;</a:t>
            </a:r>
            <a:r>
              <a:rPr lang="en-US" sz="2000" dirty="0"/>
              <a:t> </a:t>
            </a:r>
          </a:p>
          <a:p>
            <a:r>
              <a:rPr lang="en-IN" sz="2400" b="1" dirty="0"/>
              <a:t>AngularJS Expressions vs. JavaScript Expressions</a:t>
            </a:r>
          </a:p>
          <a:p>
            <a:pPr lvl="1"/>
            <a:r>
              <a:rPr lang="en-IN" sz="2000" dirty="0"/>
              <a:t>Like JavaScript expressions, AngularJS expressions can contain literals, operators, and variables.</a:t>
            </a:r>
          </a:p>
          <a:p>
            <a:pPr lvl="1"/>
            <a:r>
              <a:rPr lang="en-IN" sz="2000" dirty="0"/>
              <a:t>Unlike JavaScript expressions, AngularJS expressions can be written inside HTML.</a:t>
            </a:r>
          </a:p>
          <a:p>
            <a:pPr lvl="1"/>
            <a:r>
              <a:rPr lang="en-IN" sz="2000" dirty="0"/>
              <a:t>AngularJS expressions do not support conditionals, loops, and exceptions, while JavaScript expressions do.</a:t>
            </a:r>
          </a:p>
          <a:p>
            <a:pPr lvl="1"/>
            <a:r>
              <a:rPr lang="en-IN" sz="2000" dirty="0"/>
              <a:t>AngularJS expressions support filters, while JavaScript expressions do not.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8073995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3DB1B-882A-3E1A-F6C2-3C3CB28E05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1415DA-8053-880B-FEA3-0C164D6418A6}"/>
              </a:ext>
            </a:extLst>
          </p:cNvPr>
          <p:cNvSpPr>
            <a:spLocks noGrp="1"/>
          </p:cNvSpPr>
          <p:nvPr>
            <p:ph idx="1"/>
          </p:nvPr>
        </p:nvSpPr>
        <p:spPr>
          <a:xfrm>
            <a:off x="838200" y="254524"/>
            <a:ext cx="10515600" cy="6410227"/>
          </a:xfrm>
        </p:spPr>
        <p:txBody>
          <a:bodyPr/>
          <a:lstStyle/>
          <a:p>
            <a:r>
              <a:rPr lang="en-IN" b="1" dirty="0"/>
              <a:t>AngularJS Modules</a:t>
            </a:r>
            <a:endParaRPr lang="en-US" dirty="0"/>
          </a:p>
          <a:p>
            <a:pPr lvl="1"/>
            <a:r>
              <a:rPr lang="en-US" dirty="0"/>
              <a:t>An AngularJS module defines an application.</a:t>
            </a:r>
          </a:p>
          <a:p>
            <a:pPr lvl="1"/>
            <a:r>
              <a:rPr lang="en-US" dirty="0"/>
              <a:t>The module is a container for the different parts of an application.</a:t>
            </a:r>
          </a:p>
          <a:p>
            <a:pPr lvl="1"/>
            <a:r>
              <a:rPr lang="en-US" dirty="0"/>
              <a:t>The module is a container for the application controllers.</a:t>
            </a:r>
          </a:p>
          <a:p>
            <a:pPr lvl="1"/>
            <a:r>
              <a:rPr lang="en-US" dirty="0"/>
              <a:t>Controllers always belong to a module.</a:t>
            </a:r>
          </a:p>
          <a:p>
            <a:endParaRPr lang="en-US" sz="2400" b="1" dirty="0"/>
          </a:p>
          <a:p>
            <a:r>
              <a:rPr lang="en-US" sz="2400" b="1" dirty="0"/>
              <a:t>Creating a Module</a:t>
            </a:r>
          </a:p>
          <a:p>
            <a:pPr lvl="1"/>
            <a:r>
              <a:rPr lang="en-US" sz="2000" dirty="0"/>
              <a:t>A module is created by using the AngularJS function </a:t>
            </a:r>
            <a:r>
              <a:rPr lang="en-US" dirty="0" err="1"/>
              <a:t>angular.module</a:t>
            </a:r>
            <a:endParaRPr lang="en-US" sz="2000" dirty="0"/>
          </a:p>
          <a:p>
            <a:pPr>
              <a:buNone/>
            </a:pPr>
            <a:r>
              <a:rPr lang="en-US" sz="1600" dirty="0">
                <a:solidFill>
                  <a:srgbClr val="999999"/>
                </a:solidFill>
                <a:effectLst/>
              </a:rPr>
              <a:t>	</a:t>
            </a:r>
            <a:r>
              <a:rPr lang="en-US" sz="2000" dirty="0">
                <a:solidFill>
                  <a:srgbClr val="999999"/>
                </a:solidFill>
                <a:effectLst/>
              </a:rPr>
              <a:t>	&lt;</a:t>
            </a:r>
            <a:r>
              <a:rPr lang="en-US" sz="2000" dirty="0">
                <a:solidFill>
                  <a:srgbClr val="990055"/>
                </a:solidFill>
                <a:effectLst/>
              </a:rPr>
              <a:t>div</a:t>
            </a:r>
            <a:r>
              <a:rPr lang="en-US" sz="2000" dirty="0">
                <a:solidFill>
                  <a:srgbClr val="008000"/>
                </a:solidFill>
                <a:effectLst/>
              </a:rPr>
              <a:t> ng-app</a:t>
            </a:r>
            <a:r>
              <a:rPr lang="en-US" sz="2000" dirty="0">
                <a:solidFill>
                  <a:srgbClr val="005CC5"/>
                </a:solidFill>
                <a:effectLst/>
              </a:rPr>
              <a:t>="</a:t>
            </a:r>
            <a:r>
              <a:rPr lang="en-US" sz="2000" dirty="0" err="1">
                <a:solidFill>
                  <a:srgbClr val="005CC5"/>
                </a:solidFill>
                <a:effectLst/>
              </a:rPr>
              <a:t>myApp</a:t>
            </a:r>
            <a:r>
              <a:rPr lang="en-US" sz="2000" dirty="0">
                <a:solidFill>
                  <a:srgbClr val="005CC5"/>
                </a:solidFill>
                <a:effectLst/>
              </a:rPr>
              <a:t>"</a:t>
            </a:r>
            <a:r>
              <a:rPr lang="en-US" sz="2000" dirty="0">
                <a:solidFill>
                  <a:srgbClr val="999999"/>
                </a:solidFill>
                <a:effectLst/>
              </a:rPr>
              <a:t>&gt;</a:t>
            </a:r>
            <a:r>
              <a:rPr lang="en-US" sz="2000" dirty="0"/>
              <a:t>...</a:t>
            </a:r>
            <a:r>
              <a:rPr lang="en-US" sz="2000" dirty="0">
                <a:solidFill>
                  <a:srgbClr val="999999"/>
                </a:solidFill>
                <a:effectLst/>
              </a:rPr>
              <a:t>&lt;</a:t>
            </a:r>
            <a:r>
              <a:rPr lang="en-US" sz="2000" dirty="0">
                <a:solidFill>
                  <a:srgbClr val="990055"/>
                </a:solidFill>
                <a:effectLst/>
              </a:rPr>
              <a:t>/div</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script</a:t>
            </a:r>
            <a:r>
              <a:rPr lang="en-US" sz="2000" dirty="0">
                <a:solidFill>
                  <a:srgbClr val="999999"/>
                </a:solidFill>
                <a:effectLst/>
              </a:rPr>
              <a:t>&gt;</a:t>
            </a:r>
            <a:br>
              <a:rPr lang="en-US" sz="2000" dirty="0">
                <a:solidFill>
                  <a:srgbClr val="000000"/>
                </a:solidFill>
                <a:effectLst/>
              </a:rPr>
            </a:br>
            <a:r>
              <a:rPr lang="en-US" sz="2000" dirty="0">
                <a:solidFill>
                  <a:srgbClr val="000000"/>
                </a:solidFill>
                <a:effectLst/>
              </a:rPr>
              <a:t>	</a:t>
            </a:r>
            <a:r>
              <a:rPr lang="en-US" sz="2000" dirty="0">
                <a:solidFill>
                  <a:srgbClr val="005CC5"/>
                </a:solidFill>
                <a:effectLst/>
              </a:rPr>
              <a:t>var</a:t>
            </a:r>
            <a:r>
              <a:rPr lang="en-US" sz="2000" dirty="0">
                <a:solidFill>
                  <a:srgbClr val="000000"/>
                </a:solidFill>
                <a:effectLst/>
              </a:rPr>
              <a:t> app = </a:t>
            </a:r>
            <a:r>
              <a:rPr lang="en-US" sz="2000" dirty="0" err="1">
                <a:solidFill>
                  <a:srgbClr val="000000"/>
                </a:solidFill>
                <a:effectLst/>
              </a:rPr>
              <a:t>angular.module</a:t>
            </a:r>
            <a:r>
              <a:rPr lang="en-US" sz="2000" dirty="0">
                <a:solidFill>
                  <a:srgbClr val="000000"/>
                </a:solidFill>
                <a:effectLst/>
              </a:rPr>
              <a:t>(</a:t>
            </a:r>
            <a:r>
              <a:rPr lang="en-US" sz="2000" dirty="0">
                <a:solidFill>
                  <a:srgbClr val="008000"/>
                </a:solidFill>
                <a:effectLst/>
              </a:rPr>
              <a:t>"</a:t>
            </a:r>
            <a:r>
              <a:rPr lang="en-US" sz="2000" dirty="0" err="1">
                <a:solidFill>
                  <a:srgbClr val="008000"/>
                </a:solidFill>
                <a:effectLst/>
              </a:rPr>
              <a:t>myApp</a:t>
            </a:r>
            <a:r>
              <a:rPr lang="en-US" sz="2000" dirty="0">
                <a:solidFill>
                  <a:srgbClr val="008000"/>
                </a:solidFill>
                <a:effectLst/>
              </a:rPr>
              <a:t>"</a:t>
            </a:r>
            <a:r>
              <a:rPr lang="en-US" sz="2000" dirty="0">
                <a:solidFill>
                  <a:srgbClr val="000000"/>
                </a:solidFill>
                <a:effectLst/>
              </a:rPr>
              <a:t>, []);</a:t>
            </a:r>
            <a:r>
              <a:rPr lang="en-US" sz="2000" dirty="0">
                <a:solidFill>
                  <a:srgbClr val="990055"/>
                </a:solidFill>
                <a:effectLst/>
              </a:rPr>
              <a:t> </a:t>
            </a:r>
            <a:br>
              <a:rPr lang="en-US" sz="2000" dirty="0">
                <a:solidFill>
                  <a:srgbClr val="000000"/>
                </a:solidFill>
                <a:effectLst/>
              </a:rPr>
            </a:br>
            <a:r>
              <a:rPr lang="en-US" sz="2000" dirty="0">
                <a:solidFill>
                  <a:srgbClr val="000000"/>
                </a:solidFill>
                <a:effectLst/>
              </a:rPr>
              <a:t>	</a:t>
            </a:r>
            <a:r>
              <a:rPr lang="en-US" sz="2000" dirty="0">
                <a:solidFill>
                  <a:srgbClr val="999999"/>
                </a:solidFill>
                <a:effectLst/>
              </a:rPr>
              <a:t>&lt;</a:t>
            </a:r>
            <a:r>
              <a:rPr lang="en-US" sz="2000" dirty="0">
                <a:solidFill>
                  <a:srgbClr val="990055"/>
                </a:solidFill>
                <a:effectLst/>
              </a:rPr>
              <a:t>/script</a:t>
            </a:r>
            <a:r>
              <a:rPr lang="en-US" sz="2000" dirty="0">
                <a:solidFill>
                  <a:srgbClr val="999999"/>
                </a:solidFill>
                <a:effectLst/>
              </a:rPr>
              <a:t>&gt;</a:t>
            </a:r>
            <a:r>
              <a:rPr lang="en-US" sz="2000" dirty="0"/>
              <a:t> </a:t>
            </a:r>
          </a:p>
          <a:p>
            <a:pPr lvl="1" algn="just"/>
            <a:r>
              <a:rPr lang="en-US" sz="2000" dirty="0"/>
              <a:t>The "</a:t>
            </a:r>
            <a:r>
              <a:rPr lang="en-US" sz="2000" dirty="0" err="1"/>
              <a:t>myApp</a:t>
            </a:r>
            <a:r>
              <a:rPr lang="en-US" sz="2000" dirty="0"/>
              <a:t>" parameter refers to an HTML element in which the application will run.</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9341356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69B2F-5B4A-3281-BBFE-EA2B4716E5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0FF219-807A-6B8F-8368-A14956D06763}"/>
              </a:ext>
            </a:extLst>
          </p:cNvPr>
          <p:cNvSpPr>
            <a:spLocks noGrp="1"/>
          </p:cNvSpPr>
          <p:nvPr>
            <p:ph idx="1"/>
          </p:nvPr>
        </p:nvSpPr>
        <p:spPr>
          <a:xfrm>
            <a:off x="838200" y="254524"/>
            <a:ext cx="10515600" cy="6410227"/>
          </a:xfrm>
        </p:spPr>
        <p:txBody>
          <a:bodyPr>
            <a:normAutofit fontScale="92500" lnSpcReduction="10000"/>
          </a:bodyPr>
          <a:lstStyle/>
          <a:p>
            <a:r>
              <a:rPr lang="en-US" dirty="0"/>
              <a:t>Continued…</a:t>
            </a:r>
          </a:p>
          <a:p>
            <a:r>
              <a:rPr lang="en-US" sz="2400" b="1" dirty="0"/>
              <a:t>Adding a Controller</a:t>
            </a:r>
          </a:p>
          <a:p>
            <a:pPr lvl="1"/>
            <a:r>
              <a:rPr lang="en-US" sz="2000" dirty="0"/>
              <a:t>Add a controller to your application, and refer to the controller with the </a:t>
            </a:r>
            <a:r>
              <a:rPr lang="en-US" dirty="0">
                <a:solidFill>
                  <a:srgbClr val="00B0F0"/>
                </a:solidFill>
              </a:rPr>
              <a:t>ng-controller</a:t>
            </a:r>
            <a:r>
              <a:rPr lang="en-US" sz="2000" dirty="0"/>
              <a:t> directive:</a:t>
            </a:r>
          </a:p>
          <a:p>
            <a:pPr>
              <a:buNone/>
            </a:pPr>
            <a:r>
              <a:rPr lang="en-IN" sz="1600" dirty="0">
                <a:solidFill>
                  <a:srgbClr val="999999"/>
                </a:solidFill>
                <a:effectLst/>
              </a:rPr>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ng-app</a:t>
            </a:r>
            <a:r>
              <a:rPr lang="en-IN" sz="2000" dirty="0">
                <a:solidFill>
                  <a:srgbClr val="005CC5"/>
                </a:solidFill>
                <a:effectLst/>
              </a:rPr>
              <a:t>="</a:t>
            </a:r>
            <a:r>
              <a:rPr lang="en-IN" sz="2000" b="1" dirty="0" err="1">
                <a:solidFill>
                  <a:srgbClr val="005CC5"/>
                </a:solidFill>
                <a:effectLst/>
              </a:rPr>
              <a:t>myApp</a:t>
            </a:r>
            <a:r>
              <a:rPr lang="en-IN" sz="2000" dirty="0">
                <a:solidFill>
                  <a:srgbClr val="005CC5"/>
                </a:solidFill>
                <a:effectLst/>
              </a:rPr>
              <a:t>"</a:t>
            </a:r>
            <a:r>
              <a:rPr lang="en-IN" sz="2000" dirty="0">
                <a:solidFill>
                  <a:srgbClr val="008000"/>
                </a:solidFill>
                <a:effectLst/>
              </a:rPr>
              <a:t> ng-controller</a:t>
            </a:r>
            <a:r>
              <a:rPr lang="en-IN" sz="2000" dirty="0">
                <a:solidFill>
                  <a:srgbClr val="005CC5"/>
                </a:solidFill>
                <a:effectLst/>
              </a:rPr>
              <a:t>=</a:t>
            </a:r>
            <a:r>
              <a:rPr lang="en-IN" sz="2000" b="1" dirty="0">
                <a:solidFill>
                  <a:srgbClr val="005CC5"/>
                </a:solidFill>
                <a:effectLst/>
              </a:rPr>
              <a:t>"</a:t>
            </a:r>
            <a:r>
              <a:rPr lang="en-IN" sz="2000" b="1" dirty="0" err="1">
                <a:solidFill>
                  <a:srgbClr val="005CC5"/>
                </a:solidFill>
                <a:effectLst/>
              </a:rPr>
              <a:t>myCtrl</a:t>
            </a:r>
            <a:r>
              <a:rPr lang="en-IN" sz="2000" b="1" dirty="0">
                <a:solidFill>
                  <a:srgbClr val="005CC5"/>
                </a:solidFill>
                <a:effectLst/>
              </a:rPr>
              <a:t>"</a:t>
            </a:r>
            <a:r>
              <a:rPr lang="en-IN" sz="2000" dirty="0">
                <a:solidFill>
                  <a:srgbClr val="999999"/>
                </a:solidFill>
                <a:effectLst/>
              </a:rPr>
              <a:t>&gt;</a:t>
            </a:r>
            <a:br>
              <a:rPr lang="en-IN" sz="2000" dirty="0"/>
            </a:br>
            <a:r>
              <a:rPr lang="en-IN" sz="2000" dirty="0"/>
              <a:t>	</a:t>
            </a:r>
            <a:r>
              <a:rPr lang="en-IN" sz="2000" dirty="0">
                <a:solidFill>
                  <a:srgbClr val="D73A49"/>
                </a:solidFill>
                <a:effectLst/>
              </a:rPr>
              <a:t>{{ </a:t>
            </a:r>
            <a:r>
              <a:rPr lang="en-IN" sz="2000" dirty="0" err="1">
                <a:solidFill>
                  <a:srgbClr val="D73A49"/>
                </a:solidFill>
                <a:effectLst/>
              </a:rPr>
              <a:t>firstName</a:t>
            </a:r>
            <a:r>
              <a:rPr lang="en-IN" sz="2000" dirty="0">
                <a:solidFill>
                  <a:srgbClr val="D73A49"/>
                </a:solidFill>
                <a:effectLst/>
              </a:rPr>
              <a:t> + " " + </a:t>
            </a:r>
            <a:r>
              <a:rPr lang="en-IN" sz="2000" dirty="0" err="1">
                <a:solidFill>
                  <a:srgbClr val="D73A49"/>
                </a:solidFill>
                <a:effectLst/>
              </a:rPr>
              <a:t>lastName</a:t>
            </a:r>
            <a:r>
              <a:rPr lang="en-IN" sz="2000" dirty="0">
                <a:solidFill>
                  <a:srgbClr val="D73A49"/>
                </a:solidFill>
                <a:effectLst/>
              </a:rPr>
              <a:t> }}</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br>
              <a:rPr lang="en-IN" sz="2000" dirty="0"/>
            </a:br>
            <a:r>
              <a:rPr lang="en-IN" sz="2000" dirty="0"/>
              <a:t>	</a:t>
            </a:r>
            <a:r>
              <a:rPr lang="en-IN" sz="2000" dirty="0">
                <a:solidFill>
                  <a:srgbClr val="999999"/>
                </a:solidFill>
                <a:effectLst/>
              </a:rPr>
              <a:t>&lt;</a:t>
            </a:r>
            <a:r>
              <a:rPr lang="en-IN" sz="2000" dirty="0">
                <a:solidFill>
                  <a:srgbClr val="990055"/>
                </a:solidFill>
                <a:effectLst/>
              </a:rPr>
              <a:t>script</a:t>
            </a:r>
            <a:r>
              <a:rPr lang="en-IN" sz="2000" dirty="0">
                <a:solidFill>
                  <a:srgbClr val="999999"/>
                </a:solidFill>
                <a:effectLst/>
              </a:rPr>
              <a:t>&gt;</a:t>
            </a:r>
            <a:br>
              <a:rPr lang="en-IN" sz="2000" dirty="0">
                <a:solidFill>
                  <a:srgbClr val="000000"/>
                </a:solidFill>
                <a:effectLst/>
              </a:rPr>
            </a:br>
            <a:r>
              <a:rPr lang="en-IN" sz="2000" dirty="0">
                <a:solidFill>
                  <a:srgbClr val="000000"/>
                </a:solidFill>
                <a:effectLst/>
              </a:rPr>
              <a:t>		</a:t>
            </a:r>
            <a:r>
              <a:rPr lang="en-IN" sz="2000" dirty="0">
                <a:solidFill>
                  <a:srgbClr val="005CC5"/>
                </a:solidFill>
                <a:effectLst/>
              </a:rPr>
              <a:t>var</a:t>
            </a:r>
            <a:r>
              <a:rPr lang="en-IN" sz="2000" dirty="0">
                <a:solidFill>
                  <a:srgbClr val="000000"/>
                </a:solidFill>
                <a:effectLst/>
              </a:rPr>
              <a:t> app = </a:t>
            </a:r>
            <a:r>
              <a:rPr lang="en-IN" sz="2000" dirty="0" err="1">
                <a:solidFill>
                  <a:srgbClr val="000000"/>
                </a:solidFill>
                <a:effectLst/>
              </a:rPr>
              <a:t>angular.module</a:t>
            </a:r>
            <a:r>
              <a:rPr lang="en-IN" sz="2000" dirty="0">
                <a:solidFill>
                  <a:srgbClr val="000000"/>
                </a:solidFill>
                <a:effectLst/>
              </a:rPr>
              <a:t>(</a:t>
            </a:r>
            <a:r>
              <a:rPr lang="en-IN" sz="2000" b="1" dirty="0">
                <a:solidFill>
                  <a:srgbClr val="008000"/>
                </a:solidFill>
                <a:effectLst/>
              </a:rPr>
              <a:t>"</a:t>
            </a:r>
            <a:r>
              <a:rPr lang="en-IN" sz="2000" b="1" dirty="0" err="1">
                <a:solidFill>
                  <a:srgbClr val="008000"/>
                </a:solidFill>
                <a:effectLst/>
              </a:rPr>
              <a:t>myApp</a:t>
            </a:r>
            <a:r>
              <a:rPr lang="en-IN" sz="2000" b="1" dirty="0">
                <a:solidFill>
                  <a:srgbClr val="008000"/>
                </a:solidFill>
                <a:effectLst/>
              </a:rPr>
              <a:t>"</a:t>
            </a:r>
            <a:r>
              <a:rPr lang="en-IN" sz="2000" dirty="0">
                <a:solidFill>
                  <a:srgbClr val="000000"/>
                </a:solidFill>
                <a:effectLst/>
              </a:rPr>
              <a:t>, []);</a:t>
            </a:r>
            <a:br>
              <a:rPr lang="en-IN" sz="2000" dirty="0">
                <a:solidFill>
                  <a:srgbClr val="000000"/>
                </a:solidFill>
                <a:effectLst/>
              </a:rPr>
            </a:br>
            <a:r>
              <a:rPr lang="en-IN" sz="2000" dirty="0">
                <a:solidFill>
                  <a:srgbClr val="000000"/>
                </a:solidFill>
                <a:effectLst/>
              </a:rPr>
              <a:t>		</a:t>
            </a:r>
            <a:r>
              <a:rPr lang="en-IN" sz="2000" dirty="0" err="1">
                <a:solidFill>
                  <a:srgbClr val="000000"/>
                </a:solidFill>
                <a:effectLst/>
              </a:rPr>
              <a:t>app.controller</a:t>
            </a:r>
            <a:r>
              <a:rPr lang="en-IN" sz="2000" dirty="0">
                <a:solidFill>
                  <a:srgbClr val="000000"/>
                </a:solidFill>
                <a:effectLst/>
              </a:rPr>
              <a:t>(</a:t>
            </a:r>
            <a:r>
              <a:rPr lang="en-IN" sz="2000" b="1" dirty="0">
                <a:solidFill>
                  <a:srgbClr val="008000"/>
                </a:solidFill>
                <a:effectLst/>
              </a:rPr>
              <a:t>"</a:t>
            </a:r>
            <a:r>
              <a:rPr lang="en-IN" sz="2000" b="1" dirty="0" err="1">
                <a:solidFill>
                  <a:srgbClr val="008000"/>
                </a:solidFill>
                <a:effectLst/>
              </a:rPr>
              <a:t>myCtrl</a:t>
            </a:r>
            <a:r>
              <a:rPr lang="en-IN" sz="2000" b="1" dirty="0">
                <a:solidFill>
                  <a:srgbClr val="008000"/>
                </a:solidFill>
                <a:effectLst/>
              </a:rPr>
              <a:t>"</a:t>
            </a:r>
            <a:r>
              <a:rPr lang="en-IN" sz="2000" dirty="0">
                <a:solidFill>
                  <a:srgbClr val="000000"/>
                </a:solidFill>
                <a:effectLst/>
              </a:rPr>
              <a:t>, </a:t>
            </a:r>
            <a:r>
              <a:rPr lang="en-IN" sz="2000" dirty="0">
                <a:solidFill>
                  <a:srgbClr val="005CC5"/>
                </a:solidFill>
                <a:effectLst/>
              </a:rPr>
              <a:t>function</a:t>
            </a:r>
            <a:r>
              <a:rPr lang="en-IN" sz="2000" dirty="0">
                <a:solidFill>
                  <a:srgbClr val="000000"/>
                </a:solidFill>
                <a:effectLst/>
              </a:rPr>
              <a:t>($scope) {</a:t>
            </a:r>
            <a:br>
              <a:rPr lang="en-IN" sz="2000" dirty="0">
                <a:solidFill>
                  <a:srgbClr val="000000"/>
                </a:solidFill>
                <a:effectLst/>
              </a:rPr>
            </a:br>
            <a:r>
              <a:rPr lang="en-IN" sz="2000" dirty="0">
                <a:solidFill>
                  <a:srgbClr val="000000"/>
                </a:solidFill>
                <a:effectLst/>
              </a:rPr>
              <a:t>  		 $</a:t>
            </a:r>
            <a:r>
              <a:rPr lang="en-IN" sz="2000" dirty="0" err="1">
                <a:solidFill>
                  <a:srgbClr val="000000"/>
                </a:solidFill>
                <a:effectLst/>
              </a:rPr>
              <a:t>scope.firstName</a:t>
            </a:r>
            <a:r>
              <a:rPr lang="en-IN" sz="2000" dirty="0">
                <a:solidFill>
                  <a:srgbClr val="000000"/>
                </a:solidFill>
                <a:effectLst/>
              </a:rPr>
              <a:t> = </a:t>
            </a:r>
            <a:r>
              <a:rPr lang="en-IN" sz="2000" dirty="0">
                <a:solidFill>
                  <a:srgbClr val="008000"/>
                </a:solidFill>
                <a:effectLst/>
              </a:rPr>
              <a:t>"John"</a:t>
            </a:r>
            <a:r>
              <a:rPr lang="en-IN" sz="2000" dirty="0">
                <a:solidFill>
                  <a:srgbClr val="000000"/>
                </a:solidFill>
                <a:effectLst/>
              </a:rPr>
              <a:t>;</a:t>
            </a:r>
            <a:br>
              <a:rPr lang="en-IN" sz="2000" dirty="0">
                <a:solidFill>
                  <a:srgbClr val="000000"/>
                </a:solidFill>
                <a:effectLst/>
              </a:rPr>
            </a:br>
            <a:r>
              <a:rPr lang="en-IN" sz="2000" dirty="0">
                <a:solidFill>
                  <a:srgbClr val="000000"/>
                </a:solidFill>
                <a:effectLst/>
              </a:rPr>
              <a:t> 		 $</a:t>
            </a:r>
            <a:r>
              <a:rPr lang="en-IN" sz="2000" dirty="0" err="1">
                <a:solidFill>
                  <a:srgbClr val="000000"/>
                </a:solidFill>
                <a:effectLst/>
              </a:rPr>
              <a:t>scope.lastName</a:t>
            </a:r>
            <a:r>
              <a:rPr lang="en-IN" sz="2000" dirty="0">
                <a:solidFill>
                  <a:srgbClr val="000000"/>
                </a:solidFill>
                <a:effectLst/>
              </a:rPr>
              <a:t> = </a:t>
            </a:r>
            <a:r>
              <a:rPr lang="en-IN" sz="2000" dirty="0">
                <a:solidFill>
                  <a:srgbClr val="008000"/>
                </a:solidFill>
                <a:effectLst/>
              </a:rPr>
              <a:t>"Doe"</a:t>
            </a:r>
            <a:r>
              <a:rPr lang="en-IN" sz="2000" dirty="0">
                <a:solidFill>
                  <a:srgbClr val="000000"/>
                </a:solidFill>
                <a:effectLst/>
              </a:rPr>
              <a:t>;</a:t>
            </a:r>
            <a:br>
              <a:rPr lang="en-IN" sz="2000" dirty="0">
                <a:solidFill>
                  <a:srgbClr val="000000"/>
                </a:solidFill>
                <a:effectLst/>
              </a:rPr>
            </a:br>
            <a:r>
              <a:rPr lang="en-IN" sz="2000" dirty="0">
                <a:solidFill>
                  <a:srgbClr val="000000"/>
                </a:solidFill>
                <a:effectLst/>
              </a:rPr>
              <a:t>		});</a:t>
            </a:r>
            <a:br>
              <a:rPr lang="en-IN" sz="2000" dirty="0">
                <a:solidFill>
                  <a:srgbClr val="000000"/>
                </a:solidFill>
                <a:effectLst/>
              </a:rPr>
            </a:br>
            <a:r>
              <a:rPr lang="en-IN" sz="2000" dirty="0">
                <a:solidFill>
                  <a:srgbClr val="000000"/>
                </a:solidFill>
                <a:effectLst/>
              </a:rPr>
              <a:t>	</a:t>
            </a:r>
            <a:r>
              <a:rPr lang="en-IN" sz="2000" dirty="0">
                <a:solidFill>
                  <a:srgbClr val="999999"/>
                </a:solidFill>
                <a:effectLst/>
              </a:rPr>
              <a:t>&lt;</a:t>
            </a:r>
            <a:r>
              <a:rPr lang="en-IN" sz="2000" dirty="0">
                <a:solidFill>
                  <a:srgbClr val="990055"/>
                </a:solidFill>
                <a:effectLst/>
              </a:rPr>
              <a:t>/script</a:t>
            </a:r>
            <a:r>
              <a:rPr lang="en-IN" sz="2000" dirty="0">
                <a:solidFill>
                  <a:srgbClr val="999999"/>
                </a:solidFill>
                <a:effectLst/>
              </a:rPr>
              <a:t>&gt;</a:t>
            </a:r>
            <a:r>
              <a:rPr lang="en-IN" sz="2000" dirty="0"/>
              <a:t> </a:t>
            </a:r>
          </a:p>
          <a:p>
            <a:pPr algn="just"/>
            <a:endParaRPr lang="en-US" sz="2400" dirty="0"/>
          </a:p>
          <a:p>
            <a:r>
              <a:rPr lang="en-US" sz="2400" dirty="0"/>
              <a:t>While it is common in HTML applications to place scripts at the end of the </a:t>
            </a:r>
            <a:r>
              <a:rPr lang="en-US" dirty="0"/>
              <a:t>&lt;body&gt;</a:t>
            </a:r>
            <a:r>
              <a:rPr lang="en-US" sz="2400" dirty="0"/>
              <a:t> element, it is recommended that you load the AngularJS library either in the </a:t>
            </a:r>
            <a:r>
              <a:rPr lang="en-US" dirty="0"/>
              <a:t>&lt;head&gt;</a:t>
            </a:r>
            <a:r>
              <a:rPr lang="en-US" sz="2400" dirty="0"/>
              <a:t> or at the start of the </a:t>
            </a:r>
            <a:r>
              <a:rPr lang="en-US" dirty="0"/>
              <a:t>&lt;body&gt;</a:t>
            </a:r>
            <a:r>
              <a:rPr lang="en-US" sz="2400" dirty="0"/>
              <a:t>.</a:t>
            </a:r>
          </a:p>
          <a:p>
            <a:r>
              <a:rPr lang="en-US" sz="2400" dirty="0"/>
              <a:t>This is because calls to </a:t>
            </a:r>
            <a:r>
              <a:rPr lang="en-US" dirty="0" err="1"/>
              <a:t>angular.module</a:t>
            </a:r>
            <a:r>
              <a:rPr lang="en-US" sz="2400" dirty="0"/>
              <a:t> can only be compiled after the library has been loaded.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0849156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78214-92F2-3B42-6296-F7B0DD4A29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9D409-2327-5833-CE45-30D027542100}"/>
              </a:ext>
            </a:extLst>
          </p:cNvPr>
          <p:cNvSpPr>
            <a:spLocks noGrp="1"/>
          </p:cNvSpPr>
          <p:nvPr>
            <p:ph idx="1"/>
          </p:nvPr>
        </p:nvSpPr>
        <p:spPr>
          <a:xfrm>
            <a:off x="838200" y="254524"/>
            <a:ext cx="10515600" cy="6410227"/>
          </a:xfrm>
        </p:spPr>
        <p:txBody>
          <a:bodyPr/>
          <a:lstStyle/>
          <a:p>
            <a:r>
              <a:rPr lang="en-IN" b="1" dirty="0"/>
              <a:t>AngularJS Directives</a:t>
            </a:r>
          </a:p>
          <a:p>
            <a:r>
              <a:rPr lang="en-US" sz="2400" dirty="0"/>
              <a:t>AngularJS lets you extend HTML with new attributes called </a:t>
            </a:r>
            <a:r>
              <a:rPr lang="en-US" sz="2400" b="1" dirty="0"/>
              <a:t>Directives</a:t>
            </a:r>
            <a:r>
              <a:rPr lang="en-US" sz="2400" dirty="0"/>
              <a:t>.</a:t>
            </a:r>
          </a:p>
          <a:p>
            <a:r>
              <a:rPr lang="en-US" sz="2400" dirty="0"/>
              <a:t>AngularJS has a set of built-in directives which offers functionality to your applications.</a:t>
            </a:r>
          </a:p>
          <a:p>
            <a:r>
              <a:rPr lang="en-US" sz="2400" dirty="0"/>
              <a:t>AngularJS also lets you define your own directives.</a:t>
            </a:r>
          </a:p>
          <a:p>
            <a:r>
              <a:rPr lang="en-US" sz="2400" b="1" dirty="0"/>
              <a:t>AngularJS Directives</a:t>
            </a:r>
          </a:p>
          <a:p>
            <a:pPr lvl="1"/>
            <a:r>
              <a:rPr lang="en-US" sz="2000" dirty="0"/>
              <a:t>AngularJS directives are extended HTML attributes with the prefix </a:t>
            </a:r>
            <a:r>
              <a:rPr lang="en-US" dirty="0">
                <a:solidFill>
                  <a:srgbClr val="FF3399"/>
                </a:solidFill>
              </a:rPr>
              <a:t>ng-</a:t>
            </a:r>
            <a:r>
              <a:rPr lang="en-US" sz="2000" dirty="0"/>
              <a:t>.</a:t>
            </a:r>
          </a:p>
          <a:p>
            <a:pPr lvl="1"/>
            <a:r>
              <a:rPr lang="en-US" sz="2000" dirty="0"/>
              <a:t>The </a:t>
            </a:r>
            <a:r>
              <a:rPr lang="en-US" dirty="0">
                <a:solidFill>
                  <a:srgbClr val="FF3399"/>
                </a:solidFill>
              </a:rPr>
              <a:t>ng-app</a:t>
            </a:r>
            <a:r>
              <a:rPr lang="en-US" sz="2000" dirty="0"/>
              <a:t> directive initializes an AngularJS application.</a:t>
            </a:r>
          </a:p>
          <a:p>
            <a:pPr lvl="1"/>
            <a:r>
              <a:rPr lang="en-US" sz="2000" dirty="0"/>
              <a:t>The </a:t>
            </a:r>
            <a:r>
              <a:rPr lang="en-US" dirty="0">
                <a:solidFill>
                  <a:srgbClr val="FF3399"/>
                </a:solidFill>
              </a:rPr>
              <a:t>ng-</a:t>
            </a:r>
            <a:r>
              <a:rPr lang="en-US" dirty="0" err="1">
                <a:solidFill>
                  <a:srgbClr val="FF3399"/>
                </a:solidFill>
              </a:rPr>
              <a:t>init</a:t>
            </a:r>
            <a:r>
              <a:rPr lang="en-US" sz="2000" dirty="0"/>
              <a:t> directive initializes application data.</a:t>
            </a:r>
          </a:p>
          <a:p>
            <a:pPr lvl="1"/>
            <a:r>
              <a:rPr lang="en-US" sz="2000" dirty="0"/>
              <a:t>The </a:t>
            </a:r>
            <a:r>
              <a:rPr lang="en-US" dirty="0">
                <a:solidFill>
                  <a:srgbClr val="FF3399"/>
                </a:solidFill>
              </a:rPr>
              <a:t>ng-model</a:t>
            </a:r>
            <a:r>
              <a:rPr lang="en-US" sz="2000" dirty="0"/>
              <a:t> directive binds the value of HTML controls (input, select, </a:t>
            </a:r>
            <a:r>
              <a:rPr lang="en-US" sz="2000" dirty="0" err="1"/>
              <a:t>textarea</a:t>
            </a:r>
            <a:r>
              <a:rPr lang="en-US" sz="2000" dirty="0"/>
              <a:t>) to application data.</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186143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0EF1C-21D5-FBBB-AD4A-EC1887A5E2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7FF136-4A1E-E2EA-8ADC-088A57062E3B}"/>
              </a:ext>
            </a:extLst>
          </p:cNvPr>
          <p:cNvSpPr>
            <a:spLocks noGrp="1"/>
          </p:cNvSpPr>
          <p:nvPr>
            <p:ph idx="1"/>
          </p:nvPr>
        </p:nvSpPr>
        <p:spPr>
          <a:xfrm>
            <a:off x="838200" y="254524"/>
            <a:ext cx="10515600" cy="6410227"/>
          </a:xfrm>
        </p:spPr>
        <p:txBody>
          <a:bodyPr>
            <a:normAutofit lnSpcReduction="10000"/>
          </a:bodyPr>
          <a:lstStyle/>
          <a:p>
            <a:r>
              <a:rPr lang="en-US" dirty="0"/>
              <a:t>Continued…</a:t>
            </a:r>
          </a:p>
          <a:p>
            <a:pPr algn="just"/>
            <a:r>
              <a:rPr lang="en-IN" sz="2400" b="1" dirty="0"/>
              <a:t>Data Binding</a:t>
            </a:r>
          </a:p>
          <a:p>
            <a:r>
              <a:rPr lang="en-US" sz="2400" dirty="0"/>
              <a:t>Data binding in AngularJS binds AngularJS expressions with AngularJS data.</a:t>
            </a:r>
          </a:p>
          <a:p>
            <a:r>
              <a:rPr lang="en-US" sz="2400" dirty="0">
                <a:solidFill>
                  <a:srgbClr val="FF3399"/>
                </a:solidFill>
              </a:rPr>
              <a:t>{{ </a:t>
            </a:r>
            <a:r>
              <a:rPr lang="en-US" sz="2400" dirty="0" err="1">
                <a:solidFill>
                  <a:srgbClr val="FF3399"/>
                </a:solidFill>
              </a:rPr>
              <a:t>firstName</a:t>
            </a:r>
            <a:r>
              <a:rPr lang="en-US" sz="2400" dirty="0">
                <a:solidFill>
                  <a:srgbClr val="FF3399"/>
                </a:solidFill>
              </a:rPr>
              <a:t> }}</a:t>
            </a:r>
            <a:r>
              <a:rPr lang="en-US" sz="2000" dirty="0">
                <a:solidFill>
                  <a:srgbClr val="FF3399"/>
                </a:solidFill>
              </a:rPr>
              <a:t> </a:t>
            </a:r>
            <a:r>
              <a:rPr lang="en-US" sz="2400" dirty="0"/>
              <a:t>is bound with </a:t>
            </a:r>
            <a:r>
              <a:rPr lang="en-US" sz="2400" dirty="0">
                <a:solidFill>
                  <a:srgbClr val="FF3399"/>
                </a:solidFill>
              </a:rPr>
              <a:t>ng-model="</a:t>
            </a:r>
            <a:r>
              <a:rPr lang="en-US" sz="2400" dirty="0" err="1">
                <a:solidFill>
                  <a:srgbClr val="FF3399"/>
                </a:solidFill>
              </a:rPr>
              <a:t>firstName</a:t>
            </a:r>
            <a:r>
              <a:rPr lang="en-US" dirty="0"/>
              <a:t>"</a:t>
            </a:r>
            <a:r>
              <a:rPr lang="en-US" sz="2400" dirty="0"/>
              <a:t>.</a:t>
            </a:r>
          </a:p>
          <a:p>
            <a:pPr>
              <a:buNone/>
            </a:pPr>
            <a:r>
              <a:rPr lang="en-IN" sz="1600" dirty="0">
                <a:solidFill>
                  <a:srgbClr val="999999"/>
                </a:solidFill>
                <a:effectLst/>
              </a:rPr>
              <a:t>	</a:t>
            </a:r>
          </a:p>
          <a:p>
            <a:pPr>
              <a:buNone/>
            </a:pPr>
            <a:r>
              <a:rPr lang="en-IN" sz="1600" dirty="0">
                <a:solidFill>
                  <a:srgbClr val="999999"/>
                </a:solidFill>
              </a:rPr>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ng-app</a:t>
            </a:r>
            <a:r>
              <a:rPr lang="en-IN" sz="2000" dirty="0">
                <a:solidFill>
                  <a:srgbClr val="005CC5"/>
                </a:solidFill>
                <a:effectLst/>
              </a:rPr>
              <a:t>=""</a:t>
            </a:r>
            <a:r>
              <a:rPr lang="en-IN" sz="2000" dirty="0">
                <a:solidFill>
                  <a:srgbClr val="008000"/>
                </a:solidFill>
                <a:effectLst/>
              </a:rPr>
              <a:t> ng-</a:t>
            </a:r>
            <a:r>
              <a:rPr lang="en-IN" sz="2000" dirty="0" err="1">
                <a:solidFill>
                  <a:srgbClr val="008000"/>
                </a:solidFill>
                <a:effectLst/>
              </a:rPr>
              <a:t>init</a:t>
            </a:r>
            <a:r>
              <a:rPr lang="en-IN" sz="2000" dirty="0">
                <a:solidFill>
                  <a:srgbClr val="005CC5"/>
                </a:solidFill>
                <a:effectLst/>
              </a:rPr>
              <a:t>="quantity=1;price=5"</a:t>
            </a:r>
            <a:r>
              <a:rPr lang="en-IN" sz="2000" dirty="0">
                <a:solidFill>
                  <a:srgbClr val="999999"/>
                </a:solidFill>
                <a:effectLst/>
              </a:rPr>
              <a:t>&gt;</a:t>
            </a:r>
            <a:br>
              <a:rPr lang="en-IN" sz="2000" dirty="0"/>
            </a:br>
            <a:r>
              <a:rPr lang="en-IN" sz="2000" dirty="0"/>
              <a:t>	Quantity: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="number"</a:t>
            </a:r>
            <a:r>
              <a:rPr lang="en-IN" sz="2000" dirty="0">
                <a:solidFill>
                  <a:srgbClr val="008000"/>
                </a:solidFill>
                <a:effectLst/>
              </a:rPr>
              <a:t> ng-model</a:t>
            </a:r>
            <a:r>
              <a:rPr lang="en-IN" sz="2000" dirty="0">
                <a:solidFill>
                  <a:srgbClr val="005CC5"/>
                </a:solidFill>
                <a:effectLst/>
              </a:rPr>
              <a:t>="quantity"</a:t>
            </a:r>
            <a:r>
              <a:rPr lang="en-IN" sz="2000" dirty="0">
                <a:solidFill>
                  <a:srgbClr val="999999"/>
                </a:solidFill>
                <a:effectLst/>
              </a:rPr>
              <a:t>&gt;</a:t>
            </a:r>
            <a:br>
              <a:rPr lang="en-IN" sz="2000" dirty="0"/>
            </a:br>
            <a:r>
              <a:rPr lang="en-IN" sz="2000" dirty="0"/>
              <a:t>	Costs: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="number"</a:t>
            </a:r>
            <a:r>
              <a:rPr lang="en-IN" sz="2000" dirty="0">
                <a:solidFill>
                  <a:srgbClr val="008000"/>
                </a:solidFill>
                <a:effectLst/>
              </a:rPr>
              <a:t> ng-model</a:t>
            </a:r>
            <a:r>
              <a:rPr lang="en-IN" sz="2000" dirty="0">
                <a:solidFill>
                  <a:srgbClr val="005CC5"/>
                </a:solidFill>
                <a:effectLst/>
              </a:rPr>
              <a:t>="price"</a:t>
            </a:r>
            <a:r>
              <a:rPr lang="en-IN" sz="2000" dirty="0">
                <a:solidFill>
                  <a:srgbClr val="999999"/>
                </a:solidFill>
                <a:effectLst/>
              </a:rPr>
              <a:t>&gt;</a:t>
            </a:r>
            <a:br>
              <a:rPr lang="en-IN" sz="2000" dirty="0"/>
            </a:br>
            <a:r>
              <a:rPr lang="en-IN" sz="2000" dirty="0"/>
              <a:t>	Total in dollar: </a:t>
            </a:r>
            <a:r>
              <a:rPr lang="en-IN" sz="2000" dirty="0">
                <a:solidFill>
                  <a:srgbClr val="D73A49"/>
                </a:solidFill>
                <a:effectLst/>
              </a:rPr>
              <a:t>{{ quantity * price }}</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r>
              <a:rPr lang="en-US" sz="2400" b="1" dirty="0"/>
              <a:t>Repeating HTML Elements</a:t>
            </a:r>
          </a:p>
          <a:p>
            <a:pPr lvl="1"/>
            <a:r>
              <a:rPr lang="en-US" sz="2000" dirty="0"/>
              <a:t>The </a:t>
            </a:r>
            <a:r>
              <a:rPr lang="en-US" dirty="0">
                <a:solidFill>
                  <a:srgbClr val="FF3399"/>
                </a:solidFill>
              </a:rPr>
              <a:t>ng-repeat</a:t>
            </a:r>
            <a:r>
              <a:rPr lang="en-US" sz="2000" dirty="0"/>
              <a:t> directive repeats an HTML element:</a:t>
            </a:r>
          </a:p>
          <a:p>
            <a:pPr marL="457200" lvl="1" indent="0" algn="just">
              <a:buNone/>
            </a:pPr>
            <a:r>
              <a:rPr lang="en-IN" sz="1800" dirty="0">
                <a:solidFill>
                  <a:srgbClr val="999999"/>
                </a:solidFill>
                <a:effectLst/>
              </a:rPr>
              <a:t>&lt;</a:t>
            </a:r>
            <a:r>
              <a:rPr lang="en-IN" sz="1800" dirty="0">
                <a:solidFill>
                  <a:srgbClr val="990055"/>
                </a:solidFill>
                <a:effectLst/>
              </a:rPr>
              <a:t>div</a:t>
            </a:r>
            <a:r>
              <a:rPr lang="en-IN" sz="1800" dirty="0">
                <a:solidFill>
                  <a:srgbClr val="008000"/>
                </a:solidFill>
                <a:effectLst/>
              </a:rPr>
              <a:t> ng-app</a:t>
            </a:r>
            <a:r>
              <a:rPr lang="en-IN" sz="1800" dirty="0">
                <a:solidFill>
                  <a:srgbClr val="005CC5"/>
                </a:solidFill>
                <a:effectLst/>
              </a:rPr>
              <a:t>=""</a:t>
            </a:r>
            <a:r>
              <a:rPr lang="en-IN" sz="1800" dirty="0">
                <a:solidFill>
                  <a:srgbClr val="008000"/>
                </a:solidFill>
                <a:effectLst/>
              </a:rPr>
              <a:t> ng-</a:t>
            </a:r>
            <a:r>
              <a:rPr lang="en-IN" sz="1800" dirty="0" err="1">
                <a:solidFill>
                  <a:srgbClr val="008000"/>
                </a:solidFill>
                <a:effectLst/>
              </a:rPr>
              <a:t>init</a:t>
            </a:r>
            <a:r>
              <a:rPr lang="en-IN" sz="1800" dirty="0">
                <a:solidFill>
                  <a:srgbClr val="005CC5"/>
                </a:solidFill>
                <a:effectLst/>
              </a:rPr>
              <a:t>="names=['</a:t>
            </a:r>
            <a:r>
              <a:rPr lang="en-IN" sz="1800" dirty="0" err="1">
                <a:solidFill>
                  <a:srgbClr val="005CC5"/>
                </a:solidFill>
                <a:effectLst/>
              </a:rPr>
              <a:t>Jani','Hege','Kai</a:t>
            </a:r>
            <a:r>
              <a:rPr lang="en-IN" sz="1800" dirty="0">
                <a:solidFill>
                  <a:srgbClr val="005CC5"/>
                </a:solidFill>
                <a:effectLst/>
              </a:rPr>
              <a:t>’]”</a:t>
            </a:r>
            <a:r>
              <a:rPr lang="en-IN" sz="1800" dirty="0">
                <a:solidFill>
                  <a:srgbClr val="999999"/>
                </a:solidFill>
                <a:effectLst/>
              </a:rPr>
              <a:t>&gt;</a:t>
            </a:r>
          </a:p>
          <a:p>
            <a:pPr marL="457200" lvl="1" indent="0" algn="just">
              <a:buNone/>
            </a:pPr>
            <a:r>
              <a:rPr lang="en-IN" sz="1800" dirty="0">
                <a:solidFill>
                  <a:srgbClr val="999999"/>
                </a:solidFill>
                <a:effectLst/>
              </a:rPr>
              <a:t>&lt;</a:t>
            </a:r>
            <a:r>
              <a:rPr lang="en-IN" sz="1800" dirty="0">
                <a:solidFill>
                  <a:srgbClr val="990055"/>
                </a:solidFill>
                <a:effectLst/>
              </a:rPr>
              <a:t>ul</a:t>
            </a:r>
            <a:r>
              <a:rPr lang="en-IN" sz="1800" dirty="0">
                <a:solidFill>
                  <a:srgbClr val="999999"/>
                </a:solidFill>
                <a:effectLst/>
              </a:rPr>
              <a:t>&gt;</a:t>
            </a:r>
          </a:p>
          <a:p>
            <a:pPr marL="457200" lvl="1" indent="0" algn="just">
              <a:buNone/>
            </a:pPr>
            <a:r>
              <a:rPr lang="en-IN" sz="1800" dirty="0">
                <a:solidFill>
                  <a:srgbClr val="999999"/>
                </a:solidFill>
                <a:effectLst/>
              </a:rPr>
              <a:t>	&lt;</a:t>
            </a:r>
            <a:r>
              <a:rPr lang="en-IN" sz="1800" dirty="0">
                <a:solidFill>
                  <a:srgbClr val="990055"/>
                </a:solidFill>
                <a:effectLst/>
              </a:rPr>
              <a:t>li</a:t>
            </a:r>
            <a:r>
              <a:rPr lang="en-IN" sz="1800" dirty="0">
                <a:solidFill>
                  <a:srgbClr val="008000"/>
                </a:solidFill>
                <a:effectLst/>
              </a:rPr>
              <a:t> ng-repeat</a:t>
            </a:r>
            <a:r>
              <a:rPr lang="en-IN" sz="1800" dirty="0">
                <a:solidFill>
                  <a:srgbClr val="005CC5"/>
                </a:solidFill>
                <a:effectLst/>
              </a:rPr>
              <a:t>="x in names"</a:t>
            </a:r>
            <a:r>
              <a:rPr lang="en-IN" sz="1800" dirty="0">
                <a:solidFill>
                  <a:srgbClr val="999999"/>
                </a:solidFill>
                <a:effectLst/>
              </a:rPr>
              <a:t>&gt;</a:t>
            </a:r>
          </a:p>
          <a:p>
            <a:pPr marL="457200" lvl="1" indent="0" algn="just">
              <a:buNone/>
            </a:pPr>
            <a:r>
              <a:rPr lang="en-IN" sz="1800" dirty="0">
                <a:solidFill>
                  <a:srgbClr val="D73A49"/>
                </a:solidFill>
                <a:effectLst/>
              </a:rPr>
              <a:t>		{{ x }}</a:t>
            </a:r>
          </a:p>
          <a:p>
            <a:pPr marL="457200" lvl="1" indent="0" algn="just">
              <a:buNone/>
            </a:pPr>
            <a:r>
              <a:rPr lang="en-IN" sz="1800" dirty="0">
                <a:solidFill>
                  <a:srgbClr val="999999"/>
                </a:solidFill>
                <a:effectLst/>
              </a:rPr>
              <a:t>	&lt;</a:t>
            </a:r>
            <a:r>
              <a:rPr lang="en-IN" sz="1800" dirty="0">
                <a:solidFill>
                  <a:srgbClr val="990055"/>
                </a:solidFill>
                <a:effectLst/>
              </a:rPr>
              <a:t>/li</a:t>
            </a:r>
            <a:r>
              <a:rPr lang="en-IN" sz="1800" dirty="0">
                <a:solidFill>
                  <a:srgbClr val="999999"/>
                </a:solidFill>
                <a:effectLst/>
              </a:rPr>
              <a:t>&gt;</a:t>
            </a:r>
          </a:p>
          <a:p>
            <a:pPr marL="457200" lvl="1" indent="0" algn="just">
              <a:buNone/>
            </a:pPr>
            <a:r>
              <a:rPr lang="en-IN" sz="1800" dirty="0">
                <a:solidFill>
                  <a:srgbClr val="999999"/>
                </a:solidFill>
                <a:effectLst/>
              </a:rPr>
              <a:t>&lt;</a:t>
            </a:r>
            <a:r>
              <a:rPr lang="en-IN" sz="1800" dirty="0">
                <a:solidFill>
                  <a:srgbClr val="990055"/>
                </a:solidFill>
                <a:effectLst/>
              </a:rPr>
              <a:t>/ul</a:t>
            </a:r>
            <a:r>
              <a:rPr lang="en-IN" sz="1800" dirty="0">
                <a:solidFill>
                  <a:srgbClr val="999999"/>
                </a:solidFill>
                <a:effectLst/>
              </a:rPr>
              <a:t>&gt;</a:t>
            </a:r>
          </a:p>
          <a:p>
            <a:pPr marL="457200" lvl="1" indent="0" algn="just">
              <a:buNone/>
            </a:pPr>
            <a:r>
              <a:rPr lang="en-IN" sz="1800" dirty="0">
                <a:solidFill>
                  <a:srgbClr val="999999"/>
                </a:solidFill>
                <a:effectLst/>
              </a:rPr>
              <a:t>&lt;</a:t>
            </a:r>
            <a:r>
              <a:rPr lang="en-IN" sz="1800" dirty="0">
                <a:solidFill>
                  <a:srgbClr val="990055"/>
                </a:solidFill>
                <a:effectLst/>
              </a:rPr>
              <a:t>/div</a:t>
            </a:r>
            <a:r>
              <a:rPr lang="en-IN" sz="1800" dirty="0">
                <a:solidFill>
                  <a:srgbClr val="999999"/>
                </a:solidFill>
                <a:effectLst/>
              </a:rPr>
              <a:t>&gt;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7824530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2C969-D17E-4C19-0065-FEADD0C1CF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5738A2-17F4-DE47-6732-B69875EFD942}"/>
              </a:ext>
            </a:extLst>
          </p:cNvPr>
          <p:cNvSpPr>
            <a:spLocks noGrp="1"/>
          </p:cNvSpPr>
          <p:nvPr>
            <p:ph idx="1"/>
          </p:nvPr>
        </p:nvSpPr>
        <p:spPr>
          <a:xfrm>
            <a:off x="838200" y="254524"/>
            <a:ext cx="10515600" cy="6410227"/>
          </a:xfrm>
        </p:spPr>
        <p:txBody>
          <a:bodyPr/>
          <a:lstStyle/>
          <a:p>
            <a:r>
              <a:rPr lang="en-US" dirty="0"/>
              <a:t>Continued…</a:t>
            </a:r>
          </a:p>
          <a:p>
            <a:r>
              <a:rPr lang="en-US" sz="2400" dirty="0"/>
              <a:t>The </a:t>
            </a:r>
            <a:r>
              <a:rPr lang="en-US" dirty="0"/>
              <a:t>ng-repeat</a:t>
            </a:r>
            <a:r>
              <a:rPr lang="en-US" sz="2400" dirty="0"/>
              <a:t> directive actually </a:t>
            </a:r>
            <a:r>
              <a:rPr lang="en-US" sz="2400" b="1" dirty="0"/>
              <a:t>clones HTML elements</a:t>
            </a:r>
            <a:r>
              <a:rPr lang="en-US" sz="2400" dirty="0"/>
              <a:t> once for each item in a collection.</a:t>
            </a:r>
          </a:p>
          <a:p>
            <a:r>
              <a:rPr lang="en-US" sz="2400" dirty="0"/>
              <a:t>The </a:t>
            </a:r>
            <a:r>
              <a:rPr lang="en-US" dirty="0"/>
              <a:t>ng-repeat</a:t>
            </a:r>
            <a:r>
              <a:rPr lang="en-US" sz="2400" dirty="0"/>
              <a:t> directive used on an array of objects:</a:t>
            </a:r>
          </a:p>
          <a:p>
            <a:pPr>
              <a:buNone/>
            </a:pPr>
            <a:r>
              <a:rPr lang="en-IN" sz="1600" dirty="0">
                <a:solidFill>
                  <a:srgbClr val="999999"/>
                </a:solidFill>
                <a:effectLst/>
              </a:rPr>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ng-app</a:t>
            </a:r>
            <a:r>
              <a:rPr lang="en-IN" sz="2000" dirty="0">
                <a:solidFill>
                  <a:srgbClr val="005CC5"/>
                </a:solidFill>
                <a:effectLst/>
              </a:rPr>
              <a:t>=""</a:t>
            </a:r>
            <a:r>
              <a:rPr lang="en-IN" sz="2000" dirty="0">
                <a:solidFill>
                  <a:srgbClr val="008000"/>
                </a:solidFill>
                <a:effectLst/>
              </a:rPr>
              <a:t> ng-</a:t>
            </a:r>
            <a:r>
              <a:rPr lang="en-IN" sz="2000" dirty="0" err="1">
                <a:solidFill>
                  <a:srgbClr val="008000"/>
                </a:solidFill>
                <a:effectLst/>
              </a:rPr>
              <a:t>init</a:t>
            </a:r>
            <a:r>
              <a:rPr lang="en-IN" sz="2000" dirty="0">
                <a:solidFill>
                  <a:srgbClr val="005CC5"/>
                </a:solidFill>
                <a:effectLst/>
              </a:rPr>
              <a:t>="names=[</a:t>
            </a:r>
            <a:br>
              <a:rPr lang="en-IN" sz="2000" dirty="0">
                <a:solidFill>
                  <a:srgbClr val="005CC5"/>
                </a:solidFill>
                <a:effectLst/>
              </a:rPr>
            </a:br>
            <a:r>
              <a:rPr lang="en-IN" sz="2000" dirty="0">
                <a:solidFill>
                  <a:srgbClr val="005CC5"/>
                </a:solidFill>
                <a:effectLst/>
              </a:rPr>
              <a:t>	{</a:t>
            </a:r>
            <a:r>
              <a:rPr lang="en-IN" sz="2000" dirty="0" err="1">
                <a:solidFill>
                  <a:srgbClr val="005CC5"/>
                </a:solidFill>
                <a:effectLst/>
              </a:rPr>
              <a:t>name:'Jani',country:'Norway</a:t>
            </a:r>
            <a:r>
              <a:rPr lang="en-IN" sz="2000" dirty="0">
                <a:solidFill>
                  <a:srgbClr val="005CC5"/>
                </a:solidFill>
                <a:effectLst/>
              </a:rPr>
              <a:t>’},</a:t>
            </a:r>
            <a:br>
              <a:rPr lang="en-IN" sz="2000" dirty="0">
                <a:solidFill>
                  <a:srgbClr val="005CC5"/>
                </a:solidFill>
                <a:effectLst/>
              </a:rPr>
            </a:br>
            <a:r>
              <a:rPr lang="en-IN" sz="2000" dirty="0">
                <a:solidFill>
                  <a:srgbClr val="005CC5"/>
                </a:solidFill>
                <a:effectLst/>
              </a:rPr>
              <a:t>	{</a:t>
            </a:r>
            <a:r>
              <a:rPr lang="en-IN" sz="2000" dirty="0" err="1">
                <a:solidFill>
                  <a:srgbClr val="005CC5"/>
                </a:solidFill>
                <a:effectLst/>
              </a:rPr>
              <a:t>name:'Hege',country:'Sweden</a:t>
            </a:r>
            <a:r>
              <a:rPr lang="en-IN" sz="2000" dirty="0">
                <a:solidFill>
                  <a:srgbClr val="005CC5"/>
                </a:solidFill>
                <a:effectLst/>
              </a:rPr>
              <a:t>’},</a:t>
            </a:r>
            <a:br>
              <a:rPr lang="en-IN" sz="2000" dirty="0">
                <a:solidFill>
                  <a:srgbClr val="005CC5"/>
                </a:solidFill>
                <a:effectLst/>
              </a:rPr>
            </a:br>
            <a:r>
              <a:rPr lang="en-IN" sz="2000" dirty="0">
                <a:solidFill>
                  <a:srgbClr val="005CC5"/>
                </a:solidFill>
                <a:effectLst/>
              </a:rPr>
              <a:t>	{</a:t>
            </a:r>
            <a:r>
              <a:rPr lang="en-IN" sz="2000" dirty="0" err="1">
                <a:solidFill>
                  <a:srgbClr val="005CC5"/>
                </a:solidFill>
                <a:effectLst/>
              </a:rPr>
              <a:t>name:'Kai',country:'Denmark</a:t>
            </a:r>
            <a:r>
              <a:rPr lang="en-IN" sz="2000" dirty="0">
                <a:solidFill>
                  <a:srgbClr val="005CC5"/>
                </a:solidFill>
                <a:effectLst/>
              </a:rPr>
              <a:t>'}]"</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ul</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li</a:t>
            </a:r>
            <a:r>
              <a:rPr lang="en-IN" sz="2000" dirty="0">
                <a:solidFill>
                  <a:srgbClr val="008000"/>
                </a:solidFill>
                <a:effectLst/>
              </a:rPr>
              <a:t> ng-repeat</a:t>
            </a:r>
            <a:r>
              <a:rPr lang="en-IN" sz="2000" dirty="0">
                <a:solidFill>
                  <a:srgbClr val="005CC5"/>
                </a:solidFill>
                <a:effectLst/>
              </a:rPr>
              <a:t>="x in names"</a:t>
            </a:r>
            <a:r>
              <a:rPr lang="en-IN" sz="2000" dirty="0">
                <a:solidFill>
                  <a:srgbClr val="999999"/>
                </a:solidFill>
                <a:effectLst/>
              </a:rPr>
              <a:t>&gt;</a:t>
            </a:r>
            <a:br>
              <a:rPr lang="en-IN" sz="2000" dirty="0"/>
            </a:br>
            <a:r>
              <a:rPr lang="en-IN" sz="2000" dirty="0"/>
              <a:t>    		</a:t>
            </a:r>
            <a:r>
              <a:rPr lang="en-IN" sz="2000" dirty="0">
                <a:solidFill>
                  <a:srgbClr val="D73A49"/>
                </a:solidFill>
                <a:effectLst/>
              </a:rPr>
              <a:t>{{ x.name + ', ' + </a:t>
            </a:r>
            <a:r>
              <a:rPr lang="en-IN" sz="2000" dirty="0" err="1">
                <a:solidFill>
                  <a:srgbClr val="D73A49"/>
                </a:solidFill>
                <a:effectLst/>
              </a:rPr>
              <a:t>x.country</a:t>
            </a:r>
            <a:r>
              <a:rPr lang="en-IN" sz="2000" dirty="0">
                <a:solidFill>
                  <a:srgbClr val="D73A49"/>
                </a:solidFill>
                <a:effectLst/>
              </a:rPr>
              <a:t> }}</a:t>
            </a:r>
            <a:br>
              <a:rPr lang="en-IN" sz="2000" dirty="0"/>
            </a:br>
            <a:r>
              <a:rPr lang="en-IN" sz="2000" dirty="0"/>
              <a:t>  		</a:t>
            </a:r>
            <a:r>
              <a:rPr lang="en-IN" sz="2000" dirty="0">
                <a:solidFill>
                  <a:srgbClr val="999999"/>
                </a:solidFill>
                <a:effectLst/>
              </a:rPr>
              <a:t>&lt;</a:t>
            </a:r>
            <a:r>
              <a:rPr lang="en-IN" sz="2000" dirty="0">
                <a:solidFill>
                  <a:srgbClr val="990055"/>
                </a:solidFill>
                <a:effectLst/>
              </a:rPr>
              <a:t>/li</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/ul</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3278612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9682B-08B2-475C-9B47-84A83A66EF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6C8DAB-3686-078C-2647-50DF9E24E424}"/>
              </a:ext>
            </a:extLst>
          </p:cNvPr>
          <p:cNvSpPr>
            <a:spLocks noGrp="1"/>
          </p:cNvSpPr>
          <p:nvPr>
            <p:ph idx="1"/>
          </p:nvPr>
        </p:nvSpPr>
        <p:spPr>
          <a:xfrm>
            <a:off x="838200" y="254524"/>
            <a:ext cx="10515600" cy="6410227"/>
          </a:xfrm>
        </p:spPr>
        <p:txBody>
          <a:bodyPr>
            <a:normAutofit/>
          </a:bodyPr>
          <a:lstStyle/>
          <a:p>
            <a:r>
              <a:rPr lang="en-US" dirty="0"/>
              <a:t>Continued…</a:t>
            </a:r>
          </a:p>
          <a:p>
            <a:r>
              <a:rPr lang="en-US" sz="2400" b="1" dirty="0"/>
              <a:t>The </a:t>
            </a:r>
            <a:r>
              <a:rPr lang="en-US" sz="2400" b="1" dirty="0">
                <a:solidFill>
                  <a:srgbClr val="FF3399"/>
                </a:solidFill>
              </a:rPr>
              <a:t>ng-app</a:t>
            </a:r>
            <a:r>
              <a:rPr lang="en-US" sz="2400" b="1" dirty="0"/>
              <a:t> Directive</a:t>
            </a:r>
          </a:p>
          <a:p>
            <a:pPr lvl="1"/>
            <a:r>
              <a:rPr lang="en-US" sz="2000" dirty="0"/>
              <a:t>The </a:t>
            </a:r>
            <a:r>
              <a:rPr lang="en-US" dirty="0"/>
              <a:t>ng-app</a:t>
            </a:r>
            <a:r>
              <a:rPr lang="en-US" sz="2000" dirty="0"/>
              <a:t> directive defines the </a:t>
            </a:r>
            <a:r>
              <a:rPr lang="en-US" sz="2000" b="1" dirty="0"/>
              <a:t>root element</a:t>
            </a:r>
            <a:r>
              <a:rPr lang="en-US" sz="2000" dirty="0"/>
              <a:t> of an AngularJS application.</a:t>
            </a:r>
          </a:p>
          <a:p>
            <a:pPr lvl="1"/>
            <a:r>
              <a:rPr lang="en-US" sz="2000" dirty="0"/>
              <a:t>The </a:t>
            </a:r>
            <a:r>
              <a:rPr lang="en-US" dirty="0"/>
              <a:t>ng-app</a:t>
            </a:r>
            <a:r>
              <a:rPr lang="en-US" sz="2000" dirty="0"/>
              <a:t> directive will </a:t>
            </a:r>
            <a:r>
              <a:rPr lang="en-US" sz="2000" b="1" dirty="0"/>
              <a:t>auto-bootstrap</a:t>
            </a:r>
            <a:r>
              <a:rPr lang="en-US" sz="2000" dirty="0"/>
              <a:t> (automatically initialize) the application when a web page is loaded.</a:t>
            </a:r>
          </a:p>
          <a:p>
            <a:r>
              <a:rPr lang="en-US" sz="2400" b="1" dirty="0"/>
              <a:t>The </a:t>
            </a:r>
            <a:r>
              <a:rPr lang="en-US" sz="2400" b="1" dirty="0">
                <a:solidFill>
                  <a:srgbClr val="FF3399"/>
                </a:solidFill>
              </a:rPr>
              <a:t>ng-</a:t>
            </a:r>
            <a:r>
              <a:rPr lang="en-US" sz="2400" b="1" dirty="0" err="1">
                <a:solidFill>
                  <a:srgbClr val="FF3399"/>
                </a:solidFill>
              </a:rPr>
              <a:t>init</a:t>
            </a:r>
            <a:r>
              <a:rPr lang="en-US" sz="2400" b="1" dirty="0"/>
              <a:t> Directive</a:t>
            </a:r>
          </a:p>
          <a:p>
            <a:pPr lvl="1"/>
            <a:r>
              <a:rPr lang="en-US" sz="2000" dirty="0"/>
              <a:t>The </a:t>
            </a:r>
            <a:r>
              <a:rPr lang="en-US" dirty="0"/>
              <a:t>ng-</a:t>
            </a:r>
            <a:r>
              <a:rPr lang="en-US" dirty="0" err="1"/>
              <a:t>init</a:t>
            </a:r>
            <a:r>
              <a:rPr lang="en-US" sz="2000" dirty="0"/>
              <a:t> directive defines </a:t>
            </a:r>
            <a:r>
              <a:rPr lang="en-US" sz="2000" b="1" dirty="0"/>
              <a:t>initial values</a:t>
            </a:r>
            <a:r>
              <a:rPr lang="en-US" sz="2000" dirty="0"/>
              <a:t> for an AngularJS application.</a:t>
            </a:r>
          </a:p>
          <a:p>
            <a:pPr lvl="1"/>
            <a:r>
              <a:rPr lang="en-US" sz="2000" dirty="0"/>
              <a:t>Normally, you will not use ng-</a:t>
            </a:r>
            <a:r>
              <a:rPr lang="en-US" sz="2000" dirty="0" err="1"/>
              <a:t>init.</a:t>
            </a:r>
            <a:endParaRPr lang="en-US" sz="2000" dirty="0"/>
          </a:p>
          <a:p>
            <a:pPr lvl="1"/>
            <a:r>
              <a:rPr lang="en-US" sz="2000" dirty="0"/>
              <a:t>You will use a controller or module instead.</a:t>
            </a:r>
          </a:p>
          <a:p>
            <a:r>
              <a:rPr lang="en-US" sz="2400" b="1" dirty="0"/>
              <a:t>The </a:t>
            </a:r>
            <a:r>
              <a:rPr lang="en-US" sz="2400" b="1" dirty="0">
                <a:solidFill>
                  <a:srgbClr val="FF3399"/>
                </a:solidFill>
              </a:rPr>
              <a:t>ng-model</a:t>
            </a:r>
            <a:r>
              <a:rPr lang="en-US" sz="2400" b="1" dirty="0"/>
              <a:t> Directive</a:t>
            </a:r>
          </a:p>
          <a:p>
            <a:pPr lvl="1"/>
            <a:r>
              <a:rPr lang="en-US" sz="2000" dirty="0"/>
              <a:t>The </a:t>
            </a:r>
            <a:r>
              <a:rPr lang="en-US" dirty="0"/>
              <a:t>ng-model</a:t>
            </a:r>
            <a:r>
              <a:rPr lang="en-US" sz="2000" dirty="0"/>
              <a:t> directive binds the value of HTML controls (input, select, </a:t>
            </a:r>
            <a:r>
              <a:rPr lang="en-US" sz="2000" dirty="0" err="1"/>
              <a:t>textarea</a:t>
            </a:r>
            <a:r>
              <a:rPr lang="en-US" sz="2000" dirty="0"/>
              <a:t>) to application data.</a:t>
            </a:r>
          </a:p>
          <a:p>
            <a:pPr lvl="2"/>
            <a:r>
              <a:rPr lang="en-US" sz="1600" dirty="0"/>
              <a:t>The </a:t>
            </a:r>
            <a:r>
              <a:rPr lang="en-US" dirty="0"/>
              <a:t>ng-model</a:t>
            </a:r>
            <a:r>
              <a:rPr lang="en-US" sz="1600" dirty="0"/>
              <a:t> directive can also:</a:t>
            </a:r>
          </a:p>
          <a:p>
            <a:pPr lvl="2"/>
            <a:r>
              <a:rPr lang="en-US" sz="1600" dirty="0"/>
              <a:t>Provide type validation for application data (number, email, required).</a:t>
            </a:r>
          </a:p>
          <a:p>
            <a:pPr lvl="2"/>
            <a:r>
              <a:rPr lang="en-US" sz="1600" dirty="0"/>
              <a:t>Provide status for application data (invalid, dirty, touched, error).</a:t>
            </a:r>
          </a:p>
          <a:p>
            <a:pPr lvl="2"/>
            <a:r>
              <a:rPr lang="en-US" sz="1600" dirty="0"/>
              <a:t>Provide CSS classes for HTML elements.</a:t>
            </a:r>
          </a:p>
          <a:p>
            <a:pPr lvl="2"/>
            <a:r>
              <a:rPr lang="en-US" sz="1600" dirty="0"/>
              <a:t>Bind HTML elements to HTML forms.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4455803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3B491-9C8E-0771-B3D0-31CD393F36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C5F4CE-0CF6-2796-5B73-A5F743B67516}"/>
              </a:ext>
            </a:extLst>
          </p:cNvPr>
          <p:cNvSpPr>
            <a:spLocks noGrp="1"/>
          </p:cNvSpPr>
          <p:nvPr>
            <p:ph idx="1"/>
          </p:nvPr>
        </p:nvSpPr>
        <p:spPr>
          <a:xfrm>
            <a:off x="838200" y="254524"/>
            <a:ext cx="10515600" cy="6410227"/>
          </a:xfrm>
        </p:spPr>
        <p:txBody>
          <a:bodyPr/>
          <a:lstStyle/>
          <a:p>
            <a:r>
              <a:rPr lang="en-US" dirty="0"/>
              <a:t>Continued…</a:t>
            </a:r>
          </a:p>
          <a:p>
            <a:pPr algn="just"/>
            <a:r>
              <a:rPr lang="en-IN" sz="2400" b="1" dirty="0"/>
              <a:t>Create New Directives</a:t>
            </a:r>
          </a:p>
          <a:p>
            <a:pPr lvl="1"/>
            <a:r>
              <a:rPr lang="en-US" sz="2000" dirty="0"/>
              <a:t>In addition to all the built-in AngularJS directives, you can create your own directives.</a:t>
            </a:r>
          </a:p>
          <a:p>
            <a:pPr lvl="1"/>
            <a:r>
              <a:rPr lang="en-US" sz="2000" dirty="0"/>
              <a:t>New directives are created by using the </a:t>
            </a:r>
            <a:r>
              <a:rPr lang="en-US" dirty="0"/>
              <a:t>.</a:t>
            </a:r>
            <a:r>
              <a:rPr lang="en-US" dirty="0">
                <a:solidFill>
                  <a:srgbClr val="FF3399"/>
                </a:solidFill>
              </a:rPr>
              <a:t>directive</a:t>
            </a:r>
            <a:r>
              <a:rPr lang="en-US" sz="2000" dirty="0"/>
              <a:t> function.</a:t>
            </a:r>
          </a:p>
          <a:p>
            <a:pPr lvl="1"/>
            <a:r>
              <a:rPr lang="en-US" sz="2000" dirty="0"/>
              <a:t>To invoke the new directive, make an HTML element with the same tag name as the new directive.</a:t>
            </a:r>
          </a:p>
          <a:p>
            <a:pPr lvl="1"/>
            <a:r>
              <a:rPr lang="en-US" sz="2000" dirty="0"/>
              <a:t>When naming a directive, you must use a camel case name, </a:t>
            </a:r>
            <a:r>
              <a:rPr lang="en-US" dirty="0">
                <a:solidFill>
                  <a:srgbClr val="FF3399"/>
                </a:solidFill>
              </a:rPr>
              <a:t>w3TestDirective</a:t>
            </a:r>
            <a:r>
              <a:rPr lang="en-US" sz="2000" dirty="0"/>
              <a:t>, but when invoking it, you must use </a:t>
            </a:r>
            <a:r>
              <a:rPr lang="en-US" dirty="0">
                <a:solidFill>
                  <a:srgbClr val="FF3399"/>
                </a:solidFill>
              </a:rPr>
              <a:t>-</a:t>
            </a:r>
            <a:r>
              <a:rPr lang="en-US" sz="2000" dirty="0"/>
              <a:t> separated name, </a:t>
            </a:r>
            <a:r>
              <a:rPr lang="en-US" dirty="0">
                <a:solidFill>
                  <a:srgbClr val="FF3399"/>
                </a:solidFill>
              </a:rPr>
              <a:t>w3-test-directive</a:t>
            </a:r>
            <a:r>
              <a:rPr lang="en-US" sz="2000" dirty="0"/>
              <a:t>:</a:t>
            </a:r>
          </a:p>
          <a:p>
            <a:pPr>
              <a:buNone/>
            </a:pPr>
            <a:r>
              <a:rPr lang="en-IN" sz="1600" dirty="0">
                <a:solidFill>
                  <a:srgbClr val="999999"/>
                </a:solidFill>
                <a:effectLst/>
              </a:rPr>
              <a:t>	</a:t>
            </a:r>
          </a:p>
          <a:p>
            <a:pPr>
              <a:buNone/>
            </a:pPr>
            <a:r>
              <a:rPr lang="en-IN" sz="1600" dirty="0">
                <a:solidFill>
                  <a:srgbClr val="999999"/>
                </a:solidFill>
              </a:rPr>
              <a:t>	</a:t>
            </a:r>
            <a:r>
              <a:rPr lang="en-IN" sz="1600" dirty="0">
                <a:solidFill>
                  <a:srgbClr val="999999"/>
                </a:solidFill>
                <a:effectLst/>
              </a:rPr>
              <a:t>&lt;</a:t>
            </a:r>
            <a:r>
              <a:rPr lang="en-IN" sz="1600" dirty="0">
                <a:solidFill>
                  <a:srgbClr val="990055"/>
                </a:solidFill>
                <a:effectLst/>
              </a:rPr>
              <a:t>body</a:t>
            </a:r>
            <a:r>
              <a:rPr lang="en-IN" sz="1600" dirty="0">
                <a:solidFill>
                  <a:srgbClr val="008000"/>
                </a:solidFill>
                <a:effectLst/>
              </a:rPr>
              <a:t> ng-app</a:t>
            </a:r>
            <a:r>
              <a:rPr lang="en-IN" sz="1600" dirty="0">
                <a:solidFill>
                  <a:srgbClr val="005CC5"/>
                </a:solidFill>
                <a:effectLst/>
              </a:rPr>
              <a:t>="</a:t>
            </a:r>
            <a:r>
              <a:rPr lang="en-IN" sz="1600" dirty="0" err="1">
                <a:solidFill>
                  <a:srgbClr val="005CC5"/>
                </a:solidFill>
                <a:effectLst/>
              </a:rPr>
              <a:t>myApp</a:t>
            </a:r>
            <a:r>
              <a:rPr lang="en-IN" sz="1600" dirty="0">
                <a:solidFill>
                  <a:srgbClr val="005CC5"/>
                </a:solidFill>
                <a:effectLst/>
              </a:rPr>
              <a:t>"</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w3-test-directive</a:t>
            </a:r>
            <a:r>
              <a:rPr lang="en-IN" sz="1600" dirty="0">
                <a:solidFill>
                  <a:srgbClr val="999999"/>
                </a:solidFill>
                <a:effectLst/>
              </a:rPr>
              <a:t>&gt;&lt;</a:t>
            </a:r>
            <a:r>
              <a:rPr lang="en-IN" sz="1600" dirty="0">
                <a:solidFill>
                  <a:srgbClr val="990055"/>
                </a:solidFill>
                <a:effectLst/>
              </a:rPr>
              <a:t>/w3-test-directive</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script</a:t>
            </a:r>
            <a:r>
              <a:rPr lang="en-IN" sz="1600" dirty="0">
                <a:solidFill>
                  <a:srgbClr val="999999"/>
                </a:solidFill>
                <a:effectLst/>
              </a:rPr>
              <a:t>&gt;</a:t>
            </a:r>
            <a:br>
              <a:rPr lang="en-IN" sz="1600" dirty="0">
                <a:solidFill>
                  <a:srgbClr val="000000"/>
                </a:solidFill>
                <a:effectLst/>
              </a:rPr>
            </a:br>
            <a:r>
              <a:rPr lang="en-IN" sz="1600" dirty="0">
                <a:solidFill>
                  <a:srgbClr val="005CC5"/>
                </a:solidFill>
                <a:effectLst/>
              </a:rPr>
              <a:t>var</a:t>
            </a:r>
            <a:r>
              <a:rPr lang="en-IN" sz="1600" dirty="0">
                <a:solidFill>
                  <a:srgbClr val="000000"/>
                </a:solidFill>
                <a:effectLst/>
              </a:rPr>
              <a:t> app = </a:t>
            </a:r>
            <a:r>
              <a:rPr lang="en-IN" sz="1600" dirty="0" err="1">
                <a:solidFill>
                  <a:srgbClr val="000000"/>
                </a:solidFill>
                <a:effectLst/>
              </a:rPr>
              <a:t>angular.module</a:t>
            </a:r>
            <a:r>
              <a:rPr lang="en-IN" sz="1600" dirty="0">
                <a:solidFill>
                  <a:srgbClr val="000000"/>
                </a:solidFill>
                <a:effectLst/>
              </a:rPr>
              <a:t>(</a:t>
            </a:r>
            <a:r>
              <a:rPr lang="en-IN" sz="1600" dirty="0">
                <a:solidFill>
                  <a:srgbClr val="008000"/>
                </a:solidFill>
                <a:effectLst/>
              </a:rPr>
              <a:t>"</a:t>
            </a:r>
            <a:r>
              <a:rPr lang="en-IN" sz="1600" dirty="0" err="1">
                <a:solidFill>
                  <a:srgbClr val="008000"/>
                </a:solidFill>
                <a:effectLst/>
              </a:rPr>
              <a:t>myApp</a:t>
            </a:r>
            <a:r>
              <a:rPr lang="en-IN" sz="1600" dirty="0">
                <a:solidFill>
                  <a:srgbClr val="008000"/>
                </a:solidFill>
                <a:effectLst/>
              </a:rPr>
              <a:t>"</a:t>
            </a:r>
            <a:r>
              <a:rPr lang="en-IN" sz="1600" dirty="0">
                <a:solidFill>
                  <a:srgbClr val="000000"/>
                </a:solidFill>
                <a:effectLst/>
              </a:rPr>
              <a:t>, []);</a:t>
            </a:r>
            <a:br>
              <a:rPr lang="en-IN" sz="1600" dirty="0">
                <a:solidFill>
                  <a:srgbClr val="000000"/>
                </a:solidFill>
                <a:effectLst/>
              </a:rPr>
            </a:br>
            <a:r>
              <a:rPr lang="en-IN" sz="1600" dirty="0" err="1">
                <a:solidFill>
                  <a:srgbClr val="000000"/>
                </a:solidFill>
                <a:effectLst/>
              </a:rPr>
              <a:t>app.directive</a:t>
            </a:r>
            <a:r>
              <a:rPr lang="en-IN" sz="1600" dirty="0">
                <a:solidFill>
                  <a:srgbClr val="000000"/>
                </a:solidFill>
                <a:effectLst/>
              </a:rPr>
              <a:t>(</a:t>
            </a:r>
            <a:r>
              <a:rPr lang="en-IN" sz="1600" dirty="0">
                <a:solidFill>
                  <a:srgbClr val="008000"/>
                </a:solidFill>
                <a:effectLst/>
              </a:rPr>
              <a:t>"w3TestDirective"</a:t>
            </a:r>
            <a:r>
              <a:rPr lang="en-IN" sz="1600" dirty="0">
                <a:solidFill>
                  <a:srgbClr val="000000"/>
                </a:solidFill>
                <a:effectLst/>
              </a:rPr>
              <a:t>, </a:t>
            </a:r>
            <a:r>
              <a:rPr lang="en-IN" sz="1600" dirty="0">
                <a:solidFill>
                  <a:srgbClr val="005CC5"/>
                </a:solidFill>
                <a:effectLst/>
              </a:rPr>
              <a:t>function</a:t>
            </a:r>
            <a:r>
              <a:rPr lang="en-IN" sz="1600" dirty="0">
                <a:solidFill>
                  <a:srgbClr val="000000"/>
                </a:solidFill>
                <a:effectLst/>
              </a:rPr>
              <a:t>() {</a:t>
            </a:r>
            <a:br>
              <a:rPr lang="en-IN" sz="1600" dirty="0">
                <a:solidFill>
                  <a:srgbClr val="000000"/>
                </a:solidFill>
                <a:effectLst/>
              </a:rPr>
            </a:br>
            <a:r>
              <a:rPr lang="en-IN" sz="1600" dirty="0">
                <a:solidFill>
                  <a:srgbClr val="000000"/>
                </a:solidFill>
                <a:effectLst/>
              </a:rPr>
              <a:t>  </a:t>
            </a:r>
            <a:r>
              <a:rPr lang="en-IN" sz="1600" dirty="0">
                <a:solidFill>
                  <a:srgbClr val="005CC5"/>
                </a:solidFill>
                <a:effectLst/>
              </a:rPr>
              <a:t>return</a:t>
            </a:r>
            <a:r>
              <a:rPr lang="en-IN" sz="1600" dirty="0">
                <a:solidFill>
                  <a:srgbClr val="000000"/>
                </a:solidFill>
                <a:effectLst/>
              </a:rPr>
              <a:t> {</a:t>
            </a:r>
            <a:br>
              <a:rPr lang="en-IN" sz="1600" dirty="0">
                <a:solidFill>
                  <a:srgbClr val="000000"/>
                </a:solidFill>
                <a:effectLst/>
              </a:rPr>
            </a:br>
            <a:r>
              <a:rPr lang="en-IN" sz="1600" dirty="0">
                <a:solidFill>
                  <a:srgbClr val="000000"/>
                </a:solidFill>
                <a:effectLst/>
              </a:rPr>
              <a:t>    template : </a:t>
            </a:r>
            <a:r>
              <a:rPr lang="en-IN" sz="1600" dirty="0">
                <a:solidFill>
                  <a:srgbClr val="008000"/>
                </a:solidFill>
                <a:effectLst/>
              </a:rPr>
              <a:t>"&lt;h1&gt;Made by a directive!&lt;/h1&gt;"</a:t>
            </a:r>
            <a:br>
              <a:rPr lang="en-IN" sz="1600" dirty="0">
                <a:solidFill>
                  <a:srgbClr val="000000"/>
                </a:solidFill>
                <a:effectLst/>
              </a:rPr>
            </a:br>
            <a:r>
              <a:rPr lang="en-IN" sz="1600" dirty="0">
                <a:solidFill>
                  <a:srgbClr val="000000"/>
                </a:solidFill>
                <a:effectLst/>
              </a:rPr>
              <a:t>  };</a:t>
            </a:r>
            <a:br>
              <a:rPr lang="en-IN" sz="1600" dirty="0">
                <a:solidFill>
                  <a:srgbClr val="000000"/>
                </a:solidFill>
                <a:effectLst/>
              </a:rPr>
            </a:br>
            <a:r>
              <a:rPr lang="en-IN" sz="1600" dirty="0">
                <a:solidFill>
                  <a:srgbClr val="000000"/>
                </a:solidFill>
                <a:effectLst/>
              </a:rPr>
              <a:t>});</a:t>
            </a:r>
            <a:br>
              <a:rPr lang="en-IN" sz="1600" dirty="0">
                <a:solidFill>
                  <a:srgbClr val="000000"/>
                </a:solidFill>
                <a:effectLst/>
              </a:rPr>
            </a:br>
            <a:r>
              <a:rPr lang="en-IN" sz="1600" dirty="0">
                <a:solidFill>
                  <a:srgbClr val="999999"/>
                </a:solidFill>
                <a:effectLst/>
              </a:rPr>
              <a:t>&lt;</a:t>
            </a:r>
            <a:r>
              <a:rPr lang="en-IN" sz="1600" dirty="0">
                <a:solidFill>
                  <a:srgbClr val="990055"/>
                </a:solidFill>
                <a:effectLst/>
              </a:rPr>
              <a:t>/script</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r>
              <a:rPr lang="en-IN" sz="1600" dirty="0"/>
              <a:t> </a:t>
            </a: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7164022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8E25F-C1D5-1FD9-5CDA-BF8135A863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6D567E-6ED5-A509-BA1B-517F19D3A32C}"/>
              </a:ext>
            </a:extLst>
          </p:cNvPr>
          <p:cNvSpPr>
            <a:spLocks noGrp="1"/>
          </p:cNvSpPr>
          <p:nvPr>
            <p:ph idx="1"/>
          </p:nvPr>
        </p:nvSpPr>
        <p:spPr>
          <a:xfrm>
            <a:off x="838200" y="254524"/>
            <a:ext cx="10515600" cy="6410227"/>
          </a:xfrm>
        </p:spPr>
        <p:txBody>
          <a:bodyPr/>
          <a:lstStyle/>
          <a:p>
            <a:r>
              <a:rPr lang="en-IN" b="1" dirty="0"/>
              <a:t>AngularJS Controllers</a:t>
            </a:r>
            <a:endParaRPr lang="en-US" dirty="0"/>
          </a:p>
          <a:p>
            <a:r>
              <a:rPr lang="en-US" dirty="0"/>
              <a:t>AngularJS controllers </a:t>
            </a:r>
            <a:r>
              <a:rPr lang="en-US" b="1" dirty="0"/>
              <a:t>control the data</a:t>
            </a:r>
            <a:r>
              <a:rPr lang="en-US" dirty="0"/>
              <a:t> of AngularJS applications.</a:t>
            </a:r>
          </a:p>
          <a:p>
            <a:r>
              <a:rPr lang="en-US" dirty="0"/>
              <a:t>AngularJS controllers are regular </a:t>
            </a:r>
            <a:r>
              <a:rPr lang="en-US" b="1" dirty="0"/>
              <a:t>JavaScript Objects</a:t>
            </a:r>
            <a:r>
              <a:rPr lang="en-US" dirty="0"/>
              <a:t>.</a:t>
            </a:r>
          </a:p>
          <a:p>
            <a:r>
              <a:rPr lang="en-US" dirty="0"/>
              <a:t>AngularJS applications are controlled by controllers.</a:t>
            </a:r>
          </a:p>
          <a:p>
            <a:r>
              <a:rPr lang="en-US" dirty="0"/>
              <a:t>The </a:t>
            </a:r>
            <a:r>
              <a:rPr lang="en-US" b="1" dirty="0"/>
              <a:t>ng-controller</a:t>
            </a:r>
            <a:r>
              <a:rPr lang="en-US" dirty="0"/>
              <a:t> directive defines the application controller.</a:t>
            </a:r>
          </a:p>
          <a:p>
            <a:r>
              <a:rPr lang="en-US" dirty="0"/>
              <a:t>A controller is a </a:t>
            </a:r>
            <a:r>
              <a:rPr lang="en-US" b="1" dirty="0"/>
              <a:t>JavaScript Object</a:t>
            </a:r>
            <a:r>
              <a:rPr lang="en-US" dirty="0"/>
              <a:t>, created by a standard JavaScript </a:t>
            </a:r>
            <a:r>
              <a:rPr lang="en-US" b="1" dirty="0"/>
              <a:t>object constructor</a:t>
            </a:r>
            <a:r>
              <a:rPr lang="en-US"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4522289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B0477-499B-892D-E663-BE2848F110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D3C49E-AD37-7C9B-928F-8CDD31724EC9}"/>
              </a:ext>
            </a:extLst>
          </p:cNvPr>
          <p:cNvSpPr>
            <a:spLocks noGrp="1"/>
          </p:cNvSpPr>
          <p:nvPr>
            <p:ph idx="1"/>
          </p:nvPr>
        </p:nvSpPr>
        <p:spPr>
          <a:xfrm>
            <a:off x="838200" y="254524"/>
            <a:ext cx="10515600" cy="6410227"/>
          </a:xfrm>
        </p:spPr>
        <p:txBody>
          <a:bodyPr>
            <a:normAutofit fontScale="92500" lnSpcReduction="10000"/>
          </a:bodyPr>
          <a:lstStyle/>
          <a:p>
            <a:r>
              <a:rPr lang="en-US" dirty="0"/>
              <a:t>Continued…</a:t>
            </a:r>
          </a:p>
          <a:p>
            <a:pPr>
              <a:buNone/>
            </a:pPr>
            <a:r>
              <a:rPr lang="en-IN" sz="1600" dirty="0">
                <a:solidFill>
                  <a:srgbClr val="999999"/>
                </a:solidFill>
                <a:effectLst/>
              </a:rPr>
              <a:t>	</a:t>
            </a:r>
            <a:r>
              <a:rPr lang="en-IN" sz="1900" dirty="0">
                <a:solidFill>
                  <a:srgbClr val="999999"/>
                </a:solidFill>
                <a:effectLst/>
              </a:rPr>
              <a:t>&lt;</a:t>
            </a:r>
            <a:r>
              <a:rPr lang="en-IN" sz="1900" dirty="0">
                <a:solidFill>
                  <a:srgbClr val="990055"/>
                </a:solidFill>
                <a:effectLst/>
              </a:rPr>
              <a:t>div</a:t>
            </a:r>
            <a:r>
              <a:rPr lang="en-IN" sz="1900" dirty="0">
                <a:solidFill>
                  <a:srgbClr val="008000"/>
                </a:solidFill>
                <a:effectLst/>
              </a:rPr>
              <a:t> ng-app</a:t>
            </a:r>
            <a:r>
              <a:rPr lang="en-IN" sz="1900" dirty="0">
                <a:solidFill>
                  <a:srgbClr val="005CC5"/>
                </a:solidFill>
                <a:effectLst/>
              </a:rPr>
              <a:t>="</a:t>
            </a:r>
            <a:r>
              <a:rPr lang="en-IN" sz="1900" dirty="0" err="1">
                <a:solidFill>
                  <a:srgbClr val="005CC5"/>
                </a:solidFill>
                <a:effectLst/>
              </a:rPr>
              <a:t>myApp</a:t>
            </a:r>
            <a:r>
              <a:rPr lang="en-IN" sz="1900" dirty="0">
                <a:solidFill>
                  <a:srgbClr val="005CC5"/>
                </a:solidFill>
                <a:effectLst/>
              </a:rPr>
              <a:t>"</a:t>
            </a:r>
            <a:r>
              <a:rPr lang="en-IN" sz="1900" dirty="0">
                <a:solidFill>
                  <a:srgbClr val="008000"/>
                </a:solidFill>
                <a:effectLst/>
              </a:rPr>
              <a:t> ng-controller</a:t>
            </a:r>
            <a:r>
              <a:rPr lang="en-IN" sz="1900" dirty="0">
                <a:solidFill>
                  <a:srgbClr val="005CC5"/>
                </a:solidFill>
                <a:effectLst/>
              </a:rPr>
              <a:t>="</a:t>
            </a:r>
            <a:r>
              <a:rPr lang="en-IN" sz="1900" dirty="0" err="1">
                <a:solidFill>
                  <a:srgbClr val="005CC5"/>
                </a:solidFill>
                <a:effectLst/>
              </a:rPr>
              <a:t>myCtrl</a:t>
            </a:r>
            <a:r>
              <a:rPr lang="en-IN" sz="1900" dirty="0">
                <a:solidFill>
                  <a:srgbClr val="005CC5"/>
                </a:solidFill>
                <a:effectLst/>
              </a:rPr>
              <a:t>"</a:t>
            </a:r>
            <a:r>
              <a:rPr lang="en-IN" sz="1900" dirty="0">
                <a:solidFill>
                  <a:srgbClr val="999999"/>
                </a:solidFill>
                <a:effectLst/>
              </a:rPr>
              <a:t>&gt;</a:t>
            </a:r>
            <a:br>
              <a:rPr lang="en-IN" sz="1900" dirty="0"/>
            </a:br>
            <a:r>
              <a:rPr lang="en-IN" sz="1900" dirty="0"/>
              <a:t>First Name: </a:t>
            </a:r>
            <a:r>
              <a:rPr lang="en-IN" sz="1900" dirty="0">
                <a:solidFill>
                  <a:srgbClr val="999999"/>
                </a:solidFill>
                <a:effectLst/>
              </a:rPr>
              <a:t>&lt;</a:t>
            </a:r>
            <a:r>
              <a:rPr lang="en-IN" sz="1900" dirty="0">
                <a:solidFill>
                  <a:srgbClr val="990055"/>
                </a:solidFill>
                <a:effectLst/>
              </a:rPr>
              <a:t>input</a:t>
            </a:r>
            <a:r>
              <a:rPr lang="en-IN" sz="1900" dirty="0">
                <a:solidFill>
                  <a:srgbClr val="008000"/>
                </a:solidFill>
                <a:effectLst/>
              </a:rPr>
              <a:t> type</a:t>
            </a:r>
            <a:r>
              <a:rPr lang="en-IN" sz="1900" dirty="0">
                <a:solidFill>
                  <a:srgbClr val="005CC5"/>
                </a:solidFill>
                <a:effectLst/>
              </a:rPr>
              <a:t>="text"</a:t>
            </a:r>
            <a:r>
              <a:rPr lang="en-IN" sz="1900" dirty="0">
                <a:solidFill>
                  <a:srgbClr val="008000"/>
                </a:solidFill>
                <a:effectLst/>
              </a:rPr>
              <a:t> ng-model</a:t>
            </a:r>
            <a:r>
              <a:rPr lang="en-IN" sz="1900" dirty="0">
                <a:solidFill>
                  <a:srgbClr val="005CC5"/>
                </a:solidFill>
                <a:effectLst/>
              </a:rPr>
              <a:t>="</a:t>
            </a:r>
            <a:r>
              <a:rPr lang="en-IN" sz="1900" dirty="0" err="1">
                <a:solidFill>
                  <a:srgbClr val="005CC5"/>
                </a:solidFill>
                <a:effectLst/>
              </a:rPr>
              <a:t>firstName</a:t>
            </a:r>
            <a:r>
              <a:rPr lang="en-IN" sz="1900" dirty="0">
                <a:solidFill>
                  <a:srgbClr val="005CC5"/>
                </a:solidFill>
                <a:effectLst/>
              </a:rPr>
              <a:t>"</a:t>
            </a:r>
            <a:r>
              <a:rPr lang="en-IN" sz="1900" dirty="0">
                <a:solidFill>
                  <a:srgbClr val="999999"/>
                </a:solidFill>
                <a:effectLst/>
              </a:rPr>
              <a:t>&gt;&lt;</a:t>
            </a:r>
            <a:r>
              <a:rPr lang="en-IN" sz="1900" dirty="0" err="1">
                <a:solidFill>
                  <a:srgbClr val="990055"/>
                </a:solidFill>
                <a:effectLst/>
              </a:rPr>
              <a:t>br</a:t>
            </a:r>
            <a:r>
              <a:rPr lang="en-IN" sz="1900" dirty="0">
                <a:solidFill>
                  <a:srgbClr val="999999"/>
                </a:solidFill>
                <a:effectLst/>
              </a:rPr>
              <a:t>&gt;</a:t>
            </a:r>
            <a:br>
              <a:rPr lang="en-IN" sz="1900" dirty="0"/>
            </a:br>
            <a:r>
              <a:rPr lang="en-IN" sz="1900" dirty="0"/>
              <a:t>Last Name: </a:t>
            </a:r>
            <a:r>
              <a:rPr lang="en-IN" sz="1900" dirty="0">
                <a:solidFill>
                  <a:srgbClr val="999999"/>
                </a:solidFill>
                <a:effectLst/>
              </a:rPr>
              <a:t>&lt;</a:t>
            </a:r>
            <a:r>
              <a:rPr lang="en-IN" sz="1900" dirty="0">
                <a:solidFill>
                  <a:srgbClr val="990055"/>
                </a:solidFill>
                <a:effectLst/>
              </a:rPr>
              <a:t>input</a:t>
            </a:r>
            <a:r>
              <a:rPr lang="en-IN" sz="1900" dirty="0">
                <a:solidFill>
                  <a:srgbClr val="008000"/>
                </a:solidFill>
                <a:effectLst/>
              </a:rPr>
              <a:t> type</a:t>
            </a:r>
            <a:r>
              <a:rPr lang="en-IN" sz="1900" dirty="0">
                <a:solidFill>
                  <a:srgbClr val="005CC5"/>
                </a:solidFill>
                <a:effectLst/>
              </a:rPr>
              <a:t>="text"</a:t>
            </a:r>
            <a:r>
              <a:rPr lang="en-IN" sz="1900" dirty="0">
                <a:solidFill>
                  <a:srgbClr val="008000"/>
                </a:solidFill>
                <a:effectLst/>
              </a:rPr>
              <a:t> ng-model</a:t>
            </a:r>
            <a:r>
              <a:rPr lang="en-IN" sz="1900" dirty="0">
                <a:solidFill>
                  <a:srgbClr val="005CC5"/>
                </a:solidFill>
                <a:effectLst/>
              </a:rPr>
              <a:t>="</a:t>
            </a:r>
            <a:r>
              <a:rPr lang="en-IN" sz="1900" dirty="0" err="1">
                <a:solidFill>
                  <a:srgbClr val="005CC5"/>
                </a:solidFill>
                <a:effectLst/>
              </a:rPr>
              <a:t>lastName</a:t>
            </a:r>
            <a:r>
              <a:rPr lang="en-IN" sz="1900" dirty="0">
                <a:solidFill>
                  <a:srgbClr val="005CC5"/>
                </a:solidFill>
                <a:effectLst/>
              </a:rPr>
              <a:t>"</a:t>
            </a:r>
            <a:r>
              <a:rPr lang="en-IN" sz="1900" dirty="0">
                <a:solidFill>
                  <a:srgbClr val="999999"/>
                </a:solidFill>
                <a:effectLst/>
              </a:rPr>
              <a:t>&gt;&lt;</a:t>
            </a:r>
            <a:r>
              <a:rPr lang="en-IN" sz="1900" dirty="0" err="1">
                <a:solidFill>
                  <a:srgbClr val="990055"/>
                </a:solidFill>
                <a:effectLst/>
              </a:rPr>
              <a:t>br</a:t>
            </a:r>
            <a:r>
              <a:rPr lang="en-IN" sz="1900" dirty="0">
                <a:solidFill>
                  <a:srgbClr val="999999"/>
                </a:solidFill>
                <a:effectLst/>
              </a:rPr>
              <a:t>&gt;&lt;</a:t>
            </a:r>
            <a:r>
              <a:rPr lang="en-IN" sz="1900" dirty="0" err="1">
                <a:solidFill>
                  <a:srgbClr val="990055"/>
                </a:solidFill>
                <a:effectLst/>
              </a:rPr>
              <a:t>br</a:t>
            </a:r>
            <a:r>
              <a:rPr lang="en-IN" sz="1900" dirty="0">
                <a:solidFill>
                  <a:srgbClr val="999999"/>
                </a:solidFill>
                <a:effectLst/>
              </a:rPr>
              <a:t>&gt;</a:t>
            </a:r>
            <a:br>
              <a:rPr lang="en-IN" sz="1900" dirty="0"/>
            </a:br>
            <a:r>
              <a:rPr lang="en-IN" sz="1900" dirty="0"/>
              <a:t>Full Name: </a:t>
            </a:r>
            <a:r>
              <a:rPr lang="en-IN" sz="1900" dirty="0">
                <a:solidFill>
                  <a:srgbClr val="D73A49"/>
                </a:solidFill>
                <a:effectLst/>
              </a:rPr>
              <a:t>{{</a:t>
            </a:r>
            <a:r>
              <a:rPr lang="en-IN" sz="1900" dirty="0" err="1">
                <a:solidFill>
                  <a:srgbClr val="D73A49"/>
                </a:solidFill>
                <a:effectLst/>
              </a:rPr>
              <a:t>firstName</a:t>
            </a:r>
            <a:r>
              <a:rPr lang="en-IN" sz="1900" dirty="0">
                <a:solidFill>
                  <a:srgbClr val="D73A49"/>
                </a:solidFill>
                <a:effectLst/>
              </a:rPr>
              <a:t> + " " + </a:t>
            </a:r>
            <a:r>
              <a:rPr lang="en-IN" sz="1900" dirty="0" err="1">
                <a:solidFill>
                  <a:srgbClr val="D73A49"/>
                </a:solidFill>
                <a:effectLst/>
              </a:rPr>
              <a:t>lastName</a:t>
            </a:r>
            <a:r>
              <a:rPr lang="en-IN" sz="1900" dirty="0">
                <a:solidFill>
                  <a:srgbClr val="D73A49"/>
                </a:solidFill>
                <a:effectLst/>
              </a:rPr>
              <a:t>}}</a:t>
            </a:r>
            <a:br>
              <a:rPr lang="en-IN" sz="1900" dirty="0"/>
            </a:br>
            <a:r>
              <a:rPr lang="en-IN" sz="1900" dirty="0">
                <a:solidFill>
                  <a:srgbClr val="999999"/>
                </a:solidFill>
                <a:effectLst/>
              </a:rPr>
              <a:t>&lt;</a:t>
            </a:r>
            <a:r>
              <a:rPr lang="en-IN" sz="1900" dirty="0">
                <a:solidFill>
                  <a:srgbClr val="990055"/>
                </a:solidFill>
                <a:effectLst/>
              </a:rPr>
              <a:t>/div</a:t>
            </a:r>
            <a:r>
              <a:rPr lang="en-IN" sz="1900" dirty="0">
                <a:solidFill>
                  <a:srgbClr val="999999"/>
                </a:solidFill>
                <a:effectLst/>
              </a:rPr>
              <a:t>&gt;</a:t>
            </a:r>
            <a:br>
              <a:rPr lang="en-IN" sz="1900" dirty="0"/>
            </a:br>
            <a:br>
              <a:rPr lang="en-IN" sz="1900" dirty="0"/>
            </a:br>
            <a:r>
              <a:rPr lang="en-IN" sz="1900" dirty="0">
                <a:solidFill>
                  <a:srgbClr val="999999"/>
                </a:solidFill>
                <a:effectLst/>
              </a:rPr>
              <a:t>&lt;</a:t>
            </a:r>
            <a:r>
              <a:rPr lang="en-IN" sz="1900" dirty="0">
                <a:solidFill>
                  <a:srgbClr val="990055"/>
                </a:solidFill>
                <a:effectLst/>
              </a:rPr>
              <a:t>script</a:t>
            </a:r>
            <a:r>
              <a:rPr lang="en-IN" sz="1900" dirty="0">
                <a:solidFill>
                  <a:srgbClr val="999999"/>
                </a:solidFill>
                <a:effectLst/>
              </a:rPr>
              <a:t>&gt;</a:t>
            </a:r>
            <a:br>
              <a:rPr lang="en-IN" sz="1900" dirty="0">
                <a:solidFill>
                  <a:srgbClr val="000000"/>
                </a:solidFill>
                <a:effectLst/>
              </a:rPr>
            </a:br>
            <a:r>
              <a:rPr lang="en-IN" sz="1900" dirty="0">
                <a:solidFill>
                  <a:srgbClr val="000000"/>
                </a:solidFill>
                <a:effectLst/>
              </a:rPr>
              <a:t>	</a:t>
            </a:r>
            <a:r>
              <a:rPr lang="en-IN" sz="1900" dirty="0">
                <a:solidFill>
                  <a:srgbClr val="005CC5"/>
                </a:solidFill>
                <a:effectLst/>
              </a:rPr>
              <a:t>var</a:t>
            </a:r>
            <a:r>
              <a:rPr lang="en-IN" sz="1900" dirty="0">
                <a:solidFill>
                  <a:srgbClr val="000000"/>
                </a:solidFill>
                <a:effectLst/>
              </a:rPr>
              <a:t> app = </a:t>
            </a:r>
            <a:r>
              <a:rPr lang="en-IN" sz="1900" dirty="0" err="1">
                <a:solidFill>
                  <a:srgbClr val="000000"/>
                </a:solidFill>
                <a:effectLst/>
              </a:rPr>
              <a:t>angular.module</a:t>
            </a:r>
            <a:r>
              <a:rPr lang="en-IN" sz="1900" dirty="0">
                <a:solidFill>
                  <a:srgbClr val="000000"/>
                </a:solidFill>
                <a:effectLst/>
              </a:rPr>
              <a:t>(</a:t>
            </a:r>
            <a:r>
              <a:rPr lang="en-IN" sz="1900" dirty="0">
                <a:solidFill>
                  <a:srgbClr val="008000"/>
                </a:solidFill>
                <a:effectLst/>
              </a:rPr>
              <a:t>'</a:t>
            </a:r>
            <a:r>
              <a:rPr lang="en-IN" sz="1900" dirty="0" err="1">
                <a:solidFill>
                  <a:srgbClr val="008000"/>
                </a:solidFill>
                <a:effectLst/>
              </a:rPr>
              <a:t>myApp</a:t>
            </a:r>
            <a:r>
              <a:rPr lang="en-IN" sz="1900" dirty="0">
                <a:solidFill>
                  <a:srgbClr val="008000"/>
                </a:solidFill>
                <a:effectLst/>
              </a:rPr>
              <a:t>'</a:t>
            </a:r>
            <a:r>
              <a:rPr lang="en-IN" sz="1900" dirty="0">
                <a:solidFill>
                  <a:srgbClr val="000000"/>
                </a:solidFill>
                <a:effectLst/>
              </a:rPr>
              <a:t>, []);</a:t>
            </a:r>
            <a:br>
              <a:rPr lang="en-IN" sz="1900" dirty="0">
                <a:solidFill>
                  <a:srgbClr val="000000"/>
                </a:solidFill>
                <a:effectLst/>
              </a:rPr>
            </a:br>
            <a:r>
              <a:rPr lang="en-IN" sz="1900" dirty="0">
                <a:solidFill>
                  <a:srgbClr val="000000"/>
                </a:solidFill>
                <a:effectLst/>
              </a:rPr>
              <a:t>	</a:t>
            </a:r>
            <a:r>
              <a:rPr lang="en-IN" sz="1900" dirty="0" err="1">
                <a:solidFill>
                  <a:srgbClr val="000000"/>
                </a:solidFill>
                <a:effectLst/>
              </a:rPr>
              <a:t>app.controller</a:t>
            </a:r>
            <a:r>
              <a:rPr lang="en-IN" sz="1900" dirty="0">
                <a:solidFill>
                  <a:srgbClr val="000000"/>
                </a:solidFill>
                <a:effectLst/>
              </a:rPr>
              <a:t>(</a:t>
            </a:r>
            <a:r>
              <a:rPr lang="en-IN" sz="1900" dirty="0">
                <a:solidFill>
                  <a:srgbClr val="008000"/>
                </a:solidFill>
                <a:effectLst/>
              </a:rPr>
              <a:t>'</a:t>
            </a:r>
            <a:r>
              <a:rPr lang="en-IN" sz="1900" dirty="0" err="1">
                <a:solidFill>
                  <a:srgbClr val="008000"/>
                </a:solidFill>
                <a:effectLst/>
              </a:rPr>
              <a:t>myCtrl</a:t>
            </a:r>
            <a:r>
              <a:rPr lang="en-IN" sz="1900" dirty="0">
                <a:solidFill>
                  <a:srgbClr val="008000"/>
                </a:solidFill>
                <a:effectLst/>
              </a:rPr>
              <a:t>'</a:t>
            </a:r>
            <a:r>
              <a:rPr lang="en-IN" sz="1900" dirty="0">
                <a:solidFill>
                  <a:srgbClr val="000000"/>
                </a:solidFill>
                <a:effectLst/>
              </a:rPr>
              <a:t>, </a:t>
            </a:r>
            <a:r>
              <a:rPr lang="en-IN" sz="1900" dirty="0">
                <a:solidFill>
                  <a:srgbClr val="005CC5"/>
                </a:solidFill>
                <a:effectLst/>
              </a:rPr>
              <a:t>function</a:t>
            </a:r>
            <a:r>
              <a:rPr lang="en-IN" sz="1900" dirty="0">
                <a:solidFill>
                  <a:srgbClr val="000000"/>
                </a:solidFill>
                <a:effectLst/>
              </a:rPr>
              <a:t>($scope) {</a:t>
            </a:r>
            <a:br>
              <a:rPr lang="en-IN" sz="1900" dirty="0">
                <a:solidFill>
                  <a:srgbClr val="000000"/>
                </a:solidFill>
                <a:effectLst/>
              </a:rPr>
            </a:br>
            <a:r>
              <a:rPr lang="en-IN" sz="1900" dirty="0">
                <a:solidFill>
                  <a:srgbClr val="000000"/>
                </a:solidFill>
                <a:effectLst/>
              </a:rPr>
              <a:t>  		$</a:t>
            </a:r>
            <a:r>
              <a:rPr lang="en-IN" sz="1900" dirty="0" err="1">
                <a:solidFill>
                  <a:srgbClr val="000000"/>
                </a:solidFill>
                <a:effectLst/>
              </a:rPr>
              <a:t>scope.firstName</a:t>
            </a:r>
            <a:r>
              <a:rPr lang="en-IN" sz="1900" dirty="0">
                <a:solidFill>
                  <a:srgbClr val="000000"/>
                </a:solidFill>
                <a:effectLst/>
              </a:rPr>
              <a:t> = </a:t>
            </a:r>
            <a:r>
              <a:rPr lang="en-IN" sz="1900" dirty="0">
                <a:solidFill>
                  <a:srgbClr val="008000"/>
                </a:solidFill>
                <a:effectLst/>
              </a:rPr>
              <a:t>"John"</a:t>
            </a:r>
            <a:r>
              <a:rPr lang="en-IN" sz="1900" dirty="0">
                <a:solidFill>
                  <a:srgbClr val="000000"/>
                </a:solidFill>
                <a:effectLst/>
              </a:rPr>
              <a:t>;</a:t>
            </a:r>
            <a:br>
              <a:rPr lang="en-IN" sz="1900" dirty="0">
                <a:solidFill>
                  <a:srgbClr val="000000"/>
                </a:solidFill>
                <a:effectLst/>
              </a:rPr>
            </a:br>
            <a:r>
              <a:rPr lang="en-IN" sz="1900" dirty="0">
                <a:solidFill>
                  <a:srgbClr val="000000"/>
                </a:solidFill>
                <a:effectLst/>
              </a:rPr>
              <a:t>  		$</a:t>
            </a:r>
            <a:r>
              <a:rPr lang="en-IN" sz="1900" dirty="0" err="1">
                <a:solidFill>
                  <a:srgbClr val="000000"/>
                </a:solidFill>
                <a:effectLst/>
              </a:rPr>
              <a:t>scope.lastName</a:t>
            </a:r>
            <a:r>
              <a:rPr lang="en-IN" sz="1900" dirty="0">
                <a:solidFill>
                  <a:srgbClr val="000000"/>
                </a:solidFill>
                <a:effectLst/>
              </a:rPr>
              <a:t> = </a:t>
            </a:r>
            <a:r>
              <a:rPr lang="en-IN" sz="1900" dirty="0">
                <a:solidFill>
                  <a:srgbClr val="008000"/>
                </a:solidFill>
                <a:effectLst/>
              </a:rPr>
              <a:t>"Doe"</a:t>
            </a:r>
            <a:r>
              <a:rPr lang="en-IN" sz="1900" dirty="0">
                <a:solidFill>
                  <a:srgbClr val="000000"/>
                </a:solidFill>
                <a:effectLst/>
              </a:rPr>
              <a:t>;</a:t>
            </a:r>
            <a:br>
              <a:rPr lang="en-IN" sz="1900" dirty="0">
                <a:solidFill>
                  <a:srgbClr val="000000"/>
                </a:solidFill>
                <a:effectLst/>
              </a:rPr>
            </a:br>
            <a:r>
              <a:rPr lang="en-IN" sz="1900" dirty="0">
                <a:solidFill>
                  <a:srgbClr val="000000"/>
                </a:solidFill>
                <a:effectLst/>
              </a:rPr>
              <a:t>	});</a:t>
            </a:r>
            <a:br>
              <a:rPr lang="en-IN" sz="1900" dirty="0">
                <a:solidFill>
                  <a:srgbClr val="000000"/>
                </a:solidFill>
                <a:effectLst/>
              </a:rPr>
            </a:br>
            <a:r>
              <a:rPr lang="en-IN" sz="1900" dirty="0">
                <a:solidFill>
                  <a:srgbClr val="999999"/>
                </a:solidFill>
                <a:effectLst/>
              </a:rPr>
              <a:t>&lt;</a:t>
            </a:r>
            <a:r>
              <a:rPr lang="en-IN" sz="1900" dirty="0">
                <a:solidFill>
                  <a:srgbClr val="990055"/>
                </a:solidFill>
                <a:effectLst/>
              </a:rPr>
              <a:t>/script</a:t>
            </a:r>
            <a:r>
              <a:rPr lang="en-IN" sz="1900" dirty="0">
                <a:solidFill>
                  <a:srgbClr val="999999"/>
                </a:solidFill>
                <a:effectLst/>
              </a:rPr>
              <a:t>&gt;</a:t>
            </a:r>
            <a:r>
              <a:rPr lang="en-IN" sz="1900" dirty="0"/>
              <a:t> </a:t>
            </a:r>
          </a:p>
          <a:p>
            <a:pPr marL="457200" lvl="1" indent="0">
              <a:buNone/>
            </a:pPr>
            <a:endParaRPr lang="en-US" sz="2000" dirty="0"/>
          </a:p>
          <a:p>
            <a:pPr lvl="1"/>
            <a:r>
              <a:rPr lang="en-US" sz="2000" dirty="0"/>
              <a:t>The AngularJS application is defined by  </a:t>
            </a:r>
            <a:r>
              <a:rPr lang="en-US" sz="2000" b="1" dirty="0"/>
              <a:t>ng-app="</a:t>
            </a:r>
            <a:r>
              <a:rPr lang="en-US" sz="2000" b="1" dirty="0" err="1"/>
              <a:t>myApp</a:t>
            </a:r>
            <a:r>
              <a:rPr lang="en-US" sz="2000" b="1" dirty="0"/>
              <a:t>"</a:t>
            </a:r>
            <a:r>
              <a:rPr lang="en-US" sz="2000" dirty="0"/>
              <a:t>.</a:t>
            </a:r>
          </a:p>
          <a:p>
            <a:pPr lvl="1"/>
            <a:r>
              <a:rPr lang="en-US" sz="2000" dirty="0"/>
              <a:t>The application runs inside the &lt;div&gt;.</a:t>
            </a:r>
          </a:p>
          <a:p>
            <a:pPr lvl="1"/>
            <a:r>
              <a:rPr lang="en-US" sz="2000" dirty="0"/>
              <a:t>The </a:t>
            </a:r>
            <a:r>
              <a:rPr lang="en-US" sz="2000" b="1" dirty="0"/>
              <a:t>ng-controller="</a:t>
            </a:r>
            <a:r>
              <a:rPr lang="en-US" sz="2000" b="1" dirty="0" err="1"/>
              <a:t>myCtrl</a:t>
            </a:r>
            <a:r>
              <a:rPr lang="en-US" sz="2000" b="1" dirty="0"/>
              <a:t>"</a:t>
            </a:r>
            <a:r>
              <a:rPr lang="en-US" sz="2000" dirty="0"/>
              <a:t> attribute is an AngularJS directive. It defines a controller.</a:t>
            </a:r>
          </a:p>
          <a:p>
            <a:pPr lvl="1"/>
            <a:r>
              <a:rPr lang="en-US" sz="2000" dirty="0"/>
              <a:t>The </a:t>
            </a:r>
            <a:r>
              <a:rPr lang="en-US" sz="2000" b="1" dirty="0" err="1"/>
              <a:t>myCtrl</a:t>
            </a:r>
            <a:r>
              <a:rPr lang="en-US" sz="2000" dirty="0"/>
              <a:t> function is a JavaScript function.</a:t>
            </a:r>
          </a:p>
          <a:p>
            <a:pPr lvl="1"/>
            <a:r>
              <a:rPr lang="en-US" sz="2000" dirty="0"/>
              <a:t>AngularJS will invoke the controller with a </a:t>
            </a:r>
            <a:r>
              <a:rPr lang="en-US" sz="2000" b="1" dirty="0"/>
              <a:t>$scope</a:t>
            </a:r>
            <a:r>
              <a:rPr lang="en-US" sz="2000" dirty="0"/>
              <a:t> object.</a:t>
            </a:r>
          </a:p>
          <a:p>
            <a:pPr lvl="1"/>
            <a:r>
              <a:rPr lang="en-US" sz="2000" dirty="0"/>
              <a:t>In AngularJS, </a:t>
            </a:r>
            <a:r>
              <a:rPr lang="en-US" sz="2000" dirty="0">
                <a:solidFill>
                  <a:srgbClr val="FF3399"/>
                </a:solidFill>
              </a:rPr>
              <a:t>$scope</a:t>
            </a:r>
            <a:r>
              <a:rPr lang="en-US" sz="2000" dirty="0"/>
              <a:t> is the application object (the owner of application variables and functions).</a:t>
            </a:r>
          </a:p>
          <a:p>
            <a:pPr lvl="1"/>
            <a:r>
              <a:rPr lang="en-US" sz="2000" dirty="0"/>
              <a:t>The controller creates two properties (variables) in the scope (</a:t>
            </a:r>
            <a:r>
              <a:rPr lang="en-US" sz="2000" b="1" dirty="0" err="1"/>
              <a:t>firstName</a:t>
            </a:r>
            <a:r>
              <a:rPr lang="en-US" sz="2000" dirty="0"/>
              <a:t> and </a:t>
            </a:r>
            <a:r>
              <a:rPr lang="en-US" sz="2000" b="1" dirty="0" err="1"/>
              <a:t>lastName</a:t>
            </a:r>
            <a:r>
              <a:rPr lang="en-US" sz="2000" dirty="0"/>
              <a:t>).</a:t>
            </a:r>
          </a:p>
          <a:p>
            <a:pPr lvl="1"/>
            <a:r>
              <a:rPr lang="en-US" sz="2000" dirty="0"/>
              <a:t>The </a:t>
            </a:r>
            <a:r>
              <a:rPr lang="en-US" sz="2000" b="1" dirty="0"/>
              <a:t>ng-model</a:t>
            </a:r>
            <a:r>
              <a:rPr lang="en-US" sz="2000" dirty="0"/>
              <a:t> directives bind the input fields to the controller properties (</a:t>
            </a:r>
            <a:r>
              <a:rPr lang="en-US" sz="2000" dirty="0" err="1"/>
              <a:t>firstName</a:t>
            </a:r>
            <a:r>
              <a:rPr lang="en-US" sz="2000" dirty="0"/>
              <a:t> and </a:t>
            </a:r>
            <a:r>
              <a:rPr lang="en-US" sz="2000" dirty="0" err="1"/>
              <a:t>lastName</a:t>
            </a:r>
            <a:r>
              <a:rPr lang="en-US" sz="2000" dirty="0"/>
              <a:t>).</a:t>
            </a: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8941861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A8EF8-CF23-51B4-A84E-2715478CDC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D86467-5713-0B3D-8DC4-9568D4E63F94}"/>
              </a:ext>
            </a:extLst>
          </p:cNvPr>
          <p:cNvSpPr>
            <a:spLocks noGrp="1"/>
          </p:cNvSpPr>
          <p:nvPr>
            <p:ph idx="1"/>
          </p:nvPr>
        </p:nvSpPr>
        <p:spPr>
          <a:xfrm>
            <a:off x="838200" y="254524"/>
            <a:ext cx="10515600" cy="6410227"/>
          </a:xfrm>
        </p:spPr>
        <p:txBody>
          <a:bodyPr/>
          <a:lstStyle/>
          <a:p>
            <a:r>
              <a:rPr lang="en-US" dirty="0"/>
              <a:t>Continued…</a:t>
            </a:r>
          </a:p>
          <a:p>
            <a:pPr algn="just"/>
            <a:r>
              <a:rPr lang="en-IN" sz="2400" b="1" dirty="0"/>
              <a:t>Controller Methods</a:t>
            </a:r>
          </a:p>
          <a:p>
            <a:pPr lvl="1" algn="just"/>
            <a:r>
              <a:rPr lang="en-US" sz="2000" dirty="0"/>
              <a:t>A controller can also have methods (variables as functions):</a:t>
            </a:r>
          </a:p>
          <a:p>
            <a:pPr>
              <a:buNone/>
            </a:pPr>
            <a:endParaRPr lang="en-IN" sz="1600" dirty="0">
              <a:solidFill>
                <a:srgbClr val="999999"/>
              </a:solidFill>
              <a:effectLst/>
            </a:endParaRPr>
          </a:p>
          <a:p>
            <a:pPr>
              <a:buNone/>
            </a:pPr>
            <a:r>
              <a:rPr lang="en-IN" sz="1600" dirty="0">
                <a:solidFill>
                  <a:srgbClr val="999999"/>
                </a:solidFill>
              </a:rPr>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ng-app</a:t>
            </a:r>
            <a:r>
              <a:rPr lang="en-IN" sz="2000" dirty="0">
                <a:solidFill>
                  <a:srgbClr val="005CC5"/>
                </a:solidFill>
                <a:effectLst/>
              </a:rPr>
              <a:t>="</a:t>
            </a:r>
            <a:r>
              <a:rPr lang="en-IN" sz="2000" dirty="0" err="1">
                <a:solidFill>
                  <a:srgbClr val="005CC5"/>
                </a:solidFill>
                <a:effectLst/>
              </a:rPr>
              <a:t>myApp</a:t>
            </a:r>
            <a:r>
              <a:rPr lang="en-IN" sz="2000" dirty="0">
                <a:solidFill>
                  <a:srgbClr val="005CC5"/>
                </a:solidFill>
                <a:effectLst/>
              </a:rPr>
              <a:t>"</a:t>
            </a:r>
            <a:r>
              <a:rPr lang="en-IN" sz="2000" dirty="0">
                <a:solidFill>
                  <a:srgbClr val="008000"/>
                </a:solidFill>
                <a:effectLst/>
              </a:rPr>
              <a:t> ng-controller</a:t>
            </a:r>
            <a:r>
              <a:rPr lang="en-IN" sz="2000" dirty="0">
                <a:solidFill>
                  <a:srgbClr val="005CC5"/>
                </a:solidFill>
                <a:effectLst/>
              </a:rPr>
              <a:t>="</a:t>
            </a:r>
            <a:r>
              <a:rPr lang="en-IN" sz="2000" dirty="0" err="1">
                <a:solidFill>
                  <a:srgbClr val="005CC5"/>
                </a:solidFill>
                <a:effectLst/>
              </a:rPr>
              <a:t>personCtrl</a:t>
            </a:r>
            <a:r>
              <a:rPr lang="en-IN" sz="2000" dirty="0">
                <a:solidFill>
                  <a:srgbClr val="005CC5"/>
                </a:solidFill>
                <a:effectLst/>
              </a:rPr>
              <a:t>"</a:t>
            </a:r>
            <a:r>
              <a:rPr lang="en-IN" sz="2000" dirty="0">
                <a:solidFill>
                  <a:srgbClr val="999999"/>
                </a:solidFill>
                <a:effectLst/>
              </a:rPr>
              <a:t>&gt;</a:t>
            </a:r>
            <a:br>
              <a:rPr lang="en-IN" sz="2000" dirty="0"/>
            </a:br>
            <a:r>
              <a:rPr lang="en-IN" sz="2000" dirty="0"/>
              <a:t>First Name: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="text"</a:t>
            </a:r>
            <a:r>
              <a:rPr lang="en-IN" sz="2000" dirty="0">
                <a:solidFill>
                  <a:srgbClr val="008000"/>
                </a:solidFill>
                <a:effectLst/>
              </a:rPr>
              <a:t> ng-model</a:t>
            </a:r>
            <a:r>
              <a:rPr lang="en-IN" sz="2000" dirty="0">
                <a:solidFill>
                  <a:srgbClr val="005CC5"/>
                </a:solidFill>
                <a:effectLst/>
              </a:rPr>
              <a:t>="</a:t>
            </a:r>
            <a:r>
              <a:rPr lang="en-IN" sz="2000" dirty="0" err="1">
                <a:solidFill>
                  <a:srgbClr val="005CC5"/>
                </a:solidFill>
                <a:effectLst/>
              </a:rPr>
              <a:t>firstName</a:t>
            </a:r>
            <a:r>
              <a:rPr lang="en-IN" sz="2000" dirty="0">
                <a:solidFill>
                  <a:srgbClr val="005CC5"/>
                </a:solidFill>
                <a:effectLst/>
              </a:rPr>
              <a:t>"</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Last Name: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="text"</a:t>
            </a:r>
            <a:r>
              <a:rPr lang="en-IN" sz="2000" dirty="0">
                <a:solidFill>
                  <a:srgbClr val="008000"/>
                </a:solidFill>
                <a:effectLst/>
              </a:rPr>
              <a:t> ng-model</a:t>
            </a:r>
            <a:r>
              <a:rPr lang="en-IN" sz="2000" dirty="0">
                <a:solidFill>
                  <a:srgbClr val="005CC5"/>
                </a:solidFill>
                <a:effectLst/>
              </a:rPr>
              <a:t>="</a:t>
            </a:r>
            <a:r>
              <a:rPr lang="en-IN" sz="2000" dirty="0" err="1">
                <a:solidFill>
                  <a:srgbClr val="005CC5"/>
                </a:solidFill>
                <a:effectLst/>
              </a:rPr>
              <a:t>lastName</a:t>
            </a:r>
            <a:r>
              <a:rPr lang="en-IN" sz="2000" dirty="0">
                <a:solidFill>
                  <a:srgbClr val="005CC5"/>
                </a:solidFill>
                <a:effectLst/>
              </a:rPr>
              <a:t>"</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Full Name: </a:t>
            </a:r>
            <a:r>
              <a:rPr lang="en-IN" sz="2000" dirty="0">
                <a:solidFill>
                  <a:srgbClr val="D73A49"/>
                </a:solidFill>
                <a:effectLst/>
              </a:rPr>
              <a:t>{{</a:t>
            </a:r>
            <a:r>
              <a:rPr lang="en-IN" sz="2000" dirty="0" err="1">
                <a:solidFill>
                  <a:srgbClr val="D73A49"/>
                </a:solidFill>
                <a:effectLst/>
              </a:rPr>
              <a:t>fullName</a:t>
            </a:r>
            <a:r>
              <a:rPr lang="en-IN" sz="2000" dirty="0">
                <a:solidFill>
                  <a:srgbClr val="D73A49"/>
                </a:solidFill>
                <a:effectLst/>
              </a:rPr>
              <a: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br>
              <a:rPr lang="en-IN" sz="2000" dirty="0"/>
            </a:br>
            <a:r>
              <a:rPr lang="en-IN" sz="2000" dirty="0">
                <a:solidFill>
                  <a:srgbClr val="999999"/>
                </a:solidFill>
                <a:effectLst/>
              </a:rPr>
              <a:t>&lt;</a:t>
            </a:r>
            <a:r>
              <a:rPr lang="en-IN" sz="2000" dirty="0">
                <a:solidFill>
                  <a:srgbClr val="990055"/>
                </a:solidFill>
                <a:effectLst/>
              </a:rPr>
              <a:t>script</a:t>
            </a:r>
            <a:r>
              <a:rPr lang="en-IN" sz="2000" dirty="0">
                <a:solidFill>
                  <a:srgbClr val="999999"/>
                </a:solidFill>
                <a:effectLst/>
              </a:rPr>
              <a:t>&gt;</a:t>
            </a:r>
            <a:br>
              <a:rPr lang="en-IN" sz="2000" dirty="0">
                <a:solidFill>
                  <a:srgbClr val="000000"/>
                </a:solidFill>
                <a:effectLst/>
              </a:rPr>
            </a:br>
            <a:r>
              <a:rPr lang="en-IN" sz="2000" dirty="0">
                <a:solidFill>
                  <a:srgbClr val="000000"/>
                </a:solidFill>
                <a:effectLst/>
              </a:rPr>
              <a:t>	</a:t>
            </a:r>
            <a:r>
              <a:rPr lang="en-IN" sz="2000" dirty="0">
                <a:solidFill>
                  <a:srgbClr val="005CC5"/>
                </a:solidFill>
                <a:effectLst/>
              </a:rPr>
              <a:t>var</a:t>
            </a:r>
            <a:r>
              <a:rPr lang="en-IN" sz="2000" dirty="0">
                <a:solidFill>
                  <a:srgbClr val="000000"/>
                </a:solidFill>
                <a:effectLst/>
              </a:rPr>
              <a:t> app = </a:t>
            </a:r>
            <a:r>
              <a:rPr lang="en-IN" sz="2000" dirty="0" err="1">
                <a:solidFill>
                  <a:srgbClr val="000000"/>
                </a:solidFill>
                <a:effectLst/>
              </a:rPr>
              <a:t>angular.module</a:t>
            </a:r>
            <a:r>
              <a:rPr lang="en-IN" sz="2000" dirty="0">
                <a:solidFill>
                  <a:srgbClr val="000000"/>
                </a:solidFill>
                <a:effectLst/>
              </a:rPr>
              <a:t>(</a:t>
            </a:r>
            <a:r>
              <a:rPr lang="en-IN" sz="2000" dirty="0">
                <a:solidFill>
                  <a:srgbClr val="008000"/>
                </a:solidFill>
                <a:effectLst/>
              </a:rPr>
              <a:t>'</a:t>
            </a:r>
            <a:r>
              <a:rPr lang="en-IN" sz="2000" dirty="0" err="1">
                <a:solidFill>
                  <a:srgbClr val="008000"/>
                </a:solidFill>
                <a:effectLst/>
              </a:rPr>
              <a:t>myApp</a:t>
            </a:r>
            <a:r>
              <a:rPr lang="en-IN" sz="2000" dirty="0">
                <a:solidFill>
                  <a:srgbClr val="008000"/>
                </a:solidFill>
                <a:effectLst/>
              </a:rPr>
              <a:t>'</a:t>
            </a:r>
            <a:r>
              <a:rPr lang="en-IN" sz="2000" dirty="0">
                <a:solidFill>
                  <a:srgbClr val="000000"/>
                </a:solidFill>
                <a:effectLst/>
              </a:rPr>
              <a:t>, []);</a:t>
            </a:r>
            <a:br>
              <a:rPr lang="en-IN" sz="2000" dirty="0">
                <a:solidFill>
                  <a:srgbClr val="000000"/>
                </a:solidFill>
                <a:effectLst/>
              </a:rPr>
            </a:br>
            <a:r>
              <a:rPr lang="en-IN" sz="2000" dirty="0">
                <a:solidFill>
                  <a:srgbClr val="000000"/>
                </a:solidFill>
                <a:effectLst/>
              </a:rPr>
              <a:t>	</a:t>
            </a:r>
            <a:r>
              <a:rPr lang="en-IN" sz="2000" dirty="0" err="1">
                <a:solidFill>
                  <a:srgbClr val="000000"/>
                </a:solidFill>
                <a:effectLst/>
              </a:rPr>
              <a:t>app.controller</a:t>
            </a:r>
            <a:r>
              <a:rPr lang="en-IN" sz="2000" dirty="0">
                <a:solidFill>
                  <a:srgbClr val="000000"/>
                </a:solidFill>
                <a:effectLst/>
              </a:rPr>
              <a:t>(</a:t>
            </a:r>
            <a:r>
              <a:rPr lang="en-IN" sz="2000" dirty="0">
                <a:solidFill>
                  <a:srgbClr val="008000"/>
                </a:solidFill>
                <a:effectLst/>
              </a:rPr>
              <a:t>'</a:t>
            </a:r>
            <a:r>
              <a:rPr lang="en-IN" sz="2000" dirty="0" err="1">
                <a:solidFill>
                  <a:srgbClr val="008000"/>
                </a:solidFill>
                <a:effectLst/>
              </a:rPr>
              <a:t>personCtrl</a:t>
            </a:r>
            <a:r>
              <a:rPr lang="en-IN" sz="2000" dirty="0">
                <a:solidFill>
                  <a:srgbClr val="008000"/>
                </a:solidFill>
                <a:effectLst/>
              </a:rPr>
              <a:t>'</a:t>
            </a:r>
            <a:r>
              <a:rPr lang="en-IN" sz="2000" dirty="0">
                <a:solidFill>
                  <a:srgbClr val="000000"/>
                </a:solidFill>
                <a:effectLst/>
              </a:rPr>
              <a:t>, </a:t>
            </a:r>
            <a:r>
              <a:rPr lang="en-IN" sz="2000" dirty="0">
                <a:solidFill>
                  <a:srgbClr val="005CC5"/>
                </a:solidFill>
                <a:effectLst/>
              </a:rPr>
              <a:t>function</a:t>
            </a:r>
            <a:r>
              <a:rPr lang="en-IN" sz="2000" dirty="0">
                <a:solidFill>
                  <a:srgbClr val="000000"/>
                </a:solidFill>
                <a:effectLst/>
              </a:rPr>
              <a:t>($scope) {</a:t>
            </a:r>
            <a:br>
              <a:rPr lang="en-IN" sz="2000" dirty="0">
                <a:solidFill>
                  <a:srgbClr val="000000"/>
                </a:solidFill>
                <a:effectLst/>
              </a:rPr>
            </a:br>
            <a:r>
              <a:rPr lang="en-IN" sz="2000" dirty="0">
                <a:solidFill>
                  <a:srgbClr val="000000"/>
                </a:solidFill>
                <a:effectLst/>
              </a:rPr>
              <a:t>  		$</a:t>
            </a:r>
            <a:r>
              <a:rPr lang="en-IN" sz="2000" dirty="0" err="1">
                <a:solidFill>
                  <a:srgbClr val="000000"/>
                </a:solidFill>
                <a:effectLst/>
              </a:rPr>
              <a:t>scope.firstName</a:t>
            </a:r>
            <a:r>
              <a:rPr lang="en-IN" sz="2000" dirty="0">
                <a:solidFill>
                  <a:srgbClr val="000000"/>
                </a:solidFill>
                <a:effectLst/>
              </a:rPr>
              <a:t> = </a:t>
            </a:r>
            <a:r>
              <a:rPr lang="en-IN" sz="2000" dirty="0">
                <a:solidFill>
                  <a:srgbClr val="008000"/>
                </a:solidFill>
                <a:effectLst/>
              </a:rPr>
              <a:t>"John"</a:t>
            </a:r>
            <a:r>
              <a:rPr lang="en-IN" sz="2000" dirty="0">
                <a:solidFill>
                  <a:srgbClr val="000000"/>
                </a:solidFill>
                <a:effectLst/>
              </a:rPr>
              <a:t>;</a:t>
            </a:r>
            <a:br>
              <a:rPr lang="en-IN" sz="2000" dirty="0">
                <a:solidFill>
                  <a:srgbClr val="000000"/>
                </a:solidFill>
                <a:effectLst/>
              </a:rPr>
            </a:br>
            <a:r>
              <a:rPr lang="en-IN" sz="2000" dirty="0">
                <a:solidFill>
                  <a:srgbClr val="000000"/>
                </a:solidFill>
                <a:effectLst/>
              </a:rPr>
              <a:t>  		$</a:t>
            </a:r>
            <a:r>
              <a:rPr lang="en-IN" sz="2000" dirty="0" err="1">
                <a:solidFill>
                  <a:srgbClr val="000000"/>
                </a:solidFill>
                <a:effectLst/>
              </a:rPr>
              <a:t>scope.lastName</a:t>
            </a:r>
            <a:r>
              <a:rPr lang="en-IN" sz="2000" dirty="0">
                <a:solidFill>
                  <a:srgbClr val="000000"/>
                </a:solidFill>
                <a:effectLst/>
              </a:rPr>
              <a:t> = </a:t>
            </a:r>
            <a:r>
              <a:rPr lang="en-IN" sz="2000" dirty="0">
                <a:solidFill>
                  <a:srgbClr val="008000"/>
                </a:solidFill>
                <a:effectLst/>
              </a:rPr>
              <a:t>"Doe"</a:t>
            </a:r>
            <a:r>
              <a:rPr lang="en-IN" sz="2000" dirty="0">
                <a:solidFill>
                  <a:srgbClr val="000000"/>
                </a:solidFill>
                <a:effectLst/>
              </a:rPr>
              <a:t>;</a:t>
            </a:r>
            <a:br>
              <a:rPr lang="en-IN" sz="2000" dirty="0">
                <a:solidFill>
                  <a:srgbClr val="000000"/>
                </a:solidFill>
                <a:effectLst/>
              </a:rPr>
            </a:br>
            <a:r>
              <a:rPr lang="en-IN" sz="2000" dirty="0">
                <a:solidFill>
                  <a:srgbClr val="000000"/>
                </a:solidFill>
                <a:effectLst/>
              </a:rPr>
              <a:t>  		$</a:t>
            </a:r>
            <a:r>
              <a:rPr lang="en-IN" sz="2000" dirty="0" err="1">
                <a:solidFill>
                  <a:srgbClr val="000000"/>
                </a:solidFill>
                <a:effectLst/>
              </a:rPr>
              <a:t>scope.fullName</a:t>
            </a:r>
            <a:r>
              <a:rPr lang="en-IN" sz="2000" dirty="0">
                <a:solidFill>
                  <a:srgbClr val="000000"/>
                </a:solidFill>
                <a:effectLst/>
              </a:rPr>
              <a:t> = </a:t>
            </a:r>
            <a:r>
              <a:rPr lang="en-IN" sz="2000" dirty="0">
                <a:solidFill>
                  <a:srgbClr val="005CC5"/>
                </a:solidFill>
                <a:effectLst/>
              </a:rPr>
              <a:t>function</a:t>
            </a:r>
            <a:r>
              <a:rPr lang="en-IN" sz="2000" dirty="0">
                <a:solidFill>
                  <a:srgbClr val="000000"/>
                </a:solidFill>
                <a:effectLst/>
              </a:rPr>
              <a:t>() {</a:t>
            </a:r>
            <a:br>
              <a:rPr lang="en-IN" sz="2000" dirty="0">
                <a:solidFill>
                  <a:srgbClr val="000000"/>
                </a:solidFill>
                <a:effectLst/>
              </a:rPr>
            </a:br>
            <a:r>
              <a:rPr lang="en-IN" sz="2000" dirty="0">
                <a:solidFill>
                  <a:srgbClr val="000000"/>
                </a:solidFill>
                <a:effectLst/>
              </a:rPr>
              <a:t>    			</a:t>
            </a:r>
            <a:r>
              <a:rPr lang="en-IN" sz="2000" dirty="0">
                <a:solidFill>
                  <a:srgbClr val="005CC5"/>
                </a:solidFill>
                <a:effectLst/>
              </a:rPr>
              <a:t>return</a:t>
            </a:r>
            <a:r>
              <a:rPr lang="en-IN" sz="2000" dirty="0">
                <a:solidFill>
                  <a:srgbClr val="000000"/>
                </a:solidFill>
                <a:effectLst/>
              </a:rPr>
              <a:t> $</a:t>
            </a:r>
            <a:r>
              <a:rPr lang="en-IN" sz="2000" dirty="0" err="1">
                <a:solidFill>
                  <a:srgbClr val="000000"/>
                </a:solidFill>
                <a:effectLst/>
              </a:rPr>
              <a:t>scope.firstName</a:t>
            </a:r>
            <a:r>
              <a:rPr lang="en-IN" sz="2000" dirty="0">
                <a:solidFill>
                  <a:srgbClr val="000000"/>
                </a:solidFill>
                <a:effectLst/>
              </a:rPr>
              <a:t> + </a:t>
            </a:r>
            <a:r>
              <a:rPr lang="en-IN" sz="2000" dirty="0">
                <a:solidFill>
                  <a:srgbClr val="008000"/>
                </a:solidFill>
                <a:effectLst/>
              </a:rPr>
              <a:t>" "</a:t>
            </a:r>
            <a:r>
              <a:rPr lang="en-IN" sz="2000" dirty="0">
                <a:solidFill>
                  <a:srgbClr val="000000"/>
                </a:solidFill>
                <a:effectLst/>
              </a:rPr>
              <a:t> + $</a:t>
            </a:r>
            <a:r>
              <a:rPr lang="en-IN" sz="2000" dirty="0" err="1">
                <a:solidFill>
                  <a:srgbClr val="000000"/>
                </a:solidFill>
                <a:effectLst/>
              </a:rPr>
              <a:t>scope.lastName</a:t>
            </a:r>
            <a:r>
              <a:rPr lang="en-IN" sz="2000" dirty="0">
                <a:solidFill>
                  <a:srgbClr val="000000"/>
                </a:solidFill>
                <a:effectLst/>
              </a:rPr>
              <a:t>;</a:t>
            </a:r>
            <a:br>
              <a:rPr lang="en-IN" sz="2000" dirty="0">
                <a:solidFill>
                  <a:srgbClr val="000000"/>
                </a:solidFill>
                <a:effectLst/>
              </a:rPr>
            </a:br>
            <a:r>
              <a:rPr lang="en-IN" sz="2000" dirty="0">
                <a:solidFill>
                  <a:srgbClr val="000000"/>
                </a:solidFill>
                <a:effectLst/>
              </a:rPr>
              <a:t>  		};</a:t>
            </a:r>
            <a:br>
              <a:rPr lang="en-IN" sz="2000" dirty="0">
                <a:solidFill>
                  <a:srgbClr val="000000"/>
                </a:solidFill>
                <a:effectLst/>
              </a:rPr>
            </a:br>
            <a:r>
              <a:rPr lang="en-IN" sz="2000" dirty="0">
                <a:solidFill>
                  <a:srgbClr val="000000"/>
                </a:solidFill>
                <a:effectLst/>
              </a:rPr>
              <a:t>	});</a:t>
            </a:r>
            <a:br>
              <a:rPr lang="en-IN" sz="2000" dirty="0">
                <a:solidFill>
                  <a:srgbClr val="000000"/>
                </a:solidFill>
                <a:effectLst/>
              </a:rPr>
            </a:br>
            <a:r>
              <a:rPr lang="en-IN" sz="2000" dirty="0">
                <a:solidFill>
                  <a:srgbClr val="999999"/>
                </a:solidFill>
                <a:effectLst/>
              </a:rPr>
              <a:t>&lt;</a:t>
            </a:r>
            <a:r>
              <a:rPr lang="en-IN" sz="2000" dirty="0">
                <a:solidFill>
                  <a:srgbClr val="990055"/>
                </a:solidFill>
                <a:effectLst/>
              </a:rPr>
              <a:t>/script</a:t>
            </a:r>
            <a:r>
              <a:rPr lang="en-IN" sz="2000" dirty="0">
                <a:solidFill>
                  <a:srgbClr val="999999"/>
                </a:solidFill>
                <a:effectLst/>
              </a:rPr>
              <a:t>&gt;</a:t>
            </a:r>
            <a:r>
              <a:rPr lang="en-IN" sz="20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9074873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34C58-AEF0-074D-FD42-83F138AFF2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686BA9-7C67-4107-699D-CDD015214E10}"/>
              </a:ext>
            </a:extLst>
          </p:cNvPr>
          <p:cNvSpPr>
            <a:spLocks noGrp="1"/>
          </p:cNvSpPr>
          <p:nvPr>
            <p:ph idx="1"/>
          </p:nvPr>
        </p:nvSpPr>
        <p:spPr>
          <a:xfrm>
            <a:off x="838200" y="254524"/>
            <a:ext cx="10515600" cy="6410227"/>
          </a:xfrm>
        </p:spPr>
        <p:txBody>
          <a:bodyPr>
            <a:normAutofit/>
          </a:bodyPr>
          <a:lstStyle/>
          <a:p>
            <a:r>
              <a:rPr lang="en-US" dirty="0"/>
              <a:t>Continued…</a:t>
            </a:r>
          </a:p>
          <a:p>
            <a:pPr algn="just"/>
            <a:r>
              <a:rPr lang="en-IN" sz="2400" b="1" dirty="0"/>
              <a:t>Controllers In External Files</a:t>
            </a:r>
          </a:p>
          <a:p>
            <a:pPr lvl="1"/>
            <a:r>
              <a:rPr lang="en-US" sz="2000" dirty="0"/>
              <a:t>In larger applications, it is common to store controllers in external files.</a:t>
            </a:r>
          </a:p>
          <a:p>
            <a:pPr lvl="1"/>
            <a:r>
              <a:rPr lang="en-US" sz="2000" dirty="0"/>
              <a:t>Just copy the code between the &lt;script&gt; tags into an external file</a:t>
            </a:r>
          </a:p>
          <a:p>
            <a:pPr algn="just"/>
            <a:r>
              <a:rPr lang="en-US" sz="2400" dirty="0"/>
              <a:t>Example: </a:t>
            </a:r>
          </a:p>
          <a:p>
            <a:pPr algn="just"/>
            <a:r>
              <a:rPr lang="en-US" sz="2400" dirty="0"/>
              <a:t>namesController.js</a:t>
            </a:r>
          </a:p>
          <a:p>
            <a:pPr marL="457200" lvl="1" indent="0" algn="just">
              <a:buNone/>
            </a:pPr>
            <a:r>
              <a:rPr lang="en-IN" sz="1600" dirty="0" err="1"/>
              <a:t>angular.module</a:t>
            </a:r>
            <a:r>
              <a:rPr lang="en-IN" sz="1600" dirty="0"/>
              <a:t>('</a:t>
            </a:r>
            <a:r>
              <a:rPr lang="en-IN" sz="1600" dirty="0" err="1"/>
              <a:t>myApp</a:t>
            </a:r>
            <a:r>
              <a:rPr lang="en-IN" sz="1600" dirty="0"/>
              <a:t>', []).controller('</a:t>
            </a:r>
            <a:r>
              <a:rPr lang="en-IN" sz="1600" dirty="0" err="1"/>
              <a:t>namesCtrl</a:t>
            </a:r>
            <a:r>
              <a:rPr lang="en-IN" sz="1600" dirty="0"/>
              <a:t>', function($scope) {</a:t>
            </a:r>
          </a:p>
          <a:p>
            <a:pPr marL="457200" lvl="1" indent="0" algn="just">
              <a:buNone/>
            </a:pPr>
            <a:r>
              <a:rPr lang="en-IN" sz="1600" dirty="0"/>
              <a:t>	$</a:t>
            </a:r>
            <a:r>
              <a:rPr lang="en-IN" sz="1600" dirty="0" err="1"/>
              <a:t>scope.names</a:t>
            </a:r>
            <a:r>
              <a:rPr lang="en-IN" sz="1600" dirty="0"/>
              <a:t> = [</a:t>
            </a:r>
          </a:p>
          <a:p>
            <a:pPr marL="457200" lvl="1" indent="0" algn="just">
              <a:buNone/>
            </a:pPr>
            <a:r>
              <a:rPr lang="en-IN" sz="1600" dirty="0"/>
              <a:t>		{</a:t>
            </a:r>
            <a:r>
              <a:rPr lang="en-IN" sz="1600" dirty="0" err="1"/>
              <a:t>name:'Jani',country:'Norway</a:t>
            </a:r>
            <a:r>
              <a:rPr lang="en-IN" sz="1600" dirty="0"/>
              <a:t>’},</a:t>
            </a:r>
          </a:p>
          <a:p>
            <a:pPr marL="457200" lvl="1" indent="0" algn="just">
              <a:buNone/>
            </a:pPr>
            <a:r>
              <a:rPr lang="en-IN" sz="1600" dirty="0"/>
              <a:t>		{</a:t>
            </a:r>
            <a:r>
              <a:rPr lang="en-IN" sz="1600" dirty="0" err="1"/>
              <a:t>name:'Hege',country:'Sweden</a:t>
            </a:r>
            <a:r>
              <a:rPr lang="en-IN" sz="1600" dirty="0"/>
              <a:t>’},</a:t>
            </a:r>
          </a:p>
          <a:p>
            <a:pPr marL="457200" lvl="1" indent="0" algn="just">
              <a:buNone/>
            </a:pPr>
            <a:r>
              <a:rPr lang="en-IN" sz="1600" dirty="0"/>
              <a:t>		{</a:t>
            </a:r>
            <a:r>
              <a:rPr lang="en-IN" sz="1600" dirty="0" err="1"/>
              <a:t>name:'Kai',country:'Denmark</a:t>
            </a:r>
            <a:r>
              <a:rPr lang="en-IN" sz="1600" dirty="0"/>
              <a:t>’}</a:t>
            </a:r>
          </a:p>
          <a:p>
            <a:pPr marL="457200" lvl="1" indent="0" algn="just">
              <a:buNone/>
            </a:pPr>
            <a:r>
              <a:rPr lang="en-IN" sz="1600" dirty="0"/>
              <a:t>	];</a:t>
            </a:r>
          </a:p>
          <a:p>
            <a:pPr marL="457200" lvl="1" indent="0" algn="just">
              <a:buNone/>
            </a:pPr>
            <a:r>
              <a:rPr lang="en-IN" sz="1600" dirty="0"/>
              <a:t>}); </a:t>
            </a:r>
            <a:endParaRPr lang="en-US" sz="2800" dirty="0"/>
          </a:p>
          <a:p>
            <a:pPr>
              <a:buNone/>
            </a:pPr>
            <a:r>
              <a:rPr lang="en-IN" sz="1600" dirty="0">
                <a:solidFill>
                  <a:srgbClr val="999999"/>
                </a:solidFill>
                <a:effectLst/>
              </a:rPr>
              <a:t>	&lt;</a:t>
            </a:r>
            <a:r>
              <a:rPr lang="en-IN" sz="1600" dirty="0">
                <a:solidFill>
                  <a:srgbClr val="990055"/>
                </a:solidFill>
                <a:effectLst/>
              </a:rPr>
              <a:t>div</a:t>
            </a:r>
            <a:r>
              <a:rPr lang="en-IN" sz="1600" dirty="0">
                <a:solidFill>
                  <a:srgbClr val="008000"/>
                </a:solidFill>
                <a:effectLst/>
              </a:rPr>
              <a:t> ng-app</a:t>
            </a:r>
            <a:r>
              <a:rPr lang="en-IN" sz="1600" dirty="0">
                <a:solidFill>
                  <a:srgbClr val="005CC5"/>
                </a:solidFill>
                <a:effectLst/>
              </a:rPr>
              <a:t>="</a:t>
            </a:r>
            <a:r>
              <a:rPr lang="en-IN" sz="1600" dirty="0" err="1">
                <a:solidFill>
                  <a:srgbClr val="005CC5"/>
                </a:solidFill>
                <a:effectLst/>
              </a:rPr>
              <a:t>myApp</a:t>
            </a:r>
            <a:r>
              <a:rPr lang="en-IN" sz="1600" dirty="0">
                <a:solidFill>
                  <a:srgbClr val="005CC5"/>
                </a:solidFill>
                <a:effectLst/>
              </a:rPr>
              <a:t>"</a:t>
            </a:r>
            <a:r>
              <a:rPr lang="en-IN" sz="1600" dirty="0">
                <a:solidFill>
                  <a:srgbClr val="008000"/>
                </a:solidFill>
                <a:effectLst/>
              </a:rPr>
              <a:t> ng-controller</a:t>
            </a:r>
            <a:r>
              <a:rPr lang="en-IN" sz="1600" dirty="0">
                <a:solidFill>
                  <a:srgbClr val="005CC5"/>
                </a:solidFill>
                <a:effectLst/>
              </a:rPr>
              <a:t>="</a:t>
            </a:r>
            <a:r>
              <a:rPr lang="en-IN" sz="1600" dirty="0" err="1">
                <a:solidFill>
                  <a:srgbClr val="005CC5"/>
                </a:solidFill>
                <a:effectLst/>
              </a:rPr>
              <a:t>namesCtrl</a:t>
            </a:r>
            <a:r>
              <a:rPr lang="en-IN" sz="1600" dirty="0">
                <a:solidFill>
                  <a:srgbClr val="005CC5"/>
                </a:solidFill>
                <a:effectLst/>
              </a:rPr>
              <a:t>"</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ul</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008000"/>
                </a:solidFill>
                <a:effectLst/>
              </a:rPr>
              <a:t> ng-repeat</a:t>
            </a:r>
            <a:r>
              <a:rPr lang="en-IN" sz="1600" dirty="0">
                <a:solidFill>
                  <a:srgbClr val="005CC5"/>
                </a:solidFill>
                <a:effectLst/>
              </a:rPr>
              <a:t>="x in names"</a:t>
            </a:r>
            <a:r>
              <a:rPr lang="en-IN" sz="1600" dirty="0">
                <a:solidFill>
                  <a:srgbClr val="999999"/>
                </a:solidFill>
                <a:effectLst/>
              </a:rPr>
              <a:t>&gt;</a:t>
            </a:r>
            <a:br>
              <a:rPr lang="en-IN" sz="1600" dirty="0"/>
            </a:br>
            <a:r>
              <a:rPr lang="en-IN" sz="1600" dirty="0"/>
              <a:t>    </a:t>
            </a:r>
            <a:r>
              <a:rPr lang="en-IN" sz="1600" dirty="0">
                <a:solidFill>
                  <a:srgbClr val="D73A49"/>
                </a:solidFill>
                <a:effectLst/>
              </a:rPr>
              <a:t>{{ x.name + ', ' + </a:t>
            </a:r>
            <a:r>
              <a:rPr lang="en-IN" sz="1600" dirty="0" err="1">
                <a:solidFill>
                  <a:srgbClr val="D73A49"/>
                </a:solidFill>
                <a:effectLst/>
              </a:rPr>
              <a:t>x.country</a:t>
            </a:r>
            <a:r>
              <a:rPr lang="en-IN" sz="1600" dirty="0">
                <a:solidFill>
                  <a:srgbClr val="D73A49"/>
                </a:solidFill>
                <a:effectLst/>
              </a:rPr>
              <a:t> }}</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/ul</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script</a:t>
            </a:r>
            <a:r>
              <a:rPr lang="en-IN" sz="1600" dirty="0">
                <a:solidFill>
                  <a:srgbClr val="008000"/>
                </a:solidFill>
                <a:effectLst/>
              </a:rPr>
              <a:t> </a:t>
            </a:r>
            <a:r>
              <a:rPr lang="en-IN" sz="1600" dirty="0" err="1">
                <a:solidFill>
                  <a:srgbClr val="008000"/>
                </a:solidFill>
                <a:effectLst/>
              </a:rPr>
              <a:t>src</a:t>
            </a:r>
            <a:r>
              <a:rPr lang="en-IN" sz="1600" dirty="0">
                <a:solidFill>
                  <a:srgbClr val="005CC5"/>
                </a:solidFill>
                <a:effectLst/>
              </a:rPr>
              <a:t>="namesController.js"</a:t>
            </a:r>
            <a:r>
              <a:rPr lang="en-IN" sz="1600" dirty="0">
                <a:solidFill>
                  <a:srgbClr val="999999"/>
                </a:solidFill>
                <a:effectLst/>
              </a:rPr>
              <a:t>&gt;&lt;</a:t>
            </a:r>
            <a:r>
              <a:rPr lang="en-IN" sz="1600" dirty="0">
                <a:solidFill>
                  <a:srgbClr val="990055"/>
                </a:solidFill>
                <a:effectLst/>
              </a:rPr>
              <a:t>/script</a:t>
            </a:r>
            <a:r>
              <a:rPr lang="en-IN" sz="1600" dirty="0">
                <a:solidFill>
                  <a:srgbClr val="999999"/>
                </a:solidFill>
                <a:effectLst/>
              </a:rPr>
              <a:t>&gt;</a:t>
            </a:r>
            <a:r>
              <a:rPr lang="en-IN" sz="16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4004613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8529F-1280-A0AB-E7C7-A628845ECD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17291A-01F2-80B2-6A40-053C17B15785}"/>
              </a:ext>
            </a:extLst>
          </p:cNvPr>
          <p:cNvSpPr>
            <a:spLocks noGrp="1"/>
          </p:cNvSpPr>
          <p:nvPr>
            <p:ph idx="1"/>
          </p:nvPr>
        </p:nvSpPr>
        <p:spPr>
          <a:xfrm>
            <a:off x="838200" y="254524"/>
            <a:ext cx="10515600" cy="6410227"/>
          </a:xfrm>
        </p:spPr>
        <p:txBody>
          <a:bodyPr/>
          <a:lstStyle/>
          <a:p>
            <a:r>
              <a:rPr lang="en-IN" b="1" dirty="0"/>
              <a:t>AngularJS Filters</a:t>
            </a:r>
            <a:endParaRPr lang="en-US" dirty="0"/>
          </a:p>
          <a:p>
            <a:pPr lvl="1" algn="just"/>
            <a:r>
              <a:rPr lang="en-US" dirty="0"/>
              <a:t>Filters can be added in AngularJS to format data.</a:t>
            </a:r>
          </a:p>
          <a:p>
            <a:pPr lvl="1"/>
            <a:r>
              <a:rPr lang="en-US" dirty="0"/>
              <a:t>AngularJS provides filters to transform data:</a:t>
            </a:r>
          </a:p>
          <a:p>
            <a:pPr lvl="2"/>
            <a:r>
              <a:rPr lang="en-US" dirty="0">
                <a:solidFill>
                  <a:srgbClr val="FF3399"/>
                </a:solidFill>
              </a:rPr>
              <a:t>currency</a:t>
            </a:r>
            <a:r>
              <a:rPr lang="en-US" dirty="0"/>
              <a:t> Format a number to a currency format.</a:t>
            </a:r>
          </a:p>
          <a:p>
            <a:pPr lvl="2"/>
            <a:r>
              <a:rPr lang="en-US" dirty="0">
                <a:solidFill>
                  <a:srgbClr val="FF3399"/>
                </a:solidFill>
              </a:rPr>
              <a:t>date</a:t>
            </a:r>
            <a:r>
              <a:rPr lang="en-US" dirty="0"/>
              <a:t> Format a date to a specified format.</a:t>
            </a:r>
          </a:p>
          <a:p>
            <a:pPr lvl="2"/>
            <a:r>
              <a:rPr lang="en-US" dirty="0">
                <a:solidFill>
                  <a:srgbClr val="FF3399"/>
                </a:solidFill>
              </a:rPr>
              <a:t>filter</a:t>
            </a:r>
            <a:r>
              <a:rPr lang="en-US" dirty="0"/>
              <a:t> Select a subset of items from an array.</a:t>
            </a:r>
          </a:p>
          <a:p>
            <a:pPr lvl="2"/>
            <a:r>
              <a:rPr lang="en-US" dirty="0" err="1">
                <a:solidFill>
                  <a:srgbClr val="FF3399"/>
                </a:solidFill>
              </a:rPr>
              <a:t>json</a:t>
            </a:r>
            <a:r>
              <a:rPr lang="en-US" dirty="0"/>
              <a:t> Format an object to a JSON string.</a:t>
            </a:r>
          </a:p>
          <a:p>
            <a:pPr lvl="2"/>
            <a:r>
              <a:rPr lang="en-US" dirty="0" err="1">
                <a:solidFill>
                  <a:srgbClr val="FF3399"/>
                </a:solidFill>
              </a:rPr>
              <a:t>limitTo</a:t>
            </a:r>
            <a:r>
              <a:rPr lang="en-US" dirty="0"/>
              <a:t> Limits an array/string, into a specified number of elements/characters.</a:t>
            </a:r>
          </a:p>
          <a:p>
            <a:pPr lvl="2"/>
            <a:r>
              <a:rPr lang="en-US" dirty="0">
                <a:solidFill>
                  <a:srgbClr val="FF3399"/>
                </a:solidFill>
              </a:rPr>
              <a:t>lowercase</a:t>
            </a:r>
            <a:r>
              <a:rPr lang="en-US" dirty="0"/>
              <a:t> Format a string to lower case.</a:t>
            </a:r>
          </a:p>
          <a:p>
            <a:pPr lvl="2"/>
            <a:r>
              <a:rPr lang="en-US" dirty="0">
                <a:solidFill>
                  <a:srgbClr val="FF3399"/>
                </a:solidFill>
              </a:rPr>
              <a:t>number</a:t>
            </a:r>
            <a:r>
              <a:rPr lang="en-US" dirty="0"/>
              <a:t> Format a number to a string.</a:t>
            </a:r>
          </a:p>
          <a:p>
            <a:pPr lvl="2"/>
            <a:r>
              <a:rPr lang="en-US" dirty="0" err="1">
                <a:solidFill>
                  <a:srgbClr val="FF3399"/>
                </a:solidFill>
              </a:rPr>
              <a:t>orderBy</a:t>
            </a:r>
            <a:r>
              <a:rPr lang="en-US" dirty="0"/>
              <a:t> Orders an array by an expression.</a:t>
            </a:r>
          </a:p>
          <a:p>
            <a:pPr lvl="2"/>
            <a:r>
              <a:rPr lang="en-US" dirty="0">
                <a:solidFill>
                  <a:srgbClr val="FF3399"/>
                </a:solidFill>
              </a:rPr>
              <a:t>uppercase</a:t>
            </a:r>
            <a:r>
              <a:rPr lang="en-US" dirty="0"/>
              <a:t> Format a string to upper case.</a:t>
            </a:r>
          </a:p>
          <a:p>
            <a:pPr lvl="1" algn="just"/>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980476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51DB2-6AD2-9FED-50C6-E6D4F79EBB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7ACD76-DDBD-DAB8-9EAE-13744D9C8F9D}"/>
              </a:ext>
            </a:extLst>
          </p:cNvPr>
          <p:cNvSpPr>
            <a:spLocks noGrp="1"/>
          </p:cNvSpPr>
          <p:nvPr>
            <p:ph idx="1"/>
          </p:nvPr>
        </p:nvSpPr>
        <p:spPr>
          <a:xfrm>
            <a:off x="838200" y="254524"/>
            <a:ext cx="10515600" cy="6410227"/>
          </a:xfrm>
        </p:spPr>
        <p:txBody>
          <a:bodyPr>
            <a:normAutofit/>
          </a:bodyPr>
          <a:lstStyle/>
          <a:p>
            <a:r>
              <a:rPr lang="en-US" dirty="0"/>
              <a:t>Continued…</a:t>
            </a:r>
          </a:p>
          <a:p>
            <a:pPr algn="just"/>
            <a:r>
              <a:rPr lang="en-IN" sz="2400" b="1" dirty="0"/>
              <a:t>Adding Filters to Expressions</a:t>
            </a:r>
          </a:p>
          <a:p>
            <a:pPr lvl="1"/>
            <a:r>
              <a:rPr lang="en-US" sz="2000" dirty="0"/>
              <a:t>Filters can be added to expressions by using the pipe character </a:t>
            </a:r>
            <a:r>
              <a:rPr lang="en-US" dirty="0">
                <a:solidFill>
                  <a:srgbClr val="FF3399"/>
                </a:solidFill>
              </a:rPr>
              <a:t>|</a:t>
            </a:r>
            <a:r>
              <a:rPr lang="en-US" sz="2000" dirty="0"/>
              <a:t>, followed by a filter.</a:t>
            </a:r>
          </a:p>
          <a:p>
            <a:pPr lvl="1"/>
            <a:r>
              <a:rPr lang="en-US" sz="2000" dirty="0"/>
              <a:t>The uppercase filter format strings to upper case:</a:t>
            </a:r>
          </a:p>
          <a:p>
            <a:pPr>
              <a:buNone/>
            </a:pPr>
            <a:r>
              <a:rPr lang="en-IN" sz="1600" dirty="0">
                <a:solidFill>
                  <a:srgbClr val="999999"/>
                </a:solidFill>
                <a:effectLst/>
              </a:rPr>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ng-app</a:t>
            </a:r>
            <a:r>
              <a:rPr lang="en-IN" sz="2000" dirty="0">
                <a:solidFill>
                  <a:srgbClr val="005CC5"/>
                </a:solidFill>
                <a:effectLst/>
              </a:rPr>
              <a:t>="</a:t>
            </a:r>
            <a:r>
              <a:rPr lang="en-IN" sz="2000" dirty="0" err="1">
                <a:solidFill>
                  <a:srgbClr val="005CC5"/>
                </a:solidFill>
                <a:effectLst/>
              </a:rPr>
              <a:t>myApp</a:t>
            </a:r>
            <a:r>
              <a:rPr lang="en-IN" sz="2000" dirty="0">
                <a:solidFill>
                  <a:srgbClr val="005CC5"/>
                </a:solidFill>
                <a:effectLst/>
              </a:rPr>
              <a:t>"</a:t>
            </a:r>
            <a:r>
              <a:rPr lang="en-IN" sz="2000" dirty="0">
                <a:solidFill>
                  <a:srgbClr val="008000"/>
                </a:solidFill>
                <a:effectLst/>
              </a:rPr>
              <a:t> ng-controller</a:t>
            </a:r>
            <a:r>
              <a:rPr lang="en-IN" sz="2000" dirty="0">
                <a:solidFill>
                  <a:srgbClr val="005CC5"/>
                </a:solidFill>
                <a:effectLst/>
              </a:rPr>
              <a:t>="</a:t>
            </a:r>
            <a:r>
              <a:rPr lang="en-IN" sz="2000" dirty="0" err="1">
                <a:solidFill>
                  <a:srgbClr val="005CC5"/>
                </a:solidFill>
                <a:effectLst/>
              </a:rPr>
              <a:t>personCtrl</a:t>
            </a:r>
            <a:r>
              <a:rPr lang="en-IN" sz="2000" dirty="0">
                <a:solidFill>
                  <a:srgbClr val="005CC5"/>
                </a:solidFill>
                <a:effectLst/>
              </a:rPr>
              <a:t>"</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p</a:t>
            </a:r>
            <a:r>
              <a:rPr lang="en-IN" sz="2000" dirty="0">
                <a:solidFill>
                  <a:srgbClr val="999999"/>
                </a:solidFill>
                <a:effectLst/>
              </a:rPr>
              <a:t>&gt;</a:t>
            </a:r>
            <a:r>
              <a:rPr lang="en-IN" sz="2000" dirty="0"/>
              <a:t>The name is </a:t>
            </a:r>
            <a:r>
              <a:rPr lang="en-IN" sz="2000" dirty="0">
                <a:solidFill>
                  <a:srgbClr val="D73A49"/>
                </a:solidFill>
                <a:effectLst/>
              </a:rPr>
              <a:t>{{ </a:t>
            </a:r>
            <a:r>
              <a:rPr lang="en-IN" sz="2000" dirty="0" err="1">
                <a:solidFill>
                  <a:srgbClr val="D73A49"/>
                </a:solidFill>
                <a:effectLst/>
              </a:rPr>
              <a:t>lastName</a:t>
            </a:r>
            <a:r>
              <a:rPr lang="en-IN" sz="2000" dirty="0">
                <a:solidFill>
                  <a:srgbClr val="D73A49"/>
                </a:solidFill>
                <a:effectLst/>
              </a:rPr>
              <a:t> | uppercase }}</a:t>
            </a:r>
            <a:r>
              <a:rPr lang="en-IN" sz="2000" dirty="0">
                <a:solidFill>
                  <a:srgbClr val="999999"/>
                </a:solidFill>
                <a:effectLst/>
              </a:rPr>
              <a:t>&lt;</a:t>
            </a:r>
            <a:r>
              <a:rPr lang="en-IN" sz="2000" dirty="0">
                <a:solidFill>
                  <a:srgbClr val="990055"/>
                </a:solidFill>
                <a:effectLst/>
              </a:rPr>
              <a:t>/p</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pPr lvl="1" algn="just"/>
            <a:r>
              <a:rPr lang="en-US" sz="2000" dirty="0"/>
              <a:t>The </a:t>
            </a:r>
            <a:r>
              <a:rPr lang="en-US" dirty="0">
                <a:solidFill>
                  <a:srgbClr val="FF3399"/>
                </a:solidFill>
              </a:rPr>
              <a:t>lowercase</a:t>
            </a:r>
            <a:r>
              <a:rPr lang="en-US" sz="2000" dirty="0"/>
              <a:t> filter format strings to lower case</a:t>
            </a:r>
          </a:p>
          <a:p>
            <a:pPr algn="just"/>
            <a:r>
              <a:rPr lang="en-IN" sz="2400" b="1" dirty="0"/>
              <a:t>Adding Filters to Directives</a:t>
            </a:r>
          </a:p>
          <a:p>
            <a:pPr lvl="1" algn="just"/>
            <a:r>
              <a:rPr lang="en-US" sz="2000" dirty="0"/>
              <a:t>Filters are added to directives, like </a:t>
            </a:r>
            <a:r>
              <a:rPr lang="en-US" dirty="0"/>
              <a:t>ng-repeat</a:t>
            </a:r>
            <a:r>
              <a:rPr lang="en-US" sz="2000" dirty="0"/>
              <a:t>, by using the pipe character </a:t>
            </a:r>
            <a:r>
              <a:rPr lang="en-US" dirty="0"/>
              <a:t>|</a:t>
            </a:r>
            <a:r>
              <a:rPr lang="en-US" sz="2000" dirty="0"/>
              <a:t>, followed by a filter:</a:t>
            </a:r>
          </a:p>
          <a:p>
            <a:pPr>
              <a:buNone/>
            </a:pPr>
            <a:r>
              <a:rPr lang="en-IN" sz="1600" dirty="0">
                <a:solidFill>
                  <a:srgbClr val="999999"/>
                </a:solidFill>
                <a:effectLst/>
              </a:rPr>
              <a:t>	</a:t>
            </a:r>
            <a:r>
              <a:rPr lang="en-IN" sz="1800" dirty="0">
                <a:solidFill>
                  <a:srgbClr val="999999"/>
                </a:solidFill>
                <a:effectLst/>
              </a:rPr>
              <a:t>&lt;</a:t>
            </a:r>
            <a:r>
              <a:rPr lang="en-IN" sz="1800" dirty="0">
                <a:solidFill>
                  <a:srgbClr val="990055"/>
                </a:solidFill>
                <a:effectLst/>
              </a:rPr>
              <a:t>div</a:t>
            </a:r>
            <a:r>
              <a:rPr lang="en-IN" sz="1800" dirty="0">
                <a:solidFill>
                  <a:srgbClr val="008000"/>
                </a:solidFill>
                <a:effectLst/>
              </a:rPr>
              <a:t> ng-app</a:t>
            </a:r>
            <a:r>
              <a:rPr lang="en-IN" sz="1800" dirty="0">
                <a:solidFill>
                  <a:srgbClr val="005CC5"/>
                </a:solidFill>
                <a:effectLst/>
              </a:rPr>
              <a:t>="</a:t>
            </a:r>
            <a:r>
              <a:rPr lang="en-IN" sz="1800" dirty="0" err="1">
                <a:solidFill>
                  <a:srgbClr val="005CC5"/>
                </a:solidFill>
                <a:effectLst/>
              </a:rPr>
              <a:t>myApp</a:t>
            </a:r>
            <a:r>
              <a:rPr lang="en-IN" sz="1800" dirty="0">
                <a:solidFill>
                  <a:srgbClr val="005CC5"/>
                </a:solidFill>
                <a:effectLst/>
              </a:rPr>
              <a:t>"</a:t>
            </a:r>
            <a:r>
              <a:rPr lang="en-IN" sz="1800" dirty="0">
                <a:solidFill>
                  <a:srgbClr val="008000"/>
                </a:solidFill>
                <a:effectLst/>
              </a:rPr>
              <a:t> ng-controller</a:t>
            </a:r>
            <a:r>
              <a:rPr lang="en-IN" sz="1800" dirty="0">
                <a:solidFill>
                  <a:srgbClr val="005CC5"/>
                </a:solidFill>
                <a:effectLst/>
              </a:rPr>
              <a:t>="</a:t>
            </a:r>
            <a:r>
              <a:rPr lang="en-IN" sz="1800" dirty="0" err="1">
                <a:solidFill>
                  <a:srgbClr val="005CC5"/>
                </a:solidFill>
                <a:effectLst/>
              </a:rPr>
              <a:t>namesCtrl</a:t>
            </a:r>
            <a:r>
              <a:rPr lang="en-IN" sz="1800" dirty="0">
                <a:solidFill>
                  <a:srgbClr val="005CC5"/>
                </a:solidFill>
                <a:effectLst/>
              </a:rPr>
              <a:t>"</a:t>
            </a:r>
            <a:r>
              <a:rPr lang="en-IN" sz="1800" dirty="0">
                <a:solidFill>
                  <a:srgbClr val="999999"/>
                </a:solidFill>
                <a:effectLst/>
              </a:rPr>
              <a:t>&gt;</a:t>
            </a:r>
            <a:br>
              <a:rPr lang="en-IN" sz="1800" dirty="0"/>
            </a:br>
            <a:r>
              <a:rPr lang="en-IN" sz="1800" dirty="0"/>
              <a:t>	</a:t>
            </a:r>
            <a:r>
              <a:rPr lang="en-IN" sz="1800" dirty="0">
                <a:solidFill>
                  <a:srgbClr val="999999"/>
                </a:solidFill>
                <a:effectLst/>
              </a:rPr>
              <a:t>&lt;</a:t>
            </a:r>
            <a:r>
              <a:rPr lang="en-IN" sz="1800" dirty="0">
                <a:solidFill>
                  <a:srgbClr val="990055"/>
                </a:solidFill>
                <a:effectLst/>
              </a:rPr>
              <a:t>ul</a:t>
            </a:r>
            <a:r>
              <a:rPr lang="en-IN" sz="1800" dirty="0">
                <a:solidFill>
                  <a:srgbClr val="999999"/>
                </a:solidFill>
                <a:effectLst/>
              </a:rPr>
              <a:t>&gt;</a:t>
            </a:r>
            <a:br>
              <a:rPr lang="en-IN" sz="1800" dirty="0"/>
            </a:br>
            <a:r>
              <a:rPr lang="en-IN" sz="1800" dirty="0"/>
              <a:t>		</a:t>
            </a:r>
            <a:r>
              <a:rPr lang="en-IN" sz="1800" dirty="0">
                <a:solidFill>
                  <a:srgbClr val="999999"/>
                </a:solidFill>
                <a:effectLst/>
              </a:rPr>
              <a:t>&lt;</a:t>
            </a:r>
            <a:r>
              <a:rPr lang="en-IN" sz="1800" dirty="0">
                <a:solidFill>
                  <a:srgbClr val="990055"/>
                </a:solidFill>
                <a:effectLst/>
              </a:rPr>
              <a:t>li</a:t>
            </a:r>
            <a:r>
              <a:rPr lang="en-IN" sz="1800" dirty="0">
                <a:solidFill>
                  <a:srgbClr val="008000"/>
                </a:solidFill>
                <a:effectLst/>
              </a:rPr>
              <a:t> ng-repeat</a:t>
            </a:r>
            <a:r>
              <a:rPr lang="en-IN" sz="1800" dirty="0">
                <a:solidFill>
                  <a:srgbClr val="005CC5"/>
                </a:solidFill>
                <a:effectLst/>
              </a:rPr>
              <a:t>="x in names | </a:t>
            </a:r>
            <a:r>
              <a:rPr lang="en-IN" sz="1800" dirty="0" err="1">
                <a:solidFill>
                  <a:srgbClr val="005CC5"/>
                </a:solidFill>
                <a:effectLst/>
              </a:rPr>
              <a:t>orderBy</a:t>
            </a:r>
            <a:r>
              <a:rPr lang="en-IN" sz="1800" dirty="0">
                <a:solidFill>
                  <a:srgbClr val="005CC5"/>
                </a:solidFill>
                <a:effectLst/>
              </a:rPr>
              <a:t>:'country'"</a:t>
            </a:r>
            <a:r>
              <a:rPr lang="en-IN" sz="1800" dirty="0">
                <a:solidFill>
                  <a:srgbClr val="999999"/>
                </a:solidFill>
                <a:effectLst/>
              </a:rPr>
              <a:t>&gt;</a:t>
            </a:r>
            <a:br>
              <a:rPr lang="en-IN" sz="1800" dirty="0"/>
            </a:br>
            <a:r>
              <a:rPr lang="en-IN" sz="1800" dirty="0"/>
              <a:t>    			</a:t>
            </a:r>
            <a:r>
              <a:rPr lang="en-IN" sz="1800" dirty="0">
                <a:solidFill>
                  <a:srgbClr val="D73A49"/>
                </a:solidFill>
                <a:effectLst/>
              </a:rPr>
              <a:t>{{ x.name + ', ' + </a:t>
            </a:r>
            <a:r>
              <a:rPr lang="en-IN" sz="1800" dirty="0" err="1">
                <a:solidFill>
                  <a:srgbClr val="D73A49"/>
                </a:solidFill>
                <a:effectLst/>
              </a:rPr>
              <a:t>x.country</a:t>
            </a:r>
            <a:r>
              <a:rPr lang="en-IN" sz="1800" dirty="0">
                <a:solidFill>
                  <a:srgbClr val="D73A49"/>
                </a:solidFill>
                <a:effectLst/>
              </a:rPr>
              <a:t> }}</a:t>
            </a:r>
            <a:br>
              <a:rPr lang="en-IN" sz="1800" dirty="0"/>
            </a:br>
            <a:r>
              <a:rPr lang="en-IN" sz="1800" dirty="0"/>
              <a:t>		</a:t>
            </a:r>
            <a:r>
              <a:rPr lang="en-IN" sz="1800" dirty="0">
                <a:solidFill>
                  <a:srgbClr val="999999"/>
                </a:solidFill>
                <a:effectLst/>
              </a:rPr>
              <a:t>&lt;</a:t>
            </a:r>
            <a:r>
              <a:rPr lang="en-IN" sz="1800" dirty="0">
                <a:solidFill>
                  <a:srgbClr val="990055"/>
                </a:solidFill>
                <a:effectLst/>
              </a:rPr>
              <a:t>/li</a:t>
            </a:r>
            <a:r>
              <a:rPr lang="en-IN" sz="1800" dirty="0">
                <a:solidFill>
                  <a:srgbClr val="999999"/>
                </a:solidFill>
                <a:effectLst/>
              </a:rPr>
              <a:t>&gt;</a:t>
            </a:r>
            <a:br>
              <a:rPr lang="en-IN" sz="1800" dirty="0"/>
            </a:br>
            <a:r>
              <a:rPr lang="en-IN" sz="1800" dirty="0"/>
              <a:t>	</a:t>
            </a:r>
            <a:r>
              <a:rPr lang="en-IN" sz="1800" dirty="0">
                <a:solidFill>
                  <a:srgbClr val="999999"/>
                </a:solidFill>
                <a:effectLst/>
              </a:rPr>
              <a:t>&lt;</a:t>
            </a:r>
            <a:r>
              <a:rPr lang="en-IN" sz="1800" dirty="0">
                <a:solidFill>
                  <a:srgbClr val="990055"/>
                </a:solidFill>
                <a:effectLst/>
              </a:rPr>
              <a:t>/ul</a:t>
            </a:r>
            <a:r>
              <a:rPr lang="en-IN" sz="1800" dirty="0">
                <a:solidFill>
                  <a:srgbClr val="999999"/>
                </a:solidFill>
                <a:effectLst/>
              </a:rPr>
              <a:t>&gt;</a:t>
            </a:r>
            <a:br>
              <a:rPr lang="en-IN" sz="1800" dirty="0"/>
            </a:br>
            <a:r>
              <a:rPr lang="en-IN" sz="1800" dirty="0">
                <a:solidFill>
                  <a:srgbClr val="999999"/>
                </a:solidFill>
                <a:effectLst/>
              </a:rPr>
              <a:t>&lt;</a:t>
            </a:r>
            <a:r>
              <a:rPr lang="en-IN" sz="1800" dirty="0">
                <a:solidFill>
                  <a:srgbClr val="990055"/>
                </a:solidFill>
                <a:effectLst/>
              </a:rPr>
              <a:t>/div</a:t>
            </a:r>
            <a:r>
              <a:rPr lang="en-IN" sz="1800" dirty="0">
                <a:solidFill>
                  <a:srgbClr val="999999"/>
                </a:solidFill>
                <a:effectLst/>
              </a:rPr>
              <a:t>&gt;</a:t>
            </a:r>
            <a:r>
              <a:rPr lang="en-IN" sz="1800" dirty="0"/>
              <a:t> </a:t>
            </a:r>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40172347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D1206-2E4B-3EFD-44CD-3E73026A48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09A24A-18C6-B7E6-8DD5-02C2E4B59C3B}"/>
              </a:ext>
            </a:extLst>
          </p:cNvPr>
          <p:cNvSpPr>
            <a:spLocks noGrp="1"/>
          </p:cNvSpPr>
          <p:nvPr>
            <p:ph idx="1"/>
          </p:nvPr>
        </p:nvSpPr>
        <p:spPr>
          <a:xfrm>
            <a:off x="395926" y="254525"/>
            <a:ext cx="3761295" cy="6297104"/>
          </a:xfrm>
        </p:spPr>
        <p:txBody>
          <a:bodyPr/>
          <a:lstStyle/>
          <a:p>
            <a:r>
              <a:rPr lang="en-US" dirty="0"/>
              <a:t>Continued…</a:t>
            </a:r>
          </a:p>
          <a:p>
            <a:r>
              <a:rPr lang="en-US" sz="2400" b="1" dirty="0"/>
              <a:t>The filter </a:t>
            </a:r>
            <a:r>
              <a:rPr lang="en-US" sz="2400" b="1" dirty="0" err="1"/>
              <a:t>Filter</a:t>
            </a:r>
            <a:endParaRPr lang="en-US" sz="2400" b="1" dirty="0"/>
          </a:p>
          <a:p>
            <a:pPr lvl="1"/>
            <a:r>
              <a:rPr lang="en-US" sz="2000" dirty="0"/>
              <a:t>The </a:t>
            </a:r>
            <a:r>
              <a:rPr lang="en-US" dirty="0">
                <a:solidFill>
                  <a:srgbClr val="FF3399"/>
                </a:solidFill>
              </a:rPr>
              <a:t>filter</a:t>
            </a:r>
            <a:r>
              <a:rPr lang="en-US" sz="2000" dirty="0"/>
              <a:t> </a:t>
            </a:r>
            <a:r>
              <a:rPr lang="en-US" sz="2000" dirty="0" err="1"/>
              <a:t>filter</a:t>
            </a:r>
            <a:r>
              <a:rPr lang="en-US" sz="2000" dirty="0"/>
              <a:t> selects a subset of an array.</a:t>
            </a:r>
          </a:p>
          <a:p>
            <a:pPr lvl="1"/>
            <a:r>
              <a:rPr lang="en-US" sz="2000" dirty="0"/>
              <a:t>The </a:t>
            </a:r>
            <a:r>
              <a:rPr lang="en-US" dirty="0">
                <a:solidFill>
                  <a:srgbClr val="FF3399"/>
                </a:solidFill>
              </a:rPr>
              <a:t>filter</a:t>
            </a:r>
            <a:r>
              <a:rPr lang="en-US" sz="2000" dirty="0"/>
              <a:t> </a:t>
            </a:r>
            <a:r>
              <a:rPr lang="en-US" sz="2000" dirty="0" err="1"/>
              <a:t>filter</a:t>
            </a:r>
            <a:r>
              <a:rPr lang="en-US" sz="2000" dirty="0"/>
              <a:t> can only be used on arrays, and it returns an array containing only the matching items.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6" name="Picture 5">
            <a:extLst>
              <a:ext uri="{FF2B5EF4-FFF2-40B4-BE49-F238E27FC236}">
                <a16:creationId xmlns:a16="http://schemas.microsoft.com/office/drawing/2014/main" id="{BC6206E5-E61B-70B3-753E-AAC7DB04D5BE}"/>
              </a:ext>
            </a:extLst>
          </p:cNvPr>
          <p:cNvPicPr>
            <a:picLocks noChangeAspect="1"/>
          </p:cNvPicPr>
          <p:nvPr/>
        </p:nvPicPr>
        <p:blipFill>
          <a:blip r:embed="rId2"/>
          <a:stretch>
            <a:fillRect/>
          </a:stretch>
        </p:blipFill>
        <p:spPr>
          <a:xfrm>
            <a:off x="4383464" y="523236"/>
            <a:ext cx="7485180" cy="5811528"/>
          </a:xfrm>
          <a:prstGeom prst="rect">
            <a:avLst/>
          </a:prstGeom>
        </p:spPr>
      </p:pic>
    </p:spTree>
    <p:extLst>
      <p:ext uri="{BB962C8B-B14F-4D97-AF65-F5344CB8AC3E}">
        <p14:creationId xmlns:p14="http://schemas.microsoft.com/office/powerpoint/2010/main" val="25306120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BFD2-B3FC-EC9A-B907-43FAD922B0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08D9BE-749F-7D9D-836A-5845BD8AA392}"/>
              </a:ext>
            </a:extLst>
          </p:cNvPr>
          <p:cNvSpPr>
            <a:spLocks noGrp="1"/>
          </p:cNvSpPr>
          <p:nvPr>
            <p:ph idx="1"/>
          </p:nvPr>
        </p:nvSpPr>
        <p:spPr>
          <a:xfrm>
            <a:off x="442274" y="223886"/>
            <a:ext cx="3846922" cy="6410227"/>
          </a:xfrm>
        </p:spPr>
        <p:txBody>
          <a:bodyPr/>
          <a:lstStyle/>
          <a:p>
            <a:r>
              <a:rPr lang="en-US" b="1" dirty="0"/>
              <a:t>Filter an Array Based on User Input</a:t>
            </a:r>
          </a:p>
          <a:p>
            <a:endParaRPr lang="en-US" dirty="0"/>
          </a:p>
          <a:p>
            <a:r>
              <a:rPr lang="en-US" sz="2400" dirty="0"/>
              <a:t>By setting the </a:t>
            </a:r>
            <a:r>
              <a:rPr lang="en-US" dirty="0"/>
              <a:t>ng-model</a:t>
            </a:r>
            <a:r>
              <a:rPr lang="en-US" sz="2400" dirty="0"/>
              <a:t> directive on an input field, we can use the value of the input field as an expression in a filter.</a:t>
            </a:r>
          </a:p>
          <a:p>
            <a:r>
              <a:rPr lang="en-US" sz="2400" dirty="0"/>
              <a:t>Type a letter in the input field, and the list will shrink/grow depending on the match</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id="{F8D65D82-2ECD-83F6-9D2E-476134FC6CF4}"/>
              </a:ext>
            </a:extLst>
          </p:cNvPr>
          <p:cNvPicPr>
            <a:picLocks noChangeAspect="1"/>
          </p:cNvPicPr>
          <p:nvPr/>
        </p:nvPicPr>
        <p:blipFill>
          <a:blip r:embed="rId2"/>
          <a:stretch>
            <a:fillRect/>
          </a:stretch>
        </p:blipFill>
        <p:spPr>
          <a:xfrm>
            <a:off x="4472971" y="506690"/>
            <a:ext cx="7087208" cy="5693790"/>
          </a:xfrm>
          <a:prstGeom prst="rect">
            <a:avLst/>
          </a:prstGeom>
        </p:spPr>
      </p:pic>
    </p:spTree>
    <p:extLst>
      <p:ext uri="{BB962C8B-B14F-4D97-AF65-F5344CB8AC3E}">
        <p14:creationId xmlns:p14="http://schemas.microsoft.com/office/powerpoint/2010/main" val="23776800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4819D-1E48-A7FA-344D-715124F102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1018A-197A-67C0-BA1B-D665FA47226C}"/>
              </a:ext>
            </a:extLst>
          </p:cNvPr>
          <p:cNvSpPr>
            <a:spLocks noGrp="1"/>
          </p:cNvSpPr>
          <p:nvPr>
            <p:ph idx="1"/>
          </p:nvPr>
        </p:nvSpPr>
        <p:spPr>
          <a:xfrm>
            <a:off x="282804" y="254524"/>
            <a:ext cx="11510128" cy="6410227"/>
          </a:xfrm>
        </p:spPr>
        <p:txBody>
          <a:bodyPr/>
          <a:lstStyle/>
          <a:p>
            <a:r>
              <a:rPr lang="en-IN" b="1" dirty="0"/>
              <a:t>Custom Filters</a:t>
            </a:r>
            <a:endParaRPr lang="en-US" dirty="0"/>
          </a:p>
          <a:p>
            <a:pPr algn="just"/>
            <a:r>
              <a:rPr lang="en-US" sz="2400" dirty="0"/>
              <a:t>You can make your own filters by registering a new filter factory function with your module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id="{0A251B64-DA2D-5A75-CE65-6EF28FD68BBA}"/>
              </a:ext>
            </a:extLst>
          </p:cNvPr>
          <p:cNvPicPr>
            <a:picLocks noChangeAspect="1"/>
          </p:cNvPicPr>
          <p:nvPr/>
        </p:nvPicPr>
        <p:blipFill>
          <a:blip r:embed="rId2"/>
          <a:stretch>
            <a:fillRect/>
          </a:stretch>
        </p:blipFill>
        <p:spPr>
          <a:xfrm>
            <a:off x="0" y="2271861"/>
            <a:ext cx="6182807" cy="4179828"/>
          </a:xfrm>
          <a:prstGeom prst="rect">
            <a:avLst/>
          </a:prstGeom>
        </p:spPr>
      </p:pic>
      <p:pic>
        <p:nvPicPr>
          <p:cNvPr id="6" name="Picture 5">
            <a:extLst>
              <a:ext uri="{FF2B5EF4-FFF2-40B4-BE49-F238E27FC236}">
                <a16:creationId xmlns:a16="http://schemas.microsoft.com/office/drawing/2014/main" id="{997C7EA3-47F0-CDC5-35D2-0DF603E6E239}"/>
              </a:ext>
            </a:extLst>
          </p:cNvPr>
          <p:cNvPicPr>
            <a:picLocks noChangeAspect="1"/>
          </p:cNvPicPr>
          <p:nvPr/>
        </p:nvPicPr>
        <p:blipFill>
          <a:blip r:embed="rId3"/>
          <a:stretch>
            <a:fillRect/>
          </a:stretch>
        </p:blipFill>
        <p:spPr>
          <a:xfrm>
            <a:off x="6182807" y="2271861"/>
            <a:ext cx="5895860" cy="3038136"/>
          </a:xfrm>
          <a:prstGeom prst="rect">
            <a:avLst/>
          </a:prstGeom>
        </p:spPr>
      </p:pic>
    </p:spTree>
    <p:extLst>
      <p:ext uri="{BB962C8B-B14F-4D97-AF65-F5344CB8AC3E}">
        <p14:creationId xmlns:p14="http://schemas.microsoft.com/office/powerpoint/2010/main" val="34121937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8CDB5-D94A-70BA-6627-A001838633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1F620-B55F-7A97-8C0F-4F10874220C0}"/>
              </a:ext>
            </a:extLst>
          </p:cNvPr>
          <p:cNvSpPr>
            <a:spLocks noGrp="1"/>
          </p:cNvSpPr>
          <p:nvPr>
            <p:ph idx="1"/>
          </p:nvPr>
        </p:nvSpPr>
        <p:spPr>
          <a:xfrm>
            <a:off x="838200" y="254524"/>
            <a:ext cx="10515600" cy="6410227"/>
          </a:xfrm>
        </p:spPr>
        <p:txBody>
          <a:bodyPr/>
          <a:lstStyle/>
          <a:p>
            <a:r>
              <a:rPr lang="en-US" dirty="0"/>
              <a:t>END</a:t>
            </a:r>
          </a:p>
          <a:p>
            <a:pPr marL="0" indent="0" algn="just">
              <a:buNone/>
            </a:pP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690041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18853</TotalTime>
  <Words>7332</Words>
  <Application>Microsoft Office PowerPoint</Application>
  <PresentationFormat>Widescreen</PresentationFormat>
  <Paragraphs>1292</Paragraphs>
  <Slides>70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Calibri</vt:lpstr>
      <vt:lpstr>Calibri Light</vt:lpstr>
      <vt:lpstr>Courier New</vt:lpstr>
      <vt:lpstr>Office Theme</vt:lpstr>
      <vt:lpstr>JQUERY and Introduction to Angular JS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47</cp:revision>
  <dcterms:created xsi:type="dcterms:W3CDTF">2025-10-11T04:36:59Z</dcterms:created>
  <dcterms:modified xsi:type="dcterms:W3CDTF">2025-10-28T05:54:19Z</dcterms:modified>
</cp:coreProperties>
</file>