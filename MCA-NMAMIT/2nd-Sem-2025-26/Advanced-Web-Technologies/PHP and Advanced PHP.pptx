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383B6B-D1E5-4C84-907B-1EF64BCE8EFE}" type="datetimeFigureOut">
              <a:rPr lang="en-IN" smtClean="0"/>
              <a:t>19-11-2025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067F66-FB55-4E75-B32A-D34FA99D3C5A}" type="slidenum">
              <a:rPr lang="en-IN" smtClean="0"/>
              <a:t>‹#›</a:t>
            </a:fld>
            <a:endParaRPr lang="en-IN"/>
          </a:p>
        </p:txBody>
      </p:sp>
    </p:spTree>
    <p:extLst>
      <p:ext uri="{BB962C8B-B14F-4D97-AF65-F5344CB8AC3E}">
        <p14:creationId xmlns:p14="http://schemas.microsoft.com/office/powerpoint/2010/main" val="5636397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C067F66-FB55-4E75-B32A-D34FA99D3C5A}" type="slidenum">
              <a:rPr lang="en-IN" smtClean="0"/>
              <a:t>36</a:t>
            </a:fld>
            <a:endParaRPr lang="en-IN"/>
          </a:p>
        </p:txBody>
      </p:sp>
    </p:spTree>
    <p:extLst>
      <p:ext uri="{BB962C8B-B14F-4D97-AF65-F5344CB8AC3E}">
        <p14:creationId xmlns:p14="http://schemas.microsoft.com/office/powerpoint/2010/main" val="37520970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544B4-706D-AF08-AF23-9D3B0542ECB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8C4A23A-F35A-C90E-17B3-18FBCEF3910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7A553B5-47A8-8654-397B-90DD66A68430}"/>
              </a:ext>
            </a:extLst>
          </p:cNvPr>
          <p:cNvSpPr>
            <a:spLocks noGrp="1"/>
          </p:cNvSpPr>
          <p:nvPr>
            <p:ph type="dt" sz="half" idx="10"/>
          </p:nvPr>
        </p:nvSpPr>
        <p:spPr/>
        <p:txBody>
          <a:bodyPr/>
          <a:lstStyle/>
          <a:p>
            <a:fld id="{D817163B-3799-419F-94C6-2CE72A98F3D1}" type="datetimeFigureOut">
              <a:rPr lang="en-IN" smtClean="0"/>
              <a:t>19-11-2025</a:t>
            </a:fld>
            <a:endParaRPr lang="en-IN"/>
          </a:p>
        </p:txBody>
      </p:sp>
      <p:sp>
        <p:nvSpPr>
          <p:cNvPr id="5" name="Footer Placeholder 4">
            <a:extLst>
              <a:ext uri="{FF2B5EF4-FFF2-40B4-BE49-F238E27FC236}">
                <a16:creationId xmlns:a16="http://schemas.microsoft.com/office/drawing/2014/main" id="{09B95408-CD85-BDF8-9C70-E2D1FCC7962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EF2894A-F16E-821F-4888-C365E659810E}"/>
              </a:ext>
            </a:extLst>
          </p:cNvPr>
          <p:cNvSpPr>
            <a:spLocks noGrp="1"/>
          </p:cNvSpPr>
          <p:nvPr>
            <p:ph type="sldNum" sz="quarter" idx="12"/>
          </p:nvPr>
        </p:nvSpPr>
        <p:spPr/>
        <p:txBody>
          <a:bodyPr/>
          <a:lstStyle/>
          <a:p>
            <a:fld id="{34524181-AA28-44DC-A7E9-7EDD9D369225}" type="slidenum">
              <a:rPr lang="en-IN" smtClean="0"/>
              <a:t>‹#›</a:t>
            </a:fld>
            <a:endParaRPr lang="en-IN"/>
          </a:p>
        </p:txBody>
      </p:sp>
    </p:spTree>
    <p:extLst>
      <p:ext uri="{BB962C8B-B14F-4D97-AF65-F5344CB8AC3E}">
        <p14:creationId xmlns:p14="http://schemas.microsoft.com/office/powerpoint/2010/main" val="26769291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3F14EF-5B8B-C08A-42F6-C886E63E148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3CC24F7-C83A-7240-4810-083B6075111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0A382AC-6AFC-A6EC-9B94-604BB159308B}"/>
              </a:ext>
            </a:extLst>
          </p:cNvPr>
          <p:cNvSpPr>
            <a:spLocks noGrp="1"/>
          </p:cNvSpPr>
          <p:nvPr>
            <p:ph type="dt" sz="half" idx="10"/>
          </p:nvPr>
        </p:nvSpPr>
        <p:spPr/>
        <p:txBody>
          <a:bodyPr/>
          <a:lstStyle/>
          <a:p>
            <a:fld id="{D817163B-3799-419F-94C6-2CE72A98F3D1}" type="datetimeFigureOut">
              <a:rPr lang="en-IN" smtClean="0"/>
              <a:t>19-11-2025</a:t>
            </a:fld>
            <a:endParaRPr lang="en-IN"/>
          </a:p>
        </p:txBody>
      </p:sp>
      <p:sp>
        <p:nvSpPr>
          <p:cNvPr id="5" name="Footer Placeholder 4">
            <a:extLst>
              <a:ext uri="{FF2B5EF4-FFF2-40B4-BE49-F238E27FC236}">
                <a16:creationId xmlns:a16="http://schemas.microsoft.com/office/drawing/2014/main" id="{083376D3-EBAC-7EEE-E05D-4320242B152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7EFE12B-F99F-A545-F804-F6291F0308F2}"/>
              </a:ext>
            </a:extLst>
          </p:cNvPr>
          <p:cNvSpPr>
            <a:spLocks noGrp="1"/>
          </p:cNvSpPr>
          <p:nvPr>
            <p:ph type="sldNum" sz="quarter" idx="12"/>
          </p:nvPr>
        </p:nvSpPr>
        <p:spPr/>
        <p:txBody>
          <a:bodyPr/>
          <a:lstStyle/>
          <a:p>
            <a:fld id="{34524181-AA28-44DC-A7E9-7EDD9D369225}" type="slidenum">
              <a:rPr lang="en-IN" smtClean="0"/>
              <a:t>‹#›</a:t>
            </a:fld>
            <a:endParaRPr lang="en-IN"/>
          </a:p>
        </p:txBody>
      </p:sp>
    </p:spTree>
    <p:extLst>
      <p:ext uri="{BB962C8B-B14F-4D97-AF65-F5344CB8AC3E}">
        <p14:creationId xmlns:p14="http://schemas.microsoft.com/office/powerpoint/2010/main" val="33722881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47FD1-3D01-E9E5-E4F9-839FD038E7C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6722374-58D5-3A1E-8C08-021C33A9DFE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29B03AA-A3FD-B5A5-959B-57895B979409}"/>
              </a:ext>
            </a:extLst>
          </p:cNvPr>
          <p:cNvSpPr>
            <a:spLocks noGrp="1"/>
          </p:cNvSpPr>
          <p:nvPr>
            <p:ph type="dt" sz="half" idx="10"/>
          </p:nvPr>
        </p:nvSpPr>
        <p:spPr/>
        <p:txBody>
          <a:bodyPr/>
          <a:lstStyle/>
          <a:p>
            <a:fld id="{D817163B-3799-419F-94C6-2CE72A98F3D1}" type="datetimeFigureOut">
              <a:rPr lang="en-IN" smtClean="0"/>
              <a:t>19-11-2025</a:t>
            </a:fld>
            <a:endParaRPr lang="en-IN"/>
          </a:p>
        </p:txBody>
      </p:sp>
      <p:sp>
        <p:nvSpPr>
          <p:cNvPr id="5" name="Footer Placeholder 4">
            <a:extLst>
              <a:ext uri="{FF2B5EF4-FFF2-40B4-BE49-F238E27FC236}">
                <a16:creationId xmlns:a16="http://schemas.microsoft.com/office/drawing/2014/main" id="{6DBC74EC-E8D0-373E-89FF-6B3238E69EB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CFC8F4C-158C-0E7A-61D3-0E11E975C755}"/>
              </a:ext>
            </a:extLst>
          </p:cNvPr>
          <p:cNvSpPr>
            <a:spLocks noGrp="1"/>
          </p:cNvSpPr>
          <p:nvPr>
            <p:ph type="sldNum" sz="quarter" idx="12"/>
          </p:nvPr>
        </p:nvSpPr>
        <p:spPr/>
        <p:txBody>
          <a:bodyPr/>
          <a:lstStyle/>
          <a:p>
            <a:fld id="{34524181-AA28-44DC-A7E9-7EDD9D369225}" type="slidenum">
              <a:rPr lang="en-IN" smtClean="0"/>
              <a:t>‹#›</a:t>
            </a:fld>
            <a:endParaRPr lang="en-IN"/>
          </a:p>
        </p:txBody>
      </p:sp>
    </p:spTree>
    <p:extLst>
      <p:ext uri="{BB962C8B-B14F-4D97-AF65-F5344CB8AC3E}">
        <p14:creationId xmlns:p14="http://schemas.microsoft.com/office/powerpoint/2010/main" val="28251454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DEFC3-E3BD-D34B-2550-0563E2365A1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231E6FF-9EE8-92FE-9C20-B3D4D067C32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6C0B32F-067A-BC6A-810A-14B434DA048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D9DE2FF-30D4-8AA6-42A1-D0898EE0BD60}"/>
              </a:ext>
            </a:extLst>
          </p:cNvPr>
          <p:cNvSpPr>
            <a:spLocks noGrp="1"/>
          </p:cNvSpPr>
          <p:nvPr>
            <p:ph type="dt" sz="half" idx="10"/>
          </p:nvPr>
        </p:nvSpPr>
        <p:spPr/>
        <p:txBody>
          <a:bodyPr/>
          <a:lstStyle/>
          <a:p>
            <a:fld id="{D817163B-3799-419F-94C6-2CE72A98F3D1}" type="datetimeFigureOut">
              <a:rPr lang="en-IN" smtClean="0"/>
              <a:t>19-11-2025</a:t>
            </a:fld>
            <a:endParaRPr lang="en-IN"/>
          </a:p>
        </p:txBody>
      </p:sp>
      <p:sp>
        <p:nvSpPr>
          <p:cNvPr id="6" name="Footer Placeholder 5">
            <a:extLst>
              <a:ext uri="{FF2B5EF4-FFF2-40B4-BE49-F238E27FC236}">
                <a16:creationId xmlns:a16="http://schemas.microsoft.com/office/drawing/2014/main" id="{76E5D134-9532-9D82-C403-39737F80915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7D58977-ABFE-1DC2-9CE9-DC97AF5DAC09}"/>
              </a:ext>
            </a:extLst>
          </p:cNvPr>
          <p:cNvSpPr>
            <a:spLocks noGrp="1"/>
          </p:cNvSpPr>
          <p:nvPr>
            <p:ph type="sldNum" sz="quarter" idx="12"/>
          </p:nvPr>
        </p:nvSpPr>
        <p:spPr/>
        <p:txBody>
          <a:bodyPr/>
          <a:lstStyle/>
          <a:p>
            <a:fld id="{34524181-AA28-44DC-A7E9-7EDD9D369225}" type="slidenum">
              <a:rPr lang="en-IN" smtClean="0"/>
              <a:t>‹#›</a:t>
            </a:fld>
            <a:endParaRPr lang="en-IN"/>
          </a:p>
        </p:txBody>
      </p:sp>
    </p:spTree>
    <p:extLst>
      <p:ext uri="{BB962C8B-B14F-4D97-AF65-F5344CB8AC3E}">
        <p14:creationId xmlns:p14="http://schemas.microsoft.com/office/powerpoint/2010/main" val="25257709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67F0E-1FD9-06B8-65FC-92339775723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1AC7C7F-01DA-F4BC-CCE2-303BE56E37B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8128115-FDDB-3451-E952-94E808FCCDF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3DD611F-4EEF-3B96-AE3E-2394E6F4B38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82F132D-EC07-7899-1DB7-0FE61AC9B22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EE15486-8DC9-67BF-2F87-7B06B4BB7433}"/>
              </a:ext>
            </a:extLst>
          </p:cNvPr>
          <p:cNvSpPr>
            <a:spLocks noGrp="1"/>
          </p:cNvSpPr>
          <p:nvPr>
            <p:ph type="dt" sz="half" idx="10"/>
          </p:nvPr>
        </p:nvSpPr>
        <p:spPr/>
        <p:txBody>
          <a:bodyPr/>
          <a:lstStyle/>
          <a:p>
            <a:fld id="{D817163B-3799-419F-94C6-2CE72A98F3D1}" type="datetimeFigureOut">
              <a:rPr lang="en-IN" smtClean="0"/>
              <a:t>19-11-2025</a:t>
            </a:fld>
            <a:endParaRPr lang="en-IN"/>
          </a:p>
        </p:txBody>
      </p:sp>
      <p:sp>
        <p:nvSpPr>
          <p:cNvPr id="8" name="Footer Placeholder 7">
            <a:extLst>
              <a:ext uri="{FF2B5EF4-FFF2-40B4-BE49-F238E27FC236}">
                <a16:creationId xmlns:a16="http://schemas.microsoft.com/office/drawing/2014/main" id="{37140731-335C-25B0-4F2C-1218403ADFF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1DADDDC-2894-9358-A9D9-92400777E68E}"/>
              </a:ext>
            </a:extLst>
          </p:cNvPr>
          <p:cNvSpPr>
            <a:spLocks noGrp="1"/>
          </p:cNvSpPr>
          <p:nvPr>
            <p:ph type="sldNum" sz="quarter" idx="12"/>
          </p:nvPr>
        </p:nvSpPr>
        <p:spPr/>
        <p:txBody>
          <a:bodyPr/>
          <a:lstStyle/>
          <a:p>
            <a:fld id="{34524181-AA28-44DC-A7E9-7EDD9D369225}" type="slidenum">
              <a:rPr lang="en-IN" smtClean="0"/>
              <a:t>‹#›</a:t>
            </a:fld>
            <a:endParaRPr lang="en-IN"/>
          </a:p>
        </p:txBody>
      </p:sp>
    </p:spTree>
    <p:extLst>
      <p:ext uri="{BB962C8B-B14F-4D97-AF65-F5344CB8AC3E}">
        <p14:creationId xmlns:p14="http://schemas.microsoft.com/office/powerpoint/2010/main" val="12413119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4F2F1-5C73-8A87-BBD3-219A8C37652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47DBB13-A3F8-6855-A050-286FE64A05A4}"/>
              </a:ext>
            </a:extLst>
          </p:cNvPr>
          <p:cNvSpPr>
            <a:spLocks noGrp="1"/>
          </p:cNvSpPr>
          <p:nvPr>
            <p:ph type="dt" sz="half" idx="10"/>
          </p:nvPr>
        </p:nvSpPr>
        <p:spPr/>
        <p:txBody>
          <a:bodyPr/>
          <a:lstStyle/>
          <a:p>
            <a:fld id="{D817163B-3799-419F-94C6-2CE72A98F3D1}" type="datetimeFigureOut">
              <a:rPr lang="en-IN" smtClean="0"/>
              <a:t>19-11-2025</a:t>
            </a:fld>
            <a:endParaRPr lang="en-IN"/>
          </a:p>
        </p:txBody>
      </p:sp>
      <p:sp>
        <p:nvSpPr>
          <p:cNvPr id="4" name="Footer Placeholder 3">
            <a:extLst>
              <a:ext uri="{FF2B5EF4-FFF2-40B4-BE49-F238E27FC236}">
                <a16:creationId xmlns:a16="http://schemas.microsoft.com/office/drawing/2014/main" id="{47276D45-4E62-29CC-FB76-15F9A0C2E02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CF326B9-765C-E4F5-E297-25737597C2A6}"/>
              </a:ext>
            </a:extLst>
          </p:cNvPr>
          <p:cNvSpPr>
            <a:spLocks noGrp="1"/>
          </p:cNvSpPr>
          <p:nvPr>
            <p:ph type="sldNum" sz="quarter" idx="12"/>
          </p:nvPr>
        </p:nvSpPr>
        <p:spPr/>
        <p:txBody>
          <a:bodyPr/>
          <a:lstStyle/>
          <a:p>
            <a:fld id="{34524181-AA28-44DC-A7E9-7EDD9D369225}" type="slidenum">
              <a:rPr lang="en-IN" smtClean="0"/>
              <a:t>‹#›</a:t>
            </a:fld>
            <a:endParaRPr lang="en-IN"/>
          </a:p>
        </p:txBody>
      </p:sp>
    </p:spTree>
    <p:extLst>
      <p:ext uri="{BB962C8B-B14F-4D97-AF65-F5344CB8AC3E}">
        <p14:creationId xmlns:p14="http://schemas.microsoft.com/office/powerpoint/2010/main" val="24575765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E59A40C-BED9-DC0B-D896-3FAE97A0FAA6}"/>
              </a:ext>
            </a:extLst>
          </p:cNvPr>
          <p:cNvSpPr>
            <a:spLocks noGrp="1"/>
          </p:cNvSpPr>
          <p:nvPr>
            <p:ph type="dt" sz="half" idx="10"/>
          </p:nvPr>
        </p:nvSpPr>
        <p:spPr/>
        <p:txBody>
          <a:bodyPr/>
          <a:lstStyle/>
          <a:p>
            <a:fld id="{D817163B-3799-419F-94C6-2CE72A98F3D1}" type="datetimeFigureOut">
              <a:rPr lang="en-IN" smtClean="0"/>
              <a:t>19-11-2025</a:t>
            </a:fld>
            <a:endParaRPr lang="en-IN"/>
          </a:p>
        </p:txBody>
      </p:sp>
      <p:sp>
        <p:nvSpPr>
          <p:cNvPr id="3" name="Footer Placeholder 2">
            <a:extLst>
              <a:ext uri="{FF2B5EF4-FFF2-40B4-BE49-F238E27FC236}">
                <a16:creationId xmlns:a16="http://schemas.microsoft.com/office/drawing/2014/main" id="{132DF415-34E0-5713-A0E5-8CF676F4E55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4606B10-9F3F-3A65-3C5F-8BCAED0C07A7}"/>
              </a:ext>
            </a:extLst>
          </p:cNvPr>
          <p:cNvSpPr>
            <a:spLocks noGrp="1"/>
          </p:cNvSpPr>
          <p:nvPr>
            <p:ph type="sldNum" sz="quarter" idx="12"/>
          </p:nvPr>
        </p:nvSpPr>
        <p:spPr/>
        <p:txBody>
          <a:bodyPr/>
          <a:lstStyle/>
          <a:p>
            <a:fld id="{34524181-AA28-44DC-A7E9-7EDD9D369225}" type="slidenum">
              <a:rPr lang="en-IN" smtClean="0"/>
              <a:t>‹#›</a:t>
            </a:fld>
            <a:endParaRPr lang="en-IN"/>
          </a:p>
        </p:txBody>
      </p:sp>
    </p:spTree>
    <p:extLst>
      <p:ext uri="{BB962C8B-B14F-4D97-AF65-F5344CB8AC3E}">
        <p14:creationId xmlns:p14="http://schemas.microsoft.com/office/powerpoint/2010/main" val="1195655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160B7-DD2D-6A92-4011-52CB3491656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2D49891-8BF5-5682-24C2-A78AEE07AD9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3EE05BF-426E-0EBE-5F33-CCCC9729EF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C399F6E-8CF3-780D-2B0D-B23CC4ADE70D}"/>
              </a:ext>
            </a:extLst>
          </p:cNvPr>
          <p:cNvSpPr>
            <a:spLocks noGrp="1"/>
          </p:cNvSpPr>
          <p:nvPr>
            <p:ph type="dt" sz="half" idx="10"/>
          </p:nvPr>
        </p:nvSpPr>
        <p:spPr/>
        <p:txBody>
          <a:bodyPr/>
          <a:lstStyle/>
          <a:p>
            <a:fld id="{D817163B-3799-419F-94C6-2CE72A98F3D1}" type="datetimeFigureOut">
              <a:rPr lang="en-IN" smtClean="0"/>
              <a:t>19-11-2025</a:t>
            </a:fld>
            <a:endParaRPr lang="en-IN"/>
          </a:p>
        </p:txBody>
      </p:sp>
      <p:sp>
        <p:nvSpPr>
          <p:cNvPr id="6" name="Footer Placeholder 5">
            <a:extLst>
              <a:ext uri="{FF2B5EF4-FFF2-40B4-BE49-F238E27FC236}">
                <a16:creationId xmlns:a16="http://schemas.microsoft.com/office/drawing/2014/main" id="{1D2EE443-73AF-4DD8-9BBC-DD4ACBAE920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59430C6-369A-7DA6-9E39-50182DCCDB58}"/>
              </a:ext>
            </a:extLst>
          </p:cNvPr>
          <p:cNvSpPr>
            <a:spLocks noGrp="1"/>
          </p:cNvSpPr>
          <p:nvPr>
            <p:ph type="sldNum" sz="quarter" idx="12"/>
          </p:nvPr>
        </p:nvSpPr>
        <p:spPr/>
        <p:txBody>
          <a:bodyPr/>
          <a:lstStyle/>
          <a:p>
            <a:fld id="{34524181-AA28-44DC-A7E9-7EDD9D369225}" type="slidenum">
              <a:rPr lang="en-IN" smtClean="0"/>
              <a:t>‹#›</a:t>
            </a:fld>
            <a:endParaRPr lang="en-IN"/>
          </a:p>
        </p:txBody>
      </p:sp>
    </p:spTree>
    <p:extLst>
      <p:ext uri="{BB962C8B-B14F-4D97-AF65-F5344CB8AC3E}">
        <p14:creationId xmlns:p14="http://schemas.microsoft.com/office/powerpoint/2010/main" val="20828790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EF255E-2F1F-D79F-845A-5CAA65AE498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142A8A8-8F6B-2A83-18C0-9084B72C73D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F08E89B-7B5B-3043-4074-9689E46D63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F92BC9-ADDA-E122-D1ED-C4BCE00BA13E}"/>
              </a:ext>
            </a:extLst>
          </p:cNvPr>
          <p:cNvSpPr>
            <a:spLocks noGrp="1"/>
          </p:cNvSpPr>
          <p:nvPr>
            <p:ph type="dt" sz="half" idx="10"/>
          </p:nvPr>
        </p:nvSpPr>
        <p:spPr/>
        <p:txBody>
          <a:bodyPr/>
          <a:lstStyle/>
          <a:p>
            <a:fld id="{D817163B-3799-419F-94C6-2CE72A98F3D1}" type="datetimeFigureOut">
              <a:rPr lang="en-IN" smtClean="0"/>
              <a:t>19-11-2025</a:t>
            </a:fld>
            <a:endParaRPr lang="en-IN"/>
          </a:p>
        </p:txBody>
      </p:sp>
      <p:sp>
        <p:nvSpPr>
          <p:cNvPr id="6" name="Footer Placeholder 5">
            <a:extLst>
              <a:ext uri="{FF2B5EF4-FFF2-40B4-BE49-F238E27FC236}">
                <a16:creationId xmlns:a16="http://schemas.microsoft.com/office/drawing/2014/main" id="{1F355CB2-2A79-D073-359F-21EABE6148E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0810304-D43B-2BFF-249C-B7F54D487702}"/>
              </a:ext>
            </a:extLst>
          </p:cNvPr>
          <p:cNvSpPr>
            <a:spLocks noGrp="1"/>
          </p:cNvSpPr>
          <p:nvPr>
            <p:ph type="sldNum" sz="quarter" idx="12"/>
          </p:nvPr>
        </p:nvSpPr>
        <p:spPr/>
        <p:txBody>
          <a:bodyPr/>
          <a:lstStyle/>
          <a:p>
            <a:fld id="{34524181-AA28-44DC-A7E9-7EDD9D369225}" type="slidenum">
              <a:rPr lang="en-IN" smtClean="0"/>
              <a:t>‹#›</a:t>
            </a:fld>
            <a:endParaRPr lang="en-IN"/>
          </a:p>
        </p:txBody>
      </p:sp>
    </p:spTree>
    <p:extLst>
      <p:ext uri="{BB962C8B-B14F-4D97-AF65-F5344CB8AC3E}">
        <p14:creationId xmlns:p14="http://schemas.microsoft.com/office/powerpoint/2010/main" val="4837799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8F9F3-819A-1ECC-073F-04982E52253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0B1226A-DA8A-4489-5CFB-089F2749303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0BFEDB6-D9E1-38E5-5FB6-0390E4B0EC95}"/>
              </a:ext>
            </a:extLst>
          </p:cNvPr>
          <p:cNvSpPr>
            <a:spLocks noGrp="1"/>
          </p:cNvSpPr>
          <p:nvPr>
            <p:ph type="dt" sz="half" idx="10"/>
          </p:nvPr>
        </p:nvSpPr>
        <p:spPr/>
        <p:txBody>
          <a:bodyPr/>
          <a:lstStyle/>
          <a:p>
            <a:fld id="{D817163B-3799-419F-94C6-2CE72A98F3D1}" type="datetimeFigureOut">
              <a:rPr lang="en-IN" smtClean="0"/>
              <a:t>19-11-2025</a:t>
            </a:fld>
            <a:endParaRPr lang="en-IN"/>
          </a:p>
        </p:txBody>
      </p:sp>
      <p:sp>
        <p:nvSpPr>
          <p:cNvPr id="5" name="Footer Placeholder 4">
            <a:extLst>
              <a:ext uri="{FF2B5EF4-FFF2-40B4-BE49-F238E27FC236}">
                <a16:creationId xmlns:a16="http://schemas.microsoft.com/office/drawing/2014/main" id="{AC883754-3376-0CDB-0A23-DDE69986F86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219E3FF-7D2F-2AD0-9A19-4ED9B66F07CE}"/>
              </a:ext>
            </a:extLst>
          </p:cNvPr>
          <p:cNvSpPr>
            <a:spLocks noGrp="1"/>
          </p:cNvSpPr>
          <p:nvPr>
            <p:ph type="sldNum" sz="quarter" idx="12"/>
          </p:nvPr>
        </p:nvSpPr>
        <p:spPr/>
        <p:txBody>
          <a:bodyPr/>
          <a:lstStyle/>
          <a:p>
            <a:fld id="{34524181-AA28-44DC-A7E9-7EDD9D369225}" type="slidenum">
              <a:rPr lang="en-IN" smtClean="0"/>
              <a:t>‹#›</a:t>
            </a:fld>
            <a:endParaRPr lang="en-IN"/>
          </a:p>
        </p:txBody>
      </p:sp>
    </p:spTree>
    <p:extLst>
      <p:ext uri="{BB962C8B-B14F-4D97-AF65-F5344CB8AC3E}">
        <p14:creationId xmlns:p14="http://schemas.microsoft.com/office/powerpoint/2010/main" val="8434951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FBD316A-4BE6-65FF-73E1-BF0E002EECA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0FA68CE-0FD6-58CC-A830-82DB80C8A92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B578B75-AB82-AA48-678B-2050350470DD}"/>
              </a:ext>
            </a:extLst>
          </p:cNvPr>
          <p:cNvSpPr>
            <a:spLocks noGrp="1"/>
          </p:cNvSpPr>
          <p:nvPr>
            <p:ph type="dt" sz="half" idx="10"/>
          </p:nvPr>
        </p:nvSpPr>
        <p:spPr/>
        <p:txBody>
          <a:bodyPr/>
          <a:lstStyle/>
          <a:p>
            <a:fld id="{D817163B-3799-419F-94C6-2CE72A98F3D1}" type="datetimeFigureOut">
              <a:rPr lang="en-IN" smtClean="0"/>
              <a:t>19-11-2025</a:t>
            </a:fld>
            <a:endParaRPr lang="en-IN"/>
          </a:p>
        </p:txBody>
      </p:sp>
      <p:sp>
        <p:nvSpPr>
          <p:cNvPr id="5" name="Footer Placeholder 4">
            <a:extLst>
              <a:ext uri="{FF2B5EF4-FFF2-40B4-BE49-F238E27FC236}">
                <a16:creationId xmlns:a16="http://schemas.microsoft.com/office/drawing/2014/main" id="{6D2009FD-4216-4E2D-C86D-ABBEAFA4996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6513F19-0468-337D-D0B6-EEE12BCBDEE0}"/>
              </a:ext>
            </a:extLst>
          </p:cNvPr>
          <p:cNvSpPr>
            <a:spLocks noGrp="1"/>
          </p:cNvSpPr>
          <p:nvPr>
            <p:ph type="sldNum" sz="quarter" idx="12"/>
          </p:nvPr>
        </p:nvSpPr>
        <p:spPr/>
        <p:txBody>
          <a:bodyPr/>
          <a:lstStyle/>
          <a:p>
            <a:fld id="{34524181-AA28-44DC-A7E9-7EDD9D369225}" type="slidenum">
              <a:rPr lang="en-IN" smtClean="0"/>
              <a:t>‹#›</a:t>
            </a:fld>
            <a:endParaRPr lang="en-IN"/>
          </a:p>
        </p:txBody>
      </p:sp>
    </p:spTree>
    <p:extLst>
      <p:ext uri="{BB962C8B-B14F-4D97-AF65-F5344CB8AC3E}">
        <p14:creationId xmlns:p14="http://schemas.microsoft.com/office/powerpoint/2010/main" val="38896463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2B5C939-901A-00AF-95DD-4DB974891CD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CF70156-6485-349C-85DA-19217FB3CE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E706423-5CAD-FED5-2F93-14CD0A2EA08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17163B-3799-419F-94C6-2CE72A98F3D1}" type="datetimeFigureOut">
              <a:rPr lang="en-IN" smtClean="0"/>
              <a:t>19-11-2025</a:t>
            </a:fld>
            <a:endParaRPr lang="en-IN"/>
          </a:p>
        </p:txBody>
      </p:sp>
      <p:sp>
        <p:nvSpPr>
          <p:cNvPr id="5" name="Footer Placeholder 4">
            <a:extLst>
              <a:ext uri="{FF2B5EF4-FFF2-40B4-BE49-F238E27FC236}">
                <a16:creationId xmlns:a16="http://schemas.microsoft.com/office/drawing/2014/main" id="{A8C2A0D2-638D-E705-2E0D-F08752D438F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D120C7E-1FCE-CA88-6428-18D6A8F941D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524181-AA28-44DC-A7E9-7EDD9D369225}" type="slidenum">
              <a:rPr lang="en-IN" smtClean="0"/>
              <a:t>‹#›</a:t>
            </a:fld>
            <a:endParaRPr lang="en-IN"/>
          </a:p>
        </p:txBody>
      </p:sp>
    </p:spTree>
    <p:extLst>
      <p:ext uri="{BB962C8B-B14F-4D97-AF65-F5344CB8AC3E}">
        <p14:creationId xmlns:p14="http://schemas.microsoft.com/office/powerpoint/2010/main" val="13653517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03A92-C620-285F-6126-602A3BDEC574}"/>
              </a:ext>
            </a:extLst>
          </p:cNvPr>
          <p:cNvSpPr>
            <a:spLocks noGrp="1"/>
          </p:cNvSpPr>
          <p:nvPr>
            <p:ph type="ctrTitle"/>
          </p:nvPr>
        </p:nvSpPr>
        <p:spPr/>
        <p:txBody>
          <a:bodyPr>
            <a:normAutofit fontScale="90000"/>
          </a:bodyPr>
          <a:lstStyle/>
          <a:p>
            <a:r>
              <a:rPr lang="en-US" b="1" dirty="0"/>
              <a:t>PHP</a:t>
            </a:r>
            <a:br>
              <a:rPr lang="en-IN" dirty="0"/>
            </a:br>
            <a:r>
              <a:rPr lang="en-US" b="1" dirty="0"/>
              <a:t>Advanced PHP </a:t>
            </a:r>
            <a:br>
              <a:rPr lang="en-IN" dirty="0"/>
            </a:br>
            <a:endParaRPr lang="en-IN" dirty="0"/>
          </a:p>
        </p:txBody>
      </p:sp>
      <p:sp>
        <p:nvSpPr>
          <p:cNvPr id="3" name="Subtitle 2">
            <a:extLst>
              <a:ext uri="{FF2B5EF4-FFF2-40B4-BE49-F238E27FC236}">
                <a16:creationId xmlns:a16="http://schemas.microsoft.com/office/drawing/2014/main" id="{4E9E9CD3-52B9-E72D-9B7A-BAA5C8CF006C}"/>
              </a:ext>
            </a:extLst>
          </p:cNvPr>
          <p:cNvSpPr>
            <a:spLocks noGrp="1"/>
          </p:cNvSpPr>
          <p:nvPr>
            <p:ph type="subTitle" idx="1"/>
          </p:nvPr>
        </p:nvSpPr>
        <p:spPr/>
        <p:txBody>
          <a:bodyPr/>
          <a:lstStyle/>
          <a:p>
            <a:r>
              <a:rPr lang="en-US" dirty="0"/>
              <a:t>Dr. Roshan D Suvaris</a:t>
            </a:r>
          </a:p>
          <a:p>
            <a:r>
              <a:rPr lang="en-US" dirty="0"/>
              <a:t>MCA Department</a:t>
            </a:r>
            <a:endParaRPr lang="en-IN" dirty="0"/>
          </a:p>
        </p:txBody>
      </p:sp>
    </p:spTree>
    <p:extLst>
      <p:ext uri="{BB962C8B-B14F-4D97-AF65-F5344CB8AC3E}">
        <p14:creationId xmlns:p14="http://schemas.microsoft.com/office/powerpoint/2010/main" val="25234780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08CB1F-484C-C04D-6AFB-CB147F3AB90B}"/>
              </a:ext>
            </a:extLst>
          </p:cNvPr>
          <p:cNvSpPr>
            <a:spLocks noGrp="1"/>
          </p:cNvSpPr>
          <p:nvPr>
            <p:ph idx="1"/>
          </p:nvPr>
        </p:nvSpPr>
        <p:spPr>
          <a:xfrm>
            <a:off x="838200" y="301658"/>
            <a:ext cx="10515600" cy="6259398"/>
          </a:xfrm>
        </p:spPr>
        <p:txBody>
          <a:bodyPr/>
          <a:lstStyle/>
          <a:p>
            <a:pPr marL="0" indent="0">
              <a:buNone/>
            </a:pPr>
            <a:r>
              <a:rPr lang="en-US" b="1" dirty="0">
                <a:solidFill>
                  <a:srgbClr val="FF3399"/>
                </a:solidFill>
              </a:rPr>
              <a:t>1 Origins and Uses of PHP</a:t>
            </a:r>
          </a:p>
          <a:p>
            <a:pPr algn="just"/>
            <a:r>
              <a:rPr lang="en-US" sz="2400" dirty="0"/>
              <a:t>PHP was developed by Rasmus Lerdorf, a member of the Apache Group,2 in 1994.</a:t>
            </a:r>
          </a:p>
          <a:p>
            <a:pPr algn="just"/>
            <a:r>
              <a:rPr lang="en-US" sz="2400" dirty="0"/>
              <a:t>Its initial purpose was to provide a tool to help Lerdorf track visitors to his personal Web site.</a:t>
            </a:r>
          </a:p>
          <a:p>
            <a:pPr algn="just"/>
            <a:r>
              <a:rPr lang="en-US" sz="2400" dirty="0"/>
              <a:t>Originally, PHP was an acronym for </a:t>
            </a:r>
            <a:r>
              <a:rPr lang="en-US" sz="2400" dirty="0">
                <a:solidFill>
                  <a:srgbClr val="00B0F0"/>
                </a:solidFill>
              </a:rPr>
              <a:t>Personal Home Page</a:t>
            </a:r>
            <a:r>
              <a:rPr lang="en-US" sz="2400" dirty="0"/>
              <a:t>.</a:t>
            </a:r>
          </a:p>
          <a:p>
            <a:pPr algn="just"/>
            <a:r>
              <a:rPr lang="en-US" sz="2400" dirty="0"/>
              <a:t>Later, its user community began using the recursive name PHP: </a:t>
            </a:r>
            <a:r>
              <a:rPr lang="en-US" sz="2400" dirty="0">
                <a:solidFill>
                  <a:srgbClr val="00B0F0"/>
                </a:solidFill>
              </a:rPr>
              <a:t>Hypertext Preprocessor</a:t>
            </a:r>
          </a:p>
          <a:p>
            <a:pPr algn="just"/>
            <a:r>
              <a:rPr lang="en-US" sz="2400" dirty="0"/>
              <a:t>As a server-side scripting language, PHP is naturally used for form handling and database access. </a:t>
            </a:r>
          </a:p>
          <a:p>
            <a:pPr algn="just"/>
            <a:r>
              <a:rPr lang="en-US" sz="2400" dirty="0"/>
              <a:t>Because database access has been a prime focus of PHP development, it has driver support for 15 different database systems. </a:t>
            </a:r>
          </a:p>
          <a:p>
            <a:pPr algn="just"/>
            <a:r>
              <a:rPr lang="en-US" sz="2400" dirty="0"/>
              <a:t>PHP supports the common electronic mail protocols POP3 and IMAP. </a:t>
            </a:r>
          </a:p>
          <a:p>
            <a:pPr algn="just"/>
            <a:r>
              <a:rPr lang="en-US" sz="2400" dirty="0"/>
              <a:t>It also supports the distributed object architectures COM and CORBA.</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p:txBody>
      </p:sp>
    </p:spTree>
    <p:extLst>
      <p:ext uri="{BB962C8B-B14F-4D97-AF65-F5344CB8AC3E}">
        <p14:creationId xmlns:p14="http://schemas.microsoft.com/office/powerpoint/2010/main" val="41783364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25079-092A-4906-658B-971815C967B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333BBDB-C7A8-3D1A-5F22-9021E0FD291F}"/>
              </a:ext>
            </a:extLst>
          </p:cNvPr>
          <p:cNvSpPr>
            <a:spLocks noGrp="1"/>
          </p:cNvSpPr>
          <p:nvPr>
            <p:ph idx="1"/>
          </p:nvPr>
        </p:nvSpPr>
        <p:spPr>
          <a:xfrm>
            <a:off x="838200" y="301658"/>
            <a:ext cx="10515600" cy="6259398"/>
          </a:xfrm>
        </p:spPr>
        <p:txBody>
          <a:bodyPr/>
          <a:lstStyle/>
          <a:p>
            <a:pPr marL="0" indent="0">
              <a:buNone/>
            </a:pPr>
            <a:r>
              <a:rPr lang="en-IN" b="1" dirty="0">
                <a:solidFill>
                  <a:srgbClr val="FF3399"/>
                </a:solidFill>
              </a:rPr>
              <a:t>2 Overview of PHP</a:t>
            </a:r>
            <a:endParaRPr lang="en-US" sz="2400" b="1" dirty="0">
              <a:solidFill>
                <a:srgbClr val="FF3399"/>
              </a:solidFill>
            </a:endParaRPr>
          </a:p>
          <a:p>
            <a:pPr algn="just"/>
            <a:r>
              <a:rPr lang="en-US" sz="2400" dirty="0"/>
              <a:t>PHP is a server-side HTML-embedded scripting language. As such, it is an alter native to Microsoft’s Active Server Pages and Sun’s Java Server Pages.</a:t>
            </a:r>
          </a:p>
          <a:p>
            <a:pPr algn="just"/>
            <a:r>
              <a:rPr lang="en-US" sz="2400" dirty="0"/>
              <a:t>The way its scripts are interpreted, PHP is related to client-side JavaScript. </a:t>
            </a:r>
          </a:p>
          <a:p>
            <a:pPr algn="just"/>
            <a:r>
              <a:rPr lang="en-US" sz="2400" dirty="0"/>
              <a:t>When a browser finds JavaScript code embedded in an HTML document it is displaying, it calls its </a:t>
            </a:r>
            <a:r>
              <a:rPr lang="en-US" sz="2400" dirty="0">
                <a:solidFill>
                  <a:srgbClr val="FF3399"/>
                </a:solidFill>
              </a:rPr>
              <a:t>JavaScript interpreter </a:t>
            </a:r>
            <a:r>
              <a:rPr lang="en-US" sz="2400" dirty="0"/>
              <a:t>to interpret the script.</a:t>
            </a:r>
          </a:p>
          <a:p>
            <a:pPr algn="just"/>
            <a:r>
              <a:rPr lang="en-US" sz="2400" dirty="0"/>
              <a:t>When a browser requests a document that includes PHP script, the Web server that provides the document calls its </a:t>
            </a:r>
            <a:r>
              <a:rPr lang="en-US" sz="2400" dirty="0">
                <a:solidFill>
                  <a:srgbClr val="FF3399"/>
                </a:solidFill>
              </a:rPr>
              <a:t>PHP processor</a:t>
            </a:r>
            <a:r>
              <a:rPr lang="en-US" sz="2400" dirty="0"/>
              <a:t>. </a:t>
            </a:r>
          </a:p>
          <a:p>
            <a:pPr algn="just"/>
            <a:r>
              <a:rPr lang="en-US" sz="2400" dirty="0"/>
              <a:t>The server determines that a document includes PHP script by the file-name extension. If it is .</a:t>
            </a:r>
            <a:r>
              <a:rPr lang="en-US" sz="2400" dirty="0" err="1"/>
              <a:t>php</a:t>
            </a:r>
            <a:r>
              <a:rPr lang="en-US" sz="2400" dirty="0"/>
              <a:t>, .php3, or .</a:t>
            </a:r>
            <a:r>
              <a:rPr lang="en-US" sz="2400" dirty="0" err="1"/>
              <a:t>phtml</a:t>
            </a:r>
            <a:r>
              <a:rPr lang="en-US" sz="2400" dirty="0"/>
              <a:t>, the document has embedded PHP.</a:t>
            </a:r>
          </a:p>
          <a:p>
            <a:pPr algn="just"/>
            <a:r>
              <a:rPr lang="en-US" sz="2400" dirty="0"/>
              <a:t>The PHP processor has two modes of operation: </a:t>
            </a:r>
            <a:r>
              <a:rPr lang="en-US" sz="2400" dirty="0">
                <a:solidFill>
                  <a:srgbClr val="FF3399"/>
                </a:solidFill>
              </a:rPr>
              <a:t>copy mode </a:t>
            </a:r>
            <a:r>
              <a:rPr lang="en-US" sz="2400" dirty="0"/>
              <a:t>and </a:t>
            </a:r>
            <a:r>
              <a:rPr lang="en-US" sz="2400" dirty="0">
                <a:solidFill>
                  <a:srgbClr val="FF3399"/>
                </a:solidFill>
              </a:rPr>
              <a:t>interpret mode</a:t>
            </a:r>
            <a:r>
              <a:rPr lang="en-US" sz="2400" dirty="0"/>
              <a:t>.</a:t>
            </a:r>
          </a:p>
          <a:p>
            <a:pPr algn="just"/>
            <a:r>
              <a:rPr lang="en-US" sz="2400" dirty="0"/>
              <a:t>The client never sees the PHP script. If the user clicks View Source while the browser is displaying the document, only the markup (and embedded client-side script) will be shown, because that is all that ever arrives at the client.</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p:txBody>
      </p:sp>
    </p:spTree>
    <p:extLst>
      <p:ext uri="{BB962C8B-B14F-4D97-AF65-F5344CB8AC3E}">
        <p14:creationId xmlns:p14="http://schemas.microsoft.com/office/powerpoint/2010/main" val="14768948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8CBA6D-843B-D69C-CB88-BE8D2E741E9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8D94916-5D41-C19F-F042-9A2BB8FADB0F}"/>
              </a:ext>
            </a:extLst>
          </p:cNvPr>
          <p:cNvSpPr>
            <a:spLocks noGrp="1"/>
          </p:cNvSpPr>
          <p:nvPr>
            <p:ph idx="1"/>
          </p:nvPr>
        </p:nvSpPr>
        <p:spPr>
          <a:xfrm>
            <a:off x="838200" y="301658"/>
            <a:ext cx="10515600" cy="6259398"/>
          </a:xfrm>
        </p:spPr>
        <p:txBody>
          <a:bodyPr/>
          <a:lstStyle/>
          <a:p>
            <a:r>
              <a:rPr lang="en-US" dirty="0"/>
              <a:t>Continued…</a:t>
            </a:r>
          </a:p>
          <a:p>
            <a:pPr algn="just"/>
            <a:r>
              <a:rPr lang="en-US" sz="2400" dirty="0"/>
              <a:t>The syntax and semantics of PHP are closely related to the syntax and semantics of JavaScript.</a:t>
            </a:r>
          </a:p>
          <a:p>
            <a:pPr algn="just"/>
            <a:r>
              <a:rPr lang="en-US" sz="2400" dirty="0"/>
              <a:t>PHP uses </a:t>
            </a:r>
            <a:r>
              <a:rPr lang="en-US" sz="2400" dirty="0">
                <a:solidFill>
                  <a:srgbClr val="FF3399"/>
                </a:solidFill>
              </a:rPr>
              <a:t>dynamic typing</a:t>
            </a:r>
            <a:r>
              <a:rPr lang="en-US" sz="2400" dirty="0"/>
              <a:t>, as does JavaScript. Variables are not type declared, and they have no intrinsic type.</a:t>
            </a:r>
          </a:p>
          <a:p>
            <a:pPr algn="just"/>
            <a:r>
              <a:rPr lang="en-US" sz="2400" dirty="0"/>
              <a:t>the dynamic nature of PHP’s strings and arrays also contributes.</a:t>
            </a:r>
          </a:p>
          <a:p>
            <a:pPr algn="just"/>
            <a:r>
              <a:rPr lang="en-US" sz="2400" dirty="0"/>
              <a:t>There is a large collection of functions for creating and manipulating PHP’s arrays.</a:t>
            </a:r>
          </a:p>
          <a:p>
            <a:pPr algn="just"/>
            <a:r>
              <a:rPr lang="en-US" sz="2400" dirty="0"/>
              <a:t>PHP has an extensive library of functions, making it a flexible and powerful tool for server-side software development. </a:t>
            </a:r>
          </a:p>
          <a:p>
            <a:pPr algn="just"/>
            <a:r>
              <a:rPr lang="en-US" sz="2400" dirty="0"/>
              <a:t>Many of the predefined functions are used to provide interfaces to other software systems, such as mail and database systems.</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p:txBody>
      </p:sp>
    </p:spTree>
    <p:extLst>
      <p:ext uri="{BB962C8B-B14F-4D97-AF65-F5344CB8AC3E}">
        <p14:creationId xmlns:p14="http://schemas.microsoft.com/office/powerpoint/2010/main" val="38969805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E8CF9-BA87-5B04-B4BF-CBF1E264A61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632AFB-E54E-580F-2254-2025343BD1EA}"/>
              </a:ext>
            </a:extLst>
          </p:cNvPr>
          <p:cNvSpPr>
            <a:spLocks noGrp="1"/>
          </p:cNvSpPr>
          <p:nvPr>
            <p:ph idx="1"/>
          </p:nvPr>
        </p:nvSpPr>
        <p:spPr>
          <a:xfrm>
            <a:off x="838200" y="301658"/>
            <a:ext cx="10515600" cy="6259398"/>
          </a:xfrm>
        </p:spPr>
        <p:txBody>
          <a:bodyPr>
            <a:normAutofit lnSpcReduction="10000"/>
          </a:bodyPr>
          <a:lstStyle/>
          <a:p>
            <a:pPr marL="0" indent="0">
              <a:buNone/>
            </a:pPr>
            <a:r>
              <a:rPr lang="en-IN" b="1" dirty="0">
                <a:solidFill>
                  <a:srgbClr val="FF3399"/>
                </a:solidFill>
              </a:rPr>
              <a:t>3 General Syntactic Characteristics</a:t>
            </a:r>
            <a:endParaRPr lang="en-US" b="1" dirty="0">
              <a:solidFill>
                <a:srgbClr val="FF3399"/>
              </a:solidFill>
            </a:endParaRPr>
          </a:p>
          <a:p>
            <a:pPr algn="just"/>
            <a:r>
              <a:rPr lang="en-US" sz="2400" dirty="0"/>
              <a:t>PHP scripts either are embedded in markup documents or are in files that are referenced by such documents. </a:t>
            </a:r>
          </a:p>
          <a:p>
            <a:pPr algn="just"/>
            <a:r>
              <a:rPr lang="en-US" sz="2400" dirty="0"/>
              <a:t>PHP code is embedded in documents by enclosing it between the &lt;?</a:t>
            </a:r>
            <a:r>
              <a:rPr lang="en-US" sz="2400" dirty="0" err="1"/>
              <a:t>php</a:t>
            </a:r>
            <a:r>
              <a:rPr lang="en-US" sz="2400" dirty="0"/>
              <a:t> and ?&gt; tags.</a:t>
            </a:r>
          </a:p>
          <a:p>
            <a:pPr algn="just"/>
            <a:r>
              <a:rPr lang="en-US" sz="2400" dirty="0"/>
              <a:t>If a PHP script is stored in a different file, it can be brought into a document with the </a:t>
            </a:r>
            <a:r>
              <a:rPr lang="en-US" sz="2400" dirty="0">
                <a:solidFill>
                  <a:srgbClr val="FF3399"/>
                </a:solidFill>
              </a:rPr>
              <a:t>include</a:t>
            </a:r>
            <a:r>
              <a:rPr lang="en-US" sz="2400" dirty="0"/>
              <a:t> construct</a:t>
            </a:r>
          </a:p>
          <a:p>
            <a:pPr lvl="1" algn="just"/>
            <a:r>
              <a:rPr lang="en-IN" dirty="0"/>
              <a:t>include("table2.inc");</a:t>
            </a:r>
            <a:endParaRPr lang="en-US" sz="4000" dirty="0"/>
          </a:p>
          <a:p>
            <a:pPr algn="just"/>
            <a:endParaRPr lang="en-US" sz="2400" dirty="0"/>
          </a:p>
          <a:p>
            <a:pPr algn="just"/>
            <a:r>
              <a:rPr lang="en-US" sz="2400" dirty="0"/>
              <a:t>This construct causes the contents of the file </a:t>
            </a:r>
            <a:r>
              <a:rPr lang="en-US" sz="2400" dirty="0">
                <a:solidFill>
                  <a:srgbClr val="FF3399"/>
                </a:solidFill>
              </a:rPr>
              <a:t>table2.inc </a:t>
            </a:r>
            <a:r>
              <a:rPr lang="en-US" sz="2400" dirty="0"/>
              <a:t>to be copied into the document in which the include appears.</a:t>
            </a:r>
          </a:p>
          <a:p>
            <a:pPr algn="just"/>
            <a:r>
              <a:rPr lang="en-US" sz="2400" dirty="0"/>
              <a:t>The included file can contain </a:t>
            </a:r>
            <a:r>
              <a:rPr lang="en-US" sz="2400" dirty="0">
                <a:solidFill>
                  <a:srgbClr val="FF3399"/>
                </a:solidFill>
              </a:rPr>
              <a:t>markup</a:t>
            </a:r>
            <a:r>
              <a:rPr lang="en-US" sz="2400" dirty="0"/>
              <a:t> or </a:t>
            </a:r>
            <a:r>
              <a:rPr lang="en-US" sz="2400" dirty="0">
                <a:solidFill>
                  <a:srgbClr val="FF3399"/>
                </a:solidFill>
              </a:rPr>
              <a:t>client-side</a:t>
            </a:r>
            <a:r>
              <a:rPr lang="en-US" sz="2400" dirty="0"/>
              <a:t> script, as well as </a:t>
            </a:r>
            <a:r>
              <a:rPr lang="en-US" sz="2400" dirty="0">
                <a:solidFill>
                  <a:srgbClr val="FF3399"/>
                </a:solidFill>
              </a:rPr>
              <a:t>PHP code</a:t>
            </a:r>
            <a:r>
              <a:rPr lang="en-US" sz="2400" dirty="0"/>
              <a:t>, but any PHP script it includes must be the content of a &lt;?</a:t>
            </a:r>
            <a:r>
              <a:rPr lang="en-US" sz="2400" dirty="0" err="1"/>
              <a:t>php</a:t>
            </a:r>
            <a:r>
              <a:rPr lang="en-US" sz="2400" dirty="0"/>
              <a:t> tag, even if the include itself appears in the content of a &lt;?</a:t>
            </a:r>
            <a:r>
              <a:rPr lang="en-US" sz="2400" dirty="0" err="1"/>
              <a:t>php</a:t>
            </a:r>
            <a:r>
              <a:rPr lang="en-US" sz="2400" dirty="0"/>
              <a:t> tag.</a:t>
            </a:r>
          </a:p>
          <a:p>
            <a:pPr algn="just"/>
            <a:r>
              <a:rPr lang="en-US" sz="2400" dirty="0"/>
              <a:t>The PHP interpreter changes from interpret to copy mode when an include is encountered. </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p:txBody>
      </p:sp>
    </p:spTree>
    <p:extLst>
      <p:ext uri="{BB962C8B-B14F-4D97-AF65-F5344CB8AC3E}">
        <p14:creationId xmlns:p14="http://schemas.microsoft.com/office/powerpoint/2010/main" val="39367617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F8E81-4B42-663C-B629-62171523D28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B438D14-AD04-484E-F30E-6784D6C2D441}"/>
              </a:ext>
            </a:extLst>
          </p:cNvPr>
          <p:cNvSpPr>
            <a:spLocks noGrp="1"/>
          </p:cNvSpPr>
          <p:nvPr>
            <p:ph idx="1"/>
          </p:nvPr>
        </p:nvSpPr>
        <p:spPr>
          <a:xfrm>
            <a:off x="838200" y="301658"/>
            <a:ext cx="10515600" cy="6259398"/>
          </a:xfrm>
        </p:spPr>
        <p:txBody>
          <a:bodyPr/>
          <a:lstStyle/>
          <a:p>
            <a:r>
              <a:rPr lang="en-US" dirty="0"/>
              <a:t>Continued…</a:t>
            </a:r>
          </a:p>
          <a:p>
            <a:pPr algn="just"/>
            <a:r>
              <a:rPr lang="en-US" sz="2400" dirty="0"/>
              <a:t>Every </a:t>
            </a:r>
            <a:r>
              <a:rPr lang="en-US" sz="2400" dirty="0">
                <a:solidFill>
                  <a:srgbClr val="FF3399"/>
                </a:solidFill>
              </a:rPr>
              <a:t>variable name </a:t>
            </a:r>
            <a:r>
              <a:rPr lang="en-US" sz="2400" dirty="0"/>
              <a:t>in PHP begins with a dollar sign ($). </a:t>
            </a:r>
          </a:p>
          <a:p>
            <a:pPr algn="just"/>
            <a:r>
              <a:rPr lang="en-US" sz="2400" dirty="0"/>
              <a:t>The part of the name after the dollar sign is like the names of variables in many common programming languages: a letter or an underscore followed by any number (including zero) of </a:t>
            </a:r>
            <a:r>
              <a:rPr lang="en-US" sz="2400" dirty="0">
                <a:solidFill>
                  <a:srgbClr val="FF3399"/>
                </a:solidFill>
              </a:rPr>
              <a:t>letters, digits, or underscores</a:t>
            </a:r>
            <a:r>
              <a:rPr lang="en-US" sz="2400" dirty="0"/>
              <a:t>. </a:t>
            </a:r>
          </a:p>
          <a:p>
            <a:pPr algn="just"/>
            <a:r>
              <a:rPr lang="en-US" sz="2400" dirty="0"/>
              <a:t>PHP variable names are </a:t>
            </a:r>
            <a:r>
              <a:rPr lang="en-US" sz="2400" dirty="0">
                <a:solidFill>
                  <a:srgbClr val="FF3399"/>
                </a:solidFill>
              </a:rPr>
              <a:t>case sensitive</a:t>
            </a:r>
            <a:r>
              <a:rPr lang="en-US" sz="2400" dirty="0"/>
              <a:t>.</a:t>
            </a:r>
          </a:p>
          <a:p>
            <a:pPr algn="just"/>
            <a:r>
              <a:rPr lang="en-US" sz="2400" dirty="0"/>
              <a:t>Although variable names in PHP are case sensitive, neither reserved words nor function names are. </a:t>
            </a:r>
          </a:p>
          <a:p>
            <a:pPr algn="just"/>
            <a:r>
              <a:rPr lang="en-US" sz="2400" dirty="0"/>
              <a:t>For example, there is no difference between while, WHILE, While, and </a:t>
            </a:r>
            <a:r>
              <a:rPr lang="en-US" sz="2400" dirty="0" err="1"/>
              <a:t>wHiLe</a:t>
            </a:r>
            <a:r>
              <a:rPr lang="en-US" sz="2400" dirty="0"/>
              <a:t>.</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p:txBody>
      </p:sp>
      <p:pic>
        <p:nvPicPr>
          <p:cNvPr id="4" name="Picture 3">
            <a:extLst>
              <a:ext uri="{FF2B5EF4-FFF2-40B4-BE49-F238E27FC236}">
                <a16:creationId xmlns:a16="http://schemas.microsoft.com/office/drawing/2014/main" id="{5740060F-9C5C-1272-D644-03454B432518}"/>
              </a:ext>
            </a:extLst>
          </p:cNvPr>
          <p:cNvPicPr>
            <a:picLocks noChangeAspect="1"/>
          </p:cNvPicPr>
          <p:nvPr/>
        </p:nvPicPr>
        <p:blipFill>
          <a:blip r:embed="rId2"/>
          <a:stretch>
            <a:fillRect/>
          </a:stretch>
        </p:blipFill>
        <p:spPr>
          <a:xfrm>
            <a:off x="3305183" y="4179848"/>
            <a:ext cx="5581634" cy="2376494"/>
          </a:xfrm>
          <a:prstGeom prst="rect">
            <a:avLst/>
          </a:prstGeom>
        </p:spPr>
      </p:pic>
    </p:spTree>
    <p:extLst>
      <p:ext uri="{BB962C8B-B14F-4D97-AF65-F5344CB8AC3E}">
        <p14:creationId xmlns:p14="http://schemas.microsoft.com/office/powerpoint/2010/main" val="18919018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80330-8DC3-C9DB-E33B-030DFDF0893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A8FDE98-1ED4-DBCD-1FAD-3ECACDDDA7C1}"/>
              </a:ext>
            </a:extLst>
          </p:cNvPr>
          <p:cNvSpPr>
            <a:spLocks noGrp="1"/>
          </p:cNvSpPr>
          <p:nvPr>
            <p:ph idx="1"/>
          </p:nvPr>
        </p:nvSpPr>
        <p:spPr>
          <a:xfrm>
            <a:off x="838200" y="301658"/>
            <a:ext cx="10515600" cy="6259398"/>
          </a:xfrm>
        </p:spPr>
        <p:txBody>
          <a:bodyPr/>
          <a:lstStyle/>
          <a:p>
            <a:r>
              <a:rPr lang="en-US" dirty="0"/>
              <a:t>Continued…</a:t>
            </a:r>
          </a:p>
          <a:p>
            <a:pPr algn="just"/>
            <a:r>
              <a:rPr lang="en-US" sz="2400" dirty="0"/>
              <a:t>PHP allows comments to be specified in three different ways. </a:t>
            </a:r>
          </a:p>
          <a:p>
            <a:pPr algn="just"/>
            <a:r>
              <a:rPr lang="en-US" sz="2400" dirty="0"/>
              <a:t>Single-line comments can be specified either with </a:t>
            </a:r>
            <a:r>
              <a:rPr lang="en-US" sz="2400" dirty="0">
                <a:solidFill>
                  <a:srgbClr val="FF3399"/>
                </a:solidFill>
              </a:rPr>
              <a:t>#</a:t>
            </a:r>
            <a:r>
              <a:rPr lang="en-US" sz="2400" dirty="0"/>
              <a:t> or with </a:t>
            </a:r>
            <a:r>
              <a:rPr lang="en-US" sz="2400" dirty="0">
                <a:solidFill>
                  <a:srgbClr val="FF3399"/>
                </a:solidFill>
              </a:rPr>
              <a:t>//</a:t>
            </a:r>
            <a:r>
              <a:rPr lang="en-US" sz="2400" dirty="0"/>
              <a:t>, as in JavaScript.</a:t>
            </a:r>
          </a:p>
          <a:p>
            <a:pPr algn="just"/>
            <a:r>
              <a:rPr lang="en-US" sz="2400" dirty="0"/>
              <a:t>Multiple line comments are delimited with /* and */, as in many other programming languages.</a:t>
            </a:r>
          </a:p>
          <a:p>
            <a:pPr algn="just"/>
            <a:r>
              <a:rPr lang="en-US" sz="2400" dirty="0"/>
              <a:t>PHP statements are terminated with semicolons. </a:t>
            </a:r>
          </a:p>
          <a:p>
            <a:pPr algn="just"/>
            <a:r>
              <a:rPr lang="en-US" sz="2400" dirty="0"/>
              <a:t>Braces are used to form compound statements for control structures.</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p:txBody>
      </p:sp>
    </p:spTree>
    <p:extLst>
      <p:ext uri="{BB962C8B-B14F-4D97-AF65-F5344CB8AC3E}">
        <p14:creationId xmlns:p14="http://schemas.microsoft.com/office/powerpoint/2010/main" val="41262882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489B1-2AAA-CF93-15FB-F0E48428AE4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ED5959A-9B2C-5CB0-BB39-341208091FED}"/>
              </a:ext>
            </a:extLst>
          </p:cNvPr>
          <p:cNvSpPr>
            <a:spLocks noGrp="1"/>
          </p:cNvSpPr>
          <p:nvPr>
            <p:ph idx="1"/>
          </p:nvPr>
        </p:nvSpPr>
        <p:spPr>
          <a:xfrm>
            <a:off x="838200" y="301658"/>
            <a:ext cx="10515600" cy="6259398"/>
          </a:xfrm>
        </p:spPr>
        <p:txBody>
          <a:bodyPr>
            <a:normAutofit lnSpcReduction="10000"/>
          </a:bodyPr>
          <a:lstStyle/>
          <a:p>
            <a:pPr marL="0" indent="0">
              <a:buNone/>
            </a:pPr>
            <a:r>
              <a:rPr lang="en-US" b="1" dirty="0">
                <a:solidFill>
                  <a:srgbClr val="FF3399"/>
                </a:solidFill>
              </a:rPr>
              <a:t>4 Primitives, Operations, and Expressions</a:t>
            </a:r>
          </a:p>
          <a:p>
            <a:r>
              <a:rPr lang="en-US" sz="2400" dirty="0"/>
              <a:t>PHP has four scalar types—</a:t>
            </a:r>
            <a:r>
              <a:rPr lang="en-US" sz="2400" dirty="0">
                <a:solidFill>
                  <a:srgbClr val="00B0F0"/>
                </a:solidFill>
              </a:rPr>
              <a:t>Boolean</a:t>
            </a:r>
            <a:r>
              <a:rPr lang="en-US" sz="2400" dirty="0"/>
              <a:t>, </a:t>
            </a:r>
            <a:r>
              <a:rPr lang="en-US" sz="2400" dirty="0">
                <a:solidFill>
                  <a:srgbClr val="00B0F0"/>
                </a:solidFill>
              </a:rPr>
              <a:t>integer</a:t>
            </a:r>
            <a:r>
              <a:rPr lang="en-US" sz="2400" dirty="0"/>
              <a:t>, </a:t>
            </a:r>
            <a:r>
              <a:rPr lang="en-US" sz="2400" dirty="0">
                <a:solidFill>
                  <a:srgbClr val="00B0F0"/>
                </a:solidFill>
              </a:rPr>
              <a:t>double</a:t>
            </a:r>
            <a:r>
              <a:rPr lang="en-US" sz="2400" dirty="0"/>
              <a:t>, and </a:t>
            </a:r>
            <a:r>
              <a:rPr lang="en-US" sz="2400" dirty="0">
                <a:solidFill>
                  <a:srgbClr val="00B0F0"/>
                </a:solidFill>
              </a:rPr>
              <a:t>string</a:t>
            </a:r>
            <a:r>
              <a:rPr lang="en-US" sz="2400" dirty="0"/>
              <a:t>; two compound types—</a:t>
            </a:r>
            <a:r>
              <a:rPr lang="en-US" sz="2400" dirty="0">
                <a:solidFill>
                  <a:srgbClr val="00B0F0"/>
                </a:solidFill>
              </a:rPr>
              <a:t>array</a:t>
            </a:r>
            <a:r>
              <a:rPr lang="en-US" sz="2400" dirty="0"/>
              <a:t> and </a:t>
            </a:r>
            <a:r>
              <a:rPr lang="en-US" sz="2400" dirty="0">
                <a:solidFill>
                  <a:srgbClr val="00B0F0"/>
                </a:solidFill>
              </a:rPr>
              <a:t>object</a:t>
            </a:r>
            <a:r>
              <a:rPr lang="en-US" sz="2400" dirty="0"/>
              <a:t>; and two special types—</a:t>
            </a:r>
            <a:r>
              <a:rPr lang="en-US" sz="2400" dirty="0">
                <a:solidFill>
                  <a:srgbClr val="00B0F0"/>
                </a:solidFill>
              </a:rPr>
              <a:t>resource</a:t>
            </a:r>
            <a:r>
              <a:rPr lang="en-US" sz="2400" dirty="0"/>
              <a:t> and </a:t>
            </a:r>
            <a:r>
              <a:rPr lang="en-US" sz="2400" dirty="0">
                <a:solidFill>
                  <a:srgbClr val="00B0F0"/>
                </a:solidFill>
              </a:rPr>
              <a:t>NULL</a:t>
            </a:r>
            <a:r>
              <a:rPr lang="en-US" sz="2400" dirty="0"/>
              <a:t>.</a:t>
            </a:r>
          </a:p>
          <a:p>
            <a:pPr algn="just"/>
            <a:r>
              <a:rPr lang="en-IN" sz="2400" b="1" dirty="0"/>
              <a:t>4.1 Variables</a:t>
            </a:r>
            <a:endParaRPr lang="en-US" sz="2400" b="1" dirty="0"/>
          </a:p>
          <a:p>
            <a:pPr algn="just"/>
            <a:r>
              <a:rPr lang="en-US" sz="2400" dirty="0"/>
              <a:t>Because PHP is </a:t>
            </a:r>
            <a:r>
              <a:rPr lang="en-US" sz="2400" dirty="0">
                <a:solidFill>
                  <a:srgbClr val="00B0F0"/>
                </a:solidFill>
              </a:rPr>
              <a:t>dynamically typed</a:t>
            </a:r>
            <a:r>
              <a:rPr lang="en-US" sz="2400" dirty="0"/>
              <a:t>, it has no type declarations. </a:t>
            </a:r>
          </a:p>
          <a:p>
            <a:pPr algn="just"/>
            <a:r>
              <a:rPr lang="en-US" sz="2400" dirty="0"/>
              <a:t>In fact, there is no way or need to ever declare the type of a variable.</a:t>
            </a:r>
          </a:p>
          <a:p>
            <a:pPr algn="just"/>
            <a:r>
              <a:rPr lang="en-US" sz="2400" dirty="0"/>
              <a:t>The type of a variable is set every time the variable is assigned a value.</a:t>
            </a:r>
          </a:p>
          <a:p>
            <a:pPr algn="just"/>
            <a:r>
              <a:rPr lang="en-US" sz="2400" dirty="0"/>
              <a:t>An unassigned variable, sometimes called an </a:t>
            </a:r>
            <a:r>
              <a:rPr lang="en-US" sz="2400" i="1" dirty="0">
                <a:solidFill>
                  <a:srgbClr val="00B0F0"/>
                </a:solidFill>
              </a:rPr>
              <a:t>unbound variable</a:t>
            </a:r>
            <a:r>
              <a:rPr lang="en-US" sz="2400" dirty="0"/>
              <a:t>, has the value NULL</a:t>
            </a:r>
          </a:p>
          <a:p>
            <a:pPr algn="just"/>
            <a:r>
              <a:rPr lang="en-US" sz="2400" dirty="0"/>
              <a:t>In expression the value of the unbound variable is changed based on the context</a:t>
            </a:r>
          </a:p>
          <a:p>
            <a:pPr algn="just"/>
            <a:r>
              <a:rPr lang="en-US" sz="2400" dirty="0"/>
              <a:t>A variable can be tested to determine whether it currently has a value. The test is carried out with the </a:t>
            </a:r>
            <a:r>
              <a:rPr lang="en-US" sz="2400" dirty="0" err="1">
                <a:solidFill>
                  <a:srgbClr val="00B0F0"/>
                </a:solidFill>
              </a:rPr>
              <a:t>IsSet</a:t>
            </a:r>
            <a:r>
              <a:rPr lang="en-US" sz="2400" dirty="0"/>
              <a:t> function, which takes the variable’s name as its parameter and returns a Boolean value. </a:t>
            </a:r>
          </a:p>
          <a:p>
            <a:pPr algn="just"/>
            <a:r>
              <a:rPr lang="en-US" sz="2400" dirty="0"/>
              <a:t>For example, </a:t>
            </a:r>
            <a:r>
              <a:rPr lang="en-US" sz="2400" dirty="0" err="1">
                <a:solidFill>
                  <a:srgbClr val="FF0000"/>
                </a:solidFill>
              </a:rPr>
              <a:t>IsSet</a:t>
            </a:r>
            <a:r>
              <a:rPr lang="en-US" sz="2400" dirty="0">
                <a:solidFill>
                  <a:srgbClr val="FF0000"/>
                </a:solidFill>
              </a:rPr>
              <a:t>($fruit)</a:t>
            </a:r>
          </a:p>
          <a:p>
            <a:pPr algn="just"/>
            <a:r>
              <a:rPr lang="en-US" sz="2400" dirty="0"/>
              <a:t>If you want to be informed when an unbound variable is referenced, include a call to the </a:t>
            </a:r>
            <a:r>
              <a:rPr lang="en-US" sz="2400" dirty="0" err="1"/>
              <a:t>error_reporting</a:t>
            </a:r>
            <a:r>
              <a:rPr lang="en-US" sz="2400" dirty="0"/>
              <a:t> function with the parameter value 15. </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p:txBody>
      </p:sp>
    </p:spTree>
    <p:extLst>
      <p:ext uri="{BB962C8B-B14F-4D97-AF65-F5344CB8AC3E}">
        <p14:creationId xmlns:p14="http://schemas.microsoft.com/office/powerpoint/2010/main" val="6454336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77DC-C446-2E3D-8322-CC16257CB00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D7B373E-76ED-558D-9DE6-5FFED9804CA8}"/>
              </a:ext>
            </a:extLst>
          </p:cNvPr>
          <p:cNvSpPr>
            <a:spLocks noGrp="1"/>
          </p:cNvSpPr>
          <p:nvPr>
            <p:ph idx="1"/>
          </p:nvPr>
        </p:nvSpPr>
        <p:spPr>
          <a:xfrm>
            <a:off x="838200" y="301658"/>
            <a:ext cx="10515600" cy="6259398"/>
          </a:xfrm>
        </p:spPr>
        <p:txBody>
          <a:bodyPr/>
          <a:lstStyle/>
          <a:p>
            <a:pPr marL="0" indent="0">
              <a:buNone/>
            </a:pPr>
            <a:r>
              <a:rPr lang="en-IN" sz="2400" b="1" dirty="0"/>
              <a:t>4.2 Integer Type</a:t>
            </a:r>
            <a:endParaRPr lang="en-US" sz="2400" b="1" dirty="0"/>
          </a:p>
          <a:p>
            <a:pPr algn="just"/>
            <a:r>
              <a:rPr lang="en-US" sz="2400" dirty="0"/>
              <a:t>PHP has a single integer type, named integer. </a:t>
            </a:r>
          </a:p>
          <a:p>
            <a:pPr algn="just"/>
            <a:r>
              <a:rPr lang="en-US" sz="2400" dirty="0"/>
              <a:t>This type corresponds to the long type of C and its successors, which means its size is that of a word in the machine on which the program is run. </a:t>
            </a:r>
          </a:p>
          <a:p>
            <a:pPr algn="just"/>
            <a:r>
              <a:rPr lang="en-US" sz="2400" dirty="0"/>
              <a:t>In most cases, this is 32 bits, or a bit less (not fewer) than 10 decimal digits.</a:t>
            </a:r>
          </a:p>
          <a:p>
            <a:pPr marL="0" indent="0" algn="just">
              <a:buNone/>
            </a:pPr>
            <a:endParaRPr lang="en-IN" sz="2400" b="1" dirty="0"/>
          </a:p>
          <a:p>
            <a:pPr marL="0" indent="0" algn="just">
              <a:buNone/>
            </a:pPr>
            <a:r>
              <a:rPr lang="en-IN" sz="2400" b="1" dirty="0"/>
              <a:t>4.3 Double Type</a:t>
            </a:r>
            <a:endParaRPr lang="en-US" sz="2400" b="1" dirty="0"/>
          </a:p>
          <a:p>
            <a:pPr algn="just"/>
            <a:r>
              <a:rPr lang="en-US" sz="2400" dirty="0"/>
              <a:t>PHP’s double type corresponds to the double type of C and its successors. </a:t>
            </a:r>
          </a:p>
          <a:p>
            <a:pPr algn="just"/>
            <a:r>
              <a:rPr lang="en-US" sz="2400" dirty="0"/>
              <a:t>Double literals can include a decimal point, an exponent, or both.</a:t>
            </a:r>
          </a:p>
          <a:p>
            <a:pPr marL="0" indent="0" algn="just">
              <a:buNone/>
            </a:pPr>
            <a:endParaRPr lang="en-IN" sz="2400" b="1"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p:txBody>
      </p:sp>
    </p:spTree>
    <p:extLst>
      <p:ext uri="{BB962C8B-B14F-4D97-AF65-F5344CB8AC3E}">
        <p14:creationId xmlns:p14="http://schemas.microsoft.com/office/powerpoint/2010/main" val="21425680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A603C-09D3-7BB6-0358-3A4CAEFB5FF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5CB8D27-15FC-6B1E-794A-74F9CE51F0D3}"/>
              </a:ext>
            </a:extLst>
          </p:cNvPr>
          <p:cNvSpPr>
            <a:spLocks noGrp="1"/>
          </p:cNvSpPr>
          <p:nvPr>
            <p:ph idx="1"/>
          </p:nvPr>
        </p:nvSpPr>
        <p:spPr>
          <a:xfrm>
            <a:off x="838200" y="301658"/>
            <a:ext cx="10515600" cy="6259398"/>
          </a:xfrm>
        </p:spPr>
        <p:txBody>
          <a:bodyPr/>
          <a:lstStyle/>
          <a:p>
            <a:pPr marL="0" indent="0" algn="just">
              <a:buNone/>
            </a:pPr>
            <a:r>
              <a:rPr lang="en-IN" sz="2400" b="1" dirty="0"/>
              <a:t>4.4 String Type</a:t>
            </a:r>
            <a:endParaRPr lang="en-US" sz="2400" b="1" dirty="0"/>
          </a:p>
          <a:p>
            <a:pPr algn="just"/>
            <a:r>
              <a:rPr lang="en-US" sz="2400" dirty="0"/>
              <a:t>Characters in PHP are single bytes</a:t>
            </a:r>
          </a:p>
          <a:p>
            <a:pPr algn="just"/>
            <a:r>
              <a:rPr lang="en-US" sz="2400" dirty="0"/>
              <a:t>String literals are defined with either single-quote (') or double-quote (") delimiters.</a:t>
            </a:r>
          </a:p>
          <a:p>
            <a:pPr algn="just"/>
            <a:r>
              <a:rPr lang="en-US" sz="2400" dirty="0"/>
              <a:t>In single-quoted string literals, escape sequences, such as \n, are not recognized as anything special and the values of embedded variables are not </a:t>
            </a:r>
            <a:r>
              <a:rPr lang="en-IN" sz="2400" dirty="0"/>
              <a:t>substituted for their names.</a:t>
            </a:r>
          </a:p>
          <a:p>
            <a:pPr algn="just"/>
            <a:endParaRPr lang="en-IN" sz="2400" dirty="0"/>
          </a:p>
          <a:p>
            <a:pPr lvl="1" algn="just"/>
            <a:r>
              <a:rPr lang="en-IN" sz="2000" dirty="0"/>
              <a:t>'The sum is: $sum'</a:t>
            </a:r>
            <a:endParaRPr lang="en-US" sz="2000" dirty="0"/>
          </a:p>
          <a:p>
            <a:pPr lvl="1" algn="just"/>
            <a:r>
              <a:rPr lang="en-IN" sz="2000" dirty="0"/>
              <a:t>"The sum is: $sum“     	will print:  	The sum is: 10.2</a:t>
            </a:r>
            <a:endParaRPr lang="en-US" sz="2000" dirty="0"/>
          </a:p>
          <a:p>
            <a:pPr algn="just"/>
            <a:endParaRPr lang="en-US" sz="2400" dirty="0"/>
          </a:p>
          <a:p>
            <a:pPr algn="just"/>
            <a:r>
              <a:rPr lang="en-US" sz="2400" dirty="0"/>
              <a:t>If a double-quoted string literal includes a variable name, but you do not want it interpolated, precede the first character of the name (the dollar sign) with a backslash (\).</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p:txBody>
      </p:sp>
    </p:spTree>
    <p:extLst>
      <p:ext uri="{BB962C8B-B14F-4D97-AF65-F5344CB8AC3E}">
        <p14:creationId xmlns:p14="http://schemas.microsoft.com/office/powerpoint/2010/main" val="11838854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701C93-7B93-C613-83D1-D1EF9CB2158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322EFC7-BC60-C2B0-528C-51C19C3E9152}"/>
              </a:ext>
            </a:extLst>
          </p:cNvPr>
          <p:cNvSpPr>
            <a:spLocks noGrp="1"/>
          </p:cNvSpPr>
          <p:nvPr>
            <p:ph idx="1"/>
          </p:nvPr>
        </p:nvSpPr>
        <p:spPr>
          <a:xfrm>
            <a:off x="838200" y="301658"/>
            <a:ext cx="10515600" cy="6259398"/>
          </a:xfrm>
        </p:spPr>
        <p:txBody>
          <a:bodyPr/>
          <a:lstStyle/>
          <a:p>
            <a:pPr marL="0" indent="0">
              <a:buNone/>
            </a:pPr>
            <a:r>
              <a:rPr lang="en-IN" sz="2400" b="1" dirty="0"/>
              <a:t>4.5 Boolean Type</a:t>
            </a:r>
            <a:endParaRPr lang="en-US" sz="2400" b="1" dirty="0"/>
          </a:p>
          <a:p>
            <a:pPr algn="just"/>
            <a:r>
              <a:rPr lang="en-US" sz="2400" dirty="0"/>
              <a:t>The only two possible values for the Boolean type are </a:t>
            </a:r>
            <a:r>
              <a:rPr lang="en-US" sz="2400" dirty="0">
                <a:solidFill>
                  <a:srgbClr val="FF0000"/>
                </a:solidFill>
              </a:rPr>
              <a:t>TRUE</a:t>
            </a:r>
            <a:r>
              <a:rPr lang="en-US" sz="2400" dirty="0"/>
              <a:t> and </a:t>
            </a:r>
            <a:r>
              <a:rPr lang="en-US" sz="2400" dirty="0">
                <a:solidFill>
                  <a:srgbClr val="FF0000"/>
                </a:solidFill>
              </a:rPr>
              <a:t>FALSE</a:t>
            </a:r>
            <a:r>
              <a:rPr lang="en-US" sz="2400" dirty="0"/>
              <a:t>, both of which are case insensitive.</a:t>
            </a:r>
          </a:p>
          <a:p>
            <a:pPr algn="just"/>
            <a:r>
              <a:rPr lang="en-US" sz="2400" dirty="0"/>
              <a:t>If an </a:t>
            </a:r>
            <a:r>
              <a:rPr lang="en-US" sz="2400" dirty="0">
                <a:solidFill>
                  <a:srgbClr val="FF0000"/>
                </a:solidFill>
              </a:rPr>
              <a:t>integer expression </a:t>
            </a:r>
            <a:r>
              <a:rPr lang="en-US" sz="2400" dirty="0"/>
              <a:t>is used in a Boolean context, it evaluates to FALSE if it is zero; otherwise, it is TRUE. </a:t>
            </a:r>
          </a:p>
          <a:p>
            <a:pPr algn="just"/>
            <a:r>
              <a:rPr lang="en-US" sz="2400" dirty="0"/>
              <a:t>If a </a:t>
            </a:r>
            <a:r>
              <a:rPr lang="en-US" sz="2400" dirty="0">
                <a:solidFill>
                  <a:srgbClr val="FF0000"/>
                </a:solidFill>
              </a:rPr>
              <a:t>string expression </a:t>
            </a:r>
            <a:r>
              <a:rPr lang="en-US" sz="2400" dirty="0"/>
              <a:t>is used in a Boolean context, it evaluates to FALSE if it is either the empty string or the string "0"; otherwise, it is TRUE.</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p:txBody>
      </p:sp>
    </p:spTree>
    <p:extLst>
      <p:ext uri="{BB962C8B-B14F-4D97-AF65-F5344CB8AC3E}">
        <p14:creationId xmlns:p14="http://schemas.microsoft.com/office/powerpoint/2010/main" val="8063786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C47C0-DF37-C8DD-A968-94892CFF864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8B819A8-729C-1E1E-8555-C21686C8085B}"/>
              </a:ext>
            </a:extLst>
          </p:cNvPr>
          <p:cNvSpPr>
            <a:spLocks noGrp="1"/>
          </p:cNvSpPr>
          <p:nvPr>
            <p:ph idx="1"/>
          </p:nvPr>
        </p:nvSpPr>
        <p:spPr>
          <a:xfrm>
            <a:off x="838200" y="301658"/>
            <a:ext cx="10515600" cy="6259398"/>
          </a:xfrm>
        </p:spPr>
        <p:txBody>
          <a:bodyPr/>
          <a:lstStyle/>
          <a:p>
            <a:pPr marL="0" indent="0">
              <a:buNone/>
            </a:pPr>
            <a:r>
              <a:rPr lang="en-US" sz="2400" b="1" dirty="0"/>
              <a:t>4.6 Arithmetic Operators and Expressions</a:t>
            </a:r>
            <a:endParaRPr lang="en-US" b="1" dirty="0"/>
          </a:p>
          <a:p>
            <a:pPr algn="just"/>
            <a:r>
              <a:rPr lang="en-US" sz="2400" dirty="0"/>
              <a:t>PHP has the usual (for C-based programming languages) collection of arithmetic operators (+, -, *, /, %, ++, and --) with the usual meanings.</a:t>
            </a:r>
          </a:p>
          <a:p>
            <a:pPr algn="just"/>
            <a:r>
              <a:rPr lang="en-US" sz="2400" dirty="0"/>
              <a:t>Integer division is done and the result is not an integral value, the result is returned as a </a:t>
            </a:r>
            <a:r>
              <a:rPr lang="en-US" sz="2400" dirty="0">
                <a:solidFill>
                  <a:srgbClr val="FF0000"/>
                </a:solidFill>
              </a:rPr>
              <a:t>double</a:t>
            </a:r>
            <a:r>
              <a:rPr lang="en-US" sz="2400" dirty="0"/>
              <a:t>.</a:t>
            </a:r>
          </a:p>
          <a:p>
            <a:pPr algn="just"/>
            <a:r>
              <a:rPr lang="en-US" sz="2400" dirty="0"/>
              <a:t>Any operation on integers that results in integer overflow also </a:t>
            </a:r>
            <a:r>
              <a:rPr lang="en-US" sz="2400" dirty="0">
                <a:solidFill>
                  <a:srgbClr val="FF0000"/>
                </a:solidFill>
              </a:rPr>
              <a:t>produces a double</a:t>
            </a:r>
            <a:r>
              <a:rPr lang="en-US" sz="2400" dirty="0"/>
              <a:t>.</a:t>
            </a:r>
          </a:p>
          <a:p>
            <a:pPr algn="just"/>
            <a:r>
              <a:rPr lang="en-US" sz="2400" dirty="0"/>
              <a:t>PHP has a large number of predefined functions that operate on numeric values.</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p:txBody>
      </p:sp>
      <p:pic>
        <p:nvPicPr>
          <p:cNvPr id="4" name="Picture 3">
            <a:extLst>
              <a:ext uri="{FF2B5EF4-FFF2-40B4-BE49-F238E27FC236}">
                <a16:creationId xmlns:a16="http://schemas.microsoft.com/office/drawing/2014/main" id="{72D7A611-2D95-40AE-AB7D-50B9148D371A}"/>
              </a:ext>
            </a:extLst>
          </p:cNvPr>
          <p:cNvPicPr>
            <a:picLocks noChangeAspect="1"/>
          </p:cNvPicPr>
          <p:nvPr/>
        </p:nvPicPr>
        <p:blipFill>
          <a:blip r:embed="rId2"/>
          <a:stretch>
            <a:fillRect/>
          </a:stretch>
        </p:blipFill>
        <p:spPr>
          <a:xfrm>
            <a:off x="1805483" y="3231876"/>
            <a:ext cx="8373644" cy="3448531"/>
          </a:xfrm>
          <a:prstGeom prst="rect">
            <a:avLst/>
          </a:prstGeom>
        </p:spPr>
      </p:pic>
    </p:spTree>
    <p:extLst>
      <p:ext uri="{BB962C8B-B14F-4D97-AF65-F5344CB8AC3E}">
        <p14:creationId xmlns:p14="http://schemas.microsoft.com/office/powerpoint/2010/main" val="39953161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83EA9-3E9F-6627-4BE0-F577FC6AEEC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47B9E67-AC1F-FF0C-8F12-700255E9290C}"/>
              </a:ext>
            </a:extLst>
          </p:cNvPr>
          <p:cNvSpPr>
            <a:spLocks noGrp="1"/>
          </p:cNvSpPr>
          <p:nvPr>
            <p:ph idx="1"/>
          </p:nvPr>
        </p:nvSpPr>
        <p:spPr>
          <a:xfrm>
            <a:off x="838200" y="301658"/>
            <a:ext cx="10515600" cy="6259398"/>
          </a:xfrm>
        </p:spPr>
        <p:txBody>
          <a:bodyPr/>
          <a:lstStyle/>
          <a:p>
            <a:pPr marL="0" indent="0">
              <a:buNone/>
            </a:pPr>
            <a:r>
              <a:rPr lang="en-IN" sz="2400" b="1" dirty="0"/>
              <a:t>4.7 String Operations</a:t>
            </a:r>
            <a:endParaRPr lang="en-US" sz="2400" b="1" dirty="0"/>
          </a:p>
          <a:p>
            <a:pPr algn="just"/>
            <a:r>
              <a:rPr lang="en-US" sz="2400" dirty="0"/>
              <a:t>The only string operator is the catenation operator, specified with a </a:t>
            </a:r>
            <a:r>
              <a:rPr lang="en-US" sz="2400" dirty="0">
                <a:solidFill>
                  <a:srgbClr val="00B0F0"/>
                </a:solidFill>
              </a:rPr>
              <a:t>period (.)</a:t>
            </a:r>
            <a:r>
              <a:rPr lang="en-US" sz="2400" dirty="0"/>
              <a:t>.</a:t>
            </a:r>
          </a:p>
          <a:p>
            <a:pPr algn="just"/>
            <a:r>
              <a:rPr lang="en-US" sz="2400" dirty="0"/>
              <a:t>String variables can be treated somewhat like arrays for access to individual characters.</a:t>
            </a:r>
          </a:p>
          <a:p>
            <a:pPr lvl="1" algn="just"/>
            <a:r>
              <a:rPr lang="en-US" dirty="0"/>
              <a:t>For example, if $str has the value "apple", $str{3} is "l". </a:t>
            </a:r>
          </a:p>
          <a:p>
            <a:pPr marL="0" indent="0" algn="just">
              <a:buNone/>
            </a:pPr>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p:txBody>
      </p:sp>
      <p:pic>
        <p:nvPicPr>
          <p:cNvPr id="4" name="Picture 3">
            <a:extLst>
              <a:ext uri="{FF2B5EF4-FFF2-40B4-BE49-F238E27FC236}">
                <a16:creationId xmlns:a16="http://schemas.microsoft.com/office/drawing/2014/main" id="{A8465ACA-AF28-8224-AA7E-8DAE94127B90}"/>
              </a:ext>
            </a:extLst>
          </p:cNvPr>
          <p:cNvPicPr>
            <a:picLocks noChangeAspect="1"/>
          </p:cNvPicPr>
          <p:nvPr/>
        </p:nvPicPr>
        <p:blipFill>
          <a:blip r:embed="rId2"/>
          <a:stretch>
            <a:fillRect/>
          </a:stretch>
        </p:blipFill>
        <p:spPr>
          <a:xfrm>
            <a:off x="2809588" y="2379886"/>
            <a:ext cx="6786900" cy="4478114"/>
          </a:xfrm>
          <a:prstGeom prst="rect">
            <a:avLst/>
          </a:prstGeom>
        </p:spPr>
      </p:pic>
    </p:spTree>
    <p:extLst>
      <p:ext uri="{BB962C8B-B14F-4D97-AF65-F5344CB8AC3E}">
        <p14:creationId xmlns:p14="http://schemas.microsoft.com/office/powerpoint/2010/main" val="12749714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0CF837-893E-513E-2BFB-B039088F616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B66B5E-7F79-8E4C-F182-47ECE36A3B9C}"/>
              </a:ext>
            </a:extLst>
          </p:cNvPr>
          <p:cNvSpPr>
            <a:spLocks noGrp="1"/>
          </p:cNvSpPr>
          <p:nvPr>
            <p:ph idx="1"/>
          </p:nvPr>
        </p:nvSpPr>
        <p:spPr>
          <a:xfrm>
            <a:off x="838200" y="301658"/>
            <a:ext cx="10515600" cy="6259398"/>
          </a:xfrm>
        </p:spPr>
        <p:txBody>
          <a:bodyPr>
            <a:normAutofit/>
          </a:bodyPr>
          <a:lstStyle/>
          <a:p>
            <a:pPr marL="0" indent="0">
              <a:buNone/>
            </a:pPr>
            <a:r>
              <a:rPr lang="en-IN" sz="2400" b="1" dirty="0"/>
              <a:t>4.8 Scalar Type Conversions</a:t>
            </a:r>
            <a:endParaRPr lang="en-US" sz="2400" b="1" dirty="0"/>
          </a:p>
          <a:p>
            <a:pPr algn="just"/>
            <a:r>
              <a:rPr lang="en-US" sz="2400" dirty="0"/>
              <a:t>PHP, like most other programming languages, includes both implicit and explicit type conversions. </a:t>
            </a:r>
          </a:p>
          <a:p>
            <a:pPr algn="just"/>
            <a:r>
              <a:rPr lang="en-US" sz="2400" dirty="0"/>
              <a:t>Implicit type conversions are called </a:t>
            </a:r>
            <a:r>
              <a:rPr lang="en-US" sz="2400" dirty="0">
                <a:solidFill>
                  <a:srgbClr val="00B0F0"/>
                </a:solidFill>
              </a:rPr>
              <a:t>coercions</a:t>
            </a:r>
            <a:r>
              <a:rPr lang="en-US" sz="2400" dirty="0"/>
              <a:t>.</a:t>
            </a:r>
          </a:p>
          <a:p>
            <a:pPr algn="just"/>
            <a:r>
              <a:rPr lang="en-US" sz="2400" dirty="0"/>
              <a:t>In most cases, the </a:t>
            </a:r>
            <a:r>
              <a:rPr lang="en-US" sz="2400" dirty="0">
                <a:solidFill>
                  <a:srgbClr val="00B0F0"/>
                </a:solidFill>
              </a:rPr>
              <a:t>context</a:t>
            </a:r>
            <a:r>
              <a:rPr lang="en-US" sz="2400" dirty="0"/>
              <a:t> of an expression determines the type that is expected or required. </a:t>
            </a:r>
          </a:p>
          <a:p>
            <a:pPr lvl="1" algn="just"/>
            <a:r>
              <a:rPr lang="en-US" sz="2000" dirty="0"/>
              <a:t>Whenever a numeric value appears in a string context, the numeric value is coerced to a string. </a:t>
            </a:r>
          </a:p>
          <a:p>
            <a:pPr lvl="1" algn="just"/>
            <a:r>
              <a:rPr lang="en-US" sz="2000" dirty="0"/>
              <a:t>Like wise, whenever a string value appears in a numeric context, the string value is coerced to a numeric value.</a:t>
            </a:r>
          </a:p>
          <a:p>
            <a:pPr algn="just"/>
            <a:r>
              <a:rPr lang="en-US" sz="2400" dirty="0"/>
              <a:t>Explicit type conversions can be specified in three different ways.</a:t>
            </a:r>
          </a:p>
          <a:p>
            <a:pPr algn="just"/>
            <a:r>
              <a:rPr lang="en-US" sz="2400" dirty="0"/>
              <a:t>Typecast - </a:t>
            </a:r>
            <a:r>
              <a:rPr lang="en-IN" sz="2400" dirty="0">
                <a:solidFill>
                  <a:srgbClr val="00B0F0"/>
                </a:solidFill>
              </a:rPr>
              <a:t>(int)$sum</a:t>
            </a:r>
            <a:endParaRPr lang="en-US" sz="2400" dirty="0">
              <a:solidFill>
                <a:srgbClr val="00B0F0"/>
              </a:solidFill>
            </a:endParaRPr>
          </a:p>
          <a:p>
            <a:pPr algn="just"/>
            <a:r>
              <a:rPr lang="en-US" sz="2400" dirty="0"/>
              <a:t>Another way to specify explicit type conversion is to use one of the functions </a:t>
            </a:r>
            <a:r>
              <a:rPr lang="en-US" sz="2400" dirty="0" err="1">
                <a:solidFill>
                  <a:srgbClr val="00B0F0"/>
                </a:solidFill>
              </a:rPr>
              <a:t>intval</a:t>
            </a:r>
            <a:r>
              <a:rPr lang="en-US" sz="2400" dirty="0"/>
              <a:t>, </a:t>
            </a:r>
            <a:r>
              <a:rPr lang="en-US" sz="2400" dirty="0" err="1">
                <a:solidFill>
                  <a:srgbClr val="00B0F0"/>
                </a:solidFill>
              </a:rPr>
              <a:t>doubleval</a:t>
            </a:r>
            <a:r>
              <a:rPr lang="en-US" sz="2400" dirty="0"/>
              <a:t>, or </a:t>
            </a:r>
            <a:r>
              <a:rPr lang="en-US" sz="2400" dirty="0" err="1">
                <a:solidFill>
                  <a:srgbClr val="00B0F0"/>
                </a:solidFill>
              </a:rPr>
              <a:t>strval</a:t>
            </a:r>
            <a:r>
              <a:rPr lang="en-US" sz="2400" dirty="0"/>
              <a:t>.  - </a:t>
            </a:r>
            <a:r>
              <a:rPr lang="en-IN" sz="2400" dirty="0" err="1">
                <a:solidFill>
                  <a:srgbClr val="FF0000"/>
                </a:solidFill>
              </a:rPr>
              <a:t>intval</a:t>
            </a:r>
            <a:r>
              <a:rPr lang="en-IN" sz="2400" dirty="0">
                <a:solidFill>
                  <a:srgbClr val="FF0000"/>
                </a:solidFill>
              </a:rPr>
              <a:t>($sum)</a:t>
            </a:r>
            <a:endParaRPr lang="en-US" sz="2400" dirty="0"/>
          </a:p>
          <a:p>
            <a:pPr algn="just"/>
            <a:r>
              <a:rPr lang="en-US" sz="2400" dirty="0"/>
              <a:t>The third way to specify an explicit type conversion is with the </a:t>
            </a:r>
            <a:r>
              <a:rPr lang="en-US" sz="2400" dirty="0" err="1">
                <a:solidFill>
                  <a:srgbClr val="FF0000"/>
                </a:solidFill>
              </a:rPr>
              <a:t>settype</a:t>
            </a:r>
            <a:r>
              <a:rPr lang="en-US" sz="2400" dirty="0"/>
              <a:t> function</a:t>
            </a:r>
          </a:p>
          <a:p>
            <a:pPr lvl="1" algn="just"/>
            <a:r>
              <a:rPr lang="en-IN" sz="2000" dirty="0" err="1"/>
              <a:t>settype</a:t>
            </a:r>
            <a:r>
              <a:rPr lang="en-IN" sz="2000" dirty="0"/>
              <a:t>($sum, "integer");</a:t>
            </a:r>
            <a:endParaRPr lang="en-US" sz="2000" dirty="0"/>
          </a:p>
          <a:p>
            <a:pPr algn="just"/>
            <a:endParaRPr lang="en-US" sz="2400" dirty="0"/>
          </a:p>
          <a:p>
            <a:pPr algn="just"/>
            <a:endParaRPr lang="en-US" sz="2400" dirty="0"/>
          </a:p>
          <a:p>
            <a:pPr algn="just"/>
            <a:endParaRPr lang="en-US" sz="2400" dirty="0"/>
          </a:p>
        </p:txBody>
      </p:sp>
    </p:spTree>
    <p:extLst>
      <p:ext uri="{BB962C8B-B14F-4D97-AF65-F5344CB8AC3E}">
        <p14:creationId xmlns:p14="http://schemas.microsoft.com/office/powerpoint/2010/main" val="16303750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C96783-EB38-EB96-FEB7-CFBF259E7E7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F3A9BAF-47F5-6C48-B174-3A04A9225E4C}"/>
              </a:ext>
            </a:extLst>
          </p:cNvPr>
          <p:cNvSpPr>
            <a:spLocks noGrp="1"/>
          </p:cNvSpPr>
          <p:nvPr>
            <p:ph idx="1"/>
          </p:nvPr>
        </p:nvSpPr>
        <p:spPr>
          <a:xfrm>
            <a:off x="838200" y="301658"/>
            <a:ext cx="10515600" cy="6259398"/>
          </a:xfrm>
        </p:spPr>
        <p:txBody>
          <a:bodyPr/>
          <a:lstStyle/>
          <a:p>
            <a:r>
              <a:rPr lang="en-US" dirty="0"/>
              <a:t>Continued…</a:t>
            </a:r>
          </a:p>
          <a:p>
            <a:pPr algn="just"/>
            <a:r>
              <a:rPr lang="en-US" sz="2400" dirty="0"/>
              <a:t>The type of the value of a variable can be determined in two different ways. </a:t>
            </a:r>
          </a:p>
          <a:p>
            <a:pPr algn="just"/>
            <a:r>
              <a:rPr lang="en-US" sz="2400" dirty="0"/>
              <a:t>The first is the </a:t>
            </a:r>
            <a:r>
              <a:rPr lang="en-US" sz="2400" dirty="0" err="1">
                <a:solidFill>
                  <a:srgbClr val="00B0F0"/>
                </a:solidFill>
              </a:rPr>
              <a:t>gettype</a:t>
            </a:r>
            <a:r>
              <a:rPr lang="en-US" sz="2400" dirty="0"/>
              <a:t> function, which takes a variable as its parameter and returns a string that has the name of the type of the current value of the variable.</a:t>
            </a:r>
          </a:p>
          <a:p>
            <a:pPr algn="just"/>
            <a:r>
              <a:rPr lang="en-US" sz="2400" dirty="0"/>
              <a:t>One possible return value of </a:t>
            </a:r>
            <a:r>
              <a:rPr lang="en-US" sz="2400" dirty="0" err="1"/>
              <a:t>gettype</a:t>
            </a:r>
            <a:r>
              <a:rPr lang="en-US" sz="2400" dirty="0"/>
              <a:t> is "unknown". </a:t>
            </a:r>
          </a:p>
          <a:p>
            <a:pPr algn="just"/>
            <a:endParaRPr lang="en-US" sz="2400" dirty="0"/>
          </a:p>
          <a:p>
            <a:pPr algn="just"/>
            <a:r>
              <a:rPr lang="en-US" sz="2400" dirty="0"/>
              <a:t>The other way to determine the type of the value of a variable is to use one or more of the type-testing functions, each of which takes a variable name as a parameter and returns a Boolean value. </a:t>
            </a:r>
          </a:p>
          <a:p>
            <a:pPr algn="just"/>
            <a:r>
              <a:rPr lang="en-US" sz="2400" dirty="0"/>
              <a:t>These functions are </a:t>
            </a:r>
            <a:r>
              <a:rPr lang="en-US" sz="2400" dirty="0" err="1">
                <a:solidFill>
                  <a:srgbClr val="00B0F0"/>
                </a:solidFill>
              </a:rPr>
              <a:t>is_int</a:t>
            </a:r>
            <a:r>
              <a:rPr lang="en-US" sz="2400" dirty="0"/>
              <a:t>, </a:t>
            </a:r>
            <a:r>
              <a:rPr lang="en-US" sz="2400" dirty="0" err="1">
                <a:solidFill>
                  <a:srgbClr val="00B0F0"/>
                </a:solidFill>
              </a:rPr>
              <a:t>is_integer</a:t>
            </a:r>
            <a:r>
              <a:rPr lang="en-US" sz="2400" dirty="0"/>
              <a:t>, and </a:t>
            </a:r>
            <a:r>
              <a:rPr lang="en-US" sz="2400" dirty="0" err="1">
                <a:solidFill>
                  <a:srgbClr val="00B0F0"/>
                </a:solidFill>
              </a:rPr>
              <a:t>is_long</a:t>
            </a:r>
            <a:r>
              <a:rPr lang="en-US" sz="2400" dirty="0"/>
              <a:t>, which test for integer type; </a:t>
            </a:r>
            <a:r>
              <a:rPr lang="en-US" sz="2400" dirty="0" err="1">
                <a:solidFill>
                  <a:srgbClr val="00B0F0"/>
                </a:solidFill>
              </a:rPr>
              <a:t>is_double</a:t>
            </a:r>
            <a:r>
              <a:rPr lang="en-US" sz="2400" dirty="0"/>
              <a:t>, </a:t>
            </a:r>
            <a:r>
              <a:rPr lang="en-US" sz="2400" dirty="0" err="1">
                <a:solidFill>
                  <a:srgbClr val="00B0F0"/>
                </a:solidFill>
              </a:rPr>
              <a:t>is_float</a:t>
            </a:r>
            <a:r>
              <a:rPr lang="en-US" sz="2400" dirty="0"/>
              <a:t>, and </a:t>
            </a:r>
            <a:r>
              <a:rPr lang="en-US" sz="2400" dirty="0" err="1">
                <a:solidFill>
                  <a:srgbClr val="00B0F0"/>
                </a:solidFill>
              </a:rPr>
              <a:t>is_real</a:t>
            </a:r>
            <a:r>
              <a:rPr lang="en-US" sz="2400" dirty="0"/>
              <a:t>, which test for double type; </a:t>
            </a:r>
            <a:r>
              <a:rPr lang="en-US" sz="2400" dirty="0" err="1">
                <a:solidFill>
                  <a:srgbClr val="00B0F0"/>
                </a:solidFill>
              </a:rPr>
              <a:t>is_bool</a:t>
            </a:r>
            <a:r>
              <a:rPr lang="en-US" sz="2400" dirty="0"/>
              <a:t>, which tests for Boolean type; and </a:t>
            </a:r>
            <a:r>
              <a:rPr lang="en-US" sz="2400" dirty="0" err="1">
                <a:solidFill>
                  <a:srgbClr val="00B0F0"/>
                </a:solidFill>
              </a:rPr>
              <a:t>is_string</a:t>
            </a:r>
            <a:r>
              <a:rPr lang="en-US" sz="2400" dirty="0"/>
              <a:t>, which tests for string type</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p:txBody>
      </p:sp>
    </p:spTree>
    <p:extLst>
      <p:ext uri="{BB962C8B-B14F-4D97-AF65-F5344CB8AC3E}">
        <p14:creationId xmlns:p14="http://schemas.microsoft.com/office/powerpoint/2010/main" val="30367978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03AB4-EBFA-E865-6608-C3B3985CB7B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48B362D-D346-3C14-65D0-9756EE165E1C}"/>
              </a:ext>
            </a:extLst>
          </p:cNvPr>
          <p:cNvSpPr>
            <a:spLocks noGrp="1"/>
          </p:cNvSpPr>
          <p:nvPr>
            <p:ph idx="1"/>
          </p:nvPr>
        </p:nvSpPr>
        <p:spPr>
          <a:xfrm>
            <a:off x="838200" y="301658"/>
            <a:ext cx="10515600" cy="6259398"/>
          </a:xfrm>
        </p:spPr>
        <p:txBody>
          <a:bodyPr/>
          <a:lstStyle/>
          <a:p>
            <a:pPr marL="0" indent="0">
              <a:buNone/>
            </a:pPr>
            <a:r>
              <a:rPr lang="en-IN" sz="2400" b="1" dirty="0"/>
              <a:t>4.9 Assignment Operators</a:t>
            </a:r>
            <a:endParaRPr lang="en-US" sz="2400" b="1" dirty="0"/>
          </a:p>
          <a:p>
            <a:pPr algn="just"/>
            <a:r>
              <a:rPr lang="en-US" sz="2400" dirty="0"/>
              <a:t>PHP has the same set of assignment operators as its predecessor language, C, including the compound assignment operators such as += and /=.</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p:txBody>
      </p:sp>
    </p:spTree>
    <p:extLst>
      <p:ext uri="{BB962C8B-B14F-4D97-AF65-F5344CB8AC3E}">
        <p14:creationId xmlns:p14="http://schemas.microsoft.com/office/powerpoint/2010/main" val="33108025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84BE9C-B7C1-0A9F-945C-8456E89A0C9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EF42158-58E9-0268-A3B6-B0B73A3BAEA8}"/>
              </a:ext>
            </a:extLst>
          </p:cNvPr>
          <p:cNvSpPr>
            <a:spLocks noGrp="1"/>
          </p:cNvSpPr>
          <p:nvPr>
            <p:ph idx="1"/>
          </p:nvPr>
        </p:nvSpPr>
        <p:spPr>
          <a:xfrm>
            <a:off x="838200" y="301658"/>
            <a:ext cx="10515600" cy="6259398"/>
          </a:xfrm>
        </p:spPr>
        <p:txBody>
          <a:bodyPr/>
          <a:lstStyle/>
          <a:p>
            <a:pPr marL="0" indent="0">
              <a:buNone/>
            </a:pPr>
            <a:r>
              <a:rPr lang="en-IN" b="1" dirty="0">
                <a:solidFill>
                  <a:srgbClr val="FF3399"/>
                </a:solidFill>
              </a:rPr>
              <a:t>5 Output</a:t>
            </a:r>
            <a:endParaRPr lang="en-US" b="1" dirty="0">
              <a:solidFill>
                <a:srgbClr val="FF3399"/>
              </a:solidFill>
            </a:endParaRPr>
          </a:p>
          <a:p>
            <a:pPr algn="just"/>
            <a:r>
              <a:rPr lang="en-US" sz="2400" dirty="0"/>
              <a:t>Any output from a PHP script becomes part of the document the PHP processor is building.</a:t>
            </a:r>
          </a:p>
          <a:p>
            <a:pPr algn="just"/>
            <a:r>
              <a:rPr lang="en-US" sz="2400" dirty="0"/>
              <a:t>Therefore, all output must be in the form of HTML or XHTML, which may include embedded client-side script.</a:t>
            </a:r>
          </a:p>
          <a:p>
            <a:pPr algn="just"/>
            <a:r>
              <a:rPr lang="en-US" sz="2400" dirty="0"/>
              <a:t>The </a:t>
            </a:r>
            <a:r>
              <a:rPr lang="en-US" sz="2400" dirty="0">
                <a:solidFill>
                  <a:srgbClr val="FF3399"/>
                </a:solidFill>
              </a:rPr>
              <a:t>print</a:t>
            </a:r>
            <a:r>
              <a:rPr lang="en-US" sz="2400" dirty="0"/>
              <a:t> function is used to create simple unformatted output</a:t>
            </a:r>
          </a:p>
          <a:p>
            <a:pPr algn="just"/>
            <a:r>
              <a:rPr lang="en-US" sz="2400" dirty="0"/>
              <a:t>It can be called with or without parentheses around its parameter.</a:t>
            </a:r>
          </a:p>
          <a:p>
            <a:pPr lvl="1" algn="just"/>
            <a:endParaRPr lang="en-US" sz="2000" dirty="0"/>
          </a:p>
          <a:p>
            <a:pPr lvl="1" algn="just"/>
            <a:r>
              <a:rPr lang="en-US" sz="2000" dirty="0"/>
              <a:t>Print "Apples are red Kumquats aren't ";</a:t>
            </a:r>
          </a:p>
          <a:p>
            <a:pPr algn="just"/>
            <a:endParaRPr lang="en-US" sz="2400" dirty="0"/>
          </a:p>
          <a:p>
            <a:pPr algn="just"/>
            <a:r>
              <a:rPr lang="en-US" sz="2400" dirty="0"/>
              <a:t>Although print expects a string parameter, if some other type value is given, the PHP interpreter will coerce it to a string without complaint.</a:t>
            </a:r>
          </a:p>
          <a:p>
            <a:pPr algn="just"/>
            <a:r>
              <a:rPr lang="en-US" sz="2400" dirty="0"/>
              <a:t>Because variables that appear in double-quoted strings are interpolated, it is easy to label output.</a:t>
            </a:r>
          </a:p>
          <a:p>
            <a:pPr lvl="1" algn="just"/>
            <a:r>
              <a:rPr lang="en-US" sz="2000" dirty="0"/>
              <a:t>print "The result is: $result ";</a:t>
            </a:r>
          </a:p>
          <a:p>
            <a:pPr algn="just"/>
            <a:endParaRPr lang="en-US" sz="2400" dirty="0"/>
          </a:p>
          <a:p>
            <a:pPr algn="just"/>
            <a:endParaRPr lang="en-US" sz="2400" dirty="0"/>
          </a:p>
          <a:p>
            <a:pPr algn="just"/>
            <a:endParaRPr lang="en-US" sz="2400" dirty="0"/>
          </a:p>
          <a:p>
            <a:pPr algn="just"/>
            <a:endParaRPr lang="en-US" sz="2400" dirty="0"/>
          </a:p>
        </p:txBody>
      </p:sp>
    </p:spTree>
    <p:extLst>
      <p:ext uri="{BB962C8B-B14F-4D97-AF65-F5344CB8AC3E}">
        <p14:creationId xmlns:p14="http://schemas.microsoft.com/office/powerpoint/2010/main" val="36776717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B4217-7A45-3B05-FFE1-E33590A36C8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9C80F4-EC0E-2B14-AAB9-7F0729E977D3}"/>
              </a:ext>
            </a:extLst>
          </p:cNvPr>
          <p:cNvSpPr>
            <a:spLocks noGrp="1"/>
          </p:cNvSpPr>
          <p:nvPr>
            <p:ph idx="1"/>
          </p:nvPr>
        </p:nvSpPr>
        <p:spPr>
          <a:xfrm>
            <a:off x="838200" y="301658"/>
            <a:ext cx="10515600" cy="6259398"/>
          </a:xfrm>
        </p:spPr>
        <p:txBody>
          <a:bodyPr>
            <a:normAutofit lnSpcReduction="10000"/>
          </a:bodyPr>
          <a:lstStyle/>
          <a:p>
            <a:r>
              <a:rPr lang="en-US" dirty="0"/>
              <a:t>Continued…</a:t>
            </a:r>
          </a:p>
          <a:p>
            <a:pPr algn="just"/>
            <a:r>
              <a:rPr lang="en-US" sz="2400" dirty="0"/>
              <a:t>PHP borrows the </a:t>
            </a:r>
            <a:r>
              <a:rPr lang="en-US" sz="2400" dirty="0" err="1">
                <a:solidFill>
                  <a:srgbClr val="FF3399"/>
                </a:solidFill>
              </a:rPr>
              <a:t>printf</a:t>
            </a:r>
            <a:r>
              <a:rPr lang="en-US" sz="2400" dirty="0"/>
              <a:t> function from C. It is used when control over the format of displayed data is required. </a:t>
            </a:r>
          </a:p>
          <a:p>
            <a:pPr lvl="1" algn="just"/>
            <a:r>
              <a:rPr lang="en-IN" sz="2000" dirty="0" err="1"/>
              <a:t>printf</a:t>
            </a:r>
            <a:r>
              <a:rPr lang="en-IN" sz="2000" dirty="0"/>
              <a:t>(</a:t>
            </a:r>
            <a:r>
              <a:rPr lang="en-IN" sz="2000" dirty="0" err="1"/>
              <a:t>literal_string</a:t>
            </a:r>
            <a:r>
              <a:rPr lang="en-IN" sz="2000" dirty="0"/>
              <a:t>, param1, param2, ...)</a:t>
            </a:r>
            <a:endParaRPr lang="en-US" sz="2000" dirty="0"/>
          </a:p>
          <a:p>
            <a:pPr algn="just"/>
            <a:r>
              <a:rPr lang="en-US" sz="2400" dirty="0"/>
              <a:t>The </a:t>
            </a:r>
            <a:r>
              <a:rPr lang="en-US" sz="2400" dirty="0">
                <a:solidFill>
                  <a:srgbClr val="FF3399"/>
                </a:solidFill>
              </a:rPr>
              <a:t>literal string </a:t>
            </a:r>
            <a:r>
              <a:rPr lang="en-US" sz="2400" dirty="0"/>
              <a:t>can include labeling information about the parameters whose values are to be displayed. </a:t>
            </a:r>
          </a:p>
          <a:p>
            <a:pPr algn="just"/>
            <a:r>
              <a:rPr lang="en-US" sz="2400" dirty="0"/>
              <a:t>It also contains format codes for those values. </a:t>
            </a:r>
          </a:p>
          <a:p>
            <a:pPr algn="just"/>
            <a:r>
              <a:rPr lang="en-US" sz="2400" dirty="0"/>
              <a:t>The form of the format codes is a percent sign (%) followed by a field width and a type specifier. </a:t>
            </a:r>
          </a:p>
          <a:p>
            <a:pPr algn="just"/>
            <a:r>
              <a:rPr lang="en-US" sz="2400" dirty="0"/>
              <a:t>The most common type specifiers are </a:t>
            </a:r>
            <a:r>
              <a:rPr lang="en-US" sz="2400" dirty="0">
                <a:solidFill>
                  <a:srgbClr val="FF3399"/>
                </a:solidFill>
              </a:rPr>
              <a:t>s</a:t>
            </a:r>
            <a:r>
              <a:rPr lang="en-US" sz="2400" dirty="0"/>
              <a:t> for strings, </a:t>
            </a:r>
            <a:r>
              <a:rPr lang="en-US" sz="2400" dirty="0">
                <a:solidFill>
                  <a:srgbClr val="FF3399"/>
                </a:solidFill>
              </a:rPr>
              <a:t>d</a:t>
            </a:r>
            <a:r>
              <a:rPr lang="en-US" sz="2400" dirty="0"/>
              <a:t> for integers, and </a:t>
            </a:r>
            <a:r>
              <a:rPr lang="en-US" sz="2400" dirty="0">
                <a:solidFill>
                  <a:srgbClr val="FF3399"/>
                </a:solidFill>
              </a:rPr>
              <a:t>f</a:t>
            </a:r>
            <a:r>
              <a:rPr lang="en-US" sz="2400" dirty="0"/>
              <a:t> for floats and doubles.</a:t>
            </a:r>
          </a:p>
          <a:p>
            <a:pPr lvl="1" algn="just"/>
            <a:r>
              <a:rPr lang="en-US" sz="2000" dirty="0"/>
              <a:t>%10s—a character string field of 10 characters </a:t>
            </a:r>
          </a:p>
          <a:p>
            <a:pPr lvl="1" algn="just"/>
            <a:r>
              <a:rPr lang="en-US" sz="2000" dirty="0"/>
              <a:t>%6d—an integer field of six digits </a:t>
            </a:r>
          </a:p>
          <a:p>
            <a:pPr lvl="1" algn="just"/>
            <a:r>
              <a:rPr lang="en-US" sz="2000" dirty="0"/>
              <a:t>%5.2f—a float or double field of eight spaces</a:t>
            </a:r>
          </a:p>
          <a:p>
            <a:pPr algn="just"/>
            <a:r>
              <a:rPr lang="en-US" sz="2400" dirty="0">
                <a:solidFill>
                  <a:srgbClr val="FF3399"/>
                </a:solidFill>
              </a:rPr>
              <a:t>$day = "Tuesday"; </a:t>
            </a:r>
          </a:p>
          <a:p>
            <a:pPr algn="just"/>
            <a:r>
              <a:rPr lang="en-US" sz="2400" dirty="0">
                <a:solidFill>
                  <a:srgbClr val="FF3399"/>
                </a:solidFill>
              </a:rPr>
              <a:t>$high = 79; </a:t>
            </a:r>
          </a:p>
          <a:p>
            <a:pPr algn="just"/>
            <a:r>
              <a:rPr lang="en-US" sz="2400" dirty="0" err="1">
                <a:solidFill>
                  <a:srgbClr val="FF3399"/>
                </a:solidFill>
              </a:rPr>
              <a:t>printf</a:t>
            </a:r>
            <a:r>
              <a:rPr lang="en-US" sz="2400" dirty="0">
                <a:solidFill>
                  <a:srgbClr val="FF3399"/>
                </a:solidFill>
              </a:rPr>
              <a:t>("The high on %7s was %3d", $day, $high);</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p:txBody>
      </p:sp>
    </p:spTree>
    <p:extLst>
      <p:ext uri="{BB962C8B-B14F-4D97-AF65-F5344CB8AC3E}">
        <p14:creationId xmlns:p14="http://schemas.microsoft.com/office/powerpoint/2010/main" val="11530627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5CC9A4-1551-A904-66FE-0CF3AF5B7EB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BDB7CC5-F213-E36F-CBC2-C1B5AF3E127B}"/>
              </a:ext>
            </a:extLst>
          </p:cNvPr>
          <p:cNvSpPr>
            <a:spLocks noGrp="1"/>
          </p:cNvSpPr>
          <p:nvPr>
            <p:ph idx="1"/>
          </p:nvPr>
        </p:nvSpPr>
        <p:spPr>
          <a:xfrm>
            <a:off x="838200" y="301658"/>
            <a:ext cx="10515600" cy="6259398"/>
          </a:xfrm>
        </p:spPr>
        <p:txBody>
          <a:bodyPr>
            <a:normAutofit lnSpcReduction="10000"/>
          </a:bodyPr>
          <a:lstStyle/>
          <a:p>
            <a:r>
              <a:rPr lang="en-US" dirty="0"/>
              <a:t>Example</a:t>
            </a:r>
          </a:p>
          <a:p>
            <a:pPr marL="457200" lvl="1" indent="0" algn="just">
              <a:buNone/>
            </a:pPr>
            <a:r>
              <a:rPr lang="en-US" sz="2000" dirty="0"/>
              <a:t> &lt;!DOCTYPE html&gt;</a:t>
            </a:r>
          </a:p>
          <a:p>
            <a:pPr marL="457200" lvl="1" indent="0" algn="just">
              <a:buNone/>
            </a:pPr>
            <a:r>
              <a:rPr lang="en-US" sz="2000" dirty="0"/>
              <a:t> &lt;!-- </a:t>
            </a:r>
            <a:r>
              <a:rPr lang="en-US" sz="2000" dirty="0" err="1"/>
              <a:t>today.php</a:t>
            </a:r>
            <a:r>
              <a:rPr lang="en-US" sz="2000" dirty="0"/>
              <a:t> - A trivial example to illustrate a </a:t>
            </a:r>
            <a:r>
              <a:rPr lang="en-US" sz="2000" dirty="0" err="1"/>
              <a:t>php</a:t>
            </a:r>
            <a:r>
              <a:rPr lang="en-US" sz="2000" dirty="0"/>
              <a:t> document --&gt;</a:t>
            </a:r>
          </a:p>
          <a:p>
            <a:pPr marL="457200" lvl="1" indent="0" algn="just">
              <a:buNone/>
            </a:pPr>
            <a:r>
              <a:rPr lang="en-US" sz="2000" dirty="0"/>
              <a:t> &lt;html lang = "</a:t>
            </a:r>
            <a:r>
              <a:rPr lang="en-US" sz="2000" dirty="0" err="1"/>
              <a:t>en</a:t>
            </a:r>
            <a:r>
              <a:rPr lang="en-US" sz="2000" dirty="0"/>
              <a:t>"&gt;</a:t>
            </a:r>
          </a:p>
          <a:p>
            <a:pPr marL="457200" lvl="1" indent="0" algn="just">
              <a:buNone/>
            </a:pPr>
            <a:r>
              <a:rPr lang="en-US" sz="2000" dirty="0"/>
              <a:t> &lt;head&gt; </a:t>
            </a:r>
          </a:p>
          <a:p>
            <a:pPr marL="457200" lvl="1" indent="0" algn="just">
              <a:buNone/>
            </a:pPr>
            <a:r>
              <a:rPr lang="en-US" sz="2000" dirty="0"/>
              <a:t> 	&lt;title&gt; </a:t>
            </a:r>
            <a:r>
              <a:rPr lang="en-US" sz="2000" dirty="0" err="1"/>
              <a:t>today.php</a:t>
            </a:r>
            <a:r>
              <a:rPr lang="en-US" sz="2000" dirty="0"/>
              <a:t> &lt;/title&gt;</a:t>
            </a:r>
          </a:p>
          <a:p>
            <a:pPr marL="457200" lvl="1" indent="0" algn="just">
              <a:buNone/>
            </a:pPr>
            <a:r>
              <a:rPr lang="en-US" sz="2000" dirty="0"/>
              <a:t> 	&lt;meta charset = "utf-8" /&gt;</a:t>
            </a:r>
          </a:p>
          <a:p>
            <a:pPr marL="457200" lvl="1" indent="0" algn="just">
              <a:buNone/>
            </a:pPr>
            <a:r>
              <a:rPr lang="en-US" sz="2000" dirty="0"/>
              <a:t> &lt;/head&gt;</a:t>
            </a:r>
          </a:p>
          <a:p>
            <a:pPr marL="457200" lvl="1" indent="0" algn="just">
              <a:buNone/>
            </a:pPr>
            <a:r>
              <a:rPr lang="en-US" sz="2000" dirty="0"/>
              <a:t> &lt;body&gt;</a:t>
            </a:r>
          </a:p>
          <a:p>
            <a:pPr marL="457200" lvl="1" indent="0" algn="just">
              <a:buNone/>
            </a:pPr>
            <a:r>
              <a:rPr lang="en-US" sz="2000" dirty="0"/>
              <a:t> &lt;p&gt;</a:t>
            </a:r>
          </a:p>
          <a:p>
            <a:pPr marL="457200" lvl="1" indent="0" algn="just">
              <a:buNone/>
            </a:pPr>
            <a:r>
              <a:rPr lang="en-US" sz="2000" dirty="0"/>
              <a:t> &lt;?</a:t>
            </a:r>
            <a:r>
              <a:rPr lang="en-US" sz="2000" dirty="0" err="1"/>
              <a:t>php</a:t>
            </a:r>
            <a:endParaRPr lang="en-US" sz="2000" dirty="0"/>
          </a:p>
          <a:p>
            <a:pPr marL="457200" lvl="1" indent="0" algn="just">
              <a:buNone/>
            </a:pPr>
            <a:r>
              <a:rPr lang="en-US" sz="2000" dirty="0"/>
              <a:t> 	print "&lt;b&gt;Welcome to my home page &lt;</a:t>
            </a:r>
            <a:r>
              <a:rPr lang="en-US" sz="2000" dirty="0" err="1"/>
              <a:t>br</a:t>
            </a:r>
            <a:r>
              <a:rPr lang="en-US" sz="2000" dirty="0"/>
              <a:t> /&gt; &lt;</a:t>
            </a:r>
            <a:r>
              <a:rPr lang="en-US" sz="2000" dirty="0" err="1"/>
              <a:t>br</a:t>
            </a:r>
            <a:r>
              <a:rPr lang="en-US" sz="2000" dirty="0"/>
              <a:t> /&gt;";</a:t>
            </a:r>
          </a:p>
          <a:p>
            <a:pPr marL="457200" lvl="1" indent="0" algn="just">
              <a:buNone/>
            </a:pPr>
            <a:r>
              <a:rPr lang="en-US" sz="2000" dirty="0"/>
              <a:t> 	print "Today is:&lt;/b&gt; ";</a:t>
            </a:r>
          </a:p>
          <a:p>
            <a:pPr marL="457200" lvl="1" indent="0" algn="just">
              <a:buNone/>
            </a:pPr>
            <a:r>
              <a:rPr lang="en-US" sz="2000" dirty="0"/>
              <a:t> 	print date("l, F </a:t>
            </a:r>
            <a:r>
              <a:rPr lang="en-US" sz="2000" dirty="0" err="1"/>
              <a:t>jS</a:t>
            </a:r>
            <a:r>
              <a:rPr lang="en-US" sz="2000" dirty="0"/>
              <a:t>");</a:t>
            </a:r>
          </a:p>
          <a:p>
            <a:pPr marL="457200" lvl="1" indent="0" algn="just">
              <a:buNone/>
            </a:pPr>
            <a:r>
              <a:rPr lang="en-US" sz="2000" dirty="0"/>
              <a:t> 	print "&lt;</a:t>
            </a:r>
            <a:r>
              <a:rPr lang="en-US" sz="2000" dirty="0" err="1"/>
              <a:t>br</a:t>
            </a:r>
            <a:r>
              <a:rPr lang="en-US" sz="2000" dirty="0"/>
              <a:t> /&gt;";</a:t>
            </a:r>
          </a:p>
          <a:p>
            <a:pPr marL="457200" lvl="1" indent="0" algn="just">
              <a:buNone/>
            </a:pPr>
            <a:r>
              <a:rPr lang="en-US" sz="2000" dirty="0"/>
              <a:t> ?&gt;</a:t>
            </a:r>
          </a:p>
          <a:p>
            <a:pPr marL="457200" lvl="1" indent="0" algn="just">
              <a:buNone/>
            </a:pPr>
            <a:r>
              <a:rPr lang="en-US" sz="2000" dirty="0"/>
              <a:t> &lt;/p&gt;</a:t>
            </a:r>
          </a:p>
          <a:p>
            <a:pPr marL="457200" lvl="1" indent="0" algn="just">
              <a:buNone/>
            </a:pPr>
            <a:r>
              <a:rPr lang="en-US" sz="2000" dirty="0"/>
              <a:t> &lt;/body&gt;</a:t>
            </a:r>
          </a:p>
          <a:p>
            <a:pPr marL="457200" lvl="1" indent="0" algn="just">
              <a:buNone/>
            </a:pPr>
            <a:r>
              <a:rPr lang="en-US" sz="2000" dirty="0"/>
              <a:t> &lt;/html&gt;</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p:txBody>
      </p:sp>
      <p:pic>
        <p:nvPicPr>
          <p:cNvPr id="4" name="Picture 3">
            <a:extLst>
              <a:ext uri="{FF2B5EF4-FFF2-40B4-BE49-F238E27FC236}">
                <a16:creationId xmlns:a16="http://schemas.microsoft.com/office/drawing/2014/main" id="{CAC2456C-1F87-921D-A49F-AB96633A65D2}"/>
              </a:ext>
            </a:extLst>
          </p:cNvPr>
          <p:cNvPicPr>
            <a:picLocks noChangeAspect="1"/>
          </p:cNvPicPr>
          <p:nvPr/>
        </p:nvPicPr>
        <p:blipFill>
          <a:blip r:embed="rId2"/>
          <a:stretch>
            <a:fillRect/>
          </a:stretch>
        </p:blipFill>
        <p:spPr>
          <a:xfrm>
            <a:off x="4185815" y="4794379"/>
            <a:ext cx="7459116" cy="1190791"/>
          </a:xfrm>
          <a:prstGeom prst="rect">
            <a:avLst/>
          </a:prstGeom>
        </p:spPr>
      </p:pic>
    </p:spTree>
    <p:extLst>
      <p:ext uri="{BB962C8B-B14F-4D97-AF65-F5344CB8AC3E}">
        <p14:creationId xmlns:p14="http://schemas.microsoft.com/office/powerpoint/2010/main" val="23584800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08D0C4-AA21-C437-A387-399FA2FFF05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BFC58A-2D25-39C8-996C-6876B72F74AA}"/>
              </a:ext>
            </a:extLst>
          </p:cNvPr>
          <p:cNvSpPr>
            <a:spLocks noGrp="1"/>
          </p:cNvSpPr>
          <p:nvPr>
            <p:ph idx="1"/>
          </p:nvPr>
        </p:nvSpPr>
        <p:spPr>
          <a:xfrm>
            <a:off x="838200" y="301658"/>
            <a:ext cx="10515600" cy="6259398"/>
          </a:xfrm>
        </p:spPr>
        <p:txBody>
          <a:bodyPr/>
          <a:lstStyle/>
          <a:p>
            <a:pPr marL="0" indent="0">
              <a:buNone/>
            </a:pPr>
            <a:r>
              <a:rPr lang="en-IN" b="1" dirty="0">
                <a:solidFill>
                  <a:srgbClr val="FF3399"/>
                </a:solidFill>
              </a:rPr>
              <a:t>6 Control Statements</a:t>
            </a:r>
            <a:endParaRPr lang="en-US" b="1" dirty="0">
              <a:solidFill>
                <a:srgbClr val="FF3399"/>
              </a:solidFill>
            </a:endParaRPr>
          </a:p>
          <a:p>
            <a:pPr algn="just"/>
            <a:r>
              <a:rPr lang="en-US" sz="2400" dirty="0"/>
              <a:t>The control expression used in PHP’s control statements can be of any type. </a:t>
            </a:r>
          </a:p>
          <a:p>
            <a:pPr algn="just"/>
            <a:r>
              <a:rPr lang="en-US" sz="2400" dirty="0"/>
              <a:t>The interpreter evaluates the control expression and, in the cases of if and loop statements, coerces the resulting value, if necessary, to Boolean.</a:t>
            </a:r>
          </a:p>
          <a:p>
            <a:pPr marL="0" indent="0" algn="just">
              <a:buNone/>
            </a:pPr>
            <a:r>
              <a:rPr lang="en-IN" sz="2400" b="1" dirty="0"/>
              <a:t>6.1 Relational Operators</a:t>
            </a:r>
            <a:endParaRPr lang="en-US" sz="2400" b="1" dirty="0"/>
          </a:p>
          <a:p>
            <a:pPr algn="just"/>
            <a:r>
              <a:rPr lang="en-US" sz="2400" dirty="0"/>
              <a:t>PHP uses the eight relational operators of JavaScript. </a:t>
            </a:r>
          </a:p>
          <a:p>
            <a:pPr algn="just"/>
            <a:r>
              <a:rPr lang="en-US" sz="2400" dirty="0"/>
              <a:t>The usual six (&gt;, =, &lt;=, !=, and ==) have the usual meanings. </a:t>
            </a:r>
          </a:p>
          <a:p>
            <a:pPr algn="just"/>
            <a:r>
              <a:rPr lang="en-US" sz="2400" dirty="0"/>
              <a:t>PHP also has ===, which produces TRUE only if both operands are the same type and have the same value, and !==, the opposite of ===. </a:t>
            </a:r>
          </a:p>
          <a:p>
            <a:pPr algn="just"/>
            <a:r>
              <a:rPr lang="en-US" sz="2400" dirty="0"/>
              <a:t>If the types of the operands of the other six relational operators are not the same, one is coerced to the type of the other. </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p:txBody>
      </p:sp>
    </p:spTree>
    <p:extLst>
      <p:ext uri="{BB962C8B-B14F-4D97-AF65-F5344CB8AC3E}">
        <p14:creationId xmlns:p14="http://schemas.microsoft.com/office/powerpoint/2010/main" val="24507904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17DABE-EB5F-C375-C120-C6B57719C16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F343B7-20BE-8DB8-558E-8D536606B976}"/>
              </a:ext>
            </a:extLst>
          </p:cNvPr>
          <p:cNvSpPr>
            <a:spLocks noGrp="1"/>
          </p:cNvSpPr>
          <p:nvPr>
            <p:ph idx="1"/>
          </p:nvPr>
        </p:nvSpPr>
        <p:spPr>
          <a:xfrm>
            <a:off x="838200" y="301658"/>
            <a:ext cx="10515600" cy="6259398"/>
          </a:xfrm>
        </p:spPr>
        <p:txBody>
          <a:bodyPr>
            <a:normAutofit/>
          </a:bodyPr>
          <a:lstStyle/>
          <a:p>
            <a:r>
              <a:rPr lang="en-IN" dirty="0"/>
              <a:t>6.2 Boolean Operators</a:t>
            </a:r>
            <a:endParaRPr lang="en-US" dirty="0"/>
          </a:p>
          <a:p>
            <a:pPr lvl="1" algn="just"/>
            <a:r>
              <a:rPr lang="en-US" sz="2000" dirty="0"/>
              <a:t>There are six Boolean operators: and, or, </a:t>
            </a:r>
            <a:r>
              <a:rPr lang="en-US" sz="2000" dirty="0" err="1"/>
              <a:t>xor</a:t>
            </a:r>
            <a:r>
              <a:rPr lang="en-US" sz="2000" dirty="0"/>
              <a:t>, !, &amp;&amp;, and ||. </a:t>
            </a:r>
          </a:p>
          <a:p>
            <a:pPr lvl="1" algn="just"/>
            <a:r>
              <a:rPr lang="en-US" sz="2000" dirty="0"/>
              <a:t>The and </a:t>
            </a:r>
            <a:r>
              <a:rPr lang="en-US" sz="2000" dirty="0" err="1"/>
              <a:t>and</a:t>
            </a:r>
            <a:r>
              <a:rPr lang="en-US" sz="2000" dirty="0"/>
              <a:t> &amp;&amp; operators perform the same operation, as do or and ||. </a:t>
            </a:r>
          </a:p>
          <a:p>
            <a:pPr lvl="1" algn="just"/>
            <a:r>
              <a:rPr lang="en-US" sz="2000" dirty="0"/>
              <a:t>The difference between them is that the precedence of and </a:t>
            </a:r>
            <a:r>
              <a:rPr lang="en-US" sz="2000" dirty="0" err="1"/>
              <a:t>and</a:t>
            </a:r>
            <a:r>
              <a:rPr lang="en-US" sz="2000" dirty="0"/>
              <a:t> or is lower than that of &amp;&amp; and ||.</a:t>
            </a:r>
          </a:p>
          <a:p>
            <a:pPr algn="just"/>
            <a:r>
              <a:rPr lang="en-IN" sz="2400" dirty="0"/>
              <a:t>6.3 Selection Statements</a:t>
            </a:r>
            <a:endParaRPr lang="en-US" sz="2400" dirty="0"/>
          </a:p>
          <a:p>
            <a:pPr lvl="1" algn="just"/>
            <a:r>
              <a:rPr lang="en-US" sz="2000" dirty="0"/>
              <a:t>PHP’s if statement is like that of C. </a:t>
            </a:r>
          </a:p>
          <a:p>
            <a:pPr lvl="1" algn="just"/>
            <a:r>
              <a:rPr lang="en-US" sz="2000" dirty="0"/>
              <a:t>The control expression can be an expression of any type, but its value is coerced to Boolean. </a:t>
            </a:r>
          </a:p>
          <a:p>
            <a:pPr lvl="1" algn="just"/>
            <a:r>
              <a:rPr lang="en-US" sz="2000" dirty="0"/>
              <a:t>The controlled statement segment can be either a single statement or a compound statement.</a:t>
            </a:r>
          </a:p>
          <a:p>
            <a:pPr marL="914400" lvl="2" indent="0" algn="just">
              <a:buNone/>
            </a:pPr>
            <a:r>
              <a:rPr lang="en-US" sz="1600" dirty="0"/>
              <a:t> if ($num &gt; 0)</a:t>
            </a:r>
          </a:p>
          <a:p>
            <a:pPr marL="914400" lvl="2" indent="0" algn="just">
              <a:buNone/>
            </a:pPr>
            <a:r>
              <a:rPr lang="en-US" sz="1600" dirty="0"/>
              <a:t>  	$</a:t>
            </a:r>
            <a:r>
              <a:rPr lang="en-US" sz="1600" dirty="0" err="1"/>
              <a:t>pos_count</a:t>
            </a:r>
            <a:r>
              <a:rPr lang="en-US" sz="1600" dirty="0"/>
              <a:t>++;</a:t>
            </a:r>
          </a:p>
          <a:p>
            <a:pPr marL="914400" lvl="2" indent="0" algn="just">
              <a:buNone/>
            </a:pPr>
            <a:r>
              <a:rPr lang="en-US" sz="1600" dirty="0"/>
              <a:t> elseif ($num &lt; 0)</a:t>
            </a:r>
          </a:p>
          <a:p>
            <a:pPr marL="914400" lvl="2" indent="0" algn="just">
              <a:buNone/>
            </a:pPr>
            <a:r>
              <a:rPr lang="en-US" sz="1600" dirty="0"/>
              <a:t>  	$</a:t>
            </a:r>
            <a:r>
              <a:rPr lang="en-US" sz="1600" dirty="0" err="1"/>
              <a:t>neg_count</a:t>
            </a:r>
            <a:r>
              <a:rPr lang="en-US" sz="1600" dirty="0"/>
              <a:t>++;</a:t>
            </a:r>
          </a:p>
          <a:p>
            <a:pPr marL="914400" lvl="2" indent="0" algn="just">
              <a:buNone/>
            </a:pPr>
            <a:r>
              <a:rPr lang="en-US" sz="1600" dirty="0"/>
              <a:t> else {</a:t>
            </a:r>
          </a:p>
          <a:p>
            <a:pPr marL="914400" lvl="2" indent="0" algn="just">
              <a:buNone/>
            </a:pPr>
            <a:r>
              <a:rPr lang="en-US" sz="1600" dirty="0"/>
              <a:t>  	$</a:t>
            </a:r>
            <a:r>
              <a:rPr lang="en-US" sz="1600" dirty="0" err="1"/>
              <a:t>zero_count</a:t>
            </a:r>
            <a:r>
              <a:rPr lang="en-US" sz="1600" dirty="0"/>
              <a:t>++;</a:t>
            </a:r>
          </a:p>
          <a:p>
            <a:pPr marL="914400" lvl="2" indent="0" algn="just">
              <a:buNone/>
            </a:pPr>
            <a:r>
              <a:rPr lang="en-US" sz="1600" dirty="0"/>
              <a:t>  	Print "Another zero! &lt;b /&gt;";</a:t>
            </a:r>
          </a:p>
          <a:p>
            <a:pPr marL="914400" lvl="2" indent="0" algn="just">
              <a:buNone/>
            </a:pPr>
            <a:r>
              <a:rPr lang="en-US" sz="1600" dirty="0"/>
              <a:t> }</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p:txBody>
      </p:sp>
    </p:spTree>
    <p:extLst>
      <p:ext uri="{BB962C8B-B14F-4D97-AF65-F5344CB8AC3E}">
        <p14:creationId xmlns:p14="http://schemas.microsoft.com/office/powerpoint/2010/main" val="40006857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AD879-19BD-647F-5628-3A1CE7C9D2C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3E5994-9D1E-2DD0-D560-C35B62E1475A}"/>
              </a:ext>
            </a:extLst>
          </p:cNvPr>
          <p:cNvSpPr>
            <a:spLocks noGrp="1"/>
          </p:cNvSpPr>
          <p:nvPr>
            <p:ph idx="1"/>
          </p:nvPr>
        </p:nvSpPr>
        <p:spPr>
          <a:xfrm>
            <a:off x="838200" y="301658"/>
            <a:ext cx="10515600" cy="6259398"/>
          </a:xfrm>
        </p:spPr>
        <p:txBody>
          <a:bodyPr>
            <a:normAutofit fontScale="92500" lnSpcReduction="10000"/>
          </a:bodyPr>
          <a:lstStyle/>
          <a:p>
            <a:r>
              <a:rPr lang="en-US" dirty="0"/>
              <a:t>Continued…</a:t>
            </a:r>
          </a:p>
          <a:p>
            <a:pPr algn="just"/>
            <a:r>
              <a:rPr lang="en-US" sz="2400" dirty="0"/>
              <a:t>The switch statement has the form and semantics of that of JavaScript. </a:t>
            </a:r>
          </a:p>
          <a:p>
            <a:pPr algn="just"/>
            <a:r>
              <a:rPr lang="en-US" sz="2400" dirty="0"/>
              <a:t>The type of the control expression and of the case expressions is either integer, double, or string. </a:t>
            </a:r>
          </a:p>
          <a:p>
            <a:pPr algn="just"/>
            <a:r>
              <a:rPr lang="en-US" sz="2400" dirty="0"/>
              <a:t>If necessary, the values of the case expressions are coerced to the type of the control expression for the comparisons. </a:t>
            </a:r>
          </a:p>
          <a:p>
            <a:pPr algn="just"/>
            <a:r>
              <a:rPr lang="en-US" sz="2400" dirty="0"/>
              <a:t>A default case can be included.</a:t>
            </a:r>
          </a:p>
          <a:p>
            <a:pPr marL="457200" lvl="1" indent="0" algn="just">
              <a:buNone/>
            </a:pPr>
            <a:r>
              <a:rPr lang="en-US" sz="2000" dirty="0"/>
              <a:t>switch ($</a:t>
            </a:r>
            <a:r>
              <a:rPr lang="en-US" sz="2000" dirty="0" err="1"/>
              <a:t>bordersize</a:t>
            </a:r>
            <a:r>
              <a:rPr lang="en-US" sz="2000" dirty="0"/>
              <a:t>) {</a:t>
            </a:r>
          </a:p>
          <a:p>
            <a:pPr marL="457200" lvl="1" indent="0" algn="just">
              <a:buNone/>
            </a:pPr>
            <a:r>
              <a:rPr lang="en-US" sz="2000" dirty="0"/>
              <a:t>  case "0": print "&lt;table&gt;";</a:t>
            </a:r>
          </a:p>
          <a:p>
            <a:pPr marL="457200" lvl="1" indent="0" algn="just">
              <a:buNone/>
            </a:pPr>
            <a:r>
              <a:rPr lang="en-US" sz="2000" dirty="0"/>
              <a:t>            break;</a:t>
            </a:r>
          </a:p>
          <a:p>
            <a:pPr marL="457200" lvl="1" indent="0" algn="just">
              <a:buNone/>
            </a:pPr>
            <a:r>
              <a:rPr lang="en-US" sz="2000" dirty="0"/>
              <a:t>  case "1": print "&lt;table border = '1'&gt;";</a:t>
            </a:r>
          </a:p>
          <a:p>
            <a:pPr marL="457200" lvl="1" indent="0" algn="just">
              <a:buNone/>
            </a:pPr>
            <a:r>
              <a:rPr lang="en-US" sz="2000" dirty="0"/>
              <a:t>            break;</a:t>
            </a:r>
          </a:p>
          <a:p>
            <a:pPr marL="457200" lvl="1" indent="0" algn="just">
              <a:buNone/>
            </a:pPr>
            <a:r>
              <a:rPr lang="en-US" sz="2000" dirty="0"/>
              <a:t>  case "4": print "&lt;table border = '4'&gt;";</a:t>
            </a:r>
          </a:p>
          <a:p>
            <a:pPr marL="457200" lvl="1" indent="0" algn="just">
              <a:buNone/>
            </a:pPr>
            <a:r>
              <a:rPr lang="en-US" sz="2000" dirty="0"/>
              <a:t>            break;</a:t>
            </a:r>
          </a:p>
          <a:p>
            <a:pPr marL="457200" lvl="1" indent="0" algn="just">
              <a:buNone/>
            </a:pPr>
            <a:r>
              <a:rPr lang="en-US" sz="2000" dirty="0"/>
              <a:t>  case "8": print "&lt;table border = '8'&gt;";</a:t>
            </a:r>
          </a:p>
          <a:p>
            <a:pPr marL="457200" lvl="1" indent="0" algn="just">
              <a:buNone/>
            </a:pPr>
            <a:r>
              <a:rPr lang="en-US" sz="2000" dirty="0"/>
              <a:t>            break;</a:t>
            </a:r>
          </a:p>
          <a:p>
            <a:pPr marL="457200" lvl="1" indent="0" algn="just">
              <a:buNone/>
            </a:pPr>
            <a:r>
              <a:rPr lang="en-US" sz="2000" dirty="0"/>
              <a:t>  default: print "Error-invalid value: $</a:t>
            </a:r>
            <a:r>
              <a:rPr lang="en-US" sz="2000" dirty="0" err="1"/>
              <a:t>bordersize</a:t>
            </a:r>
            <a:r>
              <a:rPr lang="en-US" sz="2000" dirty="0"/>
              <a:t> &lt;</a:t>
            </a:r>
            <a:r>
              <a:rPr lang="en-US" sz="2000" dirty="0" err="1"/>
              <a:t>br</a:t>
            </a:r>
            <a:r>
              <a:rPr lang="en-US" sz="2000" dirty="0"/>
              <a:t> /&gt;";</a:t>
            </a:r>
          </a:p>
          <a:p>
            <a:pPr marL="457200" lvl="1" indent="0" algn="just">
              <a:buNone/>
            </a:pPr>
            <a:r>
              <a:rPr lang="en-US" sz="2000" dirty="0"/>
              <a:t> }</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p:txBody>
      </p:sp>
    </p:spTree>
    <p:extLst>
      <p:ext uri="{BB962C8B-B14F-4D97-AF65-F5344CB8AC3E}">
        <p14:creationId xmlns:p14="http://schemas.microsoft.com/office/powerpoint/2010/main" val="39039749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788D16-A673-73C0-9370-67064B8D70F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946C05A-0A1B-5033-3696-9EEF6BC6E1FD}"/>
              </a:ext>
            </a:extLst>
          </p:cNvPr>
          <p:cNvSpPr>
            <a:spLocks noGrp="1"/>
          </p:cNvSpPr>
          <p:nvPr>
            <p:ph idx="1"/>
          </p:nvPr>
        </p:nvSpPr>
        <p:spPr>
          <a:xfrm>
            <a:off x="838200" y="301658"/>
            <a:ext cx="10515600" cy="6259398"/>
          </a:xfrm>
        </p:spPr>
        <p:txBody>
          <a:bodyPr>
            <a:normAutofit lnSpcReduction="10000"/>
          </a:bodyPr>
          <a:lstStyle/>
          <a:p>
            <a:pPr marL="0" indent="0">
              <a:buNone/>
            </a:pPr>
            <a:r>
              <a:rPr lang="en-IN" sz="2400" b="1" dirty="0"/>
              <a:t>6.4 Loop Statements</a:t>
            </a:r>
            <a:endParaRPr lang="en-US" sz="2400" b="1" dirty="0"/>
          </a:p>
          <a:p>
            <a:pPr algn="just"/>
            <a:r>
              <a:rPr lang="en-US" sz="2400" dirty="0"/>
              <a:t>The while, for, and do-while statements of PHP are exactly like those of JavaScript. </a:t>
            </a:r>
          </a:p>
          <a:p>
            <a:pPr algn="just"/>
            <a:r>
              <a:rPr lang="en-US" sz="2400" dirty="0"/>
              <a:t>PHP also has a foreach statement</a:t>
            </a:r>
          </a:p>
          <a:p>
            <a:pPr algn="just"/>
            <a:r>
              <a:rPr lang="en-US" sz="2400" dirty="0">
                <a:solidFill>
                  <a:srgbClr val="00B050"/>
                </a:solidFill>
              </a:rPr>
              <a:t>while loop</a:t>
            </a:r>
            <a:r>
              <a:rPr lang="en-US" sz="2400" dirty="0"/>
              <a:t>			</a:t>
            </a:r>
          </a:p>
          <a:p>
            <a:pPr marL="457200" lvl="1" indent="0" algn="just">
              <a:buNone/>
            </a:pPr>
            <a:r>
              <a:rPr lang="en-US" sz="2000" dirty="0"/>
              <a:t> $fact = 1;</a:t>
            </a:r>
          </a:p>
          <a:p>
            <a:pPr marL="457200" lvl="1" indent="0" algn="just">
              <a:buNone/>
            </a:pPr>
            <a:r>
              <a:rPr lang="en-US" sz="2000" dirty="0"/>
              <a:t> $count = 1;</a:t>
            </a:r>
          </a:p>
          <a:p>
            <a:pPr marL="457200" lvl="1" indent="0" algn="just">
              <a:buNone/>
            </a:pPr>
            <a:r>
              <a:rPr lang="en-US" sz="2000" dirty="0"/>
              <a:t> while ($count &lt; $n) {</a:t>
            </a:r>
          </a:p>
          <a:p>
            <a:pPr marL="457200" lvl="1" indent="0" algn="just">
              <a:buNone/>
            </a:pPr>
            <a:r>
              <a:rPr lang="en-US" sz="2000" dirty="0"/>
              <a:t>  	$count++;</a:t>
            </a:r>
          </a:p>
          <a:p>
            <a:pPr marL="457200" lvl="1" indent="0" algn="just">
              <a:buNone/>
            </a:pPr>
            <a:r>
              <a:rPr lang="en-US" sz="2000" dirty="0"/>
              <a:t>  	$fact *= $count;</a:t>
            </a:r>
          </a:p>
          <a:p>
            <a:pPr marL="457200" lvl="1" indent="0" algn="just">
              <a:buNone/>
            </a:pPr>
            <a:r>
              <a:rPr lang="en-US" sz="2000" dirty="0"/>
              <a:t> }</a:t>
            </a:r>
            <a:endParaRPr lang="en-US" sz="2400" dirty="0"/>
          </a:p>
          <a:p>
            <a:pPr algn="just"/>
            <a:r>
              <a:rPr lang="en-US" sz="2400" dirty="0">
                <a:solidFill>
                  <a:srgbClr val="00B050"/>
                </a:solidFill>
              </a:rPr>
              <a:t>do while loop</a:t>
            </a:r>
          </a:p>
          <a:p>
            <a:pPr marL="457200" lvl="1" indent="0" algn="just">
              <a:buNone/>
            </a:pPr>
            <a:r>
              <a:rPr lang="en-US" sz="2000" dirty="0"/>
              <a:t>$count = 1;</a:t>
            </a:r>
          </a:p>
          <a:p>
            <a:pPr marL="457200" lvl="1" indent="0" algn="just">
              <a:buNone/>
            </a:pPr>
            <a:r>
              <a:rPr lang="en-US" sz="2000" dirty="0"/>
              <a:t>$sum = 0;</a:t>
            </a:r>
          </a:p>
          <a:p>
            <a:pPr marL="457200" lvl="1" indent="0" algn="just">
              <a:buNone/>
            </a:pPr>
            <a:r>
              <a:rPr lang="en-US" sz="2000" dirty="0"/>
              <a:t>do {</a:t>
            </a:r>
          </a:p>
          <a:p>
            <a:pPr marL="457200" lvl="1" indent="0" algn="just">
              <a:buNone/>
            </a:pPr>
            <a:r>
              <a:rPr lang="en-US" sz="2000" dirty="0"/>
              <a:t>	$sum += $count;</a:t>
            </a:r>
          </a:p>
          <a:p>
            <a:pPr marL="457200" lvl="1" indent="0" algn="just">
              <a:buNone/>
            </a:pPr>
            <a:r>
              <a:rPr lang="en-US" sz="2000" dirty="0"/>
              <a:t>	$count++;</a:t>
            </a:r>
          </a:p>
          <a:p>
            <a:pPr marL="457200" lvl="1" indent="0" algn="just">
              <a:buNone/>
            </a:pPr>
            <a:r>
              <a:rPr lang="en-US" sz="2000" dirty="0"/>
              <a:t>} while ($count &lt;= 100);</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p:txBody>
      </p:sp>
    </p:spTree>
    <p:extLst>
      <p:ext uri="{BB962C8B-B14F-4D97-AF65-F5344CB8AC3E}">
        <p14:creationId xmlns:p14="http://schemas.microsoft.com/office/powerpoint/2010/main" val="34811493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66BF42-A84B-C883-5101-592D42252AB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E1E569F-3688-6721-98BB-C69BC485F6D6}"/>
              </a:ext>
            </a:extLst>
          </p:cNvPr>
          <p:cNvSpPr>
            <a:spLocks noGrp="1"/>
          </p:cNvSpPr>
          <p:nvPr>
            <p:ph idx="1"/>
          </p:nvPr>
        </p:nvSpPr>
        <p:spPr>
          <a:xfrm>
            <a:off x="838200" y="301658"/>
            <a:ext cx="10515600" cy="6259398"/>
          </a:xfrm>
        </p:spPr>
        <p:txBody>
          <a:bodyPr/>
          <a:lstStyle/>
          <a:p>
            <a:r>
              <a:rPr lang="en-US" dirty="0"/>
              <a:t>continued…</a:t>
            </a:r>
          </a:p>
          <a:p>
            <a:pPr algn="just"/>
            <a:r>
              <a:rPr lang="en-US" sz="2400" dirty="0">
                <a:solidFill>
                  <a:srgbClr val="00B050"/>
                </a:solidFill>
              </a:rPr>
              <a:t>for loop</a:t>
            </a:r>
          </a:p>
          <a:p>
            <a:pPr marL="457200" lvl="1" indent="0" algn="just">
              <a:buNone/>
            </a:pPr>
            <a:r>
              <a:rPr lang="en-US" sz="2000" dirty="0"/>
              <a:t>for ($count = 1, $fact = 1; $count &lt; $n;) {</a:t>
            </a:r>
          </a:p>
          <a:p>
            <a:pPr marL="457200" lvl="1" indent="0" algn="just">
              <a:buNone/>
            </a:pPr>
            <a:r>
              <a:rPr lang="en-US" sz="2000" dirty="0"/>
              <a:t>	$count++;</a:t>
            </a:r>
          </a:p>
          <a:p>
            <a:pPr marL="457200" lvl="1" indent="0" algn="just">
              <a:buNone/>
            </a:pPr>
            <a:r>
              <a:rPr lang="en-US" sz="2000" dirty="0"/>
              <a:t>	$fact *= $count;</a:t>
            </a:r>
          </a:p>
          <a:p>
            <a:pPr marL="457200" lvl="1" indent="0" algn="just">
              <a:buNone/>
            </a:pPr>
            <a:r>
              <a:rPr lang="en-US" sz="2000" dirty="0"/>
              <a:t>}</a:t>
            </a:r>
          </a:p>
          <a:p>
            <a:pPr algn="just"/>
            <a:endParaRPr lang="en-US" sz="2400" dirty="0"/>
          </a:p>
          <a:p>
            <a:pPr algn="just"/>
            <a:r>
              <a:rPr lang="en-US" sz="2400" dirty="0"/>
              <a:t>The break statement can be used to terminate the execution of a for, foreach, while, or do-while construct. </a:t>
            </a:r>
          </a:p>
          <a:p>
            <a:pPr algn="just"/>
            <a:r>
              <a:rPr lang="en-US" sz="2400" dirty="0"/>
              <a:t>The continue statement is used in loop constructs to skip the remainder of the current iteration but continue </a:t>
            </a:r>
            <a:r>
              <a:rPr lang="en-US" sz="2400" dirty="0" err="1"/>
              <a:t>execu</a:t>
            </a:r>
            <a:r>
              <a:rPr lang="en-US" sz="2400" dirty="0"/>
              <a:t> </a:t>
            </a:r>
            <a:r>
              <a:rPr lang="en-US" sz="2400" dirty="0" err="1"/>
              <a:t>tion</a:t>
            </a:r>
            <a:r>
              <a:rPr lang="en-US" sz="2400" dirty="0"/>
              <a:t> at the beginning of the next.</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p:txBody>
      </p:sp>
    </p:spTree>
    <p:extLst>
      <p:ext uri="{BB962C8B-B14F-4D97-AF65-F5344CB8AC3E}">
        <p14:creationId xmlns:p14="http://schemas.microsoft.com/office/powerpoint/2010/main" val="23312485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D22AB-ABC8-3695-3E0B-CD12F02C905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F418196-1337-41E9-8D41-C9C078E6629E}"/>
              </a:ext>
            </a:extLst>
          </p:cNvPr>
          <p:cNvSpPr>
            <a:spLocks noGrp="1"/>
          </p:cNvSpPr>
          <p:nvPr>
            <p:ph idx="1"/>
          </p:nvPr>
        </p:nvSpPr>
        <p:spPr>
          <a:xfrm>
            <a:off x="838200" y="301658"/>
            <a:ext cx="5250730" cy="6259398"/>
          </a:xfrm>
        </p:spPr>
        <p:txBody>
          <a:bodyPr>
            <a:normAutofit/>
          </a:bodyPr>
          <a:lstStyle/>
          <a:p>
            <a:pPr marL="0" indent="0" algn="just">
              <a:buNone/>
            </a:pPr>
            <a:r>
              <a:rPr lang="en-US" sz="1600" dirty="0"/>
              <a:t>&lt;!DOCTYPE html&gt;</a:t>
            </a:r>
          </a:p>
          <a:p>
            <a:pPr marL="0" indent="0" algn="just">
              <a:buNone/>
            </a:pPr>
            <a:r>
              <a:rPr lang="en-US" sz="1600" dirty="0"/>
              <a:t>&lt;!-- </a:t>
            </a:r>
            <a:r>
              <a:rPr lang="en-US" sz="1600" dirty="0" err="1"/>
              <a:t>powers.php</a:t>
            </a:r>
            <a:endParaRPr lang="en-US" sz="1600" dirty="0"/>
          </a:p>
          <a:p>
            <a:pPr marL="0" indent="0" algn="just">
              <a:buNone/>
            </a:pPr>
            <a:r>
              <a:rPr lang="en-US" sz="1600" dirty="0"/>
              <a:t>	An example to illustrate loops and arithmetic --&gt;</a:t>
            </a:r>
          </a:p>
          <a:p>
            <a:pPr marL="0" indent="0" algn="just">
              <a:buNone/>
            </a:pPr>
            <a:r>
              <a:rPr lang="en-US" sz="1600" dirty="0"/>
              <a:t> &lt;html lang = "</a:t>
            </a:r>
            <a:r>
              <a:rPr lang="en-US" sz="1600" dirty="0" err="1"/>
              <a:t>en</a:t>
            </a:r>
            <a:r>
              <a:rPr lang="en-US" sz="1600" dirty="0"/>
              <a:t>"&gt;</a:t>
            </a:r>
          </a:p>
          <a:p>
            <a:pPr marL="0" indent="0" algn="just">
              <a:buNone/>
            </a:pPr>
            <a:r>
              <a:rPr lang="en-US" sz="1600" dirty="0"/>
              <a:t>  &lt;head&gt; </a:t>
            </a:r>
          </a:p>
          <a:p>
            <a:pPr marL="0" indent="0" algn="just">
              <a:buNone/>
            </a:pPr>
            <a:r>
              <a:rPr lang="en-US" sz="1600" dirty="0"/>
              <a:t>    &lt;title&gt; </a:t>
            </a:r>
            <a:r>
              <a:rPr lang="en-US" sz="1600" dirty="0" err="1"/>
              <a:t>powers.php</a:t>
            </a:r>
            <a:r>
              <a:rPr lang="en-US" sz="1600" dirty="0"/>
              <a:t> &lt;/title&gt;</a:t>
            </a:r>
          </a:p>
          <a:p>
            <a:pPr marL="0" indent="0" algn="just">
              <a:buNone/>
            </a:pPr>
            <a:r>
              <a:rPr lang="en-US" sz="1600" dirty="0"/>
              <a:t>    &lt;meta charset = "utf-8" /&gt;</a:t>
            </a:r>
          </a:p>
          <a:p>
            <a:pPr marL="0" indent="0" algn="just">
              <a:buNone/>
            </a:pPr>
            <a:r>
              <a:rPr lang="en-US" sz="1600" dirty="0"/>
              <a:t>    &lt;style type = "text/</a:t>
            </a:r>
            <a:r>
              <a:rPr lang="en-US" sz="1600" dirty="0" err="1"/>
              <a:t>css</a:t>
            </a:r>
            <a:r>
              <a:rPr lang="en-US" sz="1600" dirty="0"/>
              <a:t>"&gt;</a:t>
            </a:r>
          </a:p>
          <a:p>
            <a:pPr marL="0" indent="0" algn="just">
              <a:buNone/>
            </a:pPr>
            <a:r>
              <a:rPr lang="en-US" sz="1600" dirty="0"/>
              <a:t>      td, </a:t>
            </a:r>
            <a:r>
              <a:rPr lang="en-US" sz="1600" dirty="0" err="1"/>
              <a:t>th</a:t>
            </a:r>
            <a:r>
              <a:rPr lang="en-US" sz="1600" dirty="0"/>
              <a:t>, table {border: thin solid black;}</a:t>
            </a:r>
          </a:p>
          <a:p>
            <a:pPr marL="0" indent="0" algn="just">
              <a:buNone/>
            </a:pPr>
            <a:r>
              <a:rPr lang="en-US" sz="1600" dirty="0"/>
              <a:t>    &lt;/style&gt;</a:t>
            </a:r>
          </a:p>
          <a:p>
            <a:pPr marL="0" indent="0" algn="just">
              <a:buNone/>
            </a:pPr>
            <a:r>
              <a:rPr lang="en-US" sz="1600" dirty="0"/>
              <a:t>  </a:t>
            </a:r>
          </a:p>
          <a:p>
            <a:pPr marL="0" indent="0" algn="just">
              <a:buNone/>
            </a:pPr>
            <a:r>
              <a:rPr lang="en-US" sz="1600" dirty="0"/>
              <a:t>  &lt;/head&gt;</a:t>
            </a:r>
          </a:p>
          <a:p>
            <a:pPr marL="0" indent="0" algn="just">
              <a:buNone/>
            </a:pPr>
            <a:r>
              <a:rPr lang="en-US" sz="1600" dirty="0"/>
              <a:t>  &lt;body&gt;</a:t>
            </a:r>
          </a:p>
          <a:p>
            <a:pPr marL="0" indent="0" algn="just">
              <a:buNone/>
            </a:pPr>
            <a:r>
              <a:rPr lang="en-US" sz="1600" dirty="0"/>
              <a:t>    &lt;table&gt;</a:t>
            </a:r>
          </a:p>
          <a:p>
            <a:pPr marL="0" indent="0" algn="just">
              <a:buNone/>
            </a:pPr>
            <a:r>
              <a:rPr lang="en-US" sz="1600" dirty="0"/>
              <a:t>      &lt;caption&gt; Powers table &lt;/caption&gt;</a:t>
            </a:r>
          </a:p>
          <a:p>
            <a:pPr marL="0" indent="0" algn="just">
              <a:buNone/>
            </a:pPr>
            <a:r>
              <a:rPr lang="en-US" sz="1600" dirty="0"/>
              <a:t>      &lt;tr&gt;</a:t>
            </a:r>
          </a:p>
          <a:p>
            <a:pPr marL="0" indent="0" algn="just">
              <a:buNone/>
            </a:pPr>
            <a:r>
              <a:rPr lang="en-US" sz="1600" dirty="0"/>
              <a:t>        &lt;</a:t>
            </a:r>
            <a:r>
              <a:rPr lang="en-US" sz="1600" dirty="0" err="1"/>
              <a:t>th</a:t>
            </a:r>
            <a:r>
              <a:rPr lang="en-US" sz="1600" dirty="0"/>
              <a:t>&gt; Number &lt;/</a:t>
            </a:r>
            <a:r>
              <a:rPr lang="en-US" sz="1600" dirty="0" err="1"/>
              <a:t>th</a:t>
            </a:r>
            <a:r>
              <a:rPr lang="en-US" sz="1600" dirty="0"/>
              <a:t>&gt;</a:t>
            </a:r>
          </a:p>
          <a:p>
            <a:pPr marL="0" indent="0" algn="just">
              <a:buNone/>
            </a:pPr>
            <a:r>
              <a:rPr lang="en-US" sz="1600" dirty="0"/>
              <a:t>        &lt;</a:t>
            </a:r>
            <a:r>
              <a:rPr lang="en-US" sz="1600" dirty="0" err="1"/>
              <a:t>th</a:t>
            </a:r>
            <a:r>
              <a:rPr lang="en-US" sz="1600" dirty="0"/>
              <a:t>&gt; Square Root &lt;/</a:t>
            </a:r>
            <a:r>
              <a:rPr lang="en-US" sz="1600" dirty="0" err="1"/>
              <a:t>th</a:t>
            </a:r>
            <a:r>
              <a:rPr lang="en-US" sz="1600" dirty="0"/>
              <a:t>&gt;</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p:txBody>
      </p:sp>
      <p:sp>
        <p:nvSpPr>
          <p:cNvPr id="4" name="TextBox 3">
            <a:extLst>
              <a:ext uri="{FF2B5EF4-FFF2-40B4-BE49-F238E27FC236}">
                <a16:creationId xmlns:a16="http://schemas.microsoft.com/office/drawing/2014/main" id="{40BFD3E3-A35E-6A71-DD84-72DCD093A2B7}"/>
              </a:ext>
            </a:extLst>
          </p:cNvPr>
          <p:cNvSpPr txBox="1"/>
          <p:nvPr/>
        </p:nvSpPr>
        <p:spPr>
          <a:xfrm>
            <a:off x="5872899" y="263951"/>
            <a:ext cx="5957740" cy="4524315"/>
          </a:xfrm>
          <a:prstGeom prst="rect">
            <a:avLst/>
          </a:prstGeom>
          <a:noFill/>
        </p:spPr>
        <p:txBody>
          <a:bodyPr wrap="square" rtlCol="0">
            <a:spAutoFit/>
          </a:bodyPr>
          <a:lstStyle/>
          <a:p>
            <a:pPr lvl="2" algn="just"/>
            <a:r>
              <a:rPr lang="en-US" sz="1600" dirty="0"/>
              <a:t> &lt;</a:t>
            </a:r>
            <a:r>
              <a:rPr lang="en-US" sz="1600" dirty="0" err="1"/>
              <a:t>th</a:t>
            </a:r>
            <a:r>
              <a:rPr lang="en-US" sz="1600" dirty="0"/>
              <a:t>&gt; Square &lt;/</a:t>
            </a:r>
            <a:r>
              <a:rPr lang="en-US" sz="1600" dirty="0" err="1"/>
              <a:t>th</a:t>
            </a:r>
            <a:r>
              <a:rPr lang="en-US" sz="1600" dirty="0"/>
              <a:t>&gt;</a:t>
            </a:r>
          </a:p>
          <a:p>
            <a:pPr lvl="2" algn="just"/>
            <a:r>
              <a:rPr lang="en-US" sz="1600" dirty="0"/>
              <a:t>        &lt;</a:t>
            </a:r>
            <a:r>
              <a:rPr lang="en-US" sz="1600" dirty="0" err="1"/>
              <a:t>th</a:t>
            </a:r>
            <a:r>
              <a:rPr lang="en-US" sz="1600" dirty="0"/>
              <a:t>&gt; Cube &lt;/</a:t>
            </a:r>
            <a:r>
              <a:rPr lang="en-US" sz="1600" dirty="0" err="1"/>
              <a:t>th</a:t>
            </a:r>
            <a:r>
              <a:rPr lang="en-US" sz="1600" dirty="0"/>
              <a:t>&gt;</a:t>
            </a:r>
          </a:p>
          <a:p>
            <a:pPr lvl="2" algn="just"/>
            <a:r>
              <a:rPr lang="en-US" sz="1600" dirty="0"/>
              <a:t>        &lt;</a:t>
            </a:r>
            <a:r>
              <a:rPr lang="en-US" sz="1600" dirty="0" err="1"/>
              <a:t>th</a:t>
            </a:r>
            <a:r>
              <a:rPr lang="en-US" sz="1600" dirty="0"/>
              <a:t>&gt; Quad &lt;/</a:t>
            </a:r>
            <a:r>
              <a:rPr lang="en-US" sz="1600" dirty="0" err="1"/>
              <a:t>th</a:t>
            </a:r>
            <a:r>
              <a:rPr lang="en-US" sz="1600" dirty="0"/>
              <a:t>&gt;</a:t>
            </a:r>
          </a:p>
          <a:p>
            <a:pPr lvl="2" algn="just"/>
            <a:r>
              <a:rPr lang="en-US" sz="1600" dirty="0"/>
              <a:t>      &lt;/tr&gt;</a:t>
            </a:r>
          </a:p>
          <a:p>
            <a:pPr lvl="2" algn="just"/>
            <a:r>
              <a:rPr lang="en-US" sz="1600" dirty="0"/>
              <a:t>      &lt;?</a:t>
            </a:r>
            <a:r>
              <a:rPr lang="en-US" sz="1600" dirty="0" err="1"/>
              <a:t>php</a:t>
            </a:r>
            <a:endParaRPr lang="en-US" sz="1600" dirty="0"/>
          </a:p>
          <a:p>
            <a:pPr lvl="2" algn="just"/>
            <a:r>
              <a:rPr lang="en-US" sz="1600" dirty="0"/>
              <a:t>        for ($number = 1; $number &lt;=10; $number++) {</a:t>
            </a:r>
          </a:p>
          <a:p>
            <a:pPr lvl="2" algn="just"/>
            <a:r>
              <a:rPr lang="en-US" sz="1600" dirty="0"/>
              <a:t>          $root = sqrt($number);</a:t>
            </a:r>
          </a:p>
          <a:p>
            <a:pPr lvl="2" algn="just"/>
            <a:r>
              <a:rPr lang="en-US" sz="1600" dirty="0"/>
              <a:t>          $square = pow($number, 2);</a:t>
            </a:r>
          </a:p>
          <a:p>
            <a:pPr lvl="2" algn="just"/>
            <a:r>
              <a:rPr lang="en-US" sz="1600" dirty="0"/>
              <a:t>          $cube = pow($number, 3);</a:t>
            </a:r>
          </a:p>
          <a:p>
            <a:pPr lvl="2" algn="just"/>
            <a:r>
              <a:rPr lang="en-US" sz="1600" dirty="0"/>
              <a:t>          $quad = pow($number, 4);</a:t>
            </a:r>
          </a:p>
          <a:p>
            <a:pPr lvl="2" algn="just"/>
            <a:r>
              <a:rPr lang="en-US" sz="1600" dirty="0"/>
              <a:t>          print("&lt;tr align = 'center'&gt; &lt;td&gt; $number &lt;/td&gt;");</a:t>
            </a:r>
          </a:p>
          <a:p>
            <a:pPr lvl="2" algn="just"/>
            <a:r>
              <a:rPr lang="en-US" sz="1600" dirty="0"/>
              <a:t>          print("&lt;td&gt; $root &lt;/td&gt; &lt;td&gt; $square &lt;/td&gt;");</a:t>
            </a:r>
          </a:p>
          <a:p>
            <a:pPr lvl="2" algn="just"/>
            <a:r>
              <a:rPr lang="en-US" sz="1600" dirty="0"/>
              <a:t>          print("&lt;td&gt; $cube &lt;/td&gt; &lt;td&gt; $quad &lt;/td&gt; &lt;/tr&gt;");</a:t>
            </a:r>
          </a:p>
          <a:p>
            <a:pPr lvl="2" algn="just"/>
            <a:r>
              <a:rPr lang="en-US" sz="1600" dirty="0"/>
              <a:t>        }</a:t>
            </a:r>
          </a:p>
          <a:p>
            <a:pPr lvl="2" algn="just"/>
            <a:r>
              <a:rPr lang="en-US" sz="1600" dirty="0"/>
              <a:t>      ?&gt;</a:t>
            </a:r>
          </a:p>
          <a:p>
            <a:pPr lvl="2" algn="just"/>
            <a:r>
              <a:rPr lang="en-US" sz="1600" dirty="0"/>
              <a:t>    &lt;/table&gt;</a:t>
            </a:r>
          </a:p>
          <a:p>
            <a:pPr lvl="2" algn="just"/>
            <a:r>
              <a:rPr lang="en-US" sz="1600" dirty="0"/>
              <a:t>  &lt;/body&gt;</a:t>
            </a:r>
          </a:p>
          <a:p>
            <a:pPr lvl="2" algn="just"/>
            <a:r>
              <a:rPr lang="en-US" sz="1600" dirty="0"/>
              <a:t> &lt;/html&gt;</a:t>
            </a:r>
            <a:endParaRPr lang="en-IN" dirty="0"/>
          </a:p>
        </p:txBody>
      </p:sp>
    </p:spTree>
    <p:extLst>
      <p:ext uri="{BB962C8B-B14F-4D97-AF65-F5344CB8AC3E}">
        <p14:creationId xmlns:p14="http://schemas.microsoft.com/office/powerpoint/2010/main" val="34899871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68CE0F-CF18-552D-A294-EC27905DDDE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64DD8F-A828-E0C9-6295-C8E78198928A}"/>
              </a:ext>
            </a:extLst>
          </p:cNvPr>
          <p:cNvSpPr>
            <a:spLocks noGrp="1"/>
          </p:cNvSpPr>
          <p:nvPr>
            <p:ph idx="1"/>
          </p:nvPr>
        </p:nvSpPr>
        <p:spPr>
          <a:xfrm>
            <a:off x="838200" y="301658"/>
            <a:ext cx="10515600" cy="6259398"/>
          </a:xfrm>
        </p:spPr>
        <p:txBody>
          <a:bodyPr/>
          <a:lstStyle/>
          <a:p>
            <a:pPr marL="0" indent="0">
              <a:buNone/>
            </a:pPr>
            <a:r>
              <a:rPr lang="en-IN" dirty="0"/>
              <a:t>7 Arrays</a:t>
            </a:r>
            <a:endParaRPr lang="en-US" dirty="0"/>
          </a:p>
          <a:p>
            <a:pPr algn="just"/>
            <a:r>
              <a:rPr lang="en-US" sz="2400" dirty="0"/>
              <a:t>Arrays in PHP are unlike those of any other common programming language. </a:t>
            </a:r>
          </a:p>
          <a:p>
            <a:pPr algn="just"/>
            <a:r>
              <a:rPr lang="en-US" sz="2400" dirty="0"/>
              <a:t>They are best described as a combination of the arrays of a typical language and associative arrays, or hashes, found in some other languages, such as Ruby and Python.</a:t>
            </a:r>
          </a:p>
          <a:p>
            <a:pPr algn="just"/>
            <a:r>
              <a:rPr lang="en-US" sz="2400" dirty="0"/>
              <a:t>Each array element consists of two parts: a </a:t>
            </a:r>
            <a:r>
              <a:rPr lang="en-US" sz="2400" dirty="0">
                <a:solidFill>
                  <a:srgbClr val="FF0000"/>
                </a:solidFill>
              </a:rPr>
              <a:t>key</a:t>
            </a:r>
            <a:r>
              <a:rPr lang="en-US" sz="2400" dirty="0"/>
              <a:t> and a </a:t>
            </a:r>
            <a:r>
              <a:rPr lang="en-US" sz="2400" dirty="0">
                <a:solidFill>
                  <a:srgbClr val="FF0000"/>
                </a:solidFill>
              </a:rPr>
              <a:t>value</a:t>
            </a:r>
            <a:r>
              <a:rPr lang="en-US" sz="2400" dirty="0"/>
              <a:t>.</a:t>
            </a:r>
          </a:p>
          <a:p>
            <a:pPr algn="just"/>
            <a:r>
              <a:rPr lang="en-US" sz="2400" dirty="0"/>
              <a:t>If the array has a logical structure that is similar to an array in another language, the keys just happen to be </a:t>
            </a:r>
            <a:r>
              <a:rPr lang="en-US" sz="2400" dirty="0">
                <a:solidFill>
                  <a:srgbClr val="FF0000"/>
                </a:solidFill>
              </a:rPr>
              <a:t>nonnegative integers</a:t>
            </a:r>
          </a:p>
          <a:p>
            <a:pPr algn="just"/>
            <a:r>
              <a:rPr lang="en-US" sz="2400" dirty="0"/>
              <a:t>If the array has a logical structure that is similar to a hash, its keys are </a:t>
            </a:r>
            <a:r>
              <a:rPr lang="en-US" sz="2400" dirty="0">
                <a:solidFill>
                  <a:srgbClr val="FF0000"/>
                </a:solidFill>
              </a:rPr>
              <a:t>strings</a:t>
            </a:r>
          </a:p>
          <a:p>
            <a:pPr algn="just"/>
            <a:r>
              <a:rPr lang="en-US" sz="2400" dirty="0"/>
              <a:t>The string keys of a PHP array are sometimes people’s names, sometimes the names of the days of the week.</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p:txBody>
      </p:sp>
    </p:spTree>
    <p:extLst>
      <p:ext uri="{BB962C8B-B14F-4D97-AF65-F5344CB8AC3E}">
        <p14:creationId xmlns:p14="http://schemas.microsoft.com/office/powerpoint/2010/main" val="11177148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11247C-AF74-8161-E697-450EB597B7F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2DBBDD8-047F-4135-D68D-E1959F695845}"/>
              </a:ext>
            </a:extLst>
          </p:cNvPr>
          <p:cNvSpPr>
            <a:spLocks noGrp="1"/>
          </p:cNvSpPr>
          <p:nvPr>
            <p:ph idx="1"/>
          </p:nvPr>
        </p:nvSpPr>
        <p:spPr>
          <a:xfrm>
            <a:off x="838200" y="301658"/>
            <a:ext cx="10515600" cy="6259398"/>
          </a:xfrm>
        </p:spPr>
        <p:txBody>
          <a:bodyPr/>
          <a:lstStyle/>
          <a:p>
            <a:r>
              <a:rPr lang="en-IN" dirty="0"/>
              <a:t>7.1 Array Creation</a:t>
            </a:r>
            <a:endParaRPr lang="en-US" dirty="0"/>
          </a:p>
          <a:p>
            <a:pPr algn="just"/>
            <a:r>
              <a:rPr lang="en-US" sz="2400" dirty="0"/>
              <a:t>There are two ways to create an array in PHP</a:t>
            </a:r>
          </a:p>
          <a:p>
            <a:pPr algn="just"/>
            <a:r>
              <a:rPr lang="en-US" sz="2400" dirty="0"/>
              <a:t>Assigning a value to a sub scripted variable that previously was not an array creates the array.</a:t>
            </a:r>
          </a:p>
          <a:p>
            <a:pPr marL="457200" lvl="1" indent="0" algn="just">
              <a:buNone/>
            </a:pPr>
            <a:r>
              <a:rPr lang="en-IN" sz="2000" dirty="0">
                <a:solidFill>
                  <a:srgbClr val="FF0000"/>
                </a:solidFill>
              </a:rPr>
              <a:t>$list[0] = 17;</a:t>
            </a:r>
            <a:endParaRPr lang="en-US" sz="2000" dirty="0">
              <a:solidFill>
                <a:srgbClr val="FF0000"/>
              </a:solidFill>
            </a:endParaRPr>
          </a:p>
          <a:p>
            <a:pPr algn="just"/>
            <a:r>
              <a:rPr lang="en-US" sz="2400" dirty="0"/>
              <a:t>If empty brackets are used in an assignment to an array, a numeric key is implicitly furnished.</a:t>
            </a:r>
          </a:p>
          <a:p>
            <a:pPr algn="just"/>
            <a:r>
              <a:rPr lang="en-US" sz="2400" dirty="0"/>
              <a:t>The furnished subscript is 1 greater than the largest numeric key used so far in the array</a:t>
            </a:r>
          </a:p>
          <a:p>
            <a:pPr algn="just"/>
            <a:r>
              <a:rPr lang="en-US" sz="2400" dirty="0"/>
              <a:t>If the array currently has no elements with numeric keys, the value 0 is used.</a:t>
            </a:r>
          </a:p>
          <a:p>
            <a:pPr marL="457200" lvl="1" indent="0" algn="just">
              <a:buNone/>
            </a:pPr>
            <a:r>
              <a:rPr lang="en-US" sz="2000" dirty="0">
                <a:solidFill>
                  <a:srgbClr val="FF0000"/>
                </a:solidFill>
              </a:rPr>
              <a:t>$list[1] = "Today is my birthday!"; </a:t>
            </a:r>
          </a:p>
          <a:p>
            <a:pPr marL="457200" lvl="1" indent="0" algn="just">
              <a:buNone/>
            </a:pPr>
            <a:r>
              <a:rPr lang="en-US" sz="2000" dirty="0">
                <a:solidFill>
                  <a:srgbClr val="FF0000"/>
                </a:solidFill>
              </a:rPr>
              <a:t>$list[] = 42;</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p:txBody>
      </p:sp>
    </p:spTree>
    <p:extLst>
      <p:ext uri="{BB962C8B-B14F-4D97-AF65-F5344CB8AC3E}">
        <p14:creationId xmlns:p14="http://schemas.microsoft.com/office/powerpoint/2010/main" val="28028635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DC2122-323C-C84D-A378-76D2F7A9F7A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007EEE-EA58-87D8-D5B1-C5347E7EA35D}"/>
              </a:ext>
            </a:extLst>
          </p:cNvPr>
          <p:cNvSpPr>
            <a:spLocks noGrp="1"/>
          </p:cNvSpPr>
          <p:nvPr>
            <p:ph idx="1"/>
          </p:nvPr>
        </p:nvSpPr>
        <p:spPr>
          <a:xfrm>
            <a:off x="838200" y="301658"/>
            <a:ext cx="10515600" cy="6259398"/>
          </a:xfrm>
        </p:spPr>
        <p:txBody>
          <a:bodyPr>
            <a:normAutofit lnSpcReduction="10000"/>
          </a:bodyPr>
          <a:lstStyle/>
          <a:p>
            <a:r>
              <a:rPr lang="en-US" dirty="0"/>
              <a:t>continued…</a:t>
            </a:r>
          </a:p>
          <a:p>
            <a:pPr algn="just"/>
            <a:r>
              <a:rPr lang="en-US" sz="2400" dirty="0"/>
              <a:t>The second way to create an array is with the </a:t>
            </a:r>
            <a:r>
              <a:rPr lang="en-US" sz="2400" dirty="0">
                <a:solidFill>
                  <a:srgbClr val="FF0000"/>
                </a:solidFill>
              </a:rPr>
              <a:t>array</a:t>
            </a:r>
            <a:r>
              <a:rPr lang="en-US" sz="2400" dirty="0"/>
              <a:t> construct.</a:t>
            </a:r>
          </a:p>
          <a:p>
            <a:pPr algn="just"/>
            <a:r>
              <a:rPr lang="en-US" sz="2400" dirty="0"/>
              <a:t>The parameters of array specify the </a:t>
            </a:r>
            <a:r>
              <a:rPr lang="en-US" sz="2400" dirty="0">
                <a:solidFill>
                  <a:srgbClr val="FF0000"/>
                </a:solidFill>
              </a:rPr>
              <a:t>values to be placed</a:t>
            </a:r>
            <a:r>
              <a:rPr lang="en-US" sz="2400" dirty="0"/>
              <a:t> in a new array and sometimes also the </a:t>
            </a:r>
            <a:r>
              <a:rPr lang="en-US" sz="2400" dirty="0">
                <a:solidFill>
                  <a:srgbClr val="FF0000"/>
                </a:solidFill>
              </a:rPr>
              <a:t>keys</a:t>
            </a:r>
            <a:r>
              <a:rPr lang="en-US" sz="2400" dirty="0"/>
              <a:t>.</a:t>
            </a:r>
          </a:p>
          <a:p>
            <a:pPr algn="just"/>
            <a:r>
              <a:rPr lang="en-US" sz="2400" dirty="0"/>
              <a:t>If the array is like a traditional array, only the values need to be specified; the PHP interpreter will furnish the numeric keys.</a:t>
            </a:r>
          </a:p>
          <a:p>
            <a:pPr marL="457200" lvl="1" indent="0" algn="just">
              <a:buNone/>
            </a:pPr>
            <a:r>
              <a:rPr lang="en-IN" sz="2000" dirty="0">
                <a:solidFill>
                  <a:srgbClr val="FF0000"/>
                </a:solidFill>
              </a:rPr>
              <a:t>$list = array(17, 24, 45, 91);</a:t>
            </a:r>
            <a:endParaRPr lang="en-US" sz="2000" dirty="0">
              <a:solidFill>
                <a:srgbClr val="FF0000"/>
              </a:solidFill>
            </a:endParaRPr>
          </a:p>
          <a:p>
            <a:pPr algn="just"/>
            <a:r>
              <a:rPr lang="en-US" sz="2400" dirty="0"/>
              <a:t>If you would rather have different keys, you can specify them in the array construct, as follows:</a:t>
            </a:r>
          </a:p>
          <a:p>
            <a:pPr marL="457200" lvl="1" indent="0" algn="just">
              <a:buNone/>
            </a:pPr>
            <a:r>
              <a:rPr lang="en-IN" sz="2000" dirty="0">
                <a:solidFill>
                  <a:srgbClr val="FF0000"/>
                </a:solidFill>
              </a:rPr>
              <a:t>$list = array(1 =&gt; 17, 2 =&gt; 24, 3 =&gt; 42, 4 =&gt; 91);</a:t>
            </a:r>
            <a:endParaRPr lang="en-US" sz="2000" dirty="0">
              <a:solidFill>
                <a:srgbClr val="FF0000"/>
              </a:solidFill>
            </a:endParaRPr>
          </a:p>
          <a:p>
            <a:pPr algn="just"/>
            <a:r>
              <a:rPr lang="en-US" sz="2400" dirty="0"/>
              <a:t>An array construct with empty parentheses creates an empty array.</a:t>
            </a:r>
          </a:p>
          <a:p>
            <a:pPr marL="457200" lvl="1" indent="0" algn="just">
              <a:buNone/>
            </a:pPr>
            <a:r>
              <a:rPr lang="en-IN" sz="2000" dirty="0">
                <a:solidFill>
                  <a:srgbClr val="FF0000"/>
                </a:solidFill>
              </a:rPr>
              <a:t>$list = array();</a:t>
            </a:r>
            <a:endParaRPr lang="en-US" sz="2000" dirty="0">
              <a:solidFill>
                <a:srgbClr val="FF0000"/>
              </a:solidFill>
            </a:endParaRPr>
          </a:p>
          <a:p>
            <a:pPr algn="just"/>
            <a:r>
              <a:rPr lang="en-US" sz="2400" dirty="0"/>
              <a:t>The following statement creates an array that has the form of a hash:</a:t>
            </a:r>
          </a:p>
          <a:p>
            <a:pPr marL="457200" lvl="1" indent="0" algn="just">
              <a:buNone/>
            </a:pPr>
            <a:r>
              <a:rPr lang="en-US" sz="2000" dirty="0">
                <a:solidFill>
                  <a:srgbClr val="FF0000"/>
                </a:solidFill>
              </a:rPr>
              <a:t>$ages = array("Joe" =&gt; 42, "Mary" =&gt; 41, "Bif" =&gt; 17);</a:t>
            </a:r>
          </a:p>
          <a:p>
            <a:pPr algn="just"/>
            <a:r>
              <a:rPr lang="en-US" sz="2400" dirty="0"/>
              <a:t>PHP arrays do not need to be purely in the form of traditional arrays or hashes</a:t>
            </a:r>
          </a:p>
          <a:p>
            <a:pPr marL="457200" lvl="1" indent="0" algn="just">
              <a:buNone/>
            </a:pPr>
            <a:r>
              <a:rPr lang="en-US" sz="2000" dirty="0">
                <a:solidFill>
                  <a:srgbClr val="FF0000"/>
                </a:solidFill>
              </a:rPr>
              <a:t>$stuff = array("make" =&gt; "Cessna", "model" =&gt; "C210", "year" =&gt; 1960, 3 =&gt; "sold");</a:t>
            </a:r>
          </a:p>
        </p:txBody>
      </p:sp>
    </p:spTree>
    <p:extLst>
      <p:ext uri="{BB962C8B-B14F-4D97-AF65-F5344CB8AC3E}">
        <p14:creationId xmlns:p14="http://schemas.microsoft.com/office/powerpoint/2010/main" val="7556914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32A1E1-D463-95C0-E0F9-401572E5EF9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F48A0CF-BB04-94B6-A792-AE605D39937E}"/>
              </a:ext>
            </a:extLst>
          </p:cNvPr>
          <p:cNvSpPr>
            <a:spLocks noGrp="1"/>
          </p:cNvSpPr>
          <p:nvPr>
            <p:ph idx="1"/>
          </p:nvPr>
        </p:nvSpPr>
        <p:spPr>
          <a:xfrm>
            <a:off x="838200" y="301658"/>
            <a:ext cx="10515600" cy="6259398"/>
          </a:xfrm>
        </p:spPr>
        <p:txBody>
          <a:bodyPr/>
          <a:lstStyle/>
          <a:p>
            <a:r>
              <a:rPr lang="en-IN" dirty="0"/>
              <a:t>7.2 Accessing Array Elements</a:t>
            </a:r>
            <a:endParaRPr lang="en-US" dirty="0"/>
          </a:p>
          <a:p>
            <a:pPr algn="just"/>
            <a:r>
              <a:rPr lang="en-US" sz="2400" dirty="0"/>
              <a:t>Individual array elements can be accessed by subscripting, as in other programming languages. </a:t>
            </a:r>
          </a:p>
          <a:p>
            <a:pPr algn="just"/>
            <a:r>
              <a:rPr lang="en-US" sz="2400" dirty="0"/>
              <a:t>The value in the subscript, which is enclosed in brackets, is the key of the value being referenced.</a:t>
            </a:r>
          </a:p>
          <a:p>
            <a:pPr marL="457200" lvl="1" indent="0" algn="just">
              <a:buNone/>
            </a:pPr>
            <a:r>
              <a:rPr lang="en-IN" sz="2000" dirty="0">
                <a:solidFill>
                  <a:srgbClr val="FF0000"/>
                </a:solidFill>
              </a:rPr>
              <a:t>$ages['Mary'] = 29;</a:t>
            </a:r>
            <a:endParaRPr lang="en-US" sz="2000" dirty="0">
              <a:solidFill>
                <a:srgbClr val="FF0000"/>
              </a:solidFill>
            </a:endParaRPr>
          </a:p>
          <a:p>
            <a:pPr algn="just"/>
            <a:r>
              <a:rPr lang="en-US" sz="2400" dirty="0"/>
              <a:t>The list construct can be used to assign multiple elements of an array to scalar variables in one statement.</a:t>
            </a:r>
          </a:p>
          <a:p>
            <a:pPr marL="457200" lvl="1" indent="0" algn="just">
              <a:buNone/>
            </a:pPr>
            <a:r>
              <a:rPr lang="en-US" sz="2000" dirty="0">
                <a:solidFill>
                  <a:srgbClr val="FF0000"/>
                </a:solidFill>
              </a:rPr>
              <a:t>$trees = array("oak", "pine", "binary"); </a:t>
            </a:r>
          </a:p>
          <a:p>
            <a:pPr marL="457200" lvl="1" indent="0" algn="just">
              <a:buNone/>
            </a:pPr>
            <a:r>
              <a:rPr lang="en-US" sz="2000" dirty="0">
                <a:solidFill>
                  <a:srgbClr val="FF0000"/>
                </a:solidFill>
              </a:rPr>
              <a:t>list($hardwood, $softwood, $</a:t>
            </a:r>
            <a:r>
              <a:rPr lang="en-US" sz="2000" dirty="0" err="1">
                <a:solidFill>
                  <a:srgbClr val="FF0000"/>
                </a:solidFill>
              </a:rPr>
              <a:t>data_structure</a:t>
            </a:r>
            <a:r>
              <a:rPr lang="en-US" sz="2000" dirty="0">
                <a:solidFill>
                  <a:srgbClr val="FF0000"/>
                </a:solidFill>
              </a:rPr>
              <a:t>) = $trees;</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p:txBody>
      </p:sp>
    </p:spTree>
    <p:extLst>
      <p:ext uri="{BB962C8B-B14F-4D97-AF65-F5344CB8AC3E}">
        <p14:creationId xmlns:p14="http://schemas.microsoft.com/office/powerpoint/2010/main" val="37864674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C3B8F2-4D15-EBC2-B3CB-CED903A9B1A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9B120AD-8B6A-378E-59BD-DBF487C38A7D}"/>
              </a:ext>
            </a:extLst>
          </p:cNvPr>
          <p:cNvSpPr>
            <a:spLocks noGrp="1"/>
          </p:cNvSpPr>
          <p:nvPr>
            <p:ph idx="1"/>
          </p:nvPr>
        </p:nvSpPr>
        <p:spPr>
          <a:xfrm>
            <a:off x="838200" y="301658"/>
            <a:ext cx="10515600" cy="6259398"/>
          </a:xfrm>
        </p:spPr>
        <p:txBody>
          <a:bodyPr>
            <a:normAutofit/>
          </a:bodyPr>
          <a:lstStyle/>
          <a:p>
            <a:r>
              <a:rPr lang="en-US" dirty="0"/>
              <a:t>7.3 Functions for Dealing with Arrays</a:t>
            </a:r>
          </a:p>
          <a:p>
            <a:pPr algn="just"/>
            <a:r>
              <a:rPr lang="en-US" sz="2400" dirty="0"/>
              <a:t>A whole array can be deleted with </a:t>
            </a:r>
            <a:r>
              <a:rPr lang="en-US" sz="2400" dirty="0">
                <a:solidFill>
                  <a:srgbClr val="FF0000"/>
                </a:solidFill>
              </a:rPr>
              <a:t>unset</a:t>
            </a:r>
            <a:r>
              <a:rPr lang="en-US" sz="2400" dirty="0"/>
              <a:t>, as with a scalar variable. Individual elements of an array also can be removed with unset.</a:t>
            </a:r>
          </a:p>
          <a:p>
            <a:pPr marL="457200" lvl="1" indent="0" algn="just">
              <a:buNone/>
            </a:pPr>
            <a:r>
              <a:rPr lang="en-IN" sz="2000" dirty="0">
                <a:solidFill>
                  <a:srgbClr val="FF0000"/>
                </a:solidFill>
              </a:rPr>
              <a:t>$list = array(2, 4, 6, 8); </a:t>
            </a:r>
          </a:p>
          <a:p>
            <a:pPr marL="457200" lvl="1" indent="0" algn="just">
              <a:buNone/>
            </a:pPr>
            <a:r>
              <a:rPr lang="en-IN" sz="2000" dirty="0">
                <a:solidFill>
                  <a:srgbClr val="FF0000"/>
                </a:solidFill>
              </a:rPr>
              <a:t>unset($list[2]);</a:t>
            </a:r>
            <a:endParaRPr lang="en-US" sz="2000" dirty="0">
              <a:solidFill>
                <a:srgbClr val="FF0000"/>
              </a:solidFill>
            </a:endParaRPr>
          </a:p>
          <a:p>
            <a:pPr algn="just"/>
            <a:r>
              <a:rPr lang="en-US" sz="2400" dirty="0"/>
              <a:t>The collection of keys and the collection of values of an array can be extracted with built-in functions.</a:t>
            </a:r>
          </a:p>
          <a:p>
            <a:pPr marL="457200" lvl="1" indent="0" algn="just">
              <a:buNone/>
            </a:pPr>
            <a:r>
              <a:rPr lang="en-US" sz="2000" dirty="0"/>
              <a:t> $highs = array("Mon" =&gt; 74, "Tue" =&gt; 70, "Wed" =&gt; 67, "Thu" =&gt; 62, "Fri" =&gt; 65);</a:t>
            </a:r>
          </a:p>
          <a:p>
            <a:pPr marL="457200" lvl="1" indent="0" algn="just">
              <a:buNone/>
            </a:pPr>
            <a:r>
              <a:rPr lang="en-US" sz="2000" dirty="0"/>
              <a:t> $days = </a:t>
            </a:r>
            <a:r>
              <a:rPr lang="en-US" sz="2000" dirty="0" err="1">
                <a:solidFill>
                  <a:srgbClr val="FF0000"/>
                </a:solidFill>
              </a:rPr>
              <a:t>array_keys</a:t>
            </a:r>
            <a:r>
              <a:rPr lang="en-US" sz="2000" dirty="0"/>
              <a:t>($highs);</a:t>
            </a:r>
          </a:p>
          <a:p>
            <a:pPr marL="457200" lvl="1" indent="0" algn="just">
              <a:buNone/>
            </a:pPr>
            <a:r>
              <a:rPr lang="en-US" sz="2000" dirty="0"/>
              <a:t> $temps = </a:t>
            </a:r>
            <a:r>
              <a:rPr lang="en-US" sz="2000" dirty="0" err="1">
                <a:solidFill>
                  <a:srgbClr val="FF0000"/>
                </a:solidFill>
              </a:rPr>
              <a:t>array_values</a:t>
            </a:r>
            <a:r>
              <a:rPr lang="en-US" sz="2000" dirty="0"/>
              <a:t>($highs);</a:t>
            </a:r>
          </a:p>
          <a:p>
            <a:pPr algn="just"/>
            <a:r>
              <a:rPr lang="en-US" sz="2400" dirty="0"/>
              <a:t>The existence of an element of a specific key can be determined with the </a:t>
            </a:r>
            <a:r>
              <a:rPr lang="en-US" sz="2400" dirty="0" err="1">
                <a:solidFill>
                  <a:srgbClr val="FF0000"/>
                </a:solidFill>
              </a:rPr>
              <a:t>array_key_exists</a:t>
            </a:r>
            <a:r>
              <a:rPr lang="en-US" sz="2400" dirty="0"/>
              <a:t> function, which returns a Boolean value.</a:t>
            </a:r>
          </a:p>
          <a:p>
            <a:pPr marL="914400" lvl="2" indent="0" algn="just">
              <a:buNone/>
            </a:pPr>
            <a:r>
              <a:rPr lang="en-US" sz="1600" dirty="0"/>
              <a:t>$highs = array("Mon" =&gt; 74, "Tue" =&gt; 70, "Wed" =&gt; 67, "Thu" =&gt; 62, "Fri" =&gt; 65);</a:t>
            </a:r>
          </a:p>
          <a:p>
            <a:pPr marL="914400" lvl="2" indent="0" algn="just">
              <a:buNone/>
            </a:pPr>
            <a:r>
              <a:rPr lang="en-US" sz="1600" dirty="0"/>
              <a:t>if (</a:t>
            </a:r>
            <a:r>
              <a:rPr lang="en-US" sz="1600" dirty="0" err="1"/>
              <a:t>array_key_exists</a:t>
            </a:r>
            <a:r>
              <a:rPr lang="en-US" sz="1600" dirty="0"/>
              <a:t>("Tue", $highs)) {</a:t>
            </a:r>
          </a:p>
          <a:p>
            <a:pPr marL="914400" lvl="2" indent="0" algn="just">
              <a:buNone/>
            </a:pPr>
            <a:r>
              <a:rPr lang="en-US" sz="1600" dirty="0"/>
              <a:t>  	$</a:t>
            </a:r>
            <a:r>
              <a:rPr lang="en-US" sz="1600" dirty="0" err="1"/>
              <a:t>tues_high</a:t>
            </a:r>
            <a:r>
              <a:rPr lang="en-US" sz="1600" dirty="0"/>
              <a:t> = $highs["Tue"];</a:t>
            </a:r>
          </a:p>
          <a:p>
            <a:pPr marL="914400" lvl="2" indent="0" algn="just">
              <a:buNone/>
            </a:pPr>
            <a:r>
              <a:rPr lang="en-US" sz="1600" dirty="0"/>
              <a:t>  	print "The high on Tuesday was $</a:t>
            </a:r>
            <a:r>
              <a:rPr lang="en-US" sz="1600" dirty="0" err="1"/>
              <a:t>tues_high</a:t>
            </a:r>
            <a:r>
              <a:rPr lang="en-US" sz="1600" dirty="0"/>
              <a:t> &lt;</a:t>
            </a:r>
            <a:r>
              <a:rPr lang="en-US" sz="1600" dirty="0" err="1"/>
              <a:t>br</a:t>
            </a:r>
            <a:r>
              <a:rPr lang="en-US" sz="1600" dirty="0"/>
              <a:t> /&gt;";</a:t>
            </a:r>
          </a:p>
          <a:p>
            <a:pPr marL="914400" lvl="2" indent="0" algn="just">
              <a:buNone/>
            </a:pPr>
            <a:r>
              <a:rPr lang="en-US" sz="1600" dirty="0"/>
              <a:t>} else</a:t>
            </a:r>
          </a:p>
          <a:p>
            <a:pPr marL="914400" lvl="2" indent="0" algn="just">
              <a:buNone/>
            </a:pPr>
            <a:r>
              <a:rPr lang="en-US" sz="1600" dirty="0"/>
              <a:t>  print "There is data for Tuesday in the \$highs array &lt;</a:t>
            </a:r>
            <a:r>
              <a:rPr lang="en-US" sz="1600" dirty="0" err="1"/>
              <a:t>br</a:t>
            </a:r>
            <a:r>
              <a:rPr lang="en-US" sz="1600" dirty="0"/>
              <a:t> /&gt;";</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p:txBody>
      </p:sp>
    </p:spTree>
    <p:extLst>
      <p:ext uri="{BB962C8B-B14F-4D97-AF65-F5344CB8AC3E}">
        <p14:creationId xmlns:p14="http://schemas.microsoft.com/office/powerpoint/2010/main" val="12661333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D158F0-7D2E-474E-1E45-7E6F193759F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FF4ABC3-06AA-B30D-8701-5502B7E7183C}"/>
              </a:ext>
            </a:extLst>
          </p:cNvPr>
          <p:cNvSpPr>
            <a:spLocks noGrp="1"/>
          </p:cNvSpPr>
          <p:nvPr>
            <p:ph idx="1"/>
          </p:nvPr>
        </p:nvSpPr>
        <p:spPr>
          <a:xfrm>
            <a:off x="838200" y="301658"/>
            <a:ext cx="10515600" cy="6259398"/>
          </a:xfrm>
        </p:spPr>
        <p:txBody>
          <a:bodyPr/>
          <a:lstStyle/>
          <a:p>
            <a:r>
              <a:rPr lang="en-US" dirty="0"/>
              <a:t>continue…</a:t>
            </a:r>
          </a:p>
          <a:p>
            <a:pPr algn="just"/>
            <a:r>
              <a:rPr lang="en-US" sz="2400" dirty="0"/>
              <a:t>The </a:t>
            </a:r>
            <a:r>
              <a:rPr lang="en-US" sz="2400" dirty="0" err="1">
                <a:solidFill>
                  <a:srgbClr val="FF0000"/>
                </a:solidFill>
              </a:rPr>
              <a:t>is_array</a:t>
            </a:r>
            <a:r>
              <a:rPr lang="en-US" sz="2400" dirty="0">
                <a:solidFill>
                  <a:srgbClr val="FF0000"/>
                </a:solidFill>
              </a:rPr>
              <a:t> </a:t>
            </a:r>
            <a:r>
              <a:rPr lang="en-US" sz="2400" dirty="0"/>
              <a:t>function is similar to the </a:t>
            </a:r>
            <a:r>
              <a:rPr lang="en-US" sz="2400" dirty="0" err="1"/>
              <a:t>is_int</a:t>
            </a:r>
            <a:r>
              <a:rPr lang="en-US" sz="2400" dirty="0"/>
              <a:t> function: It takes a variable as its parameter and returns </a:t>
            </a:r>
            <a:r>
              <a:rPr lang="en-US" sz="2400" dirty="0">
                <a:solidFill>
                  <a:srgbClr val="FF0000"/>
                </a:solidFill>
              </a:rPr>
              <a:t>TRUE</a:t>
            </a:r>
            <a:r>
              <a:rPr lang="en-US" sz="2400" dirty="0"/>
              <a:t> if the variable is an array, </a:t>
            </a:r>
            <a:r>
              <a:rPr lang="en-US" sz="2400" dirty="0">
                <a:solidFill>
                  <a:srgbClr val="FF0000"/>
                </a:solidFill>
              </a:rPr>
              <a:t>FALSE</a:t>
            </a:r>
            <a:r>
              <a:rPr lang="en-US" sz="2400" dirty="0"/>
              <a:t> otherwise. </a:t>
            </a:r>
          </a:p>
          <a:p>
            <a:pPr algn="just"/>
            <a:r>
              <a:rPr lang="en-US" sz="2400" dirty="0"/>
              <a:t>The </a:t>
            </a:r>
            <a:r>
              <a:rPr lang="en-US" sz="2400" dirty="0" err="1">
                <a:solidFill>
                  <a:srgbClr val="FF0000"/>
                </a:solidFill>
              </a:rPr>
              <a:t>in_array</a:t>
            </a:r>
            <a:r>
              <a:rPr lang="en-US" sz="2400" dirty="0">
                <a:solidFill>
                  <a:srgbClr val="FF0000"/>
                </a:solidFill>
              </a:rPr>
              <a:t> </a:t>
            </a:r>
            <a:r>
              <a:rPr lang="en-US" sz="2400" dirty="0"/>
              <a:t>function takes two parameters—an </a:t>
            </a:r>
            <a:r>
              <a:rPr lang="en-US" sz="2400" dirty="0">
                <a:solidFill>
                  <a:srgbClr val="00B0F0"/>
                </a:solidFill>
              </a:rPr>
              <a:t>expression</a:t>
            </a:r>
            <a:r>
              <a:rPr lang="en-US" sz="2400" dirty="0"/>
              <a:t> and an </a:t>
            </a:r>
            <a:r>
              <a:rPr lang="en-US" sz="2400" dirty="0">
                <a:solidFill>
                  <a:srgbClr val="00B0F0"/>
                </a:solidFill>
              </a:rPr>
              <a:t>array</a:t>
            </a:r>
            <a:r>
              <a:rPr lang="en-US" sz="2400" dirty="0"/>
              <a:t>—and returns TRUE if the value of the expression is a value in the array; otherwise, it returns FALSE. </a:t>
            </a:r>
          </a:p>
          <a:p>
            <a:pPr algn="just"/>
            <a:r>
              <a:rPr lang="en-US" sz="2400" dirty="0"/>
              <a:t>The number of elements in an array can be determined with the </a:t>
            </a:r>
            <a:r>
              <a:rPr lang="en-US" sz="2400" dirty="0" err="1">
                <a:solidFill>
                  <a:srgbClr val="FF0000"/>
                </a:solidFill>
              </a:rPr>
              <a:t>sizeof</a:t>
            </a:r>
            <a:r>
              <a:rPr lang="en-US" sz="2400" dirty="0"/>
              <a:t> function.</a:t>
            </a:r>
          </a:p>
          <a:p>
            <a:pPr marL="457200" lvl="1" indent="0" algn="just">
              <a:buNone/>
            </a:pPr>
            <a:r>
              <a:rPr lang="en-US" sz="2000" dirty="0"/>
              <a:t> $list = array("Bob", "Fred", "Alan", "Bozo");</a:t>
            </a:r>
          </a:p>
          <a:p>
            <a:pPr marL="457200" lvl="1" indent="0" algn="just">
              <a:buNone/>
            </a:pPr>
            <a:r>
              <a:rPr lang="en-US" sz="2000" dirty="0"/>
              <a:t> $</a:t>
            </a:r>
            <a:r>
              <a:rPr lang="en-US" sz="2000" dirty="0" err="1"/>
              <a:t>len</a:t>
            </a:r>
            <a:r>
              <a:rPr lang="en-US" sz="2000" dirty="0"/>
              <a:t> = </a:t>
            </a:r>
            <a:r>
              <a:rPr lang="en-US" sz="2000" dirty="0" err="1"/>
              <a:t>sizeof</a:t>
            </a:r>
            <a:r>
              <a:rPr lang="en-US" sz="2000" dirty="0"/>
              <a:t>($list);</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p:txBody>
      </p:sp>
    </p:spTree>
    <p:extLst>
      <p:ext uri="{BB962C8B-B14F-4D97-AF65-F5344CB8AC3E}">
        <p14:creationId xmlns:p14="http://schemas.microsoft.com/office/powerpoint/2010/main" val="32469820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B78AB-E8D8-142B-AF19-E0CBF79AF65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4FA79CE-0E75-9971-AA05-319FDE0BB848}"/>
              </a:ext>
            </a:extLst>
          </p:cNvPr>
          <p:cNvSpPr>
            <a:spLocks noGrp="1"/>
          </p:cNvSpPr>
          <p:nvPr>
            <p:ph idx="1"/>
          </p:nvPr>
        </p:nvSpPr>
        <p:spPr>
          <a:xfrm>
            <a:off x="838200" y="301658"/>
            <a:ext cx="10515600" cy="6259398"/>
          </a:xfrm>
        </p:spPr>
        <p:txBody>
          <a:bodyPr/>
          <a:lstStyle/>
          <a:p>
            <a:r>
              <a:rPr lang="en-US" dirty="0"/>
              <a:t>continue…</a:t>
            </a:r>
          </a:p>
          <a:p>
            <a:pPr algn="just"/>
            <a:r>
              <a:rPr lang="en-US" sz="2400" dirty="0"/>
              <a:t>It is often useful to be able to convert between strings and arrays. </a:t>
            </a:r>
          </a:p>
          <a:p>
            <a:pPr algn="just"/>
            <a:r>
              <a:rPr lang="en-US" sz="2400" dirty="0"/>
              <a:t>These conversions can be done with the </a:t>
            </a:r>
            <a:r>
              <a:rPr lang="en-US" sz="2400" dirty="0">
                <a:solidFill>
                  <a:srgbClr val="FF0000"/>
                </a:solidFill>
              </a:rPr>
              <a:t>implode</a:t>
            </a:r>
            <a:r>
              <a:rPr lang="en-US" sz="2400" dirty="0"/>
              <a:t> and </a:t>
            </a:r>
            <a:r>
              <a:rPr lang="en-US" sz="2400" dirty="0">
                <a:solidFill>
                  <a:srgbClr val="FF0000"/>
                </a:solidFill>
              </a:rPr>
              <a:t>explode</a:t>
            </a:r>
            <a:r>
              <a:rPr lang="en-US" sz="2400" dirty="0"/>
              <a:t> functions. </a:t>
            </a:r>
          </a:p>
          <a:p>
            <a:pPr algn="just"/>
            <a:r>
              <a:rPr lang="en-US" sz="2400" dirty="0"/>
              <a:t>The explode function explodes a string into substrings and returns them in an array. </a:t>
            </a:r>
          </a:p>
          <a:p>
            <a:pPr algn="just"/>
            <a:r>
              <a:rPr lang="en-US" sz="2400" dirty="0"/>
              <a:t>The </a:t>
            </a:r>
            <a:r>
              <a:rPr lang="en-US" sz="2400" dirty="0">
                <a:solidFill>
                  <a:srgbClr val="00B0F0"/>
                </a:solidFill>
              </a:rPr>
              <a:t>delimiters</a:t>
            </a:r>
            <a:r>
              <a:rPr lang="en-US" sz="2400" dirty="0"/>
              <a:t> of the substrings are defined by the </a:t>
            </a:r>
            <a:r>
              <a:rPr lang="en-US" sz="2400" dirty="0">
                <a:solidFill>
                  <a:srgbClr val="00B0F0"/>
                </a:solidFill>
              </a:rPr>
              <a:t>first parameter </a:t>
            </a:r>
            <a:r>
              <a:rPr lang="en-US" sz="2400" dirty="0"/>
              <a:t>of explode, which is a string; the </a:t>
            </a:r>
            <a:r>
              <a:rPr lang="en-US" sz="2400" dirty="0">
                <a:solidFill>
                  <a:srgbClr val="00B0F0"/>
                </a:solidFill>
              </a:rPr>
              <a:t>second parameter </a:t>
            </a:r>
            <a:r>
              <a:rPr lang="en-US" sz="2400" dirty="0"/>
              <a:t>is the </a:t>
            </a:r>
            <a:r>
              <a:rPr lang="en-US" sz="2400" dirty="0">
                <a:solidFill>
                  <a:srgbClr val="00B0F0"/>
                </a:solidFill>
              </a:rPr>
              <a:t>string to be converted</a:t>
            </a:r>
            <a:r>
              <a:rPr lang="en-US" sz="2400" dirty="0"/>
              <a:t>. </a:t>
            </a:r>
          </a:p>
          <a:p>
            <a:pPr marL="457200" lvl="1" indent="0" algn="just">
              <a:buNone/>
            </a:pPr>
            <a:r>
              <a:rPr lang="en-US" sz="2000" dirty="0">
                <a:solidFill>
                  <a:srgbClr val="FF0000"/>
                </a:solidFill>
              </a:rPr>
              <a:t>$str = "April in Paris, Texas is nice";</a:t>
            </a:r>
          </a:p>
          <a:p>
            <a:pPr marL="457200" lvl="1" indent="0" algn="just">
              <a:buNone/>
            </a:pPr>
            <a:r>
              <a:rPr lang="en-US" sz="2000" dirty="0">
                <a:solidFill>
                  <a:srgbClr val="FF0000"/>
                </a:solidFill>
              </a:rPr>
              <a:t> $words = explode(" ", $str);</a:t>
            </a:r>
          </a:p>
          <a:p>
            <a:pPr lvl="1" algn="just"/>
            <a:endParaRPr lang="en-US" sz="2000" dirty="0"/>
          </a:p>
          <a:p>
            <a:pPr algn="just"/>
            <a:r>
              <a:rPr lang="en-US" sz="2400" dirty="0"/>
              <a:t>The </a:t>
            </a:r>
            <a:r>
              <a:rPr lang="en-US" sz="2400" dirty="0">
                <a:solidFill>
                  <a:srgbClr val="FF0000"/>
                </a:solidFill>
              </a:rPr>
              <a:t>implode</a:t>
            </a:r>
            <a:r>
              <a:rPr lang="en-US" sz="2400" dirty="0"/>
              <a:t> function does the inverse of explode.</a:t>
            </a:r>
          </a:p>
          <a:p>
            <a:pPr marL="457200" lvl="1" indent="0" algn="just">
              <a:buNone/>
            </a:pPr>
            <a:r>
              <a:rPr lang="en-US" sz="2000" dirty="0"/>
              <a:t> </a:t>
            </a:r>
            <a:r>
              <a:rPr lang="en-US" sz="2000" dirty="0">
                <a:solidFill>
                  <a:srgbClr val="FF0000"/>
                </a:solidFill>
              </a:rPr>
              <a:t>$words = array("Are", "you", "lonesome", "tonight");</a:t>
            </a:r>
          </a:p>
          <a:p>
            <a:pPr marL="457200" lvl="1" indent="0" algn="just">
              <a:buNone/>
            </a:pPr>
            <a:r>
              <a:rPr lang="en-US" sz="2000" dirty="0">
                <a:solidFill>
                  <a:srgbClr val="FF0000"/>
                </a:solidFill>
              </a:rPr>
              <a:t> $str = implode(" ", $words);</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p:txBody>
      </p:sp>
    </p:spTree>
    <p:extLst>
      <p:ext uri="{BB962C8B-B14F-4D97-AF65-F5344CB8AC3E}">
        <p14:creationId xmlns:p14="http://schemas.microsoft.com/office/powerpoint/2010/main" val="18565475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D2ABC8-F101-93CA-F40C-AC32FD4028E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00F939D-AD61-0B52-A63E-0CD0EB6C3F47}"/>
              </a:ext>
            </a:extLst>
          </p:cNvPr>
          <p:cNvSpPr>
            <a:spLocks noGrp="1"/>
          </p:cNvSpPr>
          <p:nvPr>
            <p:ph idx="1"/>
          </p:nvPr>
        </p:nvSpPr>
        <p:spPr>
          <a:xfrm>
            <a:off x="838200" y="301658"/>
            <a:ext cx="10515600" cy="6259398"/>
          </a:xfrm>
        </p:spPr>
        <p:txBody>
          <a:bodyPr/>
          <a:lstStyle/>
          <a:p>
            <a:r>
              <a:rPr lang="en-US" dirty="0"/>
              <a:t>Continue…</a:t>
            </a:r>
          </a:p>
          <a:p>
            <a:pPr lvl="1" algn="just"/>
            <a:r>
              <a:rPr lang="en-US" sz="2000" dirty="0"/>
              <a:t>Internally, the elements of an array are stored in a linked list of cells, where each cell includes both the key and the value of the element. </a:t>
            </a:r>
          </a:p>
          <a:p>
            <a:pPr lvl="1" algn="just"/>
            <a:r>
              <a:rPr lang="en-US" sz="2000" dirty="0"/>
              <a:t>The cells themselves are stored in memory through a key-hashing function so that they are randomly distributed in a reserved block of storage. </a:t>
            </a:r>
          </a:p>
          <a:p>
            <a:pPr lvl="1" algn="just"/>
            <a:r>
              <a:rPr lang="en-US" sz="2000" dirty="0"/>
              <a:t>Accesses to elements through string keys are implemented through the hashing function. </a:t>
            </a:r>
          </a:p>
          <a:p>
            <a:pPr lvl="1" algn="just"/>
            <a:r>
              <a:rPr lang="en-US" sz="2000" dirty="0"/>
              <a:t>However, the elements all have links that connect them in the order in which they were created, allowing them to be accessed in that order if the keys are strings and in the order of their keys if the keys are numbers.</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p:txBody>
      </p:sp>
      <p:pic>
        <p:nvPicPr>
          <p:cNvPr id="4" name="Picture 3">
            <a:extLst>
              <a:ext uri="{FF2B5EF4-FFF2-40B4-BE49-F238E27FC236}">
                <a16:creationId xmlns:a16="http://schemas.microsoft.com/office/drawing/2014/main" id="{F64C329A-8F1B-C822-F159-18B4291E1B2A}"/>
              </a:ext>
            </a:extLst>
          </p:cNvPr>
          <p:cNvPicPr>
            <a:picLocks noChangeAspect="1"/>
          </p:cNvPicPr>
          <p:nvPr/>
        </p:nvPicPr>
        <p:blipFill>
          <a:blip r:embed="rId2"/>
          <a:stretch>
            <a:fillRect/>
          </a:stretch>
        </p:blipFill>
        <p:spPr>
          <a:xfrm>
            <a:off x="2578807" y="3429000"/>
            <a:ext cx="6506483" cy="3372321"/>
          </a:xfrm>
          <a:prstGeom prst="rect">
            <a:avLst/>
          </a:prstGeom>
        </p:spPr>
      </p:pic>
    </p:spTree>
    <p:extLst>
      <p:ext uri="{BB962C8B-B14F-4D97-AF65-F5344CB8AC3E}">
        <p14:creationId xmlns:p14="http://schemas.microsoft.com/office/powerpoint/2010/main" val="12266669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8E85CF-0091-C130-7F67-96AF64C2C51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A5D286A-6DF0-C3CD-2B79-B128B3739A64}"/>
              </a:ext>
            </a:extLst>
          </p:cNvPr>
          <p:cNvSpPr>
            <a:spLocks noGrp="1"/>
          </p:cNvSpPr>
          <p:nvPr>
            <p:ph idx="1"/>
          </p:nvPr>
        </p:nvSpPr>
        <p:spPr>
          <a:xfrm>
            <a:off x="838200" y="301658"/>
            <a:ext cx="10515600" cy="6259398"/>
          </a:xfrm>
        </p:spPr>
        <p:txBody>
          <a:bodyPr/>
          <a:lstStyle/>
          <a:p>
            <a:pPr marL="0" indent="0">
              <a:buNone/>
            </a:pPr>
            <a:r>
              <a:rPr lang="en-US" sz="2400" b="1" dirty="0"/>
              <a:t>7.4 Sequential Access to Array Elements</a:t>
            </a:r>
          </a:p>
          <a:p>
            <a:pPr algn="just"/>
            <a:r>
              <a:rPr lang="en-US" sz="2400" dirty="0"/>
              <a:t>PHP includes several different ways to access array elements in sequential order. </a:t>
            </a:r>
          </a:p>
          <a:p>
            <a:pPr algn="just"/>
            <a:r>
              <a:rPr lang="en-US" sz="2400" dirty="0"/>
              <a:t>Every array has an internal pointer that references one element of the array. </a:t>
            </a:r>
          </a:p>
          <a:p>
            <a:pPr algn="just"/>
            <a:r>
              <a:rPr lang="en-US" sz="2400" dirty="0"/>
              <a:t>We call this the “</a:t>
            </a:r>
            <a:r>
              <a:rPr lang="en-US" sz="2400" dirty="0">
                <a:solidFill>
                  <a:srgbClr val="FF0000"/>
                </a:solidFill>
              </a:rPr>
              <a:t>current</a:t>
            </a:r>
            <a:r>
              <a:rPr lang="en-US" sz="2400" dirty="0"/>
              <a:t>” pointer. This pointer is initialized to reference the first element of the array at the time the array is created. </a:t>
            </a:r>
          </a:p>
          <a:p>
            <a:pPr algn="just"/>
            <a:r>
              <a:rPr lang="en-US" sz="2400" dirty="0"/>
              <a:t>The element being referenced by the pointer can be obtained with the </a:t>
            </a:r>
            <a:r>
              <a:rPr lang="en-US" sz="2400" dirty="0">
                <a:solidFill>
                  <a:srgbClr val="FF0000"/>
                </a:solidFill>
              </a:rPr>
              <a:t>current</a:t>
            </a:r>
            <a:r>
              <a:rPr lang="en-US" sz="2400" dirty="0"/>
              <a:t> </a:t>
            </a:r>
            <a:r>
              <a:rPr lang="en-US" sz="2400" dirty="0">
                <a:solidFill>
                  <a:srgbClr val="FF0000"/>
                </a:solidFill>
              </a:rPr>
              <a:t>function</a:t>
            </a:r>
            <a:r>
              <a:rPr lang="en-US" sz="2400" dirty="0"/>
              <a:t>.</a:t>
            </a:r>
          </a:p>
          <a:p>
            <a:pPr marL="457200" lvl="1" indent="0" algn="just">
              <a:buNone/>
            </a:pPr>
            <a:r>
              <a:rPr lang="en-US" sz="2000" dirty="0">
                <a:solidFill>
                  <a:srgbClr val="00B0F0"/>
                </a:solidFill>
              </a:rPr>
              <a:t>$cities = array("Hoboken", "Chicago", "Moab", "Atlantis");</a:t>
            </a:r>
          </a:p>
          <a:p>
            <a:pPr marL="457200" lvl="1" indent="0" algn="just">
              <a:buNone/>
            </a:pPr>
            <a:r>
              <a:rPr lang="en-US" sz="2000" dirty="0">
                <a:solidFill>
                  <a:srgbClr val="00B0F0"/>
                </a:solidFill>
              </a:rPr>
              <a:t>$city = current($cities);</a:t>
            </a:r>
          </a:p>
          <a:p>
            <a:pPr marL="457200" lvl="1" indent="0" algn="just">
              <a:buNone/>
            </a:pPr>
            <a:r>
              <a:rPr lang="en-US" sz="2000" dirty="0">
                <a:solidFill>
                  <a:srgbClr val="00B0F0"/>
                </a:solidFill>
              </a:rPr>
              <a:t>print("The first city is $city &lt;</a:t>
            </a:r>
            <a:r>
              <a:rPr lang="en-US" sz="2000" dirty="0" err="1">
                <a:solidFill>
                  <a:srgbClr val="00B0F0"/>
                </a:solidFill>
              </a:rPr>
              <a:t>br</a:t>
            </a:r>
            <a:r>
              <a:rPr lang="en-US" sz="2000" dirty="0">
                <a:solidFill>
                  <a:srgbClr val="00B0F0"/>
                </a:solidFill>
              </a:rPr>
              <a:t> /&gt;");</a:t>
            </a:r>
          </a:p>
          <a:p>
            <a:pPr algn="just"/>
            <a:r>
              <a:rPr lang="en-US" sz="2400" dirty="0"/>
              <a:t>The “current” pointer can be moved with the </a:t>
            </a:r>
            <a:r>
              <a:rPr lang="en-US" sz="2400" dirty="0">
                <a:solidFill>
                  <a:srgbClr val="FF0000"/>
                </a:solidFill>
              </a:rPr>
              <a:t>next</a:t>
            </a:r>
            <a:r>
              <a:rPr lang="en-US" sz="2400" dirty="0"/>
              <a:t> function</a:t>
            </a:r>
          </a:p>
          <a:p>
            <a:pPr marL="457200" lvl="1" indent="0" algn="just">
              <a:buNone/>
            </a:pPr>
            <a:r>
              <a:rPr lang="en-US" sz="2000" dirty="0">
                <a:solidFill>
                  <a:srgbClr val="0070C0"/>
                </a:solidFill>
              </a:rPr>
              <a:t>$city = current($cities);</a:t>
            </a:r>
          </a:p>
          <a:p>
            <a:pPr marL="457200" lvl="1" indent="0" algn="just">
              <a:buNone/>
            </a:pPr>
            <a:r>
              <a:rPr lang="en-US" sz="2000" dirty="0">
                <a:solidFill>
                  <a:srgbClr val="0070C0"/>
                </a:solidFill>
              </a:rPr>
              <a:t>print("$city &lt;</a:t>
            </a:r>
            <a:r>
              <a:rPr lang="en-US" sz="2000" dirty="0" err="1">
                <a:solidFill>
                  <a:srgbClr val="0070C0"/>
                </a:solidFill>
              </a:rPr>
              <a:t>br</a:t>
            </a:r>
            <a:r>
              <a:rPr lang="en-US" sz="2000" dirty="0">
                <a:solidFill>
                  <a:srgbClr val="0070C0"/>
                </a:solidFill>
              </a:rPr>
              <a:t> /&gt;");</a:t>
            </a:r>
          </a:p>
          <a:p>
            <a:pPr marL="457200" lvl="1" indent="0" algn="just">
              <a:buNone/>
            </a:pPr>
            <a:r>
              <a:rPr lang="en-US" sz="2000" dirty="0">
                <a:solidFill>
                  <a:srgbClr val="0070C0"/>
                </a:solidFill>
              </a:rPr>
              <a:t>while ($city = next($cities))</a:t>
            </a:r>
          </a:p>
          <a:p>
            <a:pPr marL="457200" lvl="1" indent="0" algn="just">
              <a:buNone/>
            </a:pPr>
            <a:r>
              <a:rPr lang="en-US" sz="2000" dirty="0">
                <a:solidFill>
                  <a:srgbClr val="0070C0"/>
                </a:solidFill>
              </a:rPr>
              <a:t>print("$city &lt;</a:t>
            </a:r>
            <a:r>
              <a:rPr lang="en-US" sz="2000" dirty="0" err="1">
                <a:solidFill>
                  <a:srgbClr val="0070C0"/>
                </a:solidFill>
              </a:rPr>
              <a:t>br</a:t>
            </a:r>
            <a:r>
              <a:rPr lang="en-US" sz="2000" dirty="0">
                <a:solidFill>
                  <a:srgbClr val="0070C0"/>
                </a:solidFill>
              </a:rPr>
              <a:t> /&gt;");</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p:txBody>
      </p:sp>
    </p:spTree>
    <p:extLst>
      <p:ext uri="{BB962C8B-B14F-4D97-AF65-F5344CB8AC3E}">
        <p14:creationId xmlns:p14="http://schemas.microsoft.com/office/powerpoint/2010/main" val="12828902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C51BFB-A321-BB3C-3D53-7A6D1C4D86E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B10EF86-217C-3275-3976-B6291B55649C}"/>
              </a:ext>
            </a:extLst>
          </p:cNvPr>
          <p:cNvSpPr>
            <a:spLocks noGrp="1"/>
          </p:cNvSpPr>
          <p:nvPr>
            <p:ph idx="1"/>
          </p:nvPr>
        </p:nvSpPr>
        <p:spPr>
          <a:xfrm>
            <a:off x="838200" y="301658"/>
            <a:ext cx="10515600" cy="6259398"/>
          </a:xfrm>
        </p:spPr>
        <p:txBody>
          <a:bodyPr>
            <a:normAutofit fontScale="92500"/>
          </a:bodyPr>
          <a:lstStyle/>
          <a:p>
            <a:r>
              <a:rPr lang="en-US" dirty="0"/>
              <a:t>continue…</a:t>
            </a:r>
          </a:p>
          <a:p>
            <a:pPr algn="just"/>
            <a:r>
              <a:rPr lang="en-US" sz="2400" dirty="0"/>
              <a:t>The </a:t>
            </a:r>
            <a:r>
              <a:rPr lang="en-US" sz="2400" dirty="0">
                <a:solidFill>
                  <a:srgbClr val="FF0000"/>
                </a:solidFill>
              </a:rPr>
              <a:t>each</a:t>
            </a:r>
            <a:r>
              <a:rPr lang="en-US" sz="2400" dirty="0"/>
              <a:t> </a:t>
            </a:r>
            <a:r>
              <a:rPr lang="en-US" sz="2400" dirty="0">
                <a:solidFill>
                  <a:srgbClr val="FF0000"/>
                </a:solidFill>
              </a:rPr>
              <a:t>function</a:t>
            </a:r>
            <a:r>
              <a:rPr lang="en-US" sz="2400" dirty="0"/>
              <a:t>, which returns a two-element array consisting of the key and the value of the “current” element</a:t>
            </a:r>
          </a:p>
          <a:p>
            <a:pPr algn="just"/>
            <a:r>
              <a:rPr lang="en-US" sz="2400" dirty="0"/>
              <a:t>It returns FALSE only if the “current” pointer has gone past the last element of the array.</a:t>
            </a:r>
          </a:p>
          <a:p>
            <a:pPr algn="just"/>
            <a:r>
              <a:rPr lang="en-IN" sz="2400" dirty="0"/>
              <a:t>The keys </a:t>
            </a:r>
            <a:r>
              <a:rPr lang="en-US" sz="2400" dirty="0"/>
              <a:t>of the two elements of the return value from each are the strings "key" and "value".</a:t>
            </a:r>
          </a:p>
          <a:p>
            <a:pPr marL="914400" lvl="2" indent="0" algn="just">
              <a:buNone/>
            </a:pPr>
            <a:endParaRPr lang="en-US" dirty="0"/>
          </a:p>
          <a:p>
            <a:pPr marL="914400" lvl="2" indent="0" algn="just">
              <a:buNone/>
            </a:pPr>
            <a:r>
              <a:rPr lang="en-US" dirty="0"/>
              <a:t>$salaries = array("Mike" =&gt; 42500, "Jerry" =&gt; 51250,  "Fred" =&gt; 37920);</a:t>
            </a:r>
          </a:p>
          <a:p>
            <a:pPr marL="914400" lvl="2" indent="0" algn="just">
              <a:buNone/>
            </a:pPr>
            <a:r>
              <a:rPr lang="en-US" dirty="0"/>
              <a:t>while ($employee = each($salaries)) {</a:t>
            </a:r>
          </a:p>
          <a:p>
            <a:pPr marL="914400" lvl="2" indent="0" algn="just">
              <a:buNone/>
            </a:pPr>
            <a:r>
              <a:rPr lang="en-US" dirty="0"/>
              <a:t>	$name = $employee["key"];</a:t>
            </a:r>
          </a:p>
          <a:p>
            <a:pPr marL="914400" lvl="2" indent="0" algn="just">
              <a:buNone/>
            </a:pPr>
            <a:r>
              <a:rPr lang="en-US" dirty="0"/>
              <a:t>	$salary = $employee["value"];</a:t>
            </a:r>
          </a:p>
          <a:p>
            <a:pPr marL="914400" lvl="2" indent="0" algn="just">
              <a:buNone/>
            </a:pPr>
            <a:r>
              <a:rPr lang="en-US" dirty="0"/>
              <a:t>print("The salary of $name is $salary &lt;</a:t>
            </a:r>
            <a:r>
              <a:rPr lang="en-US" dirty="0" err="1"/>
              <a:t>br</a:t>
            </a:r>
            <a:r>
              <a:rPr lang="en-US" dirty="0"/>
              <a:t> /&gt;");</a:t>
            </a:r>
          </a:p>
          <a:p>
            <a:pPr marL="914400" lvl="2" indent="0" algn="just">
              <a:buNone/>
            </a:pPr>
            <a:r>
              <a:rPr lang="en-US" dirty="0"/>
              <a:t>}</a:t>
            </a:r>
          </a:p>
          <a:p>
            <a:pPr algn="just"/>
            <a:r>
              <a:rPr lang="en-US" sz="2400" dirty="0"/>
              <a:t>The “current” pointer can be moved backward (i.e., to the element before the “current” element) with the </a:t>
            </a:r>
            <a:r>
              <a:rPr lang="en-US" sz="2400" dirty="0" err="1">
                <a:solidFill>
                  <a:srgbClr val="FF0000"/>
                </a:solidFill>
              </a:rPr>
              <a:t>prev</a:t>
            </a:r>
            <a:r>
              <a:rPr lang="en-US" sz="2400" dirty="0"/>
              <a:t> </a:t>
            </a:r>
            <a:r>
              <a:rPr lang="en-US" sz="2400" dirty="0">
                <a:solidFill>
                  <a:srgbClr val="FF0000"/>
                </a:solidFill>
              </a:rPr>
              <a:t>function</a:t>
            </a:r>
            <a:r>
              <a:rPr lang="en-US" sz="2400" dirty="0"/>
              <a:t>.</a:t>
            </a:r>
          </a:p>
          <a:p>
            <a:pPr algn="just"/>
            <a:r>
              <a:rPr lang="en-US" sz="2400" dirty="0"/>
              <a:t>The “current” pointer can be set to the first element with the </a:t>
            </a:r>
            <a:r>
              <a:rPr lang="en-US" sz="2400" dirty="0">
                <a:solidFill>
                  <a:srgbClr val="FF0000"/>
                </a:solidFill>
              </a:rPr>
              <a:t>reset</a:t>
            </a:r>
            <a:r>
              <a:rPr lang="en-US" sz="2400" dirty="0"/>
              <a:t> </a:t>
            </a:r>
            <a:r>
              <a:rPr lang="en-US" sz="2400" dirty="0">
                <a:solidFill>
                  <a:srgbClr val="FF0000"/>
                </a:solidFill>
              </a:rPr>
              <a:t>function</a:t>
            </a:r>
          </a:p>
          <a:p>
            <a:pPr algn="just"/>
            <a:r>
              <a:rPr lang="en-US" sz="2400" dirty="0"/>
              <a:t>It can be set to the last element of the array with the </a:t>
            </a:r>
            <a:r>
              <a:rPr lang="en-US" sz="2400" dirty="0">
                <a:solidFill>
                  <a:srgbClr val="FF0000"/>
                </a:solidFill>
              </a:rPr>
              <a:t>end</a:t>
            </a:r>
            <a:r>
              <a:rPr lang="en-US" sz="2400" dirty="0"/>
              <a:t> </a:t>
            </a:r>
            <a:r>
              <a:rPr lang="en-US" sz="2400" dirty="0">
                <a:solidFill>
                  <a:srgbClr val="FF0000"/>
                </a:solidFill>
              </a:rPr>
              <a:t>function</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p:txBody>
      </p:sp>
    </p:spTree>
    <p:extLst>
      <p:ext uri="{BB962C8B-B14F-4D97-AF65-F5344CB8AC3E}">
        <p14:creationId xmlns:p14="http://schemas.microsoft.com/office/powerpoint/2010/main" val="18918798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97C4B9-2657-42D4-9C54-353858950FD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D07E507-2B88-CC44-0290-64AD243DFCA4}"/>
              </a:ext>
            </a:extLst>
          </p:cNvPr>
          <p:cNvSpPr>
            <a:spLocks noGrp="1"/>
          </p:cNvSpPr>
          <p:nvPr>
            <p:ph idx="1"/>
          </p:nvPr>
        </p:nvSpPr>
        <p:spPr>
          <a:xfrm>
            <a:off x="838200" y="301658"/>
            <a:ext cx="10515600" cy="6259398"/>
          </a:xfrm>
        </p:spPr>
        <p:txBody>
          <a:bodyPr/>
          <a:lstStyle/>
          <a:p>
            <a:r>
              <a:rPr lang="en-US" dirty="0"/>
              <a:t>continue...</a:t>
            </a:r>
          </a:p>
          <a:p>
            <a:pPr algn="just"/>
            <a:r>
              <a:rPr lang="en-US" sz="2400" dirty="0"/>
              <a:t>The </a:t>
            </a:r>
            <a:r>
              <a:rPr lang="en-US" sz="2400" dirty="0">
                <a:solidFill>
                  <a:srgbClr val="FF0000"/>
                </a:solidFill>
              </a:rPr>
              <a:t>key</a:t>
            </a:r>
            <a:r>
              <a:rPr lang="en-US" sz="2400" dirty="0"/>
              <a:t> </a:t>
            </a:r>
            <a:r>
              <a:rPr lang="en-US" sz="2400" dirty="0">
                <a:solidFill>
                  <a:srgbClr val="FF0000"/>
                </a:solidFill>
              </a:rPr>
              <a:t>function</a:t>
            </a:r>
            <a:r>
              <a:rPr lang="en-US" sz="2400" dirty="0"/>
              <a:t>, when given the name of an array, returns the key of the “current” element of the array</a:t>
            </a:r>
          </a:p>
          <a:p>
            <a:pPr algn="just"/>
            <a:r>
              <a:rPr lang="en-US" sz="2400" dirty="0"/>
              <a:t>The </a:t>
            </a:r>
            <a:r>
              <a:rPr lang="en-US" sz="2400" dirty="0" err="1">
                <a:solidFill>
                  <a:srgbClr val="FF0000"/>
                </a:solidFill>
              </a:rPr>
              <a:t>array_push</a:t>
            </a:r>
            <a:r>
              <a:rPr lang="en-US" sz="2400" dirty="0">
                <a:solidFill>
                  <a:srgbClr val="FF0000"/>
                </a:solidFill>
              </a:rPr>
              <a:t> </a:t>
            </a:r>
            <a:r>
              <a:rPr lang="en-US" sz="2400" dirty="0"/>
              <a:t>and </a:t>
            </a:r>
            <a:r>
              <a:rPr lang="en-US" sz="2400" dirty="0" err="1">
                <a:solidFill>
                  <a:srgbClr val="FF0000"/>
                </a:solidFill>
              </a:rPr>
              <a:t>array_pop</a:t>
            </a:r>
            <a:r>
              <a:rPr lang="en-US" sz="2400" dirty="0">
                <a:solidFill>
                  <a:srgbClr val="FF0000"/>
                </a:solidFill>
              </a:rPr>
              <a:t> </a:t>
            </a:r>
            <a:r>
              <a:rPr lang="en-US" sz="2400" dirty="0"/>
              <a:t>functions provide a simple way to implement a stack in an array.</a:t>
            </a:r>
          </a:p>
          <a:p>
            <a:pPr algn="just"/>
            <a:r>
              <a:rPr lang="en-US" sz="2400" dirty="0"/>
              <a:t>The </a:t>
            </a:r>
            <a:r>
              <a:rPr lang="en-US" sz="2400" dirty="0">
                <a:solidFill>
                  <a:srgbClr val="FF0000"/>
                </a:solidFill>
              </a:rPr>
              <a:t>foreach</a:t>
            </a:r>
            <a:r>
              <a:rPr lang="en-US" sz="2400" dirty="0"/>
              <a:t> statement is designed to build loops that process all of the elements of an array.</a:t>
            </a:r>
          </a:p>
          <a:p>
            <a:pPr lvl="1" algn="just"/>
            <a:r>
              <a:rPr lang="en-US" sz="2000" dirty="0"/>
              <a:t>foreach (array as </a:t>
            </a:r>
            <a:r>
              <a:rPr lang="en-US" sz="2000" dirty="0" err="1"/>
              <a:t>scalar_variable</a:t>
            </a:r>
            <a:r>
              <a:rPr lang="en-US" sz="2000" dirty="0"/>
              <a:t>) loop body</a:t>
            </a:r>
          </a:p>
          <a:p>
            <a:pPr lvl="1" algn="just"/>
            <a:r>
              <a:rPr lang="en-US" sz="2000" dirty="0"/>
              <a:t>foreach (array as key =&gt; value) loop body</a:t>
            </a:r>
          </a:p>
          <a:p>
            <a:pPr algn="just"/>
            <a:r>
              <a:rPr lang="en-US" sz="2400" dirty="0"/>
              <a:t>Example</a:t>
            </a:r>
          </a:p>
          <a:p>
            <a:pPr lvl="1" algn="just"/>
            <a:r>
              <a:rPr lang="en-US" sz="2000" dirty="0"/>
              <a:t> foreach ($list as $temp) </a:t>
            </a:r>
          </a:p>
          <a:p>
            <a:pPr lvl="1" algn="just"/>
            <a:r>
              <a:rPr lang="en-US" sz="2000" dirty="0"/>
              <a:t> print("$temp &lt;</a:t>
            </a:r>
            <a:r>
              <a:rPr lang="en-US" sz="2000" dirty="0" err="1"/>
              <a:t>br</a:t>
            </a:r>
            <a:r>
              <a:rPr lang="en-US" sz="2000" dirty="0"/>
              <a:t> /&gt;");</a:t>
            </a:r>
          </a:p>
          <a:p>
            <a:pPr algn="just"/>
            <a:r>
              <a:rPr lang="en-US" sz="2400" dirty="0"/>
              <a:t>When interpreted, these statements produce the values of all of the elements of $list.</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p:txBody>
      </p:sp>
    </p:spTree>
    <p:extLst>
      <p:ext uri="{BB962C8B-B14F-4D97-AF65-F5344CB8AC3E}">
        <p14:creationId xmlns:p14="http://schemas.microsoft.com/office/powerpoint/2010/main" val="295950719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F1758D-AAD1-B0A2-BFEE-874EF8F07B4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4CE4802-8F4A-E0F0-1E01-C9E65CABC7C6}"/>
              </a:ext>
            </a:extLst>
          </p:cNvPr>
          <p:cNvSpPr>
            <a:spLocks noGrp="1"/>
          </p:cNvSpPr>
          <p:nvPr>
            <p:ph idx="1"/>
          </p:nvPr>
        </p:nvSpPr>
        <p:spPr>
          <a:xfrm>
            <a:off x="838200" y="301658"/>
            <a:ext cx="10515600" cy="6259398"/>
          </a:xfrm>
        </p:spPr>
        <p:txBody>
          <a:bodyPr/>
          <a:lstStyle/>
          <a:p>
            <a:r>
              <a:rPr lang="en-US" dirty="0"/>
              <a:t>continue…</a:t>
            </a:r>
          </a:p>
          <a:p>
            <a:pPr algn="just"/>
            <a:r>
              <a:rPr lang="en-US" sz="2400" dirty="0"/>
              <a:t>The second form of foreach provides both the key and the value of each element of the array</a:t>
            </a:r>
          </a:p>
          <a:p>
            <a:pPr lvl="1" algn="just"/>
            <a:r>
              <a:rPr lang="en-US" sz="2000" dirty="0"/>
              <a:t> $lows = array("Mon" =&gt; 23, "Tue" =&gt; 18, "Wed" =&gt; 27);</a:t>
            </a:r>
          </a:p>
          <a:p>
            <a:pPr lvl="1" algn="just"/>
            <a:r>
              <a:rPr lang="en-US" sz="2000" dirty="0"/>
              <a:t> foreach ($lows as $day =&gt; $temp)</a:t>
            </a:r>
          </a:p>
          <a:p>
            <a:pPr lvl="1" algn="just"/>
            <a:r>
              <a:rPr lang="en-US" sz="2000" dirty="0"/>
              <a:t> print("The low temperature on $day was $temp &lt;</a:t>
            </a:r>
            <a:r>
              <a:rPr lang="en-US" sz="2000" dirty="0" err="1"/>
              <a:t>br</a:t>
            </a:r>
            <a:r>
              <a:rPr lang="en-US" sz="2000" dirty="0"/>
              <a:t> /&gt;");</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p:txBody>
      </p:sp>
    </p:spTree>
    <p:extLst>
      <p:ext uri="{BB962C8B-B14F-4D97-AF65-F5344CB8AC3E}">
        <p14:creationId xmlns:p14="http://schemas.microsoft.com/office/powerpoint/2010/main" val="26286536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0415C-EF00-0B7D-9304-299291140D4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BCF129E-C81F-8F31-E606-EA249AACAAF8}"/>
              </a:ext>
            </a:extLst>
          </p:cNvPr>
          <p:cNvSpPr>
            <a:spLocks noGrp="1"/>
          </p:cNvSpPr>
          <p:nvPr>
            <p:ph idx="1"/>
          </p:nvPr>
        </p:nvSpPr>
        <p:spPr>
          <a:xfrm>
            <a:off x="838200" y="301658"/>
            <a:ext cx="10515600" cy="6259398"/>
          </a:xfrm>
        </p:spPr>
        <p:txBody>
          <a:bodyPr/>
          <a:lstStyle/>
          <a:p>
            <a:pPr marL="0" indent="0">
              <a:buNone/>
            </a:pPr>
            <a:r>
              <a:rPr lang="en-IN" b="1" dirty="0"/>
              <a:t>7.5 Sorting Arrays</a:t>
            </a:r>
            <a:endParaRPr lang="en-US" b="1" dirty="0"/>
          </a:p>
          <a:p>
            <a:pPr algn="just"/>
            <a:r>
              <a:rPr lang="en-US" sz="2400" dirty="0"/>
              <a:t>The </a:t>
            </a:r>
            <a:r>
              <a:rPr lang="en-US" sz="2400" dirty="0">
                <a:solidFill>
                  <a:srgbClr val="FF0000"/>
                </a:solidFill>
              </a:rPr>
              <a:t>sort function</a:t>
            </a:r>
            <a:r>
              <a:rPr lang="en-US" sz="2400" dirty="0"/>
              <a:t>, which takes an array as a parameter, sorts the values in the array, replacing the keys with the numeric keys, 0, 1, 2, .... </a:t>
            </a:r>
          </a:p>
          <a:p>
            <a:pPr algn="just"/>
            <a:r>
              <a:rPr lang="en-US" sz="2400" dirty="0"/>
              <a:t>The array can have both string and numeric values.</a:t>
            </a:r>
          </a:p>
          <a:p>
            <a:pPr algn="just"/>
            <a:r>
              <a:rPr lang="en-US" sz="2400" dirty="0"/>
              <a:t>Regardless of the types of the keys in the original array, the sorted array has 0, 1, 2, and so forth as keys.</a:t>
            </a:r>
          </a:p>
          <a:p>
            <a:pPr algn="just"/>
            <a:r>
              <a:rPr lang="en-US" sz="2400" dirty="0"/>
              <a:t>The </a:t>
            </a:r>
            <a:r>
              <a:rPr lang="en-US" sz="2400" dirty="0" err="1">
                <a:solidFill>
                  <a:srgbClr val="FF0000"/>
                </a:solidFill>
              </a:rPr>
              <a:t>asort</a:t>
            </a:r>
            <a:r>
              <a:rPr lang="en-US" sz="2400" dirty="0"/>
              <a:t> </a:t>
            </a:r>
            <a:r>
              <a:rPr lang="en-US" sz="2400" dirty="0">
                <a:solidFill>
                  <a:srgbClr val="FF0000"/>
                </a:solidFill>
              </a:rPr>
              <a:t>function</a:t>
            </a:r>
            <a:r>
              <a:rPr lang="en-US" sz="2400" dirty="0"/>
              <a:t> is used to sort arrays that correspond to hashes. It sorts the elements of a given array by their values, but keeps the original key–value associations.</a:t>
            </a:r>
          </a:p>
          <a:p>
            <a:pPr algn="just"/>
            <a:r>
              <a:rPr lang="en-US" sz="2400" dirty="0"/>
              <a:t>The </a:t>
            </a:r>
            <a:r>
              <a:rPr lang="en-US" sz="2400" dirty="0" err="1">
                <a:solidFill>
                  <a:srgbClr val="FF0000"/>
                </a:solidFill>
              </a:rPr>
              <a:t>ksort</a:t>
            </a:r>
            <a:r>
              <a:rPr lang="en-US" sz="2400" dirty="0">
                <a:solidFill>
                  <a:srgbClr val="FF0000"/>
                </a:solidFill>
              </a:rPr>
              <a:t> function </a:t>
            </a:r>
            <a:r>
              <a:rPr lang="en-US" sz="2400" dirty="0"/>
              <a:t>sorts its given array by keys, rather than values. The key–value associations are maintained by the process.</a:t>
            </a:r>
          </a:p>
          <a:p>
            <a:pPr algn="just"/>
            <a:r>
              <a:rPr lang="en-US" sz="2400" dirty="0"/>
              <a:t>The </a:t>
            </a:r>
            <a:r>
              <a:rPr lang="en-US" sz="2400" dirty="0" err="1">
                <a:solidFill>
                  <a:srgbClr val="FF0000"/>
                </a:solidFill>
              </a:rPr>
              <a:t>rsort</a:t>
            </a:r>
            <a:r>
              <a:rPr lang="en-US" sz="2400" dirty="0"/>
              <a:t>, </a:t>
            </a:r>
            <a:r>
              <a:rPr lang="en-US" sz="2400" dirty="0" err="1">
                <a:solidFill>
                  <a:srgbClr val="FF0000"/>
                </a:solidFill>
              </a:rPr>
              <a:t>arsort</a:t>
            </a:r>
            <a:r>
              <a:rPr lang="en-US" sz="2400" dirty="0"/>
              <a:t>, and </a:t>
            </a:r>
            <a:r>
              <a:rPr lang="en-US" sz="2400" dirty="0" err="1">
                <a:solidFill>
                  <a:srgbClr val="FF0000"/>
                </a:solidFill>
              </a:rPr>
              <a:t>krsort</a:t>
            </a:r>
            <a:r>
              <a:rPr lang="en-US" sz="2400" dirty="0"/>
              <a:t> functions behave like the sort, </a:t>
            </a:r>
            <a:r>
              <a:rPr lang="en-US" sz="2400" dirty="0" err="1"/>
              <a:t>asort</a:t>
            </a:r>
            <a:r>
              <a:rPr lang="en-US" sz="2400" dirty="0"/>
              <a:t>, and </a:t>
            </a:r>
            <a:r>
              <a:rPr lang="en-US" sz="2400" dirty="0" err="1"/>
              <a:t>ksort</a:t>
            </a:r>
            <a:r>
              <a:rPr lang="en-US" sz="2400" dirty="0"/>
              <a:t> functions, respectively, except that they sort into the </a:t>
            </a:r>
            <a:r>
              <a:rPr lang="en-US" sz="2400" dirty="0">
                <a:solidFill>
                  <a:srgbClr val="FF0000"/>
                </a:solidFill>
              </a:rPr>
              <a:t>reverse orders </a:t>
            </a:r>
            <a:r>
              <a:rPr lang="en-US" sz="2400" dirty="0"/>
              <a:t>of their counterparts.</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p:txBody>
      </p:sp>
    </p:spTree>
    <p:extLst>
      <p:ext uri="{BB962C8B-B14F-4D97-AF65-F5344CB8AC3E}">
        <p14:creationId xmlns:p14="http://schemas.microsoft.com/office/powerpoint/2010/main" val="41753189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390690-F31B-FC6F-0878-C1B8CAF4FE6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85B4F18-252C-AD85-F6CD-B6379E8A5101}"/>
              </a:ext>
            </a:extLst>
          </p:cNvPr>
          <p:cNvSpPr>
            <a:spLocks noGrp="1"/>
          </p:cNvSpPr>
          <p:nvPr>
            <p:ph idx="1"/>
          </p:nvPr>
        </p:nvSpPr>
        <p:spPr>
          <a:xfrm>
            <a:off x="150829" y="301657"/>
            <a:ext cx="11557262" cy="6457361"/>
          </a:xfrm>
        </p:spPr>
        <p:txBody>
          <a:bodyPr>
            <a:normAutofit fontScale="62500" lnSpcReduction="20000"/>
          </a:bodyPr>
          <a:lstStyle/>
          <a:p>
            <a:pPr marL="457200" lvl="1" indent="0">
              <a:buNone/>
            </a:pPr>
            <a:r>
              <a:rPr lang="en-US" dirty="0"/>
              <a:t> &lt;!DOCTYPE html&gt;</a:t>
            </a:r>
          </a:p>
          <a:p>
            <a:pPr marL="457200" lvl="1" indent="0">
              <a:buNone/>
            </a:pPr>
            <a:r>
              <a:rPr lang="en-US" dirty="0"/>
              <a:t> &lt;!-- </a:t>
            </a:r>
            <a:r>
              <a:rPr lang="en-US" dirty="0" err="1"/>
              <a:t>sorting.php</a:t>
            </a:r>
            <a:r>
              <a:rPr lang="en-US" dirty="0"/>
              <a:t> - An example to illustrate several of the</a:t>
            </a:r>
          </a:p>
          <a:p>
            <a:pPr marL="457200" lvl="1" indent="0">
              <a:buNone/>
            </a:pPr>
            <a:r>
              <a:rPr lang="en-US" dirty="0"/>
              <a:t>     sorting functions --&gt;</a:t>
            </a:r>
          </a:p>
          <a:p>
            <a:pPr marL="457200" lvl="1" indent="0">
              <a:buNone/>
            </a:pPr>
            <a:r>
              <a:rPr lang="en-US" dirty="0"/>
              <a:t> &lt;html lang = "</a:t>
            </a:r>
            <a:r>
              <a:rPr lang="en-US" dirty="0" err="1"/>
              <a:t>en</a:t>
            </a:r>
            <a:r>
              <a:rPr lang="en-US" dirty="0"/>
              <a:t>"&gt;</a:t>
            </a:r>
          </a:p>
          <a:p>
            <a:pPr marL="457200" lvl="1" indent="0">
              <a:buNone/>
            </a:pPr>
            <a:r>
              <a:rPr lang="en-US" dirty="0"/>
              <a:t>  &lt;head&gt; </a:t>
            </a:r>
          </a:p>
          <a:p>
            <a:pPr marL="457200" lvl="1" indent="0">
              <a:buNone/>
            </a:pPr>
            <a:r>
              <a:rPr lang="en-US" dirty="0"/>
              <a:t>    &lt;title&gt; Sorting &lt;/title&gt;</a:t>
            </a:r>
          </a:p>
          <a:p>
            <a:pPr marL="457200" lvl="1" indent="0">
              <a:buNone/>
            </a:pPr>
            <a:r>
              <a:rPr lang="en-US" dirty="0"/>
              <a:t>    &lt;meta charset = "utf-8" /&gt;</a:t>
            </a:r>
          </a:p>
          <a:p>
            <a:pPr marL="457200" lvl="1" indent="0">
              <a:buNone/>
            </a:pPr>
            <a:r>
              <a:rPr lang="en-US" dirty="0"/>
              <a:t>  &lt;/head&gt;</a:t>
            </a:r>
          </a:p>
          <a:p>
            <a:pPr marL="457200" lvl="1" indent="0">
              <a:buNone/>
            </a:pPr>
            <a:r>
              <a:rPr lang="en-US" dirty="0"/>
              <a:t>  &lt;body&gt;</a:t>
            </a:r>
          </a:p>
          <a:p>
            <a:pPr marL="457200" lvl="1" indent="0">
              <a:buNone/>
            </a:pPr>
            <a:r>
              <a:rPr lang="en-US" dirty="0"/>
              <a:t>    &lt;?</a:t>
            </a:r>
            <a:r>
              <a:rPr lang="en-US" dirty="0" err="1"/>
              <a:t>php</a:t>
            </a:r>
            <a:endParaRPr lang="en-US" dirty="0"/>
          </a:p>
          <a:p>
            <a:pPr marL="457200" lvl="1" indent="0">
              <a:buNone/>
            </a:pPr>
            <a:r>
              <a:rPr lang="en-US" dirty="0"/>
              <a:t>      $original = array("Fred" =&gt; 31, "Al" =&gt; 27, "Gandalf" =&gt; "wizard",</a:t>
            </a:r>
            <a:r>
              <a:rPr lang="en-IN" dirty="0"/>
              <a:t> "Betty" =&gt; 42, "Frodo" =&gt; "hobbit");</a:t>
            </a:r>
            <a:endParaRPr lang="en-US" dirty="0"/>
          </a:p>
          <a:p>
            <a:pPr marL="457200" lvl="1" indent="0" algn="just">
              <a:buNone/>
            </a:pPr>
            <a:r>
              <a:rPr lang="en-US" dirty="0"/>
              <a:t>    ?&gt;</a:t>
            </a:r>
          </a:p>
          <a:p>
            <a:pPr marL="457200" lvl="1" indent="0" algn="just">
              <a:buNone/>
            </a:pPr>
            <a:endParaRPr lang="en-US" dirty="0"/>
          </a:p>
          <a:p>
            <a:pPr marL="457200" lvl="1" indent="0" algn="just">
              <a:buNone/>
            </a:pPr>
            <a:r>
              <a:rPr lang="en-US" dirty="0"/>
              <a:t>    &lt;h4&gt; Original Array &lt;/h4&gt;</a:t>
            </a:r>
          </a:p>
          <a:p>
            <a:pPr marL="457200" lvl="1" indent="0" algn="just">
              <a:buNone/>
            </a:pPr>
            <a:r>
              <a:rPr lang="en-US" dirty="0"/>
              <a:t>    &lt;?</a:t>
            </a:r>
            <a:r>
              <a:rPr lang="en-US" dirty="0" err="1"/>
              <a:t>php</a:t>
            </a:r>
            <a:endParaRPr lang="en-US" dirty="0"/>
          </a:p>
          <a:p>
            <a:pPr marL="457200" lvl="1" indent="0" algn="just">
              <a:buNone/>
            </a:pPr>
            <a:r>
              <a:rPr lang="en-US" dirty="0"/>
              <a:t>      foreach ($original as $key =&gt; $value)</a:t>
            </a:r>
          </a:p>
          <a:p>
            <a:pPr marL="457200" lvl="1" indent="0" algn="just">
              <a:buNone/>
            </a:pPr>
            <a:r>
              <a:rPr lang="en-US" dirty="0"/>
              <a:t>        print("[$key] =&gt; $value &lt;</a:t>
            </a:r>
            <a:r>
              <a:rPr lang="en-US" dirty="0" err="1"/>
              <a:t>br</a:t>
            </a:r>
            <a:r>
              <a:rPr lang="en-US" dirty="0"/>
              <a:t> /&gt;");</a:t>
            </a:r>
          </a:p>
          <a:p>
            <a:pPr marL="457200" lvl="1" indent="0" algn="just">
              <a:buNone/>
            </a:pPr>
            <a:r>
              <a:rPr lang="en-US" dirty="0"/>
              <a:t>      $new = $original;</a:t>
            </a:r>
          </a:p>
          <a:p>
            <a:pPr marL="457200" lvl="1" indent="0" algn="just">
              <a:buNone/>
            </a:pPr>
            <a:r>
              <a:rPr lang="en-US" dirty="0"/>
              <a:t>      sort($new);</a:t>
            </a:r>
          </a:p>
          <a:p>
            <a:pPr marL="457200" lvl="1" indent="0" algn="just">
              <a:buNone/>
            </a:pPr>
            <a:r>
              <a:rPr lang="en-US" dirty="0"/>
              <a:t>    ?&gt;</a:t>
            </a:r>
          </a:p>
          <a:p>
            <a:pPr marL="457200" lvl="1" indent="0" algn="just">
              <a:buNone/>
            </a:pPr>
            <a:endParaRPr lang="en-US" dirty="0"/>
          </a:p>
          <a:p>
            <a:pPr marL="457200" lvl="1" indent="0" algn="just">
              <a:buNone/>
            </a:pPr>
            <a:r>
              <a:rPr lang="en-US" dirty="0"/>
              <a:t>    &lt;h4&gt; Array sorted with sort &lt;/h4&gt;</a:t>
            </a:r>
          </a:p>
          <a:p>
            <a:pPr marL="457200" lvl="1" indent="0" algn="just">
              <a:buNone/>
            </a:pPr>
            <a:r>
              <a:rPr lang="en-US" dirty="0"/>
              <a:t>    &lt;?</a:t>
            </a:r>
            <a:r>
              <a:rPr lang="en-US" dirty="0" err="1"/>
              <a:t>php</a:t>
            </a:r>
            <a:endParaRPr lang="en-US" dirty="0"/>
          </a:p>
          <a:p>
            <a:pPr marL="457200" lvl="1" indent="0" algn="just">
              <a:buNone/>
            </a:pPr>
            <a:r>
              <a:rPr lang="en-US" dirty="0"/>
              <a:t>      foreach ($new as $key =&gt; $value)</a:t>
            </a:r>
          </a:p>
          <a:p>
            <a:pPr marL="457200" lvl="1" indent="0" algn="just">
              <a:buNone/>
            </a:pPr>
            <a:r>
              <a:rPr lang="en-US" dirty="0"/>
              <a:t>        print("[$key] = $value &lt;</a:t>
            </a:r>
            <a:r>
              <a:rPr lang="en-US" dirty="0" err="1"/>
              <a:t>br</a:t>
            </a:r>
            <a:r>
              <a:rPr lang="en-US" dirty="0"/>
              <a:t> /&gt;");</a:t>
            </a:r>
          </a:p>
          <a:p>
            <a:pPr marL="457200" lvl="1" indent="0" algn="just">
              <a:buNone/>
            </a:pPr>
            <a:r>
              <a:rPr lang="en-US" dirty="0"/>
              <a:t>      $new = $original;</a:t>
            </a:r>
          </a:p>
          <a:p>
            <a:pPr marL="457200" lvl="1" indent="0" algn="just">
              <a:buNone/>
            </a:pPr>
            <a:r>
              <a:rPr lang="en-US" dirty="0"/>
              <a:t>      </a:t>
            </a:r>
            <a:r>
              <a:rPr lang="en-US" dirty="0" err="1"/>
              <a:t>asort</a:t>
            </a:r>
            <a:r>
              <a:rPr lang="en-US" dirty="0"/>
              <a:t>($new);</a:t>
            </a:r>
          </a:p>
          <a:p>
            <a:pPr marL="457200" lvl="1" indent="0" algn="just">
              <a:buNone/>
            </a:pPr>
            <a:r>
              <a:rPr lang="en-US" dirty="0"/>
              <a:t>    ?&gt;</a:t>
            </a:r>
          </a:p>
        </p:txBody>
      </p:sp>
    </p:spTree>
    <p:extLst>
      <p:ext uri="{BB962C8B-B14F-4D97-AF65-F5344CB8AC3E}">
        <p14:creationId xmlns:p14="http://schemas.microsoft.com/office/powerpoint/2010/main" val="109448716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4FF59-4339-5B9A-4B52-7ADE4F34818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6F73B8-974C-2668-364A-2E547AB4211D}"/>
              </a:ext>
            </a:extLst>
          </p:cNvPr>
          <p:cNvSpPr>
            <a:spLocks noGrp="1"/>
          </p:cNvSpPr>
          <p:nvPr>
            <p:ph idx="1"/>
          </p:nvPr>
        </p:nvSpPr>
        <p:spPr>
          <a:xfrm>
            <a:off x="838200" y="301658"/>
            <a:ext cx="10515600" cy="6259398"/>
          </a:xfrm>
        </p:spPr>
        <p:txBody>
          <a:bodyPr>
            <a:normAutofit/>
          </a:bodyPr>
          <a:lstStyle/>
          <a:p>
            <a:pPr marL="457200" lvl="1" indent="0" algn="just">
              <a:buNone/>
            </a:pPr>
            <a:r>
              <a:rPr lang="en-US" sz="2000" dirty="0"/>
              <a:t> &lt;h4&gt; Array sorted with </a:t>
            </a:r>
            <a:r>
              <a:rPr lang="en-US" sz="2000" dirty="0" err="1"/>
              <a:t>asort</a:t>
            </a:r>
            <a:r>
              <a:rPr lang="en-US" sz="2000" dirty="0"/>
              <a:t> &lt;/h4&gt;</a:t>
            </a:r>
          </a:p>
          <a:p>
            <a:pPr marL="457200" lvl="1" indent="0" algn="just">
              <a:buNone/>
            </a:pPr>
            <a:r>
              <a:rPr lang="en-US" sz="2000" dirty="0"/>
              <a:t>    &lt;?</a:t>
            </a:r>
            <a:r>
              <a:rPr lang="en-US" sz="2000" dirty="0" err="1"/>
              <a:t>php</a:t>
            </a:r>
            <a:endParaRPr lang="en-US" sz="2000" dirty="0"/>
          </a:p>
          <a:p>
            <a:pPr marL="457200" lvl="1" indent="0" algn="just">
              <a:buNone/>
            </a:pPr>
            <a:r>
              <a:rPr lang="en-US" sz="2000" dirty="0"/>
              <a:t>      foreach ($new as $key =&gt; $value)</a:t>
            </a:r>
          </a:p>
          <a:p>
            <a:pPr marL="457200" lvl="1" indent="0" algn="just">
              <a:buNone/>
            </a:pPr>
            <a:r>
              <a:rPr lang="en-US" sz="2000" dirty="0"/>
              <a:t>        print("[$key] = $value &lt;</a:t>
            </a:r>
            <a:r>
              <a:rPr lang="en-US" sz="2000" dirty="0" err="1"/>
              <a:t>br</a:t>
            </a:r>
            <a:r>
              <a:rPr lang="en-US" sz="2000" dirty="0"/>
              <a:t> /&gt;");</a:t>
            </a:r>
          </a:p>
          <a:p>
            <a:pPr marL="457200" lvl="1" indent="0" algn="just">
              <a:buNone/>
            </a:pPr>
            <a:r>
              <a:rPr lang="en-US" sz="2000" dirty="0"/>
              <a:t>      $new = $original;</a:t>
            </a:r>
          </a:p>
          <a:p>
            <a:pPr marL="457200" lvl="1" indent="0" algn="just">
              <a:buNone/>
            </a:pPr>
            <a:r>
              <a:rPr lang="en-US" sz="2000" dirty="0"/>
              <a:t>      </a:t>
            </a:r>
            <a:r>
              <a:rPr lang="en-US" sz="2000" dirty="0" err="1"/>
              <a:t>ksort</a:t>
            </a:r>
            <a:r>
              <a:rPr lang="en-US" sz="2000" dirty="0"/>
              <a:t>($new);</a:t>
            </a:r>
          </a:p>
          <a:p>
            <a:pPr marL="457200" lvl="1" indent="0" algn="just">
              <a:buNone/>
            </a:pPr>
            <a:r>
              <a:rPr lang="en-US" sz="2000" dirty="0"/>
              <a:t>    ?&gt;</a:t>
            </a:r>
          </a:p>
          <a:p>
            <a:pPr marL="457200" lvl="1" indent="0" algn="just">
              <a:buNone/>
            </a:pPr>
            <a:r>
              <a:rPr lang="en-US" sz="2000" dirty="0"/>
              <a:t>    </a:t>
            </a:r>
          </a:p>
          <a:p>
            <a:pPr marL="457200" lvl="1" indent="0" algn="just">
              <a:buNone/>
            </a:pPr>
            <a:r>
              <a:rPr lang="en-US" sz="2000" dirty="0"/>
              <a:t>&lt;h4&gt; Array sorted with </a:t>
            </a:r>
            <a:r>
              <a:rPr lang="en-US" sz="2000" dirty="0" err="1"/>
              <a:t>ksort</a:t>
            </a:r>
            <a:r>
              <a:rPr lang="en-US" sz="2000" dirty="0"/>
              <a:t> &lt;/h4&gt;</a:t>
            </a:r>
          </a:p>
          <a:p>
            <a:pPr marL="457200" lvl="1" indent="0" algn="just">
              <a:buNone/>
            </a:pPr>
            <a:r>
              <a:rPr lang="en-US" sz="2000" dirty="0"/>
              <a:t>    &lt;?</a:t>
            </a:r>
            <a:r>
              <a:rPr lang="en-US" sz="2000" dirty="0" err="1"/>
              <a:t>php</a:t>
            </a:r>
            <a:endParaRPr lang="en-US" sz="2000" dirty="0"/>
          </a:p>
          <a:p>
            <a:pPr marL="457200" lvl="1" indent="0" algn="just">
              <a:buNone/>
            </a:pPr>
            <a:r>
              <a:rPr lang="en-US" sz="2000" dirty="0"/>
              <a:t>      foreach ($new as $key =&gt; $value)</a:t>
            </a:r>
          </a:p>
          <a:p>
            <a:pPr marL="457200" lvl="1" indent="0" algn="just">
              <a:buNone/>
            </a:pPr>
            <a:r>
              <a:rPr lang="en-US" sz="2000" dirty="0"/>
              <a:t>        print("[$key] = $value &lt;</a:t>
            </a:r>
            <a:r>
              <a:rPr lang="en-US" sz="2000" dirty="0" err="1"/>
              <a:t>br</a:t>
            </a:r>
            <a:r>
              <a:rPr lang="en-US" sz="2000" dirty="0"/>
              <a:t> /&gt;");</a:t>
            </a:r>
          </a:p>
          <a:p>
            <a:pPr marL="457200" lvl="1" indent="0" algn="just">
              <a:buNone/>
            </a:pPr>
            <a:r>
              <a:rPr lang="en-US" sz="2000" dirty="0"/>
              <a:t>    ?&gt;</a:t>
            </a:r>
          </a:p>
          <a:p>
            <a:pPr marL="457200" lvl="1" indent="0" algn="just">
              <a:buNone/>
            </a:pPr>
            <a:r>
              <a:rPr lang="en-US" sz="2000" dirty="0"/>
              <a:t>  &lt;/body&gt;</a:t>
            </a:r>
          </a:p>
          <a:p>
            <a:pPr marL="457200" lvl="1" indent="0" algn="just">
              <a:buNone/>
            </a:pPr>
            <a:r>
              <a:rPr lang="en-US" sz="2000" dirty="0"/>
              <a:t> &lt;/html&gt;</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p:txBody>
      </p:sp>
      <p:pic>
        <p:nvPicPr>
          <p:cNvPr id="4" name="Picture 3">
            <a:extLst>
              <a:ext uri="{FF2B5EF4-FFF2-40B4-BE49-F238E27FC236}">
                <a16:creationId xmlns:a16="http://schemas.microsoft.com/office/drawing/2014/main" id="{5CF9B9A9-E871-1E71-DF96-91E56B44DF9F}"/>
              </a:ext>
            </a:extLst>
          </p:cNvPr>
          <p:cNvPicPr>
            <a:picLocks noChangeAspect="1"/>
          </p:cNvPicPr>
          <p:nvPr/>
        </p:nvPicPr>
        <p:blipFill>
          <a:blip r:embed="rId2"/>
          <a:stretch>
            <a:fillRect/>
          </a:stretch>
        </p:blipFill>
        <p:spPr>
          <a:xfrm>
            <a:off x="6096000" y="582437"/>
            <a:ext cx="5841352" cy="5262181"/>
          </a:xfrm>
          <a:prstGeom prst="rect">
            <a:avLst/>
          </a:prstGeom>
        </p:spPr>
      </p:pic>
    </p:spTree>
    <p:extLst>
      <p:ext uri="{BB962C8B-B14F-4D97-AF65-F5344CB8AC3E}">
        <p14:creationId xmlns:p14="http://schemas.microsoft.com/office/powerpoint/2010/main" val="213884628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90AE6E-F893-8360-4AE3-376648932B2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F58B2F-ED73-7F68-82B1-5104CFE762D2}"/>
              </a:ext>
            </a:extLst>
          </p:cNvPr>
          <p:cNvSpPr>
            <a:spLocks noGrp="1"/>
          </p:cNvSpPr>
          <p:nvPr>
            <p:ph idx="1"/>
          </p:nvPr>
        </p:nvSpPr>
        <p:spPr>
          <a:xfrm>
            <a:off x="838200" y="301658"/>
            <a:ext cx="10515600" cy="6259398"/>
          </a:xfrm>
        </p:spPr>
        <p:txBody>
          <a:bodyPr/>
          <a:lstStyle/>
          <a:p>
            <a:pPr marL="0" indent="0">
              <a:buNone/>
            </a:pPr>
            <a:r>
              <a:rPr lang="en-IN" b="1" dirty="0">
                <a:solidFill>
                  <a:srgbClr val="FF3399"/>
                </a:solidFill>
              </a:rPr>
              <a:t>8 Functions</a:t>
            </a:r>
            <a:endParaRPr lang="en-US" b="1" dirty="0">
              <a:solidFill>
                <a:srgbClr val="FF3399"/>
              </a:solidFill>
            </a:endParaRPr>
          </a:p>
          <a:p>
            <a:pPr algn="just"/>
            <a:r>
              <a:rPr lang="en-US" sz="2400" dirty="0"/>
              <a:t>PHP supports user-defined functions that are typical of C-based programming languages. </a:t>
            </a:r>
          </a:p>
          <a:p>
            <a:pPr marL="0" indent="0" algn="just">
              <a:buNone/>
            </a:pPr>
            <a:r>
              <a:rPr lang="en-US" sz="2400" b="1" dirty="0"/>
              <a:t>8.1 General Characteristics of Functions</a:t>
            </a:r>
          </a:p>
          <a:p>
            <a:pPr algn="just"/>
            <a:r>
              <a:rPr lang="en-US" sz="2400" dirty="0"/>
              <a:t>The general form of a PHP function definition is as follows:</a:t>
            </a:r>
          </a:p>
          <a:p>
            <a:pPr marL="457200" lvl="1" indent="0" algn="just">
              <a:buNone/>
            </a:pPr>
            <a:r>
              <a:rPr lang="en-IN" sz="2000" dirty="0">
                <a:solidFill>
                  <a:srgbClr val="FF0000"/>
                </a:solidFill>
              </a:rPr>
              <a:t>function name([parameters]) {</a:t>
            </a:r>
          </a:p>
          <a:p>
            <a:pPr marL="457200" lvl="1" indent="0" algn="just">
              <a:buNone/>
            </a:pPr>
            <a:r>
              <a:rPr lang="en-IN" sz="2000" dirty="0">
                <a:solidFill>
                  <a:srgbClr val="FF0000"/>
                </a:solidFill>
              </a:rPr>
              <a:t> ... </a:t>
            </a:r>
          </a:p>
          <a:p>
            <a:pPr marL="457200" lvl="1" indent="0" algn="just">
              <a:buNone/>
            </a:pPr>
            <a:r>
              <a:rPr lang="en-IN" sz="2000" dirty="0">
                <a:solidFill>
                  <a:srgbClr val="FF0000"/>
                </a:solidFill>
              </a:rPr>
              <a:t>}</a:t>
            </a:r>
            <a:endParaRPr lang="en-US" sz="2000" dirty="0">
              <a:solidFill>
                <a:srgbClr val="FF0000"/>
              </a:solidFill>
            </a:endParaRPr>
          </a:p>
          <a:p>
            <a:pPr lvl="1" algn="just"/>
            <a:r>
              <a:rPr lang="en-US" sz="2000" dirty="0"/>
              <a:t>The square brackets around the parameters mean that the parameters are optional.</a:t>
            </a:r>
          </a:p>
          <a:p>
            <a:pPr lvl="1" algn="just"/>
            <a:r>
              <a:rPr lang="en-US" sz="2000" dirty="0"/>
              <a:t>If a second definition of a function appears in a script, it is reported as an error because function overloading is not allowed</a:t>
            </a:r>
          </a:p>
          <a:p>
            <a:pPr lvl="1" algn="just"/>
            <a:r>
              <a:rPr lang="en-US" sz="2000" dirty="0"/>
              <a:t>function names are not case sensitive.</a:t>
            </a:r>
          </a:p>
          <a:p>
            <a:pPr lvl="1" algn="just"/>
            <a:r>
              <a:rPr lang="en-US" sz="2000" dirty="0"/>
              <a:t>The return statement is used in a function to specify the value to be returned to the caller.</a:t>
            </a:r>
          </a:p>
          <a:p>
            <a:pPr lvl="1" algn="just"/>
            <a:r>
              <a:rPr lang="en-US" sz="2000" dirty="0"/>
              <a:t>If no return statement was executed, no value is returned.</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p:txBody>
      </p:sp>
    </p:spTree>
    <p:extLst>
      <p:ext uri="{BB962C8B-B14F-4D97-AF65-F5344CB8AC3E}">
        <p14:creationId xmlns:p14="http://schemas.microsoft.com/office/powerpoint/2010/main" val="1061343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ED9B05-5780-8CF6-FCCF-B5C3B23301F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5C2807-2F74-4F00-46CD-F45163CA6B2E}"/>
              </a:ext>
            </a:extLst>
          </p:cNvPr>
          <p:cNvSpPr>
            <a:spLocks noGrp="1"/>
          </p:cNvSpPr>
          <p:nvPr>
            <p:ph idx="1"/>
          </p:nvPr>
        </p:nvSpPr>
        <p:spPr>
          <a:xfrm>
            <a:off x="838200" y="301657"/>
            <a:ext cx="10515600" cy="6466787"/>
          </a:xfrm>
        </p:spPr>
        <p:txBody>
          <a:bodyPr>
            <a:normAutofit/>
          </a:bodyPr>
          <a:lstStyle/>
          <a:p>
            <a:pPr marL="0" indent="0">
              <a:buNone/>
            </a:pPr>
            <a:r>
              <a:rPr lang="en-IN" sz="2400" b="1" dirty="0"/>
              <a:t>8.2 Parameters</a:t>
            </a:r>
            <a:endParaRPr lang="en-US" sz="2400" b="1" dirty="0"/>
          </a:p>
          <a:p>
            <a:pPr algn="just"/>
            <a:r>
              <a:rPr lang="en-US" sz="2400" dirty="0"/>
              <a:t>As with JavaScript, we call the parameters in the call to a function </a:t>
            </a:r>
            <a:r>
              <a:rPr lang="en-US" sz="2400" dirty="0">
                <a:solidFill>
                  <a:srgbClr val="FF3399"/>
                </a:solidFill>
              </a:rPr>
              <a:t>actual parameters</a:t>
            </a:r>
            <a:r>
              <a:rPr lang="en-US" sz="2400" dirty="0"/>
              <a:t>. </a:t>
            </a:r>
          </a:p>
          <a:p>
            <a:pPr algn="just"/>
            <a:r>
              <a:rPr lang="en-US" sz="2400" dirty="0"/>
              <a:t>We call the parameters that are listed in the function definition </a:t>
            </a:r>
            <a:r>
              <a:rPr lang="en-US" sz="2400" dirty="0">
                <a:solidFill>
                  <a:srgbClr val="FF3399"/>
                </a:solidFill>
              </a:rPr>
              <a:t>formal parameters</a:t>
            </a:r>
            <a:r>
              <a:rPr lang="en-US" sz="2400" dirty="0"/>
              <a:t>. </a:t>
            </a:r>
          </a:p>
          <a:p>
            <a:pPr algn="just"/>
            <a:r>
              <a:rPr lang="en-US" sz="2400" dirty="0"/>
              <a:t>An actual parameter can be any </a:t>
            </a:r>
            <a:r>
              <a:rPr lang="en-US" sz="2400" dirty="0">
                <a:solidFill>
                  <a:srgbClr val="FF3399"/>
                </a:solidFill>
              </a:rPr>
              <a:t>expression</a:t>
            </a:r>
            <a:r>
              <a:rPr lang="en-US" sz="2400" dirty="0"/>
              <a:t>. A formal parameter must be a </a:t>
            </a:r>
            <a:r>
              <a:rPr lang="en-US" sz="2400" dirty="0">
                <a:solidFill>
                  <a:srgbClr val="FF3399"/>
                </a:solidFill>
              </a:rPr>
              <a:t>variable</a:t>
            </a:r>
            <a:r>
              <a:rPr lang="en-US" sz="2400" dirty="0"/>
              <a:t> </a:t>
            </a:r>
            <a:r>
              <a:rPr lang="en-US" sz="2400" dirty="0">
                <a:solidFill>
                  <a:srgbClr val="FF3399"/>
                </a:solidFill>
              </a:rPr>
              <a:t>name</a:t>
            </a:r>
            <a:r>
              <a:rPr lang="en-US" sz="2400" dirty="0"/>
              <a:t>.</a:t>
            </a:r>
          </a:p>
          <a:p>
            <a:pPr algn="just"/>
            <a:r>
              <a:rPr lang="en-US" sz="2400" dirty="0"/>
              <a:t>The number of actual parameters in a call to a function need not match the number of formal parameters defined in that function.</a:t>
            </a:r>
          </a:p>
          <a:p>
            <a:pPr algn="just"/>
            <a:r>
              <a:rPr lang="en-US" sz="2400" dirty="0"/>
              <a:t>The default parameter-passing mechanism of PHP is </a:t>
            </a:r>
            <a:r>
              <a:rPr lang="en-US" sz="2400" dirty="0">
                <a:solidFill>
                  <a:srgbClr val="FF3399"/>
                </a:solidFill>
              </a:rPr>
              <a:t>pass by value</a:t>
            </a:r>
            <a:r>
              <a:rPr lang="en-US" sz="2400" dirty="0"/>
              <a:t>.</a:t>
            </a:r>
          </a:p>
          <a:p>
            <a:pPr marL="914400" lvl="2" indent="0" algn="just">
              <a:buNone/>
            </a:pPr>
            <a:r>
              <a:rPr lang="en-US" sz="1600" dirty="0"/>
              <a:t>function </a:t>
            </a:r>
            <a:r>
              <a:rPr lang="en-US" sz="1600" dirty="0" err="1"/>
              <a:t>max_abs</a:t>
            </a:r>
            <a:r>
              <a:rPr lang="en-US" sz="1600" dirty="0"/>
              <a:t>($first, $second) {</a:t>
            </a:r>
          </a:p>
          <a:p>
            <a:pPr marL="914400" lvl="2" indent="0" algn="just">
              <a:buNone/>
            </a:pPr>
            <a:r>
              <a:rPr lang="en-US" sz="1600" dirty="0"/>
              <a:t>	$first = abs($first);</a:t>
            </a:r>
          </a:p>
          <a:p>
            <a:pPr marL="914400" lvl="2" indent="0" algn="just">
              <a:buNone/>
            </a:pPr>
            <a:r>
              <a:rPr lang="en-US" sz="1600" dirty="0"/>
              <a:t>	$second = abs($second);</a:t>
            </a:r>
          </a:p>
          <a:p>
            <a:pPr marL="914400" lvl="2" indent="0" algn="just">
              <a:buNone/>
            </a:pPr>
            <a:r>
              <a:rPr lang="en-US" sz="1600" dirty="0"/>
              <a:t>	if ($first &gt;= $second)</a:t>
            </a:r>
          </a:p>
          <a:p>
            <a:pPr marL="914400" lvl="2" indent="0" algn="just">
              <a:buNone/>
            </a:pPr>
            <a:r>
              <a:rPr lang="en-US" sz="1600" dirty="0"/>
              <a:t>		return $first;</a:t>
            </a:r>
          </a:p>
          <a:p>
            <a:pPr marL="914400" lvl="2" indent="0" algn="just">
              <a:buNone/>
            </a:pPr>
            <a:r>
              <a:rPr lang="en-US" sz="1600" dirty="0"/>
              <a:t>	else</a:t>
            </a:r>
          </a:p>
          <a:p>
            <a:pPr marL="914400" lvl="2" indent="0" algn="just">
              <a:buNone/>
            </a:pPr>
            <a:r>
              <a:rPr lang="en-US" sz="1600" dirty="0"/>
              <a:t>		return $second;</a:t>
            </a:r>
          </a:p>
          <a:p>
            <a:pPr marL="914400" lvl="2" indent="0" algn="just">
              <a:buNone/>
            </a:pPr>
            <a:r>
              <a:rPr lang="en-US" sz="1600" dirty="0"/>
              <a:t>	}</a:t>
            </a:r>
          </a:p>
          <a:p>
            <a:pPr marL="0" indent="0" algn="just">
              <a:buNone/>
            </a:pPr>
            <a:endParaRPr lang="en-US" sz="2400" dirty="0"/>
          </a:p>
        </p:txBody>
      </p:sp>
    </p:spTree>
    <p:extLst>
      <p:ext uri="{BB962C8B-B14F-4D97-AF65-F5344CB8AC3E}">
        <p14:creationId xmlns:p14="http://schemas.microsoft.com/office/powerpoint/2010/main" val="269320492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0D01A2-6747-4EBB-CC33-4BF44E694D9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AB716F4-94CB-5729-2B70-3D951842B3A8}"/>
              </a:ext>
            </a:extLst>
          </p:cNvPr>
          <p:cNvSpPr>
            <a:spLocks noGrp="1"/>
          </p:cNvSpPr>
          <p:nvPr>
            <p:ph idx="1"/>
          </p:nvPr>
        </p:nvSpPr>
        <p:spPr>
          <a:xfrm>
            <a:off x="838200" y="301658"/>
            <a:ext cx="10515600" cy="6259398"/>
          </a:xfrm>
        </p:spPr>
        <p:txBody>
          <a:bodyPr/>
          <a:lstStyle/>
          <a:p>
            <a:r>
              <a:rPr lang="en-US" dirty="0"/>
              <a:t>continue…</a:t>
            </a:r>
          </a:p>
          <a:p>
            <a:pPr algn="just"/>
            <a:r>
              <a:rPr lang="en-US" sz="2400" dirty="0"/>
              <a:t>Pass-by-reference parameters can be specified in PHP in two ways.</a:t>
            </a:r>
          </a:p>
          <a:p>
            <a:pPr algn="just"/>
            <a:r>
              <a:rPr lang="en-US" sz="2400" dirty="0"/>
              <a:t>One way is to add an </a:t>
            </a:r>
            <a:r>
              <a:rPr lang="en-US" sz="2400" dirty="0">
                <a:solidFill>
                  <a:srgbClr val="FF3399"/>
                </a:solidFill>
              </a:rPr>
              <a:t>ampersand (&amp;) </a:t>
            </a:r>
            <a:r>
              <a:rPr lang="en-US" sz="2400" dirty="0"/>
              <a:t>to the beginning of the name of the </a:t>
            </a:r>
            <a:r>
              <a:rPr lang="en-US" sz="2400" dirty="0">
                <a:solidFill>
                  <a:srgbClr val="FF3399"/>
                </a:solidFill>
              </a:rPr>
              <a:t>formal parameter</a:t>
            </a:r>
            <a:r>
              <a:rPr lang="en-US" sz="2400" dirty="0"/>
              <a:t> that you want to be passed by reference.</a:t>
            </a:r>
          </a:p>
          <a:p>
            <a:pPr algn="just"/>
            <a:r>
              <a:rPr lang="en-US" sz="2400" dirty="0"/>
              <a:t>The other way to specify pass-by-reference is to add an </a:t>
            </a:r>
            <a:r>
              <a:rPr lang="en-US" sz="2400" dirty="0">
                <a:solidFill>
                  <a:srgbClr val="FF3399"/>
                </a:solidFill>
              </a:rPr>
              <a:t>ampersand</a:t>
            </a:r>
            <a:r>
              <a:rPr lang="en-US" sz="2400" dirty="0"/>
              <a:t> to the </a:t>
            </a:r>
            <a:r>
              <a:rPr lang="en-US" sz="2400" dirty="0">
                <a:solidFill>
                  <a:srgbClr val="FF3399"/>
                </a:solidFill>
              </a:rPr>
              <a:t>actual parameter</a:t>
            </a:r>
            <a:r>
              <a:rPr lang="en-US" sz="2400" dirty="0"/>
              <a:t> in the function call.</a:t>
            </a:r>
          </a:p>
          <a:p>
            <a:pPr marL="457200" lvl="1" indent="0" algn="just">
              <a:buNone/>
            </a:pPr>
            <a:r>
              <a:rPr lang="en-US" sz="2000" dirty="0"/>
              <a:t> </a:t>
            </a:r>
          </a:p>
          <a:p>
            <a:pPr marL="457200" lvl="1" indent="0" algn="just">
              <a:buNone/>
            </a:pPr>
            <a:r>
              <a:rPr lang="en-US" sz="2000" dirty="0"/>
              <a:t>function </a:t>
            </a:r>
            <a:r>
              <a:rPr lang="en-US" sz="2000" dirty="0" err="1"/>
              <a:t>set_max</a:t>
            </a:r>
            <a:r>
              <a:rPr lang="en-US" sz="2000" dirty="0"/>
              <a:t>(&amp;$max, $first, $second) {</a:t>
            </a:r>
          </a:p>
          <a:p>
            <a:pPr marL="457200" lvl="1" indent="0" algn="just">
              <a:buNone/>
            </a:pPr>
            <a:r>
              <a:rPr lang="en-US" sz="2000" dirty="0"/>
              <a:t>  If ($first &gt;= $second)</a:t>
            </a:r>
          </a:p>
          <a:p>
            <a:pPr marL="457200" lvl="1" indent="0" algn="just">
              <a:buNone/>
            </a:pPr>
            <a:r>
              <a:rPr lang="en-US" sz="2000" dirty="0"/>
              <a:t>    $max = $first;</a:t>
            </a:r>
          </a:p>
          <a:p>
            <a:pPr marL="457200" lvl="1" indent="0" algn="just">
              <a:buNone/>
            </a:pPr>
            <a:r>
              <a:rPr lang="en-US" sz="2000" dirty="0"/>
              <a:t>  else</a:t>
            </a:r>
          </a:p>
          <a:p>
            <a:pPr marL="457200" lvl="1" indent="0" algn="just">
              <a:buNone/>
            </a:pPr>
            <a:r>
              <a:rPr lang="en-US" sz="2000" dirty="0"/>
              <a:t>    $max = $second;</a:t>
            </a:r>
          </a:p>
          <a:p>
            <a:pPr marL="457200" lvl="1" indent="0" algn="just">
              <a:buNone/>
            </a:pPr>
            <a:r>
              <a:rPr lang="en-US" sz="2000" dirty="0"/>
              <a:t> }</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p:txBody>
      </p:sp>
    </p:spTree>
    <p:extLst>
      <p:ext uri="{BB962C8B-B14F-4D97-AF65-F5344CB8AC3E}">
        <p14:creationId xmlns:p14="http://schemas.microsoft.com/office/powerpoint/2010/main" val="5780836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799776-112A-B021-514C-744CD301CC3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B611450-35A8-9F1C-05C6-7DBFC64194FA}"/>
              </a:ext>
            </a:extLst>
          </p:cNvPr>
          <p:cNvSpPr>
            <a:spLocks noGrp="1"/>
          </p:cNvSpPr>
          <p:nvPr>
            <p:ph idx="1"/>
          </p:nvPr>
        </p:nvSpPr>
        <p:spPr>
          <a:xfrm>
            <a:off x="838200" y="301658"/>
            <a:ext cx="10515600" cy="6259398"/>
          </a:xfrm>
        </p:spPr>
        <p:txBody>
          <a:bodyPr/>
          <a:lstStyle/>
          <a:p>
            <a:pPr marL="0" indent="0">
              <a:buNone/>
            </a:pPr>
            <a:r>
              <a:rPr lang="en-US" dirty="0"/>
              <a:t>8.3 The Scope of Variables</a:t>
            </a:r>
          </a:p>
          <a:p>
            <a:pPr algn="just"/>
            <a:r>
              <a:rPr lang="en-US" sz="2400" dirty="0"/>
              <a:t>The default scope of a variable defined in a function is local.</a:t>
            </a:r>
          </a:p>
          <a:p>
            <a:pPr marL="914400" lvl="2" indent="0" algn="just">
              <a:buNone/>
            </a:pPr>
            <a:r>
              <a:rPr lang="en-US" sz="1600" dirty="0"/>
              <a:t>function summer($list) {</a:t>
            </a:r>
          </a:p>
          <a:p>
            <a:pPr marL="914400" lvl="2" indent="0" algn="just">
              <a:buNone/>
            </a:pPr>
            <a:r>
              <a:rPr lang="en-US" sz="1600" dirty="0"/>
              <a:t>	$sum = 0;</a:t>
            </a:r>
          </a:p>
          <a:p>
            <a:pPr marL="914400" lvl="2" indent="0" algn="just">
              <a:buNone/>
            </a:pPr>
            <a:r>
              <a:rPr lang="en-US" sz="1600" dirty="0"/>
              <a:t>	foreach ($list as $value)</a:t>
            </a:r>
          </a:p>
          <a:p>
            <a:pPr marL="914400" lvl="2" indent="0" algn="just">
              <a:buNone/>
            </a:pPr>
            <a:r>
              <a:rPr lang="en-US" sz="1600" dirty="0"/>
              <a:t>		$sum += $value;</a:t>
            </a:r>
          </a:p>
          <a:p>
            <a:pPr marL="914400" lvl="2" indent="0" algn="just">
              <a:buNone/>
            </a:pPr>
            <a:r>
              <a:rPr lang="en-US" sz="1600" dirty="0"/>
              <a:t>	return $sum;</a:t>
            </a:r>
          </a:p>
          <a:p>
            <a:pPr marL="914400" lvl="2" indent="0" algn="just">
              <a:buNone/>
            </a:pPr>
            <a:r>
              <a:rPr lang="en-US" sz="1600" dirty="0"/>
              <a:t>}</a:t>
            </a:r>
          </a:p>
          <a:p>
            <a:pPr marL="914400" lvl="2" indent="0" algn="just">
              <a:buNone/>
            </a:pPr>
            <a:r>
              <a:rPr lang="en-US" sz="1600" dirty="0"/>
              <a:t>$sum = 10;</a:t>
            </a:r>
          </a:p>
          <a:p>
            <a:pPr marL="914400" lvl="2" indent="0" algn="just">
              <a:buNone/>
            </a:pPr>
            <a:r>
              <a:rPr lang="en-US" sz="1600" dirty="0"/>
              <a:t>$</a:t>
            </a:r>
            <a:r>
              <a:rPr lang="en-US" sz="1600" dirty="0" err="1"/>
              <a:t>nums</a:t>
            </a:r>
            <a:r>
              <a:rPr lang="en-US" sz="1600" dirty="0"/>
              <a:t> = array(2, 4, 6, 8);</a:t>
            </a:r>
          </a:p>
          <a:p>
            <a:pPr marL="914400" lvl="2" indent="0" algn="just">
              <a:buNone/>
            </a:pPr>
            <a:r>
              <a:rPr lang="en-US" sz="1600" dirty="0"/>
              <a:t>$</a:t>
            </a:r>
            <a:r>
              <a:rPr lang="en-US" sz="1600" dirty="0" err="1"/>
              <a:t>ans</a:t>
            </a:r>
            <a:r>
              <a:rPr lang="en-US" sz="1600" dirty="0"/>
              <a:t> = summer($</a:t>
            </a:r>
            <a:r>
              <a:rPr lang="en-US" sz="1600" dirty="0" err="1"/>
              <a:t>nums</a:t>
            </a:r>
            <a:r>
              <a:rPr lang="en-US" sz="1600" dirty="0"/>
              <a:t>);</a:t>
            </a:r>
          </a:p>
          <a:p>
            <a:pPr marL="914400" lvl="2" indent="0" algn="just">
              <a:buNone/>
            </a:pPr>
            <a:r>
              <a:rPr lang="en-US" sz="1600" dirty="0"/>
              <a:t>print "The sum of the values in \$</a:t>
            </a:r>
            <a:r>
              <a:rPr lang="en-US" sz="1600" dirty="0" err="1"/>
              <a:t>nums</a:t>
            </a:r>
            <a:r>
              <a:rPr lang="en-US" sz="1600" dirty="0"/>
              <a:t> is: $</a:t>
            </a:r>
            <a:r>
              <a:rPr lang="en-US" sz="1600" dirty="0" err="1"/>
              <a:t>ans</a:t>
            </a:r>
            <a:r>
              <a:rPr lang="en-US" sz="1600" dirty="0"/>
              <a:t> &lt;</a:t>
            </a:r>
            <a:r>
              <a:rPr lang="en-US" sz="1600" dirty="0" err="1"/>
              <a:t>br</a:t>
            </a:r>
            <a:r>
              <a:rPr lang="en-US" sz="1600" dirty="0"/>
              <a:t> /&gt;";</a:t>
            </a:r>
          </a:p>
          <a:p>
            <a:pPr marL="914400" lvl="2" indent="0" algn="just">
              <a:buNone/>
            </a:pPr>
            <a:r>
              <a:rPr lang="en-US" sz="1600" dirty="0"/>
              <a:t>print "The value of \$sum is still: $sum &lt;</a:t>
            </a:r>
            <a:r>
              <a:rPr lang="en-US" sz="1600" dirty="0" err="1"/>
              <a:t>br</a:t>
            </a:r>
            <a:r>
              <a:rPr lang="en-US" sz="1600" dirty="0"/>
              <a:t> /&gt;";</a:t>
            </a:r>
          </a:p>
          <a:p>
            <a:pPr algn="just"/>
            <a:endParaRPr lang="en-US" sz="2400" dirty="0"/>
          </a:p>
          <a:p>
            <a:pPr lvl="1" algn="just"/>
            <a:r>
              <a:rPr lang="en-US" sz="2000" dirty="0"/>
              <a:t>The sum of the values in $</a:t>
            </a:r>
            <a:r>
              <a:rPr lang="en-US" sz="2000" dirty="0" err="1"/>
              <a:t>nums</a:t>
            </a:r>
            <a:r>
              <a:rPr lang="en-US" sz="2000" dirty="0"/>
              <a:t> is: 20 </a:t>
            </a:r>
          </a:p>
          <a:p>
            <a:pPr lvl="1" algn="just"/>
            <a:r>
              <a:rPr lang="en-US" sz="2000" dirty="0"/>
              <a:t>The value of $sum is still: 10</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p:txBody>
      </p:sp>
    </p:spTree>
    <p:extLst>
      <p:ext uri="{BB962C8B-B14F-4D97-AF65-F5344CB8AC3E}">
        <p14:creationId xmlns:p14="http://schemas.microsoft.com/office/powerpoint/2010/main" val="2192439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3A0375-9CFC-FFB5-89DB-260DE45EFBA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D2FB7F9-5D97-CB75-B7EB-DA86BBC92ECB}"/>
              </a:ext>
            </a:extLst>
          </p:cNvPr>
          <p:cNvSpPr>
            <a:spLocks noGrp="1"/>
          </p:cNvSpPr>
          <p:nvPr>
            <p:ph idx="1"/>
          </p:nvPr>
        </p:nvSpPr>
        <p:spPr>
          <a:xfrm>
            <a:off x="838200" y="0"/>
            <a:ext cx="10515600" cy="6858000"/>
          </a:xfrm>
        </p:spPr>
        <p:txBody>
          <a:bodyPr>
            <a:normAutofit fontScale="92500" lnSpcReduction="20000"/>
          </a:bodyPr>
          <a:lstStyle/>
          <a:p>
            <a:r>
              <a:rPr lang="en-US" dirty="0"/>
              <a:t>continued…</a:t>
            </a:r>
          </a:p>
          <a:p>
            <a:pPr algn="just"/>
            <a:r>
              <a:rPr lang="en-US" sz="2400" dirty="0"/>
              <a:t>In some cases, it is convenient for the code in a function to be able to access a variable that is defined outside the function. </a:t>
            </a:r>
          </a:p>
          <a:p>
            <a:pPr algn="just"/>
            <a:r>
              <a:rPr lang="en-US" sz="2400" dirty="0"/>
              <a:t>For this situation, PHP has the </a:t>
            </a:r>
            <a:r>
              <a:rPr lang="en-US" sz="2400" dirty="0">
                <a:solidFill>
                  <a:srgbClr val="FF3399"/>
                </a:solidFill>
              </a:rPr>
              <a:t>global</a:t>
            </a:r>
            <a:r>
              <a:rPr lang="en-US" sz="2400" dirty="0"/>
              <a:t> declaration.</a:t>
            </a:r>
          </a:p>
          <a:p>
            <a:pPr lvl="1" algn="just"/>
            <a:endParaRPr lang="en-US" sz="2000" dirty="0"/>
          </a:p>
          <a:p>
            <a:pPr marL="457200" lvl="1" indent="0" algn="just">
              <a:buNone/>
            </a:pPr>
            <a:r>
              <a:rPr lang="en-US" sz="2000" dirty="0">
                <a:solidFill>
                  <a:srgbClr val="FF3399"/>
                </a:solidFill>
              </a:rPr>
              <a:t> </a:t>
            </a:r>
            <a:r>
              <a:rPr lang="en-US" sz="1700" dirty="0">
                <a:solidFill>
                  <a:srgbClr val="FF3399"/>
                </a:solidFill>
              </a:rPr>
              <a:t>$</a:t>
            </a:r>
            <a:r>
              <a:rPr lang="en-US" sz="1700" dirty="0" err="1">
                <a:solidFill>
                  <a:srgbClr val="FF3399"/>
                </a:solidFill>
              </a:rPr>
              <a:t>big_sum</a:t>
            </a:r>
            <a:r>
              <a:rPr lang="en-US" sz="1700" dirty="0">
                <a:solidFill>
                  <a:srgbClr val="FF3399"/>
                </a:solidFill>
              </a:rPr>
              <a:t> </a:t>
            </a:r>
            <a:r>
              <a:rPr lang="en-US" sz="1700" dirty="0"/>
              <a:t>= 0;</a:t>
            </a:r>
          </a:p>
          <a:p>
            <a:pPr marL="457200" lvl="1" indent="0" algn="just">
              <a:buNone/>
            </a:pPr>
            <a:r>
              <a:rPr lang="en-US" sz="1700" dirty="0"/>
              <a:t> ...</a:t>
            </a:r>
          </a:p>
          <a:p>
            <a:pPr marL="457200" lvl="1" indent="0" algn="just">
              <a:buNone/>
            </a:pPr>
            <a:r>
              <a:rPr lang="en-US" sz="1700" dirty="0"/>
              <a:t> /* Function summer</a:t>
            </a:r>
          </a:p>
          <a:p>
            <a:pPr marL="457200" lvl="1" indent="0" algn="just">
              <a:buNone/>
            </a:pPr>
            <a:r>
              <a:rPr lang="en-US" sz="1700" dirty="0"/>
              <a:t>   Parameter: An array of integers</a:t>
            </a:r>
          </a:p>
          <a:p>
            <a:pPr marL="457200" lvl="1" indent="0" algn="just">
              <a:buNone/>
            </a:pPr>
            <a:r>
              <a:rPr lang="en-US" sz="1700" dirty="0"/>
              <a:t>   Returns: The sum of the elements of the parameter</a:t>
            </a:r>
          </a:p>
          <a:p>
            <a:pPr marL="457200" lvl="1" indent="0" algn="just">
              <a:buNone/>
            </a:pPr>
            <a:r>
              <a:rPr lang="en-US" sz="1700" dirty="0"/>
              <a:t>            array</a:t>
            </a:r>
          </a:p>
          <a:p>
            <a:pPr marL="457200" lvl="1" indent="0" algn="just">
              <a:buNone/>
            </a:pPr>
            <a:r>
              <a:rPr lang="en-US" sz="1700" dirty="0"/>
              <a:t>   Side effect: Add the computed sum to the global,</a:t>
            </a:r>
          </a:p>
          <a:p>
            <a:pPr marL="457200" lvl="1" indent="0" algn="just">
              <a:buNone/>
            </a:pPr>
            <a:r>
              <a:rPr lang="en-US" sz="1700" dirty="0"/>
              <a:t>                $</a:t>
            </a:r>
            <a:r>
              <a:rPr lang="en-US" sz="1700" dirty="0" err="1"/>
              <a:t>big_sum</a:t>
            </a:r>
            <a:endParaRPr lang="en-US" sz="1700" dirty="0"/>
          </a:p>
          <a:p>
            <a:pPr marL="457200" lvl="1" indent="0" algn="just">
              <a:buNone/>
            </a:pPr>
            <a:r>
              <a:rPr lang="en-US" sz="1700" dirty="0"/>
              <a:t> */</a:t>
            </a:r>
          </a:p>
          <a:p>
            <a:pPr marL="457200" lvl="1" indent="0" algn="just">
              <a:buNone/>
            </a:pPr>
            <a:r>
              <a:rPr lang="en-US" sz="1700" dirty="0"/>
              <a:t> function summer ($list) {</a:t>
            </a:r>
          </a:p>
          <a:p>
            <a:pPr marL="457200" lvl="1" indent="0" algn="just">
              <a:buNone/>
            </a:pPr>
            <a:r>
              <a:rPr lang="en-US" sz="1700" dirty="0"/>
              <a:t>  </a:t>
            </a:r>
            <a:r>
              <a:rPr lang="en-US" sz="1700" dirty="0">
                <a:solidFill>
                  <a:srgbClr val="FF3399"/>
                </a:solidFill>
              </a:rPr>
              <a:t>global $</a:t>
            </a:r>
            <a:r>
              <a:rPr lang="en-US" sz="1700" dirty="0" err="1">
                <a:solidFill>
                  <a:srgbClr val="FF3399"/>
                </a:solidFill>
              </a:rPr>
              <a:t>big_sum</a:t>
            </a:r>
            <a:r>
              <a:rPr lang="en-US" sz="1700" dirty="0"/>
              <a:t>;   //** Get access to $</a:t>
            </a:r>
            <a:r>
              <a:rPr lang="en-US" sz="1700" dirty="0" err="1"/>
              <a:t>big_sum</a:t>
            </a:r>
            <a:endParaRPr lang="en-US" sz="1700" dirty="0"/>
          </a:p>
          <a:p>
            <a:pPr marL="457200" lvl="1" indent="0" algn="just">
              <a:buNone/>
            </a:pPr>
            <a:r>
              <a:rPr lang="en-US" sz="1700" dirty="0"/>
              <a:t>  $sum = 0;</a:t>
            </a:r>
          </a:p>
          <a:p>
            <a:pPr marL="457200" lvl="1" indent="0" algn="just">
              <a:buNone/>
            </a:pPr>
            <a:r>
              <a:rPr lang="en-US" sz="1700" dirty="0"/>
              <a:t>  foreach ($list as $value)</a:t>
            </a:r>
          </a:p>
          <a:p>
            <a:pPr marL="457200" lvl="1" indent="0" algn="just">
              <a:buNone/>
            </a:pPr>
            <a:r>
              <a:rPr lang="en-US" sz="1700" dirty="0"/>
              <a:t>    $sum += $value;</a:t>
            </a:r>
          </a:p>
          <a:p>
            <a:pPr marL="457200" lvl="1" indent="0" algn="just">
              <a:buNone/>
            </a:pPr>
            <a:r>
              <a:rPr lang="en-US" sz="1700" dirty="0"/>
              <a:t>  </a:t>
            </a:r>
            <a:r>
              <a:rPr lang="en-US" sz="1700" dirty="0">
                <a:solidFill>
                  <a:srgbClr val="FF3399"/>
                </a:solidFill>
              </a:rPr>
              <a:t>$</a:t>
            </a:r>
            <a:r>
              <a:rPr lang="en-US" sz="1700" dirty="0" err="1">
                <a:solidFill>
                  <a:srgbClr val="FF3399"/>
                </a:solidFill>
              </a:rPr>
              <a:t>big_sum</a:t>
            </a:r>
            <a:r>
              <a:rPr lang="en-US" sz="1700" dirty="0">
                <a:solidFill>
                  <a:srgbClr val="FF3399"/>
                </a:solidFill>
              </a:rPr>
              <a:t> </a:t>
            </a:r>
            <a:r>
              <a:rPr lang="en-US" sz="1700" dirty="0"/>
              <a:t>+= $sum;</a:t>
            </a:r>
          </a:p>
          <a:p>
            <a:pPr marL="457200" lvl="1" indent="0" algn="just">
              <a:buNone/>
            </a:pPr>
            <a:r>
              <a:rPr lang="en-US" sz="1700" dirty="0"/>
              <a:t>  return $sum;</a:t>
            </a:r>
          </a:p>
          <a:p>
            <a:pPr marL="457200" lvl="1" indent="0" algn="just">
              <a:buNone/>
            </a:pPr>
            <a:r>
              <a:rPr lang="en-US" sz="1700" dirty="0"/>
              <a:t> } //** end of summer</a:t>
            </a:r>
          </a:p>
          <a:p>
            <a:pPr marL="457200" lvl="1" indent="0" algn="just">
              <a:buNone/>
            </a:pPr>
            <a:r>
              <a:rPr lang="en-US" sz="1700" dirty="0"/>
              <a:t> ...</a:t>
            </a:r>
          </a:p>
          <a:p>
            <a:pPr marL="457200" lvl="1" indent="0" algn="just">
              <a:buNone/>
            </a:pPr>
            <a:r>
              <a:rPr lang="en-US" sz="1700" dirty="0"/>
              <a:t> $ans1 = summer($list1);</a:t>
            </a:r>
          </a:p>
          <a:p>
            <a:pPr marL="457200" lvl="1" indent="0" algn="just">
              <a:buNone/>
            </a:pPr>
            <a:r>
              <a:rPr lang="en-US" sz="1700" dirty="0"/>
              <a:t> $ans2 = summer($list2);</a:t>
            </a:r>
          </a:p>
          <a:p>
            <a:pPr marL="457200" lvl="1" indent="0" algn="just">
              <a:buNone/>
            </a:pPr>
            <a:r>
              <a:rPr lang="en-US" sz="1700" dirty="0"/>
              <a:t> ...</a:t>
            </a:r>
          </a:p>
          <a:p>
            <a:pPr marL="457200" lvl="1" indent="0" algn="just">
              <a:buNone/>
            </a:pPr>
            <a:r>
              <a:rPr lang="en-US" sz="1700" dirty="0"/>
              <a:t> print "The sum of all array elements is: </a:t>
            </a:r>
            <a:r>
              <a:rPr lang="en-US" sz="1700" dirty="0">
                <a:solidFill>
                  <a:srgbClr val="FF3399"/>
                </a:solidFill>
              </a:rPr>
              <a:t>$</a:t>
            </a:r>
            <a:r>
              <a:rPr lang="en-US" sz="1700" dirty="0" err="1">
                <a:solidFill>
                  <a:srgbClr val="FF3399"/>
                </a:solidFill>
              </a:rPr>
              <a:t>big_sum</a:t>
            </a:r>
            <a:r>
              <a:rPr lang="en-US" sz="1700" dirty="0">
                <a:solidFill>
                  <a:srgbClr val="FF3399"/>
                </a:solidFill>
              </a:rPr>
              <a:t> </a:t>
            </a:r>
            <a:r>
              <a:rPr lang="en-US" sz="1700" dirty="0"/>
              <a:t>&lt;</a:t>
            </a:r>
            <a:r>
              <a:rPr lang="en-US" sz="1700" dirty="0" err="1"/>
              <a:t>br</a:t>
            </a:r>
            <a:r>
              <a:rPr lang="en-US" sz="1700" dirty="0"/>
              <a:t> /&gt;";</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p:txBody>
      </p:sp>
    </p:spTree>
    <p:extLst>
      <p:ext uri="{BB962C8B-B14F-4D97-AF65-F5344CB8AC3E}">
        <p14:creationId xmlns:p14="http://schemas.microsoft.com/office/powerpoint/2010/main" val="382539446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6C2631-C0C0-A6F6-FBFE-CE3A2F5F457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B68364B-3720-A66E-FDA1-951F97489E56}"/>
              </a:ext>
            </a:extLst>
          </p:cNvPr>
          <p:cNvSpPr>
            <a:spLocks noGrp="1"/>
          </p:cNvSpPr>
          <p:nvPr>
            <p:ph idx="1"/>
          </p:nvPr>
        </p:nvSpPr>
        <p:spPr>
          <a:xfrm>
            <a:off x="838200" y="301658"/>
            <a:ext cx="10515600" cy="6259398"/>
          </a:xfrm>
        </p:spPr>
        <p:txBody>
          <a:bodyPr>
            <a:normAutofit lnSpcReduction="10000"/>
          </a:bodyPr>
          <a:lstStyle/>
          <a:p>
            <a:pPr marL="0" indent="0">
              <a:buNone/>
            </a:pPr>
            <a:r>
              <a:rPr lang="en-US" b="1" dirty="0"/>
              <a:t>8.4 The Lifetime of Variables</a:t>
            </a:r>
          </a:p>
          <a:p>
            <a:pPr algn="just"/>
            <a:r>
              <a:rPr lang="en-US" sz="2400" dirty="0"/>
              <a:t>In some situations, a function must be history sensitive; that is, it must retain information about previous activations. </a:t>
            </a:r>
          </a:p>
          <a:p>
            <a:pPr algn="just"/>
            <a:r>
              <a:rPr lang="en-US" sz="2400" dirty="0"/>
              <a:t>The default lifetime of local variables in a PHP function is from the time the variable is first used (i.e., when storage for it is allocated) until the function’s execution terminates. </a:t>
            </a:r>
          </a:p>
          <a:p>
            <a:pPr algn="just"/>
            <a:r>
              <a:rPr lang="en-US" sz="2400" dirty="0"/>
              <a:t>To support history sensitivity, a function must have </a:t>
            </a:r>
            <a:r>
              <a:rPr lang="en-US" sz="2400" dirty="0">
                <a:solidFill>
                  <a:srgbClr val="FF3399"/>
                </a:solidFill>
              </a:rPr>
              <a:t>static local variables</a:t>
            </a:r>
            <a:r>
              <a:rPr lang="en-US" sz="2400" dirty="0"/>
              <a:t>. The lifetime of a static variable in a function begins when the variable is first used in the first execution of the function. </a:t>
            </a:r>
          </a:p>
          <a:p>
            <a:pPr algn="just"/>
            <a:r>
              <a:rPr lang="en-US" sz="2400" dirty="0"/>
              <a:t>Its lifetime ends when the script execution ends. </a:t>
            </a:r>
          </a:p>
          <a:p>
            <a:pPr algn="just"/>
            <a:r>
              <a:rPr lang="en-US" sz="2400" dirty="0"/>
              <a:t>In the case of PHP, this is when the browser leaves the document in which the PHP script is embedded. </a:t>
            </a:r>
          </a:p>
          <a:p>
            <a:pPr algn="just"/>
            <a:r>
              <a:rPr lang="en-US" sz="2400" dirty="0"/>
              <a:t>In PHP, a local variable in a function can be specified to be static by declaring it with the reserved word </a:t>
            </a:r>
            <a:r>
              <a:rPr lang="en-US" sz="2400" dirty="0">
                <a:solidFill>
                  <a:srgbClr val="FF3399"/>
                </a:solidFill>
              </a:rPr>
              <a:t>static</a:t>
            </a:r>
            <a:r>
              <a:rPr lang="en-US" sz="2400" dirty="0"/>
              <a:t>.</a:t>
            </a:r>
          </a:p>
          <a:p>
            <a:pPr algn="just"/>
            <a:r>
              <a:rPr lang="en-US" sz="2400" dirty="0"/>
              <a:t>Such a declaration can include an initial value, which is only assigned the first time the declaration is reached.</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p:txBody>
      </p:sp>
    </p:spTree>
    <p:extLst>
      <p:ext uri="{BB962C8B-B14F-4D97-AF65-F5344CB8AC3E}">
        <p14:creationId xmlns:p14="http://schemas.microsoft.com/office/powerpoint/2010/main" val="151775649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F5F657-DF8F-AD71-8A9C-B3C1FA0D1E8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10F5A1-3B1B-52E2-FC3D-549AF211A854}"/>
              </a:ext>
            </a:extLst>
          </p:cNvPr>
          <p:cNvSpPr>
            <a:spLocks noGrp="1"/>
          </p:cNvSpPr>
          <p:nvPr>
            <p:ph idx="1"/>
          </p:nvPr>
        </p:nvSpPr>
        <p:spPr>
          <a:xfrm>
            <a:off x="838200" y="301658"/>
            <a:ext cx="10515600" cy="6259398"/>
          </a:xfrm>
        </p:spPr>
        <p:txBody>
          <a:bodyPr/>
          <a:lstStyle/>
          <a:p>
            <a:r>
              <a:rPr lang="en-US" dirty="0"/>
              <a:t>continue…</a:t>
            </a:r>
          </a:p>
          <a:p>
            <a:pPr marL="457200" lvl="1" indent="0" algn="just">
              <a:buNone/>
            </a:pPr>
            <a:r>
              <a:rPr lang="en-US" sz="2000" dirty="0"/>
              <a:t>function </a:t>
            </a:r>
            <a:r>
              <a:rPr lang="en-US" sz="2000" dirty="0" err="1"/>
              <a:t>do_it</a:t>
            </a:r>
            <a:r>
              <a:rPr lang="en-US" sz="2000" dirty="0"/>
              <a:t> ($param) {</a:t>
            </a:r>
          </a:p>
          <a:p>
            <a:pPr marL="457200" lvl="1" indent="0" algn="just">
              <a:buNone/>
            </a:pPr>
            <a:r>
              <a:rPr lang="en-US" sz="2000" dirty="0"/>
              <a:t>  </a:t>
            </a:r>
            <a:r>
              <a:rPr lang="en-US" sz="2000" dirty="0">
                <a:solidFill>
                  <a:srgbClr val="FF3399"/>
                </a:solidFill>
              </a:rPr>
              <a:t>static $count = 0;</a:t>
            </a:r>
          </a:p>
          <a:p>
            <a:pPr marL="457200" lvl="1" indent="0" algn="just">
              <a:buNone/>
            </a:pPr>
            <a:r>
              <a:rPr lang="en-US" sz="2000" dirty="0"/>
              <a:t>  count++;</a:t>
            </a:r>
          </a:p>
          <a:p>
            <a:pPr marL="457200" lvl="1" indent="0" algn="just">
              <a:buNone/>
            </a:pPr>
            <a:r>
              <a:rPr lang="en-US" sz="2000" dirty="0"/>
              <a:t>  print "</a:t>
            </a:r>
            <a:r>
              <a:rPr lang="en-US" sz="2000" dirty="0" err="1"/>
              <a:t>do_it</a:t>
            </a:r>
            <a:r>
              <a:rPr lang="en-US" sz="2000" dirty="0"/>
              <a:t> has now been called $count times &lt;</a:t>
            </a:r>
            <a:r>
              <a:rPr lang="en-US" sz="2000" dirty="0" err="1"/>
              <a:t>br</a:t>
            </a:r>
            <a:r>
              <a:rPr lang="en-US" sz="2000" dirty="0"/>
              <a:t> /&gt;";</a:t>
            </a:r>
          </a:p>
          <a:p>
            <a:pPr marL="457200" lvl="1" indent="0" algn="just">
              <a:buNone/>
            </a:pPr>
            <a:r>
              <a:rPr lang="en-US" sz="2000" dirty="0"/>
              <a:t>  ...</a:t>
            </a:r>
          </a:p>
          <a:p>
            <a:pPr marL="457200" lvl="1" indent="0" algn="just">
              <a:buNone/>
            </a:pPr>
            <a:r>
              <a:rPr lang="en-US" sz="2000" dirty="0"/>
              <a:t> }</a:t>
            </a:r>
          </a:p>
          <a:p>
            <a:pPr algn="just"/>
            <a:r>
              <a:rPr lang="en-US" sz="2400" dirty="0"/>
              <a:t>When called, this function displays the number of times it has been called, even if it is called from several different places. </a:t>
            </a:r>
          </a:p>
          <a:p>
            <a:pPr algn="just"/>
            <a:r>
              <a:rPr lang="en-US" sz="2400" dirty="0"/>
              <a:t>The fact that its local variable $count is static allows this to be done.</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p:txBody>
      </p:sp>
    </p:spTree>
    <p:extLst>
      <p:ext uri="{BB962C8B-B14F-4D97-AF65-F5344CB8AC3E}">
        <p14:creationId xmlns:p14="http://schemas.microsoft.com/office/powerpoint/2010/main" val="190195685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41D65B-C4E7-AE7F-2DD9-EC42E76C0A8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D80B4EF-A291-2752-65DD-0F6B326D0840}"/>
              </a:ext>
            </a:extLst>
          </p:cNvPr>
          <p:cNvSpPr>
            <a:spLocks noGrp="1"/>
          </p:cNvSpPr>
          <p:nvPr>
            <p:ph idx="1"/>
          </p:nvPr>
        </p:nvSpPr>
        <p:spPr>
          <a:xfrm>
            <a:off x="838200" y="301658"/>
            <a:ext cx="10515600" cy="6259398"/>
          </a:xfrm>
        </p:spPr>
        <p:txBody>
          <a:bodyPr/>
          <a:lstStyle/>
          <a:p>
            <a:pPr marL="0" indent="0">
              <a:buNone/>
            </a:pPr>
            <a:r>
              <a:rPr lang="en-IN" b="1" dirty="0"/>
              <a:t>9 Pattern Matching</a:t>
            </a:r>
            <a:endParaRPr lang="en-US" b="1" dirty="0"/>
          </a:p>
          <a:p>
            <a:pPr algn="just"/>
            <a:r>
              <a:rPr lang="en-US" sz="2400" dirty="0"/>
              <a:t>PHP includes two different kinds of string pattern matching using regular expressions: </a:t>
            </a:r>
          </a:p>
          <a:p>
            <a:pPr algn="just"/>
            <a:r>
              <a:rPr lang="en-US" sz="2400" dirty="0"/>
              <a:t>one that is based on </a:t>
            </a:r>
            <a:r>
              <a:rPr lang="en-US" sz="2400" dirty="0">
                <a:solidFill>
                  <a:srgbClr val="FF3399"/>
                </a:solidFill>
              </a:rPr>
              <a:t>POSIX regular expressions </a:t>
            </a:r>
            <a:r>
              <a:rPr lang="en-US" sz="2400" dirty="0"/>
              <a:t>and </a:t>
            </a:r>
          </a:p>
          <a:p>
            <a:pPr algn="just"/>
            <a:r>
              <a:rPr lang="en-US" sz="2400" dirty="0"/>
              <a:t>one that is based on </a:t>
            </a:r>
            <a:r>
              <a:rPr lang="en-US" sz="2400" dirty="0">
                <a:solidFill>
                  <a:srgbClr val="FF3399"/>
                </a:solidFill>
              </a:rPr>
              <a:t>Perl regular expressions</a:t>
            </a:r>
            <a:r>
              <a:rPr lang="en-US" sz="2400" dirty="0"/>
              <a:t>, like those of JavaScript.</a:t>
            </a:r>
          </a:p>
          <a:p>
            <a:pPr algn="just"/>
            <a:r>
              <a:rPr lang="en-US" sz="2400" dirty="0"/>
              <a:t>The POSIX regular expressions are compiled into PHP, but the Perl-Compatible Regular Expression (PCRE) library must be compiled before Perl regular expressions can be used.</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p:txBody>
      </p:sp>
    </p:spTree>
    <p:extLst>
      <p:ext uri="{BB962C8B-B14F-4D97-AF65-F5344CB8AC3E}">
        <p14:creationId xmlns:p14="http://schemas.microsoft.com/office/powerpoint/2010/main" val="196266647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F6C0F7-7817-D49C-42EF-CAED4D2FD6D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20B96E9-61F4-B92E-8147-9A7F35FE5D93}"/>
              </a:ext>
            </a:extLst>
          </p:cNvPr>
          <p:cNvSpPr>
            <a:spLocks noGrp="1"/>
          </p:cNvSpPr>
          <p:nvPr>
            <p:ph idx="1"/>
          </p:nvPr>
        </p:nvSpPr>
        <p:spPr>
          <a:xfrm>
            <a:off x="838200" y="301658"/>
            <a:ext cx="10515600" cy="6259398"/>
          </a:xfrm>
        </p:spPr>
        <p:txBody>
          <a:bodyPr/>
          <a:lstStyle/>
          <a:p>
            <a:r>
              <a:rPr lang="en-US" dirty="0"/>
              <a:t>continue...</a:t>
            </a:r>
          </a:p>
          <a:p>
            <a:pPr algn="just"/>
            <a:r>
              <a:rPr lang="en-US" sz="2400" dirty="0"/>
              <a:t>PHP function for pattern matching</a:t>
            </a:r>
          </a:p>
          <a:p>
            <a:pPr algn="just"/>
            <a:r>
              <a:rPr lang="en-US" sz="2400" dirty="0"/>
              <a:t>The </a:t>
            </a:r>
            <a:r>
              <a:rPr lang="en-US" sz="2400" dirty="0" err="1">
                <a:solidFill>
                  <a:srgbClr val="FF3399"/>
                </a:solidFill>
              </a:rPr>
              <a:t>preg_match</a:t>
            </a:r>
            <a:r>
              <a:rPr lang="en-US" sz="2400" dirty="0"/>
              <a:t> function takes two parameters, the first of which is the Perl-style </a:t>
            </a:r>
            <a:r>
              <a:rPr lang="en-US" sz="2400" dirty="0">
                <a:solidFill>
                  <a:srgbClr val="FF3399"/>
                </a:solidFill>
              </a:rPr>
              <a:t>regular expression </a:t>
            </a:r>
            <a:r>
              <a:rPr lang="en-US" sz="2400" dirty="0"/>
              <a:t>as a string. The second parameter is the </a:t>
            </a:r>
            <a:r>
              <a:rPr lang="en-US" sz="2400" dirty="0">
                <a:solidFill>
                  <a:srgbClr val="FF3399"/>
                </a:solidFill>
              </a:rPr>
              <a:t>string to be searched</a:t>
            </a:r>
            <a:r>
              <a:rPr lang="en-US" sz="2400" dirty="0"/>
              <a:t>.</a:t>
            </a:r>
          </a:p>
          <a:p>
            <a:pPr marL="457200" lvl="1" indent="0" algn="just">
              <a:buNone/>
            </a:pPr>
            <a:r>
              <a:rPr lang="en-US" sz="2000" dirty="0"/>
              <a:t> </a:t>
            </a:r>
          </a:p>
          <a:p>
            <a:pPr marL="457200" lvl="1" indent="0" algn="just">
              <a:buNone/>
            </a:pPr>
            <a:r>
              <a:rPr lang="en-US" sz="2000" dirty="0"/>
              <a:t>if (</a:t>
            </a:r>
            <a:r>
              <a:rPr lang="en-US" sz="2000" dirty="0" err="1"/>
              <a:t>preg_match</a:t>
            </a:r>
            <a:r>
              <a:rPr lang="en-US" sz="2000" dirty="0"/>
              <a:t>("/^PHP/", $str)) </a:t>
            </a:r>
          </a:p>
          <a:p>
            <a:pPr marL="457200" lvl="1" indent="0" algn="just">
              <a:buNone/>
            </a:pPr>
            <a:r>
              <a:rPr lang="en-US" sz="2000" dirty="0"/>
              <a:t> print "\$str begins with PHP &lt;</a:t>
            </a:r>
            <a:r>
              <a:rPr lang="en-US" sz="2000" dirty="0" err="1"/>
              <a:t>br</a:t>
            </a:r>
            <a:r>
              <a:rPr lang="en-US" sz="2000" dirty="0"/>
              <a:t> /&gt;";</a:t>
            </a:r>
          </a:p>
          <a:p>
            <a:pPr marL="457200" lvl="1" indent="0" algn="just">
              <a:buNone/>
            </a:pPr>
            <a:r>
              <a:rPr lang="en-US" sz="2000" dirty="0"/>
              <a:t> else</a:t>
            </a:r>
          </a:p>
          <a:p>
            <a:pPr marL="457200" lvl="1" indent="0" algn="just">
              <a:buNone/>
            </a:pPr>
            <a:r>
              <a:rPr lang="en-US" sz="2000" dirty="0"/>
              <a:t> print "\$str does not begin with PHP &lt;</a:t>
            </a:r>
            <a:r>
              <a:rPr lang="en-US" sz="2000" dirty="0" err="1"/>
              <a:t>br</a:t>
            </a:r>
            <a:r>
              <a:rPr lang="en-US" sz="2000" dirty="0"/>
              <a:t> /&gt;";</a:t>
            </a:r>
          </a:p>
          <a:p>
            <a:pPr algn="just"/>
            <a:endParaRPr lang="en-US" sz="2400" dirty="0"/>
          </a:p>
          <a:p>
            <a:pPr algn="just"/>
            <a:r>
              <a:rPr lang="en-US" sz="2400" dirty="0"/>
              <a:t>The </a:t>
            </a:r>
            <a:r>
              <a:rPr lang="en-US" sz="2400" dirty="0" err="1">
                <a:solidFill>
                  <a:srgbClr val="FF3399"/>
                </a:solidFill>
              </a:rPr>
              <a:t>preg_split</a:t>
            </a:r>
            <a:r>
              <a:rPr lang="en-US" sz="2400" dirty="0">
                <a:solidFill>
                  <a:srgbClr val="FF3399"/>
                </a:solidFill>
              </a:rPr>
              <a:t> </a:t>
            </a:r>
            <a:r>
              <a:rPr lang="en-US" sz="2400" dirty="0"/>
              <a:t>function operates on strings but returns an array and uses patterns</a:t>
            </a:r>
          </a:p>
          <a:p>
            <a:pPr algn="just"/>
            <a:r>
              <a:rPr lang="en-US" sz="2400" dirty="0"/>
              <a:t>The function takes two parameters, the first of which is a </a:t>
            </a:r>
            <a:r>
              <a:rPr lang="en-US" sz="2400" dirty="0">
                <a:solidFill>
                  <a:srgbClr val="FF3399"/>
                </a:solidFill>
              </a:rPr>
              <a:t>Perl-style pattern </a:t>
            </a:r>
            <a:r>
              <a:rPr lang="en-US" sz="2400" dirty="0"/>
              <a:t>as a string. The second parameter is the </a:t>
            </a:r>
            <a:r>
              <a:rPr lang="en-US" sz="2400" dirty="0">
                <a:solidFill>
                  <a:srgbClr val="FF3399"/>
                </a:solidFill>
              </a:rPr>
              <a:t>string to be split</a:t>
            </a:r>
            <a:r>
              <a:rPr lang="en-US" sz="2400" dirty="0"/>
              <a:t>.</a:t>
            </a:r>
          </a:p>
          <a:p>
            <a:pPr marL="457200" lvl="1" indent="0" algn="just">
              <a:buNone/>
            </a:pPr>
            <a:endParaRPr lang="en-US" sz="2000" dirty="0"/>
          </a:p>
          <a:p>
            <a:pPr marL="457200" lvl="1" indent="0" algn="just">
              <a:buNone/>
            </a:pPr>
            <a:r>
              <a:rPr lang="en-US" sz="2000" dirty="0"/>
              <a:t>$</a:t>
            </a:r>
            <a:r>
              <a:rPr lang="en-US" sz="2000" dirty="0" err="1"/>
              <a:t>fruit_string</a:t>
            </a:r>
            <a:r>
              <a:rPr lang="en-US" sz="2000" dirty="0"/>
              <a:t> = "apple : orange : banana";</a:t>
            </a:r>
          </a:p>
          <a:p>
            <a:pPr marL="457200" lvl="1" indent="0" algn="just">
              <a:buNone/>
            </a:pPr>
            <a:r>
              <a:rPr lang="en-US" sz="2000" dirty="0"/>
              <a:t>$fruits = </a:t>
            </a:r>
            <a:r>
              <a:rPr lang="en-US" sz="2000" dirty="0" err="1"/>
              <a:t>preg_split</a:t>
            </a:r>
            <a:r>
              <a:rPr lang="en-US" sz="2000" dirty="0"/>
              <a:t>("/ : /", $</a:t>
            </a:r>
            <a:r>
              <a:rPr lang="en-US" sz="2000" dirty="0" err="1"/>
              <a:t>fruit_string</a:t>
            </a:r>
            <a:r>
              <a:rPr lang="en-US" sz="2000" dirty="0"/>
              <a:t>);</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p:txBody>
      </p:sp>
    </p:spTree>
    <p:extLst>
      <p:ext uri="{BB962C8B-B14F-4D97-AF65-F5344CB8AC3E}">
        <p14:creationId xmlns:p14="http://schemas.microsoft.com/office/powerpoint/2010/main" val="114080577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FD977-298C-02CE-DF5D-081F77FE61C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B80CDAE-5279-02FF-D6F8-FF3800B16B02}"/>
              </a:ext>
            </a:extLst>
          </p:cNvPr>
          <p:cNvSpPr>
            <a:spLocks noGrp="1"/>
          </p:cNvSpPr>
          <p:nvPr>
            <p:ph idx="1"/>
          </p:nvPr>
        </p:nvSpPr>
        <p:spPr>
          <a:xfrm>
            <a:off x="838200" y="301658"/>
            <a:ext cx="10515600" cy="6259398"/>
          </a:xfrm>
        </p:spPr>
        <p:txBody>
          <a:bodyPr/>
          <a:lstStyle/>
          <a:p>
            <a:pPr marL="0" indent="0">
              <a:buNone/>
            </a:pPr>
            <a:r>
              <a:rPr lang="en-IN" b="1" dirty="0"/>
              <a:t>10 Form Handling</a:t>
            </a:r>
            <a:endParaRPr lang="en-US" b="1" dirty="0"/>
          </a:p>
          <a:p>
            <a:pPr algn="just"/>
            <a:r>
              <a:rPr lang="en-US" sz="2400" dirty="0"/>
              <a:t>One common way for a browser user to interact with a Web server is through forms. </a:t>
            </a:r>
          </a:p>
          <a:p>
            <a:pPr algn="just"/>
            <a:r>
              <a:rPr lang="en-US" sz="2400" dirty="0"/>
              <a:t>A form is presented to the user, who is invited to fill in the text boxes and click the buttons of the form. </a:t>
            </a:r>
          </a:p>
          <a:p>
            <a:pPr algn="just"/>
            <a:r>
              <a:rPr lang="en-US" sz="2400" dirty="0"/>
              <a:t>The user submits the form to the server by clicking the form’s Submit button. </a:t>
            </a:r>
          </a:p>
          <a:p>
            <a:pPr algn="just"/>
            <a:r>
              <a:rPr lang="en-US" sz="2400" dirty="0"/>
              <a:t>The contents of the form are encoded and transmitted to the server, which must use a program to decode the contents, perform what ever computation is necessary on the data, and produce output in the form of a markup document that is returned to the client. </a:t>
            </a:r>
          </a:p>
          <a:p>
            <a:pPr algn="just"/>
            <a:r>
              <a:rPr lang="en-US" sz="2400" dirty="0"/>
              <a:t>When PHP is used to process form data, it implicitly decodes the data.</a:t>
            </a:r>
          </a:p>
          <a:p>
            <a:pPr algn="just"/>
            <a:r>
              <a:rPr lang="en-US" sz="2400" dirty="0"/>
              <a:t>It may seem strange, but when PHP is used for form handling, the PHP script is embedded in an HTML document, as it is with other uses of PHP.</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p:txBody>
      </p:sp>
    </p:spTree>
    <p:extLst>
      <p:ext uri="{BB962C8B-B14F-4D97-AF65-F5344CB8AC3E}">
        <p14:creationId xmlns:p14="http://schemas.microsoft.com/office/powerpoint/2010/main" val="235009159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1D421E-72BF-1C1F-FDE9-E2CF5249577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AFDED7D-04D4-9062-BDB6-C4A72C0355D1}"/>
              </a:ext>
            </a:extLst>
          </p:cNvPr>
          <p:cNvSpPr>
            <a:spLocks noGrp="1"/>
          </p:cNvSpPr>
          <p:nvPr>
            <p:ph idx="1"/>
          </p:nvPr>
        </p:nvSpPr>
        <p:spPr>
          <a:xfrm>
            <a:off x="838200" y="301658"/>
            <a:ext cx="10515600" cy="6259398"/>
          </a:xfrm>
        </p:spPr>
        <p:txBody>
          <a:bodyPr>
            <a:normAutofit lnSpcReduction="10000"/>
          </a:bodyPr>
          <a:lstStyle/>
          <a:p>
            <a:r>
              <a:rPr lang="en-US" dirty="0"/>
              <a:t>continue…</a:t>
            </a:r>
            <a:endParaRPr lang="en-US" sz="2400" dirty="0"/>
          </a:p>
          <a:p>
            <a:pPr algn="just"/>
            <a:r>
              <a:rPr lang="en-US" sz="2400" dirty="0"/>
              <a:t>Although it is possible to have a PHP script handle form data in the same HTML document that defines the form, it is perhaps clearer to use two separate documents. </a:t>
            </a:r>
          </a:p>
          <a:p>
            <a:pPr algn="just"/>
            <a:r>
              <a:rPr lang="en-US" sz="2400" dirty="0"/>
              <a:t>For this latter case, the document that defines the form specifies the document that handles the form data in the action attribute of its &lt;form&gt; tag. </a:t>
            </a:r>
          </a:p>
          <a:p>
            <a:pPr algn="just"/>
            <a:r>
              <a:rPr lang="en-US" sz="2400" dirty="0"/>
              <a:t>PHP can be configured so that form data values are directly available as implicit variables whose names match the names of the corresponding form elements.</a:t>
            </a:r>
          </a:p>
          <a:p>
            <a:pPr algn="just"/>
            <a:r>
              <a:rPr lang="en-US" sz="2400" dirty="0"/>
              <a:t>The recommended approach is to use the implicit arrays </a:t>
            </a:r>
            <a:r>
              <a:rPr lang="en-US" sz="2400" dirty="0">
                <a:solidFill>
                  <a:srgbClr val="FF3399"/>
                </a:solidFill>
              </a:rPr>
              <a:t>$_POST </a:t>
            </a:r>
            <a:r>
              <a:rPr lang="en-US" sz="2400" dirty="0"/>
              <a:t>and </a:t>
            </a:r>
            <a:r>
              <a:rPr lang="en-US" sz="2400" dirty="0">
                <a:solidFill>
                  <a:srgbClr val="FF3399"/>
                </a:solidFill>
              </a:rPr>
              <a:t>$_GET </a:t>
            </a:r>
            <a:r>
              <a:rPr lang="en-US" sz="2400" dirty="0"/>
              <a:t>for form values. </a:t>
            </a:r>
          </a:p>
          <a:p>
            <a:pPr algn="just"/>
            <a:r>
              <a:rPr lang="en-US" sz="2400" dirty="0"/>
              <a:t>These arrays have keys that match the form element names and values that were input by the client. </a:t>
            </a:r>
          </a:p>
          <a:p>
            <a:pPr algn="just"/>
            <a:r>
              <a:rPr lang="en-US" sz="2400" dirty="0"/>
              <a:t>For example, if a form has a text box named phone and the form method is POST, the value of that element is available in the PHP script as follows:</a:t>
            </a:r>
          </a:p>
          <a:p>
            <a:pPr lvl="1" algn="just"/>
            <a:r>
              <a:rPr lang="en-IN" sz="2000" dirty="0"/>
              <a:t>$_POST["phone"]</a:t>
            </a:r>
            <a:endParaRPr lang="en-US" sz="2000" dirty="0"/>
          </a:p>
          <a:p>
            <a:pPr algn="just"/>
            <a:r>
              <a:rPr lang="en-US" sz="2400" dirty="0"/>
              <a:t>Example – </a:t>
            </a:r>
            <a:r>
              <a:rPr lang="en-US" sz="2400" dirty="0" err="1"/>
              <a:t>popcorn.php</a:t>
            </a:r>
            <a:endParaRPr lang="en-US" sz="2400" dirty="0"/>
          </a:p>
        </p:txBody>
      </p:sp>
    </p:spTree>
    <p:extLst>
      <p:ext uri="{BB962C8B-B14F-4D97-AF65-F5344CB8AC3E}">
        <p14:creationId xmlns:p14="http://schemas.microsoft.com/office/powerpoint/2010/main" val="90802063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B8CB5-1201-4A30-B50C-856E17DE0DD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94781D3-F3FC-7ADF-4AFC-FD5549EFCE6A}"/>
              </a:ext>
            </a:extLst>
          </p:cNvPr>
          <p:cNvSpPr>
            <a:spLocks noGrp="1"/>
          </p:cNvSpPr>
          <p:nvPr>
            <p:ph idx="1"/>
          </p:nvPr>
        </p:nvSpPr>
        <p:spPr>
          <a:xfrm>
            <a:off x="838200" y="301658"/>
            <a:ext cx="10515600" cy="6259398"/>
          </a:xfrm>
        </p:spPr>
        <p:txBody>
          <a:bodyPr>
            <a:normAutofit lnSpcReduction="10000"/>
          </a:bodyPr>
          <a:lstStyle/>
          <a:p>
            <a:pPr marL="0" indent="0">
              <a:buNone/>
            </a:pPr>
            <a:r>
              <a:rPr lang="en-IN" b="1" dirty="0"/>
              <a:t>11 Cookies</a:t>
            </a:r>
            <a:endParaRPr lang="en-US" b="1" dirty="0"/>
          </a:p>
          <a:p>
            <a:pPr marL="0" indent="0" algn="just">
              <a:buNone/>
            </a:pPr>
            <a:r>
              <a:rPr lang="en-IN" sz="2400" b="1" dirty="0"/>
              <a:t>11.1 Introduction to Cookies</a:t>
            </a:r>
            <a:endParaRPr lang="en-US" sz="2400" b="1" dirty="0"/>
          </a:p>
          <a:p>
            <a:pPr algn="just"/>
            <a:r>
              <a:rPr lang="en-US" sz="2400" dirty="0"/>
              <a:t>A </a:t>
            </a:r>
            <a:r>
              <a:rPr lang="en-US" sz="2400" i="1" dirty="0">
                <a:solidFill>
                  <a:srgbClr val="FF0000"/>
                </a:solidFill>
              </a:rPr>
              <a:t>session</a:t>
            </a:r>
            <a:r>
              <a:rPr lang="en-US" sz="2400" dirty="0"/>
              <a:t> is the time span during which a browser interacts with a particular server. </a:t>
            </a:r>
          </a:p>
          <a:p>
            <a:pPr algn="just"/>
            <a:r>
              <a:rPr lang="en-US" sz="2400" dirty="0"/>
              <a:t>A session begins when a browser connects to the server. </a:t>
            </a:r>
          </a:p>
          <a:p>
            <a:pPr algn="just"/>
            <a:r>
              <a:rPr lang="en-US" sz="2400" dirty="0"/>
              <a:t>That session ends either when the browser is terminated or because the server terminated the session because of client inactivity. </a:t>
            </a:r>
          </a:p>
          <a:p>
            <a:pPr algn="just"/>
            <a:r>
              <a:rPr lang="en-US" sz="2400" dirty="0"/>
              <a:t>The length of time a server uses as the maximum time of inactivity is set in the configuration of the server. </a:t>
            </a:r>
          </a:p>
          <a:p>
            <a:pPr algn="just"/>
            <a:r>
              <a:rPr lang="en-US" sz="2400" dirty="0"/>
              <a:t>For example, the default maximum for some servers is 30 minutes.</a:t>
            </a:r>
          </a:p>
          <a:p>
            <a:pPr algn="just"/>
            <a:r>
              <a:rPr lang="en-US" sz="2400" dirty="0"/>
              <a:t>The HTTP protocol is essentially stateless: It includes no means to store information about a session that is available to a subsequent session.</a:t>
            </a:r>
          </a:p>
          <a:p>
            <a:pPr algn="just"/>
            <a:r>
              <a:rPr lang="en-US" sz="2400" dirty="0"/>
              <a:t>However, there are a number of different reasons that it is useful for the server to be capable of connecting a request made during a session to the other requests made by the same client during that session, as well as to requests made during previous and subsequent sessions - </a:t>
            </a:r>
            <a:r>
              <a:rPr lang="en-US" sz="2400" dirty="0">
                <a:solidFill>
                  <a:srgbClr val="FF0000"/>
                </a:solidFill>
              </a:rPr>
              <a:t>shopping carts on Web sites</a:t>
            </a:r>
            <a:r>
              <a:rPr lang="en-US" sz="2400" dirty="0"/>
              <a:t>.</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p:txBody>
      </p:sp>
    </p:spTree>
    <p:extLst>
      <p:ext uri="{BB962C8B-B14F-4D97-AF65-F5344CB8AC3E}">
        <p14:creationId xmlns:p14="http://schemas.microsoft.com/office/powerpoint/2010/main" val="423418874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2660FD-1465-2584-972F-A6E8C00180E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34D1A7D-AA1E-B7B8-E80E-9BA1148887C3}"/>
              </a:ext>
            </a:extLst>
          </p:cNvPr>
          <p:cNvSpPr>
            <a:spLocks noGrp="1"/>
          </p:cNvSpPr>
          <p:nvPr>
            <p:ph idx="1"/>
          </p:nvPr>
        </p:nvSpPr>
        <p:spPr>
          <a:xfrm>
            <a:off x="838200" y="301658"/>
            <a:ext cx="10515600" cy="6259398"/>
          </a:xfrm>
        </p:spPr>
        <p:txBody>
          <a:bodyPr>
            <a:normAutofit lnSpcReduction="10000"/>
          </a:bodyPr>
          <a:lstStyle/>
          <a:p>
            <a:r>
              <a:rPr lang="en-US" dirty="0"/>
              <a:t>continued…</a:t>
            </a:r>
          </a:p>
          <a:p>
            <a:pPr algn="just"/>
            <a:r>
              <a:rPr lang="en-US" sz="2400" dirty="0"/>
              <a:t>An e-commerce site can have any number of simultaneous online customers. </a:t>
            </a:r>
          </a:p>
          <a:p>
            <a:pPr algn="just"/>
            <a:r>
              <a:rPr lang="en-US" sz="2400" dirty="0"/>
              <a:t>At any time, any customer can add an item to or remove an item from his or her cart. </a:t>
            </a:r>
          </a:p>
          <a:p>
            <a:pPr algn="just"/>
            <a:r>
              <a:rPr lang="en-US" sz="2400" dirty="0"/>
              <a:t>Each user’s shopping cart is identified by a session identifier, which could be implemented as a cookie. </a:t>
            </a:r>
          </a:p>
          <a:p>
            <a:pPr algn="just"/>
            <a:r>
              <a:rPr lang="en-US" sz="2400" dirty="0"/>
              <a:t>So, cookies can be used to identify each of the customers visiting the site at a given time.</a:t>
            </a:r>
          </a:p>
          <a:p>
            <a:pPr algn="just"/>
            <a:endParaRPr lang="en-US" sz="2400" dirty="0"/>
          </a:p>
          <a:p>
            <a:pPr algn="just"/>
            <a:r>
              <a:rPr lang="en-US" sz="2400" dirty="0"/>
              <a:t>Besides identifying customers, another common use of cookies is for a Web site to create profiles of visitors by remembering which parts of the site are perused by that visitor. Sometimes this is called </a:t>
            </a:r>
            <a:r>
              <a:rPr lang="en-US" sz="2400" dirty="0">
                <a:solidFill>
                  <a:srgbClr val="FF0000"/>
                </a:solidFill>
              </a:rPr>
              <a:t>personalization</a:t>
            </a:r>
            <a:r>
              <a:rPr lang="en-US" sz="2400" dirty="0"/>
              <a:t>.</a:t>
            </a:r>
          </a:p>
          <a:p>
            <a:pPr algn="just"/>
            <a:r>
              <a:rPr lang="en-US" sz="2400" dirty="0"/>
              <a:t>Later sessions can use such profiles to target advertising to the client in line with the client’s past interests.</a:t>
            </a:r>
          </a:p>
          <a:p>
            <a:pPr algn="just"/>
            <a:r>
              <a:rPr lang="en-US" sz="2400" dirty="0"/>
              <a:t>Storing session information is becoming increasingly important as more and more Web sites make use of shopping carts, targeted advertising, and personalization.</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p:txBody>
      </p:sp>
    </p:spTree>
    <p:extLst>
      <p:ext uri="{BB962C8B-B14F-4D97-AF65-F5344CB8AC3E}">
        <p14:creationId xmlns:p14="http://schemas.microsoft.com/office/powerpoint/2010/main" val="269309387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5E0E0A-6257-EF37-4B8E-376FA133452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5E6E93D-2979-7B87-6E9C-D73C58C22664}"/>
              </a:ext>
            </a:extLst>
          </p:cNvPr>
          <p:cNvSpPr>
            <a:spLocks noGrp="1"/>
          </p:cNvSpPr>
          <p:nvPr>
            <p:ph idx="1"/>
          </p:nvPr>
        </p:nvSpPr>
        <p:spPr>
          <a:xfrm>
            <a:off x="838200" y="301658"/>
            <a:ext cx="10515600" cy="6259398"/>
          </a:xfrm>
        </p:spPr>
        <p:txBody>
          <a:bodyPr/>
          <a:lstStyle/>
          <a:p>
            <a:r>
              <a:rPr lang="en-US" dirty="0"/>
              <a:t>continued…</a:t>
            </a:r>
          </a:p>
          <a:p>
            <a:pPr algn="just"/>
            <a:r>
              <a:rPr lang="en-US" sz="2400" dirty="0"/>
              <a:t>Cookies provide a general approach to storing information about sessions on the </a:t>
            </a:r>
            <a:r>
              <a:rPr lang="en-US" sz="2400" dirty="0">
                <a:solidFill>
                  <a:srgbClr val="FF0000"/>
                </a:solidFill>
              </a:rPr>
              <a:t>browser system </a:t>
            </a:r>
            <a:r>
              <a:rPr lang="en-US" sz="2400" dirty="0"/>
              <a:t>itself.</a:t>
            </a:r>
          </a:p>
          <a:p>
            <a:pPr algn="just"/>
            <a:endParaRPr lang="en-US" sz="2400" dirty="0"/>
          </a:p>
          <a:p>
            <a:pPr algn="just"/>
            <a:r>
              <a:rPr lang="en-US" sz="2400" dirty="0"/>
              <a:t>A </a:t>
            </a:r>
            <a:r>
              <a:rPr lang="en-US" sz="2400" dirty="0">
                <a:solidFill>
                  <a:srgbClr val="FF0000"/>
                </a:solidFill>
              </a:rPr>
              <a:t>cookie</a:t>
            </a:r>
            <a:r>
              <a:rPr lang="en-US" sz="2400" dirty="0"/>
              <a:t> is a small object of information that includes a name and a textual value. </a:t>
            </a:r>
          </a:p>
          <a:p>
            <a:pPr algn="just"/>
            <a:r>
              <a:rPr lang="en-US" sz="2400" dirty="0"/>
              <a:t>A cookie is created by some software system on the server. </a:t>
            </a:r>
          </a:p>
          <a:p>
            <a:pPr algn="just"/>
            <a:r>
              <a:rPr lang="en-US" sz="2400" dirty="0"/>
              <a:t>Every HTTP communication between a browser and a server includes a header, which stores information about the message. </a:t>
            </a:r>
          </a:p>
          <a:p>
            <a:pPr algn="just"/>
            <a:r>
              <a:rPr lang="en-US" sz="2400" dirty="0"/>
              <a:t>The </a:t>
            </a:r>
            <a:r>
              <a:rPr lang="en-US" sz="2400" dirty="0">
                <a:solidFill>
                  <a:srgbClr val="FF0000"/>
                </a:solidFill>
              </a:rPr>
              <a:t>header part </a:t>
            </a:r>
            <a:r>
              <a:rPr lang="en-US" sz="2400" dirty="0"/>
              <a:t>of an HTTP communication can include cookies. </a:t>
            </a:r>
          </a:p>
          <a:p>
            <a:pPr algn="just"/>
            <a:r>
              <a:rPr lang="en-US" sz="2400" dirty="0"/>
              <a:t>So, every request sent from a browser to a server, and every response from a server to a browser, can include one or more cookies.</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p:txBody>
      </p:sp>
      <p:pic>
        <p:nvPicPr>
          <p:cNvPr id="4" name="Picture 3">
            <a:extLst>
              <a:ext uri="{FF2B5EF4-FFF2-40B4-BE49-F238E27FC236}">
                <a16:creationId xmlns:a16="http://schemas.microsoft.com/office/drawing/2014/main" id="{70868E02-CC08-D831-5CDE-0F2EF53FE793}"/>
              </a:ext>
            </a:extLst>
          </p:cNvPr>
          <p:cNvPicPr>
            <a:picLocks noChangeAspect="1"/>
          </p:cNvPicPr>
          <p:nvPr/>
        </p:nvPicPr>
        <p:blipFill>
          <a:blip r:embed="rId2"/>
          <a:stretch>
            <a:fillRect/>
          </a:stretch>
        </p:blipFill>
        <p:spPr>
          <a:xfrm>
            <a:off x="937834" y="5082221"/>
            <a:ext cx="4541849" cy="1290298"/>
          </a:xfrm>
          <a:prstGeom prst="rect">
            <a:avLst/>
          </a:prstGeom>
        </p:spPr>
      </p:pic>
      <p:pic>
        <p:nvPicPr>
          <p:cNvPr id="6" name="Picture 5">
            <a:extLst>
              <a:ext uri="{FF2B5EF4-FFF2-40B4-BE49-F238E27FC236}">
                <a16:creationId xmlns:a16="http://schemas.microsoft.com/office/drawing/2014/main" id="{A6225029-48FB-EC2E-272C-813426A48BF3}"/>
              </a:ext>
            </a:extLst>
          </p:cNvPr>
          <p:cNvPicPr>
            <a:picLocks noChangeAspect="1"/>
          </p:cNvPicPr>
          <p:nvPr/>
        </p:nvPicPr>
        <p:blipFill>
          <a:blip r:embed="rId3"/>
          <a:stretch>
            <a:fillRect/>
          </a:stretch>
        </p:blipFill>
        <p:spPr>
          <a:xfrm>
            <a:off x="6001927" y="5082221"/>
            <a:ext cx="4829629" cy="1561092"/>
          </a:xfrm>
          <a:prstGeom prst="rect">
            <a:avLst/>
          </a:prstGeom>
        </p:spPr>
      </p:pic>
    </p:spTree>
    <p:extLst>
      <p:ext uri="{BB962C8B-B14F-4D97-AF65-F5344CB8AC3E}">
        <p14:creationId xmlns:p14="http://schemas.microsoft.com/office/powerpoint/2010/main" val="170633253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E506D8-D1A7-9662-5696-D7DACEC9F81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A21F1D6-D480-850D-BEEB-E240C0CC181F}"/>
              </a:ext>
            </a:extLst>
          </p:cNvPr>
          <p:cNvSpPr>
            <a:spLocks noGrp="1"/>
          </p:cNvSpPr>
          <p:nvPr>
            <p:ph idx="1"/>
          </p:nvPr>
        </p:nvSpPr>
        <p:spPr>
          <a:xfrm>
            <a:off x="838200" y="301658"/>
            <a:ext cx="10515600" cy="6259398"/>
          </a:xfrm>
        </p:spPr>
        <p:txBody>
          <a:bodyPr/>
          <a:lstStyle/>
          <a:p>
            <a:r>
              <a:rPr lang="en-US" dirty="0"/>
              <a:t>continued…</a:t>
            </a:r>
          </a:p>
          <a:p>
            <a:pPr algn="just"/>
            <a:r>
              <a:rPr lang="en-US" sz="2400" dirty="0"/>
              <a:t>At the time it is created, a cookie is assigned a </a:t>
            </a:r>
            <a:r>
              <a:rPr lang="en-US" sz="2400" dirty="0">
                <a:solidFill>
                  <a:srgbClr val="FF0000"/>
                </a:solidFill>
              </a:rPr>
              <a:t>lifetime </a:t>
            </a:r>
            <a:r>
              <a:rPr lang="en-US" sz="2400" dirty="0"/>
              <a:t>after it is deleted from the browsers host machine.</a:t>
            </a:r>
          </a:p>
          <a:p>
            <a:pPr algn="just"/>
            <a:r>
              <a:rPr lang="en-US" sz="2400" dirty="0"/>
              <a:t>Every browser request includes all of the cookies its host machine has stored that are associated with the </a:t>
            </a:r>
            <a:r>
              <a:rPr lang="en-US" sz="2400" dirty="0">
                <a:solidFill>
                  <a:srgbClr val="FF0000"/>
                </a:solidFill>
              </a:rPr>
              <a:t>Web server</a:t>
            </a:r>
            <a:r>
              <a:rPr lang="en-US" sz="2400" dirty="0"/>
              <a:t> to which the request is directed – the cookies are handled by the server which has created it. </a:t>
            </a:r>
          </a:p>
          <a:p>
            <a:pPr algn="just"/>
            <a:r>
              <a:rPr lang="en-US" sz="2400" dirty="0"/>
              <a:t>Because cookies allow servers to record browser activities, some consider them to involve </a:t>
            </a:r>
            <a:r>
              <a:rPr lang="en-US" sz="2400" dirty="0">
                <a:solidFill>
                  <a:srgbClr val="FF0000"/>
                </a:solidFill>
              </a:rPr>
              <a:t>privacy concerns</a:t>
            </a:r>
            <a:r>
              <a:rPr lang="en-US" sz="2400" dirty="0"/>
              <a:t>.</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p:txBody>
      </p:sp>
    </p:spTree>
    <p:extLst>
      <p:ext uri="{BB962C8B-B14F-4D97-AF65-F5344CB8AC3E}">
        <p14:creationId xmlns:p14="http://schemas.microsoft.com/office/powerpoint/2010/main" val="327666472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A170DB-0850-0D71-C279-5A7943C5A17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7822D1A-2517-E2A5-B195-C904F32F490F}"/>
              </a:ext>
            </a:extLst>
          </p:cNvPr>
          <p:cNvSpPr>
            <a:spLocks noGrp="1"/>
          </p:cNvSpPr>
          <p:nvPr>
            <p:ph idx="1"/>
          </p:nvPr>
        </p:nvSpPr>
        <p:spPr>
          <a:xfrm>
            <a:off x="838200" y="301658"/>
            <a:ext cx="10515600" cy="6259398"/>
          </a:xfrm>
        </p:spPr>
        <p:txBody>
          <a:bodyPr/>
          <a:lstStyle/>
          <a:p>
            <a:pPr marL="0" indent="0">
              <a:buNone/>
            </a:pPr>
            <a:r>
              <a:rPr lang="en-US" b="1" dirty="0"/>
              <a:t>11.2 PHP Support for Cookies</a:t>
            </a:r>
          </a:p>
          <a:p>
            <a:pPr algn="just"/>
            <a:r>
              <a:rPr lang="en-US" sz="2400" dirty="0"/>
              <a:t>A cookie is set in PHP with the </a:t>
            </a:r>
            <a:r>
              <a:rPr lang="en-US" sz="2400" dirty="0" err="1">
                <a:solidFill>
                  <a:srgbClr val="FF0000"/>
                </a:solidFill>
              </a:rPr>
              <a:t>setcookie</a:t>
            </a:r>
            <a:r>
              <a:rPr lang="en-US" sz="2400" dirty="0"/>
              <a:t> function.</a:t>
            </a:r>
          </a:p>
          <a:p>
            <a:pPr algn="just"/>
            <a:r>
              <a:rPr lang="en-US" sz="2400" dirty="0"/>
              <a:t>This function takes one or more parameters. </a:t>
            </a:r>
          </a:p>
          <a:p>
            <a:pPr algn="just"/>
            <a:r>
              <a:rPr lang="en-US" sz="2400" dirty="0"/>
              <a:t>The </a:t>
            </a:r>
            <a:r>
              <a:rPr lang="en-US" sz="2400" dirty="0">
                <a:solidFill>
                  <a:srgbClr val="FF0000"/>
                </a:solidFill>
              </a:rPr>
              <a:t>first parameter</a:t>
            </a:r>
            <a:r>
              <a:rPr lang="en-US" sz="2400" dirty="0"/>
              <a:t>, which is mandatory, is the </a:t>
            </a:r>
            <a:r>
              <a:rPr lang="en-US" sz="2400" dirty="0">
                <a:solidFill>
                  <a:srgbClr val="FF0000"/>
                </a:solidFill>
              </a:rPr>
              <a:t>cookie’s name </a:t>
            </a:r>
            <a:r>
              <a:rPr lang="en-US" sz="2400" dirty="0"/>
              <a:t>given as a string. </a:t>
            </a:r>
          </a:p>
          <a:p>
            <a:pPr algn="just"/>
            <a:r>
              <a:rPr lang="en-US" sz="2400" dirty="0"/>
              <a:t>The </a:t>
            </a:r>
            <a:r>
              <a:rPr lang="en-US" sz="2400" dirty="0">
                <a:solidFill>
                  <a:srgbClr val="FF0000"/>
                </a:solidFill>
              </a:rPr>
              <a:t>second</a:t>
            </a:r>
            <a:r>
              <a:rPr lang="en-US" sz="2400" dirty="0"/>
              <a:t>, if present, is the </a:t>
            </a:r>
            <a:r>
              <a:rPr lang="en-US" sz="2400" dirty="0">
                <a:solidFill>
                  <a:srgbClr val="FF0000"/>
                </a:solidFill>
              </a:rPr>
              <a:t>new value </a:t>
            </a:r>
            <a:r>
              <a:rPr lang="en-US" sz="2400" dirty="0"/>
              <a:t>for the cookie, also a string. If the value is absent, </a:t>
            </a:r>
            <a:r>
              <a:rPr lang="en-US" sz="2400" dirty="0" err="1"/>
              <a:t>setcookie</a:t>
            </a:r>
            <a:r>
              <a:rPr lang="en-US" sz="2400" dirty="0"/>
              <a:t> undefines the cookie. </a:t>
            </a:r>
          </a:p>
          <a:p>
            <a:pPr algn="just"/>
            <a:r>
              <a:rPr lang="en-US" sz="2400" dirty="0"/>
              <a:t>The </a:t>
            </a:r>
            <a:r>
              <a:rPr lang="en-US" sz="2400" dirty="0">
                <a:solidFill>
                  <a:srgbClr val="FF0000"/>
                </a:solidFill>
              </a:rPr>
              <a:t>third parameter</a:t>
            </a:r>
            <a:r>
              <a:rPr lang="en-US" sz="2400" dirty="0"/>
              <a:t>, when present, is the </a:t>
            </a:r>
            <a:r>
              <a:rPr lang="en-US" sz="2400" dirty="0">
                <a:solidFill>
                  <a:srgbClr val="FF0000"/>
                </a:solidFill>
              </a:rPr>
              <a:t>expiration time </a:t>
            </a:r>
            <a:r>
              <a:rPr lang="en-US" sz="2400" dirty="0"/>
              <a:t>in seconds for the cookie, given</a:t>
            </a:r>
            <a:r>
              <a:rPr lang="en-IN" sz="2400" dirty="0"/>
              <a:t> as an integer.</a:t>
            </a:r>
          </a:p>
          <a:p>
            <a:pPr algn="just"/>
            <a:r>
              <a:rPr lang="en-US" sz="2400" dirty="0"/>
              <a:t>The default value for the expiration time is zero, which specifies that the cookie is destroyed at the end of the current session.</a:t>
            </a:r>
          </a:p>
          <a:p>
            <a:pPr marL="457200" lvl="1" indent="0" algn="just">
              <a:buNone/>
            </a:pPr>
            <a:r>
              <a:rPr lang="en-US" sz="2000" dirty="0" err="1"/>
              <a:t>setcookie</a:t>
            </a:r>
            <a:r>
              <a:rPr lang="en-US" sz="2000" dirty="0"/>
              <a:t>("voted", "true", time() + 86400);</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p:txBody>
      </p:sp>
    </p:spTree>
    <p:extLst>
      <p:ext uri="{BB962C8B-B14F-4D97-AF65-F5344CB8AC3E}">
        <p14:creationId xmlns:p14="http://schemas.microsoft.com/office/powerpoint/2010/main" val="173211525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2F376F-6F0A-7F8F-4438-E31EA8EAF23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8E0524-6EC5-40BE-5BCC-53817F3F1A6E}"/>
              </a:ext>
            </a:extLst>
          </p:cNvPr>
          <p:cNvSpPr>
            <a:spLocks noGrp="1"/>
          </p:cNvSpPr>
          <p:nvPr>
            <p:ph idx="1"/>
          </p:nvPr>
        </p:nvSpPr>
        <p:spPr>
          <a:xfrm>
            <a:off x="838200" y="301658"/>
            <a:ext cx="10515600" cy="6259398"/>
          </a:xfrm>
        </p:spPr>
        <p:txBody>
          <a:bodyPr/>
          <a:lstStyle/>
          <a:p>
            <a:r>
              <a:rPr lang="en-US" dirty="0"/>
              <a:t>continued…</a:t>
            </a:r>
          </a:p>
          <a:p>
            <a:pPr algn="just"/>
            <a:r>
              <a:rPr lang="en-US" sz="2400" dirty="0"/>
              <a:t>The other cookie operation is getting the cookies and their values from sub sequent browser requests. </a:t>
            </a:r>
          </a:p>
          <a:p>
            <a:pPr algn="just"/>
            <a:r>
              <a:rPr lang="en-US" sz="2400" dirty="0"/>
              <a:t>In PHP, cookie values are treated much as are form values. All cookies that arrive with a request are placed in the implicit </a:t>
            </a:r>
            <a:r>
              <a:rPr lang="en-US" sz="2400" dirty="0">
                <a:solidFill>
                  <a:srgbClr val="FF0000"/>
                </a:solidFill>
              </a:rPr>
              <a:t>$_COOKIES </a:t>
            </a:r>
            <a:r>
              <a:rPr lang="en-US" sz="2400" dirty="0"/>
              <a:t>array, which has the cookie names as keys and the cookie values as values. </a:t>
            </a:r>
          </a:p>
          <a:p>
            <a:pPr algn="just"/>
            <a:r>
              <a:rPr lang="en-US" sz="2400" dirty="0"/>
              <a:t>A PHP script can test whether a cookie came with a request by using the </a:t>
            </a:r>
            <a:r>
              <a:rPr lang="en-US" sz="2400" dirty="0" err="1">
                <a:solidFill>
                  <a:srgbClr val="FF0000"/>
                </a:solidFill>
              </a:rPr>
              <a:t>IsSet</a:t>
            </a:r>
            <a:r>
              <a:rPr lang="en-US" sz="2400" dirty="0"/>
              <a:t> predicate function on the associated variable.</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p:txBody>
      </p:sp>
    </p:spTree>
    <p:extLst>
      <p:ext uri="{BB962C8B-B14F-4D97-AF65-F5344CB8AC3E}">
        <p14:creationId xmlns:p14="http://schemas.microsoft.com/office/powerpoint/2010/main" val="145130779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A75A9-D1E5-AA22-A410-60FC149D46F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50DA2A-FB29-63D9-57AF-2D6A05BF6431}"/>
              </a:ext>
            </a:extLst>
          </p:cNvPr>
          <p:cNvSpPr>
            <a:spLocks noGrp="1"/>
          </p:cNvSpPr>
          <p:nvPr>
            <p:ph idx="1"/>
          </p:nvPr>
        </p:nvSpPr>
        <p:spPr>
          <a:xfrm>
            <a:off x="838200" y="301658"/>
            <a:ext cx="10515600" cy="6259398"/>
          </a:xfrm>
        </p:spPr>
        <p:txBody>
          <a:bodyPr/>
          <a:lstStyle/>
          <a:p>
            <a:pPr marL="0" indent="0">
              <a:buNone/>
            </a:pPr>
            <a:r>
              <a:rPr lang="en-IN" b="1" dirty="0"/>
              <a:t>12 Session Tracking</a:t>
            </a:r>
            <a:endParaRPr lang="en-US" b="1" dirty="0"/>
          </a:p>
          <a:p>
            <a:pPr algn="just"/>
            <a:r>
              <a:rPr lang="en-US" sz="2400" dirty="0"/>
              <a:t>In some cases, information about a session is needed only during the session. </a:t>
            </a:r>
          </a:p>
          <a:p>
            <a:pPr algn="just"/>
            <a:r>
              <a:rPr lang="en-US" sz="2400" dirty="0"/>
              <a:t>Also, the needed information about a client is nothing more than a unique identifier for the session—commonly used in shopping cart applications. </a:t>
            </a:r>
          </a:p>
          <a:p>
            <a:pPr algn="just"/>
            <a:r>
              <a:rPr lang="en-US" sz="2400" dirty="0"/>
              <a:t>For these cases, a different process, named </a:t>
            </a:r>
            <a:r>
              <a:rPr lang="en-US" sz="2400" dirty="0">
                <a:solidFill>
                  <a:srgbClr val="FF0000"/>
                </a:solidFill>
              </a:rPr>
              <a:t>session tracking</a:t>
            </a:r>
            <a:r>
              <a:rPr lang="en-US" sz="2400" dirty="0"/>
              <a:t>, can be used. </a:t>
            </a:r>
          </a:p>
          <a:p>
            <a:pPr algn="just"/>
            <a:r>
              <a:rPr lang="en-US" sz="2400" dirty="0"/>
              <a:t>Rather than using one or more cookies, a single session array can be used to store information about the previous requests of a client during a session.</a:t>
            </a:r>
          </a:p>
          <a:p>
            <a:pPr algn="just"/>
            <a:r>
              <a:rPr lang="en-US" sz="2400" dirty="0"/>
              <a:t>In particular, session arrays often store a unique session ID for a session. </a:t>
            </a:r>
          </a:p>
          <a:p>
            <a:pPr algn="just"/>
            <a:r>
              <a:rPr lang="en-US" sz="2400" dirty="0"/>
              <a:t>One significant way that </a:t>
            </a:r>
            <a:r>
              <a:rPr lang="en-US" sz="2400" dirty="0">
                <a:solidFill>
                  <a:srgbClr val="FF0000"/>
                </a:solidFill>
              </a:rPr>
              <a:t>session arrays differ from cookies </a:t>
            </a:r>
            <a:r>
              <a:rPr lang="en-US" sz="2400" dirty="0"/>
              <a:t>is that they can be stored on the server, whereas cookies are stored on the client.</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p:txBody>
      </p:sp>
    </p:spTree>
    <p:extLst>
      <p:ext uri="{BB962C8B-B14F-4D97-AF65-F5344CB8AC3E}">
        <p14:creationId xmlns:p14="http://schemas.microsoft.com/office/powerpoint/2010/main" val="82284602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0963B1-639C-3A61-0272-608C32B899B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CEB3E28-74BE-4280-91A8-8E27BD5CFEF0}"/>
              </a:ext>
            </a:extLst>
          </p:cNvPr>
          <p:cNvSpPr>
            <a:spLocks noGrp="1"/>
          </p:cNvSpPr>
          <p:nvPr>
            <p:ph idx="1"/>
          </p:nvPr>
        </p:nvSpPr>
        <p:spPr>
          <a:xfrm>
            <a:off x="838200" y="301658"/>
            <a:ext cx="10515600" cy="6259398"/>
          </a:xfrm>
        </p:spPr>
        <p:txBody>
          <a:bodyPr>
            <a:normAutofit/>
          </a:bodyPr>
          <a:lstStyle/>
          <a:p>
            <a:r>
              <a:rPr lang="en-US" dirty="0"/>
              <a:t>continued…</a:t>
            </a:r>
          </a:p>
          <a:p>
            <a:pPr algn="just"/>
            <a:r>
              <a:rPr lang="en-US" sz="2400" dirty="0"/>
              <a:t>In PHP, a session ID is an internal value that identifies the session.</a:t>
            </a:r>
          </a:p>
          <a:p>
            <a:pPr algn="just"/>
            <a:r>
              <a:rPr lang="en-US" sz="2400" dirty="0"/>
              <a:t>PHP is made aware that a script is interested in session tracking by calling the </a:t>
            </a:r>
            <a:r>
              <a:rPr lang="en-US" sz="2400" dirty="0">
                <a:solidFill>
                  <a:srgbClr val="FF0000"/>
                </a:solidFill>
              </a:rPr>
              <a:t>session_ start </a:t>
            </a:r>
            <a:r>
              <a:rPr lang="en-US" sz="2400" dirty="0"/>
              <a:t>function, which takes no parameters.</a:t>
            </a:r>
          </a:p>
          <a:p>
            <a:pPr algn="just"/>
            <a:r>
              <a:rPr lang="en-US" sz="2400" dirty="0"/>
              <a:t>The first call to </a:t>
            </a:r>
            <a:r>
              <a:rPr lang="en-US" sz="2400" dirty="0" err="1">
                <a:solidFill>
                  <a:srgbClr val="FF0000"/>
                </a:solidFill>
              </a:rPr>
              <a:t>session_start</a:t>
            </a:r>
            <a:r>
              <a:rPr lang="en-US" sz="2400" dirty="0">
                <a:solidFill>
                  <a:srgbClr val="FF0000"/>
                </a:solidFill>
              </a:rPr>
              <a:t> </a:t>
            </a:r>
            <a:r>
              <a:rPr lang="en-US" sz="2400" dirty="0"/>
              <a:t>in a session causes a session ID to be created and recorded.</a:t>
            </a:r>
          </a:p>
          <a:p>
            <a:pPr algn="just"/>
            <a:r>
              <a:rPr lang="en-US" sz="2400" dirty="0"/>
              <a:t>On subsequent calls to </a:t>
            </a:r>
            <a:r>
              <a:rPr lang="en-US" sz="2400" dirty="0" err="1">
                <a:solidFill>
                  <a:srgbClr val="FF0000"/>
                </a:solidFill>
              </a:rPr>
              <a:t>session_start</a:t>
            </a:r>
            <a:r>
              <a:rPr lang="en-US" sz="2400" dirty="0">
                <a:solidFill>
                  <a:srgbClr val="FF0000"/>
                </a:solidFill>
              </a:rPr>
              <a:t> </a:t>
            </a:r>
            <a:r>
              <a:rPr lang="en-US" sz="2400" dirty="0"/>
              <a:t>in the same session, the function retrieves the </a:t>
            </a:r>
            <a:r>
              <a:rPr lang="en-US" sz="2400" dirty="0">
                <a:solidFill>
                  <a:srgbClr val="FF0000"/>
                </a:solidFill>
              </a:rPr>
              <a:t>$_SESSION array</a:t>
            </a:r>
            <a:r>
              <a:rPr lang="en-US" sz="2400" dirty="0"/>
              <a:t>, which stores any session variables and their values that were registered in previously executed scripts in that session.</a:t>
            </a:r>
          </a:p>
          <a:p>
            <a:pPr algn="just"/>
            <a:r>
              <a:rPr lang="en-US" sz="2400" dirty="0"/>
              <a:t>Session key-value pairs are created or changed by assignments to the </a:t>
            </a:r>
            <a:r>
              <a:rPr lang="en-US" sz="2400" dirty="0">
                <a:solidFill>
                  <a:srgbClr val="FF0000"/>
                </a:solidFill>
              </a:rPr>
              <a:t>$_SESSION array</a:t>
            </a:r>
            <a:r>
              <a:rPr lang="en-US" sz="2400" dirty="0"/>
              <a:t>. They can be destroyed with the unset operator</a:t>
            </a:r>
          </a:p>
          <a:p>
            <a:pPr marL="914400" lvl="2" indent="0" algn="just">
              <a:buNone/>
            </a:pPr>
            <a:r>
              <a:rPr lang="en-US" sz="1600" dirty="0" err="1"/>
              <a:t>session_start</a:t>
            </a:r>
            <a:r>
              <a:rPr lang="en-US" sz="1600" dirty="0"/>
              <a:t>();</a:t>
            </a:r>
          </a:p>
          <a:p>
            <a:pPr marL="914400" lvl="2" indent="0" algn="just">
              <a:buNone/>
            </a:pPr>
            <a:r>
              <a:rPr lang="en-US" sz="1600" dirty="0"/>
              <a:t> if (!</a:t>
            </a:r>
            <a:r>
              <a:rPr lang="en-US" sz="1600" dirty="0" err="1"/>
              <a:t>IsSet</a:t>
            </a:r>
            <a:r>
              <a:rPr lang="en-US" sz="1600" dirty="0"/>
              <a:t>($_SESSION["</a:t>
            </a:r>
            <a:r>
              <a:rPr lang="en-US" sz="1600" dirty="0" err="1"/>
              <a:t>page_number</a:t>
            </a:r>
            <a:r>
              <a:rPr lang="en-US" sz="1600" dirty="0"/>
              <a:t>"]))</a:t>
            </a:r>
          </a:p>
          <a:p>
            <a:pPr marL="914400" lvl="2" indent="0" algn="just">
              <a:buNone/>
            </a:pPr>
            <a:r>
              <a:rPr lang="en-US" sz="1600" dirty="0"/>
              <a:t>  $_SESSION["</a:t>
            </a:r>
            <a:r>
              <a:rPr lang="en-US" sz="1600" dirty="0" err="1"/>
              <a:t>page_number</a:t>
            </a:r>
            <a:r>
              <a:rPr lang="en-US" sz="1600" dirty="0"/>
              <a:t>"] = 1;</a:t>
            </a:r>
          </a:p>
          <a:p>
            <a:pPr marL="914400" lvl="2" indent="0" algn="just">
              <a:buNone/>
            </a:pPr>
            <a:r>
              <a:rPr lang="en-US" sz="1600" dirty="0"/>
              <a:t> $</a:t>
            </a:r>
            <a:r>
              <a:rPr lang="en-US" sz="1600" dirty="0" err="1"/>
              <a:t>page_num</a:t>
            </a:r>
            <a:r>
              <a:rPr lang="en-US" sz="1600" dirty="0"/>
              <a:t> = $_SESSION["</a:t>
            </a:r>
            <a:r>
              <a:rPr lang="en-US" sz="1600" dirty="0" err="1"/>
              <a:t>page_number</a:t>
            </a:r>
            <a:r>
              <a:rPr lang="en-US" sz="1600" dirty="0"/>
              <a:t>"];</a:t>
            </a:r>
          </a:p>
          <a:p>
            <a:pPr marL="914400" lvl="2" indent="0" algn="just">
              <a:buNone/>
            </a:pPr>
            <a:r>
              <a:rPr lang="en-US" sz="1600" dirty="0"/>
              <a:t> print("You have now visited $</a:t>
            </a:r>
            <a:r>
              <a:rPr lang="en-US" sz="1600" dirty="0" err="1"/>
              <a:t>page_num</a:t>
            </a:r>
            <a:r>
              <a:rPr lang="en-US" sz="1600" dirty="0"/>
              <a:t> page(s) &lt;</a:t>
            </a:r>
            <a:r>
              <a:rPr lang="en-US" sz="1600" dirty="0" err="1"/>
              <a:t>br</a:t>
            </a:r>
            <a:r>
              <a:rPr lang="en-US" sz="1600" dirty="0"/>
              <a:t> /&gt;");</a:t>
            </a:r>
          </a:p>
          <a:p>
            <a:pPr marL="914400" lvl="2" indent="0" algn="just">
              <a:buNone/>
            </a:pPr>
            <a:r>
              <a:rPr lang="en-US" sz="1600" dirty="0"/>
              <a:t> $_SESSION["</a:t>
            </a:r>
            <a:r>
              <a:rPr lang="en-US" sz="1600" dirty="0" err="1"/>
              <a:t>page_number</a:t>
            </a:r>
            <a:r>
              <a:rPr lang="en-US" sz="1600" dirty="0"/>
              <a:t>"]++;</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p:txBody>
      </p:sp>
    </p:spTree>
    <p:extLst>
      <p:ext uri="{BB962C8B-B14F-4D97-AF65-F5344CB8AC3E}">
        <p14:creationId xmlns:p14="http://schemas.microsoft.com/office/powerpoint/2010/main" val="75970265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54599-935F-74C0-8B33-DDE58D31228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5E8624-1774-412F-19EB-D71D73D6113E}"/>
              </a:ext>
            </a:extLst>
          </p:cNvPr>
          <p:cNvSpPr>
            <a:spLocks noGrp="1"/>
          </p:cNvSpPr>
          <p:nvPr>
            <p:ph idx="1"/>
          </p:nvPr>
        </p:nvSpPr>
        <p:spPr>
          <a:xfrm>
            <a:off x="838200" y="301658"/>
            <a:ext cx="10515600" cy="6259398"/>
          </a:xfrm>
        </p:spPr>
        <p:txBody>
          <a:bodyPr/>
          <a:lstStyle/>
          <a:p>
            <a:r>
              <a:rPr lang="en-US" dirty="0"/>
              <a:t>continued…</a:t>
            </a:r>
          </a:p>
          <a:p>
            <a:pPr algn="just"/>
            <a:r>
              <a:rPr lang="en-US" sz="2400" dirty="0"/>
              <a:t>If this is not the first document visited that calls </a:t>
            </a:r>
            <a:r>
              <a:rPr lang="en-US" sz="2400" dirty="0" err="1">
                <a:solidFill>
                  <a:srgbClr val="FF0000"/>
                </a:solidFill>
              </a:rPr>
              <a:t>session_start</a:t>
            </a:r>
            <a:r>
              <a:rPr lang="en-US" sz="2400" dirty="0"/>
              <a:t> and sets the </a:t>
            </a:r>
            <a:r>
              <a:rPr lang="en-US" sz="2400" dirty="0" err="1">
                <a:solidFill>
                  <a:srgbClr val="FF0000"/>
                </a:solidFill>
              </a:rPr>
              <a:t>page_number</a:t>
            </a:r>
            <a:r>
              <a:rPr lang="en-US" sz="2400" dirty="0">
                <a:solidFill>
                  <a:srgbClr val="FF0000"/>
                </a:solidFill>
              </a:rPr>
              <a:t> </a:t>
            </a:r>
            <a:r>
              <a:rPr lang="en-US" sz="2400" dirty="0"/>
              <a:t>session variable, the script that it executes will produce the specified line with the last set value of $_SESSION["</a:t>
            </a:r>
            <a:r>
              <a:rPr lang="en-US" sz="2400" dirty="0" err="1"/>
              <a:t>page_number</a:t>
            </a:r>
            <a:r>
              <a:rPr lang="en-US" sz="2400" dirty="0"/>
              <a:t>"]. </a:t>
            </a:r>
          </a:p>
          <a:p>
            <a:pPr algn="just"/>
            <a:r>
              <a:rPr lang="en-US" sz="2400" dirty="0"/>
              <a:t>If no document that was previously visited in this session set </a:t>
            </a:r>
            <a:r>
              <a:rPr lang="en-US" sz="2400" dirty="0" err="1"/>
              <a:t>page_number</a:t>
            </a:r>
            <a:r>
              <a:rPr lang="en-US" sz="2400" dirty="0"/>
              <a:t>, the script sets </a:t>
            </a:r>
            <a:r>
              <a:rPr lang="en-US" sz="2400" dirty="0" err="1"/>
              <a:t>page_number</a:t>
            </a:r>
            <a:r>
              <a:rPr lang="en-US" sz="2400" dirty="0"/>
              <a:t> to 1</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p:txBody>
      </p:sp>
    </p:spTree>
    <p:extLst>
      <p:ext uri="{BB962C8B-B14F-4D97-AF65-F5344CB8AC3E}">
        <p14:creationId xmlns:p14="http://schemas.microsoft.com/office/powerpoint/2010/main" val="371192979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D86D0C-5CA8-D191-EEF0-28AAFDA0D9C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20353B4-61DE-0128-87B0-881393359A42}"/>
              </a:ext>
            </a:extLst>
          </p:cNvPr>
          <p:cNvSpPr>
            <a:spLocks noGrp="1"/>
          </p:cNvSpPr>
          <p:nvPr>
            <p:ph idx="1"/>
          </p:nvPr>
        </p:nvSpPr>
        <p:spPr>
          <a:xfrm>
            <a:off x="838200" y="301658"/>
            <a:ext cx="10515600" cy="6259398"/>
          </a:xfrm>
        </p:spPr>
        <p:txBody>
          <a:bodyPr/>
          <a:lstStyle/>
          <a:p>
            <a:r>
              <a:rPr lang="en-US" dirty="0">
                <a:solidFill>
                  <a:srgbClr val="FF0000"/>
                </a:solidFill>
              </a:rPr>
              <a:t>Database Access with PHP and MySQL</a:t>
            </a:r>
          </a:p>
          <a:p>
            <a:r>
              <a:rPr lang="en-US" sz="2400" b="1" dirty="0"/>
              <a:t>1. Create the Database Table (MySQL)</a:t>
            </a:r>
          </a:p>
          <a:p>
            <a:r>
              <a:rPr lang="en-US" sz="2400" dirty="0"/>
              <a:t>Run this SQL in phpMyAdmin:</a:t>
            </a:r>
          </a:p>
          <a:p>
            <a:pPr marL="457200" lvl="1" indent="0" algn="just">
              <a:buNone/>
            </a:pPr>
            <a:endParaRPr lang="en-US" sz="2000" dirty="0"/>
          </a:p>
          <a:p>
            <a:pPr marL="457200" lvl="1" indent="0" algn="just">
              <a:buNone/>
            </a:pPr>
            <a:r>
              <a:rPr lang="en-US" sz="2000" dirty="0"/>
              <a:t>CREATE DATABASE </a:t>
            </a:r>
            <a:r>
              <a:rPr lang="en-US" sz="2000" dirty="0" err="1"/>
              <a:t>studentdb</a:t>
            </a:r>
            <a:r>
              <a:rPr lang="en-US" sz="2000" dirty="0"/>
              <a:t>;</a:t>
            </a:r>
          </a:p>
          <a:p>
            <a:pPr marL="457200" lvl="1" indent="0" algn="just">
              <a:buNone/>
            </a:pPr>
            <a:endParaRPr lang="en-US" sz="2000" dirty="0"/>
          </a:p>
          <a:p>
            <a:pPr marL="457200" lvl="1" indent="0" algn="just">
              <a:buNone/>
            </a:pPr>
            <a:r>
              <a:rPr lang="en-US" sz="2000" dirty="0"/>
              <a:t>USE </a:t>
            </a:r>
            <a:r>
              <a:rPr lang="en-US" sz="2000" dirty="0" err="1"/>
              <a:t>studentdb</a:t>
            </a:r>
            <a:r>
              <a:rPr lang="en-US" sz="2000" dirty="0"/>
              <a:t>;</a:t>
            </a:r>
          </a:p>
          <a:p>
            <a:pPr marL="457200" lvl="1" indent="0" algn="just">
              <a:buNone/>
            </a:pPr>
            <a:endParaRPr lang="en-US" sz="2000" dirty="0"/>
          </a:p>
          <a:p>
            <a:pPr marL="457200" lvl="1" indent="0" algn="just">
              <a:buNone/>
            </a:pPr>
            <a:r>
              <a:rPr lang="en-US" sz="2000" dirty="0"/>
              <a:t>CREATE TABLE students (</a:t>
            </a:r>
          </a:p>
          <a:p>
            <a:pPr marL="457200" lvl="1" indent="0" algn="just">
              <a:buNone/>
            </a:pPr>
            <a:r>
              <a:rPr lang="en-US" sz="2000" dirty="0"/>
              <a:t>    regno INT PRIMARY KEY,</a:t>
            </a:r>
          </a:p>
          <a:p>
            <a:pPr marL="457200" lvl="1" indent="0" algn="just">
              <a:buNone/>
            </a:pPr>
            <a:r>
              <a:rPr lang="en-US" sz="2000" dirty="0"/>
              <a:t>    name VARCHAR(50),</a:t>
            </a:r>
          </a:p>
          <a:p>
            <a:pPr marL="457200" lvl="1" indent="0" algn="just">
              <a:buNone/>
            </a:pPr>
            <a:r>
              <a:rPr lang="en-US" sz="2000" dirty="0"/>
              <a:t>    age INT,</a:t>
            </a:r>
          </a:p>
          <a:p>
            <a:pPr marL="457200" lvl="1" indent="0" algn="just">
              <a:buNone/>
            </a:pPr>
            <a:r>
              <a:rPr lang="en-US" sz="2000" dirty="0"/>
              <a:t>    address VARCHAR(100)</a:t>
            </a:r>
          </a:p>
          <a:p>
            <a:pPr marL="457200" lvl="1" indent="0" algn="just">
              <a:buNone/>
            </a:pPr>
            <a:r>
              <a:rPr lang="en-US" sz="2000" dirty="0"/>
              <a:t>);</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p:txBody>
      </p:sp>
    </p:spTree>
    <p:extLst>
      <p:ext uri="{BB962C8B-B14F-4D97-AF65-F5344CB8AC3E}">
        <p14:creationId xmlns:p14="http://schemas.microsoft.com/office/powerpoint/2010/main" val="326999596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BACF77-987A-982A-E6B1-DFC9F039D9A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238ADBB-A2A9-A3C9-D2FA-E131BE9E43B9}"/>
              </a:ext>
            </a:extLst>
          </p:cNvPr>
          <p:cNvSpPr>
            <a:spLocks noGrp="1"/>
          </p:cNvSpPr>
          <p:nvPr>
            <p:ph idx="1"/>
          </p:nvPr>
        </p:nvSpPr>
        <p:spPr>
          <a:xfrm>
            <a:off x="838200" y="301658"/>
            <a:ext cx="10515600" cy="6259398"/>
          </a:xfrm>
        </p:spPr>
        <p:txBody>
          <a:bodyPr>
            <a:normAutofit fontScale="85000" lnSpcReduction="20000"/>
          </a:bodyPr>
          <a:lstStyle/>
          <a:p>
            <a:r>
              <a:rPr lang="en-US" dirty="0"/>
              <a:t>continued…</a:t>
            </a:r>
          </a:p>
          <a:p>
            <a:pPr marL="457200" lvl="1" indent="0" algn="just">
              <a:buNone/>
            </a:pPr>
            <a:r>
              <a:rPr lang="en-US" sz="2000" dirty="0"/>
              <a:t>&lt;?</a:t>
            </a:r>
            <a:r>
              <a:rPr lang="en-US" sz="2000" dirty="0" err="1"/>
              <a:t>php</a:t>
            </a:r>
            <a:endParaRPr lang="en-US" sz="2000" dirty="0"/>
          </a:p>
          <a:p>
            <a:pPr marL="457200" lvl="1" indent="0" algn="just">
              <a:buNone/>
            </a:pPr>
            <a:r>
              <a:rPr lang="en-US" sz="2000" dirty="0"/>
              <a:t>$host = "localhost";</a:t>
            </a:r>
          </a:p>
          <a:p>
            <a:pPr marL="457200" lvl="1" indent="0" algn="just">
              <a:buNone/>
            </a:pPr>
            <a:r>
              <a:rPr lang="en-US" sz="2000" dirty="0"/>
              <a:t>$user = "root";</a:t>
            </a:r>
          </a:p>
          <a:p>
            <a:pPr marL="457200" lvl="1" indent="0" algn="just">
              <a:buNone/>
            </a:pPr>
            <a:r>
              <a:rPr lang="en-US" sz="2000" dirty="0"/>
              <a:t>$pass = "";</a:t>
            </a:r>
          </a:p>
          <a:p>
            <a:pPr marL="457200" lvl="1" indent="0" algn="just">
              <a:buNone/>
            </a:pPr>
            <a:r>
              <a:rPr lang="en-US" sz="2000" dirty="0"/>
              <a:t>$</a:t>
            </a:r>
            <a:r>
              <a:rPr lang="en-US" sz="2000" dirty="0" err="1"/>
              <a:t>db</a:t>
            </a:r>
            <a:r>
              <a:rPr lang="en-US" sz="2000" dirty="0"/>
              <a:t>   = "</a:t>
            </a:r>
            <a:r>
              <a:rPr lang="en-US" sz="2000" dirty="0" err="1"/>
              <a:t>studentdb</a:t>
            </a:r>
            <a:r>
              <a:rPr lang="en-US" sz="2000" dirty="0"/>
              <a:t>";</a:t>
            </a:r>
          </a:p>
          <a:p>
            <a:pPr marL="457200" lvl="1" indent="0" algn="just">
              <a:buNone/>
            </a:pPr>
            <a:endParaRPr lang="en-US" sz="2000" dirty="0"/>
          </a:p>
          <a:p>
            <a:pPr marL="457200" lvl="1" indent="0" algn="just">
              <a:buNone/>
            </a:pPr>
            <a:r>
              <a:rPr lang="en-US" sz="2000" dirty="0">
                <a:solidFill>
                  <a:srgbClr val="FF0000"/>
                </a:solidFill>
              </a:rPr>
              <a:t>// Create connection</a:t>
            </a:r>
          </a:p>
          <a:p>
            <a:pPr marL="457200" lvl="1" indent="0" algn="just">
              <a:buNone/>
            </a:pPr>
            <a:r>
              <a:rPr lang="en-US" sz="2000" dirty="0"/>
              <a:t>$conn = </a:t>
            </a:r>
            <a:r>
              <a:rPr lang="en-US" sz="2000" dirty="0" err="1"/>
              <a:t>mysqli_connect</a:t>
            </a:r>
            <a:r>
              <a:rPr lang="en-US" sz="2000" dirty="0"/>
              <a:t>($host, $user, $pass, $</a:t>
            </a:r>
            <a:r>
              <a:rPr lang="en-US" sz="2000" dirty="0" err="1"/>
              <a:t>db</a:t>
            </a:r>
            <a:r>
              <a:rPr lang="en-US" sz="2000" dirty="0"/>
              <a:t>);</a:t>
            </a:r>
          </a:p>
          <a:p>
            <a:pPr marL="457200" lvl="1" indent="0" algn="just">
              <a:buNone/>
            </a:pPr>
            <a:endParaRPr lang="en-US" sz="2000" dirty="0"/>
          </a:p>
          <a:p>
            <a:pPr marL="457200" lvl="1" indent="0" algn="just">
              <a:buNone/>
            </a:pPr>
            <a:r>
              <a:rPr lang="en-US" sz="2000" dirty="0"/>
              <a:t>if (!$conn) {</a:t>
            </a:r>
          </a:p>
          <a:p>
            <a:pPr marL="457200" lvl="1" indent="0" algn="just">
              <a:buNone/>
            </a:pPr>
            <a:r>
              <a:rPr lang="en-US" sz="2000" dirty="0"/>
              <a:t>    die("Connection failed: " . </a:t>
            </a:r>
            <a:r>
              <a:rPr lang="en-US" sz="2000" dirty="0" err="1"/>
              <a:t>mysqli_connect_error</a:t>
            </a:r>
            <a:r>
              <a:rPr lang="en-US" sz="2000" dirty="0"/>
              <a:t>());</a:t>
            </a:r>
          </a:p>
          <a:p>
            <a:pPr marL="457200" lvl="1" indent="0" algn="just">
              <a:buNone/>
            </a:pPr>
            <a:r>
              <a:rPr lang="en-US" sz="2000" dirty="0"/>
              <a:t>}</a:t>
            </a:r>
          </a:p>
          <a:p>
            <a:pPr marL="457200" lvl="1" indent="0" algn="just">
              <a:buNone/>
            </a:pPr>
            <a:endParaRPr lang="en-US" sz="2000" dirty="0"/>
          </a:p>
          <a:p>
            <a:pPr marL="457200" lvl="1" indent="0" algn="just">
              <a:buNone/>
            </a:pPr>
            <a:r>
              <a:rPr lang="en-US" sz="2000" dirty="0">
                <a:solidFill>
                  <a:srgbClr val="FF0000"/>
                </a:solidFill>
              </a:rPr>
              <a:t>// Handle Insert</a:t>
            </a:r>
          </a:p>
          <a:p>
            <a:pPr marL="457200" lvl="1" indent="0" algn="just">
              <a:buNone/>
            </a:pPr>
            <a:r>
              <a:rPr lang="en-US" sz="2000" dirty="0"/>
              <a:t>if (</a:t>
            </a:r>
            <a:r>
              <a:rPr lang="en-US" sz="2000" dirty="0" err="1"/>
              <a:t>isset</a:t>
            </a:r>
            <a:r>
              <a:rPr lang="en-US" sz="2000" dirty="0"/>
              <a:t>($_POST['insert'])) {</a:t>
            </a:r>
          </a:p>
          <a:p>
            <a:pPr marL="457200" lvl="1" indent="0" algn="just">
              <a:buNone/>
            </a:pPr>
            <a:r>
              <a:rPr lang="en-US" sz="2000" dirty="0"/>
              <a:t>    $reg = $_POST['regno'];</a:t>
            </a:r>
          </a:p>
          <a:p>
            <a:pPr marL="457200" lvl="1" indent="0" algn="just">
              <a:buNone/>
            </a:pPr>
            <a:r>
              <a:rPr lang="en-US" sz="2000" dirty="0"/>
              <a:t>    $name = $_POST['name'];</a:t>
            </a:r>
          </a:p>
          <a:p>
            <a:pPr marL="457200" lvl="1" indent="0" algn="just">
              <a:buNone/>
            </a:pPr>
            <a:r>
              <a:rPr lang="en-US" sz="2000" dirty="0"/>
              <a:t>    $age = $_POST['age'];</a:t>
            </a:r>
          </a:p>
          <a:p>
            <a:pPr marL="457200" lvl="1" indent="0" algn="just">
              <a:buNone/>
            </a:pPr>
            <a:r>
              <a:rPr lang="en-US" sz="2000" dirty="0"/>
              <a:t>    $</a:t>
            </a:r>
            <a:r>
              <a:rPr lang="en-US" sz="2000" dirty="0" err="1"/>
              <a:t>addr</a:t>
            </a:r>
            <a:r>
              <a:rPr lang="en-US" sz="2000" dirty="0"/>
              <a:t> = $_POST['address'];</a:t>
            </a:r>
          </a:p>
          <a:p>
            <a:pPr marL="457200" lvl="1" indent="0" algn="just">
              <a:buNone/>
            </a:pPr>
            <a:endParaRPr lang="en-US" sz="2000" dirty="0"/>
          </a:p>
          <a:p>
            <a:pPr marL="457200" lvl="1" indent="0" algn="just">
              <a:buNone/>
            </a:pPr>
            <a:r>
              <a:rPr lang="en-US" sz="2000" dirty="0"/>
              <a:t>    $</a:t>
            </a:r>
            <a:r>
              <a:rPr lang="en-US" sz="2000" dirty="0" err="1"/>
              <a:t>sql</a:t>
            </a:r>
            <a:r>
              <a:rPr lang="en-US" sz="2000" dirty="0"/>
              <a:t> = "INSERT INTO students VALUES ('$reg', '$name', '$age', '$</a:t>
            </a:r>
            <a:r>
              <a:rPr lang="en-US" sz="2000" dirty="0" err="1"/>
              <a:t>addr</a:t>
            </a:r>
            <a:r>
              <a:rPr lang="en-US" sz="2000" dirty="0"/>
              <a:t>')";</a:t>
            </a:r>
          </a:p>
          <a:p>
            <a:pPr marL="457200" lvl="1" indent="0" algn="just">
              <a:buNone/>
            </a:pPr>
            <a:r>
              <a:rPr lang="en-US" sz="2000" dirty="0"/>
              <a:t>    </a:t>
            </a:r>
            <a:r>
              <a:rPr lang="en-US" sz="2000" dirty="0" err="1"/>
              <a:t>mysqli_query</a:t>
            </a:r>
            <a:r>
              <a:rPr lang="en-US" sz="2000" dirty="0"/>
              <a:t>($conn, $</a:t>
            </a:r>
            <a:r>
              <a:rPr lang="en-US" sz="2000" dirty="0" err="1"/>
              <a:t>sql</a:t>
            </a:r>
            <a:r>
              <a:rPr lang="en-US" sz="2000" dirty="0"/>
              <a:t>);</a:t>
            </a:r>
          </a:p>
          <a:p>
            <a:pPr marL="457200" lvl="1" indent="0" algn="just">
              <a:buNone/>
            </a:pPr>
            <a:r>
              <a:rPr lang="en-US" sz="2000" dirty="0"/>
              <a:t>}</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p:txBody>
      </p:sp>
    </p:spTree>
    <p:extLst>
      <p:ext uri="{BB962C8B-B14F-4D97-AF65-F5344CB8AC3E}">
        <p14:creationId xmlns:p14="http://schemas.microsoft.com/office/powerpoint/2010/main" val="304965761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36DD6A-EAAB-0C7C-6601-A4675AF847B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090709B-86D1-0EAA-7C53-826ED7747882}"/>
              </a:ext>
            </a:extLst>
          </p:cNvPr>
          <p:cNvSpPr>
            <a:spLocks noGrp="1"/>
          </p:cNvSpPr>
          <p:nvPr>
            <p:ph idx="1"/>
          </p:nvPr>
        </p:nvSpPr>
        <p:spPr>
          <a:xfrm>
            <a:off x="838200" y="301658"/>
            <a:ext cx="10515600" cy="6259398"/>
          </a:xfrm>
        </p:spPr>
        <p:txBody>
          <a:bodyPr>
            <a:normAutofit fontScale="92500" lnSpcReduction="10000"/>
          </a:bodyPr>
          <a:lstStyle/>
          <a:p>
            <a:r>
              <a:rPr lang="en-US" dirty="0"/>
              <a:t>Continued…</a:t>
            </a:r>
          </a:p>
          <a:p>
            <a:pPr marL="457200" lvl="1" indent="0" algn="just">
              <a:buNone/>
            </a:pPr>
            <a:r>
              <a:rPr lang="en-US" sz="2000" dirty="0">
                <a:solidFill>
                  <a:srgbClr val="FF0000"/>
                </a:solidFill>
              </a:rPr>
              <a:t>// Handle Delete</a:t>
            </a:r>
          </a:p>
          <a:p>
            <a:pPr marL="457200" lvl="1" indent="0" algn="just">
              <a:buNone/>
            </a:pPr>
            <a:r>
              <a:rPr lang="en-US" sz="2000" dirty="0"/>
              <a:t>if (</a:t>
            </a:r>
            <a:r>
              <a:rPr lang="en-US" sz="2000" dirty="0" err="1"/>
              <a:t>isset</a:t>
            </a:r>
            <a:r>
              <a:rPr lang="en-US" sz="2000" dirty="0"/>
              <a:t>($_POST['delete'])) {</a:t>
            </a:r>
          </a:p>
          <a:p>
            <a:pPr marL="457200" lvl="1" indent="0" algn="just">
              <a:buNone/>
            </a:pPr>
            <a:r>
              <a:rPr lang="en-US" sz="2000" dirty="0"/>
              <a:t>    $reg = $_POST['regno'];</a:t>
            </a:r>
          </a:p>
          <a:p>
            <a:pPr marL="457200" lvl="1" indent="0" algn="just">
              <a:buNone/>
            </a:pPr>
            <a:endParaRPr lang="en-US" sz="2000" dirty="0"/>
          </a:p>
          <a:p>
            <a:pPr marL="457200" lvl="1" indent="0" algn="just">
              <a:buNone/>
            </a:pPr>
            <a:r>
              <a:rPr lang="en-US" sz="2000" dirty="0"/>
              <a:t>    $</a:t>
            </a:r>
            <a:r>
              <a:rPr lang="en-US" sz="2000" dirty="0" err="1"/>
              <a:t>sql</a:t>
            </a:r>
            <a:r>
              <a:rPr lang="en-US" sz="2000" dirty="0"/>
              <a:t> = "DELETE FROM students WHERE regno='$reg'";</a:t>
            </a:r>
          </a:p>
          <a:p>
            <a:pPr marL="457200" lvl="1" indent="0" algn="just">
              <a:buNone/>
            </a:pPr>
            <a:r>
              <a:rPr lang="en-US" sz="2000" dirty="0"/>
              <a:t>    </a:t>
            </a:r>
            <a:r>
              <a:rPr lang="en-US" sz="2000" dirty="0" err="1"/>
              <a:t>mysqli_query</a:t>
            </a:r>
            <a:r>
              <a:rPr lang="en-US" sz="2000" dirty="0"/>
              <a:t>($conn, $</a:t>
            </a:r>
            <a:r>
              <a:rPr lang="en-US" sz="2000" dirty="0" err="1"/>
              <a:t>sql</a:t>
            </a:r>
            <a:r>
              <a:rPr lang="en-US" sz="2000" dirty="0"/>
              <a:t>);</a:t>
            </a:r>
          </a:p>
          <a:p>
            <a:pPr marL="457200" lvl="1" indent="0" algn="just">
              <a:buNone/>
            </a:pPr>
            <a:r>
              <a:rPr lang="en-US" sz="2000" dirty="0"/>
              <a:t>}</a:t>
            </a:r>
          </a:p>
          <a:p>
            <a:pPr marL="457200" lvl="1" indent="0" algn="just">
              <a:buNone/>
            </a:pPr>
            <a:endParaRPr lang="en-US" sz="2000" dirty="0"/>
          </a:p>
          <a:p>
            <a:pPr marL="457200" lvl="1" indent="0" algn="just">
              <a:buNone/>
            </a:pPr>
            <a:r>
              <a:rPr lang="en-US" sz="2000" dirty="0">
                <a:solidFill>
                  <a:srgbClr val="FF0000"/>
                </a:solidFill>
              </a:rPr>
              <a:t>// Handle Update</a:t>
            </a:r>
          </a:p>
          <a:p>
            <a:pPr marL="457200" lvl="1" indent="0" algn="just">
              <a:buNone/>
            </a:pPr>
            <a:r>
              <a:rPr lang="en-US" sz="2000" dirty="0"/>
              <a:t>if (</a:t>
            </a:r>
            <a:r>
              <a:rPr lang="en-US" sz="2000" dirty="0" err="1"/>
              <a:t>isset</a:t>
            </a:r>
            <a:r>
              <a:rPr lang="en-US" sz="2000" dirty="0"/>
              <a:t>($_POST['update'])) {</a:t>
            </a:r>
          </a:p>
          <a:p>
            <a:pPr marL="457200" lvl="1" indent="0" algn="just">
              <a:buNone/>
            </a:pPr>
            <a:r>
              <a:rPr lang="en-US" sz="2000" dirty="0"/>
              <a:t>    $reg = $_POST['regno'];</a:t>
            </a:r>
          </a:p>
          <a:p>
            <a:pPr marL="457200" lvl="1" indent="0" algn="just">
              <a:buNone/>
            </a:pPr>
            <a:r>
              <a:rPr lang="en-US" sz="2000" dirty="0"/>
              <a:t>    $name = $_POST['name'];</a:t>
            </a:r>
          </a:p>
          <a:p>
            <a:pPr marL="457200" lvl="1" indent="0" algn="just">
              <a:buNone/>
            </a:pPr>
            <a:r>
              <a:rPr lang="en-US" sz="2000" dirty="0"/>
              <a:t>    $age = $_POST['age'];</a:t>
            </a:r>
          </a:p>
          <a:p>
            <a:pPr marL="457200" lvl="1" indent="0" algn="just">
              <a:buNone/>
            </a:pPr>
            <a:r>
              <a:rPr lang="en-US" sz="2000" dirty="0"/>
              <a:t>    $</a:t>
            </a:r>
            <a:r>
              <a:rPr lang="en-US" sz="2000" dirty="0" err="1"/>
              <a:t>addr</a:t>
            </a:r>
            <a:r>
              <a:rPr lang="en-US" sz="2000" dirty="0"/>
              <a:t> = $_POST['address'];</a:t>
            </a:r>
          </a:p>
          <a:p>
            <a:pPr marL="457200" lvl="1" indent="0" algn="just">
              <a:buNone/>
            </a:pPr>
            <a:endParaRPr lang="en-US" sz="2000" dirty="0"/>
          </a:p>
          <a:p>
            <a:pPr marL="457200" lvl="1" indent="0" algn="just">
              <a:buNone/>
            </a:pPr>
            <a:r>
              <a:rPr lang="en-US" sz="2000" dirty="0"/>
              <a:t>    $</a:t>
            </a:r>
            <a:r>
              <a:rPr lang="en-US" sz="2000" dirty="0" err="1"/>
              <a:t>sql</a:t>
            </a:r>
            <a:r>
              <a:rPr lang="en-US" sz="2000" dirty="0"/>
              <a:t> = "UPDATE students SET name='$name', age='$age', address='$</a:t>
            </a:r>
            <a:r>
              <a:rPr lang="en-US" sz="2000" dirty="0" err="1"/>
              <a:t>addr</a:t>
            </a:r>
            <a:r>
              <a:rPr lang="en-US" sz="2000" dirty="0"/>
              <a:t>' WHERE regno='$reg'";</a:t>
            </a:r>
          </a:p>
          <a:p>
            <a:pPr marL="457200" lvl="1" indent="0" algn="just">
              <a:buNone/>
            </a:pPr>
            <a:r>
              <a:rPr lang="en-US" sz="2000" dirty="0"/>
              <a:t>    </a:t>
            </a:r>
            <a:r>
              <a:rPr lang="en-US" sz="2000" dirty="0" err="1"/>
              <a:t>mysqli_query</a:t>
            </a:r>
            <a:r>
              <a:rPr lang="en-US" sz="2000" dirty="0"/>
              <a:t>($conn, $</a:t>
            </a:r>
            <a:r>
              <a:rPr lang="en-US" sz="2000" dirty="0" err="1"/>
              <a:t>sql</a:t>
            </a:r>
            <a:r>
              <a:rPr lang="en-US" sz="2000" dirty="0"/>
              <a:t>);</a:t>
            </a:r>
          </a:p>
          <a:p>
            <a:pPr marL="457200" lvl="1" indent="0" algn="just">
              <a:buNone/>
            </a:pPr>
            <a:r>
              <a:rPr lang="en-US" sz="2000" dirty="0"/>
              <a:t>}</a:t>
            </a:r>
          </a:p>
          <a:p>
            <a:pPr marL="457200" lvl="1" indent="0" algn="just">
              <a:buNone/>
            </a:pPr>
            <a:r>
              <a:rPr lang="en-US" sz="2000" dirty="0"/>
              <a:t>?&gt;</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p:txBody>
      </p:sp>
    </p:spTree>
    <p:extLst>
      <p:ext uri="{BB962C8B-B14F-4D97-AF65-F5344CB8AC3E}">
        <p14:creationId xmlns:p14="http://schemas.microsoft.com/office/powerpoint/2010/main" val="205458303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DD8E38-3334-ADAD-83CA-C84078AF711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E28E977-3293-4109-7572-E441931307D4}"/>
              </a:ext>
            </a:extLst>
          </p:cNvPr>
          <p:cNvSpPr>
            <a:spLocks noGrp="1"/>
          </p:cNvSpPr>
          <p:nvPr>
            <p:ph idx="1"/>
          </p:nvPr>
        </p:nvSpPr>
        <p:spPr>
          <a:xfrm>
            <a:off x="838200" y="103695"/>
            <a:ext cx="10515600" cy="6598763"/>
          </a:xfrm>
        </p:spPr>
        <p:txBody>
          <a:bodyPr>
            <a:normAutofit fontScale="25000" lnSpcReduction="20000"/>
          </a:bodyPr>
          <a:lstStyle/>
          <a:p>
            <a:pPr marL="457200" lvl="1" indent="0" algn="just">
              <a:buNone/>
            </a:pPr>
            <a:r>
              <a:rPr lang="en-US" sz="5600" dirty="0"/>
              <a:t>&lt;!DOCTYPE html&gt;</a:t>
            </a:r>
          </a:p>
          <a:p>
            <a:pPr marL="457200" lvl="1" indent="0" algn="just">
              <a:buNone/>
            </a:pPr>
            <a:r>
              <a:rPr lang="en-US" sz="5600" dirty="0"/>
              <a:t>&lt;html&gt;</a:t>
            </a:r>
          </a:p>
          <a:p>
            <a:pPr marL="457200" lvl="1" indent="0" algn="just">
              <a:buNone/>
            </a:pPr>
            <a:r>
              <a:rPr lang="en-US" sz="5600" dirty="0"/>
              <a:t>&lt;head&gt;</a:t>
            </a:r>
          </a:p>
          <a:p>
            <a:pPr marL="457200" lvl="1" indent="0" algn="just">
              <a:buNone/>
            </a:pPr>
            <a:r>
              <a:rPr lang="en-US" sz="5600" dirty="0"/>
              <a:t>    &lt;title&gt;CRUD Operations&lt;/title&gt;</a:t>
            </a:r>
          </a:p>
          <a:p>
            <a:pPr marL="457200" lvl="1" indent="0" algn="just">
              <a:buNone/>
            </a:pPr>
            <a:r>
              <a:rPr lang="en-US" sz="5600" dirty="0"/>
              <a:t>    &lt;style&gt;</a:t>
            </a:r>
          </a:p>
          <a:p>
            <a:pPr marL="457200" lvl="1" indent="0" algn="just">
              <a:buNone/>
            </a:pPr>
            <a:r>
              <a:rPr lang="en-US" sz="5600" dirty="0"/>
              <a:t>        body {</a:t>
            </a:r>
          </a:p>
          <a:p>
            <a:pPr marL="457200" lvl="1" indent="0" algn="just">
              <a:buNone/>
            </a:pPr>
            <a:r>
              <a:rPr lang="en-US" sz="5600" dirty="0"/>
              <a:t>            font-family: Arial;</a:t>
            </a:r>
          </a:p>
          <a:p>
            <a:pPr marL="457200" lvl="1" indent="0" algn="just">
              <a:buNone/>
            </a:pPr>
            <a:r>
              <a:rPr lang="en-US" sz="5600" dirty="0"/>
              <a:t>            padding: 20px;</a:t>
            </a:r>
          </a:p>
          <a:p>
            <a:pPr marL="457200" lvl="1" indent="0" algn="just">
              <a:buNone/>
            </a:pPr>
            <a:r>
              <a:rPr lang="en-US" sz="5600" dirty="0"/>
              <a:t>        }</a:t>
            </a:r>
          </a:p>
          <a:p>
            <a:pPr marL="457200" lvl="1" indent="0" algn="just">
              <a:buNone/>
            </a:pPr>
            <a:r>
              <a:rPr lang="en-US" sz="5600" dirty="0"/>
              <a:t>        input[type="text"], input[type="number"] {</a:t>
            </a:r>
          </a:p>
          <a:p>
            <a:pPr marL="457200" lvl="1" indent="0" algn="just">
              <a:buNone/>
            </a:pPr>
            <a:r>
              <a:rPr lang="en-US" sz="5600" dirty="0"/>
              <a:t>            padding: 8px;</a:t>
            </a:r>
          </a:p>
          <a:p>
            <a:pPr marL="457200" lvl="1" indent="0" algn="just">
              <a:buNone/>
            </a:pPr>
            <a:r>
              <a:rPr lang="en-US" sz="5600" dirty="0"/>
              <a:t>            margin: 6px;</a:t>
            </a:r>
          </a:p>
          <a:p>
            <a:pPr marL="457200" lvl="1" indent="0" algn="just">
              <a:buNone/>
            </a:pPr>
            <a:r>
              <a:rPr lang="en-US" sz="5600" dirty="0"/>
              <a:t>            width: 250px;</a:t>
            </a:r>
          </a:p>
          <a:p>
            <a:pPr marL="457200" lvl="1" indent="0" algn="just">
              <a:buNone/>
            </a:pPr>
            <a:r>
              <a:rPr lang="en-US" sz="5600" dirty="0"/>
              <a:t>        }</a:t>
            </a:r>
          </a:p>
          <a:p>
            <a:pPr marL="457200" lvl="1" indent="0" algn="just">
              <a:buNone/>
            </a:pPr>
            <a:r>
              <a:rPr lang="en-US" sz="5600" dirty="0"/>
              <a:t>        input[type="submit"] {</a:t>
            </a:r>
          </a:p>
          <a:p>
            <a:pPr marL="457200" lvl="1" indent="0" algn="just">
              <a:buNone/>
            </a:pPr>
            <a:r>
              <a:rPr lang="en-US" sz="5600" dirty="0"/>
              <a:t>            padding: 8px 20px;</a:t>
            </a:r>
          </a:p>
          <a:p>
            <a:pPr marL="457200" lvl="1" indent="0" algn="just">
              <a:buNone/>
            </a:pPr>
            <a:r>
              <a:rPr lang="en-US" sz="5600" dirty="0"/>
              <a:t>            margin: 6px;</a:t>
            </a:r>
          </a:p>
          <a:p>
            <a:pPr marL="457200" lvl="1" indent="0" algn="just">
              <a:buNone/>
            </a:pPr>
            <a:r>
              <a:rPr lang="en-US" sz="5600" dirty="0"/>
              <a:t>            font-size: 15px;</a:t>
            </a:r>
          </a:p>
          <a:p>
            <a:pPr marL="457200" lvl="1" indent="0" algn="just">
              <a:buNone/>
            </a:pPr>
            <a:r>
              <a:rPr lang="en-US" sz="5600" dirty="0"/>
              <a:t>        }</a:t>
            </a:r>
          </a:p>
          <a:p>
            <a:pPr marL="457200" lvl="1" indent="0" algn="just">
              <a:buNone/>
            </a:pPr>
            <a:r>
              <a:rPr lang="en-US" sz="5600" dirty="0"/>
              <a:t>        table {</a:t>
            </a:r>
          </a:p>
          <a:p>
            <a:pPr marL="457200" lvl="1" indent="0" algn="just">
              <a:buNone/>
            </a:pPr>
            <a:r>
              <a:rPr lang="en-US" sz="5600" dirty="0"/>
              <a:t>            margin-top: 20px;</a:t>
            </a:r>
          </a:p>
          <a:p>
            <a:pPr marL="457200" lvl="1" indent="0" algn="just">
              <a:buNone/>
            </a:pPr>
            <a:r>
              <a:rPr lang="en-US" sz="5600" dirty="0"/>
              <a:t>            border-collapse: collapse;</a:t>
            </a:r>
          </a:p>
          <a:p>
            <a:pPr marL="457200" lvl="1" indent="0" algn="just">
              <a:buNone/>
            </a:pPr>
            <a:r>
              <a:rPr lang="en-US" sz="5600" dirty="0"/>
              <a:t>            width: 80%;</a:t>
            </a:r>
          </a:p>
          <a:p>
            <a:pPr marL="457200" lvl="1" indent="0" algn="just">
              <a:buNone/>
            </a:pPr>
            <a:r>
              <a:rPr lang="en-US" sz="5600" dirty="0"/>
              <a:t>        }</a:t>
            </a:r>
          </a:p>
          <a:p>
            <a:pPr marL="457200" lvl="1" indent="0" algn="just">
              <a:buNone/>
            </a:pPr>
            <a:r>
              <a:rPr lang="en-US" sz="5600" dirty="0"/>
              <a:t>        table, </a:t>
            </a:r>
            <a:r>
              <a:rPr lang="en-US" sz="5600" dirty="0" err="1"/>
              <a:t>th</a:t>
            </a:r>
            <a:r>
              <a:rPr lang="en-US" sz="5600" dirty="0"/>
              <a:t>, td {</a:t>
            </a:r>
          </a:p>
          <a:p>
            <a:pPr marL="457200" lvl="1" indent="0" algn="just">
              <a:buNone/>
            </a:pPr>
            <a:r>
              <a:rPr lang="en-US" sz="5600" dirty="0"/>
              <a:t>            border: 1px solid black;</a:t>
            </a:r>
          </a:p>
          <a:p>
            <a:pPr marL="457200" lvl="1" indent="0" algn="just">
              <a:buNone/>
            </a:pPr>
            <a:r>
              <a:rPr lang="en-US" sz="5600" dirty="0"/>
              <a:t>            padding: 10px;</a:t>
            </a:r>
          </a:p>
          <a:p>
            <a:pPr marL="457200" lvl="1" indent="0" algn="just">
              <a:buNone/>
            </a:pPr>
            <a:r>
              <a:rPr lang="en-US" sz="5600" dirty="0"/>
              <a:t>        }</a:t>
            </a:r>
          </a:p>
          <a:p>
            <a:pPr marL="457200" lvl="1" indent="0" algn="just">
              <a:buNone/>
            </a:pPr>
            <a:r>
              <a:rPr lang="en-US" sz="5600" dirty="0"/>
              <a:t>    &lt;/style&gt;</a:t>
            </a:r>
          </a:p>
          <a:p>
            <a:pPr marL="457200" lvl="1" indent="0" algn="just">
              <a:buNone/>
            </a:pPr>
            <a:r>
              <a:rPr lang="en-US" sz="5600" dirty="0"/>
              <a:t>&lt;/head&gt;</a:t>
            </a:r>
          </a:p>
          <a:p>
            <a:pPr algn="just"/>
            <a:endParaRPr lang="en-US" sz="2400" dirty="0"/>
          </a:p>
          <a:p>
            <a:pPr algn="just"/>
            <a:endParaRPr lang="en-US" sz="2400" dirty="0"/>
          </a:p>
          <a:p>
            <a:pPr algn="just"/>
            <a:endParaRPr lang="en-US" sz="2400" dirty="0"/>
          </a:p>
          <a:p>
            <a:pPr algn="just"/>
            <a:endParaRPr lang="en-US" sz="2400" dirty="0"/>
          </a:p>
          <a:p>
            <a:pPr marL="0" indent="0" algn="just">
              <a:buNone/>
            </a:pPr>
            <a:endParaRPr lang="en-US" sz="2400" dirty="0"/>
          </a:p>
          <a:p>
            <a:pPr marL="0" indent="0" algn="just">
              <a:buNone/>
            </a:pPr>
            <a:endParaRPr lang="en-US" sz="2400" dirty="0"/>
          </a:p>
        </p:txBody>
      </p:sp>
    </p:spTree>
    <p:extLst>
      <p:ext uri="{BB962C8B-B14F-4D97-AF65-F5344CB8AC3E}">
        <p14:creationId xmlns:p14="http://schemas.microsoft.com/office/powerpoint/2010/main" val="193946323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24D5DF-B8B1-12BB-C3F4-B4753A1EB87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1E36B45-CB15-E41E-10DA-408F49EC2D02}"/>
              </a:ext>
            </a:extLst>
          </p:cNvPr>
          <p:cNvSpPr>
            <a:spLocks noGrp="1"/>
          </p:cNvSpPr>
          <p:nvPr>
            <p:ph idx="1"/>
          </p:nvPr>
        </p:nvSpPr>
        <p:spPr>
          <a:xfrm>
            <a:off x="838200" y="301658"/>
            <a:ext cx="10515600" cy="6259398"/>
          </a:xfrm>
        </p:spPr>
        <p:txBody>
          <a:bodyPr>
            <a:normAutofit/>
          </a:bodyPr>
          <a:lstStyle/>
          <a:p>
            <a:pPr marL="457200" lvl="1" indent="0" algn="just">
              <a:buNone/>
            </a:pPr>
            <a:r>
              <a:rPr lang="en-US" sz="2000" dirty="0"/>
              <a:t>&lt;body&gt;</a:t>
            </a:r>
          </a:p>
          <a:p>
            <a:pPr marL="457200" lvl="1" indent="0" algn="just">
              <a:buNone/>
            </a:pPr>
            <a:endParaRPr lang="en-US" sz="2000" dirty="0"/>
          </a:p>
          <a:p>
            <a:pPr marL="457200" lvl="1" indent="0" algn="just">
              <a:buNone/>
            </a:pPr>
            <a:r>
              <a:rPr lang="en-US" sz="2000" dirty="0"/>
              <a:t>&lt;h2&gt;PHP MySQL CRUD Operations&lt;/h2&gt;</a:t>
            </a:r>
          </a:p>
          <a:p>
            <a:pPr marL="457200" lvl="1" indent="0" algn="just">
              <a:buNone/>
            </a:pPr>
            <a:endParaRPr lang="en-US" sz="2000" dirty="0"/>
          </a:p>
          <a:p>
            <a:pPr marL="457200" lvl="1" indent="0" algn="just">
              <a:buNone/>
            </a:pPr>
            <a:r>
              <a:rPr lang="en-US" sz="2000" dirty="0"/>
              <a:t>&lt;form method="post"&gt;</a:t>
            </a:r>
          </a:p>
          <a:p>
            <a:pPr marL="457200" lvl="1" indent="0" algn="just">
              <a:buNone/>
            </a:pPr>
            <a:endParaRPr lang="en-US" sz="2000" dirty="0"/>
          </a:p>
          <a:p>
            <a:pPr marL="457200" lvl="1" indent="0" algn="just">
              <a:buNone/>
            </a:pPr>
            <a:r>
              <a:rPr lang="en-US" sz="2000" dirty="0"/>
              <a:t>    &lt;input type="text" name="regno" placeholder="Register Number" required&gt;&lt;</a:t>
            </a:r>
            <a:r>
              <a:rPr lang="en-US" sz="2000" dirty="0" err="1"/>
              <a:t>br</a:t>
            </a:r>
            <a:r>
              <a:rPr lang="en-US" sz="2000" dirty="0"/>
              <a:t>&gt;</a:t>
            </a:r>
          </a:p>
          <a:p>
            <a:pPr marL="457200" lvl="1" indent="0" algn="just">
              <a:buNone/>
            </a:pPr>
            <a:r>
              <a:rPr lang="en-US" sz="2000" dirty="0"/>
              <a:t>    &lt;input type="text" name="name" placeholder="Name"&gt;&lt;</a:t>
            </a:r>
            <a:r>
              <a:rPr lang="en-US" sz="2000" dirty="0" err="1"/>
              <a:t>br</a:t>
            </a:r>
            <a:r>
              <a:rPr lang="en-US" sz="2000" dirty="0"/>
              <a:t>&gt;</a:t>
            </a:r>
          </a:p>
          <a:p>
            <a:pPr marL="457200" lvl="1" indent="0" algn="just">
              <a:buNone/>
            </a:pPr>
            <a:r>
              <a:rPr lang="en-US" sz="2000" dirty="0"/>
              <a:t>    &lt;input type="number" name="age" placeholder="Age"&gt;&lt;</a:t>
            </a:r>
            <a:r>
              <a:rPr lang="en-US" sz="2000" dirty="0" err="1"/>
              <a:t>br</a:t>
            </a:r>
            <a:r>
              <a:rPr lang="en-US" sz="2000" dirty="0"/>
              <a:t>&gt;</a:t>
            </a:r>
          </a:p>
          <a:p>
            <a:pPr marL="457200" lvl="1" indent="0" algn="just">
              <a:buNone/>
            </a:pPr>
            <a:r>
              <a:rPr lang="en-US" sz="2000" dirty="0"/>
              <a:t>    &lt;input type="text" name="address" placeholder="Address"&gt;&lt;</a:t>
            </a:r>
            <a:r>
              <a:rPr lang="en-US" sz="2000" dirty="0" err="1"/>
              <a:t>br</a:t>
            </a:r>
            <a:r>
              <a:rPr lang="en-US" sz="2000" dirty="0"/>
              <a:t>&gt;</a:t>
            </a:r>
          </a:p>
          <a:p>
            <a:pPr marL="457200" lvl="1" indent="0" algn="just">
              <a:buNone/>
            </a:pPr>
            <a:endParaRPr lang="en-US" sz="2000" dirty="0"/>
          </a:p>
          <a:p>
            <a:pPr marL="457200" lvl="1" indent="0" algn="just">
              <a:buNone/>
            </a:pPr>
            <a:r>
              <a:rPr lang="en-US" sz="2000" dirty="0"/>
              <a:t>    &lt;input type="submit" name="insert" value="Insert"&gt;</a:t>
            </a:r>
          </a:p>
          <a:p>
            <a:pPr marL="457200" lvl="1" indent="0" algn="just">
              <a:buNone/>
            </a:pPr>
            <a:r>
              <a:rPr lang="en-US" sz="2000" dirty="0"/>
              <a:t>    &lt;input type="submit" name="delete" value="Delete"&gt;</a:t>
            </a:r>
          </a:p>
          <a:p>
            <a:pPr marL="457200" lvl="1" indent="0" algn="just">
              <a:buNone/>
            </a:pPr>
            <a:r>
              <a:rPr lang="en-US" sz="2000" dirty="0"/>
              <a:t>    &lt;input type="submit" name="update" value="Update"&gt;</a:t>
            </a:r>
          </a:p>
          <a:p>
            <a:pPr marL="457200" lvl="1" indent="0" algn="just">
              <a:buNone/>
            </a:pPr>
            <a:r>
              <a:rPr lang="en-US" sz="2000" dirty="0"/>
              <a:t>    &lt;input type="submit" name="display" value="Display"&gt;</a:t>
            </a:r>
          </a:p>
          <a:p>
            <a:pPr marL="457200" lvl="1" indent="0" algn="just">
              <a:buNone/>
            </a:pPr>
            <a:endParaRPr lang="en-US" sz="2000" dirty="0"/>
          </a:p>
          <a:p>
            <a:pPr marL="457200" lvl="1" indent="0" algn="just">
              <a:buNone/>
            </a:pPr>
            <a:r>
              <a:rPr lang="en-US" sz="2000" dirty="0"/>
              <a:t>&lt;/form&gt;</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p:txBody>
      </p:sp>
    </p:spTree>
    <p:extLst>
      <p:ext uri="{BB962C8B-B14F-4D97-AF65-F5344CB8AC3E}">
        <p14:creationId xmlns:p14="http://schemas.microsoft.com/office/powerpoint/2010/main" val="160190834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92ACE7-35F7-19D2-BA50-7ACEAA61FA5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2D5323-C182-37FD-36B7-78A00F7DFEF6}"/>
              </a:ext>
            </a:extLst>
          </p:cNvPr>
          <p:cNvSpPr>
            <a:spLocks noGrp="1"/>
          </p:cNvSpPr>
          <p:nvPr>
            <p:ph idx="1"/>
          </p:nvPr>
        </p:nvSpPr>
        <p:spPr>
          <a:xfrm>
            <a:off x="838200" y="301658"/>
            <a:ext cx="10515600" cy="6259398"/>
          </a:xfrm>
        </p:spPr>
        <p:txBody>
          <a:bodyPr>
            <a:normAutofit fontScale="25000" lnSpcReduction="20000"/>
          </a:bodyPr>
          <a:lstStyle/>
          <a:p>
            <a:pPr marL="457200" lvl="1" indent="0" algn="just">
              <a:buNone/>
            </a:pPr>
            <a:r>
              <a:rPr lang="en-US" sz="5600" dirty="0"/>
              <a:t>&lt;?</a:t>
            </a:r>
            <a:r>
              <a:rPr lang="en-US" sz="5600" dirty="0" err="1"/>
              <a:t>php</a:t>
            </a:r>
            <a:endParaRPr lang="en-US" sz="5600" dirty="0"/>
          </a:p>
          <a:p>
            <a:pPr marL="457200" lvl="1" indent="0" algn="just">
              <a:buNone/>
            </a:pPr>
            <a:r>
              <a:rPr lang="en-US" sz="5600" dirty="0">
                <a:solidFill>
                  <a:srgbClr val="FF0000"/>
                </a:solidFill>
              </a:rPr>
              <a:t>// Handle Display</a:t>
            </a:r>
          </a:p>
          <a:p>
            <a:pPr marL="457200" lvl="1" indent="0" algn="just">
              <a:buNone/>
            </a:pPr>
            <a:r>
              <a:rPr lang="en-US" sz="5600" dirty="0"/>
              <a:t>if (</a:t>
            </a:r>
            <a:r>
              <a:rPr lang="en-US" sz="5600" dirty="0" err="1"/>
              <a:t>isset</a:t>
            </a:r>
            <a:r>
              <a:rPr lang="en-US" sz="5600" dirty="0"/>
              <a:t>($_POST['display'])) {</a:t>
            </a:r>
          </a:p>
          <a:p>
            <a:pPr marL="457200" lvl="1" indent="0" algn="just">
              <a:buNone/>
            </a:pPr>
            <a:endParaRPr lang="en-US" sz="5600" dirty="0"/>
          </a:p>
          <a:p>
            <a:pPr marL="457200" lvl="1" indent="0" algn="just">
              <a:buNone/>
            </a:pPr>
            <a:r>
              <a:rPr lang="en-US" sz="5600" dirty="0"/>
              <a:t>    $result = </a:t>
            </a:r>
            <a:r>
              <a:rPr lang="en-US" sz="5600" dirty="0" err="1"/>
              <a:t>mysqli_query</a:t>
            </a:r>
            <a:r>
              <a:rPr lang="en-US" sz="5600" dirty="0"/>
              <a:t>($conn, "SELECT * FROM students");</a:t>
            </a:r>
          </a:p>
          <a:p>
            <a:pPr marL="457200" lvl="1" indent="0" algn="just">
              <a:buNone/>
            </a:pPr>
            <a:r>
              <a:rPr lang="en-US" sz="5600" dirty="0"/>
              <a:t>    if (</a:t>
            </a:r>
            <a:r>
              <a:rPr lang="en-US" sz="5600" dirty="0" err="1"/>
              <a:t>mysqli_num_rows</a:t>
            </a:r>
            <a:r>
              <a:rPr lang="en-US" sz="5600" dirty="0"/>
              <a:t>($result) &gt; 0) {</a:t>
            </a:r>
          </a:p>
          <a:p>
            <a:pPr marL="457200" lvl="1" indent="0" algn="just">
              <a:buNone/>
            </a:pPr>
            <a:r>
              <a:rPr lang="en-US" sz="5600" dirty="0"/>
              <a:t>        echo "&lt;table&gt;</a:t>
            </a:r>
          </a:p>
          <a:p>
            <a:pPr marL="457200" lvl="1" indent="0" algn="just">
              <a:buNone/>
            </a:pPr>
            <a:r>
              <a:rPr lang="en-US" sz="5600" dirty="0"/>
              <a:t>                &lt;tr&gt;</a:t>
            </a:r>
          </a:p>
          <a:p>
            <a:pPr marL="457200" lvl="1" indent="0" algn="just">
              <a:buNone/>
            </a:pPr>
            <a:r>
              <a:rPr lang="en-US" sz="5600" dirty="0"/>
              <a:t>                    &lt;</a:t>
            </a:r>
            <a:r>
              <a:rPr lang="en-US" sz="5600" dirty="0" err="1"/>
              <a:t>th</a:t>
            </a:r>
            <a:r>
              <a:rPr lang="en-US" sz="5600" dirty="0"/>
              <a:t>&gt;Register Number&lt;/</a:t>
            </a:r>
            <a:r>
              <a:rPr lang="en-US" sz="5600" dirty="0" err="1"/>
              <a:t>th</a:t>
            </a:r>
            <a:r>
              <a:rPr lang="en-US" sz="5600" dirty="0"/>
              <a:t>&gt;</a:t>
            </a:r>
          </a:p>
          <a:p>
            <a:pPr marL="457200" lvl="1" indent="0" algn="just">
              <a:buNone/>
            </a:pPr>
            <a:r>
              <a:rPr lang="en-US" sz="5600" dirty="0"/>
              <a:t>                    &lt;</a:t>
            </a:r>
            <a:r>
              <a:rPr lang="en-US" sz="5600" dirty="0" err="1"/>
              <a:t>th</a:t>
            </a:r>
            <a:r>
              <a:rPr lang="en-US" sz="5600" dirty="0"/>
              <a:t>&gt;Name&lt;/</a:t>
            </a:r>
            <a:r>
              <a:rPr lang="en-US" sz="5600" dirty="0" err="1"/>
              <a:t>th</a:t>
            </a:r>
            <a:r>
              <a:rPr lang="en-US" sz="5600" dirty="0"/>
              <a:t>&gt;</a:t>
            </a:r>
          </a:p>
          <a:p>
            <a:pPr marL="457200" lvl="1" indent="0" algn="just">
              <a:buNone/>
            </a:pPr>
            <a:r>
              <a:rPr lang="en-US" sz="5600" dirty="0"/>
              <a:t>                    &lt;</a:t>
            </a:r>
            <a:r>
              <a:rPr lang="en-US" sz="5600" dirty="0" err="1"/>
              <a:t>th</a:t>
            </a:r>
            <a:r>
              <a:rPr lang="en-US" sz="5600" dirty="0"/>
              <a:t>&gt;Age&lt;/</a:t>
            </a:r>
            <a:r>
              <a:rPr lang="en-US" sz="5600" dirty="0" err="1"/>
              <a:t>th</a:t>
            </a:r>
            <a:r>
              <a:rPr lang="en-US" sz="5600" dirty="0"/>
              <a:t>&gt;</a:t>
            </a:r>
          </a:p>
          <a:p>
            <a:pPr marL="457200" lvl="1" indent="0" algn="just">
              <a:buNone/>
            </a:pPr>
            <a:r>
              <a:rPr lang="en-US" sz="5600" dirty="0"/>
              <a:t>                    &lt;</a:t>
            </a:r>
            <a:r>
              <a:rPr lang="en-US" sz="5600" dirty="0" err="1"/>
              <a:t>th</a:t>
            </a:r>
            <a:r>
              <a:rPr lang="en-US" sz="5600" dirty="0"/>
              <a:t>&gt;Address&lt;/</a:t>
            </a:r>
            <a:r>
              <a:rPr lang="en-US" sz="5600" dirty="0" err="1"/>
              <a:t>th</a:t>
            </a:r>
            <a:r>
              <a:rPr lang="en-US" sz="5600" dirty="0"/>
              <a:t>&gt;</a:t>
            </a:r>
          </a:p>
          <a:p>
            <a:pPr marL="457200" lvl="1" indent="0" algn="just">
              <a:buNone/>
            </a:pPr>
            <a:r>
              <a:rPr lang="en-US" sz="5600" dirty="0"/>
              <a:t>                &lt;/tr&gt;";</a:t>
            </a:r>
          </a:p>
          <a:p>
            <a:pPr marL="457200" lvl="1" indent="0" algn="just">
              <a:buNone/>
            </a:pPr>
            <a:r>
              <a:rPr lang="en-US" sz="5600" dirty="0"/>
              <a:t>        while ($row = </a:t>
            </a:r>
            <a:r>
              <a:rPr lang="en-US" sz="5600" dirty="0" err="1"/>
              <a:t>mysqli_fetch_assoc</a:t>
            </a:r>
            <a:r>
              <a:rPr lang="en-US" sz="5600" dirty="0"/>
              <a:t>($result)) {</a:t>
            </a:r>
          </a:p>
          <a:p>
            <a:pPr marL="457200" lvl="1" indent="0" algn="just">
              <a:buNone/>
            </a:pPr>
            <a:r>
              <a:rPr lang="en-US" sz="5600" dirty="0"/>
              <a:t>            echo "&lt;tr&gt;</a:t>
            </a:r>
          </a:p>
          <a:p>
            <a:pPr marL="457200" lvl="1" indent="0" algn="just">
              <a:buNone/>
            </a:pPr>
            <a:r>
              <a:rPr lang="en-US" sz="5600" dirty="0"/>
              <a:t>                    &lt;td&gt;".$row['regno']."&lt;/td&gt;</a:t>
            </a:r>
          </a:p>
          <a:p>
            <a:pPr marL="457200" lvl="1" indent="0" algn="just">
              <a:buNone/>
            </a:pPr>
            <a:r>
              <a:rPr lang="en-US" sz="5600" dirty="0"/>
              <a:t>                    &lt;td&gt;".$row['name']."&lt;/td&gt;</a:t>
            </a:r>
          </a:p>
          <a:p>
            <a:pPr marL="457200" lvl="1" indent="0" algn="just">
              <a:buNone/>
            </a:pPr>
            <a:r>
              <a:rPr lang="en-US" sz="5600" dirty="0"/>
              <a:t>                    &lt;td&gt;".$row['age']."&lt;/td&gt;</a:t>
            </a:r>
          </a:p>
          <a:p>
            <a:pPr marL="457200" lvl="1" indent="0" algn="just">
              <a:buNone/>
            </a:pPr>
            <a:r>
              <a:rPr lang="en-US" sz="5600" dirty="0"/>
              <a:t>                    &lt;td&gt;".$row['address']."&lt;/td&gt;</a:t>
            </a:r>
          </a:p>
          <a:p>
            <a:pPr marL="457200" lvl="1" indent="0" algn="just">
              <a:buNone/>
            </a:pPr>
            <a:r>
              <a:rPr lang="en-US" sz="5600" dirty="0"/>
              <a:t>                  &lt;/tr&gt;";</a:t>
            </a:r>
          </a:p>
          <a:p>
            <a:pPr marL="457200" lvl="1" indent="0" algn="just">
              <a:buNone/>
            </a:pPr>
            <a:r>
              <a:rPr lang="en-US" sz="5600" dirty="0"/>
              <a:t>        }</a:t>
            </a:r>
          </a:p>
          <a:p>
            <a:pPr marL="457200" lvl="1" indent="0" algn="just">
              <a:buNone/>
            </a:pPr>
            <a:r>
              <a:rPr lang="en-US" sz="5600" dirty="0"/>
              <a:t>        echo "&lt;/table&gt;";</a:t>
            </a:r>
          </a:p>
          <a:p>
            <a:pPr marL="457200" lvl="1" indent="0" algn="just">
              <a:buNone/>
            </a:pPr>
            <a:r>
              <a:rPr lang="en-US" sz="5600" dirty="0"/>
              <a:t>    } else {</a:t>
            </a:r>
          </a:p>
          <a:p>
            <a:pPr marL="457200" lvl="1" indent="0" algn="just">
              <a:buNone/>
            </a:pPr>
            <a:r>
              <a:rPr lang="en-US" sz="5600" dirty="0"/>
              <a:t>        echo "&lt;p&gt;No records found.&lt;/p&gt;";</a:t>
            </a:r>
          </a:p>
          <a:p>
            <a:pPr marL="457200" lvl="1" indent="0" algn="just">
              <a:buNone/>
            </a:pPr>
            <a:r>
              <a:rPr lang="en-US" sz="5600" dirty="0"/>
              <a:t>    }</a:t>
            </a:r>
          </a:p>
          <a:p>
            <a:pPr marL="457200" lvl="1" indent="0" algn="just">
              <a:buNone/>
            </a:pPr>
            <a:r>
              <a:rPr lang="en-US" sz="5600" dirty="0"/>
              <a:t>}</a:t>
            </a:r>
          </a:p>
          <a:p>
            <a:pPr marL="457200" lvl="1" indent="0" algn="just">
              <a:buNone/>
            </a:pPr>
            <a:r>
              <a:rPr lang="en-US" sz="5600" dirty="0"/>
              <a:t>?&gt;</a:t>
            </a:r>
          </a:p>
          <a:p>
            <a:pPr marL="457200" lvl="1" indent="0" algn="just">
              <a:buNone/>
            </a:pPr>
            <a:r>
              <a:rPr lang="en-US" sz="5600" dirty="0"/>
              <a:t>&lt;/body&gt;</a:t>
            </a:r>
          </a:p>
          <a:p>
            <a:pPr marL="457200" lvl="1" indent="0" algn="just">
              <a:buNone/>
            </a:pPr>
            <a:r>
              <a:rPr lang="en-US" sz="5600" dirty="0"/>
              <a:t>&lt;/html&gt;</a:t>
            </a:r>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p:txBody>
      </p:sp>
    </p:spTree>
    <p:extLst>
      <p:ext uri="{BB962C8B-B14F-4D97-AF65-F5344CB8AC3E}">
        <p14:creationId xmlns:p14="http://schemas.microsoft.com/office/powerpoint/2010/main" val="301962225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C474A3-E9AB-1C89-6BD4-CA0C6275D20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1AC4D05-BC17-262B-6363-FE9C0496627C}"/>
              </a:ext>
            </a:extLst>
          </p:cNvPr>
          <p:cNvSpPr>
            <a:spLocks noGrp="1"/>
          </p:cNvSpPr>
          <p:nvPr>
            <p:ph idx="1"/>
          </p:nvPr>
        </p:nvSpPr>
        <p:spPr>
          <a:xfrm>
            <a:off x="838200" y="301658"/>
            <a:ext cx="10515600" cy="6259398"/>
          </a:xfrm>
        </p:spPr>
        <p:txBody>
          <a:bodyPr/>
          <a:lstStyle/>
          <a:p>
            <a:pPr marL="0" indent="0" algn="ctr">
              <a:buNone/>
            </a:pPr>
            <a:endParaRPr lang="en-US" sz="16600" dirty="0"/>
          </a:p>
          <a:p>
            <a:pPr marL="0" indent="0" algn="ctr">
              <a:buNone/>
            </a:pPr>
            <a:r>
              <a:rPr lang="en-US" sz="16600" dirty="0"/>
              <a:t>END</a:t>
            </a:r>
          </a:p>
          <a:p>
            <a:pPr marL="0" indent="0" algn="just">
              <a:buNone/>
            </a:pPr>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a:p>
            <a:pPr algn="just"/>
            <a:endParaRPr lang="en-US" sz="2400" dirty="0"/>
          </a:p>
        </p:txBody>
      </p:sp>
    </p:spTree>
    <p:extLst>
      <p:ext uri="{BB962C8B-B14F-4D97-AF65-F5344CB8AC3E}">
        <p14:creationId xmlns:p14="http://schemas.microsoft.com/office/powerpoint/2010/main" val="33653591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14325</TotalTime>
  <Words>8536</Words>
  <Application>Microsoft Office PowerPoint</Application>
  <PresentationFormat>Widescreen</PresentationFormat>
  <Paragraphs>1152</Paragraphs>
  <Slides>67</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67</vt:i4>
      </vt:variant>
    </vt:vector>
  </HeadingPairs>
  <TitlesOfParts>
    <vt:vector size="71" baseType="lpstr">
      <vt:lpstr>Arial</vt:lpstr>
      <vt:lpstr>Calibri</vt:lpstr>
      <vt:lpstr>Calibri Light</vt:lpstr>
      <vt:lpstr>Office Theme</vt:lpstr>
      <vt:lpstr>PHP Advanced PHP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Roshan D Suvaris</dc:creator>
  <cp:lastModifiedBy>Roshan D Suvaris</cp:lastModifiedBy>
  <cp:revision>82</cp:revision>
  <dcterms:created xsi:type="dcterms:W3CDTF">2025-10-23T06:17:30Z</dcterms:created>
  <dcterms:modified xsi:type="dcterms:W3CDTF">2025-11-20T03:23:59Z</dcterms:modified>
</cp:coreProperties>
</file>