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202"/>
  </p:notesMasterIdLst>
  <p:sldIdLst>
    <p:sldId id="257" r:id="rId5"/>
    <p:sldId id="259" r:id="rId6"/>
    <p:sldId id="261" r:id="rId7"/>
    <p:sldId id="263" r:id="rId8"/>
    <p:sldId id="262"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6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411" r:id="rId87"/>
    <p:sldId id="418" r:id="rId88"/>
    <p:sldId id="412" r:id="rId89"/>
    <p:sldId id="413" r:id="rId90"/>
    <p:sldId id="414" r:id="rId91"/>
    <p:sldId id="415" r:id="rId92"/>
    <p:sldId id="416" r:id="rId93"/>
    <p:sldId id="417"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409" r:id="rId122"/>
    <p:sldId id="410" r:id="rId123"/>
    <p:sldId id="368" r:id="rId124"/>
    <p:sldId id="369" r:id="rId125"/>
    <p:sldId id="370" r:id="rId126"/>
    <p:sldId id="371" r:id="rId127"/>
    <p:sldId id="372" r:id="rId128"/>
    <p:sldId id="373" r:id="rId129"/>
    <p:sldId id="374" r:id="rId130"/>
    <p:sldId id="375" r:id="rId131"/>
    <p:sldId id="376" r:id="rId132"/>
    <p:sldId id="377" r:id="rId133"/>
    <p:sldId id="378" r:id="rId134"/>
    <p:sldId id="379" r:id="rId135"/>
    <p:sldId id="380" r:id="rId136"/>
    <p:sldId id="381" r:id="rId137"/>
    <p:sldId id="382" r:id="rId138"/>
    <p:sldId id="383" r:id="rId139"/>
    <p:sldId id="384" r:id="rId140"/>
    <p:sldId id="385" r:id="rId141"/>
    <p:sldId id="386" r:id="rId142"/>
    <p:sldId id="387" r:id="rId143"/>
    <p:sldId id="388" r:id="rId144"/>
    <p:sldId id="389" r:id="rId145"/>
    <p:sldId id="390" r:id="rId146"/>
    <p:sldId id="391" r:id="rId147"/>
    <p:sldId id="392" r:id="rId148"/>
    <p:sldId id="393" r:id="rId149"/>
    <p:sldId id="394" r:id="rId150"/>
    <p:sldId id="395" r:id="rId151"/>
    <p:sldId id="396" r:id="rId152"/>
    <p:sldId id="397" r:id="rId153"/>
    <p:sldId id="398" r:id="rId154"/>
    <p:sldId id="399" r:id="rId155"/>
    <p:sldId id="400" r:id="rId156"/>
    <p:sldId id="401" r:id="rId157"/>
    <p:sldId id="402" r:id="rId158"/>
    <p:sldId id="403" r:id="rId159"/>
    <p:sldId id="404" r:id="rId160"/>
    <p:sldId id="405" r:id="rId161"/>
    <p:sldId id="406" r:id="rId162"/>
    <p:sldId id="407" r:id="rId163"/>
    <p:sldId id="40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9" r:id="rId192"/>
    <p:sldId id="446" r:id="rId193"/>
    <p:sldId id="447" r:id="rId194"/>
    <p:sldId id="448" r:id="rId195"/>
    <p:sldId id="450" r:id="rId196"/>
    <p:sldId id="451" r:id="rId197"/>
    <p:sldId id="452" r:id="rId198"/>
    <p:sldId id="453" r:id="rId199"/>
    <p:sldId id="454" r:id="rId200"/>
    <p:sldId id="455" r:id="rId2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theme" Target="theme/theme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tableStyles" Target="tableStyle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199" Type="http://schemas.openxmlformats.org/officeDocument/2006/relationships/slide" Target="slides/slide195.xml"/><Relationship Id="rId203"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190" Type="http://schemas.openxmlformats.org/officeDocument/2006/relationships/slide" Target="slides/slide186.xml"/><Relationship Id="rId204"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notesMaster" Target="notesMasters/notesMaster1.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40705-BCBF-4485-83F2-F749DE580705}" type="datetimeFigureOut">
              <a:rPr lang="en-IN" smtClean="0"/>
              <a:t>03-02-2026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B2E86-4960-4382-A556-7A65D42F14F9}" type="slidenum">
              <a:rPr lang="en-IN" smtClean="0"/>
              <a:t>‹#›</a:t>
            </a:fld>
            <a:endParaRPr lang="en-IN"/>
          </a:p>
        </p:txBody>
      </p:sp>
    </p:spTree>
    <p:extLst>
      <p:ext uri="{BB962C8B-B14F-4D97-AF65-F5344CB8AC3E}">
        <p14:creationId xmlns:p14="http://schemas.microsoft.com/office/powerpoint/2010/main" val="4031736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63B2E86-4960-4382-A556-7A65D42F14F9}" type="slidenum">
              <a:rPr lang="en-IN" smtClean="0"/>
              <a:t>82</a:t>
            </a:fld>
            <a:endParaRPr lang="en-IN"/>
          </a:p>
        </p:txBody>
      </p:sp>
    </p:spTree>
    <p:extLst>
      <p:ext uri="{BB962C8B-B14F-4D97-AF65-F5344CB8AC3E}">
        <p14:creationId xmlns:p14="http://schemas.microsoft.com/office/powerpoint/2010/main" val="1017889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2/3/2026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2/3/2026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file:///\\path-to-documen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www.w3.org/1999/xhtml"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25.wmf"/><Relationship Id="rId4" Type="http://schemas.openxmlformats.org/officeDocument/2006/relationships/oleObject" Target="../embeddings/oleObject6.bin"/></Relationships>
</file>

<file path=ppt/slides/_rels/slide6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9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hyperlink" Target="https://www.geeksforgeeks.org/html-dom-video-autoplay-property/" TargetMode="External"/><Relationship Id="rId2" Type="http://schemas.openxmlformats.org/officeDocument/2006/relationships/hyperlink" Target="https://www.geeksforgeeks.org/html-dom-video-controls-property/" TargetMode="External"/><Relationship Id="rId1" Type="http://schemas.openxmlformats.org/officeDocument/2006/relationships/slideLayout" Target="../slideLayouts/slideLayout7.xml"/><Relationship Id="rId4" Type="http://schemas.openxmlformats.org/officeDocument/2006/relationships/hyperlink" Target="https://www.geeksforgeeks.org/html-dom-video-playbackrate-property/" TargetMode="External"/></Relationships>
</file>

<file path=ppt/slides/_rels/slide151.xml.rels><?xml version="1.0" encoding="UTF-8" standalone="yes"?>
<Relationships xmlns="http://schemas.openxmlformats.org/package/2006/relationships"><Relationship Id="rId3" Type="http://schemas.openxmlformats.org/officeDocument/2006/relationships/hyperlink" Target="https://www.geeksforgeeks.org/css/" TargetMode="External"/><Relationship Id="rId2" Type="http://schemas.openxmlformats.org/officeDocument/2006/relationships/hyperlink" Target="https://www.geeksforgeeks.org/html/" TargetMode="External"/><Relationship Id="rId1" Type="http://schemas.openxmlformats.org/officeDocument/2006/relationships/slideLayout" Target="../slideLayouts/slideLayout7.xml"/><Relationship Id="rId4" Type="http://schemas.openxmlformats.org/officeDocument/2006/relationships/hyperlink" Target="https://www.geeksforgeeks.org/javascript/"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1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18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fontScale="90000"/>
          </a:bodyPr>
          <a:lstStyle/>
          <a:p>
            <a:r>
              <a:rPr lang="en-US" sz="8000" dirty="0"/>
              <a:t>Advanced Web Technologies</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Dr </a:t>
            </a:r>
            <a:r>
              <a:rPr lang="en-US" sz="2400" dirty="0" err="1">
                <a:solidFill>
                  <a:schemeClr val="tx1">
                    <a:lumMod val="85000"/>
                    <a:lumOff val="15000"/>
                  </a:schemeClr>
                </a:solidFill>
              </a:rPr>
              <a:t>roshan</a:t>
            </a:r>
            <a:r>
              <a:rPr lang="en-US" sz="2400" dirty="0">
                <a:solidFill>
                  <a:schemeClr val="tx1">
                    <a:lumMod val="85000"/>
                    <a:lumOff val="15000"/>
                  </a:schemeClr>
                </a:solidFill>
              </a:rPr>
              <a:t> d </a:t>
            </a:r>
            <a:r>
              <a:rPr lang="en-US" sz="2400" dirty="0" err="1">
                <a:solidFill>
                  <a:schemeClr val="tx1">
                    <a:lumMod val="85000"/>
                    <a:lumOff val="15000"/>
                  </a:schemeClr>
                </a:solidFill>
              </a:rPr>
              <a:t>suvaris</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67AC6-A331-102F-9972-FB564B6CE43F}"/>
              </a:ext>
            </a:extLst>
          </p:cNvPr>
          <p:cNvSpPr>
            <a:spLocks noGrp="1"/>
          </p:cNvSpPr>
          <p:nvPr>
            <p:ph type="title"/>
          </p:nvPr>
        </p:nvSpPr>
        <p:spPr>
          <a:xfrm>
            <a:off x="1097280" y="286603"/>
            <a:ext cx="10058400" cy="582973"/>
          </a:xfrm>
        </p:spPr>
        <p:txBody>
          <a:bodyPr>
            <a:normAutofit fontScale="90000"/>
          </a:bodyPr>
          <a:lstStyle/>
          <a:p>
            <a:r>
              <a:rPr lang="en-US" dirty="0"/>
              <a:t>XHTML</a:t>
            </a:r>
            <a:endParaRPr lang="en-IN" dirty="0"/>
          </a:p>
        </p:txBody>
      </p:sp>
      <p:sp>
        <p:nvSpPr>
          <p:cNvPr id="3" name="Content Placeholder 2">
            <a:extLst>
              <a:ext uri="{FF2B5EF4-FFF2-40B4-BE49-F238E27FC236}">
                <a16:creationId xmlns:a16="http://schemas.microsoft.com/office/drawing/2014/main" id="{20D5796A-340C-41A0-7E13-3D1FB9ADBD64}"/>
              </a:ext>
            </a:extLst>
          </p:cNvPr>
          <p:cNvSpPr>
            <a:spLocks noGrp="1"/>
          </p:cNvSpPr>
          <p:nvPr>
            <p:ph idx="1"/>
          </p:nvPr>
        </p:nvSpPr>
        <p:spPr>
          <a:xfrm>
            <a:off x="1097280" y="1021977"/>
            <a:ext cx="10058400" cy="4847116"/>
          </a:xfrm>
        </p:spPr>
        <p:txBody>
          <a:bodyPr/>
          <a:lstStyle/>
          <a:p>
            <a:r>
              <a:rPr lang="en-US" dirty="0"/>
              <a:t>Index: </a:t>
            </a:r>
          </a:p>
          <a:p>
            <a:endParaRPr lang="en-US" dirty="0"/>
          </a:p>
          <a:p>
            <a:pPr>
              <a:buFont typeface="Wingdings" panose="05000000000000000000" pitchFamily="2" charset="2"/>
              <a:buChar char="v"/>
            </a:pPr>
            <a:r>
              <a:rPr lang="en-US" dirty="0"/>
              <a:t>World Wide Web </a:t>
            </a:r>
          </a:p>
          <a:p>
            <a:pPr>
              <a:buFont typeface="Wingdings" panose="05000000000000000000" pitchFamily="2" charset="2"/>
              <a:buChar char="v"/>
            </a:pPr>
            <a:r>
              <a:rPr lang="en-US" dirty="0"/>
              <a:t>Standard Structure, </a:t>
            </a:r>
          </a:p>
          <a:p>
            <a:pPr>
              <a:buFont typeface="Wingdings" panose="05000000000000000000" pitchFamily="2" charset="2"/>
              <a:buChar char="v"/>
            </a:pPr>
            <a:r>
              <a:rPr lang="en-US" dirty="0"/>
              <a:t> Basic Text Markup, </a:t>
            </a:r>
          </a:p>
          <a:p>
            <a:pPr>
              <a:buFont typeface="Wingdings" panose="05000000000000000000" pitchFamily="2" charset="2"/>
              <a:buChar char="v"/>
            </a:pPr>
            <a:r>
              <a:rPr lang="en-US" dirty="0"/>
              <a:t> Lists, </a:t>
            </a:r>
          </a:p>
          <a:p>
            <a:pPr>
              <a:buFont typeface="Wingdings" panose="05000000000000000000" pitchFamily="2" charset="2"/>
              <a:buChar char="v"/>
            </a:pPr>
            <a:r>
              <a:rPr lang="en-US" dirty="0"/>
              <a:t> Tables, </a:t>
            </a:r>
          </a:p>
          <a:p>
            <a:pPr>
              <a:buFont typeface="Wingdings" panose="05000000000000000000" pitchFamily="2" charset="2"/>
              <a:buChar char="v"/>
            </a:pPr>
            <a:r>
              <a:rPr lang="en-US" dirty="0"/>
              <a:t> Forms, </a:t>
            </a:r>
          </a:p>
          <a:p>
            <a:pPr>
              <a:buFont typeface="Wingdings" panose="05000000000000000000" pitchFamily="2" charset="2"/>
              <a:buChar char="v"/>
            </a:pPr>
            <a:r>
              <a:rPr lang="en-US" dirty="0"/>
              <a:t> Frames.</a:t>
            </a:r>
            <a:endParaRPr lang="en-IN" dirty="0"/>
          </a:p>
        </p:txBody>
      </p:sp>
    </p:spTree>
    <p:extLst>
      <p:ext uri="{BB962C8B-B14F-4D97-AF65-F5344CB8AC3E}">
        <p14:creationId xmlns:p14="http://schemas.microsoft.com/office/powerpoint/2010/main" val="725864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E4F9BE-CC3C-608E-769E-DBD4BA9009D4}"/>
              </a:ext>
            </a:extLst>
          </p:cNvPr>
          <p:cNvSpPr txBox="1"/>
          <p:nvPr/>
        </p:nvSpPr>
        <p:spPr>
          <a:xfrm>
            <a:off x="1066800" y="270844"/>
            <a:ext cx="10085294" cy="6001643"/>
          </a:xfrm>
          <a:prstGeom prst="rect">
            <a:avLst/>
          </a:prstGeom>
          <a:noFill/>
        </p:spPr>
        <p:txBody>
          <a:bodyPr wrap="square">
            <a:spAutoFit/>
          </a:bodyPr>
          <a:lstStyle/>
          <a:p>
            <a:pPr>
              <a:lnSpc>
                <a:spcPct val="100000"/>
              </a:lnSpc>
            </a:pPr>
            <a:r>
              <a:rPr lang="en-US" sz="2400" dirty="0"/>
              <a:t>A Brief Introduction to the Internet</a:t>
            </a:r>
            <a:endParaRPr lang="en-US" altLang="en-US" dirty="0"/>
          </a:p>
          <a:p>
            <a:pPr>
              <a:lnSpc>
                <a:spcPct val="100000"/>
              </a:lnSpc>
            </a:pPr>
            <a:r>
              <a:rPr lang="en-US" altLang="en-US" dirty="0"/>
              <a:t> -</a:t>
            </a:r>
          </a:p>
          <a:p>
            <a:pPr marL="285750" indent="-285750">
              <a:lnSpc>
                <a:spcPct val="100000"/>
              </a:lnSpc>
              <a:buFont typeface="Arial" panose="020B0604020202020204" pitchFamily="34" charset="0"/>
              <a:buChar char="•"/>
            </a:pPr>
            <a:r>
              <a:rPr lang="en-US" dirty="0"/>
              <a:t>In the 1960s, the U.S. Department of Defense (DoD) became interested in developing a new large-scale computer network.</a:t>
            </a:r>
          </a:p>
          <a:p>
            <a:pPr marL="285750" indent="-285750">
              <a:lnSpc>
                <a:spcPct val="100000"/>
              </a:lnSpc>
              <a:buFont typeface="Arial" panose="020B0604020202020204" pitchFamily="34" charset="0"/>
              <a:buChar char="•"/>
            </a:pPr>
            <a:endParaRPr lang="en-US" dirty="0"/>
          </a:p>
          <a:p>
            <a:pPr marL="285750" indent="-285750">
              <a:lnSpc>
                <a:spcPct val="100000"/>
              </a:lnSpc>
              <a:buFont typeface="Arial" panose="020B0604020202020204" pitchFamily="34" charset="0"/>
              <a:buChar char="•"/>
            </a:pPr>
            <a:r>
              <a:rPr lang="en-US" dirty="0"/>
              <a:t>The purposes of this network were communications, program sharing, and remote computer access for researchers working on defense-related contracts.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dirty="0"/>
              <a:t>The DoD’s Advanced Research Projects Agency (ARPA) funded the construction of the first such network, which connected about a dozen ARPA funded research laboratories and universities.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dirty="0"/>
              <a:t>The first node of this network was established at UCLA in 1969.</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dirty="0"/>
              <a:t>Because it was funded by ARPA, the network was named ARPAnet.</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IN" dirty="0"/>
              <a:t>BITNET – (Because It’s Time Network) - </a:t>
            </a:r>
            <a:r>
              <a:rPr lang="en-US" dirty="0"/>
              <a:t>electronic mail and file transfers (1970 - 1980)</a:t>
            </a:r>
          </a:p>
          <a:p>
            <a:pPr marL="285750" indent="-285750">
              <a:lnSpc>
                <a:spcPct val="100000"/>
              </a:lnSpc>
              <a:buFont typeface="Arial" panose="020B0604020202020204" pitchFamily="34" charset="0"/>
              <a:buChar char="•"/>
            </a:pPr>
            <a:endParaRPr lang="en-US" altLang="en-US" dirty="0"/>
          </a:p>
          <a:p>
            <a:pPr marL="285750" indent="-285750">
              <a:buFont typeface="Arial" panose="020B0604020202020204" pitchFamily="34" charset="0"/>
              <a:buChar char="•"/>
            </a:pPr>
            <a:r>
              <a:rPr lang="en-US" dirty="0"/>
              <a:t>CSNET (Computer Science Network) - </a:t>
            </a:r>
            <a:r>
              <a:rPr lang="en-IN" dirty="0"/>
              <a:t>electronic mail </a:t>
            </a:r>
            <a:r>
              <a:rPr lang="en-US" dirty="0"/>
              <a:t>(1970 - 1980)</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IN" dirty="0" err="1"/>
              <a:t>NSFnet</a:t>
            </a:r>
            <a:r>
              <a:rPr lang="en-IN" dirty="0"/>
              <a:t> (National Science Foundation 1986) - </a:t>
            </a:r>
            <a:r>
              <a:rPr lang="en-US" dirty="0" err="1"/>
              <a:t>NSFnet</a:t>
            </a:r>
            <a:r>
              <a:rPr lang="en-US" dirty="0"/>
              <a:t> initially connected the NSF-funded supercomputer centers that were at five universities. Used for common users.</a:t>
            </a:r>
            <a:endParaRPr lang="en-US" altLang="en-US" dirty="0"/>
          </a:p>
        </p:txBody>
      </p:sp>
    </p:spTree>
    <p:extLst>
      <p:ext uri="{BB962C8B-B14F-4D97-AF65-F5344CB8AC3E}">
        <p14:creationId xmlns:p14="http://schemas.microsoft.com/office/powerpoint/2010/main" val="874320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7609-C60C-6BF1-4BD1-35E49DED72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A2AF0F-FC3C-A6DB-4997-F66C420F8B67}"/>
              </a:ext>
            </a:extLst>
          </p:cNvPr>
          <p:cNvSpPr txBox="1"/>
          <p:nvPr/>
        </p:nvSpPr>
        <p:spPr>
          <a:xfrm>
            <a:off x="797859" y="439271"/>
            <a:ext cx="10676965" cy="3016210"/>
          </a:xfrm>
          <a:prstGeom prst="rect">
            <a:avLst/>
          </a:prstGeom>
          <a:noFill/>
        </p:spPr>
        <p:txBody>
          <a:bodyPr wrap="square" rtlCol="0">
            <a:spAutoFit/>
          </a:bodyPr>
          <a:lstStyle/>
          <a:p>
            <a:r>
              <a:rPr lang="en-IN" sz="2800" dirty="0"/>
              <a:t>What Is the Internet?</a:t>
            </a:r>
          </a:p>
          <a:p>
            <a:endParaRPr lang="en-IN" dirty="0"/>
          </a:p>
          <a:p>
            <a:pPr marL="285750" indent="-285750">
              <a:buFont typeface="Arial" panose="020B0604020202020204" pitchFamily="34" charset="0"/>
              <a:buChar char="•"/>
            </a:pPr>
            <a:r>
              <a:rPr lang="en-US" dirty="0"/>
              <a:t>The Internet is a huge collection of computers connected in a communications network.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These computers are of every imaginable size, configuration, and manufacturer.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innovation that allows all of these diverse devices to communicate with each other is a single, low-level protocol named Transmission Control Protocol/Internet Protocol (TCP/IP).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Internet is actually a network of networks, rather than a network of computers.</a:t>
            </a:r>
            <a:endParaRPr lang="en-IN" dirty="0"/>
          </a:p>
        </p:txBody>
      </p:sp>
    </p:spTree>
    <p:extLst>
      <p:ext uri="{BB962C8B-B14F-4D97-AF65-F5344CB8AC3E}">
        <p14:creationId xmlns:p14="http://schemas.microsoft.com/office/powerpoint/2010/main" val="1261788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6B9EA4-F359-2FAD-F7AF-46F9354B00C9}"/>
              </a:ext>
            </a:extLst>
          </p:cNvPr>
          <p:cNvSpPr txBox="1"/>
          <p:nvPr/>
        </p:nvSpPr>
        <p:spPr>
          <a:xfrm>
            <a:off x="869576" y="725251"/>
            <a:ext cx="10488706" cy="4524315"/>
          </a:xfrm>
          <a:prstGeom prst="rect">
            <a:avLst/>
          </a:prstGeom>
          <a:noFill/>
        </p:spPr>
        <p:txBody>
          <a:bodyPr wrap="square">
            <a:spAutoFit/>
          </a:bodyPr>
          <a:lstStyle/>
          <a:p>
            <a:r>
              <a:rPr lang="en-IN" b="1" dirty="0"/>
              <a:t>Internet Protocol Addresses</a:t>
            </a:r>
          </a:p>
          <a:p>
            <a:endParaRPr lang="en-IN" dirty="0"/>
          </a:p>
          <a:p>
            <a:pPr marL="285750" indent="-285750">
              <a:buFont typeface="Arial" panose="020B0604020202020204" pitchFamily="34" charset="0"/>
              <a:buChar char="•"/>
            </a:pPr>
            <a:r>
              <a:rPr lang="en-IN" dirty="0"/>
              <a:t>IPv4</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IPv6</a:t>
            </a:r>
          </a:p>
          <a:p>
            <a:endParaRPr lang="en-IN" dirty="0"/>
          </a:p>
          <a:p>
            <a:endParaRPr lang="en-IN" dirty="0"/>
          </a:p>
          <a:p>
            <a:r>
              <a:rPr lang="en-IN" b="1" dirty="0"/>
              <a:t>Domain Names</a:t>
            </a:r>
          </a:p>
          <a:p>
            <a:endParaRPr lang="en-IN" dirty="0"/>
          </a:p>
          <a:p>
            <a:pPr marL="285750" indent="-285750" algn="just">
              <a:buFont typeface="Arial" panose="020B0604020202020204" pitchFamily="34" charset="0"/>
              <a:buChar char="•"/>
            </a:pPr>
            <a:r>
              <a:rPr lang="en-US" dirty="0"/>
              <a:t>Because people have difficulty dealing with and remembering numbers, machines on the Internet also have textual names.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These names begin with the name of the host machine, followed by progressively larger enclosing collections of machines, called </a:t>
            </a:r>
            <a:r>
              <a:rPr lang="en-US" b="1" dirty="0"/>
              <a:t>domains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Ex : </a:t>
            </a:r>
            <a:r>
              <a:rPr lang="en-IN" dirty="0"/>
              <a:t>movies.marxbros.comedy.com</a:t>
            </a:r>
          </a:p>
        </p:txBody>
      </p:sp>
    </p:spTree>
    <p:extLst>
      <p:ext uri="{BB962C8B-B14F-4D97-AF65-F5344CB8AC3E}">
        <p14:creationId xmlns:p14="http://schemas.microsoft.com/office/powerpoint/2010/main" val="39477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00A86C-5A4D-EC25-9075-7E1F446C089A}"/>
              </a:ext>
            </a:extLst>
          </p:cNvPr>
          <p:cNvSpPr txBox="1"/>
          <p:nvPr/>
        </p:nvSpPr>
        <p:spPr>
          <a:xfrm>
            <a:off x="663388" y="493059"/>
            <a:ext cx="10901083" cy="3016210"/>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400" dirty="0"/>
              <a:t>IP addresses are the addresses used internally by the Internet, the fully qualified domain name of the destination for a message, which is what is given by a browser user, must be converted to an IP address before the message can be transmitted over the Internet to the destination. </a:t>
            </a:r>
          </a:p>
          <a:p>
            <a:pPr marL="342900" indent="-342900" algn="just">
              <a:buFont typeface="Arial" panose="020B0604020202020204" pitchFamily="34" charset="0"/>
              <a:buChar char="•"/>
            </a:pPr>
            <a:r>
              <a:rPr lang="en-US" sz="2400" dirty="0"/>
              <a:t>These conversions are done by software systems called name servers, which implement the Domain Name System (DNS). </a:t>
            </a:r>
            <a:endParaRPr lang="en-IN" dirty="0"/>
          </a:p>
        </p:txBody>
      </p:sp>
      <p:pic>
        <p:nvPicPr>
          <p:cNvPr id="4" name="Picture 3">
            <a:extLst>
              <a:ext uri="{FF2B5EF4-FFF2-40B4-BE49-F238E27FC236}">
                <a16:creationId xmlns:a16="http://schemas.microsoft.com/office/drawing/2014/main" id="{A32B7BD1-1684-4973-07F1-81C57808C740}"/>
              </a:ext>
            </a:extLst>
          </p:cNvPr>
          <p:cNvPicPr>
            <a:picLocks noChangeAspect="1"/>
          </p:cNvPicPr>
          <p:nvPr/>
        </p:nvPicPr>
        <p:blipFill>
          <a:blip r:embed="rId2"/>
          <a:stretch>
            <a:fillRect/>
          </a:stretch>
        </p:blipFill>
        <p:spPr>
          <a:xfrm>
            <a:off x="2755898" y="3658003"/>
            <a:ext cx="6716062" cy="2267266"/>
          </a:xfrm>
          <a:prstGeom prst="rect">
            <a:avLst/>
          </a:prstGeom>
        </p:spPr>
      </p:pic>
    </p:spTree>
    <p:extLst>
      <p:ext uri="{BB962C8B-B14F-4D97-AF65-F5344CB8AC3E}">
        <p14:creationId xmlns:p14="http://schemas.microsoft.com/office/powerpoint/2010/main" val="138243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C790-4A80-85F6-6335-5155328C67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AB58F-097F-D7AE-2B18-A425AA6A7DD0}"/>
              </a:ext>
            </a:extLst>
          </p:cNvPr>
          <p:cNvSpPr txBox="1"/>
          <p:nvPr/>
        </p:nvSpPr>
        <p:spPr>
          <a:xfrm>
            <a:off x="663388" y="493059"/>
            <a:ext cx="10901083" cy="4493538"/>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400" dirty="0"/>
              <a:t>By the mid-1980s, a collection of different protocols that run on top of TCP/IP had been developed to support a variety of Internet uses. </a:t>
            </a:r>
          </a:p>
          <a:p>
            <a:pPr marL="342900" indent="-342900" algn="just">
              <a:buFont typeface="Arial" panose="020B0604020202020204" pitchFamily="34" charset="0"/>
              <a:buChar char="•"/>
            </a:pPr>
            <a:r>
              <a:rPr lang="en-US" sz="2400" dirty="0"/>
              <a:t>Among these protocols, the most common were </a:t>
            </a:r>
            <a:r>
              <a:rPr lang="en-US" sz="2400" dirty="0">
                <a:solidFill>
                  <a:srgbClr val="FF0000"/>
                </a:solidFill>
              </a:rPr>
              <a:t>telnet</a:t>
            </a:r>
            <a:r>
              <a:rPr lang="en-US" sz="2400" dirty="0"/>
              <a:t>, which was developed to allow a user on one computer on the Internet to log onto and use another computer on the Internet; </a:t>
            </a:r>
          </a:p>
          <a:p>
            <a:pPr marL="342900" indent="-342900" algn="just">
              <a:buFont typeface="Arial" panose="020B0604020202020204" pitchFamily="34" charset="0"/>
              <a:buChar char="•"/>
            </a:pPr>
            <a:r>
              <a:rPr lang="en-US" sz="2400" dirty="0">
                <a:solidFill>
                  <a:srgbClr val="FF0000"/>
                </a:solidFill>
              </a:rPr>
              <a:t>File Transfer Protocol </a:t>
            </a:r>
            <a:r>
              <a:rPr lang="en-US" sz="2400" dirty="0"/>
              <a:t>(ftp), which was developed to transfer files among computers on the Internet; </a:t>
            </a:r>
          </a:p>
          <a:p>
            <a:pPr marL="342900" indent="-342900" algn="just">
              <a:buFont typeface="Arial" panose="020B0604020202020204" pitchFamily="34" charset="0"/>
              <a:buChar char="•"/>
            </a:pPr>
            <a:r>
              <a:rPr lang="en-US" sz="2400" dirty="0">
                <a:solidFill>
                  <a:srgbClr val="FF0000"/>
                </a:solidFill>
              </a:rPr>
              <a:t>Usenet</a:t>
            </a:r>
            <a:r>
              <a:rPr lang="en-US" sz="2400" dirty="0"/>
              <a:t>, which was developed to serve as an electronic bulletin board</a:t>
            </a:r>
          </a:p>
          <a:p>
            <a:pPr marL="342900" indent="-342900" algn="just">
              <a:buFont typeface="Arial" panose="020B0604020202020204" pitchFamily="34" charset="0"/>
              <a:buChar char="•"/>
            </a:pPr>
            <a:r>
              <a:rPr lang="en-US" sz="2400" dirty="0" err="1">
                <a:solidFill>
                  <a:srgbClr val="FF0000"/>
                </a:solidFill>
              </a:rPr>
              <a:t>mailto</a:t>
            </a:r>
            <a:r>
              <a:rPr lang="en-US" sz="2400" dirty="0"/>
              <a:t>, which was developed to allow messages to be sent from the user of one computer on the Internet to other users of other computers on the Internet.</a:t>
            </a:r>
            <a:endParaRPr lang="en-IN" dirty="0"/>
          </a:p>
        </p:txBody>
      </p:sp>
    </p:spTree>
    <p:extLst>
      <p:ext uri="{BB962C8B-B14F-4D97-AF65-F5344CB8AC3E}">
        <p14:creationId xmlns:p14="http://schemas.microsoft.com/office/powerpoint/2010/main" val="397973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DBBD9-D8FA-5B7A-FA0C-66B89BE5D2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C9FEE9-C5B6-45C3-64E9-B1794E6C589C}"/>
              </a:ext>
            </a:extLst>
          </p:cNvPr>
          <p:cNvSpPr txBox="1"/>
          <p:nvPr/>
        </p:nvSpPr>
        <p:spPr>
          <a:xfrm>
            <a:off x="663388" y="493059"/>
            <a:ext cx="10901083" cy="4493538"/>
          </a:xfrm>
          <a:prstGeom prst="rect">
            <a:avLst/>
          </a:prstGeom>
          <a:noFill/>
        </p:spPr>
        <p:txBody>
          <a:bodyPr wrap="square" rtlCol="0">
            <a:spAutoFit/>
          </a:bodyPr>
          <a:lstStyle/>
          <a:p>
            <a:r>
              <a:rPr lang="en-IN" sz="2800" dirty="0"/>
              <a:t>The World Wide Web</a:t>
            </a:r>
            <a:endParaRPr lang="en-US" sz="2800" dirty="0"/>
          </a:p>
          <a:p>
            <a:endParaRPr lang="en-US" dirty="0"/>
          </a:p>
          <a:p>
            <a:pPr algn="just"/>
            <a:r>
              <a:rPr lang="en-US" sz="2000" dirty="0"/>
              <a:t>In 1989, a small group of people led by Tim Berners-Lee at CERN proposed a new protocol for the Internet, as well as a system of document access to use it.</a:t>
            </a:r>
          </a:p>
          <a:p>
            <a:pPr algn="just"/>
            <a:endParaRPr lang="en-US" sz="2000" dirty="0"/>
          </a:p>
          <a:p>
            <a:pPr algn="just"/>
            <a:r>
              <a:rPr lang="en-US" sz="2000" dirty="0"/>
              <a:t>The intent of this new system, which the group named the </a:t>
            </a:r>
            <a:r>
              <a:rPr lang="en-US" sz="2000" dirty="0">
                <a:solidFill>
                  <a:srgbClr val="FF0000"/>
                </a:solidFill>
              </a:rPr>
              <a:t>World Wide Web</a:t>
            </a:r>
            <a:r>
              <a:rPr lang="en-US" sz="2000" dirty="0"/>
              <a:t>, was to allow scientists around the world to use the Internet to exchange documents describing their work.</a:t>
            </a:r>
          </a:p>
          <a:p>
            <a:pPr algn="just"/>
            <a:endParaRPr lang="en-US" sz="2000" dirty="0"/>
          </a:p>
          <a:p>
            <a:pPr algn="just"/>
            <a:r>
              <a:rPr lang="en-US" sz="2000" dirty="0"/>
              <a:t>The proposed new system was designed to allow a user anywhere on the Internet to search for and retrieve </a:t>
            </a:r>
            <a:r>
              <a:rPr lang="en-US" sz="2000" dirty="0">
                <a:solidFill>
                  <a:srgbClr val="FF0000"/>
                </a:solidFill>
              </a:rPr>
              <a:t>documents</a:t>
            </a:r>
            <a:r>
              <a:rPr lang="en-US" sz="2000" dirty="0"/>
              <a:t> from databases on any number of different </a:t>
            </a:r>
            <a:r>
              <a:rPr lang="en-US" sz="2000" dirty="0">
                <a:solidFill>
                  <a:srgbClr val="FF0000"/>
                </a:solidFill>
              </a:rPr>
              <a:t>document-serving</a:t>
            </a:r>
            <a:r>
              <a:rPr lang="en-US" sz="2000" dirty="0"/>
              <a:t> computers connected to the Internet.</a:t>
            </a:r>
          </a:p>
          <a:p>
            <a:pPr algn="just"/>
            <a:endParaRPr lang="en-US" sz="2000" dirty="0"/>
          </a:p>
          <a:p>
            <a:pPr algn="just"/>
            <a:r>
              <a:rPr lang="en-US" sz="2000" dirty="0"/>
              <a:t>The units of information on the Web have been referred to by several different names; among them, the most common are </a:t>
            </a:r>
            <a:r>
              <a:rPr lang="en-US" sz="2000" dirty="0">
                <a:solidFill>
                  <a:srgbClr val="FF0000"/>
                </a:solidFill>
              </a:rPr>
              <a:t>pages</a:t>
            </a:r>
            <a:r>
              <a:rPr lang="en-US" sz="2000" dirty="0"/>
              <a:t>, </a:t>
            </a:r>
            <a:r>
              <a:rPr lang="en-US" sz="2000" dirty="0">
                <a:solidFill>
                  <a:srgbClr val="FF0000"/>
                </a:solidFill>
              </a:rPr>
              <a:t>documents</a:t>
            </a:r>
            <a:r>
              <a:rPr lang="en-US" sz="2000" dirty="0"/>
              <a:t>, and </a:t>
            </a:r>
            <a:r>
              <a:rPr lang="en-US" sz="2000" dirty="0">
                <a:solidFill>
                  <a:srgbClr val="FF0000"/>
                </a:solidFill>
              </a:rPr>
              <a:t>resources</a:t>
            </a:r>
            <a:r>
              <a:rPr lang="en-US" sz="2000" dirty="0"/>
              <a:t>.</a:t>
            </a:r>
            <a:endParaRPr lang="en-IN" sz="2000" dirty="0"/>
          </a:p>
        </p:txBody>
      </p:sp>
    </p:spTree>
    <p:extLst>
      <p:ext uri="{BB962C8B-B14F-4D97-AF65-F5344CB8AC3E}">
        <p14:creationId xmlns:p14="http://schemas.microsoft.com/office/powerpoint/2010/main" val="4129345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0371-ECBC-C199-6C66-F85D71BB08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39947A-2B05-E9C9-341F-890827471F30}"/>
              </a:ext>
            </a:extLst>
          </p:cNvPr>
          <p:cNvSpPr txBox="1"/>
          <p:nvPr/>
        </p:nvSpPr>
        <p:spPr>
          <a:xfrm>
            <a:off x="510987" y="313764"/>
            <a:ext cx="10901083" cy="6647974"/>
          </a:xfrm>
          <a:prstGeom prst="rect">
            <a:avLst/>
          </a:prstGeom>
          <a:noFill/>
        </p:spPr>
        <p:txBody>
          <a:bodyPr wrap="square" rtlCol="0">
            <a:spAutoFit/>
          </a:bodyPr>
          <a:lstStyle/>
          <a:p>
            <a:r>
              <a:rPr lang="en-IN" sz="2800" dirty="0"/>
              <a:t>Web Browsers</a:t>
            </a:r>
            <a:endParaRPr lang="en-US" sz="2800" dirty="0"/>
          </a:p>
          <a:p>
            <a:endParaRPr lang="en-US" dirty="0"/>
          </a:p>
          <a:p>
            <a:pPr marL="342900" indent="-342900" algn="just">
              <a:buFont typeface="Arial" panose="020B0604020202020204" pitchFamily="34" charset="0"/>
              <a:buChar char="•"/>
            </a:pPr>
            <a:r>
              <a:rPr lang="en-US" sz="2000" dirty="0"/>
              <a:t>Client – Server architecture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Documents provided by servers on the Web are requested by browsers, which are programs running on client machines.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They are called browsers because they allow the user to browse the resources available on servers.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first browsers were text based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0000"/>
                </a:solidFill>
              </a:rPr>
              <a:t>Mosaic</a:t>
            </a:r>
            <a:r>
              <a:rPr lang="en-US" sz="2000" dirty="0"/>
              <a:t> was developed at the National Center for Supercomputer Applications (NCSA) at the University of Illinois.</a:t>
            </a:r>
          </a:p>
          <a:p>
            <a:pPr algn="just"/>
            <a:endParaRPr lang="en-US" sz="2000" dirty="0"/>
          </a:p>
          <a:p>
            <a:pPr marL="342900" indent="-342900" algn="just">
              <a:buFont typeface="Arial" panose="020B0604020202020204" pitchFamily="34" charset="0"/>
              <a:buChar char="•"/>
            </a:pPr>
            <a:r>
              <a:rPr lang="en-US" sz="2000" dirty="0"/>
              <a:t>Programs may be executed on the server.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Web supports a variety of protocols; the most common one is the Hypertext Transfer Protocol (HTTP).</a:t>
            </a:r>
          </a:p>
          <a:p>
            <a:pPr algn="just"/>
            <a:endParaRPr lang="en-US" sz="2000" dirty="0"/>
          </a:p>
          <a:p>
            <a:pPr algn="just"/>
            <a:endParaRPr lang="en-IN" sz="2000" dirty="0"/>
          </a:p>
        </p:txBody>
      </p:sp>
    </p:spTree>
    <p:extLst>
      <p:ext uri="{BB962C8B-B14F-4D97-AF65-F5344CB8AC3E}">
        <p14:creationId xmlns:p14="http://schemas.microsoft.com/office/powerpoint/2010/main" val="3467808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82B8-C3D9-FFD1-E139-247E59AF7D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74CD63-05FB-6102-E809-792A1A85A539}"/>
              </a:ext>
            </a:extLst>
          </p:cNvPr>
          <p:cNvSpPr txBox="1"/>
          <p:nvPr/>
        </p:nvSpPr>
        <p:spPr>
          <a:xfrm>
            <a:off x="645458" y="105013"/>
            <a:ext cx="10901083" cy="6001643"/>
          </a:xfrm>
          <a:prstGeom prst="rect">
            <a:avLst/>
          </a:prstGeom>
          <a:noFill/>
        </p:spPr>
        <p:txBody>
          <a:bodyPr wrap="square" rtlCol="0">
            <a:spAutoFit/>
          </a:bodyPr>
          <a:lstStyle/>
          <a:p>
            <a:r>
              <a:rPr lang="en-IN" sz="2400" dirty="0"/>
              <a:t>Web Servers</a:t>
            </a:r>
            <a:endParaRPr lang="en-US" sz="2400" dirty="0"/>
          </a:p>
          <a:p>
            <a:endParaRPr lang="en-US" dirty="0"/>
          </a:p>
          <a:p>
            <a:pPr marL="342900" indent="-342900" algn="just">
              <a:buFont typeface="Arial" panose="020B0604020202020204" pitchFamily="34" charset="0"/>
              <a:buChar char="•"/>
            </a:pPr>
            <a:r>
              <a:rPr lang="en-US" dirty="0"/>
              <a:t>Web servers are programs that provide documents to requesting browsers. </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Servers are slave programs: They act only when requests are made to them by browsers running on other computers on the Internet.</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The most commonly used Web servers are Apache, </a:t>
            </a:r>
            <a:r>
              <a:rPr lang="en-IN" dirty="0"/>
              <a:t>Microsoft’s Internet Information Server (IIS)</a:t>
            </a:r>
          </a:p>
          <a:p>
            <a:pPr algn="just"/>
            <a:endParaRPr lang="en-IN" dirty="0"/>
          </a:p>
          <a:p>
            <a:pPr algn="just"/>
            <a:r>
              <a:rPr lang="en-IN" b="1" dirty="0"/>
              <a:t>Web Server Operation</a:t>
            </a:r>
          </a:p>
          <a:p>
            <a:pPr algn="just"/>
            <a:endParaRPr lang="en-IN" b="1" dirty="0"/>
          </a:p>
          <a:p>
            <a:pPr marL="342900" indent="-342900" algn="just">
              <a:buFont typeface="Arial" panose="020B0604020202020204" pitchFamily="34" charset="0"/>
              <a:buChar char="•"/>
            </a:pPr>
            <a:r>
              <a:rPr lang="en-IN" dirty="0"/>
              <a:t>Web server uses ports</a:t>
            </a:r>
          </a:p>
          <a:p>
            <a:pPr algn="just"/>
            <a:endParaRPr lang="en-IN" b="1" dirty="0"/>
          </a:p>
          <a:p>
            <a:pPr marL="342900" indent="-342900" algn="just">
              <a:buFont typeface="Arial" panose="020B0604020202020204" pitchFamily="34" charset="0"/>
              <a:buChar char="•"/>
            </a:pPr>
            <a:r>
              <a:rPr lang="en-US" dirty="0"/>
              <a:t>Serving information does not take a great deal of time. displaying information on client screens is time consuming</a:t>
            </a:r>
          </a:p>
          <a:p>
            <a:pPr marL="342900" indent="-342900" algn="just">
              <a:buFont typeface="Arial" panose="020B0604020202020204" pitchFamily="34" charset="0"/>
              <a:buChar char="•"/>
            </a:pPr>
            <a:endParaRPr lang="en-US" b="1" dirty="0"/>
          </a:p>
          <a:p>
            <a:pPr marL="342900" indent="-342900" algn="just">
              <a:buFont typeface="Arial" panose="020B0604020202020204" pitchFamily="34" charset="0"/>
              <a:buChar char="•"/>
            </a:pPr>
            <a:r>
              <a:rPr lang="en-US" dirty="0"/>
              <a:t>Web browsers initiate network communications with servers by sending them URLs</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A URL can specify one of two different things:</a:t>
            </a:r>
          </a:p>
          <a:p>
            <a:pPr marL="800100" lvl="1" indent="-342900" algn="just">
              <a:buFont typeface="Arial" panose="020B0604020202020204" pitchFamily="34" charset="0"/>
              <a:buChar char="•"/>
            </a:pPr>
            <a:r>
              <a:rPr lang="en-US" dirty="0"/>
              <a:t>the address of a data file stored on the server</a:t>
            </a:r>
          </a:p>
          <a:p>
            <a:pPr marL="800100" lvl="1" indent="-342900" algn="just">
              <a:buFont typeface="Arial" panose="020B0604020202020204" pitchFamily="34" charset="0"/>
              <a:buChar char="•"/>
            </a:pPr>
            <a:r>
              <a:rPr lang="en-US" dirty="0"/>
              <a:t>program stored on the server</a:t>
            </a:r>
            <a:endParaRPr lang="en-IN" b="1" dirty="0"/>
          </a:p>
        </p:txBody>
      </p:sp>
    </p:spTree>
    <p:extLst>
      <p:ext uri="{BB962C8B-B14F-4D97-AF65-F5344CB8AC3E}">
        <p14:creationId xmlns:p14="http://schemas.microsoft.com/office/powerpoint/2010/main" val="1121004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F890-496A-8D62-CE61-3DD43C38E7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87B5B-6B7C-13E5-7E18-7F057A13EA9E}"/>
              </a:ext>
            </a:extLst>
          </p:cNvPr>
          <p:cNvSpPr txBox="1"/>
          <p:nvPr/>
        </p:nvSpPr>
        <p:spPr>
          <a:xfrm>
            <a:off x="663388" y="493059"/>
            <a:ext cx="10901083" cy="5509200"/>
          </a:xfrm>
          <a:prstGeom prst="rect">
            <a:avLst/>
          </a:prstGeom>
          <a:noFill/>
        </p:spPr>
        <p:txBody>
          <a:bodyPr wrap="square" rtlCol="0">
            <a:spAutoFit/>
          </a:bodyPr>
          <a:lstStyle/>
          <a:p>
            <a:r>
              <a:rPr lang="en-IN" sz="2800" dirty="0"/>
              <a:t>General Server Characteristics</a:t>
            </a:r>
            <a:endParaRPr lang="en-US" sz="2800" dirty="0"/>
          </a:p>
          <a:p>
            <a:endParaRPr lang="en-US" dirty="0"/>
          </a:p>
          <a:p>
            <a:pPr marL="342900" indent="-342900">
              <a:buFont typeface="Arial" panose="020B0604020202020204" pitchFamily="34" charset="0"/>
              <a:buChar char="•"/>
            </a:pPr>
            <a:r>
              <a:rPr lang="en-US" sz="2400" dirty="0"/>
              <a:t>The file structure of a Web server has two separate directories.</a:t>
            </a:r>
          </a:p>
          <a:p>
            <a:r>
              <a:rPr lang="en-US" sz="2400" dirty="0"/>
              <a:t>	</a:t>
            </a:r>
            <a:r>
              <a:rPr lang="en-IN" sz="2000" b="1" dirty="0"/>
              <a:t>document root </a:t>
            </a:r>
            <a:r>
              <a:rPr lang="en-IN" sz="2000" dirty="0"/>
              <a:t>- </a:t>
            </a:r>
            <a:r>
              <a:rPr lang="en-US" sz="2000" dirty="0"/>
              <a:t>stores the Web documents to which the server has direct access and 	normally serves to clients	</a:t>
            </a:r>
          </a:p>
          <a:p>
            <a:endParaRPr lang="en-US" sz="2000" dirty="0"/>
          </a:p>
          <a:p>
            <a:r>
              <a:rPr lang="en-US" sz="2000" dirty="0"/>
              <a:t>	</a:t>
            </a:r>
            <a:r>
              <a:rPr lang="en-IN" sz="2000" b="1" dirty="0"/>
              <a:t>server root </a:t>
            </a:r>
            <a:r>
              <a:rPr lang="en-IN" sz="2000" dirty="0"/>
              <a:t>- </a:t>
            </a:r>
            <a:r>
              <a:rPr lang="en-US" sz="2000" dirty="0"/>
              <a:t>stores the server and its support software</a:t>
            </a:r>
          </a:p>
          <a:p>
            <a:endParaRPr lang="en-IN" dirty="0"/>
          </a:p>
          <a:p>
            <a:endParaRPr lang="en-IN" dirty="0"/>
          </a:p>
          <a:p>
            <a:pPr marL="285750" indent="-285750" algn="just">
              <a:buFont typeface="Arial" panose="020B0604020202020204" pitchFamily="34" charset="0"/>
              <a:buChar char="•"/>
            </a:pPr>
            <a:r>
              <a:rPr lang="en-US" dirty="0"/>
              <a:t>Many servers allow part of the servable document collection to be stored outside the directory at the document root. The secondary areas from which documents can be served are called </a:t>
            </a:r>
            <a:r>
              <a:rPr lang="en-US" i="1" dirty="0">
                <a:solidFill>
                  <a:srgbClr val="FF0000"/>
                </a:solidFill>
              </a:rPr>
              <a:t>virtual document trees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Many servers can support more than one site on a computer, potentially reducing the cost of each site and making their maintenance more convenient. Such secondary hosts are called </a:t>
            </a:r>
            <a:r>
              <a:rPr lang="en-US" i="1" dirty="0">
                <a:solidFill>
                  <a:srgbClr val="FF0000"/>
                </a:solidFill>
              </a:rPr>
              <a:t>virtual hosts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Some servers can serve documents that are in the document root of other machines on the Web; in this case, they are called </a:t>
            </a:r>
            <a:r>
              <a:rPr lang="en-US" i="1" dirty="0">
                <a:solidFill>
                  <a:srgbClr val="FF0000"/>
                </a:solidFill>
              </a:rPr>
              <a:t>proxy servers</a:t>
            </a:r>
            <a:r>
              <a:rPr lang="en-US" dirty="0"/>
              <a:t>.</a:t>
            </a:r>
            <a:endParaRPr lang="en-IN" dirty="0"/>
          </a:p>
        </p:txBody>
      </p:sp>
    </p:spTree>
    <p:extLst>
      <p:ext uri="{BB962C8B-B14F-4D97-AF65-F5344CB8AC3E}">
        <p14:creationId xmlns:p14="http://schemas.microsoft.com/office/powerpoint/2010/main" val="924024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2F905-5690-7897-D8AC-3B59C3E6A3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B346A7-7A28-31FB-F995-0ADCEE2277D0}"/>
              </a:ext>
            </a:extLst>
          </p:cNvPr>
          <p:cNvSpPr txBox="1"/>
          <p:nvPr/>
        </p:nvSpPr>
        <p:spPr>
          <a:xfrm>
            <a:off x="663388" y="493059"/>
            <a:ext cx="10901083" cy="5632311"/>
          </a:xfrm>
          <a:prstGeom prst="rect">
            <a:avLst/>
          </a:prstGeom>
          <a:noFill/>
        </p:spPr>
        <p:txBody>
          <a:bodyPr wrap="square" rtlCol="0">
            <a:spAutoFit/>
          </a:bodyPr>
          <a:lstStyle/>
          <a:p>
            <a:r>
              <a:rPr lang="en-IN" sz="2800" dirty="0"/>
              <a:t>Apache</a:t>
            </a:r>
            <a:endParaRPr lang="en-US" sz="2800" dirty="0"/>
          </a:p>
          <a:p>
            <a:endParaRPr lang="en-US" dirty="0"/>
          </a:p>
          <a:p>
            <a:pPr marL="342900" indent="-342900" algn="just">
              <a:buFont typeface="Arial" panose="020B0604020202020204" pitchFamily="34" charset="0"/>
              <a:buChar char="•"/>
            </a:pPr>
            <a:r>
              <a:rPr lang="en-US" sz="2000" dirty="0"/>
              <a:t>Apache began as the NCSA server, httpd, with some added features.</a:t>
            </a:r>
          </a:p>
          <a:p>
            <a:pPr marL="285750" indent="-285750" algn="just">
              <a:buFont typeface="Arial" panose="020B0604020202020204" pitchFamily="34" charset="0"/>
              <a:buChar char="•"/>
            </a:pPr>
            <a:r>
              <a:rPr lang="en-US" dirty="0"/>
              <a:t>It is both fast and reliable</a:t>
            </a:r>
          </a:p>
          <a:p>
            <a:pPr marL="285750" indent="-285750" algn="just">
              <a:buFont typeface="Arial" panose="020B0604020202020204" pitchFamily="34" charset="0"/>
              <a:buChar char="•"/>
            </a:pPr>
            <a:r>
              <a:rPr lang="en-IN" dirty="0"/>
              <a:t>It is open-source software</a:t>
            </a:r>
          </a:p>
          <a:p>
            <a:pPr marL="285750" indent="-285750" algn="just">
              <a:buFont typeface="Arial" panose="020B0604020202020204" pitchFamily="34" charset="0"/>
              <a:buChar char="•"/>
            </a:pPr>
            <a:r>
              <a:rPr lang="en-US" dirty="0"/>
              <a:t>It is one of the best available servers for Unix-based systems</a:t>
            </a:r>
          </a:p>
          <a:p>
            <a:pPr marL="285750" indent="-285750" algn="just">
              <a:buFont typeface="Arial" panose="020B0604020202020204" pitchFamily="34" charset="0"/>
              <a:buChar char="•"/>
            </a:pPr>
            <a:r>
              <a:rPr lang="en-US" dirty="0"/>
              <a:t>When Apache begins execution, it reads its configuration information from a file and sets its parameters to operate accordingly.</a:t>
            </a:r>
          </a:p>
          <a:p>
            <a:pPr algn="just"/>
            <a:endParaRPr lang="en-US" dirty="0"/>
          </a:p>
          <a:p>
            <a:pPr algn="just"/>
            <a:r>
              <a:rPr lang="en-IN" sz="2400" dirty="0"/>
              <a:t>IIS</a:t>
            </a:r>
            <a:endParaRPr lang="en-IN" dirty="0"/>
          </a:p>
          <a:p>
            <a:pPr algn="just"/>
            <a:endParaRPr lang="en-IN" dirty="0"/>
          </a:p>
          <a:p>
            <a:pPr marL="285750" indent="-285750" algn="just">
              <a:buFont typeface="Arial" panose="020B0604020202020204" pitchFamily="34" charset="0"/>
              <a:buChar char="•"/>
            </a:pPr>
            <a:r>
              <a:rPr lang="en-US" dirty="0"/>
              <a:t>The Microsoft IIS server is supplied as part of Windows—and because it is a reasonably good server—most Windows based Web servers use IIS.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most important difference between Apache and IIS is that Apache is controlled by a configuration file that is edited by the manager to change Apache’s behavior. </a:t>
            </a:r>
          </a:p>
          <a:p>
            <a:pPr marL="285750" indent="-285750" algn="just">
              <a:buFont typeface="Arial" panose="020B0604020202020204" pitchFamily="34" charset="0"/>
              <a:buChar char="•"/>
            </a:pPr>
            <a:r>
              <a:rPr lang="en-US" dirty="0"/>
              <a:t>With IIS, server behavior is modified by changes made through a window-based management program, named the IIS snap-in, which controls both IIS and ftp. This program allows the site manager to set parameters for the server.</a:t>
            </a:r>
            <a:endParaRPr lang="en-IN" dirty="0"/>
          </a:p>
        </p:txBody>
      </p:sp>
    </p:spTree>
    <p:extLst>
      <p:ext uri="{BB962C8B-B14F-4D97-AF65-F5344CB8AC3E}">
        <p14:creationId xmlns:p14="http://schemas.microsoft.com/office/powerpoint/2010/main" val="951510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A71AB-8C24-A909-93A2-A01553524F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EC2F8F-277E-AC1D-874A-0B88F2941A1F}"/>
              </a:ext>
            </a:extLst>
          </p:cNvPr>
          <p:cNvSpPr txBox="1"/>
          <p:nvPr/>
        </p:nvSpPr>
        <p:spPr>
          <a:xfrm>
            <a:off x="663388" y="493059"/>
            <a:ext cx="10901083" cy="6063198"/>
          </a:xfrm>
          <a:prstGeom prst="rect">
            <a:avLst/>
          </a:prstGeom>
          <a:noFill/>
        </p:spPr>
        <p:txBody>
          <a:bodyPr wrap="square" rtlCol="0">
            <a:spAutoFit/>
          </a:bodyPr>
          <a:lstStyle/>
          <a:p>
            <a:r>
              <a:rPr lang="en-IN" sz="2800" dirty="0"/>
              <a:t>Uniform Resource Locators</a:t>
            </a:r>
            <a:endParaRPr lang="en-US" sz="2800" dirty="0"/>
          </a:p>
          <a:p>
            <a:pPr marL="342900" indent="-342900" algn="just">
              <a:buFont typeface="Arial" panose="020B0604020202020204" pitchFamily="34" charset="0"/>
              <a:buChar char="•"/>
            </a:pPr>
            <a:r>
              <a:rPr lang="en-US" sz="2000" dirty="0"/>
              <a:t>Uniform (or universal) resource locators (URLs) are used to identify documents (resources) on the Internet. There are many different kinds of resources, identified by different forms of URLs.</a:t>
            </a:r>
          </a:p>
          <a:p>
            <a:pPr algn="just"/>
            <a:endParaRPr lang="en-US" sz="2000" dirty="0"/>
          </a:p>
          <a:p>
            <a:pPr marL="342900" indent="-342900" algn="just">
              <a:buFont typeface="Arial" panose="020B0604020202020204" pitchFamily="34" charset="0"/>
              <a:buChar char="•"/>
            </a:pPr>
            <a:r>
              <a:rPr lang="en-IN" sz="2000" dirty="0"/>
              <a:t>URL Formats</a:t>
            </a:r>
          </a:p>
          <a:p>
            <a:pPr algn="just"/>
            <a:r>
              <a:rPr lang="en-IN" sz="2000" dirty="0"/>
              <a:t>	</a:t>
            </a:r>
            <a:r>
              <a:rPr lang="en-IN" sz="2000" dirty="0" err="1"/>
              <a:t>scheme:object-address</a:t>
            </a:r>
            <a:endParaRPr lang="en-IN" sz="2000" dirty="0"/>
          </a:p>
          <a:p>
            <a:pPr algn="just"/>
            <a:endParaRPr lang="en-IN" sz="2000" dirty="0"/>
          </a:p>
          <a:p>
            <a:pPr marL="342900" indent="-342900" algn="just">
              <a:buFont typeface="Arial" panose="020B0604020202020204" pitchFamily="34" charset="0"/>
              <a:buChar char="•"/>
            </a:pPr>
            <a:r>
              <a:rPr lang="en-US" sz="2000" dirty="0"/>
              <a:t>The scheme is often a communications protocol. Common schemes include </a:t>
            </a:r>
            <a:r>
              <a:rPr lang="en-US" sz="2000" dirty="0">
                <a:solidFill>
                  <a:srgbClr val="FF0000"/>
                </a:solidFill>
              </a:rPr>
              <a:t>http, ftp, gopher, telnet, file, </a:t>
            </a:r>
            <a:r>
              <a:rPr lang="en-US" sz="2000" dirty="0" err="1">
                <a:solidFill>
                  <a:srgbClr val="FF0000"/>
                </a:solidFill>
              </a:rPr>
              <a:t>mailto</a:t>
            </a:r>
            <a:r>
              <a:rPr lang="en-US" sz="2000" dirty="0">
                <a:solidFill>
                  <a:srgbClr val="FF0000"/>
                </a:solidFill>
              </a:rPr>
              <a:t>, and news.</a:t>
            </a:r>
          </a:p>
          <a:p>
            <a:pPr algn="just"/>
            <a:endParaRPr lang="en-US" sz="2000" dirty="0">
              <a:solidFill>
                <a:srgbClr val="FF0000"/>
              </a:solidFill>
            </a:endParaRPr>
          </a:p>
          <a:p>
            <a:pPr marL="342900" indent="-342900" algn="just">
              <a:buFont typeface="Arial" panose="020B0604020202020204" pitchFamily="34" charset="0"/>
              <a:buChar char="•"/>
            </a:pPr>
            <a:r>
              <a:rPr lang="en-US" sz="2000" dirty="0"/>
              <a:t>In the case of HTTP, the form of the </a:t>
            </a:r>
            <a:r>
              <a:rPr lang="en-US" sz="2000" dirty="0">
                <a:solidFill>
                  <a:srgbClr val="FF0000"/>
                </a:solidFill>
              </a:rPr>
              <a:t>object address </a:t>
            </a:r>
            <a:r>
              <a:rPr lang="en-US" sz="2000" dirty="0"/>
              <a:t>of a URL is as follows:</a:t>
            </a:r>
          </a:p>
          <a:p>
            <a:pPr algn="just"/>
            <a:r>
              <a:rPr lang="en-US" sz="2000" dirty="0">
                <a:solidFill>
                  <a:srgbClr val="FF0000"/>
                </a:solidFill>
              </a:rPr>
              <a:t>	</a:t>
            </a:r>
            <a:r>
              <a:rPr lang="en-IN" sz="2000" i="1" dirty="0"/>
              <a:t>//fully-qualified-domain-name/path-to-document</a:t>
            </a:r>
          </a:p>
          <a:p>
            <a:pPr algn="just"/>
            <a:endParaRPr lang="en-IN" sz="2000" i="1" dirty="0">
              <a:solidFill>
                <a:srgbClr val="FF0000"/>
              </a:solidFill>
            </a:endParaRPr>
          </a:p>
          <a:p>
            <a:pPr marL="342900" indent="-342900" algn="just">
              <a:buFont typeface="Arial" panose="020B0604020202020204" pitchFamily="34" charset="0"/>
              <a:buChar char="•"/>
            </a:pPr>
            <a:r>
              <a:rPr lang="en-US" sz="2000" dirty="0"/>
              <a:t>The file protocol means that the document resides on the machine running the browser. This approach is useful for testing documents to be made available on the Web without making them visible to any other browser</a:t>
            </a:r>
          </a:p>
          <a:p>
            <a:pPr marL="800100" lvl="1" indent="-342900" algn="just">
              <a:buFont typeface="Arial" panose="020B0604020202020204" pitchFamily="34" charset="0"/>
              <a:buChar char="•"/>
            </a:pPr>
            <a:r>
              <a:rPr lang="en-IN" sz="2000" dirty="0">
                <a:hlinkClick r:id="rId2" action="ppaction://hlinkfile"/>
              </a:rPr>
              <a:t>file://path-to-document</a:t>
            </a:r>
            <a:endParaRPr lang="en-IN" sz="2000" i="1" dirty="0">
              <a:solidFill>
                <a:srgbClr val="FF0000"/>
              </a:solidFill>
            </a:endParaRPr>
          </a:p>
          <a:p>
            <a:pPr marL="342900" indent="-342900" algn="just">
              <a:buFont typeface="Arial" panose="020B0604020202020204" pitchFamily="34" charset="0"/>
              <a:buChar char="•"/>
            </a:pPr>
            <a:r>
              <a:rPr lang="en-US" sz="2000" dirty="0"/>
              <a:t>URLs can never have embedded spaces. Also, there is a collection of special characters, including semicolons, colons, and ampersands (&amp;), that cannot appear in a URL.</a:t>
            </a:r>
            <a:endParaRPr lang="en-IN" sz="2000" dirty="0"/>
          </a:p>
        </p:txBody>
      </p:sp>
    </p:spTree>
    <p:extLst>
      <p:ext uri="{BB962C8B-B14F-4D97-AF65-F5344CB8AC3E}">
        <p14:creationId xmlns:p14="http://schemas.microsoft.com/office/powerpoint/2010/main" val="3974032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74B91-2E02-3106-97EB-4DBD07CFB6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EE88B1-87D0-B77C-8684-19B1D4B2934F}"/>
              </a:ext>
            </a:extLst>
          </p:cNvPr>
          <p:cNvSpPr txBox="1"/>
          <p:nvPr/>
        </p:nvSpPr>
        <p:spPr>
          <a:xfrm>
            <a:off x="645458" y="519953"/>
            <a:ext cx="10901083" cy="3385542"/>
          </a:xfrm>
          <a:prstGeom prst="rect">
            <a:avLst/>
          </a:prstGeom>
          <a:noFill/>
        </p:spPr>
        <p:txBody>
          <a:bodyPr wrap="square" rtlCol="0">
            <a:spAutoFit/>
          </a:bodyPr>
          <a:lstStyle/>
          <a:p>
            <a:pPr marL="457200" indent="-457200">
              <a:buFont typeface="Arial" panose="020B0604020202020204" pitchFamily="34" charset="0"/>
              <a:buChar char="•"/>
            </a:pPr>
            <a:r>
              <a:rPr lang="en-IN" sz="2800" dirty="0"/>
              <a:t>Multipurpose Internet Mail Extensions</a:t>
            </a:r>
            <a:endParaRPr lang="en-US" sz="2800" dirty="0"/>
          </a:p>
          <a:p>
            <a:pPr marL="285750" indent="-285750">
              <a:buFont typeface="Arial" panose="020B0604020202020204" pitchFamily="34" charset="0"/>
              <a:buChar char="•"/>
            </a:pPr>
            <a:endParaRPr lang="en-US" dirty="0"/>
          </a:p>
          <a:p>
            <a:pPr marL="342900" indent="-342900" algn="just">
              <a:buFont typeface="Arial" panose="020B0604020202020204" pitchFamily="34" charset="0"/>
              <a:buChar char="•"/>
            </a:pPr>
            <a:r>
              <a:rPr lang="en-US" sz="2400" dirty="0"/>
              <a:t>A browser needs some way of determining the format of a document it receives from a Web server. </a:t>
            </a:r>
          </a:p>
          <a:p>
            <a:pPr marL="342900" indent="-342900" algn="just">
              <a:buFont typeface="Arial" panose="020B0604020202020204" pitchFamily="34" charset="0"/>
              <a:buChar char="•"/>
            </a:pPr>
            <a:r>
              <a:rPr lang="en-US" sz="2400" dirty="0"/>
              <a:t>Without knowing the form of the document, the browser would not be able to render it, because different document formats require different rendering software. </a:t>
            </a:r>
          </a:p>
          <a:p>
            <a:pPr marL="342900" indent="-342900" algn="just">
              <a:buFont typeface="Arial" panose="020B0604020202020204" pitchFamily="34" charset="0"/>
              <a:buChar char="•"/>
            </a:pPr>
            <a:r>
              <a:rPr lang="en-US" sz="2400" dirty="0"/>
              <a:t>The forms of these documents are specified with Multipurpose Internet Mail Extensions (MIME).</a:t>
            </a:r>
            <a:endParaRPr lang="en-IN" dirty="0"/>
          </a:p>
        </p:txBody>
      </p:sp>
    </p:spTree>
    <p:extLst>
      <p:ext uri="{BB962C8B-B14F-4D97-AF65-F5344CB8AC3E}">
        <p14:creationId xmlns:p14="http://schemas.microsoft.com/office/powerpoint/2010/main" val="416481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CDC9-891F-8CCF-89A9-50A7148D67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B976A6-0E8B-CC23-4F4E-EDA5EC1A3442}"/>
              </a:ext>
            </a:extLst>
          </p:cNvPr>
          <p:cNvSpPr txBox="1"/>
          <p:nvPr/>
        </p:nvSpPr>
        <p:spPr>
          <a:xfrm>
            <a:off x="663388" y="493059"/>
            <a:ext cx="10901083" cy="5416868"/>
          </a:xfrm>
          <a:prstGeom prst="rect">
            <a:avLst/>
          </a:prstGeom>
          <a:noFill/>
        </p:spPr>
        <p:txBody>
          <a:bodyPr wrap="square" rtlCol="0">
            <a:spAutoFit/>
          </a:bodyPr>
          <a:lstStyle/>
          <a:p>
            <a:r>
              <a:rPr lang="en-IN" sz="2800" dirty="0"/>
              <a:t>Type Specifications</a:t>
            </a:r>
            <a:endParaRPr lang="en-US" sz="2800" dirty="0"/>
          </a:p>
          <a:p>
            <a:endParaRPr lang="en-US" dirty="0"/>
          </a:p>
          <a:p>
            <a:pPr marL="342900" indent="-342900" algn="just">
              <a:buFont typeface="Arial" panose="020B0604020202020204" pitchFamily="34" charset="0"/>
              <a:buChar char="•"/>
            </a:pPr>
            <a:r>
              <a:rPr lang="en-US" sz="2000" dirty="0"/>
              <a:t>MIME was developed to specify the format of different kinds of documents to be sent via Internet mail.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These documents could contain various kinds of text, video data, or sound data.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Web server attaches a MIME format specification to the beginning of the document that it is about to provide to a browser.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MIME specifications have the following form:</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IN" sz="2000" dirty="0"/>
              <a:t>	type/subtype</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most common MIME types are </a:t>
            </a:r>
            <a:r>
              <a:rPr lang="en-US" sz="2000" dirty="0">
                <a:solidFill>
                  <a:srgbClr val="FF0000"/>
                </a:solidFill>
              </a:rPr>
              <a:t>text</a:t>
            </a:r>
            <a:r>
              <a:rPr lang="en-US" sz="2000" dirty="0"/>
              <a:t>, </a:t>
            </a:r>
            <a:r>
              <a:rPr lang="en-US" sz="2000" dirty="0">
                <a:solidFill>
                  <a:srgbClr val="FF0000"/>
                </a:solidFill>
              </a:rPr>
              <a:t>image</a:t>
            </a:r>
            <a:r>
              <a:rPr lang="en-US" sz="2000" dirty="0"/>
              <a:t>, and </a:t>
            </a:r>
            <a:r>
              <a:rPr lang="en-US" sz="2000" dirty="0">
                <a:solidFill>
                  <a:srgbClr val="FF0000"/>
                </a:solidFill>
              </a:rPr>
              <a:t>video</a:t>
            </a:r>
            <a:r>
              <a:rPr lang="en-US" sz="2000" dirty="0"/>
              <a:t>. The most common text subtypes are </a:t>
            </a:r>
            <a:r>
              <a:rPr lang="en-US" sz="2000" dirty="0">
                <a:solidFill>
                  <a:srgbClr val="FF0000"/>
                </a:solidFill>
              </a:rPr>
              <a:t>plain</a:t>
            </a:r>
            <a:r>
              <a:rPr lang="en-US" sz="2000" dirty="0"/>
              <a:t> and </a:t>
            </a:r>
            <a:r>
              <a:rPr lang="en-US" sz="2000" dirty="0">
                <a:solidFill>
                  <a:srgbClr val="FF0000"/>
                </a:solidFill>
              </a:rPr>
              <a:t>html</a:t>
            </a:r>
            <a:r>
              <a:rPr lang="en-US" sz="2000" dirty="0"/>
              <a:t>. Some common image subtypes are </a:t>
            </a:r>
            <a:r>
              <a:rPr lang="en-US" sz="2000" dirty="0">
                <a:solidFill>
                  <a:srgbClr val="FF0000"/>
                </a:solidFill>
              </a:rPr>
              <a:t>gif</a:t>
            </a:r>
            <a:r>
              <a:rPr lang="en-US" sz="2000" dirty="0"/>
              <a:t> and </a:t>
            </a:r>
            <a:r>
              <a:rPr lang="en-US" sz="2000" dirty="0">
                <a:solidFill>
                  <a:srgbClr val="FF0000"/>
                </a:solidFill>
              </a:rPr>
              <a:t>jpeg</a:t>
            </a:r>
            <a:r>
              <a:rPr lang="en-US" sz="2000" dirty="0"/>
              <a:t>. Some common video subtypes are </a:t>
            </a:r>
            <a:r>
              <a:rPr lang="en-US" sz="2000" dirty="0">
                <a:solidFill>
                  <a:srgbClr val="FF0000"/>
                </a:solidFill>
              </a:rPr>
              <a:t>mpeg</a:t>
            </a:r>
            <a:r>
              <a:rPr lang="en-US" sz="2000" dirty="0"/>
              <a:t> and </a:t>
            </a:r>
            <a:r>
              <a:rPr lang="en-US" sz="2000" dirty="0" err="1">
                <a:solidFill>
                  <a:srgbClr val="FF0000"/>
                </a:solidFill>
              </a:rPr>
              <a:t>quicktime</a:t>
            </a:r>
            <a:r>
              <a:rPr lang="en-US" sz="2000" dirty="0"/>
              <a:t>.</a:t>
            </a:r>
            <a:endParaRPr lang="en-IN" sz="2000" dirty="0"/>
          </a:p>
        </p:txBody>
      </p:sp>
    </p:spTree>
    <p:extLst>
      <p:ext uri="{BB962C8B-B14F-4D97-AF65-F5344CB8AC3E}">
        <p14:creationId xmlns:p14="http://schemas.microsoft.com/office/powerpoint/2010/main" val="2409157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4EA9A-4E00-51B3-7A46-7380FFC475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38E484-157A-0254-6900-A645E4B8B3AD}"/>
              </a:ext>
            </a:extLst>
          </p:cNvPr>
          <p:cNvSpPr txBox="1"/>
          <p:nvPr/>
        </p:nvSpPr>
        <p:spPr>
          <a:xfrm>
            <a:off x="663388" y="493059"/>
            <a:ext cx="10901083" cy="5724644"/>
          </a:xfrm>
          <a:prstGeom prst="rect">
            <a:avLst/>
          </a:prstGeom>
          <a:noFill/>
        </p:spPr>
        <p:txBody>
          <a:bodyPr wrap="square" rtlCol="0">
            <a:spAutoFit/>
          </a:bodyPr>
          <a:lstStyle/>
          <a:p>
            <a:r>
              <a:rPr lang="en-IN" sz="2800" dirty="0"/>
              <a:t>Experimental Document Types</a:t>
            </a:r>
            <a:endParaRPr lang="en-US" sz="2800" dirty="0"/>
          </a:p>
          <a:p>
            <a:endParaRPr lang="en-US" dirty="0"/>
          </a:p>
          <a:p>
            <a:pPr marL="342900" indent="-342900" algn="just">
              <a:buFont typeface="Arial" panose="020B0604020202020204" pitchFamily="34" charset="0"/>
              <a:buChar char="•"/>
            </a:pPr>
            <a:r>
              <a:rPr lang="en-US" sz="2000" dirty="0"/>
              <a:t>Experimental subtypes are sometimes used.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name of an experimental sub type begins with x-, as in video/x-</a:t>
            </a:r>
            <a:r>
              <a:rPr lang="en-US" sz="2000" dirty="0" err="1"/>
              <a:t>msvideo</a:t>
            </a:r>
            <a:r>
              <a:rPr lang="en-US" sz="2000" dirty="0"/>
              <a: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Any Web provider can add an experimental subtype by having its name added to the list of MIME specifications stored in the Web provider’s server.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a:t>
            </a:r>
          </a:p>
          <a:p>
            <a:pPr marL="800100" lvl="1" indent="-342900" algn="just">
              <a:buFont typeface="Arial" panose="020B0604020202020204" pitchFamily="34" charset="0"/>
              <a:buChar char="•"/>
            </a:pPr>
            <a:r>
              <a:rPr lang="en-US" sz="2000" dirty="0"/>
              <a:t>a Web provider might have a handcrafted database whose contents he or she wants to make available to others through the Web. </a:t>
            </a:r>
          </a:p>
          <a:p>
            <a:pPr marL="800100" lvl="1" indent="-342900" algn="just">
              <a:buFont typeface="Arial" panose="020B0604020202020204" pitchFamily="34" charset="0"/>
              <a:buChar char="•"/>
            </a:pPr>
            <a:r>
              <a:rPr lang="en-US" sz="2000" dirty="0"/>
              <a:t>Of course, this raises the issue of how the browser can display the database. As might be expected, the Web provider must supply a program that the browser can call when it needs to display the contents of the database. </a:t>
            </a:r>
          </a:p>
          <a:p>
            <a:pPr marL="800100" lvl="1" indent="-342900" algn="just">
              <a:buFont typeface="Arial" panose="020B0604020202020204" pitchFamily="34" charset="0"/>
              <a:buChar char="•"/>
            </a:pPr>
            <a:r>
              <a:rPr lang="en-US" sz="2000" dirty="0"/>
              <a:t>These programs either are external to the browser, in which case they are called helper applications, or are code modules that are inserted into the browser, in which case they are called plug-ins.</a:t>
            </a:r>
            <a:endParaRPr lang="en-IN" sz="2000" dirty="0"/>
          </a:p>
        </p:txBody>
      </p:sp>
    </p:spTree>
    <p:extLst>
      <p:ext uri="{BB962C8B-B14F-4D97-AF65-F5344CB8AC3E}">
        <p14:creationId xmlns:p14="http://schemas.microsoft.com/office/powerpoint/2010/main" val="3088826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3D27F-6285-EEEC-C905-048FF81391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667574-CF03-226E-FC6B-D619045E58E5}"/>
              </a:ext>
            </a:extLst>
          </p:cNvPr>
          <p:cNvSpPr txBox="1"/>
          <p:nvPr/>
        </p:nvSpPr>
        <p:spPr>
          <a:xfrm>
            <a:off x="663388" y="493059"/>
            <a:ext cx="10901083" cy="5724644"/>
          </a:xfrm>
          <a:prstGeom prst="rect">
            <a:avLst/>
          </a:prstGeom>
          <a:noFill/>
        </p:spPr>
        <p:txBody>
          <a:bodyPr wrap="square" rtlCol="0">
            <a:spAutoFit/>
          </a:bodyPr>
          <a:lstStyle/>
          <a:p>
            <a:r>
              <a:rPr lang="en-IN" sz="2800" dirty="0"/>
              <a:t>The Hypertext Transfer Protocol</a:t>
            </a:r>
            <a:endParaRPr lang="en-US" sz="2800" dirty="0"/>
          </a:p>
          <a:p>
            <a:endParaRPr lang="en-US" dirty="0"/>
          </a:p>
          <a:p>
            <a:pPr marL="342900" indent="-342900" algn="just">
              <a:buFont typeface="Arial" panose="020B0604020202020204" pitchFamily="34" charset="0"/>
              <a:buChar char="•"/>
            </a:pPr>
            <a:r>
              <a:rPr lang="en-US" sz="2000" dirty="0"/>
              <a:t>HTTP consists of two phases: the request and the response.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Each HTTP communication (request or response) between a browser and a Web server consists of two parts: a header and a body.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header contains information about the communication; the body contains the data of the communication.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The Request Phase</a:t>
            </a:r>
          </a:p>
          <a:p>
            <a:pPr marL="342900" indent="-342900" algn="just">
              <a:buFont typeface="Arial" panose="020B0604020202020204" pitchFamily="34" charset="0"/>
              <a:buChar char="•"/>
            </a:pPr>
            <a:endParaRPr lang="en-IN" sz="2000" dirty="0"/>
          </a:p>
          <a:p>
            <a:pPr marL="800100" lvl="1" indent="-342900" algn="just">
              <a:buFont typeface="Arial" panose="020B0604020202020204" pitchFamily="34" charset="0"/>
              <a:buChar char="•"/>
            </a:pPr>
            <a:r>
              <a:rPr lang="en-US" sz="2000" dirty="0"/>
              <a:t>The general form of an HTTP request is as follows:</a:t>
            </a:r>
          </a:p>
          <a:p>
            <a:pPr marL="800100" lvl="1"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1. </a:t>
            </a:r>
            <a:r>
              <a:rPr lang="en-US" sz="2000" dirty="0">
                <a:solidFill>
                  <a:schemeClr val="accent2"/>
                </a:solidFill>
              </a:rPr>
              <a:t>HTTP method</a:t>
            </a:r>
            <a:r>
              <a:rPr lang="en-US" sz="2000" dirty="0"/>
              <a:t> </a:t>
            </a:r>
            <a:r>
              <a:rPr lang="en-US" sz="2000" dirty="0">
                <a:solidFill>
                  <a:srgbClr val="FF0000"/>
                </a:solidFill>
              </a:rPr>
              <a:t>Domain part of the URL</a:t>
            </a:r>
            <a:r>
              <a:rPr lang="en-US" sz="2000" dirty="0"/>
              <a:t> </a:t>
            </a:r>
            <a:r>
              <a:rPr lang="en-US" sz="2000" dirty="0">
                <a:solidFill>
                  <a:srgbClr val="0070C0"/>
                </a:solidFill>
              </a:rPr>
              <a:t>HTTP version</a:t>
            </a:r>
            <a:r>
              <a:rPr lang="en-US" sz="2000" dirty="0"/>
              <a:t> </a:t>
            </a:r>
          </a:p>
          <a:p>
            <a:pPr marL="800100" lvl="1" indent="-342900" algn="just">
              <a:buFont typeface="Arial" panose="020B0604020202020204" pitchFamily="34" charset="0"/>
              <a:buChar char="•"/>
            </a:pPr>
            <a:r>
              <a:rPr lang="en-US" sz="2000" dirty="0"/>
              <a:t>2. Header fields </a:t>
            </a:r>
          </a:p>
          <a:p>
            <a:pPr marL="800100" lvl="1" indent="-342900" algn="just">
              <a:buFont typeface="Arial" panose="020B0604020202020204" pitchFamily="34" charset="0"/>
              <a:buChar char="•"/>
            </a:pPr>
            <a:r>
              <a:rPr lang="en-US" sz="2000" dirty="0"/>
              <a:t>3. Blank line </a:t>
            </a:r>
          </a:p>
          <a:p>
            <a:pPr marL="800100" lvl="1" indent="-342900" algn="just">
              <a:buFont typeface="Arial" panose="020B0604020202020204" pitchFamily="34" charset="0"/>
              <a:buChar char="•"/>
            </a:pPr>
            <a:r>
              <a:rPr lang="en-US" sz="2000" dirty="0"/>
              <a:t>4. Message body</a:t>
            </a:r>
            <a:endParaRPr lang="en-IN" sz="2000" dirty="0"/>
          </a:p>
        </p:txBody>
      </p:sp>
    </p:spTree>
    <p:extLst>
      <p:ext uri="{BB962C8B-B14F-4D97-AF65-F5344CB8AC3E}">
        <p14:creationId xmlns:p14="http://schemas.microsoft.com/office/powerpoint/2010/main" val="3711495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0A772-16EE-2ACD-ACEB-CFA47DF18A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B94523-1C54-D8EC-A900-8A93C28C7862}"/>
              </a:ext>
            </a:extLst>
          </p:cNvPr>
          <p:cNvSpPr txBox="1"/>
          <p:nvPr/>
        </p:nvSpPr>
        <p:spPr>
          <a:xfrm>
            <a:off x="663388" y="493059"/>
            <a:ext cx="10901083" cy="5386090"/>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000" dirty="0"/>
              <a:t>The following is an example of the first line of an HTTP request:</a:t>
            </a:r>
          </a:p>
          <a:p>
            <a:pPr marL="285750" indent="-285750" algn="just">
              <a:buFont typeface="Arial" panose="020B0604020202020204" pitchFamily="34" charset="0"/>
              <a:buChar char="•"/>
            </a:pPr>
            <a:r>
              <a:rPr lang="en-IN" sz="2000" dirty="0"/>
              <a:t>GET /storefront.html HTTP/1.1</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POST was originally designed for tasks such as posting a news article to a newsgroup. </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Its most common use now is to send form data from a browser to a server, along with a request to execute a program on the server that will process the data.</a:t>
            </a:r>
            <a:endParaRPr lang="en-IN" sz="2000" dirty="0"/>
          </a:p>
          <a:p>
            <a:endParaRPr lang="en-IN" dirty="0"/>
          </a:p>
        </p:txBody>
      </p:sp>
      <p:pic>
        <p:nvPicPr>
          <p:cNvPr id="4" name="Picture 3">
            <a:extLst>
              <a:ext uri="{FF2B5EF4-FFF2-40B4-BE49-F238E27FC236}">
                <a16:creationId xmlns:a16="http://schemas.microsoft.com/office/drawing/2014/main" id="{6FDC8032-12F4-43F7-CCAC-31709D22673C}"/>
              </a:ext>
            </a:extLst>
          </p:cNvPr>
          <p:cNvPicPr>
            <a:picLocks noChangeAspect="1"/>
          </p:cNvPicPr>
          <p:nvPr/>
        </p:nvPicPr>
        <p:blipFill>
          <a:blip r:embed="rId2"/>
          <a:stretch>
            <a:fillRect/>
          </a:stretch>
        </p:blipFill>
        <p:spPr>
          <a:xfrm>
            <a:off x="2718062" y="2085225"/>
            <a:ext cx="5317468" cy="2074397"/>
          </a:xfrm>
          <a:prstGeom prst="rect">
            <a:avLst/>
          </a:prstGeom>
        </p:spPr>
      </p:pic>
    </p:spTree>
    <p:extLst>
      <p:ext uri="{BB962C8B-B14F-4D97-AF65-F5344CB8AC3E}">
        <p14:creationId xmlns:p14="http://schemas.microsoft.com/office/powerpoint/2010/main" val="2518844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7A963-F267-2D31-AB69-FA17F2066C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6F636A-B571-5A48-0194-59F371584BC1}"/>
              </a:ext>
            </a:extLst>
          </p:cNvPr>
          <p:cNvSpPr txBox="1"/>
          <p:nvPr/>
        </p:nvSpPr>
        <p:spPr>
          <a:xfrm>
            <a:off x="663388" y="493059"/>
            <a:ext cx="10901083" cy="6032421"/>
          </a:xfrm>
          <a:prstGeom prst="rect">
            <a:avLst/>
          </a:prstGeom>
          <a:noFill/>
        </p:spPr>
        <p:txBody>
          <a:bodyPr wrap="square" rtlCol="0">
            <a:spAutoFit/>
          </a:bodyPr>
          <a:lstStyle/>
          <a:p>
            <a:r>
              <a:rPr lang="en-US" sz="2800" dirty="0"/>
              <a:t>Continued…</a:t>
            </a:r>
          </a:p>
          <a:p>
            <a:endParaRPr lang="en-US" dirty="0"/>
          </a:p>
          <a:p>
            <a:pPr marL="342900" indent="-342900" algn="just">
              <a:buFont typeface="Arial" panose="020B0604020202020204" pitchFamily="34" charset="0"/>
              <a:buChar char="•"/>
            </a:pPr>
            <a:r>
              <a:rPr lang="en-US" sz="2000" dirty="0"/>
              <a:t>The format of a </a:t>
            </a:r>
            <a:r>
              <a:rPr lang="en-US" sz="2000" dirty="0">
                <a:solidFill>
                  <a:srgbClr val="FF0000"/>
                </a:solidFill>
              </a:rPr>
              <a:t>header field </a:t>
            </a:r>
            <a:r>
              <a:rPr lang="en-US" sz="2000" dirty="0"/>
              <a:t>is the field name followed by a colon and the value of the field. </a:t>
            </a:r>
          </a:p>
          <a:p>
            <a:pPr marL="342900" indent="-342900" algn="just">
              <a:buFont typeface="Arial" panose="020B0604020202020204" pitchFamily="34" charset="0"/>
              <a:buChar char="•"/>
            </a:pPr>
            <a:r>
              <a:rPr lang="en-US" sz="2000" dirty="0"/>
              <a:t>There are four categories of header fields: </a:t>
            </a:r>
          </a:p>
          <a:p>
            <a:pPr marL="800100" lvl="1" indent="-342900" algn="just">
              <a:buFont typeface="Arial" panose="020B0604020202020204" pitchFamily="34" charset="0"/>
              <a:buChar char="•"/>
            </a:pPr>
            <a:r>
              <a:rPr lang="en-US" sz="2000" dirty="0"/>
              <a:t>	1. </a:t>
            </a:r>
            <a:r>
              <a:rPr lang="en-US" sz="2000" i="1" dirty="0">
                <a:solidFill>
                  <a:srgbClr val="FF0000"/>
                </a:solidFill>
              </a:rPr>
              <a:t>General</a:t>
            </a:r>
            <a:r>
              <a:rPr lang="en-US" sz="2000" dirty="0"/>
              <a:t>: For general information, such as the date </a:t>
            </a:r>
          </a:p>
          <a:p>
            <a:pPr marL="800100" lvl="1" indent="-342900" algn="just">
              <a:buFont typeface="Arial" panose="020B0604020202020204" pitchFamily="34" charset="0"/>
              <a:buChar char="•"/>
            </a:pPr>
            <a:r>
              <a:rPr lang="en-US" sz="2000" dirty="0"/>
              <a:t>	2. </a:t>
            </a:r>
            <a:r>
              <a:rPr lang="en-US" sz="2000" i="1" dirty="0">
                <a:solidFill>
                  <a:srgbClr val="FF0000"/>
                </a:solidFill>
              </a:rPr>
              <a:t>Request</a:t>
            </a:r>
            <a:r>
              <a:rPr lang="en-US" sz="2000" dirty="0"/>
              <a:t>: Included in request headers </a:t>
            </a:r>
          </a:p>
          <a:p>
            <a:pPr marL="800100" lvl="1" indent="-342900" algn="just">
              <a:buFont typeface="Arial" panose="020B0604020202020204" pitchFamily="34" charset="0"/>
              <a:buChar char="•"/>
            </a:pPr>
            <a:r>
              <a:rPr lang="en-US" sz="2000" dirty="0"/>
              <a:t>	3. </a:t>
            </a:r>
            <a:r>
              <a:rPr lang="en-US" sz="2000" i="1" dirty="0">
                <a:solidFill>
                  <a:srgbClr val="FF0000"/>
                </a:solidFill>
              </a:rPr>
              <a:t>Response</a:t>
            </a:r>
            <a:r>
              <a:rPr lang="en-US" sz="2000" dirty="0"/>
              <a:t>: For response headers </a:t>
            </a:r>
          </a:p>
          <a:p>
            <a:pPr marL="800100" lvl="1" indent="-342900" algn="just">
              <a:buFont typeface="Arial" panose="020B0604020202020204" pitchFamily="34" charset="0"/>
              <a:buChar char="•"/>
            </a:pPr>
            <a:r>
              <a:rPr lang="en-US" sz="2000" dirty="0"/>
              <a:t>	4. </a:t>
            </a:r>
            <a:r>
              <a:rPr lang="en-US" sz="2000" i="1" dirty="0">
                <a:solidFill>
                  <a:srgbClr val="FF0000"/>
                </a:solidFill>
              </a:rPr>
              <a:t>Entity</a:t>
            </a:r>
            <a:r>
              <a:rPr lang="en-US" sz="2000" dirty="0"/>
              <a:t>: Used in both request and response headers</a:t>
            </a:r>
          </a:p>
          <a:p>
            <a:pPr marL="800100" lvl="1"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One common </a:t>
            </a:r>
            <a:r>
              <a:rPr lang="en-US" sz="2000" dirty="0">
                <a:solidFill>
                  <a:srgbClr val="FF0000"/>
                </a:solidFill>
              </a:rPr>
              <a:t>request</a:t>
            </a:r>
            <a:r>
              <a:rPr lang="en-US" sz="2000" dirty="0"/>
              <a:t> field is the </a:t>
            </a:r>
            <a:r>
              <a:rPr lang="en-US" sz="2000" dirty="0">
                <a:solidFill>
                  <a:srgbClr val="FF0000"/>
                </a:solidFill>
              </a:rPr>
              <a:t>Accept</a:t>
            </a:r>
            <a:r>
              <a:rPr lang="en-US" sz="2000" dirty="0"/>
              <a:t> field, which specifies a preference of the browser for the MIME type of the requested document.</a:t>
            </a:r>
          </a:p>
          <a:p>
            <a:pPr marL="1257300" lvl="2" indent="-342900" algn="just">
              <a:buFont typeface="Arial" panose="020B0604020202020204" pitchFamily="34" charset="0"/>
              <a:buChar char="•"/>
            </a:pPr>
            <a:r>
              <a:rPr lang="en-IN" sz="2000" dirty="0"/>
              <a:t>Accept: text/plain </a:t>
            </a:r>
          </a:p>
          <a:p>
            <a:pPr marL="1257300" lvl="2" indent="-342900" algn="just">
              <a:buFont typeface="Arial" panose="020B0604020202020204" pitchFamily="34" charset="0"/>
              <a:buChar char="•"/>
            </a:pPr>
            <a:r>
              <a:rPr lang="en-IN" sz="2000" dirty="0"/>
              <a:t>Accept: text/html </a:t>
            </a:r>
          </a:p>
          <a:p>
            <a:pPr marL="1257300" lvl="2" indent="-342900" algn="just">
              <a:buFont typeface="Arial" panose="020B0604020202020204" pitchFamily="34" charset="0"/>
              <a:buChar char="•"/>
            </a:pPr>
            <a:r>
              <a:rPr lang="en-IN" sz="2000" dirty="0"/>
              <a:t>Accept: image/gif</a:t>
            </a:r>
          </a:p>
          <a:p>
            <a:pPr marL="1257300" lvl="2" indent="-342900" algn="just">
              <a:buFont typeface="Arial" panose="020B0604020202020204" pitchFamily="34" charset="0"/>
              <a:buChar char="•"/>
            </a:pPr>
            <a:r>
              <a:rPr lang="en-IN" sz="2000" dirty="0"/>
              <a:t>Accept: text/*</a:t>
            </a:r>
          </a:p>
          <a:p>
            <a:pPr marL="1257300" lvl="2"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a:t>
            </a:r>
            <a:r>
              <a:rPr lang="en-US" sz="2000" dirty="0">
                <a:latin typeface="Centaur" panose="02030504050205020304" pitchFamily="18" charset="0"/>
              </a:rPr>
              <a:t>Host:</a:t>
            </a:r>
            <a:r>
              <a:rPr lang="en-US" sz="2000" dirty="0"/>
              <a:t> host name request field gives the name of the host.</a:t>
            </a:r>
          </a:p>
          <a:p>
            <a:pPr marL="342900" indent="-342900" algn="just">
              <a:buFont typeface="Arial" panose="020B0604020202020204" pitchFamily="34" charset="0"/>
              <a:buChar char="•"/>
            </a:pPr>
            <a:r>
              <a:rPr lang="en-US" sz="2000" dirty="0">
                <a:latin typeface="Centaur" panose="02030504050205020304" pitchFamily="18" charset="0"/>
              </a:rPr>
              <a:t>If-Modified-Since</a:t>
            </a:r>
            <a:r>
              <a:rPr lang="en-US" sz="2000" dirty="0"/>
              <a:t>: date request field specifies that the requested file should be sent only if it has been modified since the given date.</a:t>
            </a:r>
            <a:endParaRPr lang="en-IN" sz="2000" dirty="0"/>
          </a:p>
        </p:txBody>
      </p:sp>
    </p:spTree>
    <p:extLst>
      <p:ext uri="{BB962C8B-B14F-4D97-AF65-F5344CB8AC3E}">
        <p14:creationId xmlns:p14="http://schemas.microsoft.com/office/powerpoint/2010/main" val="1082938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5B08-71D6-1217-22E9-2DB2663327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D7C13A-5773-4328-E4D0-FB30AD9560BB}"/>
              </a:ext>
            </a:extLst>
          </p:cNvPr>
          <p:cNvSpPr txBox="1"/>
          <p:nvPr/>
        </p:nvSpPr>
        <p:spPr>
          <a:xfrm>
            <a:off x="645458" y="519953"/>
            <a:ext cx="10901083" cy="5663089"/>
          </a:xfrm>
          <a:prstGeom prst="rect">
            <a:avLst/>
          </a:prstGeom>
          <a:noFill/>
        </p:spPr>
        <p:txBody>
          <a:bodyPr wrap="square" rtlCol="0">
            <a:spAutoFit/>
          </a:bodyPr>
          <a:lstStyle/>
          <a:p>
            <a:r>
              <a:rPr lang="en-US" sz="2800" dirty="0"/>
              <a:t>continued…</a:t>
            </a:r>
          </a:p>
          <a:p>
            <a:endParaRPr lang="en-US" dirty="0"/>
          </a:p>
          <a:p>
            <a:pPr marL="342900" indent="-342900">
              <a:buFont typeface="Arial" panose="020B0604020202020204" pitchFamily="34" charset="0"/>
              <a:buChar char="•"/>
            </a:pPr>
            <a:r>
              <a:rPr lang="en-US" sz="2000" dirty="0">
                <a:latin typeface="Centaur" panose="02030504050205020304" pitchFamily="18" charset="0"/>
              </a:rPr>
              <a:t>Content-length</a:t>
            </a:r>
            <a:r>
              <a:rPr lang="en-US" sz="2000" dirty="0"/>
              <a:t> field, which gives the length of the response body in bytes.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header of a request must be followed by a blank line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Requests that use the GET, HEAD, and DELETE methods do not have bodies.</a:t>
            </a:r>
          </a:p>
          <a:p>
            <a:endParaRPr lang="en-US" dirty="0"/>
          </a:p>
          <a:p>
            <a:endParaRPr lang="en-US" dirty="0"/>
          </a:p>
          <a:p>
            <a:r>
              <a:rPr lang="en-US" dirty="0"/>
              <a:t>Ex: </a:t>
            </a:r>
            <a:r>
              <a:rPr lang="en-US" dirty="0">
                <a:solidFill>
                  <a:srgbClr val="FF0000"/>
                </a:solidFill>
              </a:rPr>
              <a:t>Request</a:t>
            </a:r>
          </a:p>
          <a:p>
            <a:r>
              <a:rPr lang="en-US" dirty="0"/>
              <a:t>	</a:t>
            </a:r>
            <a:r>
              <a:rPr lang="en-IN" dirty="0"/>
              <a:t>&gt;telnet blanca.uccs.edu http</a:t>
            </a:r>
          </a:p>
          <a:p>
            <a:r>
              <a:rPr lang="en-IN" dirty="0"/>
              <a:t>      </a:t>
            </a:r>
            <a:r>
              <a:rPr lang="en-IN" dirty="0">
                <a:solidFill>
                  <a:srgbClr val="FF0000"/>
                </a:solidFill>
              </a:rPr>
              <a:t>Response</a:t>
            </a:r>
          </a:p>
          <a:p>
            <a:r>
              <a:rPr lang="en-IN" dirty="0"/>
              <a:t>	</a:t>
            </a:r>
            <a:r>
              <a:rPr lang="en-US" dirty="0"/>
              <a:t>Trying 128.198.162.60 ... </a:t>
            </a:r>
          </a:p>
          <a:p>
            <a:r>
              <a:rPr lang="en-US" dirty="0"/>
              <a:t>	Connected to </a:t>
            </a:r>
            <a:r>
              <a:rPr lang="en-US" dirty="0" err="1"/>
              <a:t>blanca</a:t>
            </a:r>
            <a:r>
              <a:rPr lang="en-US" dirty="0"/>
              <a:t> </a:t>
            </a:r>
          </a:p>
          <a:p>
            <a:r>
              <a:rPr lang="en-US" dirty="0"/>
              <a:t>	Escape character is '^]’.</a:t>
            </a:r>
          </a:p>
          <a:p>
            <a:endParaRPr lang="en-US" dirty="0"/>
          </a:p>
          <a:p>
            <a:r>
              <a:rPr lang="en-US" dirty="0"/>
              <a:t>The connection to the server is now complete, and HTTP commands such as the following can be given:</a:t>
            </a:r>
          </a:p>
          <a:p>
            <a:r>
              <a:rPr lang="en-US" dirty="0"/>
              <a:t>	</a:t>
            </a:r>
            <a:r>
              <a:rPr lang="en-IN" dirty="0"/>
              <a:t>GET /~user1/respond.html HTTP/1.1 </a:t>
            </a:r>
          </a:p>
          <a:p>
            <a:r>
              <a:rPr lang="en-IN" dirty="0"/>
              <a:t>	Host: blanca.uccs.edu</a:t>
            </a:r>
          </a:p>
        </p:txBody>
      </p:sp>
    </p:spTree>
    <p:extLst>
      <p:ext uri="{BB962C8B-B14F-4D97-AF65-F5344CB8AC3E}">
        <p14:creationId xmlns:p14="http://schemas.microsoft.com/office/powerpoint/2010/main" val="2246386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BAB2C-AFB7-9928-F9F6-C127A3CDCB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17DB6D-838D-A66C-E2E8-92D0C29CD987}"/>
              </a:ext>
            </a:extLst>
          </p:cNvPr>
          <p:cNvSpPr txBox="1"/>
          <p:nvPr/>
        </p:nvSpPr>
        <p:spPr>
          <a:xfrm>
            <a:off x="663388" y="493059"/>
            <a:ext cx="10901083" cy="4216539"/>
          </a:xfrm>
          <a:prstGeom prst="rect">
            <a:avLst/>
          </a:prstGeom>
          <a:noFill/>
        </p:spPr>
        <p:txBody>
          <a:bodyPr wrap="square" rtlCol="0">
            <a:spAutoFit/>
          </a:bodyPr>
          <a:lstStyle/>
          <a:p>
            <a:r>
              <a:rPr lang="en-IN" sz="2800" dirty="0"/>
              <a:t>The Response Phase</a:t>
            </a:r>
            <a:endParaRPr lang="en-US" sz="2800" dirty="0"/>
          </a:p>
          <a:p>
            <a:endParaRPr lang="en-US" dirty="0"/>
          </a:p>
          <a:p>
            <a:pPr marL="342900" indent="-342900">
              <a:buFont typeface="Arial" panose="020B0604020202020204" pitchFamily="34" charset="0"/>
              <a:buChar char="•"/>
            </a:pPr>
            <a:r>
              <a:rPr lang="en-US" sz="2400" dirty="0"/>
              <a:t>The general form of an HTTP response is as follows:</a:t>
            </a:r>
          </a:p>
          <a:p>
            <a:pPr marL="742950" lvl="1" indent="-285750">
              <a:buFont typeface="Arial" panose="020B0604020202020204" pitchFamily="34" charset="0"/>
              <a:buChar char="•"/>
            </a:pPr>
            <a:r>
              <a:rPr lang="en-US" dirty="0"/>
              <a:t> 1. Status line</a:t>
            </a:r>
          </a:p>
          <a:p>
            <a:pPr marL="742950" lvl="1" indent="-285750">
              <a:buFont typeface="Arial" panose="020B0604020202020204" pitchFamily="34" charset="0"/>
              <a:buChar char="•"/>
            </a:pPr>
            <a:r>
              <a:rPr lang="en-US" dirty="0"/>
              <a:t> 2. Response header fields</a:t>
            </a:r>
          </a:p>
          <a:p>
            <a:pPr marL="742950" lvl="1" indent="-285750">
              <a:buFont typeface="Arial" panose="020B0604020202020204" pitchFamily="34" charset="0"/>
              <a:buChar char="•"/>
            </a:pPr>
            <a:r>
              <a:rPr lang="en-US" dirty="0"/>
              <a:t> 3. Blank line</a:t>
            </a:r>
          </a:p>
          <a:p>
            <a:pPr marL="742950" lvl="1" indent="-285750">
              <a:buFont typeface="Arial" panose="020B0604020202020204" pitchFamily="34" charset="0"/>
              <a:buChar char="•"/>
            </a:pPr>
            <a:r>
              <a:rPr lang="en-US" dirty="0"/>
              <a:t> 4. Response body</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dirty="0">
                <a:solidFill>
                  <a:srgbClr val="FF0000"/>
                </a:solidFill>
              </a:rPr>
              <a:t>status</a:t>
            </a:r>
            <a:r>
              <a:rPr lang="en-US" dirty="0"/>
              <a:t> line includes the HTTP version used, a three-digit status code for the response, and a short textual explanation of the status code.</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IN" dirty="0">
                <a:latin typeface="Centaur" panose="02030504050205020304" pitchFamily="18" charset="0"/>
              </a:rPr>
              <a:t>HTTP/1.1     200     OK</a:t>
            </a:r>
          </a:p>
          <a:p>
            <a:pPr marL="742950" lvl="1"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37C0F0D6-B955-E6D9-553A-3BD20AEABF66}"/>
              </a:ext>
            </a:extLst>
          </p:cNvPr>
          <p:cNvPicPr>
            <a:picLocks noChangeAspect="1"/>
          </p:cNvPicPr>
          <p:nvPr/>
        </p:nvPicPr>
        <p:blipFill>
          <a:blip r:embed="rId2"/>
          <a:stretch>
            <a:fillRect/>
          </a:stretch>
        </p:blipFill>
        <p:spPr>
          <a:xfrm>
            <a:off x="3220648" y="4132587"/>
            <a:ext cx="5349611" cy="2085317"/>
          </a:xfrm>
          <a:prstGeom prst="rect">
            <a:avLst/>
          </a:prstGeom>
        </p:spPr>
      </p:pic>
    </p:spTree>
    <p:extLst>
      <p:ext uri="{BB962C8B-B14F-4D97-AF65-F5344CB8AC3E}">
        <p14:creationId xmlns:p14="http://schemas.microsoft.com/office/powerpoint/2010/main" val="3575403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50B8B-878C-684C-BA5E-027C2B7264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95CC41-FB2A-4A3E-D727-351AD8F83F6F}"/>
              </a:ext>
            </a:extLst>
          </p:cNvPr>
          <p:cNvSpPr txBox="1"/>
          <p:nvPr/>
        </p:nvSpPr>
        <p:spPr>
          <a:xfrm>
            <a:off x="663388" y="493059"/>
            <a:ext cx="10901083" cy="6032421"/>
          </a:xfrm>
          <a:prstGeom prst="rect">
            <a:avLst/>
          </a:prstGeom>
          <a:noFill/>
        </p:spPr>
        <p:txBody>
          <a:bodyPr wrap="square" rtlCol="0">
            <a:spAutoFit/>
          </a:bodyPr>
          <a:lstStyle/>
          <a:p>
            <a:r>
              <a:rPr lang="en-US" sz="2800" dirty="0"/>
              <a:t>Continued…</a:t>
            </a:r>
          </a:p>
          <a:p>
            <a:endParaRPr lang="en-US" dirty="0"/>
          </a:p>
          <a:p>
            <a:pPr algn="just"/>
            <a:r>
              <a:rPr lang="en-US" sz="2000" dirty="0"/>
              <a:t>After the status line, the server sends a response header, which can contain several lines of information about the response, each in the form of a field. The only essential field of the header is Content-type.</a:t>
            </a:r>
          </a:p>
          <a:p>
            <a:pPr algn="just"/>
            <a:endParaRPr lang="en-US" sz="2000" dirty="0"/>
          </a:p>
          <a:p>
            <a:pPr lvl="2" algn="just"/>
            <a:r>
              <a:rPr lang="en-IN" sz="2000" dirty="0"/>
              <a:t> HTTP/1.1 200 OK</a:t>
            </a:r>
          </a:p>
          <a:p>
            <a:pPr lvl="2" algn="just"/>
            <a:r>
              <a:rPr lang="en-IN" sz="2000" dirty="0"/>
              <a:t> Date: Sat, 25 July 2009 22:15:11 GMT</a:t>
            </a:r>
          </a:p>
          <a:p>
            <a:pPr lvl="2" algn="just"/>
            <a:r>
              <a:rPr lang="en-IN" sz="2000" dirty="0"/>
              <a:t> Server: Apache/2.2.3 (CentOS)</a:t>
            </a:r>
          </a:p>
          <a:p>
            <a:pPr lvl="2" algn="just"/>
            <a:r>
              <a:rPr lang="en-IN" sz="2000" dirty="0"/>
              <a:t> Last-modified: Tues, 18 May 2004 16:38:38 GMT</a:t>
            </a:r>
          </a:p>
          <a:p>
            <a:pPr lvl="2" algn="just"/>
            <a:r>
              <a:rPr lang="en-IN" sz="2000" dirty="0"/>
              <a:t> ETag: "1b48098-16c-3dab592dc9f80"</a:t>
            </a:r>
          </a:p>
          <a:p>
            <a:pPr lvl="2" algn="just"/>
            <a:r>
              <a:rPr lang="en-IN" sz="2000" dirty="0"/>
              <a:t> Accept-ranges: bytes</a:t>
            </a:r>
          </a:p>
          <a:p>
            <a:pPr lvl="2" algn="just"/>
            <a:r>
              <a:rPr lang="en-IN" sz="2000" dirty="0"/>
              <a:t> Content-length: 364</a:t>
            </a:r>
          </a:p>
          <a:p>
            <a:pPr lvl="2" algn="just"/>
            <a:r>
              <a:rPr lang="en-IN" sz="2000" dirty="0"/>
              <a:t> Connection: close</a:t>
            </a:r>
          </a:p>
          <a:p>
            <a:pPr lvl="2" algn="just"/>
            <a:r>
              <a:rPr lang="en-IN" sz="2000" dirty="0"/>
              <a:t> Content-type: text/html, charset=UTF-8</a:t>
            </a:r>
          </a:p>
          <a:p>
            <a:pPr lvl="2" algn="just"/>
            <a:endParaRPr lang="en-IN" sz="2000" dirty="0"/>
          </a:p>
          <a:p>
            <a:pPr algn="just"/>
            <a:r>
              <a:rPr lang="en-US" sz="2000" dirty="0"/>
              <a:t>The response header must be followed by a blank line, as is the case for request headers. The response data follows the blank line. In the preceding example, the response body would be the HTML file, respond.html.</a:t>
            </a:r>
            <a:endParaRPr lang="en-IN" sz="2000" dirty="0"/>
          </a:p>
        </p:txBody>
      </p:sp>
    </p:spTree>
    <p:extLst>
      <p:ext uri="{BB962C8B-B14F-4D97-AF65-F5344CB8AC3E}">
        <p14:creationId xmlns:p14="http://schemas.microsoft.com/office/powerpoint/2010/main" val="3292885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38B5-85F4-80FD-A321-C1D378F90F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5A9C03-4C72-CECF-5E79-E43CD0ED301F}"/>
              </a:ext>
            </a:extLst>
          </p:cNvPr>
          <p:cNvSpPr txBox="1"/>
          <p:nvPr/>
        </p:nvSpPr>
        <p:spPr>
          <a:xfrm>
            <a:off x="663388" y="493059"/>
            <a:ext cx="10901083" cy="4062651"/>
          </a:xfrm>
          <a:prstGeom prst="rect">
            <a:avLst/>
          </a:prstGeom>
          <a:noFill/>
        </p:spPr>
        <p:txBody>
          <a:bodyPr wrap="square" rtlCol="0">
            <a:spAutoFit/>
          </a:bodyPr>
          <a:lstStyle/>
          <a:p>
            <a:r>
              <a:rPr lang="en-IN" sz="2800" dirty="0"/>
              <a:t>The Web Programmer’s Toolbox</a:t>
            </a:r>
            <a:endParaRPr lang="en-US" sz="2800" dirty="0"/>
          </a:p>
          <a:p>
            <a:endParaRPr lang="en-US" dirty="0"/>
          </a:p>
          <a:p>
            <a:pPr marL="342900" indent="-342900">
              <a:buFont typeface="Arial" panose="020B0604020202020204" pitchFamily="34" charset="0"/>
              <a:buChar char="•"/>
            </a:pPr>
            <a:r>
              <a:rPr lang="en-US" sz="2400" dirty="0"/>
              <a:t>Most common tools used in Web programming:</a:t>
            </a:r>
          </a:p>
          <a:p>
            <a:pPr marL="342900" indent="-342900">
              <a:buFont typeface="Arial" panose="020B0604020202020204" pitchFamily="34" charset="0"/>
              <a:buChar char="•"/>
            </a:pPr>
            <a:endParaRPr lang="en-US" sz="2400" dirty="0"/>
          </a:p>
          <a:p>
            <a:pPr marL="800100" lvl="1" indent="-342900">
              <a:buFont typeface="Arial" panose="020B0604020202020204" pitchFamily="34" charset="0"/>
              <a:buChar char="•"/>
            </a:pPr>
            <a:r>
              <a:rPr lang="en-US" sz="2000" dirty="0"/>
              <a:t>	</a:t>
            </a:r>
            <a:r>
              <a:rPr lang="en-IN" dirty="0"/>
              <a:t>HTML - markup language</a:t>
            </a:r>
          </a:p>
          <a:p>
            <a:pPr marL="742950" lvl="1" indent="-285750">
              <a:buFont typeface="Arial" panose="020B0604020202020204" pitchFamily="34" charset="0"/>
              <a:buChar char="•"/>
            </a:pPr>
            <a:r>
              <a:rPr lang="en-IN" dirty="0"/>
              <a:t>	XML - meta-markup language</a:t>
            </a:r>
          </a:p>
          <a:p>
            <a:pPr marL="742950" lvl="1" indent="-285750">
              <a:buFont typeface="Arial" panose="020B0604020202020204" pitchFamily="34" charset="0"/>
              <a:buChar char="•"/>
            </a:pPr>
            <a:r>
              <a:rPr lang="en-IN" dirty="0"/>
              <a:t>	</a:t>
            </a:r>
            <a:r>
              <a:rPr lang="en-US" dirty="0"/>
              <a:t>JavaScript, PHP, and Ruby - programming languages</a:t>
            </a:r>
          </a:p>
          <a:p>
            <a:pPr marL="742950" lvl="1" indent="-285750">
              <a:buFont typeface="Arial" panose="020B0604020202020204" pitchFamily="34" charset="0"/>
              <a:buChar char="•"/>
            </a:pPr>
            <a:r>
              <a:rPr lang="en-US" dirty="0"/>
              <a:t>	JSF, ASP.NET, and Rails - development frameworks</a:t>
            </a:r>
          </a:p>
          <a:p>
            <a:pPr marL="742950" lvl="1" indent="-285750">
              <a:buFont typeface="Arial" panose="020B0604020202020204" pitchFamily="34" charset="0"/>
              <a:buChar char="•"/>
            </a:pPr>
            <a:r>
              <a:rPr lang="en-US" dirty="0"/>
              <a:t>	Ajax, a Web technology - uses JavaScript and XML</a:t>
            </a:r>
          </a:p>
          <a:p>
            <a:endParaRPr lang="en-US" dirty="0"/>
          </a:p>
          <a:p>
            <a:r>
              <a:rPr lang="en-US" dirty="0"/>
              <a:t>HTML and XML are client-side languages</a:t>
            </a:r>
          </a:p>
          <a:p>
            <a:r>
              <a:rPr lang="en-US" dirty="0"/>
              <a:t>PHP and Ruby are server-side languages</a:t>
            </a:r>
          </a:p>
          <a:p>
            <a:r>
              <a:rPr lang="en-US" dirty="0"/>
              <a:t>JavaScript is most often a client-side language, although it can be used for both</a:t>
            </a:r>
            <a:endParaRPr lang="en-IN" dirty="0"/>
          </a:p>
        </p:txBody>
      </p:sp>
    </p:spTree>
    <p:extLst>
      <p:ext uri="{BB962C8B-B14F-4D97-AF65-F5344CB8AC3E}">
        <p14:creationId xmlns:p14="http://schemas.microsoft.com/office/powerpoint/2010/main" val="3967069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76BD-EEC6-27E1-6955-0C445C570E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271764-F01C-67A1-9619-E26551837A15}"/>
              </a:ext>
            </a:extLst>
          </p:cNvPr>
          <p:cNvSpPr txBox="1"/>
          <p:nvPr/>
        </p:nvSpPr>
        <p:spPr>
          <a:xfrm>
            <a:off x="663388" y="493059"/>
            <a:ext cx="10901083" cy="4185761"/>
          </a:xfrm>
          <a:prstGeom prst="rect">
            <a:avLst/>
          </a:prstGeom>
          <a:noFill/>
        </p:spPr>
        <p:txBody>
          <a:bodyPr wrap="square" rtlCol="0">
            <a:spAutoFit/>
          </a:bodyPr>
          <a:lstStyle/>
          <a:p>
            <a:r>
              <a:rPr lang="en-IN" sz="2800" dirty="0"/>
              <a:t>Overview of HTML</a:t>
            </a:r>
            <a:endParaRPr lang="en-US" sz="2800" dirty="0"/>
          </a:p>
          <a:p>
            <a:endParaRPr lang="en-US" dirty="0"/>
          </a:p>
          <a:p>
            <a:pPr marL="342900" indent="-342900">
              <a:buFont typeface="Arial" panose="020B0604020202020204" pitchFamily="34" charset="0"/>
              <a:buChar char="•"/>
            </a:pPr>
            <a:r>
              <a:rPr lang="en-US" sz="2000" dirty="0"/>
              <a:t>Its purpose is to describe the general form and layout of documents to be displayed by a browser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err="1"/>
              <a:t>TeX</a:t>
            </a:r>
            <a:r>
              <a:rPr lang="en-US" sz="2000" dirty="0"/>
              <a:t> and LaTeX are older markup languages for use with text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An HTML document is a mixture of content and controls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name of a tag specifies the category of its content.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pair of tags and their content together are called an </a:t>
            </a:r>
            <a:r>
              <a:rPr lang="en-US" sz="2000" i="1" dirty="0">
                <a:solidFill>
                  <a:srgbClr val="FF0000"/>
                </a:solidFill>
              </a:rPr>
              <a:t>element</a:t>
            </a:r>
          </a:p>
          <a:p>
            <a:pPr marL="342900" indent="-342900">
              <a:buFont typeface="Arial" panose="020B0604020202020204" pitchFamily="34" charset="0"/>
              <a:buChar char="•"/>
            </a:pPr>
            <a:endParaRPr lang="en-US" sz="2000" i="1" dirty="0">
              <a:solidFill>
                <a:srgbClr val="FF0000"/>
              </a:solidFill>
            </a:endParaRPr>
          </a:p>
          <a:p>
            <a:pPr marL="342900" indent="-342900">
              <a:buFont typeface="Arial" panose="020B0604020202020204" pitchFamily="34" charset="0"/>
              <a:buChar char="•"/>
            </a:pPr>
            <a:endParaRPr lang="en-IN" sz="2000" i="1" dirty="0"/>
          </a:p>
        </p:txBody>
      </p:sp>
    </p:spTree>
    <p:extLst>
      <p:ext uri="{BB962C8B-B14F-4D97-AF65-F5344CB8AC3E}">
        <p14:creationId xmlns:p14="http://schemas.microsoft.com/office/powerpoint/2010/main" val="223564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57457-079E-509B-7E37-CC3B896AE5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5EEE4F-DC0A-9BCB-EDF5-F771EF6DB951}"/>
              </a:ext>
            </a:extLst>
          </p:cNvPr>
          <p:cNvSpPr txBox="1"/>
          <p:nvPr/>
        </p:nvSpPr>
        <p:spPr>
          <a:xfrm>
            <a:off x="663388" y="493059"/>
            <a:ext cx="10901083" cy="4801314"/>
          </a:xfrm>
          <a:prstGeom prst="rect">
            <a:avLst/>
          </a:prstGeom>
          <a:noFill/>
        </p:spPr>
        <p:txBody>
          <a:bodyPr wrap="square" rtlCol="0">
            <a:spAutoFit/>
          </a:bodyPr>
          <a:lstStyle/>
          <a:p>
            <a:r>
              <a:rPr lang="en-US" sz="2800" dirty="0"/>
              <a:t>Tools for Creating HTML Documents</a:t>
            </a:r>
          </a:p>
          <a:p>
            <a:endParaRPr lang="en-US" dirty="0"/>
          </a:p>
          <a:p>
            <a:pPr marL="342900" indent="-342900" algn="just">
              <a:buFont typeface="Arial" panose="020B0604020202020204" pitchFamily="34" charset="0"/>
              <a:buChar char="•"/>
            </a:pPr>
            <a:r>
              <a:rPr lang="en-US" sz="2000" dirty="0"/>
              <a:t>HTML documents can be created with a general-purpose text editor, </a:t>
            </a:r>
            <a:r>
              <a:rPr lang="en-IN" sz="2000" dirty="0"/>
              <a:t>WYSIWYG, pronounced </a:t>
            </a:r>
            <a:r>
              <a:rPr lang="en-IN" sz="2000" dirty="0" err="1"/>
              <a:t>wizzy</a:t>
            </a:r>
            <a:r>
              <a:rPr lang="en-IN" sz="2000" dirty="0"/>
              <a:t>-wig</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HTML editors provide shortcuts for producing repetitious tags such as those used to create the rows of a table.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They also may provide a spell-checker and a syntax-checker, and they may color code the HTML in the display to make it easier to read and edit.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WYSIWYG HTML editors</a:t>
            </a:r>
          </a:p>
          <a:p>
            <a:pPr marL="342900" indent="-342900" algn="just">
              <a:buFont typeface="Arial" panose="020B0604020202020204" pitchFamily="34" charset="0"/>
              <a:buChar char="•"/>
            </a:pPr>
            <a:endParaRPr lang="en-IN" sz="2000" dirty="0"/>
          </a:p>
          <a:p>
            <a:pPr marL="800100" lvl="1" indent="-342900" algn="just">
              <a:buFont typeface="Arial" panose="020B0604020202020204" pitchFamily="34" charset="0"/>
              <a:buChar char="•"/>
            </a:pPr>
            <a:r>
              <a:rPr lang="en-IN" sz="2000" dirty="0"/>
              <a:t>Microsoft FrontPage</a:t>
            </a:r>
          </a:p>
          <a:p>
            <a:pPr marL="800100" lvl="1" indent="-342900" algn="just">
              <a:buFont typeface="Arial" panose="020B0604020202020204" pitchFamily="34" charset="0"/>
              <a:buChar char="•"/>
            </a:pPr>
            <a:r>
              <a:rPr lang="en-IN" sz="2000" dirty="0"/>
              <a:t>Adobe Dreamweaver</a:t>
            </a:r>
          </a:p>
        </p:txBody>
      </p:sp>
    </p:spTree>
    <p:extLst>
      <p:ext uri="{BB962C8B-B14F-4D97-AF65-F5344CB8AC3E}">
        <p14:creationId xmlns:p14="http://schemas.microsoft.com/office/powerpoint/2010/main" val="1766872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97252-475E-4222-850F-F73F9D7509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E8BC7A-B8E0-3150-635C-65C9D4494E5E}"/>
              </a:ext>
            </a:extLst>
          </p:cNvPr>
          <p:cNvSpPr txBox="1"/>
          <p:nvPr/>
        </p:nvSpPr>
        <p:spPr>
          <a:xfrm>
            <a:off x="663388" y="493059"/>
            <a:ext cx="10901083" cy="4493538"/>
          </a:xfrm>
          <a:prstGeom prst="rect">
            <a:avLst/>
          </a:prstGeom>
          <a:noFill/>
        </p:spPr>
        <p:txBody>
          <a:bodyPr wrap="square" rtlCol="0">
            <a:spAutoFit/>
          </a:bodyPr>
          <a:lstStyle/>
          <a:p>
            <a:r>
              <a:rPr lang="en-IN" sz="2800" dirty="0"/>
              <a:t>Plug-ins and Filters</a:t>
            </a:r>
            <a:endParaRPr lang="en-US" sz="2800" dirty="0"/>
          </a:p>
          <a:p>
            <a:endParaRPr lang="en-US" dirty="0"/>
          </a:p>
          <a:p>
            <a:pPr marL="342900" indent="-342900" algn="just">
              <a:buFont typeface="Arial" panose="020B0604020202020204" pitchFamily="34" charset="0"/>
              <a:buChar char="•"/>
            </a:pPr>
            <a:r>
              <a:rPr lang="en-US" sz="2000" dirty="0">
                <a:solidFill>
                  <a:srgbClr val="FF0000"/>
                </a:solidFill>
              </a:rPr>
              <a:t>Plug-ins</a:t>
            </a:r>
            <a:r>
              <a:rPr lang="en-US" sz="2000" dirty="0"/>
              <a:t> are programs that can be integrated with a word processor.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Plug-ins add new capabilities to the word processor, such as </a:t>
            </a:r>
            <a:r>
              <a:rPr lang="en-US" sz="2000" dirty="0">
                <a:solidFill>
                  <a:srgbClr val="FF0000"/>
                </a:solidFill>
              </a:rPr>
              <a:t>toolbar buttons </a:t>
            </a:r>
            <a:r>
              <a:rPr lang="en-US" sz="2000" dirty="0"/>
              <a:t>and </a:t>
            </a:r>
            <a:r>
              <a:rPr lang="en-US" sz="2000" dirty="0">
                <a:solidFill>
                  <a:srgbClr val="FF0000"/>
                </a:solidFill>
              </a:rPr>
              <a:t>menu elements </a:t>
            </a:r>
            <a:r>
              <a:rPr lang="en-US" sz="2000" dirty="0"/>
              <a:t>that provide convenient ways to insert HTML into the document being created or edited.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plug-in also makes available all the tools that are inherent in the word processor during HTML document creation, such as a spell-checker and a thesaurus.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0000"/>
                </a:solidFill>
              </a:rPr>
              <a:t>Filter</a:t>
            </a:r>
            <a:r>
              <a:rPr lang="en-US" sz="2000" dirty="0"/>
              <a:t> converts an existing document in some form, such as LaTeX or Microsoft Word, to HTML.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disadvantage of filters is that creating HTML documents with a filter is a two-step process: First you create the document, and then you use a filter to convert it to HTML.</a:t>
            </a:r>
            <a:endParaRPr lang="en-IN" sz="2000" dirty="0"/>
          </a:p>
        </p:txBody>
      </p:sp>
    </p:spTree>
    <p:extLst>
      <p:ext uri="{BB962C8B-B14F-4D97-AF65-F5344CB8AC3E}">
        <p14:creationId xmlns:p14="http://schemas.microsoft.com/office/powerpoint/2010/main" val="2328681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036FD-E710-90BD-C8B6-A6B90980EB2B}"/>
              </a:ext>
            </a:extLst>
          </p:cNvPr>
          <p:cNvSpPr txBox="1"/>
          <p:nvPr/>
        </p:nvSpPr>
        <p:spPr>
          <a:xfrm>
            <a:off x="484094" y="367553"/>
            <a:ext cx="11205882" cy="4770537"/>
          </a:xfrm>
          <a:prstGeom prst="rect">
            <a:avLst/>
          </a:prstGeom>
          <a:noFill/>
        </p:spPr>
        <p:txBody>
          <a:bodyPr wrap="square" rtlCol="0">
            <a:spAutoFit/>
          </a:bodyPr>
          <a:lstStyle/>
          <a:p>
            <a:r>
              <a:rPr lang="en-IN" sz="2800" dirty="0"/>
              <a:t>Overview of XML</a:t>
            </a:r>
          </a:p>
          <a:p>
            <a:endParaRPr lang="en-US" dirty="0"/>
          </a:p>
          <a:p>
            <a:pPr marL="342900" indent="-342900">
              <a:buFont typeface="Arial" panose="020B0604020202020204" pitchFamily="34" charset="0"/>
              <a:buChar char="•"/>
            </a:pPr>
            <a:r>
              <a:rPr lang="en-US" sz="2000" dirty="0"/>
              <a:t>XML (</a:t>
            </a:r>
            <a:r>
              <a:rPr lang="en-US" sz="2000" dirty="0" err="1"/>
              <a:t>eXtensible</a:t>
            </a:r>
            <a:r>
              <a:rPr lang="en-US" sz="2000" dirty="0"/>
              <a:t> Markup Language) is a simplified version of SGML, designed to allow users to easily create markup languages that fit their own needs.</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US" dirty="0"/>
              <a:t>Whereas HTML describes the overall layout and gives some presentation hints for general information.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XML-based markup languages describe </a:t>
            </a:r>
            <a:r>
              <a:rPr lang="en-US" dirty="0">
                <a:solidFill>
                  <a:srgbClr val="FF0000"/>
                </a:solidFill>
              </a:rPr>
              <a:t>data</a:t>
            </a:r>
            <a:r>
              <a:rPr lang="en-US" dirty="0"/>
              <a:t> and its </a:t>
            </a:r>
            <a:r>
              <a:rPr lang="en-US" dirty="0">
                <a:solidFill>
                  <a:srgbClr val="FF0000"/>
                </a:solidFill>
              </a:rPr>
              <a:t>meaning</a:t>
            </a:r>
            <a:r>
              <a:rPr lang="en-US" dirty="0"/>
              <a:t> through their individualized tags and attributes.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XML does not specify any presentation details.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XML use the meanings of the tags in the given markup language to find specific kinds of data and process it accordingly.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 syntax rules of XML, along with the syntax rules for a specific XML-based markup language, allow documents to be validated before any application attempts to process their data.</a:t>
            </a:r>
            <a:endParaRPr lang="en-IN" dirty="0"/>
          </a:p>
        </p:txBody>
      </p:sp>
    </p:spTree>
    <p:extLst>
      <p:ext uri="{BB962C8B-B14F-4D97-AF65-F5344CB8AC3E}">
        <p14:creationId xmlns:p14="http://schemas.microsoft.com/office/powerpoint/2010/main" val="3690069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4230B-6311-DEE6-EA52-A6E572D650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5B296C-2367-E765-1DEA-88E8D11BB8DA}"/>
              </a:ext>
            </a:extLst>
          </p:cNvPr>
          <p:cNvSpPr txBox="1"/>
          <p:nvPr/>
        </p:nvSpPr>
        <p:spPr>
          <a:xfrm>
            <a:off x="484094" y="367553"/>
            <a:ext cx="11205882" cy="3939540"/>
          </a:xfrm>
          <a:prstGeom prst="rect">
            <a:avLst/>
          </a:prstGeom>
          <a:noFill/>
        </p:spPr>
        <p:txBody>
          <a:bodyPr wrap="square" rtlCol="0">
            <a:spAutoFit/>
          </a:bodyPr>
          <a:lstStyle/>
          <a:p>
            <a:r>
              <a:rPr lang="en-IN" sz="2800" dirty="0"/>
              <a:t>Overview of JavaScript</a:t>
            </a:r>
            <a:endParaRPr lang="en-US" dirty="0"/>
          </a:p>
          <a:p>
            <a:endParaRPr lang="en-US" dirty="0"/>
          </a:p>
          <a:p>
            <a:pPr marL="342900" indent="-342900">
              <a:buFont typeface="Arial" panose="020B0604020202020204" pitchFamily="34" charset="0"/>
              <a:buChar char="•"/>
            </a:pPr>
            <a:r>
              <a:rPr lang="en-US" sz="2000" dirty="0"/>
              <a:t>JavaScript is a client-side scripting language whose primary uses in Web programming are to validate form data, to build Ajax-enabled HTML documents, and to create dynamic HTML documents.</a:t>
            </a:r>
            <a:endParaRPr lang="en-US"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JavaScript “programs” are usually embedded in HTML documents, which are downloaded from a Web server when they are requested by browsers.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JavaScript code in an HTML document is interpreted by an interpreter embedded in the browser on the client.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One of the most important applications of JavaScript is to create and modify documents dynamically.</a:t>
            </a:r>
            <a:endParaRPr lang="en-IN" dirty="0"/>
          </a:p>
        </p:txBody>
      </p:sp>
    </p:spTree>
    <p:extLst>
      <p:ext uri="{BB962C8B-B14F-4D97-AF65-F5344CB8AC3E}">
        <p14:creationId xmlns:p14="http://schemas.microsoft.com/office/powerpoint/2010/main" val="4181255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46853-E1C0-FEF9-881C-EEE4771B2B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E72B70-0402-FD4A-3C1B-7E5799CB3717}"/>
              </a:ext>
            </a:extLst>
          </p:cNvPr>
          <p:cNvSpPr txBox="1"/>
          <p:nvPr/>
        </p:nvSpPr>
        <p:spPr>
          <a:xfrm>
            <a:off x="484094" y="367553"/>
            <a:ext cx="11205882" cy="3847207"/>
          </a:xfrm>
          <a:prstGeom prst="rect">
            <a:avLst/>
          </a:prstGeom>
          <a:noFill/>
        </p:spPr>
        <p:txBody>
          <a:bodyPr wrap="square" rtlCol="0">
            <a:spAutoFit/>
          </a:bodyPr>
          <a:lstStyle/>
          <a:p>
            <a:r>
              <a:rPr lang="en-IN" sz="2800" dirty="0"/>
              <a:t>Overview of PHP</a:t>
            </a:r>
            <a:endParaRPr lang="en-US" dirty="0"/>
          </a:p>
          <a:p>
            <a:endParaRPr lang="en-US" dirty="0"/>
          </a:p>
          <a:p>
            <a:pPr marL="342900" indent="-342900" algn="just">
              <a:buFont typeface="Arial" panose="020B0604020202020204" pitchFamily="34" charset="0"/>
              <a:buChar char="•"/>
            </a:pPr>
            <a:r>
              <a:rPr lang="en-US" sz="2000" dirty="0"/>
              <a:t>PHP is a server-side scripting language specifically designed for Web applications.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PHP code is embedded in HTML documents, as is the case with JavaScript.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With PHP, however, the code is interpreted on the server before the HTML document is delivered to the requesting client.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requested document that includes PHP code is preprocessed to interpret the PHP code and insert its output into the HTML document.</a:t>
            </a:r>
            <a:endParaRPr lang="en-US" dirty="0"/>
          </a:p>
          <a:p>
            <a:endParaRPr lang="en-IN" dirty="0"/>
          </a:p>
        </p:txBody>
      </p:sp>
    </p:spTree>
    <p:extLst>
      <p:ext uri="{BB962C8B-B14F-4D97-AF65-F5344CB8AC3E}">
        <p14:creationId xmlns:p14="http://schemas.microsoft.com/office/powerpoint/2010/main" val="2762255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0B1D-F529-0BA1-2F51-8FD0FCBBD5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EFDA32-CB91-5A96-9724-BBDFF432E84E}"/>
              </a:ext>
            </a:extLst>
          </p:cNvPr>
          <p:cNvSpPr txBox="1"/>
          <p:nvPr/>
        </p:nvSpPr>
        <p:spPr>
          <a:xfrm>
            <a:off x="484094" y="367553"/>
            <a:ext cx="11205882" cy="5355312"/>
          </a:xfrm>
          <a:prstGeom prst="rect">
            <a:avLst/>
          </a:prstGeom>
          <a:noFill/>
        </p:spPr>
        <p:txBody>
          <a:bodyPr wrap="square" rtlCol="0">
            <a:spAutoFit/>
          </a:bodyPr>
          <a:lstStyle/>
          <a:p>
            <a:r>
              <a:rPr lang="en-IN" sz="2800" dirty="0"/>
              <a:t>Overview of Ajax</a:t>
            </a:r>
            <a:endParaRPr lang="en-US" dirty="0"/>
          </a:p>
          <a:p>
            <a:endParaRPr lang="en-US" dirty="0"/>
          </a:p>
          <a:p>
            <a:pPr marL="342900" indent="-342900">
              <a:buFont typeface="Arial" panose="020B0604020202020204" pitchFamily="34" charset="0"/>
              <a:buChar char="•"/>
            </a:pPr>
            <a:r>
              <a:rPr lang="en-IN" sz="2000" dirty="0"/>
              <a:t>Asynchronous JavaScript + XML</a:t>
            </a:r>
          </a:p>
          <a:p>
            <a:pPr marL="342900" indent="-342900">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In an Ajax Web application, there are two variations from the traditional Web interaction. </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First, the communication from the browser to the server is asynchronous; that is, the browser need not wait for the server to respond. </a:t>
            </a:r>
          </a:p>
          <a:p>
            <a:pPr marL="800100" lvl="1"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Instead, the browser user can continue whatever he or she was doing while the server finds and transmits the requested document and the browser renders the new document. </a:t>
            </a:r>
          </a:p>
          <a:p>
            <a:pPr marL="800100" lvl="1"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Second, the document provided by the server usually is only a relatively small part of the displayed document, and therefore it takes less time to be transmitted and rendered. </a:t>
            </a:r>
            <a:endParaRPr lang="en-IN" sz="2000" dirty="0"/>
          </a:p>
          <a:p>
            <a:pPr algn="just"/>
            <a:endParaRPr lang="en-IN" sz="2000" dirty="0"/>
          </a:p>
          <a:p>
            <a:endParaRPr lang="en-US" dirty="0"/>
          </a:p>
          <a:p>
            <a:endParaRPr lang="en-IN" dirty="0"/>
          </a:p>
        </p:txBody>
      </p:sp>
    </p:spTree>
    <p:extLst>
      <p:ext uri="{BB962C8B-B14F-4D97-AF65-F5344CB8AC3E}">
        <p14:creationId xmlns:p14="http://schemas.microsoft.com/office/powerpoint/2010/main" val="764243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B9142-A026-DE11-3460-F5C337ED14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48D435-B7ED-8AD0-7BE0-D095F5F4E2D5}"/>
              </a:ext>
            </a:extLst>
          </p:cNvPr>
          <p:cNvSpPr txBox="1"/>
          <p:nvPr/>
        </p:nvSpPr>
        <p:spPr>
          <a:xfrm>
            <a:off x="484094" y="367553"/>
            <a:ext cx="11205882" cy="3108543"/>
          </a:xfrm>
          <a:prstGeom prst="rect">
            <a:avLst/>
          </a:prstGeom>
          <a:noFill/>
        </p:spPr>
        <p:txBody>
          <a:bodyPr wrap="square" rtlCol="0">
            <a:spAutoFit/>
          </a:bodyPr>
          <a:lstStyle/>
          <a:p>
            <a:r>
              <a:rPr lang="en-US" sz="2800" dirty="0"/>
              <a:t>Origins and Evolution of HTML and XHTML</a:t>
            </a:r>
            <a:endParaRPr lang="en-US" dirty="0"/>
          </a:p>
          <a:p>
            <a:endParaRPr lang="en-US" dirty="0"/>
          </a:p>
          <a:p>
            <a:pPr marL="342900" indent="-342900">
              <a:buFont typeface="Arial" panose="020B0604020202020204" pitchFamily="34" charset="0"/>
              <a:buChar char="•"/>
            </a:pPr>
            <a:r>
              <a:rPr lang="en-US" sz="2000" dirty="0"/>
              <a:t>HTML is a markup language, which means it is used to mark parts of documents to indicate how they should appear, in print or on a display.</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IN" dirty="0"/>
              <a:t>HTML is defined with the meta-markup language, </a:t>
            </a:r>
            <a:r>
              <a:rPr lang="en-IN" dirty="0">
                <a:solidFill>
                  <a:srgbClr val="FF0000"/>
                </a:solidFill>
              </a:rPr>
              <a:t>Standard Generalized Markup Language (SGML)</a:t>
            </a:r>
            <a:r>
              <a:rPr lang="en-IN" dirty="0"/>
              <a:t>, which is an International Standards Organization ( ISO) standard notation for describing information-formatting languages.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023701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3FB6A-659F-5CD3-C270-2659971AF1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475F26-0C7F-718F-17A3-A611F4B869D5}"/>
              </a:ext>
            </a:extLst>
          </p:cNvPr>
          <p:cNvSpPr txBox="1"/>
          <p:nvPr/>
        </p:nvSpPr>
        <p:spPr>
          <a:xfrm>
            <a:off x="484094" y="367553"/>
            <a:ext cx="11205882" cy="5355312"/>
          </a:xfrm>
          <a:prstGeom prst="rect">
            <a:avLst/>
          </a:prstGeom>
          <a:noFill/>
        </p:spPr>
        <p:txBody>
          <a:bodyPr wrap="square" rtlCol="0">
            <a:spAutoFit/>
          </a:bodyPr>
          <a:lstStyle/>
          <a:p>
            <a:r>
              <a:rPr lang="en-US" sz="2800" dirty="0"/>
              <a:t>Versions of HTML and XHTML</a:t>
            </a:r>
            <a:endParaRPr lang="en-US" dirty="0"/>
          </a:p>
          <a:p>
            <a:endParaRPr lang="en-US" dirty="0"/>
          </a:p>
          <a:p>
            <a:pPr marL="342900" indent="-342900" algn="just">
              <a:buFont typeface="Arial" panose="020B0604020202020204" pitchFamily="34" charset="0"/>
              <a:buChar char="•"/>
            </a:pPr>
            <a:r>
              <a:rPr lang="en-US" sz="2000" dirty="0"/>
              <a:t>In late 1994, Tim Berners-Lee, who developed the initial version of HTML, started the World Wide Web Consortium (W3C), whose primary purpose was to develop and distribute standards for Web technologies, starting with HTML. </a:t>
            </a:r>
          </a:p>
          <a:p>
            <a:pPr marL="342900" indent="-34290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dirty="0"/>
              <a:t>HTML 2.0, was released in late 1995.</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HTML 3.2 in early 1997.</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HTML 4.0 specification was published in late 1997.</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4.01 version of HTML – 1999</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There are two fundamental problems with HTML 4.01. </a:t>
            </a:r>
          </a:p>
          <a:p>
            <a:pPr marL="285750" indent="-285750" algn="just">
              <a:buFont typeface="Arial" panose="020B0604020202020204" pitchFamily="34" charset="0"/>
              <a:buChar char="•"/>
            </a:pPr>
            <a:r>
              <a:rPr lang="en-US" dirty="0"/>
              <a:t>	First, it specifies loose syntax rules.</a:t>
            </a:r>
          </a:p>
          <a:p>
            <a:pPr marL="285750" indent="-285750">
              <a:buFont typeface="Arial" panose="020B0604020202020204" pitchFamily="34" charset="0"/>
              <a:buChar char="•"/>
            </a:pPr>
            <a:r>
              <a:rPr lang="en-IN" dirty="0"/>
              <a:t>	</a:t>
            </a:r>
            <a:r>
              <a:rPr lang="en-US" dirty="0"/>
              <a:t>The second problem with HTML is that its specification does not define how a user agent is to recover 	when erroneous code is encountered.</a:t>
            </a:r>
            <a:endParaRPr lang="en-IN" dirty="0"/>
          </a:p>
        </p:txBody>
      </p:sp>
    </p:spTree>
    <p:extLst>
      <p:ext uri="{BB962C8B-B14F-4D97-AF65-F5344CB8AC3E}">
        <p14:creationId xmlns:p14="http://schemas.microsoft.com/office/powerpoint/2010/main" val="2465805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A7F3-44B5-D2F0-191F-63266663D0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BDC85F-8665-D05A-16D3-283C60FF2950}"/>
              </a:ext>
            </a:extLst>
          </p:cNvPr>
          <p:cNvSpPr txBox="1"/>
          <p:nvPr/>
        </p:nvSpPr>
        <p:spPr>
          <a:xfrm>
            <a:off x="484094" y="367553"/>
            <a:ext cx="11205882" cy="3631763"/>
          </a:xfrm>
          <a:prstGeom prst="rect">
            <a:avLst/>
          </a:prstGeom>
          <a:noFill/>
        </p:spPr>
        <p:txBody>
          <a:bodyPr wrap="square" rtlCol="0">
            <a:spAutoFit/>
          </a:bodyPr>
          <a:lstStyle/>
          <a:p>
            <a:r>
              <a:rPr lang="en-US" sz="2800" dirty="0"/>
              <a:t>Continued…</a:t>
            </a:r>
            <a:endParaRPr lang="en-US" dirty="0"/>
          </a:p>
          <a:p>
            <a:endParaRPr lang="en-US" dirty="0"/>
          </a:p>
          <a:p>
            <a:pPr marL="342900" indent="-342900">
              <a:buFont typeface="Arial" panose="020B0604020202020204" pitchFamily="34" charset="0"/>
              <a:buChar char="•"/>
            </a:pPr>
            <a:r>
              <a:rPr lang="en-US" sz="2000" dirty="0"/>
              <a:t>XHTML 1.0, which was approved in early 2000</a:t>
            </a:r>
          </a:p>
          <a:p>
            <a:pPr marL="342900" indent="-342900">
              <a:buFont typeface="Arial" panose="020B0604020202020204" pitchFamily="34" charset="0"/>
              <a:buChar char="•"/>
            </a:pPr>
            <a:endParaRPr lang="en-US" sz="2000" dirty="0"/>
          </a:p>
          <a:p>
            <a:pPr marL="285750" indent="-285750">
              <a:buFont typeface="Arial" panose="020B0604020202020204" pitchFamily="34" charset="0"/>
              <a:buChar char="•"/>
            </a:pPr>
            <a:r>
              <a:rPr lang="en-US" dirty="0"/>
              <a:t>The XHTML 1.1 standard was recommended by W3C in May 2001.</a:t>
            </a:r>
          </a:p>
          <a:p>
            <a:pPr marL="285750" indent="-285750">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After several years of separate work, W3C on XHTML 2.0 and the WHAT Working Group on a new version of HTML, the head of W3C, Berners-Lee, made the momentous decision in 2006 that W3C would begin working with the WHAT Working Group.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 2009, W3C decided to adopt the HTML development and drop the XHTML 2.0 development effort.</a:t>
            </a:r>
          </a:p>
          <a:p>
            <a:endParaRPr lang="en-IN" dirty="0"/>
          </a:p>
        </p:txBody>
      </p:sp>
    </p:spTree>
    <p:extLst>
      <p:ext uri="{BB962C8B-B14F-4D97-AF65-F5344CB8AC3E}">
        <p14:creationId xmlns:p14="http://schemas.microsoft.com/office/powerpoint/2010/main" val="1854999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33A98-2AE7-CBD2-97EA-52A2CCD668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7FE33E-6488-85CB-F740-F27789E0619B}"/>
              </a:ext>
            </a:extLst>
          </p:cNvPr>
          <p:cNvSpPr txBox="1"/>
          <p:nvPr/>
        </p:nvSpPr>
        <p:spPr>
          <a:xfrm>
            <a:off x="484094" y="367553"/>
            <a:ext cx="11205882" cy="3662541"/>
          </a:xfrm>
          <a:prstGeom prst="rect">
            <a:avLst/>
          </a:prstGeom>
          <a:noFill/>
        </p:spPr>
        <p:txBody>
          <a:bodyPr wrap="square" rtlCol="0">
            <a:spAutoFit/>
          </a:bodyPr>
          <a:lstStyle/>
          <a:p>
            <a:r>
              <a:rPr lang="en-IN" sz="2800" dirty="0"/>
              <a:t>HTML versus XHTML</a:t>
            </a:r>
            <a:endParaRPr lang="en-US" dirty="0"/>
          </a:p>
          <a:p>
            <a:endParaRPr lang="en-US" dirty="0"/>
          </a:p>
          <a:p>
            <a:pPr>
              <a:spcBef>
                <a:spcPct val="50000"/>
              </a:spcBef>
            </a:pPr>
            <a:r>
              <a:rPr lang="en-US" altLang="en-US" sz="2000" dirty="0"/>
              <a:t>Reasons to use XHTML, rather than HTML:</a:t>
            </a:r>
          </a:p>
          <a:p>
            <a:pPr>
              <a:spcBef>
                <a:spcPct val="50000"/>
              </a:spcBef>
            </a:pPr>
            <a:r>
              <a:rPr lang="en-US" altLang="en-US" sz="2000" dirty="0"/>
              <a:t>   1. HTML has lax syntax rules, leading to sloppy and sometime ambiguous documents</a:t>
            </a:r>
          </a:p>
          <a:p>
            <a:pPr>
              <a:spcBef>
                <a:spcPct val="50000"/>
              </a:spcBef>
            </a:pPr>
            <a:r>
              <a:rPr lang="en-US" altLang="en-US" sz="2000" dirty="0"/>
              <a:t>      - XHTML syntax is much stricter, leading to clean and clear documents in a standard form</a:t>
            </a:r>
          </a:p>
          <a:p>
            <a:pPr>
              <a:spcBef>
                <a:spcPct val="50000"/>
              </a:spcBef>
            </a:pPr>
            <a:r>
              <a:rPr lang="en-US" altLang="en-US" sz="2000" dirty="0"/>
              <a:t>   2. HTML processors do not even enforce the few syntax rule that do exist in HTML</a:t>
            </a:r>
          </a:p>
          <a:p>
            <a:pPr>
              <a:spcBef>
                <a:spcPct val="50000"/>
              </a:spcBef>
            </a:pPr>
            <a:r>
              <a:rPr lang="en-US" altLang="en-US" sz="2000" dirty="0"/>
              <a:t>   3. The syntactic correctness of XHTML documents can be validated</a:t>
            </a:r>
          </a:p>
          <a:p>
            <a:endParaRPr lang="en-US" dirty="0"/>
          </a:p>
          <a:p>
            <a:endParaRPr lang="en-IN" dirty="0"/>
          </a:p>
        </p:txBody>
      </p:sp>
    </p:spTree>
    <p:extLst>
      <p:ext uri="{BB962C8B-B14F-4D97-AF65-F5344CB8AC3E}">
        <p14:creationId xmlns:p14="http://schemas.microsoft.com/office/powerpoint/2010/main" val="278821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6A1BF-2100-F256-A43D-AFF76A8EF9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0B3C13-F7B9-2ED9-4961-C64E9CE266DF}"/>
              </a:ext>
            </a:extLst>
          </p:cNvPr>
          <p:cNvSpPr txBox="1"/>
          <p:nvPr/>
        </p:nvSpPr>
        <p:spPr>
          <a:xfrm>
            <a:off x="484094" y="367553"/>
            <a:ext cx="11205882" cy="5262979"/>
          </a:xfrm>
          <a:prstGeom prst="rect">
            <a:avLst/>
          </a:prstGeom>
          <a:noFill/>
        </p:spPr>
        <p:txBody>
          <a:bodyPr wrap="square" rtlCol="0">
            <a:spAutoFit/>
          </a:bodyPr>
          <a:lstStyle/>
          <a:p>
            <a:r>
              <a:rPr lang="en-IN" sz="2800" dirty="0"/>
              <a:t>Basic Syntax</a:t>
            </a:r>
            <a:endParaRPr lang="en-US" dirty="0"/>
          </a:p>
          <a:p>
            <a:endParaRPr lang="en-US" dirty="0"/>
          </a:p>
          <a:p>
            <a:pPr marL="342900" indent="-342900">
              <a:buFont typeface="Arial" panose="020B0604020202020204" pitchFamily="34" charset="0"/>
              <a:buChar char="•"/>
            </a:pPr>
            <a:r>
              <a:rPr lang="en-US" sz="2000" dirty="0"/>
              <a:t>The fundamental syntactic units of HTML are called </a:t>
            </a:r>
            <a:r>
              <a:rPr lang="en-US" sz="2000" i="1" dirty="0">
                <a:solidFill>
                  <a:srgbClr val="FF0000"/>
                </a:solidFill>
              </a:rPr>
              <a:t>tags</a:t>
            </a:r>
            <a:endParaRPr lang="en-US" i="1" dirty="0">
              <a:solidFill>
                <a:srgbClr val="FF0000"/>
              </a:solidFill>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For each kind of tag, a browser has default presentation specifications for the specified content.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syntax of a tag is the tag’s name surrounded by angle brackets (&lt; and &gt;)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Tag names must be written in </a:t>
            </a:r>
            <a:r>
              <a:rPr lang="en-IN" dirty="0"/>
              <a:t>all lowercase letters.</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Whatever appears between a tag and its closing tag is the </a:t>
            </a:r>
            <a:r>
              <a:rPr lang="en-US" dirty="0">
                <a:solidFill>
                  <a:srgbClr val="FF0000"/>
                </a:solidFill>
              </a:rPr>
              <a:t>content</a:t>
            </a:r>
            <a:r>
              <a:rPr lang="en-US" dirty="0"/>
              <a:t> of the tag.</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 container and its content together are called an </a:t>
            </a:r>
            <a:r>
              <a:rPr lang="en-US" dirty="0">
                <a:solidFill>
                  <a:srgbClr val="FF0000"/>
                </a:solidFill>
              </a:rPr>
              <a:t>element</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i="1" dirty="0"/>
              <a:t>&lt;p&gt; This is simple stuff. &lt;/p&gt;</a:t>
            </a:r>
            <a:r>
              <a:rPr lang="en-IN" i="1"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Comments:</a:t>
            </a:r>
          </a:p>
          <a:p>
            <a:pPr marL="285750" indent="-285750">
              <a:buFont typeface="Arial" panose="020B0604020202020204" pitchFamily="34" charset="0"/>
              <a:buChar char="•"/>
            </a:pPr>
            <a:r>
              <a:rPr lang="en-IN" dirty="0"/>
              <a:t>	</a:t>
            </a:r>
            <a:r>
              <a:rPr lang="en-US" dirty="0"/>
              <a:t>&lt;!- -  anything except two adjacent dashes - -&gt;</a:t>
            </a:r>
            <a:endParaRPr lang="en-IN" dirty="0"/>
          </a:p>
        </p:txBody>
      </p:sp>
    </p:spTree>
    <p:extLst>
      <p:ext uri="{BB962C8B-B14F-4D97-AF65-F5344CB8AC3E}">
        <p14:creationId xmlns:p14="http://schemas.microsoft.com/office/powerpoint/2010/main" val="2053514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88201-6616-16F8-B2CB-6D967C924B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8CF549-8E09-9678-D536-49FF5194B0F8}"/>
              </a:ext>
            </a:extLst>
          </p:cNvPr>
          <p:cNvSpPr txBox="1"/>
          <p:nvPr/>
        </p:nvSpPr>
        <p:spPr>
          <a:xfrm>
            <a:off x="484094" y="367553"/>
            <a:ext cx="11205882" cy="5539978"/>
          </a:xfrm>
          <a:prstGeom prst="rect">
            <a:avLst/>
          </a:prstGeom>
          <a:noFill/>
        </p:spPr>
        <p:txBody>
          <a:bodyPr wrap="square" rtlCol="0">
            <a:spAutoFit/>
          </a:bodyPr>
          <a:lstStyle/>
          <a:p>
            <a:r>
              <a:rPr lang="en-IN" sz="2800" dirty="0"/>
              <a:t>Standard HTML Document Structure</a:t>
            </a:r>
            <a:endParaRPr lang="en-US" dirty="0"/>
          </a:p>
          <a:p>
            <a:endParaRPr lang="en-US" dirty="0"/>
          </a:p>
          <a:p>
            <a:pPr marL="342900" indent="-342900">
              <a:buFont typeface="Arial" panose="020B0604020202020204" pitchFamily="34" charset="0"/>
              <a:buChar char="•"/>
            </a:pPr>
            <a:r>
              <a:rPr lang="en-US" sz="2000" dirty="0"/>
              <a:t>The first line of every HTML document is a </a:t>
            </a:r>
            <a:r>
              <a:rPr lang="en-US" sz="2000" b="1" dirty="0"/>
              <a:t>DOCTYPE</a:t>
            </a:r>
            <a:r>
              <a:rPr lang="en-US" sz="2000" dirty="0"/>
              <a:t> command,</a:t>
            </a:r>
            <a:r>
              <a:rPr lang="en-US" dirty="0"/>
              <a:t> which specifies the particular SGML document-type definition (DTD) with which the document complies.</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&lt;!DOCTYPE html&gt;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 HTML document must include the four tags &lt;html&gt;, &lt;head&gt;, &lt;title&gt;, and &lt;body&gt;.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&lt;html&gt; tag identifies the root element of the document</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&lt;html lang = "</a:t>
            </a:r>
            <a:r>
              <a:rPr lang="en-US" dirty="0" err="1"/>
              <a:t>en</a:t>
            </a:r>
            <a:r>
              <a:rPr lang="en-US" dirty="0"/>
              <a:t>"&gt;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head element provides information about the document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head element always contains two simple elements, a </a:t>
            </a:r>
            <a:r>
              <a:rPr lang="en-US" dirty="0">
                <a:solidFill>
                  <a:srgbClr val="FF0000"/>
                </a:solidFill>
              </a:rPr>
              <a:t>title</a:t>
            </a:r>
            <a:r>
              <a:rPr lang="en-US" dirty="0"/>
              <a:t> element and a </a:t>
            </a:r>
            <a:r>
              <a:rPr lang="en-US" dirty="0">
                <a:solidFill>
                  <a:srgbClr val="FF0000"/>
                </a:solidFill>
              </a:rPr>
              <a:t>meta</a:t>
            </a:r>
            <a:r>
              <a:rPr lang="en-US" dirty="0"/>
              <a:t> element.</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&lt;meta charset = "utf-8" /&gt;</a:t>
            </a:r>
            <a:endParaRPr lang="en-IN" dirty="0"/>
          </a:p>
        </p:txBody>
      </p:sp>
    </p:spTree>
    <p:extLst>
      <p:ext uri="{BB962C8B-B14F-4D97-AF65-F5344CB8AC3E}">
        <p14:creationId xmlns:p14="http://schemas.microsoft.com/office/powerpoint/2010/main" val="3539241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73E7-4D67-70B2-CA66-AA83AD5120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EB2CBA-DEBD-DDC2-3214-8D0973143D5B}"/>
              </a:ext>
            </a:extLst>
          </p:cNvPr>
          <p:cNvSpPr txBox="1"/>
          <p:nvPr/>
        </p:nvSpPr>
        <p:spPr>
          <a:xfrm>
            <a:off x="484094" y="367553"/>
            <a:ext cx="11205882" cy="2277547"/>
          </a:xfrm>
          <a:prstGeom prst="rect">
            <a:avLst/>
          </a:prstGeom>
          <a:noFill/>
        </p:spPr>
        <p:txBody>
          <a:bodyPr wrap="square" rtlCol="0">
            <a:spAutoFit/>
          </a:bodyPr>
          <a:lstStyle/>
          <a:p>
            <a:r>
              <a:rPr lang="en-US" sz="2800" dirty="0"/>
              <a:t>Continued…</a:t>
            </a:r>
            <a:endParaRPr lang="en-US" dirty="0"/>
          </a:p>
          <a:p>
            <a:endParaRPr lang="en-US" dirty="0"/>
          </a:p>
          <a:p>
            <a:r>
              <a:rPr lang="en-US" sz="2000" dirty="0"/>
              <a:t>The content of the title element is displayed by the browser at the top of its display window, usually in the browser window’s title bar.</a:t>
            </a:r>
          </a:p>
          <a:p>
            <a:endParaRPr lang="en-US" sz="2000" dirty="0"/>
          </a:p>
          <a:p>
            <a:endParaRPr lang="en-US" dirty="0"/>
          </a:p>
          <a:p>
            <a:endParaRPr lang="en-IN" dirty="0"/>
          </a:p>
        </p:txBody>
      </p:sp>
      <p:pic>
        <p:nvPicPr>
          <p:cNvPr id="4" name="Picture 3">
            <a:extLst>
              <a:ext uri="{FF2B5EF4-FFF2-40B4-BE49-F238E27FC236}">
                <a16:creationId xmlns:a16="http://schemas.microsoft.com/office/drawing/2014/main" id="{6CCBCB71-336C-1F59-B225-A951356FBAC5}"/>
              </a:ext>
            </a:extLst>
          </p:cNvPr>
          <p:cNvPicPr>
            <a:picLocks noChangeAspect="1"/>
          </p:cNvPicPr>
          <p:nvPr/>
        </p:nvPicPr>
        <p:blipFill>
          <a:blip r:embed="rId2"/>
          <a:stretch>
            <a:fillRect/>
          </a:stretch>
        </p:blipFill>
        <p:spPr>
          <a:xfrm>
            <a:off x="3180943" y="2094730"/>
            <a:ext cx="5830114" cy="2991267"/>
          </a:xfrm>
          <a:prstGeom prst="rect">
            <a:avLst/>
          </a:prstGeom>
        </p:spPr>
      </p:pic>
    </p:spTree>
    <p:extLst>
      <p:ext uri="{BB962C8B-B14F-4D97-AF65-F5344CB8AC3E}">
        <p14:creationId xmlns:p14="http://schemas.microsoft.com/office/powerpoint/2010/main" val="2345093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69011-2C30-1727-F4FF-6A56D7E481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B2CD03-8562-FE60-CA59-7833A1829918}"/>
              </a:ext>
            </a:extLst>
          </p:cNvPr>
          <p:cNvSpPr txBox="1"/>
          <p:nvPr/>
        </p:nvSpPr>
        <p:spPr>
          <a:xfrm>
            <a:off x="484094" y="367553"/>
            <a:ext cx="11205882" cy="6401753"/>
          </a:xfrm>
          <a:prstGeom prst="rect">
            <a:avLst/>
          </a:prstGeom>
          <a:noFill/>
        </p:spPr>
        <p:txBody>
          <a:bodyPr wrap="square" rtlCol="0">
            <a:spAutoFit/>
          </a:bodyPr>
          <a:lstStyle/>
          <a:p>
            <a:r>
              <a:rPr lang="en-IN" sz="2800" dirty="0"/>
              <a:t>Basic Text Markup</a:t>
            </a:r>
            <a:endParaRPr lang="en-US" dirty="0"/>
          </a:p>
          <a:p>
            <a:endParaRPr lang="en-US" dirty="0"/>
          </a:p>
          <a:p>
            <a:r>
              <a:rPr lang="en-US" sz="2000" dirty="0"/>
              <a:t>how the text content of an HTML document can be formatted with HTML tags.</a:t>
            </a:r>
          </a:p>
          <a:p>
            <a:endParaRPr lang="en-US" sz="2000" dirty="0"/>
          </a:p>
          <a:p>
            <a:r>
              <a:rPr lang="en-IN" dirty="0"/>
              <a:t>1. Paragraphs:</a:t>
            </a:r>
          </a:p>
          <a:p>
            <a:r>
              <a:rPr lang="en-IN" dirty="0"/>
              <a:t>	</a:t>
            </a:r>
            <a:r>
              <a:rPr lang="en-US" dirty="0"/>
              <a:t>Text is often placed in the content of a paragraph element, specified with the tag &lt;p&gt;</a:t>
            </a:r>
          </a:p>
          <a:p>
            <a:r>
              <a:rPr lang="en-US" dirty="0"/>
              <a:t>	Line breaks are ignored.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2. Line Breaks:</a:t>
            </a:r>
          </a:p>
          <a:p>
            <a:endParaRPr lang="en-US" dirty="0"/>
          </a:p>
          <a:p>
            <a:r>
              <a:rPr lang="en-US" dirty="0"/>
              <a:t>	 &lt;</a:t>
            </a:r>
            <a:r>
              <a:rPr lang="en-US" dirty="0" err="1"/>
              <a:t>br</a:t>
            </a:r>
            <a:r>
              <a:rPr lang="en-US" dirty="0"/>
              <a:t> /&gt;</a:t>
            </a:r>
          </a:p>
          <a:p>
            <a:endParaRPr lang="en-US" dirty="0"/>
          </a:p>
          <a:p>
            <a:endParaRPr lang="en-IN" dirty="0"/>
          </a:p>
        </p:txBody>
      </p:sp>
      <p:pic>
        <p:nvPicPr>
          <p:cNvPr id="4" name="Picture 3">
            <a:extLst>
              <a:ext uri="{FF2B5EF4-FFF2-40B4-BE49-F238E27FC236}">
                <a16:creationId xmlns:a16="http://schemas.microsoft.com/office/drawing/2014/main" id="{0A9E4D2E-7EDD-8FCB-8135-4F540B454A7D}"/>
              </a:ext>
            </a:extLst>
          </p:cNvPr>
          <p:cNvPicPr>
            <a:picLocks noChangeAspect="1"/>
          </p:cNvPicPr>
          <p:nvPr/>
        </p:nvPicPr>
        <p:blipFill>
          <a:blip r:embed="rId2"/>
          <a:stretch>
            <a:fillRect/>
          </a:stretch>
        </p:blipFill>
        <p:spPr>
          <a:xfrm>
            <a:off x="2713882" y="2708984"/>
            <a:ext cx="5435035" cy="2580664"/>
          </a:xfrm>
          <a:prstGeom prst="rect">
            <a:avLst/>
          </a:prstGeom>
        </p:spPr>
      </p:pic>
    </p:spTree>
    <p:extLst>
      <p:ext uri="{BB962C8B-B14F-4D97-AF65-F5344CB8AC3E}">
        <p14:creationId xmlns:p14="http://schemas.microsoft.com/office/powerpoint/2010/main" val="2085076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ABCC5-60F0-2F75-81A9-F4315A06DD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5B23A2-5237-59A7-5848-935F8DD1D678}"/>
              </a:ext>
            </a:extLst>
          </p:cNvPr>
          <p:cNvSpPr txBox="1"/>
          <p:nvPr/>
        </p:nvSpPr>
        <p:spPr>
          <a:xfrm>
            <a:off x="484094" y="367553"/>
            <a:ext cx="11205882" cy="4431983"/>
          </a:xfrm>
          <a:prstGeom prst="rect">
            <a:avLst/>
          </a:prstGeom>
          <a:noFill/>
        </p:spPr>
        <p:txBody>
          <a:bodyPr wrap="square" rtlCol="0">
            <a:spAutoFit/>
          </a:bodyPr>
          <a:lstStyle/>
          <a:p>
            <a:r>
              <a:rPr lang="en-US" sz="2800" dirty="0"/>
              <a:t>Continued…</a:t>
            </a:r>
            <a:endParaRPr lang="en-US" dirty="0"/>
          </a:p>
          <a:p>
            <a:endParaRPr lang="en-US" dirty="0"/>
          </a:p>
          <a:p>
            <a:r>
              <a:rPr lang="en-US" sz="2000" dirty="0"/>
              <a:t>3. </a:t>
            </a:r>
            <a:r>
              <a:rPr lang="en-IN" dirty="0"/>
              <a:t>Preserving White Space</a:t>
            </a:r>
          </a:p>
          <a:p>
            <a:pPr lvl="1"/>
            <a:r>
              <a:rPr lang="en-US" dirty="0"/>
              <a:t>Sometimes it is desirable to preserve the white space in text—that is, to prevent the browser from eliminating multiple spaces and ignoring embedded line breaks.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IN" dirty="0"/>
          </a:p>
        </p:txBody>
      </p:sp>
      <p:pic>
        <p:nvPicPr>
          <p:cNvPr id="4" name="Picture 3">
            <a:extLst>
              <a:ext uri="{FF2B5EF4-FFF2-40B4-BE49-F238E27FC236}">
                <a16:creationId xmlns:a16="http://schemas.microsoft.com/office/drawing/2014/main" id="{9CC1A721-0015-1C44-B975-1281F0B2127F}"/>
              </a:ext>
            </a:extLst>
          </p:cNvPr>
          <p:cNvPicPr>
            <a:picLocks noChangeAspect="1"/>
          </p:cNvPicPr>
          <p:nvPr/>
        </p:nvPicPr>
        <p:blipFill>
          <a:blip r:embed="rId2"/>
          <a:stretch>
            <a:fillRect/>
          </a:stretch>
        </p:blipFill>
        <p:spPr>
          <a:xfrm>
            <a:off x="1033018" y="2098436"/>
            <a:ext cx="2362530" cy="1524213"/>
          </a:xfrm>
          <a:prstGeom prst="rect">
            <a:avLst/>
          </a:prstGeom>
        </p:spPr>
      </p:pic>
      <p:pic>
        <p:nvPicPr>
          <p:cNvPr id="6" name="Picture 5">
            <a:extLst>
              <a:ext uri="{FF2B5EF4-FFF2-40B4-BE49-F238E27FC236}">
                <a16:creationId xmlns:a16="http://schemas.microsoft.com/office/drawing/2014/main" id="{07C42E8D-B259-60F2-6EEC-9F7390022AC4}"/>
              </a:ext>
            </a:extLst>
          </p:cNvPr>
          <p:cNvPicPr>
            <a:picLocks noChangeAspect="1"/>
          </p:cNvPicPr>
          <p:nvPr/>
        </p:nvPicPr>
        <p:blipFill>
          <a:blip r:embed="rId3"/>
          <a:stretch>
            <a:fillRect/>
          </a:stretch>
        </p:blipFill>
        <p:spPr>
          <a:xfrm>
            <a:off x="4631789" y="2361253"/>
            <a:ext cx="6335009" cy="1247949"/>
          </a:xfrm>
          <a:prstGeom prst="rect">
            <a:avLst/>
          </a:prstGeom>
        </p:spPr>
      </p:pic>
    </p:spTree>
    <p:extLst>
      <p:ext uri="{BB962C8B-B14F-4D97-AF65-F5344CB8AC3E}">
        <p14:creationId xmlns:p14="http://schemas.microsoft.com/office/powerpoint/2010/main" val="3470311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A56C3-37BA-AFDF-6BE7-618A0848DE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4FD774-C48E-1480-41F2-391FB2BBB56F}"/>
              </a:ext>
            </a:extLst>
          </p:cNvPr>
          <p:cNvSpPr txBox="1"/>
          <p:nvPr/>
        </p:nvSpPr>
        <p:spPr>
          <a:xfrm>
            <a:off x="484094" y="367553"/>
            <a:ext cx="10551459" cy="6278642"/>
          </a:xfrm>
          <a:prstGeom prst="rect">
            <a:avLst/>
          </a:prstGeom>
          <a:noFill/>
        </p:spPr>
        <p:txBody>
          <a:bodyPr wrap="square" rtlCol="0">
            <a:spAutoFit/>
          </a:bodyPr>
          <a:lstStyle/>
          <a:p>
            <a:r>
              <a:rPr lang="en-US" altLang="en-US" sz="2400" dirty="0"/>
              <a:t>Headings</a:t>
            </a:r>
          </a:p>
          <a:p>
            <a:endParaRPr lang="en-US" altLang="en-US" sz="1200" dirty="0"/>
          </a:p>
          <a:p>
            <a:r>
              <a:rPr lang="en-US" altLang="en-US" sz="1200" dirty="0"/>
              <a:t>    - </a:t>
            </a:r>
            <a:r>
              <a:rPr lang="en-US" altLang="en-US" dirty="0"/>
              <a:t>Six sizes, 1 - 6, specified with </a:t>
            </a:r>
            <a:r>
              <a:rPr lang="en-US" altLang="en-US" sz="1600" dirty="0">
                <a:latin typeface="Courier New" panose="02070309020205020404" pitchFamily="49" charset="0"/>
              </a:rPr>
              <a:t>&lt;h1&gt;</a:t>
            </a:r>
            <a:r>
              <a:rPr lang="en-US" altLang="en-US" dirty="0"/>
              <a:t> to </a:t>
            </a:r>
            <a:r>
              <a:rPr lang="en-US" altLang="en-US" sz="1600" dirty="0">
                <a:latin typeface="Courier New" panose="02070309020205020404" pitchFamily="49" charset="0"/>
              </a:rPr>
              <a:t>&lt;h6&gt;</a:t>
            </a:r>
          </a:p>
          <a:p>
            <a:endParaRPr lang="en-US" altLang="en-US" dirty="0"/>
          </a:p>
          <a:p>
            <a:r>
              <a:rPr lang="en-US" altLang="en-US" dirty="0"/>
              <a:t>    - 1, 2, and 3 use font sizes that are larger than the</a:t>
            </a:r>
          </a:p>
          <a:p>
            <a:r>
              <a:rPr lang="en-US" altLang="en-US" dirty="0"/>
              <a:t>       default font size</a:t>
            </a:r>
          </a:p>
          <a:p>
            <a:r>
              <a:rPr lang="en-US" altLang="en-US" dirty="0"/>
              <a:t>    - 4 uses the default size</a:t>
            </a:r>
          </a:p>
          <a:p>
            <a:r>
              <a:rPr lang="en-US" altLang="en-US" dirty="0"/>
              <a:t>    - 5 and 6 use smaller font sizes</a:t>
            </a:r>
          </a:p>
          <a:p>
            <a:r>
              <a:rPr lang="en-US" altLang="en-US" sz="1200" dirty="0"/>
              <a:t> </a:t>
            </a:r>
          </a:p>
          <a:p>
            <a:r>
              <a:rPr lang="en-US" altLang="en-US" sz="1200" dirty="0">
                <a:latin typeface="Courier New" panose="02070309020205020404" pitchFamily="49" charset="0"/>
              </a:rPr>
              <a:t>&lt;!-- headings.html</a:t>
            </a:r>
          </a:p>
          <a:p>
            <a:r>
              <a:rPr lang="en-US" altLang="en-US" sz="1200" dirty="0">
                <a:latin typeface="Courier New" panose="02070309020205020404" pitchFamily="49" charset="0"/>
              </a:rPr>
              <a:t>     An example to illustrate headings</a:t>
            </a:r>
          </a:p>
          <a:p>
            <a:r>
              <a:rPr lang="en-US" altLang="en-US" sz="1200" dirty="0">
                <a:latin typeface="Courier New" panose="02070309020205020404" pitchFamily="49" charset="0"/>
              </a:rPr>
              <a:t>     --&gt;</a:t>
            </a:r>
          </a:p>
          <a:p>
            <a:r>
              <a:rPr lang="en-US" altLang="en-US" sz="1200" dirty="0">
                <a:latin typeface="Courier New" panose="02070309020205020404" pitchFamily="49" charset="0"/>
              </a:rPr>
              <a:t>&lt;html </a:t>
            </a:r>
            <a:r>
              <a:rPr lang="en-US" altLang="en-US" sz="1200" dirty="0" err="1">
                <a:latin typeface="Courier New" panose="02070309020205020404" pitchFamily="49" charset="0"/>
              </a:rPr>
              <a:t>xmlns</a:t>
            </a:r>
            <a:r>
              <a:rPr lang="en-US" altLang="en-US" sz="1200" dirty="0">
                <a:latin typeface="Courier New" panose="02070309020205020404" pitchFamily="49" charset="0"/>
              </a:rPr>
              <a:t> = </a:t>
            </a:r>
            <a:r>
              <a:rPr lang="en-US" altLang="en-US" sz="1100" dirty="0">
                <a:latin typeface="Courier New" panose="02070309020205020404" pitchFamily="49" charset="0"/>
                <a:cs typeface="Courier New" panose="02070309020205020404" pitchFamily="49" charset="0"/>
              </a:rPr>
              <a:t>″</a:t>
            </a:r>
            <a:r>
              <a:rPr lang="en-US" altLang="en-US" sz="1200" dirty="0">
                <a:latin typeface="Courier New" panose="02070309020205020404" pitchFamily="49" charset="0"/>
              </a:rPr>
              <a:t>http://www.w3.org/1999/</a:t>
            </a:r>
            <a:r>
              <a:rPr lang="en-US" altLang="en-US" sz="1200" dirty="0" err="1">
                <a:latin typeface="Courier New" panose="02070309020205020404" pitchFamily="49" charset="0"/>
              </a:rPr>
              <a:t>xhtml</a:t>
            </a:r>
            <a:r>
              <a:rPr lang="en-US" altLang="en-US" sz="1100" dirty="0">
                <a:latin typeface="Courier New" panose="02070309020205020404" pitchFamily="49" charset="0"/>
                <a:cs typeface="Courier New" panose="02070309020205020404" pitchFamily="49" charset="0"/>
              </a:rPr>
              <a:t>″</a:t>
            </a:r>
            <a:r>
              <a:rPr lang="en-US" altLang="en-US" sz="1200" dirty="0">
                <a:latin typeface="Courier New" panose="02070309020205020404" pitchFamily="49" charset="0"/>
              </a:rPr>
              <a:t>&gt;</a:t>
            </a:r>
          </a:p>
          <a:p>
            <a:r>
              <a:rPr lang="en-US" altLang="en-US" sz="1200" dirty="0">
                <a:latin typeface="Courier New" panose="02070309020205020404" pitchFamily="49" charset="0"/>
              </a:rPr>
              <a:t>  &lt;head&gt; &lt;title&gt; Headings &lt;/title&gt;</a:t>
            </a:r>
          </a:p>
          <a:p>
            <a:r>
              <a:rPr lang="en-US" altLang="en-US" sz="1200" dirty="0">
                <a:latin typeface="Courier New" panose="02070309020205020404" pitchFamily="49" charset="0"/>
              </a:rPr>
              <a:t>  &lt;/head&gt;</a:t>
            </a:r>
          </a:p>
          <a:p>
            <a:r>
              <a:rPr lang="en-US" altLang="en-US" sz="1200" dirty="0">
                <a:latin typeface="Courier New" panose="02070309020205020404" pitchFamily="49" charset="0"/>
              </a:rPr>
              <a:t>  &lt;body&gt;</a:t>
            </a:r>
          </a:p>
          <a:p>
            <a:r>
              <a:rPr lang="en-US" altLang="en-US" sz="1200" dirty="0">
                <a:latin typeface="Courier New" panose="02070309020205020404" pitchFamily="49" charset="0"/>
              </a:rPr>
              <a:t>    &lt;h1&gt; Aidan’s Airplanes (h1) &lt;/h1&gt;</a:t>
            </a:r>
          </a:p>
          <a:p>
            <a:r>
              <a:rPr lang="en-US" altLang="en-US" sz="1200" dirty="0">
                <a:latin typeface="Courier New" panose="02070309020205020404" pitchFamily="49" charset="0"/>
              </a:rPr>
              <a:t>    &lt;h2&gt; The best in used airplanes (h2) &lt;/h2&gt;</a:t>
            </a:r>
          </a:p>
          <a:p>
            <a:r>
              <a:rPr lang="en-US" altLang="en-US" sz="1200" dirty="0">
                <a:latin typeface="Courier New" panose="02070309020205020404" pitchFamily="49" charset="0"/>
              </a:rPr>
              <a:t>    &lt;h3&gt; "We’ve got them by the </a:t>
            </a:r>
            <a:r>
              <a:rPr lang="en-US" altLang="en-US" sz="1200" dirty="0" err="1">
                <a:latin typeface="Courier New" panose="02070309020205020404" pitchFamily="49" charset="0"/>
              </a:rPr>
              <a:t>hangarful</a:t>
            </a:r>
            <a:r>
              <a:rPr lang="en-US" altLang="en-US" sz="1200" dirty="0">
                <a:latin typeface="Courier New" panose="02070309020205020404" pitchFamily="49" charset="0"/>
              </a:rPr>
              <a:t>" (h3)</a:t>
            </a:r>
          </a:p>
          <a:p>
            <a:r>
              <a:rPr lang="en-US" altLang="en-US" sz="1200" dirty="0">
                <a:latin typeface="Courier New" panose="02070309020205020404" pitchFamily="49" charset="0"/>
              </a:rPr>
              <a:t>    &lt;/h3&gt;</a:t>
            </a:r>
          </a:p>
          <a:p>
            <a:r>
              <a:rPr lang="en-US" altLang="en-US" sz="1200" dirty="0">
                <a:latin typeface="Courier New" panose="02070309020205020404" pitchFamily="49" charset="0"/>
              </a:rPr>
              <a:t>    &lt;h4&gt; We’re the guys to see for a good used</a:t>
            </a:r>
          </a:p>
          <a:p>
            <a:r>
              <a:rPr lang="en-US" altLang="en-US" sz="1200" dirty="0">
                <a:latin typeface="Courier New" panose="02070309020205020404" pitchFamily="49" charset="0"/>
              </a:rPr>
              <a:t>         airplane (h4) &lt;/h4&gt;</a:t>
            </a:r>
          </a:p>
          <a:p>
            <a:r>
              <a:rPr lang="en-US" altLang="en-US" sz="1200" dirty="0">
                <a:latin typeface="Courier New" panose="02070309020205020404" pitchFamily="49" charset="0"/>
              </a:rPr>
              <a:t>    &lt;h5&gt; We offer great prices on great planes</a:t>
            </a:r>
          </a:p>
          <a:p>
            <a:r>
              <a:rPr lang="en-US" altLang="en-US" sz="1200" dirty="0">
                <a:latin typeface="Courier New" panose="02070309020205020404" pitchFamily="49" charset="0"/>
              </a:rPr>
              <a:t>         (h5) &lt;/h5&gt;</a:t>
            </a:r>
          </a:p>
          <a:p>
            <a:r>
              <a:rPr lang="en-US" altLang="en-US" sz="1200" dirty="0">
                <a:latin typeface="Courier New" panose="02070309020205020404" pitchFamily="49" charset="0"/>
              </a:rPr>
              <a:t>    &lt;h6&gt; No returns, no guarantees, no refunds,</a:t>
            </a:r>
          </a:p>
          <a:p>
            <a:r>
              <a:rPr lang="en-US" altLang="en-US" sz="1200" dirty="0">
                <a:latin typeface="Courier New" panose="02070309020205020404" pitchFamily="49" charset="0"/>
              </a:rPr>
              <a:t>         all sales are final (h6) &lt;/h6&gt;</a:t>
            </a:r>
          </a:p>
          <a:p>
            <a:r>
              <a:rPr lang="en-US" altLang="en-US" sz="1200" dirty="0">
                <a:latin typeface="Courier New" panose="02070309020205020404" pitchFamily="49" charset="0"/>
              </a:rPr>
              <a:t>  &lt;/body&gt;</a:t>
            </a:r>
          </a:p>
          <a:p>
            <a:r>
              <a:rPr lang="en-US" altLang="en-US" sz="1200" dirty="0">
                <a:latin typeface="Courier New" panose="02070309020205020404" pitchFamily="49" charset="0"/>
              </a:rPr>
              <a:t>&lt;/html&gt;</a:t>
            </a:r>
            <a:endParaRPr lang="en-US" sz="1200" dirty="0"/>
          </a:p>
          <a:p>
            <a:endParaRPr lang="en-IN" dirty="0"/>
          </a:p>
        </p:txBody>
      </p:sp>
      <p:graphicFrame>
        <p:nvGraphicFramePr>
          <p:cNvPr id="3" name="Object 11">
            <a:extLst>
              <a:ext uri="{FF2B5EF4-FFF2-40B4-BE49-F238E27FC236}">
                <a16:creationId xmlns:a16="http://schemas.microsoft.com/office/drawing/2014/main" id="{CD85E1EC-DB3C-0706-B6B8-4FD4AEAAA249}"/>
              </a:ext>
            </a:extLst>
          </p:cNvPr>
          <p:cNvGraphicFramePr>
            <a:graphicFrameLocks noChangeAspect="1"/>
          </p:cNvGraphicFramePr>
          <p:nvPr>
            <p:extLst>
              <p:ext uri="{D42A27DB-BD31-4B8C-83A1-F6EECF244321}">
                <p14:modId xmlns:p14="http://schemas.microsoft.com/office/powerpoint/2010/main" val="1357754862"/>
              </p:ext>
            </p:extLst>
          </p:nvPr>
        </p:nvGraphicFramePr>
        <p:xfrm>
          <a:off x="5759823" y="3429000"/>
          <a:ext cx="5867400" cy="2692400"/>
        </p:xfrm>
        <a:graphic>
          <a:graphicData uri="http://schemas.openxmlformats.org/presentationml/2006/ole">
            <mc:AlternateContent xmlns:mc="http://schemas.openxmlformats.org/markup-compatibility/2006">
              <mc:Choice xmlns:v="urn:schemas-microsoft-com:vml" Requires="v">
                <p:oleObj name="Document" r:id="rId2" imgW="5477400" imgH="2514600" progId="Word.Document.8">
                  <p:embed/>
                </p:oleObj>
              </mc:Choice>
              <mc:Fallback>
                <p:oleObj name="Document" r:id="rId2" imgW="5477400" imgH="2514600" progId="Word.Document.8">
                  <p:embed/>
                  <p:pic>
                    <p:nvPicPr>
                      <p:cNvPr id="1026" name="Object 11">
                        <a:extLst>
                          <a:ext uri="{FF2B5EF4-FFF2-40B4-BE49-F238E27FC236}">
                            <a16:creationId xmlns:a16="http://schemas.microsoft.com/office/drawing/2014/main" id="{4F3D3D14-6F44-B530-5469-3DDC1C01B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9823" y="3429000"/>
                        <a:ext cx="5867400" cy="269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51284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7C37-B661-0FF8-1879-C44BAEB4E8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C197222-2FF6-70A6-B159-B634688199A4}"/>
              </a:ext>
            </a:extLst>
          </p:cNvPr>
          <p:cNvSpPr txBox="1"/>
          <p:nvPr/>
        </p:nvSpPr>
        <p:spPr>
          <a:xfrm>
            <a:off x="484094" y="367553"/>
            <a:ext cx="11205882" cy="5539978"/>
          </a:xfrm>
          <a:prstGeom prst="rect">
            <a:avLst/>
          </a:prstGeom>
          <a:noFill/>
        </p:spPr>
        <p:txBody>
          <a:bodyPr wrap="square" rtlCol="0">
            <a:spAutoFit/>
          </a:bodyPr>
          <a:lstStyle/>
          <a:p>
            <a:r>
              <a:rPr lang="en-US" sz="2800" dirty="0"/>
              <a:t>Continued…</a:t>
            </a:r>
            <a:endParaRPr lang="en-US" dirty="0"/>
          </a:p>
          <a:p>
            <a:endParaRPr lang="en-US" dirty="0"/>
          </a:p>
          <a:p>
            <a:r>
              <a:rPr lang="en-US" sz="2000" dirty="0"/>
              <a:t>5. </a:t>
            </a:r>
            <a:r>
              <a:rPr lang="en-IN" b="1" dirty="0"/>
              <a:t>Block Quotations</a:t>
            </a:r>
            <a:endParaRPr lang="en-IN" dirty="0"/>
          </a:p>
          <a:p>
            <a:r>
              <a:rPr lang="en-IN" dirty="0"/>
              <a:t>	</a:t>
            </a:r>
            <a:r>
              <a:rPr lang="en-US" dirty="0"/>
              <a:t>Sometimes we want a block of text to be set off from the normal flow of text in a document.</a:t>
            </a:r>
          </a:p>
          <a:p>
            <a:r>
              <a:rPr lang="en-US" dirty="0"/>
              <a:t>	</a:t>
            </a:r>
            <a:r>
              <a:rPr lang="en-US" dirty="0">
                <a:solidFill>
                  <a:srgbClr val="FF0000"/>
                </a:solidFill>
              </a:rPr>
              <a:t>&lt;blockquote&gt;</a:t>
            </a:r>
            <a:endParaRPr lang="en-IN" dirty="0"/>
          </a:p>
          <a:p>
            <a:r>
              <a:rPr lang="en-IN" dirty="0"/>
              <a:t>	</a:t>
            </a:r>
            <a:r>
              <a:rPr lang="en-US" dirty="0"/>
              <a:t>block of text simply is indented on both sides</a:t>
            </a:r>
            <a:r>
              <a:rPr lang="en-IN" dirty="0"/>
              <a:t>	</a:t>
            </a:r>
          </a:p>
          <a:p>
            <a:endParaRPr lang="en-IN" dirty="0"/>
          </a:p>
          <a:p>
            <a:r>
              <a:rPr lang="en-IN" dirty="0"/>
              <a:t>6. </a:t>
            </a:r>
            <a:r>
              <a:rPr lang="en-IN" b="1" dirty="0"/>
              <a:t>Font Styles and Sizes</a:t>
            </a:r>
          </a:p>
          <a:p>
            <a:r>
              <a:rPr lang="en-IN" b="1" dirty="0"/>
              <a:t>	</a:t>
            </a:r>
          </a:p>
          <a:p>
            <a:r>
              <a:rPr lang="en-IN" b="1" dirty="0"/>
              <a:t>	</a:t>
            </a:r>
            <a:r>
              <a:rPr lang="en-US" altLang="en-US" dirty="0"/>
              <a:t> - Boldface - </a:t>
            </a:r>
            <a:r>
              <a:rPr lang="en-US" altLang="en-US" sz="1600" dirty="0">
                <a:latin typeface="Courier New" panose="02070309020205020404" pitchFamily="49" charset="0"/>
              </a:rPr>
              <a:t>&lt;b&gt;</a:t>
            </a:r>
            <a:endParaRPr lang="en-US" altLang="en-US" dirty="0"/>
          </a:p>
          <a:p>
            <a:r>
              <a:rPr lang="en-US" altLang="en-US" dirty="0"/>
              <a:t>  	 - Italics - </a:t>
            </a:r>
            <a:r>
              <a:rPr lang="en-US" altLang="en-US" sz="1600" dirty="0">
                <a:latin typeface="Courier New" panose="02070309020205020404" pitchFamily="49" charset="0"/>
              </a:rPr>
              <a:t>&lt;</a:t>
            </a:r>
            <a:r>
              <a:rPr lang="en-US" altLang="en-US" sz="1600" dirty="0" err="1">
                <a:latin typeface="Courier New" panose="02070309020205020404" pitchFamily="49" charset="0"/>
              </a:rPr>
              <a:t>i</a:t>
            </a:r>
            <a:r>
              <a:rPr lang="en-US" altLang="en-US" sz="1600" dirty="0">
                <a:latin typeface="Courier New" panose="02070309020205020404" pitchFamily="49" charset="0"/>
              </a:rPr>
              <a:t>&gt;</a:t>
            </a:r>
            <a:endParaRPr lang="en-US" altLang="en-US" dirty="0"/>
          </a:p>
          <a:p>
            <a:r>
              <a:rPr lang="en-US" altLang="en-US" dirty="0"/>
              <a:t>  	 - Larger - </a:t>
            </a:r>
            <a:r>
              <a:rPr lang="en-US" altLang="en-US" sz="1600" dirty="0">
                <a:latin typeface="Courier New" panose="02070309020205020404" pitchFamily="49" charset="0"/>
              </a:rPr>
              <a:t>&lt;big&gt;</a:t>
            </a:r>
            <a:endParaRPr lang="en-US" altLang="en-US" dirty="0"/>
          </a:p>
          <a:p>
            <a:r>
              <a:rPr lang="en-US" altLang="en-US" dirty="0"/>
              <a:t>   	- Smaller - </a:t>
            </a:r>
            <a:r>
              <a:rPr lang="en-US" altLang="en-US" sz="1600" dirty="0">
                <a:latin typeface="Courier New" panose="02070309020205020404" pitchFamily="49" charset="0"/>
              </a:rPr>
              <a:t>&lt;small&gt;</a:t>
            </a:r>
            <a:endParaRPr lang="en-US" altLang="en-US" dirty="0"/>
          </a:p>
          <a:p>
            <a:r>
              <a:rPr lang="en-US" altLang="en-US" dirty="0"/>
              <a:t>   	- Monospace - </a:t>
            </a:r>
            <a:r>
              <a:rPr lang="en-US" altLang="en-US" sz="1600" dirty="0">
                <a:latin typeface="Courier New" panose="02070309020205020404" pitchFamily="49" charset="0"/>
              </a:rPr>
              <a:t>&lt;</a:t>
            </a:r>
            <a:r>
              <a:rPr lang="en-US" altLang="en-US" sz="1600" dirty="0" err="1">
                <a:latin typeface="Courier New" panose="02070309020205020404" pitchFamily="49" charset="0"/>
              </a:rPr>
              <a:t>tt</a:t>
            </a:r>
            <a:r>
              <a:rPr lang="en-US" altLang="en-US" sz="1600" dirty="0">
                <a:latin typeface="Courier New" panose="02070309020205020404" pitchFamily="49" charset="0"/>
              </a:rPr>
              <a:t>&gt;</a:t>
            </a:r>
            <a:endParaRPr lang="en-IN" b="1" dirty="0"/>
          </a:p>
          <a:p>
            <a:endParaRPr lang="en-IN" dirty="0"/>
          </a:p>
          <a:p>
            <a:r>
              <a:rPr lang="en-IN" dirty="0"/>
              <a:t>	</a:t>
            </a:r>
            <a:r>
              <a:rPr lang="en-IN" i="1" dirty="0"/>
              <a:t>content-based style tags</a:t>
            </a:r>
          </a:p>
          <a:p>
            <a:r>
              <a:rPr lang="en-IN" dirty="0"/>
              <a:t>		</a:t>
            </a:r>
            <a:r>
              <a:rPr lang="en-US" dirty="0"/>
              <a:t>emphasis tag,  - &lt;</a:t>
            </a:r>
            <a:r>
              <a:rPr lang="en-US" dirty="0" err="1"/>
              <a:t>em</a:t>
            </a:r>
            <a:r>
              <a:rPr lang="en-US" dirty="0"/>
              <a:t>&gt; - display the text in italics</a:t>
            </a:r>
          </a:p>
          <a:p>
            <a:r>
              <a:rPr lang="en-US" dirty="0"/>
              <a:t>		the strong tag, - &lt;strong&gt; - display the text in bold</a:t>
            </a:r>
          </a:p>
          <a:p>
            <a:r>
              <a:rPr lang="en-US" dirty="0"/>
              <a:t>		code tag -  </a:t>
            </a:r>
            <a:r>
              <a:rPr lang="en-US" dirty="0">
                <a:solidFill>
                  <a:srgbClr val="00B0F0"/>
                </a:solidFill>
              </a:rPr>
              <a:t>&lt;code&gt; cost = quantity * price &lt;/code&gt;</a:t>
            </a:r>
            <a:endParaRPr lang="en-IN" dirty="0">
              <a:solidFill>
                <a:srgbClr val="00B0F0"/>
              </a:solidFill>
            </a:endParaRPr>
          </a:p>
        </p:txBody>
      </p:sp>
    </p:spTree>
    <p:extLst>
      <p:ext uri="{BB962C8B-B14F-4D97-AF65-F5344CB8AC3E}">
        <p14:creationId xmlns:p14="http://schemas.microsoft.com/office/powerpoint/2010/main" val="1523866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A915-9A18-30E7-3B7D-25D2CFE0F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F902BD-2CEC-BF31-2D25-5E3F25516D4A}"/>
              </a:ext>
            </a:extLst>
          </p:cNvPr>
          <p:cNvSpPr txBox="1"/>
          <p:nvPr/>
        </p:nvSpPr>
        <p:spPr>
          <a:xfrm>
            <a:off x="484094" y="367553"/>
            <a:ext cx="11205882" cy="4431983"/>
          </a:xfrm>
          <a:prstGeom prst="rect">
            <a:avLst/>
          </a:prstGeom>
          <a:noFill/>
        </p:spPr>
        <p:txBody>
          <a:bodyPr wrap="square" rtlCol="0">
            <a:spAutoFit/>
          </a:bodyPr>
          <a:lstStyle/>
          <a:p>
            <a:r>
              <a:rPr lang="en-US" sz="2800" dirty="0"/>
              <a:t>Continued…</a:t>
            </a:r>
            <a:endParaRPr lang="en-US" dirty="0"/>
          </a:p>
          <a:p>
            <a:endParaRPr lang="en-US" dirty="0"/>
          </a:p>
          <a:p>
            <a:pPr marL="342900" indent="-342900">
              <a:buFont typeface="Arial" panose="020B0604020202020204" pitchFamily="34" charset="0"/>
              <a:buChar char="•"/>
            </a:pPr>
            <a:r>
              <a:rPr lang="en-US" sz="2000" dirty="0"/>
              <a:t> Subscript and superscript characters can be specified by the &lt;sub&gt; and &lt;sup&gt; tags, respectively.</a:t>
            </a:r>
            <a:endParaRPr lang="en-US"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X&lt;sub&gt;2&lt;/sub&gt;&lt;sup&gt;3&lt;/sup&gt; + y&lt;sub&gt;1&lt;/sub&gt;&lt;sup&gt;2&lt;/sup&gt;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A </a:t>
            </a:r>
            <a:r>
              <a:rPr lang="en-US" dirty="0">
                <a:solidFill>
                  <a:srgbClr val="FF0000"/>
                </a:solidFill>
              </a:rPr>
              <a:t>block</a:t>
            </a:r>
            <a:r>
              <a:rPr lang="en-US" dirty="0"/>
              <a:t> tag breaks the current line so that its content appears on a new line - </a:t>
            </a:r>
            <a:r>
              <a:rPr lang="en-US" dirty="0">
                <a:solidFill>
                  <a:srgbClr val="FF0000"/>
                </a:solidFill>
              </a:rPr>
              <a:t>heading</a:t>
            </a:r>
            <a:r>
              <a:rPr lang="en-US" dirty="0"/>
              <a:t> and </a:t>
            </a:r>
            <a:r>
              <a:rPr lang="en-US" dirty="0">
                <a:solidFill>
                  <a:srgbClr val="FF0000"/>
                </a:solidFill>
              </a:rPr>
              <a:t>&lt;blockquote&gt; </a:t>
            </a:r>
            <a:r>
              <a:rPr lang="en-US" dirty="0"/>
              <a:t>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an </a:t>
            </a:r>
            <a:r>
              <a:rPr lang="en-US" dirty="0">
                <a:solidFill>
                  <a:srgbClr val="FF0000"/>
                </a:solidFill>
              </a:rPr>
              <a:t>inline</a:t>
            </a:r>
            <a:r>
              <a:rPr lang="en-US" dirty="0"/>
              <a:t> tag does not implicitly include a line break. its entire purpose is to insert a line break in the content - &lt;</a:t>
            </a:r>
            <a:r>
              <a:rPr lang="en-US" dirty="0" err="1"/>
              <a:t>em</a:t>
            </a:r>
            <a:r>
              <a:rPr lang="en-US" dirty="0"/>
              <a:t>&gt; and &lt;strong&gt; </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Block elements CANNOT be nested in inline elements</a:t>
            </a:r>
          </a:p>
          <a:p>
            <a:pPr marL="285750" indent="-285750">
              <a:buFont typeface="Arial" panose="020B0604020202020204" pitchFamily="34" charset="0"/>
              <a:buChar char="•"/>
            </a:pPr>
            <a:endParaRPr lang="en-IN" dirty="0"/>
          </a:p>
          <a:p>
            <a:endParaRPr lang="en-IN" dirty="0"/>
          </a:p>
          <a:p>
            <a:endParaRPr lang="en-IN" dirty="0"/>
          </a:p>
        </p:txBody>
      </p:sp>
      <p:pic>
        <p:nvPicPr>
          <p:cNvPr id="4" name="Picture 3">
            <a:extLst>
              <a:ext uri="{FF2B5EF4-FFF2-40B4-BE49-F238E27FC236}">
                <a16:creationId xmlns:a16="http://schemas.microsoft.com/office/drawing/2014/main" id="{B9788BF9-B326-FA2B-7186-3586018EACD9}"/>
              </a:ext>
            </a:extLst>
          </p:cNvPr>
          <p:cNvPicPr>
            <a:picLocks noChangeAspect="1"/>
          </p:cNvPicPr>
          <p:nvPr/>
        </p:nvPicPr>
        <p:blipFill>
          <a:blip r:embed="rId2"/>
          <a:stretch>
            <a:fillRect/>
          </a:stretch>
        </p:blipFill>
        <p:spPr>
          <a:xfrm>
            <a:off x="8605783" y="1582790"/>
            <a:ext cx="771633" cy="590632"/>
          </a:xfrm>
          <a:prstGeom prst="rect">
            <a:avLst/>
          </a:prstGeom>
        </p:spPr>
      </p:pic>
    </p:spTree>
    <p:extLst>
      <p:ext uri="{BB962C8B-B14F-4D97-AF65-F5344CB8AC3E}">
        <p14:creationId xmlns:p14="http://schemas.microsoft.com/office/powerpoint/2010/main" val="22214495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709A3-89A6-BEED-8FF9-7CB0F9A4C7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864BE6-148F-C98B-7829-D204DC986CF6}"/>
              </a:ext>
            </a:extLst>
          </p:cNvPr>
          <p:cNvSpPr txBox="1"/>
          <p:nvPr/>
        </p:nvSpPr>
        <p:spPr>
          <a:xfrm>
            <a:off x="493059" y="367553"/>
            <a:ext cx="11205882" cy="5816977"/>
          </a:xfrm>
          <a:prstGeom prst="rect">
            <a:avLst/>
          </a:prstGeom>
          <a:noFill/>
        </p:spPr>
        <p:txBody>
          <a:bodyPr wrap="square" rtlCol="0">
            <a:spAutoFit/>
          </a:bodyPr>
          <a:lstStyle/>
          <a:p>
            <a:r>
              <a:rPr lang="en-US" sz="2800" dirty="0"/>
              <a:t>Continued…</a:t>
            </a:r>
            <a:endParaRPr lang="en-US" dirty="0"/>
          </a:p>
          <a:p>
            <a:endParaRPr lang="en-US" dirty="0"/>
          </a:p>
          <a:p>
            <a:r>
              <a:rPr lang="en-US" sz="2000" dirty="0"/>
              <a:t>7. </a:t>
            </a:r>
            <a:r>
              <a:rPr lang="en-IN" dirty="0"/>
              <a:t>Character Entities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nSpc>
                <a:spcPct val="100000"/>
              </a:lnSpc>
            </a:pPr>
            <a:r>
              <a:rPr lang="en-US" altLang="en-US" dirty="0"/>
              <a:t>8. Horizontal rules</a:t>
            </a:r>
          </a:p>
          <a:p>
            <a:pPr>
              <a:lnSpc>
                <a:spcPct val="100000"/>
              </a:lnSpc>
            </a:pPr>
            <a:r>
              <a:rPr lang="en-US" altLang="en-US" dirty="0"/>
              <a:t>      - </a:t>
            </a:r>
            <a:r>
              <a:rPr lang="en-US" altLang="en-US" sz="1600" dirty="0">
                <a:latin typeface="Courier New" panose="02070309020205020404" pitchFamily="49" charset="0"/>
              </a:rPr>
              <a:t>&lt;</a:t>
            </a:r>
            <a:r>
              <a:rPr lang="en-US" altLang="en-US" sz="1600" dirty="0" err="1">
                <a:latin typeface="Courier New" panose="02070309020205020404" pitchFamily="49" charset="0"/>
              </a:rPr>
              <a:t>hr</a:t>
            </a:r>
            <a:r>
              <a:rPr lang="en-US" altLang="en-US" sz="1600" dirty="0">
                <a:latin typeface="Courier New" panose="02070309020205020404" pitchFamily="49" charset="0"/>
              </a:rPr>
              <a:t> /&gt;</a:t>
            </a:r>
            <a:r>
              <a:rPr lang="en-US" altLang="en-US" dirty="0"/>
              <a:t> draws a line across the display, after a line break</a:t>
            </a:r>
          </a:p>
          <a:p>
            <a:endParaRPr lang="en-IN" dirty="0"/>
          </a:p>
          <a:p>
            <a:endParaRPr lang="en-US" dirty="0"/>
          </a:p>
          <a:p>
            <a:endParaRPr lang="en-IN" dirty="0"/>
          </a:p>
        </p:txBody>
      </p:sp>
      <p:pic>
        <p:nvPicPr>
          <p:cNvPr id="4" name="Picture 3">
            <a:extLst>
              <a:ext uri="{FF2B5EF4-FFF2-40B4-BE49-F238E27FC236}">
                <a16:creationId xmlns:a16="http://schemas.microsoft.com/office/drawing/2014/main" id="{E98132C8-1515-6482-BF72-E426A59337E2}"/>
              </a:ext>
            </a:extLst>
          </p:cNvPr>
          <p:cNvPicPr>
            <a:picLocks noChangeAspect="1"/>
          </p:cNvPicPr>
          <p:nvPr/>
        </p:nvPicPr>
        <p:blipFill>
          <a:blip r:embed="rId2"/>
          <a:stretch>
            <a:fillRect/>
          </a:stretch>
        </p:blipFill>
        <p:spPr>
          <a:xfrm>
            <a:off x="3216177" y="367553"/>
            <a:ext cx="5882999" cy="4159529"/>
          </a:xfrm>
          <a:prstGeom prst="rect">
            <a:avLst/>
          </a:prstGeom>
        </p:spPr>
      </p:pic>
    </p:spTree>
    <p:extLst>
      <p:ext uri="{BB962C8B-B14F-4D97-AF65-F5344CB8AC3E}">
        <p14:creationId xmlns:p14="http://schemas.microsoft.com/office/powerpoint/2010/main" val="24232039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037E0-CB9C-D4D5-F210-2A18B48118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7ADB87-01BC-DCEF-65F3-89CEE83AC0D2}"/>
              </a:ext>
            </a:extLst>
          </p:cNvPr>
          <p:cNvSpPr txBox="1"/>
          <p:nvPr/>
        </p:nvSpPr>
        <p:spPr>
          <a:xfrm>
            <a:off x="484094" y="367553"/>
            <a:ext cx="11205882" cy="5262979"/>
          </a:xfrm>
          <a:prstGeom prst="rect">
            <a:avLst/>
          </a:prstGeom>
          <a:noFill/>
        </p:spPr>
        <p:txBody>
          <a:bodyPr wrap="square" rtlCol="0">
            <a:spAutoFit/>
          </a:bodyPr>
          <a:lstStyle/>
          <a:p>
            <a:r>
              <a:rPr lang="en-US" sz="2800" dirty="0"/>
              <a:t>Continued…</a:t>
            </a:r>
            <a:endParaRPr lang="en-US" dirty="0"/>
          </a:p>
          <a:p>
            <a:endParaRPr lang="en-US" dirty="0"/>
          </a:p>
          <a:p>
            <a:r>
              <a:rPr lang="en-US" sz="2000" dirty="0"/>
              <a:t>9. </a:t>
            </a:r>
            <a:r>
              <a:rPr lang="en-US" dirty="0"/>
              <a:t>Uses of the meta Element</a:t>
            </a:r>
          </a:p>
          <a:p>
            <a:r>
              <a:rPr lang="en-US" dirty="0"/>
              <a:t>	It is often used to provide information about the document, primarily for search engines.</a:t>
            </a:r>
          </a:p>
          <a:p>
            <a:endParaRPr lang="en-US" dirty="0"/>
          </a:p>
          <a:p>
            <a:r>
              <a:rPr lang="en-US" dirty="0"/>
              <a:t>	The two attributes that are used for this are </a:t>
            </a:r>
            <a:r>
              <a:rPr lang="en-US" dirty="0">
                <a:solidFill>
                  <a:srgbClr val="FF0000"/>
                </a:solidFill>
              </a:rPr>
              <a:t>name</a:t>
            </a:r>
            <a:r>
              <a:rPr lang="en-US" dirty="0"/>
              <a:t> and </a:t>
            </a:r>
            <a:r>
              <a:rPr lang="en-US" dirty="0">
                <a:solidFill>
                  <a:srgbClr val="FF0000"/>
                </a:solidFill>
              </a:rPr>
              <a:t>content</a:t>
            </a:r>
          </a:p>
          <a:p>
            <a:endParaRPr lang="en-US" dirty="0">
              <a:solidFill>
                <a:srgbClr val="FF0000"/>
              </a:solidFill>
            </a:endParaRPr>
          </a:p>
          <a:p>
            <a:r>
              <a:rPr lang="en-US" dirty="0">
                <a:solidFill>
                  <a:srgbClr val="FF0000"/>
                </a:solidFill>
              </a:rPr>
              <a:t>	 &lt;meta name = "keywords"  content = "binary trees, linked lists, stacks" /&gt;</a:t>
            </a:r>
          </a:p>
          <a:p>
            <a:endParaRPr lang="en-US" dirty="0"/>
          </a:p>
          <a:p>
            <a:pPr lvl="1" algn="just"/>
            <a:r>
              <a:rPr lang="en-US" dirty="0"/>
              <a:t>Web search engines use the information provided with the meta element to categorize Web documents in their indices. </a:t>
            </a:r>
          </a:p>
          <a:p>
            <a:pPr lvl="1" algn="just"/>
            <a:endParaRPr lang="en-US" dirty="0"/>
          </a:p>
          <a:p>
            <a:pPr lvl="1" algn="just"/>
            <a:r>
              <a:rPr lang="en-US" dirty="0"/>
              <a:t>So, if the author of a document seeks widespread exposure for the document, one or more meta elements are included to ensure that it will be found by Web search engines.</a:t>
            </a:r>
          </a:p>
          <a:p>
            <a:pPr lvl="1" algn="just"/>
            <a:endParaRPr lang="en-US" dirty="0"/>
          </a:p>
          <a:p>
            <a:pPr lvl="1" algn="just"/>
            <a:r>
              <a:rPr lang="en-IN" dirty="0"/>
              <a:t> &lt;meta name = "Title" content = "Don Quixote" /&gt;</a:t>
            </a:r>
          </a:p>
          <a:p>
            <a:pPr lvl="1" algn="just"/>
            <a:r>
              <a:rPr lang="en-IN" dirty="0"/>
              <a:t> &lt;meta name = "Author"  content = "Miguel Cervantes" /&gt;</a:t>
            </a:r>
          </a:p>
          <a:p>
            <a:pPr lvl="1" algn="just"/>
            <a:r>
              <a:rPr lang="en-IN" dirty="0"/>
              <a:t> &lt;meta  name = "keywords"  content = "novel, Spanish literature, groundbreaking work" /&gt;</a:t>
            </a:r>
          </a:p>
        </p:txBody>
      </p:sp>
    </p:spTree>
    <p:extLst>
      <p:ext uri="{BB962C8B-B14F-4D97-AF65-F5344CB8AC3E}">
        <p14:creationId xmlns:p14="http://schemas.microsoft.com/office/powerpoint/2010/main" val="1950950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26281-5795-4AA7-2736-68F13B70F0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CBD3FA-4255-6BE2-EA95-E0FBF7BED2C1}"/>
              </a:ext>
            </a:extLst>
          </p:cNvPr>
          <p:cNvSpPr txBox="1"/>
          <p:nvPr/>
        </p:nvSpPr>
        <p:spPr>
          <a:xfrm>
            <a:off x="484094" y="367553"/>
            <a:ext cx="11205882" cy="4370427"/>
          </a:xfrm>
          <a:prstGeom prst="rect">
            <a:avLst/>
          </a:prstGeom>
          <a:noFill/>
        </p:spPr>
        <p:txBody>
          <a:bodyPr wrap="square" rtlCol="0">
            <a:spAutoFit/>
          </a:bodyPr>
          <a:lstStyle/>
          <a:p>
            <a:r>
              <a:rPr lang="en-US" altLang="en-US" sz="2800" dirty="0"/>
              <a:t>Images</a:t>
            </a:r>
            <a:endParaRPr lang="en-US" dirty="0"/>
          </a:p>
          <a:p>
            <a:endParaRPr lang="en-US" dirty="0"/>
          </a:p>
          <a:p>
            <a:r>
              <a:rPr lang="en-US" altLang="en-US" sz="2000" b="1" dirty="0"/>
              <a:t>GIF</a:t>
            </a:r>
            <a:r>
              <a:rPr lang="en-US" altLang="en-US" sz="2000" dirty="0"/>
              <a:t> (Graphic Interchange Format)</a:t>
            </a:r>
          </a:p>
          <a:p>
            <a:pPr marL="800100" lvl="1" indent="-342900">
              <a:buFont typeface="Arial" panose="020B0604020202020204" pitchFamily="34" charset="0"/>
              <a:buChar char="•"/>
            </a:pPr>
            <a:r>
              <a:rPr lang="en-US" altLang="en-US" sz="2000" dirty="0"/>
              <a:t>8-bit color (256 different colors)</a:t>
            </a:r>
          </a:p>
          <a:p>
            <a:endParaRPr lang="en-US" altLang="en-US" sz="2000" dirty="0"/>
          </a:p>
          <a:p>
            <a:r>
              <a:rPr lang="en-US" altLang="en-US" sz="2000" b="1" dirty="0"/>
              <a:t>JPEG</a:t>
            </a:r>
            <a:r>
              <a:rPr lang="en-US" altLang="en-US" sz="2000" dirty="0"/>
              <a:t> (Joint Photographic Experts Group)</a:t>
            </a:r>
          </a:p>
          <a:p>
            <a:pPr marL="800100" lvl="1" indent="-342900">
              <a:buFont typeface="Arial" panose="020B0604020202020204" pitchFamily="34" charset="0"/>
              <a:buChar char="•"/>
            </a:pPr>
            <a:r>
              <a:rPr lang="en-US" altLang="en-US" sz="2000" dirty="0"/>
              <a:t>24-bit color (16 million different colors)</a:t>
            </a:r>
          </a:p>
          <a:p>
            <a:endParaRPr lang="en-US" altLang="en-US" sz="2000" dirty="0"/>
          </a:p>
          <a:p>
            <a:r>
              <a:rPr lang="en-US" altLang="en-US" sz="2000" dirty="0"/>
              <a:t>Both use compression, but JPEG compression is better</a:t>
            </a:r>
          </a:p>
          <a:p>
            <a:r>
              <a:rPr lang="en-US" altLang="en-US" sz="2000" dirty="0"/>
              <a:t>Transparency is good in GIF images</a:t>
            </a:r>
          </a:p>
          <a:p>
            <a:endParaRPr lang="en-US" dirty="0"/>
          </a:p>
          <a:p>
            <a:r>
              <a:rPr lang="en-US" altLang="en-US" b="1" dirty="0"/>
              <a:t>Portable Network Graphics (PNG)</a:t>
            </a:r>
          </a:p>
          <a:p>
            <a:r>
              <a:rPr lang="en-US" altLang="en-US" dirty="0"/>
              <a:t>      - Relatively new</a:t>
            </a:r>
          </a:p>
          <a:p>
            <a:r>
              <a:rPr lang="en-US" altLang="en-US" dirty="0"/>
              <a:t>      - Should eventually replace both gif and jpeg</a:t>
            </a:r>
            <a:endParaRPr lang="en-IN" dirty="0"/>
          </a:p>
        </p:txBody>
      </p:sp>
    </p:spTree>
    <p:extLst>
      <p:ext uri="{BB962C8B-B14F-4D97-AF65-F5344CB8AC3E}">
        <p14:creationId xmlns:p14="http://schemas.microsoft.com/office/powerpoint/2010/main" val="480788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61345-E7CF-A78E-4590-75CB966034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A2012A-9A20-7662-91D1-9FBBEADFF3DA}"/>
              </a:ext>
            </a:extLst>
          </p:cNvPr>
          <p:cNvSpPr txBox="1"/>
          <p:nvPr/>
        </p:nvSpPr>
        <p:spPr>
          <a:xfrm>
            <a:off x="484094" y="367553"/>
            <a:ext cx="11205882" cy="3816429"/>
          </a:xfrm>
          <a:prstGeom prst="rect">
            <a:avLst/>
          </a:prstGeom>
          <a:noFill/>
        </p:spPr>
        <p:txBody>
          <a:bodyPr wrap="square" rtlCol="0">
            <a:spAutoFit/>
          </a:bodyPr>
          <a:lstStyle/>
          <a:p>
            <a:r>
              <a:rPr lang="en-IN" sz="2800" dirty="0"/>
              <a:t>The Image Element</a:t>
            </a:r>
            <a:endParaRPr lang="en-US" dirty="0"/>
          </a:p>
          <a:p>
            <a:endParaRPr lang="en-US" dirty="0"/>
          </a:p>
          <a:p>
            <a:r>
              <a:rPr lang="en-US" sz="2000" dirty="0"/>
              <a:t>Images are inserted into a document with the &lt;</a:t>
            </a:r>
            <a:r>
              <a:rPr lang="en-US" sz="2000" dirty="0" err="1"/>
              <a:t>img</a:t>
            </a:r>
            <a:r>
              <a:rPr lang="en-US" sz="2000" dirty="0"/>
              <a:t> /&gt; tag with the </a:t>
            </a:r>
            <a:r>
              <a:rPr lang="en-US" sz="2000" dirty="0" err="1"/>
              <a:t>src</a:t>
            </a:r>
            <a:r>
              <a:rPr lang="en-US" sz="2000" dirty="0"/>
              <a:t> attribute</a:t>
            </a:r>
          </a:p>
          <a:p>
            <a:endParaRPr lang="en-US" sz="2000" dirty="0"/>
          </a:p>
          <a:p>
            <a:r>
              <a:rPr lang="en-US" sz="2000" dirty="0"/>
              <a:t>      - The alt attribute is required by XHTML</a:t>
            </a:r>
          </a:p>
          <a:p>
            <a:r>
              <a:rPr lang="en-US" sz="2000" dirty="0"/>
              <a:t>         - Purposes:</a:t>
            </a:r>
          </a:p>
          <a:p>
            <a:r>
              <a:rPr lang="en-US" sz="2000" dirty="0"/>
              <a:t>            1. Non-graphical browsers</a:t>
            </a:r>
          </a:p>
          <a:p>
            <a:r>
              <a:rPr lang="en-US" sz="2000" dirty="0"/>
              <a:t>            2. Browsers with images turned off</a:t>
            </a:r>
          </a:p>
          <a:p>
            <a:endParaRPr lang="en-US" sz="2000" dirty="0"/>
          </a:p>
          <a:p>
            <a:r>
              <a:rPr lang="en-US" sz="2000" dirty="0"/>
              <a:t>      &lt;</a:t>
            </a:r>
            <a:r>
              <a:rPr lang="en-US" sz="2000" dirty="0" err="1"/>
              <a:t>img</a:t>
            </a:r>
            <a:r>
              <a:rPr lang="en-US" sz="2000" dirty="0"/>
              <a:t> </a:t>
            </a:r>
            <a:r>
              <a:rPr lang="en-US" sz="2000" dirty="0" err="1"/>
              <a:t>src</a:t>
            </a:r>
            <a:r>
              <a:rPr lang="en-US" sz="2000" dirty="0"/>
              <a:t> = "comets.jpg" alt = "Picture of comets" /&gt;</a:t>
            </a:r>
          </a:p>
          <a:p>
            <a:endParaRPr lang="en-US" dirty="0"/>
          </a:p>
          <a:p>
            <a:endParaRPr lang="en-IN" dirty="0"/>
          </a:p>
        </p:txBody>
      </p:sp>
    </p:spTree>
    <p:extLst>
      <p:ext uri="{BB962C8B-B14F-4D97-AF65-F5344CB8AC3E}">
        <p14:creationId xmlns:p14="http://schemas.microsoft.com/office/powerpoint/2010/main" val="2851679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4017-6A42-9194-AF63-A5462FD2C9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9086D8-7CC4-C76F-B392-5CE64A679B9E}"/>
              </a:ext>
            </a:extLst>
          </p:cNvPr>
          <p:cNvSpPr txBox="1"/>
          <p:nvPr/>
        </p:nvSpPr>
        <p:spPr>
          <a:xfrm>
            <a:off x="484094" y="367553"/>
            <a:ext cx="11205882" cy="6401753"/>
          </a:xfrm>
          <a:prstGeom prst="rect">
            <a:avLst/>
          </a:prstGeom>
          <a:noFill/>
        </p:spPr>
        <p:txBody>
          <a:bodyPr wrap="square" rtlCol="0">
            <a:spAutoFit/>
          </a:bodyPr>
          <a:lstStyle/>
          <a:p>
            <a:r>
              <a:rPr lang="en-US" sz="2800" dirty="0"/>
              <a:t>Continued…</a:t>
            </a:r>
            <a:endParaRPr lang="en-US" dirty="0"/>
          </a:p>
          <a:p>
            <a:r>
              <a:rPr lang="en-US" sz="1400" dirty="0"/>
              <a:t>&lt;!DOCTYPE html&gt;</a:t>
            </a:r>
          </a:p>
          <a:p>
            <a:r>
              <a:rPr lang="en-US" sz="1400" dirty="0"/>
              <a:t> &lt;!-- image.html</a:t>
            </a:r>
          </a:p>
          <a:p>
            <a:r>
              <a:rPr lang="en-US" sz="1400" dirty="0"/>
              <a:t>     An example to illustrate an image</a:t>
            </a:r>
          </a:p>
          <a:p>
            <a:r>
              <a:rPr lang="en-US" sz="1400" dirty="0"/>
              <a:t>     --&gt;</a:t>
            </a:r>
          </a:p>
          <a:p>
            <a:r>
              <a:rPr lang="en-US" sz="1400" dirty="0"/>
              <a:t> &lt;html lang = "</a:t>
            </a:r>
            <a:r>
              <a:rPr lang="en-US" sz="1400" dirty="0" err="1"/>
              <a:t>en</a:t>
            </a:r>
            <a:r>
              <a:rPr lang="en-US" sz="1400" dirty="0"/>
              <a:t>"&gt;</a:t>
            </a:r>
          </a:p>
          <a:p>
            <a:r>
              <a:rPr lang="en-US" sz="1400" dirty="0"/>
              <a:t>  &lt;head&gt; </a:t>
            </a:r>
          </a:p>
          <a:p>
            <a:r>
              <a:rPr lang="en-US" sz="1400" dirty="0"/>
              <a:t>    &lt;title&gt; Images &lt;/title&gt;</a:t>
            </a:r>
          </a:p>
          <a:p>
            <a:r>
              <a:rPr lang="en-US" sz="1400" dirty="0"/>
              <a:t>    &lt;meta charset = "utf-8" /&gt;</a:t>
            </a:r>
          </a:p>
          <a:p>
            <a:r>
              <a:rPr lang="en-US" sz="1400" dirty="0"/>
              <a:t>  &lt;/head&gt;</a:t>
            </a:r>
          </a:p>
          <a:p>
            <a:r>
              <a:rPr lang="en-US" sz="1400" dirty="0"/>
              <a:t>  &lt;body&gt;</a:t>
            </a:r>
          </a:p>
          <a:p>
            <a:r>
              <a:rPr lang="en-US" sz="1400" dirty="0"/>
              <a:t>    &lt;h1&gt; Aidan's Airplanes &lt;/h1&gt;</a:t>
            </a:r>
          </a:p>
          <a:p>
            <a:r>
              <a:rPr lang="en-US" sz="1400" dirty="0"/>
              <a:t>    &lt;h2&gt; The best in used airplanes &lt;/h2&gt;</a:t>
            </a:r>
          </a:p>
          <a:p>
            <a:r>
              <a:rPr lang="en-US" sz="1400" dirty="0"/>
              <a:t>    &lt;h3&gt; "We've got them by the </a:t>
            </a:r>
            <a:r>
              <a:rPr lang="en-US" sz="1400" dirty="0" err="1"/>
              <a:t>hangarful</a:t>
            </a:r>
            <a:r>
              <a:rPr lang="en-US" sz="1400" dirty="0"/>
              <a:t>" &lt;/h3&gt;</a:t>
            </a:r>
          </a:p>
          <a:p>
            <a:r>
              <a:rPr lang="en-US" sz="1400" dirty="0"/>
              <a:t>    &lt;h2&gt; Special of the month &lt;/h2&gt;</a:t>
            </a:r>
          </a:p>
          <a:p>
            <a:r>
              <a:rPr lang="en-US" sz="1400" dirty="0"/>
              <a:t>    &lt;p&gt;</a:t>
            </a:r>
          </a:p>
          <a:p>
            <a:r>
              <a:rPr lang="en-US" sz="1400" dirty="0"/>
              <a:t>      1960 Cessna 210 &lt;</a:t>
            </a:r>
            <a:r>
              <a:rPr lang="en-US" sz="1400" dirty="0" err="1"/>
              <a:t>br</a:t>
            </a:r>
            <a:r>
              <a:rPr lang="en-US" sz="1400" dirty="0"/>
              <a:t> /&gt;</a:t>
            </a:r>
          </a:p>
          <a:p>
            <a:r>
              <a:rPr lang="en-US" sz="1400" dirty="0"/>
              <a:t>      577 hours since major engine overhaul&lt;</a:t>
            </a:r>
            <a:r>
              <a:rPr lang="en-US" sz="1400" dirty="0" err="1"/>
              <a:t>br</a:t>
            </a:r>
            <a:r>
              <a:rPr lang="en-US" sz="1400" dirty="0"/>
              <a:t> /&gt;</a:t>
            </a:r>
          </a:p>
          <a:p>
            <a:r>
              <a:rPr lang="en-US" sz="1400" dirty="0"/>
              <a:t>      1022 hours since prop overhaul &lt;</a:t>
            </a:r>
            <a:r>
              <a:rPr lang="en-US" sz="1400" dirty="0" err="1"/>
              <a:t>br</a:t>
            </a:r>
            <a:r>
              <a:rPr lang="en-US" sz="1400" dirty="0"/>
              <a:t> /&gt;&lt;</a:t>
            </a:r>
            <a:r>
              <a:rPr lang="en-US" sz="1400" dirty="0" err="1"/>
              <a:t>br</a:t>
            </a:r>
            <a:r>
              <a:rPr lang="en-US" sz="1400" dirty="0"/>
              <a:t> /&gt;</a:t>
            </a:r>
          </a:p>
          <a:p>
            <a:r>
              <a:rPr lang="en-US" sz="1400" dirty="0"/>
              <a:t>      &lt;</a:t>
            </a:r>
            <a:r>
              <a:rPr lang="en-US" sz="1400" dirty="0" err="1"/>
              <a:t>img</a:t>
            </a:r>
            <a:r>
              <a:rPr lang="en-US" sz="1400" dirty="0"/>
              <a:t> </a:t>
            </a:r>
            <a:r>
              <a:rPr lang="en-US" sz="1400" dirty="0" err="1"/>
              <a:t>src</a:t>
            </a:r>
            <a:r>
              <a:rPr lang="en-US" sz="1400" dirty="0"/>
              <a:t> =  "c210new.jpg"  alt = "Picture of a Cessna 210" /&gt;</a:t>
            </a:r>
          </a:p>
          <a:p>
            <a:r>
              <a:rPr lang="en-US" sz="1400" dirty="0"/>
              <a:t>      &lt;</a:t>
            </a:r>
            <a:r>
              <a:rPr lang="en-US" sz="1400" dirty="0" err="1"/>
              <a:t>br</a:t>
            </a:r>
            <a:r>
              <a:rPr lang="en-US" sz="1400" dirty="0"/>
              <a:t> /&gt;</a:t>
            </a:r>
          </a:p>
          <a:p>
            <a:r>
              <a:rPr lang="en-US" sz="1400" dirty="0"/>
              <a:t>      Buy this fine airplane today at a remarkably low price</a:t>
            </a:r>
          </a:p>
          <a:p>
            <a:r>
              <a:rPr lang="en-US" sz="1400" dirty="0"/>
              <a:t>      &lt;</a:t>
            </a:r>
            <a:r>
              <a:rPr lang="en-US" sz="1400" dirty="0" err="1"/>
              <a:t>br</a:t>
            </a:r>
            <a:r>
              <a:rPr lang="en-US" sz="1400" dirty="0"/>
              <a:t> /&gt;</a:t>
            </a:r>
          </a:p>
          <a:p>
            <a:r>
              <a:rPr lang="en-US" sz="1400" dirty="0"/>
              <a:t>      Call 999-555-1111 today!</a:t>
            </a:r>
          </a:p>
          <a:p>
            <a:r>
              <a:rPr lang="en-US" sz="1400" dirty="0"/>
              <a:t>    &lt;/p&gt;</a:t>
            </a:r>
          </a:p>
          <a:p>
            <a:r>
              <a:rPr lang="en-US" sz="1400" dirty="0"/>
              <a:t>  &lt;/body&gt;</a:t>
            </a:r>
          </a:p>
          <a:p>
            <a:r>
              <a:rPr lang="en-US" sz="1400" dirty="0"/>
              <a:t> &lt;/html&gt;</a:t>
            </a:r>
            <a:endParaRPr lang="en-US" sz="1200" dirty="0"/>
          </a:p>
          <a:p>
            <a:endParaRPr lang="en-IN" dirty="0"/>
          </a:p>
        </p:txBody>
      </p:sp>
      <p:pic>
        <p:nvPicPr>
          <p:cNvPr id="4" name="Picture 3">
            <a:extLst>
              <a:ext uri="{FF2B5EF4-FFF2-40B4-BE49-F238E27FC236}">
                <a16:creationId xmlns:a16="http://schemas.microsoft.com/office/drawing/2014/main" id="{A2B341B7-DE84-2F84-9760-72E9F7274F9C}"/>
              </a:ext>
            </a:extLst>
          </p:cNvPr>
          <p:cNvPicPr>
            <a:picLocks noChangeAspect="1"/>
          </p:cNvPicPr>
          <p:nvPr/>
        </p:nvPicPr>
        <p:blipFill>
          <a:blip r:embed="rId2"/>
          <a:stretch>
            <a:fillRect/>
          </a:stretch>
        </p:blipFill>
        <p:spPr>
          <a:xfrm>
            <a:off x="6255069" y="906791"/>
            <a:ext cx="4791744" cy="4667901"/>
          </a:xfrm>
          <a:prstGeom prst="rect">
            <a:avLst/>
          </a:prstGeom>
        </p:spPr>
      </p:pic>
    </p:spTree>
    <p:extLst>
      <p:ext uri="{BB962C8B-B14F-4D97-AF65-F5344CB8AC3E}">
        <p14:creationId xmlns:p14="http://schemas.microsoft.com/office/powerpoint/2010/main" val="406833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82E3A-FCEA-CB96-897F-4440E0ABD8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1B3971-0653-0D65-6499-011ABCF7B28E}"/>
              </a:ext>
            </a:extLst>
          </p:cNvPr>
          <p:cNvSpPr txBox="1"/>
          <p:nvPr/>
        </p:nvSpPr>
        <p:spPr>
          <a:xfrm>
            <a:off x="484094" y="367553"/>
            <a:ext cx="11205882" cy="5447645"/>
          </a:xfrm>
          <a:prstGeom prst="rect">
            <a:avLst/>
          </a:prstGeom>
          <a:noFill/>
        </p:spPr>
        <p:txBody>
          <a:bodyPr wrap="square" rtlCol="0">
            <a:spAutoFit/>
          </a:bodyPr>
          <a:lstStyle/>
          <a:p>
            <a:r>
              <a:rPr lang="en-IN" sz="2800" dirty="0"/>
              <a:t>XHTML Document Validation</a:t>
            </a:r>
            <a:endParaRPr lang="en-US" dirty="0"/>
          </a:p>
          <a:p>
            <a:endParaRPr lang="en-US" dirty="0"/>
          </a:p>
          <a:p>
            <a:pPr marL="342900" indent="-342900">
              <a:buFont typeface="Arial" panose="020B0604020202020204" pitchFamily="34" charset="0"/>
              <a:buChar char="•"/>
            </a:pPr>
            <a:r>
              <a:rPr lang="en-US" sz="2000" dirty="0"/>
              <a:t>For validation of the XHTML syntax of a document, we must make three temporary changes to the document.</a:t>
            </a:r>
          </a:p>
          <a:p>
            <a:endParaRPr lang="en-US" sz="2000" dirty="0"/>
          </a:p>
          <a:p>
            <a:pPr marL="342900" indent="-342900">
              <a:buFont typeface="Arial" panose="020B0604020202020204" pitchFamily="34" charset="0"/>
              <a:buChar char="•"/>
            </a:pPr>
            <a:r>
              <a:rPr lang="en-US" sz="2000" dirty="0"/>
              <a:t>First, we replace the HTML document type with the following XHTML 1.0 Strict standard document type:</a:t>
            </a:r>
          </a:p>
          <a:p>
            <a:endParaRPr lang="en-US" dirty="0"/>
          </a:p>
          <a:p>
            <a:r>
              <a:rPr lang="en-US" dirty="0"/>
              <a:t>	 &lt;!DOCTYPE html PUBLIC "-//W3C//DTD XHTML 1.0 Strict//EN"</a:t>
            </a:r>
          </a:p>
          <a:p>
            <a:r>
              <a:rPr lang="en-US" dirty="0"/>
              <a:t>  		"http://www.w3.org/TR/xhtml11/DTD/xhtml1-strict.dtd"&gt;</a:t>
            </a:r>
          </a:p>
          <a:p>
            <a:endParaRPr lang="en-US" dirty="0"/>
          </a:p>
          <a:p>
            <a:pPr marL="342900" indent="-342900">
              <a:buFont typeface="Arial" panose="020B0604020202020204" pitchFamily="34" charset="0"/>
              <a:buChar char="•"/>
            </a:pPr>
            <a:r>
              <a:rPr lang="en-US" sz="2000" dirty="0"/>
              <a:t>Second, we must add the following attribute to the html element:</a:t>
            </a:r>
          </a:p>
          <a:p>
            <a:endParaRPr lang="en-US" dirty="0"/>
          </a:p>
          <a:p>
            <a:r>
              <a:rPr lang="en-US" dirty="0"/>
              <a:t>	</a:t>
            </a:r>
            <a:r>
              <a:rPr lang="fr-FR" dirty="0" err="1"/>
              <a:t>xmlns</a:t>
            </a:r>
            <a:r>
              <a:rPr lang="fr-FR" dirty="0"/>
              <a:t> = </a:t>
            </a:r>
            <a:r>
              <a:rPr lang="fr-FR" dirty="0">
                <a:hlinkClick r:id="rId2"/>
              </a:rPr>
              <a:t>http://www.w3.org/1999/xhtml</a:t>
            </a:r>
            <a:endParaRPr lang="fr-FR" dirty="0"/>
          </a:p>
          <a:p>
            <a:endParaRPr lang="en-IN" dirty="0"/>
          </a:p>
          <a:p>
            <a:pPr marL="342900" indent="-342900">
              <a:buFont typeface="Arial" panose="020B0604020202020204" pitchFamily="34" charset="0"/>
              <a:buChar char="•"/>
            </a:pPr>
            <a:r>
              <a:rPr lang="en-US" sz="2000" dirty="0"/>
              <a:t>Third, we must comment out the meta element, as in the following:</a:t>
            </a:r>
          </a:p>
          <a:p>
            <a:endParaRPr lang="en-US" dirty="0"/>
          </a:p>
          <a:p>
            <a:r>
              <a:rPr lang="en-US" dirty="0"/>
              <a:t>	 &lt;!-- &lt;meta charset = "utf-8" /&gt; --&gt;</a:t>
            </a:r>
            <a:endParaRPr lang="en-IN" dirty="0"/>
          </a:p>
        </p:txBody>
      </p:sp>
    </p:spTree>
    <p:extLst>
      <p:ext uri="{BB962C8B-B14F-4D97-AF65-F5344CB8AC3E}">
        <p14:creationId xmlns:p14="http://schemas.microsoft.com/office/powerpoint/2010/main" val="2586346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15A09-A0DB-E949-066B-DF7CC1739D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949789-6BEC-235B-7790-77B9DD3BBDA7}"/>
              </a:ext>
            </a:extLst>
          </p:cNvPr>
          <p:cNvSpPr txBox="1"/>
          <p:nvPr/>
        </p:nvSpPr>
        <p:spPr>
          <a:xfrm>
            <a:off x="484094" y="367553"/>
            <a:ext cx="11205882" cy="2308324"/>
          </a:xfrm>
          <a:prstGeom prst="rect">
            <a:avLst/>
          </a:prstGeom>
          <a:noFill/>
        </p:spPr>
        <p:txBody>
          <a:bodyPr wrap="square" rtlCol="0">
            <a:spAutoFit/>
          </a:bodyPr>
          <a:lstStyle/>
          <a:p>
            <a:r>
              <a:rPr lang="en-US" sz="2800" dirty="0"/>
              <a:t>Continued…</a:t>
            </a:r>
            <a:endParaRPr lang="en-US" dirty="0"/>
          </a:p>
          <a:p>
            <a:endParaRPr lang="en-US" dirty="0"/>
          </a:p>
          <a:p>
            <a:pPr marL="342900" indent="-342900" algn="just">
              <a:buFont typeface="Arial" panose="020B0604020202020204" pitchFamily="34" charset="0"/>
              <a:buChar char="•"/>
            </a:pPr>
            <a:r>
              <a:rPr lang="en-US" sz="2000" dirty="0"/>
              <a:t>After making these three temporary changes to a document, it can be validated with the Total Validator Tool, which provides a convenient way to validate documents against XHTML 1.0 Strict standard.</a:t>
            </a:r>
          </a:p>
          <a:p>
            <a:pPr marL="342900" indent="-342900" algn="just">
              <a:buFont typeface="Arial" panose="020B0604020202020204" pitchFamily="34" charset="0"/>
              <a:buChar char="•"/>
            </a:pPr>
            <a:r>
              <a:rPr lang="en-US" sz="2000" dirty="0"/>
              <a:t>The validator program is available at http://totalvalidator.com.</a:t>
            </a:r>
          </a:p>
          <a:p>
            <a:endParaRPr lang="en-IN" dirty="0"/>
          </a:p>
        </p:txBody>
      </p:sp>
      <p:pic>
        <p:nvPicPr>
          <p:cNvPr id="4" name="Picture 3">
            <a:extLst>
              <a:ext uri="{FF2B5EF4-FFF2-40B4-BE49-F238E27FC236}">
                <a16:creationId xmlns:a16="http://schemas.microsoft.com/office/drawing/2014/main" id="{22D74DC4-DC06-FBCF-5E18-D629F2389106}"/>
              </a:ext>
            </a:extLst>
          </p:cNvPr>
          <p:cNvPicPr>
            <a:picLocks noChangeAspect="1"/>
          </p:cNvPicPr>
          <p:nvPr/>
        </p:nvPicPr>
        <p:blipFill>
          <a:blip r:embed="rId2"/>
          <a:stretch>
            <a:fillRect/>
          </a:stretch>
        </p:blipFill>
        <p:spPr>
          <a:xfrm>
            <a:off x="1703452" y="2350230"/>
            <a:ext cx="3594689" cy="4009917"/>
          </a:xfrm>
          <a:prstGeom prst="rect">
            <a:avLst/>
          </a:prstGeom>
        </p:spPr>
      </p:pic>
      <p:pic>
        <p:nvPicPr>
          <p:cNvPr id="6" name="Picture 5">
            <a:extLst>
              <a:ext uri="{FF2B5EF4-FFF2-40B4-BE49-F238E27FC236}">
                <a16:creationId xmlns:a16="http://schemas.microsoft.com/office/drawing/2014/main" id="{121A16EA-299A-12B5-E06F-774C2D5F05B9}"/>
              </a:ext>
            </a:extLst>
          </p:cNvPr>
          <p:cNvPicPr>
            <a:picLocks noChangeAspect="1"/>
          </p:cNvPicPr>
          <p:nvPr/>
        </p:nvPicPr>
        <p:blipFill>
          <a:blip r:embed="rId3"/>
          <a:stretch>
            <a:fillRect/>
          </a:stretch>
        </p:blipFill>
        <p:spPr>
          <a:xfrm>
            <a:off x="5582191" y="2350229"/>
            <a:ext cx="4952759" cy="4009917"/>
          </a:xfrm>
          <a:prstGeom prst="rect">
            <a:avLst/>
          </a:prstGeom>
        </p:spPr>
      </p:pic>
    </p:spTree>
    <p:extLst>
      <p:ext uri="{BB962C8B-B14F-4D97-AF65-F5344CB8AC3E}">
        <p14:creationId xmlns:p14="http://schemas.microsoft.com/office/powerpoint/2010/main" val="2552853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889E-8AE4-56FA-3A66-6A87756629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C406F1-4B45-06B5-8BC3-65DF3C1B9AA6}"/>
              </a:ext>
            </a:extLst>
          </p:cNvPr>
          <p:cNvSpPr txBox="1"/>
          <p:nvPr/>
        </p:nvSpPr>
        <p:spPr>
          <a:xfrm>
            <a:off x="484094" y="367553"/>
            <a:ext cx="11205882" cy="5047536"/>
          </a:xfrm>
          <a:prstGeom prst="rect">
            <a:avLst/>
          </a:prstGeom>
          <a:noFill/>
        </p:spPr>
        <p:txBody>
          <a:bodyPr wrap="square" rtlCol="0">
            <a:spAutoFit/>
          </a:bodyPr>
          <a:lstStyle/>
          <a:p>
            <a:endParaRPr lang="en-US" dirty="0"/>
          </a:p>
          <a:p>
            <a:r>
              <a:rPr lang="en-US" altLang="en-US" sz="2800" dirty="0"/>
              <a:t>Hypertext Links</a:t>
            </a:r>
          </a:p>
          <a:p>
            <a:endParaRPr lang="en-US" altLang="en-US" sz="2000" dirty="0"/>
          </a:p>
          <a:p>
            <a:pPr algn="just"/>
            <a:r>
              <a:rPr lang="en-US" altLang="en-US" sz="2000" dirty="0"/>
              <a:t>   - Hypertext is the essence of the Web!</a:t>
            </a:r>
          </a:p>
          <a:p>
            <a:pPr algn="just"/>
            <a:endParaRPr lang="en-US" altLang="en-US" sz="2000" dirty="0"/>
          </a:p>
          <a:p>
            <a:pPr algn="just"/>
            <a:r>
              <a:rPr lang="en-US" altLang="en-US" sz="2000" dirty="0"/>
              <a:t>   - A link is specified with the </a:t>
            </a:r>
            <a:r>
              <a:rPr lang="en-US" altLang="en-US" dirty="0" err="1">
                <a:latin typeface="Courier New" panose="02070309020205020404" pitchFamily="49" charset="0"/>
              </a:rPr>
              <a:t>href</a:t>
            </a:r>
            <a:r>
              <a:rPr lang="en-US" altLang="en-US" sz="2000" dirty="0"/>
              <a:t> (</a:t>
            </a:r>
            <a:r>
              <a:rPr lang="en-US" altLang="en-US" sz="2000" i="1" dirty="0"/>
              <a:t>h</a:t>
            </a:r>
            <a:r>
              <a:rPr lang="en-US" altLang="en-US" sz="2000" dirty="0"/>
              <a:t>ypertext </a:t>
            </a:r>
            <a:r>
              <a:rPr lang="en-US" altLang="en-US" sz="2000" i="1" dirty="0"/>
              <a:t>ref</a:t>
            </a:r>
            <a:r>
              <a:rPr lang="en-US" altLang="en-US" sz="2000" dirty="0"/>
              <a:t>erence) attribute of </a:t>
            </a:r>
            <a:r>
              <a:rPr lang="en-US" altLang="en-US" dirty="0">
                <a:latin typeface="Courier New" panose="02070309020205020404" pitchFamily="49" charset="0"/>
              </a:rPr>
              <a:t>&lt;a&gt;</a:t>
            </a:r>
            <a:r>
              <a:rPr lang="en-US" altLang="en-US" sz="2000" dirty="0"/>
              <a:t> (the anchor tag)</a:t>
            </a:r>
          </a:p>
          <a:p>
            <a:pPr algn="just"/>
            <a:endParaRPr lang="en-US" altLang="en-US" sz="2000" dirty="0"/>
          </a:p>
          <a:p>
            <a:pPr algn="just"/>
            <a:r>
              <a:rPr lang="en-US" altLang="en-US" sz="2000" dirty="0"/>
              <a:t>     - The content of </a:t>
            </a:r>
            <a:r>
              <a:rPr lang="en-US" altLang="en-US" dirty="0">
                <a:latin typeface="Courier New" panose="02070309020205020404" pitchFamily="49" charset="0"/>
              </a:rPr>
              <a:t>&lt;a&gt;</a:t>
            </a:r>
            <a:r>
              <a:rPr lang="en-US" altLang="en-US" sz="2000" dirty="0"/>
              <a:t> is the visual link in the document</a:t>
            </a:r>
          </a:p>
          <a:p>
            <a:pPr algn="just"/>
            <a:endParaRPr lang="en-US" altLang="en-US" sz="2000" dirty="0"/>
          </a:p>
          <a:p>
            <a:pPr algn="just"/>
            <a:r>
              <a:rPr lang="en-US" altLang="en-US" sz="2000" dirty="0"/>
              <a:t>     - If the target is a whole document (not the one in which the link appears), the target need not be</a:t>
            </a:r>
          </a:p>
          <a:p>
            <a:pPr algn="just"/>
            <a:r>
              <a:rPr lang="en-US" altLang="en-US" sz="2000" dirty="0"/>
              <a:t>        specified in the target document as being the target</a:t>
            </a:r>
          </a:p>
          <a:p>
            <a:pPr algn="just"/>
            <a:endParaRPr lang="en-US" altLang="en-US" sz="2000" dirty="0"/>
          </a:p>
          <a:p>
            <a:pPr algn="just"/>
            <a:r>
              <a:rPr lang="en-US" altLang="en-US" sz="2000" dirty="0"/>
              <a:t>     - Note: Relative addressing of targets is easier to maintain and more portable than absolute</a:t>
            </a:r>
          </a:p>
          <a:p>
            <a:pPr algn="just"/>
            <a:r>
              <a:rPr lang="en-US" altLang="en-US" sz="2000" dirty="0"/>
              <a:t>                addressing</a:t>
            </a:r>
          </a:p>
          <a:p>
            <a:endParaRPr lang="en-US" dirty="0"/>
          </a:p>
          <a:p>
            <a:endParaRPr lang="en-IN" dirty="0"/>
          </a:p>
        </p:txBody>
      </p:sp>
    </p:spTree>
    <p:extLst>
      <p:ext uri="{BB962C8B-B14F-4D97-AF65-F5344CB8AC3E}">
        <p14:creationId xmlns:p14="http://schemas.microsoft.com/office/powerpoint/2010/main" val="8250140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2A908-968F-2EA0-73EB-D9F13112E6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1C7D1F-6566-D7C7-039E-BA6EBE3503F6}"/>
              </a:ext>
            </a:extLst>
          </p:cNvPr>
          <p:cNvSpPr txBox="1"/>
          <p:nvPr/>
        </p:nvSpPr>
        <p:spPr>
          <a:xfrm>
            <a:off x="484094" y="367553"/>
            <a:ext cx="11205882" cy="6340197"/>
          </a:xfrm>
          <a:prstGeom prst="rect">
            <a:avLst/>
          </a:prstGeom>
          <a:noFill/>
        </p:spPr>
        <p:txBody>
          <a:bodyPr wrap="square" rtlCol="0">
            <a:spAutoFit/>
          </a:bodyPr>
          <a:lstStyle/>
          <a:p>
            <a:r>
              <a:rPr lang="en-US" altLang="en-US" sz="2400" b="1" dirty="0"/>
              <a:t>Hypertext Links </a:t>
            </a:r>
            <a:r>
              <a:rPr lang="en-US" altLang="en-US" b="1" dirty="0"/>
              <a:t>(continued)</a:t>
            </a:r>
          </a:p>
          <a:p>
            <a:endParaRPr lang="en-US" altLang="en-US" sz="1200" dirty="0"/>
          </a:p>
          <a:p>
            <a:pPr algn="just"/>
            <a:r>
              <a:rPr lang="en-US" altLang="en-US" sz="1600" dirty="0"/>
              <a:t> - If the target is not at the beginning of the document, the target spot must be marked </a:t>
            </a:r>
          </a:p>
          <a:p>
            <a:pPr algn="just"/>
            <a:r>
              <a:rPr lang="en-US" altLang="en-US" sz="1600" dirty="0"/>
              <a:t>   </a:t>
            </a:r>
          </a:p>
          <a:p>
            <a:pPr algn="just"/>
            <a:r>
              <a:rPr lang="en-US" altLang="en-US" sz="1600" dirty="0"/>
              <a:t>- Target labels can be defined in many different tags with the </a:t>
            </a:r>
            <a:r>
              <a:rPr lang="en-US" altLang="en-US" sz="1400" dirty="0">
                <a:latin typeface="Courier New" panose="02070309020205020404" pitchFamily="49" charset="0"/>
              </a:rPr>
              <a:t>id</a:t>
            </a:r>
            <a:r>
              <a:rPr lang="en-US" altLang="en-US" sz="1600" dirty="0"/>
              <a:t> attribute, as in</a:t>
            </a:r>
          </a:p>
          <a:p>
            <a:pPr algn="just"/>
            <a:endParaRPr lang="en-US" altLang="en-US" sz="1600" dirty="0"/>
          </a:p>
          <a:p>
            <a:pPr algn="just"/>
            <a:r>
              <a:rPr lang="en-US" altLang="en-US" sz="1600" dirty="0"/>
              <a:t>       </a:t>
            </a:r>
            <a:r>
              <a:rPr lang="en-US" altLang="en-US" sz="1400" dirty="0">
                <a:latin typeface="Courier New" panose="02070309020205020404" pitchFamily="49" charset="0"/>
              </a:rPr>
              <a:t>&lt;h1 id = "baskets"&gt; Baskets &lt;/h1&gt;</a:t>
            </a:r>
            <a:endParaRPr lang="en-US" altLang="en-US" sz="1600" dirty="0"/>
          </a:p>
          <a:p>
            <a:pPr algn="just"/>
            <a:endParaRPr lang="en-US" altLang="en-US" sz="1600" dirty="0"/>
          </a:p>
          <a:p>
            <a:pPr algn="just"/>
            <a:r>
              <a:rPr lang="en-US" altLang="en-US" sz="1600" dirty="0"/>
              <a:t>- The link to an </a:t>
            </a:r>
            <a:r>
              <a:rPr lang="en-US" altLang="en-US" sz="1400" dirty="0">
                <a:latin typeface="Courier New" panose="02070309020205020404" pitchFamily="49" charset="0"/>
              </a:rPr>
              <a:t>id</a:t>
            </a:r>
            <a:r>
              <a:rPr lang="en-US" altLang="en-US" sz="1600" dirty="0"/>
              <a:t> must be preceded by a pound sign (</a:t>
            </a:r>
            <a:r>
              <a:rPr lang="en-US" altLang="en-US" sz="1400" dirty="0">
                <a:latin typeface="Courier New" panose="02070309020205020404" pitchFamily="49" charset="0"/>
              </a:rPr>
              <a:t>#</a:t>
            </a:r>
            <a:r>
              <a:rPr lang="en-US" altLang="en-US" sz="1600" dirty="0"/>
              <a:t>); If the </a:t>
            </a:r>
            <a:r>
              <a:rPr lang="en-US" altLang="en-US" sz="1400" dirty="0">
                <a:latin typeface="Courier New" panose="02070309020205020404" pitchFamily="49" charset="0"/>
              </a:rPr>
              <a:t>id</a:t>
            </a:r>
            <a:r>
              <a:rPr lang="en-US" altLang="en-US" sz="1600" dirty="0"/>
              <a:t> is in the same document, this target could be</a:t>
            </a:r>
          </a:p>
          <a:p>
            <a:pPr algn="just"/>
            <a:endParaRPr lang="en-US" altLang="en-US" sz="1600" dirty="0"/>
          </a:p>
          <a:p>
            <a:pPr algn="just"/>
            <a:r>
              <a:rPr lang="en-US" altLang="en-US" sz="1600" dirty="0"/>
              <a:t>       </a:t>
            </a:r>
            <a:r>
              <a:rPr lang="en-US" altLang="en-US" sz="1400" dirty="0">
                <a:latin typeface="Courier New" panose="02070309020205020404" pitchFamily="49" charset="0"/>
              </a:rPr>
              <a:t>&lt;a </a:t>
            </a:r>
            <a:r>
              <a:rPr lang="en-US" altLang="en-US" sz="1400" dirty="0" err="1">
                <a:latin typeface="Courier New" panose="02070309020205020404" pitchFamily="49" charset="0"/>
              </a:rPr>
              <a:t>href</a:t>
            </a:r>
            <a:r>
              <a:rPr lang="en-US" altLang="en-US" sz="1400" dirty="0">
                <a:latin typeface="Courier New" panose="02070309020205020404" pitchFamily="49" charset="0"/>
              </a:rPr>
              <a:t> = "#baskets"&gt; </a:t>
            </a:r>
          </a:p>
          <a:p>
            <a:pPr algn="just"/>
            <a:r>
              <a:rPr lang="en-US" altLang="en-US" sz="1400" dirty="0">
                <a:latin typeface="Courier New" panose="02070309020205020404" pitchFamily="49" charset="0"/>
              </a:rPr>
              <a:t>                    What about baskets? &lt;/a&gt;</a:t>
            </a:r>
            <a:endParaRPr lang="en-US" altLang="en-US" sz="1600" dirty="0"/>
          </a:p>
          <a:p>
            <a:pPr algn="just"/>
            <a:endParaRPr lang="en-US" altLang="en-US" sz="1600" dirty="0"/>
          </a:p>
          <a:p>
            <a:pPr algn="just"/>
            <a:r>
              <a:rPr lang="en-US" altLang="en-US" sz="1600" dirty="0"/>
              <a:t>- If the target is in a different document, the document reference must be included</a:t>
            </a:r>
          </a:p>
          <a:p>
            <a:pPr algn="just"/>
            <a:endParaRPr lang="en-US" altLang="en-US" sz="1600" dirty="0"/>
          </a:p>
          <a:p>
            <a:pPr algn="just"/>
            <a:r>
              <a:rPr lang="en-US" altLang="en-US" sz="1600" dirty="0"/>
              <a:t>       </a:t>
            </a:r>
            <a:r>
              <a:rPr lang="en-US" altLang="en-US" sz="1400" dirty="0">
                <a:latin typeface="Courier New" panose="02070309020205020404" pitchFamily="49" charset="0"/>
              </a:rPr>
              <a:t>&lt;a </a:t>
            </a:r>
            <a:r>
              <a:rPr lang="en-US" altLang="en-US" sz="1400" dirty="0" err="1">
                <a:latin typeface="Courier New" panose="02070309020205020404" pitchFamily="49" charset="0"/>
              </a:rPr>
              <a:t>href</a:t>
            </a:r>
            <a:r>
              <a:rPr lang="en-US" altLang="en-US" sz="1400" dirty="0">
                <a:latin typeface="Courier New" panose="02070309020205020404" pitchFamily="49" charset="0"/>
              </a:rPr>
              <a:t> = "</a:t>
            </a:r>
            <a:r>
              <a:rPr lang="en-US" altLang="en-US" sz="1400" dirty="0" err="1">
                <a:latin typeface="Courier New" panose="02070309020205020404" pitchFamily="49" charset="0"/>
              </a:rPr>
              <a:t>myAd.html#baskets</a:t>
            </a:r>
            <a:r>
              <a:rPr lang="en-US" altLang="en-US" sz="1400" dirty="0">
                <a:latin typeface="Courier New" panose="02070309020205020404" pitchFamily="49" charset="0"/>
              </a:rPr>
              <a:t>”&gt; Baskets &lt;/a&gt;</a:t>
            </a:r>
            <a:endParaRPr lang="en-US" altLang="en-US" sz="1600" dirty="0"/>
          </a:p>
          <a:p>
            <a:pPr algn="just"/>
            <a:endParaRPr lang="en-US" altLang="en-US" sz="1600" dirty="0"/>
          </a:p>
          <a:p>
            <a:pPr algn="just"/>
            <a:r>
              <a:rPr lang="en-US" altLang="en-US" sz="1600" dirty="0"/>
              <a:t>- Style note: a link should blend in with the surrounding text, so reading it without taking the link should not be made less pleasant</a:t>
            </a:r>
          </a:p>
          <a:p>
            <a:pPr algn="just"/>
            <a:endParaRPr lang="en-US" altLang="en-US" sz="1600" dirty="0"/>
          </a:p>
          <a:p>
            <a:pPr algn="just"/>
            <a:r>
              <a:rPr lang="en-US" altLang="en-US" sz="1600" dirty="0"/>
              <a:t>- Links can have images:</a:t>
            </a:r>
          </a:p>
          <a:p>
            <a:pPr algn="just"/>
            <a:r>
              <a:rPr lang="en-US" altLang="en-US" sz="1600" dirty="0"/>
              <a:t>   </a:t>
            </a:r>
            <a:r>
              <a:rPr lang="en-US" altLang="en-US" sz="1400" dirty="0">
                <a:latin typeface="Courier New" panose="02070309020205020404" pitchFamily="49" charset="0"/>
              </a:rPr>
              <a:t>&lt;a </a:t>
            </a:r>
            <a:r>
              <a:rPr lang="en-US" altLang="en-US" sz="1400" dirty="0" err="1">
                <a:latin typeface="Courier New" panose="02070309020205020404" pitchFamily="49" charset="0"/>
              </a:rPr>
              <a:t>href</a:t>
            </a:r>
            <a:r>
              <a:rPr lang="en-US" altLang="en-US" sz="1400" dirty="0">
                <a:latin typeface="Courier New" panose="02070309020205020404" pitchFamily="49" charset="0"/>
              </a:rPr>
              <a:t> = "c210data.html“&gt; </a:t>
            </a:r>
          </a:p>
          <a:p>
            <a:pPr algn="just"/>
            <a:r>
              <a:rPr lang="en-US" altLang="en-US" sz="1400" dirty="0">
                <a:latin typeface="Courier New" panose="02070309020205020404" pitchFamily="49" charset="0"/>
              </a:rPr>
              <a:t>   &lt;</a:t>
            </a:r>
            <a:r>
              <a:rPr lang="en-US" altLang="en-US" sz="1400" dirty="0" err="1">
                <a:latin typeface="Courier New" panose="02070309020205020404" pitchFamily="49" charset="0"/>
              </a:rPr>
              <a:t>img</a:t>
            </a:r>
            <a:r>
              <a:rPr lang="en-US" altLang="en-US" sz="1400" dirty="0">
                <a:latin typeface="Courier New" panose="02070309020205020404" pitchFamily="49" charset="0"/>
              </a:rPr>
              <a:t> </a:t>
            </a:r>
            <a:r>
              <a:rPr lang="en-US" altLang="en-US" sz="1400" dirty="0" err="1">
                <a:latin typeface="Courier New" panose="02070309020205020404" pitchFamily="49" charset="0"/>
              </a:rPr>
              <a:t>src</a:t>
            </a:r>
            <a:r>
              <a:rPr lang="en-US" altLang="en-US" sz="1400" dirty="0">
                <a:latin typeface="Courier New" panose="02070309020205020404" pitchFamily="49" charset="0"/>
              </a:rPr>
              <a:t> = "smallplane.jpg" </a:t>
            </a:r>
          </a:p>
          <a:p>
            <a:pPr algn="just"/>
            <a:r>
              <a:rPr lang="en-US" altLang="en-US" sz="1400" dirty="0">
                <a:latin typeface="Courier New" panose="02070309020205020404" pitchFamily="49" charset="0"/>
              </a:rPr>
              <a:t>     alt = "Small picture of an airplane " /&gt; </a:t>
            </a:r>
          </a:p>
          <a:p>
            <a:pPr algn="just"/>
            <a:r>
              <a:rPr lang="en-US" altLang="en-US" sz="1400" dirty="0">
                <a:latin typeface="Courier New" panose="02070309020205020404" pitchFamily="49" charset="0"/>
              </a:rPr>
              <a:t>       Info on C210 &lt;/a&gt;</a:t>
            </a:r>
          </a:p>
          <a:p>
            <a:endParaRPr lang="en-IN" sz="1000" dirty="0"/>
          </a:p>
        </p:txBody>
      </p:sp>
    </p:spTree>
    <p:extLst>
      <p:ext uri="{BB962C8B-B14F-4D97-AF65-F5344CB8AC3E}">
        <p14:creationId xmlns:p14="http://schemas.microsoft.com/office/powerpoint/2010/main" val="3557842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FED61-978C-B565-A86B-5554EAA9A5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47D54B-024C-088F-3E9A-2CA5D81D6CC6}"/>
              </a:ext>
            </a:extLst>
          </p:cNvPr>
          <p:cNvSpPr txBox="1"/>
          <p:nvPr/>
        </p:nvSpPr>
        <p:spPr>
          <a:xfrm>
            <a:off x="484094" y="367553"/>
            <a:ext cx="11205882" cy="5493812"/>
          </a:xfrm>
          <a:prstGeom prst="rect">
            <a:avLst/>
          </a:prstGeom>
          <a:noFill/>
        </p:spPr>
        <p:txBody>
          <a:bodyPr wrap="square" rtlCol="0">
            <a:spAutoFit/>
          </a:bodyPr>
          <a:lstStyle/>
          <a:p>
            <a:r>
              <a:rPr lang="en-US" altLang="en-US" sz="2800" b="1" dirty="0"/>
              <a:t>Lists</a:t>
            </a:r>
            <a:endParaRPr lang="en-US" altLang="en-US" sz="1600" b="1" dirty="0"/>
          </a:p>
          <a:p>
            <a:endParaRPr lang="en-US" altLang="en-US" sz="1600" dirty="0"/>
          </a:p>
          <a:p>
            <a:pPr marL="285750" indent="-285750">
              <a:buFont typeface="Arial" panose="020B0604020202020204" pitchFamily="34" charset="0"/>
              <a:buChar char="•"/>
            </a:pPr>
            <a:r>
              <a:rPr lang="en-US" altLang="en-US" sz="1600" dirty="0"/>
              <a:t> </a:t>
            </a:r>
            <a:r>
              <a:rPr lang="en-US" altLang="en-US" sz="1600" i="1" dirty="0"/>
              <a:t>Unordered lists</a:t>
            </a:r>
            <a:endParaRPr lang="en-US" altLang="en-US" sz="1600" dirty="0"/>
          </a:p>
          <a:p>
            <a:pPr marL="285750" indent="-285750">
              <a:buFont typeface="Arial" panose="020B0604020202020204" pitchFamily="34" charset="0"/>
              <a:buChar char="•"/>
            </a:pPr>
            <a:endParaRPr lang="en-US" altLang="en-US" sz="1600" dirty="0"/>
          </a:p>
          <a:p>
            <a:pPr marL="742950" lvl="1" indent="-285750">
              <a:buFont typeface="Arial" panose="020B0604020202020204" pitchFamily="34" charset="0"/>
              <a:buChar char="•"/>
            </a:pPr>
            <a:r>
              <a:rPr lang="en-US" altLang="en-US" sz="1600" dirty="0"/>
              <a:t>The list is the content of the </a:t>
            </a:r>
            <a:r>
              <a:rPr lang="en-US" altLang="en-US" sz="1600" dirty="0">
                <a:latin typeface="Courier New" panose="02070309020205020404" pitchFamily="49" charset="0"/>
              </a:rPr>
              <a:t>&lt;ul&gt;</a:t>
            </a:r>
            <a:r>
              <a:rPr lang="en-US" altLang="en-US" sz="1600" dirty="0"/>
              <a:t> tag</a:t>
            </a:r>
          </a:p>
          <a:p>
            <a:pPr marL="742950" lvl="1" indent="-285750">
              <a:buFont typeface="Arial" panose="020B0604020202020204" pitchFamily="34" charset="0"/>
              <a:buChar char="•"/>
            </a:pPr>
            <a:r>
              <a:rPr lang="en-US" altLang="en-US" sz="1600" dirty="0"/>
              <a:t>List elements are the content of the </a:t>
            </a:r>
            <a:r>
              <a:rPr lang="en-US" altLang="en-US" sz="1600" dirty="0">
                <a:latin typeface="Courier New" panose="02070309020205020404" pitchFamily="49" charset="0"/>
              </a:rPr>
              <a:t>&lt;li&gt;</a:t>
            </a:r>
            <a:r>
              <a:rPr lang="en-US" altLang="en-US" sz="1600" dirty="0"/>
              <a:t> tag</a:t>
            </a:r>
          </a:p>
          <a:p>
            <a:endParaRPr lang="en-US" altLang="en-US" sz="1600" dirty="0"/>
          </a:p>
          <a:p>
            <a:r>
              <a:rPr lang="en-US" altLang="en-US" sz="1600" dirty="0"/>
              <a:t>  </a:t>
            </a:r>
            <a:r>
              <a:rPr lang="en-US" altLang="en-US" sz="1600" dirty="0">
                <a:latin typeface="Courier New" panose="02070309020205020404" pitchFamily="49" charset="0"/>
              </a:rPr>
              <a:t>&lt;h3&gt; Some Common Single-Engine Aircraft &lt;/h3&gt;</a:t>
            </a:r>
          </a:p>
          <a:p>
            <a:pPr>
              <a:lnSpc>
                <a:spcPct val="100000"/>
              </a:lnSpc>
            </a:pPr>
            <a:r>
              <a:rPr lang="en-US" altLang="en-US" sz="1600" dirty="0">
                <a:latin typeface="Courier New" panose="02070309020205020404" pitchFamily="49" charset="0"/>
              </a:rPr>
              <a:t> &lt;ul&gt; </a:t>
            </a:r>
          </a:p>
          <a:p>
            <a:pPr>
              <a:lnSpc>
                <a:spcPct val="100000"/>
              </a:lnSpc>
            </a:pPr>
            <a:r>
              <a:rPr lang="en-US" altLang="en-US" sz="1600" dirty="0">
                <a:latin typeface="Courier New" panose="02070309020205020404" pitchFamily="49" charset="0"/>
              </a:rPr>
              <a:t>   &lt;li&gt; Cessna Skyhawk &lt;/li&gt;</a:t>
            </a:r>
          </a:p>
          <a:p>
            <a:pPr>
              <a:lnSpc>
                <a:spcPct val="100000"/>
              </a:lnSpc>
            </a:pPr>
            <a:r>
              <a:rPr lang="en-US" altLang="en-US" sz="1600" dirty="0">
                <a:latin typeface="Courier New" panose="02070309020205020404" pitchFamily="49" charset="0"/>
              </a:rPr>
              <a:t>   &lt;li&gt; Beechcraft Bonanza &lt;/li&gt;</a:t>
            </a:r>
          </a:p>
          <a:p>
            <a:pPr>
              <a:lnSpc>
                <a:spcPct val="100000"/>
              </a:lnSpc>
            </a:pPr>
            <a:r>
              <a:rPr lang="en-US" altLang="en-US" sz="1600" dirty="0">
                <a:latin typeface="Courier New" panose="02070309020205020404" pitchFamily="49" charset="0"/>
              </a:rPr>
              <a:t>   &lt;li&gt; Piper Cherokee &lt;/li&gt;</a:t>
            </a:r>
          </a:p>
          <a:p>
            <a:pPr>
              <a:lnSpc>
                <a:spcPct val="100000"/>
              </a:lnSpc>
            </a:pPr>
            <a:r>
              <a:rPr lang="en-US" altLang="en-US" sz="1600" dirty="0">
                <a:latin typeface="Courier New" panose="02070309020205020404" pitchFamily="49" charset="0"/>
              </a:rPr>
              <a:t> &lt;/ul&gt;</a:t>
            </a:r>
          </a:p>
          <a:p>
            <a:pPr>
              <a:lnSpc>
                <a:spcPct val="100000"/>
              </a:lnSpc>
            </a:pPr>
            <a:endParaRPr lang="en-US" sz="1600" dirty="0">
              <a:latin typeface="Courier New" panose="02070309020205020404" pitchFamily="49" charset="0"/>
            </a:endParaRPr>
          </a:p>
          <a:p>
            <a:pPr>
              <a:lnSpc>
                <a:spcPct val="100000"/>
              </a:lnSpc>
            </a:pPr>
            <a:endParaRPr lang="en-US" sz="1600" dirty="0">
              <a:latin typeface="Courier New" panose="02070309020205020404" pitchFamily="49" charset="0"/>
            </a:endParaRPr>
          </a:p>
          <a:p>
            <a:pPr>
              <a:lnSpc>
                <a:spcPct val="100000"/>
              </a:lnSpc>
            </a:pPr>
            <a:endParaRPr lang="en-US" sz="1600" dirty="0">
              <a:latin typeface="Courier New" panose="02070309020205020404" pitchFamily="49" charset="0"/>
            </a:endParaRPr>
          </a:p>
          <a:p>
            <a:pPr marL="285750" indent="-285750">
              <a:buFont typeface="Arial" panose="020B0604020202020204" pitchFamily="34" charset="0"/>
              <a:buChar char="•"/>
            </a:pPr>
            <a:r>
              <a:rPr lang="en-US" altLang="en-US" i="1" dirty="0"/>
              <a:t>Ordered lists</a:t>
            </a:r>
            <a:endParaRPr lang="en-US" altLang="en-US" dirty="0"/>
          </a:p>
          <a:p>
            <a:pPr marL="285750" indent="-285750">
              <a:buFont typeface="Arial" panose="020B0604020202020204" pitchFamily="34" charset="0"/>
              <a:buChar char="•"/>
            </a:pPr>
            <a:endParaRPr lang="en-US" altLang="en-US" dirty="0"/>
          </a:p>
          <a:p>
            <a:pPr marL="742950" lvl="1" indent="-285750">
              <a:buFont typeface="Arial" panose="020B0604020202020204" pitchFamily="34" charset="0"/>
              <a:buChar char="•"/>
            </a:pPr>
            <a:r>
              <a:rPr lang="en-US" altLang="en-US" dirty="0"/>
              <a:t>The list is the content of the </a:t>
            </a:r>
            <a:r>
              <a:rPr lang="en-US" altLang="en-US" sz="1600" dirty="0">
                <a:latin typeface="Courier New" panose="02070309020205020404" pitchFamily="49" charset="0"/>
              </a:rPr>
              <a:t>&lt;</a:t>
            </a:r>
            <a:r>
              <a:rPr lang="en-US" altLang="en-US" sz="1600" dirty="0" err="1">
                <a:latin typeface="Courier New" panose="02070309020205020404" pitchFamily="49" charset="0"/>
              </a:rPr>
              <a:t>ol</a:t>
            </a:r>
            <a:r>
              <a:rPr lang="en-US" altLang="en-US" sz="1600" dirty="0">
                <a:latin typeface="Courier New" panose="02070309020205020404" pitchFamily="49" charset="0"/>
              </a:rPr>
              <a:t>&gt;</a:t>
            </a:r>
            <a:r>
              <a:rPr lang="en-US" altLang="en-US" dirty="0"/>
              <a:t> tag</a:t>
            </a:r>
          </a:p>
          <a:p>
            <a:pPr marL="742950" lvl="1" indent="-285750">
              <a:buFont typeface="Arial" panose="020B0604020202020204" pitchFamily="34" charset="0"/>
              <a:buChar char="•"/>
            </a:pPr>
            <a:r>
              <a:rPr lang="en-US" altLang="en-US" dirty="0"/>
              <a:t>Each item in the display is preceded by a sequence value</a:t>
            </a:r>
          </a:p>
          <a:p>
            <a:pPr>
              <a:lnSpc>
                <a:spcPct val="100000"/>
              </a:lnSpc>
            </a:pPr>
            <a:endParaRPr lang="en-IN" sz="1100" dirty="0"/>
          </a:p>
        </p:txBody>
      </p:sp>
      <p:pic>
        <p:nvPicPr>
          <p:cNvPr id="3" name="Picture 4" descr="ch2_7">
            <a:extLst>
              <a:ext uri="{FF2B5EF4-FFF2-40B4-BE49-F238E27FC236}">
                <a16:creationId xmlns:a16="http://schemas.microsoft.com/office/drawing/2014/main" id="{9844A519-C17E-F4B6-3B1E-1BC30DC1D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7682"/>
          <a:stretch>
            <a:fillRect/>
          </a:stretch>
        </p:blipFill>
        <p:spPr bwMode="auto">
          <a:xfrm>
            <a:off x="5638800" y="2581836"/>
            <a:ext cx="59436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234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0C9DC-8F84-4564-F0CB-475746EDCF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A1C130-CB4E-F3F0-F1A6-F7D31C054460}"/>
              </a:ext>
            </a:extLst>
          </p:cNvPr>
          <p:cNvSpPr txBox="1"/>
          <p:nvPr/>
        </p:nvSpPr>
        <p:spPr>
          <a:xfrm>
            <a:off x="555812" y="519952"/>
            <a:ext cx="11205882" cy="5455340"/>
          </a:xfrm>
          <a:prstGeom prst="rect">
            <a:avLst/>
          </a:prstGeom>
          <a:noFill/>
        </p:spPr>
        <p:txBody>
          <a:bodyPr wrap="square" rtlCol="0">
            <a:spAutoFit/>
          </a:bodyPr>
          <a:lstStyle/>
          <a:p>
            <a:pPr>
              <a:lnSpc>
                <a:spcPct val="100000"/>
              </a:lnSpc>
            </a:pPr>
            <a:r>
              <a:rPr lang="en-US" altLang="en-US" sz="2800" dirty="0"/>
              <a:t>Lists</a:t>
            </a:r>
            <a:r>
              <a:rPr lang="en-US" altLang="en-US" dirty="0">
                <a:latin typeface="Courier New" panose="02070309020205020404" pitchFamily="49" charset="0"/>
              </a:rPr>
              <a:t> </a:t>
            </a:r>
            <a:r>
              <a:rPr lang="en-US" altLang="en-US" dirty="0"/>
              <a:t>(continued)</a:t>
            </a:r>
          </a:p>
          <a:p>
            <a:pPr>
              <a:lnSpc>
                <a:spcPct val="100000"/>
              </a:lnSpc>
            </a:pPr>
            <a:endParaRPr lang="en-US" altLang="en-US" sz="1400" dirty="0">
              <a:latin typeface="Courier New" panose="02070309020205020404" pitchFamily="49" charset="0"/>
            </a:endParaRPr>
          </a:p>
          <a:p>
            <a:pPr>
              <a:lnSpc>
                <a:spcPct val="100000"/>
              </a:lnSpc>
            </a:pPr>
            <a:r>
              <a:rPr lang="en-US" altLang="en-US" sz="1400" dirty="0">
                <a:latin typeface="Courier New" panose="02070309020205020404" pitchFamily="49" charset="0"/>
              </a:rPr>
              <a:t>&lt;h3&gt; Cessna 210 Engine Starting Instructions</a:t>
            </a:r>
          </a:p>
          <a:p>
            <a:pPr>
              <a:lnSpc>
                <a:spcPct val="100000"/>
              </a:lnSpc>
            </a:pPr>
            <a:r>
              <a:rPr lang="en-US" altLang="en-US" sz="1400" dirty="0">
                <a:latin typeface="Courier New" panose="02070309020205020404" pitchFamily="49" charset="0"/>
              </a:rPr>
              <a:t>&lt;/h3&gt;</a:t>
            </a:r>
          </a:p>
          <a:p>
            <a:pPr>
              <a:lnSpc>
                <a:spcPct val="100000"/>
              </a:lnSpc>
            </a:pPr>
            <a:r>
              <a:rPr lang="en-US" altLang="en-US" sz="1400" dirty="0">
                <a:latin typeface="Courier New" panose="02070309020205020404" pitchFamily="49" charset="0"/>
              </a:rPr>
              <a:t>&lt;</a:t>
            </a:r>
            <a:r>
              <a:rPr lang="en-US" altLang="en-US" sz="1400" dirty="0" err="1">
                <a:latin typeface="Courier New" panose="02070309020205020404" pitchFamily="49" charset="0"/>
              </a:rPr>
              <a:t>ol</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&lt;li&gt; Set mixture to rich &lt;/li&gt;</a:t>
            </a:r>
          </a:p>
          <a:p>
            <a:pPr>
              <a:lnSpc>
                <a:spcPct val="100000"/>
              </a:lnSpc>
            </a:pPr>
            <a:r>
              <a:rPr lang="en-US" altLang="en-US" sz="1400" dirty="0">
                <a:latin typeface="Courier New" panose="02070309020205020404" pitchFamily="49" charset="0"/>
              </a:rPr>
              <a:t>  &lt;li&gt; Set propeller to high RPM &lt;/li&gt;</a:t>
            </a:r>
          </a:p>
          <a:p>
            <a:pPr>
              <a:lnSpc>
                <a:spcPct val="100000"/>
              </a:lnSpc>
            </a:pPr>
            <a:r>
              <a:rPr lang="en-US" altLang="en-US" sz="1400" dirty="0">
                <a:latin typeface="Courier New" panose="02070309020205020404" pitchFamily="49" charset="0"/>
              </a:rPr>
              <a:t>  &lt;li&gt; Set ignition switch to "BOTH" &lt;/li&gt;</a:t>
            </a:r>
          </a:p>
          <a:p>
            <a:pPr>
              <a:lnSpc>
                <a:spcPct val="100000"/>
              </a:lnSpc>
            </a:pPr>
            <a:r>
              <a:rPr lang="en-US" altLang="en-US" sz="1400" dirty="0">
                <a:latin typeface="Courier New" panose="02070309020205020404" pitchFamily="49" charset="0"/>
              </a:rPr>
              <a:t>  &lt;li&gt; Set auxiliary fuel pump switch to </a:t>
            </a:r>
          </a:p>
          <a:p>
            <a:pPr>
              <a:lnSpc>
                <a:spcPct val="100000"/>
              </a:lnSpc>
            </a:pPr>
            <a:r>
              <a:rPr lang="en-US" altLang="en-US" sz="1400" dirty="0">
                <a:latin typeface="Courier New" panose="02070309020205020404" pitchFamily="49" charset="0"/>
              </a:rPr>
              <a:t>       "LOW PRIME" &lt;/li&gt;</a:t>
            </a:r>
          </a:p>
          <a:p>
            <a:pPr>
              <a:lnSpc>
                <a:spcPct val="100000"/>
              </a:lnSpc>
            </a:pPr>
            <a:r>
              <a:rPr lang="en-US" altLang="en-US" sz="1400" dirty="0">
                <a:latin typeface="Courier New" panose="02070309020205020404" pitchFamily="49" charset="0"/>
              </a:rPr>
              <a:t>  &lt;li&gt; When fuel pressure reaches 2 to 2.5 </a:t>
            </a:r>
          </a:p>
          <a:p>
            <a:pPr>
              <a:lnSpc>
                <a:spcPct val="100000"/>
              </a:lnSpc>
            </a:pPr>
            <a:r>
              <a:rPr lang="en-US" altLang="en-US" sz="1400" dirty="0">
                <a:latin typeface="Courier New" panose="02070309020205020404" pitchFamily="49" charset="0"/>
              </a:rPr>
              <a:t>       PSI, push starter button &lt;/li&gt;</a:t>
            </a:r>
          </a:p>
          <a:p>
            <a:pPr>
              <a:lnSpc>
                <a:spcPct val="100000"/>
              </a:lnSpc>
            </a:pPr>
            <a:r>
              <a:rPr lang="en-US" altLang="en-US" sz="1400" dirty="0">
                <a:latin typeface="Courier New" panose="02070309020205020404" pitchFamily="49" charset="0"/>
              </a:rPr>
              <a:t>&lt;/</a:t>
            </a:r>
            <a:r>
              <a:rPr lang="en-US" altLang="en-US" sz="1400" dirty="0" err="1">
                <a:latin typeface="Courier New" panose="02070309020205020404" pitchFamily="49" charset="0"/>
              </a:rPr>
              <a:t>ol</a:t>
            </a:r>
            <a:r>
              <a:rPr lang="en-US" altLang="en-US" sz="1400" dirty="0">
                <a:latin typeface="Courier New" panose="02070309020205020404" pitchFamily="49" charset="0"/>
              </a:rPr>
              <a:t>&gt;   </a:t>
            </a:r>
          </a:p>
          <a:p>
            <a:pPr>
              <a:lnSpc>
                <a:spcPct val="100000"/>
              </a:lnSpc>
            </a:pPr>
            <a:endParaRPr lang="en-US" altLang="en-US" sz="1400" dirty="0">
              <a:latin typeface="Courier New" panose="02070309020205020404" pitchFamily="49" charset="0"/>
            </a:endParaRPr>
          </a:p>
          <a:p>
            <a:pPr>
              <a:lnSpc>
                <a:spcPct val="100000"/>
              </a:lnSpc>
            </a:pPr>
            <a:endParaRPr lang="en-US" altLang="en-US" sz="1400" dirty="0">
              <a:latin typeface="Courier New" panose="02070309020205020404" pitchFamily="49" charset="0"/>
            </a:endParaRPr>
          </a:p>
          <a:p>
            <a:r>
              <a:rPr lang="en-US" altLang="en-US" sz="2000" dirty="0"/>
              <a:t>- </a:t>
            </a:r>
            <a:r>
              <a:rPr lang="en-US" altLang="en-US" sz="2000" i="1" dirty="0"/>
              <a:t>Nested lists</a:t>
            </a:r>
            <a:endParaRPr lang="en-US" altLang="en-US" sz="2000" dirty="0"/>
          </a:p>
          <a:p>
            <a:endParaRPr lang="en-US" altLang="en-US" sz="2000" dirty="0"/>
          </a:p>
          <a:p>
            <a:r>
              <a:rPr lang="en-US" altLang="en-US" sz="2000" dirty="0"/>
              <a:t>   - Any type list can be nested inside any type list</a:t>
            </a:r>
          </a:p>
          <a:p>
            <a:endParaRPr lang="en-US" altLang="en-US" sz="2000" dirty="0"/>
          </a:p>
          <a:p>
            <a:r>
              <a:rPr lang="en-US" altLang="en-US" sz="2000" dirty="0"/>
              <a:t>   - The nested list must be in a list item</a:t>
            </a:r>
          </a:p>
          <a:p>
            <a:pPr>
              <a:lnSpc>
                <a:spcPct val="100000"/>
              </a:lnSpc>
            </a:pPr>
            <a:endParaRPr lang="en-US" altLang="en-US" sz="1400" dirty="0"/>
          </a:p>
          <a:p>
            <a:endParaRPr lang="en-IN" sz="1050" dirty="0"/>
          </a:p>
        </p:txBody>
      </p:sp>
      <p:pic>
        <p:nvPicPr>
          <p:cNvPr id="3" name="Picture 5" descr="ch2_8">
            <a:extLst>
              <a:ext uri="{FF2B5EF4-FFF2-40B4-BE49-F238E27FC236}">
                <a16:creationId xmlns:a16="http://schemas.microsoft.com/office/drawing/2014/main" id="{7A0D8770-13AD-215D-CDBF-EBA33518C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261"/>
          <a:stretch>
            <a:fillRect/>
          </a:stretch>
        </p:blipFill>
        <p:spPr bwMode="auto">
          <a:xfrm>
            <a:off x="5787838" y="1178702"/>
            <a:ext cx="58483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974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7C621-EC65-CC79-9B48-C05AD93B5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4C6865-C18D-FA70-77FC-2E272C9DF236}"/>
              </a:ext>
            </a:extLst>
          </p:cNvPr>
          <p:cNvSpPr txBox="1"/>
          <p:nvPr/>
        </p:nvSpPr>
        <p:spPr>
          <a:xfrm>
            <a:off x="493059" y="358588"/>
            <a:ext cx="11205882" cy="5570756"/>
          </a:xfrm>
          <a:prstGeom prst="rect">
            <a:avLst/>
          </a:prstGeom>
          <a:noFill/>
        </p:spPr>
        <p:txBody>
          <a:bodyPr wrap="square" rtlCol="0">
            <a:spAutoFit/>
          </a:bodyPr>
          <a:lstStyle/>
          <a:p>
            <a:pPr>
              <a:lnSpc>
                <a:spcPct val="100000"/>
              </a:lnSpc>
            </a:pPr>
            <a:r>
              <a:rPr lang="en-US" altLang="en-US" sz="2400" b="1" dirty="0"/>
              <a:t>Lists</a:t>
            </a:r>
            <a:r>
              <a:rPr lang="en-US" altLang="en-US" sz="1600" b="1" dirty="0">
                <a:latin typeface="Courier New" panose="02070309020205020404" pitchFamily="49" charset="0"/>
              </a:rPr>
              <a:t> </a:t>
            </a:r>
            <a:r>
              <a:rPr lang="en-US" altLang="en-US" b="1" dirty="0"/>
              <a:t>(continued)</a:t>
            </a:r>
            <a:r>
              <a:rPr lang="en-US" altLang="en-US" sz="1600" b="1" dirty="0">
                <a:latin typeface="Courier New" panose="02070309020205020404" pitchFamily="49" charset="0"/>
              </a:rPr>
              <a:t> </a:t>
            </a:r>
          </a:p>
          <a:p>
            <a:pPr>
              <a:lnSpc>
                <a:spcPct val="100000"/>
              </a:lnSpc>
            </a:pPr>
            <a:endParaRPr lang="en-US" altLang="en-US" sz="1600" dirty="0">
              <a:latin typeface="Courier New" panose="02070309020205020404" pitchFamily="49" charset="0"/>
            </a:endParaRPr>
          </a:p>
          <a:p>
            <a:pPr>
              <a:lnSpc>
                <a:spcPct val="100000"/>
              </a:lnSpc>
            </a:pPr>
            <a:r>
              <a:rPr lang="en-US" altLang="en-US" dirty="0"/>
              <a:t>- </a:t>
            </a:r>
            <a:r>
              <a:rPr lang="en-US" altLang="en-US" i="1" dirty="0"/>
              <a:t>Definition lists (for glossaries, etc.)</a:t>
            </a:r>
            <a:endParaRPr lang="en-US" altLang="en-US" dirty="0"/>
          </a:p>
          <a:p>
            <a:pPr>
              <a:lnSpc>
                <a:spcPct val="100000"/>
              </a:lnSpc>
            </a:pPr>
            <a:r>
              <a:rPr lang="en-US" altLang="en-US" dirty="0"/>
              <a:t>         - List is the content of the </a:t>
            </a:r>
            <a:r>
              <a:rPr lang="en-US" altLang="en-US" sz="1600" dirty="0">
                <a:latin typeface="Courier New" panose="02070309020205020404" pitchFamily="49" charset="0"/>
              </a:rPr>
              <a:t>&lt;dl&gt;</a:t>
            </a:r>
            <a:r>
              <a:rPr lang="en-US" altLang="en-US" dirty="0"/>
              <a:t> tag</a:t>
            </a:r>
          </a:p>
          <a:p>
            <a:pPr>
              <a:lnSpc>
                <a:spcPct val="100000"/>
              </a:lnSpc>
            </a:pPr>
            <a:endParaRPr lang="en-US" altLang="en-US" dirty="0"/>
          </a:p>
          <a:p>
            <a:pPr>
              <a:lnSpc>
                <a:spcPct val="100000"/>
              </a:lnSpc>
            </a:pPr>
            <a:r>
              <a:rPr lang="en-US" altLang="en-US" dirty="0"/>
              <a:t>         - Terms being defined are the content of the </a:t>
            </a:r>
            <a:r>
              <a:rPr lang="en-US" altLang="en-US" sz="1600" dirty="0">
                <a:latin typeface="Courier New" panose="02070309020205020404" pitchFamily="49" charset="0"/>
              </a:rPr>
              <a:t>&lt;dt&gt;</a:t>
            </a:r>
            <a:r>
              <a:rPr lang="en-US" altLang="en-US" dirty="0"/>
              <a:t> tag</a:t>
            </a:r>
          </a:p>
          <a:p>
            <a:pPr>
              <a:lnSpc>
                <a:spcPct val="100000"/>
              </a:lnSpc>
            </a:pPr>
            <a:endParaRPr lang="en-US" altLang="en-US" dirty="0"/>
          </a:p>
          <a:p>
            <a:pPr>
              <a:lnSpc>
                <a:spcPct val="100000"/>
              </a:lnSpc>
            </a:pPr>
            <a:r>
              <a:rPr lang="en-US" altLang="en-US" dirty="0"/>
              <a:t>         - The definitions themselves are the content of the </a:t>
            </a:r>
            <a:r>
              <a:rPr lang="en-US" altLang="en-US" sz="1600" dirty="0">
                <a:latin typeface="Courier New" panose="02070309020205020404" pitchFamily="49" charset="0"/>
              </a:rPr>
              <a:t>&lt;dd&gt;</a:t>
            </a:r>
            <a:r>
              <a:rPr lang="en-US" altLang="en-US" dirty="0"/>
              <a:t> tag</a:t>
            </a:r>
          </a:p>
          <a:p>
            <a:pPr>
              <a:lnSpc>
                <a:spcPct val="100000"/>
              </a:lnSpc>
            </a:pPr>
            <a:endParaRPr lang="en-US" altLang="en-US" sz="1600" dirty="0">
              <a:latin typeface="Courier New" panose="02070309020205020404" pitchFamily="49" charset="0"/>
            </a:endParaRPr>
          </a:p>
          <a:p>
            <a:pPr>
              <a:lnSpc>
                <a:spcPct val="100000"/>
              </a:lnSpc>
            </a:pPr>
            <a:r>
              <a:rPr lang="en-US" altLang="en-US" sz="1600" dirty="0">
                <a:latin typeface="Courier New" panose="02070309020205020404" pitchFamily="49" charset="0"/>
              </a:rPr>
              <a:t>&lt;h3&gt; Single-Engine Cessna Airplanes &lt;/h3&gt;</a:t>
            </a:r>
          </a:p>
          <a:p>
            <a:pPr>
              <a:lnSpc>
                <a:spcPct val="100000"/>
              </a:lnSpc>
            </a:pPr>
            <a:r>
              <a:rPr lang="en-US" altLang="en-US" sz="1600" dirty="0">
                <a:latin typeface="Courier New" panose="02070309020205020404" pitchFamily="49" charset="0"/>
              </a:rPr>
              <a:t>&lt;dl &gt;</a:t>
            </a:r>
          </a:p>
          <a:p>
            <a:pPr>
              <a:lnSpc>
                <a:spcPct val="100000"/>
              </a:lnSpc>
            </a:pPr>
            <a:r>
              <a:rPr lang="en-US" altLang="en-US" sz="1600" dirty="0">
                <a:latin typeface="Courier New" panose="02070309020205020404" pitchFamily="49" charset="0"/>
              </a:rPr>
              <a:t>  &lt;dt&gt; 152 &lt;/dt&gt;</a:t>
            </a:r>
          </a:p>
          <a:p>
            <a:pPr>
              <a:lnSpc>
                <a:spcPct val="100000"/>
              </a:lnSpc>
            </a:pPr>
            <a:r>
              <a:rPr lang="en-US" altLang="en-US" sz="1600" dirty="0">
                <a:latin typeface="Courier New" panose="02070309020205020404" pitchFamily="49" charset="0"/>
              </a:rPr>
              <a:t>  &lt;dd&gt; Two-place trainer &lt;/dd&gt;</a:t>
            </a:r>
          </a:p>
          <a:p>
            <a:pPr>
              <a:lnSpc>
                <a:spcPct val="100000"/>
              </a:lnSpc>
            </a:pPr>
            <a:r>
              <a:rPr lang="en-US" altLang="en-US" sz="1600" dirty="0">
                <a:latin typeface="Courier New" panose="02070309020205020404" pitchFamily="49" charset="0"/>
              </a:rPr>
              <a:t>  &lt;dt&gt; 172 &lt;/dt&gt;</a:t>
            </a:r>
          </a:p>
          <a:p>
            <a:pPr>
              <a:lnSpc>
                <a:spcPct val="100000"/>
              </a:lnSpc>
            </a:pPr>
            <a:r>
              <a:rPr lang="en-US" altLang="en-US" sz="1600" dirty="0">
                <a:latin typeface="Courier New" panose="02070309020205020404" pitchFamily="49" charset="0"/>
              </a:rPr>
              <a:t>  &lt;dd&gt; Smaller four-place airplane &lt;/dd&gt;</a:t>
            </a:r>
          </a:p>
          <a:p>
            <a:pPr>
              <a:lnSpc>
                <a:spcPct val="100000"/>
              </a:lnSpc>
            </a:pPr>
            <a:r>
              <a:rPr lang="en-US" altLang="en-US" sz="1600" dirty="0">
                <a:latin typeface="Courier New" panose="02070309020205020404" pitchFamily="49" charset="0"/>
              </a:rPr>
              <a:t>  &lt;dt&gt; 182 &lt;/dt&gt;</a:t>
            </a:r>
          </a:p>
          <a:p>
            <a:pPr>
              <a:lnSpc>
                <a:spcPct val="100000"/>
              </a:lnSpc>
            </a:pPr>
            <a:r>
              <a:rPr lang="en-US" altLang="en-US" sz="1600" dirty="0">
                <a:latin typeface="Courier New" panose="02070309020205020404" pitchFamily="49" charset="0"/>
              </a:rPr>
              <a:t>  &lt;dd&gt; Larger four-place airplane &lt;/dd&gt;</a:t>
            </a:r>
          </a:p>
          <a:p>
            <a:pPr>
              <a:lnSpc>
                <a:spcPct val="100000"/>
              </a:lnSpc>
            </a:pPr>
            <a:r>
              <a:rPr lang="en-US" altLang="en-US" sz="1600" dirty="0">
                <a:latin typeface="Courier New" panose="02070309020205020404" pitchFamily="49" charset="0"/>
              </a:rPr>
              <a:t>  &lt;dt&gt; 210 &lt;/dt&gt;</a:t>
            </a:r>
          </a:p>
          <a:p>
            <a:pPr>
              <a:lnSpc>
                <a:spcPct val="100000"/>
              </a:lnSpc>
            </a:pPr>
            <a:r>
              <a:rPr lang="en-US" altLang="en-US" sz="1600" dirty="0">
                <a:latin typeface="Courier New" panose="02070309020205020404" pitchFamily="49" charset="0"/>
              </a:rPr>
              <a:t>  &lt;dd&gt; Six-place airplane - high performance</a:t>
            </a:r>
          </a:p>
          <a:p>
            <a:pPr>
              <a:lnSpc>
                <a:spcPct val="100000"/>
              </a:lnSpc>
            </a:pPr>
            <a:r>
              <a:rPr lang="en-US" altLang="en-US" sz="1600" dirty="0">
                <a:latin typeface="Courier New" panose="02070309020205020404" pitchFamily="49" charset="0"/>
              </a:rPr>
              <a:t>  &lt;/dd&gt;</a:t>
            </a:r>
          </a:p>
          <a:p>
            <a:pPr>
              <a:lnSpc>
                <a:spcPct val="100000"/>
              </a:lnSpc>
            </a:pPr>
            <a:r>
              <a:rPr lang="en-US" altLang="en-US" sz="1600" dirty="0">
                <a:latin typeface="Courier New" panose="02070309020205020404" pitchFamily="49" charset="0"/>
              </a:rPr>
              <a:t>&lt;/dl&gt;</a:t>
            </a:r>
            <a:endParaRPr lang="en-IN" sz="1200" dirty="0"/>
          </a:p>
        </p:txBody>
      </p:sp>
      <p:pic>
        <p:nvPicPr>
          <p:cNvPr id="3" name="Picture 4" descr="ch2_10">
            <a:extLst>
              <a:ext uri="{FF2B5EF4-FFF2-40B4-BE49-F238E27FC236}">
                <a16:creationId xmlns:a16="http://schemas.microsoft.com/office/drawing/2014/main" id="{780DA5E7-CAAF-387E-F632-FCA749642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6182"/>
          <a:stretch>
            <a:fillRect/>
          </a:stretch>
        </p:blipFill>
        <p:spPr bwMode="auto">
          <a:xfrm>
            <a:off x="6087035" y="2788024"/>
            <a:ext cx="58483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532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A204-452A-197B-6405-BEFA90013D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DC1F1C-BCC1-806E-615D-B9F0DD4F2287}"/>
              </a:ext>
            </a:extLst>
          </p:cNvPr>
          <p:cNvSpPr txBox="1"/>
          <p:nvPr/>
        </p:nvSpPr>
        <p:spPr>
          <a:xfrm>
            <a:off x="484094" y="367553"/>
            <a:ext cx="11205882" cy="5786199"/>
          </a:xfrm>
          <a:prstGeom prst="rect">
            <a:avLst/>
          </a:prstGeom>
          <a:noFill/>
        </p:spPr>
        <p:txBody>
          <a:bodyPr wrap="square" rtlCol="0">
            <a:spAutoFit/>
          </a:bodyPr>
          <a:lstStyle/>
          <a:p>
            <a:r>
              <a:rPr lang="en-US" altLang="en-US" sz="2400" dirty="0"/>
              <a:t>Tables</a:t>
            </a:r>
            <a:endParaRPr lang="en-US" altLang="en-US" sz="1200" dirty="0"/>
          </a:p>
          <a:p>
            <a:endParaRPr lang="en-US" altLang="en-US" sz="1200" dirty="0"/>
          </a:p>
          <a:p>
            <a:pPr marL="285750" indent="-285750">
              <a:buFont typeface="Arial" panose="020B0604020202020204" pitchFamily="34" charset="0"/>
              <a:buChar char="•"/>
            </a:pPr>
            <a:r>
              <a:rPr lang="en-US" altLang="en-US" dirty="0"/>
              <a:t> - A table is a matrix of cells, each possibly having content</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The cells can include almost any element</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Some cells have row or column labels and some have data</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A table is specified as the content of a </a:t>
            </a:r>
            <a:r>
              <a:rPr lang="en-US" altLang="en-US" sz="1600" dirty="0">
                <a:latin typeface="Courier New" panose="02070309020205020404" pitchFamily="49" charset="0"/>
              </a:rPr>
              <a:t>&lt;table&gt;</a:t>
            </a:r>
            <a:r>
              <a:rPr lang="en-US" altLang="en-US" dirty="0"/>
              <a:t> </a:t>
            </a:r>
          </a:p>
          <a:p>
            <a:pPr marL="285750" indent="-285750">
              <a:buFont typeface="Arial" panose="020B0604020202020204" pitchFamily="34" charset="0"/>
              <a:buChar char="•"/>
            </a:pPr>
            <a:r>
              <a:rPr lang="en-US" altLang="en-US" dirty="0"/>
              <a:t>   tag</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A </a:t>
            </a:r>
            <a:r>
              <a:rPr lang="en-US" altLang="en-US" sz="1600" dirty="0">
                <a:latin typeface="Courier New" panose="02070309020205020404" pitchFamily="49" charset="0"/>
              </a:rPr>
              <a:t>border</a:t>
            </a:r>
            <a:r>
              <a:rPr lang="en-US" altLang="en-US" dirty="0"/>
              <a:t> attribute in the </a:t>
            </a:r>
            <a:r>
              <a:rPr lang="en-US" altLang="en-US" sz="1600" dirty="0">
                <a:latin typeface="Courier New" panose="02070309020205020404" pitchFamily="49" charset="0"/>
              </a:rPr>
              <a:t>&lt;table&gt;</a:t>
            </a:r>
            <a:r>
              <a:rPr lang="en-US" altLang="en-US" dirty="0"/>
              <a:t> tag specifies a border between the cells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If </a:t>
            </a:r>
            <a:r>
              <a:rPr lang="en-US" altLang="en-US" sz="1600" dirty="0">
                <a:latin typeface="Courier New" panose="02070309020205020404" pitchFamily="49" charset="0"/>
              </a:rPr>
              <a:t>border</a:t>
            </a:r>
            <a:r>
              <a:rPr lang="en-US" altLang="en-US" dirty="0"/>
              <a:t> is set to </a:t>
            </a:r>
            <a:r>
              <a:rPr lang="en-US" altLang="en-US" sz="1600" dirty="0">
                <a:latin typeface="Courier New" panose="02070309020205020404" pitchFamily="49" charset="0"/>
              </a:rPr>
              <a:t>"border"</a:t>
            </a:r>
            <a:r>
              <a:rPr lang="en-US" altLang="en-US" dirty="0"/>
              <a:t>, the browser’s default width border is used</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The </a:t>
            </a:r>
            <a:r>
              <a:rPr lang="en-US" altLang="en-US" sz="1600" dirty="0">
                <a:latin typeface="Courier New" panose="02070309020205020404" pitchFamily="49" charset="0"/>
              </a:rPr>
              <a:t>border</a:t>
            </a:r>
            <a:r>
              <a:rPr lang="en-US" altLang="en-US" dirty="0"/>
              <a:t> attribute can be set to a number, which will be the border width</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Without the </a:t>
            </a:r>
            <a:r>
              <a:rPr lang="en-US" altLang="en-US" sz="1600" dirty="0">
                <a:latin typeface="Courier New" panose="02070309020205020404" pitchFamily="49" charset="0"/>
              </a:rPr>
              <a:t>border</a:t>
            </a:r>
            <a:r>
              <a:rPr lang="en-US" altLang="en-US" dirty="0"/>
              <a:t> attribute, the table will have no lines!</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 Tables are given titles with the </a:t>
            </a:r>
            <a:r>
              <a:rPr lang="en-US" altLang="en-US" sz="1600" dirty="0">
                <a:latin typeface="Courier New" panose="02070309020205020404" pitchFamily="49" charset="0"/>
              </a:rPr>
              <a:t>&lt;caption&gt;</a:t>
            </a:r>
            <a:r>
              <a:rPr lang="en-US" altLang="en-US" dirty="0"/>
              <a:t> tag, which can immediately follow </a:t>
            </a:r>
            <a:r>
              <a:rPr lang="en-US" altLang="en-US" sz="1600" dirty="0">
                <a:latin typeface="Courier New" panose="02070309020205020404" pitchFamily="49" charset="0"/>
              </a:rPr>
              <a:t>&lt;table&gt;</a:t>
            </a:r>
            <a:endParaRPr lang="en-US" altLang="en-US" dirty="0"/>
          </a:p>
          <a:p>
            <a:endParaRPr lang="en-IN" sz="1000" dirty="0"/>
          </a:p>
        </p:txBody>
      </p:sp>
    </p:spTree>
    <p:extLst>
      <p:ext uri="{BB962C8B-B14F-4D97-AF65-F5344CB8AC3E}">
        <p14:creationId xmlns:p14="http://schemas.microsoft.com/office/powerpoint/2010/main" val="4042530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39E2E-DFCF-27F1-A28D-8F84DF9E89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3FB206-CD4E-87D9-A186-00507278B005}"/>
              </a:ext>
            </a:extLst>
          </p:cNvPr>
          <p:cNvSpPr txBox="1"/>
          <p:nvPr/>
        </p:nvSpPr>
        <p:spPr>
          <a:xfrm>
            <a:off x="484094" y="367553"/>
            <a:ext cx="11205882" cy="6001643"/>
          </a:xfrm>
          <a:prstGeom prst="rect">
            <a:avLst/>
          </a:prstGeom>
          <a:noFill/>
        </p:spPr>
        <p:txBody>
          <a:bodyPr wrap="square" rtlCol="0">
            <a:spAutoFit/>
          </a:bodyPr>
          <a:lstStyle/>
          <a:p>
            <a:r>
              <a:rPr lang="en-US" altLang="en-US" sz="2400" b="1" dirty="0"/>
              <a:t>Tables </a:t>
            </a:r>
            <a:r>
              <a:rPr lang="en-US" altLang="en-US" b="1" dirty="0"/>
              <a:t>(continued)</a:t>
            </a:r>
          </a:p>
          <a:p>
            <a:endParaRPr lang="en-US" altLang="en-US" sz="1200" dirty="0"/>
          </a:p>
          <a:p>
            <a:r>
              <a:rPr lang="en-US" altLang="en-US" dirty="0"/>
              <a:t>   - Each row of a table is specified as the content of a </a:t>
            </a:r>
            <a:r>
              <a:rPr lang="en-US" altLang="en-US" sz="1600" dirty="0">
                <a:latin typeface="Courier New" panose="02070309020205020404" pitchFamily="49" charset="0"/>
              </a:rPr>
              <a:t>&lt;tr&gt;</a:t>
            </a:r>
            <a:r>
              <a:rPr lang="en-US" altLang="en-US" dirty="0"/>
              <a:t> tag</a:t>
            </a:r>
          </a:p>
          <a:p>
            <a:r>
              <a:rPr lang="en-US" altLang="en-US" dirty="0"/>
              <a:t>   - The row headings are specified as the content of a </a:t>
            </a:r>
            <a:r>
              <a:rPr lang="en-US" altLang="en-US" sz="1600" dirty="0">
                <a:latin typeface="Courier New" panose="02070309020205020404" pitchFamily="49" charset="0"/>
              </a:rPr>
              <a:t>&lt;</a:t>
            </a:r>
            <a:r>
              <a:rPr lang="en-US" altLang="en-US" sz="1600" dirty="0" err="1">
                <a:latin typeface="Courier New" panose="02070309020205020404" pitchFamily="49" charset="0"/>
              </a:rPr>
              <a:t>th</a:t>
            </a:r>
            <a:r>
              <a:rPr lang="en-US" altLang="en-US" sz="1600" dirty="0">
                <a:latin typeface="Courier New" panose="02070309020205020404" pitchFamily="49" charset="0"/>
              </a:rPr>
              <a:t>&gt;</a:t>
            </a:r>
            <a:r>
              <a:rPr lang="en-US" altLang="en-US" dirty="0"/>
              <a:t> tag</a:t>
            </a:r>
          </a:p>
          <a:p>
            <a:r>
              <a:rPr lang="en-US" altLang="en-US" dirty="0"/>
              <a:t>   - The contents of a data cell is specified as the content of a </a:t>
            </a:r>
            <a:r>
              <a:rPr lang="en-US" altLang="en-US" sz="1600" dirty="0">
                <a:latin typeface="Courier New" panose="02070309020205020404" pitchFamily="49" charset="0"/>
              </a:rPr>
              <a:t>&lt;td&gt;</a:t>
            </a:r>
            <a:r>
              <a:rPr lang="en-US" altLang="en-US" dirty="0"/>
              <a:t> tag</a:t>
            </a:r>
          </a:p>
          <a:p>
            <a:pPr>
              <a:lnSpc>
                <a:spcPct val="100000"/>
              </a:lnSpc>
            </a:pPr>
            <a:r>
              <a:rPr lang="en-US" altLang="en-US" sz="1400" dirty="0">
                <a:latin typeface="Courier New" panose="02070309020205020404" pitchFamily="49" charset="0"/>
              </a:rPr>
              <a:t>   &lt;table border = "border"&gt;</a:t>
            </a:r>
          </a:p>
          <a:p>
            <a:pPr>
              <a:lnSpc>
                <a:spcPct val="100000"/>
              </a:lnSpc>
            </a:pPr>
            <a:r>
              <a:rPr lang="en-US" altLang="en-US" sz="1400" dirty="0">
                <a:latin typeface="Courier New" panose="02070309020205020404" pitchFamily="49" charset="0"/>
              </a:rPr>
              <a:t>   &lt;caption&gt; Fruit Juice Drinks &lt;/caption&gt;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Apple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Orange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Screwdriver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Breakfast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&lt;td&gt; 1 &lt;/td&gt;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a:t>
            </a:r>
            <a:r>
              <a:rPr lang="en-US" altLang="en-US" sz="1400" dirty="0" err="1">
                <a:latin typeface="Courier New" panose="02070309020205020404" pitchFamily="49" charset="0"/>
              </a:rPr>
              <a:t>th</a:t>
            </a:r>
            <a:r>
              <a:rPr lang="en-US" altLang="en-US" sz="1400" dirty="0">
                <a:latin typeface="Courier New" panose="02070309020205020404" pitchFamily="49" charset="0"/>
              </a:rPr>
              <a:t>&gt; Lunch &lt;/</a:t>
            </a:r>
            <a:r>
              <a:rPr lang="en-US" altLang="en-US" sz="1400" dirty="0" err="1">
                <a:latin typeface="Courier New" panose="02070309020205020404" pitchFamily="49" charset="0"/>
              </a:rPr>
              <a:t>th</a:t>
            </a:r>
            <a:r>
              <a:rPr lang="en-US" altLang="en-US" sz="1400" dirty="0">
                <a:latin typeface="Courier New" panose="02070309020205020404" pitchFamily="49" charset="0"/>
              </a:rPr>
              <a:t>&gt;</a:t>
            </a:r>
          </a:p>
          <a:p>
            <a:pPr>
              <a:lnSpc>
                <a:spcPct val="100000"/>
              </a:lnSpc>
            </a:pPr>
            <a:r>
              <a:rPr lang="en-US" altLang="en-US" sz="1400" dirty="0">
                <a:latin typeface="Courier New" panose="02070309020205020404" pitchFamily="49" charset="0"/>
              </a:rPr>
              <a:t>       &lt;td&gt; 1 &lt;/td&gt;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&lt;td&gt; 0 &lt;/td&gt;</a:t>
            </a:r>
          </a:p>
          <a:p>
            <a:pPr>
              <a:lnSpc>
                <a:spcPct val="100000"/>
              </a:lnSpc>
            </a:pPr>
            <a:r>
              <a:rPr lang="en-US" altLang="en-US" sz="1400" dirty="0">
                <a:latin typeface="Courier New" panose="02070309020205020404" pitchFamily="49" charset="0"/>
              </a:rPr>
              <a:t>     &lt;/tr&gt;</a:t>
            </a:r>
          </a:p>
          <a:p>
            <a:pPr>
              <a:lnSpc>
                <a:spcPct val="100000"/>
              </a:lnSpc>
            </a:pPr>
            <a:r>
              <a:rPr lang="en-US" altLang="en-US" sz="1400" dirty="0">
                <a:latin typeface="Courier New" panose="02070309020205020404" pitchFamily="49" charset="0"/>
              </a:rPr>
              <a:t>   &lt;/table&gt;</a:t>
            </a:r>
            <a:endParaRPr lang="en-IN" sz="1200" dirty="0"/>
          </a:p>
        </p:txBody>
      </p:sp>
      <p:pic>
        <p:nvPicPr>
          <p:cNvPr id="3" name="Picture 4" descr="ch2_11">
            <a:extLst>
              <a:ext uri="{FF2B5EF4-FFF2-40B4-BE49-F238E27FC236}">
                <a16:creationId xmlns:a16="http://schemas.microsoft.com/office/drawing/2014/main" id="{CFCB792E-13DD-D7A2-F96D-EC67F9BA6C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739"/>
          <a:stretch>
            <a:fillRect/>
          </a:stretch>
        </p:blipFill>
        <p:spPr bwMode="auto">
          <a:xfrm>
            <a:off x="5123329" y="3116356"/>
            <a:ext cx="60198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3782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C6AD6-2DBB-E1CC-36F2-D7DECB15159F}"/>
            </a:ext>
          </a:extLst>
        </p:cNvPr>
        <p:cNvGrpSpPr/>
        <p:nvPr/>
      </p:nvGrpSpPr>
      <p:grpSpPr>
        <a:xfrm>
          <a:off x="0" y="0"/>
          <a:ext cx="0" cy="0"/>
          <a:chOff x="0" y="0"/>
          <a:chExt cx="0" cy="0"/>
        </a:xfrm>
      </p:grpSpPr>
      <p:sp>
        <p:nvSpPr>
          <p:cNvPr id="3" name="Text Box 10">
            <a:extLst>
              <a:ext uri="{FF2B5EF4-FFF2-40B4-BE49-F238E27FC236}">
                <a16:creationId xmlns:a16="http://schemas.microsoft.com/office/drawing/2014/main" id="{420EB2E2-22EC-AE52-F90B-082A743CF931}"/>
              </a:ext>
            </a:extLst>
          </p:cNvPr>
          <p:cNvSpPr txBox="1">
            <a:spLocks noChangeArrowheads="1"/>
          </p:cNvSpPr>
          <p:nvPr/>
        </p:nvSpPr>
        <p:spPr bwMode="auto">
          <a:xfrm>
            <a:off x="411162" y="300318"/>
            <a:ext cx="11431214"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Tables </a:t>
            </a:r>
            <a:r>
              <a:rPr lang="en-US" altLang="en-US" dirty="0"/>
              <a:t>(continued)</a:t>
            </a:r>
          </a:p>
          <a:p>
            <a:r>
              <a:rPr lang="en-US" altLang="en-US" dirty="0"/>
              <a:t> </a:t>
            </a:r>
          </a:p>
          <a:p>
            <a:r>
              <a:rPr lang="en-US" altLang="en-US" dirty="0"/>
              <a:t>- </a:t>
            </a:r>
            <a:r>
              <a:rPr lang="en-US" altLang="en-US" sz="2400" dirty="0"/>
              <a:t>A table can have two levels of column labels</a:t>
            </a:r>
          </a:p>
          <a:p>
            <a:endParaRPr lang="en-US" altLang="en-US" sz="2400" dirty="0"/>
          </a:p>
          <a:p>
            <a:r>
              <a:rPr lang="en-US" altLang="en-US" sz="2400" dirty="0"/>
              <a:t>      - If so, the </a:t>
            </a:r>
            <a:r>
              <a:rPr lang="en-US" altLang="en-US" sz="2000" dirty="0" err="1">
                <a:latin typeface="Courier New" panose="02070309020205020404" pitchFamily="49" charset="0"/>
              </a:rPr>
              <a:t>colspan</a:t>
            </a:r>
            <a:r>
              <a:rPr lang="en-US" altLang="en-US" sz="2400" dirty="0"/>
              <a:t> attribute must be set in the </a:t>
            </a:r>
            <a:r>
              <a:rPr lang="en-US" altLang="en-US" sz="2000" dirty="0">
                <a:latin typeface="Courier New" panose="02070309020205020404" pitchFamily="49" charset="0"/>
              </a:rPr>
              <a:t>&lt;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r>
              <a:rPr lang="en-US" altLang="en-US" sz="2400" dirty="0"/>
              <a:t> tag to specify that the label must span </a:t>
            </a:r>
          </a:p>
          <a:p>
            <a:r>
              <a:rPr lang="en-US" altLang="en-US" sz="2400" dirty="0"/>
              <a:t>         some number of columns</a:t>
            </a:r>
          </a:p>
          <a:p>
            <a:endParaRPr lang="en-US" altLang="en-US" sz="2400" dirty="0"/>
          </a:p>
          <a:p>
            <a:pPr>
              <a:lnSpc>
                <a:spcPct val="100000"/>
              </a:lnSpc>
            </a:pPr>
            <a:r>
              <a:rPr lang="en-US" altLang="en-US" sz="2000" dirty="0">
                <a:latin typeface="Courier New" panose="02070309020205020404" pitchFamily="49" charset="0"/>
              </a:rPr>
              <a:t>&lt;tr&gt;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 </a:t>
            </a:r>
            <a:r>
              <a:rPr lang="en-US" altLang="en-US" sz="2000" dirty="0" err="1">
                <a:latin typeface="Courier New" panose="02070309020205020404" pitchFamily="49" charset="0"/>
              </a:rPr>
              <a:t>colspan</a:t>
            </a:r>
            <a:r>
              <a:rPr lang="en-US" altLang="en-US" sz="2000" dirty="0">
                <a:latin typeface="Courier New" panose="02070309020205020404" pitchFamily="49" charset="0"/>
              </a:rPr>
              <a:t> = "3"&gt; Fruit Juice Drinks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&lt;/tr&gt;</a:t>
            </a:r>
          </a:p>
          <a:p>
            <a:pPr>
              <a:lnSpc>
                <a:spcPct val="100000"/>
              </a:lnSpc>
            </a:pPr>
            <a:r>
              <a:rPr lang="en-US" altLang="en-US" sz="2000" dirty="0">
                <a:latin typeface="Courier New" panose="02070309020205020404" pitchFamily="49" charset="0"/>
              </a:rPr>
              <a:t>&lt;tr&gt;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&gt; Orange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&gt; Apple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  &lt;</a:t>
            </a:r>
            <a:r>
              <a:rPr lang="en-US" altLang="en-US" sz="2000" dirty="0" err="1">
                <a:latin typeface="Courier New" panose="02070309020205020404" pitchFamily="49" charset="0"/>
              </a:rPr>
              <a:t>th</a:t>
            </a:r>
            <a:r>
              <a:rPr lang="en-US" altLang="en-US" sz="2000" dirty="0">
                <a:latin typeface="Courier New" panose="02070309020205020404" pitchFamily="49" charset="0"/>
              </a:rPr>
              <a:t>&gt; Screwdriver &lt;/</a:t>
            </a:r>
            <a:r>
              <a:rPr lang="en-US" altLang="en-US" sz="2000" dirty="0" err="1">
                <a:latin typeface="Courier New" panose="02070309020205020404" pitchFamily="49" charset="0"/>
              </a:rPr>
              <a:t>th</a:t>
            </a:r>
            <a:r>
              <a:rPr lang="en-US" altLang="en-US" sz="2000" dirty="0">
                <a:latin typeface="Courier New" panose="02070309020205020404" pitchFamily="49" charset="0"/>
              </a:rPr>
              <a:t>&gt;</a:t>
            </a:r>
          </a:p>
          <a:p>
            <a:pPr>
              <a:lnSpc>
                <a:spcPct val="100000"/>
              </a:lnSpc>
            </a:pPr>
            <a:r>
              <a:rPr lang="en-US" altLang="en-US" sz="2000" dirty="0">
                <a:latin typeface="Courier New" panose="02070309020205020404" pitchFamily="49" charset="0"/>
              </a:rPr>
              <a:t>&lt;/tr&gt;</a:t>
            </a:r>
            <a:endParaRPr lang="en-US" altLang="en-US" sz="2400" dirty="0"/>
          </a:p>
        </p:txBody>
      </p:sp>
      <p:pic>
        <p:nvPicPr>
          <p:cNvPr id="4" name="Picture 7" descr="ch2_12">
            <a:extLst>
              <a:ext uri="{FF2B5EF4-FFF2-40B4-BE49-F238E27FC236}">
                <a16:creationId xmlns:a16="http://schemas.microsoft.com/office/drawing/2014/main" id="{388C9BAF-F512-0A2D-AF00-737A47226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4753"/>
          <a:stretch>
            <a:fillRect/>
          </a:stretch>
        </p:blipFill>
        <p:spPr bwMode="auto">
          <a:xfrm>
            <a:off x="5105400" y="4150298"/>
            <a:ext cx="6019800"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621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 calcmode="lin" valueType="num">
                                      <p:cBhvr additive="base">
                                        <p:cTn id="5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anim calcmode="lin" valueType="num">
                                      <p:cBhvr additive="base">
                                        <p:cTn id="5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anim calcmode="lin" valueType="num">
                                      <p:cBhvr additive="base">
                                        <p:cTn id="5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 calcmode="lin" valueType="num">
                                      <p:cBhvr additive="base">
                                        <p:cTn id="65" dur="500" fill="hold"/>
                                        <p:tgtEl>
                                          <p:spTgt spid="4"/>
                                        </p:tgtEl>
                                        <p:attrNameLst>
                                          <p:attrName>ppt_x</p:attrName>
                                        </p:attrNameLst>
                                      </p:cBhvr>
                                      <p:tavLst>
                                        <p:tav tm="0">
                                          <p:val>
                                            <p:strVal val="#ppt_x"/>
                                          </p:val>
                                        </p:tav>
                                        <p:tav tm="100000">
                                          <p:val>
                                            <p:strVal val="#ppt_x"/>
                                          </p:val>
                                        </p:tav>
                                      </p:tavLst>
                                    </p:anim>
                                    <p:anim calcmode="lin" valueType="num">
                                      <p:cBhvr additive="base">
                                        <p:cTn id="6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56EAC-69F0-7C97-A68F-186514F707E1}"/>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FAAC2F4B-C75F-91AD-56BE-EAA5895DBE2A}"/>
              </a:ext>
            </a:extLst>
          </p:cNvPr>
          <p:cNvSpPr txBox="1">
            <a:spLocks noChangeArrowheads="1"/>
          </p:cNvSpPr>
          <p:nvPr/>
        </p:nvSpPr>
        <p:spPr bwMode="auto">
          <a:xfrm>
            <a:off x="515469" y="309283"/>
            <a:ext cx="11129683" cy="560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Tables </a:t>
            </a:r>
            <a:r>
              <a:rPr lang="en-US" altLang="en-US" dirty="0"/>
              <a:t>(continued)</a:t>
            </a:r>
          </a:p>
          <a:p>
            <a:endParaRPr lang="en-US" altLang="en-US" dirty="0"/>
          </a:p>
          <a:p>
            <a:r>
              <a:rPr lang="en-US" altLang="en-US" dirty="0"/>
              <a:t> </a:t>
            </a:r>
            <a:r>
              <a:rPr lang="en-US" altLang="en-US" sz="2000" dirty="0"/>
              <a:t>- If the rows have labels and there is a spanning column label, the upper left corner must be </a:t>
            </a:r>
          </a:p>
          <a:p>
            <a:r>
              <a:rPr lang="en-US" altLang="en-US" sz="2000" dirty="0"/>
              <a:t>   made larger, using </a:t>
            </a:r>
            <a:r>
              <a:rPr lang="en-US" altLang="en-US" dirty="0" err="1">
                <a:latin typeface="Courier New" panose="02070309020205020404" pitchFamily="49" charset="0"/>
              </a:rPr>
              <a:t>rowspan</a:t>
            </a:r>
            <a:endParaRPr lang="en-US" altLang="en-US" sz="2000" dirty="0"/>
          </a:p>
          <a:p>
            <a:endParaRPr lang="en-US" altLang="en-US" sz="2000" dirty="0"/>
          </a:p>
          <a:p>
            <a:pPr>
              <a:lnSpc>
                <a:spcPct val="100000"/>
              </a:lnSpc>
            </a:pPr>
            <a:r>
              <a:rPr lang="en-US" altLang="en-US" dirty="0">
                <a:latin typeface="Courier New" panose="02070309020205020404" pitchFamily="49" charset="0"/>
              </a:rPr>
              <a:t>&lt;table border = "border"&gt;</a:t>
            </a:r>
          </a:p>
          <a:p>
            <a:pPr>
              <a:lnSpc>
                <a:spcPct val="100000"/>
              </a:lnSpc>
            </a:pPr>
            <a:r>
              <a:rPr lang="en-US" altLang="en-US" dirty="0">
                <a:latin typeface="Courier New" panose="02070309020205020404" pitchFamily="49" charset="0"/>
              </a:rPr>
              <a:t>  &lt;tr&gt;</a:t>
            </a:r>
          </a:p>
          <a:p>
            <a:pPr>
              <a:lnSpc>
                <a:spcPct val="100000"/>
              </a:lnSpc>
            </a:pPr>
            <a:r>
              <a:rPr lang="en-US" altLang="en-US" dirty="0">
                <a:latin typeface="Courier New" panose="02070309020205020404" pitchFamily="49" charset="0"/>
              </a:rPr>
              <a:t>    &lt;td </a:t>
            </a:r>
            <a:r>
              <a:rPr lang="en-US" altLang="en-US" dirty="0" err="1">
                <a:latin typeface="Courier New" panose="02070309020205020404" pitchFamily="49" charset="0"/>
              </a:rPr>
              <a:t>rowspan</a:t>
            </a:r>
            <a:r>
              <a:rPr lang="en-US" altLang="en-US" dirty="0">
                <a:latin typeface="Courier New" panose="02070309020205020404" pitchFamily="49" charset="0"/>
              </a:rPr>
              <a:t> = "2"&gt; &lt;/td&gt;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 </a:t>
            </a:r>
            <a:r>
              <a:rPr lang="en-US" altLang="en-US" dirty="0" err="1">
                <a:latin typeface="Courier New" panose="02070309020205020404" pitchFamily="49" charset="0"/>
              </a:rPr>
              <a:t>colspan</a:t>
            </a:r>
            <a:r>
              <a:rPr lang="en-US" altLang="en-US" dirty="0">
                <a:latin typeface="Courier New" panose="02070309020205020404" pitchFamily="49" charset="0"/>
              </a:rPr>
              <a:t> = "3"&gt; Fruit Juice Drinks</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&lt;/tr&gt;</a:t>
            </a:r>
          </a:p>
          <a:p>
            <a:pPr>
              <a:lnSpc>
                <a:spcPct val="100000"/>
              </a:lnSpc>
            </a:pPr>
            <a:r>
              <a:rPr lang="en-US" altLang="en-US" dirty="0">
                <a:latin typeface="Courier New" panose="02070309020205020404" pitchFamily="49" charset="0"/>
              </a:rPr>
              <a:t>  &lt;tr&gt;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 Apple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 Orange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a:t>
            </a:r>
            <a:r>
              <a:rPr lang="en-US" altLang="en-US" dirty="0" err="1">
                <a:latin typeface="Courier New" panose="02070309020205020404" pitchFamily="49" charset="0"/>
              </a:rPr>
              <a:t>th</a:t>
            </a:r>
            <a:r>
              <a:rPr lang="en-US" altLang="en-US" dirty="0">
                <a:latin typeface="Courier New" panose="02070309020205020404" pitchFamily="49" charset="0"/>
              </a:rPr>
              <a:t>&gt; Screwdriver &lt;/</a:t>
            </a:r>
            <a:r>
              <a:rPr lang="en-US" altLang="en-US" dirty="0" err="1">
                <a:latin typeface="Courier New" panose="02070309020205020404" pitchFamily="49" charset="0"/>
              </a:rPr>
              <a:t>th</a:t>
            </a:r>
            <a:r>
              <a:rPr lang="en-US" altLang="en-US" dirty="0">
                <a:latin typeface="Courier New" panose="02070309020205020404" pitchFamily="49" charset="0"/>
              </a:rPr>
              <a:t>&gt;</a:t>
            </a:r>
          </a:p>
          <a:p>
            <a:pPr>
              <a:lnSpc>
                <a:spcPct val="100000"/>
              </a:lnSpc>
            </a:pPr>
            <a:r>
              <a:rPr lang="en-US" altLang="en-US" dirty="0">
                <a:latin typeface="Courier New" panose="02070309020205020404" pitchFamily="49" charset="0"/>
              </a:rPr>
              <a:t>  &lt;/tr&gt;</a:t>
            </a:r>
          </a:p>
          <a:p>
            <a:r>
              <a:rPr lang="en-US" altLang="en-US" sz="2000" dirty="0"/>
              <a:t>        …</a:t>
            </a:r>
          </a:p>
          <a:p>
            <a:r>
              <a:rPr lang="en-US" altLang="en-US" dirty="0">
                <a:latin typeface="Courier New" panose="02070309020205020404" pitchFamily="49" charset="0"/>
              </a:rPr>
              <a:t>&lt;/table&gt;</a:t>
            </a:r>
            <a:endParaRPr lang="en-US" altLang="en-US" dirty="0"/>
          </a:p>
        </p:txBody>
      </p:sp>
      <p:pic>
        <p:nvPicPr>
          <p:cNvPr id="4" name="Picture 4" descr="ch2_13">
            <a:extLst>
              <a:ext uri="{FF2B5EF4-FFF2-40B4-BE49-F238E27FC236}">
                <a16:creationId xmlns:a16="http://schemas.microsoft.com/office/drawing/2014/main" id="{8BBBB9AC-836E-143D-8C8B-831850E52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261"/>
          <a:stretch>
            <a:fillRect/>
          </a:stretch>
        </p:blipFill>
        <p:spPr bwMode="auto">
          <a:xfrm>
            <a:off x="5804647" y="3608294"/>
            <a:ext cx="60198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056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38C8-A729-CBCD-8027-B01A424D18F6}"/>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C86D5092-7E76-A85A-2746-51CA4265089D}"/>
              </a:ext>
            </a:extLst>
          </p:cNvPr>
          <p:cNvSpPr txBox="1">
            <a:spLocks noChangeArrowheads="1"/>
          </p:cNvSpPr>
          <p:nvPr/>
        </p:nvSpPr>
        <p:spPr bwMode="auto">
          <a:xfrm>
            <a:off x="606145" y="428178"/>
            <a:ext cx="10979710"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Tables </a:t>
            </a:r>
            <a:r>
              <a:rPr lang="en-US" altLang="en-US" dirty="0"/>
              <a:t>(continued)</a:t>
            </a:r>
          </a:p>
          <a:p>
            <a:endParaRPr lang="en-US" altLang="en-US" dirty="0"/>
          </a:p>
          <a:p>
            <a:r>
              <a:rPr lang="en-US" altLang="en-US" dirty="0"/>
              <a:t>- The </a:t>
            </a:r>
            <a:r>
              <a:rPr lang="en-US" altLang="en-US" sz="1600" dirty="0">
                <a:latin typeface="Courier New" panose="02070309020205020404" pitchFamily="49" charset="0"/>
              </a:rPr>
              <a:t>align</a:t>
            </a:r>
            <a:r>
              <a:rPr lang="en-US" altLang="en-US" dirty="0"/>
              <a:t> attribute controls the horizontal placement of the contents in a table cell</a:t>
            </a:r>
          </a:p>
          <a:p>
            <a:endParaRPr lang="en-US" altLang="en-US" dirty="0"/>
          </a:p>
          <a:p>
            <a:r>
              <a:rPr lang="en-US" altLang="en-US" dirty="0"/>
              <a:t>   - Values are </a:t>
            </a:r>
            <a:r>
              <a:rPr lang="en-US" altLang="en-US" sz="1600" dirty="0">
                <a:latin typeface="Courier New" panose="02070309020205020404" pitchFamily="49" charset="0"/>
              </a:rPr>
              <a:t>left</a:t>
            </a:r>
            <a:r>
              <a:rPr lang="en-US" altLang="en-US" dirty="0"/>
              <a:t>, </a:t>
            </a:r>
            <a:r>
              <a:rPr lang="en-US" altLang="en-US" sz="1600" dirty="0">
                <a:latin typeface="Courier New" panose="02070309020205020404" pitchFamily="49" charset="0"/>
              </a:rPr>
              <a:t>right</a:t>
            </a:r>
            <a:r>
              <a:rPr lang="en-US" altLang="en-US" dirty="0"/>
              <a:t>, and </a:t>
            </a:r>
            <a:r>
              <a:rPr lang="en-US" altLang="en-US" sz="1600" dirty="0">
                <a:latin typeface="Courier New" panose="02070309020205020404" pitchFamily="49" charset="0"/>
              </a:rPr>
              <a:t>center</a:t>
            </a:r>
            <a:r>
              <a:rPr lang="en-US" altLang="en-US" dirty="0"/>
              <a:t> (default)</a:t>
            </a:r>
          </a:p>
          <a:p>
            <a:endParaRPr lang="en-US" altLang="en-US" dirty="0"/>
          </a:p>
          <a:p>
            <a:r>
              <a:rPr lang="en-US" altLang="en-US" dirty="0"/>
              <a:t>   - </a:t>
            </a:r>
            <a:r>
              <a:rPr lang="en-US" altLang="en-US" sz="1600" dirty="0">
                <a:latin typeface="Courier New" panose="02070309020205020404" pitchFamily="49" charset="0"/>
              </a:rPr>
              <a:t>align</a:t>
            </a:r>
            <a:r>
              <a:rPr lang="en-US" altLang="en-US" dirty="0"/>
              <a:t> is an attribute of </a:t>
            </a:r>
            <a:r>
              <a:rPr lang="en-US" altLang="en-US" sz="1600" dirty="0">
                <a:latin typeface="Courier New" panose="02070309020205020404" pitchFamily="49" charset="0"/>
              </a:rPr>
              <a:t>&lt;tr&gt;</a:t>
            </a:r>
            <a:r>
              <a:rPr lang="en-US" altLang="en-US" dirty="0"/>
              <a:t>, </a:t>
            </a:r>
            <a:r>
              <a:rPr lang="en-US" altLang="en-US" sz="1600" dirty="0">
                <a:latin typeface="Courier New" panose="02070309020205020404" pitchFamily="49" charset="0"/>
              </a:rPr>
              <a:t>&lt;</a:t>
            </a:r>
            <a:r>
              <a:rPr lang="en-US" altLang="en-US" sz="1600" dirty="0" err="1">
                <a:latin typeface="Courier New" panose="02070309020205020404" pitchFamily="49" charset="0"/>
              </a:rPr>
              <a:t>th</a:t>
            </a:r>
            <a:r>
              <a:rPr lang="en-US" altLang="en-US" sz="1600" dirty="0">
                <a:latin typeface="Courier New" panose="02070309020205020404" pitchFamily="49" charset="0"/>
              </a:rPr>
              <a:t>&gt;</a:t>
            </a:r>
            <a:r>
              <a:rPr lang="en-US" altLang="en-US" dirty="0"/>
              <a:t>, and </a:t>
            </a:r>
            <a:r>
              <a:rPr lang="en-US" altLang="en-US" sz="1600" dirty="0">
                <a:latin typeface="Courier New" panose="02070309020205020404" pitchFamily="49" charset="0"/>
              </a:rPr>
              <a:t>&lt;td&gt;</a:t>
            </a:r>
            <a:r>
              <a:rPr lang="en-US" altLang="en-US" dirty="0"/>
              <a:t> elements</a:t>
            </a:r>
          </a:p>
          <a:p>
            <a:endParaRPr lang="en-US" altLang="en-US" dirty="0"/>
          </a:p>
          <a:p>
            <a:r>
              <a:rPr lang="en-US" altLang="en-US" dirty="0"/>
              <a:t>- The </a:t>
            </a:r>
            <a:r>
              <a:rPr lang="en-US" altLang="en-US" sz="1600" dirty="0" err="1">
                <a:latin typeface="Courier New" panose="02070309020205020404" pitchFamily="49" charset="0"/>
              </a:rPr>
              <a:t>valign</a:t>
            </a:r>
            <a:r>
              <a:rPr lang="en-US" altLang="en-US" dirty="0"/>
              <a:t> attribute controls the vertical placement of the contents of a table cell</a:t>
            </a:r>
          </a:p>
          <a:p>
            <a:endParaRPr lang="en-US" altLang="en-US" dirty="0"/>
          </a:p>
          <a:p>
            <a:r>
              <a:rPr lang="en-US" altLang="en-US" dirty="0"/>
              <a:t>   - Values are </a:t>
            </a:r>
            <a:r>
              <a:rPr lang="en-US" altLang="en-US" sz="1600" dirty="0">
                <a:latin typeface="Courier New" panose="02070309020205020404" pitchFamily="49" charset="0"/>
              </a:rPr>
              <a:t>top</a:t>
            </a:r>
            <a:r>
              <a:rPr lang="en-US" altLang="en-US" dirty="0"/>
              <a:t>, </a:t>
            </a:r>
            <a:r>
              <a:rPr lang="en-US" altLang="en-US" sz="1600" dirty="0">
                <a:latin typeface="Courier New" panose="02070309020205020404" pitchFamily="49" charset="0"/>
              </a:rPr>
              <a:t>bottom</a:t>
            </a:r>
            <a:r>
              <a:rPr lang="en-US" altLang="en-US" dirty="0"/>
              <a:t>, and </a:t>
            </a:r>
            <a:r>
              <a:rPr lang="en-US" altLang="en-US" sz="1600" dirty="0">
                <a:latin typeface="Courier New" panose="02070309020205020404" pitchFamily="49" charset="0"/>
              </a:rPr>
              <a:t>center</a:t>
            </a:r>
            <a:r>
              <a:rPr lang="en-US" altLang="en-US" dirty="0"/>
              <a:t> (default)</a:t>
            </a:r>
          </a:p>
          <a:p>
            <a:endParaRPr lang="en-US" altLang="en-US" dirty="0"/>
          </a:p>
          <a:p>
            <a:r>
              <a:rPr lang="en-US" altLang="en-US" dirty="0"/>
              <a:t>   - </a:t>
            </a:r>
            <a:r>
              <a:rPr lang="en-US" altLang="en-US" sz="1600" dirty="0" err="1">
                <a:latin typeface="Courier New" panose="02070309020205020404" pitchFamily="49" charset="0"/>
              </a:rPr>
              <a:t>valign</a:t>
            </a:r>
            <a:r>
              <a:rPr lang="en-US" altLang="en-US" dirty="0"/>
              <a:t> is an attribute of </a:t>
            </a:r>
            <a:r>
              <a:rPr lang="en-US" altLang="en-US" sz="1600" dirty="0">
                <a:latin typeface="Courier New" panose="02070309020205020404" pitchFamily="49" charset="0"/>
              </a:rPr>
              <a:t>&lt;</a:t>
            </a:r>
            <a:r>
              <a:rPr lang="en-US" altLang="en-US" sz="1600" dirty="0" err="1">
                <a:latin typeface="Courier New" panose="02070309020205020404" pitchFamily="49" charset="0"/>
              </a:rPr>
              <a:t>th</a:t>
            </a:r>
            <a:r>
              <a:rPr lang="en-US" altLang="en-US" sz="1600" dirty="0">
                <a:latin typeface="Courier New" panose="02070309020205020404" pitchFamily="49" charset="0"/>
              </a:rPr>
              <a:t>&gt;</a:t>
            </a:r>
            <a:r>
              <a:rPr lang="en-US" altLang="en-US" dirty="0"/>
              <a:t> and </a:t>
            </a:r>
            <a:r>
              <a:rPr lang="en-US" altLang="en-US" sz="1600" dirty="0">
                <a:latin typeface="Courier New" panose="02070309020205020404" pitchFamily="49" charset="0"/>
              </a:rPr>
              <a:t>&lt;td&gt;</a:t>
            </a:r>
            <a:r>
              <a:rPr lang="en-US" altLang="en-US" dirty="0"/>
              <a:t> elements</a:t>
            </a:r>
          </a:p>
          <a:p>
            <a:endParaRPr lang="en-US" altLang="en-US" dirty="0"/>
          </a:p>
          <a:p>
            <a:pPr>
              <a:lnSpc>
                <a:spcPct val="100000"/>
              </a:lnSpc>
            </a:pPr>
            <a:r>
              <a:rPr lang="en-US" altLang="en-US" sz="1600" dirty="0">
                <a:latin typeface="Courier New" panose="02070309020205020404" pitchFamily="49" charset="0"/>
              </a:rPr>
              <a:t> </a:t>
            </a:r>
            <a:endParaRPr lang="en-US" altLang="en-US" dirty="0">
              <a:sym typeface="Wingdings" panose="05000000000000000000" pitchFamily="2" charset="2"/>
            </a:endParaRPr>
          </a:p>
          <a:p>
            <a:r>
              <a:rPr lang="en-US" altLang="en-US" dirty="0"/>
              <a:t>- The </a:t>
            </a:r>
            <a:r>
              <a:rPr lang="en-US" altLang="en-US" sz="1600" dirty="0" err="1">
                <a:latin typeface="Courier New" panose="02070309020205020404" pitchFamily="49" charset="0"/>
              </a:rPr>
              <a:t>cellspacing</a:t>
            </a:r>
            <a:r>
              <a:rPr lang="en-US" altLang="en-US" dirty="0"/>
              <a:t> attribute of </a:t>
            </a:r>
            <a:r>
              <a:rPr lang="en-US" altLang="en-US" sz="1600" dirty="0">
                <a:latin typeface="Courier New" panose="02070309020205020404" pitchFamily="49" charset="0"/>
              </a:rPr>
              <a:t>&lt;table&gt;</a:t>
            </a:r>
            <a:r>
              <a:rPr lang="en-US" altLang="en-US" dirty="0"/>
              <a:t> is used to specify the distance between cells in a table</a:t>
            </a:r>
          </a:p>
          <a:p>
            <a:endParaRPr lang="en-US" altLang="en-US" dirty="0"/>
          </a:p>
          <a:p>
            <a:r>
              <a:rPr lang="en-US" altLang="en-US" dirty="0"/>
              <a:t>- The </a:t>
            </a:r>
            <a:r>
              <a:rPr lang="en-US" altLang="en-US" sz="1600" dirty="0">
                <a:latin typeface="Courier New" panose="02070309020205020404" pitchFamily="49" charset="0"/>
              </a:rPr>
              <a:t>cellpadding</a:t>
            </a:r>
            <a:r>
              <a:rPr lang="en-US" altLang="en-US" dirty="0"/>
              <a:t> attribute of </a:t>
            </a:r>
            <a:r>
              <a:rPr lang="en-US" altLang="en-US" sz="1600" dirty="0">
                <a:latin typeface="Courier New" panose="02070309020205020404" pitchFamily="49" charset="0"/>
              </a:rPr>
              <a:t>&lt;table&gt;</a:t>
            </a:r>
            <a:r>
              <a:rPr lang="en-US" altLang="en-US" dirty="0"/>
              <a:t> is used to specify the spacing between the content of a cell</a:t>
            </a:r>
          </a:p>
          <a:p>
            <a:r>
              <a:rPr lang="en-US" altLang="en-US" dirty="0"/>
              <a:t>   and the inner walls of the cell</a:t>
            </a:r>
          </a:p>
          <a:p>
            <a:pPr>
              <a:lnSpc>
                <a:spcPct val="100000"/>
              </a:lnSpc>
            </a:pPr>
            <a:endParaRPr lang="en-US" altLang="en-US" dirty="0"/>
          </a:p>
        </p:txBody>
      </p:sp>
    </p:spTree>
    <p:extLst>
      <p:ext uri="{BB962C8B-B14F-4D97-AF65-F5344CB8AC3E}">
        <p14:creationId xmlns:p14="http://schemas.microsoft.com/office/powerpoint/2010/main" val="16995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anim calcmode="lin" valueType="num">
                                      <p:cBhvr additive="base">
                                        <p:cTn id="2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8" end="18"/>
                                            </p:txEl>
                                          </p:spTgt>
                                        </p:tgtEl>
                                        <p:attrNameLst>
                                          <p:attrName>style.visibility</p:attrName>
                                        </p:attrNameLst>
                                      </p:cBhvr>
                                      <p:to>
                                        <p:strVal val="visible"/>
                                      </p:to>
                                    </p:set>
                                    <p:anim calcmode="lin" valueType="num">
                                      <p:cBhvr additive="base">
                                        <p:cTn id="3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1BFF-15CF-F30F-D65B-744C0782731A}"/>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189F5C81-522B-7266-E981-F832A1298FA9}"/>
              </a:ext>
            </a:extLst>
          </p:cNvPr>
          <p:cNvSpPr txBox="1">
            <a:spLocks noChangeArrowheads="1"/>
          </p:cNvSpPr>
          <p:nvPr/>
        </p:nvSpPr>
        <p:spPr bwMode="auto">
          <a:xfrm>
            <a:off x="609600" y="533400"/>
            <a:ext cx="11193463" cy="495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2.8 Tables </a:t>
            </a:r>
            <a:r>
              <a:rPr lang="en-US" altLang="en-US" dirty="0"/>
              <a:t>(continued)</a:t>
            </a:r>
          </a:p>
          <a:p>
            <a:endParaRPr lang="en-US" altLang="en-US" dirty="0"/>
          </a:p>
          <a:p>
            <a:r>
              <a:rPr lang="en-US" altLang="en-US" dirty="0"/>
              <a:t>   </a:t>
            </a:r>
            <a:r>
              <a:rPr lang="en-US" altLang="en-US" sz="1600" dirty="0">
                <a:latin typeface="Courier New" panose="02070309020205020404" pitchFamily="49" charset="0"/>
              </a:rPr>
              <a:t>&lt;table </a:t>
            </a:r>
            <a:r>
              <a:rPr lang="en-US" altLang="en-US" sz="1600" dirty="0" err="1">
                <a:latin typeface="Courier New" panose="02070309020205020404" pitchFamily="49" charset="0"/>
              </a:rPr>
              <a:t>cellspacing</a:t>
            </a:r>
            <a:r>
              <a:rPr lang="en-US" altLang="en-US" sz="1600" dirty="0">
                <a:latin typeface="Courier New" panose="02070309020205020404" pitchFamily="49" charset="0"/>
              </a:rPr>
              <a:t> = "50"&gt;</a:t>
            </a:r>
          </a:p>
          <a:p>
            <a:r>
              <a:rPr lang="en-US" altLang="en-US" sz="1600" dirty="0">
                <a:latin typeface="Courier New" panose="02070309020205020404" pitchFamily="49" charset="0"/>
              </a:rPr>
              <a:t>     &lt;tr&gt;</a:t>
            </a:r>
          </a:p>
          <a:p>
            <a:r>
              <a:rPr lang="en-US" altLang="en-US" sz="1600" dirty="0">
                <a:latin typeface="Courier New" panose="02070309020205020404" pitchFamily="49" charset="0"/>
              </a:rPr>
              <a:t>        &lt;td&gt; Colorado is a state of …</a:t>
            </a:r>
          </a:p>
          <a:p>
            <a:r>
              <a:rPr lang="en-US" altLang="en-US" sz="1600" dirty="0">
                <a:latin typeface="Courier New" panose="02070309020205020404" pitchFamily="49" charset="0"/>
              </a:rPr>
              <a:t>        &lt;/td&gt;</a:t>
            </a:r>
          </a:p>
          <a:p>
            <a:r>
              <a:rPr lang="en-US" altLang="en-US" sz="1600" dirty="0">
                <a:latin typeface="Courier New" panose="02070309020205020404" pitchFamily="49" charset="0"/>
              </a:rPr>
              <a:t>        &lt;td&gt; South Dakota is somewhat…</a:t>
            </a:r>
          </a:p>
          <a:p>
            <a:r>
              <a:rPr lang="en-US" altLang="en-US" sz="1600" dirty="0">
                <a:latin typeface="Courier New" panose="02070309020205020404" pitchFamily="49" charset="0"/>
              </a:rPr>
              <a:t>        &lt;/td&gt;</a:t>
            </a:r>
          </a:p>
          <a:p>
            <a:r>
              <a:rPr lang="en-US" altLang="en-US" sz="1600" dirty="0">
                <a:latin typeface="Courier New" panose="02070309020205020404" pitchFamily="49" charset="0"/>
              </a:rPr>
              <a:t>     &lt;/tr&gt;</a:t>
            </a:r>
          </a:p>
          <a:p>
            <a:r>
              <a:rPr lang="en-US" altLang="en-US" sz="1600" dirty="0">
                <a:latin typeface="Courier New" panose="02070309020205020404" pitchFamily="49" charset="0"/>
              </a:rPr>
              <a:t>  &lt;/table&gt;</a:t>
            </a:r>
          </a:p>
          <a:p>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r>
              <a:rPr lang="en-US" altLang="en-US" sz="1600" i="1" dirty="0"/>
              <a:t>Table Sections</a:t>
            </a:r>
          </a:p>
          <a:p>
            <a:r>
              <a:rPr lang="en-US" altLang="en-US" sz="1600" dirty="0"/>
              <a:t>  - Header, body, and footer, which are the elements:</a:t>
            </a:r>
          </a:p>
          <a:p>
            <a:r>
              <a:rPr lang="en-US" altLang="en-US" sz="1600" dirty="0"/>
              <a:t>    </a:t>
            </a:r>
            <a:r>
              <a:rPr lang="en-US" altLang="en-US" sz="1400" dirty="0" err="1">
                <a:latin typeface="Courier New" panose="02070309020205020404" pitchFamily="49" charset="0"/>
              </a:rPr>
              <a:t>thead</a:t>
            </a:r>
            <a:r>
              <a:rPr lang="en-US" altLang="en-US" sz="1600" dirty="0"/>
              <a:t>, </a:t>
            </a:r>
            <a:r>
              <a:rPr lang="en-US" altLang="en-US" sz="1400" dirty="0" err="1">
                <a:latin typeface="Courier New" panose="02070309020205020404" pitchFamily="49" charset="0"/>
              </a:rPr>
              <a:t>tbody</a:t>
            </a:r>
            <a:r>
              <a:rPr lang="en-US" altLang="en-US" sz="1600" dirty="0"/>
              <a:t>, and </a:t>
            </a:r>
            <a:r>
              <a:rPr lang="en-US" altLang="en-US" sz="1400" dirty="0" err="1">
                <a:latin typeface="Courier New" panose="02070309020205020404" pitchFamily="49" charset="0"/>
              </a:rPr>
              <a:t>tfoot</a:t>
            </a:r>
            <a:endParaRPr lang="en-US" altLang="en-US" sz="1400" dirty="0">
              <a:latin typeface="Courier New" panose="02070309020205020404" pitchFamily="49" charset="0"/>
            </a:endParaRPr>
          </a:p>
          <a:p>
            <a:endParaRPr lang="en-US" altLang="en-US" sz="1600" dirty="0"/>
          </a:p>
          <a:p>
            <a:r>
              <a:rPr lang="en-US" altLang="en-US" sz="1600" dirty="0"/>
              <a:t>  - If a document has multiple </a:t>
            </a:r>
            <a:r>
              <a:rPr lang="en-US" altLang="en-US" sz="1400" dirty="0" err="1">
                <a:latin typeface="Courier New" panose="02070309020205020404" pitchFamily="49" charset="0"/>
              </a:rPr>
              <a:t>tbody</a:t>
            </a:r>
            <a:r>
              <a:rPr lang="en-US" altLang="en-US" sz="1600" dirty="0"/>
              <a:t> elements, they are separated by thicker horizontal lines</a:t>
            </a:r>
          </a:p>
          <a:p>
            <a:endParaRPr lang="en-US" altLang="en-US" sz="1600" dirty="0">
              <a:latin typeface="Courier New" panose="02070309020205020404" pitchFamily="49" charset="0"/>
            </a:endParaRPr>
          </a:p>
        </p:txBody>
      </p:sp>
      <p:graphicFrame>
        <p:nvGraphicFramePr>
          <p:cNvPr id="4" name="Object 5">
            <a:extLst>
              <a:ext uri="{FF2B5EF4-FFF2-40B4-BE49-F238E27FC236}">
                <a16:creationId xmlns:a16="http://schemas.microsoft.com/office/drawing/2014/main" id="{5D2239BF-D1B6-AB72-FE1D-9F5FC213F415}"/>
              </a:ext>
            </a:extLst>
          </p:cNvPr>
          <p:cNvGraphicFramePr>
            <a:graphicFrameLocks noChangeAspect="1"/>
          </p:cNvGraphicFramePr>
          <p:nvPr>
            <p:extLst>
              <p:ext uri="{D42A27DB-BD31-4B8C-83A1-F6EECF244321}">
                <p14:modId xmlns:p14="http://schemas.microsoft.com/office/powerpoint/2010/main" val="883042995"/>
              </p:ext>
            </p:extLst>
          </p:nvPr>
        </p:nvGraphicFramePr>
        <p:xfrm>
          <a:off x="6324600" y="533400"/>
          <a:ext cx="5478463" cy="3048000"/>
        </p:xfrm>
        <a:graphic>
          <a:graphicData uri="http://schemas.openxmlformats.org/presentationml/2006/ole">
            <mc:AlternateContent xmlns:mc="http://schemas.openxmlformats.org/markup-compatibility/2006">
              <mc:Choice xmlns:v="urn:schemas-microsoft-com:vml" Requires="v">
                <p:oleObj name="Document" r:id="rId2" imgW="5477400" imgH="3535200" progId="Word.Document.8">
                  <p:embed/>
                </p:oleObj>
              </mc:Choice>
              <mc:Fallback>
                <p:oleObj name="Document" r:id="rId2" imgW="5477400" imgH="3535200" progId="Word.Document.8">
                  <p:embed/>
                  <p:pic>
                    <p:nvPicPr>
                      <p:cNvPr id="54277" name="Object 5">
                        <a:extLst>
                          <a:ext uri="{FF2B5EF4-FFF2-40B4-BE49-F238E27FC236}">
                            <a16:creationId xmlns:a16="http://schemas.microsoft.com/office/drawing/2014/main" id="{B54D0F04-161D-D4EA-38F4-DB9533C54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33400"/>
                        <a:ext cx="5478463"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8299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additive="base">
                                        <p:cTn id="53" dur="500" fill="hold"/>
                                        <p:tgtEl>
                                          <p:spTgt spid="4"/>
                                        </p:tgtEl>
                                        <p:attrNameLst>
                                          <p:attrName>ppt_x</p:attrName>
                                        </p:attrNameLst>
                                      </p:cBhvr>
                                      <p:tavLst>
                                        <p:tav tm="0">
                                          <p:val>
                                            <p:strVal val="#ppt_x"/>
                                          </p:val>
                                        </p:tav>
                                        <p:tav tm="100000">
                                          <p:val>
                                            <p:strVal val="#ppt_x"/>
                                          </p:val>
                                        </p:tav>
                                      </p:tavLst>
                                    </p:anim>
                                    <p:anim calcmode="lin" valueType="num">
                                      <p:cBhvr additive="base">
                                        <p:cTn id="5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79E21-C9F2-86BB-0552-1C32A8A408ED}"/>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F72CDF18-FC10-9C69-86E1-C25B4EE53BDB}"/>
              </a:ext>
            </a:extLst>
          </p:cNvPr>
          <p:cNvSpPr txBox="1">
            <a:spLocks noChangeArrowheads="1"/>
          </p:cNvSpPr>
          <p:nvPr/>
        </p:nvSpPr>
        <p:spPr bwMode="auto">
          <a:xfrm>
            <a:off x="403411" y="475129"/>
            <a:ext cx="11241741" cy="541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Forms</a:t>
            </a:r>
          </a:p>
          <a:p>
            <a:endParaRPr lang="en-US" altLang="en-US" dirty="0"/>
          </a:p>
          <a:p>
            <a:pPr>
              <a:lnSpc>
                <a:spcPct val="100000"/>
              </a:lnSpc>
            </a:pPr>
            <a:r>
              <a:rPr lang="en-US" altLang="en-US" dirty="0"/>
              <a:t>- A form is the usual way information is gotten from a browser to a server</a:t>
            </a:r>
          </a:p>
          <a:p>
            <a:pPr>
              <a:lnSpc>
                <a:spcPct val="100000"/>
              </a:lnSpc>
            </a:pPr>
            <a:endParaRPr lang="en-US" altLang="en-US" dirty="0"/>
          </a:p>
          <a:p>
            <a:pPr>
              <a:lnSpc>
                <a:spcPct val="100000"/>
              </a:lnSpc>
            </a:pPr>
            <a:r>
              <a:rPr lang="en-US" altLang="en-US" dirty="0"/>
              <a:t> 	- HTML has tags to create a collection of objects that implement this information gathering</a:t>
            </a:r>
          </a:p>
          <a:p>
            <a:pPr>
              <a:lnSpc>
                <a:spcPct val="100000"/>
              </a:lnSpc>
            </a:pPr>
            <a:endParaRPr lang="en-US" altLang="en-US" dirty="0"/>
          </a:p>
          <a:p>
            <a:pPr>
              <a:lnSpc>
                <a:spcPct val="100000"/>
              </a:lnSpc>
            </a:pPr>
            <a:r>
              <a:rPr lang="en-US" altLang="en-US" dirty="0"/>
              <a:t>   	- The objects are called </a:t>
            </a:r>
            <a:r>
              <a:rPr lang="en-US" altLang="en-US" i="1" dirty="0"/>
              <a:t>widgets</a:t>
            </a:r>
            <a:r>
              <a:rPr lang="en-US" altLang="en-US" dirty="0"/>
              <a:t> (e.g., radio buttons and checkboxes)</a:t>
            </a:r>
          </a:p>
          <a:p>
            <a:pPr>
              <a:lnSpc>
                <a:spcPct val="100000"/>
              </a:lnSpc>
            </a:pPr>
            <a:endParaRPr lang="en-US" altLang="en-US" dirty="0"/>
          </a:p>
          <a:p>
            <a:pPr>
              <a:lnSpc>
                <a:spcPct val="100000"/>
              </a:lnSpc>
            </a:pPr>
            <a:r>
              <a:rPr lang="en-US" altLang="en-US" dirty="0"/>
              <a:t> - When the Submit button of a form is clicked, the form’s values are sent to the server</a:t>
            </a:r>
          </a:p>
          <a:p>
            <a:pPr>
              <a:lnSpc>
                <a:spcPct val="100000"/>
              </a:lnSpc>
            </a:pPr>
            <a:endParaRPr lang="en-US" altLang="en-US" dirty="0"/>
          </a:p>
          <a:p>
            <a:pPr>
              <a:lnSpc>
                <a:spcPct val="100000"/>
              </a:lnSpc>
            </a:pPr>
            <a:r>
              <a:rPr lang="en-US" altLang="en-US" dirty="0"/>
              <a:t> - All of the widgets, or components of a form are defined in the content of a </a:t>
            </a:r>
            <a:r>
              <a:rPr lang="en-US" altLang="en-US" sz="1600" dirty="0">
                <a:latin typeface="Courier New" panose="02070309020205020404" pitchFamily="49" charset="0"/>
              </a:rPr>
              <a:t>&lt;form&gt;</a:t>
            </a:r>
            <a:r>
              <a:rPr lang="en-US" altLang="en-US" dirty="0"/>
              <a:t> tag</a:t>
            </a:r>
          </a:p>
          <a:p>
            <a:pPr>
              <a:lnSpc>
                <a:spcPct val="100000"/>
              </a:lnSpc>
            </a:pPr>
            <a:endParaRPr lang="en-US" altLang="en-US" dirty="0"/>
          </a:p>
          <a:p>
            <a:pPr lvl="1"/>
            <a:r>
              <a:rPr lang="en-US" altLang="en-US" sz="1600" dirty="0">
                <a:latin typeface="Courier New" panose="02070309020205020404" pitchFamily="49" charset="0"/>
              </a:rPr>
              <a:t>  </a:t>
            </a:r>
            <a:r>
              <a:rPr lang="en-US" altLang="en-US" dirty="0"/>
              <a:t>- The only required attribute of </a:t>
            </a:r>
            <a:r>
              <a:rPr lang="en-US" altLang="en-US" sz="1600" dirty="0">
                <a:latin typeface="Courier New" panose="02070309020205020404" pitchFamily="49" charset="0"/>
              </a:rPr>
              <a:t>&lt;form&gt;</a:t>
            </a:r>
            <a:r>
              <a:rPr lang="en-US" altLang="en-US" dirty="0"/>
              <a:t> is </a:t>
            </a:r>
            <a:r>
              <a:rPr lang="en-US" altLang="en-US" sz="1600" dirty="0">
                <a:latin typeface="Courier New" panose="02070309020205020404" pitchFamily="49" charset="0"/>
              </a:rPr>
              <a:t>action</a:t>
            </a:r>
            <a:r>
              <a:rPr lang="en-US" altLang="en-US" dirty="0"/>
              <a:t>, which specifies the URL of the application that is to be called when the Submit button is clicked</a:t>
            </a:r>
          </a:p>
          <a:p>
            <a:pPr>
              <a:lnSpc>
                <a:spcPct val="100000"/>
              </a:lnSpc>
            </a:pPr>
            <a:endParaRPr lang="en-US" altLang="en-US" dirty="0"/>
          </a:p>
          <a:p>
            <a:pPr>
              <a:lnSpc>
                <a:spcPct val="100000"/>
              </a:lnSpc>
            </a:pPr>
            <a:r>
              <a:rPr lang="en-US" altLang="en-US" sz="1600" dirty="0">
                <a:latin typeface="Courier New" panose="02070309020205020404" pitchFamily="49" charset="0"/>
              </a:rPr>
              <a:t>   	action = "http://www.cs.ucp.edu/cgi-bin/survey.pl"</a:t>
            </a:r>
          </a:p>
          <a:p>
            <a:pPr>
              <a:lnSpc>
                <a:spcPct val="100000"/>
              </a:lnSpc>
            </a:pPr>
            <a:endParaRPr lang="en-US" altLang="en-US" dirty="0"/>
          </a:p>
          <a:p>
            <a:pPr>
              <a:lnSpc>
                <a:spcPct val="100000"/>
              </a:lnSpc>
            </a:pPr>
            <a:r>
              <a:rPr lang="en-US" altLang="en-US" dirty="0"/>
              <a:t>       - If the form has no action, the value of </a:t>
            </a:r>
            <a:r>
              <a:rPr lang="en-US" altLang="en-US" sz="1600" dirty="0">
                <a:latin typeface="Courier New" panose="02070309020205020404" pitchFamily="49" charset="0"/>
              </a:rPr>
              <a:t>action</a:t>
            </a:r>
            <a:r>
              <a:rPr lang="en-US" altLang="en-US" dirty="0"/>
              <a:t> is the empty string</a:t>
            </a:r>
          </a:p>
          <a:p>
            <a:endParaRPr lang="en-US" altLang="en-US" dirty="0"/>
          </a:p>
        </p:txBody>
      </p:sp>
    </p:spTree>
    <p:extLst>
      <p:ext uri="{BB962C8B-B14F-4D97-AF65-F5344CB8AC3E}">
        <p14:creationId xmlns:p14="http://schemas.microsoft.com/office/powerpoint/2010/main" val="33516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5ECA4-C04E-87C9-31F3-39622D0D3E14}"/>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5CAE058A-0072-FEC2-98E0-39258DDFB16F}"/>
              </a:ext>
            </a:extLst>
          </p:cNvPr>
          <p:cNvSpPr txBox="1">
            <a:spLocks noChangeArrowheads="1"/>
          </p:cNvSpPr>
          <p:nvPr/>
        </p:nvSpPr>
        <p:spPr bwMode="auto">
          <a:xfrm>
            <a:off x="517525" y="679450"/>
            <a:ext cx="11127628"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Forms </a:t>
            </a:r>
            <a:r>
              <a:rPr lang="en-US" altLang="en-US" dirty="0"/>
              <a:t>(continued)</a:t>
            </a:r>
          </a:p>
          <a:p>
            <a:endParaRPr lang="en-US" altLang="en-US" dirty="0"/>
          </a:p>
          <a:p>
            <a:pPr>
              <a:lnSpc>
                <a:spcPct val="100000"/>
              </a:lnSpc>
            </a:pPr>
            <a:r>
              <a:rPr lang="en-US" altLang="en-US" b="0" dirty="0"/>
              <a:t>- The </a:t>
            </a:r>
            <a:r>
              <a:rPr lang="en-US" altLang="en-US" sz="1600" b="0" dirty="0">
                <a:latin typeface="Courier New" panose="02070309020205020404" pitchFamily="49" charset="0"/>
              </a:rPr>
              <a:t>method</a:t>
            </a:r>
            <a:r>
              <a:rPr lang="en-US" altLang="en-US" b="0" dirty="0"/>
              <a:t> attribute of </a:t>
            </a:r>
            <a:r>
              <a:rPr lang="en-US" altLang="en-US" sz="1600" b="0" dirty="0">
                <a:latin typeface="Courier New" panose="02070309020205020404" pitchFamily="49" charset="0"/>
              </a:rPr>
              <a:t>&lt;form&gt;</a:t>
            </a:r>
            <a:r>
              <a:rPr lang="en-US" altLang="en-US" b="0" dirty="0"/>
              <a:t> specifies one of the two possible techniques of transferring the</a:t>
            </a:r>
          </a:p>
          <a:p>
            <a:pPr>
              <a:lnSpc>
                <a:spcPct val="100000"/>
              </a:lnSpc>
            </a:pPr>
            <a:r>
              <a:rPr lang="en-US" altLang="en-US" b="0" dirty="0"/>
              <a:t>        form data to the server, </a:t>
            </a:r>
            <a:r>
              <a:rPr lang="en-US" altLang="en-US" sz="1600" b="0" dirty="0">
                <a:latin typeface="Courier New" panose="02070309020205020404" pitchFamily="49" charset="0"/>
              </a:rPr>
              <a:t>get</a:t>
            </a:r>
            <a:r>
              <a:rPr lang="en-US" altLang="en-US" b="0" dirty="0"/>
              <a:t> and </a:t>
            </a:r>
            <a:r>
              <a:rPr lang="en-US" altLang="en-US" sz="1600" b="0" dirty="0">
                <a:latin typeface="Courier New" panose="02070309020205020404" pitchFamily="49" charset="0"/>
              </a:rPr>
              <a:t>post</a:t>
            </a:r>
            <a:endParaRPr lang="en-US" altLang="en-US" b="0" dirty="0"/>
          </a:p>
          <a:p>
            <a:pPr>
              <a:lnSpc>
                <a:spcPct val="100000"/>
              </a:lnSpc>
            </a:pPr>
            <a:r>
              <a:rPr lang="en-US" altLang="en-US" b="0" dirty="0"/>
              <a:t>        </a:t>
            </a:r>
          </a:p>
          <a:p>
            <a:pPr>
              <a:lnSpc>
                <a:spcPct val="100000"/>
              </a:lnSpc>
            </a:pPr>
            <a:r>
              <a:rPr lang="en-US" altLang="en-US" b="0" dirty="0"/>
              <a:t>     - </a:t>
            </a:r>
            <a:r>
              <a:rPr lang="en-US" altLang="en-US" sz="1600" b="0" dirty="0">
                <a:latin typeface="Courier New" panose="02070309020205020404" pitchFamily="49" charset="0"/>
              </a:rPr>
              <a:t>get</a:t>
            </a:r>
            <a:r>
              <a:rPr lang="en-US" altLang="en-US" b="0" dirty="0"/>
              <a:t> and </a:t>
            </a:r>
            <a:r>
              <a:rPr lang="en-US" altLang="en-US" sz="1600" b="0" dirty="0">
                <a:latin typeface="Courier New" panose="02070309020205020404" pitchFamily="49" charset="0"/>
              </a:rPr>
              <a:t>post</a:t>
            </a:r>
            <a:r>
              <a:rPr lang="en-US" altLang="en-US" b="0" dirty="0"/>
              <a:t> are discussed later</a:t>
            </a:r>
          </a:p>
          <a:p>
            <a:pPr>
              <a:lnSpc>
                <a:spcPct val="100000"/>
              </a:lnSpc>
            </a:pPr>
            <a:endParaRPr lang="en-US" altLang="en-US" b="0" dirty="0"/>
          </a:p>
          <a:p>
            <a:pPr>
              <a:lnSpc>
                <a:spcPct val="100000"/>
              </a:lnSpc>
            </a:pPr>
            <a:r>
              <a:rPr lang="en-US" altLang="en-US" b="0" dirty="0"/>
              <a:t>- </a:t>
            </a:r>
            <a:r>
              <a:rPr lang="en-US" altLang="en-US" b="0" i="1" dirty="0"/>
              <a:t>Widgets</a:t>
            </a:r>
            <a:endParaRPr lang="en-US" altLang="en-US" b="0" dirty="0"/>
          </a:p>
          <a:p>
            <a:pPr>
              <a:lnSpc>
                <a:spcPct val="100000"/>
              </a:lnSpc>
            </a:pPr>
            <a:endParaRPr lang="en-US" altLang="en-US" b="0" dirty="0"/>
          </a:p>
          <a:p>
            <a:pPr>
              <a:lnSpc>
                <a:spcPct val="100000"/>
              </a:lnSpc>
            </a:pPr>
            <a:r>
              <a:rPr lang="en-US" altLang="en-US" b="0" dirty="0"/>
              <a:t>   - Many are created with the </a:t>
            </a:r>
            <a:r>
              <a:rPr lang="en-US" altLang="en-US" sz="1600" b="0" dirty="0">
                <a:latin typeface="Courier New" panose="02070309020205020404" pitchFamily="49" charset="0"/>
              </a:rPr>
              <a:t>&lt;input&gt;</a:t>
            </a:r>
            <a:r>
              <a:rPr lang="en-US" altLang="en-US" b="0" dirty="0"/>
              <a:t> tag</a:t>
            </a:r>
          </a:p>
          <a:p>
            <a:pPr>
              <a:lnSpc>
                <a:spcPct val="100000"/>
              </a:lnSpc>
            </a:pPr>
            <a:endParaRPr lang="en-US" altLang="en-US" b="0" dirty="0"/>
          </a:p>
          <a:p>
            <a:pPr>
              <a:lnSpc>
                <a:spcPct val="100000"/>
              </a:lnSpc>
            </a:pPr>
            <a:r>
              <a:rPr lang="en-US" altLang="en-US" b="0" dirty="0"/>
              <a:t>   - The </a:t>
            </a:r>
            <a:r>
              <a:rPr lang="en-US" altLang="en-US" sz="1600" b="0" dirty="0">
                <a:latin typeface="Courier New" panose="02070309020205020404" pitchFamily="49" charset="0"/>
              </a:rPr>
              <a:t>type</a:t>
            </a:r>
            <a:r>
              <a:rPr lang="en-US" altLang="en-US" b="0" dirty="0"/>
              <a:t> attribute of </a:t>
            </a:r>
            <a:r>
              <a:rPr lang="en-US" altLang="en-US" sz="1600" b="0" dirty="0">
                <a:latin typeface="Courier New" panose="02070309020205020404" pitchFamily="49" charset="0"/>
              </a:rPr>
              <a:t>&lt;input&gt;</a:t>
            </a:r>
            <a:r>
              <a:rPr lang="en-US" altLang="en-US" b="0" dirty="0"/>
              <a:t> specifies the kind of widget being created</a:t>
            </a:r>
          </a:p>
          <a:p>
            <a:pPr>
              <a:lnSpc>
                <a:spcPct val="100000"/>
              </a:lnSpc>
            </a:pPr>
            <a:endParaRPr lang="en-US" altLang="en-US" b="0" dirty="0"/>
          </a:p>
          <a:p>
            <a:pPr>
              <a:lnSpc>
                <a:spcPct val="100000"/>
              </a:lnSpc>
            </a:pPr>
            <a:r>
              <a:rPr lang="en-US" altLang="en-US" b="0" dirty="0"/>
              <a:t>     1. Text</a:t>
            </a:r>
          </a:p>
          <a:p>
            <a:pPr>
              <a:lnSpc>
                <a:spcPct val="100000"/>
              </a:lnSpc>
            </a:pPr>
            <a:endParaRPr lang="en-US" altLang="en-US" b="0" dirty="0"/>
          </a:p>
          <a:p>
            <a:pPr>
              <a:lnSpc>
                <a:spcPct val="100000"/>
              </a:lnSpc>
            </a:pPr>
            <a:r>
              <a:rPr lang="en-US" altLang="en-US" b="0" dirty="0"/>
              <a:t>         - Creates a horizontal box for text input</a:t>
            </a:r>
          </a:p>
          <a:p>
            <a:pPr>
              <a:lnSpc>
                <a:spcPct val="100000"/>
              </a:lnSpc>
            </a:pPr>
            <a:endParaRPr lang="en-US" altLang="en-US" b="0" dirty="0"/>
          </a:p>
          <a:p>
            <a:pPr>
              <a:lnSpc>
                <a:spcPct val="100000"/>
              </a:lnSpc>
            </a:pPr>
            <a:r>
              <a:rPr lang="en-US" altLang="en-US" b="0" dirty="0"/>
              <a:t>         - Default size is 20; it can be changed with the </a:t>
            </a:r>
            <a:r>
              <a:rPr lang="en-US" altLang="en-US" sz="1600" b="0" dirty="0">
                <a:latin typeface="Courier New" panose="02070309020205020404" pitchFamily="49" charset="0"/>
              </a:rPr>
              <a:t>size</a:t>
            </a:r>
            <a:r>
              <a:rPr lang="en-US" altLang="en-US" b="0" dirty="0"/>
              <a:t> attribute</a:t>
            </a:r>
          </a:p>
          <a:p>
            <a:pPr>
              <a:lnSpc>
                <a:spcPct val="100000"/>
              </a:lnSpc>
            </a:pPr>
            <a:endParaRPr lang="en-US" altLang="en-US" b="0" dirty="0"/>
          </a:p>
          <a:p>
            <a:pPr>
              <a:lnSpc>
                <a:spcPct val="100000"/>
              </a:lnSpc>
            </a:pPr>
            <a:r>
              <a:rPr lang="en-US" altLang="en-US" b="0" dirty="0"/>
              <a:t>         - If more characters are entered than will fit, the box is scrolled (shifted) left</a:t>
            </a:r>
          </a:p>
          <a:p>
            <a:pPr>
              <a:lnSpc>
                <a:spcPct val="100000"/>
              </a:lnSpc>
            </a:pPr>
            <a:endParaRPr lang="en-US" altLang="en-US" dirty="0"/>
          </a:p>
          <a:p>
            <a:endParaRPr lang="en-US" altLang="en-US" dirty="0"/>
          </a:p>
        </p:txBody>
      </p:sp>
    </p:spTree>
    <p:extLst>
      <p:ext uri="{BB962C8B-B14F-4D97-AF65-F5344CB8AC3E}">
        <p14:creationId xmlns:p14="http://schemas.microsoft.com/office/powerpoint/2010/main" val="3948033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3EAC3-AA1E-1296-8D3F-32D06B75D8DC}"/>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2854A663-0C43-6C23-8B70-18B76142FAE7}"/>
              </a:ext>
            </a:extLst>
          </p:cNvPr>
          <p:cNvSpPr txBox="1">
            <a:spLocks noChangeArrowheads="1"/>
          </p:cNvSpPr>
          <p:nvPr/>
        </p:nvSpPr>
        <p:spPr bwMode="auto">
          <a:xfrm>
            <a:off x="479612" y="300318"/>
            <a:ext cx="11232776" cy="652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Forms </a:t>
            </a:r>
            <a:r>
              <a:rPr lang="en-US" altLang="en-US" dirty="0"/>
              <a:t>(continued)</a:t>
            </a:r>
          </a:p>
          <a:p>
            <a:endParaRPr lang="en-US" altLang="en-US" b="0" dirty="0"/>
          </a:p>
          <a:p>
            <a:pPr>
              <a:lnSpc>
                <a:spcPct val="100000"/>
              </a:lnSpc>
            </a:pPr>
            <a:r>
              <a:rPr lang="en-US" altLang="en-US" b="0" dirty="0"/>
              <a:t>       - If you don’t want to allow the user to type more characters than will fit, set </a:t>
            </a:r>
            <a:r>
              <a:rPr lang="en-US" altLang="en-US" sz="1600" b="0" dirty="0" err="1">
                <a:latin typeface="Courier New" panose="02070309020205020404" pitchFamily="49" charset="0"/>
              </a:rPr>
              <a:t>maxlength</a:t>
            </a:r>
            <a:r>
              <a:rPr lang="en-US" altLang="en-US" b="0" dirty="0"/>
              <a:t>, which</a:t>
            </a:r>
          </a:p>
          <a:p>
            <a:pPr>
              <a:lnSpc>
                <a:spcPct val="100000"/>
              </a:lnSpc>
            </a:pPr>
            <a:r>
              <a:rPr lang="en-US" altLang="en-US" b="0" dirty="0"/>
              <a:t>           causes excess input to be ignored</a:t>
            </a:r>
          </a:p>
          <a:p>
            <a:pPr>
              <a:lnSpc>
                <a:spcPct val="100000"/>
              </a:lnSpc>
            </a:pPr>
            <a:endParaRPr lang="en-US" altLang="en-US" b="0" dirty="0"/>
          </a:p>
          <a:p>
            <a:pPr>
              <a:lnSpc>
                <a:spcPct val="100000"/>
              </a:lnSpc>
            </a:pPr>
            <a:r>
              <a:rPr lang="en-US" altLang="en-US" b="0" dirty="0"/>
              <a:t>          </a:t>
            </a:r>
            <a:r>
              <a:rPr lang="en-US" altLang="en-US" sz="1600" b="0" dirty="0">
                <a:latin typeface="Courier New" panose="02070309020205020404" pitchFamily="49" charset="0"/>
              </a:rPr>
              <a:t>&lt;input type = "text" name = "Phone" size = "12" &gt;</a:t>
            </a:r>
            <a:endParaRPr lang="en-US" altLang="en-US" b="0" dirty="0"/>
          </a:p>
          <a:p>
            <a:pPr>
              <a:lnSpc>
                <a:spcPct val="100000"/>
              </a:lnSpc>
            </a:pPr>
            <a:r>
              <a:rPr lang="en-US" altLang="en-US" b="0" dirty="0"/>
              <a:t>  </a:t>
            </a:r>
          </a:p>
          <a:p>
            <a:pPr>
              <a:lnSpc>
                <a:spcPct val="100000"/>
              </a:lnSpc>
            </a:pPr>
            <a:r>
              <a:rPr lang="en-US" altLang="en-US" b="0" dirty="0"/>
              <a:t>   2. </a:t>
            </a:r>
            <a:r>
              <a:rPr lang="en-US" altLang="en-US" b="0" i="1" dirty="0"/>
              <a:t>Checkboxes </a:t>
            </a:r>
            <a:r>
              <a:rPr lang="en-US" altLang="en-US" b="0" dirty="0"/>
              <a:t>- to collect multiple choice input</a:t>
            </a:r>
          </a:p>
          <a:p>
            <a:r>
              <a:rPr lang="en-US" altLang="en-US" b="0" dirty="0"/>
              <a:t>          </a:t>
            </a:r>
          </a:p>
          <a:p>
            <a:r>
              <a:rPr lang="en-US" altLang="en-US" b="0" dirty="0"/>
              <a:t>        - Every checkbox requires a </a:t>
            </a:r>
            <a:r>
              <a:rPr lang="en-US" altLang="en-US" sz="1600" b="0" dirty="0">
                <a:latin typeface="Courier New" panose="02070309020205020404" pitchFamily="49" charset="0"/>
              </a:rPr>
              <a:t>value</a:t>
            </a:r>
            <a:r>
              <a:rPr lang="en-US" altLang="en-US" b="0" dirty="0"/>
              <a:t> attribute, which is the widget’s value in the form data when            	the checkbox is ‘checked’</a:t>
            </a:r>
          </a:p>
          <a:p>
            <a:endParaRPr lang="en-US" altLang="en-US" b="0" dirty="0"/>
          </a:p>
          <a:p>
            <a:r>
              <a:rPr lang="en-US" altLang="en-US" b="0" dirty="0"/>
              <a:t>           - A checkbox that is not ‘checked’ contributes no value to the form data</a:t>
            </a:r>
          </a:p>
          <a:p>
            <a:endParaRPr lang="en-US" altLang="en-US" b="0" dirty="0"/>
          </a:p>
          <a:p>
            <a:r>
              <a:rPr lang="en-US" altLang="en-US" b="0" dirty="0"/>
              <a:t>         - By default, no checkbox is initially ‘checked’</a:t>
            </a:r>
          </a:p>
          <a:p>
            <a:endParaRPr lang="en-US" altLang="en-US" b="0" dirty="0"/>
          </a:p>
          <a:p>
            <a:r>
              <a:rPr lang="en-US" altLang="en-US" b="0" dirty="0"/>
              <a:t>         - To initialize a checkbox to ‘checked’, the</a:t>
            </a:r>
          </a:p>
          <a:p>
            <a:r>
              <a:rPr lang="en-US" altLang="en-US" b="0" dirty="0"/>
              <a:t>            </a:t>
            </a:r>
            <a:r>
              <a:rPr lang="en-US" altLang="en-US" sz="1600" b="0" dirty="0">
                <a:latin typeface="Courier New" panose="02070309020205020404" pitchFamily="49" charset="0"/>
              </a:rPr>
              <a:t>checked</a:t>
            </a:r>
            <a:r>
              <a:rPr lang="en-US" altLang="en-US" b="0" dirty="0"/>
              <a:t> attribute must be set to </a:t>
            </a:r>
            <a:r>
              <a:rPr lang="en-US" altLang="en-US" sz="1600" b="0" dirty="0">
                <a:latin typeface="Courier New" panose="02070309020205020404" pitchFamily="49" charset="0"/>
              </a:rPr>
              <a:t>"checked“</a:t>
            </a:r>
          </a:p>
          <a:p>
            <a:endParaRPr lang="en-US" altLang="en-US" sz="1600" b="0" dirty="0">
              <a:latin typeface="Courier New" panose="02070309020205020404" pitchFamily="49" charset="0"/>
            </a:endParaRPr>
          </a:p>
          <a:p>
            <a:endParaRPr lang="en-US" altLang="en-US" b="0" dirty="0"/>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6751946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7AF8-6E76-A1FE-4582-6A3ECC491E78}"/>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CBFA9849-3681-4B92-BD39-9372D8FE8E33}"/>
              </a:ext>
            </a:extLst>
          </p:cNvPr>
          <p:cNvSpPr txBox="1">
            <a:spLocks noChangeArrowheads="1"/>
          </p:cNvSpPr>
          <p:nvPr/>
        </p:nvSpPr>
        <p:spPr bwMode="auto">
          <a:xfrm>
            <a:off x="623047" y="349624"/>
            <a:ext cx="10941424" cy="472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ct val="0"/>
              </a:spcBef>
              <a:buSzTx/>
              <a:buFontTx/>
              <a:buNone/>
            </a:pPr>
            <a:r>
              <a:rPr lang="en-US" altLang="en-US" dirty="0"/>
              <a:t>Forms</a:t>
            </a:r>
            <a:r>
              <a:rPr lang="en-US" altLang="en-US" sz="1800" dirty="0"/>
              <a:t> (continued)</a:t>
            </a:r>
          </a:p>
          <a:p>
            <a:pPr>
              <a:lnSpc>
                <a:spcPct val="100000"/>
              </a:lnSpc>
              <a:spcBef>
                <a:spcPct val="0"/>
              </a:spcBef>
              <a:buSzTx/>
              <a:buFontTx/>
              <a:buNone/>
            </a:pPr>
            <a:r>
              <a:rPr lang="en-US" altLang="en-US" sz="1800" dirty="0"/>
              <a:t>- </a:t>
            </a:r>
            <a:r>
              <a:rPr lang="en-US" altLang="en-US" sz="1800" i="1" dirty="0"/>
              <a:t>Widgets </a:t>
            </a:r>
            <a:r>
              <a:rPr lang="en-US" altLang="en-US" sz="1800" dirty="0"/>
              <a:t>(continued)</a:t>
            </a:r>
          </a:p>
          <a:p>
            <a:pPr>
              <a:lnSpc>
                <a:spcPct val="100000"/>
              </a:lnSpc>
              <a:spcBef>
                <a:spcPct val="0"/>
              </a:spcBef>
              <a:buSzTx/>
              <a:buFontTx/>
              <a:buNone/>
            </a:pPr>
            <a:endParaRPr lang="en-US" altLang="en-US" sz="1800" dirty="0"/>
          </a:p>
          <a:p>
            <a:pPr>
              <a:lnSpc>
                <a:spcPct val="100000"/>
              </a:lnSpc>
              <a:spcBef>
                <a:spcPct val="0"/>
              </a:spcBef>
              <a:buSzTx/>
              <a:buFontTx/>
              <a:buNone/>
            </a:pPr>
            <a:r>
              <a:rPr lang="en-US" altLang="en-US" sz="1600" dirty="0">
                <a:latin typeface="Courier New" panose="02070309020205020404" pitchFamily="49" charset="0"/>
              </a:rPr>
              <a:t>Grocery Checklist</a:t>
            </a:r>
          </a:p>
          <a:p>
            <a:pPr>
              <a:lnSpc>
                <a:spcPct val="100000"/>
              </a:lnSpc>
              <a:spcBef>
                <a:spcPct val="0"/>
              </a:spcBef>
              <a:buSzTx/>
              <a:buFontTx/>
              <a:buNone/>
            </a:pPr>
            <a:r>
              <a:rPr lang="en-US" altLang="en-US" sz="1600" dirty="0">
                <a:latin typeface="Courier New" panose="02070309020205020404" pitchFamily="49" charset="0"/>
              </a:rPr>
              <a:t>&lt;form action = ""&gt;</a:t>
            </a:r>
          </a:p>
          <a:p>
            <a:pPr>
              <a:lnSpc>
                <a:spcPct val="100000"/>
              </a:lnSpc>
              <a:spcBef>
                <a:spcPct val="0"/>
              </a:spcBef>
              <a:buSzTx/>
              <a:buFontTx/>
              <a:buNone/>
            </a:pPr>
            <a:r>
              <a:rPr lang="en-US" altLang="en-US" sz="1600" dirty="0">
                <a:latin typeface="Courier New" panose="02070309020205020404" pitchFamily="49" charset="0"/>
              </a:rPr>
              <a:t>  &lt;p&gt;</a:t>
            </a:r>
          </a:p>
          <a:p>
            <a:pPr>
              <a:lnSpc>
                <a:spcPct val="100000"/>
              </a:lnSpc>
              <a:spcBef>
                <a:spcPct val="0"/>
              </a:spcBef>
              <a:buSzTx/>
              <a:buFontTx/>
              <a:buNone/>
            </a:pPr>
            <a:r>
              <a:rPr lang="en-US" altLang="en-US" sz="1600" dirty="0">
                <a:latin typeface="Courier New" panose="02070309020205020404" pitchFamily="49" charset="0"/>
              </a:rPr>
              <a:t>  &lt;input type = "checkbox"  name ="groceries“ value = "milk"  checked = "checked"&gt;</a:t>
            </a:r>
          </a:p>
          <a:p>
            <a:pPr>
              <a:lnSpc>
                <a:spcPct val="100000"/>
              </a:lnSpc>
              <a:spcBef>
                <a:spcPct val="0"/>
              </a:spcBef>
              <a:buSzTx/>
              <a:buFontTx/>
              <a:buNone/>
            </a:pPr>
            <a:r>
              <a:rPr lang="en-US" altLang="en-US" sz="1600" dirty="0">
                <a:latin typeface="Courier New" panose="02070309020205020404" pitchFamily="49" charset="0"/>
              </a:rPr>
              <a:t>   Milk</a:t>
            </a:r>
          </a:p>
          <a:p>
            <a:pPr>
              <a:lnSpc>
                <a:spcPct val="100000"/>
              </a:lnSpc>
              <a:spcBef>
                <a:spcPct val="0"/>
              </a:spcBef>
              <a:buSzTx/>
              <a:buFontTx/>
              <a:buNone/>
            </a:pPr>
            <a:r>
              <a:rPr lang="en-US" altLang="en-US" sz="1600" dirty="0">
                <a:latin typeface="Courier New" panose="02070309020205020404" pitchFamily="49" charset="0"/>
              </a:rPr>
              <a:t>  &lt;input type = "checkbox"  name ="groceries“ value = "bread"&gt;</a:t>
            </a:r>
          </a:p>
          <a:p>
            <a:pPr>
              <a:lnSpc>
                <a:spcPct val="100000"/>
              </a:lnSpc>
              <a:spcBef>
                <a:spcPct val="0"/>
              </a:spcBef>
              <a:buSzTx/>
              <a:buFontTx/>
              <a:buNone/>
            </a:pPr>
            <a:r>
              <a:rPr lang="en-US" altLang="en-US" sz="1600" dirty="0">
                <a:latin typeface="Courier New" panose="02070309020205020404" pitchFamily="49" charset="0"/>
              </a:rPr>
              <a:t>   Bread</a:t>
            </a:r>
          </a:p>
          <a:p>
            <a:pPr>
              <a:lnSpc>
                <a:spcPct val="100000"/>
              </a:lnSpc>
              <a:spcBef>
                <a:spcPct val="0"/>
              </a:spcBef>
              <a:buSzTx/>
              <a:buFontTx/>
              <a:buNone/>
            </a:pPr>
            <a:r>
              <a:rPr lang="en-US" altLang="en-US" sz="1600" dirty="0">
                <a:latin typeface="Courier New" panose="02070309020205020404" pitchFamily="49" charset="0"/>
              </a:rPr>
              <a:t>  &lt;input type = "checkbox"  name = "groceries“ value= "eggs"&gt; </a:t>
            </a:r>
          </a:p>
          <a:p>
            <a:pPr>
              <a:lnSpc>
                <a:spcPct val="100000"/>
              </a:lnSpc>
              <a:spcBef>
                <a:spcPct val="0"/>
              </a:spcBef>
              <a:buSzTx/>
              <a:buFontTx/>
              <a:buNone/>
            </a:pPr>
            <a:r>
              <a:rPr lang="en-US" altLang="en-US" sz="1600" dirty="0">
                <a:latin typeface="Courier New" panose="02070309020205020404" pitchFamily="49" charset="0"/>
              </a:rPr>
              <a:t>   Eggs</a:t>
            </a:r>
          </a:p>
          <a:p>
            <a:pPr>
              <a:lnSpc>
                <a:spcPct val="100000"/>
              </a:lnSpc>
              <a:spcBef>
                <a:spcPct val="0"/>
              </a:spcBef>
              <a:buSzTx/>
              <a:buFontTx/>
              <a:buNone/>
            </a:pPr>
            <a:r>
              <a:rPr lang="en-US" altLang="en-US" sz="1600" dirty="0">
                <a:latin typeface="Courier New" panose="02070309020205020404" pitchFamily="49" charset="0"/>
              </a:rPr>
              <a:t>  &lt;/p&gt;</a:t>
            </a:r>
          </a:p>
          <a:p>
            <a:pPr>
              <a:lnSpc>
                <a:spcPct val="100000"/>
              </a:lnSpc>
              <a:spcBef>
                <a:spcPct val="0"/>
              </a:spcBef>
              <a:buSzTx/>
              <a:buFontTx/>
              <a:buNone/>
            </a:pPr>
            <a:r>
              <a:rPr lang="en-US" altLang="en-US" sz="1600" dirty="0">
                <a:latin typeface="Courier New" panose="02070309020205020404" pitchFamily="49" charset="0"/>
              </a:rPr>
              <a:t>&lt;/form&gt;</a:t>
            </a: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a:p>
            <a:pPr>
              <a:lnSpc>
                <a:spcPct val="100000"/>
              </a:lnSpc>
              <a:spcBef>
                <a:spcPct val="0"/>
              </a:spcBef>
              <a:buSzTx/>
              <a:buFontTx/>
              <a:buNone/>
            </a:pPr>
            <a:endParaRPr lang="en-US" altLang="en-US" sz="1600" dirty="0">
              <a:latin typeface="Courier New" panose="02070309020205020404" pitchFamily="49" charset="0"/>
            </a:endParaRPr>
          </a:p>
        </p:txBody>
      </p:sp>
      <p:graphicFrame>
        <p:nvGraphicFramePr>
          <p:cNvPr id="4" name="Object 10">
            <a:extLst>
              <a:ext uri="{FF2B5EF4-FFF2-40B4-BE49-F238E27FC236}">
                <a16:creationId xmlns:a16="http://schemas.microsoft.com/office/drawing/2014/main" id="{F98E31BF-91AF-117C-C538-D8C1F230EB65}"/>
              </a:ext>
            </a:extLst>
          </p:cNvPr>
          <p:cNvGraphicFramePr>
            <a:graphicFrameLocks noChangeAspect="1"/>
          </p:cNvGraphicFramePr>
          <p:nvPr>
            <p:extLst>
              <p:ext uri="{D42A27DB-BD31-4B8C-83A1-F6EECF244321}">
                <p14:modId xmlns:p14="http://schemas.microsoft.com/office/powerpoint/2010/main" val="1244842076"/>
              </p:ext>
            </p:extLst>
          </p:nvPr>
        </p:nvGraphicFramePr>
        <p:xfrm>
          <a:off x="2169459" y="4502524"/>
          <a:ext cx="5867400" cy="1143000"/>
        </p:xfrm>
        <a:graphic>
          <a:graphicData uri="http://schemas.openxmlformats.org/presentationml/2006/ole">
            <mc:AlternateContent xmlns:mc="http://schemas.openxmlformats.org/markup-compatibility/2006">
              <mc:Choice xmlns:v="urn:schemas-microsoft-com:vml" Requires="v">
                <p:oleObj name="Document" r:id="rId2" imgW="4543746" imgH="839702" progId="Word.Document.8">
                  <p:embed/>
                </p:oleObj>
              </mc:Choice>
              <mc:Fallback>
                <p:oleObj name="Document" r:id="rId2" imgW="4543746" imgH="839702" progId="Word.Document.8">
                  <p:embed/>
                  <p:pic>
                    <p:nvPicPr>
                      <p:cNvPr id="62474" name="Object 10">
                        <a:extLst>
                          <a:ext uri="{FF2B5EF4-FFF2-40B4-BE49-F238E27FC236}">
                            <a16:creationId xmlns:a16="http://schemas.microsoft.com/office/drawing/2014/main" id="{CDE240B4-97B4-8A96-0DBD-CD3C7B5CDF8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459" y="4502524"/>
                        <a:ext cx="5867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928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13368-78E8-7909-A5F2-C353BA03C7EF}"/>
            </a:ext>
          </a:extLst>
        </p:cNvPr>
        <p:cNvGrpSpPr/>
        <p:nvPr/>
      </p:nvGrpSpPr>
      <p:grpSpPr>
        <a:xfrm>
          <a:off x="0" y="0"/>
          <a:ext cx="0" cy="0"/>
          <a:chOff x="0" y="0"/>
          <a:chExt cx="0" cy="0"/>
        </a:xfrm>
      </p:grpSpPr>
      <p:sp>
        <p:nvSpPr>
          <p:cNvPr id="3" name="Text Box 11">
            <a:extLst>
              <a:ext uri="{FF2B5EF4-FFF2-40B4-BE49-F238E27FC236}">
                <a16:creationId xmlns:a16="http://schemas.microsoft.com/office/drawing/2014/main" id="{5AF6FC9C-6421-64AC-790C-078C45398048}"/>
              </a:ext>
            </a:extLst>
          </p:cNvPr>
          <p:cNvSpPr txBox="1">
            <a:spLocks noChangeArrowheads="1"/>
          </p:cNvSpPr>
          <p:nvPr/>
        </p:nvSpPr>
        <p:spPr bwMode="auto">
          <a:xfrm>
            <a:off x="683371" y="459908"/>
            <a:ext cx="10934887"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dirty="0"/>
              <a:t>Forms (continued)</a:t>
            </a:r>
          </a:p>
          <a:p>
            <a:endParaRPr lang="en-US" altLang="en-US" dirty="0"/>
          </a:p>
          <a:p>
            <a:r>
              <a:rPr lang="en-US" altLang="en-US" b="0" dirty="0"/>
              <a:t>3. </a:t>
            </a:r>
            <a:r>
              <a:rPr lang="en-US" altLang="en-US" b="0" i="1" dirty="0"/>
              <a:t>Radio Buttons</a:t>
            </a:r>
            <a:r>
              <a:rPr lang="en-US" altLang="en-US" b="0" dirty="0"/>
              <a:t> - collections of checkboxes in which only one button can be ‘checked’ at a time</a:t>
            </a:r>
          </a:p>
          <a:p>
            <a:endParaRPr lang="en-US" altLang="en-US" b="0" dirty="0"/>
          </a:p>
          <a:p>
            <a:r>
              <a:rPr lang="en-US" altLang="en-US" b="0" dirty="0"/>
              <a:t>      - Every button in a radio button group MUST have the same name</a:t>
            </a:r>
          </a:p>
          <a:p>
            <a:endParaRPr lang="en-US" altLang="en-US" dirty="0"/>
          </a:p>
          <a:p>
            <a:r>
              <a:rPr lang="en-US" altLang="en-US" dirty="0"/>
              <a:t>      </a:t>
            </a:r>
            <a:r>
              <a:rPr lang="en-US" altLang="en-US" b="0" dirty="0"/>
              <a:t>- If no button in a radio button group is ‘pressed’, the browser often ‘presses’ the first one</a:t>
            </a:r>
          </a:p>
          <a:p>
            <a:endParaRPr lang="en-US" altLang="en-US" b="0" dirty="0"/>
          </a:p>
          <a:p>
            <a:endParaRPr lang="en-US" altLang="en-US" b="0" dirty="0"/>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Age Category</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&lt;form action = ""&gt;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&lt;p&gt;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"under20" checked = "checked"&gt; 0-19</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"20-35"&gt; 20-35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"36-50"&gt; 36-50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&lt;input type = "radio"  name = "age" value = "over50"&gt; Over 50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&lt;/p&gt;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&lt;/form&gt;</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endParaRPr lang="en-US" altLang="en-US" b="0" dirty="0"/>
          </a:p>
        </p:txBody>
      </p:sp>
      <p:graphicFrame>
        <p:nvGraphicFramePr>
          <p:cNvPr id="4" name="Object 5">
            <a:extLst>
              <a:ext uri="{FF2B5EF4-FFF2-40B4-BE49-F238E27FC236}">
                <a16:creationId xmlns:a16="http://schemas.microsoft.com/office/drawing/2014/main" id="{70191E95-5D52-C697-621E-AD4A4DF87143}"/>
              </a:ext>
            </a:extLst>
          </p:cNvPr>
          <p:cNvGraphicFramePr>
            <a:graphicFrameLocks noChangeAspect="1"/>
          </p:cNvGraphicFramePr>
          <p:nvPr>
            <p:extLst>
              <p:ext uri="{D42A27DB-BD31-4B8C-83A1-F6EECF244321}">
                <p14:modId xmlns:p14="http://schemas.microsoft.com/office/powerpoint/2010/main" val="2592416607"/>
              </p:ext>
            </p:extLst>
          </p:nvPr>
        </p:nvGraphicFramePr>
        <p:xfrm>
          <a:off x="2084294" y="5239871"/>
          <a:ext cx="5715000" cy="925513"/>
        </p:xfrm>
        <a:graphic>
          <a:graphicData uri="http://schemas.openxmlformats.org/presentationml/2006/ole">
            <mc:AlternateContent xmlns:mc="http://schemas.openxmlformats.org/markup-compatibility/2006">
              <mc:Choice xmlns:v="urn:schemas-microsoft-com:vml" Requires="v">
                <p:oleObj name="Document" r:id="rId2" imgW="5477400" imgH="925920" progId="Word.Document.8">
                  <p:embed/>
                </p:oleObj>
              </mc:Choice>
              <mc:Fallback>
                <p:oleObj name="Document" r:id="rId2" imgW="5477400" imgH="925920" progId="Word.Document.8">
                  <p:embed/>
                  <p:pic>
                    <p:nvPicPr>
                      <p:cNvPr id="6146" name="Object 5">
                        <a:extLst>
                          <a:ext uri="{FF2B5EF4-FFF2-40B4-BE49-F238E27FC236}">
                            <a16:creationId xmlns:a16="http://schemas.microsoft.com/office/drawing/2014/main" id="{7A6DA3DB-F6A9-8885-58DF-3299A7DDA21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294" y="5239871"/>
                        <a:ext cx="5715000" cy="92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690364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9F0A-F2CD-DAAA-95E7-E5B87B84314D}"/>
            </a:ext>
          </a:extLst>
        </p:cNvPr>
        <p:cNvGrpSpPr/>
        <p:nvPr/>
      </p:nvGrpSpPr>
      <p:grpSpPr>
        <a:xfrm>
          <a:off x="0" y="0"/>
          <a:ext cx="0" cy="0"/>
          <a:chOff x="0" y="0"/>
          <a:chExt cx="0" cy="0"/>
        </a:xfrm>
      </p:grpSpPr>
      <p:sp>
        <p:nvSpPr>
          <p:cNvPr id="3" name="Text Box 7">
            <a:extLst>
              <a:ext uri="{FF2B5EF4-FFF2-40B4-BE49-F238E27FC236}">
                <a16:creationId xmlns:a16="http://schemas.microsoft.com/office/drawing/2014/main" id="{5DCF523A-52AE-D600-D38F-047F13C9234D}"/>
              </a:ext>
            </a:extLst>
          </p:cNvPr>
          <p:cNvSpPr txBox="1">
            <a:spLocks noChangeArrowheads="1"/>
          </p:cNvSpPr>
          <p:nvPr/>
        </p:nvSpPr>
        <p:spPr bwMode="auto">
          <a:xfrm>
            <a:off x="627528" y="429278"/>
            <a:ext cx="10999695" cy="7294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dirty="0"/>
              <a:t>Forms (continued)</a:t>
            </a:r>
          </a:p>
          <a:p>
            <a:endParaRPr lang="en-US" altLang="en-US" dirty="0"/>
          </a:p>
          <a:p>
            <a:r>
              <a:rPr lang="en-US" altLang="en-US" dirty="0"/>
              <a:t>4. Menus - created with </a:t>
            </a:r>
            <a:r>
              <a:rPr lang="en-US" altLang="en-US" sz="1600" dirty="0">
                <a:latin typeface="Courier New" panose="02070309020205020404" pitchFamily="49" charset="0"/>
              </a:rPr>
              <a:t>&lt;select&gt;</a:t>
            </a:r>
            <a:r>
              <a:rPr lang="en-US" altLang="en-US" dirty="0"/>
              <a:t> tags</a:t>
            </a:r>
          </a:p>
          <a:p>
            <a:endParaRPr lang="en-US" altLang="en-US" dirty="0"/>
          </a:p>
          <a:p>
            <a:pPr marL="285750" indent="-285750" algn="just">
              <a:buFont typeface="Arial" panose="020B0604020202020204" pitchFamily="34" charset="0"/>
              <a:buChar char="•"/>
            </a:pPr>
            <a:r>
              <a:rPr lang="en-US" altLang="en-US" b="0" dirty="0"/>
              <a:t>There are two kinds of menus, those that behave like checkboxes and those that behave like radio buttons (the default)</a:t>
            </a:r>
          </a:p>
          <a:p>
            <a:pPr algn="just"/>
            <a:r>
              <a:rPr lang="en-US" altLang="en-US" b="0" dirty="0"/>
              <a:t>       </a:t>
            </a:r>
          </a:p>
          <a:p>
            <a:pPr marL="285750" indent="-285750" algn="just">
              <a:buFont typeface="Arial" panose="020B0604020202020204" pitchFamily="34" charset="0"/>
              <a:buChar char="•"/>
            </a:pPr>
            <a:r>
              <a:rPr lang="en-US" altLang="en-US" b="0" dirty="0"/>
              <a:t>Menus that behave like checkboxes are specified by including the </a:t>
            </a:r>
            <a:r>
              <a:rPr lang="en-US" altLang="en-US" sz="1600" b="0" dirty="0">
                <a:latin typeface="Courier New" panose="02070309020205020404" pitchFamily="49" charset="0"/>
              </a:rPr>
              <a:t>multiple</a:t>
            </a:r>
            <a:r>
              <a:rPr lang="en-US" altLang="en-US" b="0" dirty="0"/>
              <a:t> attribute, which must be set to </a:t>
            </a:r>
            <a:r>
              <a:rPr lang="en-US" altLang="en-US" sz="1600" b="0" dirty="0">
                <a:latin typeface="Courier New" panose="02070309020205020404" pitchFamily="49" charset="0"/>
              </a:rPr>
              <a:t>"multiple"</a:t>
            </a:r>
          </a:p>
          <a:p>
            <a:pPr marL="285750" indent="-285750" algn="just">
              <a:buFont typeface="Arial" panose="020B0604020202020204" pitchFamily="34" charset="0"/>
              <a:buChar char="•"/>
            </a:pPr>
            <a:endParaRPr lang="en-US" altLang="en-US" b="0" dirty="0"/>
          </a:p>
          <a:p>
            <a:pPr marL="1028700" lvl="1" algn="just">
              <a:buFont typeface="Arial" panose="020B0604020202020204" pitchFamily="34" charset="0"/>
              <a:buChar char="•"/>
            </a:pPr>
            <a:r>
              <a:rPr lang="en-US" altLang="en-US" b="0" dirty="0"/>
              <a:t>The </a:t>
            </a:r>
            <a:r>
              <a:rPr lang="en-US" altLang="en-US" sz="1600" b="0" dirty="0">
                <a:latin typeface="Courier New" panose="02070309020205020404" pitchFamily="49" charset="0"/>
              </a:rPr>
              <a:t>name</a:t>
            </a:r>
            <a:r>
              <a:rPr lang="en-US" altLang="en-US" b="0" dirty="0"/>
              <a:t> attribute of </a:t>
            </a:r>
            <a:r>
              <a:rPr lang="en-US" altLang="en-US" sz="1600" b="0" dirty="0">
                <a:latin typeface="Courier New" panose="02070309020205020404" pitchFamily="49" charset="0"/>
              </a:rPr>
              <a:t>&lt;select&gt;</a:t>
            </a:r>
            <a:r>
              <a:rPr lang="en-US" altLang="en-US" b="0" dirty="0"/>
              <a:t> is required</a:t>
            </a:r>
          </a:p>
          <a:p>
            <a:pPr marL="285750" indent="-285750" algn="just">
              <a:buFont typeface="Arial" panose="020B0604020202020204" pitchFamily="34" charset="0"/>
              <a:buChar char="•"/>
            </a:pPr>
            <a:endParaRPr lang="en-US" altLang="en-US" b="0" dirty="0"/>
          </a:p>
          <a:p>
            <a:pPr marL="1028700" lvl="1" algn="just">
              <a:buFont typeface="Arial" panose="020B0604020202020204" pitchFamily="34" charset="0"/>
              <a:buChar char="•"/>
            </a:pPr>
            <a:r>
              <a:rPr lang="en-US" altLang="en-US" b="0" dirty="0"/>
              <a:t>The </a:t>
            </a:r>
            <a:r>
              <a:rPr lang="en-US" altLang="en-US" sz="1600" b="0" dirty="0">
                <a:latin typeface="Courier New" panose="02070309020205020404" pitchFamily="49" charset="0"/>
              </a:rPr>
              <a:t>size</a:t>
            </a:r>
            <a:r>
              <a:rPr lang="en-US" altLang="en-US" b="0" dirty="0"/>
              <a:t> attribute of </a:t>
            </a:r>
            <a:r>
              <a:rPr lang="en-US" altLang="en-US" sz="1600" b="0" dirty="0">
                <a:latin typeface="Courier New" panose="02070309020205020404" pitchFamily="49" charset="0"/>
              </a:rPr>
              <a:t>&lt;select&gt;</a:t>
            </a:r>
            <a:r>
              <a:rPr lang="en-US" altLang="en-US" b="0" dirty="0"/>
              <a:t> can be included to specify the number of menu items to be displayed (the default is 1)</a:t>
            </a:r>
          </a:p>
          <a:p>
            <a:pPr marL="285750" indent="-285750" algn="just">
              <a:buFont typeface="Arial" panose="020B0604020202020204" pitchFamily="34" charset="0"/>
              <a:buChar char="•"/>
            </a:pPr>
            <a:endParaRPr lang="en-US" altLang="en-US" b="0" dirty="0"/>
          </a:p>
          <a:p>
            <a:pPr marL="1028700" lvl="1" algn="just">
              <a:buFont typeface="Arial" panose="020B0604020202020204" pitchFamily="34" charset="0"/>
              <a:buChar char="•"/>
            </a:pPr>
            <a:r>
              <a:rPr lang="en-US" altLang="en-US" b="0" dirty="0"/>
              <a:t>If </a:t>
            </a:r>
            <a:r>
              <a:rPr lang="en-US" altLang="en-US" sz="1600" b="0" dirty="0">
                <a:latin typeface="Courier New" panose="02070309020205020404" pitchFamily="49" charset="0"/>
              </a:rPr>
              <a:t>size</a:t>
            </a:r>
            <a:r>
              <a:rPr lang="en-US" altLang="en-US" b="0" dirty="0"/>
              <a:t> is set to &gt; 1 or if </a:t>
            </a:r>
            <a:r>
              <a:rPr lang="en-US" altLang="en-US" sz="1600" b="0" dirty="0">
                <a:latin typeface="Courier New" panose="02070309020205020404" pitchFamily="49" charset="0"/>
              </a:rPr>
              <a:t>multiple</a:t>
            </a:r>
            <a:r>
              <a:rPr lang="en-US" altLang="en-US" b="0" dirty="0"/>
              <a:t> is specified, the menu is displayed as a pop-up menu</a:t>
            </a:r>
          </a:p>
          <a:p>
            <a:pPr>
              <a:lnSpc>
                <a:spcPct val="100000"/>
              </a:lnSpc>
            </a:pPr>
            <a:endParaRPr lang="en-US" altLang="en-US" dirty="0"/>
          </a:p>
          <a:p>
            <a:pPr marL="285750" indent="-285750" algn="just">
              <a:lnSpc>
                <a:spcPct val="100000"/>
              </a:lnSpc>
              <a:buFont typeface="Arial" panose="020B0604020202020204" pitchFamily="34" charset="0"/>
              <a:buChar char="•"/>
            </a:pPr>
            <a:r>
              <a:rPr lang="en-US" altLang="en-US" b="0" dirty="0"/>
              <a:t>Each item of a menu is specified with an </a:t>
            </a:r>
            <a:r>
              <a:rPr lang="en-US" altLang="en-US" sz="1600" b="0" dirty="0">
                <a:latin typeface="Courier New" panose="02070309020205020404" pitchFamily="49" charset="0"/>
              </a:rPr>
              <a:t>&lt;option&gt;</a:t>
            </a:r>
            <a:r>
              <a:rPr lang="en-US" altLang="en-US" b="0" dirty="0"/>
              <a:t> tag, whose pure text content (no tags) is the value of the item</a:t>
            </a:r>
          </a:p>
          <a:p>
            <a:pPr marL="285750" indent="-285750" algn="just">
              <a:lnSpc>
                <a:spcPct val="100000"/>
              </a:lnSpc>
              <a:buFont typeface="Arial" panose="020B0604020202020204" pitchFamily="34" charset="0"/>
              <a:buChar char="•"/>
            </a:pPr>
            <a:endParaRPr lang="en-US" altLang="en-US" b="0" dirty="0"/>
          </a:p>
          <a:p>
            <a:pPr marL="285750" indent="-285750" algn="just">
              <a:lnSpc>
                <a:spcPct val="100000"/>
              </a:lnSpc>
              <a:buFont typeface="Arial" panose="020B0604020202020204" pitchFamily="34" charset="0"/>
              <a:buChar char="•"/>
            </a:pPr>
            <a:r>
              <a:rPr lang="en-US" altLang="en-US" b="0" dirty="0"/>
              <a:t>An </a:t>
            </a:r>
            <a:r>
              <a:rPr lang="en-US" altLang="en-US" sz="1600" b="0" dirty="0">
                <a:latin typeface="Courier New" panose="02070309020205020404" pitchFamily="49" charset="0"/>
              </a:rPr>
              <a:t>&lt;option&gt;</a:t>
            </a:r>
            <a:r>
              <a:rPr lang="en-US" altLang="en-US" b="0" dirty="0"/>
              <a:t> tag can include the </a:t>
            </a:r>
            <a:r>
              <a:rPr lang="en-US" altLang="en-US" sz="1600" b="0" dirty="0">
                <a:latin typeface="Courier New" panose="02070309020205020404" pitchFamily="49" charset="0"/>
              </a:rPr>
              <a:t>selected</a:t>
            </a:r>
            <a:r>
              <a:rPr lang="en-US" altLang="en-US" b="0" dirty="0"/>
              <a:t> attribute, which when assigned </a:t>
            </a:r>
            <a:r>
              <a:rPr lang="en-US" altLang="en-US" sz="1600" b="0" dirty="0">
                <a:latin typeface="Courier New" panose="02070309020205020404" pitchFamily="49" charset="0"/>
              </a:rPr>
              <a:t>"selected"</a:t>
            </a:r>
            <a:r>
              <a:rPr lang="en-US" altLang="en-US" b="0" dirty="0"/>
              <a:t> specifies that the item is preselected</a:t>
            </a:r>
          </a:p>
          <a:p>
            <a:pPr>
              <a:lnSpc>
                <a:spcPct val="100000"/>
              </a:lnSpc>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34149962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003D4-2FBE-0438-11AE-1F19E3510A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004A4C-FFCD-5C19-B5BE-2E4656208A3C}"/>
              </a:ext>
            </a:extLst>
          </p:cNvPr>
          <p:cNvSpPr txBox="1"/>
          <p:nvPr/>
        </p:nvSpPr>
        <p:spPr>
          <a:xfrm>
            <a:off x="484094" y="367553"/>
            <a:ext cx="11205882" cy="5509200"/>
          </a:xfrm>
          <a:prstGeom prst="rect">
            <a:avLst/>
          </a:prstGeom>
          <a:noFill/>
        </p:spPr>
        <p:txBody>
          <a:bodyPr wrap="square" rtlCol="0">
            <a:spAutoFit/>
          </a:bodyPr>
          <a:lstStyle/>
          <a:p>
            <a:r>
              <a:rPr lang="en-US" sz="2800" dirty="0"/>
              <a:t>Form (continued)</a:t>
            </a:r>
            <a:endParaRPr lang="en-US" dirty="0"/>
          </a:p>
          <a:p>
            <a:endParaRPr lang="en-US" dirty="0"/>
          </a:p>
          <a:p>
            <a:pPr lvl="1"/>
            <a:r>
              <a:rPr lang="en-US" dirty="0"/>
              <a:t> &lt;body&gt;</a:t>
            </a:r>
          </a:p>
          <a:p>
            <a:pPr lvl="1"/>
            <a:r>
              <a:rPr lang="en-US" dirty="0"/>
              <a:t>    &lt;p&gt;</a:t>
            </a:r>
          </a:p>
          <a:p>
            <a:pPr lvl="1"/>
            <a:r>
              <a:rPr lang="en-US" dirty="0"/>
              <a:t>      Grocery Menu - milk, bread, eggs, cheese</a:t>
            </a:r>
          </a:p>
          <a:p>
            <a:pPr lvl="1"/>
            <a:r>
              <a:rPr lang="en-US" dirty="0"/>
              <a:t>    &lt;/p&gt;</a:t>
            </a:r>
          </a:p>
          <a:p>
            <a:pPr lvl="1"/>
            <a:r>
              <a:rPr lang="en-US" dirty="0"/>
              <a:t>    &lt;form action = ""&gt;</a:t>
            </a:r>
          </a:p>
          <a:p>
            <a:pPr lvl="1"/>
            <a:r>
              <a:rPr lang="en-US" dirty="0"/>
              <a:t>      &lt;p&gt;</a:t>
            </a:r>
          </a:p>
          <a:p>
            <a:pPr lvl="1"/>
            <a:r>
              <a:rPr lang="en-US" dirty="0"/>
              <a:t>        With size = 1 (the default)</a:t>
            </a:r>
          </a:p>
          <a:p>
            <a:pPr lvl="1"/>
            <a:r>
              <a:rPr lang="en-US" dirty="0"/>
              <a:t>        &lt;select name = "groceries"&gt;</a:t>
            </a:r>
          </a:p>
          <a:p>
            <a:pPr lvl="1"/>
            <a:r>
              <a:rPr lang="en-US" dirty="0"/>
              <a:t>          &lt;option&gt; milk &lt;/option&gt;</a:t>
            </a:r>
          </a:p>
          <a:p>
            <a:pPr lvl="1"/>
            <a:r>
              <a:rPr lang="en-US" dirty="0"/>
              <a:t>          &lt;option&gt; bread &lt;/option&gt;</a:t>
            </a:r>
          </a:p>
          <a:p>
            <a:pPr lvl="1"/>
            <a:r>
              <a:rPr lang="en-US" dirty="0"/>
              <a:t>          &lt;option&gt; eggs &lt;/option&gt;</a:t>
            </a:r>
          </a:p>
          <a:p>
            <a:pPr lvl="1"/>
            <a:r>
              <a:rPr lang="en-US" dirty="0"/>
              <a:t>          &lt;option&gt; cheese &lt;/option&gt;</a:t>
            </a:r>
          </a:p>
          <a:p>
            <a:pPr lvl="1"/>
            <a:r>
              <a:rPr lang="en-US" dirty="0"/>
              <a:t>        &lt;/select&gt;</a:t>
            </a:r>
          </a:p>
          <a:p>
            <a:pPr lvl="1"/>
            <a:r>
              <a:rPr lang="en-US" dirty="0"/>
              <a:t>      &lt;/p&gt;</a:t>
            </a:r>
          </a:p>
          <a:p>
            <a:pPr lvl="1"/>
            <a:r>
              <a:rPr lang="en-US" dirty="0"/>
              <a:t>    &lt;/form&gt;</a:t>
            </a:r>
          </a:p>
          <a:p>
            <a:pPr lvl="1"/>
            <a:r>
              <a:rPr lang="en-US" dirty="0"/>
              <a:t>  &lt;/body&gt;</a:t>
            </a:r>
          </a:p>
          <a:p>
            <a:endParaRPr lang="en-IN" dirty="0"/>
          </a:p>
        </p:txBody>
      </p:sp>
      <p:graphicFrame>
        <p:nvGraphicFramePr>
          <p:cNvPr id="3" name="Object 5">
            <a:extLst>
              <a:ext uri="{FF2B5EF4-FFF2-40B4-BE49-F238E27FC236}">
                <a16:creationId xmlns:a16="http://schemas.microsoft.com/office/drawing/2014/main" id="{CE615B3E-778F-275E-3308-EFBE20D3F1B4}"/>
              </a:ext>
            </a:extLst>
          </p:cNvPr>
          <p:cNvGraphicFramePr>
            <a:graphicFrameLocks noChangeAspect="1"/>
          </p:cNvGraphicFramePr>
          <p:nvPr>
            <p:extLst>
              <p:ext uri="{D42A27DB-BD31-4B8C-83A1-F6EECF244321}">
                <p14:modId xmlns:p14="http://schemas.microsoft.com/office/powerpoint/2010/main" val="2476838632"/>
              </p:ext>
            </p:extLst>
          </p:nvPr>
        </p:nvGraphicFramePr>
        <p:xfrm>
          <a:off x="5585012" y="560294"/>
          <a:ext cx="5867400" cy="1371600"/>
        </p:xfrm>
        <a:graphic>
          <a:graphicData uri="http://schemas.openxmlformats.org/presentationml/2006/ole">
            <mc:AlternateContent xmlns:mc="http://schemas.openxmlformats.org/markup-compatibility/2006">
              <mc:Choice xmlns:v="urn:schemas-microsoft-com:vml" Requires="v">
                <p:oleObj name="Document" r:id="rId2" imgW="5153040" imgH="1287360" progId="Word.Document.8">
                  <p:embed/>
                </p:oleObj>
              </mc:Choice>
              <mc:Fallback>
                <p:oleObj name="Document" r:id="rId2" imgW="5153040" imgH="1287360" progId="Word.Document.8">
                  <p:embed/>
                  <p:pic>
                    <p:nvPicPr>
                      <p:cNvPr id="7170" name="Object 5">
                        <a:extLst>
                          <a:ext uri="{FF2B5EF4-FFF2-40B4-BE49-F238E27FC236}">
                            <a16:creationId xmlns:a16="http://schemas.microsoft.com/office/drawing/2014/main" id="{764AF3B1-A61A-ADC3-76BF-16B700881CE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5012" y="560294"/>
                        <a:ext cx="5867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8">
            <a:extLst>
              <a:ext uri="{FF2B5EF4-FFF2-40B4-BE49-F238E27FC236}">
                <a16:creationId xmlns:a16="http://schemas.microsoft.com/office/drawing/2014/main" id="{D6266C37-0F10-CF51-1AEB-1EE499EA727B}"/>
              </a:ext>
            </a:extLst>
          </p:cNvPr>
          <p:cNvGraphicFramePr>
            <a:graphicFrameLocks noChangeAspect="1"/>
          </p:cNvGraphicFramePr>
          <p:nvPr>
            <p:extLst>
              <p:ext uri="{D42A27DB-BD31-4B8C-83A1-F6EECF244321}">
                <p14:modId xmlns:p14="http://schemas.microsoft.com/office/powerpoint/2010/main" val="1429553171"/>
              </p:ext>
            </p:extLst>
          </p:nvPr>
        </p:nvGraphicFramePr>
        <p:xfrm>
          <a:off x="5585012" y="2283953"/>
          <a:ext cx="5867400" cy="1676400"/>
        </p:xfrm>
        <a:graphic>
          <a:graphicData uri="http://schemas.openxmlformats.org/presentationml/2006/ole">
            <mc:AlternateContent xmlns:mc="http://schemas.openxmlformats.org/markup-compatibility/2006">
              <mc:Choice xmlns:v="urn:schemas-microsoft-com:vml" Requires="v">
                <p:oleObj name="Document" r:id="rId4" imgW="5153760" imgH="1656360" progId="Word.Document.8">
                  <p:embed/>
                </p:oleObj>
              </mc:Choice>
              <mc:Fallback>
                <p:oleObj name="Document" r:id="rId4" imgW="5153760" imgH="1656360" progId="Word.Document.8">
                  <p:embed/>
                  <p:pic>
                    <p:nvPicPr>
                      <p:cNvPr id="68616" name="Object 8">
                        <a:extLst>
                          <a:ext uri="{FF2B5EF4-FFF2-40B4-BE49-F238E27FC236}">
                            <a16:creationId xmlns:a16="http://schemas.microsoft.com/office/drawing/2014/main" id="{17C6DD3E-ED75-F31A-9EF2-44A70A903EFE}"/>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5012" y="2283953"/>
                        <a:ext cx="5867400" cy="1676400"/>
                      </a:xfrm>
                      <a:prstGeom prst="rect">
                        <a:avLst/>
                      </a:prstGeom>
                      <a:noFill/>
                      <a:ln>
                        <a:noFill/>
                      </a:ln>
                      <a:effectLst/>
                    </p:spPr>
                  </p:pic>
                </p:oleObj>
              </mc:Fallback>
            </mc:AlternateContent>
          </a:graphicData>
        </a:graphic>
      </p:graphicFrame>
      <p:graphicFrame>
        <p:nvGraphicFramePr>
          <p:cNvPr id="5" name="Object 12">
            <a:extLst>
              <a:ext uri="{FF2B5EF4-FFF2-40B4-BE49-F238E27FC236}">
                <a16:creationId xmlns:a16="http://schemas.microsoft.com/office/drawing/2014/main" id="{401B68C7-8BD1-82D1-2E3B-8F46715A4D1E}"/>
              </a:ext>
            </a:extLst>
          </p:cNvPr>
          <p:cNvGraphicFramePr>
            <a:graphicFrameLocks noChangeAspect="1"/>
          </p:cNvGraphicFramePr>
          <p:nvPr>
            <p:extLst>
              <p:ext uri="{D42A27DB-BD31-4B8C-83A1-F6EECF244321}">
                <p14:modId xmlns:p14="http://schemas.microsoft.com/office/powerpoint/2010/main" val="2711549852"/>
              </p:ext>
            </p:extLst>
          </p:nvPr>
        </p:nvGraphicFramePr>
        <p:xfrm>
          <a:off x="5585012" y="4312412"/>
          <a:ext cx="5867400" cy="1447800"/>
        </p:xfrm>
        <a:graphic>
          <a:graphicData uri="http://schemas.openxmlformats.org/presentationml/2006/ole">
            <mc:AlternateContent xmlns:mc="http://schemas.openxmlformats.org/markup-compatibility/2006">
              <mc:Choice xmlns:v="urn:schemas-microsoft-com:vml" Requires="v">
                <p:oleObj name="Document" r:id="rId6" imgW="5153760" imgH="1263240" progId="Word.Document.8">
                  <p:embed/>
                </p:oleObj>
              </mc:Choice>
              <mc:Fallback>
                <p:oleObj name="Document" r:id="rId6" imgW="5153760" imgH="1263240" progId="Word.Document.8">
                  <p:embed/>
                  <p:pic>
                    <p:nvPicPr>
                      <p:cNvPr id="68620" name="Object 12">
                        <a:extLst>
                          <a:ext uri="{FF2B5EF4-FFF2-40B4-BE49-F238E27FC236}">
                            <a16:creationId xmlns:a16="http://schemas.microsoft.com/office/drawing/2014/main" id="{6A5940E3-A4B7-3E88-ADF1-531264FB80CD}"/>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5012" y="4312412"/>
                        <a:ext cx="58674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5462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5C5DE-E083-FF28-66CB-A630DC459F86}"/>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234AAFC5-BE17-BC42-4E56-CA6B86946C17}"/>
              </a:ext>
            </a:extLst>
          </p:cNvPr>
          <p:cNvSpPr txBox="1">
            <a:spLocks noChangeArrowheads="1"/>
          </p:cNvSpPr>
          <p:nvPr/>
        </p:nvSpPr>
        <p:spPr bwMode="auto">
          <a:xfrm>
            <a:off x="533399" y="609600"/>
            <a:ext cx="11066929" cy="597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2.9 Forms </a:t>
            </a:r>
            <a:r>
              <a:rPr lang="en-US" altLang="en-US" dirty="0"/>
              <a:t>(continued)</a:t>
            </a:r>
          </a:p>
          <a:p>
            <a:endParaRPr lang="en-US" altLang="en-US" dirty="0"/>
          </a:p>
          <a:p>
            <a:pPr>
              <a:lnSpc>
                <a:spcPct val="100000"/>
              </a:lnSpc>
              <a:buFontTx/>
              <a:buChar char="-"/>
            </a:pPr>
            <a:r>
              <a:rPr lang="en-US" altLang="en-US" i="1" dirty="0"/>
              <a:t>Widgets </a:t>
            </a:r>
            <a:r>
              <a:rPr lang="en-US" altLang="en-US" dirty="0"/>
              <a:t>(continued)</a:t>
            </a:r>
          </a:p>
          <a:p>
            <a:pPr>
              <a:lnSpc>
                <a:spcPct val="100000"/>
              </a:lnSpc>
              <a:buFontTx/>
              <a:buChar char="-"/>
            </a:pPr>
            <a:endParaRPr lang="en-US" altLang="en-US" dirty="0"/>
          </a:p>
          <a:p>
            <a:pPr>
              <a:lnSpc>
                <a:spcPct val="100000"/>
              </a:lnSpc>
            </a:pPr>
            <a:r>
              <a:rPr lang="en-US" altLang="en-US" dirty="0"/>
              <a:t>5. Text areas </a:t>
            </a:r>
            <a:r>
              <a:rPr lang="en-US" altLang="en-US" b="0" dirty="0"/>
              <a:t>- created with </a:t>
            </a:r>
            <a:r>
              <a:rPr lang="en-US" altLang="en-US" sz="1600" b="0" dirty="0">
                <a:latin typeface="Courier New" panose="02070309020205020404" pitchFamily="49" charset="0"/>
              </a:rPr>
              <a:t>&lt;</a:t>
            </a:r>
            <a:r>
              <a:rPr lang="en-US" altLang="en-US" sz="1600" b="0" dirty="0" err="1">
                <a:latin typeface="Courier New" panose="02070309020205020404" pitchFamily="49" charset="0"/>
              </a:rPr>
              <a:t>textarea</a:t>
            </a:r>
            <a:r>
              <a:rPr lang="en-US" altLang="en-US" sz="1600" b="0" dirty="0">
                <a:latin typeface="Courier New" panose="02070309020205020404" pitchFamily="49" charset="0"/>
              </a:rPr>
              <a:t>&gt;</a:t>
            </a:r>
            <a:endParaRPr lang="en-US" altLang="en-US" b="0" dirty="0"/>
          </a:p>
          <a:p>
            <a:pPr>
              <a:lnSpc>
                <a:spcPct val="100000"/>
              </a:lnSpc>
            </a:pPr>
            <a:endParaRPr lang="en-US" altLang="en-US" b="0" dirty="0"/>
          </a:p>
          <a:p>
            <a:pPr marL="285750" indent="-285750">
              <a:lnSpc>
                <a:spcPct val="100000"/>
              </a:lnSpc>
              <a:buFont typeface="Arial" panose="020B0604020202020204" pitchFamily="34" charset="0"/>
              <a:buChar char="•"/>
            </a:pPr>
            <a:r>
              <a:rPr lang="en-US" altLang="en-US" b="0" dirty="0"/>
              <a:t>Usually include the </a:t>
            </a:r>
            <a:r>
              <a:rPr lang="en-US" altLang="en-US" sz="1600" b="0" dirty="0">
                <a:latin typeface="Courier New" panose="02070309020205020404" pitchFamily="49" charset="0"/>
              </a:rPr>
              <a:t>rows</a:t>
            </a:r>
            <a:r>
              <a:rPr lang="en-US" altLang="en-US" b="0" dirty="0"/>
              <a:t> and </a:t>
            </a:r>
            <a:r>
              <a:rPr lang="en-US" altLang="en-US" sz="1600" b="0" dirty="0">
                <a:latin typeface="Courier New" panose="02070309020205020404" pitchFamily="49" charset="0"/>
              </a:rPr>
              <a:t>cols</a:t>
            </a:r>
            <a:r>
              <a:rPr lang="en-US" altLang="en-US" b="0" dirty="0"/>
              <a:t> attributes to specify the size of the text area</a:t>
            </a:r>
          </a:p>
          <a:p>
            <a:pPr marL="285750" indent="-285750">
              <a:lnSpc>
                <a:spcPct val="100000"/>
              </a:lnSpc>
              <a:buFont typeface="Arial" panose="020B0604020202020204" pitchFamily="34" charset="0"/>
              <a:buChar char="•"/>
            </a:pPr>
            <a:endParaRPr lang="en-US" altLang="en-US" b="0" dirty="0"/>
          </a:p>
          <a:p>
            <a:pPr marL="285750" indent="-285750">
              <a:lnSpc>
                <a:spcPct val="100000"/>
              </a:lnSpc>
              <a:buFont typeface="Arial" panose="020B0604020202020204" pitchFamily="34" charset="0"/>
              <a:buChar char="•"/>
            </a:pPr>
            <a:r>
              <a:rPr lang="en-US" altLang="en-US" b="0" dirty="0"/>
              <a:t>Default text can be included as the content of </a:t>
            </a:r>
            <a:r>
              <a:rPr lang="en-US" altLang="en-US" sz="1600" b="0" dirty="0">
                <a:latin typeface="Courier New" panose="02070309020205020404" pitchFamily="49" charset="0"/>
              </a:rPr>
              <a:t>&lt;</a:t>
            </a:r>
            <a:r>
              <a:rPr lang="en-US" altLang="en-US" sz="1600" b="0" dirty="0" err="1">
                <a:latin typeface="Courier New" panose="02070309020205020404" pitchFamily="49" charset="0"/>
              </a:rPr>
              <a:t>textarea</a:t>
            </a:r>
            <a:r>
              <a:rPr lang="en-US" altLang="en-US" sz="1600" b="0" dirty="0">
                <a:latin typeface="Courier New" panose="02070309020205020404" pitchFamily="49" charset="0"/>
              </a:rPr>
              <a:t>&gt;</a:t>
            </a:r>
            <a:endParaRPr lang="en-US" altLang="en-US" b="0" dirty="0"/>
          </a:p>
          <a:p>
            <a:pPr>
              <a:lnSpc>
                <a:spcPct val="100000"/>
              </a:lnSpc>
            </a:pPr>
            <a:endParaRPr lang="en-US" altLang="en-US" b="0" dirty="0"/>
          </a:p>
          <a:p>
            <a:pPr marL="285750" indent="-285750">
              <a:lnSpc>
                <a:spcPct val="100000"/>
              </a:lnSpc>
              <a:buFont typeface="Arial" panose="020B0604020202020204" pitchFamily="34" charset="0"/>
              <a:buChar char="•"/>
            </a:pPr>
            <a:r>
              <a:rPr lang="en-US" altLang="en-US" b="0" dirty="0"/>
              <a:t>Scrolling is implicit if the area is overfilled</a:t>
            </a:r>
          </a:p>
          <a:p>
            <a:pPr>
              <a:lnSpc>
                <a:spcPct val="100000"/>
              </a:lnSpc>
            </a:pPr>
            <a:endParaRPr lang="en-US" altLang="en-US" dirty="0"/>
          </a:p>
          <a:p>
            <a:pPr>
              <a:lnSpc>
                <a:spcPct val="100000"/>
              </a:lnSpc>
            </a:pPr>
            <a:r>
              <a:rPr lang="en-US" altLang="en-US" sz="1600" dirty="0">
                <a:latin typeface="Courier New" panose="02070309020205020404" pitchFamily="49" charset="0"/>
              </a:rPr>
              <a:t>Please provide your employment aspirations</a:t>
            </a:r>
          </a:p>
          <a:p>
            <a:pPr>
              <a:lnSpc>
                <a:spcPct val="100000"/>
              </a:lnSpc>
            </a:pPr>
            <a:endParaRPr lang="en-US" altLang="en-US" sz="1600" dirty="0">
              <a:latin typeface="Courier New" panose="02070309020205020404" pitchFamily="49" charset="0"/>
            </a:endParaRPr>
          </a:p>
          <a:p>
            <a:pPr>
              <a:lnSpc>
                <a:spcPct val="100000"/>
              </a:lnSpc>
            </a:pPr>
            <a:r>
              <a:rPr lang="en-US" altLang="en-US" sz="1600" dirty="0">
                <a:latin typeface="Courier New" panose="02070309020205020404" pitchFamily="49" charset="0"/>
              </a:rPr>
              <a:t>&lt;form action = ""&gt;</a:t>
            </a:r>
          </a:p>
          <a:p>
            <a:pPr>
              <a:lnSpc>
                <a:spcPct val="100000"/>
              </a:lnSpc>
            </a:pPr>
            <a:r>
              <a:rPr lang="en-US" altLang="en-US" sz="1600" dirty="0">
                <a:latin typeface="Courier New" panose="02070309020205020404" pitchFamily="49" charset="0"/>
              </a:rPr>
              <a:t>   &lt;p&gt;</a:t>
            </a:r>
          </a:p>
          <a:p>
            <a:pPr>
              <a:lnSpc>
                <a:spcPct val="100000"/>
              </a:lnSpc>
            </a:pPr>
            <a:r>
              <a:rPr lang="en-US" altLang="en-US" sz="1600" dirty="0">
                <a:latin typeface="Courier New" panose="02070309020205020404" pitchFamily="49" charset="0"/>
              </a:rPr>
              <a:t>   &lt;</a:t>
            </a:r>
            <a:r>
              <a:rPr lang="en-US" altLang="en-US" sz="1600" dirty="0" err="1">
                <a:latin typeface="Courier New" panose="02070309020205020404" pitchFamily="49" charset="0"/>
              </a:rPr>
              <a:t>textarea</a:t>
            </a:r>
            <a:r>
              <a:rPr lang="en-US" altLang="en-US" sz="1600" dirty="0">
                <a:latin typeface="Courier New" panose="02070309020205020404" pitchFamily="49" charset="0"/>
              </a:rPr>
              <a:t> name = "aspirations"  rows = "3”</a:t>
            </a:r>
          </a:p>
          <a:p>
            <a:pPr>
              <a:lnSpc>
                <a:spcPct val="100000"/>
              </a:lnSpc>
            </a:pPr>
            <a:r>
              <a:rPr lang="en-US" altLang="en-US" sz="1600" dirty="0">
                <a:latin typeface="Courier New" panose="02070309020205020404" pitchFamily="49" charset="0"/>
              </a:rPr>
              <a:t>             cols = "40"&gt;</a:t>
            </a:r>
          </a:p>
          <a:p>
            <a:pPr>
              <a:lnSpc>
                <a:spcPct val="100000"/>
              </a:lnSpc>
            </a:pPr>
            <a:r>
              <a:rPr lang="en-US" altLang="en-US" sz="1600" dirty="0">
                <a:latin typeface="Courier New" panose="02070309020205020404" pitchFamily="49" charset="0"/>
              </a:rPr>
              <a:t>   (Be brief and concise) </a:t>
            </a:r>
          </a:p>
          <a:p>
            <a:pPr>
              <a:lnSpc>
                <a:spcPct val="100000"/>
              </a:lnSpc>
            </a:pPr>
            <a:r>
              <a:rPr lang="en-US" altLang="en-US" sz="1600" dirty="0">
                <a:latin typeface="Courier New" panose="02070309020205020404" pitchFamily="49" charset="0"/>
              </a:rPr>
              <a:t>   &lt;/</a:t>
            </a:r>
            <a:r>
              <a:rPr lang="en-US" altLang="en-US" sz="1600" dirty="0" err="1">
                <a:latin typeface="Courier New" panose="02070309020205020404" pitchFamily="49" charset="0"/>
              </a:rPr>
              <a:t>textarea</a:t>
            </a:r>
            <a:r>
              <a:rPr lang="en-US" altLang="en-US" sz="1600" dirty="0">
                <a:latin typeface="Courier New" panose="02070309020205020404" pitchFamily="49" charset="0"/>
              </a:rPr>
              <a:t>&gt;</a:t>
            </a:r>
          </a:p>
          <a:p>
            <a:pPr>
              <a:lnSpc>
                <a:spcPct val="100000"/>
              </a:lnSpc>
            </a:pPr>
            <a:r>
              <a:rPr lang="en-US" altLang="en-US" sz="1600" dirty="0">
                <a:latin typeface="Courier New" panose="02070309020205020404" pitchFamily="49" charset="0"/>
              </a:rPr>
              <a:t>   &lt;/p&gt;</a:t>
            </a:r>
          </a:p>
          <a:p>
            <a:pPr>
              <a:lnSpc>
                <a:spcPct val="100000"/>
              </a:lnSpc>
            </a:pPr>
            <a:r>
              <a:rPr lang="en-US" altLang="en-US" sz="1600" dirty="0">
                <a:latin typeface="Courier New" panose="02070309020205020404" pitchFamily="49" charset="0"/>
              </a:rPr>
              <a:t>&lt;/form&gt;</a:t>
            </a:r>
            <a:endParaRPr lang="en-US" altLang="en-US" dirty="0"/>
          </a:p>
        </p:txBody>
      </p:sp>
      <p:graphicFrame>
        <p:nvGraphicFramePr>
          <p:cNvPr id="4" name="Object 6">
            <a:extLst>
              <a:ext uri="{FF2B5EF4-FFF2-40B4-BE49-F238E27FC236}">
                <a16:creationId xmlns:a16="http://schemas.microsoft.com/office/drawing/2014/main" id="{6D56D7D3-A68A-46BC-8461-3DB584D872F8}"/>
              </a:ext>
            </a:extLst>
          </p:cNvPr>
          <p:cNvGraphicFramePr>
            <a:graphicFrameLocks noChangeAspect="1"/>
          </p:cNvGraphicFramePr>
          <p:nvPr>
            <p:extLst>
              <p:ext uri="{D42A27DB-BD31-4B8C-83A1-F6EECF244321}">
                <p14:modId xmlns:p14="http://schemas.microsoft.com/office/powerpoint/2010/main" val="35173656"/>
              </p:ext>
            </p:extLst>
          </p:nvPr>
        </p:nvGraphicFramePr>
        <p:xfrm>
          <a:off x="6181726" y="4675094"/>
          <a:ext cx="5476875" cy="1282700"/>
        </p:xfrm>
        <a:graphic>
          <a:graphicData uri="http://schemas.openxmlformats.org/presentationml/2006/ole">
            <mc:AlternateContent xmlns:mc="http://schemas.openxmlformats.org/markup-compatibility/2006">
              <mc:Choice xmlns:v="urn:schemas-microsoft-com:vml" Requires="v">
                <p:oleObj name="Document" r:id="rId2" imgW="5477400" imgH="1283040" progId="Word.Document.8">
                  <p:embed/>
                </p:oleObj>
              </mc:Choice>
              <mc:Fallback>
                <p:oleObj name="Document" r:id="rId2" imgW="5477400" imgH="1283040" progId="Word.Document.8">
                  <p:embed/>
                  <p:pic>
                    <p:nvPicPr>
                      <p:cNvPr id="72710" name="Object 6">
                        <a:extLst>
                          <a:ext uri="{FF2B5EF4-FFF2-40B4-BE49-F238E27FC236}">
                            <a16:creationId xmlns:a16="http://schemas.microsoft.com/office/drawing/2014/main" id="{DA5774CF-EE05-92AB-3FB1-F2C0C4F86736}"/>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1726" y="4675094"/>
                        <a:ext cx="547687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3141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D96BD-3910-F51D-E87C-3E22E9742B13}"/>
            </a:ext>
          </a:extLst>
        </p:cNvPr>
        <p:cNvGrpSpPr/>
        <p:nvPr/>
      </p:nvGrpSpPr>
      <p:grpSpPr>
        <a:xfrm>
          <a:off x="0" y="0"/>
          <a:ext cx="0" cy="0"/>
          <a:chOff x="0" y="0"/>
          <a:chExt cx="0" cy="0"/>
        </a:xfrm>
      </p:grpSpPr>
      <p:sp>
        <p:nvSpPr>
          <p:cNvPr id="3" name="Text Box 4">
            <a:extLst>
              <a:ext uri="{FF2B5EF4-FFF2-40B4-BE49-F238E27FC236}">
                <a16:creationId xmlns:a16="http://schemas.microsoft.com/office/drawing/2014/main" id="{84025C9C-9D5F-29AE-E1AC-0084125369E1}"/>
              </a:ext>
            </a:extLst>
          </p:cNvPr>
          <p:cNvSpPr txBox="1">
            <a:spLocks noChangeArrowheads="1"/>
          </p:cNvSpPr>
          <p:nvPr/>
        </p:nvSpPr>
        <p:spPr bwMode="auto">
          <a:xfrm>
            <a:off x="517525" y="603250"/>
            <a:ext cx="11136593" cy="5663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2.9 Forms </a:t>
            </a:r>
            <a:r>
              <a:rPr lang="en-US" altLang="en-US" dirty="0"/>
              <a:t>(continued)</a:t>
            </a:r>
          </a:p>
          <a:p>
            <a:endParaRPr lang="en-US" altLang="en-US" dirty="0"/>
          </a:p>
          <a:p>
            <a:pPr>
              <a:lnSpc>
                <a:spcPct val="100000"/>
              </a:lnSpc>
            </a:pPr>
            <a:r>
              <a:rPr lang="en-US" altLang="en-US" dirty="0"/>
              <a:t>- </a:t>
            </a:r>
            <a:r>
              <a:rPr lang="en-US" altLang="en-US" i="1" dirty="0"/>
              <a:t>Widgets </a:t>
            </a:r>
            <a:r>
              <a:rPr lang="en-US" altLang="en-US" dirty="0"/>
              <a:t>(continued)</a:t>
            </a:r>
          </a:p>
          <a:p>
            <a:pPr>
              <a:lnSpc>
                <a:spcPct val="100000"/>
              </a:lnSpc>
            </a:pPr>
            <a:endParaRPr lang="en-US" altLang="en-US" dirty="0"/>
          </a:p>
          <a:p>
            <a:pPr>
              <a:lnSpc>
                <a:spcPct val="100000"/>
              </a:lnSpc>
            </a:pPr>
            <a:r>
              <a:rPr lang="en-US" altLang="en-US" dirty="0"/>
              <a:t>6. Reset and Submit buttons</a:t>
            </a:r>
          </a:p>
          <a:p>
            <a:pPr>
              <a:lnSpc>
                <a:spcPct val="100000"/>
              </a:lnSpc>
            </a:pPr>
            <a:endParaRPr lang="en-US" altLang="en-US" dirty="0"/>
          </a:p>
          <a:p>
            <a:pPr>
              <a:lnSpc>
                <a:spcPct val="100000"/>
              </a:lnSpc>
            </a:pPr>
            <a:r>
              <a:rPr lang="en-US" altLang="en-US" b="0" dirty="0"/>
              <a:t>Both are created with </a:t>
            </a:r>
            <a:r>
              <a:rPr lang="en-US" altLang="en-US" sz="1600" b="0" dirty="0">
                <a:latin typeface="Courier New" panose="02070309020205020404" pitchFamily="49" charset="0"/>
              </a:rPr>
              <a:t>&lt;input&gt;</a:t>
            </a:r>
            <a:endParaRPr lang="en-US" altLang="en-US" b="0" dirty="0"/>
          </a:p>
          <a:p>
            <a:pPr>
              <a:lnSpc>
                <a:spcPct val="100000"/>
              </a:lnSpc>
            </a:pPr>
            <a:endParaRPr lang="en-US" altLang="en-US" b="0" dirty="0"/>
          </a:p>
          <a:p>
            <a:pPr>
              <a:lnSpc>
                <a:spcPct val="100000"/>
              </a:lnSpc>
            </a:pPr>
            <a:r>
              <a:rPr lang="en-US" altLang="en-US" sz="1600" b="0" dirty="0">
                <a:latin typeface="Courier New" panose="02070309020205020404" pitchFamily="49" charset="0"/>
              </a:rPr>
              <a:t>	&lt;input type = "reset"  value = "Reset Form"&gt;</a:t>
            </a:r>
          </a:p>
          <a:p>
            <a:pPr>
              <a:lnSpc>
                <a:spcPct val="100000"/>
              </a:lnSpc>
            </a:pPr>
            <a:r>
              <a:rPr lang="en-US" altLang="en-US" sz="1600" b="0" dirty="0">
                <a:latin typeface="Courier New" panose="02070309020205020404" pitchFamily="49" charset="0"/>
              </a:rPr>
              <a:t>	&lt;input type = "submit”  value = "Submit Form"&gt;</a:t>
            </a:r>
          </a:p>
          <a:p>
            <a:pPr>
              <a:lnSpc>
                <a:spcPct val="100000"/>
              </a:lnSpc>
            </a:pPr>
            <a:endParaRPr lang="en-US" altLang="en-US" b="0" dirty="0"/>
          </a:p>
          <a:p>
            <a:pPr>
              <a:lnSpc>
                <a:spcPct val="100000"/>
              </a:lnSpc>
            </a:pPr>
            <a:r>
              <a:rPr lang="en-US" altLang="en-US" b="0" dirty="0"/>
              <a:t>Submit has two actions:</a:t>
            </a:r>
          </a:p>
          <a:p>
            <a:pPr>
              <a:lnSpc>
                <a:spcPct val="100000"/>
              </a:lnSpc>
            </a:pPr>
            <a:endParaRPr lang="en-US" altLang="en-US" b="0" dirty="0"/>
          </a:p>
          <a:p>
            <a:pPr>
              <a:lnSpc>
                <a:spcPct val="100000"/>
              </a:lnSpc>
            </a:pPr>
            <a:r>
              <a:rPr lang="en-US" altLang="en-US" b="0" dirty="0"/>
              <a:t>           1. Encode the data of the form</a:t>
            </a:r>
          </a:p>
          <a:p>
            <a:pPr>
              <a:lnSpc>
                <a:spcPct val="100000"/>
              </a:lnSpc>
            </a:pPr>
            <a:endParaRPr lang="en-US" altLang="en-US" b="0" dirty="0"/>
          </a:p>
          <a:p>
            <a:pPr>
              <a:lnSpc>
                <a:spcPct val="100000"/>
              </a:lnSpc>
            </a:pPr>
            <a:r>
              <a:rPr lang="en-US" altLang="en-US" b="0" dirty="0"/>
              <a:t>           2. Request that the server execute the server-resident program specified as the value of the </a:t>
            </a:r>
            <a:r>
              <a:rPr lang="en-US" altLang="en-US" sz="1600" b="0" dirty="0">
                <a:latin typeface="Courier New" panose="02070309020205020404" pitchFamily="49" charset="0"/>
              </a:rPr>
              <a:t>action</a:t>
            </a:r>
            <a:r>
              <a:rPr lang="en-US" altLang="en-US" b="0" dirty="0"/>
              <a:t> attribute of </a:t>
            </a:r>
            <a:r>
              <a:rPr lang="en-US" altLang="en-US" sz="1600" b="0" dirty="0">
                <a:latin typeface="Courier New" panose="02070309020205020404" pitchFamily="49" charset="0"/>
              </a:rPr>
              <a:t>&lt;form&gt;</a:t>
            </a:r>
            <a:endParaRPr lang="en-US" altLang="en-US" b="0" dirty="0"/>
          </a:p>
          <a:p>
            <a:pPr>
              <a:lnSpc>
                <a:spcPct val="100000"/>
              </a:lnSpc>
            </a:pPr>
            <a:endParaRPr lang="en-US" altLang="en-US" b="0" dirty="0"/>
          </a:p>
          <a:p>
            <a:pPr>
              <a:lnSpc>
                <a:spcPct val="100000"/>
              </a:lnSpc>
            </a:pPr>
            <a:r>
              <a:rPr lang="en-US" altLang="en-US" b="0" dirty="0"/>
              <a:t>A Submit button is required in every form</a:t>
            </a:r>
          </a:p>
          <a:p>
            <a:endParaRPr lang="en-US" altLang="en-US" dirty="0"/>
          </a:p>
        </p:txBody>
      </p:sp>
    </p:spTree>
    <p:extLst>
      <p:ext uri="{BB962C8B-B14F-4D97-AF65-F5344CB8AC3E}">
        <p14:creationId xmlns:p14="http://schemas.microsoft.com/office/powerpoint/2010/main" val="3745886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D600C-A1C7-1870-D83D-8E7A3BCFB5F3}"/>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F4559C9B-DAF6-988E-D415-C1CF65A1494E}"/>
              </a:ext>
            </a:extLst>
          </p:cNvPr>
          <p:cNvSpPr txBox="1">
            <a:spLocks noChangeArrowheads="1"/>
          </p:cNvSpPr>
          <p:nvPr/>
        </p:nvSpPr>
        <p:spPr bwMode="auto">
          <a:xfrm>
            <a:off x="533400" y="609600"/>
            <a:ext cx="11120718"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Frames</a:t>
            </a:r>
            <a:endParaRPr lang="en-US" altLang="en-US" dirty="0"/>
          </a:p>
          <a:p>
            <a:endParaRPr lang="en-US" altLang="en-US" dirty="0"/>
          </a:p>
          <a:p>
            <a:pPr marL="285750" indent="-285750" algn="just">
              <a:buFont typeface="Arial" panose="020B0604020202020204" pitchFamily="34" charset="0"/>
              <a:buChar char="•"/>
            </a:pPr>
            <a:r>
              <a:rPr lang="en-US" altLang="en-US" b="0" dirty="0"/>
              <a:t>Frames are rectangular sections of the display window, each of which can display a different document</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Because frames are no longer part of XHTML, you cannot validate a document that includes frames</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The </a:t>
            </a:r>
            <a:r>
              <a:rPr lang="en-US" altLang="en-US" b="0" dirty="0">
                <a:latin typeface="Courier New" panose="02070309020205020404" pitchFamily="49" charset="0"/>
              </a:rPr>
              <a:t>&lt;frameset&gt;</a:t>
            </a:r>
            <a:r>
              <a:rPr lang="en-US" altLang="en-US" b="0" dirty="0"/>
              <a:t> tag specifies the number of frames and their layout in the window</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latin typeface="Courier New" panose="02070309020205020404" pitchFamily="49" charset="0"/>
              </a:rPr>
              <a:t>&lt;frameset&gt;</a:t>
            </a:r>
            <a:r>
              <a:rPr lang="en-US" altLang="en-US" b="0" dirty="0"/>
              <a:t> takes the place of </a:t>
            </a:r>
            <a:r>
              <a:rPr lang="en-US" altLang="en-US" b="0" dirty="0">
                <a:latin typeface="Courier New" panose="02070309020205020404" pitchFamily="49" charset="0"/>
              </a:rPr>
              <a:t>&lt;body&gt;</a:t>
            </a:r>
            <a:r>
              <a:rPr lang="en-US" altLang="en-US" b="0" dirty="0"/>
              <a:t> , Cannot have both!</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latin typeface="Courier New" panose="02070309020205020404" pitchFamily="49" charset="0"/>
              </a:rPr>
              <a:t>&lt;frameset&gt;</a:t>
            </a:r>
            <a:r>
              <a:rPr lang="en-US" altLang="en-US" b="0" dirty="0"/>
              <a:t> must have either a </a:t>
            </a:r>
            <a:r>
              <a:rPr lang="en-US" altLang="en-US" b="0" dirty="0">
                <a:latin typeface="Courier New" panose="02070309020205020404" pitchFamily="49" charset="0"/>
              </a:rPr>
              <a:t>rows</a:t>
            </a:r>
            <a:r>
              <a:rPr lang="en-US" altLang="en-US" b="0" dirty="0"/>
              <a:t> attribute or a </a:t>
            </a:r>
            <a:r>
              <a:rPr lang="en-US" altLang="en-US" b="0" dirty="0">
                <a:latin typeface="Courier New" panose="02070309020205020404" pitchFamily="49" charset="0"/>
              </a:rPr>
              <a:t>cols</a:t>
            </a:r>
            <a:r>
              <a:rPr lang="en-US" altLang="en-US" b="0" dirty="0"/>
              <a:t> attribute, or both (usually the case)Default is 1</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The possible values for </a:t>
            </a:r>
            <a:r>
              <a:rPr lang="en-US" altLang="en-US" b="0" dirty="0">
                <a:latin typeface="Courier New" panose="02070309020205020404" pitchFamily="49" charset="0"/>
              </a:rPr>
              <a:t>rows</a:t>
            </a:r>
            <a:r>
              <a:rPr lang="en-US" altLang="en-US" b="0" dirty="0"/>
              <a:t> and </a:t>
            </a:r>
            <a:r>
              <a:rPr lang="en-US" altLang="en-US" b="0" dirty="0">
                <a:latin typeface="Courier New" panose="02070309020205020404" pitchFamily="49" charset="0"/>
              </a:rPr>
              <a:t>cols</a:t>
            </a:r>
            <a:r>
              <a:rPr lang="en-US" altLang="en-US" b="0" dirty="0"/>
              <a:t> are numbers, percentages, and asterisks</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A number value specifies the row height in pixels - Not terribly useful!</a:t>
            </a:r>
          </a:p>
          <a:p>
            <a:pPr marL="285750" indent="-285750" algn="just">
              <a:buFont typeface="Arial" panose="020B0604020202020204" pitchFamily="34" charset="0"/>
              <a:buChar char="•"/>
            </a:pPr>
            <a:endParaRPr lang="en-US" altLang="en-US" b="0" dirty="0"/>
          </a:p>
          <a:p>
            <a:pPr marL="285750" indent="-285750" algn="just">
              <a:buFont typeface="Arial" panose="020B0604020202020204" pitchFamily="34" charset="0"/>
              <a:buChar char="•"/>
            </a:pPr>
            <a:r>
              <a:rPr lang="en-US" altLang="en-US" b="0" dirty="0"/>
              <a:t>A percentage specifies the percentage of total window height for the row - Very useful!</a:t>
            </a:r>
          </a:p>
        </p:txBody>
      </p:sp>
    </p:spTree>
    <p:extLst>
      <p:ext uri="{BB962C8B-B14F-4D97-AF65-F5344CB8AC3E}">
        <p14:creationId xmlns:p14="http://schemas.microsoft.com/office/powerpoint/2010/main" val="316080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 calcmode="lin" valueType="num">
                                      <p:cBhvr additive="base">
                                        <p:cTn id="1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anim calcmode="lin" valueType="num">
                                      <p:cBhvr additive="base">
                                        <p:cTn id="2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anim calcmode="lin" valueType="num">
                                      <p:cBhvr additive="base">
                                        <p:cTn id="3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anim calcmode="lin" valueType="num">
                                      <p:cBhvr additive="base">
                                        <p:cTn id="3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FADE6-C362-A2DC-4DD2-C7ED24BFF8FA}"/>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5F11741C-54FC-ACF8-B085-9443592019C8}"/>
              </a:ext>
            </a:extLst>
          </p:cNvPr>
          <p:cNvSpPr txBox="1">
            <a:spLocks noChangeArrowheads="1"/>
          </p:cNvSpPr>
          <p:nvPr/>
        </p:nvSpPr>
        <p:spPr bwMode="auto">
          <a:xfrm>
            <a:off x="457200" y="685800"/>
            <a:ext cx="11277600"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r>
              <a:rPr lang="en-US" altLang="en-US" sz="2400" dirty="0"/>
              <a:t>Frames </a:t>
            </a:r>
            <a:r>
              <a:rPr lang="en-US" altLang="en-US" dirty="0"/>
              <a:t>(continued)</a:t>
            </a:r>
          </a:p>
          <a:p>
            <a:endParaRPr lang="en-US" altLang="en-US" dirty="0"/>
          </a:p>
          <a:p>
            <a:pPr marL="285750" indent="-285750">
              <a:buFont typeface="Arial" panose="020B0604020202020204" pitchFamily="34" charset="0"/>
              <a:buChar char="•"/>
            </a:pPr>
            <a:r>
              <a:rPr lang="en-US" altLang="en-US" dirty="0"/>
              <a:t>An asterisk after some other specification gives the remainder of the height of the window</a:t>
            </a:r>
          </a:p>
          <a:p>
            <a:pPr marL="285750" indent="-285750">
              <a:buFont typeface="Arial" panose="020B0604020202020204" pitchFamily="34" charset="0"/>
              <a:buChar char="•"/>
            </a:pPr>
            <a:endParaRPr lang="en-US" altLang="en-US" dirty="0"/>
          </a:p>
          <a:p>
            <a:r>
              <a:rPr lang="en-US" altLang="en-US" dirty="0"/>
              <a:t>      - Examples:</a:t>
            </a:r>
          </a:p>
          <a:p>
            <a:r>
              <a:rPr lang="en-US" altLang="en-US" dirty="0"/>
              <a:t>           </a:t>
            </a:r>
            <a:r>
              <a:rPr lang="en-US" altLang="en-US" sz="1600" dirty="0">
                <a:latin typeface="Courier New" panose="02070309020205020404" pitchFamily="49" charset="0"/>
              </a:rPr>
              <a:t>&lt;frameset rows = "150, 200, 300"&gt;</a:t>
            </a:r>
          </a:p>
          <a:p>
            <a:r>
              <a:rPr lang="en-US" altLang="en-US" sz="1600" dirty="0">
                <a:latin typeface="Courier New" panose="02070309020205020404" pitchFamily="49" charset="0"/>
              </a:rPr>
              <a:t>      &lt;frameset rows = "25%, 50%, 25%"&gt;</a:t>
            </a:r>
          </a:p>
          <a:p>
            <a:r>
              <a:rPr lang="en-US" altLang="en-US" sz="1600" dirty="0">
                <a:latin typeface="Courier New" panose="02070309020205020404" pitchFamily="49" charset="0"/>
              </a:rPr>
              <a:t>      &lt;frameset rows = "50%, 20%, *" &gt;</a:t>
            </a:r>
          </a:p>
          <a:p>
            <a:r>
              <a:rPr lang="en-US" altLang="en-US" sz="1600" dirty="0">
                <a:latin typeface="Courier New" panose="02070309020205020404" pitchFamily="49" charset="0"/>
              </a:rPr>
              <a:t>      &lt;frameset rows = "50%, 25%, 25%“ cols = "40%, *"&gt;</a:t>
            </a:r>
          </a:p>
          <a:p>
            <a:endParaRPr lang="en-US" altLang="en-US" dirty="0"/>
          </a:p>
          <a:p>
            <a:pPr marL="285750" indent="-285750">
              <a:buFont typeface="Arial" panose="020B0604020202020204" pitchFamily="34" charset="0"/>
              <a:buChar char="•"/>
            </a:pPr>
            <a:r>
              <a:rPr lang="en-US" altLang="en-US" dirty="0"/>
              <a:t>The </a:t>
            </a:r>
            <a:r>
              <a:rPr lang="en-US" altLang="en-US" sz="1600" dirty="0">
                <a:latin typeface="Courier New" panose="02070309020205020404" pitchFamily="49" charset="0"/>
              </a:rPr>
              <a:t>&lt;frame&gt;</a:t>
            </a:r>
            <a:r>
              <a:rPr lang="en-US" altLang="en-US" dirty="0"/>
              <a:t> tag specifies the content of a frame</a:t>
            </a:r>
          </a:p>
          <a:p>
            <a:endParaRPr lang="en-US" altLang="en-US" dirty="0"/>
          </a:p>
          <a:p>
            <a:pPr marL="285750" indent="-285750">
              <a:buFont typeface="Arial" panose="020B0604020202020204" pitchFamily="34" charset="0"/>
              <a:buChar char="•"/>
            </a:pPr>
            <a:r>
              <a:rPr lang="en-US" altLang="en-US" dirty="0"/>
              <a:t>The first </a:t>
            </a:r>
            <a:r>
              <a:rPr lang="en-US" altLang="en-US" sz="1600" dirty="0">
                <a:latin typeface="Courier New" panose="02070309020205020404" pitchFamily="49" charset="0"/>
              </a:rPr>
              <a:t>&lt;frame&gt;</a:t>
            </a:r>
            <a:r>
              <a:rPr lang="en-US" altLang="en-US" dirty="0"/>
              <a:t> tag in a </a:t>
            </a:r>
            <a:r>
              <a:rPr lang="en-US" altLang="en-US" sz="1600" dirty="0">
                <a:latin typeface="Courier New" panose="02070309020205020404" pitchFamily="49" charset="0"/>
              </a:rPr>
              <a:t>&lt;frameset&gt;</a:t>
            </a:r>
            <a:r>
              <a:rPr lang="en-US" altLang="en-US" dirty="0"/>
              <a:t> specifies the content of the first frame, etc.</a:t>
            </a:r>
          </a:p>
          <a:p>
            <a:r>
              <a:rPr lang="en-US" altLang="en-US" dirty="0"/>
              <a:t>       - Row-major order is used</a:t>
            </a:r>
          </a:p>
          <a:p>
            <a:r>
              <a:rPr lang="en-US" altLang="en-US" dirty="0"/>
              <a:t>       - Frame content is specified with the </a:t>
            </a:r>
            <a:r>
              <a:rPr lang="en-US" altLang="en-US" sz="1600" dirty="0" err="1">
                <a:latin typeface="Courier New" panose="02070309020205020404" pitchFamily="49" charset="0"/>
              </a:rPr>
              <a:t>src</a:t>
            </a:r>
            <a:r>
              <a:rPr lang="en-US" altLang="en-US" dirty="0"/>
              <a:t> attribute  </a:t>
            </a:r>
          </a:p>
          <a:p>
            <a:r>
              <a:rPr lang="en-US" altLang="en-US" dirty="0"/>
              <a:t>       - Without a </a:t>
            </a:r>
            <a:r>
              <a:rPr lang="en-US" altLang="en-US" sz="1600" dirty="0" err="1">
                <a:latin typeface="Courier New" panose="02070309020205020404" pitchFamily="49" charset="0"/>
              </a:rPr>
              <a:t>src</a:t>
            </a:r>
            <a:r>
              <a:rPr lang="en-US" altLang="en-US" dirty="0"/>
              <a:t> attribute, the frame will be empty (such a frame CANNOT be filled later)</a:t>
            </a:r>
          </a:p>
          <a:p>
            <a:endParaRPr lang="en-US" altLang="en-US" dirty="0"/>
          </a:p>
          <a:p>
            <a:r>
              <a:rPr lang="en-US" altLang="en-US" dirty="0"/>
              <a:t>       - If </a:t>
            </a:r>
            <a:r>
              <a:rPr lang="en-US" altLang="en-US" sz="1600" dirty="0">
                <a:latin typeface="Courier New" panose="02070309020205020404" pitchFamily="49" charset="0"/>
              </a:rPr>
              <a:t>&lt;frameset&gt;</a:t>
            </a:r>
            <a:r>
              <a:rPr lang="en-US" altLang="en-US" dirty="0"/>
              <a:t> has fewer </a:t>
            </a:r>
            <a:r>
              <a:rPr lang="en-US" altLang="en-US" sz="1600" dirty="0">
                <a:latin typeface="Courier New" panose="02070309020205020404" pitchFamily="49" charset="0"/>
              </a:rPr>
              <a:t>&lt;frame&gt;</a:t>
            </a:r>
            <a:r>
              <a:rPr lang="en-US" altLang="en-US" dirty="0"/>
              <a:t> tags than frames, the extra frames are empty</a:t>
            </a:r>
          </a:p>
        </p:txBody>
      </p:sp>
    </p:spTree>
    <p:extLst>
      <p:ext uri="{BB962C8B-B14F-4D97-AF65-F5344CB8AC3E}">
        <p14:creationId xmlns:p14="http://schemas.microsoft.com/office/powerpoint/2010/main" val="153285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anim calcmode="lin" valueType="num">
                                      <p:cBhvr additive="base">
                                        <p:cTn id="1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anim calcmode="lin" valueType="num">
                                      <p:cBhvr additive="base">
                                        <p:cTn id="2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5BD73-3D68-B4AD-8E0C-B6BC79E92BCD}"/>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031E05BC-D019-314F-CA56-D17A45E83B9B}"/>
              </a:ext>
            </a:extLst>
          </p:cNvPr>
          <p:cNvSpPr txBox="1">
            <a:spLocks noChangeArrowheads="1"/>
          </p:cNvSpPr>
          <p:nvPr/>
        </p:nvSpPr>
        <p:spPr bwMode="auto">
          <a:xfrm>
            <a:off x="457200" y="685800"/>
            <a:ext cx="11125200"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pPr>
              <a:lnSpc>
                <a:spcPct val="100000"/>
              </a:lnSpc>
            </a:pPr>
            <a:r>
              <a:rPr lang="en-US" altLang="en-US" sz="2400" dirty="0"/>
              <a:t>Frames </a:t>
            </a:r>
            <a:r>
              <a:rPr lang="en-US" altLang="en-US" dirty="0"/>
              <a:t>(continued)</a:t>
            </a:r>
          </a:p>
          <a:p>
            <a:pPr>
              <a:lnSpc>
                <a:spcPct val="100000"/>
              </a:lnSpc>
            </a:pPr>
            <a:endParaRPr lang="en-US" altLang="en-US" dirty="0"/>
          </a:p>
          <a:p>
            <a:pPr marL="285750" indent="-285750">
              <a:buFont typeface="Arial" panose="020B0604020202020204" pitchFamily="34" charset="0"/>
              <a:buChar char="•"/>
            </a:pPr>
            <a:r>
              <a:rPr lang="en-US" altLang="en-US" b="0" dirty="0"/>
              <a:t>Scrollbars are implicitly included if needed (they are needed if the specified document will not fit)</a:t>
            </a:r>
          </a:p>
          <a:p>
            <a:pPr marL="285750" indent="-285750">
              <a:buFont typeface="Arial" panose="020B0604020202020204" pitchFamily="34" charset="0"/>
              <a:buChar char="•"/>
            </a:pPr>
            <a:endParaRPr lang="en-US" altLang="en-US" b="0" dirty="0"/>
          </a:p>
          <a:p>
            <a:pPr marL="285750" indent="-285750">
              <a:buFont typeface="Arial" panose="020B0604020202020204" pitchFamily="34" charset="0"/>
              <a:buChar char="•"/>
            </a:pPr>
            <a:r>
              <a:rPr lang="en-US" altLang="en-US" b="0" dirty="0"/>
              <a:t>If a </a:t>
            </a:r>
            <a:r>
              <a:rPr lang="en-US" altLang="en-US" sz="1600" b="0" dirty="0">
                <a:latin typeface="Courier New" panose="02070309020205020404" pitchFamily="49" charset="0"/>
              </a:rPr>
              <a:t>name</a:t>
            </a:r>
            <a:r>
              <a:rPr lang="en-US" altLang="en-US" b="0" dirty="0"/>
              <a:t> attribute is included, the content of the frame can be changed later (by selection of a link in some other frame)</a:t>
            </a:r>
          </a:p>
          <a:p>
            <a:endParaRPr lang="en-US" altLang="en-US" b="0" dirty="0"/>
          </a:p>
          <a:p>
            <a:r>
              <a:rPr lang="en-US" altLang="en-US" b="0" dirty="0"/>
              <a:t> </a:t>
            </a:r>
            <a:r>
              <a:rPr lang="en-US" altLang="en-US" sz="1600" b="0" dirty="0">
                <a:latin typeface="Courier New" panose="02070309020205020404" pitchFamily="49" charset="0"/>
              </a:rPr>
              <a:t> </a:t>
            </a:r>
            <a:r>
              <a:rPr lang="en-US" altLang="en-US" b="0" dirty="0">
                <a:sym typeface="Wingdings" panose="05000000000000000000" pitchFamily="2" charset="2"/>
              </a:rPr>
              <a:t>SHOW</a:t>
            </a:r>
            <a:r>
              <a:rPr lang="en-US" altLang="en-US" sz="1600" b="0" dirty="0">
                <a:latin typeface="Courier New" panose="02070309020205020404" pitchFamily="49" charset="0"/>
                <a:sym typeface="Wingdings" panose="05000000000000000000" pitchFamily="2" charset="2"/>
              </a:rPr>
              <a:t> </a:t>
            </a:r>
            <a:r>
              <a:rPr lang="en-US" altLang="en-US" sz="1600" b="0" dirty="0">
                <a:latin typeface="Courier New" panose="02070309020205020404" pitchFamily="49" charset="0"/>
              </a:rPr>
              <a:t>frames.html</a:t>
            </a:r>
          </a:p>
          <a:p>
            <a:pPr>
              <a:lnSpc>
                <a:spcPct val="100000"/>
              </a:lnSpc>
            </a:pPr>
            <a:r>
              <a:rPr lang="en-US" altLang="en-US" sz="1600" b="0" dirty="0">
                <a:latin typeface="Courier New" panose="02070309020205020404" pitchFamily="49" charset="0"/>
              </a:rPr>
              <a:t>       </a:t>
            </a:r>
            <a:endParaRPr lang="en-US" altLang="en-US" b="0" dirty="0"/>
          </a:p>
          <a:p>
            <a:pPr marL="285750" indent="-285750">
              <a:lnSpc>
                <a:spcPct val="100000"/>
              </a:lnSpc>
              <a:buFont typeface="Arial" panose="020B0604020202020204" pitchFamily="34" charset="0"/>
              <a:buChar char="•"/>
            </a:pPr>
            <a:r>
              <a:rPr lang="en-US" altLang="en-US" b="0" dirty="0"/>
              <a:t>Note: the </a:t>
            </a:r>
            <a:r>
              <a:rPr lang="en-US" altLang="en-US" sz="1600" b="0" dirty="0">
                <a:latin typeface="Courier New" panose="02070309020205020404" pitchFamily="49" charset="0"/>
              </a:rPr>
              <a:t>Frameset</a:t>
            </a:r>
            <a:r>
              <a:rPr lang="en-US" altLang="en-US" b="0" dirty="0"/>
              <a:t> standard must be specified in the </a:t>
            </a:r>
            <a:r>
              <a:rPr lang="en-US" altLang="en-US" sz="1600" b="0" dirty="0">
                <a:latin typeface="Courier New" panose="02070309020205020404" pitchFamily="49" charset="0"/>
              </a:rPr>
              <a:t>DOCTYPE</a:t>
            </a:r>
            <a:r>
              <a:rPr lang="en-US" altLang="en-US" b="0" dirty="0"/>
              <a:t> declaration</a:t>
            </a:r>
          </a:p>
        </p:txBody>
      </p:sp>
    </p:spTree>
    <p:extLst>
      <p:ext uri="{BB962C8B-B14F-4D97-AF65-F5344CB8AC3E}">
        <p14:creationId xmlns:p14="http://schemas.microsoft.com/office/powerpoint/2010/main" val="75196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94776-93BF-98B2-0906-E77C2B558361}"/>
            </a:ext>
          </a:extLst>
        </p:cNvPr>
        <p:cNvGrpSpPr/>
        <p:nvPr/>
      </p:nvGrpSpPr>
      <p:grpSpPr>
        <a:xfrm>
          <a:off x="0" y="0"/>
          <a:ext cx="0" cy="0"/>
          <a:chOff x="0" y="0"/>
          <a:chExt cx="0" cy="0"/>
        </a:xfrm>
      </p:grpSpPr>
      <p:sp>
        <p:nvSpPr>
          <p:cNvPr id="3" name="Text Box 3">
            <a:extLst>
              <a:ext uri="{FF2B5EF4-FFF2-40B4-BE49-F238E27FC236}">
                <a16:creationId xmlns:a16="http://schemas.microsoft.com/office/drawing/2014/main" id="{3D90FF9E-5B4C-D6F5-3E4B-5DF321163F86}"/>
              </a:ext>
            </a:extLst>
          </p:cNvPr>
          <p:cNvSpPr txBox="1">
            <a:spLocks noChangeArrowheads="1"/>
          </p:cNvSpPr>
          <p:nvPr/>
        </p:nvSpPr>
        <p:spPr bwMode="auto">
          <a:xfrm>
            <a:off x="457199" y="685800"/>
            <a:ext cx="11143129" cy="5663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pPr>
              <a:lnSpc>
                <a:spcPct val="100000"/>
              </a:lnSpc>
            </a:pPr>
            <a:r>
              <a:rPr lang="en-US" altLang="en-US" sz="2400" dirty="0"/>
              <a:t>2.10 Frames </a:t>
            </a:r>
            <a:r>
              <a:rPr lang="en-US" altLang="en-US" dirty="0"/>
              <a:t>(continued)</a:t>
            </a:r>
          </a:p>
          <a:p>
            <a:endParaRPr lang="en-US" altLang="en-US" dirty="0"/>
          </a:p>
          <a:p>
            <a:pPr>
              <a:lnSpc>
                <a:spcPct val="100000"/>
              </a:lnSpc>
            </a:pPr>
            <a:r>
              <a:rPr lang="en-US" altLang="en-US" sz="1600" dirty="0">
                <a:latin typeface="Courier New" panose="02070309020205020404" pitchFamily="49" charset="0"/>
              </a:rPr>
              <a:t>&lt;!-- contents.html</a:t>
            </a:r>
          </a:p>
          <a:p>
            <a:pPr>
              <a:lnSpc>
                <a:spcPct val="100000"/>
              </a:lnSpc>
            </a:pPr>
            <a:r>
              <a:rPr lang="en-US" altLang="en-US" sz="1600" dirty="0">
                <a:latin typeface="Courier New" panose="02070309020205020404" pitchFamily="49" charset="0"/>
              </a:rPr>
              <a:t>     The contents of the first frame of </a:t>
            </a:r>
          </a:p>
          <a:p>
            <a:pPr>
              <a:lnSpc>
                <a:spcPct val="100000"/>
              </a:lnSpc>
            </a:pPr>
            <a:r>
              <a:rPr lang="en-US" altLang="en-US" sz="1600" dirty="0">
                <a:latin typeface="Courier New" panose="02070309020205020404" pitchFamily="49" charset="0"/>
              </a:rPr>
              <a:t>     frames.html, which is the table of </a:t>
            </a:r>
          </a:p>
          <a:p>
            <a:pPr>
              <a:lnSpc>
                <a:spcPct val="100000"/>
              </a:lnSpc>
            </a:pPr>
            <a:r>
              <a:rPr lang="en-US" altLang="en-US" sz="1600" dirty="0">
                <a:latin typeface="Courier New" panose="02070309020205020404" pitchFamily="49" charset="0"/>
              </a:rPr>
              <a:t>     contents for the second frame</a:t>
            </a:r>
          </a:p>
          <a:p>
            <a:pPr>
              <a:lnSpc>
                <a:spcPct val="100000"/>
              </a:lnSpc>
            </a:pPr>
            <a:r>
              <a:rPr lang="en-US" altLang="en-US" sz="1600" dirty="0">
                <a:latin typeface="Courier New" panose="02070309020205020404" pitchFamily="49" charset="0"/>
              </a:rPr>
              <a:t>     --&gt;</a:t>
            </a:r>
          </a:p>
          <a:p>
            <a:pPr>
              <a:lnSpc>
                <a:spcPct val="100000"/>
              </a:lnSpc>
            </a:pPr>
            <a:r>
              <a:rPr lang="en-US" altLang="en-US" sz="1600" dirty="0">
                <a:latin typeface="Courier New" panose="02070309020205020404" pitchFamily="49" charset="0"/>
              </a:rPr>
              <a:t>&lt;html </a:t>
            </a:r>
            <a:r>
              <a:rPr lang="en-US" altLang="en-US" sz="1600" dirty="0" err="1">
                <a:latin typeface="Courier New" panose="02070309020205020404" pitchFamily="49" charset="0"/>
              </a:rPr>
              <a:t>xmlns</a:t>
            </a:r>
            <a:r>
              <a:rPr lang="en-US" altLang="en-US" sz="1600" dirty="0">
                <a:latin typeface="Courier New" panose="02070309020205020404" pitchFamily="49" charset="0"/>
              </a:rPr>
              <a:t> = </a:t>
            </a:r>
            <a:r>
              <a:rPr lang="en-US" altLang="en-US" sz="1400" dirty="0">
                <a:latin typeface="Courier New" panose="02070309020205020404" pitchFamily="49" charset="0"/>
                <a:cs typeface="Courier New" panose="02070309020205020404" pitchFamily="49" charset="0"/>
              </a:rPr>
              <a:t>″</a:t>
            </a:r>
            <a:r>
              <a:rPr lang="en-US" altLang="en-US" sz="1600" dirty="0">
                <a:latin typeface="Courier New" panose="02070309020205020404" pitchFamily="49" charset="0"/>
              </a:rPr>
              <a:t>http://www.w3.org/1999/</a:t>
            </a:r>
            <a:r>
              <a:rPr lang="en-US" altLang="en-US" sz="1600" dirty="0" err="1">
                <a:latin typeface="Courier New" panose="02070309020205020404" pitchFamily="49" charset="0"/>
              </a:rPr>
              <a:t>xhtml</a:t>
            </a:r>
            <a:r>
              <a:rPr lang="en-US" altLang="en-US" sz="1400" dirty="0">
                <a:latin typeface="Courier New" panose="02070309020205020404" pitchFamily="49" charset="0"/>
                <a:cs typeface="Courier New" panose="02070309020205020404" pitchFamily="49" charset="0"/>
              </a:rPr>
              <a:t>″</a:t>
            </a:r>
            <a:r>
              <a:rPr lang="en-US" altLang="en-US" sz="1600" dirty="0">
                <a:latin typeface="Courier New" panose="02070309020205020404" pitchFamily="49" charset="0"/>
              </a:rPr>
              <a:t>&gt;</a:t>
            </a:r>
          </a:p>
          <a:p>
            <a:pPr>
              <a:lnSpc>
                <a:spcPct val="100000"/>
              </a:lnSpc>
            </a:pPr>
            <a:r>
              <a:rPr lang="en-US" altLang="en-US" sz="1600" dirty="0">
                <a:latin typeface="Courier New" panose="02070309020205020404" pitchFamily="49" charset="0"/>
              </a:rPr>
              <a:t>  &lt;head&gt; </a:t>
            </a:r>
          </a:p>
          <a:p>
            <a:pPr>
              <a:lnSpc>
                <a:spcPct val="100000"/>
              </a:lnSpc>
            </a:pPr>
            <a:r>
              <a:rPr lang="en-US" altLang="en-US" sz="1600" dirty="0">
                <a:latin typeface="Courier New" panose="02070309020205020404" pitchFamily="49" charset="0"/>
              </a:rPr>
              <a:t>	&lt;title&gt; Table of Contents Frame </a:t>
            </a:r>
          </a:p>
          <a:p>
            <a:pPr>
              <a:lnSpc>
                <a:spcPct val="100000"/>
              </a:lnSpc>
            </a:pPr>
            <a:r>
              <a:rPr lang="en-US" altLang="en-US" sz="1600" dirty="0">
                <a:latin typeface="Courier New" panose="02070309020205020404" pitchFamily="49" charset="0"/>
              </a:rPr>
              <a:t>    	&lt;/title&gt;</a:t>
            </a:r>
          </a:p>
          <a:p>
            <a:pPr>
              <a:lnSpc>
                <a:spcPct val="100000"/>
              </a:lnSpc>
            </a:pPr>
            <a:r>
              <a:rPr lang="en-US" altLang="en-US" sz="1600" dirty="0">
                <a:latin typeface="Courier New" panose="02070309020205020404" pitchFamily="49" charset="0"/>
              </a:rPr>
              <a:t>  &lt;/head&gt;</a:t>
            </a:r>
          </a:p>
          <a:p>
            <a:pPr>
              <a:lnSpc>
                <a:spcPct val="100000"/>
              </a:lnSpc>
            </a:pPr>
            <a:r>
              <a:rPr lang="en-US" altLang="en-US" sz="1600" dirty="0">
                <a:latin typeface="Courier New" panose="02070309020205020404" pitchFamily="49" charset="0"/>
              </a:rPr>
              <a:t>  &lt;body&gt;</a:t>
            </a:r>
          </a:p>
          <a:p>
            <a:pPr>
              <a:lnSpc>
                <a:spcPct val="100000"/>
              </a:lnSpc>
            </a:pPr>
            <a:r>
              <a:rPr lang="en-US" altLang="en-US" sz="1600" dirty="0">
                <a:latin typeface="Courier New" panose="02070309020205020404" pitchFamily="49" charset="0"/>
              </a:rPr>
              <a:t>    &lt;h4&gt; Fruits &lt;/h4&gt;</a:t>
            </a:r>
          </a:p>
          <a:p>
            <a:pPr>
              <a:lnSpc>
                <a:spcPct val="100000"/>
              </a:lnSpc>
            </a:pPr>
            <a:r>
              <a:rPr lang="en-US" altLang="en-US" sz="1600" dirty="0">
                <a:latin typeface="Courier New" panose="02070309020205020404" pitchFamily="49" charset="0"/>
              </a:rPr>
              <a:t>    &lt;ul&gt;</a:t>
            </a:r>
          </a:p>
          <a:p>
            <a:pPr>
              <a:lnSpc>
                <a:spcPct val="100000"/>
              </a:lnSpc>
            </a:pPr>
            <a:r>
              <a:rPr lang="en-US" altLang="en-US" sz="1600" dirty="0">
                <a:latin typeface="Courier New" panose="02070309020205020404" pitchFamily="49" charset="0"/>
              </a:rPr>
              <a:t>      &lt;li&gt; &lt;a </a:t>
            </a:r>
            <a:r>
              <a:rPr lang="en-US" altLang="en-US" sz="1600" dirty="0" err="1">
                <a:latin typeface="Courier New" panose="02070309020205020404" pitchFamily="49" charset="0"/>
              </a:rPr>
              <a:t>href</a:t>
            </a:r>
            <a:r>
              <a:rPr lang="en-US" altLang="en-US" sz="1600" dirty="0">
                <a:latin typeface="Courier New" panose="02070309020205020404" pitchFamily="49" charset="0"/>
              </a:rPr>
              <a:t> = "apples.html" target = "descriptions"&gt; apples &lt;/a&gt;</a:t>
            </a:r>
          </a:p>
          <a:p>
            <a:pPr>
              <a:lnSpc>
                <a:spcPct val="100000"/>
              </a:lnSpc>
            </a:pPr>
            <a:r>
              <a:rPr lang="en-US" altLang="en-US" sz="1600" dirty="0">
                <a:latin typeface="Courier New" panose="02070309020205020404" pitchFamily="49" charset="0"/>
              </a:rPr>
              <a:t>      &lt;li&gt; &lt;a </a:t>
            </a:r>
            <a:r>
              <a:rPr lang="en-US" altLang="en-US" sz="1600" dirty="0" err="1">
                <a:latin typeface="Courier New" panose="02070309020205020404" pitchFamily="49" charset="0"/>
              </a:rPr>
              <a:t>href</a:t>
            </a:r>
            <a:r>
              <a:rPr lang="en-US" altLang="en-US" sz="1600" dirty="0">
                <a:latin typeface="Courier New" panose="02070309020205020404" pitchFamily="49" charset="0"/>
              </a:rPr>
              <a:t> = "bananas.html" target = "descriptions"&gt; bananas &lt;/a&gt;</a:t>
            </a:r>
          </a:p>
          <a:p>
            <a:pPr>
              <a:lnSpc>
                <a:spcPct val="100000"/>
              </a:lnSpc>
            </a:pPr>
            <a:r>
              <a:rPr lang="en-US" altLang="en-US" sz="1600" dirty="0">
                <a:latin typeface="Courier New" panose="02070309020205020404" pitchFamily="49" charset="0"/>
              </a:rPr>
              <a:t>      &lt;li&gt; &lt;a </a:t>
            </a:r>
            <a:r>
              <a:rPr lang="en-US" altLang="en-US" sz="1600" dirty="0" err="1">
                <a:latin typeface="Courier New" panose="02070309020205020404" pitchFamily="49" charset="0"/>
              </a:rPr>
              <a:t>href</a:t>
            </a:r>
            <a:r>
              <a:rPr lang="en-US" altLang="en-US" sz="1600" dirty="0">
                <a:latin typeface="Courier New" panose="02070309020205020404" pitchFamily="49" charset="0"/>
              </a:rPr>
              <a:t> = "oranges.html" target = "descriptions"&gt; oranges &lt;/a&gt;</a:t>
            </a:r>
          </a:p>
          <a:p>
            <a:pPr>
              <a:lnSpc>
                <a:spcPct val="100000"/>
              </a:lnSpc>
            </a:pPr>
            <a:r>
              <a:rPr lang="en-US" altLang="en-US" sz="1600" dirty="0">
                <a:latin typeface="Courier New" panose="02070309020205020404" pitchFamily="49" charset="0"/>
              </a:rPr>
              <a:t>    &lt;/ul&gt;</a:t>
            </a:r>
          </a:p>
          <a:p>
            <a:pPr>
              <a:lnSpc>
                <a:spcPct val="100000"/>
              </a:lnSpc>
            </a:pPr>
            <a:r>
              <a:rPr lang="en-US" altLang="en-US" sz="1600" dirty="0">
                <a:latin typeface="Courier New" panose="02070309020205020404" pitchFamily="49" charset="0"/>
              </a:rPr>
              <a:t>  &lt;/body&gt;</a:t>
            </a:r>
          </a:p>
          <a:p>
            <a:pPr>
              <a:lnSpc>
                <a:spcPct val="100000"/>
              </a:lnSpc>
            </a:pPr>
            <a:r>
              <a:rPr lang="en-US" altLang="en-US" sz="1600" dirty="0">
                <a:latin typeface="Courier New" panose="02070309020205020404" pitchFamily="49" charset="0"/>
              </a:rPr>
              <a:t>&lt;/html&gt;</a:t>
            </a:r>
          </a:p>
          <a:p>
            <a:pPr>
              <a:lnSpc>
                <a:spcPct val="100000"/>
              </a:lnSpc>
            </a:pPr>
            <a:endParaRPr lang="en-US" altLang="en-US" sz="1600" dirty="0">
              <a:latin typeface="Courier New" panose="02070309020205020404" pitchFamily="49" charset="0"/>
            </a:endParaRPr>
          </a:p>
        </p:txBody>
      </p:sp>
    </p:spTree>
    <p:extLst>
      <p:ext uri="{BB962C8B-B14F-4D97-AF65-F5344CB8AC3E}">
        <p14:creationId xmlns:p14="http://schemas.microsoft.com/office/powerpoint/2010/main" val="23039637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48051-F15A-9094-80D7-C84323F102E7}"/>
            </a:ext>
          </a:extLst>
        </p:cNvPr>
        <p:cNvGrpSpPr/>
        <p:nvPr/>
      </p:nvGrpSpPr>
      <p:grpSpPr>
        <a:xfrm>
          <a:off x="0" y="0"/>
          <a:ext cx="0" cy="0"/>
          <a:chOff x="0" y="0"/>
          <a:chExt cx="0" cy="0"/>
        </a:xfrm>
      </p:grpSpPr>
      <p:sp>
        <p:nvSpPr>
          <p:cNvPr id="3" name="Text Box 8">
            <a:extLst>
              <a:ext uri="{FF2B5EF4-FFF2-40B4-BE49-F238E27FC236}">
                <a16:creationId xmlns:a16="http://schemas.microsoft.com/office/drawing/2014/main" id="{EB9A5DD5-CBF7-920D-7141-3F7DB1516878}"/>
              </a:ext>
            </a:extLst>
          </p:cNvPr>
          <p:cNvSpPr txBox="1">
            <a:spLocks noChangeArrowheads="1"/>
          </p:cNvSpPr>
          <p:nvPr/>
        </p:nvSpPr>
        <p:spPr bwMode="auto">
          <a:xfrm>
            <a:off x="506506" y="493059"/>
            <a:ext cx="10977282"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lnSpc>
                <a:spcPct val="90000"/>
              </a:lnSpc>
              <a:spcBef>
                <a:spcPct val="0"/>
              </a:spcBef>
              <a:spcAft>
                <a:spcPct val="0"/>
              </a:spcAft>
              <a:defRPr b="1">
                <a:solidFill>
                  <a:schemeClr val="tx1"/>
                </a:solidFill>
                <a:latin typeface="Arial" panose="020B0604020202020204" pitchFamily="34" charset="0"/>
              </a:defRPr>
            </a:lvl6pPr>
            <a:lvl7pPr marL="2971800" indent="-228600" eaLnBrk="0" fontAlgn="base" hangingPunct="0">
              <a:lnSpc>
                <a:spcPct val="90000"/>
              </a:lnSpc>
              <a:spcBef>
                <a:spcPct val="0"/>
              </a:spcBef>
              <a:spcAft>
                <a:spcPct val="0"/>
              </a:spcAft>
              <a:defRPr b="1">
                <a:solidFill>
                  <a:schemeClr val="tx1"/>
                </a:solidFill>
                <a:latin typeface="Arial" panose="020B0604020202020204" pitchFamily="34" charset="0"/>
              </a:defRPr>
            </a:lvl7pPr>
            <a:lvl8pPr marL="3429000" indent="-228600" eaLnBrk="0" fontAlgn="base" hangingPunct="0">
              <a:lnSpc>
                <a:spcPct val="90000"/>
              </a:lnSpc>
              <a:spcBef>
                <a:spcPct val="0"/>
              </a:spcBef>
              <a:spcAft>
                <a:spcPct val="0"/>
              </a:spcAft>
              <a:defRPr b="1">
                <a:solidFill>
                  <a:schemeClr val="tx1"/>
                </a:solidFill>
                <a:latin typeface="Arial" panose="020B0604020202020204" pitchFamily="34" charset="0"/>
              </a:defRPr>
            </a:lvl8pPr>
            <a:lvl9pPr marL="3886200" indent="-228600" eaLnBrk="0" fontAlgn="base" hangingPunct="0">
              <a:lnSpc>
                <a:spcPct val="90000"/>
              </a:lnSpc>
              <a:spcBef>
                <a:spcPct val="0"/>
              </a:spcBef>
              <a:spcAft>
                <a:spcPct val="0"/>
              </a:spcAft>
              <a:defRPr b="1">
                <a:solidFill>
                  <a:schemeClr val="tx1"/>
                </a:solidFill>
                <a:latin typeface="Arial" panose="020B0604020202020204" pitchFamily="34" charset="0"/>
              </a:defRPr>
            </a:lvl9pPr>
          </a:lstStyle>
          <a:p>
            <a:endParaRPr lang="en-US" altLang="en-US" dirty="0"/>
          </a:p>
          <a:p>
            <a:r>
              <a:rPr lang="en-US" altLang="en-US" dirty="0"/>
              <a:t>Nested frames - to divide the screen in more interesting ways</a:t>
            </a:r>
          </a:p>
          <a:p>
            <a:endParaRPr lang="en-US" altLang="en-US" dirty="0"/>
          </a:p>
          <a:p>
            <a:pPr>
              <a:lnSpc>
                <a:spcPct val="100000"/>
              </a:lnSpc>
            </a:pPr>
            <a:r>
              <a:rPr lang="en-US" altLang="en-US" sz="1600" dirty="0">
                <a:latin typeface="Courier New" panose="02070309020205020404" pitchFamily="49" charset="0"/>
              </a:rPr>
              <a:t> </a:t>
            </a:r>
            <a:r>
              <a:rPr lang="en-US" altLang="en-US" dirty="0">
                <a:sym typeface="Wingdings" panose="05000000000000000000" pitchFamily="2" charset="2"/>
              </a:rPr>
              <a:t> SHOW</a:t>
            </a:r>
            <a:r>
              <a:rPr lang="en-US" altLang="en-US" sz="1600" dirty="0">
                <a:latin typeface="Courier New" panose="02070309020205020404" pitchFamily="49" charset="0"/>
                <a:sym typeface="Wingdings" panose="05000000000000000000" pitchFamily="2" charset="2"/>
              </a:rPr>
              <a:t> </a:t>
            </a:r>
            <a:r>
              <a:rPr lang="en-US" altLang="en-US" sz="1600" dirty="0">
                <a:latin typeface="Courier New" panose="02070309020205020404" pitchFamily="49" charset="0"/>
              </a:rPr>
              <a:t>nested_frames.html</a:t>
            </a:r>
          </a:p>
          <a:p>
            <a:pPr>
              <a:lnSpc>
                <a:spcPct val="100000"/>
              </a:lnSpc>
            </a:pPr>
            <a:r>
              <a:rPr lang="en-US" altLang="en-US" sz="1600" dirty="0">
                <a:latin typeface="Courier New" panose="02070309020205020404" pitchFamily="49" charset="0"/>
              </a:rPr>
              <a:t>    </a:t>
            </a:r>
          </a:p>
          <a:p>
            <a:pPr>
              <a:lnSpc>
                <a:spcPct val="100000"/>
              </a:lnSpc>
            </a:pPr>
            <a:r>
              <a:rPr lang="en-US" altLang="en-US" sz="2400" dirty="0"/>
              <a:t>Syntactic Differences between HTML &amp; XHTML</a:t>
            </a:r>
          </a:p>
          <a:p>
            <a:pPr>
              <a:lnSpc>
                <a:spcPct val="100000"/>
              </a:lnSpc>
            </a:pPr>
            <a:endParaRPr lang="en-US" altLang="en-US" dirty="0"/>
          </a:p>
          <a:p>
            <a:pPr marL="285750" indent="-285750">
              <a:lnSpc>
                <a:spcPct val="100000"/>
              </a:lnSpc>
              <a:buFont typeface="Arial" panose="020B0604020202020204" pitchFamily="34" charset="0"/>
              <a:buChar char="•"/>
            </a:pPr>
            <a:r>
              <a:rPr lang="en-US" altLang="en-US" b="0" dirty="0"/>
              <a:t> </a:t>
            </a:r>
            <a:r>
              <a:rPr lang="en-US" altLang="en-US" dirty="0"/>
              <a:t>- Case sensitivity</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Closing tags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Quoted attribute values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Explicit attribute values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a:t>
            </a:r>
            <a:r>
              <a:rPr lang="en-US" altLang="en-US" sz="1600" dirty="0">
                <a:latin typeface="Courier New" panose="02070309020205020404" pitchFamily="49" charset="0"/>
              </a:rPr>
              <a:t>id</a:t>
            </a:r>
            <a:r>
              <a:rPr lang="en-US" altLang="en-US" dirty="0"/>
              <a:t> and </a:t>
            </a:r>
            <a:r>
              <a:rPr lang="en-US" altLang="en-US" sz="1600" dirty="0">
                <a:latin typeface="Courier New" panose="02070309020205020404" pitchFamily="49" charset="0"/>
              </a:rPr>
              <a:t>name</a:t>
            </a:r>
            <a:r>
              <a:rPr lang="en-US" altLang="en-US" dirty="0"/>
              <a:t> attributes</a:t>
            </a:r>
          </a:p>
          <a:p>
            <a:pPr marL="285750" indent="-285750">
              <a:lnSpc>
                <a:spcPct val="100000"/>
              </a:lnSpc>
              <a:buFont typeface="Arial" panose="020B0604020202020204" pitchFamily="34" charset="0"/>
              <a:buChar char="•"/>
            </a:pPr>
            <a:endParaRPr lang="en-US" altLang="en-US" dirty="0"/>
          </a:p>
          <a:p>
            <a:pPr marL="285750" indent="-285750">
              <a:lnSpc>
                <a:spcPct val="100000"/>
              </a:lnSpc>
              <a:buFont typeface="Arial" panose="020B0604020202020204" pitchFamily="34" charset="0"/>
              <a:buChar char="•"/>
            </a:pPr>
            <a:r>
              <a:rPr lang="en-US" altLang="en-US" dirty="0"/>
              <a:t> - Element nesting</a:t>
            </a:r>
          </a:p>
        </p:txBody>
      </p:sp>
    </p:spTree>
    <p:extLst>
      <p:ext uri="{BB962C8B-B14F-4D97-AF65-F5344CB8AC3E}">
        <p14:creationId xmlns:p14="http://schemas.microsoft.com/office/powerpoint/2010/main" val="405541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49D9-9A14-3A4D-34BB-150031F03B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52DAA1-6FC3-FF34-A41D-189C5D3BF6FD}"/>
              </a:ext>
            </a:extLst>
          </p:cNvPr>
          <p:cNvSpPr txBox="1"/>
          <p:nvPr/>
        </p:nvSpPr>
        <p:spPr>
          <a:xfrm>
            <a:off x="484094" y="367553"/>
            <a:ext cx="11205882" cy="5078313"/>
          </a:xfrm>
          <a:prstGeom prst="rect">
            <a:avLst/>
          </a:prstGeom>
          <a:noFill/>
        </p:spPr>
        <p:txBody>
          <a:bodyPr wrap="square" rtlCol="0">
            <a:spAutoFit/>
          </a:bodyPr>
          <a:lstStyle/>
          <a:p>
            <a:r>
              <a:rPr lang="en-IN" sz="2800" dirty="0">
                <a:solidFill>
                  <a:srgbClr val="0070C0"/>
                </a:solidFill>
              </a:rPr>
              <a:t>Cascading Style Sheets (CSS) </a:t>
            </a:r>
            <a:endParaRPr lang="en-US" dirty="0">
              <a:solidFill>
                <a:srgbClr val="0070C0"/>
              </a:solidFill>
            </a:endParaRPr>
          </a:p>
          <a:p>
            <a:endParaRPr lang="en-US" dirty="0"/>
          </a:p>
          <a:p>
            <a:r>
              <a:rPr lang="en-US" sz="2000" dirty="0"/>
              <a:t>INTRODUCTION </a:t>
            </a:r>
          </a:p>
          <a:p>
            <a:endParaRPr lang="en-US" sz="2000" dirty="0"/>
          </a:p>
          <a:p>
            <a:pPr marL="342900" indent="-342900" algn="just">
              <a:buFont typeface="Arial" panose="020B0604020202020204" pitchFamily="34" charset="0"/>
              <a:buChar char="•"/>
            </a:pPr>
            <a:r>
              <a:rPr lang="en-US" sz="2000" dirty="0"/>
              <a:t>Simple design language intended to transform the presentation of a Web Pages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CSS handles the look and feel part of a web page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We can control the color of the text, the style of fonts, the spacing between paragraphs, how columns are sized and laid out, what background images or colors are used, layout designs, variations in display for different devices and screen sizes as well as a variety of other effects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Provides powerful control over the presentation of an HTML document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Has the capability to impose consistency on the style of web document</a:t>
            </a:r>
          </a:p>
          <a:p>
            <a:endParaRPr lang="en-IN" dirty="0"/>
          </a:p>
        </p:txBody>
      </p:sp>
    </p:spTree>
    <p:extLst>
      <p:ext uri="{BB962C8B-B14F-4D97-AF65-F5344CB8AC3E}">
        <p14:creationId xmlns:p14="http://schemas.microsoft.com/office/powerpoint/2010/main" val="9050308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1337B-3851-19E7-9905-FDE4492B29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72D410-1EE2-B6C9-2C1F-C77CEBC5009A}"/>
              </a:ext>
            </a:extLst>
          </p:cNvPr>
          <p:cNvSpPr txBox="1"/>
          <p:nvPr/>
        </p:nvSpPr>
        <p:spPr>
          <a:xfrm>
            <a:off x="484093" y="367553"/>
            <a:ext cx="11340353" cy="5078313"/>
          </a:xfrm>
          <a:prstGeom prst="rect">
            <a:avLst/>
          </a:prstGeom>
          <a:noFill/>
        </p:spPr>
        <p:txBody>
          <a:bodyPr wrap="square" rtlCol="0">
            <a:spAutoFit/>
          </a:bodyPr>
          <a:lstStyle/>
          <a:p>
            <a:r>
              <a:rPr lang="en-US" sz="2800" dirty="0">
                <a:solidFill>
                  <a:srgbClr val="0070C0"/>
                </a:solidFill>
              </a:rPr>
              <a:t>ORIGINS AND EVOLUTION OF CSS</a:t>
            </a:r>
            <a:endParaRPr lang="en-US" dirty="0">
              <a:solidFill>
                <a:srgbClr val="0070C0"/>
              </a:solidFill>
            </a:endParaRPr>
          </a:p>
          <a:p>
            <a:endParaRPr lang="en-US" dirty="0"/>
          </a:p>
          <a:p>
            <a:pPr marL="342900" indent="-342900" algn="just">
              <a:buFont typeface="Arial" panose="020B0604020202020204" pitchFamily="34" charset="0"/>
              <a:buChar char="•"/>
            </a:pPr>
            <a:r>
              <a:rPr lang="en-US" sz="2000" dirty="0"/>
              <a:t>Year Description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1994 Description </a:t>
            </a:r>
            <a:r>
              <a:rPr lang="en-US" sz="2000" dirty="0" err="1"/>
              <a:t>HÃ¥kon</a:t>
            </a:r>
            <a:r>
              <a:rPr lang="en-US" sz="2000" dirty="0"/>
              <a:t> Wium Lie proposed the idea of CSS to allow web designers to change the layout, colors, and fonts of their websites.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1996 The first version of CSS was released while the newly established CSS Working Group moved forward with CSS2.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1998 The second version of CSS was released and work on CSS the same time.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2011  A clarified version of CSS2 called CSS2.1, was released, which fixed the errors found in CSS 2</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2012 CSS As of June 2012, there are over fifty CSS modules published from the 3 Working Group</a:t>
            </a:r>
          </a:p>
          <a:p>
            <a:endParaRPr lang="en-IN" dirty="0"/>
          </a:p>
        </p:txBody>
      </p:sp>
    </p:spTree>
    <p:extLst>
      <p:ext uri="{BB962C8B-B14F-4D97-AF65-F5344CB8AC3E}">
        <p14:creationId xmlns:p14="http://schemas.microsoft.com/office/powerpoint/2010/main" val="24566759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3BE32-B4A2-CBEE-CBD1-B016F32094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2BFCCF-3546-3E23-1A92-038E15A238B8}"/>
              </a:ext>
            </a:extLst>
          </p:cNvPr>
          <p:cNvSpPr txBox="1"/>
          <p:nvPr/>
        </p:nvSpPr>
        <p:spPr>
          <a:xfrm>
            <a:off x="484094" y="367553"/>
            <a:ext cx="11205882" cy="4401205"/>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pPr marL="342900" indent="-342900">
              <a:buFont typeface="Arial" panose="020B0604020202020204" pitchFamily="34" charset="0"/>
              <a:buChar char="•"/>
            </a:pPr>
            <a:r>
              <a:rPr lang="en-US" sz="2400" dirty="0">
                <a:solidFill>
                  <a:srgbClr val="FF0000"/>
                </a:solidFill>
              </a:rPr>
              <a:t>Inline</a:t>
            </a:r>
            <a:r>
              <a:rPr lang="en-US" sz="2400" dirty="0"/>
              <a:t> </a:t>
            </a:r>
          </a:p>
          <a:p>
            <a:pPr marL="800100" lvl="1" indent="-342900">
              <a:buFont typeface="Arial" panose="020B0604020202020204" pitchFamily="34" charset="0"/>
              <a:buChar char="•"/>
            </a:pPr>
            <a:r>
              <a:rPr lang="en-US" sz="2400" dirty="0"/>
              <a:t>Applied to the content of a single HTML element </a:t>
            </a:r>
          </a:p>
          <a:p>
            <a:pPr marL="342900" indent="-342900">
              <a:buFont typeface="Arial" panose="020B0604020202020204" pitchFamily="34" charset="0"/>
              <a:buChar char="•"/>
            </a:pPr>
            <a:r>
              <a:rPr lang="en-US" sz="2400" dirty="0">
                <a:solidFill>
                  <a:srgbClr val="FF0000"/>
                </a:solidFill>
              </a:rPr>
              <a:t>Document level:</a:t>
            </a:r>
            <a:r>
              <a:rPr lang="en-US" sz="2400" dirty="0"/>
              <a:t> </a:t>
            </a:r>
          </a:p>
          <a:p>
            <a:pPr marL="800100" lvl="1" indent="-342900">
              <a:buFont typeface="Arial" panose="020B0604020202020204" pitchFamily="34" charset="0"/>
              <a:buChar char="•"/>
            </a:pPr>
            <a:r>
              <a:rPr lang="en-US" sz="2400" dirty="0"/>
              <a:t>Applied to the whole body of the document </a:t>
            </a:r>
          </a:p>
          <a:p>
            <a:pPr marL="342900" indent="-342900">
              <a:buFont typeface="Arial" panose="020B0604020202020204" pitchFamily="34" charset="0"/>
              <a:buChar char="•"/>
            </a:pPr>
            <a:r>
              <a:rPr lang="en-US" sz="2400" dirty="0">
                <a:solidFill>
                  <a:srgbClr val="FF0000"/>
                </a:solidFill>
              </a:rPr>
              <a:t>External: </a:t>
            </a:r>
          </a:p>
          <a:p>
            <a:pPr marL="800100" lvl="1" indent="-342900">
              <a:buFont typeface="Arial" panose="020B0604020202020204" pitchFamily="34" charset="0"/>
              <a:buChar char="•"/>
            </a:pPr>
            <a:r>
              <a:rPr lang="en-US" sz="2400" dirty="0"/>
              <a:t>Applied to bodies of any number of documents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Inline style sheets have precedence over the document style sheets which have the precedence over external style sheets</a:t>
            </a:r>
            <a:endParaRPr lang="en-US" sz="2000" dirty="0"/>
          </a:p>
          <a:p>
            <a:endParaRPr lang="en-IN" dirty="0"/>
          </a:p>
        </p:txBody>
      </p:sp>
    </p:spTree>
    <p:extLst>
      <p:ext uri="{BB962C8B-B14F-4D97-AF65-F5344CB8AC3E}">
        <p14:creationId xmlns:p14="http://schemas.microsoft.com/office/powerpoint/2010/main" val="5133459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38A0-426E-17AD-8552-0365E247A9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355ACB-8A62-8B19-69B3-03D62AD2202C}"/>
              </a:ext>
            </a:extLst>
          </p:cNvPr>
          <p:cNvSpPr txBox="1"/>
          <p:nvPr/>
        </p:nvSpPr>
        <p:spPr>
          <a:xfrm>
            <a:off x="484094" y="367553"/>
            <a:ext cx="11205882" cy="4031873"/>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pPr marL="342900" indent="-342900" algn="just">
              <a:buFont typeface="Arial" panose="020B0604020202020204" pitchFamily="34" charset="0"/>
              <a:buChar char="•"/>
            </a:pPr>
            <a:r>
              <a:rPr lang="en-US" sz="2400" dirty="0">
                <a:solidFill>
                  <a:srgbClr val="FF0000"/>
                </a:solidFill>
              </a:rPr>
              <a:t>Inline style sheets: </a:t>
            </a:r>
          </a:p>
          <a:p>
            <a:pPr marL="800100" lvl="1" indent="-342900" algn="just">
              <a:buFont typeface="Arial" panose="020B0604020202020204" pitchFamily="34" charset="0"/>
              <a:buChar char="•"/>
            </a:pPr>
            <a:r>
              <a:rPr lang="en-US" sz="2400" dirty="0"/>
              <a:t>Appear within the opening tag and apply only to the content of that element </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solidFill>
                  <a:srgbClr val="FF0000"/>
                </a:solidFill>
              </a:rPr>
              <a:t>Disadvantages: </a:t>
            </a:r>
          </a:p>
          <a:p>
            <a:pPr marL="800100" lvl="1" indent="-342900" algn="just">
              <a:buFont typeface="Arial" panose="020B0604020202020204" pitchFamily="34" charset="0"/>
              <a:buChar char="•"/>
            </a:pPr>
            <a:r>
              <a:rPr lang="en-US" sz="2400" dirty="0"/>
              <a:t>Imposing a uniform style on the elements of least one whole document is difficult </a:t>
            </a:r>
          </a:p>
          <a:p>
            <a:pPr marL="800100" lvl="1" indent="-342900" algn="just">
              <a:buFont typeface="Arial" panose="020B0604020202020204" pitchFamily="34" charset="0"/>
              <a:buChar char="•"/>
            </a:pPr>
            <a:r>
              <a:rPr lang="en-US" sz="2400" dirty="0"/>
              <a:t>Results in style information which is expressed in a language distinct from HTML markup, being embedded in various places in documents </a:t>
            </a:r>
            <a:endParaRPr lang="en-US" sz="2000" dirty="0"/>
          </a:p>
          <a:p>
            <a:endParaRPr lang="en-IN" dirty="0"/>
          </a:p>
        </p:txBody>
      </p:sp>
    </p:spTree>
    <p:extLst>
      <p:ext uri="{BB962C8B-B14F-4D97-AF65-F5344CB8AC3E}">
        <p14:creationId xmlns:p14="http://schemas.microsoft.com/office/powerpoint/2010/main" val="26343348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08447-0925-263F-CC5C-FCDBA49F2F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D9051B-D81E-F012-0021-3059DA3D037A}"/>
              </a:ext>
            </a:extLst>
          </p:cNvPr>
          <p:cNvSpPr txBox="1"/>
          <p:nvPr/>
        </p:nvSpPr>
        <p:spPr>
          <a:xfrm>
            <a:off x="340659" y="367553"/>
            <a:ext cx="11438965" cy="4770537"/>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r>
              <a:rPr lang="en-US" sz="2000" dirty="0"/>
              <a:t> </a:t>
            </a:r>
            <a:r>
              <a:rPr lang="en-US" sz="2000" dirty="0">
                <a:solidFill>
                  <a:srgbClr val="FF0000"/>
                </a:solidFill>
              </a:rPr>
              <a:t>Inline style sheets:</a:t>
            </a:r>
          </a:p>
          <a:p>
            <a:r>
              <a:rPr lang="en-US" sz="2000" dirty="0"/>
              <a:t> 	&lt;!DOCTYPE html&gt;</a:t>
            </a:r>
          </a:p>
          <a:p>
            <a:r>
              <a:rPr lang="en-US" sz="2000" dirty="0"/>
              <a:t> 	&lt;html&gt;</a:t>
            </a:r>
          </a:p>
          <a:p>
            <a:r>
              <a:rPr lang="en-US" sz="2000" dirty="0"/>
              <a:t> 		&lt;head&gt;</a:t>
            </a:r>
          </a:p>
          <a:p>
            <a:r>
              <a:rPr lang="en-US" sz="2000" dirty="0"/>
              <a:t> 			&lt;title&gt;Inline CSS&lt;/title&gt;</a:t>
            </a:r>
          </a:p>
          <a:p>
            <a:r>
              <a:rPr lang="en-US" sz="2000" dirty="0"/>
              <a:t> 		&lt;/head&gt;</a:t>
            </a:r>
          </a:p>
          <a:p>
            <a:r>
              <a:rPr lang="en-US" sz="2000" dirty="0"/>
              <a:t> 		&lt;body&gt;</a:t>
            </a:r>
          </a:p>
          <a:p>
            <a:r>
              <a:rPr lang="en-US" sz="2000" dirty="0"/>
              <a:t> 			&lt;p style=" color :#009900; font-size:50px; </a:t>
            </a:r>
            <a:r>
              <a:rPr lang="en-US" sz="2000" dirty="0" err="1"/>
              <a:t>font-style:italic</a:t>
            </a:r>
            <a:r>
              <a:rPr lang="en-US" sz="2000" dirty="0"/>
              <a:t>;</a:t>
            </a:r>
            <a:r>
              <a:rPr lang="en-IN" sz="2000" dirty="0" err="1"/>
              <a:t>text-align:center</a:t>
            </a:r>
            <a:r>
              <a:rPr lang="en-IN" sz="2000" dirty="0"/>
              <a:t> ;"&gt;</a:t>
            </a:r>
            <a:r>
              <a:rPr lang="en-US" sz="2000" dirty="0"/>
              <a:t> </a:t>
            </a:r>
          </a:p>
          <a:p>
            <a:r>
              <a:rPr lang="en-US" sz="2000" dirty="0"/>
              <a:t>				NMAMIT NITTE</a:t>
            </a:r>
          </a:p>
          <a:p>
            <a:r>
              <a:rPr lang="en-US" sz="2000" dirty="0"/>
              <a:t> 			&lt;/p&gt;</a:t>
            </a:r>
          </a:p>
          <a:p>
            <a:r>
              <a:rPr lang="en-US" sz="2000" dirty="0"/>
              <a:t> 		&lt;/body&gt;</a:t>
            </a:r>
          </a:p>
          <a:p>
            <a:r>
              <a:rPr lang="en-US" sz="2000" dirty="0"/>
              <a:t> 	&lt;/html&gt;</a:t>
            </a:r>
            <a:endParaRPr lang="en-US" dirty="0"/>
          </a:p>
          <a:p>
            <a:endParaRPr lang="en-IN" dirty="0"/>
          </a:p>
        </p:txBody>
      </p:sp>
    </p:spTree>
    <p:extLst>
      <p:ext uri="{BB962C8B-B14F-4D97-AF65-F5344CB8AC3E}">
        <p14:creationId xmlns:p14="http://schemas.microsoft.com/office/powerpoint/2010/main" val="35754417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B920-7257-A97C-3379-762255C03A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F7784A-2B1C-147F-66B6-3F1CB5460430}"/>
              </a:ext>
            </a:extLst>
          </p:cNvPr>
          <p:cNvSpPr txBox="1"/>
          <p:nvPr/>
        </p:nvSpPr>
        <p:spPr>
          <a:xfrm>
            <a:off x="484094" y="367553"/>
            <a:ext cx="5154706" cy="4216539"/>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dirty="0"/>
          </a:p>
          <a:p>
            <a:r>
              <a:rPr lang="en-IN" sz="2400" dirty="0">
                <a:solidFill>
                  <a:srgbClr val="FF0000"/>
                </a:solidFill>
              </a:rPr>
              <a:t>Document level style specification: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Appear in the head section of the document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Apply to the entire body of the document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Effective way of imposing a uniform style on the presentation of all of the content of a single document </a:t>
            </a:r>
          </a:p>
          <a:p>
            <a:endParaRPr lang="en-IN" dirty="0"/>
          </a:p>
        </p:txBody>
      </p:sp>
      <p:pic>
        <p:nvPicPr>
          <p:cNvPr id="4" name="Picture 3">
            <a:extLst>
              <a:ext uri="{FF2B5EF4-FFF2-40B4-BE49-F238E27FC236}">
                <a16:creationId xmlns:a16="http://schemas.microsoft.com/office/drawing/2014/main" id="{82B400EA-E4D7-0B32-CA70-F5DFEFC33B96}"/>
              </a:ext>
            </a:extLst>
          </p:cNvPr>
          <p:cNvPicPr>
            <a:picLocks noChangeAspect="1"/>
          </p:cNvPicPr>
          <p:nvPr/>
        </p:nvPicPr>
        <p:blipFill>
          <a:blip r:embed="rId2"/>
          <a:stretch>
            <a:fillRect/>
          </a:stretch>
        </p:blipFill>
        <p:spPr>
          <a:xfrm>
            <a:off x="6281601" y="0"/>
            <a:ext cx="5354587" cy="6354800"/>
          </a:xfrm>
          <a:prstGeom prst="rect">
            <a:avLst/>
          </a:prstGeom>
        </p:spPr>
      </p:pic>
    </p:spTree>
    <p:extLst>
      <p:ext uri="{BB962C8B-B14F-4D97-AF65-F5344CB8AC3E}">
        <p14:creationId xmlns:p14="http://schemas.microsoft.com/office/powerpoint/2010/main" val="32363322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93BA-0DD4-8573-564B-659DFDB6D4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1D0482-42FC-A8F4-8A79-C5EE78464D0E}"/>
              </a:ext>
            </a:extLst>
          </p:cNvPr>
          <p:cNvSpPr txBox="1"/>
          <p:nvPr/>
        </p:nvSpPr>
        <p:spPr>
          <a:xfrm>
            <a:off x="484094" y="367553"/>
            <a:ext cx="11205882" cy="4893647"/>
          </a:xfrm>
          <a:prstGeom prst="rect">
            <a:avLst/>
          </a:prstGeom>
          <a:noFill/>
        </p:spPr>
        <p:txBody>
          <a:bodyPr wrap="square" rtlCol="0">
            <a:spAutoFit/>
          </a:bodyPr>
          <a:lstStyle/>
          <a:p>
            <a:r>
              <a:rPr lang="en-IN" sz="2800" dirty="0">
                <a:solidFill>
                  <a:srgbClr val="0070C0"/>
                </a:solidFill>
              </a:rPr>
              <a:t>LEVELS OF STYLESHEETS</a:t>
            </a:r>
            <a:endParaRPr lang="en-US" dirty="0">
              <a:solidFill>
                <a:srgbClr val="0070C0"/>
              </a:solidFill>
            </a:endParaRPr>
          </a:p>
          <a:p>
            <a:endParaRPr lang="en-US" sz="2000" dirty="0"/>
          </a:p>
          <a:p>
            <a:pPr marL="342900" indent="-342900" algn="just">
              <a:buFont typeface="Arial" panose="020B0604020202020204" pitchFamily="34" charset="0"/>
              <a:buChar char="•"/>
            </a:pPr>
            <a:r>
              <a:rPr lang="en-US" sz="2000" dirty="0"/>
              <a:t> </a:t>
            </a:r>
            <a:r>
              <a:rPr lang="en-US" sz="2400" dirty="0">
                <a:solidFill>
                  <a:srgbClr val="FF0000"/>
                </a:solidFill>
              </a:rPr>
              <a:t>External style sheets</a:t>
            </a:r>
            <a:r>
              <a:rPr lang="en-US" sz="2400" dirty="0"/>
              <a:t>	</a:t>
            </a:r>
          </a:p>
          <a:p>
            <a:pPr marL="800100" lvl="1" indent="-342900" algn="just">
              <a:buFont typeface="Arial" panose="020B0604020202020204" pitchFamily="34" charset="0"/>
              <a:buChar char="•"/>
            </a:pPr>
            <a:r>
              <a:rPr lang="en-US" sz="2400" dirty="0"/>
              <a:t> 	Useful when styles are to be applied to more than one document</a:t>
            </a:r>
          </a:p>
          <a:p>
            <a:pPr marL="800100" lvl="1" indent="-342900" algn="just">
              <a:buFont typeface="Arial" panose="020B0604020202020204" pitchFamily="34" charset="0"/>
              <a:buChar char="•"/>
            </a:pPr>
            <a:r>
              <a:rPr lang="en-US" sz="2400" dirty="0"/>
              <a:t> 	Stored separately</a:t>
            </a:r>
          </a:p>
          <a:p>
            <a:pPr marL="800100" lvl="1" indent="-342900" algn="just">
              <a:buFont typeface="Arial" panose="020B0604020202020204" pitchFamily="34" charset="0"/>
              <a:buChar char="•"/>
            </a:pPr>
            <a:r>
              <a:rPr lang="en-US" sz="2400" dirty="0"/>
              <a:t>	Referenced by documents </a:t>
            </a:r>
          </a:p>
          <a:p>
            <a:pPr marL="800100" lvl="1" indent="-342900" algn="just">
              <a:buFont typeface="Arial" panose="020B0604020202020204" pitchFamily="34" charset="0"/>
              <a:buChar char="•"/>
            </a:pPr>
            <a:r>
              <a:rPr lang="en-US" sz="2400" dirty="0"/>
              <a:t>	Clean Separation of CSS from HTML</a:t>
            </a:r>
          </a:p>
          <a:p>
            <a:pPr marL="800100" lvl="1" indent="-342900" algn="just">
              <a:buFont typeface="Arial" panose="020B0604020202020204" pitchFamily="34" charset="0"/>
              <a:buChar char="•"/>
            </a:pPr>
            <a:r>
              <a:rPr lang="en-US" sz="2400" dirty="0"/>
              <a:t>	Browser fetches external style sheets just as it fetches HTML documents</a:t>
            </a:r>
          </a:p>
          <a:p>
            <a:pPr marL="800100" lvl="1" indent="-342900" algn="just">
              <a:buFont typeface="Arial" panose="020B0604020202020204" pitchFamily="34" charset="0"/>
              <a:buChar char="•"/>
            </a:pPr>
            <a:r>
              <a:rPr lang="en-US" sz="2400" dirty="0"/>
              <a:t>	&lt;link&gt; tag is used to specify external style sheets</a:t>
            </a:r>
          </a:p>
          <a:p>
            <a:r>
              <a:rPr lang="en-US" sz="2000" dirty="0"/>
              <a:t> </a:t>
            </a:r>
          </a:p>
          <a:p>
            <a:r>
              <a:rPr lang="en-US" sz="2000" dirty="0"/>
              <a:t>	</a:t>
            </a:r>
            <a:r>
              <a:rPr lang="en-US" sz="2000" dirty="0">
                <a:solidFill>
                  <a:srgbClr val="00B0F0"/>
                </a:solidFill>
              </a:rPr>
              <a:t>&lt;link </a:t>
            </a:r>
            <a:r>
              <a:rPr lang="en-US" sz="2000" dirty="0" err="1">
                <a:solidFill>
                  <a:srgbClr val="00B0F0"/>
                </a:solidFill>
              </a:rPr>
              <a:t>rel</a:t>
            </a:r>
            <a:r>
              <a:rPr lang="en-US" sz="2000" dirty="0">
                <a:solidFill>
                  <a:srgbClr val="00B0F0"/>
                </a:solidFill>
              </a:rPr>
              <a:t>=“stylesheet” type=“text/</a:t>
            </a:r>
            <a:r>
              <a:rPr lang="en-US" sz="2000" dirty="0" err="1">
                <a:solidFill>
                  <a:srgbClr val="00B0F0"/>
                </a:solidFill>
              </a:rPr>
              <a:t>css</a:t>
            </a:r>
            <a:r>
              <a:rPr lang="en-US" sz="2000" dirty="0">
                <a:solidFill>
                  <a:srgbClr val="00B0F0"/>
                </a:solidFill>
              </a:rPr>
              <a:t>” </a:t>
            </a:r>
            <a:r>
              <a:rPr lang="en-US" sz="2000" dirty="0" err="1">
                <a:solidFill>
                  <a:srgbClr val="00B0F0"/>
                </a:solidFill>
              </a:rPr>
              <a:t>href</a:t>
            </a:r>
            <a:r>
              <a:rPr lang="en-US" sz="2000" dirty="0">
                <a:solidFill>
                  <a:srgbClr val="00B0F0"/>
                </a:solidFill>
              </a:rPr>
              <a:t> =“style1.css”/&gt;</a:t>
            </a:r>
          </a:p>
          <a:p>
            <a:endParaRPr lang="en-US" sz="2000" dirty="0"/>
          </a:p>
          <a:p>
            <a:endParaRPr lang="en-US" dirty="0"/>
          </a:p>
          <a:p>
            <a:endParaRPr lang="en-IN" dirty="0"/>
          </a:p>
        </p:txBody>
      </p:sp>
    </p:spTree>
    <p:extLst>
      <p:ext uri="{BB962C8B-B14F-4D97-AF65-F5344CB8AC3E}">
        <p14:creationId xmlns:p14="http://schemas.microsoft.com/office/powerpoint/2010/main" val="30068909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1A27-7F70-E862-3850-F9278FE116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F8C699-E1C2-5487-CD4D-155483E5D143}"/>
              </a:ext>
            </a:extLst>
          </p:cNvPr>
          <p:cNvSpPr txBox="1"/>
          <p:nvPr/>
        </p:nvSpPr>
        <p:spPr>
          <a:xfrm>
            <a:off x="484094" y="367553"/>
            <a:ext cx="11205882" cy="954107"/>
          </a:xfrm>
          <a:prstGeom prst="rect">
            <a:avLst/>
          </a:prstGeom>
          <a:noFill/>
        </p:spPr>
        <p:txBody>
          <a:bodyPr wrap="square" rtlCol="0">
            <a:spAutoFit/>
          </a:bodyPr>
          <a:lstStyle/>
          <a:p>
            <a:r>
              <a:rPr lang="en-US" sz="2000" dirty="0"/>
              <a:t>Example: </a:t>
            </a:r>
          </a:p>
          <a:p>
            <a:endParaRPr lang="en-US" dirty="0"/>
          </a:p>
          <a:p>
            <a:endParaRPr lang="en-IN" dirty="0"/>
          </a:p>
        </p:txBody>
      </p:sp>
      <p:pic>
        <p:nvPicPr>
          <p:cNvPr id="4" name="Picture 3">
            <a:extLst>
              <a:ext uri="{FF2B5EF4-FFF2-40B4-BE49-F238E27FC236}">
                <a16:creationId xmlns:a16="http://schemas.microsoft.com/office/drawing/2014/main" id="{14DF14FC-0883-9C3B-1CA7-8B3EE7F888C1}"/>
              </a:ext>
            </a:extLst>
          </p:cNvPr>
          <p:cNvPicPr>
            <a:picLocks noChangeAspect="1"/>
          </p:cNvPicPr>
          <p:nvPr/>
        </p:nvPicPr>
        <p:blipFill>
          <a:blip r:embed="rId3"/>
          <a:stretch>
            <a:fillRect/>
          </a:stretch>
        </p:blipFill>
        <p:spPr>
          <a:xfrm>
            <a:off x="625007" y="1106552"/>
            <a:ext cx="4039164" cy="4429743"/>
          </a:xfrm>
          <a:prstGeom prst="rect">
            <a:avLst/>
          </a:prstGeom>
        </p:spPr>
      </p:pic>
      <p:pic>
        <p:nvPicPr>
          <p:cNvPr id="6" name="Picture 5">
            <a:extLst>
              <a:ext uri="{FF2B5EF4-FFF2-40B4-BE49-F238E27FC236}">
                <a16:creationId xmlns:a16="http://schemas.microsoft.com/office/drawing/2014/main" id="{06D7B5CD-11FD-20C1-50DF-3BCA6574D5EF}"/>
              </a:ext>
            </a:extLst>
          </p:cNvPr>
          <p:cNvPicPr>
            <a:picLocks noChangeAspect="1"/>
          </p:cNvPicPr>
          <p:nvPr/>
        </p:nvPicPr>
        <p:blipFill>
          <a:blip r:embed="rId4"/>
          <a:stretch>
            <a:fillRect/>
          </a:stretch>
        </p:blipFill>
        <p:spPr>
          <a:xfrm>
            <a:off x="5311443" y="1106552"/>
            <a:ext cx="6087325" cy="3553321"/>
          </a:xfrm>
          <a:prstGeom prst="rect">
            <a:avLst/>
          </a:prstGeom>
        </p:spPr>
      </p:pic>
    </p:spTree>
    <p:extLst>
      <p:ext uri="{BB962C8B-B14F-4D97-AF65-F5344CB8AC3E}">
        <p14:creationId xmlns:p14="http://schemas.microsoft.com/office/powerpoint/2010/main" val="23355371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840AAC-B1D6-A2DF-499F-F088613B46AE}"/>
              </a:ext>
            </a:extLst>
          </p:cNvPr>
          <p:cNvSpPr txBox="1"/>
          <p:nvPr/>
        </p:nvSpPr>
        <p:spPr>
          <a:xfrm>
            <a:off x="573741" y="232298"/>
            <a:ext cx="11152094" cy="4862870"/>
          </a:xfrm>
          <a:prstGeom prst="rect">
            <a:avLst/>
          </a:prstGeom>
          <a:noFill/>
        </p:spPr>
        <p:txBody>
          <a:bodyPr wrap="square">
            <a:spAutoFit/>
          </a:bodyPr>
          <a:lstStyle/>
          <a:p>
            <a:r>
              <a:rPr lang="en-US" sz="2800" b="1" dirty="0">
                <a:solidFill>
                  <a:schemeClr val="tx1">
                    <a:lumMod val="95000"/>
                    <a:lumOff val="5000"/>
                  </a:schemeClr>
                </a:solidFill>
              </a:rPr>
              <a:t>SELECTOR FORMS</a:t>
            </a:r>
          </a:p>
          <a:p>
            <a:endParaRPr lang="en-US" dirty="0"/>
          </a:p>
          <a:p>
            <a:r>
              <a:rPr lang="en-US" sz="2400" dirty="0"/>
              <a:t>A selector specifies the elements to which the following style information </a:t>
            </a:r>
          </a:p>
          <a:p>
            <a:r>
              <a:rPr lang="en-US" sz="2400" dirty="0"/>
              <a:t>applies</a:t>
            </a:r>
          </a:p>
          <a:p>
            <a:endParaRPr lang="en-US" sz="2400" dirty="0"/>
          </a:p>
          <a:p>
            <a:pPr marL="342900" indent="-342900">
              <a:buFont typeface="Arial" panose="020B0604020202020204" pitchFamily="34" charset="0"/>
              <a:buChar char="•"/>
            </a:pPr>
            <a:r>
              <a:rPr lang="en-US" sz="2400" dirty="0"/>
              <a:t>The selector can have a variety of forms:</a:t>
            </a:r>
          </a:p>
          <a:p>
            <a:pPr marL="342900" indent="-342900">
              <a:buFont typeface="Arial" panose="020B0604020202020204" pitchFamily="34" charset="0"/>
              <a:buChar char="•"/>
            </a:pPr>
            <a:r>
              <a:rPr lang="en-US" sz="2400" dirty="0"/>
              <a:t>Simple selector forms</a:t>
            </a:r>
          </a:p>
          <a:p>
            <a:pPr marL="342900" indent="-342900">
              <a:buFont typeface="Arial" panose="020B0604020202020204" pitchFamily="34" charset="0"/>
              <a:buChar char="•"/>
            </a:pPr>
            <a:r>
              <a:rPr lang="en-US" sz="2400" dirty="0"/>
              <a:t>Class selectors</a:t>
            </a:r>
          </a:p>
          <a:p>
            <a:pPr marL="342900" indent="-342900">
              <a:buFont typeface="Arial" panose="020B0604020202020204" pitchFamily="34" charset="0"/>
              <a:buChar char="•"/>
            </a:pPr>
            <a:r>
              <a:rPr lang="en-US" sz="2400" dirty="0"/>
              <a:t>Generic selectors</a:t>
            </a:r>
          </a:p>
          <a:p>
            <a:pPr marL="342900" indent="-342900">
              <a:buFont typeface="Arial" panose="020B0604020202020204" pitchFamily="34" charset="0"/>
              <a:buChar char="•"/>
            </a:pPr>
            <a:r>
              <a:rPr lang="en-US" sz="2400" dirty="0"/>
              <a:t>Id selectors</a:t>
            </a:r>
          </a:p>
          <a:p>
            <a:pPr marL="342900" indent="-342900">
              <a:buFont typeface="Arial" panose="020B0604020202020204" pitchFamily="34" charset="0"/>
              <a:buChar char="•"/>
            </a:pPr>
            <a:r>
              <a:rPr lang="en-US" sz="2400" dirty="0"/>
              <a:t>Contextual selectors</a:t>
            </a:r>
          </a:p>
          <a:p>
            <a:pPr marL="342900" indent="-342900">
              <a:buFont typeface="Arial" panose="020B0604020202020204" pitchFamily="34" charset="0"/>
              <a:buChar char="•"/>
            </a:pPr>
            <a:r>
              <a:rPr lang="en-US" sz="2400" dirty="0"/>
              <a:t>Pseudo classes</a:t>
            </a:r>
          </a:p>
          <a:p>
            <a:pPr marL="342900" indent="-342900">
              <a:buFont typeface="Arial" panose="020B0604020202020204" pitchFamily="34" charset="0"/>
              <a:buChar char="•"/>
            </a:pPr>
            <a:r>
              <a:rPr lang="en-US" sz="2400" dirty="0"/>
              <a:t>Universal selectors</a:t>
            </a:r>
          </a:p>
        </p:txBody>
      </p:sp>
    </p:spTree>
    <p:extLst>
      <p:ext uri="{BB962C8B-B14F-4D97-AF65-F5344CB8AC3E}">
        <p14:creationId xmlns:p14="http://schemas.microsoft.com/office/powerpoint/2010/main" val="7152621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DFF5D-7868-9AFA-093F-3DB14270A1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9DD973-77DD-5D8D-8FAC-10BAE670A8AE}"/>
              </a:ext>
            </a:extLst>
          </p:cNvPr>
          <p:cNvSpPr txBox="1"/>
          <p:nvPr/>
        </p:nvSpPr>
        <p:spPr>
          <a:xfrm>
            <a:off x="609599" y="626638"/>
            <a:ext cx="10838329" cy="3908762"/>
          </a:xfrm>
          <a:prstGeom prst="rect">
            <a:avLst/>
          </a:prstGeom>
          <a:noFill/>
        </p:spPr>
        <p:txBody>
          <a:bodyPr wrap="square">
            <a:spAutoFit/>
          </a:bodyPr>
          <a:lstStyle/>
          <a:p>
            <a:r>
              <a:rPr lang="en-IN" sz="2800" dirty="0"/>
              <a:t>1 Simple Selector Forms</a:t>
            </a:r>
          </a:p>
          <a:p>
            <a:endParaRPr lang="en-IN" sz="2800" dirty="0"/>
          </a:p>
          <a:p>
            <a:pPr algn="just"/>
            <a:r>
              <a:rPr lang="en-US" sz="2400" dirty="0"/>
              <a:t>The simplest selector form is a single element name, such as h1. </a:t>
            </a:r>
          </a:p>
          <a:p>
            <a:pPr algn="just"/>
            <a:r>
              <a:rPr lang="en-US" sz="2400" dirty="0"/>
              <a:t>In this case, the property values in the rule apply to all occurrences of the named element.</a:t>
            </a:r>
          </a:p>
          <a:p>
            <a:pPr algn="just"/>
            <a:endParaRPr lang="en-US" sz="2400" dirty="0"/>
          </a:p>
          <a:p>
            <a:pPr lvl="1" algn="just"/>
            <a:r>
              <a:rPr lang="en-IN" sz="2400" dirty="0"/>
              <a:t> </a:t>
            </a:r>
            <a:r>
              <a:rPr lang="en-IN" sz="2400" i="1" dirty="0">
                <a:solidFill>
                  <a:srgbClr val="00B0F0"/>
                </a:solidFill>
              </a:rPr>
              <a:t>h1 {property-value list}</a:t>
            </a:r>
          </a:p>
          <a:p>
            <a:pPr lvl="1" algn="just"/>
            <a:r>
              <a:rPr lang="en-IN" sz="2400" i="1" dirty="0">
                <a:solidFill>
                  <a:srgbClr val="00B0F0"/>
                </a:solidFill>
              </a:rPr>
              <a:t> h2, h3 {property-value list}</a:t>
            </a:r>
          </a:p>
          <a:p>
            <a:pPr lvl="1" algn="just"/>
            <a:endParaRPr lang="en-IN" sz="2400" i="1" dirty="0">
              <a:solidFill>
                <a:srgbClr val="00B0F0"/>
              </a:solidFill>
            </a:endParaRPr>
          </a:p>
          <a:p>
            <a:pPr algn="just"/>
            <a:endParaRPr lang="en-IN" sz="2400" i="1" dirty="0"/>
          </a:p>
        </p:txBody>
      </p:sp>
    </p:spTree>
    <p:extLst>
      <p:ext uri="{BB962C8B-B14F-4D97-AF65-F5344CB8AC3E}">
        <p14:creationId xmlns:p14="http://schemas.microsoft.com/office/powerpoint/2010/main" val="32347384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83F4B9-8842-FD7A-78C0-3C5CA0A0BCCB}"/>
              </a:ext>
            </a:extLst>
          </p:cNvPr>
          <p:cNvSpPr txBox="1"/>
          <p:nvPr/>
        </p:nvSpPr>
        <p:spPr>
          <a:xfrm>
            <a:off x="609599" y="626638"/>
            <a:ext cx="10838329" cy="5786199"/>
          </a:xfrm>
          <a:prstGeom prst="rect">
            <a:avLst/>
          </a:prstGeom>
          <a:noFill/>
        </p:spPr>
        <p:txBody>
          <a:bodyPr wrap="square">
            <a:spAutoFit/>
          </a:bodyPr>
          <a:lstStyle/>
          <a:p>
            <a:r>
              <a:rPr lang="en-IN" sz="2800" b="1" dirty="0"/>
              <a:t>2 Class Selectors</a:t>
            </a:r>
          </a:p>
          <a:p>
            <a:endParaRPr lang="en-IN" dirty="0"/>
          </a:p>
          <a:p>
            <a:pPr marL="285750" indent="-285750">
              <a:buFont typeface="Arial" panose="020B0604020202020204" pitchFamily="34" charset="0"/>
              <a:buChar char="•"/>
            </a:pPr>
            <a:r>
              <a:rPr lang="en-US" dirty="0"/>
              <a:t>Class selectors are used to allow different occurrences of the same tag to use different style specifications.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style class is defined in a style element by giving the style class a name, which is attached to the tag’s name with a period.</a:t>
            </a:r>
          </a:p>
          <a:p>
            <a:endParaRPr lang="en-US" dirty="0"/>
          </a:p>
          <a:p>
            <a:pPr lvl="1"/>
            <a:r>
              <a:rPr lang="en-IN" dirty="0" err="1">
                <a:solidFill>
                  <a:srgbClr val="00B0F0"/>
                </a:solidFill>
              </a:rPr>
              <a:t>p.normal</a:t>
            </a:r>
            <a:r>
              <a:rPr lang="en-IN" dirty="0">
                <a:solidFill>
                  <a:srgbClr val="00B0F0"/>
                </a:solidFill>
              </a:rPr>
              <a:t> {property-value list}</a:t>
            </a:r>
          </a:p>
          <a:p>
            <a:pPr lvl="1"/>
            <a:r>
              <a:rPr lang="en-IN" dirty="0" err="1">
                <a:solidFill>
                  <a:srgbClr val="00B0F0"/>
                </a:solidFill>
              </a:rPr>
              <a:t>p.warning</a:t>
            </a:r>
            <a:r>
              <a:rPr lang="en-IN" dirty="0">
                <a:solidFill>
                  <a:srgbClr val="00B0F0"/>
                </a:solidFill>
              </a:rPr>
              <a:t> {property-value list}</a:t>
            </a:r>
          </a:p>
          <a:p>
            <a:endParaRPr lang="en-IN" dirty="0"/>
          </a:p>
          <a:p>
            <a:pPr marL="285750" indent="-285750">
              <a:buFont typeface="Arial" panose="020B0604020202020204" pitchFamily="34" charset="0"/>
              <a:buChar char="•"/>
            </a:pPr>
            <a:r>
              <a:rPr lang="en-US" dirty="0"/>
              <a:t>Within the document body, the particular style class that you want is specified with the </a:t>
            </a:r>
            <a:r>
              <a:rPr lang="en-US" dirty="0">
                <a:solidFill>
                  <a:srgbClr val="FF0000"/>
                </a:solidFill>
              </a:rPr>
              <a:t>class</a:t>
            </a:r>
            <a:r>
              <a:rPr lang="en-US" dirty="0"/>
              <a:t> attribute of the affected tag</a:t>
            </a:r>
          </a:p>
          <a:p>
            <a:pPr lvl="1"/>
            <a:r>
              <a:rPr lang="en-US" i="1" dirty="0">
                <a:solidFill>
                  <a:srgbClr val="00B0F0"/>
                </a:solidFill>
              </a:rPr>
              <a:t> &lt;p class = "normal"&gt;</a:t>
            </a:r>
          </a:p>
          <a:p>
            <a:pPr lvl="1"/>
            <a:r>
              <a:rPr lang="en-US" i="1" dirty="0">
                <a:solidFill>
                  <a:srgbClr val="00B0F0"/>
                </a:solidFill>
              </a:rPr>
              <a:t>	 A paragraph of text that we want to be presented in </a:t>
            </a:r>
          </a:p>
          <a:p>
            <a:pPr lvl="1"/>
            <a:r>
              <a:rPr lang="en-US" i="1" dirty="0">
                <a:solidFill>
                  <a:srgbClr val="00B0F0"/>
                </a:solidFill>
              </a:rPr>
              <a:t>	'normal' presentation style</a:t>
            </a:r>
          </a:p>
          <a:p>
            <a:pPr lvl="1"/>
            <a:r>
              <a:rPr lang="en-US" i="1" dirty="0">
                <a:solidFill>
                  <a:srgbClr val="00B0F0"/>
                </a:solidFill>
              </a:rPr>
              <a:t> &lt;/p&gt;</a:t>
            </a:r>
          </a:p>
          <a:p>
            <a:pPr lvl="1"/>
            <a:r>
              <a:rPr lang="en-US" i="1" dirty="0">
                <a:solidFill>
                  <a:srgbClr val="00B0F0"/>
                </a:solidFill>
              </a:rPr>
              <a:t> &lt;p class = "warning"&gt;</a:t>
            </a:r>
          </a:p>
          <a:p>
            <a:pPr lvl="1"/>
            <a:r>
              <a:rPr lang="en-US" i="1" dirty="0">
                <a:solidFill>
                  <a:srgbClr val="00B0F0"/>
                </a:solidFill>
              </a:rPr>
              <a:t> 	A paragraph of text that is a warning to the reader, which </a:t>
            </a:r>
          </a:p>
          <a:p>
            <a:pPr lvl="1"/>
            <a:r>
              <a:rPr lang="en-US" i="1" dirty="0">
                <a:solidFill>
                  <a:srgbClr val="00B0F0"/>
                </a:solidFill>
              </a:rPr>
              <a:t>	should be presented in an especially noticeable style</a:t>
            </a:r>
          </a:p>
          <a:p>
            <a:pPr lvl="1"/>
            <a:r>
              <a:rPr lang="en-US" i="1" dirty="0">
                <a:solidFill>
                  <a:srgbClr val="00B0F0"/>
                </a:solidFill>
              </a:rPr>
              <a:t> &lt;/p&gt;</a:t>
            </a:r>
            <a:endParaRPr lang="en-IN" i="1" dirty="0">
              <a:solidFill>
                <a:srgbClr val="00B0F0"/>
              </a:solidFill>
            </a:endParaRPr>
          </a:p>
        </p:txBody>
      </p:sp>
    </p:spTree>
    <p:extLst>
      <p:ext uri="{BB962C8B-B14F-4D97-AF65-F5344CB8AC3E}">
        <p14:creationId xmlns:p14="http://schemas.microsoft.com/office/powerpoint/2010/main" val="17421825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AD9FE-BAAD-13DB-D9E2-652A63966B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3912C5-9B7F-D910-954A-CBD129B31802}"/>
              </a:ext>
            </a:extLst>
          </p:cNvPr>
          <p:cNvSpPr txBox="1"/>
          <p:nvPr/>
        </p:nvSpPr>
        <p:spPr>
          <a:xfrm>
            <a:off x="609599" y="626638"/>
            <a:ext cx="10838329" cy="4739759"/>
          </a:xfrm>
          <a:prstGeom prst="rect">
            <a:avLst/>
          </a:prstGeom>
          <a:noFill/>
        </p:spPr>
        <p:txBody>
          <a:bodyPr wrap="square">
            <a:spAutoFit/>
          </a:bodyPr>
          <a:lstStyle/>
          <a:p>
            <a:r>
              <a:rPr lang="en-IN" sz="2400" b="1" dirty="0"/>
              <a:t>3 Generic Selectors</a:t>
            </a:r>
          </a:p>
          <a:p>
            <a:endParaRPr lang="en-IN" dirty="0"/>
          </a:p>
          <a:p>
            <a:pPr marL="285750" indent="-285750" algn="just">
              <a:buFont typeface="Arial" panose="020B0604020202020204" pitchFamily="34" charset="0"/>
              <a:buChar char="•"/>
            </a:pPr>
            <a:r>
              <a:rPr lang="en-US" sz="2000" dirty="0"/>
              <a:t>Sometimes it is convenient to have a class of style specifications that applies to the content of more than one kind of tag.</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This is done by using a generic class, which is defined without a tag name in its selector.</a:t>
            </a:r>
          </a:p>
          <a:p>
            <a:endParaRPr lang="en-US" dirty="0"/>
          </a:p>
          <a:p>
            <a:r>
              <a:rPr lang="en-IN" dirty="0"/>
              <a:t>	</a:t>
            </a:r>
            <a:r>
              <a:rPr lang="en-IN" dirty="0">
                <a:solidFill>
                  <a:srgbClr val="00B0F0"/>
                </a:solidFill>
              </a:rPr>
              <a:t>.sale {property-value list}</a:t>
            </a:r>
          </a:p>
          <a:p>
            <a:endParaRPr lang="en-IN" dirty="0"/>
          </a:p>
          <a:p>
            <a:pPr marL="342900" indent="-342900">
              <a:buFont typeface="Arial" panose="020B0604020202020204" pitchFamily="34" charset="0"/>
              <a:buChar char="•"/>
            </a:pPr>
            <a:r>
              <a:rPr lang="en-US" sz="2000" dirty="0"/>
              <a:t>Now, in the body of a document, you could have the following markup:</a:t>
            </a:r>
            <a:endParaRPr lang="en-IN" sz="2000" dirty="0"/>
          </a:p>
          <a:p>
            <a:endParaRPr lang="en-IN" dirty="0"/>
          </a:p>
          <a:p>
            <a:pPr lvl="2"/>
            <a:r>
              <a:rPr lang="en-US" dirty="0"/>
              <a:t> </a:t>
            </a:r>
            <a:r>
              <a:rPr lang="en-US" dirty="0">
                <a:solidFill>
                  <a:srgbClr val="00B0F0"/>
                </a:solidFill>
              </a:rPr>
              <a:t>&lt;h3 class = "sale"&gt; Weekend Sale &lt;/h3&gt;</a:t>
            </a:r>
          </a:p>
          <a:p>
            <a:pPr lvl="2"/>
            <a:r>
              <a:rPr lang="en-US" dirty="0">
                <a:solidFill>
                  <a:srgbClr val="00B0F0"/>
                </a:solidFill>
              </a:rPr>
              <a:t> ...</a:t>
            </a:r>
          </a:p>
          <a:p>
            <a:pPr lvl="2"/>
            <a:r>
              <a:rPr lang="en-US" dirty="0">
                <a:solidFill>
                  <a:srgbClr val="00B0F0"/>
                </a:solidFill>
              </a:rPr>
              <a:t> &lt;p class = "sale"&gt;</a:t>
            </a:r>
          </a:p>
          <a:p>
            <a:pPr lvl="2"/>
            <a:r>
              <a:rPr lang="en-US" dirty="0">
                <a:solidFill>
                  <a:srgbClr val="00B0F0"/>
                </a:solidFill>
              </a:rPr>
              <a:t> ...</a:t>
            </a:r>
          </a:p>
          <a:p>
            <a:pPr lvl="2"/>
            <a:r>
              <a:rPr lang="en-US" dirty="0">
                <a:solidFill>
                  <a:srgbClr val="00B0F0"/>
                </a:solidFill>
              </a:rPr>
              <a:t> &lt;/p&gt;</a:t>
            </a:r>
            <a:endParaRPr lang="en-IN" dirty="0">
              <a:solidFill>
                <a:srgbClr val="00B0F0"/>
              </a:solidFill>
            </a:endParaRPr>
          </a:p>
        </p:txBody>
      </p:sp>
    </p:spTree>
    <p:extLst>
      <p:ext uri="{BB962C8B-B14F-4D97-AF65-F5344CB8AC3E}">
        <p14:creationId xmlns:p14="http://schemas.microsoft.com/office/powerpoint/2010/main" val="15715709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D4B6-8B9F-1AD4-3B82-5C83C44C33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9027B1-FF21-1599-9994-03292686E9DD}"/>
              </a:ext>
            </a:extLst>
          </p:cNvPr>
          <p:cNvSpPr txBox="1"/>
          <p:nvPr/>
        </p:nvSpPr>
        <p:spPr>
          <a:xfrm>
            <a:off x="609599" y="626638"/>
            <a:ext cx="10838329" cy="3908762"/>
          </a:xfrm>
          <a:prstGeom prst="rect">
            <a:avLst/>
          </a:prstGeom>
          <a:noFill/>
        </p:spPr>
        <p:txBody>
          <a:bodyPr wrap="square">
            <a:spAutoFit/>
          </a:bodyPr>
          <a:lstStyle/>
          <a:p>
            <a:r>
              <a:rPr lang="en-IN" sz="2400" b="1" dirty="0"/>
              <a:t>4 id Selectors</a:t>
            </a:r>
          </a:p>
          <a:p>
            <a:endParaRPr lang="en-IN" dirty="0"/>
          </a:p>
          <a:p>
            <a:pPr marL="285750" indent="-285750" algn="just">
              <a:buFont typeface="Arial" panose="020B0604020202020204" pitchFamily="34" charset="0"/>
              <a:buChar char="•"/>
            </a:pPr>
            <a:r>
              <a:rPr lang="en-US" sz="2000" dirty="0"/>
              <a:t>An id selector allows the application of a style to one specific element. The general form of an id selector is as follows:</a:t>
            </a:r>
          </a:p>
          <a:p>
            <a:endParaRPr lang="en-US" dirty="0"/>
          </a:p>
          <a:p>
            <a:r>
              <a:rPr lang="en-IN" dirty="0"/>
              <a:t>	#specific-id {property-value list}</a:t>
            </a:r>
          </a:p>
          <a:p>
            <a:endParaRPr lang="en-IN" dirty="0"/>
          </a:p>
          <a:p>
            <a:pPr marL="342900" indent="-342900">
              <a:buFont typeface="Arial" panose="020B0604020202020204" pitchFamily="34" charset="0"/>
              <a:buChar char="•"/>
            </a:pPr>
            <a:r>
              <a:rPr lang="en-IN" sz="2000" dirty="0"/>
              <a:t>Example</a:t>
            </a:r>
          </a:p>
          <a:p>
            <a:r>
              <a:rPr lang="en-IN" dirty="0"/>
              <a:t>	</a:t>
            </a:r>
            <a:r>
              <a:rPr lang="en-IN" dirty="0">
                <a:solidFill>
                  <a:srgbClr val="00B0F0"/>
                </a:solidFill>
              </a:rPr>
              <a:t>#section14 {property-value list}</a:t>
            </a:r>
          </a:p>
          <a:p>
            <a:endParaRPr lang="en-IN" dirty="0"/>
          </a:p>
          <a:p>
            <a:pPr marL="285750" indent="-285750">
              <a:buFont typeface="Arial" panose="020B0604020202020204" pitchFamily="34" charset="0"/>
              <a:buChar char="•"/>
            </a:pPr>
            <a:r>
              <a:rPr lang="en-US" sz="2000" dirty="0"/>
              <a:t>Following is the h2 element to which this style applies:</a:t>
            </a:r>
          </a:p>
          <a:p>
            <a:endParaRPr lang="en-US" dirty="0"/>
          </a:p>
          <a:p>
            <a:r>
              <a:rPr lang="pt-BR" dirty="0"/>
              <a:t>	</a:t>
            </a:r>
            <a:r>
              <a:rPr lang="pt-BR" dirty="0">
                <a:solidFill>
                  <a:srgbClr val="00B0F0"/>
                </a:solidFill>
              </a:rPr>
              <a:t>&lt;h2 id = "section14"&gt; 1.4 Calico Cats &lt;/h2&gt;</a:t>
            </a:r>
            <a:endParaRPr lang="en-IN" dirty="0">
              <a:solidFill>
                <a:srgbClr val="00B0F0"/>
              </a:solidFill>
            </a:endParaRPr>
          </a:p>
        </p:txBody>
      </p:sp>
    </p:spTree>
    <p:extLst>
      <p:ext uri="{BB962C8B-B14F-4D97-AF65-F5344CB8AC3E}">
        <p14:creationId xmlns:p14="http://schemas.microsoft.com/office/powerpoint/2010/main" val="26817967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2762D-7BA5-0AC4-0DDC-6B1C8E9A54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77C965-1912-6FEA-0FB4-C2EF2DD2CCC0}"/>
              </a:ext>
            </a:extLst>
          </p:cNvPr>
          <p:cNvSpPr txBox="1"/>
          <p:nvPr/>
        </p:nvSpPr>
        <p:spPr>
          <a:xfrm>
            <a:off x="609599" y="375627"/>
            <a:ext cx="10838329" cy="6247864"/>
          </a:xfrm>
          <a:prstGeom prst="rect">
            <a:avLst/>
          </a:prstGeom>
          <a:noFill/>
        </p:spPr>
        <p:txBody>
          <a:bodyPr wrap="square">
            <a:spAutoFit/>
          </a:bodyPr>
          <a:lstStyle/>
          <a:p>
            <a:r>
              <a:rPr lang="en-IN" sz="2400" b="1" dirty="0"/>
              <a:t>5 Contextual Selectors</a:t>
            </a:r>
          </a:p>
          <a:p>
            <a:endParaRPr lang="en-US" dirty="0"/>
          </a:p>
          <a:p>
            <a:pPr marL="285750" indent="-285750">
              <a:buFont typeface="Arial" panose="020B0604020202020204" pitchFamily="34" charset="0"/>
              <a:buChar char="•"/>
            </a:pPr>
            <a:r>
              <a:rPr lang="en-US" sz="2000" dirty="0"/>
              <a:t>style should apply only to elements in certain positions in the document.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simplest form of contextual selector is the descendant selector.</a:t>
            </a:r>
          </a:p>
          <a:p>
            <a:endParaRPr lang="en-US" dirty="0"/>
          </a:p>
          <a:p>
            <a:r>
              <a:rPr lang="en-IN" dirty="0"/>
              <a:t>	</a:t>
            </a:r>
            <a:r>
              <a:rPr lang="en-IN" dirty="0">
                <a:solidFill>
                  <a:srgbClr val="00B0F0"/>
                </a:solidFill>
              </a:rPr>
              <a:t>ul </a:t>
            </a:r>
            <a:r>
              <a:rPr lang="en-IN" dirty="0" err="1">
                <a:solidFill>
                  <a:srgbClr val="00B0F0"/>
                </a:solidFill>
              </a:rPr>
              <a:t>ol</a:t>
            </a:r>
            <a:r>
              <a:rPr lang="en-IN" dirty="0">
                <a:solidFill>
                  <a:srgbClr val="00B0F0"/>
                </a:solidFill>
              </a:rPr>
              <a:t> {property-value list}</a:t>
            </a:r>
          </a:p>
          <a:p>
            <a:pPr marL="285750" indent="-285750">
              <a:buFont typeface="Arial" panose="020B0604020202020204" pitchFamily="34" charset="0"/>
              <a:buChar char="•"/>
            </a:pPr>
            <a:r>
              <a:rPr lang="en-US" sz="2000" dirty="0"/>
              <a:t>An element is a child of another element if it is a descendant and it is nested directly in that element.</a:t>
            </a:r>
          </a:p>
          <a:p>
            <a:pPr lvl="1"/>
            <a:r>
              <a:rPr lang="it-IT" dirty="0">
                <a:solidFill>
                  <a:srgbClr val="00B0F0"/>
                </a:solidFill>
              </a:rPr>
              <a:t> </a:t>
            </a:r>
            <a:r>
              <a:rPr lang="it-IT" sz="1200" dirty="0">
                <a:solidFill>
                  <a:srgbClr val="00B0F0"/>
                </a:solidFill>
              </a:rPr>
              <a:t>&lt;ol&gt;</a:t>
            </a:r>
          </a:p>
          <a:p>
            <a:pPr lvl="1"/>
            <a:r>
              <a:rPr lang="it-IT" sz="1200" dirty="0">
                <a:solidFill>
                  <a:srgbClr val="00B0F0"/>
                </a:solidFill>
              </a:rPr>
              <a:t>  	&lt;li&gt; ... &lt;/li&gt;</a:t>
            </a:r>
          </a:p>
          <a:p>
            <a:pPr lvl="1"/>
            <a:r>
              <a:rPr lang="it-IT" sz="1200" dirty="0">
                <a:solidFill>
                  <a:srgbClr val="00B0F0"/>
                </a:solidFill>
              </a:rPr>
              <a:t>    		&lt;ul&gt;</a:t>
            </a:r>
          </a:p>
          <a:p>
            <a:pPr lvl="1"/>
            <a:r>
              <a:rPr lang="it-IT" sz="1200" dirty="0">
                <a:solidFill>
                  <a:srgbClr val="00B0F0"/>
                </a:solidFill>
              </a:rPr>
              <a:t>     			 &lt;li&gt; ... &lt;/li&gt;</a:t>
            </a:r>
          </a:p>
          <a:p>
            <a:pPr lvl="1"/>
            <a:r>
              <a:rPr lang="it-IT" sz="1200" dirty="0">
                <a:solidFill>
                  <a:srgbClr val="00B0F0"/>
                </a:solidFill>
              </a:rPr>
              <a:t>     		 	...</a:t>
            </a:r>
          </a:p>
          <a:p>
            <a:pPr lvl="1"/>
            <a:r>
              <a:rPr lang="it-IT" sz="1200" dirty="0">
                <a:solidFill>
                  <a:srgbClr val="00B0F0"/>
                </a:solidFill>
              </a:rPr>
              <a:t>    		&lt;/ul&gt;</a:t>
            </a:r>
          </a:p>
          <a:p>
            <a:pPr lvl="1"/>
            <a:r>
              <a:rPr lang="it-IT" sz="1200" dirty="0">
                <a:solidFill>
                  <a:srgbClr val="00B0F0"/>
                </a:solidFill>
              </a:rPr>
              <a:t>  	&lt;li&gt; ... &lt;/li&gt;</a:t>
            </a:r>
          </a:p>
          <a:p>
            <a:pPr lvl="1"/>
            <a:r>
              <a:rPr lang="it-IT" sz="1200" dirty="0">
                <a:solidFill>
                  <a:srgbClr val="00B0F0"/>
                </a:solidFill>
              </a:rPr>
              <a:t>  	...</a:t>
            </a:r>
          </a:p>
          <a:p>
            <a:pPr lvl="1"/>
            <a:r>
              <a:rPr lang="it-IT" sz="1200" dirty="0">
                <a:solidFill>
                  <a:srgbClr val="00B0F0"/>
                </a:solidFill>
              </a:rPr>
              <a:t> &lt;/ol&gt;</a:t>
            </a:r>
          </a:p>
          <a:p>
            <a:pPr marL="285750" indent="-285750">
              <a:buFont typeface="Arial" panose="020B0604020202020204" pitchFamily="34" charset="0"/>
              <a:buChar char="•"/>
            </a:pPr>
            <a:r>
              <a:rPr lang="en-US" sz="1600" dirty="0"/>
              <a:t>CSS includes a child selector. For example, the following selector applies to li elements only if they are children of </a:t>
            </a:r>
            <a:r>
              <a:rPr lang="en-US" sz="1600" dirty="0" err="1"/>
              <a:t>ol</a:t>
            </a:r>
            <a:r>
              <a:rPr lang="en-US" sz="1600" dirty="0"/>
              <a:t> elements:</a:t>
            </a:r>
          </a:p>
          <a:p>
            <a:r>
              <a:rPr lang="en-IN" sz="1600" dirty="0"/>
              <a:t>	</a:t>
            </a:r>
            <a:r>
              <a:rPr lang="en-IN" sz="1600" dirty="0" err="1">
                <a:solidFill>
                  <a:srgbClr val="00B0F0"/>
                </a:solidFill>
              </a:rPr>
              <a:t>ol</a:t>
            </a:r>
            <a:r>
              <a:rPr lang="en-IN" sz="1600" dirty="0">
                <a:solidFill>
                  <a:srgbClr val="00B0F0"/>
                </a:solidFill>
              </a:rPr>
              <a:t> &gt; li {property-value list}</a:t>
            </a:r>
          </a:p>
          <a:p>
            <a:endParaRPr lang="en-IN" sz="1600" dirty="0"/>
          </a:p>
          <a:p>
            <a:pPr marL="285750" indent="-285750">
              <a:buFont typeface="Arial" panose="020B0604020202020204" pitchFamily="34" charset="0"/>
              <a:buChar char="•"/>
            </a:pPr>
            <a:r>
              <a:rPr lang="en-US" sz="1600" dirty="0"/>
              <a:t>Child selectors can be specified over any number of elements in a family hierarchy </a:t>
            </a:r>
          </a:p>
          <a:p>
            <a:r>
              <a:rPr lang="pt-BR" sz="1600" dirty="0"/>
              <a:t>	</a:t>
            </a:r>
            <a:r>
              <a:rPr lang="pt-BR" sz="1600" dirty="0">
                <a:solidFill>
                  <a:srgbClr val="00B0F0"/>
                </a:solidFill>
              </a:rPr>
              <a:t>p &gt; h1 &gt; em {property-value list}</a:t>
            </a:r>
            <a:endParaRPr lang="en-IN" sz="1600" dirty="0">
              <a:solidFill>
                <a:srgbClr val="00B0F0"/>
              </a:solidFill>
            </a:endParaRPr>
          </a:p>
        </p:txBody>
      </p:sp>
    </p:spTree>
    <p:extLst>
      <p:ext uri="{BB962C8B-B14F-4D97-AF65-F5344CB8AC3E}">
        <p14:creationId xmlns:p14="http://schemas.microsoft.com/office/powerpoint/2010/main" val="623623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1AF58-EF3A-903F-965F-D243930062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128485-0457-9F38-3B06-36110414E998}"/>
              </a:ext>
            </a:extLst>
          </p:cNvPr>
          <p:cNvSpPr txBox="1"/>
          <p:nvPr/>
        </p:nvSpPr>
        <p:spPr>
          <a:xfrm>
            <a:off x="609599" y="626638"/>
            <a:ext cx="10838329" cy="4678204"/>
          </a:xfrm>
          <a:prstGeom prst="rect">
            <a:avLst/>
          </a:prstGeom>
          <a:noFill/>
        </p:spPr>
        <p:txBody>
          <a:bodyPr wrap="square">
            <a:spAutoFit/>
          </a:bodyPr>
          <a:lstStyle/>
          <a:p>
            <a:r>
              <a:rPr lang="en-IN" sz="2400" b="1" dirty="0"/>
              <a:t>6 Pseudo Classes</a:t>
            </a:r>
          </a:p>
          <a:p>
            <a:endParaRPr lang="en-IN" dirty="0"/>
          </a:p>
          <a:p>
            <a:pPr marL="285750" indent="-285750" algn="just">
              <a:buFont typeface="Arial" panose="020B0604020202020204" pitchFamily="34" charset="0"/>
              <a:buChar char="•"/>
            </a:pPr>
            <a:r>
              <a:rPr lang="en-US" sz="2000" dirty="0"/>
              <a:t>Pseudo classes specify that certain styles apply when something happens, rather than because the target element simply exists.</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two pseudo classes for styling links are </a:t>
            </a:r>
            <a:r>
              <a:rPr lang="en-US" sz="2000" dirty="0">
                <a:solidFill>
                  <a:srgbClr val="FF0000"/>
                </a:solidFill>
              </a:rPr>
              <a:t>link</a:t>
            </a:r>
            <a:r>
              <a:rPr lang="en-US" sz="2000" dirty="0"/>
              <a:t> and </a:t>
            </a:r>
            <a:r>
              <a:rPr lang="en-US" sz="2000" dirty="0">
                <a:solidFill>
                  <a:srgbClr val="FF0000"/>
                </a:solidFill>
              </a:rPr>
              <a:t>visited</a:t>
            </a:r>
            <a:r>
              <a:rPr lang="en-US" sz="2000" dirty="0"/>
              <a:t>. The link pseudo class is used to style a link that has not been selected; visited is used to style a link that previously has been selected.</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style of the </a:t>
            </a:r>
            <a:r>
              <a:rPr lang="en-US" sz="2000" dirty="0">
                <a:solidFill>
                  <a:srgbClr val="FF0000"/>
                </a:solidFill>
              </a:rPr>
              <a:t>hover</a:t>
            </a:r>
            <a:r>
              <a:rPr lang="en-US" sz="2000" dirty="0"/>
              <a:t> pseudo class applies when its associated element has the mouse cursor over it.</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dirty="0"/>
              <a:t>The style of the </a:t>
            </a:r>
            <a:r>
              <a:rPr lang="en-US" sz="2000" dirty="0">
                <a:solidFill>
                  <a:srgbClr val="FF0000"/>
                </a:solidFill>
              </a:rPr>
              <a:t>focus</a:t>
            </a:r>
            <a:r>
              <a:rPr lang="en-US" sz="2000" dirty="0"/>
              <a:t> pseudo class applies when its associated element has focus.</a:t>
            </a:r>
          </a:p>
          <a:p>
            <a:endParaRPr lang="en-US" dirty="0"/>
          </a:p>
          <a:p>
            <a:r>
              <a:rPr lang="en-IN" dirty="0"/>
              <a:t>	</a:t>
            </a:r>
            <a:r>
              <a:rPr lang="en-IN" dirty="0">
                <a:solidFill>
                  <a:srgbClr val="00B0F0"/>
                </a:solidFill>
              </a:rPr>
              <a:t>h2:hover {property-value list}</a:t>
            </a:r>
          </a:p>
        </p:txBody>
      </p:sp>
    </p:spTree>
    <p:extLst>
      <p:ext uri="{BB962C8B-B14F-4D97-AF65-F5344CB8AC3E}">
        <p14:creationId xmlns:p14="http://schemas.microsoft.com/office/powerpoint/2010/main" val="9366683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C433A-DD5F-0201-336F-10FA557F8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48E985-2061-ED95-1A01-FC04F981B8F7}"/>
              </a:ext>
            </a:extLst>
          </p:cNvPr>
          <p:cNvSpPr txBox="1"/>
          <p:nvPr/>
        </p:nvSpPr>
        <p:spPr>
          <a:xfrm>
            <a:off x="609599" y="626638"/>
            <a:ext cx="10838329" cy="3385542"/>
          </a:xfrm>
          <a:prstGeom prst="rect">
            <a:avLst/>
          </a:prstGeom>
          <a:noFill/>
        </p:spPr>
        <p:txBody>
          <a:bodyPr wrap="square">
            <a:spAutoFit/>
          </a:bodyPr>
          <a:lstStyle/>
          <a:p>
            <a:r>
              <a:rPr lang="en-IN" sz="2800" b="1" dirty="0"/>
              <a:t>7 The Universal Selector</a:t>
            </a:r>
          </a:p>
          <a:p>
            <a:endParaRPr lang="en-IN" dirty="0"/>
          </a:p>
          <a:p>
            <a:pPr marL="342900" indent="-342900" algn="just">
              <a:buFont typeface="Arial" panose="020B0604020202020204" pitchFamily="34" charset="0"/>
              <a:buChar char="•"/>
            </a:pPr>
            <a:r>
              <a:rPr lang="en-US" sz="2400" dirty="0"/>
              <a:t>The universal selector, denoted by an asterisk (*), applies its style to all elements in a document. </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For example, if we wanted every element in a document to have a particular set of properties, we could include the following: </a:t>
            </a:r>
          </a:p>
          <a:p>
            <a:pPr algn="just"/>
            <a:endParaRPr lang="en-US" sz="2400" dirty="0"/>
          </a:p>
          <a:p>
            <a:pPr algn="just"/>
            <a:r>
              <a:rPr lang="en-US" sz="2400" dirty="0"/>
              <a:t>	</a:t>
            </a:r>
            <a:r>
              <a:rPr lang="en-US" sz="2000" dirty="0">
                <a:solidFill>
                  <a:srgbClr val="00B0F0"/>
                </a:solidFill>
              </a:rPr>
              <a:t>* {property-value list}</a:t>
            </a:r>
            <a:endParaRPr lang="en-IN" sz="2400" dirty="0">
              <a:solidFill>
                <a:srgbClr val="00B0F0"/>
              </a:solidFill>
            </a:endParaRPr>
          </a:p>
        </p:txBody>
      </p:sp>
    </p:spTree>
    <p:extLst>
      <p:ext uri="{BB962C8B-B14F-4D97-AF65-F5344CB8AC3E}">
        <p14:creationId xmlns:p14="http://schemas.microsoft.com/office/powerpoint/2010/main" val="15507747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89230-9495-7030-EE31-8B6076D847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64C268-46D8-7757-500F-A9DE25D13EB0}"/>
              </a:ext>
            </a:extLst>
          </p:cNvPr>
          <p:cNvSpPr txBox="1"/>
          <p:nvPr/>
        </p:nvSpPr>
        <p:spPr>
          <a:xfrm>
            <a:off x="484094" y="367553"/>
            <a:ext cx="11205882" cy="5940088"/>
          </a:xfrm>
          <a:prstGeom prst="rect">
            <a:avLst/>
          </a:prstGeom>
          <a:noFill/>
        </p:spPr>
        <p:txBody>
          <a:bodyPr wrap="square" rtlCol="0">
            <a:spAutoFit/>
          </a:bodyPr>
          <a:lstStyle/>
          <a:p>
            <a:r>
              <a:rPr lang="en-IN" sz="2800" b="1" dirty="0"/>
              <a:t>Property-Value Forms</a:t>
            </a:r>
            <a:endParaRPr lang="en-US" b="1" dirty="0"/>
          </a:p>
          <a:p>
            <a:endParaRPr lang="en-US" dirty="0"/>
          </a:p>
          <a:p>
            <a:pPr marL="342900" indent="-342900" algn="just">
              <a:buFont typeface="Arial" panose="020B0604020202020204" pitchFamily="34" charset="0"/>
              <a:buChar char="•"/>
            </a:pPr>
            <a:r>
              <a:rPr lang="en-US" sz="2400" dirty="0"/>
              <a:t>CSS includes a large number of different properties, arranged in categories. The most commonly used categories are: fonts, lists, alignment of text, margins, colors, backgrounds, and borders.</a:t>
            </a:r>
          </a:p>
          <a:p>
            <a:pPr marL="342900" indent="-342900" algn="just">
              <a:buFont typeface="Arial" panose="020B0604020202020204" pitchFamily="34" charset="0"/>
              <a:buChar char="•"/>
            </a:pPr>
            <a:r>
              <a:rPr lang="en-US" sz="2400" dirty="0"/>
              <a:t>Property values can appear in a variety of forms.</a:t>
            </a:r>
          </a:p>
          <a:p>
            <a:pPr marL="800100" lvl="1" indent="-342900" algn="just">
              <a:buFont typeface="Arial" panose="020B0604020202020204" pitchFamily="34" charset="0"/>
              <a:buChar char="•"/>
            </a:pPr>
            <a:r>
              <a:rPr lang="en-US" sz="2000" dirty="0">
                <a:solidFill>
                  <a:srgbClr val="FF0000"/>
                </a:solidFill>
              </a:rPr>
              <a:t>Keyword property</a:t>
            </a:r>
            <a:r>
              <a:rPr lang="en-US" sz="2000" dirty="0"/>
              <a:t> values are used when there are only a few possible values and they are predefined - </a:t>
            </a:r>
            <a:r>
              <a:rPr lang="en-IN" sz="2000" dirty="0"/>
              <a:t>large, medium, and small</a:t>
            </a:r>
          </a:p>
          <a:p>
            <a:pPr marL="800100" lvl="1" indent="-342900" algn="just">
              <a:buFont typeface="Arial" panose="020B0604020202020204" pitchFamily="34" charset="0"/>
              <a:buChar char="•"/>
            </a:pPr>
            <a:r>
              <a:rPr lang="en-US" sz="2000" dirty="0">
                <a:solidFill>
                  <a:srgbClr val="FF0000"/>
                </a:solidFill>
              </a:rPr>
              <a:t>Number values </a:t>
            </a:r>
            <a:r>
              <a:rPr lang="en-US" sz="2000" dirty="0"/>
              <a:t>are used when no meaningful units can be attached to a numeric property value.</a:t>
            </a:r>
          </a:p>
          <a:p>
            <a:pPr marL="800100" lvl="1" indent="-342900" algn="just">
              <a:buFont typeface="Arial" panose="020B0604020202020204" pitchFamily="34" charset="0"/>
              <a:buChar char="•"/>
            </a:pPr>
            <a:r>
              <a:rPr lang="en-US" sz="2000" dirty="0">
                <a:solidFill>
                  <a:srgbClr val="FF0000"/>
                </a:solidFill>
              </a:rPr>
              <a:t>Length values </a:t>
            </a:r>
            <a:r>
              <a:rPr lang="en-US" sz="2000" dirty="0"/>
              <a:t>are specified as number values that are followed immediately by a two-character abbreviation of a unit name. - </a:t>
            </a:r>
            <a:r>
              <a:rPr lang="en-US" sz="2000" dirty="0" err="1"/>
              <a:t>px</a:t>
            </a:r>
            <a:r>
              <a:rPr lang="en-US" sz="2000" dirty="0"/>
              <a:t>, in, cm, mm, pt, for points (a point is 1/72 inch); and pc, for picas, which are 12 points.</a:t>
            </a:r>
          </a:p>
          <a:p>
            <a:pPr marL="800100" lvl="1" indent="-342900" algn="just">
              <a:buFont typeface="Arial" panose="020B0604020202020204" pitchFamily="34" charset="0"/>
              <a:buChar char="•"/>
            </a:pPr>
            <a:r>
              <a:rPr lang="en-US" sz="2000" dirty="0">
                <a:solidFill>
                  <a:srgbClr val="FF0000"/>
                </a:solidFill>
              </a:rPr>
              <a:t>Percentage values</a:t>
            </a:r>
            <a:r>
              <a:rPr lang="en-US" sz="2000" dirty="0"/>
              <a:t> are used to provide a measure that is relative to the previously used measure for a property value.</a:t>
            </a:r>
          </a:p>
          <a:p>
            <a:pPr marL="800100" lvl="1" indent="-342900" algn="just">
              <a:buFont typeface="Arial" panose="020B0604020202020204" pitchFamily="34" charset="0"/>
              <a:buChar char="•"/>
            </a:pPr>
            <a:r>
              <a:rPr lang="en-IN" sz="2000" dirty="0">
                <a:solidFill>
                  <a:srgbClr val="FF0000"/>
                </a:solidFill>
              </a:rPr>
              <a:t>URL property values </a:t>
            </a:r>
            <a:r>
              <a:rPr lang="en-IN" sz="2000" dirty="0"/>
              <a:t>- </a:t>
            </a:r>
            <a:r>
              <a:rPr lang="en-IN" sz="2000" dirty="0" err="1"/>
              <a:t>url</a:t>
            </a:r>
            <a:r>
              <a:rPr lang="en-IN" sz="2000" dirty="0"/>
              <a:t>(tetons.jpg)</a:t>
            </a:r>
          </a:p>
          <a:p>
            <a:pPr marL="800100" lvl="1" indent="-342900" algn="just">
              <a:buFont typeface="Arial" panose="020B0604020202020204" pitchFamily="34" charset="0"/>
              <a:buChar char="•"/>
            </a:pPr>
            <a:r>
              <a:rPr lang="en-IN" sz="2000" dirty="0" err="1">
                <a:solidFill>
                  <a:srgbClr val="FF0000"/>
                </a:solidFill>
              </a:rPr>
              <a:t>Color</a:t>
            </a:r>
            <a:r>
              <a:rPr lang="en-IN" sz="2000" dirty="0">
                <a:solidFill>
                  <a:srgbClr val="FF0000"/>
                </a:solidFill>
              </a:rPr>
              <a:t> property values </a:t>
            </a:r>
            <a:r>
              <a:rPr lang="en-US" sz="2000" dirty="0"/>
              <a:t>can be specified as color names, as six-digit hexadecimal numbers, or in RGB form.</a:t>
            </a:r>
            <a:endParaRPr lang="en-IN" sz="2000" dirty="0"/>
          </a:p>
        </p:txBody>
      </p:sp>
    </p:spTree>
    <p:extLst>
      <p:ext uri="{BB962C8B-B14F-4D97-AF65-F5344CB8AC3E}">
        <p14:creationId xmlns:p14="http://schemas.microsoft.com/office/powerpoint/2010/main" val="7877663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5EE9C-3B4B-1F72-891B-EF12D712A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C412FD-9A0A-B5BA-C07C-4665061820D0}"/>
              </a:ext>
            </a:extLst>
          </p:cNvPr>
          <p:cNvSpPr txBox="1"/>
          <p:nvPr/>
        </p:nvSpPr>
        <p:spPr>
          <a:xfrm>
            <a:off x="484094" y="367553"/>
            <a:ext cx="11205882" cy="4062651"/>
          </a:xfrm>
          <a:prstGeom prst="rect">
            <a:avLst/>
          </a:prstGeom>
          <a:noFill/>
        </p:spPr>
        <p:txBody>
          <a:bodyPr wrap="square" rtlCol="0">
            <a:spAutoFit/>
          </a:bodyPr>
          <a:lstStyle/>
          <a:p>
            <a:r>
              <a:rPr lang="en-IN" sz="2800" dirty="0"/>
              <a:t>Font Properties</a:t>
            </a:r>
            <a:endParaRPr lang="en-US" dirty="0"/>
          </a:p>
          <a:p>
            <a:endParaRPr lang="en-US" dirty="0"/>
          </a:p>
          <a:p>
            <a:pPr marL="457200" indent="-457200">
              <a:buAutoNum type="arabicPeriod"/>
            </a:pPr>
            <a:r>
              <a:rPr lang="en-IN" sz="2000" dirty="0"/>
              <a:t>Font Families</a:t>
            </a:r>
          </a:p>
          <a:p>
            <a:pPr marL="1257300" lvl="2" indent="-342900">
              <a:buFont typeface="Arial" panose="020B0604020202020204" pitchFamily="34" charset="0"/>
              <a:buChar char="•"/>
            </a:pPr>
            <a:r>
              <a:rPr lang="en-US" sz="2000" dirty="0"/>
              <a:t>The font-family property is used to specify a list of font names. The browser uses the first font in the list that it supports.</a:t>
            </a:r>
            <a:endParaRPr lang="en-IN" sz="2000" dirty="0"/>
          </a:p>
          <a:p>
            <a:r>
              <a:rPr lang="en-IN" sz="2000" dirty="0"/>
              <a:t>	</a:t>
            </a:r>
            <a:r>
              <a:rPr lang="en-IN" dirty="0">
                <a:solidFill>
                  <a:srgbClr val="00B0F0"/>
                </a:solidFill>
              </a:rPr>
              <a:t>font-family: Arial, Helvetica, Futura</a:t>
            </a:r>
          </a:p>
          <a:p>
            <a:r>
              <a:rPr lang="en-IN" dirty="0"/>
              <a:t>	</a:t>
            </a:r>
          </a:p>
          <a:p>
            <a:pPr marL="742950" lvl="1" indent="-285750">
              <a:buFont typeface="Arial" panose="020B0604020202020204" pitchFamily="34" charset="0"/>
              <a:buChar char="•"/>
            </a:pPr>
            <a:r>
              <a:rPr lang="en-US" sz="2000" dirty="0"/>
              <a:t> A generic font can be specified as a font-family value.</a:t>
            </a:r>
          </a:p>
          <a:p>
            <a:pPr marL="800100" lvl="1" indent="-342900">
              <a:buFont typeface="Arial" panose="020B0604020202020204" pitchFamily="34" charset="0"/>
              <a:buChar char="•"/>
            </a:pPr>
            <a:r>
              <a:rPr lang="en-US" sz="2000" dirty="0"/>
              <a:t>A good approach to specifying fonts is to use a generic font as the last font in the value of a font-family property. </a:t>
            </a:r>
            <a:endParaRPr lang="en-IN" sz="2000" dirty="0"/>
          </a:p>
          <a:p>
            <a:r>
              <a:rPr lang="en-US" dirty="0"/>
              <a:t>	</a:t>
            </a:r>
            <a:r>
              <a:rPr lang="en-IN" dirty="0">
                <a:solidFill>
                  <a:srgbClr val="00B0F0"/>
                </a:solidFill>
              </a:rPr>
              <a:t>font-family: Arial, Helvetica, Futura, sans-serif</a:t>
            </a:r>
            <a:endParaRPr lang="en-US" dirty="0">
              <a:solidFill>
                <a:srgbClr val="00B0F0"/>
              </a:solidFill>
            </a:endParaRPr>
          </a:p>
          <a:p>
            <a:endParaRPr lang="en-IN" dirty="0"/>
          </a:p>
          <a:p>
            <a:pPr lvl="2"/>
            <a:r>
              <a:rPr lang="en-IN" dirty="0">
                <a:solidFill>
                  <a:srgbClr val="00B0F0"/>
                </a:solidFill>
              </a:rPr>
              <a:t>font-family: 'Times New Roman'</a:t>
            </a:r>
          </a:p>
        </p:txBody>
      </p:sp>
      <p:pic>
        <p:nvPicPr>
          <p:cNvPr id="4" name="Picture 3">
            <a:extLst>
              <a:ext uri="{FF2B5EF4-FFF2-40B4-BE49-F238E27FC236}">
                <a16:creationId xmlns:a16="http://schemas.microsoft.com/office/drawing/2014/main" id="{49CFBE4E-8352-B36F-8EEE-45CF668BE692}"/>
              </a:ext>
            </a:extLst>
          </p:cNvPr>
          <p:cNvPicPr>
            <a:picLocks noChangeAspect="1"/>
          </p:cNvPicPr>
          <p:nvPr/>
        </p:nvPicPr>
        <p:blipFill>
          <a:blip r:embed="rId2"/>
          <a:stretch>
            <a:fillRect/>
          </a:stretch>
        </p:blipFill>
        <p:spPr>
          <a:xfrm>
            <a:off x="5858995" y="3918768"/>
            <a:ext cx="5983382" cy="2233134"/>
          </a:xfrm>
          <a:prstGeom prst="rect">
            <a:avLst/>
          </a:prstGeom>
        </p:spPr>
      </p:pic>
    </p:spTree>
    <p:extLst>
      <p:ext uri="{BB962C8B-B14F-4D97-AF65-F5344CB8AC3E}">
        <p14:creationId xmlns:p14="http://schemas.microsoft.com/office/powerpoint/2010/main" val="2962401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1F40-5742-FF15-CE2C-5D3E1EE77F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702954-0C59-F7A7-D705-73DC8B2199C5}"/>
              </a:ext>
            </a:extLst>
          </p:cNvPr>
          <p:cNvSpPr txBox="1"/>
          <p:nvPr/>
        </p:nvSpPr>
        <p:spPr>
          <a:xfrm>
            <a:off x="484094" y="367553"/>
            <a:ext cx="11205882" cy="5170646"/>
          </a:xfrm>
          <a:prstGeom prst="rect">
            <a:avLst/>
          </a:prstGeom>
          <a:noFill/>
        </p:spPr>
        <p:txBody>
          <a:bodyPr wrap="square" rtlCol="0">
            <a:spAutoFit/>
          </a:bodyPr>
          <a:lstStyle/>
          <a:p>
            <a:r>
              <a:rPr lang="en-IN" sz="2800" dirty="0"/>
              <a:t>2. Font Sizes</a:t>
            </a:r>
            <a:endParaRPr lang="en-US" dirty="0"/>
          </a:p>
          <a:p>
            <a:endParaRPr lang="en-US" dirty="0"/>
          </a:p>
          <a:p>
            <a:pPr marL="342900" indent="-342900" algn="just">
              <a:buFont typeface="Arial" panose="020B0604020202020204" pitchFamily="34" charset="0"/>
              <a:buChar char="•"/>
            </a:pPr>
            <a:r>
              <a:rPr lang="en-US" sz="2000" dirty="0"/>
              <a:t>Specifies the size of the font.</a:t>
            </a:r>
          </a:p>
          <a:p>
            <a:pPr marL="285750" indent="-285750" algn="just">
              <a:buFont typeface="Arial" panose="020B0604020202020204" pitchFamily="34" charset="0"/>
              <a:buChar char="•"/>
            </a:pPr>
            <a:r>
              <a:rPr lang="en-US" sz="2000" dirty="0"/>
              <a:t>There are two categories of font-size values, </a:t>
            </a:r>
            <a:r>
              <a:rPr lang="en-US" sz="2000" dirty="0">
                <a:solidFill>
                  <a:srgbClr val="FF0000"/>
                </a:solidFill>
              </a:rPr>
              <a:t>absolute</a:t>
            </a:r>
            <a:r>
              <a:rPr lang="en-US" sz="2000" dirty="0"/>
              <a:t> and </a:t>
            </a:r>
            <a:r>
              <a:rPr lang="en-US" sz="2000" dirty="0">
                <a:solidFill>
                  <a:srgbClr val="FF0000"/>
                </a:solidFill>
              </a:rPr>
              <a:t>relative</a:t>
            </a:r>
            <a:r>
              <a:rPr lang="en-US" sz="2000" dirty="0"/>
              <a:t>.</a:t>
            </a:r>
          </a:p>
          <a:p>
            <a:pPr marL="285750" indent="-285750" algn="just">
              <a:buFont typeface="Arial" panose="020B0604020202020204" pitchFamily="34" charset="0"/>
              <a:buChar char="•"/>
            </a:pPr>
            <a:r>
              <a:rPr lang="en-US" sz="2000" dirty="0"/>
              <a:t>In the absolute category, the size value could be given as a length value in points, picas, or pixels, or as a keyword from the list: xx-small, x-small, small, medium, large, x-large, and xx-large.</a:t>
            </a:r>
          </a:p>
          <a:p>
            <a:pPr marL="285750" indent="-285750" algn="just">
              <a:buFont typeface="Arial" panose="020B0604020202020204" pitchFamily="34" charset="0"/>
              <a:buChar char="•"/>
            </a:pPr>
            <a:r>
              <a:rPr lang="en-US" sz="2000" dirty="0"/>
              <a:t>The relative size values are smaller and larger, which adjust the font size relative to the font size of the parent element.</a:t>
            </a:r>
          </a:p>
          <a:p>
            <a:endParaRPr lang="en-US" dirty="0"/>
          </a:p>
          <a:p>
            <a:r>
              <a:rPr lang="en-IN" dirty="0"/>
              <a:t>	</a:t>
            </a:r>
            <a:r>
              <a:rPr lang="en-IN" dirty="0">
                <a:solidFill>
                  <a:srgbClr val="00B0F0"/>
                </a:solidFill>
              </a:rPr>
              <a:t>font-size: 1.2em </a:t>
            </a:r>
            <a:r>
              <a:rPr lang="en-IN" dirty="0"/>
              <a:t>- </a:t>
            </a:r>
            <a:r>
              <a:rPr lang="en-US" dirty="0"/>
              <a:t>This sets the font size to 1.2 times the font size of the parent element.</a:t>
            </a:r>
          </a:p>
          <a:p>
            <a:r>
              <a:rPr lang="en-IN" sz="2800" dirty="0"/>
              <a:t>3. Font Variants</a:t>
            </a:r>
          </a:p>
          <a:p>
            <a:endParaRPr lang="en-IN" sz="2800" dirty="0"/>
          </a:p>
          <a:p>
            <a:pPr marL="342900" indent="-342900">
              <a:buFont typeface="Arial" panose="020B0604020202020204" pitchFamily="34" charset="0"/>
              <a:buChar char="•"/>
            </a:pPr>
            <a:r>
              <a:rPr lang="en-US" sz="2400" dirty="0"/>
              <a:t>The default value of the font-variant property is normal, which specifies the usual character font.</a:t>
            </a:r>
          </a:p>
          <a:p>
            <a:pPr marL="342900" indent="-342900">
              <a:buFont typeface="Arial" panose="020B0604020202020204" pitchFamily="34" charset="0"/>
              <a:buChar char="•"/>
            </a:pPr>
            <a:r>
              <a:rPr lang="en-US" sz="2400" dirty="0">
                <a:solidFill>
                  <a:srgbClr val="FF0000"/>
                </a:solidFill>
              </a:rPr>
              <a:t>small-caps</a:t>
            </a:r>
            <a:r>
              <a:rPr lang="en-US" sz="2400" dirty="0"/>
              <a:t> to specify small capital letters.</a:t>
            </a:r>
            <a:endParaRPr lang="en-IN" sz="2400" dirty="0"/>
          </a:p>
        </p:txBody>
      </p:sp>
    </p:spTree>
    <p:extLst>
      <p:ext uri="{BB962C8B-B14F-4D97-AF65-F5344CB8AC3E}">
        <p14:creationId xmlns:p14="http://schemas.microsoft.com/office/powerpoint/2010/main" val="13681568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E2877-225B-9E72-A726-882A1BDB47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A7F3E3-D9D5-E75E-3B27-B654896286B2}"/>
              </a:ext>
            </a:extLst>
          </p:cNvPr>
          <p:cNvSpPr txBox="1"/>
          <p:nvPr/>
        </p:nvSpPr>
        <p:spPr>
          <a:xfrm>
            <a:off x="484094" y="367553"/>
            <a:ext cx="11205882" cy="4832092"/>
          </a:xfrm>
          <a:prstGeom prst="rect">
            <a:avLst/>
          </a:prstGeom>
          <a:noFill/>
        </p:spPr>
        <p:txBody>
          <a:bodyPr wrap="square" rtlCol="0">
            <a:spAutoFit/>
          </a:bodyPr>
          <a:lstStyle/>
          <a:p>
            <a:r>
              <a:rPr lang="en-IN" sz="2800" dirty="0"/>
              <a:t>4. Font Styles</a:t>
            </a:r>
            <a:endParaRPr lang="en-US" dirty="0"/>
          </a:p>
          <a:p>
            <a:endParaRPr lang="en-US" dirty="0"/>
          </a:p>
          <a:p>
            <a:pPr marL="342900" indent="-342900" algn="just">
              <a:buFont typeface="Arial" panose="020B0604020202020204" pitchFamily="34" charset="0"/>
              <a:buChar char="•"/>
            </a:pPr>
            <a:r>
              <a:rPr lang="en-US" sz="2400" dirty="0"/>
              <a:t>The font-style property is usually used to specify italic,</a:t>
            </a:r>
          </a:p>
          <a:p>
            <a:r>
              <a:rPr lang="en-IN" dirty="0"/>
              <a:t>	</a:t>
            </a:r>
            <a:r>
              <a:rPr lang="en-IN" dirty="0">
                <a:solidFill>
                  <a:srgbClr val="00B0F0"/>
                </a:solidFill>
              </a:rPr>
              <a:t>font-style: italic</a:t>
            </a:r>
          </a:p>
          <a:p>
            <a:pPr marL="285750" indent="-285750" algn="just">
              <a:buFont typeface="Arial" panose="020B0604020202020204" pitchFamily="34" charset="0"/>
              <a:buChar char="•"/>
            </a:pPr>
            <a:r>
              <a:rPr lang="en-US" sz="2000" dirty="0"/>
              <a:t>There is one other possible value for font-style, </a:t>
            </a:r>
            <a:r>
              <a:rPr lang="en-US" sz="2000" dirty="0">
                <a:solidFill>
                  <a:srgbClr val="FF0000"/>
                </a:solidFill>
              </a:rPr>
              <a:t>normal</a:t>
            </a:r>
            <a:r>
              <a:rPr lang="en-US" sz="2000" dirty="0"/>
              <a:t>, which specifies that the font be the normal style</a:t>
            </a:r>
            <a:r>
              <a:rPr lang="en-US" dirty="0"/>
              <a:t>.</a:t>
            </a:r>
          </a:p>
          <a:p>
            <a:endParaRPr lang="en-US" dirty="0"/>
          </a:p>
          <a:p>
            <a:endParaRPr lang="en-US" dirty="0"/>
          </a:p>
          <a:p>
            <a:r>
              <a:rPr lang="en-IN" sz="2800" dirty="0"/>
              <a:t>5. Font Weights</a:t>
            </a:r>
          </a:p>
          <a:p>
            <a:pPr marL="285750" indent="-285750" algn="just">
              <a:buFont typeface="Arial" panose="020B0604020202020204" pitchFamily="34" charset="0"/>
              <a:buChar char="•"/>
            </a:pPr>
            <a:r>
              <a:rPr lang="en-US" sz="2000" dirty="0"/>
              <a:t>The font-weight property is used to specify the degree of boldness</a:t>
            </a:r>
          </a:p>
          <a:p>
            <a:r>
              <a:rPr lang="en-IN" dirty="0"/>
              <a:t>	</a:t>
            </a:r>
            <a:r>
              <a:rPr lang="en-IN" dirty="0">
                <a:solidFill>
                  <a:srgbClr val="00B0F0"/>
                </a:solidFill>
              </a:rPr>
              <a:t>font-weight: bold</a:t>
            </a:r>
          </a:p>
          <a:p>
            <a:pPr marL="285750" indent="-285750" algn="just">
              <a:buFont typeface="Arial" panose="020B0604020202020204" pitchFamily="34" charset="0"/>
              <a:buChar char="•"/>
            </a:pPr>
            <a:r>
              <a:rPr lang="en-US" sz="2000" dirty="0"/>
              <a:t>Besides bold, the possible values </a:t>
            </a:r>
            <a:r>
              <a:rPr lang="en-US" sz="2000" dirty="0">
                <a:solidFill>
                  <a:srgbClr val="FF0000"/>
                </a:solidFill>
              </a:rPr>
              <a:t>normal</a:t>
            </a:r>
            <a:r>
              <a:rPr lang="en-US" sz="2000" dirty="0"/>
              <a:t> (the default), </a:t>
            </a:r>
            <a:r>
              <a:rPr lang="en-US" sz="2000" dirty="0">
                <a:solidFill>
                  <a:srgbClr val="FF0000"/>
                </a:solidFill>
              </a:rPr>
              <a:t>bolder</a:t>
            </a:r>
            <a:r>
              <a:rPr lang="en-US" sz="2000" dirty="0"/>
              <a:t>, and </a:t>
            </a:r>
            <a:r>
              <a:rPr lang="en-US" sz="2000" dirty="0">
                <a:solidFill>
                  <a:srgbClr val="FF0000"/>
                </a:solidFill>
              </a:rPr>
              <a:t>lighter</a:t>
            </a:r>
            <a:r>
              <a:rPr lang="en-US" sz="2000" dirty="0"/>
              <a:t> can be specified. </a:t>
            </a:r>
          </a:p>
          <a:p>
            <a:pPr marL="285750" indent="-285750" algn="just">
              <a:buFont typeface="Arial" panose="020B0604020202020204" pitchFamily="34" charset="0"/>
              <a:buChar char="•"/>
            </a:pPr>
            <a:r>
              <a:rPr lang="en-US" sz="2000" dirty="0"/>
              <a:t>Specific numbers also can be given in multiples of 100 from 100 to 900, where 400 is the same as normal and 700 is the same as bold. </a:t>
            </a:r>
          </a:p>
          <a:p>
            <a:endParaRPr lang="en-IN" dirty="0"/>
          </a:p>
        </p:txBody>
      </p:sp>
    </p:spTree>
    <p:extLst>
      <p:ext uri="{BB962C8B-B14F-4D97-AF65-F5344CB8AC3E}">
        <p14:creationId xmlns:p14="http://schemas.microsoft.com/office/powerpoint/2010/main" val="29749893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18F33-30BB-A909-1FDB-DAFBF38107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7996F8-31E9-F164-4279-86A76C1689BD}"/>
              </a:ext>
            </a:extLst>
          </p:cNvPr>
          <p:cNvSpPr txBox="1"/>
          <p:nvPr/>
        </p:nvSpPr>
        <p:spPr>
          <a:xfrm>
            <a:off x="484094" y="367553"/>
            <a:ext cx="11205882" cy="4031873"/>
          </a:xfrm>
          <a:prstGeom prst="rect">
            <a:avLst/>
          </a:prstGeom>
          <a:noFill/>
        </p:spPr>
        <p:txBody>
          <a:bodyPr wrap="square" rtlCol="0">
            <a:spAutoFit/>
          </a:bodyPr>
          <a:lstStyle/>
          <a:p>
            <a:r>
              <a:rPr lang="en-IN" sz="2800" dirty="0"/>
              <a:t>6. Font </a:t>
            </a:r>
            <a:r>
              <a:rPr lang="en-IN" sz="2800" dirty="0" err="1"/>
              <a:t>Shorthands</a:t>
            </a:r>
            <a:endParaRPr lang="en-US" dirty="0"/>
          </a:p>
          <a:p>
            <a:endParaRPr lang="en-US" dirty="0"/>
          </a:p>
          <a:p>
            <a:pPr marL="342900" indent="-342900" algn="just">
              <a:buFont typeface="Arial" panose="020B0604020202020204" pitchFamily="34" charset="0"/>
              <a:buChar char="•"/>
            </a:pPr>
            <a:r>
              <a:rPr lang="en-US" sz="2400" dirty="0"/>
              <a:t>If more than one font property must be specified, the values can be stated in a list as the value of the </a:t>
            </a:r>
            <a:r>
              <a:rPr lang="en-US" sz="2400" dirty="0">
                <a:solidFill>
                  <a:srgbClr val="FF0000"/>
                </a:solidFill>
              </a:rPr>
              <a:t>font</a:t>
            </a:r>
            <a:r>
              <a:rPr lang="en-US" sz="2400" dirty="0"/>
              <a:t> property.</a:t>
            </a:r>
          </a:p>
          <a:p>
            <a:pPr marL="342900" indent="-342900" algn="just">
              <a:buFont typeface="Arial" panose="020B0604020202020204" pitchFamily="34" charset="0"/>
              <a:buChar char="•"/>
            </a:pPr>
            <a:endParaRPr lang="en-US" sz="2400" dirty="0"/>
          </a:p>
          <a:p>
            <a:r>
              <a:rPr lang="en-IN" dirty="0"/>
              <a:t>	</a:t>
            </a:r>
            <a:r>
              <a:rPr lang="en-IN" dirty="0">
                <a:solidFill>
                  <a:srgbClr val="00B0F0"/>
                </a:solidFill>
              </a:rPr>
              <a:t>font: bold 1.1em 'Times New Roman' Palatino</a:t>
            </a:r>
            <a:endParaRPr lang="en-US" dirty="0">
              <a:solidFill>
                <a:srgbClr val="00B0F0"/>
              </a:solidFill>
            </a:endParaRP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The order in which the property values are given in a font value list is important. </a:t>
            </a:r>
          </a:p>
          <a:p>
            <a:pPr marL="285750" indent="-285750" algn="just">
              <a:buFont typeface="Arial" panose="020B0604020202020204" pitchFamily="34" charset="0"/>
              <a:buChar char="•"/>
            </a:pPr>
            <a:r>
              <a:rPr lang="en-US" sz="2400" dirty="0"/>
              <a:t>The order must be as follows: The </a:t>
            </a:r>
            <a:r>
              <a:rPr lang="en-US" sz="2400" dirty="0">
                <a:solidFill>
                  <a:srgbClr val="FF0000"/>
                </a:solidFill>
              </a:rPr>
              <a:t>font names </a:t>
            </a:r>
            <a:r>
              <a:rPr lang="en-US" sz="2400" dirty="0"/>
              <a:t>must be last, the </a:t>
            </a:r>
            <a:r>
              <a:rPr lang="en-US" sz="2400" dirty="0">
                <a:solidFill>
                  <a:srgbClr val="FF0000"/>
                </a:solidFill>
              </a:rPr>
              <a:t>font size </a:t>
            </a:r>
            <a:r>
              <a:rPr lang="en-US" sz="2400" dirty="0"/>
              <a:t>must be second to last, and the </a:t>
            </a:r>
            <a:r>
              <a:rPr lang="en-US" sz="2400" dirty="0">
                <a:solidFill>
                  <a:srgbClr val="FF0000"/>
                </a:solidFill>
              </a:rPr>
              <a:t>font style</a:t>
            </a:r>
            <a:r>
              <a:rPr lang="en-US" sz="2400" dirty="0"/>
              <a:t>, </a:t>
            </a:r>
            <a:r>
              <a:rPr lang="en-US" sz="2400" dirty="0">
                <a:solidFill>
                  <a:srgbClr val="FF0000"/>
                </a:solidFill>
              </a:rPr>
              <a:t>font variant</a:t>
            </a:r>
            <a:r>
              <a:rPr lang="en-US" sz="2400" dirty="0"/>
              <a:t>, and </a:t>
            </a:r>
            <a:r>
              <a:rPr lang="en-US" sz="2400" dirty="0">
                <a:solidFill>
                  <a:srgbClr val="FF0000"/>
                </a:solidFill>
              </a:rPr>
              <a:t>font weight</a:t>
            </a:r>
            <a:r>
              <a:rPr lang="en-US" sz="2400" dirty="0"/>
              <a:t>, when they are included, can be in any order but must precede the font size. </a:t>
            </a:r>
            <a:endParaRPr lang="en-IN" sz="2400" dirty="0"/>
          </a:p>
        </p:txBody>
      </p:sp>
    </p:spTree>
    <p:extLst>
      <p:ext uri="{BB962C8B-B14F-4D97-AF65-F5344CB8AC3E}">
        <p14:creationId xmlns:p14="http://schemas.microsoft.com/office/powerpoint/2010/main" val="31416439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A48B-D224-7224-64B5-49CA9167C7A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5B575F-5EED-13DC-C932-F876CC1133F7}"/>
              </a:ext>
            </a:extLst>
          </p:cNvPr>
          <p:cNvPicPr>
            <a:picLocks noChangeAspect="1"/>
          </p:cNvPicPr>
          <p:nvPr/>
        </p:nvPicPr>
        <p:blipFill>
          <a:blip r:embed="rId2"/>
          <a:stretch>
            <a:fillRect/>
          </a:stretch>
        </p:blipFill>
        <p:spPr>
          <a:xfrm>
            <a:off x="380829" y="0"/>
            <a:ext cx="5715171" cy="6363702"/>
          </a:xfrm>
          <a:prstGeom prst="rect">
            <a:avLst/>
          </a:prstGeom>
        </p:spPr>
      </p:pic>
      <p:pic>
        <p:nvPicPr>
          <p:cNvPr id="6" name="Picture 5">
            <a:extLst>
              <a:ext uri="{FF2B5EF4-FFF2-40B4-BE49-F238E27FC236}">
                <a16:creationId xmlns:a16="http://schemas.microsoft.com/office/drawing/2014/main" id="{54EB6976-883D-9ABB-A5DF-32673A40334E}"/>
              </a:ext>
            </a:extLst>
          </p:cNvPr>
          <p:cNvPicPr>
            <a:picLocks noChangeAspect="1"/>
          </p:cNvPicPr>
          <p:nvPr/>
        </p:nvPicPr>
        <p:blipFill>
          <a:blip r:embed="rId3"/>
          <a:stretch>
            <a:fillRect/>
          </a:stretch>
        </p:blipFill>
        <p:spPr>
          <a:xfrm>
            <a:off x="6361750" y="2124428"/>
            <a:ext cx="5582429" cy="2114845"/>
          </a:xfrm>
          <a:prstGeom prst="rect">
            <a:avLst/>
          </a:prstGeom>
        </p:spPr>
      </p:pic>
    </p:spTree>
    <p:extLst>
      <p:ext uri="{BB962C8B-B14F-4D97-AF65-F5344CB8AC3E}">
        <p14:creationId xmlns:p14="http://schemas.microsoft.com/office/powerpoint/2010/main" val="4237247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9519F-1154-56B0-C794-60A1AD2EB6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AD1307-01C3-A417-CAB0-71D0431D5564}"/>
              </a:ext>
            </a:extLst>
          </p:cNvPr>
          <p:cNvSpPr txBox="1"/>
          <p:nvPr/>
        </p:nvSpPr>
        <p:spPr>
          <a:xfrm>
            <a:off x="484094" y="367553"/>
            <a:ext cx="11205882" cy="1692771"/>
          </a:xfrm>
          <a:prstGeom prst="rect">
            <a:avLst/>
          </a:prstGeom>
          <a:noFill/>
        </p:spPr>
        <p:txBody>
          <a:bodyPr wrap="square" rtlCol="0">
            <a:spAutoFit/>
          </a:bodyPr>
          <a:lstStyle/>
          <a:p>
            <a:r>
              <a:rPr lang="en-IN" sz="2800" dirty="0"/>
              <a:t>7. Text Decoration</a:t>
            </a:r>
            <a:endParaRPr lang="en-US" dirty="0"/>
          </a:p>
          <a:p>
            <a:endParaRPr lang="en-US" dirty="0"/>
          </a:p>
          <a:p>
            <a:pPr marL="342900" indent="-342900">
              <a:buFont typeface="Arial" panose="020B0604020202020204" pitchFamily="34" charset="0"/>
              <a:buChar char="•"/>
            </a:pPr>
            <a:r>
              <a:rPr lang="en-US" sz="2000" dirty="0"/>
              <a:t>The </a:t>
            </a:r>
            <a:r>
              <a:rPr lang="en-US" sz="2000" dirty="0">
                <a:solidFill>
                  <a:srgbClr val="FF0000"/>
                </a:solidFill>
              </a:rPr>
              <a:t>text-decoration</a:t>
            </a:r>
            <a:r>
              <a:rPr lang="en-US" sz="2000" dirty="0"/>
              <a:t> property is used to specify some special features of text. </a:t>
            </a:r>
          </a:p>
          <a:p>
            <a:pPr marL="342900" indent="-342900">
              <a:buFont typeface="Arial" panose="020B0604020202020204" pitchFamily="34" charset="0"/>
              <a:buChar char="•"/>
            </a:pPr>
            <a:r>
              <a:rPr lang="en-US" sz="2000" dirty="0"/>
              <a:t>The available values are </a:t>
            </a:r>
            <a:r>
              <a:rPr lang="en-US" sz="2000" dirty="0">
                <a:solidFill>
                  <a:srgbClr val="FF0000"/>
                </a:solidFill>
              </a:rPr>
              <a:t>line-through</a:t>
            </a:r>
            <a:r>
              <a:rPr lang="en-US" sz="2000" dirty="0"/>
              <a:t>, </a:t>
            </a:r>
            <a:r>
              <a:rPr lang="en-US" sz="2000" dirty="0">
                <a:solidFill>
                  <a:srgbClr val="FF0000"/>
                </a:solidFill>
              </a:rPr>
              <a:t>overline</a:t>
            </a:r>
            <a:r>
              <a:rPr lang="en-US" sz="2000" dirty="0"/>
              <a:t>, </a:t>
            </a:r>
            <a:r>
              <a:rPr lang="en-US" sz="2000" dirty="0">
                <a:solidFill>
                  <a:srgbClr val="FF0000"/>
                </a:solidFill>
              </a:rPr>
              <a:t>underline</a:t>
            </a:r>
            <a:r>
              <a:rPr lang="en-US" sz="2000" dirty="0"/>
              <a:t>, and </a:t>
            </a:r>
            <a:r>
              <a:rPr lang="en-US" sz="2000" dirty="0">
                <a:solidFill>
                  <a:srgbClr val="FF0000"/>
                </a:solidFill>
              </a:rPr>
              <a:t>none</a:t>
            </a:r>
            <a:r>
              <a:rPr lang="en-US" sz="2000" dirty="0"/>
              <a:t>, which is the default.</a:t>
            </a:r>
            <a:endParaRPr lang="en-US" dirty="0"/>
          </a:p>
          <a:p>
            <a:endParaRPr lang="en-IN" dirty="0"/>
          </a:p>
        </p:txBody>
      </p:sp>
      <p:pic>
        <p:nvPicPr>
          <p:cNvPr id="4" name="Picture 3">
            <a:extLst>
              <a:ext uri="{FF2B5EF4-FFF2-40B4-BE49-F238E27FC236}">
                <a16:creationId xmlns:a16="http://schemas.microsoft.com/office/drawing/2014/main" id="{4DE7E962-4102-E3EF-45BE-A4A4FC5AEFB3}"/>
              </a:ext>
            </a:extLst>
          </p:cNvPr>
          <p:cNvPicPr>
            <a:picLocks noChangeAspect="1"/>
          </p:cNvPicPr>
          <p:nvPr/>
        </p:nvPicPr>
        <p:blipFill>
          <a:blip r:embed="rId2"/>
          <a:stretch>
            <a:fillRect/>
          </a:stretch>
        </p:blipFill>
        <p:spPr>
          <a:xfrm>
            <a:off x="576080" y="1764679"/>
            <a:ext cx="4986445" cy="2672850"/>
          </a:xfrm>
          <a:prstGeom prst="rect">
            <a:avLst/>
          </a:prstGeom>
        </p:spPr>
      </p:pic>
      <p:pic>
        <p:nvPicPr>
          <p:cNvPr id="6" name="Picture 5">
            <a:extLst>
              <a:ext uri="{FF2B5EF4-FFF2-40B4-BE49-F238E27FC236}">
                <a16:creationId xmlns:a16="http://schemas.microsoft.com/office/drawing/2014/main" id="{D0CBB8F6-588B-730E-2861-0B6C12D228A0}"/>
              </a:ext>
            </a:extLst>
          </p:cNvPr>
          <p:cNvPicPr>
            <a:picLocks noChangeAspect="1"/>
          </p:cNvPicPr>
          <p:nvPr/>
        </p:nvPicPr>
        <p:blipFill>
          <a:blip r:embed="rId3"/>
          <a:stretch>
            <a:fillRect/>
          </a:stretch>
        </p:blipFill>
        <p:spPr>
          <a:xfrm>
            <a:off x="576080" y="4437529"/>
            <a:ext cx="4986445" cy="2232212"/>
          </a:xfrm>
          <a:prstGeom prst="rect">
            <a:avLst/>
          </a:prstGeom>
        </p:spPr>
      </p:pic>
      <p:pic>
        <p:nvPicPr>
          <p:cNvPr id="8" name="Picture 7">
            <a:extLst>
              <a:ext uri="{FF2B5EF4-FFF2-40B4-BE49-F238E27FC236}">
                <a16:creationId xmlns:a16="http://schemas.microsoft.com/office/drawing/2014/main" id="{0419168A-6F17-4FA7-5F3B-80F306D2DE02}"/>
              </a:ext>
            </a:extLst>
          </p:cNvPr>
          <p:cNvPicPr>
            <a:picLocks noChangeAspect="1"/>
          </p:cNvPicPr>
          <p:nvPr/>
        </p:nvPicPr>
        <p:blipFill>
          <a:blip r:embed="rId4"/>
          <a:stretch>
            <a:fillRect/>
          </a:stretch>
        </p:blipFill>
        <p:spPr>
          <a:xfrm>
            <a:off x="5786643" y="2875772"/>
            <a:ext cx="6046854" cy="1445216"/>
          </a:xfrm>
          <a:prstGeom prst="rect">
            <a:avLst/>
          </a:prstGeom>
        </p:spPr>
      </p:pic>
    </p:spTree>
    <p:extLst>
      <p:ext uri="{BB962C8B-B14F-4D97-AF65-F5344CB8AC3E}">
        <p14:creationId xmlns:p14="http://schemas.microsoft.com/office/powerpoint/2010/main" val="2446144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CAF6E-3EBC-05C2-30D6-902AD91CD8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14155E-C125-DC08-3A1C-44E6A455BDE5}"/>
              </a:ext>
            </a:extLst>
          </p:cNvPr>
          <p:cNvSpPr txBox="1"/>
          <p:nvPr/>
        </p:nvSpPr>
        <p:spPr>
          <a:xfrm>
            <a:off x="484094" y="367553"/>
            <a:ext cx="11205882" cy="3323987"/>
          </a:xfrm>
          <a:prstGeom prst="rect">
            <a:avLst/>
          </a:prstGeom>
          <a:noFill/>
        </p:spPr>
        <p:txBody>
          <a:bodyPr wrap="square" rtlCol="0">
            <a:spAutoFit/>
          </a:bodyPr>
          <a:lstStyle/>
          <a:p>
            <a:r>
              <a:rPr lang="en-IN" sz="2800" dirty="0"/>
              <a:t>8. Text Spacing</a:t>
            </a:r>
            <a:endParaRPr lang="en-US" dirty="0"/>
          </a:p>
          <a:p>
            <a:endParaRPr lang="en-US" dirty="0"/>
          </a:p>
          <a:p>
            <a:pPr algn="just"/>
            <a:r>
              <a:rPr lang="en-US" sz="2000" dirty="0"/>
              <a:t>The </a:t>
            </a:r>
            <a:r>
              <a:rPr lang="en-US" sz="2000" dirty="0">
                <a:solidFill>
                  <a:srgbClr val="FF0000"/>
                </a:solidFill>
              </a:rPr>
              <a:t>letter-spacing</a:t>
            </a:r>
            <a:r>
              <a:rPr lang="en-US" sz="2000" dirty="0"/>
              <a:t> property controls the amount of space between the letters in words.</a:t>
            </a:r>
            <a:endParaRPr lang="en-US" dirty="0"/>
          </a:p>
          <a:p>
            <a:pPr algn="just"/>
            <a:r>
              <a:rPr lang="en-US" dirty="0">
                <a:solidFill>
                  <a:srgbClr val="FF0000"/>
                </a:solidFill>
              </a:rPr>
              <a:t>letter-spacing: 1px </a:t>
            </a:r>
            <a:r>
              <a:rPr lang="en-US" dirty="0"/>
              <a:t>spreads the letters of words. Likewise, </a:t>
            </a:r>
            <a:r>
              <a:rPr lang="en-US" dirty="0">
                <a:solidFill>
                  <a:srgbClr val="FF0000"/>
                </a:solidFill>
              </a:rPr>
              <a:t>letter-spacing: -1px </a:t>
            </a:r>
            <a:r>
              <a:rPr lang="en-US" dirty="0"/>
              <a:t>squeezes the letters of words together.</a:t>
            </a:r>
          </a:p>
          <a:p>
            <a:pPr algn="just"/>
            <a:endParaRPr lang="en-US" dirty="0"/>
          </a:p>
          <a:p>
            <a:pPr algn="just"/>
            <a:r>
              <a:rPr lang="en-US" dirty="0"/>
              <a:t>The space between words in text can be controlled with the </a:t>
            </a:r>
            <a:r>
              <a:rPr lang="en-US" dirty="0">
                <a:solidFill>
                  <a:srgbClr val="FF0000"/>
                </a:solidFill>
              </a:rPr>
              <a:t>word-spacing</a:t>
            </a:r>
            <a:r>
              <a:rPr lang="en-US" dirty="0"/>
              <a:t> property, whose values are normal or any length value.</a:t>
            </a:r>
          </a:p>
          <a:p>
            <a:pPr algn="just"/>
            <a:endParaRPr lang="en-US" dirty="0"/>
          </a:p>
          <a:p>
            <a:pPr algn="just"/>
            <a:r>
              <a:rPr lang="en-US" dirty="0"/>
              <a:t>The space between lines of text can be controlled with the </a:t>
            </a:r>
            <a:r>
              <a:rPr lang="en-US" dirty="0">
                <a:solidFill>
                  <a:srgbClr val="FF0000"/>
                </a:solidFill>
              </a:rPr>
              <a:t>line-height</a:t>
            </a:r>
            <a:r>
              <a:rPr lang="en-US" dirty="0"/>
              <a:t> property.</a:t>
            </a:r>
          </a:p>
          <a:p>
            <a:pPr algn="just"/>
            <a:endParaRPr lang="en-IN" dirty="0"/>
          </a:p>
        </p:txBody>
      </p:sp>
      <p:pic>
        <p:nvPicPr>
          <p:cNvPr id="6" name="Picture 5">
            <a:extLst>
              <a:ext uri="{FF2B5EF4-FFF2-40B4-BE49-F238E27FC236}">
                <a16:creationId xmlns:a16="http://schemas.microsoft.com/office/drawing/2014/main" id="{9C99675F-B63A-7F61-8E19-588C39A52B8C}"/>
              </a:ext>
            </a:extLst>
          </p:cNvPr>
          <p:cNvPicPr>
            <a:picLocks noChangeAspect="1"/>
          </p:cNvPicPr>
          <p:nvPr/>
        </p:nvPicPr>
        <p:blipFill>
          <a:blip r:embed="rId2"/>
          <a:stretch>
            <a:fillRect/>
          </a:stretch>
        </p:blipFill>
        <p:spPr>
          <a:xfrm>
            <a:off x="484094" y="3429000"/>
            <a:ext cx="5677692" cy="2857899"/>
          </a:xfrm>
          <a:prstGeom prst="rect">
            <a:avLst/>
          </a:prstGeom>
        </p:spPr>
      </p:pic>
      <p:pic>
        <p:nvPicPr>
          <p:cNvPr id="8" name="Picture 7">
            <a:extLst>
              <a:ext uri="{FF2B5EF4-FFF2-40B4-BE49-F238E27FC236}">
                <a16:creationId xmlns:a16="http://schemas.microsoft.com/office/drawing/2014/main" id="{F0B52D9B-C21B-0800-3D06-392619A4864D}"/>
              </a:ext>
            </a:extLst>
          </p:cNvPr>
          <p:cNvPicPr>
            <a:picLocks noChangeAspect="1"/>
          </p:cNvPicPr>
          <p:nvPr/>
        </p:nvPicPr>
        <p:blipFill>
          <a:blip r:embed="rId3"/>
          <a:stretch>
            <a:fillRect/>
          </a:stretch>
        </p:blipFill>
        <p:spPr>
          <a:xfrm>
            <a:off x="6968371" y="3567695"/>
            <a:ext cx="4363017" cy="2719204"/>
          </a:xfrm>
          <a:prstGeom prst="rect">
            <a:avLst/>
          </a:prstGeom>
        </p:spPr>
      </p:pic>
    </p:spTree>
    <p:extLst>
      <p:ext uri="{BB962C8B-B14F-4D97-AF65-F5344CB8AC3E}">
        <p14:creationId xmlns:p14="http://schemas.microsoft.com/office/powerpoint/2010/main" val="32501297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A8CF-ED49-A660-B10B-6DFE32F4FD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6B802F7-18CA-16DA-1760-319AC7791D15}"/>
              </a:ext>
            </a:extLst>
          </p:cNvPr>
          <p:cNvSpPr txBox="1"/>
          <p:nvPr/>
        </p:nvSpPr>
        <p:spPr>
          <a:xfrm>
            <a:off x="484094" y="367553"/>
            <a:ext cx="11205882" cy="5109091"/>
          </a:xfrm>
          <a:prstGeom prst="rect">
            <a:avLst/>
          </a:prstGeom>
          <a:noFill/>
        </p:spPr>
        <p:txBody>
          <a:bodyPr wrap="square" rtlCol="0">
            <a:spAutoFit/>
          </a:bodyPr>
          <a:lstStyle/>
          <a:p>
            <a:r>
              <a:rPr lang="en-IN" sz="2800" dirty="0"/>
              <a:t>List Properties</a:t>
            </a:r>
            <a:endParaRPr lang="en-US" dirty="0"/>
          </a:p>
          <a:p>
            <a:endParaRPr lang="en-US" dirty="0"/>
          </a:p>
          <a:p>
            <a:pPr marL="342900" indent="-342900" algn="just">
              <a:buFont typeface="Arial" panose="020B0604020202020204" pitchFamily="34" charset="0"/>
              <a:buChar char="•"/>
            </a:pPr>
            <a:r>
              <a:rPr lang="en-US" sz="2000" dirty="0"/>
              <a:t>The </a:t>
            </a:r>
            <a:r>
              <a:rPr lang="en-US" sz="2000" i="1" dirty="0">
                <a:solidFill>
                  <a:srgbClr val="FF0000"/>
                </a:solidFill>
              </a:rPr>
              <a:t>list-style-type</a:t>
            </a:r>
            <a:r>
              <a:rPr lang="en-US" sz="2000" dirty="0"/>
              <a:t> property is used to specify both </a:t>
            </a:r>
            <a:r>
              <a:rPr lang="en-US" sz="2000" i="1" dirty="0">
                <a:solidFill>
                  <a:srgbClr val="FF0000"/>
                </a:solidFill>
              </a:rPr>
              <a:t>ul</a:t>
            </a:r>
            <a:r>
              <a:rPr lang="en-US" sz="2000" dirty="0"/>
              <a:t> and </a:t>
            </a:r>
            <a:r>
              <a:rPr lang="en-US" sz="2000" i="1" dirty="0" err="1">
                <a:solidFill>
                  <a:srgbClr val="FF0000"/>
                </a:solidFill>
              </a:rPr>
              <a:t>ol</a:t>
            </a:r>
            <a:r>
              <a:rPr lang="en-US" sz="2000" dirty="0"/>
              <a:t> tags.</a:t>
            </a:r>
          </a:p>
          <a:p>
            <a:pPr marL="342900" indent="-342900" algn="just">
              <a:buFont typeface="Arial" panose="020B0604020202020204" pitchFamily="34" charset="0"/>
              <a:buChar char="•"/>
            </a:pPr>
            <a:r>
              <a:rPr lang="en-US" sz="2000" dirty="0"/>
              <a:t>If </a:t>
            </a:r>
            <a:r>
              <a:rPr lang="en-US" sz="2000" dirty="0">
                <a:solidFill>
                  <a:srgbClr val="FF0000"/>
                </a:solidFill>
              </a:rPr>
              <a:t>list-style-type</a:t>
            </a:r>
            <a:r>
              <a:rPr lang="en-US" sz="2000" dirty="0"/>
              <a:t> is set for a </a:t>
            </a:r>
            <a:r>
              <a:rPr lang="en-US" sz="2000" dirty="0">
                <a:solidFill>
                  <a:srgbClr val="FF0000"/>
                </a:solidFill>
              </a:rPr>
              <a:t>ul</a:t>
            </a:r>
            <a:r>
              <a:rPr lang="en-US" sz="2000" dirty="0"/>
              <a:t> or an </a:t>
            </a:r>
            <a:r>
              <a:rPr lang="en-US" sz="2000" dirty="0" err="1">
                <a:solidFill>
                  <a:srgbClr val="FF0000"/>
                </a:solidFill>
              </a:rPr>
              <a:t>ol</a:t>
            </a:r>
            <a:r>
              <a:rPr lang="en-US" sz="2000" dirty="0"/>
              <a:t> tag, it applies to all of the list items in the list. </a:t>
            </a:r>
          </a:p>
          <a:p>
            <a:pPr marL="342900" indent="-342900" algn="just">
              <a:buFont typeface="Arial" panose="020B0604020202020204" pitchFamily="34" charset="0"/>
              <a:buChar char="•"/>
            </a:pPr>
            <a:r>
              <a:rPr lang="en-US" sz="2000" dirty="0"/>
              <a:t>If a list-style-type is set for an </a:t>
            </a:r>
            <a:r>
              <a:rPr lang="en-US" sz="2000" dirty="0">
                <a:solidFill>
                  <a:srgbClr val="FF0000"/>
                </a:solidFill>
              </a:rPr>
              <a:t>li</a:t>
            </a:r>
            <a:r>
              <a:rPr lang="en-US" sz="2000" dirty="0"/>
              <a:t> tag, it only applies to that list item.</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list-style-type property of an unordered list can be set to </a:t>
            </a:r>
            <a:r>
              <a:rPr lang="en-US" sz="2000" dirty="0">
                <a:solidFill>
                  <a:srgbClr val="FF0000"/>
                </a:solidFill>
              </a:rPr>
              <a:t>disc</a:t>
            </a:r>
            <a:r>
              <a:rPr lang="en-US" sz="2000" dirty="0"/>
              <a:t> (the default), </a:t>
            </a:r>
            <a:r>
              <a:rPr lang="en-US" sz="2000" dirty="0">
                <a:solidFill>
                  <a:srgbClr val="FF0000"/>
                </a:solidFill>
              </a:rPr>
              <a:t>circle</a:t>
            </a:r>
            <a:r>
              <a:rPr lang="en-US" sz="2000" dirty="0"/>
              <a:t>, </a:t>
            </a:r>
            <a:r>
              <a:rPr lang="en-US" sz="2000" dirty="0">
                <a:solidFill>
                  <a:srgbClr val="FF0000"/>
                </a:solidFill>
              </a:rPr>
              <a:t>square</a:t>
            </a:r>
            <a:r>
              <a:rPr lang="en-US" sz="2000" dirty="0"/>
              <a:t>, or </a:t>
            </a:r>
            <a:r>
              <a:rPr lang="en-US" sz="2000" dirty="0">
                <a:solidFill>
                  <a:srgbClr val="FF0000"/>
                </a:solidFill>
              </a:rPr>
              <a:t>none</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 image can be used in a list item bullet.</a:t>
            </a:r>
          </a:p>
          <a:p>
            <a:pPr marL="342900" indent="-342900" algn="just">
              <a:buFont typeface="Arial" panose="020B0604020202020204" pitchFamily="34" charset="0"/>
              <a:buChar char="•"/>
            </a:pPr>
            <a:r>
              <a:rPr lang="en-US" sz="2000" dirty="0"/>
              <a:t>Such a bullet is specified with the </a:t>
            </a:r>
            <a:r>
              <a:rPr lang="en-US" sz="2000" dirty="0">
                <a:solidFill>
                  <a:srgbClr val="FF0000"/>
                </a:solidFill>
              </a:rPr>
              <a:t>list-style-image</a:t>
            </a:r>
            <a:r>
              <a:rPr lang="en-US" sz="2000" dirty="0"/>
              <a:t> property, whose value is specified with the </a:t>
            </a:r>
            <a:r>
              <a:rPr lang="en-US" sz="2000" dirty="0" err="1"/>
              <a:t>url</a:t>
            </a:r>
            <a:r>
              <a:rPr lang="en-US" sz="2000" dirty="0"/>
              <a:t> form.</a:t>
            </a:r>
          </a:p>
          <a:p>
            <a:pPr marL="342900" indent="-342900" algn="just">
              <a:buFont typeface="Arial" panose="020B0604020202020204" pitchFamily="34" charset="0"/>
              <a:buChar char="•"/>
            </a:pPr>
            <a:endParaRPr lang="en-US" sz="2000" dirty="0"/>
          </a:p>
          <a:p>
            <a:pPr lvl="1" algn="just"/>
            <a:r>
              <a:rPr lang="en-IN" sz="2000" dirty="0"/>
              <a:t> </a:t>
            </a:r>
            <a:r>
              <a:rPr lang="en-IN" sz="2000" dirty="0">
                <a:solidFill>
                  <a:srgbClr val="00B0F0"/>
                </a:solidFill>
              </a:rPr>
              <a:t>&lt;style type = "text/</a:t>
            </a:r>
            <a:r>
              <a:rPr lang="en-IN" sz="2000" dirty="0" err="1">
                <a:solidFill>
                  <a:srgbClr val="00B0F0"/>
                </a:solidFill>
              </a:rPr>
              <a:t>css</a:t>
            </a:r>
            <a:r>
              <a:rPr lang="en-IN" sz="2000" dirty="0">
                <a:solidFill>
                  <a:srgbClr val="00B0F0"/>
                </a:solidFill>
              </a:rPr>
              <a:t>"&gt;</a:t>
            </a:r>
          </a:p>
          <a:p>
            <a:pPr lvl="1" algn="just"/>
            <a:r>
              <a:rPr lang="en-IN" sz="2000" dirty="0">
                <a:solidFill>
                  <a:srgbClr val="00B0F0"/>
                </a:solidFill>
              </a:rPr>
              <a:t>  </a:t>
            </a:r>
            <a:r>
              <a:rPr lang="en-IN" sz="2000" dirty="0" err="1">
                <a:solidFill>
                  <a:srgbClr val="00B0F0"/>
                </a:solidFill>
              </a:rPr>
              <a:t>li.image</a:t>
            </a:r>
            <a:r>
              <a:rPr lang="en-IN" sz="2000" dirty="0">
                <a:solidFill>
                  <a:srgbClr val="00B0F0"/>
                </a:solidFill>
              </a:rPr>
              <a:t> {list-style-image: </a:t>
            </a:r>
            <a:r>
              <a:rPr lang="en-IN" sz="2000" dirty="0" err="1">
                <a:solidFill>
                  <a:srgbClr val="00B0F0"/>
                </a:solidFill>
              </a:rPr>
              <a:t>url</a:t>
            </a:r>
            <a:r>
              <a:rPr lang="en-IN" sz="2000" dirty="0">
                <a:solidFill>
                  <a:srgbClr val="00B0F0"/>
                </a:solidFill>
              </a:rPr>
              <a:t>(small_airplane.gif);}</a:t>
            </a:r>
          </a:p>
          <a:p>
            <a:pPr lvl="1" algn="just"/>
            <a:r>
              <a:rPr lang="en-IN" sz="2000" dirty="0">
                <a:solidFill>
                  <a:srgbClr val="00B0F0"/>
                </a:solidFill>
              </a:rPr>
              <a:t> &lt;/style&gt;</a:t>
            </a:r>
          </a:p>
        </p:txBody>
      </p:sp>
    </p:spTree>
    <p:extLst>
      <p:ext uri="{BB962C8B-B14F-4D97-AF65-F5344CB8AC3E}">
        <p14:creationId xmlns:p14="http://schemas.microsoft.com/office/powerpoint/2010/main" val="38892009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A656-DB07-51E9-A3FA-E01F621271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E3BF17-4FC2-59EF-767E-B1E13E6F9D35}"/>
              </a:ext>
            </a:extLst>
          </p:cNvPr>
          <p:cNvSpPr txBox="1"/>
          <p:nvPr/>
        </p:nvSpPr>
        <p:spPr>
          <a:xfrm>
            <a:off x="484094" y="367553"/>
            <a:ext cx="11205882" cy="6186309"/>
          </a:xfrm>
          <a:prstGeom prst="rect">
            <a:avLst/>
          </a:prstGeom>
          <a:noFill/>
        </p:spPr>
        <p:txBody>
          <a:bodyPr wrap="square" rtlCol="0">
            <a:spAutoFit/>
          </a:bodyPr>
          <a:lstStyle/>
          <a:p>
            <a:r>
              <a:rPr lang="en-US" sz="2800" dirty="0"/>
              <a:t>Example…</a:t>
            </a:r>
            <a:endParaRPr lang="en-US" dirty="0"/>
          </a:p>
          <a:p>
            <a:r>
              <a:rPr lang="en-US" sz="1400" dirty="0">
                <a:solidFill>
                  <a:srgbClr val="7030A0"/>
                </a:solidFill>
              </a:rPr>
              <a:t> &lt;!-- bullets1 --&gt;</a:t>
            </a:r>
          </a:p>
          <a:p>
            <a:r>
              <a:rPr lang="en-US" sz="1400" dirty="0">
                <a:solidFill>
                  <a:srgbClr val="7030A0"/>
                </a:solidFill>
              </a:rPr>
              <a:t> &lt;style type = "text/</a:t>
            </a:r>
            <a:r>
              <a:rPr lang="en-US" sz="1400" dirty="0" err="1">
                <a:solidFill>
                  <a:srgbClr val="7030A0"/>
                </a:solidFill>
              </a:rPr>
              <a:t>css</a:t>
            </a:r>
            <a:r>
              <a:rPr lang="en-US" sz="1400" dirty="0">
                <a:solidFill>
                  <a:srgbClr val="7030A0"/>
                </a:solidFill>
              </a:rPr>
              <a:t>"&gt;</a:t>
            </a:r>
          </a:p>
          <a:p>
            <a:r>
              <a:rPr lang="en-US" sz="1400" dirty="0">
                <a:solidFill>
                  <a:srgbClr val="7030A0"/>
                </a:solidFill>
              </a:rPr>
              <a:t>  ul {list-style-type: square;}</a:t>
            </a:r>
          </a:p>
          <a:p>
            <a:r>
              <a:rPr lang="en-US" sz="1400" dirty="0">
                <a:solidFill>
                  <a:srgbClr val="7030A0"/>
                </a:solidFill>
              </a:rPr>
              <a:t> &lt;/style&gt;</a:t>
            </a:r>
          </a:p>
          <a:p>
            <a:r>
              <a:rPr lang="en-US" sz="1400" dirty="0">
                <a:solidFill>
                  <a:srgbClr val="7030A0"/>
                </a:solidFill>
              </a:rPr>
              <a:t> ...</a:t>
            </a:r>
          </a:p>
          <a:p>
            <a:r>
              <a:rPr lang="en-US" sz="1400" dirty="0">
                <a:solidFill>
                  <a:srgbClr val="7030A0"/>
                </a:solidFill>
              </a:rPr>
              <a:t> &lt;h3&gt; Some Common Single-Engine Aircraft &lt;/h3&gt;</a:t>
            </a:r>
          </a:p>
          <a:p>
            <a:r>
              <a:rPr lang="en-US" sz="1400" dirty="0">
                <a:solidFill>
                  <a:srgbClr val="7030A0"/>
                </a:solidFill>
              </a:rPr>
              <a:t>  &lt;ul&gt;</a:t>
            </a:r>
          </a:p>
          <a:p>
            <a:r>
              <a:rPr lang="en-US" sz="1400" dirty="0">
                <a:solidFill>
                  <a:srgbClr val="7030A0"/>
                </a:solidFill>
              </a:rPr>
              <a:t>    &lt;li&gt; Cessna Skyhawk &lt;/li&gt;</a:t>
            </a:r>
          </a:p>
          <a:p>
            <a:r>
              <a:rPr lang="en-US" sz="1400" dirty="0">
                <a:solidFill>
                  <a:srgbClr val="7030A0"/>
                </a:solidFill>
              </a:rPr>
              <a:t>    &lt;li&gt; Beechcraft Bonanza &lt;/li&gt;</a:t>
            </a:r>
          </a:p>
          <a:p>
            <a:r>
              <a:rPr lang="en-US" sz="1400" dirty="0">
                <a:solidFill>
                  <a:srgbClr val="7030A0"/>
                </a:solidFill>
              </a:rPr>
              <a:t>    &lt;li&gt; Piper Cherokee &lt;/li&gt;</a:t>
            </a:r>
          </a:p>
          <a:p>
            <a:r>
              <a:rPr lang="en-US" sz="1400" dirty="0">
                <a:solidFill>
                  <a:srgbClr val="7030A0"/>
                </a:solidFill>
              </a:rPr>
              <a:t>  &lt;/ul&gt;</a:t>
            </a:r>
          </a:p>
          <a:p>
            <a:r>
              <a:rPr lang="en-US" sz="1400" dirty="0"/>
              <a:t> The following illustrates setting the style for individual list items: </a:t>
            </a:r>
          </a:p>
          <a:p>
            <a:r>
              <a:rPr lang="en-US" sz="1400" dirty="0">
                <a:solidFill>
                  <a:srgbClr val="00B0F0"/>
                </a:solidFill>
              </a:rPr>
              <a:t>&lt;!-- bullets2 --&gt;</a:t>
            </a:r>
          </a:p>
          <a:p>
            <a:r>
              <a:rPr lang="en-US" sz="1400" dirty="0">
                <a:solidFill>
                  <a:srgbClr val="00B0F0"/>
                </a:solidFill>
              </a:rPr>
              <a:t> &lt;style type = "text/</a:t>
            </a:r>
            <a:r>
              <a:rPr lang="en-US" sz="1400" dirty="0" err="1">
                <a:solidFill>
                  <a:srgbClr val="00B0F0"/>
                </a:solidFill>
              </a:rPr>
              <a:t>css</a:t>
            </a:r>
            <a:r>
              <a:rPr lang="en-US" sz="1400" dirty="0">
                <a:solidFill>
                  <a:srgbClr val="00B0F0"/>
                </a:solidFill>
              </a:rPr>
              <a:t>"&gt;</a:t>
            </a:r>
          </a:p>
          <a:p>
            <a:r>
              <a:rPr lang="en-US" sz="1400" dirty="0">
                <a:solidFill>
                  <a:srgbClr val="00B0F0"/>
                </a:solidFill>
              </a:rPr>
              <a:t>  </a:t>
            </a:r>
            <a:r>
              <a:rPr lang="en-US" sz="1400" dirty="0" err="1">
                <a:solidFill>
                  <a:srgbClr val="00B0F0"/>
                </a:solidFill>
              </a:rPr>
              <a:t>li.disc</a:t>
            </a:r>
            <a:r>
              <a:rPr lang="en-US" sz="1400" dirty="0">
                <a:solidFill>
                  <a:srgbClr val="00B0F0"/>
                </a:solidFill>
              </a:rPr>
              <a:t> {list-style-type: disc;}</a:t>
            </a:r>
          </a:p>
          <a:p>
            <a:r>
              <a:rPr lang="en-US" sz="1400" dirty="0">
                <a:solidFill>
                  <a:srgbClr val="00B0F0"/>
                </a:solidFill>
              </a:rPr>
              <a:t>  </a:t>
            </a:r>
            <a:r>
              <a:rPr lang="en-US" sz="1400" dirty="0" err="1">
                <a:solidFill>
                  <a:srgbClr val="00B0F0"/>
                </a:solidFill>
              </a:rPr>
              <a:t>li.square</a:t>
            </a:r>
            <a:r>
              <a:rPr lang="en-US" sz="1400" dirty="0">
                <a:solidFill>
                  <a:srgbClr val="00B0F0"/>
                </a:solidFill>
              </a:rPr>
              <a:t> {list-style-type: square;}</a:t>
            </a:r>
          </a:p>
          <a:p>
            <a:r>
              <a:rPr lang="en-US" sz="1400" dirty="0">
                <a:solidFill>
                  <a:srgbClr val="00B0F0"/>
                </a:solidFill>
              </a:rPr>
              <a:t>  </a:t>
            </a:r>
            <a:r>
              <a:rPr lang="en-US" sz="1400" dirty="0" err="1">
                <a:solidFill>
                  <a:srgbClr val="00B0F0"/>
                </a:solidFill>
              </a:rPr>
              <a:t>li.circle</a:t>
            </a:r>
            <a:r>
              <a:rPr lang="en-US" sz="1400" dirty="0">
                <a:solidFill>
                  <a:srgbClr val="00B0F0"/>
                </a:solidFill>
              </a:rPr>
              <a:t> {list-style-type: circle;}</a:t>
            </a:r>
          </a:p>
          <a:p>
            <a:r>
              <a:rPr lang="en-US" sz="1400" dirty="0">
                <a:solidFill>
                  <a:srgbClr val="00B0F0"/>
                </a:solidFill>
              </a:rPr>
              <a:t> &lt;/style&gt;</a:t>
            </a:r>
          </a:p>
          <a:p>
            <a:r>
              <a:rPr lang="en-US" sz="1400" dirty="0">
                <a:solidFill>
                  <a:srgbClr val="00B0F0"/>
                </a:solidFill>
              </a:rPr>
              <a:t> ...</a:t>
            </a:r>
          </a:p>
          <a:p>
            <a:r>
              <a:rPr lang="en-US" sz="1400" dirty="0">
                <a:solidFill>
                  <a:srgbClr val="00B0F0"/>
                </a:solidFill>
              </a:rPr>
              <a:t> &lt;h3&gt; Some Common Single-Engine Aircraft &lt;/h3&gt;</a:t>
            </a:r>
          </a:p>
          <a:p>
            <a:r>
              <a:rPr lang="en-US" sz="1400" dirty="0">
                <a:solidFill>
                  <a:srgbClr val="00B0F0"/>
                </a:solidFill>
              </a:rPr>
              <a:t>  &lt;ul&gt;</a:t>
            </a:r>
          </a:p>
          <a:p>
            <a:r>
              <a:rPr lang="en-US" sz="1400" dirty="0">
                <a:solidFill>
                  <a:srgbClr val="00B0F0"/>
                </a:solidFill>
              </a:rPr>
              <a:t>    &lt;li class = "disc"&gt; Cessna Skyhawk &lt;/li&gt;</a:t>
            </a:r>
          </a:p>
          <a:p>
            <a:r>
              <a:rPr lang="en-US" sz="1400" dirty="0">
                <a:solidFill>
                  <a:srgbClr val="00B0F0"/>
                </a:solidFill>
              </a:rPr>
              <a:t>    &lt;li class = "square"&gt; Beechcraft Bonanza &lt;/li&gt;</a:t>
            </a:r>
          </a:p>
          <a:p>
            <a:r>
              <a:rPr lang="en-US" sz="1400" dirty="0">
                <a:solidFill>
                  <a:srgbClr val="00B0F0"/>
                </a:solidFill>
              </a:rPr>
              <a:t>    &lt;li class = "circle"&gt; Piper Cherokee &lt;/li&gt;</a:t>
            </a:r>
          </a:p>
          <a:p>
            <a:r>
              <a:rPr lang="en-US" sz="1400" dirty="0">
                <a:solidFill>
                  <a:srgbClr val="00B0F0"/>
                </a:solidFill>
              </a:rPr>
              <a:t>  &lt;/ul&gt;</a:t>
            </a:r>
          </a:p>
          <a:p>
            <a:endParaRPr lang="en-IN" dirty="0"/>
          </a:p>
        </p:txBody>
      </p:sp>
      <p:pic>
        <p:nvPicPr>
          <p:cNvPr id="5" name="Picture 4">
            <a:extLst>
              <a:ext uri="{FF2B5EF4-FFF2-40B4-BE49-F238E27FC236}">
                <a16:creationId xmlns:a16="http://schemas.microsoft.com/office/drawing/2014/main" id="{90E8F959-BD9B-9F67-DDA6-62A7BFB53089}"/>
              </a:ext>
            </a:extLst>
          </p:cNvPr>
          <p:cNvPicPr>
            <a:picLocks noChangeAspect="1"/>
          </p:cNvPicPr>
          <p:nvPr/>
        </p:nvPicPr>
        <p:blipFill>
          <a:blip r:embed="rId2"/>
          <a:stretch>
            <a:fillRect/>
          </a:stretch>
        </p:blipFill>
        <p:spPr>
          <a:xfrm>
            <a:off x="5629835" y="1908071"/>
            <a:ext cx="5847682" cy="2726051"/>
          </a:xfrm>
          <a:prstGeom prst="rect">
            <a:avLst/>
          </a:prstGeom>
        </p:spPr>
      </p:pic>
    </p:spTree>
    <p:extLst>
      <p:ext uri="{BB962C8B-B14F-4D97-AF65-F5344CB8AC3E}">
        <p14:creationId xmlns:p14="http://schemas.microsoft.com/office/powerpoint/2010/main" val="37045398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E3CF7-A23F-DB1B-E212-54FED5AA10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3DB419-8741-13EA-88A5-792F72C9E93E}"/>
              </a:ext>
            </a:extLst>
          </p:cNvPr>
          <p:cNvSpPr txBox="1"/>
          <p:nvPr/>
        </p:nvSpPr>
        <p:spPr>
          <a:xfrm>
            <a:off x="484094" y="367553"/>
            <a:ext cx="11205882" cy="2277547"/>
          </a:xfrm>
          <a:prstGeom prst="rect">
            <a:avLst/>
          </a:prstGeom>
          <a:noFill/>
        </p:spPr>
        <p:txBody>
          <a:bodyPr wrap="square" rtlCol="0">
            <a:spAutoFit/>
          </a:bodyPr>
          <a:lstStyle/>
          <a:p>
            <a:r>
              <a:rPr lang="en-US" sz="2800" dirty="0"/>
              <a:t>List continued…</a:t>
            </a:r>
            <a:endParaRPr lang="en-US" dirty="0"/>
          </a:p>
          <a:p>
            <a:endParaRPr lang="en-US" dirty="0"/>
          </a:p>
          <a:p>
            <a:pPr algn="just"/>
            <a:r>
              <a:rPr lang="en-US" sz="2000" dirty="0"/>
              <a:t>When ordered lists are nested, it is best to use different kinds of sequence values for the different levels of nesting. The list-style-type property can be used to specify the types of sequence values.</a:t>
            </a:r>
          </a:p>
          <a:p>
            <a:pPr algn="just"/>
            <a:endParaRPr lang="en-US" sz="2000" dirty="0"/>
          </a:p>
          <a:p>
            <a:pPr algn="just"/>
            <a:endParaRPr lang="en-US" dirty="0"/>
          </a:p>
          <a:p>
            <a:endParaRPr lang="en-IN" dirty="0"/>
          </a:p>
        </p:txBody>
      </p:sp>
      <p:pic>
        <p:nvPicPr>
          <p:cNvPr id="4" name="Picture 3">
            <a:extLst>
              <a:ext uri="{FF2B5EF4-FFF2-40B4-BE49-F238E27FC236}">
                <a16:creationId xmlns:a16="http://schemas.microsoft.com/office/drawing/2014/main" id="{7049EC5F-8529-6979-55AE-87D8C7E10584}"/>
              </a:ext>
            </a:extLst>
          </p:cNvPr>
          <p:cNvPicPr>
            <a:picLocks noChangeAspect="1"/>
          </p:cNvPicPr>
          <p:nvPr/>
        </p:nvPicPr>
        <p:blipFill>
          <a:blip r:embed="rId2"/>
          <a:stretch>
            <a:fillRect/>
          </a:stretch>
        </p:blipFill>
        <p:spPr>
          <a:xfrm>
            <a:off x="928493" y="1860939"/>
            <a:ext cx="5284050" cy="3985177"/>
          </a:xfrm>
          <a:prstGeom prst="rect">
            <a:avLst/>
          </a:prstGeom>
        </p:spPr>
      </p:pic>
    </p:spTree>
    <p:extLst>
      <p:ext uri="{BB962C8B-B14F-4D97-AF65-F5344CB8AC3E}">
        <p14:creationId xmlns:p14="http://schemas.microsoft.com/office/powerpoint/2010/main" val="19786219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E27B-D811-8411-0F35-731993A661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8781F1-35EF-6756-98E2-599BFF78A4A2}"/>
              </a:ext>
            </a:extLst>
          </p:cNvPr>
          <p:cNvPicPr>
            <a:picLocks noChangeAspect="1"/>
          </p:cNvPicPr>
          <p:nvPr/>
        </p:nvPicPr>
        <p:blipFill>
          <a:blip r:embed="rId2"/>
          <a:stretch>
            <a:fillRect/>
          </a:stretch>
        </p:blipFill>
        <p:spPr>
          <a:xfrm>
            <a:off x="352441" y="69227"/>
            <a:ext cx="4111078" cy="1885080"/>
          </a:xfrm>
          <a:prstGeom prst="rect">
            <a:avLst/>
          </a:prstGeom>
        </p:spPr>
      </p:pic>
      <p:pic>
        <p:nvPicPr>
          <p:cNvPr id="6" name="Picture 5">
            <a:extLst>
              <a:ext uri="{FF2B5EF4-FFF2-40B4-BE49-F238E27FC236}">
                <a16:creationId xmlns:a16="http://schemas.microsoft.com/office/drawing/2014/main" id="{3EC89071-5D2E-7BBB-5D78-A1C210BD26F9}"/>
              </a:ext>
            </a:extLst>
          </p:cNvPr>
          <p:cNvPicPr>
            <a:picLocks noChangeAspect="1"/>
          </p:cNvPicPr>
          <p:nvPr/>
        </p:nvPicPr>
        <p:blipFill>
          <a:blip r:embed="rId3"/>
          <a:stretch>
            <a:fillRect/>
          </a:stretch>
        </p:blipFill>
        <p:spPr>
          <a:xfrm>
            <a:off x="352440" y="1954307"/>
            <a:ext cx="4111077" cy="4828257"/>
          </a:xfrm>
          <a:prstGeom prst="rect">
            <a:avLst/>
          </a:prstGeom>
        </p:spPr>
      </p:pic>
      <p:pic>
        <p:nvPicPr>
          <p:cNvPr id="8" name="Picture 7">
            <a:extLst>
              <a:ext uri="{FF2B5EF4-FFF2-40B4-BE49-F238E27FC236}">
                <a16:creationId xmlns:a16="http://schemas.microsoft.com/office/drawing/2014/main" id="{C32F0B6E-F060-05FF-7216-5AD80A1E1B2A}"/>
              </a:ext>
            </a:extLst>
          </p:cNvPr>
          <p:cNvPicPr>
            <a:picLocks noChangeAspect="1"/>
          </p:cNvPicPr>
          <p:nvPr/>
        </p:nvPicPr>
        <p:blipFill>
          <a:blip r:embed="rId4"/>
          <a:stretch>
            <a:fillRect/>
          </a:stretch>
        </p:blipFill>
        <p:spPr>
          <a:xfrm>
            <a:off x="5062699" y="1577273"/>
            <a:ext cx="5706271" cy="3362794"/>
          </a:xfrm>
          <a:prstGeom prst="rect">
            <a:avLst/>
          </a:prstGeom>
        </p:spPr>
      </p:pic>
    </p:spTree>
    <p:extLst>
      <p:ext uri="{BB962C8B-B14F-4D97-AF65-F5344CB8AC3E}">
        <p14:creationId xmlns:p14="http://schemas.microsoft.com/office/powerpoint/2010/main" val="6380233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A14A2-7B64-0693-E895-4AEF3D7818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733767-526B-A85D-C128-67E163F2F7E6}"/>
              </a:ext>
            </a:extLst>
          </p:cNvPr>
          <p:cNvSpPr txBox="1"/>
          <p:nvPr/>
        </p:nvSpPr>
        <p:spPr>
          <a:xfrm>
            <a:off x="484094" y="367553"/>
            <a:ext cx="11205882" cy="5262979"/>
          </a:xfrm>
          <a:prstGeom prst="rect">
            <a:avLst/>
          </a:prstGeom>
          <a:noFill/>
        </p:spPr>
        <p:txBody>
          <a:bodyPr wrap="square" rtlCol="0">
            <a:spAutoFit/>
          </a:bodyPr>
          <a:lstStyle/>
          <a:p>
            <a:r>
              <a:rPr lang="en-IN" sz="2800" dirty="0"/>
              <a:t>Alignment of Text</a:t>
            </a:r>
            <a:endParaRPr lang="en-US" dirty="0"/>
          </a:p>
          <a:p>
            <a:endParaRPr lang="en-US" dirty="0"/>
          </a:p>
          <a:p>
            <a:r>
              <a:rPr lang="en-US" sz="2000" dirty="0"/>
              <a:t>The </a:t>
            </a:r>
            <a:r>
              <a:rPr lang="en-US" sz="2000" dirty="0">
                <a:solidFill>
                  <a:srgbClr val="FF0000"/>
                </a:solidFill>
              </a:rPr>
              <a:t>text-indent</a:t>
            </a:r>
            <a:r>
              <a:rPr lang="en-US" sz="2000" dirty="0"/>
              <a:t> property can be used to indent the first line of a paragraph. </a:t>
            </a:r>
            <a:endParaRPr lang="en-US" dirty="0"/>
          </a:p>
          <a:p>
            <a:pPr lvl="1"/>
            <a:r>
              <a:rPr lang="en-IN" dirty="0">
                <a:solidFill>
                  <a:srgbClr val="00B0F0"/>
                </a:solidFill>
              </a:rPr>
              <a:t>&lt;style type = "text/</a:t>
            </a:r>
            <a:r>
              <a:rPr lang="en-IN" dirty="0" err="1">
                <a:solidFill>
                  <a:srgbClr val="00B0F0"/>
                </a:solidFill>
              </a:rPr>
              <a:t>css</a:t>
            </a:r>
            <a:r>
              <a:rPr lang="en-IN" dirty="0">
                <a:solidFill>
                  <a:srgbClr val="00B0F0"/>
                </a:solidFill>
              </a:rPr>
              <a:t>"&gt;</a:t>
            </a:r>
          </a:p>
          <a:p>
            <a:pPr lvl="1"/>
            <a:r>
              <a:rPr lang="en-IN" dirty="0">
                <a:solidFill>
                  <a:srgbClr val="00B0F0"/>
                </a:solidFill>
              </a:rPr>
              <a:t>  </a:t>
            </a:r>
            <a:r>
              <a:rPr lang="en-IN" dirty="0" err="1">
                <a:solidFill>
                  <a:srgbClr val="00B0F0"/>
                </a:solidFill>
              </a:rPr>
              <a:t>p.indent</a:t>
            </a:r>
            <a:r>
              <a:rPr lang="en-IN" dirty="0">
                <a:solidFill>
                  <a:srgbClr val="00B0F0"/>
                </a:solidFill>
              </a:rPr>
              <a:t> {text-indent: 2em}</a:t>
            </a:r>
          </a:p>
          <a:p>
            <a:pPr lvl="1"/>
            <a:r>
              <a:rPr lang="en-IN" dirty="0">
                <a:solidFill>
                  <a:srgbClr val="00B0F0"/>
                </a:solidFill>
              </a:rPr>
              <a:t> &lt;/style&gt;</a:t>
            </a:r>
          </a:p>
          <a:p>
            <a:pPr lvl="1"/>
            <a:endParaRPr lang="en-IN" dirty="0"/>
          </a:p>
          <a:p>
            <a:pPr algn="just"/>
            <a:r>
              <a:rPr lang="en-US" dirty="0"/>
              <a:t>The </a:t>
            </a:r>
            <a:r>
              <a:rPr lang="en-US" dirty="0">
                <a:solidFill>
                  <a:srgbClr val="FF0000"/>
                </a:solidFill>
              </a:rPr>
              <a:t>text-align</a:t>
            </a:r>
            <a:r>
              <a:rPr lang="en-US" dirty="0"/>
              <a:t> property, for which the most commonly used keyword values are </a:t>
            </a:r>
            <a:r>
              <a:rPr lang="en-US" dirty="0">
                <a:solidFill>
                  <a:srgbClr val="FF0000"/>
                </a:solidFill>
              </a:rPr>
              <a:t>left</a:t>
            </a:r>
            <a:r>
              <a:rPr lang="en-US" dirty="0"/>
              <a:t>, </a:t>
            </a:r>
            <a:r>
              <a:rPr lang="en-US" dirty="0">
                <a:solidFill>
                  <a:srgbClr val="FF0000"/>
                </a:solidFill>
              </a:rPr>
              <a:t>center</a:t>
            </a:r>
            <a:r>
              <a:rPr lang="en-US" dirty="0"/>
              <a:t>, </a:t>
            </a:r>
            <a:r>
              <a:rPr lang="en-US" dirty="0">
                <a:solidFill>
                  <a:srgbClr val="FF0000"/>
                </a:solidFill>
              </a:rPr>
              <a:t>right</a:t>
            </a:r>
            <a:r>
              <a:rPr lang="en-US" dirty="0"/>
              <a:t>, and </a:t>
            </a:r>
            <a:r>
              <a:rPr lang="en-US" dirty="0">
                <a:solidFill>
                  <a:srgbClr val="FF0000"/>
                </a:solidFill>
              </a:rPr>
              <a:t>justify</a:t>
            </a:r>
            <a:r>
              <a:rPr lang="en-US" dirty="0"/>
              <a:t>, is used to arrange text horizontally.</a:t>
            </a:r>
          </a:p>
          <a:p>
            <a:pPr algn="just"/>
            <a:endParaRPr lang="en-US" dirty="0"/>
          </a:p>
          <a:p>
            <a:pPr algn="just"/>
            <a:r>
              <a:rPr lang="en-US" dirty="0"/>
              <a:t>	</a:t>
            </a:r>
            <a:r>
              <a:rPr lang="en-IN" dirty="0">
                <a:solidFill>
                  <a:srgbClr val="00B0F0"/>
                </a:solidFill>
              </a:rPr>
              <a:t>p {text-align: right}</a:t>
            </a:r>
          </a:p>
          <a:p>
            <a:pPr algn="just"/>
            <a:endParaRPr lang="en-IN" dirty="0"/>
          </a:p>
          <a:p>
            <a:pPr algn="just"/>
            <a:r>
              <a:rPr lang="en-US" dirty="0"/>
              <a:t>The </a:t>
            </a:r>
            <a:r>
              <a:rPr lang="en-US" dirty="0">
                <a:solidFill>
                  <a:srgbClr val="FF0000"/>
                </a:solidFill>
              </a:rPr>
              <a:t>float</a:t>
            </a:r>
            <a:r>
              <a:rPr lang="en-US" dirty="0"/>
              <a:t> property is used to specify that text should flow around some element, often an image or a table. The possible values for float are </a:t>
            </a:r>
            <a:r>
              <a:rPr lang="en-US" dirty="0">
                <a:solidFill>
                  <a:srgbClr val="FF0000"/>
                </a:solidFill>
              </a:rPr>
              <a:t>left</a:t>
            </a:r>
            <a:r>
              <a:rPr lang="en-US" dirty="0"/>
              <a:t>, </a:t>
            </a:r>
            <a:r>
              <a:rPr lang="en-US" dirty="0">
                <a:solidFill>
                  <a:srgbClr val="FF0000"/>
                </a:solidFill>
              </a:rPr>
              <a:t>right</a:t>
            </a:r>
            <a:r>
              <a:rPr lang="en-US" dirty="0"/>
              <a:t>, and </a:t>
            </a:r>
            <a:r>
              <a:rPr lang="en-US" dirty="0">
                <a:solidFill>
                  <a:srgbClr val="FF0000"/>
                </a:solidFill>
              </a:rPr>
              <a:t>none</a:t>
            </a:r>
            <a:r>
              <a:rPr lang="en-US" dirty="0"/>
              <a:t>, which is the default.</a:t>
            </a:r>
          </a:p>
          <a:p>
            <a:pPr algn="just"/>
            <a:endParaRPr lang="en-US" dirty="0"/>
          </a:p>
          <a:p>
            <a:pPr algn="just"/>
            <a:r>
              <a:rPr lang="en-US" dirty="0">
                <a:solidFill>
                  <a:srgbClr val="00B0F0"/>
                </a:solidFill>
              </a:rPr>
              <a:t>	 &lt;style type = "text/</a:t>
            </a:r>
            <a:r>
              <a:rPr lang="en-US" dirty="0" err="1">
                <a:solidFill>
                  <a:srgbClr val="00B0F0"/>
                </a:solidFill>
              </a:rPr>
              <a:t>css</a:t>
            </a:r>
            <a:r>
              <a:rPr lang="en-US" dirty="0">
                <a:solidFill>
                  <a:srgbClr val="00B0F0"/>
                </a:solidFill>
              </a:rPr>
              <a:t>"&gt;</a:t>
            </a:r>
          </a:p>
          <a:p>
            <a:pPr algn="just"/>
            <a:r>
              <a:rPr lang="en-US" dirty="0">
                <a:solidFill>
                  <a:srgbClr val="00B0F0"/>
                </a:solidFill>
              </a:rPr>
              <a:t>      		</a:t>
            </a:r>
            <a:r>
              <a:rPr lang="en-US" dirty="0" err="1">
                <a:solidFill>
                  <a:srgbClr val="00B0F0"/>
                </a:solidFill>
              </a:rPr>
              <a:t>img</a:t>
            </a:r>
            <a:r>
              <a:rPr lang="en-US" dirty="0">
                <a:solidFill>
                  <a:srgbClr val="00B0F0"/>
                </a:solidFill>
              </a:rPr>
              <a:t> {float: right;}</a:t>
            </a:r>
          </a:p>
          <a:p>
            <a:pPr algn="just"/>
            <a:r>
              <a:rPr lang="en-US" dirty="0">
                <a:solidFill>
                  <a:srgbClr val="00B0F0"/>
                </a:solidFill>
              </a:rPr>
              <a:t>   	 &lt;/style&gt;</a:t>
            </a:r>
            <a:endParaRPr lang="en-IN" dirty="0">
              <a:solidFill>
                <a:srgbClr val="00B0F0"/>
              </a:solidFill>
            </a:endParaRPr>
          </a:p>
        </p:txBody>
      </p:sp>
    </p:spTree>
    <p:extLst>
      <p:ext uri="{BB962C8B-B14F-4D97-AF65-F5344CB8AC3E}">
        <p14:creationId xmlns:p14="http://schemas.microsoft.com/office/powerpoint/2010/main" val="16310961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6F8A-475B-EB47-A46D-2DAFCACDFD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E03498-3029-8E05-9A4C-6F6C70B83B16}"/>
              </a:ext>
            </a:extLst>
          </p:cNvPr>
          <p:cNvSpPr txBox="1"/>
          <p:nvPr/>
        </p:nvSpPr>
        <p:spPr>
          <a:xfrm>
            <a:off x="493059" y="351234"/>
            <a:ext cx="11205882" cy="5909310"/>
          </a:xfrm>
          <a:prstGeom prst="rect">
            <a:avLst/>
          </a:prstGeom>
          <a:noFill/>
        </p:spPr>
        <p:txBody>
          <a:bodyPr wrap="square" rtlCol="0">
            <a:spAutoFit/>
          </a:bodyPr>
          <a:lstStyle/>
          <a:p>
            <a:r>
              <a:rPr lang="en-IN" sz="2800" dirty="0" err="1"/>
              <a:t>Color</a:t>
            </a:r>
            <a:endParaRPr lang="en-US" dirty="0"/>
          </a:p>
          <a:p>
            <a:endParaRPr lang="en-US" dirty="0"/>
          </a:p>
          <a:p>
            <a:r>
              <a:rPr lang="en-IN" sz="2000" dirty="0"/>
              <a:t>1. </a:t>
            </a:r>
            <a:r>
              <a:rPr lang="en-IN" sz="2000" dirty="0" err="1"/>
              <a:t>Color</a:t>
            </a:r>
            <a:r>
              <a:rPr lang="en-IN" sz="2000" dirty="0"/>
              <a:t> Groups</a:t>
            </a:r>
          </a:p>
          <a:p>
            <a:pPr marL="285750" indent="-285750" algn="just">
              <a:buFont typeface="Arial" panose="020B0604020202020204" pitchFamily="34" charset="0"/>
              <a:buChar char="•"/>
            </a:pPr>
            <a:r>
              <a:rPr lang="en-US" dirty="0"/>
              <a:t>There are three groups of predefined colors that were designed for Web documents</a:t>
            </a:r>
          </a:p>
          <a:p>
            <a:pPr algn="just"/>
            <a:endParaRPr lang="en-US" dirty="0"/>
          </a:p>
          <a:p>
            <a:pPr marL="285750" indent="-285750" algn="just">
              <a:buFont typeface="Arial" panose="020B0604020202020204" pitchFamily="34" charset="0"/>
              <a:buChar char="•"/>
            </a:pPr>
            <a:r>
              <a:rPr lang="en-US" dirty="0"/>
              <a:t>	</a:t>
            </a:r>
            <a:r>
              <a:rPr lang="en-IN" dirty="0"/>
              <a:t>seventeen named </a:t>
            </a:r>
            <a:r>
              <a:rPr lang="en-IN" dirty="0" err="1"/>
              <a:t>colors</a:t>
            </a:r>
            <a:endParaRPr lang="en-IN" dirty="0"/>
          </a:p>
          <a:p>
            <a:pPr marL="285750" indent="-285750" algn="just">
              <a:buFont typeface="Arial" panose="020B0604020202020204" pitchFamily="34" charset="0"/>
              <a:buChar char="•"/>
            </a:pPr>
            <a:r>
              <a:rPr lang="en-IN" dirty="0"/>
              <a:t>	</a:t>
            </a:r>
            <a:r>
              <a:rPr lang="en-US" dirty="0"/>
              <a:t>group of 147 named colors</a:t>
            </a:r>
          </a:p>
          <a:p>
            <a:pPr marL="285750" indent="-285750" algn="just">
              <a:buFont typeface="Arial" panose="020B0604020202020204" pitchFamily="34" charset="0"/>
              <a:buChar char="•"/>
            </a:pPr>
            <a:r>
              <a:rPr lang="en-US" dirty="0"/>
              <a:t>	Web palette (see http://www .web-source.net/216_color_chart.htm), which includes 216 named colors</a:t>
            </a:r>
          </a:p>
          <a:p>
            <a:endParaRPr lang="en-IN" dirty="0"/>
          </a:p>
          <a:p>
            <a:r>
              <a:rPr lang="en-IN" sz="2000" dirty="0"/>
              <a:t>2. </a:t>
            </a:r>
            <a:r>
              <a:rPr lang="en-IN" sz="2000" dirty="0" err="1"/>
              <a:t>Color</a:t>
            </a:r>
            <a:r>
              <a:rPr lang="en-IN" sz="2000" dirty="0"/>
              <a:t> Properties</a:t>
            </a:r>
          </a:p>
          <a:p>
            <a:pPr marL="342900" indent="-342900">
              <a:buFont typeface="Arial" panose="020B0604020202020204" pitchFamily="34" charset="0"/>
              <a:buChar char="•"/>
            </a:pPr>
            <a:r>
              <a:rPr lang="en-US" sz="2000" dirty="0"/>
              <a:t>The </a:t>
            </a:r>
            <a:r>
              <a:rPr lang="en-US" sz="2000" dirty="0">
                <a:solidFill>
                  <a:srgbClr val="FF0000"/>
                </a:solidFill>
              </a:rPr>
              <a:t>color</a:t>
            </a:r>
            <a:r>
              <a:rPr lang="en-US" sz="2000" dirty="0"/>
              <a:t> property is used to specify the foreground color of HTML elements.</a:t>
            </a:r>
          </a:p>
          <a:p>
            <a:pPr lvl="1"/>
            <a:r>
              <a:rPr lang="en-US" dirty="0">
                <a:solidFill>
                  <a:srgbClr val="00B0F0"/>
                </a:solidFill>
              </a:rPr>
              <a:t>&lt;style type = "text/</a:t>
            </a:r>
            <a:r>
              <a:rPr lang="en-US" dirty="0" err="1">
                <a:solidFill>
                  <a:srgbClr val="00B0F0"/>
                </a:solidFill>
              </a:rPr>
              <a:t>css</a:t>
            </a:r>
            <a:r>
              <a:rPr lang="en-US" dirty="0">
                <a:solidFill>
                  <a:srgbClr val="00B0F0"/>
                </a:solidFill>
              </a:rPr>
              <a:t>"&gt;</a:t>
            </a:r>
          </a:p>
          <a:p>
            <a:pPr lvl="1"/>
            <a:r>
              <a:rPr lang="en-US" dirty="0">
                <a:solidFill>
                  <a:srgbClr val="00B0F0"/>
                </a:solidFill>
              </a:rPr>
              <a:t>  	</a:t>
            </a:r>
            <a:r>
              <a:rPr lang="en-US" dirty="0" err="1">
                <a:solidFill>
                  <a:srgbClr val="00B0F0"/>
                </a:solidFill>
              </a:rPr>
              <a:t>th.red</a:t>
            </a:r>
            <a:r>
              <a:rPr lang="en-US" dirty="0">
                <a:solidFill>
                  <a:srgbClr val="00B0F0"/>
                </a:solidFill>
              </a:rPr>
              <a:t> {color: red;}</a:t>
            </a:r>
          </a:p>
          <a:p>
            <a:pPr lvl="1"/>
            <a:r>
              <a:rPr lang="en-US" dirty="0">
                <a:solidFill>
                  <a:srgbClr val="00B0F0"/>
                </a:solidFill>
              </a:rPr>
              <a:t>  	</a:t>
            </a:r>
            <a:r>
              <a:rPr lang="en-US" dirty="0" err="1">
                <a:solidFill>
                  <a:srgbClr val="00B0F0"/>
                </a:solidFill>
              </a:rPr>
              <a:t>th.orange</a:t>
            </a:r>
            <a:r>
              <a:rPr lang="en-US" dirty="0">
                <a:solidFill>
                  <a:srgbClr val="00B0F0"/>
                </a:solidFill>
              </a:rPr>
              <a:t> {color: orange;}</a:t>
            </a:r>
          </a:p>
          <a:p>
            <a:pPr lvl="1"/>
            <a:r>
              <a:rPr lang="en-US" dirty="0">
                <a:solidFill>
                  <a:srgbClr val="00B0F0"/>
                </a:solidFill>
              </a:rPr>
              <a:t> &lt;/style&gt;</a:t>
            </a:r>
          </a:p>
          <a:p>
            <a:pPr marL="342900" indent="-342900">
              <a:buFont typeface="Arial" panose="020B0604020202020204" pitchFamily="34" charset="0"/>
              <a:buChar char="•"/>
            </a:pPr>
            <a:r>
              <a:rPr lang="en-US" sz="2000" dirty="0"/>
              <a:t>The </a:t>
            </a:r>
            <a:r>
              <a:rPr lang="en-US" sz="2000" dirty="0">
                <a:solidFill>
                  <a:srgbClr val="FF0000"/>
                </a:solidFill>
              </a:rPr>
              <a:t>background-color</a:t>
            </a:r>
            <a:r>
              <a:rPr lang="en-US" sz="2000" dirty="0"/>
              <a:t> property is used to set the background color of an element</a:t>
            </a:r>
          </a:p>
          <a:p>
            <a:pPr lvl="1"/>
            <a:r>
              <a:rPr lang="en-IN" dirty="0">
                <a:solidFill>
                  <a:srgbClr val="00B0F0"/>
                </a:solidFill>
              </a:rPr>
              <a:t>&lt;style type = "text/</a:t>
            </a:r>
            <a:r>
              <a:rPr lang="en-IN" dirty="0" err="1">
                <a:solidFill>
                  <a:srgbClr val="00B0F0"/>
                </a:solidFill>
              </a:rPr>
              <a:t>css</a:t>
            </a:r>
            <a:r>
              <a:rPr lang="en-IN" dirty="0">
                <a:solidFill>
                  <a:srgbClr val="00B0F0"/>
                </a:solidFill>
              </a:rPr>
              <a:t>"&gt;</a:t>
            </a:r>
          </a:p>
          <a:p>
            <a:pPr lvl="1"/>
            <a:r>
              <a:rPr lang="en-IN" dirty="0">
                <a:solidFill>
                  <a:srgbClr val="00B0F0"/>
                </a:solidFill>
              </a:rPr>
              <a:t>  </a:t>
            </a:r>
            <a:r>
              <a:rPr lang="en-IN" dirty="0" err="1">
                <a:solidFill>
                  <a:srgbClr val="00B0F0"/>
                </a:solidFill>
              </a:rPr>
              <a:t>p.standout</a:t>
            </a:r>
            <a:r>
              <a:rPr lang="en-IN" dirty="0">
                <a:solidFill>
                  <a:srgbClr val="00B0F0"/>
                </a:solidFill>
              </a:rPr>
              <a:t> {font-size: 2em; </a:t>
            </a:r>
            <a:r>
              <a:rPr lang="en-IN" dirty="0" err="1">
                <a:solidFill>
                  <a:srgbClr val="00B0F0"/>
                </a:solidFill>
              </a:rPr>
              <a:t>color</a:t>
            </a:r>
            <a:r>
              <a:rPr lang="en-IN" dirty="0">
                <a:solidFill>
                  <a:srgbClr val="00B0F0"/>
                </a:solidFill>
              </a:rPr>
              <a:t>: blue; </a:t>
            </a:r>
          </a:p>
          <a:p>
            <a:pPr lvl="1"/>
            <a:r>
              <a:rPr lang="en-IN" dirty="0">
                <a:solidFill>
                  <a:srgbClr val="00B0F0"/>
                </a:solidFill>
              </a:rPr>
              <a:t>              background-</a:t>
            </a:r>
            <a:r>
              <a:rPr lang="en-IN" dirty="0" err="1">
                <a:solidFill>
                  <a:srgbClr val="00B0F0"/>
                </a:solidFill>
              </a:rPr>
              <a:t>color</a:t>
            </a:r>
            <a:r>
              <a:rPr lang="en-IN" dirty="0">
                <a:solidFill>
                  <a:srgbClr val="00B0F0"/>
                </a:solidFill>
              </a:rPr>
              <a:t>: magenta";}</a:t>
            </a:r>
          </a:p>
          <a:p>
            <a:pPr lvl="1"/>
            <a:r>
              <a:rPr lang="en-IN" dirty="0">
                <a:solidFill>
                  <a:srgbClr val="00B0F0"/>
                </a:solidFill>
              </a:rPr>
              <a:t> &lt;/style&gt;</a:t>
            </a:r>
          </a:p>
        </p:txBody>
      </p:sp>
    </p:spTree>
    <p:extLst>
      <p:ext uri="{BB962C8B-B14F-4D97-AF65-F5344CB8AC3E}">
        <p14:creationId xmlns:p14="http://schemas.microsoft.com/office/powerpoint/2010/main" val="164228949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73E83-BFBD-B743-5A74-0C5805F75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D970B5-708B-5369-8D4C-A011134A9B5B}"/>
              </a:ext>
            </a:extLst>
          </p:cNvPr>
          <p:cNvSpPr txBox="1"/>
          <p:nvPr/>
        </p:nvSpPr>
        <p:spPr>
          <a:xfrm>
            <a:off x="484094" y="367553"/>
            <a:ext cx="11205882" cy="2308324"/>
          </a:xfrm>
          <a:prstGeom prst="rect">
            <a:avLst/>
          </a:prstGeom>
          <a:noFill/>
        </p:spPr>
        <p:txBody>
          <a:bodyPr wrap="square" rtlCol="0">
            <a:spAutoFit/>
          </a:bodyPr>
          <a:lstStyle/>
          <a:p>
            <a:r>
              <a:rPr lang="en-IN" sz="2800" dirty="0"/>
              <a:t>The Box Model</a:t>
            </a:r>
            <a:endParaRPr lang="en-US" dirty="0"/>
          </a:p>
          <a:p>
            <a:endParaRPr lang="en-US" dirty="0"/>
          </a:p>
          <a:p>
            <a:pPr marL="342900" indent="-342900" algn="just">
              <a:buFont typeface="Arial" panose="020B0604020202020204" pitchFamily="34" charset="0"/>
              <a:buChar char="•"/>
            </a:pPr>
            <a:r>
              <a:rPr lang="en-US" sz="2000" dirty="0"/>
              <a:t>Virtually all document </a:t>
            </a:r>
            <a:r>
              <a:rPr lang="en-US" sz="2000" dirty="0">
                <a:solidFill>
                  <a:srgbClr val="FF0000"/>
                </a:solidFill>
              </a:rPr>
              <a:t>elements</a:t>
            </a:r>
            <a:r>
              <a:rPr lang="en-US" sz="2000" dirty="0"/>
              <a:t> can have </a:t>
            </a:r>
            <a:r>
              <a:rPr lang="en-US" sz="2000" dirty="0">
                <a:solidFill>
                  <a:srgbClr val="FF0000"/>
                </a:solidFill>
              </a:rPr>
              <a:t>borders</a:t>
            </a:r>
            <a:r>
              <a:rPr lang="en-US" sz="2000" dirty="0"/>
              <a:t> with various styles, such as </a:t>
            </a:r>
            <a:r>
              <a:rPr lang="en-US" sz="2000" dirty="0">
                <a:solidFill>
                  <a:srgbClr val="FF0000"/>
                </a:solidFill>
              </a:rPr>
              <a:t>color</a:t>
            </a:r>
            <a:r>
              <a:rPr lang="en-US" sz="2000" dirty="0"/>
              <a:t> and </a:t>
            </a:r>
            <a:r>
              <a:rPr lang="en-US" sz="2000" dirty="0">
                <a:solidFill>
                  <a:srgbClr val="FF0000"/>
                </a:solidFill>
              </a:rPr>
              <a:t>width</a:t>
            </a:r>
            <a:r>
              <a:rPr lang="en-US" sz="2000" dirty="0"/>
              <a:t>.</a:t>
            </a:r>
          </a:p>
          <a:p>
            <a:pPr marL="342900" indent="-342900" algn="just">
              <a:buFont typeface="Arial" panose="020B0604020202020204" pitchFamily="34" charset="0"/>
              <a:buChar char="•"/>
            </a:pPr>
            <a:r>
              <a:rPr lang="en-US" sz="2000" dirty="0"/>
              <a:t>Furthermore, the amount of space between the content of an element and its border, known as </a:t>
            </a:r>
            <a:r>
              <a:rPr lang="en-US" sz="2000" dirty="0">
                <a:solidFill>
                  <a:srgbClr val="FF0000"/>
                </a:solidFill>
              </a:rPr>
              <a:t>padding</a:t>
            </a:r>
            <a:r>
              <a:rPr lang="en-US" sz="2000" dirty="0"/>
              <a:t>. </a:t>
            </a:r>
          </a:p>
          <a:p>
            <a:pPr marL="342900" indent="-342900" algn="just">
              <a:buFont typeface="Arial" panose="020B0604020202020204" pitchFamily="34" charset="0"/>
              <a:buChar char="•"/>
            </a:pPr>
            <a:r>
              <a:rPr lang="en-US" sz="2000" dirty="0"/>
              <a:t>The space between the </a:t>
            </a:r>
            <a:r>
              <a:rPr lang="en-US" sz="2000" dirty="0">
                <a:solidFill>
                  <a:srgbClr val="FF0000"/>
                </a:solidFill>
              </a:rPr>
              <a:t>border</a:t>
            </a:r>
            <a:r>
              <a:rPr lang="en-US" sz="2000" dirty="0"/>
              <a:t> and an </a:t>
            </a:r>
            <a:r>
              <a:rPr lang="en-US" sz="2000" dirty="0">
                <a:solidFill>
                  <a:srgbClr val="FF0000"/>
                </a:solidFill>
              </a:rPr>
              <a:t>adjacent element</a:t>
            </a:r>
            <a:r>
              <a:rPr lang="en-US" sz="2000" dirty="0"/>
              <a:t>, known as the </a:t>
            </a:r>
            <a:r>
              <a:rPr lang="en-US" sz="2000" dirty="0">
                <a:solidFill>
                  <a:srgbClr val="FF0000"/>
                </a:solidFill>
              </a:rPr>
              <a:t>margin</a:t>
            </a:r>
            <a:r>
              <a:rPr lang="en-US" sz="2000" dirty="0"/>
              <a:t>.</a:t>
            </a:r>
            <a:endParaRPr lang="en-US" dirty="0"/>
          </a:p>
          <a:p>
            <a:endParaRPr lang="en-IN" dirty="0"/>
          </a:p>
        </p:txBody>
      </p:sp>
      <p:pic>
        <p:nvPicPr>
          <p:cNvPr id="4" name="Picture 3">
            <a:extLst>
              <a:ext uri="{FF2B5EF4-FFF2-40B4-BE49-F238E27FC236}">
                <a16:creationId xmlns:a16="http://schemas.microsoft.com/office/drawing/2014/main" id="{0BEA985B-586E-D359-6293-2CB7F15F428E}"/>
              </a:ext>
            </a:extLst>
          </p:cNvPr>
          <p:cNvPicPr>
            <a:picLocks noChangeAspect="1"/>
          </p:cNvPicPr>
          <p:nvPr/>
        </p:nvPicPr>
        <p:blipFill>
          <a:blip r:embed="rId2"/>
          <a:stretch>
            <a:fillRect/>
          </a:stretch>
        </p:blipFill>
        <p:spPr>
          <a:xfrm>
            <a:off x="3384722" y="2545482"/>
            <a:ext cx="3634644" cy="2621844"/>
          </a:xfrm>
          <a:prstGeom prst="rect">
            <a:avLst/>
          </a:prstGeom>
        </p:spPr>
      </p:pic>
    </p:spTree>
    <p:extLst>
      <p:ext uri="{BB962C8B-B14F-4D97-AF65-F5344CB8AC3E}">
        <p14:creationId xmlns:p14="http://schemas.microsoft.com/office/powerpoint/2010/main" val="11782576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174A0-FD57-AA90-AED7-4B118E3BC7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4FAEF8-A27B-8303-377B-62CBB8447C7E}"/>
              </a:ext>
            </a:extLst>
          </p:cNvPr>
          <p:cNvSpPr txBox="1"/>
          <p:nvPr/>
        </p:nvSpPr>
        <p:spPr>
          <a:xfrm>
            <a:off x="484094" y="367553"/>
            <a:ext cx="11205882" cy="6001643"/>
          </a:xfrm>
          <a:prstGeom prst="rect">
            <a:avLst/>
          </a:prstGeom>
          <a:noFill/>
        </p:spPr>
        <p:txBody>
          <a:bodyPr wrap="square" rtlCol="0">
            <a:spAutoFit/>
          </a:bodyPr>
          <a:lstStyle/>
          <a:p>
            <a:r>
              <a:rPr lang="en-IN" sz="2800" dirty="0"/>
              <a:t>1 Borders</a:t>
            </a:r>
            <a:endParaRPr lang="en-US" dirty="0"/>
          </a:p>
          <a:p>
            <a:endParaRPr lang="en-US" dirty="0"/>
          </a:p>
          <a:p>
            <a:pPr marL="342900" indent="-342900" algn="just">
              <a:buFont typeface="Arial" panose="020B0604020202020204" pitchFamily="34" charset="0"/>
              <a:buChar char="•"/>
            </a:pPr>
            <a:r>
              <a:rPr lang="en-US" sz="2000" dirty="0"/>
              <a:t>Every element has a property, border-style, that controls whether the element’s content has a border, and also specifies the style of the border.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CSS provides several different border styles, among them </a:t>
            </a:r>
            <a:r>
              <a:rPr lang="en-US" sz="2000" dirty="0">
                <a:solidFill>
                  <a:srgbClr val="FF0000"/>
                </a:solidFill>
              </a:rPr>
              <a:t>dotted</a:t>
            </a:r>
            <a:r>
              <a:rPr lang="en-US" sz="2000" dirty="0"/>
              <a:t>, </a:t>
            </a:r>
            <a:r>
              <a:rPr lang="en-US" sz="2000" dirty="0">
                <a:solidFill>
                  <a:srgbClr val="FF0000"/>
                </a:solidFill>
              </a:rPr>
              <a:t>dashed</a:t>
            </a:r>
            <a:r>
              <a:rPr lang="en-US" sz="2000" dirty="0"/>
              <a:t>, </a:t>
            </a:r>
            <a:r>
              <a:rPr lang="en-US" sz="2000" dirty="0">
                <a:solidFill>
                  <a:srgbClr val="FF0000"/>
                </a:solidFill>
              </a:rPr>
              <a:t>solid</a:t>
            </a:r>
            <a:r>
              <a:rPr lang="en-US" sz="2000" dirty="0"/>
              <a:t>, and </a:t>
            </a:r>
            <a:r>
              <a:rPr lang="en-US" sz="2000" dirty="0">
                <a:solidFill>
                  <a:srgbClr val="FF0000"/>
                </a:solidFill>
              </a:rPr>
              <a:t>double, </a:t>
            </a:r>
            <a:r>
              <a:rPr lang="en-US" sz="2000" dirty="0"/>
              <a:t>none.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styles of one particular side of an element can be set with </a:t>
            </a:r>
            <a:r>
              <a:rPr lang="en-US" sz="2000" dirty="0">
                <a:solidFill>
                  <a:srgbClr val="FF0000"/>
                </a:solidFill>
              </a:rPr>
              <a:t>border-top-style</a:t>
            </a:r>
            <a:r>
              <a:rPr lang="en-US" sz="2000" dirty="0"/>
              <a:t>, </a:t>
            </a:r>
            <a:r>
              <a:rPr lang="en-US" sz="2000" dirty="0">
                <a:solidFill>
                  <a:srgbClr val="FF0000"/>
                </a:solidFill>
              </a:rPr>
              <a:t>border-bottom-style</a:t>
            </a:r>
            <a:r>
              <a:rPr lang="en-US" sz="2000" dirty="0"/>
              <a:t>, </a:t>
            </a:r>
            <a:r>
              <a:rPr lang="en-US" sz="2000" dirty="0">
                <a:solidFill>
                  <a:srgbClr val="FF0000"/>
                </a:solidFill>
              </a:rPr>
              <a:t>border-left-style</a:t>
            </a:r>
            <a:r>
              <a:rPr lang="en-US" sz="2000" dirty="0"/>
              <a:t>, or </a:t>
            </a:r>
            <a:r>
              <a:rPr lang="en-US" sz="2000" dirty="0">
                <a:solidFill>
                  <a:srgbClr val="FF0000"/>
                </a:solidFill>
              </a:rPr>
              <a:t>border-right-style</a:t>
            </a:r>
            <a:r>
              <a:rPr lang="en-US" sz="2000" dirty="0"/>
              <a:t>.</a:t>
            </a:r>
          </a:p>
          <a:p>
            <a:pPr marL="285750" indent="-285750">
              <a:buFont typeface="Arial" panose="020B0604020202020204" pitchFamily="34" charset="0"/>
              <a:buChar char="•"/>
            </a:pPr>
            <a:endParaRPr lang="en-IN" dirty="0"/>
          </a:p>
          <a:p>
            <a:pPr marL="342900" indent="-342900">
              <a:buFont typeface="Arial" panose="020B0604020202020204" pitchFamily="34" charset="0"/>
              <a:buChar char="•"/>
            </a:pPr>
            <a:r>
              <a:rPr lang="en-US" sz="2000" dirty="0"/>
              <a:t>The </a:t>
            </a:r>
            <a:r>
              <a:rPr lang="en-US" sz="2000" dirty="0">
                <a:solidFill>
                  <a:srgbClr val="FF0000"/>
                </a:solidFill>
              </a:rPr>
              <a:t>border-width</a:t>
            </a:r>
            <a:r>
              <a:rPr lang="en-US" sz="2000" dirty="0"/>
              <a:t> property is used to specify the thickness of a border - </a:t>
            </a:r>
            <a:r>
              <a:rPr lang="en-US" sz="2000" dirty="0">
                <a:solidFill>
                  <a:srgbClr val="FF0000"/>
                </a:solidFill>
              </a:rPr>
              <a:t>thin</a:t>
            </a:r>
            <a:r>
              <a:rPr lang="en-US" sz="2000" dirty="0"/>
              <a:t>, </a:t>
            </a:r>
            <a:r>
              <a:rPr lang="en-US" sz="2000" dirty="0">
                <a:solidFill>
                  <a:srgbClr val="FF0000"/>
                </a:solidFill>
              </a:rPr>
              <a:t>medium</a:t>
            </a:r>
            <a:r>
              <a:rPr lang="en-US" sz="2000" dirty="0"/>
              <a:t> (the default), </a:t>
            </a:r>
            <a:r>
              <a:rPr lang="en-US" sz="2000" dirty="0">
                <a:solidFill>
                  <a:srgbClr val="FF0000"/>
                </a:solidFill>
              </a:rPr>
              <a:t>thick </a:t>
            </a:r>
            <a:r>
              <a:rPr lang="en-US" sz="2000" dirty="0"/>
              <a:t>or</a:t>
            </a:r>
            <a:r>
              <a:rPr lang="en-US" sz="2000" dirty="0">
                <a:solidFill>
                  <a:srgbClr val="FF0000"/>
                </a:solidFill>
              </a:rPr>
              <a:t> </a:t>
            </a:r>
            <a:r>
              <a:rPr lang="en-US" sz="2000" dirty="0" err="1">
                <a:solidFill>
                  <a:srgbClr val="FF0000"/>
                </a:solidFill>
              </a:rPr>
              <a:t>px</a:t>
            </a:r>
            <a:endParaRPr lang="en-US" sz="2000" dirty="0">
              <a:solidFill>
                <a:srgbClr val="FF0000"/>
              </a:solidFill>
            </a:endParaRP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color of a border is controlled by the </a:t>
            </a:r>
            <a:r>
              <a:rPr lang="en-US" sz="2000" i="1" dirty="0">
                <a:solidFill>
                  <a:srgbClr val="FF0000"/>
                </a:solidFill>
              </a:rPr>
              <a:t>border-color</a:t>
            </a:r>
            <a:r>
              <a:rPr lang="en-US" sz="2000" dirty="0"/>
              <a:t> property.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i="1" dirty="0">
                <a:solidFill>
                  <a:srgbClr val="FF0000"/>
                </a:solidFill>
              </a:rPr>
              <a:t>border-top-color</a:t>
            </a:r>
            <a:r>
              <a:rPr lang="en-US" sz="2000" dirty="0"/>
              <a:t>, </a:t>
            </a:r>
            <a:r>
              <a:rPr lang="en-US" sz="2000" i="1" dirty="0">
                <a:solidFill>
                  <a:srgbClr val="FF0000"/>
                </a:solidFill>
              </a:rPr>
              <a:t>border-bottom-color</a:t>
            </a:r>
            <a:r>
              <a:rPr lang="en-US" sz="2000" dirty="0"/>
              <a:t>, </a:t>
            </a:r>
            <a:r>
              <a:rPr lang="en-US" sz="2000" i="1" dirty="0">
                <a:solidFill>
                  <a:srgbClr val="FF0000"/>
                </a:solidFill>
              </a:rPr>
              <a:t>border-left-color</a:t>
            </a:r>
            <a:r>
              <a:rPr lang="en-US" sz="2000" dirty="0"/>
              <a:t>, or </a:t>
            </a:r>
            <a:r>
              <a:rPr lang="en-US" sz="2000" i="1" dirty="0">
                <a:solidFill>
                  <a:srgbClr val="FF0000"/>
                </a:solidFill>
              </a:rPr>
              <a:t>border-right-color</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There is a shorthand for setting the style properties of all four borders of an element, </a:t>
            </a:r>
            <a:r>
              <a:rPr lang="en-US" sz="2000" dirty="0">
                <a:solidFill>
                  <a:srgbClr val="FF0000"/>
                </a:solidFill>
              </a:rPr>
              <a:t>border</a:t>
            </a:r>
            <a:r>
              <a:rPr lang="en-US" sz="2000" dirty="0"/>
              <a:t>.</a:t>
            </a:r>
          </a:p>
          <a:p>
            <a:r>
              <a:rPr lang="en-US" sz="2000" dirty="0"/>
              <a:t>	</a:t>
            </a:r>
            <a:r>
              <a:rPr lang="en-IN" sz="2000" dirty="0">
                <a:solidFill>
                  <a:srgbClr val="00B0F0"/>
                </a:solidFill>
              </a:rPr>
              <a:t>border: 5px solid blue; </a:t>
            </a:r>
            <a:r>
              <a:rPr lang="en-IN" sz="2000" dirty="0"/>
              <a:t>or </a:t>
            </a:r>
            <a:r>
              <a:rPr lang="en-IN" sz="2000" dirty="0" err="1">
                <a:solidFill>
                  <a:srgbClr val="00B0F0"/>
                </a:solidFill>
              </a:rPr>
              <a:t>border_width</a:t>
            </a:r>
            <a:r>
              <a:rPr lang="en-IN" sz="2000" dirty="0">
                <a:solidFill>
                  <a:srgbClr val="00B0F0"/>
                </a:solidFill>
              </a:rPr>
              <a:t>: 5px; border-style: solid; border-</a:t>
            </a:r>
            <a:r>
              <a:rPr lang="en-IN" sz="2000" dirty="0" err="1">
                <a:solidFill>
                  <a:srgbClr val="00B0F0"/>
                </a:solidFill>
              </a:rPr>
              <a:t>color</a:t>
            </a:r>
            <a:r>
              <a:rPr lang="en-IN" sz="2000" dirty="0">
                <a:solidFill>
                  <a:srgbClr val="00B0F0"/>
                </a:solidFill>
              </a:rPr>
              <a:t>: blue;</a:t>
            </a:r>
          </a:p>
        </p:txBody>
      </p:sp>
    </p:spTree>
    <p:extLst>
      <p:ext uri="{BB962C8B-B14F-4D97-AF65-F5344CB8AC3E}">
        <p14:creationId xmlns:p14="http://schemas.microsoft.com/office/powerpoint/2010/main" val="294211431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C45E3-0972-FE96-0939-1613512574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FD5EE8-0DC6-8FB1-B1B4-F63ED4A2E9A2}"/>
              </a:ext>
            </a:extLst>
          </p:cNvPr>
          <p:cNvSpPr txBox="1"/>
          <p:nvPr/>
        </p:nvSpPr>
        <p:spPr>
          <a:xfrm>
            <a:off x="484094" y="367553"/>
            <a:ext cx="11205882" cy="2923877"/>
          </a:xfrm>
          <a:prstGeom prst="rect">
            <a:avLst/>
          </a:prstGeom>
          <a:noFill/>
        </p:spPr>
        <p:txBody>
          <a:bodyPr wrap="square" rtlCol="0">
            <a:spAutoFit/>
          </a:bodyPr>
          <a:lstStyle/>
          <a:p>
            <a:r>
              <a:rPr lang="en-US" sz="2800" dirty="0"/>
              <a:t>Borders continued…</a:t>
            </a:r>
            <a:endParaRPr lang="en-US" dirty="0"/>
          </a:p>
          <a:p>
            <a:endParaRPr lang="en-US" dirty="0"/>
          </a:p>
          <a:p>
            <a:pPr marL="342900" indent="-342900">
              <a:buFont typeface="Arial" panose="020B0604020202020204" pitchFamily="34" charset="0"/>
              <a:buChar char="•"/>
            </a:pPr>
            <a:r>
              <a:rPr lang="en-US" sz="2000" dirty="0"/>
              <a:t>The cells of a table can have borders, like any other element. We could specify borders on the cells with the following:</a:t>
            </a:r>
          </a:p>
          <a:p>
            <a:endParaRPr lang="en-US" sz="2000" dirty="0"/>
          </a:p>
          <a:p>
            <a:r>
              <a:rPr lang="en-US" sz="2000" dirty="0"/>
              <a:t>	</a:t>
            </a:r>
            <a:r>
              <a:rPr lang="en-US" sz="2000" dirty="0">
                <a:solidFill>
                  <a:srgbClr val="00B0F0"/>
                </a:solidFill>
              </a:rPr>
              <a:t>td, </a:t>
            </a:r>
            <a:r>
              <a:rPr lang="en-US" sz="2000" dirty="0" err="1">
                <a:solidFill>
                  <a:srgbClr val="00B0F0"/>
                </a:solidFill>
              </a:rPr>
              <a:t>th</a:t>
            </a:r>
            <a:r>
              <a:rPr lang="en-US" sz="2000" dirty="0">
                <a:solidFill>
                  <a:srgbClr val="00B0F0"/>
                </a:solidFill>
              </a:rPr>
              <a:t> {border: thin solid black;}</a:t>
            </a:r>
          </a:p>
          <a:p>
            <a:endParaRPr lang="en-US" sz="2000" dirty="0"/>
          </a:p>
          <a:p>
            <a:pPr marL="342900" indent="-342900">
              <a:buFont typeface="Arial" panose="020B0604020202020204" pitchFamily="34" charset="0"/>
              <a:buChar char="•"/>
            </a:pPr>
            <a:r>
              <a:rPr lang="en-US" sz="2000" dirty="0"/>
              <a:t>To get just one border between table cells, we set the table property </a:t>
            </a:r>
            <a:r>
              <a:rPr lang="en-US" sz="2000" dirty="0">
                <a:solidFill>
                  <a:srgbClr val="FF0000"/>
                </a:solidFill>
              </a:rPr>
              <a:t>border-collapse</a:t>
            </a:r>
            <a:r>
              <a:rPr lang="en-US" sz="2000" dirty="0"/>
              <a:t> to </a:t>
            </a:r>
            <a:r>
              <a:rPr lang="en-US" sz="2000" dirty="0">
                <a:solidFill>
                  <a:srgbClr val="FF0000"/>
                </a:solidFill>
              </a:rPr>
              <a:t>collapse</a:t>
            </a:r>
          </a:p>
          <a:p>
            <a:endParaRPr lang="en-IN" dirty="0"/>
          </a:p>
        </p:txBody>
      </p:sp>
      <p:pic>
        <p:nvPicPr>
          <p:cNvPr id="4" name="Picture 3">
            <a:extLst>
              <a:ext uri="{FF2B5EF4-FFF2-40B4-BE49-F238E27FC236}">
                <a16:creationId xmlns:a16="http://schemas.microsoft.com/office/drawing/2014/main" id="{3C0D2CE3-DF24-1330-E8DF-513FE3EE13BC}"/>
              </a:ext>
            </a:extLst>
          </p:cNvPr>
          <p:cNvPicPr>
            <a:picLocks noChangeAspect="1"/>
          </p:cNvPicPr>
          <p:nvPr/>
        </p:nvPicPr>
        <p:blipFill>
          <a:blip r:embed="rId2"/>
          <a:stretch>
            <a:fillRect/>
          </a:stretch>
        </p:blipFill>
        <p:spPr>
          <a:xfrm>
            <a:off x="2016739" y="3291430"/>
            <a:ext cx="4003532" cy="2685703"/>
          </a:xfrm>
          <a:prstGeom prst="rect">
            <a:avLst/>
          </a:prstGeom>
        </p:spPr>
      </p:pic>
    </p:spTree>
    <p:extLst>
      <p:ext uri="{BB962C8B-B14F-4D97-AF65-F5344CB8AC3E}">
        <p14:creationId xmlns:p14="http://schemas.microsoft.com/office/powerpoint/2010/main" val="32150402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854B4-66CD-7335-AB59-D98EF524FC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73C3A1-7CB8-4ABB-BF89-7A61D1FFB027}"/>
              </a:ext>
            </a:extLst>
          </p:cNvPr>
          <p:cNvSpPr txBox="1"/>
          <p:nvPr/>
        </p:nvSpPr>
        <p:spPr>
          <a:xfrm>
            <a:off x="484094" y="367553"/>
            <a:ext cx="11205882" cy="6124754"/>
          </a:xfrm>
          <a:prstGeom prst="rect">
            <a:avLst/>
          </a:prstGeom>
          <a:noFill/>
        </p:spPr>
        <p:txBody>
          <a:bodyPr wrap="square" rtlCol="0">
            <a:spAutoFit/>
          </a:bodyPr>
          <a:lstStyle/>
          <a:p>
            <a:r>
              <a:rPr lang="en-IN" sz="2800" dirty="0"/>
              <a:t>2 Margins and Padding</a:t>
            </a:r>
            <a:endParaRPr lang="en-US" dirty="0"/>
          </a:p>
          <a:p>
            <a:pPr marL="342900" indent="-342900">
              <a:buFont typeface="Arial" panose="020B0604020202020204" pitchFamily="34" charset="0"/>
              <a:buChar char="•"/>
            </a:pPr>
            <a:r>
              <a:rPr lang="en-US" sz="2000" dirty="0"/>
              <a:t>The margin properties are named </a:t>
            </a:r>
            <a:r>
              <a:rPr lang="en-US" sz="2000" i="1" dirty="0">
                <a:solidFill>
                  <a:srgbClr val="FF0000"/>
                </a:solidFill>
              </a:rPr>
              <a:t>margin</a:t>
            </a:r>
            <a:r>
              <a:rPr lang="en-US" sz="2000" dirty="0"/>
              <a:t>, which applies to all four sides of an element, </a:t>
            </a:r>
            <a:r>
              <a:rPr lang="en-US" sz="2000" i="1" dirty="0">
                <a:solidFill>
                  <a:srgbClr val="FF0000"/>
                </a:solidFill>
              </a:rPr>
              <a:t>margin-left</a:t>
            </a:r>
            <a:r>
              <a:rPr lang="en-US" sz="2000" dirty="0"/>
              <a:t>, </a:t>
            </a:r>
            <a:r>
              <a:rPr lang="en-US" sz="2000" i="1" dirty="0">
                <a:solidFill>
                  <a:srgbClr val="FF0000"/>
                </a:solidFill>
              </a:rPr>
              <a:t>margin-right</a:t>
            </a:r>
            <a:r>
              <a:rPr lang="en-US" sz="2000" dirty="0"/>
              <a:t>, </a:t>
            </a:r>
            <a:r>
              <a:rPr lang="en-US" sz="2000" i="1" dirty="0">
                <a:solidFill>
                  <a:srgbClr val="FF0000"/>
                </a:solidFill>
              </a:rPr>
              <a:t>margin-top</a:t>
            </a:r>
            <a:r>
              <a:rPr lang="en-US" sz="2000" dirty="0"/>
              <a:t>, and </a:t>
            </a:r>
            <a:r>
              <a:rPr lang="en-US" sz="2000" i="1" dirty="0">
                <a:solidFill>
                  <a:srgbClr val="FF0000"/>
                </a:solidFill>
              </a:rPr>
              <a:t>margin-bottom</a:t>
            </a: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padding properties are named </a:t>
            </a:r>
            <a:r>
              <a:rPr lang="en-US" sz="2000" i="1" dirty="0">
                <a:solidFill>
                  <a:srgbClr val="FF0000"/>
                </a:solidFill>
              </a:rPr>
              <a:t>padding</a:t>
            </a:r>
            <a:r>
              <a:rPr lang="en-US" sz="2000" dirty="0"/>
              <a:t>, which applies to all four sides, </a:t>
            </a:r>
            <a:r>
              <a:rPr lang="en-US" sz="2000" i="1" dirty="0">
                <a:solidFill>
                  <a:srgbClr val="FF0000"/>
                </a:solidFill>
              </a:rPr>
              <a:t>padding-left</a:t>
            </a:r>
            <a:r>
              <a:rPr lang="en-US" sz="2000" dirty="0"/>
              <a:t>, </a:t>
            </a:r>
            <a:r>
              <a:rPr lang="en-US" sz="2000" i="1" dirty="0">
                <a:solidFill>
                  <a:srgbClr val="FF0000"/>
                </a:solidFill>
              </a:rPr>
              <a:t>padding-right</a:t>
            </a:r>
            <a:r>
              <a:rPr lang="en-US" sz="2000" dirty="0"/>
              <a:t>, </a:t>
            </a:r>
            <a:r>
              <a:rPr lang="en-US" sz="2000" i="1" dirty="0">
                <a:solidFill>
                  <a:srgbClr val="FF0000"/>
                </a:solidFill>
              </a:rPr>
              <a:t>padding-top</a:t>
            </a:r>
            <a:r>
              <a:rPr lang="en-US" sz="2000" dirty="0"/>
              <a:t>, and </a:t>
            </a:r>
            <a:r>
              <a:rPr lang="en-US" sz="2000" i="1" dirty="0">
                <a:solidFill>
                  <a:srgbClr val="FF0000"/>
                </a:solidFill>
              </a:rPr>
              <a:t>padding-bottom</a:t>
            </a:r>
            <a:r>
              <a:rPr lang="en-US" sz="2000" dirty="0"/>
              <a:t>. </a:t>
            </a:r>
            <a:endParaRPr lang="en-US" dirty="0"/>
          </a:p>
          <a:p>
            <a:r>
              <a:rPr lang="en-IN" sz="1200" dirty="0"/>
              <a:t> &lt;style type = "text/</a:t>
            </a:r>
            <a:r>
              <a:rPr lang="en-IN" sz="1200" dirty="0" err="1"/>
              <a:t>css</a:t>
            </a:r>
            <a:r>
              <a:rPr lang="en-IN" sz="1200" dirty="0"/>
              <a:t>"&gt;</a:t>
            </a:r>
          </a:p>
          <a:p>
            <a:r>
              <a:rPr lang="en-IN" sz="1200" dirty="0"/>
              <a:t>      p.one   {margin: 15px;</a:t>
            </a:r>
          </a:p>
          <a:p>
            <a:r>
              <a:rPr lang="en-IN" sz="1200" dirty="0"/>
              <a:t>               padding: 15px;</a:t>
            </a:r>
          </a:p>
          <a:p>
            <a:r>
              <a:rPr lang="en-IN" sz="1200" dirty="0"/>
              <a:t>               background-</a:t>
            </a:r>
            <a:r>
              <a:rPr lang="en-IN" sz="1200" dirty="0" err="1"/>
              <a:t>color</a:t>
            </a:r>
            <a:r>
              <a:rPr lang="en-IN" sz="1200" dirty="0"/>
              <a:t>: #C0C0C0;</a:t>
            </a:r>
          </a:p>
          <a:p>
            <a:r>
              <a:rPr lang="en-IN" sz="1200" dirty="0"/>
              <a:t>               border-style: solid;</a:t>
            </a:r>
          </a:p>
          <a:p>
            <a:r>
              <a:rPr lang="en-IN" sz="1200" dirty="0"/>
              <a:t>              }</a:t>
            </a:r>
          </a:p>
          <a:p>
            <a:r>
              <a:rPr lang="en-IN" sz="1200" dirty="0"/>
              <a:t>      </a:t>
            </a:r>
            <a:r>
              <a:rPr lang="en-IN" sz="1200" dirty="0" err="1"/>
              <a:t>p.two</a:t>
            </a:r>
            <a:r>
              <a:rPr lang="en-IN" sz="1200" dirty="0"/>
              <a:t>   {margin: 5px;</a:t>
            </a:r>
          </a:p>
          <a:p>
            <a:r>
              <a:rPr lang="en-IN" sz="1200" dirty="0"/>
              <a:t>               padding: 25px;</a:t>
            </a:r>
          </a:p>
          <a:p>
            <a:r>
              <a:rPr lang="en-IN" sz="1200" dirty="0"/>
              <a:t>               background-</a:t>
            </a:r>
            <a:r>
              <a:rPr lang="en-IN" sz="1200" dirty="0" err="1"/>
              <a:t>color</a:t>
            </a:r>
            <a:r>
              <a:rPr lang="en-IN" sz="1200" dirty="0"/>
              <a:t>: #C0C0C0;</a:t>
            </a:r>
          </a:p>
          <a:p>
            <a:r>
              <a:rPr lang="en-IN" sz="1200" dirty="0"/>
              <a:t>               border-style: solid;</a:t>
            </a:r>
          </a:p>
          <a:p>
            <a:r>
              <a:rPr lang="en-IN" sz="1200" dirty="0"/>
              <a:t>              }</a:t>
            </a:r>
          </a:p>
          <a:p>
            <a:r>
              <a:rPr lang="en-IN" sz="1200" dirty="0"/>
              <a:t>      </a:t>
            </a:r>
            <a:r>
              <a:rPr lang="en-IN" sz="1200" dirty="0" err="1"/>
              <a:t>p.three</a:t>
            </a:r>
            <a:r>
              <a:rPr lang="en-IN" sz="1200" dirty="0"/>
              <a:t> {margin: 25px;</a:t>
            </a:r>
          </a:p>
          <a:p>
            <a:r>
              <a:rPr lang="en-IN" sz="1200" dirty="0"/>
              <a:t>               padding: 5px;</a:t>
            </a:r>
          </a:p>
          <a:p>
            <a:r>
              <a:rPr lang="en-IN" sz="1200" dirty="0"/>
              <a:t>               background-</a:t>
            </a:r>
            <a:r>
              <a:rPr lang="en-IN" sz="1200" dirty="0" err="1"/>
              <a:t>color</a:t>
            </a:r>
            <a:r>
              <a:rPr lang="en-IN" sz="1200" dirty="0"/>
              <a:t>: #C0C0C0;</a:t>
            </a:r>
          </a:p>
          <a:p>
            <a:r>
              <a:rPr lang="en-IN" sz="1200" dirty="0"/>
              <a:t>               border-style: solid;</a:t>
            </a:r>
          </a:p>
          <a:p>
            <a:r>
              <a:rPr lang="en-IN" sz="1200" dirty="0"/>
              <a:t>              }</a:t>
            </a:r>
          </a:p>
          <a:p>
            <a:r>
              <a:rPr lang="en-IN" sz="1200" dirty="0"/>
              <a:t>      </a:t>
            </a:r>
            <a:r>
              <a:rPr lang="en-IN" sz="1200" dirty="0" err="1"/>
              <a:t>p.four</a:t>
            </a:r>
            <a:r>
              <a:rPr lang="en-IN" sz="1200" dirty="0"/>
              <a:t>  {margin: 25px;</a:t>
            </a:r>
          </a:p>
          <a:p>
            <a:r>
              <a:rPr lang="en-IN" sz="1200" dirty="0"/>
              <a:t>               background-</a:t>
            </a:r>
            <a:r>
              <a:rPr lang="en-IN" sz="1200" dirty="0" err="1"/>
              <a:t>color</a:t>
            </a:r>
            <a:r>
              <a:rPr lang="en-IN" sz="1200" dirty="0"/>
              <a:t>: #C0C0C0;}</a:t>
            </a:r>
          </a:p>
          <a:p>
            <a:r>
              <a:rPr lang="en-US" sz="1200" dirty="0"/>
              <a:t> </a:t>
            </a:r>
            <a:r>
              <a:rPr lang="en-US" sz="1200" dirty="0" err="1"/>
              <a:t>p.five</a:t>
            </a:r>
            <a:r>
              <a:rPr lang="en-US" sz="1200" dirty="0"/>
              <a:t>  {padding: 25px;</a:t>
            </a:r>
          </a:p>
          <a:p>
            <a:r>
              <a:rPr lang="en-US" sz="1200" dirty="0"/>
              <a:t>               background-color: #C0C0C0;</a:t>
            </a:r>
          </a:p>
          <a:p>
            <a:r>
              <a:rPr lang="en-US" sz="1200" dirty="0"/>
              <a:t>              }</a:t>
            </a:r>
          </a:p>
          <a:p>
            <a:r>
              <a:rPr lang="en-US" sz="1200" dirty="0"/>
              <a:t>    &lt;/style&gt;</a:t>
            </a:r>
            <a:endParaRPr lang="en-IN" sz="1100" dirty="0"/>
          </a:p>
        </p:txBody>
      </p:sp>
      <p:pic>
        <p:nvPicPr>
          <p:cNvPr id="4" name="Picture 3">
            <a:extLst>
              <a:ext uri="{FF2B5EF4-FFF2-40B4-BE49-F238E27FC236}">
                <a16:creationId xmlns:a16="http://schemas.microsoft.com/office/drawing/2014/main" id="{CAABB778-518B-6597-2EBE-7675749154BC}"/>
              </a:ext>
            </a:extLst>
          </p:cNvPr>
          <p:cNvPicPr>
            <a:picLocks noChangeAspect="1"/>
          </p:cNvPicPr>
          <p:nvPr/>
        </p:nvPicPr>
        <p:blipFill>
          <a:blip r:embed="rId2"/>
          <a:stretch>
            <a:fillRect/>
          </a:stretch>
        </p:blipFill>
        <p:spPr>
          <a:xfrm>
            <a:off x="5788600" y="2070847"/>
            <a:ext cx="3920176" cy="4330091"/>
          </a:xfrm>
          <a:prstGeom prst="rect">
            <a:avLst/>
          </a:prstGeom>
        </p:spPr>
      </p:pic>
    </p:spTree>
    <p:extLst>
      <p:ext uri="{BB962C8B-B14F-4D97-AF65-F5344CB8AC3E}">
        <p14:creationId xmlns:p14="http://schemas.microsoft.com/office/powerpoint/2010/main" val="75148989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2861CF-E356-783E-1F8D-C6D94EE804C0}"/>
              </a:ext>
            </a:extLst>
          </p:cNvPr>
          <p:cNvSpPr txBox="1"/>
          <p:nvPr/>
        </p:nvSpPr>
        <p:spPr>
          <a:xfrm>
            <a:off x="528918" y="421341"/>
            <a:ext cx="11143129" cy="5693866"/>
          </a:xfrm>
          <a:prstGeom prst="rect">
            <a:avLst/>
          </a:prstGeom>
          <a:noFill/>
        </p:spPr>
        <p:txBody>
          <a:bodyPr wrap="square" rtlCol="0">
            <a:spAutoFit/>
          </a:bodyPr>
          <a:lstStyle/>
          <a:p>
            <a:r>
              <a:rPr lang="en-IN" sz="2400" dirty="0"/>
              <a:t>Background Images</a:t>
            </a:r>
            <a:endParaRPr lang="en-US" sz="2400" dirty="0"/>
          </a:p>
          <a:p>
            <a:endParaRPr lang="en-US" sz="2000" dirty="0"/>
          </a:p>
          <a:p>
            <a:pPr marL="342900" indent="-342900">
              <a:buFont typeface="Arial" panose="020B0604020202020204" pitchFamily="34" charset="0"/>
              <a:buChar char="•"/>
            </a:pPr>
            <a:r>
              <a:rPr lang="en-US" sz="2000" dirty="0"/>
              <a:t>The background-image property is used to place an image in the background of an element.</a:t>
            </a:r>
          </a:p>
          <a:p>
            <a:endParaRPr lang="en-US" sz="2000" dirty="0"/>
          </a:p>
          <a:p>
            <a:pPr lvl="2"/>
            <a:r>
              <a:rPr lang="en-US" sz="2000" dirty="0">
                <a:solidFill>
                  <a:srgbClr val="00B0F0"/>
                </a:solidFill>
              </a:rPr>
              <a:t>&lt;head&gt; </a:t>
            </a:r>
          </a:p>
          <a:p>
            <a:pPr lvl="2"/>
            <a:r>
              <a:rPr lang="en-US" sz="2000" dirty="0">
                <a:solidFill>
                  <a:srgbClr val="00B0F0"/>
                </a:solidFill>
              </a:rPr>
              <a:t>	&lt;title&gt; Background images &lt;/title&gt;</a:t>
            </a:r>
          </a:p>
          <a:p>
            <a:pPr lvl="2"/>
            <a:r>
              <a:rPr lang="en-US" sz="2000" dirty="0">
                <a:solidFill>
                  <a:srgbClr val="00B0F0"/>
                </a:solidFill>
              </a:rPr>
              <a:t>	&lt;meta charset = "utf-8" /&gt;</a:t>
            </a:r>
          </a:p>
          <a:p>
            <a:pPr lvl="2"/>
            <a:r>
              <a:rPr lang="en-US" sz="2000" dirty="0">
                <a:solidFill>
                  <a:srgbClr val="00B0F0"/>
                </a:solidFill>
              </a:rPr>
              <a:t>	&lt;style type = "text/</a:t>
            </a:r>
            <a:r>
              <a:rPr lang="en-US" sz="2000" dirty="0" err="1">
                <a:solidFill>
                  <a:srgbClr val="00B0F0"/>
                </a:solidFill>
              </a:rPr>
              <a:t>css</a:t>
            </a:r>
            <a:r>
              <a:rPr lang="en-US" sz="2000" dirty="0">
                <a:solidFill>
                  <a:srgbClr val="00B0F0"/>
                </a:solidFill>
              </a:rPr>
              <a:t>"&gt;</a:t>
            </a:r>
          </a:p>
          <a:p>
            <a:pPr lvl="2"/>
            <a:r>
              <a:rPr lang="en-US" sz="2000" dirty="0">
                <a:solidFill>
                  <a:srgbClr val="00B0F0"/>
                </a:solidFill>
              </a:rPr>
              <a:t>		body {background-image: </a:t>
            </a:r>
            <a:r>
              <a:rPr lang="en-US" sz="2000" dirty="0" err="1">
                <a:solidFill>
                  <a:srgbClr val="00B0F0"/>
                </a:solidFill>
              </a:rPr>
              <a:t>url</a:t>
            </a:r>
            <a:r>
              <a:rPr lang="en-US" sz="2000" dirty="0">
                <a:solidFill>
                  <a:srgbClr val="00B0F0"/>
                </a:solidFill>
              </a:rPr>
              <a:t>(../images/airplane2sx.png); </a:t>
            </a:r>
          </a:p>
          <a:p>
            <a:pPr lvl="2"/>
            <a:r>
              <a:rPr lang="en-US" sz="2000" dirty="0">
                <a:solidFill>
                  <a:srgbClr val="00B0F0"/>
                </a:solidFill>
              </a:rPr>
              <a:t>			background-size: 375px 300px;}</a:t>
            </a:r>
          </a:p>
          <a:p>
            <a:pPr lvl="2"/>
            <a:r>
              <a:rPr lang="en-US" sz="2000" dirty="0">
                <a:solidFill>
                  <a:srgbClr val="00B0F0"/>
                </a:solidFill>
              </a:rPr>
              <a:t>		p {margin-left: 30px; margin-right: 30px;</a:t>
            </a:r>
          </a:p>
          <a:p>
            <a:pPr lvl="2"/>
            <a:r>
              <a:rPr lang="en-US" sz="2000" dirty="0">
                <a:solidFill>
                  <a:srgbClr val="00B0F0"/>
                </a:solidFill>
              </a:rPr>
              <a:t>			margin-top: 50px; font-size: 1.1em;}</a:t>
            </a:r>
          </a:p>
          <a:p>
            <a:pPr lvl="2"/>
            <a:r>
              <a:rPr lang="en-US" sz="2000" dirty="0">
                <a:solidFill>
                  <a:srgbClr val="00B0F0"/>
                </a:solidFill>
              </a:rPr>
              <a:t>	&lt;/style&gt;</a:t>
            </a:r>
          </a:p>
          <a:p>
            <a:pPr lvl="2"/>
            <a:r>
              <a:rPr lang="en-US" sz="2000" dirty="0">
                <a:solidFill>
                  <a:srgbClr val="00B0F0"/>
                </a:solidFill>
              </a:rPr>
              <a:t>&lt;/head&gt;</a:t>
            </a:r>
          </a:p>
          <a:p>
            <a:endParaRPr lang="en-US" sz="2000" dirty="0"/>
          </a:p>
          <a:p>
            <a:r>
              <a:rPr lang="en-IN" sz="2000" i="1" dirty="0"/>
              <a:t>background-repeat</a:t>
            </a:r>
            <a:r>
              <a:rPr lang="en-IN" sz="2000" dirty="0"/>
              <a:t> - </a:t>
            </a:r>
            <a:r>
              <a:rPr lang="en-US" sz="2000" i="1" dirty="0"/>
              <a:t>repeat</a:t>
            </a:r>
            <a:r>
              <a:rPr lang="en-US" sz="2000" dirty="0"/>
              <a:t> (the default), </a:t>
            </a:r>
            <a:r>
              <a:rPr lang="en-US" sz="2000" i="1" dirty="0"/>
              <a:t>no-repeat</a:t>
            </a:r>
            <a:r>
              <a:rPr lang="en-US" sz="2000" dirty="0"/>
              <a:t>, </a:t>
            </a:r>
            <a:r>
              <a:rPr lang="en-US" sz="2000" i="1" dirty="0"/>
              <a:t>repeat-x</a:t>
            </a:r>
            <a:r>
              <a:rPr lang="en-US" sz="2000" dirty="0"/>
              <a:t>, or </a:t>
            </a:r>
            <a:r>
              <a:rPr lang="en-US" sz="2000" i="1" dirty="0"/>
              <a:t>repeat-y</a:t>
            </a:r>
            <a:r>
              <a:rPr lang="en-US" sz="2000" dirty="0"/>
              <a:t>.</a:t>
            </a:r>
          </a:p>
          <a:p>
            <a:endParaRPr lang="en-US" sz="2000" dirty="0"/>
          </a:p>
          <a:p>
            <a:r>
              <a:rPr lang="en-IN" sz="2000" dirty="0"/>
              <a:t>background-position - </a:t>
            </a:r>
            <a:r>
              <a:rPr lang="en-US" sz="2000" dirty="0"/>
              <a:t>top, center, bottom, left, and right, top left, bottom right, and top center.</a:t>
            </a:r>
            <a:endParaRPr lang="en-IN" sz="2000" dirty="0"/>
          </a:p>
        </p:txBody>
      </p:sp>
    </p:spTree>
    <p:extLst>
      <p:ext uri="{BB962C8B-B14F-4D97-AF65-F5344CB8AC3E}">
        <p14:creationId xmlns:p14="http://schemas.microsoft.com/office/powerpoint/2010/main" val="37662909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E3A0-EBB0-68D1-F44E-B0F9F96A6B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718522-0E34-956C-EFB6-E1AF3A40ECD8}"/>
              </a:ext>
            </a:extLst>
          </p:cNvPr>
          <p:cNvSpPr txBox="1"/>
          <p:nvPr/>
        </p:nvSpPr>
        <p:spPr>
          <a:xfrm>
            <a:off x="528918" y="421341"/>
            <a:ext cx="11143129" cy="5386090"/>
          </a:xfrm>
          <a:prstGeom prst="rect">
            <a:avLst/>
          </a:prstGeom>
          <a:noFill/>
        </p:spPr>
        <p:txBody>
          <a:bodyPr wrap="square" rtlCol="0">
            <a:spAutoFit/>
          </a:bodyPr>
          <a:lstStyle/>
          <a:p>
            <a:r>
              <a:rPr lang="en-US" sz="2400" b="1" dirty="0"/>
              <a:t>The &lt;span&gt; and &lt;div&gt; Tags</a:t>
            </a:r>
          </a:p>
          <a:p>
            <a:pPr algn="just"/>
            <a:endParaRPr lang="en-US" sz="2000" dirty="0"/>
          </a:p>
          <a:p>
            <a:pPr algn="just"/>
            <a:r>
              <a:rPr lang="en-US" sz="2000" dirty="0"/>
              <a:t>In many situations, we want to apply special font properties to less than a whole paragraph of text.</a:t>
            </a:r>
          </a:p>
          <a:p>
            <a:pPr algn="just"/>
            <a:endParaRPr lang="en-US" sz="2000" dirty="0"/>
          </a:p>
          <a:p>
            <a:pPr algn="just"/>
            <a:r>
              <a:rPr lang="en-US" sz="2000" dirty="0"/>
              <a:t>For example, it is often useful to have a word or phrase in a line appear in a different font size or color. </a:t>
            </a:r>
          </a:p>
          <a:p>
            <a:pPr algn="just"/>
            <a:endParaRPr lang="en-US" sz="2000" dirty="0"/>
          </a:p>
          <a:p>
            <a:pPr algn="just"/>
            <a:r>
              <a:rPr lang="en-US" sz="2000" dirty="0"/>
              <a:t>The &lt;span&gt; tag is designed for just this purpose.</a:t>
            </a:r>
          </a:p>
          <a:p>
            <a:endParaRPr lang="en-US" sz="2000" dirty="0"/>
          </a:p>
          <a:p>
            <a:pPr lvl="1"/>
            <a:r>
              <a:rPr lang="en-US" dirty="0">
                <a:solidFill>
                  <a:srgbClr val="00B0F0"/>
                </a:solidFill>
              </a:rPr>
              <a:t>&lt;style type = "text/</a:t>
            </a:r>
            <a:r>
              <a:rPr lang="en-US" dirty="0" err="1">
                <a:solidFill>
                  <a:srgbClr val="00B0F0"/>
                </a:solidFill>
              </a:rPr>
              <a:t>css</a:t>
            </a:r>
            <a:r>
              <a:rPr lang="en-US" dirty="0">
                <a:solidFill>
                  <a:srgbClr val="00B0F0"/>
                </a:solidFill>
              </a:rPr>
              <a:t>" &gt;</a:t>
            </a:r>
          </a:p>
          <a:p>
            <a:pPr lvl="1"/>
            <a:r>
              <a:rPr lang="en-US" dirty="0">
                <a:solidFill>
                  <a:srgbClr val="00B0F0"/>
                </a:solidFill>
              </a:rPr>
              <a:t>  	.</a:t>
            </a:r>
            <a:r>
              <a:rPr lang="en-US" dirty="0" err="1">
                <a:solidFill>
                  <a:srgbClr val="00B0F0"/>
                </a:solidFill>
              </a:rPr>
              <a:t>spanred</a:t>
            </a:r>
            <a:r>
              <a:rPr lang="en-US" dirty="0">
                <a:solidFill>
                  <a:srgbClr val="00B0F0"/>
                </a:solidFill>
              </a:rPr>
              <a:t> {font-size: 2em; </a:t>
            </a:r>
          </a:p>
          <a:p>
            <a:pPr lvl="1"/>
            <a:r>
              <a:rPr lang="en-US" dirty="0">
                <a:solidFill>
                  <a:srgbClr val="00B0F0"/>
                </a:solidFill>
              </a:rPr>
              <a:t>            	font-family: Ariel; color: red;}</a:t>
            </a:r>
          </a:p>
          <a:p>
            <a:pPr lvl="1"/>
            <a:r>
              <a:rPr lang="en-US" dirty="0">
                <a:solidFill>
                  <a:srgbClr val="00B0F0"/>
                </a:solidFill>
              </a:rPr>
              <a:t> &lt;/style&gt;</a:t>
            </a:r>
          </a:p>
          <a:p>
            <a:pPr lvl="1"/>
            <a:r>
              <a:rPr lang="en-US" dirty="0">
                <a:solidFill>
                  <a:srgbClr val="00B0F0"/>
                </a:solidFill>
              </a:rPr>
              <a:t> ...</a:t>
            </a:r>
          </a:p>
          <a:p>
            <a:pPr lvl="1"/>
            <a:r>
              <a:rPr lang="en-US" dirty="0">
                <a:solidFill>
                  <a:srgbClr val="00B0F0"/>
                </a:solidFill>
              </a:rPr>
              <a:t> &lt;p&gt;</a:t>
            </a:r>
          </a:p>
          <a:p>
            <a:pPr lvl="1"/>
            <a:r>
              <a:rPr lang="en-US" dirty="0">
                <a:solidFill>
                  <a:srgbClr val="00B0F0"/>
                </a:solidFill>
              </a:rPr>
              <a:t>  	It sure is fun to be in </a:t>
            </a:r>
          </a:p>
          <a:p>
            <a:pPr lvl="1"/>
            <a:r>
              <a:rPr lang="en-US" dirty="0">
                <a:solidFill>
                  <a:srgbClr val="00B0F0"/>
                </a:solidFill>
              </a:rPr>
              <a:t>  	&lt;span class = "</a:t>
            </a:r>
            <a:r>
              <a:rPr lang="en-US" dirty="0" err="1">
                <a:solidFill>
                  <a:srgbClr val="00B0F0"/>
                </a:solidFill>
              </a:rPr>
              <a:t>spanred</a:t>
            </a:r>
            <a:r>
              <a:rPr lang="en-US" dirty="0">
                <a:solidFill>
                  <a:srgbClr val="00B0F0"/>
                </a:solidFill>
              </a:rPr>
              <a:t>"&gt; total &lt;/span&gt; </a:t>
            </a:r>
          </a:p>
          <a:p>
            <a:pPr lvl="1"/>
            <a:r>
              <a:rPr lang="en-US" dirty="0">
                <a:solidFill>
                  <a:srgbClr val="00B0F0"/>
                </a:solidFill>
              </a:rPr>
              <a:t>  	control of text</a:t>
            </a:r>
          </a:p>
          <a:p>
            <a:pPr lvl="1"/>
            <a:r>
              <a:rPr lang="en-US" dirty="0">
                <a:solidFill>
                  <a:srgbClr val="00B0F0"/>
                </a:solidFill>
              </a:rPr>
              <a:t> &lt;/p&gt;</a:t>
            </a:r>
            <a:endParaRPr lang="en-IN" dirty="0">
              <a:solidFill>
                <a:srgbClr val="00B0F0"/>
              </a:solidFill>
            </a:endParaRPr>
          </a:p>
        </p:txBody>
      </p:sp>
    </p:spTree>
    <p:extLst>
      <p:ext uri="{BB962C8B-B14F-4D97-AF65-F5344CB8AC3E}">
        <p14:creationId xmlns:p14="http://schemas.microsoft.com/office/powerpoint/2010/main" val="167112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4A500-3F91-52CD-2795-1D1F021687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1609A1-6276-74C6-92B3-31EE1BD6389F}"/>
              </a:ext>
            </a:extLst>
          </p:cNvPr>
          <p:cNvSpPr txBox="1"/>
          <p:nvPr/>
        </p:nvSpPr>
        <p:spPr>
          <a:xfrm>
            <a:off x="528918" y="421341"/>
            <a:ext cx="11143129" cy="2308324"/>
          </a:xfrm>
          <a:prstGeom prst="rect">
            <a:avLst/>
          </a:prstGeom>
          <a:noFill/>
        </p:spPr>
        <p:txBody>
          <a:bodyPr wrap="square" rtlCol="0">
            <a:spAutoFit/>
          </a:bodyPr>
          <a:lstStyle/>
          <a:p>
            <a:r>
              <a:rPr lang="en-US" sz="2400" dirty="0"/>
              <a:t>Continued…</a:t>
            </a:r>
          </a:p>
          <a:p>
            <a:endParaRPr lang="en-US" sz="2000" dirty="0"/>
          </a:p>
          <a:p>
            <a:pPr algn="just"/>
            <a:r>
              <a:rPr lang="en-US" sz="2000" dirty="0"/>
              <a:t>It is more convenient, however, to be able to apply a style to a section of a document rather than to each paragraph. This can be done with the tag. </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3997E5FF-72F5-74ED-DF6A-79A2D0D10BBE}"/>
              </a:ext>
            </a:extLst>
          </p:cNvPr>
          <p:cNvPicPr>
            <a:picLocks noChangeAspect="1"/>
          </p:cNvPicPr>
          <p:nvPr/>
        </p:nvPicPr>
        <p:blipFill>
          <a:blip r:embed="rId2"/>
          <a:stretch>
            <a:fillRect/>
          </a:stretch>
        </p:blipFill>
        <p:spPr>
          <a:xfrm>
            <a:off x="655625" y="2052175"/>
            <a:ext cx="2848373" cy="2610214"/>
          </a:xfrm>
          <a:prstGeom prst="rect">
            <a:avLst/>
          </a:prstGeom>
        </p:spPr>
      </p:pic>
    </p:spTree>
    <p:extLst>
      <p:ext uri="{BB962C8B-B14F-4D97-AF65-F5344CB8AC3E}">
        <p14:creationId xmlns:p14="http://schemas.microsoft.com/office/powerpoint/2010/main" val="355887437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D4BA-38CE-65F2-74D0-300E274FCB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6CB3CB-F8E9-5A1A-A143-78207BD0A041}"/>
              </a:ext>
            </a:extLst>
          </p:cNvPr>
          <p:cNvSpPr txBox="1"/>
          <p:nvPr/>
        </p:nvSpPr>
        <p:spPr>
          <a:xfrm>
            <a:off x="528918" y="421341"/>
            <a:ext cx="11143129" cy="5386090"/>
          </a:xfrm>
          <a:prstGeom prst="rect">
            <a:avLst/>
          </a:prstGeom>
          <a:noFill/>
        </p:spPr>
        <p:txBody>
          <a:bodyPr wrap="square" rtlCol="0">
            <a:spAutoFit/>
          </a:bodyPr>
          <a:lstStyle/>
          <a:p>
            <a:r>
              <a:rPr lang="en-US" sz="2400" dirty="0">
                <a:solidFill>
                  <a:srgbClr val="FF0000"/>
                </a:solidFill>
              </a:rPr>
              <a:t>HTML5</a:t>
            </a:r>
          </a:p>
          <a:p>
            <a:endParaRPr lang="en-US" sz="2000" dirty="0"/>
          </a:p>
          <a:p>
            <a:r>
              <a:rPr lang="en-US" sz="2000" dirty="0" err="1">
                <a:solidFill>
                  <a:srgbClr val="FF0000"/>
                </a:solidFill>
              </a:rPr>
              <a:t>iframe</a:t>
            </a:r>
            <a:endParaRPr lang="en-US" sz="2000" dirty="0">
              <a:solidFill>
                <a:srgbClr val="FF0000"/>
              </a:solidFill>
            </a:endParaRPr>
          </a:p>
          <a:p>
            <a:endParaRPr lang="en-US" sz="2000" dirty="0">
              <a:solidFill>
                <a:srgbClr val="FFC000"/>
              </a:solidFill>
            </a:endParaRPr>
          </a:p>
          <a:p>
            <a:pPr marL="342900" indent="-342900" algn="just">
              <a:buFont typeface="Arial" panose="020B0604020202020204" pitchFamily="34" charset="0"/>
              <a:buChar char="•"/>
            </a:pPr>
            <a:r>
              <a:rPr lang="en-IN" sz="2000" dirty="0" err="1"/>
              <a:t>iframe</a:t>
            </a:r>
            <a:r>
              <a:rPr lang="en-IN" sz="2000" dirty="0"/>
              <a:t> in HTML stands for Inline Frame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Frame divides the web page into various frames/windows; where as </a:t>
            </a:r>
            <a:r>
              <a:rPr lang="en-US" sz="2000" dirty="0" err="1"/>
              <a:t>iframe</a:t>
            </a:r>
            <a:r>
              <a:rPr lang="en-US" sz="2000" dirty="0"/>
              <a:t> embeds some other document within the current HTML document</a:t>
            </a:r>
            <a:endParaRPr lang="en-IN"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defines a rectangular region within the document in which the browser can display a separate document, including scrollbars and borders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 </a:t>
            </a:r>
            <a:r>
              <a:rPr lang="en-US" sz="2000" dirty="0" err="1"/>
              <a:t>src</a:t>
            </a:r>
            <a:r>
              <a:rPr lang="en-US" sz="2000" dirty="0"/>
              <a:t> ‘ attribute is used to specify the URL of the document that occupies the </a:t>
            </a:r>
            <a:r>
              <a:rPr lang="en-US" sz="2000" dirty="0" err="1"/>
              <a:t>iframe</a:t>
            </a:r>
            <a:endParaRPr lang="en-IN" sz="2000" dirty="0"/>
          </a:p>
          <a:p>
            <a:endParaRPr lang="en-US" sz="2000" dirty="0"/>
          </a:p>
          <a:p>
            <a:endParaRPr lang="en-US" sz="2000" dirty="0"/>
          </a:p>
          <a:p>
            <a:r>
              <a:rPr lang="en-US" sz="2000" dirty="0"/>
              <a:t>&lt;</a:t>
            </a:r>
            <a:r>
              <a:rPr lang="en-US" sz="2000" dirty="0" err="1"/>
              <a:t>iframe</a:t>
            </a:r>
            <a:r>
              <a:rPr lang="en-US" sz="2000" dirty="0"/>
              <a:t> </a:t>
            </a:r>
            <a:r>
              <a:rPr lang="en-US" sz="2000" dirty="0" err="1"/>
              <a:t>src</a:t>
            </a:r>
            <a:r>
              <a:rPr lang="en-US" sz="2000" dirty="0"/>
              <a:t>="https://www.example.com" width="600" height="400" title="Example Page"&gt;</a:t>
            </a:r>
          </a:p>
          <a:p>
            <a:r>
              <a:rPr lang="en-US" sz="2000" dirty="0"/>
              <a:t>&lt;/</a:t>
            </a:r>
            <a:r>
              <a:rPr lang="en-US" sz="2000" dirty="0" err="1"/>
              <a:t>iframe</a:t>
            </a:r>
            <a:r>
              <a:rPr lang="en-US" sz="2000" dirty="0"/>
              <a:t>&gt;</a:t>
            </a:r>
            <a:endParaRPr lang="en-IN" sz="2000" dirty="0"/>
          </a:p>
        </p:txBody>
      </p:sp>
    </p:spTree>
    <p:extLst>
      <p:ext uri="{BB962C8B-B14F-4D97-AF65-F5344CB8AC3E}">
        <p14:creationId xmlns:p14="http://schemas.microsoft.com/office/powerpoint/2010/main" val="269263301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EA65-30B7-294D-6C50-FD093AB0A1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3A7B5B-CDCD-829A-0B2C-20C53EF50B2E}"/>
              </a:ext>
            </a:extLst>
          </p:cNvPr>
          <p:cNvSpPr txBox="1"/>
          <p:nvPr/>
        </p:nvSpPr>
        <p:spPr>
          <a:xfrm>
            <a:off x="528918" y="421341"/>
            <a:ext cx="11143129" cy="2616101"/>
          </a:xfrm>
          <a:prstGeom prst="rect">
            <a:avLst/>
          </a:prstGeom>
          <a:noFill/>
        </p:spPr>
        <p:txBody>
          <a:bodyPr wrap="square" rtlCol="0">
            <a:spAutoFit/>
          </a:bodyPr>
          <a:lstStyle/>
          <a:p>
            <a:r>
              <a:rPr lang="en-US" sz="2400" dirty="0">
                <a:solidFill>
                  <a:srgbClr val="FFC000"/>
                </a:solidFill>
              </a:rPr>
              <a:t>Semantic HTML</a:t>
            </a:r>
            <a:endParaRPr lang="en-US" sz="2400" dirty="0"/>
          </a:p>
          <a:p>
            <a:pPr marL="342900" indent="-342900" algn="just">
              <a:buFont typeface="Arial" panose="020B0604020202020204" pitchFamily="34" charset="0"/>
              <a:buChar char="•"/>
            </a:pPr>
            <a:r>
              <a:rPr lang="en-US" sz="2000" dirty="0"/>
              <a:t>HTML5 supports semantic layout tags that replace generic &lt;div&gt; elements</a:t>
            </a:r>
          </a:p>
          <a:p>
            <a:pPr marL="342900" indent="-342900" algn="just">
              <a:buFont typeface="Arial" panose="020B0604020202020204" pitchFamily="34" charset="0"/>
              <a:buChar char="•"/>
            </a:pPr>
            <a:r>
              <a:rPr lang="en-US" sz="2000" dirty="0"/>
              <a:t>Use of HTML tags that convey the meaning—or semantics—of the content contained within them</a:t>
            </a:r>
          </a:p>
          <a:p>
            <a:pPr marL="342900" indent="-342900" algn="just">
              <a:buFont typeface="Arial" panose="020B0604020202020204" pitchFamily="34" charset="0"/>
              <a:buChar char="•"/>
            </a:pPr>
            <a:r>
              <a:rPr lang="en-US" sz="2000" dirty="0"/>
              <a:t>By adding semantic HTML tags to web pages, we can provide additional information that helps define the roles and relative importance of the different parts of the page</a:t>
            </a:r>
          </a:p>
          <a:p>
            <a:pPr marL="342900" indent="-342900" algn="just">
              <a:buFont typeface="Arial" panose="020B0604020202020204" pitchFamily="34" charset="0"/>
              <a:buChar char="•"/>
            </a:pPr>
            <a:endParaRPr lang="en-US" sz="2000" dirty="0"/>
          </a:p>
          <a:p>
            <a:endParaRPr lang="en-US" sz="2000" dirty="0"/>
          </a:p>
          <a:p>
            <a:endParaRPr lang="en-IN" sz="2000" dirty="0"/>
          </a:p>
        </p:txBody>
      </p:sp>
      <p:pic>
        <p:nvPicPr>
          <p:cNvPr id="3" name="Image1">
            <a:extLst>
              <a:ext uri="{FF2B5EF4-FFF2-40B4-BE49-F238E27FC236}">
                <a16:creationId xmlns:a16="http://schemas.microsoft.com/office/drawing/2014/main" id="{D5E79DB4-135E-098A-D14B-6BCA41A9D80E}"/>
              </a:ext>
            </a:extLst>
          </p:cNvPr>
          <p:cNvPicPr>
            <a:picLocks/>
          </p:cNvPicPr>
          <p:nvPr/>
        </p:nvPicPr>
        <p:blipFill>
          <a:blip r:embed="rId2"/>
          <a:stretch>
            <a:fillRect/>
          </a:stretch>
        </p:blipFill>
        <p:spPr>
          <a:xfrm>
            <a:off x="3155457" y="2472266"/>
            <a:ext cx="5226543" cy="3838887"/>
          </a:xfrm>
          <a:prstGeom prst="rect">
            <a:avLst/>
          </a:prstGeom>
          <a:ln w="127000" cap="flat">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1947063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50987-9532-8859-FA50-95ABCA51BB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0F9792-71AB-5311-3997-4ED182B1B3EC}"/>
              </a:ext>
            </a:extLst>
          </p:cNvPr>
          <p:cNvSpPr txBox="1"/>
          <p:nvPr/>
        </p:nvSpPr>
        <p:spPr>
          <a:xfrm>
            <a:off x="528918" y="421341"/>
            <a:ext cx="11143129" cy="5386090"/>
          </a:xfrm>
          <a:prstGeom prst="rect">
            <a:avLst/>
          </a:prstGeom>
          <a:noFill/>
        </p:spPr>
        <p:txBody>
          <a:bodyPr wrap="square" rtlCol="0">
            <a:spAutoFit/>
          </a:bodyPr>
          <a:lstStyle/>
          <a:p>
            <a:r>
              <a:rPr lang="en-US" sz="2400" dirty="0">
                <a:solidFill>
                  <a:srgbClr val="FFC000"/>
                </a:solidFill>
              </a:rPr>
              <a:t>Semantic tags</a:t>
            </a:r>
            <a:endParaRPr lang="en-US" sz="2400" dirty="0"/>
          </a:p>
          <a:p>
            <a:endParaRPr lang="en-US" sz="2000" dirty="0"/>
          </a:p>
          <a:p>
            <a:pPr marL="342900" indent="-342900">
              <a:buFont typeface="Arial" panose="020B0604020202020204" pitchFamily="34" charset="0"/>
              <a:buChar char="•"/>
            </a:pPr>
            <a:r>
              <a:rPr lang="en-US" sz="2000" dirty="0"/>
              <a:t>Semantic HTML tags are tags that define the meaning of the content they contain</a:t>
            </a:r>
          </a:p>
          <a:p>
            <a:endParaRPr lang="en-US" sz="2000" dirty="0"/>
          </a:p>
          <a:p>
            <a:pPr lvl="1"/>
            <a:r>
              <a:rPr lang="en-US" sz="2000" b="1" dirty="0"/>
              <a:t>&lt;header&gt;</a:t>
            </a:r>
            <a:r>
              <a:rPr lang="en-US" sz="2000" dirty="0"/>
              <a:t> – Page or section header</a:t>
            </a:r>
          </a:p>
          <a:p>
            <a:pPr lvl="1"/>
            <a:r>
              <a:rPr lang="en-US" sz="2000" b="1" dirty="0"/>
              <a:t>&lt;nav&gt; </a:t>
            </a:r>
            <a:r>
              <a:rPr lang="en-US" sz="2000" dirty="0"/>
              <a:t>– Navigation menus</a:t>
            </a:r>
          </a:p>
          <a:p>
            <a:pPr lvl="1"/>
            <a:r>
              <a:rPr lang="en-US" sz="2000" b="1" dirty="0"/>
              <a:t>&lt;main&gt; </a:t>
            </a:r>
            <a:r>
              <a:rPr lang="en-US" sz="2000" dirty="0"/>
              <a:t>– Main content</a:t>
            </a:r>
          </a:p>
          <a:p>
            <a:pPr lvl="1"/>
            <a:r>
              <a:rPr lang="en-US" sz="2000" b="1" dirty="0"/>
              <a:t>&lt;section&gt; </a:t>
            </a:r>
            <a:r>
              <a:rPr lang="en-US" sz="2000" dirty="0"/>
              <a:t>– Thematic grouping</a:t>
            </a:r>
          </a:p>
          <a:p>
            <a:pPr lvl="1"/>
            <a:r>
              <a:rPr lang="en-US" sz="2000" b="1" dirty="0"/>
              <a:t>&lt;article&gt; </a:t>
            </a:r>
            <a:r>
              <a:rPr lang="en-US" sz="2000" dirty="0"/>
              <a:t>– Self-contained content</a:t>
            </a:r>
          </a:p>
          <a:p>
            <a:pPr lvl="1"/>
            <a:r>
              <a:rPr lang="en-US" sz="2000" b="1" dirty="0"/>
              <a:t>&lt;aside&gt; </a:t>
            </a:r>
            <a:r>
              <a:rPr lang="en-US" sz="2000" dirty="0"/>
              <a:t>– Sidebar content</a:t>
            </a:r>
          </a:p>
          <a:p>
            <a:pPr lvl="1"/>
            <a:r>
              <a:rPr lang="en-US" sz="2000" b="1" dirty="0"/>
              <a:t>&lt;footer&gt; </a:t>
            </a:r>
            <a:r>
              <a:rPr lang="en-US" sz="2000" dirty="0"/>
              <a:t>– Page or section footer</a:t>
            </a:r>
          </a:p>
          <a:p>
            <a:endParaRPr lang="en-US" sz="2000" dirty="0"/>
          </a:p>
          <a:p>
            <a:pPr marL="342900" indent="-342900" algn="just">
              <a:buFont typeface="Arial" panose="020B0604020202020204" pitchFamily="34" charset="0"/>
              <a:buChar char="•"/>
            </a:pPr>
            <a:r>
              <a:rPr lang="en-US" sz="2000" dirty="0"/>
              <a:t>Non Semantic tags serve only as content holders but give no indication as to what type of content they contain or what role that content plays on the page</a:t>
            </a:r>
          </a:p>
          <a:p>
            <a:r>
              <a:rPr lang="en-US" sz="2000" dirty="0"/>
              <a:t>	</a:t>
            </a:r>
          </a:p>
          <a:p>
            <a:r>
              <a:rPr lang="en-US" sz="2000" dirty="0"/>
              <a:t>	Example: </a:t>
            </a:r>
            <a:r>
              <a:rPr lang="en-US" sz="2000" dirty="0">
                <a:solidFill>
                  <a:srgbClr val="FF0000"/>
                </a:solidFill>
              </a:rPr>
              <a:t>&lt;div&gt; , &lt;span&gt; </a:t>
            </a:r>
            <a:r>
              <a:rPr lang="en-US" sz="2000" dirty="0"/>
              <a:t>etc.</a:t>
            </a:r>
          </a:p>
          <a:p>
            <a:endParaRPr lang="en-IN" sz="2000" dirty="0"/>
          </a:p>
        </p:txBody>
      </p:sp>
    </p:spTree>
    <p:extLst>
      <p:ext uri="{BB962C8B-B14F-4D97-AF65-F5344CB8AC3E}">
        <p14:creationId xmlns:p14="http://schemas.microsoft.com/office/powerpoint/2010/main" val="106938903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EAD9-A0DF-7BCE-0A01-E19B724B62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585105-D431-54BF-AE07-FB5D404E807A}"/>
              </a:ext>
            </a:extLst>
          </p:cNvPr>
          <p:cNvSpPr txBox="1"/>
          <p:nvPr/>
        </p:nvSpPr>
        <p:spPr>
          <a:xfrm>
            <a:off x="528918" y="421341"/>
            <a:ext cx="11143129" cy="5601533"/>
          </a:xfrm>
          <a:prstGeom prst="rect">
            <a:avLst/>
          </a:prstGeom>
          <a:noFill/>
        </p:spPr>
        <p:txBody>
          <a:bodyPr wrap="square" rtlCol="0">
            <a:spAutoFit/>
          </a:bodyPr>
          <a:lstStyle/>
          <a:p>
            <a:r>
              <a:rPr lang="en-US" sz="2400" dirty="0">
                <a:solidFill>
                  <a:srgbClr val="FFC000"/>
                </a:solidFill>
              </a:rPr>
              <a:t>Semantic tags-uses</a:t>
            </a:r>
            <a:endParaRPr lang="en-US" sz="2400" dirty="0"/>
          </a:p>
          <a:p>
            <a:endParaRPr lang="en-US" sz="2000" dirty="0"/>
          </a:p>
          <a:p>
            <a:pPr marL="342900" indent="-342900">
              <a:buFont typeface="Arial" panose="020B0604020202020204" pitchFamily="34" charset="0"/>
              <a:buChar char="•"/>
            </a:pPr>
            <a:r>
              <a:rPr lang="en-US" sz="2400" dirty="0"/>
              <a:t>Semantic HTML tags are easier to read and understand-(example: for developers reviewing the code)</a:t>
            </a:r>
          </a:p>
          <a:p>
            <a:pPr marL="342900" indent="-342900">
              <a:buFont typeface="Arial" panose="020B0604020202020204" pitchFamily="34" charset="0"/>
              <a:buChar char="•"/>
            </a:pPr>
            <a:r>
              <a:rPr lang="en-US" sz="2400" dirty="0"/>
              <a:t>Pages with correctly implemented semantic HTML have an advantage in SEO over those that don’t.</a:t>
            </a:r>
          </a:p>
          <a:p>
            <a:pPr marL="800100" lvl="1" indent="-342900">
              <a:buFont typeface="Arial" panose="020B0604020202020204" pitchFamily="34" charset="0"/>
              <a:buChar char="•"/>
            </a:pPr>
            <a:r>
              <a:rPr lang="en-US" sz="2200" dirty="0"/>
              <a:t>Semantic HTML tags indicate the role of the content within the tags</a:t>
            </a:r>
          </a:p>
          <a:p>
            <a:pPr marL="800100" lvl="1" indent="-342900">
              <a:buFont typeface="Arial" panose="020B0604020202020204" pitchFamily="34" charset="0"/>
              <a:buChar char="•"/>
            </a:pPr>
            <a:r>
              <a:rPr lang="en-US" sz="2200" dirty="0"/>
              <a:t>This  information gives search engine crawlers, like Googlebot, a better understanding of content.</a:t>
            </a:r>
          </a:p>
          <a:p>
            <a:pPr marL="800100" lvl="1" indent="-342900">
              <a:buFont typeface="Arial" panose="020B0604020202020204" pitchFamily="34" charset="0"/>
              <a:buChar char="•"/>
            </a:pPr>
            <a:r>
              <a:rPr lang="en-US" sz="2200" dirty="0"/>
              <a:t>This increases the chances that the content will be selected as a candidate for ranking on the search engine results page (SERP) for relevant keywords.</a:t>
            </a:r>
          </a:p>
          <a:p>
            <a:endParaRPr lang="en-US" sz="2000" dirty="0"/>
          </a:p>
          <a:p>
            <a:r>
              <a:rPr lang="en-US" sz="2000" b="1" dirty="0">
                <a:solidFill>
                  <a:srgbClr val="FFC000"/>
                </a:solidFill>
              </a:rPr>
              <a:t>HTML Semantic Tags for Text-</a:t>
            </a:r>
          </a:p>
          <a:p>
            <a:r>
              <a:rPr lang="en-US" sz="2000" dirty="0"/>
              <a:t>&lt;h1&gt; to &lt;h6&gt; , &lt;p&gt;, &lt;a&gt;, &lt;</a:t>
            </a:r>
            <a:r>
              <a:rPr lang="en-US" sz="2000" dirty="0" err="1"/>
              <a:t>ol</a:t>
            </a:r>
            <a:r>
              <a:rPr lang="en-US" sz="2000" dirty="0"/>
              <a:t>&gt;, &lt;ul&gt;, &lt;strong&gt;, &lt;code&gt; </a:t>
            </a:r>
            <a:r>
              <a:rPr lang="en-US" sz="2000" dirty="0" err="1"/>
              <a:t>etc</a:t>
            </a:r>
            <a:endParaRPr lang="en-US" sz="2000" dirty="0"/>
          </a:p>
          <a:p>
            <a:endParaRPr lang="en-US" sz="2000" dirty="0"/>
          </a:p>
          <a:p>
            <a:endParaRPr lang="en-IN" sz="2000" dirty="0"/>
          </a:p>
        </p:txBody>
      </p:sp>
    </p:spTree>
    <p:extLst>
      <p:ext uri="{BB962C8B-B14F-4D97-AF65-F5344CB8AC3E}">
        <p14:creationId xmlns:p14="http://schemas.microsoft.com/office/powerpoint/2010/main" val="8184082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E59E-AC96-9E8B-854B-F32B95166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9A73F5-A599-5BEA-877A-011603CC1B88}"/>
              </a:ext>
            </a:extLst>
          </p:cNvPr>
          <p:cNvSpPr txBox="1"/>
          <p:nvPr/>
        </p:nvSpPr>
        <p:spPr>
          <a:xfrm>
            <a:off x="528919" y="421341"/>
            <a:ext cx="7637928" cy="5386090"/>
          </a:xfrm>
          <a:prstGeom prst="rect">
            <a:avLst/>
          </a:prstGeom>
          <a:noFill/>
        </p:spPr>
        <p:txBody>
          <a:bodyPr wrap="square" rtlCol="0">
            <a:spAutoFit/>
          </a:bodyPr>
          <a:lstStyle/>
          <a:p>
            <a:r>
              <a:rPr lang="en-US" sz="2400" dirty="0">
                <a:solidFill>
                  <a:srgbClr val="FFC000"/>
                </a:solidFill>
              </a:rPr>
              <a:t>HTML Semantic Tags for Structure</a:t>
            </a:r>
            <a:endParaRPr lang="en-US" sz="2400" dirty="0"/>
          </a:p>
          <a:p>
            <a:endParaRPr lang="en-US" sz="2000" dirty="0"/>
          </a:p>
          <a:p>
            <a:pPr marL="342900" indent="-342900" algn="just">
              <a:buFont typeface="Arial" panose="020B0604020202020204" pitchFamily="34" charset="0"/>
              <a:buChar char="•"/>
            </a:pPr>
            <a:r>
              <a:rPr lang="en-US" sz="2000" dirty="0">
                <a:solidFill>
                  <a:srgbClr val="FFC000"/>
                </a:solidFill>
              </a:rPr>
              <a:t>&lt;header&gt;: </a:t>
            </a:r>
            <a:r>
              <a:rPr lang="en-US" sz="2000" dirty="0"/>
              <a:t>The header tag defines content that should be considered the introductory information of a page or section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C000"/>
                </a:solidFill>
              </a:rPr>
              <a:t>&lt;nav&gt;: </a:t>
            </a:r>
            <a:r>
              <a:rPr lang="en-US" sz="2000" dirty="0"/>
              <a:t>The navigation tag is used for navigation links. It can be nested within the &lt;header&gt; tag, but secondary navigation &lt;nav&gt; tags are also commonly used elsewhere on the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C000"/>
                </a:solidFill>
              </a:rPr>
              <a:t>&lt;main&gt;: </a:t>
            </a:r>
            <a:r>
              <a:rPr lang="en-US" sz="2000" dirty="0"/>
              <a:t>This tag contains the main content (also called the body) of a page. There should be only one tag per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solidFill>
                  <a:srgbClr val="FFC000"/>
                </a:solidFill>
              </a:rPr>
              <a:t>&lt;article&gt;: </a:t>
            </a:r>
            <a:r>
              <a:rPr lang="en-US" sz="2000" dirty="0"/>
              <a:t>specifies independent, self-contained content.</a:t>
            </a:r>
          </a:p>
          <a:p>
            <a:endParaRPr lang="en-US" sz="2000" dirty="0"/>
          </a:p>
          <a:p>
            <a:endParaRPr lang="en-US" sz="2000" dirty="0"/>
          </a:p>
          <a:p>
            <a:endParaRPr lang="en-US" sz="2000" dirty="0"/>
          </a:p>
          <a:p>
            <a:endParaRPr lang="en-IN" sz="2000" dirty="0"/>
          </a:p>
        </p:txBody>
      </p:sp>
      <p:pic>
        <p:nvPicPr>
          <p:cNvPr id="3" name="Image2">
            <a:extLst>
              <a:ext uri="{FF2B5EF4-FFF2-40B4-BE49-F238E27FC236}">
                <a16:creationId xmlns:a16="http://schemas.microsoft.com/office/drawing/2014/main" id="{A07453DF-87F9-EF27-D731-43CB0B10572E}"/>
              </a:ext>
            </a:extLst>
          </p:cNvPr>
          <p:cNvPicPr>
            <a:picLocks/>
          </p:cNvPicPr>
          <p:nvPr/>
        </p:nvPicPr>
        <p:blipFill>
          <a:blip r:embed="rId2">
            <a:lum/>
            <a:alphaModFix/>
          </a:blip>
          <a:srcRect/>
          <a:stretch>
            <a:fillRect/>
          </a:stretch>
        </p:blipFill>
        <p:spPr>
          <a:xfrm>
            <a:off x="8243777" y="827670"/>
            <a:ext cx="3795823" cy="4956619"/>
          </a:xfrm>
          <a:prstGeom prst="rect">
            <a:avLst/>
          </a:prstGeom>
        </p:spPr>
      </p:pic>
    </p:spTree>
    <p:extLst>
      <p:ext uri="{BB962C8B-B14F-4D97-AF65-F5344CB8AC3E}">
        <p14:creationId xmlns:p14="http://schemas.microsoft.com/office/powerpoint/2010/main" val="322202995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9F84E-ECE0-D28E-540C-B441B70A7F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C87C38-58FA-3911-2C98-5CA5DC8B7D7C}"/>
              </a:ext>
            </a:extLst>
          </p:cNvPr>
          <p:cNvSpPr txBox="1"/>
          <p:nvPr/>
        </p:nvSpPr>
        <p:spPr>
          <a:xfrm>
            <a:off x="528918" y="421341"/>
            <a:ext cx="11143129" cy="4154984"/>
          </a:xfrm>
          <a:prstGeom prst="rect">
            <a:avLst/>
          </a:prstGeom>
          <a:noFill/>
        </p:spPr>
        <p:txBody>
          <a:bodyPr wrap="square" rtlCol="0">
            <a:spAutoFit/>
          </a:bodyPr>
          <a:lstStyle/>
          <a:p>
            <a:r>
              <a:rPr lang="en-US" sz="2400" dirty="0"/>
              <a:t>Continued…</a:t>
            </a:r>
          </a:p>
          <a:p>
            <a:pPr algn="just"/>
            <a:endParaRPr lang="en-US" sz="2000" dirty="0"/>
          </a:p>
          <a:p>
            <a:pPr algn="just"/>
            <a:r>
              <a:rPr lang="en-US" sz="2000" dirty="0">
                <a:solidFill>
                  <a:srgbClr val="FFC000"/>
                </a:solidFill>
              </a:rPr>
              <a:t>&lt;section&gt;: </a:t>
            </a:r>
            <a:r>
              <a:rPr lang="en-US" sz="2000" dirty="0"/>
              <a:t>Using &lt;section&gt; is a way of grouping nearby content of a similar theme. A section tag differs from an article tag. It isn’t necessarily self-contained, but it forms part of something else. </a:t>
            </a:r>
          </a:p>
          <a:p>
            <a:pPr algn="just"/>
            <a:endParaRPr lang="en-US" sz="2000" dirty="0"/>
          </a:p>
          <a:p>
            <a:pPr algn="just"/>
            <a:r>
              <a:rPr lang="en-US" sz="2000" dirty="0">
                <a:solidFill>
                  <a:srgbClr val="FFC000"/>
                </a:solidFill>
              </a:rPr>
              <a:t>&lt;aside&gt;: </a:t>
            </a:r>
            <a:r>
              <a:rPr lang="en-US" sz="2000" dirty="0"/>
              <a:t>An aside element defines content that’s less important than main content. It’s often used for sidebars—areas that add complementary information. It let us easily recognize the main text and subordinate text</a:t>
            </a:r>
          </a:p>
          <a:p>
            <a:pPr algn="just"/>
            <a:endParaRPr lang="en-US" sz="2000" dirty="0">
              <a:solidFill>
                <a:srgbClr val="FFC000"/>
              </a:solidFill>
            </a:endParaRPr>
          </a:p>
          <a:p>
            <a:pPr algn="just"/>
            <a:r>
              <a:rPr lang="en-US" sz="2000" dirty="0">
                <a:solidFill>
                  <a:srgbClr val="FFC000"/>
                </a:solidFill>
              </a:rPr>
              <a:t>&lt;footer&gt;: </a:t>
            </a:r>
            <a:r>
              <a:rPr lang="en-US" sz="2000" dirty="0"/>
              <a:t>You use &lt;footer&gt; at the bottom of a page. It usually includes contact information, copyright information, and some site navigation.</a:t>
            </a:r>
          </a:p>
          <a:p>
            <a:endParaRPr lang="en-US" sz="2000" dirty="0"/>
          </a:p>
          <a:p>
            <a:endParaRPr lang="en-IN" sz="2000" dirty="0"/>
          </a:p>
        </p:txBody>
      </p:sp>
    </p:spTree>
    <p:extLst>
      <p:ext uri="{BB962C8B-B14F-4D97-AF65-F5344CB8AC3E}">
        <p14:creationId xmlns:p14="http://schemas.microsoft.com/office/powerpoint/2010/main" val="23043623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61EFB7-9E81-13B2-905B-0803A0683B0E}"/>
              </a:ext>
            </a:extLst>
          </p:cNvPr>
          <p:cNvSpPr txBox="1"/>
          <p:nvPr/>
        </p:nvSpPr>
        <p:spPr>
          <a:xfrm>
            <a:off x="770966" y="255165"/>
            <a:ext cx="2725270" cy="5693866"/>
          </a:xfrm>
          <a:prstGeom prst="rect">
            <a:avLst/>
          </a:prstGeom>
          <a:noFill/>
        </p:spPr>
        <p:txBody>
          <a:bodyPr wrap="square">
            <a:spAutoFit/>
          </a:bodyPr>
          <a:lstStyle/>
          <a:p>
            <a:r>
              <a:rPr lang="en-IN" sz="1600" dirty="0"/>
              <a:t>&lt;!DOCTYPE html&gt; </a:t>
            </a:r>
          </a:p>
          <a:p>
            <a:endParaRPr lang="en-IN" sz="1600" dirty="0"/>
          </a:p>
          <a:p>
            <a:r>
              <a:rPr lang="en-IN" sz="1600" dirty="0"/>
              <a:t>&lt;html&gt;  </a:t>
            </a:r>
          </a:p>
          <a:p>
            <a:r>
              <a:rPr lang="en-IN" sz="1600" dirty="0"/>
              <a:t>   &lt;head&gt; </a:t>
            </a:r>
          </a:p>
          <a:p>
            <a:r>
              <a:rPr lang="en-IN" sz="1600" dirty="0"/>
              <a:t>      &lt;meta charset = "utf-8"&gt; </a:t>
            </a:r>
          </a:p>
          <a:p>
            <a:r>
              <a:rPr lang="en-IN" sz="1600" dirty="0"/>
              <a:t>      &lt;title&gt;...&lt;/title&gt; </a:t>
            </a:r>
          </a:p>
          <a:p>
            <a:r>
              <a:rPr lang="en-IN" sz="1600" dirty="0"/>
              <a:t>   &lt;/head&gt; </a:t>
            </a:r>
          </a:p>
          <a:p>
            <a:r>
              <a:rPr lang="en-IN" sz="1600" dirty="0"/>
              <a:t>  </a:t>
            </a:r>
          </a:p>
          <a:p>
            <a:r>
              <a:rPr lang="en-IN" sz="1600" dirty="0"/>
              <a:t>   &lt;body&gt; </a:t>
            </a:r>
          </a:p>
          <a:p>
            <a:r>
              <a:rPr lang="en-IN" sz="1600" dirty="0"/>
              <a:t>      &lt;header&gt;...&lt;/header&gt; </a:t>
            </a:r>
          </a:p>
          <a:p>
            <a:r>
              <a:rPr lang="en-IN" sz="1600" dirty="0"/>
              <a:t>      &lt;nav&gt;...&lt;/nav&gt; </a:t>
            </a:r>
          </a:p>
          <a:p>
            <a:r>
              <a:rPr lang="en-IN" sz="1600" dirty="0"/>
              <a:t>      </a:t>
            </a:r>
          </a:p>
          <a:p>
            <a:r>
              <a:rPr lang="en-IN" sz="1600" dirty="0"/>
              <a:t>      &lt;article&gt; </a:t>
            </a:r>
          </a:p>
          <a:p>
            <a:r>
              <a:rPr lang="en-IN" sz="1600" dirty="0"/>
              <a:t>         &lt;section&gt; </a:t>
            </a:r>
          </a:p>
          <a:p>
            <a:r>
              <a:rPr lang="en-IN" sz="1600" dirty="0"/>
              <a:t>            ... </a:t>
            </a:r>
          </a:p>
          <a:p>
            <a:r>
              <a:rPr lang="en-IN" sz="1600" dirty="0"/>
              <a:t>         &lt;/section&gt; </a:t>
            </a:r>
          </a:p>
          <a:p>
            <a:r>
              <a:rPr lang="en-IN" sz="1600" dirty="0"/>
              <a:t>      &lt;/article&gt; </a:t>
            </a:r>
          </a:p>
          <a:p>
            <a:r>
              <a:rPr lang="en-IN" sz="1600" dirty="0"/>
              <a:t>      &lt;aside&gt;...&lt;/aside&gt; </a:t>
            </a:r>
          </a:p>
          <a:p>
            <a:r>
              <a:rPr lang="en-IN" sz="1600" dirty="0"/>
              <a:t>      </a:t>
            </a:r>
          </a:p>
          <a:p>
            <a:r>
              <a:rPr lang="en-IN" sz="1600" dirty="0"/>
              <a:t>      &lt;footer&gt;...&lt;/footer&gt; </a:t>
            </a:r>
          </a:p>
          <a:p>
            <a:r>
              <a:rPr lang="en-IN" sz="1600" dirty="0"/>
              <a:t>   &lt;/body&gt; </a:t>
            </a:r>
          </a:p>
          <a:p>
            <a:r>
              <a:rPr lang="en-IN" sz="1600" dirty="0"/>
              <a:t>&lt;/html&gt;</a:t>
            </a:r>
          </a:p>
        </p:txBody>
      </p:sp>
    </p:spTree>
    <p:extLst>
      <p:ext uri="{BB962C8B-B14F-4D97-AF65-F5344CB8AC3E}">
        <p14:creationId xmlns:p14="http://schemas.microsoft.com/office/powerpoint/2010/main" val="11338650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6BA3B5-E237-7F71-AA40-45BA637F2093}"/>
              </a:ext>
            </a:extLst>
          </p:cNvPr>
          <p:cNvSpPr txBox="1"/>
          <p:nvPr/>
        </p:nvSpPr>
        <p:spPr>
          <a:xfrm>
            <a:off x="116541" y="753035"/>
            <a:ext cx="5280212" cy="4616648"/>
          </a:xfrm>
          <a:prstGeom prst="rect">
            <a:avLst/>
          </a:prstGeom>
          <a:noFill/>
        </p:spPr>
        <p:txBody>
          <a:bodyPr wrap="square">
            <a:spAutoFit/>
          </a:bodyPr>
          <a:lstStyle/>
          <a:p>
            <a:r>
              <a:rPr lang="en-IN" sz="1400" dirty="0"/>
              <a:t>&lt;!DOCTYPE html&gt;  </a:t>
            </a:r>
          </a:p>
          <a:p>
            <a:r>
              <a:rPr lang="en-IN" sz="1400" dirty="0"/>
              <a:t>&lt;html&gt;  </a:t>
            </a:r>
          </a:p>
          <a:p>
            <a:r>
              <a:rPr lang="en-IN" sz="1400" dirty="0"/>
              <a:t>   &lt;head&gt; </a:t>
            </a:r>
          </a:p>
          <a:p>
            <a:r>
              <a:rPr lang="en-IN" sz="1400" dirty="0"/>
              <a:t>      &lt;meta charset = "utf-8"&gt; </a:t>
            </a:r>
          </a:p>
          <a:p>
            <a:r>
              <a:rPr lang="en-IN" sz="1400" dirty="0"/>
              <a:t>      &lt;title&gt;...&lt;/title&gt; </a:t>
            </a:r>
          </a:p>
          <a:p>
            <a:r>
              <a:rPr lang="en-IN" sz="1400" dirty="0"/>
              <a:t>   &lt;/head&gt; </a:t>
            </a:r>
          </a:p>
          <a:p>
            <a:r>
              <a:rPr lang="en-IN" sz="1400" dirty="0"/>
              <a:t>   &lt;body&gt; </a:t>
            </a:r>
          </a:p>
          <a:p>
            <a:r>
              <a:rPr lang="en-IN" sz="1400" dirty="0"/>
              <a:t>      &lt;header role = "banner"&gt; </a:t>
            </a:r>
          </a:p>
          <a:p>
            <a:r>
              <a:rPr lang="en-IN" sz="1400" dirty="0"/>
              <a:t>         &lt;h1&gt;HTML5 Document Structure Example&lt;/h1&gt; </a:t>
            </a:r>
          </a:p>
          <a:p>
            <a:r>
              <a:rPr lang="en-IN" sz="1400" dirty="0"/>
              <a:t>         &lt;p&gt;This page should be tried in safari, chrome or </a:t>
            </a:r>
            <a:r>
              <a:rPr lang="en-IN" sz="1400" dirty="0" err="1"/>
              <a:t>Mozila</a:t>
            </a:r>
            <a:r>
              <a:rPr lang="en-IN" sz="1400" dirty="0"/>
              <a:t>.&lt;/p&gt; </a:t>
            </a:r>
          </a:p>
          <a:p>
            <a:r>
              <a:rPr lang="en-IN" sz="1400" dirty="0"/>
              <a:t>      &lt;/header&gt; </a:t>
            </a:r>
          </a:p>
          <a:p>
            <a:r>
              <a:rPr lang="en-IN" sz="1400" dirty="0"/>
              <a:t>         &lt;nav&gt; </a:t>
            </a:r>
          </a:p>
          <a:p>
            <a:r>
              <a:rPr lang="en-IN" sz="1400" dirty="0"/>
              <a:t>         &lt;ul&gt; </a:t>
            </a:r>
          </a:p>
          <a:p>
            <a:r>
              <a:rPr lang="en-IN" sz="1400" dirty="0"/>
              <a:t>            &lt;li&gt;&lt;a </a:t>
            </a:r>
            <a:r>
              <a:rPr lang="en-IN" sz="1400" dirty="0" err="1"/>
              <a:t>href</a:t>
            </a:r>
            <a:r>
              <a:rPr lang="en-IN" sz="1400" dirty="0"/>
              <a:t> = "https://www.tutorialspoint.com/html"&gt;HTML 	Tutorial&lt;/a&gt;&lt;/li&gt; </a:t>
            </a:r>
          </a:p>
          <a:p>
            <a:r>
              <a:rPr lang="en-IN" sz="1400" dirty="0"/>
              <a:t>            &lt;li&gt;&lt;a </a:t>
            </a:r>
            <a:r>
              <a:rPr lang="en-IN" sz="1400" dirty="0" err="1"/>
              <a:t>href</a:t>
            </a:r>
            <a:r>
              <a:rPr lang="en-IN" sz="1400" dirty="0"/>
              <a:t> = "https://www.tutorialspoint.com/css"&gt;CSS 	Tutorial&lt;/a&gt;&lt;/li&gt; </a:t>
            </a:r>
          </a:p>
          <a:p>
            <a:r>
              <a:rPr lang="en-IN" sz="1400" dirty="0"/>
              <a:t>            &lt;li&gt;&lt;a </a:t>
            </a:r>
            <a:r>
              <a:rPr lang="en-IN" sz="1400" dirty="0" err="1"/>
              <a:t>href</a:t>
            </a:r>
            <a:r>
              <a:rPr lang="en-IN" sz="1400" dirty="0"/>
              <a:t> = "https://www.tutorialspoint.com/javascript"&gt;</a:t>
            </a:r>
          </a:p>
          <a:p>
            <a:r>
              <a:rPr lang="en-IN" sz="1400" dirty="0"/>
              <a:t>            	JavaScript Tutorial&lt;/a&gt;&lt;/li&gt; </a:t>
            </a:r>
          </a:p>
          <a:p>
            <a:r>
              <a:rPr lang="en-IN" sz="1400" dirty="0"/>
              <a:t>         &lt;/ul&gt; </a:t>
            </a:r>
          </a:p>
          <a:p>
            <a:r>
              <a:rPr lang="en-IN" sz="1400" dirty="0"/>
              <a:t>      &lt;/nav&gt; </a:t>
            </a:r>
          </a:p>
        </p:txBody>
      </p:sp>
      <p:sp>
        <p:nvSpPr>
          <p:cNvPr id="7" name="TextBox 6">
            <a:extLst>
              <a:ext uri="{FF2B5EF4-FFF2-40B4-BE49-F238E27FC236}">
                <a16:creationId xmlns:a16="http://schemas.microsoft.com/office/drawing/2014/main" id="{87C0603A-D7E2-7D23-8196-D99927C7D42D}"/>
              </a:ext>
            </a:extLst>
          </p:cNvPr>
          <p:cNvSpPr txBox="1"/>
          <p:nvPr/>
        </p:nvSpPr>
        <p:spPr>
          <a:xfrm>
            <a:off x="5773271" y="565299"/>
            <a:ext cx="6096000" cy="2677656"/>
          </a:xfrm>
          <a:prstGeom prst="rect">
            <a:avLst/>
          </a:prstGeom>
          <a:noFill/>
        </p:spPr>
        <p:txBody>
          <a:bodyPr wrap="square">
            <a:spAutoFit/>
          </a:bodyPr>
          <a:lstStyle/>
          <a:p>
            <a:r>
              <a:rPr lang="en-IN" sz="1400" dirty="0"/>
              <a:t>&lt;article&gt; </a:t>
            </a:r>
          </a:p>
          <a:p>
            <a:r>
              <a:rPr lang="en-IN" sz="1400" dirty="0"/>
              <a:t>         &lt;section&gt; </a:t>
            </a:r>
          </a:p>
          <a:p>
            <a:r>
              <a:rPr lang="en-IN" sz="1400" dirty="0"/>
              <a:t>            &lt;p&gt;Once article can have multiple sections&lt;/p&gt;</a:t>
            </a:r>
          </a:p>
          <a:p>
            <a:r>
              <a:rPr lang="en-IN" sz="1400" dirty="0"/>
              <a:t>         &lt;/section&gt; </a:t>
            </a:r>
          </a:p>
          <a:p>
            <a:r>
              <a:rPr lang="en-IN" sz="1400" dirty="0"/>
              <a:t>      &lt;/article&gt; </a:t>
            </a:r>
          </a:p>
          <a:p>
            <a:r>
              <a:rPr lang="en-IN" sz="1400" dirty="0"/>
              <a:t>         &lt;aside&gt; </a:t>
            </a:r>
          </a:p>
          <a:p>
            <a:r>
              <a:rPr lang="en-IN" sz="1400" dirty="0"/>
              <a:t>         &lt;p&gt;This is  aside part of the web page&lt;/p&gt; </a:t>
            </a:r>
          </a:p>
          <a:p>
            <a:r>
              <a:rPr lang="en-IN" sz="1400" dirty="0"/>
              <a:t>      &lt;/aside&gt; </a:t>
            </a:r>
          </a:p>
          <a:p>
            <a:r>
              <a:rPr lang="en-IN" sz="1400" dirty="0"/>
              <a:t>         &lt;footer&gt; </a:t>
            </a:r>
          </a:p>
          <a:p>
            <a:r>
              <a:rPr lang="en-IN" sz="1400" dirty="0"/>
              <a:t>      &lt;/footer&gt; </a:t>
            </a:r>
          </a:p>
          <a:p>
            <a:r>
              <a:rPr lang="en-IN" sz="1400" dirty="0"/>
              <a:t>   &lt;/body&gt; </a:t>
            </a:r>
          </a:p>
          <a:p>
            <a:r>
              <a:rPr lang="en-IN" sz="1400" dirty="0"/>
              <a:t>&lt;/html&gt; </a:t>
            </a:r>
          </a:p>
        </p:txBody>
      </p:sp>
      <p:pic>
        <p:nvPicPr>
          <p:cNvPr id="9" name="Picture 8">
            <a:extLst>
              <a:ext uri="{FF2B5EF4-FFF2-40B4-BE49-F238E27FC236}">
                <a16:creationId xmlns:a16="http://schemas.microsoft.com/office/drawing/2014/main" id="{57B80A66-36B4-DBAE-F964-390E7C062E60}"/>
              </a:ext>
            </a:extLst>
          </p:cNvPr>
          <p:cNvPicPr>
            <a:picLocks noChangeAspect="1"/>
          </p:cNvPicPr>
          <p:nvPr/>
        </p:nvPicPr>
        <p:blipFill>
          <a:blip r:embed="rId2"/>
          <a:stretch>
            <a:fillRect/>
          </a:stretch>
        </p:blipFill>
        <p:spPr>
          <a:xfrm>
            <a:off x="5773271" y="3859218"/>
            <a:ext cx="4648154" cy="2255832"/>
          </a:xfrm>
          <a:prstGeom prst="rect">
            <a:avLst/>
          </a:prstGeom>
        </p:spPr>
      </p:pic>
    </p:spTree>
    <p:extLst>
      <p:ext uri="{BB962C8B-B14F-4D97-AF65-F5344CB8AC3E}">
        <p14:creationId xmlns:p14="http://schemas.microsoft.com/office/powerpoint/2010/main" val="228214489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104AA-E0C5-CEDC-A33E-79541E7821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DB2248-2E5C-D545-1E59-C8D12DB99B23}"/>
              </a:ext>
            </a:extLst>
          </p:cNvPr>
          <p:cNvSpPr txBox="1"/>
          <p:nvPr/>
        </p:nvSpPr>
        <p:spPr>
          <a:xfrm>
            <a:off x="528918" y="421341"/>
            <a:ext cx="11143129" cy="6309420"/>
          </a:xfrm>
          <a:prstGeom prst="rect">
            <a:avLst/>
          </a:prstGeom>
          <a:noFill/>
        </p:spPr>
        <p:txBody>
          <a:bodyPr wrap="square" rtlCol="0">
            <a:spAutoFit/>
          </a:bodyPr>
          <a:lstStyle/>
          <a:p>
            <a:r>
              <a:rPr lang="en-US" sz="2400" dirty="0">
                <a:solidFill>
                  <a:srgbClr val="FF0000"/>
                </a:solidFill>
              </a:rPr>
              <a:t>VIEWPORT</a:t>
            </a:r>
            <a:endParaRPr lang="en-US" sz="2000" dirty="0"/>
          </a:p>
          <a:p>
            <a:pPr marL="342900" indent="-342900" algn="just">
              <a:buFont typeface="Arial" panose="020B0604020202020204" pitchFamily="34" charset="0"/>
              <a:buChar char="•"/>
            </a:pPr>
            <a:r>
              <a:rPr lang="en-US" sz="2000" dirty="0"/>
              <a:t>Viewport is the area of web page in which the content is visible to the user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viewport does not have the same size, it varies with the variation in screen size of the devices on which the website is visible.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a laptop, the viewport has a larger size as compared to a smartphone or tablet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When a page is not made responsive for smaller viewports it looks bad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To fix this problem, </a:t>
            </a:r>
            <a:r>
              <a:rPr lang="en-US" sz="2000" dirty="0">
                <a:solidFill>
                  <a:srgbClr val="FFC000"/>
                </a:solidFill>
              </a:rPr>
              <a:t>meta viewport </a:t>
            </a:r>
            <a:r>
              <a:rPr lang="en-US" sz="2000" dirty="0"/>
              <a:t>was introduced, a responsive tag to control the viewport</a:t>
            </a:r>
            <a:endParaRPr lang="en-IN" sz="2000" dirty="0"/>
          </a:p>
          <a:p>
            <a:endParaRPr lang="en-US" sz="2000" dirty="0"/>
          </a:p>
          <a:p>
            <a:endParaRPr lang="en-US" sz="2000" dirty="0"/>
          </a:p>
          <a:p>
            <a:endParaRPr lang="en-US" sz="2000" dirty="0"/>
          </a:p>
          <a:p>
            <a:pPr marL="342900" indent="-342900" algn="just">
              <a:buFont typeface="Arial" panose="020B0604020202020204" pitchFamily="34" charset="0"/>
              <a:buChar char="•"/>
            </a:pPr>
            <a:r>
              <a:rPr lang="en-US" sz="2000" dirty="0">
                <a:solidFill>
                  <a:srgbClr val="FFC000"/>
                </a:solidFill>
              </a:rPr>
              <a:t>width=device-width</a:t>
            </a:r>
            <a:r>
              <a:rPr lang="en-US" sz="2000" dirty="0"/>
              <a:t> sets the width of the page to follow the screen-width of the device (which will vary depending on the device)</a:t>
            </a:r>
          </a:p>
          <a:p>
            <a:pPr marL="342900" indent="-342900" algn="just">
              <a:buFont typeface="Arial" panose="020B0604020202020204" pitchFamily="34" charset="0"/>
              <a:buChar char="•"/>
            </a:pPr>
            <a:endParaRPr lang="en-US" sz="2000" dirty="0">
              <a:solidFill>
                <a:srgbClr val="FFC000"/>
              </a:solidFill>
            </a:endParaRPr>
          </a:p>
          <a:p>
            <a:pPr marL="342900" indent="-342900" algn="just">
              <a:buFont typeface="Arial" panose="020B0604020202020204" pitchFamily="34" charset="0"/>
              <a:buChar char="•"/>
            </a:pPr>
            <a:r>
              <a:rPr lang="en-US" sz="2000" dirty="0">
                <a:solidFill>
                  <a:srgbClr val="FFC000"/>
                </a:solidFill>
              </a:rPr>
              <a:t>initial-scale=1.0</a:t>
            </a:r>
            <a:r>
              <a:rPr lang="en-US" sz="2000" dirty="0"/>
              <a:t>  sets the initial zoom level when the page is first loaded by the browser (100%)</a:t>
            </a:r>
            <a:endParaRPr lang="en-IN" sz="2000" dirty="0"/>
          </a:p>
          <a:p>
            <a:endParaRPr lang="en-US" sz="2000" dirty="0"/>
          </a:p>
          <a:p>
            <a:endParaRPr lang="en-IN" sz="2000" dirty="0"/>
          </a:p>
        </p:txBody>
      </p:sp>
      <p:pic>
        <p:nvPicPr>
          <p:cNvPr id="3" name="Picture 2">
            <a:extLst>
              <a:ext uri="{FF2B5EF4-FFF2-40B4-BE49-F238E27FC236}">
                <a16:creationId xmlns:a16="http://schemas.microsoft.com/office/drawing/2014/main" id="{DCC6A3C2-62A7-797E-73A2-590347F1131B}"/>
              </a:ext>
            </a:extLst>
          </p:cNvPr>
          <p:cNvPicPr>
            <a:picLocks noChangeAspect="1"/>
          </p:cNvPicPr>
          <p:nvPr/>
        </p:nvPicPr>
        <p:blipFill>
          <a:blip r:embed="rId2"/>
          <a:stretch>
            <a:fillRect/>
          </a:stretch>
        </p:blipFill>
        <p:spPr>
          <a:xfrm>
            <a:off x="918171" y="4055175"/>
            <a:ext cx="9781916" cy="636044"/>
          </a:xfrm>
          <a:prstGeom prst="rect">
            <a:avLst/>
          </a:prstGeom>
        </p:spPr>
      </p:pic>
    </p:spTree>
    <p:extLst>
      <p:ext uri="{BB962C8B-B14F-4D97-AF65-F5344CB8AC3E}">
        <p14:creationId xmlns:p14="http://schemas.microsoft.com/office/powerpoint/2010/main" val="20652185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3D3D-86CD-8A70-D066-9624167EEB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0C761A-DA7E-92CD-6B91-4257C4D2DD4F}"/>
              </a:ext>
            </a:extLst>
          </p:cNvPr>
          <p:cNvSpPr txBox="1"/>
          <p:nvPr/>
        </p:nvSpPr>
        <p:spPr>
          <a:xfrm>
            <a:off x="403413" y="497717"/>
            <a:ext cx="6096000" cy="5262979"/>
          </a:xfrm>
          <a:prstGeom prst="rect">
            <a:avLst/>
          </a:prstGeom>
          <a:noFill/>
        </p:spPr>
        <p:txBody>
          <a:bodyPr wrap="square">
            <a:spAutoFit/>
          </a:bodyPr>
          <a:lstStyle/>
          <a:p>
            <a:r>
              <a:rPr lang="en-IN" sz="1400" dirty="0"/>
              <a:t>&lt;!DOCTYPE html&gt;</a:t>
            </a:r>
          </a:p>
          <a:p>
            <a:r>
              <a:rPr lang="en-IN" sz="1400" dirty="0"/>
              <a:t>&lt;html lang="</a:t>
            </a:r>
            <a:r>
              <a:rPr lang="en-IN" sz="1400" dirty="0" err="1"/>
              <a:t>en</a:t>
            </a:r>
            <a:r>
              <a:rPr lang="en-IN" sz="1400" dirty="0"/>
              <a:t>"&gt;</a:t>
            </a:r>
          </a:p>
          <a:p>
            <a:r>
              <a:rPr lang="en-IN" sz="1400" dirty="0"/>
              <a:t>&lt;head&gt;</a:t>
            </a:r>
          </a:p>
          <a:p>
            <a:r>
              <a:rPr lang="en-IN" sz="1400" dirty="0"/>
              <a:t>  &lt;meta charset="UTF-8"&gt;</a:t>
            </a:r>
          </a:p>
          <a:p>
            <a:r>
              <a:rPr lang="en-IN" sz="1400" dirty="0"/>
              <a:t>  &lt;title&gt;Viewport Example&lt;/title&gt;</a:t>
            </a:r>
          </a:p>
          <a:p>
            <a:endParaRPr lang="en-IN" sz="1400" dirty="0"/>
          </a:p>
          <a:p>
            <a:r>
              <a:rPr lang="en-IN" sz="1400" dirty="0"/>
              <a:t>  &lt;!-- Viewport meta tag --&gt;</a:t>
            </a:r>
          </a:p>
          <a:p>
            <a:r>
              <a:rPr lang="en-IN" sz="1400" dirty="0"/>
              <a:t>  &lt;meta name="viewport" content="width=device-width, initial-scale=1.0"&gt;</a:t>
            </a:r>
          </a:p>
          <a:p>
            <a:endParaRPr lang="en-IN" sz="1400" dirty="0"/>
          </a:p>
          <a:p>
            <a:r>
              <a:rPr lang="en-IN" sz="1400" dirty="0"/>
              <a:t>  &lt;style&gt;</a:t>
            </a:r>
          </a:p>
          <a:p>
            <a:r>
              <a:rPr lang="en-IN" sz="1400" dirty="0"/>
              <a:t>    body {</a:t>
            </a:r>
          </a:p>
          <a:p>
            <a:r>
              <a:rPr lang="en-IN" sz="1400" dirty="0"/>
              <a:t>      font-family: Arial, sans-serif;</a:t>
            </a:r>
          </a:p>
          <a:p>
            <a:r>
              <a:rPr lang="en-IN" sz="1400" dirty="0"/>
              <a:t>      margin: 0;</a:t>
            </a:r>
          </a:p>
          <a:p>
            <a:r>
              <a:rPr lang="en-IN" sz="1400" dirty="0"/>
              <a:t>      padding: 0;</a:t>
            </a:r>
          </a:p>
          <a:p>
            <a:r>
              <a:rPr lang="en-IN" sz="1400" dirty="0"/>
              <a:t>    }</a:t>
            </a:r>
          </a:p>
          <a:p>
            <a:r>
              <a:rPr lang="en-IN" sz="1400" dirty="0"/>
              <a:t>    .box {</a:t>
            </a:r>
          </a:p>
          <a:p>
            <a:r>
              <a:rPr lang="en-IN" sz="1400" dirty="0"/>
              <a:t>      width: 50%;</a:t>
            </a:r>
          </a:p>
          <a:p>
            <a:r>
              <a:rPr lang="en-IN" sz="1400" dirty="0"/>
              <a:t>      margin: auto;</a:t>
            </a:r>
          </a:p>
          <a:p>
            <a:r>
              <a:rPr lang="en-IN" sz="1400" dirty="0"/>
              <a:t>      background: </a:t>
            </a:r>
            <a:r>
              <a:rPr lang="en-IN" sz="1400" dirty="0" err="1"/>
              <a:t>lightblue</a:t>
            </a:r>
            <a:r>
              <a:rPr lang="en-IN" sz="1400" dirty="0"/>
              <a:t>;</a:t>
            </a:r>
          </a:p>
          <a:p>
            <a:r>
              <a:rPr lang="en-IN" sz="1400" dirty="0"/>
              <a:t>      padding: 20px;</a:t>
            </a:r>
          </a:p>
          <a:p>
            <a:r>
              <a:rPr lang="en-IN" sz="1400" dirty="0"/>
              <a:t>      text-align: </a:t>
            </a:r>
            <a:r>
              <a:rPr lang="en-IN" sz="1400" dirty="0" err="1"/>
              <a:t>center</a:t>
            </a:r>
            <a:r>
              <a:rPr lang="en-IN" sz="1400" dirty="0"/>
              <a:t>;</a:t>
            </a:r>
          </a:p>
          <a:p>
            <a:r>
              <a:rPr lang="en-IN" sz="1400" dirty="0"/>
              <a:t>    }</a:t>
            </a:r>
          </a:p>
          <a:p>
            <a:r>
              <a:rPr lang="en-IN" sz="1400" dirty="0"/>
              <a:t>  &lt;/style&gt;</a:t>
            </a:r>
          </a:p>
          <a:p>
            <a:r>
              <a:rPr lang="en-IN" sz="1400" dirty="0"/>
              <a:t>&lt;/head&gt;</a:t>
            </a:r>
          </a:p>
        </p:txBody>
      </p:sp>
      <p:sp>
        <p:nvSpPr>
          <p:cNvPr id="6" name="TextBox 5">
            <a:extLst>
              <a:ext uri="{FF2B5EF4-FFF2-40B4-BE49-F238E27FC236}">
                <a16:creationId xmlns:a16="http://schemas.microsoft.com/office/drawing/2014/main" id="{7F21CC54-9ECA-9563-F7D9-69299D908C2E}"/>
              </a:ext>
            </a:extLst>
          </p:cNvPr>
          <p:cNvSpPr txBox="1"/>
          <p:nvPr/>
        </p:nvSpPr>
        <p:spPr>
          <a:xfrm>
            <a:off x="6024283" y="365356"/>
            <a:ext cx="6096000" cy="1600438"/>
          </a:xfrm>
          <a:prstGeom prst="rect">
            <a:avLst/>
          </a:prstGeom>
          <a:noFill/>
        </p:spPr>
        <p:txBody>
          <a:bodyPr wrap="square">
            <a:spAutoFit/>
          </a:bodyPr>
          <a:lstStyle/>
          <a:p>
            <a:r>
              <a:rPr lang="en-IN" sz="1400" dirty="0"/>
              <a:t>&lt;body&gt;</a:t>
            </a:r>
          </a:p>
          <a:p>
            <a:r>
              <a:rPr lang="en-IN" sz="1400" dirty="0"/>
              <a:t>  &lt;div class="box"&gt;</a:t>
            </a:r>
          </a:p>
          <a:p>
            <a:r>
              <a:rPr lang="en-IN" sz="1400" dirty="0"/>
              <a:t>    &lt;h2&gt;Responsive Box&lt;/h2&gt;</a:t>
            </a:r>
          </a:p>
          <a:p>
            <a:r>
              <a:rPr lang="en-IN" sz="1400" dirty="0"/>
              <a:t>    &lt;p&gt;This box adjusts to screen size thanks to the viewport meta tag.&lt;/p&gt;</a:t>
            </a:r>
          </a:p>
          <a:p>
            <a:r>
              <a:rPr lang="en-IN" sz="1400" dirty="0"/>
              <a:t>  &lt;/div&gt;</a:t>
            </a:r>
          </a:p>
          <a:p>
            <a:r>
              <a:rPr lang="en-IN" sz="1400" dirty="0"/>
              <a:t>&lt;/body&gt;</a:t>
            </a:r>
          </a:p>
          <a:p>
            <a:r>
              <a:rPr lang="en-IN" sz="1400" dirty="0"/>
              <a:t>&lt;/html&gt;</a:t>
            </a:r>
          </a:p>
        </p:txBody>
      </p:sp>
    </p:spTree>
    <p:extLst>
      <p:ext uri="{BB962C8B-B14F-4D97-AF65-F5344CB8AC3E}">
        <p14:creationId xmlns:p14="http://schemas.microsoft.com/office/powerpoint/2010/main" val="39287559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A98F1-AC4C-4D57-A815-55815E4957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94221C-DE13-AC59-FFC8-783D297F5BBF}"/>
              </a:ext>
            </a:extLst>
          </p:cNvPr>
          <p:cNvSpPr txBox="1"/>
          <p:nvPr/>
        </p:nvSpPr>
        <p:spPr>
          <a:xfrm>
            <a:off x="528918" y="421341"/>
            <a:ext cx="11143129" cy="6370975"/>
          </a:xfrm>
          <a:prstGeom prst="rect">
            <a:avLst/>
          </a:prstGeom>
          <a:noFill/>
        </p:spPr>
        <p:txBody>
          <a:bodyPr wrap="square" rtlCol="0">
            <a:spAutoFit/>
          </a:bodyPr>
          <a:lstStyle/>
          <a:p>
            <a:r>
              <a:rPr lang="en-IN" sz="2400" b="1" dirty="0"/>
              <a:t>Canvas</a:t>
            </a:r>
          </a:p>
          <a:p>
            <a:endParaRPr lang="en-US" sz="2400" dirty="0"/>
          </a:p>
          <a:p>
            <a:pPr marL="342900" indent="-342900" algn="just">
              <a:buFont typeface="Arial" panose="020B0604020202020204" pitchFamily="34" charset="0"/>
              <a:buChar char="•"/>
            </a:pPr>
            <a:r>
              <a:rPr lang="en-US" sz="2000" dirty="0"/>
              <a:t>The HTML &lt;canvas&gt; element is used to draw graphics on a web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HTML &lt;canvas&gt; element is only a container for graphics. You must use a script to actually draw the graphics.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Canvas has several methods for drawing paths, boxes, circles, text, and adding images.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Canvas is supported by all major browsers.</a:t>
            </a:r>
          </a:p>
          <a:p>
            <a:pPr marL="342900" indent="-342900" algn="just">
              <a:buFont typeface="Arial" panose="020B0604020202020204" pitchFamily="34" charset="0"/>
              <a:buChar char="•"/>
            </a:pPr>
            <a:endParaRPr lang="en-US" sz="2000" dirty="0"/>
          </a:p>
          <a:p>
            <a:pPr algn="just"/>
            <a:r>
              <a:rPr lang="en-US" sz="2000" dirty="0"/>
              <a:t>USES</a:t>
            </a:r>
          </a:p>
          <a:p>
            <a:pPr marL="342900" indent="-342900" algn="just">
              <a:buFont typeface="Arial" panose="020B0604020202020204" pitchFamily="34" charset="0"/>
              <a:buChar char="•"/>
            </a:pPr>
            <a:r>
              <a:rPr lang="en-US" sz="2000" dirty="0"/>
              <a:t>Canvas can draw colorful text, with or without animation. </a:t>
            </a:r>
          </a:p>
          <a:p>
            <a:pPr marL="342900" indent="-342900" algn="just">
              <a:buFont typeface="Arial" panose="020B0604020202020204" pitchFamily="34" charset="0"/>
              <a:buChar char="•"/>
            </a:pPr>
            <a:r>
              <a:rPr lang="en-US" sz="2000" dirty="0"/>
              <a:t>Canvas has great features for graphical data presentation with an imagery of graphs and charts. </a:t>
            </a:r>
          </a:p>
          <a:p>
            <a:pPr marL="342900" indent="-342900" algn="just">
              <a:buFont typeface="Arial" panose="020B0604020202020204" pitchFamily="34" charset="0"/>
              <a:buChar char="•"/>
            </a:pPr>
            <a:r>
              <a:rPr lang="en-US" sz="2000" dirty="0"/>
              <a:t>Canvas objects can move. Everything is possible: from simple bouncing balls to complex animations.</a:t>
            </a:r>
          </a:p>
          <a:p>
            <a:pPr marL="342900" indent="-342900" algn="just">
              <a:buFont typeface="Arial" panose="020B0604020202020204" pitchFamily="34" charset="0"/>
              <a:buChar char="•"/>
            </a:pPr>
            <a:r>
              <a:rPr lang="en-US" sz="2000" dirty="0"/>
              <a:t>Canvas can respond to any user action (key clicks, mouse clicks, button clicks, finger movement).</a:t>
            </a:r>
          </a:p>
          <a:p>
            <a:pPr marL="342900" indent="-342900" algn="just">
              <a:buFont typeface="Arial" panose="020B0604020202020204" pitchFamily="34" charset="0"/>
              <a:buChar char="•"/>
            </a:pPr>
            <a:r>
              <a:rPr lang="en-US" sz="2000" dirty="0"/>
              <a:t>Canvas' methods for animations, offer a lot of possibilities for HTML gaming applications.</a:t>
            </a:r>
          </a:p>
          <a:p>
            <a:endParaRPr lang="en-US" sz="2000" dirty="0"/>
          </a:p>
          <a:p>
            <a:endParaRPr lang="en-IN" sz="2000" dirty="0"/>
          </a:p>
        </p:txBody>
      </p:sp>
    </p:spTree>
    <p:extLst>
      <p:ext uri="{BB962C8B-B14F-4D97-AF65-F5344CB8AC3E}">
        <p14:creationId xmlns:p14="http://schemas.microsoft.com/office/powerpoint/2010/main" val="34324228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E1AA0-4FB4-FD34-7A4E-F71B7E25E9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F67C61-3761-3246-2273-9E051ED4AB64}"/>
              </a:ext>
            </a:extLst>
          </p:cNvPr>
          <p:cNvSpPr txBox="1"/>
          <p:nvPr/>
        </p:nvSpPr>
        <p:spPr>
          <a:xfrm>
            <a:off x="528918" y="421341"/>
            <a:ext cx="11143129" cy="6309420"/>
          </a:xfrm>
          <a:prstGeom prst="rect">
            <a:avLst/>
          </a:prstGeom>
          <a:noFill/>
        </p:spPr>
        <p:txBody>
          <a:bodyPr wrap="square" rtlCol="0">
            <a:spAutoFit/>
          </a:bodyPr>
          <a:lstStyle/>
          <a:p>
            <a:r>
              <a:rPr lang="en-IN" sz="2400" b="1" dirty="0"/>
              <a:t>Canvas Example</a:t>
            </a:r>
          </a:p>
          <a:p>
            <a:endParaRPr lang="en-US" sz="2000" dirty="0"/>
          </a:p>
          <a:p>
            <a:pPr>
              <a:buNone/>
            </a:pPr>
            <a:r>
              <a:rPr lang="en-US" sz="2000" dirty="0">
                <a:solidFill>
                  <a:srgbClr val="999999"/>
                </a:solidFill>
                <a:effectLst/>
              </a:rPr>
              <a:t>	</a:t>
            </a:r>
            <a:r>
              <a:rPr lang="en-US" dirty="0">
                <a:solidFill>
                  <a:srgbClr val="999999"/>
                </a:solidFill>
                <a:effectLst/>
              </a:rPr>
              <a:t>&lt;</a:t>
            </a:r>
            <a:r>
              <a:rPr lang="en-US" dirty="0">
                <a:solidFill>
                  <a:srgbClr val="990055"/>
                </a:solidFill>
                <a:effectLst/>
              </a:rPr>
              <a:t>canvas</a:t>
            </a:r>
            <a:r>
              <a:rPr lang="en-US" dirty="0">
                <a:solidFill>
                  <a:srgbClr val="008000"/>
                </a:solidFill>
                <a:effectLst/>
              </a:rPr>
              <a:t> id</a:t>
            </a:r>
            <a:r>
              <a:rPr lang="en-US" dirty="0">
                <a:solidFill>
                  <a:srgbClr val="005CC5"/>
                </a:solidFill>
                <a:effectLst/>
              </a:rPr>
              <a:t>="</a:t>
            </a:r>
            <a:r>
              <a:rPr lang="en-US" dirty="0" err="1">
                <a:solidFill>
                  <a:srgbClr val="005CC5"/>
                </a:solidFill>
                <a:effectLst/>
              </a:rPr>
              <a:t>myCanvas</a:t>
            </a:r>
            <a:r>
              <a:rPr lang="en-US" dirty="0">
                <a:solidFill>
                  <a:srgbClr val="005CC5"/>
                </a:solidFill>
                <a:effectLst/>
              </a:rPr>
              <a:t>"</a:t>
            </a:r>
            <a:r>
              <a:rPr lang="en-US" dirty="0">
                <a:solidFill>
                  <a:srgbClr val="008000"/>
                </a:solidFill>
                <a:effectLst/>
              </a:rPr>
              <a:t> width</a:t>
            </a:r>
            <a:r>
              <a:rPr lang="en-US" dirty="0">
                <a:solidFill>
                  <a:srgbClr val="005CC5"/>
                </a:solidFill>
                <a:effectLst/>
              </a:rPr>
              <a:t>="200"</a:t>
            </a:r>
            <a:r>
              <a:rPr lang="en-US" dirty="0">
                <a:solidFill>
                  <a:srgbClr val="008000"/>
                </a:solidFill>
                <a:effectLst/>
              </a:rPr>
              <a:t> height</a:t>
            </a:r>
            <a:r>
              <a:rPr lang="en-US" dirty="0">
                <a:solidFill>
                  <a:srgbClr val="005CC5"/>
                </a:solidFill>
                <a:effectLst/>
              </a:rPr>
              <a:t>="100"</a:t>
            </a:r>
            <a:r>
              <a:rPr lang="en-US" dirty="0">
                <a:solidFill>
                  <a:srgbClr val="999999"/>
                </a:solidFill>
                <a:effectLst/>
              </a:rPr>
              <a:t>&gt;&lt;</a:t>
            </a:r>
            <a:r>
              <a:rPr lang="en-US" dirty="0">
                <a:solidFill>
                  <a:srgbClr val="990055"/>
                </a:solidFill>
                <a:effectLst/>
              </a:rPr>
              <a:t>/canvas</a:t>
            </a:r>
            <a:r>
              <a:rPr lang="en-US" dirty="0">
                <a:solidFill>
                  <a:srgbClr val="999999"/>
                </a:solidFill>
                <a:effectLst/>
              </a:rPr>
              <a:t>&gt;</a:t>
            </a:r>
            <a:r>
              <a:rPr lang="en-US" dirty="0"/>
              <a:t> </a:t>
            </a:r>
          </a:p>
          <a:p>
            <a:pPr>
              <a:buNone/>
            </a:pPr>
            <a:endParaRPr lang="en-IN" dirty="0">
              <a:solidFill>
                <a:srgbClr val="999999"/>
              </a:solidFill>
              <a:effectLst/>
            </a:endParaRPr>
          </a:p>
          <a:p>
            <a:pPr>
              <a:buNone/>
            </a:pPr>
            <a:r>
              <a:rPr lang="en-IN" dirty="0">
                <a:solidFill>
                  <a:srgbClr val="999999"/>
                </a:solidFill>
                <a:effectLst/>
              </a:rPr>
              <a:t>	&lt;</a:t>
            </a:r>
            <a:r>
              <a:rPr lang="en-IN" dirty="0">
                <a:solidFill>
                  <a:srgbClr val="990055"/>
                </a:solidFill>
                <a:effectLst/>
              </a:rPr>
              <a:t>canvas</a:t>
            </a:r>
            <a:r>
              <a:rPr lang="en-IN" dirty="0">
                <a:solidFill>
                  <a:srgbClr val="008000"/>
                </a:solidFill>
                <a:effectLst/>
              </a:rPr>
              <a:t> id</a:t>
            </a:r>
            <a:r>
              <a:rPr lang="en-IN" dirty="0">
                <a:solidFill>
                  <a:srgbClr val="005CC5"/>
                </a:solidFill>
                <a:effectLst/>
              </a:rPr>
              <a:t>="</a:t>
            </a:r>
            <a:r>
              <a:rPr lang="en-IN" dirty="0" err="1">
                <a:solidFill>
                  <a:srgbClr val="005CC5"/>
                </a:solidFill>
                <a:effectLst/>
              </a:rPr>
              <a:t>myCanvas</a:t>
            </a:r>
            <a:r>
              <a:rPr lang="en-IN" dirty="0">
                <a:solidFill>
                  <a:srgbClr val="005CC5"/>
                </a:solidFill>
                <a:effectLst/>
              </a:rPr>
              <a:t>"</a:t>
            </a:r>
            <a:r>
              <a:rPr lang="en-IN" dirty="0">
                <a:solidFill>
                  <a:srgbClr val="008000"/>
                </a:solidFill>
                <a:effectLst/>
              </a:rPr>
              <a:t> width</a:t>
            </a:r>
            <a:r>
              <a:rPr lang="en-IN" dirty="0">
                <a:solidFill>
                  <a:srgbClr val="005CC5"/>
                </a:solidFill>
                <a:effectLst/>
              </a:rPr>
              <a:t>="200"</a:t>
            </a:r>
            <a:r>
              <a:rPr lang="en-IN" dirty="0">
                <a:solidFill>
                  <a:srgbClr val="008000"/>
                </a:solidFill>
                <a:effectLst/>
              </a:rPr>
              <a:t> height</a:t>
            </a:r>
            <a:r>
              <a:rPr lang="en-IN" dirty="0">
                <a:solidFill>
                  <a:srgbClr val="005CC5"/>
                </a:solidFill>
                <a:effectLst/>
              </a:rPr>
              <a:t>="100"</a:t>
            </a:r>
            <a:r>
              <a:rPr lang="en-IN" dirty="0">
                <a:solidFill>
                  <a:srgbClr val="008000"/>
                </a:solidFill>
                <a:effectLst/>
              </a:rPr>
              <a:t> style</a:t>
            </a:r>
            <a:r>
              <a:rPr lang="en-IN" dirty="0">
                <a:solidFill>
                  <a:srgbClr val="005CC5"/>
                </a:solidFill>
                <a:effectLst/>
              </a:rPr>
              <a:t>="border:1px solid #000000;"</a:t>
            </a:r>
            <a:r>
              <a:rPr lang="en-IN" dirty="0">
                <a:solidFill>
                  <a:srgbClr val="999999"/>
                </a:solidFill>
                <a:effectLst/>
              </a:rPr>
              <a:t>&gt;&lt;</a:t>
            </a:r>
            <a:r>
              <a:rPr lang="en-IN" dirty="0">
                <a:solidFill>
                  <a:srgbClr val="990055"/>
                </a:solidFill>
                <a:effectLst/>
              </a:rPr>
              <a:t>/canvas</a:t>
            </a:r>
            <a:r>
              <a:rPr lang="en-IN" dirty="0">
                <a:solidFill>
                  <a:srgbClr val="999999"/>
                </a:solidFill>
                <a:effectLst/>
              </a:rPr>
              <a:t>&gt;</a:t>
            </a:r>
            <a:r>
              <a:rPr lang="en-IN" dirty="0"/>
              <a:t> </a:t>
            </a:r>
          </a:p>
          <a:p>
            <a:endParaRPr lang="en-US" sz="2000" dirty="0"/>
          </a:p>
          <a:p>
            <a:r>
              <a:rPr lang="en-US" sz="2000" b="1" dirty="0"/>
              <a:t>Draw on the Canvas With JavaScript</a:t>
            </a:r>
          </a:p>
          <a:p>
            <a:endParaRPr lang="en-US" sz="2000" dirty="0"/>
          </a:p>
          <a:p>
            <a:pPr marL="342900" indent="-342900">
              <a:buFont typeface="Arial" panose="020B0604020202020204" pitchFamily="34" charset="0"/>
              <a:buChar char="•"/>
            </a:pPr>
            <a:r>
              <a:rPr lang="en-US" sz="2000" dirty="0"/>
              <a:t>The drawing on the canvas is done with JavaScript.</a:t>
            </a:r>
          </a:p>
          <a:p>
            <a:pPr marL="342900" indent="-342900">
              <a:buFont typeface="Arial" panose="020B0604020202020204" pitchFamily="34" charset="0"/>
              <a:buChar char="•"/>
            </a:pPr>
            <a:r>
              <a:rPr lang="en-US" sz="2000" dirty="0"/>
              <a:t>The canvas is initially blank. To display something, a script is needed to access the rendering context and draw on it.</a:t>
            </a:r>
          </a:p>
          <a:p>
            <a:pPr lvl="2"/>
            <a:r>
              <a:rPr lang="en-IN" sz="1600" dirty="0">
                <a:solidFill>
                  <a:srgbClr val="999999"/>
                </a:solidFill>
                <a:effectLst/>
              </a:rPr>
              <a:t>&lt;</a:t>
            </a:r>
            <a:r>
              <a:rPr lang="en-IN" sz="1600" dirty="0">
                <a:solidFill>
                  <a:srgbClr val="990055"/>
                </a:solidFill>
                <a:effectLst/>
              </a:rPr>
              <a:t>canvas</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myCanvas</a:t>
            </a:r>
            <a:r>
              <a:rPr lang="en-IN" sz="1600" dirty="0">
                <a:solidFill>
                  <a:srgbClr val="005CC5"/>
                </a:solidFill>
                <a:effectLst/>
              </a:rPr>
              <a:t>"</a:t>
            </a:r>
            <a:r>
              <a:rPr lang="en-IN" sz="1600" dirty="0">
                <a:solidFill>
                  <a:srgbClr val="008000"/>
                </a:solidFill>
                <a:effectLst/>
              </a:rPr>
              <a:t> width</a:t>
            </a:r>
            <a:r>
              <a:rPr lang="en-IN" sz="1600" dirty="0">
                <a:solidFill>
                  <a:srgbClr val="005CC5"/>
                </a:solidFill>
                <a:effectLst/>
              </a:rPr>
              <a:t>="200"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style</a:t>
            </a:r>
            <a:r>
              <a:rPr lang="en-IN" sz="1600" dirty="0">
                <a:solidFill>
                  <a:srgbClr val="005CC5"/>
                </a:solidFill>
                <a:effectLst/>
              </a:rPr>
              <a:t>="border:1px solid black;"</a:t>
            </a:r>
            <a:r>
              <a:rPr lang="en-IN" sz="1600" dirty="0">
                <a:solidFill>
                  <a:srgbClr val="999999"/>
                </a:solidFill>
                <a:effectLst/>
              </a:rPr>
              <a:t>&gt;&lt;</a:t>
            </a:r>
            <a:r>
              <a:rPr lang="en-IN" sz="1600" dirty="0">
                <a:solidFill>
                  <a:srgbClr val="990055"/>
                </a:solidFill>
                <a:effectLst/>
              </a:rPr>
              <a:t>/canvas</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script</a:t>
            </a:r>
            <a:r>
              <a:rPr lang="en-IN" sz="1600" dirty="0">
                <a:solidFill>
                  <a:srgbClr val="999999"/>
                </a:solidFill>
                <a:effectLst/>
              </a:rPr>
              <a:t>&gt;</a:t>
            </a:r>
            <a:br>
              <a:rPr lang="en-IN" sz="1600" dirty="0">
                <a:solidFill>
                  <a:srgbClr val="000000"/>
                </a:solidFill>
                <a:effectLst/>
              </a:rPr>
            </a:br>
            <a:r>
              <a:rPr lang="en-IN" sz="1600" dirty="0">
                <a:solidFill>
                  <a:srgbClr val="000000"/>
                </a:solidFill>
                <a:effectLst/>
              </a:rPr>
              <a:t>	</a:t>
            </a:r>
            <a:r>
              <a:rPr lang="en-IN" sz="1600" dirty="0" err="1">
                <a:solidFill>
                  <a:srgbClr val="005CC5"/>
                </a:solidFill>
                <a:effectLst/>
              </a:rPr>
              <a:t>const</a:t>
            </a:r>
            <a:r>
              <a:rPr lang="en-IN" sz="1600" dirty="0">
                <a:solidFill>
                  <a:srgbClr val="000000"/>
                </a:solidFill>
                <a:effectLst/>
              </a:rPr>
              <a:t> canvas = </a:t>
            </a:r>
            <a:r>
              <a:rPr lang="en-IN" sz="1600" dirty="0" err="1">
                <a:solidFill>
                  <a:srgbClr val="000000"/>
                </a:solidFill>
                <a:effectLst/>
              </a:rPr>
              <a:t>document.getElementById</a:t>
            </a:r>
            <a:r>
              <a:rPr lang="en-IN" sz="1600" dirty="0">
                <a:solidFill>
                  <a:srgbClr val="000000"/>
                </a:solidFill>
                <a:effectLst/>
              </a:rPr>
              <a:t>(</a:t>
            </a:r>
            <a:r>
              <a:rPr lang="en-IN" sz="1600" dirty="0">
                <a:solidFill>
                  <a:srgbClr val="008000"/>
                </a:solidFill>
                <a:effectLst/>
              </a:rPr>
              <a:t>"</a:t>
            </a:r>
            <a:r>
              <a:rPr lang="en-IN" sz="1600" dirty="0" err="1">
                <a:solidFill>
                  <a:srgbClr val="008000"/>
                </a:solidFill>
                <a:effectLst/>
              </a:rPr>
              <a:t>myCanvas</a:t>
            </a:r>
            <a:r>
              <a:rPr lang="en-IN" sz="1600" dirty="0">
                <a:solidFill>
                  <a:srgbClr val="008000"/>
                </a:solidFill>
                <a:effectLst/>
              </a:rPr>
              <a:t>"</a:t>
            </a:r>
            <a:r>
              <a:rPr lang="en-IN" sz="1600" dirty="0">
                <a:solidFill>
                  <a:srgbClr val="000000"/>
                </a:solidFill>
                <a:effectLst/>
              </a:rPr>
              <a:t>);</a:t>
            </a:r>
            <a:br>
              <a:rPr lang="en-IN" sz="1600" dirty="0">
                <a:solidFill>
                  <a:srgbClr val="000000"/>
                </a:solidFill>
                <a:effectLst/>
              </a:rPr>
            </a:br>
            <a:r>
              <a:rPr lang="en-IN" sz="1600" dirty="0">
                <a:solidFill>
                  <a:srgbClr val="000000"/>
                </a:solidFill>
                <a:effectLst/>
              </a:rPr>
              <a:t>	</a:t>
            </a:r>
            <a:r>
              <a:rPr lang="en-IN" sz="1600" dirty="0" err="1">
                <a:solidFill>
                  <a:srgbClr val="005CC5"/>
                </a:solidFill>
                <a:effectLst/>
              </a:rPr>
              <a:t>const</a:t>
            </a:r>
            <a:r>
              <a:rPr lang="en-IN" sz="1600" dirty="0">
                <a:solidFill>
                  <a:srgbClr val="000000"/>
                </a:solidFill>
                <a:effectLst/>
              </a:rPr>
              <a:t> </a:t>
            </a:r>
            <a:r>
              <a:rPr lang="en-IN" sz="1600" dirty="0" err="1">
                <a:solidFill>
                  <a:srgbClr val="000000"/>
                </a:solidFill>
                <a:effectLst/>
              </a:rPr>
              <a:t>ctx</a:t>
            </a:r>
            <a:r>
              <a:rPr lang="en-IN" sz="1600" dirty="0">
                <a:solidFill>
                  <a:srgbClr val="000000"/>
                </a:solidFill>
                <a:effectLst/>
              </a:rPr>
              <a:t> = </a:t>
            </a:r>
            <a:r>
              <a:rPr lang="en-IN" sz="1600" dirty="0" err="1">
                <a:solidFill>
                  <a:srgbClr val="000000"/>
                </a:solidFill>
                <a:effectLst/>
              </a:rPr>
              <a:t>canvas.getContext</a:t>
            </a:r>
            <a:r>
              <a:rPr lang="en-IN" sz="1600" dirty="0">
                <a:solidFill>
                  <a:srgbClr val="000000"/>
                </a:solidFill>
                <a:effectLst/>
              </a:rPr>
              <a:t>(</a:t>
            </a:r>
            <a:r>
              <a:rPr lang="en-IN" sz="1600" dirty="0">
                <a:solidFill>
                  <a:srgbClr val="008000"/>
                </a:solidFill>
                <a:effectLst/>
              </a:rPr>
              <a:t>"2d"</a:t>
            </a:r>
            <a:r>
              <a:rPr lang="en-IN" sz="1600" dirty="0">
                <a:solidFill>
                  <a:srgbClr val="000000"/>
                </a:solidFill>
                <a:effectLst/>
              </a:rPr>
              <a:t>);              //</a:t>
            </a:r>
            <a:r>
              <a:rPr lang="en-US" sz="1600" dirty="0">
                <a:solidFill>
                  <a:srgbClr val="000000"/>
                </a:solidFill>
                <a:effectLst/>
              </a:rPr>
              <a:t>The </a:t>
            </a:r>
            <a:r>
              <a:rPr lang="en-US" sz="1600" dirty="0" err="1">
                <a:solidFill>
                  <a:srgbClr val="000000"/>
                </a:solidFill>
                <a:effectLst/>
              </a:rPr>
              <a:t>getContext</a:t>
            </a:r>
            <a:r>
              <a:rPr lang="en-US" sz="1600" dirty="0">
                <a:solidFill>
                  <a:srgbClr val="000000"/>
                </a:solidFill>
                <a:effectLst/>
              </a:rPr>
              <a:t>() method returns an object with tools</a:t>
            </a:r>
            <a:br>
              <a:rPr lang="en-IN" sz="1600" dirty="0">
                <a:solidFill>
                  <a:srgbClr val="000000"/>
                </a:solidFill>
                <a:effectLst/>
              </a:rPr>
            </a:br>
            <a:r>
              <a:rPr lang="en-IN" sz="1600" dirty="0">
                <a:solidFill>
                  <a:srgbClr val="000000"/>
                </a:solidFill>
                <a:effectLst/>
              </a:rPr>
              <a:t>	</a:t>
            </a:r>
            <a:r>
              <a:rPr lang="en-IN" sz="1600" dirty="0" err="1">
                <a:solidFill>
                  <a:srgbClr val="000000"/>
                </a:solidFill>
                <a:effectLst/>
              </a:rPr>
              <a:t>ctx.fillStyle</a:t>
            </a:r>
            <a:r>
              <a:rPr lang="en-IN" sz="1600" dirty="0">
                <a:solidFill>
                  <a:srgbClr val="000000"/>
                </a:solidFill>
                <a:effectLst/>
              </a:rPr>
              <a:t> = </a:t>
            </a:r>
            <a:r>
              <a:rPr lang="en-IN" sz="1600" dirty="0">
                <a:solidFill>
                  <a:srgbClr val="008000"/>
                </a:solidFill>
                <a:effectLst/>
              </a:rPr>
              <a:t>"red"</a:t>
            </a:r>
            <a:r>
              <a:rPr lang="en-IN" sz="1600" dirty="0">
                <a:solidFill>
                  <a:srgbClr val="000000"/>
                </a:solidFill>
                <a:effectLst/>
              </a:rPr>
              <a:t>;		//</a:t>
            </a:r>
            <a:r>
              <a:rPr lang="en-US" sz="1600" dirty="0">
                <a:solidFill>
                  <a:srgbClr val="000000"/>
                </a:solidFill>
                <a:effectLst/>
              </a:rPr>
              <a:t>The </a:t>
            </a:r>
            <a:r>
              <a:rPr lang="en-US" sz="1600" dirty="0" err="1">
                <a:solidFill>
                  <a:srgbClr val="000000"/>
                </a:solidFill>
                <a:effectLst/>
              </a:rPr>
              <a:t>fillStyle</a:t>
            </a:r>
            <a:r>
              <a:rPr lang="en-US" sz="1600" dirty="0">
                <a:solidFill>
                  <a:srgbClr val="000000"/>
                </a:solidFill>
                <a:effectLst/>
              </a:rPr>
              <a:t> property can be a color, a gradient, or a pattern.</a:t>
            </a:r>
            <a:br>
              <a:rPr lang="en-IN" sz="1600" dirty="0">
                <a:solidFill>
                  <a:srgbClr val="000000"/>
                </a:solidFill>
                <a:effectLst/>
              </a:rPr>
            </a:br>
            <a:r>
              <a:rPr lang="en-IN" sz="1600" dirty="0">
                <a:solidFill>
                  <a:srgbClr val="000000"/>
                </a:solidFill>
                <a:effectLst/>
              </a:rPr>
              <a:t>	</a:t>
            </a:r>
            <a:r>
              <a:rPr lang="en-IN" sz="1600" dirty="0" err="1">
                <a:solidFill>
                  <a:srgbClr val="000000"/>
                </a:solidFill>
                <a:effectLst/>
              </a:rPr>
              <a:t>ctx.fillRect</a:t>
            </a:r>
            <a:r>
              <a:rPr lang="en-IN" sz="1600" dirty="0">
                <a:solidFill>
                  <a:srgbClr val="000000"/>
                </a:solidFill>
                <a:effectLst/>
              </a:rPr>
              <a:t>(</a:t>
            </a:r>
            <a:r>
              <a:rPr lang="en-IN" sz="1600" dirty="0">
                <a:solidFill>
                  <a:srgbClr val="990055"/>
                </a:solidFill>
                <a:effectLst/>
              </a:rPr>
              <a:t>0</a:t>
            </a:r>
            <a:r>
              <a:rPr lang="en-IN" sz="1600" dirty="0">
                <a:solidFill>
                  <a:srgbClr val="000000"/>
                </a:solidFill>
                <a:effectLst/>
              </a:rPr>
              <a:t>, </a:t>
            </a:r>
            <a:r>
              <a:rPr lang="en-IN" sz="1600" dirty="0">
                <a:solidFill>
                  <a:srgbClr val="990055"/>
                </a:solidFill>
                <a:effectLst/>
              </a:rPr>
              <a:t>0</a:t>
            </a:r>
            <a:r>
              <a:rPr lang="en-IN" sz="1600" dirty="0">
                <a:solidFill>
                  <a:srgbClr val="000000"/>
                </a:solidFill>
                <a:effectLst/>
              </a:rPr>
              <a:t>, </a:t>
            </a:r>
            <a:r>
              <a:rPr lang="en-IN" sz="1600" dirty="0">
                <a:solidFill>
                  <a:srgbClr val="990055"/>
                </a:solidFill>
                <a:effectLst/>
              </a:rPr>
              <a:t>150</a:t>
            </a:r>
            <a:r>
              <a:rPr lang="en-IN" sz="1600" dirty="0">
                <a:solidFill>
                  <a:srgbClr val="000000"/>
                </a:solidFill>
                <a:effectLst/>
              </a:rPr>
              <a:t>, </a:t>
            </a:r>
            <a:r>
              <a:rPr lang="en-IN" sz="1600" dirty="0">
                <a:solidFill>
                  <a:srgbClr val="990055"/>
                </a:solidFill>
                <a:effectLst/>
              </a:rPr>
              <a:t>75</a:t>
            </a:r>
            <a:r>
              <a:rPr lang="en-IN" sz="1600" dirty="0">
                <a:solidFill>
                  <a:srgbClr val="000000"/>
                </a:solidFill>
                <a:effectLst/>
              </a:rPr>
              <a:t>); 	//</a:t>
            </a:r>
            <a:r>
              <a:rPr lang="en-US" sz="1600" dirty="0">
                <a:solidFill>
                  <a:srgbClr val="000000"/>
                </a:solidFill>
                <a:effectLst/>
              </a:rPr>
              <a:t>The </a:t>
            </a:r>
            <a:r>
              <a:rPr lang="en-US" sz="1600" dirty="0" err="1">
                <a:solidFill>
                  <a:srgbClr val="000000"/>
                </a:solidFill>
                <a:effectLst/>
              </a:rPr>
              <a:t>fillRect</a:t>
            </a:r>
            <a:r>
              <a:rPr lang="en-US" sz="1600" dirty="0">
                <a:solidFill>
                  <a:srgbClr val="000000"/>
                </a:solidFill>
                <a:effectLst/>
              </a:rPr>
              <a:t>(x, y, width, height) method draws the rectangle</a:t>
            </a:r>
          </a:p>
          <a:p>
            <a:pPr lvl="2"/>
            <a:r>
              <a:rPr lang="en-US" sz="1600" dirty="0">
                <a:solidFill>
                  <a:srgbClr val="000000"/>
                </a:solidFill>
              </a:rPr>
              <a:t>	</a:t>
            </a:r>
            <a:r>
              <a:rPr lang="en-IN" dirty="0" err="1"/>
              <a:t>ctx.strokeStyle</a:t>
            </a:r>
            <a:r>
              <a:rPr lang="en-IN" dirty="0"/>
              <a:t> = "blue";	//used to draw the line</a:t>
            </a:r>
            <a:br>
              <a:rPr lang="en-IN" dirty="0"/>
            </a:br>
            <a:r>
              <a:rPr lang="en-IN" dirty="0"/>
              <a:t>	</a:t>
            </a:r>
            <a:r>
              <a:rPr lang="en-IN" dirty="0" err="1"/>
              <a:t>ctx.lineWidth</a:t>
            </a:r>
            <a:r>
              <a:rPr lang="en-IN" dirty="0"/>
              <a:t> = 5;		//line width</a:t>
            </a:r>
            <a:br>
              <a:rPr lang="en-IN" sz="1600" dirty="0">
                <a:solidFill>
                  <a:srgbClr val="000000"/>
                </a:solidFill>
                <a:effectLst/>
              </a:rPr>
            </a:br>
            <a:r>
              <a:rPr lang="en-IN" sz="1600" dirty="0">
                <a:solidFill>
                  <a:srgbClr val="999999"/>
                </a:solidFill>
                <a:effectLst/>
              </a:rPr>
              <a:t>&lt;</a:t>
            </a:r>
            <a:r>
              <a:rPr lang="en-IN" sz="1600" dirty="0">
                <a:solidFill>
                  <a:srgbClr val="990055"/>
                </a:solidFill>
                <a:effectLst/>
              </a:rPr>
              <a:t>/script</a:t>
            </a:r>
            <a:r>
              <a:rPr lang="en-IN" sz="1600" dirty="0">
                <a:solidFill>
                  <a:srgbClr val="999999"/>
                </a:solidFill>
                <a:effectLst/>
              </a:rPr>
              <a:t>&gt;</a:t>
            </a:r>
            <a:endParaRPr lang="en-US" sz="1600" dirty="0"/>
          </a:p>
          <a:p>
            <a:endParaRPr lang="en-IN" sz="2000" dirty="0"/>
          </a:p>
        </p:txBody>
      </p:sp>
    </p:spTree>
    <p:extLst>
      <p:ext uri="{BB962C8B-B14F-4D97-AF65-F5344CB8AC3E}">
        <p14:creationId xmlns:p14="http://schemas.microsoft.com/office/powerpoint/2010/main" val="9638075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CF89D-3FC1-28DC-FBD3-B9E612E616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D20DA4-C09D-19B5-272F-175B224A5E5A}"/>
              </a:ext>
            </a:extLst>
          </p:cNvPr>
          <p:cNvSpPr txBox="1"/>
          <p:nvPr/>
        </p:nvSpPr>
        <p:spPr>
          <a:xfrm>
            <a:off x="528918" y="421341"/>
            <a:ext cx="11143129" cy="5478423"/>
          </a:xfrm>
          <a:prstGeom prst="rect">
            <a:avLst/>
          </a:prstGeom>
          <a:noFill/>
        </p:spPr>
        <p:txBody>
          <a:bodyPr wrap="square" rtlCol="0">
            <a:spAutoFit/>
          </a:bodyPr>
          <a:lstStyle/>
          <a:p>
            <a:r>
              <a:rPr lang="en-IN" sz="2400" b="1" dirty="0"/>
              <a:t>Draw a Line</a:t>
            </a:r>
          </a:p>
          <a:p>
            <a:r>
              <a:rPr lang="en-US" sz="2400" dirty="0"/>
              <a:t>    </a:t>
            </a:r>
            <a:r>
              <a:rPr lang="en-US" sz="2400" dirty="0" err="1"/>
              <a:t>moveTo</a:t>
            </a:r>
            <a:r>
              <a:rPr lang="en-US" sz="2400" dirty="0"/>
              <a:t>(x, y) - defines the starting point of the line</a:t>
            </a:r>
          </a:p>
          <a:p>
            <a:r>
              <a:rPr lang="en-US" sz="2400" dirty="0"/>
              <a:t>    </a:t>
            </a:r>
            <a:r>
              <a:rPr lang="en-US" sz="2400" dirty="0" err="1"/>
              <a:t>lineTo</a:t>
            </a:r>
            <a:r>
              <a:rPr lang="en-US" sz="2400" dirty="0"/>
              <a:t>(x, y) - defines the ending point of the line</a:t>
            </a:r>
          </a:p>
          <a:p>
            <a:endParaRPr lang="en-US" sz="2000" dirty="0"/>
          </a:p>
          <a:p>
            <a:pPr>
              <a:buNone/>
            </a:pP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canvas = </a:t>
            </a:r>
            <a:r>
              <a:rPr lang="en-IN" dirty="0" err="1">
                <a:solidFill>
                  <a:srgbClr val="000000"/>
                </a:solidFill>
                <a:effectLst/>
              </a:rPr>
              <a:t>document.getElementById</a:t>
            </a:r>
            <a:r>
              <a:rPr lang="en-IN" dirty="0">
                <a:solidFill>
                  <a:srgbClr val="000000"/>
                </a:solidFill>
                <a:effectLst/>
              </a:rPr>
              <a:t>(</a:t>
            </a:r>
            <a:r>
              <a:rPr lang="en-IN" dirty="0">
                <a:solidFill>
                  <a:srgbClr val="008000"/>
                </a:solidFill>
                <a:effectLst/>
              </a:rPr>
              <a:t>"</a:t>
            </a:r>
            <a:r>
              <a:rPr lang="en-IN" dirty="0" err="1">
                <a:solidFill>
                  <a:srgbClr val="008000"/>
                </a:solidFill>
                <a:effectLst/>
              </a:rPr>
              <a:t>myCanvas</a:t>
            </a:r>
            <a:r>
              <a:rPr lang="en-IN" dirty="0">
                <a:solidFill>
                  <a:srgbClr val="008000"/>
                </a:solidFill>
                <a:effectLst/>
              </a:rPr>
              <a:t>"</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a:t>
            </a:r>
            <a:r>
              <a:rPr lang="en-IN" dirty="0" err="1">
                <a:solidFill>
                  <a:srgbClr val="000000"/>
                </a:solidFill>
                <a:effectLst/>
              </a:rPr>
              <a:t>ctx</a:t>
            </a:r>
            <a:r>
              <a:rPr lang="en-IN" dirty="0">
                <a:solidFill>
                  <a:srgbClr val="000000"/>
                </a:solidFill>
                <a:effectLst/>
              </a:rPr>
              <a:t> = </a:t>
            </a:r>
            <a:r>
              <a:rPr lang="en-IN" dirty="0" err="1">
                <a:solidFill>
                  <a:srgbClr val="000000"/>
                </a:solidFill>
                <a:effectLst/>
              </a:rPr>
              <a:t>canvas.getContext</a:t>
            </a:r>
            <a:r>
              <a:rPr lang="en-IN" dirty="0">
                <a:solidFill>
                  <a:srgbClr val="000000"/>
                </a:solidFill>
                <a:effectLst/>
              </a:rPr>
              <a:t>(</a:t>
            </a:r>
            <a:r>
              <a:rPr lang="en-IN" dirty="0">
                <a:solidFill>
                  <a:srgbClr val="008000"/>
                </a:solidFill>
                <a:effectLst/>
              </a:rPr>
              <a:t>"2d"</a:t>
            </a:r>
            <a:r>
              <a:rPr lang="en-IN" dirty="0">
                <a:solidFill>
                  <a:srgbClr val="000000"/>
                </a:solidFill>
                <a:effectLst/>
              </a:rPr>
              <a:t>);</a:t>
            </a:r>
            <a:br>
              <a:rPr lang="en-IN" dirty="0">
                <a:solidFill>
                  <a:srgbClr val="000000"/>
                </a:solidFill>
                <a:effectLst/>
              </a:rPr>
            </a:br>
            <a:br>
              <a:rPr lang="en-IN" dirty="0">
                <a:solidFill>
                  <a:srgbClr val="000000"/>
                </a:solidFill>
                <a:effectLst/>
              </a:rPr>
            </a:br>
            <a:r>
              <a:rPr lang="en-IN" dirty="0">
                <a:solidFill>
                  <a:srgbClr val="000000"/>
                </a:solidFill>
                <a:effectLst/>
              </a:rPr>
              <a:t>	</a:t>
            </a:r>
            <a:r>
              <a:rPr lang="en-IN" dirty="0" err="1">
                <a:solidFill>
                  <a:srgbClr val="000000"/>
                </a:solidFill>
                <a:effectLst/>
              </a:rPr>
              <a:t>ctx.moveTo</a:t>
            </a:r>
            <a:r>
              <a:rPr lang="en-IN" dirty="0">
                <a:solidFill>
                  <a:srgbClr val="000000"/>
                </a:solidFill>
                <a:effectLst/>
              </a:rPr>
              <a:t>(</a:t>
            </a:r>
            <a:r>
              <a:rPr lang="en-IN" dirty="0">
                <a:solidFill>
                  <a:srgbClr val="990055"/>
                </a:solidFill>
                <a:effectLst/>
              </a:rPr>
              <a:t>0</a:t>
            </a:r>
            <a:r>
              <a:rPr lang="en-IN" dirty="0">
                <a:solidFill>
                  <a:srgbClr val="000000"/>
                </a:solidFill>
                <a:effectLst/>
              </a:rPr>
              <a:t>, </a:t>
            </a:r>
            <a:r>
              <a:rPr lang="en-IN" dirty="0">
                <a:solidFill>
                  <a:srgbClr val="990055"/>
                </a:solidFill>
                <a:effectLst/>
              </a:rPr>
              <a:t>0</a:t>
            </a:r>
            <a:r>
              <a:rPr lang="en-IN" dirty="0">
                <a:solidFill>
                  <a:srgbClr val="000000"/>
                </a:solidFill>
                <a:effectLst/>
              </a:rPr>
              <a:t>);		//starting point</a:t>
            </a:r>
            <a:br>
              <a:rPr lang="en-IN" dirty="0">
                <a:solidFill>
                  <a:srgbClr val="000000"/>
                </a:solidFill>
                <a:effectLst/>
              </a:rPr>
            </a:br>
            <a:r>
              <a:rPr lang="en-IN" dirty="0">
                <a:solidFill>
                  <a:srgbClr val="000000"/>
                </a:solidFill>
                <a:effectLst/>
              </a:rPr>
              <a:t>	</a:t>
            </a:r>
            <a:r>
              <a:rPr lang="en-IN" dirty="0" err="1">
                <a:solidFill>
                  <a:srgbClr val="000000"/>
                </a:solidFill>
                <a:effectLst/>
              </a:rPr>
              <a:t>ctx.lineTo</a:t>
            </a:r>
            <a:r>
              <a:rPr lang="en-IN" dirty="0">
                <a:solidFill>
                  <a:srgbClr val="000000"/>
                </a:solidFill>
                <a:effectLst/>
              </a:rPr>
              <a:t>(</a:t>
            </a:r>
            <a:r>
              <a:rPr lang="en-IN" dirty="0">
                <a:solidFill>
                  <a:srgbClr val="990055"/>
                </a:solidFill>
                <a:effectLst/>
              </a:rPr>
              <a:t>200</a:t>
            </a:r>
            <a:r>
              <a:rPr lang="en-IN" dirty="0">
                <a:solidFill>
                  <a:srgbClr val="000000"/>
                </a:solidFill>
                <a:effectLst/>
              </a:rPr>
              <a:t>, </a:t>
            </a:r>
            <a:r>
              <a:rPr lang="en-IN" dirty="0">
                <a:solidFill>
                  <a:srgbClr val="990055"/>
                </a:solidFill>
                <a:effectLst/>
              </a:rPr>
              <a:t>100</a:t>
            </a:r>
            <a:r>
              <a:rPr lang="en-IN" dirty="0">
                <a:solidFill>
                  <a:srgbClr val="000000"/>
                </a:solidFill>
                <a:effectLst/>
              </a:rPr>
              <a:t>);	//Ending point</a:t>
            </a:r>
          </a:p>
          <a:p>
            <a:pPr>
              <a:buNone/>
            </a:pPr>
            <a:r>
              <a:rPr lang="en-IN" dirty="0">
                <a:solidFill>
                  <a:srgbClr val="000000"/>
                </a:solidFill>
              </a:rPr>
              <a:t>	</a:t>
            </a:r>
            <a:r>
              <a:rPr lang="en-IN" dirty="0" err="1"/>
              <a:t>ctx.lineWidth</a:t>
            </a:r>
            <a:r>
              <a:rPr lang="en-IN" dirty="0"/>
              <a:t> = 10;    	//change the width of the line</a:t>
            </a:r>
          </a:p>
          <a:p>
            <a:pPr>
              <a:buNone/>
            </a:pPr>
            <a:r>
              <a:rPr lang="en-IN" dirty="0">
                <a:solidFill>
                  <a:srgbClr val="000000"/>
                </a:solidFill>
                <a:effectLst/>
              </a:rPr>
              <a:t>	</a:t>
            </a:r>
            <a:r>
              <a:rPr lang="en-IN" dirty="0" err="1"/>
              <a:t>ctx.strokeStyle</a:t>
            </a:r>
            <a:r>
              <a:rPr lang="en-IN" dirty="0"/>
              <a:t> = "red";	//Change the </a:t>
            </a:r>
            <a:r>
              <a:rPr lang="en-IN" dirty="0" err="1"/>
              <a:t>color</a:t>
            </a:r>
            <a:r>
              <a:rPr lang="en-IN" dirty="0"/>
              <a:t> of line</a:t>
            </a:r>
          </a:p>
          <a:p>
            <a:pPr>
              <a:buNone/>
            </a:pPr>
            <a:r>
              <a:rPr lang="en-IN" dirty="0">
                <a:solidFill>
                  <a:srgbClr val="000000"/>
                </a:solidFill>
                <a:effectLst/>
              </a:rPr>
              <a:t>	</a:t>
            </a:r>
            <a:r>
              <a:rPr lang="en-IN" dirty="0" err="1"/>
              <a:t>ctx.lineCap</a:t>
            </a:r>
            <a:r>
              <a:rPr lang="en-IN" dirty="0"/>
              <a:t> = "round"; 	//</a:t>
            </a:r>
            <a:r>
              <a:rPr lang="en-US" dirty="0"/>
              <a:t>defines the cap style of the line ("butt", "round" or "square")</a:t>
            </a:r>
            <a:br>
              <a:rPr lang="en-IN" dirty="0">
                <a:solidFill>
                  <a:srgbClr val="000000"/>
                </a:solidFill>
                <a:effectLst/>
              </a:rPr>
            </a:br>
            <a:r>
              <a:rPr lang="en-IN" dirty="0">
                <a:solidFill>
                  <a:srgbClr val="000000"/>
                </a:solidFill>
                <a:effectLst/>
              </a:rPr>
              <a:t>	</a:t>
            </a:r>
            <a:r>
              <a:rPr lang="en-IN" dirty="0" err="1">
                <a:solidFill>
                  <a:srgbClr val="000000"/>
                </a:solidFill>
                <a:effectLst/>
              </a:rPr>
              <a:t>ctx.stroke</a:t>
            </a:r>
            <a:r>
              <a:rPr lang="en-IN" dirty="0">
                <a:solidFill>
                  <a:srgbClr val="000000"/>
                </a:solidFill>
                <a:effectLst/>
              </a:rPr>
              <a:t>();</a:t>
            </a:r>
            <a:br>
              <a:rPr lang="en-IN" dirty="0">
                <a:solidFill>
                  <a:srgbClr val="000000"/>
                </a:solidFill>
                <a:effectLst/>
              </a:rPr>
            </a:b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r>
              <a:rPr lang="en-IN" dirty="0"/>
              <a:t> </a:t>
            </a:r>
          </a:p>
          <a:p>
            <a:endParaRPr lang="en-US" sz="2000" dirty="0"/>
          </a:p>
          <a:p>
            <a:endParaRPr lang="en-US" sz="2000" dirty="0"/>
          </a:p>
          <a:p>
            <a:endParaRPr lang="en-IN" sz="2000" dirty="0"/>
          </a:p>
        </p:txBody>
      </p:sp>
    </p:spTree>
    <p:extLst>
      <p:ext uri="{BB962C8B-B14F-4D97-AF65-F5344CB8AC3E}">
        <p14:creationId xmlns:p14="http://schemas.microsoft.com/office/powerpoint/2010/main" val="15246863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B4FA-7A4F-6B5D-036F-BDCA35F7D2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F8A023-3CC0-3682-7BC9-4B7F7AE1E99C}"/>
              </a:ext>
            </a:extLst>
          </p:cNvPr>
          <p:cNvSpPr txBox="1"/>
          <p:nvPr/>
        </p:nvSpPr>
        <p:spPr>
          <a:xfrm>
            <a:off x="528918" y="421341"/>
            <a:ext cx="11143129" cy="6063198"/>
          </a:xfrm>
          <a:prstGeom prst="rect">
            <a:avLst/>
          </a:prstGeom>
          <a:noFill/>
        </p:spPr>
        <p:txBody>
          <a:bodyPr wrap="square" rtlCol="0">
            <a:spAutoFit/>
          </a:bodyPr>
          <a:lstStyle/>
          <a:p>
            <a:r>
              <a:rPr lang="en-IN" sz="2400" b="1" dirty="0"/>
              <a:t>Draw a Circle</a:t>
            </a:r>
            <a:endParaRPr lang="en-US" sz="2400" dirty="0"/>
          </a:p>
          <a:p>
            <a:endParaRPr lang="en-US" sz="2000" dirty="0"/>
          </a:p>
          <a:p>
            <a:pPr marL="342900" indent="-342900">
              <a:buFont typeface="Arial" panose="020B0604020202020204" pitchFamily="34" charset="0"/>
              <a:buChar char="•"/>
            </a:pPr>
            <a:r>
              <a:rPr lang="en-US" sz="2000" dirty="0"/>
              <a:t>To draw a circle on a canvas, use the following methods:</a:t>
            </a:r>
          </a:p>
          <a:p>
            <a:endParaRPr lang="en-US" sz="2000" dirty="0"/>
          </a:p>
          <a:p>
            <a:pPr marL="800100" lvl="1" indent="-342900">
              <a:buFont typeface="Arial" panose="020B0604020202020204" pitchFamily="34" charset="0"/>
              <a:buChar char="•"/>
            </a:pPr>
            <a:r>
              <a:rPr lang="en-US" sz="2000" dirty="0" err="1"/>
              <a:t>beginPath</a:t>
            </a:r>
            <a:r>
              <a:rPr lang="en-US" sz="2000" dirty="0"/>
              <a:t>() - begins a path</a:t>
            </a:r>
          </a:p>
          <a:p>
            <a:pPr marL="800100" lvl="1" indent="-342900">
              <a:buFont typeface="Arial" panose="020B0604020202020204" pitchFamily="34" charset="0"/>
              <a:buChar char="•"/>
            </a:pPr>
            <a:r>
              <a:rPr lang="en-US" sz="2000" dirty="0"/>
              <a:t>arc(x, y, r, </a:t>
            </a:r>
            <a:r>
              <a:rPr lang="en-US" sz="2000" dirty="0" err="1"/>
              <a:t>startangle</a:t>
            </a:r>
            <a:r>
              <a:rPr lang="en-US" sz="2000" dirty="0"/>
              <a:t>, </a:t>
            </a:r>
            <a:r>
              <a:rPr lang="en-US" sz="2000" dirty="0" err="1"/>
              <a:t>endangle</a:t>
            </a:r>
            <a:r>
              <a:rPr lang="en-US" sz="2000" dirty="0"/>
              <a:t>) - creates an arc/curve.</a:t>
            </a:r>
          </a:p>
          <a:p>
            <a:endParaRPr lang="en-US" sz="2000" dirty="0"/>
          </a:p>
          <a:p>
            <a:pPr>
              <a:buNone/>
            </a:pPr>
            <a:r>
              <a:rPr lang="en-IN" sz="1400" dirty="0">
                <a:effectLst/>
              </a:rPr>
              <a:t>&lt;!DOCTYPE html&gt;</a:t>
            </a:r>
          </a:p>
          <a:p>
            <a:pPr>
              <a:buNone/>
            </a:pPr>
            <a:r>
              <a:rPr lang="en-IN" sz="1400" dirty="0">
                <a:effectLst/>
              </a:rPr>
              <a:t>&lt;html&gt;</a:t>
            </a:r>
          </a:p>
          <a:p>
            <a:pPr>
              <a:buNone/>
            </a:pPr>
            <a:r>
              <a:rPr lang="en-IN" sz="1400" dirty="0">
                <a:effectLst/>
              </a:rPr>
              <a:t>&lt;body&gt;</a:t>
            </a:r>
          </a:p>
          <a:p>
            <a:pPr>
              <a:buNone/>
            </a:pPr>
            <a:r>
              <a:rPr lang="en-IN" sz="1400" dirty="0">
                <a:effectLst/>
              </a:rPr>
              <a:t>&lt;h1&gt;HTML5 Canvas arc() Method&lt;/h1&gt;</a:t>
            </a:r>
          </a:p>
          <a:p>
            <a:pPr>
              <a:buNone/>
            </a:pPr>
            <a:endParaRPr lang="en-IN" sz="1400" dirty="0">
              <a:effectLst/>
            </a:endParaRPr>
          </a:p>
          <a:p>
            <a:pPr>
              <a:buNone/>
            </a:pPr>
            <a:r>
              <a:rPr lang="en-IN" sz="1400" dirty="0">
                <a:effectLst/>
              </a:rPr>
              <a:t>&lt;canvas id="</a:t>
            </a:r>
            <a:r>
              <a:rPr lang="en-IN" sz="1400" dirty="0" err="1">
                <a:effectLst/>
              </a:rPr>
              <a:t>myCanvas</a:t>
            </a:r>
            <a:r>
              <a:rPr lang="en-IN" sz="1400" dirty="0">
                <a:effectLst/>
              </a:rPr>
              <a:t>" width="200" height="100" style="border:1px solid #000000;"&gt; Sorry, your browser does not support canvas.&lt;/canvas&gt;</a:t>
            </a:r>
          </a:p>
          <a:p>
            <a:pPr>
              <a:buNone/>
            </a:pPr>
            <a:r>
              <a:rPr lang="en-IN" sz="1400" dirty="0">
                <a:effectLst/>
              </a:rPr>
              <a:t>&lt;script&gt;</a:t>
            </a:r>
          </a:p>
          <a:p>
            <a:pPr>
              <a:buNone/>
            </a:pPr>
            <a:r>
              <a:rPr lang="en-IN" sz="1400" dirty="0">
                <a:effectLst/>
              </a:rPr>
              <a:t>	</a:t>
            </a:r>
            <a:r>
              <a:rPr lang="en-IN" sz="1400" dirty="0" err="1">
                <a:effectLst/>
              </a:rPr>
              <a:t>const</a:t>
            </a:r>
            <a:r>
              <a:rPr lang="en-IN" sz="1400" dirty="0">
                <a:effectLst/>
              </a:rPr>
              <a:t> canvas = </a:t>
            </a:r>
            <a:r>
              <a:rPr lang="en-IN" sz="1400" dirty="0" err="1">
                <a:effectLst/>
              </a:rPr>
              <a:t>document.getElementById</a:t>
            </a:r>
            <a:r>
              <a:rPr lang="en-IN" sz="1400" dirty="0">
                <a:effectLst/>
              </a:rPr>
              <a:t>("</a:t>
            </a:r>
            <a:r>
              <a:rPr lang="en-IN" sz="1400" dirty="0" err="1">
                <a:effectLst/>
              </a:rPr>
              <a:t>myCanvas</a:t>
            </a:r>
            <a:r>
              <a:rPr lang="en-IN" sz="1400" dirty="0">
                <a:effectLst/>
              </a:rPr>
              <a:t>");</a:t>
            </a:r>
          </a:p>
          <a:p>
            <a:pPr>
              <a:buNone/>
            </a:pPr>
            <a:r>
              <a:rPr lang="en-IN" sz="1400" dirty="0">
                <a:effectLst/>
              </a:rPr>
              <a:t>	</a:t>
            </a:r>
            <a:r>
              <a:rPr lang="en-IN" sz="1400" dirty="0" err="1">
                <a:effectLst/>
              </a:rPr>
              <a:t>const</a:t>
            </a:r>
            <a:r>
              <a:rPr lang="en-IN" sz="1400" dirty="0">
                <a:effectLst/>
              </a:rPr>
              <a:t> </a:t>
            </a:r>
            <a:r>
              <a:rPr lang="en-IN" sz="1400" dirty="0" err="1">
                <a:effectLst/>
              </a:rPr>
              <a:t>ctx</a:t>
            </a:r>
            <a:r>
              <a:rPr lang="en-IN" sz="1400" dirty="0">
                <a:effectLst/>
              </a:rPr>
              <a:t> = </a:t>
            </a:r>
            <a:r>
              <a:rPr lang="en-IN" sz="1400" dirty="0" err="1">
                <a:effectLst/>
              </a:rPr>
              <a:t>canvas.getContext</a:t>
            </a:r>
            <a:r>
              <a:rPr lang="en-IN" sz="1400" dirty="0">
                <a:effectLst/>
              </a:rPr>
              <a:t>("2d");</a:t>
            </a:r>
          </a:p>
          <a:p>
            <a:pPr>
              <a:buNone/>
            </a:pPr>
            <a:endParaRPr lang="en-IN" sz="1400" dirty="0">
              <a:effectLst/>
            </a:endParaRPr>
          </a:p>
          <a:p>
            <a:pPr>
              <a:buNone/>
            </a:pPr>
            <a:r>
              <a:rPr lang="en-IN" sz="1400" dirty="0">
                <a:effectLst/>
              </a:rPr>
              <a:t>	</a:t>
            </a:r>
            <a:r>
              <a:rPr lang="en-IN" sz="1400" dirty="0" err="1">
                <a:effectLst/>
              </a:rPr>
              <a:t>ctx.beginPath</a:t>
            </a:r>
            <a:r>
              <a:rPr lang="en-IN" sz="1400" dirty="0">
                <a:effectLst/>
              </a:rPr>
              <a:t>();</a:t>
            </a:r>
          </a:p>
          <a:p>
            <a:pPr>
              <a:buNone/>
            </a:pPr>
            <a:r>
              <a:rPr lang="en-IN" sz="1400" dirty="0">
                <a:effectLst/>
              </a:rPr>
              <a:t>	ctx.arc(100,50,50,0,2*</a:t>
            </a:r>
            <a:r>
              <a:rPr lang="en-IN" sz="1400" dirty="0" err="1">
                <a:effectLst/>
              </a:rPr>
              <a:t>Math.PI</a:t>
            </a:r>
            <a:r>
              <a:rPr lang="en-IN" sz="1400" dirty="0">
                <a:effectLst/>
              </a:rPr>
              <a:t>);</a:t>
            </a:r>
          </a:p>
          <a:p>
            <a:pPr>
              <a:buNone/>
            </a:pPr>
            <a:r>
              <a:rPr lang="en-IN" sz="1400" dirty="0">
                <a:effectLst/>
              </a:rPr>
              <a:t>	</a:t>
            </a:r>
            <a:r>
              <a:rPr lang="en-IN" sz="1400" dirty="0" err="1">
                <a:effectLst/>
              </a:rPr>
              <a:t>ctx.stroke</a:t>
            </a:r>
            <a:r>
              <a:rPr lang="en-IN" sz="1400" dirty="0">
                <a:effectLst/>
              </a:rPr>
              <a:t>();</a:t>
            </a:r>
          </a:p>
          <a:p>
            <a:pPr>
              <a:buNone/>
            </a:pPr>
            <a:r>
              <a:rPr lang="en-IN" sz="1400" dirty="0">
                <a:effectLst/>
              </a:rPr>
              <a:t>&lt;/script&gt;</a:t>
            </a:r>
          </a:p>
          <a:p>
            <a:pPr>
              <a:buNone/>
            </a:pPr>
            <a:r>
              <a:rPr lang="en-IN" sz="1400" dirty="0">
                <a:effectLst/>
              </a:rPr>
              <a:t>&lt;/body&gt;</a:t>
            </a:r>
          </a:p>
          <a:p>
            <a:pPr>
              <a:buNone/>
            </a:pPr>
            <a:r>
              <a:rPr lang="en-IN" sz="1400" dirty="0">
                <a:effectLst/>
              </a:rPr>
              <a:t>&lt;/html&gt;</a:t>
            </a:r>
            <a:r>
              <a:rPr lang="en-IN" sz="1400" dirty="0"/>
              <a:t> </a:t>
            </a:r>
          </a:p>
          <a:p>
            <a:endParaRPr lang="en-IN" sz="2000" dirty="0"/>
          </a:p>
        </p:txBody>
      </p:sp>
    </p:spTree>
    <p:extLst>
      <p:ext uri="{BB962C8B-B14F-4D97-AF65-F5344CB8AC3E}">
        <p14:creationId xmlns:p14="http://schemas.microsoft.com/office/powerpoint/2010/main" val="9614943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2DAB3-605B-73EB-89E9-37B3E0D637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B6CE49-2538-2EFD-77BA-C5FE4D40AAE5}"/>
              </a:ext>
            </a:extLst>
          </p:cNvPr>
          <p:cNvSpPr txBox="1"/>
          <p:nvPr/>
        </p:nvSpPr>
        <p:spPr>
          <a:xfrm>
            <a:off x="528918" y="421341"/>
            <a:ext cx="11143129" cy="6001643"/>
          </a:xfrm>
          <a:prstGeom prst="rect">
            <a:avLst/>
          </a:prstGeom>
          <a:noFill/>
        </p:spPr>
        <p:txBody>
          <a:bodyPr wrap="square" rtlCol="0">
            <a:spAutoFit/>
          </a:bodyPr>
          <a:lstStyle/>
          <a:p>
            <a:r>
              <a:rPr lang="en-IN" sz="2400" b="1" dirty="0"/>
              <a:t>Canvas Text</a:t>
            </a:r>
            <a:endParaRPr lang="en-US" sz="2400" dirty="0"/>
          </a:p>
          <a:p>
            <a:endParaRPr lang="en-US" sz="2000" dirty="0"/>
          </a:p>
          <a:p>
            <a:pPr marL="342900" indent="-342900">
              <a:buFont typeface="Arial" panose="020B0604020202020204" pitchFamily="34" charset="0"/>
              <a:buChar char="•"/>
            </a:pPr>
            <a:r>
              <a:rPr lang="en-US" sz="2000" dirty="0"/>
              <a:t>To draw text on the canvas, the most important property and methods are:</a:t>
            </a:r>
          </a:p>
          <a:p>
            <a:r>
              <a:rPr lang="en-US" sz="2000" dirty="0"/>
              <a:t>	</a:t>
            </a:r>
          </a:p>
          <a:p>
            <a:pPr marL="800100" lvl="1" indent="-342900">
              <a:buFont typeface="Arial" panose="020B0604020202020204" pitchFamily="34" charset="0"/>
              <a:buChar char="•"/>
            </a:pPr>
            <a:r>
              <a:rPr lang="en-US" sz="2000" dirty="0"/>
              <a:t>    font - defines the font properties for the text</a:t>
            </a:r>
          </a:p>
          <a:p>
            <a:pPr marL="800100" lvl="1" indent="-342900">
              <a:buFont typeface="Arial" panose="020B0604020202020204" pitchFamily="34" charset="0"/>
              <a:buChar char="•"/>
            </a:pPr>
            <a:r>
              <a:rPr lang="en-US" sz="2000" dirty="0"/>
              <a:t> 	  </a:t>
            </a:r>
            <a:r>
              <a:rPr lang="en-US" sz="2000" dirty="0" err="1"/>
              <a:t>fillText</a:t>
            </a:r>
            <a:r>
              <a:rPr lang="en-US" sz="2000" dirty="0"/>
              <a:t>() - draws "filled" text</a:t>
            </a:r>
          </a:p>
          <a:p>
            <a:pPr marL="800100" lvl="1" indent="-342900">
              <a:buFont typeface="Arial" panose="020B0604020202020204" pitchFamily="34" charset="0"/>
              <a:buChar char="•"/>
            </a:pPr>
            <a:r>
              <a:rPr lang="en-US" sz="2000" dirty="0"/>
              <a:t>    </a:t>
            </a:r>
            <a:r>
              <a:rPr lang="en-US" sz="2000" dirty="0" err="1"/>
              <a:t>strokeText</a:t>
            </a:r>
            <a:r>
              <a:rPr lang="en-US" sz="2000" dirty="0"/>
              <a:t>() - draws "outlined" text (no fill)</a:t>
            </a:r>
          </a:p>
          <a:p>
            <a:endParaRPr lang="en-US" sz="2000" dirty="0"/>
          </a:p>
          <a:p>
            <a:pPr>
              <a:buNone/>
            </a:pP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canvas = </a:t>
            </a:r>
            <a:r>
              <a:rPr lang="en-IN" dirty="0" err="1">
                <a:solidFill>
                  <a:srgbClr val="000000"/>
                </a:solidFill>
                <a:effectLst/>
              </a:rPr>
              <a:t>document.getElementById</a:t>
            </a:r>
            <a:r>
              <a:rPr lang="en-IN" dirty="0">
                <a:solidFill>
                  <a:srgbClr val="000000"/>
                </a:solidFill>
                <a:effectLst/>
              </a:rPr>
              <a:t>(</a:t>
            </a:r>
            <a:r>
              <a:rPr lang="en-IN" dirty="0">
                <a:solidFill>
                  <a:srgbClr val="008000"/>
                </a:solidFill>
                <a:effectLst/>
              </a:rPr>
              <a:t>"</a:t>
            </a:r>
            <a:r>
              <a:rPr lang="en-IN" dirty="0" err="1">
                <a:solidFill>
                  <a:srgbClr val="008000"/>
                </a:solidFill>
                <a:effectLst/>
              </a:rPr>
              <a:t>myCanvas</a:t>
            </a:r>
            <a:r>
              <a:rPr lang="en-IN" dirty="0">
                <a:solidFill>
                  <a:srgbClr val="008000"/>
                </a:solidFill>
                <a:effectLst/>
              </a:rPr>
              <a:t>"</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5CC5"/>
                </a:solidFill>
                <a:effectLst/>
              </a:rPr>
              <a:t>const</a:t>
            </a:r>
            <a:r>
              <a:rPr lang="en-IN" dirty="0">
                <a:solidFill>
                  <a:srgbClr val="000000"/>
                </a:solidFill>
                <a:effectLst/>
              </a:rPr>
              <a:t> </a:t>
            </a:r>
            <a:r>
              <a:rPr lang="en-IN" dirty="0" err="1">
                <a:solidFill>
                  <a:srgbClr val="000000"/>
                </a:solidFill>
                <a:effectLst/>
              </a:rPr>
              <a:t>ctx</a:t>
            </a:r>
            <a:r>
              <a:rPr lang="en-IN" dirty="0">
                <a:solidFill>
                  <a:srgbClr val="000000"/>
                </a:solidFill>
                <a:effectLst/>
              </a:rPr>
              <a:t> = </a:t>
            </a:r>
            <a:r>
              <a:rPr lang="en-IN" dirty="0" err="1">
                <a:solidFill>
                  <a:srgbClr val="000000"/>
                </a:solidFill>
                <a:effectLst/>
              </a:rPr>
              <a:t>canvas.getContext</a:t>
            </a:r>
            <a:r>
              <a:rPr lang="en-IN" dirty="0">
                <a:solidFill>
                  <a:srgbClr val="000000"/>
                </a:solidFill>
                <a:effectLst/>
              </a:rPr>
              <a:t>(</a:t>
            </a:r>
            <a:r>
              <a:rPr lang="en-IN" dirty="0">
                <a:solidFill>
                  <a:srgbClr val="008000"/>
                </a:solidFill>
                <a:effectLst/>
              </a:rPr>
              <a:t>"2d"</a:t>
            </a:r>
            <a:r>
              <a:rPr lang="en-IN" dirty="0">
                <a:solidFill>
                  <a:srgbClr val="000000"/>
                </a:solidFill>
                <a:effectLst/>
              </a:rPr>
              <a:t>);</a:t>
            </a:r>
            <a:br>
              <a:rPr lang="en-IN" dirty="0">
                <a:solidFill>
                  <a:srgbClr val="000000"/>
                </a:solidFill>
                <a:effectLst/>
              </a:rPr>
            </a:br>
            <a:br>
              <a:rPr lang="en-IN" dirty="0">
                <a:solidFill>
                  <a:srgbClr val="000000"/>
                </a:solidFill>
                <a:effectLst/>
              </a:rPr>
            </a:br>
            <a:r>
              <a:rPr lang="en-IN" dirty="0">
                <a:solidFill>
                  <a:srgbClr val="000000"/>
                </a:solidFill>
                <a:effectLst/>
              </a:rPr>
              <a:t>	</a:t>
            </a:r>
            <a:r>
              <a:rPr lang="en-IN" dirty="0" err="1">
                <a:solidFill>
                  <a:srgbClr val="000000"/>
                </a:solidFill>
                <a:effectLst/>
              </a:rPr>
              <a:t>ctx.font</a:t>
            </a:r>
            <a:r>
              <a:rPr lang="en-IN" dirty="0">
                <a:solidFill>
                  <a:srgbClr val="000000"/>
                </a:solidFill>
                <a:effectLst/>
              </a:rPr>
              <a:t> = </a:t>
            </a:r>
            <a:r>
              <a:rPr lang="en-IN" dirty="0">
                <a:solidFill>
                  <a:srgbClr val="008000"/>
                </a:solidFill>
                <a:effectLst/>
              </a:rPr>
              <a:t>"50px Arial"</a:t>
            </a:r>
            <a:r>
              <a:rPr lang="en-IN" dirty="0">
                <a:solidFill>
                  <a:srgbClr val="000000"/>
                </a:solidFill>
                <a:effectLst/>
              </a:rPr>
              <a:t>;		//font and font size</a:t>
            </a:r>
            <a:br>
              <a:rPr lang="en-IN" dirty="0">
                <a:solidFill>
                  <a:srgbClr val="000000"/>
                </a:solidFill>
                <a:effectLst/>
              </a:rPr>
            </a:br>
            <a:r>
              <a:rPr lang="en-IN" dirty="0">
                <a:solidFill>
                  <a:srgbClr val="000000"/>
                </a:solidFill>
                <a:effectLst/>
              </a:rPr>
              <a:t>	</a:t>
            </a:r>
            <a:r>
              <a:rPr lang="en-IN" dirty="0" err="1">
                <a:solidFill>
                  <a:srgbClr val="000000"/>
                </a:solidFill>
                <a:effectLst/>
              </a:rPr>
              <a:t>ctx.fillText</a:t>
            </a:r>
            <a:r>
              <a:rPr lang="en-IN" dirty="0">
                <a:solidFill>
                  <a:srgbClr val="000000"/>
                </a:solidFill>
                <a:effectLst/>
              </a:rPr>
              <a:t>(</a:t>
            </a:r>
            <a:r>
              <a:rPr lang="en-IN" dirty="0">
                <a:solidFill>
                  <a:srgbClr val="008000"/>
                </a:solidFill>
                <a:effectLst/>
              </a:rPr>
              <a:t>"Hello World"</a:t>
            </a:r>
            <a:r>
              <a:rPr lang="en-IN" dirty="0">
                <a:solidFill>
                  <a:srgbClr val="000000"/>
                </a:solidFill>
                <a:effectLst/>
              </a:rPr>
              <a:t>,</a:t>
            </a:r>
            <a:r>
              <a:rPr lang="en-IN" dirty="0">
                <a:solidFill>
                  <a:srgbClr val="990055"/>
                </a:solidFill>
                <a:effectLst/>
              </a:rPr>
              <a:t>10</a:t>
            </a:r>
            <a:r>
              <a:rPr lang="en-IN" dirty="0">
                <a:solidFill>
                  <a:srgbClr val="000000"/>
                </a:solidFill>
                <a:effectLst/>
              </a:rPr>
              <a:t>,</a:t>
            </a:r>
            <a:r>
              <a:rPr lang="en-IN" dirty="0">
                <a:solidFill>
                  <a:srgbClr val="990055"/>
                </a:solidFill>
                <a:effectLst/>
              </a:rPr>
              <a:t>80</a:t>
            </a:r>
            <a:r>
              <a:rPr lang="en-IN" dirty="0">
                <a:solidFill>
                  <a:srgbClr val="000000"/>
                </a:solidFill>
                <a:effectLst/>
              </a:rPr>
              <a:t>);	//text and starting point</a:t>
            </a:r>
          </a:p>
          <a:p>
            <a:pPr>
              <a:buNone/>
            </a:pPr>
            <a:r>
              <a:rPr lang="en-IN" dirty="0">
                <a:solidFill>
                  <a:srgbClr val="000000"/>
                </a:solidFill>
              </a:rPr>
              <a:t>	</a:t>
            </a:r>
            <a:r>
              <a:rPr lang="en-US" dirty="0" err="1">
                <a:solidFill>
                  <a:srgbClr val="000000"/>
                </a:solidFill>
                <a:effectLst/>
              </a:rPr>
              <a:t>ctx.strokeText</a:t>
            </a:r>
            <a:r>
              <a:rPr lang="en-US" dirty="0">
                <a:solidFill>
                  <a:srgbClr val="000000"/>
                </a:solidFill>
                <a:effectLst/>
              </a:rPr>
              <a:t>(</a:t>
            </a:r>
            <a:r>
              <a:rPr lang="en-US" dirty="0">
                <a:solidFill>
                  <a:srgbClr val="008000"/>
                </a:solidFill>
                <a:effectLst/>
              </a:rPr>
              <a:t>"Hello World"</a:t>
            </a:r>
            <a:r>
              <a:rPr lang="en-US" dirty="0">
                <a:solidFill>
                  <a:srgbClr val="000000"/>
                </a:solidFill>
                <a:effectLst/>
              </a:rPr>
              <a:t>,</a:t>
            </a:r>
            <a:r>
              <a:rPr lang="en-US" dirty="0">
                <a:solidFill>
                  <a:srgbClr val="990055"/>
                </a:solidFill>
                <a:effectLst/>
              </a:rPr>
              <a:t>10</a:t>
            </a:r>
            <a:r>
              <a:rPr lang="en-US" dirty="0">
                <a:solidFill>
                  <a:srgbClr val="000000"/>
                </a:solidFill>
                <a:effectLst/>
              </a:rPr>
              <a:t>,</a:t>
            </a:r>
            <a:r>
              <a:rPr lang="en-US" dirty="0">
                <a:solidFill>
                  <a:srgbClr val="990055"/>
                </a:solidFill>
                <a:effectLst/>
              </a:rPr>
              <a:t>80</a:t>
            </a:r>
            <a:r>
              <a:rPr lang="en-US" dirty="0">
                <a:solidFill>
                  <a:srgbClr val="000000"/>
                </a:solidFill>
                <a:effectLst/>
              </a:rPr>
              <a:t>); 	//gives only outline of the text</a:t>
            </a:r>
          </a:p>
          <a:p>
            <a:pPr>
              <a:buNone/>
            </a:pPr>
            <a:r>
              <a:rPr lang="en-US" dirty="0">
                <a:solidFill>
                  <a:srgbClr val="000000"/>
                </a:solidFill>
              </a:rPr>
              <a:t>	</a:t>
            </a:r>
            <a:r>
              <a:rPr lang="en-IN" dirty="0" err="1">
                <a:solidFill>
                  <a:srgbClr val="000000"/>
                </a:solidFill>
                <a:effectLst/>
              </a:rPr>
              <a:t>ctx.fillStyle</a:t>
            </a:r>
            <a:r>
              <a:rPr lang="en-IN" dirty="0">
                <a:solidFill>
                  <a:srgbClr val="000000"/>
                </a:solidFill>
                <a:effectLst/>
              </a:rPr>
              <a:t> = </a:t>
            </a:r>
            <a:r>
              <a:rPr lang="en-IN" dirty="0">
                <a:solidFill>
                  <a:srgbClr val="008000"/>
                </a:solidFill>
                <a:effectLst/>
              </a:rPr>
              <a:t>"purple"</a:t>
            </a:r>
            <a:r>
              <a:rPr lang="en-IN" dirty="0">
                <a:solidFill>
                  <a:srgbClr val="000000"/>
                </a:solidFill>
                <a:effectLst/>
              </a:rPr>
              <a:t>;		//</a:t>
            </a:r>
            <a:r>
              <a:rPr lang="en-IN" dirty="0" err="1">
                <a:solidFill>
                  <a:srgbClr val="000000"/>
                </a:solidFill>
                <a:effectLst/>
              </a:rPr>
              <a:t>colors</a:t>
            </a:r>
            <a:r>
              <a:rPr lang="en-IN" dirty="0">
                <a:solidFill>
                  <a:srgbClr val="000000"/>
                </a:solidFill>
                <a:effectLst/>
              </a:rPr>
              <a:t> the text</a:t>
            </a:r>
          </a:p>
          <a:p>
            <a:pPr>
              <a:buNone/>
            </a:pPr>
            <a:r>
              <a:rPr lang="en-IN" dirty="0">
                <a:solidFill>
                  <a:srgbClr val="000000"/>
                </a:solidFill>
              </a:rPr>
              <a:t>	</a:t>
            </a:r>
            <a:r>
              <a:rPr lang="en-IN" dirty="0" err="1">
                <a:solidFill>
                  <a:srgbClr val="000000"/>
                </a:solidFill>
                <a:effectLst/>
              </a:rPr>
              <a:t>ctx.strokeStyle</a:t>
            </a:r>
            <a:r>
              <a:rPr lang="en-IN" dirty="0">
                <a:solidFill>
                  <a:srgbClr val="000000"/>
                </a:solidFill>
                <a:effectLst/>
              </a:rPr>
              <a:t> = </a:t>
            </a:r>
            <a:r>
              <a:rPr lang="en-IN" dirty="0">
                <a:solidFill>
                  <a:srgbClr val="008000"/>
                </a:solidFill>
                <a:effectLst/>
              </a:rPr>
              <a:t>"purple"</a:t>
            </a:r>
            <a:r>
              <a:rPr lang="en-IN" dirty="0">
                <a:solidFill>
                  <a:srgbClr val="000000"/>
                </a:solidFill>
                <a:effectLst/>
              </a:rPr>
              <a:t>;		//outline stroke </a:t>
            </a:r>
            <a:r>
              <a:rPr lang="en-IN" dirty="0" err="1">
                <a:solidFill>
                  <a:srgbClr val="000000"/>
                </a:solidFill>
                <a:effectLst/>
              </a:rPr>
              <a:t>color</a:t>
            </a:r>
            <a:br>
              <a:rPr lang="en-IN" dirty="0">
                <a:solidFill>
                  <a:srgbClr val="000000"/>
                </a:solidFill>
                <a:effectLst/>
              </a:rPr>
            </a:br>
            <a:r>
              <a:rPr lang="en-IN" dirty="0">
                <a:solidFill>
                  <a:srgbClr val="999999"/>
                </a:solidFill>
                <a:effectLst/>
              </a:rPr>
              <a:t>&lt;</a:t>
            </a:r>
            <a:r>
              <a:rPr lang="en-IN" dirty="0">
                <a:solidFill>
                  <a:srgbClr val="990055"/>
                </a:solidFill>
                <a:effectLst/>
              </a:rPr>
              <a:t>/script</a:t>
            </a:r>
            <a:r>
              <a:rPr lang="en-IN" dirty="0">
                <a:solidFill>
                  <a:srgbClr val="999999"/>
                </a:solidFill>
                <a:effectLst/>
              </a:rPr>
              <a:t>&gt;</a:t>
            </a:r>
            <a:r>
              <a:rPr lang="en-IN" dirty="0"/>
              <a:t> </a:t>
            </a:r>
          </a:p>
          <a:p>
            <a:endParaRPr lang="en-US" sz="2000" dirty="0"/>
          </a:p>
          <a:p>
            <a:endParaRPr lang="en-IN" sz="2000" dirty="0"/>
          </a:p>
        </p:txBody>
      </p:sp>
    </p:spTree>
    <p:extLst>
      <p:ext uri="{BB962C8B-B14F-4D97-AF65-F5344CB8AC3E}">
        <p14:creationId xmlns:p14="http://schemas.microsoft.com/office/powerpoint/2010/main" val="36047187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E186-E46C-5024-01FE-BC94A37AD0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79A6CB-EF1B-8A7F-082B-32AE46A16CA4}"/>
              </a:ext>
            </a:extLst>
          </p:cNvPr>
          <p:cNvSpPr txBox="1"/>
          <p:nvPr/>
        </p:nvSpPr>
        <p:spPr>
          <a:xfrm>
            <a:off x="528918" y="421341"/>
            <a:ext cx="11143129" cy="6678751"/>
          </a:xfrm>
          <a:prstGeom prst="rect">
            <a:avLst/>
          </a:prstGeom>
          <a:noFill/>
        </p:spPr>
        <p:txBody>
          <a:bodyPr wrap="square" rtlCol="0">
            <a:spAutoFit/>
          </a:bodyPr>
          <a:lstStyle/>
          <a:p>
            <a:r>
              <a:rPr lang="en-US" sz="2400" dirty="0"/>
              <a:t>Text with gradient color:</a:t>
            </a:r>
          </a:p>
          <a:p>
            <a:r>
              <a:rPr lang="en-US" sz="1400" dirty="0"/>
              <a:t>&lt;!DOCTYPE html&gt;</a:t>
            </a:r>
          </a:p>
          <a:p>
            <a:r>
              <a:rPr lang="en-US" sz="1400" dirty="0"/>
              <a:t>&lt;html&gt;</a:t>
            </a:r>
          </a:p>
          <a:p>
            <a:r>
              <a:rPr lang="en-US" sz="1400" dirty="0"/>
              <a:t>&lt;body&gt;</a:t>
            </a:r>
          </a:p>
          <a:p>
            <a:r>
              <a:rPr lang="en-US" sz="1400" dirty="0"/>
              <a:t>&lt;h1&gt;HTML5 Canvas Linear Gradient&lt;/h1&gt;</a:t>
            </a:r>
          </a:p>
          <a:p>
            <a:endParaRPr lang="en-US" sz="1400" dirty="0"/>
          </a:p>
          <a:p>
            <a:r>
              <a:rPr lang="en-US" sz="1400" dirty="0"/>
              <a:t>&lt;canvas id="</a:t>
            </a:r>
            <a:r>
              <a:rPr lang="en-US" sz="1400" dirty="0" err="1"/>
              <a:t>myCanvas</a:t>
            </a:r>
            <a:r>
              <a:rPr lang="en-US" sz="1400" dirty="0"/>
              <a:t>" width="300" height="150" style="border:1px solid grey;"&gt;</a:t>
            </a:r>
          </a:p>
          <a:p>
            <a:r>
              <a:rPr lang="en-US" sz="1400" dirty="0"/>
              <a:t>Sorry, your browser does not support canvas.</a:t>
            </a:r>
          </a:p>
          <a:p>
            <a:r>
              <a:rPr lang="en-US" sz="1400" dirty="0"/>
              <a:t>&lt;/canvas&gt;</a:t>
            </a:r>
          </a:p>
          <a:p>
            <a:endParaRPr lang="en-US" sz="1400" dirty="0"/>
          </a:p>
          <a:p>
            <a:r>
              <a:rPr lang="en-US" sz="1400" dirty="0"/>
              <a:t>&lt;script&gt;</a:t>
            </a:r>
          </a:p>
          <a:p>
            <a:r>
              <a:rPr lang="en-US" sz="1400" dirty="0"/>
              <a:t>	const c = </a:t>
            </a:r>
            <a:r>
              <a:rPr lang="en-US" sz="1400" dirty="0" err="1"/>
              <a:t>document.getElementById</a:t>
            </a:r>
            <a:r>
              <a:rPr lang="en-US" sz="1400" dirty="0"/>
              <a:t>("</a:t>
            </a:r>
            <a:r>
              <a:rPr lang="en-US" sz="1400" dirty="0" err="1"/>
              <a:t>myCanvas</a:t>
            </a:r>
            <a:r>
              <a:rPr lang="en-US" sz="1400" dirty="0"/>
              <a:t>");</a:t>
            </a:r>
          </a:p>
          <a:p>
            <a:r>
              <a:rPr lang="en-US" sz="1400" dirty="0"/>
              <a:t>	const </a:t>
            </a:r>
            <a:r>
              <a:rPr lang="en-US" sz="1400" dirty="0" err="1"/>
              <a:t>ctx</a:t>
            </a:r>
            <a:r>
              <a:rPr lang="en-US" sz="1400" dirty="0"/>
              <a:t> = </a:t>
            </a:r>
            <a:r>
              <a:rPr lang="en-US" sz="1400" dirty="0" err="1"/>
              <a:t>c.getContext</a:t>
            </a:r>
            <a:r>
              <a:rPr lang="en-US" sz="1400" dirty="0"/>
              <a:t>("2d");</a:t>
            </a:r>
          </a:p>
          <a:p>
            <a:endParaRPr lang="en-US" sz="1400" dirty="0"/>
          </a:p>
          <a:p>
            <a:r>
              <a:rPr lang="en-US" sz="1400" dirty="0"/>
              <a:t>	// Create linear gradient</a:t>
            </a:r>
          </a:p>
          <a:p>
            <a:r>
              <a:rPr lang="en-US" sz="1400" dirty="0"/>
              <a:t>	const grad=</a:t>
            </a:r>
            <a:r>
              <a:rPr lang="en-US" sz="1400" dirty="0" err="1"/>
              <a:t>ctx.createLinearGradient</a:t>
            </a:r>
            <a:r>
              <a:rPr lang="en-US" sz="1400" dirty="0"/>
              <a:t>(0,0,280,0);</a:t>
            </a:r>
          </a:p>
          <a:p>
            <a:r>
              <a:rPr lang="en-US" sz="1400" dirty="0"/>
              <a:t>	</a:t>
            </a:r>
            <a:r>
              <a:rPr lang="en-US" sz="1400" dirty="0" err="1"/>
              <a:t>grad.addColorStop</a:t>
            </a:r>
            <a:r>
              <a:rPr lang="en-US" sz="1400" dirty="0"/>
              <a:t>(0, "</a:t>
            </a:r>
            <a:r>
              <a:rPr lang="en-US" sz="1400" dirty="0" err="1"/>
              <a:t>lightblue</a:t>
            </a:r>
            <a:r>
              <a:rPr lang="en-US" sz="1400" dirty="0"/>
              <a:t>");</a:t>
            </a:r>
          </a:p>
          <a:p>
            <a:r>
              <a:rPr lang="en-US" sz="1400" dirty="0"/>
              <a:t>	</a:t>
            </a:r>
            <a:r>
              <a:rPr lang="en-US" sz="1400" dirty="0" err="1"/>
              <a:t>grad.addColorStop</a:t>
            </a:r>
            <a:r>
              <a:rPr lang="en-US" sz="1400" dirty="0"/>
              <a:t>(1, "</a:t>
            </a:r>
            <a:r>
              <a:rPr lang="en-US" sz="1400" dirty="0" err="1"/>
              <a:t>darkblue</a:t>
            </a:r>
            <a:r>
              <a:rPr lang="en-US" sz="1400" dirty="0"/>
              <a:t>");</a:t>
            </a:r>
          </a:p>
          <a:p>
            <a:endParaRPr lang="en-US" sz="1400" dirty="0"/>
          </a:p>
          <a:p>
            <a:r>
              <a:rPr lang="en-US" sz="1400" dirty="0"/>
              <a:t>	// Fill text with gradient</a:t>
            </a:r>
          </a:p>
          <a:p>
            <a:r>
              <a:rPr lang="en-US" sz="1400" dirty="0"/>
              <a:t>	</a:t>
            </a:r>
            <a:r>
              <a:rPr lang="en-US" sz="1400" dirty="0" err="1"/>
              <a:t>ctx.font</a:t>
            </a:r>
            <a:r>
              <a:rPr lang="en-US" sz="1400" dirty="0"/>
              <a:t> = "50px Arial";</a:t>
            </a:r>
          </a:p>
          <a:p>
            <a:r>
              <a:rPr lang="en-US" sz="1400" dirty="0"/>
              <a:t>	</a:t>
            </a:r>
            <a:r>
              <a:rPr lang="en-US" sz="1400" dirty="0" err="1"/>
              <a:t>ctx.fillStyle</a:t>
            </a:r>
            <a:r>
              <a:rPr lang="en-US" sz="1400" dirty="0"/>
              <a:t> = grad;</a:t>
            </a:r>
          </a:p>
          <a:p>
            <a:r>
              <a:rPr lang="en-US" sz="1400" dirty="0"/>
              <a:t>	</a:t>
            </a:r>
            <a:r>
              <a:rPr lang="en-US" sz="1400" dirty="0" err="1"/>
              <a:t>ctx.fillText</a:t>
            </a:r>
            <a:r>
              <a:rPr lang="en-US" sz="1400" dirty="0"/>
              <a:t>("Hello World",10,80);</a:t>
            </a:r>
          </a:p>
          <a:p>
            <a:r>
              <a:rPr lang="en-US" sz="1400" dirty="0"/>
              <a:t>&lt;/script&gt;</a:t>
            </a:r>
          </a:p>
          <a:p>
            <a:endParaRPr lang="en-US" sz="1400" dirty="0"/>
          </a:p>
          <a:p>
            <a:r>
              <a:rPr lang="en-US" sz="1400" dirty="0"/>
              <a:t>&lt;/body&gt;</a:t>
            </a:r>
          </a:p>
          <a:p>
            <a:r>
              <a:rPr lang="en-US" sz="1400" dirty="0"/>
              <a:t>&lt;/html&gt;</a:t>
            </a:r>
          </a:p>
          <a:p>
            <a:endParaRPr lang="en-US" sz="2000" dirty="0"/>
          </a:p>
          <a:p>
            <a:endParaRPr lang="en-IN" sz="2000" dirty="0"/>
          </a:p>
        </p:txBody>
      </p:sp>
      <p:pic>
        <p:nvPicPr>
          <p:cNvPr id="4" name="Picture 3">
            <a:extLst>
              <a:ext uri="{FF2B5EF4-FFF2-40B4-BE49-F238E27FC236}">
                <a16:creationId xmlns:a16="http://schemas.microsoft.com/office/drawing/2014/main" id="{BE34E83D-A24A-5C27-1345-805AC6C1858F}"/>
              </a:ext>
            </a:extLst>
          </p:cNvPr>
          <p:cNvPicPr>
            <a:picLocks noChangeAspect="1"/>
          </p:cNvPicPr>
          <p:nvPr/>
        </p:nvPicPr>
        <p:blipFill>
          <a:blip r:embed="rId2"/>
          <a:stretch>
            <a:fillRect/>
          </a:stretch>
        </p:blipFill>
        <p:spPr>
          <a:xfrm>
            <a:off x="6031740" y="2976662"/>
            <a:ext cx="5525271" cy="2572109"/>
          </a:xfrm>
          <a:prstGeom prst="rect">
            <a:avLst/>
          </a:prstGeom>
        </p:spPr>
      </p:pic>
    </p:spTree>
    <p:extLst>
      <p:ext uri="{BB962C8B-B14F-4D97-AF65-F5344CB8AC3E}">
        <p14:creationId xmlns:p14="http://schemas.microsoft.com/office/powerpoint/2010/main" val="120851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0B31-8D0B-4037-BBB9-83EBC7461D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BF2F74-AA99-60AA-4595-D432C931D12E}"/>
              </a:ext>
            </a:extLst>
          </p:cNvPr>
          <p:cNvSpPr txBox="1"/>
          <p:nvPr/>
        </p:nvSpPr>
        <p:spPr>
          <a:xfrm>
            <a:off x="528918" y="421341"/>
            <a:ext cx="11143129" cy="6863417"/>
          </a:xfrm>
          <a:prstGeom prst="rect">
            <a:avLst/>
          </a:prstGeom>
          <a:noFill/>
        </p:spPr>
        <p:txBody>
          <a:bodyPr wrap="square" rtlCol="0">
            <a:spAutoFit/>
          </a:bodyPr>
          <a:lstStyle/>
          <a:p>
            <a:r>
              <a:rPr lang="en-US" sz="2400" dirty="0"/>
              <a:t>SVG</a:t>
            </a:r>
          </a:p>
          <a:p>
            <a:pPr marL="800100" lvl="1" indent="-342900">
              <a:buFont typeface="Arial" panose="020B0604020202020204" pitchFamily="34" charset="0"/>
              <a:buChar char="•"/>
            </a:pPr>
            <a:r>
              <a:rPr lang="en-US" sz="2000" dirty="0"/>
              <a:t>SVG stands for Scalable Vector Graphics.</a:t>
            </a:r>
          </a:p>
          <a:p>
            <a:pPr marL="800100" lvl="1" indent="-342900">
              <a:buFont typeface="Arial" panose="020B0604020202020204" pitchFamily="34" charset="0"/>
              <a:buChar char="•"/>
            </a:pPr>
            <a:r>
              <a:rPr lang="en-US" sz="2000" dirty="0"/>
              <a:t>SVG defines vector-based graphics in XML format.</a:t>
            </a:r>
          </a:p>
          <a:p>
            <a:pPr marL="800100" lvl="1" indent="-342900">
              <a:buFont typeface="Arial" panose="020B0604020202020204" pitchFamily="34" charset="0"/>
              <a:buChar char="•"/>
            </a:pPr>
            <a:r>
              <a:rPr lang="en-US" sz="2000" dirty="0"/>
              <a:t>SVG graphics are scalable, and do not lose any quality if they are zoomed or resized.</a:t>
            </a:r>
          </a:p>
          <a:p>
            <a:endParaRPr lang="en-US" sz="2000" dirty="0"/>
          </a:p>
          <a:p>
            <a:pPr>
              <a:buNone/>
            </a:pP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h1</a:t>
            </a:r>
            <a:r>
              <a:rPr lang="en-IN" sz="1600" dirty="0">
                <a:solidFill>
                  <a:srgbClr val="999999"/>
                </a:solidFill>
                <a:effectLst/>
              </a:rPr>
              <a:t>&gt;</a:t>
            </a:r>
            <a:r>
              <a:rPr lang="en-IN" sz="1600" dirty="0"/>
              <a:t>My first SVG</a:t>
            </a:r>
            <a:r>
              <a:rPr lang="en-IN" sz="1600" dirty="0">
                <a:solidFill>
                  <a:srgbClr val="999999"/>
                </a:solidFill>
                <a:effectLst/>
              </a:rPr>
              <a:t>&lt;</a:t>
            </a:r>
            <a:r>
              <a:rPr lang="en-IN" sz="1600" dirty="0">
                <a:solidFill>
                  <a:srgbClr val="990055"/>
                </a:solidFill>
                <a:effectLst/>
              </a:rPr>
              <a:t>/h1</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err="1">
                <a:solidFill>
                  <a:srgbClr val="990055"/>
                </a:solidFill>
                <a:effectLst/>
              </a:rPr>
              <a:t>svg</a:t>
            </a:r>
            <a:r>
              <a:rPr lang="en-IN" sz="1600" dirty="0">
                <a:solidFill>
                  <a:srgbClr val="008000"/>
                </a:solidFill>
                <a:effectLst/>
              </a:rPr>
              <a:t> width</a:t>
            </a:r>
            <a:r>
              <a:rPr lang="en-IN" sz="1600" dirty="0">
                <a:solidFill>
                  <a:srgbClr val="005CC5"/>
                </a:solidFill>
                <a:effectLst/>
              </a:rPr>
              <a:t>="100"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a:t>
            </a:r>
            <a:r>
              <a:rPr lang="en-IN" sz="1600" dirty="0" err="1">
                <a:solidFill>
                  <a:srgbClr val="008000"/>
                </a:solidFill>
                <a:effectLst/>
              </a:rPr>
              <a:t>xmlns</a:t>
            </a:r>
            <a:r>
              <a:rPr lang="en-IN" sz="1600" dirty="0">
                <a:solidFill>
                  <a:srgbClr val="005CC5"/>
                </a:solidFill>
                <a:effectLst/>
              </a:rPr>
              <a:t>="http://www.w3.org/2000/svg"</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circle</a:t>
            </a:r>
            <a:r>
              <a:rPr lang="en-IN" sz="1600" dirty="0">
                <a:solidFill>
                  <a:srgbClr val="008000"/>
                </a:solidFill>
                <a:effectLst/>
              </a:rPr>
              <a:t> cx</a:t>
            </a:r>
            <a:r>
              <a:rPr lang="en-IN" sz="1600" dirty="0">
                <a:solidFill>
                  <a:srgbClr val="005CC5"/>
                </a:solidFill>
                <a:effectLst/>
              </a:rPr>
              <a:t>="50"</a:t>
            </a:r>
            <a:r>
              <a:rPr lang="en-IN" sz="1600" dirty="0">
                <a:solidFill>
                  <a:srgbClr val="008000"/>
                </a:solidFill>
                <a:effectLst/>
              </a:rPr>
              <a:t> cy</a:t>
            </a:r>
            <a:r>
              <a:rPr lang="en-IN" sz="1600" dirty="0">
                <a:solidFill>
                  <a:srgbClr val="005CC5"/>
                </a:solidFill>
                <a:effectLst/>
              </a:rPr>
              <a:t>="50"</a:t>
            </a:r>
            <a:r>
              <a:rPr lang="en-IN" sz="1600" dirty="0">
                <a:solidFill>
                  <a:srgbClr val="008000"/>
                </a:solidFill>
                <a:effectLst/>
              </a:rPr>
              <a:t> r</a:t>
            </a:r>
            <a:r>
              <a:rPr lang="en-IN" sz="1600" dirty="0">
                <a:solidFill>
                  <a:srgbClr val="005CC5"/>
                </a:solidFill>
                <a:effectLst/>
              </a:rPr>
              <a:t>="40"</a:t>
            </a:r>
            <a:r>
              <a:rPr lang="en-IN" sz="1600" dirty="0">
                <a:solidFill>
                  <a:srgbClr val="008000"/>
                </a:solidFill>
                <a:effectLst/>
              </a:rPr>
              <a:t> stroke</a:t>
            </a:r>
            <a:r>
              <a:rPr lang="en-IN" sz="1600" dirty="0">
                <a:solidFill>
                  <a:srgbClr val="005CC5"/>
                </a:solidFill>
                <a:effectLst/>
              </a:rPr>
              <a:t>="green"</a:t>
            </a:r>
            <a:r>
              <a:rPr lang="en-IN" sz="1600" dirty="0">
                <a:solidFill>
                  <a:srgbClr val="008000"/>
                </a:solidFill>
                <a:effectLst/>
              </a:rPr>
              <a:t> stroke-width</a:t>
            </a:r>
            <a:r>
              <a:rPr lang="en-IN" sz="1600" dirty="0">
                <a:solidFill>
                  <a:srgbClr val="005CC5"/>
                </a:solidFill>
                <a:effectLst/>
              </a:rPr>
              <a:t>="4"</a:t>
            </a:r>
            <a:r>
              <a:rPr lang="en-IN" sz="1600" dirty="0">
                <a:solidFill>
                  <a:srgbClr val="008000"/>
                </a:solidFill>
                <a:effectLst/>
              </a:rPr>
              <a:t> fill</a:t>
            </a:r>
            <a:r>
              <a:rPr lang="en-IN" sz="1600" dirty="0">
                <a:solidFill>
                  <a:srgbClr val="005CC5"/>
                </a:solidFill>
                <a:effectLst/>
              </a:rPr>
              <a:t>="yellow"</a:t>
            </a:r>
            <a:r>
              <a:rPr lang="en-IN" sz="1600" dirty="0">
                <a:solidFill>
                  <a:srgbClr val="008000"/>
                </a:solidFill>
                <a:effectLst/>
              </a:rPr>
              <a:t> /</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a:t>
            </a:r>
            <a:r>
              <a:rPr lang="en-IN" sz="1600" dirty="0" err="1">
                <a:solidFill>
                  <a:srgbClr val="990055"/>
                </a:solidFill>
                <a:effectLst/>
              </a:rPr>
              <a:t>svg</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r>
              <a:rPr lang="en-IN" sz="1600" dirty="0"/>
              <a:t> </a:t>
            </a:r>
          </a:p>
          <a:p>
            <a:pPr marL="342900" indent="-342900">
              <a:buFont typeface="Arial" panose="020B0604020202020204" pitchFamily="34" charset="0"/>
              <a:buChar char="•"/>
            </a:pPr>
            <a:r>
              <a:rPr lang="en-US" sz="2000" dirty="0"/>
              <a:t>SVG has elements and attributes for rectangles, circles, ellipses, lines, polygons, curves, and more. </a:t>
            </a:r>
          </a:p>
          <a:p>
            <a:pPr marL="342900" indent="-342900">
              <a:buFont typeface="Arial" panose="020B0604020202020204" pitchFamily="34" charset="0"/>
              <a:buChar char="•"/>
            </a:pPr>
            <a:r>
              <a:rPr lang="en-US" sz="2000" dirty="0"/>
              <a:t>SVG also supports filter and blur effects, gradients, rotations, animations, interactivity with JavaScript, and more.</a:t>
            </a:r>
          </a:p>
          <a:p>
            <a:pPr marL="342900" indent="-342900">
              <a:buFont typeface="Arial" panose="020B0604020202020204" pitchFamily="34" charset="0"/>
              <a:buChar char="•"/>
            </a:pPr>
            <a:r>
              <a:rPr lang="en-US" sz="2000" dirty="0"/>
              <a:t>A simple SVG document consists of the &lt;</a:t>
            </a:r>
            <a:r>
              <a:rPr lang="en-US" sz="2000" dirty="0" err="1"/>
              <a:t>svg</a:t>
            </a:r>
            <a:r>
              <a:rPr lang="en-US" sz="2000" dirty="0"/>
              <a:t>&gt; root element and several basic shape elements that will build a graphic together.</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83EA80C6-EF9F-A24C-87A9-29103B3ACE0D}"/>
              </a:ext>
            </a:extLst>
          </p:cNvPr>
          <p:cNvPicPr>
            <a:picLocks noChangeAspect="1"/>
          </p:cNvPicPr>
          <p:nvPr/>
        </p:nvPicPr>
        <p:blipFill>
          <a:blip r:embed="rId2"/>
          <a:stretch>
            <a:fillRect/>
          </a:stretch>
        </p:blipFill>
        <p:spPr>
          <a:xfrm>
            <a:off x="8323009" y="2584775"/>
            <a:ext cx="2305372" cy="2029108"/>
          </a:xfrm>
          <a:prstGeom prst="rect">
            <a:avLst/>
          </a:prstGeom>
        </p:spPr>
      </p:pic>
    </p:spTree>
    <p:extLst>
      <p:ext uri="{BB962C8B-B14F-4D97-AF65-F5344CB8AC3E}">
        <p14:creationId xmlns:p14="http://schemas.microsoft.com/office/powerpoint/2010/main" val="334580639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86C0F-A52C-3AD7-C7FD-14CFE62B44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3CAD70-B33F-DE92-7C41-05BD93BB286B}"/>
              </a:ext>
            </a:extLst>
          </p:cNvPr>
          <p:cNvSpPr txBox="1"/>
          <p:nvPr/>
        </p:nvSpPr>
        <p:spPr>
          <a:xfrm>
            <a:off x="528918" y="421341"/>
            <a:ext cx="11143129" cy="6771084"/>
          </a:xfrm>
          <a:prstGeom prst="rect">
            <a:avLst/>
          </a:prstGeom>
          <a:noFill/>
        </p:spPr>
        <p:txBody>
          <a:bodyPr wrap="square" rtlCol="0">
            <a:spAutoFit/>
          </a:bodyPr>
          <a:lstStyle/>
          <a:p>
            <a:r>
              <a:rPr lang="en-US" sz="2400" dirty="0"/>
              <a:t>SVG Continued…</a:t>
            </a:r>
          </a:p>
          <a:p>
            <a:endParaRPr lang="en-US" sz="2000" dirty="0"/>
          </a:p>
          <a:p>
            <a:pPr>
              <a:buNone/>
            </a:pPr>
            <a:r>
              <a:rPr lang="en-IN" sz="1600" dirty="0">
                <a:solidFill>
                  <a:srgbClr val="708090"/>
                </a:solidFill>
                <a:effectLst/>
              </a:rPr>
              <a:t>&lt;!DOCTYPE html&gt;</a:t>
            </a:r>
            <a:br>
              <a:rPr lang="en-IN" sz="1600" dirty="0"/>
            </a:b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err="1">
                <a:solidFill>
                  <a:srgbClr val="990055"/>
                </a:solidFill>
                <a:effectLst/>
              </a:rPr>
              <a:t>svg</a:t>
            </a:r>
            <a:r>
              <a:rPr lang="en-IN" sz="1600" dirty="0">
                <a:solidFill>
                  <a:srgbClr val="008000"/>
                </a:solidFill>
                <a:effectLst/>
              </a:rPr>
              <a:t> width</a:t>
            </a:r>
            <a:r>
              <a:rPr lang="en-IN" sz="1600" dirty="0">
                <a:solidFill>
                  <a:srgbClr val="005CC5"/>
                </a:solidFill>
                <a:effectLst/>
              </a:rPr>
              <a:t>="150"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a:t>
            </a:r>
            <a:r>
              <a:rPr lang="en-IN" sz="1600" dirty="0" err="1">
                <a:solidFill>
                  <a:srgbClr val="008000"/>
                </a:solidFill>
                <a:effectLst/>
              </a:rPr>
              <a:t>xmlns</a:t>
            </a:r>
            <a:r>
              <a:rPr lang="en-IN" sz="1600" dirty="0">
                <a:solidFill>
                  <a:srgbClr val="005CC5"/>
                </a:solidFill>
                <a:effectLst/>
              </a:rPr>
              <a:t>="http://www.w3.org/2000/svg"</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err="1">
                <a:solidFill>
                  <a:srgbClr val="990055"/>
                </a:solidFill>
                <a:effectLst/>
              </a:rPr>
              <a:t>rect</a:t>
            </a:r>
            <a:r>
              <a:rPr lang="en-IN" sz="1600" dirty="0">
                <a:solidFill>
                  <a:srgbClr val="008000"/>
                </a:solidFill>
                <a:effectLst/>
              </a:rPr>
              <a:t> width</a:t>
            </a:r>
            <a:r>
              <a:rPr lang="en-IN" sz="1600" dirty="0">
                <a:solidFill>
                  <a:srgbClr val="005CC5"/>
                </a:solidFill>
                <a:effectLst/>
              </a:rPr>
              <a:t>="100%"</a:t>
            </a:r>
            <a:r>
              <a:rPr lang="en-IN" sz="1600" dirty="0">
                <a:solidFill>
                  <a:srgbClr val="008000"/>
                </a:solidFill>
                <a:effectLst/>
              </a:rPr>
              <a:t> height</a:t>
            </a:r>
            <a:r>
              <a:rPr lang="en-IN" sz="1600" dirty="0">
                <a:solidFill>
                  <a:srgbClr val="005CC5"/>
                </a:solidFill>
                <a:effectLst/>
              </a:rPr>
              <a:t>="100%"</a:t>
            </a:r>
            <a:r>
              <a:rPr lang="en-IN" sz="1600" dirty="0">
                <a:solidFill>
                  <a:srgbClr val="008000"/>
                </a:solidFill>
                <a:effectLst/>
              </a:rPr>
              <a:t> fill</a:t>
            </a:r>
            <a:r>
              <a:rPr lang="en-IN" sz="1600" dirty="0">
                <a:solidFill>
                  <a:srgbClr val="005CC5"/>
                </a:solidFill>
                <a:effectLst/>
              </a:rPr>
              <a:t>="green"</a:t>
            </a:r>
            <a:r>
              <a:rPr lang="en-IN" sz="1600" dirty="0">
                <a:solidFill>
                  <a:srgbClr val="008000"/>
                </a:solidFill>
                <a:effectLst/>
              </a:rPr>
              <a:t> /</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circle</a:t>
            </a:r>
            <a:r>
              <a:rPr lang="en-IN" sz="1600" dirty="0">
                <a:solidFill>
                  <a:srgbClr val="008000"/>
                </a:solidFill>
                <a:effectLst/>
              </a:rPr>
              <a:t> cx</a:t>
            </a:r>
            <a:r>
              <a:rPr lang="en-IN" sz="1600" dirty="0">
                <a:solidFill>
                  <a:srgbClr val="005CC5"/>
                </a:solidFill>
                <a:effectLst/>
              </a:rPr>
              <a:t>="75"</a:t>
            </a:r>
            <a:r>
              <a:rPr lang="en-IN" sz="1600" dirty="0">
                <a:solidFill>
                  <a:srgbClr val="008000"/>
                </a:solidFill>
                <a:effectLst/>
              </a:rPr>
              <a:t> cy</a:t>
            </a:r>
            <a:r>
              <a:rPr lang="en-IN" sz="1600" dirty="0">
                <a:solidFill>
                  <a:srgbClr val="005CC5"/>
                </a:solidFill>
                <a:effectLst/>
              </a:rPr>
              <a:t>="50"</a:t>
            </a:r>
            <a:r>
              <a:rPr lang="en-IN" sz="1600" dirty="0">
                <a:solidFill>
                  <a:srgbClr val="008000"/>
                </a:solidFill>
                <a:effectLst/>
              </a:rPr>
              <a:t> r</a:t>
            </a:r>
            <a:r>
              <a:rPr lang="en-IN" sz="1600" dirty="0">
                <a:solidFill>
                  <a:srgbClr val="005CC5"/>
                </a:solidFill>
                <a:effectLst/>
              </a:rPr>
              <a:t>="40"</a:t>
            </a:r>
            <a:r>
              <a:rPr lang="en-IN" sz="1600" dirty="0">
                <a:solidFill>
                  <a:srgbClr val="008000"/>
                </a:solidFill>
                <a:effectLst/>
              </a:rPr>
              <a:t> fill</a:t>
            </a:r>
            <a:r>
              <a:rPr lang="en-IN" sz="1600" dirty="0">
                <a:solidFill>
                  <a:srgbClr val="005CC5"/>
                </a:solidFill>
                <a:effectLst/>
              </a:rPr>
              <a:t>="yellow"</a:t>
            </a:r>
            <a:r>
              <a:rPr lang="en-IN" sz="1600" dirty="0">
                <a:solidFill>
                  <a:srgbClr val="008000"/>
                </a:solidFill>
                <a:effectLst/>
              </a:rPr>
              <a:t> /</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text</a:t>
            </a:r>
            <a:r>
              <a:rPr lang="en-IN" sz="1600" dirty="0">
                <a:solidFill>
                  <a:srgbClr val="008000"/>
                </a:solidFill>
                <a:effectLst/>
              </a:rPr>
              <a:t> x</a:t>
            </a:r>
            <a:r>
              <a:rPr lang="en-IN" sz="1600" dirty="0">
                <a:solidFill>
                  <a:srgbClr val="005CC5"/>
                </a:solidFill>
                <a:effectLst/>
              </a:rPr>
              <a:t>="75"</a:t>
            </a:r>
            <a:r>
              <a:rPr lang="en-IN" sz="1600" dirty="0">
                <a:solidFill>
                  <a:srgbClr val="008000"/>
                </a:solidFill>
                <a:effectLst/>
              </a:rPr>
              <a:t> y</a:t>
            </a:r>
            <a:r>
              <a:rPr lang="en-IN" sz="1600" dirty="0">
                <a:solidFill>
                  <a:srgbClr val="005CC5"/>
                </a:solidFill>
                <a:effectLst/>
              </a:rPr>
              <a:t>="60"</a:t>
            </a:r>
            <a:r>
              <a:rPr lang="en-IN" sz="1600" dirty="0">
                <a:solidFill>
                  <a:srgbClr val="008000"/>
                </a:solidFill>
                <a:effectLst/>
              </a:rPr>
              <a:t> font-size</a:t>
            </a:r>
            <a:r>
              <a:rPr lang="en-IN" sz="1600" dirty="0">
                <a:solidFill>
                  <a:srgbClr val="005CC5"/>
                </a:solidFill>
                <a:effectLst/>
              </a:rPr>
              <a:t>="30"</a:t>
            </a:r>
            <a:r>
              <a:rPr lang="en-IN" sz="1600" dirty="0">
                <a:solidFill>
                  <a:srgbClr val="008000"/>
                </a:solidFill>
                <a:effectLst/>
              </a:rPr>
              <a:t> text-anchor</a:t>
            </a:r>
            <a:r>
              <a:rPr lang="en-IN" sz="1600" dirty="0">
                <a:solidFill>
                  <a:srgbClr val="005CC5"/>
                </a:solidFill>
                <a:effectLst/>
              </a:rPr>
              <a:t>="middle"</a:t>
            </a:r>
            <a:r>
              <a:rPr lang="en-IN" sz="1600" dirty="0">
                <a:solidFill>
                  <a:srgbClr val="008000"/>
                </a:solidFill>
                <a:effectLst/>
              </a:rPr>
              <a:t> fill</a:t>
            </a:r>
            <a:r>
              <a:rPr lang="en-IN" sz="1600" dirty="0">
                <a:solidFill>
                  <a:srgbClr val="005CC5"/>
                </a:solidFill>
                <a:effectLst/>
              </a:rPr>
              <a:t>="red"</a:t>
            </a:r>
            <a:r>
              <a:rPr lang="en-IN" sz="1600" dirty="0">
                <a:solidFill>
                  <a:srgbClr val="999999"/>
                </a:solidFill>
                <a:effectLst/>
              </a:rPr>
              <a:t>&gt;</a:t>
            </a:r>
            <a:r>
              <a:rPr lang="en-IN" sz="1600" dirty="0"/>
              <a:t>SVG</a:t>
            </a:r>
            <a:r>
              <a:rPr lang="en-IN" sz="1600" dirty="0">
                <a:solidFill>
                  <a:srgbClr val="999999"/>
                </a:solidFill>
                <a:effectLst/>
              </a:rPr>
              <a:t>&lt;</a:t>
            </a:r>
            <a:r>
              <a:rPr lang="en-IN" sz="1600" dirty="0">
                <a:solidFill>
                  <a:srgbClr val="990055"/>
                </a:solidFill>
                <a:effectLst/>
              </a:rPr>
              <a:t>/text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a:t>
            </a:r>
            <a:r>
              <a:rPr lang="en-IN" sz="1600" dirty="0" err="1">
                <a:solidFill>
                  <a:srgbClr val="990055"/>
                </a:solidFill>
                <a:effectLst/>
              </a:rPr>
              <a:t>svg</a:t>
            </a:r>
            <a:r>
              <a:rPr lang="en-IN" sz="1600" dirty="0">
                <a:solidFill>
                  <a:srgbClr val="999999"/>
                </a:solidFill>
                <a:effectLst/>
              </a:rPr>
              <a:t>&gt;</a:t>
            </a:r>
            <a:br>
              <a:rPr lang="en-IN" sz="1600" dirty="0"/>
            </a:br>
            <a:br>
              <a:rPr lang="en-IN" sz="1600" dirty="0"/>
            </a:br>
            <a:r>
              <a:rPr lang="en-IN" sz="1600" dirty="0">
                <a:solidFill>
                  <a:srgbClr val="999999"/>
                </a:solidFill>
                <a:effectLst/>
              </a:rPr>
              <a:t>&lt;</a:t>
            </a:r>
            <a:r>
              <a:rPr lang="en-IN" sz="1600" dirty="0">
                <a:solidFill>
                  <a:srgbClr val="990055"/>
                </a:solidFill>
                <a:effectLst/>
              </a:rPr>
              <a:t>/body</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/html</a:t>
            </a:r>
            <a:r>
              <a:rPr lang="en-IN" sz="1600" dirty="0">
                <a:solidFill>
                  <a:srgbClr val="999999"/>
                </a:solidFill>
                <a:effectLst/>
              </a:rPr>
              <a:t>&gt;</a:t>
            </a:r>
            <a:r>
              <a:rPr lang="en-IN" sz="1600" dirty="0"/>
              <a:t> </a:t>
            </a:r>
          </a:p>
          <a:p>
            <a:endParaRPr lang="en-US" sz="2000" dirty="0"/>
          </a:p>
          <a:p>
            <a:r>
              <a:rPr lang="en-IN" sz="2000" b="1" dirty="0"/>
              <a:t>SVG Shapes</a:t>
            </a:r>
            <a:endParaRPr lang="en-US" sz="2000" dirty="0"/>
          </a:p>
          <a:p>
            <a:pPr marL="742950" lvl="1" indent="-285750">
              <a:buFont typeface="Arial" panose="020B0604020202020204" pitchFamily="34" charset="0"/>
              <a:buChar char="•"/>
            </a:pPr>
            <a:r>
              <a:rPr lang="en-US" sz="1400" dirty="0"/>
              <a:t>    Rectangle &lt;</a:t>
            </a:r>
            <a:r>
              <a:rPr lang="en-US" sz="1400" dirty="0" err="1"/>
              <a:t>rect</a:t>
            </a:r>
            <a:r>
              <a:rPr lang="en-US" sz="1400" dirty="0"/>
              <a:t>&gt;</a:t>
            </a:r>
          </a:p>
          <a:p>
            <a:pPr marL="742950" lvl="1" indent="-285750">
              <a:buFont typeface="Arial" panose="020B0604020202020204" pitchFamily="34" charset="0"/>
              <a:buChar char="•"/>
            </a:pPr>
            <a:r>
              <a:rPr lang="en-US" sz="1400" dirty="0"/>
              <a:t>    Circle &lt;circle&gt;</a:t>
            </a:r>
          </a:p>
          <a:p>
            <a:pPr marL="742950" lvl="1" indent="-285750">
              <a:buFont typeface="Arial" panose="020B0604020202020204" pitchFamily="34" charset="0"/>
              <a:buChar char="•"/>
            </a:pPr>
            <a:r>
              <a:rPr lang="en-US" sz="1400" dirty="0"/>
              <a:t>    Ellipse &lt;ellipse&gt;</a:t>
            </a:r>
          </a:p>
          <a:p>
            <a:pPr marL="742950" lvl="1" indent="-285750">
              <a:buFont typeface="Arial" panose="020B0604020202020204" pitchFamily="34" charset="0"/>
              <a:buChar char="•"/>
            </a:pPr>
            <a:r>
              <a:rPr lang="en-US" sz="1400" dirty="0"/>
              <a:t>    Line &lt;line&gt;</a:t>
            </a:r>
          </a:p>
          <a:p>
            <a:pPr marL="742950" lvl="1" indent="-285750">
              <a:buFont typeface="Arial" panose="020B0604020202020204" pitchFamily="34" charset="0"/>
              <a:buChar char="•"/>
            </a:pPr>
            <a:r>
              <a:rPr lang="en-US" sz="1400" dirty="0"/>
              <a:t>    Polyline &lt;polyline&gt;</a:t>
            </a:r>
          </a:p>
          <a:p>
            <a:pPr marL="742950" lvl="1" indent="-285750">
              <a:buFont typeface="Arial" panose="020B0604020202020204" pitchFamily="34" charset="0"/>
              <a:buChar char="•"/>
            </a:pPr>
            <a:r>
              <a:rPr lang="en-US" sz="1400" dirty="0"/>
              <a:t>    Polygon &lt;polygon&gt;</a:t>
            </a:r>
          </a:p>
          <a:p>
            <a:pPr marL="742950" lvl="1" indent="-285750">
              <a:buFont typeface="Arial" panose="020B0604020202020204" pitchFamily="34" charset="0"/>
              <a:buChar char="•"/>
            </a:pPr>
            <a:r>
              <a:rPr lang="en-US" sz="1400" dirty="0"/>
              <a:t>    Path &lt;path&gt;</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EE9514AC-24F7-1016-8CAA-C2C1ECF4F674}"/>
              </a:ext>
            </a:extLst>
          </p:cNvPr>
          <p:cNvPicPr>
            <a:picLocks noChangeAspect="1"/>
          </p:cNvPicPr>
          <p:nvPr/>
        </p:nvPicPr>
        <p:blipFill>
          <a:blip r:embed="rId2"/>
          <a:stretch>
            <a:fillRect/>
          </a:stretch>
        </p:blipFill>
        <p:spPr>
          <a:xfrm>
            <a:off x="8661733" y="1826749"/>
            <a:ext cx="1914792" cy="1286054"/>
          </a:xfrm>
          <a:prstGeom prst="rect">
            <a:avLst/>
          </a:prstGeom>
        </p:spPr>
      </p:pic>
    </p:spTree>
    <p:extLst>
      <p:ext uri="{BB962C8B-B14F-4D97-AF65-F5344CB8AC3E}">
        <p14:creationId xmlns:p14="http://schemas.microsoft.com/office/powerpoint/2010/main" val="30879312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E442-AB87-9F03-4EED-11DB2C4202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208607-4A1E-E547-1212-8374EE9C9021}"/>
              </a:ext>
            </a:extLst>
          </p:cNvPr>
          <p:cNvSpPr txBox="1"/>
          <p:nvPr/>
        </p:nvSpPr>
        <p:spPr>
          <a:xfrm>
            <a:off x="528918" y="421341"/>
            <a:ext cx="11143129" cy="5974969"/>
          </a:xfrm>
          <a:prstGeom prst="rect">
            <a:avLst/>
          </a:prstGeom>
          <a:noFill/>
        </p:spPr>
        <p:txBody>
          <a:bodyPr wrap="square" rtlCol="0">
            <a:spAutoFit/>
          </a:bodyPr>
          <a:lstStyle/>
          <a:p>
            <a:r>
              <a:rPr lang="en-US" sz="2400" dirty="0"/>
              <a:t>SVG continued…</a:t>
            </a:r>
          </a:p>
          <a:p>
            <a:endParaRPr lang="en-US" sz="2000" dirty="0"/>
          </a:p>
          <a:p>
            <a:pPr>
              <a:lnSpc>
                <a:spcPct val="107000"/>
              </a:lnSpc>
              <a:spcAft>
                <a:spcPts val="800"/>
              </a:spcAft>
              <a:buNone/>
            </a:pP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sz="2000" kern="100" dirty="0" err="1">
                <a:solidFill>
                  <a:srgbClr val="A52A2A"/>
                </a:solidFill>
                <a:effectLst/>
                <a:latin typeface="Calibri" panose="020F0502020204030204" pitchFamily="34" charset="0"/>
                <a:ea typeface="Calibri" panose="020F0502020204030204" pitchFamily="34" charset="0"/>
                <a:cs typeface="Calibri" panose="020F0502020204030204" pitchFamily="34" charset="0"/>
              </a:rPr>
              <a:t>svg</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width</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="400"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height</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="180"&gt;</a:t>
            </a:r>
            <a:br>
              <a:rPr lang="en-IN" sz="20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sz="20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sz="2000" kern="100" dirty="0" err="1">
                <a:solidFill>
                  <a:srgbClr val="A52A2A"/>
                </a:solidFill>
                <a:effectLst/>
                <a:latin typeface="Calibri" panose="020F0502020204030204" pitchFamily="34" charset="0"/>
                <a:ea typeface="Calibri" panose="020F0502020204030204" pitchFamily="34" charset="0"/>
                <a:cs typeface="Calibri" panose="020F0502020204030204" pitchFamily="34" charset="0"/>
              </a:rPr>
              <a:t>rect</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x</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="50"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y</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rx</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ry</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width</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="150"</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height</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="150"</a:t>
            </a:r>
            <a:b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b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style</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="fill:red;stroke:black;stroke-width:5;opacity:0.5"</a:t>
            </a:r>
            <a:r>
              <a:rPr lang="en-IN" sz="2000"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br>
              <a:rPr lang="en-IN" sz="20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sz="2000"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a:t>
            </a:r>
            <a:r>
              <a:rPr lang="en-IN" sz="2000" kern="100" dirty="0" err="1">
                <a:solidFill>
                  <a:srgbClr val="A52A2A"/>
                </a:solidFill>
                <a:effectLst/>
                <a:latin typeface="Calibri" panose="020F0502020204030204" pitchFamily="34" charset="0"/>
                <a:ea typeface="Calibri" panose="020F0502020204030204" pitchFamily="34" charset="0"/>
                <a:cs typeface="Calibri" panose="020F0502020204030204" pitchFamily="34" charset="0"/>
              </a:rPr>
              <a:t>svg</a:t>
            </a:r>
            <a:r>
              <a:rPr lang="en-IN" sz="2000"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r>
              <a:rPr lang="en-IN" sz="2000" dirty="0"/>
              <a:t>Differences Between SVG and Canvas</a:t>
            </a:r>
          </a:p>
          <a:p>
            <a:pPr marL="285750" indent="-285750">
              <a:buFont typeface="Arial" panose="020B0604020202020204" pitchFamily="34" charset="0"/>
              <a:buChar char="•"/>
            </a:pPr>
            <a:endParaRPr lang="en-IN" sz="2000" dirty="0"/>
          </a:p>
          <a:p>
            <a:pPr marL="285750" indent="-285750" algn="just">
              <a:buFont typeface="Arial" panose="020B0604020202020204" pitchFamily="34" charset="0"/>
              <a:buChar char="•"/>
            </a:pPr>
            <a:r>
              <a:rPr lang="en-IN" dirty="0"/>
              <a:t>SVG is a language for describing 2D graphics in XML.</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Canvas draws 2D graphics, on the fly (with JavaScript).</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SVG is XML based, which means that every element is available within the SVG DOM. You can attach JavaScript event handlers for an element.</a:t>
            </a:r>
          </a:p>
          <a:p>
            <a:pPr algn="just"/>
            <a:endParaRPr lang="en-IN" dirty="0"/>
          </a:p>
          <a:p>
            <a:pPr marL="285750" indent="-285750">
              <a:buFont typeface="Arial" panose="020B0604020202020204" pitchFamily="34" charset="0"/>
              <a:buChar char="•"/>
            </a:pPr>
            <a:endParaRPr lang="en-IN" sz="2000" dirty="0"/>
          </a:p>
          <a:p>
            <a:endParaRPr lang="en-US" sz="2000" dirty="0"/>
          </a:p>
          <a:p>
            <a:endParaRPr lang="en-IN" sz="2000" dirty="0"/>
          </a:p>
        </p:txBody>
      </p:sp>
      <p:pic>
        <p:nvPicPr>
          <p:cNvPr id="3" name="Picture 2" descr="A red square with grey border&#10;&#10;Description automatically generated">
            <a:extLst>
              <a:ext uri="{FF2B5EF4-FFF2-40B4-BE49-F238E27FC236}">
                <a16:creationId xmlns:a16="http://schemas.microsoft.com/office/drawing/2014/main" id="{EDE06536-8C9C-6A07-3740-B0CC590F4772}"/>
              </a:ext>
            </a:extLst>
          </p:cNvPr>
          <p:cNvPicPr>
            <a:picLocks noChangeAspect="1"/>
          </p:cNvPicPr>
          <p:nvPr/>
        </p:nvPicPr>
        <p:blipFill>
          <a:blip r:embed="rId2"/>
          <a:stretch>
            <a:fillRect/>
          </a:stretch>
        </p:blipFill>
        <p:spPr>
          <a:xfrm>
            <a:off x="8696512" y="926353"/>
            <a:ext cx="1701800" cy="1473200"/>
          </a:xfrm>
          <a:prstGeom prst="rect">
            <a:avLst/>
          </a:prstGeom>
        </p:spPr>
      </p:pic>
    </p:spTree>
    <p:extLst>
      <p:ext uri="{BB962C8B-B14F-4D97-AF65-F5344CB8AC3E}">
        <p14:creationId xmlns:p14="http://schemas.microsoft.com/office/powerpoint/2010/main" val="396757216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6E584-C613-7197-0A8A-D334FDF83F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18DAF5-0FC4-12A0-D254-DE02DAEEB685}"/>
              </a:ext>
            </a:extLst>
          </p:cNvPr>
          <p:cNvSpPr txBox="1"/>
          <p:nvPr/>
        </p:nvSpPr>
        <p:spPr>
          <a:xfrm>
            <a:off x="528918" y="421341"/>
            <a:ext cx="11143129" cy="3231654"/>
          </a:xfrm>
          <a:prstGeom prst="rect">
            <a:avLst/>
          </a:prstGeom>
          <a:noFill/>
        </p:spPr>
        <p:txBody>
          <a:bodyPr wrap="square" rtlCol="0">
            <a:spAutoFit/>
          </a:bodyPr>
          <a:lstStyle/>
          <a:p>
            <a:r>
              <a:rPr lang="en-US" sz="2400" dirty="0"/>
              <a:t>SVG Continued…</a:t>
            </a:r>
          </a:p>
          <a:p>
            <a:endParaRPr lang="en-US" sz="2000" dirty="0"/>
          </a:p>
          <a:p>
            <a:pPr marL="285750" indent="-285750" algn="just">
              <a:buFont typeface="Arial" panose="020B0604020202020204" pitchFamily="34" charset="0"/>
              <a:buChar char="•"/>
            </a:pPr>
            <a:r>
              <a:rPr lang="en-IN" sz="2000" dirty="0"/>
              <a:t>In SVG, each drawn shape is remembered as an object. If attributes of an SVG object are changed, the browser can automatically re-render the shape.</a:t>
            </a:r>
          </a:p>
          <a:p>
            <a:pPr marL="285750" indent="-285750" algn="just">
              <a:buFont typeface="Arial" panose="020B0604020202020204" pitchFamily="34" charset="0"/>
              <a:buChar char="•"/>
            </a:pPr>
            <a:endParaRPr lang="en-IN" sz="2000" dirty="0"/>
          </a:p>
          <a:p>
            <a:pPr marL="285750" indent="-285750" algn="just">
              <a:buFont typeface="Arial" panose="020B0604020202020204" pitchFamily="34" charset="0"/>
              <a:buChar char="•"/>
            </a:pPr>
            <a:r>
              <a:rPr lang="en-IN" sz="2000" dirty="0"/>
              <a:t>Canvas is rendered pixel by pixel. In canvas, once the graphic is drawn, it is forgotten by the browser. If its position should be changed, the entire scene needs to be redrawn, including any objects that might have been covered by the graphic</a:t>
            </a:r>
            <a:endParaRPr lang="en-US" sz="2000" dirty="0"/>
          </a:p>
          <a:p>
            <a:endParaRPr lang="en-US" sz="2000" dirty="0"/>
          </a:p>
          <a:p>
            <a:endParaRPr lang="en-IN" sz="2000" dirty="0"/>
          </a:p>
        </p:txBody>
      </p:sp>
      <p:pic>
        <p:nvPicPr>
          <p:cNvPr id="3" name="Picture 2">
            <a:extLst>
              <a:ext uri="{FF2B5EF4-FFF2-40B4-BE49-F238E27FC236}">
                <a16:creationId xmlns:a16="http://schemas.microsoft.com/office/drawing/2014/main" id="{3B8619B9-CB30-DE39-A0A2-B57554A0FEA4}"/>
              </a:ext>
            </a:extLst>
          </p:cNvPr>
          <p:cNvPicPr>
            <a:picLocks noChangeAspect="1"/>
          </p:cNvPicPr>
          <p:nvPr/>
        </p:nvPicPr>
        <p:blipFill>
          <a:blip r:embed="rId2"/>
          <a:stretch>
            <a:fillRect/>
          </a:stretch>
        </p:blipFill>
        <p:spPr>
          <a:xfrm>
            <a:off x="854074" y="3247800"/>
            <a:ext cx="10934513" cy="2825826"/>
          </a:xfrm>
          <a:prstGeom prst="rect">
            <a:avLst/>
          </a:prstGeom>
        </p:spPr>
      </p:pic>
    </p:spTree>
    <p:extLst>
      <p:ext uri="{BB962C8B-B14F-4D97-AF65-F5344CB8AC3E}">
        <p14:creationId xmlns:p14="http://schemas.microsoft.com/office/powerpoint/2010/main" val="39272230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94AF-53E1-408E-16B0-C283F89415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2985B6-1104-7DED-ED0D-F8AFD3F037C6}"/>
              </a:ext>
            </a:extLst>
          </p:cNvPr>
          <p:cNvSpPr txBox="1"/>
          <p:nvPr/>
        </p:nvSpPr>
        <p:spPr>
          <a:xfrm>
            <a:off x="528918" y="421341"/>
            <a:ext cx="11143129" cy="5447645"/>
          </a:xfrm>
          <a:prstGeom prst="rect">
            <a:avLst/>
          </a:prstGeom>
          <a:noFill/>
        </p:spPr>
        <p:txBody>
          <a:bodyPr wrap="square" rtlCol="0">
            <a:spAutoFit/>
          </a:bodyPr>
          <a:lstStyle/>
          <a:p>
            <a:pPr>
              <a:buNone/>
            </a:pPr>
            <a:r>
              <a:rPr lang="en-IN" sz="2400" b="1" dirty="0"/>
              <a:t>HTML Input Types</a:t>
            </a:r>
          </a:p>
          <a:p>
            <a:pPr>
              <a:buNone/>
            </a:pPr>
            <a:endParaRPr lang="en-IN" sz="2400" b="1" dirty="0"/>
          </a:p>
          <a:p>
            <a:r>
              <a:rPr lang="en-IN" sz="2000" dirty="0"/>
              <a:t>the different input types</a:t>
            </a:r>
            <a:endParaRPr lang="en-US" sz="2000" dirty="0"/>
          </a:p>
          <a:p>
            <a:endParaRPr lang="en-IN" sz="2000" dirty="0"/>
          </a:p>
          <a:p>
            <a:r>
              <a:rPr lang="en-IN" sz="2000" dirty="0"/>
              <a:t>    &lt;input type="button"&gt;                               &lt;input type="checkbox"&gt;</a:t>
            </a:r>
          </a:p>
          <a:p>
            <a:r>
              <a:rPr lang="en-IN" sz="2000" dirty="0"/>
              <a:t>    &lt;input type="</a:t>
            </a:r>
            <a:r>
              <a:rPr lang="en-IN" sz="2000" dirty="0" err="1"/>
              <a:t>color</a:t>
            </a:r>
            <a:r>
              <a:rPr lang="en-IN" sz="2000" dirty="0"/>
              <a:t>"&gt;			&lt;input type="date"&gt;</a:t>
            </a:r>
          </a:p>
          <a:p>
            <a:r>
              <a:rPr lang="en-IN" sz="2000" dirty="0"/>
              <a:t>    &lt;input type="datetime-local"&gt;		&lt;input type="email"&gt;</a:t>
            </a:r>
          </a:p>
          <a:p>
            <a:r>
              <a:rPr lang="en-IN" sz="2000" dirty="0"/>
              <a:t>    &lt;input type="file"&gt;			&lt;input type="hidden"&gt;</a:t>
            </a:r>
          </a:p>
          <a:p>
            <a:r>
              <a:rPr lang="en-IN" sz="2000" dirty="0"/>
              <a:t>    &lt;input type="image"&gt; 			&lt;input type="month"&gt;</a:t>
            </a:r>
          </a:p>
          <a:p>
            <a:r>
              <a:rPr lang="en-IN" sz="2000" dirty="0"/>
              <a:t>    &lt;input type="number"&gt;    		&lt;input type="password"&gt;</a:t>
            </a:r>
          </a:p>
          <a:p>
            <a:r>
              <a:rPr lang="en-IN" sz="2000" dirty="0"/>
              <a:t>    &lt;input type="radio"&gt;    			&lt;input type="range"&gt;</a:t>
            </a:r>
          </a:p>
          <a:p>
            <a:r>
              <a:rPr lang="en-IN" sz="2000" dirty="0"/>
              <a:t>    &lt;input type="reset"&gt;    			&lt;input type="search"&gt;</a:t>
            </a:r>
          </a:p>
          <a:p>
            <a:r>
              <a:rPr lang="en-IN" sz="2000" dirty="0"/>
              <a:t>    &lt;input type="submit"&gt;    		&lt;input type="</a:t>
            </a:r>
            <a:r>
              <a:rPr lang="en-IN" sz="2000" dirty="0" err="1"/>
              <a:t>tel</a:t>
            </a:r>
            <a:r>
              <a:rPr lang="en-IN" sz="2000" dirty="0"/>
              <a:t>"&gt;</a:t>
            </a:r>
          </a:p>
          <a:p>
            <a:r>
              <a:rPr lang="en-IN" sz="2000" dirty="0"/>
              <a:t>    &lt;input type="text"&gt;    			&lt;input type="time"&gt;</a:t>
            </a:r>
          </a:p>
          <a:p>
            <a:r>
              <a:rPr lang="en-IN" sz="2000" dirty="0"/>
              <a:t>    &lt;input type="</a:t>
            </a:r>
            <a:r>
              <a:rPr lang="en-IN" sz="2000" dirty="0" err="1"/>
              <a:t>url</a:t>
            </a:r>
            <a:r>
              <a:rPr lang="en-IN" sz="2000" dirty="0"/>
              <a:t>"&gt;    			&lt;input type="week"&gt;</a:t>
            </a:r>
          </a:p>
          <a:p>
            <a:endParaRPr lang="en-IN" sz="2000" dirty="0"/>
          </a:p>
          <a:p>
            <a:pPr marL="342900" indent="-342900">
              <a:buFont typeface="Arial" panose="020B0604020202020204" pitchFamily="34" charset="0"/>
              <a:buChar char="•"/>
            </a:pPr>
            <a:r>
              <a:rPr lang="en-US" sz="2000" dirty="0"/>
              <a:t>The default value of the type attribute is "text".</a:t>
            </a:r>
            <a:endParaRPr lang="en-IN" sz="2000" dirty="0"/>
          </a:p>
        </p:txBody>
      </p:sp>
    </p:spTree>
    <p:extLst>
      <p:ext uri="{BB962C8B-B14F-4D97-AF65-F5344CB8AC3E}">
        <p14:creationId xmlns:p14="http://schemas.microsoft.com/office/powerpoint/2010/main" val="215913609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BDFB8-4E8D-9AB6-572F-5387D75CF5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1CFA5F-5AF1-3E79-3EB7-38999B5A83F3}"/>
              </a:ext>
            </a:extLst>
          </p:cNvPr>
          <p:cNvSpPr txBox="1"/>
          <p:nvPr/>
        </p:nvSpPr>
        <p:spPr>
          <a:xfrm>
            <a:off x="528918" y="421341"/>
            <a:ext cx="11143129" cy="4770537"/>
          </a:xfrm>
          <a:prstGeom prst="rect">
            <a:avLst/>
          </a:prstGeom>
          <a:noFill/>
        </p:spPr>
        <p:txBody>
          <a:bodyPr wrap="square" rtlCol="0">
            <a:spAutoFit/>
          </a:bodyPr>
          <a:lstStyle/>
          <a:p>
            <a:r>
              <a:rPr lang="en-IN" sz="2400" b="1" dirty="0"/>
              <a:t>Input Type Text</a:t>
            </a:r>
            <a:endParaRPr lang="en-US" sz="2400" dirty="0"/>
          </a:p>
          <a:p>
            <a:endParaRPr lang="en-US" sz="2000" dirty="0"/>
          </a:p>
          <a:p>
            <a:r>
              <a:rPr lang="en-US" sz="2000" dirty="0"/>
              <a:t>&lt;input type="text"&gt; defines a single-line text input field:</a:t>
            </a:r>
          </a:p>
          <a:p>
            <a:endParaRPr lang="en-US" sz="2000" dirty="0"/>
          </a:p>
          <a:p>
            <a:pPr>
              <a:buNone/>
            </a:pPr>
            <a:r>
              <a:rPr lang="en-IN" sz="2000" dirty="0">
                <a:solidFill>
                  <a:srgbClr val="999999"/>
                </a:solidFill>
                <a:effectLst/>
              </a:rPr>
              <a:t>&lt;</a:t>
            </a:r>
            <a:r>
              <a:rPr lang="en-IN" sz="2000" dirty="0">
                <a:solidFill>
                  <a:srgbClr val="990055"/>
                </a:solidFill>
                <a:effectLst/>
              </a:rPr>
              <a:t>form</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label</a:t>
            </a:r>
            <a:r>
              <a:rPr lang="en-IN" sz="2000" dirty="0">
                <a:solidFill>
                  <a:srgbClr val="008000"/>
                </a:solidFill>
                <a:effectLst/>
              </a:rPr>
              <a:t> for</a:t>
            </a:r>
            <a:r>
              <a:rPr lang="en-IN" sz="2000" dirty="0">
                <a:solidFill>
                  <a:srgbClr val="005CC5"/>
                </a:solidFill>
                <a:effectLst/>
              </a:rPr>
              <a:t>="</a:t>
            </a:r>
            <a:r>
              <a:rPr lang="en-IN" sz="2000" dirty="0" err="1">
                <a:solidFill>
                  <a:srgbClr val="005CC5"/>
                </a:solidFill>
                <a:effectLst/>
              </a:rPr>
              <a:t>fname</a:t>
            </a:r>
            <a:r>
              <a:rPr lang="en-IN" sz="2000" dirty="0">
                <a:solidFill>
                  <a:srgbClr val="005CC5"/>
                </a:solidFill>
                <a:effectLst/>
              </a:rPr>
              <a:t>"</a:t>
            </a:r>
            <a:r>
              <a:rPr lang="en-IN" sz="2000" dirty="0">
                <a:solidFill>
                  <a:srgbClr val="999999"/>
                </a:solidFill>
                <a:effectLst/>
              </a:rPr>
              <a:t>&gt;</a:t>
            </a:r>
            <a:r>
              <a:rPr lang="en-IN" sz="2000" dirty="0"/>
              <a:t>First name:</a:t>
            </a:r>
            <a:r>
              <a:rPr lang="en-IN" sz="2000" dirty="0">
                <a:solidFill>
                  <a:srgbClr val="999999"/>
                </a:solidFill>
                <a:effectLst/>
              </a:rPr>
              <a:t>&lt;</a:t>
            </a:r>
            <a:r>
              <a:rPr lang="en-IN" sz="2000" dirty="0">
                <a:solidFill>
                  <a:srgbClr val="990055"/>
                </a:solidFill>
                <a:effectLst/>
              </a:rPr>
              <a:t>/label</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="text"</a:t>
            </a:r>
            <a:r>
              <a:rPr lang="en-IN" sz="2000" dirty="0">
                <a:solidFill>
                  <a:srgbClr val="008000"/>
                </a:solidFill>
                <a:effectLst/>
              </a:rPr>
              <a:t> id</a:t>
            </a:r>
            <a:r>
              <a:rPr lang="en-IN" sz="2000" dirty="0">
                <a:solidFill>
                  <a:srgbClr val="005CC5"/>
                </a:solidFill>
                <a:effectLst/>
              </a:rPr>
              <a:t>="</a:t>
            </a:r>
            <a:r>
              <a:rPr lang="en-IN" sz="2000" dirty="0" err="1">
                <a:solidFill>
                  <a:srgbClr val="005CC5"/>
                </a:solidFill>
                <a:effectLst/>
              </a:rPr>
              <a:t>fname</a:t>
            </a:r>
            <a:r>
              <a:rPr lang="en-IN" sz="2000" dirty="0">
                <a:solidFill>
                  <a:srgbClr val="005CC5"/>
                </a:solidFill>
                <a:effectLst/>
              </a:rPr>
              <a:t>"</a:t>
            </a:r>
            <a:r>
              <a:rPr lang="en-IN" sz="2000" dirty="0">
                <a:solidFill>
                  <a:srgbClr val="008000"/>
                </a:solidFill>
                <a:effectLst/>
              </a:rPr>
              <a:t> name</a:t>
            </a:r>
            <a:r>
              <a:rPr lang="en-IN" sz="2000" dirty="0">
                <a:solidFill>
                  <a:srgbClr val="005CC5"/>
                </a:solidFill>
                <a:effectLst/>
              </a:rPr>
              <a:t>="</a:t>
            </a:r>
            <a:r>
              <a:rPr lang="en-IN" sz="2000" dirty="0" err="1">
                <a:solidFill>
                  <a:srgbClr val="005CC5"/>
                </a:solidFill>
                <a:effectLst/>
              </a:rPr>
              <a:t>fname</a:t>
            </a:r>
            <a:r>
              <a:rPr lang="en-IN" sz="2000" dirty="0">
                <a:solidFill>
                  <a:srgbClr val="005CC5"/>
                </a:solidFill>
                <a:effectLst/>
              </a:rPr>
              <a:t>"</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label</a:t>
            </a:r>
            <a:r>
              <a:rPr lang="en-IN" sz="2000" dirty="0">
                <a:solidFill>
                  <a:srgbClr val="008000"/>
                </a:solidFill>
                <a:effectLst/>
              </a:rPr>
              <a:t> for</a:t>
            </a:r>
            <a:r>
              <a:rPr lang="en-IN" sz="2000" dirty="0">
                <a:solidFill>
                  <a:srgbClr val="005CC5"/>
                </a:solidFill>
                <a:effectLst/>
              </a:rPr>
              <a:t>="</a:t>
            </a:r>
            <a:r>
              <a:rPr lang="en-IN" sz="2000" dirty="0" err="1">
                <a:solidFill>
                  <a:srgbClr val="005CC5"/>
                </a:solidFill>
                <a:effectLst/>
              </a:rPr>
              <a:t>lname</a:t>
            </a:r>
            <a:r>
              <a:rPr lang="en-IN" sz="2000" dirty="0">
                <a:solidFill>
                  <a:srgbClr val="005CC5"/>
                </a:solidFill>
                <a:effectLst/>
              </a:rPr>
              <a:t>"</a:t>
            </a:r>
            <a:r>
              <a:rPr lang="en-IN" sz="2000" dirty="0">
                <a:solidFill>
                  <a:srgbClr val="999999"/>
                </a:solidFill>
                <a:effectLst/>
              </a:rPr>
              <a:t>&gt;</a:t>
            </a:r>
            <a:r>
              <a:rPr lang="en-IN" sz="2000" dirty="0"/>
              <a:t>Last name:</a:t>
            </a:r>
            <a:r>
              <a:rPr lang="en-IN" sz="2000" dirty="0">
                <a:solidFill>
                  <a:srgbClr val="999999"/>
                </a:solidFill>
                <a:effectLst/>
              </a:rPr>
              <a:t>&lt;</a:t>
            </a:r>
            <a:r>
              <a:rPr lang="en-IN" sz="2000" dirty="0">
                <a:solidFill>
                  <a:srgbClr val="990055"/>
                </a:solidFill>
                <a:effectLst/>
              </a:rPr>
              <a:t>/label</a:t>
            </a:r>
            <a:r>
              <a:rPr lang="en-IN" sz="2000" dirty="0">
                <a:solidFill>
                  <a:srgbClr val="999999"/>
                </a:solidFill>
                <a:effectLst/>
              </a:rPr>
              <a:t>&gt;&lt;</a:t>
            </a:r>
            <a:r>
              <a:rPr lang="en-IN" sz="2000" dirty="0" err="1">
                <a:solidFill>
                  <a:srgbClr val="990055"/>
                </a:solidFill>
                <a:effectLst/>
              </a:rPr>
              <a:t>br</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="text"</a:t>
            </a:r>
            <a:r>
              <a:rPr lang="en-IN" sz="2000" dirty="0">
                <a:solidFill>
                  <a:srgbClr val="008000"/>
                </a:solidFill>
                <a:effectLst/>
              </a:rPr>
              <a:t> id</a:t>
            </a:r>
            <a:r>
              <a:rPr lang="en-IN" sz="2000" dirty="0">
                <a:solidFill>
                  <a:srgbClr val="005CC5"/>
                </a:solidFill>
                <a:effectLst/>
              </a:rPr>
              <a:t>="</a:t>
            </a:r>
            <a:r>
              <a:rPr lang="en-IN" sz="2000" dirty="0" err="1">
                <a:solidFill>
                  <a:srgbClr val="005CC5"/>
                </a:solidFill>
                <a:effectLst/>
              </a:rPr>
              <a:t>lname</a:t>
            </a:r>
            <a:r>
              <a:rPr lang="en-IN" sz="2000" dirty="0">
                <a:solidFill>
                  <a:srgbClr val="005CC5"/>
                </a:solidFill>
                <a:effectLst/>
              </a:rPr>
              <a:t>"</a:t>
            </a:r>
            <a:r>
              <a:rPr lang="en-IN" sz="2000" dirty="0">
                <a:solidFill>
                  <a:srgbClr val="008000"/>
                </a:solidFill>
                <a:effectLst/>
              </a:rPr>
              <a:t> name</a:t>
            </a:r>
            <a:r>
              <a:rPr lang="en-IN" sz="2000" dirty="0">
                <a:solidFill>
                  <a:srgbClr val="005CC5"/>
                </a:solidFill>
                <a:effectLst/>
              </a:rPr>
              <a:t>="</a:t>
            </a:r>
            <a:r>
              <a:rPr lang="en-IN" sz="2000" dirty="0" err="1">
                <a:solidFill>
                  <a:srgbClr val="005CC5"/>
                </a:solidFill>
                <a:effectLst/>
              </a:rPr>
              <a:t>lname</a:t>
            </a:r>
            <a:r>
              <a:rPr lang="en-IN" sz="2000" dirty="0">
                <a:solidFill>
                  <a:srgbClr val="005CC5"/>
                </a:solidFill>
                <a:effectLst/>
              </a:rPr>
              <a:t>"</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/form</a:t>
            </a:r>
            <a:r>
              <a:rPr lang="en-IN" sz="2000" dirty="0">
                <a:solidFill>
                  <a:srgbClr val="999999"/>
                </a:solidFill>
                <a:effectLst/>
              </a:rPr>
              <a:t>&gt;</a:t>
            </a:r>
            <a:r>
              <a:rPr lang="en-IN" sz="2000" dirty="0"/>
              <a:t> </a:t>
            </a:r>
          </a:p>
          <a:p>
            <a:endParaRPr lang="en-IN" sz="2000" dirty="0"/>
          </a:p>
          <a:p>
            <a:endParaRPr lang="en-IN" sz="2000" dirty="0"/>
          </a:p>
          <a:p>
            <a:r>
              <a:rPr lang="en-US" sz="2000" b="1" dirty="0"/>
              <a:t>Input Type Password</a:t>
            </a:r>
          </a:p>
          <a:p>
            <a:endParaRPr lang="en-US" sz="2000" dirty="0"/>
          </a:p>
          <a:p>
            <a:r>
              <a:rPr lang="en-US" sz="2000" dirty="0"/>
              <a:t>&lt;input type="password"&gt; defines a password field</a:t>
            </a:r>
            <a:endParaRPr lang="en-IN" sz="2000" dirty="0"/>
          </a:p>
        </p:txBody>
      </p:sp>
    </p:spTree>
    <p:extLst>
      <p:ext uri="{BB962C8B-B14F-4D97-AF65-F5344CB8AC3E}">
        <p14:creationId xmlns:p14="http://schemas.microsoft.com/office/powerpoint/2010/main" val="65330947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68000-5ED1-196F-CF7B-62C58562AB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477F8E-B36E-789D-0D95-9D6DDDECABC0}"/>
              </a:ext>
            </a:extLst>
          </p:cNvPr>
          <p:cNvSpPr txBox="1"/>
          <p:nvPr/>
        </p:nvSpPr>
        <p:spPr>
          <a:xfrm>
            <a:off x="528918" y="421341"/>
            <a:ext cx="11143129" cy="5416868"/>
          </a:xfrm>
          <a:prstGeom prst="rect">
            <a:avLst/>
          </a:prstGeom>
          <a:noFill/>
        </p:spPr>
        <p:txBody>
          <a:bodyPr wrap="square" rtlCol="0">
            <a:spAutoFit/>
          </a:bodyPr>
          <a:lstStyle/>
          <a:p>
            <a:r>
              <a:rPr lang="en-US" sz="2400" b="1" dirty="0"/>
              <a:t>Input Type Submit</a:t>
            </a:r>
          </a:p>
          <a:p>
            <a:endParaRPr lang="en-US" sz="2400" dirty="0"/>
          </a:p>
          <a:p>
            <a:r>
              <a:rPr lang="en-US" dirty="0"/>
              <a:t>&lt;input type="submit"&gt; defines a button for submitting form data to a form-handler.</a:t>
            </a:r>
          </a:p>
          <a:p>
            <a:endParaRPr lang="en-US" dirty="0"/>
          </a:p>
          <a:p>
            <a:r>
              <a:rPr lang="en-US" dirty="0"/>
              <a:t>The form-handler is typically a server page with a script for processing input data.</a:t>
            </a:r>
          </a:p>
          <a:p>
            <a:endParaRPr lang="en-US" dirty="0"/>
          </a:p>
          <a:p>
            <a:r>
              <a:rPr lang="en-US" dirty="0"/>
              <a:t>The form-handler is specified in the form's action attribute</a:t>
            </a:r>
            <a:endParaRPr lang="en-US" sz="1600" dirty="0"/>
          </a:p>
          <a:p>
            <a:endParaRPr lang="en-IN" sz="2000" dirty="0"/>
          </a:p>
          <a:p>
            <a:r>
              <a:rPr lang="en-US" sz="2400" b="1" dirty="0"/>
              <a:t>Input Type Reset</a:t>
            </a:r>
          </a:p>
          <a:p>
            <a:endParaRPr lang="en-US" sz="2000" dirty="0"/>
          </a:p>
          <a:p>
            <a:r>
              <a:rPr lang="en-US" sz="2000" dirty="0"/>
              <a:t>&lt;input type="reset"&gt; defines a reset button that will reset all form values to their default values</a:t>
            </a:r>
          </a:p>
          <a:p>
            <a:endParaRPr lang="en-US" sz="2000" dirty="0"/>
          </a:p>
          <a:p>
            <a:r>
              <a:rPr lang="en-US" sz="2400" b="1" dirty="0"/>
              <a:t>Input Type Radio</a:t>
            </a:r>
          </a:p>
          <a:p>
            <a:endParaRPr lang="en-US" sz="2000" dirty="0"/>
          </a:p>
          <a:p>
            <a:r>
              <a:rPr lang="en-US" sz="2000" dirty="0"/>
              <a:t>&lt;input type="radio"&gt; defines a radio button.</a:t>
            </a:r>
          </a:p>
          <a:p>
            <a:endParaRPr lang="en-US" sz="2000" dirty="0"/>
          </a:p>
          <a:p>
            <a:r>
              <a:rPr lang="en-US" sz="2000" dirty="0"/>
              <a:t>Radio buttons let a user select ONLY ONE of a limited number of choices</a:t>
            </a:r>
            <a:endParaRPr lang="en-IN" sz="2000" dirty="0"/>
          </a:p>
        </p:txBody>
      </p:sp>
    </p:spTree>
    <p:extLst>
      <p:ext uri="{BB962C8B-B14F-4D97-AF65-F5344CB8AC3E}">
        <p14:creationId xmlns:p14="http://schemas.microsoft.com/office/powerpoint/2010/main" val="55489960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33229-838F-EDD6-40E0-4260F949BE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00C956-BC1E-866A-A425-C7110221C1D8}"/>
              </a:ext>
            </a:extLst>
          </p:cNvPr>
          <p:cNvSpPr txBox="1"/>
          <p:nvPr/>
        </p:nvSpPr>
        <p:spPr>
          <a:xfrm>
            <a:off x="528918" y="421341"/>
            <a:ext cx="11143129" cy="5570756"/>
          </a:xfrm>
          <a:prstGeom prst="rect">
            <a:avLst/>
          </a:prstGeom>
          <a:noFill/>
        </p:spPr>
        <p:txBody>
          <a:bodyPr wrap="square" rtlCol="0">
            <a:spAutoFit/>
          </a:bodyPr>
          <a:lstStyle/>
          <a:p>
            <a:r>
              <a:rPr lang="en-US" sz="2400" b="1" dirty="0"/>
              <a:t>Input Type Checkbox</a:t>
            </a:r>
          </a:p>
          <a:p>
            <a:endParaRPr lang="en-US" sz="2400" dirty="0"/>
          </a:p>
          <a:p>
            <a:pPr lvl="1"/>
            <a:r>
              <a:rPr lang="en-US" sz="2000" dirty="0"/>
              <a:t>&lt;input type="checkbox"&gt; defines a checkbox.</a:t>
            </a:r>
          </a:p>
          <a:p>
            <a:pPr lvl="1"/>
            <a:endParaRPr lang="en-US" sz="2000" dirty="0"/>
          </a:p>
          <a:p>
            <a:pPr lvl="1"/>
            <a:r>
              <a:rPr lang="en-US" sz="2000" dirty="0"/>
              <a:t>Checkboxes let a user select ZERO or MORE options of a limited number of choices</a:t>
            </a:r>
            <a:endParaRPr lang="en-US" dirty="0"/>
          </a:p>
          <a:p>
            <a:endParaRPr lang="en-IN" sz="2000" dirty="0"/>
          </a:p>
          <a:p>
            <a:r>
              <a:rPr lang="en-US" sz="2400" b="1" dirty="0"/>
              <a:t>Input Type Button</a:t>
            </a:r>
          </a:p>
          <a:p>
            <a:endParaRPr lang="en-US" sz="2000" dirty="0"/>
          </a:p>
          <a:p>
            <a:r>
              <a:rPr lang="en-US" sz="2000" dirty="0"/>
              <a:t>	&lt;input type="button"&gt; defines a button</a:t>
            </a:r>
          </a:p>
          <a:p>
            <a:r>
              <a:rPr lang="en-US" sz="2000" dirty="0"/>
              <a:t>	</a:t>
            </a:r>
            <a:r>
              <a:rPr lang="en-US" dirty="0"/>
              <a:t>&lt;input type="button" onclick="alert('Hello World!')" value="Click Me!"&gt;</a:t>
            </a:r>
            <a:r>
              <a:rPr lang="en-US" sz="2000" dirty="0"/>
              <a:t> </a:t>
            </a:r>
          </a:p>
          <a:p>
            <a:endParaRPr lang="en-IN" sz="2000" dirty="0"/>
          </a:p>
          <a:p>
            <a:r>
              <a:rPr lang="en-US" sz="2400" b="1" dirty="0"/>
              <a:t>Input Type Color</a:t>
            </a:r>
          </a:p>
          <a:p>
            <a:endParaRPr lang="en-US" sz="2000" dirty="0"/>
          </a:p>
          <a:p>
            <a:pPr lvl="1"/>
            <a:r>
              <a:rPr lang="en-US" sz="2000" dirty="0"/>
              <a:t>The &lt;input type="color"&gt; is used for input fields that should contain a color.</a:t>
            </a:r>
          </a:p>
          <a:p>
            <a:pPr lvl="1"/>
            <a:endParaRPr lang="en-US" sz="2000" dirty="0"/>
          </a:p>
          <a:p>
            <a:pPr lvl="1"/>
            <a:r>
              <a:rPr lang="en-US" sz="2000" dirty="0"/>
              <a:t>Depending on browser support, a color picker can show up in the input field</a:t>
            </a:r>
          </a:p>
          <a:p>
            <a:pPr lvl="1"/>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="color"</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favcolor</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favcolor</a:t>
            </a:r>
            <a:r>
              <a:rPr lang="en-US" sz="2000" dirty="0">
                <a:solidFill>
                  <a:srgbClr val="005CC5"/>
                </a:solidFill>
              </a:rPr>
              <a:t>“ value="#ff0000"</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280113584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230D-DF91-C757-5775-0E0D168371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9BB9FD-3B47-69F3-C50D-2EDF032E6554}"/>
              </a:ext>
            </a:extLst>
          </p:cNvPr>
          <p:cNvSpPr txBox="1"/>
          <p:nvPr/>
        </p:nvSpPr>
        <p:spPr>
          <a:xfrm>
            <a:off x="528918" y="421341"/>
            <a:ext cx="11143129" cy="6124754"/>
          </a:xfrm>
          <a:prstGeom prst="rect">
            <a:avLst/>
          </a:prstGeom>
          <a:noFill/>
        </p:spPr>
        <p:txBody>
          <a:bodyPr wrap="square" rtlCol="0">
            <a:spAutoFit/>
          </a:bodyPr>
          <a:lstStyle/>
          <a:p>
            <a:r>
              <a:rPr lang="en-US" sz="2400" b="1" dirty="0"/>
              <a:t>Input Type Date</a:t>
            </a:r>
          </a:p>
          <a:p>
            <a:endParaRPr lang="en-US" sz="2000" dirty="0"/>
          </a:p>
          <a:p>
            <a:pPr marL="800100" lvl="1" indent="-342900">
              <a:buFont typeface="Arial" panose="020B0604020202020204" pitchFamily="34" charset="0"/>
              <a:buChar char="•"/>
            </a:pPr>
            <a:r>
              <a:rPr lang="en-US" sz="2000" dirty="0"/>
              <a:t>The &lt;input type="date"&gt; is used for input fields that should contain a date.</a:t>
            </a:r>
          </a:p>
          <a:p>
            <a:pPr marL="800100" lvl="1" indent="-342900">
              <a:buFont typeface="Arial" panose="020B0604020202020204" pitchFamily="34" charset="0"/>
              <a:buChar char="•"/>
            </a:pPr>
            <a:r>
              <a:rPr lang="en-US" sz="2000" dirty="0"/>
              <a:t>Depending on browser support, a date picker can show up in the input field</a:t>
            </a:r>
          </a:p>
          <a:p>
            <a:r>
              <a:rPr lang="en-US" sz="2000" dirty="0"/>
              <a:t>	</a:t>
            </a:r>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="date"</a:t>
            </a:r>
            <a:r>
              <a:rPr lang="en-US" sz="2000" dirty="0">
                <a:solidFill>
                  <a:srgbClr val="008000"/>
                </a:solidFill>
                <a:effectLst/>
              </a:rPr>
              <a:t> id</a:t>
            </a:r>
            <a:r>
              <a:rPr lang="en-US" sz="2000" dirty="0">
                <a:solidFill>
                  <a:srgbClr val="005CC5"/>
                </a:solidFill>
                <a:effectLst/>
              </a:rPr>
              <a:t>="birthday"</a:t>
            </a:r>
            <a:r>
              <a:rPr lang="en-US" sz="2000" dirty="0">
                <a:solidFill>
                  <a:srgbClr val="008000"/>
                </a:solidFill>
                <a:effectLst/>
              </a:rPr>
              <a:t> name</a:t>
            </a:r>
            <a:r>
              <a:rPr lang="en-US" sz="2000" dirty="0">
                <a:solidFill>
                  <a:srgbClr val="005CC5"/>
                </a:solidFill>
                <a:effectLst/>
              </a:rPr>
              <a:t>="birthday"</a:t>
            </a:r>
            <a:r>
              <a:rPr lang="en-US" sz="2000" dirty="0">
                <a:solidFill>
                  <a:srgbClr val="999999"/>
                </a:solidFill>
                <a:effectLst/>
              </a:rPr>
              <a:t>&gt;</a:t>
            </a:r>
            <a:endParaRPr lang="en-US" sz="2000" dirty="0"/>
          </a:p>
          <a:p>
            <a:pPr marL="800100" lvl="1" indent="-342900">
              <a:buFont typeface="Arial" panose="020B0604020202020204" pitchFamily="34" charset="0"/>
              <a:buChar char="•"/>
            </a:pPr>
            <a:r>
              <a:rPr lang="en-US" sz="2000" dirty="0"/>
              <a:t>You can also use the min and max attributes to add restrictions to dates</a:t>
            </a:r>
            <a:endParaRPr lang="en-IN" sz="2000" dirty="0"/>
          </a:p>
          <a:p>
            <a:endParaRPr lang="en-IN" sz="2000" dirty="0"/>
          </a:p>
          <a:p>
            <a:r>
              <a:rPr lang="en-US" sz="2400" b="1" dirty="0"/>
              <a:t>Input Type Datetime-local</a:t>
            </a:r>
          </a:p>
          <a:p>
            <a:endParaRPr lang="en-US" sz="2000" dirty="0"/>
          </a:p>
          <a:p>
            <a:pPr marL="800100" lvl="1" indent="-342900">
              <a:buFont typeface="Arial" panose="020B0604020202020204" pitchFamily="34" charset="0"/>
              <a:buChar char="•"/>
            </a:pPr>
            <a:r>
              <a:rPr lang="en-US" sz="2000" dirty="0"/>
              <a:t>The &lt;input type="datetime-local"&gt; specifies a date and time input field, with no time zone.</a:t>
            </a:r>
          </a:p>
          <a:p>
            <a:pPr marL="800100" lvl="1" indent="-342900">
              <a:buFont typeface="Arial" panose="020B0604020202020204" pitchFamily="34" charset="0"/>
              <a:buChar char="•"/>
            </a:pPr>
            <a:r>
              <a:rPr lang="en-US" sz="2000" dirty="0"/>
              <a:t>Depending on browser support, a date picker can show up in the input field</a:t>
            </a:r>
          </a:p>
          <a:p>
            <a:pPr lvl="1"/>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="datetime-local"</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birthdaytime</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birthdaytime</a:t>
            </a:r>
            <a:r>
              <a:rPr lang="en-US" sz="2000" dirty="0">
                <a:solidFill>
                  <a:srgbClr val="005CC5"/>
                </a:solidFill>
                <a:effectLst/>
              </a:rPr>
              <a:t>"</a:t>
            </a:r>
            <a:r>
              <a:rPr lang="en-US" sz="2000" dirty="0">
                <a:solidFill>
                  <a:srgbClr val="999999"/>
                </a:solidFill>
                <a:effectLst/>
              </a:rPr>
              <a:t>&gt;</a:t>
            </a:r>
          </a:p>
          <a:p>
            <a:pPr lvl="1"/>
            <a:endParaRPr lang="en-US" sz="2000" dirty="0">
              <a:solidFill>
                <a:srgbClr val="999999"/>
              </a:solidFill>
            </a:endParaRPr>
          </a:p>
          <a:p>
            <a:r>
              <a:rPr lang="en-US" sz="2400" b="1" dirty="0"/>
              <a:t>Input Type Email</a:t>
            </a:r>
          </a:p>
          <a:p>
            <a:endParaRPr lang="en-US" sz="2000" dirty="0"/>
          </a:p>
          <a:p>
            <a:pPr marL="800100" lvl="1" indent="-342900">
              <a:buFont typeface="Arial" panose="020B0604020202020204" pitchFamily="34" charset="0"/>
              <a:buChar char="•"/>
            </a:pPr>
            <a:r>
              <a:rPr lang="en-US" sz="2000" dirty="0"/>
              <a:t>The &lt;input type="email"&gt; is used for input fields that should contain an e-mail address.</a:t>
            </a:r>
          </a:p>
          <a:p>
            <a:pPr marL="800100" lvl="1" indent="-342900">
              <a:buFont typeface="Arial" panose="020B0604020202020204" pitchFamily="34" charset="0"/>
              <a:buChar char="•"/>
            </a:pPr>
            <a:r>
              <a:rPr lang="en-US" sz="2000" dirty="0"/>
              <a:t>Depending on browser support, the e-mail address can be automatically validated when submitted.</a:t>
            </a:r>
          </a:p>
          <a:p>
            <a:pPr lvl="1"/>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="email"</a:t>
            </a:r>
            <a:r>
              <a:rPr lang="en-US" sz="2000" dirty="0">
                <a:solidFill>
                  <a:srgbClr val="008000"/>
                </a:solidFill>
                <a:effectLst/>
              </a:rPr>
              <a:t> id</a:t>
            </a:r>
            <a:r>
              <a:rPr lang="en-US" sz="2000" dirty="0">
                <a:solidFill>
                  <a:srgbClr val="005CC5"/>
                </a:solidFill>
                <a:effectLst/>
              </a:rPr>
              <a:t>="email"</a:t>
            </a:r>
            <a:r>
              <a:rPr lang="en-US" sz="2000" dirty="0">
                <a:solidFill>
                  <a:srgbClr val="008000"/>
                </a:solidFill>
                <a:effectLst/>
              </a:rPr>
              <a:t> name</a:t>
            </a:r>
            <a:r>
              <a:rPr lang="en-US" sz="2000" dirty="0">
                <a:solidFill>
                  <a:srgbClr val="005CC5"/>
                </a:solidFill>
                <a:effectLst/>
              </a:rPr>
              <a:t>="email"</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237304982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8B39-6B55-9E1B-455F-A7B56A27B5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CE2245-BFE4-FE01-32C4-B7CA3EC77B68}"/>
              </a:ext>
            </a:extLst>
          </p:cNvPr>
          <p:cNvSpPr txBox="1"/>
          <p:nvPr/>
        </p:nvSpPr>
        <p:spPr>
          <a:xfrm>
            <a:off x="528918" y="421341"/>
            <a:ext cx="11143129" cy="6124754"/>
          </a:xfrm>
          <a:prstGeom prst="rect">
            <a:avLst/>
          </a:prstGeom>
          <a:noFill/>
        </p:spPr>
        <p:txBody>
          <a:bodyPr wrap="square" rtlCol="0">
            <a:spAutoFit/>
          </a:bodyPr>
          <a:lstStyle/>
          <a:p>
            <a:r>
              <a:rPr lang="en-US" sz="2400" b="1" dirty="0"/>
              <a:t>Input Type Image</a:t>
            </a:r>
          </a:p>
          <a:p>
            <a:endParaRPr lang="en-US" sz="2000" dirty="0"/>
          </a:p>
          <a:p>
            <a:pPr marL="800100" lvl="1" indent="-342900">
              <a:buFont typeface="Arial" panose="020B0604020202020204" pitchFamily="34" charset="0"/>
              <a:buChar char="•"/>
            </a:pPr>
            <a:r>
              <a:rPr lang="en-US" sz="2000" dirty="0"/>
              <a:t>The &lt;input type="image"&gt; defines an image as a submit button.</a:t>
            </a:r>
          </a:p>
          <a:p>
            <a:pPr marL="800100" lvl="1" indent="-342900">
              <a:buFont typeface="Arial" panose="020B0604020202020204" pitchFamily="34" charset="0"/>
              <a:buChar char="•"/>
            </a:pPr>
            <a:r>
              <a:rPr lang="en-US" sz="2000" dirty="0"/>
              <a:t>The path to the image is specified in the </a:t>
            </a:r>
            <a:r>
              <a:rPr lang="en-US" sz="2000" dirty="0" err="1"/>
              <a:t>src</a:t>
            </a:r>
            <a:r>
              <a:rPr lang="en-US" sz="2000" dirty="0"/>
              <a:t> attribute</a:t>
            </a:r>
          </a:p>
          <a:p>
            <a:r>
              <a:rPr lang="en-IN" sz="2000" dirty="0">
                <a:solidFill>
                  <a:srgbClr val="999999"/>
                </a:solidFill>
                <a:effectLst/>
              </a:rPr>
              <a:t>	&lt;</a:t>
            </a:r>
            <a:r>
              <a:rPr lang="en-IN" sz="2000" dirty="0">
                <a:solidFill>
                  <a:srgbClr val="990055"/>
                </a:solidFill>
                <a:effectLst/>
              </a:rPr>
              <a:t>input</a:t>
            </a:r>
            <a:r>
              <a:rPr lang="en-IN" sz="2000" dirty="0">
                <a:solidFill>
                  <a:srgbClr val="008000"/>
                </a:solidFill>
                <a:effectLst/>
              </a:rPr>
              <a:t> type</a:t>
            </a:r>
            <a:r>
              <a:rPr lang="en-IN" sz="2000" dirty="0">
                <a:solidFill>
                  <a:srgbClr val="005CC5"/>
                </a:solidFill>
                <a:effectLst/>
              </a:rPr>
              <a:t>="image"</a:t>
            </a:r>
            <a:r>
              <a:rPr lang="en-IN" sz="2000" dirty="0">
                <a:solidFill>
                  <a:srgbClr val="008000"/>
                </a:solidFill>
                <a:effectLst/>
              </a:rPr>
              <a:t> </a:t>
            </a:r>
            <a:r>
              <a:rPr lang="en-IN" sz="2000" dirty="0" err="1">
                <a:solidFill>
                  <a:srgbClr val="008000"/>
                </a:solidFill>
                <a:effectLst/>
              </a:rPr>
              <a:t>src</a:t>
            </a:r>
            <a:r>
              <a:rPr lang="en-IN" sz="2000" dirty="0">
                <a:solidFill>
                  <a:srgbClr val="005CC5"/>
                </a:solidFill>
                <a:effectLst/>
              </a:rPr>
              <a:t>="img_submit.gif"</a:t>
            </a:r>
            <a:r>
              <a:rPr lang="en-IN" sz="2000" dirty="0">
                <a:solidFill>
                  <a:srgbClr val="008000"/>
                </a:solidFill>
                <a:effectLst/>
              </a:rPr>
              <a:t> alt</a:t>
            </a:r>
            <a:r>
              <a:rPr lang="en-IN" sz="2000" dirty="0">
                <a:solidFill>
                  <a:srgbClr val="005CC5"/>
                </a:solidFill>
                <a:effectLst/>
              </a:rPr>
              <a:t>="Submit"</a:t>
            </a:r>
            <a:r>
              <a:rPr lang="en-IN" sz="2000" dirty="0">
                <a:solidFill>
                  <a:srgbClr val="008000"/>
                </a:solidFill>
                <a:effectLst/>
              </a:rPr>
              <a:t> width</a:t>
            </a:r>
            <a:r>
              <a:rPr lang="en-IN" sz="2000" dirty="0">
                <a:solidFill>
                  <a:srgbClr val="005CC5"/>
                </a:solidFill>
                <a:effectLst/>
              </a:rPr>
              <a:t>="48"</a:t>
            </a:r>
            <a:r>
              <a:rPr lang="en-IN" sz="2000" dirty="0">
                <a:solidFill>
                  <a:srgbClr val="008000"/>
                </a:solidFill>
                <a:effectLst/>
              </a:rPr>
              <a:t> height</a:t>
            </a:r>
            <a:r>
              <a:rPr lang="en-IN" sz="2000" dirty="0">
                <a:solidFill>
                  <a:srgbClr val="005CC5"/>
                </a:solidFill>
                <a:effectLst/>
              </a:rPr>
              <a:t>="48"</a:t>
            </a:r>
            <a:r>
              <a:rPr lang="en-IN" sz="2000" dirty="0">
                <a:solidFill>
                  <a:srgbClr val="999999"/>
                </a:solidFill>
                <a:effectLst/>
              </a:rPr>
              <a:t>&gt;</a:t>
            </a:r>
          </a:p>
          <a:p>
            <a:endParaRPr lang="en-IN" sz="2000" dirty="0">
              <a:solidFill>
                <a:srgbClr val="999999"/>
              </a:solidFill>
            </a:endParaRPr>
          </a:p>
          <a:p>
            <a:r>
              <a:rPr lang="en-US" sz="2400" b="1" dirty="0"/>
              <a:t>Input Type File</a:t>
            </a:r>
          </a:p>
          <a:p>
            <a:endParaRPr lang="en-US" sz="2000" dirty="0"/>
          </a:p>
          <a:p>
            <a:pPr marL="800100" lvl="1" indent="-342900">
              <a:buFont typeface="Arial" panose="020B0604020202020204" pitchFamily="34" charset="0"/>
              <a:buChar char="•"/>
            </a:pPr>
            <a:r>
              <a:rPr lang="en-US" sz="2000" dirty="0"/>
              <a:t>The &lt;input type="file"&gt; defines a file-select field and a "Browse" button for file uploads</a:t>
            </a:r>
          </a:p>
          <a:p>
            <a:r>
              <a:rPr lang="en-US" sz="2000" dirty="0"/>
              <a:t>	</a:t>
            </a:r>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="file"</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myfile</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myfile</a:t>
            </a:r>
            <a:r>
              <a:rPr lang="en-US" sz="2000" dirty="0">
                <a:solidFill>
                  <a:srgbClr val="005CC5"/>
                </a:solidFill>
                <a:effectLst/>
              </a:rPr>
              <a:t>"</a:t>
            </a:r>
            <a:r>
              <a:rPr lang="en-US" sz="2000" dirty="0">
                <a:solidFill>
                  <a:srgbClr val="999999"/>
                </a:solidFill>
                <a:effectLst/>
              </a:rPr>
              <a:t>&gt;</a:t>
            </a:r>
          </a:p>
          <a:p>
            <a:endParaRPr lang="en-US" sz="2000" dirty="0">
              <a:solidFill>
                <a:srgbClr val="999999"/>
              </a:solidFill>
            </a:endParaRPr>
          </a:p>
          <a:p>
            <a:r>
              <a:rPr lang="en-US" sz="2400" b="1" dirty="0"/>
              <a:t>Input Type Hidden</a:t>
            </a:r>
          </a:p>
          <a:p>
            <a:r>
              <a:rPr lang="en-US" sz="2000" dirty="0"/>
              <a:t>	</a:t>
            </a:r>
          </a:p>
          <a:p>
            <a:pPr marL="800100" lvl="1" indent="-342900">
              <a:buFont typeface="Arial" panose="020B0604020202020204" pitchFamily="34" charset="0"/>
              <a:buChar char="•"/>
            </a:pPr>
            <a:r>
              <a:rPr lang="en-US" sz="2000" dirty="0"/>
              <a:t>The &lt;input type="hidden"&gt; defines a hidden input field (not visible to a user).</a:t>
            </a:r>
          </a:p>
          <a:p>
            <a:pPr marL="800100" lvl="1" indent="-342900">
              <a:buFont typeface="Arial" panose="020B0604020202020204" pitchFamily="34" charset="0"/>
              <a:buChar char="•"/>
            </a:pPr>
            <a:r>
              <a:rPr lang="en-US" sz="2000" dirty="0"/>
              <a:t>A hidden field lets web developers include data that cannot be seen or modified by users when a form is submitted.</a:t>
            </a:r>
          </a:p>
          <a:p>
            <a:pPr marL="800100" lvl="1" indent="-342900">
              <a:buFont typeface="Arial" panose="020B0604020202020204" pitchFamily="34" charset="0"/>
              <a:buChar char="•"/>
            </a:pPr>
            <a:r>
              <a:rPr lang="en-US" sz="2000" dirty="0"/>
              <a:t>A hidden field often stores what database record that needs to be updated when the form is submitted</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="hidden"</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custId</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custId</a:t>
            </a:r>
            <a:r>
              <a:rPr lang="en-US" sz="2000" dirty="0">
                <a:solidFill>
                  <a:srgbClr val="005CC5"/>
                </a:solidFill>
                <a:effectLst/>
              </a:rPr>
              <a:t>"</a:t>
            </a:r>
            <a:r>
              <a:rPr lang="en-US" sz="2000" dirty="0">
                <a:solidFill>
                  <a:srgbClr val="008000"/>
                </a:solidFill>
                <a:effectLst/>
              </a:rPr>
              <a:t> value</a:t>
            </a:r>
            <a:r>
              <a:rPr lang="en-US" sz="2000" dirty="0">
                <a:solidFill>
                  <a:srgbClr val="005CC5"/>
                </a:solidFill>
                <a:effectLst/>
              </a:rPr>
              <a:t>="3487"</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12168409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71613-06EB-1F0E-0304-0637731759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3C58DE-CE40-11EB-3FFB-12221D1A7F5A}"/>
              </a:ext>
            </a:extLst>
          </p:cNvPr>
          <p:cNvSpPr txBox="1"/>
          <p:nvPr/>
        </p:nvSpPr>
        <p:spPr>
          <a:xfrm>
            <a:off x="528918" y="421341"/>
            <a:ext cx="11143129" cy="6432530"/>
          </a:xfrm>
          <a:prstGeom prst="rect">
            <a:avLst/>
          </a:prstGeom>
          <a:noFill/>
        </p:spPr>
        <p:txBody>
          <a:bodyPr wrap="square" rtlCol="0">
            <a:spAutoFit/>
          </a:bodyPr>
          <a:lstStyle/>
          <a:p>
            <a:r>
              <a:rPr lang="en-US" sz="2400" b="1" dirty="0"/>
              <a:t>Input Type Month</a:t>
            </a:r>
          </a:p>
          <a:p>
            <a:endParaRPr lang="en-US" sz="2000" dirty="0"/>
          </a:p>
          <a:p>
            <a:pPr marL="800100" lvl="1" indent="-342900">
              <a:buFont typeface="Arial" panose="020B0604020202020204" pitchFamily="34" charset="0"/>
              <a:buChar char="•"/>
            </a:pPr>
            <a:r>
              <a:rPr lang="en-US" sz="2000" dirty="0"/>
              <a:t>The &lt;input type="month"&gt; allows the user to select a month and year.</a:t>
            </a:r>
          </a:p>
          <a:p>
            <a:pPr marL="800100" lvl="1" indent="-342900">
              <a:buFont typeface="Arial" panose="020B0604020202020204" pitchFamily="34" charset="0"/>
              <a:buChar char="•"/>
            </a:pPr>
            <a:r>
              <a:rPr lang="en-US" sz="2000" dirty="0"/>
              <a:t>Depending on browser support, a date picker can show up in the input field</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="month"</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bdaymonth</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bdaymonth</a:t>
            </a:r>
            <a:r>
              <a:rPr lang="en-US" sz="2000" dirty="0">
                <a:solidFill>
                  <a:srgbClr val="005CC5"/>
                </a:solidFill>
                <a:effectLst/>
              </a:rPr>
              <a:t>"</a:t>
            </a:r>
            <a:r>
              <a:rPr lang="en-US" sz="2000" dirty="0">
                <a:solidFill>
                  <a:srgbClr val="999999"/>
                </a:solidFill>
                <a:effectLst/>
              </a:rPr>
              <a:t>&gt;</a:t>
            </a:r>
            <a:r>
              <a:rPr lang="en-US" sz="2000" dirty="0"/>
              <a:t>	</a:t>
            </a:r>
          </a:p>
          <a:p>
            <a:endParaRPr lang="en-IN" sz="2000" dirty="0"/>
          </a:p>
          <a:p>
            <a:r>
              <a:rPr lang="en-US" sz="2400" b="1" dirty="0"/>
              <a:t>Input Type Number</a:t>
            </a:r>
          </a:p>
          <a:p>
            <a:endParaRPr lang="en-US" sz="2000" dirty="0"/>
          </a:p>
          <a:p>
            <a:pPr marL="800100" lvl="1" indent="-342900">
              <a:buFont typeface="Arial" panose="020B0604020202020204" pitchFamily="34" charset="0"/>
              <a:buChar char="•"/>
            </a:pPr>
            <a:r>
              <a:rPr lang="en-US" sz="2000" dirty="0"/>
              <a:t>The &lt;input type="number"&gt; defines a numeric input field.</a:t>
            </a:r>
          </a:p>
          <a:p>
            <a:pPr marL="800100" lvl="1" indent="-342900">
              <a:buFont typeface="Arial" panose="020B0604020202020204" pitchFamily="34" charset="0"/>
              <a:buChar char="•"/>
            </a:pPr>
            <a:r>
              <a:rPr lang="en-US" sz="2000" dirty="0"/>
              <a:t>You can also set restrictions on what numbers are accepted.</a:t>
            </a:r>
          </a:p>
          <a:p>
            <a:pPr marL="800100" lvl="1" indent="-342900">
              <a:buFont typeface="Arial" panose="020B0604020202020204" pitchFamily="34" charset="0"/>
              <a:buChar char="•"/>
            </a:pPr>
            <a:r>
              <a:rPr lang="en-US" sz="2000" dirty="0"/>
              <a:t>The following example displays a numeric input field, where you can enter a value from 1 to 5</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="number"</a:t>
            </a:r>
            <a:r>
              <a:rPr lang="en-US" sz="2000" dirty="0">
                <a:solidFill>
                  <a:srgbClr val="008000"/>
                </a:solidFill>
                <a:effectLst/>
              </a:rPr>
              <a:t> id</a:t>
            </a:r>
            <a:r>
              <a:rPr lang="en-US" sz="2000" dirty="0">
                <a:solidFill>
                  <a:srgbClr val="005CC5"/>
                </a:solidFill>
                <a:effectLst/>
              </a:rPr>
              <a:t>="quantity"</a:t>
            </a:r>
            <a:r>
              <a:rPr lang="en-US" sz="2000" dirty="0">
                <a:solidFill>
                  <a:srgbClr val="008000"/>
                </a:solidFill>
                <a:effectLst/>
              </a:rPr>
              <a:t> name</a:t>
            </a:r>
            <a:r>
              <a:rPr lang="en-US" sz="2000" dirty="0">
                <a:solidFill>
                  <a:srgbClr val="005CC5"/>
                </a:solidFill>
                <a:effectLst/>
              </a:rPr>
              <a:t>="quantity"</a:t>
            </a:r>
            <a:r>
              <a:rPr lang="en-US" sz="2000" dirty="0">
                <a:solidFill>
                  <a:srgbClr val="008000"/>
                </a:solidFill>
                <a:effectLst/>
              </a:rPr>
              <a:t> min</a:t>
            </a:r>
            <a:r>
              <a:rPr lang="en-US" sz="2000" dirty="0">
                <a:solidFill>
                  <a:srgbClr val="005CC5"/>
                </a:solidFill>
                <a:effectLst/>
              </a:rPr>
              <a:t>="1"</a:t>
            </a:r>
            <a:r>
              <a:rPr lang="en-US" sz="2000" dirty="0">
                <a:solidFill>
                  <a:srgbClr val="008000"/>
                </a:solidFill>
                <a:effectLst/>
              </a:rPr>
              <a:t> max</a:t>
            </a:r>
            <a:r>
              <a:rPr lang="en-US" sz="2000" dirty="0">
                <a:solidFill>
                  <a:srgbClr val="005CC5"/>
                </a:solidFill>
                <a:effectLst/>
              </a:rPr>
              <a:t>="5"</a:t>
            </a:r>
            <a:r>
              <a:rPr lang="en-US" sz="2000" dirty="0">
                <a:solidFill>
                  <a:srgbClr val="999999"/>
                </a:solidFill>
                <a:effectLst/>
              </a:rPr>
              <a:t>&gt;</a:t>
            </a:r>
          </a:p>
          <a:p>
            <a:endParaRPr lang="en-US" sz="2000" dirty="0">
              <a:solidFill>
                <a:srgbClr val="999999"/>
              </a:solidFill>
            </a:endParaRPr>
          </a:p>
          <a:p>
            <a:r>
              <a:rPr lang="en-US" sz="2400" b="1" dirty="0"/>
              <a:t>Input Type Range</a:t>
            </a:r>
          </a:p>
          <a:p>
            <a:endParaRPr lang="en-US" sz="2000" dirty="0"/>
          </a:p>
          <a:p>
            <a:pPr marL="800100" lvl="1" indent="-342900">
              <a:buFont typeface="Arial" panose="020B0604020202020204" pitchFamily="34" charset="0"/>
              <a:buChar char="•"/>
            </a:pPr>
            <a:r>
              <a:rPr lang="en-US" sz="2000" dirty="0"/>
              <a:t>The &lt;input type="range"&gt; defines a control for entering a number whose exact value is not important (like a slider control). </a:t>
            </a:r>
          </a:p>
          <a:p>
            <a:pPr marL="800100" lvl="1" indent="-342900">
              <a:buFont typeface="Arial" panose="020B0604020202020204" pitchFamily="34" charset="0"/>
              <a:buChar char="•"/>
            </a:pPr>
            <a:r>
              <a:rPr lang="en-US" sz="2000" dirty="0"/>
              <a:t>Default range is 0 to 100. However, you can set restrictions on what numbers are accepted with the min, max, and step attributes</a:t>
            </a:r>
          </a:p>
          <a:p>
            <a:r>
              <a:rPr lang="nl-NL" sz="2000" dirty="0">
                <a:solidFill>
                  <a:srgbClr val="999999"/>
                </a:solidFill>
                <a:effectLst/>
              </a:rPr>
              <a:t>	&lt;</a:t>
            </a:r>
            <a:r>
              <a:rPr lang="nl-NL" sz="2000" dirty="0">
                <a:solidFill>
                  <a:srgbClr val="990055"/>
                </a:solidFill>
                <a:effectLst/>
              </a:rPr>
              <a:t>input</a:t>
            </a:r>
            <a:r>
              <a:rPr lang="nl-NL" sz="2000" dirty="0">
                <a:solidFill>
                  <a:srgbClr val="008000"/>
                </a:solidFill>
                <a:effectLst/>
              </a:rPr>
              <a:t> type</a:t>
            </a:r>
            <a:r>
              <a:rPr lang="nl-NL" sz="2000" dirty="0">
                <a:solidFill>
                  <a:srgbClr val="005CC5"/>
                </a:solidFill>
                <a:effectLst/>
              </a:rPr>
              <a:t>="range"</a:t>
            </a:r>
            <a:r>
              <a:rPr lang="nl-NL" sz="2000" dirty="0">
                <a:solidFill>
                  <a:srgbClr val="008000"/>
                </a:solidFill>
                <a:effectLst/>
              </a:rPr>
              <a:t> id</a:t>
            </a:r>
            <a:r>
              <a:rPr lang="nl-NL" sz="2000" dirty="0">
                <a:solidFill>
                  <a:srgbClr val="005CC5"/>
                </a:solidFill>
                <a:effectLst/>
              </a:rPr>
              <a:t>="vol"</a:t>
            </a:r>
            <a:r>
              <a:rPr lang="nl-NL" sz="2000" dirty="0">
                <a:solidFill>
                  <a:srgbClr val="008000"/>
                </a:solidFill>
                <a:effectLst/>
              </a:rPr>
              <a:t> name</a:t>
            </a:r>
            <a:r>
              <a:rPr lang="nl-NL" sz="2000" dirty="0">
                <a:solidFill>
                  <a:srgbClr val="005CC5"/>
                </a:solidFill>
                <a:effectLst/>
              </a:rPr>
              <a:t>="vol"</a:t>
            </a:r>
            <a:r>
              <a:rPr lang="nl-NL" sz="2000" dirty="0">
                <a:solidFill>
                  <a:srgbClr val="008000"/>
                </a:solidFill>
                <a:effectLst/>
              </a:rPr>
              <a:t> min</a:t>
            </a:r>
            <a:r>
              <a:rPr lang="nl-NL" sz="2000" dirty="0">
                <a:solidFill>
                  <a:srgbClr val="005CC5"/>
                </a:solidFill>
                <a:effectLst/>
              </a:rPr>
              <a:t>="0"</a:t>
            </a:r>
            <a:r>
              <a:rPr lang="nl-NL" sz="2000" dirty="0">
                <a:solidFill>
                  <a:srgbClr val="008000"/>
                </a:solidFill>
                <a:effectLst/>
              </a:rPr>
              <a:t> max</a:t>
            </a:r>
            <a:r>
              <a:rPr lang="nl-NL" sz="2000" dirty="0">
                <a:solidFill>
                  <a:srgbClr val="005CC5"/>
                </a:solidFill>
                <a:effectLst/>
              </a:rPr>
              <a:t>="50"</a:t>
            </a:r>
            <a:r>
              <a:rPr lang="nl-NL" sz="2000" dirty="0">
                <a:solidFill>
                  <a:srgbClr val="999999"/>
                </a:solidFill>
                <a:effectLst/>
              </a:rPr>
              <a:t>&gt;</a:t>
            </a:r>
            <a:endParaRPr lang="en-IN" sz="2000" dirty="0"/>
          </a:p>
        </p:txBody>
      </p:sp>
    </p:spTree>
    <p:extLst>
      <p:ext uri="{BB962C8B-B14F-4D97-AF65-F5344CB8AC3E}">
        <p14:creationId xmlns:p14="http://schemas.microsoft.com/office/powerpoint/2010/main" val="299819634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ABE9B-A1F8-AF70-7ADE-67A187F131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04CFF1-1F2F-98F2-7A84-28B6275C09F9}"/>
              </a:ext>
            </a:extLst>
          </p:cNvPr>
          <p:cNvSpPr txBox="1"/>
          <p:nvPr/>
        </p:nvSpPr>
        <p:spPr>
          <a:xfrm>
            <a:off x="528918" y="421341"/>
            <a:ext cx="11143129" cy="5632311"/>
          </a:xfrm>
          <a:prstGeom prst="rect">
            <a:avLst/>
          </a:prstGeom>
          <a:noFill/>
        </p:spPr>
        <p:txBody>
          <a:bodyPr wrap="square" rtlCol="0">
            <a:spAutoFit/>
          </a:bodyPr>
          <a:lstStyle/>
          <a:p>
            <a:r>
              <a:rPr lang="en-US" sz="2000" b="1" dirty="0"/>
              <a:t>Input Type Search</a:t>
            </a:r>
            <a:endParaRPr lang="en-US" sz="2000" dirty="0"/>
          </a:p>
          <a:p>
            <a:pPr marL="800100" lvl="1" indent="-342900">
              <a:buFont typeface="Arial" panose="020B0604020202020204" pitchFamily="34" charset="0"/>
              <a:buChar char="•"/>
            </a:pPr>
            <a:r>
              <a:rPr lang="en-US" sz="2000" dirty="0"/>
              <a:t>The &lt;input type="search"&gt; is used for search fields</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="search"</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gsearch</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gsearch</a:t>
            </a:r>
            <a:r>
              <a:rPr lang="en-US" sz="2000" dirty="0">
                <a:solidFill>
                  <a:srgbClr val="005CC5"/>
                </a:solidFill>
                <a:effectLst/>
              </a:rPr>
              <a:t>"</a:t>
            </a:r>
            <a:r>
              <a:rPr lang="en-US" sz="2000" dirty="0">
                <a:solidFill>
                  <a:srgbClr val="999999"/>
                </a:solidFill>
                <a:effectLst/>
              </a:rPr>
              <a:t>&gt;</a:t>
            </a:r>
            <a:endParaRPr lang="en-US" sz="2000" dirty="0"/>
          </a:p>
          <a:p>
            <a:endParaRPr lang="en-IN" sz="2000" dirty="0"/>
          </a:p>
          <a:p>
            <a:r>
              <a:rPr lang="en-US" sz="2000" b="1" dirty="0"/>
              <a:t>Input Type Tel</a:t>
            </a:r>
            <a:endParaRPr lang="en-US" sz="2000" dirty="0"/>
          </a:p>
          <a:p>
            <a:pPr marL="800100" lvl="1" indent="-342900">
              <a:buFont typeface="Arial" panose="020B0604020202020204" pitchFamily="34" charset="0"/>
              <a:buChar char="•"/>
            </a:pPr>
            <a:r>
              <a:rPr lang="en-US" sz="2000" dirty="0"/>
              <a:t>The &lt;input type="</a:t>
            </a:r>
            <a:r>
              <a:rPr lang="en-US" sz="2000" dirty="0" err="1"/>
              <a:t>tel</a:t>
            </a:r>
            <a:r>
              <a:rPr lang="en-US" sz="2000" dirty="0"/>
              <a:t>"&gt; is used for input fields that should contain a telephone number.</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a:t>
            </a:r>
            <a:r>
              <a:rPr lang="en-US" sz="2000" dirty="0" err="1">
                <a:solidFill>
                  <a:srgbClr val="005CC5"/>
                </a:solidFill>
                <a:effectLst/>
              </a:rPr>
              <a:t>tel</a:t>
            </a:r>
            <a:r>
              <a:rPr lang="en-US" sz="2000" dirty="0">
                <a:solidFill>
                  <a:srgbClr val="005CC5"/>
                </a:solidFill>
                <a:effectLst/>
              </a:rPr>
              <a:t>"</a:t>
            </a:r>
            <a:r>
              <a:rPr lang="en-US" sz="2000" dirty="0">
                <a:solidFill>
                  <a:srgbClr val="008000"/>
                </a:solidFill>
                <a:effectLst/>
              </a:rPr>
              <a:t> id</a:t>
            </a:r>
            <a:r>
              <a:rPr lang="en-US" sz="2000" dirty="0">
                <a:solidFill>
                  <a:srgbClr val="005CC5"/>
                </a:solidFill>
                <a:effectLst/>
              </a:rPr>
              <a:t>="phone"</a:t>
            </a:r>
            <a:r>
              <a:rPr lang="en-US" sz="2000" dirty="0">
                <a:solidFill>
                  <a:srgbClr val="008000"/>
                </a:solidFill>
                <a:effectLst/>
              </a:rPr>
              <a:t> name</a:t>
            </a:r>
            <a:r>
              <a:rPr lang="en-US" sz="2000" dirty="0">
                <a:solidFill>
                  <a:srgbClr val="005CC5"/>
                </a:solidFill>
                <a:effectLst/>
              </a:rPr>
              <a:t>="phone"</a:t>
            </a:r>
            <a:r>
              <a:rPr lang="en-US" sz="2000" dirty="0">
                <a:solidFill>
                  <a:srgbClr val="008000"/>
                </a:solidFill>
                <a:effectLst/>
              </a:rPr>
              <a:t> pattern</a:t>
            </a:r>
            <a:r>
              <a:rPr lang="en-US" sz="2000" dirty="0">
                <a:solidFill>
                  <a:srgbClr val="005CC5"/>
                </a:solidFill>
                <a:effectLst/>
              </a:rPr>
              <a:t>="[0-9]{3}-[0-9]{2}-[0-9]{3}"</a:t>
            </a:r>
            <a:r>
              <a:rPr lang="en-US" sz="2000" dirty="0">
                <a:solidFill>
                  <a:srgbClr val="999999"/>
                </a:solidFill>
                <a:effectLst/>
              </a:rPr>
              <a:t>&gt;</a:t>
            </a:r>
          </a:p>
          <a:p>
            <a:endParaRPr lang="en-US" sz="2000" dirty="0">
              <a:solidFill>
                <a:srgbClr val="999999"/>
              </a:solidFill>
            </a:endParaRPr>
          </a:p>
          <a:p>
            <a:r>
              <a:rPr lang="en-US" sz="2000" b="1" dirty="0"/>
              <a:t>Input Type Time</a:t>
            </a:r>
            <a:endParaRPr lang="en-US" sz="2000" dirty="0"/>
          </a:p>
          <a:p>
            <a:pPr marL="800100" lvl="1" indent="-342900">
              <a:buFont typeface="Arial" panose="020B0604020202020204" pitchFamily="34" charset="0"/>
              <a:buChar char="•"/>
            </a:pPr>
            <a:r>
              <a:rPr lang="en-US" sz="2000" dirty="0"/>
              <a:t>The &lt;input type="time"&gt; allows the user to select a time (no time zone).</a:t>
            </a:r>
          </a:p>
          <a:p>
            <a:pPr marL="800100" lvl="1" indent="-342900">
              <a:buFont typeface="Arial" panose="020B0604020202020204" pitchFamily="34" charset="0"/>
              <a:buChar char="•"/>
            </a:pPr>
            <a:r>
              <a:rPr lang="en-US" sz="2000" dirty="0"/>
              <a:t>Depending on browser support, a time picker can show up in the input field.</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="time"</a:t>
            </a:r>
            <a:r>
              <a:rPr lang="en-US" sz="2000" dirty="0">
                <a:solidFill>
                  <a:srgbClr val="008000"/>
                </a:solidFill>
                <a:effectLst/>
              </a:rPr>
              <a:t> id</a:t>
            </a:r>
            <a:r>
              <a:rPr lang="en-US" sz="2000" dirty="0">
                <a:solidFill>
                  <a:srgbClr val="005CC5"/>
                </a:solidFill>
                <a:effectLst/>
              </a:rPr>
              <a:t>="appt"</a:t>
            </a:r>
            <a:r>
              <a:rPr lang="en-US" sz="2000" dirty="0">
                <a:solidFill>
                  <a:srgbClr val="008000"/>
                </a:solidFill>
                <a:effectLst/>
              </a:rPr>
              <a:t> name</a:t>
            </a:r>
            <a:r>
              <a:rPr lang="en-US" sz="2000" dirty="0">
                <a:solidFill>
                  <a:srgbClr val="005CC5"/>
                </a:solidFill>
                <a:effectLst/>
              </a:rPr>
              <a:t>="appt"</a:t>
            </a:r>
            <a:r>
              <a:rPr lang="en-US" sz="2000" dirty="0">
                <a:solidFill>
                  <a:srgbClr val="999999"/>
                </a:solidFill>
                <a:effectLst/>
              </a:rPr>
              <a:t>&gt;</a:t>
            </a:r>
          </a:p>
          <a:p>
            <a:endParaRPr lang="en-US" sz="2000" dirty="0">
              <a:solidFill>
                <a:srgbClr val="999999"/>
              </a:solidFill>
            </a:endParaRPr>
          </a:p>
          <a:p>
            <a:r>
              <a:rPr lang="en-US" sz="2000" b="1" dirty="0"/>
              <a:t>Input Type </a:t>
            </a:r>
            <a:r>
              <a:rPr lang="en-US" sz="2000" b="1" dirty="0" err="1"/>
              <a:t>Url</a:t>
            </a:r>
            <a:endParaRPr lang="en-US" sz="2000" dirty="0"/>
          </a:p>
          <a:p>
            <a:pPr marL="800100" lvl="1" indent="-342900">
              <a:buFont typeface="Arial" panose="020B0604020202020204" pitchFamily="34" charset="0"/>
              <a:buChar char="•"/>
            </a:pPr>
            <a:r>
              <a:rPr lang="en-US" sz="2000" dirty="0"/>
              <a:t>The &lt;input type="</a:t>
            </a:r>
            <a:r>
              <a:rPr lang="en-US" sz="2000" dirty="0" err="1"/>
              <a:t>url</a:t>
            </a:r>
            <a:r>
              <a:rPr lang="en-US" sz="2000" dirty="0"/>
              <a:t>"&gt; is used for input fields that should contain a URL address.</a:t>
            </a:r>
          </a:p>
          <a:p>
            <a:pPr marL="800100" lvl="1" indent="-342900">
              <a:buFont typeface="Arial" panose="020B0604020202020204" pitchFamily="34" charset="0"/>
              <a:buChar char="•"/>
            </a:pPr>
            <a:r>
              <a:rPr lang="en-US" sz="2000" dirty="0"/>
              <a:t>Depending on browser support, the </a:t>
            </a:r>
            <a:r>
              <a:rPr lang="en-US" sz="2000" dirty="0" err="1"/>
              <a:t>url</a:t>
            </a:r>
            <a:r>
              <a:rPr lang="en-US" sz="2000" dirty="0"/>
              <a:t> field can be automatically validated when submitted.</a:t>
            </a:r>
          </a:p>
          <a:p>
            <a:pPr marL="800100" lvl="1" indent="-342900">
              <a:buFont typeface="Arial" panose="020B0604020202020204" pitchFamily="34" charset="0"/>
              <a:buChar char="•"/>
            </a:pPr>
            <a:r>
              <a:rPr lang="en-US" sz="2000" dirty="0"/>
              <a:t>Some smartphones recognize the </a:t>
            </a:r>
            <a:r>
              <a:rPr lang="en-US" sz="2000" dirty="0" err="1"/>
              <a:t>url</a:t>
            </a:r>
            <a:r>
              <a:rPr lang="en-US" sz="2000" dirty="0"/>
              <a:t> type, and adds ".com" to the keyboard to match </a:t>
            </a:r>
            <a:r>
              <a:rPr lang="en-US" sz="2000" dirty="0" err="1"/>
              <a:t>url</a:t>
            </a:r>
            <a:r>
              <a:rPr lang="en-US" sz="2000" dirty="0"/>
              <a:t> input.</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a:t>
            </a:r>
            <a:r>
              <a:rPr lang="en-US" sz="2000" dirty="0" err="1">
                <a:solidFill>
                  <a:srgbClr val="005CC5"/>
                </a:solidFill>
                <a:effectLst/>
              </a:rPr>
              <a:t>url</a:t>
            </a:r>
            <a:r>
              <a:rPr lang="en-US" sz="2000" dirty="0">
                <a:solidFill>
                  <a:srgbClr val="005CC5"/>
                </a:solidFill>
                <a:effectLst/>
              </a:rPr>
              <a:t>"</a:t>
            </a:r>
            <a:r>
              <a:rPr lang="en-US" sz="2000" dirty="0">
                <a:solidFill>
                  <a:srgbClr val="008000"/>
                </a:solidFill>
                <a:effectLst/>
              </a:rPr>
              <a:t> id</a:t>
            </a:r>
            <a:r>
              <a:rPr lang="en-US" sz="2000" dirty="0">
                <a:solidFill>
                  <a:srgbClr val="005CC5"/>
                </a:solidFill>
                <a:effectLst/>
              </a:rPr>
              <a:t>="homepage"</a:t>
            </a:r>
            <a:r>
              <a:rPr lang="en-US" sz="2000" dirty="0">
                <a:solidFill>
                  <a:srgbClr val="008000"/>
                </a:solidFill>
                <a:effectLst/>
              </a:rPr>
              <a:t> name</a:t>
            </a:r>
            <a:r>
              <a:rPr lang="en-US" sz="2000" dirty="0">
                <a:solidFill>
                  <a:srgbClr val="005CC5"/>
                </a:solidFill>
                <a:effectLst/>
              </a:rPr>
              <a:t>="homepage"</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1890229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D46F6-D9CE-9A9E-BC1A-83B19F63C5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553FD7-1851-23E3-0D5E-BA9D953D66B4}"/>
              </a:ext>
            </a:extLst>
          </p:cNvPr>
          <p:cNvSpPr txBox="1"/>
          <p:nvPr/>
        </p:nvSpPr>
        <p:spPr>
          <a:xfrm>
            <a:off x="528918" y="421341"/>
            <a:ext cx="11143129" cy="3231654"/>
          </a:xfrm>
          <a:prstGeom prst="rect">
            <a:avLst/>
          </a:prstGeom>
          <a:noFill/>
        </p:spPr>
        <p:txBody>
          <a:bodyPr wrap="square" rtlCol="0">
            <a:spAutoFit/>
          </a:bodyPr>
          <a:lstStyle/>
          <a:p>
            <a:r>
              <a:rPr lang="en-US" sz="2400" b="1" dirty="0"/>
              <a:t>Input Type Week</a:t>
            </a:r>
          </a:p>
          <a:p>
            <a:endParaRPr lang="en-US" sz="2000" dirty="0"/>
          </a:p>
          <a:p>
            <a:pPr marL="800100" lvl="1" indent="-342900">
              <a:buFont typeface="Arial" panose="020B0604020202020204" pitchFamily="34" charset="0"/>
              <a:buChar char="•"/>
            </a:pPr>
            <a:r>
              <a:rPr lang="en-US" sz="2000" dirty="0"/>
              <a:t>The &lt;input type="week"&gt; allows the user to select a week and year.</a:t>
            </a:r>
          </a:p>
          <a:p>
            <a:pPr marL="800100" lvl="1" indent="-342900">
              <a:buFont typeface="Arial" panose="020B0604020202020204" pitchFamily="34" charset="0"/>
              <a:buChar char="•"/>
            </a:pPr>
            <a:r>
              <a:rPr lang="en-US" sz="2000" dirty="0"/>
              <a:t>Depending on browser support, a date picker can show up in the input field</a:t>
            </a:r>
          </a:p>
          <a:p>
            <a:pPr marL="800100" lvl="1" indent="-342900">
              <a:buFont typeface="Arial" panose="020B0604020202020204" pitchFamily="34" charset="0"/>
              <a:buChar char="•"/>
            </a:pPr>
            <a:endParaRPr lang="en-US" sz="2000" dirty="0"/>
          </a:p>
          <a:p>
            <a:pPr lvl="2"/>
            <a:r>
              <a:rPr lang="en-US" sz="2000" dirty="0">
                <a:solidFill>
                  <a:srgbClr val="999999"/>
                </a:solidFill>
                <a:effectLst/>
              </a:rPr>
              <a:t>&lt;</a:t>
            </a:r>
            <a:r>
              <a:rPr lang="en-US" sz="2000" dirty="0">
                <a:solidFill>
                  <a:srgbClr val="990055"/>
                </a:solidFill>
                <a:effectLst/>
              </a:rPr>
              <a:t>form</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label</a:t>
            </a:r>
            <a:r>
              <a:rPr lang="en-US" sz="2000" dirty="0">
                <a:solidFill>
                  <a:srgbClr val="008000"/>
                </a:solidFill>
                <a:effectLst/>
              </a:rPr>
              <a:t> for</a:t>
            </a:r>
            <a:r>
              <a:rPr lang="en-US" sz="2000" dirty="0">
                <a:solidFill>
                  <a:srgbClr val="005CC5"/>
                </a:solidFill>
                <a:effectLst/>
              </a:rPr>
              <a:t>="week"</a:t>
            </a:r>
            <a:r>
              <a:rPr lang="en-US" sz="2000" dirty="0">
                <a:solidFill>
                  <a:srgbClr val="999999"/>
                </a:solidFill>
                <a:effectLst/>
              </a:rPr>
              <a:t>&gt;</a:t>
            </a:r>
            <a:r>
              <a:rPr lang="en-US" sz="2000" dirty="0"/>
              <a:t>Select a week:</a:t>
            </a:r>
            <a:r>
              <a:rPr lang="en-US" sz="2000" dirty="0">
                <a:solidFill>
                  <a:srgbClr val="999999"/>
                </a:solidFill>
                <a:effectLst/>
              </a:rPr>
              <a:t>&lt;</a:t>
            </a:r>
            <a:r>
              <a:rPr lang="en-US" sz="2000" dirty="0">
                <a:solidFill>
                  <a:srgbClr val="990055"/>
                </a:solidFill>
                <a:effectLst/>
              </a:rPr>
              <a:t>/label</a:t>
            </a:r>
            <a:r>
              <a:rPr lang="en-US" sz="2000" dirty="0">
                <a:solidFill>
                  <a:srgbClr val="999999"/>
                </a:solidFill>
                <a:effectLst/>
              </a:rPr>
              <a:t>&gt;</a:t>
            </a:r>
            <a:br>
              <a:rPr lang="en-US" sz="2000" dirty="0"/>
            </a:br>
            <a:r>
              <a:rPr lang="en-US" sz="2000" dirty="0"/>
              <a:t>  </a:t>
            </a:r>
            <a:r>
              <a:rPr lang="en-US" sz="2000" dirty="0">
                <a:solidFill>
                  <a:srgbClr val="999999"/>
                </a:solidFill>
                <a:effectLst/>
              </a:rPr>
              <a:t>&lt;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="week"</a:t>
            </a:r>
            <a:r>
              <a:rPr lang="en-US" sz="2000" dirty="0">
                <a:solidFill>
                  <a:srgbClr val="008000"/>
                </a:solidFill>
                <a:effectLst/>
              </a:rPr>
              <a:t> id</a:t>
            </a:r>
            <a:r>
              <a:rPr lang="en-US" sz="2000" dirty="0">
                <a:solidFill>
                  <a:srgbClr val="005CC5"/>
                </a:solidFill>
                <a:effectLst/>
              </a:rPr>
              <a:t>="week"</a:t>
            </a:r>
            <a:r>
              <a:rPr lang="en-US" sz="2000" dirty="0">
                <a:solidFill>
                  <a:srgbClr val="008000"/>
                </a:solidFill>
                <a:effectLst/>
              </a:rPr>
              <a:t> name</a:t>
            </a:r>
            <a:r>
              <a:rPr lang="en-US" sz="2000" dirty="0">
                <a:solidFill>
                  <a:srgbClr val="005CC5"/>
                </a:solidFill>
                <a:effectLst/>
              </a:rPr>
              <a:t>="week"</a:t>
            </a:r>
            <a:r>
              <a:rPr lang="en-US" sz="2000" dirty="0">
                <a:solidFill>
                  <a:srgbClr val="999999"/>
                </a:solidFill>
                <a:effectLst/>
              </a:rPr>
              <a:t>&gt;</a:t>
            </a:r>
            <a:br>
              <a:rPr lang="en-US" sz="2000" dirty="0"/>
            </a:br>
            <a:r>
              <a:rPr lang="en-US" sz="2000" dirty="0">
                <a:solidFill>
                  <a:srgbClr val="999999"/>
                </a:solidFill>
                <a:effectLst/>
              </a:rPr>
              <a:t>&lt;</a:t>
            </a:r>
            <a:r>
              <a:rPr lang="en-US" sz="2000" dirty="0">
                <a:solidFill>
                  <a:srgbClr val="990055"/>
                </a:solidFill>
                <a:effectLst/>
              </a:rPr>
              <a:t>/form</a:t>
            </a:r>
            <a:r>
              <a:rPr lang="en-US" sz="2000" dirty="0">
                <a:solidFill>
                  <a:srgbClr val="999999"/>
                </a:solidFill>
                <a:effectLst/>
              </a:rPr>
              <a:t>&gt;</a:t>
            </a:r>
            <a:r>
              <a:rPr lang="en-US" sz="2000" dirty="0"/>
              <a:t> </a:t>
            </a:r>
          </a:p>
          <a:p>
            <a:endParaRPr lang="en-IN" sz="2000" dirty="0"/>
          </a:p>
        </p:txBody>
      </p:sp>
    </p:spTree>
    <p:extLst>
      <p:ext uri="{BB962C8B-B14F-4D97-AF65-F5344CB8AC3E}">
        <p14:creationId xmlns:p14="http://schemas.microsoft.com/office/powerpoint/2010/main" val="251323628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C2A1C-0044-9180-A77C-27533383CC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298405-BA73-C145-4AEF-EA2B2BCDAFE0}"/>
              </a:ext>
            </a:extLst>
          </p:cNvPr>
          <p:cNvSpPr txBox="1"/>
          <p:nvPr/>
        </p:nvSpPr>
        <p:spPr>
          <a:xfrm>
            <a:off x="528918" y="421341"/>
            <a:ext cx="11143129" cy="6001643"/>
          </a:xfrm>
          <a:prstGeom prst="rect">
            <a:avLst/>
          </a:prstGeom>
          <a:noFill/>
        </p:spPr>
        <p:txBody>
          <a:bodyPr wrap="square" rtlCol="0">
            <a:spAutoFit/>
          </a:bodyPr>
          <a:lstStyle/>
          <a:p>
            <a:r>
              <a:rPr lang="en-IN" sz="2400" b="1" dirty="0"/>
              <a:t>HTML Input Attributes</a:t>
            </a: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value</a:t>
            </a:r>
            <a:r>
              <a:rPr lang="en-US" sz="2000" dirty="0"/>
              <a:t> attribute specifies an initial value for an input field</a:t>
            </a:r>
          </a:p>
          <a:p>
            <a:pPr marL="342900" indent="-342900" algn="just">
              <a:buFont typeface="Arial" panose="020B0604020202020204" pitchFamily="34" charset="0"/>
              <a:buChar char="•"/>
            </a:pPr>
            <a:r>
              <a:rPr lang="en-US" sz="2000" dirty="0"/>
              <a:t>The input </a:t>
            </a:r>
            <a:r>
              <a:rPr lang="en-US" sz="2000" dirty="0" err="1">
                <a:solidFill>
                  <a:srgbClr val="FF0000"/>
                </a:solidFill>
              </a:rPr>
              <a:t>readonly</a:t>
            </a:r>
            <a:r>
              <a:rPr lang="en-US" sz="2000" dirty="0"/>
              <a:t> attribute specifies that an input field is read-only</a:t>
            </a:r>
          </a:p>
          <a:p>
            <a:pPr marL="342900" indent="-342900" algn="just">
              <a:buFont typeface="Arial" panose="020B0604020202020204" pitchFamily="34" charset="0"/>
              <a:buChar char="•"/>
            </a:pPr>
            <a:r>
              <a:rPr lang="en-US" sz="2000" dirty="0"/>
              <a:t>The input </a:t>
            </a:r>
            <a:r>
              <a:rPr lang="en-US" sz="2000" dirty="0">
                <a:solidFill>
                  <a:srgbClr val="FF0000"/>
                </a:solidFill>
              </a:rPr>
              <a:t>disabled</a:t>
            </a:r>
            <a:r>
              <a:rPr lang="en-US" sz="2000" dirty="0"/>
              <a:t> attribute specifies that an input field should be disabled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size</a:t>
            </a:r>
            <a:r>
              <a:rPr lang="en-US" sz="2000" dirty="0"/>
              <a:t> attribute specifies the visible width, in characters, of an input field. -The size attribute works with the following input types: text, search, </a:t>
            </a:r>
            <a:r>
              <a:rPr lang="en-US" sz="2000" dirty="0" err="1"/>
              <a:t>tel</a:t>
            </a:r>
            <a:r>
              <a:rPr lang="en-US" sz="2000" dirty="0"/>
              <a:t>, </a:t>
            </a:r>
            <a:r>
              <a:rPr lang="en-US" sz="2000" dirty="0" err="1"/>
              <a:t>url</a:t>
            </a:r>
            <a:r>
              <a:rPr lang="en-US" sz="2000" dirty="0"/>
              <a:t>, email, and password.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err="1">
                <a:solidFill>
                  <a:srgbClr val="FF0000"/>
                </a:solidFill>
              </a:rPr>
              <a:t>maxlength</a:t>
            </a:r>
            <a:r>
              <a:rPr lang="en-US" sz="2000" dirty="0"/>
              <a:t> attribute specifies the maximum number of characters allowed in an input field.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min</a:t>
            </a:r>
            <a:r>
              <a:rPr lang="en-US" sz="2000" dirty="0"/>
              <a:t> and </a:t>
            </a:r>
            <a:r>
              <a:rPr lang="en-US" sz="2000" dirty="0">
                <a:solidFill>
                  <a:srgbClr val="FF0000"/>
                </a:solidFill>
              </a:rPr>
              <a:t>max</a:t>
            </a:r>
            <a:r>
              <a:rPr lang="en-US" sz="2000" dirty="0"/>
              <a:t> attributes specify the minimum and maximum values for an input field -number, range, date, datetime-local, month, time and week</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multiple</a:t>
            </a:r>
            <a:r>
              <a:rPr lang="en-US" sz="2000" dirty="0"/>
              <a:t> attribute specifies that the user is allowed to enter more than one value in an input field - email, and file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input </a:t>
            </a:r>
            <a:r>
              <a:rPr lang="en-US" sz="2000" dirty="0">
                <a:solidFill>
                  <a:srgbClr val="FF0000"/>
                </a:solidFill>
              </a:rPr>
              <a:t>pattern</a:t>
            </a:r>
            <a:r>
              <a:rPr lang="en-US" sz="2000" dirty="0"/>
              <a:t> attribute specifies a regular expression that the input field's value is checked against, when the form is submitted - text, date, search, </a:t>
            </a:r>
            <a:r>
              <a:rPr lang="en-US" sz="2000" dirty="0" err="1"/>
              <a:t>url</a:t>
            </a:r>
            <a:r>
              <a:rPr lang="en-US" sz="2000" dirty="0"/>
              <a:t>, </a:t>
            </a:r>
            <a:r>
              <a:rPr lang="en-US" sz="2000" dirty="0" err="1"/>
              <a:t>tel</a:t>
            </a:r>
            <a:r>
              <a:rPr lang="en-US" sz="2000" dirty="0"/>
              <a:t>, email, and password</a:t>
            </a:r>
          </a:p>
        </p:txBody>
      </p:sp>
    </p:spTree>
    <p:extLst>
      <p:ext uri="{BB962C8B-B14F-4D97-AF65-F5344CB8AC3E}">
        <p14:creationId xmlns:p14="http://schemas.microsoft.com/office/powerpoint/2010/main" val="235418725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95F6-BF4A-C374-2A25-C1C40B05FD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B7242D-A5BF-9CBA-0477-5F1568108BA4}"/>
              </a:ext>
            </a:extLst>
          </p:cNvPr>
          <p:cNvSpPr txBox="1"/>
          <p:nvPr/>
        </p:nvSpPr>
        <p:spPr>
          <a:xfrm>
            <a:off x="528918" y="421341"/>
            <a:ext cx="11143129" cy="5693866"/>
          </a:xfrm>
          <a:prstGeom prst="rect">
            <a:avLst/>
          </a:prstGeom>
          <a:noFill/>
        </p:spPr>
        <p:txBody>
          <a:bodyPr wrap="square" rtlCol="0">
            <a:spAutoFit/>
          </a:bodyPr>
          <a:lstStyle/>
          <a:p>
            <a:r>
              <a:rPr lang="en-IN" sz="2400" b="1" dirty="0"/>
              <a:t>HTML Input Attributes</a:t>
            </a:r>
            <a:r>
              <a:rPr lang="en-US" sz="2000" b="1" dirty="0"/>
              <a:t> continued…</a:t>
            </a:r>
            <a:endParaRPr lang="en-US" sz="2400" dirty="0"/>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placeholder</a:t>
            </a:r>
            <a:r>
              <a:rPr lang="en-US" sz="2000" dirty="0"/>
              <a:t> attribute specifies a short hint that describes the expected value of an input field - text, search, </a:t>
            </a:r>
            <a:r>
              <a:rPr lang="en-US" sz="2000" dirty="0" err="1"/>
              <a:t>url</a:t>
            </a:r>
            <a:r>
              <a:rPr lang="en-US" sz="2000" dirty="0"/>
              <a:t>, number, </a:t>
            </a:r>
            <a:r>
              <a:rPr lang="en-US" sz="2000" dirty="0" err="1"/>
              <a:t>tel</a:t>
            </a:r>
            <a:r>
              <a:rPr lang="en-US" sz="2000" dirty="0"/>
              <a:t>, email, and password</a:t>
            </a:r>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required</a:t>
            </a:r>
            <a:r>
              <a:rPr lang="en-US" sz="2000" dirty="0"/>
              <a:t> attribute specifies that an input field must be filled out before submitting the form.</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="text"</a:t>
            </a:r>
            <a:r>
              <a:rPr lang="en-US" sz="2000" dirty="0">
                <a:solidFill>
                  <a:srgbClr val="008000"/>
                </a:solidFill>
                <a:effectLst/>
              </a:rPr>
              <a:t> id</a:t>
            </a:r>
            <a:r>
              <a:rPr lang="en-US" sz="2000" dirty="0">
                <a:solidFill>
                  <a:srgbClr val="005CC5"/>
                </a:solidFill>
                <a:effectLst/>
              </a:rPr>
              <a:t>="username"</a:t>
            </a:r>
            <a:r>
              <a:rPr lang="en-US" sz="2000" dirty="0">
                <a:solidFill>
                  <a:srgbClr val="008000"/>
                </a:solidFill>
                <a:effectLst/>
              </a:rPr>
              <a:t> name</a:t>
            </a:r>
            <a:r>
              <a:rPr lang="en-US" sz="2000" dirty="0">
                <a:solidFill>
                  <a:srgbClr val="005CC5"/>
                </a:solidFill>
                <a:effectLst/>
              </a:rPr>
              <a:t>="username"</a:t>
            </a:r>
            <a:r>
              <a:rPr lang="en-US" sz="2000" dirty="0">
                <a:solidFill>
                  <a:srgbClr val="008000"/>
                </a:solidFill>
                <a:effectLst/>
              </a:rPr>
              <a:t> required</a:t>
            </a:r>
            <a:r>
              <a:rPr lang="en-US" sz="2000" dirty="0">
                <a:solidFill>
                  <a:srgbClr val="999999"/>
                </a:solidFill>
                <a:effectLst/>
              </a:rPr>
              <a:t>&gt;</a:t>
            </a:r>
            <a:endParaRPr lang="en-US" sz="2000" dirty="0"/>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step</a:t>
            </a:r>
            <a:r>
              <a:rPr lang="en-US" sz="2000" dirty="0"/>
              <a:t> attribute specifies the legal number intervals for an input field - Example: if step="3", legal numbers could be -3, 0, 3, 6, etc.</a:t>
            </a:r>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autofocus</a:t>
            </a:r>
            <a:r>
              <a:rPr lang="en-US" sz="2000" dirty="0"/>
              <a:t> attribute specifies that an input field should automatically get focus when the page loads.</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="text"</a:t>
            </a:r>
            <a:r>
              <a:rPr lang="en-US" sz="2000" dirty="0">
                <a:solidFill>
                  <a:srgbClr val="008000"/>
                </a:solidFill>
                <a:effectLst/>
              </a:rPr>
              <a:t> id</a:t>
            </a:r>
            <a:r>
              <a:rPr lang="en-US" sz="2000" dirty="0">
                <a:solidFill>
                  <a:srgbClr val="005CC5"/>
                </a:solidFill>
                <a:effectLst/>
              </a:rPr>
              <a:t>="</a:t>
            </a:r>
            <a:r>
              <a:rPr lang="en-US" sz="2000" dirty="0" err="1">
                <a:solidFill>
                  <a:srgbClr val="005CC5"/>
                </a:solidFill>
                <a:effectLst/>
              </a:rPr>
              <a:t>fname</a:t>
            </a:r>
            <a:r>
              <a:rPr lang="en-US" sz="2000" dirty="0">
                <a:solidFill>
                  <a:srgbClr val="005CC5"/>
                </a:solidFill>
                <a:effectLst/>
              </a:rPr>
              <a:t>"</a:t>
            </a:r>
            <a:r>
              <a:rPr lang="en-US" sz="2000" dirty="0">
                <a:solidFill>
                  <a:srgbClr val="008000"/>
                </a:solidFill>
                <a:effectLst/>
              </a:rPr>
              <a:t> name</a:t>
            </a:r>
            <a:r>
              <a:rPr lang="en-US" sz="2000" dirty="0">
                <a:solidFill>
                  <a:srgbClr val="005CC5"/>
                </a:solidFill>
                <a:effectLst/>
              </a:rPr>
              <a:t>="</a:t>
            </a:r>
            <a:r>
              <a:rPr lang="en-US" sz="2000" dirty="0" err="1">
                <a:solidFill>
                  <a:srgbClr val="005CC5"/>
                </a:solidFill>
                <a:effectLst/>
              </a:rPr>
              <a:t>fname</a:t>
            </a:r>
            <a:r>
              <a:rPr lang="en-US" sz="2000" dirty="0">
                <a:solidFill>
                  <a:srgbClr val="005CC5"/>
                </a:solidFill>
                <a:effectLst/>
              </a:rPr>
              <a:t>"</a:t>
            </a:r>
            <a:r>
              <a:rPr lang="en-US" sz="2000" dirty="0">
                <a:solidFill>
                  <a:srgbClr val="008000"/>
                </a:solidFill>
                <a:effectLst/>
              </a:rPr>
              <a:t> autofocus</a:t>
            </a:r>
            <a:r>
              <a:rPr lang="en-US" sz="2000" dirty="0">
                <a:solidFill>
                  <a:srgbClr val="999999"/>
                </a:solidFill>
                <a:effectLst/>
              </a:rPr>
              <a:t>&gt;&lt;</a:t>
            </a:r>
            <a:r>
              <a:rPr lang="en-US" sz="2000" dirty="0" err="1">
                <a:solidFill>
                  <a:srgbClr val="990055"/>
                </a:solidFill>
                <a:effectLst/>
              </a:rPr>
              <a:t>br</a:t>
            </a:r>
            <a:r>
              <a:rPr lang="en-US" sz="2000" dirty="0">
                <a:solidFill>
                  <a:srgbClr val="999999"/>
                </a:solidFill>
                <a:effectLst/>
              </a:rPr>
              <a:t>&gt;</a:t>
            </a:r>
          </a:p>
          <a:p>
            <a:endParaRPr lang="en-US" sz="2000" dirty="0">
              <a:solidFill>
                <a:srgbClr val="999999"/>
              </a:solidFill>
            </a:endParaRPr>
          </a:p>
          <a:p>
            <a:pPr marL="342900" indent="-342900">
              <a:buFont typeface="Arial" panose="020B0604020202020204" pitchFamily="34" charset="0"/>
              <a:buChar char="•"/>
            </a:pPr>
            <a:r>
              <a:rPr lang="en-US" sz="2000" dirty="0"/>
              <a:t>The input </a:t>
            </a:r>
            <a:r>
              <a:rPr lang="en-US" sz="2000" dirty="0">
                <a:solidFill>
                  <a:srgbClr val="FF0000"/>
                </a:solidFill>
              </a:rPr>
              <a:t>height</a:t>
            </a:r>
            <a:r>
              <a:rPr lang="en-US" sz="2000" dirty="0"/>
              <a:t> and </a:t>
            </a:r>
            <a:r>
              <a:rPr lang="en-US" sz="2000" dirty="0">
                <a:solidFill>
                  <a:srgbClr val="FF0000"/>
                </a:solidFill>
              </a:rPr>
              <a:t>width</a:t>
            </a:r>
            <a:r>
              <a:rPr lang="en-US" sz="2000" dirty="0"/>
              <a:t> attributes specify the height and width of an &lt;input type="image"&gt; element.</a:t>
            </a:r>
            <a:endParaRPr lang="en-IN" sz="2000" dirty="0"/>
          </a:p>
        </p:txBody>
      </p:sp>
    </p:spTree>
    <p:extLst>
      <p:ext uri="{BB962C8B-B14F-4D97-AF65-F5344CB8AC3E}">
        <p14:creationId xmlns:p14="http://schemas.microsoft.com/office/powerpoint/2010/main" val="253140725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9D5F0-1A7D-E6AB-5C67-DD6CE0202B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71A56F-580F-DB96-C987-E2B49A59DAC1}"/>
              </a:ext>
            </a:extLst>
          </p:cNvPr>
          <p:cNvSpPr txBox="1"/>
          <p:nvPr/>
        </p:nvSpPr>
        <p:spPr>
          <a:xfrm>
            <a:off x="528918" y="421341"/>
            <a:ext cx="11143129" cy="6001643"/>
          </a:xfrm>
          <a:prstGeom prst="rect">
            <a:avLst/>
          </a:prstGeom>
          <a:noFill/>
        </p:spPr>
        <p:txBody>
          <a:bodyPr wrap="square" rtlCol="0">
            <a:spAutoFit/>
          </a:bodyPr>
          <a:lstStyle/>
          <a:p>
            <a:r>
              <a:rPr lang="en-US" sz="2400" dirty="0"/>
              <a:t>Continued…</a:t>
            </a:r>
          </a:p>
          <a:p>
            <a:endParaRPr lang="en-US" sz="2000" dirty="0"/>
          </a:p>
          <a:p>
            <a:pPr marL="342900" indent="-342900">
              <a:buFont typeface="Arial" panose="020B0604020202020204" pitchFamily="34" charset="0"/>
              <a:buChar char="•"/>
            </a:pPr>
            <a:r>
              <a:rPr lang="en-US" sz="2000" dirty="0"/>
              <a:t>The input </a:t>
            </a:r>
            <a:r>
              <a:rPr lang="en-US" sz="2000" dirty="0">
                <a:solidFill>
                  <a:srgbClr val="FF0000"/>
                </a:solidFill>
              </a:rPr>
              <a:t>list</a:t>
            </a:r>
            <a:r>
              <a:rPr lang="en-US" sz="2000" dirty="0"/>
              <a:t> attribute refers to a &lt;</a:t>
            </a:r>
            <a:r>
              <a:rPr lang="en-US" sz="2000" dirty="0" err="1"/>
              <a:t>datalist</a:t>
            </a:r>
            <a:r>
              <a:rPr lang="en-US" sz="2000" dirty="0"/>
              <a:t>&gt; element that contains pre-defined options for an &lt;input&gt; element.</a:t>
            </a:r>
          </a:p>
          <a:p>
            <a:pPr lvl="1"/>
            <a:r>
              <a:rPr lang="en-IN" dirty="0">
                <a:solidFill>
                  <a:srgbClr val="999999"/>
                </a:solidFill>
                <a:effectLst/>
              </a:rPr>
              <a:t>&lt;</a:t>
            </a:r>
            <a:r>
              <a:rPr lang="en-IN" dirty="0">
                <a:solidFill>
                  <a:srgbClr val="990055"/>
                </a:solidFill>
                <a:effectLst/>
              </a:rPr>
              <a:t>form</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input</a:t>
            </a:r>
            <a:r>
              <a:rPr lang="en-IN" dirty="0">
                <a:solidFill>
                  <a:srgbClr val="008000"/>
                </a:solidFill>
                <a:effectLst/>
              </a:rPr>
              <a:t> list</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err="1">
                <a:solidFill>
                  <a:srgbClr val="990055"/>
                </a:solidFill>
                <a:effectLst/>
              </a:rPr>
              <a:t>datalist</a:t>
            </a:r>
            <a:r>
              <a:rPr lang="en-IN" dirty="0">
                <a:solidFill>
                  <a:srgbClr val="008000"/>
                </a:solidFill>
                <a:effectLst/>
              </a:rPr>
              <a:t> id</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="Edge"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="Firefox"</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="Chrome"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="Opera"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="Safari"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t>
            </a:r>
            <a:r>
              <a:rPr lang="en-IN" dirty="0" err="1">
                <a:solidFill>
                  <a:srgbClr val="990055"/>
                </a:solidFill>
                <a:effectLst/>
              </a:rPr>
              <a:t>datalist</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/form</a:t>
            </a:r>
            <a:r>
              <a:rPr lang="en-IN" dirty="0">
                <a:solidFill>
                  <a:srgbClr val="999999"/>
                </a:solidFill>
                <a:effectLst/>
              </a:rPr>
              <a:t>&gt;</a:t>
            </a:r>
            <a:r>
              <a:rPr lang="en-IN" dirty="0"/>
              <a:t> </a:t>
            </a:r>
          </a:p>
          <a:p>
            <a:pPr marL="342900" indent="-342900">
              <a:buFont typeface="Arial" panose="020B0604020202020204" pitchFamily="34" charset="0"/>
              <a:buChar char="•"/>
            </a:pPr>
            <a:r>
              <a:rPr lang="en-US" sz="2000" dirty="0"/>
              <a:t>The input </a:t>
            </a:r>
            <a:r>
              <a:rPr lang="en-US" sz="2000" dirty="0">
                <a:solidFill>
                  <a:srgbClr val="FF0000"/>
                </a:solidFill>
              </a:rPr>
              <a:t>autocomplete</a:t>
            </a:r>
            <a:r>
              <a:rPr lang="en-US" sz="2000" dirty="0"/>
              <a:t> attribute specifies whether a form or an input field should have autocomplete on or off.</a:t>
            </a:r>
          </a:p>
          <a:p>
            <a:pPr marL="342900" indent="-342900">
              <a:buFont typeface="Arial" panose="020B0604020202020204" pitchFamily="34" charset="0"/>
              <a:buChar char="•"/>
            </a:pPr>
            <a:r>
              <a:rPr lang="en-US" sz="2000" dirty="0"/>
              <a:t>The autocomplete attribute works with </a:t>
            </a:r>
            <a:r>
              <a:rPr lang="en-US" sz="2000" dirty="0">
                <a:solidFill>
                  <a:srgbClr val="FF0000"/>
                </a:solidFill>
              </a:rPr>
              <a:t>&lt;form&gt;</a:t>
            </a:r>
            <a:r>
              <a:rPr lang="en-US" sz="2000" dirty="0"/>
              <a:t> and the following </a:t>
            </a:r>
            <a:r>
              <a:rPr lang="en-US" sz="2000" dirty="0">
                <a:solidFill>
                  <a:srgbClr val="FF0000"/>
                </a:solidFill>
              </a:rPr>
              <a:t>&lt;input&gt; </a:t>
            </a:r>
            <a:r>
              <a:rPr lang="en-US" sz="2000" dirty="0"/>
              <a:t>types: text, search, </a:t>
            </a:r>
            <a:r>
              <a:rPr lang="en-US" sz="2000" dirty="0" err="1"/>
              <a:t>url</a:t>
            </a:r>
            <a:r>
              <a:rPr lang="en-US" sz="2000" dirty="0"/>
              <a:t>, </a:t>
            </a:r>
            <a:r>
              <a:rPr lang="en-US" sz="2000" dirty="0" err="1"/>
              <a:t>tel</a:t>
            </a:r>
            <a:r>
              <a:rPr lang="en-US" sz="2000" dirty="0"/>
              <a:t>, email, password, </a:t>
            </a:r>
            <a:r>
              <a:rPr lang="en-US" sz="2000" dirty="0" err="1"/>
              <a:t>datepickers</a:t>
            </a:r>
            <a:r>
              <a:rPr lang="en-US" sz="2000" dirty="0"/>
              <a:t>, range, and color.</a:t>
            </a:r>
          </a:p>
          <a:p>
            <a:r>
              <a:rPr lang="en-IN" sz="2000" dirty="0">
                <a:solidFill>
                  <a:srgbClr val="999999"/>
                </a:solidFill>
                <a:effectLst/>
              </a:rPr>
              <a:t>	&lt;</a:t>
            </a:r>
            <a:r>
              <a:rPr lang="en-IN" sz="2000" dirty="0">
                <a:solidFill>
                  <a:srgbClr val="990055"/>
                </a:solidFill>
                <a:effectLst/>
              </a:rPr>
              <a:t>form</a:t>
            </a:r>
            <a:r>
              <a:rPr lang="en-IN" sz="2000" dirty="0">
                <a:solidFill>
                  <a:srgbClr val="008000"/>
                </a:solidFill>
                <a:effectLst/>
              </a:rPr>
              <a:t> action</a:t>
            </a:r>
            <a:r>
              <a:rPr lang="en-IN" sz="2000" dirty="0">
                <a:solidFill>
                  <a:srgbClr val="005CC5"/>
                </a:solidFill>
                <a:effectLst/>
              </a:rPr>
              <a:t>="/</a:t>
            </a:r>
            <a:r>
              <a:rPr lang="en-IN" sz="2000" dirty="0" err="1">
                <a:solidFill>
                  <a:srgbClr val="005CC5"/>
                </a:solidFill>
                <a:effectLst/>
              </a:rPr>
              <a:t>action_page.php</a:t>
            </a:r>
            <a:r>
              <a:rPr lang="en-IN" sz="2000" dirty="0">
                <a:solidFill>
                  <a:srgbClr val="005CC5"/>
                </a:solidFill>
                <a:effectLst/>
              </a:rPr>
              <a:t>"</a:t>
            </a:r>
            <a:r>
              <a:rPr lang="en-IN" sz="2000" dirty="0">
                <a:solidFill>
                  <a:srgbClr val="008000"/>
                </a:solidFill>
                <a:effectLst/>
              </a:rPr>
              <a:t> autocomplete</a:t>
            </a:r>
            <a:r>
              <a:rPr lang="en-IN" sz="2000" dirty="0">
                <a:solidFill>
                  <a:srgbClr val="005CC5"/>
                </a:solidFill>
                <a:effectLst/>
              </a:rPr>
              <a:t>="on"</a:t>
            </a:r>
            <a:r>
              <a:rPr lang="en-IN" sz="2000" dirty="0">
                <a:solidFill>
                  <a:srgbClr val="999999"/>
                </a:solidFill>
                <a:effectLst/>
              </a:rPr>
              <a:t>&gt;</a:t>
            </a:r>
          </a:p>
          <a:p>
            <a:r>
              <a:rPr lang="en-US" sz="2000" dirty="0">
                <a:solidFill>
                  <a:srgbClr val="999999"/>
                </a:solidFill>
                <a:effectLst/>
              </a:rPr>
              <a:t>	&lt;</a:t>
            </a:r>
            <a:r>
              <a:rPr lang="en-US" sz="2000" dirty="0">
                <a:solidFill>
                  <a:srgbClr val="990055"/>
                </a:solidFill>
                <a:effectLst/>
              </a:rPr>
              <a:t>input</a:t>
            </a:r>
            <a:r>
              <a:rPr lang="en-US" sz="2000" dirty="0">
                <a:solidFill>
                  <a:srgbClr val="008000"/>
                </a:solidFill>
                <a:effectLst/>
              </a:rPr>
              <a:t> type</a:t>
            </a:r>
            <a:r>
              <a:rPr lang="en-US" sz="2000" dirty="0">
                <a:solidFill>
                  <a:srgbClr val="005CC5"/>
                </a:solidFill>
                <a:effectLst/>
              </a:rPr>
              <a:t>="email"</a:t>
            </a:r>
            <a:r>
              <a:rPr lang="en-US" sz="2000" dirty="0">
                <a:solidFill>
                  <a:srgbClr val="008000"/>
                </a:solidFill>
                <a:effectLst/>
              </a:rPr>
              <a:t> id</a:t>
            </a:r>
            <a:r>
              <a:rPr lang="en-US" sz="2000" dirty="0">
                <a:solidFill>
                  <a:srgbClr val="005CC5"/>
                </a:solidFill>
                <a:effectLst/>
              </a:rPr>
              <a:t>="email"</a:t>
            </a:r>
            <a:r>
              <a:rPr lang="en-US" sz="2000" dirty="0">
                <a:solidFill>
                  <a:srgbClr val="008000"/>
                </a:solidFill>
                <a:effectLst/>
              </a:rPr>
              <a:t> name</a:t>
            </a:r>
            <a:r>
              <a:rPr lang="en-US" sz="2000" dirty="0">
                <a:solidFill>
                  <a:srgbClr val="005CC5"/>
                </a:solidFill>
                <a:effectLst/>
              </a:rPr>
              <a:t>="email"</a:t>
            </a:r>
            <a:r>
              <a:rPr lang="en-US" sz="2000" dirty="0">
                <a:solidFill>
                  <a:srgbClr val="008000"/>
                </a:solidFill>
                <a:effectLst/>
              </a:rPr>
              <a:t> autocomplete</a:t>
            </a:r>
            <a:r>
              <a:rPr lang="en-US" sz="2000" dirty="0">
                <a:solidFill>
                  <a:srgbClr val="005CC5"/>
                </a:solidFill>
                <a:effectLst/>
              </a:rPr>
              <a:t>="off"</a:t>
            </a:r>
            <a:r>
              <a:rPr lang="en-US" sz="2000" dirty="0">
                <a:solidFill>
                  <a:srgbClr val="999999"/>
                </a:solidFill>
                <a:effectLst/>
              </a:rPr>
              <a:t>&gt;</a:t>
            </a:r>
            <a:endParaRPr lang="en-IN" sz="2000" dirty="0"/>
          </a:p>
        </p:txBody>
      </p:sp>
    </p:spTree>
    <p:extLst>
      <p:ext uri="{BB962C8B-B14F-4D97-AF65-F5344CB8AC3E}">
        <p14:creationId xmlns:p14="http://schemas.microsoft.com/office/powerpoint/2010/main" val="33662427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119F-F4B9-04D0-8BC8-1E4A72EB2C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049322-DB06-69EE-970C-8E9BE7A4595F}"/>
              </a:ext>
            </a:extLst>
          </p:cNvPr>
          <p:cNvSpPr txBox="1"/>
          <p:nvPr/>
        </p:nvSpPr>
        <p:spPr>
          <a:xfrm>
            <a:off x="528918" y="421341"/>
            <a:ext cx="11143129" cy="4708981"/>
          </a:xfrm>
          <a:prstGeom prst="rect">
            <a:avLst/>
          </a:prstGeom>
          <a:noFill/>
        </p:spPr>
        <p:txBody>
          <a:bodyPr wrap="square" rtlCol="0">
            <a:spAutoFit/>
          </a:bodyPr>
          <a:lstStyle/>
          <a:p>
            <a:r>
              <a:rPr lang="en-US" sz="2800" b="1" dirty="0"/>
              <a:t>New form elements:</a:t>
            </a:r>
            <a:endParaRPr lang="en-US" sz="2000" dirty="0"/>
          </a:p>
          <a:p>
            <a:r>
              <a:rPr lang="en-IN" b="1" dirty="0"/>
              <a:t>&lt;</a:t>
            </a:r>
            <a:r>
              <a:rPr lang="en-IN" b="1" dirty="0" err="1"/>
              <a:t>fieldset</a:t>
            </a:r>
            <a:r>
              <a:rPr lang="en-IN" b="1" dirty="0"/>
              <a:t>&gt; and &lt;legend&gt; </a:t>
            </a:r>
          </a:p>
          <a:p>
            <a:pPr marL="800100" lvl="1" indent="-342900">
              <a:buFont typeface="Arial" panose="020B0604020202020204" pitchFamily="34" charset="0"/>
              <a:buChar char="•"/>
            </a:pPr>
            <a:r>
              <a:rPr lang="en-US" sz="2000" dirty="0"/>
              <a:t>The HTML </a:t>
            </a:r>
            <a:r>
              <a:rPr lang="en-US" sz="2000" dirty="0">
                <a:solidFill>
                  <a:srgbClr val="FF0000"/>
                </a:solidFill>
              </a:rPr>
              <a:t>&lt;</a:t>
            </a:r>
            <a:r>
              <a:rPr lang="en-US" sz="2000" dirty="0" err="1">
                <a:solidFill>
                  <a:srgbClr val="FF0000"/>
                </a:solidFill>
              </a:rPr>
              <a:t>fieldset</a:t>
            </a:r>
            <a:r>
              <a:rPr lang="en-US" sz="2000" dirty="0">
                <a:solidFill>
                  <a:srgbClr val="FF0000"/>
                </a:solidFill>
              </a:rPr>
              <a:t>&gt; </a:t>
            </a:r>
            <a:r>
              <a:rPr lang="en-US" sz="2000" dirty="0"/>
              <a:t>tag is used to group similar form elements. It is a presentational tag and does not affect the data in the form</a:t>
            </a:r>
          </a:p>
          <a:p>
            <a:pPr marL="800100" lvl="1" indent="-342900">
              <a:buFont typeface="Arial" panose="020B0604020202020204" pitchFamily="34" charset="0"/>
              <a:buChar char="•"/>
            </a:pPr>
            <a:r>
              <a:rPr lang="en-US" sz="2000" dirty="0"/>
              <a:t>The </a:t>
            </a:r>
            <a:r>
              <a:rPr lang="en-US" sz="2000" dirty="0">
                <a:solidFill>
                  <a:srgbClr val="FF0000"/>
                </a:solidFill>
              </a:rPr>
              <a:t>&lt;legend&gt; </a:t>
            </a:r>
            <a:r>
              <a:rPr lang="en-US" sz="2000" dirty="0"/>
              <a:t>element defines a caption for the &lt;</a:t>
            </a:r>
            <a:r>
              <a:rPr lang="en-US" sz="2000" dirty="0" err="1"/>
              <a:t>fieldset</a:t>
            </a:r>
            <a:r>
              <a:rPr lang="en-US" sz="2000" dirty="0"/>
              <a:t>&gt; element.</a:t>
            </a:r>
          </a:p>
          <a:p>
            <a:endParaRPr lang="en-US" sz="1400" dirty="0"/>
          </a:p>
          <a:p>
            <a:pPr lvl="1"/>
            <a:r>
              <a:rPr lang="en-IN" sz="1600" dirty="0">
                <a:solidFill>
                  <a:srgbClr val="999999"/>
                </a:solidFill>
                <a:effectLst/>
              </a:rPr>
              <a:t>&lt;</a:t>
            </a:r>
            <a:r>
              <a:rPr lang="en-IN" sz="1600" dirty="0">
                <a:solidFill>
                  <a:srgbClr val="990055"/>
                </a:solidFill>
                <a:effectLst/>
              </a:rPr>
              <a:t>form</a:t>
            </a:r>
            <a:r>
              <a:rPr lang="en-IN" sz="1600" dirty="0">
                <a:solidFill>
                  <a:srgbClr val="008000"/>
                </a:solidFill>
                <a:effectLst/>
              </a:rPr>
              <a:t> action</a:t>
            </a:r>
            <a:r>
              <a:rPr lang="en-IN" sz="1600" dirty="0">
                <a:solidFill>
                  <a:srgbClr val="005CC5"/>
                </a:solidFill>
                <a:effectLst/>
              </a:rPr>
              <a:t>="/</a:t>
            </a:r>
            <a:r>
              <a:rPr lang="en-IN" sz="1600" dirty="0" err="1">
                <a:solidFill>
                  <a:srgbClr val="005CC5"/>
                </a:solidFill>
                <a:effectLst/>
              </a:rPr>
              <a:t>action_page.php</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err="1">
                <a:solidFill>
                  <a:srgbClr val="990055"/>
                </a:solidFill>
                <a:effectLst/>
              </a:rPr>
              <a:t>fieldset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legend</a:t>
            </a:r>
            <a:r>
              <a:rPr lang="en-IN" sz="1600" dirty="0">
                <a:solidFill>
                  <a:srgbClr val="999999"/>
                </a:solidFill>
                <a:effectLst/>
              </a:rPr>
              <a:t>&gt;</a:t>
            </a:r>
            <a:r>
              <a:rPr lang="en-IN" sz="1600" dirty="0"/>
              <a:t>Personalia:</a:t>
            </a:r>
            <a:r>
              <a:rPr lang="en-IN" sz="1600" dirty="0">
                <a:solidFill>
                  <a:srgbClr val="999999"/>
                </a:solidFill>
                <a:effectLst/>
              </a:rPr>
              <a:t>&lt;</a:t>
            </a:r>
            <a:r>
              <a:rPr lang="en-IN" sz="1600" dirty="0">
                <a:solidFill>
                  <a:srgbClr val="990055"/>
                </a:solidFill>
                <a:effectLst/>
              </a:rPr>
              <a:t>/legend</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label</a:t>
            </a:r>
            <a:r>
              <a:rPr lang="en-IN" sz="1600" dirty="0">
                <a:solidFill>
                  <a:srgbClr val="008000"/>
                </a:solidFill>
                <a:effectLst/>
              </a:rPr>
              <a:t> for</a:t>
            </a:r>
            <a:r>
              <a:rPr lang="en-IN" sz="1600" dirty="0">
                <a:solidFill>
                  <a:srgbClr val="005CC5"/>
                </a:solidFill>
                <a:effectLst/>
              </a:rPr>
              <a:t>="</a:t>
            </a:r>
            <a:r>
              <a:rPr lang="en-IN" sz="1600" dirty="0" err="1">
                <a:solidFill>
                  <a:srgbClr val="005CC5"/>
                </a:solidFill>
                <a:effectLst/>
              </a:rPr>
              <a:t>fname</a:t>
            </a:r>
            <a:r>
              <a:rPr lang="en-IN" sz="1600" dirty="0">
                <a:solidFill>
                  <a:srgbClr val="005CC5"/>
                </a:solidFill>
                <a:effectLst/>
              </a:rPr>
              <a:t>"</a:t>
            </a:r>
            <a:r>
              <a:rPr lang="en-IN" sz="1600" dirty="0">
                <a:solidFill>
                  <a:srgbClr val="999999"/>
                </a:solidFill>
                <a:effectLst/>
              </a:rPr>
              <a:t>&gt;</a:t>
            </a:r>
            <a:r>
              <a:rPr lang="en-IN" sz="1600" dirty="0"/>
              <a:t>First name:</a:t>
            </a:r>
            <a:r>
              <a:rPr lang="en-IN" sz="1600" dirty="0">
                <a:solidFill>
                  <a:srgbClr val="999999"/>
                </a:solidFill>
                <a:effectLst/>
              </a:rPr>
              <a:t>&lt;</a:t>
            </a:r>
            <a:r>
              <a:rPr lang="en-IN" sz="1600" dirty="0">
                <a:solidFill>
                  <a:srgbClr val="990055"/>
                </a:solidFill>
                <a:effectLst/>
              </a:rPr>
              <a:t>/label</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type</a:t>
            </a:r>
            <a:r>
              <a:rPr lang="en-IN" sz="1600" dirty="0">
                <a:solidFill>
                  <a:srgbClr val="005CC5"/>
                </a:solidFill>
                <a:effectLst/>
              </a:rPr>
              <a:t>="text"</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fname</a:t>
            </a:r>
            <a:r>
              <a:rPr lang="en-IN" sz="1600" dirty="0">
                <a:solidFill>
                  <a:srgbClr val="005CC5"/>
                </a:solidFill>
                <a:effectLst/>
              </a:rPr>
              <a:t>"</a:t>
            </a:r>
            <a:r>
              <a:rPr lang="en-IN" sz="1600" dirty="0">
                <a:solidFill>
                  <a:srgbClr val="008000"/>
                </a:solidFill>
                <a:effectLst/>
              </a:rPr>
              <a:t> name</a:t>
            </a:r>
            <a:r>
              <a:rPr lang="en-IN" sz="1600" dirty="0">
                <a:solidFill>
                  <a:srgbClr val="005CC5"/>
                </a:solidFill>
                <a:effectLst/>
              </a:rPr>
              <a:t>="</a:t>
            </a:r>
            <a:r>
              <a:rPr lang="en-IN" sz="1600" dirty="0" err="1">
                <a:solidFill>
                  <a:srgbClr val="005CC5"/>
                </a:solidFill>
                <a:effectLst/>
              </a:rPr>
              <a:t>fname</a:t>
            </a:r>
            <a:r>
              <a:rPr lang="en-IN" sz="1600" dirty="0">
                <a:solidFill>
                  <a:srgbClr val="005CC5"/>
                </a:solidFill>
                <a:effectLst/>
              </a:rPr>
              <a:t>"</a:t>
            </a:r>
            <a:r>
              <a:rPr lang="en-IN" sz="1600" dirty="0">
                <a:solidFill>
                  <a:srgbClr val="008000"/>
                </a:solidFill>
                <a:effectLst/>
              </a:rPr>
              <a:t> value</a:t>
            </a:r>
            <a:r>
              <a:rPr lang="en-IN" sz="1600" dirty="0">
                <a:solidFill>
                  <a:srgbClr val="005CC5"/>
                </a:solidFill>
                <a:effectLst/>
              </a:rPr>
              <a:t>="John"</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label</a:t>
            </a:r>
            <a:r>
              <a:rPr lang="en-IN" sz="1600" dirty="0">
                <a:solidFill>
                  <a:srgbClr val="008000"/>
                </a:solidFill>
                <a:effectLst/>
              </a:rPr>
              <a:t> for</a:t>
            </a:r>
            <a:r>
              <a:rPr lang="en-IN" sz="1600" dirty="0">
                <a:solidFill>
                  <a:srgbClr val="005CC5"/>
                </a:solidFill>
                <a:effectLst/>
              </a:rPr>
              <a:t>="</a:t>
            </a:r>
            <a:r>
              <a:rPr lang="en-IN" sz="1600" dirty="0" err="1">
                <a:solidFill>
                  <a:srgbClr val="005CC5"/>
                </a:solidFill>
                <a:effectLst/>
              </a:rPr>
              <a:t>lname</a:t>
            </a:r>
            <a:r>
              <a:rPr lang="en-IN" sz="1600" dirty="0">
                <a:solidFill>
                  <a:srgbClr val="005CC5"/>
                </a:solidFill>
                <a:effectLst/>
              </a:rPr>
              <a:t>"</a:t>
            </a:r>
            <a:r>
              <a:rPr lang="en-IN" sz="1600" dirty="0">
                <a:solidFill>
                  <a:srgbClr val="999999"/>
                </a:solidFill>
                <a:effectLst/>
              </a:rPr>
              <a:t>&gt;</a:t>
            </a:r>
            <a:r>
              <a:rPr lang="en-IN" sz="1600" dirty="0"/>
              <a:t>Last name:</a:t>
            </a:r>
            <a:r>
              <a:rPr lang="en-IN" sz="1600" dirty="0">
                <a:solidFill>
                  <a:srgbClr val="999999"/>
                </a:solidFill>
                <a:effectLst/>
              </a:rPr>
              <a:t>&lt;</a:t>
            </a:r>
            <a:r>
              <a:rPr lang="en-IN" sz="1600" dirty="0">
                <a:solidFill>
                  <a:srgbClr val="990055"/>
                </a:solidFill>
                <a:effectLst/>
              </a:rPr>
              <a:t>/label</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type</a:t>
            </a:r>
            <a:r>
              <a:rPr lang="en-IN" sz="1600" dirty="0">
                <a:solidFill>
                  <a:srgbClr val="005CC5"/>
                </a:solidFill>
                <a:effectLst/>
              </a:rPr>
              <a:t>="text"</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lname</a:t>
            </a:r>
            <a:r>
              <a:rPr lang="en-IN" sz="1600" dirty="0">
                <a:solidFill>
                  <a:srgbClr val="005CC5"/>
                </a:solidFill>
                <a:effectLst/>
              </a:rPr>
              <a:t>"</a:t>
            </a:r>
            <a:r>
              <a:rPr lang="en-IN" sz="1600" dirty="0">
                <a:solidFill>
                  <a:srgbClr val="008000"/>
                </a:solidFill>
                <a:effectLst/>
              </a:rPr>
              <a:t> name</a:t>
            </a:r>
            <a:r>
              <a:rPr lang="en-IN" sz="1600" dirty="0">
                <a:solidFill>
                  <a:srgbClr val="005CC5"/>
                </a:solidFill>
                <a:effectLst/>
              </a:rPr>
              <a:t>="</a:t>
            </a:r>
            <a:r>
              <a:rPr lang="en-IN" sz="1600" dirty="0" err="1">
                <a:solidFill>
                  <a:srgbClr val="005CC5"/>
                </a:solidFill>
                <a:effectLst/>
              </a:rPr>
              <a:t>lname</a:t>
            </a:r>
            <a:r>
              <a:rPr lang="en-IN" sz="1600" dirty="0">
                <a:solidFill>
                  <a:srgbClr val="005CC5"/>
                </a:solidFill>
                <a:effectLst/>
              </a:rPr>
              <a:t>"</a:t>
            </a:r>
            <a:r>
              <a:rPr lang="en-IN" sz="1600" dirty="0">
                <a:solidFill>
                  <a:srgbClr val="008000"/>
                </a:solidFill>
                <a:effectLst/>
              </a:rPr>
              <a:t> value</a:t>
            </a:r>
            <a:r>
              <a:rPr lang="en-IN" sz="1600" dirty="0">
                <a:solidFill>
                  <a:srgbClr val="005CC5"/>
                </a:solidFill>
                <a:effectLst/>
              </a:rPr>
              <a:t>="Doe"</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&gt;&lt;</a:t>
            </a:r>
            <a:r>
              <a:rPr lang="en-IN" sz="1600" dirty="0" err="1">
                <a:solidFill>
                  <a:srgbClr val="990055"/>
                </a:solidFill>
                <a:effectLst/>
              </a:rPr>
              <a:t>br</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type</a:t>
            </a:r>
            <a:r>
              <a:rPr lang="en-IN" sz="1600" dirty="0">
                <a:solidFill>
                  <a:srgbClr val="005CC5"/>
                </a:solidFill>
                <a:effectLst/>
              </a:rPr>
              <a:t>="submit"</a:t>
            </a:r>
            <a:r>
              <a:rPr lang="en-IN" sz="1600" dirty="0">
                <a:solidFill>
                  <a:srgbClr val="008000"/>
                </a:solidFill>
                <a:effectLst/>
              </a:rPr>
              <a:t> value</a:t>
            </a:r>
            <a:r>
              <a:rPr lang="en-IN" sz="1600" dirty="0">
                <a:solidFill>
                  <a:srgbClr val="005CC5"/>
                </a:solidFill>
                <a:effectLst/>
              </a:rPr>
              <a:t>="Submit"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a:t>
            </a:r>
            <a:r>
              <a:rPr lang="en-IN" sz="1600" dirty="0" err="1">
                <a:solidFill>
                  <a:srgbClr val="990055"/>
                </a:solidFill>
                <a:effectLst/>
              </a:rPr>
              <a:t>fieldset</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/form</a:t>
            </a:r>
            <a:r>
              <a:rPr lang="en-IN" sz="1600" dirty="0">
                <a:solidFill>
                  <a:srgbClr val="999999"/>
                </a:solidFill>
                <a:effectLst/>
              </a:rPr>
              <a:t>&gt;</a:t>
            </a:r>
            <a:r>
              <a:rPr lang="en-IN" sz="1600" dirty="0"/>
              <a:t> </a:t>
            </a:r>
          </a:p>
          <a:p>
            <a:endParaRPr lang="en-IN" sz="2000" dirty="0"/>
          </a:p>
        </p:txBody>
      </p:sp>
      <p:pic>
        <p:nvPicPr>
          <p:cNvPr id="7" name="Picture 6">
            <a:extLst>
              <a:ext uri="{FF2B5EF4-FFF2-40B4-BE49-F238E27FC236}">
                <a16:creationId xmlns:a16="http://schemas.microsoft.com/office/drawing/2014/main" id="{95D5ED38-C4D2-B47B-9673-77EDF0757BAD}"/>
              </a:ext>
            </a:extLst>
          </p:cNvPr>
          <p:cNvPicPr>
            <a:picLocks noChangeAspect="1"/>
          </p:cNvPicPr>
          <p:nvPr/>
        </p:nvPicPr>
        <p:blipFill>
          <a:blip r:embed="rId2"/>
          <a:stretch>
            <a:fillRect/>
          </a:stretch>
        </p:blipFill>
        <p:spPr>
          <a:xfrm>
            <a:off x="5782235" y="4184161"/>
            <a:ext cx="6220512" cy="2171816"/>
          </a:xfrm>
          <a:prstGeom prst="rect">
            <a:avLst/>
          </a:prstGeom>
        </p:spPr>
      </p:pic>
    </p:spTree>
    <p:extLst>
      <p:ext uri="{BB962C8B-B14F-4D97-AF65-F5344CB8AC3E}">
        <p14:creationId xmlns:p14="http://schemas.microsoft.com/office/powerpoint/2010/main" val="17839995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589A0-C0FD-BFE2-A429-921EE4764E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F82DE4-BACE-7ED9-5721-E2FC3B971C50}"/>
              </a:ext>
            </a:extLst>
          </p:cNvPr>
          <p:cNvSpPr txBox="1"/>
          <p:nvPr/>
        </p:nvSpPr>
        <p:spPr>
          <a:xfrm>
            <a:off x="528918" y="421341"/>
            <a:ext cx="11143129" cy="5693866"/>
          </a:xfrm>
          <a:prstGeom prst="rect">
            <a:avLst/>
          </a:prstGeom>
          <a:noFill/>
        </p:spPr>
        <p:txBody>
          <a:bodyPr wrap="square" rtlCol="0">
            <a:spAutoFit/>
          </a:bodyPr>
          <a:lstStyle/>
          <a:p>
            <a:r>
              <a:rPr lang="en-US" sz="2400" dirty="0" err="1"/>
              <a:t>Datalist</a:t>
            </a:r>
            <a:endParaRPr lang="en-US" sz="2400" dirty="0"/>
          </a:p>
          <a:p>
            <a:endParaRPr lang="en-US" sz="2000" dirty="0"/>
          </a:p>
          <a:p>
            <a:pPr algn="just"/>
            <a:r>
              <a:rPr lang="en-US" sz="2000" dirty="0"/>
              <a:t>The </a:t>
            </a:r>
            <a:r>
              <a:rPr lang="en-US" sz="2000" dirty="0">
                <a:solidFill>
                  <a:srgbClr val="FF0000"/>
                </a:solidFill>
              </a:rPr>
              <a:t>&lt;</a:t>
            </a:r>
            <a:r>
              <a:rPr lang="en-US" sz="2000" dirty="0" err="1">
                <a:solidFill>
                  <a:srgbClr val="FF0000"/>
                </a:solidFill>
              </a:rPr>
              <a:t>datalist</a:t>
            </a:r>
            <a:r>
              <a:rPr lang="en-US" sz="2000" dirty="0">
                <a:solidFill>
                  <a:srgbClr val="FF0000"/>
                </a:solidFill>
              </a:rPr>
              <a:t>&gt; </a:t>
            </a:r>
            <a:r>
              <a:rPr lang="en-US" sz="2000" dirty="0"/>
              <a:t>tag defines a list of pre-defined options for an &lt;input&gt; element. </a:t>
            </a:r>
          </a:p>
          <a:p>
            <a:pPr algn="just"/>
            <a:r>
              <a:rPr lang="en-US" sz="2000" dirty="0"/>
              <a:t>It is used to provide autocomplete options to the form elements that show up as recommended options when the user fills in the form.</a:t>
            </a:r>
          </a:p>
          <a:p>
            <a:pPr algn="just"/>
            <a:endParaRPr lang="en-US" sz="2000" dirty="0"/>
          </a:p>
          <a:p>
            <a:pPr>
              <a:buNone/>
            </a:pPr>
            <a:r>
              <a:rPr lang="en-IN" dirty="0">
                <a:solidFill>
                  <a:srgbClr val="999999"/>
                </a:solidFill>
                <a:effectLst/>
              </a:rPr>
              <a:t>&lt;</a:t>
            </a:r>
            <a:r>
              <a:rPr lang="en-IN" dirty="0">
                <a:solidFill>
                  <a:srgbClr val="990055"/>
                </a:solidFill>
                <a:effectLst/>
              </a:rPr>
              <a:t>form</a:t>
            </a:r>
            <a:r>
              <a:rPr lang="en-IN" dirty="0">
                <a:solidFill>
                  <a:srgbClr val="008000"/>
                </a:solidFill>
                <a:effectLst/>
              </a:rPr>
              <a:t> action</a:t>
            </a:r>
            <a:r>
              <a:rPr lang="en-IN" dirty="0">
                <a:solidFill>
                  <a:srgbClr val="005CC5"/>
                </a:solidFill>
                <a:effectLst/>
              </a:rPr>
              <a:t>="/</a:t>
            </a:r>
            <a:r>
              <a:rPr lang="en-IN" dirty="0" err="1">
                <a:solidFill>
                  <a:srgbClr val="005CC5"/>
                </a:solidFill>
                <a:effectLst/>
              </a:rPr>
              <a:t>action_page.php</a:t>
            </a:r>
            <a:r>
              <a:rPr lang="en-IN" dirty="0">
                <a:solidFill>
                  <a:srgbClr val="005CC5"/>
                </a:solidFill>
                <a:effectLst/>
              </a:rPr>
              <a:t>"</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input</a:t>
            </a:r>
            <a:r>
              <a:rPr lang="en-IN" dirty="0">
                <a:solidFill>
                  <a:srgbClr val="008000"/>
                </a:solidFill>
                <a:effectLst/>
              </a:rPr>
              <a:t> list</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err="1">
                <a:solidFill>
                  <a:srgbClr val="990055"/>
                </a:solidFill>
                <a:effectLst/>
              </a:rPr>
              <a:t>datalist</a:t>
            </a:r>
            <a:r>
              <a:rPr lang="en-IN" dirty="0">
                <a:solidFill>
                  <a:srgbClr val="008000"/>
                </a:solidFill>
                <a:effectLst/>
              </a:rPr>
              <a:t> id</a:t>
            </a:r>
            <a:r>
              <a:rPr lang="en-IN" dirty="0">
                <a:solidFill>
                  <a:srgbClr val="005CC5"/>
                </a:solidFill>
                <a:effectLst/>
              </a:rPr>
              <a:t>="browsers"</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="Edge"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="Firefox"</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="Chrome"</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="Opera"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option</a:t>
            </a:r>
            <a:r>
              <a:rPr lang="en-IN" dirty="0">
                <a:solidFill>
                  <a:srgbClr val="008000"/>
                </a:solidFill>
                <a:effectLst/>
              </a:rPr>
              <a:t> value</a:t>
            </a:r>
            <a:r>
              <a:rPr lang="en-IN" dirty="0">
                <a:solidFill>
                  <a:srgbClr val="005CC5"/>
                </a:solidFill>
                <a:effectLst/>
              </a:rPr>
              <a:t>="Safari"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t>
            </a:r>
            <a:r>
              <a:rPr lang="en-IN" dirty="0" err="1">
                <a:solidFill>
                  <a:srgbClr val="990055"/>
                </a:solidFill>
                <a:effectLst/>
              </a:rPr>
              <a:t>datalist</a:t>
            </a:r>
            <a:r>
              <a:rPr lang="en-IN" dirty="0">
                <a:solidFill>
                  <a:srgbClr val="999999"/>
                </a:solidFill>
                <a:effectLst/>
              </a:rPr>
              <a:t>&gt;</a:t>
            </a:r>
            <a:r>
              <a:rPr lang="en-IN" dirty="0"/>
              <a:t> </a:t>
            </a:r>
            <a:br>
              <a:rPr lang="en-IN" dirty="0"/>
            </a:br>
            <a:r>
              <a:rPr lang="en-IN" dirty="0">
                <a:solidFill>
                  <a:srgbClr val="999999"/>
                </a:solidFill>
                <a:effectLst/>
              </a:rPr>
              <a:t>&lt;</a:t>
            </a:r>
            <a:r>
              <a:rPr lang="en-IN" dirty="0">
                <a:solidFill>
                  <a:srgbClr val="990055"/>
                </a:solidFill>
                <a:effectLst/>
              </a:rPr>
              <a:t>/form</a:t>
            </a:r>
            <a:r>
              <a:rPr lang="en-IN" dirty="0">
                <a:solidFill>
                  <a:srgbClr val="999999"/>
                </a:solidFill>
                <a:effectLst/>
              </a:rPr>
              <a:t>&gt;</a:t>
            </a:r>
            <a:r>
              <a:rPr lang="en-IN" dirty="0"/>
              <a:t> </a:t>
            </a:r>
          </a:p>
          <a:p>
            <a:pPr algn="just"/>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4E215841-C02B-CE10-32D8-6FA14016C55E}"/>
              </a:ext>
            </a:extLst>
          </p:cNvPr>
          <p:cNvPicPr>
            <a:picLocks noChangeAspect="1"/>
          </p:cNvPicPr>
          <p:nvPr/>
        </p:nvPicPr>
        <p:blipFill>
          <a:blip r:embed="rId2"/>
          <a:stretch>
            <a:fillRect/>
          </a:stretch>
        </p:blipFill>
        <p:spPr>
          <a:xfrm>
            <a:off x="6019286" y="2352774"/>
            <a:ext cx="3362794" cy="2600688"/>
          </a:xfrm>
          <a:prstGeom prst="rect">
            <a:avLst/>
          </a:prstGeom>
        </p:spPr>
      </p:pic>
    </p:spTree>
    <p:extLst>
      <p:ext uri="{BB962C8B-B14F-4D97-AF65-F5344CB8AC3E}">
        <p14:creationId xmlns:p14="http://schemas.microsoft.com/office/powerpoint/2010/main" val="303140798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E6290-1920-0C9F-751A-7F10BE6840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17D2B2-D716-7584-C58A-D661115CFBAA}"/>
              </a:ext>
            </a:extLst>
          </p:cNvPr>
          <p:cNvSpPr txBox="1"/>
          <p:nvPr/>
        </p:nvSpPr>
        <p:spPr>
          <a:xfrm>
            <a:off x="528918" y="421341"/>
            <a:ext cx="11143129" cy="6001643"/>
          </a:xfrm>
          <a:prstGeom prst="rect">
            <a:avLst/>
          </a:prstGeom>
          <a:noFill/>
        </p:spPr>
        <p:txBody>
          <a:bodyPr wrap="square" rtlCol="0">
            <a:spAutoFit/>
          </a:bodyPr>
          <a:lstStyle/>
          <a:p>
            <a:r>
              <a:rPr lang="en-IN" sz="2400" b="1" dirty="0"/>
              <a:t>&lt;output&gt; tag</a:t>
            </a:r>
            <a:endParaRPr lang="en-US" sz="3200" dirty="0"/>
          </a:p>
          <a:p>
            <a:endParaRPr lang="en-US" sz="2000" dirty="0"/>
          </a:p>
          <a:p>
            <a:pPr marL="342900" indent="-342900">
              <a:buFont typeface="Arial" panose="020B0604020202020204" pitchFamily="34" charset="0"/>
              <a:buChar char="•"/>
            </a:pPr>
            <a:r>
              <a:rPr lang="en-US" sz="2000" dirty="0"/>
              <a:t>The HTML </a:t>
            </a:r>
            <a:r>
              <a:rPr lang="en-US" sz="2000" dirty="0">
                <a:solidFill>
                  <a:srgbClr val="FF0000"/>
                </a:solidFill>
              </a:rPr>
              <a:t>&lt;output&gt; </a:t>
            </a:r>
            <a:r>
              <a:rPr lang="en-US" sz="2000" dirty="0"/>
              <a:t>tag is a container element that is used to store the output of a calculation usually performed using </a:t>
            </a:r>
            <a:r>
              <a:rPr lang="en-US" sz="2000" dirty="0" err="1"/>
              <a:t>javascript</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for attribute of the &lt;output&gt; tag accepts a space-separated value of all the inputs used in the calculation. </a:t>
            </a:r>
          </a:p>
          <a:p>
            <a:pPr marL="342900" indent="-342900">
              <a:buFont typeface="Arial" panose="020B0604020202020204" pitchFamily="34" charset="0"/>
              <a:buChar char="•"/>
            </a:pPr>
            <a:r>
              <a:rPr lang="en-US" sz="2000" dirty="0"/>
              <a:t>The value inside the &lt;output&gt; is generally generated from </a:t>
            </a:r>
            <a:r>
              <a:rPr lang="en-US" sz="2000" dirty="0" err="1"/>
              <a:t>Javascript</a:t>
            </a:r>
            <a:r>
              <a:rPr lang="en-US" sz="2000" dirty="0"/>
              <a:t> and filled inside the element.</a:t>
            </a:r>
          </a:p>
          <a:p>
            <a:endParaRPr lang="en-IN" sz="2000" dirty="0"/>
          </a:p>
        </p:txBody>
      </p:sp>
      <p:pic>
        <p:nvPicPr>
          <p:cNvPr id="6" name="Picture 5">
            <a:extLst>
              <a:ext uri="{FF2B5EF4-FFF2-40B4-BE49-F238E27FC236}">
                <a16:creationId xmlns:a16="http://schemas.microsoft.com/office/drawing/2014/main" id="{966B501C-E59F-403B-2F9D-C08C1DE17E36}"/>
              </a:ext>
            </a:extLst>
          </p:cNvPr>
          <p:cNvPicPr>
            <a:picLocks noChangeAspect="1"/>
          </p:cNvPicPr>
          <p:nvPr/>
        </p:nvPicPr>
        <p:blipFill>
          <a:blip r:embed="rId2"/>
          <a:stretch>
            <a:fillRect/>
          </a:stretch>
        </p:blipFill>
        <p:spPr>
          <a:xfrm>
            <a:off x="2191619" y="1813186"/>
            <a:ext cx="7611537" cy="2962688"/>
          </a:xfrm>
          <a:prstGeom prst="rect">
            <a:avLst/>
          </a:prstGeom>
        </p:spPr>
      </p:pic>
    </p:spTree>
    <p:extLst>
      <p:ext uri="{BB962C8B-B14F-4D97-AF65-F5344CB8AC3E}">
        <p14:creationId xmlns:p14="http://schemas.microsoft.com/office/powerpoint/2010/main" val="384491396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CBEFD-84B1-05BD-9619-9BB1FB39FB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51CEFE-5609-DB5D-6524-7DACDD8AF65D}"/>
              </a:ext>
            </a:extLst>
          </p:cNvPr>
          <p:cNvSpPr txBox="1"/>
          <p:nvPr/>
        </p:nvSpPr>
        <p:spPr>
          <a:xfrm>
            <a:off x="528918" y="421341"/>
            <a:ext cx="11143129" cy="6963445"/>
          </a:xfrm>
          <a:prstGeom prst="rect">
            <a:avLst/>
          </a:prstGeom>
          <a:noFill/>
        </p:spPr>
        <p:txBody>
          <a:bodyPr wrap="square" rtlCol="0">
            <a:spAutoFit/>
          </a:bodyPr>
          <a:lstStyle/>
          <a:p>
            <a:r>
              <a:rPr lang="en-US" sz="2400" dirty="0"/>
              <a:t>Google Map into an HTML5</a:t>
            </a:r>
          </a:p>
          <a:p>
            <a:endParaRPr lang="en-US" sz="2000" dirty="0"/>
          </a:p>
          <a:p>
            <a:pPr>
              <a:lnSpc>
                <a:spcPts val="2700"/>
              </a:lnSpc>
              <a:spcAft>
                <a:spcPts val="900"/>
              </a:spcAft>
              <a:buNone/>
            </a:pP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!DOCTYPE</a:t>
            </a:r>
            <a:r>
              <a:rPr lang="en-IN" sz="1400" b="1" dirty="0">
                <a:solidFill>
                  <a:srgbClr val="FF0000"/>
                </a:solidFill>
                <a:effectLst/>
                <a:latin typeface="Consolas" panose="020B0609020204030204" pitchFamily="49" charset="0"/>
                <a:ea typeface="Times New Roman" panose="02020603050405020304" pitchFamily="18" charset="0"/>
              </a:rPr>
              <a:t> html</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html</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body</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h1</a:t>
            </a:r>
            <a:r>
              <a:rPr lang="en-IN" sz="1400" b="1" dirty="0">
                <a:solidFill>
                  <a:srgbClr val="0000CD"/>
                </a:solidFill>
                <a:effectLst/>
                <a:latin typeface="Consolas" panose="020B0609020204030204" pitchFamily="49" charset="0"/>
                <a:ea typeface="Times New Roman" panose="02020603050405020304" pitchFamily="18" charset="0"/>
              </a:rPr>
              <a:t>&gt;</a:t>
            </a:r>
            <a:r>
              <a:rPr lang="en-IN" sz="1400" b="1" dirty="0">
                <a:solidFill>
                  <a:srgbClr val="000000"/>
                </a:solidFill>
                <a:effectLst/>
                <a:latin typeface="Consolas" panose="020B0609020204030204" pitchFamily="49" charset="0"/>
                <a:ea typeface="Times New Roman" panose="02020603050405020304" pitchFamily="18" charset="0"/>
              </a:rPr>
              <a:t>My First Google Map</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/h1</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div</a:t>
            </a:r>
            <a:r>
              <a:rPr lang="en-IN" sz="1400" b="1" dirty="0">
                <a:solidFill>
                  <a:srgbClr val="FF0000"/>
                </a:solidFill>
                <a:effectLst/>
                <a:latin typeface="Consolas" panose="020B0609020204030204" pitchFamily="49" charset="0"/>
                <a:ea typeface="Times New Roman" panose="02020603050405020304" pitchFamily="18" charset="0"/>
              </a:rPr>
              <a:t> id</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googleMap</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a:solidFill>
                  <a:srgbClr val="FF0000"/>
                </a:solidFill>
                <a:effectLst/>
                <a:latin typeface="Consolas" panose="020B0609020204030204" pitchFamily="49" charset="0"/>
                <a:ea typeface="Times New Roman" panose="02020603050405020304" pitchFamily="18" charset="0"/>
              </a:rPr>
              <a:t> style</a:t>
            </a:r>
            <a:r>
              <a:rPr lang="en-IN" sz="1400" b="1" dirty="0">
                <a:solidFill>
                  <a:srgbClr val="0000CD"/>
                </a:solidFill>
                <a:effectLst/>
                <a:latin typeface="Consolas" panose="020B0609020204030204" pitchFamily="49" charset="0"/>
                <a:ea typeface="Times New Roman" panose="02020603050405020304" pitchFamily="18" charset="0"/>
              </a:rPr>
              <a:t>="width:100%;height:400px;"&gt;&lt;</a:t>
            </a:r>
            <a:r>
              <a:rPr lang="en-IN" sz="1400" b="1" dirty="0">
                <a:solidFill>
                  <a:srgbClr val="A52A2A"/>
                </a:solidFill>
                <a:effectLst/>
                <a:latin typeface="Consolas" panose="020B0609020204030204" pitchFamily="49" charset="0"/>
                <a:ea typeface="Times New Roman" panose="02020603050405020304" pitchFamily="18" charset="0"/>
              </a:rPr>
              <a:t>/div</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function</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myMap</a:t>
            </a:r>
            <a:r>
              <a:rPr lang="en-IN" sz="1400" b="1" dirty="0">
                <a:solidFill>
                  <a:srgbClr val="000000"/>
                </a:solidFill>
                <a:effectLst/>
                <a:latin typeface="Consolas" panose="020B0609020204030204" pitchFamily="49" charset="0"/>
                <a:ea typeface="Times New Roman" panose="02020603050405020304" pitchFamily="18" charset="0"/>
              </a:rPr>
              <a:t>() {</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var</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mapProp</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00"/>
                </a:solidFill>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center:</a:t>
            </a:r>
            <a:r>
              <a:rPr lang="en-IN" sz="1400" b="1" dirty="0" err="1">
                <a:solidFill>
                  <a:srgbClr val="0000CD"/>
                </a:solidFill>
                <a:effectLst/>
                <a:latin typeface="Consolas" panose="020B0609020204030204" pitchFamily="49" charset="0"/>
                <a:ea typeface="Times New Roman" panose="02020603050405020304" pitchFamily="18" charset="0"/>
              </a:rPr>
              <a:t>new</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google.maps.LatLng</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FF0000"/>
                </a:solidFill>
                <a:effectLst/>
                <a:latin typeface="Consolas" panose="020B0609020204030204" pitchFamily="49" charset="0"/>
                <a:ea typeface="Times New Roman" panose="02020603050405020304" pitchFamily="18" charset="0"/>
              </a:rPr>
              <a:t>51.508742</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FF0000"/>
                </a:solidFill>
                <a:effectLst/>
                <a:latin typeface="Consolas" panose="020B0609020204030204" pitchFamily="49" charset="0"/>
                <a:ea typeface="Times New Roman" panose="02020603050405020304" pitchFamily="18" charset="0"/>
              </a:rPr>
              <a:t>0.120850</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000000"/>
                </a:solidFill>
                <a:latin typeface="Consolas" panose="020B0609020204030204" pitchFamily="49" charset="0"/>
                <a:ea typeface="Times New Roman" panose="02020603050405020304" pitchFamily="18" charset="0"/>
              </a:rPr>
              <a:t> </a:t>
            </a:r>
            <a:r>
              <a:rPr lang="en-IN" sz="1400" b="1" dirty="0">
                <a:solidFill>
                  <a:srgbClr val="000000"/>
                </a:solidFill>
                <a:effectLst/>
                <a:latin typeface="Consolas" panose="020B0609020204030204" pitchFamily="49" charset="0"/>
                <a:ea typeface="Times New Roman" panose="02020603050405020304" pitchFamily="18" charset="0"/>
              </a:rPr>
              <a:t>zoom:</a:t>
            </a:r>
            <a:r>
              <a:rPr lang="en-IN" sz="1400" b="1" dirty="0">
                <a:solidFill>
                  <a:srgbClr val="FF0000"/>
                </a:solidFill>
                <a:effectLst/>
                <a:latin typeface="Consolas" panose="020B0609020204030204" pitchFamily="49" charset="0"/>
                <a:ea typeface="Times New Roman" panose="02020603050405020304" pitchFamily="18" charset="0"/>
              </a:rPr>
              <a:t>5</a:t>
            </a:r>
            <a:r>
              <a:rPr lang="en-IN" sz="1400" b="1" dirty="0">
                <a:solidFill>
                  <a:srgbClr val="000000"/>
                </a:solidFill>
                <a:latin typeface="Consolas" panose="020B0609020204030204" pitchFamily="49" charset="0"/>
                <a:ea typeface="Times New Roman" panose="02020603050405020304" pitchFamily="18" charset="0"/>
              </a:rPr>
              <a:t> </a:t>
            </a:r>
            <a:r>
              <a:rPr lang="en-IN" sz="1400" b="1" dirty="0">
                <a:solidFill>
                  <a:srgbClr val="000000"/>
                </a:solidFill>
                <a:effectLst/>
                <a:latin typeface="Consolas" panose="020B0609020204030204" pitchFamily="49" charset="0"/>
                <a:ea typeface="Times New Roman" panose="02020603050405020304" pitchFamily="18" charset="0"/>
              </a:rPr>
              <a: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var</a:t>
            </a:r>
            <a:r>
              <a:rPr lang="en-IN" sz="1400" b="1" dirty="0">
                <a:solidFill>
                  <a:srgbClr val="000000"/>
                </a:solidFill>
                <a:effectLst/>
                <a:latin typeface="Consolas" panose="020B0609020204030204" pitchFamily="49" charset="0"/>
                <a:ea typeface="Times New Roman" panose="02020603050405020304" pitchFamily="18" charset="0"/>
              </a:rPr>
              <a:t> map = </a:t>
            </a:r>
            <a:r>
              <a:rPr lang="en-IN" sz="1400" b="1" dirty="0">
                <a:solidFill>
                  <a:srgbClr val="0000CD"/>
                </a:solidFill>
                <a:effectLst/>
                <a:latin typeface="Consolas" panose="020B0609020204030204" pitchFamily="49" charset="0"/>
                <a:ea typeface="Times New Roman" panose="02020603050405020304" pitchFamily="18" charset="0"/>
              </a:rPr>
              <a:t>new</a:t>
            </a: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err="1">
                <a:solidFill>
                  <a:srgbClr val="000000"/>
                </a:solidFill>
                <a:effectLst/>
                <a:latin typeface="Consolas" panose="020B0609020204030204" pitchFamily="49" charset="0"/>
                <a:ea typeface="Times New Roman" panose="02020603050405020304" pitchFamily="18" charset="0"/>
              </a:rPr>
              <a:t>google.maps.Map</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err="1">
                <a:solidFill>
                  <a:srgbClr val="000000"/>
                </a:solidFill>
                <a:effectLst/>
                <a:latin typeface="Consolas" panose="020B0609020204030204" pitchFamily="49" charset="0"/>
                <a:ea typeface="Times New Roman" panose="02020603050405020304" pitchFamily="18" charset="0"/>
              </a:rPr>
              <a:t>document.getElementById</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a:solidFill>
                  <a:srgbClr val="A52A2A"/>
                </a:solidFill>
                <a:effectLst/>
                <a:latin typeface="Consolas" panose="020B0609020204030204" pitchFamily="49" charset="0"/>
                <a:ea typeface="Times New Roman" panose="02020603050405020304" pitchFamily="18" charset="0"/>
              </a:rPr>
              <a:t>"</a:t>
            </a:r>
            <a:r>
              <a:rPr lang="en-IN" sz="1400" b="1" dirty="0" err="1">
                <a:solidFill>
                  <a:srgbClr val="A52A2A"/>
                </a:solidFill>
                <a:effectLst/>
                <a:latin typeface="Consolas" panose="020B0609020204030204" pitchFamily="49" charset="0"/>
                <a:ea typeface="Times New Roman" panose="02020603050405020304" pitchFamily="18" charset="0"/>
              </a:rPr>
              <a:t>googleMap</a:t>
            </a:r>
            <a:r>
              <a:rPr lang="en-IN" sz="1400" b="1" dirty="0">
                <a:solidFill>
                  <a:srgbClr val="A52A2A"/>
                </a:solidFill>
                <a:effectLst/>
                <a:latin typeface="Consolas" panose="020B0609020204030204" pitchFamily="49" charset="0"/>
                <a:ea typeface="Times New Roman" panose="02020603050405020304" pitchFamily="18" charset="0"/>
              </a:rPr>
              <a:t>"</a:t>
            </a:r>
            <a:r>
              <a:rPr lang="en-IN" sz="1400" b="1" dirty="0">
                <a:solidFill>
                  <a:srgbClr val="000000"/>
                </a:solidFill>
                <a:effectLst/>
                <a:latin typeface="Consolas" panose="020B0609020204030204" pitchFamily="49" charset="0"/>
                <a:ea typeface="Times New Roman" panose="02020603050405020304" pitchFamily="18" charset="0"/>
              </a:rPr>
              <a:t>),</a:t>
            </a:r>
            <a:r>
              <a:rPr lang="en-IN" sz="1400" b="1" dirty="0" err="1">
                <a:solidFill>
                  <a:srgbClr val="000000"/>
                </a:solidFill>
                <a:effectLst/>
                <a:latin typeface="Consolas" panose="020B0609020204030204" pitchFamily="49" charset="0"/>
                <a:ea typeface="Times New Roman" panose="02020603050405020304" pitchFamily="18" charset="0"/>
              </a:rPr>
              <a:t>mapProp</a:t>
            </a:r>
            <a:r>
              <a:rPr lang="en-IN" sz="1400" b="1" dirty="0">
                <a:solidFill>
                  <a:srgbClr val="000000"/>
                </a:solidFill>
                <a:effectLst/>
                <a:latin typeface="Consolas" panose="020B0609020204030204" pitchFamily="49" charset="0"/>
                <a:ea typeface="Times New Roman" panose="02020603050405020304" pitchFamily="18" charset="0"/>
              </a:rPr>
              <a: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FF0000"/>
                </a:solidFill>
                <a:effectLst/>
                <a:latin typeface="Consolas" panose="020B0609020204030204" pitchFamily="49" charset="0"/>
                <a:ea typeface="Times New Roman" panose="02020603050405020304" pitchFamily="18" charset="0"/>
              </a:rPr>
              <a:t> </a:t>
            </a:r>
            <a:r>
              <a:rPr lang="en-IN" sz="1400" b="1" dirty="0" err="1">
                <a:solidFill>
                  <a:srgbClr val="FF0000"/>
                </a:solidFill>
                <a:effectLst/>
                <a:latin typeface="Consolas" panose="020B0609020204030204" pitchFamily="49" charset="0"/>
                <a:ea typeface="Times New Roman" panose="02020603050405020304" pitchFamily="18" charset="0"/>
              </a:rPr>
              <a:t>src</a:t>
            </a:r>
            <a:r>
              <a:rPr lang="en-IN" sz="1400" b="1" dirty="0">
                <a:solidFill>
                  <a:srgbClr val="0000CD"/>
                </a:solidFill>
                <a:effectLst/>
                <a:latin typeface="Consolas" panose="020B0609020204030204" pitchFamily="49" charset="0"/>
                <a:ea typeface="Times New Roman" panose="02020603050405020304" pitchFamily="18" charset="0"/>
              </a:rPr>
              <a:t>="https://maps.googleapis.com/maps/</a:t>
            </a:r>
            <a:r>
              <a:rPr lang="en-IN" sz="1400" b="1" dirty="0" err="1">
                <a:solidFill>
                  <a:srgbClr val="0000CD"/>
                </a:solidFill>
                <a:effectLst/>
                <a:latin typeface="Consolas" panose="020B0609020204030204" pitchFamily="49" charset="0"/>
                <a:ea typeface="Times New Roman" panose="02020603050405020304" pitchFamily="18" charset="0"/>
              </a:rPr>
              <a:t>api</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js?key</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YOUR_KEY&amp;callback</a:t>
            </a:r>
            <a:r>
              <a:rPr lang="en-IN" sz="1400" b="1" dirty="0">
                <a:solidFill>
                  <a:srgbClr val="0000CD"/>
                </a:solidFill>
                <a:effectLst/>
                <a:latin typeface="Consolas" panose="020B0609020204030204" pitchFamily="49" charset="0"/>
                <a:ea typeface="Times New Roman" panose="02020603050405020304" pitchFamily="18" charset="0"/>
              </a:rPr>
              <a:t>=</a:t>
            </a:r>
            <a:r>
              <a:rPr lang="en-IN" sz="1400" b="1" dirty="0" err="1">
                <a:solidFill>
                  <a:srgbClr val="0000CD"/>
                </a:solidFill>
                <a:effectLst/>
                <a:latin typeface="Consolas" panose="020B0609020204030204" pitchFamily="49" charset="0"/>
                <a:ea typeface="Times New Roman" panose="02020603050405020304" pitchFamily="18" charset="0"/>
              </a:rPr>
              <a:t>myMap</a:t>
            </a:r>
            <a:r>
              <a:rPr lang="en-IN" sz="1400" b="1" dirty="0">
                <a:solidFill>
                  <a:srgbClr val="0000CD"/>
                </a:solidFill>
                <a:effectLst/>
                <a:latin typeface="Consolas" panose="020B0609020204030204" pitchFamily="49" charset="0"/>
                <a:ea typeface="Times New Roman" panose="02020603050405020304" pitchFamily="18" charset="0"/>
              </a:rPr>
              <a:t>"&gt;&lt;</a:t>
            </a:r>
            <a:r>
              <a:rPr lang="en-IN" sz="1400" b="1" dirty="0">
                <a:solidFill>
                  <a:srgbClr val="A52A2A"/>
                </a:solidFill>
                <a:effectLst/>
                <a:latin typeface="Consolas" panose="020B0609020204030204" pitchFamily="49" charset="0"/>
                <a:ea typeface="Times New Roman" panose="02020603050405020304" pitchFamily="18" charset="0"/>
              </a:rPr>
              <a:t>/script</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00"/>
                </a:solidFill>
                <a:effectLst/>
                <a:latin typeface="Consolas" panose="020B0609020204030204" pitchFamily="49" charset="0"/>
                <a:ea typeface="Times New Roman" panose="02020603050405020304" pitchFamily="18" charset="0"/>
              </a:rPr>
              <a:t>    </a:t>
            </a: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/body</a:t>
            </a:r>
            <a:r>
              <a:rPr lang="en-IN" sz="1400" b="1" dirty="0">
                <a:solidFill>
                  <a:srgbClr val="0000CD"/>
                </a:solidFill>
                <a:effectLst/>
                <a:latin typeface="Consolas" panose="020B0609020204030204" pitchFamily="49" charset="0"/>
                <a:ea typeface="Times New Roman" panose="02020603050405020304" pitchFamily="18" charset="0"/>
              </a:rPr>
              <a:t>&gt;</a:t>
            </a:r>
            <a:br>
              <a:rPr lang="en-IN" sz="1400" b="1" dirty="0">
                <a:solidFill>
                  <a:srgbClr val="000000"/>
                </a:solidFill>
                <a:effectLst/>
                <a:latin typeface="Consolas" panose="020B0609020204030204" pitchFamily="49" charset="0"/>
                <a:ea typeface="Times New Roman" panose="02020603050405020304" pitchFamily="18" charset="0"/>
              </a:rPr>
            </a:br>
            <a:r>
              <a:rPr lang="en-IN" sz="1400" b="1" dirty="0">
                <a:solidFill>
                  <a:srgbClr val="0000CD"/>
                </a:solidFill>
                <a:effectLst/>
                <a:latin typeface="Consolas" panose="020B0609020204030204" pitchFamily="49" charset="0"/>
                <a:ea typeface="Times New Roman" panose="02020603050405020304" pitchFamily="18" charset="0"/>
              </a:rPr>
              <a:t>&lt;</a:t>
            </a:r>
            <a:r>
              <a:rPr lang="en-IN" sz="1400" b="1" dirty="0">
                <a:solidFill>
                  <a:srgbClr val="A52A2A"/>
                </a:solidFill>
                <a:effectLst/>
                <a:latin typeface="Consolas" panose="020B0609020204030204" pitchFamily="49" charset="0"/>
                <a:ea typeface="Times New Roman" panose="02020603050405020304" pitchFamily="18" charset="0"/>
              </a:rPr>
              <a:t>/html</a:t>
            </a:r>
            <a:r>
              <a:rPr lang="en-IN" sz="1400" b="1" dirty="0">
                <a:solidFill>
                  <a:srgbClr val="0000CD"/>
                </a:solidFill>
                <a:effectLst/>
                <a:latin typeface="Consolas" panose="020B0609020204030204" pitchFamily="49" charset="0"/>
                <a:ea typeface="Times New Roman" panose="02020603050405020304" pitchFamily="18" charset="0"/>
              </a:rPr>
              <a:t>&gt;</a:t>
            </a:r>
            <a:endParaRPr lang="en-IN" sz="2000" b="1" dirty="0">
              <a:effectLst/>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US" sz="2000" dirty="0"/>
          </a:p>
          <a:p>
            <a:endParaRPr lang="en-IN" sz="2000" dirty="0"/>
          </a:p>
        </p:txBody>
      </p:sp>
    </p:spTree>
    <p:extLst>
      <p:ext uri="{BB962C8B-B14F-4D97-AF65-F5344CB8AC3E}">
        <p14:creationId xmlns:p14="http://schemas.microsoft.com/office/powerpoint/2010/main" val="20336299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C0F07-6E6A-D38B-0695-24B556EA5E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8FB36A-6226-3E51-DF36-E46C2D929549}"/>
              </a:ext>
            </a:extLst>
          </p:cNvPr>
          <p:cNvSpPr txBox="1"/>
          <p:nvPr/>
        </p:nvSpPr>
        <p:spPr>
          <a:xfrm>
            <a:off x="528918" y="421341"/>
            <a:ext cx="11143129" cy="4985980"/>
          </a:xfrm>
          <a:prstGeom prst="rect">
            <a:avLst/>
          </a:prstGeom>
          <a:noFill/>
        </p:spPr>
        <p:txBody>
          <a:bodyPr wrap="square" rtlCol="0">
            <a:spAutoFit/>
          </a:bodyPr>
          <a:lstStyle/>
          <a:p>
            <a:r>
              <a:rPr lang="en-IN" dirty="0"/>
              <a:t>The map needs an HTML element to hold the map</a:t>
            </a:r>
            <a:endParaRPr lang="en-US" sz="2000" dirty="0"/>
          </a:p>
          <a:p>
            <a:endParaRPr lang="en-US" sz="2000" dirty="0"/>
          </a:p>
          <a:p>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	&lt;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id</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20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googleMap</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style</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="width:100%;height:400px"&gt;&lt;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p>
          <a:p>
            <a:endParaRPr lang="en-IN" sz="2000" dirty="0">
              <a:solidFill>
                <a:srgbClr val="0000CD"/>
              </a:solidFill>
              <a:latin typeface="Consolas" panose="020B0609020204030204" pitchFamily="49" charset="0"/>
              <a:ea typeface="Calibri" panose="020F0502020204030204" pitchFamily="34" charset="0"/>
              <a:cs typeface="Times New Roman" panose="02020603050405020304" pitchFamily="18" charset="0"/>
            </a:endParaRPr>
          </a:p>
          <a:p>
            <a:r>
              <a:rPr lang="en-IN" sz="2000" dirty="0"/>
              <a:t>In the function</a:t>
            </a:r>
          </a:p>
          <a:p>
            <a:endParaRPr lang="en-IN" sz="2000" dirty="0"/>
          </a:p>
          <a:p>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function</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myMap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b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b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var</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mapProp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center:</a:t>
            </a:r>
            <a:r>
              <a:rPr kumimoji="0" lang="en-IN" sz="1400" b="1" i="0" u="none" strike="noStrike" kern="1200" cap="none" spc="0" normalizeH="0" baseline="0" noProof="0" dirty="0" err="1">
                <a:ln>
                  <a:noFill/>
                </a:ln>
                <a:solidFill>
                  <a:srgbClr val="0000CD"/>
                </a:solidFill>
                <a:effectLst/>
                <a:uLnTx/>
                <a:uFillTx/>
                <a:latin typeface="Consolas" panose="020B0609020204030204" pitchFamily="49" charset="0"/>
                <a:ea typeface="Times New Roman" panose="02020603050405020304" pitchFamily="18" charset="0"/>
                <a:cs typeface="+mn-cs"/>
              </a:rPr>
              <a:t>new</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google.maps.LatLng</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FF0000"/>
                </a:solidFill>
                <a:effectLst/>
                <a:uLnTx/>
                <a:uFillTx/>
                <a:latin typeface="Consolas" panose="020B0609020204030204" pitchFamily="49" charset="0"/>
                <a:ea typeface="Times New Roman" panose="02020603050405020304" pitchFamily="18" charset="0"/>
                <a:cs typeface="+mn-cs"/>
              </a:rPr>
              <a:t>51.508742</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FF0000"/>
                </a:solidFill>
                <a:effectLst/>
                <a:uLnTx/>
                <a:uFillTx/>
                <a:latin typeface="Consolas" panose="020B0609020204030204" pitchFamily="49" charset="0"/>
                <a:ea typeface="Times New Roman" panose="02020603050405020304" pitchFamily="18" charset="0"/>
                <a:cs typeface="+mn-cs"/>
              </a:rPr>
              <a:t>0.120850</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zoom:</a:t>
            </a:r>
            <a:r>
              <a:rPr kumimoji="0" lang="en-IN" sz="1400" b="1" i="0" u="none" strike="noStrike" kern="1200" cap="none" spc="0" normalizeH="0" baseline="0" noProof="0" dirty="0">
                <a:ln>
                  <a:noFill/>
                </a:ln>
                <a:solidFill>
                  <a:srgbClr val="FF0000"/>
                </a:solidFill>
                <a:effectLst/>
                <a:uLnTx/>
                <a:uFillTx/>
                <a:latin typeface="Consolas" panose="020B0609020204030204" pitchFamily="49" charset="0"/>
                <a:ea typeface="Times New Roman" panose="02020603050405020304" pitchFamily="18" charset="0"/>
                <a:cs typeface="+mn-cs"/>
              </a:rPr>
              <a:t>5</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b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b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var</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map = </a:t>
            </a:r>
            <a:r>
              <a:rPr kumimoji="0" lang="en-IN" sz="1400" b="1" i="0" u="none" strike="noStrike" kern="1200" cap="none" spc="0" normalizeH="0" baseline="0" noProof="0" dirty="0">
                <a:ln>
                  <a:noFill/>
                </a:ln>
                <a:solidFill>
                  <a:srgbClr val="0000CD"/>
                </a:solidFill>
                <a:effectLst/>
                <a:uLnTx/>
                <a:uFillTx/>
                <a:latin typeface="Consolas" panose="020B0609020204030204" pitchFamily="49" charset="0"/>
                <a:ea typeface="Times New Roman" panose="02020603050405020304" pitchFamily="18" charset="0"/>
                <a:cs typeface="+mn-cs"/>
              </a:rPr>
              <a:t>new</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google.maps.Map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document.getElementById</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A52A2A"/>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err="1">
                <a:ln>
                  <a:noFill/>
                </a:ln>
                <a:solidFill>
                  <a:srgbClr val="A52A2A"/>
                </a:solidFill>
                <a:effectLst/>
                <a:uLnTx/>
                <a:uFillTx/>
                <a:latin typeface="Consolas" panose="020B0609020204030204" pitchFamily="49" charset="0"/>
                <a:ea typeface="Times New Roman" panose="02020603050405020304" pitchFamily="18" charset="0"/>
                <a:cs typeface="+mn-cs"/>
              </a:rPr>
              <a:t>googleMap</a:t>
            </a:r>
            <a:r>
              <a:rPr kumimoji="0" lang="en-IN" sz="1400" b="1" i="0" u="none" strike="noStrike" kern="1200" cap="none" spc="0" normalizeH="0" baseline="0" noProof="0" dirty="0">
                <a:ln>
                  <a:noFill/>
                </a:ln>
                <a:solidFill>
                  <a:srgbClr val="A52A2A"/>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r>
              <a:rPr kumimoji="0" lang="en-IN" sz="1400" b="1" i="0" u="none" strike="noStrike" kern="1200" cap="none" spc="0" normalizeH="0" baseline="0" noProof="0" dirty="0" err="1">
                <a:ln>
                  <a:noFill/>
                </a:ln>
                <a:solidFill>
                  <a:srgbClr val="000000"/>
                </a:solidFill>
                <a:effectLst/>
                <a:uLnTx/>
                <a:uFillTx/>
                <a:latin typeface="Consolas" panose="020B0609020204030204" pitchFamily="49" charset="0"/>
                <a:ea typeface="Times New Roman" panose="02020603050405020304" pitchFamily="18" charset="0"/>
                <a:cs typeface="+mn-cs"/>
              </a:rPr>
              <a:t>mapProp</a:t>
            </a: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a:t>
            </a:r>
            <a:b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br>
            <a:r>
              <a:rPr kumimoji="0" lang="en-IN" sz="1400" b="1" i="0" u="none" strike="noStrike" kern="1200" cap="none" spc="0" normalizeH="0" baseline="0" noProof="0" dirty="0">
                <a:ln>
                  <a:noFill/>
                </a:ln>
                <a:solidFill>
                  <a:srgbClr val="000000"/>
                </a:solidFill>
                <a:effectLst/>
                <a:uLnTx/>
                <a:uFillTx/>
                <a:latin typeface="Consolas" panose="020B0609020204030204" pitchFamily="49" charset="0"/>
                <a:ea typeface="Times New Roman" panose="02020603050405020304" pitchFamily="18" charset="0"/>
                <a:cs typeface="+mn-cs"/>
              </a:rPr>
              <a:t>        }</a:t>
            </a:r>
          </a:p>
          <a:p>
            <a:endParaRPr lang="en-IN" sz="1400" b="1" dirty="0">
              <a:solidFill>
                <a:srgbClr val="000000"/>
              </a:solidFill>
              <a:latin typeface="Consolas" panose="020B0609020204030204" pitchFamily="49" charset="0"/>
            </a:endParaRPr>
          </a:p>
          <a:p>
            <a:pPr marL="285750" indent="-285750">
              <a:buFont typeface="Arial" panose="020B0604020202020204" pitchFamily="34" charset="0"/>
              <a:buChar char="•"/>
            </a:pPr>
            <a:r>
              <a:rPr lang="en-IN" dirty="0"/>
              <a:t>The </a:t>
            </a:r>
            <a:r>
              <a:rPr lang="en-IN" b="1" dirty="0" err="1"/>
              <a:t>mapProp</a:t>
            </a:r>
            <a:r>
              <a:rPr lang="en-IN" dirty="0"/>
              <a:t> variable defines the properties for the map.</a:t>
            </a:r>
          </a:p>
          <a:p>
            <a:pPr marL="285750" indent="-285750">
              <a:buFont typeface="Arial" panose="020B0604020202020204" pitchFamily="34" charset="0"/>
              <a:buChar char="•"/>
            </a:pPr>
            <a:r>
              <a:rPr lang="en-IN" dirty="0"/>
              <a:t>The </a:t>
            </a:r>
            <a:r>
              <a:rPr lang="en-IN" b="1" dirty="0" err="1"/>
              <a:t>center</a:t>
            </a:r>
            <a:r>
              <a:rPr lang="en-IN" dirty="0"/>
              <a:t> property specifies where to </a:t>
            </a:r>
            <a:r>
              <a:rPr lang="en-IN" dirty="0" err="1"/>
              <a:t>center</a:t>
            </a:r>
            <a:r>
              <a:rPr lang="en-IN" dirty="0"/>
              <a:t> the map (using latitude and longitude coordinates).</a:t>
            </a:r>
          </a:p>
          <a:p>
            <a:pPr marL="285750" indent="-285750">
              <a:buFont typeface="Arial" panose="020B0604020202020204" pitchFamily="34" charset="0"/>
              <a:buChar char="•"/>
            </a:pPr>
            <a:r>
              <a:rPr lang="en-IN" dirty="0"/>
              <a:t>The </a:t>
            </a:r>
            <a:r>
              <a:rPr lang="en-IN" b="1" dirty="0"/>
              <a:t>zoom</a:t>
            </a:r>
            <a:r>
              <a:rPr lang="en-IN" dirty="0"/>
              <a:t> property specifies the zoom level for the map </a:t>
            </a:r>
          </a:p>
          <a:p>
            <a:endParaRPr lang="en-IN" sz="2000" dirty="0"/>
          </a:p>
          <a:p>
            <a:pPr marL="285750" indent="-285750">
              <a:buFont typeface="Arial" panose="020B0604020202020204" pitchFamily="34" charset="0"/>
              <a:buChar char="•"/>
            </a:pPr>
            <a:r>
              <a:rPr lang="en-IN" dirty="0"/>
              <a:t>The line: </a:t>
            </a:r>
            <a:r>
              <a:rPr lang="en-IN" b="1" dirty="0"/>
              <a:t>var map=new </a:t>
            </a:r>
            <a:r>
              <a:rPr lang="en-IN" b="1" dirty="0" err="1"/>
              <a:t>google.maps.Map</a:t>
            </a:r>
            <a:r>
              <a:rPr lang="en-IN" b="1" dirty="0"/>
              <a:t>(</a:t>
            </a:r>
            <a:r>
              <a:rPr lang="en-IN" b="1" dirty="0" err="1"/>
              <a:t>document.getElementById</a:t>
            </a:r>
            <a:r>
              <a:rPr lang="en-IN" b="1" dirty="0"/>
              <a:t>("</a:t>
            </a:r>
            <a:r>
              <a:rPr lang="en-IN" b="1" dirty="0" err="1"/>
              <a:t>googleMap</a:t>
            </a:r>
            <a:r>
              <a:rPr lang="en-IN" b="1" dirty="0"/>
              <a:t>"), </a:t>
            </a:r>
            <a:r>
              <a:rPr lang="en-IN" b="1" dirty="0" err="1"/>
              <a:t>mapProp</a:t>
            </a:r>
            <a:r>
              <a:rPr lang="en-IN" b="1" dirty="0"/>
              <a:t>);</a:t>
            </a:r>
            <a:r>
              <a:rPr lang="en-IN" dirty="0"/>
              <a:t> creates a new map inside the &lt;div&gt; element with id="</a:t>
            </a:r>
            <a:r>
              <a:rPr lang="en-IN" dirty="0" err="1"/>
              <a:t>googleMap</a:t>
            </a:r>
            <a:r>
              <a:rPr lang="en-IN" dirty="0"/>
              <a:t>", using the parameters that are passed (</a:t>
            </a:r>
            <a:r>
              <a:rPr lang="en-IN" dirty="0" err="1"/>
              <a:t>mapProp</a:t>
            </a:r>
            <a:r>
              <a:rPr lang="en-IN" dirty="0"/>
              <a:t>).</a:t>
            </a:r>
          </a:p>
          <a:p>
            <a:endParaRPr lang="en-IN" sz="2000" dirty="0"/>
          </a:p>
        </p:txBody>
      </p:sp>
    </p:spTree>
    <p:extLst>
      <p:ext uri="{BB962C8B-B14F-4D97-AF65-F5344CB8AC3E}">
        <p14:creationId xmlns:p14="http://schemas.microsoft.com/office/powerpoint/2010/main" val="8218538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DC87-E097-0ECF-1AD3-95827F1FC4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B7D02E-BC6F-BE0E-25FE-188474B514DF}"/>
              </a:ext>
            </a:extLst>
          </p:cNvPr>
          <p:cNvSpPr txBox="1"/>
          <p:nvPr/>
        </p:nvSpPr>
        <p:spPr>
          <a:xfrm>
            <a:off x="528918" y="421341"/>
            <a:ext cx="11143129" cy="5570756"/>
          </a:xfrm>
          <a:prstGeom prst="rect">
            <a:avLst/>
          </a:prstGeom>
          <a:noFill/>
        </p:spPr>
        <p:txBody>
          <a:bodyPr wrap="square" rtlCol="0">
            <a:spAutoFit/>
          </a:bodyPr>
          <a:lstStyle/>
          <a:p>
            <a:r>
              <a:rPr lang="en-US" b="1" dirty="0"/>
              <a:t>&lt;audio&gt; Tag:</a:t>
            </a:r>
            <a:endParaRPr lang="en-US" sz="2400" dirty="0"/>
          </a:p>
          <a:p>
            <a:endParaRPr lang="en-US" sz="2000" dirty="0"/>
          </a:p>
          <a:p>
            <a:pPr marL="285750" indent="-285750">
              <a:buFont typeface="Arial" panose="020B0604020202020204" pitchFamily="34" charset="0"/>
              <a:buChar char="•"/>
            </a:pPr>
            <a:r>
              <a:rPr lang="en-IN" b="1" dirty="0"/>
              <a:t>The &lt;audio&gt; tag</a:t>
            </a:r>
            <a:r>
              <a:rPr lang="en-IN" dirty="0"/>
              <a:t> is an inline element that is used to embed sound files into a web page. </a:t>
            </a:r>
          </a:p>
          <a:p>
            <a:endParaRPr lang="en-US" sz="2000" dirty="0"/>
          </a:p>
          <a:p>
            <a:pPr lvl="2"/>
            <a:r>
              <a:rPr lang="en-IN" sz="1600" dirty="0">
                <a:solidFill>
                  <a:srgbClr val="999999"/>
                </a:solidFill>
                <a:effectLst/>
              </a:rPr>
              <a:t>&lt;</a:t>
            </a:r>
            <a:r>
              <a:rPr lang="en-IN" sz="1600" dirty="0">
                <a:solidFill>
                  <a:srgbClr val="990055"/>
                </a:solidFill>
                <a:effectLst/>
              </a:rPr>
              <a:t>audio</a:t>
            </a:r>
            <a:r>
              <a:rPr lang="en-IN" sz="1600" dirty="0">
                <a:solidFill>
                  <a:srgbClr val="008000"/>
                </a:solidFill>
                <a:effectLst/>
              </a:rPr>
              <a:t> controls</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source</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="horse.ogg"</a:t>
            </a:r>
            <a:r>
              <a:rPr lang="en-IN" sz="1600" dirty="0">
                <a:solidFill>
                  <a:srgbClr val="008000"/>
                </a:solidFill>
                <a:effectLst/>
              </a:rPr>
              <a:t> type</a:t>
            </a:r>
            <a:r>
              <a:rPr lang="en-IN" sz="1600" dirty="0">
                <a:solidFill>
                  <a:srgbClr val="005CC5"/>
                </a:solidFill>
                <a:effectLst/>
              </a:rPr>
              <a:t>="audio/</a:t>
            </a:r>
            <a:r>
              <a:rPr lang="en-IN" sz="1600" dirty="0" err="1">
                <a:solidFill>
                  <a:srgbClr val="005CC5"/>
                </a:solidFill>
                <a:effectLst/>
              </a:rPr>
              <a:t>ogg</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source</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="horse.mp3"</a:t>
            </a:r>
            <a:r>
              <a:rPr lang="en-IN" sz="1600" dirty="0">
                <a:solidFill>
                  <a:srgbClr val="008000"/>
                </a:solidFill>
                <a:effectLst/>
              </a:rPr>
              <a:t> type</a:t>
            </a:r>
            <a:r>
              <a:rPr lang="en-IN" sz="1600" dirty="0">
                <a:solidFill>
                  <a:srgbClr val="005CC5"/>
                </a:solidFill>
                <a:effectLst/>
              </a:rPr>
              <a:t>="audio/mpeg"</a:t>
            </a:r>
            <a:r>
              <a:rPr lang="en-IN" sz="1600" dirty="0">
                <a:solidFill>
                  <a:srgbClr val="999999"/>
                </a:solidFill>
                <a:effectLst/>
              </a:rPr>
              <a:t>&gt;</a:t>
            </a:r>
            <a:br>
              <a:rPr lang="en-IN" sz="1600" dirty="0"/>
            </a:br>
            <a:r>
              <a:rPr lang="en-IN" sz="1600" dirty="0"/>
              <a:t>Your browser does not support the audio element.</a:t>
            </a:r>
            <a:br>
              <a:rPr lang="en-IN" sz="1600" dirty="0"/>
            </a:br>
            <a:r>
              <a:rPr lang="en-IN" sz="1600" dirty="0">
                <a:solidFill>
                  <a:srgbClr val="999999"/>
                </a:solidFill>
                <a:effectLst/>
              </a:rPr>
              <a:t>&lt;</a:t>
            </a:r>
            <a:r>
              <a:rPr lang="en-IN" sz="1600" dirty="0">
                <a:solidFill>
                  <a:srgbClr val="990055"/>
                </a:solidFill>
                <a:effectLst/>
              </a:rPr>
              <a:t>/audio</a:t>
            </a:r>
            <a:r>
              <a:rPr lang="en-IN" sz="1600" dirty="0">
                <a:solidFill>
                  <a:srgbClr val="999999"/>
                </a:solidFill>
                <a:effectLst/>
              </a:rPr>
              <a:t>&gt;</a:t>
            </a:r>
            <a:r>
              <a:rPr lang="en-IN" sz="1600" dirty="0"/>
              <a:t> </a:t>
            </a:r>
          </a:p>
          <a:p>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controls</a:t>
            </a:r>
            <a:r>
              <a:rPr lang="en-US" sz="2000" dirty="0"/>
              <a:t> attribute adds audio controls, like play, pause, and volume.</a:t>
            </a:r>
          </a:p>
          <a:p>
            <a:pPr marL="342900" indent="-342900" algn="just">
              <a:buFont typeface="Arial" panose="020B0604020202020204" pitchFamily="34" charset="0"/>
              <a:buChar char="•"/>
            </a:pPr>
            <a:r>
              <a:rPr lang="en-US" sz="2000" dirty="0"/>
              <a:t>The </a:t>
            </a:r>
            <a:r>
              <a:rPr lang="en-US" sz="2000" dirty="0">
                <a:solidFill>
                  <a:srgbClr val="FF0000"/>
                </a:solidFill>
              </a:rPr>
              <a:t>&lt;source&gt; </a:t>
            </a:r>
            <a:r>
              <a:rPr lang="en-US" sz="2000" dirty="0"/>
              <a:t>element allows you to specify alternative audio files which the browser may choose from. The browser will use the first recognized format.</a:t>
            </a:r>
          </a:p>
          <a:p>
            <a:pPr marL="342900" indent="-342900" algn="just">
              <a:buFont typeface="Arial" panose="020B0604020202020204" pitchFamily="34" charset="0"/>
              <a:buChar char="•"/>
            </a:pPr>
            <a:r>
              <a:rPr lang="en-US" sz="2000" dirty="0"/>
              <a:t>The text between the &lt;audio&gt; and &lt;/audio&gt; tags will only be displayed in browsers that do not support the &lt;audio&gt; element.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To start an audio file automatically, use the </a:t>
            </a:r>
            <a:r>
              <a:rPr lang="en-US" sz="2000" dirty="0">
                <a:solidFill>
                  <a:srgbClr val="FF0000"/>
                </a:solidFill>
              </a:rPr>
              <a:t>autoplay</a:t>
            </a:r>
            <a:r>
              <a:rPr lang="en-US" sz="2000" dirty="0"/>
              <a:t> attribute</a:t>
            </a:r>
          </a:p>
          <a:p>
            <a:pPr algn="just"/>
            <a:r>
              <a:rPr lang="en-IN" sz="2000" dirty="0">
                <a:solidFill>
                  <a:srgbClr val="999999"/>
                </a:solidFill>
                <a:effectLst/>
              </a:rPr>
              <a:t>	&lt;</a:t>
            </a:r>
            <a:r>
              <a:rPr lang="en-IN" sz="2000" dirty="0">
                <a:solidFill>
                  <a:srgbClr val="990055"/>
                </a:solidFill>
                <a:effectLst/>
              </a:rPr>
              <a:t>audio</a:t>
            </a:r>
            <a:r>
              <a:rPr lang="en-IN" sz="2000" dirty="0">
                <a:solidFill>
                  <a:srgbClr val="008000"/>
                </a:solidFill>
                <a:effectLst/>
              </a:rPr>
              <a:t> controls autoplay</a:t>
            </a:r>
            <a:r>
              <a:rPr lang="en-IN" sz="2000" dirty="0">
                <a:solidFill>
                  <a:srgbClr val="999999"/>
                </a:solidFill>
                <a:effectLst/>
              </a:rPr>
              <a:t>&gt;</a:t>
            </a:r>
            <a:endParaRPr lang="en-US" sz="2000" dirty="0"/>
          </a:p>
          <a:p>
            <a:endParaRPr lang="en-IN" sz="2000" dirty="0"/>
          </a:p>
        </p:txBody>
      </p:sp>
    </p:spTree>
    <p:extLst>
      <p:ext uri="{BB962C8B-B14F-4D97-AF65-F5344CB8AC3E}">
        <p14:creationId xmlns:p14="http://schemas.microsoft.com/office/powerpoint/2010/main" val="372480026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59882-81F0-FE0F-D23D-27C36E10EC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1145FD-AD41-E8BB-DAD2-F1D08C0B733F}"/>
              </a:ext>
            </a:extLst>
          </p:cNvPr>
          <p:cNvSpPr txBox="1"/>
          <p:nvPr/>
        </p:nvSpPr>
        <p:spPr>
          <a:xfrm>
            <a:off x="528918" y="421341"/>
            <a:ext cx="11143129" cy="6447278"/>
          </a:xfrm>
          <a:prstGeom prst="rect">
            <a:avLst/>
          </a:prstGeom>
          <a:noFill/>
        </p:spPr>
        <p:txBody>
          <a:bodyPr wrap="square" rtlCol="0">
            <a:spAutoFit/>
          </a:bodyPr>
          <a:lstStyle/>
          <a:p>
            <a:r>
              <a:rPr lang="en-IN" b="1" dirty="0"/>
              <a:t>HTML5 Video</a:t>
            </a:r>
            <a:endParaRPr lang="en-US" sz="2400" dirty="0"/>
          </a:p>
          <a:p>
            <a:endParaRPr lang="en-US" sz="2000" dirty="0"/>
          </a:p>
          <a:p>
            <a:pPr marL="285750" indent="-285750" algn="just">
              <a:buFont typeface="Arial" panose="020B0604020202020204" pitchFamily="34" charset="0"/>
              <a:buChar char="•"/>
            </a:pPr>
            <a:r>
              <a:rPr lang="en-IN" b="1" dirty="0"/>
              <a:t>The &lt;video&gt; element</a:t>
            </a:r>
            <a:r>
              <a:rPr lang="en-IN" dirty="0"/>
              <a:t> is used to embed video content on the web page. It allows the addition of video files in many formats.</a:t>
            </a:r>
          </a:p>
          <a:p>
            <a:pPr marL="285750" indent="-285750" algn="just">
              <a:buFont typeface="Arial" panose="020B0604020202020204" pitchFamily="34" charset="0"/>
              <a:buChar char="•"/>
            </a:pPr>
            <a:r>
              <a:rPr lang="en-IN" dirty="0"/>
              <a:t>This element supports attributes like </a:t>
            </a:r>
            <a:r>
              <a:rPr lang="en-IN" u="sng" dirty="0">
                <a:hlinkClick r:id="rId2"/>
              </a:rPr>
              <a:t>controls</a:t>
            </a:r>
            <a:r>
              <a:rPr lang="en-IN" dirty="0"/>
              <a:t>, </a:t>
            </a:r>
            <a:r>
              <a:rPr lang="en-IN" u="sng" dirty="0">
                <a:hlinkClick r:id="rId3"/>
              </a:rPr>
              <a:t>autoplay</a:t>
            </a:r>
            <a:r>
              <a:rPr lang="en-IN" dirty="0"/>
              <a:t>, and loop to control </a:t>
            </a:r>
            <a:r>
              <a:rPr lang="en-IN" u="sng" dirty="0">
                <a:hlinkClick r:id="rId4"/>
              </a:rPr>
              <a:t>video playback</a:t>
            </a:r>
            <a:r>
              <a:rPr lang="en-IN" dirty="0"/>
              <a:t>. It also enables the addition of captions and subtitles for accessibility.</a:t>
            </a:r>
          </a:p>
          <a:p>
            <a:pPr lvl="1">
              <a:lnSpc>
                <a:spcPct val="107000"/>
              </a:lnSpc>
              <a:spcAft>
                <a:spcPts val="800"/>
              </a:spcAft>
            </a:pP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video</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width</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="320"</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height</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="240"</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controls</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source</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src</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="movie.mp4"</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type</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="video/mp4"&gt;</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source</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kern="100" dirty="0" err="1">
                <a:solidFill>
                  <a:srgbClr val="FF0000"/>
                </a:solidFill>
                <a:effectLst/>
                <a:latin typeface="Calibri" panose="020F0502020204030204" pitchFamily="34" charset="0"/>
                <a:ea typeface="Calibri" panose="020F0502020204030204" pitchFamily="34" charset="0"/>
                <a:cs typeface="Calibri" panose="020F0502020204030204" pitchFamily="34" charset="0"/>
              </a:rPr>
              <a:t>src</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="movie.ogg"</a:t>
            </a:r>
            <a:r>
              <a:rPr lang="en-IN" kern="1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type</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="video/</a:t>
            </a:r>
            <a:r>
              <a:rPr lang="en-IN" kern="100" dirty="0" err="1">
                <a:solidFill>
                  <a:srgbClr val="0000CD"/>
                </a:solidFill>
                <a:effectLst/>
                <a:latin typeface="Calibri" panose="020F0502020204030204" pitchFamily="34" charset="0"/>
                <a:ea typeface="Calibri" panose="020F0502020204030204" pitchFamily="34" charset="0"/>
                <a:cs typeface="Calibri" panose="020F0502020204030204" pitchFamily="34" charset="0"/>
              </a:rPr>
              <a:t>ogg</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Your browser does not support the video tag.</a:t>
            </a:r>
            <a:br>
              <a:rPr lang="en-IN"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&lt;</a:t>
            </a:r>
            <a:r>
              <a:rPr lang="en-IN" kern="100" dirty="0">
                <a:solidFill>
                  <a:srgbClr val="A52A2A"/>
                </a:solidFill>
                <a:effectLst/>
                <a:latin typeface="Calibri" panose="020F0502020204030204" pitchFamily="34" charset="0"/>
                <a:ea typeface="Calibri" panose="020F0502020204030204" pitchFamily="34" charset="0"/>
                <a:cs typeface="Calibri" panose="020F0502020204030204" pitchFamily="34" charset="0"/>
              </a:rPr>
              <a:t>/video</a:t>
            </a:r>
            <a:r>
              <a:rPr lang="en-IN" kern="100" dirty="0">
                <a:solidFill>
                  <a:srgbClr val="0000CD"/>
                </a:solidFill>
                <a:effectLst/>
                <a:latin typeface="Calibri" panose="020F0502020204030204" pitchFamily="34" charset="0"/>
                <a:ea typeface="Calibri" panose="020F0502020204030204" pitchFamily="34" charset="0"/>
                <a:cs typeface="Calibri" panose="020F0502020204030204" pitchFamily="34" charset="0"/>
              </a:rPr>
              <a:t>&gt;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US" sz="2000" dirty="0"/>
              <a:t>The </a:t>
            </a:r>
            <a:r>
              <a:rPr lang="en-US" sz="2000" dirty="0">
                <a:solidFill>
                  <a:srgbClr val="FF0000"/>
                </a:solidFill>
              </a:rPr>
              <a:t>controls</a:t>
            </a:r>
            <a:r>
              <a:rPr lang="en-US" sz="2000" dirty="0"/>
              <a:t> attribute adds video controls, like play, pause, and volume.</a:t>
            </a:r>
          </a:p>
          <a:p>
            <a:pPr marL="342900" indent="-342900" algn="just">
              <a:buFont typeface="Arial" panose="020B0604020202020204" pitchFamily="34" charset="0"/>
              <a:buChar char="•"/>
            </a:pPr>
            <a:r>
              <a:rPr lang="en-US" sz="2000" dirty="0"/>
              <a:t>It is a good idea to always include </a:t>
            </a:r>
            <a:r>
              <a:rPr lang="en-US" sz="2000" dirty="0">
                <a:solidFill>
                  <a:srgbClr val="FF0000"/>
                </a:solidFill>
              </a:rPr>
              <a:t>width</a:t>
            </a:r>
            <a:r>
              <a:rPr lang="en-US" sz="2000" dirty="0"/>
              <a:t> and </a:t>
            </a:r>
            <a:r>
              <a:rPr lang="en-US" sz="2000" dirty="0">
                <a:solidFill>
                  <a:srgbClr val="FF0000"/>
                </a:solidFill>
              </a:rPr>
              <a:t>height</a:t>
            </a:r>
            <a:r>
              <a:rPr lang="en-US" sz="2000" dirty="0"/>
              <a:t> attributes. If height and width are not set, the page might flicker while the video loads.</a:t>
            </a:r>
          </a:p>
          <a:p>
            <a:pPr marL="342900" indent="-342900" algn="just">
              <a:buFont typeface="Arial" panose="020B0604020202020204" pitchFamily="34" charset="0"/>
              <a:buChar char="•"/>
            </a:pPr>
            <a:r>
              <a:rPr lang="en-US" sz="2000" dirty="0"/>
              <a:t>The </a:t>
            </a:r>
            <a:r>
              <a:rPr lang="en-US" sz="2000" dirty="0">
                <a:solidFill>
                  <a:srgbClr val="FF0000"/>
                </a:solidFill>
              </a:rPr>
              <a:t>&lt;source&gt;</a:t>
            </a:r>
            <a:r>
              <a:rPr lang="en-US" sz="2000" dirty="0"/>
              <a:t> element allows you to specify alternative video files which the browser may choose from. The browser will use the first recognized format.</a:t>
            </a:r>
          </a:p>
          <a:p>
            <a:pPr marL="342900" indent="-342900" algn="just">
              <a:buFont typeface="Arial" panose="020B0604020202020204" pitchFamily="34" charset="0"/>
              <a:buChar char="•"/>
            </a:pPr>
            <a:r>
              <a:rPr lang="en-US" sz="2000" dirty="0"/>
              <a:t>The text between the </a:t>
            </a:r>
            <a:r>
              <a:rPr lang="en-US" sz="2000" dirty="0">
                <a:solidFill>
                  <a:srgbClr val="FF0000"/>
                </a:solidFill>
              </a:rPr>
              <a:t>&lt;video&gt; </a:t>
            </a:r>
            <a:r>
              <a:rPr lang="en-US" sz="2000" dirty="0"/>
              <a:t>and </a:t>
            </a:r>
            <a:r>
              <a:rPr lang="en-US" sz="2000" dirty="0">
                <a:solidFill>
                  <a:srgbClr val="FF0000"/>
                </a:solidFill>
              </a:rPr>
              <a:t>&lt;/video&gt; </a:t>
            </a:r>
            <a:r>
              <a:rPr lang="en-US" sz="2000" dirty="0"/>
              <a:t>tags will only be displayed in browsers that do not support the &lt;video&gt; element.</a:t>
            </a:r>
          </a:p>
          <a:p>
            <a:endParaRPr lang="en-US" sz="2000" dirty="0"/>
          </a:p>
          <a:p>
            <a:endParaRPr lang="en-US" sz="2000" dirty="0"/>
          </a:p>
          <a:p>
            <a:endParaRPr lang="en-IN" sz="2000" dirty="0"/>
          </a:p>
        </p:txBody>
      </p:sp>
    </p:spTree>
    <p:extLst>
      <p:ext uri="{BB962C8B-B14F-4D97-AF65-F5344CB8AC3E}">
        <p14:creationId xmlns:p14="http://schemas.microsoft.com/office/powerpoint/2010/main" val="16448392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C32C8-D4E8-6E96-653F-3174BA9450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C822A0-12BF-1584-0AD5-95F2D19BA2C7}"/>
              </a:ext>
            </a:extLst>
          </p:cNvPr>
          <p:cNvSpPr txBox="1"/>
          <p:nvPr/>
        </p:nvSpPr>
        <p:spPr>
          <a:xfrm>
            <a:off x="528918" y="421341"/>
            <a:ext cx="11143129" cy="5570756"/>
          </a:xfrm>
          <a:prstGeom prst="rect">
            <a:avLst/>
          </a:prstGeom>
          <a:noFill/>
        </p:spPr>
        <p:txBody>
          <a:bodyPr wrap="square" rtlCol="0">
            <a:spAutoFit/>
          </a:bodyPr>
          <a:lstStyle/>
          <a:p>
            <a:r>
              <a:rPr lang="en-US" b="1" dirty="0"/>
              <a:t>BOOTSTRAP</a:t>
            </a:r>
            <a:endParaRPr lang="en-US" sz="2400" dirty="0"/>
          </a:p>
          <a:p>
            <a:endParaRPr lang="en-US" sz="2000" dirty="0"/>
          </a:p>
          <a:p>
            <a:pPr marL="285750" indent="-285750" algn="just">
              <a:buFont typeface="Arial" panose="020B0604020202020204" pitchFamily="34" charset="0"/>
              <a:buChar char="•"/>
            </a:pPr>
            <a:r>
              <a:rPr lang="en-IN" sz="2000" dirty="0"/>
              <a:t>Bootstrap is a free and open-source tool collection for creating responsive websites and web applications. </a:t>
            </a:r>
          </a:p>
          <a:p>
            <a:pPr marL="285750" indent="-285750" algn="just">
              <a:buFont typeface="Arial" panose="020B0604020202020204" pitchFamily="34" charset="0"/>
              <a:buChar char="•"/>
            </a:pPr>
            <a:r>
              <a:rPr lang="en-IN" sz="2000" dirty="0"/>
              <a:t>It is the most popular </a:t>
            </a:r>
            <a:r>
              <a:rPr lang="en-IN" sz="2000" u="sng" dirty="0">
                <a:hlinkClick r:id="rId2"/>
              </a:rPr>
              <a:t>HTML</a:t>
            </a:r>
            <a:r>
              <a:rPr lang="en-IN" sz="2000" dirty="0"/>
              <a:t>, </a:t>
            </a:r>
            <a:r>
              <a:rPr lang="en-IN" sz="2000" u="sng" dirty="0">
                <a:hlinkClick r:id="rId3"/>
              </a:rPr>
              <a:t>CSS</a:t>
            </a:r>
            <a:r>
              <a:rPr lang="en-IN" sz="2000" dirty="0"/>
              <a:t>, and </a:t>
            </a:r>
            <a:r>
              <a:rPr lang="en-IN" sz="2000" u="sng" dirty="0">
                <a:hlinkClick r:id="rId4"/>
              </a:rPr>
              <a:t>JavaScript</a:t>
            </a:r>
            <a:r>
              <a:rPr lang="en-IN" sz="2000" dirty="0"/>
              <a:t> framework for developing responsive, mobile-first websites.</a:t>
            </a:r>
          </a:p>
          <a:p>
            <a:pPr marL="285750" indent="-285750" algn="just">
              <a:buFont typeface="Arial" panose="020B0604020202020204" pitchFamily="34" charset="0"/>
              <a:buChar char="•"/>
            </a:pPr>
            <a:r>
              <a:rPr lang="en-IN" sz="2000" dirty="0"/>
              <a:t>By using this framework we can easily manipulate the styling of any web page, like font style, text </a:t>
            </a:r>
            <a:r>
              <a:rPr lang="en-IN" sz="2000" dirty="0" err="1"/>
              <a:t>color</a:t>
            </a:r>
            <a:r>
              <a:rPr lang="en-IN" sz="2000" dirty="0"/>
              <a:t>, background </a:t>
            </a:r>
            <a:r>
              <a:rPr lang="en-IN" sz="2000" dirty="0" err="1"/>
              <a:t>color</a:t>
            </a:r>
            <a:r>
              <a:rPr lang="en-IN" sz="2000" dirty="0"/>
              <a:t>, flex, grid system, etc. </a:t>
            </a:r>
          </a:p>
          <a:p>
            <a:pPr algn="just"/>
            <a:endParaRPr lang="en-IN" sz="2000" dirty="0"/>
          </a:p>
          <a:p>
            <a:pPr algn="just"/>
            <a:r>
              <a:rPr lang="en-IN" sz="2000" b="1" dirty="0"/>
              <a:t>Features:</a:t>
            </a:r>
          </a:p>
          <a:p>
            <a:pPr marL="742950" lvl="1" indent="-285750" algn="just" fontAlgn="base">
              <a:buFont typeface="Arial" panose="020B0604020202020204" pitchFamily="34" charset="0"/>
              <a:buChar char="•"/>
            </a:pPr>
            <a:r>
              <a:rPr lang="en-IN" sz="2000" dirty="0"/>
              <a:t>It is Faster and Easier way for Web-Development.</a:t>
            </a:r>
          </a:p>
          <a:p>
            <a:pPr marL="742950" lvl="1" indent="-285750" algn="just" fontAlgn="base">
              <a:buFont typeface="Arial" panose="020B0604020202020204" pitchFamily="34" charset="0"/>
              <a:buChar char="•"/>
            </a:pPr>
            <a:r>
              <a:rPr lang="en-IN" sz="2000" dirty="0"/>
              <a:t>It creates Platform-independent web-pages.</a:t>
            </a:r>
          </a:p>
          <a:p>
            <a:pPr marL="742950" lvl="1" indent="-285750" algn="just" fontAlgn="base">
              <a:buFont typeface="Arial" panose="020B0604020202020204" pitchFamily="34" charset="0"/>
              <a:buChar char="•"/>
            </a:pPr>
            <a:r>
              <a:rPr lang="en-IN" sz="2000" dirty="0"/>
              <a:t>It creates Responsive Web-pages.</a:t>
            </a:r>
          </a:p>
          <a:p>
            <a:pPr marL="742950" lvl="1" indent="-285750" algn="just" fontAlgn="base">
              <a:buFont typeface="Arial" panose="020B0604020202020204" pitchFamily="34" charset="0"/>
              <a:buChar char="•"/>
            </a:pPr>
            <a:r>
              <a:rPr lang="en-IN" sz="2000" dirty="0"/>
              <a:t>It designs responsive web pages for mobile devices too.</a:t>
            </a:r>
          </a:p>
          <a:p>
            <a:pPr marL="742950" lvl="1" indent="-285750" algn="just" fontAlgn="base">
              <a:buFont typeface="Arial" panose="020B0604020202020204" pitchFamily="34" charset="0"/>
              <a:buChar char="•"/>
            </a:pPr>
            <a:r>
              <a:rPr lang="en-IN" sz="2000" dirty="0"/>
              <a:t>It is a free and open-source framework available on </a:t>
            </a:r>
            <a:r>
              <a:rPr lang="en-IN" sz="2000" dirty="0">
                <a:solidFill>
                  <a:srgbClr val="00B0F0"/>
                </a:solidFill>
              </a:rPr>
              <a:t>www.getbootstrap.com</a:t>
            </a:r>
          </a:p>
          <a:p>
            <a:endParaRPr lang="en-US" sz="2000" dirty="0"/>
          </a:p>
          <a:p>
            <a:endParaRPr lang="en-US" sz="2000" dirty="0"/>
          </a:p>
          <a:p>
            <a:endParaRPr lang="en-IN" sz="2000" dirty="0"/>
          </a:p>
        </p:txBody>
      </p:sp>
    </p:spTree>
    <p:extLst>
      <p:ext uri="{BB962C8B-B14F-4D97-AF65-F5344CB8AC3E}">
        <p14:creationId xmlns:p14="http://schemas.microsoft.com/office/powerpoint/2010/main" val="33377186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F0FAC-DCF1-5DB8-9113-CC8D19C54B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123536-1F75-9C9D-F22D-1BD4F1145B46}"/>
              </a:ext>
            </a:extLst>
          </p:cNvPr>
          <p:cNvSpPr txBox="1"/>
          <p:nvPr/>
        </p:nvSpPr>
        <p:spPr>
          <a:xfrm>
            <a:off x="528918" y="421341"/>
            <a:ext cx="11143129" cy="6001643"/>
          </a:xfrm>
          <a:prstGeom prst="rect">
            <a:avLst/>
          </a:prstGeom>
          <a:noFill/>
        </p:spPr>
        <p:txBody>
          <a:bodyPr wrap="square" rtlCol="0">
            <a:spAutoFit/>
          </a:bodyPr>
          <a:lstStyle/>
          <a:p>
            <a:pPr fontAlgn="base"/>
            <a:r>
              <a:rPr lang="en-IN" sz="2400" b="1" dirty="0"/>
              <a:t>Applications:</a:t>
            </a:r>
            <a:endParaRPr lang="en-IN" sz="2400" dirty="0"/>
          </a:p>
          <a:p>
            <a:pPr marL="285750" lvl="0" indent="-285750" algn="just" fontAlgn="base">
              <a:buFont typeface="Arial" panose="020B0604020202020204" pitchFamily="34" charset="0"/>
              <a:buChar char="•"/>
            </a:pPr>
            <a:endParaRPr lang="en-IN" sz="2000" b="1" dirty="0"/>
          </a:p>
          <a:p>
            <a:pPr marL="285750" lvl="0" indent="-285750" algn="just" fontAlgn="base">
              <a:buFont typeface="Arial" panose="020B0604020202020204" pitchFamily="34" charset="0"/>
              <a:buChar char="•"/>
            </a:pPr>
            <a:r>
              <a:rPr lang="en-IN" sz="2000" b="1" dirty="0"/>
              <a:t>Responsive Web Design</a:t>
            </a:r>
            <a:r>
              <a:rPr lang="en-IN" sz="2000" dirty="0"/>
              <a:t>: Bootstrap empowers developers to create websites that seamlessly adapt to </a:t>
            </a:r>
            <a:r>
              <a:rPr lang="en-IN" sz="2000" dirty="0">
                <a:solidFill>
                  <a:srgbClr val="FF0000"/>
                </a:solidFill>
              </a:rPr>
              <a:t>different screen sizes and devices</a:t>
            </a:r>
            <a:r>
              <a:rPr lang="en-IN" sz="2000" dirty="0"/>
              <a:t>, providing a consistent and optimal user experience.</a:t>
            </a:r>
          </a:p>
          <a:p>
            <a:pPr marL="285750" lvl="0" indent="-285750" algn="just" fontAlgn="base">
              <a:buFont typeface="Arial" panose="020B0604020202020204" pitchFamily="34" charset="0"/>
              <a:buChar char="•"/>
            </a:pPr>
            <a:r>
              <a:rPr lang="en-IN" sz="2000" b="1" dirty="0"/>
              <a:t>Mobile-First Development</a:t>
            </a:r>
            <a:r>
              <a:rPr lang="en-IN" sz="2000" dirty="0"/>
              <a:t>: Bootstrap’s mobile-first approach ensures that websites are designed and </a:t>
            </a:r>
            <a:r>
              <a:rPr lang="en-IN" sz="2000" dirty="0">
                <a:solidFill>
                  <a:srgbClr val="FF0000"/>
                </a:solidFill>
              </a:rPr>
              <a:t>optimized for mobile devices</a:t>
            </a:r>
            <a:r>
              <a:rPr lang="en-IN" sz="2000" dirty="0"/>
              <a:t>, catering to the increasing usage of smartphones and tablets.</a:t>
            </a:r>
          </a:p>
          <a:p>
            <a:pPr marL="285750" lvl="0" indent="-285750" algn="just" fontAlgn="base">
              <a:buFont typeface="Arial" panose="020B0604020202020204" pitchFamily="34" charset="0"/>
              <a:buChar char="•"/>
            </a:pPr>
            <a:r>
              <a:rPr lang="en-IN" sz="2000" b="1" dirty="0"/>
              <a:t>Efficient Prototyping</a:t>
            </a:r>
            <a:r>
              <a:rPr lang="en-IN" sz="2000" dirty="0"/>
              <a:t>: With its extensive collection of </a:t>
            </a:r>
            <a:r>
              <a:rPr lang="en-IN" sz="2000" dirty="0">
                <a:solidFill>
                  <a:srgbClr val="FF0000"/>
                </a:solidFill>
              </a:rPr>
              <a:t>pre-designed components and templates</a:t>
            </a:r>
            <a:r>
              <a:rPr lang="en-IN" sz="2000" dirty="0"/>
              <a:t>, Bootstrap facilitates rapid prototyping, enabling developers to quickly create functional website layouts and UIs.</a:t>
            </a:r>
          </a:p>
          <a:p>
            <a:pPr marL="285750" lvl="0" indent="-285750" algn="just" fontAlgn="base">
              <a:buFont typeface="Arial" panose="020B0604020202020204" pitchFamily="34" charset="0"/>
              <a:buChar char="•"/>
            </a:pPr>
            <a:endParaRPr lang="en-IN" sz="2000" b="1" dirty="0"/>
          </a:p>
          <a:p>
            <a:pPr marL="285750" lvl="0" indent="-285750" algn="just" fontAlgn="base">
              <a:buFont typeface="Arial" panose="020B0604020202020204" pitchFamily="34" charset="0"/>
              <a:buChar char="•"/>
            </a:pPr>
            <a:r>
              <a:rPr lang="en-IN" sz="2000" b="1" dirty="0"/>
              <a:t>Consistent Cross-Browser Compatibility</a:t>
            </a:r>
            <a:r>
              <a:rPr lang="en-IN" sz="2000" dirty="0"/>
              <a:t>: Bootstrap’s standardized CSS and JavaScript codebase ensures consistent rendering and functionality across various web browsers, saving developers time and effort in browser-specific troubleshooting.</a:t>
            </a:r>
          </a:p>
          <a:p>
            <a:pPr marL="285750" lvl="0" indent="-285750" algn="just" fontAlgn="base">
              <a:buFont typeface="Arial" panose="020B0604020202020204" pitchFamily="34" charset="0"/>
              <a:buChar char="•"/>
            </a:pPr>
            <a:r>
              <a:rPr lang="en-IN" sz="2000" b="1" dirty="0"/>
              <a:t>Customizable Themes and Styling</a:t>
            </a:r>
            <a:r>
              <a:rPr lang="en-IN" sz="2000" dirty="0"/>
              <a:t>: Bootstrap offers a wide range of customizable themes and styles, allowing developers to create visually appealing and unique designs that align with their brand or project requirements.</a:t>
            </a:r>
          </a:p>
          <a:p>
            <a:pPr marL="285750" lvl="0" indent="-285750" algn="just" fontAlgn="base">
              <a:buFont typeface="Arial" panose="020B0604020202020204" pitchFamily="34" charset="0"/>
              <a:buChar char="•"/>
            </a:pPr>
            <a:r>
              <a:rPr lang="en-IN" sz="2000" b="1" dirty="0"/>
              <a:t>Time and Cost Efficiency</a:t>
            </a:r>
            <a:r>
              <a:rPr lang="en-IN" sz="2000" dirty="0"/>
              <a:t>: By leveraging the power of Bootstrap, developers can save significant time and effort in front-end development, resulting in faster project delivery and cost savings.</a:t>
            </a:r>
          </a:p>
          <a:p>
            <a:endParaRPr lang="en-IN" sz="2000" dirty="0"/>
          </a:p>
        </p:txBody>
      </p:sp>
    </p:spTree>
    <p:extLst>
      <p:ext uri="{BB962C8B-B14F-4D97-AF65-F5344CB8AC3E}">
        <p14:creationId xmlns:p14="http://schemas.microsoft.com/office/powerpoint/2010/main" val="419364299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3F00-C42C-818C-096D-8EC495DFB6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806DC9-3765-56A0-63AF-9818962C55D5}"/>
              </a:ext>
            </a:extLst>
          </p:cNvPr>
          <p:cNvSpPr txBox="1"/>
          <p:nvPr/>
        </p:nvSpPr>
        <p:spPr>
          <a:xfrm>
            <a:off x="528918" y="421341"/>
            <a:ext cx="11143129" cy="5929828"/>
          </a:xfrm>
          <a:prstGeom prst="rect">
            <a:avLst/>
          </a:prstGeom>
          <a:noFill/>
        </p:spPr>
        <p:txBody>
          <a:bodyPr wrap="square" rtlCol="0">
            <a:spAutoFit/>
          </a:bodyPr>
          <a:lstStyle/>
          <a:p>
            <a:r>
              <a:rPr lang="en-IN" sz="2000" b="1" dirty="0"/>
              <a:t>There are two ways to start using Bootstrap</a:t>
            </a:r>
            <a:endParaRPr lang="en-US" sz="2400" b="1" dirty="0"/>
          </a:p>
          <a:p>
            <a:r>
              <a:rPr lang="en-US" sz="2000" dirty="0"/>
              <a:t>Include Bootstrap 5 from a CDN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we don't want to download and host Bootstrap 5, we can include it from a CDN (Content Delivery Network).</a:t>
            </a:r>
          </a:p>
          <a:p>
            <a:pPr marL="342900" indent="-342900">
              <a:buFont typeface="Arial" panose="020B0604020202020204" pitchFamily="34" charset="0"/>
              <a:buChar char="•"/>
            </a:pPr>
            <a:r>
              <a:rPr lang="en-US" sz="2000" dirty="0" err="1"/>
              <a:t>jsDelivr</a:t>
            </a:r>
            <a:r>
              <a:rPr lang="en-US" sz="2000" dirty="0"/>
              <a:t> provides CDN support for Bootstrap's CSS and JavaScript:</a:t>
            </a:r>
          </a:p>
          <a:p>
            <a:endParaRPr lang="en-US" sz="2000" dirty="0"/>
          </a:p>
          <a:p>
            <a:pPr lvl="1">
              <a:spcBef>
                <a:spcPts val="1440"/>
              </a:spcBef>
              <a:spcAft>
                <a:spcPts val="1440"/>
              </a:spcAft>
            </a:pPr>
            <a:r>
              <a:rPr lang="en-IN" sz="1400" dirty="0">
                <a:solidFill>
                  <a:srgbClr val="008000"/>
                </a:solidFill>
                <a:effectLst/>
                <a:latin typeface="Consolas" panose="020B0609020204030204" pitchFamily="49" charset="0"/>
                <a:ea typeface="Times New Roman" panose="02020603050405020304" pitchFamily="18" charset="0"/>
              </a:rPr>
              <a:t>&lt;!-- Latest compiled and minified CSS --&gt;</a:t>
            </a:r>
            <a:br>
              <a:rPr lang="en-IN" sz="1400" dirty="0">
                <a:solidFill>
                  <a:srgbClr val="000000"/>
                </a:solidFill>
                <a:effectLst/>
                <a:latin typeface="Consolas" panose="020B0609020204030204" pitchFamily="49" charset="0"/>
                <a:ea typeface="Times New Roman" panose="02020603050405020304" pitchFamily="18" charset="0"/>
              </a:rPr>
            </a:br>
            <a:r>
              <a:rPr lang="en-IN" sz="1400" dirty="0">
                <a:solidFill>
                  <a:srgbClr val="0000CD"/>
                </a:solidFill>
                <a:effectLst/>
                <a:latin typeface="Consolas" panose="020B0609020204030204" pitchFamily="49" charset="0"/>
                <a:ea typeface="Times New Roman" panose="02020603050405020304" pitchFamily="18" charset="0"/>
              </a:rPr>
              <a:t>&lt;</a:t>
            </a:r>
            <a:r>
              <a:rPr lang="en-IN" sz="1400" dirty="0">
                <a:solidFill>
                  <a:srgbClr val="A52A2A"/>
                </a:solidFill>
                <a:effectLst/>
                <a:latin typeface="Consolas" panose="020B0609020204030204" pitchFamily="49" charset="0"/>
                <a:ea typeface="Times New Roman" panose="02020603050405020304" pitchFamily="18" charset="0"/>
              </a:rPr>
              <a:t>link</a:t>
            </a:r>
            <a:r>
              <a:rPr lang="en-IN" sz="1400" dirty="0">
                <a:solidFill>
                  <a:srgbClr val="FF0000"/>
                </a:solidFill>
                <a:effectLst/>
                <a:latin typeface="Consolas" panose="020B0609020204030204" pitchFamily="49" charset="0"/>
                <a:ea typeface="Times New Roman" panose="02020603050405020304" pitchFamily="18" charset="0"/>
              </a:rPr>
              <a:t> </a:t>
            </a:r>
            <a:r>
              <a:rPr lang="en-IN" sz="1400" dirty="0" err="1">
                <a:solidFill>
                  <a:srgbClr val="FF0000"/>
                </a:solidFill>
                <a:effectLst/>
                <a:latin typeface="Consolas" panose="020B0609020204030204" pitchFamily="49" charset="0"/>
                <a:ea typeface="Times New Roman" panose="02020603050405020304" pitchFamily="18" charset="0"/>
              </a:rPr>
              <a:t>href</a:t>
            </a:r>
            <a:r>
              <a:rPr lang="en-IN" sz="1400" dirty="0">
                <a:solidFill>
                  <a:srgbClr val="0000CD"/>
                </a:solidFill>
                <a:effectLst/>
                <a:latin typeface="Consolas" panose="020B0609020204030204" pitchFamily="49" charset="0"/>
                <a:ea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Times New Roman" panose="02020603050405020304" pitchFamily="18" charset="0"/>
              </a:rPr>
              <a:t>npm</a:t>
            </a:r>
            <a:r>
              <a:rPr lang="en-IN" sz="1400" dirty="0">
                <a:solidFill>
                  <a:srgbClr val="0000CD"/>
                </a:solidFill>
                <a:effectLst/>
                <a:latin typeface="Consolas" panose="020B0609020204030204" pitchFamily="49" charset="0"/>
                <a:ea typeface="Times New Roman" panose="02020603050405020304" pitchFamily="18" charset="0"/>
              </a:rPr>
              <a:t>/bootstrap@5.3.2/</a:t>
            </a:r>
            <a:r>
              <a:rPr lang="en-IN" sz="1400" dirty="0" err="1">
                <a:solidFill>
                  <a:srgbClr val="0000CD"/>
                </a:solidFill>
                <a:effectLst/>
                <a:latin typeface="Consolas" panose="020B0609020204030204" pitchFamily="49" charset="0"/>
                <a:ea typeface="Times New Roman" panose="02020603050405020304" pitchFamily="18" charset="0"/>
              </a:rPr>
              <a:t>dist</a:t>
            </a:r>
            <a:r>
              <a:rPr lang="en-IN" sz="1400" dirty="0">
                <a:solidFill>
                  <a:srgbClr val="0000CD"/>
                </a:solidFill>
                <a:effectLst/>
                <a:latin typeface="Consolas" panose="020B0609020204030204" pitchFamily="49" charset="0"/>
                <a:ea typeface="Times New Roman" panose="02020603050405020304" pitchFamily="18" charset="0"/>
              </a:rPr>
              <a:t>/</a:t>
            </a:r>
            <a:r>
              <a:rPr lang="en-IN" sz="1400" dirty="0" err="1">
                <a:solidFill>
                  <a:srgbClr val="0000CD"/>
                </a:solidFill>
                <a:effectLst/>
                <a:latin typeface="Consolas" panose="020B0609020204030204" pitchFamily="49" charset="0"/>
                <a:ea typeface="Times New Roman" panose="02020603050405020304" pitchFamily="18" charset="0"/>
              </a:rPr>
              <a:t>css</a:t>
            </a:r>
            <a:r>
              <a:rPr lang="en-IN" sz="1400" dirty="0">
                <a:solidFill>
                  <a:srgbClr val="0000CD"/>
                </a:solidFill>
                <a:effectLst/>
                <a:latin typeface="Consolas" panose="020B0609020204030204" pitchFamily="49" charset="0"/>
                <a:ea typeface="Times New Roman" panose="02020603050405020304" pitchFamily="18" charset="0"/>
              </a:rPr>
              <a:t>/bootstrap.min.css"</a:t>
            </a:r>
            <a:r>
              <a:rPr lang="en-IN" sz="1400" dirty="0">
                <a:solidFill>
                  <a:srgbClr val="FF0000"/>
                </a:solidFill>
                <a:effectLst/>
                <a:latin typeface="Consolas" panose="020B0609020204030204" pitchFamily="49" charset="0"/>
                <a:ea typeface="Times New Roman" panose="02020603050405020304" pitchFamily="18" charset="0"/>
              </a:rPr>
              <a:t> </a:t>
            </a:r>
            <a:r>
              <a:rPr lang="en-IN" sz="1400" dirty="0" err="1">
                <a:solidFill>
                  <a:srgbClr val="FF0000"/>
                </a:solidFill>
                <a:effectLst/>
                <a:latin typeface="Consolas" panose="020B0609020204030204" pitchFamily="49" charset="0"/>
                <a:ea typeface="Times New Roman" panose="02020603050405020304" pitchFamily="18" charset="0"/>
              </a:rPr>
              <a:t>rel</a:t>
            </a:r>
            <a:r>
              <a:rPr lang="en-IN" sz="1400" dirty="0">
                <a:solidFill>
                  <a:srgbClr val="0000CD"/>
                </a:solidFill>
                <a:effectLst/>
                <a:latin typeface="Consolas" panose="020B0609020204030204" pitchFamily="49" charset="0"/>
                <a:ea typeface="Times New Roman" panose="02020603050405020304" pitchFamily="18" charset="0"/>
              </a:rPr>
              <a:t>="stylesheet"&gt;</a:t>
            </a:r>
            <a:br>
              <a:rPr lang="en-IN" sz="1400" dirty="0">
                <a:solidFill>
                  <a:srgbClr val="000000"/>
                </a:solidFill>
                <a:effectLst/>
                <a:latin typeface="Consolas" panose="020B0609020204030204" pitchFamily="49" charset="0"/>
                <a:ea typeface="Times New Roman" panose="02020603050405020304" pitchFamily="18" charset="0"/>
              </a:rPr>
            </a:br>
            <a:br>
              <a:rPr lang="en-IN" sz="1400" dirty="0">
                <a:solidFill>
                  <a:srgbClr val="000000"/>
                </a:solidFill>
                <a:effectLst/>
                <a:latin typeface="Consolas" panose="020B0609020204030204" pitchFamily="49" charset="0"/>
                <a:ea typeface="Times New Roman" panose="02020603050405020304" pitchFamily="18" charset="0"/>
              </a:rPr>
            </a:br>
            <a:r>
              <a:rPr lang="en-IN" sz="1400" dirty="0">
                <a:solidFill>
                  <a:srgbClr val="008000"/>
                </a:solidFill>
                <a:effectLst/>
                <a:latin typeface="Consolas" panose="020B0609020204030204" pitchFamily="49" charset="0"/>
                <a:ea typeface="Times New Roman" panose="02020603050405020304" pitchFamily="18" charset="0"/>
              </a:rPr>
              <a:t>&lt;!-- Latest compiled JavaScript --&gt;</a:t>
            </a:r>
            <a:br>
              <a:rPr lang="en-IN" sz="1400" dirty="0">
                <a:solidFill>
                  <a:srgbClr val="000000"/>
                </a:solidFill>
                <a:effectLst/>
                <a:latin typeface="Consolas" panose="020B0609020204030204" pitchFamily="49" charset="0"/>
                <a:ea typeface="Times New Roman" panose="02020603050405020304" pitchFamily="18" charset="0"/>
              </a:rPr>
            </a:br>
            <a:r>
              <a:rPr lang="en-IN" sz="1400" dirty="0">
                <a:solidFill>
                  <a:srgbClr val="0000CD"/>
                </a:solidFill>
                <a:effectLst/>
                <a:latin typeface="Consolas" panose="020B0609020204030204" pitchFamily="49" charset="0"/>
                <a:ea typeface="Times New Roman" panose="02020603050405020304" pitchFamily="18" charset="0"/>
              </a:rPr>
              <a:t>&lt;</a:t>
            </a:r>
            <a:r>
              <a:rPr lang="en-IN" sz="1400" dirty="0">
                <a:solidFill>
                  <a:srgbClr val="A52A2A"/>
                </a:solidFill>
                <a:effectLst/>
                <a:latin typeface="Consolas" panose="020B0609020204030204" pitchFamily="49" charset="0"/>
                <a:ea typeface="Times New Roman" panose="02020603050405020304" pitchFamily="18" charset="0"/>
              </a:rPr>
              <a:t>script</a:t>
            </a:r>
            <a:r>
              <a:rPr lang="en-IN" sz="1400" dirty="0">
                <a:solidFill>
                  <a:srgbClr val="FF0000"/>
                </a:solidFill>
                <a:effectLst/>
                <a:latin typeface="Consolas" panose="020B0609020204030204" pitchFamily="49" charset="0"/>
                <a:ea typeface="Times New Roman" panose="02020603050405020304" pitchFamily="18" charset="0"/>
              </a:rPr>
              <a:t> </a:t>
            </a:r>
            <a:r>
              <a:rPr lang="en-IN" sz="1400" dirty="0" err="1">
                <a:solidFill>
                  <a:srgbClr val="FF0000"/>
                </a:solidFill>
                <a:effectLst/>
                <a:latin typeface="Consolas" panose="020B0609020204030204" pitchFamily="49" charset="0"/>
                <a:ea typeface="Times New Roman" panose="02020603050405020304" pitchFamily="18" charset="0"/>
              </a:rPr>
              <a:t>src</a:t>
            </a:r>
            <a:r>
              <a:rPr lang="en-IN" sz="1400" dirty="0">
                <a:solidFill>
                  <a:srgbClr val="0000CD"/>
                </a:solidFill>
                <a:effectLst/>
                <a:latin typeface="Consolas" panose="020B0609020204030204" pitchFamily="49" charset="0"/>
                <a:ea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Times New Roman" panose="02020603050405020304" pitchFamily="18" charset="0"/>
              </a:rPr>
              <a:t>npm</a:t>
            </a:r>
            <a:r>
              <a:rPr lang="en-IN" sz="1400" dirty="0">
                <a:solidFill>
                  <a:srgbClr val="0000CD"/>
                </a:solidFill>
                <a:effectLst/>
                <a:latin typeface="Consolas" panose="020B0609020204030204" pitchFamily="49" charset="0"/>
                <a:ea typeface="Times New Roman" panose="02020603050405020304" pitchFamily="18" charset="0"/>
              </a:rPr>
              <a:t>/bootstrap@5.3.2/</a:t>
            </a:r>
            <a:r>
              <a:rPr lang="en-IN" sz="1400" dirty="0" err="1">
                <a:solidFill>
                  <a:srgbClr val="0000CD"/>
                </a:solidFill>
                <a:effectLst/>
                <a:latin typeface="Consolas" panose="020B0609020204030204" pitchFamily="49" charset="0"/>
                <a:ea typeface="Times New Roman" panose="02020603050405020304" pitchFamily="18" charset="0"/>
              </a:rPr>
              <a:t>dist</a:t>
            </a:r>
            <a:r>
              <a:rPr lang="en-IN" sz="1400" dirty="0">
                <a:solidFill>
                  <a:srgbClr val="0000CD"/>
                </a:solidFill>
                <a:effectLst/>
                <a:latin typeface="Consolas" panose="020B0609020204030204" pitchFamily="49" charset="0"/>
                <a:ea typeface="Times New Roman" panose="02020603050405020304" pitchFamily="18" charset="0"/>
              </a:rPr>
              <a:t>/</a:t>
            </a:r>
            <a:r>
              <a:rPr lang="en-IN" sz="1400" dirty="0" err="1">
                <a:solidFill>
                  <a:srgbClr val="0000CD"/>
                </a:solidFill>
                <a:effectLst/>
                <a:latin typeface="Consolas" panose="020B0609020204030204" pitchFamily="49" charset="0"/>
                <a:ea typeface="Times New Roman" panose="02020603050405020304" pitchFamily="18" charset="0"/>
              </a:rPr>
              <a:t>js</a:t>
            </a:r>
            <a:r>
              <a:rPr lang="en-IN" sz="1400" dirty="0">
                <a:solidFill>
                  <a:srgbClr val="0000CD"/>
                </a:solidFill>
                <a:effectLst/>
                <a:latin typeface="Consolas" panose="020B0609020204030204" pitchFamily="49" charset="0"/>
                <a:ea typeface="Times New Roman" panose="02020603050405020304" pitchFamily="18" charset="0"/>
              </a:rPr>
              <a:t>/bootstrap.bundle.min.js"&gt;&lt;</a:t>
            </a:r>
            <a:r>
              <a:rPr lang="en-IN" sz="1400" dirty="0">
                <a:solidFill>
                  <a:srgbClr val="A52A2A"/>
                </a:solidFill>
                <a:effectLst/>
                <a:latin typeface="Consolas" panose="020B0609020204030204" pitchFamily="49" charset="0"/>
                <a:ea typeface="Times New Roman" panose="02020603050405020304" pitchFamily="18" charset="0"/>
              </a:rPr>
              <a:t>/script</a:t>
            </a:r>
            <a:r>
              <a:rPr lang="en-IN" sz="1400" dirty="0">
                <a:solidFill>
                  <a:srgbClr val="0000CD"/>
                </a:solidFill>
                <a:effectLst/>
                <a:latin typeface="Consolas" panose="020B0609020204030204" pitchFamily="49"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endParaRPr lang="en-IN" sz="2000" dirty="0"/>
          </a:p>
          <a:p>
            <a:r>
              <a:rPr lang="en-IN" b="1" u="sng" dirty="0"/>
              <a:t>Download Bootstrap 5 from getbootstrap.com</a:t>
            </a:r>
          </a:p>
          <a:p>
            <a:endParaRPr lang="en-IN" sz="2000" b="1" u="sng" dirty="0"/>
          </a:p>
          <a:p>
            <a:pPr marL="285750" indent="-285750">
              <a:buFont typeface="Arial" panose="020B0604020202020204" pitchFamily="34" charset="0"/>
              <a:buChar char="•"/>
            </a:pPr>
            <a:r>
              <a:rPr lang="en-IN" dirty="0"/>
              <a:t>We can download ready-to-use compiled code to easily drop into the project, which includes:</a:t>
            </a:r>
          </a:p>
          <a:p>
            <a:pPr marL="742950" lvl="1" indent="-285750">
              <a:buFont typeface="Arial" panose="020B0604020202020204" pitchFamily="34" charset="0"/>
              <a:buChar char="•"/>
            </a:pPr>
            <a:r>
              <a:rPr lang="en-IN" dirty="0"/>
              <a:t>Compiled and minified CSS bundles  </a:t>
            </a:r>
          </a:p>
          <a:p>
            <a:pPr marL="742950" lvl="1" indent="-285750">
              <a:buFont typeface="Arial" panose="020B0604020202020204" pitchFamily="34" charset="0"/>
              <a:buChar char="•"/>
            </a:pPr>
            <a:r>
              <a:rPr lang="en-IN" dirty="0"/>
              <a:t>Compiled and minified JavaScript plugins </a:t>
            </a:r>
          </a:p>
          <a:p>
            <a:pPr marL="285750" indent="-285750">
              <a:buFont typeface="Arial" panose="020B0604020202020204" pitchFamily="34" charset="0"/>
              <a:buChar char="•"/>
            </a:pPr>
            <a:r>
              <a:rPr lang="en-US" dirty="0"/>
              <a:t>Download and unzip the compiled Bootstrap. Now if we look inside the folders we will find the compiled CSS and JS files (bootstrap.*), as well as the compiled and minified CSS and JS (</a:t>
            </a:r>
            <a:r>
              <a:rPr lang="en-US" dirty="0" err="1"/>
              <a:t>bootstrap.min</a:t>
            </a:r>
            <a:r>
              <a:rPr lang="en-US" dirty="0"/>
              <a:t>.*). </a:t>
            </a:r>
            <a:endParaRPr lang="en-IN" dirty="0"/>
          </a:p>
        </p:txBody>
      </p:sp>
    </p:spTree>
    <p:extLst>
      <p:ext uri="{BB962C8B-B14F-4D97-AF65-F5344CB8AC3E}">
        <p14:creationId xmlns:p14="http://schemas.microsoft.com/office/powerpoint/2010/main" val="75705660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12084-78BC-C421-FB16-B2251B1A75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72EE29-C283-16AA-A44A-395F1DECA7AD}"/>
              </a:ext>
            </a:extLst>
          </p:cNvPr>
          <p:cNvSpPr txBox="1"/>
          <p:nvPr/>
        </p:nvSpPr>
        <p:spPr>
          <a:xfrm>
            <a:off x="528918" y="421341"/>
            <a:ext cx="11143129" cy="4233147"/>
          </a:xfrm>
          <a:prstGeom prst="rect">
            <a:avLst/>
          </a:prstGeom>
          <a:noFill/>
        </p:spPr>
        <p:txBody>
          <a:bodyPr wrap="square" rtlCol="0">
            <a:spAutoFit/>
          </a:bodyPr>
          <a:lstStyle/>
          <a:p>
            <a:pPr algn="just" fontAlgn="base">
              <a:lnSpc>
                <a:spcPct val="107000"/>
              </a:lnSpc>
              <a:spcBef>
                <a:spcPts val="1800"/>
              </a:spcBef>
              <a:spcAft>
                <a:spcPts val="1800"/>
              </a:spcAft>
              <a:buNone/>
            </a:pPr>
            <a:r>
              <a:rPr lang="en-IN" sz="2400" b="1" u="sng" kern="10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Containers: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Bef>
                <a:spcPts val="1440"/>
              </a:spcBef>
              <a:spcAft>
                <a:spcPts val="1440"/>
              </a:spcAft>
              <a:buFont typeface="Arial" panose="020B0604020202020204" pitchFamily="34" charset="0"/>
              <a:buChar char="•"/>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Bootstrap requires a containing element to wrap site contents.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Bef>
                <a:spcPts val="1440"/>
              </a:spcBef>
              <a:spcAft>
                <a:spcPts val="1440"/>
              </a:spcAft>
              <a:buFont typeface="Arial" panose="020B0604020202020204" pitchFamily="34" charset="0"/>
              <a:buChar char="•"/>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Containers are used to pad the content inside of them, and there are two container classes available: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tabLst>
                <a:tab pos="457200" algn="l"/>
              </a:tabLst>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 </a:t>
            </a:r>
            <a:r>
              <a:rPr lang="en-IN" sz="14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.container</a:t>
            </a: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provides a responsive </a:t>
            </a:r>
            <a:r>
              <a:rPr lang="en-IN" sz="2000" b="1"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fixed width container</a:t>
            </a:r>
            <a:endParaRPr lang="en-IN"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07000"/>
              </a:lnSpc>
              <a:spcAft>
                <a:spcPts val="800"/>
              </a:spcAft>
              <a:buFont typeface="+mj-lt"/>
              <a:buAutoNum type="arabicPeriod"/>
              <a:tabLst>
                <a:tab pos="457200" algn="l"/>
              </a:tabLst>
            </a:pP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 </a:t>
            </a:r>
            <a:r>
              <a:rPr lang="en-IN" sz="14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.container-fluid</a:t>
            </a: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provides a </a:t>
            </a:r>
            <a:r>
              <a:rPr lang="en-IN" sz="2000" b="1"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full width container</a:t>
            </a:r>
            <a:r>
              <a:rPr lang="en-IN" sz="2000"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spanning the entire width of the viewport</a:t>
            </a:r>
            <a:endParaRPr lang="en-IN"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endParaRPr lang="en-IN" sz="2000" dirty="0"/>
          </a:p>
        </p:txBody>
      </p:sp>
      <p:pic>
        <p:nvPicPr>
          <p:cNvPr id="3" name="Picture 2">
            <a:extLst>
              <a:ext uri="{FF2B5EF4-FFF2-40B4-BE49-F238E27FC236}">
                <a16:creationId xmlns:a16="http://schemas.microsoft.com/office/drawing/2014/main" id="{B0023FE9-BD79-FEE5-08AA-333924CC1152}"/>
              </a:ext>
            </a:extLst>
          </p:cNvPr>
          <p:cNvPicPr>
            <a:picLocks noChangeAspect="1"/>
          </p:cNvPicPr>
          <p:nvPr/>
        </p:nvPicPr>
        <p:blipFill>
          <a:blip r:embed="rId2"/>
          <a:stretch>
            <a:fillRect/>
          </a:stretch>
        </p:blipFill>
        <p:spPr>
          <a:xfrm>
            <a:off x="3230245" y="4231901"/>
            <a:ext cx="5731510" cy="1047750"/>
          </a:xfrm>
          <a:prstGeom prst="rect">
            <a:avLst/>
          </a:prstGeom>
        </p:spPr>
      </p:pic>
    </p:spTree>
    <p:extLst>
      <p:ext uri="{BB962C8B-B14F-4D97-AF65-F5344CB8AC3E}">
        <p14:creationId xmlns:p14="http://schemas.microsoft.com/office/powerpoint/2010/main" val="342999082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5B311-C6B7-5BA7-EF7E-1A1D520A08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FC24B9-68FC-A400-BACE-BA49099A66A6}"/>
              </a:ext>
            </a:extLst>
          </p:cNvPr>
          <p:cNvSpPr txBox="1"/>
          <p:nvPr/>
        </p:nvSpPr>
        <p:spPr>
          <a:xfrm>
            <a:off x="528918" y="421341"/>
            <a:ext cx="11143129" cy="5416868"/>
          </a:xfrm>
          <a:prstGeom prst="rect">
            <a:avLst/>
          </a:prstGeom>
          <a:noFill/>
        </p:spPr>
        <p:txBody>
          <a:bodyPr wrap="square" rtlCol="0">
            <a:spAutoFit/>
          </a:bodyPr>
          <a:lstStyle/>
          <a:p>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!DOCTYPE</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html</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html</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lang</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en</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head</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title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Bootstrap Example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/title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meta</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charset</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="utf-8"&gt;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meta</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name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="viewport"</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content</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="width=device-width, initial-scale=1"&gt;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link</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npm</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/bootstrap@5.3.2/</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dist</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/bootstrap.min.css"</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rel</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="stylesheet"&gt;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script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src</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="https://cdn.jsdelivr.net/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npm</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/bootstrap@5.3.2/</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dist</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js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/bootstrap.bundle.min.js"&gt;&lt;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/script</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/head</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body</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="container"&gt;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h1</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My First Bootstrap Page</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/h1</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This part is inside a .container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The .container class provides a responsive fixed width container.</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/p</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/body</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/html</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US" sz="1600" dirty="0"/>
          </a:p>
          <a:p>
            <a:endParaRPr lang="en-IN" sz="1200" dirty="0"/>
          </a:p>
        </p:txBody>
      </p:sp>
    </p:spTree>
    <p:extLst>
      <p:ext uri="{BB962C8B-B14F-4D97-AF65-F5344CB8AC3E}">
        <p14:creationId xmlns:p14="http://schemas.microsoft.com/office/powerpoint/2010/main" val="331179960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7943D-7528-DB2D-820A-57C5373F4E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7AC32BE-AD10-CAA9-C681-28577784FD25}"/>
              </a:ext>
            </a:extLst>
          </p:cNvPr>
          <p:cNvSpPr txBox="1"/>
          <p:nvPr/>
        </p:nvSpPr>
        <p:spPr>
          <a:xfrm>
            <a:off x="528918" y="421341"/>
            <a:ext cx="11143129" cy="4042132"/>
          </a:xfrm>
          <a:prstGeom prst="rect">
            <a:avLst/>
          </a:prstGeom>
          <a:noFill/>
        </p:spPr>
        <p:txBody>
          <a:bodyPr wrap="square" rtlCol="0">
            <a:spAutoFit/>
          </a:bodyPr>
          <a:lstStyle/>
          <a:p>
            <a:r>
              <a:rPr lang="en-IN" sz="2400" b="1" dirty="0"/>
              <a:t>Bootstrap 5 Grid System:</a:t>
            </a:r>
            <a:endParaRPr lang="en-US" sz="3200" dirty="0"/>
          </a:p>
          <a:p>
            <a:endParaRPr lang="en-US" sz="2000" dirty="0"/>
          </a:p>
          <a:p>
            <a:pPr marL="285750" indent="-285750" algn="just">
              <a:spcBef>
                <a:spcPts val="1440"/>
              </a:spcBef>
              <a:spcAft>
                <a:spcPts val="1440"/>
              </a:spcAft>
              <a:buFont typeface="Arial" panose="020B0604020202020204" pitchFamily="34" charset="0"/>
              <a:buChar char="•"/>
            </a:pPr>
            <a:r>
              <a:rPr lang="en-IN" dirty="0">
                <a:solidFill>
                  <a:srgbClr val="000000"/>
                </a:solidFill>
                <a:effectLst/>
                <a:latin typeface="Verdana" panose="020B0604030504040204" pitchFamily="34" charset="0"/>
                <a:ea typeface="Times New Roman" panose="02020603050405020304" pitchFamily="18" charset="0"/>
              </a:rPr>
              <a:t>Bootstrap's grid system is built with flexbox and allows up to 12 columns across the page.</a:t>
            </a:r>
            <a:endParaRPr lang="en-IN" dirty="0">
              <a:effectLst/>
              <a:latin typeface="Times New Roman" panose="02020603050405020304" pitchFamily="18" charset="0"/>
              <a:ea typeface="Times New Roman" panose="02020603050405020304" pitchFamily="18" charset="0"/>
            </a:endParaRPr>
          </a:p>
          <a:p>
            <a:pPr marL="285750" indent="-285750" algn="just">
              <a:spcBef>
                <a:spcPts val="1440"/>
              </a:spcBef>
              <a:spcAft>
                <a:spcPts val="1440"/>
              </a:spcAft>
              <a:buFont typeface="Arial" panose="020B0604020202020204" pitchFamily="34" charset="0"/>
              <a:buChar char="•"/>
            </a:pPr>
            <a:r>
              <a:rPr lang="en-IN" dirty="0">
                <a:solidFill>
                  <a:srgbClr val="000000"/>
                </a:solidFill>
                <a:effectLst/>
                <a:latin typeface="Verdana" panose="020B0604030504040204" pitchFamily="34" charset="0"/>
                <a:ea typeface="Times New Roman" panose="02020603050405020304" pitchFamily="18" charset="0"/>
              </a:rPr>
              <a:t>If we do not want to use all 12 columns individually, we can group the columns together to create wider columns. </a:t>
            </a:r>
            <a:endParaRPr lang="en-IN"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n-IN"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The grid system is responsive, and the columns will re-arrange automatically depending on the screen size.</a:t>
            </a:r>
          </a:p>
          <a:p>
            <a:pPr marL="285750" indent="-285750" algn="just">
              <a:buFont typeface="Arial" panose="020B0604020202020204" pitchFamily="34" charset="0"/>
              <a:buChar char="•"/>
            </a:pPr>
            <a:endParaRPr lang="en-IN" dirty="0">
              <a:solidFill>
                <a:srgbClr val="000000"/>
              </a:solidFill>
              <a:latin typeface="Verdana" panose="020B0604030504040204" pitchFamily="34"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endParaRPr lang="en-US" dirty="0"/>
          </a:p>
          <a:p>
            <a:endParaRPr lang="en-US" sz="2000" dirty="0"/>
          </a:p>
          <a:p>
            <a:endParaRPr lang="en-IN" sz="2000" dirty="0"/>
          </a:p>
        </p:txBody>
      </p:sp>
      <p:pic>
        <p:nvPicPr>
          <p:cNvPr id="3" name="Picture 2">
            <a:extLst>
              <a:ext uri="{FF2B5EF4-FFF2-40B4-BE49-F238E27FC236}">
                <a16:creationId xmlns:a16="http://schemas.microsoft.com/office/drawing/2014/main" id="{FB38E978-C7F2-78C9-0595-670862C0CB07}"/>
              </a:ext>
            </a:extLst>
          </p:cNvPr>
          <p:cNvPicPr>
            <a:picLocks noChangeAspect="1"/>
          </p:cNvPicPr>
          <p:nvPr/>
        </p:nvPicPr>
        <p:blipFill>
          <a:blip r:embed="rId2"/>
          <a:stretch>
            <a:fillRect/>
          </a:stretch>
        </p:blipFill>
        <p:spPr>
          <a:xfrm>
            <a:off x="5718041" y="3293787"/>
            <a:ext cx="5775514" cy="1492189"/>
          </a:xfrm>
          <a:prstGeom prst="rect">
            <a:avLst/>
          </a:prstGeom>
        </p:spPr>
      </p:pic>
      <p:pic>
        <p:nvPicPr>
          <p:cNvPr id="6" name="Picture 5">
            <a:extLst>
              <a:ext uri="{FF2B5EF4-FFF2-40B4-BE49-F238E27FC236}">
                <a16:creationId xmlns:a16="http://schemas.microsoft.com/office/drawing/2014/main" id="{56D81176-2C06-46A5-764E-9B06B42E4780}"/>
              </a:ext>
            </a:extLst>
          </p:cNvPr>
          <p:cNvPicPr>
            <a:picLocks noChangeAspect="1"/>
          </p:cNvPicPr>
          <p:nvPr/>
        </p:nvPicPr>
        <p:blipFill>
          <a:blip r:embed="rId3"/>
          <a:stretch>
            <a:fillRect/>
          </a:stretch>
        </p:blipFill>
        <p:spPr>
          <a:xfrm>
            <a:off x="365760" y="3293787"/>
            <a:ext cx="5173789" cy="2515342"/>
          </a:xfrm>
          <a:prstGeom prst="rect">
            <a:avLst/>
          </a:prstGeom>
        </p:spPr>
      </p:pic>
    </p:spTree>
    <p:extLst>
      <p:ext uri="{BB962C8B-B14F-4D97-AF65-F5344CB8AC3E}">
        <p14:creationId xmlns:p14="http://schemas.microsoft.com/office/powerpoint/2010/main" val="2831371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09E5E-F645-8E92-2E9A-3A35ABBE60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887485-F496-5A78-EA20-D8D4D6F630AF}"/>
              </a:ext>
            </a:extLst>
          </p:cNvPr>
          <p:cNvSpPr txBox="1"/>
          <p:nvPr/>
        </p:nvSpPr>
        <p:spPr>
          <a:xfrm>
            <a:off x="528918" y="421341"/>
            <a:ext cx="11143129" cy="6637715"/>
          </a:xfrm>
          <a:prstGeom prst="rect">
            <a:avLst/>
          </a:prstGeom>
          <a:noFill/>
        </p:spPr>
        <p:txBody>
          <a:bodyPr wrap="square" rtlCol="0">
            <a:spAutoFit/>
          </a:bodyPr>
          <a:lstStyle/>
          <a:p>
            <a:r>
              <a:rPr lang="en-US" sz="2400" dirty="0"/>
              <a:t>continued…</a:t>
            </a:r>
          </a:p>
          <a:p>
            <a:endParaRPr lang="en-US" sz="2000" dirty="0"/>
          </a:p>
          <a:p>
            <a:pPr>
              <a:buNone/>
            </a:pPr>
            <a:r>
              <a:rPr lang="en-IN" dirty="0">
                <a:solidFill>
                  <a:srgbClr val="000000"/>
                </a:solidFill>
                <a:effectLst/>
                <a:latin typeface="Verdana" panose="020B0604030504040204" pitchFamily="34" charset="0"/>
                <a:ea typeface="Times New Roman" panose="02020603050405020304" pitchFamily="18" charset="0"/>
              </a:rPr>
              <a:t>Basic Structure of a Bootstrap Grid:</a:t>
            </a:r>
            <a:endParaRPr lang="en-IN" dirty="0">
              <a:effectLst/>
              <a:latin typeface="Times New Roman" panose="02020603050405020304" pitchFamily="18" charset="0"/>
              <a:ea typeface="Times New Roman" panose="02020603050405020304" pitchFamily="18" charset="0"/>
            </a:endParaRPr>
          </a:p>
          <a:p>
            <a:pPr marL="285750" indent="-285750">
              <a:spcBef>
                <a:spcPts val="1440"/>
              </a:spcBef>
              <a:spcAft>
                <a:spcPts val="1440"/>
              </a:spcAft>
              <a:buFont typeface="Arial" panose="020B0604020202020204" pitchFamily="34" charset="0"/>
              <a:buChar char="•"/>
            </a:pPr>
            <a:r>
              <a:rPr lang="en-IN" dirty="0">
                <a:solidFill>
                  <a:srgbClr val="000000"/>
                </a:solidFill>
                <a:effectLst/>
                <a:latin typeface="Verdana" panose="020B0604030504040204" pitchFamily="34" charset="0"/>
                <a:ea typeface="Times New Roman" panose="02020603050405020304" pitchFamily="18" charset="0"/>
              </a:rPr>
              <a:t>The following is a basic structure of a Bootstrap 5 grid:</a:t>
            </a:r>
            <a:endParaRPr lang="en-IN" dirty="0">
              <a:effectLst/>
              <a:latin typeface="Times New Roman" panose="02020603050405020304" pitchFamily="18" charset="0"/>
              <a:ea typeface="Times New Roman" panose="02020603050405020304" pitchFamily="18" charset="0"/>
            </a:endParaRPr>
          </a:p>
          <a:p>
            <a:pPr lvl="1"/>
            <a:r>
              <a:rPr lang="en-IN" sz="1400" dirty="0">
                <a:solidFill>
                  <a:srgbClr val="008000"/>
                </a:solidFill>
                <a:effectLst/>
                <a:latin typeface="Consolas" panose="020B0609020204030204" pitchFamily="49" charset="0"/>
                <a:ea typeface="Calibri" panose="020F0502020204030204" pitchFamily="34" charset="0"/>
                <a:cs typeface="Times New Roman" panose="02020603050405020304" pitchFamily="18" charset="0"/>
              </a:rPr>
              <a:t>&lt;!-- Control the column width, and how they should appear on different devices --&gt;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="row"&gt;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p>
          <a:p>
            <a:pPr lvl="1"/>
            <a:endParaRPr lang="en-IN" sz="1400" dirty="0">
              <a:solidFill>
                <a:srgbClr val="0000CD"/>
              </a:solidFill>
              <a:latin typeface="Consolas" panose="020B0609020204030204" pitchFamily="49" charset="0"/>
              <a:ea typeface="Calibri" panose="020F0502020204030204" pitchFamily="34" charset="0"/>
              <a:cs typeface="Times New Roman" panose="02020603050405020304" pitchFamily="18" charset="0"/>
            </a:endParaRPr>
          </a:p>
          <a:p>
            <a:pPr marL="742950" lvl="1" indent="-285750" algn="just">
              <a:buFont typeface="Arial" panose="020B0604020202020204" pitchFamily="34" charset="0"/>
              <a:buChar char="•"/>
            </a:pP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create a row (&lt;div class="row"&gt;)</a:t>
            </a:r>
          </a:p>
          <a:p>
            <a:pPr marL="742950" lvl="1" indent="-285750" algn="just">
              <a:buFont typeface="Arial" panose="020B0604020202020204" pitchFamily="34" charset="0"/>
              <a:buChar char="•"/>
            </a:pPr>
            <a:endPar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p>
            <a:pPr marL="742950" lvl="1" indent="-285750" algn="just">
              <a:buFont typeface="Arial" panose="020B0604020202020204" pitchFamily="34" charset="0"/>
              <a:buChar char="•"/>
            </a:pP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In col-*-*",  first star (*) represents the responsiveness: </a:t>
            </a:r>
            <a:r>
              <a:rPr lang="en-US"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sm</a:t>
            </a: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md, lg, xl or </a:t>
            </a:r>
            <a:r>
              <a:rPr lang="en-US"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xxl</a:t>
            </a:r>
            <a:r>
              <a:rPr lang="en-US"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while the second star represents a number, which should add up to 12 for each row.</a:t>
            </a:r>
          </a:p>
          <a:p>
            <a:pPr lvl="1"/>
            <a:r>
              <a:rPr lang="en-IN" dirty="0">
                <a:solidFill>
                  <a:srgbClr val="008000"/>
                </a:solidFill>
                <a:effectLst/>
                <a:latin typeface="Consolas" panose="020B0609020204030204" pitchFamily="49" charset="0"/>
                <a:ea typeface="Calibri" panose="020F0502020204030204" pitchFamily="34" charset="0"/>
                <a:cs typeface="Times New Roman" panose="02020603050405020304" pitchFamily="18" charset="0"/>
              </a:rPr>
              <a:t>&lt;!-- Or let Bootstrap automatically handle the layout --&gt;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="row"&gt;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="col"&gt;&lt;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US" dirty="0"/>
          </a:p>
          <a:p>
            <a:endParaRPr lang="en-US" sz="2000" dirty="0"/>
          </a:p>
          <a:p>
            <a:endParaRPr lang="en-IN" sz="2000" dirty="0"/>
          </a:p>
        </p:txBody>
      </p:sp>
    </p:spTree>
    <p:extLst>
      <p:ext uri="{BB962C8B-B14F-4D97-AF65-F5344CB8AC3E}">
        <p14:creationId xmlns:p14="http://schemas.microsoft.com/office/powerpoint/2010/main" val="16888098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14167-35E2-E85B-9450-7A4A8E57AC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23CDD8-F9E2-ED79-BE36-319F447BB675}"/>
              </a:ext>
            </a:extLst>
          </p:cNvPr>
          <p:cNvSpPr txBox="1"/>
          <p:nvPr/>
        </p:nvSpPr>
        <p:spPr>
          <a:xfrm>
            <a:off x="528918" y="421341"/>
            <a:ext cx="11143129" cy="4493538"/>
          </a:xfrm>
          <a:prstGeom prst="rect">
            <a:avLst/>
          </a:prstGeom>
          <a:noFill/>
        </p:spPr>
        <p:txBody>
          <a:bodyPr wrap="square" rtlCol="0">
            <a:spAutoFit/>
          </a:bodyPr>
          <a:lstStyle/>
          <a:p>
            <a:r>
              <a:rPr lang="en-IN" sz="2400" b="1" dirty="0"/>
              <a:t>Tables</a:t>
            </a:r>
            <a:r>
              <a:rPr lang="en-IN" b="1" dirty="0"/>
              <a:t>:</a:t>
            </a:r>
            <a:endParaRPr lang="en-US" sz="2400" dirty="0"/>
          </a:p>
          <a:p>
            <a:endParaRPr lang="en-US" sz="2000" dirty="0"/>
          </a:p>
          <a:p>
            <a:r>
              <a:rPr lang="en-US" sz="2000" dirty="0"/>
              <a:t>The .</a:t>
            </a:r>
            <a:r>
              <a:rPr lang="en-US" sz="2000" dirty="0">
                <a:solidFill>
                  <a:srgbClr val="FF0000"/>
                </a:solidFill>
              </a:rPr>
              <a:t>table</a:t>
            </a:r>
            <a:r>
              <a:rPr lang="en-US" sz="2000" dirty="0"/>
              <a:t> class adds basic styling to a table:</a:t>
            </a:r>
          </a:p>
          <a:p>
            <a:pPr lvl="1"/>
            <a:endParaRPr lang="en-US" sz="1400" dirty="0">
              <a:solidFill>
                <a:srgbClr val="000000"/>
              </a:solidFill>
              <a:latin typeface="Verdana" panose="020B0604030504040204" pitchFamily="34" charset="0"/>
              <a:ea typeface="Times New Roman" panose="02020603050405020304" pitchFamily="18" charset="0"/>
            </a:endParaRPr>
          </a:p>
          <a:p>
            <a:pPr lvl="1"/>
            <a:r>
              <a:rPr lang="en-US" sz="1400" dirty="0">
                <a:solidFill>
                  <a:srgbClr val="000000"/>
                </a:solidFill>
                <a:latin typeface="Verdana" panose="020B0604030504040204" pitchFamily="34" charset="0"/>
                <a:ea typeface="Times New Roman" panose="02020603050405020304" pitchFamily="18" charset="0"/>
              </a:rPr>
              <a:t>&lt;head&gt;</a:t>
            </a:r>
          </a:p>
          <a:p>
            <a:pPr lvl="1"/>
            <a:r>
              <a:rPr lang="en-US" sz="1400" dirty="0">
                <a:solidFill>
                  <a:srgbClr val="000000"/>
                </a:solidFill>
                <a:effectLst/>
                <a:latin typeface="Verdana" panose="020B0604030504040204" pitchFamily="34" charset="0"/>
                <a:ea typeface="Times New Roman" panose="02020603050405020304" pitchFamily="18" charset="0"/>
              </a:rPr>
              <a:t>	&lt;link </a:t>
            </a:r>
            <a:r>
              <a:rPr lang="en-US" sz="1400" dirty="0" err="1">
                <a:solidFill>
                  <a:srgbClr val="000000"/>
                </a:solidFill>
                <a:effectLst/>
                <a:latin typeface="Verdana" panose="020B0604030504040204" pitchFamily="34" charset="0"/>
                <a:ea typeface="Times New Roman" panose="02020603050405020304" pitchFamily="18" charset="0"/>
              </a:rPr>
              <a:t>href</a:t>
            </a:r>
            <a:r>
              <a:rPr lang="en-US" sz="1400" dirty="0">
                <a:solidFill>
                  <a:srgbClr val="000000"/>
                </a:solidFill>
                <a:effectLst/>
                <a:latin typeface="Verdana" panose="020B0604030504040204" pitchFamily="34" charset="0"/>
                <a:ea typeface="Times New Roman" panose="02020603050405020304" pitchFamily="18" charset="0"/>
              </a:rPr>
              <a:t>="https://cdn.jsdelivr.net/</a:t>
            </a:r>
            <a:r>
              <a:rPr lang="en-US" sz="1400" dirty="0" err="1">
                <a:solidFill>
                  <a:srgbClr val="000000"/>
                </a:solidFill>
                <a:effectLst/>
                <a:latin typeface="Verdana" panose="020B0604030504040204" pitchFamily="34" charset="0"/>
                <a:ea typeface="Times New Roman" panose="02020603050405020304" pitchFamily="18" charset="0"/>
              </a:rPr>
              <a:t>npm</a:t>
            </a:r>
            <a:r>
              <a:rPr lang="en-US" sz="1400" dirty="0">
                <a:solidFill>
                  <a:srgbClr val="000000"/>
                </a:solidFill>
                <a:effectLst/>
                <a:latin typeface="Verdana" panose="020B0604030504040204" pitchFamily="34" charset="0"/>
                <a:ea typeface="Times New Roman" panose="02020603050405020304" pitchFamily="18" charset="0"/>
              </a:rPr>
              <a:t>/bootstrap@5.3.2/</a:t>
            </a:r>
            <a:r>
              <a:rPr lang="en-US" sz="1400" dirty="0" err="1">
                <a:solidFill>
                  <a:srgbClr val="000000"/>
                </a:solidFill>
                <a:effectLst/>
                <a:latin typeface="Verdana" panose="020B0604030504040204" pitchFamily="34" charset="0"/>
                <a:ea typeface="Times New Roman" panose="02020603050405020304" pitchFamily="18" charset="0"/>
              </a:rPr>
              <a:t>dist</a:t>
            </a:r>
            <a:r>
              <a:rPr lang="en-US" sz="1400" dirty="0">
                <a:solidFill>
                  <a:srgbClr val="000000"/>
                </a:solidFill>
                <a:effectLst/>
                <a:latin typeface="Verdana" panose="020B0604030504040204" pitchFamily="34" charset="0"/>
                <a:ea typeface="Times New Roman" panose="02020603050405020304" pitchFamily="18" charset="0"/>
              </a:rPr>
              <a:t>/</a:t>
            </a:r>
            <a:r>
              <a:rPr lang="en-US" sz="1400" dirty="0" err="1">
                <a:solidFill>
                  <a:srgbClr val="000000"/>
                </a:solidFill>
                <a:effectLst/>
                <a:latin typeface="Verdana" panose="020B0604030504040204" pitchFamily="34" charset="0"/>
                <a:ea typeface="Times New Roman" panose="02020603050405020304" pitchFamily="18" charset="0"/>
              </a:rPr>
              <a:t>css</a:t>
            </a:r>
            <a:r>
              <a:rPr lang="en-US" sz="1400" dirty="0">
                <a:solidFill>
                  <a:srgbClr val="000000"/>
                </a:solidFill>
                <a:effectLst/>
                <a:latin typeface="Verdana" panose="020B0604030504040204" pitchFamily="34" charset="0"/>
                <a:ea typeface="Times New Roman" panose="02020603050405020304" pitchFamily="18" charset="0"/>
              </a:rPr>
              <a:t>/bootstrap.min.css" </a:t>
            </a:r>
            <a:r>
              <a:rPr lang="en-US" sz="1400" dirty="0" err="1">
                <a:solidFill>
                  <a:srgbClr val="000000"/>
                </a:solidFill>
                <a:effectLst/>
                <a:latin typeface="Verdana" panose="020B0604030504040204" pitchFamily="34" charset="0"/>
                <a:ea typeface="Times New Roman" panose="02020603050405020304" pitchFamily="18" charset="0"/>
              </a:rPr>
              <a:t>rel</a:t>
            </a:r>
            <a:r>
              <a:rPr lang="en-US" sz="1400" dirty="0">
                <a:solidFill>
                  <a:srgbClr val="000000"/>
                </a:solidFill>
                <a:effectLst/>
                <a:latin typeface="Verdana" panose="020B0604030504040204" pitchFamily="34" charset="0"/>
                <a:ea typeface="Times New Roman" panose="02020603050405020304" pitchFamily="18" charset="0"/>
              </a:rPr>
              <a:t>="stylesheet"&gt;</a:t>
            </a:r>
          </a:p>
          <a:p>
            <a:pPr lvl="1"/>
            <a:r>
              <a:rPr lang="en-US" sz="1400" dirty="0">
                <a:solidFill>
                  <a:srgbClr val="000000"/>
                </a:solidFill>
                <a:effectLst/>
                <a:latin typeface="Verdana" panose="020B0604030504040204" pitchFamily="34" charset="0"/>
                <a:ea typeface="Times New Roman" panose="02020603050405020304" pitchFamily="18" charset="0"/>
              </a:rPr>
              <a:t>	&lt;script </a:t>
            </a:r>
            <a:r>
              <a:rPr lang="en-US" sz="1400" dirty="0" err="1">
                <a:solidFill>
                  <a:srgbClr val="000000"/>
                </a:solidFill>
                <a:effectLst/>
                <a:latin typeface="Verdana" panose="020B0604030504040204" pitchFamily="34" charset="0"/>
                <a:ea typeface="Times New Roman" panose="02020603050405020304" pitchFamily="18" charset="0"/>
              </a:rPr>
              <a:t>src</a:t>
            </a:r>
            <a:r>
              <a:rPr lang="en-US" sz="1400" dirty="0">
                <a:solidFill>
                  <a:srgbClr val="000000"/>
                </a:solidFill>
                <a:effectLst/>
                <a:latin typeface="Verdana" panose="020B0604030504040204" pitchFamily="34" charset="0"/>
                <a:ea typeface="Times New Roman" panose="02020603050405020304" pitchFamily="18" charset="0"/>
              </a:rPr>
              <a:t>="https://cdn.jsdelivr.net/</a:t>
            </a:r>
            <a:r>
              <a:rPr lang="en-US" sz="1400" dirty="0" err="1">
                <a:solidFill>
                  <a:srgbClr val="000000"/>
                </a:solidFill>
                <a:effectLst/>
                <a:latin typeface="Verdana" panose="020B0604030504040204" pitchFamily="34" charset="0"/>
                <a:ea typeface="Times New Roman" panose="02020603050405020304" pitchFamily="18" charset="0"/>
              </a:rPr>
              <a:t>npm</a:t>
            </a:r>
            <a:r>
              <a:rPr lang="en-US" sz="1400" dirty="0">
                <a:solidFill>
                  <a:srgbClr val="000000"/>
                </a:solidFill>
                <a:effectLst/>
                <a:latin typeface="Verdana" panose="020B0604030504040204" pitchFamily="34" charset="0"/>
                <a:ea typeface="Times New Roman" panose="02020603050405020304" pitchFamily="18" charset="0"/>
              </a:rPr>
              <a:t>/bootstrap@5.3.2/</a:t>
            </a:r>
            <a:r>
              <a:rPr lang="en-US" sz="1400" dirty="0" err="1">
                <a:solidFill>
                  <a:srgbClr val="000000"/>
                </a:solidFill>
                <a:effectLst/>
                <a:latin typeface="Verdana" panose="020B0604030504040204" pitchFamily="34" charset="0"/>
                <a:ea typeface="Times New Roman" panose="02020603050405020304" pitchFamily="18" charset="0"/>
              </a:rPr>
              <a:t>dist</a:t>
            </a:r>
            <a:r>
              <a:rPr lang="en-US" sz="1400" dirty="0">
                <a:solidFill>
                  <a:srgbClr val="000000"/>
                </a:solidFill>
                <a:effectLst/>
                <a:latin typeface="Verdana" panose="020B0604030504040204" pitchFamily="34" charset="0"/>
                <a:ea typeface="Times New Roman" panose="02020603050405020304" pitchFamily="18" charset="0"/>
              </a:rPr>
              <a:t>/</a:t>
            </a:r>
            <a:r>
              <a:rPr lang="en-US" sz="1400" dirty="0" err="1">
                <a:solidFill>
                  <a:srgbClr val="000000"/>
                </a:solidFill>
                <a:effectLst/>
                <a:latin typeface="Verdana" panose="020B0604030504040204" pitchFamily="34" charset="0"/>
                <a:ea typeface="Times New Roman" panose="02020603050405020304" pitchFamily="18" charset="0"/>
              </a:rPr>
              <a:t>js</a:t>
            </a:r>
            <a:r>
              <a:rPr lang="en-US" sz="1400" dirty="0">
                <a:solidFill>
                  <a:srgbClr val="000000"/>
                </a:solidFill>
                <a:effectLst/>
                <a:latin typeface="Verdana" panose="020B0604030504040204" pitchFamily="34" charset="0"/>
                <a:ea typeface="Times New Roman" panose="02020603050405020304" pitchFamily="18" charset="0"/>
              </a:rPr>
              <a:t>/bootstrap.bundle.min.js"&gt;&lt;/script&gt;</a:t>
            </a:r>
            <a:endParaRPr lang="en-IN" sz="1400" dirty="0">
              <a:solidFill>
                <a:srgbClr val="000000"/>
              </a:solidFill>
              <a:effectLst/>
              <a:latin typeface="Verdana" panose="020B0604030504040204" pitchFamily="34"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&lt;/head&gt;</a:t>
            </a:r>
          </a:p>
          <a:p>
            <a:pPr lvl="1"/>
            <a:r>
              <a:rPr lang="en-IN" sz="1400" dirty="0">
                <a:solidFill>
                  <a:srgbClr val="000000"/>
                </a:solidFill>
                <a:effectLst/>
                <a:latin typeface="Verdana" panose="020B0604030504040204" pitchFamily="34" charset="0"/>
                <a:ea typeface="Times New Roman" panose="02020603050405020304" pitchFamily="18" charset="0"/>
              </a:rPr>
              <a:t>&lt;body&gt;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&lt;div class="container mt-3"&gt;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&lt;h2&gt;Basic Table&lt;/h2&gt;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&lt;p&gt;The .table class adds basic styling (light padding and horizontal dividers) to a table:&lt;/p&gt;            </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a:t>
            </a:r>
            <a:r>
              <a:rPr lang="en-IN" sz="1400" dirty="0">
                <a:solidFill>
                  <a:srgbClr val="000000"/>
                </a:solidFill>
                <a:effectLst/>
                <a:highlight>
                  <a:srgbClr val="FFFF00"/>
                </a:highlight>
                <a:latin typeface="Verdana" panose="020B0604030504040204" pitchFamily="34" charset="0"/>
                <a:ea typeface="Times New Roman" panose="02020603050405020304" pitchFamily="18" charset="0"/>
              </a:rPr>
              <a:t>&lt;table class="table"&gt;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a:t>
            </a:r>
            <a:r>
              <a:rPr lang="en-IN" sz="1400" dirty="0" err="1">
                <a:solidFill>
                  <a:srgbClr val="000000"/>
                </a:solidFill>
                <a:effectLst/>
                <a:latin typeface="Verdana" panose="020B0604030504040204" pitchFamily="34" charset="0"/>
                <a:ea typeface="Times New Roman" panose="02020603050405020304" pitchFamily="18" charset="0"/>
              </a:rPr>
              <a:t>thead</a:t>
            </a:r>
            <a:r>
              <a:rPr lang="en-IN" sz="1400" dirty="0">
                <a:solidFill>
                  <a:srgbClr val="000000"/>
                </a:solidFill>
                <a:effectLst/>
                <a:latin typeface="Verdana" panose="020B0604030504040204" pitchFamily="34"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&lt;tr&gt;</a:t>
            </a:r>
            <a:endParaRPr lang="en-IN" sz="1400" dirty="0">
              <a:effectLst/>
              <a:latin typeface="Times New Roman" panose="02020603050405020304" pitchFamily="18" charset="0"/>
              <a:ea typeface="Times New Roman" panose="02020603050405020304" pitchFamily="18" charset="0"/>
            </a:endParaRPr>
          </a:p>
          <a:p>
            <a:pPr lvl="1"/>
            <a:r>
              <a:rPr lang="en-IN" sz="1400" dirty="0">
                <a:solidFill>
                  <a:srgbClr val="000000"/>
                </a:solidFill>
                <a:effectLst/>
                <a:latin typeface="Verdana" panose="020B0604030504040204" pitchFamily="34" charset="0"/>
                <a:ea typeface="Times New Roman" panose="02020603050405020304" pitchFamily="18" charset="0"/>
              </a:rPr>
              <a:t>        &lt;</a:t>
            </a:r>
            <a:r>
              <a:rPr lang="en-IN" sz="1400" dirty="0" err="1">
                <a:solidFill>
                  <a:srgbClr val="000000"/>
                </a:solidFill>
                <a:effectLst/>
                <a:latin typeface="Verdana" panose="020B0604030504040204" pitchFamily="34" charset="0"/>
                <a:ea typeface="Times New Roman" panose="02020603050405020304" pitchFamily="18" charset="0"/>
              </a:rPr>
              <a:t>th</a:t>
            </a:r>
            <a:r>
              <a:rPr lang="en-IN" sz="1400" dirty="0">
                <a:solidFill>
                  <a:srgbClr val="000000"/>
                </a:solidFill>
                <a:effectLst/>
                <a:latin typeface="Verdana" panose="020B0604030504040204" pitchFamily="34" charset="0"/>
                <a:ea typeface="Times New Roman" panose="02020603050405020304" pitchFamily="18" charset="0"/>
              </a:rPr>
              <a:t>&gt;</a:t>
            </a:r>
            <a:r>
              <a:rPr lang="en-IN" sz="1400" dirty="0" err="1">
                <a:solidFill>
                  <a:srgbClr val="000000"/>
                </a:solidFill>
                <a:effectLst/>
                <a:latin typeface="Verdana" panose="020B0604030504040204" pitchFamily="34" charset="0"/>
                <a:ea typeface="Times New Roman" panose="02020603050405020304" pitchFamily="18" charset="0"/>
              </a:rPr>
              <a:t>Firstname</a:t>
            </a:r>
            <a:r>
              <a:rPr lang="en-IN" sz="1400" dirty="0">
                <a:solidFill>
                  <a:srgbClr val="000000"/>
                </a:solidFill>
                <a:effectLst/>
                <a:latin typeface="Verdana" panose="020B0604030504040204" pitchFamily="34" charset="0"/>
                <a:ea typeface="Times New Roman" panose="02020603050405020304" pitchFamily="18" charset="0"/>
              </a:rPr>
              <a:t>&lt;/</a:t>
            </a:r>
            <a:r>
              <a:rPr lang="en-IN" sz="1400" dirty="0" err="1">
                <a:solidFill>
                  <a:srgbClr val="000000"/>
                </a:solidFill>
                <a:effectLst/>
                <a:latin typeface="Verdana" panose="020B0604030504040204" pitchFamily="34" charset="0"/>
                <a:ea typeface="Times New Roman" panose="02020603050405020304" pitchFamily="18" charset="0"/>
              </a:rPr>
              <a:t>th</a:t>
            </a:r>
            <a:r>
              <a:rPr lang="en-IN" sz="1400" dirty="0">
                <a:solidFill>
                  <a:srgbClr val="000000"/>
                </a:solidFill>
                <a:effectLst/>
                <a:latin typeface="Verdana" panose="020B0604030504040204" pitchFamily="34"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endParaRPr lang="en-US" sz="2000" dirty="0"/>
          </a:p>
          <a:p>
            <a:endParaRPr lang="en-IN" sz="2000" dirty="0"/>
          </a:p>
        </p:txBody>
      </p:sp>
      <p:pic>
        <p:nvPicPr>
          <p:cNvPr id="3" name="Picture 2" descr="A screenshot of a email&#10;&#10;Description automatically generated">
            <a:extLst>
              <a:ext uri="{FF2B5EF4-FFF2-40B4-BE49-F238E27FC236}">
                <a16:creationId xmlns:a16="http://schemas.microsoft.com/office/drawing/2014/main" id="{2165844F-1A0C-0DEC-1F7C-5B5A4CCD6D85}"/>
              </a:ext>
            </a:extLst>
          </p:cNvPr>
          <p:cNvPicPr>
            <a:picLocks noChangeAspect="1"/>
          </p:cNvPicPr>
          <p:nvPr/>
        </p:nvPicPr>
        <p:blipFill>
          <a:blip r:embed="rId2"/>
          <a:stretch>
            <a:fillRect/>
          </a:stretch>
        </p:blipFill>
        <p:spPr>
          <a:xfrm>
            <a:off x="2181373" y="4404846"/>
            <a:ext cx="6648081" cy="1583578"/>
          </a:xfrm>
          <a:prstGeom prst="rect">
            <a:avLst/>
          </a:prstGeom>
        </p:spPr>
      </p:pic>
    </p:spTree>
    <p:extLst>
      <p:ext uri="{BB962C8B-B14F-4D97-AF65-F5344CB8AC3E}">
        <p14:creationId xmlns:p14="http://schemas.microsoft.com/office/powerpoint/2010/main" val="247661224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3B147-8CB1-CEFD-85BD-CAE249F6AC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8D28BD-1EBA-ABFB-15FD-9587F76D3F10}"/>
              </a:ext>
            </a:extLst>
          </p:cNvPr>
          <p:cNvSpPr txBox="1"/>
          <p:nvPr/>
        </p:nvSpPr>
        <p:spPr>
          <a:xfrm>
            <a:off x="528918" y="421341"/>
            <a:ext cx="11143129" cy="4770537"/>
          </a:xfrm>
          <a:prstGeom prst="rect">
            <a:avLst/>
          </a:prstGeom>
          <a:noFill/>
        </p:spPr>
        <p:txBody>
          <a:bodyPr wrap="square" rtlCol="0">
            <a:spAutoFit/>
          </a:bodyPr>
          <a:lstStyle/>
          <a:p>
            <a:r>
              <a:rPr lang="en-US" sz="2400" dirty="0"/>
              <a:t>Bootstrap table continued…</a:t>
            </a:r>
          </a:p>
          <a:p>
            <a:endParaRPr lang="en-US" sz="2000" dirty="0"/>
          </a:p>
          <a:p>
            <a:r>
              <a:rPr lang="en-US" sz="2000" dirty="0"/>
              <a:t>The </a:t>
            </a:r>
            <a:r>
              <a:rPr lang="en-US" sz="2000" dirty="0">
                <a:solidFill>
                  <a:srgbClr val="FF0000"/>
                </a:solidFill>
              </a:rPr>
              <a:t>.table-striped </a:t>
            </a:r>
            <a:r>
              <a:rPr lang="en-US" sz="2000" dirty="0"/>
              <a:t>class adds zebra-stripes to a table:</a:t>
            </a:r>
          </a:p>
          <a:p>
            <a:endParaRPr lang="en-US" sz="2000" dirty="0"/>
          </a:p>
          <a:p>
            <a:endParaRPr lang="en-US" sz="2000" dirty="0"/>
          </a:p>
          <a:p>
            <a:endParaRPr lang="en-US" sz="2000" dirty="0"/>
          </a:p>
          <a:p>
            <a:endParaRPr lang="en-US" sz="2000" dirty="0"/>
          </a:p>
          <a:p>
            <a:endParaRPr lang="en-US" sz="2000" dirty="0"/>
          </a:p>
          <a:p>
            <a:r>
              <a:rPr lang="en-US" sz="2000" dirty="0"/>
              <a:t>The </a:t>
            </a:r>
            <a:r>
              <a:rPr lang="en-US" sz="2000" dirty="0">
                <a:solidFill>
                  <a:srgbClr val="FF0000"/>
                </a:solidFill>
              </a:rPr>
              <a:t>.table-bordered </a:t>
            </a:r>
            <a:r>
              <a:rPr lang="en-US" sz="2000" dirty="0"/>
              <a:t>class adds borders on all sides of the table and cells:</a:t>
            </a:r>
          </a:p>
          <a:p>
            <a:endParaRPr lang="en-IN" sz="2000" dirty="0"/>
          </a:p>
          <a:p>
            <a:endParaRPr lang="en-IN" sz="2000" dirty="0"/>
          </a:p>
          <a:p>
            <a:endParaRPr lang="en-IN" sz="2000" dirty="0"/>
          </a:p>
          <a:p>
            <a:endParaRPr lang="en-IN" sz="2000" dirty="0"/>
          </a:p>
          <a:p>
            <a:endParaRPr lang="en-IN" sz="2000" dirty="0"/>
          </a:p>
          <a:p>
            <a:endParaRPr lang="en-IN" sz="2000" dirty="0"/>
          </a:p>
        </p:txBody>
      </p:sp>
      <p:pic>
        <p:nvPicPr>
          <p:cNvPr id="3" name="Picture 2" descr="A screenshot of a phone&#10;&#10;Description automatically generated">
            <a:extLst>
              <a:ext uri="{FF2B5EF4-FFF2-40B4-BE49-F238E27FC236}">
                <a16:creationId xmlns:a16="http://schemas.microsoft.com/office/drawing/2014/main" id="{AB39ADFE-FEB9-5042-B196-288C36D0A8F3}"/>
              </a:ext>
            </a:extLst>
          </p:cNvPr>
          <p:cNvPicPr>
            <a:picLocks noChangeAspect="1"/>
          </p:cNvPicPr>
          <p:nvPr/>
        </p:nvPicPr>
        <p:blipFill>
          <a:blip r:embed="rId2"/>
          <a:stretch>
            <a:fillRect/>
          </a:stretch>
        </p:blipFill>
        <p:spPr>
          <a:xfrm>
            <a:off x="1553844" y="1522021"/>
            <a:ext cx="5731510" cy="135763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3BBD8431-CE90-CE29-B0AE-B41A540BF161}"/>
              </a:ext>
            </a:extLst>
          </p:cNvPr>
          <p:cNvPicPr>
            <a:picLocks noChangeAspect="1"/>
          </p:cNvPicPr>
          <p:nvPr/>
        </p:nvPicPr>
        <p:blipFill>
          <a:blip r:embed="rId3"/>
          <a:stretch>
            <a:fillRect/>
          </a:stretch>
        </p:blipFill>
        <p:spPr>
          <a:xfrm>
            <a:off x="1553844" y="3358947"/>
            <a:ext cx="5731510" cy="1361440"/>
          </a:xfrm>
          <a:prstGeom prst="rect">
            <a:avLst/>
          </a:prstGeom>
        </p:spPr>
      </p:pic>
      <p:sp>
        <p:nvSpPr>
          <p:cNvPr id="6" name="Rectangle 1">
            <a:extLst>
              <a:ext uri="{FF2B5EF4-FFF2-40B4-BE49-F238E27FC236}">
                <a16:creationId xmlns:a16="http://schemas.microsoft.com/office/drawing/2014/main" id="{3EC0568B-2487-BFB0-6BB0-65C1D87DCBA3}"/>
              </a:ext>
            </a:extLst>
          </p:cNvPr>
          <p:cNvSpPr>
            <a:spLocks noChangeArrowheads="1"/>
          </p:cNvSpPr>
          <p:nvPr/>
        </p:nvSpPr>
        <p:spPr bwMode="auto">
          <a:xfrm>
            <a:off x="663388" y="5074082"/>
            <a:ext cx="1086522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.table-hover</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class adds a hover effect (grey background color) on table rows.</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.table-dark</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a:t>
            </a:r>
            <a:r>
              <a:rPr kumimoji="0" lang="en-US" altLang="en-US" sz="14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class adds a black background to the table.</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.table-responsive</a:t>
            </a:r>
            <a:r>
              <a:rPr kumimoji="0" lang="en-US" altLang="en-US" sz="1400" b="0" i="0" u="none" strike="noStrike" cap="none" normalizeH="0" baseline="0" dirty="0">
                <a:ln>
                  <a:noFill/>
                </a:ln>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 class adds a scrollbar to the table when needed (when it is too big horizontally)</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109505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7406-2077-CC2A-0F5E-786B3B744A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E7E11F-F987-0A16-F5E1-837DCFA6DCA3}"/>
              </a:ext>
            </a:extLst>
          </p:cNvPr>
          <p:cNvSpPr txBox="1"/>
          <p:nvPr/>
        </p:nvSpPr>
        <p:spPr>
          <a:xfrm>
            <a:off x="528918" y="421341"/>
            <a:ext cx="11143129" cy="1292662"/>
          </a:xfrm>
          <a:prstGeom prst="rect">
            <a:avLst/>
          </a:prstGeom>
          <a:noFill/>
        </p:spPr>
        <p:txBody>
          <a:bodyPr wrap="square" rtlCol="0">
            <a:spAutoFit/>
          </a:bodyPr>
          <a:lstStyle/>
          <a:p>
            <a:pPr marL="285750" indent="-285750">
              <a:buFont typeface="Arial" panose="020B0604020202020204" pitchFamily="34" charset="0"/>
              <a:buChar char="•"/>
            </a:pPr>
            <a:r>
              <a:rPr lang="en-IN" dirty="0"/>
              <a:t>You can also decide when the table should get a scrollbar, depending on the screen width:</a:t>
            </a:r>
          </a:p>
          <a:p>
            <a:endParaRPr lang="en-US" sz="2000" dirty="0"/>
          </a:p>
          <a:p>
            <a:endParaRPr lang="en-US" sz="2000" dirty="0"/>
          </a:p>
          <a:p>
            <a:endParaRPr lang="en-IN" sz="2000" dirty="0"/>
          </a:p>
        </p:txBody>
      </p:sp>
      <p:graphicFrame>
        <p:nvGraphicFramePr>
          <p:cNvPr id="3" name="Table 2">
            <a:extLst>
              <a:ext uri="{FF2B5EF4-FFF2-40B4-BE49-F238E27FC236}">
                <a16:creationId xmlns:a16="http://schemas.microsoft.com/office/drawing/2014/main" id="{BF6C5C68-B01B-D19A-2C2D-169350F1F21E}"/>
              </a:ext>
            </a:extLst>
          </p:cNvPr>
          <p:cNvGraphicFramePr>
            <a:graphicFrameLocks noGrp="1"/>
          </p:cNvGraphicFramePr>
          <p:nvPr>
            <p:extLst>
              <p:ext uri="{D42A27DB-BD31-4B8C-83A1-F6EECF244321}">
                <p14:modId xmlns:p14="http://schemas.microsoft.com/office/powerpoint/2010/main" val="485845861"/>
              </p:ext>
            </p:extLst>
          </p:nvPr>
        </p:nvGraphicFramePr>
        <p:xfrm>
          <a:off x="804079" y="987489"/>
          <a:ext cx="9845992" cy="2194980"/>
        </p:xfrm>
        <a:graphic>
          <a:graphicData uri="http://schemas.openxmlformats.org/drawingml/2006/table">
            <a:tbl>
              <a:tblPr firstRow="1" firstCol="1" bandRow="1">
                <a:tableStyleId>{5C22544A-7EE6-4342-B048-85BDC9FD1C3A}</a:tableStyleId>
              </a:tblPr>
              <a:tblGrid>
                <a:gridCol w="4922996">
                  <a:extLst>
                    <a:ext uri="{9D8B030D-6E8A-4147-A177-3AD203B41FA5}">
                      <a16:colId xmlns:a16="http://schemas.microsoft.com/office/drawing/2014/main" val="2885051668"/>
                    </a:ext>
                  </a:extLst>
                </a:gridCol>
                <a:gridCol w="4922996">
                  <a:extLst>
                    <a:ext uri="{9D8B030D-6E8A-4147-A177-3AD203B41FA5}">
                      <a16:colId xmlns:a16="http://schemas.microsoft.com/office/drawing/2014/main" val="2514796648"/>
                    </a:ext>
                  </a:extLst>
                </a:gridCol>
              </a:tblGrid>
              <a:tr h="365830">
                <a:tc>
                  <a:txBody>
                    <a:bodyPr/>
                    <a:lstStyle/>
                    <a:p>
                      <a:pPr>
                        <a:lnSpc>
                          <a:spcPct val="107000"/>
                        </a:lnSpc>
                        <a:spcAft>
                          <a:spcPts val="800"/>
                        </a:spcAft>
                        <a:buNone/>
                      </a:pPr>
                      <a:r>
                        <a:rPr lang="en-IN" sz="1600" kern="0" dirty="0">
                          <a:effectLst/>
                        </a:rPr>
                        <a:t>Class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Screen width</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04110655"/>
                  </a:ext>
                </a:extLst>
              </a:tr>
              <a:tr h="365830">
                <a:tc>
                  <a:txBody>
                    <a:bodyPr/>
                    <a:lstStyle/>
                    <a:p>
                      <a:pPr>
                        <a:lnSpc>
                          <a:spcPct val="107000"/>
                        </a:lnSpc>
                        <a:spcAft>
                          <a:spcPts val="800"/>
                        </a:spcAft>
                        <a:buNone/>
                      </a:pPr>
                      <a:r>
                        <a:rPr lang="en-IN" sz="1600" kern="0">
                          <a:effectLst/>
                        </a:rPr>
                        <a:t>.table-responsive-sm</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576px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947213"/>
                  </a:ext>
                </a:extLst>
              </a:tr>
              <a:tr h="365830">
                <a:tc>
                  <a:txBody>
                    <a:bodyPr/>
                    <a:lstStyle/>
                    <a:p>
                      <a:pPr>
                        <a:lnSpc>
                          <a:spcPct val="107000"/>
                        </a:lnSpc>
                        <a:spcAft>
                          <a:spcPts val="800"/>
                        </a:spcAft>
                        <a:buNone/>
                      </a:pPr>
                      <a:r>
                        <a:rPr lang="en-IN" sz="1600" kern="0">
                          <a:effectLst/>
                        </a:rPr>
                        <a:t>.table-responsive-md</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768px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966393"/>
                  </a:ext>
                </a:extLst>
              </a:tr>
              <a:tr h="365830">
                <a:tc>
                  <a:txBody>
                    <a:bodyPr/>
                    <a:lstStyle/>
                    <a:p>
                      <a:pPr>
                        <a:lnSpc>
                          <a:spcPct val="107000"/>
                        </a:lnSpc>
                        <a:spcAft>
                          <a:spcPts val="800"/>
                        </a:spcAft>
                        <a:buNone/>
                      </a:pPr>
                      <a:r>
                        <a:rPr lang="en-IN" sz="1600" kern="0" dirty="0">
                          <a:effectLst/>
                        </a:rPr>
                        <a:t>.table-responsive-</a:t>
                      </a:r>
                      <a:r>
                        <a:rPr lang="en-IN" sz="1600" kern="0" dirty="0" err="1">
                          <a:effectLst/>
                        </a:rPr>
                        <a:t>lg</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992px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80057989"/>
                  </a:ext>
                </a:extLst>
              </a:tr>
              <a:tr h="365830">
                <a:tc>
                  <a:txBody>
                    <a:bodyPr/>
                    <a:lstStyle/>
                    <a:p>
                      <a:pPr>
                        <a:lnSpc>
                          <a:spcPct val="107000"/>
                        </a:lnSpc>
                        <a:spcAft>
                          <a:spcPts val="800"/>
                        </a:spcAft>
                        <a:buNone/>
                      </a:pPr>
                      <a:r>
                        <a:rPr lang="en-IN" sz="1600" kern="0">
                          <a:effectLst/>
                        </a:rPr>
                        <a:t>.table-responsive-xl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a:effectLst/>
                        </a:rPr>
                        <a:t>&lt; 1200px</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63817125"/>
                  </a:ext>
                </a:extLst>
              </a:tr>
              <a:tr h="365830">
                <a:tc>
                  <a:txBody>
                    <a:bodyPr/>
                    <a:lstStyle/>
                    <a:p>
                      <a:pPr>
                        <a:lnSpc>
                          <a:spcPct val="107000"/>
                        </a:lnSpc>
                        <a:spcAft>
                          <a:spcPts val="800"/>
                        </a:spcAft>
                        <a:buNone/>
                      </a:pPr>
                      <a:r>
                        <a:rPr lang="en-IN" sz="1600" kern="0" dirty="0">
                          <a:effectLst/>
                        </a:rPr>
                        <a:t>.table-responsive-</a:t>
                      </a:r>
                      <a:r>
                        <a:rPr lang="en-IN" sz="1600" kern="0" dirty="0" err="1">
                          <a:effectLst/>
                        </a:rPr>
                        <a:t>xxl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0" dirty="0">
                          <a:effectLst/>
                        </a:rPr>
                        <a:t>&lt; 1400px</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80448167"/>
                  </a:ext>
                </a:extLst>
              </a:tr>
            </a:tbl>
          </a:graphicData>
        </a:graphic>
      </p:graphicFrame>
    </p:spTree>
    <p:extLst>
      <p:ext uri="{BB962C8B-B14F-4D97-AF65-F5344CB8AC3E}">
        <p14:creationId xmlns:p14="http://schemas.microsoft.com/office/powerpoint/2010/main" val="48263090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74BD1-7763-5565-437E-51040207E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9E8CAF-9979-9D6D-E429-E72FD3B3101D}"/>
              </a:ext>
            </a:extLst>
          </p:cNvPr>
          <p:cNvSpPr txBox="1"/>
          <p:nvPr/>
        </p:nvSpPr>
        <p:spPr>
          <a:xfrm>
            <a:off x="528918" y="421341"/>
            <a:ext cx="11143129" cy="1384995"/>
          </a:xfrm>
          <a:prstGeom prst="rect">
            <a:avLst/>
          </a:prstGeom>
          <a:noFill/>
        </p:spPr>
        <p:txBody>
          <a:bodyPr wrap="square" rtlCol="0">
            <a:spAutoFit/>
          </a:bodyPr>
          <a:lstStyle/>
          <a:p>
            <a:r>
              <a:rPr lang="en-US" sz="2400" dirty="0"/>
              <a:t>Contextual Classes</a:t>
            </a:r>
          </a:p>
          <a:p>
            <a:pPr marL="800100" lvl="1" indent="-342900" algn="just">
              <a:buFont typeface="Arial" panose="020B0604020202020204" pitchFamily="34" charset="0"/>
              <a:buChar char="•"/>
            </a:pPr>
            <a:r>
              <a:rPr lang="en-US" sz="2000" dirty="0"/>
              <a:t>Contextual classes can be used to color the whole table (&lt;table&gt;),  the table rows (&lt;tr&gt;) or table cells (&lt;td&gt;).</a:t>
            </a:r>
          </a:p>
          <a:p>
            <a:pPr marL="800100" lvl="1" indent="-342900" algn="just">
              <a:buFont typeface="Arial" panose="020B0604020202020204" pitchFamily="34" charset="0"/>
              <a:buChar char="•"/>
            </a:pPr>
            <a:r>
              <a:rPr lang="en-US" sz="2000" dirty="0"/>
              <a:t>The contextual classes that can be used are:</a:t>
            </a:r>
          </a:p>
        </p:txBody>
      </p:sp>
      <p:pic>
        <p:nvPicPr>
          <p:cNvPr id="3" name="Picture 2" descr="A white background with black text&#10;&#10;Description automatically generated">
            <a:extLst>
              <a:ext uri="{FF2B5EF4-FFF2-40B4-BE49-F238E27FC236}">
                <a16:creationId xmlns:a16="http://schemas.microsoft.com/office/drawing/2014/main" id="{F5712A66-40F5-BE22-0B82-673A18855296}"/>
              </a:ext>
            </a:extLst>
          </p:cNvPr>
          <p:cNvPicPr>
            <a:picLocks noChangeAspect="1"/>
          </p:cNvPicPr>
          <p:nvPr/>
        </p:nvPicPr>
        <p:blipFill>
          <a:blip r:embed="rId2"/>
          <a:stretch>
            <a:fillRect/>
          </a:stretch>
        </p:blipFill>
        <p:spPr>
          <a:xfrm>
            <a:off x="2378596" y="1932659"/>
            <a:ext cx="7617049" cy="4191655"/>
          </a:xfrm>
          <a:prstGeom prst="rect">
            <a:avLst/>
          </a:prstGeom>
        </p:spPr>
      </p:pic>
    </p:spTree>
    <p:extLst>
      <p:ext uri="{BB962C8B-B14F-4D97-AF65-F5344CB8AC3E}">
        <p14:creationId xmlns:p14="http://schemas.microsoft.com/office/powerpoint/2010/main" val="152215086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348FD-641C-A17F-32E2-CA63B08D21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3FC0B14-8269-1BB1-2BE1-742D8BB2AF14}"/>
              </a:ext>
            </a:extLst>
          </p:cNvPr>
          <p:cNvSpPr txBox="1"/>
          <p:nvPr/>
        </p:nvSpPr>
        <p:spPr>
          <a:xfrm>
            <a:off x="528918" y="421341"/>
            <a:ext cx="11143129" cy="1692771"/>
          </a:xfrm>
          <a:prstGeom prst="rect">
            <a:avLst/>
          </a:prstGeom>
          <a:noFill/>
        </p:spPr>
        <p:txBody>
          <a:bodyPr wrap="square" rtlCol="0">
            <a:spAutoFit/>
          </a:bodyPr>
          <a:lstStyle/>
          <a:p>
            <a:r>
              <a:rPr lang="en-IN" sz="2400" b="1" dirty="0"/>
              <a:t>Images</a:t>
            </a:r>
            <a:r>
              <a:rPr lang="en-IN" b="1" dirty="0"/>
              <a:t>:</a:t>
            </a:r>
            <a:endParaRPr lang="en-US" sz="2400" b="1" dirty="0"/>
          </a:p>
          <a:p>
            <a:endParaRPr lang="en-US" sz="2000" dirty="0"/>
          </a:p>
          <a:p>
            <a:endParaRPr lang="en-US" sz="2000" dirty="0"/>
          </a:p>
          <a:p>
            <a:endParaRPr lang="en-US" sz="2000" dirty="0"/>
          </a:p>
          <a:p>
            <a:endParaRPr lang="en-IN" sz="2000" dirty="0"/>
          </a:p>
        </p:txBody>
      </p:sp>
      <p:sp>
        <p:nvSpPr>
          <p:cNvPr id="3" name="Rectangle 1">
            <a:extLst>
              <a:ext uri="{FF2B5EF4-FFF2-40B4-BE49-F238E27FC236}">
                <a16:creationId xmlns:a16="http://schemas.microsoft.com/office/drawing/2014/main" id="{C2B5847A-4D23-0652-8C68-68B7B8CC0ED5}"/>
              </a:ext>
            </a:extLst>
          </p:cNvPr>
          <p:cNvSpPr>
            <a:spLocks noChangeArrowheads="1"/>
          </p:cNvSpPr>
          <p:nvPr/>
        </p:nvSpPr>
        <p:spPr bwMode="auto">
          <a:xfrm>
            <a:off x="519953" y="828288"/>
            <a:ext cx="11707051" cy="52014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.rounded</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adds rounded corners to an image.</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="cinqueterre.jpg"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="rounded"</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alt</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 Terre"&gt;</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.rounded-circle</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shapes the image to a circle.</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="cinqueterre.jpg"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="rounded-circle"</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alt</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 Terre"&gt;</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kumimoji="0" lang="en-US" altLang="en-US" sz="1600" b="0" i="0" u="none" strike="noStrike" cap="none" normalizeH="0" baseline="0" dirty="0" err="1">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img</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-thumbnail</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shapes the image to a thumbnail</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="cinqueterre.jpg"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a:t>
            </a:r>
            <a:r>
              <a:rPr kumimoji="0" lang="en-US" altLang="en-US" sz="2000" b="0" i="0" u="none" strike="noStrike" cap="none" normalizeH="0" baseline="0" dirty="0" err="1">
                <a:ln>
                  <a:noFill/>
                </a:ln>
                <a:solidFill>
                  <a:srgbClr val="0000CD"/>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-thumbnail"</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alt</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="Cinque Terre"&gt;</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Float an image to the left with the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.float-start</a:t>
            </a:r>
            <a:r>
              <a:rPr kumimoji="0" lang="en-US" altLang="en-US" sz="20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 class or to the right with </a:t>
            </a:r>
            <a:r>
              <a:rPr kumimoji="0" lang="en-US" altLang="en-US" sz="1600" b="0" i="0" u="none" strike="noStrike" cap="none" normalizeH="0" baseline="0" dirty="0">
                <a:ln>
                  <a:noFill/>
                </a:ln>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.float-end</a:t>
            </a:r>
            <a:endParaRPr kumimoji="0" lang="en-US" altLang="en-US" sz="2400" b="0" i="0" u="none" strike="noStrike" cap="none" normalizeH="0" baseline="0" dirty="0">
              <a:ln>
                <a:noFill/>
              </a:ln>
              <a:solidFill>
                <a:schemeClr val="tx1"/>
              </a:solidFill>
              <a:effectLst/>
              <a:ea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	&lt;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="paris.jpg"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="float-start"&gt;</a:t>
            </a:r>
            <a:br>
              <a:rPr kumimoji="0" lang="en-US" altLang="en-US" sz="2000" b="0" i="0" u="none" strike="noStrike" cap="none" normalizeH="0" baseline="0" dirty="0">
                <a:ln>
                  <a:noFill/>
                </a:ln>
                <a:solidFill>
                  <a:srgbClr val="000000"/>
                </a:solidFill>
                <a:effectLst/>
                <a:latin typeface="Consolas" panose="020B0609020204030204" pitchFamily="49" charset="0"/>
                <a:ea typeface="Times New Roman" panose="02020603050405020304" pitchFamily="18" charset="0"/>
              </a:rPr>
            </a:br>
            <a:r>
              <a:rPr kumimoji="0" lang="en-US" altLang="en-US" sz="2000" b="0" i="0" u="none" strike="noStrike" cap="none" normalizeH="0" baseline="0" dirty="0">
                <a:ln>
                  <a:noFill/>
                </a:ln>
                <a:solidFill>
                  <a:srgbClr val="00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&lt;</a:t>
            </a:r>
            <a:r>
              <a:rPr kumimoji="0" lang="en-US" altLang="en-US" sz="2000" b="0" i="0" u="none" strike="noStrike" cap="none" normalizeH="0" baseline="0" dirty="0" err="1">
                <a:ln>
                  <a:noFill/>
                </a:ln>
                <a:solidFill>
                  <a:srgbClr val="A52A2A"/>
                </a:solidFill>
                <a:effectLst/>
                <a:latin typeface="Consolas" panose="020B0609020204030204" pitchFamily="49" charset="0"/>
                <a:ea typeface="Times New Roman" panose="02020603050405020304" pitchFamily="18" charset="0"/>
              </a:rPr>
              <a:t>img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Consolas" panose="020B0609020204030204" pitchFamily="49" charset="0"/>
                <a:ea typeface="Times New Roman" panose="02020603050405020304" pitchFamily="18" charset="0"/>
              </a:rPr>
              <a:t>src</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="paris.jpg"</a:t>
            </a:r>
            <a:r>
              <a:rPr kumimoji="0" lang="en-US" altLang="en-US" sz="2000" b="0" i="0" u="none" strike="noStrike" cap="none" normalizeH="0" baseline="0" dirty="0">
                <a:ln>
                  <a:noFill/>
                </a:ln>
                <a:solidFill>
                  <a:srgbClr val="FF0000"/>
                </a:solidFill>
                <a:effectLst/>
                <a:latin typeface="Consolas" panose="020B0609020204030204" pitchFamily="49" charset="0"/>
                <a:ea typeface="Times New Roman" panose="02020603050405020304" pitchFamily="18" charset="0"/>
              </a:rPr>
              <a:t> class</a:t>
            </a:r>
            <a:r>
              <a:rPr kumimoji="0" lang="en-US" altLang="en-US" sz="2000" b="0" i="0" u="none" strike="noStrike" cap="none" normalizeH="0" baseline="0" dirty="0">
                <a:ln>
                  <a:noFill/>
                </a:ln>
                <a:solidFill>
                  <a:srgbClr val="0000CD"/>
                </a:solidFill>
                <a:effectLst/>
                <a:latin typeface="Consolas" panose="020B0609020204030204" pitchFamily="49" charset="0"/>
                <a:ea typeface="Times New Roman" panose="02020603050405020304" pitchFamily="18" charset="0"/>
              </a:rPr>
              <a:t>="float-end"&gt;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000" dirty="0">
              <a:solidFill>
                <a:srgbClr val="0000CD"/>
              </a:solidFill>
              <a:latin typeface="Consolas" panose="020B0609020204030204" pitchFamily="49"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Center an image by adding the utility classes .mx-auto (</a:t>
            </a:r>
            <a:r>
              <a:rPr kumimoji="0" lang="en-US" altLang="en-US" b="0" i="0" u="none" strike="noStrike" cap="none" normalizeH="0" baseline="0" dirty="0" err="1">
                <a:ln>
                  <a:noFill/>
                </a:ln>
                <a:solidFill>
                  <a:schemeClr val="tx1"/>
                </a:solidFill>
                <a:effectLst/>
                <a:latin typeface="Arial" panose="020B0604020202020204" pitchFamily="34" charset="0"/>
              </a:rPr>
              <a:t>margin:auto</a:t>
            </a:r>
            <a:r>
              <a:rPr kumimoji="0" lang="en-US" altLang="en-US" b="0" i="0" u="none" strike="noStrike" cap="none" normalizeH="0" baseline="0" dirty="0">
                <a:ln>
                  <a:noFill/>
                </a:ln>
                <a:solidFill>
                  <a:schemeClr val="tx1"/>
                </a:solidFill>
                <a:effectLst/>
                <a:latin typeface="Arial" panose="020B0604020202020204" pitchFamily="34" charset="0"/>
              </a:rPr>
              <a:t>) and .d-block (</a:t>
            </a:r>
            <a:r>
              <a:rPr kumimoji="0" lang="en-US" altLang="en-US" b="0" i="0" u="none" strike="noStrike" cap="none" normalizeH="0" baseline="0" dirty="0" err="1">
                <a:ln>
                  <a:noFill/>
                </a:ln>
                <a:solidFill>
                  <a:schemeClr val="tx1"/>
                </a:solidFill>
                <a:effectLst/>
                <a:latin typeface="Arial" panose="020B0604020202020204" pitchFamily="34" charset="0"/>
              </a:rPr>
              <a:t>display:block</a:t>
            </a:r>
            <a:r>
              <a:rPr kumimoji="0" lang="en-US" altLang="en-US" b="0" i="0" u="none" strike="noStrike" cap="none" normalizeH="0" baseline="0" dirty="0">
                <a:ln>
                  <a:noFill/>
                </a:ln>
                <a:solidFill>
                  <a:schemeClr val="tx1"/>
                </a:solidFill>
                <a:effectLst/>
                <a:latin typeface="Arial" panose="020B0604020202020204" pitchFamily="34" charset="0"/>
              </a:rPr>
              <a:t>) to the image:</a:t>
            </a: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&lt;</a:t>
            </a:r>
            <a:r>
              <a:rPr kumimoji="0" lang="en-US" altLang="en-US" b="0" i="0" u="none" strike="noStrike" cap="none" normalizeH="0" baseline="0" dirty="0" err="1">
                <a:ln>
                  <a:noFill/>
                </a:ln>
                <a:solidFill>
                  <a:schemeClr val="tx1"/>
                </a:solidFill>
                <a:effectLst/>
                <a:latin typeface="Arial" panose="020B0604020202020204" pitchFamily="34" charset="0"/>
              </a:rPr>
              <a:t>img</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src</a:t>
            </a:r>
            <a:r>
              <a:rPr kumimoji="0" lang="en-US" altLang="en-US" b="0" i="0" u="none" strike="noStrike" cap="none" normalizeH="0" baseline="0" dirty="0">
                <a:ln>
                  <a:noFill/>
                </a:ln>
                <a:solidFill>
                  <a:schemeClr val="tx1"/>
                </a:solidFill>
                <a:effectLst/>
                <a:latin typeface="Arial" panose="020B0604020202020204" pitchFamily="34" charset="0"/>
              </a:rPr>
              <a:t>="paris.jpg" class="mx-auto d-block"&gt;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01840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0DC5-B1E2-2BAA-717F-654D78D39C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211267-8FF8-CE56-76BD-22DA829ABD9F}"/>
              </a:ext>
            </a:extLst>
          </p:cNvPr>
          <p:cNvSpPr txBox="1"/>
          <p:nvPr/>
        </p:nvSpPr>
        <p:spPr>
          <a:xfrm>
            <a:off x="528918" y="421341"/>
            <a:ext cx="11143129" cy="1692771"/>
          </a:xfrm>
          <a:prstGeom prst="rect">
            <a:avLst/>
          </a:prstGeom>
          <a:noFill/>
        </p:spPr>
        <p:txBody>
          <a:bodyPr wrap="square" rtlCol="0">
            <a:spAutoFit/>
          </a:bodyPr>
          <a:lstStyle/>
          <a:p>
            <a:r>
              <a:rPr lang="en-US" sz="2400" b="1" dirty="0"/>
              <a:t>Images continued…</a:t>
            </a:r>
          </a:p>
          <a:p>
            <a:endParaRPr lang="en-US" sz="2000" b="1" dirty="0"/>
          </a:p>
          <a:p>
            <a:endParaRPr lang="en-US" sz="2000" dirty="0"/>
          </a:p>
          <a:p>
            <a:endParaRPr lang="en-US" sz="2000" dirty="0"/>
          </a:p>
          <a:p>
            <a:endParaRPr lang="en-IN" sz="2000" dirty="0"/>
          </a:p>
        </p:txBody>
      </p:sp>
      <p:pic>
        <p:nvPicPr>
          <p:cNvPr id="3" name="Picture 2">
            <a:extLst>
              <a:ext uri="{FF2B5EF4-FFF2-40B4-BE49-F238E27FC236}">
                <a16:creationId xmlns:a16="http://schemas.microsoft.com/office/drawing/2014/main" id="{CBA8277B-C4C0-E5B4-2DB3-51B88E80AE84}"/>
              </a:ext>
            </a:extLst>
          </p:cNvPr>
          <p:cNvPicPr>
            <a:picLocks noChangeAspect="1"/>
          </p:cNvPicPr>
          <p:nvPr/>
        </p:nvPicPr>
        <p:blipFill>
          <a:blip r:embed="rId2"/>
          <a:stretch>
            <a:fillRect/>
          </a:stretch>
        </p:blipFill>
        <p:spPr>
          <a:xfrm>
            <a:off x="622149" y="1084235"/>
            <a:ext cx="10736133" cy="3377885"/>
          </a:xfrm>
          <a:prstGeom prst="rect">
            <a:avLst/>
          </a:prstGeom>
        </p:spPr>
      </p:pic>
    </p:spTree>
    <p:extLst>
      <p:ext uri="{BB962C8B-B14F-4D97-AF65-F5344CB8AC3E}">
        <p14:creationId xmlns:p14="http://schemas.microsoft.com/office/powerpoint/2010/main" val="38543113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A7C9-1B5A-2851-30B8-E965808AE5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6CC77D-2A2D-3DC0-2053-3EDDA6D0A0E5}"/>
              </a:ext>
            </a:extLst>
          </p:cNvPr>
          <p:cNvSpPr txBox="1"/>
          <p:nvPr/>
        </p:nvSpPr>
        <p:spPr>
          <a:xfrm>
            <a:off x="524435" y="326880"/>
            <a:ext cx="11143129" cy="6186309"/>
          </a:xfrm>
          <a:prstGeom prst="rect">
            <a:avLst/>
          </a:prstGeom>
          <a:noFill/>
        </p:spPr>
        <p:txBody>
          <a:bodyPr wrap="square" rtlCol="0">
            <a:spAutoFit/>
          </a:bodyPr>
          <a:lstStyle/>
          <a:p>
            <a:r>
              <a:rPr lang="en-IN" sz="2400" b="1" dirty="0"/>
              <a:t>Bootstrap Jumbotron:</a:t>
            </a:r>
            <a:endParaRPr lang="en-US" sz="3200" b="1" dirty="0"/>
          </a:p>
          <a:p>
            <a:endParaRPr lang="en-US" sz="2000" dirty="0"/>
          </a:p>
          <a:p>
            <a:pPr marL="285750" indent="-285750">
              <a:buFont typeface="Arial" panose="020B0604020202020204" pitchFamily="34" charset="0"/>
              <a:buChar char="•"/>
            </a:pPr>
            <a:r>
              <a:rPr lang="en-IN" dirty="0"/>
              <a:t>A jumbotron was introduced in Bootstrap 3 as a big padded box for calling extra attention to some special content or information.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U</a:t>
            </a:r>
            <a:r>
              <a:rPr lang="en-US" sz="2000" dirty="0"/>
              <a:t>se a &lt;div&gt; element with class .jumbotron to create a jumbotron.</a:t>
            </a:r>
          </a:p>
          <a:p>
            <a:endParaRPr lang="en-US" sz="2000" dirty="0"/>
          </a:p>
          <a:p>
            <a:pPr lvl="1"/>
            <a:r>
              <a:rPr lang="en-US" sz="1400" dirty="0"/>
              <a:t>&lt;body&gt;</a:t>
            </a:r>
          </a:p>
          <a:p>
            <a:pPr lvl="1"/>
            <a:r>
              <a:rPr lang="en-US" sz="1400" dirty="0"/>
              <a:t>&lt;div class="jumbotron jumbotron-fluid"&gt;</a:t>
            </a:r>
          </a:p>
          <a:p>
            <a:pPr lvl="1"/>
            <a:r>
              <a:rPr lang="en-US" sz="1400" dirty="0"/>
              <a:t>  &lt;div class="container"&gt;</a:t>
            </a:r>
          </a:p>
          <a:p>
            <a:pPr lvl="1"/>
            <a:r>
              <a:rPr lang="en-US" sz="1400" dirty="0"/>
              <a:t>    &lt;h1&gt;Bootstrap Tutorial&lt;/h1&gt;      </a:t>
            </a:r>
          </a:p>
          <a:p>
            <a:pPr lvl="1"/>
            <a:r>
              <a:rPr lang="en-US" sz="1400" dirty="0"/>
              <a:t>    &lt;p&gt;Bootstrap is the most popular HTML, CSS, and JS framework for developing responsive, mobile-first projects on the web.&lt;/p&gt;</a:t>
            </a:r>
          </a:p>
          <a:p>
            <a:pPr lvl="1"/>
            <a:r>
              <a:rPr lang="en-US" sz="1400" dirty="0"/>
              <a:t>  &lt;/div&gt;</a:t>
            </a:r>
          </a:p>
          <a:p>
            <a:pPr lvl="1"/>
            <a:r>
              <a:rPr lang="en-US" sz="1400" dirty="0"/>
              <a:t>&lt;/div&gt;</a:t>
            </a:r>
          </a:p>
          <a:p>
            <a:pPr lvl="1"/>
            <a:endParaRPr lang="en-US" sz="1400" dirty="0"/>
          </a:p>
          <a:p>
            <a:pPr lvl="1"/>
            <a:r>
              <a:rPr lang="en-US" sz="1400" dirty="0"/>
              <a:t>&lt;div class="container"&gt;</a:t>
            </a:r>
          </a:p>
          <a:p>
            <a:pPr lvl="1"/>
            <a:r>
              <a:rPr lang="en-US" sz="1400" dirty="0"/>
              <a:t>  &lt;p&gt;This is some text.&lt;/p&gt;      </a:t>
            </a:r>
          </a:p>
          <a:p>
            <a:pPr lvl="1"/>
            <a:r>
              <a:rPr lang="en-US" sz="1400" dirty="0"/>
              <a:t>  &lt;p&gt;This is another text.&lt;/p&gt;      </a:t>
            </a:r>
          </a:p>
          <a:p>
            <a:pPr lvl="1"/>
            <a:r>
              <a:rPr lang="en-US" sz="1400" dirty="0"/>
              <a:t>&lt;/div&gt;</a:t>
            </a:r>
          </a:p>
          <a:p>
            <a:pPr lvl="1"/>
            <a:endParaRPr lang="en-US" sz="1400" dirty="0"/>
          </a:p>
          <a:p>
            <a:pPr lvl="1"/>
            <a:r>
              <a:rPr lang="en-US" sz="1400" dirty="0"/>
              <a:t>&lt;/body&gt;</a:t>
            </a:r>
          </a:p>
          <a:p>
            <a:pPr lvl="1"/>
            <a:endParaRPr lang="en-US" sz="1400" dirty="0"/>
          </a:p>
          <a:p>
            <a:pPr lvl="1"/>
            <a:endParaRPr lang="en-US" sz="1400" dirty="0"/>
          </a:p>
          <a:p>
            <a:r>
              <a:rPr lang="en-US" sz="1600" dirty="0"/>
              <a:t>If we want a full-width jumbotron without rounded borders, add the </a:t>
            </a:r>
            <a:r>
              <a:rPr lang="en-US" sz="1600" dirty="0">
                <a:solidFill>
                  <a:srgbClr val="FF0000"/>
                </a:solidFill>
              </a:rPr>
              <a:t>.jumbotron-fluid </a:t>
            </a:r>
            <a:r>
              <a:rPr lang="en-US" sz="1600" dirty="0"/>
              <a:t>class and a </a:t>
            </a:r>
            <a:r>
              <a:rPr lang="en-US" sz="1600" dirty="0">
                <a:solidFill>
                  <a:srgbClr val="FF0000"/>
                </a:solidFill>
              </a:rPr>
              <a:t>.container </a:t>
            </a:r>
            <a:r>
              <a:rPr lang="en-US" sz="1600" dirty="0"/>
              <a:t>or </a:t>
            </a:r>
            <a:r>
              <a:rPr lang="en-US" sz="1600" dirty="0">
                <a:solidFill>
                  <a:srgbClr val="FF0000"/>
                </a:solidFill>
              </a:rPr>
              <a:t>.container-fluid </a:t>
            </a:r>
            <a:r>
              <a:rPr lang="en-US" sz="1600" dirty="0"/>
              <a:t>inside of it.</a:t>
            </a:r>
            <a:endParaRPr lang="en-IN" sz="1600" dirty="0"/>
          </a:p>
        </p:txBody>
      </p:sp>
      <p:pic>
        <p:nvPicPr>
          <p:cNvPr id="6" name="Picture 5">
            <a:extLst>
              <a:ext uri="{FF2B5EF4-FFF2-40B4-BE49-F238E27FC236}">
                <a16:creationId xmlns:a16="http://schemas.microsoft.com/office/drawing/2014/main" id="{BE33203C-3432-B091-B34A-E1790B1B7CEB}"/>
              </a:ext>
            </a:extLst>
          </p:cNvPr>
          <p:cNvPicPr>
            <a:picLocks noChangeAspect="1"/>
          </p:cNvPicPr>
          <p:nvPr/>
        </p:nvPicPr>
        <p:blipFill>
          <a:blip r:embed="rId2"/>
          <a:stretch>
            <a:fillRect/>
          </a:stretch>
        </p:blipFill>
        <p:spPr>
          <a:xfrm>
            <a:off x="3935504" y="3648950"/>
            <a:ext cx="7995891" cy="1943037"/>
          </a:xfrm>
          <a:prstGeom prst="rect">
            <a:avLst/>
          </a:prstGeom>
        </p:spPr>
      </p:pic>
    </p:spTree>
    <p:extLst>
      <p:ext uri="{BB962C8B-B14F-4D97-AF65-F5344CB8AC3E}">
        <p14:creationId xmlns:p14="http://schemas.microsoft.com/office/powerpoint/2010/main" val="411706792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3085-8B4B-466B-316A-1C8C6A46A0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9AD111-451A-BF91-BDB3-21ADD374D86D}"/>
              </a:ext>
            </a:extLst>
          </p:cNvPr>
          <p:cNvSpPr txBox="1"/>
          <p:nvPr/>
        </p:nvSpPr>
        <p:spPr>
          <a:xfrm>
            <a:off x="528918" y="421341"/>
            <a:ext cx="11143129" cy="4770537"/>
          </a:xfrm>
          <a:prstGeom prst="rect">
            <a:avLst/>
          </a:prstGeom>
          <a:noFill/>
        </p:spPr>
        <p:txBody>
          <a:bodyPr wrap="square" rtlCol="0">
            <a:spAutoFit/>
          </a:bodyPr>
          <a:lstStyle/>
          <a:p>
            <a:r>
              <a:rPr lang="en-IN" sz="2400" b="1" dirty="0"/>
              <a:t>Creating a Page Header</a:t>
            </a:r>
            <a:endParaRPr lang="en-US" sz="3200" b="1" dirty="0"/>
          </a:p>
          <a:p>
            <a:endParaRPr lang="en-US" sz="2000" dirty="0"/>
          </a:p>
          <a:p>
            <a:pPr marL="342900" indent="-342900" algn="just">
              <a:buFont typeface="Arial" panose="020B0604020202020204" pitchFamily="34" charset="0"/>
              <a:buChar char="•"/>
            </a:pPr>
            <a:r>
              <a:rPr lang="en-US" sz="2000" dirty="0"/>
              <a:t>A page header is like a section divider.</a:t>
            </a:r>
          </a:p>
          <a:p>
            <a:pPr marL="342900" indent="-342900" algn="just">
              <a:buFont typeface="Arial" panose="020B0604020202020204" pitchFamily="34" charset="0"/>
              <a:buChar char="•"/>
            </a:pPr>
            <a:r>
              <a:rPr lang="en-US" sz="2000" dirty="0"/>
              <a:t>The </a:t>
            </a:r>
            <a:r>
              <a:rPr lang="en-US" sz="2000" dirty="0">
                <a:solidFill>
                  <a:srgbClr val="FF0000"/>
                </a:solidFill>
              </a:rPr>
              <a:t>.page-header </a:t>
            </a:r>
            <a:r>
              <a:rPr lang="en-US" sz="2000" dirty="0"/>
              <a:t>class adds a horizontal line under the heading (+ adds some extra space around the element):</a:t>
            </a:r>
          </a:p>
          <a:p>
            <a:pPr lvl="1"/>
            <a:endParaRPr lang="en-US" sz="1600" dirty="0">
              <a:solidFill>
                <a:srgbClr val="0000CD"/>
              </a:solidFill>
              <a:effectLst/>
              <a:latin typeface="Consolas" panose="020B0609020204030204" pitchFamily="49" charset="0"/>
              <a:ea typeface="Times New Roman" panose="02020603050405020304" pitchFamily="18" charset="0"/>
            </a:endParaRPr>
          </a:p>
          <a:p>
            <a:pPr lvl="1"/>
            <a:r>
              <a:rPr lang="en-US" sz="1600" dirty="0">
                <a:solidFill>
                  <a:srgbClr val="0000CD"/>
                </a:solidFill>
                <a:effectLst/>
                <a:latin typeface="Consolas" panose="020B0609020204030204" pitchFamily="49" charset="0"/>
                <a:ea typeface="Times New Roman" panose="02020603050405020304" pitchFamily="18" charset="0"/>
              </a:rPr>
              <a:t>&lt;body&gt;</a:t>
            </a:r>
          </a:p>
          <a:p>
            <a:pPr lvl="1"/>
            <a:r>
              <a:rPr lang="en-US" sz="1600" dirty="0">
                <a:solidFill>
                  <a:srgbClr val="0000CD"/>
                </a:solidFill>
                <a:effectLst/>
                <a:latin typeface="Consolas" panose="020B0609020204030204" pitchFamily="49" charset="0"/>
                <a:ea typeface="Times New Roman" panose="02020603050405020304" pitchFamily="18" charset="0"/>
              </a:rPr>
              <a:t>&lt;div class="container"&gt;</a:t>
            </a:r>
          </a:p>
          <a:p>
            <a:pPr lvl="1"/>
            <a:r>
              <a:rPr lang="en-US" sz="1600" dirty="0">
                <a:solidFill>
                  <a:srgbClr val="0000CD"/>
                </a:solidFill>
                <a:effectLst/>
                <a:latin typeface="Consolas" panose="020B0609020204030204" pitchFamily="49" charset="0"/>
                <a:ea typeface="Times New Roman" panose="02020603050405020304" pitchFamily="18" charset="0"/>
              </a:rPr>
              <a:t>  &lt;div class="page-header"&gt;</a:t>
            </a:r>
          </a:p>
          <a:p>
            <a:pPr lvl="1"/>
            <a:r>
              <a:rPr lang="en-US" sz="1600" dirty="0">
                <a:solidFill>
                  <a:srgbClr val="0000CD"/>
                </a:solidFill>
                <a:effectLst/>
                <a:latin typeface="Consolas" panose="020B0609020204030204" pitchFamily="49" charset="0"/>
                <a:ea typeface="Times New Roman" panose="02020603050405020304" pitchFamily="18" charset="0"/>
              </a:rPr>
              <a:t>    &lt;h1&gt;Example Page Header&lt;/h1&gt;      </a:t>
            </a:r>
          </a:p>
          <a:p>
            <a:pPr lvl="1"/>
            <a:r>
              <a:rPr lang="en-US" sz="1600" dirty="0">
                <a:solidFill>
                  <a:srgbClr val="0000CD"/>
                </a:solidFill>
                <a:effectLst/>
                <a:latin typeface="Consolas" panose="020B0609020204030204" pitchFamily="49" charset="0"/>
                <a:ea typeface="Times New Roman" panose="02020603050405020304" pitchFamily="18" charset="0"/>
              </a:rPr>
              <a:t>  &lt;/div&gt;</a:t>
            </a:r>
          </a:p>
          <a:p>
            <a:pPr lvl="1"/>
            <a:r>
              <a:rPr lang="en-US" sz="1600" dirty="0">
                <a:solidFill>
                  <a:srgbClr val="0000CD"/>
                </a:solidFill>
                <a:effectLst/>
                <a:latin typeface="Consolas" panose="020B0609020204030204" pitchFamily="49" charset="0"/>
                <a:ea typeface="Times New Roman" panose="02020603050405020304" pitchFamily="18" charset="0"/>
              </a:rPr>
              <a:t>  &lt;p&gt;This is some text.&lt;/p&gt;      </a:t>
            </a:r>
          </a:p>
          <a:p>
            <a:pPr lvl="1"/>
            <a:r>
              <a:rPr lang="en-US" sz="1600" dirty="0">
                <a:solidFill>
                  <a:srgbClr val="0000CD"/>
                </a:solidFill>
                <a:effectLst/>
                <a:latin typeface="Consolas" panose="020B0609020204030204" pitchFamily="49" charset="0"/>
                <a:ea typeface="Times New Roman" panose="02020603050405020304" pitchFamily="18" charset="0"/>
              </a:rPr>
              <a:t>  &lt;p&gt;This is another text.&lt;/p&gt;      </a:t>
            </a:r>
          </a:p>
          <a:p>
            <a:pPr lvl="1"/>
            <a:r>
              <a:rPr lang="en-US" sz="1600" dirty="0">
                <a:solidFill>
                  <a:srgbClr val="0000CD"/>
                </a:solidFill>
                <a:effectLst/>
                <a:latin typeface="Consolas" panose="020B0609020204030204" pitchFamily="49" charset="0"/>
                <a:ea typeface="Times New Roman" panose="02020603050405020304" pitchFamily="18" charset="0"/>
              </a:rPr>
              <a:t>&lt;/div&gt;</a:t>
            </a:r>
          </a:p>
          <a:p>
            <a:pPr lvl="1"/>
            <a:r>
              <a:rPr lang="en-US" sz="1600" dirty="0">
                <a:solidFill>
                  <a:srgbClr val="0000CD"/>
                </a:solidFill>
                <a:effectLst/>
                <a:latin typeface="Consolas" panose="020B0609020204030204" pitchFamily="49" charset="0"/>
                <a:ea typeface="Times New Roman" panose="02020603050405020304" pitchFamily="18" charset="0"/>
              </a:rPr>
              <a:t>&lt;/body&gt;</a:t>
            </a:r>
            <a:endParaRPr lang="en-US" sz="1600" dirty="0"/>
          </a:p>
          <a:p>
            <a:endParaRPr lang="en-US" sz="2000" dirty="0"/>
          </a:p>
          <a:p>
            <a:endParaRPr lang="en-IN" sz="2000" dirty="0"/>
          </a:p>
        </p:txBody>
      </p:sp>
      <p:pic>
        <p:nvPicPr>
          <p:cNvPr id="5" name="Picture 4">
            <a:extLst>
              <a:ext uri="{FF2B5EF4-FFF2-40B4-BE49-F238E27FC236}">
                <a16:creationId xmlns:a16="http://schemas.microsoft.com/office/drawing/2014/main" id="{27245BFF-AE64-F9E1-7CE4-D45254354833}"/>
              </a:ext>
            </a:extLst>
          </p:cNvPr>
          <p:cNvPicPr>
            <a:picLocks noChangeAspect="1"/>
          </p:cNvPicPr>
          <p:nvPr/>
        </p:nvPicPr>
        <p:blipFill>
          <a:blip r:embed="rId2"/>
          <a:stretch>
            <a:fillRect/>
          </a:stretch>
        </p:blipFill>
        <p:spPr>
          <a:xfrm>
            <a:off x="4574567" y="4182087"/>
            <a:ext cx="7363853" cy="2019582"/>
          </a:xfrm>
          <a:prstGeom prst="rect">
            <a:avLst/>
          </a:prstGeom>
        </p:spPr>
      </p:pic>
    </p:spTree>
    <p:extLst>
      <p:ext uri="{BB962C8B-B14F-4D97-AF65-F5344CB8AC3E}">
        <p14:creationId xmlns:p14="http://schemas.microsoft.com/office/powerpoint/2010/main" val="12704173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7367-C8D2-4EC0-DEBE-7E32D450B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9145F5-9BAD-78B8-6208-BA7F6F9CB3E5}"/>
              </a:ext>
            </a:extLst>
          </p:cNvPr>
          <p:cNvSpPr txBox="1"/>
          <p:nvPr/>
        </p:nvSpPr>
        <p:spPr>
          <a:xfrm>
            <a:off x="528918" y="421341"/>
            <a:ext cx="11143129" cy="5873403"/>
          </a:xfrm>
          <a:prstGeom prst="rect">
            <a:avLst/>
          </a:prstGeom>
          <a:noFill/>
        </p:spPr>
        <p:txBody>
          <a:bodyPr wrap="square" rtlCol="0">
            <a:spAutoFit/>
          </a:bodyPr>
          <a:lstStyle/>
          <a:p>
            <a:r>
              <a:rPr lang="en-US" sz="2400" dirty="0"/>
              <a:t>Wells</a:t>
            </a:r>
          </a:p>
          <a:p>
            <a:endParaRPr lang="en-US" sz="2000" dirty="0"/>
          </a:p>
          <a:p>
            <a:pPr marL="342900" indent="-342900">
              <a:buFont typeface="Arial" panose="020B0604020202020204" pitchFamily="34" charset="0"/>
              <a:buChar char="•"/>
            </a:pPr>
            <a:r>
              <a:rPr lang="en-US" sz="2000" dirty="0"/>
              <a:t>The .well class adds a rounded border around an element with a gray background color and some padding:</a:t>
            </a:r>
            <a:endParaRPr lang="en-US" sz="2000" dirty="0">
              <a:solidFill>
                <a:srgbClr val="00B0F0"/>
              </a:solidFill>
            </a:endParaRPr>
          </a:p>
          <a:p>
            <a:pPr lvl="1"/>
            <a:r>
              <a:rPr lang="en-US" sz="2000" dirty="0">
                <a:solidFill>
                  <a:srgbClr val="00B0F0"/>
                </a:solidFill>
              </a:rPr>
              <a:t>&lt;body&gt; </a:t>
            </a:r>
          </a:p>
          <a:p>
            <a:pPr lvl="1"/>
            <a:r>
              <a:rPr lang="en-US" sz="2000" dirty="0">
                <a:solidFill>
                  <a:srgbClr val="00B0F0"/>
                </a:solidFill>
              </a:rPr>
              <a:t>&lt;div class="container"&gt;</a:t>
            </a:r>
          </a:p>
          <a:p>
            <a:pPr lvl="1"/>
            <a:r>
              <a:rPr lang="en-US" sz="2000" dirty="0">
                <a:solidFill>
                  <a:srgbClr val="00B0F0"/>
                </a:solidFill>
              </a:rPr>
              <a:t>  	&lt;h2&gt;Well&lt;/h2&gt;</a:t>
            </a:r>
          </a:p>
          <a:p>
            <a:pPr lvl="1"/>
            <a:r>
              <a:rPr lang="en-US" sz="2000" dirty="0">
                <a:solidFill>
                  <a:srgbClr val="00B0F0"/>
                </a:solidFill>
              </a:rPr>
              <a:t>  	&lt;div </a:t>
            </a:r>
            <a:r>
              <a:rPr lang="en-US" sz="2000" dirty="0">
                <a:solidFill>
                  <a:srgbClr val="FF0000"/>
                </a:solidFill>
              </a:rPr>
              <a:t>class="well"</a:t>
            </a:r>
            <a:r>
              <a:rPr lang="en-US" sz="2000" dirty="0">
                <a:solidFill>
                  <a:srgbClr val="00B0F0"/>
                </a:solidFill>
              </a:rPr>
              <a:t>&gt;Basic Well&lt;/div&gt;</a:t>
            </a:r>
          </a:p>
          <a:p>
            <a:pPr lvl="1"/>
            <a:r>
              <a:rPr lang="en-US" sz="2000" dirty="0">
                <a:solidFill>
                  <a:srgbClr val="00B0F0"/>
                </a:solidFill>
              </a:rPr>
              <a:t>	&lt;/div&gt;</a:t>
            </a:r>
          </a:p>
          <a:p>
            <a:pPr lvl="1"/>
            <a:r>
              <a:rPr lang="en-US" sz="2000" dirty="0">
                <a:solidFill>
                  <a:srgbClr val="00B0F0"/>
                </a:solidFill>
              </a:rPr>
              <a:t>&lt;/body&gt;</a:t>
            </a:r>
          </a:p>
          <a:p>
            <a:endParaRPr lang="en-US" sz="2000" dirty="0"/>
          </a:p>
          <a:p>
            <a:endParaRPr lang="en-US" sz="2000" dirty="0"/>
          </a:p>
          <a:p>
            <a:endParaRPr lang="en-US" sz="2000" dirty="0"/>
          </a:p>
          <a:p>
            <a:endParaRPr lang="en-US" sz="2000" dirty="0"/>
          </a:p>
          <a:p>
            <a:pPr marL="342900" indent="-342900">
              <a:buFont typeface="Arial" panose="020B0604020202020204" pitchFamily="34" charset="0"/>
              <a:buChar char="•"/>
            </a:pPr>
            <a:r>
              <a:rPr lang="en-US" sz="2000" dirty="0"/>
              <a:t>Change the size of the well by adding the .well-</a:t>
            </a:r>
            <a:r>
              <a:rPr lang="en-US" sz="2000" dirty="0" err="1"/>
              <a:t>sm</a:t>
            </a:r>
            <a:r>
              <a:rPr lang="en-US" sz="2000" dirty="0"/>
              <a:t> class for small wells or  .well-lg class for large wells.</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="well well-</a:t>
            </a:r>
            <a:r>
              <a:rPr lang="en-IN" sz="2000" dirty="0" err="1">
                <a:solidFill>
                  <a:srgbClr val="0000CD"/>
                </a:solidFill>
                <a:effectLst/>
                <a:latin typeface="Consolas" panose="020B0609020204030204" pitchFamily="49" charset="0"/>
                <a:ea typeface="Times New Roman" panose="02020603050405020304" pitchFamily="18" charset="0"/>
              </a:rPr>
              <a:t>sm</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Small Well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="well well-</a:t>
            </a:r>
            <a:r>
              <a:rPr lang="en-IN" sz="2000" dirty="0" err="1">
                <a:solidFill>
                  <a:srgbClr val="0000CD"/>
                </a:solidFill>
                <a:effectLst/>
                <a:latin typeface="Consolas" panose="020B0609020204030204" pitchFamily="49" charset="0"/>
                <a:ea typeface="Times New Roman" panose="02020603050405020304" pitchFamily="18" charset="0"/>
              </a:rPr>
              <a:t>lg</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Large Well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/div</a:t>
            </a:r>
            <a:r>
              <a:rPr lang="en-IN" sz="2000" dirty="0">
                <a:solidFill>
                  <a:srgbClr val="0000CD"/>
                </a:solidFill>
                <a:effectLst/>
                <a:latin typeface="Consolas" panose="020B0609020204030204" pitchFamily="49" charset="0"/>
                <a:ea typeface="Times New Roman" panose="02020603050405020304" pitchFamily="18" charset="0"/>
              </a:rPr>
              <a:t>&gt;</a:t>
            </a:r>
            <a:endParaRPr lang="en-IN" sz="2000" dirty="0"/>
          </a:p>
        </p:txBody>
      </p:sp>
      <p:pic>
        <p:nvPicPr>
          <p:cNvPr id="7" name="Picture 6">
            <a:extLst>
              <a:ext uri="{FF2B5EF4-FFF2-40B4-BE49-F238E27FC236}">
                <a16:creationId xmlns:a16="http://schemas.microsoft.com/office/drawing/2014/main" id="{BAFA4268-019E-9A49-07AA-F4E2AC70D2FD}"/>
              </a:ext>
            </a:extLst>
          </p:cNvPr>
          <p:cNvPicPr>
            <a:picLocks noChangeAspect="1"/>
          </p:cNvPicPr>
          <p:nvPr/>
        </p:nvPicPr>
        <p:blipFill>
          <a:blip r:embed="rId2"/>
          <a:stretch>
            <a:fillRect/>
          </a:stretch>
        </p:blipFill>
        <p:spPr>
          <a:xfrm>
            <a:off x="1255059" y="3767728"/>
            <a:ext cx="8982636" cy="874690"/>
          </a:xfrm>
          <a:prstGeom prst="rect">
            <a:avLst/>
          </a:prstGeom>
        </p:spPr>
      </p:pic>
    </p:spTree>
    <p:extLst>
      <p:ext uri="{BB962C8B-B14F-4D97-AF65-F5344CB8AC3E}">
        <p14:creationId xmlns:p14="http://schemas.microsoft.com/office/powerpoint/2010/main" val="98064690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9809-427F-6D29-D3D7-04F98D44DB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D0C25D-58A2-76BF-3A2C-D09EBCEA6062}"/>
              </a:ext>
            </a:extLst>
          </p:cNvPr>
          <p:cNvSpPr txBox="1"/>
          <p:nvPr/>
        </p:nvSpPr>
        <p:spPr>
          <a:xfrm>
            <a:off x="524435" y="466164"/>
            <a:ext cx="11143129" cy="2339102"/>
          </a:xfrm>
          <a:prstGeom prst="rect">
            <a:avLst/>
          </a:prstGeom>
          <a:noFill/>
        </p:spPr>
        <p:txBody>
          <a:bodyPr wrap="square" rtlCol="0">
            <a:spAutoFit/>
          </a:bodyPr>
          <a:lstStyle/>
          <a:p>
            <a:r>
              <a:rPr lang="en-IN" sz="2800" dirty="0"/>
              <a:t>Alerts</a:t>
            </a:r>
            <a:endParaRPr lang="en-US" sz="2400" dirty="0"/>
          </a:p>
          <a:p>
            <a:endParaRPr lang="en-US" sz="2000" dirty="0"/>
          </a:p>
          <a:p>
            <a:pPr marL="285750" indent="-285750" algn="just">
              <a:buFont typeface="Arial" panose="020B0604020202020204" pitchFamily="34" charset="0"/>
              <a:buChar char="•"/>
            </a:pPr>
            <a:r>
              <a:rPr lang="en-IN" dirty="0"/>
              <a:t>Bootstrap provides an easy way to create predefined alert messages:</a:t>
            </a:r>
          </a:p>
          <a:p>
            <a:pPr marL="342900" indent="-342900" algn="just">
              <a:buFont typeface="Arial" panose="020B0604020202020204" pitchFamily="34" charset="0"/>
              <a:buChar char="•"/>
            </a:pPr>
            <a:r>
              <a:rPr lang="en-US" sz="2000" dirty="0"/>
              <a:t>Alerts are created with the </a:t>
            </a:r>
            <a:r>
              <a:rPr lang="en-US" sz="2000" dirty="0">
                <a:solidFill>
                  <a:srgbClr val="FF0000"/>
                </a:solidFill>
              </a:rPr>
              <a:t>.alert </a:t>
            </a:r>
            <a:r>
              <a:rPr lang="en-US" sz="2000" dirty="0"/>
              <a:t>class, followed by one of the four contextual classes </a:t>
            </a:r>
            <a:r>
              <a:rPr lang="en-US" sz="2000" dirty="0">
                <a:solidFill>
                  <a:srgbClr val="FF0000"/>
                </a:solidFill>
              </a:rPr>
              <a:t>.alert-success</a:t>
            </a:r>
            <a:r>
              <a:rPr lang="en-US" sz="2000" dirty="0"/>
              <a:t>, </a:t>
            </a:r>
            <a:r>
              <a:rPr lang="en-US" sz="2000" dirty="0">
                <a:solidFill>
                  <a:srgbClr val="FF0000"/>
                </a:solidFill>
              </a:rPr>
              <a:t>.alert-info, .alert-warning </a:t>
            </a:r>
            <a:r>
              <a:rPr lang="en-US" sz="2000" dirty="0"/>
              <a:t>or</a:t>
            </a:r>
            <a:r>
              <a:rPr lang="en-US" sz="2000" dirty="0">
                <a:solidFill>
                  <a:srgbClr val="FF0000"/>
                </a:solidFill>
              </a:rPr>
              <a:t> .alert-danger</a:t>
            </a:r>
          </a:p>
          <a:p>
            <a:endParaRPr lang="en-US" sz="2000" dirty="0"/>
          </a:p>
          <a:p>
            <a:endParaRPr lang="en-IN" sz="2000" dirty="0"/>
          </a:p>
        </p:txBody>
      </p:sp>
      <p:pic>
        <p:nvPicPr>
          <p:cNvPr id="5" name="Picture 4" descr="A screenshot of a computer code&#10;&#10;Description automatically generated">
            <a:extLst>
              <a:ext uri="{FF2B5EF4-FFF2-40B4-BE49-F238E27FC236}">
                <a16:creationId xmlns:a16="http://schemas.microsoft.com/office/drawing/2014/main" id="{08442E14-CD8A-5711-CDF4-4DEA52B951B5}"/>
              </a:ext>
            </a:extLst>
          </p:cNvPr>
          <p:cNvPicPr>
            <a:picLocks noChangeAspect="1"/>
          </p:cNvPicPr>
          <p:nvPr/>
        </p:nvPicPr>
        <p:blipFill>
          <a:blip r:embed="rId2"/>
          <a:stretch>
            <a:fillRect/>
          </a:stretch>
        </p:blipFill>
        <p:spPr>
          <a:xfrm>
            <a:off x="147916" y="2626602"/>
            <a:ext cx="7013153" cy="3433539"/>
          </a:xfrm>
          <a:prstGeom prst="rect">
            <a:avLst/>
          </a:prstGeom>
        </p:spPr>
      </p:pic>
      <p:pic>
        <p:nvPicPr>
          <p:cNvPr id="6" name="Picture 5" descr="A group of text boxes&#10;&#10;Description automatically generated">
            <a:extLst>
              <a:ext uri="{FF2B5EF4-FFF2-40B4-BE49-F238E27FC236}">
                <a16:creationId xmlns:a16="http://schemas.microsoft.com/office/drawing/2014/main" id="{86E241E8-0FC2-8511-42CA-2A01513618E8}"/>
              </a:ext>
            </a:extLst>
          </p:cNvPr>
          <p:cNvPicPr>
            <a:picLocks noChangeAspect="1"/>
          </p:cNvPicPr>
          <p:nvPr/>
        </p:nvPicPr>
        <p:blipFill>
          <a:blip r:embed="rId3"/>
          <a:stretch>
            <a:fillRect/>
          </a:stretch>
        </p:blipFill>
        <p:spPr>
          <a:xfrm>
            <a:off x="6312573" y="2724598"/>
            <a:ext cx="5955102" cy="1892226"/>
          </a:xfrm>
          <a:prstGeom prst="rect">
            <a:avLst/>
          </a:prstGeom>
        </p:spPr>
      </p:pic>
    </p:spTree>
    <p:extLst>
      <p:ext uri="{BB962C8B-B14F-4D97-AF65-F5344CB8AC3E}">
        <p14:creationId xmlns:p14="http://schemas.microsoft.com/office/powerpoint/2010/main" val="262083809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F0D1-28DA-60C7-3D73-A29A002543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5EB7AF-5502-ECA1-33F7-D5D7F5FF4F3B}"/>
              </a:ext>
            </a:extLst>
          </p:cNvPr>
          <p:cNvSpPr txBox="1"/>
          <p:nvPr/>
        </p:nvSpPr>
        <p:spPr>
          <a:xfrm>
            <a:off x="528918" y="421341"/>
            <a:ext cx="11143129" cy="4390946"/>
          </a:xfrm>
          <a:prstGeom prst="rect">
            <a:avLst/>
          </a:prstGeom>
          <a:noFill/>
        </p:spPr>
        <p:txBody>
          <a:bodyPr wrap="square" rtlCol="0">
            <a:spAutoFit/>
          </a:bodyPr>
          <a:lstStyle/>
          <a:p>
            <a:r>
              <a:rPr lang="en-US" sz="2400" dirty="0"/>
              <a:t>Alert continued…</a:t>
            </a:r>
          </a:p>
          <a:p>
            <a:endParaRPr lang="en-US" sz="2000" dirty="0"/>
          </a:p>
          <a:p>
            <a:pPr marL="342900" indent="-342900">
              <a:buFont typeface="Arial" panose="020B0604020202020204" pitchFamily="34" charset="0"/>
              <a:buChar char="•"/>
            </a:pPr>
            <a:r>
              <a:rPr lang="en-US" sz="2000" dirty="0"/>
              <a:t>We can add the </a:t>
            </a:r>
            <a:r>
              <a:rPr lang="en-US" sz="2000" dirty="0">
                <a:solidFill>
                  <a:srgbClr val="FF0000"/>
                </a:solidFill>
              </a:rPr>
              <a:t>alert-link</a:t>
            </a:r>
            <a:r>
              <a:rPr lang="en-US" sz="2000" dirty="0"/>
              <a:t> class to any links inside the alert box to create "matching colored links":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close the alert message, add a .</a:t>
            </a:r>
            <a:r>
              <a:rPr lang="en-US" sz="2000" dirty="0">
                <a:solidFill>
                  <a:srgbClr val="FF0000"/>
                </a:solidFill>
              </a:rPr>
              <a:t>alert-dismissible</a:t>
            </a:r>
            <a:r>
              <a:rPr lang="en-US" sz="2000" dirty="0"/>
              <a:t> class to the alert container. Then add </a:t>
            </a:r>
            <a:r>
              <a:rPr lang="en-US" sz="2000" dirty="0">
                <a:solidFill>
                  <a:srgbClr val="FF0000"/>
                </a:solidFill>
              </a:rPr>
              <a:t>class="close" </a:t>
            </a:r>
            <a:r>
              <a:rPr lang="en-US" sz="2000" dirty="0"/>
              <a:t>and </a:t>
            </a:r>
            <a:r>
              <a:rPr lang="en-US" sz="2000" dirty="0">
                <a:solidFill>
                  <a:srgbClr val="FF0000"/>
                </a:solidFill>
              </a:rPr>
              <a:t>data-dismiss="alert" </a:t>
            </a:r>
            <a:r>
              <a:rPr lang="en-US" sz="2000" dirty="0"/>
              <a:t>to a link or a button element (when you click on this the alert box will disappear).</a:t>
            </a:r>
          </a:p>
          <a:p>
            <a:pPr marL="342900" indent="-342900">
              <a:buFont typeface="Arial" panose="020B0604020202020204" pitchFamily="34" charset="0"/>
              <a:buChar char="•"/>
            </a:pPr>
            <a:endParaRPr lang="en-US" sz="2000" dirty="0"/>
          </a:p>
          <a:p>
            <a:pPr lvl="1">
              <a:spcBef>
                <a:spcPts val="1440"/>
              </a:spcBef>
              <a:spcAft>
                <a:spcPts val="1440"/>
              </a:spcAft>
            </a:pP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="alert alert-success alert-dismissible"&gt;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a</a:t>
            </a:r>
            <a:r>
              <a:rPr lang="en-IN" dirty="0">
                <a:solidFill>
                  <a:srgbClr val="FF0000"/>
                </a:solidFill>
                <a:effectLst/>
                <a:latin typeface="Consolas" panose="020B0609020204030204" pitchFamily="49" charset="0"/>
                <a:ea typeface="Times New Roman" panose="02020603050405020304" pitchFamily="18" charset="0"/>
              </a:rPr>
              <a:t> </a:t>
            </a:r>
            <a:r>
              <a:rPr lang="en-IN" dirty="0" err="1">
                <a:solidFill>
                  <a:srgbClr val="FF0000"/>
                </a:solidFill>
                <a:effectLst/>
                <a:latin typeface="Consolas" panose="020B0609020204030204" pitchFamily="49" charset="0"/>
                <a:ea typeface="Times New Roman" panose="02020603050405020304" pitchFamily="18" charset="0"/>
              </a:rPr>
              <a:t>href</a:t>
            </a:r>
            <a:r>
              <a:rPr lang="en-IN" dirty="0">
                <a:solidFill>
                  <a:srgbClr val="0000CD"/>
                </a:solidFill>
                <a:effectLst/>
                <a:latin typeface="Consolas" panose="020B0609020204030204" pitchFamily="49" charset="0"/>
                <a:ea typeface="Times New Roman" panose="02020603050405020304" pitchFamily="18" charset="0"/>
              </a:rPr>
              <a:t>="#"</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="close"</a:t>
            </a:r>
            <a:r>
              <a:rPr lang="en-IN" dirty="0">
                <a:solidFill>
                  <a:srgbClr val="FF0000"/>
                </a:solidFill>
                <a:effectLst/>
                <a:latin typeface="Consolas" panose="020B0609020204030204" pitchFamily="49" charset="0"/>
                <a:ea typeface="Times New Roman" panose="02020603050405020304" pitchFamily="18" charset="0"/>
              </a:rPr>
              <a:t> data-dismiss</a:t>
            </a:r>
            <a:r>
              <a:rPr lang="en-IN" dirty="0">
                <a:solidFill>
                  <a:srgbClr val="0000CD"/>
                </a:solidFill>
                <a:effectLst/>
                <a:latin typeface="Consolas" panose="020B0609020204030204" pitchFamily="49" charset="0"/>
                <a:ea typeface="Times New Roman" panose="02020603050405020304" pitchFamily="18" charset="0"/>
              </a:rPr>
              <a:t>="alert"</a:t>
            </a:r>
            <a:r>
              <a:rPr lang="en-IN" dirty="0">
                <a:solidFill>
                  <a:srgbClr val="FF0000"/>
                </a:solidFill>
                <a:effectLst/>
                <a:latin typeface="Consolas" panose="020B0609020204030204" pitchFamily="49" charset="0"/>
                <a:ea typeface="Times New Roman" panose="02020603050405020304" pitchFamily="18" charset="0"/>
              </a:rPr>
              <a:t> aria-label</a:t>
            </a:r>
            <a:r>
              <a:rPr lang="en-IN" dirty="0">
                <a:solidFill>
                  <a:srgbClr val="0000CD"/>
                </a:solidFill>
                <a:effectLst/>
                <a:latin typeface="Consolas" panose="020B0609020204030204" pitchFamily="49" charset="0"/>
                <a:ea typeface="Times New Roman" panose="02020603050405020304" pitchFamily="18" charset="0"/>
              </a:rPr>
              <a:t>="close"&gt;</a:t>
            </a:r>
            <a:r>
              <a:rPr lang="en-IN" dirty="0">
                <a:solidFill>
                  <a:srgbClr val="000000"/>
                </a:solidFill>
                <a:effectLst/>
                <a:latin typeface="Consolas" panose="020B0609020204030204" pitchFamily="49" charset="0"/>
                <a:ea typeface="Times New Roman" panose="02020603050405020304" pitchFamily="18" charset="0"/>
              </a:rPr>
              <a:t>&amp;times;</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/a</a:t>
            </a:r>
            <a:r>
              <a:rPr lang="en-IN" dirty="0">
                <a:solidFill>
                  <a:srgbClr val="0000CD"/>
                </a:solidFill>
                <a:effectLst/>
                <a:latin typeface="Consolas" panose="020B0609020204030204" pitchFamily="49" charset="0"/>
                <a:ea typeface="Times New Roman" panose="02020603050405020304" pitchFamily="18" charset="0"/>
              </a:rPr>
              <a:t>&gt;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strong</a:t>
            </a:r>
            <a:r>
              <a:rPr lang="en-IN" dirty="0">
                <a:solidFill>
                  <a:srgbClr val="0000CD"/>
                </a:solidFill>
                <a:effectLst/>
                <a:latin typeface="Consolas" panose="020B0609020204030204" pitchFamily="49" charset="0"/>
                <a:ea typeface="Times New Roman" panose="02020603050405020304" pitchFamily="18" charset="0"/>
              </a:rPr>
              <a:t>&gt;</a:t>
            </a:r>
            <a:r>
              <a:rPr lang="en-IN" dirty="0">
                <a:solidFill>
                  <a:srgbClr val="000000"/>
                </a:solidFill>
                <a:effectLst/>
                <a:latin typeface="Consolas" panose="020B0609020204030204" pitchFamily="49" charset="0"/>
                <a:ea typeface="Times New Roman" panose="02020603050405020304" pitchFamily="18" charset="0"/>
              </a:rPr>
              <a:t>Success!</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/strong</a:t>
            </a:r>
            <a:r>
              <a:rPr lang="en-IN" dirty="0">
                <a:solidFill>
                  <a:srgbClr val="0000CD"/>
                </a:solidFill>
                <a:effectLst/>
                <a:latin typeface="Consolas" panose="020B0609020204030204" pitchFamily="49" charset="0"/>
                <a:ea typeface="Times New Roman" panose="02020603050405020304" pitchFamily="18" charset="0"/>
              </a:rPr>
              <a:t>&gt;</a:t>
            </a:r>
            <a:r>
              <a:rPr lang="en-IN" dirty="0">
                <a:solidFill>
                  <a:srgbClr val="000000"/>
                </a:solidFill>
                <a:effectLst/>
                <a:latin typeface="Consolas" panose="020B0609020204030204" pitchFamily="49" charset="0"/>
                <a:ea typeface="Times New Roman" panose="02020603050405020304" pitchFamily="18" charset="0"/>
              </a:rPr>
              <a:t> Indicates a successful or positive action.</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0000CD"/>
                </a:solidFill>
                <a:effectLst/>
                <a:latin typeface="Consolas" panose="020B0609020204030204" pitchFamily="49" charset="0"/>
                <a:ea typeface="Times New Roman" panose="02020603050405020304" pitchFamily="18" charset="0"/>
              </a:rPr>
              <a:t>&gt;</a:t>
            </a:r>
            <a:endParaRPr lang="en-IN" dirty="0">
              <a:effectLst/>
              <a:latin typeface="Times New Roman" panose="02020603050405020304" pitchFamily="18" charset="0"/>
              <a:ea typeface="Times New Roman" panose="02020603050405020304" pitchFamily="18" charset="0"/>
            </a:endParaRPr>
          </a:p>
          <a:p>
            <a:endParaRPr lang="en-IN" sz="2000" dirty="0"/>
          </a:p>
        </p:txBody>
      </p:sp>
      <p:pic>
        <p:nvPicPr>
          <p:cNvPr id="5" name="Picture 4">
            <a:extLst>
              <a:ext uri="{FF2B5EF4-FFF2-40B4-BE49-F238E27FC236}">
                <a16:creationId xmlns:a16="http://schemas.microsoft.com/office/drawing/2014/main" id="{AB0ACB79-068D-BEF0-667B-EEB7D6FB1A1A}"/>
              </a:ext>
            </a:extLst>
          </p:cNvPr>
          <p:cNvPicPr>
            <a:picLocks noChangeAspect="1"/>
          </p:cNvPicPr>
          <p:nvPr/>
        </p:nvPicPr>
        <p:blipFill>
          <a:blip r:embed="rId2"/>
          <a:stretch>
            <a:fillRect/>
          </a:stretch>
        </p:blipFill>
        <p:spPr>
          <a:xfrm>
            <a:off x="256178" y="4706130"/>
            <a:ext cx="11679644" cy="654764"/>
          </a:xfrm>
          <a:prstGeom prst="rect">
            <a:avLst/>
          </a:prstGeom>
        </p:spPr>
      </p:pic>
    </p:spTree>
    <p:extLst>
      <p:ext uri="{BB962C8B-B14F-4D97-AF65-F5344CB8AC3E}">
        <p14:creationId xmlns:p14="http://schemas.microsoft.com/office/powerpoint/2010/main" val="4699491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D64DC-935A-6431-12E8-DF93967B8B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D8D5CF-B797-5F49-7918-BB5E9E207031}"/>
              </a:ext>
            </a:extLst>
          </p:cNvPr>
          <p:cNvSpPr txBox="1"/>
          <p:nvPr/>
        </p:nvSpPr>
        <p:spPr>
          <a:xfrm>
            <a:off x="528918" y="421341"/>
            <a:ext cx="11143129" cy="5774273"/>
          </a:xfrm>
          <a:prstGeom prst="rect">
            <a:avLst/>
          </a:prstGeom>
          <a:noFill/>
        </p:spPr>
        <p:txBody>
          <a:bodyPr wrap="square" rtlCol="0">
            <a:spAutoFit/>
          </a:bodyPr>
          <a:lstStyle/>
          <a:p>
            <a:r>
              <a:rPr lang="en-IN" b="1" dirty="0"/>
              <a:t>Bootstrap Buttons</a:t>
            </a:r>
            <a:endParaRPr lang="en-US" sz="2400" dirty="0"/>
          </a:p>
          <a:p>
            <a:endParaRPr lang="en-US" sz="2000" dirty="0"/>
          </a:p>
          <a:p>
            <a:pPr marL="342900" indent="-342900">
              <a:buFont typeface="Arial" panose="020B0604020202020204" pitchFamily="34" charset="0"/>
              <a:buChar char="•"/>
            </a:pPr>
            <a:r>
              <a:rPr lang="en-IN" sz="2000" dirty="0"/>
              <a:t>Bootstrap provides different styles of buttons.</a:t>
            </a:r>
            <a:endParaRPr lang="en-US" sz="2000" dirty="0"/>
          </a:p>
          <a:p>
            <a:pPr marL="285750" indent="-285750">
              <a:lnSpc>
                <a:spcPct val="107000"/>
              </a:lnSpc>
              <a:spcBef>
                <a:spcPts val="1440"/>
              </a:spcBef>
              <a:spcAft>
                <a:spcPts val="1440"/>
              </a:spcAft>
              <a:buFont typeface="Arial" panose="020B0604020202020204" pitchFamily="34" charset="0"/>
              <a:buChar char="•"/>
            </a:pPr>
            <a:r>
              <a:rPr lang="en-IN" kern="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To achieve the button styles above, Bootstrap has the following classes: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-default</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-primary</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-success</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-info</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-warning</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-danger</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SzPts val="1000"/>
              <a:buFont typeface="Symbol" panose="05050102010706020507" pitchFamily="18" charset="2"/>
              <a:buChar char=""/>
              <a:tabLst>
                <a:tab pos="457200" algn="l"/>
              </a:tabLst>
            </a:pP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kern="0" dirty="0" err="1">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btn</a:t>
            </a:r>
            <a:r>
              <a:rPr lang="en-IN" sz="1600" kern="0" dirty="0">
                <a:solidFill>
                  <a:srgbClr val="DC143C"/>
                </a:solidFill>
                <a:effectLst/>
                <a:latin typeface="Consolas" panose="020B0609020204030204" pitchFamily="49" charset="0"/>
                <a:ea typeface="Times New Roman" panose="02020603050405020304" pitchFamily="18" charset="0"/>
                <a:cs typeface="Courier New" panose="02070309020205020404" pitchFamily="49" charset="0"/>
              </a:rPr>
              <a:t>-link</a:t>
            </a:r>
            <a:endParaRPr lang="en-IN" sz="20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pPr marL="342900" indent="-342900">
              <a:buFont typeface="Arial" panose="020B0604020202020204" pitchFamily="34" charset="0"/>
              <a:buChar char="•"/>
            </a:pPr>
            <a:r>
              <a:rPr lang="en-US" sz="2000" dirty="0"/>
              <a:t>The button classes can be used on an &lt;a&gt;, &lt;button&gt;, or &lt;input&gt; element:</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a</a:t>
            </a:r>
            <a:r>
              <a:rPr lang="en-IN" sz="2000" dirty="0">
                <a:solidFill>
                  <a:srgbClr val="FF0000"/>
                </a:solidFill>
                <a:effectLst/>
                <a:latin typeface="Consolas" panose="020B0609020204030204" pitchFamily="49" charset="0"/>
                <a:ea typeface="Times New Roman" panose="02020603050405020304" pitchFamily="18" charset="0"/>
              </a:rPr>
              <a:t> </a:t>
            </a:r>
            <a:r>
              <a:rPr lang="en-IN" sz="2000" dirty="0" err="1">
                <a:solidFill>
                  <a:srgbClr val="FF0000"/>
                </a:solidFill>
                <a:effectLst/>
                <a:latin typeface="Consolas" panose="020B0609020204030204" pitchFamily="49" charset="0"/>
                <a:ea typeface="Times New Roman" panose="02020603050405020304" pitchFamily="18" charset="0"/>
              </a:rPr>
              <a:t>href</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a:t>
            </a:r>
            <a:r>
              <a:rPr lang="en-IN" sz="2000" dirty="0">
                <a:solidFill>
                  <a:srgbClr val="FF0000"/>
                </a:solidFill>
                <a:effectLst/>
                <a:latin typeface="Consolas" panose="020B0609020204030204" pitchFamily="49" charset="0"/>
                <a:ea typeface="Times New Roman" panose="02020603050405020304" pitchFamily="18" charset="0"/>
              </a:rPr>
              <a:t> role</a:t>
            </a:r>
            <a:r>
              <a:rPr lang="en-IN" sz="2000" dirty="0">
                <a:solidFill>
                  <a:srgbClr val="0000CD"/>
                </a:solidFill>
                <a:effectLst/>
                <a:latin typeface="Consolas" panose="020B0609020204030204" pitchFamily="49" charset="0"/>
                <a:ea typeface="Times New Roman" panose="02020603050405020304" pitchFamily="18" charset="0"/>
              </a:rPr>
              <a:t>="button"&gt;</a:t>
            </a:r>
            <a:r>
              <a:rPr lang="en-IN" sz="2000" dirty="0">
                <a:solidFill>
                  <a:srgbClr val="000000"/>
                </a:solidFill>
                <a:effectLst/>
                <a:latin typeface="Consolas" panose="020B0609020204030204" pitchFamily="49" charset="0"/>
                <a:ea typeface="Times New Roman" panose="02020603050405020304" pitchFamily="18" charset="0"/>
              </a:rPr>
              <a:t>Link Button</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/a</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-info"&gt;</a:t>
            </a:r>
            <a:r>
              <a:rPr lang="en-IN" sz="2000" dirty="0">
                <a:solidFill>
                  <a:srgbClr val="000000"/>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input</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a:t>
            </a:r>
            <a:r>
              <a:rPr lang="en-IN" sz="2000" dirty="0">
                <a:solidFill>
                  <a:srgbClr val="FF0000"/>
                </a:solidFill>
                <a:effectLst/>
                <a:latin typeface="Consolas" panose="020B0609020204030204" pitchFamily="49" charset="0"/>
                <a:ea typeface="Times New Roman" panose="02020603050405020304" pitchFamily="18" charset="0"/>
              </a:rPr>
              <a:t> value</a:t>
            </a:r>
            <a:r>
              <a:rPr lang="en-IN" sz="2000" dirty="0">
                <a:solidFill>
                  <a:srgbClr val="0000CD"/>
                </a:solidFill>
                <a:effectLst/>
                <a:latin typeface="Consolas" panose="020B0609020204030204" pitchFamily="49" charset="0"/>
                <a:ea typeface="Times New Roman" panose="02020603050405020304" pitchFamily="18" charset="0"/>
              </a:rPr>
              <a:t>="Input Button"&gt;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input</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="submit"</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-info"</a:t>
            </a:r>
            <a:r>
              <a:rPr lang="en-IN" sz="2000" dirty="0">
                <a:solidFill>
                  <a:srgbClr val="FF0000"/>
                </a:solidFill>
                <a:effectLst/>
                <a:latin typeface="Consolas" panose="020B0609020204030204" pitchFamily="49" charset="0"/>
                <a:ea typeface="Times New Roman" panose="02020603050405020304" pitchFamily="18" charset="0"/>
              </a:rPr>
              <a:t> value</a:t>
            </a:r>
            <a:r>
              <a:rPr lang="en-IN" sz="2000" dirty="0">
                <a:solidFill>
                  <a:srgbClr val="0000CD"/>
                </a:solidFill>
                <a:effectLst/>
                <a:latin typeface="Consolas" panose="020B0609020204030204" pitchFamily="49" charset="0"/>
                <a:ea typeface="Times New Roman" panose="02020603050405020304" pitchFamily="18" charset="0"/>
              </a:rPr>
              <a:t>="Submit Button"&gt;</a:t>
            </a:r>
            <a:endParaRPr lang="en-IN"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4C14BDA6-E3F5-4FAC-B49A-D5D3334ABB78}"/>
              </a:ext>
            </a:extLst>
          </p:cNvPr>
          <p:cNvPicPr>
            <a:picLocks noChangeAspect="1"/>
          </p:cNvPicPr>
          <p:nvPr/>
        </p:nvPicPr>
        <p:blipFill>
          <a:blip r:embed="rId2"/>
          <a:stretch>
            <a:fillRect/>
          </a:stretch>
        </p:blipFill>
        <p:spPr>
          <a:xfrm>
            <a:off x="5276289" y="966507"/>
            <a:ext cx="5619750" cy="514350"/>
          </a:xfrm>
          <a:prstGeom prst="rect">
            <a:avLst/>
          </a:prstGeom>
        </p:spPr>
      </p:pic>
      <p:pic>
        <p:nvPicPr>
          <p:cNvPr id="4" name="Picture 3" descr="A screen shot of a computer code&#10;&#10;Description automatically generated">
            <a:extLst>
              <a:ext uri="{FF2B5EF4-FFF2-40B4-BE49-F238E27FC236}">
                <a16:creationId xmlns:a16="http://schemas.microsoft.com/office/drawing/2014/main" id="{0308DEC3-5FF3-6390-0B7A-53FB7674E301}"/>
              </a:ext>
            </a:extLst>
          </p:cNvPr>
          <p:cNvPicPr>
            <a:picLocks noChangeAspect="1"/>
          </p:cNvPicPr>
          <p:nvPr/>
        </p:nvPicPr>
        <p:blipFill>
          <a:blip r:embed="rId3"/>
          <a:stretch>
            <a:fillRect/>
          </a:stretch>
        </p:blipFill>
        <p:spPr>
          <a:xfrm>
            <a:off x="3973046" y="1862044"/>
            <a:ext cx="6488766" cy="2391078"/>
          </a:xfrm>
          <a:prstGeom prst="rect">
            <a:avLst/>
          </a:prstGeom>
        </p:spPr>
      </p:pic>
    </p:spTree>
    <p:extLst>
      <p:ext uri="{BB962C8B-B14F-4D97-AF65-F5344CB8AC3E}">
        <p14:creationId xmlns:p14="http://schemas.microsoft.com/office/powerpoint/2010/main" val="10879806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05594-BD13-C717-0BE4-B42E70888A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AAA3CD-FCC6-6212-4785-EF24437B1263}"/>
              </a:ext>
            </a:extLst>
          </p:cNvPr>
          <p:cNvSpPr txBox="1"/>
          <p:nvPr/>
        </p:nvSpPr>
        <p:spPr>
          <a:xfrm>
            <a:off x="528918" y="421341"/>
            <a:ext cx="11143129" cy="5201424"/>
          </a:xfrm>
          <a:prstGeom prst="rect">
            <a:avLst/>
          </a:prstGeom>
          <a:noFill/>
        </p:spPr>
        <p:txBody>
          <a:bodyPr wrap="square" rtlCol="0">
            <a:spAutoFit/>
          </a:bodyPr>
          <a:lstStyle/>
          <a:p>
            <a:r>
              <a:rPr lang="en-US" sz="2400" dirty="0"/>
              <a:t>Continued…</a:t>
            </a:r>
          </a:p>
          <a:p>
            <a:endParaRPr lang="en-US" sz="2000" dirty="0"/>
          </a:p>
          <a:p>
            <a:pPr marL="285750" indent="-285750">
              <a:buFont typeface="Arial" panose="020B0604020202020204" pitchFamily="34" charset="0"/>
              <a:buChar char="•"/>
            </a:pPr>
            <a:r>
              <a:rPr lang="en-IN" dirty="0"/>
              <a:t>Bootstrap provides four button sizes. The classes that define the different sizes are:</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btn-lg</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Large</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-primary"&gt;</a:t>
            </a:r>
            <a:r>
              <a:rPr lang="en-IN" sz="2000" dirty="0">
                <a:solidFill>
                  <a:srgbClr val="000000"/>
                </a:solidFill>
                <a:effectLst/>
                <a:latin typeface="Consolas" panose="020B0609020204030204" pitchFamily="49" charset="0"/>
                <a:ea typeface="Times New Roman" panose="02020603050405020304" pitchFamily="18" charset="0"/>
              </a:rPr>
              <a:t>Normal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btn-sm</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a:solidFill>
                  <a:srgbClr val="000000"/>
                </a:solidFill>
                <a:effectLst/>
                <a:latin typeface="Consolas" panose="020B0609020204030204" pitchFamily="49" charset="0"/>
                <a:ea typeface="Times New Roman" panose="02020603050405020304" pitchFamily="18" charset="0"/>
              </a:rPr>
              <a:t>Small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br>
              <a:rPr lang="en-IN" sz="2000" dirty="0">
                <a:solidFill>
                  <a:srgbClr val="000000"/>
                </a:solidFill>
                <a:effectLst/>
                <a:latin typeface="Consolas" panose="020B0609020204030204" pitchFamily="49" charset="0"/>
                <a:ea typeface="Times New Roman" panose="02020603050405020304" pitchFamily="18" charset="0"/>
              </a:rPr>
            </a:b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btn-xs</a:t>
            </a:r>
            <a:r>
              <a:rPr lang="en-IN" sz="2000" dirty="0">
                <a:solidFill>
                  <a:srgbClr val="0000CD"/>
                </a:solidFill>
                <a:effectLst/>
                <a:latin typeface="Consolas" panose="020B0609020204030204" pitchFamily="49" charset="0"/>
                <a:ea typeface="Times New Roman" panose="02020603050405020304" pitchFamily="18" charset="0"/>
              </a:rPr>
              <a:t>"&gt;</a:t>
            </a:r>
            <a:r>
              <a:rPr lang="en-IN" sz="2000" dirty="0" err="1">
                <a:solidFill>
                  <a:srgbClr val="000000"/>
                </a:solidFill>
                <a:effectLst/>
                <a:latin typeface="Consolas" panose="020B0609020204030204" pitchFamily="49" charset="0"/>
                <a:ea typeface="Times New Roman" panose="02020603050405020304" pitchFamily="18" charset="0"/>
              </a:rPr>
              <a:t>XSmall</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endParaRPr lang="en-IN" sz="2000" dirty="0">
              <a:solidFill>
                <a:srgbClr val="0000CD"/>
              </a:solidFill>
              <a:latin typeface="Times New Roman" panose="02020603050405020304" pitchFamily="18" charset="0"/>
              <a:ea typeface="Times New Roman" panose="02020603050405020304" pitchFamily="18" charset="0"/>
            </a:endParaRPr>
          </a:p>
          <a:p>
            <a:pPr>
              <a:spcBef>
                <a:spcPts val="1440"/>
              </a:spcBef>
              <a:spcAft>
                <a:spcPts val="1440"/>
              </a:spcAft>
            </a:pPr>
            <a:endParaRPr lang="en-US" sz="2000" dirty="0"/>
          </a:p>
          <a:p>
            <a:pPr marL="342900" indent="-342900">
              <a:buFont typeface="Arial" panose="020B0604020202020204" pitchFamily="34" charset="0"/>
              <a:buChar char="•"/>
            </a:pPr>
            <a:r>
              <a:rPr lang="en-US" sz="2000" dirty="0"/>
              <a:t>A block level button spans the entire width of the parent element. Add class .</a:t>
            </a:r>
            <a:r>
              <a:rPr lang="en-US" sz="2000" dirty="0" err="1"/>
              <a:t>btn</a:t>
            </a:r>
            <a:r>
              <a:rPr lang="en-US" sz="2000" dirty="0"/>
              <a:t>-block to create a block level button.</a:t>
            </a:r>
          </a:p>
          <a:p>
            <a:pPr lvl="1">
              <a:spcBef>
                <a:spcPts val="1440"/>
              </a:spcBef>
              <a:spcAft>
                <a:spcPts val="1440"/>
              </a:spcAft>
            </a:pP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type</a:t>
            </a:r>
            <a:r>
              <a:rPr lang="en-IN" sz="2000" dirty="0">
                <a:solidFill>
                  <a:srgbClr val="0000CD"/>
                </a:solidFill>
                <a:effectLst/>
                <a:latin typeface="Consolas" panose="020B0609020204030204" pitchFamily="49" charset="0"/>
                <a:ea typeface="Times New Roman" panose="02020603050405020304" pitchFamily="18" charset="0"/>
              </a:rPr>
              <a:t>="button"</a:t>
            </a:r>
            <a:r>
              <a:rPr lang="en-IN" sz="2000" dirty="0">
                <a:solidFill>
                  <a:srgbClr val="FF0000"/>
                </a:solidFill>
                <a:effectLst/>
                <a:latin typeface="Consolas" panose="020B0609020204030204" pitchFamily="49" charset="0"/>
                <a:ea typeface="Times New Roman" panose="02020603050405020304" pitchFamily="18" charset="0"/>
              </a:rPr>
              <a:t> class</a:t>
            </a:r>
            <a:r>
              <a:rPr lang="en-IN" sz="2000" dirty="0">
                <a:solidFill>
                  <a:srgbClr val="0000CD"/>
                </a:solidFill>
                <a:effectLst/>
                <a:latin typeface="Consolas" panose="020B0609020204030204" pitchFamily="49" charset="0"/>
                <a:ea typeface="Times New Roman" panose="02020603050405020304" pitchFamily="18" charset="0"/>
              </a:rPr>
              <a:t>="</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-primary </a:t>
            </a:r>
            <a:r>
              <a:rPr lang="en-IN" sz="2000" dirty="0" err="1">
                <a:solidFill>
                  <a:srgbClr val="0000CD"/>
                </a:solidFill>
                <a:effectLst/>
                <a:latin typeface="Consolas" panose="020B0609020204030204" pitchFamily="49" charset="0"/>
                <a:ea typeface="Times New Roman" panose="02020603050405020304" pitchFamily="18" charset="0"/>
              </a:rPr>
              <a:t>btn</a:t>
            </a:r>
            <a:r>
              <a:rPr lang="en-IN" sz="2000" dirty="0">
                <a:solidFill>
                  <a:srgbClr val="0000CD"/>
                </a:solidFill>
                <a:effectLst/>
                <a:latin typeface="Consolas" panose="020B0609020204030204" pitchFamily="49" charset="0"/>
                <a:ea typeface="Times New Roman" panose="02020603050405020304" pitchFamily="18" charset="0"/>
              </a:rPr>
              <a:t>-block"&gt;</a:t>
            </a:r>
            <a:r>
              <a:rPr lang="en-IN" sz="2000" dirty="0">
                <a:solidFill>
                  <a:srgbClr val="000000"/>
                </a:solidFill>
                <a:effectLst/>
                <a:latin typeface="Consolas" panose="020B0609020204030204" pitchFamily="49" charset="0"/>
                <a:ea typeface="Times New Roman" panose="02020603050405020304" pitchFamily="18" charset="0"/>
              </a:rPr>
              <a:t>Button 1</a:t>
            </a:r>
            <a:r>
              <a:rPr lang="en-IN" sz="2000" dirty="0">
                <a:solidFill>
                  <a:srgbClr val="0000CD"/>
                </a:solidFill>
                <a:effectLst/>
                <a:latin typeface="Consolas" panose="020B0609020204030204" pitchFamily="49" charset="0"/>
                <a:ea typeface="Times New Roman" panose="02020603050405020304" pitchFamily="18" charset="0"/>
              </a:rPr>
              <a:t>&lt;</a:t>
            </a:r>
            <a:r>
              <a:rPr lang="en-IN" sz="2000" dirty="0">
                <a:solidFill>
                  <a:srgbClr val="A52A2A"/>
                </a:solidFill>
                <a:effectLst/>
                <a:latin typeface="Consolas" panose="020B0609020204030204" pitchFamily="49" charset="0"/>
                <a:ea typeface="Times New Roman" panose="02020603050405020304" pitchFamily="18" charset="0"/>
              </a:rPr>
              <a:t>/button</a:t>
            </a:r>
            <a:r>
              <a:rPr lang="en-IN" sz="2000" dirty="0">
                <a:solidFill>
                  <a:srgbClr val="0000CD"/>
                </a:solidFill>
                <a:effectLst/>
                <a:latin typeface="Consolas" panose="020B0609020204030204" pitchFamily="49" charset="0"/>
                <a:ea typeface="Times New Roman" panose="02020603050405020304" pitchFamily="18" charset="0"/>
              </a:rPr>
              <a:t>&gt;</a:t>
            </a:r>
            <a:endParaRPr lang="en-IN" sz="2000" dirty="0">
              <a:effectLst/>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endParaRPr lang="en-US" sz="2000" dirty="0"/>
          </a:p>
          <a:p>
            <a:endParaRPr lang="en-IN" sz="2000" dirty="0"/>
          </a:p>
        </p:txBody>
      </p:sp>
      <p:pic>
        <p:nvPicPr>
          <p:cNvPr id="3" name="Picture 2">
            <a:extLst>
              <a:ext uri="{FF2B5EF4-FFF2-40B4-BE49-F238E27FC236}">
                <a16:creationId xmlns:a16="http://schemas.microsoft.com/office/drawing/2014/main" id="{CDB295A1-5546-AF53-3CAD-D8EA403812BD}"/>
              </a:ext>
            </a:extLst>
          </p:cNvPr>
          <p:cNvPicPr>
            <a:picLocks noChangeAspect="1"/>
          </p:cNvPicPr>
          <p:nvPr/>
        </p:nvPicPr>
        <p:blipFill>
          <a:blip r:embed="rId2"/>
          <a:stretch>
            <a:fillRect/>
          </a:stretch>
        </p:blipFill>
        <p:spPr>
          <a:xfrm>
            <a:off x="997510" y="3133725"/>
            <a:ext cx="2559050" cy="590550"/>
          </a:xfrm>
          <a:prstGeom prst="rect">
            <a:avLst/>
          </a:prstGeom>
        </p:spPr>
      </p:pic>
    </p:spTree>
    <p:extLst>
      <p:ext uri="{BB962C8B-B14F-4D97-AF65-F5344CB8AC3E}">
        <p14:creationId xmlns:p14="http://schemas.microsoft.com/office/powerpoint/2010/main" val="127685683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51F5B-C52C-E028-C0C0-376050C38D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AE1E0C-D72D-1A4F-FDCE-FE9182421246}"/>
              </a:ext>
            </a:extLst>
          </p:cNvPr>
          <p:cNvSpPr txBox="1"/>
          <p:nvPr/>
        </p:nvSpPr>
        <p:spPr>
          <a:xfrm>
            <a:off x="524435" y="424969"/>
            <a:ext cx="11143129" cy="4216539"/>
          </a:xfrm>
          <a:prstGeom prst="rect">
            <a:avLst/>
          </a:prstGeom>
          <a:noFill/>
        </p:spPr>
        <p:txBody>
          <a:bodyPr wrap="square" rtlCol="0">
            <a:spAutoFit/>
          </a:bodyPr>
          <a:lstStyle/>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pPr marL="342900" indent="-342900">
              <a:buFont typeface="Arial" panose="020B0604020202020204" pitchFamily="34" charset="0"/>
              <a:buChar char="•"/>
            </a:pPr>
            <a:r>
              <a:rPr lang="en-US" sz="2000" dirty="0"/>
              <a:t>A button can be set to an active (appear pressed) or a disabled (unclickable) state. </a:t>
            </a:r>
          </a:p>
          <a:p>
            <a:pPr marL="342900" indent="-342900">
              <a:buFont typeface="Arial" panose="020B0604020202020204" pitchFamily="34" charset="0"/>
              <a:buChar char="•"/>
            </a:pPr>
            <a:r>
              <a:rPr lang="en-US" sz="2000" dirty="0"/>
              <a:t>The class </a:t>
            </a:r>
            <a:r>
              <a:rPr lang="en-US" sz="2000" dirty="0">
                <a:solidFill>
                  <a:srgbClr val="FF0000"/>
                </a:solidFill>
              </a:rPr>
              <a:t>.active </a:t>
            </a:r>
            <a:r>
              <a:rPr lang="en-US" sz="2000" dirty="0"/>
              <a:t>makes a button appear pressed, and the class </a:t>
            </a:r>
            <a:r>
              <a:rPr lang="en-US" sz="2000" dirty="0">
                <a:solidFill>
                  <a:srgbClr val="FF0000"/>
                </a:solidFill>
              </a:rPr>
              <a:t>.disabled </a:t>
            </a:r>
            <a:r>
              <a:rPr lang="en-US" sz="2000" dirty="0"/>
              <a:t>makes a button unclickable.</a:t>
            </a:r>
          </a:p>
          <a:p>
            <a:pPr marL="342900" indent="-342900">
              <a:buFont typeface="Arial" panose="020B0604020202020204" pitchFamily="34" charset="0"/>
              <a:buChar char="•"/>
            </a:pPr>
            <a:endParaRPr lang="en-US" sz="2000" dirty="0"/>
          </a:p>
          <a:p>
            <a:endParaRPr lang="en-IN" sz="2000" dirty="0"/>
          </a:p>
        </p:txBody>
      </p:sp>
      <p:pic>
        <p:nvPicPr>
          <p:cNvPr id="3" name="Picture 2">
            <a:extLst>
              <a:ext uri="{FF2B5EF4-FFF2-40B4-BE49-F238E27FC236}">
                <a16:creationId xmlns:a16="http://schemas.microsoft.com/office/drawing/2014/main" id="{596A8A07-86CB-F892-04C6-8B878AFE99D7}"/>
              </a:ext>
            </a:extLst>
          </p:cNvPr>
          <p:cNvPicPr>
            <a:picLocks noChangeAspect="1"/>
          </p:cNvPicPr>
          <p:nvPr/>
        </p:nvPicPr>
        <p:blipFill>
          <a:blip r:embed="rId2"/>
          <a:stretch>
            <a:fillRect/>
          </a:stretch>
        </p:blipFill>
        <p:spPr>
          <a:xfrm>
            <a:off x="125956" y="124257"/>
            <a:ext cx="7870113" cy="2644588"/>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E5837D7E-F037-BEE0-9153-5B20EDC2A0F2}"/>
              </a:ext>
            </a:extLst>
          </p:cNvPr>
          <p:cNvPicPr>
            <a:picLocks noChangeAspect="1"/>
          </p:cNvPicPr>
          <p:nvPr/>
        </p:nvPicPr>
        <p:blipFill>
          <a:blip r:embed="rId3"/>
          <a:stretch>
            <a:fillRect/>
          </a:stretch>
        </p:blipFill>
        <p:spPr>
          <a:xfrm>
            <a:off x="7449671" y="513753"/>
            <a:ext cx="4428564" cy="1865597"/>
          </a:xfrm>
          <a:prstGeom prst="rect">
            <a:avLst/>
          </a:prstGeom>
        </p:spPr>
      </p:pic>
      <p:pic>
        <p:nvPicPr>
          <p:cNvPr id="5" name="Picture 4">
            <a:extLst>
              <a:ext uri="{FF2B5EF4-FFF2-40B4-BE49-F238E27FC236}">
                <a16:creationId xmlns:a16="http://schemas.microsoft.com/office/drawing/2014/main" id="{760EF2BB-E6FE-BAB2-F480-7972349ACF66}"/>
              </a:ext>
            </a:extLst>
          </p:cNvPr>
          <p:cNvPicPr>
            <a:picLocks noChangeAspect="1"/>
          </p:cNvPicPr>
          <p:nvPr/>
        </p:nvPicPr>
        <p:blipFill>
          <a:blip r:embed="rId4"/>
          <a:stretch>
            <a:fillRect/>
          </a:stretch>
        </p:blipFill>
        <p:spPr>
          <a:xfrm>
            <a:off x="926314" y="4243225"/>
            <a:ext cx="9312751" cy="1556940"/>
          </a:xfrm>
          <a:prstGeom prst="rect">
            <a:avLst/>
          </a:prstGeom>
        </p:spPr>
      </p:pic>
      <p:pic>
        <p:nvPicPr>
          <p:cNvPr id="6" name="Picture 5" descr="A blue rectangle with white text&#10;&#10;Description automatically generated">
            <a:extLst>
              <a:ext uri="{FF2B5EF4-FFF2-40B4-BE49-F238E27FC236}">
                <a16:creationId xmlns:a16="http://schemas.microsoft.com/office/drawing/2014/main" id="{AF8BB246-FA57-4CB7-9E73-37B319969608}"/>
              </a:ext>
            </a:extLst>
          </p:cNvPr>
          <p:cNvPicPr>
            <a:picLocks noChangeAspect="1"/>
          </p:cNvPicPr>
          <p:nvPr/>
        </p:nvPicPr>
        <p:blipFill>
          <a:blip r:embed="rId5"/>
          <a:stretch>
            <a:fillRect/>
          </a:stretch>
        </p:blipFill>
        <p:spPr>
          <a:xfrm>
            <a:off x="926314" y="5660278"/>
            <a:ext cx="4631804" cy="676466"/>
          </a:xfrm>
          <a:prstGeom prst="rect">
            <a:avLst/>
          </a:prstGeom>
        </p:spPr>
      </p:pic>
    </p:spTree>
    <p:extLst>
      <p:ext uri="{BB962C8B-B14F-4D97-AF65-F5344CB8AC3E}">
        <p14:creationId xmlns:p14="http://schemas.microsoft.com/office/powerpoint/2010/main" val="374091554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C8237-3B70-75B6-D0EA-7E7BC2D469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5A2E74-F7D1-89B8-AB72-6115C92C0EB2}"/>
              </a:ext>
            </a:extLst>
          </p:cNvPr>
          <p:cNvSpPr txBox="1"/>
          <p:nvPr/>
        </p:nvSpPr>
        <p:spPr>
          <a:xfrm>
            <a:off x="528918" y="421341"/>
            <a:ext cx="11143129" cy="5223994"/>
          </a:xfrm>
          <a:prstGeom prst="rect">
            <a:avLst/>
          </a:prstGeom>
          <a:noFill/>
        </p:spPr>
        <p:txBody>
          <a:bodyPr wrap="square" rtlCol="0">
            <a:spAutoFit/>
          </a:bodyPr>
          <a:lstStyle/>
          <a:p>
            <a:r>
              <a:rPr lang="en-IN" sz="2400" dirty="0"/>
              <a:t>Badges</a:t>
            </a:r>
            <a:endParaRPr lang="en-US" sz="3200" dirty="0"/>
          </a:p>
          <a:p>
            <a:endParaRPr lang="en-US" sz="2000" dirty="0"/>
          </a:p>
          <a:p>
            <a:r>
              <a:rPr lang="en-US" sz="2000" dirty="0"/>
              <a:t>Badges are numerical indicators of how many items are associated with a link. We use the .</a:t>
            </a:r>
            <a:r>
              <a:rPr lang="en-US" sz="2000" dirty="0">
                <a:solidFill>
                  <a:srgbClr val="FF0000"/>
                </a:solidFill>
              </a:rPr>
              <a:t>badge</a:t>
            </a:r>
            <a:r>
              <a:rPr lang="en-US" sz="2000" dirty="0"/>
              <a:t> class for the same. </a:t>
            </a:r>
          </a:p>
          <a:p>
            <a:endParaRPr lang="en-US" sz="2000" dirty="0"/>
          </a:p>
          <a:p>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20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News </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5</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err="1">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br</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20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Comments </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10</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err="1">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br</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20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Updates </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20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2</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20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20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US" sz="2000" dirty="0"/>
          </a:p>
          <a:p>
            <a:endParaRPr lang="en-US" sz="2000" dirty="0"/>
          </a:p>
          <a:p>
            <a:endParaRPr lang="en-IN" sz="2000" dirty="0"/>
          </a:p>
          <a:p>
            <a:endParaRPr lang="en-IN" sz="2000" dirty="0"/>
          </a:p>
          <a:p>
            <a:endParaRPr lang="en-IN" sz="2000" dirty="0"/>
          </a:p>
          <a:p>
            <a:endParaRPr lang="en-IN" sz="2000" dirty="0"/>
          </a:p>
          <a:p>
            <a:pPr>
              <a:lnSpc>
                <a:spcPct val="107000"/>
              </a:lnSpc>
              <a:spcAft>
                <a:spcPts val="800"/>
              </a:spcAft>
              <a:buNone/>
            </a:pP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button</a:t>
            </a:r>
            <a:r>
              <a:rPr lang="en-IN" sz="2000" kern="0" dirty="0">
                <a:solidFill>
                  <a:srgbClr val="FF0000"/>
                </a:solidFill>
                <a:effectLst/>
                <a:latin typeface="Consolas" panose="020B0609020204030204" pitchFamily="49" charset="0"/>
                <a:ea typeface="Times New Roman" panose="02020603050405020304" pitchFamily="18" charset="0"/>
                <a:cs typeface="Times New Roman" panose="02020603050405020304" pitchFamily="18" charset="0"/>
              </a:rPr>
              <a:t> type</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="button"</a:t>
            </a:r>
            <a:r>
              <a:rPr lang="en-IN" sz="2000" kern="0" dirty="0">
                <a:solidFill>
                  <a:srgbClr val="FF0000"/>
                </a:solidFill>
                <a:effectLst/>
                <a:latin typeface="Consolas" panose="020B0609020204030204" pitchFamily="49" charset="0"/>
                <a:ea typeface="Times New Roman" panose="02020603050405020304" pitchFamily="18" charset="0"/>
                <a:cs typeface="Times New Roman" panose="02020603050405020304" pitchFamily="18" charset="0"/>
              </a:rPr>
              <a:t> class</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IN" sz="2000" kern="0" dirty="0" err="1">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btn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IN" sz="2000" kern="0" dirty="0" err="1">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btn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-primary"&gt;</a:t>
            </a:r>
            <a:r>
              <a:rPr lang="en-IN" sz="20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Primary </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span</a:t>
            </a:r>
            <a:r>
              <a:rPr lang="en-IN" sz="2000" kern="0" dirty="0">
                <a:solidFill>
                  <a:srgbClr val="FF0000"/>
                </a:solidFill>
                <a:effectLst/>
                <a:latin typeface="Consolas" panose="020B0609020204030204" pitchFamily="49" charset="0"/>
                <a:ea typeface="Times New Roman" panose="02020603050405020304" pitchFamily="18" charset="0"/>
                <a:cs typeface="Times New Roman" panose="02020603050405020304" pitchFamily="18" charset="0"/>
              </a:rPr>
              <a:t> class</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="badge"&gt;</a:t>
            </a:r>
            <a:r>
              <a:rPr lang="en-IN" sz="2000" kern="0" dirty="0">
                <a:solidFill>
                  <a:srgbClr val="000000"/>
                </a:solidFill>
                <a:effectLst/>
                <a:latin typeface="Consolas" panose="020B0609020204030204" pitchFamily="49" charset="0"/>
                <a:ea typeface="Times New Roman" panose="02020603050405020304" pitchFamily="18" charset="0"/>
                <a:cs typeface="Times New Roman" panose="02020603050405020304" pitchFamily="18" charset="0"/>
              </a:rPr>
              <a:t>7</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/span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&gt;&lt;</a:t>
            </a:r>
            <a:r>
              <a:rPr lang="en-IN" sz="2000" kern="0" dirty="0">
                <a:solidFill>
                  <a:srgbClr val="A52A2A"/>
                </a:solidFill>
                <a:effectLst/>
                <a:latin typeface="Consolas" panose="020B0609020204030204" pitchFamily="49" charset="0"/>
                <a:ea typeface="Times New Roman" panose="02020603050405020304" pitchFamily="18" charset="0"/>
                <a:cs typeface="Times New Roman" panose="02020603050405020304" pitchFamily="18" charset="0"/>
              </a:rPr>
              <a:t>/button</a:t>
            </a:r>
            <a:r>
              <a:rPr lang="en-IN" sz="2000" kern="0" dirty="0">
                <a:solidFill>
                  <a:srgbClr val="0000CD"/>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pic>
        <p:nvPicPr>
          <p:cNvPr id="3" name="Picture 2">
            <a:extLst>
              <a:ext uri="{FF2B5EF4-FFF2-40B4-BE49-F238E27FC236}">
                <a16:creationId xmlns:a16="http://schemas.microsoft.com/office/drawing/2014/main" id="{64414058-21B1-AA3A-D1AF-EB095A9725DB}"/>
              </a:ext>
            </a:extLst>
          </p:cNvPr>
          <p:cNvPicPr>
            <a:picLocks noChangeAspect="1"/>
          </p:cNvPicPr>
          <p:nvPr/>
        </p:nvPicPr>
        <p:blipFill>
          <a:blip r:embed="rId2"/>
          <a:stretch>
            <a:fillRect/>
          </a:stretch>
        </p:blipFill>
        <p:spPr>
          <a:xfrm>
            <a:off x="1640541" y="3099486"/>
            <a:ext cx="2411506" cy="1331082"/>
          </a:xfrm>
          <a:prstGeom prst="rect">
            <a:avLst/>
          </a:prstGeom>
        </p:spPr>
      </p:pic>
      <p:pic>
        <p:nvPicPr>
          <p:cNvPr id="4" name="Picture 3">
            <a:extLst>
              <a:ext uri="{FF2B5EF4-FFF2-40B4-BE49-F238E27FC236}">
                <a16:creationId xmlns:a16="http://schemas.microsoft.com/office/drawing/2014/main" id="{829E0FAB-88F7-1F4F-8BBF-C41E8D1C42A6}"/>
              </a:ext>
            </a:extLst>
          </p:cNvPr>
          <p:cNvPicPr>
            <a:picLocks noChangeAspect="1"/>
          </p:cNvPicPr>
          <p:nvPr/>
        </p:nvPicPr>
        <p:blipFill>
          <a:blip r:embed="rId3"/>
          <a:stretch>
            <a:fillRect/>
          </a:stretch>
        </p:blipFill>
        <p:spPr>
          <a:xfrm>
            <a:off x="1640541" y="5219885"/>
            <a:ext cx="1390650" cy="425450"/>
          </a:xfrm>
          <a:prstGeom prst="rect">
            <a:avLst/>
          </a:prstGeom>
        </p:spPr>
      </p:pic>
    </p:spTree>
    <p:extLst>
      <p:ext uri="{BB962C8B-B14F-4D97-AF65-F5344CB8AC3E}">
        <p14:creationId xmlns:p14="http://schemas.microsoft.com/office/powerpoint/2010/main" val="51700554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1BD3-784F-7C2D-1912-FC813CB82B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8EEC46-EA62-471D-CFE4-B3C849031EE2}"/>
              </a:ext>
            </a:extLst>
          </p:cNvPr>
          <p:cNvSpPr txBox="1"/>
          <p:nvPr/>
        </p:nvSpPr>
        <p:spPr>
          <a:xfrm>
            <a:off x="528918" y="421341"/>
            <a:ext cx="11143129" cy="5925725"/>
          </a:xfrm>
          <a:prstGeom prst="rect">
            <a:avLst/>
          </a:prstGeom>
          <a:noFill/>
        </p:spPr>
        <p:txBody>
          <a:bodyPr wrap="square" rtlCol="0">
            <a:spAutoFit/>
          </a:bodyPr>
          <a:lstStyle/>
          <a:p>
            <a:r>
              <a:rPr lang="en-IN" sz="2400" b="1" dirty="0"/>
              <a:t>Labels</a:t>
            </a:r>
            <a:endParaRPr lang="en-US" sz="2400" b="1"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lvl="1">
              <a:lnSpc>
                <a:spcPct val="107000"/>
              </a:lnSpc>
              <a:spcAft>
                <a:spcPts val="800"/>
              </a:spcAft>
            </a:pP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label-default"&gt;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Default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label-primary"&gt;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Primary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label-success"&gt;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Success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label-info"&gt;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Info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label-warning"&gt;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Warning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="label label-danger"&gt;</a:t>
            </a:r>
            <a:r>
              <a:rPr lang="en-IN" sz="20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Danger Label</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20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20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a:p>
            <a:endParaRPr lang="en-US" sz="2000" dirty="0"/>
          </a:p>
          <a:p>
            <a:endParaRPr lang="en-US" sz="2000" dirty="0"/>
          </a:p>
          <a:p>
            <a:endParaRPr lang="en-IN" sz="2000" dirty="0"/>
          </a:p>
        </p:txBody>
      </p:sp>
      <p:sp>
        <p:nvSpPr>
          <p:cNvPr id="3" name="Rectangle 1">
            <a:extLst>
              <a:ext uri="{FF2B5EF4-FFF2-40B4-BE49-F238E27FC236}">
                <a16:creationId xmlns:a16="http://schemas.microsoft.com/office/drawing/2014/main" id="{F4B8FC3F-E62F-5FB8-28B3-7687F383B25D}"/>
              </a:ext>
            </a:extLst>
          </p:cNvPr>
          <p:cNvSpPr>
            <a:spLocks noChangeArrowheads="1"/>
          </p:cNvSpPr>
          <p:nvPr/>
        </p:nvSpPr>
        <p:spPr bwMode="auto">
          <a:xfrm>
            <a:off x="448235" y="1298504"/>
            <a:ext cx="1122381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Labels are used to provide additional information about something:</a:t>
            </a:r>
            <a:endParaRPr kumimoji="0" lang="en-US" altLang="en-US" sz="2000" b="0" i="0" u="none" strike="noStrike" cap="none" normalizeH="0" baseline="0" dirty="0">
              <a:ln>
                <a:noFill/>
              </a:ln>
              <a:solidFill>
                <a:schemeClr val="tx1"/>
              </a:solidFill>
              <a:effectLst/>
              <a:ea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Use the</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class,</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followed by one of the six contextual classes</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.label-default</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.label-primary</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.label-success</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.label-info</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.label-warning</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or</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.label-danger</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within a</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DC143C"/>
                </a:solidFill>
                <a:effectLst/>
                <a:latin typeface="Consolas" panose="020B0609020204030204" pitchFamily="49" charset="0"/>
                <a:ea typeface="Calibri" panose="020F0502020204030204" pitchFamily="34" charset="0"/>
                <a:cs typeface="Courier New" panose="02070309020205020404" pitchFamily="49" charset="0"/>
              </a:rPr>
              <a:t>&lt;span&gt;</a:t>
            </a:r>
            <a:r>
              <a:rPr kumimoji="0" lang="en-US" altLang="en-US"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element to create a label.</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E612393-A9CC-F581-AB2E-4C5DE57DA94E}"/>
              </a:ext>
            </a:extLst>
          </p:cNvPr>
          <p:cNvPicPr>
            <a:picLocks noChangeAspect="1"/>
          </p:cNvPicPr>
          <p:nvPr/>
        </p:nvPicPr>
        <p:blipFill>
          <a:blip r:embed="rId2"/>
          <a:stretch>
            <a:fillRect/>
          </a:stretch>
        </p:blipFill>
        <p:spPr>
          <a:xfrm>
            <a:off x="2043019" y="5257310"/>
            <a:ext cx="8481546" cy="817903"/>
          </a:xfrm>
          <a:prstGeom prst="rect">
            <a:avLst/>
          </a:prstGeom>
        </p:spPr>
      </p:pic>
    </p:spTree>
    <p:extLst>
      <p:ext uri="{BB962C8B-B14F-4D97-AF65-F5344CB8AC3E}">
        <p14:creationId xmlns:p14="http://schemas.microsoft.com/office/powerpoint/2010/main" val="96831411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F34E-0631-9A14-F06A-0EE50D6781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62C3CB-5B8B-CB1E-0771-123D4FCEB48E}"/>
              </a:ext>
            </a:extLst>
          </p:cNvPr>
          <p:cNvSpPr txBox="1"/>
          <p:nvPr/>
        </p:nvSpPr>
        <p:spPr>
          <a:xfrm>
            <a:off x="528918" y="421341"/>
            <a:ext cx="11143129" cy="4770537"/>
          </a:xfrm>
          <a:prstGeom prst="rect">
            <a:avLst/>
          </a:prstGeom>
          <a:noFill/>
        </p:spPr>
        <p:txBody>
          <a:bodyPr wrap="square" rtlCol="0">
            <a:spAutoFit/>
          </a:bodyPr>
          <a:lstStyle/>
          <a:p>
            <a:r>
              <a:rPr lang="en-IN" sz="2400" b="1" dirty="0"/>
              <a:t>Progress Bars</a:t>
            </a:r>
            <a:endParaRPr lang="en-US" sz="2400" dirty="0"/>
          </a:p>
          <a:p>
            <a:endParaRPr lang="en-US" sz="2000" dirty="0"/>
          </a:p>
          <a:p>
            <a:pPr marL="342900" indent="-342900">
              <a:buFont typeface="Arial" panose="020B0604020202020204" pitchFamily="34" charset="0"/>
              <a:buChar char="•"/>
            </a:pPr>
            <a:r>
              <a:rPr lang="en-US" sz="2000" dirty="0"/>
              <a:t>A progress bar can be used to show a user how far along he/she is in a process.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Bootstrap provides several types of progress bars.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create a default progress bar, add a </a:t>
            </a:r>
            <a:r>
              <a:rPr lang="en-US" sz="2000" dirty="0">
                <a:solidFill>
                  <a:srgbClr val="FF0000"/>
                </a:solidFill>
              </a:rPr>
              <a:t>.progress </a:t>
            </a:r>
            <a:r>
              <a:rPr lang="en-US" sz="2000" dirty="0"/>
              <a:t>class to a &lt;div&gt; element:</a:t>
            </a:r>
          </a:p>
          <a:p>
            <a:endParaRPr lang="en-US" sz="2000" dirty="0"/>
          </a:p>
          <a:p>
            <a:pPr lvl="1"/>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aria-</a:t>
            </a:r>
            <a:r>
              <a:rPr lang="en-IN" sz="2000" dirty="0" err="1">
                <a:solidFill>
                  <a:srgbClr val="008000"/>
                </a:solidFill>
                <a:effectLst/>
              </a:rPr>
              <a:t>valuenow</a:t>
            </a:r>
            <a:r>
              <a:rPr lang="en-IN" sz="2000" dirty="0">
                <a:solidFill>
                  <a:srgbClr val="005CC5"/>
                </a:solidFill>
                <a:effectLst/>
              </a:rPr>
              <a:t>="70"</a:t>
            </a:r>
            <a:br>
              <a:rPr lang="en-IN" sz="2000" dirty="0">
                <a:solidFill>
                  <a:srgbClr val="008000"/>
                </a:solidFill>
                <a:effectLst/>
              </a:rPr>
            </a:br>
            <a:r>
              <a:rPr lang="en-IN" sz="2000" dirty="0">
                <a:solidFill>
                  <a:srgbClr val="008000"/>
                </a:solidFill>
                <a:effectLst/>
              </a:rPr>
              <a:t>  aria-</a:t>
            </a:r>
            <a:r>
              <a:rPr lang="en-IN" sz="2000" dirty="0" err="1">
                <a:solidFill>
                  <a:srgbClr val="008000"/>
                </a:solidFill>
                <a:effectLst/>
              </a:rPr>
              <a:t>valuemin</a:t>
            </a:r>
            <a:r>
              <a:rPr lang="en-IN" sz="2000" dirty="0">
                <a:solidFill>
                  <a:srgbClr val="005CC5"/>
                </a:solidFill>
                <a:effectLst/>
              </a:rPr>
              <a:t>="0"</a:t>
            </a:r>
            <a:r>
              <a:rPr lang="en-IN" sz="2000" dirty="0">
                <a:solidFill>
                  <a:srgbClr val="008000"/>
                </a:solidFill>
                <a:effectLst/>
              </a:rPr>
              <a:t> aria-</a:t>
            </a:r>
            <a:r>
              <a:rPr lang="en-IN" sz="2000" dirty="0" err="1">
                <a:solidFill>
                  <a:srgbClr val="008000"/>
                </a:solidFill>
                <a:effectLst/>
              </a:rPr>
              <a:t>valuemax</a:t>
            </a:r>
            <a:r>
              <a:rPr lang="en-IN" sz="2000" dirty="0">
                <a:solidFill>
                  <a:srgbClr val="005CC5"/>
                </a:solidFill>
                <a:effectLst/>
              </a:rPr>
              <a:t>="100"</a:t>
            </a:r>
            <a:r>
              <a:rPr lang="en-IN" sz="2000" dirty="0">
                <a:solidFill>
                  <a:srgbClr val="008000"/>
                </a:solidFill>
                <a:effectLst/>
              </a:rPr>
              <a:t> style</a:t>
            </a:r>
            <a:r>
              <a:rPr lang="en-IN" sz="2000" dirty="0">
                <a:solidFill>
                  <a:srgbClr val="005CC5"/>
                </a:solidFill>
                <a:effectLst/>
              </a:rPr>
              <a:t>="width:70%"</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span</a:t>
            </a:r>
            <a:r>
              <a:rPr lang="en-IN" sz="2000" dirty="0">
                <a:solidFill>
                  <a:srgbClr val="008000"/>
                </a:solidFill>
                <a:effectLst/>
              </a:rPr>
              <a:t> class</a:t>
            </a:r>
            <a:r>
              <a:rPr lang="en-IN" sz="2000" dirty="0">
                <a:solidFill>
                  <a:srgbClr val="005CC5"/>
                </a:solidFill>
                <a:effectLst/>
              </a:rPr>
              <a:t>="</a:t>
            </a:r>
            <a:r>
              <a:rPr lang="en-IN" sz="2000" dirty="0" err="1">
                <a:solidFill>
                  <a:srgbClr val="005CC5"/>
                </a:solidFill>
                <a:effectLst/>
              </a:rPr>
              <a:t>sr</a:t>
            </a:r>
            <a:r>
              <a:rPr lang="en-IN" sz="2000" dirty="0">
                <a:solidFill>
                  <a:srgbClr val="005CC5"/>
                </a:solidFill>
                <a:effectLst/>
              </a:rPr>
              <a:t>-only"</a:t>
            </a:r>
            <a:r>
              <a:rPr lang="en-IN" sz="2000" dirty="0">
                <a:solidFill>
                  <a:srgbClr val="999999"/>
                </a:solidFill>
                <a:effectLst/>
              </a:rPr>
              <a:t>&gt;</a:t>
            </a:r>
            <a:r>
              <a:rPr lang="en-IN" sz="2000" dirty="0"/>
              <a:t>70% Complete</a:t>
            </a:r>
            <a:r>
              <a:rPr lang="en-IN" sz="2000" dirty="0">
                <a:solidFill>
                  <a:srgbClr val="999999"/>
                </a:solidFill>
                <a:effectLst/>
              </a:rPr>
              <a:t>&lt;</a:t>
            </a:r>
            <a:r>
              <a:rPr lang="en-IN" sz="2000" dirty="0">
                <a:solidFill>
                  <a:srgbClr val="990055"/>
                </a:solidFill>
                <a:effectLst/>
              </a:rPr>
              <a:t>/span</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endParaRPr lang="en-IN" sz="2000" dirty="0"/>
          </a:p>
        </p:txBody>
      </p:sp>
      <p:pic>
        <p:nvPicPr>
          <p:cNvPr id="4" name="Picture 3">
            <a:extLst>
              <a:ext uri="{FF2B5EF4-FFF2-40B4-BE49-F238E27FC236}">
                <a16:creationId xmlns:a16="http://schemas.microsoft.com/office/drawing/2014/main" id="{C6128CF9-7C16-569F-2058-C535C2ED77F8}"/>
              </a:ext>
            </a:extLst>
          </p:cNvPr>
          <p:cNvPicPr>
            <a:picLocks noChangeAspect="1"/>
          </p:cNvPicPr>
          <p:nvPr/>
        </p:nvPicPr>
        <p:blipFill>
          <a:blip r:embed="rId2"/>
          <a:stretch>
            <a:fillRect/>
          </a:stretch>
        </p:blipFill>
        <p:spPr>
          <a:xfrm>
            <a:off x="1105610" y="4985838"/>
            <a:ext cx="10019590" cy="430711"/>
          </a:xfrm>
          <a:prstGeom prst="rect">
            <a:avLst/>
          </a:prstGeom>
        </p:spPr>
      </p:pic>
    </p:spTree>
    <p:extLst>
      <p:ext uri="{BB962C8B-B14F-4D97-AF65-F5344CB8AC3E}">
        <p14:creationId xmlns:p14="http://schemas.microsoft.com/office/powerpoint/2010/main" val="153041710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C85CF-2C5C-12D0-6A08-0ED9719AE4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85C825-144C-088C-C845-982DE5338689}"/>
              </a:ext>
            </a:extLst>
          </p:cNvPr>
          <p:cNvSpPr txBox="1"/>
          <p:nvPr/>
        </p:nvSpPr>
        <p:spPr>
          <a:xfrm>
            <a:off x="528918" y="421341"/>
            <a:ext cx="11143129" cy="3539430"/>
          </a:xfrm>
          <a:prstGeom prst="rect">
            <a:avLst/>
          </a:prstGeom>
          <a:noFill/>
        </p:spPr>
        <p:txBody>
          <a:bodyPr wrap="square" rtlCol="0">
            <a:spAutoFit/>
          </a:bodyPr>
          <a:lstStyle/>
          <a:p>
            <a:r>
              <a:rPr lang="en-IN" sz="2400" b="1" dirty="0"/>
              <a:t>Progress Bar With Label</a:t>
            </a:r>
          </a:p>
          <a:p>
            <a:endParaRPr lang="en-US" sz="2000" dirty="0"/>
          </a:p>
          <a:p>
            <a:pPr marL="342900" indent="-342900">
              <a:buFont typeface="Arial" panose="020B0604020202020204" pitchFamily="34" charset="0"/>
              <a:buChar char="•"/>
            </a:pPr>
            <a:r>
              <a:rPr lang="en-US" sz="2000" dirty="0"/>
              <a:t>Remove the </a:t>
            </a:r>
            <a:r>
              <a:rPr lang="en-US" sz="2000" dirty="0">
                <a:solidFill>
                  <a:srgbClr val="FF0000"/>
                </a:solidFill>
              </a:rPr>
              <a:t>.</a:t>
            </a:r>
            <a:r>
              <a:rPr lang="en-US" sz="2000" dirty="0" err="1">
                <a:solidFill>
                  <a:srgbClr val="FF0000"/>
                </a:solidFill>
              </a:rPr>
              <a:t>sr</a:t>
            </a:r>
            <a:r>
              <a:rPr lang="en-US" sz="2000" dirty="0">
                <a:solidFill>
                  <a:srgbClr val="FF0000"/>
                </a:solidFill>
              </a:rPr>
              <a:t>-only </a:t>
            </a:r>
            <a:r>
              <a:rPr lang="en-US" sz="2000" dirty="0"/>
              <a:t>class from the progress bar to show a visible percentage:</a:t>
            </a:r>
          </a:p>
          <a:p>
            <a:pPr lvl="1"/>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aria-</a:t>
            </a:r>
            <a:r>
              <a:rPr lang="en-IN" sz="2000" dirty="0" err="1">
                <a:solidFill>
                  <a:srgbClr val="008000"/>
                </a:solidFill>
                <a:effectLst/>
              </a:rPr>
              <a:t>valuenow</a:t>
            </a:r>
            <a:r>
              <a:rPr lang="en-IN" sz="2000" dirty="0">
                <a:solidFill>
                  <a:srgbClr val="005CC5"/>
                </a:solidFill>
                <a:effectLst/>
              </a:rPr>
              <a:t>="70"</a:t>
            </a:r>
            <a:br>
              <a:rPr lang="en-IN" sz="2000" dirty="0">
                <a:solidFill>
                  <a:srgbClr val="008000"/>
                </a:solidFill>
                <a:effectLst/>
              </a:rPr>
            </a:br>
            <a:r>
              <a:rPr lang="en-IN" sz="2000" dirty="0">
                <a:solidFill>
                  <a:srgbClr val="008000"/>
                </a:solidFill>
                <a:effectLst/>
              </a:rPr>
              <a:t>  aria-</a:t>
            </a:r>
            <a:r>
              <a:rPr lang="en-IN" sz="2000" dirty="0" err="1">
                <a:solidFill>
                  <a:srgbClr val="008000"/>
                </a:solidFill>
                <a:effectLst/>
              </a:rPr>
              <a:t>valuemin</a:t>
            </a:r>
            <a:r>
              <a:rPr lang="en-IN" sz="2000" dirty="0">
                <a:solidFill>
                  <a:srgbClr val="005CC5"/>
                </a:solidFill>
                <a:effectLst/>
              </a:rPr>
              <a:t>="0"</a:t>
            </a:r>
            <a:r>
              <a:rPr lang="en-IN" sz="2000" dirty="0">
                <a:solidFill>
                  <a:srgbClr val="008000"/>
                </a:solidFill>
                <a:effectLst/>
              </a:rPr>
              <a:t> aria-</a:t>
            </a:r>
            <a:r>
              <a:rPr lang="en-IN" sz="2000" dirty="0" err="1">
                <a:solidFill>
                  <a:srgbClr val="008000"/>
                </a:solidFill>
                <a:effectLst/>
              </a:rPr>
              <a:t>valuemax</a:t>
            </a:r>
            <a:r>
              <a:rPr lang="en-IN" sz="2000" dirty="0">
                <a:solidFill>
                  <a:srgbClr val="005CC5"/>
                </a:solidFill>
                <a:effectLst/>
              </a:rPr>
              <a:t>="100"</a:t>
            </a:r>
            <a:r>
              <a:rPr lang="en-IN" sz="2000" dirty="0">
                <a:solidFill>
                  <a:srgbClr val="008000"/>
                </a:solidFill>
                <a:effectLst/>
              </a:rPr>
              <a:t> style</a:t>
            </a:r>
            <a:r>
              <a:rPr lang="en-IN" sz="2000" dirty="0">
                <a:solidFill>
                  <a:srgbClr val="005CC5"/>
                </a:solidFill>
                <a:effectLst/>
              </a:rPr>
              <a:t>="width:70%"</a:t>
            </a:r>
            <a:r>
              <a:rPr lang="en-IN" sz="2000" dirty="0">
                <a:solidFill>
                  <a:srgbClr val="999999"/>
                </a:solidFill>
                <a:effectLst/>
              </a:rPr>
              <a:t>&gt;</a:t>
            </a:r>
            <a:br>
              <a:rPr lang="en-IN" sz="2000" dirty="0"/>
            </a:br>
            <a:r>
              <a:rPr lang="en-IN" sz="2000" dirty="0"/>
              <a:t>    70%</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endParaRPr lang="en-US" sz="2000" dirty="0"/>
          </a:p>
          <a:p>
            <a:endParaRPr lang="en-IN" sz="2000" dirty="0"/>
          </a:p>
        </p:txBody>
      </p:sp>
      <p:pic>
        <p:nvPicPr>
          <p:cNvPr id="3" name="Picture 2">
            <a:extLst>
              <a:ext uri="{FF2B5EF4-FFF2-40B4-BE49-F238E27FC236}">
                <a16:creationId xmlns:a16="http://schemas.microsoft.com/office/drawing/2014/main" id="{87CE2B92-9093-F380-A5BE-A4AA7C17B66B}"/>
              </a:ext>
            </a:extLst>
          </p:cNvPr>
          <p:cNvPicPr>
            <a:picLocks noChangeAspect="1"/>
          </p:cNvPicPr>
          <p:nvPr/>
        </p:nvPicPr>
        <p:blipFill>
          <a:blip r:embed="rId2"/>
          <a:stretch>
            <a:fillRect/>
          </a:stretch>
        </p:blipFill>
        <p:spPr>
          <a:xfrm>
            <a:off x="1123538" y="3429000"/>
            <a:ext cx="9849261" cy="559791"/>
          </a:xfrm>
          <a:prstGeom prst="rect">
            <a:avLst/>
          </a:prstGeom>
        </p:spPr>
      </p:pic>
    </p:spTree>
    <p:extLst>
      <p:ext uri="{BB962C8B-B14F-4D97-AF65-F5344CB8AC3E}">
        <p14:creationId xmlns:p14="http://schemas.microsoft.com/office/powerpoint/2010/main" val="102296679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6A7D-A297-4905-841C-2B3C6C2E50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50A9AC-FEB1-F950-8D96-FA8B7615B4C4}"/>
              </a:ext>
            </a:extLst>
          </p:cNvPr>
          <p:cNvSpPr txBox="1"/>
          <p:nvPr/>
        </p:nvSpPr>
        <p:spPr>
          <a:xfrm>
            <a:off x="524435" y="206188"/>
            <a:ext cx="11143129" cy="6863417"/>
          </a:xfrm>
          <a:prstGeom prst="rect">
            <a:avLst/>
          </a:prstGeom>
          <a:noFill/>
        </p:spPr>
        <p:txBody>
          <a:bodyPr wrap="square" rtlCol="0">
            <a:spAutoFit/>
          </a:bodyPr>
          <a:lstStyle/>
          <a:p>
            <a:r>
              <a:rPr lang="en-US" sz="2400" dirty="0"/>
              <a:t>Continued…</a:t>
            </a:r>
          </a:p>
          <a:p>
            <a:r>
              <a:rPr lang="en-US" sz="2000" dirty="0"/>
              <a:t>The contextual classes that can be used with progress bars are:</a:t>
            </a:r>
          </a:p>
          <a:p>
            <a:pPr marL="800100" lvl="1" indent="-342900">
              <a:buFont typeface="Arial" panose="020B0604020202020204" pitchFamily="34" charset="0"/>
              <a:buChar char="•"/>
            </a:pPr>
            <a:r>
              <a:rPr lang="en-US" sz="2000" dirty="0">
                <a:solidFill>
                  <a:srgbClr val="FF0000"/>
                </a:solidFill>
              </a:rPr>
              <a:t>.progress-bar-success</a:t>
            </a:r>
          </a:p>
          <a:p>
            <a:pPr marL="800100" lvl="1" indent="-342900">
              <a:buFont typeface="Arial" panose="020B0604020202020204" pitchFamily="34" charset="0"/>
              <a:buChar char="•"/>
            </a:pPr>
            <a:r>
              <a:rPr lang="en-US" sz="2000" dirty="0">
                <a:solidFill>
                  <a:srgbClr val="FF0000"/>
                </a:solidFill>
              </a:rPr>
              <a:t>.progress-bar-info</a:t>
            </a:r>
          </a:p>
          <a:p>
            <a:pPr marL="800100" lvl="1" indent="-342900">
              <a:buFont typeface="Arial" panose="020B0604020202020204" pitchFamily="34" charset="0"/>
              <a:buChar char="•"/>
            </a:pPr>
            <a:r>
              <a:rPr lang="en-US" sz="2000" dirty="0">
                <a:solidFill>
                  <a:srgbClr val="FF0000"/>
                </a:solidFill>
              </a:rPr>
              <a:t>.progress-bar-warning</a:t>
            </a:r>
          </a:p>
          <a:p>
            <a:pPr marL="800100" lvl="1" indent="-342900">
              <a:buFont typeface="Arial" panose="020B0604020202020204" pitchFamily="34" charset="0"/>
              <a:buChar char="•"/>
            </a:pPr>
            <a:r>
              <a:rPr lang="en-US" sz="2000" dirty="0">
                <a:solidFill>
                  <a:srgbClr val="FF0000"/>
                </a:solidFill>
              </a:rPr>
              <a:t>.progress-bar-danger</a:t>
            </a:r>
          </a:p>
          <a:p>
            <a:pPr>
              <a:buNone/>
            </a:pP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progress-bar-success"</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="40“</a:t>
            </a:r>
            <a:r>
              <a:rPr lang="en-IN" sz="1200" dirty="0">
                <a:solidFill>
                  <a:srgbClr val="008000"/>
                </a:solidFill>
              </a:rPr>
              <a:t> </a:t>
            </a:r>
            <a:r>
              <a:rPr lang="en-IN" sz="1200" dirty="0">
                <a:solidFill>
                  <a:srgbClr val="008000"/>
                </a:solidFill>
                <a:effectLst/>
              </a:rPr>
              <a:t>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="width:40%"</a:t>
            </a:r>
            <a:r>
              <a:rPr lang="en-IN" sz="1200" dirty="0">
                <a:solidFill>
                  <a:srgbClr val="999999"/>
                </a:solidFill>
                <a:effectLst/>
              </a:rPr>
              <a:t>&gt;</a:t>
            </a:r>
            <a:br>
              <a:rPr lang="en-IN" sz="1200" dirty="0"/>
            </a:br>
            <a:r>
              <a:rPr lang="en-IN" sz="1200" dirty="0"/>
              <a:t>    40% Complete (success)</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progress-bar-info"</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="50“ </a:t>
            </a:r>
            <a:r>
              <a:rPr lang="en-IN" sz="1200" dirty="0">
                <a:solidFill>
                  <a:srgbClr val="008000"/>
                </a:solidFill>
                <a:effectLst/>
              </a:rPr>
              <a:t>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="width:50%"</a:t>
            </a:r>
            <a:r>
              <a:rPr lang="en-IN" sz="1200" dirty="0">
                <a:solidFill>
                  <a:srgbClr val="999999"/>
                </a:solidFill>
                <a:effectLst/>
              </a:rPr>
              <a:t>&gt;</a:t>
            </a:r>
            <a:br>
              <a:rPr lang="en-IN" sz="1200" dirty="0"/>
            </a:br>
            <a:r>
              <a:rPr lang="en-IN" sz="1200" dirty="0"/>
              <a:t>    50% Complete (info)</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progress-bar-warning"</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="60"</a:t>
            </a:r>
            <a:r>
              <a:rPr lang="en-IN" sz="1200" dirty="0">
                <a:solidFill>
                  <a:srgbClr val="008000"/>
                </a:solidFill>
                <a:effectLst/>
              </a:rPr>
              <a:t>  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="width:60%"</a:t>
            </a:r>
            <a:r>
              <a:rPr lang="en-IN" sz="1200" dirty="0">
                <a:solidFill>
                  <a:srgbClr val="999999"/>
                </a:solidFill>
                <a:effectLst/>
              </a:rPr>
              <a:t>&gt;</a:t>
            </a:r>
            <a:br>
              <a:rPr lang="en-IN" sz="1200" dirty="0"/>
            </a:br>
            <a:r>
              <a:rPr lang="en-IN" sz="1200" dirty="0"/>
              <a:t>    60% Complete (warning)</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a:t>
            </a:r>
            <a:r>
              <a:rPr lang="en-IN" sz="1200" dirty="0">
                <a:solidFill>
                  <a:srgbClr val="999999"/>
                </a:solidFill>
                <a:effectLst/>
              </a:rPr>
              <a:t>&gt;</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008000"/>
                </a:solidFill>
                <a:effectLst/>
              </a:rPr>
              <a:t> class</a:t>
            </a:r>
            <a:r>
              <a:rPr lang="en-IN" sz="1200" dirty="0">
                <a:solidFill>
                  <a:srgbClr val="005CC5"/>
                </a:solidFill>
                <a:effectLst/>
              </a:rPr>
              <a:t>="progress-bar progress-bar-danger"</a:t>
            </a:r>
            <a:r>
              <a:rPr lang="en-IN" sz="1200" dirty="0">
                <a:solidFill>
                  <a:srgbClr val="008000"/>
                </a:solidFill>
                <a:effectLst/>
              </a:rPr>
              <a:t> role</a:t>
            </a:r>
            <a:r>
              <a:rPr lang="en-IN" sz="1200" dirty="0">
                <a:solidFill>
                  <a:srgbClr val="005CC5"/>
                </a:solidFill>
                <a:effectLst/>
              </a:rPr>
              <a:t>="</a:t>
            </a:r>
            <a:r>
              <a:rPr lang="en-IN" sz="1200" dirty="0" err="1">
                <a:solidFill>
                  <a:srgbClr val="005CC5"/>
                </a:solidFill>
                <a:effectLst/>
              </a:rPr>
              <a:t>progressbar</a:t>
            </a:r>
            <a:r>
              <a:rPr lang="en-IN" sz="1200" dirty="0">
                <a:solidFill>
                  <a:srgbClr val="005CC5"/>
                </a:solidFill>
                <a:effectLst/>
              </a:rPr>
              <a:t>"</a:t>
            </a:r>
            <a:r>
              <a:rPr lang="en-IN" sz="1200" dirty="0">
                <a:solidFill>
                  <a:srgbClr val="008000"/>
                </a:solidFill>
                <a:effectLst/>
              </a:rPr>
              <a:t> aria-</a:t>
            </a:r>
            <a:r>
              <a:rPr lang="en-IN" sz="1200" dirty="0" err="1">
                <a:solidFill>
                  <a:srgbClr val="008000"/>
                </a:solidFill>
                <a:effectLst/>
              </a:rPr>
              <a:t>valuenow</a:t>
            </a:r>
            <a:r>
              <a:rPr lang="en-IN" sz="1200" dirty="0">
                <a:solidFill>
                  <a:srgbClr val="005CC5"/>
                </a:solidFill>
                <a:effectLst/>
              </a:rPr>
              <a:t>="70“ </a:t>
            </a:r>
            <a:r>
              <a:rPr lang="en-IN" sz="1200" dirty="0">
                <a:solidFill>
                  <a:srgbClr val="008000"/>
                </a:solidFill>
                <a:effectLst/>
              </a:rPr>
              <a:t>aria-</a:t>
            </a:r>
            <a:r>
              <a:rPr lang="en-IN" sz="1200" dirty="0" err="1">
                <a:solidFill>
                  <a:srgbClr val="008000"/>
                </a:solidFill>
                <a:effectLst/>
              </a:rPr>
              <a:t>valuemin</a:t>
            </a:r>
            <a:r>
              <a:rPr lang="en-IN" sz="1200" dirty="0">
                <a:solidFill>
                  <a:srgbClr val="005CC5"/>
                </a:solidFill>
                <a:effectLst/>
              </a:rPr>
              <a:t>="0"</a:t>
            </a:r>
            <a:r>
              <a:rPr lang="en-IN" sz="1200" dirty="0">
                <a:solidFill>
                  <a:srgbClr val="008000"/>
                </a:solidFill>
                <a:effectLst/>
              </a:rPr>
              <a:t> aria-</a:t>
            </a:r>
            <a:r>
              <a:rPr lang="en-IN" sz="1200" dirty="0" err="1">
                <a:solidFill>
                  <a:srgbClr val="008000"/>
                </a:solidFill>
                <a:effectLst/>
              </a:rPr>
              <a:t>valuemax</a:t>
            </a:r>
            <a:r>
              <a:rPr lang="en-IN" sz="1200" dirty="0">
                <a:solidFill>
                  <a:srgbClr val="005CC5"/>
                </a:solidFill>
                <a:effectLst/>
              </a:rPr>
              <a:t>="100"</a:t>
            </a:r>
            <a:r>
              <a:rPr lang="en-IN" sz="1200" dirty="0">
                <a:solidFill>
                  <a:srgbClr val="008000"/>
                </a:solidFill>
                <a:effectLst/>
              </a:rPr>
              <a:t> style</a:t>
            </a:r>
            <a:r>
              <a:rPr lang="en-IN" sz="1200" dirty="0">
                <a:solidFill>
                  <a:srgbClr val="005CC5"/>
                </a:solidFill>
                <a:effectLst/>
              </a:rPr>
              <a:t>="width:70%"</a:t>
            </a:r>
            <a:r>
              <a:rPr lang="en-IN" sz="1200" dirty="0">
                <a:solidFill>
                  <a:srgbClr val="999999"/>
                </a:solidFill>
                <a:effectLst/>
              </a:rPr>
              <a:t>&gt;</a:t>
            </a:r>
            <a:br>
              <a:rPr lang="en-IN" sz="1200" dirty="0"/>
            </a:br>
            <a:r>
              <a:rPr lang="en-IN" sz="1200" dirty="0"/>
              <a:t>    70% Complete (danger)</a:t>
            </a:r>
            <a:br>
              <a:rPr lang="en-IN" sz="1200" dirty="0"/>
            </a:br>
            <a:r>
              <a:rPr lang="en-IN" sz="1200" dirty="0"/>
              <a:t>  </a:t>
            </a: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br>
              <a:rPr lang="en-IN" sz="1200" dirty="0"/>
            </a:br>
            <a:r>
              <a:rPr lang="en-IN" sz="1200" dirty="0">
                <a:solidFill>
                  <a:srgbClr val="999999"/>
                </a:solidFill>
                <a:effectLst/>
              </a:rPr>
              <a:t>&lt;</a:t>
            </a:r>
            <a:r>
              <a:rPr lang="en-IN" sz="1200" dirty="0">
                <a:solidFill>
                  <a:srgbClr val="990055"/>
                </a:solidFill>
                <a:effectLst/>
              </a:rPr>
              <a:t>/div</a:t>
            </a:r>
            <a:r>
              <a:rPr lang="en-IN" sz="1200" dirty="0">
                <a:solidFill>
                  <a:srgbClr val="999999"/>
                </a:solidFill>
                <a:effectLst/>
              </a:rPr>
              <a:t>&gt;</a:t>
            </a:r>
            <a:r>
              <a:rPr lang="en-IN" sz="1200" dirty="0"/>
              <a:t> </a:t>
            </a:r>
          </a:p>
          <a:p>
            <a:endParaRPr lang="en-US" sz="2000" dirty="0"/>
          </a:p>
          <a:p>
            <a:endParaRPr lang="en-IN" sz="2000" dirty="0"/>
          </a:p>
        </p:txBody>
      </p:sp>
      <p:pic>
        <p:nvPicPr>
          <p:cNvPr id="4" name="Picture 3">
            <a:extLst>
              <a:ext uri="{FF2B5EF4-FFF2-40B4-BE49-F238E27FC236}">
                <a16:creationId xmlns:a16="http://schemas.microsoft.com/office/drawing/2014/main" id="{9A8FCE8F-B29D-7607-9E79-1ECB125FE50A}"/>
              </a:ext>
            </a:extLst>
          </p:cNvPr>
          <p:cNvPicPr>
            <a:picLocks noChangeAspect="1"/>
          </p:cNvPicPr>
          <p:nvPr/>
        </p:nvPicPr>
        <p:blipFill>
          <a:blip r:embed="rId2"/>
          <a:stretch>
            <a:fillRect/>
          </a:stretch>
        </p:blipFill>
        <p:spPr>
          <a:xfrm>
            <a:off x="3980329" y="985882"/>
            <a:ext cx="8006184" cy="1183577"/>
          </a:xfrm>
          <a:prstGeom prst="rect">
            <a:avLst/>
          </a:prstGeom>
        </p:spPr>
      </p:pic>
    </p:spTree>
    <p:extLst>
      <p:ext uri="{BB962C8B-B14F-4D97-AF65-F5344CB8AC3E}">
        <p14:creationId xmlns:p14="http://schemas.microsoft.com/office/powerpoint/2010/main" val="272555029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9061D-6A5A-A35D-68EA-94AC9EB8EE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1DDE14-8EEF-9F13-2B9E-740519F5B81A}"/>
              </a:ext>
            </a:extLst>
          </p:cNvPr>
          <p:cNvSpPr txBox="1"/>
          <p:nvPr/>
        </p:nvSpPr>
        <p:spPr>
          <a:xfrm>
            <a:off x="528918" y="421341"/>
            <a:ext cx="11143129" cy="6432530"/>
          </a:xfrm>
          <a:prstGeom prst="rect">
            <a:avLst/>
          </a:prstGeom>
          <a:noFill/>
        </p:spPr>
        <p:txBody>
          <a:bodyPr wrap="square" rtlCol="0">
            <a:spAutoFit/>
          </a:bodyPr>
          <a:lstStyle/>
          <a:p>
            <a:r>
              <a:rPr lang="en-IN" sz="2400" b="1" dirty="0"/>
              <a:t>Striped Progress Bars</a:t>
            </a:r>
            <a:endParaRPr lang="en-US" sz="2400" dirty="0"/>
          </a:p>
          <a:p>
            <a:endParaRPr lang="en-US" sz="2000" dirty="0"/>
          </a:p>
          <a:p>
            <a:pPr marL="342900" indent="-342900">
              <a:buFont typeface="Arial" panose="020B0604020202020204" pitchFamily="34" charset="0"/>
              <a:buChar char="•"/>
            </a:pPr>
            <a:r>
              <a:rPr lang="en-US" sz="2000" dirty="0"/>
              <a:t>Progress bars can also be striped: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Add class </a:t>
            </a:r>
            <a:r>
              <a:rPr lang="en-US" sz="2000" dirty="0">
                <a:solidFill>
                  <a:srgbClr val="FF0000"/>
                </a:solidFill>
              </a:rPr>
              <a:t>.progress-bar-striped </a:t>
            </a:r>
            <a:r>
              <a:rPr lang="en-US" sz="2000" dirty="0"/>
              <a:t>to add stripes to the progress bars:</a:t>
            </a:r>
          </a:p>
          <a:p>
            <a:endParaRPr lang="en-US" sz="2000" dirty="0"/>
          </a:p>
          <a:p>
            <a:pPr lvl="1"/>
            <a:r>
              <a:rPr lang="en-US" sz="1600" dirty="0">
                <a:solidFill>
                  <a:srgbClr val="999999"/>
                </a:solidFill>
                <a:effectLst/>
              </a:rPr>
              <a:t>&lt;</a:t>
            </a:r>
            <a:r>
              <a:rPr lang="en-US" sz="1600" dirty="0">
                <a:solidFill>
                  <a:srgbClr val="990055"/>
                </a:solidFill>
                <a:effectLst/>
              </a:rPr>
              <a:t>div</a:t>
            </a:r>
            <a:r>
              <a:rPr lang="en-US" sz="1600" dirty="0">
                <a:solidFill>
                  <a:srgbClr val="008000"/>
                </a:solidFill>
                <a:effectLst/>
              </a:rPr>
              <a:t> class</a:t>
            </a:r>
            <a:r>
              <a:rPr lang="en-US" sz="1600" dirty="0">
                <a:solidFill>
                  <a:srgbClr val="005CC5"/>
                </a:solidFill>
                <a:effectLst/>
              </a:rPr>
              <a:t>="progress"</a:t>
            </a:r>
            <a:r>
              <a:rPr lang="en-US" sz="1600" dirty="0">
                <a:solidFill>
                  <a:srgbClr val="999999"/>
                </a:solidFill>
                <a:effectLst/>
              </a:rPr>
              <a:t>&gt;</a:t>
            </a:r>
            <a:br>
              <a:rPr lang="en-US" sz="1600" dirty="0"/>
            </a:br>
            <a:r>
              <a:rPr lang="en-US" sz="1600" dirty="0"/>
              <a:t>  </a:t>
            </a:r>
            <a:r>
              <a:rPr lang="en-US" sz="1600" dirty="0">
                <a:solidFill>
                  <a:srgbClr val="999999"/>
                </a:solidFill>
                <a:effectLst/>
              </a:rPr>
              <a:t>&lt;</a:t>
            </a:r>
            <a:r>
              <a:rPr lang="en-US" sz="1600" dirty="0">
                <a:solidFill>
                  <a:srgbClr val="990055"/>
                </a:solidFill>
                <a:effectLst/>
              </a:rPr>
              <a:t>div</a:t>
            </a:r>
            <a:r>
              <a:rPr lang="en-US" sz="1600" dirty="0">
                <a:solidFill>
                  <a:srgbClr val="008000"/>
                </a:solidFill>
                <a:effectLst/>
              </a:rPr>
              <a:t> class</a:t>
            </a:r>
            <a:r>
              <a:rPr lang="en-US" sz="1600" dirty="0">
                <a:solidFill>
                  <a:srgbClr val="005CC5"/>
                </a:solidFill>
                <a:effectLst/>
              </a:rPr>
              <a:t>="progress-bar progress-bar-success progress-bar-striped"</a:t>
            </a:r>
            <a:r>
              <a:rPr lang="en-US" sz="1600" dirty="0">
                <a:solidFill>
                  <a:srgbClr val="008000"/>
                </a:solidFill>
                <a:effectLst/>
              </a:rPr>
              <a:t> role</a:t>
            </a:r>
            <a:r>
              <a:rPr lang="en-US" sz="1600" dirty="0">
                <a:solidFill>
                  <a:srgbClr val="005CC5"/>
                </a:solidFill>
                <a:effectLst/>
              </a:rPr>
              <a:t>="</a:t>
            </a:r>
            <a:r>
              <a:rPr lang="en-US" sz="1600" dirty="0" err="1">
                <a:solidFill>
                  <a:srgbClr val="005CC5"/>
                </a:solidFill>
                <a:effectLst/>
              </a:rPr>
              <a:t>progressbar</a:t>
            </a:r>
            <a:r>
              <a:rPr lang="en-US" sz="1600" dirty="0">
                <a:solidFill>
                  <a:srgbClr val="005CC5"/>
                </a:solidFill>
                <a:effectLst/>
              </a:rPr>
              <a:t>"</a:t>
            </a:r>
            <a:br>
              <a:rPr lang="en-US" sz="1600" dirty="0">
                <a:solidFill>
                  <a:srgbClr val="008000"/>
                </a:solidFill>
                <a:effectLst/>
              </a:rPr>
            </a:br>
            <a:r>
              <a:rPr lang="en-US" sz="1600" dirty="0">
                <a:solidFill>
                  <a:srgbClr val="008000"/>
                </a:solidFill>
                <a:effectLst/>
              </a:rPr>
              <a:t>  aria-</a:t>
            </a:r>
            <a:r>
              <a:rPr lang="en-US" sz="1600" dirty="0" err="1">
                <a:solidFill>
                  <a:srgbClr val="008000"/>
                </a:solidFill>
                <a:effectLst/>
              </a:rPr>
              <a:t>valuenow</a:t>
            </a:r>
            <a:r>
              <a:rPr lang="en-US" sz="1600" dirty="0">
                <a:solidFill>
                  <a:srgbClr val="005CC5"/>
                </a:solidFill>
                <a:effectLst/>
              </a:rPr>
              <a:t>="40"</a:t>
            </a:r>
            <a:r>
              <a:rPr lang="en-US" sz="1600" dirty="0">
                <a:solidFill>
                  <a:srgbClr val="008000"/>
                </a:solidFill>
                <a:effectLst/>
              </a:rPr>
              <a:t> aria-</a:t>
            </a:r>
            <a:r>
              <a:rPr lang="en-US" sz="1600" dirty="0" err="1">
                <a:solidFill>
                  <a:srgbClr val="008000"/>
                </a:solidFill>
                <a:effectLst/>
              </a:rPr>
              <a:t>valuemin</a:t>
            </a:r>
            <a:r>
              <a:rPr lang="en-US" sz="1600" dirty="0">
                <a:solidFill>
                  <a:srgbClr val="005CC5"/>
                </a:solidFill>
                <a:effectLst/>
              </a:rPr>
              <a:t>="0"</a:t>
            </a:r>
            <a:r>
              <a:rPr lang="en-US" sz="1600" dirty="0">
                <a:solidFill>
                  <a:srgbClr val="008000"/>
                </a:solidFill>
                <a:effectLst/>
              </a:rPr>
              <a:t> aria-</a:t>
            </a:r>
            <a:r>
              <a:rPr lang="en-US" sz="1600" dirty="0" err="1">
                <a:solidFill>
                  <a:srgbClr val="008000"/>
                </a:solidFill>
                <a:effectLst/>
              </a:rPr>
              <a:t>valuemax</a:t>
            </a:r>
            <a:r>
              <a:rPr lang="en-US" sz="1600" dirty="0">
                <a:solidFill>
                  <a:srgbClr val="005CC5"/>
                </a:solidFill>
                <a:effectLst/>
              </a:rPr>
              <a:t>="100"</a:t>
            </a:r>
            <a:r>
              <a:rPr lang="en-US" sz="1600" dirty="0">
                <a:solidFill>
                  <a:srgbClr val="008000"/>
                </a:solidFill>
                <a:effectLst/>
              </a:rPr>
              <a:t> style</a:t>
            </a:r>
            <a:r>
              <a:rPr lang="en-US" sz="1600" dirty="0">
                <a:solidFill>
                  <a:srgbClr val="005CC5"/>
                </a:solidFill>
                <a:effectLst/>
              </a:rPr>
              <a:t>="width:40%"</a:t>
            </a:r>
            <a:r>
              <a:rPr lang="en-US" sz="1600" dirty="0">
                <a:solidFill>
                  <a:srgbClr val="999999"/>
                </a:solidFill>
                <a:effectLst/>
              </a:rPr>
              <a:t>&gt;</a:t>
            </a:r>
            <a:br>
              <a:rPr lang="en-US" sz="1600" dirty="0"/>
            </a:br>
            <a:r>
              <a:rPr lang="en-US" sz="1600" dirty="0"/>
              <a:t>    40% Complete (success)</a:t>
            </a:r>
            <a:br>
              <a:rPr lang="en-US" sz="1600" dirty="0"/>
            </a:br>
            <a:r>
              <a:rPr lang="en-US" sz="1600" dirty="0"/>
              <a:t>  </a:t>
            </a:r>
            <a:r>
              <a:rPr lang="en-US" sz="1600" dirty="0">
                <a:solidFill>
                  <a:srgbClr val="999999"/>
                </a:solidFill>
                <a:effectLst/>
              </a:rPr>
              <a:t>&lt;</a:t>
            </a:r>
            <a:r>
              <a:rPr lang="en-US" sz="1600" dirty="0">
                <a:solidFill>
                  <a:srgbClr val="990055"/>
                </a:solidFill>
                <a:effectLst/>
              </a:rPr>
              <a:t>/div</a:t>
            </a:r>
            <a:r>
              <a:rPr lang="en-US" sz="1600" dirty="0">
                <a:solidFill>
                  <a:srgbClr val="999999"/>
                </a:solidFill>
                <a:effectLst/>
              </a:rPr>
              <a:t>&gt;</a:t>
            </a:r>
            <a:br>
              <a:rPr lang="en-US" sz="1600" dirty="0"/>
            </a:br>
            <a:r>
              <a:rPr lang="en-US" sz="1600" dirty="0">
                <a:solidFill>
                  <a:srgbClr val="999999"/>
                </a:solidFill>
                <a:effectLst/>
              </a:rPr>
              <a:t>&lt;</a:t>
            </a:r>
            <a:r>
              <a:rPr lang="en-US" sz="1600" dirty="0">
                <a:solidFill>
                  <a:srgbClr val="990055"/>
                </a:solidFill>
                <a:effectLst/>
              </a:rPr>
              <a:t>/div</a:t>
            </a:r>
            <a:r>
              <a:rPr lang="en-US" sz="1600" dirty="0">
                <a:solidFill>
                  <a:srgbClr val="999999"/>
                </a:solidFill>
                <a:effectLst/>
              </a:rPr>
              <a:t>&gt;</a:t>
            </a:r>
          </a:p>
          <a:p>
            <a:pPr lvl="1"/>
            <a:endParaRPr lang="en-US" dirty="0">
              <a:solidFill>
                <a:srgbClr val="999999"/>
              </a:solidFill>
            </a:endParaRPr>
          </a:p>
          <a:p>
            <a:r>
              <a:rPr lang="en-IN" sz="2400" b="1" dirty="0"/>
              <a:t>Animated Progress Bar</a:t>
            </a:r>
          </a:p>
          <a:p>
            <a:pPr marL="285750" indent="-285750">
              <a:buFont typeface="Arial" panose="020B0604020202020204" pitchFamily="34" charset="0"/>
              <a:buChar char="•"/>
            </a:pPr>
            <a:r>
              <a:rPr lang="en-US" dirty="0"/>
              <a:t>Add class </a:t>
            </a:r>
            <a:r>
              <a:rPr lang="en-US" dirty="0">
                <a:solidFill>
                  <a:srgbClr val="FF0000"/>
                </a:solidFill>
              </a:rPr>
              <a:t>.active</a:t>
            </a:r>
            <a:r>
              <a:rPr lang="en-US" dirty="0"/>
              <a:t> to animate the progress bar:</a:t>
            </a:r>
          </a:p>
          <a:p>
            <a:pPr marL="285750" indent="-285750">
              <a:buFont typeface="Arial" panose="020B0604020202020204" pitchFamily="34" charset="0"/>
              <a:buChar char="•"/>
            </a:pPr>
            <a:endParaRPr lang="en-US" dirty="0"/>
          </a:p>
          <a:p>
            <a:pPr lvl="1"/>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="progress"</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="progress-bar progress-bar-striped active"</a:t>
            </a:r>
            <a:r>
              <a:rPr lang="en-IN" sz="1400" dirty="0">
                <a:solidFill>
                  <a:srgbClr val="008000"/>
                </a:solidFill>
                <a:effectLst/>
              </a:rPr>
              <a:t> role</a:t>
            </a:r>
            <a:r>
              <a:rPr lang="en-IN" sz="1400" dirty="0">
                <a:solidFill>
                  <a:srgbClr val="005CC5"/>
                </a:solidFill>
                <a:effectLst/>
              </a:rPr>
              <a:t>="</a:t>
            </a:r>
            <a:r>
              <a:rPr lang="en-IN" sz="1400" dirty="0" err="1">
                <a:solidFill>
                  <a:srgbClr val="005CC5"/>
                </a:solidFill>
                <a:effectLst/>
              </a:rPr>
              <a:t>progressbar</a:t>
            </a:r>
            <a:r>
              <a:rPr lang="en-IN" sz="1400" dirty="0">
                <a:solidFill>
                  <a:srgbClr val="005CC5"/>
                </a:solidFill>
                <a:effectLst/>
              </a:rPr>
              <a:t>"</a:t>
            </a:r>
            <a:br>
              <a:rPr lang="en-IN" sz="1400" dirty="0">
                <a:solidFill>
                  <a:srgbClr val="008000"/>
                </a:solidFill>
                <a:effectLst/>
              </a:rPr>
            </a:br>
            <a:r>
              <a:rPr lang="en-IN" sz="1400" dirty="0">
                <a:solidFill>
                  <a:srgbClr val="008000"/>
                </a:solidFill>
                <a:effectLst/>
              </a:rPr>
              <a:t>  aria-</a:t>
            </a:r>
            <a:r>
              <a:rPr lang="en-IN" sz="1400" dirty="0" err="1">
                <a:solidFill>
                  <a:srgbClr val="008000"/>
                </a:solidFill>
                <a:effectLst/>
              </a:rPr>
              <a:t>valuenow</a:t>
            </a:r>
            <a:r>
              <a:rPr lang="en-IN" sz="1400" dirty="0">
                <a:solidFill>
                  <a:srgbClr val="005CC5"/>
                </a:solidFill>
                <a:effectLst/>
              </a:rPr>
              <a:t>="40"</a:t>
            </a:r>
            <a:r>
              <a:rPr lang="en-IN" sz="1400" dirty="0">
                <a:solidFill>
                  <a:srgbClr val="008000"/>
                </a:solidFill>
                <a:effectLst/>
              </a:rPr>
              <a:t> aria-</a:t>
            </a:r>
            <a:r>
              <a:rPr lang="en-IN" sz="1400" dirty="0" err="1">
                <a:solidFill>
                  <a:srgbClr val="008000"/>
                </a:solidFill>
                <a:effectLst/>
              </a:rPr>
              <a:t>valuemin</a:t>
            </a:r>
            <a:r>
              <a:rPr lang="en-IN" sz="1400" dirty="0">
                <a:solidFill>
                  <a:srgbClr val="005CC5"/>
                </a:solidFill>
                <a:effectLst/>
              </a:rPr>
              <a:t>="0"</a:t>
            </a:r>
            <a:r>
              <a:rPr lang="en-IN" sz="1400" dirty="0">
                <a:solidFill>
                  <a:srgbClr val="008000"/>
                </a:solidFill>
                <a:effectLst/>
              </a:rPr>
              <a:t> aria-</a:t>
            </a:r>
            <a:r>
              <a:rPr lang="en-IN" sz="1400" dirty="0" err="1">
                <a:solidFill>
                  <a:srgbClr val="008000"/>
                </a:solidFill>
                <a:effectLst/>
              </a:rPr>
              <a:t>valuemax</a:t>
            </a:r>
            <a:r>
              <a:rPr lang="en-IN" sz="1400" dirty="0">
                <a:solidFill>
                  <a:srgbClr val="005CC5"/>
                </a:solidFill>
                <a:effectLst/>
              </a:rPr>
              <a:t>="100"</a:t>
            </a:r>
            <a:r>
              <a:rPr lang="en-IN" sz="1400" dirty="0">
                <a:solidFill>
                  <a:srgbClr val="008000"/>
                </a:solidFill>
                <a:effectLst/>
              </a:rPr>
              <a:t> style</a:t>
            </a:r>
            <a:r>
              <a:rPr lang="en-IN" sz="1400" dirty="0">
                <a:solidFill>
                  <a:srgbClr val="005CC5"/>
                </a:solidFill>
                <a:effectLst/>
              </a:rPr>
              <a:t>="width:40%"</a:t>
            </a:r>
            <a:r>
              <a:rPr lang="en-IN" sz="1400" dirty="0">
                <a:solidFill>
                  <a:srgbClr val="999999"/>
                </a:solidFill>
                <a:effectLst/>
              </a:rPr>
              <a:t>&gt;</a:t>
            </a:r>
            <a:br>
              <a:rPr lang="en-IN" sz="1400" dirty="0"/>
            </a:br>
            <a:r>
              <a:rPr lang="en-IN" sz="1400" dirty="0"/>
              <a:t>    40%</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r>
              <a:rPr lang="en-IN" sz="1400" dirty="0"/>
              <a:t> </a:t>
            </a:r>
          </a:p>
          <a:p>
            <a:pPr marL="285750" indent="-285750">
              <a:buFont typeface="Arial" panose="020B0604020202020204" pitchFamily="34" charset="0"/>
              <a:buChar char="•"/>
            </a:pPr>
            <a:endParaRPr lang="en-IN" dirty="0"/>
          </a:p>
        </p:txBody>
      </p:sp>
      <p:pic>
        <p:nvPicPr>
          <p:cNvPr id="3" name="Picture 2">
            <a:extLst>
              <a:ext uri="{FF2B5EF4-FFF2-40B4-BE49-F238E27FC236}">
                <a16:creationId xmlns:a16="http://schemas.microsoft.com/office/drawing/2014/main" id="{588803D7-BF2B-A425-F61F-B810835EE34C}"/>
              </a:ext>
            </a:extLst>
          </p:cNvPr>
          <p:cNvPicPr>
            <a:picLocks noChangeAspect="1"/>
          </p:cNvPicPr>
          <p:nvPr/>
        </p:nvPicPr>
        <p:blipFill>
          <a:blip r:embed="rId2"/>
          <a:stretch>
            <a:fillRect/>
          </a:stretch>
        </p:blipFill>
        <p:spPr>
          <a:xfrm>
            <a:off x="2530998" y="3649702"/>
            <a:ext cx="8961756" cy="434180"/>
          </a:xfrm>
          <a:prstGeom prst="rect">
            <a:avLst/>
          </a:prstGeom>
        </p:spPr>
      </p:pic>
    </p:spTree>
    <p:extLst>
      <p:ext uri="{BB962C8B-B14F-4D97-AF65-F5344CB8AC3E}">
        <p14:creationId xmlns:p14="http://schemas.microsoft.com/office/powerpoint/2010/main" val="56604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03CE3-53B4-27B2-2EB5-017551D606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40F394-1C16-F0CB-9227-DDC4CEFB8120}"/>
              </a:ext>
            </a:extLst>
          </p:cNvPr>
          <p:cNvSpPr txBox="1"/>
          <p:nvPr/>
        </p:nvSpPr>
        <p:spPr>
          <a:xfrm>
            <a:off x="528918" y="421341"/>
            <a:ext cx="11143129" cy="5078313"/>
          </a:xfrm>
          <a:prstGeom prst="rect">
            <a:avLst/>
          </a:prstGeom>
          <a:noFill/>
        </p:spPr>
        <p:txBody>
          <a:bodyPr wrap="square" rtlCol="0">
            <a:spAutoFit/>
          </a:bodyPr>
          <a:lstStyle/>
          <a:p>
            <a:r>
              <a:rPr lang="en-IN" sz="2400" b="1" dirty="0"/>
              <a:t>Stacked Progress Bars</a:t>
            </a:r>
          </a:p>
          <a:p>
            <a:endParaRPr lang="en-US" sz="2000" dirty="0"/>
          </a:p>
          <a:p>
            <a:pPr marL="342900" indent="-342900">
              <a:buFont typeface="Arial" panose="020B0604020202020204" pitchFamily="34" charset="0"/>
              <a:buChar char="•"/>
            </a:pPr>
            <a:r>
              <a:rPr lang="en-US" sz="2000" dirty="0"/>
              <a:t>Create a stacked progress bar by placing multiple bars into the same </a:t>
            </a:r>
            <a:r>
              <a:rPr lang="en-US" sz="2000" dirty="0">
                <a:solidFill>
                  <a:srgbClr val="FF0000"/>
                </a:solidFill>
              </a:rPr>
              <a:t>&lt;div class="progress"&gt;</a:t>
            </a:r>
          </a:p>
          <a:p>
            <a:endParaRPr lang="en-US" sz="2000" dirty="0"/>
          </a:p>
          <a:p>
            <a:pPr lvl="1"/>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 progress-bar-success"</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style</a:t>
            </a:r>
            <a:r>
              <a:rPr lang="en-IN" sz="2000" dirty="0">
                <a:solidFill>
                  <a:srgbClr val="005CC5"/>
                </a:solidFill>
                <a:effectLst/>
              </a:rPr>
              <a:t>="width:40%"</a:t>
            </a:r>
            <a:r>
              <a:rPr lang="en-IN" sz="2000" dirty="0">
                <a:solidFill>
                  <a:srgbClr val="999999"/>
                </a:solidFill>
                <a:effectLst/>
              </a:rPr>
              <a:t>&gt;</a:t>
            </a:r>
            <a:br>
              <a:rPr lang="en-IN" sz="2000" dirty="0"/>
            </a:br>
            <a:r>
              <a:rPr lang="en-IN" sz="2000" dirty="0"/>
              <a:t>    Free Space</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 progress-bar-warning"</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style</a:t>
            </a:r>
            <a:r>
              <a:rPr lang="en-IN" sz="2000" dirty="0">
                <a:solidFill>
                  <a:srgbClr val="005CC5"/>
                </a:solidFill>
                <a:effectLst/>
              </a:rPr>
              <a:t>="width:10%"</a:t>
            </a:r>
            <a:r>
              <a:rPr lang="en-IN" sz="2000" dirty="0">
                <a:solidFill>
                  <a:srgbClr val="999999"/>
                </a:solidFill>
                <a:effectLst/>
              </a:rPr>
              <a:t>&gt;</a:t>
            </a:r>
            <a:br>
              <a:rPr lang="en-IN" sz="2000" dirty="0"/>
            </a:br>
            <a:r>
              <a:rPr lang="en-IN" sz="2000" dirty="0"/>
              <a:t>    Warning</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008000"/>
                </a:solidFill>
                <a:effectLst/>
              </a:rPr>
              <a:t> class</a:t>
            </a:r>
            <a:r>
              <a:rPr lang="en-IN" sz="2000" dirty="0">
                <a:solidFill>
                  <a:srgbClr val="005CC5"/>
                </a:solidFill>
                <a:effectLst/>
              </a:rPr>
              <a:t>="progress-bar progress-bar-danger"</a:t>
            </a:r>
            <a:r>
              <a:rPr lang="en-IN" sz="2000" dirty="0">
                <a:solidFill>
                  <a:srgbClr val="008000"/>
                </a:solidFill>
                <a:effectLst/>
              </a:rPr>
              <a:t> role</a:t>
            </a:r>
            <a:r>
              <a:rPr lang="en-IN" sz="2000" dirty="0">
                <a:solidFill>
                  <a:srgbClr val="005CC5"/>
                </a:solidFill>
                <a:effectLst/>
              </a:rPr>
              <a:t>="</a:t>
            </a:r>
            <a:r>
              <a:rPr lang="en-IN" sz="2000" dirty="0" err="1">
                <a:solidFill>
                  <a:srgbClr val="005CC5"/>
                </a:solidFill>
                <a:effectLst/>
              </a:rPr>
              <a:t>progressbar</a:t>
            </a:r>
            <a:r>
              <a:rPr lang="en-IN" sz="2000" dirty="0">
                <a:solidFill>
                  <a:srgbClr val="005CC5"/>
                </a:solidFill>
                <a:effectLst/>
              </a:rPr>
              <a:t>"</a:t>
            </a:r>
            <a:r>
              <a:rPr lang="en-IN" sz="2000" dirty="0">
                <a:solidFill>
                  <a:srgbClr val="008000"/>
                </a:solidFill>
                <a:effectLst/>
              </a:rPr>
              <a:t> style</a:t>
            </a:r>
            <a:r>
              <a:rPr lang="en-IN" sz="2000" dirty="0">
                <a:solidFill>
                  <a:srgbClr val="005CC5"/>
                </a:solidFill>
                <a:effectLst/>
              </a:rPr>
              <a:t>="width:20%"</a:t>
            </a:r>
            <a:r>
              <a:rPr lang="en-IN" sz="2000" dirty="0">
                <a:solidFill>
                  <a:srgbClr val="999999"/>
                </a:solidFill>
                <a:effectLst/>
              </a:rPr>
              <a:t>&gt;</a:t>
            </a:r>
            <a:br>
              <a:rPr lang="en-IN" sz="2000" dirty="0"/>
            </a:br>
            <a:r>
              <a:rPr lang="en-IN" sz="2000" dirty="0"/>
              <a:t>    Danger</a:t>
            </a:r>
            <a:br>
              <a:rPr lang="en-IN" sz="2000" dirty="0"/>
            </a:br>
            <a:r>
              <a:rPr lang="en-IN" sz="2000" dirty="0"/>
              <a:t>  </a:t>
            </a: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br>
              <a:rPr lang="en-IN" sz="2000" dirty="0"/>
            </a:br>
            <a:r>
              <a:rPr lang="en-IN" sz="2000" dirty="0">
                <a:solidFill>
                  <a:srgbClr val="999999"/>
                </a:solidFill>
                <a:effectLst/>
              </a:rPr>
              <a:t>&lt;</a:t>
            </a:r>
            <a:r>
              <a:rPr lang="en-IN" sz="2000" dirty="0">
                <a:solidFill>
                  <a:srgbClr val="990055"/>
                </a:solidFill>
                <a:effectLst/>
              </a:rPr>
              <a:t>/div</a:t>
            </a:r>
            <a:r>
              <a:rPr lang="en-IN" sz="2000" dirty="0">
                <a:solidFill>
                  <a:srgbClr val="999999"/>
                </a:solidFill>
                <a:effectLst/>
              </a:rPr>
              <a:t>&gt;</a:t>
            </a:r>
            <a:r>
              <a:rPr lang="en-IN" sz="2000" dirty="0"/>
              <a:t> </a:t>
            </a:r>
          </a:p>
          <a:p>
            <a:endParaRPr lang="en-IN" sz="2000" dirty="0"/>
          </a:p>
        </p:txBody>
      </p:sp>
      <p:pic>
        <p:nvPicPr>
          <p:cNvPr id="3" name="Picture 2">
            <a:extLst>
              <a:ext uri="{FF2B5EF4-FFF2-40B4-BE49-F238E27FC236}">
                <a16:creationId xmlns:a16="http://schemas.microsoft.com/office/drawing/2014/main" id="{765D0FF5-01AC-633F-EC4D-AD8C744C7EAB}"/>
              </a:ext>
            </a:extLst>
          </p:cNvPr>
          <p:cNvPicPr>
            <a:picLocks noChangeAspect="1"/>
          </p:cNvPicPr>
          <p:nvPr/>
        </p:nvPicPr>
        <p:blipFill>
          <a:blip r:embed="rId2"/>
          <a:stretch>
            <a:fillRect/>
          </a:stretch>
        </p:blipFill>
        <p:spPr>
          <a:xfrm>
            <a:off x="989069" y="5354556"/>
            <a:ext cx="9965802" cy="504584"/>
          </a:xfrm>
          <a:prstGeom prst="rect">
            <a:avLst/>
          </a:prstGeom>
        </p:spPr>
      </p:pic>
    </p:spTree>
    <p:extLst>
      <p:ext uri="{BB962C8B-B14F-4D97-AF65-F5344CB8AC3E}">
        <p14:creationId xmlns:p14="http://schemas.microsoft.com/office/powerpoint/2010/main" val="407874775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11EC-0E1B-713B-92B3-BBDB93FDE9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E37A33-E4AD-B6D4-F4BD-AB1B930B7C65}"/>
              </a:ext>
            </a:extLst>
          </p:cNvPr>
          <p:cNvSpPr txBox="1"/>
          <p:nvPr/>
        </p:nvSpPr>
        <p:spPr>
          <a:xfrm>
            <a:off x="528918" y="421341"/>
            <a:ext cx="11143129" cy="5455981"/>
          </a:xfrm>
          <a:prstGeom prst="rect">
            <a:avLst/>
          </a:prstGeom>
          <a:noFill/>
        </p:spPr>
        <p:txBody>
          <a:bodyPr wrap="square" rtlCol="0">
            <a:spAutoFit/>
          </a:bodyPr>
          <a:lstStyle/>
          <a:p>
            <a:r>
              <a:rPr lang="en-IN" sz="2400" b="1" dirty="0"/>
              <a:t>Bootstrap List Groups</a:t>
            </a:r>
            <a:endParaRPr lang="en-US" sz="2800" dirty="0"/>
          </a:p>
          <a:p>
            <a:endParaRPr lang="en-US" sz="2000" dirty="0"/>
          </a:p>
          <a:p>
            <a:pPr marL="342900" indent="-342900">
              <a:buFont typeface="Arial" panose="020B0604020202020204" pitchFamily="34" charset="0"/>
              <a:buChar char="•"/>
            </a:pPr>
            <a:r>
              <a:rPr lang="en-US" sz="2000" dirty="0"/>
              <a:t>To create a basic list group, use an </a:t>
            </a:r>
            <a:r>
              <a:rPr lang="en-US" sz="2000" dirty="0">
                <a:solidFill>
                  <a:srgbClr val="FF0000"/>
                </a:solidFill>
              </a:rPr>
              <a:t>&lt;ul&gt; </a:t>
            </a:r>
            <a:r>
              <a:rPr lang="en-US" sz="2000" dirty="0"/>
              <a:t>element with class </a:t>
            </a:r>
            <a:r>
              <a:rPr lang="en-US" sz="2000" dirty="0">
                <a:solidFill>
                  <a:srgbClr val="FF0000"/>
                </a:solidFill>
              </a:rPr>
              <a:t>.list-group</a:t>
            </a:r>
            <a:r>
              <a:rPr lang="en-US" sz="2000" dirty="0"/>
              <a:t>, and </a:t>
            </a:r>
            <a:r>
              <a:rPr lang="en-US" sz="2000" dirty="0">
                <a:solidFill>
                  <a:srgbClr val="FF0000"/>
                </a:solidFill>
              </a:rPr>
              <a:t>&lt;li&gt; </a:t>
            </a:r>
            <a:r>
              <a:rPr lang="en-US" sz="2000" dirty="0"/>
              <a:t>elements with class </a:t>
            </a:r>
            <a:r>
              <a:rPr lang="en-US" sz="2000" dirty="0">
                <a:solidFill>
                  <a:srgbClr val="FF0000"/>
                </a:solidFill>
              </a:rPr>
              <a:t>.list-group-item</a:t>
            </a:r>
          </a:p>
          <a:p>
            <a:endParaRPr lang="en-US" sz="2000" dirty="0"/>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To create a badge, create a </a:t>
            </a:r>
            <a:r>
              <a:rPr lang="en-US" sz="2000" dirty="0">
                <a:solidFill>
                  <a:srgbClr val="FF0000"/>
                </a:solidFill>
              </a:rPr>
              <a:t>&lt;span&gt; </a:t>
            </a:r>
            <a:r>
              <a:rPr lang="en-US" sz="2000" dirty="0"/>
              <a:t>element with class .badge inside the list item</a:t>
            </a:r>
          </a:p>
          <a:p>
            <a:pPr marL="342900" indent="-342900">
              <a:buFont typeface="Arial" panose="020B0604020202020204" pitchFamily="34" charset="0"/>
              <a:buChar char="•"/>
            </a:pPr>
            <a:endParaRPr lang="en-US" sz="2000" dirty="0"/>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New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12</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Deleted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5</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Warnings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="badge"&gt;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3</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/span</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IN" sz="2000" dirty="0"/>
          </a:p>
        </p:txBody>
      </p:sp>
      <p:pic>
        <p:nvPicPr>
          <p:cNvPr id="3" name="Picture 2">
            <a:extLst>
              <a:ext uri="{FF2B5EF4-FFF2-40B4-BE49-F238E27FC236}">
                <a16:creationId xmlns:a16="http://schemas.microsoft.com/office/drawing/2014/main" id="{5F867C27-F10E-8A64-4FBA-67C9D8F89AF4}"/>
              </a:ext>
            </a:extLst>
          </p:cNvPr>
          <p:cNvPicPr>
            <a:picLocks noChangeAspect="1"/>
          </p:cNvPicPr>
          <p:nvPr/>
        </p:nvPicPr>
        <p:blipFill>
          <a:blip r:embed="rId2"/>
          <a:stretch>
            <a:fillRect/>
          </a:stretch>
        </p:blipFill>
        <p:spPr>
          <a:xfrm>
            <a:off x="8042648" y="2296213"/>
            <a:ext cx="3206750" cy="1130300"/>
          </a:xfrm>
          <a:prstGeom prst="rect">
            <a:avLst/>
          </a:prstGeom>
        </p:spPr>
      </p:pic>
      <p:pic>
        <p:nvPicPr>
          <p:cNvPr id="4" name="Picture 3" descr="A white rectangular object with a black border&#10;&#10;Description automatically generated">
            <a:extLst>
              <a:ext uri="{FF2B5EF4-FFF2-40B4-BE49-F238E27FC236}">
                <a16:creationId xmlns:a16="http://schemas.microsoft.com/office/drawing/2014/main" id="{7E2507D7-6C71-7C78-4B94-DE13A8221124}"/>
              </a:ext>
            </a:extLst>
          </p:cNvPr>
          <p:cNvPicPr>
            <a:picLocks noChangeAspect="1"/>
          </p:cNvPicPr>
          <p:nvPr/>
        </p:nvPicPr>
        <p:blipFill>
          <a:blip r:embed="rId3"/>
          <a:stretch>
            <a:fillRect/>
          </a:stretch>
        </p:blipFill>
        <p:spPr>
          <a:xfrm>
            <a:off x="2683398" y="5301384"/>
            <a:ext cx="7235564" cy="1027697"/>
          </a:xfrm>
          <a:prstGeom prst="rect">
            <a:avLst/>
          </a:prstGeom>
        </p:spPr>
      </p:pic>
    </p:spTree>
    <p:extLst>
      <p:ext uri="{BB962C8B-B14F-4D97-AF65-F5344CB8AC3E}">
        <p14:creationId xmlns:p14="http://schemas.microsoft.com/office/powerpoint/2010/main" val="20692791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38A3E-A9D6-183D-F2E0-F00C1FA9AF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DF629B-200D-9BEA-9B3B-5AA6A09BD407}"/>
              </a:ext>
            </a:extLst>
          </p:cNvPr>
          <p:cNvSpPr txBox="1"/>
          <p:nvPr/>
        </p:nvSpPr>
        <p:spPr>
          <a:xfrm>
            <a:off x="528918" y="421341"/>
            <a:ext cx="11143129" cy="6506589"/>
          </a:xfrm>
          <a:prstGeom prst="rect">
            <a:avLst/>
          </a:prstGeom>
          <a:noFill/>
        </p:spPr>
        <p:txBody>
          <a:bodyPr wrap="square" rtlCol="0">
            <a:spAutoFit/>
          </a:bodyPr>
          <a:lstStyle/>
          <a:p>
            <a:r>
              <a:rPr lang="en-US" sz="2000" dirty="0"/>
              <a:t>Continued…</a:t>
            </a:r>
          </a:p>
          <a:p>
            <a:endParaRPr lang="en-US" sz="2000" dirty="0"/>
          </a:p>
          <a:p>
            <a:r>
              <a:rPr lang="en-US" sz="2000" dirty="0"/>
              <a:t>To create a list group with </a:t>
            </a:r>
            <a:r>
              <a:rPr lang="en-US" sz="2000" dirty="0">
                <a:solidFill>
                  <a:srgbClr val="FF0000"/>
                </a:solidFill>
              </a:rPr>
              <a:t>linked items</a:t>
            </a:r>
            <a:r>
              <a:rPr lang="en-US" sz="2000" dirty="0"/>
              <a:t>, use </a:t>
            </a:r>
            <a:r>
              <a:rPr lang="en-US" sz="2000" dirty="0">
                <a:solidFill>
                  <a:srgbClr val="FF0000"/>
                </a:solidFill>
              </a:rPr>
              <a:t>&lt;div&gt; </a:t>
            </a:r>
            <a:r>
              <a:rPr lang="en-US" sz="2000" dirty="0"/>
              <a:t>instead of </a:t>
            </a:r>
            <a:r>
              <a:rPr lang="en-US" sz="2000" dirty="0">
                <a:solidFill>
                  <a:srgbClr val="FF0000"/>
                </a:solidFill>
              </a:rPr>
              <a:t>&lt;ul&gt; </a:t>
            </a:r>
            <a:r>
              <a:rPr lang="en-US" sz="2000" dirty="0"/>
              <a:t>and </a:t>
            </a:r>
            <a:r>
              <a:rPr lang="en-US" sz="2000" dirty="0">
                <a:solidFill>
                  <a:srgbClr val="FF0000"/>
                </a:solidFill>
              </a:rPr>
              <a:t>&lt;a&gt;</a:t>
            </a:r>
            <a:r>
              <a:rPr lang="en-US" sz="2000" dirty="0"/>
              <a:t> instead of </a:t>
            </a:r>
            <a:r>
              <a:rPr lang="en-US" sz="2000" dirty="0">
                <a:solidFill>
                  <a:srgbClr val="FF0000"/>
                </a:solidFill>
              </a:rPr>
              <a:t>&lt;li&gt;</a:t>
            </a:r>
          </a:p>
          <a:p>
            <a:endParaRPr lang="en-US" sz="2000" dirty="0">
              <a:solidFill>
                <a:srgbClr val="FF0000"/>
              </a:solidFill>
            </a:endParaRPr>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We can use the </a:t>
            </a:r>
            <a:r>
              <a:rPr lang="en-US" sz="2000" dirty="0">
                <a:solidFill>
                  <a:srgbClr val="FF0000"/>
                </a:solidFill>
              </a:rPr>
              <a:t>.active </a:t>
            </a:r>
            <a:r>
              <a:rPr lang="en-US" sz="2000" dirty="0"/>
              <a:t>class to highlight the current item</a:t>
            </a:r>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active"&gt;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To disable an item, add the .</a:t>
            </a:r>
            <a:r>
              <a:rPr lang="en-US" sz="2000" dirty="0">
                <a:solidFill>
                  <a:srgbClr val="FF0000"/>
                </a:solidFill>
              </a:rPr>
              <a:t>disabled</a:t>
            </a:r>
            <a:r>
              <a:rPr lang="en-US" sz="2000" dirty="0"/>
              <a:t> class</a:t>
            </a:r>
          </a:p>
          <a:p>
            <a:pPr lvl="1">
              <a:lnSpc>
                <a:spcPct val="107000"/>
              </a:lnSpc>
              <a:spcAft>
                <a:spcPts val="800"/>
              </a:spcAft>
            </a:pP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disabled"&gt;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kern="100" dirty="0" err="1">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href</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="list-group-item"&gt;</a:t>
            </a:r>
            <a: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/a</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endParaRPr lang="en-IN" sz="2000" dirty="0"/>
          </a:p>
        </p:txBody>
      </p:sp>
      <p:pic>
        <p:nvPicPr>
          <p:cNvPr id="4" name="Picture 3">
            <a:extLst>
              <a:ext uri="{FF2B5EF4-FFF2-40B4-BE49-F238E27FC236}">
                <a16:creationId xmlns:a16="http://schemas.microsoft.com/office/drawing/2014/main" id="{9407FDC9-B277-FD98-011B-FBD74E02D8D2}"/>
              </a:ext>
            </a:extLst>
          </p:cNvPr>
          <p:cNvPicPr>
            <a:picLocks noChangeAspect="1"/>
          </p:cNvPicPr>
          <p:nvPr/>
        </p:nvPicPr>
        <p:blipFill>
          <a:blip r:embed="rId2"/>
          <a:stretch>
            <a:fillRect/>
          </a:stretch>
        </p:blipFill>
        <p:spPr>
          <a:xfrm>
            <a:off x="7958604" y="3564031"/>
            <a:ext cx="3625850" cy="120015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FFD5FDDA-5A79-404F-7225-BAE0C2273A98}"/>
              </a:ext>
            </a:extLst>
          </p:cNvPr>
          <p:cNvPicPr>
            <a:picLocks noChangeAspect="1"/>
          </p:cNvPicPr>
          <p:nvPr/>
        </p:nvPicPr>
        <p:blipFill>
          <a:blip r:embed="rId3"/>
          <a:stretch>
            <a:fillRect/>
          </a:stretch>
        </p:blipFill>
        <p:spPr>
          <a:xfrm>
            <a:off x="7958604" y="5198409"/>
            <a:ext cx="2876550" cy="1238250"/>
          </a:xfrm>
          <a:prstGeom prst="rect">
            <a:avLst/>
          </a:prstGeom>
        </p:spPr>
      </p:pic>
    </p:spTree>
    <p:extLst>
      <p:ext uri="{BB962C8B-B14F-4D97-AF65-F5344CB8AC3E}">
        <p14:creationId xmlns:p14="http://schemas.microsoft.com/office/powerpoint/2010/main" val="132390357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7F0BA-A6C5-FF18-5ABB-BCB77D41F4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A0D9E7-57B3-3E19-30AE-3BAE9A1C7D19}"/>
              </a:ext>
            </a:extLst>
          </p:cNvPr>
          <p:cNvSpPr txBox="1"/>
          <p:nvPr/>
        </p:nvSpPr>
        <p:spPr>
          <a:xfrm>
            <a:off x="528918" y="421341"/>
            <a:ext cx="11143129" cy="3793987"/>
          </a:xfrm>
          <a:prstGeom prst="rect">
            <a:avLst/>
          </a:prstGeom>
          <a:noFill/>
        </p:spPr>
        <p:txBody>
          <a:bodyPr wrap="square" rtlCol="0">
            <a:spAutoFit/>
          </a:bodyPr>
          <a:lstStyle/>
          <a:p>
            <a:r>
              <a:rPr lang="en-US" sz="2400" dirty="0"/>
              <a:t>Continued…</a:t>
            </a:r>
          </a:p>
          <a:p>
            <a:endParaRPr lang="en-US" sz="2000" dirty="0"/>
          </a:p>
          <a:p>
            <a:pPr marL="342900" indent="-342900" algn="just">
              <a:buFont typeface="Arial" panose="020B0604020202020204" pitchFamily="34" charset="0"/>
              <a:buChar char="•"/>
            </a:pPr>
            <a:r>
              <a:rPr lang="en-US" sz="2000" dirty="0"/>
              <a:t>Contextual classes can be used to color list items. The classes for coloring list-items are: </a:t>
            </a:r>
            <a:r>
              <a:rPr lang="en-US" sz="2000" dirty="0">
                <a:solidFill>
                  <a:srgbClr val="FF0000"/>
                </a:solidFill>
              </a:rPr>
              <a:t>.list-group-item-success, list-group-item-info, list-group-item-warning, and .list-group-item-danger</a:t>
            </a:r>
          </a:p>
          <a:p>
            <a:endParaRPr lang="en-US" sz="2000" dirty="0"/>
          </a:p>
          <a:p>
            <a:pPr lvl="1">
              <a:lnSpc>
                <a:spcPct val="107000"/>
              </a:lnSpc>
              <a:spcAft>
                <a:spcPts val="800"/>
              </a:spcAft>
            </a:pP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list-group-item-success"&gt;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First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list-group-item-info"&gt;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Second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list-group-item-warning"&gt;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Third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="list-group-item list-group-item-danger"&gt;</a:t>
            </a:r>
            <a: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Fourth item</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/li</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kern="1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/ul</a:t>
            </a:r>
            <a:r>
              <a:rPr lang="en-IN" sz="1400" kern="1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t>Bootstrap provides the classes </a:t>
            </a:r>
            <a:r>
              <a:rPr lang="en-US" sz="2000" dirty="0">
                <a:solidFill>
                  <a:srgbClr val="FF0000"/>
                </a:solidFill>
              </a:rPr>
              <a:t>.list-group-item-heading </a:t>
            </a:r>
            <a:r>
              <a:rPr lang="en-US" sz="2000" dirty="0"/>
              <a:t>and </a:t>
            </a:r>
            <a:r>
              <a:rPr lang="en-US" sz="2000" dirty="0">
                <a:solidFill>
                  <a:srgbClr val="FF0000"/>
                </a:solidFill>
              </a:rPr>
              <a:t>.list-group-item-text </a:t>
            </a:r>
            <a:r>
              <a:rPr lang="en-US" sz="2000" dirty="0"/>
              <a:t>which can be used to create custom content.</a:t>
            </a:r>
            <a:endParaRPr lang="en-IN" sz="2000" dirty="0"/>
          </a:p>
        </p:txBody>
      </p:sp>
      <p:pic>
        <p:nvPicPr>
          <p:cNvPr id="3" name="Picture 2" descr="A screenshot of a computer&#10;&#10;Description automatically generated">
            <a:extLst>
              <a:ext uri="{FF2B5EF4-FFF2-40B4-BE49-F238E27FC236}">
                <a16:creationId xmlns:a16="http://schemas.microsoft.com/office/drawing/2014/main" id="{1EB074C3-C5CA-75F9-5A70-D8982A3FF4E2}"/>
              </a:ext>
            </a:extLst>
          </p:cNvPr>
          <p:cNvPicPr>
            <a:picLocks noChangeAspect="1"/>
          </p:cNvPicPr>
          <p:nvPr/>
        </p:nvPicPr>
        <p:blipFill>
          <a:blip r:embed="rId2"/>
          <a:stretch>
            <a:fillRect/>
          </a:stretch>
        </p:blipFill>
        <p:spPr>
          <a:xfrm>
            <a:off x="8417485" y="2032000"/>
            <a:ext cx="2959100" cy="1397000"/>
          </a:xfrm>
          <a:prstGeom prst="rect">
            <a:avLst/>
          </a:prstGeom>
        </p:spPr>
      </p:pic>
      <p:pic>
        <p:nvPicPr>
          <p:cNvPr id="4" name="Picture 3">
            <a:extLst>
              <a:ext uri="{FF2B5EF4-FFF2-40B4-BE49-F238E27FC236}">
                <a16:creationId xmlns:a16="http://schemas.microsoft.com/office/drawing/2014/main" id="{4564F6C3-CB22-503F-88BE-32623886FF0C}"/>
              </a:ext>
            </a:extLst>
          </p:cNvPr>
          <p:cNvPicPr>
            <a:picLocks noChangeAspect="1"/>
          </p:cNvPicPr>
          <p:nvPr/>
        </p:nvPicPr>
        <p:blipFill>
          <a:blip r:embed="rId3"/>
          <a:stretch>
            <a:fillRect/>
          </a:stretch>
        </p:blipFill>
        <p:spPr>
          <a:xfrm>
            <a:off x="177427" y="4139639"/>
            <a:ext cx="7122590" cy="2637678"/>
          </a:xfrm>
          <a:prstGeom prst="rect">
            <a:avLst/>
          </a:prstGeom>
        </p:spPr>
      </p:pic>
      <p:pic>
        <p:nvPicPr>
          <p:cNvPr id="5" name="Picture 4">
            <a:extLst>
              <a:ext uri="{FF2B5EF4-FFF2-40B4-BE49-F238E27FC236}">
                <a16:creationId xmlns:a16="http://schemas.microsoft.com/office/drawing/2014/main" id="{91DD9332-06CE-74E0-CCB8-6707738A9EB2}"/>
              </a:ext>
            </a:extLst>
          </p:cNvPr>
          <p:cNvPicPr>
            <a:picLocks noChangeAspect="1"/>
          </p:cNvPicPr>
          <p:nvPr/>
        </p:nvPicPr>
        <p:blipFill>
          <a:blip r:embed="rId4"/>
          <a:stretch>
            <a:fillRect/>
          </a:stretch>
        </p:blipFill>
        <p:spPr>
          <a:xfrm>
            <a:off x="7073032" y="4517278"/>
            <a:ext cx="4826000" cy="1606550"/>
          </a:xfrm>
          <a:prstGeom prst="rect">
            <a:avLst/>
          </a:prstGeom>
        </p:spPr>
      </p:pic>
    </p:spTree>
    <p:extLst>
      <p:ext uri="{BB962C8B-B14F-4D97-AF65-F5344CB8AC3E}">
        <p14:creationId xmlns:p14="http://schemas.microsoft.com/office/powerpoint/2010/main" val="153109881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9D3A3-3537-6D6C-6215-B561ED3AA2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F713FA-6F52-6D41-6470-B1D2F28FB0AF}"/>
              </a:ext>
            </a:extLst>
          </p:cNvPr>
          <p:cNvSpPr txBox="1"/>
          <p:nvPr/>
        </p:nvSpPr>
        <p:spPr>
          <a:xfrm>
            <a:off x="528918" y="421341"/>
            <a:ext cx="11143129" cy="5970865"/>
          </a:xfrm>
          <a:prstGeom prst="rect">
            <a:avLst/>
          </a:prstGeom>
          <a:noFill/>
        </p:spPr>
        <p:txBody>
          <a:bodyPr wrap="square" rtlCol="0">
            <a:spAutoFit/>
          </a:bodyPr>
          <a:lstStyle/>
          <a:p>
            <a:r>
              <a:rPr lang="en-IN" sz="2400" b="1" dirty="0"/>
              <a:t>Navigation Bar</a:t>
            </a:r>
          </a:p>
          <a:p>
            <a:endParaRPr lang="en-US" sz="2000" dirty="0"/>
          </a:p>
          <a:p>
            <a:pPr marL="285750" indent="-285750">
              <a:buFont typeface="Arial" panose="020B0604020202020204" pitchFamily="34" charset="0"/>
              <a:buChar char="•"/>
            </a:pPr>
            <a:r>
              <a:rPr lang="en-IN" dirty="0"/>
              <a:t>A navigation bar is a navigation header that is placed at the top of the page. </a:t>
            </a:r>
          </a:p>
          <a:p>
            <a:pPr marL="285750" indent="-285750">
              <a:buFont typeface="Arial" panose="020B0604020202020204" pitchFamily="34" charset="0"/>
              <a:buChar char="•"/>
            </a:pPr>
            <a:r>
              <a:rPr lang="en-IN" dirty="0"/>
              <a:t>With Bootstrap, a navigation bar can extend or collapse, depending on the screen size.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standard navigation bar is created with the .navbar class, followed by a responsive collapsing class: .</a:t>
            </a:r>
            <a:r>
              <a:rPr lang="en-US" sz="2000" dirty="0" err="1">
                <a:solidFill>
                  <a:srgbClr val="FF0000"/>
                </a:solidFill>
              </a:rPr>
              <a:t>navbar-expand-xxl|xl|lg|md|sm</a:t>
            </a:r>
            <a:endParaRPr lang="en-US" sz="2000" dirty="0">
              <a:solidFill>
                <a:srgbClr val="FF0000"/>
              </a:solidFill>
            </a:endParaRPr>
          </a:p>
          <a:p>
            <a:pPr marL="342900" indent="-342900">
              <a:buFont typeface="Arial" panose="020B0604020202020204" pitchFamily="34" charset="0"/>
              <a:buChar char="•"/>
            </a:pPr>
            <a:endParaRPr lang="en-US" sz="2000" dirty="0">
              <a:solidFill>
                <a:srgbClr val="FF0000"/>
              </a:solidFill>
              <a:highlight>
                <a:srgbClr val="FFFFFF"/>
              </a:highlight>
              <a:latin typeface="Cascadia Mono" panose="020B0609020000020004" pitchFamily="49" charset="0"/>
            </a:endParaRPr>
          </a:p>
          <a:p>
            <a:pPr marL="342900" indent="-342900">
              <a:buFont typeface="Arial" panose="020B0604020202020204" pitchFamily="34" charset="0"/>
              <a:buChar char="•"/>
            </a:pPr>
            <a:r>
              <a:rPr lang="en-US" sz="2000" dirty="0">
                <a:highlight>
                  <a:srgbClr val="FFFFFF"/>
                </a:highlight>
              </a:rPr>
              <a:t>To add links inside the navbar, use either an </a:t>
            </a:r>
            <a:r>
              <a:rPr lang="en-US" sz="2000" dirty="0">
                <a:solidFill>
                  <a:srgbClr val="FF0000"/>
                </a:solidFill>
                <a:highlight>
                  <a:srgbClr val="FFFFFF"/>
                </a:highlight>
              </a:rPr>
              <a:t>&lt;ul&gt; </a:t>
            </a:r>
            <a:r>
              <a:rPr lang="en-US" sz="2000" dirty="0">
                <a:highlight>
                  <a:srgbClr val="FFFFFF"/>
                </a:highlight>
              </a:rPr>
              <a:t>element (or a </a:t>
            </a:r>
            <a:r>
              <a:rPr lang="en-US" sz="2000" dirty="0">
                <a:solidFill>
                  <a:srgbClr val="FF0000"/>
                </a:solidFill>
                <a:highlight>
                  <a:srgbClr val="FFFFFF"/>
                </a:highlight>
              </a:rPr>
              <a:t>&lt;div&gt;) </a:t>
            </a:r>
            <a:r>
              <a:rPr lang="en-US" sz="2000" dirty="0">
                <a:highlight>
                  <a:srgbClr val="FFFFFF"/>
                </a:highlight>
              </a:rPr>
              <a:t>with </a:t>
            </a:r>
            <a:r>
              <a:rPr lang="en-US" sz="2000" dirty="0">
                <a:solidFill>
                  <a:srgbClr val="FF0000"/>
                </a:solidFill>
                <a:highlight>
                  <a:srgbClr val="FFFFFF"/>
                </a:highlight>
              </a:rPr>
              <a:t>class="navbar-nav</a:t>
            </a:r>
            <a:r>
              <a:rPr lang="en-US" sz="2000" dirty="0">
                <a:highlight>
                  <a:srgbClr val="FFFFFF"/>
                </a:highlight>
              </a:rPr>
              <a:t>". Then add </a:t>
            </a:r>
            <a:r>
              <a:rPr lang="en-US" sz="2000" dirty="0">
                <a:solidFill>
                  <a:srgbClr val="FF0000"/>
                </a:solidFill>
                <a:highlight>
                  <a:srgbClr val="FFFFFF"/>
                </a:highlight>
              </a:rPr>
              <a:t>&lt;li&gt; </a:t>
            </a:r>
            <a:r>
              <a:rPr lang="en-US" sz="2000" dirty="0">
                <a:highlight>
                  <a:srgbClr val="FFFFFF"/>
                </a:highlight>
              </a:rPr>
              <a:t>elements with a </a:t>
            </a:r>
            <a:r>
              <a:rPr lang="en-US" sz="2000" dirty="0">
                <a:solidFill>
                  <a:srgbClr val="FF0000"/>
                </a:solidFill>
                <a:highlight>
                  <a:srgbClr val="FFFFFF"/>
                </a:highlight>
              </a:rPr>
              <a:t>.nav-item </a:t>
            </a:r>
            <a:r>
              <a:rPr lang="en-US" sz="2000" dirty="0">
                <a:highlight>
                  <a:srgbClr val="FFFFFF"/>
                </a:highlight>
              </a:rPr>
              <a:t>class followed by an </a:t>
            </a:r>
            <a:r>
              <a:rPr lang="en-US" sz="2000" dirty="0">
                <a:solidFill>
                  <a:srgbClr val="FF0000"/>
                </a:solidFill>
                <a:highlight>
                  <a:srgbClr val="FFFFFF"/>
                </a:highlight>
              </a:rPr>
              <a:t>&lt;a&gt;</a:t>
            </a:r>
            <a:r>
              <a:rPr lang="en-US" sz="2000" dirty="0">
                <a:highlight>
                  <a:srgbClr val="FFFFFF"/>
                </a:highlight>
              </a:rPr>
              <a:t> element with a </a:t>
            </a:r>
            <a:r>
              <a:rPr lang="en-US" sz="2000" dirty="0">
                <a:solidFill>
                  <a:srgbClr val="FF0000"/>
                </a:solidFill>
                <a:highlight>
                  <a:srgbClr val="FFFFFF"/>
                </a:highlight>
              </a:rPr>
              <a:t>.nav-link </a:t>
            </a:r>
            <a:r>
              <a:rPr lang="en-US" sz="2000" dirty="0">
                <a:highlight>
                  <a:srgbClr val="FFFFFF"/>
                </a:highlight>
              </a:rPr>
              <a:t>class</a:t>
            </a:r>
          </a:p>
          <a:p>
            <a:endParaRPr lang="en-US" sz="2000" dirty="0">
              <a:highlight>
                <a:srgbClr val="FFFFFF"/>
              </a:highlight>
            </a:endParaRPr>
          </a:p>
          <a:p>
            <a:r>
              <a:rPr lang="en-IN" dirty="0">
                <a:solidFill>
                  <a:srgbClr val="999999"/>
                </a:solidFill>
                <a:effectLst/>
              </a:rPr>
              <a:t>&lt;</a:t>
            </a:r>
            <a:r>
              <a:rPr lang="en-IN" dirty="0">
                <a:solidFill>
                  <a:srgbClr val="990055"/>
                </a:solidFill>
                <a:effectLst/>
              </a:rPr>
              <a:t>nav</a:t>
            </a:r>
            <a:r>
              <a:rPr lang="en-IN" dirty="0">
                <a:solidFill>
                  <a:srgbClr val="008000"/>
                </a:solidFill>
                <a:effectLst/>
              </a:rPr>
              <a:t> class</a:t>
            </a:r>
            <a:r>
              <a:rPr lang="en-IN" dirty="0">
                <a:solidFill>
                  <a:srgbClr val="005CC5"/>
                </a:solidFill>
                <a:effectLst/>
              </a:rPr>
              <a:t>="navbar navbar-expand-</a:t>
            </a:r>
            <a:r>
              <a:rPr lang="en-IN" dirty="0" err="1">
                <a:solidFill>
                  <a:srgbClr val="005CC5"/>
                </a:solidFill>
                <a:effectLst/>
              </a:rPr>
              <a:t>sm</a:t>
            </a:r>
            <a:r>
              <a:rPr lang="en-IN" dirty="0">
                <a:solidFill>
                  <a:srgbClr val="005CC5"/>
                </a:solidFill>
                <a:effectLst/>
              </a:rPr>
              <a:t> </a:t>
            </a:r>
            <a:r>
              <a:rPr lang="en-IN" dirty="0" err="1">
                <a:solidFill>
                  <a:srgbClr val="005CC5"/>
                </a:solidFill>
                <a:effectLst/>
              </a:rPr>
              <a:t>bg</a:t>
            </a:r>
            <a:r>
              <a:rPr lang="en-IN" dirty="0">
                <a:solidFill>
                  <a:srgbClr val="005CC5"/>
                </a:solidFill>
                <a:effectLst/>
              </a:rPr>
              <a:t>-light"</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008000"/>
                </a:solidFill>
                <a:effectLst/>
              </a:rPr>
              <a:t> class</a:t>
            </a:r>
            <a:r>
              <a:rPr lang="en-IN" dirty="0">
                <a:solidFill>
                  <a:srgbClr val="005CC5"/>
                </a:solidFill>
                <a:effectLst/>
              </a:rPr>
              <a:t>="container-fluid"</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008000"/>
                </a:solidFill>
                <a:effectLst/>
              </a:rPr>
              <a:t> class</a:t>
            </a:r>
            <a:r>
              <a:rPr lang="en-IN" dirty="0">
                <a:solidFill>
                  <a:srgbClr val="005CC5"/>
                </a:solidFill>
                <a:effectLst/>
              </a:rPr>
              <a:t>="navbar-nav"</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 1</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 2</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a:t>
            </a:r>
            <a:r>
              <a:rPr lang="en-IN" dirty="0">
                <a:solidFill>
                  <a:srgbClr val="999999"/>
                </a:solidFill>
                <a:effectLst/>
              </a:rPr>
              <a:t>&gt;</a:t>
            </a:r>
            <a:r>
              <a:rPr lang="en-IN" dirty="0"/>
              <a:t>        </a:t>
            </a:r>
            <a:r>
              <a:rPr lang="en-IN" dirty="0">
                <a:solidFill>
                  <a:srgbClr val="999999"/>
                </a:solidFill>
                <a:effectLst/>
              </a:rPr>
              <a: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 3</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/nav</a:t>
            </a:r>
            <a:r>
              <a:rPr lang="en-IN" dirty="0">
                <a:solidFill>
                  <a:srgbClr val="999999"/>
                </a:solidFill>
                <a:effectLst/>
              </a:rPr>
              <a:t>&gt;</a:t>
            </a:r>
            <a:endParaRPr lang="en-IN" dirty="0">
              <a:highlight>
                <a:srgbClr val="FFFFFF"/>
              </a:highlight>
            </a:endParaRPr>
          </a:p>
        </p:txBody>
      </p:sp>
      <p:pic>
        <p:nvPicPr>
          <p:cNvPr id="6" name="Picture 5">
            <a:extLst>
              <a:ext uri="{FF2B5EF4-FFF2-40B4-BE49-F238E27FC236}">
                <a16:creationId xmlns:a16="http://schemas.microsoft.com/office/drawing/2014/main" id="{4CD8504D-41E5-A3CE-F678-BA3D7C2A464D}"/>
              </a:ext>
            </a:extLst>
          </p:cNvPr>
          <p:cNvPicPr>
            <a:picLocks noChangeAspect="1"/>
          </p:cNvPicPr>
          <p:nvPr/>
        </p:nvPicPr>
        <p:blipFill>
          <a:blip r:embed="rId2"/>
          <a:stretch>
            <a:fillRect/>
          </a:stretch>
        </p:blipFill>
        <p:spPr>
          <a:xfrm>
            <a:off x="2353062" y="5761807"/>
            <a:ext cx="9310020" cy="558311"/>
          </a:xfrm>
          <a:prstGeom prst="rect">
            <a:avLst/>
          </a:prstGeom>
        </p:spPr>
      </p:pic>
    </p:spTree>
    <p:extLst>
      <p:ext uri="{BB962C8B-B14F-4D97-AF65-F5344CB8AC3E}">
        <p14:creationId xmlns:p14="http://schemas.microsoft.com/office/powerpoint/2010/main" val="236500594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C4E03-21D2-6185-C92B-023D9B8ABD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79B78F-4002-2953-0698-BAB80EF2C6C0}"/>
              </a:ext>
            </a:extLst>
          </p:cNvPr>
          <p:cNvSpPr txBox="1"/>
          <p:nvPr/>
        </p:nvSpPr>
        <p:spPr>
          <a:xfrm>
            <a:off x="524435" y="259977"/>
            <a:ext cx="11143129" cy="6155531"/>
          </a:xfrm>
          <a:prstGeom prst="rect">
            <a:avLst/>
          </a:prstGeom>
          <a:noFill/>
        </p:spPr>
        <p:txBody>
          <a:bodyPr wrap="square" rtlCol="0">
            <a:spAutoFit/>
          </a:bodyPr>
          <a:lstStyle/>
          <a:p>
            <a:r>
              <a:rPr lang="en-IN" sz="2000" b="1" dirty="0"/>
              <a:t>Vertical Navbar</a:t>
            </a:r>
            <a:endParaRPr lang="en-US" sz="2000" dirty="0"/>
          </a:p>
          <a:p>
            <a:endParaRPr lang="en-US" dirty="0"/>
          </a:p>
          <a:p>
            <a:pPr marL="342900" indent="-342900">
              <a:buFont typeface="Arial" panose="020B0604020202020204" pitchFamily="34" charset="0"/>
              <a:buChar char="•"/>
            </a:pPr>
            <a:r>
              <a:rPr lang="en-US" dirty="0"/>
              <a:t>Remove the </a:t>
            </a:r>
            <a:r>
              <a:rPr lang="en-US" dirty="0">
                <a:solidFill>
                  <a:srgbClr val="FF0000"/>
                </a:solidFill>
              </a:rPr>
              <a:t>.navbar-expand-* </a:t>
            </a:r>
            <a:r>
              <a:rPr lang="en-US" dirty="0"/>
              <a:t>class to create a navigation bar that will always be vertical</a:t>
            </a:r>
          </a:p>
          <a:p>
            <a:endParaRPr lang="en-US" dirty="0"/>
          </a:p>
          <a:p>
            <a:pPr lvl="1"/>
            <a:r>
              <a:rPr lang="en-US" dirty="0">
                <a:solidFill>
                  <a:srgbClr val="708090"/>
                </a:solidFill>
                <a:effectLst/>
              </a:rPr>
              <a:t>&lt;!-- A grey vertical navbar --&gt;</a:t>
            </a:r>
            <a:br>
              <a:rPr lang="en-US" dirty="0"/>
            </a:br>
            <a:r>
              <a:rPr lang="en-US" dirty="0">
                <a:solidFill>
                  <a:srgbClr val="999999"/>
                </a:solidFill>
                <a:effectLst/>
              </a:rPr>
              <a:t>&lt;</a:t>
            </a:r>
            <a:r>
              <a:rPr lang="en-US" dirty="0">
                <a:solidFill>
                  <a:srgbClr val="990055"/>
                </a:solidFill>
                <a:effectLst/>
              </a:rPr>
              <a:t>nav</a:t>
            </a:r>
            <a:r>
              <a:rPr lang="en-US" dirty="0">
                <a:solidFill>
                  <a:srgbClr val="008000"/>
                </a:solidFill>
                <a:effectLst/>
              </a:rPr>
              <a:t> class</a:t>
            </a:r>
            <a:r>
              <a:rPr lang="en-US" dirty="0">
                <a:solidFill>
                  <a:srgbClr val="005CC5"/>
                </a:solidFill>
                <a:effectLst/>
              </a:rPr>
              <a:t>="navbar </a:t>
            </a:r>
            <a:r>
              <a:rPr lang="en-US" dirty="0" err="1">
                <a:solidFill>
                  <a:srgbClr val="005CC5"/>
                </a:solidFill>
                <a:effectLst/>
              </a:rPr>
              <a:t>bg</a:t>
            </a:r>
            <a:r>
              <a:rPr lang="en-US" dirty="0">
                <a:solidFill>
                  <a:srgbClr val="005CC5"/>
                </a:solidFill>
                <a:effectLst/>
              </a:rPr>
              <a:t>-light"</a:t>
            </a:r>
            <a:r>
              <a:rPr lang="en-US" dirty="0">
                <a:solidFill>
                  <a:srgbClr val="999999"/>
                </a:solidFill>
                <a:effectLst/>
              </a:rPr>
              <a:t>&gt;</a:t>
            </a:r>
            <a:br>
              <a:rPr lang="en-US" dirty="0"/>
            </a:br>
            <a:r>
              <a:rPr lang="en-US" dirty="0"/>
              <a:t>  ...</a:t>
            </a:r>
            <a:br>
              <a:rPr lang="en-US" dirty="0"/>
            </a:br>
            <a:r>
              <a:rPr lang="en-US" dirty="0">
                <a:solidFill>
                  <a:srgbClr val="999999"/>
                </a:solidFill>
                <a:effectLst/>
              </a:rPr>
              <a:t>&lt;</a:t>
            </a:r>
            <a:r>
              <a:rPr lang="en-US" dirty="0">
                <a:solidFill>
                  <a:srgbClr val="990055"/>
                </a:solidFill>
                <a:effectLst/>
              </a:rPr>
              <a:t>/nav</a:t>
            </a:r>
            <a:r>
              <a:rPr lang="en-US" dirty="0">
                <a:solidFill>
                  <a:srgbClr val="999999"/>
                </a:solidFill>
                <a:effectLst/>
              </a:rPr>
              <a:t>&gt;</a:t>
            </a:r>
            <a:r>
              <a:rPr lang="en-US" dirty="0"/>
              <a:t> </a:t>
            </a:r>
          </a:p>
          <a:p>
            <a:endParaRPr lang="en-IN" dirty="0"/>
          </a:p>
          <a:p>
            <a:r>
              <a:rPr lang="en-US" sz="2000" b="1" dirty="0"/>
              <a:t>Centered Navbar</a:t>
            </a:r>
          </a:p>
          <a:p>
            <a:endParaRPr lang="en-US" dirty="0"/>
          </a:p>
          <a:p>
            <a:pPr marL="342900" indent="-342900">
              <a:buFont typeface="Arial" panose="020B0604020202020204" pitchFamily="34" charset="0"/>
              <a:buChar char="•"/>
            </a:pPr>
            <a:r>
              <a:rPr lang="en-US" dirty="0"/>
              <a:t>Add the </a:t>
            </a:r>
            <a:r>
              <a:rPr lang="en-US" dirty="0">
                <a:solidFill>
                  <a:srgbClr val="FF0000"/>
                </a:solidFill>
              </a:rPr>
              <a:t>.justify-content-center </a:t>
            </a:r>
            <a:r>
              <a:rPr lang="en-US" dirty="0"/>
              <a:t>class to center the navigation bar</a:t>
            </a:r>
          </a:p>
          <a:p>
            <a:pPr lvl="1"/>
            <a:r>
              <a:rPr lang="en-US" dirty="0">
                <a:solidFill>
                  <a:srgbClr val="999999"/>
                </a:solidFill>
                <a:effectLst/>
              </a:rPr>
              <a:t>&lt;</a:t>
            </a:r>
            <a:r>
              <a:rPr lang="en-US" dirty="0">
                <a:solidFill>
                  <a:srgbClr val="990055"/>
                </a:solidFill>
                <a:effectLst/>
              </a:rPr>
              <a:t>nav</a:t>
            </a:r>
            <a:r>
              <a:rPr lang="en-US" dirty="0">
                <a:solidFill>
                  <a:srgbClr val="008000"/>
                </a:solidFill>
                <a:effectLst/>
              </a:rPr>
              <a:t> class</a:t>
            </a:r>
            <a:r>
              <a:rPr lang="en-US" dirty="0">
                <a:solidFill>
                  <a:srgbClr val="005CC5"/>
                </a:solidFill>
                <a:effectLst/>
              </a:rPr>
              <a:t>="navbar navbar-expand-</a:t>
            </a:r>
            <a:r>
              <a:rPr lang="en-US" dirty="0" err="1">
                <a:solidFill>
                  <a:srgbClr val="005CC5"/>
                </a:solidFill>
                <a:effectLst/>
              </a:rPr>
              <a:t>sm</a:t>
            </a:r>
            <a:r>
              <a:rPr lang="en-US" dirty="0">
                <a:solidFill>
                  <a:srgbClr val="005CC5"/>
                </a:solidFill>
                <a:effectLst/>
              </a:rPr>
              <a:t> </a:t>
            </a:r>
            <a:r>
              <a:rPr lang="en-US" dirty="0" err="1">
                <a:solidFill>
                  <a:srgbClr val="005CC5"/>
                </a:solidFill>
                <a:effectLst/>
              </a:rPr>
              <a:t>bg</a:t>
            </a:r>
            <a:r>
              <a:rPr lang="en-US" dirty="0">
                <a:solidFill>
                  <a:srgbClr val="005CC5"/>
                </a:solidFill>
                <a:effectLst/>
              </a:rPr>
              <a:t>-light justify-content-center"</a:t>
            </a:r>
            <a:r>
              <a:rPr lang="en-US" dirty="0">
                <a:solidFill>
                  <a:srgbClr val="999999"/>
                </a:solidFill>
                <a:effectLst/>
              </a:rPr>
              <a:t>&gt;</a:t>
            </a:r>
            <a:br>
              <a:rPr lang="en-US" dirty="0"/>
            </a:br>
            <a:r>
              <a:rPr lang="en-US" dirty="0"/>
              <a:t>  ...</a:t>
            </a:r>
            <a:br>
              <a:rPr lang="en-US" dirty="0"/>
            </a:br>
            <a:r>
              <a:rPr lang="en-US" dirty="0">
                <a:solidFill>
                  <a:srgbClr val="999999"/>
                </a:solidFill>
                <a:effectLst/>
              </a:rPr>
              <a:t>&lt;</a:t>
            </a:r>
            <a:r>
              <a:rPr lang="en-US" dirty="0">
                <a:solidFill>
                  <a:srgbClr val="990055"/>
                </a:solidFill>
                <a:effectLst/>
              </a:rPr>
              <a:t>/nav</a:t>
            </a:r>
            <a:r>
              <a:rPr lang="en-US" dirty="0">
                <a:solidFill>
                  <a:srgbClr val="999999"/>
                </a:solidFill>
                <a:effectLst/>
              </a:rPr>
              <a:t>&gt;</a:t>
            </a:r>
            <a:r>
              <a:rPr lang="en-US" dirty="0"/>
              <a:t> </a:t>
            </a:r>
          </a:p>
          <a:p>
            <a:endParaRPr lang="en-IN" sz="2000" dirty="0"/>
          </a:p>
          <a:p>
            <a:r>
              <a:rPr lang="en-IN" sz="2000" b="1" dirty="0" err="1"/>
              <a:t>Colored</a:t>
            </a:r>
            <a:r>
              <a:rPr lang="en-IN" sz="2000" b="1" dirty="0"/>
              <a:t> Navbar</a:t>
            </a:r>
          </a:p>
          <a:p>
            <a:endParaRPr lang="en-IN" sz="2000" b="1" dirty="0"/>
          </a:p>
          <a:p>
            <a:pPr marL="342900" indent="-342900">
              <a:buFont typeface="Arial" panose="020B0604020202020204" pitchFamily="34" charset="0"/>
              <a:buChar char="•"/>
            </a:pPr>
            <a:r>
              <a:rPr lang="en-US" sz="2000" dirty="0"/>
              <a:t>Use any of the .</a:t>
            </a:r>
            <a:r>
              <a:rPr lang="en-US" sz="2000" dirty="0" err="1"/>
              <a:t>bg</a:t>
            </a:r>
            <a:r>
              <a:rPr lang="en-US" sz="2000" dirty="0"/>
              <a:t>-color classes to change the background color of the navbar </a:t>
            </a:r>
            <a:r>
              <a:rPr lang="en-US" sz="2000" dirty="0">
                <a:solidFill>
                  <a:srgbClr val="FF0000"/>
                </a:solidFill>
              </a:rPr>
              <a:t>(.</a:t>
            </a:r>
            <a:r>
              <a:rPr lang="en-US" sz="2000" dirty="0" err="1">
                <a:solidFill>
                  <a:srgbClr val="FF0000"/>
                </a:solidFill>
              </a:rPr>
              <a:t>bg</a:t>
            </a:r>
            <a:r>
              <a:rPr lang="en-US" sz="2000" dirty="0">
                <a:solidFill>
                  <a:srgbClr val="FF0000"/>
                </a:solidFill>
              </a:rPr>
              <a:t>-primary, .</a:t>
            </a:r>
            <a:r>
              <a:rPr lang="en-US" sz="2000" dirty="0" err="1">
                <a:solidFill>
                  <a:srgbClr val="FF0000"/>
                </a:solidFill>
              </a:rPr>
              <a:t>bg</a:t>
            </a:r>
            <a:r>
              <a:rPr lang="en-US" sz="2000" dirty="0">
                <a:solidFill>
                  <a:srgbClr val="FF0000"/>
                </a:solidFill>
              </a:rPr>
              <a:t>-success, .</a:t>
            </a:r>
            <a:r>
              <a:rPr lang="en-US" sz="2000" dirty="0" err="1">
                <a:solidFill>
                  <a:srgbClr val="FF0000"/>
                </a:solidFill>
              </a:rPr>
              <a:t>bg</a:t>
            </a:r>
            <a:r>
              <a:rPr lang="en-US" sz="2000" dirty="0">
                <a:solidFill>
                  <a:srgbClr val="FF0000"/>
                </a:solidFill>
              </a:rPr>
              <a:t>-info, .</a:t>
            </a:r>
            <a:r>
              <a:rPr lang="en-US" sz="2000" dirty="0" err="1">
                <a:solidFill>
                  <a:srgbClr val="FF0000"/>
                </a:solidFill>
              </a:rPr>
              <a:t>bg</a:t>
            </a:r>
            <a:r>
              <a:rPr lang="en-US" sz="2000" dirty="0">
                <a:solidFill>
                  <a:srgbClr val="FF0000"/>
                </a:solidFill>
              </a:rPr>
              <a:t>-warning, .</a:t>
            </a:r>
            <a:r>
              <a:rPr lang="en-US" sz="2000" dirty="0" err="1">
                <a:solidFill>
                  <a:srgbClr val="FF0000"/>
                </a:solidFill>
              </a:rPr>
              <a:t>bg</a:t>
            </a:r>
            <a:r>
              <a:rPr lang="en-US" sz="2000" dirty="0">
                <a:solidFill>
                  <a:srgbClr val="FF0000"/>
                </a:solidFill>
              </a:rPr>
              <a:t>-danger, .</a:t>
            </a:r>
            <a:r>
              <a:rPr lang="en-US" sz="2000" dirty="0" err="1">
                <a:solidFill>
                  <a:srgbClr val="FF0000"/>
                </a:solidFill>
              </a:rPr>
              <a:t>bg</a:t>
            </a:r>
            <a:r>
              <a:rPr lang="en-US" sz="2000" dirty="0">
                <a:solidFill>
                  <a:srgbClr val="FF0000"/>
                </a:solidFill>
              </a:rPr>
              <a:t>-secondary, .</a:t>
            </a:r>
            <a:r>
              <a:rPr lang="en-US" sz="2000" dirty="0" err="1">
                <a:solidFill>
                  <a:srgbClr val="FF0000"/>
                </a:solidFill>
              </a:rPr>
              <a:t>bg</a:t>
            </a:r>
            <a:r>
              <a:rPr lang="en-US" sz="2000" dirty="0">
                <a:solidFill>
                  <a:srgbClr val="FF0000"/>
                </a:solidFill>
              </a:rPr>
              <a:t>-dark and .</a:t>
            </a:r>
            <a:r>
              <a:rPr lang="en-US" sz="2000" dirty="0" err="1">
                <a:solidFill>
                  <a:srgbClr val="FF0000"/>
                </a:solidFill>
              </a:rPr>
              <a:t>bg</a:t>
            </a:r>
            <a:r>
              <a:rPr lang="en-US" sz="2000" dirty="0">
                <a:solidFill>
                  <a:srgbClr val="FF0000"/>
                </a:solidFill>
              </a:rPr>
              <a:t>-light)</a:t>
            </a:r>
          </a:p>
          <a:p>
            <a:r>
              <a:rPr lang="en-IN" sz="2000" dirty="0">
                <a:solidFill>
                  <a:srgbClr val="999999"/>
                </a:solidFill>
                <a:effectLst/>
              </a:rPr>
              <a:t>	&lt;</a:t>
            </a:r>
            <a:r>
              <a:rPr lang="en-IN" sz="2000" dirty="0">
                <a:solidFill>
                  <a:srgbClr val="990055"/>
                </a:solidFill>
                <a:effectLst/>
              </a:rPr>
              <a:t>nav</a:t>
            </a:r>
            <a:r>
              <a:rPr lang="en-IN" sz="2000" dirty="0">
                <a:solidFill>
                  <a:srgbClr val="008000"/>
                </a:solidFill>
                <a:effectLst/>
              </a:rPr>
              <a:t> class</a:t>
            </a:r>
            <a:r>
              <a:rPr lang="en-IN" sz="2000" dirty="0">
                <a:solidFill>
                  <a:srgbClr val="005CC5"/>
                </a:solidFill>
                <a:effectLst/>
              </a:rPr>
              <a:t>="navbar navbar-expand-</a:t>
            </a:r>
            <a:r>
              <a:rPr lang="en-IN" sz="2000" dirty="0" err="1">
                <a:solidFill>
                  <a:srgbClr val="005CC5"/>
                </a:solidFill>
                <a:effectLst/>
              </a:rPr>
              <a:t>sm</a:t>
            </a:r>
            <a:r>
              <a:rPr lang="en-IN" sz="2000" dirty="0">
                <a:solidFill>
                  <a:srgbClr val="005CC5"/>
                </a:solidFill>
                <a:effectLst/>
              </a:rPr>
              <a:t> </a:t>
            </a:r>
            <a:r>
              <a:rPr lang="en-IN" sz="2000" dirty="0" err="1">
                <a:solidFill>
                  <a:srgbClr val="005CC5"/>
                </a:solidFill>
                <a:effectLst/>
              </a:rPr>
              <a:t>bg</a:t>
            </a:r>
            <a:r>
              <a:rPr lang="en-IN" sz="2000" dirty="0">
                <a:solidFill>
                  <a:srgbClr val="005CC5"/>
                </a:solidFill>
                <a:effectLst/>
              </a:rPr>
              <a:t>-light navbar-light"</a:t>
            </a:r>
            <a:r>
              <a:rPr lang="en-IN" sz="2000" dirty="0">
                <a:solidFill>
                  <a:srgbClr val="999999"/>
                </a:solidFill>
                <a:effectLst/>
              </a:rPr>
              <a:t>&gt;</a:t>
            </a:r>
            <a:endParaRPr lang="en-IN" sz="2000" dirty="0">
              <a:solidFill>
                <a:srgbClr val="FF0000"/>
              </a:solidFill>
            </a:endParaRPr>
          </a:p>
        </p:txBody>
      </p:sp>
    </p:spTree>
    <p:extLst>
      <p:ext uri="{BB962C8B-B14F-4D97-AF65-F5344CB8AC3E}">
        <p14:creationId xmlns:p14="http://schemas.microsoft.com/office/powerpoint/2010/main" val="209983254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0DC2C-0F98-6AC3-9014-981BDB125B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A9A6B2-2477-CF27-DDBB-B9CA90310AB5}"/>
              </a:ext>
            </a:extLst>
          </p:cNvPr>
          <p:cNvSpPr txBox="1"/>
          <p:nvPr/>
        </p:nvSpPr>
        <p:spPr>
          <a:xfrm>
            <a:off x="528918" y="421341"/>
            <a:ext cx="11143129" cy="5755422"/>
          </a:xfrm>
          <a:prstGeom prst="rect">
            <a:avLst/>
          </a:prstGeom>
          <a:noFill/>
        </p:spPr>
        <p:txBody>
          <a:bodyPr wrap="square" rtlCol="0">
            <a:spAutoFit/>
          </a:bodyPr>
          <a:lstStyle/>
          <a:p>
            <a:r>
              <a:rPr lang="en-IN" sz="2400" b="1" dirty="0"/>
              <a:t>Brand / Logo</a:t>
            </a:r>
            <a:endParaRPr lang="en-US" sz="2400" dirty="0"/>
          </a:p>
          <a:p>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.navbar-brand </a:t>
            </a:r>
            <a:r>
              <a:rPr lang="en-US" sz="2000" dirty="0"/>
              <a:t>class is used to highlight the brand/logo/project name of your page</a:t>
            </a:r>
          </a:p>
          <a:p>
            <a:endParaRPr lang="en-US" sz="2000" dirty="0"/>
          </a:p>
          <a:p>
            <a:pPr lvl="1"/>
            <a:r>
              <a:rPr lang="en-IN" dirty="0">
                <a:solidFill>
                  <a:srgbClr val="999999"/>
                </a:solidFill>
                <a:effectLst/>
              </a:rPr>
              <a:t>&lt;</a:t>
            </a:r>
            <a:r>
              <a:rPr lang="en-IN" dirty="0">
                <a:solidFill>
                  <a:srgbClr val="990055"/>
                </a:solidFill>
                <a:effectLst/>
              </a:rPr>
              <a:t>nav</a:t>
            </a:r>
            <a:r>
              <a:rPr lang="en-IN" dirty="0">
                <a:solidFill>
                  <a:srgbClr val="008000"/>
                </a:solidFill>
                <a:effectLst/>
              </a:rPr>
              <a:t> class</a:t>
            </a:r>
            <a:r>
              <a:rPr lang="en-IN" dirty="0">
                <a:solidFill>
                  <a:srgbClr val="005CC5"/>
                </a:solidFill>
                <a:effectLst/>
              </a:rPr>
              <a:t>="navbar navbar-expand-</a:t>
            </a:r>
            <a:r>
              <a:rPr lang="en-IN" dirty="0" err="1">
                <a:solidFill>
                  <a:srgbClr val="005CC5"/>
                </a:solidFill>
                <a:effectLst/>
              </a:rPr>
              <a:t>sm</a:t>
            </a:r>
            <a:r>
              <a:rPr lang="en-IN" dirty="0">
                <a:solidFill>
                  <a:srgbClr val="005CC5"/>
                </a:solidFill>
                <a:effectLst/>
              </a:rPr>
              <a:t> </a:t>
            </a:r>
            <a:r>
              <a:rPr lang="en-IN" dirty="0" err="1">
                <a:solidFill>
                  <a:srgbClr val="005CC5"/>
                </a:solidFill>
                <a:effectLst/>
              </a:rPr>
              <a:t>bg</a:t>
            </a:r>
            <a:r>
              <a:rPr lang="en-IN" dirty="0">
                <a:solidFill>
                  <a:srgbClr val="005CC5"/>
                </a:solidFill>
                <a:effectLst/>
              </a:rPr>
              <a:t>-dark navbar-dark"</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008000"/>
                </a:solidFill>
                <a:effectLst/>
              </a:rPr>
              <a:t> class</a:t>
            </a:r>
            <a:r>
              <a:rPr lang="en-IN" dirty="0">
                <a:solidFill>
                  <a:srgbClr val="005CC5"/>
                </a:solidFill>
                <a:effectLst/>
              </a:rPr>
              <a:t>="container-fluid"</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="navbar-brand"</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Logo</a:t>
            </a:r>
            <a:r>
              <a:rPr lang="en-IN" dirty="0">
                <a:solidFill>
                  <a:srgbClr val="999999"/>
                </a:solidFill>
                <a:effectLst/>
              </a:rPr>
              <a:t>&lt;</a:t>
            </a:r>
            <a:r>
              <a:rPr lang="en-IN" dirty="0">
                <a:solidFill>
                  <a:srgbClr val="990055"/>
                </a:solidFill>
                <a:effectLst/>
              </a:rPr>
              <a:t>/a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/nav</a:t>
            </a:r>
            <a:r>
              <a:rPr lang="en-IN" dirty="0">
                <a:solidFill>
                  <a:srgbClr val="999999"/>
                </a:solidFill>
                <a:effectLst/>
              </a:rPr>
              <a:t>&gt;</a:t>
            </a:r>
            <a:r>
              <a:rPr lang="en-IN" dirty="0"/>
              <a:t> </a:t>
            </a:r>
          </a:p>
          <a:p>
            <a:r>
              <a:rPr lang="en-IN" sz="2400" b="1" dirty="0"/>
              <a:t>Navbar Text</a:t>
            </a:r>
          </a:p>
          <a:p>
            <a:endParaRPr lang="en-US" sz="2000" dirty="0"/>
          </a:p>
          <a:p>
            <a:pPr marL="342900" indent="-342900">
              <a:buFont typeface="Arial" panose="020B0604020202020204" pitchFamily="34" charset="0"/>
              <a:buChar char="•"/>
            </a:pPr>
            <a:r>
              <a:rPr lang="en-US" sz="2000" dirty="0"/>
              <a:t>Use the </a:t>
            </a:r>
            <a:r>
              <a:rPr lang="en-US" sz="2000" dirty="0">
                <a:solidFill>
                  <a:srgbClr val="FF0000"/>
                </a:solidFill>
              </a:rPr>
              <a:t>.navbar-text </a:t>
            </a:r>
            <a:r>
              <a:rPr lang="en-US" sz="2000" dirty="0"/>
              <a:t>class to vertical align any elements inside the navbar that are not links</a:t>
            </a:r>
          </a:p>
          <a:p>
            <a:endParaRPr lang="en-US" sz="2000" dirty="0"/>
          </a:p>
          <a:p>
            <a:pPr lvl="1"/>
            <a:r>
              <a:rPr lang="en-IN" dirty="0">
                <a:solidFill>
                  <a:srgbClr val="999999"/>
                </a:solidFill>
                <a:effectLst/>
              </a:rPr>
              <a:t>&lt;</a:t>
            </a:r>
            <a:r>
              <a:rPr lang="en-IN" dirty="0">
                <a:solidFill>
                  <a:srgbClr val="990055"/>
                </a:solidFill>
                <a:effectLst/>
              </a:rPr>
              <a:t>nav</a:t>
            </a:r>
            <a:r>
              <a:rPr lang="en-IN" dirty="0">
                <a:solidFill>
                  <a:srgbClr val="008000"/>
                </a:solidFill>
                <a:effectLst/>
              </a:rPr>
              <a:t> class</a:t>
            </a:r>
            <a:r>
              <a:rPr lang="en-IN" dirty="0">
                <a:solidFill>
                  <a:srgbClr val="005CC5"/>
                </a:solidFill>
                <a:effectLst/>
              </a:rPr>
              <a:t>="navbar navbar-expand-</a:t>
            </a:r>
            <a:r>
              <a:rPr lang="en-IN" dirty="0" err="1">
                <a:solidFill>
                  <a:srgbClr val="005CC5"/>
                </a:solidFill>
                <a:effectLst/>
              </a:rPr>
              <a:t>sm</a:t>
            </a:r>
            <a:r>
              <a:rPr lang="en-IN" dirty="0">
                <a:solidFill>
                  <a:srgbClr val="005CC5"/>
                </a:solidFill>
                <a:effectLst/>
              </a:rPr>
              <a:t> </a:t>
            </a:r>
            <a:r>
              <a:rPr lang="en-IN" dirty="0" err="1">
                <a:solidFill>
                  <a:srgbClr val="005CC5"/>
                </a:solidFill>
                <a:effectLst/>
              </a:rPr>
              <a:t>bg</a:t>
            </a:r>
            <a:r>
              <a:rPr lang="en-IN" dirty="0">
                <a:solidFill>
                  <a:srgbClr val="005CC5"/>
                </a:solidFill>
                <a:effectLst/>
              </a:rPr>
              <a:t>-dark navbar-dark"</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008000"/>
                </a:solidFill>
                <a:effectLst/>
              </a:rPr>
              <a:t> class</a:t>
            </a:r>
            <a:r>
              <a:rPr lang="en-IN" dirty="0">
                <a:solidFill>
                  <a:srgbClr val="005CC5"/>
                </a:solidFill>
                <a:effectLst/>
              </a:rPr>
              <a:t>="container-fluid"</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span</a:t>
            </a:r>
            <a:r>
              <a:rPr lang="en-IN" dirty="0">
                <a:solidFill>
                  <a:srgbClr val="008000"/>
                </a:solidFill>
                <a:effectLst/>
              </a:rPr>
              <a:t> class</a:t>
            </a:r>
            <a:r>
              <a:rPr lang="en-IN" dirty="0">
                <a:solidFill>
                  <a:srgbClr val="005CC5"/>
                </a:solidFill>
                <a:effectLst/>
              </a:rPr>
              <a:t>="navbar-text"</a:t>
            </a:r>
            <a:r>
              <a:rPr lang="en-IN" dirty="0">
                <a:solidFill>
                  <a:srgbClr val="999999"/>
                </a:solidFill>
                <a:effectLst/>
              </a:rPr>
              <a:t>&gt;</a:t>
            </a:r>
            <a:r>
              <a:rPr lang="en-IN" dirty="0"/>
              <a:t>Navbar text</a:t>
            </a:r>
            <a:r>
              <a:rPr lang="en-IN" dirty="0">
                <a:solidFill>
                  <a:srgbClr val="999999"/>
                </a:solidFill>
                <a:effectLst/>
              </a:rPr>
              <a:t>&lt;</a:t>
            </a:r>
            <a:r>
              <a:rPr lang="en-IN" dirty="0">
                <a:solidFill>
                  <a:srgbClr val="990055"/>
                </a:solidFill>
                <a:effectLst/>
              </a:rPr>
              <a:t>/span</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/div</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/nav</a:t>
            </a:r>
            <a:r>
              <a:rPr lang="en-IN" dirty="0">
                <a:solidFill>
                  <a:srgbClr val="999999"/>
                </a:solidFill>
                <a:effectLst/>
              </a:rPr>
              <a:t>&gt;</a:t>
            </a:r>
            <a:r>
              <a:rPr lang="en-IN" dirty="0"/>
              <a:t> </a:t>
            </a:r>
          </a:p>
          <a:p>
            <a:endParaRPr lang="en-IN" sz="2000" dirty="0"/>
          </a:p>
        </p:txBody>
      </p:sp>
    </p:spTree>
    <p:extLst>
      <p:ext uri="{BB962C8B-B14F-4D97-AF65-F5344CB8AC3E}">
        <p14:creationId xmlns:p14="http://schemas.microsoft.com/office/powerpoint/2010/main" val="151606470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BD944-A175-8BC9-8540-FCA3F5EF5C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CB4111-7817-7B0B-9BF0-5FB2EFE75062}"/>
              </a:ext>
            </a:extLst>
          </p:cNvPr>
          <p:cNvSpPr txBox="1"/>
          <p:nvPr/>
        </p:nvSpPr>
        <p:spPr>
          <a:xfrm>
            <a:off x="528918" y="421341"/>
            <a:ext cx="11143129" cy="3908762"/>
          </a:xfrm>
          <a:prstGeom prst="rect">
            <a:avLst/>
          </a:prstGeom>
          <a:noFill/>
        </p:spPr>
        <p:txBody>
          <a:bodyPr wrap="square" rtlCol="0">
            <a:spAutoFit/>
          </a:bodyPr>
          <a:lstStyle/>
          <a:p>
            <a:r>
              <a:rPr lang="en-IN" sz="2400" b="1" dirty="0"/>
              <a:t>Navbar With Dropdown</a:t>
            </a:r>
            <a:endParaRPr lang="en-US" sz="2400" dirty="0"/>
          </a:p>
          <a:p>
            <a:endParaRPr lang="en-US" sz="2000" dirty="0"/>
          </a:p>
          <a:p>
            <a:pPr lvl="1"/>
            <a:r>
              <a:rPr lang="en-IN" dirty="0">
                <a:solidFill>
                  <a:srgbClr val="999999"/>
                </a:solidFill>
                <a:effectLst/>
              </a:rPr>
              <a:t>&lt;</a:t>
            </a:r>
            <a:r>
              <a:rPr lang="en-IN" dirty="0">
                <a:solidFill>
                  <a:srgbClr val="990055"/>
                </a:solidFill>
                <a:effectLst/>
              </a:rPr>
              <a:t>li</a:t>
            </a:r>
            <a:r>
              <a:rPr lang="en-IN" dirty="0">
                <a:solidFill>
                  <a:srgbClr val="008000"/>
                </a:solidFill>
                <a:effectLst/>
              </a:rPr>
              <a:t> class</a:t>
            </a:r>
            <a:r>
              <a:rPr lang="en-IN" dirty="0">
                <a:solidFill>
                  <a:srgbClr val="005CC5"/>
                </a:solidFill>
                <a:effectLst/>
              </a:rPr>
              <a:t>="nav-item dropdown"</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a</a:t>
            </a:r>
            <a:r>
              <a:rPr lang="en-IN" dirty="0">
                <a:solidFill>
                  <a:srgbClr val="008000"/>
                </a:solidFill>
                <a:effectLst/>
              </a:rPr>
              <a:t> class</a:t>
            </a:r>
            <a:r>
              <a:rPr lang="en-IN" dirty="0">
                <a:solidFill>
                  <a:srgbClr val="005CC5"/>
                </a:solidFill>
                <a:effectLst/>
              </a:rPr>
              <a:t>="nav-link dropdown-toggle"</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008000"/>
                </a:solidFill>
                <a:effectLst/>
              </a:rPr>
              <a:t> role</a:t>
            </a:r>
            <a:r>
              <a:rPr lang="en-IN" dirty="0">
                <a:solidFill>
                  <a:srgbClr val="005CC5"/>
                </a:solidFill>
                <a:effectLst/>
              </a:rPr>
              <a:t>="button"</a:t>
            </a:r>
            <a:r>
              <a:rPr lang="en-IN" dirty="0">
                <a:solidFill>
                  <a:srgbClr val="008000"/>
                </a:solidFill>
                <a:effectLst/>
              </a:rPr>
              <a:t> data-bs-toggle</a:t>
            </a:r>
            <a:r>
              <a:rPr lang="en-IN" dirty="0">
                <a:solidFill>
                  <a:srgbClr val="005CC5"/>
                </a:solidFill>
                <a:effectLst/>
              </a:rPr>
              <a:t>="dropdown"</a:t>
            </a:r>
            <a:r>
              <a:rPr lang="en-IN" dirty="0">
                <a:solidFill>
                  <a:srgbClr val="999999"/>
                </a:solidFill>
                <a:effectLst/>
              </a:rPr>
              <a:t>&gt;</a:t>
            </a:r>
            <a:r>
              <a:rPr lang="en-IN" dirty="0"/>
              <a:t>Dropdown</a:t>
            </a:r>
            <a:r>
              <a:rPr lang="en-IN" dirty="0">
                <a:solidFill>
                  <a:srgbClr val="999999"/>
                </a:solidFill>
                <a:effectLst/>
              </a:rPr>
              <a:t>&lt;</a:t>
            </a:r>
            <a:r>
              <a:rPr lang="en-IN" dirty="0">
                <a:solidFill>
                  <a:srgbClr val="990055"/>
                </a:solidFill>
                <a:effectLst/>
              </a:rPr>
              <a:t>/a</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008000"/>
                </a:solidFill>
                <a:effectLst/>
              </a:rPr>
              <a:t> class</a:t>
            </a:r>
            <a:r>
              <a:rPr lang="en-IN" dirty="0">
                <a:solidFill>
                  <a:srgbClr val="005CC5"/>
                </a:solidFill>
                <a:effectLst/>
              </a:rPr>
              <a:t>="dropdown-menu"</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="dropdown-item"</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Link</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="dropdown-item"</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Another link</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li</a:t>
            </a:r>
            <a:r>
              <a:rPr lang="en-IN" dirty="0">
                <a:solidFill>
                  <a:srgbClr val="999999"/>
                </a:solidFill>
                <a:effectLst/>
              </a:rPr>
              <a:t>&gt;&lt;</a:t>
            </a:r>
            <a:r>
              <a:rPr lang="en-IN" dirty="0">
                <a:solidFill>
                  <a:srgbClr val="990055"/>
                </a:solidFill>
                <a:effectLst/>
              </a:rPr>
              <a:t>a</a:t>
            </a:r>
            <a:r>
              <a:rPr lang="en-IN" dirty="0">
                <a:solidFill>
                  <a:srgbClr val="008000"/>
                </a:solidFill>
                <a:effectLst/>
              </a:rPr>
              <a:t> class</a:t>
            </a:r>
            <a:r>
              <a:rPr lang="en-IN" dirty="0">
                <a:solidFill>
                  <a:srgbClr val="005CC5"/>
                </a:solidFill>
                <a:effectLst/>
              </a:rPr>
              <a:t>="dropdown-item"</a:t>
            </a:r>
            <a:r>
              <a:rPr lang="en-IN" dirty="0">
                <a:solidFill>
                  <a:srgbClr val="008000"/>
                </a:solidFill>
                <a:effectLst/>
              </a:rPr>
              <a:t> </a:t>
            </a:r>
            <a:r>
              <a:rPr lang="en-IN" dirty="0" err="1">
                <a:solidFill>
                  <a:srgbClr val="008000"/>
                </a:solidFill>
                <a:effectLst/>
              </a:rPr>
              <a:t>href</a:t>
            </a:r>
            <a:r>
              <a:rPr lang="en-IN" dirty="0">
                <a:solidFill>
                  <a:srgbClr val="005CC5"/>
                </a:solidFill>
                <a:effectLst/>
              </a:rPr>
              <a:t>="#"</a:t>
            </a:r>
            <a:r>
              <a:rPr lang="en-IN" dirty="0">
                <a:solidFill>
                  <a:srgbClr val="999999"/>
                </a:solidFill>
                <a:effectLst/>
              </a:rPr>
              <a:t>&gt;</a:t>
            </a:r>
            <a:r>
              <a:rPr lang="en-IN" dirty="0"/>
              <a:t>A third link</a:t>
            </a:r>
            <a:r>
              <a:rPr lang="en-IN" dirty="0">
                <a:solidFill>
                  <a:srgbClr val="999999"/>
                </a:solidFill>
                <a:effectLst/>
              </a:rPr>
              <a:t>&lt;</a:t>
            </a:r>
            <a:r>
              <a:rPr lang="en-IN" dirty="0">
                <a:solidFill>
                  <a:srgbClr val="990055"/>
                </a:solidFill>
                <a:effectLst/>
              </a:rPr>
              <a:t>/a</a:t>
            </a:r>
            <a:r>
              <a:rPr lang="en-IN" dirty="0">
                <a:solidFill>
                  <a:srgbClr val="999999"/>
                </a:solidFill>
                <a:effectLst/>
              </a:rPr>
              <a:t>&gt;&lt;</a:t>
            </a:r>
            <a:r>
              <a:rPr lang="en-IN" dirty="0">
                <a:solidFill>
                  <a:srgbClr val="990055"/>
                </a:solidFill>
                <a:effectLst/>
              </a:rPr>
              <a:t>/li</a:t>
            </a:r>
            <a:r>
              <a:rPr lang="en-IN" dirty="0">
                <a:solidFill>
                  <a:srgbClr val="999999"/>
                </a:solidFill>
                <a:effectLst/>
              </a:rPr>
              <a:t>&gt;</a:t>
            </a:r>
            <a:br>
              <a:rPr lang="en-IN" dirty="0"/>
            </a:br>
            <a:r>
              <a:rPr lang="en-IN" dirty="0"/>
              <a:t>  </a:t>
            </a:r>
            <a:r>
              <a:rPr lang="en-IN" dirty="0">
                <a:solidFill>
                  <a:srgbClr val="999999"/>
                </a:solidFill>
                <a:effectLst/>
              </a:rPr>
              <a:t>&lt;</a:t>
            </a:r>
            <a:r>
              <a:rPr lang="en-IN" dirty="0">
                <a:solidFill>
                  <a:srgbClr val="990055"/>
                </a:solidFill>
                <a:effectLst/>
              </a:rPr>
              <a:t>/ul</a:t>
            </a:r>
            <a:r>
              <a:rPr lang="en-IN" dirty="0">
                <a:solidFill>
                  <a:srgbClr val="999999"/>
                </a:solidFill>
                <a:effectLst/>
              </a:rPr>
              <a:t>&gt;</a:t>
            </a:r>
            <a:br>
              <a:rPr lang="en-IN" dirty="0"/>
            </a:br>
            <a:r>
              <a:rPr lang="en-IN" dirty="0">
                <a:solidFill>
                  <a:srgbClr val="999999"/>
                </a:solidFill>
                <a:effectLst/>
              </a:rPr>
              <a:t>&lt;</a:t>
            </a:r>
            <a:r>
              <a:rPr lang="en-IN" dirty="0">
                <a:solidFill>
                  <a:srgbClr val="990055"/>
                </a:solidFill>
                <a:effectLst/>
              </a:rPr>
              <a:t>/li</a:t>
            </a:r>
            <a:r>
              <a:rPr lang="en-IN" dirty="0">
                <a:solidFill>
                  <a:srgbClr val="999999"/>
                </a:solidFill>
                <a:effectLst/>
              </a:rPr>
              <a:t>&gt;</a:t>
            </a:r>
            <a:r>
              <a:rPr lang="en-IN" dirty="0"/>
              <a:t> </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79CD8E65-C950-6E4F-57B4-CE434E4EA02D}"/>
              </a:ext>
            </a:extLst>
          </p:cNvPr>
          <p:cNvPicPr>
            <a:picLocks noChangeAspect="1"/>
          </p:cNvPicPr>
          <p:nvPr/>
        </p:nvPicPr>
        <p:blipFill>
          <a:blip r:embed="rId2"/>
          <a:stretch>
            <a:fillRect/>
          </a:stretch>
        </p:blipFill>
        <p:spPr>
          <a:xfrm>
            <a:off x="806824" y="3429000"/>
            <a:ext cx="10739718" cy="642048"/>
          </a:xfrm>
          <a:prstGeom prst="rect">
            <a:avLst/>
          </a:prstGeom>
        </p:spPr>
      </p:pic>
    </p:spTree>
    <p:extLst>
      <p:ext uri="{BB962C8B-B14F-4D97-AF65-F5344CB8AC3E}">
        <p14:creationId xmlns:p14="http://schemas.microsoft.com/office/powerpoint/2010/main" val="315839543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70AA7-5418-5021-79D1-2250FC85B2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5E2308-1AF4-091E-A778-CB9094510486}"/>
              </a:ext>
            </a:extLst>
          </p:cNvPr>
          <p:cNvSpPr txBox="1"/>
          <p:nvPr/>
        </p:nvSpPr>
        <p:spPr>
          <a:xfrm>
            <a:off x="528918" y="421341"/>
            <a:ext cx="11143129" cy="6370975"/>
          </a:xfrm>
          <a:prstGeom prst="rect">
            <a:avLst/>
          </a:prstGeom>
          <a:noFill/>
        </p:spPr>
        <p:txBody>
          <a:bodyPr wrap="square" rtlCol="0">
            <a:spAutoFit/>
          </a:bodyPr>
          <a:lstStyle/>
          <a:p>
            <a:r>
              <a:rPr lang="en-IN" sz="2400" b="1" dirty="0"/>
              <a:t>Navbar Forms and Buttons</a:t>
            </a:r>
            <a:endParaRPr lang="en-US" sz="2400" dirty="0"/>
          </a:p>
          <a:p>
            <a:endParaRPr lang="en-US" sz="2000" dirty="0"/>
          </a:p>
          <a:p>
            <a:pPr>
              <a:buNone/>
            </a:pPr>
            <a:r>
              <a:rPr lang="en-IN" sz="1600" dirty="0">
                <a:solidFill>
                  <a:srgbClr val="999999"/>
                </a:solidFill>
                <a:effectLst/>
              </a:rPr>
              <a:t>&lt;</a:t>
            </a:r>
            <a:r>
              <a:rPr lang="en-IN" sz="1600" dirty="0">
                <a:solidFill>
                  <a:srgbClr val="990055"/>
                </a:solidFill>
                <a:effectLst/>
              </a:rPr>
              <a:t>nav</a:t>
            </a:r>
            <a:r>
              <a:rPr lang="en-IN" sz="1600" dirty="0">
                <a:solidFill>
                  <a:srgbClr val="008000"/>
                </a:solidFill>
                <a:effectLst/>
              </a:rPr>
              <a:t> class</a:t>
            </a:r>
            <a:r>
              <a:rPr lang="en-IN" sz="1600" dirty="0">
                <a:solidFill>
                  <a:srgbClr val="005CC5"/>
                </a:solidFill>
                <a:effectLst/>
              </a:rPr>
              <a:t>="navbar navbar-expand-</a:t>
            </a:r>
            <a:r>
              <a:rPr lang="en-IN" sz="1600" dirty="0" err="1">
                <a:solidFill>
                  <a:srgbClr val="005CC5"/>
                </a:solidFill>
                <a:effectLst/>
              </a:rPr>
              <a:t>sm</a:t>
            </a:r>
            <a:r>
              <a:rPr lang="en-IN" sz="1600" dirty="0">
                <a:solidFill>
                  <a:srgbClr val="005CC5"/>
                </a:solidFill>
                <a:effectLst/>
              </a:rPr>
              <a:t> navbar-dark </a:t>
            </a:r>
            <a:r>
              <a:rPr lang="en-IN" sz="1600" dirty="0" err="1">
                <a:solidFill>
                  <a:srgbClr val="005CC5"/>
                </a:solidFill>
                <a:effectLst/>
              </a:rPr>
              <a:t>bg</a:t>
            </a:r>
            <a:r>
              <a:rPr lang="en-IN" sz="1600" dirty="0">
                <a:solidFill>
                  <a:srgbClr val="005CC5"/>
                </a:solidFill>
                <a:effectLst/>
              </a:rPr>
              <a:t>-dark"</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="container-fluid"</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="navbar-brand"</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Logo</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button</a:t>
            </a:r>
            <a:r>
              <a:rPr lang="en-IN" sz="1600" dirty="0">
                <a:solidFill>
                  <a:srgbClr val="008000"/>
                </a:solidFill>
                <a:effectLst/>
              </a:rPr>
              <a:t> class</a:t>
            </a:r>
            <a:r>
              <a:rPr lang="en-IN" sz="1600" dirty="0">
                <a:solidFill>
                  <a:srgbClr val="005CC5"/>
                </a:solidFill>
                <a:effectLst/>
              </a:rPr>
              <a:t>="navbar-toggler"</a:t>
            </a:r>
            <a:r>
              <a:rPr lang="en-IN" sz="1600" dirty="0">
                <a:solidFill>
                  <a:srgbClr val="008000"/>
                </a:solidFill>
                <a:effectLst/>
              </a:rPr>
              <a:t> type</a:t>
            </a:r>
            <a:r>
              <a:rPr lang="en-IN" sz="1600" dirty="0">
                <a:solidFill>
                  <a:srgbClr val="005CC5"/>
                </a:solidFill>
                <a:effectLst/>
              </a:rPr>
              <a:t>="button"</a:t>
            </a:r>
            <a:r>
              <a:rPr lang="en-IN" sz="1600" dirty="0">
                <a:solidFill>
                  <a:srgbClr val="008000"/>
                </a:solidFill>
                <a:effectLst/>
              </a:rPr>
              <a:t> data-bs-toggle</a:t>
            </a:r>
            <a:r>
              <a:rPr lang="en-IN" sz="1600" dirty="0">
                <a:solidFill>
                  <a:srgbClr val="005CC5"/>
                </a:solidFill>
                <a:effectLst/>
              </a:rPr>
              <a:t>="collapse"</a:t>
            </a:r>
            <a:r>
              <a:rPr lang="en-IN" sz="1600" dirty="0">
                <a:solidFill>
                  <a:srgbClr val="008000"/>
                </a:solidFill>
                <a:effectLst/>
              </a:rPr>
              <a:t> data-bs-target</a:t>
            </a:r>
            <a:r>
              <a:rPr lang="en-IN" sz="1600" dirty="0">
                <a:solidFill>
                  <a:srgbClr val="005CC5"/>
                </a:solidFill>
                <a:effectLst/>
              </a:rPr>
              <a:t>="#</a:t>
            </a:r>
            <a:r>
              <a:rPr lang="en-IN" sz="1600" dirty="0" err="1">
                <a:solidFill>
                  <a:srgbClr val="005CC5"/>
                </a:solidFill>
                <a:effectLst/>
              </a:rPr>
              <a:t>mynavbar</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span</a:t>
            </a:r>
            <a:r>
              <a:rPr lang="en-IN" sz="1600" dirty="0">
                <a:solidFill>
                  <a:srgbClr val="008000"/>
                </a:solidFill>
                <a:effectLst/>
              </a:rPr>
              <a:t> class</a:t>
            </a:r>
            <a:r>
              <a:rPr lang="en-IN" sz="1600" dirty="0">
                <a:solidFill>
                  <a:srgbClr val="005CC5"/>
                </a:solidFill>
                <a:effectLst/>
              </a:rPr>
              <a:t>="navbar-toggler-icon"</a:t>
            </a:r>
            <a:r>
              <a:rPr lang="en-IN" sz="1600" dirty="0">
                <a:solidFill>
                  <a:srgbClr val="999999"/>
                </a:solidFill>
                <a:effectLst/>
              </a:rPr>
              <a:t>&gt;&lt;</a:t>
            </a:r>
            <a:r>
              <a:rPr lang="en-IN" sz="1600" dirty="0">
                <a:solidFill>
                  <a:srgbClr val="990055"/>
                </a:solidFill>
                <a:effectLst/>
              </a:rPr>
              <a:t>/span</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/button</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="collapse navbar-collapse"</a:t>
            </a:r>
            <a:r>
              <a:rPr lang="en-IN" sz="1600" dirty="0">
                <a:solidFill>
                  <a:srgbClr val="008000"/>
                </a:solidFill>
                <a:effectLst/>
              </a:rPr>
              <a:t> id</a:t>
            </a:r>
            <a:r>
              <a:rPr lang="en-IN" sz="1600" dirty="0">
                <a:solidFill>
                  <a:srgbClr val="005CC5"/>
                </a:solidFill>
                <a:effectLst/>
              </a:rPr>
              <a:t>="</a:t>
            </a:r>
            <a:r>
              <a:rPr lang="en-IN" sz="1600" dirty="0" err="1">
                <a:solidFill>
                  <a:srgbClr val="005CC5"/>
                </a:solidFill>
                <a:effectLst/>
              </a:rPr>
              <a:t>mynavbar</a:t>
            </a:r>
            <a:r>
              <a:rPr lang="en-IN" sz="1600" dirty="0">
                <a:solidFill>
                  <a:srgbClr val="005CC5"/>
                </a:solidFill>
                <a:effectLst/>
              </a:rPr>
              <a:t>"</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ul</a:t>
            </a:r>
            <a:r>
              <a:rPr lang="en-IN" sz="1600" dirty="0">
                <a:solidFill>
                  <a:srgbClr val="008000"/>
                </a:solidFill>
                <a:effectLst/>
              </a:rPr>
              <a:t> class</a:t>
            </a:r>
            <a:r>
              <a:rPr lang="en-IN" sz="1600" dirty="0">
                <a:solidFill>
                  <a:srgbClr val="005CC5"/>
                </a:solidFill>
                <a:effectLst/>
              </a:rPr>
              <a:t>="navbar-nav me-auto"</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class</a:t>
            </a:r>
            <a:r>
              <a:rPr lang="en-IN" sz="1600" dirty="0">
                <a:solidFill>
                  <a:srgbClr val="005CC5"/>
                </a:solidFill>
                <a:effectLst/>
              </a:rPr>
              <a:t>="nav-item"</a:t>
            </a:r>
            <a:r>
              <a:rPr lang="en-IN" sz="1600" dirty="0">
                <a:solidFill>
                  <a:srgbClr val="999999"/>
                </a:solidFill>
                <a:effectLst/>
              </a:rPr>
              <a:t>&gt;&lt;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="nav-link"</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Link</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&gt;&lt;</a:t>
            </a:r>
            <a:r>
              <a:rPr lang="en-IN" sz="1600" dirty="0">
                <a:solidFill>
                  <a:srgbClr val="990055"/>
                </a:solidFill>
                <a:effectLst/>
              </a:rPr>
              <a:t>/li</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class</a:t>
            </a:r>
            <a:r>
              <a:rPr lang="en-IN" sz="1600" dirty="0">
                <a:solidFill>
                  <a:srgbClr val="005CC5"/>
                </a:solidFill>
                <a:effectLst/>
              </a:rPr>
              <a:t>="nav-item"</a:t>
            </a:r>
            <a:r>
              <a:rPr lang="en-IN" sz="1600" dirty="0">
                <a:solidFill>
                  <a:srgbClr val="999999"/>
                </a:solidFill>
                <a:effectLst/>
              </a:rPr>
              <a:t>&gt;&lt;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="nav-link"</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Link</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&gt;&lt;</a:t>
            </a:r>
            <a:r>
              <a:rPr lang="en-IN" sz="1600" dirty="0">
                <a:solidFill>
                  <a:srgbClr val="990055"/>
                </a:solidFill>
                <a:effectLst/>
              </a:rPr>
              <a:t>/li</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li</a:t>
            </a:r>
            <a:r>
              <a:rPr lang="en-IN" sz="1600" dirty="0">
                <a:solidFill>
                  <a:srgbClr val="008000"/>
                </a:solidFill>
                <a:effectLst/>
              </a:rPr>
              <a:t> class</a:t>
            </a:r>
            <a:r>
              <a:rPr lang="en-IN" sz="1600" dirty="0">
                <a:solidFill>
                  <a:srgbClr val="005CC5"/>
                </a:solidFill>
                <a:effectLst/>
              </a:rPr>
              <a:t>="nav-item"</a:t>
            </a:r>
            <a:r>
              <a:rPr lang="en-IN" sz="1600" dirty="0">
                <a:solidFill>
                  <a:srgbClr val="999999"/>
                </a:solidFill>
                <a:effectLst/>
              </a:rPr>
              <a:t>&gt;&lt;</a:t>
            </a:r>
            <a:r>
              <a:rPr lang="en-IN" sz="1600" dirty="0">
                <a:solidFill>
                  <a:srgbClr val="990055"/>
                </a:solidFill>
                <a:effectLst/>
              </a:rPr>
              <a:t>a</a:t>
            </a:r>
            <a:r>
              <a:rPr lang="en-IN" sz="1600" dirty="0">
                <a:solidFill>
                  <a:srgbClr val="008000"/>
                </a:solidFill>
                <a:effectLst/>
              </a:rPr>
              <a:t> class</a:t>
            </a:r>
            <a:r>
              <a:rPr lang="en-IN" sz="1600" dirty="0">
                <a:solidFill>
                  <a:srgbClr val="005CC5"/>
                </a:solidFill>
                <a:effectLst/>
              </a:rPr>
              <a:t>="nav-link"</a:t>
            </a:r>
            <a:r>
              <a:rPr lang="en-IN" sz="1600" dirty="0">
                <a:solidFill>
                  <a:srgbClr val="008000"/>
                </a:solidFill>
                <a:effectLst/>
              </a:rPr>
              <a:t> </a:t>
            </a:r>
            <a:r>
              <a:rPr lang="en-IN" sz="1600" dirty="0" err="1">
                <a:solidFill>
                  <a:srgbClr val="008000"/>
                </a:solidFill>
                <a:effectLst/>
              </a:rPr>
              <a:t>href</a:t>
            </a:r>
            <a:r>
              <a:rPr lang="en-IN" sz="1600" dirty="0">
                <a:solidFill>
                  <a:srgbClr val="005CC5"/>
                </a:solidFill>
                <a:effectLst/>
              </a:rPr>
              <a:t>="</a:t>
            </a:r>
            <a:r>
              <a:rPr lang="en-IN" sz="1600" dirty="0" err="1">
                <a:solidFill>
                  <a:srgbClr val="005CC5"/>
                </a:solidFill>
                <a:effectLst/>
              </a:rPr>
              <a:t>javascript:void</a:t>
            </a:r>
            <a:r>
              <a:rPr lang="en-IN" sz="1600" dirty="0">
                <a:solidFill>
                  <a:srgbClr val="005CC5"/>
                </a:solidFill>
                <a:effectLst/>
              </a:rPr>
              <a:t>(0)"</a:t>
            </a:r>
            <a:r>
              <a:rPr lang="en-IN" sz="1600" dirty="0">
                <a:solidFill>
                  <a:srgbClr val="999999"/>
                </a:solidFill>
                <a:effectLst/>
              </a:rPr>
              <a:t>&gt;</a:t>
            </a:r>
            <a:r>
              <a:rPr lang="en-IN" sz="1600" dirty="0"/>
              <a:t>Link</a:t>
            </a:r>
            <a:r>
              <a:rPr lang="en-IN" sz="1600" dirty="0">
                <a:solidFill>
                  <a:srgbClr val="999999"/>
                </a:solidFill>
                <a:effectLst/>
              </a:rPr>
              <a:t>&lt;</a:t>
            </a:r>
            <a:r>
              <a:rPr lang="en-IN" sz="1600" dirty="0">
                <a:solidFill>
                  <a:srgbClr val="990055"/>
                </a:solidFill>
                <a:effectLst/>
              </a:rPr>
              <a:t>/a</a:t>
            </a:r>
            <a:r>
              <a:rPr lang="en-IN" sz="1600" dirty="0">
                <a:solidFill>
                  <a:srgbClr val="999999"/>
                </a:solidFill>
                <a:effectLst/>
              </a:rPr>
              <a:t>&gt;&lt;</a:t>
            </a:r>
            <a:r>
              <a:rPr lang="en-IN" sz="1600" dirty="0">
                <a:solidFill>
                  <a:srgbClr val="990055"/>
                </a:solidFill>
                <a:effectLst/>
              </a:rPr>
              <a:t>/li</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/ul</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form</a:t>
            </a:r>
            <a:r>
              <a:rPr lang="en-IN" sz="1600" dirty="0">
                <a:solidFill>
                  <a:srgbClr val="008000"/>
                </a:solidFill>
                <a:effectLst/>
              </a:rPr>
              <a:t> class</a:t>
            </a:r>
            <a:r>
              <a:rPr lang="en-IN" sz="1600" dirty="0">
                <a:solidFill>
                  <a:srgbClr val="005CC5"/>
                </a:solidFill>
                <a:effectLst/>
              </a:rPr>
              <a:t>="d-flex"</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input</a:t>
            </a:r>
            <a:r>
              <a:rPr lang="en-IN" sz="1600" dirty="0">
                <a:solidFill>
                  <a:srgbClr val="008000"/>
                </a:solidFill>
                <a:effectLst/>
              </a:rPr>
              <a:t> class</a:t>
            </a:r>
            <a:r>
              <a:rPr lang="en-IN" sz="1600" dirty="0">
                <a:solidFill>
                  <a:srgbClr val="005CC5"/>
                </a:solidFill>
                <a:effectLst/>
              </a:rPr>
              <a:t>="form-control me-2"</a:t>
            </a:r>
            <a:r>
              <a:rPr lang="en-IN" sz="1600" dirty="0">
                <a:solidFill>
                  <a:srgbClr val="008000"/>
                </a:solidFill>
                <a:effectLst/>
              </a:rPr>
              <a:t> type</a:t>
            </a:r>
            <a:r>
              <a:rPr lang="en-IN" sz="1600" dirty="0">
                <a:solidFill>
                  <a:srgbClr val="005CC5"/>
                </a:solidFill>
                <a:effectLst/>
              </a:rPr>
              <a:t>="text"</a:t>
            </a:r>
            <a:r>
              <a:rPr lang="en-IN" sz="1600" dirty="0">
                <a:solidFill>
                  <a:srgbClr val="008000"/>
                </a:solidFill>
                <a:effectLst/>
              </a:rPr>
              <a:t> placeholder</a:t>
            </a:r>
            <a:r>
              <a:rPr lang="en-IN" sz="1600" dirty="0">
                <a:solidFill>
                  <a:srgbClr val="005CC5"/>
                </a:solidFill>
                <a:effectLst/>
              </a:rPr>
              <a:t>="Search"</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button</a:t>
            </a:r>
            <a:r>
              <a:rPr lang="en-IN" sz="1600" dirty="0">
                <a:solidFill>
                  <a:srgbClr val="008000"/>
                </a:solidFill>
                <a:effectLst/>
              </a:rPr>
              <a:t> class</a:t>
            </a:r>
            <a:r>
              <a:rPr lang="en-IN" sz="1600" dirty="0">
                <a:solidFill>
                  <a:srgbClr val="005CC5"/>
                </a:solidFill>
                <a:effectLst/>
              </a:rPr>
              <a:t>="</a:t>
            </a:r>
            <a:r>
              <a:rPr lang="en-IN" sz="1600" dirty="0" err="1">
                <a:solidFill>
                  <a:srgbClr val="005CC5"/>
                </a:solidFill>
                <a:effectLst/>
              </a:rPr>
              <a:t>btn</a:t>
            </a:r>
            <a:r>
              <a:rPr lang="en-IN" sz="1600" dirty="0">
                <a:solidFill>
                  <a:srgbClr val="005CC5"/>
                </a:solidFill>
                <a:effectLst/>
              </a:rPr>
              <a:t> </a:t>
            </a:r>
            <a:r>
              <a:rPr lang="en-IN" sz="1600" dirty="0" err="1">
                <a:solidFill>
                  <a:srgbClr val="005CC5"/>
                </a:solidFill>
                <a:effectLst/>
              </a:rPr>
              <a:t>btn</a:t>
            </a:r>
            <a:r>
              <a:rPr lang="en-IN" sz="1600" dirty="0">
                <a:solidFill>
                  <a:srgbClr val="005CC5"/>
                </a:solidFill>
                <a:effectLst/>
              </a:rPr>
              <a:t>-primary"</a:t>
            </a:r>
            <a:r>
              <a:rPr lang="en-IN" sz="1600" dirty="0">
                <a:solidFill>
                  <a:srgbClr val="008000"/>
                </a:solidFill>
                <a:effectLst/>
              </a:rPr>
              <a:t> type</a:t>
            </a:r>
            <a:r>
              <a:rPr lang="en-IN" sz="1600" dirty="0">
                <a:solidFill>
                  <a:srgbClr val="005CC5"/>
                </a:solidFill>
                <a:effectLst/>
              </a:rPr>
              <a:t>="button"</a:t>
            </a:r>
            <a:r>
              <a:rPr lang="en-IN" sz="1600" dirty="0">
                <a:solidFill>
                  <a:srgbClr val="999999"/>
                </a:solidFill>
                <a:effectLst/>
              </a:rPr>
              <a:t>&gt;</a:t>
            </a:r>
            <a:r>
              <a:rPr lang="en-IN" sz="1600" dirty="0"/>
              <a:t>Search</a:t>
            </a:r>
            <a:r>
              <a:rPr lang="en-IN" sz="1600" dirty="0">
                <a:solidFill>
                  <a:srgbClr val="999999"/>
                </a:solidFill>
                <a:effectLst/>
              </a:rPr>
              <a:t>&lt;</a:t>
            </a:r>
            <a:r>
              <a:rPr lang="en-IN" sz="1600" dirty="0">
                <a:solidFill>
                  <a:srgbClr val="990055"/>
                </a:solidFill>
                <a:effectLst/>
              </a:rPr>
              <a:t>/button</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/form</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/nav</a:t>
            </a:r>
            <a:r>
              <a:rPr lang="en-IN" sz="1600" dirty="0">
                <a:solidFill>
                  <a:srgbClr val="999999"/>
                </a:solidFill>
                <a:effectLst/>
              </a:rPr>
              <a:t>&gt;</a:t>
            </a:r>
            <a:r>
              <a:rPr lang="en-IN" sz="1600" dirty="0"/>
              <a:t> </a:t>
            </a:r>
          </a:p>
          <a:p>
            <a:endParaRPr lang="en-US" sz="2000" dirty="0"/>
          </a:p>
          <a:p>
            <a:endParaRPr lang="en-US" sz="2000" dirty="0"/>
          </a:p>
          <a:p>
            <a:endParaRPr lang="en-IN" sz="2000" dirty="0"/>
          </a:p>
        </p:txBody>
      </p:sp>
      <p:pic>
        <p:nvPicPr>
          <p:cNvPr id="4" name="Picture 3">
            <a:extLst>
              <a:ext uri="{FF2B5EF4-FFF2-40B4-BE49-F238E27FC236}">
                <a16:creationId xmlns:a16="http://schemas.microsoft.com/office/drawing/2014/main" id="{280A7D61-94AB-ABAA-7905-6170CB007205}"/>
              </a:ext>
            </a:extLst>
          </p:cNvPr>
          <p:cNvPicPr>
            <a:picLocks noChangeAspect="1"/>
          </p:cNvPicPr>
          <p:nvPr/>
        </p:nvPicPr>
        <p:blipFill>
          <a:blip r:embed="rId2"/>
          <a:stretch>
            <a:fillRect/>
          </a:stretch>
        </p:blipFill>
        <p:spPr>
          <a:xfrm>
            <a:off x="1532964" y="5669134"/>
            <a:ext cx="9580181" cy="579267"/>
          </a:xfrm>
          <a:prstGeom prst="rect">
            <a:avLst/>
          </a:prstGeom>
        </p:spPr>
      </p:pic>
    </p:spTree>
    <p:extLst>
      <p:ext uri="{BB962C8B-B14F-4D97-AF65-F5344CB8AC3E}">
        <p14:creationId xmlns:p14="http://schemas.microsoft.com/office/powerpoint/2010/main" val="15802994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AF959-C320-2CB5-F7F7-3512CA54F0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2E17FB-CDA8-9BBA-CB0E-F1AC575719AB}"/>
              </a:ext>
            </a:extLst>
          </p:cNvPr>
          <p:cNvSpPr txBox="1"/>
          <p:nvPr/>
        </p:nvSpPr>
        <p:spPr>
          <a:xfrm>
            <a:off x="528918" y="421341"/>
            <a:ext cx="11143129" cy="4462760"/>
          </a:xfrm>
          <a:prstGeom prst="rect">
            <a:avLst/>
          </a:prstGeom>
          <a:noFill/>
        </p:spPr>
        <p:txBody>
          <a:bodyPr wrap="square" rtlCol="0">
            <a:spAutoFit/>
          </a:bodyPr>
          <a:lstStyle/>
          <a:p>
            <a:r>
              <a:rPr lang="en-IN" sz="2400" b="1" dirty="0"/>
              <a:t>Fixed Navigation Bar</a:t>
            </a:r>
          </a:p>
          <a:p>
            <a:endParaRPr lang="en-US" sz="2000" dirty="0"/>
          </a:p>
          <a:p>
            <a:pPr marL="342900" indent="-342900" algn="just">
              <a:buFont typeface="Arial" panose="020B0604020202020204" pitchFamily="34" charset="0"/>
              <a:buChar char="•"/>
            </a:pPr>
            <a:r>
              <a:rPr lang="en-US" sz="2000" dirty="0"/>
              <a:t>The navigation bar can also be fixed at the top or at the bottom of the page.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fixed navigation bar stays visible in a fixed position (top or bottom) independent of the page scroll.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.fixed-top </a:t>
            </a:r>
            <a:r>
              <a:rPr lang="en-US" sz="2000" dirty="0"/>
              <a:t>class makes the navigation bar fixed at the top</a:t>
            </a:r>
          </a:p>
          <a:p>
            <a:endParaRPr lang="en-US" sz="2000" dirty="0"/>
          </a:p>
          <a:p>
            <a:pPr lvl="1"/>
            <a:r>
              <a:rPr lang="en-IN" sz="2000" dirty="0">
                <a:solidFill>
                  <a:srgbClr val="999999"/>
                </a:solidFill>
                <a:effectLst/>
              </a:rPr>
              <a:t>&lt;</a:t>
            </a:r>
            <a:r>
              <a:rPr lang="en-IN" sz="2000" dirty="0">
                <a:solidFill>
                  <a:srgbClr val="990055"/>
                </a:solidFill>
                <a:effectLst/>
              </a:rPr>
              <a:t>nav</a:t>
            </a:r>
            <a:r>
              <a:rPr lang="en-IN" sz="2000" dirty="0">
                <a:solidFill>
                  <a:srgbClr val="008000"/>
                </a:solidFill>
                <a:effectLst/>
              </a:rPr>
              <a:t> class</a:t>
            </a:r>
            <a:r>
              <a:rPr lang="en-IN" sz="2000" dirty="0">
                <a:solidFill>
                  <a:srgbClr val="005CC5"/>
                </a:solidFill>
                <a:effectLst/>
              </a:rPr>
              <a:t>="navbar navbar-expand-</a:t>
            </a:r>
            <a:r>
              <a:rPr lang="en-IN" sz="2000" dirty="0" err="1">
                <a:solidFill>
                  <a:srgbClr val="005CC5"/>
                </a:solidFill>
                <a:effectLst/>
              </a:rPr>
              <a:t>sm</a:t>
            </a:r>
            <a:r>
              <a:rPr lang="en-IN" sz="2000" dirty="0">
                <a:solidFill>
                  <a:srgbClr val="005CC5"/>
                </a:solidFill>
                <a:effectLst/>
              </a:rPr>
              <a:t> </a:t>
            </a:r>
            <a:r>
              <a:rPr lang="en-IN" sz="2000" dirty="0" err="1">
                <a:solidFill>
                  <a:srgbClr val="005CC5"/>
                </a:solidFill>
                <a:effectLst/>
              </a:rPr>
              <a:t>bg</a:t>
            </a:r>
            <a:r>
              <a:rPr lang="en-IN" sz="2000" dirty="0">
                <a:solidFill>
                  <a:srgbClr val="005CC5"/>
                </a:solidFill>
                <a:effectLst/>
              </a:rPr>
              <a:t>-dark navbar-dark fixed-top"</a:t>
            </a:r>
            <a:r>
              <a:rPr lang="en-IN" sz="2000" dirty="0">
                <a:solidFill>
                  <a:srgbClr val="999999"/>
                </a:solidFill>
                <a:effectLst/>
              </a:rPr>
              <a:t>&gt;</a:t>
            </a:r>
            <a:br>
              <a:rPr lang="en-IN" sz="2000" dirty="0"/>
            </a:br>
            <a:r>
              <a:rPr lang="en-IN" sz="2000" dirty="0"/>
              <a:t>  ...</a:t>
            </a:r>
            <a:br>
              <a:rPr lang="en-IN" sz="2000" dirty="0"/>
            </a:br>
            <a:r>
              <a:rPr lang="en-IN" sz="2000" dirty="0">
                <a:solidFill>
                  <a:srgbClr val="999999"/>
                </a:solidFill>
                <a:effectLst/>
              </a:rPr>
              <a:t>&lt;</a:t>
            </a:r>
            <a:r>
              <a:rPr lang="en-IN" sz="2000" dirty="0">
                <a:solidFill>
                  <a:srgbClr val="990055"/>
                </a:solidFill>
                <a:effectLst/>
              </a:rPr>
              <a:t>/nav</a:t>
            </a:r>
            <a:r>
              <a:rPr lang="en-IN" sz="2000" dirty="0">
                <a:solidFill>
                  <a:srgbClr val="999999"/>
                </a:solidFill>
                <a:effectLst/>
              </a:rPr>
              <a:t>&gt;</a:t>
            </a:r>
            <a:r>
              <a:rPr lang="en-IN"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Use the </a:t>
            </a:r>
            <a:r>
              <a:rPr lang="en-US" sz="2000" dirty="0">
                <a:solidFill>
                  <a:srgbClr val="FF0000"/>
                </a:solidFill>
              </a:rPr>
              <a:t>.fixed-bottom </a:t>
            </a:r>
            <a:r>
              <a:rPr lang="en-US" sz="2000" dirty="0"/>
              <a:t>class to make the navbar stay at the bottom of the page</a:t>
            </a:r>
            <a:endParaRPr lang="en-IN" sz="2000" dirty="0"/>
          </a:p>
        </p:txBody>
      </p:sp>
    </p:spTree>
    <p:extLst>
      <p:ext uri="{BB962C8B-B14F-4D97-AF65-F5344CB8AC3E}">
        <p14:creationId xmlns:p14="http://schemas.microsoft.com/office/powerpoint/2010/main" val="241098123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F5066-3719-FB91-1B24-B7AA796399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3944DB-9D60-DA53-47EA-7B3CF87A5616}"/>
              </a:ext>
            </a:extLst>
          </p:cNvPr>
          <p:cNvSpPr txBox="1"/>
          <p:nvPr/>
        </p:nvSpPr>
        <p:spPr>
          <a:xfrm>
            <a:off x="528918" y="421341"/>
            <a:ext cx="11143129" cy="5847755"/>
          </a:xfrm>
          <a:prstGeom prst="rect">
            <a:avLst/>
          </a:prstGeom>
          <a:noFill/>
        </p:spPr>
        <p:txBody>
          <a:bodyPr wrap="square" rtlCol="0">
            <a:spAutoFit/>
          </a:bodyPr>
          <a:lstStyle/>
          <a:p>
            <a:r>
              <a:rPr lang="en-IN" sz="2400" b="1" dirty="0"/>
              <a:t>Form Inputs</a:t>
            </a:r>
            <a:endParaRPr lang="en-US" sz="3200" dirty="0"/>
          </a:p>
          <a:p>
            <a:endParaRPr lang="en-US" sz="2000" dirty="0"/>
          </a:p>
          <a:p>
            <a:r>
              <a:rPr lang="en-US" sz="2000" dirty="0"/>
              <a:t>Bootstrap supports the following form controls:</a:t>
            </a:r>
          </a:p>
          <a:p>
            <a:pPr marL="800100" lvl="1" indent="-342900">
              <a:buFont typeface="Arial" panose="020B0604020202020204" pitchFamily="34" charset="0"/>
              <a:buChar char="•"/>
            </a:pPr>
            <a:r>
              <a:rPr lang="en-US" sz="2000" dirty="0"/>
              <a:t>input</a:t>
            </a:r>
          </a:p>
          <a:p>
            <a:pPr marL="800100" lvl="1" indent="-342900">
              <a:buFont typeface="Arial" panose="020B0604020202020204" pitchFamily="34" charset="0"/>
              <a:buChar char="•"/>
            </a:pPr>
            <a:r>
              <a:rPr lang="en-US" sz="2000" dirty="0" err="1"/>
              <a:t>textarea</a:t>
            </a:r>
            <a:endParaRPr lang="en-US" sz="2000" dirty="0"/>
          </a:p>
          <a:p>
            <a:pPr marL="800100" lvl="1" indent="-342900">
              <a:buFont typeface="Arial" panose="020B0604020202020204" pitchFamily="34" charset="0"/>
              <a:buChar char="•"/>
            </a:pPr>
            <a:r>
              <a:rPr lang="en-US" sz="2000" dirty="0"/>
              <a:t>checkbox</a:t>
            </a:r>
          </a:p>
          <a:p>
            <a:pPr marL="800100" lvl="1" indent="-342900">
              <a:buFont typeface="Arial" panose="020B0604020202020204" pitchFamily="34" charset="0"/>
              <a:buChar char="•"/>
            </a:pPr>
            <a:r>
              <a:rPr lang="en-US" sz="2000" dirty="0"/>
              <a:t>radio</a:t>
            </a:r>
          </a:p>
          <a:p>
            <a:pPr marL="800100" lvl="1" indent="-342900">
              <a:buFont typeface="Arial" panose="020B0604020202020204" pitchFamily="34" charset="0"/>
              <a:buChar char="•"/>
            </a:pPr>
            <a:r>
              <a:rPr lang="en-US" sz="2000" dirty="0"/>
              <a:t>select</a:t>
            </a:r>
          </a:p>
          <a:p>
            <a:endParaRPr lang="en-US" sz="2000" dirty="0"/>
          </a:p>
          <a:p>
            <a:r>
              <a:rPr lang="en-IN" dirty="0"/>
              <a:t>Bootstrap Input</a:t>
            </a:r>
            <a:endParaRPr lang="en-IN" b="1" dirty="0"/>
          </a:p>
          <a:p>
            <a:endParaRPr lang="en-US" sz="2000" dirty="0"/>
          </a:p>
          <a:p>
            <a:pPr marL="342900" indent="-342900">
              <a:buFont typeface="Arial" panose="020B0604020202020204" pitchFamily="34" charset="0"/>
              <a:buChar char="•"/>
            </a:pPr>
            <a:r>
              <a:rPr lang="en-US" sz="2000" dirty="0"/>
              <a:t>Bootstrap supports all the HTML5 input types: text, password, datetime, datetime-local, date, month, time, week, number, email, </a:t>
            </a:r>
            <a:r>
              <a:rPr lang="en-US" sz="2000" dirty="0" err="1"/>
              <a:t>url</a:t>
            </a:r>
            <a:r>
              <a:rPr lang="en-US" sz="2000" dirty="0"/>
              <a:t>, search, </a:t>
            </a:r>
            <a:r>
              <a:rPr lang="en-US" sz="2000" dirty="0" err="1"/>
              <a:t>tel</a:t>
            </a:r>
            <a:r>
              <a:rPr lang="en-US" sz="2000" dirty="0"/>
              <a:t>, and color.</a:t>
            </a:r>
          </a:p>
          <a:p>
            <a:pPr lvl="1"/>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="form-group"&gt;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for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usr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Name:</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="text"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="form-control"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id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usr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="form-group"&gt;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for</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pwd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Password: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="password"</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="form-control"</a:t>
            </a:r>
            <a:r>
              <a:rPr lang="en-IN" sz="14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id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400" dirty="0" err="1">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pwd</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4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4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400" dirty="0"/>
          </a:p>
        </p:txBody>
      </p:sp>
      <p:pic>
        <p:nvPicPr>
          <p:cNvPr id="3" name="Picture 2">
            <a:extLst>
              <a:ext uri="{FF2B5EF4-FFF2-40B4-BE49-F238E27FC236}">
                <a16:creationId xmlns:a16="http://schemas.microsoft.com/office/drawing/2014/main" id="{84739662-F006-D755-2356-4A219B41F885}"/>
              </a:ext>
            </a:extLst>
          </p:cNvPr>
          <p:cNvPicPr>
            <a:picLocks noChangeAspect="1"/>
          </p:cNvPicPr>
          <p:nvPr/>
        </p:nvPicPr>
        <p:blipFill>
          <a:blip r:embed="rId2"/>
          <a:stretch>
            <a:fillRect/>
          </a:stretch>
        </p:blipFill>
        <p:spPr>
          <a:xfrm>
            <a:off x="6460490" y="4687159"/>
            <a:ext cx="5731510" cy="890270"/>
          </a:xfrm>
          <a:prstGeom prst="rect">
            <a:avLst/>
          </a:prstGeom>
        </p:spPr>
      </p:pic>
    </p:spTree>
    <p:extLst>
      <p:ext uri="{BB962C8B-B14F-4D97-AF65-F5344CB8AC3E}">
        <p14:creationId xmlns:p14="http://schemas.microsoft.com/office/powerpoint/2010/main" val="143620574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1B351-1AA0-F507-5516-D4229CBB52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A690E0-971C-15AF-DA7C-67FAA8C8C912}"/>
              </a:ext>
            </a:extLst>
          </p:cNvPr>
          <p:cNvSpPr txBox="1"/>
          <p:nvPr/>
        </p:nvSpPr>
        <p:spPr>
          <a:xfrm>
            <a:off x="528918" y="421341"/>
            <a:ext cx="11143129" cy="5345053"/>
          </a:xfrm>
          <a:prstGeom prst="rect">
            <a:avLst/>
          </a:prstGeom>
          <a:noFill/>
        </p:spPr>
        <p:txBody>
          <a:bodyPr wrap="square" rtlCol="0">
            <a:spAutoFit/>
          </a:bodyPr>
          <a:lstStyle/>
          <a:p>
            <a:r>
              <a:rPr lang="en-IN" sz="2800" dirty="0" err="1"/>
              <a:t>Textarea</a:t>
            </a:r>
            <a:endParaRPr lang="en-US" sz="2400" dirty="0"/>
          </a:p>
          <a:p>
            <a:endParaRPr lang="en-US" sz="2000" dirty="0"/>
          </a:p>
          <a:p>
            <a:pPr lvl="1">
              <a:spcBef>
                <a:spcPts val="750"/>
              </a:spcBef>
              <a:spcAft>
                <a:spcPts val="750"/>
              </a:spcAft>
            </a:pP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="form-group"&gt;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label</a:t>
            </a:r>
            <a:r>
              <a:rPr lang="en-IN" dirty="0">
                <a:solidFill>
                  <a:srgbClr val="FF0000"/>
                </a:solidFill>
                <a:effectLst/>
                <a:latin typeface="Consolas" panose="020B0609020204030204" pitchFamily="49" charset="0"/>
                <a:ea typeface="Times New Roman" panose="02020603050405020304" pitchFamily="18" charset="0"/>
              </a:rPr>
              <a:t> for</a:t>
            </a:r>
            <a:r>
              <a:rPr lang="en-IN" dirty="0">
                <a:solidFill>
                  <a:srgbClr val="0000CD"/>
                </a:solidFill>
                <a:effectLst/>
                <a:latin typeface="Consolas" panose="020B0609020204030204" pitchFamily="49" charset="0"/>
                <a:ea typeface="Times New Roman" panose="02020603050405020304" pitchFamily="18" charset="0"/>
              </a:rPr>
              <a:t>="comment"&gt;</a:t>
            </a:r>
            <a:r>
              <a:rPr lang="en-IN" dirty="0">
                <a:solidFill>
                  <a:srgbClr val="000000"/>
                </a:solidFill>
                <a:effectLst/>
                <a:latin typeface="Consolas" panose="020B0609020204030204" pitchFamily="49" charset="0"/>
                <a:ea typeface="Times New Roman" panose="02020603050405020304" pitchFamily="18" charset="0"/>
              </a:rPr>
              <a:t>Comment:</a:t>
            </a: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/label</a:t>
            </a:r>
            <a:r>
              <a:rPr lang="en-IN" dirty="0">
                <a:solidFill>
                  <a:srgbClr val="0000CD"/>
                </a:solidFill>
                <a:effectLst/>
                <a:latin typeface="Consolas" panose="020B0609020204030204" pitchFamily="49" charset="0"/>
                <a:ea typeface="Times New Roman" panose="02020603050405020304" pitchFamily="18" charset="0"/>
              </a:rPr>
              <a:t>&gt;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00"/>
                </a:solidFill>
                <a:effectLst/>
                <a:latin typeface="Consolas" panose="020B0609020204030204" pitchFamily="49" charset="0"/>
                <a:ea typeface="Times New Roman" panose="02020603050405020304" pitchFamily="18" charset="0"/>
              </a:rPr>
              <a:t>  </a:t>
            </a:r>
            <a:r>
              <a:rPr lang="en-IN" dirty="0">
                <a:solidFill>
                  <a:srgbClr val="0000CD"/>
                </a:solidFill>
                <a:effectLst/>
                <a:latin typeface="Consolas" panose="020B0609020204030204" pitchFamily="49" charset="0"/>
                <a:ea typeface="Times New Roman" panose="02020603050405020304" pitchFamily="18" charset="0"/>
              </a:rPr>
              <a:t>&lt;</a:t>
            </a:r>
            <a:r>
              <a:rPr lang="en-IN" dirty="0" err="1">
                <a:solidFill>
                  <a:srgbClr val="A52A2A"/>
                </a:solidFill>
                <a:effectLst/>
                <a:latin typeface="Consolas" panose="020B0609020204030204" pitchFamily="49" charset="0"/>
                <a:ea typeface="Times New Roman" panose="02020603050405020304" pitchFamily="18" charset="0"/>
              </a:rPr>
              <a:t>textarea</a:t>
            </a:r>
            <a:r>
              <a:rPr lang="en-IN" dirty="0">
                <a:solidFill>
                  <a:srgbClr val="FF0000"/>
                </a:solidFill>
                <a:effectLst/>
                <a:latin typeface="Consolas" panose="020B0609020204030204" pitchFamily="49" charset="0"/>
                <a:ea typeface="Times New Roman" panose="02020603050405020304" pitchFamily="18" charset="0"/>
              </a:rPr>
              <a:t> class</a:t>
            </a:r>
            <a:r>
              <a:rPr lang="en-IN" dirty="0">
                <a:solidFill>
                  <a:srgbClr val="0000CD"/>
                </a:solidFill>
                <a:effectLst/>
                <a:latin typeface="Consolas" panose="020B0609020204030204" pitchFamily="49" charset="0"/>
                <a:ea typeface="Times New Roman" panose="02020603050405020304" pitchFamily="18" charset="0"/>
              </a:rPr>
              <a:t>="form-control"</a:t>
            </a:r>
            <a:r>
              <a:rPr lang="en-IN" dirty="0">
                <a:solidFill>
                  <a:srgbClr val="FF0000"/>
                </a:solidFill>
                <a:effectLst/>
                <a:latin typeface="Consolas" panose="020B0609020204030204" pitchFamily="49" charset="0"/>
                <a:ea typeface="Times New Roman" panose="02020603050405020304" pitchFamily="18" charset="0"/>
              </a:rPr>
              <a:t> rows</a:t>
            </a:r>
            <a:r>
              <a:rPr lang="en-IN" dirty="0">
                <a:solidFill>
                  <a:srgbClr val="0000CD"/>
                </a:solidFill>
                <a:effectLst/>
                <a:latin typeface="Consolas" panose="020B0609020204030204" pitchFamily="49" charset="0"/>
                <a:ea typeface="Times New Roman" panose="02020603050405020304" pitchFamily="18" charset="0"/>
              </a:rPr>
              <a:t>="5"</a:t>
            </a:r>
            <a:r>
              <a:rPr lang="en-IN" dirty="0">
                <a:solidFill>
                  <a:srgbClr val="FF0000"/>
                </a:solidFill>
                <a:effectLst/>
                <a:latin typeface="Consolas" panose="020B0609020204030204" pitchFamily="49" charset="0"/>
                <a:ea typeface="Times New Roman" panose="02020603050405020304" pitchFamily="18" charset="0"/>
              </a:rPr>
              <a:t> id</a:t>
            </a:r>
            <a:r>
              <a:rPr lang="en-IN" dirty="0">
                <a:solidFill>
                  <a:srgbClr val="0000CD"/>
                </a:solidFill>
                <a:effectLst/>
                <a:latin typeface="Consolas" panose="020B0609020204030204" pitchFamily="49" charset="0"/>
                <a:ea typeface="Times New Roman" panose="02020603050405020304" pitchFamily="18" charset="0"/>
              </a:rPr>
              <a:t>="comment"&gt;&lt;</a:t>
            </a:r>
            <a:r>
              <a:rPr lang="en-IN" dirty="0">
                <a:solidFill>
                  <a:srgbClr val="A52A2A"/>
                </a:solidFill>
                <a:effectLst/>
                <a:latin typeface="Consolas" panose="020B0609020204030204" pitchFamily="49" charset="0"/>
                <a:ea typeface="Times New Roman" panose="02020603050405020304" pitchFamily="18" charset="0"/>
              </a:rPr>
              <a:t>/</a:t>
            </a:r>
            <a:r>
              <a:rPr lang="en-IN" dirty="0" err="1">
                <a:solidFill>
                  <a:srgbClr val="A52A2A"/>
                </a:solidFill>
                <a:effectLst/>
                <a:latin typeface="Consolas" panose="020B0609020204030204" pitchFamily="49" charset="0"/>
                <a:ea typeface="Times New Roman" panose="02020603050405020304" pitchFamily="18" charset="0"/>
              </a:rPr>
              <a:t>textarea</a:t>
            </a:r>
            <a:r>
              <a:rPr lang="en-IN" dirty="0">
                <a:solidFill>
                  <a:srgbClr val="0000CD"/>
                </a:solidFill>
                <a:effectLst/>
                <a:latin typeface="Consolas" panose="020B0609020204030204" pitchFamily="49" charset="0"/>
                <a:ea typeface="Times New Roman" panose="02020603050405020304" pitchFamily="18" charset="0"/>
              </a:rPr>
              <a:t>&gt;</a:t>
            </a:r>
            <a:br>
              <a:rPr lang="en-IN" dirty="0">
                <a:solidFill>
                  <a:srgbClr val="000000"/>
                </a:solidFill>
                <a:effectLst/>
                <a:latin typeface="Consolas" panose="020B0609020204030204" pitchFamily="49" charset="0"/>
                <a:ea typeface="Times New Roman" panose="02020603050405020304" pitchFamily="18" charset="0"/>
              </a:rPr>
            </a:br>
            <a:r>
              <a:rPr lang="en-IN" dirty="0">
                <a:solidFill>
                  <a:srgbClr val="0000CD"/>
                </a:solidFill>
                <a:effectLst/>
                <a:latin typeface="Consolas" panose="020B0609020204030204" pitchFamily="49" charset="0"/>
                <a:ea typeface="Times New Roman" panose="02020603050405020304" pitchFamily="18" charset="0"/>
              </a:rPr>
              <a:t>&lt;</a:t>
            </a:r>
            <a:r>
              <a:rPr lang="en-IN" dirty="0">
                <a:solidFill>
                  <a:srgbClr val="A52A2A"/>
                </a:solidFill>
                <a:effectLst/>
                <a:latin typeface="Consolas" panose="020B0609020204030204" pitchFamily="49" charset="0"/>
                <a:ea typeface="Times New Roman" panose="02020603050405020304" pitchFamily="18" charset="0"/>
              </a:rPr>
              <a:t>/div</a:t>
            </a:r>
            <a:r>
              <a:rPr lang="en-IN" dirty="0">
                <a:solidFill>
                  <a:srgbClr val="0000CD"/>
                </a:solidFill>
                <a:effectLst/>
                <a:latin typeface="Consolas" panose="020B0609020204030204" pitchFamily="49" charset="0"/>
                <a:ea typeface="Times New Roman" panose="02020603050405020304" pitchFamily="18" charset="0"/>
              </a:rPr>
              <a:t>&gt;</a:t>
            </a:r>
            <a:endParaRPr lang="en-IN" sz="2800" dirty="0">
              <a:effectLst/>
              <a:latin typeface="Times New Roman" panose="02020603050405020304" pitchFamily="18" charset="0"/>
              <a:ea typeface="Times New Roman" panose="02020603050405020304" pitchFamily="18" charset="0"/>
            </a:endParaRPr>
          </a:p>
          <a:p>
            <a:endParaRPr lang="en-US" sz="2000" dirty="0"/>
          </a:p>
          <a:p>
            <a:r>
              <a:rPr lang="en-IN" sz="2400" b="1" dirty="0"/>
              <a:t>Checkboxes</a:t>
            </a:r>
            <a:endParaRPr lang="en-US" sz="2800" b="1" dirty="0"/>
          </a:p>
          <a:p>
            <a:endParaRPr lang="en-US" sz="2000" dirty="0"/>
          </a:p>
          <a:p>
            <a:pPr lvl="1"/>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value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Option 1</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value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Option 2</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class</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 disabled"&gt;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input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type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="checkbox"</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value</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a:t>
            </a:r>
            <a:r>
              <a:rPr lang="en-IN" sz="16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 disabled</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Option 3</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/label</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br>
              <a:rPr lang="en-IN" sz="16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&lt;</a:t>
            </a:r>
            <a:r>
              <a:rPr lang="en-IN" sz="1600" dirty="0">
                <a:solidFill>
                  <a:srgbClr val="A52A2A"/>
                </a:solidFill>
                <a:effectLst/>
                <a:latin typeface="Consolas" panose="020B0609020204030204" pitchFamily="49" charset="0"/>
                <a:ea typeface="Calibri" panose="020F0502020204030204" pitchFamily="34" charset="0"/>
                <a:cs typeface="Times New Roman" panose="02020603050405020304" pitchFamily="18" charset="0"/>
              </a:rPr>
              <a:t>/div</a:t>
            </a:r>
            <a:r>
              <a:rPr lang="en-IN" sz="1600" dirty="0">
                <a:solidFill>
                  <a:srgbClr val="0000CD"/>
                </a:solidFill>
                <a:effectLst/>
                <a:latin typeface="Consolas" panose="020B0609020204030204" pitchFamily="49" charset="0"/>
                <a:ea typeface="Calibri" panose="020F0502020204030204" pitchFamily="34" charset="0"/>
                <a:cs typeface="Times New Roman" panose="02020603050405020304" pitchFamily="18" charset="0"/>
              </a:rPr>
              <a:t>&gt;</a:t>
            </a:r>
            <a:endParaRPr lang="en-IN" sz="1600" dirty="0"/>
          </a:p>
        </p:txBody>
      </p:sp>
    </p:spTree>
    <p:extLst>
      <p:ext uri="{BB962C8B-B14F-4D97-AF65-F5344CB8AC3E}">
        <p14:creationId xmlns:p14="http://schemas.microsoft.com/office/powerpoint/2010/main" val="36368151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9A34-199B-BCFC-22D5-F2840C113C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A7FB9E-B514-33D5-E10E-298D9F5E4DD7}"/>
              </a:ext>
            </a:extLst>
          </p:cNvPr>
          <p:cNvSpPr txBox="1"/>
          <p:nvPr/>
        </p:nvSpPr>
        <p:spPr>
          <a:xfrm>
            <a:off x="591671" y="251011"/>
            <a:ext cx="11143129" cy="6494085"/>
          </a:xfrm>
          <a:prstGeom prst="rect">
            <a:avLst/>
          </a:prstGeom>
          <a:noFill/>
        </p:spPr>
        <p:txBody>
          <a:bodyPr wrap="square" rtlCol="0">
            <a:spAutoFit/>
          </a:bodyPr>
          <a:lstStyle/>
          <a:p>
            <a:r>
              <a:rPr lang="en-IN" sz="2400" b="1" dirty="0"/>
              <a:t>Checkboxes</a:t>
            </a:r>
            <a:endParaRPr lang="en-US" sz="2400" dirty="0"/>
          </a:p>
          <a:p>
            <a:endParaRPr lang="en-US" sz="2000" dirty="0"/>
          </a:p>
          <a:p>
            <a:r>
              <a:rPr lang="en-US" dirty="0"/>
              <a:t>&lt;div class="form-check"&gt;</a:t>
            </a:r>
          </a:p>
          <a:p>
            <a:r>
              <a:rPr lang="en-US" dirty="0"/>
              <a:t>      &lt;input type="checkbox" class="form-check-input" id="check1" name="option1" value="something" checked&gt;</a:t>
            </a:r>
          </a:p>
          <a:p>
            <a:r>
              <a:rPr lang="en-US" dirty="0"/>
              <a:t>      &lt;label class="form-check-label" for="check1"&gt;Option 1&lt;/label&gt;</a:t>
            </a:r>
          </a:p>
          <a:p>
            <a:r>
              <a:rPr lang="en-US" dirty="0"/>
              <a:t>&lt;/div&gt;</a:t>
            </a:r>
          </a:p>
          <a:p>
            <a:r>
              <a:rPr lang="en-US" dirty="0"/>
              <a:t>&lt;div class="form-check"&gt;</a:t>
            </a:r>
          </a:p>
          <a:p>
            <a:r>
              <a:rPr lang="en-US" dirty="0"/>
              <a:t>      &lt;input type="checkbox" class="form-check-input" id="check2" name="option2" value="something"&gt;</a:t>
            </a:r>
          </a:p>
          <a:p>
            <a:r>
              <a:rPr lang="en-US" dirty="0"/>
              <a:t>      &lt;label class="form-check-label" for="check2"&gt;Option 2&lt;/label&gt;</a:t>
            </a:r>
          </a:p>
          <a:p>
            <a:r>
              <a:rPr lang="en-US" dirty="0"/>
              <a:t>&lt;/div&gt;</a:t>
            </a:r>
          </a:p>
          <a:p>
            <a:endParaRPr lang="en-US" sz="2000" dirty="0"/>
          </a:p>
          <a:p>
            <a:r>
              <a:rPr lang="en-IN" sz="2000" b="1" dirty="0"/>
              <a:t>Radio buttons</a:t>
            </a:r>
          </a:p>
          <a:p>
            <a:pPr lvl="1"/>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="form-check"</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input</a:t>
            </a:r>
            <a:r>
              <a:rPr lang="en-IN" sz="1400" dirty="0">
                <a:solidFill>
                  <a:srgbClr val="008000"/>
                </a:solidFill>
                <a:effectLst/>
              </a:rPr>
              <a:t> type</a:t>
            </a:r>
            <a:r>
              <a:rPr lang="en-IN" sz="1400" dirty="0">
                <a:solidFill>
                  <a:srgbClr val="005CC5"/>
                </a:solidFill>
                <a:effectLst/>
              </a:rPr>
              <a:t>="radio"</a:t>
            </a:r>
            <a:r>
              <a:rPr lang="en-IN" sz="1400" dirty="0">
                <a:solidFill>
                  <a:srgbClr val="008000"/>
                </a:solidFill>
                <a:effectLst/>
              </a:rPr>
              <a:t> class</a:t>
            </a:r>
            <a:r>
              <a:rPr lang="en-IN" sz="1400" dirty="0">
                <a:solidFill>
                  <a:srgbClr val="005CC5"/>
                </a:solidFill>
                <a:effectLst/>
              </a:rPr>
              <a:t>="form-check-input"</a:t>
            </a:r>
            <a:r>
              <a:rPr lang="en-IN" sz="1400" dirty="0">
                <a:solidFill>
                  <a:srgbClr val="008000"/>
                </a:solidFill>
                <a:effectLst/>
              </a:rPr>
              <a:t> id</a:t>
            </a:r>
            <a:r>
              <a:rPr lang="en-IN" sz="1400" dirty="0">
                <a:solidFill>
                  <a:srgbClr val="005CC5"/>
                </a:solidFill>
                <a:effectLst/>
              </a:rPr>
              <a:t>="radio1"</a:t>
            </a:r>
            <a:r>
              <a:rPr lang="en-IN" sz="1400" dirty="0">
                <a:solidFill>
                  <a:srgbClr val="008000"/>
                </a:solidFill>
                <a:effectLst/>
              </a:rPr>
              <a:t> name</a:t>
            </a:r>
            <a:r>
              <a:rPr lang="en-IN" sz="1400" dirty="0">
                <a:solidFill>
                  <a:srgbClr val="005CC5"/>
                </a:solidFill>
                <a:effectLst/>
              </a:rPr>
              <a:t>="</a:t>
            </a:r>
            <a:r>
              <a:rPr lang="en-IN" sz="1400" dirty="0" err="1">
                <a:solidFill>
                  <a:srgbClr val="005CC5"/>
                </a:solidFill>
                <a:effectLst/>
              </a:rPr>
              <a:t>optradio</a:t>
            </a:r>
            <a:r>
              <a:rPr lang="en-IN" sz="1400" dirty="0">
                <a:solidFill>
                  <a:srgbClr val="005CC5"/>
                </a:solidFill>
                <a:effectLst/>
              </a:rPr>
              <a:t>"</a:t>
            </a:r>
            <a:r>
              <a:rPr lang="en-IN" sz="1400" dirty="0">
                <a:solidFill>
                  <a:srgbClr val="008000"/>
                </a:solidFill>
                <a:effectLst/>
              </a:rPr>
              <a:t> value</a:t>
            </a:r>
            <a:r>
              <a:rPr lang="en-IN" sz="1400" dirty="0">
                <a:solidFill>
                  <a:srgbClr val="005CC5"/>
                </a:solidFill>
                <a:effectLst/>
              </a:rPr>
              <a:t>="option1"</a:t>
            </a:r>
            <a:r>
              <a:rPr lang="en-IN" sz="1400" dirty="0">
                <a:solidFill>
                  <a:srgbClr val="008000"/>
                </a:solidFill>
                <a:effectLst/>
              </a:rPr>
              <a:t> checked</a:t>
            </a:r>
            <a:r>
              <a:rPr lang="en-IN" sz="1400" dirty="0">
                <a:solidFill>
                  <a:srgbClr val="999999"/>
                </a:solidFill>
                <a:effectLst/>
              </a:rPr>
              <a:t>&gt;</a:t>
            </a:r>
            <a:r>
              <a:rPr lang="en-IN" sz="1400" dirty="0"/>
              <a:t>Option 1</a:t>
            </a:r>
            <a:br>
              <a:rPr lang="en-IN" sz="1400" dirty="0"/>
            </a:br>
            <a:r>
              <a:rPr lang="en-IN" sz="1400" dirty="0"/>
              <a:t>  </a:t>
            </a:r>
            <a:r>
              <a:rPr lang="en-IN" sz="1400" dirty="0">
                <a:solidFill>
                  <a:srgbClr val="999999"/>
                </a:solidFill>
                <a:effectLst/>
              </a:rPr>
              <a:t>&lt;</a:t>
            </a:r>
            <a:r>
              <a:rPr lang="en-IN" sz="1400" dirty="0">
                <a:solidFill>
                  <a:srgbClr val="990055"/>
                </a:solidFill>
                <a:effectLst/>
              </a:rPr>
              <a:t>label</a:t>
            </a:r>
            <a:r>
              <a:rPr lang="en-IN" sz="1400" dirty="0">
                <a:solidFill>
                  <a:srgbClr val="008000"/>
                </a:solidFill>
                <a:effectLst/>
              </a:rPr>
              <a:t> class</a:t>
            </a:r>
            <a:r>
              <a:rPr lang="en-IN" sz="1400" dirty="0">
                <a:solidFill>
                  <a:srgbClr val="005CC5"/>
                </a:solidFill>
                <a:effectLst/>
              </a:rPr>
              <a:t>="form-check-label"</a:t>
            </a:r>
            <a:r>
              <a:rPr lang="en-IN" sz="1400" dirty="0">
                <a:solidFill>
                  <a:srgbClr val="008000"/>
                </a:solidFill>
                <a:effectLst/>
              </a:rPr>
              <a:t> for</a:t>
            </a:r>
            <a:r>
              <a:rPr lang="en-IN" sz="1400" dirty="0">
                <a:solidFill>
                  <a:srgbClr val="005CC5"/>
                </a:solidFill>
                <a:effectLst/>
              </a:rPr>
              <a:t>="radio1"</a:t>
            </a:r>
            <a:r>
              <a:rPr lang="en-IN" sz="1400" dirty="0">
                <a:solidFill>
                  <a:srgbClr val="999999"/>
                </a:solidFill>
                <a:effectLst/>
              </a:rPr>
              <a:t>&gt;&lt;</a:t>
            </a:r>
            <a:r>
              <a:rPr lang="en-IN" sz="1400" dirty="0">
                <a:solidFill>
                  <a:srgbClr val="990055"/>
                </a:solidFill>
                <a:effectLst/>
              </a:rPr>
              <a:t>/label</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="form-check"</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input</a:t>
            </a:r>
            <a:r>
              <a:rPr lang="en-IN" sz="1400" dirty="0">
                <a:solidFill>
                  <a:srgbClr val="008000"/>
                </a:solidFill>
                <a:effectLst/>
              </a:rPr>
              <a:t> type</a:t>
            </a:r>
            <a:r>
              <a:rPr lang="en-IN" sz="1400" dirty="0">
                <a:solidFill>
                  <a:srgbClr val="005CC5"/>
                </a:solidFill>
                <a:effectLst/>
              </a:rPr>
              <a:t>="radio"</a:t>
            </a:r>
            <a:r>
              <a:rPr lang="en-IN" sz="1400" dirty="0">
                <a:solidFill>
                  <a:srgbClr val="008000"/>
                </a:solidFill>
                <a:effectLst/>
              </a:rPr>
              <a:t> class</a:t>
            </a:r>
            <a:r>
              <a:rPr lang="en-IN" sz="1400" dirty="0">
                <a:solidFill>
                  <a:srgbClr val="005CC5"/>
                </a:solidFill>
                <a:effectLst/>
              </a:rPr>
              <a:t>="form-check-input"</a:t>
            </a:r>
            <a:r>
              <a:rPr lang="en-IN" sz="1400" dirty="0">
                <a:solidFill>
                  <a:srgbClr val="008000"/>
                </a:solidFill>
                <a:effectLst/>
              </a:rPr>
              <a:t> id</a:t>
            </a:r>
            <a:r>
              <a:rPr lang="en-IN" sz="1400" dirty="0">
                <a:solidFill>
                  <a:srgbClr val="005CC5"/>
                </a:solidFill>
                <a:effectLst/>
              </a:rPr>
              <a:t>="radio2"</a:t>
            </a:r>
            <a:r>
              <a:rPr lang="en-IN" sz="1400" dirty="0">
                <a:solidFill>
                  <a:srgbClr val="008000"/>
                </a:solidFill>
                <a:effectLst/>
              </a:rPr>
              <a:t> name</a:t>
            </a:r>
            <a:r>
              <a:rPr lang="en-IN" sz="1400" dirty="0">
                <a:solidFill>
                  <a:srgbClr val="005CC5"/>
                </a:solidFill>
                <a:effectLst/>
              </a:rPr>
              <a:t>="</a:t>
            </a:r>
            <a:r>
              <a:rPr lang="en-IN" sz="1400" dirty="0" err="1">
                <a:solidFill>
                  <a:srgbClr val="005CC5"/>
                </a:solidFill>
                <a:effectLst/>
              </a:rPr>
              <a:t>optradio</a:t>
            </a:r>
            <a:r>
              <a:rPr lang="en-IN" sz="1400" dirty="0">
                <a:solidFill>
                  <a:srgbClr val="005CC5"/>
                </a:solidFill>
                <a:effectLst/>
              </a:rPr>
              <a:t>"</a:t>
            </a:r>
            <a:r>
              <a:rPr lang="en-IN" sz="1400" dirty="0">
                <a:solidFill>
                  <a:srgbClr val="008000"/>
                </a:solidFill>
                <a:effectLst/>
              </a:rPr>
              <a:t> value</a:t>
            </a:r>
            <a:r>
              <a:rPr lang="en-IN" sz="1400" dirty="0">
                <a:solidFill>
                  <a:srgbClr val="005CC5"/>
                </a:solidFill>
                <a:effectLst/>
              </a:rPr>
              <a:t>="option2"</a:t>
            </a:r>
            <a:r>
              <a:rPr lang="en-IN" sz="1400" dirty="0">
                <a:solidFill>
                  <a:srgbClr val="999999"/>
                </a:solidFill>
                <a:effectLst/>
              </a:rPr>
              <a:t>&gt;</a:t>
            </a:r>
            <a:r>
              <a:rPr lang="en-IN" sz="1400" dirty="0"/>
              <a:t>Option 2</a:t>
            </a:r>
            <a:br>
              <a:rPr lang="en-IN" sz="1400" dirty="0"/>
            </a:br>
            <a:r>
              <a:rPr lang="en-IN" sz="1400" dirty="0"/>
              <a:t>  </a:t>
            </a:r>
            <a:r>
              <a:rPr lang="en-IN" sz="1400" dirty="0">
                <a:solidFill>
                  <a:srgbClr val="999999"/>
                </a:solidFill>
                <a:effectLst/>
              </a:rPr>
              <a:t>&lt;</a:t>
            </a:r>
            <a:r>
              <a:rPr lang="en-IN" sz="1400" dirty="0">
                <a:solidFill>
                  <a:srgbClr val="990055"/>
                </a:solidFill>
                <a:effectLst/>
              </a:rPr>
              <a:t>label</a:t>
            </a:r>
            <a:r>
              <a:rPr lang="en-IN" sz="1400" dirty="0">
                <a:solidFill>
                  <a:srgbClr val="008000"/>
                </a:solidFill>
                <a:effectLst/>
              </a:rPr>
              <a:t> class</a:t>
            </a:r>
            <a:r>
              <a:rPr lang="en-IN" sz="1400" dirty="0">
                <a:solidFill>
                  <a:srgbClr val="005CC5"/>
                </a:solidFill>
                <a:effectLst/>
              </a:rPr>
              <a:t>="form-check-label"</a:t>
            </a:r>
            <a:r>
              <a:rPr lang="en-IN" sz="1400" dirty="0">
                <a:solidFill>
                  <a:srgbClr val="008000"/>
                </a:solidFill>
                <a:effectLst/>
              </a:rPr>
              <a:t> for</a:t>
            </a:r>
            <a:r>
              <a:rPr lang="en-IN" sz="1400" dirty="0">
                <a:solidFill>
                  <a:srgbClr val="005CC5"/>
                </a:solidFill>
                <a:effectLst/>
              </a:rPr>
              <a:t>="radio2"</a:t>
            </a:r>
            <a:r>
              <a:rPr lang="en-IN" sz="1400" dirty="0">
                <a:solidFill>
                  <a:srgbClr val="999999"/>
                </a:solidFill>
                <a:effectLst/>
              </a:rPr>
              <a:t>&gt;&lt;</a:t>
            </a:r>
            <a:r>
              <a:rPr lang="en-IN" sz="1400" dirty="0">
                <a:solidFill>
                  <a:srgbClr val="990055"/>
                </a:solidFill>
                <a:effectLst/>
              </a:rPr>
              <a:t>/label</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="form-check"</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input</a:t>
            </a:r>
            <a:r>
              <a:rPr lang="en-IN" sz="1400" dirty="0">
                <a:solidFill>
                  <a:srgbClr val="008000"/>
                </a:solidFill>
                <a:effectLst/>
              </a:rPr>
              <a:t> type</a:t>
            </a:r>
            <a:r>
              <a:rPr lang="en-IN" sz="1400" dirty="0">
                <a:solidFill>
                  <a:srgbClr val="005CC5"/>
                </a:solidFill>
                <a:effectLst/>
              </a:rPr>
              <a:t>="radio"</a:t>
            </a:r>
            <a:r>
              <a:rPr lang="en-IN" sz="1400" dirty="0">
                <a:solidFill>
                  <a:srgbClr val="008000"/>
                </a:solidFill>
                <a:effectLst/>
              </a:rPr>
              <a:t> class</a:t>
            </a:r>
            <a:r>
              <a:rPr lang="en-IN" sz="1400" dirty="0">
                <a:solidFill>
                  <a:srgbClr val="005CC5"/>
                </a:solidFill>
                <a:effectLst/>
              </a:rPr>
              <a:t>="form-check-input"</a:t>
            </a:r>
            <a:r>
              <a:rPr lang="en-IN" sz="1400" dirty="0">
                <a:solidFill>
                  <a:srgbClr val="008000"/>
                </a:solidFill>
                <a:effectLst/>
              </a:rPr>
              <a:t> disabled</a:t>
            </a:r>
            <a:r>
              <a:rPr lang="en-IN" sz="1400" dirty="0">
                <a:solidFill>
                  <a:srgbClr val="999999"/>
                </a:solidFill>
                <a:effectLst/>
              </a:rPr>
              <a:t>&gt;</a:t>
            </a:r>
            <a:r>
              <a:rPr lang="en-IN" sz="1400" dirty="0"/>
              <a:t>Option 3</a:t>
            </a:r>
            <a:br>
              <a:rPr lang="en-IN" sz="1400" dirty="0"/>
            </a:br>
            <a:r>
              <a:rPr lang="en-IN" sz="1400" dirty="0"/>
              <a:t>  </a:t>
            </a:r>
            <a:r>
              <a:rPr lang="en-IN" sz="1400" dirty="0">
                <a:solidFill>
                  <a:srgbClr val="999999"/>
                </a:solidFill>
                <a:effectLst/>
              </a:rPr>
              <a:t>&lt;</a:t>
            </a:r>
            <a:r>
              <a:rPr lang="en-IN" sz="1400" dirty="0">
                <a:solidFill>
                  <a:srgbClr val="990055"/>
                </a:solidFill>
                <a:effectLst/>
              </a:rPr>
              <a:t>label</a:t>
            </a:r>
            <a:r>
              <a:rPr lang="en-IN" sz="1400" dirty="0">
                <a:solidFill>
                  <a:srgbClr val="008000"/>
                </a:solidFill>
                <a:effectLst/>
              </a:rPr>
              <a:t> class</a:t>
            </a:r>
            <a:r>
              <a:rPr lang="en-IN" sz="1400" dirty="0">
                <a:solidFill>
                  <a:srgbClr val="005CC5"/>
                </a:solidFill>
                <a:effectLst/>
              </a:rPr>
              <a:t>="form-check-label"</a:t>
            </a:r>
            <a:r>
              <a:rPr lang="en-IN" sz="1400" dirty="0">
                <a:solidFill>
                  <a:srgbClr val="999999"/>
                </a:solidFill>
                <a:effectLst/>
              </a:rPr>
              <a:t>&gt;&lt;</a:t>
            </a:r>
            <a:r>
              <a:rPr lang="en-IN" sz="1400" dirty="0">
                <a:solidFill>
                  <a:srgbClr val="990055"/>
                </a:solidFill>
                <a:effectLst/>
              </a:rPr>
              <a:t>/label</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r>
              <a:rPr lang="en-IN" sz="1400" dirty="0"/>
              <a:t> </a:t>
            </a:r>
          </a:p>
          <a:p>
            <a:endParaRPr lang="en-IN" sz="2000" dirty="0"/>
          </a:p>
        </p:txBody>
      </p:sp>
    </p:spTree>
    <p:extLst>
      <p:ext uri="{BB962C8B-B14F-4D97-AF65-F5344CB8AC3E}">
        <p14:creationId xmlns:p14="http://schemas.microsoft.com/office/powerpoint/2010/main" val="19238735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65BC-1D0E-432E-B0B9-CBB09868E5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354A06-0DA4-F487-42D6-C6E35885C44C}"/>
              </a:ext>
            </a:extLst>
          </p:cNvPr>
          <p:cNvSpPr txBox="1"/>
          <p:nvPr/>
        </p:nvSpPr>
        <p:spPr>
          <a:xfrm>
            <a:off x="524435" y="448235"/>
            <a:ext cx="11143129" cy="3385542"/>
          </a:xfrm>
          <a:prstGeom prst="rect">
            <a:avLst/>
          </a:prstGeom>
          <a:noFill/>
        </p:spPr>
        <p:txBody>
          <a:bodyPr wrap="square" rtlCol="0">
            <a:spAutoFit/>
          </a:bodyPr>
          <a:lstStyle/>
          <a:p>
            <a:r>
              <a:rPr lang="en-IN" sz="2400" b="1" dirty="0"/>
              <a:t>Select Menu</a:t>
            </a:r>
            <a:endParaRPr lang="en-US" sz="2400" dirty="0"/>
          </a:p>
          <a:p>
            <a:endParaRPr lang="en-US" sz="2000" dirty="0"/>
          </a:p>
          <a:p>
            <a:pPr lvl="1"/>
            <a:r>
              <a:rPr lang="en-US" dirty="0">
                <a:solidFill>
                  <a:srgbClr val="999999"/>
                </a:solidFill>
                <a:effectLst/>
              </a:rPr>
              <a:t>&lt;</a:t>
            </a:r>
            <a:r>
              <a:rPr lang="en-US" dirty="0">
                <a:solidFill>
                  <a:srgbClr val="990055"/>
                </a:solidFill>
                <a:effectLst/>
              </a:rPr>
              <a:t>select</a:t>
            </a:r>
            <a:r>
              <a:rPr lang="en-US" dirty="0">
                <a:solidFill>
                  <a:srgbClr val="008000"/>
                </a:solidFill>
                <a:effectLst/>
              </a:rPr>
              <a:t> class</a:t>
            </a:r>
            <a:r>
              <a:rPr lang="en-US" dirty="0">
                <a:solidFill>
                  <a:srgbClr val="005CC5"/>
                </a:solidFill>
                <a:effectLst/>
              </a:rPr>
              <a:t>="form-select"</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1</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2</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3</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t>	</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r>
              <a:rPr lang="en-US" dirty="0"/>
              <a:t>4</a:t>
            </a:r>
            <a:r>
              <a:rPr lang="en-US" dirty="0">
                <a:solidFill>
                  <a:srgbClr val="999999"/>
                </a:solidFill>
                <a:effectLst/>
              </a:rPr>
              <a:t>&lt;</a:t>
            </a:r>
            <a:r>
              <a:rPr lang="en-US" dirty="0">
                <a:solidFill>
                  <a:srgbClr val="990055"/>
                </a:solidFill>
                <a:effectLst/>
              </a:rPr>
              <a:t>/option</a:t>
            </a:r>
            <a:r>
              <a:rPr lang="en-US" dirty="0">
                <a:solidFill>
                  <a:srgbClr val="999999"/>
                </a:solidFill>
                <a:effectLst/>
              </a:rPr>
              <a:t>&gt;</a:t>
            </a:r>
            <a:br>
              <a:rPr lang="en-US" dirty="0"/>
            </a:br>
            <a:r>
              <a:rPr lang="en-US" dirty="0">
                <a:solidFill>
                  <a:srgbClr val="999999"/>
                </a:solidFill>
                <a:effectLst/>
              </a:rPr>
              <a:t>&lt;</a:t>
            </a:r>
            <a:r>
              <a:rPr lang="en-US" dirty="0">
                <a:solidFill>
                  <a:srgbClr val="990055"/>
                </a:solidFill>
                <a:effectLst/>
              </a:rPr>
              <a:t>/select</a:t>
            </a:r>
            <a:r>
              <a:rPr lang="en-US" dirty="0">
                <a:solidFill>
                  <a:srgbClr val="999999"/>
                </a:solidFill>
                <a:effectLst/>
              </a:rPr>
              <a:t>&gt;</a:t>
            </a:r>
            <a:r>
              <a:rPr lang="en-US" sz="2000" dirty="0"/>
              <a:t> </a:t>
            </a:r>
          </a:p>
          <a:p>
            <a:endParaRPr lang="en-US" sz="2000" dirty="0"/>
          </a:p>
          <a:p>
            <a:endParaRPr lang="en-US" sz="2000" dirty="0"/>
          </a:p>
          <a:p>
            <a:endParaRPr lang="en-IN" sz="2000" dirty="0"/>
          </a:p>
        </p:txBody>
      </p:sp>
    </p:spTree>
    <p:extLst>
      <p:ext uri="{BB962C8B-B14F-4D97-AF65-F5344CB8AC3E}">
        <p14:creationId xmlns:p14="http://schemas.microsoft.com/office/powerpoint/2010/main" val="344296134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0F79-3B3F-601C-85CA-7A4344CA41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0B4299-B2CB-35BC-FF03-6671E16C13C8}"/>
              </a:ext>
            </a:extLst>
          </p:cNvPr>
          <p:cNvSpPr txBox="1"/>
          <p:nvPr/>
        </p:nvSpPr>
        <p:spPr>
          <a:xfrm>
            <a:off x="524435" y="320456"/>
            <a:ext cx="11143129" cy="6217087"/>
          </a:xfrm>
          <a:prstGeom prst="rect">
            <a:avLst/>
          </a:prstGeom>
          <a:noFill/>
        </p:spPr>
        <p:txBody>
          <a:bodyPr wrap="square" rtlCol="0">
            <a:spAutoFit/>
          </a:bodyPr>
          <a:lstStyle/>
          <a:p>
            <a:r>
              <a:rPr lang="en-IN" sz="2400" b="1" dirty="0"/>
              <a:t>Media Objects</a:t>
            </a:r>
            <a:endParaRPr lang="en-US" sz="3200" dirty="0"/>
          </a:p>
          <a:p>
            <a:endParaRPr lang="en-US" sz="2000" dirty="0"/>
          </a:p>
          <a:p>
            <a:pPr marL="342900" indent="-342900">
              <a:buFont typeface="Arial" panose="020B0604020202020204" pitchFamily="34" charset="0"/>
              <a:buChar char="•"/>
            </a:pPr>
            <a:r>
              <a:rPr lang="en-US" sz="2000" dirty="0"/>
              <a:t>Bootstrap provides an easy way to align media objects (like images or videos) to the left or to the right of some content. This can be used to display blog comments, tweets and so on</a:t>
            </a:r>
          </a:p>
          <a:p>
            <a:endParaRPr lang="en-US" sz="2000" dirty="0"/>
          </a:p>
          <a:p>
            <a:r>
              <a:rPr lang="en-IN" sz="1400" dirty="0">
                <a:solidFill>
                  <a:srgbClr val="708090"/>
                </a:solidFill>
                <a:effectLst/>
              </a:rPr>
              <a:t>&lt;!-- Left-aligned --&gt;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="media-left"</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="img_avatar1.png"</a:t>
            </a:r>
            <a:r>
              <a:rPr lang="en-IN" sz="1400" dirty="0">
                <a:solidFill>
                  <a:srgbClr val="008000"/>
                </a:solidFill>
                <a:effectLst/>
              </a:rPr>
              <a:t> class</a:t>
            </a:r>
            <a:r>
              <a:rPr lang="en-IN" sz="1400" dirty="0">
                <a:solidFill>
                  <a:srgbClr val="005CC5"/>
                </a:solidFill>
                <a:effectLst/>
              </a:rPr>
              <a:t>="media-object"</a:t>
            </a:r>
            <a:r>
              <a:rPr lang="en-IN" sz="1400" dirty="0">
                <a:solidFill>
                  <a:srgbClr val="008000"/>
                </a:solidFill>
                <a:effectLst/>
              </a:rPr>
              <a:t> style</a:t>
            </a:r>
            <a:r>
              <a:rPr lang="en-IN" sz="1400" dirty="0">
                <a:solidFill>
                  <a:srgbClr val="005CC5"/>
                </a:solidFill>
                <a:effectLst/>
              </a:rPr>
              <a:t>="width:60px"</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="media-body"</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h4</a:t>
            </a:r>
            <a:r>
              <a:rPr lang="en-IN" sz="1400" dirty="0">
                <a:solidFill>
                  <a:srgbClr val="008000"/>
                </a:solidFill>
                <a:effectLst/>
              </a:rPr>
              <a:t> class</a:t>
            </a:r>
            <a:r>
              <a:rPr lang="en-IN" sz="1400" dirty="0">
                <a:solidFill>
                  <a:srgbClr val="005CC5"/>
                </a:solidFill>
                <a:effectLst/>
              </a:rPr>
              <a:t>="media-heading"</a:t>
            </a:r>
            <a:r>
              <a:rPr lang="en-IN" sz="1400" dirty="0">
                <a:solidFill>
                  <a:srgbClr val="999999"/>
                </a:solidFill>
                <a:effectLst/>
              </a:rPr>
              <a:t>&gt;</a:t>
            </a:r>
            <a:r>
              <a:rPr lang="en-IN" sz="1400" dirty="0"/>
              <a:t>John Doe</a:t>
            </a:r>
            <a:r>
              <a:rPr lang="en-IN" sz="1400" dirty="0">
                <a:solidFill>
                  <a:srgbClr val="999999"/>
                </a:solidFill>
                <a:effectLst/>
              </a:rPr>
              <a:t>&lt;</a:t>
            </a:r>
            <a:r>
              <a:rPr lang="en-IN" sz="1400" dirty="0">
                <a:solidFill>
                  <a:srgbClr val="990055"/>
                </a:solidFill>
                <a:effectLst/>
              </a:rPr>
              <a:t>/h4</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r>
              <a:rPr lang="en-IN" sz="1400" dirty="0"/>
              <a:t>Lorem ipsum...</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br>
              <a:rPr lang="en-IN" sz="1400" dirty="0"/>
            </a:br>
            <a:r>
              <a:rPr lang="en-IN" sz="1400" dirty="0">
                <a:solidFill>
                  <a:srgbClr val="708090"/>
                </a:solidFill>
                <a:effectLst/>
              </a:rPr>
              <a:t>&lt;!-- Right-aligned --&gt;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="media-body"</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h4</a:t>
            </a:r>
            <a:r>
              <a:rPr lang="en-IN" sz="1400" dirty="0">
                <a:solidFill>
                  <a:srgbClr val="008000"/>
                </a:solidFill>
                <a:effectLst/>
              </a:rPr>
              <a:t> class</a:t>
            </a:r>
            <a:r>
              <a:rPr lang="en-IN" sz="1400" dirty="0">
                <a:solidFill>
                  <a:srgbClr val="005CC5"/>
                </a:solidFill>
                <a:effectLst/>
              </a:rPr>
              <a:t>="media-heading"</a:t>
            </a:r>
            <a:r>
              <a:rPr lang="en-IN" sz="1400" dirty="0">
                <a:solidFill>
                  <a:srgbClr val="999999"/>
                </a:solidFill>
                <a:effectLst/>
              </a:rPr>
              <a:t>&gt;</a:t>
            </a:r>
            <a:r>
              <a:rPr lang="en-IN" sz="1400" dirty="0"/>
              <a:t>John Doe</a:t>
            </a:r>
            <a:r>
              <a:rPr lang="en-IN" sz="1400" dirty="0">
                <a:solidFill>
                  <a:srgbClr val="999999"/>
                </a:solidFill>
                <a:effectLst/>
              </a:rPr>
              <a:t>&lt;</a:t>
            </a:r>
            <a:r>
              <a:rPr lang="en-IN" sz="1400" dirty="0">
                <a:solidFill>
                  <a:srgbClr val="990055"/>
                </a:solidFill>
                <a:effectLst/>
              </a:rPr>
              <a:t>/h4</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r>
              <a:rPr lang="en-IN" sz="1400" dirty="0"/>
              <a:t>Lorem ipsum </a:t>
            </a:r>
            <a:r>
              <a:rPr lang="en-IN" sz="1400" dirty="0" err="1"/>
              <a:t>dolor</a:t>
            </a:r>
            <a:r>
              <a:rPr lang="en-IN" sz="1400" dirty="0"/>
              <a:t> sit </a:t>
            </a:r>
            <a:r>
              <a:rPr lang="en-IN" sz="1400" dirty="0" err="1"/>
              <a:t>amet</a:t>
            </a:r>
            <a:r>
              <a:rPr lang="en-IN" sz="1400" dirty="0"/>
              <a:t>, </a:t>
            </a:r>
            <a:r>
              <a:rPr lang="en-IN" sz="1400" dirty="0" err="1"/>
              <a:t>consectetur</a:t>
            </a:r>
            <a:r>
              <a:rPr lang="en-IN" sz="1400" dirty="0"/>
              <a:t> </a:t>
            </a:r>
            <a:r>
              <a:rPr lang="en-IN" sz="1400" dirty="0" err="1"/>
              <a:t>adipiscing</a:t>
            </a:r>
            <a:r>
              <a:rPr lang="en-IN" sz="1400" dirty="0"/>
              <a:t> </a:t>
            </a:r>
            <a:r>
              <a:rPr lang="en-IN" sz="1400" dirty="0" err="1"/>
              <a:t>elit</a:t>
            </a:r>
            <a:r>
              <a:rPr lang="en-IN" sz="1400" dirty="0"/>
              <a:t>, </a:t>
            </a:r>
            <a:r>
              <a:rPr lang="en-IN" sz="1400" dirty="0" err="1"/>
              <a:t>sed</a:t>
            </a:r>
            <a:r>
              <a:rPr lang="en-IN" sz="1400" dirty="0"/>
              <a:t> do </a:t>
            </a:r>
            <a:r>
              <a:rPr lang="en-IN" sz="1400" dirty="0" err="1"/>
              <a:t>eiusmod</a:t>
            </a:r>
            <a:r>
              <a:rPr lang="en-IN" sz="1400" dirty="0"/>
              <a:t> </a:t>
            </a:r>
            <a:r>
              <a:rPr lang="en-IN" sz="1400" dirty="0" err="1"/>
              <a:t>tempor</a:t>
            </a:r>
            <a:r>
              <a:rPr lang="en-IN" sz="1400" dirty="0"/>
              <a:t> </a:t>
            </a:r>
            <a:r>
              <a:rPr lang="en-IN" sz="1400" dirty="0" err="1"/>
              <a:t>incididunt</a:t>
            </a:r>
            <a:r>
              <a:rPr lang="en-IN" sz="1400" dirty="0"/>
              <a:t> </a:t>
            </a:r>
            <a:r>
              <a:rPr lang="en-IN" sz="1400" dirty="0" err="1"/>
              <a:t>ut</a:t>
            </a:r>
            <a:r>
              <a:rPr lang="en-IN" sz="1400" dirty="0"/>
              <a:t> labore et dolore magna </a:t>
            </a:r>
            <a:r>
              <a:rPr lang="en-IN" sz="1400" dirty="0" err="1"/>
              <a:t>aliqua</a:t>
            </a:r>
            <a:r>
              <a:rPr lang="en-IN" sz="1400" dirty="0"/>
              <a:t>.</a:t>
            </a:r>
            <a:r>
              <a:rPr lang="en-IN" sz="1400" dirty="0">
                <a:solidFill>
                  <a:srgbClr val="999999"/>
                </a:solidFill>
                <a:effectLst/>
              </a:rPr>
              <a:t>&lt;</a:t>
            </a:r>
            <a:r>
              <a:rPr lang="en-IN" sz="1400" dirty="0">
                <a:solidFill>
                  <a:srgbClr val="990055"/>
                </a:solidFill>
                <a:effectLst/>
              </a:rPr>
              <a:t>/p</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="media-right"</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="img_avatar1.png"</a:t>
            </a:r>
            <a:r>
              <a:rPr lang="en-IN" sz="1400" dirty="0">
                <a:solidFill>
                  <a:srgbClr val="008000"/>
                </a:solidFill>
                <a:effectLst/>
              </a:rPr>
              <a:t> class</a:t>
            </a:r>
            <a:r>
              <a:rPr lang="en-IN" sz="1400" dirty="0">
                <a:solidFill>
                  <a:srgbClr val="005CC5"/>
                </a:solidFill>
                <a:effectLst/>
              </a:rPr>
              <a:t>="media-object"</a:t>
            </a:r>
            <a:r>
              <a:rPr lang="en-IN" sz="1400" dirty="0">
                <a:solidFill>
                  <a:srgbClr val="008000"/>
                </a:solidFill>
                <a:effectLst/>
              </a:rPr>
              <a:t> style</a:t>
            </a:r>
            <a:r>
              <a:rPr lang="en-IN" sz="1400" dirty="0">
                <a:solidFill>
                  <a:srgbClr val="005CC5"/>
                </a:solidFill>
                <a:effectLst/>
              </a:rPr>
              <a:t>="width:60px"</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endParaRPr lang="en-IN" sz="1400" dirty="0"/>
          </a:p>
        </p:txBody>
      </p:sp>
    </p:spTree>
    <p:extLst>
      <p:ext uri="{BB962C8B-B14F-4D97-AF65-F5344CB8AC3E}">
        <p14:creationId xmlns:p14="http://schemas.microsoft.com/office/powerpoint/2010/main" val="80426355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CD7EF-DCF6-E834-B57C-5BC7BC5007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0BDBD7-5B7F-73A8-34AE-35AC4FED73DE}"/>
              </a:ext>
            </a:extLst>
          </p:cNvPr>
          <p:cNvSpPr txBox="1"/>
          <p:nvPr/>
        </p:nvSpPr>
        <p:spPr>
          <a:xfrm>
            <a:off x="528918" y="421341"/>
            <a:ext cx="11143129" cy="3847207"/>
          </a:xfrm>
          <a:prstGeom prst="rect">
            <a:avLst/>
          </a:prstGeom>
          <a:noFill/>
        </p:spPr>
        <p:txBody>
          <a:bodyPr wrap="square" rtlCol="0">
            <a:spAutoFit/>
          </a:bodyPr>
          <a:lstStyle/>
          <a:p>
            <a:r>
              <a:rPr lang="en-US" sz="2400" b="1" dirty="0"/>
              <a:t>Top, Middle or Bottom Alignment</a:t>
            </a:r>
            <a:endParaRPr lang="en-US" sz="2400" dirty="0"/>
          </a:p>
          <a:p>
            <a:endParaRPr lang="en-US" sz="2000" dirty="0"/>
          </a:p>
          <a:p>
            <a:pPr lvl="1"/>
            <a:r>
              <a:rPr lang="en-IN" sz="1600" dirty="0">
                <a:solidFill>
                  <a:srgbClr val="708090"/>
                </a:solidFill>
                <a:effectLst/>
              </a:rPr>
              <a:t>&lt;!-- Media middle --&gt;</a:t>
            </a:r>
            <a:br>
              <a:rPr lang="en-IN" sz="1600" dirty="0"/>
            </a:b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="media"</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="media-left media-middle"</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err="1">
                <a:solidFill>
                  <a:srgbClr val="990055"/>
                </a:solidFill>
                <a:effectLst/>
              </a:rPr>
              <a:t>img</a:t>
            </a:r>
            <a:r>
              <a:rPr lang="en-IN" sz="1600" dirty="0">
                <a:solidFill>
                  <a:srgbClr val="008000"/>
                </a:solidFill>
                <a:effectLst/>
              </a:rPr>
              <a:t> </a:t>
            </a:r>
            <a:r>
              <a:rPr lang="en-IN" sz="1600" dirty="0" err="1">
                <a:solidFill>
                  <a:srgbClr val="008000"/>
                </a:solidFill>
                <a:effectLst/>
              </a:rPr>
              <a:t>src</a:t>
            </a:r>
            <a:r>
              <a:rPr lang="en-IN" sz="1600" dirty="0">
                <a:solidFill>
                  <a:srgbClr val="005CC5"/>
                </a:solidFill>
                <a:effectLst/>
              </a:rPr>
              <a:t>="img_avatar1.png"</a:t>
            </a:r>
            <a:r>
              <a:rPr lang="en-IN" sz="1600" dirty="0">
                <a:solidFill>
                  <a:srgbClr val="008000"/>
                </a:solidFill>
                <a:effectLst/>
              </a:rPr>
              <a:t> class</a:t>
            </a:r>
            <a:r>
              <a:rPr lang="en-IN" sz="1600" dirty="0">
                <a:solidFill>
                  <a:srgbClr val="005CC5"/>
                </a:solidFill>
                <a:effectLst/>
              </a:rPr>
              <a:t>="media-object"</a:t>
            </a:r>
            <a:r>
              <a:rPr lang="en-IN" sz="1600" dirty="0">
                <a:solidFill>
                  <a:srgbClr val="008000"/>
                </a:solidFill>
                <a:effectLst/>
              </a:rPr>
              <a:t> style</a:t>
            </a:r>
            <a:r>
              <a:rPr lang="en-IN" sz="1600" dirty="0">
                <a:solidFill>
                  <a:srgbClr val="005CC5"/>
                </a:solidFill>
                <a:effectLst/>
              </a:rPr>
              <a:t>="width:60px"</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008000"/>
                </a:solidFill>
                <a:effectLst/>
              </a:rPr>
              <a:t> class</a:t>
            </a:r>
            <a:r>
              <a:rPr lang="en-IN" sz="1600" dirty="0">
                <a:solidFill>
                  <a:srgbClr val="005CC5"/>
                </a:solidFill>
                <a:effectLst/>
              </a:rPr>
              <a:t>="media-body"</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h4</a:t>
            </a:r>
            <a:r>
              <a:rPr lang="en-IN" sz="1600" dirty="0">
                <a:solidFill>
                  <a:srgbClr val="008000"/>
                </a:solidFill>
                <a:effectLst/>
              </a:rPr>
              <a:t> class</a:t>
            </a:r>
            <a:r>
              <a:rPr lang="en-IN" sz="1600" dirty="0">
                <a:solidFill>
                  <a:srgbClr val="005CC5"/>
                </a:solidFill>
                <a:effectLst/>
              </a:rPr>
              <a:t>="media-heading"</a:t>
            </a:r>
            <a:r>
              <a:rPr lang="en-IN" sz="1600" dirty="0">
                <a:solidFill>
                  <a:srgbClr val="999999"/>
                </a:solidFill>
                <a:effectLst/>
              </a:rPr>
              <a:t>&gt;</a:t>
            </a:r>
            <a:r>
              <a:rPr lang="en-IN" sz="1600" dirty="0"/>
              <a:t>Media Middle</a:t>
            </a:r>
            <a:r>
              <a:rPr lang="en-IN" sz="1600" dirty="0">
                <a:solidFill>
                  <a:srgbClr val="999999"/>
                </a:solidFill>
                <a:effectLst/>
              </a:rPr>
              <a:t>&lt;</a:t>
            </a:r>
            <a:r>
              <a:rPr lang="en-IN" sz="1600" dirty="0">
                <a:solidFill>
                  <a:srgbClr val="990055"/>
                </a:solidFill>
                <a:effectLst/>
              </a:rPr>
              <a:t>/h4</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p</a:t>
            </a:r>
            <a:r>
              <a:rPr lang="en-IN" sz="1600" dirty="0">
                <a:solidFill>
                  <a:srgbClr val="999999"/>
                </a:solidFill>
                <a:effectLst/>
              </a:rPr>
              <a:t>&gt;</a:t>
            </a:r>
            <a:r>
              <a:rPr lang="en-IN" sz="1600" dirty="0"/>
              <a:t>Lorem ipsum...</a:t>
            </a:r>
            <a:r>
              <a:rPr lang="en-IN" sz="1600" dirty="0">
                <a:solidFill>
                  <a:srgbClr val="999999"/>
                </a:solidFill>
                <a:effectLst/>
              </a:rPr>
              <a:t>&lt;</a:t>
            </a:r>
            <a:r>
              <a:rPr lang="en-IN" sz="1600" dirty="0">
                <a:solidFill>
                  <a:srgbClr val="990055"/>
                </a:solidFill>
                <a:effectLst/>
              </a:rPr>
              <a:t>/p</a:t>
            </a:r>
            <a:r>
              <a:rPr lang="en-IN" sz="1600" dirty="0">
                <a:solidFill>
                  <a:srgbClr val="999999"/>
                </a:solidFill>
                <a:effectLst/>
              </a:rPr>
              <a:t>&gt;</a:t>
            </a:r>
            <a:br>
              <a:rPr lang="en-IN" sz="1600" dirty="0"/>
            </a:br>
            <a:r>
              <a:rPr lang="en-IN" sz="1600" dirty="0"/>
              <a:t>  </a:t>
            </a: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br>
              <a:rPr lang="en-IN" sz="1600" dirty="0"/>
            </a:br>
            <a:r>
              <a:rPr lang="en-IN" sz="1600" dirty="0">
                <a:solidFill>
                  <a:srgbClr val="999999"/>
                </a:solidFill>
                <a:effectLst/>
              </a:rPr>
              <a:t>&lt;</a:t>
            </a:r>
            <a:r>
              <a:rPr lang="en-IN" sz="1600" dirty="0">
                <a:solidFill>
                  <a:srgbClr val="990055"/>
                </a:solidFill>
                <a:effectLst/>
              </a:rPr>
              <a:t>/div</a:t>
            </a:r>
            <a:r>
              <a:rPr lang="en-IN" sz="1600" dirty="0">
                <a:solidFill>
                  <a:srgbClr val="999999"/>
                </a:solidFill>
                <a:effectLst/>
              </a:rPr>
              <a:t>&gt;</a:t>
            </a:r>
            <a:endParaRPr lang="en-US" sz="1600" dirty="0"/>
          </a:p>
          <a:p>
            <a:endParaRPr lang="en-US" sz="2000" dirty="0"/>
          </a:p>
          <a:p>
            <a:endParaRPr lang="en-IN" sz="2000" dirty="0"/>
          </a:p>
        </p:txBody>
      </p:sp>
      <p:pic>
        <p:nvPicPr>
          <p:cNvPr id="4" name="Picture 3">
            <a:extLst>
              <a:ext uri="{FF2B5EF4-FFF2-40B4-BE49-F238E27FC236}">
                <a16:creationId xmlns:a16="http://schemas.microsoft.com/office/drawing/2014/main" id="{12B1180B-3FA7-0BF5-3546-AF34A8CB9D36}"/>
              </a:ext>
            </a:extLst>
          </p:cNvPr>
          <p:cNvPicPr>
            <a:picLocks noChangeAspect="1"/>
          </p:cNvPicPr>
          <p:nvPr/>
        </p:nvPicPr>
        <p:blipFill>
          <a:blip r:embed="rId2"/>
          <a:stretch>
            <a:fillRect/>
          </a:stretch>
        </p:blipFill>
        <p:spPr>
          <a:xfrm>
            <a:off x="1122837" y="3962759"/>
            <a:ext cx="8032549" cy="1936017"/>
          </a:xfrm>
          <a:prstGeom prst="rect">
            <a:avLst/>
          </a:prstGeom>
        </p:spPr>
      </p:pic>
    </p:spTree>
    <p:extLst>
      <p:ext uri="{BB962C8B-B14F-4D97-AF65-F5344CB8AC3E}">
        <p14:creationId xmlns:p14="http://schemas.microsoft.com/office/powerpoint/2010/main" val="350927248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321B-8927-5267-CD13-910A7F7BA1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F344FD-CEC5-9D77-17E8-7CEE0D515ECD}"/>
              </a:ext>
            </a:extLst>
          </p:cNvPr>
          <p:cNvSpPr txBox="1"/>
          <p:nvPr/>
        </p:nvSpPr>
        <p:spPr>
          <a:xfrm>
            <a:off x="528918" y="421341"/>
            <a:ext cx="11143129" cy="6124754"/>
          </a:xfrm>
          <a:prstGeom prst="rect">
            <a:avLst/>
          </a:prstGeom>
          <a:noFill/>
        </p:spPr>
        <p:txBody>
          <a:bodyPr wrap="square" rtlCol="0">
            <a:spAutoFit/>
          </a:bodyPr>
          <a:lstStyle/>
          <a:p>
            <a:r>
              <a:rPr lang="en-IN" sz="2400" b="1" dirty="0"/>
              <a:t>Bootstrap 5 Carousel</a:t>
            </a:r>
            <a:endParaRPr lang="en-US" sz="2400" dirty="0"/>
          </a:p>
          <a:p>
            <a:endParaRPr lang="en-US" sz="2000" dirty="0"/>
          </a:p>
          <a:p>
            <a:pPr marL="342900" indent="-342900">
              <a:buFont typeface="Arial" panose="020B0604020202020204" pitchFamily="34" charset="0"/>
              <a:buChar char="•"/>
            </a:pPr>
            <a:r>
              <a:rPr lang="en-US" sz="2000" dirty="0"/>
              <a:t>The Carousel is a slideshow for cycling through elements</a:t>
            </a:r>
          </a:p>
          <a:p>
            <a:pPr lvl="1"/>
            <a:r>
              <a:rPr lang="en-IN" sz="1400" dirty="0">
                <a:solidFill>
                  <a:srgbClr val="708090"/>
                </a:solidFill>
                <a:effectLst/>
              </a:rPr>
              <a:t>&lt;!-- Carousel --&gt;</a:t>
            </a:r>
            <a:br>
              <a:rPr lang="en-IN" sz="1400" dirty="0"/>
            </a:b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id</a:t>
            </a:r>
            <a:r>
              <a:rPr lang="en-IN" sz="1400" dirty="0">
                <a:solidFill>
                  <a:srgbClr val="005CC5"/>
                </a:solidFill>
                <a:effectLst/>
              </a:rPr>
              <a:t>="demo"</a:t>
            </a:r>
            <a:r>
              <a:rPr lang="en-IN" sz="1400" dirty="0">
                <a:solidFill>
                  <a:srgbClr val="008000"/>
                </a:solidFill>
                <a:effectLst/>
              </a:rPr>
              <a:t> class</a:t>
            </a:r>
            <a:r>
              <a:rPr lang="en-IN" sz="1400" dirty="0">
                <a:solidFill>
                  <a:srgbClr val="005CC5"/>
                </a:solidFill>
                <a:effectLst/>
              </a:rPr>
              <a:t>="carousel slide"</a:t>
            </a:r>
            <a:r>
              <a:rPr lang="en-IN" sz="1400" dirty="0">
                <a:solidFill>
                  <a:srgbClr val="008000"/>
                </a:solidFill>
                <a:effectLst/>
              </a:rPr>
              <a:t> data-bs-ride</a:t>
            </a:r>
            <a:r>
              <a:rPr lang="en-IN" sz="1400" dirty="0">
                <a:solidFill>
                  <a:srgbClr val="005CC5"/>
                </a:solidFill>
                <a:effectLst/>
              </a:rPr>
              <a:t>="carousel"</a:t>
            </a:r>
            <a:r>
              <a:rPr lang="en-IN" sz="1400" dirty="0">
                <a:solidFill>
                  <a:srgbClr val="999999"/>
                </a:solidFill>
                <a:effectLst/>
              </a:rPr>
              <a:t>&gt;</a:t>
            </a:r>
            <a:br>
              <a:rPr lang="en-IN" sz="1400" dirty="0"/>
            </a:br>
            <a:br>
              <a:rPr lang="en-IN" sz="1400" dirty="0"/>
            </a:br>
            <a:r>
              <a:rPr lang="en-IN" sz="1400" dirty="0"/>
              <a:t>  </a:t>
            </a:r>
            <a:r>
              <a:rPr lang="en-IN" sz="1400" dirty="0">
                <a:solidFill>
                  <a:srgbClr val="708090"/>
                </a:solidFill>
                <a:effectLst/>
              </a:rPr>
              <a:t>&lt;!-- Indicators/dots --&gt;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="carousel-indicators"</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button</a:t>
            </a:r>
            <a:r>
              <a:rPr lang="en-IN" sz="1400" dirty="0">
                <a:solidFill>
                  <a:srgbClr val="008000"/>
                </a:solidFill>
                <a:effectLst/>
              </a:rPr>
              <a:t> type</a:t>
            </a:r>
            <a:r>
              <a:rPr lang="en-IN" sz="1400" dirty="0">
                <a:solidFill>
                  <a:srgbClr val="005CC5"/>
                </a:solidFill>
                <a:effectLst/>
              </a:rPr>
              <a:t>="button"</a:t>
            </a:r>
            <a:r>
              <a:rPr lang="en-IN" sz="1400" dirty="0">
                <a:solidFill>
                  <a:srgbClr val="008000"/>
                </a:solidFill>
                <a:effectLst/>
              </a:rPr>
              <a:t> data-bs-target</a:t>
            </a:r>
            <a:r>
              <a:rPr lang="en-IN" sz="1400" dirty="0">
                <a:solidFill>
                  <a:srgbClr val="005CC5"/>
                </a:solidFill>
                <a:effectLst/>
              </a:rPr>
              <a:t>="#demo"</a:t>
            </a:r>
            <a:r>
              <a:rPr lang="en-IN" sz="1400" dirty="0">
                <a:solidFill>
                  <a:srgbClr val="008000"/>
                </a:solidFill>
                <a:effectLst/>
              </a:rPr>
              <a:t> data-bs-slide-to</a:t>
            </a:r>
            <a:r>
              <a:rPr lang="en-IN" sz="1400" dirty="0">
                <a:solidFill>
                  <a:srgbClr val="005CC5"/>
                </a:solidFill>
                <a:effectLst/>
              </a:rPr>
              <a:t>="0"</a:t>
            </a:r>
            <a:r>
              <a:rPr lang="en-IN" sz="1400" dirty="0">
                <a:solidFill>
                  <a:srgbClr val="008000"/>
                </a:solidFill>
                <a:effectLst/>
              </a:rPr>
              <a:t> class</a:t>
            </a:r>
            <a:r>
              <a:rPr lang="en-IN" sz="1400" dirty="0">
                <a:solidFill>
                  <a:srgbClr val="005CC5"/>
                </a:solidFill>
                <a:effectLst/>
              </a:rPr>
              <a:t>="active"</a:t>
            </a:r>
            <a:r>
              <a:rPr lang="en-IN" sz="1400" dirty="0">
                <a:solidFill>
                  <a:srgbClr val="999999"/>
                </a:solidFill>
                <a:effectLst/>
              </a:rPr>
              <a:t>&gt;&lt;</a:t>
            </a:r>
            <a:r>
              <a:rPr lang="en-IN" sz="1400" dirty="0">
                <a:solidFill>
                  <a:srgbClr val="990055"/>
                </a:solidFill>
                <a:effectLst/>
              </a:rPr>
              <a:t>/button</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button</a:t>
            </a:r>
            <a:r>
              <a:rPr lang="en-IN" sz="1400" dirty="0">
                <a:solidFill>
                  <a:srgbClr val="008000"/>
                </a:solidFill>
                <a:effectLst/>
              </a:rPr>
              <a:t> type</a:t>
            </a:r>
            <a:r>
              <a:rPr lang="en-IN" sz="1400" dirty="0">
                <a:solidFill>
                  <a:srgbClr val="005CC5"/>
                </a:solidFill>
                <a:effectLst/>
              </a:rPr>
              <a:t>="button"</a:t>
            </a:r>
            <a:r>
              <a:rPr lang="en-IN" sz="1400" dirty="0">
                <a:solidFill>
                  <a:srgbClr val="008000"/>
                </a:solidFill>
                <a:effectLst/>
              </a:rPr>
              <a:t> data-bs-target</a:t>
            </a:r>
            <a:r>
              <a:rPr lang="en-IN" sz="1400" dirty="0">
                <a:solidFill>
                  <a:srgbClr val="005CC5"/>
                </a:solidFill>
                <a:effectLst/>
              </a:rPr>
              <a:t>="#demo"</a:t>
            </a:r>
            <a:r>
              <a:rPr lang="en-IN" sz="1400" dirty="0">
                <a:solidFill>
                  <a:srgbClr val="008000"/>
                </a:solidFill>
                <a:effectLst/>
              </a:rPr>
              <a:t> data-bs-slide-to</a:t>
            </a:r>
            <a:r>
              <a:rPr lang="en-IN" sz="1400" dirty="0">
                <a:solidFill>
                  <a:srgbClr val="005CC5"/>
                </a:solidFill>
                <a:effectLst/>
              </a:rPr>
              <a:t>="1"</a:t>
            </a:r>
            <a:r>
              <a:rPr lang="en-IN" sz="1400" dirty="0">
                <a:solidFill>
                  <a:srgbClr val="999999"/>
                </a:solidFill>
                <a:effectLst/>
              </a:rPr>
              <a:t>&gt;&lt;</a:t>
            </a:r>
            <a:r>
              <a:rPr lang="en-IN" sz="1400" dirty="0">
                <a:solidFill>
                  <a:srgbClr val="990055"/>
                </a:solidFill>
                <a:effectLst/>
              </a:rPr>
              <a:t>/button</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button</a:t>
            </a:r>
            <a:r>
              <a:rPr lang="en-IN" sz="1400" dirty="0">
                <a:solidFill>
                  <a:srgbClr val="008000"/>
                </a:solidFill>
                <a:effectLst/>
              </a:rPr>
              <a:t> type</a:t>
            </a:r>
            <a:r>
              <a:rPr lang="en-IN" sz="1400" dirty="0">
                <a:solidFill>
                  <a:srgbClr val="005CC5"/>
                </a:solidFill>
                <a:effectLst/>
              </a:rPr>
              <a:t>="button"</a:t>
            </a:r>
            <a:r>
              <a:rPr lang="en-IN" sz="1400" dirty="0">
                <a:solidFill>
                  <a:srgbClr val="008000"/>
                </a:solidFill>
                <a:effectLst/>
              </a:rPr>
              <a:t> data-bs-target</a:t>
            </a:r>
            <a:r>
              <a:rPr lang="en-IN" sz="1400" dirty="0">
                <a:solidFill>
                  <a:srgbClr val="005CC5"/>
                </a:solidFill>
                <a:effectLst/>
              </a:rPr>
              <a:t>="#demo"</a:t>
            </a:r>
            <a:r>
              <a:rPr lang="en-IN" sz="1400" dirty="0">
                <a:solidFill>
                  <a:srgbClr val="008000"/>
                </a:solidFill>
                <a:effectLst/>
              </a:rPr>
              <a:t> data-bs-slide-to</a:t>
            </a:r>
            <a:r>
              <a:rPr lang="en-IN" sz="1400" dirty="0">
                <a:solidFill>
                  <a:srgbClr val="005CC5"/>
                </a:solidFill>
                <a:effectLst/>
              </a:rPr>
              <a:t>="2"</a:t>
            </a:r>
            <a:r>
              <a:rPr lang="en-IN" sz="1400" dirty="0">
                <a:solidFill>
                  <a:srgbClr val="999999"/>
                </a:solidFill>
                <a:effectLst/>
              </a:rPr>
              <a:t>&gt;&lt;</a:t>
            </a:r>
            <a:r>
              <a:rPr lang="en-IN" sz="1400" dirty="0">
                <a:solidFill>
                  <a:srgbClr val="990055"/>
                </a:solidFill>
                <a:effectLst/>
              </a:rPr>
              <a:t>/button</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br>
              <a:rPr lang="en-IN" sz="1400" dirty="0"/>
            </a:br>
            <a:r>
              <a:rPr lang="en-IN" sz="1400" dirty="0"/>
              <a:t>  </a:t>
            </a:r>
            <a:r>
              <a:rPr lang="en-IN" sz="1400" dirty="0">
                <a:solidFill>
                  <a:srgbClr val="708090"/>
                </a:solidFill>
                <a:effectLst/>
              </a:rPr>
              <a:t>&lt;!-- The slideshow/carousel --&gt;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="carousel-inner"</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="carousel-item active"</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="la.jpg"</a:t>
            </a:r>
            <a:r>
              <a:rPr lang="en-IN" sz="1400" dirty="0">
                <a:solidFill>
                  <a:srgbClr val="008000"/>
                </a:solidFill>
                <a:effectLst/>
              </a:rPr>
              <a:t> alt</a:t>
            </a:r>
            <a:r>
              <a:rPr lang="en-IN" sz="1400" dirty="0">
                <a:solidFill>
                  <a:srgbClr val="005CC5"/>
                </a:solidFill>
                <a:effectLst/>
              </a:rPr>
              <a:t>="Los Angeles"</a:t>
            </a:r>
            <a:r>
              <a:rPr lang="en-IN" sz="1400" dirty="0">
                <a:solidFill>
                  <a:srgbClr val="008000"/>
                </a:solidFill>
                <a:effectLst/>
              </a:rPr>
              <a:t> class</a:t>
            </a:r>
            <a:r>
              <a:rPr lang="en-IN" sz="1400" dirty="0">
                <a:solidFill>
                  <a:srgbClr val="005CC5"/>
                </a:solidFill>
                <a:effectLst/>
              </a:rPr>
              <a:t>="d-block w-100"</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="carousel-item"</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="chicago.jpg"</a:t>
            </a:r>
            <a:r>
              <a:rPr lang="en-IN" sz="1400" dirty="0">
                <a:solidFill>
                  <a:srgbClr val="008000"/>
                </a:solidFill>
                <a:effectLst/>
              </a:rPr>
              <a:t> alt</a:t>
            </a:r>
            <a:r>
              <a:rPr lang="en-IN" sz="1400" dirty="0">
                <a:solidFill>
                  <a:srgbClr val="005CC5"/>
                </a:solidFill>
                <a:effectLst/>
              </a:rPr>
              <a:t>="Chicago"</a:t>
            </a:r>
            <a:r>
              <a:rPr lang="en-IN" sz="1400" dirty="0">
                <a:solidFill>
                  <a:srgbClr val="008000"/>
                </a:solidFill>
                <a:effectLst/>
              </a:rPr>
              <a:t> class</a:t>
            </a:r>
            <a:r>
              <a:rPr lang="en-IN" sz="1400" dirty="0">
                <a:solidFill>
                  <a:srgbClr val="005CC5"/>
                </a:solidFill>
                <a:effectLst/>
              </a:rPr>
              <a:t>="d-block w-100"</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008000"/>
                </a:solidFill>
                <a:effectLst/>
              </a:rPr>
              <a:t> class</a:t>
            </a:r>
            <a:r>
              <a:rPr lang="en-IN" sz="1400" dirty="0">
                <a:solidFill>
                  <a:srgbClr val="005CC5"/>
                </a:solidFill>
                <a:effectLst/>
              </a:rPr>
              <a:t>="carousel-item"</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err="1">
                <a:solidFill>
                  <a:srgbClr val="990055"/>
                </a:solidFill>
                <a:effectLst/>
              </a:rPr>
              <a:t>img</a:t>
            </a:r>
            <a:r>
              <a:rPr lang="en-IN" sz="1400" dirty="0">
                <a:solidFill>
                  <a:srgbClr val="008000"/>
                </a:solidFill>
                <a:effectLst/>
              </a:rPr>
              <a:t> </a:t>
            </a:r>
            <a:r>
              <a:rPr lang="en-IN" sz="1400" dirty="0" err="1">
                <a:solidFill>
                  <a:srgbClr val="008000"/>
                </a:solidFill>
                <a:effectLst/>
              </a:rPr>
              <a:t>src</a:t>
            </a:r>
            <a:r>
              <a:rPr lang="en-IN" sz="1400" dirty="0">
                <a:solidFill>
                  <a:srgbClr val="005CC5"/>
                </a:solidFill>
                <a:effectLst/>
              </a:rPr>
              <a:t>="ny.jpg"</a:t>
            </a:r>
            <a:r>
              <a:rPr lang="en-IN" sz="1400" dirty="0">
                <a:solidFill>
                  <a:srgbClr val="008000"/>
                </a:solidFill>
                <a:effectLst/>
              </a:rPr>
              <a:t> alt</a:t>
            </a:r>
            <a:r>
              <a:rPr lang="en-IN" sz="1400" dirty="0">
                <a:solidFill>
                  <a:srgbClr val="005CC5"/>
                </a:solidFill>
                <a:effectLst/>
              </a:rPr>
              <a:t>="New York"</a:t>
            </a:r>
            <a:r>
              <a:rPr lang="en-IN" sz="1400" dirty="0">
                <a:solidFill>
                  <a:srgbClr val="008000"/>
                </a:solidFill>
                <a:effectLst/>
              </a:rPr>
              <a:t> class</a:t>
            </a:r>
            <a:r>
              <a:rPr lang="en-IN" sz="1400" dirty="0">
                <a:solidFill>
                  <a:srgbClr val="005CC5"/>
                </a:solidFill>
                <a:effectLst/>
              </a:rPr>
              <a:t>="d-block w-100"</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400" dirty="0"/>
            </a:br>
            <a:r>
              <a:rPr lang="en-IN" sz="1400" dirty="0"/>
              <a:t>  </a:t>
            </a:r>
            <a:r>
              <a:rPr lang="en-IN" sz="1400" dirty="0">
                <a:solidFill>
                  <a:srgbClr val="999999"/>
                </a:solidFill>
                <a:effectLst/>
              </a:rPr>
              <a:t>&lt;</a:t>
            </a:r>
            <a:r>
              <a:rPr lang="en-IN" sz="1400" dirty="0">
                <a:solidFill>
                  <a:srgbClr val="990055"/>
                </a:solidFill>
                <a:effectLst/>
              </a:rPr>
              <a:t>/div</a:t>
            </a:r>
            <a:r>
              <a:rPr lang="en-IN" sz="1400" dirty="0">
                <a:solidFill>
                  <a:srgbClr val="999999"/>
                </a:solidFill>
                <a:effectLst/>
              </a:rPr>
              <a:t>&gt;</a:t>
            </a:r>
            <a:br>
              <a:rPr lang="en-IN" sz="1000" dirty="0"/>
            </a:br>
            <a:br>
              <a:rPr lang="en-IN" sz="1000" dirty="0"/>
            </a:br>
            <a:endParaRPr lang="en-IN" sz="1000" dirty="0"/>
          </a:p>
        </p:txBody>
      </p:sp>
    </p:spTree>
    <p:extLst>
      <p:ext uri="{BB962C8B-B14F-4D97-AF65-F5344CB8AC3E}">
        <p14:creationId xmlns:p14="http://schemas.microsoft.com/office/powerpoint/2010/main" val="17886917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C090F-22AB-F7D9-2808-160752FCEC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BDEB2D-1F8E-4C22-170D-4D476F2A2CB0}"/>
              </a:ext>
            </a:extLst>
          </p:cNvPr>
          <p:cNvSpPr txBox="1"/>
          <p:nvPr/>
        </p:nvSpPr>
        <p:spPr>
          <a:xfrm>
            <a:off x="528918" y="421341"/>
            <a:ext cx="11143129" cy="3108543"/>
          </a:xfrm>
          <a:prstGeom prst="rect">
            <a:avLst/>
          </a:prstGeom>
          <a:noFill/>
        </p:spPr>
        <p:txBody>
          <a:bodyPr wrap="square" rtlCol="0">
            <a:spAutoFit/>
          </a:bodyPr>
          <a:lstStyle/>
          <a:p>
            <a:r>
              <a:rPr lang="en-US" sz="2400" dirty="0"/>
              <a:t>Continued…</a:t>
            </a:r>
          </a:p>
          <a:p>
            <a:endParaRPr lang="en-US" sz="2000" dirty="0"/>
          </a:p>
          <a:p>
            <a:pPr lvl="1"/>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708090"/>
                </a:solidFill>
                <a:effectLst/>
                <a:uLnTx/>
                <a:uFillTx/>
                <a:latin typeface="Franklin Gothic Book" panose="020F0502020204030204"/>
                <a:ea typeface="+mn-ea"/>
                <a:cs typeface="+mn-cs"/>
              </a:rPr>
              <a:t>&lt;!-- Left and right controls/icons --&gt;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a:t>
            </a:r>
            <a:r>
              <a:rPr kumimoji="0" lang="en-IN" sz="1400" b="0" i="0" u="none" strike="noStrike" kern="1200" cap="none" spc="0" normalizeH="0" baseline="0" noProof="0" dirty="0" err="1">
                <a:ln>
                  <a:noFill/>
                </a:ln>
                <a:solidFill>
                  <a:srgbClr val="005CC5"/>
                </a:solidFill>
                <a:effectLst/>
                <a:uLnTx/>
                <a:uFillTx/>
                <a:latin typeface="Franklin Gothic Book" panose="020F0502020204030204"/>
                <a:ea typeface="+mn-ea"/>
                <a:cs typeface="+mn-cs"/>
              </a:rPr>
              <a:t>prev</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type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data-bs-target</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="#demo"</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data-bs-slide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a:t>
            </a:r>
            <a:r>
              <a:rPr kumimoji="0" lang="en-IN" sz="1400" b="0" i="0" u="none" strike="noStrike" kern="1200" cap="none" spc="0" normalizeH="0" baseline="0" noProof="0" dirty="0" err="1">
                <a:ln>
                  <a:noFill/>
                </a:ln>
                <a:solidFill>
                  <a:srgbClr val="005CC5"/>
                </a:solidFill>
                <a:effectLst/>
                <a:uLnTx/>
                <a:uFillTx/>
                <a:latin typeface="Franklin Gothic Book" panose="020F0502020204030204"/>
                <a:ea typeface="+mn-ea"/>
                <a:cs typeface="+mn-cs"/>
              </a:rPr>
              <a:t>prev</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a:t>
            </a:r>
            <a:r>
              <a:rPr kumimoji="0" lang="en-IN" sz="1400" b="0" i="0" u="none" strike="noStrike" kern="1200" cap="none" spc="0" normalizeH="0" baseline="0" noProof="0" dirty="0" err="1">
                <a:ln>
                  <a:noFill/>
                </a:ln>
                <a:solidFill>
                  <a:srgbClr val="005CC5"/>
                </a:solidFill>
                <a:effectLst/>
                <a:uLnTx/>
                <a:uFillTx/>
                <a:latin typeface="Franklin Gothic Book" panose="020F0502020204030204"/>
                <a:ea typeface="+mn-ea"/>
                <a:cs typeface="+mn-cs"/>
              </a:rPr>
              <a:t>prev</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-icon"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="carousel-control-next"</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type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data-bs-target</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="#demo"</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data-bs-slide</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="next"</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008000"/>
                </a:solidFill>
                <a:effectLst/>
                <a:uLnTx/>
                <a:uFillTx/>
                <a:latin typeface="Franklin Gothic Book" panose="020F0502020204030204"/>
                <a:ea typeface="+mn-ea"/>
                <a:cs typeface="+mn-cs"/>
              </a:rPr>
              <a:t> class</a:t>
            </a:r>
            <a:r>
              <a:rPr kumimoji="0" lang="en-IN" sz="1400" b="0" i="0" u="none" strike="noStrike" kern="1200" cap="none" spc="0" normalizeH="0" baseline="0" noProof="0" dirty="0">
                <a:ln>
                  <a:noFill/>
                </a:ln>
                <a:solidFill>
                  <a:srgbClr val="005CC5"/>
                </a:solidFill>
                <a:effectLst/>
                <a:uLnTx/>
                <a:uFillTx/>
                <a:latin typeface="Franklin Gothic Book" panose="020F0502020204030204"/>
                <a:ea typeface="+mn-ea"/>
                <a:cs typeface="+mn-cs"/>
              </a:rPr>
              <a:t>="carousel-control-next-icon"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/span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/button</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br>
              <a:rPr kumimoji="0" lang="en-IN" sz="1400" b="0" i="0" u="none" strike="noStrike" kern="1200" cap="none" spc="0" normalizeH="0" baseline="0" noProof="0" dirty="0">
                <a:ln>
                  <a:noFill/>
                </a:ln>
                <a:solidFill>
                  <a:srgbClr val="000000"/>
                </a:solidFill>
                <a:effectLst/>
                <a:uLnTx/>
                <a:uFillTx/>
                <a:latin typeface="Franklin Gothic Book" panose="020F0502020204030204"/>
                <a:ea typeface="+mn-ea"/>
                <a:cs typeface="+mn-cs"/>
              </a:rPr>
            </a:b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&lt;</a:t>
            </a:r>
            <a:r>
              <a:rPr kumimoji="0" lang="en-IN" sz="1400" b="0" i="0" u="none" strike="noStrike" kern="1200" cap="none" spc="0" normalizeH="0" baseline="0" noProof="0" dirty="0">
                <a:ln>
                  <a:noFill/>
                </a:ln>
                <a:solidFill>
                  <a:srgbClr val="990055"/>
                </a:solidFill>
                <a:effectLst/>
                <a:uLnTx/>
                <a:uFillTx/>
                <a:latin typeface="Franklin Gothic Book" panose="020F0502020204030204"/>
                <a:ea typeface="+mn-ea"/>
                <a:cs typeface="+mn-cs"/>
              </a:rPr>
              <a:t>/div</a:t>
            </a:r>
            <a:r>
              <a:rPr kumimoji="0" lang="en-IN" sz="1400" b="0" i="0" u="none" strike="noStrike" kern="1200" cap="none" spc="0" normalizeH="0" baseline="0" noProof="0" dirty="0">
                <a:ln>
                  <a:noFill/>
                </a:ln>
                <a:solidFill>
                  <a:srgbClr val="999999"/>
                </a:solidFill>
                <a:effectLst/>
                <a:uLnTx/>
                <a:uFillTx/>
                <a:latin typeface="Franklin Gothic Book" panose="020F0502020204030204"/>
                <a:ea typeface="+mn-ea"/>
                <a:cs typeface="+mn-cs"/>
              </a:rPr>
              <a:t>&gt;</a:t>
            </a:r>
            <a:endParaRPr lang="en-US" sz="3600" dirty="0"/>
          </a:p>
          <a:p>
            <a:endParaRPr lang="en-US" sz="2000" dirty="0"/>
          </a:p>
          <a:p>
            <a:endParaRPr lang="en-IN" sz="2000" dirty="0"/>
          </a:p>
        </p:txBody>
      </p:sp>
      <p:pic>
        <p:nvPicPr>
          <p:cNvPr id="4" name="Picture 3">
            <a:extLst>
              <a:ext uri="{FF2B5EF4-FFF2-40B4-BE49-F238E27FC236}">
                <a16:creationId xmlns:a16="http://schemas.microsoft.com/office/drawing/2014/main" id="{D68E1863-005A-DE05-86C5-BCF50255579D}"/>
              </a:ext>
            </a:extLst>
          </p:cNvPr>
          <p:cNvPicPr>
            <a:picLocks noChangeAspect="1"/>
          </p:cNvPicPr>
          <p:nvPr/>
        </p:nvPicPr>
        <p:blipFill>
          <a:blip r:embed="rId2"/>
          <a:stretch>
            <a:fillRect/>
          </a:stretch>
        </p:blipFill>
        <p:spPr>
          <a:xfrm>
            <a:off x="3039034" y="2576886"/>
            <a:ext cx="7449671" cy="3406721"/>
          </a:xfrm>
          <a:prstGeom prst="rect">
            <a:avLst/>
          </a:prstGeom>
        </p:spPr>
      </p:pic>
    </p:spTree>
    <p:extLst>
      <p:ext uri="{BB962C8B-B14F-4D97-AF65-F5344CB8AC3E}">
        <p14:creationId xmlns:p14="http://schemas.microsoft.com/office/powerpoint/2010/main" val="195923303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C3AA-294E-92CE-780A-F7018C99DD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3262B7-75EB-F195-734E-3A8AE0CA0FFC}"/>
              </a:ext>
            </a:extLst>
          </p:cNvPr>
          <p:cNvSpPr txBox="1"/>
          <p:nvPr/>
        </p:nvSpPr>
        <p:spPr>
          <a:xfrm>
            <a:off x="528918" y="421341"/>
            <a:ext cx="11143129" cy="1692771"/>
          </a:xfrm>
          <a:prstGeom prst="rect">
            <a:avLst/>
          </a:prstGeom>
          <a:noFill/>
        </p:spPr>
        <p:txBody>
          <a:bodyPr wrap="square" rtlCol="0">
            <a:spAutoFit/>
          </a:bodyPr>
          <a:lstStyle/>
          <a:p>
            <a:r>
              <a:rPr lang="en-US" sz="2400" dirty="0"/>
              <a:t>Title</a:t>
            </a:r>
          </a:p>
          <a:p>
            <a:endParaRPr lang="en-US" sz="2000" dirty="0"/>
          </a:p>
          <a:p>
            <a:r>
              <a:rPr lang="en-US" sz="2000" dirty="0"/>
              <a:t>Content</a:t>
            </a:r>
          </a:p>
          <a:p>
            <a:endParaRPr lang="en-US" sz="2000" dirty="0"/>
          </a:p>
          <a:p>
            <a:endParaRPr lang="en-IN" sz="2000" dirty="0"/>
          </a:p>
        </p:txBody>
      </p:sp>
      <p:pic>
        <p:nvPicPr>
          <p:cNvPr id="4" name="Picture 3">
            <a:extLst>
              <a:ext uri="{FF2B5EF4-FFF2-40B4-BE49-F238E27FC236}">
                <a16:creationId xmlns:a16="http://schemas.microsoft.com/office/drawing/2014/main" id="{8936E9D6-3C48-0D85-EC96-81D2B9A1F9C9}"/>
              </a:ext>
            </a:extLst>
          </p:cNvPr>
          <p:cNvPicPr>
            <a:picLocks noChangeAspect="1"/>
          </p:cNvPicPr>
          <p:nvPr/>
        </p:nvPicPr>
        <p:blipFill>
          <a:blip r:embed="rId2"/>
          <a:stretch>
            <a:fillRect/>
          </a:stretch>
        </p:blipFill>
        <p:spPr>
          <a:xfrm>
            <a:off x="519953" y="363070"/>
            <a:ext cx="11214847" cy="5624838"/>
          </a:xfrm>
          <a:prstGeom prst="rect">
            <a:avLst/>
          </a:prstGeom>
        </p:spPr>
      </p:pic>
    </p:spTree>
    <p:extLst>
      <p:ext uri="{BB962C8B-B14F-4D97-AF65-F5344CB8AC3E}">
        <p14:creationId xmlns:p14="http://schemas.microsoft.com/office/powerpoint/2010/main" val="142417343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2BFBF-10C5-E736-CE53-0181FE3697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0B54C8-A529-4E86-59D4-97897FD97653}"/>
              </a:ext>
            </a:extLst>
          </p:cNvPr>
          <p:cNvSpPr txBox="1"/>
          <p:nvPr/>
        </p:nvSpPr>
        <p:spPr>
          <a:xfrm>
            <a:off x="528918" y="421341"/>
            <a:ext cx="11143129" cy="1692771"/>
          </a:xfrm>
          <a:prstGeom prst="rect">
            <a:avLst/>
          </a:prstGeom>
          <a:noFill/>
        </p:spPr>
        <p:txBody>
          <a:bodyPr wrap="square" rtlCol="0">
            <a:spAutoFit/>
          </a:bodyPr>
          <a:lstStyle/>
          <a:p>
            <a:r>
              <a:rPr lang="en-US" sz="2400" dirty="0"/>
              <a:t>END</a:t>
            </a:r>
          </a:p>
          <a:p>
            <a:endParaRPr lang="en-US" sz="2000" dirty="0"/>
          </a:p>
          <a:p>
            <a:endParaRPr lang="en-US" sz="2000" dirty="0"/>
          </a:p>
          <a:p>
            <a:endParaRPr lang="en-US" sz="2000" dirty="0"/>
          </a:p>
          <a:p>
            <a:endParaRPr lang="en-IN" sz="2000" dirty="0"/>
          </a:p>
        </p:txBody>
      </p:sp>
    </p:spTree>
    <p:extLst>
      <p:ext uri="{BB962C8B-B14F-4D97-AF65-F5344CB8AC3E}">
        <p14:creationId xmlns:p14="http://schemas.microsoft.com/office/powerpoint/2010/main" val="1336717103"/>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{8D251178-F161-4201-80C1-D2CD8C3AF4E9}tf56160789_win32</Template>
  <TotalTime>49153</TotalTime>
  <Words>23082</Words>
  <Application>Microsoft Office PowerPoint</Application>
  <PresentationFormat>Widescreen</PresentationFormat>
  <Paragraphs>2487</Paragraphs>
  <Slides>197</Slides>
  <Notes>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197</vt:i4>
      </vt:variant>
    </vt:vector>
  </HeadingPairs>
  <TitlesOfParts>
    <vt:vector size="211" baseType="lpstr">
      <vt:lpstr>Arial</vt:lpstr>
      <vt:lpstr>Bookman Old Style</vt:lpstr>
      <vt:lpstr>Calibri</vt:lpstr>
      <vt:lpstr>Cascadia Mono</vt:lpstr>
      <vt:lpstr>Centaur</vt:lpstr>
      <vt:lpstr>Consolas</vt:lpstr>
      <vt:lpstr>Courier New</vt:lpstr>
      <vt:lpstr>Franklin Gothic Book</vt:lpstr>
      <vt:lpstr>Symbol</vt:lpstr>
      <vt:lpstr>Times New Roman</vt:lpstr>
      <vt:lpstr>Verdana</vt:lpstr>
      <vt:lpstr>Wingdings</vt:lpstr>
      <vt:lpstr>Custom</vt:lpstr>
      <vt:lpstr>Document</vt:lpstr>
      <vt:lpstr>Advanced Web Technologies</vt:lpstr>
      <vt:lpstr>XHTML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111</cp:revision>
  <dcterms:created xsi:type="dcterms:W3CDTF">2025-07-28T06:10:00Z</dcterms:created>
  <dcterms:modified xsi:type="dcterms:W3CDTF">2026-02-04T03:37:06Z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