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455" r:id="rId6"/>
    <p:sldId id="456" r:id="rId7"/>
    <p:sldId id="457" r:id="rId8"/>
    <p:sldId id="458" r:id="rId9"/>
    <p:sldId id="459" r:id="rId10"/>
    <p:sldId id="460" r:id="rId11"/>
    <p:sldId id="461" r:id="rId12"/>
    <p:sldId id="462" r:id="rId13"/>
    <p:sldId id="463" r:id="rId14"/>
    <p:sldId id="464" r:id="rId15"/>
    <p:sldId id="465" r:id="rId16"/>
    <p:sldId id="466" r:id="rId17"/>
    <p:sldId id="467" r:id="rId18"/>
    <p:sldId id="468" r:id="rId19"/>
    <p:sldId id="469" r:id="rId20"/>
    <p:sldId id="470" r:id="rId21"/>
    <p:sldId id="471" r:id="rId22"/>
    <p:sldId id="472" r:id="rId23"/>
    <p:sldId id="473" r:id="rId24"/>
    <p:sldId id="474" r:id="rId25"/>
    <p:sldId id="475" r:id="rId26"/>
    <p:sldId id="476" r:id="rId27"/>
    <p:sldId id="477" r:id="rId28"/>
    <p:sldId id="478" r:id="rId29"/>
    <p:sldId id="479" r:id="rId30"/>
    <p:sldId id="480" r:id="rId31"/>
    <p:sldId id="481" r:id="rId32"/>
    <p:sldId id="482" r:id="rId33"/>
    <p:sldId id="483" r:id="rId34"/>
    <p:sldId id="514" r:id="rId35"/>
    <p:sldId id="484" r:id="rId36"/>
    <p:sldId id="485" r:id="rId37"/>
    <p:sldId id="486" r:id="rId38"/>
    <p:sldId id="487" r:id="rId39"/>
    <p:sldId id="488" r:id="rId40"/>
    <p:sldId id="489" r:id="rId41"/>
    <p:sldId id="490" r:id="rId42"/>
    <p:sldId id="491" r:id="rId43"/>
    <p:sldId id="492" r:id="rId44"/>
    <p:sldId id="493" r:id="rId45"/>
    <p:sldId id="494" r:id="rId46"/>
    <p:sldId id="495" r:id="rId47"/>
    <p:sldId id="496" r:id="rId48"/>
    <p:sldId id="497" r:id="rId49"/>
    <p:sldId id="498" r:id="rId50"/>
    <p:sldId id="499" r:id="rId51"/>
    <p:sldId id="500" r:id="rId52"/>
    <p:sldId id="501" r:id="rId53"/>
    <p:sldId id="502" r:id="rId54"/>
    <p:sldId id="503" r:id="rId55"/>
    <p:sldId id="504" r:id="rId56"/>
    <p:sldId id="505" r:id="rId57"/>
    <p:sldId id="506" r:id="rId58"/>
    <p:sldId id="507" r:id="rId59"/>
    <p:sldId id="508" r:id="rId60"/>
    <p:sldId id="509" r:id="rId61"/>
    <p:sldId id="510" r:id="rId62"/>
    <p:sldId id="511" r:id="rId63"/>
    <p:sldId id="512" r:id="rId64"/>
    <p:sldId id="513" r:id="rId65"/>
    <p:sldId id="562" r:id="rId66"/>
    <p:sldId id="563" r:id="rId67"/>
    <p:sldId id="564" r:id="rId68"/>
    <p:sldId id="565" r:id="rId69"/>
    <p:sldId id="566" r:id="rId70"/>
    <p:sldId id="567" r:id="rId71"/>
    <p:sldId id="568" r:id="rId72"/>
    <p:sldId id="569" r:id="rId73"/>
    <p:sldId id="570" r:id="rId74"/>
    <p:sldId id="571" r:id="rId75"/>
    <p:sldId id="572" r:id="rId76"/>
    <p:sldId id="573" r:id="rId77"/>
    <p:sldId id="574" r:id="rId78"/>
    <p:sldId id="575" r:id="rId79"/>
    <p:sldId id="576" r:id="rId80"/>
    <p:sldId id="577" r:id="rId81"/>
    <p:sldId id="578" r:id="rId82"/>
    <p:sldId id="579" r:id="rId83"/>
    <p:sldId id="580" r:id="rId84"/>
    <p:sldId id="515" r:id="rId85"/>
    <p:sldId id="516" r:id="rId86"/>
    <p:sldId id="517" r:id="rId87"/>
    <p:sldId id="518" r:id="rId88"/>
    <p:sldId id="519" r:id="rId89"/>
    <p:sldId id="520" r:id="rId90"/>
    <p:sldId id="521" r:id="rId91"/>
    <p:sldId id="522" r:id="rId92"/>
    <p:sldId id="523" r:id="rId93"/>
    <p:sldId id="524" r:id="rId94"/>
    <p:sldId id="525" r:id="rId95"/>
    <p:sldId id="526" r:id="rId96"/>
    <p:sldId id="527" r:id="rId97"/>
    <p:sldId id="528" r:id="rId98"/>
    <p:sldId id="529" r:id="rId99"/>
    <p:sldId id="530" r:id="rId100"/>
    <p:sldId id="531" r:id="rId101"/>
    <p:sldId id="532" r:id="rId102"/>
    <p:sldId id="533" r:id="rId103"/>
    <p:sldId id="534" r:id="rId104"/>
    <p:sldId id="535" r:id="rId105"/>
    <p:sldId id="536" r:id="rId106"/>
    <p:sldId id="537" r:id="rId107"/>
    <p:sldId id="538" r:id="rId108"/>
    <p:sldId id="539" r:id="rId109"/>
    <p:sldId id="540" r:id="rId110"/>
    <p:sldId id="541" r:id="rId111"/>
    <p:sldId id="542" r:id="rId112"/>
    <p:sldId id="543" r:id="rId113"/>
    <p:sldId id="544" r:id="rId114"/>
    <p:sldId id="547" r:id="rId115"/>
    <p:sldId id="548" r:id="rId116"/>
    <p:sldId id="549" r:id="rId117"/>
    <p:sldId id="550" r:id="rId118"/>
    <p:sldId id="551" r:id="rId119"/>
    <p:sldId id="552" r:id="rId120"/>
    <p:sldId id="546" r:id="rId121"/>
    <p:sldId id="545" r:id="rId122"/>
    <p:sldId id="553" r:id="rId123"/>
    <p:sldId id="554" r:id="rId124"/>
    <p:sldId id="555" r:id="rId125"/>
    <p:sldId id="556" r:id="rId126"/>
    <p:sldId id="557" r:id="rId127"/>
    <p:sldId id="558" r:id="rId128"/>
    <p:sldId id="559" r:id="rId129"/>
    <p:sldId id="560" r:id="rId130"/>
    <p:sldId id="561" r:id="rId1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66"/>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3/28/2026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3/28/2026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3/28/2026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3/28/2026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3/28/2026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3/28/2026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3/28/2026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3/28/2026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3/28/2026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3/28/2026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3/28/2026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3/28/2026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hyperlink" Target="http://www.w3.org/1999/xhtml" TargetMode="External"/><Relationship Id="rId2" Type="http://schemas.openxmlformats.org/officeDocument/2006/relationships/hyperlink" Target="http://example.com/furniture" TargetMode="Externa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UNIT II</a:t>
            </a:r>
            <a:br>
              <a:rPr lang="en-US" sz="8000" dirty="0"/>
            </a:br>
            <a:r>
              <a:rPr lang="en-US" sz="8000" dirty="0"/>
              <a:t>JavaScript</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lnSpcReduction="10000"/>
          </a:bodyPr>
          <a:lstStyle/>
          <a:p>
            <a:r>
              <a:rPr lang="en-US" sz="2400" dirty="0">
                <a:solidFill>
                  <a:schemeClr val="tx1">
                    <a:lumMod val="85000"/>
                    <a:lumOff val="15000"/>
                  </a:schemeClr>
                </a:solidFill>
              </a:rPr>
              <a:t>Dr. Roshan d Suvaris</a:t>
            </a:r>
          </a:p>
          <a:p>
            <a:r>
              <a:rPr lang="en-US" dirty="0" err="1">
                <a:solidFill>
                  <a:schemeClr val="tx1">
                    <a:lumMod val="85000"/>
                    <a:lumOff val="15000"/>
                  </a:schemeClr>
                </a:solidFill>
              </a:rPr>
              <a:t>Nmamit</a:t>
            </a:r>
            <a:r>
              <a:rPr lang="en-US" dirty="0">
                <a:solidFill>
                  <a:schemeClr val="tx1">
                    <a:lumMod val="85000"/>
                    <a:lumOff val="15000"/>
                  </a:schemeClr>
                </a:solidFill>
              </a:rPr>
              <a:t> </a:t>
            </a:r>
            <a:r>
              <a:rPr lang="en-US" dirty="0" err="1">
                <a:solidFill>
                  <a:schemeClr val="tx1">
                    <a:lumMod val="85000"/>
                    <a:lumOff val="15000"/>
                  </a:schemeClr>
                </a:solidFill>
              </a:rPr>
              <a:t>nitte</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2BFBF-10C5-E736-CE53-0181FE3697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0B54C8-A529-4E86-59D4-97897FD97653}"/>
              </a:ext>
            </a:extLst>
          </p:cNvPr>
          <p:cNvSpPr txBox="1"/>
          <p:nvPr/>
        </p:nvSpPr>
        <p:spPr>
          <a:xfrm>
            <a:off x="528918" y="421341"/>
            <a:ext cx="11143129" cy="4462760"/>
          </a:xfrm>
          <a:prstGeom prst="rect">
            <a:avLst/>
          </a:prstGeom>
          <a:noFill/>
        </p:spPr>
        <p:txBody>
          <a:bodyPr wrap="square" rtlCol="0">
            <a:spAutoFit/>
          </a:bodyPr>
          <a:lstStyle/>
          <a:p>
            <a:r>
              <a:rPr lang="en-IN" sz="2400" dirty="0"/>
              <a:t>Origins</a:t>
            </a:r>
            <a:endParaRPr lang="en-US" sz="2400" dirty="0"/>
          </a:p>
          <a:p>
            <a:endParaRPr lang="en-US" sz="2000" dirty="0"/>
          </a:p>
          <a:p>
            <a:pPr marL="342900" indent="-342900" algn="just">
              <a:buFont typeface="Arial" panose="020B0604020202020204" pitchFamily="34" charset="0"/>
              <a:buChar char="•"/>
            </a:pPr>
            <a:r>
              <a:rPr lang="en-US" sz="2000" dirty="0"/>
              <a:t>JavaScript, which was originally developed at Netscape by Brendan Eich, was initially named </a:t>
            </a:r>
            <a:r>
              <a:rPr lang="en-US" sz="2000" dirty="0">
                <a:solidFill>
                  <a:srgbClr val="FF0000"/>
                </a:solidFill>
              </a:rPr>
              <a:t>Mocha</a:t>
            </a:r>
            <a:r>
              <a:rPr lang="en-US" sz="2000" dirty="0"/>
              <a:t> but soon after was renamed </a:t>
            </a:r>
            <a:r>
              <a:rPr lang="en-US" sz="2000" dirty="0" err="1"/>
              <a:t>LiveScript</a:t>
            </a:r>
            <a:r>
              <a:rPr lang="en-US" sz="2000" dirty="0"/>
              <a: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late 1995 </a:t>
            </a:r>
            <a:r>
              <a:rPr lang="en-US" sz="2000" dirty="0" err="1">
                <a:solidFill>
                  <a:srgbClr val="FF0000"/>
                </a:solidFill>
              </a:rPr>
              <a:t>LiveScript</a:t>
            </a:r>
            <a:r>
              <a:rPr lang="en-US" sz="2000" dirty="0"/>
              <a:t> became a joint venture of Netscape and Sun Microsystems, and its name again was changed, this time to </a:t>
            </a:r>
            <a:r>
              <a:rPr lang="en-US" sz="2000" dirty="0">
                <a:solidFill>
                  <a:srgbClr val="FF0000"/>
                </a:solidFill>
              </a:rPr>
              <a:t>JavaScript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language standard for JavaScript was developed in the late 1990s by the European Computer Manufacturers Association (ECMA) as ECMA-262.</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official name of the standard language is ECMAScript.</a:t>
            </a:r>
          </a:p>
          <a:p>
            <a:endParaRPr lang="en-US" sz="2000" dirty="0"/>
          </a:p>
          <a:p>
            <a:endParaRPr lang="en-IN" sz="2000" dirty="0"/>
          </a:p>
        </p:txBody>
      </p:sp>
    </p:spTree>
    <p:extLst>
      <p:ext uri="{BB962C8B-B14F-4D97-AF65-F5344CB8AC3E}">
        <p14:creationId xmlns:p14="http://schemas.microsoft.com/office/powerpoint/2010/main" val="1336717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577DC-C1C3-75A9-793D-CA7DEB5C41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6EE282-D495-3898-BD6C-7A5CFEFAEAA1}"/>
              </a:ext>
            </a:extLst>
          </p:cNvPr>
          <p:cNvSpPr txBox="1"/>
          <p:nvPr/>
        </p:nvSpPr>
        <p:spPr>
          <a:xfrm>
            <a:off x="528918" y="421341"/>
            <a:ext cx="11143129" cy="4770537"/>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t>JavaScript can be divided into three parts: the </a:t>
            </a:r>
            <a:r>
              <a:rPr lang="en-US" sz="2000" dirty="0">
                <a:solidFill>
                  <a:srgbClr val="FF0000"/>
                </a:solidFill>
              </a:rPr>
              <a:t>core</a:t>
            </a:r>
            <a:r>
              <a:rPr lang="en-US" sz="2000" dirty="0"/>
              <a:t>, </a:t>
            </a:r>
            <a:r>
              <a:rPr lang="en-US" sz="2000" dirty="0">
                <a:solidFill>
                  <a:srgbClr val="FF0000"/>
                </a:solidFill>
              </a:rPr>
              <a:t>client side</a:t>
            </a:r>
            <a:r>
              <a:rPr lang="en-US" sz="2000" dirty="0"/>
              <a:t>, and </a:t>
            </a:r>
            <a:r>
              <a:rPr lang="en-US" sz="2000" dirty="0">
                <a:solidFill>
                  <a:srgbClr val="FF0000"/>
                </a:solidFill>
              </a:rPr>
              <a:t>server side</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core is the heart of the language, including its operators, expressions, statements, and subprograms.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Client-side JavaScript is a collection of objects that support the control of a browser and interactions with users.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Server-side JavaScript is a collection of objects that make the language useful on a Web server—for example, to support communication with a database management system.</a:t>
            </a:r>
          </a:p>
          <a:p>
            <a:endParaRPr lang="en-US" sz="2000" dirty="0"/>
          </a:p>
          <a:p>
            <a:endParaRPr lang="en-US" sz="2000" dirty="0"/>
          </a:p>
          <a:p>
            <a:endParaRPr lang="en-IN" sz="2000" dirty="0"/>
          </a:p>
        </p:txBody>
      </p:sp>
    </p:spTree>
    <p:extLst>
      <p:ext uri="{BB962C8B-B14F-4D97-AF65-F5344CB8AC3E}">
        <p14:creationId xmlns:p14="http://schemas.microsoft.com/office/powerpoint/2010/main" val="163159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5E1A6-FE90-19E6-6E3A-9A13A2AD0D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C88D80-E445-57E8-2520-DD2B26C96657}"/>
              </a:ext>
            </a:extLst>
          </p:cNvPr>
          <p:cNvSpPr txBox="1"/>
          <p:nvPr/>
        </p:nvSpPr>
        <p:spPr>
          <a:xfrm>
            <a:off x="528918" y="421341"/>
            <a:ext cx="11143129" cy="5078313"/>
          </a:xfrm>
          <a:prstGeom prst="rect">
            <a:avLst/>
          </a:prstGeom>
          <a:noFill/>
        </p:spPr>
        <p:txBody>
          <a:bodyPr wrap="square" rtlCol="0">
            <a:spAutoFit/>
          </a:bodyPr>
          <a:lstStyle/>
          <a:p>
            <a:r>
              <a:rPr lang="en-IN" sz="2400" dirty="0"/>
              <a:t>JavaScript and Java</a:t>
            </a:r>
            <a:endParaRPr lang="en-US" sz="2400" dirty="0"/>
          </a:p>
          <a:p>
            <a:endParaRPr lang="en-US" sz="2000" dirty="0"/>
          </a:p>
          <a:p>
            <a:pPr marL="342900" indent="-342900" algn="just">
              <a:buFont typeface="Arial" panose="020B0604020202020204" pitchFamily="34" charset="0"/>
              <a:buChar char="•"/>
            </a:pPr>
            <a:r>
              <a:rPr lang="en-US" sz="2000" dirty="0"/>
              <a:t>One important difference is support for object-oriented programming. Although JavaScript is sometimes said to be an object-oriented language, its object model is quite different from that of Java and C++</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Java is a strongly typed language.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Variables in JavaScript need not be declared and are dynamically typed</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Another important difference between Java and JavaScript is that objects in Java are static and objects in JavaScript is dynamic</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main </a:t>
            </a:r>
            <a:r>
              <a:rPr lang="en-US" sz="2000" dirty="0">
                <a:solidFill>
                  <a:srgbClr val="FF0000"/>
                </a:solidFill>
              </a:rPr>
              <a:t>similarity</a:t>
            </a:r>
            <a:r>
              <a:rPr lang="en-US" sz="2000" dirty="0"/>
              <a:t> between Java and JavaScript is the syntax of their expressions, assignment statements, and control statements.</a:t>
            </a:r>
            <a:endParaRPr lang="en-IN" sz="2000" dirty="0"/>
          </a:p>
        </p:txBody>
      </p:sp>
    </p:spTree>
    <p:extLst>
      <p:ext uri="{BB962C8B-B14F-4D97-AF65-F5344CB8AC3E}">
        <p14:creationId xmlns:p14="http://schemas.microsoft.com/office/powerpoint/2010/main" val="158398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EB2AF-05EA-3B10-104E-A647D427DE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BB835E-EF87-1120-756F-8E3A004E0F3E}"/>
              </a:ext>
            </a:extLst>
          </p:cNvPr>
          <p:cNvSpPr txBox="1"/>
          <p:nvPr/>
        </p:nvSpPr>
        <p:spPr>
          <a:xfrm>
            <a:off x="528918" y="421341"/>
            <a:ext cx="11143129" cy="5078313"/>
          </a:xfrm>
          <a:prstGeom prst="rect">
            <a:avLst/>
          </a:prstGeom>
          <a:noFill/>
        </p:spPr>
        <p:txBody>
          <a:bodyPr wrap="square" rtlCol="0">
            <a:spAutoFit/>
          </a:bodyPr>
          <a:lstStyle/>
          <a:p>
            <a:r>
              <a:rPr lang="en-IN" sz="2400" dirty="0"/>
              <a:t>Uses of JavaScript</a:t>
            </a:r>
            <a:endParaRPr lang="en-US" sz="2400" dirty="0"/>
          </a:p>
          <a:p>
            <a:endParaRPr lang="en-US" sz="2000" dirty="0"/>
          </a:p>
          <a:p>
            <a:pPr marL="342900" indent="-342900" algn="just">
              <a:buFont typeface="Arial" panose="020B0604020202020204" pitchFamily="34" charset="0"/>
              <a:buChar char="•"/>
            </a:pPr>
            <a:r>
              <a:rPr lang="en-US" sz="2000" dirty="0"/>
              <a:t>The original goal of JavaScript was to provide programming capability at both the server and the client ends of a Web connection.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Client-side JavaScript can serve as an alternative for some of what is done with server-side programming, in which computational capability resides on the server and is requested by the client.- </a:t>
            </a:r>
            <a:r>
              <a:rPr lang="en-US" sz="2000" dirty="0">
                <a:solidFill>
                  <a:srgbClr val="FF0000"/>
                </a:solidFill>
              </a:rPr>
              <a:t>Load Transfer</a:t>
            </a:r>
          </a:p>
          <a:p>
            <a:pPr marL="342900" indent="-342900">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Interactions with users through form elements, such as buttons and menus, can be conveniently described in JavaScript.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Another interesting capability of JavaScript was made possible by the development of the Document Object Model (DOM), which allows JavaScript scripts to </a:t>
            </a:r>
            <a:r>
              <a:rPr lang="en-US" sz="2000" dirty="0">
                <a:solidFill>
                  <a:srgbClr val="FF0000"/>
                </a:solidFill>
              </a:rPr>
              <a:t>access</a:t>
            </a:r>
            <a:r>
              <a:rPr lang="en-US" sz="2000" dirty="0"/>
              <a:t> and </a:t>
            </a:r>
            <a:r>
              <a:rPr lang="en-US" sz="2000" dirty="0">
                <a:solidFill>
                  <a:srgbClr val="FF0000"/>
                </a:solidFill>
              </a:rPr>
              <a:t>modify </a:t>
            </a:r>
            <a:r>
              <a:rPr lang="en-US" sz="2000" dirty="0"/>
              <a:t>the </a:t>
            </a:r>
            <a:r>
              <a:rPr lang="en-US" sz="2000" dirty="0">
                <a:solidFill>
                  <a:srgbClr val="FF0000"/>
                </a:solidFill>
              </a:rPr>
              <a:t>style properties </a:t>
            </a:r>
            <a:r>
              <a:rPr lang="en-US" sz="2000" dirty="0"/>
              <a:t>and content of the elements of a displayed HTML document, making formally static documents highly dynamic.</a:t>
            </a:r>
            <a:endParaRPr lang="en-IN" sz="2000" dirty="0"/>
          </a:p>
        </p:txBody>
      </p:sp>
    </p:spTree>
    <p:extLst>
      <p:ext uri="{BB962C8B-B14F-4D97-AF65-F5344CB8AC3E}">
        <p14:creationId xmlns:p14="http://schemas.microsoft.com/office/powerpoint/2010/main" val="3082434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00A3D-7FCD-C4C3-1162-75458C478E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B7046B-1957-FDEA-8939-C303B36910FF}"/>
              </a:ext>
            </a:extLst>
          </p:cNvPr>
          <p:cNvSpPr txBox="1"/>
          <p:nvPr/>
        </p:nvSpPr>
        <p:spPr>
          <a:xfrm>
            <a:off x="528918" y="421341"/>
            <a:ext cx="11143129" cy="5386090"/>
          </a:xfrm>
          <a:prstGeom prst="rect">
            <a:avLst/>
          </a:prstGeom>
          <a:noFill/>
        </p:spPr>
        <p:txBody>
          <a:bodyPr wrap="square" rtlCol="0">
            <a:spAutoFit/>
          </a:bodyPr>
          <a:lstStyle/>
          <a:p>
            <a:r>
              <a:rPr lang="en-IN" sz="2400" dirty="0"/>
              <a:t>Browsers and HTML-JavaScript Documents</a:t>
            </a:r>
            <a:endParaRPr lang="en-US" sz="2400" dirty="0"/>
          </a:p>
          <a:p>
            <a:pPr algn="just"/>
            <a:endParaRPr lang="en-US" sz="2000" dirty="0"/>
          </a:p>
          <a:p>
            <a:pPr marL="342900" indent="-342900" algn="just">
              <a:buFont typeface="Arial" panose="020B0604020202020204" pitchFamily="34" charset="0"/>
              <a:buChar char="•"/>
            </a:pPr>
            <a:r>
              <a:rPr lang="en-US" sz="2000" dirty="0"/>
              <a:t>If an HTML document does not include embedded scripts, the browser reads the lines of the document and renders its window according to the tags, attributes, and content it finds.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When a JavaScript script is encountered in the document, the browser uses its </a:t>
            </a:r>
            <a:r>
              <a:rPr lang="en-US" sz="2000" dirty="0">
                <a:solidFill>
                  <a:srgbClr val="FF0000"/>
                </a:solidFill>
              </a:rPr>
              <a:t>JavaScript interpreter </a:t>
            </a:r>
            <a:r>
              <a:rPr lang="en-US" sz="2000" dirty="0"/>
              <a:t>to “execute” the script.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Output from the script becomes the next markup to be rendered. When the end of the script is reached, the browser goes back to reading the HTML document and displaying its content.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There are two different ways to embed JavaScript in an HTML document:</a:t>
            </a:r>
          </a:p>
          <a:p>
            <a:pPr marL="800100" lvl="1" indent="-342900">
              <a:buFont typeface="Arial" panose="020B0604020202020204" pitchFamily="34" charset="0"/>
              <a:buChar char="•"/>
            </a:pPr>
            <a:r>
              <a:rPr lang="en-IN" sz="2000" i="1" dirty="0">
                <a:solidFill>
                  <a:srgbClr val="FF0000"/>
                </a:solidFill>
              </a:rPr>
              <a:t>explicit embedding </a:t>
            </a:r>
            <a:r>
              <a:rPr lang="en-IN" sz="2000" dirty="0"/>
              <a:t>– </a:t>
            </a:r>
            <a:r>
              <a:rPr lang="en-US" sz="2000" dirty="0"/>
              <a:t>JavaScript code physically resides in the HTML document – </a:t>
            </a:r>
            <a:r>
              <a:rPr lang="en-US" sz="2000" dirty="0">
                <a:solidFill>
                  <a:srgbClr val="FF0000"/>
                </a:solidFill>
              </a:rPr>
              <a:t>head/body</a:t>
            </a:r>
          </a:p>
          <a:p>
            <a:pPr marL="800100" lvl="1" indent="-342900">
              <a:buFont typeface="Arial" panose="020B0604020202020204" pitchFamily="34" charset="0"/>
              <a:buChar char="•"/>
            </a:pPr>
            <a:endParaRPr lang="en-IN" sz="2000" dirty="0"/>
          </a:p>
          <a:p>
            <a:pPr marL="800100" lvl="1" indent="-342900">
              <a:buFont typeface="Arial" panose="020B0604020202020204" pitchFamily="34" charset="0"/>
              <a:buChar char="•"/>
            </a:pPr>
            <a:r>
              <a:rPr lang="en-IN" sz="2000" i="1" dirty="0">
                <a:solidFill>
                  <a:srgbClr val="FF0000"/>
                </a:solidFill>
              </a:rPr>
              <a:t>implicit embedding </a:t>
            </a:r>
            <a:r>
              <a:rPr lang="en-IN" sz="2000" dirty="0"/>
              <a:t>– </a:t>
            </a:r>
            <a:r>
              <a:rPr lang="en-US" sz="2000" dirty="0"/>
              <a:t>JavaScript can be placed in its own file</a:t>
            </a:r>
          </a:p>
          <a:p>
            <a:endParaRPr lang="en-IN" sz="2000" dirty="0"/>
          </a:p>
          <a:p>
            <a:endParaRPr lang="en-IN" sz="2000" dirty="0"/>
          </a:p>
        </p:txBody>
      </p:sp>
    </p:spTree>
    <p:extLst>
      <p:ext uri="{BB962C8B-B14F-4D97-AF65-F5344CB8AC3E}">
        <p14:creationId xmlns:p14="http://schemas.microsoft.com/office/powerpoint/2010/main" val="109244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A2F80-4EF7-85EE-6B40-C3EA9B25F1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47728F-9704-B46B-60FB-B2E7B2C36FA8}"/>
              </a:ext>
            </a:extLst>
          </p:cNvPr>
          <p:cNvSpPr txBox="1"/>
          <p:nvPr/>
        </p:nvSpPr>
        <p:spPr>
          <a:xfrm>
            <a:off x="528918" y="421341"/>
            <a:ext cx="11143129" cy="3539430"/>
          </a:xfrm>
          <a:prstGeom prst="rect">
            <a:avLst/>
          </a:prstGeom>
          <a:noFill/>
        </p:spPr>
        <p:txBody>
          <a:bodyPr wrap="square" rtlCol="0">
            <a:spAutoFit/>
          </a:bodyPr>
          <a:lstStyle/>
          <a:p>
            <a:r>
              <a:rPr lang="en-IN" sz="2400" b="1" dirty="0"/>
              <a:t>2 Object Orientation and JavaScript</a:t>
            </a:r>
            <a:endParaRPr lang="en-US" sz="2400" b="1" dirty="0"/>
          </a:p>
          <a:p>
            <a:endParaRPr lang="en-US" sz="2000" dirty="0"/>
          </a:p>
          <a:p>
            <a:pPr marL="342900" indent="-342900" algn="just">
              <a:buFont typeface="Arial" panose="020B0604020202020204" pitchFamily="34" charset="0"/>
              <a:buChar char="•"/>
            </a:pPr>
            <a:r>
              <a:rPr lang="en-US" sz="2000" dirty="0"/>
              <a:t>As stated previously, JavaScript is not an object-oriented programming language. Rather, it is an object-based language.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JavaScript does not have classes.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Despite the fact that JavaScript is not an object-oriented language, much of its design is rooted in the concepts and approaches used in object-oriented programming.</a:t>
            </a:r>
          </a:p>
          <a:p>
            <a:endParaRPr lang="en-IN" sz="2000" dirty="0"/>
          </a:p>
          <a:p>
            <a:endParaRPr lang="en-IN" sz="2000" dirty="0"/>
          </a:p>
        </p:txBody>
      </p:sp>
      <p:sp>
        <p:nvSpPr>
          <p:cNvPr id="3" name="Rectangle 1">
            <a:extLst>
              <a:ext uri="{FF2B5EF4-FFF2-40B4-BE49-F238E27FC236}">
                <a16:creationId xmlns:a16="http://schemas.microsoft.com/office/drawing/2014/main" id="{40574114-B491-8380-DC55-E58541DB2BD9}"/>
              </a:ext>
            </a:extLst>
          </p:cNvPr>
          <p:cNvSpPr>
            <a:spLocks noChangeArrowheads="1"/>
          </p:cNvSpPr>
          <p:nvPr/>
        </p:nvSpPr>
        <p:spPr bwMode="auto">
          <a:xfrm>
            <a:off x="530053" y="3192252"/>
            <a:ext cx="491512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FF0000"/>
                </a:solidFill>
                <a:effectLst/>
                <a:latin typeface="Arial Unicode MS"/>
              </a:rPr>
              <a:t>const person = {</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t>
            </a:r>
            <a:r>
              <a:rPr kumimoji="0" lang="en-US" altLang="en-US" sz="1400" b="0" i="0" u="none" strike="noStrike" cap="none" normalizeH="0" baseline="0" dirty="0" err="1">
                <a:ln>
                  <a:noFill/>
                </a:ln>
                <a:solidFill>
                  <a:srgbClr val="FF0000"/>
                </a:solidFill>
                <a:effectLst/>
                <a:latin typeface="Arial Unicode MS"/>
              </a:rPr>
              <a:t>firstName</a:t>
            </a:r>
            <a:r>
              <a:rPr kumimoji="0" lang="en-US" altLang="en-US" sz="1400" b="0" i="0" u="none" strike="noStrike" cap="none" normalizeH="0" baseline="0" dirty="0">
                <a:ln>
                  <a:noFill/>
                </a:ln>
                <a:solidFill>
                  <a:srgbClr val="FF0000"/>
                </a:solidFill>
                <a:effectLst/>
                <a:latin typeface="Arial Unicode MS"/>
              </a:rPr>
              <a:t>: "Jane",</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t>
            </a:r>
            <a:r>
              <a:rPr kumimoji="0" lang="en-US" altLang="en-US" sz="1400" b="0" i="0" u="none" strike="noStrike" cap="none" normalizeH="0" baseline="0" dirty="0" err="1">
                <a:ln>
                  <a:noFill/>
                </a:ln>
                <a:solidFill>
                  <a:srgbClr val="FF0000"/>
                </a:solidFill>
                <a:effectLst/>
                <a:latin typeface="Arial Unicode MS"/>
              </a:rPr>
              <a:t>lastName</a:t>
            </a:r>
            <a:r>
              <a:rPr kumimoji="0" lang="en-US" altLang="en-US" sz="1400" b="0" i="0" u="none" strike="noStrike" cap="none" normalizeH="0" baseline="0" dirty="0">
                <a:ln>
                  <a:noFill/>
                </a:ln>
                <a:solidFill>
                  <a:srgbClr val="FF0000"/>
                </a:solidFill>
                <a:effectLst/>
                <a:latin typeface="Arial Unicode MS"/>
              </a:rPr>
              <a:t>: "Doe",</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age: 30,</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t>
            </a:r>
            <a:r>
              <a:rPr kumimoji="0" lang="en-US" altLang="en-US" sz="1400" b="0" i="0" u="none" strike="noStrike" cap="none" normalizeH="0" baseline="0" dirty="0" err="1">
                <a:ln>
                  <a:noFill/>
                </a:ln>
                <a:solidFill>
                  <a:srgbClr val="FF0000"/>
                </a:solidFill>
                <a:effectLst/>
                <a:latin typeface="Arial Unicode MS"/>
              </a:rPr>
              <a:t>isStudent</a:t>
            </a:r>
            <a:r>
              <a:rPr kumimoji="0" lang="en-US" altLang="en-US" sz="1400" b="0" i="0" u="none" strike="noStrike" cap="none" normalizeH="0" baseline="0" dirty="0">
                <a:ln>
                  <a:noFill/>
                </a:ln>
                <a:solidFill>
                  <a:srgbClr val="FF0000"/>
                </a:solidFill>
                <a:effectLst/>
                <a:latin typeface="Arial Unicode MS"/>
              </a:rPr>
              <a:t>: false,</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hobbies: ["reading", "hiking", "cooking"],</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address: {</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street: "123 Main St",</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city: "Anytown",</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t>
            </a:r>
            <a:r>
              <a:rPr kumimoji="0" lang="en-US" altLang="en-US" sz="1400" b="0" i="0" u="none" strike="noStrike" cap="none" normalizeH="0" baseline="0" dirty="0" err="1">
                <a:ln>
                  <a:noFill/>
                </a:ln>
                <a:solidFill>
                  <a:srgbClr val="FF0000"/>
                </a:solidFill>
                <a:effectLst/>
                <a:latin typeface="Arial Unicode MS"/>
              </a:rPr>
              <a:t>zipCode</a:t>
            </a:r>
            <a:r>
              <a:rPr kumimoji="0" lang="en-US" altLang="en-US" sz="1400" b="0" i="0" u="none" strike="noStrike" cap="none" normalizeH="0" baseline="0" dirty="0">
                <a:ln>
                  <a:noFill/>
                </a:ln>
                <a:solidFill>
                  <a:srgbClr val="FF0000"/>
                </a:solidFill>
                <a:effectLst/>
                <a:latin typeface="Arial Unicode MS"/>
              </a:rPr>
              <a:t>: "12345"</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greet: function() {</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console.log(`Hello, my name is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FF0000"/>
                </a:solidFill>
                <a:latin typeface="Arial Unicode MS"/>
              </a:rPr>
              <a:t>		</a:t>
            </a:r>
            <a:r>
              <a:rPr kumimoji="0" lang="en-US" altLang="en-US" sz="1400" b="0" i="0" u="none" strike="noStrike" cap="none" normalizeH="0" baseline="0" dirty="0">
                <a:ln>
                  <a:noFill/>
                </a:ln>
                <a:solidFill>
                  <a:srgbClr val="FF0000"/>
                </a:solidFill>
                <a:effectLst/>
                <a:latin typeface="Arial Unicode MS"/>
              </a:rPr>
              <a:t>${</a:t>
            </a:r>
            <a:r>
              <a:rPr kumimoji="0" lang="en-US" altLang="en-US" sz="1400" b="0" i="0" u="none" strike="noStrike" cap="none" normalizeH="0" baseline="0" dirty="0" err="1">
                <a:ln>
                  <a:noFill/>
                </a:ln>
                <a:solidFill>
                  <a:srgbClr val="FF0000"/>
                </a:solidFill>
                <a:effectLst/>
                <a:latin typeface="Arial Unicode MS"/>
              </a:rPr>
              <a:t>this.firstName</a:t>
            </a:r>
            <a:r>
              <a:rPr kumimoji="0" lang="en-US" altLang="en-US" sz="1400" b="0" i="0" u="none" strike="noStrike" cap="none" normalizeH="0" baseline="0" dirty="0">
                <a:ln>
                  <a:noFill/>
                </a:ln>
                <a:solidFill>
                  <a:srgbClr val="FF0000"/>
                </a:solidFill>
                <a:effectLst/>
                <a:latin typeface="Arial Unicode MS"/>
              </a:rPr>
              <a:t>} ${</a:t>
            </a:r>
            <a:r>
              <a:rPr kumimoji="0" lang="en-US" altLang="en-US" sz="1400" b="0" i="0" u="none" strike="noStrike" cap="none" normalizeH="0" baseline="0" dirty="0" err="1">
                <a:ln>
                  <a:noFill/>
                </a:ln>
                <a:solidFill>
                  <a:srgbClr val="FF0000"/>
                </a:solidFill>
                <a:effectLst/>
                <a:latin typeface="Arial Unicode MS"/>
              </a:rPr>
              <a:t>this.lastName</a:t>
            </a:r>
            <a:r>
              <a:rPr kumimoji="0" lang="en-US" altLang="en-US" sz="1400" b="0" i="0" u="none" strike="noStrike" cap="none" normalizeH="0" baseline="0" dirty="0">
                <a:ln>
                  <a:noFill/>
                </a:ln>
                <a:solidFill>
                  <a:srgbClr val="FF0000"/>
                </a:solidFill>
                <a:effectLst/>
                <a:latin typeface="Arial Unicode MS"/>
              </a:rPr>
              <a:t>}.`);</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	}</a:t>
            </a:r>
            <a:br>
              <a:rPr kumimoji="0" lang="en-US" altLang="en-US" sz="1400" b="0" i="0" u="none" strike="noStrike" cap="none" normalizeH="0" baseline="0" dirty="0">
                <a:ln>
                  <a:noFill/>
                </a:ln>
                <a:solidFill>
                  <a:srgbClr val="FF0000"/>
                </a:solidFill>
                <a:effectLst/>
                <a:latin typeface="Arial Unicode MS"/>
              </a:rPr>
            </a:br>
            <a:r>
              <a:rPr kumimoji="0" lang="en-US" altLang="en-US" sz="1400" b="0" i="0" u="none" strike="noStrike" cap="none" normalizeH="0" baseline="0" dirty="0">
                <a:ln>
                  <a:noFill/>
                </a:ln>
                <a:solidFill>
                  <a:srgbClr val="FF0000"/>
                </a:solidFill>
                <a:effectLst/>
                <a:latin typeface="Arial Unicode MS"/>
              </a:rPr>
              <a:t>};</a:t>
            </a:r>
            <a:r>
              <a:rPr kumimoji="0" lang="en-US" altLang="en-US" sz="1100" b="0" i="0" u="none" strike="noStrike" cap="none" normalizeH="0" baseline="0" dirty="0">
                <a:ln>
                  <a:noFill/>
                </a:ln>
                <a:solidFill>
                  <a:srgbClr val="FF0000"/>
                </a:solidFill>
                <a:effectLst/>
              </a:rPr>
              <a:t> </a:t>
            </a:r>
            <a:endParaRPr kumimoji="0" lang="en-US" altLang="en-US" sz="3200" b="0" i="0" u="none" strike="noStrike" cap="none" normalizeH="0" baseline="0" dirty="0">
              <a:ln>
                <a:noFill/>
              </a:ln>
              <a:solidFill>
                <a:srgbClr val="FF0000"/>
              </a:solidFill>
              <a:effectLst/>
              <a:latin typeface="Arial" panose="020B0604020202020204" pitchFamily="34" charset="0"/>
            </a:endParaRPr>
          </a:p>
        </p:txBody>
      </p:sp>
      <p:sp>
        <p:nvSpPr>
          <p:cNvPr id="4" name="Rectangle 2">
            <a:extLst>
              <a:ext uri="{FF2B5EF4-FFF2-40B4-BE49-F238E27FC236}">
                <a16:creationId xmlns:a16="http://schemas.microsoft.com/office/drawing/2014/main" id="{8011F350-A25A-EAB5-D7BF-6FFD933D44FF}"/>
              </a:ext>
            </a:extLst>
          </p:cNvPr>
          <p:cNvSpPr>
            <a:spLocks noChangeArrowheads="1"/>
          </p:cNvSpPr>
          <p:nvPr/>
        </p:nvSpPr>
        <p:spPr bwMode="auto">
          <a:xfrm>
            <a:off x="6033247" y="3429000"/>
            <a:ext cx="582537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B0F0"/>
                </a:solidFill>
                <a:effectLst/>
                <a:latin typeface="Arial Unicode MS"/>
              </a:rPr>
              <a:t>// Accessing properties using dot notation</a:t>
            </a:r>
            <a:br>
              <a:rPr kumimoji="0" lang="en-US" altLang="en-US" sz="1400" b="0" i="0" u="none" strike="noStrike" cap="none" normalizeH="0" baseline="0" dirty="0">
                <a:ln>
                  <a:noFill/>
                </a:ln>
                <a:solidFill>
                  <a:srgbClr val="00B0F0"/>
                </a:solidFill>
                <a:effectLst/>
                <a:latin typeface="Arial Unicode MS"/>
              </a:rPr>
            </a:br>
            <a:r>
              <a:rPr kumimoji="0" lang="en-US" altLang="en-US" sz="1400" b="0" i="0" u="none" strike="noStrike" cap="none" normalizeH="0" baseline="0" dirty="0">
                <a:ln>
                  <a:noFill/>
                </a:ln>
                <a:solidFill>
                  <a:srgbClr val="00B0F0"/>
                </a:solidFill>
                <a:effectLst/>
                <a:latin typeface="Arial Unicode MS"/>
              </a:rPr>
              <a:t>console.log(</a:t>
            </a:r>
            <a:r>
              <a:rPr kumimoji="0" lang="en-US" altLang="en-US" sz="1400" b="0" i="0" u="none" strike="noStrike" cap="none" normalizeH="0" baseline="0" dirty="0" err="1">
                <a:ln>
                  <a:noFill/>
                </a:ln>
                <a:solidFill>
                  <a:srgbClr val="00B0F0"/>
                </a:solidFill>
                <a:effectLst/>
                <a:latin typeface="Arial Unicode MS"/>
              </a:rPr>
              <a:t>person.firstName</a:t>
            </a:r>
            <a:r>
              <a:rPr kumimoji="0" lang="en-US" altLang="en-US" sz="1400" b="0" i="0" u="none" strike="noStrike" cap="none" normalizeH="0" baseline="0" dirty="0">
                <a:ln>
                  <a:noFill/>
                </a:ln>
                <a:solidFill>
                  <a:srgbClr val="00B0F0"/>
                </a:solidFill>
                <a:effectLst/>
                <a:latin typeface="Arial Unicode MS"/>
              </a:rPr>
              <a:t>); // Output: Jane</a:t>
            </a:r>
            <a:br>
              <a:rPr kumimoji="0" lang="en-US" altLang="en-US" sz="1400" b="0" i="0" u="none" strike="noStrike" cap="none" normalizeH="0" baseline="0" dirty="0">
                <a:ln>
                  <a:noFill/>
                </a:ln>
                <a:solidFill>
                  <a:srgbClr val="00B0F0"/>
                </a:solidFill>
                <a:effectLst/>
                <a:latin typeface="Arial Unicode MS"/>
              </a:rPr>
            </a:br>
            <a:r>
              <a:rPr kumimoji="0" lang="en-US" altLang="en-US" sz="1400" b="0" i="0" u="none" strike="noStrike" cap="none" normalizeH="0" baseline="0" dirty="0">
                <a:ln>
                  <a:noFill/>
                </a:ln>
                <a:solidFill>
                  <a:srgbClr val="00B0F0"/>
                </a:solidFill>
                <a:effectLst/>
                <a:latin typeface="Arial Unicode MS"/>
              </a:rPr>
              <a:t>console.log(</a:t>
            </a:r>
            <a:r>
              <a:rPr kumimoji="0" lang="en-US" altLang="en-US" sz="1400" b="0" i="0" u="none" strike="noStrike" cap="none" normalizeH="0" baseline="0" dirty="0" err="1">
                <a:ln>
                  <a:noFill/>
                </a:ln>
                <a:solidFill>
                  <a:srgbClr val="00B0F0"/>
                </a:solidFill>
                <a:effectLst/>
                <a:latin typeface="Arial Unicode MS"/>
              </a:rPr>
              <a:t>person.address.city</a:t>
            </a:r>
            <a:r>
              <a:rPr kumimoji="0" lang="en-US" altLang="en-US" sz="1400" b="0" i="0" u="none" strike="noStrike" cap="none" normalizeH="0" baseline="0" dirty="0">
                <a:ln>
                  <a:noFill/>
                </a:ln>
                <a:solidFill>
                  <a:srgbClr val="00B0F0"/>
                </a:solidFill>
                <a:effectLst/>
                <a:latin typeface="Arial Unicode MS"/>
              </a:rPr>
              <a:t>); // Output: Anytown</a:t>
            </a:r>
            <a:br>
              <a:rPr kumimoji="0" lang="en-US" altLang="en-US" sz="1400" b="0" i="0" u="none" strike="noStrike" cap="none" normalizeH="0" baseline="0" dirty="0">
                <a:ln>
                  <a:noFill/>
                </a:ln>
                <a:solidFill>
                  <a:srgbClr val="00B0F0"/>
                </a:solidFill>
                <a:effectLst/>
                <a:latin typeface="Arial Unicode MS"/>
              </a:rPr>
            </a:br>
            <a:br>
              <a:rPr kumimoji="0" lang="en-US" altLang="en-US" sz="1400" b="0" i="0" u="none" strike="noStrike" cap="none" normalizeH="0" baseline="0" dirty="0">
                <a:ln>
                  <a:noFill/>
                </a:ln>
                <a:solidFill>
                  <a:srgbClr val="00B0F0"/>
                </a:solidFill>
                <a:effectLst/>
                <a:latin typeface="Arial Unicode MS"/>
              </a:rPr>
            </a:br>
            <a:r>
              <a:rPr kumimoji="0" lang="en-US" altLang="en-US" sz="1400" b="0" i="0" u="none" strike="noStrike" cap="none" normalizeH="0" baseline="0" dirty="0">
                <a:ln>
                  <a:noFill/>
                </a:ln>
                <a:solidFill>
                  <a:srgbClr val="00B0F0"/>
                </a:solidFill>
                <a:effectLst/>
                <a:latin typeface="Arial Unicode MS"/>
              </a:rPr>
              <a:t>// Accessing properties using bracket notation (useful for dynamic keys)</a:t>
            </a:r>
            <a:br>
              <a:rPr kumimoji="0" lang="en-US" altLang="en-US" sz="1400" b="0" i="0" u="none" strike="noStrike" cap="none" normalizeH="0" baseline="0" dirty="0">
                <a:ln>
                  <a:noFill/>
                </a:ln>
                <a:solidFill>
                  <a:srgbClr val="00B0F0"/>
                </a:solidFill>
                <a:effectLst/>
                <a:latin typeface="Arial Unicode MS"/>
              </a:rPr>
            </a:br>
            <a:r>
              <a:rPr kumimoji="0" lang="en-US" altLang="en-US" sz="1400" b="0" i="0" u="none" strike="noStrike" cap="none" normalizeH="0" baseline="0" dirty="0">
                <a:ln>
                  <a:noFill/>
                </a:ln>
                <a:solidFill>
                  <a:srgbClr val="00B0F0"/>
                </a:solidFill>
                <a:effectLst/>
                <a:latin typeface="Arial Unicode MS"/>
              </a:rPr>
              <a:t>console.log(person["</a:t>
            </a:r>
            <a:r>
              <a:rPr kumimoji="0" lang="en-US" altLang="en-US" sz="1400" b="0" i="0" u="none" strike="noStrike" cap="none" normalizeH="0" baseline="0" dirty="0" err="1">
                <a:ln>
                  <a:noFill/>
                </a:ln>
                <a:solidFill>
                  <a:srgbClr val="00B0F0"/>
                </a:solidFill>
                <a:effectLst/>
                <a:latin typeface="Arial Unicode MS"/>
              </a:rPr>
              <a:t>lastName</a:t>
            </a:r>
            <a:r>
              <a:rPr kumimoji="0" lang="en-US" altLang="en-US" sz="1400" b="0" i="0" u="none" strike="noStrike" cap="none" normalizeH="0" baseline="0" dirty="0">
                <a:ln>
                  <a:noFill/>
                </a:ln>
                <a:solidFill>
                  <a:srgbClr val="00B0F0"/>
                </a:solidFill>
                <a:effectLst/>
                <a:latin typeface="Arial Unicode MS"/>
              </a:rPr>
              <a:t>"]); // Output: Doe</a:t>
            </a:r>
            <a:br>
              <a:rPr kumimoji="0" lang="en-US" altLang="en-US" sz="1400" b="0" i="0" u="none" strike="noStrike" cap="none" normalizeH="0" baseline="0" dirty="0">
                <a:ln>
                  <a:noFill/>
                </a:ln>
                <a:solidFill>
                  <a:srgbClr val="00B0F0"/>
                </a:solidFill>
                <a:effectLst/>
                <a:latin typeface="Arial Unicode MS"/>
              </a:rPr>
            </a:br>
            <a:br>
              <a:rPr kumimoji="0" lang="en-US" altLang="en-US" sz="1400" b="0" i="0" u="none" strike="noStrike" cap="none" normalizeH="0" baseline="0" dirty="0">
                <a:ln>
                  <a:noFill/>
                </a:ln>
                <a:solidFill>
                  <a:srgbClr val="00B0F0"/>
                </a:solidFill>
                <a:effectLst/>
                <a:latin typeface="Arial Unicode MS"/>
              </a:rPr>
            </a:br>
            <a:r>
              <a:rPr kumimoji="0" lang="en-US" altLang="en-US" sz="1400" b="0" i="0" u="none" strike="noStrike" cap="none" normalizeH="0" baseline="0" dirty="0">
                <a:ln>
                  <a:noFill/>
                </a:ln>
                <a:solidFill>
                  <a:srgbClr val="00B0F0"/>
                </a:solidFill>
                <a:effectLst/>
                <a:latin typeface="Arial Unicode MS"/>
              </a:rPr>
              <a:t>// Calling a method</a:t>
            </a:r>
            <a:br>
              <a:rPr kumimoji="0" lang="en-US" altLang="en-US" sz="1400" b="0" i="0" u="none" strike="noStrike" cap="none" normalizeH="0" baseline="0" dirty="0">
                <a:ln>
                  <a:noFill/>
                </a:ln>
                <a:solidFill>
                  <a:srgbClr val="00B0F0"/>
                </a:solidFill>
                <a:effectLst/>
                <a:latin typeface="Arial Unicode MS"/>
              </a:rPr>
            </a:br>
            <a:r>
              <a:rPr kumimoji="0" lang="en-US" altLang="en-US" sz="1400" b="0" i="0" u="none" strike="noStrike" cap="none" normalizeH="0" baseline="0" dirty="0" err="1">
                <a:ln>
                  <a:noFill/>
                </a:ln>
                <a:solidFill>
                  <a:srgbClr val="00B0F0"/>
                </a:solidFill>
                <a:effectLst/>
                <a:latin typeface="Arial Unicode MS"/>
              </a:rPr>
              <a:t>person.greet</a:t>
            </a:r>
            <a:r>
              <a:rPr kumimoji="0" lang="en-US" altLang="en-US" sz="1400" b="0" i="0" u="none" strike="noStrike" cap="none" normalizeH="0" baseline="0" dirty="0">
                <a:ln>
                  <a:noFill/>
                </a:ln>
                <a:solidFill>
                  <a:srgbClr val="00B0F0"/>
                </a:solidFill>
                <a:effectLst/>
                <a:latin typeface="Arial Unicode MS"/>
              </a:rPr>
              <a:t>(); // Output: Hello, my name is Jane Doe</a:t>
            </a:r>
            <a:r>
              <a:rPr kumimoji="0" lang="en-US" altLang="en-US" sz="1000" b="0" i="0" u="none" strike="noStrike" cap="none" normalizeH="0" baseline="0" dirty="0">
                <a:ln>
                  <a:noFill/>
                </a:ln>
                <a:solidFill>
                  <a:srgbClr val="FF0000"/>
                </a:solidFill>
                <a:effectLst/>
                <a:latin typeface="Arial Unicode MS"/>
              </a:rPr>
              <a:t>.</a:t>
            </a:r>
            <a:r>
              <a:rPr kumimoji="0" lang="en-US" altLang="en-US" sz="800" b="0" i="0" u="none" strike="noStrike" cap="none" normalizeH="0" baseline="0" dirty="0">
                <a:ln>
                  <a:noFill/>
                </a:ln>
                <a:solidFill>
                  <a:srgbClr val="FF0000"/>
                </a:solidFill>
                <a:effectLst/>
              </a:rPr>
              <a:t> </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1130808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6205A-6285-99EB-0E80-2D74509BF5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713E0E-1867-646C-DA4D-757105191D4A}"/>
              </a:ext>
            </a:extLst>
          </p:cNvPr>
          <p:cNvSpPr txBox="1"/>
          <p:nvPr/>
        </p:nvSpPr>
        <p:spPr>
          <a:xfrm>
            <a:off x="528918" y="421341"/>
            <a:ext cx="11143129" cy="6309420"/>
          </a:xfrm>
          <a:prstGeom prst="rect">
            <a:avLst/>
          </a:prstGeom>
          <a:noFill/>
        </p:spPr>
        <p:txBody>
          <a:bodyPr wrap="square" rtlCol="0">
            <a:spAutoFit/>
          </a:bodyPr>
          <a:lstStyle/>
          <a:p>
            <a:r>
              <a:rPr lang="en-IN" sz="2400" b="1" dirty="0"/>
              <a:t>2.1 JavaScript Objects</a:t>
            </a:r>
            <a:endParaRPr lang="en-US" sz="2400" b="1" dirty="0"/>
          </a:p>
          <a:p>
            <a:pPr algn="just"/>
            <a:endParaRPr lang="en-US" sz="2000" dirty="0"/>
          </a:p>
          <a:p>
            <a:pPr marL="342900" indent="-342900" algn="just">
              <a:buFont typeface="Arial" panose="020B0604020202020204" pitchFamily="34" charset="0"/>
              <a:buChar char="•"/>
            </a:pPr>
            <a:r>
              <a:rPr lang="en-US" sz="2000" dirty="0"/>
              <a:t>In JavaScript, objects are collections of properties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Each property is either a data property or a function or method property.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Data properties appear in two categories: primitive values and references to other objects.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All primitive values in JavaScript are accessed directly—these are like the scalar types in Java and C++.</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properties of an object are referenced by attaching the name of the property to the variable that references the object. - </a:t>
            </a:r>
            <a:r>
              <a:rPr lang="en-US" sz="2000" dirty="0" err="1">
                <a:solidFill>
                  <a:srgbClr val="FF0000"/>
                </a:solidFill>
              </a:rPr>
              <a:t>myCar.engine</a:t>
            </a:r>
            <a:r>
              <a:rPr lang="en-US" sz="2000" dirty="0">
                <a:solidFill>
                  <a:srgbClr val="FF0000"/>
                </a:solidFill>
              </a:rPr>
              <a:t>. </a:t>
            </a:r>
            <a:r>
              <a:rPr lang="en-US" sz="2000" dirty="0"/>
              <a:t>(</a:t>
            </a:r>
            <a:r>
              <a:rPr lang="en-US" sz="2000" dirty="0" err="1">
                <a:solidFill>
                  <a:srgbClr val="FF0000"/>
                </a:solidFill>
              </a:rPr>
              <a:t>myCar</a:t>
            </a:r>
            <a:r>
              <a:rPr lang="en-US" sz="2000" dirty="0"/>
              <a:t> is object and </a:t>
            </a:r>
            <a:r>
              <a:rPr lang="en-US" sz="2000" dirty="0">
                <a:solidFill>
                  <a:srgbClr val="FF0000"/>
                </a:solidFill>
              </a:rPr>
              <a:t>engine</a:t>
            </a:r>
            <a:r>
              <a:rPr lang="en-US" sz="2000" dirty="0"/>
              <a:t> is a property)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JavaScript object appears, both internally and externally, as a list of property–value pairs. </a:t>
            </a:r>
          </a:p>
          <a:p>
            <a:pPr marL="342900" indent="-342900" algn="just">
              <a:buFont typeface="Arial" panose="020B0604020202020204" pitchFamily="34" charset="0"/>
              <a:buChar char="•"/>
            </a:pPr>
            <a:r>
              <a:rPr lang="en-US" sz="2000" dirty="0"/>
              <a:t>The properties are names; the values are data values or functions. </a:t>
            </a:r>
          </a:p>
          <a:p>
            <a:pPr marL="342900" indent="-342900" algn="just">
              <a:buFont typeface="Arial" panose="020B0604020202020204" pitchFamily="34" charset="0"/>
              <a:buChar char="•"/>
            </a:pPr>
            <a:r>
              <a:rPr lang="en-US" sz="2000" dirty="0"/>
              <a:t>All functions are objects and are referenced through variables. </a:t>
            </a:r>
          </a:p>
          <a:p>
            <a:pPr marL="342900" indent="-342900" algn="just">
              <a:buFont typeface="Arial" panose="020B0604020202020204" pitchFamily="34" charset="0"/>
              <a:buChar char="•"/>
            </a:pPr>
            <a:r>
              <a:rPr lang="en-US" sz="2000" dirty="0"/>
              <a:t>The collection of properties of a JavaScript object is dynamic: Properties can be added or deleted at any time during execution.</a:t>
            </a:r>
          </a:p>
          <a:p>
            <a:endParaRPr lang="en-IN" sz="2000" dirty="0"/>
          </a:p>
        </p:txBody>
      </p:sp>
    </p:spTree>
    <p:extLst>
      <p:ext uri="{BB962C8B-B14F-4D97-AF65-F5344CB8AC3E}">
        <p14:creationId xmlns:p14="http://schemas.microsoft.com/office/powerpoint/2010/main" val="195759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B554-28B9-3492-71BC-67099A1057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6D4129-9BA6-1238-E5F5-819904A7C5CD}"/>
              </a:ext>
            </a:extLst>
          </p:cNvPr>
          <p:cNvSpPr txBox="1"/>
          <p:nvPr/>
        </p:nvSpPr>
        <p:spPr>
          <a:xfrm>
            <a:off x="528918" y="421341"/>
            <a:ext cx="11143129" cy="5693866"/>
          </a:xfrm>
          <a:prstGeom prst="rect">
            <a:avLst/>
          </a:prstGeom>
          <a:noFill/>
        </p:spPr>
        <p:txBody>
          <a:bodyPr wrap="square" rtlCol="0">
            <a:spAutoFit/>
          </a:bodyPr>
          <a:lstStyle/>
          <a:p>
            <a:r>
              <a:rPr lang="en-IN" sz="2400" b="1" dirty="0"/>
              <a:t>3 General Syntactic Characteristics</a:t>
            </a:r>
            <a:endParaRPr lang="en-US" sz="2400" b="1" dirty="0"/>
          </a:p>
          <a:p>
            <a:endParaRPr lang="en-US" sz="2000" dirty="0"/>
          </a:p>
          <a:p>
            <a:pPr marL="342900" indent="-342900" algn="just">
              <a:buFont typeface="Arial" panose="020B0604020202020204" pitchFamily="34" charset="0"/>
              <a:buChar char="•"/>
            </a:pPr>
            <a:r>
              <a:rPr lang="en-US" sz="2000" dirty="0"/>
              <a:t>Scripts can appear directly as the content of a &lt;script&gt; tag. The </a:t>
            </a:r>
            <a:r>
              <a:rPr lang="en-US" sz="2000" dirty="0">
                <a:solidFill>
                  <a:srgbClr val="FF0000"/>
                </a:solidFill>
              </a:rPr>
              <a:t>type</a:t>
            </a:r>
            <a:r>
              <a:rPr lang="en-US" sz="2000" dirty="0"/>
              <a:t> attribute of </a:t>
            </a:r>
            <a:r>
              <a:rPr lang="en-US" sz="2000" dirty="0">
                <a:solidFill>
                  <a:srgbClr val="FF0000"/>
                </a:solidFill>
              </a:rPr>
              <a:t>&lt;script&gt; </a:t>
            </a:r>
            <a:r>
              <a:rPr lang="en-US" sz="2000" dirty="0"/>
              <a:t>must be set to "</a:t>
            </a:r>
            <a:r>
              <a:rPr lang="en-US" sz="2000" dirty="0">
                <a:solidFill>
                  <a:srgbClr val="FF0000"/>
                </a:solidFill>
              </a:rPr>
              <a:t>text/</a:t>
            </a:r>
            <a:r>
              <a:rPr lang="en-US" sz="2000" dirty="0" err="1">
                <a:solidFill>
                  <a:srgbClr val="FF0000"/>
                </a:solidFill>
              </a:rPr>
              <a:t>javascript</a:t>
            </a:r>
            <a:r>
              <a:rPr lang="en-US" sz="2000" dirty="0"/>
              <a:t>".</a:t>
            </a:r>
          </a:p>
          <a:p>
            <a:pPr algn="just"/>
            <a:endParaRPr lang="en-US" sz="2000" dirty="0"/>
          </a:p>
          <a:p>
            <a:pPr marL="342900" indent="-342900" algn="just">
              <a:buFont typeface="Arial" panose="020B0604020202020204" pitchFamily="34" charset="0"/>
              <a:buChar char="•"/>
            </a:pPr>
            <a:r>
              <a:rPr lang="en-US" sz="2000" dirty="0"/>
              <a:t>The JavaScript script can be indirectly embedded in an HTML document with the </a:t>
            </a:r>
            <a:r>
              <a:rPr lang="en-US" sz="2000" dirty="0" err="1">
                <a:solidFill>
                  <a:srgbClr val="FF0000"/>
                </a:solidFill>
              </a:rPr>
              <a:t>src</a:t>
            </a:r>
            <a:r>
              <a:rPr lang="en-US" sz="2000" dirty="0"/>
              <a:t> attribute of a &lt;script&gt; tag </a:t>
            </a:r>
          </a:p>
          <a:p>
            <a:endParaRPr lang="en-US" sz="2000" dirty="0"/>
          </a:p>
          <a:p>
            <a:r>
              <a:rPr lang="en-US" sz="2000" dirty="0"/>
              <a:t>	&lt;script type = "text/</a:t>
            </a:r>
            <a:r>
              <a:rPr lang="en-US" sz="2000" dirty="0" err="1"/>
              <a:t>javascript</a:t>
            </a:r>
            <a:r>
              <a:rPr lang="en-US" sz="2000" dirty="0"/>
              <a:t>" </a:t>
            </a:r>
            <a:r>
              <a:rPr lang="en-US" sz="2000" dirty="0" err="1"/>
              <a:t>src</a:t>
            </a:r>
            <a:r>
              <a:rPr lang="en-US" sz="2000" dirty="0"/>
              <a:t> = "tst_number.js" &gt;</a:t>
            </a:r>
          </a:p>
          <a:p>
            <a:r>
              <a:rPr lang="en-US" sz="2000" dirty="0"/>
              <a:t> 	&lt;/script&gt;</a:t>
            </a:r>
          </a:p>
          <a:p>
            <a:endParaRPr lang="en-US" sz="2000" dirty="0"/>
          </a:p>
          <a:p>
            <a:pPr marL="342900" indent="-342900" algn="just">
              <a:buFont typeface="Arial" panose="020B0604020202020204" pitchFamily="34" charset="0"/>
              <a:buChar char="•"/>
            </a:pPr>
            <a:r>
              <a:rPr lang="en-US" sz="2000" dirty="0"/>
              <a:t>In JavaScript, </a:t>
            </a:r>
            <a:r>
              <a:rPr lang="en-US" sz="2000" dirty="0">
                <a:solidFill>
                  <a:srgbClr val="FF0000"/>
                </a:solidFill>
              </a:rPr>
              <a:t>identifiers</a:t>
            </a:r>
            <a:r>
              <a:rPr lang="en-US" sz="2000" dirty="0"/>
              <a:t>, or names, are similar to those of other common programming languages. </a:t>
            </a:r>
          </a:p>
          <a:p>
            <a:pPr marL="342900" indent="-342900" algn="just">
              <a:buFont typeface="Arial" panose="020B0604020202020204" pitchFamily="34" charset="0"/>
              <a:buChar char="•"/>
            </a:pPr>
            <a:r>
              <a:rPr lang="en-US" sz="2000" dirty="0"/>
              <a:t>They must begin with a letter, an underscore (_), or a dollar sign ($). Subsequent characters may be letters, underscores, dollar signs, or digits.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Identifiers are case sensitive.</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p:txBody>
      </p:sp>
      <p:pic>
        <p:nvPicPr>
          <p:cNvPr id="4" name="Picture 3">
            <a:extLst>
              <a:ext uri="{FF2B5EF4-FFF2-40B4-BE49-F238E27FC236}">
                <a16:creationId xmlns:a16="http://schemas.microsoft.com/office/drawing/2014/main" id="{A9CF00BD-AFA1-4872-1BA2-23D2D0903E30}"/>
              </a:ext>
            </a:extLst>
          </p:cNvPr>
          <p:cNvPicPr>
            <a:picLocks noChangeAspect="1"/>
          </p:cNvPicPr>
          <p:nvPr/>
        </p:nvPicPr>
        <p:blipFill>
          <a:blip r:embed="rId2"/>
          <a:stretch>
            <a:fillRect/>
          </a:stretch>
        </p:blipFill>
        <p:spPr>
          <a:xfrm>
            <a:off x="6346252" y="4856465"/>
            <a:ext cx="5316830" cy="1828813"/>
          </a:xfrm>
          <a:prstGeom prst="rect">
            <a:avLst/>
          </a:prstGeom>
        </p:spPr>
      </p:pic>
    </p:spTree>
    <p:extLst>
      <p:ext uri="{BB962C8B-B14F-4D97-AF65-F5344CB8AC3E}">
        <p14:creationId xmlns:p14="http://schemas.microsoft.com/office/powerpoint/2010/main" val="598947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FF665-8233-55E6-46A5-20F773F12F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4673EA-248F-6C63-C905-BA12754E0778}"/>
              </a:ext>
            </a:extLst>
          </p:cNvPr>
          <p:cNvSpPr txBox="1"/>
          <p:nvPr/>
        </p:nvSpPr>
        <p:spPr>
          <a:xfrm>
            <a:off x="528918" y="421341"/>
            <a:ext cx="11143129" cy="5386090"/>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t>JavaScript has two forms of comments, both of which are used in other languages.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First, whenever two adjacent slashes (//) appear on a line, the rest of the line is considered a comment.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Second, /* may be used to introduce a comment, and */ to terminate it, in both single- and multiple-line comments.</a:t>
            </a:r>
          </a:p>
          <a:p>
            <a:endParaRPr lang="en-US" sz="2000" dirty="0"/>
          </a:p>
          <a:p>
            <a:pPr marL="342900" indent="-342900">
              <a:buFont typeface="Arial" panose="020B0604020202020204" pitchFamily="34" charset="0"/>
              <a:buChar char="•"/>
            </a:pPr>
            <a:r>
              <a:rPr lang="en-US" sz="2000" dirty="0">
                <a:solidFill>
                  <a:srgbClr val="00B0F0"/>
                </a:solidFill>
              </a:rPr>
              <a:t>Two issues arise regarding embedding JavaScript in HTML documents:</a:t>
            </a:r>
          </a:p>
          <a:p>
            <a:endParaRPr lang="en-US" sz="2000" dirty="0"/>
          </a:p>
          <a:p>
            <a:pPr marL="800100" lvl="1" indent="-342900">
              <a:buFont typeface="Arial" panose="020B0604020202020204" pitchFamily="34" charset="0"/>
              <a:buChar char="•"/>
            </a:pPr>
            <a:r>
              <a:rPr lang="en-US" sz="2000" dirty="0"/>
              <a:t>First, some browsers that are still in use recognize the &lt;script&gt; tag but do not have JavaScript interpreters. – Ignore the tags.</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Second, a few browsers that are still in use are so old that they do not recognize the &lt;script&gt; tag. - Such browsers would display the contents of the script element as if it were just text.</a:t>
            </a:r>
          </a:p>
        </p:txBody>
      </p:sp>
    </p:spTree>
    <p:extLst>
      <p:ext uri="{BB962C8B-B14F-4D97-AF65-F5344CB8AC3E}">
        <p14:creationId xmlns:p14="http://schemas.microsoft.com/office/powerpoint/2010/main" val="759407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93D6C-C1F5-816B-0397-04D5BA2D1C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4315B2-8207-15C8-DFAF-B97228687307}"/>
              </a:ext>
            </a:extLst>
          </p:cNvPr>
          <p:cNvSpPr txBox="1"/>
          <p:nvPr/>
        </p:nvSpPr>
        <p:spPr>
          <a:xfrm>
            <a:off x="528918" y="421341"/>
            <a:ext cx="11143129" cy="5693866"/>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t>The HTML comment used to hide JavaScript uses the normal beginning syntax, &lt;!--. However, the syntax for closing such a comment is special. It is the usual HTML comment closer, but it must be on its own line and must be preceded by two slashes.</a:t>
            </a:r>
          </a:p>
          <a:p>
            <a:pPr marL="342900" indent="-342900" algn="just">
              <a:buFont typeface="Arial" panose="020B0604020202020204" pitchFamily="34" charset="0"/>
              <a:buChar char="•"/>
            </a:pPr>
            <a:endParaRPr lang="en-US" sz="2000" dirty="0"/>
          </a:p>
          <a:p>
            <a:pPr lvl="1" algn="just"/>
            <a:r>
              <a:rPr lang="en-US" sz="2000" dirty="0"/>
              <a:t> &lt;!- - </a:t>
            </a:r>
          </a:p>
          <a:p>
            <a:pPr lvl="1" algn="just"/>
            <a:r>
              <a:rPr lang="en-US" sz="2000" dirty="0"/>
              <a:t>- - JavaScript script - -</a:t>
            </a:r>
          </a:p>
          <a:p>
            <a:pPr lvl="1" algn="just"/>
            <a:r>
              <a:rPr lang="en-US" sz="2000" dirty="0"/>
              <a:t>// - -&gt;</a:t>
            </a:r>
          </a:p>
          <a:p>
            <a:endParaRPr lang="en-US" sz="2000" dirty="0"/>
          </a:p>
          <a:p>
            <a:pPr marL="342900" indent="-342900" algn="just">
              <a:buFont typeface="Arial" panose="020B0604020202020204" pitchFamily="34" charset="0"/>
              <a:buChar char="•"/>
            </a:pPr>
            <a:r>
              <a:rPr lang="en-US" sz="2000" dirty="0"/>
              <a:t>There are other problems with putting embedded JavaScript in comments in HTML documents. The best solution to all of these problems is to put all JavaScript scripts that are of significant size in separate files and embed them implicitly.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use of </a:t>
            </a:r>
            <a:r>
              <a:rPr lang="en-US" sz="2000" dirty="0">
                <a:solidFill>
                  <a:srgbClr val="FF0000"/>
                </a:solidFill>
              </a:rPr>
              <a:t>semicolons</a:t>
            </a:r>
            <a:r>
              <a:rPr lang="en-US" sz="2000" dirty="0"/>
              <a:t> in JavaScript is unusual.</a:t>
            </a:r>
          </a:p>
          <a:p>
            <a:pPr marL="800100" lvl="1" indent="-342900" algn="just">
              <a:buFont typeface="Arial" panose="020B0604020202020204" pitchFamily="34" charset="0"/>
              <a:buChar char="•"/>
            </a:pPr>
            <a:r>
              <a:rPr lang="en-IN" sz="2000" dirty="0"/>
              <a:t>return </a:t>
            </a:r>
          </a:p>
          <a:p>
            <a:pPr marL="800100" lvl="1" indent="-342900" algn="just">
              <a:buFont typeface="Arial" panose="020B0604020202020204" pitchFamily="34" charset="0"/>
              <a:buChar char="•"/>
            </a:pPr>
            <a:r>
              <a:rPr lang="en-IN" sz="2000" dirty="0"/>
              <a:t>x;</a:t>
            </a:r>
            <a:endParaRPr lang="en-US" sz="2000" dirty="0"/>
          </a:p>
          <a:p>
            <a:r>
              <a:rPr lang="en-IN" sz="2000" dirty="0"/>
              <a:t>Here the </a:t>
            </a:r>
            <a:r>
              <a:rPr lang="en-IN" sz="2000" dirty="0">
                <a:solidFill>
                  <a:srgbClr val="FF0000"/>
                </a:solidFill>
              </a:rPr>
              <a:t>return</a:t>
            </a:r>
            <a:r>
              <a:rPr lang="en-IN" sz="2000" dirty="0"/>
              <a:t> is considered different and </a:t>
            </a:r>
            <a:r>
              <a:rPr lang="en-IN" sz="2000" dirty="0">
                <a:solidFill>
                  <a:srgbClr val="FF0000"/>
                </a:solidFill>
              </a:rPr>
              <a:t>x</a:t>
            </a:r>
            <a:r>
              <a:rPr lang="en-IN" sz="2000" dirty="0"/>
              <a:t> different.</a:t>
            </a:r>
          </a:p>
        </p:txBody>
      </p:sp>
    </p:spTree>
    <p:extLst>
      <p:ext uri="{BB962C8B-B14F-4D97-AF65-F5344CB8AC3E}">
        <p14:creationId xmlns:p14="http://schemas.microsoft.com/office/powerpoint/2010/main" val="3240450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A2BFB-447F-859F-B4BF-10577D9FB7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2E97D0-0659-DC17-A45F-37AA42F22605}"/>
              </a:ext>
            </a:extLst>
          </p:cNvPr>
          <p:cNvSpPr txBox="1"/>
          <p:nvPr/>
        </p:nvSpPr>
        <p:spPr>
          <a:xfrm>
            <a:off x="524435" y="206188"/>
            <a:ext cx="11143129" cy="5078313"/>
          </a:xfrm>
          <a:prstGeom prst="rect">
            <a:avLst/>
          </a:prstGeom>
          <a:noFill/>
        </p:spPr>
        <p:txBody>
          <a:bodyPr wrap="square" rtlCol="0">
            <a:spAutoFit/>
          </a:bodyPr>
          <a:lstStyle/>
          <a:p>
            <a:r>
              <a:rPr lang="en-US" sz="2400" dirty="0"/>
              <a:t>4 Primitives, Operations, and Expressions</a:t>
            </a:r>
          </a:p>
          <a:p>
            <a:endParaRPr lang="en-US" sz="2000" dirty="0"/>
          </a:p>
          <a:p>
            <a:r>
              <a:rPr lang="en-IN" sz="2000" b="1" dirty="0"/>
              <a:t>4.1 Primitive Types</a:t>
            </a:r>
          </a:p>
          <a:p>
            <a:endParaRPr lang="en-IN" sz="2000" dirty="0"/>
          </a:p>
          <a:p>
            <a:pPr marL="342900" indent="-342900" algn="just">
              <a:buFont typeface="Arial" panose="020B0604020202020204" pitchFamily="34" charset="0"/>
              <a:buChar char="•"/>
            </a:pPr>
            <a:r>
              <a:rPr lang="en-US" sz="2000" dirty="0"/>
              <a:t>JavaScript has five primitive types: Number, String, Boolean, Undefined, and Null.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JavaScript includes predefined objects that are closely related to the Number, String, and Boolean types, named </a:t>
            </a:r>
            <a:r>
              <a:rPr lang="en-US" sz="2000" i="1" dirty="0">
                <a:solidFill>
                  <a:srgbClr val="FF0000"/>
                </a:solidFill>
              </a:rPr>
              <a:t>Number</a:t>
            </a:r>
            <a:r>
              <a:rPr lang="en-US" sz="2000" dirty="0"/>
              <a:t>, </a:t>
            </a:r>
            <a:r>
              <a:rPr lang="en-US" sz="2000" i="1" dirty="0">
                <a:solidFill>
                  <a:srgbClr val="FF0000"/>
                </a:solidFill>
              </a:rPr>
              <a:t>String</a:t>
            </a:r>
            <a:r>
              <a:rPr lang="en-US" sz="2000" dirty="0"/>
              <a:t>, and </a:t>
            </a:r>
            <a:r>
              <a:rPr lang="en-US" sz="2000" i="1" dirty="0">
                <a:solidFill>
                  <a:srgbClr val="FF0000"/>
                </a:solidFill>
              </a:rPr>
              <a:t>Boolean</a:t>
            </a:r>
            <a:r>
              <a:rPr lang="en-US" sz="2000" dirty="0"/>
              <a:t>, respectively and they are called </a:t>
            </a:r>
            <a:r>
              <a:rPr lang="en-US" sz="2000" i="1" dirty="0">
                <a:solidFill>
                  <a:srgbClr val="FF0000"/>
                </a:solidFill>
              </a:rPr>
              <a:t>wrapper objects</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purpose of the wrapper objects is to provide properties and methods that are convenient for use with values of the primitive types. In the case of </a:t>
            </a:r>
            <a:r>
              <a:rPr lang="en-US" sz="2000" dirty="0">
                <a:solidFill>
                  <a:srgbClr val="FF0000"/>
                </a:solidFill>
              </a:rPr>
              <a:t>Number</a:t>
            </a:r>
            <a:r>
              <a:rPr lang="en-US" sz="2000" dirty="0"/>
              <a:t>, the </a:t>
            </a:r>
            <a:r>
              <a:rPr lang="en-US" sz="2000" dirty="0">
                <a:solidFill>
                  <a:srgbClr val="FF0000"/>
                </a:solidFill>
              </a:rPr>
              <a:t>properties</a:t>
            </a:r>
            <a:r>
              <a:rPr lang="en-US" sz="2000" dirty="0"/>
              <a:t> are more useful; in the case of </a:t>
            </a:r>
            <a:r>
              <a:rPr lang="en-US" sz="2000" dirty="0">
                <a:solidFill>
                  <a:srgbClr val="FF0000"/>
                </a:solidFill>
              </a:rPr>
              <a:t>String</a:t>
            </a:r>
            <a:r>
              <a:rPr lang="en-US" sz="2000" dirty="0"/>
              <a:t>, the </a:t>
            </a:r>
            <a:r>
              <a:rPr lang="en-US" sz="2000" dirty="0">
                <a:solidFill>
                  <a:srgbClr val="FF0000"/>
                </a:solidFill>
              </a:rPr>
              <a:t>methods</a:t>
            </a:r>
            <a:r>
              <a:rPr lang="en-US" sz="2000" dirty="0"/>
              <a:t> are more useful.</a:t>
            </a:r>
          </a:p>
          <a:p>
            <a:endParaRPr lang="en-IN" sz="2000" dirty="0"/>
          </a:p>
          <a:p>
            <a:pPr marL="342900" indent="-342900" algn="just">
              <a:buFont typeface="Arial" panose="020B0604020202020204" pitchFamily="34" charset="0"/>
              <a:buChar char="•"/>
            </a:pPr>
            <a:r>
              <a:rPr lang="en-US" sz="2000" dirty="0"/>
              <a:t>The difference between primitives and objects is shown in the following example. Suppose that prim is a primitive variable with the value 17 and obj is a Number object whose property value is 17.</a:t>
            </a:r>
            <a:endParaRPr lang="en-IN" sz="2000" dirty="0"/>
          </a:p>
        </p:txBody>
      </p:sp>
      <p:pic>
        <p:nvPicPr>
          <p:cNvPr id="4" name="Picture 3">
            <a:extLst>
              <a:ext uri="{FF2B5EF4-FFF2-40B4-BE49-F238E27FC236}">
                <a16:creationId xmlns:a16="http://schemas.microsoft.com/office/drawing/2014/main" id="{4DFFE477-66B5-F722-6CDC-15812CA43847}"/>
              </a:ext>
            </a:extLst>
          </p:cNvPr>
          <p:cNvPicPr>
            <a:picLocks noChangeAspect="1"/>
          </p:cNvPicPr>
          <p:nvPr/>
        </p:nvPicPr>
        <p:blipFill>
          <a:blip r:embed="rId2"/>
          <a:stretch>
            <a:fillRect/>
          </a:stretch>
        </p:blipFill>
        <p:spPr>
          <a:xfrm>
            <a:off x="4844549" y="4930407"/>
            <a:ext cx="3546416" cy="1925400"/>
          </a:xfrm>
          <a:prstGeom prst="rect">
            <a:avLst/>
          </a:prstGeom>
        </p:spPr>
      </p:pic>
    </p:spTree>
    <p:extLst>
      <p:ext uri="{BB962C8B-B14F-4D97-AF65-F5344CB8AC3E}">
        <p14:creationId xmlns:p14="http://schemas.microsoft.com/office/powerpoint/2010/main" val="4283774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961CE-23F5-7625-BF18-3A27A02252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71494B-A1F7-3B0F-2388-BCD2F30B1B57}"/>
              </a:ext>
            </a:extLst>
          </p:cNvPr>
          <p:cNvSpPr txBox="1"/>
          <p:nvPr/>
        </p:nvSpPr>
        <p:spPr>
          <a:xfrm>
            <a:off x="528918" y="421341"/>
            <a:ext cx="11143129" cy="5693866"/>
          </a:xfrm>
          <a:prstGeom prst="rect">
            <a:avLst/>
          </a:prstGeom>
          <a:noFill/>
        </p:spPr>
        <p:txBody>
          <a:bodyPr wrap="square" rtlCol="0">
            <a:spAutoFit/>
          </a:bodyPr>
          <a:lstStyle/>
          <a:p>
            <a:r>
              <a:rPr lang="en-US" sz="2400" b="1" dirty="0"/>
              <a:t>4.2 Numeric and String Literals</a:t>
            </a:r>
          </a:p>
          <a:p>
            <a:endParaRPr lang="en-US" sz="2000" dirty="0"/>
          </a:p>
          <a:p>
            <a:pPr marL="342900" indent="-342900">
              <a:buFont typeface="Arial" panose="020B0604020202020204" pitchFamily="34" charset="0"/>
              <a:buChar char="•"/>
            </a:pPr>
            <a:r>
              <a:rPr lang="en-US" sz="2000" dirty="0"/>
              <a:t>All numeric literals are </a:t>
            </a:r>
            <a:r>
              <a:rPr lang="en-US" sz="2000" dirty="0">
                <a:solidFill>
                  <a:srgbClr val="FF0000"/>
                </a:solidFill>
              </a:rPr>
              <a:t>primitive values </a:t>
            </a:r>
            <a:r>
              <a:rPr lang="en-US" sz="2000" dirty="0"/>
              <a:t>of type Number.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Number type values are represented internally in double-precision floating-point form.</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Literal numbers in a script can have the forms of either integer </a:t>
            </a:r>
            <a:r>
              <a:rPr lang="en-IN" sz="2000" dirty="0"/>
              <a:t>or floating-point values.</a:t>
            </a:r>
            <a:endParaRPr lang="en-US" sz="2000" dirty="0"/>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72   7.2   .72   72.   7E2   </a:t>
            </a:r>
            <a:r>
              <a:rPr lang="en-US" sz="2000" dirty="0" err="1"/>
              <a:t>7e2</a:t>
            </a:r>
            <a:r>
              <a:rPr lang="en-US" sz="2000" dirty="0"/>
              <a:t>   .7e2   7.e2   7.2E-2</a:t>
            </a:r>
          </a:p>
          <a:p>
            <a:r>
              <a:rPr lang="en-US" sz="2000" dirty="0"/>
              <a:t>Integer literals can be written in hexadecimal form by preceding their first digit with either 0x or 0X.</a:t>
            </a:r>
          </a:p>
          <a:p>
            <a:endParaRPr lang="en-US" sz="2000" dirty="0"/>
          </a:p>
          <a:p>
            <a:r>
              <a:rPr lang="en-US" sz="2000" dirty="0"/>
              <a:t>A string literal is a sequence of zero or more characters delimited by either single quotes (') or double quotes (").</a:t>
            </a:r>
          </a:p>
          <a:p>
            <a:endParaRPr lang="en-US" sz="2000" dirty="0"/>
          </a:p>
          <a:p>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'You\'re the most freckly person I\'ve ever seen’</a:t>
            </a:r>
          </a:p>
          <a:p>
            <a:pPr lvl="2"/>
            <a:r>
              <a:rPr lang="en-IN" sz="2000" dirty="0">
                <a:latin typeface="Calibri Light" panose="020F0302020204030204" pitchFamily="34" charset="0"/>
                <a:ea typeface="Calibri Light" panose="020F0302020204030204" pitchFamily="34" charset="0"/>
                <a:cs typeface="Calibri Light" panose="020F0302020204030204" pitchFamily="34" charset="0"/>
              </a:rPr>
              <a:t>"D:\\bookfiles"</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endParaRPr lang="en-US" sz="2000" dirty="0"/>
          </a:p>
          <a:p>
            <a:endParaRPr lang="en-IN" sz="2000" dirty="0"/>
          </a:p>
        </p:txBody>
      </p:sp>
    </p:spTree>
    <p:extLst>
      <p:ext uri="{BB962C8B-B14F-4D97-AF65-F5344CB8AC3E}">
        <p14:creationId xmlns:p14="http://schemas.microsoft.com/office/powerpoint/2010/main" val="845583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11648-D234-8DF0-8AF7-237777A3F0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6A4827-A0CA-6EED-6D9E-B9FA6D753FA7}"/>
              </a:ext>
            </a:extLst>
          </p:cNvPr>
          <p:cNvSpPr txBox="1"/>
          <p:nvPr/>
        </p:nvSpPr>
        <p:spPr>
          <a:xfrm>
            <a:off x="524435" y="286870"/>
            <a:ext cx="11143129" cy="4154984"/>
          </a:xfrm>
          <a:prstGeom prst="rect">
            <a:avLst/>
          </a:prstGeom>
          <a:noFill/>
        </p:spPr>
        <p:txBody>
          <a:bodyPr wrap="square" rtlCol="0">
            <a:spAutoFit/>
          </a:bodyPr>
          <a:lstStyle/>
          <a:p>
            <a:r>
              <a:rPr lang="en-IN" sz="2400" b="1" dirty="0"/>
              <a:t>4.3 Other Primitive Types</a:t>
            </a:r>
            <a:endParaRPr lang="en-US" sz="2400" b="1" dirty="0"/>
          </a:p>
          <a:p>
            <a:endParaRPr lang="en-US" sz="2000" dirty="0"/>
          </a:p>
          <a:p>
            <a:pPr marL="342900" indent="-342900">
              <a:buFont typeface="Arial" panose="020B0604020202020204" pitchFamily="34" charset="0"/>
              <a:buChar char="•"/>
            </a:pPr>
            <a:r>
              <a:rPr lang="en-US" sz="2000" dirty="0"/>
              <a:t>The only value of type Null is the reserved word </a:t>
            </a:r>
            <a:r>
              <a:rPr lang="en-US" sz="2000" dirty="0">
                <a:solidFill>
                  <a:srgbClr val="FF0000"/>
                </a:solidFill>
              </a:rPr>
              <a:t>null</a:t>
            </a:r>
            <a:r>
              <a:rPr lang="en-US" sz="2000" dirty="0"/>
              <a:t>, which indicates no value. A variable is null if it has not been explicitly declared or assigned a value.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Causes runtime error if it is used.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only value of type Undefined is </a:t>
            </a:r>
            <a:r>
              <a:rPr lang="en-US" sz="2000" dirty="0">
                <a:solidFill>
                  <a:srgbClr val="FF0000"/>
                </a:solidFill>
              </a:rPr>
              <a:t>undefined</a:t>
            </a:r>
            <a:r>
              <a:rPr lang="en-US" sz="2000" dirty="0"/>
              <a:t>. Unlike null, there is no reserved word undefined. If a variable has been explicitly declared, but </a:t>
            </a:r>
            <a:r>
              <a:rPr lang="en-US" sz="2000" dirty="0">
                <a:solidFill>
                  <a:srgbClr val="FF0000"/>
                </a:solidFill>
              </a:rPr>
              <a:t>not assigned a value</a:t>
            </a:r>
            <a:r>
              <a:rPr lang="en-US" sz="2000" dirty="0"/>
              <a:t>, it has the value undefined. If the value of an undefined variable is displayed, the word undefined is displayed.</a:t>
            </a:r>
          </a:p>
          <a:p>
            <a:pPr marL="342900" indent="-342900">
              <a:buFont typeface="Arial" panose="020B0604020202020204" pitchFamily="34" charset="0"/>
              <a:buChar char="•"/>
            </a:pPr>
            <a:r>
              <a:rPr lang="en-US" sz="2000" dirty="0"/>
              <a:t>The only values of type Boolean are </a:t>
            </a:r>
            <a:r>
              <a:rPr lang="en-US" sz="2000" dirty="0">
                <a:solidFill>
                  <a:srgbClr val="FF0000"/>
                </a:solidFill>
              </a:rPr>
              <a:t>true</a:t>
            </a:r>
            <a:r>
              <a:rPr lang="en-US" sz="2000" dirty="0"/>
              <a:t> and </a:t>
            </a:r>
            <a:r>
              <a:rPr lang="en-US" sz="2000" dirty="0">
                <a:solidFill>
                  <a:srgbClr val="FF0000"/>
                </a:solidFill>
              </a:rPr>
              <a:t>false</a:t>
            </a:r>
            <a:r>
              <a:rPr lang="en-US" sz="2000" dirty="0"/>
              <a:t>. </a:t>
            </a:r>
          </a:p>
          <a:p>
            <a:endParaRPr lang="en-US" sz="2000" dirty="0"/>
          </a:p>
          <a:p>
            <a:endParaRPr lang="en-IN" sz="2000" dirty="0"/>
          </a:p>
        </p:txBody>
      </p:sp>
      <p:pic>
        <p:nvPicPr>
          <p:cNvPr id="4" name="Picture 3">
            <a:extLst>
              <a:ext uri="{FF2B5EF4-FFF2-40B4-BE49-F238E27FC236}">
                <a16:creationId xmlns:a16="http://schemas.microsoft.com/office/drawing/2014/main" id="{C09B1C02-4607-09CC-7C0E-CE229F3B40D8}"/>
              </a:ext>
            </a:extLst>
          </p:cNvPr>
          <p:cNvPicPr>
            <a:picLocks noChangeAspect="1"/>
          </p:cNvPicPr>
          <p:nvPr/>
        </p:nvPicPr>
        <p:blipFill>
          <a:blip r:embed="rId2"/>
          <a:stretch>
            <a:fillRect/>
          </a:stretch>
        </p:blipFill>
        <p:spPr>
          <a:xfrm>
            <a:off x="3541459" y="3895873"/>
            <a:ext cx="4320590" cy="2471186"/>
          </a:xfrm>
          <a:prstGeom prst="rect">
            <a:avLst/>
          </a:prstGeom>
        </p:spPr>
      </p:pic>
    </p:spTree>
    <p:extLst>
      <p:ext uri="{BB962C8B-B14F-4D97-AF65-F5344CB8AC3E}">
        <p14:creationId xmlns:p14="http://schemas.microsoft.com/office/powerpoint/2010/main" val="1222797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B0C8-06BE-EBAC-5222-592BBDA5AE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7B783F-A679-6240-95AC-2F4EC42EF755}"/>
              </a:ext>
            </a:extLst>
          </p:cNvPr>
          <p:cNvSpPr txBox="1"/>
          <p:nvPr/>
        </p:nvSpPr>
        <p:spPr>
          <a:xfrm>
            <a:off x="528918" y="421341"/>
            <a:ext cx="11143129" cy="5386090"/>
          </a:xfrm>
          <a:prstGeom prst="rect">
            <a:avLst/>
          </a:prstGeom>
          <a:noFill/>
        </p:spPr>
        <p:txBody>
          <a:bodyPr wrap="square" rtlCol="0">
            <a:spAutoFit/>
          </a:bodyPr>
          <a:lstStyle/>
          <a:p>
            <a:r>
              <a:rPr lang="en-IN" sz="2400" b="1" dirty="0"/>
              <a:t>4.4 Declaring Variables</a:t>
            </a:r>
            <a:endParaRPr lang="en-US" sz="2400" b="1" dirty="0"/>
          </a:p>
          <a:p>
            <a:pPr algn="just"/>
            <a:endParaRPr lang="en-US" sz="2000" dirty="0"/>
          </a:p>
          <a:p>
            <a:pPr algn="just"/>
            <a:r>
              <a:rPr lang="en-US" sz="2000" dirty="0"/>
              <a:t>One of the characteristics of JavaScript that sets it apart from most common non scripting programming languages is that it is </a:t>
            </a:r>
            <a:r>
              <a:rPr lang="en-US" sz="2000" dirty="0">
                <a:solidFill>
                  <a:srgbClr val="FF0000"/>
                </a:solidFill>
              </a:rPr>
              <a:t>dynamically</a:t>
            </a:r>
            <a:r>
              <a:rPr lang="en-US" sz="2000" dirty="0"/>
              <a:t> typed.</a:t>
            </a:r>
          </a:p>
          <a:p>
            <a:pPr algn="just"/>
            <a:endParaRPr lang="en-US" sz="2000" dirty="0"/>
          </a:p>
          <a:p>
            <a:pPr algn="just"/>
            <a:r>
              <a:rPr lang="en-US" sz="2000" dirty="0"/>
              <a:t>The type of the value of a particular appearance of a variable in a program can be </a:t>
            </a:r>
            <a:r>
              <a:rPr lang="en-IN" sz="2000" dirty="0"/>
              <a:t>determined by the interpreter.</a:t>
            </a:r>
            <a:endParaRPr lang="en-US" sz="2000" dirty="0"/>
          </a:p>
          <a:p>
            <a:pPr algn="just"/>
            <a:endParaRPr lang="en-IN" sz="2000" dirty="0"/>
          </a:p>
          <a:p>
            <a:pPr algn="just"/>
            <a:r>
              <a:rPr lang="en-US" sz="2000" dirty="0"/>
              <a:t>A variable can be declared either by assigning it a value, in which case the interpreter implicitly declares it to be a variable, or by listing it in a declaration statement that begins with the reserved word </a:t>
            </a:r>
            <a:r>
              <a:rPr lang="en-US" sz="2000" dirty="0">
                <a:solidFill>
                  <a:srgbClr val="FF0000"/>
                </a:solidFill>
              </a:rPr>
              <a:t>var</a:t>
            </a:r>
            <a:r>
              <a:rPr lang="en-US" sz="2000" dirty="0"/>
              <a:t>.</a:t>
            </a:r>
          </a:p>
          <a:p>
            <a:pPr algn="just"/>
            <a:endParaRPr lang="en-US" sz="2000" dirty="0"/>
          </a:p>
          <a:p>
            <a:pPr lvl="1" algn="just"/>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var counter,</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index,</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pi = 3.14159265, </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quarterback = "Elway",</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stop_flag</a:t>
            </a:r>
            <a:r>
              <a:rPr lang="en-US" sz="2000" dirty="0">
                <a:latin typeface="Calibri Light" panose="020F0302020204030204" pitchFamily="34" charset="0"/>
                <a:ea typeface="Calibri Light" panose="020F0302020204030204" pitchFamily="34" charset="0"/>
                <a:cs typeface="Calibri Light" panose="020F0302020204030204" pitchFamily="34" charset="0"/>
              </a:rPr>
              <a:t> = true;</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43561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35B1-05F0-15BA-929B-BEF67B652E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35F3E9-1DE1-0917-B90F-127A5BB6C944}"/>
              </a:ext>
            </a:extLst>
          </p:cNvPr>
          <p:cNvSpPr txBox="1"/>
          <p:nvPr/>
        </p:nvSpPr>
        <p:spPr>
          <a:xfrm>
            <a:off x="528918" y="421341"/>
            <a:ext cx="11143129" cy="5693866"/>
          </a:xfrm>
          <a:prstGeom prst="rect">
            <a:avLst/>
          </a:prstGeom>
          <a:noFill/>
        </p:spPr>
        <p:txBody>
          <a:bodyPr wrap="square" rtlCol="0">
            <a:spAutoFit/>
          </a:bodyPr>
          <a:lstStyle/>
          <a:p>
            <a:r>
              <a:rPr lang="en-IN" sz="2400" b="1" dirty="0"/>
              <a:t>4.5 Numeric Operators</a:t>
            </a:r>
            <a:endParaRPr lang="en-US" sz="2400" b="1" dirty="0"/>
          </a:p>
          <a:p>
            <a:endParaRPr lang="en-US" sz="2000" dirty="0"/>
          </a:p>
          <a:p>
            <a:pPr marL="342900" indent="-342900">
              <a:buFont typeface="Arial" panose="020B0604020202020204" pitchFamily="34" charset="0"/>
              <a:buChar char="•"/>
            </a:pPr>
            <a:r>
              <a:rPr lang="en-US" sz="2000" dirty="0"/>
              <a:t>JavaScript has the typical collection of numeric operators: the binary operators + for addition, - for subtraction, * for multiplication, / for division, and % for modulus.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unary operators are plus (+), negate (-), decrement (--), and increment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associativity rules of a language specify which operator is evaluated first when two operators with the same precedence are adjacent in an expression.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IN" sz="2000" dirty="0"/>
          </a:p>
        </p:txBody>
      </p:sp>
      <p:pic>
        <p:nvPicPr>
          <p:cNvPr id="4" name="Picture 3">
            <a:extLst>
              <a:ext uri="{FF2B5EF4-FFF2-40B4-BE49-F238E27FC236}">
                <a16:creationId xmlns:a16="http://schemas.microsoft.com/office/drawing/2014/main" id="{02B15C11-3D86-2712-4A33-1B5B32495543}"/>
              </a:ext>
            </a:extLst>
          </p:cNvPr>
          <p:cNvPicPr>
            <a:picLocks noChangeAspect="1"/>
          </p:cNvPicPr>
          <p:nvPr/>
        </p:nvPicPr>
        <p:blipFill>
          <a:blip r:embed="rId2"/>
          <a:stretch>
            <a:fillRect/>
          </a:stretch>
        </p:blipFill>
        <p:spPr>
          <a:xfrm>
            <a:off x="2714153" y="3631400"/>
            <a:ext cx="6763694" cy="2105319"/>
          </a:xfrm>
          <a:prstGeom prst="rect">
            <a:avLst/>
          </a:prstGeom>
        </p:spPr>
      </p:pic>
    </p:spTree>
    <p:extLst>
      <p:ext uri="{BB962C8B-B14F-4D97-AF65-F5344CB8AC3E}">
        <p14:creationId xmlns:p14="http://schemas.microsoft.com/office/powerpoint/2010/main" val="1925853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50A0-76B9-3977-F42E-03D8C40472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8ACC8D-6B3B-6765-FE3D-129971363D72}"/>
              </a:ext>
            </a:extLst>
          </p:cNvPr>
          <p:cNvSpPr txBox="1"/>
          <p:nvPr/>
        </p:nvSpPr>
        <p:spPr>
          <a:xfrm>
            <a:off x="528918" y="421341"/>
            <a:ext cx="11143129" cy="4770537"/>
          </a:xfrm>
          <a:prstGeom prst="rect">
            <a:avLst/>
          </a:prstGeom>
          <a:noFill/>
        </p:spPr>
        <p:txBody>
          <a:bodyPr wrap="square" rtlCol="0">
            <a:spAutoFit/>
          </a:bodyPr>
          <a:lstStyle/>
          <a:p>
            <a:r>
              <a:rPr lang="en-IN" sz="2400" b="1" dirty="0"/>
              <a:t>4.6 The Math Object</a:t>
            </a:r>
            <a:endParaRPr lang="en-US" sz="2400" b="1" dirty="0"/>
          </a:p>
          <a:p>
            <a:endParaRPr lang="en-US" sz="2000" dirty="0"/>
          </a:p>
          <a:p>
            <a:pPr marL="342900" indent="-342900" algn="just">
              <a:buFont typeface="Arial" panose="020B0604020202020204" pitchFamily="34" charset="0"/>
              <a:buChar char="•"/>
            </a:pPr>
            <a:r>
              <a:rPr lang="en-US" sz="2000" dirty="0"/>
              <a:t>The Math object provides a collection of properties of Number objects and methods that operate on Number objects.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Math object has methods for the trigonometric functions, such as sin (for sine) and cos (for cosine), as well as for other commonly used mathematical operations.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Among these are floor, to truncate a number; round, to round a number; and max, to return the largest of two given numbers.</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Math.sin</a:t>
            </a:r>
            <a:r>
              <a:rPr lang="en-US" sz="2000" dirty="0">
                <a:latin typeface="Calibri Light" panose="020F0302020204030204" pitchFamily="34" charset="0"/>
                <a:ea typeface="Calibri Light" panose="020F0302020204030204" pitchFamily="34" charset="0"/>
                <a:cs typeface="Calibri Light" panose="020F0302020204030204" pitchFamily="34" charset="0"/>
              </a:rPr>
              <a:t>(x)</a:t>
            </a:r>
          </a:p>
          <a:p>
            <a:endParaRPr lang="en-US" sz="2000" dirty="0"/>
          </a:p>
          <a:p>
            <a:endParaRPr lang="en-US" sz="2000" dirty="0"/>
          </a:p>
          <a:p>
            <a:endParaRPr lang="en-IN" sz="2000" dirty="0"/>
          </a:p>
        </p:txBody>
      </p:sp>
    </p:spTree>
    <p:extLst>
      <p:ext uri="{BB962C8B-B14F-4D97-AF65-F5344CB8AC3E}">
        <p14:creationId xmlns:p14="http://schemas.microsoft.com/office/powerpoint/2010/main" val="1264991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8057A-6130-F7D2-9409-E84B93616D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952427-D84A-B225-7AC7-DF3EC9D63606}"/>
              </a:ext>
            </a:extLst>
          </p:cNvPr>
          <p:cNvSpPr txBox="1"/>
          <p:nvPr/>
        </p:nvSpPr>
        <p:spPr>
          <a:xfrm>
            <a:off x="528918" y="421341"/>
            <a:ext cx="11143129" cy="5693866"/>
          </a:xfrm>
          <a:prstGeom prst="rect">
            <a:avLst/>
          </a:prstGeom>
          <a:noFill/>
        </p:spPr>
        <p:txBody>
          <a:bodyPr wrap="square" rtlCol="0">
            <a:spAutoFit/>
          </a:bodyPr>
          <a:lstStyle/>
          <a:p>
            <a:r>
              <a:rPr lang="en-IN" sz="2400" b="1" dirty="0"/>
              <a:t>4.7 The Number Object</a:t>
            </a:r>
            <a:endParaRPr lang="en-US" sz="2400" b="1" dirty="0"/>
          </a:p>
          <a:p>
            <a:endParaRPr lang="en-US" sz="2000" dirty="0"/>
          </a:p>
          <a:p>
            <a:r>
              <a:rPr lang="en-US" sz="2000" dirty="0"/>
              <a:t>The Number object includes a collection of useful properties that have constant values.</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var price = 427,</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str_price</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 . .</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str_price</a:t>
            </a:r>
            <a:r>
              <a:rPr lang="en-US" sz="2000" dirty="0">
                <a:latin typeface="Calibri Light" panose="020F0302020204030204" pitchFamily="34" charset="0"/>
                <a:ea typeface="Calibri Light" panose="020F0302020204030204" pitchFamily="34" charset="0"/>
                <a:cs typeface="Calibri Light" panose="020F0302020204030204" pitchFamily="34" charset="0"/>
              </a:rPr>
              <a:t> =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price.toString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a:p>
            <a:endParaRPr lang="en-US" sz="2000" dirty="0"/>
          </a:p>
          <a:p>
            <a:endParaRPr lang="en-IN" sz="2000" dirty="0"/>
          </a:p>
        </p:txBody>
      </p:sp>
      <p:pic>
        <p:nvPicPr>
          <p:cNvPr id="4" name="Picture 3">
            <a:extLst>
              <a:ext uri="{FF2B5EF4-FFF2-40B4-BE49-F238E27FC236}">
                <a16:creationId xmlns:a16="http://schemas.microsoft.com/office/drawing/2014/main" id="{BB75D7E8-9620-716A-653C-1346A9E198AE}"/>
              </a:ext>
            </a:extLst>
          </p:cNvPr>
          <p:cNvPicPr>
            <a:picLocks noChangeAspect="1"/>
          </p:cNvPicPr>
          <p:nvPr/>
        </p:nvPicPr>
        <p:blipFill>
          <a:blip r:embed="rId2"/>
          <a:stretch>
            <a:fillRect/>
          </a:stretch>
        </p:blipFill>
        <p:spPr>
          <a:xfrm>
            <a:off x="2076138" y="1515724"/>
            <a:ext cx="7005109" cy="2437243"/>
          </a:xfrm>
          <a:prstGeom prst="rect">
            <a:avLst/>
          </a:prstGeom>
        </p:spPr>
      </p:pic>
    </p:spTree>
    <p:extLst>
      <p:ext uri="{BB962C8B-B14F-4D97-AF65-F5344CB8AC3E}">
        <p14:creationId xmlns:p14="http://schemas.microsoft.com/office/powerpoint/2010/main" val="3949568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AAF7F-5D2F-B2F2-A4D0-0A5182A14A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A2EA22-B466-4EC1-BB98-70D52F3E7CC9}"/>
              </a:ext>
            </a:extLst>
          </p:cNvPr>
          <p:cNvSpPr txBox="1"/>
          <p:nvPr/>
        </p:nvSpPr>
        <p:spPr>
          <a:xfrm>
            <a:off x="528918" y="421341"/>
            <a:ext cx="11143129" cy="6063198"/>
          </a:xfrm>
          <a:prstGeom prst="rect">
            <a:avLst/>
          </a:prstGeom>
          <a:noFill/>
        </p:spPr>
        <p:txBody>
          <a:bodyPr wrap="square" rtlCol="0">
            <a:spAutoFit/>
          </a:bodyPr>
          <a:lstStyle/>
          <a:p>
            <a:r>
              <a:rPr lang="en-US" sz="2400" b="1" dirty="0"/>
              <a:t>4.8 The String Catenation Operator</a:t>
            </a:r>
          </a:p>
          <a:p>
            <a:endParaRPr lang="en-US" sz="2000" dirty="0"/>
          </a:p>
          <a:p>
            <a:pPr marL="342900" indent="-342900">
              <a:buFont typeface="Arial" panose="020B0604020202020204" pitchFamily="34" charset="0"/>
              <a:buChar char="•"/>
            </a:pPr>
            <a:r>
              <a:rPr lang="en-US" sz="2000" dirty="0"/>
              <a:t>JavaScript strings are not stored or treated as arrays of characters; rather, they are unit scalar values.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String catenation is specified with the operator denoted by a plus sign (+).</a:t>
            </a:r>
          </a:p>
          <a:p>
            <a:endParaRPr lang="en-US" sz="2000" dirty="0"/>
          </a:p>
          <a:p>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first + " Freeloader"</a:t>
            </a:r>
          </a:p>
          <a:p>
            <a:endParaRPr lang="en-IN" sz="2000" dirty="0"/>
          </a:p>
          <a:p>
            <a:r>
              <a:rPr lang="en-IN" sz="2400" b="1" dirty="0"/>
              <a:t>4.9 Implicit Type Conversions</a:t>
            </a:r>
            <a:endParaRPr lang="en-US" sz="2400" b="1" dirty="0"/>
          </a:p>
          <a:p>
            <a:endParaRPr lang="en-US" sz="2000" dirty="0"/>
          </a:p>
          <a:p>
            <a:pPr marL="342900" indent="-342900">
              <a:buFont typeface="Arial" panose="020B0604020202020204" pitchFamily="34" charset="0"/>
              <a:buChar char="•"/>
            </a:pPr>
            <a:r>
              <a:rPr lang="en-US" sz="2000" dirty="0"/>
              <a:t>The JavaScript interpreter performs several different implicit type conversions. Such conversions are called </a:t>
            </a:r>
            <a:r>
              <a:rPr lang="en-US" sz="2000" i="1" dirty="0">
                <a:latin typeface="Calibri Light" panose="020F0302020204030204" pitchFamily="34" charset="0"/>
                <a:ea typeface="Calibri Light" panose="020F0302020204030204" pitchFamily="34" charset="0"/>
                <a:cs typeface="Calibri Light" panose="020F0302020204030204" pitchFamily="34" charset="0"/>
              </a:rPr>
              <a:t>coercions</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either operand of a + operator is a string, the operator is interpreted as a string catenation operator.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"August " + 1977</a:t>
            </a:r>
            <a:endParaRPr lang="en-IN" sz="2000" dirty="0"/>
          </a:p>
          <a:p>
            <a:pPr marL="342900" indent="-342900">
              <a:buFont typeface="Arial" panose="020B0604020202020204" pitchFamily="34" charset="0"/>
              <a:buChar char="•"/>
            </a:pPr>
            <a:r>
              <a:rPr lang="en-IN" sz="2000" dirty="0"/>
              <a:t>	7 * "3"</a:t>
            </a:r>
          </a:p>
        </p:txBody>
      </p:sp>
    </p:spTree>
    <p:extLst>
      <p:ext uri="{BB962C8B-B14F-4D97-AF65-F5344CB8AC3E}">
        <p14:creationId xmlns:p14="http://schemas.microsoft.com/office/powerpoint/2010/main" val="477234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60111-BBB5-89A2-BAB8-9C9253F502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BCA25E-2791-4919-97DF-435B41C194F8}"/>
              </a:ext>
            </a:extLst>
          </p:cNvPr>
          <p:cNvSpPr txBox="1"/>
          <p:nvPr/>
        </p:nvSpPr>
        <p:spPr>
          <a:xfrm>
            <a:off x="528918" y="421341"/>
            <a:ext cx="11143129" cy="6063198"/>
          </a:xfrm>
          <a:prstGeom prst="rect">
            <a:avLst/>
          </a:prstGeom>
          <a:noFill/>
        </p:spPr>
        <p:txBody>
          <a:bodyPr wrap="square" rtlCol="0">
            <a:spAutoFit/>
          </a:bodyPr>
          <a:lstStyle/>
          <a:p>
            <a:r>
              <a:rPr lang="en-IN" sz="2400" b="1" dirty="0"/>
              <a:t>4.10 Explicit Type Conversions</a:t>
            </a:r>
          </a:p>
          <a:p>
            <a:endParaRPr lang="en-IN" sz="2400" dirty="0"/>
          </a:p>
          <a:p>
            <a:pPr marL="342900" indent="-342900">
              <a:buFont typeface="Arial" panose="020B0604020202020204" pitchFamily="34" charset="0"/>
              <a:buChar char="•"/>
            </a:pPr>
            <a:r>
              <a:rPr lang="en-US" sz="2000" dirty="0"/>
              <a:t>There are several different ways to force type conversions, primarily between strings and numbers.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Strings that contain numbers can be converted to numbers with the String constructor</a:t>
            </a:r>
          </a:p>
          <a:p>
            <a:pPr lvl="1"/>
            <a:r>
              <a:rPr lang="en-US" sz="2000" dirty="0"/>
              <a:t>Ex1:</a:t>
            </a:r>
          </a:p>
          <a:p>
            <a:pPr lvl="2"/>
            <a:r>
              <a:rPr lang="en-IN" sz="2000" dirty="0">
                <a:latin typeface="Calibri Light" panose="020F0302020204030204" pitchFamily="34" charset="0"/>
                <a:ea typeface="Calibri Light" panose="020F0302020204030204" pitchFamily="34" charset="0"/>
                <a:cs typeface="Calibri Light" panose="020F0302020204030204" pitchFamily="34" charset="0"/>
              </a:rPr>
              <a:t>var </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str_value</a:t>
            </a:r>
            <a:r>
              <a:rPr lang="en-IN" sz="2000" dirty="0">
                <a:latin typeface="Calibri Light" panose="020F0302020204030204" pitchFamily="34" charset="0"/>
                <a:ea typeface="Calibri Light" panose="020F0302020204030204" pitchFamily="34" charset="0"/>
                <a:cs typeface="Calibri Light" panose="020F0302020204030204" pitchFamily="34" charset="0"/>
              </a:rPr>
              <a:t> = String(value);</a:t>
            </a:r>
          </a:p>
          <a:p>
            <a:pPr lvl="1"/>
            <a:r>
              <a:rPr lang="en-IN" sz="2000" dirty="0"/>
              <a:t>Ex2:</a:t>
            </a:r>
          </a:p>
          <a:p>
            <a:pPr lvl="2"/>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var num = 6;</a:t>
            </a:r>
          </a:p>
          <a:p>
            <a:pPr lvl="2"/>
            <a:r>
              <a:rPr lang="en-US" sz="2000" dirty="0">
                <a:latin typeface="Calibri Light" panose="020F0302020204030204" pitchFamily="34" charset="0"/>
                <a:ea typeface="Calibri Light" panose="020F0302020204030204" pitchFamily="34" charset="0"/>
                <a:cs typeface="Calibri Light" panose="020F0302020204030204" pitchFamily="34" charset="0"/>
              </a:rPr>
              <a:t> var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str_value</a:t>
            </a:r>
            <a:r>
              <a:rPr lang="en-US" sz="2000" dirty="0">
                <a:latin typeface="Calibri Light" panose="020F0302020204030204" pitchFamily="34" charset="0"/>
                <a:ea typeface="Calibri Light" panose="020F0302020204030204" pitchFamily="34" charset="0"/>
                <a:cs typeface="Calibri Light" panose="020F0302020204030204" pitchFamily="34" charset="0"/>
              </a:rPr>
              <a:t> =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num.toString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r>
              <a:rPr lang="en-US" sz="2000" dirty="0"/>
              <a:t>		//”6”</a:t>
            </a:r>
          </a:p>
          <a:p>
            <a:pPr lvl="2"/>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var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str_value_binary</a:t>
            </a:r>
            <a:r>
              <a:rPr lang="en-US" sz="2000" dirty="0">
                <a:latin typeface="Calibri Light" panose="020F0302020204030204" pitchFamily="34" charset="0"/>
                <a:ea typeface="Calibri Light" panose="020F0302020204030204" pitchFamily="34" charset="0"/>
                <a:cs typeface="Calibri Light" panose="020F0302020204030204" pitchFamily="34" charset="0"/>
              </a:rPr>
              <a:t> =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num.toString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(2);</a:t>
            </a:r>
            <a:r>
              <a:rPr lang="en-US" sz="2000" dirty="0"/>
              <a:t>	//”110”</a:t>
            </a:r>
          </a:p>
          <a:p>
            <a:pPr marL="342900" indent="-342900">
              <a:buFont typeface="Arial" panose="020B0604020202020204" pitchFamily="34" charset="0"/>
              <a:buChar char="•"/>
            </a:pPr>
            <a:r>
              <a:rPr lang="en-US" sz="2000" dirty="0"/>
              <a:t>A number also can be converted to a string by catenating it with the empty string.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Strings can be explicitly converted to numbers in several different ways.</a:t>
            </a:r>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var number = Number(</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aString</a:t>
            </a:r>
            <a:r>
              <a:rPr lang="en-IN" sz="2000" dirty="0">
                <a:latin typeface="Calibri Light" panose="020F0302020204030204" pitchFamily="34" charset="0"/>
                <a:ea typeface="Calibri Light" panose="020F0302020204030204" pitchFamily="34" charset="0"/>
                <a:cs typeface="Calibri Light" panose="020F0302020204030204" pitchFamily="34" charset="0"/>
              </a:rPr>
              <a:t>);</a:t>
            </a:r>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var number = </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aString</a:t>
            </a:r>
            <a:r>
              <a:rPr lang="en-IN" sz="2000" dirty="0">
                <a:latin typeface="Calibri Light" panose="020F0302020204030204" pitchFamily="34" charset="0"/>
                <a:ea typeface="Calibri Light" panose="020F0302020204030204" pitchFamily="34" charset="0"/>
                <a:cs typeface="Calibri Light" panose="020F0302020204030204" pitchFamily="34" charset="0"/>
              </a:rPr>
              <a:t> - 0;</a:t>
            </a:r>
          </a:p>
          <a:p>
            <a:pPr marL="342900" indent="-342900">
              <a:buFont typeface="Arial" panose="020B0604020202020204" pitchFamily="34" charset="0"/>
              <a:buChar char="•"/>
            </a:pPr>
            <a:r>
              <a:rPr lang="en-US" sz="2000" dirty="0"/>
              <a:t>The two, </a:t>
            </a:r>
            <a:r>
              <a:rPr lang="en-US" sz="2000" dirty="0" err="1"/>
              <a:t>parseInt</a:t>
            </a:r>
            <a:r>
              <a:rPr lang="en-US" sz="2000" dirty="0"/>
              <a:t> and </a:t>
            </a:r>
            <a:r>
              <a:rPr lang="en-US" sz="2000" dirty="0" err="1"/>
              <a:t>parseFloat</a:t>
            </a:r>
            <a:r>
              <a:rPr lang="en-US" sz="2000" dirty="0"/>
              <a:t>, are not String methods, so they are not called through String objects.</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085364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3FDBB-20C5-2E07-B040-7EADAC48EB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945465-FD30-06B7-9610-0517633E15C8}"/>
              </a:ext>
            </a:extLst>
          </p:cNvPr>
          <p:cNvSpPr txBox="1"/>
          <p:nvPr/>
        </p:nvSpPr>
        <p:spPr>
          <a:xfrm>
            <a:off x="528918" y="421341"/>
            <a:ext cx="11143129" cy="5078313"/>
          </a:xfrm>
          <a:prstGeom prst="rect">
            <a:avLst/>
          </a:prstGeom>
          <a:noFill/>
        </p:spPr>
        <p:txBody>
          <a:bodyPr wrap="square" rtlCol="0">
            <a:spAutoFit/>
          </a:bodyPr>
          <a:lstStyle/>
          <a:p>
            <a:r>
              <a:rPr lang="en-US" sz="2400" b="1" dirty="0"/>
              <a:t>4.11 String Properties and Methods</a:t>
            </a:r>
          </a:p>
          <a:p>
            <a:endParaRPr lang="en-US" sz="2000" dirty="0"/>
          </a:p>
          <a:p>
            <a:pPr marL="342900" indent="-342900" algn="just">
              <a:buFont typeface="Arial" panose="020B0604020202020204" pitchFamily="34" charset="0"/>
              <a:buChar char="•"/>
            </a:pPr>
            <a:r>
              <a:rPr lang="en-US" sz="2000" dirty="0"/>
              <a:t>String methods can always be used through String primitive values, as if the values were objects because of coercion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length property: gives number of characters in a string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String Methods: </a:t>
            </a:r>
          </a:p>
          <a:p>
            <a:endParaRPr lang="en-US" sz="2000" dirty="0"/>
          </a:p>
          <a:p>
            <a:pPr lvl="1"/>
            <a:r>
              <a:rPr lang="en-IN" sz="2000" dirty="0">
                <a:latin typeface="Calibri Light" panose="020F0302020204030204" pitchFamily="34" charset="0"/>
                <a:ea typeface="Calibri Light" panose="020F0302020204030204" pitchFamily="34" charset="0"/>
                <a:cs typeface="Calibri Light" panose="020F0302020204030204" pitchFamily="34" charset="0"/>
              </a:rPr>
              <a:t>var str = "George";</a:t>
            </a:r>
          </a:p>
          <a:p>
            <a:pPr lvl="1"/>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str.charAt</a:t>
            </a:r>
            <a:r>
              <a:rPr lang="en-US" sz="2000" dirty="0">
                <a:latin typeface="Calibri Light" panose="020F0302020204030204" pitchFamily="34" charset="0"/>
                <a:ea typeface="Calibri Light" panose="020F0302020204030204" pitchFamily="34" charset="0"/>
                <a:cs typeface="Calibri Light" panose="020F0302020204030204" pitchFamily="34" charset="0"/>
              </a:rPr>
              <a:t>(2)  is 'o'</a:t>
            </a: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str.indexOf</a:t>
            </a:r>
            <a:r>
              <a:rPr lang="en-US" sz="2000" dirty="0">
                <a:latin typeface="Calibri Light" panose="020F0302020204030204" pitchFamily="34" charset="0"/>
                <a:ea typeface="Calibri Light" panose="020F0302020204030204" pitchFamily="34" charset="0"/>
                <a:cs typeface="Calibri Light" panose="020F0302020204030204" pitchFamily="34" charset="0"/>
              </a:rPr>
              <a:t>('r')  is 3</a:t>
            </a: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str.substring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(2, 4)  is 'org'</a:t>
            </a: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str.toLowerCase</a:t>
            </a:r>
            <a:r>
              <a:rPr lang="en-US" sz="2000" dirty="0">
                <a:latin typeface="Calibri Light" panose="020F0302020204030204" pitchFamily="34" charset="0"/>
                <a:ea typeface="Calibri Light" panose="020F0302020204030204" pitchFamily="34" charset="0"/>
                <a:cs typeface="Calibri Light" panose="020F0302020204030204" pitchFamily="34" charset="0"/>
              </a:rPr>
              <a:t>()  is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george</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a:p>
            <a:endParaRPr lang="en-IN" sz="2000" dirty="0"/>
          </a:p>
        </p:txBody>
      </p:sp>
      <p:pic>
        <p:nvPicPr>
          <p:cNvPr id="4" name="Picture 3">
            <a:extLst>
              <a:ext uri="{FF2B5EF4-FFF2-40B4-BE49-F238E27FC236}">
                <a16:creationId xmlns:a16="http://schemas.microsoft.com/office/drawing/2014/main" id="{0FFD04F0-553F-4775-4F49-77D64752EF92}"/>
              </a:ext>
            </a:extLst>
          </p:cNvPr>
          <p:cNvPicPr>
            <a:picLocks noChangeAspect="1"/>
          </p:cNvPicPr>
          <p:nvPr/>
        </p:nvPicPr>
        <p:blipFill>
          <a:blip r:embed="rId2"/>
          <a:stretch>
            <a:fillRect/>
          </a:stretch>
        </p:blipFill>
        <p:spPr>
          <a:xfrm>
            <a:off x="4366470" y="3113826"/>
            <a:ext cx="7529035" cy="2843785"/>
          </a:xfrm>
          <a:prstGeom prst="rect">
            <a:avLst/>
          </a:prstGeom>
        </p:spPr>
      </p:pic>
    </p:spTree>
    <p:extLst>
      <p:ext uri="{BB962C8B-B14F-4D97-AF65-F5344CB8AC3E}">
        <p14:creationId xmlns:p14="http://schemas.microsoft.com/office/powerpoint/2010/main" val="352995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05E99-5F94-D695-7B0F-ECECDEB977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E23804-2F5A-96A7-810D-3A1504C52EED}"/>
              </a:ext>
            </a:extLst>
          </p:cNvPr>
          <p:cNvSpPr txBox="1"/>
          <p:nvPr/>
        </p:nvSpPr>
        <p:spPr>
          <a:xfrm>
            <a:off x="528918" y="421341"/>
            <a:ext cx="11143129" cy="5693866"/>
          </a:xfrm>
          <a:prstGeom prst="rect">
            <a:avLst/>
          </a:prstGeom>
          <a:noFill/>
        </p:spPr>
        <p:txBody>
          <a:bodyPr wrap="square" rtlCol="0">
            <a:spAutoFit/>
          </a:bodyPr>
          <a:lstStyle/>
          <a:p>
            <a:r>
              <a:rPr lang="en-IN" sz="2400" b="1" dirty="0"/>
              <a:t>4.12 The </a:t>
            </a:r>
            <a:r>
              <a:rPr lang="en-IN" sz="2400" b="1" dirty="0" err="1"/>
              <a:t>typeof</a:t>
            </a:r>
            <a:r>
              <a:rPr lang="en-IN" sz="2400" b="1" dirty="0"/>
              <a:t> Operator</a:t>
            </a:r>
            <a:endParaRPr lang="en-US" sz="2400" b="1" dirty="0"/>
          </a:p>
          <a:p>
            <a:endParaRPr lang="en-US" sz="2000" dirty="0"/>
          </a:p>
          <a:p>
            <a:pPr marL="342900" indent="-342900" algn="just">
              <a:buFont typeface="Arial" panose="020B0604020202020204" pitchFamily="34" charset="0"/>
              <a:buChar char="•"/>
            </a:pPr>
            <a:r>
              <a:rPr lang="en-US" sz="2000" dirty="0"/>
              <a:t>returns the type of its single operand</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IN" sz="2000" dirty="0"/>
              <a:t>produces " </a:t>
            </a:r>
            <a:r>
              <a:rPr lang="en-IN" sz="2000" dirty="0" err="1"/>
              <a:t>number","string</a:t>
            </a:r>
            <a:r>
              <a:rPr lang="en-IN" sz="2000" dirty="0"/>
              <a:t> ", or “</a:t>
            </a:r>
            <a:r>
              <a:rPr lang="en-IN" sz="2000" dirty="0" err="1"/>
              <a:t>boolean</a:t>
            </a:r>
            <a:r>
              <a:rPr lang="en-IN" sz="2000" dirty="0"/>
              <a:t>” </a:t>
            </a:r>
            <a:r>
              <a:rPr lang="en-US" sz="2000" dirty="0"/>
              <a:t>if the operand is of primitive type Number,</a:t>
            </a:r>
            <a:r>
              <a:rPr lang="en-IN" sz="2000" dirty="0"/>
              <a:t> String, or Boolean, respectively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the operand is an object or null,</a:t>
            </a:r>
            <a:r>
              <a:rPr lang="en-IN" sz="2000" dirty="0"/>
              <a:t> </a:t>
            </a:r>
            <a:r>
              <a:rPr lang="en-IN" sz="2000" dirty="0" err="1"/>
              <a:t>typeof</a:t>
            </a:r>
            <a:r>
              <a:rPr lang="en-IN" sz="2000" dirty="0"/>
              <a:t> produces "object“=&gt;Objects do not have types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the operand is a variable that has not been assigned a value,</a:t>
            </a:r>
            <a:r>
              <a:rPr lang="en-IN" sz="2000" dirty="0"/>
              <a:t> </a:t>
            </a:r>
            <a:r>
              <a:rPr lang="en-IN" sz="2000" dirty="0" err="1"/>
              <a:t>typeof</a:t>
            </a:r>
            <a:r>
              <a:rPr lang="en-IN" sz="2000" dirty="0"/>
              <a:t> produces </a:t>
            </a:r>
            <a:r>
              <a:rPr lang="en-US" sz="2000" dirty="0"/>
              <a:t>"undefined", reflecting the fact that variables themselves are not typed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err="1"/>
              <a:t>typeof</a:t>
            </a:r>
            <a:r>
              <a:rPr lang="en-US" sz="2000" dirty="0"/>
              <a:t> operator always returns a string</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err="1"/>
              <a:t>typeof</a:t>
            </a:r>
            <a:r>
              <a:rPr lang="en-US" sz="2000" dirty="0"/>
              <a:t> operator always returns a string x and </a:t>
            </a:r>
            <a:r>
              <a:rPr lang="en-US" sz="2000" dirty="0" err="1"/>
              <a:t>typeof</a:t>
            </a:r>
            <a:r>
              <a:rPr lang="en-US" sz="2000" dirty="0"/>
              <a:t> (x) are equivalent </a:t>
            </a:r>
          </a:p>
          <a:p>
            <a:endParaRPr lang="en-US" sz="2000" dirty="0"/>
          </a:p>
          <a:p>
            <a:endParaRPr lang="en-US" sz="2000" dirty="0"/>
          </a:p>
          <a:p>
            <a:endParaRPr lang="en-IN" sz="2000" dirty="0"/>
          </a:p>
        </p:txBody>
      </p:sp>
    </p:spTree>
    <p:extLst>
      <p:ext uri="{BB962C8B-B14F-4D97-AF65-F5344CB8AC3E}">
        <p14:creationId xmlns:p14="http://schemas.microsoft.com/office/powerpoint/2010/main" val="3178715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3DCA6-8AC1-440F-38FF-BE5541B2FC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5806C5-75A8-71BA-9F08-67BD126E89DE}"/>
              </a:ext>
            </a:extLst>
          </p:cNvPr>
          <p:cNvSpPr txBox="1"/>
          <p:nvPr/>
        </p:nvSpPr>
        <p:spPr>
          <a:xfrm>
            <a:off x="528918" y="421341"/>
            <a:ext cx="11143129" cy="3539430"/>
          </a:xfrm>
          <a:prstGeom prst="rect">
            <a:avLst/>
          </a:prstGeom>
          <a:noFill/>
        </p:spPr>
        <p:txBody>
          <a:bodyPr wrap="square" rtlCol="0">
            <a:spAutoFit/>
          </a:bodyPr>
          <a:lstStyle/>
          <a:p>
            <a:r>
              <a:rPr lang="en-IN" sz="2400" b="1" dirty="0"/>
              <a:t>4.13 Assignment Statements</a:t>
            </a:r>
            <a:endParaRPr lang="en-US" sz="2400" b="1" dirty="0"/>
          </a:p>
          <a:p>
            <a:endParaRPr lang="en-US" sz="2000" dirty="0"/>
          </a:p>
          <a:p>
            <a:pPr marL="342900" indent="-342900">
              <a:buFont typeface="Arial" panose="020B0604020202020204" pitchFamily="34" charset="0"/>
              <a:buChar char="•"/>
            </a:pPr>
            <a:r>
              <a:rPr lang="en-US" sz="2000" dirty="0"/>
              <a:t>There is a </a:t>
            </a:r>
            <a:r>
              <a:rPr lang="en-US" sz="2000" dirty="0">
                <a:solidFill>
                  <a:srgbClr val="FF0000"/>
                </a:solidFill>
              </a:rPr>
              <a:t>simple assignment </a:t>
            </a:r>
            <a:r>
              <a:rPr lang="en-US" sz="2000" dirty="0"/>
              <a:t>operator, denoted by =, and a host of </a:t>
            </a:r>
            <a:r>
              <a:rPr lang="en-US" sz="2000" dirty="0">
                <a:solidFill>
                  <a:srgbClr val="FF0000"/>
                </a:solidFill>
              </a:rPr>
              <a:t>compound assignment </a:t>
            </a:r>
            <a:r>
              <a:rPr lang="en-US" sz="2000" dirty="0"/>
              <a:t>operators, such as += and /=.</a:t>
            </a:r>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a += 7;</a:t>
            </a:r>
          </a:p>
          <a:p>
            <a:pPr marL="800100" lvl="1" indent="-342900">
              <a:buFont typeface="Arial" panose="020B0604020202020204" pitchFamily="34" charset="0"/>
              <a:buChar char="•"/>
            </a:pP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a = a + 7;</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endParaRPr lang="en-US" sz="2000" dirty="0"/>
          </a:p>
          <a:p>
            <a:endParaRPr lang="en-US" sz="2000" dirty="0"/>
          </a:p>
          <a:p>
            <a:endParaRPr lang="en-IN" sz="2000" dirty="0"/>
          </a:p>
        </p:txBody>
      </p:sp>
    </p:spTree>
    <p:extLst>
      <p:ext uri="{BB962C8B-B14F-4D97-AF65-F5344CB8AC3E}">
        <p14:creationId xmlns:p14="http://schemas.microsoft.com/office/powerpoint/2010/main" val="974838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199F8-FA3D-D734-44A6-7A72F72F56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C19C07-1B9D-EE39-478E-4903DD7146BF}"/>
              </a:ext>
            </a:extLst>
          </p:cNvPr>
          <p:cNvSpPr txBox="1"/>
          <p:nvPr/>
        </p:nvSpPr>
        <p:spPr>
          <a:xfrm>
            <a:off x="528918" y="421341"/>
            <a:ext cx="11143129" cy="2923877"/>
          </a:xfrm>
          <a:prstGeom prst="rect">
            <a:avLst/>
          </a:prstGeom>
          <a:noFill/>
        </p:spPr>
        <p:txBody>
          <a:bodyPr wrap="square" rtlCol="0">
            <a:spAutoFit/>
          </a:bodyPr>
          <a:lstStyle/>
          <a:p>
            <a:r>
              <a:rPr lang="en-IN" sz="2400" dirty="0">
                <a:solidFill>
                  <a:srgbClr val="FF0000"/>
                </a:solidFill>
              </a:rPr>
              <a:t>4.14 The Date Object</a:t>
            </a:r>
            <a:endParaRPr lang="en-US" sz="2400" dirty="0">
              <a:solidFill>
                <a:srgbClr val="FF0000"/>
              </a:solidFill>
            </a:endParaRPr>
          </a:p>
          <a:p>
            <a:endParaRPr lang="en-US" sz="2000" dirty="0"/>
          </a:p>
          <a:p>
            <a:pPr marL="342900" indent="-342900">
              <a:buFont typeface="Arial" panose="020B0604020202020204" pitchFamily="34" charset="0"/>
              <a:buChar char="•"/>
            </a:pPr>
            <a:r>
              <a:rPr lang="en-US" sz="2000" dirty="0"/>
              <a:t>There are occasions when information about the current date and time is useful in a program.</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Date object is created with the new operator and the Date constructor, which has several forms.</a:t>
            </a:r>
          </a:p>
          <a:p>
            <a:pPr marL="342900" indent="-342900">
              <a:buFont typeface="Arial" panose="020B0604020202020204" pitchFamily="34" charset="0"/>
              <a:buChar char="•"/>
            </a:pPr>
            <a:endParaRPr lang="en-US" sz="2000" dirty="0"/>
          </a:p>
          <a:p>
            <a:r>
              <a:rPr lang="en-US" sz="2000" dirty="0"/>
              <a:t>	</a:t>
            </a:r>
            <a:r>
              <a:rPr lang="en-IN" sz="2000" dirty="0">
                <a:latin typeface="Calibri Light" panose="020F0302020204030204" pitchFamily="34" charset="0"/>
                <a:ea typeface="Calibri Light" panose="020F0302020204030204" pitchFamily="34" charset="0"/>
                <a:cs typeface="Calibri Light" panose="020F0302020204030204" pitchFamily="34" charset="0"/>
              </a:rPr>
              <a:t>var today = new Date();</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endParaRPr lang="en-IN" sz="2000" dirty="0"/>
          </a:p>
          <a:p>
            <a:endParaRPr lang="en-IN" sz="2000" dirty="0"/>
          </a:p>
        </p:txBody>
      </p:sp>
      <p:pic>
        <p:nvPicPr>
          <p:cNvPr id="4" name="Picture 3">
            <a:extLst>
              <a:ext uri="{FF2B5EF4-FFF2-40B4-BE49-F238E27FC236}">
                <a16:creationId xmlns:a16="http://schemas.microsoft.com/office/drawing/2014/main" id="{E557FDD7-6C34-1567-F597-BD235A2E6981}"/>
              </a:ext>
            </a:extLst>
          </p:cNvPr>
          <p:cNvPicPr>
            <a:picLocks noChangeAspect="1"/>
          </p:cNvPicPr>
          <p:nvPr/>
        </p:nvPicPr>
        <p:blipFill>
          <a:blip r:embed="rId2"/>
          <a:stretch>
            <a:fillRect/>
          </a:stretch>
        </p:blipFill>
        <p:spPr>
          <a:xfrm>
            <a:off x="2752422" y="2983571"/>
            <a:ext cx="6535014" cy="3114750"/>
          </a:xfrm>
          <a:prstGeom prst="rect">
            <a:avLst/>
          </a:prstGeom>
        </p:spPr>
      </p:pic>
    </p:spTree>
    <p:extLst>
      <p:ext uri="{BB962C8B-B14F-4D97-AF65-F5344CB8AC3E}">
        <p14:creationId xmlns:p14="http://schemas.microsoft.com/office/powerpoint/2010/main" val="895272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87986-F6D0-78AA-82B2-81CB1CCDC5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F8F622-3465-FE62-2CA9-4F6526AD5B9C}"/>
              </a:ext>
            </a:extLst>
          </p:cNvPr>
          <p:cNvSpPr txBox="1"/>
          <p:nvPr/>
        </p:nvSpPr>
        <p:spPr>
          <a:xfrm>
            <a:off x="528918" y="421341"/>
            <a:ext cx="11143129" cy="5693866"/>
          </a:xfrm>
          <a:prstGeom prst="rect">
            <a:avLst/>
          </a:prstGeom>
          <a:noFill/>
        </p:spPr>
        <p:txBody>
          <a:bodyPr wrap="square" rtlCol="0">
            <a:spAutoFit/>
          </a:bodyPr>
          <a:lstStyle/>
          <a:p>
            <a:r>
              <a:rPr lang="en-US" sz="2400" dirty="0">
                <a:solidFill>
                  <a:srgbClr val="FF0000"/>
                </a:solidFill>
              </a:rPr>
              <a:t>5 Screen Output and Keyboard Input</a:t>
            </a:r>
          </a:p>
          <a:p>
            <a:endParaRPr lang="en-US" sz="2000" dirty="0"/>
          </a:p>
          <a:p>
            <a:pPr marL="342900" indent="-342900" algn="just">
              <a:buFont typeface="Arial" panose="020B0604020202020204" pitchFamily="34" charset="0"/>
              <a:buChar char="•"/>
            </a:pPr>
            <a:r>
              <a:rPr lang="en-US" sz="2000" dirty="0"/>
              <a:t>A JavaScript script is interpreted when the browser finds the script or a reference to a separate script file in the body of the HTML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Thus, the normal output screen for JavaScript is the same as the screen in which the content of the host HTML document is displayed.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JavaScript models the HTML document with the </a:t>
            </a:r>
            <a:r>
              <a:rPr lang="en-US" sz="2000" dirty="0">
                <a:solidFill>
                  <a:srgbClr val="FF0000"/>
                </a:solidFill>
              </a:rPr>
              <a:t>Document</a:t>
            </a:r>
            <a:r>
              <a:rPr lang="en-US" sz="2000" dirty="0"/>
              <a:t> object.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window in which the browser displays an HTML document is modeled with the </a:t>
            </a:r>
            <a:r>
              <a:rPr lang="en-US" sz="2000" dirty="0">
                <a:solidFill>
                  <a:srgbClr val="FF0000"/>
                </a:solidFill>
              </a:rPr>
              <a:t>Window</a:t>
            </a:r>
            <a:r>
              <a:rPr lang="en-US" sz="2000" dirty="0"/>
              <a:t> object.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Window</a:t>
            </a:r>
            <a:r>
              <a:rPr lang="en-US" sz="2000" dirty="0"/>
              <a:t> object includes two properties, </a:t>
            </a:r>
            <a:r>
              <a:rPr lang="en-US" sz="2000" dirty="0">
                <a:solidFill>
                  <a:srgbClr val="FF0000"/>
                </a:solidFill>
              </a:rPr>
              <a:t>document</a:t>
            </a:r>
            <a:r>
              <a:rPr lang="en-US" sz="2000" dirty="0"/>
              <a:t> and </a:t>
            </a:r>
            <a:r>
              <a:rPr lang="en-US" sz="2000" dirty="0">
                <a:solidFill>
                  <a:srgbClr val="FF0000"/>
                </a:solidFill>
              </a:rPr>
              <a:t>window</a:t>
            </a:r>
            <a:r>
              <a:rPr lang="en-US" sz="2000" dirty="0"/>
              <a:t>.</a:t>
            </a:r>
          </a:p>
          <a:p>
            <a:pPr marL="342900" indent="-342900">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Document object has several properties and methods. The most interesting and useful of its methods, is </a:t>
            </a:r>
            <a:r>
              <a:rPr lang="en-US" sz="2000" dirty="0">
                <a:solidFill>
                  <a:srgbClr val="FF0000"/>
                </a:solidFill>
              </a:rPr>
              <a:t>write</a:t>
            </a:r>
            <a:r>
              <a:rPr lang="en-US" sz="2000" dirty="0"/>
              <a:t>, which is used to create output, </a:t>
            </a:r>
            <a:r>
              <a:rPr lang="en-US" sz="2000" dirty="0">
                <a:solidFill>
                  <a:srgbClr val="FF0000"/>
                </a:solidFill>
              </a:rPr>
              <a:t>which is dynamically created HTML document content</a:t>
            </a:r>
            <a:r>
              <a:rPr lang="en-US" sz="2000" dirty="0"/>
              <a:t>.</a:t>
            </a:r>
          </a:p>
          <a:p>
            <a:r>
              <a:rPr lang="en-IN" sz="2000" dirty="0"/>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document.write</a:t>
            </a:r>
            <a:r>
              <a:rPr lang="en-US" sz="2000" dirty="0">
                <a:latin typeface="Calibri Light" panose="020F0302020204030204" pitchFamily="34" charset="0"/>
                <a:ea typeface="Calibri Light" panose="020F0302020204030204" pitchFamily="34" charset="0"/>
                <a:cs typeface="Calibri Light" panose="020F0302020204030204" pitchFamily="34" charset="0"/>
              </a:rPr>
              <a:t>("The result is: ", result,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470714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6AC20-E77F-EB79-981E-5FAAFC4DA3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F6D99F-9A13-011E-254E-BA4DB98FA610}"/>
              </a:ext>
            </a:extLst>
          </p:cNvPr>
          <p:cNvSpPr txBox="1"/>
          <p:nvPr/>
        </p:nvSpPr>
        <p:spPr>
          <a:xfrm>
            <a:off x="528918" y="421341"/>
            <a:ext cx="11143129" cy="5078313"/>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solidFill>
                  <a:srgbClr val="FF0000"/>
                </a:solidFill>
              </a:rPr>
              <a:t>write</a:t>
            </a:r>
            <a:r>
              <a:rPr lang="en-US" sz="2000" dirty="0"/>
              <a:t> is used to create markup</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err="1">
                <a:solidFill>
                  <a:srgbClr val="FF0000"/>
                </a:solidFill>
              </a:rPr>
              <a:t>writeln</a:t>
            </a:r>
            <a:r>
              <a:rPr lang="en-US" sz="2000" dirty="0"/>
              <a:t> method implicitly adds "\n" to its parameter</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parameter of </a:t>
            </a:r>
            <a:r>
              <a:rPr lang="en-US" sz="2000" dirty="0">
                <a:solidFill>
                  <a:srgbClr val="FF0000"/>
                </a:solidFill>
              </a:rPr>
              <a:t>write</a:t>
            </a:r>
            <a:r>
              <a:rPr lang="en-US" sz="2000" dirty="0"/>
              <a:t> can include any HTML tags and content. The parameter is simply given to the browser, which treats it exactly like any other part of the HTML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Window</a:t>
            </a:r>
            <a:r>
              <a:rPr lang="en-US" sz="2000" dirty="0"/>
              <a:t> object is the JavaScript model for the browser window. Window includes three methods that create dialog boxes for three specific kinds of user interactions:</a:t>
            </a:r>
          </a:p>
          <a:p>
            <a:pPr marL="800100" lvl="1" indent="-342900" algn="just">
              <a:buFont typeface="Arial" panose="020B0604020202020204" pitchFamily="34" charset="0"/>
              <a:buChar char="•"/>
            </a:pPr>
            <a:r>
              <a:rPr lang="en-US" sz="2000" dirty="0"/>
              <a:t>alert</a:t>
            </a:r>
          </a:p>
          <a:p>
            <a:pPr marL="800100" lvl="1" indent="-342900" algn="just">
              <a:buFont typeface="Arial" panose="020B0604020202020204" pitchFamily="34" charset="0"/>
              <a:buChar char="•"/>
            </a:pPr>
            <a:r>
              <a:rPr lang="en-IN" sz="2000" dirty="0"/>
              <a:t>prompt</a:t>
            </a:r>
          </a:p>
          <a:p>
            <a:pPr marL="800100" lvl="1" indent="-342900" algn="just">
              <a:buFont typeface="Arial" panose="020B0604020202020204" pitchFamily="34" charset="0"/>
              <a:buChar char="•"/>
            </a:pPr>
            <a:r>
              <a:rPr lang="en-IN" sz="2000" dirty="0"/>
              <a:t>confirm</a:t>
            </a:r>
          </a:p>
          <a:p>
            <a:pPr marL="800100" lvl="1" indent="-342900" algn="just">
              <a:buFont typeface="Arial" panose="020B0604020202020204" pitchFamily="34" charset="0"/>
              <a:buChar char="•"/>
            </a:pPr>
            <a:endParaRPr lang="en-IN" sz="2000" dirty="0"/>
          </a:p>
          <a:p>
            <a:pPr marL="800100" lvl="1" indent="-342900" algn="just">
              <a:buFont typeface="Arial" panose="020B0604020202020204" pitchFamily="34" charset="0"/>
              <a:buChar char="•"/>
            </a:pPr>
            <a:endParaRPr lang="en-IN" sz="2000" dirty="0"/>
          </a:p>
        </p:txBody>
      </p:sp>
    </p:spTree>
    <p:extLst>
      <p:ext uri="{BB962C8B-B14F-4D97-AF65-F5344CB8AC3E}">
        <p14:creationId xmlns:p14="http://schemas.microsoft.com/office/powerpoint/2010/main" val="1340688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BB24-D67F-D0A4-B973-85AAD54AB6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16DE95-C14C-5CC4-A25A-99C2D98C98AC}"/>
              </a:ext>
            </a:extLst>
          </p:cNvPr>
          <p:cNvSpPr txBox="1"/>
          <p:nvPr/>
        </p:nvSpPr>
        <p:spPr>
          <a:xfrm>
            <a:off x="528918" y="421341"/>
            <a:ext cx="11143129" cy="3847207"/>
          </a:xfrm>
          <a:prstGeom prst="rect">
            <a:avLst/>
          </a:prstGeom>
          <a:noFill/>
        </p:spPr>
        <p:txBody>
          <a:bodyPr wrap="square" rtlCol="0">
            <a:spAutoFit/>
          </a:bodyPr>
          <a:lstStyle/>
          <a:p>
            <a:r>
              <a:rPr lang="en-US" sz="2400" dirty="0"/>
              <a:t>alert method:</a:t>
            </a:r>
          </a:p>
          <a:p>
            <a:endParaRPr lang="en-US" sz="2000" dirty="0"/>
          </a:p>
          <a:p>
            <a:pPr marL="342900" indent="-342900" algn="just">
              <a:buFont typeface="Arial" panose="020B0604020202020204" pitchFamily="34" charset="0"/>
              <a:buChar char="•"/>
            </a:pPr>
            <a:r>
              <a:rPr lang="en-US" sz="2000" dirty="0"/>
              <a:t>The alert method opens a dialog window and displays its parameter in that window.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also displays an OK button.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string parameter of alert is not HTML code</a:t>
            </a:r>
            <a:r>
              <a:rPr lang="en-US" sz="2000" dirty="0"/>
              <a:t>; it is plain text. Therefore, the string parameter of alert may include \n but never should include &lt;</a:t>
            </a:r>
            <a:r>
              <a:rPr lang="en-US" sz="2000" dirty="0" err="1"/>
              <a:t>br</a:t>
            </a:r>
            <a:r>
              <a:rPr lang="en-US" sz="2000" dirty="0"/>
              <a:t> /&gt;.</a:t>
            </a:r>
          </a:p>
          <a:p>
            <a:endParaRPr lang="en-US" sz="2000" dirty="0"/>
          </a:p>
          <a:p>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alert("The sum is:" + sum + "\n");</a:t>
            </a:r>
          </a:p>
          <a:p>
            <a:endParaRPr lang="en-IN" sz="2000" dirty="0"/>
          </a:p>
          <a:p>
            <a:endParaRPr lang="en-IN" sz="2000" dirty="0"/>
          </a:p>
        </p:txBody>
      </p:sp>
      <p:pic>
        <p:nvPicPr>
          <p:cNvPr id="4" name="Picture 3">
            <a:extLst>
              <a:ext uri="{FF2B5EF4-FFF2-40B4-BE49-F238E27FC236}">
                <a16:creationId xmlns:a16="http://schemas.microsoft.com/office/drawing/2014/main" id="{027FC629-EB97-0695-36C8-EBDBF53CD41B}"/>
              </a:ext>
            </a:extLst>
          </p:cNvPr>
          <p:cNvPicPr>
            <a:picLocks noChangeAspect="1"/>
          </p:cNvPicPr>
          <p:nvPr/>
        </p:nvPicPr>
        <p:blipFill>
          <a:blip r:embed="rId2"/>
          <a:stretch>
            <a:fillRect/>
          </a:stretch>
        </p:blipFill>
        <p:spPr>
          <a:xfrm>
            <a:off x="2088024" y="3810111"/>
            <a:ext cx="2107459" cy="1853110"/>
          </a:xfrm>
          <a:prstGeom prst="rect">
            <a:avLst/>
          </a:prstGeom>
        </p:spPr>
      </p:pic>
    </p:spTree>
    <p:extLst>
      <p:ext uri="{BB962C8B-B14F-4D97-AF65-F5344CB8AC3E}">
        <p14:creationId xmlns:p14="http://schemas.microsoft.com/office/powerpoint/2010/main" val="2770505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6724-E1BA-363D-70EA-3680A834F1D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E1AD39-AB12-A8C3-A6BB-2F6D97CA5A1D}"/>
              </a:ext>
            </a:extLst>
          </p:cNvPr>
          <p:cNvSpPr txBox="1"/>
          <p:nvPr/>
        </p:nvSpPr>
        <p:spPr>
          <a:xfrm>
            <a:off x="528918" y="421341"/>
            <a:ext cx="11143129" cy="5447645"/>
          </a:xfrm>
          <a:prstGeom prst="rect">
            <a:avLst/>
          </a:prstGeom>
          <a:noFill/>
        </p:spPr>
        <p:txBody>
          <a:bodyPr wrap="square" rtlCol="0">
            <a:spAutoFit/>
          </a:bodyPr>
          <a:lstStyle/>
          <a:p>
            <a:r>
              <a:rPr lang="en-US" sz="2400" dirty="0"/>
              <a:t>confirm method…</a:t>
            </a:r>
          </a:p>
          <a:p>
            <a:endParaRPr lang="en-US" sz="2000" dirty="0"/>
          </a:p>
          <a:p>
            <a:pPr marL="342900" indent="-342900" algn="just">
              <a:buFont typeface="Arial" panose="020B0604020202020204" pitchFamily="34" charset="0"/>
              <a:buChar char="•"/>
            </a:pPr>
            <a:r>
              <a:rPr lang="en-US" sz="2000" dirty="0"/>
              <a:t>The confirm method opens a dialog window in which the method displays its string parameter, along with two buttons: OK and Cancel.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confirm returns a Boolean value that indicates the user’s button input: true for OK and false for Cancel.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var question = confirm("Do you want to continue this download?"); </a:t>
            </a:r>
          </a:p>
          <a:p>
            <a:endParaRPr lang="en-US" sz="2000" dirty="0"/>
          </a:p>
          <a:p>
            <a:r>
              <a:rPr lang="en-US" sz="2400" dirty="0"/>
              <a:t>prompt method…</a:t>
            </a:r>
          </a:p>
          <a:p>
            <a:endParaRPr lang="en-US" sz="2000" dirty="0"/>
          </a:p>
          <a:p>
            <a:pPr marL="342900" indent="-342900">
              <a:buFont typeface="Arial" panose="020B0604020202020204" pitchFamily="34" charset="0"/>
              <a:buChar char="•"/>
            </a:pPr>
            <a:r>
              <a:rPr lang="en-US" sz="2000" dirty="0"/>
              <a:t>The prompt method creates a dialog window that contains a text box used to collect a string of input from the user, which prompt returns as its value. </a:t>
            </a:r>
          </a:p>
          <a:p>
            <a:pPr marL="342900" indent="-342900">
              <a:buFont typeface="Arial" panose="020B0604020202020204" pitchFamily="34" charset="0"/>
              <a:buChar char="•"/>
            </a:pPr>
            <a:r>
              <a:rPr lang="en-US" sz="2000" dirty="0"/>
              <a:t>As with confirm, this window also includes two buttons: OK and Cancel.</a:t>
            </a:r>
          </a:p>
          <a:p>
            <a:endParaRPr lang="en-IN" sz="2000" dirty="0"/>
          </a:p>
          <a:p>
            <a:pPr marL="342900" indent="-342900">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name = prompt("What is your name?", "");</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11E25CBB-5B5D-CAFF-0974-E4B9799220D5}"/>
              </a:ext>
            </a:extLst>
          </p:cNvPr>
          <p:cNvPicPr>
            <a:picLocks noChangeAspect="1"/>
          </p:cNvPicPr>
          <p:nvPr/>
        </p:nvPicPr>
        <p:blipFill>
          <a:blip r:embed="rId2"/>
          <a:stretch>
            <a:fillRect/>
          </a:stretch>
        </p:blipFill>
        <p:spPr>
          <a:xfrm>
            <a:off x="8483680" y="2533708"/>
            <a:ext cx="2820814" cy="1461798"/>
          </a:xfrm>
          <a:prstGeom prst="rect">
            <a:avLst/>
          </a:prstGeom>
        </p:spPr>
      </p:pic>
      <p:pic>
        <p:nvPicPr>
          <p:cNvPr id="6" name="Picture 5">
            <a:extLst>
              <a:ext uri="{FF2B5EF4-FFF2-40B4-BE49-F238E27FC236}">
                <a16:creationId xmlns:a16="http://schemas.microsoft.com/office/drawing/2014/main" id="{155C5F28-E65D-1C11-6DD7-F340D8C5C0F4}"/>
              </a:ext>
            </a:extLst>
          </p:cNvPr>
          <p:cNvPicPr>
            <a:picLocks noChangeAspect="1"/>
          </p:cNvPicPr>
          <p:nvPr/>
        </p:nvPicPr>
        <p:blipFill>
          <a:blip r:embed="rId3"/>
          <a:stretch>
            <a:fillRect/>
          </a:stretch>
        </p:blipFill>
        <p:spPr>
          <a:xfrm>
            <a:off x="6443135" y="5267761"/>
            <a:ext cx="4861359" cy="1366122"/>
          </a:xfrm>
          <a:prstGeom prst="rect">
            <a:avLst/>
          </a:prstGeom>
        </p:spPr>
      </p:pic>
    </p:spTree>
    <p:extLst>
      <p:ext uri="{BB962C8B-B14F-4D97-AF65-F5344CB8AC3E}">
        <p14:creationId xmlns:p14="http://schemas.microsoft.com/office/powerpoint/2010/main" val="3343125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C7AE9-2B92-51D7-2FFD-283B835AE5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6E8E074-5618-3FA2-7592-FBABDA3CA16C}"/>
              </a:ext>
            </a:extLst>
          </p:cNvPr>
          <p:cNvPicPr>
            <a:picLocks noChangeAspect="1"/>
          </p:cNvPicPr>
          <p:nvPr/>
        </p:nvPicPr>
        <p:blipFill>
          <a:blip r:embed="rId2"/>
          <a:stretch>
            <a:fillRect/>
          </a:stretch>
        </p:blipFill>
        <p:spPr>
          <a:xfrm>
            <a:off x="3257461" y="259976"/>
            <a:ext cx="5250045" cy="6147972"/>
          </a:xfrm>
          <a:prstGeom prst="rect">
            <a:avLst/>
          </a:prstGeom>
        </p:spPr>
      </p:pic>
    </p:spTree>
    <p:extLst>
      <p:ext uri="{BB962C8B-B14F-4D97-AF65-F5344CB8AC3E}">
        <p14:creationId xmlns:p14="http://schemas.microsoft.com/office/powerpoint/2010/main" val="1790811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D1426-C930-F380-69D4-28EF87AE4E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153C31-0688-056E-E63D-82E6BB43C0C3}"/>
              </a:ext>
            </a:extLst>
          </p:cNvPr>
          <p:cNvSpPr txBox="1"/>
          <p:nvPr/>
        </p:nvSpPr>
        <p:spPr>
          <a:xfrm>
            <a:off x="528918" y="421341"/>
            <a:ext cx="11143129" cy="5078313"/>
          </a:xfrm>
          <a:prstGeom prst="rect">
            <a:avLst/>
          </a:prstGeom>
          <a:noFill/>
        </p:spPr>
        <p:txBody>
          <a:bodyPr wrap="square" rtlCol="0">
            <a:spAutoFit/>
          </a:bodyPr>
          <a:lstStyle/>
          <a:p>
            <a:r>
              <a:rPr lang="en-IN" sz="2400" b="1" dirty="0"/>
              <a:t>6 Control Statements</a:t>
            </a:r>
            <a:endParaRPr lang="en-US" sz="2400" b="1" dirty="0"/>
          </a:p>
          <a:p>
            <a:endParaRPr lang="en-US" sz="2000" dirty="0"/>
          </a:p>
          <a:p>
            <a:endParaRPr lang="en-IN" sz="2000" dirty="0"/>
          </a:p>
          <a:p>
            <a:pPr marL="342900" indent="-342900" algn="just">
              <a:buFont typeface="Arial" panose="020B0604020202020204" pitchFamily="34" charset="0"/>
              <a:buChar char="•"/>
            </a:pPr>
            <a:r>
              <a:rPr lang="en-US" sz="2000" dirty="0"/>
              <a:t>which provide the basis for controlling the order of execution of statements.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Control statements often require some syntactic container for sequences of statements whose execution they are meant to control.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a:t>
            </a:r>
            <a:r>
              <a:rPr lang="en-US" sz="2000" i="1" dirty="0">
                <a:latin typeface="Calibri Light" panose="020F0302020204030204" pitchFamily="34" charset="0"/>
                <a:ea typeface="Calibri Light" panose="020F0302020204030204" pitchFamily="34" charset="0"/>
                <a:cs typeface="Calibri Light" panose="020F0302020204030204" pitchFamily="34" charset="0"/>
              </a:rPr>
              <a:t>compound statement</a:t>
            </a:r>
            <a:r>
              <a:rPr lang="en-US" sz="2000" dirty="0"/>
              <a:t> in JavaScript is a sequence of statements delimited by braces.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a:t>
            </a:r>
            <a:r>
              <a:rPr lang="en-US" sz="2000" i="1" dirty="0">
                <a:latin typeface="Calibri Light" panose="020F0302020204030204" pitchFamily="34" charset="0"/>
                <a:ea typeface="Calibri Light" panose="020F0302020204030204" pitchFamily="34" charset="0"/>
                <a:cs typeface="Calibri Light" panose="020F0302020204030204" pitchFamily="34" charset="0"/>
              </a:rPr>
              <a:t>control construct</a:t>
            </a:r>
            <a:r>
              <a:rPr lang="en-US" sz="2000" dirty="0"/>
              <a:t> is a control statement together with the statement or compound statement whose execution it controls.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Unlike several related languages, JavaScript does not allow compound statements to create local variables.</a:t>
            </a:r>
          </a:p>
          <a:p>
            <a:endParaRPr lang="en-IN" sz="2000" dirty="0"/>
          </a:p>
        </p:txBody>
      </p:sp>
    </p:spTree>
    <p:extLst>
      <p:ext uri="{BB962C8B-B14F-4D97-AF65-F5344CB8AC3E}">
        <p14:creationId xmlns:p14="http://schemas.microsoft.com/office/powerpoint/2010/main" val="4232730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C869D-9CD4-6FAF-E119-70109F1B55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C8B42A-DA17-D68B-12DA-53A850040AC3}"/>
              </a:ext>
            </a:extLst>
          </p:cNvPr>
          <p:cNvSpPr txBox="1"/>
          <p:nvPr/>
        </p:nvSpPr>
        <p:spPr>
          <a:xfrm>
            <a:off x="528918" y="421341"/>
            <a:ext cx="11143129" cy="5078313"/>
          </a:xfrm>
          <a:prstGeom prst="rect">
            <a:avLst/>
          </a:prstGeom>
          <a:noFill/>
        </p:spPr>
        <p:txBody>
          <a:bodyPr wrap="square" rtlCol="0">
            <a:spAutoFit/>
          </a:bodyPr>
          <a:lstStyle/>
          <a:p>
            <a:r>
              <a:rPr lang="en-IN" sz="2400" b="1" dirty="0"/>
              <a:t>6.1 Control Expressions</a:t>
            </a:r>
            <a:endParaRPr lang="en-US" sz="2000" b="1" dirty="0"/>
          </a:p>
          <a:p>
            <a:endParaRPr lang="en-IN" sz="2000" dirty="0"/>
          </a:p>
          <a:p>
            <a:pPr marL="342900" indent="-342900">
              <a:buFont typeface="Arial" panose="020B0604020202020204" pitchFamily="34" charset="0"/>
              <a:buChar char="•"/>
            </a:pPr>
            <a:r>
              <a:rPr lang="en-US" sz="2000" dirty="0"/>
              <a:t>The expressions upon which statement flow control can be based include primitive values, relational expressions, and compound expressions.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result of evaluating a control expression is one of the Boolean values true and false.</a:t>
            </a:r>
          </a:p>
          <a:p>
            <a:pPr marL="342900" indent="-342900">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If the value of a control expression is a string, it is interpreted as true unless it is either the empty </a:t>
            </a:r>
          </a:p>
          <a:p>
            <a:pPr marL="800100" lvl="1" indent="-342900" algn="just">
              <a:buFont typeface="Arial" panose="020B0604020202020204" pitchFamily="34" charset="0"/>
              <a:buChar char="•"/>
            </a:pPr>
            <a:r>
              <a:rPr lang="en-US" sz="2000" dirty="0"/>
              <a:t>string ("") or a zero string ("0"). </a:t>
            </a:r>
          </a:p>
          <a:p>
            <a:pPr marL="800100" lvl="1" indent="-342900" algn="just">
              <a:buFont typeface="Arial" panose="020B0604020202020204" pitchFamily="34" charset="0"/>
              <a:buChar char="•"/>
            </a:pPr>
            <a:r>
              <a:rPr lang="en-US" sz="2000" dirty="0"/>
              <a:t>If the value is a number, it is true unless it is zero (0).  </a:t>
            </a:r>
          </a:p>
          <a:p>
            <a:pPr marL="800100" lvl="1" indent="-342900" algn="just">
              <a:buFont typeface="Arial" panose="020B0604020202020204" pitchFamily="34" charset="0"/>
              <a:buChar char="•"/>
            </a:pPr>
            <a:r>
              <a:rPr lang="en-US" sz="2000" dirty="0"/>
              <a:t>If the special value, </a:t>
            </a:r>
            <a:r>
              <a:rPr lang="en-US" sz="2000" dirty="0" err="1"/>
              <a:t>NaN</a:t>
            </a:r>
            <a:r>
              <a:rPr lang="en-US" sz="2000" dirty="0"/>
              <a:t>, is interpreted as a Boolean, it is false. </a:t>
            </a:r>
          </a:p>
          <a:p>
            <a:pPr marL="800100" lvl="1" indent="-342900" algn="just">
              <a:buFont typeface="Arial" panose="020B0604020202020204" pitchFamily="34" charset="0"/>
              <a:buChar char="•"/>
            </a:pPr>
            <a:r>
              <a:rPr lang="en-US" sz="2000" dirty="0"/>
              <a:t>If undefined is used as a Boolean, it is false. </a:t>
            </a:r>
          </a:p>
          <a:p>
            <a:pPr marL="800100" lvl="1" indent="-342900" algn="just">
              <a:buFont typeface="Arial" panose="020B0604020202020204" pitchFamily="34" charset="0"/>
              <a:buChar char="•"/>
            </a:pPr>
            <a:r>
              <a:rPr lang="en-US" sz="2000" dirty="0"/>
              <a:t>When interpreted as a Boolean, null is false. </a:t>
            </a:r>
          </a:p>
          <a:p>
            <a:pPr marL="800100" lvl="1" indent="-342900" algn="just">
              <a:buFont typeface="Arial" panose="020B0604020202020204" pitchFamily="34" charset="0"/>
              <a:buChar char="•"/>
            </a:pPr>
            <a:r>
              <a:rPr lang="en-US" sz="2000" dirty="0"/>
              <a:t>When interpreted as a number, true has the value 1 and false has the value 0.</a:t>
            </a:r>
            <a:endParaRPr lang="en-IN" sz="2000" dirty="0"/>
          </a:p>
          <a:p>
            <a:endParaRPr lang="en-IN" sz="2000" dirty="0"/>
          </a:p>
        </p:txBody>
      </p:sp>
    </p:spTree>
    <p:extLst>
      <p:ext uri="{BB962C8B-B14F-4D97-AF65-F5344CB8AC3E}">
        <p14:creationId xmlns:p14="http://schemas.microsoft.com/office/powerpoint/2010/main" val="1604388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3F68F-A1D6-2316-E414-4B3313E543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ACD5C1-0201-F9A6-E4A7-E899CFFC7F4A}"/>
              </a:ext>
            </a:extLst>
          </p:cNvPr>
          <p:cNvSpPr txBox="1"/>
          <p:nvPr/>
        </p:nvSpPr>
        <p:spPr>
          <a:xfrm>
            <a:off x="528918" y="421341"/>
            <a:ext cx="11143129" cy="5693866"/>
          </a:xfrm>
          <a:prstGeom prst="rect">
            <a:avLst/>
          </a:prstGeom>
          <a:noFill/>
        </p:spPr>
        <p:txBody>
          <a:bodyPr wrap="square" rtlCol="0">
            <a:spAutoFit/>
          </a:bodyPr>
          <a:lstStyle/>
          <a:p>
            <a:r>
              <a:rPr lang="en-IN" sz="2400" dirty="0"/>
              <a:t>Control Statements continued…</a:t>
            </a:r>
            <a:endParaRPr lang="en-US" sz="2400" dirty="0"/>
          </a:p>
          <a:p>
            <a:endParaRPr lang="en-US" sz="2000" dirty="0"/>
          </a:p>
          <a:p>
            <a:pPr marL="342900" indent="-342900" algn="just">
              <a:buFont typeface="Arial" panose="020B0604020202020204" pitchFamily="34" charset="0"/>
              <a:buChar char="•"/>
            </a:pPr>
            <a:r>
              <a:rPr lang="en-US" sz="2000" dirty="0"/>
              <a:t>A relational expression has two operands and one relational operator.</a:t>
            </a: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last two operators in Table disallow type conversion of either operand. Thus, the expression "3" === 3 evaluates to false, while "3" == 3 evaluates to true.</a:t>
            </a:r>
            <a:endParaRPr lang="en-IN" sz="2000" dirty="0"/>
          </a:p>
        </p:txBody>
      </p:sp>
      <p:pic>
        <p:nvPicPr>
          <p:cNvPr id="4" name="Picture 3">
            <a:extLst>
              <a:ext uri="{FF2B5EF4-FFF2-40B4-BE49-F238E27FC236}">
                <a16:creationId xmlns:a16="http://schemas.microsoft.com/office/drawing/2014/main" id="{D25F54A8-1FE9-30F3-B805-E7B21C792866}"/>
              </a:ext>
            </a:extLst>
          </p:cNvPr>
          <p:cNvPicPr>
            <a:picLocks noChangeAspect="1"/>
          </p:cNvPicPr>
          <p:nvPr/>
        </p:nvPicPr>
        <p:blipFill>
          <a:blip r:embed="rId2"/>
          <a:stretch>
            <a:fillRect/>
          </a:stretch>
        </p:blipFill>
        <p:spPr>
          <a:xfrm>
            <a:off x="2469070" y="1676860"/>
            <a:ext cx="7253860" cy="3504280"/>
          </a:xfrm>
          <a:prstGeom prst="rect">
            <a:avLst/>
          </a:prstGeom>
        </p:spPr>
      </p:pic>
    </p:spTree>
    <p:extLst>
      <p:ext uri="{BB962C8B-B14F-4D97-AF65-F5344CB8AC3E}">
        <p14:creationId xmlns:p14="http://schemas.microsoft.com/office/powerpoint/2010/main" val="3617040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B805D-431A-88A9-4742-11352399A3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FA4D89-4B2C-2DC1-5062-0EBED7F4C585}"/>
              </a:ext>
            </a:extLst>
          </p:cNvPr>
          <p:cNvSpPr txBox="1"/>
          <p:nvPr/>
        </p:nvSpPr>
        <p:spPr>
          <a:xfrm>
            <a:off x="528918" y="421341"/>
            <a:ext cx="11143129" cy="1384995"/>
          </a:xfrm>
          <a:prstGeom prst="rect">
            <a:avLst/>
          </a:prstGeom>
          <a:noFill/>
        </p:spPr>
        <p:txBody>
          <a:bodyPr wrap="square" rtlCol="0">
            <a:spAutoFit/>
          </a:bodyPr>
          <a:lstStyle/>
          <a:p>
            <a:r>
              <a:rPr lang="en-IN" sz="2400" dirty="0"/>
              <a:t>Control Statements continued…</a:t>
            </a:r>
            <a:endParaRPr lang="en-US" sz="2400" dirty="0"/>
          </a:p>
          <a:p>
            <a:endParaRPr lang="en-US" sz="2000" dirty="0"/>
          </a:p>
          <a:p>
            <a:r>
              <a:rPr lang="en-IN" sz="2000" dirty="0"/>
              <a:t>Operator precedence and associativity</a:t>
            </a:r>
          </a:p>
          <a:p>
            <a:endParaRPr lang="en-IN" sz="2000" dirty="0"/>
          </a:p>
        </p:txBody>
      </p:sp>
      <p:pic>
        <p:nvPicPr>
          <p:cNvPr id="4" name="Picture 3">
            <a:extLst>
              <a:ext uri="{FF2B5EF4-FFF2-40B4-BE49-F238E27FC236}">
                <a16:creationId xmlns:a16="http://schemas.microsoft.com/office/drawing/2014/main" id="{752A1D9E-D5F2-8216-8EE4-22D500F38F0C}"/>
              </a:ext>
            </a:extLst>
          </p:cNvPr>
          <p:cNvPicPr>
            <a:picLocks noChangeAspect="1"/>
          </p:cNvPicPr>
          <p:nvPr/>
        </p:nvPicPr>
        <p:blipFill>
          <a:blip r:embed="rId2"/>
          <a:stretch>
            <a:fillRect/>
          </a:stretch>
        </p:blipFill>
        <p:spPr>
          <a:xfrm>
            <a:off x="2754838" y="1569273"/>
            <a:ext cx="6867545" cy="3719453"/>
          </a:xfrm>
          <a:prstGeom prst="rect">
            <a:avLst/>
          </a:prstGeom>
        </p:spPr>
      </p:pic>
    </p:spTree>
    <p:extLst>
      <p:ext uri="{BB962C8B-B14F-4D97-AF65-F5344CB8AC3E}">
        <p14:creationId xmlns:p14="http://schemas.microsoft.com/office/powerpoint/2010/main" val="2751243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E2F10-B0BB-4AE4-2D13-4BCC6551E8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DF0923-6776-D626-EDB1-F3D96249647A}"/>
              </a:ext>
            </a:extLst>
          </p:cNvPr>
          <p:cNvSpPr txBox="1"/>
          <p:nvPr/>
        </p:nvSpPr>
        <p:spPr>
          <a:xfrm>
            <a:off x="528918" y="421341"/>
            <a:ext cx="11143129" cy="3847207"/>
          </a:xfrm>
          <a:prstGeom prst="rect">
            <a:avLst/>
          </a:prstGeom>
          <a:noFill/>
        </p:spPr>
        <p:txBody>
          <a:bodyPr wrap="square" rtlCol="0">
            <a:spAutoFit/>
          </a:bodyPr>
          <a:lstStyle/>
          <a:p>
            <a:r>
              <a:rPr lang="en-IN" sz="2400" b="1" dirty="0"/>
              <a:t>6.2 Selection Statements</a:t>
            </a:r>
            <a:endParaRPr lang="en-US" sz="2000" b="1" dirty="0"/>
          </a:p>
          <a:p>
            <a:endParaRPr lang="en-IN" sz="2000" dirty="0"/>
          </a:p>
          <a:p>
            <a:r>
              <a:rPr lang="en-US" sz="2000" dirty="0"/>
              <a:t>The selection statements (if-then and if-then-else) of JavaScript are similar to those of the common programming languages. Either single statements or compound statements can be selected</a:t>
            </a:r>
            <a:endParaRPr lang="en-IN" sz="2000" dirty="0"/>
          </a:p>
          <a:p>
            <a:endParaRPr lang="en-IN" sz="2000" dirty="0"/>
          </a:p>
          <a:p>
            <a:pPr lvl="1"/>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if (a &gt; b)</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document.write</a:t>
            </a:r>
            <a:r>
              <a:rPr lang="en-US" sz="2000" dirty="0">
                <a:latin typeface="Calibri Light" panose="020F0302020204030204" pitchFamily="34" charset="0"/>
                <a:ea typeface="Calibri Light" panose="020F0302020204030204" pitchFamily="34" charset="0"/>
                <a:cs typeface="Calibri Light" panose="020F0302020204030204" pitchFamily="34" charset="0"/>
              </a:rPr>
              <a:t>("a is greater than b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else {</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 = b;</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document.write</a:t>
            </a:r>
            <a:r>
              <a:rPr lang="en-US" sz="2000" dirty="0">
                <a:latin typeface="Calibri Light" panose="020F0302020204030204" pitchFamily="34" charset="0"/>
                <a:ea typeface="Calibri Light" panose="020F0302020204030204" pitchFamily="34" charset="0"/>
                <a:cs typeface="Calibri Light" panose="020F0302020204030204" pitchFamily="34" charset="0"/>
              </a:rPr>
              <a:t>("a was not greater than b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"Now they are equal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86865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687D-4E5C-C2E2-A097-C1F8C4E5BA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12A8F5-C4F8-5D43-12EC-2E2BEC938040}"/>
              </a:ext>
            </a:extLst>
          </p:cNvPr>
          <p:cNvSpPr txBox="1"/>
          <p:nvPr/>
        </p:nvSpPr>
        <p:spPr>
          <a:xfrm>
            <a:off x="528918" y="421341"/>
            <a:ext cx="11143129" cy="4278094"/>
          </a:xfrm>
          <a:prstGeom prst="rect">
            <a:avLst/>
          </a:prstGeom>
          <a:noFill/>
        </p:spPr>
        <p:txBody>
          <a:bodyPr wrap="square" rtlCol="0">
            <a:spAutoFit/>
          </a:bodyPr>
          <a:lstStyle/>
          <a:p>
            <a:r>
              <a:rPr lang="en-IN" sz="2400" dirty="0"/>
              <a:t>6.3 The switch Statement</a:t>
            </a:r>
            <a:endParaRPr lang="en-US" sz="2400" dirty="0"/>
          </a:p>
          <a:p>
            <a:endParaRPr lang="en-US" sz="2000" dirty="0"/>
          </a:p>
          <a:p>
            <a:pPr marL="342900" indent="-342900">
              <a:buFont typeface="Arial" panose="020B0604020202020204" pitchFamily="34" charset="0"/>
              <a:buChar char="•"/>
            </a:pPr>
            <a:r>
              <a:rPr lang="en-US" sz="2000" dirty="0"/>
              <a:t>JavaScript has a switch statement that is similar to that of Java.</a:t>
            </a:r>
          </a:p>
          <a:p>
            <a:endParaRPr lang="en-US" sz="2000" dirty="0"/>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switch (expression)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case value_1:</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statement(s)</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case value_2:</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statement(s)</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[default:</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statement(s)]</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a:t>
            </a:r>
            <a:endParaRPr lang="en-IN" sz="1400"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Arial" panose="020B0604020202020204" pitchFamily="34" charset="0"/>
              <a:buChar char="•"/>
            </a:pPr>
            <a:r>
              <a:rPr lang="en-US" sz="2000" dirty="0"/>
              <a:t>A </a:t>
            </a:r>
            <a:r>
              <a:rPr lang="en-US" sz="2000" dirty="0">
                <a:solidFill>
                  <a:srgbClr val="FF0000"/>
                </a:solidFill>
              </a:rPr>
              <a:t>break</a:t>
            </a:r>
            <a:r>
              <a:rPr lang="en-US" sz="2000" dirty="0"/>
              <a:t> statement appears as the last statement in each sequence of statements following a case.</a:t>
            </a:r>
            <a:endParaRPr lang="en-IN" sz="2000" dirty="0"/>
          </a:p>
        </p:txBody>
      </p:sp>
    </p:spTree>
    <p:extLst>
      <p:ext uri="{BB962C8B-B14F-4D97-AF65-F5344CB8AC3E}">
        <p14:creationId xmlns:p14="http://schemas.microsoft.com/office/powerpoint/2010/main" val="20369953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1CBF-B45A-6BF6-F972-C07D7B26B4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D173E9-737E-20E2-7D43-A03F76214A17}"/>
              </a:ext>
            </a:extLst>
          </p:cNvPr>
          <p:cNvSpPr txBox="1"/>
          <p:nvPr/>
        </p:nvSpPr>
        <p:spPr>
          <a:xfrm>
            <a:off x="528918" y="421341"/>
            <a:ext cx="11143129" cy="4462760"/>
          </a:xfrm>
          <a:prstGeom prst="rect">
            <a:avLst/>
          </a:prstGeom>
          <a:noFill/>
        </p:spPr>
        <p:txBody>
          <a:bodyPr wrap="square" rtlCol="0">
            <a:spAutoFit/>
          </a:bodyPr>
          <a:lstStyle/>
          <a:p>
            <a:r>
              <a:rPr lang="en-IN" sz="2400" b="1" dirty="0"/>
              <a:t>6.4 Loop Statements</a:t>
            </a:r>
            <a:endParaRPr lang="en-US" sz="2400" b="1" dirty="0"/>
          </a:p>
          <a:p>
            <a:endParaRPr lang="en-US" sz="2000" dirty="0"/>
          </a:p>
          <a:p>
            <a:pPr marL="342900" indent="-342900">
              <a:buFont typeface="Arial" panose="020B0604020202020204" pitchFamily="34" charset="0"/>
              <a:buChar char="•"/>
            </a:pPr>
            <a:r>
              <a:rPr lang="en-US" sz="2000" dirty="0"/>
              <a:t>The JavaScript while and for statements are similar to those of Java and C++.</a:t>
            </a:r>
          </a:p>
          <a:p>
            <a:pPr marL="342900" indent="-342900">
              <a:buFont typeface="Arial" panose="020B0604020202020204" pitchFamily="34" charset="0"/>
              <a:buChar char="•"/>
            </a:pPr>
            <a:endParaRPr lang="en-US" sz="2000" dirty="0"/>
          </a:p>
          <a:p>
            <a:pPr lvl="1"/>
            <a:r>
              <a:rPr lang="en-US" sz="2000" b="1" dirty="0">
                <a:latin typeface="Microsoft Yi Baiti" panose="03000500000000000000" pitchFamily="66" charset="0"/>
                <a:ea typeface="Microsoft Yi Baiti" panose="03000500000000000000" pitchFamily="66" charset="0"/>
              </a:rPr>
              <a:t>while (control expression)</a:t>
            </a:r>
          </a:p>
          <a:p>
            <a:pPr lvl="1"/>
            <a:r>
              <a:rPr lang="en-US" sz="2000" b="1" dirty="0">
                <a:latin typeface="Microsoft Yi Baiti" panose="03000500000000000000" pitchFamily="66" charset="0"/>
                <a:ea typeface="Microsoft Yi Baiti" panose="03000500000000000000" pitchFamily="66" charset="0"/>
              </a:rPr>
              <a:t> 	statement or compound statement</a:t>
            </a:r>
            <a:endParaRPr lang="en-IN" sz="2000" b="1" dirty="0">
              <a:latin typeface="Microsoft Yi Baiti" panose="03000500000000000000" pitchFamily="66" charset="0"/>
              <a:ea typeface="Microsoft Yi Baiti" panose="03000500000000000000" pitchFamily="66" charset="0"/>
            </a:endParaRPr>
          </a:p>
          <a:p>
            <a:pPr lvl="1"/>
            <a:endParaRPr lang="en-IN" sz="2000" b="1" dirty="0">
              <a:latin typeface="Microsoft Yi Baiti" panose="03000500000000000000" pitchFamily="66" charset="0"/>
              <a:ea typeface="Microsoft Yi Baiti" panose="03000500000000000000" pitchFamily="66" charset="0"/>
            </a:endParaRPr>
          </a:p>
          <a:p>
            <a:pPr lvl="1"/>
            <a:r>
              <a:rPr lang="en-IN" sz="2000" b="1" dirty="0">
                <a:latin typeface="Microsoft Yi Baiti" panose="03000500000000000000" pitchFamily="66" charset="0"/>
                <a:ea typeface="Microsoft Yi Baiti" panose="03000500000000000000" pitchFamily="66" charset="0"/>
              </a:rPr>
              <a:t>for (initial expression; control expression; increment expression)</a:t>
            </a:r>
          </a:p>
          <a:p>
            <a:pPr lvl="1"/>
            <a:r>
              <a:rPr lang="en-IN" sz="2000" b="1" dirty="0">
                <a:latin typeface="Microsoft Yi Baiti" panose="03000500000000000000" pitchFamily="66" charset="0"/>
                <a:ea typeface="Microsoft Yi Baiti" panose="03000500000000000000" pitchFamily="66" charset="0"/>
              </a:rPr>
              <a:t>	statement or compound statement</a:t>
            </a:r>
          </a:p>
          <a:p>
            <a:pPr lvl="1"/>
            <a:endParaRPr lang="en-IN" sz="2000" b="1" dirty="0">
              <a:latin typeface="Microsoft Yi Baiti" panose="03000500000000000000" pitchFamily="66" charset="0"/>
              <a:ea typeface="Microsoft Yi Baiti" panose="03000500000000000000" pitchFamily="66" charset="0"/>
            </a:endParaRPr>
          </a:p>
          <a:p>
            <a:pPr lvl="1"/>
            <a:r>
              <a:rPr lang="en-US" sz="2000" b="1" dirty="0">
                <a:latin typeface="Microsoft Yi Baiti" panose="03000500000000000000" pitchFamily="66" charset="0"/>
                <a:ea typeface="Microsoft Yi Baiti" panose="03000500000000000000" pitchFamily="66" charset="0"/>
              </a:rPr>
              <a:t>do statement or compound statement </a:t>
            </a:r>
          </a:p>
          <a:p>
            <a:pPr lvl="1"/>
            <a:r>
              <a:rPr lang="en-US" sz="2000" b="1" dirty="0">
                <a:latin typeface="Microsoft Yi Baiti" panose="03000500000000000000" pitchFamily="66" charset="0"/>
                <a:ea typeface="Microsoft Yi Baiti" panose="03000500000000000000" pitchFamily="66" charset="0"/>
              </a:rPr>
              <a:t>	while (control expression)</a:t>
            </a:r>
            <a:endParaRPr lang="en-IN" sz="2000" b="1" dirty="0">
              <a:latin typeface="Microsoft Yi Baiti" panose="03000500000000000000" pitchFamily="66" charset="0"/>
              <a:ea typeface="Microsoft Yi Baiti" panose="03000500000000000000" pitchFamily="66" charset="0"/>
            </a:endParaRPr>
          </a:p>
          <a:p>
            <a:endParaRPr lang="en-IN" sz="2000" dirty="0"/>
          </a:p>
          <a:p>
            <a:endParaRPr lang="en-IN" sz="2000" dirty="0"/>
          </a:p>
        </p:txBody>
      </p:sp>
    </p:spTree>
    <p:extLst>
      <p:ext uri="{BB962C8B-B14F-4D97-AF65-F5344CB8AC3E}">
        <p14:creationId xmlns:p14="http://schemas.microsoft.com/office/powerpoint/2010/main" val="2435988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E3C30-6DC6-7BDA-6AC8-8CE7BEB47B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DAD487-F87F-6D8A-F3A8-904AB6C8839E}"/>
              </a:ext>
            </a:extLst>
          </p:cNvPr>
          <p:cNvSpPr txBox="1"/>
          <p:nvPr/>
        </p:nvSpPr>
        <p:spPr>
          <a:xfrm>
            <a:off x="528918" y="421341"/>
            <a:ext cx="11143129" cy="5693866"/>
          </a:xfrm>
          <a:prstGeom prst="rect">
            <a:avLst/>
          </a:prstGeom>
          <a:noFill/>
        </p:spPr>
        <p:txBody>
          <a:bodyPr wrap="square" rtlCol="0">
            <a:spAutoFit/>
          </a:bodyPr>
          <a:lstStyle/>
          <a:p>
            <a:r>
              <a:rPr lang="en-US" sz="2400" b="1" dirty="0"/>
              <a:t>7 Object Creation and Modification</a:t>
            </a:r>
          </a:p>
          <a:p>
            <a:endParaRPr lang="en-US" sz="2000" dirty="0"/>
          </a:p>
          <a:p>
            <a:pPr marL="342900" indent="-342900" algn="just">
              <a:buFont typeface="Arial" panose="020B0604020202020204" pitchFamily="34" charset="0"/>
              <a:buChar char="•"/>
            </a:pPr>
            <a:r>
              <a:rPr lang="en-US" sz="2000" dirty="0"/>
              <a:t>Objects are often created with a </a:t>
            </a:r>
            <a:r>
              <a:rPr lang="en-US" sz="2000" i="1" dirty="0">
                <a:solidFill>
                  <a:srgbClr val="FF0000"/>
                </a:solidFill>
              </a:rPr>
              <a:t>new</a:t>
            </a:r>
            <a:r>
              <a:rPr lang="en-US" sz="2000" dirty="0"/>
              <a:t> expression, which must include a call to a constructor method.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constructor that is called in the new expression creates the properties that characterize the new object.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JavaScript, however, the new operator creates a blank object—that is, one with no properties.</a:t>
            </a:r>
          </a:p>
          <a:p>
            <a:endParaRPr lang="en-US" sz="2000" dirty="0"/>
          </a:p>
          <a:p>
            <a:r>
              <a:rPr lang="en-US" sz="2000" dirty="0"/>
              <a:t>	</a:t>
            </a:r>
            <a:r>
              <a:rPr lang="en-US" sz="2000" b="1" dirty="0">
                <a:latin typeface="Microsoft Yi Baiti" panose="03000500000000000000" pitchFamily="66" charset="0"/>
                <a:ea typeface="Microsoft Yi Baiti" panose="03000500000000000000" pitchFamily="66" charset="0"/>
              </a:rPr>
              <a:t>var </a:t>
            </a:r>
            <a:r>
              <a:rPr lang="en-US" sz="2000" b="1" dirty="0" err="1">
                <a:latin typeface="Microsoft Yi Baiti" panose="03000500000000000000" pitchFamily="66" charset="0"/>
                <a:ea typeface="Microsoft Yi Baiti" panose="03000500000000000000" pitchFamily="66" charset="0"/>
              </a:rPr>
              <a:t>my_object</a:t>
            </a:r>
            <a:r>
              <a:rPr lang="en-US" sz="2000" b="1" dirty="0">
                <a:latin typeface="Microsoft Yi Baiti" panose="03000500000000000000" pitchFamily="66" charset="0"/>
                <a:ea typeface="Microsoft Yi Baiti" panose="03000500000000000000" pitchFamily="66" charset="0"/>
              </a:rPr>
              <a:t> = new Object();</a:t>
            </a:r>
          </a:p>
          <a:p>
            <a:endParaRPr lang="en-US" sz="2000" dirty="0"/>
          </a:p>
          <a:p>
            <a:pPr marL="342900" indent="-342900" algn="just">
              <a:buFont typeface="Arial" panose="020B0604020202020204" pitchFamily="34" charset="0"/>
              <a:buChar char="•"/>
            </a:pPr>
            <a:r>
              <a:rPr lang="en-US" sz="2000" dirty="0"/>
              <a:t>In this case, the constructor called is that of Object, which endows the new object with no properties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variable </a:t>
            </a:r>
            <a:r>
              <a:rPr lang="en-US" sz="2000" dirty="0" err="1"/>
              <a:t>my_object</a:t>
            </a:r>
            <a:r>
              <a:rPr lang="en-US" sz="2000" dirty="0"/>
              <a:t> references the new object. Calls to constructors must include parentheses, even if there are no parameters.</a:t>
            </a:r>
            <a:endParaRPr lang="en-IN" sz="2000" dirty="0"/>
          </a:p>
          <a:p>
            <a:endParaRPr lang="en-IN" sz="2000" dirty="0"/>
          </a:p>
        </p:txBody>
      </p:sp>
    </p:spTree>
    <p:extLst>
      <p:ext uri="{BB962C8B-B14F-4D97-AF65-F5344CB8AC3E}">
        <p14:creationId xmlns:p14="http://schemas.microsoft.com/office/powerpoint/2010/main" val="2705465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2F07E-6EAB-505D-B961-D5AD23EA09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00885C-0B8B-A783-E7C2-066286160745}"/>
              </a:ext>
            </a:extLst>
          </p:cNvPr>
          <p:cNvSpPr txBox="1"/>
          <p:nvPr/>
        </p:nvSpPr>
        <p:spPr>
          <a:xfrm>
            <a:off x="528918" y="421341"/>
            <a:ext cx="11143129" cy="6001643"/>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t>The number of members of a class in Java or C++ is fixed at compile time.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number of properties in a JavaScript object is dynamic.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At any time during interpretation, properties can be added to or deleted from an object.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property for an object is created by assigning a value to that property’s name.</a:t>
            </a:r>
            <a:endParaRPr lang="en-IN" sz="2000" dirty="0"/>
          </a:p>
          <a:p>
            <a:endParaRPr lang="en-IN" sz="2000" dirty="0"/>
          </a:p>
          <a:p>
            <a:pPr lvl="1"/>
            <a:r>
              <a:rPr lang="en-US" sz="2000" dirty="0">
                <a:latin typeface="Microsoft Yi Baiti" panose="03000500000000000000" pitchFamily="66" charset="0"/>
                <a:ea typeface="Microsoft Yi Baiti" panose="03000500000000000000" pitchFamily="66" charset="0"/>
              </a:rPr>
              <a:t> // Create an Object </a:t>
            </a:r>
            <a:r>
              <a:rPr lang="en-US" sz="2000" dirty="0" err="1">
                <a:latin typeface="Microsoft Yi Baiti" panose="03000500000000000000" pitchFamily="66" charset="0"/>
                <a:ea typeface="Microsoft Yi Baiti" panose="03000500000000000000" pitchFamily="66" charset="0"/>
              </a:rPr>
              <a:t>object</a:t>
            </a:r>
            <a:endParaRPr lang="en-US" sz="2000" dirty="0">
              <a:latin typeface="Microsoft Yi Baiti" panose="03000500000000000000" pitchFamily="66" charset="0"/>
              <a:ea typeface="Microsoft Yi Baiti" panose="03000500000000000000" pitchFamily="66" charset="0"/>
            </a:endParaRPr>
          </a:p>
          <a:p>
            <a:pPr lvl="1"/>
            <a:r>
              <a:rPr lang="en-US" sz="2000" dirty="0">
                <a:latin typeface="Microsoft Yi Baiti" panose="03000500000000000000" pitchFamily="66" charset="0"/>
                <a:ea typeface="Microsoft Yi Baiti" panose="03000500000000000000" pitchFamily="66" charset="0"/>
              </a:rPr>
              <a:t> var </a:t>
            </a:r>
            <a:r>
              <a:rPr lang="en-US" sz="2000" dirty="0" err="1">
                <a:latin typeface="Microsoft Yi Baiti" panose="03000500000000000000" pitchFamily="66" charset="0"/>
                <a:ea typeface="Microsoft Yi Baiti" panose="03000500000000000000" pitchFamily="66" charset="0"/>
              </a:rPr>
              <a:t>my_car</a:t>
            </a:r>
            <a:r>
              <a:rPr lang="en-US" sz="2000" dirty="0">
                <a:latin typeface="Microsoft Yi Baiti" panose="03000500000000000000" pitchFamily="66" charset="0"/>
                <a:ea typeface="Microsoft Yi Baiti" panose="03000500000000000000" pitchFamily="66" charset="0"/>
              </a:rPr>
              <a:t> = new Object();     </a:t>
            </a:r>
          </a:p>
          <a:p>
            <a:pPr lvl="1"/>
            <a:r>
              <a:rPr lang="en-US" sz="2000" dirty="0">
                <a:latin typeface="Microsoft Yi Baiti" panose="03000500000000000000" pitchFamily="66" charset="0"/>
                <a:ea typeface="Microsoft Yi Baiti" panose="03000500000000000000" pitchFamily="66" charset="0"/>
              </a:rPr>
              <a:t>// Create and initialize the make property</a:t>
            </a:r>
          </a:p>
          <a:p>
            <a:pPr lvl="1"/>
            <a:r>
              <a:rPr lang="en-US" sz="2000" dirty="0">
                <a:latin typeface="Microsoft Yi Baiti" panose="03000500000000000000" pitchFamily="66" charset="0"/>
                <a:ea typeface="Microsoft Yi Baiti" panose="03000500000000000000" pitchFamily="66" charset="0"/>
              </a:rPr>
              <a:t> </a:t>
            </a:r>
            <a:r>
              <a:rPr lang="en-US" sz="2000" dirty="0" err="1">
                <a:latin typeface="Microsoft Yi Baiti" panose="03000500000000000000" pitchFamily="66" charset="0"/>
                <a:ea typeface="Microsoft Yi Baiti" panose="03000500000000000000" pitchFamily="66" charset="0"/>
              </a:rPr>
              <a:t>my_car.make</a:t>
            </a:r>
            <a:r>
              <a:rPr lang="en-US" sz="2000" dirty="0">
                <a:latin typeface="Microsoft Yi Baiti" panose="03000500000000000000" pitchFamily="66" charset="0"/>
                <a:ea typeface="Microsoft Yi Baiti" panose="03000500000000000000" pitchFamily="66" charset="0"/>
              </a:rPr>
              <a:t> = "Ford"; </a:t>
            </a:r>
          </a:p>
          <a:p>
            <a:pPr lvl="1"/>
            <a:r>
              <a:rPr lang="en-US" sz="2000" dirty="0">
                <a:latin typeface="Microsoft Yi Baiti" panose="03000500000000000000" pitchFamily="66" charset="0"/>
                <a:ea typeface="Microsoft Yi Baiti" panose="03000500000000000000" pitchFamily="66" charset="0"/>
              </a:rPr>
              <a:t>// Create and initialize model</a:t>
            </a:r>
          </a:p>
          <a:p>
            <a:pPr lvl="1"/>
            <a:r>
              <a:rPr lang="en-US" sz="2000" dirty="0">
                <a:latin typeface="Microsoft Yi Baiti" panose="03000500000000000000" pitchFamily="66" charset="0"/>
                <a:ea typeface="Microsoft Yi Baiti" panose="03000500000000000000" pitchFamily="66" charset="0"/>
              </a:rPr>
              <a:t> </a:t>
            </a:r>
            <a:r>
              <a:rPr lang="en-US" sz="2000" dirty="0" err="1">
                <a:latin typeface="Microsoft Yi Baiti" panose="03000500000000000000" pitchFamily="66" charset="0"/>
                <a:ea typeface="Microsoft Yi Baiti" panose="03000500000000000000" pitchFamily="66" charset="0"/>
              </a:rPr>
              <a:t>my_car.model</a:t>
            </a:r>
            <a:r>
              <a:rPr lang="en-US" sz="2000" dirty="0">
                <a:latin typeface="Microsoft Yi Baiti" panose="03000500000000000000" pitchFamily="66" charset="0"/>
                <a:ea typeface="Microsoft Yi Baiti" panose="03000500000000000000" pitchFamily="66" charset="0"/>
              </a:rPr>
              <a:t> = "Fusion"; </a:t>
            </a:r>
          </a:p>
          <a:p>
            <a:pPr lvl="1"/>
            <a:endParaRPr lang="en-US" sz="2000" dirty="0">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There is an abbreviated way to create an object and its properties.</a:t>
            </a:r>
          </a:p>
          <a:p>
            <a:pPr lvl="1"/>
            <a:r>
              <a:rPr lang="en-US" sz="2000" dirty="0">
                <a:latin typeface="Microsoft Yi Baiti" panose="03000500000000000000" pitchFamily="66" charset="0"/>
                <a:ea typeface="Microsoft Yi Baiti" panose="03000500000000000000" pitchFamily="66" charset="0"/>
              </a:rPr>
              <a:t>var </a:t>
            </a:r>
            <a:r>
              <a:rPr lang="en-US" sz="2000" dirty="0" err="1">
                <a:latin typeface="Microsoft Yi Baiti" panose="03000500000000000000" pitchFamily="66" charset="0"/>
                <a:ea typeface="Microsoft Yi Baiti" panose="03000500000000000000" pitchFamily="66" charset="0"/>
              </a:rPr>
              <a:t>my_car</a:t>
            </a:r>
            <a:r>
              <a:rPr lang="en-US" sz="2000" dirty="0">
                <a:latin typeface="Microsoft Yi Baiti" panose="03000500000000000000" pitchFamily="66" charset="0"/>
                <a:ea typeface="Microsoft Yi Baiti" panose="03000500000000000000" pitchFamily="66" charset="0"/>
              </a:rPr>
              <a:t> = {make: "Ford", model: "Fusion"};</a:t>
            </a:r>
            <a:endParaRPr lang="en-IN" sz="2000" dirty="0">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34176363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5637-596D-AFFE-F66E-7CC3962C3E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C96A0A-A4D7-8545-FA27-54AC05C8C2A1}"/>
              </a:ext>
            </a:extLst>
          </p:cNvPr>
          <p:cNvSpPr txBox="1"/>
          <p:nvPr/>
        </p:nvSpPr>
        <p:spPr>
          <a:xfrm>
            <a:off x="528918" y="421341"/>
            <a:ext cx="11143129" cy="5632311"/>
          </a:xfrm>
          <a:prstGeom prst="rect">
            <a:avLst/>
          </a:prstGeom>
          <a:noFill/>
        </p:spPr>
        <p:txBody>
          <a:bodyPr wrap="square" rtlCol="0">
            <a:spAutoFit/>
          </a:bodyPr>
          <a:lstStyle/>
          <a:p>
            <a:pPr marL="342900" indent="-342900">
              <a:buFont typeface="Arial" panose="020B0604020202020204" pitchFamily="34" charset="0"/>
              <a:buChar char="•"/>
            </a:pPr>
            <a:r>
              <a:rPr lang="en-US" sz="2000" dirty="0"/>
              <a:t>Because objects can be nested, you can create a new object that is a property of </a:t>
            </a:r>
            <a:r>
              <a:rPr lang="en-US" sz="2000" dirty="0" err="1"/>
              <a:t>my_car</a:t>
            </a:r>
            <a:r>
              <a:rPr lang="en-US" sz="2000" dirty="0"/>
              <a:t> with properties of its own, as in the following statements:</a:t>
            </a:r>
          </a:p>
          <a:p>
            <a:pPr lvl="1"/>
            <a:r>
              <a:rPr lang="en-US" sz="2000" dirty="0" err="1">
                <a:latin typeface="Microsoft Yi Baiti" panose="03000500000000000000" pitchFamily="66" charset="0"/>
                <a:ea typeface="Microsoft Yi Baiti" panose="03000500000000000000" pitchFamily="66" charset="0"/>
              </a:rPr>
              <a:t>my_car.engine</a:t>
            </a:r>
            <a:r>
              <a:rPr lang="en-US" sz="2000" dirty="0">
                <a:latin typeface="Microsoft Yi Baiti" panose="03000500000000000000" pitchFamily="66" charset="0"/>
                <a:ea typeface="Microsoft Yi Baiti" panose="03000500000000000000" pitchFamily="66" charset="0"/>
              </a:rPr>
              <a:t> = new Object();</a:t>
            </a:r>
          </a:p>
          <a:p>
            <a:pPr lvl="1"/>
            <a:r>
              <a:rPr lang="en-US" sz="2000" dirty="0" err="1">
                <a:latin typeface="Microsoft Yi Baiti" panose="03000500000000000000" pitchFamily="66" charset="0"/>
                <a:ea typeface="Microsoft Yi Baiti" panose="03000500000000000000" pitchFamily="66" charset="0"/>
              </a:rPr>
              <a:t>my_car.engine.config</a:t>
            </a:r>
            <a:r>
              <a:rPr lang="en-US" sz="2000" dirty="0">
                <a:latin typeface="Microsoft Yi Baiti" panose="03000500000000000000" pitchFamily="66" charset="0"/>
                <a:ea typeface="Microsoft Yi Baiti" panose="03000500000000000000" pitchFamily="66" charset="0"/>
              </a:rPr>
              <a:t> = "V6";</a:t>
            </a:r>
          </a:p>
          <a:p>
            <a:pPr lvl="1"/>
            <a:r>
              <a:rPr lang="en-US" sz="2000" dirty="0" err="1">
                <a:latin typeface="Microsoft Yi Baiti" panose="03000500000000000000" pitchFamily="66" charset="0"/>
                <a:ea typeface="Microsoft Yi Baiti" panose="03000500000000000000" pitchFamily="66" charset="0"/>
              </a:rPr>
              <a:t>my_car.engine.hp</a:t>
            </a:r>
            <a:r>
              <a:rPr lang="en-US" sz="2000" dirty="0">
                <a:latin typeface="Microsoft Yi Baiti" panose="03000500000000000000" pitchFamily="66" charset="0"/>
                <a:ea typeface="Microsoft Yi Baiti" panose="03000500000000000000" pitchFamily="66" charset="0"/>
              </a:rPr>
              <a:t> = 263;</a:t>
            </a:r>
            <a:endParaRPr lang="en-IN" sz="2000" dirty="0">
              <a:latin typeface="Microsoft Yi Baiti" panose="03000500000000000000" pitchFamily="66" charset="0"/>
              <a:ea typeface="Microsoft Yi Baiti" panose="03000500000000000000" pitchFamily="66" charset="0"/>
            </a:endParaRPr>
          </a:p>
          <a:p>
            <a:endParaRPr lang="en-IN" sz="2000" dirty="0">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Properties can be accessed in two ways.</a:t>
            </a:r>
          </a:p>
          <a:p>
            <a:r>
              <a:rPr lang="en-US" sz="2000" dirty="0"/>
              <a:t>	</a:t>
            </a:r>
            <a:r>
              <a:rPr lang="en-US" sz="2000" dirty="0">
                <a:latin typeface="Microsoft Yi Baiti" panose="03000500000000000000" pitchFamily="66" charset="0"/>
                <a:ea typeface="Microsoft Yi Baiti" panose="03000500000000000000" pitchFamily="66" charset="0"/>
              </a:rPr>
              <a:t>var prop1 = </a:t>
            </a:r>
            <a:r>
              <a:rPr lang="en-US" sz="2000" dirty="0" err="1">
                <a:latin typeface="Microsoft Yi Baiti" panose="03000500000000000000" pitchFamily="66" charset="0"/>
                <a:ea typeface="Microsoft Yi Baiti" panose="03000500000000000000" pitchFamily="66" charset="0"/>
              </a:rPr>
              <a:t>my_car.make</a:t>
            </a:r>
            <a:r>
              <a:rPr lang="en-US" sz="2000" dirty="0">
                <a:latin typeface="Microsoft Yi Baiti" panose="03000500000000000000" pitchFamily="66" charset="0"/>
                <a:ea typeface="Microsoft Yi Baiti" panose="03000500000000000000" pitchFamily="66" charset="0"/>
              </a:rPr>
              <a:t>;</a:t>
            </a:r>
          </a:p>
          <a:p>
            <a:r>
              <a:rPr lang="en-US" sz="2000" dirty="0">
                <a:latin typeface="Microsoft Yi Baiti" panose="03000500000000000000" pitchFamily="66" charset="0"/>
                <a:ea typeface="Microsoft Yi Baiti" panose="03000500000000000000" pitchFamily="66" charset="0"/>
              </a:rPr>
              <a:t> 	var prop2 = </a:t>
            </a:r>
            <a:r>
              <a:rPr lang="en-US" sz="2000" dirty="0" err="1">
                <a:latin typeface="Microsoft Yi Baiti" panose="03000500000000000000" pitchFamily="66" charset="0"/>
                <a:ea typeface="Microsoft Yi Baiti" panose="03000500000000000000" pitchFamily="66" charset="0"/>
              </a:rPr>
              <a:t>my_car</a:t>
            </a:r>
            <a:r>
              <a:rPr lang="en-US" sz="2000" dirty="0">
                <a:latin typeface="Microsoft Yi Baiti" panose="03000500000000000000" pitchFamily="66" charset="0"/>
                <a:ea typeface="Microsoft Yi Baiti" panose="03000500000000000000" pitchFamily="66" charset="0"/>
              </a:rPr>
              <a:t>["make"];</a:t>
            </a:r>
          </a:p>
          <a:p>
            <a:endParaRPr lang="en-US" sz="2000" dirty="0">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If an attempt is made to access a property of an object that does not exist, the value </a:t>
            </a:r>
            <a:r>
              <a:rPr lang="en-US" sz="2000" dirty="0">
                <a:solidFill>
                  <a:srgbClr val="FF0000"/>
                </a:solidFill>
              </a:rPr>
              <a:t>undefined</a:t>
            </a:r>
            <a:r>
              <a:rPr lang="en-US" sz="2000" dirty="0"/>
              <a:t> is used. </a:t>
            </a:r>
          </a:p>
          <a:p>
            <a:pPr marL="342900" indent="-342900">
              <a:buFont typeface="Arial" panose="020B0604020202020204" pitchFamily="34" charset="0"/>
              <a:buChar char="•"/>
            </a:pPr>
            <a:r>
              <a:rPr lang="en-US" sz="2000" dirty="0"/>
              <a:t>A property can be deleted with </a:t>
            </a:r>
            <a:r>
              <a:rPr lang="en-US" sz="2000" dirty="0">
                <a:solidFill>
                  <a:srgbClr val="FF0000"/>
                </a:solidFill>
              </a:rPr>
              <a:t>delete</a:t>
            </a:r>
          </a:p>
          <a:p>
            <a:r>
              <a:rPr lang="en-US" sz="2000" dirty="0">
                <a:solidFill>
                  <a:srgbClr val="FF0000"/>
                </a:solidFill>
                <a:latin typeface="Microsoft Yi Baiti" panose="03000500000000000000" pitchFamily="66" charset="0"/>
                <a:ea typeface="Microsoft Yi Baiti" panose="03000500000000000000" pitchFamily="66" charset="0"/>
              </a:rPr>
              <a:t>	</a:t>
            </a:r>
            <a:r>
              <a:rPr lang="en-IN" sz="2000" dirty="0">
                <a:latin typeface="Microsoft Yi Baiti" panose="03000500000000000000" pitchFamily="66" charset="0"/>
                <a:ea typeface="Microsoft Yi Baiti" panose="03000500000000000000" pitchFamily="66" charset="0"/>
              </a:rPr>
              <a:t>delete </a:t>
            </a:r>
            <a:r>
              <a:rPr lang="en-IN" sz="2000" dirty="0" err="1">
                <a:latin typeface="Microsoft Yi Baiti" panose="03000500000000000000" pitchFamily="66" charset="0"/>
                <a:ea typeface="Microsoft Yi Baiti" panose="03000500000000000000" pitchFamily="66" charset="0"/>
              </a:rPr>
              <a:t>my_car.model</a:t>
            </a:r>
            <a:r>
              <a:rPr lang="en-IN" sz="2000" dirty="0">
                <a:latin typeface="Microsoft Yi Baiti" panose="03000500000000000000" pitchFamily="66" charset="0"/>
                <a:ea typeface="Microsoft Yi Baiti" panose="03000500000000000000" pitchFamily="66" charset="0"/>
              </a:rPr>
              <a:t>;</a:t>
            </a:r>
          </a:p>
          <a:p>
            <a:endParaRPr lang="en-IN" sz="2000" dirty="0">
              <a:solidFill>
                <a:srgbClr val="FF0000"/>
              </a:solidFill>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JavaScript has a loop statement, for-in, that is perfect for listing the properties of an object</a:t>
            </a:r>
          </a:p>
          <a:p>
            <a:pPr lvl="2"/>
            <a:r>
              <a:rPr lang="en-US" sz="2000" dirty="0">
                <a:solidFill>
                  <a:srgbClr val="FF0000"/>
                </a:solidFill>
                <a:latin typeface="Microsoft Yi Baiti" panose="03000500000000000000" pitchFamily="66" charset="0"/>
                <a:ea typeface="Microsoft Yi Baiti" panose="03000500000000000000" pitchFamily="66" charset="0"/>
              </a:rPr>
              <a:t>for (var prop in </a:t>
            </a:r>
            <a:r>
              <a:rPr lang="en-US" sz="2000" dirty="0" err="1">
                <a:solidFill>
                  <a:srgbClr val="FF0000"/>
                </a:solidFill>
                <a:latin typeface="Microsoft Yi Baiti" panose="03000500000000000000" pitchFamily="66" charset="0"/>
                <a:ea typeface="Microsoft Yi Baiti" panose="03000500000000000000" pitchFamily="66" charset="0"/>
              </a:rPr>
              <a:t>my_car</a:t>
            </a:r>
            <a:r>
              <a:rPr lang="en-US" sz="2000" dirty="0">
                <a:solidFill>
                  <a:srgbClr val="FF0000"/>
                </a:solidFill>
                <a:latin typeface="Microsoft Yi Baiti" panose="03000500000000000000" pitchFamily="66" charset="0"/>
                <a:ea typeface="Microsoft Yi Baiti" panose="03000500000000000000" pitchFamily="66" charset="0"/>
              </a:rPr>
              <a:t>) </a:t>
            </a:r>
          </a:p>
          <a:p>
            <a:pPr lvl="2"/>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document.write</a:t>
            </a:r>
            <a:r>
              <a:rPr lang="en-US" sz="2000" dirty="0">
                <a:solidFill>
                  <a:srgbClr val="FF0000"/>
                </a:solidFill>
                <a:latin typeface="Microsoft Yi Baiti" panose="03000500000000000000" pitchFamily="66" charset="0"/>
                <a:ea typeface="Microsoft Yi Baiti" panose="03000500000000000000" pitchFamily="66" charset="0"/>
              </a:rPr>
              <a:t>("Name: ", prop, "; Value: ", </a:t>
            </a:r>
            <a:r>
              <a:rPr lang="en-US" sz="2000" dirty="0" err="1">
                <a:solidFill>
                  <a:srgbClr val="FF0000"/>
                </a:solidFill>
                <a:latin typeface="Microsoft Yi Baiti" panose="03000500000000000000" pitchFamily="66" charset="0"/>
                <a:ea typeface="Microsoft Yi Baiti" panose="03000500000000000000" pitchFamily="66" charset="0"/>
              </a:rPr>
              <a:t>my_car</a:t>
            </a:r>
            <a:r>
              <a:rPr lang="en-US" sz="2000" dirty="0">
                <a:solidFill>
                  <a:srgbClr val="FF0000"/>
                </a:solidFill>
                <a:latin typeface="Microsoft Yi Baiti" panose="03000500000000000000" pitchFamily="66" charset="0"/>
                <a:ea typeface="Microsoft Yi Baiti" panose="03000500000000000000" pitchFamily="66" charset="0"/>
              </a:rPr>
              <a:t>[prop], "&lt;</a:t>
            </a:r>
            <a:r>
              <a:rPr lang="en-US" sz="2000" dirty="0" err="1">
                <a:solidFill>
                  <a:srgbClr val="FF0000"/>
                </a:solidFill>
                <a:latin typeface="Microsoft Yi Baiti" panose="03000500000000000000" pitchFamily="66" charset="0"/>
                <a:ea typeface="Microsoft Yi Baiti" panose="03000500000000000000" pitchFamily="66" charset="0"/>
              </a:rPr>
              <a:t>br</a:t>
            </a:r>
            <a:r>
              <a:rPr lang="en-US" sz="2000" dirty="0">
                <a:solidFill>
                  <a:srgbClr val="FF0000"/>
                </a:solidFill>
                <a:latin typeface="Microsoft Yi Baiti" panose="03000500000000000000" pitchFamily="66" charset="0"/>
                <a:ea typeface="Microsoft Yi Baiti" panose="03000500000000000000" pitchFamily="66" charset="0"/>
              </a:rPr>
              <a:t> /&gt;");</a:t>
            </a:r>
            <a:endParaRPr lang="en-IN" sz="2000" dirty="0">
              <a:solidFill>
                <a:srgbClr val="FF0000"/>
              </a:solidFill>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30873893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E5FC4-E41E-0EBD-A174-CEDC2B9B7A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74D8A-7AA4-299E-8CF6-2CF492B5DCF2}"/>
              </a:ext>
            </a:extLst>
          </p:cNvPr>
          <p:cNvSpPr txBox="1"/>
          <p:nvPr/>
        </p:nvSpPr>
        <p:spPr>
          <a:xfrm>
            <a:off x="528918" y="421341"/>
            <a:ext cx="11143129" cy="5386090"/>
          </a:xfrm>
          <a:prstGeom prst="rect">
            <a:avLst/>
          </a:prstGeom>
          <a:noFill/>
        </p:spPr>
        <p:txBody>
          <a:bodyPr wrap="square" rtlCol="0">
            <a:spAutoFit/>
          </a:bodyPr>
          <a:lstStyle/>
          <a:p>
            <a:r>
              <a:rPr lang="en-IN" sz="2400" b="1" dirty="0"/>
              <a:t>8 Arrays</a:t>
            </a:r>
            <a:endParaRPr lang="en-US" sz="2400" b="1" dirty="0"/>
          </a:p>
          <a:p>
            <a:endParaRPr lang="en-US" sz="2000" dirty="0"/>
          </a:p>
          <a:p>
            <a:pPr marL="342900" indent="-342900">
              <a:buFont typeface="Arial" panose="020B0604020202020204" pitchFamily="34" charset="0"/>
              <a:buChar char="•"/>
            </a:pPr>
            <a:r>
              <a:rPr lang="en-US" sz="2000" dirty="0"/>
              <a:t>In JavaScript, arrays are objects that have some special functionality. </a:t>
            </a:r>
          </a:p>
          <a:p>
            <a:pPr marL="342900" indent="-342900">
              <a:buFont typeface="Arial" panose="020B0604020202020204" pitchFamily="34" charset="0"/>
              <a:buChar char="•"/>
            </a:pPr>
            <a:r>
              <a:rPr lang="en-US" sz="2000" dirty="0"/>
              <a:t>Array elements can be primitive values or references to other objects, including other arrays.</a:t>
            </a:r>
          </a:p>
          <a:p>
            <a:endParaRPr lang="en-US" sz="2000" dirty="0"/>
          </a:p>
          <a:p>
            <a:r>
              <a:rPr lang="en-IN" sz="2000" dirty="0"/>
              <a:t>8.1 Array Object Creation</a:t>
            </a:r>
          </a:p>
          <a:p>
            <a:endParaRPr lang="en-IN" sz="2000" dirty="0"/>
          </a:p>
          <a:p>
            <a:pPr marL="342900" indent="-342900">
              <a:buFont typeface="Arial" panose="020B0604020202020204" pitchFamily="34" charset="0"/>
              <a:buChar char="•"/>
            </a:pPr>
            <a:r>
              <a:rPr lang="en-US" sz="2000" dirty="0"/>
              <a:t>Array objects, unlike most other JavaScript objects, can be created in two distinct ways. </a:t>
            </a:r>
          </a:p>
          <a:p>
            <a:pPr marL="342900" indent="-342900">
              <a:buFont typeface="Arial" panose="020B0604020202020204" pitchFamily="34" charset="0"/>
              <a:buChar char="•"/>
            </a:pPr>
            <a:r>
              <a:rPr lang="en-US" sz="2000" dirty="0"/>
              <a:t>The usual way to create any object is with the </a:t>
            </a:r>
            <a:r>
              <a:rPr lang="en-US" sz="2000" dirty="0">
                <a:solidFill>
                  <a:srgbClr val="FF0000"/>
                </a:solidFill>
              </a:rPr>
              <a:t>new</a:t>
            </a:r>
            <a:r>
              <a:rPr lang="en-US" sz="2000" dirty="0"/>
              <a:t> operator and a call to a </a:t>
            </a:r>
            <a:r>
              <a:rPr lang="en-US" sz="2000" dirty="0">
                <a:solidFill>
                  <a:srgbClr val="FF0000"/>
                </a:solidFill>
              </a:rPr>
              <a:t>constructor</a:t>
            </a:r>
            <a:r>
              <a:rPr lang="en-US" sz="2000" dirty="0"/>
              <a:t>.</a:t>
            </a:r>
          </a:p>
          <a:p>
            <a:endParaRPr lang="en-US" sz="2000" dirty="0"/>
          </a:p>
          <a:p>
            <a:pPr lvl="1"/>
            <a:r>
              <a:rPr lang="en-US" sz="2000" dirty="0">
                <a:solidFill>
                  <a:srgbClr val="C00000"/>
                </a:solidFill>
              </a:rPr>
              <a:t> 	</a:t>
            </a:r>
            <a:r>
              <a:rPr lang="en-US" sz="2000" dirty="0">
                <a:solidFill>
                  <a:srgbClr val="C00000"/>
                </a:solidFill>
                <a:latin typeface="Microsoft Yi Baiti" panose="03000500000000000000" pitchFamily="66" charset="0"/>
                <a:ea typeface="Microsoft Yi Baiti" panose="03000500000000000000" pitchFamily="66" charset="0"/>
              </a:rPr>
              <a:t>var </a:t>
            </a:r>
            <a:r>
              <a:rPr lang="en-US" sz="2000" dirty="0" err="1">
                <a:solidFill>
                  <a:srgbClr val="C00000"/>
                </a:solidFill>
                <a:latin typeface="Microsoft Yi Baiti" panose="03000500000000000000" pitchFamily="66" charset="0"/>
                <a:ea typeface="Microsoft Yi Baiti" panose="03000500000000000000" pitchFamily="66" charset="0"/>
              </a:rPr>
              <a:t>my_list</a:t>
            </a:r>
            <a:r>
              <a:rPr lang="en-US" sz="2000" dirty="0">
                <a:solidFill>
                  <a:srgbClr val="C00000"/>
                </a:solidFill>
                <a:latin typeface="Microsoft Yi Baiti" panose="03000500000000000000" pitchFamily="66" charset="0"/>
                <a:ea typeface="Microsoft Yi Baiti" panose="03000500000000000000" pitchFamily="66" charset="0"/>
              </a:rPr>
              <a:t> = new Array(1, 2, "three", "four");</a:t>
            </a:r>
          </a:p>
          <a:p>
            <a:pPr lvl="1"/>
            <a:r>
              <a:rPr lang="en-US" sz="2000" dirty="0">
                <a:solidFill>
                  <a:srgbClr val="C00000"/>
                </a:solidFill>
                <a:latin typeface="Microsoft Yi Baiti" panose="03000500000000000000" pitchFamily="66" charset="0"/>
                <a:ea typeface="Microsoft Yi Baiti" panose="03000500000000000000" pitchFamily="66" charset="0"/>
              </a:rPr>
              <a:t> 	var </a:t>
            </a:r>
            <a:r>
              <a:rPr lang="en-US" sz="2000" dirty="0" err="1">
                <a:solidFill>
                  <a:srgbClr val="C00000"/>
                </a:solidFill>
                <a:latin typeface="Microsoft Yi Baiti" panose="03000500000000000000" pitchFamily="66" charset="0"/>
                <a:ea typeface="Microsoft Yi Baiti" panose="03000500000000000000" pitchFamily="66" charset="0"/>
              </a:rPr>
              <a:t>your_list</a:t>
            </a:r>
            <a:r>
              <a:rPr lang="en-US" sz="2000" dirty="0">
                <a:solidFill>
                  <a:srgbClr val="C00000"/>
                </a:solidFill>
                <a:latin typeface="Microsoft Yi Baiti" panose="03000500000000000000" pitchFamily="66" charset="0"/>
                <a:ea typeface="Microsoft Yi Baiti" panose="03000500000000000000" pitchFamily="66" charset="0"/>
              </a:rPr>
              <a:t> = new Array(100);</a:t>
            </a:r>
          </a:p>
          <a:p>
            <a:endParaRPr lang="en-US" sz="2000" dirty="0"/>
          </a:p>
          <a:p>
            <a:pPr marL="342900" indent="-342900">
              <a:buFont typeface="Arial" panose="020B0604020202020204" pitchFamily="34" charset="0"/>
              <a:buChar char="•"/>
            </a:pPr>
            <a:r>
              <a:rPr lang="en-US" sz="2000" dirty="0"/>
              <a:t>The second way to create an Array object is with a literal array value, which is a list of values enclosed in brackets: </a:t>
            </a:r>
          </a:p>
          <a:p>
            <a:endParaRPr lang="en-US" sz="2000" dirty="0"/>
          </a:p>
          <a:p>
            <a:r>
              <a:rPr lang="en-US" sz="2000" dirty="0"/>
              <a:t>	</a:t>
            </a:r>
            <a:r>
              <a:rPr lang="en-US" sz="2000" dirty="0">
                <a:solidFill>
                  <a:srgbClr val="C00000"/>
                </a:solidFill>
                <a:latin typeface="Microsoft Yi Baiti" panose="03000500000000000000" pitchFamily="66" charset="0"/>
                <a:ea typeface="Microsoft Yi Baiti" panose="03000500000000000000" pitchFamily="66" charset="0"/>
              </a:rPr>
              <a:t>var my_list_2 = [1, 2, "three", "four"];</a:t>
            </a:r>
          </a:p>
        </p:txBody>
      </p:sp>
    </p:spTree>
    <p:extLst>
      <p:ext uri="{BB962C8B-B14F-4D97-AF65-F5344CB8AC3E}">
        <p14:creationId xmlns:p14="http://schemas.microsoft.com/office/powerpoint/2010/main" val="2461132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C4DF7-1D63-7862-A1C8-BB6FBCDAC4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790CD7-BF7E-7414-34A5-877F07C7EEA9}"/>
              </a:ext>
            </a:extLst>
          </p:cNvPr>
          <p:cNvSpPr txBox="1"/>
          <p:nvPr/>
        </p:nvSpPr>
        <p:spPr>
          <a:xfrm>
            <a:off x="528918" y="421341"/>
            <a:ext cx="11143129" cy="3231654"/>
          </a:xfrm>
          <a:prstGeom prst="rect">
            <a:avLst/>
          </a:prstGeom>
          <a:noFill/>
        </p:spPr>
        <p:txBody>
          <a:bodyPr wrap="square" rtlCol="0">
            <a:spAutoFit/>
          </a:bodyPr>
          <a:lstStyle/>
          <a:p>
            <a:r>
              <a:rPr lang="en-US" sz="2400" dirty="0"/>
              <a:t>8.2 Characteristics of Array Objects</a:t>
            </a:r>
          </a:p>
          <a:p>
            <a:endParaRPr lang="en-US" sz="2000" dirty="0"/>
          </a:p>
          <a:p>
            <a:pPr marL="342900" indent="-342900" algn="just">
              <a:buFont typeface="Arial" panose="020B0604020202020204" pitchFamily="34" charset="0"/>
              <a:buChar char="•"/>
            </a:pPr>
            <a:r>
              <a:rPr lang="en-US" sz="2000" dirty="0"/>
              <a:t>The lowest index of every JavaScript array is zero. </a:t>
            </a:r>
          </a:p>
          <a:p>
            <a:pPr marL="342900" indent="-342900" algn="just">
              <a:buFont typeface="Arial" panose="020B0604020202020204" pitchFamily="34" charset="0"/>
              <a:buChar char="•"/>
            </a:pPr>
            <a:r>
              <a:rPr lang="en-US" sz="2000" dirty="0"/>
              <a:t>Access to the elements of an array is specified with </a:t>
            </a:r>
            <a:r>
              <a:rPr lang="en-US" sz="2000" dirty="0">
                <a:solidFill>
                  <a:srgbClr val="FF0000"/>
                </a:solidFill>
              </a:rPr>
              <a:t>numeric subscript</a:t>
            </a:r>
            <a:r>
              <a:rPr lang="en-US" sz="2000" dirty="0"/>
              <a:t> expressions placed in brackets. </a:t>
            </a:r>
          </a:p>
          <a:p>
            <a:pPr marL="342900" indent="-342900" algn="just">
              <a:buFont typeface="Arial" panose="020B0604020202020204" pitchFamily="34" charset="0"/>
              <a:buChar char="•"/>
            </a:pPr>
            <a:r>
              <a:rPr lang="en-US" sz="2000" dirty="0"/>
              <a:t>The length of an array is the highest subscript to which a value has been assigned, plus 1.</a:t>
            </a:r>
            <a:endParaRPr lang="en-IN" sz="2000" dirty="0"/>
          </a:p>
          <a:p>
            <a:pPr marL="342900" indent="-342900">
              <a:buFont typeface="Arial" panose="020B0604020202020204" pitchFamily="34" charset="0"/>
              <a:buChar char="•"/>
            </a:pPr>
            <a:r>
              <a:rPr lang="en-US" sz="2000" dirty="0"/>
              <a:t>the length of an array can be set to whatever you like by assigning the length property,</a:t>
            </a:r>
          </a:p>
          <a:p>
            <a:pPr marL="800100" lvl="1" indent="-342900">
              <a:buFont typeface="Arial" panose="020B0604020202020204" pitchFamily="34" charset="0"/>
              <a:buChar char="•"/>
            </a:pPr>
            <a:r>
              <a:rPr lang="en-US" sz="2000" dirty="0" err="1">
                <a:solidFill>
                  <a:srgbClr val="C00000"/>
                </a:solidFill>
                <a:latin typeface="Microsoft Yi Baiti" panose="03000500000000000000" pitchFamily="66" charset="0"/>
                <a:ea typeface="Microsoft Yi Baiti" panose="03000500000000000000" pitchFamily="66" charset="0"/>
              </a:rPr>
              <a:t>my_list.length</a:t>
            </a:r>
            <a:r>
              <a:rPr lang="en-US" sz="2000" dirty="0">
                <a:solidFill>
                  <a:srgbClr val="C00000"/>
                </a:solidFill>
                <a:latin typeface="Microsoft Yi Baiti" panose="03000500000000000000" pitchFamily="66" charset="0"/>
                <a:ea typeface="Microsoft Yi Baiti" panose="03000500000000000000" pitchFamily="66" charset="0"/>
              </a:rPr>
              <a:t> = 1002;</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3310114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B159A-DB56-6CEE-45F6-03DDA35A1F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20B958-3A85-3A5B-A7CA-93C6B4DF3DCA}"/>
              </a:ext>
            </a:extLst>
          </p:cNvPr>
          <p:cNvSpPr txBox="1"/>
          <p:nvPr/>
        </p:nvSpPr>
        <p:spPr>
          <a:xfrm>
            <a:off x="528918" y="421341"/>
            <a:ext cx="11143129" cy="6001643"/>
          </a:xfrm>
          <a:prstGeom prst="rect">
            <a:avLst/>
          </a:prstGeom>
          <a:noFill/>
        </p:spPr>
        <p:txBody>
          <a:bodyPr wrap="square" rtlCol="0">
            <a:spAutoFit/>
          </a:bodyPr>
          <a:lstStyle/>
          <a:p>
            <a:r>
              <a:rPr lang="en-IN" sz="2400" b="1" dirty="0"/>
              <a:t>8.3 Array Methods</a:t>
            </a:r>
            <a:endParaRPr lang="en-US" sz="2000" b="1" dirty="0"/>
          </a:p>
          <a:p>
            <a:pPr marL="342900" indent="-342900">
              <a:buFont typeface="Arial" panose="020B0604020202020204" pitchFamily="34" charset="0"/>
              <a:buChar char="•"/>
            </a:pPr>
            <a:r>
              <a:rPr lang="en-US" sz="2000" dirty="0"/>
              <a:t>The </a:t>
            </a:r>
            <a:r>
              <a:rPr lang="en-US" sz="2000" dirty="0">
                <a:solidFill>
                  <a:srgbClr val="FF0000"/>
                </a:solidFill>
              </a:rPr>
              <a:t>join</a:t>
            </a:r>
            <a:r>
              <a:rPr lang="en-US" sz="2000" dirty="0"/>
              <a:t> method converts all of the elements of an array to strings and catenates them into a single string. </a:t>
            </a:r>
          </a:p>
          <a:p>
            <a:pPr marL="342900" indent="-342900">
              <a:buFont typeface="Arial" panose="020B0604020202020204" pitchFamily="34" charset="0"/>
              <a:buChar char="•"/>
            </a:pPr>
            <a:r>
              <a:rPr lang="en-US" sz="2000" dirty="0"/>
              <a:t>If no parameter is provided to join, the values in the new string are separated by </a:t>
            </a:r>
            <a:r>
              <a:rPr lang="en-US" sz="2000" dirty="0">
                <a:solidFill>
                  <a:srgbClr val="FF0000"/>
                </a:solidFill>
              </a:rPr>
              <a:t>commas</a:t>
            </a:r>
            <a:r>
              <a:rPr lang="en-US" sz="2000" dirty="0"/>
              <a:t>. </a:t>
            </a:r>
          </a:p>
          <a:p>
            <a:pPr marL="342900" indent="-342900">
              <a:buFont typeface="Arial" panose="020B0604020202020204" pitchFamily="34" charset="0"/>
              <a:buChar char="•"/>
            </a:pPr>
            <a:r>
              <a:rPr lang="en-US" sz="2000" dirty="0"/>
              <a:t>If a string </a:t>
            </a:r>
            <a:r>
              <a:rPr lang="en-US" sz="2000" dirty="0">
                <a:solidFill>
                  <a:srgbClr val="FF0000"/>
                </a:solidFill>
              </a:rPr>
              <a:t>parameter</a:t>
            </a:r>
            <a:r>
              <a:rPr lang="en-US" sz="2000" dirty="0"/>
              <a:t> is provided, it is used as the element separator.</a:t>
            </a:r>
            <a:endParaRPr lang="en-IN" sz="2000" dirty="0"/>
          </a:p>
          <a:p>
            <a:pPr lvl="1"/>
            <a:r>
              <a:rPr lang="en-US" sz="2000" dirty="0">
                <a:solidFill>
                  <a:srgbClr val="C00000"/>
                </a:solidFill>
                <a:latin typeface="Microsoft Yi Baiti" panose="03000500000000000000" pitchFamily="66" charset="0"/>
                <a:ea typeface="Microsoft Yi Baiti" panose="03000500000000000000" pitchFamily="66" charset="0"/>
              </a:rPr>
              <a:t>var names = new Array["Mary", "Murray", "Murphy", "Max"];</a:t>
            </a:r>
          </a:p>
          <a:p>
            <a:pPr lvl="1"/>
            <a:r>
              <a:rPr lang="en-US" sz="2000" dirty="0">
                <a:solidFill>
                  <a:srgbClr val="C00000"/>
                </a:solidFill>
                <a:latin typeface="Microsoft Yi Baiti" panose="03000500000000000000" pitchFamily="66" charset="0"/>
                <a:ea typeface="Microsoft Yi Baiti" panose="03000500000000000000" pitchFamily="66" charset="0"/>
              </a:rPr>
              <a:t> . . .</a:t>
            </a:r>
          </a:p>
          <a:p>
            <a:pPr lvl="1"/>
            <a:r>
              <a:rPr lang="en-US" sz="2000" dirty="0">
                <a:solidFill>
                  <a:srgbClr val="C00000"/>
                </a:solidFill>
                <a:latin typeface="Microsoft Yi Baiti" panose="03000500000000000000" pitchFamily="66" charset="0"/>
                <a:ea typeface="Microsoft Yi Baiti" panose="03000500000000000000" pitchFamily="66" charset="0"/>
              </a:rPr>
              <a:t> var </a:t>
            </a:r>
            <a:r>
              <a:rPr lang="en-US" sz="2000" dirty="0" err="1">
                <a:solidFill>
                  <a:srgbClr val="C00000"/>
                </a:solidFill>
                <a:latin typeface="Microsoft Yi Baiti" panose="03000500000000000000" pitchFamily="66" charset="0"/>
                <a:ea typeface="Microsoft Yi Baiti" panose="03000500000000000000" pitchFamily="66" charset="0"/>
              </a:rPr>
              <a:t>name_string</a:t>
            </a:r>
            <a:r>
              <a:rPr lang="en-US" sz="2000" dirty="0">
                <a:solidFill>
                  <a:srgbClr val="C00000"/>
                </a:solidFill>
                <a:latin typeface="Microsoft Yi Baiti" panose="03000500000000000000" pitchFamily="66" charset="0"/>
                <a:ea typeface="Microsoft Yi Baiti" panose="03000500000000000000" pitchFamily="66" charset="0"/>
              </a:rPr>
              <a:t> = </a:t>
            </a:r>
            <a:r>
              <a:rPr lang="en-US" sz="2000" dirty="0" err="1">
                <a:solidFill>
                  <a:srgbClr val="C00000"/>
                </a:solidFill>
                <a:latin typeface="Microsoft Yi Baiti" panose="03000500000000000000" pitchFamily="66" charset="0"/>
                <a:ea typeface="Microsoft Yi Baiti" panose="03000500000000000000" pitchFamily="66" charset="0"/>
              </a:rPr>
              <a:t>names.join</a:t>
            </a:r>
            <a:r>
              <a:rPr lang="en-US" sz="2000" dirty="0">
                <a:solidFill>
                  <a:srgbClr val="C00000"/>
                </a:solidFill>
                <a:latin typeface="Microsoft Yi Baiti" panose="03000500000000000000" pitchFamily="66" charset="0"/>
                <a:ea typeface="Microsoft Yi Baiti" panose="03000500000000000000" pitchFamily="66" charset="0"/>
              </a:rPr>
              <a:t>(" : ");</a:t>
            </a:r>
          </a:p>
          <a:p>
            <a:pPr lvl="1"/>
            <a:r>
              <a:rPr lang="en-US" sz="2000" dirty="0">
                <a:solidFill>
                  <a:srgbClr val="C00000"/>
                </a:solidFill>
                <a:latin typeface="Microsoft Yi Baiti" panose="03000500000000000000" pitchFamily="66" charset="0"/>
                <a:ea typeface="Microsoft Yi Baiti" panose="03000500000000000000" pitchFamily="66" charset="0"/>
              </a:rPr>
              <a:t> The value of </a:t>
            </a:r>
            <a:r>
              <a:rPr lang="en-US" sz="2000" dirty="0" err="1">
                <a:solidFill>
                  <a:srgbClr val="C00000"/>
                </a:solidFill>
                <a:latin typeface="Microsoft Yi Baiti" panose="03000500000000000000" pitchFamily="66" charset="0"/>
                <a:ea typeface="Microsoft Yi Baiti" panose="03000500000000000000" pitchFamily="66" charset="0"/>
              </a:rPr>
              <a:t>name_string</a:t>
            </a:r>
            <a:r>
              <a:rPr lang="en-US" sz="2000" dirty="0">
                <a:solidFill>
                  <a:srgbClr val="C00000"/>
                </a:solidFill>
                <a:latin typeface="Microsoft Yi Baiti" panose="03000500000000000000" pitchFamily="66" charset="0"/>
                <a:ea typeface="Microsoft Yi Baiti" panose="03000500000000000000" pitchFamily="66" charset="0"/>
              </a:rPr>
              <a:t> is now "Mary : Murray : Murphy : Max".</a:t>
            </a:r>
            <a:endParaRPr lang="en-IN" sz="2000" dirty="0">
              <a:solidFill>
                <a:srgbClr val="C00000"/>
              </a:solidFill>
              <a:latin typeface="Microsoft Yi Baiti" panose="03000500000000000000" pitchFamily="66" charset="0"/>
              <a:ea typeface="Microsoft Yi Baiti" panose="03000500000000000000" pitchFamily="66" charset="0"/>
            </a:endParaRPr>
          </a:p>
          <a:p>
            <a:endParaRPr lang="en-IN" sz="2000" dirty="0"/>
          </a:p>
          <a:p>
            <a:pPr marL="342900" indent="-342900">
              <a:buFont typeface="Arial" panose="020B0604020202020204" pitchFamily="34" charset="0"/>
              <a:buChar char="•"/>
            </a:pPr>
            <a:r>
              <a:rPr lang="en-IN" sz="2000" dirty="0"/>
              <a:t>The </a:t>
            </a:r>
            <a:r>
              <a:rPr lang="en-IN" sz="2000" dirty="0">
                <a:solidFill>
                  <a:srgbClr val="FF0000"/>
                </a:solidFill>
              </a:rPr>
              <a:t>reverse</a:t>
            </a:r>
            <a:r>
              <a:rPr lang="en-IN" sz="2000" dirty="0"/>
              <a:t> method </a:t>
            </a:r>
            <a:r>
              <a:rPr lang="en-US" sz="2000" dirty="0"/>
              <a:t>reverses the order of the elements of the Array object through which it is called.</a:t>
            </a:r>
          </a:p>
          <a:p>
            <a:pPr marL="342900" indent="-342900">
              <a:buFont typeface="Arial" panose="020B0604020202020204" pitchFamily="34" charset="0"/>
              <a:buChar char="•"/>
            </a:pPr>
            <a:r>
              <a:rPr lang="en-US" sz="2000" dirty="0"/>
              <a:t>The </a:t>
            </a:r>
            <a:r>
              <a:rPr lang="en-US" sz="2000" dirty="0">
                <a:solidFill>
                  <a:srgbClr val="FF0000"/>
                </a:solidFill>
              </a:rPr>
              <a:t>sort</a:t>
            </a:r>
            <a:r>
              <a:rPr lang="en-US" sz="2000" dirty="0"/>
              <a:t> method coerces the elements of the array to become strings if they are not already strings and sorts them alphabetically.</a:t>
            </a:r>
          </a:p>
          <a:p>
            <a:r>
              <a:rPr lang="en-US" sz="2000" dirty="0"/>
              <a:t>	</a:t>
            </a:r>
            <a:r>
              <a:rPr lang="en-US" sz="2000" dirty="0" err="1">
                <a:solidFill>
                  <a:srgbClr val="C00000"/>
                </a:solidFill>
                <a:latin typeface="Microsoft Yi Baiti" panose="03000500000000000000" pitchFamily="66" charset="0"/>
                <a:ea typeface="Microsoft Yi Baiti" panose="03000500000000000000" pitchFamily="66" charset="0"/>
              </a:rPr>
              <a:t>names.sort</a:t>
            </a:r>
            <a:r>
              <a:rPr lang="en-US" sz="2000" dirty="0">
                <a:solidFill>
                  <a:srgbClr val="C00000"/>
                </a:solidFill>
                <a:latin typeface="Microsoft Yi Baiti" panose="03000500000000000000" pitchFamily="66" charset="0"/>
                <a:ea typeface="Microsoft Yi Baiti" panose="03000500000000000000" pitchFamily="66" charset="0"/>
              </a:rPr>
              <a:t>();</a:t>
            </a:r>
            <a:r>
              <a:rPr lang="en-US" sz="2000" dirty="0"/>
              <a:t>	</a:t>
            </a:r>
          </a:p>
          <a:p>
            <a:r>
              <a:rPr lang="en-US" sz="2000" dirty="0"/>
              <a:t>The </a:t>
            </a:r>
            <a:r>
              <a:rPr lang="en-US" sz="2000" dirty="0" err="1">
                <a:solidFill>
                  <a:srgbClr val="FF0000"/>
                </a:solidFill>
              </a:rPr>
              <a:t>concat</a:t>
            </a:r>
            <a:r>
              <a:rPr lang="en-US" sz="2000" dirty="0"/>
              <a:t> method catenates its actual parameters to the end of the Array object on which it is called.</a:t>
            </a:r>
          </a:p>
          <a:p>
            <a:pPr lvl="2"/>
            <a:r>
              <a:rPr lang="en-US" sz="2000" dirty="0"/>
              <a:t> </a:t>
            </a:r>
            <a:r>
              <a:rPr lang="en-US" sz="2000" dirty="0">
                <a:solidFill>
                  <a:srgbClr val="C00000"/>
                </a:solidFill>
                <a:latin typeface="Microsoft Yi Baiti" panose="03000500000000000000" pitchFamily="66" charset="0"/>
                <a:ea typeface="Microsoft Yi Baiti" panose="03000500000000000000" pitchFamily="66" charset="0"/>
              </a:rPr>
              <a:t>var names = new Array["Mary", "Murray", "Murphy", "Max"];</a:t>
            </a:r>
          </a:p>
          <a:p>
            <a:pPr lvl="2"/>
            <a:r>
              <a:rPr lang="en-US" sz="2000" dirty="0">
                <a:solidFill>
                  <a:srgbClr val="C00000"/>
                </a:solidFill>
                <a:latin typeface="Microsoft Yi Baiti" panose="03000500000000000000" pitchFamily="66" charset="0"/>
                <a:ea typeface="Microsoft Yi Baiti" panose="03000500000000000000" pitchFamily="66" charset="0"/>
              </a:rPr>
              <a:t> . . .</a:t>
            </a:r>
          </a:p>
          <a:p>
            <a:pPr lvl="2"/>
            <a:r>
              <a:rPr lang="en-US" sz="2000" dirty="0">
                <a:solidFill>
                  <a:srgbClr val="C00000"/>
                </a:solidFill>
                <a:latin typeface="Microsoft Yi Baiti" panose="03000500000000000000" pitchFamily="66" charset="0"/>
                <a:ea typeface="Microsoft Yi Baiti" panose="03000500000000000000" pitchFamily="66" charset="0"/>
              </a:rPr>
              <a:t> var </a:t>
            </a:r>
            <a:r>
              <a:rPr lang="en-US" sz="2000" dirty="0" err="1">
                <a:solidFill>
                  <a:srgbClr val="C00000"/>
                </a:solidFill>
                <a:latin typeface="Microsoft Yi Baiti" panose="03000500000000000000" pitchFamily="66" charset="0"/>
                <a:ea typeface="Microsoft Yi Baiti" panose="03000500000000000000" pitchFamily="66" charset="0"/>
              </a:rPr>
              <a:t>new_names</a:t>
            </a:r>
            <a:r>
              <a:rPr lang="en-US" sz="2000" dirty="0">
                <a:solidFill>
                  <a:srgbClr val="C00000"/>
                </a:solidFill>
                <a:latin typeface="Microsoft Yi Baiti" panose="03000500000000000000" pitchFamily="66" charset="0"/>
                <a:ea typeface="Microsoft Yi Baiti" panose="03000500000000000000" pitchFamily="66" charset="0"/>
              </a:rPr>
              <a:t> = </a:t>
            </a:r>
            <a:r>
              <a:rPr lang="en-US" sz="2000" dirty="0" err="1">
                <a:solidFill>
                  <a:srgbClr val="C00000"/>
                </a:solidFill>
                <a:latin typeface="Microsoft Yi Baiti" panose="03000500000000000000" pitchFamily="66" charset="0"/>
                <a:ea typeface="Microsoft Yi Baiti" panose="03000500000000000000" pitchFamily="66" charset="0"/>
              </a:rPr>
              <a:t>names.concat</a:t>
            </a:r>
            <a:r>
              <a:rPr lang="en-US" sz="2000" dirty="0">
                <a:solidFill>
                  <a:srgbClr val="C00000"/>
                </a:solidFill>
                <a:latin typeface="Microsoft Yi Baiti" panose="03000500000000000000" pitchFamily="66" charset="0"/>
                <a:ea typeface="Microsoft Yi Baiti" panose="03000500000000000000" pitchFamily="66" charset="0"/>
              </a:rPr>
              <a:t>("Moo", "Meow");</a:t>
            </a:r>
            <a:endParaRPr lang="en-IN" sz="2000" dirty="0">
              <a:solidFill>
                <a:srgbClr val="C00000"/>
              </a:solidFill>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3681734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9FACC-399F-662E-86A1-9B5DE123A6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358B0C-43EA-EBFF-19D2-934970DC8F98}"/>
              </a:ext>
            </a:extLst>
          </p:cNvPr>
          <p:cNvSpPr txBox="1"/>
          <p:nvPr/>
        </p:nvSpPr>
        <p:spPr>
          <a:xfrm>
            <a:off x="528918" y="421341"/>
            <a:ext cx="11143129" cy="6001643"/>
          </a:xfrm>
          <a:prstGeom prst="rect">
            <a:avLst/>
          </a:prstGeom>
          <a:noFill/>
        </p:spPr>
        <p:txBody>
          <a:bodyPr wrap="square" rtlCol="0">
            <a:spAutoFit/>
          </a:bodyPr>
          <a:lstStyle/>
          <a:p>
            <a:r>
              <a:rPr lang="en-US" sz="2400" dirty="0"/>
              <a:t>Array methods continued…</a:t>
            </a:r>
          </a:p>
          <a:p>
            <a:pPr marL="342900" indent="-342900">
              <a:buFont typeface="Arial" panose="020B0604020202020204" pitchFamily="34" charset="0"/>
              <a:buChar char="•"/>
            </a:pPr>
            <a:r>
              <a:rPr lang="en-US" sz="2000" dirty="0"/>
              <a:t>The </a:t>
            </a:r>
            <a:r>
              <a:rPr lang="en-US" sz="2000" dirty="0">
                <a:solidFill>
                  <a:srgbClr val="FF0000"/>
                </a:solidFill>
              </a:rPr>
              <a:t>slice</a:t>
            </a:r>
            <a:r>
              <a:rPr lang="en-US" sz="2000" dirty="0"/>
              <a:t> method does for arrays what the substring method does for strings, returning the part of the Array object specified by its parameters, which are used as subscripts.</a:t>
            </a:r>
            <a:endParaRPr lang="en-IN" sz="2000" dirty="0"/>
          </a:p>
          <a:p>
            <a:pPr lvl="1"/>
            <a:r>
              <a:rPr lang="en-IN" sz="2000" dirty="0">
                <a:solidFill>
                  <a:srgbClr val="C00000"/>
                </a:solidFill>
                <a:latin typeface="Microsoft Yi Baiti" panose="03000500000000000000" pitchFamily="66" charset="0"/>
                <a:ea typeface="Microsoft Yi Baiti" panose="03000500000000000000" pitchFamily="66" charset="0"/>
              </a:rPr>
              <a:t>var list = [2, 4, 6, 8, 10];</a:t>
            </a:r>
          </a:p>
          <a:p>
            <a:pPr lvl="1"/>
            <a:r>
              <a:rPr lang="en-IN" sz="2000" dirty="0">
                <a:solidFill>
                  <a:srgbClr val="C00000"/>
                </a:solidFill>
                <a:latin typeface="Microsoft Yi Baiti" panose="03000500000000000000" pitchFamily="66" charset="0"/>
                <a:ea typeface="Microsoft Yi Baiti" panose="03000500000000000000" pitchFamily="66" charset="0"/>
              </a:rPr>
              <a:t> . . .</a:t>
            </a:r>
          </a:p>
          <a:p>
            <a:pPr lvl="1"/>
            <a:r>
              <a:rPr lang="en-IN" sz="2000" dirty="0">
                <a:solidFill>
                  <a:srgbClr val="C00000"/>
                </a:solidFill>
                <a:latin typeface="Microsoft Yi Baiti" panose="03000500000000000000" pitchFamily="66" charset="0"/>
                <a:ea typeface="Microsoft Yi Baiti" panose="03000500000000000000" pitchFamily="66" charset="0"/>
              </a:rPr>
              <a:t> var list2 = </a:t>
            </a:r>
            <a:r>
              <a:rPr lang="en-IN" sz="2000" dirty="0" err="1">
                <a:solidFill>
                  <a:srgbClr val="C00000"/>
                </a:solidFill>
                <a:latin typeface="Microsoft Yi Baiti" panose="03000500000000000000" pitchFamily="66" charset="0"/>
                <a:ea typeface="Microsoft Yi Baiti" panose="03000500000000000000" pitchFamily="66" charset="0"/>
              </a:rPr>
              <a:t>list.slice</a:t>
            </a:r>
            <a:r>
              <a:rPr lang="en-IN" sz="2000" dirty="0">
                <a:solidFill>
                  <a:srgbClr val="C00000"/>
                </a:solidFill>
                <a:latin typeface="Microsoft Yi Baiti" panose="03000500000000000000" pitchFamily="66" charset="0"/>
                <a:ea typeface="Microsoft Yi Baiti" panose="03000500000000000000" pitchFamily="66" charset="0"/>
              </a:rPr>
              <a:t>(1, 3);</a:t>
            </a:r>
          </a:p>
          <a:p>
            <a:pPr lvl="1"/>
            <a:r>
              <a:rPr lang="en-US" sz="2000" dirty="0">
                <a:solidFill>
                  <a:srgbClr val="C00000"/>
                </a:solidFill>
                <a:latin typeface="Microsoft Yi Baiti" panose="03000500000000000000" pitchFamily="66" charset="0"/>
                <a:ea typeface="Microsoft Yi Baiti" panose="03000500000000000000" pitchFamily="66" charset="0"/>
              </a:rPr>
              <a:t>list2 is now [4, 6].</a:t>
            </a:r>
          </a:p>
          <a:p>
            <a:pPr lvl="1"/>
            <a:endParaRPr lang="en-US" sz="2000" dirty="0"/>
          </a:p>
          <a:p>
            <a:pPr marL="342900" indent="-342900">
              <a:buFont typeface="Arial" panose="020B0604020202020204" pitchFamily="34" charset="0"/>
              <a:buChar char="•"/>
            </a:pPr>
            <a:r>
              <a:rPr lang="en-US" sz="2000" dirty="0"/>
              <a:t>If slice is given just one parameter, the array that is returned has all of the elements of the object, starting with the specified index.</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When the </a:t>
            </a:r>
            <a:r>
              <a:rPr lang="en-US" sz="2000" dirty="0" err="1">
                <a:solidFill>
                  <a:srgbClr val="FF0000"/>
                </a:solidFill>
              </a:rPr>
              <a:t>toString</a:t>
            </a:r>
            <a:r>
              <a:rPr lang="en-US" sz="2000" dirty="0"/>
              <a:t> method is called through an Array object, each of the elements of the object is converted (if necessary) to a string.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push</a:t>
            </a:r>
            <a:r>
              <a:rPr lang="en-US" sz="2000" dirty="0"/>
              <a:t>, </a:t>
            </a:r>
            <a:r>
              <a:rPr lang="en-US" sz="2000" dirty="0">
                <a:solidFill>
                  <a:srgbClr val="FF0000"/>
                </a:solidFill>
              </a:rPr>
              <a:t>pop</a:t>
            </a:r>
            <a:r>
              <a:rPr lang="en-US" sz="2000" dirty="0"/>
              <a:t>, </a:t>
            </a:r>
            <a:r>
              <a:rPr lang="en-US" sz="2000" dirty="0">
                <a:solidFill>
                  <a:srgbClr val="FF0000"/>
                </a:solidFill>
              </a:rPr>
              <a:t>unshift</a:t>
            </a:r>
            <a:r>
              <a:rPr lang="en-US" sz="2000" dirty="0"/>
              <a:t>, and </a:t>
            </a:r>
            <a:r>
              <a:rPr lang="en-US" sz="2000" dirty="0">
                <a:solidFill>
                  <a:srgbClr val="FF0000"/>
                </a:solidFill>
              </a:rPr>
              <a:t>shift</a:t>
            </a:r>
            <a:r>
              <a:rPr lang="en-US" sz="2000" dirty="0"/>
              <a:t> methods of Array allow the easy implementation of stacks and queues in arrays.</a:t>
            </a:r>
          </a:p>
          <a:p>
            <a:pPr lvl="1"/>
            <a:r>
              <a:rPr lang="en-IN" sz="2000" dirty="0"/>
              <a:t> </a:t>
            </a:r>
            <a:r>
              <a:rPr lang="en-IN" sz="2000" dirty="0">
                <a:solidFill>
                  <a:srgbClr val="C00000"/>
                </a:solidFill>
                <a:latin typeface="Microsoft Yi Baiti" panose="03000500000000000000" pitchFamily="66" charset="0"/>
                <a:ea typeface="Microsoft Yi Baiti" panose="03000500000000000000" pitchFamily="66" charset="0"/>
              </a:rPr>
              <a:t>var list = ["Dasher", "Dancer", "Donner", "Blitzen"];</a:t>
            </a:r>
          </a:p>
          <a:p>
            <a:pPr lvl="1"/>
            <a:r>
              <a:rPr lang="en-IN" sz="2000" dirty="0">
                <a:solidFill>
                  <a:srgbClr val="C00000"/>
                </a:solidFill>
                <a:latin typeface="Microsoft Yi Baiti" panose="03000500000000000000" pitchFamily="66" charset="0"/>
                <a:ea typeface="Microsoft Yi Baiti" panose="03000500000000000000" pitchFamily="66" charset="0"/>
              </a:rPr>
              <a:t> var deer = </a:t>
            </a:r>
            <a:r>
              <a:rPr lang="en-IN" sz="2000" dirty="0" err="1">
                <a:solidFill>
                  <a:srgbClr val="C00000"/>
                </a:solidFill>
                <a:latin typeface="Microsoft Yi Baiti" panose="03000500000000000000" pitchFamily="66" charset="0"/>
                <a:ea typeface="Microsoft Yi Baiti" panose="03000500000000000000" pitchFamily="66" charset="0"/>
              </a:rPr>
              <a:t>list.pop</a:t>
            </a:r>
            <a:r>
              <a:rPr lang="en-IN" sz="2000" dirty="0">
                <a:solidFill>
                  <a:srgbClr val="C00000"/>
                </a:solidFill>
                <a:latin typeface="Microsoft Yi Baiti" panose="03000500000000000000" pitchFamily="66" charset="0"/>
                <a:ea typeface="Microsoft Yi Baiti" panose="03000500000000000000" pitchFamily="66" charset="0"/>
              </a:rPr>
              <a:t>();    // deer is "Blitzen"</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list.push</a:t>
            </a:r>
            <a:r>
              <a:rPr lang="en-IN" sz="2000" dirty="0">
                <a:solidFill>
                  <a:srgbClr val="C00000"/>
                </a:solidFill>
                <a:latin typeface="Microsoft Yi Baiti" panose="03000500000000000000" pitchFamily="66" charset="0"/>
                <a:ea typeface="Microsoft Yi Baiti" panose="03000500000000000000" pitchFamily="66" charset="0"/>
              </a:rPr>
              <a:t>("Blitzen"); </a:t>
            </a:r>
          </a:p>
        </p:txBody>
      </p:sp>
    </p:spTree>
    <p:extLst>
      <p:ext uri="{BB962C8B-B14F-4D97-AF65-F5344CB8AC3E}">
        <p14:creationId xmlns:p14="http://schemas.microsoft.com/office/powerpoint/2010/main" val="1920705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0E12-E751-C172-0ED1-3A0C187616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0B8327-1868-9898-D0A9-614F1FB94040}"/>
              </a:ext>
            </a:extLst>
          </p:cNvPr>
          <p:cNvSpPr txBox="1"/>
          <p:nvPr/>
        </p:nvSpPr>
        <p:spPr>
          <a:xfrm>
            <a:off x="528918" y="421341"/>
            <a:ext cx="11143129" cy="5386090"/>
          </a:xfrm>
          <a:prstGeom prst="rect">
            <a:avLst/>
          </a:prstGeom>
          <a:noFill/>
        </p:spPr>
        <p:txBody>
          <a:bodyPr wrap="square" rtlCol="0">
            <a:spAutoFit/>
          </a:bodyPr>
          <a:lstStyle/>
          <a:p>
            <a:r>
              <a:rPr lang="en-US" sz="2400" dirty="0"/>
              <a:t>Arrays continued…</a:t>
            </a:r>
          </a:p>
          <a:p>
            <a:endParaRPr lang="en-US" sz="2000" dirty="0"/>
          </a:p>
          <a:p>
            <a:r>
              <a:rPr lang="en-US" sz="2000" dirty="0"/>
              <a:t>A two-dimensional array is implemented in JavaScript as an array of arrays. This can be done with the new operator or with nested array literals</a:t>
            </a:r>
            <a:endParaRPr lang="en-IN" sz="2000" dirty="0"/>
          </a:p>
          <a:p>
            <a:pPr lvl="1"/>
            <a:r>
              <a:rPr lang="en-IN" sz="2000" dirty="0">
                <a:solidFill>
                  <a:srgbClr val="C00000"/>
                </a:solidFill>
                <a:latin typeface="Microsoft Yi Baiti" panose="03000500000000000000" pitchFamily="66" charset="0"/>
                <a:ea typeface="Microsoft Yi Baiti" panose="03000500000000000000" pitchFamily="66" charset="0"/>
              </a:rPr>
              <a:t>	// nested_arrays.js </a:t>
            </a:r>
          </a:p>
          <a:p>
            <a:pPr lvl="1"/>
            <a:r>
              <a:rPr lang="en-IN" sz="2000" dirty="0">
                <a:solidFill>
                  <a:srgbClr val="C00000"/>
                </a:solidFill>
                <a:latin typeface="Microsoft Yi Baiti" panose="03000500000000000000" pitchFamily="66" charset="0"/>
                <a:ea typeface="Microsoft Yi Baiti" panose="03000500000000000000" pitchFamily="66" charset="0"/>
              </a:rPr>
              <a:t>	//   An example illustrating an array of arrays</a:t>
            </a:r>
          </a:p>
          <a:p>
            <a:pPr lvl="1"/>
            <a:r>
              <a:rPr lang="en-IN" sz="2000" dirty="0">
                <a:solidFill>
                  <a:srgbClr val="C00000"/>
                </a:solidFill>
                <a:latin typeface="Microsoft Yi Baiti" panose="03000500000000000000" pitchFamily="66" charset="0"/>
                <a:ea typeface="Microsoft Yi Baiti" panose="03000500000000000000" pitchFamily="66" charset="0"/>
              </a:rPr>
              <a:t> 	// Create an array object with three arrays as its elements</a:t>
            </a:r>
          </a:p>
          <a:p>
            <a:pPr lvl="1"/>
            <a:r>
              <a:rPr lang="en-IN" sz="2000" dirty="0">
                <a:solidFill>
                  <a:srgbClr val="C00000"/>
                </a:solidFill>
                <a:latin typeface="Microsoft Yi Baiti" panose="03000500000000000000" pitchFamily="66" charset="0"/>
                <a:ea typeface="Microsoft Yi Baiti" panose="03000500000000000000" pitchFamily="66" charset="0"/>
              </a:rPr>
              <a:t> 	var </a:t>
            </a:r>
            <a:r>
              <a:rPr lang="en-IN" sz="2000" dirty="0" err="1">
                <a:solidFill>
                  <a:srgbClr val="C00000"/>
                </a:solidFill>
                <a:latin typeface="Microsoft Yi Baiti" panose="03000500000000000000" pitchFamily="66" charset="0"/>
                <a:ea typeface="Microsoft Yi Baiti" panose="03000500000000000000" pitchFamily="66" charset="0"/>
              </a:rPr>
              <a:t>nested_array</a:t>
            </a:r>
            <a:r>
              <a:rPr lang="en-IN" sz="2000" dirty="0">
                <a:solidFill>
                  <a:srgbClr val="C00000"/>
                </a:solidFill>
                <a:latin typeface="Microsoft Yi Baiti" panose="03000500000000000000" pitchFamily="66" charset="0"/>
                <a:ea typeface="Microsoft Yi Baiti" panose="03000500000000000000" pitchFamily="66" charset="0"/>
              </a:rPr>
              <a:t> = [[2, 4, 6], [1, 3, 5], [10, 20, 30]];</a:t>
            </a:r>
          </a:p>
          <a:p>
            <a:pPr lvl="1"/>
            <a:r>
              <a:rPr lang="en-IN" sz="2000" dirty="0">
                <a:solidFill>
                  <a:srgbClr val="C00000"/>
                </a:solidFill>
                <a:latin typeface="Microsoft Yi Baiti" panose="03000500000000000000" pitchFamily="66" charset="0"/>
                <a:ea typeface="Microsoft Yi Baiti" panose="03000500000000000000" pitchFamily="66" charset="0"/>
              </a:rPr>
              <a:t> 	// Display the elements of </a:t>
            </a:r>
            <a:r>
              <a:rPr lang="en-IN" sz="2000" dirty="0" err="1">
                <a:solidFill>
                  <a:srgbClr val="C00000"/>
                </a:solidFill>
                <a:latin typeface="Microsoft Yi Baiti" panose="03000500000000000000" pitchFamily="66" charset="0"/>
                <a:ea typeface="Microsoft Yi Baiti" panose="03000500000000000000" pitchFamily="66" charset="0"/>
              </a:rPr>
              <a:t>nested_list</a:t>
            </a:r>
            <a:endParaRPr lang="en-IN" sz="2000" dirty="0">
              <a:solidFill>
                <a:srgbClr val="C00000"/>
              </a:solidFill>
              <a:latin typeface="Microsoft Yi Baiti" panose="03000500000000000000" pitchFamily="66" charset="0"/>
              <a:ea typeface="Microsoft Yi Baiti" panose="03000500000000000000" pitchFamily="66" charset="0"/>
            </a:endParaRPr>
          </a:p>
          <a:p>
            <a:pPr lvl="1"/>
            <a:r>
              <a:rPr lang="en-IN" sz="2000" dirty="0">
                <a:solidFill>
                  <a:srgbClr val="C00000"/>
                </a:solidFill>
                <a:latin typeface="Microsoft Yi Baiti" panose="03000500000000000000" pitchFamily="66" charset="0"/>
                <a:ea typeface="Microsoft Yi Baiti" panose="03000500000000000000" pitchFamily="66" charset="0"/>
              </a:rPr>
              <a:t> 	for (var row = 0; row &lt;= 2; row++) { </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document.write</a:t>
            </a:r>
            <a:r>
              <a:rPr lang="en-IN" sz="2000" dirty="0">
                <a:solidFill>
                  <a:srgbClr val="C00000"/>
                </a:solidFill>
                <a:latin typeface="Microsoft Yi Baiti" panose="03000500000000000000" pitchFamily="66" charset="0"/>
                <a:ea typeface="Microsoft Yi Baiti" panose="03000500000000000000" pitchFamily="66" charset="0"/>
              </a:rPr>
              <a:t>("Row ", row, ":  ");</a:t>
            </a:r>
          </a:p>
          <a:p>
            <a:pPr lvl="1"/>
            <a:r>
              <a:rPr lang="en-IN" sz="2000" dirty="0">
                <a:solidFill>
                  <a:srgbClr val="C00000"/>
                </a:solidFill>
                <a:latin typeface="Microsoft Yi Baiti" panose="03000500000000000000" pitchFamily="66" charset="0"/>
                <a:ea typeface="Microsoft Yi Baiti" panose="03000500000000000000" pitchFamily="66" charset="0"/>
              </a:rPr>
              <a:t>  		for (var col = 0; col &lt;=2; col++) </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document.write</a:t>
            </a:r>
            <a:r>
              <a:rPr lang="en-IN" sz="2000" dirty="0">
                <a:solidFill>
                  <a:srgbClr val="C00000"/>
                </a:solidFill>
                <a:latin typeface="Microsoft Yi Baiti" panose="03000500000000000000" pitchFamily="66" charset="0"/>
                <a:ea typeface="Microsoft Yi Baiti" panose="03000500000000000000" pitchFamily="66" charset="0"/>
              </a:rPr>
              <a:t>(</a:t>
            </a:r>
            <a:r>
              <a:rPr lang="en-IN" sz="2000" dirty="0" err="1">
                <a:solidFill>
                  <a:srgbClr val="C00000"/>
                </a:solidFill>
                <a:latin typeface="Microsoft Yi Baiti" panose="03000500000000000000" pitchFamily="66" charset="0"/>
                <a:ea typeface="Microsoft Yi Baiti" panose="03000500000000000000" pitchFamily="66" charset="0"/>
              </a:rPr>
              <a:t>nested_array</a:t>
            </a:r>
            <a:r>
              <a:rPr lang="en-IN" sz="2000" dirty="0">
                <a:solidFill>
                  <a:srgbClr val="C00000"/>
                </a:solidFill>
                <a:latin typeface="Microsoft Yi Baiti" panose="03000500000000000000" pitchFamily="66" charset="0"/>
                <a:ea typeface="Microsoft Yi Baiti" panose="03000500000000000000" pitchFamily="66" charset="0"/>
              </a:rPr>
              <a:t>[row][col], " ");</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document.write</a:t>
            </a:r>
            <a:r>
              <a:rPr lang="en-IN" sz="2000" dirty="0">
                <a:solidFill>
                  <a:srgbClr val="C00000"/>
                </a:solidFill>
                <a:latin typeface="Microsoft Yi Baiti" panose="03000500000000000000" pitchFamily="66" charset="0"/>
                <a:ea typeface="Microsoft Yi Baiti" panose="03000500000000000000" pitchFamily="66" charset="0"/>
              </a:rPr>
              <a:t>("&lt;</a:t>
            </a:r>
            <a:r>
              <a:rPr lang="en-IN" sz="2000" dirty="0" err="1">
                <a:solidFill>
                  <a:srgbClr val="C00000"/>
                </a:solidFill>
                <a:latin typeface="Microsoft Yi Baiti" panose="03000500000000000000" pitchFamily="66" charset="0"/>
                <a:ea typeface="Microsoft Yi Baiti" panose="03000500000000000000" pitchFamily="66" charset="0"/>
              </a:rPr>
              <a:t>br</a:t>
            </a:r>
            <a:r>
              <a:rPr lang="en-IN" sz="2000" dirty="0">
                <a:solidFill>
                  <a:srgbClr val="C00000"/>
                </a:solidFill>
                <a:latin typeface="Microsoft Yi Baiti" panose="03000500000000000000" pitchFamily="66" charset="0"/>
                <a:ea typeface="Microsoft Yi Baiti" panose="03000500000000000000" pitchFamily="66" charset="0"/>
              </a:rPr>
              <a:t> /&gt;");</a:t>
            </a:r>
          </a:p>
          <a:p>
            <a:pPr lvl="1"/>
            <a:r>
              <a:rPr lang="en-IN" sz="2000" dirty="0">
                <a:solidFill>
                  <a:srgbClr val="C00000"/>
                </a:solidFill>
                <a:latin typeface="Microsoft Yi Baiti" panose="03000500000000000000" pitchFamily="66" charset="0"/>
                <a:ea typeface="Microsoft Yi Baiti" panose="03000500000000000000" pitchFamily="66" charset="0"/>
              </a:rPr>
              <a:t> 	}</a:t>
            </a:r>
          </a:p>
          <a:p>
            <a:r>
              <a:rPr lang="en-IN" sz="2000" dirty="0"/>
              <a:t> </a:t>
            </a:r>
          </a:p>
          <a:p>
            <a:endParaRPr lang="en-IN" sz="2000" dirty="0"/>
          </a:p>
        </p:txBody>
      </p:sp>
    </p:spTree>
    <p:extLst>
      <p:ext uri="{BB962C8B-B14F-4D97-AF65-F5344CB8AC3E}">
        <p14:creationId xmlns:p14="http://schemas.microsoft.com/office/powerpoint/2010/main" val="3062432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2B7C9-C3E1-3ACF-7157-951BED730B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6EF49F-FE22-2A0A-ADD8-3D82EC34F9AD}"/>
              </a:ext>
            </a:extLst>
          </p:cNvPr>
          <p:cNvSpPr txBox="1"/>
          <p:nvPr/>
        </p:nvSpPr>
        <p:spPr>
          <a:xfrm>
            <a:off x="528918" y="421341"/>
            <a:ext cx="11143129" cy="5078313"/>
          </a:xfrm>
          <a:prstGeom prst="rect">
            <a:avLst/>
          </a:prstGeom>
          <a:noFill/>
        </p:spPr>
        <p:txBody>
          <a:bodyPr wrap="square" rtlCol="0">
            <a:spAutoFit/>
          </a:bodyPr>
          <a:lstStyle/>
          <a:p>
            <a:r>
              <a:rPr lang="en-IN" sz="2400" b="1" dirty="0"/>
              <a:t>9 Functions</a:t>
            </a:r>
            <a:endParaRPr lang="en-US" sz="2400" b="1" dirty="0"/>
          </a:p>
          <a:p>
            <a:endParaRPr lang="en-US" sz="2000" dirty="0"/>
          </a:p>
          <a:p>
            <a:r>
              <a:rPr lang="en-IN" sz="2000" dirty="0"/>
              <a:t>9.1 Fundamentals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US" sz="2000" dirty="0"/>
              <a:t>A </a:t>
            </a:r>
            <a:r>
              <a:rPr lang="en-US" sz="2000" i="1" dirty="0"/>
              <a:t>function</a:t>
            </a:r>
            <a:r>
              <a:rPr lang="en-US" sz="2000" dirty="0"/>
              <a:t> definition consists of the </a:t>
            </a:r>
            <a:r>
              <a:rPr lang="en-US" sz="2000" dirty="0">
                <a:solidFill>
                  <a:srgbClr val="FF0000"/>
                </a:solidFill>
              </a:rPr>
              <a:t>function’s </a:t>
            </a:r>
            <a:r>
              <a:rPr lang="en-US" sz="2000" i="1" dirty="0">
                <a:solidFill>
                  <a:srgbClr val="FF0000"/>
                </a:solidFill>
              </a:rPr>
              <a:t>header</a:t>
            </a:r>
            <a:r>
              <a:rPr lang="en-US" sz="2000" dirty="0">
                <a:solidFill>
                  <a:srgbClr val="FF0000"/>
                </a:solidFill>
              </a:rPr>
              <a:t> </a:t>
            </a:r>
            <a:r>
              <a:rPr lang="en-US" sz="2000" dirty="0"/>
              <a:t>and a </a:t>
            </a:r>
            <a:r>
              <a:rPr lang="en-US" sz="2000" dirty="0">
                <a:solidFill>
                  <a:srgbClr val="FF0000"/>
                </a:solidFill>
              </a:rPr>
              <a:t>compound statement </a:t>
            </a:r>
            <a:r>
              <a:rPr lang="en-US" sz="2000" dirty="0"/>
              <a:t>that describes the actions of the function. This compound statement is called the </a:t>
            </a:r>
            <a:r>
              <a:rPr lang="en-US" sz="2000" i="1" dirty="0">
                <a:solidFill>
                  <a:srgbClr val="FF0000"/>
                </a:solidFill>
              </a:rPr>
              <a:t>body</a:t>
            </a:r>
            <a:r>
              <a:rPr lang="en-US" sz="2000" dirty="0"/>
              <a:t> of the function.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function header consists of the reserved word </a:t>
            </a:r>
            <a:r>
              <a:rPr lang="en-US" sz="2000" i="1" dirty="0"/>
              <a:t>function</a:t>
            </a:r>
            <a:r>
              <a:rPr lang="en-US" sz="2000" dirty="0"/>
              <a:t>, the function’s name, and a parenthesized list of parameters if there are any.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parentheses are required even if there are no parameters.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 return statement returns control from the function in which it appears to the function’s caller.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Syntactically, a call to a function with no parameters states the function’s name followed by an empty pair of parentheses.</a:t>
            </a:r>
            <a:endParaRPr lang="en-IN" sz="2000" dirty="0"/>
          </a:p>
        </p:txBody>
      </p:sp>
    </p:spTree>
    <p:extLst>
      <p:ext uri="{BB962C8B-B14F-4D97-AF65-F5344CB8AC3E}">
        <p14:creationId xmlns:p14="http://schemas.microsoft.com/office/powerpoint/2010/main" val="2156252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64C25-1855-D125-FCF0-94459E022A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83732C-FCAE-5178-99FF-AF1675B1569D}"/>
              </a:ext>
            </a:extLst>
          </p:cNvPr>
          <p:cNvSpPr txBox="1"/>
          <p:nvPr/>
        </p:nvSpPr>
        <p:spPr>
          <a:xfrm>
            <a:off x="528918" y="421341"/>
            <a:ext cx="11143129" cy="5386090"/>
          </a:xfrm>
          <a:prstGeom prst="rect">
            <a:avLst/>
          </a:prstGeom>
          <a:noFill/>
        </p:spPr>
        <p:txBody>
          <a:bodyPr wrap="square" rtlCol="0">
            <a:spAutoFit/>
          </a:bodyPr>
          <a:lstStyle/>
          <a:p>
            <a:r>
              <a:rPr lang="en-US" sz="2400" dirty="0"/>
              <a:t>Functions continued…</a:t>
            </a:r>
          </a:p>
          <a:p>
            <a:endParaRPr lang="en-US" sz="2000" dirty="0"/>
          </a:p>
          <a:p>
            <a:pPr marL="342900" indent="-342900" algn="just">
              <a:buFont typeface="Arial" panose="020B0604020202020204" pitchFamily="34" charset="0"/>
              <a:buChar char="•"/>
            </a:pPr>
            <a:r>
              <a:rPr lang="en-US" sz="2000" dirty="0"/>
              <a:t>JavaScript functions are objects, so variables that reference them can be treated as are other object references—they can be passed as parameters, be assigned to other variables, and be the elements of an array. </a:t>
            </a:r>
          </a:p>
          <a:p>
            <a:pPr algn="just"/>
            <a:endParaRPr lang="en-US" sz="2000" dirty="0"/>
          </a:p>
          <a:p>
            <a:pPr lvl="2" algn="just"/>
            <a:r>
              <a:rPr lang="en-US" sz="2000" dirty="0">
                <a:solidFill>
                  <a:srgbClr val="FF0000"/>
                </a:solidFill>
                <a:latin typeface="Microsoft Yi Baiti" panose="03000500000000000000" pitchFamily="66" charset="0"/>
                <a:ea typeface="Microsoft Yi Baiti" panose="03000500000000000000" pitchFamily="66" charset="0"/>
              </a:rPr>
              <a:t>function fun() {</a:t>
            </a:r>
          </a:p>
          <a:p>
            <a:pPr lvl="2" algn="just"/>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document.write</a:t>
            </a:r>
            <a:r>
              <a:rPr lang="en-US" sz="2000" dirty="0">
                <a:solidFill>
                  <a:srgbClr val="FF0000"/>
                </a:solidFill>
                <a:latin typeface="Microsoft Yi Baiti" panose="03000500000000000000" pitchFamily="66" charset="0"/>
                <a:ea typeface="Microsoft Yi Baiti" panose="03000500000000000000" pitchFamily="66" charset="0"/>
              </a:rPr>
              <a:t>("This surely is fun! &lt;</a:t>
            </a:r>
            <a:r>
              <a:rPr lang="en-US" sz="2000" dirty="0" err="1">
                <a:solidFill>
                  <a:srgbClr val="FF0000"/>
                </a:solidFill>
                <a:latin typeface="Microsoft Yi Baiti" panose="03000500000000000000" pitchFamily="66" charset="0"/>
                <a:ea typeface="Microsoft Yi Baiti" panose="03000500000000000000" pitchFamily="66" charset="0"/>
              </a:rPr>
              <a:t>br</a:t>
            </a:r>
            <a:r>
              <a:rPr lang="en-US" sz="2000" dirty="0">
                <a:solidFill>
                  <a:srgbClr val="FF0000"/>
                </a:solidFill>
                <a:latin typeface="Microsoft Yi Baiti" panose="03000500000000000000" pitchFamily="66" charset="0"/>
                <a:ea typeface="Microsoft Yi Baiti" panose="03000500000000000000" pitchFamily="66" charset="0"/>
              </a:rPr>
              <a:t>/&gt;");</a:t>
            </a:r>
          </a:p>
          <a:p>
            <a:pPr lvl="2" algn="just"/>
            <a:r>
              <a:rPr lang="en-US" sz="2000" dirty="0">
                <a:solidFill>
                  <a:srgbClr val="FF0000"/>
                </a:solidFill>
                <a:latin typeface="Microsoft Yi Baiti" panose="03000500000000000000" pitchFamily="66" charset="0"/>
                <a:ea typeface="Microsoft Yi Baiti" panose="03000500000000000000" pitchFamily="66" charset="0"/>
              </a:rPr>
              <a:t>}</a:t>
            </a:r>
          </a:p>
          <a:p>
            <a:pPr lvl="2" algn="just"/>
            <a:r>
              <a:rPr lang="en-US" sz="2000" dirty="0" err="1">
                <a:solidFill>
                  <a:srgbClr val="FF0000"/>
                </a:solidFill>
                <a:latin typeface="Microsoft Yi Baiti" panose="03000500000000000000" pitchFamily="66" charset="0"/>
                <a:ea typeface="Microsoft Yi Baiti" panose="03000500000000000000" pitchFamily="66" charset="0"/>
              </a:rPr>
              <a:t>ref_fun</a:t>
            </a:r>
            <a:r>
              <a:rPr lang="en-US" sz="2000" dirty="0">
                <a:solidFill>
                  <a:srgbClr val="FF0000"/>
                </a:solidFill>
                <a:latin typeface="Microsoft Yi Baiti" panose="03000500000000000000" pitchFamily="66" charset="0"/>
                <a:ea typeface="Microsoft Yi Baiti" panose="03000500000000000000" pitchFamily="66" charset="0"/>
              </a:rPr>
              <a:t> = fun;   // Now, </a:t>
            </a:r>
            <a:r>
              <a:rPr lang="en-US" sz="2000" dirty="0" err="1">
                <a:solidFill>
                  <a:srgbClr val="FF0000"/>
                </a:solidFill>
                <a:latin typeface="Microsoft Yi Baiti" panose="03000500000000000000" pitchFamily="66" charset="0"/>
                <a:ea typeface="Microsoft Yi Baiti" panose="03000500000000000000" pitchFamily="66" charset="0"/>
              </a:rPr>
              <a:t>ref_fun</a:t>
            </a:r>
            <a:r>
              <a:rPr lang="en-US" sz="2000" dirty="0">
                <a:solidFill>
                  <a:srgbClr val="FF0000"/>
                </a:solidFill>
                <a:latin typeface="Microsoft Yi Baiti" panose="03000500000000000000" pitchFamily="66" charset="0"/>
                <a:ea typeface="Microsoft Yi Baiti" panose="03000500000000000000" pitchFamily="66" charset="0"/>
              </a:rPr>
              <a:t> refers to the fun object</a:t>
            </a:r>
          </a:p>
          <a:p>
            <a:pPr lvl="2" algn="just"/>
            <a:r>
              <a:rPr lang="en-US" sz="2000" dirty="0">
                <a:solidFill>
                  <a:srgbClr val="FF0000"/>
                </a:solidFill>
                <a:latin typeface="Microsoft Yi Baiti" panose="03000500000000000000" pitchFamily="66" charset="0"/>
                <a:ea typeface="Microsoft Yi Baiti" panose="03000500000000000000" pitchFamily="66" charset="0"/>
              </a:rPr>
              <a:t>fun();           // A call to fun</a:t>
            </a:r>
          </a:p>
          <a:p>
            <a:pPr lvl="2" algn="just"/>
            <a:r>
              <a:rPr lang="en-US" sz="2000" dirty="0" err="1">
                <a:solidFill>
                  <a:srgbClr val="FF0000"/>
                </a:solidFill>
                <a:latin typeface="Microsoft Yi Baiti" panose="03000500000000000000" pitchFamily="66" charset="0"/>
                <a:ea typeface="Microsoft Yi Baiti" panose="03000500000000000000" pitchFamily="66" charset="0"/>
              </a:rPr>
              <a:t>ref_fun</a:t>
            </a:r>
            <a:r>
              <a:rPr lang="en-US" sz="2000" dirty="0">
                <a:solidFill>
                  <a:srgbClr val="FF0000"/>
                </a:solidFill>
                <a:latin typeface="Microsoft Yi Baiti" panose="03000500000000000000" pitchFamily="66" charset="0"/>
                <a:ea typeface="Microsoft Yi Baiti" panose="03000500000000000000" pitchFamily="66" charset="0"/>
              </a:rPr>
              <a:t>();       // Also a call to fun</a:t>
            </a:r>
            <a:endParaRPr lang="en-IN" sz="2000" dirty="0">
              <a:solidFill>
                <a:srgbClr val="FF0000"/>
              </a:solidFill>
              <a:latin typeface="Microsoft Yi Baiti" panose="03000500000000000000" pitchFamily="66" charset="0"/>
              <a:ea typeface="Microsoft Yi Baiti" panose="03000500000000000000" pitchFamily="66" charset="0"/>
            </a:endParaRPr>
          </a:p>
          <a:p>
            <a:endParaRPr lang="en-IN" sz="2000" dirty="0"/>
          </a:p>
          <a:p>
            <a:pPr marL="342900" indent="-342900">
              <a:buFont typeface="Arial" panose="020B0604020202020204" pitchFamily="34" charset="0"/>
              <a:buChar char="•"/>
            </a:pPr>
            <a:r>
              <a:rPr lang="en-US" sz="2000" dirty="0"/>
              <a:t>To ensure that the interpreter sees the definition of a function before it sees a call to the function—a requirement in JavaScript—function definitions are placed in the </a:t>
            </a:r>
            <a:r>
              <a:rPr lang="en-US" sz="2000" dirty="0">
                <a:solidFill>
                  <a:srgbClr val="FF0000"/>
                </a:solidFill>
              </a:rPr>
              <a:t>head of an HTML document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Normally, but not always, calls to functions appear in the document body.</a:t>
            </a:r>
            <a:endParaRPr lang="en-IN" sz="2000" dirty="0"/>
          </a:p>
        </p:txBody>
      </p:sp>
    </p:spTree>
    <p:extLst>
      <p:ext uri="{BB962C8B-B14F-4D97-AF65-F5344CB8AC3E}">
        <p14:creationId xmlns:p14="http://schemas.microsoft.com/office/powerpoint/2010/main" val="27786903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769A-DA95-F258-05CA-ADF9C06830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A274A4-A2D2-1A6A-0BC4-B779B2BB1355}"/>
              </a:ext>
            </a:extLst>
          </p:cNvPr>
          <p:cNvSpPr txBox="1"/>
          <p:nvPr/>
        </p:nvSpPr>
        <p:spPr>
          <a:xfrm>
            <a:off x="528918" y="421341"/>
            <a:ext cx="11143129" cy="5386090"/>
          </a:xfrm>
          <a:prstGeom prst="rect">
            <a:avLst/>
          </a:prstGeom>
          <a:noFill/>
        </p:spPr>
        <p:txBody>
          <a:bodyPr wrap="square" rtlCol="0">
            <a:spAutoFit/>
          </a:bodyPr>
          <a:lstStyle/>
          <a:p>
            <a:r>
              <a:rPr lang="en-IN" sz="2400" dirty="0"/>
              <a:t>9.2 Local Variables</a:t>
            </a:r>
            <a:endParaRPr lang="en-US" sz="2400" dirty="0"/>
          </a:p>
          <a:p>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scope of a variable </a:t>
            </a:r>
            <a:r>
              <a:rPr lang="en-US" sz="2000" dirty="0"/>
              <a:t>is the range of statements over which it is visible. </a:t>
            </a:r>
          </a:p>
          <a:p>
            <a:pPr marL="342900" indent="-342900" algn="just">
              <a:buFont typeface="Arial" panose="020B0604020202020204" pitchFamily="34" charset="0"/>
              <a:buChar char="•"/>
            </a:pPr>
            <a:r>
              <a:rPr lang="en-US" sz="2000" dirty="0"/>
              <a:t>When JavaScript is embedded in an HTML document, the scope of a variable is the range of lines of the document over which the variable is visible.</a:t>
            </a:r>
          </a:p>
          <a:p>
            <a:pPr marL="342900" indent="-342900" algn="just">
              <a:buFont typeface="Arial" panose="020B0604020202020204" pitchFamily="34" charset="0"/>
              <a:buChar char="•"/>
            </a:pPr>
            <a:r>
              <a:rPr lang="en-US" sz="2000" dirty="0"/>
              <a:t>A variable that is not declared with a var statement is </a:t>
            </a:r>
            <a:r>
              <a:rPr lang="en-US" sz="2000" dirty="0">
                <a:solidFill>
                  <a:srgbClr val="FF0000"/>
                </a:solidFill>
              </a:rPr>
              <a:t>implicitly declared </a:t>
            </a:r>
            <a:r>
              <a:rPr lang="en-US" sz="2000" dirty="0"/>
              <a:t>by the JavaScript interpreter at the time it is first encountered in the script. </a:t>
            </a:r>
          </a:p>
          <a:p>
            <a:pPr marL="342900" indent="-342900" algn="just">
              <a:buFont typeface="Arial" panose="020B0604020202020204" pitchFamily="34" charset="0"/>
              <a:buChar char="•"/>
            </a:pPr>
            <a:r>
              <a:rPr lang="en-US" sz="2000" dirty="0"/>
              <a:t>Variables that are implicitly declared have </a:t>
            </a:r>
            <a:r>
              <a:rPr lang="en-US" sz="2000" dirty="0">
                <a:solidFill>
                  <a:srgbClr val="FF0000"/>
                </a:solidFill>
              </a:rPr>
              <a:t>global scope</a:t>
            </a:r>
            <a:r>
              <a:rPr lang="en-US" sz="2000" dirty="0"/>
              <a:t>—that is, they are visible in the entire HTML document </a:t>
            </a:r>
          </a:p>
          <a:p>
            <a:pPr marL="342900" indent="-342900" algn="just">
              <a:buFont typeface="Arial" panose="020B0604020202020204" pitchFamily="34" charset="0"/>
              <a:buChar char="•"/>
            </a:pPr>
            <a:r>
              <a:rPr lang="en-US" sz="2000" dirty="0"/>
              <a:t>Variables that are </a:t>
            </a:r>
            <a:r>
              <a:rPr lang="en-US" sz="2000" dirty="0">
                <a:solidFill>
                  <a:srgbClr val="FF0000"/>
                </a:solidFill>
              </a:rPr>
              <a:t>explicitly declared </a:t>
            </a:r>
            <a:r>
              <a:rPr lang="en-US" sz="2000" dirty="0"/>
              <a:t>outside function definitions also have global scope.</a:t>
            </a:r>
          </a:p>
          <a:p>
            <a:pPr marL="342900" indent="-342900" algn="just">
              <a:buFont typeface="Arial" panose="020B0604020202020204" pitchFamily="34" charset="0"/>
              <a:buChar char="•"/>
            </a:pPr>
            <a:r>
              <a:rPr lang="en-US" sz="2000" dirty="0"/>
              <a:t>It is usually best for variables that are used only within a function to have </a:t>
            </a:r>
            <a:r>
              <a:rPr lang="en-US" sz="2000" i="1" dirty="0">
                <a:solidFill>
                  <a:srgbClr val="FF0000"/>
                </a:solidFill>
              </a:rPr>
              <a:t>local scope</a:t>
            </a:r>
            <a:endParaRPr lang="en-IN" sz="2000" i="1" dirty="0">
              <a:solidFill>
                <a:srgbClr val="FF0000"/>
              </a:solidFill>
            </a:endParaRPr>
          </a:p>
          <a:p>
            <a:pPr marL="342900" indent="-342900" algn="just">
              <a:buFont typeface="Arial" panose="020B0604020202020204" pitchFamily="34" charset="0"/>
              <a:buChar char="•"/>
            </a:pPr>
            <a:r>
              <a:rPr lang="en-US" sz="2000" dirty="0"/>
              <a:t>If a variable that is defined </a:t>
            </a:r>
            <a:r>
              <a:rPr lang="en-US" sz="2000" dirty="0">
                <a:solidFill>
                  <a:srgbClr val="FF0000"/>
                </a:solidFill>
              </a:rPr>
              <a:t>both as a local variable and as a global variable</a:t>
            </a:r>
            <a:r>
              <a:rPr lang="en-US" sz="2000" dirty="0"/>
              <a:t> appears in a function, the local variable has precedence, effectively hiding the global variable with the same name.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a:t>
            </a:r>
            <a:endParaRPr lang="en-IN" sz="2000" dirty="0"/>
          </a:p>
        </p:txBody>
      </p:sp>
    </p:spTree>
    <p:extLst>
      <p:ext uri="{BB962C8B-B14F-4D97-AF65-F5344CB8AC3E}">
        <p14:creationId xmlns:p14="http://schemas.microsoft.com/office/powerpoint/2010/main" val="1003109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B39E-3670-3E28-3C49-A073A9483F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3CDA78-ADD1-51EC-AF12-B13B4EED1210}"/>
              </a:ext>
            </a:extLst>
          </p:cNvPr>
          <p:cNvSpPr txBox="1"/>
          <p:nvPr/>
        </p:nvSpPr>
        <p:spPr>
          <a:xfrm>
            <a:off x="528918" y="421341"/>
            <a:ext cx="11143129" cy="4462760"/>
          </a:xfrm>
          <a:prstGeom prst="rect">
            <a:avLst/>
          </a:prstGeom>
          <a:noFill/>
        </p:spPr>
        <p:txBody>
          <a:bodyPr wrap="square" rtlCol="0">
            <a:spAutoFit/>
          </a:bodyPr>
          <a:lstStyle/>
          <a:p>
            <a:r>
              <a:rPr lang="en-IN" sz="2400" dirty="0"/>
              <a:t>9.3 Parameters</a:t>
            </a:r>
            <a:endParaRPr lang="en-US" sz="2400" dirty="0"/>
          </a:p>
          <a:p>
            <a:pPr algn="just"/>
            <a:endParaRPr lang="en-US" sz="2000" dirty="0"/>
          </a:p>
          <a:p>
            <a:pPr marL="342900" indent="-342900" algn="just">
              <a:buFont typeface="Arial" panose="020B0604020202020204" pitchFamily="34" charset="0"/>
              <a:buChar char="•"/>
            </a:pPr>
            <a:r>
              <a:rPr lang="en-US" sz="2000" dirty="0"/>
              <a:t>The parameter values that appear in a </a:t>
            </a:r>
            <a:r>
              <a:rPr lang="en-US" sz="2000" dirty="0">
                <a:solidFill>
                  <a:srgbClr val="FF0000"/>
                </a:solidFill>
              </a:rPr>
              <a:t>call to a function </a:t>
            </a:r>
            <a:r>
              <a:rPr lang="en-US" sz="2000" dirty="0"/>
              <a:t>are called </a:t>
            </a:r>
            <a:r>
              <a:rPr lang="en-US" sz="2000" i="1" dirty="0">
                <a:solidFill>
                  <a:srgbClr val="FF0000"/>
                </a:solidFill>
              </a:rPr>
              <a:t>actual parameters</a:t>
            </a:r>
            <a:r>
              <a:rPr lang="en-US" sz="2000" dirty="0"/>
              <a:t>. </a:t>
            </a:r>
          </a:p>
          <a:p>
            <a:pPr marL="342900" indent="-342900" algn="just">
              <a:buFont typeface="Arial" panose="020B0604020202020204" pitchFamily="34" charset="0"/>
              <a:buChar char="•"/>
            </a:pPr>
            <a:r>
              <a:rPr lang="en-US" sz="2000" dirty="0"/>
              <a:t>The parameter names that appear in the </a:t>
            </a:r>
            <a:r>
              <a:rPr lang="en-US" sz="2000" dirty="0">
                <a:solidFill>
                  <a:srgbClr val="FF0000"/>
                </a:solidFill>
              </a:rPr>
              <a:t>header of a function definition</a:t>
            </a:r>
            <a:r>
              <a:rPr lang="en-US" sz="2000" dirty="0"/>
              <a:t>, which correspond to the actual parameters in calls to the function, are called </a:t>
            </a:r>
            <a:r>
              <a:rPr lang="en-US" sz="2000" i="1" dirty="0">
                <a:solidFill>
                  <a:srgbClr val="FF0000"/>
                </a:solidFill>
              </a:rPr>
              <a:t>formal parameters</a:t>
            </a:r>
            <a:r>
              <a:rPr lang="en-US" sz="2000" dirty="0"/>
              <a:t>.</a:t>
            </a:r>
          </a:p>
          <a:p>
            <a:pPr marL="342900" indent="-342900" algn="just">
              <a:buFont typeface="Arial" panose="020B0604020202020204" pitchFamily="34" charset="0"/>
              <a:buChar char="•"/>
            </a:pPr>
            <a:r>
              <a:rPr lang="en-US" sz="2000" dirty="0"/>
              <a:t>JavaScript uses the </a:t>
            </a:r>
            <a:r>
              <a:rPr lang="en-US" sz="2000" dirty="0">
                <a:solidFill>
                  <a:srgbClr val="FF0000"/>
                </a:solidFill>
              </a:rPr>
              <a:t>pass-by-value</a:t>
            </a:r>
            <a:r>
              <a:rPr lang="en-US" sz="2000" dirty="0"/>
              <a:t> parameter-passing method. When a function is called, the values of the actual parameters specified in the call are, in effect, copied into their corresponding formal parameters, which behave exactly like local variables. </a:t>
            </a:r>
          </a:p>
          <a:p>
            <a:pPr marL="342900" indent="-342900" algn="just">
              <a:buFont typeface="Arial" panose="020B0604020202020204" pitchFamily="34" charset="0"/>
              <a:buChar char="•"/>
            </a:pPr>
            <a:r>
              <a:rPr lang="en-US" sz="2000" dirty="0"/>
              <a:t>Because </a:t>
            </a:r>
            <a:r>
              <a:rPr lang="en-US" sz="2000" dirty="0">
                <a:solidFill>
                  <a:srgbClr val="FF0000"/>
                </a:solidFill>
              </a:rPr>
              <a:t>references are passed as the actual parameters of </a:t>
            </a:r>
            <a:r>
              <a:rPr lang="en-US" sz="2000" dirty="0">
                <a:solidFill>
                  <a:srgbClr val="00B0F0"/>
                </a:solidFill>
              </a:rPr>
              <a:t>objects</a:t>
            </a:r>
            <a:r>
              <a:rPr lang="en-US" sz="2000" dirty="0"/>
              <a:t>, the called function has access to the objects and can change them, thereby providing the semantics of </a:t>
            </a:r>
            <a:r>
              <a:rPr lang="en-US" sz="2000" dirty="0">
                <a:solidFill>
                  <a:srgbClr val="FF0000"/>
                </a:solidFill>
              </a:rPr>
              <a:t>pass-by-reference</a:t>
            </a:r>
            <a:r>
              <a:rPr lang="en-US" sz="2000" dirty="0"/>
              <a:t> parameters.</a:t>
            </a:r>
          </a:p>
          <a:p>
            <a:pPr marL="342900" indent="-342900" algn="just">
              <a:buFont typeface="Arial" panose="020B0604020202020204" pitchFamily="34" charset="0"/>
              <a:buChar char="•"/>
            </a:pPr>
            <a:r>
              <a:rPr lang="en-US" sz="2000" dirty="0"/>
              <a:t>However, if a reference to an object is passed to a function and the function changes its corresponding formal parameter then the change has no effect on the actual parameter.</a:t>
            </a:r>
            <a:endParaRPr lang="en-IN" sz="2000" dirty="0"/>
          </a:p>
          <a:p>
            <a:endParaRPr lang="en-IN" sz="2000" dirty="0"/>
          </a:p>
        </p:txBody>
      </p:sp>
    </p:spTree>
    <p:extLst>
      <p:ext uri="{BB962C8B-B14F-4D97-AF65-F5344CB8AC3E}">
        <p14:creationId xmlns:p14="http://schemas.microsoft.com/office/powerpoint/2010/main" val="27022356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B35AE-60F8-0B85-5511-BA344B42AF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6CEE1D-0CFC-8D2D-15BD-5A46F4177178}"/>
              </a:ext>
            </a:extLst>
          </p:cNvPr>
          <p:cNvSpPr txBox="1"/>
          <p:nvPr/>
        </p:nvSpPr>
        <p:spPr>
          <a:xfrm>
            <a:off x="528918" y="421341"/>
            <a:ext cx="11143129" cy="1384995"/>
          </a:xfrm>
          <a:prstGeom prst="rect">
            <a:avLst/>
          </a:prstGeom>
          <a:noFill/>
        </p:spPr>
        <p:txBody>
          <a:bodyPr wrap="square" rtlCol="0">
            <a:spAutoFit/>
          </a:bodyPr>
          <a:lstStyle/>
          <a:p>
            <a:r>
              <a:rPr lang="en-US" sz="2400" dirty="0"/>
              <a:t>Example</a:t>
            </a:r>
          </a:p>
          <a:p>
            <a:endParaRPr lang="en-IN" sz="2000" dirty="0"/>
          </a:p>
          <a:p>
            <a:endParaRPr lang="en-IN" sz="2000" dirty="0"/>
          </a:p>
          <a:p>
            <a:endParaRPr lang="en-IN" sz="2000" dirty="0"/>
          </a:p>
        </p:txBody>
      </p:sp>
      <p:pic>
        <p:nvPicPr>
          <p:cNvPr id="8" name="Picture 7">
            <a:extLst>
              <a:ext uri="{FF2B5EF4-FFF2-40B4-BE49-F238E27FC236}">
                <a16:creationId xmlns:a16="http://schemas.microsoft.com/office/drawing/2014/main" id="{E8167A3E-E8A7-1170-35EC-54D612719A50}"/>
              </a:ext>
            </a:extLst>
          </p:cNvPr>
          <p:cNvPicPr>
            <a:picLocks noChangeAspect="1"/>
          </p:cNvPicPr>
          <p:nvPr/>
        </p:nvPicPr>
        <p:blipFill>
          <a:blip r:embed="rId2"/>
          <a:stretch>
            <a:fillRect/>
          </a:stretch>
        </p:blipFill>
        <p:spPr>
          <a:xfrm>
            <a:off x="215152" y="1529097"/>
            <a:ext cx="5629673" cy="3208750"/>
          </a:xfrm>
          <a:prstGeom prst="rect">
            <a:avLst/>
          </a:prstGeom>
        </p:spPr>
      </p:pic>
      <p:pic>
        <p:nvPicPr>
          <p:cNvPr id="10" name="Picture 9">
            <a:extLst>
              <a:ext uri="{FF2B5EF4-FFF2-40B4-BE49-F238E27FC236}">
                <a16:creationId xmlns:a16="http://schemas.microsoft.com/office/drawing/2014/main" id="{C5AB745D-4B74-1C05-AE24-31A112AF033B}"/>
              </a:ext>
            </a:extLst>
          </p:cNvPr>
          <p:cNvPicPr>
            <a:picLocks noChangeAspect="1"/>
          </p:cNvPicPr>
          <p:nvPr/>
        </p:nvPicPr>
        <p:blipFill>
          <a:blip r:embed="rId3"/>
          <a:stretch>
            <a:fillRect/>
          </a:stretch>
        </p:blipFill>
        <p:spPr>
          <a:xfrm>
            <a:off x="5883343" y="220250"/>
            <a:ext cx="5900765" cy="3208750"/>
          </a:xfrm>
          <a:prstGeom prst="rect">
            <a:avLst/>
          </a:prstGeom>
        </p:spPr>
      </p:pic>
      <p:pic>
        <p:nvPicPr>
          <p:cNvPr id="12" name="Picture 11">
            <a:extLst>
              <a:ext uri="{FF2B5EF4-FFF2-40B4-BE49-F238E27FC236}">
                <a16:creationId xmlns:a16="http://schemas.microsoft.com/office/drawing/2014/main" id="{886B3BE4-6402-5AF0-FC60-88886CDB97CB}"/>
              </a:ext>
            </a:extLst>
          </p:cNvPr>
          <p:cNvPicPr>
            <a:picLocks noChangeAspect="1"/>
          </p:cNvPicPr>
          <p:nvPr/>
        </p:nvPicPr>
        <p:blipFill>
          <a:blip r:embed="rId4"/>
          <a:stretch>
            <a:fillRect/>
          </a:stretch>
        </p:blipFill>
        <p:spPr>
          <a:xfrm>
            <a:off x="5883343" y="3429000"/>
            <a:ext cx="5900765" cy="3307604"/>
          </a:xfrm>
          <a:prstGeom prst="rect">
            <a:avLst/>
          </a:prstGeom>
        </p:spPr>
      </p:pic>
    </p:spTree>
    <p:extLst>
      <p:ext uri="{BB962C8B-B14F-4D97-AF65-F5344CB8AC3E}">
        <p14:creationId xmlns:p14="http://schemas.microsoft.com/office/powerpoint/2010/main" val="3725613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2ACA-EED7-2878-CF36-7338777ED2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69FC0C-7E3B-3B46-455E-7D1E8319546C}"/>
              </a:ext>
            </a:extLst>
          </p:cNvPr>
          <p:cNvSpPr txBox="1"/>
          <p:nvPr/>
        </p:nvSpPr>
        <p:spPr>
          <a:xfrm>
            <a:off x="528918" y="421341"/>
            <a:ext cx="11143129" cy="6309420"/>
          </a:xfrm>
          <a:prstGeom prst="rect">
            <a:avLst/>
          </a:prstGeom>
          <a:noFill/>
        </p:spPr>
        <p:txBody>
          <a:bodyPr wrap="square" rtlCol="0">
            <a:spAutoFit/>
          </a:bodyPr>
          <a:lstStyle/>
          <a:p>
            <a:r>
              <a:rPr lang="en-US" sz="2400" dirty="0"/>
              <a:t>Continued…</a:t>
            </a:r>
          </a:p>
          <a:p>
            <a:endParaRPr lang="en-US" sz="2000" dirty="0"/>
          </a:p>
          <a:p>
            <a:r>
              <a:rPr lang="en-US" sz="2000" dirty="0"/>
              <a:t>All parameters are communicated through a property array, </a:t>
            </a:r>
            <a:r>
              <a:rPr lang="en-US" sz="2000" i="1" dirty="0">
                <a:solidFill>
                  <a:srgbClr val="00B0F0"/>
                </a:solidFill>
              </a:rPr>
              <a:t>arguments</a:t>
            </a:r>
            <a:r>
              <a:rPr lang="en-US" sz="2000" dirty="0"/>
              <a:t>, that, like other array objects, has a property named </a:t>
            </a:r>
            <a:r>
              <a:rPr lang="en-US" sz="2000" i="1" dirty="0">
                <a:solidFill>
                  <a:srgbClr val="00B0F0"/>
                </a:solidFill>
              </a:rPr>
              <a:t>length</a:t>
            </a:r>
            <a:r>
              <a:rPr lang="en-US" sz="2000" dirty="0"/>
              <a:t>.</a:t>
            </a:r>
          </a:p>
          <a:p>
            <a:r>
              <a:rPr lang="en-US" sz="2000" dirty="0"/>
              <a:t>By accessing </a:t>
            </a:r>
            <a:r>
              <a:rPr lang="en-US" sz="2000" dirty="0" err="1">
                <a:solidFill>
                  <a:srgbClr val="00B0F0"/>
                </a:solidFill>
              </a:rPr>
              <a:t>arguments.length</a:t>
            </a:r>
            <a:r>
              <a:rPr lang="en-US" sz="2000" dirty="0"/>
              <a:t>, a function can determine the number of actual parameters that were passed.</a:t>
            </a:r>
          </a:p>
          <a:p>
            <a:endParaRPr lang="en-IN" sz="2000" dirty="0"/>
          </a:p>
          <a:p>
            <a:pPr lvl="1"/>
            <a:r>
              <a:rPr lang="en-IN" sz="2000" dirty="0">
                <a:solidFill>
                  <a:srgbClr val="FF0000"/>
                </a:solidFill>
                <a:latin typeface="Microsoft Yi Baiti" panose="03000500000000000000" pitchFamily="66" charset="0"/>
                <a:ea typeface="Microsoft Yi Baiti" panose="03000500000000000000" pitchFamily="66" charset="0"/>
              </a:rPr>
              <a:t>function params(a, b) {</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("Function params was passed ", </a:t>
            </a:r>
            <a:r>
              <a:rPr lang="en-IN" sz="2000" dirty="0" err="1">
                <a:solidFill>
                  <a:srgbClr val="FF0000"/>
                </a:solidFill>
                <a:latin typeface="Microsoft Yi Baiti" panose="03000500000000000000" pitchFamily="66" charset="0"/>
                <a:ea typeface="Microsoft Yi Baiti" panose="03000500000000000000" pitchFamily="66" charset="0"/>
              </a:rPr>
              <a:t>arguments.length</a:t>
            </a:r>
            <a:r>
              <a:rPr lang="en-IN" sz="2000" dirty="0">
                <a:solidFill>
                  <a:srgbClr val="FF0000"/>
                </a:solidFill>
                <a:latin typeface="Microsoft Yi Baiti" panose="03000500000000000000" pitchFamily="66" charset="0"/>
                <a:ea typeface="Microsoft Yi Baiti" panose="03000500000000000000" pitchFamily="66" charset="0"/>
              </a:rPr>
              <a:t>, " parameter(s) &lt;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("Parameter values are: &lt;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r>
              <a:rPr lang="en-IN" sz="2000" dirty="0">
                <a:solidFill>
                  <a:srgbClr val="FF0000"/>
                </a:solidFill>
                <a:latin typeface="Microsoft Yi Baiti" panose="03000500000000000000" pitchFamily="66" charset="0"/>
                <a:ea typeface="Microsoft Yi Baiti" panose="03000500000000000000" pitchFamily="66" charset="0"/>
              </a:rPr>
              <a:t>}</a:t>
            </a:r>
          </a:p>
          <a:p>
            <a:pPr lvl="1"/>
            <a:r>
              <a:rPr lang="en-IN" sz="2000" dirty="0">
                <a:solidFill>
                  <a:srgbClr val="FF0000"/>
                </a:solidFill>
                <a:latin typeface="Microsoft Yi Baiti" panose="03000500000000000000" pitchFamily="66" charset="0"/>
                <a:ea typeface="Microsoft Yi Baiti" panose="03000500000000000000" pitchFamily="66" charset="0"/>
              </a:rPr>
              <a:t>for (var </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 = 0; </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 &lt; </a:t>
            </a:r>
            <a:r>
              <a:rPr lang="en-IN" sz="2000" dirty="0" err="1">
                <a:solidFill>
                  <a:srgbClr val="FF0000"/>
                </a:solidFill>
                <a:latin typeface="Microsoft Yi Baiti" panose="03000500000000000000" pitchFamily="66" charset="0"/>
                <a:ea typeface="Microsoft Yi Baiti" panose="03000500000000000000" pitchFamily="66" charset="0"/>
              </a:rPr>
              <a:t>arguments.length</a:t>
            </a:r>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(arguments[</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 "&lt;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endParaRPr lang="en-IN" sz="2000" dirty="0">
              <a:solidFill>
                <a:srgbClr val="FF0000"/>
              </a:solidFill>
              <a:latin typeface="Microsoft Yi Baiti" panose="03000500000000000000" pitchFamily="66" charset="0"/>
              <a:ea typeface="Microsoft Yi Baiti" panose="03000500000000000000" pitchFamily="66" charset="0"/>
            </a:endParaRPr>
          </a:p>
          <a:p>
            <a:pPr lvl="1"/>
            <a:r>
              <a:rPr lang="en-IN" sz="2000" dirty="0">
                <a:solidFill>
                  <a:srgbClr val="FF0000"/>
                </a:solidFill>
                <a:latin typeface="Microsoft Yi Baiti" panose="03000500000000000000" pitchFamily="66" charset="0"/>
                <a:ea typeface="Microsoft Yi Baiti" panose="03000500000000000000" pitchFamily="66" charset="0"/>
              </a:rPr>
              <a:t>// A test driver for function params</a:t>
            </a:r>
          </a:p>
          <a:p>
            <a:pPr lvl="1"/>
            <a:r>
              <a:rPr lang="en-IN" sz="2000" dirty="0">
                <a:solidFill>
                  <a:srgbClr val="FF0000"/>
                </a:solidFill>
                <a:latin typeface="Microsoft Yi Baiti" panose="03000500000000000000" pitchFamily="66" charset="0"/>
                <a:ea typeface="Microsoft Yi Baiti" panose="03000500000000000000" pitchFamily="66" charset="0"/>
              </a:rPr>
              <a:t>params("Mozart");</a:t>
            </a:r>
          </a:p>
          <a:p>
            <a:pPr lvl="1"/>
            <a:r>
              <a:rPr lang="en-IN" sz="2000" dirty="0">
                <a:solidFill>
                  <a:srgbClr val="FF0000"/>
                </a:solidFill>
                <a:latin typeface="Microsoft Yi Baiti" panose="03000500000000000000" pitchFamily="66" charset="0"/>
                <a:ea typeface="Microsoft Yi Baiti" panose="03000500000000000000" pitchFamily="66" charset="0"/>
              </a:rPr>
              <a:t>params("Mozart", "Beethoven");</a:t>
            </a:r>
          </a:p>
          <a:p>
            <a:pPr lvl="1"/>
            <a:r>
              <a:rPr lang="en-IN" sz="2000" dirty="0">
                <a:solidFill>
                  <a:srgbClr val="FF0000"/>
                </a:solidFill>
                <a:latin typeface="Microsoft Yi Baiti" panose="03000500000000000000" pitchFamily="66" charset="0"/>
                <a:ea typeface="Microsoft Yi Baiti" panose="03000500000000000000" pitchFamily="66" charset="0"/>
              </a:rPr>
              <a:t>params("Mozart", "Beethoven", "Tchaikowsky");</a:t>
            </a:r>
          </a:p>
          <a:p>
            <a:endParaRPr lang="en-IN" sz="2000" dirty="0"/>
          </a:p>
        </p:txBody>
      </p:sp>
    </p:spTree>
    <p:extLst>
      <p:ext uri="{BB962C8B-B14F-4D97-AF65-F5344CB8AC3E}">
        <p14:creationId xmlns:p14="http://schemas.microsoft.com/office/powerpoint/2010/main" val="1537583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FCD2A-F434-56EB-6892-AE1B545DF7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AE1D5C-6F9F-53C6-7161-8C7674646F29}"/>
              </a:ext>
            </a:extLst>
          </p:cNvPr>
          <p:cNvSpPr txBox="1"/>
          <p:nvPr/>
        </p:nvSpPr>
        <p:spPr>
          <a:xfrm>
            <a:off x="528918" y="421341"/>
            <a:ext cx="11143129" cy="6001643"/>
          </a:xfrm>
          <a:prstGeom prst="rect">
            <a:avLst/>
          </a:prstGeom>
          <a:noFill/>
        </p:spPr>
        <p:txBody>
          <a:bodyPr wrap="square" rtlCol="0">
            <a:spAutoFit/>
          </a:bodyPr>
          <a:lstStyle/>
          <a:p>
            <a:r>
              <a:rPr lang="en-US" sz="2400" b="1" dirty="0"/>
              <a:t>9.4 The sort Method, Revisited</a:t>
            </a:r>
          </a:p>
          <a:p>
            <a:pPr marL="342900" indent="-342900" algn="just">
              <a:buFont typeface="Arial" panose="020B0604020202020204" pitchFamily="34" charset="0"/>
              <a:buChar char="•"/>
            </a:pPr>
            <a:r>
              <a:rPr lang="en-US" sz="2000" dirty="0"/>
              <a:t>sort method for array objects converts the array’s elements to strings, if necessary, and then sorts them alphabetically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we need to sort something other than strings, or if you want an array to be sorted in some order other than alphabetically as strings, the comparison operation must be supplied to the sort method by the caller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Such a comparison operation is passed as a parameter to sort</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comparison function must return a negative number if the two elements being compared are in the desired order, zero if they are equal, and a number greater than zero if they must be interchanged</a:t>
            </a:r>
          </a:p>
          <a:p>
            <a:pPr lvl="2"/>
            <a:r>
              <a:rPr lang="en-US" sz="2000" dirty="0">
                <a:solidFill>
                  <a:srgbClr val="FF0000"/>
                </a:solidFill>
              </a:rPr>
              <a:t>function </a:t>
            </a:r>
            <a:r>
              <a:rPr lang="en-US" sz="2000" dirty="0" err="1">
                <a:solidFill>
                  <a:srgbClr val="FF0000"/>
                </a:solidFill>
              </a:rPr>
              <a:t>my_order</a:t>
            </a:r>
            <a:r>
              <a:rPr lang="en-US" sz="2000" dirty="0">
                <a:solidFill>
                  <a:srgbClr val="FF0000"/>
                </a:solidFill>
              </a:rPr>
              <a:t> ( </a:t>
            </a:r>
            <a:r>
              <a:rPr lang="en-US" sz="2000" dirty="0" err="1">
                <a:solidFill>
                  <a:srgbClr val="FF0000"/>
                </a:solidFill>
              </a:rPr>
              <a:t>a,b</a:t>
            </a:r>
            <a:r>
              <a:rPr lang="en-US" sz="2000" dirty="0">
                <a:solidFill>
                  <a:srgbClr val="FF0000"/>
                </a:solidFill>
              </a:rPr>
              <a:t> ){return a-b;} </a:t>
            </a:r>
          </a:p>
          <a:p>
            <a:pPr lvl="2"/>
            <a:r>
              <a:rPr lang="en-US" sz="2000" dirty="0" err="1">
                <a:solidFill>
                  <a:srgbClr val="FF0000"/>
                </a:solidFill>
              </a:rPr>
              <a:t>array.sort</a:t>
            </a:r>
            <a:r>
              <a:rPr lang="en-US" sz="2000" dirty="0">
                <a:solidFill>
                  <a:srgbClr val="FF0000"/>
                </a:solidFill>
              </a:rPr>
              <a:t> ( </a:t>
            </a:r>
            <a:r>
              <a:rPr lang="en-US" sz="2000" dirty="0" err="1">
                <a:solidFill>
                  <a:srgbClr val="FF0000"/>
                </a:solidFill>
              </a:rPr>
              <a:t>my_order</a:t>
            </a:r>
            <a:r>
              <a:rPr lang="en-US" sz="2000" dirty="0">
                <a:solidFill>
                  <a:srgbClr val="FF0000"/>
                </a:solidFill>
              </a:rPr>
              <a: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Rather than defining a comparison function elsewhere and passing its name, the function definition can appear as the actual parameter in the call to sort</a:t>
            </a:r>
          </a:p>
          <a:p>
            <a:r>
              <a:rPr lang="en-US" sz="2000" dirty="0"/>
              <a:t>	</a:t>
            </a:r>
            <a:r>
              <a:rPr lang="en-US" sz="2000" dirty="0" err="1">
                <a:solidFill>
                  <a:srgbClr val="FF0000"/>
                </a:solidFill>
              </a:rPr>
              <a:t>array.sort</a:t>
            </a:r>
            <a:r>
              <a:rPr lang="en-US" sz="2000" dirty="0">
                <a:solidFill>
                  <a:srgbClr val="FF0000"/>
                </a:solidFill>
              </a:rPr>
              <a:t> (function(a, b){return a-b};)</a:t>
            </a:r>
          </a:p>
        </p:txBody>
      </p:sp>
    </p:spTree>
    <p:extLst>
      <p:ext uri="{BB962C8B-B14F-4D97-AF65-F5344CB8AC3E}">
        <p14:creationId xmlns:p14="http://schemas.microsoft.com/office/powerpoint/2010/main" val="10430971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E80D-40E3-8309-5EA3-65B7A2A001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A7849C-C20E-8A65-5A4F-14AD7DE4DD73}"/>
              </a:ext>
            </a:extLst>
          </p:cNvPr>
          <p:cNvSpPr txBox="1"/>
          <p:nvPr/>
        </p:nvSpPr>
        <p:spPr>
          <a:xfrm>
            <a:off x="528918" y="421341"/>
            <a:ext cx="11143129" cy="6001643"/>
          </a:xfrm>
          <a:prstGeom prst="rect">
            <a:avLst/>
          </a:prstGeom>
          <a:noFill/>
        </p:spPr>
        <p:txBody>
          <a:bodyPr wrap="square" rtlCol="0">
            <a:spAutoFit/>
          </a:bodyPr>
          <a:lstStyle/>
          <a:p>
            <a:r>
              <a:rPr lang="en-IN" sz="2400" b="1" dirty="0"/>
              <a:t>11 Constructors</a:t>
            </a:r>
            <a:endParaRPr lang="en-US" sz="2000" dirty="0"/>
          </a:p>
          <a:p>
            <a:pPr marL="342900" indent="-342900" algn="just">
              <a:buFont typeface="Arial" panose="020B0604020202020204" pitchFamily="34" charset="0"/>
              <a:buChar char="•"/>
            </a:pPr>
            <a:r>
              <a:rPr lang="en-US" sz="2000" dirty="0"/>
              <a:t>JavaScript constructors are special functions that create and initialize the proper ties of newly created objects. </a:t>
            </a:r>
          </a:p>
          <a:p>
            <a:pPr marL="342900" indent="-342900" algn="just">
              <a:buFont typeface="Arial" panose="020B0604020202020204" pitchFamily="34" charset="0"/>
              <a:buChar char="•"/>
            </a:pPr>
            <a:r>
              <a:rPr lang="en-US" sz="2000" dirty="0"/>
              <a:t>Every </a:t>
            </a:r>
            <a:r>
              <a:rPr lang="en-US" sz="2000" dirty="0">
                <a:solidFill>
                  <a:srgbClr val="FF0000"/>
                </a:solidFill>
              </a:rPr>
              <a:t>new</a:t>
            </a:r>
            <a:r>
              <a:rPr lang="en-US" sz="2000" dirty="0"/>
              <a:t> expression must include a call to a constructor whose name is the same as that of the object being created.</a:t>
            </a:r>
            <a:endParaRPr lang="en-IN" sz="2000" dirty="0"/>
          </a:p>
          <a:p>
            <a:pPr marL="342900" indent="-342900">
              <a:buFont typeface="Arial" panose="020B0604020202020204" pitchFamily="34" charset="0"/>
              <a:buChar char="•"/>
            </a:pPr>
            <a:r>
              <a:rPr lang="en-US" sz="2000" dirty="0">
                <a:solidFill>
                  <a:srgbClr val="FF0000"/>
                </a:solidFill>
              </a:rPr>
              <a:t>this</a:t>
            </a:r>
            <a:r>
              <a:rPr lang="en-US" sz="2000" dirty="0"/>
              <a:t> variable is used to construct and initialize the properties of the object </a:t>
            </a:r>
          </a:p>
          <a:p>
            <a:pPr lvl="1"/>
            <a:r>
              <a:rPr lang="en-US" sz="2000" dirty="0">
                <a:solidFill>
                  <a:srgbClr val="FF0000"/>
                </a:solidFill>
                <a:latin typeface="Microsoft Yi Baiti" panose="03000500000000000000" pitchFamily="66" charset="0"/>
                <a:ea typeface="Microsoft Yi Baiti" panose="03000500000000000000" pitchFamily="66" charset="0"/>
              </a:rPr>
              <a:t>function car(</a:t>
            </a:r>
            <a:r>
              <a:rPr lang="en-US" sz="2000" dirty="0" err="1">
                <a:solidFill>
                  <a:srgbClr val="FF0000"/>
                </a:solidFill>
                <a:latin typeface="Microsoft Yi Baiti" panose="03000500000000000000" pitchFamily="66" charset="0"/>
                <a:ea typeface="Microsoft Yi Baiti" panose="03000500000000000000" pitchFamily="66" charset="0"/>
              </a:rPr>
              <a:t>new_make</a:t>
            </a:r>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new_model</a:t>
            </a:r>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new_year</a:t>
            </a:r>
            <a:r>
              <a:rPr lang="en-US" sz="2000" dirty="0">
                <a:solidFill>
                  <a:srgbClr val="FF0000"/>
                </a:solidFill>
                <a:latin typeface="Microsoft Yi Baiti" panose="03000500000000000000" pitchFamily="66" charset="0"/>
                <a:ea typeface="Microsoft Yi Baiti" panose="03000500000000000000" pitchFamily="66" charset="0"/>
              </a:rPr>
              <a:t>) {</a:t>
            </a:r>
          </a:p>
          <a:p>
            <a:pPr lvl="1"/>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this.make</a:t>
            </a:r>
            <a:r>
              <a:rPr lang="en-US" sz="2000" dirty="0">
                <a:solidFill>
                  <a:srgbClr val="FF0000"/>
                </a:solidFill>
                <a:latin typeface="Microsoft Yi Baiti" panose="03000500000000000000" pitchFamily="66" charset="0"/>
                <a:ea typeface="Microsoft Yi Baiti" panose="03000500000000000000" pitchFamily="66" charset="0"/>
              </a:rPr>
              <a:t> = </a:t>
            </a:r>
            <a:r>
              <a:rPr lang="en-US" sz="2000" dirty="0" err="1">
                <a:solidFill>
                  <a:srgbClr val="FF0000"/>
                </a:solidFill>
                <a:latin typeface="Microsoft Yi Baiti" panose="03000500000000000000" pitchFamily="66" charset="0"/>
                <a:ea typeface="Microsoft Yi Baiti" panose="03000500000000000000" pitchFamily="66" charset="0"/>
              </a:rPr>
              <a:t>new_make</a:t>
            </a:r>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this.model</a:t>
            </a:r>
            <a:r>
              <a:rPr lang="en-US" sz="2000" dirty="0">
                <a:solidFill>
                  <a:srgbClr val="FF0000"/>
                </a:solidFill>
                <a:latin typeface="Microsoft Yi Baiti" panose="03000500000000000000" pitchFamily="66" charset="0"/>
                <a:ea typeface="Microsoft Yi Baiti" panose="03000500000000000000" pitchFamily="66" charset="0"/>
              </a:rPr>
              <a:t> = </a:t>
            </a:r>
            <a:r>
              <a:rPr lang="en-US" sz="2000" dirty="0" err="1">
                <a:solidFill>
                  <a:srgbClr val="FF0000"/>
                </a:solidFill>
                <a:latin typeface="Microsoft Yi Baiti" panose="03000500000000000000" pitchFamily="66" charset="0"/>
                <a:ea typeface="Microsoft Yi Baiti" panose="03000500000000000000" pitchFamily="66" charset="0"/>
              </a:rPr>
              <a:t>new_model</a:t>
            </a:r>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this.year</a:t>
            </a:r>
            <a:r>
              <a:rPr lang="en-US" sz="2000" dirty="0">
                <a:solidFill>
                  <a:srgbClr val="FF0000"/>
                </a:solidFill>
                <a:latin typeface="Microsoft Yi Baiti" panose="03000500000000000000" pitchFamily="66" charset="0"/>
                <a:ea typeface="Microsoft Yi Baiti" panose="03000500000000000000" pitchFamily="66" charset="0"/>
              </a:rPr>
              <a:t> = </a:t>
            </a:r>
            <a:r>
              <a:rPr lang="en-US" sz="2000" dirty="0" err="1">
                <a:solidFill>
                  <a:srgbClr val="FF0000"/>
                </a:solidFill>
                <a:latin typeface="Microsoft Yi Baiti" panose="03000500000000000000" pitchFamily="66" charset="0"/>
                <a:ea typeface="Microsoft Yi Baiti" panose="03000500000000000000" pitchFamily="66" charset="0"/>
              </a:rPr>
              <a:t>new_year</a:t>
            </a:r>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err="1">
                <a:solidFill>
                  <a:srgbClr val="000066"/>
                </a:solidFill>
                <a:latin typeface="Microsoft Yi Baiti" panose="03000500000000000000" pitchFamily="66" charset="0"/>
                <a:ea typeface="Microsoft Yi Baiti" panose="03000500000000000000" pitchFamily="66" charset="0"/>
              </a:rPr>
              <a:t>my_car</a:t>
            </a:r>
            <a:r>
              <a:rPr lang="en-US" sz="2000" dirty="0">
                <a:solidFill>
                  <a:srgbClr val="000066"/>
                </a:solidFill>
                <a:latin typeface="Microsoft Yi Baiti" panose="03000500000000000000" pitchFamily="66" charset="0"/>
                <a:ea typeface="Microsoft Yi Baiti" panose="03000500000000000000" pitchFamily="66" charset="0"/>
              </a:rPr>
              <a:t> = new car("Ford", "Fusion", "2012");</a:t>
            </a:r>
          </a:p>
          <a:p>
            <a:r>
              <a:rPr lang="en-US" sz="2000" dirty="0"/>
              <a:t>If a method is to be included in the object, it is initialized the same way as if it were a data property.</a:t>
            </a:r>
          </a:p>
          <a:p>
            <a:r>
              <a:rPr lang="en-IN" sz="2000" dirty="0">
                <a:solidFill>
                  <a:srgbClr val="000066"/>
                </a:solidFill>
                <a:latin typeface="Microsoft Yi Baiti" panose="03000500000000000000" pitchFamily="66" charset="0"/>
                <a:ea typeface="Microsoft Yi Baiti" panose="03000500000000000000" pitchFamily="66" charset="0"/>
              </a:rPr>
              <a:t>function </a:t>
            </a:r>
            <a:r>
              <a:rPr lang="en-IN" sz="2000" dirty="0" err="1">
                <a:solidFill>
                  <a:srgbClr val="000066"/>
                </a:solidFill>
                <a:latin typeface="Microsoft Yi Baiti" panose="03000500000000000000" pitchFamily="66" charset="0"/>
                <a:ea typeface="Microsoft Yi Baiti" panose="03000500000000000000" pitchFamily="66" charset="0"/>
              </a:rPr>
              <a:t>display_car</a:t>
            </a:r>
            <a:r>
              <a:rPr lang="en-IN" sz="2000" dirty="0">
                <a:solidFill>
                  <a:srgbClr val="000066"/>
                </a:solidFill>
                <a:latin typeface="Microsoft Yi Baiti" panose="03000500000000000000" pitchFamily="66" charset="0"/>
                <a:ea typeface="Microsoft Yi Baiti" panose="03000500000000000000" pitchFamily="66" charset="0"/>
              </a:rPr>
              <a:t>() {</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000066"/>
                </a:solidFill>
                <a:latin typeface="Microsoft Yi Baiti" panose="03000500000000000000" pitchFamily="66" charset="0"/>
                <a:ea typeface="Microsoft Yi Baiti" panose="03000500000000000000" pitchFamily="66" charset="0"/>
              </a:rPr>
              <a:t>document.write</a:t>
            </a:r>
            <a:r>
              <a:rPr lang="en-IN" sz="2000" dirty="0">
                <a:solidFill>
                  <a:srgbClr val="000066"/>
                </a:solidFill>
                <a:latin typeface="Microsoft Yi Baiti" panose="03000500000000000000" pitchFamily="66" charset="0"/>
                <a:ea typeface="Microsoft Yi Baiti" panose="03000500000000000000" pitchFamily="66" charset="0"/>
              </a:rPr>
              <a:t>("Car make: ", </a:t>
            </a:r>
            <a:r>
              <a:rPr lang="en-IN" sz="2000" dirty="0" err="1">
                <a:solidFill>
                  <a:srgbClr val="000066"/>
                </a:solidFill>
                <a:latin typeface="Microsoft Yi Baiti" panose="03000500000000000000" pitchFamily="66" charset="0"/>
                <a:ea typeface="Microsoft Yi Baiti" panose="03000500000000000000" pitchFamily="66" charset="0"/>
              </a:rPr>
              <a:t>this.make</a:t>
            </a:r>
            <a:r>
              <a:rPr lang="en-IN" sz="2000" dirty="0">
                <a:solidFill>
                  <a:srgbClr val="000066"/>
                </a:solidFill>
                <a:latin typeface="Microsoft Yi Baiti" panose="03000500000000000000" pitchFamily="66" charset="0"/>
                <a:ea typeface="Microsoft Yi Baiti" panose="03000500000000000000" pitchFamily="66" charset="0"/>
              </a:rPr>
              <a:t>, "&lt;</a:t>
            </a:r>
            <a:r>
              <a:rPr lang="en-IN" sz="2000" dirty="0" err="1">
                <a:solidFill>
                  <a:srgbClr val="000066"/>
                </a:solidFill>
                <a:latin typeface="Microsoft Yi Baiti" panose="03000500000000000000" pitchFamily="66" charset="0"/>
                <a:ea typeface="Microsoft Yi Baiti" panose="03000500000000000000" pitchFamily="66" charset="0"/>
              </a:rPr>
              <a:t>br</a:t>
            </a:r>
            <a:r>
              <a:rPr lang="en-IN" sz="2000" dirty="0">
                <a:solidFill>
                  <a:srgbClr val="000066"/>
                </a:solidFill>
                <a:latin typeface="Microsoft Yi Baiti" panose="03000500000000000000" pitchFamily="66" charset="0"/>
                <a:ea typeface="Microsoft Yi Baiti" panose="03000500000000000000" pitchFamily="66" charset="0"/>
              </a:rPr>
              <a:t>/&gt;");</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000066"/>
                </a:solidFill>
                <a:latin typeface="Microsoft Yi Baiti" panose="03000500000000000000" pitchFamily="66" charset="0"/>
                <a:ea typeface="Microsoft Yi Baiti" panose="03000500000000000000" pitchFamily="66" charset="0"/>
              </a:rPr>
              <a:t>document.write</a:t>
            </a:r>
            <a:r>
              <a:rPr lang="en-IN" sz="2000" dirty="0">
                <a:solidFill>
                  <a:srgbClr val="000066"/>
                </a:solidFill>
                <a:latin typeface="Microsoft Yi Baiti" panose="03000500000000000000" pitchFamily="66" charset="0"/>
                <a:ea typeface="Microsoft Yi Baiti" panose="03000500000000000000" pitchFamily="66" charset="0"/>
              </a:rPr>
              <a:t>("Car model: ", </a:t>
            </a:r>
            <a:r>
              <a:rPr lang="en-IN" sz="2000" dirty="0" err="1">
                <a:solidFill>
                  <a:srgbClr val="000066"/>
                </a:solidFill>
                <a:latin typeface="Microsoft Yi Baiti" panose="03000500000000000000" pitchFamily="66" charset="0"/>
                <a:ea typeface="Microsoft Yi Baiti" panose="03000500000000000000" pitchFamily="66" charset="0"/>
              </a:rPr>
              <a:t>this.model</a:t>
            </a:r>
            <a:r>
              <a:rPr lang="en-IN" sz="2000" dirty="0">
                <a:solidFill>
                  <a:srgbClr val="000066"/>
                </a:solidFill>
                <a:latin typeface="Microsoft Yi Baiti" panose="03000500000000000000" pitchFamily="66" charset="0"/>
                <a:ea typeface="Microsoft Yi Baiti" panose="03000500000000000000" pitchFamily="66" charset="0"/>
              </a:rPr>
              <a:t>, "&lt;</a:t>
            </a:r>
            <a:r>
              <a:rPr lang="en-IN" sz="2000" dirty="0" err="1">
                <a:solidFill>
                  <a:srgbClr val="000066"/>
                </a:solidFill>
                <a:latin typeface="Microsoft Yi Baiti" panose="03000500000000000000" pitchFamily="66" charset="0"/>
                <a:ea typeface="Microsoft Yi Baiti" panose="03000500000000000000" pitchFamily="66" charset="0"/>
              </a:rPr>
              <a:t>br</a:t>
            </a:r>
            <a:r>
              <a:rPr lang="en-IN" sz="2000" dirty="0">
                <a:solidFill>
                  <a:srgbClr val="000066"/>
                </a:solidFill>
                <a:latin typeface="Microsoft Yi Baiti" panose="03000500000000000000" pitchFamily="66" charset="0"/>
                <a:ea typeface="Microsoft Yi Baiti" panose="03000500000000000000" pitchFamily="66" charset="0"/>
              </a:rPr>
              <a:t>/&gt;");</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000066"/>
                </a:solidFill>
                <a:latin typeface="Microsoft Yi Baiti" panose="03000500000000000000" pitchFamily="66" charset="0"/>
                <a:ea typeface="Microsoft Yi Baiti" panose="03000500000000000000" pitchFamily="66" charset="0"/>
              </a:rPr>
              <a:t>document.write</a:t>
            </a:r>
            <a:r>
              <a:rPr lang="en-IN" sz="2000" dirty="0">
                <a:solidFill>
                  <a:srgbClr val="000066"/>
                </a:solidFill>
                <a:latin typeface="Microsoft Yi Baiti" panose="03000500000000000000" pitchFamily="66" charset="0"/>
                <a:ea typeface="Microsoft Yi Baiti" panose="03000500000000000000" pitchFamily="66" charset="0"/>
              </a:rPr>
              <a:t>("Car year: ", </a:t>
            </a:r>
            <a:r>
              <a:rPr lang="en-IN" sz="2000" dirty="0" err="1">
                <a:solidFill>
                  <a:srgbClr val="000066"/>
                </a:solidFill>
                <a:latin typeface="Microsoft Yi Baiti" panose="03000500000000000000" pitchFamily="66" charset="0"/>
                <a:ea typeface="Microsoft Yi Baiti" panose="03000500000000000000" pitchFamily="66" charset="0"/>
              </a:rPr>
              <a:t>this.year</a:t>
            </a:r>
            <a:r>
              <a:rPr lang="en-IN" sz="2000" dirty="0">
                <a:solidFill>
                  <a:srgbClr val="000066"/>
                </a:solidFill>
                <a:latin typeface="Microsoft Yi Baiti" panose="03000500000000000000" pitchFamily="66" charset="0"/>
                <a:ea typeface="Microsoft Yi Baiti" panose="03000500000000000000" pitchFamily="66" charset="0"/>
              </a:rPr>
              <a:t>, "&lt;</a:t>
            </a:r>
            <a:r>
              <a:rPr lang="en-IN" sz="2000" dirty="0" err="1">
                <a:solidFill>
                  <a:srgbClr val="000066"/>
                </a:solidFill>
                <a:latin typeface="Microsoft Yi Baiti" panose="03000500000000000000" pitchFamily="66" charset="0"/>
                <a:ea typeface="Microsoft Yi Baiti" panose="03000500000000000000" pitchFamily="66" charset="0"/>
              </a:rPr>
              <a:t>br</a:t>
            </a:r>
            <a:r>
              <a:rPr lang="en-IN" sz="2000" dirty="0">
                <a:solidFill>
                  <a:srgbClr val="000066"/>
                </a:solidFill>
                <a:latin typeface="Microsoft Yi Baiti" panose="03000500000000000000" pitchFamily="66" charset="0"/>
                <a:ea typeface="Microsoft Yi Baiti" panose="03000500000000000000" pitchFamily="66" charset="0"/>
              </a:rPr>
              <a:t>/&gt;");</a:t>
            </a:r>
          </a:p>
          <a:p>
            <a:r>
              <a:rPr lang="en-IN" sz="2000" dirty="0">
                <a:solidFill>
                  <a:srgbClr val="000066"/>
                </a:solidFill>
                <a:latin typeface="Microsoft Yi Baiti" panose="03000500000000000000" pitchFamily="66" charset="0"/>
                <a:ea typeface="Microsoft Yi Baiti" panose="03000500000000000000" pitchFamily="66" charset="0"/>
              </a:rPr>
              <a:t> }</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this.display</a:t>
            </a:r>
            <a:r>
              <a:rPr lang="en-IN" sz="2000" dirty="0">
                <a:solidFill>
                  <a:srgbClr val="FF0000"/>
                </a:solidFill>
                <a:latin typeface="Microsoft Yi Baiti" panose="03000500000000000000" pitchFamily="66" charset="0"/>
                <a:ea typeface="Microsoft Yi Baiti" panose="03000500000000000000" pitchFamily="66" charset="0"/>
              </a:rPr>
              <a:t> = </a:t>
            </a:r>
            <a:r>
              <a:rPr lang="en-IN" sz="2000" dirty="0" err="1">
                <a:solidFill>
                  <a:srgbClr val="FF0000"/>
                </a:solidFill>
                <a:latin typeface="Microsoft Yi Baiti" panose="03000500000000000000" pitchFamily="66" charset="0"/>
                <a:ea typeface="Microsoft Yi Baiti" panose="03000500000000000000" pitchFamily="66" charset="0"/>
              </a:rPr>
              <a:t>display_car</a:t>
            </a:r>
            <a:r>
              <a:rPr lang="en-IN" sz="2000" dirty="0">
                <a:solidFill>
                  <a:srgbClr val="FF0000"/>
                </a:solidFill>
                <a:latin typeface="Microsoft Yi Baiti" panose="03000500000000000000" pitchFamily="66" charset="0"/>
                <a:ea typeface="Microsoft Yi Baiti" panose="03000500000000000000" pitchFamily="66" charset="0"/>
              </a:rPr>
              <a:t>;</a:t>
            </a:r>
          </a:p>
        </p:txBody>
      </p:sp>
    </p:spTree>
    <p:extLst>
      <p:ext uri="{BB962C8B-B14F-4D97-AF65-F5344CB8AC3E}">
        <p14:creationId xmlns:p14="http://schemas.microsoft.com/office/powerpoint/2010/main" val="25495812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40D75-E9AA-D515-496E-99D442D6AA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8E51E0-13EE-3FC5-472E-D171A808C0B4}"/>
              </a:ext>
            </a:extLst>
          </p:cNvPr>
          <p:cNvSpPr txBox="1"/>
          <p:nvPr/>
        </p:nvSpPr>
        <p:spPr>
          <a:xfrm>
            <a:off x="528918" y="421341"/>
            <a:ext cx="11143129" cy="5816977"/>
          </a:xfrm>
          <a:prstGeom prst="rect">
            <a:avLst/>
          </a:prstGeom>
          <a:noFill/>
        </p:spPr>
        <p:txBody>
          <a:bodyPr wrap="square" rtlCol="0">
            <a:spAutoFit/>
          </a:bodyPr>
          <a:lstStyle/>
          <a:p>
            <a:r>
              <a:rPr lang="en-US" sz="2400" b="1" dirty="0"/>
              <a:t>12 Pattern Matching by Using Regular Expressions</a:t>
            </a:r>
          </a:p>
          <a:p>
            <a:endParaRPr lang="en-US" sz="2000" dirty="0"/>
          </a:p>
          <a:p>
            <a:pPr marL="342900" indent="-342900" algn="just">
              <a:buFont typeface="Arial" panose="020B0604020202020204" pitchFamily="34" charset="0"/>
              <a:buChar char="•"/>
            </a:pPr>
            <a:r>
              <a:rPr lang="en-US" sz="2000" dirty="0"/>
              <a:t>There are two approaches to pattern matching in JavaScript: one that is based on the methods of the </a:t>
            </a:r>
            <a:r>
              <a:rPr lang="en-US" sz="2000" dirty="0" err="1">
                <a:solidFill>
                  <a:srgbClr val="FF0000"/>
                </a:solidFill>
              </a:rPr>
              <a:t>RegExp</a:t>
            </a:r>
            <a:r>
              <a:rPr lang="en-US" sz="2000" dirty="0"/>
              <a:t> object and one that is based on methods of the </a:t>
            </a:r>
            <a:r>
              <a:rPr lang="en-US" sz="2000" dirty="0">
                <a:solidFill>
                  <a:srgbClr val="FF0000"/>
                </a:solidFill>
              </a:rPr>
              <a:t>String</a:t>
            </a:r>
            <a:r>
              <a:rPr lang="en-US" sz="2000" dirty="0"/>
              <a:t> object.</a:t>
            </a:r>
            <a:endParaRPr lang="en-IN" sz="2000" dirty="0"/>
          </a:p>
          <a:p>
            <a:pPr marL="342900" indent="-342900" algn="just">
              <a:buFont typeface="Arial" panose="020B0604020202020204" pitchFamily="34" charset="0"/>
              <a:buChar char="•"/>
            </a:pPr>
            <a:r>
              <a:rPr lang="en-US" sz="2000" dirty="0"/>
              <a:t>patterns are specified in a form that is based on regular expressions, which were developed to define members of a simple class of formal languages.</a:t>
            </a:r>
          </a:p>
          <a:p>
            <a:pPr marL="342900" indent="-342900" algn="just">
              <a:buFont typeface="Arial" panose="020B0604020202020204" pitchFamily="34" charset="0"/>
              <a:buChar char="•"/>
            </a:pPr>
            <a:r>
              <a:rPr lang="en-US" sz="2000" dirty="0"/>
              <a:t>Elaborate and complex patterns can be used to describe specific strings or categories of strings. </a:t>
            </a:r>
          </a:p>
          <a:p>
            <a:pPr marL="342900" indent="-342900" algn="just">
              <a:buFont typeface="Arial" panose="020B0604020202020204" pitchFamily="34" charset="0"/>
              <a:buChar char="•"/>
            </a:pPr>
            <a:r>
              <a:rPr lang="en-US" sz="2000" dirty="0"/>
              <a:t>Patterns, which are sent as parameters to the pattern matching methods, are </a:t>
            </a:r>
            <a:r>
              <a:rPr lang="en-US" sz="2000" dirty="0">
                <a:solidFill>
                  <a:srgbClr val="FF0000"/>
                </a:solidFill>
              </a:rPr>
              <a:t>delimited with slashes</a:t>
            </a:r>
            <a:r>
              <a:rPr lang="en-US" sz="2000" dirty="0"/>
              <a:t>.</a:t>
            </a:r>
          </a:p>
          <a:p>
            <a:pPr marL="342900" indent="-342900" algn="just">
              <a:buFont typeface="Arial" panose="020B0604020202020204" pitchFamily="34" charset="0"/>
              <a:buChar char="•"/>
            </a:pPr>
            <a:r>
              <a:rPr lang="en-US" sz="2000" dirty="0"/>
              <a:t>The simplest pattern-matching method is </a:t>
            </a:r>
            <a:r>
              <a:rPr lang="en-US" sz="2000" dirty="0">
                <a:solidFill>
                  <a:srgbClr val="FF0000"/>
                </a:solidFill>
              </a:rPr>
              <a:t>search</a:t>
            </a:r>
            <a:r>
              <a:rPr lang="en-US" sz="2000" dirty="0"/>
              <a:t>, which takes a pattern as a parameter.</a:t>
            </a:r>
          </a:p>
          <a:p>
            <a:pPr marL="342900" indent="-342900" algn="just">
              <a:buFont typeface="Arial" panose="020B0604020202020204" pitchFamily="34" charset="0"/>
              <a:buChar char="•"/>
            </a:pPr>
            <a:r>
              <a:rPr lang="en-US" sz="2000" dirty="0"/>
              <a:t>The search method </a:t>
            </a:r>
            <a:r>
              <a:rPr lang="en-US" sz="2000" dirty="0">
                <a:solidFill>
                  <a:srgbClr val="FF0000"/>
                </a:solidFill>
              </a:rPr>
              <a:t>returns the position </a:t>
            </a:r>
            <a:r>
              <a:rPr lang="en-US" sz="2000" dirty="0"/>
              <a:t>in the String object at which the pattern matched.</a:t>
            </a:r>
          </a:p>
          <a:p>
            <a:pPr marL="342900" indent="-342900" algn="just">
              <a:buFont typeface="Arial" panose="020B0604020202020204" pitchFamily="34" charset="0"/>
              <a:buChar char="•"/>
            </a:pPr>
            <a:r>
              <a:rPr lang="en-US" sz="2000" dirty="0"/>
              <a:t>If there is no match, search returns –1. </a:t>
            </a:r>
          </a:p>
          <a:p>
            <a:pPr lvl="2" algn="just"/>
            <a:r>
              <a:rPr lang="en-IN" sz="1600" dirty="0">
                <a:solidFill>
                  <a:srgbClr val="FF0000"/>
                </a:solidFill>
              </a:rPr>
              <a:t>var str = "Rabbits are furry";</a:t>
            </a:r>
          </a:p>
          <a:p>
            <a:pPr lvl="2" algn="just"/>
            <a:r>
              <a:rPr lang="en-IN" sz="1600" dirty="0">
                <a:solidFill>
                  <a:srgbClr val="FF0000"/>
                </a:solidFill>
              </a:rPr>
              <a:t>var position = </a:t>
            </a:r>
            <a:r>
              <a:rPr lang="en-IN" sz="1600" dirty="0" err="1">
                <a:solidFill>
                  <a:srgbClr val="FF0000"/>
                </a:solidFill>
              </a:rPr>
              <a:t>str.search</a:t>
            </a:r>
            <a:r>
              <a:rPr lang="en-IN" sz="1600" dirty="0">
                <a:solidFill>
                  <a:srgbClr val="FF0000"/>
                </a:solidFill>
              </a:rPr>
              <a:t>(/bits/);</a:t>
            </a:r>
          </a:p>
          <a:p>
            <a:pPr lvl="2" algn="just"/>
            <a:r>
              <a:rPr lang="en-IN" sz="1600" dirty="0">
                <a:solidFill>
                  <a:srgbClr val="FF0000"/>
                </a:solidFill>
              </a:rPr>
              <a:t>if (position &gt;= 0)</a:t>
            </a:r>
          </a:p>
          <a:p>
            <a:pPr lvl="2" algn="just"/>
            <a:r>
              <a:rPr lang="en-IN" sz="1600" dirty="0">
                <a:solidFill>
                  <a:srgbClr val="FF0000"/>
                </a:solidFill>
              </a:rPr>
              <a:t>    	</a:t>
            </a:r>
            <a:r>
              <a:rPr lang="en-IN" sz="1600" dirty="0" err="1">
                <a:solidFill>
                  <a:srgbClr val="FF0000"/>
                </a:solidFill>
              </a:rPr>
              <a:t>document.write</a:t>
            </a:r>
            <a:r>
              <a:rPr lang="en-IN" sz="1600" dirty="0">
                <a:solidFill>
                  <a:srgbClr val="FF0000"/>
                </a:solidFill>
              </a:rPr>
              <a:t>("'bits' appears in position", position,"&lt;</a:t>
            </a:r>
            <a:r>
              <a:rPr lang="en-IN" sz="1600" dirty="0" err="1">
                <a:solidFill>
                  <a:srgbClr val="FF0000"/>
                </a:solidFill>
              </a:rPr>
              <a:t>br</a:t>
            </a:r>
            <a:r>
              <a:rPr lang="en-IN" sz="1600" dirty="0">
                <a:solidFill>
                  <a:srgbClr val="FF0000"/>
                </a:solidFill>
              </a:rPr>
              <a:t> /&gt;");</a:t>
            </a:r>
          </a:p>
          <a:p>
            <a:pPr lvl="2" algn="just"/>
            <a:r>
              <a:rPr lang="en-IN" sz="1600" dirty="0">
                <a:solidFill>
                  <a:srgbClr val="FF0000"/>
                </a:solidFill>
              </a:rPr>
              <a:t>else</a:t>
            </a:r>
          </a:p>
          <a:p>
            <a:pPr lvl="2" algn="just"/>
            <a:r>
              <a:rPr lang="en-IN" sz="1600" dirty="0">
                <a:solidFill>
                  <a:srgbClr val="FF0000"/>
                </a:solidFill>
              </a:rPr>
              <a:t>    	</a:t>
            </a:r>
            <a:r>
              <a:rPr lang="en-IN" sz="1600" dirty="0" err="1">
                <a:solidFill>
                  <a:srgbClr val="FF0000"/>
                </a:solidFill>
              </a:rPr>
              <a:t>document.write</a:t>
            </a:r>
            <a:r>
              <a:rPr lang="en-IN" sz="1600" dirty="0">
                <a:solidFill>
                  <a:srgbClr val="FF0000"/>
                </a:solidFill>
              </a:rPr>
              <a:t>("'bits' does not appear in str &lt;</a:t>
            </a:r>
            <a:r>
              <a:rPr lang="en-IN" sz="1600" dirty="0" err="1">
                <a:solidFill>
                  <a:srgbClr val="FF0000"/>
                </a:solidFill>
              </a:rPr>
              <a:t>br</a:t>
            </a:r>
            <a:r>
              <a:rPr lang="en-IN" sz="1600" dirty="0">
                <a:solidFill>
                  <a:srgbClr val="FF0000"/>
                </a:solidFill>
              </a:rPr>
              <a:t> /&gt;");</a:t>
            </a:r>
          </a:p>
          <a:p>
            <a:pPr algn="just"/>
            <a:r>
              <a:rPr lang="en-IN" sz="1600" dirty="0">
                <a:solidFill>
                  <a:srgbClr val="00B0F0"/>
                </a:solidFill>
              </a:rPr>
              <a:t>Ans:</a:t>
            </a:r>
          </a:p>
          <a:p>
            <a:pPr algn="just"/>
            <a:r>
              <a:rPr lang="en-IN" sz="1600" dirty="0">
                <a:solidFill>
                  <a:srgbClr val="00B0F0"/>
                </a:solidFill>
              </a:rPr>
              <a:t>	</a:t>
            </a:r>
            <a:r>
              <a:rPr lang="en-US" sz="1600" dirty="0">
                <a:solidFill>
                  <a:srgbClr val="00B0F0"/>
                </a:solidFill>
              </a:rPr>
              <a:t>'bits' appears in position 3</a:t>
            </a:r>
            <a:endParaRPr lang="en-IN" sz="1600" dirty="0">
              <a:solidFill>
                <a:srgbClr val="00B0F0"/>
              </a:solidFill>
            </a:endParaRPr>
          </a:p>
        </p:txBody>
      </p:sp>
    </p:spTree>
    <p:extLst>
      <p:ext uri="{BB962C8B-B14F-4D97-AF65-F5344CB8AC3E}">
        <p14:creationId xmlns:p14="http://schemas.microsoft.com/office/powerpoint/2010/main" val="19272267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EE6B8-5934-2BF2-AB78-1CB11466B7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E47658-1D4D-5015-B799-6EC2331C93B0}"/>
              </a:ext>
            </a:extLst>
          </p:cNvPr>
          <p:cNvSpPr txBox="1"/>
          <p:nvPr/>
        </p:nvSpPr>
        <p:spPr>
          <a:xfrm>
            <a:off x="528918" y="421341"/>
            <a:ext cx="11143129" cy="5693866"/>
          </a:xfrm>
          <a:prstGeom prst="rect">
            <a:avLst/>
          </a:prstGeom>
          <a:noFill/>
        </p:spPr>
        <p:txBody>
          <a:bodyPr wrap="square" rtlCol="0">
            <a:spAutoFit/>
          </a:bodyPr>
          <a:lstStyle/>
          <a:p>
            <a:r>
              <a:rPr lang="en-US" sz="2400" b="1" dirty="0"/>
              <a:t>12.1 Character and Character-Class Patterns</a:t>
            </a:r>
          </a:p>
          <a:p>
            <a:endParaRPr lang="en-US" sz="2000" dirty="0"/>
          </a:p>
          <a:p>
            <a:pPr marL="342900" indent="-342900">
              <a:buFont typeface="Arial" panose="020B0604020202020204" pitchFamily="34" charset="0"/>
              <a:buChar char="•"/>
            </a:pPr>
            <a:r>
              <a:rPr lang="en-US" sz="2000" dirty="0"/>
              <a:t>Metacharacters are characters that have special meanings in some contexts in patterns.</a:t>
            </a:r>
          </a:p>
          <a:p>
            <a:r>
              <a:rPr lang="en-US" sz="2000" dirty="0"/>
              <a:t>	</a:t>
            </a:r>
            <a:r>
              <a:rPr lang="en-IN" sz="2000" dirty="0">
                <a:solidFill>
                  <a:srgbClr val="FF0000"/>
                </a:solidFill>
              </a:rPr>
              <a:t>\ | ( ) [ ] { } ^ $ * + ? </a:t>
            </a:r>
            <a:r>
              <a:rPr lang="en-IN"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Metacharacters can themselves be matched by being immediately preceded by a backslash.</a:t>
            </a:r>
          </a:p>
          <a:p>
            <a:pPr marL="342900" indent="-342900">
              <a:buFont typeface="Arial" panose="020B0604020202020204" pitchFamily="34" charset="0"/>
              <a:buChar char="•"/>
            </a:pPr>
            <a:r>
              <a:rPr lang="en-US" sz="2000" dirty="0"/>
              <a:t>A period matches any character except newline. So, the following pattern matches "snowy", "</a:t>
            </a:r>
            <a:r>
              <a:rPr lang="en-US" sz="2000" dirty="0" err="1"/>
              <a:t>snowe</a:t>
            </a:r>
            <a:r>
              <a:rPr lang="en-US" sz="2000" dirty="0"/>
              <a:t>", and "</a:t>
            </a:r>
            <a:r>
              <a:rPr lang="en-US" sz="2000" dirty="0" err="1"/>
              <a:t>snowd</a:t>
            </a:r>
            <a:r>
              <a:rPr lang="en-US" sz="2000" dirty="0"/>
              <a:t>", among others:</a:t>
            </a:r>
          </a:p>
          <a:p>
            <a:r>
              <a:rPr lang="en-US" sz="2000" dirty="0"/>
              <a:t>	</a:t>
            </a:r>
            <a:r>
              <a:rPr lang="en-IN" sz="2000" dirty="0">
                <a:solidFill>
                  <a:srgbClr val="FF0000"/>
                </a:solidFill>
              </a:rPr>
              <a:t>/snow./</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To match a period in a string, the period must be preceded by a backslash in the pattern. For example, the pattern </a:t>
            </a:r>
            <a:r>
              <a:rPr lang="en-US" sz="2000" dirty="0">
                <a:solidFill>
                  <a:srgbClr val="FF0000"/>
                </a:solidFill>
              </a:rPr>
              <a:t>/3\.4/ </a:t>
            </a:r>
            <a:r>
              <a:rPr lang="en-US" sz="2000" dirty="0"/>
              <a:t>matches </a:t>
            </a:r>
            <a:r>
              <a:rPr lang="en-US" sz="2000" dirty="0">
                <a:solidFill>
                  <a:srgbClr val="FF0000"/>
                </a:solidFill>
              </a:rPr>
              <a:t>3.4</a:t>
            </a:r>
            <a:r>
              <a:rPr lang="en-US" sz="2000" dirty="0"/>
              <a:t>. The pattern </a:t>
            </a:r>
            <a:r>
              <a:rPr lang="en-US" sz="2000" dirty="0">
                <a:solidFill>
                  <a:srgbClr val="FF0000"/>
                </a:solidFill>
              </a:rPr>
              <a:t>/ 3.4/ </a:t>
            </a:r>
            <a:r>
              <a:rPr lang="en-US" sz="2000" dirty="0"/>
              <a:t>matches </a:t>
            </a:r>
            <a:r>
              <a:rPr lang="en-US" sz="2000" dirty="0">
                <a:solidFill>
                  <a:srgbClr val="FF0000"/>
                </a:solidFill>
              </a:rPr>
              <a:t>3.4</a:t>
            </a:r>
            <a:r>
              <a:rPr lang="en-US" sz="2000" dirty="0"/>
              <a:t> and </a:t>
            </a:r>
            <a:r>
              <a:rPr lang="en-US" sz="2000" dirty="0">
                <a:solidFill>
                  <a:srgbClr val="FF0000"/>
                </a:solidFill>
              </a:rPr>
              <a:t>374</a:t>
            </a:r>
            <a:r>
              <a:rPr lang="en-US" sz="2000" dirty="0"/>
              <a:t>, among others.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is often convenient to be able to specify classes of characters rather than individual characters. Such classes are defined by placing the desired characters in brackets.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Example: 	</a:t>
            </a:r>
            <a:r>
              <a:rPr lang="en-IN" sz="2000" dirty="0">
                <a:solidFill>
                  <a:srgbClr val="FF0000"/>
                </a:solidFill>
              </a:rPr>
              <a:t>[</a:t>
            </a:r>
            <a:r>
              <a:rPr lang="en-IN" sz="2000" dirty="0" err="1">
                <a:solidFill>
                  <a:srgbClr val="FF0000"/>
                </a:solidFill>
              </a:rPr>
              <a:t>abc</a:t>
            </a:r>
            <a:r>
              <a:rPr lang="en-IN" sz="2000" dirty="0">
                <a:solidFill>
                  <a:srgbClr val="FF0000"/>
                </a:solidFill>
              </a:rPr>
              <a:t>] </a:t>
            </a:r>
          </a:p>
          <a:p>
            <a:pPr lvl="3" algn="just"/>
            <a:r>
              <a:rPr lang="en-IN" sz="2000" dirty="0"/>
              <a:t>	</a:t>
            </a:r>
            <a:r>
              <a:rPr lang="en-IN" sz="2000" dirty="0">
                <a:solidFill>
                  <a:srgbClr val="FF0000"/>
                </a:solidFill>
              </a:rPr>
              <a:t>[a-h]</a:t>
            </a:r>
          </a:p>
        </p:txBody>
      </p:sp>
    </p:spTree>
    <p:extLst>
      <p:ext uri="{BB962C8B-B14F-4D97-AF65-F5344CB8AC3E}">
        <p14:creationId xmlns:p14="http://schemas.microsoft.com/office/powerpoint/2010/main" val="42146895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63147-72D3-6485-47B7-1A9B1CC6EF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C380DD-112B-B76C-D776-F8C33BC04641}"/>
              </a:ext>
            </a:extLst>
          </p:cNvPr>
          <p:cNvSpPr txBox="1"/>
          <p:nvPr/>
        </p:nvSpPr>
        <p:spPr>
          <a:xfrm>
            <a:off x="528918" y="421341"/>
            <a:ext cx="11143129" cy="5693866"/>
          </a:xfrm>
          <a:prstGeom prst="rect">
            <a:avLst/>
          </a:prstGeom>
          <a:noFill/>
        </p:spPr>
        <p:txBody>
          <a:bodyPr wrap="square" rtlCol="0">
            <a:spAutoFit/>
          </a:bodyPr>
          <a:lstStyle/>
          <a:p>
            <a:r>
              <a:rPr lang="en-US" sz="2400" dirty="0"/>
              <a:t>Continued…</a:t>
            </a:r>
          </a:p>
          <a:p>
            <a:endParaRPr lang="en-US" sz="2000" dirty="0"/>
          </a:p>
          <a:p>
            <a:pPr marL="342900" indent="-342900">
              <a:buFont typeface="Arial" panose="020B0604020202020204" pitchFamily="34" charset="0"/>
              <a:buChar char="•"/>
            </a:pPr>
            <a:r>
              <a:rPr lang="en-US" sz="2000" dirty="0"/>
              <a:t>If a circumflex character (^) is the first character in a class, it inverts the specified set.</a:t>
            </a:r>
            <a:endParaRPr lang="en-IN" sz="2000" dirty="0"/>
          </a:p>
          <a:p>
            <a:r>
              <a:rPr lang="en-IN" sz="2000" dirty="0"/>
              <a:t>	</a:t>
            </a:r>
            <a:r>
              <a:rPr lang="en-IN" sz="2000" dirty="0">
                <a:solidFill>
                  <a:srgbClr val="FF0000"/>
                </a:solidFill>
              </a:rPr>
              <a:t>[^</a:t>
            </a:r>
            <a:r>
              <a:rPr lang="en-IN" sz="2000" dirty="0" err="1">
                <a:solidFill>
                  <a:srgbClr val="FF0000"/>
                </a:solidFill>
              </a:rPr>
              <a:t>aeiou</a:t>
            </a:r>
            <a:r>
              <a:rPr lang="en-IN" sz="2000" dirty="0">
                <a:solidFill>
                  <a:srgbClr val="FF0000"/>
                </a:solidFill>
              </a:rPr>
              <a:t>]</a:t>
            </a:r>
          </a:p>
          <a:p>
            <a:pPr marL="342900" indent="-342900">
              <a:buFont typeface="Arial" panose="020B0604020202020204" pitchFamily="34" charset="0"/>
              <a:buChar char="•"/>
            </a:pPr>
            <a:r>
              <a:rPr lang="en-US" sz="2000" dirty="0"/>
              <a:t>some character classes are predefined and named and can be specified by their names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lvl="1"/>
            <a:r>
              <a:rPr lang="en-US" sz="2000" dirty="0"/>
              <a:t> </a:t>
            </a:r>
          </a:p>
          <a:p>
            <a:pPr lvl="1"/>
            <a:r>
              <a:rPr lang="en-US" sz="2000" dirty="0">
                <a:solidFill>
                  <a:srgbClr val="FF0000"/>
                </a:solidFill>
                <a:latin typeface="Microsoft Yi Baiti" panose="03000500000000000000" pitchFamily="66" charset="0"/>
                <a:ea typeface="Microsoft Yi Baiti" panose="03000500000000000000" pitchFamily="66" charset="0"/>
              </a:rPr>
              <a:t>	/\d\.\d\d/    // Matches a digit, followed by a period, followed by two digits</a:t>
            </a:r>
          </a:p>
          <a:p>
            <a:pPr lvl="1"/>
            <a:r>
              <a:rPr lang="en-US" sz="2000" dirty="0">
                <a:solidFill>
                  <a:srgbClr val="FF0000"/>
                </a:solidFill>
                <a:latin typeface="Microsoft Yi Baiti" panose="03000500000000000000" pitchFamily="66" charset="0"/>
                <a:ea typeface="Microsoft Yi Baiti" panose="03000500000000000000" pitchFamily="66" charset="0"/>
              </a:rPr>
              <a:t> 	/\D\d\D/      // Matches a single digit</a:t>
            </a:r>
          </a:p>
          <a:p>
            <a:pPr lvl="1"/>
            <a:r>
              <a:rPr lang="en-US" sz="2000" dirty="0">
                <a:solidFill>
                  <a:srgbClr val="FF0000"/>
                </a:solidFill>
                <a:latin typeface="Microsoft Yi Baiti" panose="03000500000000000000" pitchFamily="66" charset="0"/>
                <a:ea typeface="Microsoft Yi Baiti" panose="03000500000000000000" pitchFamily="66" charset="0"/>
              </a:rPr>
              <a:t> 	/\w\w\w/      // Matches three adjacent word characters</a:t>
            </a:r>
          </a:p>
          <a:p>
            <a:endParaRPr lang="en-IN" sz="2000" dirty="0"/>
          </a:p>
        </p:txBody>
      </p:sp>
      <p:pic>
        <p:nvPicPr>
          <p:cNvPr id="4" name="Picture 3">
            <a:extLst>
              <a:ext uri="{FF2B5EF4-FFF2-40B4-BE49-F238E27FC236}">
                <a16:creationId xmlns:a16="http://schemas.microsoft.com/office/drawing/2014/main" id="{DA46AB25-6FF5-EEBB-E315-8CD2229D2496}"/>
              </a:ext>
            </a:extLst>
          </p:cNvPr>
          <p:cNvPicPr>
            <a:picLocks noChangeAspect="1"/>
          </p:cNvPicPr>
          <p:nvPr/>
        </p:nvPicPr>
        <p:blipFill>
          <a:blip r:embed="rId2"/>
          <a:stretch>
            <a:fillRect/>
          </a:stretch>
        </p:blipFill>
        <p:spPr>
          <a:xfrm>
            <a:off x="2690401" y="2197425"/>
            <a:ext cx="5896798" cy="2238687"/>
          </a:xfrm>
          <a:prstGeom prst="rect">
            <a:avLst/>
          </a:prstGeom>
        </p:spPr>
      </p:pic>
    </p:spTree>
    <p:extLst>
      <p:ext uri="{BB962C8B-B14F-4D97-AF65-F5344CB8AC3E}">
        <p14:creationId xmlns:p14="http://schemas.microsoft.com/office/powerpoint/2010/main" val="8808285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5AB80-AFCE-C796-9DAE-E561A5B881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0C5509-6A55-8395-FACA-FAB5FD3202D1}"/>
              </a:ext>
            </a:extLst>
          </p:cNvPr>
          <p:cNvSpPr txBox="1"/>
          <p:nvPr/>
        </p:nvSpPr>
        <p:spPr>
          <a:xfrm>
            <a:off x="528918" y="421341"/>
            <a:ext cx="11143129" cy="5693866"/>
          </a:xfrm>
          <a:prstGeom prst="rect">
            <a:avLst/>
          </a:prstGeom>
          <a:noFill/>
        </p:spPr>
        <p:txBody>
          <a:bodyPr wrap="square" rtlCol="0">
            <a:spAutoFit/>
          </a:bodyPr>
          <a:lstStyle/>
          <a:p>
            <a:r>
              <a:rPr lang="en-US" sz="2400" dirty="0"/>
              <a:t>Continued…</a:t>
            </a:r>
          </a:p>
          <a:p>
            <a:endParaRPr lang="en-US" sz="2000" dirty="0"/>
          </a:p>
          <a:p>
            <a:r>
              <a:rPr lang="en-IN" sz="2000" dirty="0"/>
              <a:t>	/</a:t>
            </a:r>
            <a:r>
              <a:rPr lang="en-IN" sz="2000" dirty="0" err="1"/>
              <a:t>xy</a:t>
            </a:r>
            <a:r>
              <a:rPr lang="en-IN" sz="2000" dirty="0"/>
              <a:t>{4}z/ - matches </a:t>
            </a:r>
            <a:r>
              <a:rPr lang="en-IN" sz="2000" dirty="0" err="1"/>
              <a:t>xyyyyz</a:t>
            </a:r>
            <a:endParaRPr lang="en-IN" sz="2000" dirty="0"/>
          </a:p>
          <a:p>
            <a:endParaRPr lang="en-IN" sz="2000" dirty="0"/>
          </a:p>
          <a:p>
            <a:pPr marL="342900" indent="-342900" algn="just">
              <a:buFont typeface="Arial" panose="020B0604020202020204" pitchFamily="34" charset="0"/>
              <a:buChar char="•"/>
            </a:pPr>
            <a:r>
              <a:rPr lang="en-US" sz="2000" dirty="0"/>
              <a:t>There are also three symbolic quantifiers: asterisk (*), plus (+), and question mark (?). </a:t>
            </a:r>
          </a:p>
          <a:p>
            <a:pPr marL="342900" indent="-342900" algn="just">
              <a:buFont typeface="Arial" panose="020B0604020202020204" pitchFamily="34" charset="0"/>
              <a:buChar char="•"/>
            </a:pPr>
            <a:r>
              <a:rPr lang="en-US" sz="2000" dirty="0"/>
              <a:t>An </a:t>
            </a:r>
            <a:r>
              <a:rPr lang="en-US" sz="2000" dirty="0">
                <a:solidFill>
                  <a:srgbClr val="FF0000"/>
                </a:solidFill>
              </a:rPr>
              <a:t>asterisk</a:t>
            </a:r>
            <a:r>
              <a:rPr lang="en-US" sz="2000" dirty="0"/>
              <a:t> means </a:t>
            </a:r>
            <a:r>
              <a:rPr lang="en-US" sz="2000" dirty="0">
                <a:solidFill>
                  <a:srgbClr val="FF0000"/>
                </a:solidFill>
              </a:rPr>
              <a:t>zero or more </a:t>
            </a:r>
            <a:r>
              <a:rPr lang="en-US" sz="2000" dirty="0"/>
              <a:t>repetitions, a </a:t>
            </a:r>
            <a:r>
              <a:rPr lang="en-US" sz="2000" dirty="0">
                <a:solidFill>
                  <a:srgbClr val="FF0000"/>
                </a:solidFill>
              </a:rPr>
              <a:t>plus</a:t>
            </a:r>
            <a:r>
              <a:rPr lang="en-US" sz="2000" dirty="0"/>
              <a:t> sign means </a:t>
            </a:r>
            <a:r>
              <a:rPr lang="en-US" sz="2000" dirty="0">
                <a:solidFill>
                  <a:srgbClr val="FF0000"/>
                </a:solidFill>
              </a:rPr>
              <a:t>one or more </a:t>
            </a:r>
            <a:r>
              <a:rPr lang="en-US" sz="2000" dirty="0"/>
              <a:t>repetitions, and a </a:t>
            </a:r>
            <a:r>
              <a:rPr lang="en-US" sz="2000" dirty="0">
                <a:solidFill>
                  <a:srgbClr val="FF0000"/>
                </a:solidFill>
              </a:rPr>
              <a:t>question</a:t>
            </a:r>
            <a:r>
              <a:rPr lang="en-US" sz="2000" dirty="0"/>
              <a:t> mark means </a:t>
            </a:r>
            <a:r>
              <a:rPr lang="en-US" sz="2000" dirty="0">
                <a:solidFill>
                  <a:srgbClr val="FF0000"/>
                </a:solidFill>
              </a:rPr>
              <a:t>one or none</a:t>
            </a:r>
            <a:r>
              <a:rPr lang="en-US" sz="2000" dirty="0"/>
              <a:t>.</a:t>
            </a:r>
          </a:p>
          <a:p>
            <a:pPr algn="just"/>
            <a:r>
              <a:rPr lang="en-US" sz="2000" dirty="0"/>
              <a:t>	</a:t>
            </a:r>
            <a:r>
              <a:rPr lang="en-IN" sz="2000" dirty="0"/>
              <a:t>/x*</a:t>
            </a:r>
            <a:r>
              <a:rPr lang="en-IN" sz="2000" dirty="0" err="1"/>
              <a:t>y+z</a:t>
            </a:r>
            <a:r>
              <a:rPr lang="en-IN" sz="2000" dirty="0"/>
              <a:t>?/</a:t>
            </a:r>
          </a:p>
          <a:p>
            <a:endParaRPr lang="en-IN" sz="2000" dirty="0"/>
          </a:p>
          <a:p>
            <a:pPr marL="342900" indent="-342900">
              <a:buFont typeface="Arial" panose="020B0604020202020204" pitchFamily="34" charset="0"/>
              <a:buChar char="•"/>
            </a:pPr>
            <a:r>
              <a:rPr lang="en-US" sz="2000" dirty="0"/>
              <a:t>The quantifiers are often used with the predefined character-class names</a:t>
            </a:r>
          </a:p>
          <a:p>
            <a:r>
              <a:rPr lang="en-US" sz="2000" dirty="0"/>
              <a:t>	</a:t>
            </a:r>
            <a:r>
              <a:rPr lang="en-IN" sz="2000" dirty="0">
                <a:solidFill>
                  <a:srgbClr val="FF0000"/>
                </a:solidFill>
              </a:rPr>
              <a:t>/\d+\.\d*/          </a:t>
            </a:r>
            <a:r>
              <a:rPr lang="en-IN" sz="2000" dirty="0"/>
              <a:t>- matches 99999.999</a:t>
            </a:r>
          </a:p>
          <a:p>
            <a:r>
              <a:rPr lang="en-IN" sz="2000" dirty="0"/>
              <a:t>	</a:t>
            </a:r>
            <a:r>
              <a:rPr lang="en-IN" sz="2000" dirty="0">
                <a:solidFill>
                  <a:srgbClr val="FF0000"/>
                </a:solidFill>
              </a:rPr>
              <a:t>/[A-Za-z]\w*/	</a:t>
            </a:r>
            <a:r>
              <a:rPr lang="en-IN" sz="2000" dirty="0"/>
              <a:t>- </a:t>
            </a:r>
            <a:r>
              <a:rPr lang="en-US" sz="2000" dirty="0"/>
              <a:t>matches the identifiers (a letter, followed by zero or more letters, digits, or 			  under scores)</a:t>
            </a:r>
            <a:endParaRPr lang="en-IN" sz="2000" dirty="0"/>
          </a:p>
          <a:p>
            <a:pPr marL="342900" indent="-342900" algn="just">
              <a:buFont typeface="Arial" panose="020B0604020202020204" pitchFamily="34" charset="0"/>
              <a:buChar char="•"/>
            </a:pPr>
            <a:r>
              <a:rPr lang="en-US" sz="2000" dirty="0"/>
              <a:t>There is one additional named pattern that is often useful: \b (boundary), which matches the boundary position between a word character (\w) and a non word character (\W), in either order.</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i="1" dirty="0"/>
              <a:t>"A tulip </a:t>
            </a:r>
            <a:r>
              <a:rPr lang="en-US" sz="2000" i="1" dirty="0">
                <a:solidFill>
                  <a:srgbClr val="FF0000"/>
                </a:solidFill>
              </a:rPr>
              <a:t>is</a:t>
            </a:r>
            <a:r>
              <a:rPr lang="en-US" sz="2000" i="1" dirty="0"/>
              <a:t> a flower" but not "A frog </a:t>
            </a:r>
            <a:r>
              <a:rPr lang="en-US" sz="2000" i="1" dirty="0">
                <a:solidFill>
                  <a:srgbClr val="FF0000"/>
                </a:solidFill>
              </a:rPr>
              <a:t>is</a:t>
            </a:r>
            <a:r>
              <a:rPr lang="en-US" sz="2000" i="1" dirty="0"/>
              <a:t>n’t”:</a:t>
            </a:r>
          </a:p>
          <a:p>
            <a:pPr marL="800100" lvl="1" indent="-342900" algn="just">
              <a:buFont typeface="Arial" panose="020B0604020202020204" pitchFamily="34" charset="0"/>
              <a:buChar char="•"/>
            </a:pPr>
            <a:r>
              <a:rPr lang="en-IN" sz="2000" i="1" dirty="0"/>
              <a:t>/\bis\b/</a:t>
            </a:r>
            <a:r>
              <a:rPr lang="en-IN" sz="2000" dirty="0"/>
              <a:t>		- recognize the is but isn’t is not recognized</a:t>
            </a:r>
          </a:p>
        </p:txBody>
      </p:sp>
    </p:spTree>
    <p:extLst>
      <p:ext uri="{BB962C8B-B14F-4D97-AF65-F5344CB8AC3E}">
        <p14:creationId xmlns:p14="http://schemas.microsoft.com/office/powerpoint/2010/main" val="33015046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4CE68-B09D-B7F6-B2B9-475E29D8ED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BA1076-96D4-2F46-271E-9B61B6817CA8}"/>
              </a:ext>
            </a:extLst>
          </p:cNvPr>
          <p:cNvSpPr txBox="1"/>
          <p:nvPr/>
        </p:nvSpPr>
        <p:spPr>
          <a:xfrm>
            <a:off x="528918" y="421341"/>
            <a:ext cx="11143129" cy="6001643"/>
          </a:xfrm>
          <a:prstGeom prst="rect">
            <a:avLst/>
          </a:prstGeom>
          <a:noFill/>
        </p:spPr>
        <p:txBody>
          <a:bodyPr wrap="square" rtlCol="0">
            <a:spAutoFit/>
          </a:bodyPr>
          <a:lstStyle/>
          <a:p>
            <a:r>
              <a:rPr lang="en-IN" sz="2400" b="1" dirty="0"/>
              <a:t>12.2 Anchors</a:t>
            </a:r>
          </a:p>
          <a:p>
            <a:endParaRPr lang="en-US" sz="2000" dirty="0"/>
          </a:p>
          <a:p>
            <a:pPr marL="342900" indent="-342900" algn="just">
              <a:buFont typeface="Arial" panose="020B0604020202020204" pitchFamily="34" charset="0"/>
              <a:buChar char="•"/>
            </a:pPr>
            <a:r>
              <a:rPr lang="en-US" sz="2000" dirty="0"/>
              <a:t>It is useful to be able to specify that a pattern must match at a particular position in a string i.e. </a:t>
            </a:r>
            <a:r>
              <a:rPr lang="en-US" sz="2000" dirty="0">
                <a:solidFill>
                  <a:srgbClr val="FF0000"/>
                </a:solidFill>
              </a:rPr>
              <a:t>first or last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pattern can be specified to match only at the beginning of the string by preceding it with a circumflex (^) anchor.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following pattern matches </a:t>
            </a:r>
            <a:r>
              <a:rPr lang="en-US" sz="2000" i="1" dirty="0">
                <a:solidFill>
                  <a:srgbClr val="FF0000"/>
                </a:solidFill>
              </a:rPr>
              <a:t>"pearls are pretty" </a:t>
            </a:r>
            <a:r>
              <a:rPr lang="en-US" sz="2000" dirty="0"/>
              <a:t>but does not match </a:t>
            </a:r>
            <a:r>
              <a:rPr lang="en-US" sz="2000" i="1" dirty="0">
                <a:solidFill>
                  <a:srgbClr val="FF0000"/>
                </a:solidFill>
              </a:rPr>
              <a:t>"My pearls are pretty“</a:t>
            </a:r>
          </a:p>
          <a:p>
            <a:endParaRPr lang="en-US" sz="2000" dirty="0"/>
          </a:p>
          <a:p>
            <a:r>
              <a:rPr lang="en-US" sz="2000" dirty="0"/>
              <a:t>	</a:t>
            </a:r>
            <a:r>
              <a:rPr lang="en-IN" sz="2000" i="1" dirty="0"/>
              <a:t>/^pearl/</a:t>
            </a:r>
            <a:endParaRPr lang="en-US" sz="2000" i="1" dirty="0"/>
          </a:p>
          <a:p>
            <a:pPr marL="342900" indent="-342900" algn="just">
              <a:buFont typeface="Arial" panose="020B0604020202020204" pitchFamily="34" charset="0"/>
              <a:buChar char="•"/>
            </a:pPr>
            <a:r>
              <a:rPr lang="en-US" sz="2000" dirty="0"/>
              <a:t>A pattern can be specified to match at the end of a string only by following the pattern with a dollar sign anchor.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following pattern matches </a:t>
            </a:r>
            <a:r>
              <a:rPr lang="en-US" sz="2000" dirty="0">
                <a:solidFill>
                  <a:srgbClr val="FF0000"/>
                </a:solidFill>
              </a:rPr>
              <a:t>"I like gold" </a:t>
            </a:r>
            <a:r>
              <a:rPr lang="en-US" sz="2000" dirty="0"/>
              <a:t>but does not match </a:t>
            </a:r>
            <a:r>
              <a:rPr lang="en-US" sz="2000" dirty="0">
                <a:solidFill>
                  <a:srgbClr val="FF0000"/>
                </a:solidFill>
              </a:rPr>
              <a:t>"golden":</a:t>
            </a:r>
          </a:p>
          <a:p>
            <a:pPr algn="just"/>
            <a:endParaRPr lang="en-US" sz="2000" dirty="0"/>
          </a:p>
          <a:p>
            <a:pPr lvl="2" algn="just"/>
            <a:r>
              <a:rPr lang="en-IN" sz="2000" i="1" dirty="0"/>
              <a:t>/gold$/</a:t>
            </a:r>
          </a:p>
          <a:p>
            <a:endParaRPr lang="en-IN" sz="2000" dirty="0"/>
          </a:p>
        </p:txBody>
      </p:sp>
    </p:spTree>
    <p:extLst>
      <p:ext uri="{BB962C8B-B14F-4D97-AF65-F5344CB8AC3E}">
        <p14:creationId xmlns:p14="http://schemas.microsoft.com/office/powerpoint/2010/main" val="4670525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B0596-C747-1180-7910-81D6E397FB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258028-3DDB-D60C-D0B0-68AEA0D48C6F}"/>
              </a:ext>
            </a:extLst>
          </p:cNvPr>
          <p:cNvSpPr txBox="1"/>
          <p:nvPr/>
        </p:nvSpPr>
        <p:spPr>
          <a:xfrm>
            <a:off x="524435" y="259976"/>
            <a:ext cx="11143129" cy="6001643"/>
          </a:xfrm>
          <a:prstGeom prst="rect">
            <a:avLst/>
          </a:prstGeom>
          <a:noFill/>
        </p:spPr>
        <p:txBody>
          <a:bodyPr wrap="square" rtlCol="0">
            <a:spAutoFit/>
          </a:bodyPr>
          <a:lstStyle/>
          <a:p>
            <a:r>
              <a:rPr lang="en-IN" sz="2400" b="1" dirty="0"/>
              <a:t>12.3 Pattern Modifiers</a:t>
            </a:r>
            <a:endParaRPr lang="en-US" sz="2400" b="1" dirty="0"/>
          </a:p>
          <a:p>
            <a:endParaRPr lang="en-US" sz="2000" dirty="0"/>
          </a:p>
          <a:p>
            <a:pPr marL="342900" indent="-342900" algn="just">
              <a:buFont typeface="Arial" panose="020B0604020202020204" pitchFamily="34" charset="0"/>
              <a:buChar char="•"/>
            </a:pPr>
            <a:r>
              <a:rPr lang="en-US" sz="2000" dirty="0"/>
              <a:t>Modifiers can be attached to patterns to change how they are used, thereby increasing their flexibility. The modifiers are specified as letters just after the right delimiter of the pattern.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err="1">
                <a:solidFill>
                  <a:srgbClr val="FF0000"/>
                </a:solidFill>
              </a:rPr>
              <a:t>i</a:t>
            </a:r>
            <a:r>
              <a:rPr lang="en-US" sz="2000" dirty="0"/>
              <a:t> modifier makes the letters in the pattern match either uppercase or lowercase letters in the string.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For example, the pattern </a:t>
            </a:r>
            <a:r>
              <a:rPr lang="en-US" sz="2000" dirty="0">
                <a:solidFill>
                  <a:srgbClr val="FF0000"/>
                </a:solidFill>
              </a:rPr>
              <a:t>/Apple/</a:t>
            </a:r>
            <a:r>
              <a:rPr lang="en-US" sz="2000" dirty="0" err="1">
                <a:solidFill>
                  <a:srgbClr val="FF0000"/>
                </a:solidFill>
              </a:rPr>
              <a:t>i</a:t>
            </a:r>
            <a:r>
              <a:rPr lang="en-US" sz="2000" dirty="0">
                <a:solidFill>
                  <a:srgbClr val="FF0000"/>
                </a:solidFill>
              </a:rPr>
              <a:t> </a:t>
            </a:r>
            <a:r>
              <a:rPr lang="en-US" sz="2000" dirty="0"/>
              <a:t>matches ‘APPLE’, ‘apple’, ‘</a:t>
            </a:r>
            <a:r>
              <a:rPr lang="en-US" sz="2000" dirty="0" err="1"/>
              <a:t>APPle</a:t>
            </a:r>
            <a:r>
              <a:rPr lang="en-US" sz="2000" dirty="0"/>
              <a:t>’, and any other combination of uppercase and lowercase spellings of the word “apple.”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x</a:t>
            </a:r>
            <a:r>
              <a:rPr lang="en-US" sz="2000" dirty="0"/>
              <a:t> modifier allows white space to appear in the pattern.</a:t>
            </a:r>
          </a:p>
          <a:p>
            <a:endParaRPr lang="en-US" sz="2000" dirty="0"/>
          </a:p>
          <a:p>
            <a:pPr lvl="2"/>
            <a:r>
              <a:rPr lang="en-US" sz="2000" dirty="0"/>
              <a:t> </a:t>
            </a:r>
            <a:r>
              <a:rPr lang="en-US" sz="2000" dirty="0">
                <a:latin typeface="Microsoft Yi Baiti" panose="03000500000000000000" pitchFamily="66" charset="0"/>
                <a:ea typeface="Microsoft Yi Baiti" panose="03000500000000000000" pitchFamily="66" charset="0"/>
              </a:rPr>
              <a:t>/\d+          # The street number</a:t>
            </a:r>
          </a:p>
          <a:p>
            <a:pPr lvl="2"/>
            <a:r>
              <a:rPr lang="en-US" sz="2000" dirty="0">
                <a:latin typeface="Microsoft Yi Baiti" panose="03000500000000000000" pitchFamily="66" charset="0"/>
                <a:ea typeface="Microsoft Yi Baiti" panose="03000500000000000000" pitchFamily="66" charset="0"/>
              </a:rPr>
              <a:t> \s            # The space before the street name</a:t>
            </a:r>
          </a:p>
          <a:p>
            <a:pPr lvl="2"/>
            <a:r>
              <a:rPr lang="en-US" sz="2000" dirty="0">
                <a:latin typeface="Microsoft Yi Baiti" panose="03000500000000000000" pitchFamily="66" charset="0"/>
                <a:ea typeface="Microsoft Yi Baiti" panose="03000500000000000000" pitchFamily="66" charset="0"/>
              </a:rPr>
              <a:t> [A-Z][a-z]+   # The street name</a:t>
            </a:r>
          </a:p>
          <a:p>
            <a:pPr lvl="2"/>
            <a:r>
              <a:rPr lang="en-US" sz="2000" dirty="0">
                <a:latin typeface="Microsoft Yi Baiti" panose="03000500000000000000" pitchFamily="66" charset="0"/>
                <a:ea typeface="Microsoft Yi Baiti" panose="03000500000000000000" pitchFamily="66" charset="0"/>
              </a:rPr>
              <a:t> /x</a:t>
            </a:r>
          </a:p>
          <a:p>
            <a:r>
              <a:rPr lang="en-IN" sz="2000" dirty="0"/>
              <a:t>is equivalent to </a:t>
            </a:r>
          </a:p>
          <a:p>
            <a:pPr lvl="2"/>
            <a:r>
              <a:rPr lang="en-IN" sz="2000" i="1" dirty="0">
                <a:solidFill>
                  <a:srgbClr val="FF0000"/>
                </a:solidFill>
              </a:rPr>
              <a:t>/\d+\s[A-Z][a-z]+/</a:t>
            </a:r>
            <a:endParaRPr lang="en-IN" sz="2000" i="1" dirty="0">
              <a:solidFill>
                <a:srgbClr val="FF0000"/>
              </a:solidFill>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21390232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54E5-F5C5-72B9-8113-D1D37BCF1F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F97D35-F69D-4AEE-9D54-9467DB6BB530}"/>
              </a:ext>
            </a:extLst>
          </p:cNvPr>
          <p:cNvSpPr txBox="1"/>
          <p:nvPr/>
        </p:nvSpPr>
        <p:spPr>
          <a:xfrm>
            <a:off x="528918" y="421341"/>
            <a:ext cx="11143129" cy="5693866"/>
          </a:xfrm>
          <a:prstGeom prst="rect">
            <a:avLst/>
          </a:prstGeom>
          <a:noFill/>
        </p:spPr>
        <p:txBody>
          <a:bodyPr wrap="square" rtlCol="0">
            <a:spAutoFit/>
          </a:bodyPr>
          <a:lstStyle/>
          <a:p>
            <a:r>
              <a:rPr lang="en-US" sz="2400" dirty="0"/>
              <a:t>12.4 Other Pattern-Matching Methods of </a:t>
            </a:r>
            <a:r>
              <a:rPr lang="en-US" sz="2400" i="1" dirty="0">
                <a:latin typeface="+mj-lt"/>
              </a:rPr>
              <a:t>String</a:t>
            </a:r>
          </a:p>
          <a:p>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replace</a:t>
            </a:r>
            <a:r>
              <a:rPr lang="en-US" sz="2000" dirty="0"/>
              <a:t> method is used to replace substrings of the </a:t>
            </a:r>
            <a:r>
              <a:rPr lang="en-US" sz="2000" dirty="0">
                <a:solidFill>
                  <a:srgbClr val="FF0000"/>
                </a:solidFill>
              </a:rPr>
              <a:t>String</a:t>
            </a:r>
            <a:r>
              <a:rPr lang="en-US" sz="2000" dirty="0"/>
              <a:t> object that match the given pattern.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replace</a:t>
            </a:r>
            <a:r>
              <a:rPr lang="en-US" sz="2000" dirty="0"/>
              <a:t> method takes two parameters: the </a:t>
            </a:r>
            <a:r>
              <a:rPr lang="en-US" sz="2000" dirty="0">
                <a:solidFill>
                  <a:srgbClr val="FF0000"/>
                </a:solidFill>
              </a:rPr>
              <a:t>pattern</a:t>
            </a:r>
            <a:r>
              <a:rPr lang="en-US" sz="2000" dirty="0"/>
              <a:t> and the </a:t>
            </a:r>
            <a:r>
              <a:rPr lang="en-US" sz="2000" dirty="0">
                <a:solidFill>
                  <a:srgbClr val="FF0000"/>
                </a:solidFill>
              </a:rPr>
              <a:t>replacement string</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g</a:t>
            </a:r>
            <a:r>
              <a:rPr lang="en-US" sz="2000" dirty="0"/>
              <a:t> modifier can be attached to the pattern if the replacement is to be global in the string.</a:t>
            </a:r>
          </a:p>
          <a:p>
            <a:endParaRPr lang="en-US" sz="2000" dirty="0"/>
          </a:p>
          <a:p>
            <a:pPr lvl="2"/>
            <a:r>
              <a:rPr lang="en-IN" sz="2000" i="1" dirty="0">
                <a:solidFill>
                  <a:srgbClr val="7030A0"/>
                </a:solidFill>
                <a:latin typeface="Century" panose="02040604050505020304" pitchFamily="18" charset="0"/>
                <a:ea typeface="Microsoft Yi Baiti" panose="03000500000000000000" pitchFamily="66" charset="0"/>
              </a:rPr>
              <a:t>var str = "Fred, Freddie, and Frederica were siblings";</a:t>
            </a:r>
          </a:p>
          <a:p>
            <a:pPr lvl="2"/>
            <a:r>
              <a:rPr lang="en-IN" sz="2000" i="1" dirty="0" err="1">
                <a:solidFill>
                  <a:srgbClr val="7030A0"/>
                </a:solidFill>
                <a:latin typeface="Century" panose="02040604050505020304" pitchFamily="18" charset="0"/>
                <a:ea typeface="Microsoft Yi Baiti" panose="03000500000000000000" pitchFamily="66" charset="0"/>
              </a:rPr>
              <a:t>str.replace</a:t>
            </a:r>
            <a:r>
              <a:rPr lang="en-IN" sz="2000" i="1" dirty="0">
                <a:solidFill>
                  <a:srgbClr val="7030A0"/>
                </a:solidFill>
                <a:latin typeface="Century" panose="02040604050505020304" pitchFamily="18" charset="0"/>
                <a:ea typeface="Microsoft Yi Baiti" panose="03000500000000000000" pitchFamily="66" charset="0"/>
              </a:rPr>
              <a:t>(/Fre/g, "Boy");</a:t>
            </a:r>
          </a:p>
          <a:p>
            <a:pPr marL="342900" indent="-342900">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a:t>
            </a:r>
            <a:r>
              <a:rPr lang="en-US" sz="2000" dirty="0">
                <a:solidFill>
                  <a:srgbClr val="FF0000"/>
                </a:solidFill>
              </a:rPr>
              <a:t>match</a:t>
            </a:r>
            <a:r>
              <a:rPr lang="en-US" sz="2000" dirty="0"/>
              <a:t> method is the most general of the </a:t>
            </a:r>
            <a:r>
              <a:rPr lang="en-US" sz="2000" dirty="0">
                <a:solidFill>
                  <a:srgbClr val="FF0000"/>
                </a:solidFill>
              </a:rPr>
              <a:t>String</a:t>
            </a:r>
            <a:r>
              <a:rPr lang="en-US" sz="2000" dirty="0"/>
              <a:t> pattern-matching methods. </a:t>
            </a:r>
          </a:p>
          <a:p>
            <a:pPr marL="342900" indent="-342900" algn="just">
              <a:buFont typeface="Arial" panose="020B0604020202020204" pitchFamily="34" charset="0"/>
              <a:buChar char="•"/>
            </a:pPr>
            <a:r>
              <a:rPr lang="en-US" sz="2000" dirty="0"/>
              <a:t>The match method takes a single parameter: a </a:t>
            </a:r>
            <a:r>
              <a:rPr lang="en-US" sz="2000" dirty="0">
                <a:solidFill>
                  <a:srgbClr val="FF0000"/>
                </a:solidFill>
              </a:rPr>
              <a:t>pattern</a:t>
            </a:r>
            <a:r>
              <a:rPr lang="en-US" sz="2000" dirty="0"/>
              <a:t>. It returns an array of the results of the pattern-matching operation. </a:t>
            </a:r>
          </a:p>
          <a:p>
            <a:pPr marL="342900" indent="-342900" algn="just">
              <a:buFont typeface="Arial" panose="020B0604020202020204" pitchFamily="34" charset="0"/>
              <a:buChar char="•"/>
            </a:pPr>
            <a:endParaRPr lang="en-US" sz="2000" dirty="0"/>
          </a:p>
          <a:p>
            <a:pPr lvl="2" algn="just"/>
            <a:r>
              <a:rPr lang="en-US" sz="2000" i="1" dirty="0">
                <a:solidFill>
                  <a:srgbClr val="7030A0"/>
                </a:solidFill>
                <a:latin typeface="Century" panose="02040604050505020304" pitchFamily="18" charset="0"/>
              </a:rPr>
              <a:t>var str = "Having 4 apples is better than having 3 oranges";</a:t>
            </a:r>
          </a:p>
          <a:p>
            <a:pPr lvl="2" algn="just"/>
            <a:r>
              <a:rPr lang="en-US" sz="2000" i="1" dirty="0">
                <a:solidFill>
                  <a:srgbClr val="7030A0"/>
                </a:solidFill>
                <a:latin typeface="Century" panose="02040604050505020304" pitchFamily="18" charset="0"/>
              </a:rPr>
              <a:t>var matches = </a:t>
            </a:r>
            <a:r>
              <a:rPr lang="en-US" sz="2000" i="1" dirty="0" err="1">
                <a:solidFill>
                  <a:srgbClr val="7030A0"/>
                </a:solidFill>
                <a:latin typeface="Century" panose="02040604050505020304" pitchFamily="18" charset="0"/>
              </a:rPr>
              <a:t>str.match</a:t>
            </a:r>
            <a:r>
              <a:rPr lang="en-US" sz="2000" i="1" dirty="0">
                <a:solidFill>
                  <a:srgbClr val="7030A0"/>
                </a:solidFill>
                <a:latin typeface="Century" panose="02040604050505020304" pitchFamily="18" charset="0"/>
              </a:rPr>
              <a:t>(/\d/g);</a:t>
            </a:r>
          </a:p>
          <a:p>
            <a:pPr lvl="2" algn="just"/>
            <a:r>
              <a:rPr lang="en-US" sz="2000" dirty="0"/>
              <a:t>In this example, </a:t>
            </a:r>
            <a:r>
              <a:rPr lang="en-US" sz="2000" dirty="0">
                <a:solidFill>
                  <a:srgbClr val="FF0000"/>
                </a:solidFill>
              </a:rPr>
              <a:t>matches</a:t>
            </a:r>
            <a:r>
              <a:rPr lang="en-US" sz="2000" dirty="0"/>
              <a:t> is set to [4, 3].</a:t>
            </a:r>
            <a:endParaRPr lang="en-IN" sz="2000" dirty="0"/>
          </a:p>
        </p:txBody>
      </p:sp>
    </p:spTree>
    <p:extLst>
      <p:ext uri="{BB962C8B-B14F-4D97-AF65-F5344CB8AC3E}">
        <p14:creationId xmlns:p14="http://schemas.microsoft.com/office/powerpoint/2010/main" val="4822967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A219-5373-DACC-4465-8C5EC2CD0B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086327-EA74-7547-262C-01F4417FFBBC}"/>
              </a:ext>
            </a:extLst>
          </p:cNvPr>
          <p:cNvSpPr txBox="1"/>
          <p:nvPr/>
        </p:nvSpPr>
        <p:spPr>
          <a:xfrm>
            <a:off x="528918" y="421341"/>
            <a:ext cx="11143129" cy="3231654"/>
          </a:xfrm>
          <a:prstGeom prst="rect">
            <a:avLst/>
          </a:prstGeom>
          <a:noFill/>
        </p:spPr>
        <p:txBody>
          <a:bodyPr wrap="square" rtlCol="0">
            <a:spAutoFit/>
          </a:bodyPr>
          <a:lstStyle/>
          <a:p>
            <a:r>
              <a:rPr lang="en-US" sz="2400" dirty="0"/>
              <a:t>Continued…</a:t>
            </a:r>
          </a:p>
          <a:p>
            <a:endParaRPr lang="en-US" sz="2000" dirty="0"/>
          </a:p>
          <a:p>
            <a:r>
              <a:rPr lang="en-US" sz="2000" dirty="0"/>
              <a:t>The </a:t>
            </a:r>
            <a:r>
              <a:rPr lang="en-US" sz="2000" dirty="0">
                <a:solidFill>
                  <a:srgbClr val="FF0000"/>
                </a:solidFill>
              </a:rPr>
              <a:t>split</a:t>
            </a:r>
            <a:r>
              <a:rPr lang="en-US" sz="2000" dirty="0"/>
              <a:t> method of </a:t>
            </a:r>
            <a:r>
              <a:rPr lang="en-US" sz="2000" dirty="0">
                <a:solidFill>
                  <a:srgbClr val="FF0000"/>
                </a:solidFill>
              </a:rPr>
              <a:t>String</a:t>
            </a:r>
            <a:r>
              <a:rPr lang="en-US" sz="2000" dirty="0"/>
              <a:t> splits its object string into substrings on the basis of a given string or pattern. The substrings are returned in an array. For example, consider the following code:</a:t>
            </a:r>
            <a:endParaRPr lang="en-IN" sz="2000" dirty="0"/>
          </a:p>
          <a:p>
            <a:endParaRPr lang="en-IN" sz="2000" dirty="0"/>
          </a:p>
          <a:p>
            <a:endParaRPr lang="en-IN" sz="2000" dirty="0"/>
          </a:p>
          <a:p>
            <a:pPr lvl="2"/>
            <a:r>
              <a:rPr lang="en-US" sz="2000" i="1" dirty="0">
                <a:solidFill>
                  <a:schemeClr val="accent2">
                    <a:lumMod val="75000"/>
                  </a:schemeClr>
                </a:solidFill>
              </a:rPr>
              <a:t>var str = "</a:t>
            </a:r>
            <a:r>
              <a:rPr lang="en-US" sz="2000" i="1" dirty="0" err="1">
                <a:solidFill>
                  <a:schemeClr val="accent2">
                    <a:lumMod val="75000"/>
                  </a:schemeClr>
                </a:solidFill>
              </a:rPr>
              <a:t>grapes:apples:oranges</a:t>
            </a:r>
            <a:r>
              <a:rPr lang="en-US" sz="2000" i="1" dirty="0">
                <a:solidFill>
                  <a:schemeClr val="accent2">
                    <a:lumMod val="75000"/>
                  </a:schemeClr>
                </a:solidFill>
              </a:rPr>
              <a:t>";</a:t>
            </a:r>
          </a:p>
          <a:p>
            <a:pPr lvl="2"/>
            <a:r>
              <a:rPr lang="en-US" sz="2000" i="1" dirty="0">
                <a:solidFill>
                  <a:schemeClr val="accent2">
                    <a:lumMod val="75000"/>
                  </a:schemeClr>
                </a:solidFill>
              </a:rPr>
              <a:t>var fruit = </a:t>
            </a:r>
            <a:r>
              <a:rPr lang="en-US" sz="2000" i="1" dirty="0" err="1">
                <a:solidFill>
                  <a:schemeClr val="accent2">
                    <a:lumMod val="75000"/>
                  </a:schemeClr>
                </a:solidFill>
              </a:rPr>
              <a:t>str.split</a:t>
            </a:r>
            <a:r>
              <a:rPr lang="en-US" sz="2000" i="1" dirty="0">
                <a:solidFill>
                  <a:schemeClr val="accent2">
                    <a:lumMod val="75000"/>
                  </a:schemeClr>
                </a:solidFill>
              </a:rPr>
              <a:t>(":");</a:t>
            </a:r>
          </a:p>
          <a:p>
            <a:endParaRPr lang="en-US" sz="2000" dirty="0"/>
          </a:p>
          <a:p>
            <a:r>
              <a:rPr lang="en-US" sz="2000" dirty="0"/>
              <a:t>In this example, fruit is set to [grapes, apples, oranges].</a:t>
            </a:r>
            <a:endParaRPr lang="en-IN" sz="2000" dirty="0"/>
          </a:p>
        </p:txBody>
      </p:sp>
    </p:spTree>
    <p:extLst>
      <p:ext uri="{BB962C8B-B14F-4D97-AF65-F5344CB8AC3E}">
        <p14:creationId xmlns:p14="http://schemas.microsoft.com/office/powerpoint/2010/main" val="19978718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53C8B-4DF4-0BCD-87BD-A7635988CE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BC48D6-71FF-BA8D-26D0-FC17C4EEFEFE}"/>
              </a:ext>
            </a:extLst>
          </p:cNvPr>
          <p:cNvSpPr txBox="1"/>
          <p:nvPr/>
        </p:nvSpPr>
        <p:spPr>
          <a:xfrm>
            <a:off x="528918" y="421341"/>
            <a:ext cx="11143129" cy="6155531"/>
          </a:xfrm>
          <a:prstGeom prst="rect">
            <a:avLst/>
          </a:prstGeom>
          <a:noFill/>
        </p:spPr>
        <p:txBody>
          <a:bodyPr wrap="square" rtlCol="0">
            <a:spAutoFit/>
          </a:bodyPr>
          <a:lstStyle/>
          <a:p>
            <a:r>
              <a:rPr lang="en-US" sz="2400" dirty="0"/>
              <a:t>Example:</a:t>
            </a:r>
            <a:endParaRPr lang="en-US" sz="2000" dirty="0"/>
          </a:p>
          <a:p>
            <a:r>
              <a:rPr lang="en-IN" sz="1400" b="1" dirty="0"/>
              <a:t>function </a:t>
            </a:r>
            <a:r>
              <a:rPr lang="en-IN" sz="1400" b="1" dirty="0" err="1"/>
              <a:t>tst_phone_num</a:t>
            </a:r>
            <a:r>
              <a:rPr lang="en-IN" sz="1400" b="1" dirty="0"/>
              <a:t>(</a:t>
            </a:r>
            <a:r>
              <a:rPr lang="en-IN" sz="1400" b="1" dirty="0" err="1"/>
              <a:t>num</a:t>
            </a:r>
            <a:r>
              <a:rPr lang="en-IN" sz="1400" b="1" dirty="0"/>
              <a:t>) {</a:t>
            </a:r>
          </a:p>
          <a:p>
            <a:r>
              <a:rPr lang="en-IN" sz="1400" b="1" dirty="0"/>
              <a:t>// Use a simple pattern to check the number of digits and the dash</a:t>
            </a:r>
          </a:p>
          <a:p>
            <a:r>
              <a:rPr lang="en-IN" sz="1400" b="1" dirty="0"/>
              <a:t>	var ok = </a:t>
            </a:r>
            <a:r>
              <a:rPr lang="en-IN" sz="1400" b="1" dirty="0" err="1"/>
              <a:t>num.search</a:t>
            </a:r>
            <a:r>
              <a:rPr lang="en-IN" sz="1400" b="1" dirty="0"/>
              <a:t>(/^\d{3}-\d{4}$/);</a:t>
            </a:r>
          </a:p>
          <a:p>
            <a:r>
              <a:rPr lang="en-IN" sz="1400" b="1" dirty="0"/>
              <a:t>	if (ok == 0) </a:t>
            </a:r>
          </a:p>
          <a:p>
            <a:r>
              <a:rPr lang="en-IN" sz="1400" b="1" dirty="0"/>
              <a:t>		return true;</a:t>
            </a:r>
          </a:p>
          <a:p>
            <a:r>
              <a:rPr lang="en-IN" sz="1400" b="1" dirty="0"/>
              <a:t>	else </a:t>
            </a:r>
          </a:p>
          <a:p>
            <a:r>
              <a:rPr lang="en-IN" sz="1400" b="1" dirty="0"/>
              <a:t>		return false;</a:t>
            </a:r>
          </a:p>
          <a:p>
            <a:r>
              <a:rPr lang="en-IN" sz="1400" b="1" dirty="0"/>
              <a:t>}  // end of function </a:t>
            </a:r>
            <a:r>
              <a:rPr lang="en-IN" sz="1400" b="1" dirty="0" err="1"/>
              <a:t>tst_phone_num</a:t>
            </a:r>
            <a:endParaRPr lang="en-IN" sz="1400" b="1" dirty="0"/>
          </a:p>
          <a:p>
            <a:endParaRPr lang="en-IN" sz="1400" dirty="0"/>
          </a:p>
          <a:p>
            <a:r>
              <a:rPr lang="en-IN" sz="1400" dirty="0"/>
              <a:t>// A script to test </a:t>
            </a:r>
            <a:r>
              <a:rPr lang="en-IN" sz="1400" dirty="0" err="1"/>
              <a:t>tst_phone_num</a:t>
            </a:r>
            <a:r>
              <a:rPr lang="en-IN" sz="1400" dirty="0"/>
              <a:t> </a:t>
            </a:r>
          </a:p>
          <a:p>
            <a:r>
              <a:rPr lang="en-IN" sz="1400" b="1" dirty="0"/>
              <a:t>var </a:t>
            </a:r>
            <a:r>
              <a:rPr lang="en-IN" sz="1400" b="1" dirty="0" err="1"/>
              <a:t>tst</a:t>
            </a:r>
            <a:r>
              <a:rPr lang="en-IN" sz="1400" b="1" dirty="0"/>
              <a:t> = </a:t>
            </a:r>
            <a:r>
              <a:rPr lang="en-IN" sz="1400" b="1" dirty="0" err="1"/>
              <a:t>tst_phone_num</a:t>
            </a:r>
            <a:r>
              <a:rPr lang="en-IN" sz="1400" b="1" dirty="0"/>
              <a:t>("444-5432");</a:t>
            </a:r>
          </a:p>
          <a:p>
            <a:r>
              <a:rPr lang="en-IN" sz="1400" dirty="0"/>
              <a:t>	if (</a:t>
            </a:r>
            <a:r>
              <a:rPr lang="en-IN" sz="1400" dirty="0" err="1"/>
              <a:t>tst</a:t>
            </a:r>
            <a:r>
              <a:rPr lang="en-IN" sz="1400" dirty="0"/>
              <a:t>) </a:t>
            </a:r>
          </a:p>
          <a:p>
            <a:r>
              <a:rPr lang="en-IN" sz="1400" dirty="0"/>
              <a:t>		</a:t>
            </a:r>
            <a:r>
              <a:rPr lang="en-IN" sz="1400" dirty="0" err="1"/>
              <a:t>document.write</a:t>
            </a:r>
            <a:r>
              <a:rPr lang="en-IN" sz="1400" dirty="0"/>
              <a:t>("444-5432 is a valid phone number &lt;</a:t>
            </a:r>
            <a:r>
              <a:rPr lang="en-IN" sz="1400" dirty="0" err="1"/>
              <a:t>br</a:t>
            </a:r>
            <a:r>
              <a:rPr lang="en-IN" sz="1400" dirty="0"/>
              <a:t> /&gt;");</a:t>
            </a:r>
          </a:p>
          <a:p>
            <a:r>
              <a:rPr lang="en-IN" sz="1400" dirty="0"/>
              <a:t>	else </a:t>
            </a:r>
          </a:p>
          <a:p>
            <a:r>
              <a:rPr lang="en-IN" sz="1400" dirty="0"/>
              <a:t>		</a:t>
            </a:r>
            <a:r>
              <a:rPr lang="en-IN" sz="1400" dirty="0" err="1"/>
              <a:t>document.write</a:t>
            </a:r>
            <a:r>
              <a:rPr lang="en-IN" sz="1400" dirty="0"/>
              <a:t>("Error in </a:t>
            </a:r>
            <a:r>
              <a:rPr lang="en-IN" sz="1400" dirty="0" err="1"/>
              <a:t>tst_phone_num</a:t>
            </a:r>
            <a:r>
              <a:rPr lang="en-IN" sz="1400" dirty="0"/>
              <a:t> &lt;</a:t>
            </a:r>
            <a:r>
              <a:rPr lang="en-IN" sz="1400" dirty="0" err="1"/>
              <a:t>br</a:t>
            </a:r>
            <a:r>
              <a:rPr lang="en-IN" sz="1400" dirty="0"/>
              <a:t> /&gt;");</a:t>
            </a:r>
          </a:p>
          <a:p>
            <a:r>
              <a:rPr lang="en-IN" sz="1400" b="1" dirty="0" err="1"/>
              <a:t>tst</a:t>
            </a:r>
            <a:r>
              <a:rPr lang="en-IN" sz="1400" b="1" dirty="0"/>
              <a:t> = </a:t>
            </a:r>
            <a:r>
              <a:rPr lang="en-IN" sz="1400" b="1" dirty="0" err="1"/>
              <a:t>tst_phone_num</a:t>
            </a:r>
            <a:r>
              <a:rPr lang="en-IN" sz="1400" b="1" dirty="0"/>
              <a:t>("444-r432");</a:t>
            </a:r>
          </a:p>
          <a:p>
            <a:r>
              <a:rPr lang="en-IN" sz="1400" dirty="0"/>
              <a:t>	if (</a:t>
            </a:r>
            <a:r>
              <a:rPr lang="en-IN" sz="1400" dirty="0" err="1"/>
              <a:t>tst</a:t>
            </a:r>
            <a:r>
              <a:rPr lang="en-IN" sz="1400" dirty="0"/>
              <a:t>) </a:t>
            </a:r>
          </a:p>
          <a:p>
            <a:r>
              <a:rPr lang="en-IN" sz="1400" dirty="0"/>
              <a:t>		</a:t>
            </a:r>
            <a:r>
              <a:rPr lang="en-IN" sz="1400" dirty="0" err="1"/>
              <a:t>document.write</a:t>
            </a:r>
            <a:r>
              <a:rPr lang="en-IN" sz="1400" dirty="0"/>
              <a:t>("Program error &lt;</a:t>
            </a:r>
            <a:r>
              <a:rPr lang="en-IN" sz="1400" dirty="0" err="1"/>
              <a:t>br</a:t>
            </a:r>
            <a:r>
              <a:rPr lang="en-IN" sz="1400" dirty="0"/>
              <a:t> /&gt;");</a:t>
            </a:r>
          </a:p>
          <a:p>
            <a:r>
              <a:rPr lang="en-IN" sz="1400" dirty="0"/>
              <a:t>	else</a:t>
            </a:r>
          </a:p>
          <a:p>
            <a:r>
              <a:rPr lang="en-IN" sz="1400" dirty="0"/>
              <a:t>		</a:t>
            </a:r>
            <a:r>
              <a:rPr lang="en-IN" sz="1400" dirty="0" err="1"/>
              <a:t>document.write</a:t>
            </a:r>
            <a:r>
              <a:rPr lang="en-IN" sz="1400" dirty="0"/>
              <a:t>( "444-r432 is not a valid phone number &lt;</a:t>
            </a:r>
            <a:r>
              <a:rPr lang="en-IN" sz="1400" dirty="0" err="1"/>
              <a:t>br</a:t>
            </a:r>
            <a:r>
              <a:rPr lang="en-IN" sz="1400" dirty="0"/>
              <a:t> /&gt;");</a:t>
            </a:r>
          </a:p>
          <a:p>
            <a:r>
              <a:rPr lang="en-IN" sz="1400" b="1" dirty="0" err="1"/>
              <a:t>tst</a:t>
            </a:r>
            <a:r>
              <a:rPr lang="en-IN" sz="1400" b="1" dirty="0"/>
              <a:t> = </a:t>
            </a:r>
            <a:r>
              <a:rPr lang="en-IN" sz="1400" b="1" dirty="0" err="1"/>
              <a:t>tst_phone_num</a:t>
            </a:r>
            <a:r>
              <a:rPr lang="en-IN" sz="1400" b="1" dirty="0"/>
              <a:t>("44-1234");</a:t>
            </a:r>
          </a:p>
          <a:p>
            <a:r>
              <a:rPr lang="en-IN" sz="1400" dirty="0"/>
              <a:t>	if (</a:t>
            </a:r>
            <a:r>
              <a:rPr lang="en-IN" sz="1400" dirty="0" err="1"/>
              <a:t>tst</a:t>
            </a:r>
            <a:r>
              <a:rPr lang="en-IN" sz="1400" dirty="0"/>
              <a:t>)</a:t>
            </a:r>
          </a:p>
          <a:p>
            <a:r>
              <a:rPr lang="en-IN" sz="1400" dirty="0"/>
              <a:t>		</a:t>
            </a:r>
            <a:r>
              <a:rPr lang="en-IN" sz="1400" dirty="0" err="1"/>
              <a:t>document.write</a:t>
            </a:r>
            <a:r>
              <a:rPr lang="en-IN" sz="1400" dirty="0"/>
              <a:t>("Program error &lt;</a:t>
            </a:r>
            <a:r>
              <a:rPr lang="en-IN" sz="1400" dirty="0" err="1"/>
              <a:t>br</a:t>
            </a:r>
            <a:r>
              <a:rPr lang="en-IN" sz="1400" dirty="0"/>
              <a:t> /&gt;");</a:t>
            </a:r>
          </a:p>
          <a:p>
            <a:r>
              <a:rPr lang="en-IN" sz="1400" dirty="0"/>
              <a:t>	else</a:t>
            </a:r>
          </a:p>
          <a:p>
            <a:r>
              <a:rPr lang="en-IN" sz="1400" dirty="0"/>
              <a:t>		</a:t>
            </a:r>
            <a:r>
              <a:rPr lang="en-IN" sz="1400" dirty="0" err="1"/>
              <a:t>document.write</a:t>
            </a:r>
            <a:r>
              <a:rPr lang="en-IN" sz="1400" dirty="0"/>
              <a:t>("44-1234 is not a valid phone number &lt;</a:t>
            </a:r>
            <a:r>
              <a:rPr lang="en-IN" sz="1400" dirty="0" err="1"/>
              <a:t>br</a:t>
            </a:r>
            <a:r>
              <a:rPr lang="en-IN" sz="1400" dirty="0"/>
              <a:t> /");</a:t>
            </a:r>
          </a:p>
          <a:p>
            <a:endParaRPr lang="en-IN" sz="2000" dirty="0"/>
          </a:p>
        </p:txBody>
      </p:sp>
      <p:pic>
        <p:nvPicPr>
          <p:cNvPr id="4" name="Picture 3">
            <a:extLst>
              <a:ext uri="{FF2B5EF4-FFF2-40B4-BE49-F238E27FC236}">
                <a16:creationId xmlns:a16="http://schemas.microsoft.com/office/drawing/2014/main" id="{7818F2A4-0038-DDB4-F8BF-559BA0B150F9}"/>
              </a:ext>
            </a:extLst>
          </p:cNvPr>
          <p:cNvPicPr>
            <a:picLocks noChangeAspect="1"/>
          </p:cNvPicPr>
          <p:nvPr/>
        </p:nvPicPr>
        <p:blipFill>
          <a:blip r:embed="rId2"/>
          <a:stretch>
            <a:fillRect/>
          </a:stretch>
        </p:blipFill>
        <p:spPr>
          <a:xfrm>
            <a:off x="5003856" y="1757590"/>
            <a:ext cx="7016370" cy="886997"/>
          </a:xfrm>
          <a:prstGeom prst="rect">
            <a:avLst/>
          </a:prstGeom>
        </p:spPr>
      </p:pic>
    </p:spTree>
    <p:extLst>
      <p:ext uri="{BB962C8B-B14F-4D97-AF65-F5344CB8AC3E}">
        <p14:creationId xmlns:p14="http://schemas.microsoft.com/office/powerpoint/2010/main" val="2121052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9D4D2-DE5A-3AD3-793C-FFA7DB43AA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374147-9510-406B-EAAE-D1535DBE1A73}"/>
              </a:ext>
            </a:extLst>
          </p:cNvPr>
          <p:cNvSpPr txBox="1"/>
          <p:nvPr/>
        </p:nvSpPr>
        <p:spPr>
          <a:xfrm>
            <a:off x="528918" y="421341"/>
            <a:ext cx="11143129" cy="5755422"/>
          </a:xfrm>
          <a:prstGeom prst="rect">
            <a:avLst/>
          </a:prstGeom>
          <a:noFill/>
        </p:spPr>
        <p:txBody>
          <a:bodyPr wrap="square" rtlCol="0">
            <a:spAutoFit/>
          </a:bodyPr>
          <a:lstStyle/>
          <a:p>
            <a:r>
              <a:rPr lang="en-IN" sz="2400" dirty="0"/>
              <a:t>JavaScript and HTML Documents</a:t>
            </a:r>
            <a:r>
              <a:rPr lang="en-US" sz="2400" dirty="0"/>
              <a:t>:</a:t>
            </a:r>
          </a:p>
          <a:p>
            <a:endParaRPr lang="en-US" sz="2000" dirty="0"/>
          </a:p>
          <a:p>
            <a:pPr marL="342900" indent="-342900">
              <a:buFont typeface="Arial" panose="020B0604020202020204" pitchFamily="34" charset="0"/>
              <a:buChar char="•"/>
            </a:pPr>
            <a:r>
              <a:rPr lang="en-IN" sz="2000" dirty="0"/>
              <a:t>Client-side JavaScript </a:t>
            </a:r>
            <a:r>
              <a:rPr lang="en-US" sz="2000" dirty="0"/>
              <a:t>defines the collection of objects, methods, </a:t>
            </a:r>
            <a:r>
              <a:rPr lang="en-US" sz="2000"/>
              <a:t>and properties </a:t>
            </a:r>
            <a:r>
              <a:rPr lang="en-US" sz="2000" dirty="0"/>
              <a:t>that allow scripts to interact with HTML documents on the browser. </a:t>
            </a:r>
          </a:p>
          <a:p>
            <a:endParaRPr lang="en-US" sz="2000" dirty="0"/>
          </a:p>
          <a:p>
            <a:r>
              <a:rPr lang="en-IN" sz="2400" b="1" dirty="0"/>
              <a:t>1 The JavaScript Execution Environment</a:t>
            </a:r>
          </a:p>
          <a:p>
            <a:endParaRPr lang="en-IN" sz="2000" dirty="0"/>
          </a:p>
          <a:p>
            <a:pPr marL="342900" indent="-342900" algn="just">
              <a:buFont typeface="Arial" panose="020B0604020202020204" pitchFamily="34" charset="0"/>
              <a:buChar char="•"/>
            </a:pPr>
            <a:r>
              <a:rPr lang="en-US" sz="2000" dirty="0"/>
              <a:t>A browser displays an HTML document in a window on the screen of the client.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JavaScript Window object represents the window that displays the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All </a:t>
            </a:r>
            <a:r>
              <a:rPr lang="en-US" sz="2000" dirty="0">
                <a:solidFill>
                  <a:srgbClr val="FF0000"/>
                </a:solidFill>
              </a:rPr>
              <a:t>JavaScript variables </a:t>
            </a:r>
            <a:r>
              <a:rPr lang="en-US" sz="2000" dirty="0"/>
              <a:t>are properties of some </a:t>
            </a:r>
            <a:r>
              <a:rPr lang="en-US" sz="2000" dirty="0">
                <a:solidFill>
                  <a:srgbClr val="FF0000"/>
                </a:solidFill>
              </a:rPr>
              <a:t>object</a:t>
            </a:r>
            <a:r>
              <a:rPr lang="en-US" sz="2000" dirty="0"/>
              <a: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properties</a:t>
            </a:r>
            <a:r>
              <a:rPr lang="en-US" sz="2000" dirty="0"/>
              <a:t> of the </a:t>
            </a:r>
            <a:r>
              <a:rPr lang="en-US" sz="2000" dirty="0">
                <a:solidFill>
                  <a:srgbClr val="FF0000"/>
                </a:solidFill>
              </a:rPr>
              <a:t>Window object </a:t>
            </a:r>
            <a:r>
              <a:rPr lang="en-US" sz="2000" dirty="0"/>
              <a:t>are visible to all </a:t>
            </a:r>
            <a:r>
              <a:rPr lang="en-US" sz="2000" dirty="0">
                <a:solidFill>
                  <a:srgbClr val="FF0000"/>
                </a:solidFill>
              </a:rPr>
              <a:t>JavaScript scripts </a:t>
            </a:r>
            <a:r>
              <a:rPr lang="en-US" sz="2000" dirty="0"/>
              <a:t>that appear either implicitly or explicitly in the window’s HTML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When a global variable is created in a client-side script, it is created as a new property of the Window object, which provides the largest enclosing referencing environment for JavaScript scripts.</a:t>
            </a:r>
            <a:endParaRPr lang="en-IN" sz="2000" dirty="0"/>
          </a:p>
        </p:txBody>
      </p:sp>
    </p:spTree>
    <p:extLst>
      <p:ext uri="{BB962C8B-B14F-4D97-AF65-F5344CB8AC3E}">
        <p14:creationId xmlns:p14="http://schemas.microsoft.com/office/powerpoint/2010/main" val="1576256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C49AE-630F-60B7-37DE-695A880427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01340C-B082-613D-0797-02E666D8C28F}"/>
              </a:ext>
            </a:extLst>
          </p:cNvPr>
          <p:cNvSpPr txBox="1"/>
          <p:nvPr/>
        </p:nvSpPr>
        <p:spPr>
          <a:xfrm>
            <a:off x="528918" y="421341"/>
            <a:ext cx="11143129" cy="5693866"/>
          </a:xfrm>
          <a:prstGeom prst="rect">
            <a:avLst/>
          </a:prstGeom>
          <a:noFill/>
        </p:spPr>
        <p:txBody>
          <a:bodyPr wrap="square" rtlCol="0">
            <a:spAutoFit/>
          </a:bodyPr>
          <a:lstStyle/>
          <a:p>
            <a:r>
              <a:rPr lang="en-IN" sz="2400" dirty="0"/>
              <a:t>Continued…</a:t>
            </a:r>
            <a:endParaRPr lang="en-US" sz="2400" dirty="0"/>
          </a:p>
          <a:p>
            <a:endParaRPr lang="en-US" sz="2000" dirty="0"/>
          </a:p>
          <a:p>
            <a:pPr marL="342900" indent="-342900" algn="just">
              <a:buFont typeface="Arial" panose="020B0604020202020204" pitchFamily="34" charset="0"/>
              <a:buChar char="•"/>
            </a:pPr>
            <a:r>
              <a:rPr lang="en-US" sz="2000" dirty="0"/>
              <a:t>There can be more than one Window object.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JavaScript </a:t>
            </a:r>
            <a:r>
              <a:rPr lang="en-US" sz="2000" dirty="0">
                <a:solidFill>
                  <a:srgbClr val="FF0000"/>
                </a:solidFill>
              </a:rPr>
              <a:t>Document</a:t>
            </a:r>
            <a:r>
              <a:rPr lang="en-US" sz="2000" dirty="0"/>
              <a:t> object represents the displayed HTML document.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Every </a:t>
            </a:r>
            <a:r>
              <a:rPr lang="en-US" sz="2000" dirty="0">
                <a:solidFill>
                  <a:srgbClr val="FF0000"/>
                </a:solidFill>
              </a:rPr>
              <a:t>Window</a:t>
            </a:r>
            <a:r>
              <a:rPr lang="en-US" sz="2000" dirty="0"/>
              <a:t> object has a property named </a:t>
            </a:r>
            <a:r>
              <a:rPr lang="en-US" sz="2000" dirty="0">
                <a:solidFill>
                  <a:srgbClr val="FF0000"/>
                </a:solidFill>
              </a:rPr>
              <a:t>document</a:t>
            </a:r>
            <a:r>
              <a:rPr lang="en-US" sz="2000" dirty="0"/>
              <a:t>, which is a </a:t>
            </a:r>
            <a:r>
              <a:rPr lang="en-US" sz="2000" dirty="0">
                <a:solidFill>
                  <a:srgbClr val="FF0000"/>
                </a:solidFill>
              </a:rPr>
              <a:t>reference to the Document object </a:t>
            </a:r>
            <a:r>
              <a:rPr lang="en-US" sz="2000" dirty="0"/>
              <a:t>that the window displays.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Document</a:t>
            </a:r>
            <a:r>
              <a:rPr lang="en-US" sz="2000" dirty="0"/>
              <a:t> object is used more often than any other object in client-side JavaScript.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Every </a:t>
            </a:r>
            <a:r>
              <a:rPr lang="en-US" sz="2000" dirty="0">
                <a:solidFill>
                  <a:srgbClr val="FF0000"/>
                </a:solidFill>
              </a:rPr>
              <a:t>Document</a:t>
            </a:r>
            <a:r>
              <a:rPr lang="en-US" sz="2000" dirty="0"/>
              <a:t> object has a </a:t>
            </a:r>
            <a:r>
              <a:rPr lang="en-US" sz="2000" dirty="0">
                <a:solidFill>
                  <a:srgbClr val="FF0000"/>
                </a:solidFill>
              </a:rPr>
              <a:t>forms</a:t>
            </a:r>
            <a:r>
              <a:rPr lang="en-US" sz="2000" dirty="0"/>
              <a:t> </a:t>
            </a:r>
            <a:r>
              <a:rPr lang="en-US" sz="2000" dirty="0">
                <a:solidFill>
                  <a:srgbClr val="FF0000"/>
                </a:solidFill>
              </a:rPr>
              <a:t>array</a:t>
            </a:r>
            <a:r>
              <a:rPr lang="en-US" sz="2000" dirty="0"/>
              <a:t>, each element of which represents a form in the document.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Each </a:t>
            </a:r>
            <a:r>
              <a:rPr lang="en-US" sz="2000" dirty="0">
                <a:solidFill>
                  <a:srgbClr val="FF0000"/>
                </a:solidFill>
              </a:rPr>
              <a:t>forms array </a:t>
            </a:r>
            <a:r>
              <a:rPr lang="en-US" sz="2000" dirty="0"/>
              <a:t>element has an </a:t>
            </a:r>
            <a:r>
              <a:rPr lang="en-US" sz="2000" dirty="0">
                <a:solidFill>
                  <a:srgbClr val="FF0000"/>
                </a:solidFill>
              </a:rPr>
              <a:t>elements array </a:t>
            </a:r>
            <a:r>
              <a:rPr lang="en-US" sz="2000" dirty="0"/>
              <a:t>as a property, which contains the objects that represent the HTML form elements, such as buttons and menus.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0000"/>
                </a:solidFill>
              </a:rPr>
              <a:t>Document</a:t>
            </a:r>
            <a:r>
              <a:rPr lang="en-US" sz="2000" dirty="0"/>
              <a:t> objects also have </a:t>
            </a:r>
            <a:r>
              <a:rPr lang="en-US" sz="2000" dirty="0">
                <a:solidFill>
                  <a:srgbClr val="FF0000"/>
                </a:solidFill>
              </a:rPr>
              <a:t>property arrays </a:t>
            </a:r>
            <a:r>
              <a:rPr lang="en-US" sz="2000" dirty="0"/>
              <a:t>for anchors, links, images, and applets.</a:t>
            </a:r>
            <a:endParaRPr lang="en-IN" sz="2000" dirty="0"/>
          </a:p>
        </p:txBody>
      </p:sp>
    </p:spTree>
    <p:extLst>
      <p:ext uri="{BB962C8B-B14F-4D97-AF65-F5344CB8AC3E}">
        <p14:creationId xmlns:p14="http://schemas.microsoft.com/office/powerpoint/2010/main" val="42906647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0CB9-2C99-20FF-BFA9-0AC50D4583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4714EF-904B-461B-D953-D86A0249E6AC}"/>
              </a:ext>
            </a:extLst>
          </p:cNvPr>
          <p:cNvSpPr txBox="1"/>
          <p:nvPr/>
        </p:nvSpPr>
        <p:spPr>
          <a:xfrm>
            <a:off x="524435" y="206188"/>
            <a:ext cx="11143129" cy="6309420"/>
          </a:xfrm>
          <a:prstGeom prst="rect">
            <a:avLst/>
          </a:prstGeom>
          <a:noFill/>
        </p:spPr>
        <p:txBody>
          <a:bodyPr wrap="square" rtlCol="0">
            <a:spAutoFit/>
          </a:bodyPr>
          <a:lstStyle/>
          <a:p>
            <a:r>
              <a:rPr lang="en-IN" sz="2400" b="1" dirty="0"/>
              <a:t>2 The Document Object Model</a:t>
            </a:r>
            <a:r>
              <a:rPr lang="en-US" sz="2400" b="1" dirty="0"/>
              <a:t>:</a:t>
            </a:r>
          </a:p>
          <a:p>
            <a:endParaRPr lang="en-US" sz="2000" dirty="0"/>
          </a:p>
          <a:p>
            <a:pPr marL="342900" indent="-342900" algn="just">
              <a:buFont typeface="Arial" panose="020B0604020202020204" pitchFamily="34" charset="0"/>
              <a:buChar char="•"/>
            </a:pPr>
            <a:r>
              <a:rPr lang="en-US" sz="2000" dirty="0"/>
              <a:t>The original motivation for the standard DOM was to provide a specification that would allow Java programs and JavaScript scripts that deal with HTML documents to be portable among various browsers.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DOM 0 is the name often applied to describe the document model used by the early browsers that supported JavaScript.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Specifically, DOM 0 is the version of the document model implemented in the Netscape 3.0 and Internet Explorer 3.0 browsers.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DOM 1, the first W3C DOM specification, issued in October 1998, focused on the HTML and XML document model.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DOM 2, issued in November 2000, specified a style-sheet object model and defined how style information attached to a document can be manipulated.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DOM 3, issued in 2004, dealt with content models for XML (DTDs and schemas), document validation, and document views and formatting, as well as key events and event groups.</a:t>
            </a:r>
            <a:endParaRPr lang="en-IN" sz="2000" dirty="0"/>
          </a:p>
        </p:txBody>
      </p:sp>
    </p:spTree>
    <p:extLst>
      <p:ext uri="{BB962C8B-B14F-4D97-AF65-F5344CB8AC3E}">
        <p14:creationId xmlns:p14="http://schemas.microsoft.com/office/powerpoint/2010/main" val="40751677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19E21-41C2-4409-2EA5-FA293F8E6F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DBFB4F-00D9-80B7-56C1-48B12BBF8624}"/>
              </a:ext>
            </a:extLst>
          </p:cNvPr>
          <p:cNvSpPr txBox="1"/>
          <p:nvPr/>
        </p:nvSpPr>
        <p:spPr>
          <a:xfrm>
            <a:off x="524435" y="170329"/>
            <a:ext cx="11143129" cy="6617196"/>
          </a:xfrm>
          <a:prstGeom prst="rect">
            <a:avLst/>
          </a:prstGeom>
          <a:noFill/>
        </p:spPr>
        <p:txBody>
          <a:bodyPr wrap="square" rtlCol="0">
            <a:spAutoFit/>
          </a:bodyPr>
          <a:lstStyle/>
          <a:p>
            <a:r>
              <a:rPr lang="en-IN" sz="2400" dirty="0"/>
              <a:t>continued</a:t>
            </a:r>
            <a:r>
              <a:rPr lang="en-US" sz="2400" dirty="0"/>
              <a:t>:</a:t>
            </a:r>
          </a:p>
          <a:p>
            <a:endParaRPr lang="en-US" sz="2000" dirty="0"/>
          </a:p>
          <a:p>
            <a:pPr marL="342900" indent="-342900" algn="just">
              <a:buFont typeface="Arial" panose="020B0604020202020204" pitchFamily="34" charset="0"/>
              <a:buChar char="•"/>
            </a:pPr>
            <a:r>
              <a:rPr lang="en-US" sz="2000" dirty="0"/>
              <a:t>The DOM is an application programming interface (API) that defines an interface between HTML documents and application programs.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is an abstract model because it must apply to a variety of application programming languages. Each language that interfaces with the DOM must define a binding to that interface.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actual DOM specification consists of a collection of interfaces, including one for each document tree node type.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They define the objects, methods, and prop </a:t>
            </a:r>
            <a:r>
              <a:rPr lang="en-US" sz="2000" dirty="0" err="1"/>
              <a:t>erties</a:t>
            </a:r>
            <a:r>
              <a:rPr lang="en-US" sz="2000" dirty="0"/>
              <a:t> that are associated with their respective node types.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With the DOM, users can write code in programming languages to create documents, move around in their structures, and change, add, or delete elements and their content.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Documents in the DOM have a treelike structure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an implementation, the relationships among the elements of a document could be represented in any number of different ways.</a:t>
            </a:r>
            <a:endParaRPr lang="en-IN" sz="2000" dirty="0"/>
          </a:p>
        </p:txBody>
      </p:sp>
    </p:spTree>
    <p:extLst>
      <p:ext uri="{BB962C8B-B14F-4D97-AF65-F5344CB8AC3E}">
        <p14:creationId xmlns:p14="http://schemas.microsoft.com/office/powerpoint/2010/main" val="17011281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96250-07E5-FF82-C4BA-499A7A8C9E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3152F1-DE51-FACD-C6E6-4DC674627C7F}"/>
              </a:ext>
            </a:extLst>
          </p:cNvPr>
          <p:cNvSpPr txBox="1"/>
          <p:nvPr/>
        </p:nvSpPr>
        <p:spPr>
          <a:xfrm>
            <a:off x="528918" y="421341"/>
            <a:ext cx="11143129" cy="4770537"/>
          </a:xfrm>
          <a:prstGeom prst="rect">
            <a:avLst/>
          </a:prstGeom>
          <a:noFill/>
        </p:spPr>
        <p:txBody>
          <a:bodyPr wrap="square" rtlCol="0">
            <a:spAutoFit/>
          </a:bodyPr>
          <a:lstStyle/>
          <a:p>
            <a:r>
              <a:rPr lang="en-IN" sz="2400" dirty="0"/>
              <a:t>continued</a:t>
            </a:r>
            <a:r>
              <a:rPr lang="en-US" sz="2400" dirty="0"/>
              <a:t>:</a:t>
            </a:r>
          </a:p>
          <a:p>
            <a:endParaRPr lang="en-US" sz="2000" dirty="0"/>
          </a:p>
          <a:p>
            <a:pPr marL="342900" indent="-342900" algn="just">
              <a:buFont typeface="Arial" panose="020B0604020202020204" pitchFamily="34" charset="0"/>
              <a:buChar char="•"/>
            </a:pPr>
            <a:r>
              <a:rPr lang="en-US" sz="2000" dirty="0"/>
              <a:t>A language that is designed to support the DOM must have a binding to the DOM constructs. This binding amounts to a correspondence between constructs in the language and elements in the DOM.</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the JavaScript binding to the DOM, the elements of a document are objects, with both data and operations. The </a:t>
            </a:r>
            <a:r>
              <a:rPr lang="en-US" sz="2000" dirty="0">
                <a:solidFill>
                  <a:srgbClr val="FF0000"/>
                </a:solidFill>
              </a:rPr>
              <a:t>data</a:t>
            </a:r>
            <a:r>
              <a:rPr lang="en-US" sz="2000" dirty="0"/>
              <a:t> are called </a:t>
            </a:r>
            <a:r>
              <a:rPr lang="en-US" sz="2000" dirty="0">
                <a:solidFill>
                  <a:srgbClr val="FF0000"/>
                </a:solidFill>
              </a:rPr>
              <a:t>properties</a:t>
            </a:r>
            <a:r>
              <a:rPr lang="en-US" sz="2000" dirty="0"/>
              <a:t>, and the </a:t>
            </a:r>
            <a:r>
              <a:rPr lang="en-US" sz="2000" dirty="0">
                <a:solidFill>
                  <a:srgbClr val="FF0000"/>
                </a:solidFill>
              </a:rPr>
              <a:t>operations</a:t>
            </a:r>
            <a:r>
              <a:rPr lang="en-US" sz="2000" dirty="0"/>
              <a:t> are, naturally, called </a:t>
            </a:r>
            <a:r>
              <a:rPr lang="en-US" sz="2000" dirty="0">
                <a:solidFill>
                  <a:srgbClr val="FF0000"/>
                </a:solidFill>
              </a:rPr>
              <a:t>methods</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following HTML element would be represented as an </a:t>
            </a:r>
            <a:r>
              <a:rPr lang="en-US" sz="2000" dirty="0">
                <a:solidFill>
                  <a:srgbClr val="FF0000"/>
                </a:solidFill>
              </a:rPr>
              <a:t>object</a:t>
            </a:r>
            <a:r>
              <a:rPr lang="en-US" sz="2000" dirty="0"/>
              <a:t> with two properties, </a:t>
            </a:r>
            <a:r>
              <a:rPr lang="en-US" sz="2000" dirty="0">
                <a:solidFill>
                  <a:srgbClr val="FF0000"/>
                </a:solidFill>
              </a:rPr>
              <a:t>type</a:t>
            </a:r>
            <a:r>
              <a:rPr lang="en-US" sz="2000" dirty="0"/>
              <a:t> and </a:t>
            </a:r>
            <a:r>
              <a:rPr lang="en-US" sz="2000" dirty="0">
                <a:solidFill>
                  <a:srgbClr val="FF0000"/>
                </a:solidFill>
              </a:rPr>
              <a:t>name</a:t>
            </a:r>
            <a:r>
              <a:rPr lang="en-US" sz="2000" dirty="0"/>
              <a:t>, with the values "</a:t>
            </a:r>
            <a:r>
              <a:rPr lang="en-US" sz="2000" dirty="0">
                <a:solidFill>
                  <a:srgbClr val="FF0000"/>
                </a:solidFill>
              </a:rPr>
              <a:t>text</a:t>
            </a:r>
            <a:r>
              <a:rPr lang="en-US" sz="2000" dirty="0"/>
              <a:t>" and "</a:t>
            </a:r>
            <a:r>
              <a:rPr lang="en-US" sz="2000" dirty="0">
                <a:solidFill>
                  <a:srgbClr val="FF0000"/>
                </a:solidFill>
              </a:rPr>
              <a:t>address</a:t>
            </a:r>
            <a:r>
              <a:rPr lang="en-US" sz="2000" dirty="0"/>
              <a:t>", respectively:</a:t>
            </a:r>
          </a:p>
          <a:p>
            <a:pPr marL="342900" indent="-342900" algn="just">
              <a:buFont typeface="Arial" panose="020B0604020202020204" pitchFamily="34" charset="0"/>
              <a:buChar char="•"/>
            </a:pPr>
            <a:r>
              <a:rPr lang="en-US" sz="2000" dirty="0"/>
              <a:t>	&lt;input type = "text"  name = "address"&gt;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IE8+, FX3, and C10+ provide a way of viewing the DOM structure of a displayed document. After displaying a document with IE9, select </a:t>
            </a:r>
            <a:r>
              <a:rPr lang="en-US" sz="2000" dirty="0">
                <a:solidFill>
                  <a:srgbClr val="FF0000"/>
                </a:solidFill>
              </a:rPr>
              <a:t>Tools/Developer </a:t>
            </a:r>
            <a:r>
              <a:rPr lang="en-US" sz="2000" dirty="0"/>
              <a:t>Tools.</a:t>
            </a:r>
            <a:endParaRPr lang="en-IN" sz="2000" dirty="0"/>
          </a:p>
        </p:txBody>
      </p:sp>
    </p:spTree>
    <p:extLst>
      <p:ext uri="{BB962C8B-B14F-4D97-AF65-F5344CB8AC3E}">
        <p14:creationId xmlns:p14="http://schemas.microsoft.com/office/powerpoint/2010/main" val="3158558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EC80A-1103-4679-D726-A19D127907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D861B2-6717-EC8E-5234-FEEB07EE8E3D}"/>
              </a:ext>
            </a:extLst>
          </p:cNvPr>
          <p:cNvSpPr txBox="1"/>
          <p:nvPr/>
        </p:nvSpPr>
        <p:spPr>
          <a:xfrm>
            <a:off x="524435" y="268941"/>
            <a:ext cx="11143129" cy="1077218"/>
          </a:xfrm>
          <a:prstGeom prst="rect">
            <a:avLst/>
          </a:prstGeom>
          <a:noFill/>
        </p:spPr>
        <p:txBody>
          <a:bodyPr wrap="square" rtlCol="0">
            <a:spAutoFit/>
          </a:bodyPr>
          <a:lstStyle/>
          <a:p>
            <a:r>
              <a:rPr lang="en-IN" sz="2400" dirty="0"/>
              <a:t>continued...</a:t>
            </a:r>
            <a:endParaRPr lang="en-US" sz="2400" dirty="0"/>
          </a:p>
          <a:p>
            <a:endParaRPr lang="en-US" sz="2000" dirty="0"/>
          </a:p>
          <a:p>
            <a:endParaRPr lang="en-IN" sz="2000" dirty="0"/>
          </a:p>
        </p:txBody>
      </p:sp>
      <p:pic>
        <p:nvPicPr>
          <p:cNvPr id="4" name="Picture 3">
            <a:extLst>
              <a:ext uri="{FF2B5EF4-FFF2-40B4-BE49-F238E27FC236}">
                <a16:creationId xmlns:a16="http://schemas.microsoft.com/office/drawing/2014/main" id="{FA5F4A98-D403-F0B3-B708-93248C264A9F}"/>
              </a:ext>
            </a:extLst>
          </p:cNvPr>
          <p:cNvPicPr>
            <a:picLocks noChangeAspect="1"/>
          </p:cNvPicPr>
          <p:nvPr/>
        </p:nvPicPr>
        <p:blipFill>
          <a:blip r:embed="rId2"/>
          <a:stretch>
            <a:fillRect/>
          </a:stretch>
        </p:blipFill>
        <p:spPr>
          <a:xfrm>
            <a:off x="357104" y="832471"/>
            <a:ext cx="4881616" cy="5442823"/>
          </a:xfrm>
          <a:prstGeom prst="rect">
            <a:avLst/>
          </a:prstGeom>
        </p:spPr>
      </p:pic>
      <p:pic>
        <p:nvPicPr>
          <p:cNvPr id="6" name="Picture 5">
            <a:extLst>
              <a:ext uri="{FF2B5EF4-FFF2-40B4-BE49-F238E27FC236}">
                <a16:creationId xmlns:a16="http://schemas.microsoft.com/office/drawing/2014/main" id="{1D88A16A-7C28-453F-FCF0-A9D777CA171E}"/>
              </a:ext>
            </a:extLst>
          </p:cNvPr>
          <p:cNvPicPr>
            <a:picLocks noChangeAspect="1"/>
          </p:cNvPicPr>
          <p:nvPr/>
        </p:nvPicPr>
        <p:blipFill>
          <a:blip r:embed="rId3"/>
          <a:stretch>
            <a:fillRect/>
          </a:stretch>
        </p:blipFill>
        <p:spPr>
          <a:xfrm>
            <a:off x="5406051" y="0"/>
            <a:ext cx="6596175" cy="6374024"/>
          </a:xfrm>
          <a:prstGeom prst="rect">
            <a:avLst/>
          </a:prstGeom>
        </p:spPr>
      </p:pic>
    </p:spTree>
    <p:extLst>
      <p:ext uri="{BB962C8B-B14F-4D97-AF65-F5344CB8AC3E}">
        <p14:creationId xmlns:p14="http://schemas.microsoft.com/office/powerpoint/2010/main" val="22027509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5DBC-8143-D79A-FBA5-5AF29F41DB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7C3319-6A95-9A52-6A38-A496966D8267}"/>
              </a:ext>
            </a:extLst>
          </p:cNvPr>
          <p:cNvSpPr txBox="1"/>
          <p:nvPr/>
        </p:nvSpPr>
        <p:spPr>
          <a:xfrm>
            <a:off x="528918" y="421341"/>
            <a:ext cx="11143129" cy="2616101"/>
          </a:xfrm>
          <a:prstGeom prst="rect">
            <a:avLst/>
          </a:prstGeom>
          <a:noFill/>
        </p:spPr>
        <p:txBody>
          <a:bodyPr wrap="square" rtlCol="0">
            <a:spAutoFit/>
          </a:bodyPr>
          <a:lstStyle/>
          <a:p>
            <a:r>
              <a:rPr lang="en-IN" sz="2400" dirty="0"/>
              <a:t>continued</a:t>
            </a:r>
            <a:r>
              <a:rPr lang="en-US" sz="2400" dirty="0"/>
              <a:t>:</a:t>
            </a:r>
          </a:p>
          <a:p>
            <a:endParaRPr lang="en-US" sz="2000" dirty="0"/>
          </a:p>
          <a:p>
            <a:pPr marL="342900" indent="-342900" algn="just">
              <a:buFont typeface="Arial" panose="020B0604020202020204" pitchFamily="34" charset="0"/>
              <a:buChar char="•"/>
            </a:pPr>
            <a:r>
              <a:rPr lang="en-US" sz="2000" dirty="0"/>
              <a:t>To be able to display the DOM structure of a document with FX3, an add on must be downloaded. The source of the download is https://addons .mozilla.org/</a:t>
            </a:r>
            <a:r>
              <a:rPr lang="en-US" sz="2000" dirty="0" err="1"/>
              <a:t>en</a:t>
            </a:r>
            <a:r>
              <a:rPr lang="en-US" sz="2000" dirty="0"/>
              <a:t>-US/</a:t>
            </a:r>
            <a:r>
              <a:rPr lang="en-US" sz="2000" dirty="0" err="1"/>
              <a:t>firefox</a:t>
            </a:r>
            <a:r>
              <a:rPr lang="en-US" sz="2000" dirty="0"/>
              <a:t>/addon/6622.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DOM of a document can be dis played by selecting Tools/DOM Inspector.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With Chrome, to get the DOM one selects the wrench icon, Tools, and Developer Tools.</a:t>
            </a:r>
            <a:endParaRPr lang="en-IN" sz="2000" dirty="0"/>
          </a:p>
        </p:txBody>
      </p:sp>
    </p:spTree>
    <p:extLst>
      <p:ext uri="{BB962C8B-B14F-4D97-AF65-F5344CB8AC3E}">
        <p14:creationId xmlns:p14="http://schemas.microsoft.com/office/powerpoint/2010/main" val="3040596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18E9-748E-6F40-350D-3847ED72B6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26703E-1818-7AF8-217E-27D444196386}"/>
              </a:ext>
            </a:extLst>
          </p:cNvPr>
          <p:cNvSpPr txBox="1"/>
          <p:nvPr/>
        </p:nvSpPr>
        <p:spPr>
          <a:xfrm>
            <a:off x="528918" y="421341"/>
            <a:ext cx="11143129" cy="5386090"/>
          </a:xfrm>
          <a:prstGeom prst="rect">
            <a:avLst/>
          </a:prstGeom>
          <a:noFill/>
        </p:spPr>
        <p:txBody>
          <a:bodyPr wrap="square" rtlCol="0">
            <a:spAutoFit/>
          </a:bodyPr>
          <a:lstStyle/>
          <a:p>
            <a:r>
              <a:rPr lang="en-US" sz="2400" b="1" dirty="0"/>
              <a:t>3 Element Access in JavaScript:</a:t>
            </a:r>
          </a:p>
          <a:p>
            <a:r>
              <a:rPr lang="en-US" sz="2000" dirty="0"/>
              <a:t>The elements of an HTML document have corresponding objects that are visible to an embedded JavaScript script.</a:t>
            </a:r>
          </a:p>
          <a:p>
            <a:endParaRPr lang="en-US" sz="2000" dirty="0"/>
          </a:p>
          <a:p>
            <a:r>
              <a:rPr lang="en-US" sz="2000" dirty="0"/>
              <a:t>The addresses of these objects are required, both by the event handling and by the code for making dynamic changes to documents.</a:t>
            </a:r>
          </a:p>
          <a:p>
            <a:endParaRPr lang="en-IN" sz="2000" dirty="0"/>
          </a:p>
          <a:p>
            <a:r>
              <a:rPr lang="en-US" sz="2000" dirty="0"/>
              <a:t>The original (DOM 0) way is to use the forms and elements arrays of the Document object, which is referenced through the document property of the Window object.</a:t>
            </a:r>
          </a:p>
          <a:p>
            <a:endParaRPr lang="en-US" sz="2000" dirty="0"/>
          </a:p>
          <a:p>
            <a:r>
              <a:rPr lang="en-US" sz="2000" dirty="0"/>
              <a:t>We refer to the address of the JavaScript object that is associated with an HTML element as the DOM address of the element.</a:t>
            </a:r>
          </a:p>
          <a:p>
            <a:endParaRPr lang="en-US" sz="2000" dirty="0"/>
          </a:p>
          <a:p>
            <a:r>
              <a:rPr lang="en-IN" sz="2000" dirty="0"/>
              <a:t>	var </a:t>
            </a:r>
            <a:r>
              <a:rPr lang="en-IN" sz="2000" dirty="0" err="1"/>
              <a:t>dom</a:t>
            </a:r>
            <a:r>
              <a:rPr lang="en-IN" sz="2000" dirty="0"/>
              <a:t> = </a:t>
            </a:r>
            <a:r>
              <a:rPr lang="en-IN" sz="2000" dirty="0" err="1"/>
              <a:t>document.forms</a:t>
            </a:r>
            <a:r>
              <a:rPr lang="en-IN" sz="2000" dirty="0"/>
              <a:t>[0].elements[0];</a:t>
            </a:r>
          </a:p>
          <a:p>
            <a:endParaRPr lang="en-IN" sz="2000" dirty="0"/>
          </a:p>
          <a:p>
            <a:r>
              <a:rPr lang="en-US" sz="2000" dirty="0"/>
              <a:t>The </a:t>
            </a:r>
            <a:r>
              <a:rPr lang="en-US" sz="2000" dirty="0">
                <a:solidFill>
                  <a:srgbClr val="FF0000"/>
                </a:solidFill>
              </a:rPr>
              <a:t>problem</a:t>
            </a:r>
            <a:r>
              <a:rPr lang="en-US" sz="2000" dirty="0"/>
              <a:t> with this approach to element addressing is that the </a:t>
            </a:r>
            <a:r>
              <a:rPr lang="en-US" sz="2000" dirty="0">
                <a:solidFill>
                  <a:srgbClr val="FF0000"/>
                </a:solidFill>
              </a:rPr>
              <a:t>DOM address is defined by the position of elements </a:t>
            </a:r>
            <a:r>
              <a:rPr lang="en-US" sz="2000" dirty="0"/>
              <a:t>in the document, which could change.</a:t>
            </a:r>
            <a:endParaRPr lang="en-IN" sz="2000" dirty="0"/>
          </a:p>
        </p:txBody>
      </p:sp>
    </p:spTree>
    <p:extLst>
      <p:ext uri="{BB962C8B-B14F-4D97-AF65-F5344CB8AC3E}">
        <p14:creationId xmlns:p14="http://schemas.microsoft.com/office/powerpoint/2010/main" val="6638215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F2543-D09B-2D2D-43AD-601AB7C84E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A7C01F-8882-39D0-EE60-2DE5E85681B1}"/>
              </a:ext>
            </a:extLst>
          </p:cNvPr>
          <p:cNvSpPr txBox="1"/>
          <p:nvPr/>
        </p:nvSpPr>
        <p:spPr>
          <a:xfrm>
            <a:off x="524435" y="475129"/>
            <a:ext cx="11143129" cy="6001643"/>
          </a:xfrm>
          <a:prstGeom prst="rect">
            <a:avLst/>
          </a:prstGeom>
          <a:noFill/>
        </p:spPr>
        <p:txBody>
          <a:bodyPr wrap="square" rtlCol="0">
            <a:spAutoFit/>
          </a:bodyPr>
          <a:lstStyle/>
          <a:p>
            <a:r>
              <a:rPr lang="en-IN" sz="2400" dirty="0"/>
              <a:t>Continued…</a:t>
            </a:r>
            <a:endParaRPr lang="en-US" sz="2400" dirty="0"/>
          </a:p>
          <a:p>
            <a:endParaRPr lang="en-US" sz="2000" dirty="0"/>
          </a:p>
          <a:p>
            <a:r>
              <a:rPr lang="en-US" sz="2000" dirty="0"/>
              <a:t>Another approach to DOM addressing is to use element names.</a:t>
            </a:r>
          </a:p>
          <a:p>
            <a:endParaRPr lang="en-US" sz="2000" dirty="0"/>
          </a:p>
          <a:p>
            <a:pPr lvl="1"/>
            <a:r>
              <a:rPr lang="en-US" sz="2000" dirty="0"/>
              <a:t>  &lt;body&gt;</a:t>
            </a:r>
          </a:p>
          <a:p>
            <a:pPr lvl="1"/>
            <a:r>
              <a:rPr lang="en-US" sz="2000" dirty="0"/>
              <a:t>    &lt;form name = "</a:t>
            </a:r>
            <a:r>
              <a:rPr lang="en-US" sz="2000" dirty="0" err="1"/>
              <a:t>myForm</a:t>
            </a:r>
            <a:r>
              <a:rPr lang="en-US" sz="2000" dirty="0"/>
              <a:t>"  action = ""&gt;</a:t>
            </a:r>
          </a:p>
          <a:p>
            <a:pPr lvl="1"/>
            <a:r>
              <a:rPr lang="en-US" sz="2000" dirty="0"/>
              <a:t>      &lt;input type = "button"  name = </a:t>
            </a:r>
            <a:r>
              <a:rPr lang="en-US" sz="2000" dirty="0">
                <a:solidFill>
                  <a:srgbClr val="FF0000"/>
                </a:solidFill>
              </a:rPr>
              <a:t>"</a:t>
            </a:r>
            <a:r>
              <a:rPr lang="en-US" sz="2000" dirty="0" err="1">
                <a:solidFill>
                  <a:srgbClr val="FF0000"/>
                </a:solidFill>
              </a:rPr>
              <a:t>turnItOn</a:t>
            </a:r>
            <a:r>
              <a:rPr lang="en-US" sz="2000" dirty="0">
                <a:solidFill>
                  <a:srgbClr val="FF0000"/>
                </a:solidFill>
              </a:rPr>
              <a:t>" </a:t>
            </a:r>
            <a:r>
              <a:rPr lang="en-US" sz="2000" dirty="0"/>
              <a:t>/&gt;</a:t>
            </a:r>
          </a:p>
          <a:p>
            <a:pPr lvl="1"/>
            <a:r>
              <a:rPr lang="en-US" sz="2000" dirty="0"/>
              <a:t>    &lt;/form&gt;</a:t>
            </a:r>
          </a:p>
          <a:p>
            <a:pPr lvl="1"/>
            <a:r>
              <a:rPr lang="en-US" sz="2000" dirty="0"/>
              <a:t>  &lt;/body&gt;</a:t>
            </a:r>
          </a:p>
          <a:p>
            <a:pPr lvl="1"/>
            <a:endParaRPr lang="en-US" sz="2000" dirty="0"/>
          </a:p>
          <a:p>
            <a:pPr lvl="1"/>
            <a:r>
              <a:rPr lang="en-US" sz="2000" dirty="0"/>
              <a:t>Using the name attributes, the button’s DOM address is as follows:</a:t>
            </a:r>
          </a:p>
          <a:p>
            <a:pPr lvl="1"/>
            <a:endParaRPr lang="en-US" sz="2000" dirty="0"/>
          </a:p>
          <a:p>
            <a:pPr lvl="1"/>
            <a:r>
              <a:rPr lang="en-IN" sz="2000" dirty="0">
                <a:solidFill>
                  <a:srgbClr val="FF0000"/>
                </a:solidFill>
              </a:rPr>
              <a:t>var </a:t>
            </a:r>
            <a:r>
              <a:rPr lang="en-IN" sz="2000" dirty="0" err="1">
                <a:solidFill>
                  <a:srgbClr val="FF0000"/>
                </a:solidFill>
              </a:rPr>
              <a:t>dom</a:t>
            </a:r>
            <a:r>
              <a:rPr lang="en-IN" sz="2000" dirty="0">
                <a:solidFill>
                  <a:srgbClr val="FF0000"/>
                </a:solidFill>
              </a:rPr>
              <a:t> = </a:t>
            </a:r>
            <a:r>
              <a:rPr lang="en-IN" sz="2000" dirty="0" err="1">
                <a:solidFill>
                  <a:srgbClr val="FF0000"/>
                </a:solidFill>
              </a:rPr>
              <a:t>document.myForm.turnItOn</a:t>
            </a:r>
            <a:r>
              <a:rPr lang="en-IN" sz="2000" dirty="0">
                <a:solidFill>
                  <a:srgbClr val="FF0000"/>
                </a:solidFill>
              </a:rPr>
              <a:t>;</a:t>
            </a:r>
          </a:p>
          <a:p>
            <a:pPr lvl="1"/>
            <a:endParaRPr lang="en-IN" sz="2000" dirty="0"/>
          </a:p>
          <a:p>
            <a:r>
              <a:rPr lang="en-US" sz="2000" dirty="0"/>
              <a:t>Yet another approach to element addressing is to use the JavaScript method </a:t>
            </a:r>
            <a:r>
              <a:rPr lang="en-US" sz="2000" dirty="0" err="1"/>
              <a:t>getElementById</a:t>
            </a:r>
            <a:r>
              <a:rPr lang="en-US" sz="2000" dirty="0"/>
              <a:t>, which is defined in DOM 1. </a:t>
            </a:r>
          </a:p>
          <a:p>
            <a:endParaRPr lang="en-US" sz="2000" dirty="0"/>
          </a:p>
          <a:p>
            <a:r>
              <a:rPr lang="en-US" sz="2000" dirty="0"/>
              <a:t>	</a:t>
            </a:r>
            <a:r>
              <a:rPr lang="en-IN" sz="2000" dirty="0">
                <a:solidFill>
                  <a:srgbClr val="FF0000"/>
                </a:solidFill>
              </a:rPr>
              <a:t>var </a:t>
            </a:r>
            <a:r>
              <a:rPr lang="en-IN" sz="2000" dirty="0" err="1">
                <a:solidFill>
                  <a:srgbClr val="FF0000"/>
                </a:solidFill>
              </a:rPr>
              <a:t>dom</a:t>
            </a:r>
            <a:r>
              <a:rPr lang="en-IN" sz="2000" dirty="0">
                <a:solidFill>
                  <a:srgbClr val="FF0000"/>
                </a:solidFill>
              </a:rPr>
              <a:t> = </a:t>
            </a:r>
            <a:r>
              <a:rPr lang="en-IN" sz="2000" dirty="0" err="1">
                <a:solidFill>
                  <a:srgbClr val="FF0000"/>
                </a:solidFill>
              </a:rPr>
              <a:t>document.getElementById</a:t>
            </a:r>
            <a:r>
              <a:rPr lang="en-IN" sz="2000" dirty="0">
                <a:solidFill>
                  <a:srgbClr val="FF0000"/>
                </a:solidFill>
              </a:rPr>
              <a:t>("</a:t>
            </a:r>
            <a:r>
              <a:rPr lang="en-IN" sz="2000" dirty="0" err="1">
                <a:solidFill>
                  <a:srgbClr val="FF0000"/>
                </a:solidFill>
              </a:rPr>
              <a:t>turnItOn</a:t>
            </a:r>
            <a:r>
              <a:rPr lang="en-IN" sz="2000" dirty="0">
                <a:solidFill>
                  <a:srgbClr val="FF0000"/>
                </a:solidFill>
              </a:rPr>
              <a:t>");</a:t>
            </a:r>
            <a:endParaRPr lang="en-US" sz="2000" dirty="0">
              <a:solidFill>
                <a:srgbClr val="FF0000"/>
              </a:solidFill>
            </a:endParaRPr>
          </a:p>
          <a:p>
            <a:endParaRPr lang="en-IN" sz="2000" dirty="0"/>
          </a:p>
        </p:txBody>
      </p:sp>
    </p:spTree>
    <p:extLst>
      <p:ext uri="{BB962C8B-B14F-4D97-AF65-F5344CB8AC3E}">
        <p14:creationId xmlns:p14="http://schemas.microsoft.com/office/powerpoint/2010/main" val="259806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FD7B-0442-CA6F-A621-01B941BAE1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284946-D19C-B9AE-5E98-7C78C3A93E23}"/>
              </a:ext>
            </a:extLst>
          </p:cNvPr>
          <p:cNvSpPr txBox="1"/>
          <p:nvPr/>
        </p:nvSpPr>
        <p:spPr>
          <a:xfrm>
            <a:off x="528918" y="421341"/>
            <a:ext cx="11143129" cy="5570756"/>
          </a:xfrm>
          <a:prstGeom prst="rect">
            <a:avLst/>
          </a:prstGeom>
          <a:noFill/>
        </p:spPr>
        <p:txBody>
          <a:bodyPr wrap="square" rtlCol="0">
            <a:spAutoFit/>
          </a:bodyPr>
          <a:lstStyle/>
          <a:p>
            <a:r>
              <a:rPr lang="en-US" sz="2400" dirty="0"/>
              <a:t>continued…</a:t>
            </a:r>
          </a:p>
          <a:p>
            <a:endParaRPr lang="en-US" sz="2000" dirty="0"/>
          </a:p>
          <a:p>
            <a:r>
              <a:rPr lang="en-US" sz="2000" dirty="0"/>
              <a:t>An alternative to both names and ids is provided by the </a:t>
            </a:r>
            <a:r>
              <a:rPr lang="en-US" sz="2000" dirty="0">
                <a:solidFill>
                  <a:srgbClr val="FF0000"/>
                </a:solidFill>
              </a:rPr>
              <a:t>implicit arrays </a:t>
            </a:r>
            <a:r>
              <a:rPr lang="en-US" sz="2000" dirty="0"/>
              <a:t>associated with each checkbox and radio button group.</a:t>
            </a:r>
          </a:p>
          <a:p>
            <a:endParaRPr lang="en-US" sz="2000" dirty="0"/>
          </a:p>
          <a:p>
            <a:pPr lvl="1"/>
            <a:r>
              <a:rPr lang="en-IN" dirty="0"/>
              <a:t>&lt;form id = "</a:t>
            </a:r>
            <a:r>
              <a:rPr lang="en-IN" dirty="0" err="1"/>
              <a:t>vehicleGroup</a:t>
            </a:r>
            <a:r>
              <a:rPr lang="en-IN" dirty="0"/>
              <a:t>"&gt;</a:t>
            </a:r>
          </a:p>
          <a:p>
            <a:pPr lvl="1"/>
            <a:r>
              <a:rPr lang="en-IN" dirty="0"/>
              <a:t>  &lt;input type = "checkbox"  name = "</a:t>
            </a:r>
            <a:r>
              <a:rPr lang="en-IN" dirty="0">
                <a:solidFill>
                  <a:srgbClr val="FF0000"/>
                </a:solidFill>
              </a:rPr>
              <a:t>vehicles</a:t>
            </a:r>
            <a:r>
              <a:rPr lang="en-IN" dirty="0"/>
              <a:t>" </a:t>
            </a:r>
          </a:p>
          <a:p>
            <a:pPr lvl="1"/>
            <a:r>
              <a:rPr lang="en-IN" dirty="0"/>
              <a:t>         value = "car" /&gt;  Car</a:t>
            </a:r>
          </a:p>
          <a:p>
            <a:pPr lvl="1"/>
            <a:r>
              <a:rPr lang="en-IN" dirty="0"/>
              <a:t>  &lt;input type = "checkbox"  name = "</a:t>
            </a:r>
            <a:r>
              <a:rPr lang="en-IN" dirty="0">
                <a:solidFill>
                  <a:srgbClr val="FF0000"/>
                </a:solidFill>
              </a:rPr>
              <a:t>vehicles</a:t>
            </a:r>
            <a:r>
              <a:rPr lang="en-IN" dirty="0"/>
              <a:t>" </a:t>
            </a:r>
          </a:p>
          <a:p>
            <a:pPr lvl="1"/>
            <a:r>
              <a:rPr lang="en-IN" dirty="0"/>
              <a:t>         value = "truck" /&gt;  Truck</a:t>
            </a:r>
          </a:p>
          <a:p>
            <a:pPr lvl="1"/>
            <a:r>
              <a:rPr lang="en-IN" dirty="0"/>
              <a:t>  &lt;input type = "checkbox"  name = "</a:t>
            </a:r>
            <a:r>
              <a:rPr lang="en-IN" dirty="0">
                <a:solidFill>
                  <a:srgbClr val="FF0000"/>
                </a:solidFill>
              </a:rPr>
              <a:t>vehicles</a:t>
            </a:r>
            <a:r>
              <a:rPr lang="en-IN" dirty="0"/>
              <a:t>" </a:t>
            </a:r>
          </a:p>
          <a:p>
            <a:pPr lvl="1"/>
            <a:r>
              <a:rPr lang="en-IN" dirty="0"/>
              <a:t>         value = "bike" /&gt;  Bike</a:t>
            </a:r>
          </a:p>
          <a:p>
            <a:pPr lvl="1"/>
            <a:r>
              <a:rPr lang="en-IN" dirty="0"/>
              <a:t>&lt;/form&gt;</a:t>
            </a:r>
          </a:p>
          <a:p>
            <a:pPr lvl="1"/>
            <a:endParaRPr lang="en-IN" dirty="0"/>
          </a:p>
          <a:p>
            <a:pPr lvl="1"/>
            <a:r>
              <a:rPr lang="en-IN" dirty="0"/>
              <a:t>var </a:t>
            </a:r>
            <a:r>
              <a:rPr lang="en-IN" dirty="0" err="1"/>
              <a:t>numChecked</a:t>
            </a:r>
            <a:r>
              <a:rPr lang="en-IN" dirty="0"/>
              <a:t> = 0;</a:t>
            </a:r>
          </a:p>
          <a:p>
            <a:pPr lvl="1"/>
            <a:r>
              <a:rPr lang="en-IN" dirty="0"/>
              <a:t>var </a:t>
            </a:r>
            <a:r>
              <a:rPr lang="en-IN" dirty="0" err="1"/>
              <a:t>dom</a:t>
            </a:r>
            <a:r>
              <a:rPr lang="en-IN" dirty="0"/>
              <a:t> = </a:t>
            </a:r>
            <a:r>
              <a:rPr lang="en-IN" dirty="0" err="1"/>
              <a:t>document.getElementById</a:t>
            </a:r>
            <a:r>
              <a:rPr lang="en-IN" dirty="0"/>
              <a:t>("</a:t>
            </a:r>
            <a:r>
              <a:rPr lang="en-IN" dirty="0" err="1"/>
              <a:t>vehicleGroup</a:t>
            </a:r>
            <a:r>
              <a:rPr lang="en-IN" dirty="0"/>
              <a:t>");</a:t>
            </a:r>
          </a:p>
          <a:p>
            <a:pPr lvl="1"/>
            <a:r>
              <a:rPr lang="en-IN" dirty="0"/>
              <a:t>for (index = 0; index &lt; </a:t>
            </a:r>
            <a:r>
              <a:rPr lang="en-IN" dirty="0" err="1"/>
              <a:t>dom.</a:t>
            </a:r>
            <a:r>
              <a:rPr lang="en-IN" dirty="0" err="1">
                <a:solidFill>
                  <a:srgbClr val="FF0000"/>
                </a:solidFill>
              </a:rPr>
              <a:t>vehicles</a:t>
            </a:r>
            <a:r>
              <a:rPr lang="en-IN" dirty="0" err="1"/>
              <a:t>.length</a:t>
            </a:r>
            <a:r>
              <a:rPr lang="en-IN" dirty="0"/>
              <a:t>; index++)</a:t>
            </a:r>
          </a:p>
          <a:p>
            <a:pPr lvl="1"/>
            <a:r>
              <a:rPr lang="en-IN" dirty="0"/>
              <a:t>  if (</a:t>
            </a:r>
            <a:r>
              <a:rPr lang="en-IN" dirty="0" err="1"/>
              <a:t>dom.</a:t>
            </a:r>
            <a:r>
              <a:rPr lang="en-IN" dirty="0" err="1">
                <a:solidFill>
                  <a:srgbClr val="FF0000"/>
                </a:solidFill>
              </a:rPr>
              <a:t>vehicles</a:t>
            </a:r>
            <a:r>
              <a:rPr lang="en-IN" dirty="0"/>
              <a:t>[index].checked)</a:t>
            </a:r>
          </a:p>
          <a:p>
            <a:pPr lvl="1"/>
            <a:r>
              <a:rPr lang="en-IN" dirty="0"/>
              <a:t>    </a:t>
            </a:r>
            <a:r>
              <a:rPr lang="en-IN" dirty="0" err="1"/>
              <a:t>numChecked</a:t>
            </a:r>
            <a:r>
              <a:rPr lang="en-IN" dirty="0"/>
              <a:t>++;</a:t>
            </a:r>
          </a:p>
        </p:txBody>
      </p:sp>
    </p:spTree>
    <p:extLst>
      <p:ext uri="{BB962C8B-B14F-4D97-AF65-F5344CB8AC3E}">
        <p14:creationId xmlns:p14="http://schemas.microsoft.com/office/powerpoint/2010/main" val="16271869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0052D-D82B-AF74-427D-EA945111D8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A8B0D9-6D75-840A-C65B-DC7FDD828E07}"/>
              </a:ext>
            </a:extLst>
          </p:cNvPr>
          <p:cNvSpPr txBox="1"/>
          <p:nvPr/>
        </p:nvSpPr>
        <p:spPr>
          <a:xfrm>
            <a:off x="528918" y="421341"/>
            <a:ext cx="11143129" cy="6001643"/>
          </a:xfrm>
          <a:prstGeom prst="rect">
            <a:avLst/>
          </a:prstGeom>
          <a:noFill/>
        </p:spPr>
        <p:txBody>
          <a:bodyPr wrap="square" rtlCol="0">
            <a:spAutoFit/>
          </a:bodyPr>
          <a:lstStyle/>
          <a:p>
            <a:r>
              <a:rPr lang="en-US" sz="2400" dirty="0"/>
              <a:t>4 Events and Event Handling:</a:t>
            </a:r>
          </a:p>
          <a:p>
            <a:endParaRPr lang="en-US" sz="2000" dirty="0"/>
          </a:p>
          <a:p>
            <a:pPr marL="342900" indent="-342900">
              <a:buFont typeface="Arial" panose="020B0604020202020204" pitchFamily="34" charset="0"/>
              <a:buChar char="•"/>
            </a:pPr>
            <a:r>
              <a:rPr lang="en-IN" sz="2000" dirty="0"/>
              <a:t>DOM 0 event model - </a:t>
            </a:r>
            <a:r>
              <a:rPr lang="en-US" sz="2000" dirty="0"/>
              <a:t>The HTML 4.0 standard provided the first specification of an event model for markup documents.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DOM0 model was supported by only the browsers which supports </a:t>
            </a:r>
            <a:r>
              <a:rPr lang="en-US" sz="2000" dirty="0" err="1"/>
              <a:t>javascript</a:t>
            </a: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DOM 2 model is supported by the FX3 and Chrome browsers.</a:t>
            </a:r>
          </a:p>
          <a:p>
            <a:endParaRPr lang="en-US" sz="2000" dirty="0"/>
          </a:p>
          <a:p>
            <a:r>
              <a:rPr lang="en-US" sz="2000" dirty="0"/>
              <a:t>4.1 Basic Concepts of Event Handling</a:t>
            </a:r>
          </a:p>
          <a:p>
            <a:pPr marL="800100" lvl="1" indent="-342900" algn="just">
              <a:buFont typeface="Arial" panose="020B0604020202020204" pitchFamily="34" charset="0"/>
              <a:buChar char="•"/>
            </a:pPr>
            <a:r>
              <a:rPr lang="en-US" sz="2000" dirty="0"/>
              <a:t>One important use of JavaScript for Web programming is to detect certain activities of the browser and the browser user and provide computation when those activities occur. </a:t>
            </a:r>
          </a:p>
          <a:p>
            <a:pPr marL="800100" lvl="1" indent="-342900" algn="just">
              <a:buFont typeface="Arial" panose="020B0604020202020204" pitchFamily="34" charset="0"/>
              <a:buChar char="•"/>
            </a:pPr>
            <a:r>
              <a:rPr lang="en-US" sz="2000" dirty="0"/>
              <a:t>These computations are specified with a special form of programming called </a:t>
            </a:r>
            <a:r>
              <a:rPr lang="en-US" sz="2000" dirty="0">
                <a:solidFill>
                  <a:srgbClr val="FF0000"/>
                </a:solidFill>
              </a:rPr>
              <a:t>event-driven programming</a:t>
            </a:r>
            <a:r>
              <a:rPr lang="en-US" sz="2000" dirty="0"/>
              <a:t>.</a:t>
            </a:r>
            <a:r>
              <a:rPr lang="en-IN" sz="2000" dirty="0"/>
              <a:t> </a:t>
            </a:r>
          </a:p>
          <a:p>
            <a:pPr marL="800100" lvl="1" indent="-342900" algn="just">
              <a:buFont typeface="Arial" panose="020B0604020202020204" pitchFamily="34" charset="0"/>
              <a:buChar char="•"/>
            </a:pPr>
            <a:r>
              <a:rPr lang="en-US" sz="2000" dirty="0"/>
              <a:t>In event-driven pro </a:t>
            </a:r>
            <a:r>
              <a:rPr lang="en-US" sz="2000" dirty="0" err="1"/>
              <a:t>gramming</a:t>
            </a:r>
            <a:r>
              <a:rPr lang="en-US" sz="2000" dirty="0"/>
              <a:t>, parts of the program are executed at completely unpredictable times, often triggered by user interactions with the program that is executing.</a:t>
            </a:r>
          </a:p>
          <a:p>
            <a:pPr marL="800100" lvl="1" indent="-342900" algn="just">
              <a:buFont typeface="Arial" panose="020B0604020202020204" pitchFamily="34" charset="0"/>
              <a:buChar char="•"/>
            </a:pPr>
            <a:r>
              <a:rPr lang="en-US" sz="2000" dirty="0"/>
              <a:t>An </a:t>
            </a:r>
            <a:r>
              <a:rPr lang="en-US" sz="2000" dirty="0">
                <a:solidFill>
                  <a:srgbClr val="FF0000"/>
                </a:solidFill>
              </a:rPr>
              <a:t>event</a:t>
            </a:r>
            <a:r>
              <a:rPr lang="en-US" sz="2000" dirty="0"/>
              <a:t> is a notification that something specific has occurred, either in the browser, such as the completion of the loading of a document, or a browser user action, such as a mouse click on a form button.</a:t>
            </a:r>
            <a:endParaRPr lang="en-IN" sz="2000" dirty="0"/>
          </a:p>
        </p:txBody>
      </p:sp>
    </p:spTree>
    <p:extLst>
      <p:ext uri="{BB962C8B-B14F-4D97-AF65-F5344CB8AC3E}">
        <p14:creationId xmlns:p14="http://schemas.microsoft.com/office/powerpoint/2010/main" val="23504053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CDBB9-661D-61F2-AD9B-63445DE90F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5D860E-5730-45F5-4393-577F78E77E49}"/>
              </a:ext>
            </a:extLst>
          </p:cNvPr>
          <p:cNvSpPr txBox="1"/>
          <p:nvPr/>
        </p:nvSpPr>
        <p:spPr>
          <a:xfrm>
            <a:off x="528918" y="421341"/>
            <a:ext cx="11143129" cy="5078313"/>
          </a:xfrm>
          <a:prstGeom prst="rect">
            <a:avLst/>
          </a:prstGeom>
          <a:noFill/>
        </p:spPr>
        <p:txBody>
          <a:bodyPr wrap="square" rtlCol="0">
            <a:spAutoFit/>
          </a:bodyPr>
          <a:lstStyle/>
          <a:p>
            <a:r>
              <a:rPr lang="en-IN" sz="2400" dirty="0"/>
              <a:t>continued…</a:t>
            </a:r>
            <a:endParaRPr lang="en-US" sz="2400" dirty="0"/>
          </a:p>
          <a:p>
            <a:endParaRPr lang="en-US" sz="2000" dirty="0"/>
          </a:p>
          <a:p>
            <a:pPr algn="just"/>
            <a:r>
              <a:rPr lang="en-US" sz="2000" dirty="0"/>
              <a:t>An </a:t>
            </a:r>
            <a:r>
              <a:rPr lang="en-US" sz="2000" dirty="0">
                <a:solidFill>
                  <a:srgbClr val="FF0000"/>
                </a:solidFill>
              </a:rPr>
              <a:t>event handler </a:t>
            </a:r>
            <a:r>
              <a:rPr lang="en-US" sz="2000" dirty="0"/>
              <a:t>is a script that is implicitly executed in response to the appearance of an event.</a:t>
            </a:r>
          </a:p>
          <a:p>
            <a:pPr algn="just"/>
            <a:endParaRPr lang="en-US" sz="2000" dirty="0"/>
          </a:p>
          <a:p>
            <a:pPr algn="just"/>
            <a:r>
              <a:rPr lang="en-US" sz="2000" dirty="0"/>
              <a:t>One of the most common uses of event handlers is to check for simple errors and omissions in user input to the elements of a form, either when they are changed or when the form is submitted.</a:t>
            </a:r>
          </a:p>
          <a:p>
            <a:pPr algn="just"/>
            <a:endParaRPr lang="en-US" sz="2000" dirty="0"/>
          </a:p>
          <a:p>
            <a:pPr algn="just"/>
            <a:r>
              <a:rPr lang="en-US" sz="2000" dirty="0"/>
              <a:t>Because </a:t>
            </a:r>
            <a:r>
              <a:rPr lang="en-US" sz="2000" dirty="0">
                <a:solidFill>
                  <a:srgbClr val="FF0000"/>
                </a:solidFill>
              </a:rPr>
              <a:t>events</a:t>
            </a:r>
            <a:r>
              <a:rPr lang="en-US" sz="2000" dirty="0"/>
              <a:t> are JavaScript objects, their names are </a:t>
            </a:r>
            <a:r>
              <a:rPr lang="en-US" sz="2000" dirty="0">
                <a:solidFill>
                  <a:srgbClr val="FF0000"/>
                </a:solidFill>
              </a:rPr>
              <a:t>case sensitive</a:t>
            </a:r>
            <a:r>
              <a:rPr lang="en-US" sz="2000" dirty="0"/>
              <a:t>. The names of all event objects have only </a:t>
            </a:r>
            <a:r>
              <a:rPr lang="en-US" sz="2000" dirty="0">
                <a:solidFill>
                  <a:srgbClr val="FF0000"/>
                </a:solidFill>
              </a:rPr>
              <a:t>lowercase letters</a:t>
            </a:r>
            <a:r>
              <a:rPr lang="en-US" sz="2000" dirty="0"/>
              <a:t>. For example, </a:t>
            </a:r>
            <a:r>
              <a:rPr lang="en-US" sz="2000" dirty="0">
                <a:solidFill>
                  <a:srgbClr val="FF0000"/>
                </a:solidFill>
              </a:rPr>
              <a:t>click</a:t>
            </a:r>
            <a:r>
              <a:rPr lang="en-US" sz="2000" dirty="0"/>
              <a:t> is an event, but Click is not.</a:t>
            </a:r>
          </a:p>
          <a:p>
            <a:pPr algn="just"/>
            <a:endParaRPr lang="en-US" sz="2000" dirty="0"/>
          </a:p>
          <a:p>
            <a:pPr algn="just"/>
            <a:r>
              <a:rPr lang="en-US" sz="2000" dirty="0"/>
              <a:t>The process of connecting an event handler to an event is called </a:t>
            </a:r>
            <a:r>
              <a:rPr lang="en-US" sz="2000" dirty="0">
                <a:solidFill>
                  <a:srgbClr val="FF0000"/>
                </a:solidFill>
              </a:rPr>
              <a:t>registration</a:t>
            </a:r>
            <a:r>
              <a:rPr lang="en-US" sz="2000" dirty="0"/>
              <a:t>.</a:t>
            </a:r>
          </a:p>
          <a:p>
            <a:pPr algn="just"/>
            <a:endParaRPr lang="en-US" sz="2000" dirty="0"/>
          </a:p>
          <a:p>
            <a:pPr algn="just"/>
            <a:r>
              <a:rPr lang="en-US" sz="2000" dirty="0"/>
              <a:t>There are two distinct approaches to event handler registration, one that assigns tag attributes and one that assigns handler addresses to object properties.</a:t>
            </a:r>
          </a:p>
          <a:p>
            <a:pPr algn="just"/>
            <a:endParaRPr lang="en-US" sz="2000" dirty="0"/>
          </a:p>
          <a:p>
            <a:pPr algn="just"/>
            <a:r>
              <a:rPr lang="en-US" sz="2000" dirty="0"/>
              <a:t>The </a:t>
            </a:r>
            <a:r>
              <a:rPr lang="en-US" sz="2000" dirty="0">
                <a:solidFill>
                  <a:srgbClr val="FF0000"/>
                </a:solidFill>
              </a:rPr>
              <a:t>write</a:t>
            </a:r>
            <a:r>
              <a:rPr lang="en-US" sz="2000" dirty="0"/>
              <a:t> method of </a:t>
            </a:r>
            <a:r>
              <a:rPr lang="en-US" sz="2000" dirty="0">
                <a:solidFill>
                  <a:srgbClr val="FF0000"/>
                </a:solidFill>
              </a:rPr>
              <a:t>document should never be used </a:t>
            </a:r>
            <a:r>
              <a:rPr lang="en-US" sz="2000" dirty="0"/>
              <a:t>in an event handler.</a:t>
            </a:r>
            <a:endParaRPr lang="en-IN" sz="2000" dirty="0"/>
          </a:p>
        </p:txBody>
      </p:sp>
    </p:spTree>
    <p:extLst>
      <p:ext uri="{BB962C8B-B14F-4D97-AF65-F5344CB8AC3E}">
        <p14:creationId xmlns:p14="http://schemas.microsoft.com/office/powerpoint/2010/main" val="24855131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7011C-82B4-8A3E-BBC3-F51BCA8271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B5A8B7-9BC7-07AE-6F57-128C6E502C24}"/>
              </a:ext>
            </a:extLst>
          </p:cNvPr>
          <p:cNvSpPr txBox="1"/>
          <p:nvPr/>
        </p:nvSpPr>
        <p:spPr>
          <a:xfrm>
            <a:off x="528919" y="421341"/>
            <a:ext cx="5567082" cy="2616101"/>
          </a:xfrm>
          <a:prstGeom prst="rect">
            <a:avLst/>
          </a:prstGeom>
          <a:noFill/>
        </p:spPr>
        <p:txBody>
          <a:bodyPr wrap="square" rtlCol="0">
            <a:spAutoFit/>
          </a:bodyPr>
          <a:lstStyle/>
          <a:p>
            <a:r>
              <a:rPr lang="en-US" sz="2400" dirty="0"/>
              <a:t>4.2 Events, Attributes, and Tags:</a:t>
            </a:r>
          </a:p>
          <a:p>
            <a:endParaRPr lang="en-US" sz="2000" dirty="0"/>
          </a:p>
          <a:p>
            <a:pPr algn="just"/>
            <a:r>
              <a:rPr lang="en-US" sz="2000" dirty="0"/>
              <a:t>Events are associated with HTML tag attributes, which can be used to connect the events to handlers.</a:t>
            </a:r>
          </a:p>
          <a:p>
            <a:pPr algn="just"/>
            <a:endParaRPr lang="en-US" sz="2000" dirty="0"/>
          </a:p>
          <a:p>
            <a:pPr algn="just"/>
            <a:r>
              <a:rPr lang="en-US" sz="2000" dirty="0"/>
              <a:t>Table 1 lists the most commonly used events and their associated tag attributes</a:t>
            </a:r>
            <a:endParaRPr lang="en-IN" sz="2000" dirty="0"/>
          </a:p>
        </p:txBody>
      </p:sp>
      <p:pic>
        <p:nvPicPr>
          <p:cNvPr id="4" name="Picture 3">
            <a:extLst>
              <a:ext uri="{FF2B5EF4-FFF2-40B4-BE49-F238E27FC236}">
                <a16:creationId xmlns:a16="http://schemas.microsoft.com/office/drawing/2014/main" id="{6611D786-FA8D-32F7-A7FD-B11D82A4C8FD}"/>
              </a:ext>
            </a:extLst>
          </p:cNvPr>
          <p:cNvPicPr>
            <a:picLocks noChangeAspect="1"/>
          </p:cNvPicPr>
          <p:nvPr/>
        </p:nvPicPr>
        <p:blipFill>
          <a:blip r:embed="rId2"/>
          <a:stretch>
            <a:fillRect/>
          </a:stretch>
        </p:blipFill>
        <p:spPr>
          <a:xfrm>
            <a:off x="6159688" y="0"/>
            <a:ext cx="5951629" cy="6396532"/>
          </a:xfrm>
          <a:prstGeom prst="rect">
            <a:avLst/>
          </a:prstGeom>
        </p:spPr>
      </p:pic>
    </p:spTree>
    <p:extLst>
      <p:ext uri="{BB962C8B-B14F-4D97-AF65-F5344CB8AC3E}">
        <p14:creationId xmlns:p14="http://schemas.microsoft.com/office/powerpoint/2010/main" val="302616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92F3-5FA4-8068-D64A-2BCF818081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C7579C-3EBD-B1D5-1CB8-CDDA0E95D024}"/>
              </a:ext>
            </a:extLst>
          </p:cNvPr>
          <p:cNvSpPr txBox="1"/>
          <p:nvPr/>
        </p:nvSpPr>
        <p:spPr>
          <a:xfrm>
            <a:off x="524435" y="143436"/>
            <a:ext cx="4657165" cy="2308324"/>
          </a:xfrm>
          <a:prstGeom prst="rect">
            <a:avLst/>
          </a:prstGeom>
          <a:noFill/>
        </p:spPr>
        <p:txBody>
          <a:bodyPr wrap="square" rtlCol="0">
            <a:spAutoFit/>
          </a:bodyPr>
          <a:lstStyle/>
          <a:p>
            <a:r>
              <a:rPr lang="en-US" sz="2400" dirty="0"/>
              <a:t>continued…</a:t>
            </a:r>
          </a:p>
          <a:p>
            <a:endParaRPr lang="en-US" sz="2000" dirty="0"/>
          </a:p>
          <a:p>
            <a:pPr algn="just"/>
            <a:r>
              <a:rPr lang="en-US" sz="2000" dirty="0"/>
              <a:t>Table 2 shows (1) the most commonly used attributes related to events, (2) tags that can include the attributes, and (3) the circumstances under which the associated events are created.</a:t>
            </a:r>
            <a:endParaRPr lang="en-IN" sz="2000" dirty="0"/>
          </a:p>
        </p:txBody>
      </p:sp>
      <p:pic>
        <p:nvPicPr>
          <p:cNvPr id="4" name="Picture 3">
            <a:extLst>
              <a:ext uri="{FF2B5EF4-FFF2-40B4-BE49-F238E27FC236}">
                <a16:creationId xmlns:a16="http://schemas.microsoft.com/office/drawing/2014/main" id="{000ABF0A-6171-BDDA-7DD8-C2A30B98BBB6}"/>
              </a:ext>
            </a:extLst>
          </p:cNvPr>
          <p:cNvPicPr>
            <a:picLocks noChangeAspect="1"/>
          </p:cNvPicPr>
          <p:nvPr/>
        </p:nvPicPr>
        <p:blipFill>
          <a:blip r:embed="rId2"/>
          <a:stretch>
            <a:fillRect/>
          </a:stretch>
        </p:blipFill>
        <p:spPr>
          <a:xfrm>
            <a:off x="5888180" y="0"/>
            <a:ext cx="6303820" cy="6400800"/>
          </a:xfrm>
          <a:prstGeom prst="rect">
            <a:avLst/>
          </a:prstGeom>
        </p:spPr>
      </p:pic>
      <p:pic>
        <p:nvPicPr>
          <p:cNvPr id="6" name="Picture 5">
            <a:extLst>
              <a:ext uri="{FF2B5EF4-FFF2-40B4-BE49-F238E27FC236}">
                <a16:creationId xmlns:a16="http://schemas.microsoft.com/office/drawing/2014/main" id="{605BD752-4C30-1CD6-DDF9-56CB8F56C948}"/>
              </a:ext>
            </a:extLst>
          </p:cNvPr>
          <p:cNvPicPr>
            <a:picLocks noChangeAspect="1"/>
          </p:cNvPicPr>
          <p:nvPr/>
        </p:nvPicPr>
        <p:blipFill>
          <a:blip r:embed="rId3"/>
          <a:stretch>
            <a:fillRect/>
          </a:stretch>
        </p:blipFill>
        <p:spPr>
          <a:xfrm>
            <a:off x="0" y="4275824"/>
            <a:ext cx="5943293" cy="2124976"/>
          </a:xfrm>
          <a:prstGeom prst="rect">
            <a:avLst/>
          </a:prstGeom>
        </p:spPr>
      </p:pic>
    </p:spTree>
    <p:extLst>
      <p:ext uri="{BB962C8B-B14F-4D97-AF65-F5344CB8AC3E}">
        <p14:creationId xmlns:p14="http://schemas.microsoft.com/office/powerpoint/2010/main" val="7928440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5C93-954B-9438-E4F9-3117B8CCA4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7132AD-AD29-D7DE-5109-2630AC3C2A6D}"/>
              </a:ext>
            </a:extLst>
          </p:cNvPr>
          <p:cNvSpPr txBox="1"/>
          <p:nvPr/>
        </p:nvSpPr>
        <p:spPr>
          <a:xfrm>
            <a:off x="537883" y="421341"/>
            <a:ext cx="11143129" cy="5386090"/>
          </a:xfrm>
          <a:prstGeom prst="rect">
            <a:avLst/>
          </a:prstGeom>
          <a:noFill/>
        </p:spPr>
        <p:txBody>
          <a:bodyPr wrap="square" rtlCol="0">
            <a:spAutoFit/>
          </a:bodyPr>
          <a:lstStyle/>
          <a:p>
            <a:r>
              <a:rPr lang="en-IN" sz="2400" dirty="0"/>
              <a:t>continued…</a:t>
            </a:r>
            <a:endParaRPr lang="en-US" sz="2400" dirty="0"/>
          </a:p>
          <a:p>
            <a:endParaRPr lang="en-US" sz="2000" dirty="0"/>
          </a:p>
          <a:p>
            <a:pPr algn="just"/>
            <a:r>
              <a:rPr lang="en-US" sz="2000" dirty="0"/>
              <a:t>There are two ways to register an event handler in the DOM 0 event model.</a:t>
            </a:r>
          </a:p>
          <a:p>
            <a:pPr algn="just"/>
            <a:endParaRPr lang="en-US" sz="2000" dirty="0"/>
          </a:p>
          <a:p>
            <a:pPr algn="just"/>
            <a:r>
              <a:rPr lang="en-US" sz="2000" dirty="0"/>
              <a:t>	</a:t>
            </a:r>
            <a:r>
              <a:rPr lang="en-US" sz="2000" dirty="0">
                <a:solidFill>
                  <a:srgbClr val="7030A0"/>
                </a:solidFill>
              </a:rPr>
              <a:t>&lt;input type = "button" id = "</a:t>
            </a:r>
            <a:r>
              <a:rPr lang="en-US" sz="2000" dirty="0" err="1">
                <a:solidFill>
                  <a:srgbClr val="7030A0"/>
                </a:solidFill>
              </a:rPr>
              <a:t>myButton</a:t>
            </a:r>
            <a:r>
              <a:rPr lang="en-US" sz="2000" dirty="0">
                <a:solidFill>
                  <a:srgbClr val="7030A0"/>
                </a:solidFill>
              </a:rPr>
              <a:t>"</a:t>
            </a:r>
          </a:p>
          <a:p>
            <a:pPr algn="just"/>
            <a:r>
              <a:rPr lang="en-US" sz="2000" dirty="0">
                <a:solidFill>
                  <a:srgbClr val="7030A0"/>
                </a:solidFill>
              </a:rPr>
              <a:t>       		onclick = "alert('You clicked my button!');" /&gt;</a:t>
            </a:r>
          </a:p>
          <a:p>
            <a:pPr algn="just"/>
            <a:endParaRPr lang="en-US" sz="2000" dirty="0"/>
          </a:p>
          <a:p>
            <a:pPr algn="just"/>
            <a:r>
              <a:rPr lang="en-US" sz="2000" dirty="0"/>
              <a:t>In many cases, the handler consists of more than a single statement. In these cases, often a function is used and the literal string value of the attribute is the call to the function.</a:t>
            </a:r>
          </a:p>
          <a:p>
            <a:pPr algn="just"/>
            <a:endParaRPr lang="en-US" sz="2000" dirty="0"/>
          </a:p>
          <a:p>
            <a:pPr algn="just"/>
            <a:r>
              <a:rPr lang="en-IN" sz="2000" dirty="0">
                <a:solidFill>
                  <a:srgbClr val="7030A0"/>
                </a:solidFill>
              </a:rPr>
              <a:t>	&lt;input type = "button" id = "</a:t>
            </a:r>
            <a:r>
              <a:rPr lang="en-IN" sz="2000" dirty="0" err="1">
                <a:solidFill>
                  <a:srgbClr val="7030A0"/>
                </a:solidFill>
              </a:rPr>
              <a:t>myButton</a:t>
            </a:r>
            <a:r>
              <a:rPr lang="en-IN" sz="2000" dirty="0">
                <a:solidFill>
                  <a:srgbClr val="7030A0"/>
                </a:solidFill>
              </a:rPr>
              <a:t>"</a:t>
            </a:r>
          </a:p>
          <a:p>
            <a:pPr algn="just"/>
            <a:r>
              <a:rPr lang="en-IN" sz="2000" dirty="0">
                <a:solidFill>
                  <a:srgbClr val="7030A0"/>
                </a:solidFill>
              </a:rPr>
              <a:t>       		onclick = "</a:t>
            </a:r>
            <a:r>
              <a:rPr lang="en-IN" sz="2000" dirty="0" err="1">
                <a:solidFill>
                  <a:srgbClr val="7030A0"/>
                </a:solidFill>
              </a:rPr>
              <a:t>myButtonHandler</a:t>
            </a:r>
            <a:r>
              <a:rPr lang="en-IN" sz="2000" dirty="0">
                <a:solidFill>
                  <a:srgbClr val="7030A0"/>
                </a:solidFill>
              </a:rPr>
              <a:t>();" /&gt;</a:t>
            </a:r>
          </a:p>
          <a:p>
            <a:pPr algn="just"/>
            <a:endParaRPr lang="en-IN" sz="2000" dirty="0"/>
          </a:p>
          <a:p>
            <a:pPr algn="just"/>
            <a:r>
              <a:rPr lang="en-US" sz="2000" dirty="0"/>
              <a:t>An event handler function could also be registered by assigning its name to the associated event property on the button object</a:t>
            </a:r>
          </a:p>
          <a:p>
            <a:pPr algn="just"/>
            <a:endParaRPr lang="en-US" sz="2000" dirty="0"/>
          </a:p>
          <a:p>
            <a:pPr algn="just"/>
            <a:r>
              <a:rPr lang="en-IN" sz="2000" dirty="0"/>
              <a:t>	</a:t>
            </a:r>
            <a:r>
              <a:rPr lang="en-IN" sz="2000" dirty="0" err="1">
                <a:solidFill>
                  <a:srgbClr val="7030A0"/>
                </a:solidFill>
              </a:rPr>
              <a:t>document.getElementById</a:t>
            </a:r>
            <a:r>
              <a:rPr lang="en-IN" sz="2000" dirty="0">
                <a:solidFill>
                  <a:srgbClr val="7030A0"/>
                </a:solidFill>
              </a:rPr>
              <a:t>("</a:t>
            </a:r>
            <a:r>
              <a:rPr lang="en-IN" sz="2000" dirty="0" err="1">
                <a:solidFill>
                  <a:srgbClr val="7030A0"/>
                </a:solidFill>
              </a:rPr>
              <a:t>myButton</a:t>
            </a:r>
            <a:r>
              <a:rPr lang="en-IN" sz="2000" dirty="0">
                <a:solidFill>
                  <a:srgbClr val="7030A0"/>
                </a:solidFill>
              </a:rPr>
              <a:t>").onclick = </a:t>
            </a:r>
            <a:r>
              <a:rPr lang="en-IN" sz="2000" dirty="0" err="1">
                <a:solidFill>
                  <a:srgbClr val="7030A0"/>
                </a:solidFill>
              </a:rPr>
              <a:t>myButtonHandler</a:t>
            </a:r>
            <a:r>
              <a:rPr lang="en-IN" sz="2000" dirty="0">
                <a:solidFill>
                  <a:srgbClr val="7030A0"/>
                </a:solidFill>
              </a:rPr>
              <a:t>;</a:t>
            </a:r>
          </a:p>
        </p:txBody>
      </p:sp>
    </p:spTree>
    <p:extLst>
      <p:ext uri="{BB962C8B-B14F-4D97-AF65-F5344CB8AC3E}">
        <p14:creationId xmlns:p14="http://schemas.microsoft.com/office/powerpoint/2010/main" val="42207226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BDA7B-FD88-B09D-0C4F-F3B897A27D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034813-18FD-404B-9BB3-82CBFAC748D9}"/>
              </a:ext>
            </a:extLst>
          </p:cNvPr>
          <p:cNvSpPr txBox="1"/>
          <p:nvPr/>
        </p:nvSpPr>
        <p:spPr>
          <a:xfrm>
            <a:off x="528918" y="421341"/>
            <a:ext cx="11143129" cy="1138773"/>
          </a:xfrm>
          <a:prstGeom prst="rect">
            <a:avLst/>
          </a:prstGeom>
          <a:noFill/>
        </p:spPr>
        <p:txBody>
          <a:bodyPr wrap="square" rtlCol="0">
            <a:spAutoFit/>
          </a:bodyPr>
          <a:lstStyle/>
          <a:p>
            <a:r>
              <a:rPr lang="en-US" sz="2400" b="1" dirty="0"/>
              <a:t>5 Handling Events from Body Elements:</a:t>
            </a:r>
          </a:p>
          <a:p>
            <a:endParaRPr lang="en-US" sz="2400" dirty="0"/>
          </a:p>
          <a:p>
            <a:r>
              <a:rPr lang="en-US" sz="2000" dirty="0"/>
              <a:t>The events most often created by body elements are </a:t>
            </a:r>
            <a:r>
              <a:rPr lang="en-US" sz="2000" dirty="0">
                <a:solidFill>
                  <a:srgbClr val="7030A0"/>
                </a:solidFill>
              </a:rPr>
              <a:t>load</a:t>
            </a:r>
            <a:r>
              <a:rPr lang="en-US" sz="2000" dirty="0"/>
              <a:t> and </a:t>
            </a:r>
            <a:r>
              <a:rPr lang="en-US" sz="2000" dirty="0">
                <a:solidFill>
                  <a:srgbClr val="7030A0"/>
                </a:solidFill>
              </a:rPr>
              <a:t>unload</a:t>
            </a:r>
            <a:r>
              <a:rPr lang="en-US" sz="2000" dirty="0"/>
              <a:t>.</a:t>
            </a:r>
          </a:p>
        </p:txBody>
      </p:sp>
      <p:sp>
        <p:nvSpPr>
          <p:cNvPr id="5" name="TextBox 4">
            <a:extLst>
              <a:ext uri="{FF2B5EF4-FFF2-40B4-BE49-F238E27FC236}">
                <a16:creationId xmlns:a16="http://schemas.microsoft.com/office/drawing/2014/main" id="{FB40491B-AF00-98A8-57C9-231CF2465D65}"/>
              </a:ext>
            </a:extLst>
          </p:cNvPr>
          <p:cNvSpPr txBox="1"/>
          <p:nvPr/>
        </p:nvSpPr>
        <p:spPr>
          <a:xfrm>
            <a:off x="268942" y="1667690"/>
            <a:ext cx="5038164" cy="4247317"/>
          </a:xfrm>
          <a:prstGeom prst="rect">
            <a:avLst/>
          </a:prstGeom>
          <a:noFill/>
        </p:spPr>
        <p:txBody>
          <a:bodyPr wrap="square" rtlCol="0">
            <a:spAutoFit/>
          </a:bodyPr>
          <a:lstStyle/>
          <a:p>
            <a:r>
              <a:rPr lang="en-IN" dirty="0"/>
              <a:t>&lt;!DOCTYPE html&gt;</a:t>
            </a:r>
          </a:p>
          <a:p>
            <a:r>
              <a:rPr lang="en-IN" dirty="0"/>
              <a:t>&lt;!-- load.html</a:t>
            </a:r>
          </a:p>
          <a:p>
            <a:r>
              <a:rPr lang="en-IN" dirty="0"/>
              <a:t>     A document for load.js</a:t>
            </a:r>
          </a:p>
          <a:p>
            <a:r>
              <a:rPr lang="en-IN" dirty="0"/>
              <a:t>     --&gt;</a:t>
            </a:r>
          </a:p>
          <a:p>
            <a:r>
              <a:rPr lang="en-IN" dirty="0"/>
              <a:t>&lt;html lang = "</a:t>
            </a:r>
            <a:r>
              <a:rPr lang="en-IN" dirty="0" err="1"/>
              <a:t>en</a:t>
            </a:r>
            <a:r>
              <a:rPr lang="en-IN" dirty="0"/>
              <a:t>"&gt;</a:t>
            </a:r>
          </a:p>
          <a:p>
            <a:r>
              <a:rPr lang="en-IN" dirty="0"/>
              <a:t>  &lt;head&gt;</a:t>
            </a:r>
          </a:p>
          <a:p>
            <a:r>
              <a:rPr lang="en-IN" dirty="0"/>
              <a:t>    &lt;title&gt; load.html &lt;/title&gt;</a:t>
            </a:r>
          </a:p>
          <a:p>
            <a:r>
              <a:rPr lang="en-IN" dirty="0"/>
              <a:t>    &lt;meta charset = "utf-8" /&gt;</a:t>
            </a:r>
          </a:p>
          <a:p>
            <a:r>
              <a:rPr lang="en-IN" dirty="0"/>
              <a:t>    &lt;script type = "text/</a:t>
            </a:r>
            <a:r>
              <a:rPr lang="en-IN" dirty="0" err="1"/>
              <a:t>javascript</a:t>
            </a:r>
            <a:r>
              <a:rPr lang="en-IN" dirty="0"/>
              <a:t>"  </a:t>
            </a:r>
            <a:r>
              <a:rPr lang="en-IN" dirty="0" err="1"/>
              <a:t>src</a:t>
            </a:r>
            <a:r>
              <a:rPr lang="en-IN" dirty="0"/>
              <a:t> = "load.js" &gt;</a:t>
            </a:r>
          </a:p>
          <a:p>
            <a:r>
              <a:rPr lang="en-IN" dirty="0"/>
              <a:t>    &lt;/script&gt;</a:t>
            </a:r>
          </a:p>
          <a:p>
            <a:r>
              <a:rPr lang="en-IN" dirty="0"/>
              <a:t>  &lt;/head&gt;</a:t>
            </a:r>
          </a:p>
          <a:p>
            <a:r>
              <a:rPr lang="en-IN" dirty="0"/>
              <a:t>  &lt;body onload="</a:t>
            </a:r>
            <a:r>
              <a:rPr lang="en-IN" dirty="0" err="1">
                <a:solidFill>
                  <a:srgbClr val="FF0000"/>
                </a:solidFill>
              </a:rPr>
              <a:t>load_greeting</a:t>
            </a:r>
            <a:r>
              <a:rPr lang="en-IN" dirty="0">
                <a:solidFill>
                  <a:srgbClr val="FF0000"/>
                </a:solidFill>
              </a:rPr>
              <a:t>()</a:t>
            </a:r>
            <a:r>
              <a:rPr lang="en-IN" dirty="0"/>
              <a:t>;"&gt;</a:t>
            </a:r>
          </a:p>
          <a:p>
            <a:r>
              <a:rPr lang="en-IN" dirty="0"/>
              <a:t>    &lt;p /&gt;</a:t>
            </a:r>
          </a:p>
          <a:p>
            <a:r>
              <a:rPr lang="en-IN" dirty="0"/>
              <a:t>  &lt;/body&gt;</a:t>
            </a:r>
          </a:p>
          <a:p>
            <a:r>
              <a:rPr lang="en-IN" dirty="0"/>
              <a:t>&lt;/html&gt;</a:t>
            </a:r>
          </a:p>
        </p:txBody>
      </p:sp>
      <p:sp>
        <p:nvSpPr>
          <p:cNvPr id="6" name="TextBox 5">
            <a:extLst>
              <a:ext uri="{FF2B5EF4-FFF2-40B4-BE49-F238E27FC236}">
                <a16:creationId xmlns:a16="http://schemas.microsoft.com/office/drawing/2014/main" id="{6BF22B02-3967-B891-3F84-E93B42E07DDF}"/>
              </a:ext>
            </a:extLst>
          </p:cNvPr>
          <p:cNvSpPr txBox="1"/>
          <p:nvPr/>
        </p:nvSpPr>
        <p:spPr>
          <a:xfrm>
            <a:off x="6096000" y="1649506"/>
            <a:ext cx="5280212" cy="2031325"/>
          </a:xfrm>
          <a:prstGeom prst="rect">
            <a:avLst/>
          </a:prstGeom>
          <a:noFill/>
        </p:spPr>
        <p:txBody>
          <a:bodyPr wrap="square" rtlCol="0">
            <a:spAutoFit/>
          </a:bodyPr>
          <a:lstStyle/>
          <a:p>
            <a:r>
              <a:rPr lang="en-US" dirty="0"/>
              <a:t>// load.js</a:t>
            </a:r>
          </a:p>
          <a:p>
            <a:r>
              <a:rPr lang="en-US" dirty="0"/>
              <a:t>//   An example to illustrate the load event</a:t>
            </a:r>
          </a:p>
          <a:p>
            <a:r>
              <a:rPr lang="en-US" dirty="0"/>
              <a:t>// The onload event handler</a:t>
            </a:r>
          </a:p>
          <a:p>
            <a:r>
              <a:rPr lang="en-US" dirty="0"/>
              <a:t>function </a:t>
            </a:r>
            <a:r>
              <a:rPr lang="en-US" dirty="0" err="1">
                <a:solidFill>
                  <a:srgbClr val="FF0000"/>
                </a:solidFill>
              </a:rPr>
              <a:t>load_greeting</a:t>
            </a:r>
            <a:r>
              <a:rPr lang="en-US" dirty="0">
                <a:solidFill>
                  <a:srgbClr val="FF0000"/>
                </a:solidFill>
              </a:rPr>
              <a:t> () </a:t>
            </a:r>
            <a:r>
              <a:rPr lang="en-US" dirty="0"/>
              <a:t>{</a:t>
            </a:r>
          </a:p>
          <a:p>
            <a:r>
              <a:rPr lang="en-US" dirty="0"/>
              <a:t>  alert("You are visiting the home page of \n" +</a:t>
            </a:r>
          </a:p>
          <a:p>
            <a:r>
              <a:rPr lang="en-US" dirty="0"/>
              <a:t>        "Pete's Pickled Peppers \n" + "WELCOME!!!");</a:t>
            </a:r>
          </a:p>
          <a:p>
            <a:r>
              <a:rPr lang="en-US" dirty="0"/>
              <a:t>}</a:t>
            </a:r>
          </a:p>
        </p:txBody>
      </p:sp>
    </p:spTree>
    <p:extLst>
      <p:ext uri="{BB962C8B-B14F-4D97-AF65-F5344CB8AC3E}">
        <p14:creationId xmlns:p14="http://schemas.microsoft.com/office/powerpoint/2010/main" val="20144016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7FF64-F4EB-D9DB-89A2-F24FEEE5B3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99225E-3F36-10AF-0FAD-EAC0BC20F1AE}"/>
              </a:ext>
            </a:extLst>
          </p:cNvPr>
          <p:cNvSpPr txBox="1"/>
          <p:nvPr/>
        </p:nvSpPr>
        <p:spPr>
          <a:xfrm>
            <a:off x="528918" y="421341"/>
            <a:ext cx="11143129" cy="1384995"/>
          </a:xfrm>
          <a:prstGeom prst="rect">
            <a:avLst/>
          </a:prstGeom>
          <a:noFill/>
        </p:spPr>
        <p:txBody>
          <a:bodyPr wrap="square" rtlCol="0">
            <a:spAutoFit/>
          </a:bodyPr>
          <a:lstStyle/>
          <a:p>
            <a:r>
              <a:rPr lang="en-US" sz="2400" b="1" dirty="0"/>
              <a:t>6 Handling Events from Button Elements</a:t>
            </a:r>
            <a:r>
              <a:rPr lang="en-US" sz="2400" dirty="0"/>
              <a:t>:</a:t>
            </a:r>
          </a:p>
          <a:p>
            <a:endParaRPr lang="en-US" sz="2000" dirty="0"/>
          </a:p>
          <a:p>
            <a:r>
              <a:rPr lang="en-US" sz="2000" dirty="0"/>
              <a:t>Buttons in a Web document provide an effective way to collect simple input from the browser user. The most commonly used event created by button actions is click.</a:t>
            </a:r>
          </a:p>
        </p:txBody>
      </p:sp>
      <p:sp>
        <p:nvSpPr>
          <p:cNvPr id="3" name="TextBox 2">
            <a:extLst>
              <a:ext uri="{FF2B5EF4-FFF2-40B4-BE49-F238E27FC236}">
                <a16:creationId xmlns:a16="http://schemas.microsoft.com/office/drawing/2014/main" id="{34264C25-EC8C-79C1-DF8C-09ACC07BDC09}"/>
              </a:ext>
            </a:extLst>
          </p:cNvPr>
          <p:cNvSpPr txBox="1"/>
          <p:nvPr/>
        </p:nvSpPr>
        <p:spPr>
          <a:xfrm>
            <a:off x="528918" y="1819731"/>
            <a:ext cx="5468471" cy="4832092"/>
          </a:xfrm>
          <a:prstGeom prst="rect">
            <a:avLst/>
          </a:prstGeom>
          <a:noFill/>
        </p:spPr>
        <p:txBody>
          <a:bodyPr wrap="square" rtlCol="0">
            <a:spAutoFit/>
          </a:bodyPr>
          <a:lstStyle/>
          <a:p>
            <a:r>
              <a:rPr lang="en-IN" sz="1400" dirty="0"/>
              <a:t>&lt;!DOCTYPE html&gt;</a:t>
            </a:r>
          </a:p>
          <a:p>
            <a:r>
              <a:rPr lang="en-IN" sz="1400" dirty="0"/>
              <a:t>&lt;html&gt;</a:t>
            </a:r>
          </a:p>
          <a:p>
            <a:r>
              <a:rPr lang="en-IN" sz="1400" dirty="0"/>
              <a:t>&lt;head&gt;</a:t>
            </a:r>
          </a:p>
          <a:p>
            <a:r>
              <a:rPr lang="en-IN" sz="1400" dirty="0"/>
              <a:t>    &lt;title&gt;Factorial Program&lt;/title&gt;</a:t>
            </a:r>
          </a:p>
          <a:p>
            <a:r>
              <a:rPr lang="en-IN" sz="1400" dirty="0"/>
              <a:t>    &lt;script&gt;</a:t>
            </a:r>
          </a:p>
          <a:p>
            <a:r>
              <a:rPr lang="en-IN" sz="1400" dirty="0"/>
              <a:t>        function </a:t>
            </a:r>
            <a:r>
              <a:rPr lang="en-IN" sz="1400" dirty="0" err="1"/>
              <a:t>findFactorial</a:t>
            </a:r>
            <a:r>
              <a:rPr lang="en-IN" sz="1400" dirty="0"/>
              <a:t>() {</a:t>
            </a:r>
          </a:p>
          <a:p>
            <a:r>
              <a:rPr lang="en-IN" sz="1400" dirty="0"/>
              <a:t>            let </a:t>
            </a:r>
            <a:r>
              <a:rPr lang="en-IN" sz="1400" dirty="0" err="1"/>
              <a:t>num</a:t>
            </a:r>
            <a:r>
              <a:rPr lang="en-IN" sz="1400" dirty="0"/>
              <a:t> = </a:t>
            </a:r>
            <a:r>
              <a:rPr lang="en-IN" sz="1400" dirty="0" err="1"/>
              <a:t>parseInt</a:t>
            </a:r>
            <a:r>
              <a:rPr lang="en-IN" sz="1400" dirty="0"/>
              <a:t>(</a:t>
            </a:r>
            <a:r>
              <a:rPr lang="en-IN" sz="1400" dirty="0" err="1"/>
              <a:t>document.getElementById</a:t>
            </a:r>
            <a:r>
              <a:rPr lang="en-IN" sz="1400" dirty="0"/>
              <a:t>("</a:t>
            </a:r>
            <a:r>
              <a:rPr lang="en-IN" sz="1400" dirty="0" err="1"/>
              <a:t>num</a:t>
            </a:r>
            <a:r>
              <a:rPr lang="en-IN" sz="1400" dirty="0"/>
              <a:t>").value);</a:t>
            </a:r>
          </a:p>
          <a:p>
            <a:r>
              <a:rPr lang="en-IN" sz="1400" dirty="0"/>
              <a:t>            let fact = 1;</a:t>
            </a:r>
          </a:p>
          <a:p>
            <a:endParaRPr lang="en-IN" sz="1400" dirty="0"/>
          </a:p>
          <a:p>
            <a:r>
              <a:rPr lang="en-IN" sz="1400" dirty="0"/>
              <a:t>            if (</a:t>
            </a:r>
            <a:r>
              <a:rPr lang="en-IN" sz="1400" dirty="0" err="1"/>
              <a:t>isNaN</a:t>
            </a:r>
            <a:r>
              <a:rPr lang="en-IN" sz="1400" dirty="0"/>
              <a:t>(</a:t>
            </a:r>
            <a:r>
              <a:rPr lang="en-IN" sz="1400" dirty="0" err="1"/>
              <a:t>num</a:t>
            </a:r>
            <a:r>
              <a:rPr lang="en-IN" sz="1400" dirty="0"/>
              <a:t>) || </a:t>
            </a:r>
            <a:r>
              <a:rPr lang="en-IN" sz="1400" dirty="0" err="1"/>
              <a:t>num</a:t>
            </a:r>
            <a:r>
              <a:rPr lang="en-IN" sz="1400" dirty="0"/>
              <a:t> &lt; 0) {</a:t>
            </a:r>
          </a:p>
          <a:p>
            <a:r>
              <a:rPr lang="en-IN" sz="1400" dirty="0"/>
              <a:t>                </a:t>
            </a:r>
            <a:r>
              <a:rPr lang="en-IN" sz="1400" dirty="0" err="1"/>
              <a:t>document.getElementById</a:t>
            </a:r>
            <a:r>
              <a:rPr lang="en-IN" sz="1400" dirty="0"/>
              <a:t>("result").value = "Invalid Input";</a:t>
            </a:r>
          </a:p>
          <a:p>
            <a:r>
              <a:rPr lang="en-IN" sz="1400" dirty="0"/>
              <a:t>                return;</a:t>
            </a:r>
          </a:p>
          <a:p>
            <a:r>
              <a:rPr lang="en-IN" sz="1400" dirty="0"/>
              <a:t>            }</a:t>
            </a:r>
          </a:p>
          <a:p>
            <a:endParaRPr lang="en-IN" sz="1400" dirty="0"/>
          </a:p>
          <a:p>
            <a:r>
              <a:rPr lang="en-IN" sz="1400" dirty="0"/>
              <a:t>            for (let </a:t>
            </a:r>
            <a:r>
              <a:rPr lang="en-IN" sz="1400" dirty="0" err="1"/>
              <a:t>i</a:t>
            </a:r>
            <a:r>
              <a:rPr lang="en-IN" sz="1400" dirty="0"/>
              <a:t> = 1; </a:t>
            </a:r>
            <a:r>
              <a:rPr lang="en-IN" sz="1400" dirty="0" err="1"/>
              <a:t>i</a:t>
            </a:r>
            <a:r>
              <a:rPr lang="en-IN" sz="1400" dirty="0"/>
              <a:t> &lt;= </a:t>
            </a:r>
            <a:r>
              <a:rPr lang="en-IN" sz="1400" dirty="0" err="1"/>
              <a:t>num</a:t>
            </a:r>
            <a:r>
              <a:rPr lang="en-IN" sz="1400" dirty="0"/>
              <a:t>; </a:t>
            </a:r>
            <a:r>
              <a:rPr lang="en-IN" sz="1400" dirty="0" err="1"/>
              <a:t>i</a:t>
            </a:r>
            <a:r>
              <a:rPr lang="en-IN" sz="1400" dirty="0"/>
              <a:t>++) {</a:t>
            </a:r>
          </a:p>
          <a:p>
            <a:r>
              <a:rPr lang="en-IN" sz="1400" dirty="0"/>
              <a:t>                fact = fact * </a:t>
            </a:r>
            <a:r>
              <a:rPr lang="en-IN" sz="1400" dirty="0" err="1"/>
              <a:t>i</a:t>
            </a:r>
            <a:r>
              <a:rPr lang="en-IN" sz="1400" dirty="0"/>
              <a:t>;</a:t>
            </a:r>
          </a:p>
          <a:p>
            <a:r>
              <a:rPr lang="en-IN" sz="1400" dirty="0"/>
              <a:t>            }</a:t>
            </a:r>
          </a:p>
          <a:p>
            <a:endParaRPr lang="en-IN" sz="1400" dirty="0"/>
          </a:p>
          <a:p>
            <a:r>
              <a:rPr lang="en-IN" sz="1400" dirty="0"/>
              <a:t>            </a:t>
            </a:r>
            <a:r>
              <a:rPr lang="en-IN" sz="1400" dirty="0" err="1"/>
              <a:t>document.getElementById</a:t>
            </a:r>
            <a:r>
              <a:rPr lang="en-IN" sz="1400" dirty="0"/>
              <a:t>("result").value = fact;</a:t>
            </a:r>
          </a:p>
          <a:p>
            <a:r>
              <a:rPr lang="en-IN" sz="1400" dirty="0"/>
              <a:t>        }</a:t>
            </a:r>
          </a:p>
          <a:p>
            <a:r>
              <a:rPr lang="en-IN" sz="1400" dirty="0"/>
              <a:t>    &lt;/script&gt;</a:t>
            </a:r>
          </a:p>
          <a:p>
            <a:r>
              <a:rPr lang="en-IN" sz="1400" dirty="0"/>
              <a:t>&lt;/head&gt;</a:t>
            </a:r>
          </a:p>
        </p:txBody>
      </p:sp>
      <p:sp>
        <p:nvSpPr>
          <p:cNvPr id="4" name="TextBox 3">
            <a:extLst>
              <a:ext uri="{FF2B5EF4-FFF2-40B4-BE49-F238E27FC236}">
                <a16:creationId xmlns:a16="http://schemas.microsoft.com/office/drawing/2014/main" id="{C7CDF592-D8BB-1F76-1AD2-F30B49B29102}"/>
              </a:ext>
            </a:extLst>
          </p:cNvPr>
          <p:cNvSpPr txBox="1"/>
          <p:nvPr/>
        </p:nvSpPr>
        <p:spPr>
          <a:xfrm>
            <a:off x="6212541" y="1806336"/>
            <a:ext cx="5334000" cy="3323987"/>
          </a:xfrm>
          <a:prstGeom prst="rect">
            <a:avLst/>
          </a:prstGeom>
          <a:noFill/>
        </p:spPr>
        <p:txBody>
          <a:bodyPr wrap="square" rtlCol="0">
            <a:spAutoFit/>
          </a:bodyPr>
          <a:lstStyle/>
          <a:p>
            <a:r>
              <a:rPr lang="en-IN" sz="1400" dirty="0"/>
              <a:t>&lt;body&gt;</a:t>
            </a:r>
          </a:p>
          <a:p>
            <a:endParaRPr lang="en-IN" sz="1400" dirty="0"/>
          </a:p>
          <a:p>
            <a:r>
              <a:rPr lang="en-IN" sz="1400" dirty="0"/>
              <a:t>    &lt;h2&gt;Factorial of a Number&lt;/h2&gt;</a:t>
            </a:r>
          </a:p>
          <a:p>
            <a:endParaRPr lang="en-IN" sz="1400" dirty="0"/>
          </a:p>
          <a:p>
            <a:r>
              <a:rPr lang="en-IN" sz="1400" dirty="0"/>
              <a:t>    Enter a number:</a:t>
            </a:r>
          </a:p>
          <a:p>
            <a:r>
              <a:rPr lang="en-IN" sz="1400" dirty="0"/>
              <a:t>    &lt;input type="text" id="</a:t>
            </a:r>
            <a:r>
              <a:rPr lang="en-IN" sz="1400" dirty="0" err="1"/>
              <a:t>num</a:t>
            </a:r>
            <a:r>
              <a:rPr lang="en-IN" sz="1400" dirty="0"/>
              <a:t>"&gt;&lt;</a:t>
            </a:r>
            <a:r>
              <a:rPr lang="en-IN" sz="1400" dirty="0" err="1"/>
              <a:t>br</a:t>
            </a:r>
            <a:r>
              <a:rPr lang="en-IN" sz="1400" dirty="0"/>
              <a:t>&gt;&lt;</a:t>
            </a:r>
            <a:r>
              <a:rPr lang="en-IN" sz="1400" dirty="0" err="1"/>
              <a:t>br</a:t>
            </a:r>
            <a:r>
              <a:rPr lang="en-IN" sz="1400" dirty="0"/>
              <a:t>&gt;</a:t>
            </a:r>
          </a:p>
          <a:p>
            <a:endParaRPr lang="en-IN" sz="1400" dirty="0"/>
          </a:p>
          <a:p>
            <a:r>
              <a:rPr lang="en-IN" sz="1400" dirty="0"/>
              <a:t>    &lt;input type="button" value="Find Factorial" onclick="</a:t>
            </a:r>
            <a:r>
              <a:rPr lang="en-IN" sz="1400" dirty="0" err="1"/>
              <a:t>findFactorial</a:t>
            </a:r>
            <a:r>
              <a:rPr lang="en-IN" sz="1400" dirty="0"/>
              <a:t>()"&gt;&lt;</a:t>
            </a:r>
            <a:r>
              <a:rPr lang="en-IN" sz="1400" dirty="0" err="1"/>
              <a:t>br</a:t>
            </a:r>
            <a:r>
              <a:rPr lang="en-IN" sz="1400" dirty="0"/>
              <a:t>&gt;&lt;</a:t>
            </a:r>
            <a:r>
              <a:rPr lang="en-IN" sz="1400" dirty="0" err="1"/>
              <a:t>br</a:t>
            </a:r>
            <a:r>
              <a:rPr lang="en-IN" sz="1400" dirty="0"/>
              <a:t>&gt;</a:t>
            </a:r>
          </a:p>
          <a:p>
            <a:endParaRPr lang="en-IN" sz="1400" dirty="0"/>
          </a:p>
          <a:p>
            <a:r>
              <a:rPr lang="en-IN" sz="1400" dirty="0"/>
              <a:t>    Result:</a:t>
            </a:r>
          </a:p>
          <a:p>
            <a:r>
              <a:rPr lang="en-IN" sz="1400" dirty="0"/>
              <a:t>    &lt;input type="text" id="result" </a:t>
            </a:r>
            <a:r>
              <a:rPr lang="en-IN" sz="1400" dirty="0" err="1"/>
              <a:t>readonly</a:t>
            </a:r>
            <a:r>
              <a:rPr lang="en-IN" sz="1400" dirty="0"/>
              <a:t>&gt;</a:t>
            </a:r>
          </a:p>
          <a:p>
            <a:endParaRPr lang="en-IN" sz="1400" dirty="0"/>
          </a:p>
          <a:p>
            <a:r>
              <a:rPr lang="en-IN" sz="1400" dirty="0"/>
              <a:t>&lt;/body&gt;</a:t>
            </a:r>
          </a:p>
          <a:p>
            <a:r>
              <a:rPr lang="en-IN" sz="1400" dirty="0"/>
              <a:t>&lt;/html&gt;</a:t>
            </a:r>
          </a:p>
        </p:txBody>
      </p:sp>
    </p:spTree>
    <p:extLst>
      <p:ext uri="{BB962C8B-B14F-4D97-AF65-F5344CB8AC3E}">
        <p14:creationId xmlns:p14="http://schemas.microsoft.com/office/powerpoint/2010/main" val="42788425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E54FF-1507-EC27-8098-1CF61B73EA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AA92A0-7CCC-BBA2-BF1E-6B9860669033}"/>
              </a:ext>
            </a:extLst>
          </p:cNvPr>
          <p:cNvSpPr txBox="1"/>
          <p:nvPr/>
        </p:nvSpPr>
        <p:spPr>
          <a:xfrm>
            <a:off x="528918" y="421341"/>
            <a:ext cx="11143129" cy="1077218"/>
          </a:xfrm>
          <a:prstGeom prst="rect">
            <a:avLst/>
          </a:prstGeom>
          <a:noFill/>
        </p:spPr>
        <p:txBody>
          <a:bodyPr wrap="square" rtlCol="0">
            <a:spAutoFit/>
          </a:bodyPr>
          <a:lstStyle/>
          <a:p>
            <a:r>
              <a:rPr lang="en-IN" sz="2400" dirty="0"/>
              <a:t>JavaScript and HTML Documents</a:t>
            </a:r>
            <a:r>
              <a:rPr lang="en-US" sz="2400" dirty="0"/>
              <a:t>:</a:t>
            </a:r>
          </a:p>
          <a:p>
            <a:endParaRPr lang="en-US" sz="2000" dirty="0"/>
          </a:p>
          <a:p>
            <a:endParaRPr lang="en-IN" sz="2000" dirty="0"/>
          </a:p>
        </p:txBody>
      </p:sp>
    </p:spTree>
    <p:extLst>
      <p:ext uri="{BB962C8B-B14F-4D97-AF65-F5344CB8AC3E}">
        <p14:creationId xmlns:p14="http://schemas.microsoft.com/office/powerpoint/2010/main" val="37722540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564EA-2460-9ED3-9848-7B26D39922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D350A7-CE39-CD86-FE78-1DA739A08FE4}"/>
              </a:ext>
            </a:extLst>
          </p:cNvPr>
          <p:cNvSpPr txBox="1"/>
          <p:nvPr/>
        </p:nvSpPr>
        <p:spPr>
          <a:xfrm>
            <a:off x="528918" y="421341"/>
            <a:ext cx="11143129" cy="1077218"/>
          </a:xfrm>
          <a:prstGeom prst="rect">
            <a:avLst/>
          </a:prstGeom>
          <a:noFill/>
        </p:spPr>
        <p:txBody>
          <a:bodyPr wrap="square" rtlCol="0">
            <a:spAutoFit/>
          </a:bodyPr>
          <a:lstStyle/>
          <a:p>
            <a:r>
              <a:rPr lang="en-IN" sz="2400" dirty="0"/>
              <a:t>JavaScript and HTML Documents</a:t>
            </a:r>
            <a:r>
              <a:rPr lang="en-US" sz="2400" dirty="0"/>
              <a:t>:</a:t>
            </a:r>
          </a:p>
          <a:p>
            <a:endParaRPr lang="en-US" sz="2000" dirty="0"/>
          </a:p>
          <a:p>
            <a:endParaRPr lang="en-IN" sz="2000" dirty="0"/>
          </a:p>
        </p:txBody>
      </p:sp>
    </p:spTree>
    <p:extLst>
      <p:ext uri="{BB962C8B-B14F-4D97-AF65-F5344CB8AC3E}">
        <p14:creationId xmlns:p14="http://schemas.microsoft.com/office/powerpoint/2010/main" val="18002365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CFC32C-7F35-4D0A-0DD2-174A91DE60B4}"/>
              </a:ext>
            </a:extLst>
          </p:cNvPr>
          <p:cNvSpPr txBox="1"/>
          <p:nvPr/>
        </p:nvSpPr>
        <p:spPr>
          <a:xfrm>
            <a:off x="510988" y="403412"/>
            <a:ext cx="11125200" cy="9325630"/>
          </a:xfrm>
          <a:prstGeom prst="rect">
            <a:avLst/>
          </a:prstGeom>
          <a:noFill/>
        </p:spPr>
        <p:txBody>
          <a:bodyPr wrap="square" rtlCol="0">
            <a:spAutoFit/>
          </a:bodyPr>
          <a:lstStyle/>
          <a:p>
            <a:r>
              <a:rPr lang="en-IN" sz="2400" dirty="0"/>
              <a:t>Introduction to XML</a:t>
            </a:r>
            <a:endParaRPr lang="en-US" sz="2400" dirty="0"/>
          </a:p>
          <a:p>
            <a:endParaRPr lang="en-US" dirty="0"/>
          </a:p>
          <a:p>
            <a:pPr algn="just">
              <a:spcBef>
                <a:spcPts val="600"/>
              </a:spcBef>
              <a:spcAft>
                <a:spcPts val="600"/>
              </a:spcAft>
            </a:pPr>
            <a:r>
              <a:rPr lang="en-US" sz="2000" dirty="0"/>
              <a:t> 1 Introduction</a:t>
            </a:r>
          </a:p>
          <a:p>
            <a:pPr algn="just">
              <a:spcBef>
                <a:spcPts val="600"/>
              </a:spcBef>
              <a:spcAft>
                <a:spcPts val="600"/>
              </a:spcAft>
            </a:pPr>
            <a:r>
              <a:rPr lang="en-US" sz="2000" dirty="0"/>
              <a:t> 2 The Syntax of XML</a:t>
            </a:r>
          </a:p>
          <a:p>
            <a:pPr algn="just">
              <a:spcBef>
                <a:spcPts val="600"/>
              </a:spcBef>
              <a:spcAft>
                <a:spcPts val="600"/>
              </a:spcAft>
            </a:pPr>
            <a:r>
              <a:rPr lang="en-US" sz="2000" dirty="0"/>
              <a:t> 3 XML Document Structure</a:t>
            </a:r>
          </a:p>
          <a:p>
            <a:pPr algn="just">
              <a:spcBef>
                <a:spcPts val="600"/>
              </a:spcBef>
              <a:spcAft>
                <a:spcPts val="600"/>
              </a:spcAft>
            </a:pPr>
            <a:r>
              <a:rPr lang="en-US" sz="2000" dirty="0"/>
              <a:t> 4 Document Type Definitions</a:t>
            </a:r>
          </a:p>
          <a:p>
            <a:pPr algn="just">
              <a:spcBef>
                <a:spcPts val="600"/>
              </a:spcBef>
              <a:spcAft>
                <a:spcPts val="600"/>
              </a:spcAft>
            </a:pPr>
            <a:r>
              <a:rPr lang="en-US" sz="2000" dirty="0"/>
              <a:t> 5 Namespaces</a:t>
            </a:r>
          </a:p>
          <a:p>
            <a:pPr algn="just">
              <a:spcBef>
                <a:spcPts val="600"/>
              </a:spcBef>
              <a:spcAft>
                <a:spcPts val="600"/>
              </a:spcAft>
            </a:pPr>
            <a:r>
              <a:rPr lang="en-US" sz="2000" dirty="0"/>
              <a:t> 6 XML Schemas</a:t>
            </a:r>
          </a:p>
          <a:p>
            <a:pPr algn="just">
              <a:spcBef>
                <a:spcPts val="600"/>
              </a:spcBef>
              <a:spcAft>
                <a:spcPts val="600"/>
              </a:spcAft>
            </a:pPr>
            <a:r>
              <a:rPr lang="en-US" sz="2000" dirty="0"/>
              <a:t> 7 Displaying Raw XML Documents</a:t>
            </a:r>
          </a:p>
          <a:p>
            <a:pPr algn="just">
              <a:spcBef>
                <a:spcPts val="600"/>
              </a:spcBef>
              <a:spcAft>
                <a:spcPts val="600"/>
              </a:spcAft>
            </a:pPr>
            <a:r>
              <a:rPr lang="en-US" sz="2000" dirty="0"/>
              <a:t> 8 Displaying XML Documents with CSS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13054601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87C21-C452-501E-CB3B-DEF15F40B9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C7D806-0A06-C3EB-EC44-19708A85636F}"/>
              </a:ext>
            </a:extLst>
          </p:cNvPr>
          <p:cNvSpPr txBox="1"/>
          <p:nvPr/>
        </p:nvSpPr>
        <p:spPr>
          <a:xfrm>
            <a:off x="510988" y="403412"/>
            <a:ext cx="11125200" cy="4708981"/>
          </a:xfrm>
          <a:prstGeom prst="rect">
            <a:avLst/>
          </a:prstGeom>
          <a:noFill/>
        </p:spPr>
        <p:txBody>
          <a:bodyPr wrap="square" rtlCol="0">
            <a:spAutoFit/>
          </a:bodyPr>
          <a:lstStyle/>
          <a:p>
            <a:r>
              <a:rPr lang="en-IN" sz="2400" dirty="0"/>
              <a:t>1 Introduction</a:t>
            </a:r>
            <a:endParaRPr lang="en-US" sz="2400" dirty="0"/>
          </a:p>
          <a:p>
            <a:endParaRPr lang="en-US" dirty="0"/>
          </a:p>
          <a:p>
            <a:pPr marL="342900" indent="-342900" algn="just">
              <a:buFont typeface="Arial" panose="020B0604020202020204" pitchFamily="34" charset="0"/>
              <a:buChar char="•"/>
            </a:pPr>
            <a:r>
              <a:rPr lang="en-IN" sz="2000" dirty="0"/>
              <a:t>A meta-markup language is a language for defining markup languages. </a:t>
            </a:r>
          </a:p>
          <a:p>
            <a:pPr marL="342900" indent="-342900" algn="just">
              <a:buFont typeface="Arial" panose="020B0604020202020204" pitchFamily="34" charset="0"/>
              <a:buChar char="•"/>
            </a:pPr>
            <a:r>
              <a:rPr lang="en-IN" sz="2000" dirty="0"/>
              <a:t>The Standard Generalized Markup Language (SGML) is a meta-markup language for defining markup languages that can describe a wide variety of document types. </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In </a:t>
            </a:r>
            <a:r>
              <a:rPr lang="en-US" sz="2000" dirty="0">
                <a:solidFill>
                  <a:srgbClr val="FF0000"/>
                </a:solidFill>
              </a:rPr>
              <a:t>1986</a:t>
            </a:r>
            <a:r>
              <a:rPr lang="en-US" sz="2000" dirty="0"/>
              <a:t>, SGML was approved as an International Standards Organization ( ISO) standard. </a:t>
            </a:r>
          </a:p>
          <a:p>
            <a:pPr marL="342900" indent="-342900" algn="just">
              <a:buFont typeface="Arial" panose="020B0604020202020204" pitchFamily="34" charset="0"/>
              <a:buChar char="•"/>
            </a:pPr>
            <a:r>
              <a:rPr lang="en-US" sz="2000" dirty="0"/>
              <a:t>In </a:t>
            </a:r>
            <a:r>
              <a:rPr lang="en-US" sz="2000" dirty="0">
                <a:solidFill>
                  <a:srgbClr val="FF0000"/>
                </a:solidFill>
              </a:rPr>
              <a:t>1990</a:t>
            </a:r>
            <a:r>
              <a:rPr lang="en-US" sz="2000" dirty="0"/>
              <a:t>, SGML was used as the basis for the development of HTML as the standard markup language for Web documents. </a:t>
            </a:r>
          </a:p>
          <a:p>
            <a:pPr marL="342900" indent="-342900" algn="just">
              <a:buFont typeface="Arial" panose="020B0604020202020204" pitchFamily="34" charset="0"/>
              <a:buChar char="•"/>
            </a:pPr>
            <a:r>
              <a:rPr lang="en-US" sz="2000" dirty="0"/>
              <a:t>In </a:t>
            </a:r>
            <a:r>
              <a:rPr lang="en-US" sz="2000" dirty="0">
                <a:solidFill>
                  <a:srgbClr val="FF0000"/>
                </a:solidFill>
              </a:rPr>
              <a:t>1996</a:t>
            </a:r>
            <a:r>
              <a:rPr lang="en-US" sz="2000" dirty="0"/>
              <a:t>, the World Wide Web Consortium ( W3C ) began work on XML, another meta-markup language. </a:t>
            </a:r>
          </a:p>
          <a:p>
            <a:pPr marL="342900" indent="-342900" algn="just">
              <a:buFont typeface="Arial" panose="020B0604020202020204" pitchFamily="34" charset="0"/>
              <a:buChar char="•"/>
            </a:pPr>
            <a:r>
              <a:rPr lang="en-US" sz="2000" dirty="0"/>
              <a:t>The first XML standard, 1.0, was published in February </a:t>
            </a:r>
            <a:r>
              <a:rPr lang="en-US" sz="2000" dirty="0">
                <a:solidFill>
                  <a:srgbClr val="FF0000"/>
                </a:solidFill>
              </a:rPr>
              <a:t>1998</a:t>
            </a:r>
            <a:r>
              <a:rPr lang="en-US" sz="2000" dirty="0"/>
              <a:t>. The second, 1.1, was published in </a:t>
            </a:r>
            <a:r>
              <a:rPr lang="en-US" sz="2000" dirty="0">
                <a:solidFill>
                  <a:srgbClr val="FF0000"/>
                </a:solidFill>
              </a:rPr>
              <a:t>2004</a:t>
            </a:r>
            <a:r>
              <a:rPr lang="en-US" sz="2000" dirty="0"/>
              <a:t>.</a:t>
            </a:r>
          </a:p>
          <a:p>
            <a:pPr marL="342900" indent="-342900" algn="just">
              <a:buFont typeface="Arial" panose="020B0604020202020204" pitchFamily="34" charset="0"/>
              <a:buChar char="•"/>
            </a:pPr>
            <a:endParaRPr lang="en-US" sz="2000" dirty="0"/>
          </a:p>
          <a:p>
            <a:endParaRPr lang="en-IN" dirty="0"/>
          </a:p>
        </p:txBody>
      </p:sp>
    </p:spTree>
    <p:extLst>
      <p:ext uri="{BB962C8B-B14F-4D97-AF65-F5344CB8AC3E}">
        <p14:creationId xmlns:p14="http://schemas.microsoft.com/office/powerpoint/2010/main" val="19276060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CDAEB-9A08-2A37-6A53-2D5AC91CC9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33AC33-8476-FD56-FB36-72B1DAED0AC8}"/>
              </a:ext>
            </a:extLst>
          </p:cNvPr>
          <p:cNvSpPr txBox="1"/>
          <p:nvPr/>
        </p:nvSpPr>
        <p:spPr>
          <a:xfrm>
            <a:off x="510988" y="403412"/>
            <a:ext cx="11125200" cy="11172289"/>
          </a:xfrm>
          <a:prstGeom prst="rect">
            <a:avLst/>
          </a:prstGeom>
          <a:noFill/>
        </p:spPr>
        <p:txBody>
          <a:bodyPr wrap="square" rtlCol="0">
            <a:spAutoFit/>
          </a:bodyPr>
          <a:lstStyle/>
          <a:p>
            <a:r>
              <a:rPr lang="en-US" sz="2400" dirty="0"/>
              <a:t>Continued…</a:t>
            </a:r>
          </a:p>
          <a:p>
            <a:endParaRPr lang="en-US" dirty="0"/>
          </a:p>
          <a:p>
            <a:pPr algn="just"/>
            <a:r>
              <a:rPr lang="en-US" sz="2000" dirty="0"/>
              <a:t>Deficiencies of HTML</a:t>
            </a:r>
          </a:p>
          <a:p>
            <a:pPr algn="just"/>
            <a:endParaRPr lang="en-US" sz="2000" dirty="0"/>
          </a:p>
          <a:p>
            <a:pPr marL="342900" indent="-342900" algn="just">
              <a:buFont typeface="Arial" panose="020B0604020202020204" pitchFamily="34" charset="0"/>
              <a:buChar char="•"/>
            </a:pPr>
            <a:r>
              <a:rPr lang="en-US" sz="2000" dirty="0"/>
              <a:t>HTML was defined to describe the layout of information without considering the </a:t>
            </a:r>
            <a:r>
              <a:rPr lang="en-US" sz="2000" dirty="0">
                <a:solidFill>
                  <a:srgbClr val="FF0000"/>
                </a:solidFill>
              </a:rPr>
              <a:t>meaning</a:t>
            </a:r>
            <a:r>
              <a:rPr lang="en-US" sz="2000" dirty="0"/>
              <a:t> of that information.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So, regardless of the kind of information being described with HTML, only its general form and layout can be described in a document.</a:t>
            </a:r>
          </a:p>
          <a:p>
            <a:pPr marL="800100" lvl="1" indent="-342900" algn="just">
              <a:buFont typeface="Arial" panose="020B0604020202020204" pitchFamily="34" charset="0"/>
              <a:buChar char="•"/>
            </a:pPr>
            <a:r>
              <a:rPr lang="en-US" sz="2000" dirty="0">
                <a:solidFill>
                  <a:srgbClr val="FF0000"/>
                </a:solidFill>
              </a:rPr>
              <a:t>Example car and car price</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Another potential problem with HTML is that it enforces few restrictions on the arrangement or order of tags in a document.</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solidFill>
                  <a:srgbClr val="FF0000"/>
                </a:solidFill>
              </a:rPr>
              <a:t>&lt;strong&gt; Now &lt;</a:t>
            </a:r>
            <a:r>
              <a:rPr lang="en-US" sz="2000" dirty="0" err="1">
                <a:solidFill>
                  <a:srgbClr val="FF0000"/>
                </a:solidFill>
              </a:rPr>
              <a:t>em</a:t>
            </a:r>
            <a:r>
              <a:rPr lang="en-US" sz="2000" dirty="0">
                <a:solidFill>
                  <a:srgbClr val="FF0000"/>
                </a:solidFill>
              </a:rPr>
              <a:t>&gt; is &lt;/strong&gt; the time &lt;/</a:t>
            </a:r>
            <a:r>
              <a:rPr lang="en-US" sz="2000" dirty="0" err="1">
                <a:solidFill>
                  <a:srgbClr val="FF0000"/>
                </a:solidFill>
              </a:rPr>
              <a:t>em</a:t>
            </a:r>
            <a:r>
              <a:rPr lang="en-US" sz="2000" dirty="0">
                <a:solidFill>
                  <a:srgbClr val="FF0000"/>
                </a:solidFill>
              </a:rPr>
              <a:t>&gt;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One solution that addresses the deficiencies of HTML is for each group of users with common document needs to develop its own set of tags and attributes and then use the SGML standard to define a new markup language to meet those needs.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12540886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86454-CA29-F2AE-B3CA-53D8CC8A30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C886C0-828F-100D-D8BB-5F1023D1926B}"/>
              </a:ext>
            </a:extLst>
          </p:cNvPr>
          <p:cNvSpPr txBox="1"/>
          <p:nvPr/>
        </p:nvSpPr>
        <p:spPr>
          <a:xfrm>
            <a:off x="510988" y="403412"/>
            <a:ext cx="11125200" cy="9941183"/>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An alternative solution to the problems of HTML is to define a simplified version of SGML and allow users to define their own markup languages based on it.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was designed to be that simplified version of SGML.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this context, “users” refers to organizations of people with common data description and processing needs.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chemists need to store chemical data in a standard format, providing a way to share data with other chemists and allowing all to use data-processing tools that work on chemical data stored in the same standard format, regardless of the origin of the data.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is important to understand that XML was not meant to be a replacement for HTML. In fact, the two languages have different goals</a:t>
            </a:r>
          </a:p>
          <a:p>
            <a:pPr marL="800100" lvl="1" indent="-342900" algn="just">
              <a:buFont typeface="Arial" panose="020B0604020202020204" pitchFamily="34" charset="0"/>
              <a:buChar char="•"/>
            </a:pPr>
            <a:r>
              <a:rPr lang="en-IN" sz="2000" dirty="0"/>
              <a:t>HTML - describe the layout</a:t>
            </a:r>
          </a:p>
          <a:p>
            <a:pPr marL="800100" lvl="1" indent="-342900" algn="just">
              <a:buFont typeface="Arial" panose="020B0604020202020204" pitchFamily="34" charset="0"/>
              <a:buChar char="•"/>
            </a:pPr>
            <a:r>
              <a:rPr lang="en-IN" sz="2000" dirty="0"/>
              <a:t>XML - </a:t>
            </a:r>
            <a:r>
              <a:rPr lang="en-US" sz="2000" dirty="0"/>
              <a:t>framework for defining specialized markup languages.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16724045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3DC53-E9EC-0488-CDF0-AE84656830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BED2E5-C3DD-FF48-9059-6EBF27D28FF7}"/>
              </a:ext>
            </a:extLst>
          </p:cNvPr>
          <p:cNvSpPr txBox="1"/>
          <p:nvPr/>
        </p:nvSpPr>
        <p:spPr>
          <a:xfrm>
            <a:off x="510988" y="403412"/>
            <a:ext cx="11125200" cy="8648521"/>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XML provides a simple and universal way of storing any textual data.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Data stored in XML documents can be electronically distributed and processed by any number of different applications.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specifies rules for creating markup languages.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XML includes no tags.</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XML tag and its content, together with the closing tag, are called an </a:t>
            </a:r>
            <a:r>
              <a:rPr lang="en-US" sz="2000" dirty="0">
                <a:solidFill>
                  <a:srgbClr val="FF0000"/>
                </a:solidFill>
              </a:rPr>
              <a:t>element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documents can be written by hand with a simple text editor - </a:t>
            </a:r>
            <a:r>
              <a:rPr lang="en-US" sz="2000" dirty="0" err="1">
                <a:solidFill>
                  <a:srgbClr val="FF0000"/>
                </a:solidFill>
              </a:rPr>
              <a:t>Altova</a:t>
            </a:r>
            <a:r>
              <a:rPr lang="en-US" sz="2000" dirty="0">
                <a:solidFill>
                  <a:srgbClr val="FF0000"/>
                </a:solidFill>
              </a:rPr>
              <a:t> </a:t>
            </a:r>
            <a:r>
              <a:rPr lang="en-US" sz="2000" dirty="0" err="1">
                <a:solidFill>
                  <a:srgbClr val="FF0000"/>
                </a:solidFill>
              </a:rPr>
              <a:t>XMLSpy</a:t>
            </a:r>
            <a:r>
              <a:rPr lang="en-US" sz="2000" dirty="0"/>
              <a:t>, the </a:t>
            </a:r>
            <a:r>
              <a:rPr lang="en-US" sz="2000" dirty="0">
                <a:solidFill>
                  <a:srgbClr val="FF0000"/>
                </a:solidFill>
              </a:rPr>
              <a:t>graphical editor for Windows</a:t>
            </a:r>
            <a:r>
              <a:rPr lang="en-US" sz="2000" dirty="0"/>
              <a:t>, the </a:t>
            </a:r>
            <a:r>
              <a:rPr lang="en-US" sz="2000" dirty="0">
                <a:solidFill>
                  <a:srgbClr val="FF0000"/>
                </a:solidFill>
              </a:rPr>
              <a:t>PSGML plug-in for the Emacs editor</a:t>
            </a:r>
            <a:r>
              <a:rPr lang="en-US" sz="2000" dirty="0"/>
              <a:t>, </a:t>
            </a:r>
            <a:r>
              <a:rPr lang="en-US" sz="2000" dirty="0" err="1">
                <a:solidFill>
                  <a:srgbClr val="FF0000"/>
                </a:solidFill>
              </a:rPr>
              <a:t>XMLFox</a:t>
            </a:r>
            <a:r>
              <a:rPr lang="en-US" sz="2000" dirty="0"/>
              <a:t>, and the </a:t>
            </a:r>
            <a:r>
              <a:rPr lang="en-US" sz="2000" dirty="0" err="1">
                <a:solidFill>
                  <a:srgbClr val="FF0000"/>
                </a:solidFill>
              </a:rPr>
              <a:t>Morphon</a:t>
            </a:r>
            <a:r>
              <a:rPr lang="en-US" sz="2000" dirty="0">
                <a:solidFill>
                  <a:srgbClr val="FF0000"/>
                </a:solidFill>
              </a:rPr>
              <a:t> XML-Editor</a:t>
            </a:r>
          </a:p>
          <a:p>
            <a:pPr algn="just"/>
            <a:endParaRPr lang="en-US" sz="2000" dirty="0"/>
          </a:p>
          <a:p>
            <a:pPr marL="342900" indent="-342900" algn="just">
              <a:buFont typeface="Arial" panose="020B0604020202020204" pitchFamily="34" charset="0"/>
              <a:buChar char="•"/>
            </a:pPr>
            <a:r>
              <a:rPr lang="en-US" sz="2000" dirty="0"/>
              <a:t>The data in an XML document can be displayed by browsers only if the </a:t>
            </a:r>
            <a:r>
              <a:rPr lang="en-US" sz="2000" dirty="0">
                <a:solidFill>
                  <a:srgbClr val="FF0000"/>
                </a:solidFill>
              </a:rPr>
              <a:t>presentation styles </a:t>
            </a:r>
            <a:r>
              <a:rPr lang="en-US" sz="2000" dirty="0"/>
              <a:t>are provided by </a:t>
            </a:r>
            <a:r>
              <a:rPr lang="en-US" sz="2000" dirty="0">
                <a:solidFill>
                  <a:srgbClr val="FF0000"/>
                </a:solidFill>
              </a:rPr>
              <a:t>style sheets</a:t>
            </a:r>
            <a:r>
              <a:rPr lang="en-US" sz="2000" dirty="0"/>
              <a:t> of some kind</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0644654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58AD-575E-386A-4F38-83F7E91683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2B7703-F0AA-80B1-99EB-F0738C7588C9}"/>
              </a:ext>
            </a:extLst>
          </p:cNvPr>
          <p:cNvSpPr txBox="1"/>
          <p:nvPr/>
        </p:nvSpPr>
        <p:spPr>
          <a:xfrm>
            <a:off x="510988" y="403412"/>
            <a:ext cx="11125200" cy="8340745"/>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Application programs that process the data in XML documents must analyze the documents before they gain access to the data.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This analysis is performed by an </a:t>
            </a:r>
            <a:r>
              <a:rPr lang="en-US" sz="2000" dirty="0">
                <a:solidFill>
                  <a:srgbClr val="FF0000"/>
                </a:solidFill>
              </a:rPr>
              <a:t>XML processor</a:t>
            </a:r>
            <a:r>
              <a:rPr lang="en-US" sz="2000" dirty="0"/>
              <a:t>, which has several tasks, one of which is to parse XML documents, a process that isolates the constituent parts (such as tags, attributes, and data strings) and provides them to an application.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documents have no hidden specifications. Therefore, XML documents are plain text, which is easily readable by both people and application programs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5985395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0251B-83B9-9E9A-3546-AD2B292A2D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633242-CECB-DD96-2B5E-644A02C525C0}"/>
              </a:ext>
            </a:extLst>
          </p:cNvPr>
          <p:cNvSpPr txBox="1"/>
          <p:nvPr/>
        </p:nvSpPr>
        <p:spPr>
          <a:xfrm>
            <a:off x="510988" y="403412"/>
            <a:ext cx="11125200" cy="9048631"/>
          </a:xfrm>
          <a:prstGeom prst="rect">
            <a:avLst/>
          </a:prstGeom>
          <a:noFill/>
        </p:spPr>
        <p:txBody>
          <a:bodyPr wrap="square" rtlCol="0">
            <a:spAutoFit/>
          </a:bodyPr>
          <a:lstStyle/>
          <a:p>
            <a:r>
              <a:rPr lang="en-US" sz="2400" b="1" dirty="0"/>
              <a:t>2 The Syntax of XML</a:t>
            </a:r>
            <a:endParaRPr lang="en-US" dirty="0"/>
          </a:p>
          <a:p>
            <a:pPr marL="342900" indent="-342900" algn="just">
              <a:buFont typeface="Arial" panose="020B0604020202020204" pitchFamily="34" charset="0"/>
              <a:buChar char="•"/>
            </a:pPr>
            <a:r>
              <a:rPr lang="en-US" sz="2000" dirty="0"/>
              <a:t>The syntax of XML can be thought of at two distinct levels. First, there is the </a:t>
            </a:r>
            <a:r>
              <a:rPr lang="en-US" sz="2000" dirty="0">
                <a:solidFill>
                  <a:srgbClr val="FF0000"/>
                </a:solidFill>
              </a:rPr>
              <a:t>general low-level syntax </a:t>
            </a:r>
            <a:r>
              <a:rPr lang="en-US" sz="2000" dirty="0"/>
              <a:t>of XML, which imposes its rules on all XML documents.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other syntactic level is specified by either </a:t>
            </a:r>
            <a:r>
              <a:rPr lang="en-US" sz="2000" dirty="0">
                <a:solidFill>
                  <a:srgbClr val="FF0000"/>
                </a:solidFill>
              </a:rPr>
              <a:t>document type definitions </a:t>
            </a:r>
            <a:r>
              <a:rPr lang="en-US" sz="2000" dirty="0"/>
              <a:t>( DTDs) or </a:t>
            </a:r>
            <a:r>
              <a:rPr lang="en-US" sz="2000" dirty="0">
                <a:solidFill>
                  <a:srgbClr val="FF0000"/>
                </a:solidFill>
              </a:rPr>
              <a:t>XML schemas</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DTDs and XML schemas specify the </a:t>
            </a:r>
            <a:r>
              <a:rPr lang="en-US" sz="2000" dirty="0">
                <a:solidFill>
                  <a:srgbClr val="FF0000"/>
                </a:solidFill>
              </a:rPr>
              <a:t>set of tags</a:t>
            </a:r>
            <a:r>
              <a:rPr lang="en-US" sz="2000" dirty="0"/>
              <a:t> and </a:t>
            </a:r>
            <a:r>
              <a:rPr lang="en-US" sz="2000" dirty="0">
                <a:solidFill>
                  <a:srgbClr val="FF0000"/>
                </a:solidFill>
              </a:rPr>
              <a:t>attributes</a:t>
            </a:r>
            <a:r>
              <a:rPr lang="en-US" sz="2000" dirty="0"/>
              <a:t> that can appear in a particular document or collection of documents and also the </a:t>
            </a:r>
            <a:r>
              <a:rPr lang="en-US" sz="2000" dirty="0">
                <a:solidFill>
                  <a:srgbClr val="FF0000"/>
                </a:solidFill>
              </a:rPr>
              <a:t>orders and arrangements </a:t>
            </a:r>
            <a:r>
              <a:rPr lang="en-US" sz="2000" dirty="0"/>
              <a:t>in which they can appear.</a:t>
            </a:r>
          </a:p>
          <a:p>
            <a:pPr marL="342900" indent="-342900" algn="just">
              <a:buFont typeface="Arial" panose="020B0604020202020204" pitchFamily="34" charset="0"/>
              <a:buChar char="•"/>
            </a:pPr>
            <a:r>
              <a:rPr lang="en-US" sz="2000" dirty="0"/>
              <a:t>An XML document can include several different kinds of statements. </a:t>
            </a:r>
          </a:p>
          <a:p>
            <a:pPr marL="1257300" lvl="2" indent="-342900" algn="just">
              <a:buFont typeface="Arial" panose="020B0604020202020204" pitchFamily="34" charset="0"/>
              <a:buChar char="•"/>
            </a:pPr>
            <a:r>
              <a:rPr lang="en-US" sz="2000" dirty="0"/>
              <a:t>The most common are the </a:t>
            </a:r>
            <a:r>
              <a:rPr lang="en-US" sz="2000" dirty="0">
                <a:solidFill>
                  <a:srgbClr val="FF0000"/>
                </a:solidFill>
              </a:rPr>
              <a:t>data elements</a:t>
            </a:r>
            <a:r>
              <a:rPr lang="en-US" sz="2000" dirty="0"/>
              <a:t> of the document.</a:t>
            </a:r>
          </a:p>
          <a:p>
            <a:pPr marL="1714500" lvl="3" indent="-342900" algn="just">
              <a:buFont typeface="Arial" panose="020B0604020202020204" pitchFamily="34" charset="0"/>
              <a:buChar char="•"/>
            </a:pPr>
            <a:r>
              <a:rPr lang="en-US" sz="2000" i="1" dirty="0">
                <a:solidFill>
                  <a:srgbClr val="00B0F0"/>
                </a:solidFill>
              </a:rPr>
              <a:t>&lt;title&gt;Programming the Web&lt;/title&gt;</a:t>
            </a:r>
          </a:p>
          <a:p>
            <a:pPr marL="1257300" lvl="2" indent="-342900" algn="just">
              <a:buFont typeface="Arial" panose="020B0604020202020204" pitchFamily="34" charset="0"/>
              <a:buChar char="•"/>
            </a:pPr>
            <a:r>
              <a:rPr lang="en-US" sz="2000" dirty="0"/>
              <a:t>XML documents may also include markup declarations, which are instructions to the </a:t>
            </a:r>
            <a:r>
              <a:rPr lang="en-US" sz="2000" dirty="0">
                <a:solidFill>
                  <a:srgbClr val="FF0000"/>
                </a:solidFill>
              </a:rPr>
              <a:t>XML parser</a:t>
            </a:r>
            <a:r>
              <a:rPr lang="en-US" sz="2000" dirty="0"/>
              <a:t>.</a:t>
            </a:r>
          </a:p>
          <a:p>
            <a:pPr marL="1714500" lvl="3" indent="-342900" algn="just">
              <a:buFont typeface="Arial" panose="020B0604020202020204" pitchFamily="34" charset="0"/>
              <a:buChar char="•"/>
            </a:pPr>
            <a:r>
              <a:rPr lang="en-US" sz="2000" dirty="0">
                <a:solidFill>
                  <a:srgbClr val="00B0F0"/>
                </a:solidFill>
              </a:rPr>
              <a:t>&lt;!DOCTYPE bookstore [ ... ]&gt; </a:t>
            </a:r>
            <a:r>
              <a:rPr lang="en-US" sz="2000" dirty="0"/>
              <a:t>- Like Schema</a:t>
            </a:r>
          </a:p>
          <a:p>
            <a:pPr marL="1257300" lvl="2" indent="-342900" algn="just">
              <a:buFont typeface="Arial" panose="020B0604020202020204" pitchFamily="34" charset="0"/>
              <a:buChar char="•"/>
            </a:pPr>
            <a:r>
              <a:rPr lang="en-US" sz="2000" dirty="0"/>
              <a:t>processing instructions, which are instructions for an </a:t>
            </a:r>
            <a:r>
              <a:rPr lang="en-US" sz="2000" dirty="0">
                <a:solidFill>
                  <a:srgbClr val="FF0000"/>
                </a:solidFill>
              </a:rPr>
              <a:t>application program </a:t>
            </a:r>
            <a:r>
              <a:rPr lang="en-US" sz="2000" dirty="0"/>
              <a:t>that will process the data described in the document.</a:t>
            </a:r>
          </a:p>
          <a:p>
            <a:pPr marL="1257300" lvl="2" indent="-342900" algn="just">
              <a:buFont typeface="Arial" panose="020B0604020202020204" pitchFamily="34" charset="0"/>
              <a:buChar char="•"/>
            </a:pPr>
            <a:r>
              <a:rPr lang="en-US" sz="2000" dirty="0">
                <a:solidFill>
                  <a:srgbClr val="00B0F0"/>
                </a:solidFill>
              </a:rPr>
              <a:t>&lt;?xml-stylesheet type="text/</a:t>
            </a:r>
            <a:r>
              <a:rPr lang="en-US" sz="2000" dirty="0" err="1">
                <a:solidFill>
                  <a:srgbClr val="00B0F0"/>
                </a:solidFill>
              </a:rPr>
              <a:t>xsl</a:t>
            </a:r>
            <a:r>
              <a:rPr lang="en-US" sz="2000" dirty="0">
                <a:solidFill>
                  <a:srgbClr val="00B0F0"/>
                </a:solidFill>
              </a:rPr>
              <a:t>" </a:t>
            </a:r>
            <a:r>
              <a:rPr lang="en-US" sz="2000" dirty="0" err="1">
                <a:solidFill>
                  <a:srgbClr val="00B0F0"/>
                </a:solidFill>
              </a:rPr>
              <a:t>href</a:t>
            </a:r>
            <a:r>
              <a:rPr lang="en-US" sz="2000" dirty="0">
                <a:solidFill>
                  <a:srgbClr val="00B0F0"/>
                </a:solidFill>
              </a:rPr>
              <a:t>="bookstyle.xsl"?&gt;</a:t>
            </a:r>
            <a:r>
              <a:rPr lang="en-US" sz="2000" dirty="0">
                <a:solidFill>
                  <a:srgbClr val="FFFF00"/>
                </a:solidFill>
              </a:rPr>
              <a:t>   </a:t>
            </a:r>
            <a:r>
              <a:rPr lang="en-US" sz="2000" dirty="0"/>
              <a:t>- Tells the application to use an XSL file to style/transform the XML.</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5681757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0E37-5A40-D8C1-B133-83FDA34A89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62A4D3-D81A-7B14-46C6-8050B5651B52}"/>
              </a:ext>
            </a:extLst>
          </p:cNvPr>
          <p:cNvSpPr txBox="1"/>
          <p:nvPr/>
        </p:nvSpPr>
        <p:spPr>
          <a:xfrm>
            <a:off x="510988" y="403412"/>
            <a:ext cx="11125200" cy="5940088"/>
          </a:xfrm>
          <a:prstGeom prst="rect">
            <a:avLst/>
          </a:prstGeom>
          <a:noFill/>
        </p:spPr>
        <p:txBody>
          <a:bodyPr wrap="square" rtlCol="0">
            <a:spAutoFit/>
          </a:bodyPr>
          <a:lstStyle/>
          <a:p>
            <a:r>
              <a:rPr lang="en-US" sz="2400" dirty="0"/>
              <a:t>Syntax Rules…</a:t>
            </a:r>
          </a:p>
          <a:p>
            <a:endParaRPr lang="en-US" dirty="0"/>
          </a:p>
          <a:p>
            <a:pPr marL="342900" indent="-342900" algn="just">
              <a:buFont typeface="Arial" panose="020B0604020202020204" pitchFamily="34" charset="0"/>
              <a:buChar char="•"/>
            </a:pPr>
            <a:r>
              <a:rPr lang="en-US" sz="2000" dirty="0"/>
              <a:t>The XML declaration identifies the document as XML and provides the version number of the XML standard used. It may also specify an encoding standard.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Comments in XML are the same as in HTML.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a:t>
            </a:r>
            <a:r>
              <a:rPr lang="en-US" sz="2000" dirty="0">
                <a:solidFill>
                  <a:srgbClr val="FF0000"/>
                </a:solidFill>
              </a:rPr>
              <a:t>names</a:t>
            </a:r>
            <a:r>
              <a:rPr lang="en-US" sz="2000" dirty="0"/>
              <a:t> are used to </a:t>
            </a:r>
            <a:r>
              <a:rPr lang="en-US" sz="2000" dirty="0">
                <a:solidFill>
                  <a:srgbClr val="FF0000"/>
                </a:solidFill>
              </a:rPr>
              <a:t>name elements and attributes</a:t>
            </a:r>
            <a:r>
              <a:rPr lang="en-US" sz="2000" dirty="0"/>
              <a:t>. An XML name must begin with a letter or an underscore and can include digits, hyphens, and periods – </a:t>
            </a:r>
            <a:r>
              <a:rPr lang="en-US" sz="2000" dirty="0">
                <a:solidFill>
                  <a:srgbClr val="FF0000"/>
                </a:solidFill>
              </a:rPr>
              <a:t>case sensitive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small set of syntax rules applies to all XML documents.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Every XML document defines a single </a:t>
            </a:r>
            <a:r>
              <a:rPr lang="en-US" sz="2000" dirty="0">
                <a:solidFill>
                  <a:srgbClr val="FF0000"/>
                </a:solidFill>
              </a:rPr>
              <a:t>root</a:t>
            </a:r>
            <a:r>
              <a:rPr lang="en-US" sz="2000" dirty="0"/>
              <a:t> element, whose opening tag must appear on the first line of XML code. All other elements of an XML document must be </a:t>
            </a:r>
            <a:r>
              <a:rPr lang="en-US" sz="2000" dirty="0">
                <a:solidFill>
                  <a:srgbClr val="FF0000"/>
                </a:solidFill>
              </a:rPr>
              <a:t>nested inside the root element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Every XML element that can have content must have a closing tag. Elements that do not include content must use a tag with the following form:</a:t>
            </a:r>
          </a:p>
          <a:p>
            <a:r>
              <a:rPr lang="en-IN" dirty="0"/>
              <a:t>	 </a:t>
            </a:r>
            <a:r>
              <a:rPr lang="en-IN" i="1" dirty="0"/>
              <a:t>&lt;</a:t>
            </a:r>
            <a:r>
              <a:rPr lang="en-IN" i="1" dirty="0" err="1"/>
              <a:t>element_name</a:t>
            </a:r>
            <a:r>
              <a:rPr lang="en-IN" i="1" dirty="0"/>
              <a:t> /&gt;</a:t>
            </a:r>
          </a:p>
          <a:p>
            <a:pPr marL="285750" indent="-285750">
              <a:buFont typeface="Arial" panose="020B0604020202020204" pitchFamily="34" charset="0"/>
              <a:buChar char="•"/>
            </a:pPr>
            <a:r>
              <a:rPr lang="en-US" sz="2000" dirty="0"/>
              <a:t>XML tags can have attributes, which are specified with name–value assignments –</a:t>
            </a:r>
            <a:r>
              <a:rPr lang="en-US" sz="2000" dirty="0">
                <a:solidFill>
                  <a:srgbClr val="FF0000"/>
                </a:solidFill>
              </a:rPr>
              <a:t>“attribute value” </a:t>
            </a:r>
            <a:endParaRPr lang="en-IN" sz="2000" i="1" dirty="0">
              <a:solidFill>
                <a:srgbClr val="FF0000"/>
              </a:solidFill>
            </a:endParaRPr>
          </a:p>
        </p:txBody>
      </p:sp>
    </p:spTree>
    <p:extLst>
      <p:ext uri="{BB962C8B-B14F-4D97-AF65-F5344CB8AC3E}">
        <p14:creationId xmlns:p14="http://schemas.microsoft.com/office/powerpoint/2010/main" val="30819764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5F44-CDB1-26F6-D444-84D28AE401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BA3F90-B6F2-DB62-133F-1062346A6148}"/>
              </a:ext>
            </a:extLst>
          </p:cNvPr>
          <p:cNvSpPr txBox="1"/>
          <p:nvPr/>
        </p:nvSpPr>
        <p:spPr>
          <a:xfrm>
            <a:off x="510988" y="403412"/>
            <a:ext cx="11125200" cy="5632311"/>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An XML document that strictly adheres to these syntax rules is considered </a:t>
            </a:r>
            <a:r>
              <a:rPr lang="en-US" sz="2000" i="1" dirty="0">
                <a:solidFill>
                  <a:srgbClr val="FF0000"/>
                </a:solidFill>
              </a:rPr>
              <a:t>well formed</a:t>
            </a:r>
            <a:r>
              <a:rPr lang="en-US" sz="2000" dirty="0"/>
              <a:t>.</a:t>
            </a:r>
          </a:p>
          <a:p>
            <a:pPr algn="just"/>
            <a:endParaRPr lang="en-US" sz="2000" dirty="0"/>
          </a:p>
          <a:p>
            <a:pPr lvl="1" algn="just"/>
            <a:r>
              <a:rPr lang="en-US" sz="2000" dirty="0"/>
              <a:t> </a:t>
            </a:r>
            <a:r>
              <a:rPr lang="en-US" sz="2000" dirty="0">
                <a:latin typeface="Microsoft Yi Baiti" panose="03000500000000000000" pitchFamily="66" charset="0"/>
                <a:ea typeface="Microsoft Yi Baiti" panose="03000500000000000000" pitchFamily="66" charset="0"/>
              </a:rPr>
              <a:t>&lt;?xml version = "1.0" encoding = "utf-8"?&gt;</a:t>
            </a:r>
          </a:p>
          <a:p>
            <a:pPr lvl="1" algn="just"/>
            <a:r>
              <a:rPr lang="en-US" sz="2000" dirty="0">
                <a:latin typeface="Microsoft Yi Baiti" panose="03000500000000000000" pitchFamily="66" charset="0"/>
                <a:ea typeface="Microsoft Yi Baiti" panose="03000500000000000000" pitchFamily="66" charset="0"/>
              </a:rPr>
              <a:t> &lt;ad&gt;</a:t>
            </a:r>
          </a:p>
          <a:p>
            <a:pPr lvl="1" algn="just"/>
            <a:r>
              <a:rPr lang="en-US" sz="2000" dirty="0">
                <a:latin typeface="Microsoft Yi Baiti" panose="03000500000000000000" pitchFamily="66" charset="0"/>
                <a:ea typeface="Microsoft Yi Baiti" panose="03000500000000000000" pitchFamily="66" charset="0"/>
              </a:rPr>
              <a:t>  &lt;year&gt; 1960 &lt;/year&gt;</a:t>
            </a:r>
          </a:p>
          <a:p>
            <a:pPr lvl="1" algn="just"/>
            <a:r>
              <a:rPr lang="en-US" sz="2000" dirty="0">
                <a:latin typeface="Microsoft Yi Baiti" panose="03000500000000000000" pitchFamily="66" charset="0"/>
                <a:ea typeface="Microsoft Yi Baiti" panose="03000500000000000000" pitchFamily="66" charset="0"/>
              </a:rPr>
              <a:t>  &lt;make&gt; Cessna &lt;/make&gt;</a:t>
            </a:r>
          </a:p>
          <a:p>
            <a:pPr lvl="1" algn="just"/>
            <a:r>
              <a:rPr lang="en-US" sz="2000" dirty="0">
                <a:latin typeface="Microsoft Yi Baiti" panose="03000500000000000000" pitchFamily="66" charset="0"/>
                <a:ea typeface="Microsoft Yi Baiti" panose="03000500000000000000" pitchFamily="66" charset="0"/>
              </a:rPr>
              <a:t>  &lt;model&gt; Centurian &lt;/model&gt;</a:t>
            </a:r>
          </a:p>
          <a:p>
            <a:pPr lvl="1" algn="just"/>
            <a:r>
              <a:rPr lang="en-US" sz="2000" dirty="0">
                <a:latin typeface="Microsoft Yi Baiti" panose="03000500000000000000" pitchFamily="66" charset="0"/>
                <a:ea typeface="Microsoft Yi Baiti" panose="03000500000000000000" pitchFamily="66" charset="0"/>
              </a:rPr>
              <a:t>  &lt;color&gt; Yellow with white trim &lt;/color&gt;</a:t>
            </a:r>
          </a:p>
          <a:p>
            <a:pPr lvl="1" algn="just"/>
            <a:r>
              <a:rPr lang="en-US" sz="2000" dirty="0">
                <a:latin typeface="Microsoft Yi Baiti" panose="03000500000000000000" pitchFamily="66" charset="0"/>
                <a:ea typeface="Microsoft Yi Baiti" panose="03000500000000000000" pitchFamily="66" charset="0"/>
              </a:rPr>
              <a:t>  &lt;location&gt;</a:t>
            </a:r>
          </a:p>
          <a:p>
            <a:pPr lvl="1" algn="just"/>
            <a:r>
              <a:rPr lang="en-US" sz="2000" dirty="0">
                <a:latin typeface="Microsoft Yi Baiti" panose="03000500000000000000" pitchFamily="66" charset="0"/>
                <a:ea typeface="Microsoft Yi Baiti" panose="03000500000000000000" pitchFamily="66" charset="0"/>
              </a:rPr>
              <a:t>    &lt;city&gt; Gulfport &lt;/city&gt;</a:t>
            </a:r>
          </a:p>
          <a:p>
            <a:pPr lvl="1" algn="just"/>
            <a:r>
              <a:rPr lang="en-US" sz="2000" dirty="0">
                <a:latin typeface="Microsoft Yi Baiti" panose="03000500000000000000" pitchFamily="66" charset="0"/>
                <a:ea typeface="Microsoft Yi Baiti" panose="03000500000000000000" pitchFamily="66" charset="0"/>
              </a:rPr>
              <a:t>    &lt;state&gt; Mississippi &lt;/state&gt;</a:t>
            </a:r>
          </a:p>
          <a:p>
            <a:pPr lvl="1" algn="just"/>
            <a:r>
              <a:rPr lang="en-US" sz="2000" dirty="0">
                <a:latin typeface="Microsoft Yi Baiti" panose="03000500000000000000" pitchFamily="66" charset="0"/>
                <a:ea typeface="Microsoft Yi Baiti" panose="03000500000000000000" pitchFamily="66" charset="0"/>
              </a:rPr>
              <a:t>  &lt;/location&gt;</a:t>
            </a:r>
          </a:p>
          <a:p>
            <a:pPr lvl="1" algn="just"/>
            <a:r>
              <a:rPr lang="en-US" sz="2000" dirty="0">
                <a:latin typeface="Microsoft Yi Baiti" panose="03000500000000000000" pitchFamily="66" charset="0"/>
                <a:ea typeface="Microsoft Yi Baiti" panose="03000500000000000000" pitchFamily="66" charset="0"/>
              </a:rPr>
              <a:t> &lt;/ad&gt;</a:t>
            </a:r>
          </a:p>
          <a:p>
            <a:endParaRPr lang="en-IN" dirty="0"/>
          </a:p>
          <a:p>
            <a:pPr marL="342900" indent="-342900">
              <a:buFont typeface="Arial" panose="020B0604020202020204" pitchFamily="34" charset="0"/>
              <a:buChar char="•"/>
            </a:pPr>
            <a:r>
              <a:rPr lang="en-US" sz="2000" dirty="0"/>
              <a:t>If the data in question is an image, a reference to it can only be an attribute because such a reference cannot be the content of an element</a:t>
            </a:r>
            <a:endParaRPr lang="en-IN" sz="2000" dirty="0"/>
          </a:p>
        </p:txBody>
      </p:sp>
    </p:spTree>
    <p:extLst>
      <p:ext uri="{BB962C8B-B14F-4D97-AF65-F5344CB8AC3E}">
        <p14:creationId xmlns:p14="http://schemas.microsoft.com/office/powerpoint/2010/main" val="2139155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24FF-04E2-4B42-7256-5617383786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E02584-5184-9066-0957-A6F05A9C6FCE}"/>
              </a:ext>
            </a:extLst>
          </p:cNvPr>
          <p:cNvSpPr txBox="1"/>
          <p:nvPr/>
        </p:nvSpPr>
        <p:spPr>
          <a:xfrm>
            <a:off x="510988" y="403412"/>
            <a:ext cx="11125200" cy="3785652"/>
          </a:xfrm>
          <a:prstGeom prst="rect">
            <a:avLst/>
          </a:prstGeom>
          <a:noFill/>
        </p:spPr>
        <p:txBody>
          <a:bodyPr wrap="square" rtlCol="0">
            <a:spAutoFit/>
          </a:bodyPr>
          <a:lstStyle/>
          <a:p>
            <a:pPr algn="just"/>
            <a:r>
              <a:rPr lang="en-US" sz="2000" dirty="0"/>
              <a:t>In some cases, nested tags are better than attributes.</a:t>
            </a:r>
          </a:p>
          <a:p>
            <a:pPr algn="just"/>
            <a:endParaRPr lang="en-US" sz="2000" dirty="0"/>
          </a:p>
          <a:p>
            <a:pPr algn="just"/>
            <a:r>
              <a:rPr lang="en-US" sz="2000" dirty="0"/>
              <a:t>A nested element should be used if the data is </a:t>
            </a:r>
            <a:r>
              <a:rPr lang="en-US" sz="2000" dirty="0" err="1"/>
              <a:t>subdata</a:t>
            </a:r>
            <a:r>
              <a:rPr lang="en-US" sz="2000" dirty="0"/>
              <a:t> of the parent element’s content rather than information about the data of the parent element.</a:t>
            </a:r>
          </a:p>
          <a:p>
            <a:pPr algn="just"/>
            <a:endParaRPr lang="en-US" sz="2000" dirty="0"/>
          </a:p>
          <a:p>
            <a:pPr marL="342900" indent="-342900" algn="just">
              <a:buFont typeface="Arial" panose="020B0604020202020204" pitchFamily="34" charset="0"/>
              <a:buChar char="•"/>
            </a:pPr>
            <a:r>
              <a:rPr lang="en-US" sz="2000" dirty="0"/>
              <a:t>There is one situation in which an attribute should always be used: to identify numbers or names of elements, exactly as the </a:t>
            </a:r>
            <a:r>
              <a:rPr lang="en-US" sz="2000" dirty="0">
                <a:solidFill>
                  <a:srgbClr val="FF0000"/>
                </a:solidFill>
              </a:rPr>
              <a:t>id</a:t>
            </a:r>
            <a:r>
              <a:rPr lang="en-US" sz="2000" dirty="0"/>
              <a:t> and </a:t>
            </a:r>
            <a:r>
              <a:rPr lang="en-US" sz="2000" dirty="0">
                <a:solidFill>
                  <a:srgbClr val="FF0000"/>
                </a:solidFill>
              </a:rPr>
              <a:t>name</a:t>
            </a:r>
            <a:r>
              <a:rPr lang="en-US" sz="2000" dirty="0"/>
              <a:t> attributes are used in HTML. </a:t>
            </a:r>
          </a:p>
          <a:p>
            <a:pPr marL="342900" indent="-342900" algn="just">
              <a:buFont typeface="Arial" panose="020B0604020202020204" pitchFamily="34" charset="0"/>
              <a:buChar char="•"/>
            </a:pPr>
            <a:r>
              <a:rPr lang="en-US" sz="2000" dirty="0"/>
              <a:t>An attribute also should be used if the data in question is one value from a given set of possibilities. </a:t>
            </a:r>
          </a:p>
          <a:p>
            <a:pPr marL="342900" indent="-342900" algn="just">
              <a:buFont typeface="Arial" panose="020B0604020202020204" pitchFamily="34" charset="0"/>
              <a:buChar char="•"/>
            </a:pPr>
            <a:r>
              <a:rPr lang="en-US" sz="2000" dirty="0"/>
              <a:t>Finally, attributes should be used if there is no substructure or if it is really just information about the element.</a:t>
            </a:r>
          </a:p>
          <a:p>
            <a:pPr algn="just"/>
            <a:endParaRPr lang="en-IN" sz="2000" dirty="0">
              <a:solidFill>
                <a:srgbClr val="00B050"/>
              </a:solidFill>
            </a:endParaRPr>
          </a:p>
        </p:txBody>
      </p:sp>
      <p:sp>
        <p:nvSpPr>
          <p:cNvPr id="8" name="TextBox 7">
            <a:extLst>
              <a:ext uri="{FF2B5EF4-FFF2-40B4-BE49-F238E27FC236}">
                <a16:creationId xmlns:a16="http://schemas.microsoft.com/office/drawing/2014/main" id="{28E741C6-3324-6576-AAEA-510D8FAE141D}"/>
              </a:ext>
            </a:extLst>
          </p:cNvPr>
          <p:cNvSpPr txBox="1"/>
          <p:nvPr/>
        </p:nvSpPr>
        <p:spPr>
          <a:xfrm>
            <a:off x="815788" y="3871062"/>
            <a:ext cx="10408024" cy="5355312"/>
          </a:xfrm>
          <a:prstGeom prst="rect">
            <a:avLst/>
          </a:prstGeom>
          <a:noFill/>
        </p:spPr>
        <p:txBody>
          <a:bodyPr wrap="square" numCol="2">
            <a:spAutoFit/>
          </a:bodyPr>
          <a:lstStyle/>
          <a:p>
            <a:pPr algn="just"/>
            <a:r>
              <a:rPr lang="en-US" sz="1800" dirty="0">
                <a:solidFill>
                  <a:srgbClr val="FF0000"/>
                </a:solidFill>
              </a:rPr>
              <a:t>&lt;!-- A tag with one attribute --&gt;</a:t>
            </a:r>
          </a:p>
          <a:p>
            <a:pPr algn="just"/>
            <a:r>
              <a:rPr lang="en-US" sz="1800" dirty="0">
                <a:solidFill>
                  <a:srgbClr val="FF0000"/>
                </a:solidFill>
              </a:rPr>
              <a:t> &lt;patient name = "Maggie Dee Magpie"&gt;</a:t>
            </a:r>
          </a:p>
          <a:p>
            <a:pPr algn="just"/>
            <a:r>
              <a:rPr lang="en-US" sz="1800" dirty="0">
                <a:solidFill>
                  <a:srgbClr val="FF0000"/>
                </a:solidFill>
              </a:rPr>
              <a:t>  ...</a:t>
            </a:r>
          </a:p>
          <a:p>
            <a:pPr algn="just"/>
            <a:r>
              <a:rPr lang="en-US" sz="1800" dirty="0">
                <a:solidFill>
                  <a:srgbClr val="FF0000"/>
                </a:solidFill>
              </a:rPr>
              <a:t> &lt;/patient&gt;</a:t>
            </a:r>
          </a:p>
          <a:p>
            <a:pPr algn="just"/>
            <a:r>
              <a:rPr lang="en-US" sz="1800" dirty="0">
                <a:solidFill>
                  <a:srgbClr val="002060"/>
                </a:solidFill>
              </a:rPr>
              <a:t> &lt;!-- A tag with one nested tag --&gt;</a:t>
            </a:r>
          </a:p>
          <a:p>
            <a:pPr algn="just"/>
            <a:r>
              <a:rPr lang="en-US" sz="1800" dirty="0">
                <a:solidFill>
                  <a:srgbClr val="002060"/>
                </a:solidFill>
              </a:rPr>
              <a:t> &lt;patient&gt;</a:t>
            </a:r>
          </a:p>
          <a:p>
            <a:pPr algn="just"/>
            <a:r>
              <a:rPr lang="en-US" sz="1800" dirty="0">
                <a:solidFill>
                  <a:srgbClr val="002060"/>
                </a:solidFill>
              </a:rPr>
              <a:t>  &lt;name&gt; Maggie Dee Magpie &lt;/name&gt;</a:t>
            </a:r>
          </a:p>
          <a:p>
            <a:pPr algn="just"/>
            <a:r>
              <a:rPr lang="en-US" sz="1800" dirty="0">
                <a:solidFill>
                  <a:srgbClr val="002060"/>
                </a:solidFill>
              </a:rPr>
              <a:t>  ...</a:t>
            </a:r>
          </a:p>
          <a:p>
            <a:pPr algn="just"/>
            <a:r>
              <a:rPr lang="en-US" sz="1800" dirty="0">
                <a:solidFill>
                  <a:srgbClr val="002060"/>
                </a:solidFill>
              </a:rPr>
              <a:t> &lt;/patient&gt;</a:t>
            </a:r>
          </a:p>
          <a:p>
            <a:pPr algn="just"/>
            <a:endParaRPr lang="en-US" sz="1800" dirty="0"/>
          </a:p>
          <a:p>
            <a:pPr algn="just"/>
            <a:endParaRPr lang="en-US" dirty="0"/>
          </a:p>
          <a:p>
            <a:pPr algn="just"/>
            <a:endParaRPr lang="en-US" sz="1800" dirty="0"/>
          </a:p>
          <a:p>
            <a:pPr algn="just"/>
            <a:endParaRPr lang="en-US" dirty="0"/>
          </a:p>
          <a:p>
            <a:pPr algn="just"/>
            <a:endParaRPr lang="en-US" sz="1800" dirty="0"/>
          </a:p>
          <a:p>
            <a:pPr algn="just"/>
            <a:endParaRPr lang="en-US" dirty="0"/>
          </a:p>
          <a:p>
            <a:pPr algn="just"/>
            <a:endParaRPr lang="en-US" sz="1800" dirty="0"/>
          </a:p>
          <a:p>
            <a:pPr algn="just"/>
            <a:endParaRPr lang="en-US" dirty="0"/>
          </a:p>
          <a:p>
            <a:pPr algn="just"/>
            <a:endParaRPr lang="en-US" sz="1800" dirty="0"/>
          </a:p>
          <a:p>
            <a:pPr algn="just"/>
            <a:endParaRPr lang="en-US" dirty="0"/>
          </a:p>
          <a:p>
            <a:pPr algn="just"/>
            <a:r>
              <a:rPr lang="en-US" sz="1800" dirty="0"/>
              <a:t> </a:t>
            </a:r>
            <a:r>
              <a:rPr lang="en-US" sz="1800" dirty="0">
                <a:solidFill>
                  <a:srgbClr val="00B050"/>
                </a:solidFill>
              </a:rPr>
              <a:t>&lt;!-- A tag with one nested tag, which contains three nested tags --&gt;</a:t>
            </a:r>
          </a:p>
          <a:p>
            <a:pPr algn="just"/>
            <a:r>
              <a:rPr lang="en-US" sz="1800" dirty="0">
                <a:solidFill>
                  <a:srgbClr val="00B050"/>
                </a:solidFill>
              </a:rPr>
              <a:t> &lt;patient&gt;</a:t>
            </a:r>
          </a:p>
          <a:p>
            <a:pPr algn="just"/>
            <a:r>
              <a:rPr lang="en-US" sz="1800" dirty="0">
                <a:solidFill>
                  <a:srgbClr val="00B050"/>
                </a:solidFill>
              </a:rPr>
              <a:t>  &lt;name&gt;</a:t>
            </a:r>
          </a:p>
          <a:p>
            <a:pPr algn="just"/>
            <a:r>
              <a:rPr lang="en-US" sz="1800" dirty="0">
                <a:solidFill>
                  <a:srgbClr val="00B050"/>
                </a:solidFill>
              </a:rPr>
              <a:t>    &lt;first&gt; Maggie &lt;/first&gt;</a:t>
            </a:r>
          </a:p>
          <a:p>
            <a:pPr algn="just"/>
            <a:r>
              <a:rPr lang="en-US" sz="1800" dirty="0">
                <a:solidFill>
                  <a:srgbClr val="00B050"/>
                </a:solidFill>
              </a:rPr>
              <a:t>    &lt;middle&gt; Dee &lt;/middle&gt;</a:t>
            </a:r>
          </a:p>
          <a:p>
            <a:pPr algn="just"/>
            <a:r>
              <a:rPr lang="en-US" sz="1800" dirty="0">
                <a:solidFill>
                  <a:srgbClr val="00B050"/>
                </a:solidFill>
              </a:rPr>
              <a:t>    &lt;last&gt; Magpie &lt;/last&gt;</a:t>
            </a:r>
          </a:p>
          <a:p>
            <a:pPr algn="just"/>
            <a:r>
              <a:rPr lang="en-US" sz="1800" dirty="0">
                <a:solidFill>
                  <a:srgbClr val="00B050"/>
                </a:solidFill>
              </a:rPr>
              <a:t>  &lt;/name&gt;</a:t>
            </a:r>
          </a:p>
          <a:p>
            <a:pPr algn="just"/>
            <a:r>
              <a:rPr lang="en-US" sz="1800" dirty="0">
                <a:solidFill>
                  <a:srgbClr val="00B050"/>
                </a:solidFill>
              </a:rPr>
              <a:t>  ...</a:t>
            </a:r>
          </a:p>
          <a:p>
            <a:pPr algn="just"/>
            <a:r>
              <a:rPr lang="en-US" sz="1800" dirty="0">
                <a:solidFill>
                  <a:srgbClr val="00B050"/>
                </a:solidFill>
              </a:rPr>
              <a:t> &lt;/patient&gt;</a:t>
            </a:r>
            <a:endParaRPr lang="en-IN" dirty="0"/>
          </a:p>
        </p:txBody>
      </p:sp>
    </p:spTree>
    <p:extLst>
      <p:ext uri="{BB962C8B-B14F-4D97-AF65-F5344CB8AC3E}">
        <p14:creationId xmlns:p14="http://schemas.microsoft.com/office/powerpoint/2010/main" val="26987820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1078F-A54C-EBC6-F3A1-BA19EA73C1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F26F0D-022C-F951-721B-E3880E2E76D0}"/>
              </a:ext>
            </a:extLst>
          </p:cNvPr>
          <p:cNvSpPr txBox="1"/>
          <p:nvPr/>
        </p:nvSpPr>
        <p:spPr>
          <a:xfrm>
            <a:off x="510988" y="403412"/>
            <a:ext cx="11125200" cy="5940088"/>
          </a:xfrm>
          <a:prstGeom prst="rect">
            <a:avLst/>
          </a:prstGeom>
          <a:noFill/>
        </p:spPr>
        <p:txBody>
          <a:bodyPr wrap="square" rtlCol="0">
            <a:spAutoFit/>
          </a:bodyPr>
          <a:lstStyle/>
          <a:p>
            <a:r>
              <a:rPr lang="en-IN" sz="2400" b="1" dirty="0"/>
              <a:t>3 XML Document Structure</a:t>
            </a:r>
            <a:endParaRPr lang="en-US" sz="2400" b="1" dirty="0"/>
          </a:p>
          <a:p>
            <a:endParaRPr lang="en-US" dirty="0"/>
          </a:p>
          <a:p>
            <a:pPr marL="342900" indent="-342900" algn="just">
              <a:buFont typeface="Arial" panose="020B0604020202020204" pitchFamily="34" charset="0"/>
              <a:buChar char="•"/>
            </a:pPr>
            <a:r>
              <a:rPr lang="en-US" sz="2000" dirty="0"/>
              <a:t>An XML document often uses two auxiliary files: one that defines its tag set and structural syntactic rules and one that contains a style sheet to describe how the content of the document is to be printed or displayed.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structural syntactic rules are given as either a DTD or an XML schema.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 XML document consists of one or more entities, which are logically related collections of information, ranging in size from a single character to a chapter of a book. </a:t>
            </a:r>
          </a:p>
          <a:p>
            <a:pPr marL="342900" indent="-342900" algn="just">
              <a:buFont typeface="Arial" panose="020B0604020202020204" pitchFamily="34" charset="0"/>
              <a:buChar char="•"/>
            </a:pPr>
            <a:r>
              <a:rPr lang="en-US" sz="2000" dirty="0"/>
              <a:t>One of these entities, called the document entity, is always physically in the file that represents the document. </a:t>
            </a:r>
          </a:p>
          <a:p>
            <a:pPr marL="342900" indent="-342900" algn="just">
              <a:buFont typeface="Arial" panose="020B0604020202020204" pitchFamily="34" charset="0"/>
              <a:buChar char="•"/>
            </a:pPr>
            <a:r>
              <a:rPr lang="en-US" sz="2000" dirty="0"/>
              <a:t>The document entity can be the entire document, but in many cases, it includes references to the names of entities that are stored elsewhere.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document entity for a technical article might contain the beginning material and ending material but have references to the article body sections, which are entities stored in separate files.</a:t>
            </a:r>
          </a:p>
          <a:p>
            <a:endParaRPr lang="en-IN" dirty="0"/>
          </a:p>
        </p:txBody>
      </p:sp>
    </p:spTree>
    <p:extLst>
      <p:ext uri="{BB962C8B-B14F-4D97-AF65-F5344CB8AC3E}">
        <p14:creationId xmlns:p14="http://schemas.microsoft.com/office/powerpoint/2010/main" val="4477594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9457E-46B5-1227-6101-E3A2725A71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89AD2A-97B2-AD2B-D29F-4BFC8F352B12}"/>
              </a:ext>
            </a:extLst>
          </p:cNvPr>
          <p:cNvSpPr txBox="1"/>
          <p:nvPr/>
        </p:nvSpPr>
        <p:spPr>
          <a:xfrm>
            <a:off x="466165" y="107576"/>
            <a:ext cx="11125200" cy="6247864"/>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Entity names can be any length. They must begin with a letter, a dash, or a colon. </a:t>
            </a:r>
          </a:p>
          <a:p>
            <a:pPr marL="342900" indent="-342900" algn="just">
              <a:buFont typeface="Arial" panose="020B0604020202020204" pitchFamily="34" charset="0"/>
              <a:buChar char="•"/>
            </a:pPr>
            <a:r>
              <a:rPr lang="en-US" sz="2000" dirty="0"/>
              <a:t>After the first character, a name can have letters, digits, periods, dashes, underscores, or colons. </a:t>
            </a:r>
          </a:p>
          <a:p>
            <a:pPr marL="342900" indent="-342900" algn="just">
              <a:buFont typeface="Arial" panose="020B0604020202020204" pitchFamily="34" charset="0"/>
              <a:buChar char="•"/>
            </a:pPr>
            <a:r>
              <a:rPr lang="en-US" sz="2000" dirty="0"/>
              <a:t>A </a:t>
            </a:r>
            <a:r>
              <a:rPr lang="en-US" sz="2000" dirty="0">
                <a:solidFill>
                  <a:srgbClr val="FF0000"/>
                </a:solidFill>
              </a:rPr>
              <a:t>reference</a:t>
            </a:r>
            <a:r>
              <a:rPr lang="en-US" sz="2000" dirty="0"/>
              <a:t> to an entity is its name together with a prepended ampersand and an appended semicolon. </a:t>
            </a:r>
          </a:p>
          <a:p>
            <a:pPr marL="342900" indent="-342900" algn="just">
              <a:buFont typeface="Arial" panose="020B0604020202020204" pitchFamily="34" charset="0"/>
              <a:buChar char="•"/>
            </a:pPr>
            <a:r>
              <a:rPr lang="en-US" sz="2000" dirty="0"/>
              <a:t>For example, if </a:t>
            </a:r>
            <a:r>
              <a:rPr lang="en-US" sz="2000" dirty="0" err="1"/>
              <a:t>apple_image</a:t>
            </a:r>
            <a:r>
              <a:rPr lang="en-US" sz="2000" dirty="0"/>
              <a:t> is the name of an entity, &amp;</a:t>
            </a:r>
            <a:r>
              <a:rPr lang="en-US" sz="2000" dirty="0" err="1"/>
              <a:t>apple_image</a:t>
            </a:r>
            <a:r>
              <a:rPr lang="en-US" sz="2000" dirty="0"/>
              <a:t>; is a reference to it.</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1883CBB8-EF40-2739-2FDC-048397E23AE5}"/>
              </a:ext>
            </a:extLst>
          </p:cNvPr>
          <p:cNvPicPr>
            <a:picLocks noChangeAspect="1"/>
          </p:cNvPicPr>
          <p:nvPr/>
        </p:nvPicPr>
        <p:blipFill>
          <a:blip r:embed="rId2"/>
          <a:stretch>
            <a:fillRect/>
          </a:stretch>
        </p:blipFill>
        <p:spPr>
          <a:xfrm>
            <a:off x="3581069" y="2352129"/>
            <a:ext cx="4585778" cy="4003311"/>
          </a:xfrm>
          <a:prstGeom prst="rect">
            <a:avLst/>
          </a:prstGeom>
        </p:spPr>
      </p:pic>
    </p:spTree>
    <p:extLst>
      <p:ext uri="{BB962C8B-B14F-4D97-AF65-F5344CB8AC3E}">
        <p14:creationId xmlns:p14="http://schemas.microsoft.com/office/powerpoint/2010/main" val="22573834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72371-E071-03AC-821B-FC5C9BA82B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8A2637-697E-4256-E2FA-1A2F12F68350}"/>
              </a:ext>
            </a:extLst>
          </p:cNvPr>
          <p:cNvSpPr txBox="1"/>
          <p:nvPr/>
        </p:nvSpPr>
        <p:spPr>
          <a:xfrm>
            <a:off x="510988" y="403412"/>
            <a:ext cx="11125200" cy="8956298"/>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When several predefined entities must appear near each other in an XML document, their references clutter the content and make it difficult to read.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such cases, a </a:t>
            </a:r>
            <a:r>
              <a:rPr lang="en-US" sz="2000" dirty="0">
                <a:solidFill>
                  <a:srgbClr val="FF0000"/>
                </a:solidFill>
              </a:rPr>
              <a:t>character data section </a:t>
            </a:r>
            <a:r>
              <a:rPr lang="en-US" sz="2000" dirty="0"/>
              <a:t>can be used. The </a:t>
            </a:r>
            <a:r>
              <a:rPr lang="en-US" sz="2000" dirty="0">
                <a:solidFill>
                  <a:srgbClr val="FF00FF"/>
                </a:solidFill>
              </a:rPr>
              <a:t>content of a character data section is not parsed by the XML parser</a:t>
            </a:r>
            <a:r>
              <a:rPr lang="en-US" sz="2000" dirty="0"/>
              <a:t>, so any tags it may include are not recognized as tags.</a:t>
            </a:r>
          </a:p>
          <a:p>
            <a:pPr algn="just"/>
            <a:endParaRPr lang="en-US" sz="2000" dirty="0"/>
          </a:p>
          <a:p>
            <a:pPr lvl="1" algn="just"/>
            <a:r>
              <a:rPr lang="en-US" sz="2000" dirty="0"/>
              <a:t> &lt;![CDATA[ content ]]&gt;</a:t>
            </a:r>
          </a:p>
          <a:p>
            <a:pPr lvl="1" algn="just"/>
            <a:endParaRPr lang="en-US" sz="2000" dirty="0"/>
          </a:p>
          <a:p>
            <a:pPr lvl="1" algn="just"/>
            <a:r>
              <a:rPr lang="en-US" sz="2000" dirty="0"/>
              <a:t> For example, instead of</a:t>
            </a:r>
          </a:p>
          <a:p>
            <a:pPr lvl="1" algn="just"/>
            <a:r>
              <a:rPr lang="en-US" sz="2000" dirty="0"/>
              <a:t> 	The last word of the line is &amp;</a:t>
            </a:r>
            <a:r>
              <a:rPr lang="en-US" sz="2000" dirty="0" err="1"/>
              <a:t>gt</a:t>
            </a:r>
            <a:r>
              <a:rPr lang="en-US" sz="2000" dirty="0"/>
              <a:t>;&amp;</a:t>
            </a:r>
            <a:r>
              <a:rPr lang="en-US" sz="2000" dirty="0" err="1"/>
              <a:t>gt</a:t>
            </a:r>
            <a:r>
              <a:rPr lang="en-US" sz="2000" dirty="0"/>
              <a:t>;&amp;</a:t>
            </a:r>
            <a:r>
              <a:rPr lang="en-US" sz="2000" dirty="0" err="1"/>
              <a:t>gt</a:t>
            </a:r>
            <a:r>
              <a:rPr lang="en-US" sz="2000" dirty="0"/>
              <a:t>; here &amp;it;&amp;it;&amp;it;.</a:t>
            </a:r>
          </a:p>
          <a:p>
            <a:pPr lvl="1" algn="just"/>
            <a:r>
              <a:rPr lang="en-US" sz="2000" dirty="0"/>
              <a:t> the following could be used:</a:t>
            </a:r>
          </a:p>
          <a:p>
            <a:pPr lvl="1" algn="just"/>
            <a:r>
              <a:rPr lang="en-US" sz="2000" dirty="0"/>
              <a:t> 	&lt;![CDATA[The last word of the line is &gt;&gt;&gt; here &lt;&lt;&lt;]]&gt;</a:t>
            </a:r>
          </a:p>
          <a:p>
            <a:pPr algn="just"/>
            <a:endParaRPr lang="en-US" sz="2000" dirty="0"/>
          </a:p>
          <a:p>
            <a:pPr algn="just"/>
            <a:r>
              <a:rPr lang="en-US" sz="2000" dirty="0"/>
              <a:t>Because the content of a character data section is not parsed by the XML parser, any entity references that are included are not expanded.</a:t>
            </a:r>
          </a:p>
          <a:p>
            <a:pPr algn="just"/>
            <a:r>
              <a:rPr lang="en-US" sz="2000" dirty="0"/>
              <a:t>	&lt;![CDATA[The form of a tag is &amp;</a:t>
            </a:r>
            <a:r>
              <a:rPr lang="en-US" sz="2000" dirty="0" err="1"/>
              <a:t>it;tag</a:t>
            </a:r>
            <a:r>
              <a:rPr lang="en-US" sz="2000" dirty="0"/>
              <a:t> </a:t>
            </a:r>
            <a:r>
              <a:rPr lang="en-US" sz="2000" dirty="0" err="1"/>
              <a:t>name&amp;gt</a:t>
            </a:r>
            <a:r>
              <a:rPr lang="en-US" sz="2000" dirty="0"/>
              <a:t>;]]&gt;</a:t>
            </a:r>
          </a:p>
          <a:p>
            <a:pPr algn="just"/>
            <a:r>
              <a:rPr lang="en-US" sz="2000" dirty="0"/>
              <a:t>	 The form of a tag is &amp;</a:t>
            </a:r>
            <a:r>
              <a:rPr lang="en-US" sz="2000" dirty="0" err="1"/>
              <a:t>it;tag</a:t>
            </a:r>
            <a:r>
              <a:rPr lang="en-US" sz="2000" dirty="0"/>
              <a:t> </a:t>
            </a:r>
            <a:r>
              <a:rPr lang="en-US" sz="2000" dirty="0" err="1"/>
              <a:t>name&amp;gt</a:t>
            </a:r>
            <a:r>
              <a:rPr lang="en-US" sz="2000" dirty="0"/>
              <a:t>; - </a:t>
            </a:r>
            <a:r>
              <a:rPr lang="en-US" sz="2000" dirty="0">
                <a:solidFill>
                  <a:srgbClr val="FF0000"/>
                </a:solidFill>
              </a:rPr>
              <a:t>same is printed which is there in the tag</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7553258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1E10-5E35-B9E9-BAD3-BC61A6EEA6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572C8F-A706-02E2-0A8A-3346E50D0DFC}"/>
              </a:ext>
            </a:extLst>
          </p:cNvPr>
          <p:cNvSpPr txBox="1"/>
          <p:nvPr/>
        </p:nvSpPr>
        <p:spPr>
          <a:xfrm>
            <a:off x="510988" y="403412"/>
            <a:ext cx="11125200" cy="9325630"/>
          </a:xfrm>
          <a:prstGeom prst="rect">
            <a:avLst/>
          </a:prstGeom>
          <a:noFill/>
        </p:spPr>
        <p:txBody>
          <a:bodyPr wrap="square" rtlCol="0">
            <a:spAutoFit/>
          </a:bodyPr>
          <a:lstStyle/>
          <a:p>
            <a:r>
              <a:rPr lang="en-IN" sz="2400" b="1" dirty="0"/>
              <a:t>4 Document Type Definitions</a:t>
            </a:r>
            <a:endParaRPr lang="en-US" sz="2400" b="1" dirty="0"/>
          </a:p>
          <a:p>
            <a:endParaRPr lang="en-US" dirty="0"/>
          </a:p>
          <a:p>
            <a:pPr marL="342900" indent="-342900" algn="just">
              <a:buFont typeface="Arial" panose="020B0604020202020204" pitchFamily="34" charset="0"/>
              <a:buChar char="•"/>
            </a:pPr>
            <a:r>
              <a:rPr lang="en-US" sz="2000" dirty="0"/>
              <a:t>A document type definition ( DTD) is a set of structural rules called declarations, which specify a set of elements and attributes that can appear in a document, as well as how and where these elements and attributes may appear.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DTDs are used when the same tag set definition is used by a collection of documents – same as CSS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DTD can be embedded in the XML document whose syntax rules it describes, in which case it is called an </a:t>
            </a:r>
            <a:r>
              <a:rPr lang="en-US" sz="2000" dirty="0">
                <a:solidFill>
                  <a:srgbClr val="FF0000"/>
                </a:solidFill>
              </a:rPr>
              <a:t>internal DTD</a:t>
            </a:r>
            <a:r>
              <a:rPr lang="en-US" sz="2000" dirty="0"/>
              <a:t>. </a:t>
            </a:r>
          </a:p>
          <a:p>
            <a:pPr marL="342900" indent="-342900" algn="just">
              <a:buFont typeface="Arial" panose="020B0604020202020204" pitchFamily="34" charset="0"/>
              <a:buChar char="•"/>
            </a:pPr>
            <a:r>
              <a:rPr lang="en-US" sz="2000" dirty="0"/>
              <a:t>The alternative is to have the DTD stored in a separate file, in which case it is called an </a:t>
            </a:r>
            <a:r>
              <a:rPr lang="en-US" sz="2000" dirty="0">
                <a:solidFill>
                  <a:srgbClr val="FF0000"/>
                </a:solidFill>
              </a:rPr>
              <a:t>external DTD</a:t>
            </a:r>
            <a:r>
              <a:rPr lang="en-US" sz="2000" dirty="0"/>
              <a:t>.</a:t>
            </a:r>
          </a:p>
          <a:p>
            <a:pPr algn="just"/>
            <a:endParaRPr lang="en-US" sz="2000" dirty="0"/>
          </a:p>
          <a:p>
            <a:pPr marL="800100" lvl="1" indent="-342900" algn="just">
              <a:buFont typeface="Arial" panose="020B0604020202020204" pitchFamily="34" charset="0"/>
              <a:buChar char="•"/>
            </a:pPr>
            <a:r>
              <a:rPr lang="en-US" sz="2000" dirty="0"/>
              <a:t>	Because external DTDs allow use with more than one XML document, they are preferable.</a:t>
            </a:r>
          </a:p>
          <a:p>
            <a:pPr marL="800100" lvl="1" indent="-342900" algn="just">
              <a:buFont typeface="Arial" panose="020B0604020202020204" pitchFamily="34" charset="0"/>
              <a:buChar char="•"/>
            </a:pPr>
            <a:r>
              <a:rPr lang="en-US" sz="2000" dirty="0"/>
              <a:t>	avoid two different notations from appearing in the same document. – DTD and XML</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2771825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837C3-EC32-3FE2-F16C-B125C68364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962124-8DF3-093C-6D2A-49C1532B68C9}"/>
              </a:ext>
            </a:extLst>
          </p:cNvPr>
          <p:cNvSpPr txBox="1"/>
          <p:nvPr/>
        </p:nvSpPr>
        <p:spPr>
          <a:xfrm>
            <a:off x="510988" y="403412"/>
            <a:ext cx="11125200" cy="5940088"/>
          </a:xfrm>
          <a:prstGeom prst="rect">
            <a:avLst/>
          </a:prstGeom>
          <a:noFill/>
        </p:spPr>
        <p:txBody>
          <a:bodyPr wrap="square" rtlCol="0">
            <a:spAutoFit/>
          </a:bodyPr>
          <a:lstStyle/>
          <a:p>
            <a:r>
              <a:rPr lang="en-US" sz="2400" dirty="0"/>
              <a:t>Example Internal and External DTD</a:t>
            </a:r>
          </a:p>
          <a:p>
            <a:endParaRPr lang="en-US"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8088475D-6589-C481-775F-6E60B1CD5AC9}"/>
              </a:ext>
            </a:extLst>
          </p:cNvPr>
          <p:cNvPicPr>
            <a:picLocks noChangeAspect="1"/>
          </p:cNvPicPr>
          <p:nvPr/>
        </p:nvPicPr>
        <p:blipFill>
          <a:blip r:embed="rId2"/>
          <a:stretch>
            <a:fillRect/>
          </a:stretch>
        </p:blipFill>
        <p:spPr>
          <a:xfrm>
            <a:off x="726140" y="1224193"/>
            <a:ext cx="4509247" cy="4822253"/>
          </a:xfrm>
          <a:prstGeom prst="rect">
            <a:avLst/>
          </a:prstGeom>
        </p:spPr>
      </p:pic>
      <p:pic>
        <p:nvPicPr>
          <p:cNvPr id="5" name="Picture 4">
            <a:extLst>
              <a:ext uri="{FF2B5EF4-FFF2-40B4-BE49-F238E27FC236}">
                <a16:creationId xmlns:a16="http://schemas.microsoft.com/office/drawing/2014/main" id="{E9738AA4-19D9-5D5D-B1F4-0DF014C8B4B8}"/>
              </a:ext>
            </a:extLst>
          </p:cNvPr>
          <p:cNvPicPr>
            <a:picLocks noChangeAspect="1"/>
          </p:cNvPicPr>
          <p:nvPr/>
        </p:nvPicPr>
        <p:blipFill>
          <a:blip r:embed="rId3"/>
          <a:stretch>
            <a:fillRect/>
          </a:stretch>
        </p:blipFill>
        <p:spPr>
          <a:xfrm>
            <a:off x="6585682" y="75944"/>
            <a:ext cx="4220164" cy="3658111"/>
          </a:xfrm>
          <a:prstGeom prst="rect">
            <a:avLst/>
          </a:prstGeom>
        </p:spPr>
      </p:pic>
      <p:pic>
        <p:nvPicPr>
          <p:cNvPr id="7" name="Picture 6">
            <a:extLst>
              <a:ext uri="{FF2B5EF4-FFF2-40B4-BE49-F238E27FC236}">
                <a16:creationId xmlns:a16="http://schemas.microsoft.com/office/drawing/2014/main" id="{A5AC6047-78A4-2C71-097B-1D6990E8AC2D}"/>
              </a:ext>
            </a:extLst>
          </p:cNvPr>
          <p:cNvPicPr>
            <a:picLocks noChangeAspect="1"/>
          </p:cNvPicPr>
          <p:nvPr/>
        </p:nvPicPr>
        <p:blipFill>
          <a:blip r:embed="rId4"/>
          <a:stretch>
            <a:fillRect/>
          </a:stretch>
        </p:blipFill>
        <p:spPr>
          <a:xfrm>
            <a:off x="6604735" y="3757486"/>
            <a:ext cx="4201111" cy="2562583"/>
          </a:xfrm>
          <a:prstGeom prst="rect">
            <a:avLst/>
          </a:prstGeom>
        </p:spPr>
      </p:pic>
    </p:spTree>
    <p:extLst>
      <p:ext uri="{BB962C8B-B14F-4D97-AF65-F5344CB8AC3E}">
        <p14:creationId xmlns:p14="http://schemas.microsoft.com/office/powerpoint/2010/main" val="6263655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2865-D3E3-C89B-315E-DA078FCDDA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B41A12-6E45-2B2C-008F-2F31BA794706}"/>
              </a:ext>
            </a:extLst>
          </p:cNvPr>
          <p:cNvSpPr txBox="1"/>
          <p:nvPr/>
        </p:nvSpPr>
        <p:spPr>
          <a:xfrm>
            <a:off x="510988" y="403412"/>
            <a:ext cx="11125200" cy="5632311"/>
          </a:xfrm>
          <a:prstGeom prst="rect">
            <a:avLst/>
          </a:prstGeom>
          <a:noFill/>
        </p:spPr>
        <p:txBody>
          <a:bodyPr wrap="square" rtlCol="0">
            <a:spAutoFit/>
          </a:bodyPr>
          <a:lstStyle/>
          <a:p>
            <a:r>
              <a:rPr lang="en-US" sz="2400" dirty="0"/>
              <a:t>Continued…</a:t>
            </a:r>
          </a:p>
          <a:p>
            <a:endParaRPr lang="en-US" dirty="0"/>
          </a:p>
          <a:p>
            <a:pPr algn="just"/>
            <a:r>
              <a:rPr lang="en-US" sz="2000" dirty="0"/>
              <a:t>Syntactically, a DTD is a sequence of declarations, each of which has the form of a markup declaration</a:t>
            </a:r>
          </a:p>
          <a:p>
            <a:pPr algn="just"/>
            <a:endParaRPr lang="en-US" sz="2000" dirty="0"/>
          </a:p>
          <a:p>
            <a:pPr algn="just"/>
            <a:r>
              <a:rPr lang="en-US" sz="2000" dirty="0"/>
              <a:t> &lt;!keyword ... &gt;</a:t>
            </a:r>
          </a:p>
          <a:p>
            <a:pPr algn="just"/>
            <a:endParaRPr lang="en-US" sz="2000" dirty="0"/>
          </a:p>
          <a:p>
            <a:pPr algn="just"/>
            <a:r>
              <a:rPr lang="en-US" sz="2000" dirty="0"/>
              <a:t>Four possible keywords can be used in a declaration: </a:t>
            </a:r>
            <a:r>
              <a:rPr lang="en-US" sz="2000" dirty="0">
                <a:solidFill>
                  <a:srgbClr val="FF0000"/>
                </a:solidFill>
              </a:rPr>
              <a:t>ELEMENT</a:t>
            </a:r>
            <a:r>
              <a:rPr lang="en-US" sz="2000" dirty="0"/>
              <a:t>, used to define tags; </a:t>
            </a:r>
            <a:r>
              <a:rPr lang="en-US" sz="2000" dirty="0">
                <a:solidFill>
                  <a:srgbClr val="FF0000"/>
                </a:solidFill>
              </a:rPr>
              <a:t>ATTLIST</a:t>
            </a:r>
            <a:r>
              <a:rPr lang="en-US" sz="2000" dirty="0"/>
              <a:t>, used to define tag attributes; </a:t>
            </a:r>
            <a:r>
              <a:rPr lang="en-US" sz="2000" dirty="0">
                <a:solidFill>
                  <a:srgbClr val="FF0000"/>
                </a:solidFill>
              </a:rPr>
              <a:t>ENTITY</a:t>
            </a:r>
            <a:r>
              <a:rPr lang="en-US" sz="2000" dirty="0"/>
              <a:t>, used to define entities; and </a:t>
            </a:r>
            <a:r>
              <a:rPr lang="en-US" sz="2000" dirty="0">
                <a:solidFill>
                  <a:srgbClr val="FF0000"/>
                </a:solidFill>
              </a:rPr>
              <a:t>NOTATION</a:t>
            </a:r>
            <a:r>
              <a:rPr lang="en-US" sz="2000" dirty="0"/>
              <a:t>, used to define data type notations.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9286599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D6392-29D7-A610-6A3B-C160954124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4AD552-64F0-34A2-BBF0-3C86C41C9EE5}"/>
              </a:ext>
            </a:extLst>
          </p:cNvPr>
          <p:cNvSpPr txBox="1"/>
          <p:nvPr/>
        </p:nvSpPr>
        <p:spPr>
          <a:xfrm>
            <a:off x="510988" y="403412"/>
            <a:ext cx="11125200" cy="5940088"/>
          </a:xfrm>
          <a:prstGeom prst="rect">
            <a:avLst/>
          </a:prstGeom>
          <a:noFill/>
        </p:spPr>
        <p:txBody>
          <a:bodyPr wrap="square" rtlCol="0">
            <a:spAutoFit/>
          </a:bodyPr>
          <a:lstStyle/>
          <a:p>
            <a:r>
              <a:rPr lang="en-IN" sz="2400" dirty="0"/>
              <a:t>4.1 Declaring Elements</a:t>
            </a:r>
            <a:endParaRPr lang="en-US" sz="2400" dirty="0"/>
          </a:p>
          <a:p>
            <a:endParaRPr lang="en-US" dirty="0"/>
          </a:p>
          <a:p>
            <a:pPr marL="342900" indent="-342900" algn="just">
              <a:buFont typeface="Arial" panose="020B0604020202020204" pitchFamily="34" charset="0"/>
              <a:buChar char="•"/>
            </a:pPr>
            <a:r>
              <a:rPr lang="en-US" sz="2000" dirty="0"/>
              <a:t>Each element declaration in a DTD specifies the structure of one category of elements.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declaration provides the name of the element whose structure is being defined, along with the specification of the structure of that element.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If an XML document is considered as a tree, then:</a:t>
            </a:r>
          </a:p>
          <a:p>
            <a:pPr algn="just"/>
            <a:endParaRPr lang="en-US" sz="2000" dirty="0"/>
          </a:p>
          <a:p>
            <a:pPr marL="800100" lvl="1" indent="-342900" algn="just">
              <a:buFont typeface="Arial" panose="020B0604020202020204" pitchFamily="34" charset="0"/>
              <a:buChar char="•"/>
            </a:pPr>
            <a:r>
              <a:rPr lang="en-US" sz="2000" dirty="0"/>
              <a:t>An element is either a leaf node or an internal/root node in such a tree </a:t>
            </a:r>
          </a:p>
          <a:p>
            <a:pPr marL="800100" lvl="1" indent="-342900" algn="just">
              <a:buFont typeface="Arial" panose="020B0604020202020204" pitchFamily="34" charset="0"/>
              <a:buChar char="•"/>
            </a:pPr>
            <a:r>
              <a:rPr lang="en-US" sz="2000" dirty="0"/>
              <a:t>If the element is a leaf node, its syntactic description is its character pattern </a:t>
            </a:r>
          </a:p>
          <a:p>
            <a:pPr marL="800100" lvl="1" indent="-342900" algn="just">
              <a:buFont typeface="Arial" panose="020B0604020202020204" pitchFamily="34" charset="0"/>
              <a:buChar char="•"/>
            </a:pPr>
            <a:r>
              <a:rPr lang="en-US" sz="2000" dirty="0"/>
              <a:t>If the element is not a leaf node, its syntactic description is a list of its child elements, each of which can be a leaf node or an internal node </a:t>
            </a:r>
          </a:p>
          <a:p>
            <a:pPr algn="just"/>
            <a:r>
              <a:rPr lang="en-US" sz="2000" dirty="0"/>
              <a:t>The form of an element declaration for elements that contain elements is</a:t>
            </a:r>
          </a:p>
          <a:p>
            <a:pPr algn="just"/>
            <a:r>
              <a:rPr lang="en-US" sz="2000" dirty="0"/>
              <a:t>Syntax	 :	&lt;!ELEMENT </a:t>
            </a:r>
            <a:r>
              <a:rPr lang="en-US" sz="2000" dirty="0" err="1"/>
              <a:t>element_name</a:t>
            </a:r>
            <a:r>
              <a:rPr lang="en-US" sz="2000" dirty="0"/>
              <a:t> (list of names of child elements)&gt;</a:t>
            </a:r>
          </a:p>
          <a:p>
            <a:pPr algn="just"/>
            <a:r>
              <a:rPr lang="en-US" sz="2000" dirty="0"/>
              <a:t>Example :	</a:t>
            </a:r>
            <a:r>
              <a:rPr lang="en-US" sz="2000" dirty="0">
                <a:solidFill>
                  <a:srgbClr val="FF0000"/>
                </a:solidFill>
              </a:rPr>
              <a:t>&lt;!ELEMENT memo (from, to, date, re, body)&gt;</a:t>
            </a:r>
          </a:p>
          <a:p>
            <a:pPr algn="just"/>
            <a:endParaRPr lang="en-US" sz="2000" dirty="0"/>
          </a:p>
          <a:p>
            <a:pPr algn="just"/>
            <a:endParaRPr lang="en-US" sz="2000" dirty="0"/>
          </a:p>
          <a:p>
            <a:endParaRPr lang="en-IN" dirty="0"/>
          </a:p>
        </p:txBody>
      </p:sp>
      <p:pic>
        <p:nvPicPr>
          <p:cNvPr id="6" name="Picture 5">
            <a:extLst>
              <a:ext uri="{FF2B5EF4-FFF2-40B4-BE49-F238E27FC236}">
                <a16:creationId xmlns:a16="http://schemas.microsoft.com/office/drawing/2014/main" id="{CD921788-22AD-4C13-7E0A-85104AEB37B4}"/>
              </a:ext>
            </a:extLst>
          </p:cNvPr>
          <p:cNvPicPr>
            <a:picLocks noChangeAspect="1"/>
          </p:cNvPicPr>
          <p:nvPr/>
        </p:nvPicPr>
        <p:blipFill>
          <a:blip r:embed="rId2"/>
          <a:stretch>
            <a:fillRect/>
          </a:stretch>
        </p:blipFill>
        <p:spPr>
          <a:xfrm>
            <a:off x="7701258" y="5019340"/>
            <a:ext cx="3781953" cy="1324160"/>
          </a:xfrm>
          <a:prstGeom prst="rect">
            <a:avLst/>
          </a:prstGeom>
        </p:spPr>
      </p:pic>
    </p:spTree>
    <p:extLst>
      <p:ext uri="{BB962C8B-B14F-4D97-AF65-F5344CB8AC3E}">
        <p14:creationId xmlns:p14="http://schemas.microsoft.com/office/powerpoint/2010/main" val="29083934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449C-B86D-287B-1739-8124A810F6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813F76-6047-426A-B74F-C6572C24D9BF}"/>
              </a:ext>
            </a:extLst>
          </p:cNvPr>
          <p:cNvSpPr txBox="1"/>
          <p:nvPr/>
        </p:nvSpPr>
        <p:spPr>
          <a:xfrm>
            <a:off x="510988" y="403412"/>
            <a:ext cx="11125200" cy="5940088"/>
          </a:xfrm>
          <a:prstGeom prst="rect">
            <a:avLst/>
          </a:prstGeom>
          <a:noFill/>
        </p:spPr>
        <p:txBody>
          <a:bodyPr wrap="square" rtlCol="0">
            <a:spAutoFit/>
          </a:bodyPr>
          <a:lstStyle/>
          <a:p>
            <a:r>
              <a:rPr lang="en-US" sz="2400" b="1" dirty="0"/>
              <a:t>Internal DTD and External DTD:</a:t>
            </a:r>
          </a:p>
          <a:p>
            <a:endParaRPr lang="en-US"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00549395-A5C1-89B5-9929-10BA0FA9DB69}"/>
              </a:ext>
            </a:extLst>
          </p:cNvPr>
          <p:cNvPicPr>
            <a:picLocks noChangeAspect="1"/>
          </p:cNvPicPr>
          <p:nvPr/>
        </p:nvPicPr>
        <p:blipFill>
          <a:blip r:embed="rId2"/>
          <a:stretch>
            <a:fillRect/>
          </a:stretch>
        </p:blipFill>
        <p:spPr>
          <a:xfrm>
            <a:off x="690282" y="1645870"/>
            <a:ext cx="4096322" cy="3924848"/>
          </a:xfrm>
          <a:prstGeom prst="rect">
            <a:avLst/>
          </a:prstGeom>
        </p:spPr>
      </p:pic>
      <p:pic>
        <p:nvPicPr>
          <p:cNvPr id="6" name="Picture 5">
            <a:extLst>
              <a:ext uri="{FF2B5EF4-FFF2-40B4-BE49-F238E27FC236}">
                <a16:creationId xmlns:a16="http://schemas.microsoft.com/office/drawing/2014/main" id="{247A9F81-2EA7-EC6E-F8E7-E7F91D509495}"/>
              </a:ext>
            </a:extLst>
          </p:cNvPr>
          <p:cNvPicPr>
            <a:picLocks noChangeAspect="1"/>
          </p:cNvPicPr>
          <p:nvPr/>
        </p:nvPicPr>
        <p:blipFill>
          <a:blip r:embed="rId3"/>
          <a:stretch>
            <a:fillRect/>
          </a:stretch>
        </p:blipFill>
        <p:spPr>
          <a:xfrm>
            <a:off x="5903258" y="880914"/>
            <a:ext cx="3773909" cy="5236095"/>
          </a:xfrm>
          <a:prstGeom prst="rect">
            <a:avLst/>
          </a:prstGeom>
        </p:spPr>
      </p:pic>
    </p:spTree>
    <p:extLst>
      <p:ext uri="{BB962C8B-B14F-4D97-AF65-F5344CB8AC3E}">
        <p14:creationId xmlns:p14="http://schemas.microsoft.com/office/powerpoint/2010/main" val="27728096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D9158-DA74-EC37-E66A-73E879C345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4E70CE-3EEA-1664-1E5E-169181AEF8ED}"/>
              </a:ext>
            </a:extLst>
          </p:cNvPr>
          <p:cNvSpPr txBox="1"/>
          <p:nvPr/>
        </p:nvSpPr>
        <p:spPr>
          <a:xfrm>
            <a:off x="510988" y="403412"/>
            <a:ext cx="11125200" cy="5878532"/>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In many cases, it is necessary to specify the number of times that a child element may appear. This can be done in a DTD declaration by adding a modifier to the child element specification.</a:t>
            </a:r>
          </a:p>
          <a:p>
            <a:pPr marL="342900" indent="-342900" algn="just">
              <a:buFont typeface="Arial" panose="020B0604020202020204" pitchFamily="34" charset="0"/>
              <a:buChar char="•"/>
            </a:pPr>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	</a:t>
            </a:r>
            <a:r>
              <a:rPr lang="en-US" sz="2000" dirty="0">
                <a:solidFill>
                  <a:srgbClr val="FF0000"/>
                </a:solidFill>
              </a:rPr>
              <a:t>&lt;!ELEMENT person (parent+, age, spouse?, sibling*)&gt;</a:t>
            </a:r>
          </a:p>
          <a:p>
            <a:pPr marL="342900" indent="-342900" algn="just">
              <a:buFont typeface="Arial" panose="020B0604020202020204" pitchFamily="34" charset="0"/>
              <a:buChar char="•"/>
            </a:pPr>
            <a:r>
              <a:rPr lang="en-US" sz="2000" dirty="0"/>
              <a:t>In most cases, the content of an element is type PCDATA, for </a:t>
            </a:r>
            <a:r>
              <a:rPr lang="en-US" sz="2000" dirty="0" err="1"/>
              <a:t>parsable</a:t>
            </a:r>
            <a:r>
              <a:rPr lang="en-US" sz="2000" dirty="0"/>
              <a:t> character data. </a:t>
            </a:r>
          </a:p>
          <a:p>
            <a:pPr marL="342900" indent="-342900" algn="just">
              <a:buFont typeface="Arial" panose="020B0604020202020204" pitchFamily="34" charset="0"/>
              <a:buChar char="•"/>
            </a:pPr>
            <a:r>
              <a:rPr lang="en-US" sz="2000" dirty="0" err="1"/>
              <a:t>Parsable</a:t>
            </a:r>
            <a:r>
              <a:rPr lang="en-US" sz="2000" dirty="0"/>
              <a:t> character data is a string of </a:t>
            </a:r>
            <a:r>
              <a:rPr lang="en-US" sz="2000"/>
              <a:t>any printable characters except “less than” (&lt;), “greater than” (&gt;), and the ampersand (&amp;).</a:t>
            </a: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Two other content types can be specified: </a:t>
            </a:r>
            <a:r>
              <a:rPr lang="en-US" sz="2000" dirty="0">
                <a:solidFill>
                  <a:srgbClr val="FF0000"/>
                </a:solidFill>
              </a:rPr>
              <a:t>EMPTY</a:t>
            </a:r>
            <a:r>
              <a:rPr lang="en-US" sz="2000" dirty="0"/>
              <a:t> and </a:t>
            </a:r>
            <a:r>
              <a:rPr lang="en-US" sz="2000" dirty="0">
                <a:solidFill>
                  <a:srgbClr val="FF0000"/>
                </a:solidFill>
              </a:rPr>
              <a:t>ANY</a:t>
            </a:r>
            <a:r>
              <a:rPr lang="en-US" sz="2000"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 form of a leaf element declaration is as follows:</a:t>
            </a:r>
          </a:p>
          <a:p>
            <a:r>
              <a:rPr lang="en-US" dirty="0"/>
              <a:t>	</a:t>
            </a:r>
            <a:r>
              <a:rPr lang="en-US" dirty="0">
                <a:solidFill>
                  <a:srgbClr val="FF0000"/>
                </a:solidFill>
              </a:rPr>
              <a:t>&lt;!ELEMENT </a:t>
            </a:r>
            <a:r>
              <a:rPr lang="en-US" dirty="0" err="1">
                <a:solidFill>
                  <a:srgbClr val="FF0000"/>
                </a:solidFill>
              </a:rPr>
              <a:t>element_name</a:t>
            </a:r>
            <a:r>
              <a:rPr lang="en-US" dirty="0">
                <a:solidFill>
                  <a:srgbClr val="FF0000"/>
                </a:solidFill>
              </a:rPr>
              <a:t> (#PCDATA)&gt;</a:t>
            </a:r>
            <a:endParaRPr lang="en-IN" dirty="0">
              <a:solidFill>
                <a:srgbClr val="FF0000"/>
              </a:solidFill>
            </a:endParaRPr>
          </a:p>
        </p:txBody>
      </p:sp>
      <p:pic>
        <p:nvPicPr>
          <p:cNvPr id="4" name="Picture 3">
            <a:extLst>
              <a:ext uri="{FF2B5EF4-FFF2-40B4-BE49-F238E27FC236}">
                <a16:creationId xmlns:a16="http://schemas.microsoft.com/office/drawing/2014/main" id="{F978B560-0FC3-94BC-1D60-0A22C1D1A9BF}"/>
              </a:ext>
            </a:extLst>
          </p:cNvPr>
          <p:cNvPicPr>
            <a:picLocks noChangeAspect="1"/>
          </p:cNvPicPr>
          <p:nvPr/>
        </p:nvPicPr>
        <p:blipFill>
          <a:blip r:embed="rId2"/>
          <a:stretch>
            <a:fillRect/>
          </a:stretch>
        </p:blipFill>
        <p:spPr>
          <a:xfrm>
            <a:off x="2775348" y="1923840"/>
            <a:ext cx="4991797" cy="1505160"/>
          </a:xfrm>
          <a:prstGeom prst="rect">
            <a:avLst/>
          </a:prstGeom>
        </p:spPr>
      </p:pic>
    </p:spTree>
    <p:extLst>
      <p:ext uri="{BB962C8B-B14F-4D97-AF65-F5344CB8AC3E}">
        <p14:creationId xmlns:p14="http://schemas.microsoft.com/office/powerpoint/2010/main" val="5234131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DFD0E-2CD7-1800-F71A-EBAC665F97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6DE16E-28D0-ACBF-F553-CCCEE075CF13}"/>
              </a:ext>
            </a:extLst>
          </p:cNvPr>
          <p:cNvSpPr txBox="1"/>
          <p:nvPr/>
        </p:nvSpPr>
        <p:spPr>
          <a:xfrm>
            <a:off x="510988" y="403412"/>
            <a:ext cx="11125200" cy="5693866"/>
          </a:xfrm>
          <a:prstGeom prst="rect">
            <a:avLst/>
          </a:prstGeom>
          <a:noFill/>
        </p:spPr>
        <p:txBody>
          <a:bodyPr wrap="square" rtlCol="0">
            <a:spAutoFit/>
          </a:bodyPr>
          <a:lstStyle/>
          <a:p>
            <a:r>
              <a:rPr lang="en-IN" sz="2400" dirty="0"/>
              <a:t>4.2 Declaring Attributes</a:t>
            </a:r>
            <a:endParaRPr lang="en-US" sz="2400" dirty="0"/>
          </a:p>
          <a:p>
            <a:endParaRPr lang="en-US" dirty="0"/>
          </a:p>
          <a:p>
            <a:pPr marL="342900" indent="-342900" algn="just">
              <a:buFont typeface="Arial" panose="020B0604020202020204" pitchFamily="34" charset="0"/>
              <a:buChar char="•"/>
            </a:pPr>
            <a:r>
              <a:rPr lang="en-US" sz="2000" dirty="0"/>
              <a:t>The attributes of an element are declared separately from the element declaration in a DTD. </a:t>
            </a:r>
          </a:p>
          <a:p>
            <a:pPr marL="342900" indent="-342900" algn="just">
              <a:buFont typeface="Arial" panose="020B0604020202020204" pitchFamily="34" charset="0"/>
              <a:buChar char="•"/>
            </a:pPr>
            <a:r>
              <a:rPr lang="en-US" sz="2000" dirty="0"/>
              <a:t>An attribute declaration must include the name of the element to which the attribute belongs, the attribute’s name, its type, and a default option. </a:t>
            </a:r>
          </a:p>
          <a:p>
            <a:pPr algn="just"/>
            <a:r>
              <a:rPr lang="en-US" sz="2000" dirty="0"/>
              <a:t> 	</a:t>
            </a:r>
            <a:r>
              <a:rPr lang="en-US" sz="2000" dirty="0">
                <a:solidFill>
                  <a:srgbClr val="FF0000"/>
                </a:solidFill>
              </a:rPr>
              <a:t>&lt;!ATTLIST  </a:t>
            </a:r>
            <a:r>
              <a:rPr lang="en-US" sz="2000" dirty="0" err="1">
                <a:solidFill>
                  <a:srgbClr val="FF0000"/>
                </a:solidFill>
              </a:rPr>
              <a:t>element_name</a:t>
            </a:r>
            <a:r>
              <a:rPr lang="en-US" sz="2000" dirty="0">
                <a:solidFill>
                  <a:srgbClr val="FF0000"/>
                </a:solidFill>
              </a:rPr>
              <a:t>   </a:t>
            </a:r>
            <a:r>
              <a:rPr lang="en-US" sz="2000" dirty="0" err="1">
                <a:solidFill>
                  <a:srgbClr val="FF0000"/>
                </a:solidFill>
              </a:rPr>
              <a:t>attribute_name</a:t>
            </a:r>
            <a:r>
              <a:rPr lang="en-US" sz="2000" dirty="0">
                <a:solidFill>
                  <a:srgbClr val="FF0000"/>
                </a:solidFill>
              </a:rPr>
              <a:t>   attribute type   </a:t>
            </a:r>
            <a:r>
              <a:rPr lang="en-US" sz="2000" dirty="0" err="1">
                <a:solidFill>
                  <a:srgbClr val="FF0000"/>
                </a:solidFill>
              </a:rPr>
              <a:t>default_option</a:t>
            </a:r>
            <a:r>
              <a:rPr lang="en-US" sz="2000" dirty="0">
                <a:solidFill>
                  <a:srgbClr val="FF0000"/>
                </a:solidFill>
              </a:rPr>
              <a:t>&gt;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more than one attribute is declared for a given element, the declarations can be combined, as in the following element:</a:t>
            </a:r>
          </a:p>
          <a:p>
            <a:pPr algn="just"/>
            <a:endParaRPr lang="en-US" sz="2000" dirty="0"/>
          </a:p>
          <a:p>
            <a:pPr lvl="1" algn="just"/>
            <a:r>
              <a:rPr lang="en-US" sz="1400" dirty="0">
                <a:latin typeface="Book Antiqua" panose="02040602050305030304" pitchFamily="18" charset="0"/>
              </a:rPr>
              <a:t> </a:t>
            </a:r>
            <a:r>
              <a:rPr lang="en-US" sz="1400" i="1" dirty="0">
                <a:solidFill>
                  <a:srgbClr val="FF0000"/>
                </a:solidFill>
                <a:latin typeface="Courier New" panose="02070309020205020404" pitchFamily="49" charset="0"/>
                <a:cs typeface="Courier New" panose="02070309020205020404" pitchFamily="49" charset="0"/>
              </a:rPr>
              <a:t>&lt;!ATTLIST </a:t>
            </a:r>
            <a:r>
              <a:rPr lang="en-US" sz="1400" i="1" dirty="0" err="1">
                <a:solidFill>
                  <a:srgbClr val="FF0000"/>
                </a:solidFill>
                <a:latin typeface="Courier New" panose="02070309020205020404" pitchFamily="49" charset="0"/>
                <a:cs typeface="Courier New" panose="02070309020205020404" pitchFamily="49" charset="0"/>
              </a:rPr>
              <a:t>element_name</a:t>
            </a:r>
            <a:endParaRPr lang="en-US" sz="1400" i="1" dirty="0">
              <a:solidFill>
                <a:srgbClr val="FF0000"/>
              </a:solidFill>
              <a:latin typeface="Courier New" panose="02070309020205020404" pitchFamily="49" charset="0"/>
              <a:cs typeface="Courier New" panose="02070309020205020404" pitchFamily="49" charset="0"/>
            </a:endParaRPr>
          </a:p>
          <a:p>
            <a:pPr lvl="1" algn="just"/>
            <a:r>
              <a:rPr lang="en-US" sz="1400" i="1" dirty="0">
                <a:solidFill>
                  <a:srgbClr val="FF0000"/>
                </a:solidFill>
                <a:latin typeface="Courier New" panose="02070309020205020404" pitchFamily="49" charset="0"/>
                <a:cs typeface="Courier New" panose="02070309020205020404" pitchFamily="49" charset="0"/>
              </a:rPr>
              <a:t>                     attribute name_1  attribute type  default_option_1</a:t>
            </a:r>
          </a:p>
          <a:p>
            <a:pPr lvl="1" algn="just"/>
            <a:r>
              <a:rPr lang="en-US" sz="1400" i="1" dirty="0">
                <a:solidFill>
                  <a:srgbClr val="FF0000"/>
                </a:solidFill>
                <a:latin typeface="Courier New" panose="02070309020205020404" pitchFamily="49" charset="0"/>
                <a:cs typeface="Courier New" panose="02070309020205020404" pitchFamily="49" charset="0"/>
              </a:rPr>
              <a:t>                     attribute_name_2  </a:t>
            </a:r>
            <a:r>
              <a:rPr lang="en-US" sz="1400" i="1" dirty="0" err="1">
                <a:solidFill>
                  <a:srgbClr val="FF0000"/>
                </a:solidFill>
                <a:latin typeface="Courier New" panose="02070309020205020404" pitchFamily="49" charset="0"/>
                <a:cs typeface="Courier New" panose="02070309020205020404" pitchFamily="49" charset="0"/>
              </a:rPr>
              <a:t>attribute_type</a:t>
            </a:r>
            <a:r>
              <a:rPr lang="en-US" sz="1400" i="1" dirty="0">
                <a:solidFill>
                  <a:srgbClr val="FF0000"/>
                </a:solidFill>
                <a:latin typeface="Courier New" panose="02070309020205020404" pitchFamily="49" charset="0"/>
                <a:cs typeface="Courier New" panose="02070309020205020404" pitchFamily="49" charset="0"/>
              </a:rPr>
              <a:t>  default_option_2</a:t>
            </a:r>
          </a:p>
          <a:p>
            <a:pPr lvl="1" algn="just"/>
            <a:r>
              <a:rPr lang="en-US" sz="1400" i="1" dirty="0">
                <a:solidFill>
                  <a:srgbClr val="FF0000"/>
                </a:solidFill>
                <a:latin typeface="Courier New" panose="02070309020205020404" pitchFamily="49" charset="0"/>
                <a:cs typeface="Courier New" panose="02070309020205020404" pitchFamily="49" charset="0"/>
              </a:rPr>
              <a:t>                     ...</a:t>
            </a:r>
          </a:p>
          <a:p>
            <a:pPr lvl="1" algn="just"/>
            <a:r>
              <a:rPr lang="en-US" sz="1400" i="1" dirty="0">
                <a:solidFill>
                  <a:srgbClr val="FF0000"/>
                </a:solidFill>
                <a:latin typeface="Courier New" panose="02070309020205020404" pitchFamily="49" charset="0"/>
                <a:cs typeface="Courier New" panose="02070309020205020404" pitchFamily="49" charset="0"/>
              </a:rPr>
              <a:t>                     </a:t>
            </a:r>
            <a:r>
              <a:rPr lang="en-US" sz="1400" i="1" dirty="0" err="1">
                <a:solidFill>
                  <a:srgbClr val="FF0000"/>
                </a:solidFill>
                <a:latin typeface="Courier New" panose="02070309020205020404" pitchFamily="49" charset="0"/>
                <a:cs typeface="Courier New" panose="02070309020205020404" pitchFamily="49" charset="0"/>
              </a:rPr>
              <a:t>attribute_name_n</a:t>
            </a:r>
            <a:r>
              <a:rPr lang="en-US" sz="1400" i="1" dirty="0">
                <a:solidFill>
                  <a:srgbClr val="FF0000"/>
                </a:solidFill>
                <a:latin typeface="Courier New" panose="02070309020205020404" pitchFamily="49" charset="0"/>
                <a:cs typeface="Courier New" panose="02070309020205020404" pitchFamily="49" charset="0"/>
              </a:rPr>
              <a:t>  </a:t>
            </a:r>
            <a:r>
              <a:rPr lang="en-US" sz="1400" i="1" dirty="0" err="1">
                <a:solidFill>
                  <a:srgbClr val="FF0000"/>
                </a:solidFill>
                <a:latin typeface="Courier New" panose="02070309020205020404" pitchFamily="49" charset="0"/>
                <a:cs typeface="Courier New" panose="02070309020205020404" pitchFamily="49" charset="0"/>
              </a:rPr>
              <a:t>attribute_type</a:t>
            </a:r>
            <a:r>
              <a:rPr lang="en-US" sz="1400" i="1" dirty="0">
                <a:solidFill>
                  <a:srgbClr val="FF0000"/>
                </a:solidFill>
                <a:latin typeface="Courier New" panose="02070309020205020404" pitchFamily="49" charset="0"/>
                <a:cs typeface="Courier New" panose="02070309020205020404" pitchFamily="49" charset="0"/>
              </a:rPr>
              <a:t>  </a:t>
            </a:r>
            <a:r>
              <a:rPr lang="en-US" sz="1400" i="1" dirty="0" err="1">
                <a:solidFill>
                  <a:srgbClr val="FF0000"/>
                </a:solidFill>
                <a:latin typeface="Courier New" panose="02070309020205020404" pitchFamily="49" charset="0"/>
                <a:cs typeface="Courier New" panose="02070309020205020404" pitchFamily="49" charset="0"/>
              </a:rPr>
              <a:t>default_option_n</a:t>
            </a:r>
            <a:endParaRPr lang="en-US" sz="1400" i="1" dirty="0">
              <a:solidFill>
                <a:srgbClr val="FF0000"/>
              </a:solidFill>
              <a:latin typeface="Courier New" panose="02070309020205020404" pitchFamily="49" charset="0"/>
              <a:cs typeface="Courier New" panose="02070309020205020404" pitchFamily="49" charset="0"/>
            </a:endParaRPr>
          </a:p>
          <a:p>
            <a:pPr lvl="1" algn="just"/>
            <a:r>
              <a:rPr lang="en-US" sz="1400" i="1" dirty="0">
                <a:solidFill>
                  <a:srgbClr val="FF0000"/>
                </a:solidFill>
                <a:latin typeface="Courier New" panose="02070309020205020404" pitchFamily="49" charset="0"/>
                <a:cs typeface="Courier New" panose="02070309020205020404" pitchFamily="49" charset="0"/>
              </a:rPr>
              <a:t> &gt;</a:t>
            </a:r>
          </a:p>
          <a:p>
            <a:pPr algn="just"/>
            <a:endParaRPr lang="en-US" sz="2000" dirty="0"/>
          </a:p>
          <a:p>
            <a:pPr marL="342900" indent="-342900" algn="just">
              <a:buFont typeface="Arial" panose="020B0604020202020204" pitchFamily="34" charset="0"/>
              <a:buChar char="•"/>
            </a:pPr>
            <a:r>
              <a:rPr lang="en-US" sz="2000" dirty="0"/>
              <a:t>Attribute types may be CDATA or ENTITY	</a:t>
            </a:r>
          </a:p>
          <a:p>
            <a:pPr algn="just"/>
            <a:endParaRPr lang="en-US" sz="2000" dirty="0"/>
          </a:p>
          <a:p>
            <a:endParaRPr lang="en-IN" dirty="0"/>
          </a:p>
        </p:txBody>
      </p:sp>
    </p:spTree>
    <p:extLst>
      <p:ext uri="{BB962C8B-B14F-4D97-AF65-F5344CB8AC3E}">
        <p14:creationId xmlns:p14="http://schemas.microsoft.com/office/powerpoint/2010/main" val="10077204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67AFF-DA02-9C38-5CE0-EC4068EB73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758A7E-6799-6706-32F2-441FE4C863DC}"/>
              </a:ext>
            </a:extLst>
          </p:cNvPr>
          <p:cNvSpPr txBox="1"/>
          <p:nvPr/>
        </p:nvSpPr>
        <p:spPr>
          <a:xfrm>
            <a:off x="510988" y="403412"/>
            <a:ext cx="11125200" cy="5940088"/>
          </a:xfrm>
          <a:prstGeom prst="rect">
            <a:avLst/>
          </a:prstGeom>
          <a:noFill/>
        </p:spPr>
        <p:txBody>
          <a:bodyPr wrap="square" rtlCol="0">
            <a:spAutoFit/>
          </a:bodyPr>
          <a:lstStyle/>
          <a:p>
            <a:r>
              <a:rPr lang="en-US" sz="2400" dirty="0"/>
              <a:t>Continued…</a:t>
            </a:r>
          </a:p>
          <a:p>
            <a:endParaRPr lang="en-US"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 For example, suppose the DTD included the following attribute specifications:</a:t>
            </a:r>
          </a:p>
          <a:p>
            <a:pPr lvl="2" algn="just"/>
            <a:r>
              <a:rPr lang="en-US" sz="2000" dirty="0">
                <a:solidFill>
                  <a:srgbClr val="FF0000"/>
                </a:solidFill>
                <a:latin typeface="Courier New" panose="02070309020205020404" pitchFamily="49" charset="0"/>
                <a:cs typeface="Courier New" panose="02070309020205020404" pitchFamily="49" charset="0"/>
              </a:rPr>
              <a:t> &lt;!ATTLIST airplane places CDATA "4"&gt;</a:t>
            </a:r>
          </a:p>
          <a:p>
            <a:pPr lvl="2" algn="just"/>
            <a:r>
              <a:rPr lang="en-US" sz="2000" dirty="0">
                <a:solidFill>
                  <a:srgbClr val="FF0000"/>
                </a:solidFill>
                <a:latin typeface="Courier New" panose="02070309020205020404" pitchFamily="49" charset="0"/>
                <a:cs typeface="Courier New" panose="02070309020205020404" pitchFamily="49" charset="0"/>
              </a:rPr>
              <a:t> &lt;!ATTLIST airplane </a:t>
            </a:r>
            <a:r>
              <a:rPr lang="en-US" sz="2000" dirty="0" err="1">
                <a:solidFill>
                  <a:srgbClr val="FF0000"/>
                </a:solidFill>
                <a:latin typeface="Courier New" panose="02070309020205020404" pitchFamily="49" charset="0"/>
                <a:cs typeface="Courier New" panose="02070309020205020404" pitchFamily="49" charset="0"/>
              </a:rPr>
              <a:t>engine_type</a:t>
            </a:r>
            <a:r>
              <a:rPr lang="en-US" sz="2000" dirty="0">
                <a:solidFill>
                  <a:srgbClr val="FF0000"/>
                </a:solidFill>
                <a:latin typeface="Courier New" panose="02070309020205020404" pitchFamily="49" charset="0"/>
                <a:cs typeface="Courier New" panose="02070309020205020404" pitchFamily="49" charset="0"/>
              </a:rPr>
              <a:t> CDATA #REQUIRED&gt;</a:t>
            </a:r>
          </a:p>
          <a:p>
            <a:pPr lvl="2" algn="just"/>
            <a:r>
              <a:rPr lang="en-US" sz="2000" dirty="0">
                <a:solidFill>
                  <a:srgbClr val="FF0000"/>
                </a:solidFill>
                <a:latin typeface="Courier New" panose="02070309020205020404" pitchFamily="49" charset="0"/>
                <a:cs typeface="Courier New" panose="02070309020205020404" pitchFamily="49" charset="0"/>
              </a:rPr>
              <a:t> &lt;!ATTLIST airplane price CDATA #IMPLIED&gt;</a:t>
            </a:r>
          </a:p>
          <a:p>
            <a:pPr lvl="2" algn="just"/>
            <a:r>
              <a:rPr lang="en-US" sz="2000" dirty="0">
                <a:solidFill>
                  <a:srgbClr val="FF0000"/>
                </a:solidFill>
                <a:latin typeface="Courier New" panose="02070309020205020404" pitchFamily="49" charset="0"/>
                <a:cs typeface="Courier New" panose="02070309020205020404" pitchFamily="49" charset="0"/>
              </a:rPr>
              <a:t> &lt;!ATTLIST airplane manufacturer CDATA #FIXED "Cessna"&gt;</a:t>
            </a:r>
          </a:p>
          <a:p>
            <a:pPr algn="just"/>
            <a:r>
              <a:rPr lang="en-US" sz="2000" dirty="0"/>
              <a:t> Then the following XML element would be valid for this DTD:</a:t>
            </a:r>
          </a:p>
          <a:p>
            <a:pPr algn="just"/>
            <a:r>
              <a:rPr lang="en-US" sz="2000" dirty="0"/>
              <a:t> 	</a:t>
            </a:r>
            <a:r>
              <a:rPr lang="en-US" sz="2000" dirty="0">
                <a:solidFill>
                  <a:srgbClr val="FF0000"/>
                </a:solidFill>
                <a:latin typeface="Courier New" panose="02070309020205020404" pitchFamily="49" charset="0"/>
                <a:cs typeface="Courier New" panose="02070309020205020404" pitchFamily="49" charset="0"/>
              </a:rPr>
              <a:t>&lt;airplane places = "10" </a:t>
            </a:r>
            <a:r>
              <a:rPr lang="en-US" sz="2000" dirty="0" err="1">
                <a:solidFill>
                  <a:srgbClr val="FF0000"/>
                </a:solidFill>
                <a:latin typeface="Courier New" panose="02070309020205020404" pitchFamily="49" charset="0"/>
                <a:cs typeface="Courier New" panose="02070309020205020404" pitchFamily="49" charset="0"/>
              </a:rPr>
              <a:t>engine_type</a:t>
            </a:r>
            <a:r>
              <a:rPr lang="en-US" sz="2000" dirty="0">
                <a:solidFill>
                  <a:srgbClr val="FF0000"/>
                </a:solidFill>
                <a:latin typeface="Courier New" panose="02070309020205020404" pitchFamily="49" charset="0"/>
                <a:cs typeface="Courier New" panose="02070309020205020404" pitchFamily="49" charset="0"/>
              </a:rPr>
              <a:t> = "jet"&gt; &lt;/airplane&gt;</a:t>
            </a:r>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447AC9E9-6223-FE60-E466-19DBD39A4CEB}"/>
              </a:ext>
            </a:extLst>
          </p:cNvPr>
          <p:cNvPicPr>
            <a:picLocks noChangeAspect="1"/>
          </p:cNvPicPr>
          <p:nvPr/>
        </p:nvPicPr>
        <p:blipFill>
          <a:blip r:embed="rId2"/>
          <a:stretch>
            <a:fillRect/>
          </a:stretch>
        </p:blipFill>
        <p:spPr>
          <a:xfrm>
            <a:off x="3818205" y="699248"/>
            <a:ext cx="5209253" cy="2377037"/>
          </a:xfrm>
          <a:prstGeom prst="rect">
            <a:avLst/>
          </a:prstGeom>
        </p:spPr>
      </p:pic>
    </p:spTree>
    <p:extLst>
      <p:ext uri="{BB962C8B-B14F-4D97-AF65-F5344CB8AC3E}">
        <p14:creationId xmlns:p14="http://schemas.microsoft.com/office/powerpoint/2010/main" val="19912340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2C774-C0A7-E8B0-D41B-1700BFB63C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A8027E-188C-9A4C-DA23-F688D2E865A4}"/>
              </a:ext>
            </a:extLst>
          </p:cNvPr>
          <p:cNvSpPr txBox="1"/>
          <p:nvPr/>
        </p:nvSpPr>
        <p:spPr>
          <a:xfrm>
            <a:off x="510988" y="403412"/>
            <a:ext cx="11125200" cy="5940088"/>
          </a:xfrm>
          <a:prstGeom prst="rect">
            <a:avLst/>
          </a:prstGeom>
          <a:noFill/>
        </p:spPr>
        <p:txBody>
          <a:bodyPr wrap="square" rtlCol="0">
            <a:spAutoFit/>
          </a:bodyPr>
          <a:lstStyle/>
          <a:p>
            <a:r>
              <a:rPr lang="en-IN" sz="2400" dirty="0"/>
              <a:t>4.3 Declaring Entities</a:t>
            </a:r>
            <a:endParaRPr lang="en-US" sz="2400" dirty="0"/>
          </a:p>
          <a:p>
            <a:endParaRPr lang="en-US" dirty="0"/>
          </a:p>
          <a:p>
            <a:pPr marL="342900" indent="-342900" algn="just">
              <a:buFont typeface="Arial" panose="020B0604020202020204" pitchFamily="34" charset="0"/>
              <a:buChar char="•"/>
            </a:pPr>
            <a:r>
              <a:rPr lang="en-US" sz="2000" dirty="0"/>
              <a:t>Entities can be defined so that they can be referenced anywhere in the content of an XML document, in which case they are called </a:t>
            </a:r>
            <a:r>
              <a:rPr lang="en-US" sz="2000" i="1" dirty="0">
                <a:solidFill>
                  <a:srgbClr val="FF0000"/>
                </a:solidFill>
                <a:latin typeface="Courier New" panose="02070309020205020404" pitchFamily="49" charset="0"/>
                <a:cs typeface="Courier New" panose="02070309020205020404" pitchFamily="49" charset="0"/>
              </a:rPr>
              <a:t>general entities</a:t>
            </a:r>
            <a:r>
              <a:rPr lang="en-US" sz="2000" dirty="0"/>
              <a:t>. </a:t>
            </a:r>
          </a:p>
          <a:p>
            <a:pPr marL="342900" indent="-342900" algn="just">
              <a:buFont typeface="Arial" panose="020B0604020202020204" pitchFamily="34" charset="0"/>
              <a:buChar char="•"/>
            </a:pPr>
            <a:r>
              <a:rPr lang="en-US" sz="2000" dirty="0"/>
              <a:t>The predefined entities are all general entities. Entities can also be defined so that they can be referenced only in DTDs, in which case they are called </a:t>
            </a:r>
            <a:r>
              <a:rPr lang="en-US" sz="2000" i="1" dirty="0">
                <a:solidFill>
                  <a:srgbClr val="FF0000"/>
                </a:solidFill>
                <a:latin typeface="Courier New" panose="02070309020205020404" pitchFamily="49" charset="0"/>
                <a:cs typeface="Courier New" panose="02070309020205020404" pitchFamily="49" charset="0"/>
              </a:rPr>
              <a:t>parameter entities</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&lt;!ENTITY [%] </a:t>
            </a:r>
            <a:r>
              <a:rPr lang="en-US" sz="2000" dirty="0" err="1"/>
              <a:t>entity_name</a:t>
            </a:r>
            <a:r>
              <a:rPr lang="en-US" sz="2000" dirty="0"/>
              <a:t> "</a:t>
            </a:r>
            <a:r>
              <a:rPr lang="en-US" sz="2000" dirty="0" err="1"/>
              <a:t>entity_value</a:t>
            </a:r>
            <a:r>
              <a:rPr lang="en-US" sz="2000" dirty="0"/>
              <a:t>"&gt;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Consider the following example of an entity: Suppose that a document includes a large number of references to the full name of President Kennedy. Then you can define an entity to represent his complete name as follows:</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 </a:t>
            </a:r>
            <a:r>
              <a:rPr lang="en-US" sz="2000" dirty="0">
                <a:solidFill>
                  <a:srgbClr val="FF0000"/>
                </a:solidFill>
                <a:latin typeface="Courier New" panose="02070309020205020404" pitchFamily="49" charset="0"/>
                <a:cs typeface="Courier New" panose="02070309020205020404" pitchFamily="49" charset="0"/>
              </a:rPr>
              <a:t>&lt;!ENTITY </a:t>
            </a:r>
            <a:r>
              <a:rPr lang="en-US" sz="2000" dirty="0" err="1">
                <a:solidFill>
                  <a:srgbClr val="FF0000"/>
                </a:solidFill>
                <a:latin typeface="Courier New" panose="02070309020205020404" pitchFamily="49" charset="0"/>
                <a:cs typeface="Courier New" panose="02070309020205020404" pitchFamily="49" charset="0"/>
              </a:rPr>
              <a:t>jfk</a:t>
            </a:r>
            <a:r>
              <a:rPr lang="en-US" sz="2000" dirty="0">
                <a:solidFill>
                  <a:srgbClr val="FF0000"/>
                </a:solidFill>
                <a:latin typeface="Courier New" panose="02070309020205020404" pitchFamily="49" charset="0"/>
                <a:cs typeface="Courier New" panose="02070309020205020404" pitchFamily="49" charset="0"/>
              </a:rPr>
              <a:t> "John Fitzgerald Kennedy"&gt;</a:t>
            </a:r>
          </a:p>
          <a:p>
            <a:pPr marL="800100" lvl="1"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Any XML document that uses a DTD that includes this declaration can specify the complete name with just the reference </a:t>
            </a:r>
            <a:r>
              <a:rPr lang="en-US" sz="2000" dirty="0">
                <a:solidFill>
                  <a:srgbClr val="FF0000"/>
                </a:solidFill>
              </a:rPr>
              <a:t>&amp;</a:t>
            </a:r>
            <a:r>
              <a:rPr lang="en-US" sz="2000" dirty="0" err="1">
                <a:solidFill>
                  <a:srgbClr val="FF0000"/>
                </a:solidFill>
              </a:rPr>
              <a:t>jfk</a:t>
            </a:r>
            <a:r>
              <a:rPr lang="en-US" sz="2000" dirty="0"/>
              <a:t>;</a:t>
            </a:r>
          </a:p>
          <a:p>
            <a:pPr algn="just"/>
            <a:endParaRPr lang="en-US" sz="2000" dirty="0"/>
          </a:p>
          <a:p>
            <a:endParaRPr lang="en-IN" dirty="0"/>
          </a:p>
        </p:txBody>
      </p:sp>
    </p:spTree>
    <p:extLst>
      <p:ext uri="{BB962C8B-B14F-4D97-AF65-F5344CB8AC3E}">
        <p14:creationId xmlns:p14="http://schemas.microsoft.com/office/powerpoint/2010/main" val="306014703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657A-B1C3-A060-D3B2-B4D976EA71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C81923-C38A-E9FE-FC2E-CC1D9E90D796}"/>
              </a:ext>
            </a:extLst>
          </p:cNvPr>
          <p:cNvSpPr txBox="1"/>
          <p:nvPr/>
        </p:nvSpPr>
        <p:spPr>
          <a:xfrm>
            <a:off x="510988" y="403412"/>
            <a:ext cx="11125200" cy="5816977"/>
          </a:xfrm>
          <a:prstGeom prst="rect">
            <a:avLst/>
          </a:prstGeom>
          <a:noFill/>
        </p:spPr>
        <p:txBody>
          <a:bodyPr wrap="square" rtlCol="0">
            <a:spAutoFit/>
          </a:bodyPr>
          <a:lstStyle/>
          <a:p>
            <a:r>
              <a:rPr lang="en-IN" sz="2400" dirty="0"/>
              <a:t>4.5 Internal and External DTDs</a:t>
            </a:r>
            <a:endParaRPr lang="en-US" sz="2400" dirty="0"/>
          </a:p>
          <a:p>
            <a:endParaRPr lang="en-US" dirty="0"/>
          </a:p>
          <a:p>
            <a:pPr marL="342900" indent="-342900" algn="just">
              <a:buFont typeface="Arial" panose="020B0604020202020204" pitchFamily="34" charset="0"/>
              <a:buChar char="•"/>
            </a:pPr>
            <a:r>
              <a:rPr lang="en-US" sz="2000" dirty="0"/>
              <a:t>DTD can appear inside an XML document or in an external file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If the DTD is included in the XML code, it must be introduced with </a:t>
            </a:r>
          </a:p>
          <a:p>
            <a:pPr lvl="1" algn="just"/>
            <a:r>
              <a:rPr lang="en-US" sz="2000" dirty="0">
                <a:solidFill>
                  <a:srgbClr val="FF0000"/>
                </a:solidFill>
              </a:rPr>
              <a:t>&lt;!DOCTYPE </a:t>
            </a:r>
            <a:r>
              <a:rPr lang="en-US" sz="2000" dirty="0" err="1">
                <a:solidFill>
                  <a:srgbClr val="FF0000"/>
                </a:solidFill>
              </a:rPr>
              <a:t>root_name</a:t>
            </a:r>
            <a:r>
              <a:rPr lang="en-US" sz="2000" dirty="0">
                <a:solidFill>
                  <a:srgbClr val="FF0000"/>
                </a:solidFill>
              </a:rPr>
              <a:t> [ and terminated with ]&gt;.</a:t>
            </a:r>
          </a:p>
          <a:p>
            <a:pPr algn="just"/>
            <a:endParaRPr lang="en-US" sz="2000" dirty="0"/>
          </a:p>
          <a:p>
            <a:pPr lvl="1" algn="just"/>
            <a:r>
              <a:rPr lang="en-US" sz="2000" dirty="0"/>
              <a:t> </a:t>
            </a:r>
            <a:r>
              <a:rPr lang="en-US" dirty="0">
                <a:latin typeface="Courier New" panose="02070309020205020404" pitchFamily="49" charset="0"/>
                <a:cs typeface="Courier New" panose="02070309020205020404" pitchFamily="49" charset="0"/>
              </a:rPr>
              <a:t>&lt;?xml version = "1.0" encoding = "utf-8"?&gt;</a:t>
            </a:r>
          </a:p>
          <a:p>
            <a:pPr lvl="1" algn="just"/>
            <a:r>
              <a:rPr lang="en-US" dirty="0">
                <a:latin typeface="Courier New" panose="02070309020205020404" pitchFamily="49" charset="0"/>
                <a:cs typeface="Courier New" panose="02070309020205020404" pitchFamily="49" charset="0"/>
              </a:rPr>
              <a:t>          &lt;!DOCTYPE planes [</a:t>
            </a:r>
          </a:p>
          <a:p>
            <a:pPr lvl="1" algn="just"/>
            <a:r>
              <a:rPr lang="en-US" dirty="0">
                <a:latin typeface="Courier New" panose="02070309020205020404" pitchFamily="49" charset="0"/>
                <a:cs typeface="Courier New" panose="02070309020205020404" pitchFamily="49" charset="0"/>
              </a:rPr>
              <a:t>              &lt;!-- The DTD for planes --&gt;</a:t>
            </a:r>
          </a:p>
          <a:p>
            <a:pPr lvl="1" algn="just"/>
            <a:r>
              <a:rPr lang="en-US" dirty="0">
                <a:latin typeface="Courier New" panose="02070309020205020404" pitchFamily="49" charset="0"/>
                <a:cs typeface="Courier New" panose="02070309020205020404" pitchFamily="49" charset="0"/>
              </a:rPr>
              <a:t>          ]&gt;</a:t>
            </a:r>
          </a:p>
          <a:p>
            <a:pPr lvl="1" algn="just"/>
            <a:r>
              <a:rPr lang="en-US" dirty="0">
                <a:latin typeface="Courier New" panose="02070309020205020404" pitchFamily="49" charset="0"/>
                <a:cs typeface="Courier New" panose="02070309020205020404" pitchFamily="49" charset="0"/>
              </a:rPr>
              <a:t>    &lt;!-- The planes XML document --&gt;</a:t>
            </a:r>
          </a:p>
          <a:p>
            <a:pPr algn="just"/>
            <a:endParaRPr lang="en-US" sz="2000" dirty="0"/>
          </a:p>
          <a:p>
            <a:pPr marL="342900" indent="-342900" algn="just">
              <a:buFont typeface="Arial" panose="020B0604020202020204" pitchFamily="34" charset="0"/>
              <a:buChar char="•"/>
            </a:pPr>
            <a:r>
              <a:rPr lang="en-US" sz="2000" dirty="0"/>
              <a:t>When the DTD is in a separate file, the XML document refers to it with a DOCTYPE declaration as its second line.</a:t>
            </a:r>
          </a:p>
          <a:p>
            <a:pPr algn="just"/>
            <a:r>
              <a:rPr lang="en-US" sz="2000" dirty="0"/>
              <a:t>	 &lt;!DOCTYPE </a:t>
            </a:r>
            <a:r>
              <a:rPr lang="en-US" sz="2000" dirty="0" err="1"/>
              <a:t>XML_document_root_name</a:t>
            </a:r>
            <a:r>
              <a:rPr lang="en-US" sz="2000" dirty="0"/>
              <a:t> SYSTEM "</a:t>
            </a:r>
            <a:r>
              <a:rPr lang="en-US" sz="2000" dirty="0" err="1"/>
              <a:t>DTD_file_name</a:t>
            </a:r>
            <a:r>
              <a:rPr lang="en-US" sz="2000" dirty="0"/>
              <a:t>"&gt;</a:t>
            </a:r>
          </a:p>
          <a:p>
            <a:pPr algn="just"/>
            <a:r>
              <a:rPr lang="en-US" sz="2000" dirty="0"/>
              <a:t>	 </a:t>
            </a:r>
            <a:r>
              <a:rPr lang="en-US" sz="2000" dirty="0">
                <a:solidFill>
                  <a:srgbClr val="FF0000"/>
                </a:solidFill>
              </a:rPr>
              <a:t>&lt;!DOCTYPE </a:t>
            </a:r>
            <a:r>
              <a:rPr lang="en-US" sz="2000" dirty="0" err="1">
                <a:solidFill>
                  <a:srgbClr val="FF0000"/>
                </a:solidFill>
              </a:rPr>
              <a:t>planes_for_sale</a:t>
            </a:r>
            <a:r>
              <a:rPr lang="en-US" sz="2000" dirty="0">
                <a:solidFill>
                  <a:srgbClr val="FF0000"/>
                </a:solidFill>
              </a:rPr>
              <a:t> SYSTEM "planes.dtd"&gt;</a:t>
            </a:r>
          </a:p>
          <a:p>
            <a:pPr algn="just"/>
            <a:endParaRPr lang="en-US" sz="2000" dirty="0"/>
          </a:p>
          <a:p>
            <a:endParaRPr lang="en-IN" dirty="0"/>
          </a:p>
        </p:txBody>
      </p:sp>
    </p:spTree>
    <p:extLst>
      <p:ext uri="{BB962C8B-B14F-4D97-AF65-F5344CB8AC3E}">
        <p14:creationId xmlns:p14="http://schemas.microsoft.com/office/powerpoint/2010/main" val="134358067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5B26-22C4-96DB-A4FB-62D4D4FCFC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A71A3F-6EAD-9F33-47B1-10EC62B9750D}"/>
              </a:ext>
            </a:extLst>
          </p:cNvPr>
          <p:cNvSpPr txBox="1"/>
          <p:nvPr/>
        </p:nvSpPr>
        <p:spPr>
          <a:xfrm>
            <a:off x="510988" y="403412"/>
            <a:ext cx="11125200" cy="5940088"/>
          </a:xfrm>
          <a:prstGeom prst="rect">
            <a:avLst/>
          </a:prstGeom>
          <a:noFill/>
        </p:spPr>
        <p:txBody>
          <a:bodyPr wrap="square" rtlCol="0">
            <a:spAutoFit/>
          </a:bodyPr>
          <a:lstStyle/>
          <a:p>
            <a:r>
              <a:rPr lang="en-US" sz="2400" dirty="0"/>
              <a:t>Title</a:t>
            </a:r>
          </a:p>
          <a:p>
            <a:endParaRPr lang="en-US" dirty="0"/>
          </a:p>
          <a:p>
            <a:pPr algn="just"/>
            <a:r>
              <a:rPr lang="en-US" sz="2000" dirty="0"/>
              <a:t>Content</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06DFE064-074D-0CBC-0D8F-FD21BCC486EE}"/>
              </a:ext>
            </a:extLst>
          </p:cNvPr>
          <p:cNvPicPr>
            <a:picLocks noChangeAspect="1"/>
          </p:cNvPicPr>
          <p:nvPr/>
        </p:nvPicPr>
        <p:blipFill>
          <a:blip r:embed="rId2"/>
          <a:stretch>
            <a:fillRect/>
          </a:stretch>
        </p:blipFill>
        <p:spPr>
          <a:xfrm>
            <a:off x="340659" y="514500"/>
            <a:ext cx="5249915" cy="4948518"/>
          </a:xfrm>
          <a:prstGeom prst="rect">
            <a:avLst/>
          </a:prstGeom>
        </p:spPr>
      </p:pic>
      <p:pic>
        <p:nvPicPr>
          <p:cNvPr id="6" name="Picture 5">
            <a:extLst>
              <a:ext uri="{FF2B5EF4-FFF2-40B4-BE49-F238E27FC236}">
                <a16:creationId xmlns:a16="http://schemas.microsoft.com/office/drawing/2014/main" id="{D4BED073-EB09-E23B-99F6-06C1DE6230D9}"/>
              </a:ext>
            </a:extLst>
          </p:cNvPr>
          <p:cNvPicPr>
            <a:picLocks noChangeAspect="1"/>
          </p:cNvPicPr>
          <p:nvPr/>
        </p:nvPicPr>
        <p:blipFill>
          <a:blip r:embed="rId3"/>
          <a:stretch>
            <a:fillRect/>
          </a:stretch>
        </p:blipFill>
        <p:spPr>
          <a:xfrm>
            <a:off x="5958487" y="0"/>
            <a:ext cx="5677702" cy="812175"/>
          </a:xfrm>
          <a:prstGeom prst="rect">
            <a:avLst/>
          </a:prstGeom>
        </p:spPr>
      </p:pic>
      <p:pic>
        <p:nvPicPr>
          <p:cNvPr id="8" name="Picture 7">
            <a:extLst>
              <a:ext uri="{FF2B5EF4-FFF2-40B4-BE49-F238E27FC236}">
                <a16:creationId xmlns:a16="http://schemas.microsoft.com/office/drawing/2014/main" id="{D16892F1-8EC8-507B-21CA-E4C84EA22AC4}"/>
              </a:ext>
            </a:extLst>
          </p:cNvPr>
          <p:cNvPicPr>
            <a:picLocks noChangeAspect="1"/>
          </p:cNvPicPr>
          <p:nvPr/>
        </p:nvPicPr>
        <p:blipFill>
          <a:blip r:embed="rId4"/>
          <a:stretch>
            <a:fillRect/>
          </a:stretch>
        </p:blipFill>
        <p:spPr>
          <a:xfrm>
            <a:off x="5958486" y="812175"/>
            <a:ext cx="5677702" cy="5952309"/>
          </a:xfrm>
          <a:prstGeom prst="rect">
            <a:avLst/>
          </a:prstGeom>
        </p:spPr>
      </p:pic>
    </p:spTree>
    <p:extLst>
      <p:ext uri="{BB962C8B-B14F-4D97-AF65-F5344CB8AC3E}">
        <p14:creationId xmlns:p14="http://schemas.microsoft.com/office/powerpoint/2010/main" val="14771246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FB0E2-CE55-7F8E-6D2F-81B007A3F5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B0B79E-0873-4343-A66D-5A161C4FD9B9}"/>
              </a:ext>
            </a:extLst>
          </p:cNvPr>
          <p:cNvSpPr txBox="1"/>
          <p:nvPr/>
        </p:nvSpPr>
        <p:spPr>
          <a:xfrm>
            <a:off x="510988" y="403412"/>
            <a:ext cx="11125200" cy="5970865"/>
          </a:xfrm>
          <a:prstGeom prst="rect">
            <a:avLst/>
          </a:prstGeom>
          <a:noFill/>
        </p:spPr>
        <p:txBody>
          <a:bodyPr wrap="square" rtlCol="0">
            <a:spAutoFit/>
          </a:bodyPr>
          <a:lstStyle/>
          <a:p>
            <a:r>
              <a:rPr lang="en-IN" sz="2400" b="1" dirty="0"/>
              <a:t>Namespaces</a:t>
            </a:r>
            <a:endParaRPr lang="en-US" sz="2400" b="1" dirty="0"/>
          </a:p>
          <a:p>
            <a:endParaRPr lang="en-US" dirty="0"/>
          </a:p>
          <a:p>
            <a:pPr marL="342900" indent="-342900" algn="just">
              <a:buFont typeface="Arial" panose="020B0604020202020204" pitchFamily="34" charset="0"/>
              <a:buChar char="•"/>
            </a:pPr>
            <a:r>
              <a:rPr lang="en-US" sz="2000" dirty="0"/>
              <a:t>It is often convenient to construct XML documents that use tag sets that are defined for and used by other documents. </a:t>
            </a:r>
          </a:p>
          <a:p>
            <a:pPr marL="342900" indent="-342900" algn="just">
              <a:buFont typeface="Arial" panose="020B0604020202020204" pitchFamily="34" charset="0"/>
              <a:buChar char="•"/>
            </a:pPr>
            <a:r>
              <a:rPr lang="en-US" sz="2000" dirty="0"/>
              <a:t>When a tag set is available and appropriate for a particular XML document or class of documents, it is better to use it than to invent a new collection of element types.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suppose you must define an XML markup language for a furniture catalog with &lt;chair&gt;, &lt;sofa&gt;, and &lt;table&gt; tags. </a:t>
            </a:r>
          </a:p>
          <a:p>
            <a:pPr marL="342900" indent="-342900" algn="just">
              <a:buFont typeface="Arial" panose="020B0604020202020204" pitchFamily="34" charset="0"/>
              <a:buChar char="•"/>
            </a:pPr>
            <a:r>
              <a:rPr lang="en-US" sz="2000" dirty="0"/>
              <a:t>Suppose also that the catalog document must include several different tables of specific furniture pieces, wood types, finishes, and prices. </a:t>
            </a:r>
          </a:p>
          <a:p>
            <a:pPr marL="342900" indent="-342900" algn="just">
              <a:buFont typeface="Arial" panose="020B0604020202020204" pitchFamily="34" charset="0"/>
              <a:buChar char="•"/>
            </a:pPr>
            <a:r>
              <a:rPr lang="en-US" sz="2000" dirty="0"/>
              <a:t>Then it obviously would be convenient to use HTML table tags to define these tables rather than invent a new vocabulary for them.</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One problem with using different markup vocabularies in the same document is that collisions between names that are defined in two or more of those tag sets could result.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software systems that process XML documents must be capable of unambiguously recognizing the element names in those documents.</a:t>
            </a:r>
            <a:endParaRPr lang="en-IN" dirty="0"/>
          </a:p>
        </p:txBody>
      </p:sp>
    </p:spTree>
    <p:extLst>
      <p:ext uri="{BB962C8B-B14F-4D97-AF65-F5344CB8AC3E}">
        <p14:creationId xmlns:p14="http://schemas.microsoft.com/office/powerpoint/2010/main" val="35893531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93F26-98CF-AE17-7667-823B7F1500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31D5A2-A9D1-2FF1-A887-CD8B66E7AD4C}"/>
              </a:ext>
            </a:extLst>
          </p:cNvPr>
          <p:cNvSpPr txBox="1"/>
          <p:nvPr/>
        </p:nvSpPr>
        <p:spPr>
          <a:xfrm>
            <a:off x="510988" y="403412"/>
            <a:ext cx="11125200" cy="6217087"/>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t>An XML namespace is a collection of element and attribute names used in XML documents.</a:t>
            </a:r>
          </a:p>
          <a:p>
            <a:pPr marL="342900" indent="-342900" algn="just">
              <a:buFont typeface="Arial" panose="020B0604020202020204" pitchFamily="34" charset="0"/>
              <a:buChar char="•"/>
            </a:pPr>
            <a:r>
              <a:rPr lang="en-US" sz="2000" dirty="0"/>
              <a:t>A namespace declaration for an element is given as the value of the </a:t>
            </a:r>
            <a:r>
              <a:rPr lang="en-US" sz="2000" dirty="0" err="1"/>
              <a:t>xmlns</a:t>
            </a:r>
            <a:r>
              <a:rPr lang="en-US" sz="2000" dirty="0"/>
              <a:t> attribute, as in the following:</a:t>
            </a:r>
          </a:p>
          <a:p>
            <a:pPr algn="just"/>
            <a:r>
              <a:rPr lang="en-US" sz="2000" dirty="0"/>
              <a:t> 	&lt;</a:t>
            </a:r>
            <a:r>
              <a:rPr lang="en-US" sz="2000" dirty="0" err="1"/>
              <a:t>element_name</a:t>
            </a:r>
            <a:r>
              <a:rPr lang="en-US" sz="2000" dirty="0"/>
              <a:t> </a:t>
            </a:r>
            <a:r>
              <a:rPr lang="en-US" sz="2000" dirty="0" err="1"/>
              <a:t>xmlns</a:t>
            </a:r>
            <a:r>
              <a:rPr lang="en-US" sz="2000" dirty="0"/>
              <a:t>[:prefix] = URL&gt;</a:t>
            </a:r>
          </a:p>
          <a:p>
            <a:pPr marL="342900" indent="-342900" algn="just">
              <a:buFont typeface="Arial" panose="020B0604020202020204" pitchFamily="34" charset="0"/>
              <a:buChar char="•"/>
            </a:pPr>
            <a:r>
              <a:rPr lang="en-US" sz="2000" dirty="0"/>
              <a:t>Example:</a:t>
            </a:r>
          </a:p>
          <a:p>
            <a:pPr algn="just"/>
            <a:r>
              <a:rPr lang="en-US" sz="2000" dirty="0"/>
              <a:t>	</a:t>
            </a:r>
            <a:r>
              <a:rPr lang="en-US" sz="2000" dirty="0">
                <a:solidFill>
                  <a:srgbClr val="FF0000"/>
                </a:solidFill>
              </a:rPr>
              <a:t>&lt;?xml version="1.0" encoding="UTF-8"?&gt;		</a:t>
            </a:r>
            <a:r>
              <a:rPr lang="en-US" sz="2000" dirty="0"/>
              <a:t>//More than one namespace</a:t>
            </a:r>
            <a:r>
              <a:rPr lang="en-US" sz="2000" dirty="0">
                <a:solidFill>
                  <a:srgbClr val="FF0000"/>
                </a:solidFill>
              </a:rPr>
              <a:t>	</a:t>
            </a:r>
          </a:p>
          <a:p>
            <a:pPr algn="just"/>
            <a:r>
              <a:rPr lang="en-US" sz="2000" dirty="0">
                <a:solidFill>
                  <a:srgbClr val="FF0000"/>
                </a:solidFill>
              </a:rPr>
              <a:t>	&lt;catalog </a:t>
            </a:r>
            <a:r>
              <a:rPr lang="en-US" sz="2000" dirty="0" err="1">
                <a:solidFill>
                  <a:srgbClr val="FF0000"/>
                </a:solidFill>
              </a:rPr>
              <a:t>xmlns:furn</a:t>
            </a:r>
            <a:r>
              <a:rPr lang="en-US" sz="2000" dirty="0">
                <a:solidFill>
                  <a:srgbClr val="FF0000"/>
                </a:solidFill>
              </a:rPr>
              <a:t>=</a:t>
            </a:r>
            <a:r>
              <a:rPr lang="en-US" sz="2000" dirty="0">
                <a:solidFill>
                  <a:srgbClr val="FF0000"/>
                </a:solidFill>
                <a:hlinkClick r:id="rId2"/>
              </a:rPr>
              <a:t>http://example.com/furniture</a:t>
            </a:r>
            <a:r>
              <a:rPr lang="en-US" sz="2000" dirty="0">
                <a:solidFill>
                  <a:srgbClr val="FF0000"/>
                </a:solidFill>
              </a:rPr>
              <a:t>	</a:t>
            </a:r>
          </a:p>
          <a:p>
            <a:pPr algn="just"/>
            <a:r>
              <a:rPr lang="en-US" sz="2000" dirty="0">
                <a:solidFill>
                  <a:srgbClr val="FF0000"/>
                </a:solidFill>
              </a:rPr>
              <a:t>         		 </a:t>
            </a:r>
            <a:r>
              <a:rPr lang="en-US" sz="2000" dirty="0" err="1">
                <a:solidFill>
                  <a:srgbClr val="FF0000"/>
                </a:solidFill>
              </a:rPr>
              <a:t>xmlns:html</a:t>
            </a:r>
            <a:r>
              <a:rPr lang="en-US" sz="2000" dirty="0">
                <a:solidFill>
                  <a:srgbClr val="FF0000"/>
                </a:solidFill>
              </a:rPr>
              <a:t>=</a:t>
            </a:r>
            <a:r>
              <a:rPr lang="en-US" sz="2000" dirty="0">
                <a:solidFill>
                  <a:srgbClr val="FF0000"/>
                </a:solidFill>
                <a:hlinkClick r:id="rId3"/>
              </a:rPr>
              <a:t>http://www.w3.org/1999/xhtml</a:t>
            </a:r>
            <a:r>
              <a:rPr lang="en-US" sz="2000" dirty="0">
                <a:solidFill>
                  <a:srgbClr val="FF0000"/>
                </a:solidFill>
              </a:rPr>
              <a:t>&gt;</a:t>
            </a:r>
          </a:p>
          <a:p>
            <a:pPr algn="just"/>
            <a:endParaRPr lang="en-US" sz="2000" dirty="0"/>
          </a:p>
          <a:p>
            <a:pPr marL="342900" indent="-342900" algn="just">
              <a:buFont typeface="Arial" panose="020B0604020202020204" pitchFamily="34" charset="0"/>
              <a:buChar char="•"/>
            </a:pPr>
            <a:r>
              <a:rPr lang="en-US" sz="2000" dirty="0"/>
              <a:t>The prefix, if included, is the name that must be attached to the names in the declared namespace.</a:t>
            </a:r>
          </a:p>
          <a:p>
            <a:pPr marL="342900" indent="-342900" algn="just">
              <a:buFont typeface="Arial" panose="020B0604020202020204" pitchFamily="34" charset="0"/>
              <a:buChar char="•"/>
            </a:pPr>
            <a:r>
              <a:rPr lang="en-US" sz="2000" dirty="0"/>
              <a:t>A prefix is used for two reasons. </a:t>
            </a:r>
          </a:p>
          <a:p>
            <a:pPr marL="800100" lvl="1" indent="-342900" algn="just">
              <a:buFont typeface="Arial" panose="020B0604020202020204" pitchFamily="34" charset="0"/>
              <a:buChar char="•"/>
            </a:pPr>
            <a:r>
              <a:rPr lang="en-US" sz="2000" dirty="0"/>
              <a:t>First, most URLs are too long to be typed on every occurrence of every name from the namespace. </a:t>
            </a:r>
          </a:p>
          <a:p>
            <a:pPr marL="800100" lvl="1" indent="-342900" algn="just">
              <a:buFont typeface="Arial" panose="020B0604020202020204" pitchFamily="34" charset="0"/>
              <a:buChar char="•"/>
            </a:pPr>
            <a:r>
              <a:rPr lang="en-US" sz="2000" dirty="0"/>
              <a:t>Second, a URL includes characters that are invalid in XML.</a:t>
            </a:r>
          </a:p>
          <a:p>
            <a:pPr algn="just"/>
            <a:endParaRPr lang="en-US" sz="2000" dirty="0"/>
          </a:p>
          <a:p>
            <a:pPr algn="just"/>
            <a:r>
              <a:rPr lang="en-US" sz="2000" dirty="0"/>
              <a:t> 	</a:t>
            </a:r>
            <a:r>
              <a:rPr lang="en-US" sz="2000" dirty="0">
                <a:solidFill>
                  <a:srgbClr val="FF0000"/>
                </a:solidFill>
              </a:rPr>
              <a:t>&lt;birds </a:t>
            </a:r>
            <a:r>
              <a:rPr lang="en-US" sz="2000" dirty="0" err="1">
                <a:solidFill>
                  <a:srgbClr val="FF0000"/>
                </a:solidFill>
              </a:rPr>
              <a:t>xmlns:bd</a:t>
            </a:r>
            <a:r>
              <a:rPr lang="en-US" sz="2000" dirty="0">
                <a:solidFill>
                  <a:srgbClr val="FF0000"/>
                </a:solidFill>
              </a:rPr>
              <a:t> = "http://www.audubon.org/names/species"&gt;</a:t>
            </a:r>
          </a:p>
          <a:p>
            <a:pPr marL="342900" indent="-342900" algn="just">
              <a:buFont typeface="Arial" panose="020B0604020202020204" pitchFamily="34" charset="0"/>
              <a:buChar char="•"/>
            </a:pPr>
            <a:r>
              <a:rPr lang="en-US" sz="2000" dirty="0"/>
              <a:t>The names from the given namespace must be prefixed with bd</a:t>
            </a:r>
          </a:p>
          <a:p>
            <a:pPr algn="just"/>
            <a:r>
              <a:rPr lang="en-US" sz="2000" dirty="0"/>
              <a:t>	</a:t>
            </a:r>
            <a:r>
              <a:rPr lang="en-US" sz="2000" dirty="0">
                <a:solidFill>
                  <a:srgbClr val="FF0000"/>
                </a:solidFill>
              </a:rPr>
              <a:t>&lt;</a:t>
            </a:r>
            <a:r>
              <a:rPr lang="en-US" sz="2000" dirty="0" err="1">
                <a:solidFill>
                  <a:srgbClr val="FF0000"/>
                </a:solidFill>
              </a:rPr>
              <a:t>bd:lark</a:t>
            </a:r>
            <a:r>
              <a:rPr lang="en-US" sz="2000" dirty="0">
                <a:solidFill>
                  <a:srgbClr val="FF0000"/>
                </a:solidFill>
              </a:rPr>
              <a:t>&gt;</a:t>
            </a:r>
          </a:p>
          <a:p>
            <a:endParaRPr lang="en-IN" dirty="0"/>
          </a:p>
        </p:txBody>
      </p:sp>
    </p:spTree>
    <p:extLst>
      <p:ext uri="{BB962C8B-B14F-4D97-AF65-F5344CB8AC3E}">
        <p14:creationId xmlns:p14="http://schemas.microsoft.com/office/powerpoint/2010/main" val="21506240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DEF8-EDE5-60BE-DA81-04FCF98741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6218F0-30DA-EC38-CBC7-65EE20BA74A9}"/>
              </a:ext>
            </a:extLst>
          </p:cNvPr>
          <p:cNvSpPr txBox="1"/>
          <p:nvPr/>
        </p:nvSpPr>
        <p:spPr>
          <a:xfrm>
            <a:off x="510988" y="403412"/>
            <a:ext cx="11125200" cy="5940088"/>
          </a:xfrm>
          <a:prstGeom prst="rect">
            <a:avLst/>
          </a:prstGeom>
          <a:noFill/>
        </p:spPr>
        <p:txBody>
          <a:bodyPr wrap="square" rtlCol="0">
            <a:spAutoFit/>
          </a:bodyPr>
          <a:lstStyle/>
          <a:p>
            <a:r>
              <a:rPr lang="en-US" sz="2400" dirty="0"/>
              <a:t>Continued…</a:t>
            </a:r>
          </a:p>
          <a:p>
            <a:endParaRPr lang="en-US" dirty="0"/>
          </a:p>
          <a:p>
            <a:pPr algn="just"/>
            <a:r>
              <a:rPr lang="en-US" sz="2000" dirty="0"/>
              <a:t>The below example declares two namespaces. The first is declared to be the default namespace; the second defines the prefix, cap:</a:t>
            </a:r>
          </a:p>
          <a:p>
            <a:pPr algn="just"/>
            <a:endParaRPr lang="en-US" sz="2000" dirty="0"/>
          </a:p>
          <a:p>
            <a:pPr algn="just"/>
            <a:r>
              <a:rPr lang="en-US" sz="2000" dirty="0">
                <a:solidFill>
                  <a:srgbClr val="FF0000"/>
                </a:solidFill>
                <a:latin typeface="Corbel Light" panose="020B0303020204020204" pitchFamily="34" charset="0"/>
              </a:rPr>
              <a:t>&lt;states&gt;</a:t>
            </a:r>
          </a:p>
          <a:p>
            <a:pPr algn="just"/>
            <a:r>
              <a:rPr lang="en-US" sz="2000" dirty="0">
                <a:solidFill>
                  <a:srgbClr val="FF0000"/>
                </a:solidFill>
                <a:latin typeface="Corbel Light" panose="020B0303020204020204" pitchFamily="34" charset="0"/>
              </a:rPr>
              <a:t>	</a:t>
            </a:r>
            <a:r>
              <a:rPr lang="en-US" sz="2000" dirty="0" err="1">
                <a:solidFill>
                  <a:srgbClr val="FF0000"/>
                </a:solidFill>
                <a:latin typeface="Corbel Light" panose="020B0303020204020204" pitchFamily="34" charset="0"/>
              </a:rPr>
              <a:t>xmlns</a:t>
            </a:r>
            <a:r>
              <a:rPr lang="en-US" sz="2000" dirty="0">
                <a:solidFill>
                  <a:srgbClr val="FF0000"/>
                </a:solidFill>
                <a:latin typeface="Corbel Light" panose="020B0303020204020204" pitchFamily="34" charset="0"/>
              </a:rPr>
              <a:t> = "http://www.states-info.org/states"</a:t>
            </a:r>
          </a:p>
          <a:p>
            <a:pPr algn="just"/>
            <a:r>
              <a:rPr lang="en-US" sz="2000" dirty="0">
                <a:solidFill>
                  <a:srgbClr val="FF0000"/>
                </a:solidFill>
                <a:latin typeface="Corbel Light" panose="020B0303020204020204" pitchFamily="34" charset="0"/>
              </a:rPr>
              <a:t>	</a:t>
            </a:r>
            <a:r>
              <a:rPr lang="en-US" sz="2000" dirty="0" err="1">
                <a:solidFill>
                  <a:srgbClr val="FF0000"/>
                </a:solidFill>
                <a:latin typeface="Corbel Light" panose="020B0303020204020204" pitchFamily="34" charset="0"/>
              </a:rPr>
              <a:t>xmlns:cap</a:t>
            </a:r>
            <a:r>
              <a:rPr lang="en-US" sz="2000" dirty="0">
                <a:solidFill>
                  <a:srgbClr val="FF0000"/>
                </a:solidFill>
                <a:latin typeface="Corbel Light" panose="020B0303020204020204" pitchFamily="34" charset="0"/>
              </a:rPr>
              <a:t> = "http://www.states-info.org/state-capitals"</a:t>
            </a:r>
          </a:p>
          <a:p>
            <a:pPr algn="just"/>
            <a:r>
              <a:rPr lang="en-US" sz="2000" dirty="0">
                <a:solidFill>
                  <a:srgbClr val="FF0000"/>
                </a:solidFill>
                <a:latin typeface="Corbel Light" panose="020B0303020204020204" pitchFamily="34" charset="0"/>
              </a:rPr>
              <a:t>	&lt;state&gt;</a:t>
            </a:r>
          </a:p>
          <a:p>
            <a:pPr algn="just"/>
            <a:r>
              <a:rPr lang="en-US" sz="2000" dirty="0">
                <a:solidFill>
                  <a:srgbClr val="FF0000"/>
                </a:solidFill>
                <a:latin typeface="Corbel Light" panose="020B0303020204020204" pitchFamily="34" charset="0"/>
              </a:rPr>
              <a:t>		&lt;name&gt; South Dakota &lt;/name&gt;</a:t>
            </a:r>
          </a:p>
          <a:p>
            <a:pPr algn="just"/>
            <a:r>
              <a:rPr lang="en-US" sz="2000" dirty="0">
                <a:solidFill>
                  <a:srgbClr val="FF0000"/>
                </a:solidFill>
                <a:latin typeface="Corbel Light" panose="020B0303020204020204" pitchFamily="34" charset="0"/>
              </a:rPr>
              <a:t>		&lt;population&gt; 754844 &lt;/population&gt;  </a:t>
            </a:r>
          </a:p>
          <a:p>
            <a:pPr algn="just"/>
            <a:r>
              <a:rPr lang="en-US" sz="2000" dirty="0">
                <a:solidFill>
                  <a:srgbClr val="FF0000"/>
                </a:solidFill>
                <a:latin typeface="Corbel Light" panose="020B0303020204020204" pitchFamily="34" charset="0"/>
              </a:rPr>
              <a:t>		&lt;capital&gt;</a:t>
            </a:r>
          </a:p>
          <a:p>
            <a:pPr algn="just"/>
            <a:r>
              <a:rPr lang="en-US" sz="2000" dirty="0">
                <a:solidFill>
                  <a:srgbClr val="FF0000"/>
                </a:solidFill>
                <a:latin typeface="Corbel Light" panose="020B0303020204020204" pitchFamily="34" charset="0"/>
              </a:rPr>
              <a:t>			&lt;</a:t>
            </a:r>
            <a:r>
              <a:rPr lang="en-US" sz="2000" dirty="0" err="1">
                <a:solidFill>
                  <a:srgbClr val="FF0000"/>
                </a:solidFill>
                <a:latin typeface="Corbel Light" panose="020B0303020204020204" pitchFamily="34" charset="0"/>
              </a:rPr>
              <a:t>cap:name</a:t>
            </a:r>
            <a:r>
              <a:rPr lang="en-US" sz="2000" dirty="0">
                <a:solidFill>
                  <a:srgbClr val="FF0000"/>
                </a:solidFill>
                <a:latin typeface="Corbel Light" panose="020B0303020204020204" pitchFamily="34" charset="0"/>
              </a:rPr>
              <a:t>&gt; Pierre &lt;/</a:t>
            </a:r>
            <a:r>
              <a:rPr lang="en-US" sz="2000" dirty="0" err="1">
                <a:solidFill>
                  <a:srgbClr val="FF0000"/>
                </a:solidFill>
                <a:latin typeface="Corbel Light" panose="020B0303020204020204" pitchFamily="34" charset="0"/>
              </a:rPr>
              <a:t>cap:name</a:t>
            </a:r>
            <a:r>
              <a:rPr lang="en-US" sz="2000" dirty="0">
                <a:solidFill>
                  <a:srgbClr val="FF0000"/>
                </a:solidFill>
                <a:latin typeface="Corbel Light" panose="020B0303020204020204" pitchFamily="34" charset="0"/>
              </a:rPr>
              <a:t>&gt;</a:t>
            </a:r>
          </a:p>
          <a:p>
            <a:pPr algn="just"/>
            <a:r>
              <a:rPr lang="en-US" sz="2000" dirty="0">
                <a:solidFill>
                  <a:srgbClr val="FF0000"/>
                </a:solidFill>
                <a:latin typeface="Corbel Light" panose="020B0303020204020204" pitchFamily="34" charset="0"/>
              </a:rPr>
              <a:t>			&lt;</a:t>
            </a:r>
            <a:r>
              <a:rPr lang="en-US" sz="2000" dirty="0" err="1">
                <a:solidFill>
                  <a:srgbClr val="FF0000"/>
                </a:solidFill>
                <a:latin typeface="Corbel Light" panose="020B0303020204020204" pitchFamily="34" charset="0"/>
              </a:rPr>
              <a:t>cap:population</a:t>
            </a:r>
            <a:r>
              <a:rPr lang="en-US" sz="2000" dirty="0">
                <a:solidFill>
                  <a:srgbClr val="FF0000"/>
                </a:solidFill>
                <a:latin typeface="Corbel Light" panose="020B0303020204020204" pitchFamily="34" charset="0"/>
              </a:rPr>
              <a:t>&gt; 12429 &lt;/</a:t>
            </a:r>
            <a:r>
              <a:rPr lang="en-US" sz="2000" dirty="0" err="1">
                <a:solidFill>
                  <a:srgbClr val="FF0000"/>
                </a:solidFill>
                <a:latin typeface="Corbel Light" panose="020B0303020204020204" pitchFamily="34" charset="0"/>
              </a:rPr>
              <a:t>cap:population</a:t>
            </a:r>
            <a:r>
              <a:rPr lang="en-US" sz="2000" dirty="0">
                <a:solidFill>
                  <a:srgbClr val="FF0000"/>
                </a:solidFill>
                <a:latin typeface="Corbel Light" panose="020B0303020204020204" pitchFamily="34" charset="0"/>
              </a:rPr>
              <a:t>&gt;</a:t>
            </a:r>
          </a:p>
          <a:p>
            <a:pPr algn="just"/>
            <a:r>
              <a:rPr lang="en-US" sz="2000" dirty="0">
                <a:solidFill>
                  <a:srgbClr val="FF0000"/>
                </a:solidFill>
                <a:latin typeface="Corbel Light" panose="020B0303020204020204" pitchFamily="34" charset="0"/>
              </a:rPr>
              <a:t>		&lt;/capital&gt;</a:t>
            </a:r>
          </a:p>
          <a:p>
            <a:pPr algn="just"/>
            <a:r>
              <a:rPr lang="en-US" sz="2000" dirty="0">
                <a:solidFill>
                  <a:srgbClr val="FF0000"/>
                </a:solidFill>
                <a:latin typeface="Corbel Light" panose="020B0303020204020204" pitchFamily="34" charset="0"/>
              </a:rPr>
              <a:t>	&lt;/state&gt;</a:t>
            </a:r>
          </a:p>
          <a:p>
            <a:pPr algn="just"/>
            <a:r>
              <a:rPr lang="en-US" sz="2000" dirty="0">
                <a:solidFill>
                  <a:srgbClr val="FF0000"/>
                </a:solidFill>
                <a:latin typeface="Corbel Light" panose="020B0303020204020204" pitchFamily="34" charset="0"/>
              </a:rPr>
              <a:t>&lt;!-- More states --&gt;</a:t>
            </a:r>
          </a:p>
          <a:p>
            <a:pPr algn="just"/>
            <a:r>
              <a:rPr lang="en-US" sz="2000" dirty="0">
                <a:solidFill>
                  <a:srgbClr val="FF0000"/>
                </a:solidFill>
                <a:latin typeface="Corbel Light" panose="020B0303020204020204" pitchFamily="34" charset="0"/>
              </a:rPr>
              <a:t>&lt;/states&gt;</a:t>
            </a:r>
          </a:p>
          <a:p>
            <a:endParaRPr lang="en-IN" dirty="0"/>
          </a:p>
        </p:txBody>
      </p:sp>
    </p:spTree>
    <p:extLst>
      <p:ext uri="{BB962C8B-B14F-4D97-AF65-F5344CB8AC3E}">
        <p14:creationId xmlns:p14="http://schemas.microsoft.com/office/powerpoint/2010/main" val="13261963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AA94-43CC-D602-5794-562012B904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245486-262A-136E-24D8-4A5F488DACBC}"/>
              </a:ext>
            </a:extLst>
          </p:cNvPr>
          <p:cNvSpPr txBox="1"/>
          <p:nvPr/>
        </p:nvSpPr>
        <p:spPr>
          <a:xfrm>
            <a:off x="510988" y="403412"/>
            <a:ext cx="11125200" cy="5940088"/>
          </a:xfrm>
          <a:prstGeom prst="rect">
            <a:avLst/>
          </a:prstGeom>
          <a:noFill/>
        </p:spPr>
        <p:txBody>
          <a:bodyPr wrap="square" rtlCol="0">
            <a:spAutoFit/>
          </a:bodyPr>
          <a:lstStyle/>
          <a:p>
            <a:r>
              <a:rPr lang="en-US" sz="2400" dirty="0"/>
              <a:t>Title</a:t>
            </a:r>
          </a:p>
          <a:p>
            <a:endParaRPr lang="en-US" dirty="0"/>
          </a:p>
          <a:p>
            <a:pPr algn="just"/>
            <a:r>
              <a:rPr lang="en-US" sz="2000" dirty="0"/>
              <a:t>Content</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05A73D9F-E2F9-812D-E67E-F007F04EA470}"/>
              </a:ext>
            </a:extLst>
          </p:cNvPr>
          <p:cNvPicPr>
            <a:picLocks noChangeAspect="1"/>
          </p:cNvPicPr>
          <p:nvPr/>
        </p:nvPicPr>
        <p:blipFill>
          <a:blip r:embed="rId2"/>
          <a:stretch>
            <a:fillRect/>
          </a:stretch>
        </p:blipFill>
        <p:spPr>
          <a:xfrm>
            <a:off x="307350" y="0"/>
            <a:ext cx="4808290" cy="6223020"/>
          </a:xfrm>
          <a:prstGeom prst="rect">
            <a:avLst/>
          </a:prstGeom>
        </p:spPr>
      </p:pic>
      <p:pic>
        <p:nvPicPr>
          <p:cNvPr id="6" name="Picture 5">
            <a:extLst>
              <a:ext uri="{FF2B5EF4-FFF2-40B4-BE49-F238E27FC236}">
                <a16:creationId xmlns:a16="http://schemas.microsoft.com/office/drawing/2014/main" id="{5ED97BA8-CF15-4A53-F8EE-3129BE410135}"/>
              </a:ext>
            </a:extLst>
          </p:cNvPr>
          <p:cNvPicPr>
            <a:picLocks noChangeAspect="1"/>
          </p:cNvPicPr>
          <p:nvPr/>
        </p:nvPicPr>
        <p:blipFill>
          <a:blip r:embed="rId3"/>
          <a:stretch>
            <a:fillRect/>
          </a:stretch>
        </p:blipFill>
        <p:spPr>
          <a:xfrm>
            <a:off x="5115640" y="0"/>
            <a:ext cx="4808290" cy="5719775"/>
          </a:xfrm>
          <a:prstGeom prst="rect">
            <a:avLst/>
          </a:prstGeom>
        </p:spPr>
      </p:pic>
      <p:pic>
        <p:nvPicPr>
          <p:cNvPr id="8" name="Picture 7">
            <a:extLst>
              <a:ext uri="{FF2B5EF4-FFF2-40B4-BE49-F238E27FC236}">
                <a16:creationId xmlns:a16="http://schemas.microsoft.com/office/drawing/2014/main" id="{671732E9-8049-261D-196F-F85049E628F1}"/>
              </a:ext>
            </a:extLst>
          </p:cNvPr>
          <p:cNvPicPr>
            <a:picLocks noChangeAspect="1"/>
          </p:cNvPicPr>
          <p:nvPr/>
        </p:nvPicPr>
        <p:blipFill>
          <a:blip r:embed="rId4"/>
          <a:stretch>
            <a:fillRect/>
          </a:stretch>
        </p:blipFill>
        <p:spPr>
          <a:xfrm>
            <a:off x="4948387" y="5646870"/>
            <a:ext cx="4975543" cy="807718"/>
          </a:xfrm>
          <a:prstGeom prst="rect">
            <a:avLst/>
          </a:prstGeom>
        </p:spPr>
      </p:pic>
    </p:spTree>
    <p:extLst>
      <p:ext uri="{BB962C8B-B14F-4D97-AF65-F5344CB8AC3E}">
        <p14:creationId xmlns:p14="http://schemas.microsoft.com/office/powerpoint/2010/main" val="293079515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5D73E-3C21-7966-F912-7D0355C1FC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44CCD6-B3A2-BA4F-B5AB-454AACC355CF}"/>
              </a:ext>
            </a:extLst>
          </p:cNvPr>
          <p:cNvSpPr txBox="1"/>
          <p:nvPr/>
        </p:nvSpPr>
        <p:spPr>
          <a:xfrm>
            <a:off x="510988" y="403412"/>
            <a:ext cx="11125200" cy="6555641"/>
          </a:xfrm>
          <a:prstGeom prst="rect">
            <a:avLst/>
          </a:prstGeom>
          <a:noFill/>
        </p:spPr>
        <p:txBody>
          <a:bodyPr wrap="square" rtlCol="0">
            <a:spAutoFit/>
          </a:bodyPr>
          <a:lstStyle/>
          <a:p>
            <a:r>
              <a:rPr lang="en-IN" sz="2400" b="1" dirty="0"/>
              <a:t>6 XML Schemas</a:t>
            </a:r>
            <a:endParaRPr lang="en-US" sz="2400" b="1" dirty="0"/>
          </a:p>
          <a:p>
            <a:endParaRPr lang="en-US" dirty="0"/>
          </a:p>
          <a:p>
            <a:pPr algn="just"/>
            <a:r>
              <a:rPr lang="en-US" sz="2000" dirty="0"/>
              <a:t>Disadvantages of DTD:</a:t>
            </a:r>
          </a:p>
          <a:p>
            <a:pPr marL="342900" indent="-342900" algn="just">
              <a:buFont typeface="Arial" panose="020B0604020202020204" pitchFamily="34" charset="0"/>
              <a:buChar char="•"/>
            </a:pPr>
            <a:r>
              <a:rPr lang="en-US" sz="2000" dirty="0"/>
              <a:t>Syntax unrelated to XML=&gt; they cannot be analyzed with an XML processor</a:t>
            </a:r>
          </a:p>
          <a:p>
            <a:pPr marL="342900" indent="-342900" algn="just">
              <a:buFont typeface="Arial" panose="020B0604020202020204" pitchFamily="34" charset="0"/>
              <a:buChar char="•"/>
            </a:pPr>
            <a:r>
              <a:rPr lang="en-US" sz="2000" dirty="0"/>
              <a:t>DTDs do not allow restrictions on the form of data that can be the content of a particular tag; </a:t>
            </a:r>
            <a:r>
              <a:rPr lang="en-US" sz="2000" dirty="0" err="1"/>
              <a:t>e.g</a:t>
            </a:r>
            <a:r>
              <a:rPr lang="en-US" sz="2000" dirty="0"/>
              <a:t> : DTD can only specify time as text</a:t>
            </a:r>
          </a:p>
          <a:p>
            <a:pPr marL="342900" indent="-342900" algn="just">
              <a:buFont typeface="Arial" panose="020B0604020202020204" pitchFamily="34" charset="0"/>
              <a:buChar char="•"/>
            </a:pPr>
            <a:r>
              <a:rPr lang="en-US" sz="2000" dirty="0"/>
              <a:t>No scope for sequencing of child elements </a:t>
            </a:r>
          </a:p>
          <a:p>
            <a:pPr marL="342900" indent="-342900" algn="just">
              <a:buFont typeface="Arial" panose="020B0604020202020204" pitchFamily="34" charset="0"/>
              <a:buChar char="•"/>
            </a:pPr>
            <a:r>
              <a:rPr lang="en-US" sz="2000" dirty="0"/>
              <a:t>No scope for including externally defined elements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algn="just"/>
            <a:r>
              <a:rPr lang="en-US" sz="2000" dirty="0"/>
              <a:t>XML Schema:</a:t>
            </a:r>
          </a:p>
          <a:p>
            <a:pPr marL="342900" indent="-342900" algn="just">
              <a:buFont typeface="Arial" panose="020B0604020202020204" pitchFamily="34" charset="0"/>
              <a:buChar char="•"/>
            </a:pPr>
            <a:r>
              <a:rPr lang="en-US" sz="2000" dirty="0"/>
              <a:t>Primary successor to DTD and has W3C support</a:t>
            </a:r>
          </a:p>
          <a:p>
            <a:pPr marL="342900" indent="-342900" algn="just">
              <a:buFont typeface="Arial" panose="020B0604020202020204" pitchFamily="34" charset="0"/>
              <a:buChar char="•"/>
            </a:pPr>
            <a:r>
              <a:rPr lang="en-US" sz="2000" dirty="0"/>
              <a:t>An XML schema is an XML document, so it can be parsed with an XML parser</a:t>
            </a:r>
          </a:p>
          <a:p>
            <a:pPr marL="342900" indent="-342900" algn="just">
              <a:buFont typeface="Arial" panose="020B0604020202020204" pitchFamily="34" charset="0"/>
              <a:buChar char="•"/>
            </a:pPr>
            <a:r>
              <a:rPr lang="en-US" sz="2000" dirty="0"/>
              <a:t>Provides far more control over data types than do DTDs</a:t>
            </a:r>
          </a:p>
          <a:p>
            <a:pPr marL="342900" indent="-342900" algn="just">
              <a:buFont typeface="Arial" panose="020B0604020202020204" pitchFamily="34" charset="0"/>
              <a:buChar char="•"/>
            </a:pPr>
            <a:r>
              <a:rPr lang="en-US" sz="2000" dirty="0"/>
              <a:t>User can define new types with constraints on existing data types </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42784892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9C63B-128C-C21B-173B-ED953B09A6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81A775-3B4C-6AD7-3E96-23F0E5D0856B}"/>
              </a:ext>
            </a:extLst>
          </p:cNvPr>
          <p:cNvSpPr txBox="1"/>
          <p:nvPr/>
        </p:nvSpPr>
        <p:spPr>
          <a:xfrm>
            <a:off x="510988" y="403412"/>
            <a:ext cx="11125200" cy="5940088"/>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XML Schema language is also referred to as XML Schema Definition (XSD)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describes the structure of an XML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documents that conform to a specific schema are considered instances of that schema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purpose of an XML Schema is to define the legal building blocks of an XML document:</a:t>
            </a:r>
          </a:p>
          <a:p>
            <a:pPr marL="800100" lvl="1" indent="-342900" algn="just">
              <a:buFont typeface="Arial" panose="020B0604020202020204" pitchFamily="34" charset="0"/>
              <a:buChar char="•"/>
            </a:pPr>
            <a:r>
              <a:rPr lang="en-US" sz="2000" dirty="0"/>
              <a:t>the elements and attributes that can appear in a document</a:t>
            </a:r>
          </a:p>
          <a:p>
            <a:pPr marL="800100" lvl="1" indent="-342900" algn="just">
              <a:buFont typeface="Arial" panose="020B0604020202020204" pitchFamily="34" charset="0"/>
              <a:buChar char="•"/>
            </a:pPr>
            <a:r>
              <a:rPr lang="en-US" sz="2000" dirty="0"/>
              <a:t>the number of (and order of) child elements</a:t>
            </a:r>
          </a:p>
          <a:p>
            <a:pPr marL="800100" lvl="1" indent="-342900" algn="just">
              <a:buFont typeface="Arial" panose="020B0604020202020204" pitchFamily="34" charset="0"/>
              <a:buChar char="•"/>
            </a:pPr>
            <a:r>
              <a:rPr lang="en-US" sz="2000" dirty="0"/>
              <a:t>data types for elements and attributes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Schemas themselves are written with the use of a collection of tags, or a vocabulary, from a namespace</a:t>
            </a:r>
          </a:p>
          <a:p>
            <a:pPr marL="800100" lvl="1" indent="-342900" algn="just">
              <a:buFont typeface="Arial" panose="020B0604020202020204" pitchFamily="34" charset="0"/>
              <a:buChar char="•"/>
            </a:pPr>
            <a:r>
              <a:rPr lang="en-IN" sz="2000" dirty="0">
                <a:solidFill>
                  <a:srgbClr val="00B050"/>
                </a:solidFill>
              </a:rPr>
              <a:t>http://www.w3.org/2001/XMLSchema</a:t>
            </a:r>
            <a:endParaRPr lang="en-US" sz="2000" dirty="0">
              <a:solidFill>
                <a:srgbClr val="00B050"/>
              </a:solidFill>
            </a:endParaRPr>
          </a:p>
          <a:p>
            <a:pPr marL="342900" indent="-342900" algn="just">
              <a:buFont typeface="Arial" panose="020B0604020202020204" pitchFamily="34" charset="0"/>
              <a:buChar char="•"/>
            </a:pPr>
            <a:r>
              <a:rPr lang="en-US" sz="2000" dirty="0"/>
              <a:t>Some of the elements in the namespace are </a:t>
            </a:r>
            <a:r>
              <a:rPr lang="en-IN" sz="2000" dirty="0">
                <a:solidFill>
                  <a:srgbClr val="FF0000"/>
                </a:solidFill>
              </a:rPr>
              <a:t>element</a:t>
            </a:r>
            <a:r>
              <a:rPr lang="en-IN" sz="2000" dirty="0"/>
              <a:t>, </a:t>
            </a:r>
            <a:r>
              <a:rPr lang="en-IN" sz="2000" dirty="0">
                <a:solidFill>
                  <a:srgbClr val="FF0000"/>
                </a:solidFill>
              </a:rPr>
              <a:t>schema</a:t>
            </a:r>
            <a:r>
              <a:rPr lang="en-IN" sz="2000" dirty="0"/>
              <a:t>, </a:t>
            </a:r>
            <a:r>
              <a:rPr lang="en-IN" sz="2000" dirty="0">
                <a:solidFill>
                  <a:srgbClr val="FF0000"/>
                </a:solidFill>
              </a:rPr>
              <a:t>sequence</a:t>
            </a:r>
            <a:r>
              <a:rPr lang="en-IN" sz="2000" dirty="0"/>
              <a:t>,</a:t>
            </a:r>
            <a:r>
              <a:rPr lang="en-US" sz="2000" dirty="0"/>
              <a:t>and </a:t>
            </a:r>
            <a:r>
              <a:rPr lang="en-US" sz="2000" dirty="0">
                <a:solidFill>
                  <a:srgbClr val="FF0000"/>
                </a:solidFill>
              </a:rPr>
              <a:t>string</a:t>
            </a:r>
          </a:p>
          <a:p>
            <a:pPr marL="342900" indent="-342900" algn="just">
              <a:buFont typeface="Arial" panose="020B0604020202020204" pitchFamily="34" charset="0"/>
              <a:buChar char="•"/>
            </a:pPr>
            <a:endParaRPr lang="en-US" sz="2000" dirty="0"/>
          </a:p>
          <a:p>
            <a:endParaRPr lang="en-IN" dirty="0"/>
          </a:p>
        </p:txBody>
      </p:sp>
    </p:spTree>
    <p:extLst>
      <p:ext uri="{BB962C8B-B14F-4D97-AF65-F5344CB8AC3E}">
        <p14:creationId xmlns:p14="http://schemas.microsoft.com/office/powerpoint/2010/main" val="30063602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C1892-7808-C5BE-79B6-6D18100896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1499EE-460A-0A5E-1632-1DE5144F4807}"/>
              </a:ext>
            </a:extLst>
          </p:cNvPr>
          <p:cNvSpPr txBox="1"/>
          <p:nvPr/>
        </p:nvSpPr>
        <p:spPr>
          <a:xfrm>
            <a:off x="510988" y="403412"/>
            <a:ext cx="11125200" cy="5940088"/>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Every schema has schema as its root element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Schema element specifies the namespace for the schema of schemas from which the schema’s elements and attributes will be drawn.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often also specifies a prefix that will be used for the names in the schema </a:t>
            </a:r>
          </a:p>
          <a:p>
            <a:pPr algn="just"/>
            <a:r>
              <a:rPr lang="en-US" sz="2000" dirty="0"/>
              <a:t>	</a:t>
            </a:r>
            <a:r>
              <a:rPr lang="en-US" sz="2000" dirty="0" err="1">
                <a:solidFill>
                  <a:srgbClr val="FF0000"/>
                </a:solidFill>
              </a:rPr>
              <a:t>xmlns:xsd</a:t>
            </a:r>
            <a:r>
              <a:rPr lang="en-US" sz="2000" dirty="0">
                <a:solidFill>
                  <a:srgbClr val="FF0000"/>
                </a:solidFill>
              </a:rPr>
              <a:t> = "http://www.w3.org/2001/XMLSchema ”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schema defines a namespace in the same sense as a DTD defines a tag set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name of the namespace defined by a schema must be specified with the </a:t>
            </a:r>
            <a:r>
              <a:rPr lang="en-IN" sz="2000" dirty="0" err="1">
                <a:solidFill>
                  <a:srgbClr val="FF0000"/>
                </a:solidFill>
              </a:rPr>
              <a:t>targetNamespace</a:t>
            </a:r>
            <a:r>
              <a:rPr lang="en-IN" sz="2000" dirty="0"/>
              <a:t> </a:t>
            </a:r>
            <a:r>
              <a:rPr lang="en-US" sz="2000" dirty="0"/>
              <a:t>attribute of the schema element.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name of every top level (not nested) element that appears in a schema is placed in the target namespace, which is specified by assigning a namespace to the target namespace attribute:</a:t>
            </a:r>
          </a:p>
          <a:p>
            <a:pPr algn="just"/>
            <a:r>
              <a:rPr lang="en-US" sz="2000" dirty="0"/>
              <a:t>	</a:t>
            </a:r>
            <a:r>
              <a:rPr lang="en-US" sz="2000" dirty="0" err="1">
                <a:solidFill>
                  <a:srgbClr val="FF0000"/>
                </a:solidFill>
              </a:rPr>
              <a:t>targetNamespace</a:t>
            </a:r>
            <a:r>
              <a:rPr lang="en-US" sz="2000" dirty="0">
                <a:solidFill>
                  <a:srgbClr val="FF0000"/>
                </a:solidFill>
              </a:rPr>
              <a:t>  = "http://cs.uccs.edu/</a:t>
            </a:r>
            <a:r>
              <a:rPr lang="en-US" sz="2000" dirty="0" err="1">
                <a:solidFill>
                  <a:srgbClr val="FF0000"/>
                </a:solidFill>
              </a:rPr>
              <a:t>planeSchema</a:t>
            </a:r>
            <a:r>
              <a:rPr lang="en-US" sz="2000" dirty="0"/>
              <a:t>"</a:t>
            </a:r>
          </a:p>
          <a:p>
            <a:endParaRPr lang="en-IN" dirty="0"/>
          </a:p>
        </p:txBody>
      </p:sp>
    </p:spTree>
    <p:extLst>
      <p:ext uri="{BB962C8B-B14F-4D97-AF65-F5344CB8AC3E}">
        <p14:creationId xmlns:p14="http://schemas.microsoft.com/office/powerpoint/2010/main" val="7668240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57F7B-E16F-A8B2-B96C-E5C5445E80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161C8A-65BA-C730-F542-8B4E0F12959B}"/>
              </a:ext>
            </a:extLst>
          </p:cNvPr>
          <p:cNvSpPr txBox="1"/>
          <p:nvPr/>
        </p:nvSpPr>
        <p:spPr>
          <a:xfrm>
            <a:off x="510988" y="403412"/>
            <a:ext cx="11125200" cy="5970865"/>
          </a:xfrm>
          <a:prstGeom prst="rect">
            <a:avLst/>
          </a:prstGeom>
          <a:noFill/>
        </p:spPr>
        <p:txBody>
          <a:bodyPr wrap="square" rtlCol="0">
            <a:spAutoFit/>
          </a:bodyPr>
          <a:lstStyle/>
          <a:p>
            <a:r>
              <a:rPr lang="en-US" sz="2400" dirty="0"/>
              <a:t>Continued…</a:t>
            </a:r>
            <a:endParaRPr lang="en-US" dirty="0"/>
          </a:p>
          <a:p>
            <a:pPr marL="342900" indent="-342900" algn="just">
              <a:buFont typeface="Arial" panose="020B0604020202020204" pitchFamily="34" charset="0"/>
              <a:buChar char="•"/>
            </a:pPr>
            <a:r>
              <a:rPr lang="en-US" sz="2000" dirty="0"/>
              <a:t>If the names of the elements and attributes that are not defined directly in the schema element (because they are nested inside top level elements) are to be included in the target namespace, schema’s </a:t>
            </a:r>
            <a:r>
              <a:rPr lang="en-US" sz="2000" dirty="0" err="1"/>
              <a:t>elementFormDefault</a:t>
            </a:r>
            <a:r>
              <a:rPr lang="en-US" sz="2000" dirty="0"/>
              <a:t> must be set to qualified</a:t>
            </a:r>
          </a:p>
          <a:p>
            <a:pPr algn="just"/>
            <a:r>
              <a:rPr lang="en-US" sz="2000" dirty="0"/>
              <a:t>	</a:t>
            </a:r>
            <a:r>
              <a:rPr lang="en-IN" sz="2000" dirty="0"/>
              <a:t> </a:t>
            </a:r>
            <a:r>
              <a:rPr lang="en-IN" sz="2000" dirty="0" err="1">
                <a:solidFill>
                  <a:srgbClr val="FF0000"/>
                </a:solidFill>
              </a:rPr>
              <a:t>elementFormDefault</a:t>
            </a:r>
            <a:r>
              <a:rPr lang="en-IN" sz="2000" dirty="0">
                <a:solidFill>
                  <a:srgbClr val="FF0000"/>
                </a:solidFill>
              </a:rPr>
              <a:t> = "qualified“</a:t>
            </a:r>
            <a:endParaRPr lang="en-IN" sz="2000" dirty="0"/>
          </a:p>
          <a:p>
            <a:pPr marL="342900" indent="-342900" algn="just">
              <a:buFont typeface="Arial" panose="020B0604020202020204" pitchFamily="34" charset="0"/>
              <a:buChar char="•"/>
            </a:pPr>
            <a:r>
              <a:rPr lang="en-IN" sz="2000" dirty="0"/>
              <a:t>The default namespace which is the source of the </a:t>
            </a:r>
            <a:r>
              <a:rPr lang="en-IN" sz="2000" dirty="0" err="1"/>
              <a:t>unprefixed</a:t>
            </a:r>
            <a:r>
              <a:rPr lang="en-IN" sz="2000" dirty="0"/>
              <a:t> names in the schema, is given with another </a:t>
            </a:r>
            <a:r>
              <a:rPr lang="en-IN" sz="2000" dirty="0" err="1"/>
              <a:t>xmlns</a:t>
            </a:r>
            <a:r>
              <a:rPr lang="en-IN" sz="2000" dirty="0"/>
              <a:t> specification.</a:t>
            </a:r>
          </a:p>
          <a:p>
            <a:pPr algn="just"/>
            <a:r>
              <a:rPr lang="en-IN" sz="2000" dirty="0"/>
              <a:t>	</a:t>
            </a:r>
            <a:r>
              <a:rPr lang="fr-FR" sz="2000" dirty="0"/>
              <a:t> </a:t>
            </a:r>
            <a:r>
              <a:rPr lang="fr-FR" sz="2000" dirty="0" err="1">
                <a:solidFill>
                  <a:srgbClr val="FF0000"/>
                </a:solidFill>
              </a:rPr>
              <a:t>xmlns</a:t>
            </a:r>
            <a:r>
              <a:rPr lang="fr-FR" sz="2000" dirty="0">
                <a:solidFill>
                  <a:srgbClr val="FF0000"/>
                </a:solidFill>
              </a:rPr>
              <a:t> = "http://cs.uccs.edu/</a:t>
            </a:r>
            <a:r>
              <a:rPr lang="en-IN" sz="2000" dirty="0">
                <a:solidFill>
                  <a:srgbClr val="FF0000"/>
                </a:solidFill>
              </a:rPr>
              <a:t> </a:t>
            </a:r>
            <a:r>
              <a:rPr lang="en-IN" sz="2000" dirty="0" err="1">
                <a:solidFill>
                  <a:srgbClr val="FF0000"/>
                </a:solidFill>
              </a:rPr>
              <a:t>planeSchema</a:t>
            </a:r>
            <a:r>
              <a:rPr lang="en-IN" sz="2000" dirty="0">
                <a:solidFill>
                  <a:srgbClr val="FF0000"/>
                </a:solidFill>
              </a:rPr>
              <a:t> "</a:t>
            </a:r>
            <a:endParaRPr lang="en-US" sz="2000" dirty="0">
              <a:solidFill>
                <a:srgbClr val="FF0000"/>
              </a:solidFill>
            </a:endParaRP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7CA61D5B-035B-0109-77E8-78208845CF69}"/>
              </a:ext>
            </a:extLst>
          </p:cNvPr>
          <p:cNvPicPr>
            <a:picLocks noChangeAspect="1"/>
          </p:cNvPicPr>
          <p:nvPr/>
        </p:nvPicPr>
        <p:blipFill>
          <a:blip r:embed="rId2"/>
          <a:stretch>
            <a:fillRect/>
          </a:stretch>
        </p:blipFill>
        <p:spPr>
          <a:xfrm>
            <a:off x="1807267" y="3052339"/>
            <a:ext cx="8577466" cy="3805661"/>
          </a:xfrm>
          <a:prstGeom prst="rect">
            <a:avLst/>
          </a:prstGeom>
        </p:spPr>
      </p:pic>
    </p:spTree>
    <p:extLst>
      <p:ext uri="{BB962C8B-B14F-4D97-AF65-F5344CB8AC3E}">
        <p14:creationId xmlns:p14="http://schemas.microsoft.com/office/powerpoint/2010/main" val="180382157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2B36F-F504-15D0-630F-2EF3D999CE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75351D-BD2E-3BEC-C39D-3ED0D741FE39}"/>
              </a:ext>
            </a:extLst>
          </p:cNvPr>
          <p:cNvSpPr txBox="1"/>
          <p:nvPr/>
        </p:nvSpPr>
        <p:spPr>
          <a:xfrm>
            <a:off x="510988" y="403412"/>
            <a:ext cx="11125200" cy="5632311"/>
          </a:xfrm>
          <a:prstGeom prst="rect">
            <a:avLst/>
          </a:prstGeom>
          <a:noFill/>
        </p:spPr>
        <p:txBody>
          <a:bodyPr wrap="square" rtlCol="0">
            <a:spAutoFit/>
          </a:bodyPr>
          <a:lstStyle/>
          <a:p>
            <a:r>
              <a:rPr lang="en-IN" sz="2400" dirty="0"/>
              <a:t>DEFINING A SCHEMA INSTANCE</a:t>
            </a:r>
            <a:endParaRPr lang="en-US" sz="2400" dirty="0"/>
          </a:p>
          <a:p>
            <a:endParaRPr lang="en-US" dirty="0"/>
          </a:p>
          <a:p>
            <a:pPr marL="342900" indent="-342900" algn="just">
              <a:buFont typeface="Arial" panose="020B0604020202020204" pitchFamily="34" charset="0"/>
              <a:buChar char="•"/>
            </a:pPr>
            <a:r>
              <a:rPr lang="en-US" sz="2000" dirty="0"/>
              <a:t>An instance of a schema must include specifications of the namespaces it uses</a:t>
            </a:r>
          </a:p>
          <a:p>
            <a:pPr marL="342900" indent="-342900" algn="just">
              <a:buFont typeface="Arial" panose="020B0604020202020204" pitchFamily="34" charset="0"/>
              <a:buChar char="•"/>
            </a:pPr>
            <a:r>
              <a:rPr lang="en-US" sz="2000" dirty="0"/>
              <a:t>These specifications are given as </a:t>
            </a:r>
            <a:r>
              <a:rPr lang="en-US" sz="2000" dirty="0">
                <a:solidFill>
                  <a:srgbClr val="FF0000"/>
                </a:solidFill>
              </a:rPr>
              <a:t>attribute</a:t>
            </a:r>
            <a:r>
              <a:rPr lang="en-US" sz="2000" dirty="0"/>
              <a:t> assignments in the tag for the </a:t>
            </a:r>
            <a:r>
              <a:rPr lang="en-US" sz="2000" dirty="0">
                <a:solidFill>
                  <a:srgbClr val="FF0000"/>
                </a:solidFill>
              </a:rPr>
              <a:t>root </a:t>
            </a:r>
            <a:r>
              <a:rPr lang="en-US" sz="2000" dirty="0"/>
              <a:t>element of the schema</a:t>
            </a:r>
          </a:p>
          <a:p>
            <a:pPr marL="342900" indent="-342900" algn="just">
              <a:buFont typeface="Arial" panose="020B0604020202020204" pitchFamily="34" charset="0"/>
              <a:buChar char="•"/>
            </a:pPr>
            <a:r>
              <a:rPr lang="en-US" sz="2000" dirty="0"/>
              <a:t>An instance document normally defines its default namespace to be the one defined in its schema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Second attribute is used to name the standard namespace for instances, which includes the</a:t>
            </a:r>
            <a:r>
              <a:rPr lang="en-IN" sz="2000" dirty="0"/>
              <a:t> name </a:t>
            </a:r>
            <a:r>
              <a:rPr lang="en-IN" sz="2000" dirty="0" err="1"/>
              <a:t>XMLSchemainstance</a:t>
            </a:r>
            <a:endParaRPr lang="en-IN" sz="2000" dirty="0"/>
          </a:p>
          <a:p>
            <a:pPr marL="342900" indent="-342900" algn="just">
              <a:buFont typeface="Arial" panose="020B0604020202020204" pitchFamily="34" charset="0"/>
              <a:buChar char="•"/>
            </a:pPr>
            <a:r>
              <a:rPr lang="en-US" sz="2000" dirty="0"/>
              <a:t>This namespace corresponds to the </a:t>
            </a:r>
            <a:r>
              <a:rPr lang="en-US" sz="2000" dirty="0" err="1"/>
              <a:t>XMLSchema</a:t>
            </a:r>
            <a:r>
              <a:rPr lang="en-US" sz="2000" dirty="0"/>
              <a:t> namespace used for schemas</a:t>
            </a:r>
          </a:p>
          <a:p>
            <a:pPr marL="342900" indent="-342900" algn="just">
              <a:buFont typeface="Arial" panose="020B0604020202020204" pitchFamily="34" charset="0"/>
              <a:buChar char="•"/>
            </a:pPr>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49853DED-CB08-27F1-00C8-2B74ED3A2BBE}"/>
              </a:ext>
            </a:extLst>
          </p:cNvPr>
          <p:cNvPicPr>
            <a:picLocks noChangeAspect="1"/>
          </p:cNvPicPr>
          <p:nvPr/>
        </p:nvPicPr>
        <p:blipFill>
          <a:blip r:embed="rId2"/>
          <a:stretch>
            <a:fillRect/>
          </a:stretch>
        </p:blipFill>
        <p:spPr>
          <a:xfrm>
            <a:off x="2434608" y="2380492"/>
            <a:ext cx="7322784" cy="1048508"/>
          </a:xfrm>
          <a:prstGeom prst="rect">
            <a:avLst/>
          </a:prstGeom>
        </p:spPr>
      </p:pic>
      <p:pic>
        <p:nvPicPr>
          <p:cNvPr id="6" name="Picture 5">
            <a:extLst>
              <a:ext uri="{FF2B5EF4-FFF2-40B4-BE49-F238E27FC236}">
                <a16:creationId xmlns:a16="http://schemas.microsoft.com/office/drawing/2014/main" id="{0C8C477D-7513-E113-23B5-991C21A8E6F3}"/>
              </a:ext>
            </a:extLst>
          </p:cNvPr>
          <p:cNvPicPr>
            <a:picLocks noChangeAspect="1"/>
          </p:cNvPicPr>
          <p:nvPr/>
        </p:nvPicPr>
        <p:blipFill>
          <a:blip r:embed="rId3"/>
          <a:stretch>
            <a:fillRect/>
          </a:stretch>
        </p:blipFill>
        <p:spPr>
          <a:xfrm>
            <a:off x="1957016" y="4934750"/>
            <a:ext cx="7963853" cy="471330"/>
          </a:xfrm>
          <a:prstGeom prst="rect">
            <a:avLst/>
          </a:prstGeom>
        </p:spPr>
      </p:pic>
    </p:spTree>
    <p:extLst>
      <p:ext uri="{BB962C8B-B14F-4D97-AF65-F5344CB8AC3E}">
        <p14:creationId xmlns:p14="http://schemas.microsoft.com/office/powerpoint/2010/main" val="38031548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D2179-DC78-E925-D2FB-E0332E45C3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09A4D6-E534-7E3C-83EF-4DC695287EA1}"/>
              </a:ext>
            </a:extLst>
          </p:cNvPr>
          <p:cNvSpPr txBox="1"/>
          <p:nvPr/>
        </p:nvSpPr>
        <p:spPr>
          <a:xfrm>
            <a:off x="510988" y="403412"/>
            <a:ext cx="11125200" cy="5632311"/>
          </a:xfrm>
          <a:prstGeom prst="rect">
            <a:avLst/>
          </a:prstGeom>
          <a:noFill/>
        </p:spPr>
        <p:txBody>
          <a:bodyPr wrap="square" rtlCol="0">
            <a:spAutoFit/>
          </a:bodyPr>
          <a:lstStyle/>
          <a:p>
            <a:r>
              <a:rPr lang="en-IN" sz="2400" dirty="0"/>
              <a:t>DATA TYPES</a:t>
            </a:r>
            <a:endParaRPr lang="en-US" sz="2400" dirty="0"/>
          </a:p>
          <a:p>
            <a:endParaRPr lang="en-US" dirty="0"/>
          </a:p>
          <a:p>
            <a:pPr algn="just"/>
            <a:r>
              <a:rPr lang="en-US" sz="2000" dirty="0"/>
              <a:t>Categories of user defined schema data types:</a:t>
            </a:r>
          </a:p>
          <a:p>
            <a:pPr algn="just"/>
            <a:endParaRPr lang="en-US" sz="2000" dirty="0"/>
          </a:p>
          <a:p>
            <a:pPr algn="just"/>
            <a:r>
              <a:rPr lang="en-US" sz="2000" dirty="0"/>
              <a:t>Simple data type : Cannot include nested elements or attributes </a:t>
            </a:r>
          </a:p>
          <a:p>
            <a:pPr algn="just"/>
            <a:r>
              <a:rPr lang="en-US" sz="2000" dirty="0"/>
              <a:t>Complex type : can have attributes and include other data types as child elements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50321376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F2CA1-0CEF-1145-127B-B713A9C3A3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50C912-C643-18EE-5A9C-C5BDDC600AD0}"/>
              </a:ext>
            </a:extLst>
          </p:cNvPr>
          <p:cNvSpPr txBox="1"/>
          <p:nvPr/>
        </p:nvSpPr>
        <p:spPr>
          <a:xfrm>
            <a:off x="510988" y="403412"/>
            <a:ext cx="11125200" cy="5940088"/>
          </a:xfrm>
          <a:prstGeom prst="rect">
            <a:avLst/>
          </a:prstGeom>
          <a:noFill/>
        </p:spPr>
        <p:txBody>
          <a:bodyPr wrap="square" rtlCol="0">
            <a:spAutoFit/>
          </a:bodyPr>
          <a:lstStyle/>
          <a:p>
            <a:r>
              <a:rPr lang="en-IN" sz="2400" dirty="0"/>
              <a:t>SIMPLE TYPES</a:t>
            </a:r>
            <a:endParaRPr lang="en-US" sz="2400" dirty="0"/>
          </a:p>
          <a:p>
            <a:endParaRPr lang="en-US" dirty="0"/>
          </a:p>
          <a:p>
            <a:pPr marL="342900" indent="-342900" algn="just">
              <a:buFont typeface="Arial" panose="020B0604020202020204" pitchFamily="34" charset="0"/>
              <a:buChar char="•"/>
            </a:pPr>
            <a:r>
              <a:rPr lang="en-US" sz="2000" dirty="0"/>
              <a:t>Elements are defined in an XML schema with the element tag, which is from the </a:t>
            </a:r>
            <a:r>
              <a:rPr lang="en-US" sz="2000" dirty="0" err="1"/>
              <a:t>XMLSchema</a:t>
            </a:r>
            <a:r>
              <a:rPr lang="en-US" sz="2000" dirty="0"/>
              <a:t> namespace</a:t>
            </a:r>
          </a:p>
          <a:p>
            <a:pPr marL="342900" indent="-342900" algn="just">
              <a:buFont typeface="Arial" panose="020B0604020202020204" pitchFamily="34" charset="0"/>
              <a:buChar char="•"/>
            </a:pPr>
            <a:r>
              <a:rPr lang="en-US" sz="2000" dirty="0"/>
              <a:t>prefix </a:t>
            </a:r>
            <a:r>
              <a:rPr lang="en-US" sz="2000" dirty="0" err="1"/>
              <a:t>xsd</a:t>
            </a:r>
            <a:r>
              <a:rPr lang="en-US" sz="2000" dirty="0"/>
              <a:t> is normally used for names from this namespace.</a:t>
            </a:r>
          </a:p>
          <a:p>
            <a:pPr marL="342900" indent="-342900" algn="just">
              <a:buFont typeface="Arial" panose="020B0604020202020204" pitchFamily="34" charset="0"/>
              <a:buChar char="•"/>
            </a:pPr>
            <a:r>
              <a:rPr lang="en-US" sz="2000" dirty="0"/>
              <a:t>An element that is named includes the name attribute for that purpose. The other attribute that is necessary in a simple element declaration is type, which is used to specify the type of content allowed in the element.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 element can be given a default value with the default attribute:</a:t>
            </a:r>
          </a:p>
          <a:p>
            <a:pPr marL="342900" indent="-342900" algn="just">
              <a:buFont typeface="Arial" panose="020B0604020202020204" pitchFamily="34" charset="0"/>
              <a:buChar char="•"/>
            </a:pPr>
            <a:r>
              <a:rPr lang="en-US" sz="2000" dirty="0"/>
              <a:t>Constant values are given with the fixed attribute</a:t>
            </a:r>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4C7FC9A2-0D85-2AE9-EF10-D3A1F47D26F7}"/>
              </a:ext>
            </a:extLst>
          </p:cNvPr>
          <p:cNvPicPr>
            <a:picLocks noChangeAspect="1"/>
          </p:cNvPicPr>
          <p:nvPr/>
        </p:nvPicPr>
        <p:blipFill>
          <a:blip r:embed="rId2"/>
          <a:stretch>
            <a:fillRect/>
          </a:stretch>
        </p:blipFill>
        <p:spPr>
          <a:xfrm>
            <a:off x="892543" y="2974458"/>
            <a:ext cx="6081998" cy="1020822"/>
          </a:xfrm>
          <a:prstGeom prst="rect">
            <a:avLst/>
          </a:prstGeom>
        </p:spPr>
      </p:pic>
      <p:pic>
        <p:nvPicPr>
          <p:cNvPr id="6" name="Picture 5">
            <a:extLst>
              <a:ext uri="{FF2B5EF4-FFF2-40B4-BE49-F238E27FC236}">
                <a16:creationId xmlns:a16="http://schemas.microsoft.com/office/drawing/2014/main" id="{E510B3C2-8A59-7DF5-A217-AAD9B8BE72CF}"/>
              </a:ext>
            </a:extLst>
          </p:cNvPr>
          <p:cNvPicPr>
            <a:picLocks noChangeAspect="1"/>
          </p:cNvPicPr>
          <p:nvPr/>
        </p:nvPicPr>
        <p:blipFill>
          <a:blip r:embed="rId3"/>
          <a:stretch>
            <a:fillRect/>
          </a:stretch>
        </p:blipFill>
        <p:spPr>
          <a:xfrm>
            <a:off x="990762" y="4098523"/>
            <a:ext cx="6715576" cy="276253"/>
          </a:xfrm>
          <a:prstGeom prst="rect">
            <a:avLst/>
          </a:prstGeom>
        </p:spPr>
      </p:pic>
      <p:pic>
        <p:nvPicPr>
          <p:cNvPr id="8" name="Picture 7">
            <a:extLst>
              <a:ext uri="{FF2B5EF4-FFF2-40B4-BE49-F238E27FC236}">
                <a16:creationId xmlns:a16="http://schemas.microsoft.com/office/drawing/2014/main" id="{204BC907-13A2-7650-B0EC-008BDBEF752D}"/>
              </a:ext>
            </a:extLst>
          </p:cNvPr>
          <p:cNvPicPr>
            <a:picLocks noChangeAspect="1"/>
          </p:cNvPicPr>
          <p:nvPr/>
        </p:nvPicPr>
        <p:blipFill>
          <a:blip r:embed="rId4"/>
          <a:stretch>
            <a:fillRect/>
          </a:stretch>
        </p:blipFill>
        <p:spPr>
          <a:xfrm>
            <a:off x="1367367" y="5185760"/>
            <a:ext cx="5535458" cy="495897"/>
          </a:xfrm>
          <a:prstGeom prst="rect">
            <a:avLst/>
          </a:prstGeom>
        </p:spPr>
      </p:pic>
    </p:spTree>
    <p:extLst>
      <p:ext uri="{BB962C8B-B14F-4D97-AF65-F5344CB8AC3E}">
        <p14:creationId xmlns:p14="http://schemas.microsoft.com/office/powerpoint/2010/main" val="15368410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250A-E268-ADDC-963E-D76F2A7ED7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814C98-01EB-09AE-67DC-5951C89AA80E}"/>
              </a:ext>
            </a:extLst>
          </p:cNvPr>
          <p:cNvSpPr txBox="1"/>
          <p:nvPr/>
        </p:nvSpPr>
        <p:spPr>
          <a:xfrm>
            <a:off x="510988" y="403412"/>
            <a:ext cx="11125200" cy="5324535"/>
          </a:xfrm>
          <a:prstGeom prst="rect">
            <a:avLst/>
          </a:prstGeom>
          <a:noFill/>
        </p:spPr>
        <p:txBody>
          <a:bodyPr wrap="square" rtlCol="0">
            <a:spAutoFit/>
          </a:bodyPr>
          <a:lstStyle/>
          <a:p>
            <a:r>
              <a:rPr lang="en-IN" sz="2400" dirty="0"/>
              <a:t>COMPLEX TYPES</a:t>
            </a:r>
            <a:endParaRPr lang="en-US" sz="2400" dirty="0"/>
          </a:p>
          <a:p>
            <a:endParaRPr lang="en-US" dirty="0"/>
          </a:p>
          <a:p>
            <a:pPr marL="342900" indent="-342900" algn="just">
              <a:buFont typeface="Arial" panose="020B0604020202020204" pitchFamily="34" charset="0"/>
              <a:buChar char="•"/>
            </a:pPr>
            <a:r>
              <a:rPr lang="en-US" sz="2000" dirty="0"/>
              <a:t>Complex types are defined with the</a:t>
            </a:r>
            <a:r>
              <a:rPr lang="en-IN" sz="2000" dirty="0"/>
              <a:t> </a:t>
            </a:r>
            <a:r>
              <a:rPr lang="en-IN" sz="2000" dirty="0" err="1"/>
              <a:t>complexType</a:t>
            </a:r>
            <a:r>
              <a:rPr lang="en-IN" sz="2000" dirty="0"/>
              <a:t> tag</a:t>
            </a:r>
            <a:endParaRPr lang="en-US" sz="2000" dirty="0"/>
          </a:p>
          <a:p>
            <a:pPr marL="342900" indent="-342900" algn="just">
              <a:buFont typeface="Arial" panose="020B0604020202020204" pitchFamily="34" charset="0"/>
              <a:buChar char="•"/>
            </a:pPr>
            <a:r>
              <a:rPr lang="en-IN" sz="2000" dirty="0"/>
              <a:t>The sequence</a:t>
            </a:r>
            <a:r>
              <a:rPr lang="en-US" sz="2000" dirty="0"/>
              <a:t> element is used to contain an ordered group of elements</a:t>
            </a:r>
          </a:p>
          <a:p>
            <a:pPr marL="342900" indent="-342900" algn="just">
              <a:buFont typeface="Arial" panose="020B0604020202020204" pitchFamily="34" charset="0"/>
              <a:buChar char="•"/>
            </a:pPr>
            <a:r>
              <a:rPr lang="en-US" sz="2000" dirty="0"/>
              <a:t>A complex type whose elements are an unordered group is defined in an</a:t>
            </a:r>
            <a:r>
              <a:rPr lang="en-IN" sz="2000" dirty="0"/>
              <a:t> </a:t>
            </a:r>
            <a:r>
              <a:rPr lang="en-IN" sz="2000" dirty="0">
                <a:solidFill>
                  <a:srgbClr val="FF0000"/>
                </a:solidFill>
              </a:rPr>
              <a:t>all</a:t>
            </a:r>
            <a:r>
              <a:rPr lang="en-IN" sz="2000" dirty="0"/>
              <a:t> element</a:t>
            </a:r>
          </a:p>
          <a:p>
            <a:pPr marL="342900" indent="-342900" algn="just">
              <a:buFont typeface="Arial" panose="020B0604020202020204" pitchFamily="34" charset="0"/>
              <a:buChar char="•"/>
            </a:pPr>
            <a:r>
              <a:rPr lang="en-IN" sz="2000" dirty="0"/>
              <a:t>The </a:t>
            </a:r>
            <a:r>
              <a:rPr lang="en-IN" sz="2000" dirty="0">
                <a:solidFill>
                  <a:srgbClr val="FF0000"/>
                </a:solidFill>
              </a:rPr>
              <a:t>choice</a:t>
            </a:r>
            <a:r>
              <a:rPr lang="en-US" sz="2000" dirty="0"/>
              <a:t> element can contain any number of elements, only one of which can appear in any XML document that complies with the schema. </a:t>
            </a:r>
          </a:p>
          <a:p>
            <a:pPr marL="342900" indent="-342900" algn="just">
              <a:buFont typeface="Arial" panose="020B0604020202020204" pitchFamily="34" charset="0"/>
              <a:buChar char="•"/>
            </a:pPr>
            <a:r>
              <a:rPr lang="en-IN" sz="2000" dirty="0"/>
              <a:t>minOccurs and </a:t>
            </a:r>
            <a:r>
              <a:rPr lang="en-IN" sz="2000" dirty="0" err="1"/>
              <a:t>maxOccurs</a:t>
            </a:r>
            <a:r>
              <a:rPr lang="en-IN" sz="2000" dirty="0"/>
              <a:t> </a:t>
            </a:r>
            <a:r>
              <a:rPr lang="en-US" sz="2000" dirty="0"/>
              <a:t>attributes can be used to specify the numbers of occurrences of</a:t>
            </a:r>
            <a:r>
              <a:rPr lang="en-IN" sz="2000" dirty="0"/>
              <a:t> elements</a:t>
            </a:r>
          </a:p>
          <a:p>
            <a:pPr marL="342900" indent="-342900" algn="just">
              <a:buFont typeface="Arial" panose="020B0604020202020204" pitchFamily="34" charset="0"/>
              <a:buChar char="•"/>
            </a:pPr>
            <a:r>
              <a:rPr lang="en-US" sz="2000" dirty="0"/>
              <a:t>The possible values of minOccurs are the nonnegative integers (including zero)</a:t>
            </a:r>
          </a:p>
          <a:p>
            <a:pPr marL="342900" indent="-342900" algn="just">
              <a:buFont typeface="Arial" panose="020B0604020202020204" pitchFamily="34" charset="0"/>
              <a:buChar char="•"/>
            </a:pPr>
            <a:r>
              <a:rPr lang="en-IN" sz="2000" dirty="0"/>
              <a:t>The possible values for</a:t>
            </a:r>
            <a:r>
              <a:rPr lang="en-US" sz="2000" dirty="0"/>
              <a:t> </a:t>
            </a:r>
            <a:r>
              <a:rPr lang="en-US" sz="2000" dirty="0" err="1"/>
              <a:t>maxOccurs</a:t>
            </a:r>
            <a:r>
              <a:rPr lang="en-US" sz="2000" dirty="0"/>
              <a:t> are the nonnegative integers plus the value</a:t>
            </a:r>
            <a:r>
              <a:rPr lang="en-IN" sz="2000" dirty="0"/>
              <a:t> </a:t>
            </a:r>
            <a:r>
              <a:rPr lang="en-IN" sz="2000" dirty="0">
                <a:solidFill>
                  <a:srgbClr val="FF0000"/>
                </a:solidFill>
              </a:rPr>
              <a:t>unbounded</a:t>
            </a:r>
            <a:endParaRPr lang="en-US" sz="2000" dirty="0">
              <a:solidFill>
                <a:srgbClr val="FF0000"/>
              </a:solidFill>
            </a:endParaRP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A558CF97-2FA7-719C-7BB9-BC9A31438097}"/>
              </a:ext>
            </a:extLst>
          </p:cNvPr>
          <p:cNvPicPr>
            <a:picLocks noChangeAspect="1"/>
          </p:cNvPicPr>
          <p:nvPr/>
        </p:nvPicPr>
        <p:blipFill>
          <a:blip r:embed="rId2"/>
          <a:stretch>
            <a:fillRect/>
          </a:stretch>
        </p:blipFill>
        <p:spPr>
          <a:xfrm>
            <a:off x="2769334" y="4193660"/>
            <a:ext cx="5899536" cy="1751042"/>
          </a:xfrm>
          <a:prstGeom prst="rect">
            <a:avLst/>
          </a:prstGeom>
        </p:spPr>
      </p:pic>
    </p:spTree>
    <p:extLst>
      <p:ext uri="{BB962C8B-B14F-4D97-AF65-F5344CB8AC3E}">
        <p14:creationId xmlns:p14="http://schemas.microsoft.com/office/powerpoint/2010/main" val="22457408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93BB-9F86-E721-13B3-E0B6C4A8D0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4F0284-32AD-FE59-BEDD-8C38AE098492}"/>
              </a:ext>
            </a:extLst>
          </p:cNvPr>
          <p:cNvSpPr txBox="1"/>
          <p:nvPr/>
        </p:nvSpPr>
        <p:spPr>
          <a:xfrm>
            <a:off x="510988" y="403412"/>
            <a:ext cx="11125200" cy="5324535"/>
          </a:xfrm>
          <a:prstGeom prst="rect">
            <a:avLst/>
          </a:prstGeom>
          <a:noFill/>
        </p:spPr>
        <p:txBody>
          <a:bodyPr wrap="square" rtlCol="0">
            <a:spAutoFit/>
          </a:bodyPr>
          <a:lstStyle/>
          <a:p>
            <a:r>
              <a:rPr lang="en-US" b="1" dirty="0"/>
              <a:t>XML File</a:t>
            </a:r>
          </a:p>
          <a:p>
            <a:endParaRPr lang="en-US" dirty="0"/>
          </a:p>
          <a:p>
            <a:r>
              <a:rPr lang="en-US" dirty="0">
                <a:solidFill>
                  <a:srgbClr val="00B0F0"/>
                </a:solidFill>
              </a:rPr>
              <a:t>&lt;class&gt;</a:t>
            </a:r>
            <a:endParaRPr lang="en-IN" dirty="0">
              <a:solidFill>
                <a:srgbClr val="00B0F0"/>
              </a:solidFill>
            </a:endParaRPr>
          </a:p>
          <a:p>
            <a:r>
              <a:rPr lang="en-US" dirty="0"/>
              <a:t>	</a:t>
            </a:r>
            <a:r>
              <a:rPr lang="en-US" dirty="0">
                <a:solidFill>
                  <a:srgbClr val="00B0F0"/>
                </a:solidFill>
              </a:rPr>
              <a:t>&lt;student&gt;</a:t>
            </a:r>
            <a:endParaRPr lang="en-IN" dirty="0">
              <a:solidFill>
                <a:srgbClr val="00B0F0"/>
              </a:solidFill>
            </a:endParaRPr>
          </a:p>
          <a:p>
            <a:r>
              <a:rPr lang="en-US" dirty="0"/>
              <a:t>		</a:t>
            </a:r>
            <a:r>
              <a:rPr lang="en-US" dirty="0">
                <a:solidFill>
                  <a:srgbClr val="00B0F0"/>
                </a:solidFill>
              </a:rPr>
              <a:t>&lt;</a:t>
            </a:r>
            <a:r>
              <a:rPr lang="en-US" dirty="0" err="1">
                <a:solidFill>
                  <a:srgbClr val="00B0F0"/>
                </a:solidFill>
              </a:rPr>
              <a:t>firstname</a:t>
            </a:r>
            <a:r>
              <a:rPr lang="en-US" dirty="0">
                <a:solidFill>
                  <a:srgbClr val="00B0F0"/>
                </a:solidFill>
              </a:rPr>
              <a:t>&gt;</a:t>
            </a:r>
            <a:r>
              <a:rPr lang="en-US" dirty="0"/>
              <a:t>Graham</a:t>
            </a:r>
            <a:r>
              <a:rPr lang="en-US" dirty="0">
                <a:solidFill>
                  <a:srgbClr val="00B0F0"/>
                </a:solidFill>
              </a:rPr>
              <a:t>&lt;/</a:t>
            </a:r>
            <a:r>
              <a:rPr lang="en-US" dirty="0" err="1">
                <a:solidFill>
                  <a:srgbClr val="00B0F0"/>
                </a:solidFill>
              </a:rPr>
              <a:t>firstname</a:t>
            </a:r>
            <a:r>
              <a:rPr lang="en-US" dirty="0">
                <a:solidFill>
                  <a:srgbClr val="00B0F0"/>
                </a:solidFill>
              </a:rPr>
              <a:t>&gt;</a:t>
            </a:r>
            <a:endParaRPr lang="en-IN" dirty="0">
              <a:solidFill>
                <a:srgbClr val="00B0F0"/>
              </a:solidFill>
            </a:endParaRPr>
          </a:p>
          <a:p>
            <a:r>
              <a:rPr lang="en-US" dirty="0">
                <a:solidFill>
                  <a:srgbClr val="00B0F0"/>
                </a:solidFill>
              </a:rPr>
              <a:t>		&lt;</a:t>
            </a:r>
            <a:r>
              <a:rPr lang="en-US" dirty="0" err="1">
                <a:solidFill>
                  <a:srgbClr val="00B0F0"/>
                </a:solidFill>
              </a:rPr>
              <a:t>lastname</a:t>
            </a:r>
            <a:r>
              <a:rPr lang="en-US" dirty="0">
                <a:solidFill>
                  <a:srgbClr val="00B0F0"/>
                </a:solidFill>
              </a:rPr>
              <a:t>&gt;</a:t>
            </a:r>
            <a:r>
              <a:rPr lang="en-US" dirty="0"/>
              <a:t>Bell</a:t>
            </a:r>
            <a:r>
              <a:rPr lang="en-US" dirty="0">
                <a:solidFill>
                  <a:srgbClr val="00B0F0"/>
                </a:solidFill>
              </a:rPr>
              <a:t>&lt;/</a:t>
            </a:r>
            <a:r>
              <a:rPr lang="en-US" dirty="0" err="1">
                <a:solidFill>
                  <a:srgbClr val="00B0F0"/>
                </a:solidFill>
              </a:rPr>
              <a:t>lastname</a:t>
            </a:r>
            <a:r>
              <a:rPr lang="en-US" dirty="0">
                <a:solidFill>
                  <a:srgbClr val="00B0F0"/>
                </a:solidFill>
              </a:rPr>
              <a:t>&gt;</a:t>
            </a:r>
            <a:endParaRPr lang="en-IN" dirty="0">
              <a:solidFill>
                <a:srgbClr val="00B0F0"/>
              </a:solidFill>
            </a:endParaRPr>
          </a:p>
          <a:p>
            <a:r>
              <a:rPr lang="en-US" dirty="0">
                <a:solidFill>
                  <a:srgbClr val="00B0F0"/>
                </a:solidFill>
              </a:rPr>
              <a:t>		&lt;age&gt;</a:t>
            </a:r>
            <a:r>
              <a:rPr lang="en-US" dirty="0"/>
              <a:t>20</a:t>
            </a:r>
            <a:r>
              <a:rPr lang="en-US" dirty="0">
                <a:solidFill>
                  <a:srgbClr val="00B0F0"/>
                </a:solidFill>
              </a:rPr>
              <a:t>&lt;/age&gt;</a:t>
            </a:r>
            <a:endParaRPr lang="en-IN" dirty="0">
              <a:solidFill>
                <a:srgbClr val="00B0F0"/>
              </a:solidFill>
            </a:endParaRPr>
          </a:p>
          <a:p>
            <a:r>
              <a:rPr lang="en-US" dirty="0"/>
              <a:t>	</a:t>
            </a:r>
            <a:r>
              <a:rPr lang="en-US" dirty="0">
                <a:solidFill>
                  <a:srgbClr val="00B0F0"/>
                </a:solidFill>
              </a:rPr>
              <a:t>&lt;/student&gt;</a:t>
            </a:r>
            <a:endParaRPr lang="en-IN" dirty="0">
              <a:solidFill>
                <a:srgbClr val="00B0F0"/>
              </a:solidFill>
            </a:endParaRPr>
          </a:p>
          <a:p>
            <a:r>
              <a:rPr lang="en-US" dirty="0">
                <a:solidFill>
                  <a:srgbClr val="00B0F0"/>
                </a:solidFill>
              </a:rPr>
              <a:t>&lt;/class&gt;</a:t>
            </a:r>
            <a:endParaRPr lang="en-US" sz="2000" dirty="0">
              <a:solidFill>
                <a:srgbClr val="00B0F0"/>
              </a:solidFill>
            </a:endParaRP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3350128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A769C-D770-6B00-D7DC-B2D30E88FD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D5E6FC-FD95-AF29-5197-3EFB7B2372D5}"/>
              </a:ext>
            </a:extLst>
          </p:cNvPr>
          <p:cNvSpPr txBox="1"/>
          <p:nvPr/>
        </p:nvSpPr>
        <p:spPr>
          <a:xfrm>
            <a:off x="510988" y="403412"/>
            <a:ext cx="11125200" cy="5632311"/>
          </a:xfrm>
          <a:prstGeom prst="rect">
            <a:avLst/>
          </a:prstGeom>
          <a:noFill/>
        </p:spPr>
        <p:txBody>
          <a:bodyPr wrap="square" rtlCol="0">
            <a:spAutoFit/>
          </a:bodyPr>
          <a:lstStyle/>
          <a:p>
            <a:pPr>
              <a:buNone/>
            </a:pPr>
            <a:r>
              <a:rPr lang="en-IN" b="1" dirty="0">
                <a:latin typeface="Courier New" panose="02070309020205020404" pitchFamily="49" charset="0"/>
              </a:rPr>
              <a:t>XSD File:</a:t>
            </a:r>
          </a:p>
          <a:p>
            <a:pPr>
              <a:buNone/>
            </a:pPr>
            <a:endParaRPr lang="en-IN" dirty="0">
              <a:latin typeface="Courier New" panose="02070309020205020404" pitchFamily="49" charset="0"/>
            </a:endParaRPr>
          </a:p>
          <a:p>
            <a:pPr>
              <a:buNone/>
            </a:pPr>
            <a:r>
              <a:rPr lang="en-IN" dirty="0">
                <a:latin typeface="Courier New" panose="02070309020205020404" pitchFamily="49" charset="0"/>
              </a:rPr>
              <a:t>&lt;</a:t>
            </a:r>
            <a:r>
              <a:rPr lang="en-IN" dirty="0" err="1">
                <a:solidFill>
                  <a:srgbClr val="0070C0"/>
                </a:solidFill>
                <a:latin typeface="Courier New" panose="02070309020205020404" pitchFamily="49" charset="0"/>
              </a:rPr>
              <a:t>xs:schema</a:t>
            </a:r>
            <a:r>
              <a:rPr lang="en-IN" dirty="0">
                <a:solidFill>
                  <a:srgbClr val="0070C0"/>
                </a:solidFill>
                <a:latin typeface="Courier New" panose="02070309020205020404" pitchFamily="49" charset="0"/>
              </a:rPr>
              <a:t> </a:t>
            </a:r>
            <a:r>
              <a:rPr lang="en-IN" dirty="0" err="1">
                <a:solidFill>
                  <a:srgbClr val="7030A0"/>
                </a:solidFill>
                <a:latin typeface="Courier New" panose="02070309020205020404" pitchFamily="49" charset="0"/>
              </a:rPr>
              <a:t>attributeFormDefault</a:t>
            </a:r>
            <a:r>
              <a:rPr lang="en-IN" dirty="0">
                <a:latin typeface="Courier New" panose="02070309020205020404" pitchFamily="49" charset="0"/>
              </a:rPr>
              <a:t>="</a:t>
            </a:r>
            <a:r>
              <a:rPr lang="en-IN" dirty="0">
                <a:solidFill>
                  <a:srgbClr val="92D050"/>
                </a:solidFill>
                <a:latin typeface="Courier New" panose="02070309020205020404" pitchFamily="49" charset="0"/>
              </a:rPr>
              <a:t>unqualified</a:t>
            </a:r>
            <a:r>
              <a:rPr lang="en-IN" dirty="0">
                <a:latin typeface="Courier New" panose="02070309020205020404" pitchFamily="49" charset="0"/>
              </a:rPr>
              <a:t>" </a:t>
            </a:r>
            <a:r>
              <a:rPr lang="en-IN" dirty="0" err="1">
                <a:solidFill>
                  <a:srgbClr val="7030A0"/>
                </a:solidFill>
                <a:latin typeface="Courier New" panose="02070309020205020404" pitchFamily="49" charset="0"/>
              </a:rPr>
              <a:t>elementFormDefault</a:t>
            </a:r>
            <a:r>
              <a:rPr lang="en-IN" dirty="0">
                <a:latin typeface="Courier New" panose="02070309020205020404" pitchFamily="49" charset="0"/>
              </a:rPr>
              <a:t>="</a:t>
            </a:r>
            <a:r>
              <a:rPr lang="en-IN" dirty="0">
                <a:solidFill>
                  <a:srgbClr val="92D050"/>
                </a:solidFill>
                <a:latin typeface="Courier New" panose="02070309020205020404" pitchFamily="49" charset="0"/>
              </a:rPr>
              <a:t>qualified</a:t>
            </a:r>
            <a:r>
              <a:rPr lang="en-IN" dirty="0">
                <a:latin typeface="Courier New" panose="02070309020205020404" pitchFamily="49" charset="0"/>
              </a:rPr>
              <a:t>" </a:t>
            </a:r>
            <a:r>
              <a:rPr lang="en-IN" dirty="0" err="1">
                <a:solidFill>
                  <a:srgbClr val="0070C0"/>
                </a:solidFill>
                <a:latin typeface="Courier New" panose="02070309020205020404" pitchFamily="49" charset="0"/>
              </a:rPr>
              <a:t>xmlns:xs</a:t>
            </a:r>
            <a:r>
              <a:rPr lang="en-IN" dirty="0">
                <a:latin typeface="Courier New" panose="02070309020205020404" pitchFamily="49" charset="0"/>
              </a:rPr>
              <a:t>="http://www.w3.org/2001/XMLSchema"&gt;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xs:element</a:t>
            </a:r>
            <a:r>
              <a:rPr lang="en-IN" dirty="0">
                <a:solidFill>
                  <a:srgbClr val="0070C0"/>
                </a:solidFill>
                <a:latin typeface="Courier New" panose="02070309020205020404" pitchFamily="49" charset="0"/>
              </a:rPr>
              <a:t> </a:t>
            </a:r>
            <a:r>
              <a:rPr lang="en-IN" dirty="0">
                <a:solidFill>
                  <a:srgbClr val="7030A0"/>
                </a:solidFill>
                <a:latin typeface="Courier New" panose="02070309020205020404" pitchFamily="49" charset="0"/>
              </a:rPr>
              <a:t>name=</a:t>
            </a:r>
            <a:r>
              <a:rPr lang="en-IN" dirty="0">
                <a:latin typeface="Courier New" panose="02070309020205020404" pitchFamily="49" charset="0"/>
              </a:rPr>
              <a:t>"</a:t>
            </a:r>
            <a:r>
              <a:rPr lang="en-IN" dirty="0">
                <a:solidFill>
                  <a:srgbClr val="92D050"/>
                </a:solidFill>
                <a:latin typeface="Courier New" panose="02070309020205020404" pitchFamily="49" charset="0"/>
              </a:rPr>
              <a:t>class</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xs:complexType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xs:sequence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xs:element</a:t>
            </a:r>
            <a:r>
              <a:rPr lang="en-IN" dirty="0">
                <a:solidFill>
                  <a:srgbClr val="0070C0"/>
                </a:solidFill>
                <a:latin typeface="Courier New" panose="02070309020205020404" pitchFamily="49" charset="0"/>
              </a:rPr>
              <a:t> </a:t>
            </a:r>
            <a:r>
              <a:rPr lang="en-IN" dirty="0">
                <a:solidFill>
                  <a:srgbClr val="7030A0"/>
                </a:solidFill>
                <a:latin typeface="Courier New" panose="02070309020205020404" pitchFamily="49" charset="0"/>
              </a:rPr>
              <a:t>name=</a:t>
            </a:r>
            <a:r>
              <a:rPr lang="en-IN" dirty="0">
                <a:latin typeface="Courier New" panose="02070309020205020404" pitchFamily="49" charset="0"/>
              </a:rPr>
              <a:t>"</a:t>
            </a:r>
            <a:r>
              <a:rPr lang="en-IN" dirty="0">
                <a:solidFill>
                  <a:srgbClr val="92D050"/>
                </a:solidFill>
                <a:latin typeface="Courier New" panose="02070309020205020404" pitchFamily="49" charset="0"/>
              </a:rPr>
              <a:t>student</a:t>
            </a:r>
            <a:r>
              <a:rPr lang="en-IN" dirty="0">
                <a:latin typeface="Courier New" panose="02070309020205020404" pitchFamily="49" charset="0"/>
              </a:rPr>
              <a:t>"&gt;	//</a:t>
            </a:r>
            <a:r>
              <a:rPr lang="en-IN" dirty="0" err="1">
                <a:latin typeface="Courier New" panose="02070309020205020404" pitchFamily="49" charset="0"/>
              </a:rPr>
              <a:t>maxOccurs</a:t>
            </a:r>
            <a:r>
              <a:rPr lang="en-IN" dirty="0">
                <a:latin typeface="Courier New" panose="02070309020205020404" pitchFamily="49" charset="0"/>
              </a:rPr>
              <a:t> =“2” minOccurs=“0”</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xs:complexType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xs:sequence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xs:element</a:t>
            </a:r>
            <a:r>
              <a:rPr lang="en-IN" dirty="0">
                <a:solidFill>
                  <a:srgbClr val="0070C0"/>
                </a:solidFill>
                <a:latin typeface="Courier New" panose="02070309020205020404" pitchFamily="49" charset="0"/>
              </a:rPr>
              <a:t> </a:t>
            </a:r>
            <a:r>
              <a:rPr lang="en-IN" dirty="0">
                <a:solidFill>
                  <a:srgbClr val="7030A0"/>
                </a:solidFill>
                <a:latin typeface="Courier New" panose="02070309020205020404" pitchFamily="49" charset="0"/>
              </a:rPr>
              <a:t>type=</a:t>
            </a:r>
            <a:r>
              <a:rPr lang="en-IN" dirty="0">
                <a:latin typeface="Courier New" panose="02070309020205020404" pitchFamily="49" charset="0"/>
              </a:rPr>
              <a:t>"</a:t>
            </a:r>
            <a:r>
              <a:rPr lang="en-IN" dirty="0" err="1">
                <a:solidFill>
                  <a:srgbClr val="92D050"/>
                </a:solidFill>
                <a:latin typeface="Courier New" panose="02070309020205020404" pitchFamily="49" charset="0"/>
              </a:rPr>
              <a:t>xs:string</a:t>
            </a:r>
            <a:r>
              <a:rPr lang="en-IN" dirty="0">
                <a:latin typeface="Courier New" panose="02070309020205020404" pitchFamily="49" charset="0"/>
              </a:rPr>
              <a:t>" </a:t>
            </a:r>
            <a:r>
              <a:rPr lang="en-IN" dirty="0">
                <a:solidFill>
                  <a:srgbClr val="7030A0"/>
                </a:solidFill>
                <a:latin typeface="Courier New" panose="02070309020205020404" pitchFamily="49" charset="0"/>
              </a:rPr>
              <a:t>name=</a:t>
            </a:r>
            <a:r>
              <a:rPr lang="en-IN" dirty="0">
                <a:latin typeface="Courier New" panose="02070309020205020404" pitchFamily="49" charset="0"/>
              </a:rPr>
              <a:t>"</a:t>
            </a:r>
            <a:r>
              <a:rPr lang="en-IN" dirty="0" err="1">
                <a:solidFill>
                  <a:srgbClr val="92D050"/>
                </a:solidFill>
                <a:latin typeface="Courier New" panose="02070309020205020404" pitchFamily="49" charset="0"/>
              </a:rPr>
              <a:t>firstname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xs:element</a:t>
            </a:r>
            <a:r>
              <a:rPr lang="en-IN" dirty="0">
                <a:solidFill>
                  <a:srgbClr val="0070C0"/>
                </a:solidFill>
                <a:latin typeface="Courier New" panose="02070309020205020404" pitchFamily="49" charset="0"/>
              </a:rPr>
              <a:t> </a:t>
            </a:r>
            <a:r>
              <a:rPr lang="en-IN" dirty="0">
                <a:solidFill>
                  <a:srgbClr val="7030A0"/>
                </a:solidFill>
                <a:latin typeface="Courier New" panose="02070309020205020404" pitchFamily="49" charset="0"/>
              </a:rPr>
              <a:t>type=</a:t>
            </a:r>
            <a:r>
              <a:rPr lang="en-IN" dirty="0">
                <a:latin typeface="Courier New" panose="02070309020205020404" pitchFamily="49" charset="0"/>
              </a:rPr>
              <a:t>"</a:t>
            </a:r>
            <a:r>
              <a:rPr lang="en-IN" dirty="0" err="1">
                <a:solidFill>
                  <a:srgbClr val="92D050"/>
                </a:solidFill>
                <a:latin typeface="Courier New" panose="02070309020205020404" pitchFamily="49" charset="0"/>
              </a:rPr>
              <a:t>xs:string</a:t>
            </a:r>
            <a:r>
              <a:rPr lang="en-IN" dirty="0">
                <a:latin typeface="Courier New" panose="02070309020205020404" pitchFamily="49" charset="0"/>
              </a:rPr>
              <a:t>" </a:t>
            </a:r>
            <a:r>
              <a:rPr lang="en-IN" dirty="0">
                <a:solidFill>
                  <a:srgbClr val="7030A0"/>
                </a:solidFill>
                <a:latin typeface="Courier New" panose="02070309020205020404" pitchFamily="49" charset="0"/>
              </a:rPr>
              <a:t>name=</a:t>
            </a:r>
            <a:r>
              <a:rPr lang="en-IN" dirty="0">
                <a:latin typeface="Courier New" panose="02070309020205020404" pitchFamily="49" charset="0"/>
              </a:rPr>
              <a:t>"</a:t>
            </a:r>
            <a:r>
              <a:rPr lang="en-IN" dirty="0" err="1">
                <a:solidFill>
                  <a:srgbClr val="92D050"/>
                </a:solidFill>
                <a:latin typeface="Courier New" panose="02070309020205020404" pitchFamily="49" charset="0"/>
              </a:rPr>
              <a:t>lastname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xs:element</a:t>
            </a:r>
            <a:r>
              <a:rPr lang="en-IN" dirty="0">
                <a:solidFill>
                  <a:srgbClr val="0070C0"/>
                </a:solidFill>
                <a:latin typeface="Courier New" panose="02070309020205020404" pitchFamily="49" charset="0"/>
              </a:rPr>
              <a:t> </a:t>
            </a:r>
            <a:r>
              <a:rPr lang="en-IN" dirty="0">
                <a:solidFill>
                  <a:srgbClr val="7030A0"/>
                </a:solidFill>
                <a:latin typeface="Courier New" panose="02070309020205020404" pitchFamily="49" charset="0"/>
              </a:rPr>
              <a:t>type=</a:t>
            </a:r>
            <a:r>
              <a:rPr lang="en-IN" dirty="0">
                <a:latin typeface="Courier New" panose="02070309020205020404" pitchFamily="49" charset="0"/>
              </a:rPr>
              <a:t>"</a:t>
            </a:r>
            <a:r>
              <a:rPr lang="en-IN" dirty="0" err="1">
                <a:solidFill>
                  <a:srgbClr val="92D050"/>
                </a:solidFill>
                <a:latin typeface="Courier New" panose="02070309020205020404" pitchFamily="49" charset="0"/>
              </a:rPr>
              <a:t>xs:byte</a:t>
            </a:r>
            <a:r>
              <a:rPr lang="en-IN" dirty="0">
                <a:latin typeface="Courier New" panose="02070309020205020404" pitchFamily="49" charset="0"/>
              </a:rPr>
              <a:t>" </a:t>
            </a:r>
            <a:r>
              <a:rPr lang="en-IN" dirty="0">
                <a:solidFill>
                  <a:srgbClr val="7030A0"/>
                </a:solidFill>
                <a:latin typeface="Courier New" panose="02070309020205020404" pitchFamily="49" charset="0"/>
              </a:rPr>
              <a:t>name=</a:t>
            </a:r>
            <a:r>
              <a:rPr lang="en-IN" dirty="0">
                <a:latin typeface="Courier New" panose="02070309020205020404" pitchFamily="49" charset="0"/>
              </a:rPr>
              <a:t>"</a:t>
            </a:r>
            <a:r>
              <a:rPr lang="en-IN" dirty="0">
                <a:solidFill>
                  <a:srgbClr val="92D050"/>
                </a:solidFill>
                <a:latin typeface="Courier New" panose="02070309020205020404" pitchFamily="49" charset="0"/>
              </a:rPr>
              <a:t>age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a:solidFill>
                  <a:srgbClr val="0070C0"/>
                </a:solidFill>
                <a:latin typeface="Courier New" panose="02070309020205020404" pitchFamily="49" charset="0"/>
              </a:rPr>
              <a:t>/</a:t>
            </a:r>
            <a:r>
              <a:rPr lang="en-IN" dirty="0" err="1">
                <a:solidFill>
                  <a:srgbClr val="0070C0"/>
                </a:solidFill>
                <a:latin typeface="Courier New" panose="02070309020205020404" pitchFamily="49" charset="0"/>
              </a:rPr>
              <a:t>xs:sequence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err="1">
                <a:solidFill>
                  <a:srgbClr val="0070C0"/>
                </a:solidFill>
                <a:latin typeface="Courier New" panose="02070309020205020404" pitchFamily="49" charset="0"/>
              </a:rPr>
              <a:t>xs:complexType</a:t>
            </a:r>
            <a:r>
              <a:rPr lang="en-IN" dirty="0">
                <a:latin typeface="Courier New" panose="02070309020205020404" pitchFamily="49" charset="0"/>
              </a:rPr>
              <a:t>&gt;</a:t>
            </a:r>
          </a:p>
          <a:p>
            <a:pPr>
              <a:buNone/>
            </a:pPr>
            <a:r>
              <a:rPr lang="en-IN" dirty="0">
                <a:latin typeface="Courier New" panose="02070309020205020404" pitchFamily="49" charset="0"/>
              </a:rPr>
              <a:t>        </a:t>
            </a:r>
            <a:r>
              <a:rPr lang="en-IN" dirty="0">
                <a:solidFill>
                  <a:srgbClr val="0070C0"/>
                </a:solidFill>
                <a:latin typeface="Courier New" panose="02070309020205020404" pitchFamily="49" charset="0"/>
              </a:rPr>
              <a:t>&lt;/</a:t>
            </a:r>
            <a:r>
              <a:rPr lang="en-IN" dirty="0" err="1">
                <a:solidFill>
                  <a:srgbClr val="0070C0"/>
                </a:solidFill>
                <a:latin typeface="Courier New" panose="02070309020205020404" pitchFamily="49" charset="0"/>
              </a:rPr>
              <a:t>xs:element</a:t>
            </a:r>
            <a:r>
              <a:rPr lang="en-IN" dirty="0">
                <a:latin typeface="Courier New" panose="02070309020205020404" pitchFamily="49" charset="0"/>
              </a:rPr>
              <a:t>&gt;</a:t>
            </a:r>
          </a:p>
          <a:p>
            <a:pPr>
              <a:buNone/>
            </a:pPr>
            <a:r>
              <a:rPr lang="en-IN" dirty="0">
                <a:latin typeface="Courier New" panose="02070309020205020404" pitchFamily="49" charset="0"/>
              </a:rPr>
              <a:t>      </a:t>
            </a:r>
            <a:r>
              <a:rPr lang="en-IN" dirty="0">
                <a:solidFill>
                  <a:srgbClr val="0070C0"/>
                </a:solidFill>
                <a:latin typeface="Courier New" panose="02070309020205020404" pitchFamily="49" charset="0"/>
              </a:rPr>
              <a:t>&lt;/</a:t>
            </a:r>
            <a:r>
              <a:rPr lang="en-IN" dirty="0" err="1">
                <a:solidFill>
                  <a:srgbClr val="0070C0"/>
                </a:solidFill>
                <a:latin typeface="Courier New" panose="02070309020205020404" pitchFamily="49" charset="0"/>
              </a:rPr>
              <a:t>xs:sequence</a:t>
            </a:r>
            <a:r>
              <a:rPr lang="en-IN" dirty="0">
                <a:latin typeface="Courier New" panose="02070309020205020404" pitchFamily="49" charset="0"/>
              </a:rPr>
              <a:t>&gt;</a:t>
            </a:r>
          </a:p>
          <a:p>
            <a:pPr>
              <a:buNone/>
            </a:pPr>
            <a:r>
              <a:rPr lang="en-IN" dirty="0">
                <a:latin typeface="Courier New" panose="02070309020205020404" pitchFamily="49" charset="0"/>
              </a:rPr>
              <a:t>    </a:t>
            </a:r>
            <a:r>
              <a:rPr lang="en-IN" dirty="0">
                <a:solidFill>
                  <a:srgbClr val="0070C0"/>
                </a:solidFill>
                <a:latin typeface="Courier New" panose="02070309020205020404" pitchFamily="49" charset="0"/>
              </a:rPr>
              <a:t>&lt;/</a:t>
            </a:r>
            <a:r>
              <a:rPr lang="en-IN" dirty="0" err="1">
                <a:solidFill>
                  <a:srgbClr val="0070C0"/>
                </a:solidFill>
                <a:latin typeface="Courier New" panose="02070309020205020404" pitchFamily="49" charset="0"/>
              </a:rPr>
              <a:t>xs:complexType</a:t>
            </a:r>
            <a:r>
              <a:rPr lang="en-IN" dirty="0">
                <a:latin typeface="Courier New" panose="02070309020205020404" pitchFamily="49" charset="0"/>
              </a:rPr>
              <a:t>&gt;</a:t>
            </a:r>
          </a:p>
          <a:p>
            <a:pPr>
              <a:buNone/>
            </a:pPr>
            <a:r>
              <a:rPr lang="en-IN" dirty="0">
                <a:latin typeface="Courier New" panose="02070309020205020404" pitchFamily="49" charset="0"/>
              </a:rPr>
              <a:t>  &lt;</a:t>
            </a:r>
            <a:r>
              <a:rPr lang="en-IN" dirty="0">
                <a:solidFill>
                  <a:srgbClr val="0070C0"/>
                </a:solidFill>
                <a:latin typeface="Courier New" panose="02070309020205020404" pitchFamily="49" charset="0"/>
              </a:rPr>
              <a:t>/</a:t>
            </a:r>
            <a:r>
              <a:rPr lang="en-IN" dirty="0" err="1">
                <a:solidFill>
                  <a:srgbClr val="0070C0"/>
                </a:solidFill>
                <a:latin typeface="Courier New" panose="02070309020205020404" pitchFamily="49" charset="0"/>
              </a:rPr>
              <a:t>xs:element</a:t>
            </a:r>
            <a:r>
              <a:rPr lang="en-IN" dirty="0">
                <a:latin typeface="Courier New" panose="02070309020205020404" pitchFamily="49" charset="0"/>
              </a:rPr>
              <a:t>&gt;</a:t>
            </a:r>
          </a:p>
          <a:p>
            <a:pPr>
              <a:buNone/>
            </a:pPr>
            <a:r>
              <a:rPr lang="en-IN" dirty="0">
                <a:latin typeface="Courier New" panose="02070309020205020404" pitchFamily="49" charset="0"/>
              </a:rPr>
              <a:t>&lt;</a:t>
            </a:r>
            <a:r>
              <a:rPr lang="en-IN" dirty="0">
                <a:solidFill>
                  <a:srgbClr val="0070C0"/>
                </a:solidFill>
                <a:latin typeface="Courier New" panose="02070309020205020404" pitchFamily="49" charset="0"/>
              </a:rPr>
              <a:t>/</a:t>
            </a:r>
            <a:r>
              <a:rPr lang="en-IN" dirty="0" err="1">
                <a:solidFill>
                  <a:srgbClr val="0070C0"/>
                </a:solidFill>
                <a:latin typeface="Courier New" panose="02070309020205020404" pitchFamily="49" charset="0"/>
              </a:rPr>
              <a:t>xs:schema</a:t>
            </a:r>
            <a:r>
              <a:rPr lang="en-IN" dirty="0">
                <a:latin typeface="Courier New" panose="02070309020205020404" pitchFamily="49" charset="0"/>
              </a:rPr>
              <a:t>&gt;</a:t>
            </a:r>
          </a:p>
        </p:txBody>
      </p:sp>
    </p:spTree>
    <p:extLst>
      <p:ext uri="{BB962C8B-B14F-4D97-AF65-F5344CB8AC3E}">
        <p14:creationId xmlns:p14="http://schemas.microsoft.com/office/powerpoint/2010/main" val="17391899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F1AC7-9319-3922-0B99-42A7E6D752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26F119-C639-45B1-9819-33AAFEF9FC22}"/>
              </a:ext>
            </a:extLst>
          </p:cNvPr>
          <p:cNvSpPr txBox="1"/>
          <p:nvPr/>
        </p:nvSpPr>
        <p:spPr>
          <a:xfrm>
            <a:off x="510988" y="403412"/>
            <a:ext cx="11125200" cy="5324535"/>
          </a:xfrm>
          <a:prstGeom prst="rect">
            <a:avLst/>
          </a:prstGeom>
          <a:noFill/>
        </p:spPr>
        <p:txBody>
          <a:bodyPr wrap="square" rtlCol="0">
            <a:spAutoFit/>
          </a:bodyPr>
          <a:lstStyle/>
          <a:p>
            <a:r>
              <a:rPr lang="en-IN" sz="2400" dirty="0"/>
              <a:t>DISPLAYING RAW XML DOCUMENTS</a:t>
            </a:r>
            <a:endParaRPr lang="en-US" sz="2400" dirty="0"/>
          </a:p>
          <a:p>
            <a:endParaRPr lang="en-US" dirty="0"/>
          </a:p>
          <a:p>
            <a:pPr marL="342900" indent="-342900" algn="just">
              <a:buFont typeface="Arial" panose="020B0604020202020204" pitchFamily="34" charset="0"/>
              <a:buChar char="•"/>
            </a:pPr>
            <a:r>
              <a:rPr lang="en-US" sz="2000" dirty="0"/>
              <a:t>If an XML document is displayed without a style sheet that defines presentation styles for the document’s tags, the displayed document will not have formatted content </a:t>
            </a:r>
          </a:p>
          <a:p>
            <a:pPr marL="342900" indent="-342900" algn="just">
              <a:buFont typeface="Arial" panose="020B0604020202020204" pitchFamily="34" charset="0"/>
              <a:buChar char="•"/>
            </a:pPr>
            <a:r>
              <a:rPr lang="en-US" sz="2000" dirty="0"/>
              <a:t>The display of such an XML document is only a somewhat stylized listing of the XML markup</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199721542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2B157-13FE-AD44-2D37-8B8EDC0716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820F8A-6005-5077-3CB6-EF57B1AF77AD}"/>
              </a:ext>
            </a:extLst>
          </p:cNvPr>
          <p:cNvSpPr txBox="1"/>
          <p:nvPr/>
        </p:nvSpPr>
        <p:spPr>
          <a:xfrm>
            <a:off x="510988" y="403412"/>
            <a:ext cx="11125200" cy="5016758"/>
          </a:xfrm>
          <a:prstGeom prst="rect">
            <a:avLst/>
          </a:prstGeom>
          <a:noFill/>
        </p:spPr>
        <p:txBody>
          <a:bodyPr wrap="square" rtlCol="0">
            <a:spAutoFit/>
          </a:bodyPr>
          <a:lstStyle/>
          <a:p>
            <a:r>
              <a:rPr lang="en-US" sz="2400" dirty="0"/>
              <a:t>DISPLAYING XML DOCUMENTS WITH STYLESHEETS</a:t>
            </a:r>
          </a:p>
          <a:p>
            <a:endParaRPr lang="en-US" dirty="0"/>
          </a:p>
          <a:p>
            <a:pPr marL="342900" indent="-342900" algn="just">
              <a:buFont typeface="Arial" panose="020B0604020202020204" pitchFamily="34" charset="0"/>
              <a:buChar char="•"/>
            </a:pPr>
            <a:r>
              <a:rPr lang="en-US" sz="2000" dirty="0"/>
              <a:t>Style sheet information can be provided to the browser for an XML document in two ways </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Using Cascading Style Sheet (CSS) file </a:t>
            </a:r>
          </a:p>
          <a:p>
            <a:pPr marL="800100" lvl="1" indent="-342900" algn="just">
              <a:buFont typeface="Arial" panose="020B0604020202020204" pitchFamily="34" charset="0"/>
              <a:buChar char="•"/>
            </a:pPr>
            <a:r>
              <a:rPr lang="en-US" sz="2000" dirty="0"/>
              <a:t>Using XSLT style sheet technology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DISPLAYING XML DOCUMENTS WITH CSS</a:t>
            </a:r>
          </a:p>
          <a:p>
            <a:pPr marL="800100" lvl="1" indent="-342900" algn="just">
              <a:buFont typeface="Arial" panose="020B0604020202020204" pitchFamily="34" charset="0"/>
              <a:buChar char="•"/>
            </a:pPr>
            <a:r>
              <a:rPr lang="en-US" sz="2000" dirty="0"/>
              <a:t>The connection of an XML document to a CSS style sheet is established with the processing instruction xml-stylesheet which specifies the particular type of the style sheet via its </a:t>
            </a:r>
            <a:r>
              <a:rPr lang="en-IN" sz="2000" dirty="0">
                <a:solidFill>
                  <a:srgbClr val="FF0000"/>
                </a:solidFill>
              </a:rPr>
              <a:t>type</a:t>
            </a:r>
            <a:r>
              <a:rPr lang="en-US" sz="2000" dirty="0">
                <a:solidFill>
                  <a:srgbClr val="FF0000"/>
                </a:solidFill>
              </a:rPr>
              <a:t> </a:t>
            </a:r>
            <a:r>
              <a:rPr lang="en-US" sz="2000" dirty="0"/>
              <a:t>attribute and the name of the file that stores the style sheet via its </a:t>
            </a:r>
            <a:r>
              <a:rPr lang="en-US" sz="2000" dirty="0" err="1">
                <a:solidFill>
                  <a:srgbClr val="FF0000"/>
                </a:solidFill>
              </a:rPr>
              <a:t>href</a:t>
            </a:r>
            <a:r>
              <a:rPr lang="en-US" sz="2000" dirty="0"/>
              <a:t> attribute</a:t>
            </a:r>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8C08E2FB-1D54-86EA-B99F-78EE88B8F814}"/>
              </a:ext>
            </a:extLst>
          </p:cNvPr>
          <p:cNvPicPr>
            <a:picLocks noChangeAspect="1"/>
          </p:cNvPicPr>
          <p:nvPr/>
        </p:nvPicPr>
        <p:blipFill>
          <a:blip r:embed="rId2"/>
          <a:stretch>
            <a:fillRect/>
          </a:stretch>
        </p:blipFill>
        <p:spPr>
          <a:xfrm>
            <a:off x="2106459" y="4737666"/>
            <a:ext cx="7243729" cy="298341"/>
          </a:xfrm>
          <a:prstGeom prst="rect">
            <a:avLst/>
          </a:prstGeom>
        </p:spPr>
      </p:pic>
    </p:spTree>
    <p:extLst>
      <p:ext uri="{BB962C8B-B14F-4D97-AF65-F5344CB8AC3E}">
        <p14:creationId xmlns:p14="http://schemas.microsoft.com/office/powerpoint/2010/main" val="2313518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5D90-0441-6BB3-6355-3FDD9B2F58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5B40894-B2E3-C884-4A6A-33828A4CE045}"/>
              </a:ext>
            </a:extLst>
          </p:cNvPr>
          <p:cNvPicPr>
            <a:picLocks noChangeAspect="1"/>
          </p:cNvPicPr>
          <p:nvPr/>
        </p:nvPicPr>
        <p:blipFill>
          <a:blip r:embed="rId2"/>
          <a:stretch>
            <a:fillRect/>
          </a:stretch>
        </p:blipFill>
        <p:spPr>
          <a:xfrm>
            <a:off x="6906021" y="22976"/>
            <a:ext cx="4237109" cy="4283756"/>
          </a:xfrm>
          <a:prstGeom prst="rect">
            <a:avLst/>
          </a:prstGeom>
        </p:spPr>
      </p:pic>
      <p:pic>
        <p:nvPicPr>
          <p:cNvPr id="6" name="Picture 5">
            <a:extLst>
              <a:ext uri="{FF2B5EF4-FFF2-40B4-BE49-F238E27FC236}">
                <a16:creationId xmlns:a16="http://schemas.microsoft.com/office/drawing/2014/main" id="{2FB01E79-CA17-D3A8-F107-2D4A6FD60013}"/>
              </a:ext>
            </a:extLst>
          </p:cNvPr>
          <p:cNvPicPr>
            <a:picLocks noChangeAspect="1"/>
          </p:cNvPicPr>
          <p:nvPr/>
        </p:nvPicPr>
        <p:blipFill>
          <a:blip r:embed="rId3"/>
          <a:stretch>
            <a:fillRect/>
          </a:stretch>
        </p:blipFill>
        <p:spPr>
          <a:xfrm>
            <a:off x="2102643" y="4458872"/>
            <a:ext cx="9040487" cy="1943371"/>
          </a:xfrm>
          <a:prstGeom prst="rect">
            <a:avLst/>
          </a:prstGeom>
        </p:spPr>
      </p:pic>
      <p:pic>
        <p:nvPicPr>
          <p:cNvPr id="8" name="Picture 7">
            <a:extLst>
              <a:ext uri="{FF2B5EF4-FFF2-40B4-BE49-F238E27FC236}">
                <a16:creationId xmlns:a16="http://schemas.microsoft.com/office/drawing/2014/main" id="{8F528029-4F74-C4CF-C3BC-9DA9E8686428}"/>
              </a:ext>
            </a:extLst>
          </p:cNvPr>
          <p:cNvPicPr>
            <a:picLocks noChangeAspect="1"/>
          </p:cNvPicPr>
          <p:nvPr/>
        </p:nvPicPr>
        <p:blipFill>
          <a:blip r:embed="rId4"/>
          <a:stretch>
            <a:fillRect/>
          </a:stretch>
        </p:blipFill>
        <p:spPr>
          <a:xfrm>
            <a:off x="2210384" y="4159074"/>
            <a:ext cx="1486107" cy="295316"/>
          </a:xfrm>
          <a:prstGeom prst="rect">
            <a:avLst/>
          </a:prstGeom>
        </p:spPr>
      </p:pic>
    </p:spTree>
    <p:extLst>
      <p:ext uri="{BB962C8B-B14F-4D97-AF65-F5344CB8AC3E}">
        <p14:creationId xmlns:p14="http://schemas.microsoft.com/office/powerpoint/2010/main" val="29574716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7D33E-9C99-DDF1-564C-91D30EF022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517DB6-5599-C55D-A8B7-9026A32ECB10}"/>
              </a:ext>
            </a:extLst>
          </p:cNvPr>
          <p:cNvSpPr txBox="1"/>
          <p:nvPr/>
        </p:nvSpPr>
        <p:spPr>
          <a:xfrm>
            <a:off x="510988" y="403412"/>
            <a:ext cx="11125200" cy="5632311"/>
          </a:xfrm>
          <a:prstGeom prst="rect">
            <a:avLst/>
          </a:prstGeom>
          <a:noFill/>
        </p:spPr>
        <p:txBody>
          <a:bodyPr wrap="square" rtlCol="0">
            <a:spAutoFit/>
          </a:bodyPr>
          <a:lstStyle/>
          <a:p>
            <a:r>
              <a:rPr lang="en-IN" sz="2400" b="1" dirty="0"/>
              <a:t>XSLT STYLE SHEETS</a:t>
            </a:r>
            <a:endParaRPr lang="en-US" sz="2400" b="1" dirty="0"/>
          </a:p>
          <a:p>
            <a:endParaRPr lang="en-US" dirty="0"/>
          </a:p>
          <a:p>
            <a:pPr marL="342900" indent="-342900" algn="just">
              <a:buFont typeface="Arial" panose="020B0604020202020204" pitchFamily="34" charset="0"/>
              <a:buChar char="•"/>
            </a:pPr>
            <a:r>
              <a:rPr lang="en-US" sz="2000" dirty="0"/>
              <a:t>XSL (</a:t>
            </a:r>
            <a:r>
              <a:rPr lang="en-US" sz="2000" dirty="0" err="1"/>
              <a:t>eXtensible</a:t>
            </a:r>
            <a:r>
              <a:rPr lang="en-US" sz="2000" dirty="0"/>
              <a:t> Stylesheet Language) is a styling language for XML.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XSLT stands for XSL Transformations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XPath is a language for navigating in XML documents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XSLT is used to transform an XML document into another XML document, or another type of document that is recognized by a browser, like HTML and XHTML.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the transformation process, XSLT uses XPath to define parts of the source document that should match one or more predefined templates.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When a match is found, XSLT will transform the matching part of the source document into the result document</a:t>
            </a:r>
          </a:p>
          <a:p>
            <a:pPr algn="just"/>
            <a:endParaRPr lang="en-US" sz="2000" dirty="0"/>
          </a:p>
          <a:p>
            <a:endParaRPr lang="en-IN" dirty="0"/>
          </a:p>
        </p:txBody>
      </p:sp>
    </p:spTree>
    <p:extLst>
      <p:ext uri="{BB962C8B-B14F-4D97-AF65-F5344CB8AC3E}">
        <p14:creationId xmlns:p14="http://schemas.microsoft.com/office/powerpoint/2010/main" val="116565580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B16B-CFE9-DEA7-FF74-BBD3DAF049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6A6A4A-77CC-47F2-7E41-CD2765ABE435}"/>
              </a:ext>
            </a:extLst>
          </p:cNvPr>
          <p:cNvSpPr txBox="1"/>
          <p:nvPr/>
        </p:nvSpPr>
        <p:spPr>
          <a:xfrm>
            <a:off x="510988" y="403412"/>
            <a:ext cx="11125200" cy="5632311"/>
          </a:xfrm>
          <a:prstGeom prst="rect">
            <a:avLst/>
          </a:prstGeom>
          <a:noFill/>
        </p:spPr>
        <p:txBody>
          <a:bodyPr wrap="square" rtlCol="0">
            <a:spAutoFit/>
          </a:bodyPr>
          <a:lstStyle/>
          <a:p>
            <a:r>
              <a:rPr lang="en-US" sz="2400" dirty="0"/>
              <a:t>Continued…</a:t>
            </a:r>
          </a:p>
          <a:p>
            <a:endParaRPr lang="en-US" dirty="0"/>
          </a:p>
          <a:p>
            <a:pPr algn="just"/>
            <a:r>
              <a:rPr lang="en-US" sz="2000" dirty="0">
                <a:solidFill>
                  <a:srgbClr val="FF0000"/>
                </a:solidFill>
              </a:rPr>
              <a:t>Templates: </a:t>
            </a:r>
          </a:p>
          <a:p>
            <a:pPr marL="342900" indent="-342900" algn="just">
              <a:buFont typeface="Arial" panose="020B0604020202020204" pitchFamily="34" charset="0"/>
              <a:buChar char="•"/>
            </a:pPr>
            <a:r>
              <a:rPr lang="en-US" sz="2000" dirty="0"/>
              <a:t>An XSL style sheet consists of one or more set of rules that are called templates.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template contains rules to apply when a specified node is matched.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&lt; </a:t>
            </a:r>
            <a:r>
              <a:rPr lang="en-US" sz="2000" dirty="0" err="1"/>
              <a:t>xsl:template</a:t>
            </a:r>
            <a:r>
              <a:rPr lang="en-US" sz="2000" dirty="0"/>
              <a:t> &gt; element is used to build templates.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match</a:t>
            </a:r>
            <a:r>
              <a:rPr lang="en-US" sz="2000" dirty="0"/>
              <a:t> attribute is used to associate a template with an XML element.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match attribute can also be used to define a template for the entire XML document.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value of the match attribute is an XPath expression (i.e. match="/" defines the whole document). </a:t>
            </a:r>
          </a:p>
          <a:p>
            <a:pPr marL="342900" indent="-342900" algn="just">
              <a:buFont typeface="Arial" panose="020B0604020202020204" pitchFamily="34" charset="0"/>
              <a:buChar char="•"/>
            </a:pPr>
            <a:endParaRPr lang="en-US" sz="2000" dirty="0"/>
          </a:p>
          <a:p>
            <a:endParaRPr lang="en-IN" dirty="0"/>
          </a:p>
        </p:txBody>
      </p:sp>
    </p:spTree>
    <p:extLst>
      <p:ext uri="{BB962C8B-B14F-4D97-AF65-F5344CB8AC3E}">
        <p14:creationId xmlns:p14="http://schemas.microsoft.com/office/powerpoint/2010/main" val="309067612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FC19F-AEEA-F8C7-7CA8-BF8AE6840E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FC59C1-36DD-37FF-4FD5-A0A8A2BF9115}"/>
              </a:ext>
            </a:extLst>
          </p:cNvPr>
          <p:cNvSpPr txBox="1"/>
          <p:nvPr/>
        </p:nvSpPr>
        <p:spPr>
          <a:xfrm>
            <a:off x="510988" y="403412"/>
            <a:ext cx="11125200" cy="5632311"/>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The </a:t>
            </a:r>
            <a:r>
              <a:rPr lang="en-US" sz="2000" dirty="0">
                <a:solidFill>
                  <a:srgbClr val="FF0000"/>
                </a:solidFill>
              </a:rPr>
              <a:t>&lt; </a:t>
            </a:r>
            <a:r>
              <a:rPr lang="en-US" sz="2000" dirty="0" err="1">
                <a:solidFill>
                  <a:srgbClr val="FF0000"/>
                </a:solidFill>
              </a:rPr>
              <a:t>xsl:value-of</a:t>
            </a:r>
            <a:r>
              <a:rPr lang="en-US" sz="2000" dirty="0">
                <a:solidFill>
                  <a:srgbClr val="FF0000"/>
                </a:solidFill>
              </a:rPr>
              <a:t> &gt; </a:t>
            </a:r>
            <a:r>
              <a:rPr lang="en-US" sz="2000" dirty="0"/>
              <a:t>element can be used to extract the value of an XML element and add it to the output stream of the transformation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The XSL </a:t>
            </a:r>
            <a:r>
              <a:rPr lang="en-IN" sz="2000" dirty="0">
                <a:solidFill>
                  <a:srgbClr val="FF0000"/>
                </a:solidFill>
              </a:rPr>
              <a:t>&lt; </a:t>
            </a:r>
            <a:r>
              <a:rPr lang="en-IN" sz="2000" dirty="0" err="1">
                <a:solidFill>
                  <a:srgbClr val="FF0000"/>
                </a:solidFill>
              </a:rPr>
              <a:t>xsl:for-each</a:t>
            </a:r>
            <a:r>
              <a:rPr lang="en-IN" sz="2000" dirty="0">
                <a:solidFill>
                  <a:srgbClr val="FF0000"/>
                </a:solidFill>
              </a:rPr>
              <a:t>&gt; </a:t>
            </a:r>
            <a:r>
              <a:rPr lang="en-US" sz="2000" dirty="0"/>
              <a:t>element can be used to select every XML element of a </a:t>
            </a:r>
            <a:r>
              <a:rPr lang="en-IN" sz="2000" dirty="0"/>
              <a:t>specified node-set</a:t>
            </a: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&lt; </a:t>
            </a:r>
            <a:r>
              <a:rPr lang="en-US" sz="2000" dirty="0" err="1">
                <a:solidFill>
                  <a:srgbClr val="FF0000"/>
                </a:solidFill>
              </a:rPr>
              <a:t>xsl:apply-templates</a:t>
            </a:r>
            <a:r>
              <a:rPr lang="en-US" sz="2000" dirty="0">
                <a:solidFill>
                  <a:srgbClr val="FF0000"/>
                </a:solidFill>
              </a:rPr>
              <a:t> &gt; </a:t>
            </a:r>
            <a:r>
              <a:rPr lang="en-US" sz="2000" dirty="0"/>
              <a:t>element applies a template rule to the current element or to the current element's child nodes.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we add a "select" attribute to the &lt; </a:t>
            </a:r>
            <a:r>
              <a:rPr lang="en-US" sz="2000" dirty="0" err="1"/>
              <a:t>xsl:apply-templates</a:t>
            </a:r>
            <a:r>
              <a:rPr lang="en-US" sz="2000" dirty="0"/>
              <a:t> &gt; element, it will process only the child elements that matches the value of the attribute. We can use the "select" attribute to specify in which order the child nodes are to be processed</a:t>
            </a:r>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05721046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3A3BF-7B6B-8D52-9A3F-4FF572C9BD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270A62-3E33-3124-0269-37EFC83BD1F8}"/>
              </a:ext>
            </a:extLst>
          </p:cNvPr>
          <p:cNvSpPr txBox="1"/>
          <p:nvPr/>
        </p:nvSpPr>
        <p:spPr>
          <a:xfrm>
            <a:off x="510988" y="403412"/>
            <a:ext cx="11125200" cy="5940088"/>
          </a:xfrm>
          <a:prstGeom prst="rect">
            <a:avLst/>
          </a:prstGeom>
          <a:noFill/>
        </p:spPr>
        <p:txBody>
          <a:bodyPr wrap="square" rtlCol="0">
            <a:spAutoFit/>
          </a:bodyPr>
          <a:lstStyle/>
          <a:p>
            <a:r>
              <a:rPr lang="en-US" sz="2400" dirty="0"/>
              <a:t>Title</a:t>
            </a:r>
          </a:p>
          <a:p>
            <a:endParaRPr lang="en-US" dirty="0"/>
          </a:p>
          <a:p>
            <a:pPr algn="just"/>
            <a:r>
              <a:rPr lang="en-US" sz="2000" dirty="0"/>
              <a:t>Content</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5808778A-4A71-0A40-88BF-ED5E218535B3}"/>
              </a:ext>
            </a:extLst>
          </p:cNvPr>
          <p:cNvPicPr>
            <a:picLocks noChangeAspect="1"/>
          </p:cNvPicPr>
          <p:nvPr/>
        </p:nvPicPr>
        <p:blipFill>
          <a:blip r:embed="rId2"/>
          <a:stretch>
            <a:fillRect/>
          </a:stretch>
        </p:blipFill>
        <p:spPr>
          <a:xfrm>
            <a:off x="510988" y="271064"/>
            <a:ext cx="5201376" cy="5706271"/>
          </a:xfrm>
          <a:prstGeom prst="rect">
            <a:avLst/>
          </a:prstGeom>
        </p:spPr>
      </p:pic>
    </p:spTree>
    <p:extLst>
      <p:ext uri="{BB962C8B-B14F-4D97-AF65-F5344CB8AC3E}">
        <p14:creationId xmlns:p14="http://schemas.microsoft.com/office/powerpoint/2010/main" val="26151895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99B09-F01A-CAD9-F03C-3E1E580639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06FDF5-8D0C-2EB3-C745-C49827D1C9B9}"/>
              </a:ext>
            </a:extLst>
          </p:cNvPr>
          <p:cNvSpPr txBox="1"/>
          <p:nvPr/>
        </p:nvSpPr>
        <p:spPr>
          <a:xfrm>
            <a:off x="510988" y="403412"/>
            <a:ext cx="11125200" cy="5940088"/>
          </a:xfrm>
          <a:prstGeom prst="rect">
            <a:avLst/>
          </a:prstGeom>
          <a:noFill/>
        </p:spPr>
        <p:txBody>
          <a:bodyPr wrap="square" rtlCol="0">
            <a:spAutoFit/>
          </a:bodyPr>
          <a:lstStyle/>
          <a:p>
            <a:r>
              <a:rPr lang="en-US" sz="2400" dirty="0"/>
              <a:t>Title</a:t>
            </a:r>
          </a:p>
          <a:p>
            <a:endParaRPr lang="en-US" dirty="0"/>
          </a:p>
          <a:p>
            <a:pPr algn="just"/>
            <a:r>
              <a:rPr lang="en-US" sz="2000" dirty="0"/>
              <a:t>Content</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6E02EB66-2256-1356-7221-AFBAFD406B4D}"/>
              </a:ext>
            </a:extLst>
          </p:cNvPr>
          <p:cNvPicPr>
            <a:picLocks noChangeAspect="1"/>
          </p:cNvPicPr>
          <p:nvPr/>
        </p:nvPicPr>
        <p:blipFill>
          <a:blip r:embed="rId2"/>
          <a:stretch>
            <a:fillRect/>
          </a:stretch>
        </p:blipFill>
        <p:spPr>
          <a:xfrm>
            <a:off x="91383" y="1"/>
            <a:ext cx="6222558" cy="5289175"/>
          </a:xfrm>
          <a:prstGeom prst="rect">
            <a:avLst/>
          </a:prstGeom>
        </p:spPr>
      </p:pic>
      <p:pic>
        <p:nvPicPr>
          <p:cNvPr id="6" name="Picture 5">
            <a:extLst>
              <a:ext uri="{FF2B5EF4-FFF2-40B4-BE49-F238E27FC236}">
                <a16:creationId xmlns:a16="http://schemas.microsoft.com/office/drawing/2014/main" id="{26E8033E-BAF2-A637-E874-64D7B4F98949}"/>
              </a:ext>
            </a:extLst>
          </p:cNvPr>
          <p:cNvPicPr>
            <a:picLocks noChangeAspect="1"/>
          </p:cNvPicPr>
          <p:nvPr/>
        </p:nvPicPr>
        <p:blipFill>
          <a:blip r:embed="rId3"/>
          <a:stretch>
            <a:fillRect/>
          </a:stretch>
        </p:blipFill>
        <p:spPr>
          <a:xfrm>
            <a:off x="6091864" y="122807"/>
            <a:ext cx="4468560" cy="5013693"/>
          </a:xfrm>
          <a:prstGeom prst="rect">
            <a:avLst/>
          </a:prstGeom>
        </p:spPr>
      </p:pic>
      <p:pic>
        <p:nvPicPr>
          <p:cNvPr id="8" name="Picture 7">
            <a:extLst>
              <a:ext uri="{FF2B5EF4-FFF2-40B4-BE49-F238E27FC236}">
                <a16:creationId xmlns:a16="http://schemas.microsoft.com/office/drawing/2014/main" id="{56BF7728-4775-C11D-F51D-D7CF49CC34E4}"/>
              </a:ext>
            </a:extLst>
          </p:cNvPr>
          <p:cNvPicPr>
            <a:picLocks noChangeAspect="1"/>
          </p:cNvPicPr>
          <p:nvPr/>
        </p:nvPicPr>
        <p:blipFill>
          <a:blip r:embed="rId4"/>
          <a:stretch>
            <a:fillRect/>
          </a:stretch>
        </p:blipFill>
        <p:spPr>
          <a:xfrm>
            <a:off x="6193105" y="5172279"/>
            <a:ext cx="3990801" cy="1451826"/>
          </a:xfrm>
          <a:prstGeom prst="rect">
            <a:avLst/>
          </a:prstGeom>
        </p:spPr>
      </p:pic>
    </p:spTree>
    <p:extLst>
      <p:ext uri="{BB962C8B-B14F-4D97-AF65-F5344CB8AC3E}">
        <p14:creationId xmlns:p14="http://schemas.microsoft.com/office/powerpoint/2010/main" val="7807866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7DB78-1F10-75C4-BBEA-9ECAD9A7D6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EC511D-4F7C-5BC3-8E37-627738EA338C}"/>
              </a:ext>
            </a:extLst>
          </p:cNvPr>
          <p:cNvSpPr txBox="1"/>
          <p:nvPr/>
        </p:nvSpPr>
        <p:spPr>
          <a:xfrm>
            <a:off x="510988" y="403412"/>
            <a:ext cx="11125200" cy="5663089"/>
          </a:xfrm>
          <a:prstGeom prst="rect">
            <a:avLst/>
          </a:prstGeom>
          <a:noFill/>
        </p:spPr>
        <p:txBody>
          <a:bodyPr wrap="square" rtlCol="0">
            <a:spAutoFit/>
          </a:bodyPr>
          <a:lstStyle/>
          <a:p>
            <a:r>
              <a:rPr lang="en-US" sz="2400" dirty="0"/>
              <a:t>END</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806073950"/>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{A2A46883-E3DF-4302-BD81-488FE4228E07}tf56160789_win32</Template>
  <TotalTime>35058</TotalTime>
  <Words>14221</Words>
  <Application>Microsoft Office PowerPoint</Application>
  <PresentationFormat>Widescreen</PresentationFormat>
  <Paragraphs>1801</Paragraphs>
  <Slides>127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127</vt:i4>
      </vt:variant>
    </vt:vector>
  </HeadingPairs>
  <TitlesOfParts>
    <vt:vector size="139" baseType="lpstr">
      <vt:lpstr>Arial</vt:lpstr>
      <vt:lpstr>Arial Unicode MS</vt:lpstr>
      <vt:lpstr>Book Antiqua</vt:lpstr>
      <vt:lpstr>Bookman Old Style</vt:lpstr>
      <vt:lpstr>Calibri</vt:lpstr>
      <vt:lpstr>Calibri Light</vt:lpstr>
      <vt:lpstr>Century</vt:lpstr>
      <vt:lpstr>Corbel Light</vt:lpstr>
      <vt:lpstr>Courier New</vt:lpstr>
      <vt:lpstr>Franklin Gothic Book</vt:lpstr>
      <vt:lpstr>Microsoft Yi Baiti</vt:lpstr>
      <vt:lpstr>Custom</vt:lpstr>
      <vt:lpstr>UNIT II JavaScript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87</cp:revision>
  <dcterms:created xsi:type="dcterms:W3CDTF">2025-08-22T09:55:30Z</dcterms:created>
  <dcterms:modified xsi:type="dcterms:W3CDTF">2026-04-01T04:20:37Z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