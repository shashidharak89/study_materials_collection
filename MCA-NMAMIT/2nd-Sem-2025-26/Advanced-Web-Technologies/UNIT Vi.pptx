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547" r:id="rId20"/>
    <p:sldId id="288" r:id="rId21"/>
    <p:sldId id="541" r:id="rId22"/>
    <p:sldId id="542" r:id="rId23"/>
    <p:sldId id="543" r:id="rId24"/>
    <p:sldId id="544" r:id="rId25"/>
    <p:sldId id="545" r:id="rId26"/>
    <p:sldId id="548" r:id="rId27"/>
    <p:sldId id="549" r:id="rId28"/>
    <p:sldId id="558" r:id="rId29"/>
    <p:sldId id="559" r:id="rId30"/>
    <p:sldId id="561" r:id="rId31"/>
    <p:sldId id="560" r:id="rId32"/>
    <p:sldId id="562" r:id="rId33"/>
    <p:sldId id="56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 id="286" r:id="rId47"/>
    <p:sldId id="287" r:id="rId48"/>
    <p:sldId id="516" r:id="rId49"/>
    <p:sldId id="517" r:id="rId50"/>
    <p:sldId id="518" r:id="rId51"/>
    <p:sldId id="519" r:id="rId52"/>
    <p:sldId id="520" r:id="rId53"/>
    <p:sldId id="521" r:id="rId54"/>
    <p:sldId id="522" r:id="rId55"/>
    <p:sldId id="523" r:id="rId56"/>
    <p:sldId id="524" r:id="rId57"/>
    <p:sldId id="525" r:id="rId58"/>
    <p:sldId id="526" r:id="rId59"/>
    <p:sldId id="527" r:id="rId60"/>
    <p:sldId id="528" r:id="rId61"/>
    <p:sldId id="529" r:id="rId62"/>
    <p:sldId id="530" r:id="rId63"/>
    <p:sldId id="289" r:id="rId64"/>
    <p:sldId id="290" r:id="rId65"/>
    <p:sldId id="291" r:id="rId66"/>
    <p:sldId id="292" r:id="rId67"/>
    <p:sldId id="293" r:id="rId68"/>
    <p:sldId id="294" r:id="rId69"/>
    <p:sldId id="295" r:id="rId70"/>
    <p:sldId id="296" r:id="rId71"/>
    <p:sldId id="297" r:id="rId72"/>
    <p:sldId id="298" r:id="rId73"/>
    <p:sldId id="299" r:id="rId74"/>
    <p:sldId id="300" r:id="rId75"/>
    <p:sldId id="301" r:id="rId76"/>
    <p:sldId id="302" r:id="rId77"/>
    <p:sldId id="303" r:id="rId78"/>
    <p:sldId id="304" r:id="rId79"/>
    <p:sldId id="305" r:id="rId80"/>
    <p:sldId id="531" r:id="rId81"/>
    <p:sldId id="532" r:id="rId82"/>
    <p:sldId id="533" r:id="rId83"/>
    <p:sldId id="534" r:id="rId84"/>
    <p:sldId id="535" r:id="rId85"/>
    <p:sldId id="557" r:id="rId86"/>
    <p:sldId id="536" r:id="rId87"/>
    <p:sldId id="537" r:id="rId88"/>
    <p:sldId id="538" r:id="rId89"/>
    <p:sldId id="539" r:id="rId90"/>
    <p:sldId id="540" r:id="rId91"/>
    <p:sldId id="550" r:id="rId92"/>
    <p:sldId id="551" r:id="rId93"/>
    <p:sldId id="552" r:id="rId94"/>
    <p:sldId id="553" r:id="rId9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7" d="100"/>
          <a:sy n="87" d="100"/>
        </p:scale>
        <p:origin x="48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B3018-789E-B644-9650-35972D90865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FAAED9F-5A54-E8F4-1068-361EFF336C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359E109-1709-56C2-56AE-16C79D7ADA55}"/>
              </a:ext>
            </a:extLst>
          </p:cNvPr>
          <p:cNvSpPr>
            <a:spLocks noGrp="1"/>
          </p:cNvSpPr>
          <p:nvPr>
            <p:ph type="dt" sz="half" idx="10"/>
          </p:nvPr>
        </p:nvSpPr>
        <p:spPr/>
        <p:txBody>
          <a:bodyPr/>
          <a:lstStyle/>
          <a:p>
            <a:fld id="{37AD1368-F0B6-473D-B9CD-81E9160ACBF2}" type="datetimeFigureOut">
              <a:rPr lang="en-IN" smtClean="0"/>
              <a:t>14-05-2026</a:t>
            </a:fld>
            <a:endParaRPr lang="en-IN"/>
          </a:p>
        </p:txBody>
      </p:sp>
      <p:sp>
        <p:nvSpPr>
          <p:cNvPr id="5" name="Footer Placeholder 4">
            <a:extLst>
              <a:ext uri="{FF2B5EF4-FFF2-40B4-BE49-F238E27FC236}">
                <a16:creationId xmlns:a16="http://schemas.microsoft.com/office/drawing/2014/main" id="{1F78B22E-8FDB-E201-29F5-222A0F3F38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58491C-C397-BDA4-6EF8-941D91FA0DC6}"/>
              </a:ext>
            </a:extLst>
          </p:cNvPr>
          <p:cNvSpPr>
            <a:spLocks noGrp="1"/>
          </p:cNvSpPr>
          <p:nvPr>
            <p:ph type="sldNum" sz="quarter" idx="12"/>
          </p:nvPr>
        </p:nvSpPr>
        <p:spPr/>
        <p:txBody>
          <a:bodyPr/>
          <a:lstStyle/>
          <a:p>
            <a:fld id="{CB92C8E8-AA2B-4B8E-99DF-2F7832E49511}" type="slidenum">
              <a:rPr lang="en-IN" smtClean="0"/>
              <a:t>‹#›</a:t>
            </a:fld>
            <a:endParaRPr lang="en-IN"/>
          </a:p>
        </p:txBody>
      </p:sp>
    </p:spTree>
    <p:extLst>
      <p:ext uri="{BB962C8B-B14F-4D97-AF65-F5344CB8AC3E}">
        <p14:creationId xmlns:p14="http://schemas.microsoft.com/office/powerpoint/2010/main" val="29329221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21ECF-4E54-FEB6-21D3-8B5149F6D4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099B62-A77D-9C64-2F74-10E3421616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AAFC21-A7C5-D592-C5C7-8AA8CE65DE59}"/>
              </a:ext>
            </a:extLst>
          </p:cNvPr>
          <p:cNvSpPr>
            <a:spLocks noGrp="1"/>
          </p:cNvSpPr>
          <p:nvPr>
            <p:ph type="dt" sz="half" idx="10"/>
          </p:nvPr>
        </p:nvSpPr>
        <p:spPr/>
        <p:txBody>
          <a:bodyPr/>
          <a:lstStyle/>
          <a:p>
            <a:fld id="{37AD1368-F0B6-473D-B9CD-81E9160ACBF2}" type="datetimeFigureOut">
              <a:rPr lang="en-IN" smtClean="0"/>
              <a:t>14-05-2026</a:t>
            </a:fld>
            <a:endParaRPr lang="en-IN"/>
          </a:p>
        </p:txBody>
      </p:sp>
      <p:sp>
        <p:nvSpPr>
          <p:cNvPr id="5" name="Footer Placeholder 4">
            <a:extLst>
              <a:ext uri="{FF2B5EF4-FFF2-40B4-BE49-F238E27FC236}">
                <a16:creationId xmlns:a16="http://schemas.microsoft.com/office/drawing/2014/main" id="{0C745A83-90FC-FF60-7E74-C22A1258AC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3CF8F6-454F-EB5D-53E3-31CDF3F7D4CC}"/>
              </a:ext>
            </a:extLst>
          </p:cNvPr>
          <p:cNvSpPr>
            <a:spLocks noGrp="1"/>
          </p:cNvSpPr>
          <p:nvPr>
            <p:ph type="sldNum" sz="quarter" idx="12"/>
          </p:nvPr>
        </p:nvSpPr>
        <p:spPr/>
        <p:txBody>
          <a:bodyPr/>
          <a:lstStyle/>
          <a:p>
            <a:fld id="{CB92C8E8-AA2B-4B8E-99DF-2F7832E49511}" type="slidenum">
              <a:rPr lang="en-IN" smtClean="0"/>
              <a:t>‹#›</a:t>
            </a:fld>
            <a:endParaRPr lang="en-IN"/>
          </a:p>
        </p:txBody>
      </p:sp>
    </p:spTree>
    <p:extLst>
      <p:ext uri="{BB962C8B-B14F-4D97-AF65-F5344CB8AC3E}">
        <p14:creationId xmlns:p14="http://schemas.microsoft.com/office/powerpoint/2010/main" val="3414213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50A6D-F04A-5EC9-EE82-0AAE71A7A6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2DB0D64-526D-1FFA-92F3-66A6B54F399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C548A0-8537-CA6A-2D5F-1EF4C818DC17}"/>
              </a:ext>
            </a:extLst>
          </p:cNvPr>
          <p:cNvSpPr>
            <a:spLocks noGrp="1"/>
          </p:cNvSpPr>
          <p:nvPr>
            <p:ph type="dt" sz="half" idx="10"/>
          </p:nvPr>
        </p:nvSpPr>
        <p:spPr/>
        <p:txBody>
          <a:bodyPr/>
          <a:lstStyle/>
          <a:p>
            <a:fld id="{37AD1368-F0B6-473D-B9CD-81E9160ACBF2}" type="datetimeFigureOut">
              <a:rPr lang="en-IN" smtClean="0"/>
              <a:t>14-05-2026</a:t>
            </a:fld>
            <a:endParaRPr lang="en-IN"/>
          </a:p>
        </p:txBody>
      </p:sp>
      <p:sp>
        <p:nvSpPr>
          <p:cNvPr id="5" name="Footer Placeholder 4">
            <a:extLst>
              <a:ext uri="{FF2B5EF4-FFF2-40B4-BE49-F238E27FC236}">
                <a16:creationId xmlns:a16="http://schemas.microsoft.com/office/drawing/2014/main" id="{18A0288C-45EC-3CE9-E763-41ABC39F492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967B95-17DC-36F8-5CBC-BF9D273643FC}"/>
              </a:ext>
            </a:extLst>
          </p:cNvPr>
          <p:cNvSpPr>
            <a:spLocks noGrp="1"/>
          </p:cNvSpPr>
          <p:nvPr>
            <p:ph type="sldNum" sz="quarter" idx="12"/>
          </p:nvPr>
        </p:nvSpPr>
        <p:spPr/>
        <p:txBody>
          <a:bodyPr/>
          <a:lstStyle/>
          <a:p>
            <a:fld id="{CB92C8E8-AA2B-4B8E-99DF-2F7832E49511}" type="slidenum">
              <a:rPr lang="en-IN" smtClean="0"/>
              <a:t>‹#›</a:t>
            </a:fld>
            <a:endParaRPr lang="en-IN"/>
          </a:p>
        </p:txBody>
      </p:sp>
    </p:spTree>
    <p:extLst>
      <p:ext uri="{BB962C8B-B14F-4D97-AF65-F5344CB8AC3E}">
        <p14:creationId xmlns:p14="http://schemas.microsoft.com/office/powerpoint/2010/main" val="2496216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D0B75-BC21-80C5-9D94-55885D05DE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996709-A08B-6ECB-C793-4168A7EC4CF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064BC33-3706-2007-B271-703A01EF72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78E5C15-0E32-36BB-D9F8-45F5AC30E002}"/>
              </a:ext>
            </a:extLst>
          </p:cNvPr>
          <p:cNvSpPr>
            <a:spLocks noGrp="1"/>
          </p:cNvSpPr>
          <p:nvPr>
            <p:ph type="dt" sz="half" idx="10"/>
          </p:nvPr>
        </p:nvSpPr>
        <p:spPr/>
        <p:txBody>
          <a:bodyPr/>
          <a:lstStyle/>
          <a:p>
            <a:fld id="{37AD1368-F0B6-473D-B9CD-81E9160ACBF2}" type="datetimeFigureOut">
              <a:rPr lang="en-IN" smtClean="0"/>
              <a:t>14-05-2026</a:t>
            </a:fld>
            <a:endParaRPr lang="en-IN"/>
          </a:p>
        </p:txBody>
      </p:sp>
      <p:sp>
        <p:nvSpPr>
          <p:cNvPr id="6" name="Footer Placeholder 5">
            <a:extLst>
              <a:ext uri="{FF2B5EF4-FFF2-40B4-BE49-F238E27FC236}">
                <a16:creationId xmlns:a16="http://schemas.microsoft.com/office/drawing/2014/main" id="{5C05D5E4-3C05-1057-0154-09B2FEB0F3D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DE6D66-B0F4-4644-3FB3-3609712DAEFE}"/>
              </a:ext>
            </a:extLst>
          </p:cNvPr>
          <p:cNvSpPr>
            <a:spLocks noGrp="1"/>
          </p:cNvSpPr>
          <p:nvPr>
            <p:ph type="sldNum" sz="quarter" idx="12"/>
          </p:nvPr>
        </p:nvSpPr>
        <p:spPr/>
        <p:txBody>
          <a:bodyPr/>
          <a:lstStyle/>
          <a:p>
            <a:fld id="{CB92C8E8-AA2B-4B8E-99DF-2F7832E49511}" type="slidenum">
              <a:rPr lang="en-IN" smtClean="0"/>
              <a:t>‹#›</a:t>
            </a:fld>
            <a:endParaRPr lang="en-IN"/>
          </a:p>
        </p:txBody>
      </p:sp>
    </p:spTree>
    <p:extLst>
      <p:ext uri="{BB962C8B-B14F-4D97-AF65-F5344CB8AC3E}">
        <p14:creationId xmlns:p14="http://schemas.microsoft.com/office/powerpoint/2010/main" val="1215981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03D52-9E03-47B4-455C-CBF9BC34078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4DEFA2-2FDE-FEF5-7317-61CF3367C0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1E0C7E-3907-77CE-E487-E1C973BCCB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4A8C00A-85FD-D85E-4A4D-C466155690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91419C-FB72-9118-6134-BDB471E584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65D1B14-B7BD-F0F1-3C9F-DA0C53FC2979}"/>
              </a:ext>
            </a:extLst>
          </p:cNvPr>
          <p:cNvSpPr>
            <a:spLocks noGrp="1"/>
          </p:cNvSpPr>
          <p:nvPr>
            <p:ph type="dt" sz="half" idx="10"/>
          </p:nvPr>
        </p:nvSpPr>
        <p:spPr/>
        <p:txBody>
          <a:bodyPr/>
          <a:lstStyle/>
          <a:p>
            <a:fld id="{37AD1368-F0B6-473D-B9CD-81E9160ACBF2}" type="datetimeFigureOut">
              <a:rPr lang="en-IN" smtClean="0"/>
              <a:t>14-05-2026</a:t>
            </a:fld>
            <a:endParaRPr lang="en-IN"/>
          </a:p>
        </p:txBody>
      </p:sp>
      <p:sp>
        <p:nvSpPr>
          <p:cNvPr id="8" name="Footer Placeholder 7">
            <a:extLst>
              <a:ext uri="{FF2B5EF4-FFF2-40B4-BE49-F238E27FC236}">
                <a16:creationId xmlns:a16="http://schemas.microsoft.com/office/drawing/2014/main" id="{E9381F3E-37E7-1189-9897-5D5390CBAB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17E8C28-7B9B-FB6C-9F0C-7F61FA925CF2}"/>
              </a:ext>
            </a:extLst>
          </p:cNvPr>
          <p:cNvSpPr>
            <a:spLocks noGrp="1"/>
          </p:cNvSpPr>
          <p:nvPr>
            <p:ph type="sldNum" sz="quarter" idx="12"/>
          </p:nvPr>
        </p:nvSpPr>
        <p:spPr/>
        <p:txBody>
          <a:bodyPr/>
          <a:lstStyle/>
          <a:p>
            <a:fld id="{CB92C8E8-AA2B-4B8E-99DF-2F7832E49511}" type="slidenum">
              <a:rPr lang="en-IN" smtClean="0"/>
              <a:t>‹#›</a:t>
            </a:fld>
            <a:endParaRPr lang="en-IN"/>
          </a:p>
        </p:txBody>
      </p:sp>
    </p:spTree>
    <p:extLst>
      <p:ext uri="{BB962C8B-B14F-4D97-AF65-F5344CB8AC3E}">
        <p14:creationId xmlns:p14="http://schemas.microsoft.com/office/powerpoint/2010/main" val="822687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9E2A0-765B-9F13-B62D-535709206E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54BDC96-B2D1-2A2E-094D-9CEA86F58D9C}"/>
              </a:ext>
            </a:extLst>
          </p:cNvPr>
          <p:cNvSpPr>
            <a:spLocks noGrp="1"/>
          </p:cNvSpPr>
          <p:nvPr>
            <p:ph type="dt" sz="half" idx="10"/>
          </p:nvPr>
        </p:nvSpPr>
        <p:spPr/>
        <p:txBody>
          <a:bodyPr/>
          <a:lstStyle/>
          <a:p>
            <a:fld id="{37AD1368-F0B6-473D-B9CD-81E9160ACBF2}" type="datetimeFigureOut">
              <a:rPr lang="en-IN" smtClean="0"/>
              <a:t>14-05-2026</a:t>
            </a:fld>
            <a:endParaRPr lang="en-IN"/>
          </a:p>
        </p:txBody>
      </p:sp>
      <p:sp>
        <p:nvSpPr>
          <p:cNvPr id="4" name="Footer Placeholder 3">
            <a:extLst>
              <a:ext uri="{FF2B5EF4-FFF2-40B4-BE49-F238E27FC236}">
                <a16:creationId xmlns:a16="http://schemas.microsoft.com/office/drawing/2014/main" id="{490BC93F-5777-7567-4DD4-D93F1142E26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5136BAB-E1F7-45E8-9653-DD2E9F7651B0}"/>
              </a:ext>
            </a:extLst>
          </p:cNvPr>
          <p:cNvSpPr>
            <a:spLocks noGrp="1"/>
          </p:cNvSpPr>
          <p:nvPr>
            <p:ph type="sldNum" sz="quarter" idx="12"/>
          </p:nvPr>
        </p:nvSpPr>
        <p:spPr/>
        <p:txBody>
          <a:bodyPr/>
          <a:lstStyle/>
          <a:p>
            <a:fld id="{CB92C8E8-AA2B-4B8E-99DF-2F7832E49511}" type="slidenum">
              <a:rPr lang="en-IN" smtClean="0"/>
              <a:t>‹#›</a:t>
            </a:fld>
            <a:endParaRPr lang="en-IN"/>
          </a:p>
        </p:txBody>
      </p:sp>
    </p:spTree>
    <p:extLst>
      <p:ext uri="{BB962C8B-B14F-4D97-AF65-F5344CB8AC3E}">
        <p14:creationId xmlns:p14="http://schemas.microsoft.com/office/powerpoint/2010/main" val="663890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10D446-2BC1-432F-C33A-6E153DB24AD4}"/>
              </a:ext>
            </a:extLst>
          </p:cNvPr>
          <p:cNvSpPr>
            <a:spLocks noGrp="1"/>
          </p:cNvSpPr>
          <p:nvPr>
            <p:ph type="dt" sz="half" idx="10"/>
          </p:nvPr>
        </p:nvSpPr>
        <p:spPr/>
        <p:txBody>
          <a:bodyPr/>
          <a:lstStyle/>
          <a:p>
            <a:fld id="{37AD1368-F0B6-473D-B9CD-81E9160ACBF2}" type="datetimeFigureOut">
              <a:rPr lang="en-IN" smtClean="0"/>
              <a:t>14-05-2026</a:t>
            </a:fld>
            <a:endParaRPr lang="en-IN"/>
          </a:p>
        </p:txBody>
      </p:sp>
      <p:sp>
        <p:nvSpPr>
          <p:cNvPr id="3" name="Footer Placeholder 2">
            <a:extLst>
              <a:ext uri="{FF2B5EF4-FFF2-40B4-BE49-F238E27FC236}">
                <a16:creationId xmlns:a16="http://schemas.microsoft.com/office/drawing/2014/main" id="{BB0A0635-E9EC-37FF-D656-F16DA63C44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1BC628B-3A16-4326-815E-8A02E2EC6E70}"/>
              </a:ext>
            </a:extLst>
          </p:cNvPr>
          <p:cNvSpPr>
            <a:spLocks noGrp="1"/>
          </p:cNvSpPr>
          <p:nvPr>
            <p:ph type="sldNum" sz="quarter" idx="12"/>
          </p:nvPr>
        </p:nvSpPr>
        <p:spPr/>
        <p:txBody>
          <a:bodyPr/>
          <a:lstStyle/>
          <a:p>
            <a:fld id="{CB92C8E8-AA2B-4B8E-99DF-2F7832E49511}" type="slidenum">
              <a:rPr lang="en-IN" smtClean="0"/>
              <a:t>‹#›</a:t>
            </a:fld>
            <a:endParaRPr lang="en-IN"/>
          </a:p>
        </p:txBody>
      </p:sp>
    </p:spTree>
    <p:extLst>
      <p:ext uri="{BB962C8B-B14F-4D97-AF65-F5344CB8AC3E}">
        <p14:creationId xmlns:p14="http://schemas.microsoft.com/office/powerpoint/2010/main" val="3061983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0F4C1-4876-5B98-7D59-9941D2C7E4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36FBBD6-1AD9-E0F2-7DCC-45A81843DA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6C9988A-C675-5B69-F2AC-1C76D3FCCC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D787C2-C7E4-9E42-193A-01C38E8549F9}"/>
              </a:ext>
            </a:extLst>
          </p:cNvPr>
          <p:cNvSpPr>
            <a:spLocks noGrp="1"/>
          </p:cNvSpPr>
          <p:nvPr>
            <p:ph type="dt" sz="half" idx="10"/>
          </p:nvPr>
        </p:nvSpPr>
        <p:spPr/>
        <p:txBody>
          <a:bodyPr/>
          <a:lstStyle/>
          <a:p>
            <a:fld id="{37AD1368-F0B6-473D-B9CD-81E9160ACBF2}" type="datetimeFigureOut">
              <a:rPr lang="en-IN" smtClean="0"/>
              <a:t>14-05-2026</a:t>
            </a:fld>
            <a:endParaRPr lang="en-IN"/>
          </a:p>
        </p:txBody>
      </p:sp>
      <p:sp>
        <p:nvSpPr>
          <p:cNvPr id="6" name="Footer Placeholder 5">
            <a:extLst>
              <a:ext uri="{FF2B5EF4-FFF2-40B4-BE49-F238E27FC236}">
                <a16:creationId xmlns:a16="http://schemas.microsoft.com/office/drawing/2014/main" id="{7D5132A8-20AC-45D4-1F3F-D2B040237B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DF539F-17F9-12A4-A180-44502768ABFE}"/>
              </a:ext>
            </a:extLst>
          </p:cNvPr>
          <p:cNvSpPr>
            <a:spLocks noGrp="1"/>
          </p:cNvSpPr>
          <p:nvPr>
            <p:ph type="sldNum" sz="quarter" idx="12"/>
          </p:nvPr>
        </p:nvSpPr>
        <p:spPr/>
        <p:txBody>
          <a:bodyPr/>
          <a:lstStyle/>
          <a:p>
            <a:fld id="{CB92C8E8-AA2B-4B8E-99DF-2F7832E49511}" type="slidenum">
              <a:rPr lang="en-IN" smtClean="0"/>
              <a:t>‹#›</a:t>
            </a:fld>
            <a:endParaRPr lang="en-IN"/>
          </a:p>
        </p:txBody>
      </p:sp>
    </p:spTree>
    <p:extLst>
      <p:ext uri="{BB962C8B-B14F-4D97-AF65-F5344CB8AC3E}">
        <p14:creationId xmlns:p14="http://schemas.microsoft.com/office/powerpoint/2010/main" val="4194942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775AD-E0AB-7381-4D96-9B820CD994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7EB36A-819A-6839-2289-0F6B8BA157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AF075B2-5189-AAB0-2E71-0FA1499E16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EFB7EE-69DA-501E-04FA-75EDCF42DE51}"/>
              </a:ext>
            </a:extLst>
          </p:cNvPr>
          <p:cNvSpPr>
            <a:spLocks noGrp="1"/>
          </p:cNvSpPr>
          <p:nvPr>
            <p:ph type="dt" sz="half" idx="10"/>
          </p:nvPr>
        </p:nvSpPr>
        <p:spPr/>
        <p:txBody>
          <a:bodyPr/>
          <a:lstStyle/>
          <a:p>
            <a:fld id="{37AD1368-F0B6-473D-B9CD-81E9160ACBF2}" type="datetimeFigureOut">
              <a:rPr lang="en-IN" smtClean="0"/>
              <a:t>14-05-2026</a:t>
            </a:fld>
            <a:endParaRPr lang="en-IN"/>
          </a:p>
        </p:txBody>
      </p:sp>
      <p:sp>
        <p:nvSpPr>
          <p:cNvPr id="6" name="Footer Placeholder 5">
            <a:extLst>
              <a:ext uri="{FF2B5EF4-FFF2-40B4-BE49-F238E27FC236}">
                <a16:creationId xmlns:a16="http://schemas.microsoft.com/office/drawing/2014/main" id="{4367C8C5-D65E-3DD4-AB63-7F04E86B29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F28EB3-8C42-DB2E-5CD6-ACA31319C732}"/>
              </a:ext>
            </a:extLst>
          </p:cNvPr>
          <p:cNvSpPr>
            <a:spLocks noGrp="1"/>
          </p:cNvSpPr>
          <p:nvPr>
            <p:ph type="sldNum" sz="quarter" idx="12"/>
          </p:nvPr>
        </p:nvSpPr>
        <p:spPr/>
        <p:txBody>
          <a:bodyPr/>
          <a:lstStyle/>
          <a:p>
            <a:fld id="{CB92C8E8-AA2B-4B8E-99DF-2F7832E49511}" type="slidenum">
              <a:rPr lang="en-IN" smtClean="0"/>
              <a:t>‹#›</a:t>
            </a:fld>
            <a:endParaRPr lang="en-IN"/>
          </a:p>
        </p:txBody>
      </p:sp>
    </p:spTree>
    <p:extLst>
      <p:ext uri="{BB962C8B-B14F-4D97-AF65-F5344CB8AC3E}">
        <p14:creationId xmlns:p14="http://schemas.microsoft.com/office/powerpoint/2010/main" val="2331888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8CFF2-0147-7F15-2AA0-FF0934B07DA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DA6B19-4301-D0FB-699B-DF1AC99F1B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0CBFA8-65AD-8546-300C-7C55A5BD7635}"/>
              </a:ext>
            </a:extLst>
          </p:cNvPr>
          <p:cNvSpPr>
            <a:spLocks noGrp="1"/>
          </p:cNvSpPr>
          <p:nvPr>
            <p:ph type="dt" sz="half" idx="10"/>
          </p:nvPr>
        </p:nvSpPr>
        <p:spPr/>
        <p:txBody>
          <a:bodyPr/>
          <a:lstStyle/>
          <a:p>
            <a:fld id="{37AD1368-F0B6-473D-B9CD-81E9160ACBF2}" type="datetimeFigureOut">
              <a:rPr lang="en-IN" smtClean="0"/>
              <a:t>14-05-2026</a:t>
            </a:fld>
            <a:endParaRPr lang="en-IN"/>
          </a:p>
        </p:txBody>
      </p:sp>
      <p:sp>
        <p:nvSpPr>
          <p:cNvPr id="5" name="Footer Placeholder 4">
            <a:extLst>
              <a:ext uri="{FF2B5EF4-FFF2-40B4-BE49-F238E27FC236}">
                <a16:creationId xmlns:a16="http://schemas.microsoft.com/office/drawing/2014/main" id="{76358AC1-A73B-7178-3213-25B0E250188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47A491-ED5C-F9AC-B0F2-6EBD04F05A00}"/>
              </a:ext>
            </a:extLst>
          </p:cNvPr>
          <p:cNvSpPr>
            <a:spLocks noGrp="1"/>
          </p:cNvSpPr>
          <p:nvPr>
            <p:ph type="sldNum" sz="quarter" idx="12"/>
          </p:nvPr>
        </p:nvSpPr>
        <p:spPr/>
        <p:txBody>
          <a:bodyPr/>
          <a:lstStyle/>
          <a:p>
            <a:fld id="{CB92C8E8-AA2B-4B8E-99DF-2F7832E49511}" type="slidenum">
              <a:rPr lang="en-IN" smtClean="0"/>
              <a:t>‹#›</a:t>
            </a:fld>
            <a:endParaRPr lang="en-IN"/>
          </a:p>
        </p:txBody>
      </p:sp>
    </p:spTree>
    <p:extLst>
      <p:ext uri="{BB962C8B-B14F-4D97-AF65-F5344CB8AC3E}">
        <p14:creationId xmlns:p14="http://schemas.microsoft.com/office/powerpoint/2010/main" val="1206739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3C4B2A-EBE0-94AA-9A73-C2184EF61AC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A0A5C8-6CFD-3397-564D-6C0DCF3E12D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5EC31E-177F-6C73-5E47-8E3C9CA796DE}"/>
              </a:ext>
            </a:extLst>
          </p:cNvPr>
          <p:cNvSpPr>
            <a:spLocks noGrp="1"/>
          </p:cNvSpPr>
          <p:nvPr>
            <p:ph type="dt" sz="half" idx="10"/>
          </p:nvPr>
        </p:nvSpPr>
        <p:spPr/>
        <p:txBody>
          <a:bodyPr/>
          <a:lstStyle/>
          <a:p>
            <a:fld id="{37AD1368-F0B6-473D-B9CD-81E9160ACBF2}" type="datetimeFigureOut">
              <a:rPr lang="en-IN" smtClean="0"/>
              <a:t>14-05-2026</a:t>
            </a:fld>
            <a:endParaRPr lang="en-IN"/>
          </a:p>
        </p:txBody>
      </p:sp>
      <p:sp>
        <p:nvSpPr>
          <p:cNvPr id="5" name="Footer Placeholder 4">
            <a:extLst>
              <a:ext uri="{FF2B5EF4-FFF2-40B4-BE49-F238E27FC236}">
                <a16:creationId xmlns:a16="http://schemas.microsoft.com/office/drawing/2014/main" id="{B8358ABC-D560-DFAC-4DC0-A1E9EC8348A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733287-8B90-5D7C-3AB1-92E3C6E7AEB1}"/>
              </a:ext>
            </a:extLst>
          </p:cNvPr>
          <p:cNvSpPr>
            <a:spLocks noGrp="1"/>
          </p:cNvSpPr>
          <p:nvPr>
            <p:ph type="sldNum" sz="quarter" idx="12"/>
          </p:nvPr>
        </p:nvSpPr>
        <p:spPr/>
        <p:txBody>
          <a:bodyPr/>
          <a:lstStyle/>
          <a:p>
            <a:fld id="{CB92C8E8-AA2B-4B8E-99DF-2F7832E49511}" type="slidenum">
              <a:rPr lang="en-IN" smtClean="0"/>
              <a:t>‹#›</a:t>
            </a:fld>
            <a:endParaRPr lang="en-IN"/>
          </a:p>
        </p:txBody>
      </p:sp>
    </p:spTree>
    <p:extLst>
      <p:ext uri="{BB962C8B-B14F-4D97-AF65-F5344CB8AC3E}">
        <p14:creationId xmlns:p14="http://schemas.microsoft.com/office/powerpoint/2010/main" val="3355213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7EDA2D-BA25-E437-52D9-8A5FCD7FE0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D05C178-6BA0-2D51-92B9-30FDB15DE5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A9CD15-4ABD-0954-0875-C2754BA4BB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AD1368-F0B6-473D-B9CD-81E9160ACBF2}" type="datetimeFigureOut">
              <a:rPr lang="en-IN" smtClean="0"/>
              <a:t>14-05-2026</a:t>
            </a:fld>
            <a:endParaRPr lang="en-IN"/>
          </a:p>
        </p:txBody>
      </p:sp>
      <p:sp>
        <p:nvSpPr>
          <p:cNvPr id="5" name="Footer Placeholder 4">
            <a:extLst>
              <a:ext uri="{FF2B5EF4-FFF2-40B4-BE49-F238E27FC236}">
                <a16:creationId xmlns:a16="http://schemas.microsoft.com/office/drawing/2014/main" id="{0362A159-619E-0478-000C-ADA5436695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9A1422C-4780-17F6-94BD-57573EBFBC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92C8E8-AA2B-4B8E-99DF-2F7832E49511}" type="slidenum">
              <a:rPr lang="en-IN" smtClean="0"/>
              <a:t>‹#›</a:t>
            </a:fld>
            <a:endParaRPr lang="en-IN"/>
          </a:p>
        </p:txBody>
      </p:sp>
    </p:spTree>
    <p:extLst>
      <p:ext uri="{BB962C8B-B14F-4D97-AF65-F5344CB8AC3E}">
        <p14:creationId xmlns:p14="http://schemas.microsoft.com/office/powerpoint/2010/main" val="1798124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208FB-E6FB-BF57-6EB2-E04510449663}"/>
              </a:ext>
            </a:extLst>
          </p:cNvPr>
          <p:cNvSpPr>
            <a:spLocks noGrp="1"/>
          </p:cNvSpPr>
          <p:nvPr>
            <p:ph type="ctrTitle"/>
          </p:nvPr>
        </p:nvSpPr>
        <p:spPr/>
        <p:txBody>
          <a:bodyPr>
            <a:normAutofit fontScale="90000"/>
          </a:bodyPr>
          <a:lstStyle/>
          <a:p>
            <a:r>
              <a:rPr lang="en-US" b="1" dirty="0"/>
              <a:t>Web 2.0 and Building Rich Internet Applications with AJAX</a:t>
            </a:r>
            <a:endParaRPr lang="en-IN" dirty="0"/>
          </a:p>
        </p:txBody>
      </p:sp>
      <p:sp>
        <p:nvSpPr>
          <p:cNvPr id="3" name="Subtitle 2">
            <a:extLst>
              <a:ext uri="{FF2B5EF4-FFF2-40B4-BE49-F238E27FC236}">
                <a16:creationId xmlns:a16="http://schemas.microsoft.com/office/drawing/2014/main" id="{D8756610-0866-4DAA-831A-CC17C76B5368}"/>
              </a:ext>
            </a:extLst>
          </p:cNvPr>
          <p:cNvSpPr>
            <a:spLocks noGrp="1"/>
          </p:cNvSpPr>
          <p:nvPr>
            <p:ph type="subTitle" idx="1"/>
          </p:nvPr>
        </p:nvSpPr>
        <p:spPr/>
        <p:txBody>
          <a:bodyPr/>
          <a:lstStyle/>
          <a:p>
            <a:r>
              <a:rPr lang="en-US" dirty="0"/>
              <a:t>Dr. Roshan D Suvaris</a:t>
            </a:r>
            <a:endParaRPr lang="en-IN" dirty="0"/>
          </a:p>
        </p:txBody>
      </p:sp>
    </p:spTree>
    <p:extLst>
      <p:ext uri="{BB962C8B-B14F-4D97-AF65-F5344CB8AC3E}">
        <p14:creationId xmlns:p14="http://schemas.microsoft.com/office/powerpoint/2010/main" val="3651565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7C6BE1-F138-91FF-D519-F24A34841BC9}"/>
              </a:ext>
            </a:extLst>
          </p:cNvPr>
          <p:cNvSpPr>
            <a:spLocks noGrp="1"/>
          </p:cNvSpPr>
          <p:nvPr>
            <p:ph idx="1"/>
          </p:nvPr>
        </p:nvSpPr>
        <p:spPr>
          <a:xfrm>
            <a:off x="838200" y="316523"/>
            <a:ext cx="10515600" cy="6224954"/>
          </a:xfrm>
        </p:spPr>
        <p:txBody>
          <a:bodyPr>
            <a:normAutofit fontScale="70000" lnSpcReduction="20000"/>
          </a:bodyPr>
          <a:lstStyle/>
          <a:p>
            <a:pPr algn="just"/>
            <a:r>
              <a:rPr lang="en-US" dirty="0"/>
              <a:t>The Web evolved significantly with the introduction of technologies that allowed dynamic updates without reloading entire pages. </a:t>
            </a:r>
          </a:p>
          <a:p>
            <a:pPr algn="just"/>
            <a:endParaRPr lang="en-US" dirty="0"/>
          </a:p>
          <a:p>
            <a:pPr algn="just"/>
            <a:r>
              <a:rPr lang="en-US" dirty="0"/>
              <a:t>This shift replaced the traditional model of full page reloads with partial data updates, improving speed and user experience. </a:t>
            </a:r>
          </a:p>
          <a:p>
            <a:pPr algn="just"/>
            <a:endParaRPr lang="en-US" dirty="0"/>
          </a:p>
          <a:p>
            <a:pPr algn="just"/>
            <a:r>
              <a:rPr lang="en-US" dirty="0"/>
              <a:t>Companies began experimenting with these techniques to create more responsive and interactive web applications. </a:t>
            </a:r>
          </a:p>
          <a:p>
            <a:pPr algn="just"/>
            <a:endParaRPr lang="en-US" dirty="0"/>
          </a:p>
          <a:p>
            <a:pPr algn="just"/>
            <a:r>
              <a:rPr lang="en-US" dirty="0"/>
              <a:t>Google played a key role in this transformation through initiatives like Google Labs. </a:t>
            </a:r>
          </a:p>
          <a:p>
            <a:pPr algn="just"/>
            <a:endParaRPr lang="en-US" dirty="0"/>
          </a:p>
          <a:p>
            <a:pPr algn="just"/>
            <a:r>
              <a:rPr lang="en-US" dirty="0"/>
              <a:t>Applications such as </a:t>
            </a:r>
            <a:r>
              <a:rPr lang="en-US" dirty="0">
                <a:solidFill>
                  <a:srgbClr val="FF0000"/>
                </a:solidFill>
              </a:rPr>
              <a:t>Google Suggest </a:t>
            </a:r>
            <a:r>
              <a:rPr lang="en-US" dirty="0"/>
              <a:t>and </a:t>
            </a:r>
            <a:r>
              <a:rPr lang="en-US" dirty="0">
                <a:solidFill>
                  <a:srgbClr val="FF0000"/>
                </a:solidFill>
              </a:rPr>
              <a:t>Google Maps </a:t>
            </a:r>
            <a:r>
              <a:rPr lang="en-US" dirty="0"/>
              <a:t>demonstrated how a single webpage could be continuously updated. </a:t>
            </a:r>
          </a:p>
          <a:p>
            <a:pPr algn="just"/>
            <a:endParaRPr lang="en-US" dirty="0"/>
          </a:p>
          <a:p>
            <a:pPr algn="just"/>
            <a:r>
              <a:rPr lang="en-US" dirty="0"/>
              <a:t>These innovations marked the beginning of a new era in web development, bringing browser applications closer to desktop-like experiences.</a:t>
            </a:r>
          </a:p>
          <a:p>
            <a:pPr algn="just"/>
            <a:endParaRPr lang="en-US" dirty="0"/>
          </a:p>
          <a:p>
            <a:pPr algn="just"/>
            <a:r>
              <a:rPr lang="en-US" dirty="0"/>
              <a:t>Numerous open source and commercial products began development to take advantage of this new web application model. These projects explained their technology using a variety of terms such as JavaScript remoting, web remote procedure calls, and dynamic updating.</a:t>
            </a:r>
            <a:endParaRPr lang="en-IN" dirty="0"/>
          </a:p>
        </p:txBody>
      </p:sp>
    </p:spTree>
    <p:extLst>
      <p:ext uri="{BB962C8B-B14F-4D97-AF65-F5344CB8AC3E}">
        <p14:creationId xmlns:p14="http://schemas.microsoft.com/office/powerpoint/2010/main" val="2317013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2F5A5-FAA4-EAF3-F520-3D2CDB7DC20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C842C8-C75A-4F63-6549-8CD93A899BCD}"/>
              </a:ext>
            </a:extLst>
          </p:cNvPr>
          <p:cNvSpPr>
            <a:spLocks noGrp="1"/>
          </p:cNvSpPr>
          <p:nvPr>
            <p:ph idx="1"/>
          </p:nvPr>
        </p:nvSpPr>
        <p:spPr>
          <a:xfrm>
            <a:off x="838200" y="316523"/>
            <a:ext cx="10515600" cy="6224954"/>
          </a:xfrm>
        </p:spPr>
        <p:txBody>
          <a:bodyPr>
            <a:normAutofit fontScale="85000" lnSpcReduction="20000"/>
          </a:bodyPr>
          <a:lstStyle/>
          <a:p>
            <a:r>
              <a:rPr lang="en-US" sz="3800" b="1" dirty="0"/>
              <a:t>Ajax is Born</a:t>
            </a:r>
          </a:p>
          <a:p>
            <a:pPr algn="just"/>
            <a:r>
              <a:rPr lang="en-US" dirty="0"/>
              <a:t>AJAX was introduced in February 2005 by Jesse James Garrett in his article </a:t>
            </a:r>
            <a:r>
              <a:rPr lang="en-US" i="1" dirty="0"/>
              <a:t>“Ajax: A New Approach to Web Applications.”</a:t>
            </a:r>
            <a:r>
              <a:rPr lang="en-US" dirty="0"/>
              <a:t> </a:t>
            </a:r>
          </a:p>
          <a:p>
            <a:pPr algn="just"/>
            <a:endParaRPr lang="en-US" dirty="0"/>
          </a:p>
          <a:p>
            <a:pPr algn="just"/>
            <a:r>
              <a:rPr lang="en-US" dirty="0"/>
              <a:t>He explained that web applications were evolving to provide experiences similar to traditional desktop applications. </a:t>
            </a:r>
          </a:p>
          <a:p>
            <a:pPr algn="just"/>
            <a:endParaRPr lang="en-US" dirty="0"/>
          </a:p>
          <a:p>
            <a:pPr algn="just"/>
            <a:r>
              <a:rPr lang="en-US" dirty="0"/>
              <a:t>Technologies used in projects like Google Suggest and Google Maps demonstrated this shift. </a:t>
            </a:r>
          </a:p>
          <a:p>
            <a:pPr algn="just"/>
            <a:endParaRPr lang="en-US" dirty="0"/>
          </a:p>
          <a:p>
            <a:pPr algn="just"/>
            <a:r>
              <a:rPr lang="en-US" dirty="0"/>
              <a:t>Garrett coined the term </a:t>
            </a:r>
            <a:r>
              <a:rPr lang="en-US" b="1" dirty="0"/>
              <a:t>AJAX (Asynchronous JavaScript + XML)</a:t>
            </a:r>
            <a:r>
              <a:rPr lang="en-US" dirty="0"/>
              <a:t> to describe this new approach. </a:t>
            </a:r>
          </a:p>
          <a:p>
            <a:pPr algn="just"/>
            <a:endParaRPr lang="en-US" dirty="0"/>
          </a:p>
          <a:p>
            <a:pPr algn="just"/>
            <a:r>
              <a:rPr lang="en-US" dirty="0"/>
              <a:t>It enabled web pages to update data asynchronously without reloading the entire page. </a:t>
            </a:r>
          </a:p>
          <a:p>
            <a:pPr algn="just"/>
            <a:endParaRPr lang="en-US" dirty="0"/>
          </a:p>
          <a:p>
            <a:pPr algn="just"/>
            <a:r>
              <a:rPr lang="en-US" dirty="0"/>
              <a:t>After this, AJAX gained massive attention, leading to widespread discussion, adoption, and further development in web technologies.</a:t>
            </a:r>
            <a:endParaRPr lang="en-IN" dirty="0"/>
          </a:p>
        </p:txBody>
      </p:sp>
    </p:spTree>
    <p:extLst>
      <p:ext uri="{BB962C8B-B14F-4D97-AF65-F5344CB8AC3E}">
        <p14:creationId xmlns:p14="http://schemas.microsoft.com/office/powerpoint/2010/main" val="431745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B20C4-76A3-A5C3-93E0-915AC5EA96D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FDA4CE-6B1F-BE48-8DD3-50CCBC907734}"/>
              </a:ext>
            </a:extLst>
          </p:cNvPr>
          <p:cNvSpPr>
            <a:spLocks noGrp="1"/>
          </p:cNvSpPr>
          <p:nvPr>
            <p:ph idx="1"/>
          </p:nvPr>
        </p:nvSpPr>
        <p:spPr>
          <a:xfrm>
            <a:off x="838200" y="316523"/>
            <a:ext cx="10515600" cy="6224954"/>
          </a:xfrm>
        </p:spPr>
        <p:txBody>
          <a:bodyPr>
            <a:normAutofit fontScale="92500"/>
          </a:bodyPr>
          <a:lstStyle/>
          <a:p>
            <a:pPr algn="just"/>
            <a:r>
              <a:rPr lang="en-US" dirty="0"/>
              <a:t>The World Wide Web was first proposed by Tim Berners-Lee in 1990 to create a network of interconnected information using hypertext and URIs. </a:t>
            </a:r>
          </a:p>
          <a:p>
            <a:pPr algn="just"/>
            <a:endParaRPr lang="en-US" dirty="0"/>
          </a:p>
          <a:p>
            <a:pPr algn="just"/>
            <a:r>
              <a:rPr lang="en-US" dirty="0"/>
              <a:t>Early web pages were simple and static, mainly designed for sharing text and basic information. </a:t>
            </a:r>
          </a:p>
          <a:p>
            <a:pPr algn="just"/>
            <a:endParaRPr lang="en-US" dirty="0"/>
          </a:p>
          <a:p>
            <a:pPr algn="just"/>
            <a:r>
              <a:rPr lang="en-US" dirty="0"/>
              <a:t>As the Web grew, businesses began using it to present products and services to a wider audience. </a:t>
            </a:r>
          </a:p>
          <a:p>
            <a:pPr algn="just"/>
            <a:endParaRPr lang="en-US" dirty="0"/>
          </a:p>
          <a:p>
            <a:pPr algn="just"/>
            <a:r>
              <a:rPr lang="en-US" dirty="0"/>
              <a:t>HTML evolved to improve the presentation and formatting of content. However, the Web was still limited in interactivity at this stage. </a:t>
            </a:r>
          </a:p>
          <a:p>
            <a:pPr algn="just"/>
            <a:endParaRPr lang="en-US" dirty="0"/>
          </a:p>
          <a:p>
            <a:pPr algn="just"/>
            <a:r>
              <a:rPr lang="en-US" dirty="0"/>
              <a:t>The introduction of companies like Netscape accelerated the development of more dynamic and advanced web technologies.</a:t>
            </a:r>
            <a:endParaRPr lang="en-IN" dirty="0"/>
          </a:p>
        </p:txBody>
      </p:sp>
    </p:spTree>
    <p:extLst>
      <p:ext uri="{BB962C8B-B14F-4D97-AF65-F5344CB8AC3E}">
        <p14:creationId xmlns:p14="http://schemas.microsoft.com/office/powerpoint/2010/main" val="41157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65647-02C0-B062-6D2E-E05F43EC606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88C133-EA6D-AB14-0A3A-509F2B01C450}"/>
              </a:ext>
            </a:extLst>
          </p:cNvPr>
          <p:cNvSpPr>
            <a:spLocks noGrp="1"/>
          </p:cNvSpPr>
          <p:nvPr>
            <p:ph idx="1"/>
          </p:nvPr>
        </p:nvSpPr>
        <p:spPr>
          <a:xfrm>
            <a:off x="838200" y="316523"/>
            <a:ext cx="10515600" cy="6224954"/>
          </a:xfrm>
        </p:spPr>
        <p:txBody>
          <a:bodyPr>
            <a:normAutofit fontScale="92500" lnSpcReduction="20000"/>
          </a:bodyPr>
          <a:lstStyle/>
          <a:p>
            <a:pPr algn="just"/>
            <a:r>
              <a:rPr lang="en-US" b="1" dirty="0"/>
              <a:t>JavaScript</a:t>
            </a:r>
          </a:p>
          <a:p>
            <a:pPr algn="just"/>
            <a:r>
              <a:rPr lang="en-US" dirty="0"/>
              <a:t>JavaScript was introduced by Netscape in 1995 (initially called </a:t>
            </a:r>
            <a:r>
              <a:rPr lang="en-US" dirty="0" err="1"/>
              <a:t>LiveScript</a:t>
            </a:r>
            <a:r>
              <a:rPr lang="en-US" dirty="0"/>
              <a:t>) and developed by Brendan Eich. </a:t>
            </a:r>
          </a:p>
          <a:p>
            <a:pPr algn="just"/>
            <a:endParaRPr lang="en-US" dirty="0"/>
          </a:p>
          <a:p>
            <a:pPr algn="just"/>
            <a:r>
              <a:rPr lang="en-US" dirty="0"/>
              <a:t>It was included in Netscape Navigator 2.0 and allowed web pages to become interactive for the first time. </a:t>
            </a:r>
          </a:p>
          <a:p>
            <a:pPr algn="just"/>
            <a:endParaRPr lang="en-US" dirty="0"/>
          </a:p>
          <a:p>
            <a:pPr algn="just"/>
            <a:r>
              <a:rPr lang="en-US" dirty="0"/>
              <a:t>Developers could perform tasks like form validation directly in the browser instead of sending requests to the server. </a:t>
            </a:r>
          </a:p>
          <a:p>
            <a:pPr algn="just"/>
            <a:endParaRPr lang="en-US" dirty="0"/>
          </a:p>
          <a:p>
            <a:pPr algn="just"/>
            <a:r>
              <a:rPr lang="en-US" dirty="0"/>
              <a:t>This reduced the need for constant server communication, which was slow due to limited internet speeds at the time. </a:t>
            </a:r>
          </a:p>
          <a:p>
            <a:pPr algn="just"/>
            <a:endParaRPr lang="en-US" dirty="0"/>
          </a:p>
          <a:p>
            <a:pPr algn="just"/>
            <a:r>
              <a:rPr lang="en-US" dirty="0"/>
              <a:t>As a result, user experience improved by minimizing delays. </a:t>
            </a:r>
          </a:p>
          <a:p>
            <a:pPr algn="just"/>
            <a:endParaRPr lang="en-US" dirty="0"/>
          </a:p>
          <a:p>
            <a:pPr algn="just"/>
            <a:r>
              <a:rPr lang="en-US" dirty="0"/>
              <a:t>This shift toward client-side processing became an important step in the development of AJAX.</a:t>
            </a:r>
            <a:endParaRPr lang="en-IN" dirty="0"/>
          </a:p>
        </p:txBody>
      </p:sp>
    </p:spTree>
    <p:extLst>
      <p:ext uri="{BB962C8B-B14F-4D97-AF65-F5344CB8AC3E}">
        <p14:creationId xmlns:p14="http://schemas.microsoft.com/office/powerpoint/2010/main" val="2171104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CFB38-B6A8-3DFD-F30C-BE573D4FED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85B6CC-D27A-3DDD-925C-726A58B52091}"/>
              </a:ext>
            </a:extLst>
          </p:cNvPr>
          <p:cNvSpPr>
            <a:spLocks noGrp="1"/>
          </p:cNvSpPr>
          <p:nvPr>
            <p:ph idx="1"/>
          </p:nvPr>
        </p:nvSpPr>
        <p:spPr>
          <a:xfrm>
            <a:off x="838200" y="316523"/>
            <a:ext cx="10515600" cy="6224954"/>
          </a:xfrm>
        </p:spPr>
        <p:txBody>
          <a:bodyPr>
            <a:normAutofit fontScale="85000" lnSpcReduction="20000"/>
          </a:bodyPr>
          <a:lstStyle/>
          <a:p>
            <a:pPr algn="just"/>
            <a:r>
              <a:rPr lang="en-US" sz="3300" b="1" dirty="0"/>
              <a:t>Frames/ Hidden frame technique</a:t>
            </a:r>
          </a:p>
          <a:p>
            <a:pPr algn="just"/>
            <a:r>
              <a:rPr lang="en-US" dirty="0"/>
              <a:t>Frames were introduced in HTML 4.0, allowing a webpage to be divided into multiple sections displaying different documents. </a:t>
            </a:r>
          </a:p>
          <a:p>
            <a:pPr algn="just"/>
            <a:endParaRPr lang="en-US" dirty="0"/>
          </a:p>
          <a:p>
            <a:pPr algn="just"/>
            <a:r>
              <a:rPr lang="en-US" dirty="0"/>
              <a:t>Netscape implemented frames early, along with JavaScript, enabling developers to control different parts of a page dynamically. </a:t>
            </a:r>
          </a:p>
          <a:p>
            <a:pPr algn="just"/>
            <a:endParaRPr lang="en-US" dirty="0"/>
          </a:p>
          <a:p>
            <a:pPr algn="just"/>
            <a:r>
              <a:rPr lang="en-US" dirty="0"/>
              <a:t>During the browser wars, these features became standardized and widely used together. </a:t>
            </a:r>
          </a:p>
          <a:p>
            <a:pPr algn="just"/>
            <a:endParaRPr lang="en-US" dirty="0"/>
          </a:p>
          <a:p>
            <a:pPr algn="just"/>
            <a:r>
              <a:rPr lang="en-US" dirty="0"/>
              <a:t>This led to the development of the </a:t>
            </a:r>
            <a:r>
              <a:rPr lang="en-US" b="1" dirty="0"/>
              <a:t>hidden frame technique</a:t>
            </a:r>
            <a:r>
              <a:rPr lang="en-US" dirty="0"/>
              <a:t>, where an invisible frame handled communication with the server. </a:t>
            </a:r>
          </a:p>
          <a:p>
            <a:pPr algn="just"/>
            <a:endParaRPr lang="en-US" dirty="0"/>
          </a:p>
          <a:p>
            <a:pPr algn="just"/>
            <a:r>
              <a:rPr lang="en-US" dirty="0"/>
              <a:t>JavaScript would send and receive data through this hidden frame without reloading the main page. </a:t>
            </a:r>
          </a:p>
          <a:p>
            <a:pPr algn="just"/>
            <a:endParaRPr lang="en-US" dirty="0"/>
          </a:p>
          <a:p>
            <a:pPr algn="just"/>
            <a:r>
              <a:rPr lang="en-US" dirty="0"/>
              <a:t>This approach became the first form of asynchronous communication and laid the foundation for modern AJAX.</a:t>
            </a:r>
            <a:endParaRPr lang="en-IN" dirty="0"/>
          </a:p>
        </p:txBody>
      </p:sp>
    </p:spTree>
    <p:extLst>
      <p:ext uri="{BB962C8B-B14F-4D97-AF65-F5344CB8AC3E}">
        <p14:creationId xmlns:p14="http://schemas.microsoft.com/office/powerpoint/2010/main" val="114958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DB042-19A9-E047-C5CE-669FF4DF15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C52857-3B5A-AEA6-23CC-253FC40F1F72}"/>
              </a:ext>
            </a:extLst>
          </p:cNvPr>
          <p:cNvSpPr>
            <a:spLocks noGrp="1"/>
          </p:cNvSpPr>
          <p:nvPr>
            <p:ph idx="1"/>
          </p:nvPr>
        </p:nvSpPr>
        <p:spPr>
          <a:xfrm>
            <a:off x="838200" y="316523"/>
            <a:ext cx="10515600" cy="6224954"/>
          </a:xfrm>
        </p:spPr>
        <p:txBody>
          <a:bodyPr>
            <a:normAutofit fontScale="85000" lnSpcReduction="20000"/>
          </a:bodyPr>
          <a:lstStyle/>
          <a:p>
            <a:pPr algn="just"/>
            <a:r>
              <a:rPr lang="en-US" b="1" dirty="0"/>
              <a:t>Dynamic HTML and the DOM</a:t>
            </a:r>
          </a:p>
          <a:p>
            <a:pPr algn="just"/>
            <a:r>
              <a:rPr lang="en-US" dirty="0"/>
              <a:t>Before 1996, web pages were mostly static and could not change without reloading. </a:t>
            </a:r>
          </a:p>
          <a:p>
            <a:pPr algn="just"/>
            <a:endParaRPr lang="en-US" dirty="0"/>
          </a:p>
          <a:p>
            <a:pPr algn="just"/>
            <a:r>
              <a:rPr lang="en-US" dirty="0"/>
              <a:t>Internet Explorer 4.0 introduced </a:t>
            </a:r>
            <a:r>
              <a:rPr lang="en-US" b="1" dirty="0"/>
              <a:t>Dynamic HTML (DHTML)</a:t>
            </a:r>
            <a:r>
              <a:rPr lang="en-US" dirty="0"/>
              <a:t>, which allowed developers to modify parts of a loaded page using JavaScript. </a:t>
            </a:r>
          </a:p>
          <a:p>
            <a:pPr algn="just"/>
            <a:endParaRPr lang="en-US" dirty="0"/>
          </a:p>
          <a:p>
            <a:pPr algn="just"/>
            <a:r>
              <a:rPr lang="en-US" dirty="0"/>
              <a:t>With the support of </a:t>
            </a:r>
            <a:r>
              <a:rPr lang="en-US" b="1" dirty="0"/>
              <a:t>CSS</a:t>
            </a:r>
            <a:r>
              <a:rPr lang="en-US" dirty="0"/>
              <a:t>, web pages became more dynamic and visually flexible. </a:t>
            </a:r>
          </a:p>
          <a:p>
            <a:pPr algn="just"/>
            <a:endParaRPr lang="en-US" dirty="0"/>
          </a:p>
          <a:p>
            <a:pPr algn="just"/>
            <a:r>
              <a:rPr lang="en-US" dirty="0"/>
              <a:t>When DHTML was combined with the hidden frame technique, sections of a webpage could be updated with server data without reloading the entire page. </a:t>
            </a:r>
          </a:p>
          <a:p>
            <a:pPr algn="just"/>
            <a:endParaRPr lang="en-US" dirty="0"/>
          </a:p>
          <a:p>
            <a:pPr algn="just"/>
            <a:r>
              <a:rPr lang="en-US" dirty="0"/>
              <a:t>Later, the </a:t>
            </a:r>
            <a:r>
              <a:rPr lang="en-US" b="1" dirty="0"/>
              <a:t>Document Object Model (DOM)</a:t>
            </a:r>
            <a:r>
              <a:rPr lang="en-US" dirty="0"/>
              <a:t> provided a standard structure for representing and manipulating all elements of a webpage. </a:t>
            </a:r>
          </a:p>
          <a:p>
            <a:pPr algn="just"/>
            <a:endParaRPr lang="en-US" dirty="0"/>
          </a:p>
          <a:p>
            <a:pPr algn="just"/>
            <a:r>
              <a:rPr lang="en-US" dirty="0"/>
              <a:t>This ability to dynamically update page content became another major step toward the development of AJAX.</a:t>
            </a:r>
            <a:endParaRPr lang="en-IN" dirty="0"/>
          </a:p>
        </p:txBody>
      </p:sp>
    </p:spTree>
    <p:extLst>
      <p:ext uri="{BB962C8B-B14F-4D97-AF65-F5344CB8AC3E}">
        <p14:creationId xmlns:p14="http://schemas.microsoft.com/office/powerpoint/2010/main" val="23719054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9D8C3-728A-2C04-987D-1C125B8C696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0C72E2-D1B1-A2FA-8E0A-0F691E7E2250}"/>
              </a:ext>
            </a:extLst>
          </p:cNvPr>
          <p:cNvSpPr>
            <a:spLocks noGrp="1"/>
          </p:cNvSpPr>
          <p:nvPr>
            <p:ph idx="1"/>
          </p:nvPr>
        </p:nvSpPr>
        <p:spPr>
          <a:xfrm>
            <a:off x="838200" y="316523"/>
            <a:ext cx="10515600" cy="6224954"/>
          </a:xfrm>
        </p:spPr>
        <p:txBody>
          <a:bodyPr>
            <a:normAutofit fontScale="85000" lnSpcReduction="20000"/>
          </a:bodyPr>
          <a:lstStyle/>
          <a:p>
            <a:pPr algn="just"/>
            <a:r>
              <a:rPr lang="en-US" b="1" dirty="0" err="1"/>
              <a:t>Iframes</a:t>
            </a:r>
            <a:r>
              <a:rPr lang="en-US" b="1" dirty="0"/>
              <a:t>:</a:t>
            </a:r>
          </a:p>
          <a:p>
            <a:pPr algn="just"/>
            <a:r>
              <a:rPr lang="en-US" dirty="0" err="1"/>
              <a:t>Iframes</a:t>
            </a:r>
            <a:r>
              <a:rPr lang="en-US" dirty="0"/>
              <a:t>, introduced in HTML 4.0 in 1997, improved upon the limitations of traditional frames by allowing them to be placed anywhere within a webpage. </a:t>
            </a:r>
          </a:p>
          <a:p>
            <a:pPr algn="just"/>
            <a:endParaRPr lang="en-US" dirty="0"/>
          </a:p>
          <a:p>
            <a:pPr algn="just"/>
            <a:r>
              <a:rPr lang="en-US" dirty="0"/>
              <a:t>Unlike framesets, developers could use </a:t>
            </a:r>
            <a:r>
              <a:rPr lang="en-US" dirty="0" err="1"/>
              <a:t>iframes</a:t>
            </a:r>
            <a:r>
              <a:rPr lang="en-US" dirty="0"/>
              <a:t> more flexibly and even hide them using CSS. </a:t>
            </a:r>
          </a:p>
          <a:p>
            <a:pPr algn="just"/>
            <a:endParaRPr lang="en-US" dirty="0"/>
          </a:p>
          <a:p>
            <a:pPr algn="just"/>
            <a:r>
              <a:rPr lang="en-US" dirty="0"/>
              <a:t>This made client-server communication easier without predefining page structure. </a:t>
            </a:r>
          </a:p>
          <a:p>
            <a:pPr algn="just"/>
            <a:endParaRPr lang="en-US" dirty="0"/>
          </a:p>
          <a:p>
            <a:pPr algn="just"/>
            <a:r>
              <a:rPr lang="en-US" dirty="0"/>
              <a:t>With the introduction of the DOM in browsers like Internet Explorer 5 and Netscape 6, </a:t>
            </a:r>
            <a:r>
              <a:rPr lang="en-US" dirty="0" err="1"/>
              <a:t>iframes</a:t>
            </a:r>
            <a:r>
              <a:rPr lang="en-US" dirty="0"/>
              <a:t> could be created dynamically using JavaScript. </a:t>
            </a:r>
          </a:p>
          <a:p>
            <a:pPr algn="just"/>
            <a:endParaRPr lang="en-US" dirty="0"/>
          </a:p>
          <a:p>
            <a:pPr algn="just"/>
            <a:r>
              <a:rPr lang="en-US" dirty="0"/>
              <a:t>This allowed requests and responses to be handled without reloading the page or adding extra HTML. </a:t>
            </a:r>
          </a:p>
          <a:p>
            <a:pPr algn="just"/>
            <a:endParaRPr lang="en-US" dirty="0"/>
          </a:p>
          <a:p>
            <a:pPr algn="just"/>
            <a:r>
              <a:rPr lang="en-US" dirty="0"/>
              <a:t>As a result, the hidden </a:t>
            </a:r>
            <a:r>
              <a:rPr lang="en-US" dirty="0" err="1"/>
              <a:t>iframe</a:t>
            </a:r>
            <a:r>
              <a:rPr lang="en-US" dirty="0"/>
              <a:t> technique became an advanced method for asynchronous communication, contributing to the development of AJAX.</a:t>
            </a:r>
            <a:endParaRPr lang="en-IN" dirty="0"/>
          </a:p>
        </p:txBody>
      </p:sp>
    </p:spTree>
    <p:extLst>
      <p:ext uri="{BB962C8B-B14F-4D97-AF65-F5344CB8AC3E}">
        <p14:creationId xmlns:p14="http://schemas.microsoft.com/office/powerpoint/2010/main" val="2065154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2FE7A-4D0B-10ED-E322-F7B458F01F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B0762D-8297-5521-25CB-970B5FC340F5}"/>
              </a:ext>
            </a:extLst>
          </p:cNvPr>
          <p:cNvSpPr>
            <a:spLocks noGrp="1"/>
          </p:cNvSpPr>
          <p:nvPr>
            <p:ph idx="1"/>
          </p:nvPr>
        </p:nvSpPr>
        <p:spPr>
          <a:xfrm>
            <a:off x="838200" y="316523"/>
            <a:ext cx="10515600" cy="6224954"/>
          </a:xfrm>
        </p:spPr>
        <p:txBody>
          <a:bodyPr>
            <a:normAutofit fontScale="85000" lnSpcReduction="20000"/>
          </a:bodyPr>
          <a:lstStyle/>
          <a:p>
            <a:pPr algn="just"/>
            <a:r>
              <a:rPr lang="en-US" b="1" dirty="0" err="1"/>
              <a:t>XMLHttp</a:t>
            </a:r>
            <a:r>
              <a:rPr lang="en-US" b="1" dirty="0"/>
              <a:t>:</a:t>
            </a:r>
          </a:p>
          <a:p>
            <a:pPr algn="just"/>
            <a:r>
              <a:rPr lang="en-US" dirty="0"/>
              <a:t>The </a:t>
            </a:r>
            <a:r>
              <a:rPr lang="en-US" dirty="0" err="1"/>
              <a:t>XMLHttp</a:t>
            </a:r>
            <a:r>
              <a:rPr lang="en-US" dirty="0"/>
              <a:t> object was introduced by Microsoft in 2001 as an improved way for client-server communication. </a:t>
            </a:r>
          </a:p>
          <a:p>
            <a:pPr algn="just"/>
            <a:endParaRPr lang="en-US" dirty="0"/>
          </a:p>
          <a:p>
            <a:pPr algn="just"/>
            <a:r>
              <a:rPr lang="en-US" dirty="0"/>
              <a:t>It was part of the MSXML library and allowed developers to send HTTP requests directly using JavaScript. </a:t>
            </a:r>
          </a:p>
          <a:p>
            <a:pPr algn="just"/>
            <a:endParaRPr lang="en-US" dirty="0"/>
          </a:p>
          <a:p>
            <a:pPr algn="just"/>
            <a:r>
              <a:rPr lang="en-US" dirty="0"/>
              <a:t>Unlike hidden frames or </a:t>
            </a:r>
            <a:r>
              <a:rPr lang="en-US" dirty="0" err="1"/>
              <a:t>iframes</a:t>
            </a:r>
            <a:r>
              <a:rPr lang="en-US" dirty="0"/>
              <a:t>, it enabled asynchronous data exchange without reloading the page. </a:t>
            </a:r>
          </a:p>
          <a:p>
            <a:pPr algn="just"/>
            <a:endParaRPr lang="en-US" dirty="0"/>
          </a:p>
          <a:p>
            <a:pPr algn="just"/>
            <a:r>
              <a:rPr lang="en-US" dirty="0"/>
              <a:t>Developers could access server responses, status codes, and different data formats such as XML, HTML, or JSON. </a:t>
            </a:r>
          </a:p>
          <a:p>
            <a:pPr algn="just"/>
            <a:endParaRPr lang="en-US" dirty="0"/>
          </a:p>
          <a:p>
            <a:pPr algn="just"/>
            <a:r>
              <a:rPr lang="en-US" dirty="0"/>
              <a:t>Due to its effectiveness, the Mozilla project created a similar native object called </a:t>
            </a:r>
            <a:r>
              <a:rPr lang="en-US" dirty="0" err="1"/>
              <a:t>XMLHttpRequest</a:t>
            </a:r>
            <a:r>
              <a:rPr lang="en-US" dirty="0"/>
              <a:t>. </a:t>
            </a:r>
          </a:p>
          <a:p>
            <a:pPr algn="just"/>
            <a:endParaRPr lang="en-US" dirty="0"/>
          </a:p>
          <a:p>
            <a:pPr algn="just"/>
            <a:r>
              <a:rPr lang="en-US" dirty="0"/>
              <a:t>With support from major browsers, this technology became the foundation for modern AJAX development.</a:t>
            </a:r>
            <a:endParaRPr lang="en-IN" dirty="0"/>
          </a:p>
        </p:txBody>
      </p:sp>
    </p:spTree>
    <p:extLst>
      <p:ext uri="{BB962C8B-B14F-4D97-AF65-F5344CB8AC3E}">
        <p14:creationId xmlns:p14="http://schemas.microsoft.com/office/powerpoint/2010/main" val="19675444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0A6C8-EB57-6104-E8F2-62431B3F725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068C95-C320-0289-CFC0-6EF14C042D07}"/>
              </a:ext>
            </a:extLst>
          </p:cNvPr>
          <p:cNvSpPr>
            <a:spLocks noGrp="1"/>
          </p:cNvSpPr>
          <p:nvPr>
            <p:ph idx="1"/>
          </p:nvPr>
        </p:nvSpPr>
        <p:spPr>
          <a:xfrm>
            <a:off x="838200" y="316523"/>
            <a:ext cx="10515600" cy="6224954"/>
          </a:xfrm>
        </p:spPr>
        <p:txBody>
          <a:bodyPr>
            <a:normAutofit fontScale="85000" lnSpcReduction="20000"/>
          </a:bodyPr>
          <a:lstStyle/>
          <a:p>
            <a:pPr algn="just"/>
            <a:r>
              <a:rPr lang="en-IN" b="1" dirty="0"/>
              <a:t>The Real Ajax:</a:t>
            </a:r>
            <a:endParaRPr lang="en-US" b="1" dirty="0"/>
          </a:p>
          <a:p>
            <a:pPr algn="just"/>
            <a:r>
              <a:rPr lang="en-US" dirty="0"/>
              <a:t>Ajax is an approach to web interaction designed to improve user experience by exchanging only small amounts of data with the server. </a:t>
            </a:r>
          </a:p>
          <a:p>
            <a:pPr algn="just"/>
            <a:endParaRPr lang="en-US" dirty="0"/>
          </a:p>
          <a:p>
            <a:pPr algn="just"/>
            <a:r>
              <a:rPr lang="en-US" dirty="0"/>
              <a:t>Unlike traditional web applications, it avoids full page reloads and updates only required parts of the page. </a:t>
            </a:r>
          </a:p>
          <a:p>
            <a:pPr algn="just"/>
            <a:endParaRPr lang="en-US" dirty="0"/>
          </a:p>
          <a:p>
            <a:pPr algn="just"/>
            <a:r>
              <a:rPr lang="en-US" dirty="0"/>
              <a:t>Ajax introduces an intermediate component called the </a:t>
            </a:r>
            <a:r>
              <a:rPr lang="en-US" b="1" dirty="0"/>
              <a:t>Ajax engine</a:t>
            </a:r>
            <a:r>
              <a:rPr lang="en-US" dirty="0"/>
              <a:t>, typically implemented using JavaScript. </a:t>
            </a:r>
          </a:p>
          <a:p>
            <a:pPr algn="just"/>
            <a:endParaRPr lang="en-US" dirty="0"/>
          </a:p>
          <a:p>
            <a:pPr algn="just"/>
            <a:r>
              <a:rPr lang="en-US" dirty="0"/>
              <a:t>This engine handles communication between the client and server instead of the browser directly managing requests. </a:t>
            </a:r>
          </a:p>
          <a:p>
            <a:pPr algn="just"/>
            <a:endParaRPr lang="en-US" dirty="0"/>
          </a:p>
          <a:p>
            <a:pPr algn="just"/>
            <a:r>
              <a:rPr lang="en-US" dirty="0"/>
              <a:t>When a user performs an action, the request is sent to the Ajax engine rather than loading a new page. </a:t>
            </a:r>
          </a:p>
          <a:p>
            <a:pPr algn="just"/>
            <a:endParaRPr lang="en-US" dirty="0"/>
          </a:p>
          <a:p>
            <a:pPr algn="just"/>
            <a:r>
              <a:rPr lang="en-US" dirty="0"/>
              <a:t>The engine sends asynchronous requests to the server, allowing the application to continue functioning without waiting for a response. </a:t>
            </a:r>
          </a:p>
        </p:txBody>
      </p:sp>
    </p:spTree>
    <p:extLst>
      <p:ext uri="{BB962C8B-B14F-4D97-AF65-F5344CB8AC3E}">
        <p14:creationId xmlns:p14="http://schemas.microsoft.com/office/powerpoint/2010/main" val="37783569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75BC3-2152-7DFE-CD22-2B982DCEBD8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039B58-208D-3573-BC01-36B2A30761BE}"/>
              </a:ext>
            </a:extLst>
          </p:cNvPr>
          <p:cNvSpPr>
            <a:spLocks noGrp="1"/>
          </p:cNvSpPr>
          <p:nvPr>
            <p:ph idx="1"/>
          </p:nvPr>
        </p:nvSpPr>
        <p:spPr>
          <a:xfrm>
            <a:off x="838200" y="316523"/>
            <a:ext cx="10515600" cy="6224954"/>
          </a:xfrm>
        </p:spPr>
        <p:txBody>
          <a:bodyPr/>
          <a:lstStyle/>
          <a:p>
            <a:pPr algn="just"/>
            <a:r>
              <a:rPr lang="en-US" sz="2400" dirty="0"/>
              <a:t>The server returns data in formats such as plain text, XML, or JSON. </a:t>
            </a:r>
          </a:p>
          <a:p>
            <a:pPr algn="just"/>
            <a:r>
              <a:rPr lang="en-US" sz="2400" dirty="0"/>
              <a:t>The Ajax engine processes this data and interprets it accordingly. </a:t>
            </a:r>
          </a:p>
          <a:p>
            <a:pPr algn="just"/>
            <a:r>
              <a:rPr lang="en-US" sz="2400" dirty="0"/>
              <a:t>It then updates specific sections of the user interface dynamically. This approach reduces data transfer, increases speed, and provides a smoother, more responsive user experience.</a:t>
            </a:r>
            <a:endParaRPr lang="en-IN" sz="2400" dirty="0"/>
          </a:p>
          <a:p>
            <a:pPr algn="just"/>
            <a:endParaRPr lang="en-IN" dirty="0"/>
          </a:p>
        </p:txBody>
      </p:sp>
      <p:pic>
        <p:nvPicPr>
          <p:cNvPr id="4" name="Picture 3">
            <a:extLst>
              <a:ext uri="{FF2B5EF4-FFF2-40B4-BE49-F238E27FC236}">
                <a16:creationId xmlns:a16="http://schemas.microsoft.com/office/drawing/2014/main" id="{B355E6EE-1ED4-1E1A-533D-9D656C7C25DA}"/>
              </a:ext>
            </a:extLst>
          </p:cNvPr>
          <p:cNvPicPr>
            <a:picLocks noChangeAspect="1"/>
          </p:cNvPicPr>
          <p:nvPr/>
        </p:nvPicPr>
        <p:blipFill>
          <a:blip r:embed="rId2"/>
          <a:stretch>
            <a:fillRect/>
          </a:stretch>
        </p:blipFill>
        <p:spPr>
          <a:xfrm>
            <a:off x="2654604" y="2522779"/>
            <a:ext cx="6882792" cy="3754929"/>
          </a:xfrm>
          <a:prstGeom prst="rect">
            <a:avLst/>
          </a:prstGeom>
        </p:spPr>
      </p:pic>
    </p:spTree>
    <p:extLst>
      <p:ext uri="{BB962C8B-B14F-4D97-AF65-F5344CB8AC3E}">
        <p14:creationId xmlns:p14="http://schemas.microsoft.com/office/powerpoint/2010/main" val="17021976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EC113-B120-C96B-2743-7523B71C41C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C397FC-E31B-AF65-C6CF-A86E879CD742}"/>
              </a:ext>
            </a:extLst>
          </p:cNvPr>
          <p:cNvSpPr>
            <a:spLocks noGrp="1"/>
          </p:cNvSpPr>
          <p:nvPr>
            <p:ph idx="1"/>
          </p:nvPr>
        </p:nvSpPr>
        <p:spPr>
          <a:xfrm>
            <a:off x="838200" y="316523"/>
            <a:ext cx="10515600" cy="6224954"/>
          </a:xfrm>
        </p:spPr>
        <p:txBody>
          <a:bodyPr>
            <a:normAutofit fontScale="85000" lnSpcReduction="10000"/>
          </a:bodyPr>
          <a:lstStyle/>
          <a:p>
            <a:pPr algn="just"/>
            <a:r>
              <a:rPr lang="en-IN" dirty="0"/>
              <a:t>Ajax Principles - </a:t>
            </a:r>
            <a:r>
              <a:rPr lang="en-US" dirty="0"/>
              <a:t>several key principles of good Ajax applications</a:t>
            </a:r>
          </a:p>
          <a:p>
            <a:pPr algn="just"/>
            <a:endParaRPr lang="en-US" b="1" dirty="0"/>
          </a:p>
          <a:p>
            <a:pPr algn="just"/>
            <a:r>
              <a:rPr lang="en-US" b="1" dirty="0"/>
              <a:t>Minimal traffic</a:t>
            </a:r>
            <a:r>
              <a:rPr lang="en-US" dirty="0"/>
              <a:t>: Ajax applications should send and receive as little information as possible to and from the server.</a:t>
            </a:r>
          </a:p>
          <a:p>
            <a:pPr algn="just"/>
            <a:endParaRPr lang="en-US" b="1" dirty="0"/>
          </a:p>
          <a:p>
            <a:pPr algn="just"/>
            <a:r>
              <a:rPr lang="en-US" b="1" dirty="0"/>
              <a:t>No surprises</a:t>
            </a:r>
            <a:r>
              <a:rPr lang="en-US" dirty="0"/>
              <a:t>: Ajax applications typically introduce different user interaction models than traditional web applications. As opposed to the web standard of click-and-wait, some Ajax applications use other user interface paradigms such as drag-and-drop or double clicking. No matter what user interaction model you choose, be consistent so that the user knows what to do next. </a:t>
            </a:r>
          </a:p>
          <a:p>
            <a:pPr algn="just"/>
            <a:endParaRPr lang="en-US" b="1" dirty="0"/>
          </a:p>
          <a:p>
            <a:pPr algn="just"/>
            <a:r>
              <a:rPr lang="en-US" b="1" dirty="0"/>
              <a:t>Established conventions</a:t>
            </a:r>
            <a:r>
              <a:rPr lang="en-US" dirty="0"/>
              <a:t>: Don't waste time inventing new user interaction models that your users will be unfamiliar with. Borrow heavily from traditional web applications and desktop applications so there is a minimal learning curve. </a:t>
            </a:r>
          </a:p>
          <a:p>
            <a:pPr algn="just"/>
            <a:endParaRPr lang="en-US" b="1" dirty="0"/>
          </a:p>
          <a:p>
            <a:pPr algn="just"/>
            <a:r>
              <a:rPr lang="en-US" b="1" dirty="0"/>
              <a:t>No distractions</a:t>
            </a:r>
            <a:r>
              <a:rPr lang="en-US" dirty="0"/>
              <a:t>: Avoid unnecessary and distracting page elements such as looping animations, and blinking page sections.</a:t>
            </a:r>
            <a:endParaRPr lang="en-IN" dirty="0"/>
          </a:p>
        </p:txBody>
      </p:sp>
    </p:spTree>
    <p:extLst>
      <p:ext uri="{BB962C8B-B14F-4D97-AF65-F5344CB8AC3E}">
        <p14:creationId xmlns:p14="http://schemas.microsoft.com/office/powerpoint/2010/main" val="667662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22BE4-B93E-A369-BF6B-321AB8581C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02174A-BBF0-F4B8-A532-431C7259E030}"/>
              </a:ext>
            </a:extLst>
          </p:cNvPr>
          <p:cNvSpPr>
            <a:spLocks noGrp="1"/>
          </p:cNvSpPr>
          <p:nvPr>
            <p:ph idx="1"/>
          </p:nvPr>
        </p:nvSpPr>
        <p:spPr>
          <a:xfrm>
            <a:off x="838200" y="316523"/>
            <a:ext cx="10515600" cy="6224954"/>
          </a:xfrm>
        </p:spPr>
        <p:txBody>
          <a:bodyPr>
            <a:normAutofit fontScale="92500" lnSpcReduction="10000"/>
          </a:bodyPr>
          <a:lstStyle/>
          <a:p>
            <a:pPr algn="just"/>
            <a:endParaRPr lang="en-US" b="1" dirty="0"/>
          </a:p>
          <a:p>
            <a:pPr algn="just"/>
            <a:r>
              <a:rPr lang="en-US" b="1" dirty="0"/>
              <a:t>Accessibility</a:t>
            </a:r>
            <a:r>
              <a:rPr lang="en-US" dirty="0"/>
              <a:t>: Consider who your primary and secondary users will be and how they most likely will access your Ajax application. Don't program yourself into a corner so that an unexpected new audience will be completely locked out. Will your users be using older browsers or special software? Make sure you know ahead of time and plan for it. </a:t>
            </a:r>
          </a:p>
          <a:p>
            <a:pPr algn="just"/>
            <a:endParaRPr lang="en-US" b="1" dirty="0"/>
          </a:p>
          <a:p>
            <a:pPr algn="just"/>
            <a:r>
              <a:rPr lang="en-US" b="1" dirty="0"/>
              <a:t>Avoid entire page downloads</a:t>
            </a:r>
            <a:r>
              <a:rPr lang="en-US" dirty="0"/>
              <a:t>: All server communication after the initial page download should be managed by the Ajax engine. Don't ruin the user experience by downloading small amounts of data in one place, but reloading the entire page in others. </a:t>
            </a:r>
          </a:p>
          <a:p>
            <a:pPr algn="just"/>
            <a:endParaRPr lang="en-US" b="1" dirty="0"/>
          </a:p>
          <a:p>
            <a:pPr algn="just"/>
            <a:r>
              <a:rPr lang="en-US" b="1" dirty="0"/>
              <a:t>User first</a:t>
            </a:r>
            <a:r>
              <a:rPr lang="en-US" dirty="0"/>
              <a:t>: Design the Ajax application with the users in mind before anything else. Try to make the common use cases easy to accomplish and don't be caught up with how you're going to fit in advertising or cool effects. </a:t>
            </a:r>
            <a:endParaRPr lang="en-IN" dirty="0"/>
          </a:p>
        </p:txBody>
      </p:sp>
    </p:spTree>
    <p:extLst>
      <p:ext uri="{BB962C8B-B14F-4D97-AF65-F5344CB8AC3E}">
        <p14:creationId xmlns:p14="http://schemas.microsoft.com/office/powerpoint/2010/main" val="2086126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531C8-4420-59F9-84A5-9E388FAD971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FD29A9-4A53-B4E2-D805-812FF44DD8FC}"/>
              </a:ext>
            </a:extLst>
          </p:cNvPr>
          <p:cNvSpPr>
            <a:spLocks noGrp="1"/>
          </p:cNvSpPr>
          <p:nvPr>
            <p:ph idx="1"/>
          </p:nvPr>
        </p:nvSpPr>
        <p:spPr>
          <a:xfrm>
            <a:off x="838200" y="316523"/>
            <a:ext cx="10515600" cy="6224954"/>
          </a:xfrm>
        </p:spPr>
        <p:txBody>
          <a:bodyPr>
            <a:normAutofit fontScale="70000" lnSpcReduction="20000"/>
          </a:bodyPr>
          <a:lstStyle/>
          <a:p>
            <a:pPr algn="just"/>
            <a:r>
              <a:rPr lang="en-IN" sz="4000" b="1" dirty="0"/>
              <a:t>Technologies Behind Ajax </a:t>
            </a:r>
          </a:p>
          <a:p>
            <a:pPr algn="just"/>
            <a:r>
              <a:rPr lang="en-IN" dirty="0"/>
              <a:t>Garrett's article mentions several technologies that he sees as parts of an Ajax solution. These are: </a:t>
            </a:r>
          </a:p>
          <a:p>
            <a:pPr algn="just"/>
            <a:r>
              <a:rPr lang="en-IN" b="1" dirty="0"/>
              <a:t>HTML/XHTML</a:t>
            </a:r>
            <a:r>
              <a:rPr lang="en-IN" dirty="0"/>
              <a:t>: Primary content representation languages </a:t>
            </a:r>
          </a:p>
          <a:p>
            <a:pPr algn="just"/>
            <a:r>
              <a:rPr lang="en-IN" b="1" dirty="0"/>
              <a:t>CSS</a:t>
            </a:r>
            <a:r>
              <a:rPr lang="en-IN" dirty="0"/>
              <a:t>: Provides stylistic formatting to XHTML </a:t>
            </a:r>
          </a:p>
          <a:p>
            <a:pPr algn="just"/>
            <a:r>
              <a:rPr lang="en-IN" b="1" dirty="0"/>
              <a:t>DOM</a:t>
            </a:r>
            <a:r>
              <a:rPr lang="en-IN" dirty="0"/>
              <a:t>: Dynamic updating of a loaded page </a:t>
            </a:r>
          </a:p>
          <a:p>
            <a:pPr algn="just"/>
            <a:r>
              <a:rPr lang="en-IN" b="1" dirty="0"/>
              <a:t>XML</a:t>
            </a:r>
            <a:r>
              <a:rPr lang="en-IN" dirty="0"/>
              <a:t>: Data exchange format </a:t>
            </a:r>
          </a:p>
          <a:p>
            <a:pPr algn="just"/>
            <a:r>
              <a:rPr lang="en-IN" b="1" dirty="0"/>
              <a:t>XSLT</a:t>
            </a:r>
            <a:r>
              <a:rPr lang="en-IN" dirty="0"/>
              <a:t>: Transforms XML into XHTML (styled by CSS) </a:t>
            </a:r>
          </a:p>
          <a:p>
            <a:pPr algn="just"/>
            <a:r>
              <a:rPr lang="en-IN" b="1" dirty="0" err="1"/>
              <a:t>XMLHttp</a:t>
            </a:r>
            <a:r>
              <a:rPr lang="en-IN" dirty="0"/>
              <a:t>: Primary communication broker </a:t>
            </a:r>
          </a:p>
          <a:p>
            <a:pPr algn="just"/>
            <a:r>
              <a:rPr lang="en-IN" b="1" dirty="0"/>
              <a:t>JavaScript</a:t>
            </a:r>
            <a:r>
              <a:rPr lang="en-IN" dirty="0"/>
              <a:t>: Scripting language used to program an Ajax engine </a:t>
            </a:r>
          </a:p>
          <a:p>
            <a:pPr algn="just"/>
            <a:endParaRPr lang="en-US" dirty="0"/>
          </a:p>
          <a:p>
            <a:pPr algn="just"/>
            <a:r>
              <a:rPr lang="en-US" dirty="0"/>
              <a:t>In reality, all these technologies are available to be used in Ajax solutions, but only three are required: HTML/XHTML, DOM, and JavaScript. </a:t>
            </a:r>
          </a:p>
          <a:p>
            <a:pPr algn="just"/>
            <a:endParaRPr lang="en-US" dirty="0"/>
          </a:p>
          <a:p>
            <a:pPr algn="just"/>
            <a:r>
              <a:rPr lang="en-US" dirty="0"/>
              <a:t>XHTML is obviously necessary for the display of information, while the DOM is necessary to change portions of an XHTML page without reloading it. </a:t>
            </a:r>
          </a:p>
          <a:p>
            <a:pPr algn="just"/>
            <a:endParaRPr lang="en-US" dirty="0"/>
          </a:p>
          <a:p>
            <a:pPr algn="just"/>
            <a:r>
              <a:rPr lang="en-US" dirty="0"/>
              <a:t>The last part, JavaScript, is necessary to initiate the client-server communication and manipulate the DOM to update the web page.</a:t>
            </a:r>
            <a:endParaRPr lang="en-IN" dirty="0"/>
          </a:p>
        </p:txBody>
      </p:sp>
    </p:spTree>
    <p:extLst>
      <p:ext uri="{BB962C8B-B14F-4D97-AF65-F5344CB8AC3E}">
        <p14:creationId xmlns:p14="http://schemas.microsoft.com/office/powerpoint/2010/main" val="4137116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DA64B-0718-10E8-1D29-98DB165E58C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0AD231-0ED3-50E5-EE4D-4B36E8C4BA63}"/>
              </a:ext>
            </a:extLst>
          </p:cNvPr>
          <p:cNvSpPr>
            <a:spLocks noGrp="1"/>
          </p:cNvSpPr>
          <p:nvPr>
            <p:ph idx="1"/>
          </p:nvPr>
        </p:nvSpPr>
        <p:spPr>
          <a:xfrm>
            <a:off x="838200" y="316523"/>
            <a:ext cx="10515600" cy="6224954"/>
          </a:xfrm>
        </p:spPr>
        <p:txBody>
          <a:bodyPr>
            <a:normAutofit fontScale="92500" lnSpcReduction="10000"/>
          </a:bodyPr>
          <a:lstStyle/>
          <a:p>
            <a:pPr algn="just"/>
            <a:r>
              <a:rPr lang="en-IN" dirty="0"/>
              <a:t>Who Is Using Ajax?</a:t>
            </a:r>
          </a:p>
          <a:p>
            <a:pPr algn="just"/>
            <a:endParaRPr lang="en-IN" b="1" dirty="0"/>
          </a:p>
          <a:p>
            <a:pPr algn="just"/>
            <a:r>
              <a:rPr lang="en-IN" b="1" dirty="0"/>
              <a:t>Google Suggest </a:t>
            </a:r>
            <a:r>
              <a:rPr lang="en-IN" dirty="0"/>
              <a:t>- </a:t>
            </a:r>
            <a:r>
              <a:rPr lang="en-US" sz="2200" dirty="0"/>
              <a:t>The interface is simply a clone of the main Google interface, which prominently features a text box to enter search terms. As you type, Google Suggest requests suggestions from the server.</a:t>
            </a:r>
          </a:p>
          <a:p>
            <a:pPr algn="just"/>
            <a:endParaRPr lang="en-US" b="1" dirty="0"/>
          </a:p>
          <a:p>
            <a:pPr algn="just"/>
            <a:r>
              <a:rPr lang="en-US" b="1" dirty="0"/>
              <a:t>Gmail</a:t>
            </a:r>
            <a:r>
              <a:rPr lang="en-US" dirty="0"/>
              <a:t> - </a:t>
            </a:r>
            <a:r>
              <a:rPr lang="en-US" sz="2200" dirty="0"/>
              <a:t>When a user logs in, a user interface engine is loaded, and further communication with the server occurs using the </a:t>
            </a:r>
            <a:r>
              <a:rPr lang="en-US" sz="2200" dirty="0" err="1"/>
              <a:t>XMLHttp</a:t>
            </a:r>
            <a:r>
              <a:rPr lang="en-US" sz="2200" dirty="0"/>
              <a:t> object. The data exchanged is mainly JavaScript code, enabling fast execution and dynamic updates. Gmail also uses frames and </a:t>
            </a:r>
            <a:r>
              <a:rPr lang="en-US" sz="2200" dirty="0" err="1"/>
              <a:t>iframes</a:t>
            </a:r>
            <a:r>
              <a:rPr lang="en-US" sz="2200" dirty="0"/>
              <a:t> to handle large interface changes and maintain functionality of browser navigation buttons like Back and Forward. This combination improves performance and usability without frequent page reloads</a:t>
            </a:r>
          </a:p>
          <a:p>
            <a:pPr algn="just"/>
            <a:endParaRPr lang="en-IN" dirty="0"/>
          </a:p>
          <a:p>
            <a:pPr algn="just"/>
            <a:r>
              <a:rPr lang="en-IN" b="1" dirty="0"/>
              <a:t>Google Maps </a:t>
            </a:r>
            <a:r>
              <a:rPr lang="en-IN" dirty="0"/>
              <a:t>- </a:t>
            </a:r>
            <a:r>
              <a:rPr lang="en-US" sz="2200" dirty="0"/>
              <a:t>Google Maps is a powerful AJAX-based application that avoids full page reloads to provide a smooth user experience. It allows users to drag the map seamlessly, creating an effect of continuous scrolling. The map is divided into small image tiles that are reused efficiently to avoid memory issues. Client-server communication is handled through a hidden </a:t>
            </a:r>
            <a:r>
              <a:rPr lang="en-US" sz="2200" dirty="0" err="1"/>
              <a:t>iframe</a:t>
            </a:r>
            <a:r>
              <a:rPr lang="en-US" sz="2200" dirty="0"/>
              <a:t>, enabling asynchronous data exchange. The server returns data in XML format, which is processed by JavaScript to update the map and display relevant information.</a:t>
            </a:r>
            <a:endParaRPr lang="en-IN" dirty="0"/>
          </a:p>
        </p:txBody>
      </p:sp>
    </p:spTree>
    <p:extLst>
      <p:ext uri="{BB962C8B-B14F-4D97-AF65-F5344CB8AC3E}">
        <p14:creationId xmlns:p14="http://schemas.microsoft.com/office/powerpoint/2010/main" val="225622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27EDF-9917-36A5-93DA-EA63A4023B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362EE4-3FB0-54AA-5018-EA44535B941A}"/>
              </a:ext>
            </a:extLst>
          </p:cNvPr>
          <p:cNvSpPr>
            <a:spLocks noGrp="1"/>
          </p:cNvSpPr>
          <p:nvPr>
            <p:ph idx="1"/>
          </p:nvPr>
        </p:nvSpPr>
        <p:spPr>
          <a:xfrm>
            <a:off x="838200" y="316523"/>
            <a:ext cx="10515600" cy="6224954"/>
          </a:xfrm>
        </p:spPr>
        <p:txBody>
          <a:bodyPr>
            <a:normAutofit/>
          </a:bodyPr>
          <a:lstStyle/>
          <a:p>
            <a:pPr algn="just"/>
            <a:r>
              <a:rPr lang="en-US" b="1" dirty="0"/>
              <a:t>A9</a:t>
            </a:r>
            <a:r>
              <a:rPr lang="en-US" dirty="0"/>
              <a:t> - </a:t>
            </a:r>
            <a:r>
              <a:rPr lang="en-US" sz="2400" dirty="0"/>
              <a:t>developed by Amazon, is a search engine that allows users to search multiple types of information simultaneously. It integrates results from sources like Google (for web and images), Amazon (for books), IMDb (for movies), and other platforms such as Wikipedia. The key feature of A9 is its dynamic user interface, where different search results are displayed in separate sections of the page. Users can select additional search categories using checkboxes, and results are fetched in the background. This is achieved using a combination of hidden </a:t>
            </a:r>
            <a:r>
              <a:rPr lang="en-US" sz="2400" dirty="0" err="1"/>
              <a:t>iframes</a:t>
            </a:r>
            <a:r>
              <a:rPr lang="en-US" sz="2400" dirty="0"/>
              <a:t> and </a:t>
            </a:r>
            <a:r>
              <a:rPr lang="en-US" sz="2400" dirty="0" err="1"/>
              <a:t>XMLHttp</a:t>
            </a:r>
            <a:r>
              <a:rPr lang="en-US" sz="2400" dirty="0"/>
              <a:t> for asynchronous communication.</a:t>
            </a:r>
          </a:p>
          <a:p>
            <a:pPr algn="just"/>
            <a:endParaRPr lang="en-US" sz="2400" b="1" dirty="0"/>
          </a:p>
          <a:p>
            <a:pPr algn="just"/>
            <a:r>
              <a:rPr lang="en-US" b="1" dirty="0"/>
              <a:t>Yahoo! News </a:t>
            </a:r>
            <a:r>
              <a:rPr lang="en-US" sz="2400" dirty="0"/>
              <a:t>introduced an enhanced design in 2005 that used AJAX to improve user interaction. When users hover over a headline, a small popup displays a summary and sometimes an image of the news story. This information is fetched from the server using </a:t>
            </a:r>
            <a:r>
              <a:rPr lang="en-US" sz="2400" dirty="0" err="1"/>
              <a:t>XMLHttp</a:t>
            </a:r>
            <a:r>
              <a:rPr lang="en-US" sz="2400" dirty="0"/>
              <a:t> and inserted dynamically into the page. The feature enhances the browsing experience without requiring page reloads. Importantly, the site remains fully functional even without AJAX, ensuring accessibility.</a:t>
            </a:r>
            <a:endParaRPr lang="en-IN" dirty="0"/>
          </a:p>
        </p:txBody>
      </p:sp>
    </p:spTree>
    <p:extLst>
      <p:ext uri="{BB962C8B-B14F-4D97-AF65-F5344CB8AC3E}">
        <p14:creationId xmlns:p14="http://schemas.microsoft.com/office/powerpoint/2010/main" val="2518699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6273E-57F1-3E0C-14D0-9DA98545B38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2DA617-43D3-1BA4-8951-1375490597C8}"/>
              </a:ext>
            </a:extLst>
          </p:cNvPr>
          <p:cNvSpPr>
            <a:spLocks noGrp="1"/>
          </p:cNvSpPr>
          <p:nvPr>
            <p:ph idx="1"/>
          </p:nvPr>
        </p:nvSpPr>
        <p:spPr>
          <a:xfrm>
            <a:off x="838200" y="316523"/>
            <a:ext cx="10515600" cy="6224954"/>
          </a:xfrm>
        </p:spPr>
        <p:txBody>
          <a:bodyPr/>
          <a:lstStyle/>
          <a:p>
            <a:pPr algn="just"/>
            <a:r>
              <a:rPr lang="en-US" b="1" dirty="0" err="1"/>
              <a:t>Bitflux</a:t>
            </a:r>
            <a:r>
              <a:rPr lang="en-US" dirty="0"/>
              <a:t> </a:t>
            </a:r>
            <a:r>
              <a:rPr lang="en-US" b="1" dirty="0"/>
              <a:t>Blog</a:t>
            </a:r>
            <a:r>
              <a:rPr lang="en-US" dirty="0"/>
              <a:t> </a:t>
            </a:r>
            <a:r>
              <a:rPr lang="en-US" sz="2400" dirty="0"/>
              <a:t>demonstrates the use of AJAX as an enhancement through its </a:t>
            </a:r>
            <a:r>
              <a:rPr lang="en-US" sz="2400" dirty="0" err="1"/>
              <a:t>LiveSearch</a:t>
            </a:r>
            <a:r>
              <a:rPr lang="en-US" sz="2400" dirty="0"/>
              <a:t> feature. As users type in the search box, relevant results are displayed instantly below it. These results are fetched from the server using </a:t>
            </a:r>
            <a:r>
              <a:rPr lang="en-US" sz="2400" dirty="0" err="1"/>
              <a:t>XMLHttp</a:t>
            </a:r>
            <a:r>
              <a:rPr lang="en-US" sz="2400" dirty="0"/>
              <a:t> and inserted dynamically into the page. This provides a faster and more interactive search experience. However, users can still perform a traditional search by pressing Enter. Thus, AJAX enhances usability without being essential for the site’s functionality.</a:t>
            </a:r>
            <a:endParaRPr lang="en-IN" dirty="0"/>
          </a:p>
        </p:txBody>
      </p:sp>
    </p:spTree>
    <p:extLst>
      <p:ext uri="{BB962C8B-B14F-4D97-AF65-F5344CB8AC3E}">
        <p14:creationId xmlns:p14="http://schemas.microsoft.com/office/powerpoint/2010/main" val="33035736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CE58D-215F-4344-40B4-5A17FC1DCA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BD5BC5-45C4-CF9A-D19E-36255AB2A9E5}"/>
              </a:ext>
            </a:extLst>
          </p:cNvPr>
          <p:cNvSpPr>
            <a:spLocks noGrp="1"/>
          </p:cNvSpPr>
          <p:nvPr>
            <p:ph idx="1"/>
          </p:nvPr>
        </p:nvSpPr>
        <p:spPr>
          <a:xfrm>
            <a:off x="838200" y="316523"/>
            <a:ext cx="10515600" cy="6224954"/>
          </a:xfrm>
        </p:spPr>
        <p:txBody>
          <a:bodyPr>
            <a:normAutofit fontScale="85000" lnSpcReduction="20000"/>
          </a:bodyPr>
          <a:lstStyle/>
          <a:p>
            <a:pPr algn="just"/>
            <a:r>
              <a:rPr lang="en-IN" dirty="0"/>
              <a:t>Ajax Basics</a:t>
            </a:r>
          </a:p>
          <a:p>
            <a:pPr algn="just"/>
            <a:endParaRPr lang="en-US" dirty="0"/>
          </a:p>
          <a:p>
            <a:pPr algn="just"/>
            <a:r>
              <a:rPr lang="en-US" dirty="0"/>
              <a:t>Central to a good grasp of Ajax techniques is hypertext transmission protocol (HTTP), the protocol to transmit web pages, images, and other types of files over the Internet to your web browser and back. </a:t>
            </a:r>
          </a:p>
          <a:p>
            <a:pPr algn="just"/>
            <a:endParaRPr lang="en-US" dirty="0"/>
          </a:p>
          <a:p>
            <a:pPr algn="just"/>
            <a:r>
              <a:rPr lang="en-US" dirty="0"/>
              <a:t>Whenever you type a URL into the browser, an "http://" is prepended to the address, indicating that you will be using HTTP to access the information at the given location. </a:t>
            </a:r>
          </a:p>
          <a:p>
            <a:pPr algn="just"/>
            <a:endParaRPr lang="en-US" dirty="0"/>
          </a:p>
          <a:p>
            <a:pPr algn="just"/>
            <a:r>
              <a:rPr lang="en-US" dirty="0"/>
              <a:t>HTTP consists of two parts: a request and a response. When you type a URL in a web browser, the browser creates and sends a request on your behalf. </a:t>
            </a:r>
          </a:p>
          <a:p>
            <a:pPr algn="just"/>
            <a:endParaRPr lang="en-US" dirty="0"/>
          </a:p>
          <a:p>
            <a:pPr algn="just"/>
            <a:r>
              <a:rPr lang="en-US" dirty="0"/>
              <a:t>This request contains the URL that you typed in as well as some information about the browser itself. </a:t>
            </a:r>
          </a:p>
          <a:p>
            <a:pPr algn="just"/>
            <a:endParaRPr lang="en-US" dirty="0"/>
          </a:p>
          <a:p>
            <a:pPr algn="just"/>
            <a:r>
              <a:rPr lang="en-US" dirty="0"/>
              <a:t>The server receives this request and sends back a response. The response contains information about the request as well as the data located at the URL</a:t>
            </a:r>
            <a:endParaRPr lang="en-IN" dirty="0"/>
          </a:p>
        </p:txBody>
      </p:sp>
    </p:spTree>
    <p:extLst>
      <p:ext uri="{BB962C8B-B14F-4D97-AF65-F5344CB8AC3E}">
        <p14:creationId xmlns:p14="http://schemas.microsoft.com/office/powerpoint/2010/main" val="313441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7740A-4F5D-2B0D-6D2A-771E69B9B73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D17BFE-044D-03E7-930B-2295B86DC060}"/>
              </a:ext>
            </a:extLst>
          </p:cNvPr>
          <p:cNvSpPr>
            <a:spLocks noGrp="1"/>
          </p:cNvSpPr>
          <p:nvPr>
            <p:ph idx="1"/>
          </p:nvPr>
        </p:nvSpPr>
        <p:spPr>
          <a:xfrm>
            <a:off x="838200" y="316523"/>
            <a:ext cx="10515600" cy="6224954"/>
          </a:xfrm>
        </p:spPr>
        <p:txBody>
          <a:bodyPr/>
          <a:lstStyle/>
          <a:p>
            <a:pPr algn="just"/>
            <a:r>
              <a:rPr lang="en-US" dirty="0"/>
              <a:t>HTTP Request</a:t>
            </a:r>
          </a:p>
          <a:p>
            <a:pPr lvl="1" algn="just"/>
            <a:r>
              <a:rPr lang="en-IN" dirty="0"/>
              <a:t>HTTP requests are messages sent by a browser to a web server to request resources such as web pages, images, or data. </a:t>
            </a:r>
          </a:p>
          <a:p>
            <a:pPr lvl="1" algn="just"/>
            <a:r>
              <a:rPr lang="en-IN" dirty="0"/>
              <a:t>The general format of an HTTP request consists of a request line, headers, a blank line, and an optional request body. </a:t>
            </a:r>
          </a:p>
          <a:p>
            <a:pPr lvl="1" algn="just"/>
            <a:r>
              <a:rPr lang="en-IN" dirty="0"/>
              <a:t>The request line specifies the request type, resource location, and HTTP version. </a:t>
            </a:r>
          </a:p>
          <a:p>
            <a:pPr lvl="1" algn="just"/>
            <a:r>
              <a:rPr lang="en-IN" dirty="0"/>
              <a:t>Common request types used in Ajax are GET and POST. </a:t>
            </a:r>
          </a:p>
          <a:p>
            <a:pPr lvl="1" algn="just"/>
            <a:r>
              <a:rPr lang="en-IN" dirty="0"/>
              <a:t>Headers provide additional information such as browser details, host information, and content type.</a:t>
            </a:r>
          </a:p>
          <a:p>
            <a:pPr lvl="1" algn="just"/>
            <a:r>
              <a:rPr lang="en-IN" dirty="0"/>
              <a:t>A </a:t>
            </a:r>
            <a:r>
              <a:rPr lang="en-IN" dirty="0">
                <a:solidFill>
                  <a:srgbClr val="FF0000"/>
                </a:solidFill>
              </a:rPr>
              <a:t>GET</a:t>
            </a:r>
            <a:r>
              <a:rPr lang="en-IN" dirty="0"/>
              <a:t> request is mainly used to retrieve data from the server. For example:</a:t>
            </a:r>
          </a:p>
          <a:p>
            <a:pPr lvl="2"/>
            <a:r>
              <a:rPr lang="en-IN" dirty="0"/>
              <a:t>GET /books/ HTTP/1.1</a:t>
            </a:r>
            <a:br>
              <a:rPr lang="en-IN" dirty="0"/>
            </a:br>
            <a:r>
              <a:rPr lang="en-IN" dirty="0"/>
              <a:t>Host: www.wrox.com</a:t>
            </a:r>
            <a:br>
              <a:rPr lang="en-IN" dirty="0"/>
            </a:br>
            <a:r>
              <a:rPr lang="en-IN" dirty="0"/>
              <a:t>User-Agent: Mozilla/5.0</a:t>
            </a:r>
            <a:br>
              <a:rPr lang="en-IN" dirty="0"/>
            </a:br>
            <a:r>
              <a:rPr lang="en-IN" dirty="0"/>
              <a:t>Connection: Keep-Alive</a:t>
            </a:r>
          </a:p>
        </p:txBody>
      </p:sp>
    </p:spTree>
    <p:extLst>
      <p:ext uri="{BB962C8B-B14F-4D97-AF65-F5344CB8AC3E}">
        <p14:creationId xmlns:p14="http://schemas.microsoft.com/office/powerpoint/2010/main" val="8012314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5270-0B5C-3ED6-B420-930107D47BE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A9A234-F754-B2CE-6895-0F6F8733815C}"/>
              </a:ext>
            </a:extLst>
          </p:cNvPr>
          <p:cNvSpPr>
            <a:spLocks noGrp="1"/>
          </p:cNvSpPr>
          <p:nvPr>
            <p:ph idx="1"/>
          </p:nvPr>
        </p:nvSpPr>
        <p:spPr>
          <a:xfrm>
            <a:off x="838200" y="316523"/>
            <a:ext cx="10515600" cy="6224954"/>
          </a:xfrm>
        </p:spPr>
        <p:txBody>
          <a:bodyPr>
            <a:normAutofit/>
          </a:bodyPr>
          <a:lstStyle/>
          <a:p>
            <a:pPr algn="just"/>
            <a:r>
              <a:rPr lang="en-IN" sz="2000" dirty="0"/>
              <a:t>In this example, the browser requests the /books/ resource from www.wrox.com. Parameters in a GET request are added to the URL using a query string. For example:</a:t>
            </a:r>
          </a:p>
          <a:p>
            <a:pPr marL="914400" lvl="2" indent="0">
              <a:buNone/>
            </a:pPr>
            <a:r>
              <a:rPr lang="en-IN" sz="1400" dirty="0"/>
              <a:t>GET /books/?name=Professional%20Ajax HTTP/1.1</a:t>
            </a:r>
            <a:br>
              <a:rPr lang="en-IN" sz="1400" dirty="0"/>
            </a:br>
            <a:r>
              <a:rPr lang="en-IN" sz="1400" dirty="0"/>
              <a:t>Host: www.wrox.com</a:t>
            </a:r>
          </a:p>
          <a:p>
            <a:pPr algn="just"/>
            <a:r>
              <a:rPr lang="en-IN" sz="2000" dirty="0"/>
              <a:t>Here, the parameter name=Professional Ajax is sent with the URL, where the space is URL-encoded as %20</a:t>
            </a:r>
          </a:p>
          <a:p>
            <a:pPr algn="just"/>
            <a:endParaRPr lang="en-IN" sz="2000" dirty="0"/>
          </a:p>
          <a:p>
            <a:pPr algn="just"/>
            <a:r>
              <a:rPr lang="en-IN" sz="2000" dirty="0"/>
              <a:t>A </a:t>
            </a:r>
            <a:r>
              <a:rPr lang="en-IN" sz="2000" dirty="0">
                <a:solidFill>
                  <a:srgbClr val="FF0000"/>
                </a:solidFill>
              </a:rPr>
              <a:t>POST</a:t>
            </a:r>
            <a:r>
              <a:rPr lang="en-IN" sz="2000" dirty="0"/>
              <a:t> request is used to send data to the server, usually from HTML forms. Unlike GET, the data is placed inside the request body instead of the URL. Example:</a:t>
            </a:r>
          </a:p>
          <a:p>
            <a:pPr marL="914400" lvl="2" indent="0" algn="just">
              <a:buNone/>
            </a:pPr>
            <a:r>
              <a:rPr lang="en-US" sz="1400" dirty="0"/>
              <a:t>POST / HTTP/1.1</a:t>
            </a:r>
          </a:p>
          <a:p>
            <a:pPr marL="914400" lvl="2" indent="0" algn="just">
              <a:buNone/>
            </a:pPr>
            <a:r>
              <a:rPr lang="en-US" sz="1400" dirty="0"/>
              <a:t>Host: www.wrox.com</a:t>
            </a:r>
          </a:p>
          <a:p>
            <a:pPr marL="914400" lvl="2" indent="0" algn="just">
              <a:buNone/>
            </a:pPr>
            <a:r>
              <a:rPr lang="en-US" sz="1400" dirty="0"/>
              <a:t>Content-Type: application/x-www-form-</a:t>
            </a:r>
            <a:r>
              <a:rPr lang="en-US" sz="1400" dirty="0" err="1"/>
              <a:t>urlencoded</a:t>
            </a:r>
            <a:endParaRPr lang="en-US" sz="1400" dirty="0"/>
          </a:p>
          <a:p>
            <a:pPr marL="914400" lvl="2" indent="0" algn="just">
              <a:buNone/>
            </a:pPr>
            <a:r>
              <a:rPr lang="en-US" sz="1400" dirty="0"/>
              <a:t>Content-Length: 40</a:t>
            </a:r>
          </a:p>
          <a:p>
            <a:pPr marL="914400" lvl="2" indent="0" algn="just">
              <a:buNone/>
            </a:pPr>
            <a:endParaRPr lang="en-US" sz="1400" dirty="0"/>
          </a:p>
          <a:p>
            <a:pPr marL="914400" lvl="2" indent="0" algn="just">
              <a:buNone/>
            </a:pPr>
            <a:r>
              <a:rPr lang="en-US" sz="1400" dirty="0"/>
              <a:t>name=Professional%20Ajax&amp;publisher=Wiley</a:t>
            </a:r>
          </a:p>
          <a:p>
            <a:pPr algn="just"/>
            <a:r>
              <a:rPr lang="en-IN" sz="1800" dirty="0"/>
              <a:t>In this example, the values </a:t>
            </a:r>
            <a:r>
              <a:rPr lang="en-IN" sz="2000" dirty="0"/>
              <a:t>Professional Ajax</a:t>
            </a:r>
            <a:r>
              <a:rPr lang="en-IN" sz="1800" dirty="0"/>
              <a:t> and </a:t>
            </a:r>
            <a:r>
              <a:rPr lang="en-IN" sz="2000" dirty="0"/>
              <a:t>Wiley</a:t>
            </a:r>
            <a:r>
              <a:rPr lang="en-IN" sz="1800" dirty="0"/>
              <a:t> are sent as form data in the body of the request. </a:t>
            </a:r>
          </a:p>
          <a:p>
            <a:pPr algn="just"/>
            <a:r>
              <a:rPr lang="en-IN" sz="1800" dirty="0"/>
              <a:t>The </a:t>
            </a:r>
            <a:r>
              <a:rPr lang="en-IN" sz="2000" dirty="0"/>
              <a:t>Content-Type</a:t>
            </a:r>
            <a:r>
              <a:rPr lang="en-IN" sz="1800" dirty="0"/>
              <a:t> header specifies that the data is URL-encoded, while </a:t>
            </a:r>
            <a:r>
              <a:rPr lang="en-IN" sz="2000" dirty="0"/>
              <a:t>Content-Length</a:t>
            </a:r>
            <a:r>
              <a:rPr lang="en-IN" sz="1800" dirty="0"/>
              <a:t> indicates the size of the request body.</a:t>
            </a:r>
          </a:p>
          <a:p>
            <a:pPr algn="just"/>
            <a:r>
              <a:rPr lang="en-IN" sz="1800" dirty="0"/>
              <a:t>Thus, GET requests are mainly used for retrieving information, whereas POST requests are used for submitting data securely and efficiently to the server.</a:t>
            </a:r>
          </a:p>
        </p:txBody>
      </p:sp>
    </p:spTree>
    <p:extLst>
      <p:ext uri="{BB962C8B-B14F-4D97-AF65-F5344CB8AC3E}">
        <p14:creationId xmlns:p14="http://schemas.microsoft.com/office/powerpoint/2010/main" val="38346582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CDDBA-3DD1-3A62-2801-609CAB84316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43F302-5A11-F55D-5F02-342FF61245F7}"/>
              </a:ext>
            </a:extLst>
          </p:cNvPr>
          <p:cNvSpPr>
            <a:spLocks noGrp="1"/>
          </p:cNvSpPr>
          <p:nvPr>
            <p:ph idx="1"/>
          </p:nvPr>
        </p:nvSpPr>
        <p:spPr>
          <a:xfrm>
            <a:off x="838200" y="316523"/>
            <a:ext cx="10515600" cy="6224954"/>
          </a:xfrm>
        </p:spPr>
        <p:txBody>
          <a:bodyPr/>
          <a:lstStyle/>
          <a:p>
            <a:pPr algn="just"/>
            <a:r>
              <a:rPr lang="en-IN" dirty="0"/>
              <a:t>HTTP Responses</a:t>
            </a:r>
          </a:p>
          <a:p>
            <a:pPr lvl="1" algn="just"/>
            <a:r>
              <a:rPr lang="en-IN" dirty="0"/>
              <a:t>HTTP responses are messages sent by the web server back to the client after processing an HTTP request. </a:t>
            </a:r>
          </a:p>
          <a:p>
            <a:pPr lvl="1" algn="just"/>
            <a:r>
              <a:rPr lang="en-IN" dirty="0"/>
              <a:t>The general format of an HTTP response consists of a status line, headers, a blank line, and an optional response body. </a:t>
            </a:r>
          </a:p>
          <a:p>
            <a:pPr lvl="1" algn="just"/>
            <a:r>
              <a:rPr lang="en-IN" dirty="0"/>
              <a:t>The status line contains the HTTP version, status code, and status message. </a:t>
            </a:r>
          </a:p>
          <a:p>
            <a:pPr lvl="1" algn="just"/>
            <a:r>
              <a:rPr lang="en-IN" dirty="0"/>
              <a:t>Headers provide additional information such as content type, content length, and response date. </a:t>
            </a:r>
          </a:p>
          <a:p>
            <a:pPr lvl="1" algn="just"/>
            <a:r>
              <a:rPr lang="en-IN" dirty="0"/>
              <a:t>The response body contains the actual data requested by the client, such as HTML, XML, text, or images.</a:t>
            </a:r>
          </a:p>
        </p:txBody>
      </p:sp>
    </p:spTree>
    <p:extLst>
      <p:ext uri="{BB962C8B-B14F-4D97-AF65-F5344CB8AC3E}">
        <p14:creationId xmlns:p14="http://schemas.microsoft.com/office/powerpoint/2010/main" val="4427873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81DCF-A2B2-3CF9-32EB-62AD0D2B8A0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58262A-FE86-D552-50C4-7D7C7BF9DE45}"/>
              </a:ext>
            </a:extLst>
          </p:cNvPr>
          <p:cNvSpPr>
            <a:spLocks noGrp="1"/>
          </p:cNvSpPr>
          <p:nvPr>
            <p:ph idx="1"/>
          </p:nvPr>
        </p:nvSpPr>
        <p:spPr>
          <a:xfrm>
            <a:off x="838200" y="316523"/>
            <a:ext cx="10515600" cy="6224954"/>
          </a:xfrm>
        </p:spPr>
        <p:txBody>
          <a:bodyPr>
            <a:normAutofit lnSpcReduction="10000"/>
          </a:bodyPr>
          <a:lstStyle/>
          <a:p>
            <a:pPr algn="just"/>
            <a:r>
              <a:rPr lang="en-IN" sz="2000" dirty="0"/>
              <a:t>A typical HTTP response looks like this:</a:t>
            </a:r>
          </a:p>
          <a:p>
            <a:pPr marL="1371600" lvl="3" indent="0">
              <a:buNone/>
            </a:pPr>
            <a:r>
              <a:rPr lang="en-IN" dirty="0"/>
              <a:t>HTTP/1.1 200 OK</a:t>
            </a:r>
            <a:br>
              <a:rPr lang="en-IN" dirty="0"/>
            </a:br>
            <a:r>
              <a:rPr lang="en-IN" dirty="0"/>
              <a:t>Date: Sat, 31 Dec 2005 23:59:59 GMT</a:t>
            </a:r>
            <a:br>
              <a:rPr lang="en-IN" dirty="0"/>
            </a:br>
            <a:r>
              <a:rPr lang="en-IN" dirty="0"/>
              <a:t>Content-Type: text/</a:t>
            </a:r>
            <a:r>
              <a:rPr lang="en-IN" dirty="0" err="1"/>
              <a:t>html;charset</a:t>
            </a:r>
            <a:r>
              <a:rPr lang="en-IN" dirty="0"/>
              <a:t>=ISO-8859-1</a:t>
            </a:r>
            <a:br>
              <a:rPr lang="en-IN" dirty="0"/>
            </a:br>
            <a:r>
              <a:rPr lang="en-IN" dirty="0"/>
              <a:t>Content-Length: 122</a:t>
            </a:r>
            <a:br>
              <a:rPr lang="en-IN" dirty="0"/>
            </a:br>
            <a:br>
              <a:rPr lang="en-IN" dirty="0"/>
            </a:br>
            <a:r>
              <a:rPr lang="en-IN" dirty="0"/>
              <a:t>&lt;html&gt;</a:t>
            </a:r>
            <a:br>
              <a:rPr lang="en-IN" dirty="0"/>
            </a:br>
            <a:r>
              <a:rPr lang="en-IN" dirty="0"/>
              <a:t>&lt;head&gt;</a:t>
            </a:r>
            <a:br>
              <a:rPr lang="en-IN" dirty="0"/>
            </a:br>
            <a:r>
              <a:rPr lang="en-IN" dirty="0"/>
              <a:t>&lt;title&gt;</a:t>
            </a:r>
            <a:r>
              <a:rPr lang="en-IN" dirty="0" err="1"/>
              <a:t>Wrox</a:t>
            </a:r>
            <a:r>
              <a:rPr lang="en-IN" dirty="0"/>
              <a:t> Homepage&lt;/title&gt;</a:t>
            </a:r>
            <a:br>
              <a:rPr lang="en-IN" dirty="0"/>
            </a:br>
            <a:r>
              <a:rPr lang="en-IN" dirty="0"/>
              <a:t>&lt;/head&gt;</a:t>
            </a:r>
            <a:br>
              <a:rPr lang="en-IN" dirty="0"/>
            </a:br>
            <a:r>
              <a:rPr lang="en-IN" dirty="0"/>
              <a:t>&lt;body&gt;</a:t>
            </a:r>
            <a:br>
              <a:rPr lang="en-IN" dirty="0"/>
            </a:br>
            <a:r>
              <a:rPr lang="en-IN" dirty="0"/>
              <a:t>&lt;!-- body goes here --&gt;</a:t>
            </a:r>
            <a:br>
              <a:rPr lang="en-IN" dirty="0"/>
            </a:br>
            <a:r>
              <a:rPr lang="en-IN" dirty="0"/>
              <a:t>&lt;/body&gt;</a:t>
            </a:r>
            <a:br>
              <a:rPr lang="en-IN" dirty="0"/>
            </a:br>
            <a:r>
              <a:rPr lang="en-IN" dirty="0"/>
              <a:t>&lt;/html&gt;</a:t>
            </a:r>
          </a:p>
          <a:p>
            <a:r>
              <a:rPr lang="en-IN" sz="2000" dirty="0"/>
              <a:t>In this example, the status line </a:t>
            </a:r>
            <a:r>
              <a:rPr lang="en-IN" dirty="0"/>
              <a:t>HTTP/1.1 200 OK</a:t>
            </a:r>
            <a:r>
              <a:rPr lang="en-IN" sz="2000" dirty="0"/>
              <a:t> indicates that the request was successful. </a:t>
            </a:r>
          </a:p>
          <a:p>
            <a:r>
              <a:rPr lang="en-IN" sz="2000" dirty="0"/>
              <a:t>The </a:t>
            </a:r>
            <a:r>
              <a:rPr lang="en-IN" dirty="0"/>
              <a:t>200</a:t>
            </a:r>
            <a:r>
              <a:rPr lang="en-IN" sz="2000" dirty="0"/>
              <a:t> status code means the requested resource was found and returned correctly. </a:t>
            </a:r>
          </a:p>
          <a:p>
            <a:r>
              <a:rPr lang="en-IN" sz="2000" dirty="0"/>
              <a:t>The </a:t>
            </a:r>
            <a:r>
              <a:rPr lang="en-IN" dirty="0"/>
              <a:t>Date</a:t>
            </a:r>
            <a:r>
              <a:rPr lang="en-IN" sz="2000" dirty="0"/>
              <a:t> header specifies when the response was generated. </a:t>
            </a:r>
          </a:p>
          <a:p>
            <a:r>
              <a:rPr lang="en-IN" sz="2000" dirty="0"/>
              <a:t>The </a:t>
            </a:r>
            <a:r>
              <a:rPr lang="en-IN" dirty="0"/>
              <a:t>Content-Type</a:t>
            </a:r>
            <a:r>
              <a:rPr lang="en-IN" sz="2000" dirty="0"/>
              <a:t> header indicates that the response contains HTML data with ISO-8859-1 character encoding. </a:t>
            </a:r>
          </a:p>
          <a:p>
            <a:r>
              <a:rPr lang="en-IN" sz="2000" dirty="0"/>
              <a:t>The </a:t>
            </a:r>
            <a:r>
              <a:rPr lang="en-IN" dirty="0"/>
              <a:t>Content-Length</a:t>
            </a:r>
            <a:r>
              <a:rPr lang="en-IN" sz="2000" dirty="0"/>
              <a:t> header specifies the size of the response body in bytes.</a:t>
            </a:r>
          </a:p>
        </p:txBody>
      </p:sp>
    </p:spTree>
    <p:extLst>
      <p:ext uri="{BB962C8B-B14F-4D97-AF65-F5344CB8AC3E}">
        <p14:creationId xmlns:p14="http://schemas.microsoft.com/office/powerpoint/2010/main" val="22588702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BB976-FB5B-25FE-2975-34BAE24B2FE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73094A-7B5C-AD12-47DE-F88F2AD4C9B8}"/>
              </a:ext>
            </a:extLst>
          </p:cNvPr>
          <p:cNvSpPr>
            <a:spLocks noGrp="1"/>
          </p:cNvSpPr>
          <p:nvPr>
            <p:ph idx="1"/>
          </p:nvPr>
        </p:nvSpPr>
        <p:spPr>
          <a:xfrm>
            <a:off x="838200" y="316523"/>
            <a:ext cx="10515600" cy="6224954"/>
          </a:xfrm>
        </p:spPr>
        <p:txBody>
          <a:bodyPr/>
          <a:lstStyle/>
          <a:p>
            <a:pPr algn="just"/>
            <a:r>
              <a:rPr lang="en-IN" sz="2400" dirty="0"/>
              <a:t>Some common HTTP status codes are:</a:t>
            </a:r>
          </a:p>
          <a:p>
            <a:pPr lvl="1" algn="just"/>
            <a:r>
              <a:rPr lang="en-IN" sz="2000" b="1" dirty="0"/>
              <a:t>200 (OK):</a:t>
            </a:r>
            <a:r>
              <a:rPr lang="en-IN" sz="2000" dirty="0"/>
              <a:t> Request successful and resource returned. </a:t>
            </a:r>
          </a:p>
          <a:p>
            <a:pPr lvl="1" algn="just"/>
            <a:r>
              <a:rPr lang="en-IN" sz="2000" b="1" dirty="0"/>
              <a:t>304 (Not Modified):</a:t>
            </a:r>
            <a:r>
              <a:rPr lang="en-IN" sz="2000" dirty="0"/>
              <a:t> Resource has not changed since the previous request and browser cache can be used. </a:t>
            </a:r>
          </a:p>
          <a:p>
            <a:pPr lvl="1" algn="just"/>
            <a:r>
              <a:rPr lang="en-IN" sz="2000" b="1" dirty="0"/>
              <a:t>401 (Unauthorized):</a:t>
            </a:r>
            <a:r>
              <a:rPr lang="en-IN" sz="2000" dirty="0"/>
              <a:t> User authentication is required. </a:t>
            </a:r>
          </a:p>
          <a:p>
            <a:pPr lvl="1" algn="just"/>
            <a:r>
              <a:rPr lang="en-IN" sz="2000" b="1" dirty="0"/>
              <a:t>403 (Forbidden):</a:t>
            </a:r>
            <a:r>
              <a:rPr lang="en-IN" sz="2000" dirty="0"/>
              <a:t> Access to the resource is denied. </a:t>
            </a:r>
          </a:p>
          <a:p>
            <a:pPr lvl="1" algn="just"/>
            <a:r>
              <a:rPr lang="en-IN" sz="2000" b="1" dirty="0"/>
              <a:t>404 (Not Found):</a:t>
            </a:r>
            <a:r>
              <a:rPr lang="en-IN" sz="2000" dirty="0"/>
              <a:t> Requested resource does not exist on the server.</a:t>
            </a:r>
          </a:p>
          <a:p>
            <a:pPr algn="just"/>
            <a:r>
              <a:rPr lang="en-IN" sz="2000" dirty="0"/>
              <a:t>For example, if a requested page is missing, the server may return:</a:t>
            </a:r>
          </a:p>
          <a:p>
            <a:pPr marL="457200" lvl="1" indent="0">
              <a:buNone/>
            </a:pPr>
            <a:r>
              <a:rPr lang="en-IN" sz="1600" dirty="0"/>
              <a:t>HTTP/1.1 404 Not Found</a:t>
            </a:r>
            <a:br>
              <a:rPr lang="en-IN" sz="1600" dirty="0"/>
            </a:br>
            <a:r>
              <a:rPr lang="en-IN" sz="1600" dirty="0"/>
              <a:t>Content-Type: text/html</a:t>
            </a:r>
            <a:br>
              <a:rPr lang="en-IN" sz="1600" dirty="0"/>
            </a:br>
            <a:br>
              <a:rPr lang="en-IN" sz="1600" dirty="0"/>
            </a:br>
            <a:r>
              <a:rPr lang="en-IN" sz="1600" dirty="0"/>
              <a:t>&lt;h1&gt;404 - Page Not Found&lt;/h1&gt;</a:t>
            </a:r>
          </a:p>
          <a:p>
            <a:pPr algn="just"/>
            <a:r>
              <a:rPr lang="en-IN" sz="2000" dirty="0"/>
              <a:t>The browser reads the response headers and body, then displays the returned content to the user. </a:t>
            </a:r>
          </a:p>
          <a:p>
            <a:pPr algn="just"/>
            <a:r>
              <a:rPr lang="en-IN" sz="2000" dirty="0"/>
              <a:t>Thus, HTTP responses provide both the requested data and information about the status of the request.</a:t>
            </a:r>
          </a:p>
        </p:txBody>
      </p:sp>
    </p:spTree>
    <p:extLst>
      <p:ext uri="{BB962C8B-B14F-4D97-AF65-F5344CB8AC3E}">
        <p14:creationId xmlns:p14="http://schemas.microsoft.com/office/powerpoint/2010/main" val="2950320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98CF-E5B3-3362-D2B1-0DFBE00F11D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6DE57-5645-81B2-F984-D0BF272730CC}"/>
              </a:ext>
            </a:extLst>
          </p:cNvPr>
          <p:cNvSpPr>
            <a:spLocks noGrp="1"/>
          </p:cNvSpPr>
          <p:nvPr>
            <p:ph idx="1"/>
          </p:nvPr>
        </p:nvSpPr>
        <p:spPr>
          <a:xfrm>
            <a:off x="838200" y="316523"/>
            <a:ext cx="10515600" cy="6224954"/>
          </a:xfrm>
        </p:spPr>
        <p:txBody>
          <a:bodyPr/>
          <a:lstStyle/>
          <a:p>
            <a:pPr algn="just"/>
            <a:r>
              <a:rPr lang="en-IN" dirty="0"/>
              <a:t>Ajax Communication Techniques:</a:t>
            </a:r>
          </a:p>
          <a:p>
            <a:pPr lvl="1" algn="just"/>
            <a:r>
              <a:rPr lang="en-IN" dirty="0"/>
              <a:t>Ajax communication techniques are methods used to exchange data between the browser and the server without reloading the entire web page. </a:t>
            </a:r>
          </a:p>
          <a:p>
            <a:pPr lvl="1" algn="just"/>
            <a:r>
              <a:rPr lang="en-IN" dirty="0"/>
              <a:t>Traditional web applications required full page reloads whenever the user requested new information. </a:t>
            </a:r>
          </a:p>
          <a:p>
            <a:pPr lvl="1" algn="just"/>
            <a:r>
              <a:rPr lang="en-IN" dirty="0"/>
              <a:t>Ajax introduced techniques that allow web pages to communicate with the server asynchronously, improving speed and user experience. </a:t>
            </a:r>
          </a:p>
          <a:p>
            <a:pPr lvl="1" algn="just"/>
            <a:r>
              <a:rPr lang="en-IN" dirty="0"/>
              <a:t>These techniques enable developers to send and receive data dynamically in the background. </a:t>
            </a:r>
          </a:p>
          <a:p>
            <a:pPr lvl="1" algn="just"/>
            <a:r>
              <a:rPr lang="en-IN" dirty="0"/>
              <a:t>Ajax communication can occur at any time, without waiting for explicit user actions such as page refreshes. </a:t>
            </a:r>
          </a:p>
          <a:p>
            <a:pPr lvl="1" algn="just"/>
            <a:r>
              <a:rPr lang="en-IN" dirty="0"/>
              <a:t>Different Ajax communication techniques have their own advantages and disadvantages depending on the application requirements.</a:t>
            </a:r>
          </a:p>
        </p:txBody>
      </p:sp>
    </p:spTree>
    <p:extLst>
      <p:ext uri="{BB962C8B-B14F-4D97-AF65-F5344CB8AC3E}">
        <p14:creationId xmlns:p14="http://schemas.microsoft.com/office/powerpoint/2010/main" val="33744523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DAAF8-A347-FCFD-3A42-3D3DA0E2FBD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928D23-45DF-5973-08DF-28144ECC6A69}"/>
              </a:ext>
            </a:extLst>
          </p:cNvPr>
          <p:cNvSpPr>
            <a:spLocks noGrp="1"/>
          </p:cNvSpPr>
          <p:nvPr>
            <p:ph idx="1"/>
          </p:nvPr>
        </p:nvSpPr>
        <p:spPr>
          <a:xfrm>
            <a:off x="838200" y="316523"/>
            <a:ext cx="10515600" cy="6224954"/>
          </a:xfrm>
        </p:spPr>
        <p:txBody>
          <a:bodyPr>
            <a:normAutofit/>
          </a:bodyPr>
          <a:lstStyle/>
          <a:p>
            <a:r>
              <a:rPr lang="en-IN" sz="2400" dirty="0"/>
              <a:t>Some common Ajax communication techniques are:</a:t>
            </a:r>
          </a:p>
          <a:p>
            <a:r>
              <a:rPr lang="en-IN" sz="2400" b="1" dirty="0"/>
              <a:t>Hidden Frame Technique</a:t>
            </a:r>
          </a:p>
          <a:p>
            <a:pPr lvl="1"/>
            <a:r>
              <a:rPr lang="en-IN" sz="2000" dirty="0"/>
              <a:t>This technique uses hidden HTML frames or </a:t>
            </a:r>
            <a:r>
              <a:rPr lang="en-IN" sz="2000" dirty="0" err="1"/>
              <a:t>iframes</a:t>
            </a:r>
            <a:r>
              <a:rPr lang="en-IN" sz="2000" dirty="0"/>
              <a:t> to send requests and receive responses from the server. </a:t>
            </a:r>
          </a:p>
          <a:p>
            <a:pPr lvl="1"/>
            <a:r>
              <a:rPr lang="en-IN" sz="2000" dirty="0"/>
              <a:t>The hidden frame communicates with the server while the visible page remains unchanged. It was one of the earliest Ajax techniques before </a:t>
            </a:r>
            <a:r>
              <a:rPr lang="en-IN" sz="2000" dirty="0" err="1"/>
              <a:t>XMLHttpRequest</a:t>
            </a:r>
            <a:r>
              <a:rPr lang="en-IN" sz="2000" dirty="0"/>
              <a:t> became popular. </a:t>
            </a:r>
          </a:p>
          <a:p>
            <a:r>
              <a:rPr lang="en-IN" sz="2400" b="1" dirty="0"/>
              <a:t>Hidden </a:t>
            </a:r>
            <a:r>
              <a:rPr lang="en-IN" sz="2400" b="1" dirty="0" err="1"/>
              <a:t>Iframe</a:t>
            </a:r>
            <a:r>
              <a:rPr lang="en-IN" sz="2400" b="1" dirty="0"/>
              <a:t> Technique</a:t>
            </a:r>
          </a:p>
          <a:p>
            <a:pPr lvl="1"/>
            <a:r>
              <a:rPr lang="en-IN" sz="2000" dirty="0"/>
              <a:t>In this method, invisible </a:t>
            </a:r>
            <a:r>
              <a:rPr lang="en-IN" sz="2000" dirty="0" err="1"/>
              <a:t>iframes</a:t>
            </a:r>
            <a:r>
              <a:rPr lang="en-IN" sz="2000" dirty="0"/>
              <a:t> are dynamically created using JavaScript to perform background communication with the server. </a:t>
            </a:r>
          </a:p>
          <a:p>
            <a:pPr lvl="1"/>
            <a:r>
              <a:rPr lang="en-IN" sz="2000" dirty="0"/>
              <a:t>It avoids the need for predefined framesets and allows asynchronous communication. </a:t>
            </a:r>
          </a:p>
          <a:p>
            <a:r>
              <a:rPr lang="en-IN" sz="2400" b="1" dirty="0" err="1"/>
              <a:t>XMLHttpRequest</a:t>
            </a:r>
            <a:r>
              <a:rPr lang="en-IN" sz="2400" b="1" dirty="0"/>
              <a:t> (XHR)</a:t>
            </a:r>
          </a:p>
          <a:p>
            <a:pPr lvl="1"/>
            <a:r>
              <a:rPr lang="en-IN" sz="2000" dirty="0"/>
              <a:t>This is the most widely used Ajax communication technique. </a:t>
            </a:r>
          </a:p>
          <a:p>
            <a:pPr lvl="1"/>
            <a:r>
              <a:rPr lang="en-IN" sz="2000" dirty="0"/>
              <a:t>The </a:t>
            </a:r>
            <a:r>
              <a:rPr lang="en-IN" sz="2000" dirty="0" err="1"/>
              <a:t>XMLHttpRequest</a:t>
            </a:r>
            <a:r>
              <a:rPr lang="en-IN" sz="2000" dirty="0"/>
              <a:t> object allows JavaScript to send GET and POST requests directly to the server asynchronously. </a:t>
            </a:r>
          </a:p>
          <a:p>
            <a:pPr lvl="1"/>
            <a:r>
              <a:rPr lang="en-IN" sz="2000" dirty="0"/>
              <a:t>The server response can be plain text, XML, JSON, or HTML snippets.</a:t>
            </a:r>
          </a:p>
          <a:p>
            <a:pPr algn="just"/>
            <a:endParaRPr lang="en-US"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000" dirty="0"/>
          </a:p>
        </p:txBody>
      </p:sp>
    </p:spTree>
    <p:extLst>
      <p:ext uri="{BB962C8B-B14F-4D97-AF65-F5344CB8AC3E}">
        <p14:creationId xmlns:p14="http://schemas.microsoft.com/office/powerpoint/2010/main" val="20238710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ED438-9EDB-2651-189D-E0E971F1C6F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26892E-5F6A-D0EF-2BEE-910E01B86317}"/>
              </a:ext>
            </a:extLst>
          </p:cNvPr>
          <p:cNvSpPr>
            <a:spLocks noGrp="1"/>
          </p:cNvSpPr>
          <p:nvPr>
            <p:ph idx="1"/>
          </p:nvPr>
        </p:nvSpPr>
        <p:spPr>
          <a:xfrm>
            <a:off x="838200" y="316523"/>
            <a:ext cx="10515600" cy="6224954"/>
          </a:xfrm>
        </p:spPr>
        <p:txBody>
          <a:bodyPr>
            <a:normAutofit fontScale="92500"/>
          </a:bodyPr>
          <a:lstStyle/>
          <a:p>
            <a:pPr algn="just"/>
            <a:r>
              <a:rPr lang="en-IN" b="1" dirty="0"/>
              <a:t>The Pattern</a:t>
            </a:r>
          </a:p>
          <a:p>
            <a:pPr algn="just"/>
            <a:r>
              <a:rPr lang="en-IN" sz="2400" dirty="0"/>
              <a:t>The hidden frame technique follows a very specific, four-step pattern</a:t>
            </a:r>
          </a:p>
          <a:p>
            <a:pPr algn="just"/>
            <a:r>
              <a:rPr lang="en-IN" sz="2400" dirty="0"/>
              <a:t>The first step always begins with the visible frame, where the user is interacting with a web page. </a:t>
            </a:r>
          </a:p>
          <a:p>
            <a:pPr algn="just"/>
            <a:r>
              <a:rPr lang="en-IN" sz="2400" dirty="0"/>
              <a:t>Naturally, the user is unaware that there is a hidden frame (in modern browsers, it is not rendered) and goes about interacting with the page as one typically would. </a:t>
            </a:r>
          </a:p>
          <a:p>
            <a:pPr algn="just"/>
            <a:r>
              <a:rPr lang="en-IN" sz="2400" dirty="0"/>
              <a:t>At some point, the user performs an action that requires additional data from the server. </a:t>
            </a:r>
          </a:p>
          <a:p>
            <a:pPr algn="just"/>
            <a:r>
              <a:rPr lang="en-IN" sz="2400" dirty="0"/>
              <a:t>When this happens, the first step in the process occurs: a JavaScript function call is made to the hidden frame. </a:t>
            </a:r>
          </a:p>
          <a:p>
            <a:pPr algn="just"/>
            <a:r>
              <a:rPr lang="en-IN" sz="2400" dirty="0"/>
              <a:t>This call can be as simple as redirecting the hidden frame to another page or as complicated as posting form data. </a:t>
            </a:r>
          </a:p>
          <a:p>
            <a:pPr algn="just"/>
            <a:r>
              <a:rPr lang="en-IN" sz="2400" dirty="0"/>
              <a:t>Regardless of the intricacy of the function, the result is the second step in the process: a request made to the server.</a:t>
            </a:r>
          </a:p>
          <a:p>
            <a:pPr algn="just"/>
            <a:r>
              <a:rPr lang="en-IN" sz="2400" dirty="0"/>
              <a:t> The third step in the pattern is a response received from the server. </a:t>
            </a:r>
          </a:p>
          <a:p>
            <a:pPr algn="just"/>
            <a:r>
              <a:rPr lang="en-IN" sz="2400" dirty="0"/>
              <a:t>Because you are dealing with frames, this response must be another web page.</a:t>
            </a:r>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000" dirty="0"/>
          </a:p>
        </p:txBody>
      </p:sp>
    </p:spTree>
    <p:extLst>
      <p:ext uri="{BB962C8B-B14F-4D97-AF65-F5344CB8AC3E}">
        <p14:creationId xmlns:p14="http://schemas.microsoft.com/office/powerpoint/2010/main" val="42583393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FAF9A-CD15-5805-6718-97EAAF085E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19C802-9D29-DBAE-A4E2-807A5B6A13F5}"/>
              </a:ext>
            </a:extLst>
          </p:cNvPr>
          <p:cNvSpPr>
            <a:spLocks noGrp="1"/>
          </p:cNvSpPr>
          <p:nvPr>
            <p:ph idx="1"/>
          </p:nvPr>
        </p:nvSpPr>
        <p:spPr>
          <a:xfrm>
            <a:off x="838200" y="316523"/>
            <a:ext cx="10515600" cy="6224954"/>
          </a:xfrm>
        </p:spPr>
        <p:txBody>
          <a:bodyPr>
            <a:normAutofit/>
          </a:bodyPr>
          <a:lstStyle/>
          <a:p>
            <a:pPr algn="just"/>
            <a:r>
              <a:rPr lang="en-IN" sz="2400" dirty="0"/>
              <a:t>This web page must contain the data requested from the server as well as some JavaScript to transfer that data to the visible frame. </a:t>
            </a:r>
          </a:p>
          <a:p>
            <a:pPr algn="just"/>
            <a:r>
              <a:rPr lang="en-IN" sz="2400" dirty="0"/>
              <a:t>Typically, this is done by assigning an onload event handler in the returned web page that calls a function in the visible frame after it has been fully loaded (this is the fourth step). </a:t>
            </a:r>
          </a:p>
          <a:p>
            <a:pPr algn="just"/>
            <a:r>
              <a:rPr lang="en-IN" sz="2400" dirty="0"/>
              <a:t>With the data now in the visible frame, it is up to that frame to decide what to do with the data.</a:t>
            </a:r>
            <a:endParaRPr lang="en-US"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400" dirty="0"/>
          </a:p>
          <a:p>
            <a:pPr algn="just"/>
            <a:endParaRPr lang="en-IN" sz="2000" dirty="0"/>
          </a:p>
        </p:txBody>
      </p:sp>
      <p:pic>
        <p:nvPicPr>
          <p:cNvPr id="4" name="Picture 3">
            <a:extLst>
              <a:ext uri="{FF2B5EF4-FFF2-40B4-BE49-F238E27FC236}">
                <a16:creationId xmlns:a16="http://schemas.microsoft.com/office/drawing/2014/main" id="{9422C6DB-910B-2D88-1FDB-02131DDD8A03}"/>
              </a:ext>
            </a:extLst>
          </p:cNvPr>
          <p:cNvPicPr>
            <a:picLocks noChangeAspect="1"/>
          </p:cNvPicPr>
          <p:nvPr/>
        </p:nvPicPr>
        <p:blipFill>
          <a:blip r:embed="rId2"/>
          <a:stretch>
            <a:fillRect/>
          </a:stretch>
        </p:blipFill>
        <p:spPr>
          <a:xfrm>
            <a:off x="2024558" y="3010271"/>
            <a:ext cx="7787659" cy="3372944"/>
          </a:xfrm>
          <a:prstGeom prst="rect">
            <a:avLst/>
          </a:prstGeom>
        </p:spPr>
      </p:pic>
    </p:spTree>
    <p:extLst>
      <p:ext uri="{BB962C8B-B14F-4D97-AF65-F5344CB8AC3E}">
        <p14:creationId xmlns:p14="http://schemas.microsoft.com/office/powerpoint/2010/main" val="32104761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18B8F2-D4EE-68F9-7DC4-247EF08E0993}"/>
              </a:ext>
            </a:extLst>
          </p:cNvPr>
          <p:cNvSpPr>
            <a:spLocks noGrp="1"/>
          </p:cNvSpPr>
          <p:nvPr>
            <p:ph idx="1"/>
          </p:nvPr>
        </p:nvSpPr>
        <p:spPr>
          <a:xfrm>
            <a:off x="838200" y="281354"/>
            <a:ext cx="10515600" cy="6435969"/>
          </a:xfrm>
        </p:spPr>
        <p:txBody>
          <a:bodyPr>
            <a:normAutofit/>
          </a:bodyPr>
          <a:lstStyle/>
          <a:p>
            <a:pPr algn="just"/>
            <a:r>
              <a:rPr lang="en-IN" sz="2400" dirty="0"/>
              <a:t>AJAX patterns are reusable design techniques used in AJAX-based web applications to improve performance, responsiveness, scalability, and user experience. </a:t>
            </a:r>
          </a:p>
          <a:p>
            <a:pPr algn="just"/>
            <a:r>
              <a:rPr lang="en-IN" sz="2400" dirty="0"/>
              <a:t>These patterns define standard methods for handling asynchronous communication between the client and server. </a:t>
            </a:r>
          </a:p>
          <a:p>
            <a:pPr algn="just"/>
            <a:r>
              <a:rPr lang="en-IN" sz="2400" dirty="0"/>
              <a:t>AJAX patterns help developers reduce page reloads, minimize server requests, improve bandwidth utilization, and provide faster interaction in dynamic web applications such as Gmail, Google Maps, and online shopping sites.</a:t>
            </a:r>
          </a:p>
          <a:p>
            <a:pPr algn="just"/>
            <a:endParaRPr lang="en-IN" sz="2400" dirty="0"/>
          </a:p>
          <a:p>
            <a:pPr algn="just"/>
            <a:r>
              <a:rPr lang="en-IN" sz="2400" dirty="0"/>
              <a:t>Two important AJAX patterns are Predictive Fetch and Submission Throttling.</a:t>
            </a:r>
          </a:p>
          <a:p>
            <a:pPr algn="just"/>
            <a:endParaRPr lang="en-US" sz="2400" dirty="0"/>
          </a:p>
          <a:p>
            <a:endParaRPr lang="en-IN" sz="2400" dirty="0"/>
          </a:p>
          <a:p>
            <a:endParaRPr lang="en-IN" sz="2400" dirty="0"/>
          </a:p>
          <a:p>
            <a:endParaRPr lang="en-IN" sz="2400" dirty="0"/>
          </a:p>
        </p:txBody>
      </p:sp>
    </p:spTree>
    <p:extLst>
      <p:ext uri="{BB962C8B-B14F-4D97-AF65-F5344CB8AC3E}">
        <p14:creationId xmlns:p14="http://schemas.microsoft.com/office/powerpoint/2010/main" val="7558822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36096-E0CB-13C5-BD14-8D61A980146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5CB8B-487B-54F6-6AED-833F6F94E29F}"/>
              </a:ext>
            </a:extLst>
          </p:cNvPr>
          <p:cNvSpPr>
            <a:spLocks noGrp="1"/>
          </p:cNvSpPr>
          <p:nvPr>
            <p:ph idx="1"/>
          </p:nvPr>
        </p:nvSpPr>
        <p:spPr>
          <a:xfrm>
            <a:off x="838200" y="281354"/>
            <a:ext cx="10515600" cy="6435969"/>
          </a:xfrm>
        </p:spPr>
        <p:txBody>
          <a:bodyPr>
            <a:normAutofit/>
          </a:bodyPr>
          <a:lstStyle/>
          <a:p>
            <a:r>
              <a:rPr lang="en-IN" sz="2400" b="1" dirty="0"/>
              <a:t>Predictive Fetch </a:t>
            </a:r>
          </a:p>
          <a:p>
            <a:r>
              <a:rPr lang="en-IN" sz="2400" dirty="0"/>
              <a:t>Predictive Fetch is an AJAX optimization pattern in which the application predicts the data the user may request next and preloads it in advance. </a:t>
            </a:r>
          </a:p>
          <a:p>
            <a:r>
              <a:rPr lang="en-IN" sz="2400" dirty="0"/>
              <a:t>This reduces waiting time because the required data is already available when the user requests it.</a:t>
            </a:r>
          </a:p>
          <a:p>
            <a:r>
              <a:rPr lang="en-IN" sz="2400" dirty="0"/>
              <a:t>Concept:</a:t>
            </a:r>
          </a:p>
          <a:p>
            <a:pPr lvl="1"/>
            <a:r>
              <a:rPr lang="en-IN" sz="2000" dirty="0"/>
              <a:t>The browser fetches additional data asynchronously before the user explicitly requests it. </a:t>
            </a:r>
          </a:p>
          <a:p>
            <a:pPr lvl="1"/>
            <a:r>
              <a:rPr lang="en-IN" sz="2000" dirty="0"/>
              <a:t>Frequently used or likely-needed information is cached locally. </a:t>
            </a:r>
          </a:p>
          <a:p>
            <a:pPr lvl="1"/>
            <a:r>
              <a:rPr lang="en-IN" sz="2000" dirty="0"/>
              <a:t>When the user navigates or performs an action, the application displays the prefetched data immediately. </a:t>
            </a:r>
          </a:p>
          <a:p>
            <a:r>
              <a:rPr lang="en-IN" sz="2400" dirty="0"/>
              <a:t>Algorithm for Predictive Fetch:</a:t>
            </a:r>
          </a:p>
          <a:p>
            <a:pPr lvl="1"/>
            <a:r>
              <a:rPr lang="en-IN" sz="2000" dirty="0"/>
              <a:t>Step 1: Monitor user actions and navigation patterns.</a:t>
            </a:r>
          </a:p>
          <a:p>
            <a:pPr lvl="1"/>
            <a:r>
              <a:rPr lang="en-IN" sz="2000" dirty="0"/>
              <a:t>Step 2: Predict the next possible request.</a:t>
            </a:r>
          </a:p>
          <a:p>
            <a:pPr lvl="1"/>
            <a:r>
              <a:rPr lang="en-IN" sz="2000" dirty="0"/>
              <a:t>Step 3: Send an AJAX request asynchronously in the background.</a:t>
            </a:r>
          </a:p>
          <a:p>
            <a:pPr lvl="1"/>
            <a:r>
              <a:rPr lang="en-IN" sz="2000" dirty="0"/>
              <a:t>Step 4: Store the returned data in cache or memory.</a:t>
            </a:r>
          </a:p>
          <a:p>
            <a:pPr lvl="1"/>
            <a:r>
              <a:rPr lang="en-IN" sz="2000" dirty="0"/>
              <a:t>Step 5: When the user requests the data, display it instantly without contacting the server again.</a:t>
            </a:r>
          </a:p>
          <a:p>
            <a:endParaRPr lang="en-US" sz="2400" dirty="0"/>
          </a:p>
          <a:p>
            <a:endParaRPr lang="en-IN" sz="2400" dirty="0"/>
          </a:p>
          <a:p>
            <a:endParaRPr lang="en-IN" sz="2400" dirty="0"/>
          </a:p>
          <a:p>
            <a:endParaRPr lang="en-IN" sz="2400" dirty="0"/>
          </a:p>
        </p:txBody>
      </p:sp>
    </p:spTree>
    <p:extLst>
      <p:ext uri="{BB962C8B-B14F-4D97-AF65-F5344CB8AC3E}">
        <p14:creationId xmlns:p14="http://schemas.microsoft.com/office/powerpoint/2010/main" val="9957659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C9D54-F605-CCD1-5423-7BE5439A36C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BC6CCA-9E2E-CF7A-40EB-E48C32C65360}"/>
              </a:ext>
            </a:extLst>
          </p:cNvPr>
          <p:cNvSpPr>
            <a:spLocks noGrp="1"/>
          </p:cNvSpPr>
          <p:nvPr>
            <p:ph idx="1"/>
          </p:nvPr>
        </p:nvSpPr>
        <p:spPr>
          <a:xfrm>
            <a:off x="838200" y="281354"/>
            <a:ext cx="10515600" cy="6435969"/>
          </a:xfrm>
        </p:spPr>
        <p:txBody>
          <a:bodyPr>
            <a:normAutofit/>
          </a:bodyPr>
          <a:lstStyle/>
          <a:p>
            <a:r>
              <a:rPr lang="en-IN" sz="2400" dirty="0"/>
              <a:t>Pseudo Algorithm:</a:t>
            </a:r>
            <a:endParaRPr lang="en-US" sz="2400" dirty="0"/>
          </a:p>
          <a:p>
            <a:pPr marL="1828800" lvl="4" indent="0">
              <a:buNone/>
            </a:pPr>
            <a:r>
              <a:rPr lang="en-US" dirty="0"/>
              <a:t>Observe user activity</a:t>
            </a:r>
          </a:p>
          <a:p>
            <a:pPr marL="1828800" lvl="4" indent="0">
              <a:buNone/>
            </a:pPr>
            <a:r>
              <a:rPr lang="en-US" dirty="0"/>
              <a:t>Predict next required data</a:t>
            </a:r>
          </a:p>
          <a:p>
            <a:pPr marL="1828800" lvl="4" indent="0">
              <a:buNone/>
            </a:pPr>
            <a:r>
              <a:rPr lang="en-US" dirty="0"/>
              <a:t>Send AJAX request in background</a:t>
            </a:r>
          </a:p>
          <a:p>
            <a:pPr marL="1828800" lvl="4" indent="0">
              <a:buNone/>
            </a:pPr>
            <a:r>
              <a:rPr lang="en-US" dirty="0"/>
              <a:t>Receive data from server</a:t>
            </a:r>
          </a:p>
          <a:p>
            <a:pPr marL="1828800" lvl="4" indent="0">
              <a:buNone/>
            </a:pPr>
            <a:r>
              <a:rPr lang="en-US" dirty="0"/>
              <a:t>Store data in cache</a:t>
            </a:r>
          </a:p>
          <a:p>
            <a:pPr marL="1828800" lvl="4" indent="0">
              <a:buNone/>
            </a:pPr>
            <a:r>
              <a:rPr lang="en-US" dirty="0"/>
              <a:t>IF user requests same data THEN</a:t>
            </a:r>
          </a:p>
          <a:p>
            <a:pPr marL="1828800" lvl="4" indent="0">
              <a:buNone/>
            </a:pPr>
            <a:r>
              <a:rPr lang="en-US" dirty="0"/>
              <a:t>    Display cached data</a:t>
            </a:r>
          </a:p>
          <a:p>
            <a:pPr marL="1828800" lvl="4" indent="0">
              <a:buNone/>
            </a:pPr>
            <a:r>
              <a:rPr lang="en-US" dirty="0"/>
              <a:t>ELSE</a:t>
            </a:r>
          </a:p>
          <a:p>
            <a:pPr marL="1828800" lvl="4" indent="0">
              <a:buNone/>
            </a:pPr>
            <a:r>
              <a:rPr lang="en-US" dirty="0"/>
              <a:t>    Continue monitoring</a:t>
            </a:r>
          </a:p>
          <a:p>
            <a:pPr marL="1828800" lvl="4" indent="0">
              <a:buNone/>
            </a:pPr>
            <a:r>
              <a:rPr lang="en-US" dirty="0"/>
              <a:t>END IF</a:t>
            </a:r>
          </a:p>
          <a:p>
            <a:pPr marL="1828800" lvl="4" indent="0">
              <a:buNone/>
            </a:pPr>
            <a:r>
              <a:rPr lang="en-US" sz="1400" dirty="0"/>
              <a:t>STOP</a:t>
            </a:r>
            <a:endParaRPr lang="en-IN" sz="1400" dirty="0"/>
          </a:p>
          <a:p>
            <a:pPr>
              <a:buNone/>
            </a:pPr>
            <a:r>
              <a:rPr lang="en-IN" sz="1800" dirty="0"/>
              <a:t>Example:</a:t>
            </a:r>
          </a:p>
          <a:p>
            <a:pPr lvl="1"/>
            <a:r>
              <a:rPr lang="en-IN" sz="1400" dirty="0"/>
              <a:t>In Google Search, suggestions appear while typing because likely search terms are fetched in advance. </a:t>
            </a:r>
          </a:p>
          <a:p>
            <a:pPr lvl="1"/>
            <a:r>
              <a:rPr lang="en-IN" sz="1400" dirty="0"/>
              <a:t>In online shopping sites, the next product page may be prefetched before the user clicks it. </a:t>
            </a:r>
          </a:p>
          <a:p>
            <a:pPr>
              <a:buNone/>
            </a:pPr>
            <a:r>
              <a:rPr lang="en-IN" sz="1800" dirty="0"/>
              <a:t>Significance in Dynamic Web Applications:</a:t>
            </a:r>
          </a:p>
          <a:p>
            <a:pPr lvl="1"/>
            <a:r>
              <a:rPr lang="en-IN" sz="1400" dirty="0"/>
              <a:t>Reduces server response delay. </a:t>
            </a:r>
          </a:p>
          <a:p>
            <a:pPr lvl="1"/>
            <a:r>
              <a:rPr lang="en-IN" sz="1400" dirty="0"/>
              <a:t>Improves user experience with faster page updates. </a:t>
            </a:r>
          </a:p>
          <a:p>
            <a:pPr lvl="1"/>
            <a:r>
              <a:rPr lang="en-IN" sz="1400" dirty="0"/>
              <a:t>Minimizes waiting time. </a:t>
            </a:r>
          </a:p>
          <a:p>
            <a:pPr lvl="1"/>
            <a:r>
              <a:rPr lang="en-IN" sz="1400" dirty="0"/>
              <a:t>Enhances responsiveness in interactive applications. </a:t>
            </a:r>
          </a:p>
          <a:p>
            <a:pPr lvl="1"/>
            <a:r>
              <a:rPr lang="en-IN" sz="1400" dirty="0"/>
              <a:t>Reduces repeated server communication.</a:t>
            </a:r>
          </a:p>
          <a:p>
            <a:endParaRPr lang="en-IN" sz="2400" dirty="0"/>
          </a:p>
          <a:p>
            <a:endParaRPr lang="en-IN" sz="2400" dirty="0"/>
          </a:p>
        </p:txBody>
      </p:sp>
    </p:spTree>
    <p:extLst>
      <p:ext uri="{BB962C8B-B14F-4D97-AF65-F5344CB8AC3E}">
        <p14:creationId xmlns:p14="http://schemas.microsoft.com/office/powerpoint/2010/main" val="41986701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AA26B-805B-BF3E-D5B0-BA6CC025044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04EB27-B062-048D-4BCA-ABBFB8D5D849}"/>
              </a:ext>
            </a:extLst>
          </p:cNvPr>
          <p:cNvSpPr>
            <a:spLocks noGrp="1"/>
          </p:cNvSpPr>
          <p:nvPr>
            <p:ph idx="1"/>
          </p:nvPr>
        </p:nvSpPr>
        <p:spPr>
          <a:xfrm>
            <a:off x="838200" y="281354"/>
            <a:ext cx="10515600" cy="6435969"/>
          </a:xfrm>
        </p:spPr>
        <p:txBody>
          <a:bodyPr>
            <a:normAutofit/>
          </a:bodyPr>
          <a:lstStyle/>
          <a:p>
            <a:r>
              <a:rPr lang="en-IN" sz="2400" b="1" dirty="0"/>
              <a:t>Submission Throttling </a:t>
            </a:r>
          </a:p>
          <a:p>
            <a:pPr lvl="1"/>
            <a:r>
              <a:rPr lang="en-IN" sz="2000" dirty="0"/>
              <a:t>Submission Throttling is an AJAX pattern used to control the number of requests sent to the server within a short period. </a:t>
            </a:r>
          </a:p>
          <a:p>
            <a:pPr lvl="1"/>
            <a:r>
              <a:rPr lang="en-IN" sz="2000" dirty="0"/>
              <a:t>It prevents excessive server communication caused by rapid user actions.</a:t>
            </a:r>
          </a:p>
          <a:p>
            <a:endParaRPr lang="en-IN" sz="2400" dirty="0"/>
          </a:p>
          <a:p>
            <a:r>
              <a:rPr lang="en-IN" sz="2400" dirty="0"/>
              <a:t>Concept:</a:t>
            </a:r>
          </a:p>
          <a:p>
            <a:pPr lvl="1"/>
            <a:r>
              <a:rPr lang="en-IN" sz="2000" dirty="0"/>
              <a:t>Instead of sending a request for every user action, requests are delayed or grouped. </a:t>
            </a:r>
          </a:p>
          <a:p>
            <a:pPr lvl="1"/>
            <a:r>
              <a:rPr lang="en-IN" sz="2000" dirty="0"/>
              <a:t>The server receives only necessary requests after a specified interval. </a:t>
            </a:r>
          </a:p>
          <a:p>
            <a:pPr lvl="1"/>
            <a:r>
              <a:rPr lang="en-IN" sz="2000" dirty="0"/>
              <a:t>This reduces server load and network traffic. </a:t>
            </a:r>
          </a:p>
          <a:p>
            <a:endParaRPr lang="en-IN" sz="2400" dirty="0"/>
          </a:p>
          <a:p>
            <a:r>
              <a:rPr lang="en-IN" sz="2400" dirty="0"/>
              <a:t>Algorithm for Submission Throttling:</a:t>
            </a:r>
          </a:p>
          <a:p>
            <a:pPr lvl="1"/>
            <a:r>
              <a:rPr lang="en-IN" sz="2000" dirty="0"/>
              <a:t>Step 1: User performs repeated actions such as typing or clicking.</a:t>
            </a:r>
          </a:p>
          <a:p>
            <a:pPr lvl="1"/>
            <a:r>
              <a:rPr lang="en-IN" sz="2000" dirty="0"/>
              <a:t>Step 2: Start a timer when the first event occurs.</a:t>
            </a:r>
          </a:p>
          <a:p>
            <a:pPr lvl="1"/>
            <a:r>
              <a:rPr lang="en-IN" sz="2000" dirty="0"/>
              <a:t>Step 3: Delay sending the AJAX request until the user stops interacting for a specified time.</a:t>
            </a:r>
          </a:p>
          <a:p>
            <a:pPr lvl="1"/>
            <a:r>
              <a:rPr lang="en-IN" sz="2000" dirty="0"/>
              <a:t>Step 4: Cancel previous pending requests if new input arrives.</a:t>
            </a:r>
          </a:p>
          <a:p>
            <a:pPr lvl="1"/>
            <a:r>
              <a:rPr lang="en-IN" sz="2000" dirty="0"/>
              <a:t>Step 5: Send only the latest request to the server.</a:t>
            </a:r>
          </a:p>
          <a:p>
            <a:endParaRPr lang="en-US" sz="2400" dirty="0"/>
          </a:p>
          <a:p>
            <a:endParaRPr lang="en-IN" sz="2400" dirty="0"/>
          </a:p>
          <a:p>
            <a:endParaRPr lang="en-IN" sz="2400" dirty="0"/>
          </a:p>
          <a:p>
            <a:endParaRPr lang="en-IN" sz="2400" dirty="0"/>
          </a:p>
        </p:txBody>
      </p:sp>
    </p:spTree>
    <p:extLst>
      <p:ext uri="{BB962C8B-B14F-4D97-AF65-F5344CB8AC3E}">
        <p14:creationId xmlns:p14="http://schemas.microsoft.com/office/powerpoint/2010/main" val="7727280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079D1-243C-F74A-048B-CA68C3AC191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4B1D67-A22D-6306-68BE-8B0A5B6C1347}"/>
              </a:ext>
            </a:extLst>
          </p:cNvPr>
          <p:cNvSpPr>
            <a:spLocks noGrp="1"/>
          </p:cNvSpPr>
          <p:nvPr>
            <p:ph idx="1"/>
          </p:nvPr>
        </p:nvSpPr>
        <p:spPr>
          <a:xfrm>
            <a:off x="838200" y="281354"/>
            <a:ext cx="10515600" cy="6435969"/>
          </a:xfrm>
        </p:spPr>
        <p:txBody>
          <a:bodyPr>
            <a:normAutofit fontScale="92500" lnSpcReduction="10000"/>
          </a:bodyPr>
          <a:lstStyle/>
          <a:p>
            <a:r>
              <a:rPr lang="en-IN" sz="2400" dirty="0"/>
              <a:t>Pseudo Algorithm:</a:t>
            </a:r>
            <a:endParaRPr lang="en-US" sz="2400" dirty="0"/>
          </a:p>
          <a:p>
            <a:pPr marL="914400" lvl="2" indent="0">
              <a:buNone/>
            </a:pPr>
            <a:r>
              <a:rPr lang="en-US" sz="1600" dirty="0"/>
              <a:t>START</a:t>
            </a:r>
          </a:p>
          <a:p>
            <a:pPr marL="914400" lvl="2" indent="0">
              <a:buNone/>
            </a:pPr>
            <a:r>
              <a:rPr lang="en-US" sz="1600" dirty="0"/>
              <a:t>User performs action</a:t>
            </a:r>
          </a:p>
          <a:p>
            <a:pPr marL="914400" lvl="2" indent="0">
              <a:buNone/>
            </a:pPr>
            <a:r>
              <a:rPr lang="en-US" sz="1600" dirty="0"/>
              <a:t>Start delay timer</a:t>
            </a:r>
          </a:p>
          <a:p>
            <a:pPr marL="914400" lvl="2" indent="0">
              <a:buNone/>
            </a:pPr>
            <a:r>
              <a:rPr lang="en-US" sz="1600" dirty="0"/>
              <a:t>IF another action occurs before timer expires THEN</a:t>
            </a:r>
          </a:p>
          <a:p>
            <a:pPr marL="914400" lvl="2" indent="0">
              <a:buNone/>
            </a:pPr>
            <a:r>
              <a:rPr lang="en-US" sz="1600" dirty="0"/>
              <a:t>    Reset timer</a:t>
            </a:r>
          </a:p>
          <a:p>
            <a:pPr marL="914400" lvl="2" indent="0">
              <a:buNone/>
            </a:pPr>
            <a:r>
              <a:rPr lang="en-US" sz="1600" dirty="0"/>
              <a:t>ELSE</a:t>
            </a:r>
          </a:p>
          <a:p>
            <a:pPr marL="914400" lvl="2" indent="0">
              <a:buNone/>
            </a:pPr>
            <a:r>
              <a:rPr lang="en-US" sz="1600" dirty="0"/>
              <a:t>    Send AJAX request</a:t>
            </a:r>
          </a:p>
          <a:p>
            <a:pPr marL="914400" lvl="2" indent="0">
              <a:buNone/>
            </a:pPr>
            <a:r>
              <a:rPr lang="en-US" sz="1600" dirty="0"/>
              <a:t>END IF</a:t>
            </a:r>
          </a:p>
          <a:p>
            <a:pPr marL="914400" lvl="2" indent="0">
              <a:buNone/>
            </a:pPr>
            <a:r>
              <a:rPr lang="en-US" sz="1600" dirty="0"/>
              <a:t>Receive response</a:t>
            </a:r>
          </a:p>
          <a:p>
            <a:pPr marL="914400" lvl="2" indent="0">
              <a:buNone/>
            </a:pPr>
            <a:r>
              <a:rPr lang="en-US" sz="1600" dirty="0"/>
              <a:t>Update webpage dynamically</a:t>
            </a:r>
          </a:p>
          <a:p>
            <a:pPr marL="914400" lvl="2" indent="0">
              <a:buNone/>
            </a:pPr>
            <a:r>
              <a:rPr lang="en-US" sz="1600" dirty="0"/>
              <a:t>STOP</a:t>
            </a:r>
            <a:endParaRPr lang="en-IN" sz="1600" dirty="0"/>
          </a:p>
          <a:p>
            <a:r>
              <a:rPr lang="en-IN" sz="2400" dirty="0"/>
              <a:t>Example:</a:t>
            </a:r>
          </a:p>
          <a:p>
            <a:pPr lvl="1"/>
            <a:r>
              <a:rPr lang="en-IN" sz="2000" dirty="0"/>
              <a:t>In search autocomplete systems, AJAX requests are sent only after the user pauses typing for a few milliseconds. </a:t>
            </a:r>
          </a:p>
          <a:p>
            <a:pPr lvl="1"/>
            <a:r>
              <a:rPr lang="en-IN" sz="2000" dirty="0"/>
              <a:t>In live form validation, the server validates data only after typing stops. </a:t>
            </a:r>
          </a:p>
          <a:p>
            <a:r>
              <a:rPr lang="en-IN" sz="2400" dirty="0"/>
              <a:t>Significance in Dynamic Web Applications:</a:t>
            </a:r>
          </a:p>
          <a:p>
            <a:pPr lvl="1"/>
            <a:r>
              <a:rPr lang="en-IN" sz="2000" dirty="0"/>
              <a:t>Reduces unnecessary server requests. </a:t>
            </a:r>
          </a:p>
          <a:p>
            <a:pPr lvl="1"/>
            <a:r>
              <a:rPr lang="en-IN" sz="2000" dirty="0"/>
              <a:t>Improves application scalability. </a:t>
            </a:r>
          </a:p>
          <a:p>
            <a:pPr lvl="1"/>
            <a:r>
              <a:rPr lang="en-IN" sz="2000" dirty="0"/>
              <a:t>Prevents server overload. </a:t>
            </a:r>
          </a:p>
          <a:p>
            <a:pPr lvl="1"/>
            <a:r>
              <a:rPr lang="en-IN" sz="2000" dirty="0"/>
              <a:t>Optimizes bandwidth usage. </a:t>
            </a:r>
          </a:p>
          <a:p>
            <a:pPr lvl="1"/>
            <a:r>
              <a:rPr lang="en-IN" sz="2000" dirty="0"/>
              <a:t>Improves performance in high-traffic applications.</a:t>
            </a:r>
          </a:p>
          <a:p>
            <a:endParaRPr lang="en-IN" sz="2400" dirty="0"/>
          </a:p>
          <a:p>
            <a:endParaRPr lang="en-IN" sz="2400" dirty="0"/>
          </a:p>
        </p:txBody>
      </p:sp>
    </p:spTree>
    <p:extLst>
      <p:ext uri="{BB962C8B-B14F-4D97-AF65-F5344CB8AC3E}">
        <p14:creationId xmlns:p14="http://schemas.microsoft.com/office/powerpoint/2010/main" val="8299082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97E3A-CDD8-7233-A3AB-CC3930902BC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459BD1-0329-05B1-554F-6D762C9ACF6C}"/>
              </a:ext>
            </a:extLst>
          </p:cNvPr>
          <p:cNvSpPr>
            <a:spLocks noGrp="1"/>
          </p:cNvSpPr>
          <p:nvPr>
            <p:ph idx="1"/>
          </p:nvPr>
        </p:nvSpPr>
        <p:spPr>
          <a:xfrm>
            <a:off x="838200" y="281354"/>
            <a:ext cx="10515600" cy="6435969"/>
          </a:xfrm>
        </p:spPr>
        <p:txBody>
          <a:bodyPr>
            <a:normAutofit/>
          </a:bodyPr>
          <a:lstStyle/>
          <a:p>
            <a:pPr algn="just"/>
            <a:r>
              <a:rPr lang="en-IN" sz="2400" dirty="0"/>
              <a:t>Thus, AJAX patterns such as Predictive Fetch and Submission Throttling are important techniques for building efficient and responsive dynamic web applications. </a:t>
            </a:r>
          </a:p>
          <a:p>
            <a:pPr algn="just"/>
            <a:r>
              <a:rPr lang="en-IN" sz="2400" dirty="0"/>
              <a:t>Predictive Fetch improves speed by preloading data, while Submission Throttling controls unnecessary server communication. </a:t>
            </a:r>
          </a:p>
          <a:p>
            <a:pPr algn="just"/>
            <a:r>
              <a:rPr lang="en-IN" sz="2400" dirty="0"/>
              <a:t>Together, they enhance usability, reduce latency, and optimise overall web application performance.</a:t>
            </a:r>
            <a:endParaRPr lang="en-US" sz="2400" dirty="0"/>
          </a:p>
          <a:p>
            <a:endParaRPr lang="en-IN" sz="2400" dirty="0"/>
          </a:p>
          <a:p>
            <a:endParaRPr lang="en-IN" sz="2400" dirty="0"/>
          </a:p>
          <a:p>
            <a:endParaRPr lang="en-IN" sz="2400" dirty="0"/>
          </a:p>
        </p:txBody>
      </p:sp>
    </p:spTree>
    <p:extLst>
      <p:ext uri="{BB962C8B-B14F-4D97-AF65-F5344CB8AC3E}">
        <p14:creationId xmlns:p14="http://schemas.microsoft.com/office/powerpoint/2010/main" val="24133494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DD8B4-E36A-B604-468C-F529C692315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A23011-FB5C-9465-335C-87BEF833D3F4}"/>
              </a:ext>
            </a:extLst>
          </p:cNvPr>
          <p:cNvSpPr>
            <a:spLocks noGrp="1"/>
          </p:cNvSpPr>
          <p:nvPr>
            <p:ph idx="1"/>
          </p:nvPr>
        </p:nvSpPr>
        <p:spPr>
          <a:xfrm>
            <a:off x="838200" y="316523"/>
            <a:ext cx="10515600" cy="6224954"/>
          </a:xfrm>
        </p:spPr>
        <p:txBody>
          <a:bodyPr/>
          <a:lstStyle/>
          <a:p>
            <a:pPr algn="just"/>
            <a:r>
              <a:rPr lang="en-IN" dirty="0"/>
              <a:t>Hidden Frame GET &amp; POST Requests</a:t>
            </a:r>
          </a:p>
          <a:p>
            <a:pPr algn="just"/>
            <a:r>
              <a:rPr lang="en-IN" dirty="0"/>
              <a:t>Refer word document for example</a:t>
            </a:r>
          </a:p>
          <a:p>
            <a:pPr algn="just"/>
            <a:endParaRPr lang="en-IN" dirty="0"/>
          </a:p>
        </p:txBody>
      </p:sp>
    </p:spTree>
    <p:extLst>
      <p:ext uri="{BB962C8B-B14F-4D97-AF65-F5344CB8AC3E}">
        <p14:creationId xmlns:p14="http://schemas.microsoft.com/office/powerpoint/2010/main" val="2622558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680E5-C1F3-D1B7-05A2-335036789D7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D6A18F-060E-4A75-6256-99C578356B04}"/>
              </a:ext>
            </a:extLst>
          </p:cNvPr>
          <p:cNvSpPr>
            <a:spLocks noGrp="1"/>
          </p:cNvSpPr>
          <p:nvPr>
            <p:ph idx="1"/>
          </p:nvPr>
        </p:nvSpPr>
        <p:spPr>
          <a:xfrm>
            <a:off x="838200" y="316523"/>
            <a:ext cx="10515600" cy="6224954"/>
          </a:xfrm>
        </p:spPr>
        <p:txBody>
          <a:bodyPr>
            <a:normAutofit fontScale="92500" lnSpcReduction="20000"/>
          </a:bodyPr>
          <a:lstStyle/>
          <a:p>
            <a:pPr algn="just"/>
            <a:r>
              <a:rPr lang="en-IN" dirty="0" err="1"/>
              <a:t>XMLHttp</a:t>
            </a:r>
            <a:r>
              <a:rPr lang="en-IN" dirty="0"/>
              <a:t> Requests</a:t>
            </a:r>
          </a:p>
          <a:p>
            <a:pPr algn="just"/>
            <a:r>
              <a:rPr lang="en-US" dirty="0" err="1"/>
              <a:t>XMLHttp</a:t>
            </a:r>
            <a:r>
              <a:rPr lang="en-US" dirty="0"/>
              <a:t> Requests were introduced with Microsoft Internet Explorer 5.0 as part of the MSXML ActiveX library. </a:t>
            </a:r>
          </a:p>
          <a:p>
            <a:pPr algn="just"/>
            <a:endParaRPr lang="en-US" dirty="0"/>
          </a:p>
          <a:p>
            <a:pPr algn="just"/>
            <a:r>
              <a:rPr lang="en-US" dirty="0"/>
              <a:t>The main purpose of the </a:t>
            </a:r>
            <a:r>
              <a:rPr lang="en-US" dirty="0" err="1"/>
              <a:t>XMLHttp</a:t>
            </a:r>
            <a:r>
              <a:rPr lang="en-US" dirty="0"/>
              <a:t> object was to allow developers to send HTTP requests and receive data from the server without reloading the entire webpage. </a:t>
            </a:r>
          </a:p>
          <a:p>
            <a:pPr algn="just"/>
            <a:endParaRPr lang="en-US" dirty="0"/>
          </a:p>
          <a:p>
            <a:pPr algn="just"/>
            <a:r>
              <a:rPr lang="en-US" dirty="0"/>
              <a:t>Initially, the object was designed to handle XML data, making it easier to process and manipulate XML documents in web applications. </a:t>
            </a:r>
          </a:p>
          <a:p>
            <a:pPr algn="just"/>
            <a:endParaRPr lang="en-US" dirty="0"/>
          </a:p>
          <a:p>
            <a:pPr algn="just"/>
            <a:r>
              <a:rPr lang="en-US" dirty="0"/>
              <a:t>Since </a:t>
            </a:r>
            <a:r>
              <a:rPr lang="en-US" dirty="0" err="1"/>
              <a:t>XMLHttp</a:t>
            </a:r>
            <a:r>
              <a:rPr lang="en-US" dirty="0"/>
              <a:t> was implemented as an ActiveX control, it could also be used in Windows desktop applications, although it became far more popular in web development. </a:t>
            </a:r>
          </a:p>
          <a:p>
            <a:pPr algn="just"/>
            <a:endParaRPr lang="en-US" dirty="0"/>
          </a:p>
          <a:p>
            <a:pPr algn="just"/>
            <a:r>
              <a:rPr lang="en-US" dirty="0"/>
              <a:t> </a:t>
            </a:r>
            <a:r>
              <a:rPr lang="en-US" dirty="0" err="1"/>
              <a:t>Recognising</a:t>
            </a:r>
            <a:r>
              <a:rPr lang="en-US" dirty="0"/>
              <a:t> its usefulness, Mozilla later implemented a similar feature in browsers like Firefox, followed by Safari and Opera.</a:t>
            </a:r>
            <a:r>
              <a:rPr lang="en-IN" dirty="0"/>
              <a:t> </a:t>
            </a:r>
          </a:p>
        </p:txBody>
      </p:sp>
    </p:spTree>
    <p:extLst>
      <p:ext uri="{BB962C8B-B14F-4D97-AF65-F5344CB8AC3E}">
        <p14:creationId xmlns:p14="http://schemas.microsoft.com/office/powerpoint/2010/main" val="21875466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D1CF1-A759-E9B7-EF81-12895D0520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E63DB2-C334-023B-E45E-03036D3A778F}"/>
              </a:ext>
            </a:extLst>
          </p:cNvPr>
          <p:cNvSpPr>
            <a:spLocks noGrp="1"/>
          </p:cNvSpPr>
          <p:nvPr>
            <p:ph idx="1"/>
          </p:nvPr>
        </p:nvSpPr>
        <p:spPr>
          <a:xfrm>
            <a:off x="838200" y="316523"/>
            <a:ext cx="10515600" cy="6224954"/>
          </a:xfrm>
        </p:spPr>
        <p:txBody>
          <a:bodyPr>
            <a:normAutofit fontScale="62500" lnSpcReduction="20000"/>
          </a:bodyPr>
          <a:lstStyle/>
          <a:p>
            <a:pPr algn="just"/>
            <a:r>
              <a:rPr lang="en-IN" sz="4500" b="1" dirty="0"/>
              <a:t>Creating an </a:t>
            </a:r>
            <a:r>
              <a:rPr lang="en-IN" sz="4500" b="1" dirty="0" err="1"/>
              <a:t>XMLHttp</a:t>
            </a:r>
            <a:r>
              <a:rPr lang="en-IN" sz="4500" b="1" dirty="0"/>
              <a:t> Object </a:t>
            </a:r>
            <a:endParaRPr lang="en-US" sz="4500" b="1" dirty="0"/>
          </a:p>
          <a:p>
            <a:pPr algn="just"/>
            <a:r>
              <a:rPr lang="en-US" sz="3800" dirty="0"/>
              <a:t>Creating an </a:t>
            </a:r>
            <a:r>
              <a:rPr lang="en-US" sz="3800" dirty="0" err="1"/>
              <a:t>XMLHttp</a:t>
            </a:r>
            <a:r>
              <a:rPr lang="en-US" sz="3800" dirty="0"/>
              <a:t> object is the first step in using AJAX for client-server communication. </a:t>
            </a:r>
          </a:p>
          <a:p>
            <a:pPr lvl="1" algn="just"/>
            <a:r>
              <a:rPr lang="en-IN" sz="2900" dirty="0">
                <a:solidFill>
                  <a:srgbClr val="FF0000"/>
                </a:solidFill>
              </a:rPr>
              <a:t>var </a:t>
            </a:r>
            <a:r>
              <a:rPr lang="en-IN" sz="2900" dirty="0" err="1">
                <a:solidFill>
                  <a:srgbClr val="FF0000"/>
                </a:solidFill>
              </a:rPr>
              <a:t>oXmlHttp</a:t>
            </a:r>
            <a:r>
              <a:rPr lang="en-IN" sz="2900" dirty="0">
                <a:solidFill>
                  <a:srgbClr val="FF0000"/>
                </a:solidFill>
              </a:rPr>
              <a:t> = new </a:t>
            </a:r>
            <a:r>
              <a:rPr lang="en-IN" sz="2900" dirty="0" err="1">
                <a:solidFill>
                  <a:srgbClr val="FF0000"/>
                </a:solidFill>
              </a:rPr>
              <a:t>ActiveXObject</a:t>
            </a:r>
            <a:r>
              <a:rPr lang="en-IN" sz="2900" dirty="0">
                <a:solidFill>
                  <a:srgbClr val="FF0000"/>
                </a:solidFill>
              </a:rPr>
              <a:t>("</a:t>
            </a:r>
            <a:r>
              <a:rPr lang="en-IN" sz="2900" dirty="0" err="1">
                <a:solidFill>
                  <a:srgbClr val="FF0000"/>
                </a:solidFill>
              </a:rPr>
              <a:t>Microsoft.XMLHttp</a:t>
            </a:r>
            <a:r>
              <a:rPr lang="en-IN" sz="2900" dirty="0">
                <a:solidFill>
                  <a:srgbClr val="FF0000"/>
                </a:solidFill>
              </a:rPr>
              <a:t>");</a:t>
            </a:r>
            <a:endParaRPr lang="en-US" sz="3800" dirty="0"/>
          </a:p>
          <a:p>
            <a:pPr algn="just"/>
            <a:r>
              <a:rPr lang="en-US" sz="3800" dirty="0"/>
              <a:t>In older versions of Internet Explorer, </a:t>
            </a:r>
            <a:r>
              <a:rPr lang="en-US" sz="3800" dirty="0" err="1"/>
              <a:t>XMLHttp</a:t>
            </a:r>
            <a:r>
              <a:rPr lang="en-US" sz="3800" dirty="0"/>
              <a:t> was implemented as an ActiveX control, which required creating objects using the </a:t>
            </a:r>
            <a:r>
              <a:rPr lang="en-US" sz="3800" dirty="0" err="1"/>
              <a:t>ActiveXObject</a:t>
            </a:r>
            <a:r>
              <a:rPr lang="en-US" sz="3800" dirty="0"/>
              <a:t> class with different MSXML version signatures. </a:t>
            </a:r>
          </a:p>
          <a:p>
            <a:pPr algn="just"/>
            <a:r>
              <a:rPr lang="en-US" sz="3800" dirty="0"/>
              <a:t>Since multiple versions of MSXML existed, developers used try...catch blocks to test and create the latest available version of the </a:t>
            </a:r>
            <a:r>
              <a:rPr lang="en-US" sz="3800" dirty="0" err="1"/>
              <a:t>XMLHttp</a:t>
            </a:r>
            <a:r>
              <a:rPr lang="en-US" sz="3800" dirty="0"/>
              <a:t> object. </a:t>
            </a:r>
          </a:p>
          <a:p>
            <a:pPr marL="914400" lvl="2" indent="0" algn="just">
              <a:buNone/>
            </a:pPr>
            <a:endParaRPr lang="en-IN" dirty="0"/>
          </a:p>
          <a:p>
            <a:pPr marL="914400" lvl="2" indent="0" algn="just">
              <a:buNone/>
            </a:pPr>
            <a:r>
              <a:rPr lang="en-IN" dirty="0"/>
              <a:t>function </a:t>
            </a:r>
            <a:r>
              <a:rPr lang="en-IN" dirty="0" err="1"/>
              <a:t>createXMLHttp</a:t>
            </a:r>
            <a:r>
              <a:rPr lang="en-IN" dirty="0"/>
              <a:t>() { </a:t>
            </a:r>
          </a:p>
          <a:p>
            <a:pPr marL="914400" lvl="2" indent="0" algn="just">
              <a:buNone/>
            </a:pPr>
            <a:r>
              <a:rPr lang="en-IN" dirty="0"/>
              <a:t>    var </a:t>
            </a:r>
            <a:r>
              <a:rPr lang="en-IN" dirty="0" err="1"/>
              <a:t>aVersions</a:t>
            </a:r>
            <a:r>
              <a:rPr lang="en-IN" dirty="0"/>
              <a:t> = [ "MSXML2.XMLHttp.5.0", </a:t>
            </a:r>
          </a:p>
          <a:p>
            <a:pPr marL="914400" lvl="2" indent="0" algn="just">
              <a:buNone/>
            </a:pPr>
            <a:r>
              <a:rPr lang="en-IN" dirty="0"/>
              <a:t>        "MSXML2.XMLHttp.4.0","MSXML2.XMLHttp.3.0", </a:t>
            </a:r>
          </a:p>
          <a:p>
            <a:pPr marL="914400" lvl="2" indent="0" algn="just">
              <a:buNone/>
            </a:pPr>
            <a:r>
              <a:rPr lang="en-IN" dirty="0"/>
              <a:t>        "MSXML2.XMLHttp","Microsoft.XMLHttp" </a:t>
            </a:r>
          </a:p>
          <a:p>
            <a:pPr marL="914400" lvl="2" indent="0" algn="just">
              <a:buNone/>
            </a:pPr>
            <a:r>
              <a:rPr lang="en-IN" dirty="0"/>
              <a:t>    ]; </a:t>
            </a:r>
          </a:p>
          <a:p>
            <a:pPr marL="914400" lvl="2" indent="0" algn="just">
              <a:buNone/>
            </a:pPr>
            <a:r>
              <a:rPr lang="en-IN" dirty="0"/>
              <a:t>    for (var </a:t>
            </a:r>
            <a:r>
              <a:rPr lang="en-IN" dirty="0" err="1"/>
              <a:t>i</a:t>
            </a:r>
            <a:r>
              <a:rPr lang="en-IN" dirty="0"/>
              <a:t> = 0; </a:t>
            </a:r>
            <a:r>
              <a:rPr lang="en-IN" dirty="0" err="1"/>
              <a:t>i</a:t>
            </a:r>
            <a:r>
              <a:rPr lang="en-IN" dirty="0"/>
              <a:t> &lt; </a:t>
            </a:r>
            <a:r>
              <a:rPr lang="en-IN" dirty="0" err="1"/>
              <a:t>aVersions.length</a:t>
            </a:r>
            <a:r>
              <a:rPr lang="en-IN" dirty="0"/>
              <a:t>; </a:t>
            </a:r>
            <a:r>
              <a:rPr lang="en-IN" dirty="0" err="1"/>
              <a:t>i</a:t>
            </a:r>
            <a:r>
              <a:rPr lang="en-IN" dirty="0"/>
              <a:t>++) { </a:t>
            </a:r>
          </a:p>
          <a:p>
            <a:pPr marL="914400" lvl="2" indent="0" algn="just">
              <a:buNone/>
            </a:pPr>
            <a:r>
              <a:rPr lang="en-IN" dirty="0"/>
              <a:t>        try { </a:t>
            </a:r>
          </a:p>
          <a:p>
            <a:pPr marL="914400" lvl="2" indent="0" algn="just">
              <a:buNone/>
            </a:pPr>
            <a:r>
              <a:rPr lang="en-IN" dirty="0"/>
              <a:t>            var </a:t>
            </a:r>
            <a:r>
              <a:rPr lang="en-IN" dirty="0" err="1"/>
              <a:t>oXmlHttp</a:t>
            </a:r>
            <a:r>
              <a:rPr lang="en-IN" dirty="0"/>
              <a:t> = new </a:t>
            </a:r>
            <a:r>
              <a:rPr lang="en-IN" dirty="0" err="1"/>
              <a:t>ActiveXObject</a:t>
            </a:r>
            <a:r>
              <a:rPr lang="en-IN" dirty="0"/>
              <a:t>(</a:t>
            </a:r>
            <a:r>
              <a:rPr lang="en-IN" dirty="0" err="1"/>
              <a:t>aVersions</a:t>
            </a:r>
            <a:r>
              <a:rPr lang="en-IN" dirty="0"/>
              <a:t>[</a:t>
            </a:r>
            <a:r>
              <a:rPr lang="en-IN" dirty="0" err="1"/>
              <a:t>i</a:t>
            </a:r>
            <a:r>
              <a:rPr lang="en-IN" dirty="0"/>
              <a:t>]); </a:t>
            </a:r>
          </a:p>
          <a:p>
            <a:pPr marL="914400" lvl="2" indent="0" algn="just">
              <a:buNone/>
            </a:pPr>
            <a:r>
              <a:rPr lang="en-IN" dirty="0"/>
              <a:t>            return </a:t>
            </a:r>
            <a:r>
              <a:rPr lang="en-IN" dirty="0" err="1"/>
              <a:t>oXmlHttp</a:t>
            </a:r>
            <a:r>
              <a:rPr lang="en-IN" dirty="0"/>
              <a:t>; </a:t>
            </a:r>
          </a:p>
          <a:p>
            <a:pPr marL="914400" lvl="2" indent="0" algn="just">
              <a:buNone/>
            </a:pPr>
            <a:r>
              <a:rPr lang="en-IN" dirty="0"/>
              <a:t>        } catch (</a:t>
            </a:r>
            <a:r>
              <a:rPr lang="en-IN" dirty="0" err="1"/>
              <a:t>oError</a:t>
            </a:r>
            <a:r>
              <a:rPr lang="en-IN" dirty="0"/>
              <a:t>) { </a:t>
            </a:r>
          </a:p>
          <a:p>
            <a:pPr marL="914400" lvl="2" indent="0" algn="just">
              <a:buNone/>
            </a:pPr>
            <a:r>
              <a:rPr lang="en-IN" dirty="0"/>
              <a:t>            //Do nothing </a:t>
            </a:r>
          </a:p>
          <a:p>
            <a:pPr marL="914400" lvl="2" indent="0" algn="just">
              <a:buNone/>
            </a:pPr>
            <a:r>
              <a:rPr lang="en-IN" dirty="0"/>
              <a:t>        }</a:t>
            </a:r>
            <a:r>
              <a:rPr lang="en-US" dirty="0"/>
              <a:t> } </a:t>
            </a:r>
          </a:p>
          <a:p>
            <a:pPr marL="914400" lvl="2" indent="0" algn="just">
              <a:buNone/>
            </a:pPr>
            <a:r>
              <a:rPr lang="en-US" dirty="0"/>
              <a:t>    throw new Error("MSXML is not installed."); </a:t>
            </a:r>
          </a:p>
          <a:p>
            <a:pPr marL="914400" lvl="2" indent="0" algn="just">
              <a:buNone/>
            </a:pPr>
            <a:r>
              <a:rPr lang="en-US" dirty="0"/>
              <a:t>} </a:t>
            </a:r>
            <a:endParaRPr lang="en-IN" dirty="0"/>
          </a:p>
        </p:txBody>
      </p:sp>
    </p:spTree>
    <p:extLst>
      <p:ext uri="{BB962C8B-B14F-4D97-AF65-F5344CB8AC3E}">
        <p14:creationId xmlns:p14="http://schemas.microsoft.com/office/powerpoint/2010/main" val="2827476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D16D6-F420-E393-E4A5-F18DB647190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80FA3C-F572-B446-D13C-ACF71810C719}"/>
              </a:ext>
            </a:extLst>
          </p:cNvPr>
          <p:cNvSpPr>
            <a:spLocks noGrp="1"/>
          </p:cNvSpPr>
          <p:nvPr>
            <p:ph idx="1"/>
          </p:nvPr>
        </p:nvSpPr>
        <p:spPr>
          <a:xfrm>
            <a:off x="838200" y="316523"/>
            <a:ext cx="10515600" cy="6224954"/>
          </a:xfrm>
        </p:spPr>
        <p:txBody>
          <a:bodyPr/>
          <a:lstStyle/>
          <a:p>
            <a:pPr algn="just"/>
            <a:r>
              <a:rPr lang="en-US" dirty="0"/>
              <a:t>Other browsers such as Firefox, Safari, and Opera simplified the process by providing the native </a:t>
            </a:r>
            <a:r>
              <a:rPr lang="en-US" dirty="0" err="1"/>
              <a:t>XMLHttpRequest</a:t>
            </a:r>
            <a:r>
              <a:rPr lang="en-US" dirty="0"/>
              <a:t> object. </a:t>
            </a:r>
          </a:p>
          <a:p>
            <a:pPr lvl="1" algn="just"/>
            <a:r>
              <a:rPr lang="en-IN" dirty="0">
                <a:solidFill>
                  <a:srgbClr val="FF0000"/>
                </a:solidFill>
              </a:rPr>
              <a:t>var </a:t>
            </a:r>
            <a:r>
              <a:rPr lang="en-IN" dirty="0" err="1">
                <a:solidFill>
                  <a:srgbClr val="FF0000"/>
                </a:solidFill>
              </a:rPr>
              <a:t>oXmlHttp</a:t>
            </a:r>
            <a:r>
              <a:rPr lang="en-IN" dirty="0">
                <a:solidFill>
                  <a:srgbClr val="FF0000"/>
                </a:solidFill>
              </a:rPr>
              <a:t> = new </a:t>
            </a:r>
            <a:r>
              <a:rPr lang="en-IN" dirty="0" err="1">
                <a:solidFill>
                  <a:srgbClr val="FF0000"/>
                </a:solidFill>
              </a:rPr>
              <a:t>XMLHttpRequest</a:t>
            </a:r>
            <a:r>
              <a:rPr lang="en-IN" dirty="0">
                <a:solidFill>
                  <a:srgbClr val="FF0000"/>
                </a:solidFill>
              </a:rPr>
              <a:t>();</a:t>
            </a:r>
            <a:endParaRPr lang="en-US" dirty="0">
              <a:solidFill>
                <a:srgbClr val="FF0000"/>
              </a:solidFill>
            </a:endParaRPr>
          </a:p>
          <a:p>
            <a:pPr algn="just"/>
            <a:r>
              <a:rPr lang="en-US" dirty="0"/>
              <a:t>To support multiple browsers, developers created cross-browser functions that first checked for </a:t>
            </a:r>
            <a:r>
              <a:rPr lang="en-US" dirty="0" err="1"/>
              <a:t>XMLHttpRequest</a:t>
            </a:r>
            <a:r>
              <a:rPr lang="en-US" dirty="0"/>
              <a:t> support and then fell back to </a:t>
            </a:r>
            <a:r>
              <a:rPr lang="en-US" dirty="0" err="1"/>
              <a:t>ActiveXObject</a:t>
            </a:r>
            <a:r>
              <a:rPr lang="en-US" dirty="0"/>
              <a:t> if necessary. </a:t>
            </a:r>
          </a:p>
          <a:p>
            <a:pPr algn="just"/>
            <a:r>
              <a:rPr lang="en-US" dirty="0"/>
              <a:t>If neither method worked, an error was generated indicating that the </a:t>
            </a:r>
            <a:r>
              <a:rPr lang="en-US" dirty="0" err="1"/>
              <a:t>XMLHttp</a:t>
            </a:r>
            <a:r>
              <a:rPr lang="en-US" dirty="0"/>
              <a:t> object could not be created. Libraries such as </a:t>
            </a:r>
            <a:r>
              <a:rPr lang="en-US" dirty="0" err="1"/>
              <a:t>zXml</a:t>
            </a:r>
            <a:r>
              <a:rPr lang="en-US" dirty="0"/>
              <a:t> were later introduced to simplify cross-browser </a:t>
            </a:r>
            <a:r>
              <a:rPr lang="en-US" dirty="0" err="1"/>
              <a:t>XMLHttp</a:t>
            </a:r>
            <a:r>
              <a:rPr lang="en-US" dirty="0"/>
              <a:t> object creation and handling.</a:t>
            </a:r>
            <a:endParaRPr lang="en-IN" dirty="0"/>
          </a:p>
        </p:txBody>
      </p:sp>
    </p:spTree>
    <p:extLst>
      <p:ext uri="{BB962C8B-B14F-4D97-AF65-F5344CB8AC3E}">
        <p14:creationId xmlns:p14="http://schemas.microsoft.com/office/powerpoint/2010/main" val="36893574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5EA65-863D-B88E-BC25-AAE1FDE98ED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35C5A2-19D7-CDEF-7D97-73DCA9832677}"/>
              </a:ext>
            </a:extLst>
          </p:cNvPr>
          <p:cNvSpPr>
            <a:spLocks noGrp="1"/>
          </p:cNvSpPr>
          <p:nvPr>
            <p:ph idx="1"/>
          </p:nvPr>
        </p:nvSpPr>
        <p:spPr>
          <a:xfrm>
            <a:off x="838200" y="316523"/>
            <a:ext cx="10515600" cy="6224954"/>
          </a:xfrm>
        </p:spPr>
        <p:txBody>
          <a:bodyPr>
            <a:normAutofit fontScale="62500" lnSpcReduction="20000"/>
          </a:bodyPr>
          <a:lstStyle/>
          <a:p>
            <a:pPr algn="just"/>
            <a:r>
              <a:rPr lang="en-IN" dirty="0"/>
              <a:t>function </a:t>
            </a:r>
            <a:r>
              <a:rPr lang="en-IN" dirty="0" err="1"/>
              <a:t>createXMLHttp</a:t>
            </a:r>
            <a:r>
              <a:rPr lang="en-IN" dirty="0"/>
              <a:t>() { </a:t>
            </a:r>
          </a:p>
          <a:p>
            <a:pPr algn="just"/>
            <a:r>
              <a:rPr lang="en-IN" dirty="0"/>
              <a:t>    if (</a:t>
            </a:r>
            <a:r>
              <a:rPr lang="en-IN" dirty="0" err="1"/>
              <a:t>typeof</a:t>
            </a:r>
            <a:r>
              <a:rPr lang="en-IN" dirty="0"/>
              <a:t> </a:t>
            </a:r>
            <a:r>
              <a:rPr lang="en-IN" dirty="0" err="1"/>
              <a:t>XMLHttpRequest</a:t>
            </a:r>
            <a:r>
              <a:rPr lang="en-IN" dirty="0"/>
              <a:t> != "undefined") { </a:t>
            </a:r>
          </a:p>
          <a:p>
            <a:pPr algn="just"/>
            <a:r>
              <a:rPr lang="en-IN" dirty="0"/>
              <a:t>        return new </a:t>
            </a:r>
            <a:r>
              <a:rPr lang="en-IN" dirty="0" err="1"/>
              <a:t>XMLHttpRequest</a:t>
            </a:r>
            <a:r>
              <a:rPr lang="en-IN" dirty="0"/>
              <a:t>(); </a:t>
            </a:r>
          </a:p>
          <a:p>
            <a:pPr algn="just"/>
            <a:r>
              <a:rPr lang="en-IN" dirty="0"/>
              <a:t>    } else if (</a:t>
            </a:r>
            <a:r>
              <a:rPr lang="en-IN" dirty="0" err="1"/>
              <a:t>window.ActiveXObject</a:t>
            </a:r>
            <a:r>
              <a:rPr lang="en-IN" dirty="0"/>
              <a:t>) { </a:t>
            </a:r>
          </a:p>
          <a:p>
            <a:pPr algn="just"/>
            <a:r>
              <a:rPr lang="en-IN" dirty="0"/>
              <a:t>      var </a:t>
            </a:r>
            <a:r>
              <a:rPr lang="en-IN" dirty="0" err="1"/>
              <a:t>aVersions</a:t>
            </a:r>
            <a:r>
              <a:rPr lang="en-IN" dirty="0"/>
              <a:t> = [ "MSXML2.XMLHttp.5.0", </a:t>
            </a:r>
          </a:p>
          <a:p>
            <a:pPr algn="just"/>
            <a:r>
              <a:rPr lang="en-IN" dirty="0"/>
              <a:t>        "MSXML2.XMLHttp.4.0","MSXML2.XMLHttp.3.0", </a:t>
            </a:r>
          </a:p>
          <a:p>
            <a:pPr algn="just"/>
            <a:r>
              <a:rPr lang="en-IN" dirty="0"/>
              <a:t>        "MSXML2.XMLHttp","Microsoft.XMLHttp" </a:t>
            </a:r>
          </a:p>
          <a:p>
            <a:pPr algn="just"/>
            <a:r>
              <a:rPr lang="en-IN" dirty="0"/>
              <a:t>      ]; </a:t>
            </a:r>
          </a:p>
          <a:p>
            <a:pPr algn="just"/>
            <a:r>
              <a:rPr lang="en-IN" dirty="0"/>
              <a:t>      for (var </a:t>
            </a:r>
            <a:r>
              <a:rPr lang="en-IN" dirty="0" err="1"/>
              <a:t>i</a:t>
            </a:r>
            <a:r>
              <a:rPr lang="en-IN" dirty="0"/>
              <a:t> = 0; </a:t>
            </a:r>
            <a:r>
              <a:rPr lang="en-IN" dirty="0" err="1"/>
              <a:t>i</a:t>
            </a:r>
            <a:r>
              <a:rPr lang="en-IN" dirty="0"/>
              <a:t> &lt; </a:t>
            </a:r>
            <a:r>
              <a:rPr lang="en-IN" dirty="0" err="1"/>
              <a:t>aVersions.length</a:t>
            </a:r>
            <a:r>
              <a:rPr lang="en-IN" dirty="0"/>
              <a:t>; </a:t>
            </a:r>
            <a:r>
              <a:rPr lang="en-IN" dirty="0" err="1"/>
              <a:t>i</a:t>
            </a:r>
            <a:r>
              <a:rPr lang="en-IN" dirty="0"/>
              <a:t>++) { </a:t>
            </a:r>
          </a:p>
          <a:p>
            <a:pPr algn="just"/>
            <a:r>
              <a:rPr lang="en-IN" dirty="0"/>
              <a:t>        try { </a:t>
            </a:r>
          </a:p>
          <a:p>
            <a:pPr algn="just"/>
            <a:r>
              <a:rPr lang="en-IN" dirty="0"/>
              <a:t>            var </a:t>
            </a:r>
            <a:r>
              <a:rPr lang="en-IN" dirty="0" err="1"/>
              <a:t>oXmlHttp</a:t>
            </a:r>
            <a:r>
              <a:rPr lang="en-IN" dirty="0"/>
              <a:t> = new </a:t>
            </a:r>
            <a:r>
              <a:rPr lang="en-IN" dirty="0" err="1"/>
              <a:t>ActiveXObject</a:t>
            </a:r>
            <a:r>
              <a:rPr lang="en-IN" dirty="0"/>
              <a:t>(</a:t>
            </a:r>
            <a:r>
              <a:rPr lang="en-IN" dirty="0" err="1"/>
              <a:t>aVersions</a:t>
            </a:r>
            <a:r>
              <a:rPr lang="en-IN" dirty="0"/>
              <a:t>[</a:t>
            </a:r>
            <a:r>
              <a:rPr lang="en-IN" dirty="0" err="1"/>
              <a:t>i</a:t>
            </a:r>
            <a:r>
              <a:rPr lang="en-IN" dirty="0"/>
              <a:t>]); </a:t>
            </a:r>
          </a:p>
          <a:p>
            <a:pPr algn="just"/>
            <a:r>
              <a:rPr lang="en-IN" dirty="0"/>
              <a:t>            return </a:t>
            </a:r>
            <a:r>
              <a:rPr lang="en-IN" dirty="0" err="1"/>
              <a:t>oXmlHttp</a:t>
            </a:r>
            <a:r>
              <a:rPr lang="en-IN" dirty="0"/>
              <a:t>; </a:t>
            </a:r>
          </a:p>
          <a:p>
            <a:pPr algn="just"/>
            <a:r>
              <a:rPr lang="en-IN" dirty="0"/>
              <a:t>        } catch (</a:t>
            </a:r>
            <a:r>
              <a:rPr lang="en-IN" dirty="0" err="1"/>
              <a:t>oError</a:t>
            </a:r>
            <a:r>
              <a:rPr lang="en-IN" dirty="0"/>
              <a:t>) { </a:t>
            </a:r>
          </a:p>
          <a:p>
            <a:pPr algn="just"/>
            <a:r>
              <a:rPr lang="en-IN" dirty="0"/>
              <a:t>            //Do nothing </a:t>
            </a:r>
          </a:p>
          <a:p>
            <a:pPr algn="just"/>
            <a:r>
              <a:rPr lang="en-IN" dirty="0"/>
              <a:t>        } </a:t>
            </a:r>
          </a:p>
          <a:p>
            <a:pPr algn="just"/>
            <a:r>
              <a:rPr lang="en-IN" dirty="0"/>
              <a:t>      } </a:t>
            </a:r>
          </a:p>
          <a:p>
            <a:pPr algn="just"/>
            <a:r>
              <a:rPr lang="en-IN" dirty="0"/>
              <a:t>    } </a:t>
            </a:r>
          </a:p>
          <a:p>
            <a:pPr algn="just"/>
            <a:r>
              <a:rPr lang="en-IN" dirty="0"/>
              <a:t>    throw new Error("</a:t>
            </a:r>
            <a:r>
              <a:rPr lang="en-IN" dirty="0" err="1"/>
              <a:t>XMLHttp</a:t>
            </a:r>
            <a:r>
              <a:rPr lang="en-IN" dirty="0"/>
              <a:t> object could be created."); </a:t>
            </a:r>
          </a:p>
          <a:p>
            <a:pPr algn="just"/>
            <a:r>
              <a:rPr lang="en-IN" dirty="0"/>
              <a:t>}</a:t>
            </a:r>
          </a:p>
        </p:txBody>
      </p:sp>
    </p:spTree>
    <p:extLst>
      <p:ext uri="{BB962C8B-B14F-4D97-AF65-F5344CB8AC3E}">
        <p14:creationId xmlns:p14="http://schemas.microsoft.com/office/powerpoint/2010/main" val="3805349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E4355-2A35-5202-D549-892AAD57634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50701C-B66B-2E10-CAF1-F5FE7D1C2442}"/>
              </a:ext>
            </a:extLst>
          </p:cNvPr>
          <p:cNvSpPr>
            <a:spLocks noGrp="1"/>
          </p:cNvSpPr>
          <p:nvPr>
            <p:ph idx="1"/>
          </p:nvPr>
        </p:nvSpPr>
        <p:spPr>
          <a:xfrm>
            <a:off x="838200" y="316523"/>
            <a:ext cx="10515600" cy="6224954"/>
          </a:xfrm>
        </p:spPr>
        <p:txBody>
          <a:bodyPr>
            <a:normAutofit fontScale="85000" lnSpcReduction="20000"/>
          </a:bodyPr>
          <a:lstStyle/>
          <a:p>
            <a:pPr algn="just"/>
            <a:r>
              <a:rPr lang="en-IN" sz="3800" b="1" dirty="0"/>
              <a:t>Using </a:t>
            </a:r>
            <a:r>
              <a:rPr lang="en-IN" sz="3800" b="1" dirty="0" err="1"/>
              <a:t>XMLHttp</a:t>
            </a:r>
            <a:endParaRPr lang="en-IN" sz="3800" b="1" dirty="0"/>
          </a:p>
          <a:p>
            <a:pPr algn="just"/>
            <a:r>
              <a:rPr lang="en-US" dirty="0"/>
              <a:t>Using </a:t>
            </a:r>
            <a:r>
              <a:rPr lang="en-US" dirty="0" err="1"/>
              <a:t>XMLHttp</a:t>
            </a:r>
            <a:r>
              <a:rPr lang="en-US" dirty="0"/>
              <a:t> is an important part of AJAX programming because it allows JavaScript to communicate with the server without reloading the webpage. </a:t>
            </a:r>
          </a:p>
          <a:p>
            <a:pPr algn="just"/>
            <a:r>
              <a:rPr lang="en-US" dirty="0"/>
              <a:t>After creating an </a:t>
            </a:r>
            <a:r>
              <a:rPr lang="en-US" dirty="0" err="1"/>
              <a:t>XMLHttp</a:t>
            </a:r>
            <a:r>
              <a:rPr lang="en-US" dirty="0"/>
              <a:t> object, the first step is to initialize it using the </a:t>
            </a:r>
            <a:r>
              <a:rPr lang="en-US" dirty="0">
                <a:solidFill>
                  <a:srgbClr val="FF0000"/>
                </a:solidFill>
              </a:rPr>
              <a:t>open() </a:t>
            </a:r>
            <a:r>
              <a:rPr lang="en-US" dirty="0"/>
              <a:t>method. </a:t>
            </a:r>
          </a:p>
          <a:p>
            <a:pPr algn="just"/>
            <a:r>
              <a:rPr lang="en-US" dirty="0"/>
              <a:t>The open() method accepts three arguments: the </a:t>
            </a:r>
            <a:r>
              <a:rPr lang="en-US" dirty="0">
                <a:solidFill>
                  <a:srgbClr val="FF0000"/>
                </a:solidFill>
              </a:rPr>
              <a:t>request type </a:t>
            </a:r>
            <a:r>
              <a:rPr lang="en-US" dirty="0"/>
              <a:t>(GET or POST), the </a:t>
            </a:r>
            <a:r>
              <a:rPr lang="en-US" dirty="0">
                <a:solidFill>
                  <a:srgbClr val="FF0000"/>
                </a:solidFill>
              </a:rPr>
              <a:t>URL of the resource</a:t>
            </a:r>
            <a:r>
              <a:rPr lang="en-US" dirty="0"/>
              <a:t>, and a </a:t>
            </a:r>
            <a:r>
              <a:rPr lang="en-US" dirty="0">
                <a:solidFill>
                  <a:srgbClr val="FF0000"/>
                </a:solidFill>
              </a:rPr>
              <a:t>Boolean value </a:t>
            </a:r>
            <a:r>
              <a:rPr lang="en-US" dirty="0"/>
              <a:t>indicating whether the request is asynchronous or synchronous. For example:</a:t>
            </a:r>
          </a:p>
          <a:p>
            <a:pPr lvl="1" algn="just"/>
            <a:endParaRPr lang="en-IN" dirty="0"/>
          </a:p>
          <a:p>
            <a:pPr lvl="1" algn="just"/>
            <a:r>
              <a:rPr lang="en-IN" dirty="0"/>
              <a:t>var </a:t>
            </a:r>
            <a:r>
              <a:rPr lang="en-IN" dirty="0" err="1"/>
              <a:t>oXmlHttp</a:t>
            </a:r>
            <a:r>
              <a:rPr lang="en-IN" dirty="0"/>
              <a:t> = </a:t>
            </a:r>
            <a:r>
              <a:rPr lang="en-IN" dirty="0" err="1"/>
              <a:t>zXmlHttp.createRequest</a:t>
            </a:r>
            <a:r>
              <a:rPr lang="en-IN" dirty="0"/>
              <a:t>();</a:t>
            </a:r>
          </a:p>
          <a:p>
            <a:pPr lvl="1" algn="just"/>
            <a:r>
              <a:rPr lang="en-IN" dirty="0" err="1"/>
              <a:t>oXmlHttp.open</a:t>
            </a:r>
            <a:r>
              <a:rPr lang="en-IN" dirty="0"/>
              <a:t>("get", "info.txt", true);</a:t>
            </a:r>
          </a:p>
          <a:p>
            <a:pPr algn="just"/>
            <a:endParaRPr lang="en-US" dirty="0"/>
          </a:p>
          <a:p>
            <a:pPr algn="just"/>
            <a:r>
              <a:rPr lang="en-US" dirty="0"/>
              <a:t>In this example, a GET request is sent to info.txt asynchronously. </a:t>
            </a:r>
          </a:p>
          <a:p>
            <a:pPr algn="just"/>
            <a:r>
              <a:rPr lang="en-US" dirty="0"/>
              <a:t>Asynchronous communication means JavaScript continues execution without waiting for the server response. </a:t>
            </a:r>
          </a:p>
          <a:p>
            <a:pPr algn="just"/>
            <a:r>
              <a:rPr lang="en-US" dirty="0"/>
              <a:t>This improves user experience because the browser remains responsive while data is being fetched. </a:t>
            </a:r>
          </a:p>
          <a:p>
            <a:pPr algn="just"/>
            <a:r>
              <a:rPr lang="en-US" dirty="0"/>
              <a:t>If the third parameter is set to false, the request becomes synchronous, meaning the browser waits until the response is received before continuing execution.</a:t>
            </a:r>
            <a:endParaRPr lang="en-IN" dirty="0"/>
          </a:p>
        </p:txBody>
      </p:sp>
    </p:spTree>
    <p:extLst>
      <p:ext uri="{BB962C8B-B14F-4D97-AF65-F5344CB8AC3E}">
        <p14:creationId xmlns:p14="http://schemas.microsoft.com/office/powerpoint/2010/main" val="18055672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E6877-B53A-265A-8ADA-D0EA0E1520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D7AF92-A489-C753-7FB8-C69C8FF10BA6}"/>
              </a:ext>
            </a:extLst>
          </p:cNvPr>
          <p:cNvSpPr>
            <a:spLocks noGrp="1"/>
          </p:cNvSpPr>
          <p:nvPr>
            <p:ph idx="1"/>
          </p:nvPr>
        </p:nvSpPr>
        <p:spPr>
          <a:xfrm>
            <a:off x="838200" y="316523"/>
            <a:ext cx="10515600" cy="6224954"/>
          </a:xfrm>
        </p:spPr>
        <p:txBody>
          <a:bodyPr>
            <a:normAutofit fontScale="92500" lnSpcReduction="10000"/>
          </a:bodyPr>
          <a:lstStyle/>
          <a:p>
            <a:pPr algn="just"/>
            <a:r>
              <a:rPr lang="en-US" dirty="0"/>
              <a:t>The </a:t>
            </a:r>
            <a:r>
              <a:rPr lang="en-US" dirty="0" err="1"/>
              <a:t>XMLHttp</a:t>
            </a:r>
            <a:r>
              <a:rPr lang="en-US" dirty="0"/>
              <a:t> object uses the </a:t>
            </a:r>
            <a:r>
              <a:rPr lang="en-US" dirty="0" err="1"/>
              <a:t>readyState</a:t>
            </a:r>
            <a:r>
              <a:rPr lang="en-US" dirty="0"/>
              <a:t> property to indicate the progress of a request. There are five possible values:</a:t>
            </a:r>
          </a:p>
          <a:p>
            <a:pPr lvl="1"/>
            <a:r>
              <a:rPr lang="en-US" dirty="0"/>
              <a:t>0 – Uninitialized </a:t>
            </a:r>
          </a:p>
          <a:p>
            <a:pPr lvl="1"/>
            <a:r>
              <a:rPr lang="en-US" dirty="0"/>
              <a:t>1 – Loading </a:t>
            </a:r>
          </a:p>
          <a:p>
            <a:pPr lvl="1"/>
            <a:r>
              <a:rPr lang="en-US" dirty="0"/>
              <a:t>2 – Loaded </a:t>
            </a:r>
          </a:p>
          <a:p>
            <a:pPr lvl="1"/>
            <a:r>
              <a:rPr lang="en-US" dirty="0"/>
              <a:t>3 – Interactive </a:t>
            </a:r>
          </a:p>
          <a:p>
            <a:pPr lvl="1"/>
            <a:r>
              <a:rPr lang="en-US" dirty="0"/>
              <a:t>4 – Complete </a:t>
            </a:r>
          </a:p>
          <a:p>
            <a:endParaRPr lang="en-US" dirty="0"/>
          </a:p>
          <a:p>
            <a:r>
              <a:rPr lang="en-US" dirty="0"/>
              <a:t>Whenever the </a:t>
            </a:r>
            <a:r>
              <a:rPr lang="en-US" dirty="0" err="1"/>
              <a:t>readyState</a:t>
            </a:r>
            <a:r>
              <a:rPr lang="en-US" dirty="0"/>
              <a:t> changes, the </a:t>
            </a:r>
            <a:r>
              <a:rPr lang="en-US" dirty="0" err="1"/>
              <a:t>onreadystatechange</a:t>
            </a:r>
            <a:r>
              <a:rPr lang="en-US" dirty="0"/>
              <a:t> event handler is triggered. </a:t>
            </a:r>
          </a:p>
          <a:p>
            <a:endParaRPr lang="en-US" dirty="0"/>
          </a:p>
          <a:p>
            <a:r>
              <a:rPr lang="en-US" dirty="0"/>
              <a:t>Developers usually check whether </a:t>
            </a:r>
            <a:r>
              <a:rPr lang="en-US" dirty="0" err="1"/>
              <a:t>readyState</a:t>
            </a:r>
            <a:r>
              <a:rPr lang="en-US" dirty="0"/>
              <a:t> equals 4 because it indicates that the request has completed successfully. Example:</a:t>
            </a:r>
          </a:p>
          <a:p>
            <a:pPr lvl="1"/>
            <a:r>
              <a:rPr lang="en-IN" dirty="0" err="1"/>
              <a:t>oXmlHttp.onreadystatechange</a:t>
            </a:r>
            <a:r>
              <a:rPr lang="en-IN" dirty="0"/>
              <a:t> = function () {</a:t>
            </a:r>
            <a:br>
              <a:rPr lang="en-IN" dirty="0"/>
            </a:br>
            <a:r>
              <a:rPr lang="en-IN" dirty="0"/>
              <a:t>	if (</a:t>
            </a:r>
            <a:r>
              <a:rPr lang="en-IN" dirty="0" err="1"/>
              <a:t>oXmlHttp.readyState</a:t>
            </a:r>
            <a:r>
              <a:rPr lang="en-IN" dirty="0"/>
              <a:t> == 4) {</a:t>
            </a:r>
            <a:br>
              <a:rPr lang="en-IN" dirty="0"/>
            </a:br>
            <a:r>
              <a:rPr lang="en-IN" dirty="0"/>
              <a:t>		alert("Got response.");</a:t>
            </a:r>
            <a:br>
              <a:rPr lang="en-IN" dirty="0"/>
            </a:br>
            <a:r>
              <a:rPr lang="en-IN" dirty="0"/>
              <a:t>	}</a:t>
            </a:r>
            <a:br>
              <a:rPr lang="en-IN" dirty="0"/>
            </a:br>
            <a:r>
              <a:rPr lang="en-IN" dirty="0"/>
              <a:t>};</a:t>
            </a:r>
            <a:endParaRPr lang="en-US" dirty="0"/>
          </a:p>
          <a:p>
            <a:pPr algn="just"/>
            <a:endParaRPr lang="en-IN" dirty="0"/>
          </a:p>
        </p:txBody>
      </p:sp>
    </p:spTree>
    <p:extLst>
      <p:ext uri="{BB962C8B-B14F-4D97-AF65-F5344CB8AC3E}">
        <p14:creationId xmlns:p14="http://schemas.microsoft.com/office/powerpoint/2010/main" val="22080706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ED0EC-83DF-E6B8-09B7-22FB631241D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8F5D50-537F-74F8-86F7-2B1EF1934419}"/>
              </a:ext>
            </a:extLst>
          </p:cNvPr>
          <p:cNvSpPr>
            <a:spLocks noGrp="1"/>
          </p:cNvSpPr>
          <p:nvPr>
            <p:ph idx="1"/>
          </p:nvPr>
        </p:nvSpPr>
        <p:spPr>
          <a:xfrm>
            <a:off x="838200" y="316523"/>
            <a:ext cx="10515600" cy="6224954"/>
          </a:xfrm>
        </p:spPr>
        <p:txBody>
          <a:bodyPr/>
          <a:lstStyle/>
          <a:p>
            <a:pPr algn="just"/>
            <a:r>
              <a:rPr lang="en-US" dirty="0"/>
              <a:t>After defining the event handler, the request is actually sent using the send() method. For GET requests, no request body is required, so null is passed:</a:t>
            </a:r>
          </a:p>
          <a:p>
            <a:pPr lvl="1" algn="just"/>
            <a:r>
              <a:rPr lang="en-IN" dirty="0" err="1"/>
              <a:t>oXmlHttp.send</a:t>
            </a:r>
            <a:r>
              <a:rPr lang="en-IN" dirty="0"/>
              <a:t>(null);</a:t>
            </a:r>
          </a:p>
          <a:p>
            <a:pPr algn="just"/>
            <a:endParaRPr lang="en-US" dirty="0"/>
          </a:p>
          <a:p>
            <a:pPr algn="just"/>
            <a:r>
              <a:rPr lang="en-US" dirty="0"/>
              <a:t>Once the response is received, the returned data can be accessed using the </a:t>
            </a:r>
            <a:r>
              <a:rPr lang="en-US" dirty="0" err="1">
                <a:solidFill>
                  <a:srgbClr val="FF0000"/>
                </a:solidFill>
              </a:rPr>
              <a:t>responseText</a:t>
            </a:r>
            <a:r>
              <a:rPr lang="en-US" dirty="0"/>
              <a:t> property. This property contains the response as plain text. Example:</a:t>
            </a:r>
          </a:p>
          <a:p>
            <a:pPr lvl="1" algn="just"/>
            <a:r>
              <a:rPr lang="en-IN" dirty="0"/>
              <a:t>var </a:t>
            </a:r>
            <a:r>
              <a:rPr lang="en-IN" dirty="0" err="1"/>
              <a:t>sData</a:t>
            </a:r>
            <a:r>
              <a:rPr lang="en-IN" dirty="0"/>
              <a:t> = </a:t>
            </a:r>
            <a:r>
              <a:rPr lang="en-IN" dirty="0" err="1"/>
              <a:t>oXmlHttp.responseText</a:t>
            </a:r>
            <a:r>
              <a:rPr lang="en-IN" dirty="0"/>
              <a:t>;</a:t>
            </a:r>
          </a:p>
          <a:p>
            <a:pPr algn="just"/>
            <a:endParaRPr lang="en-US" dirty="0"/>
          </a:p>
          <a:p>
            <a:pPr algn="just"/>
            <a:r>
              <a:rPr lang="en-US" dirty="0"/>
              <a:t>If the server returns XML data, the </a:t>
            </a:r>
            <a:r>
              <a:rPr lang="en-US" dirty="0" err="1">
                <a:solidFill>
                  <a:srgbClr val="FF0000"/>
                </a:solidFill>
              </a:rPr>
              <a:t>responseXML</a:t>
            </a:r>
            <a:r>
              <a:rPr lang="en-US" dirty="0"/>
              <a:t> property can be used to access it as an XML document object. </a:t>
            </a:r>
          </a:p>
          <a:p>
            <a:pPr algn="just"/>
            <a:endParaRPr lang="en-IN" dirty="0"/>
          </a:p>
          <a:p>
            <a:pPr algn="just"/>
            <a:endParaRPr lang="en-IN" dirty="0"/>
          </a:p>
        </p:txBody>
      </p:sp>
    </p:spTree>
    <p:extLst>
      <p:ext uri="{BB962C8B-B14F-4D97-AF65-F5344CB8AC3E}">
        <p14:creationId xmlns:p14="http://schemas.microsoft.com/office/powerpoint/2010/main" val="1807527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727F6-F782-3BE4-F6CD-85966764D8B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5F7ECB-2493-BF6F-879E-5401C83163E1}"/>
              </a:ext>
            </a:extLst>
          </p:cNvPr>
          <p:cNvSpPr>
            <a:spLocks noGrp="1"/>
          </p:cNvSpPr>
          <p:nvPr>
            <p:ph idx="1"/>
          </p:nvPr>
        </p:nvSpPr>
        <p:spPr>
          <a:xfrm>
            <a:off x="838200" y="316523"/>
            <a:ext cx="10515600" cy="6224954"/>
          </a:xfrm>
        </p:spPr>
        <p:txBody>
          <a:bodyPr>
            <a:normAutofit fontScale="77500" lnSpcReduction="20000"/>
          </a:bodyPr>
          <a:lstStyle/>
          <a:p>
            <a:pPr algn="just"/>
            <a:r>
              <a:rPr lang="en-US" dirty="0"/>
              <a:t>However, before processing the response, it is important to check the HTTP status code using the status property. </a:t>
            </a:r>
          </a:p>
          <a:p>
            <a:pPr algn="just"/>
            <a:r>
              <a:rPr lang="en-US" dirty="0"/>
              <a:t>A status code of 200 indicates that the request was successful. Example:</a:t>
            </a:r>
          </a:p>
          <a:p>
            <a:pPr lvl="2" algn="just"/>
            <a:r>
              <a:rPr lang="en-IN" dirty="0"/>
              <a:t>if (</a:t>
            </a:r>
            <a:r>
              <a:rPr lang="en-IN" dirty="0" err="1"/>
              <a:t>oXmlHttp.status</a:t>
            </a:r>
            <a:r>
              <a:rPr lang="en-IN" dirty="0"/>
              <a:t> == 200) {</a:t>
            </a:r>
          </a:p>
          <a:p>
            <a:pPr lvl="2" algn="just"/>
            <a:r>
              <a:rPr lang="en-IN" dirty="0"/>
              <a:t>    alert("Data returned is: " + </a:t>
            </a:r>
            <a:r>
              <a:rPr lang="en-IN" dirty="0" err="1"/>
              <a:t>oXmlHttp.responseText</a:t>
            </a:r>
            <a:r>
              <a:rPr lang="en-IN" dirty="0"/>
              <a:t>);</a:t>
            </a:r>
          </a:p>
          <a:p>
            <a:pPr lvl="2" algn="just"/>
            <a:r>
              <a:rPr lang="en-IN" dirty="0"/>
              <a:t>} else {</a:t>
            </a:r>
          </a:p>
          <a:p>
            <a:pPr lvl="2" algn="just"/>
            <a:r>
              <a:rPr lang="en-IN" dirty="0"/>
              <a:t>    alert("An error occurred: " + </a:t>
            </a:r>
            <a:r>
              <a:rPr lang="en-IN" dirty="0" err="1"/>
              <a:t>oXmlHttp.statusText</a:t>
            </a:r>
            <a:r>
              <a:rPr lang="en-IN" dirty="0"/>
              <a:t>);</a:t>
            </a:r>
          </a:p>
          <a:p>
            <a:pPr lvl="2" algn="just"/>
            <a:r>
              <a:rPr lang="en-IN" dirty="0"/>
              <a:t>}</a:t>
            </a:r>
          </a:p>
          <a:p>
            <a:pPr algn="just"/>
            <a:r>
              <a:rPr lang="en-US" dirty="0"/>
              <a:t>The </a:t>
            </a:r>
            <a:r>
              <a:rPr lang="en-US" dirty="0" err="1"/>
              <a:t>statusText</a:t>
            </a:r>
            <a:r>
              <a:rPr lang="en-US" dirty="0"/>
              <a:t> property contains a textual description such as “OK” or “Not Found”.</a:t>
            </a:r>
          </a:p>
          <a:p>
            <a:pPr algn="just"/>
            <a:endParaRPr lang="en-US" dirty="0"/>
          </a:p>
          <a:p>
            <a:pPr algn="just"/>
            <a:r>
              <a:rPr lang="en-US" dirty="0" err="1"/>
              <a:t>XMLHttp</a:t>
            </a:r>
            <a:r>
              <a:rPr lang="en-US" dirty="0"/>
              <a:t> also provides methods to work with response headers. The </a:t>
            </a:r>
            <a:r>
              <a:rPr lang="en-US" dirty="0" err="1">
                <a:solidFill>
                  <a:srgbClr val="FF0000"/>
                </a:solidFill>
              </a:rPr>
              <a:t>getResponseHeader</a:t>
            </a:r>
            <a:r>
              <a:rPr lang="en-US" dirty="0"/>
              <a:t>() method retrieves a specific header value. For example:</a:t>
            </a:r>
          </a:p>
          <a:p>
            <a:pPr lvl="1" algn="just"/>
            <a:r>
              <a:rPr lang="en-IN" dirty="0"/>
              <a:t>var </a:t>
            </a:r>
            <a:r>
              <a:rPr lang="en-IN" dirty="0" err="1"/>
              <a:t>sContentType</a:t>
            </a:r>
            <a:r>
              <a:rPr lang="en-IN" dirty="0"/>
              <a:t> = </a:t>
            </a:r>
            <a:r>
              <a:rPr lang="en-IN" dirty="0" err="1"/>
              <a:t>oXmlHttp.getResponseHeader</a:t>
            </a:r>
            <a:r>
              <a:rPr lang="en-IN" dirty="0"/>
              <a:t>("Content-Type");</a:t>
            </a:r>
          </a:p>
          <a:p>
            <a:pPr algn="just"/>
            <a:r>
              <a:rPr lang="en-US" dirty="0"/>
              <a:t>Using this value, developers can identify the type of data returned by the server. Example:</a:t>
            </a:r>
          </a:p>
          <a:p>
            <a:pPr algn="just"/>
            <a:endParaRPr lang="en-US" dirty="0"/>
          </a:p>
          <a:p>
            <a:pPr lvl="2" algn="just"/>
            <a:r>
              <a:rPr lang="en-IN" dirty="0"/>
              <a:t>if (</a:t>
            </a:r>
            <a:r>
              <a:rPr lang="en-IN" dirty="0" err="1"/>
              <a:t>sContentType</a:t>
            </a:r>
            <a:r>
              <a:rPr lang="en-IN" dirty="0"/>
              <a:t> == "text/xml") {</a:t>
            </a:r>
          </a:p>
          <a:p>
            <a:pPr lvl="2" algn="just"/>
            <a:r>
              <a:rPr lang="en-IN" dirty="0"/>
              <a:t>    alert("XML content received.");</a:t>
            </a:r>
          </a:p>
          <a:p>
            <a:pPr lvl="2" algn="just"/>
            <a:r>
              <a:rPr lang="en-IN" dirty="0"/>
              <a:t>} else if (</a:t>
            </a:r>
            <a:r>
              <a:rPr lang="en-IN" dirty="0" err="1"/>
              <a:t>sContentType</a:t>
            </a:r>
            <a:r>
              <a:rPr lang="en-IN" dirty="0"/>
              <a:t> == "text/plain") {</a:t>
            </a:r>
          </a:p>
          <a:p>
            <a:pPr lvl="2" algn="just"/>
            <a:r>
              <a:rPr lang="en-IN" dirty="0"/>
              <a:t>    alert("Plain text content received.");</a:t>
            </a:r>
          </a:p>
          <a:p>
            <a:pPr lvl="2" algn="just"/>
            <a:r>
              <a:rPr lang="en-IN" dirty="0"/>
              <a:t>}</a:t>
            </a:r>
          </a:p>
          <a:p>
            <a:pPr algn="just"/>
            <a:r>
              <a:rPr lang="en-US" dirty="0"/>
              <a:t>To retrieve all response headers together, the </a:t>
            </a:r>
            <a:r>
              <a:rPr lang="en-US" dirty="0" err="1">
                <a:solidFill>
                  <a:srgbClr val="FF0000"/>
                </a:solidFill>
              </a:rPr>
              <a:t>getAllResponseHeaders</a:t>
            </a:r>
            <a:r>
              <a:rPr lang="en-US" dirty="0">
                <a:solidFill>
                  <a:srgbClr val="FF0000"/>
                </a:solidFill>
              </a:rPr>
              <a:t>() </a:t>
            </a:r>
            <a:r>
              <a:rPr lang="en-US" dirty="0"/>
              <a:t>method is used</a:t>
            </a:r>
            <a:endParaRPr lang="en-IN" dirty="0"/>
          </a:p>
        </p:txBody>
      </p:sp>
    </p:spTree>
    <p:extLst>
      <p:ext uri="{BB962C8B-B14F-4D97-AF65-F5344CB8AC3E}">
        <p14:creationId xmlns:p14="http://schemas.microsoft.com/office/powerpoint/2010/main" val="27084807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A2044-AF20-614E-E543-9B90AA1A4A6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52A654-3436-333A-403A-2F365A307620}"/>
              </a:ext>
            </a:extLst>
          </p:cNvPr>
          <p:cNvSpPr>
            <a:spLocks noGrp="1"/>
          </p:cNvSpPr>
          <p:nvPr>
            <p:ph idx="1"/>
          </p:nvPr>
        </p:nvSpPr>
        <p:spPr>
          <a:xfrm>
            <a:off x="838200" y="316523"/>
            <a:ext cx="10515600" cy="6224954"/>
          </a:xfrm>
        </p:spPr>
        <p:txBody>
          <a:bodyPr>
            <a:normAutofit fontScale="92500" lnSpcReduction="10000"/>
          </a:bodyPr>
          <a:lstStyle/>
          <a:p>
            <a:pPr algn="just"/>
            <a:r>
              <a:rPr lang="en-US" dirty="0"/>
              <a:t>The returned header string can be split into an array using JavaScript’s </a:t>
            </a:r>
            <a:r>
              <a:rPr lang="en-US" dirty="0">
                <a:solidFill>
                  <a:srgbClr val="FF0000"/>
                </a:solidFill>
              </a:rPr>
              <a:t>split</a:t>
            </a:r>
            <a:r>
              <a:rPr lang="en-US" dirty="0"/>
              <a:t>() method and processed individually.</a:t>
            </a:r>
          </a:p>
          <a:p>
            <a:pPr algn="just"/>
            <a:r>
              <a:rPr lang="en-US" dirty="0"/>
              <a:t>In addition to reading headers, developers can also send custom request headers using the </a:t>
            </a:r>
            <a:r>
              <a:rPr lang="en-US" dirty="0" err="1">
                <a:solidFill>
                  <a:srgbClr val="FF0000"/>
                </a:solidFill>
              </a:rPr>
              <a:t>setRequestHeader</a:t>
            </a:r>
            <a:r>
              <a:rPr lang="en-US" dirty="0"/>
              <a:t>() method before calling send(). Example:</a:t>
            </a:r>
          </a:p>
          <a:p>
            <a:pPr lvl="1" algn="just"/>
            <a:r>
              <a:rPr lang="en-IN" dirty="0" err="1"/>
              <a:t>oXmlHttp.setRequestHeader</a:t>
            </a:r>
            <a:r>
              <a:rPr lang="en-IN" dirty="0"/>
              <a:t>("</a:t>
            </a:r>
            <a:r>
              <a:rPr lang="en-IN" dirty="0" err="1"/>
              <a:t>myheader</a:t>
            </a:r>
            <a:r>
              <a:rPr lang="en-IN" dirty="0"/>
              <a:t>", "</a:t>
            </a:r>
            <a:r>
              <a:rPr lang="en-IN" dirty="0" err="1"/>
              <a:t>myvalue</a:t>
            </a:r>
            <a:r>
              <a:rPr lang="en-IN" dirty="0"/>
              <a:t>");</a:t>
            </a:r>
            <a:endParaRPr lang="en-US" dirty="0"/>
          </a:p>
          <a:p>
            <a:pPr algn="just"/>
            <a:r>
              <a:rPr lang="en-US" dirty="0"/>
              <a:t>Synchronous requests are also possible with </a:t>
            </a:r>
            <a:r>
              <a:rPr lang="en-US" dirty="0" err="1"/>
              <a:t>XMLHttp</a:t>
            </a:r>
            <a:r>
              <a:rPr lang="en-US" dirty="0"/>
              <a:t>. In synchronous communication, the browser waits for the server response before continuing execution. Example:</a:t>
            </a:r>
          </a:p>
          <a:p>
            <a:pPr marL="914400" lvl="2" indent="0" algn="just">
              <a:buNone/>
            </a:pPr>
            <a:r>
              <a:rPr lang="en-IN" dirty="0"/>
              <a:t>var </a:t>
            </a:r>
            <a:r>
              <a:rPr lang="en-IN" dirty="0" err="1"/>
              <a:t>oXmlHttp</a:t>
            </a:r>
            <a:r>
              <a:rPr lang="en-IN" dirty="0"/>
              <a:t> = </a:t>
            </a:r>
            <a:r>
              <a:rPr lang="en-IN" dirty="0" err="1"/>
              <a:t>zXmlHttp.createRequest</a:t>
            </a:r>
            <a:r>
              <a:rPr lang="en-IN" dirty="0"/>
              <a:t>();</a:t>
            </a:r>
          </a:p>
          <a:p>
            <a:pPr marL="914400" lvl="2" indent="0" algn="just">
              <a:buNone/>
            </a:pPr>
            <a:r>
              <a:rPr lang="en-IN" dirty="0" err="1"/>
              <a:t>oXmlHttp.open</a:t>
            </a:r>
            <a:r>
              <a:rPr lang="en-IN" dirty="0"/>
              <a:t>("get", "info.txt", false);</a:t>
            </a:r>
          </a:p>
          <a:p>
            <a:pPr marL="914400" lvl="2" indent="0" algn="just">
              <a:buNone/>
            </a:pPr>
            <a:r>
              <a:rPr lang="en-IN" dirty="0" err="1"/>
              <a:t>oXmlHttp.send</a:t>
            </a:r>
            <a:r>
              <a:rPr lang="en-IN" dirty="0"/>
              <a:t>(null);</a:t>
            </a:r>
          </a:p>
          <a:p>
            <a:pPr marL="914400" lvl="2" indent="0" algn="just">
              <a:buNone/>
            </a:pPr>
            <a:endParaRPr lang="en-IN" dirty="0"/>
          </a:p>
          <a:p>
            <a:pPr algn="just"/>
            <a:r>
              <a:rPr lang="en-US" dirty="0"/>
              <a:t>After the send() method returns, the response can be processed immediately because the request has already completed. </a:t>
            </a:r>
          </a:p>
          <a:p>
            <a:pPr algn="just"/>
            <a:r>
              <a:rPr lang="en-US" dirty="0"/>
              <a:t>Synchronous requests are useful for very small amounts of data or situations where the user must wait for the response.</a:t>
            </a:r>
            <a:endParaRPr lang="en-IN" dirty="0"/>
          </a:p>
        </p:txBody>
      </p:sp>
    </p:spTree>
    <p:extLst>
      <p:ext uri="{BB962C8B-B14F-4D97-AF65-F5344CB8AC3E}">
        <p14:creationId xmlns:p14="http://schemas.microsoft.com/office/powerpoint/2010/main" val="21241365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1B5BC-371B-6522-2CD8-50A73CB761E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01685B-C503-61B4-46D6-91600325AF3A}"/>
              </a:ext>
            </a:extLst>
          </p:cNvPr>
          <p:cNvSpPr>
            <a:spLocks noGrp="1"/>
          </p:cNvSpPr>
          <p:nvPr>
            <p:ph idx="1"/>
          </p:nvPr>
        </p:nvSpPr>
        <p:spPr>
          <a:xfrm>
            <a:off x="838200" y="316523"/>
            <a:ext cx="10515600" cy="6224954"/>
          </a:xfrm>
        </p:spPr>
        <p:txBody>
          <a:bodyPr>
            <a:normAutofit fontScale="55000" lnSpcReduction="20000"/>
          </a:bodyPr>
          <a:lstStyle/>
          <a:p>
            <a:pPr algn="just"/>
            <a:r>
              <a:rPr lang="en-IN" sz="3200" b="1" dirty="0" err="1"/>
              <a:t>XMLHttp</a:t>
            </a:r>
            <a:r>
              <a:rPr lang="en-IN" sz="3200" b="1" dirty="0"/>
              <a:t> GET Requests</a:t>
            </a:r>
          </a:p>
          <a:p>
            <a:pPr marL="0" indent="0" algn="just">
              <a:buNone/>
            </a:pPr>
            <a:r>
              <a:rPr lang="en-US" sz="3300" dirty="0"/>
              <a:t>1. Open </a:t>
            </a:r>
            <a:r>
              <a:rPr lang="en-US" sz="3300" b="1" dirty="0"/>
              <a:t>phpMyAdmin</a:t>
            </a:r>
            <a:r>
              <a:rPr lang="en-US" sz="3300" dirty="0"/>
              <a:t> and execute the following SQL:</a:t>
            </a:r>
          </a:p>
          <a:p>
            <a:pPr algn="just"/>
            <a:r>
              <a:rPr lang="en-IN" dirty="0"/>
              <a:t>CREATE DATABASE </a:t>
            </a:r>
            <a:r>
              <a:rPr lang="en-IN" dirty="0" err="1"/>
              <a:t>ajax_db</a:t>
            </a:r>
            <a:r>
              <a:rPr lang="en-IN" dirty="0"/>
              <a:t>;</a:t>
            </a:r>
          </a:p>
          <a:p>
            <a:pPr algn="just"/>
            <a:r>
              <a:rPr lang="en-IN" dirty="0"/>
              <a:t>USE </a:t>
            </a:r>
            <a:r>
              <a:rPr lang="en-IN" dirty="0" err="1"/>
              <a:t>ajax_db</a:t>
            </a:r>
            <a:r>
              <a:rPr lang="en-IN" dirty="0"/>
              <a:t>;</a:t>
            </a:r>
          </a:p>
          <a:p>
            <a:pPr algn="just"/>
            <a:endParaRPr lang="en-IN" dirty="0"/>
          </a:p>
          <a:p>
            <a:pPr algn="just"/>
            <a:r>
              <a:rPr lang="en-IN" dirty="0"/>
              <a:t>CREATE TABLE Customers (</a:t>
            </a:r>
          </a:p>
          <a:p>
            <a:pPr algn="just"/>
            <a:r>
              <a:rPr lang="en-IN" dirty="0"/>
              <a:t>    </a:t>
            </a:r>
            <a:r>
              <a:rPr lang="en-IN" dirty="0" err="1"/>
              <a:t>CustomerId</a:t>
            </a:r>
            <a:r>
              <a:rPr lang="en-IN" dirty="0"/>
              <a:t> INT PRIMARY KEY AUTO_INCREMENT,</a:t>
            </a:r>
          </a:p>
          <a:p>
            <a:pPr algn="just"/>
            <a:r>
              <a:rPr lang="en-IN" dirty="0"/>
              <a:t>    Name VARCHAR(100),</a:t>
            </a:r>
          </a:p>
          <a:p>
            <a:pPr algn="just"/>
            <a:r>
              <a:rPr lang="en-IN" dirty="0"/>
              <a:t>    Address VARCHAR(100),</a:t>
            </a:r>
          </a:p>
          <a:p>
            <a:pPr algn="just"/>
            <a:r>
              <a:rPr lang="en-IN" dirty="0"/>
              <a:t>    City VARCHAR(50),</a:t>
            </a:r>
          </a:p>
          <a:p>
            <a:pPr algn="just"/>
            <a:r>
              <a:rPr lang="en-IN" dirty="0"/>
              <a:t>    State VARCHAR(50),</a:t>
            </a:r>
          </a:p>
          <a:p>
            <a:pPr algn="just"/>
            <a:r>
              <a:rPr lang="en-IN" dirty="0"/>
              <a:t>    Zip VARCHAR(20),</a:t>
            </a:r>
          </a:p>
          <a:p>
            <a:pPr algn="just"/>
            <a:r>
              <a:rPr lang="en-IN" dirty="0"/>
              <a:t>    Phone VARCHAR(20),</a:t>
            </a:r>
          </a:p>
          <a:p>
            <a:pPr algn="just"/>
            <a:r>
              <a:rPr lang="en-IN" dirty="0"/>
              <a:t>    Email VARCHAR(100)</a:t>
            </a:r>
          </a:p>
          <a:p>
            <a:pPr algn="just"/>
            <a:r>
              <a:rPr lang="en-IN" dirty="0"/>
              <a:t>);</a:t>
            </a:r>
          </a:p>
          <a:p>
            <a:pPr algn="just"/>
            <a:endParaRPr lang="en-IN" dirty="0"/>
          </a:p>
          <a:p>
            <a:pPr algn="just"/>
            <a:r>
              <a:rPr lang="en-IN" dirty="0"/>
              <a:t>INSERT INTO Customers(Name, Address, City, State, Zip, Phone, Email)</a:t>
            </a:r>
          </a:p>
          <a:p>
            <a:pPr algn="just"/>
            <a:r>
              <a:rPr lang="en-IN" dirty="0"/>
              <a:t>VALUES</a:t>
            </a:r>
          </a:p>
          <a:p>
            <a:pPr algn="just"/>
            <a:r>
              <a:rPr lang="en-IN" dirty="0"/>
              <a:t>('Roshan', 'Nitte', '</a:t>
            </a:r>
            <a:r>
              <a:rPr lang="en-IN" dirty="0" err="1"/>
              <a:t>Karkala</a:t>
            </a:r>
            <a:r>
              <a:rPr lang="en-IN" dirty="0"/>
              <a:t>', 'Karnataka', '574110', '9876543210', 'roshan@gmail.com'),</a:t>
            </a:r>
          </a:p>
          <a:p>
            <a:pPr algn="just"/>
            <a:r>
              <a:rPr lang="en-IN" dirty="0"/>
              <a:t>('Rahul', 'Manipal', 'Udupi', 'Karnataka', '576104', '9876501234', 'rahul@gmail.com');</a:t>
            </a:r>
          </a:p>
        </p:txBody>
      </p:sp>
    </p:spTree>
    <p:extLst>
      <p:ext uri="{BB962C8B-B14F-4D97-AF65-F5344CB8AC3E}">
        <p14:creationId xmlns:p14="http://schemas.microsoft.com/office/powerpoint/2010/main" val="26733465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D0D95-9ED1-0B62-DB68-7FA5722DC1A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9FD229-0374-E5CB-615B-8C8826992A83}"/>
              </a:ext>
            </a:extLst>
          </p:cNvPr>
          <p:cNvSpPr>
            <a:spLocks noGrp="1"/>
          </p:cNvSpPr>
          <p:nvPr>
            <p:ph idx="1"/>
          </p:nvPr>
        </p:nvSpPr>
        <p:spPr>
          <a:xfrm>
            <a:off x="117230" y="114300"/>
            <a:ext cx="5210908" cy="6567854"/>
          </a:xfrm>
        </p:spPr>
        <p:txBody>
          <a:bodyPr>
            <a:normAutofit fontScale="25000" lnSpcReduction="20000"/>
          </a:bodyPr>
          <a:lstStyle/>
          <a:p>
            <a:pPr marL="0" indent="0" algn="just">
              <a:buNone/>
            </a:pPr>
            <a:r>
              <a:rPr lang="en-IN" sz="9600" dirty="0"/>
              <a:t>2. Create index.html</a:t>
            </a:r>
          </a:p>
          <a:p>
            <a:pPr marL="0" indent="0" algn="just">
              <a:buNone/>
            </a:pPr>
            <a:r>
              <a:rPr lang="en-IN" sz="5500" dirty="0"/>
              <a:t>&lt;!DOCTYPE html&gt;</a:t>
            </a:r>
          </a:p>
          <a:p>
            <a:pPr marL="0" indent="0" algn="just">
              <a:buNone/>
            </a:pPr>
            <a:r>
              <a:rPr lang="en-IN" sz="5500" dirty="0"/>
              <a:t>&lt;html&gt;</a:t>
            </a:r>
          </a:p>
          <a:p>
            <a:pPr marL="0" indent="0" algn="just">
              <a:buNone/>
            </a:pPr>
            <a:r>
              <a:rPr lang="en-IN" sz="5500" dirty="0"/>
              <a:t>&lt;head&gt;</a:t>
            </a:r>
          </a:p>
          <a:p>
            <a:pPr marL="0" indent="0" algn="just">
              <a:buNone/>
            </a:pPr>
            <a:r>
              <a:rPr lang="en-IN" sz="5500" dirty="0"/>
              <a:t>    &lt;title&gt;AJAX Customer Lookup&lt;/title&gt;</a:t>
            </a:r>
          </a:p>
          <a:p>
            <a:pPr marL="0" indent="0" algn="just">
              <a:buNone/>
            </a:pPr>
            <a:r>
              <a:rPr lang="en-IN" sz="5500" dirty="0"/>
              <a:t>    &lt;script&gt;</a:t>
            </a:r>
          </a:p>
          <a:p>
            <a:pPr marL="0" indent="0" algn="just">
              <a:buNone/>
            </a:pPr>
            <a:r>
              <a:rPr lang="en-IN" sz="5500" dirty="0"/>
              <a:t>        function </a:t>
            </a:r>
            <a:r>
              <a:rPr lang="en-IN" sz="5500" dirty="0" err="1"/>
              <a:t>requestCustomerInfo</a:t>
            </a:r>
            <a:r>
              <a:rPr lang="en-IN" sz="5500" dirty="0"/>
              <a:t>() {</a:t>
            </a:r>
          </a:p>
          <a:p>
            <a:pPr marL="0" indent="0" algn="just">
              <a:buNone/>
            </a:pPr>
            <a:r>
              <a:rPr lang="en-IN" sz="5500" dirty="0"/>
              <a:t>            var </a:t>
            </a:r>
            <a:r>
              <a:rPr lang="en-IN" sz="5500" dirty="0" err="1"/>
              <a:t>sId</a:t>
            </a:r>
            <a:r>
              <a:rPr lang="en-IN" sz="5500" dirty="0"/>
              <a:t> = </a:t>
            </a:r>
            <a:r>
              <a:rPr lang="en-IN" sz="5500" dirty="0" err="1"/>
              <a:t>document.getElementById</a:t>
            </a:r>
            <a:r>
              <a:rPr lang="en-IN" sz="5500" dirty="0"/>
              <a:t>("</a:t>
            </a:r>
            <a:r>
              <a:rPr lang="en-IN" sz="5500" dirty="0" err="1"/>
              <a:t>txtCustomerId</a:t>
            </a:r>
            <a:r>
              <a:rPr lang="en-IN" sz="5500" dirty="0"/>
              <a:t>").value;</a:t>
            </a:r>
          </a:p>
          <a:p>
            <a:pPr marL="0" indent="0" algn="just">
              <a:buNone/>
            </a:pPr>
            <a:r>
              <a:rPr lang="en-IN" sz="5500" dirty="0"/>
              <a:t>            // Create </a:t>
            </a:r>
            <a:r>
              <a:rPr lang="en-IN" sz="5500" dirty="0" err="1"/>
              <a:t>XMLHttp</a:t>
            </a:r>
            <a:r>
              <a:rPr lang="en-IN" sz="5500" dirty="0"/>
              <a:t> object</a:t>
            </a:r>
          </a:p>
          <a:p>
            <a:pPr marL="0" indent="0" algn="just">
              <a:buNone/>
            </a:pPr>
            <a:r>
              <a:rPr lang="en-IN" sz="5500" dirty="0"/>
              <a:t>            var </a:t>
            </a:r>
            <a:r>
              <a:rPr lang="en-IN" sz="5500" dirty="0" err="1"/>
              <a:t>oXmlHttp</a:t>
            </a:r>
            <a:r>
              <a:rPr lang="en-IN" sz="5500" dirty="0"/>
              <a:t> = new </a:t>
            </a:r>
            <a:r>
              <a:rPr lang="en-IN" sz="5500" dirty="0" err="1"/>
              <a:t>XMLHttpRequest</a:t>
            </a:r>
            <a:r>
              <a:rPr lang="en-IN" sz="5500" dirty="0"/>
              <a:t>();</a:t>
            </a:r>
          </a:p>
          <a:p>
            <a:pPr marL="0" indent="0" algn="just">
              <a:buNone/>
            </a:pPr>
            <a:r>
              <a:rPr lang="en-IN" sz="5500" dirty="0"/>
              <a:t>            // Open GET request</a:t>
            </a:r>
          </a:p>
          <a:p>
            <a:pPr marL="0" indent="0" algn="just">
              <a:buNone/>
            </a:pPr>
            <a:r>
              <a:rPr lang="en-IN" sz="5500" dirty="0"/>
              <a:t>            </a:t>
            </a:r>
            <a:r>
              <a:rPr lang="en-IN" sz="5500" dirty="0" err="1"/>
              <a:t>oXmlHttp.open</a:t>
            </a:r>
            <a:r>
              <a:rPr lang="en-IN" sz="5500" dirty="0"/>
              <a:t>("GET",</a:t>
            </a:r>
          </a:p>
          <a:p>
            <a:pPr marL="0" indent="0" algn="just">
              <a:buNone/>
            </a:pPr>
            <a:r>
              <a:rPr lang="en-IN" sz="5500" dirty="0"/>
              <a:t>                "</a:t>
            </a:r>
            <a:r>
              <a:rPr lang="en-IN" sz="5500" dirty="0" err="1"/>
              <a:t>GetCustomerData.php?id</a:t>
            </a:r>
            <a:r>
              <a:rPr lang="en-IN" sz="5500" dirty="0"/>
              <a:t>=" + </a:t>
            </a:r>
            <a:r>
              <a:rPr lang="en-IN" sz="5500" dirty="0" err="1"/>
              <a:t>sId</a:t>
            </a:r>
            <a:r>
              <a:rPr lang="en-IN" sz="5500" dirty="0"/>
              <a:t>,</a:t>
            </a:r>
          </a:p>
          <a:p>
            <a:pPr marL="0" indent="0" algn="just">
              <a:buNone/>
            </a:pPr>
            <a:r>
              <a:rPr lang="en-IN" sz="5500" dirty="0"/>
              <a:t>                true);</a:t>
            </a:r>
          </a:p>
          <a:p>
            <a:pPr marL="0" indent="0" algn="just">
              <a:buNone/>
            </a:pPr>
            <a:r>
              <a:rPr lang="en-IN" sz="5500" dirty="0"/>
              <a:t>            // Event handler</a:t>
            </a:r>
          </a:p>
          <a:p>
            <a:pPr marL="0" indent="0" algn="just">
              <a:buNone/>
            </a:pPr>
            <a:r>
              <a:rPr lang="en-IN" sz="5500" dirty="0"/>
              <a:t>            </a:t>
            </a:r>
            <a:r>
              <a:rPr lang="en-IN" sz="5500" dirty="0" err="1"/>
              <a:t>oXmlHttp.onreadystatechange</a:t>
            </a:r>
            <a:r>
              <a:rPr lang="en-IN" sz="5500" dirty="0"/>
              <a:t> = function () {</a:t>
            </a:r>
          </a:p>
          <a:p>
            <a:pPr marL="0" indent="0" algn="just">
              <a:buNone/>
            </a:pPr>
            <a:r>
              <a:rPr lang="en-IN" sz="5500" dirty="0"/>
              <a:t>                if (</a:t>
            </a:r>
            <a:r>
              <a:rPr lang="en-IN" sz="5500" dirty="0" err="1"/>
              <a:t>oXmlHttp.readyState</a:t>
            </a:r>
            <a:r>
              <a:rPr lang="en-IN" sz="5500" dirty="0"/>
              <a:t> == 4) {</a:t>
            </a:r>
          </a:p>
          <a:p>
            <a:pPr marL="0" indent="0" algn="just">
              <a:buNone/>
            </a:pPr>
            <a:r>
              <a:rPr lang="en-IN" sz="5500" dirty="0"/>
              <a:t>                    if (</a:t>
            </a:r>
            <a:r>
              <a:rPr lang="en-IN" sz="5500" dirty="0" err="1"/>
              <a:t>oXmlHttp.status</a:t>
            </a:r>
            <a:r>
              <a:rPr lang="en-IN" sz="5500" dirty="0"/>
              <a:t> == 200) {</a:t>
            </a:r>
          </a:p>
          <a:p>
            <a:pPr marL="0" indent="0" algn="just">
              <a:buNone/>
            </a:pPr>
            <a:r>
              <a:rPr lang="en-IN" sz="5500" dirty="0"/>
              <a:t>                        </a:t>
            </a:r>
            <a:r>
              <a:rPr lang="en-IN" sz="5500" dirty="0" err="1"/>
              <a:t>displayCustomerInfo</a:t>
            </a:r>
            <a:r>
              <a:rPr lang="en-IN" sz="5500" dirty="0"/>
              <a:t>(</a:t>
            </a:r>
            <a:r>
              <a:rPr lang="en-IN" sz="5500" dirty="0" err="1"/>
              <a:t>oXmlHttp.responseText</a:t>
            </a:r>
            <a:r>
              <a:rPr lang="en-IN" sz="5500" dirty="0"/>
              <a:t>);</a:t>
            </a:r>
          </a:p>
          <a:p>
            <a:pPr marL="0" indent="0" algn="just">
              <a:buNone/>
            </a:pPr>
            <a:r>
              <a:rPr lang="en-IN" sz="5500" dirty="0"/>
              <a:t>                    } else {</a:t>
            </a:r>
          </a:p>
          <a:p>
            <a:pPr algn="just"/>
            <a:endParaRPr lang="en-IN" dirty="0"/>
          </a:p>
        </p:txBody>
      </p:sp>
      <p:sp>
        <p:nvSpPr>
          <p:cNvPr id="2" name="TextBox 1">
            <a:extLst>
              <a:ext uri="{FF2B5EF4-FFF2-40B4-BE49-F238E27FC236}">
                <a16:creationId xmlns:a16="http://schemas.microsoft.com/office/drawing/2014/main" id="{54E4F17E-3FB6-9304-E9BC-0F5F284D1261}"/>
              </a:ext>
            </a:extLst>
          </p:cNvPr>
          <p:cNvSpPr txBox="1"/>
          <p:nvPr/>
        </p:nvSpPr>
        <p:spPr>
          <a:xfrm>
            <a:off x="5328138" y="290146"/>
            <a:ext cx="6025662" cy="5078313"/>
          </a:xfrm>
          <a:prstGeom prst="rect">
            <a:avLst/>
          </a:prstGeom>
          <a:noFill/>
        </p:spPr>
        <p:txBody>
          <a:bodyPr wrap="square" rtlCol="0">
            <a:spAutoFit/>
          </a:bodyPr>
          <a:lstStyle/>
          <a:p>
            <a:pPr algn="just"/>
            <a:r>
              <a:rPr lang="en-IN" dirty="0"/>
              <a:t> </a:t>
            </a:r>
            <a:r>
              <a:rPr lang="en-IN" dirty="0" err="1"/>
              <a:t>displayCustomerInfo</a:t>
            </a:r>
            <a:r>
              <a:rPr lang="en-IN" dirty="0"/>
              <a:t>(</a:t>
            </a:r>
          </a:p>
          <a:p>
            <a:pPr algn="just"/>
            <a:r>
              <a:rPr lang="en-IN" dirty="0"/>
              <a:t>                            "An error occurred: "</a:t>
            </a:r>
          </a:p>
          <a:p>
            <a:pPr algn="just"/>
            <a:r>
              <a:rPr lang="en-IN" dirty="0"/>
              <a:t>                            + </a:t>
            </a:r>
            <a:r>
              <a:rPr lang="en-IN" dirty="0" err="1"/>
              <a:t>oXmlHttp.statusText</a:t>
            </a:r>
            <a:endParaRPr lang="en-IN" dirty="0"/>
          </a:p>
          <a:p>
            <a:pPr algn="just"/>
            <a:r>
              <a:rPr lang="en-IN" dirty="0"/>
              <a:t>                        );</a:t>
            </a:r>
          </a:p>
          <a:p>
            <a:pPr algn="just"/>
            <a:r>
              <a:rPr lang="en-IN" dirty="0"/>
              <a:t>                    }</a:t>
            </a:r>
          </a:p>
          <a:p>
            <a:pPr algn="just"/>
            <a:r>
              <a:rPr lang="en-IN" dirty="0"/>
              <a:t>                }</a:t>
            </a:r>
          </a:p>
          <a:p>
            <a:pPr algn="just"/>
            <a:r>
              <a:rPr lang="en-IN" dirty="0"/>
              <a:t>            }; </a:t>
            </a:r>
          </a:p>
          <a:p>
            <a:pPr algn="just"/>
            <a:r>
              <a:rPr lang="en-IN" dirty="0"/>
              <a:t>// Send request</a:t>
            </a:r>
          </a:p>
          <a:p>
            <a:pPr algn="just"/>
            <a:r>
              <a:rPr lang="en-IN" dirty="0"/>
              <a:t>            </a:t>
            </a:r>
            <a:r>
              <a:rPr lang="en-IN" dirty="0" err="1"/>
              <a:t>oXmlHttp.send</a:t>
            </a:r>
            <a:r>
              <a:rPr lang="en-IN" dirty="0"/>
              <a:t>(null);</a:t>
            </a:r>
          </a:p>
          <a:p>
            <a:pPr algn="just"/>
            <a:r>
              <a:rPr lang="en-IN" dirty="0"/>
              <a:t>        }</a:t>
            </a:r>
          </a:p>
          <a:p>
            <a:pPr algn="just"/>
            <a:endParaRPr lang="en-IN" dirty="0"/>
          </a:p>
          <a:p>
            <a:pPr algn="just"/>
            <a:r>
              <a:rPr lang="en-IN" dirty="0"/>
              <a:t>        // Display response</a:t>
            </a:r>
          </a:p>
          <a:p>
            <a:pPr algn="just"/>
            <a:r>
              <a:rPr lang="en-IN" dirty="0"/>
              <a:t>        function </a:t>
            </a:r>
            <a:r>
              <a:rPr lang="en-IN" dirty="0" err="1"/>
              <a:t>displayCustomerInfo</a:t>
            </a:r>
            <a:r>
              <a:rPr lang="en-IN" dirty="0"/>
              <a:t>(</a:t>
            </a:r>
            <a:r>
              <a:rPr lang="en-IN" dirty="0" err="1"/>
              <a:t>sText</a:t>
            </a:r>
            <a:r>
              <a:rPr lang="en-IN" dirty="0"/>
              <a:t>) {</a:t>
            </a:r>
          </a:p>
          <a:p>
            <a:pPr algn="just"/>
            <a:r>
              <a:rPr lang="en-IN" dirty="0"/>
              <a:t>     </a:t>
            </a:r>
            <a:r>
              <a:rPr lang="en-IN" dirty="0" err="1"/>
              <a:t>document.getElementById</a:t>
            </a:r>
            <a:r>
              <a:rPr lang="en-IN" dirty="0"/>
              <a:t>("</a:t>
            </a:r>
            <a:r>
              <a:rPr lang="en-IN" dirty="0" err="1"/>
              <a:t>divCustomerInfo</a:t>
            </a:r>
            <a:r>
              <a:rPr lang="en-IN" dirty="0"/>
              <a:t>").</a:t>
            </a:r>
            <a:r>
              <a:rPr lang="en-IN" dirty="0" err="1"/>
              <a:t>innerHTML</a:t>
            </a:r>
            <a:r>
              <a:rPr lang="en-IN" dirty="0"/>
              <a:t> = </a:t>
            </a:r>
            <a:r>
              <a:rPr lang="en-IN" dirty="0" err="1"/>
              <a:t>sText</a:t>
            </a:r>
            <a:r>
              <a:rPr lang="en-IN" dirty="0"/>
              <a:t>;</a:t>
            </a:r>
          </a:p>
          <a:p>
            <a:pPr algn="just"/>
            <a:r>
              <a:rPr lang="en-IN" dirty="0"/>
              <a:t>        }</a:t>
            </a:r>
          </a:p>
          <a:p>
            <a:pPr algn="just"/>
            <a:r>
              <a:rPr lang="en-IN" dirty="0"/>
              <a:t>    &lt;/script&gt;</a:t>
            </a:r>
          </a:p>
          <a:p>
            <a:pPr algn="just"/>
            <a:endParaRPr lang="en-IN" dirty="0"/>
          </a:p>
        </p:txBody>
      </p:sp>
    </p:spTree>
    <p:extLst>
      <p:ext uri="{BB962C8B-B14F-4D97-AF65-F5344CB8AC3E}">
        <p14:creationId xmlns:p14="http://schemas.microsoft.com/office/powerpoint/2010/main" val="55352614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0D891-4399-C05B-1421-9EE0AC9131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D011CC-11C0-76FF-827E-F274900ED520}"/>
              </a:ext>
            </a:extLst>
          </p:cNvPr>
          <p:cNvSpPr>
            <a:spLocks noGrp="1"/>
          </p:cNvSpPr>
          <p:nvPr>
            <p:ph idx="1"/>
          </p:nvPr>
        </p:nvSpPr>
        <p:spPr>
          <a:xfrm>
            <a:off x="838200" y="316523"/>
            <a:ext cx="10515600" cy="6224954"/>
          </a:xfrm>
        </p:spPr>
        <p:txBody>
          <a:bodyPr>
            <a:normAutofit fontScale="32500" lnSpcReduction="20000"/>
          </a:bodyPr>
          <a:lstStyle/>
          <a:p>
            <a:pPr marL="0" indent="0" algn="just">
              <a:buNone/>
            </a:pPr>
            <a:r>
              <a:rPr lang="en-IN" sz="4800" dirty="0"/>
              <a:t>&lt;/head&gt;</a:t>
            </a:r>
          </a:p>
          <a:p>
            <a:pPr marL="0" indent="0" algn="just">
              <a:buNone/>
            </a:pPr>
            <a:r>
              <a:rPr lang="en-IN" sz="4800" dirty="0"/>
              <a:t>&lt;body&gt;</a:t>
            </a:r>
          </a:p>
          <a:p>
            <a:pPr marL="0" indent="0" algn="just">
              <a:buNone/>
            </a:pPr>
            <a:r>
              <a:rPr lang="en-IN" sz="4800" dirty="0"/>
              <a:t>    &lt;h2&gt;AJAX Customer Information System&lt;/h2&gt;</a:t>
            </a:r>
          </a:p>
          <a:p>
            <a:pPr marL="0" indent="0" algn="just">
              <a:buNone/>
            </a:pPr>
            <a:r>
              <a:rPr lang="en-IN" sz="4800" dirty="0"/>
              <a:t>    &lt;p&gt;</a:t>
            </a:r>
          </a:p>
          <a:p>
            <a:pPr marL="0" indent="0" algn="just">
              <a:buNone/>
            </a:pPr>
            <a:r>
              <a:rPr lang="en-IN" sz="4800" dirty="0"/>
              <a:t>        Enter customer ID number to retrieve information:</a:t>
            </a:r>
          </a:p>
          <a:p>
            <a:pPr marL="0" indent="0" algn="just">
              <a:buNone/>
            </a:pPr>
            <a:r>
              <a:rPr lang="en-IN" sz="4800" dirty="0"/>
              <a:t>    &lt;/p&gt;</a:t>
            </a:r>
          </a:p>
          <a:p>
            <a:pPr marL="0" indent="0" algn="just">
              <a:buNone/>
            </a:pPr>
            <a:r>
              <a:rPr lang="en-IN" sz="4800" dirty="0"/>
              <a:t>    &lt;p&gt;</a:t>
            </a:r>
          </a:p>
          <a:p>
            <a:pPr marL="0" indent="0" algn="just">
              <a:buNone/>
            </a:pPr>
            <a:r>
              <a:rPr lang="en-IN" sz="4800" dirty="0"/>
              <a:t>        Customer ID:</a:t>
            </a:r>
          </a:p>
          <a:p>
            <a:pPr marL="0" indent="0" algn="just">
              <a:buNone/>
            </a:pPr>
            <a:r>
              <a:rPr lang="en-IN" sz="4800" dirty="0"/>
              <a:t>        &lt;input type="text“ id="</a:t>
            </a:r>
            <a:r>
              <a:rPr lang="en-IN" sz="4800" dirty="0" err="1"/>
              <a:t>txtCustomerId</a:t>
            </a:r>
            <a:r>
              <a:rPr lang="en-IN" sz="4800" dirty="0"/>
              <a:t>“ value="" /&gt;</a:t>
            </a:r>
          </a:p>
          <a:p>
            <a:pPr marL="0" indent="0" algn="just">
              <a:buNone/>
            </a:pPr>
            <a:r>
              <a:rPr lang="en-IN" sz="4800" dirty="0"/>
              <a:t>    &lt;/p&gt;</a:t>
            </a:r>
          </a:p>
          <a:p>
            <a:pPr marL="0" indent="0" algn="just">
              <a:buNone/>
            </a:pPr>
            <a:r>
              <a:rPr lang="en-IN" sz="4800" dirty="0"/>
              <a:t>    &lt;p&gt;</a:t>
            </a:r>
          </a:p>
          <a:p>
            <a:pPr marL="0" indent="0" algn="just">
              <a:buNone/>
            </a:pPr>
            <a:r>
              <a:rPr lang="en-IN" sz="4800" dirty="0"/>
              <a:t>        &lt;input type="button“ value="Get Customer Info“ onclick="</a:t>
            </a:r>
            <a:r>
              <a:rPr lang="en-IN" sz="4800" dirty="0" err="1"/>
              <a:t>requestCustomerInfo</a:t>
            </a:r>
            <a:r>
              <a:rPr lang="en-IN" sz="4800" dirty="0"/>
              <a:t>()" /&gt;</a:t>
            </a:r>
          </a:p>
          <a:p>
            <a:pPr marL="0" indent="0" algn="just">
              <a:buNone/>
            </a:pPr>
            <a:r>
              <a:rPr lang="en-IN" sz="4800" dirty="0"/>
              <a:t>    &lt;/p&gt;</a:t>
            </a:r>
          </a:p>
          <a:p>
            <a:pPr marL="0" indent="0" algn="just">
              <a:buNone/>
            </a:pPr>
            <a:r>
              <a:rPr lang="en-IN" sz="4800" dirty="0"/>
              <a:t>    &lt;div id="</a:t>
            </a:r>
            <a:r>
              <a:rPr lang="en-IN" sz="4800" dirty="0" err="1"/>
              <a:t>divCustomerInfo</a:t>
            </a:r>
            <a:r>
              <a:rPr lang="en-IN" sz="4800" dirty="0"/>
              <a:t>"</a:t>
            </a:r>
          </a:p>
          <a:p>
            <a:pPr marL="0" indent="0" algn="just">
              <a:buNone/>
            </a:pPr>
            <a:r>
              <a:rPr lang="en-IN" sz="4800" dirty="0"/>
              <a:t>         style="border:1px solid black;</a:t>
            </a:r>
          </a:p>
          <a:p>
            <a:pPr marL="0" indent="0" algn="just">
              <a:buNone/>
            </a:pPr>
            <a:r>
              <a:rPr lang="en-IN" sz="4800" dirty="0"/>
              <a:t>                width:300px;</a:t>
            </a:r>
          </a:p>
          <a:p>
            <a:pPr marL="0" indent="0" algn="just">
              <a:buNone/>
            </a:pPr>
            <a:r>
              <a:rPr lang="en-IN" sz="4800" dirty="0"/>
              <a:t>                padding:10px;"&gt;</a:t>
            </a:r>
          </a:p>
          <a:p>
            <a:pPr marL="0" indent="0" algn="just">
              <a:buNone/>
            </a:pPr>
            <a:r>
              <a:rPr lang="en-IN" sz="4800" dirty="0"/>
              <a:t>    &lt;/div&gt;</a:t>
            </a:r>
          </a:p>
          <a:p>
            <a:pPr marL="0" indent="0" algn="just">
              <a:buNone/>
            </a:pPr>
            <a:r>
              <a:rPr lang="en-IN" sz="4800" dirty="0"/>
              <a:t>&lt;/body&gt;</a:t>
            </a:r>
          </a:p>
          <a:p>
            <a:pPr marL="0" indent="0" algn="just">
              <a:buNone/>
            </a:pPr>
            <a:r>
              <a:rPr lang="en-IN" sz="4800" dirty="0"/>
              <a:t>&lt;/html&gt;</a:t>
            </a:r>
            <a:endParaRPr lang="en-IN" dirty="0"/>
          </a:p>
        </p:txBody>
      </p:sp>
    </p:spTree>
    <p:extLst>
      <p:ext uri="{BB962C8B-B14F-4D97-AF65-F5344CB8AC3E}">
        <p14:creationId xmlns:p14="http://schemas.microsoft.com/office/powerpoint/2010/main" val="40168354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3D632-D96E-749E-D468-E84BCC3B768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090C7A-4D64-5CD0-1E3F-55F0D0B5D462}"/>
              </a:ext>
            </a:extLst>
          </p:cNvPr>
          <p:cNvSpPr>
            <a:spLocks noGrp="1"/>
          </p:cNvSpPr>
          <p:nvPr>
            <p:ph idx="1"/>
          </p:nvPr>
        </p:nvSpPr>
        <p:spPr>
          <a:xfrm>
            <a:off x="838200" y="316523"/>
            <a:ext cx="6239608" cy="6224954"/>
          </a:xfrm>
        </p:spPr>
        <p:txBody>
          <a:bodyPr>
            <a:normAutofit fontScale="62500" lnSpcReduction="20000"/>
          </a:bodyPr>
          <a:lstStyle/>
          <a:p>
            <a:pPr algn="just"/>
            <a:r>
              <a:rPr lang="en-IN" dirty="0"/>
              <a:t>3.Create </a:t>
            </a:r>
            <a:r>
              <a:rPr lang="en-IN" dirty="0" err="1"/>
              <a:t>GetCustomerData.php</a:t>
            </a:r>
            <a:endParaRPr lang="en-IN" dirty="0"/>
          </a:p>
          <a:p>
            <a:pPr marL="0" indent="0" algn="just">
              <a:buNone/>
            </a:pPr>
            <a:r>
              <a:rPr lang="en-IN" dirty="0"/>
              <a:t>&lt;?</a:t>
            </a:r>
            <a:r>
              <a:rPr lang="en-IN" dirty="0" err="1"/>
              <a:t>php</a:t>
            </a:r>
            <a:endParaRPr lang="en-IN" dirty="0"/>
          </a:p>
          <a:p>
            <a:pPr marL="0" indent="0" algn="just">
              <a:buNone/>
            </a:pPr>
            <a:r>
              <a:rPr lang="en-IN" dirty="0"/>
              <a:t>header("Content-Type: text/plain");</a:t>
            </a:r>
          </a:p>
          <a:p>
            <a:pPr marL="0" indent="0" algn="just">
              <a:buNone/>
            </a:pPr>
            <a:r>
              <a:rPr lang="en-IN" dirty="0"/>
              <a:t>// Database connection</a:t>
            </a:r>
          </a:p>
          <a:p>
            <a:pPr marL="0" indent="0" algn="just">
              <a:buNone/>
            </a:pPr>
            <a:r>
              <a:rPr lang="en-IN" dirty="0"/>
              <a:t>$host = "localhost";</a:t>
            </a:r>
          </a:p>
          <a:p>
            <a:pPr marL="0" indent="0" algn="just">
              <a:buNone/>
            </a:pPr>
            <a:r>
              <a:rPr lang="en-IN" dirty="0"/>
              <a:t>$user = "root";</a:t>
            </a:r>
          </a:p>
          <a:p>
            <a:pPr marL="0" indent="0" algn="just">
              <a:buNone/>
            </a:pPr>
            <a:r>
              <a:rPr lang="en-IN" dirty="0"/>
              <a:t>$password = "";</a:t>
            </a:r>
          </a:p>
          <a:p>
            <a:pPr marL="0" indent="0" algn="just">
              <a:buNone/>
            </a:pPr>
            <a:r>
              <a:rPr lang="en-IN" dirty="0"/>
              <a:t>$</a:t>
            </a:r>
            <a:r>
              <a:rPr lang="en-IN" dirty="0" err="1"/>
              <a:t>dbname</a:t>
            </a:r>
            <a:r>
              <a:rPr lang="en-IN" dirty="0"/>
              <a:t> = "</a:t>
            </a:r>
            <a:r>
              <a:rPr lang="en-IN" dirty="0" err="1"/>
              <a:t>ajax_db</a:t>
            </a:r>
            <a:r>
              <a:rPr lang="en-IN" dirty="0"/>
              <a:t>";</a:t>
            </a:r>
          </a:p>
          <a:p>
            <a:pPr marL="0" indent="0" algn="just">
              <a:buNone/>
            </a:pPr>
            <a:r>
              <a:rPr lang="en-IN" dirty="0"/>
              <a:t>$conn = new </a:t>
            </a:r>
            <a:r>
              <a:rPr lang="en-IN" dirty="0" err="1"/>
              <a:t>mysqli</a:t>
            </a:r>
            <a:r>
              <a:rPr lang="en-IN" dirty="0"/>
              <a:t>($host, $user, $password, $</a:t>
            </a:r>
            <a:r>
              <a:rPr lang="en-IN" dirty="0" err="1"/>
              <a:t>dbname</a:t>
            </a:r>
            <a:r>
              <a:rPr lang="en-IN" dirty="0"/>
              <a:t>);</a:t>
            </a:r>
          </a:p>
          <a:p>
            <a:pPr marL="0" indent="0" algn="just">
              <a:buNone/>
            </a:pPr>
            <a:r>
              <a:rPr lang="en-IN" dirty="0"/>
              <a:t>// Check connection</a:t>
            </a:r>
          </a:p>
          <a:p>
            <a:pPr marL="0" indent="0" algn="just">
              <a:buNone/>
            </a:pPr>
            <a:r>
              <a:rPr lang="en-IN" dirty="0"/>
              <a:t>if ($conn-&gt;</a:t>
            </a:r>
            <a:r>
              <a:rPr lang="en-IN" dirty="0" err="1"/>
              <a:t>connect_error</a:t>
            </a:r>
            <a:r>
              <a:rPr lang="en-IN" dirty="0"/>
              <a:t>) {</a:t>
            </a:r>
          </a:p>
          <a:p>
            <a:pPr marL="0" indent="0" algn="just">
              <a:buNone/>
            </a:pPr>
            <a:r>
              <a:rPr lang="en-IN" dirty="0"/>
              <a:t>    die("Database connection failed");</a:t>
            </a:r>
          </a:p>
          <a:p>
            <a:pPr marL="0" indent="0" algn="just">
              <a:buNone/>
            </a:pPr>
            <a:r>
              <a:rPr lang="en-IN" dirty="0"/>
              <a:t>}</a:t>
            </a:r>
          </a:p>
          <a:p>
            <a:pPr marL="0" indent="0" algn="just">
              <a:buNone/>
            </a:pPr>
            <a:r>
              <a:rPr lang="en-IN" dirty="0"/>
              <a:t>// Get ID from URL</a:t>
            </a:r>
          </a:p>
          <a:p>
            <a:pPr marL="0" indent="0" algn="just">
              <a:buNone/>
            </a:pPr>
            <a:r>
              <a:rPr lang="en-IN" dirty="0"/>
              <a:t>$</a:t>
            </a:r>
            <a:r>
              <a:rPr lang="en-IN" dirty="0" err="1"/>
              <a:t>sID</a:t>
            </a:r>
            <a:r>
              <a:rPr lang="en-IN" dirty="0"/>
              <a:t> = $_GET["id"];</a:t>
            </a:r>
          </a:p>
          <a:p>
            <a:pPr marL="0" indent="0" algn="just">
              <a:buNone/>
            </a:pPr>
            <a:r>
              <a:rPr lang="en-IN" dirty="0"/>
              <a:t>// SQL Query</a:t>
            </a:r>
          </a:p>
          <a:p>
            <a:pPr marL="0" indent="0" algn="just">
              <a:buNone/>
            </a:pPr>
            <a:r>
              <a:rPr lang="en-IN" dirty="0"/>
              <a:t>$</a:t>
            </a:r>
            <a:r>
              <a:rPr lang="en-IN" dirty="0" err="1"/>
              <a:t>sql</a:t>
            </a:r>
            <a:r>
              <a:rPr lang="en-IN" dirty="0"/>
              <a:t> = "SELECT * FROM Customers WHERE </a:t>
            </a:r>
            <a:r>
              <a:rPr lang="en-IN" dirty="0" err="1"/>
              <a:t>CustomerId</a:t>
            </a:r>
            <a:r>
              <a:rPr lang="en-IN" dirty="0"/>
              <a:t> = $</a:t>
            </a:r>
            <a:r>
              <a:rPr lang="en-IN" dirty="0" err="1"/>
              <a:t>sID</a:t>
            </a:r>
            <a:r>
              <a:rPr lang="en-IN" dirty="0"/>
              <a:t>";</a:t>
            </a:r>
          </a:p>
          <a:p>
            <a:pPr marL="0" indent="0" algn="just">
              <a:buNone/>
            </a:pPr>
            <a:r>
              <a:rPr lang="en-IN" dirty="0"/>
              <a:t>$result = $conn-&gt;query($</a:t>
            </a:r>
            <a:r>
              <a:rPr lang="en-IN" dirty="0" err="1"/>
              <a:t>sql</a:t>
            </a:r>
            <a:r>
              <a:rPr lang="en-IN" dirty="0"/>
              <a:t>);</a:t>
            </a:r>
          </a:p>
          <a:p>
            <a:pPr marL="0" indent="0" algn="just">
              <a:buNone/>
            </a:pPr>
            <a:r>
              <a:rPr lang="en-IN" dirty="0"/>
              <a:t>$</a:t>
            </a:r>
            <a:r>
              <a:rPr lang="en-IN" dirty="0" err="1"/>
              <a:t>sInfo</a:t>
            </a:r>
            <a:r>
              <a:rPr lang="en-IN" dirty="0"/>
              <a:t> = "";</a:t>
            </a:r>
          </a:p>
        </p:txBody>
      </p:sp>
      <p:sp>
        <p:nvSpPr>
          <p:cNvPr id="2" name="TextBox 1">
            <a:extLst>
              <a:ext uri="{FF2B5EF4-FFF2-40B4-BE49-F238E27FC236}">
                <a16:creationId xmlns:a16="http://schemas.microsoft.com/office/drawing/2014/main" id="{D43E4082-30A9-891A-C109-C7E3FBA166DF}"/>
              </a:ext>
            </a:extLst>
          </p:cNvPr>
          <p:cNvSpPr txBox="1"/>
          <p:nvPr/>
        </p:nvSpPr>
        <p:spPr>
          <a:xfrm>
            <a:off x="7112977" y="281354"/>
            <a:ext cx="4950069" cy="6740307"/>
          </a:xfrm>
          <a:prstGeom prst="rect">
            <a:avLst/>
          </a:prstGeom>
          <a:noFill/>
        </p:spPr>
        <p:txBody>
          <a:bodyPr wrap="square" rtlCol="0">
            <a:spAutoFit/>
          </a:bodyPr>
          <a:lstStyle/>
          <a:p>
            <a:r>
              <a:rPr lang="en-IN" dirty="0"/>
              <a:t>if ($result-&gt;</a:t>
            </a:r>
            <a:r>
              <a:rPr lang="en-IN" dirty="0" err="1"/>
              <a:t>num_rows</a:t>
            </a:r>
            <a:r>
              <a:rPr lang="en-IN" dirty="0"/>
              <a:t> &gt; 0) {</a:t>
            </a:r>
            <a:br>
              <a:rPr lang="en-IN" dirty="0"/>
            </a:br>
            <a:r>
              <a:rPr lang="en-IN" dirty="0"/>
              <a:t>$row = $result-&gt;</a:t>
            </a:r>
            <a:r>
              <a:rPr lang="en-IN" dirty="0" err="1"/>
              <a:t>fetch_assoc</a:t>
            </a:r>
            <a:r>
              <a:rPr lang="en-IN" dirty="0"/>
              <a:t>();</a:t>
            </a:r>
            <a:br>
              <a:rPr lang="en-IN" dirty="0"/>
            </a:br>
            <a:r>
              <a:rPr lang="en-IN" dirty="0"/>
              <a:t>$</a:t>
            </a:r>
            <a:r>
              <a:rPr lang="en-IN" dirty="0" err="1"/>
              <a:t>sInfo</a:t>
            </a:r>
            <a:r>
              <a:rPr lang="en-IN" dirty="0"/>
              <a:t> =</a:t>
            </a:r>
            <a:br>
              <a:rPr lang="en-IN" dirty="0"/>
            </a:br>
            <a:r>
              <a:rPr lang="en-IN" dirty="0"/>
              <a:t>$row['Name'] . "&lt;</a:t>
            </a:r>
            <a:r>
              <a:rPr lang="en-IN" dirty="0" err="1"/>
              <a:t>br</a:t>
            </a:r>
            <a:r>
              <a:rPr lang="en-IN" dirty="0"/>
              <a:t>&gt;" .</a:t>
            </a:r>
            <a:br>
              <a:rPr lang="en-IN" dirty="0"/>
            </a:br>
            <a:r>
              <a:rPr lang="en-IN" dirty="0"/>
              <a:t>$row['Address'] . "&lt;</a:t>
            </a:r>
            <a:r>
              <a:rPr lang="en-IN" dirty="0" err="1"/>
              <a:t>br</a:t>
            </a:r>
            <a:r>
              <a:rPr lang="en-IN" dirty="0"/>
              <a:t>&gt;" .</a:t>
            </a:r>
            <a:br>
              <a:rPr lang="en-IN" dirty="0"/>
            </a:br>
            <a:r>
              <a:rPr lang="en-IN" dirty="0"/>
              <a:t>$row['City'] . "&lt;</a:t>
            </a:r>
            <a:r>
              <a:rPr lang="en-IN" dirty="0" err="1"/>
              <a:t>br</a:t>
            </a:r>
            <a:r>
              <a:rPr lang="en-IN" dirty="0"/>
              <a:t>&gt;" .</a:t>
            </a:r>
            <a:br>
              <a:rPr lang="en-IN" dirty="0"/>
            </a:br>
            <a:r>
              <a:rPr lang="en-IN" dirty="0"/>
              <a:t>$row['State'] . "&lt;</a:t>
            </a:r>
            <a:r>
              <a:rPr lang="en-IN" dirty="0" err="1"/>
              <a:t>br</a:t>
            </a:r>
            <a:r>
              <a:rPr lang="en-IN" dirty="0"/>
              <a:t>&gt;" .</a:t>
            </a:r>
            <a:br>
              <a:rPr lang="en-IN" dirty="0"/>
            </a:br>
            <a:r>
              <a:rPr lang="en-IN" dirty="0"/>
              <a:t>$row['Zip'] . "&lt;</a:t>
            </a:r>
            <a:r>
              <a:rPr lang="en-IN" dirty="0" err="1"/>
              <a:t>br</a:t>
            </a:r>
            <a:r>
              <a:rPr lang="en-IN" dirty="0"/>
              <a:t>&gt;&lt;</a:t>
            </a:r>
            <a:r>
              <a:rPr lang="en-IN" dirty="0" err="1"/>
              <a:t>br</a:t>
            </a:r>
            <a:r>
              <a:rPr lang="en-IN" dirty="0"/>
              <a:t>&gt;" .</a:t>
            </a:r>
            <a:br>
              <a:rPr lang="en-IN" dirty="0"/>
            </a:br>
            <a:r>
              <a:rPr lang="en-IN" dirty="0"/>
              <a:t>"Phone: " . $row['Phone'] . "&lt;</a:t>
            </a:r>
            <a:r>
              <a:rPr lang="en-IN" dirty="0" err="1"/>
              <a:t>br</a:t>
            </a:r>
            <a:r>
              <a:rPr lang="en-IN" dirty="0"/>
              <a:t>&gt;" .</a:t>
            </a:r>
            <a:br>
              <a:rPr lang="en-IN" dirty="0"/>
            </a:br>
            <a:r>
              <a:rPr lang="en-IN" dirty="0"/>
              <a:t>"&lt;a </a:t>
            </a:r>
            <a:r>
              <a:rPr lang="en-IN" dirty="0" err="1"/>
              <a:t>href</a:t>
            </a:r>
            <a:r>
              <a:rPr lang="en-IN" dirty="0"/>
              <a:t>='mailto:" .</a:t>
            </a:r>
            <a:br>
              <a:rPr lang="en-IN" dirty="0"/>
            </a:br>
            <a:r>
              <a:rPr lang="en-IN" dirty="0"/>
              <a:t>$row['Email'] . "'&gt;" .</a:t>
            </a:r>
            <a:br>
              <a:rPr lang="en-IN" dirty="0"/>
            </a:br>
            <a:r>
              <a:rPr lang="en-IN" dirty="0"/>
              <a:t>$row['Email'] .</a:t>
            </a:r>
            <a:br>
              <a:rPr lang="en-IN" dirty="0"/>
            </a:br>
            <a:r>
              <a:rPr lang="en-IN" dirty="0"/>
              <a:t>"&lt;/a&gt;";</a:t>
            </a:r>
            <a:br>
              <a:rPr lang="en-IN" dirty="0"/>
            </a:br>
            <a:br>
              <a:rPr lang="en-IN" dirty="0"/>
            </a:br>
            <a:r>
              <a:rPr lang="en-IN" dirty="0"/>
              <a:t>} else {</a:t>
            </a:r>
            <a:br>
              <a:rPr lang="en-IN" dirty="0"/>
            </a:br>
            <a:br>
              <a:rPr lang="en-IN" dirty="0"/>
            </a:br>
            <a:r>
              <a:rPr lang="en-IN" dirty="0"/>
              <a:t>$</a:t>
            </a:r>
            <a:r>
              <a:rPr lang="en-IN" dirty="0" err="1"/>
              <a:t>sInfo</a:t>
            </a:r>
            <a:r>
              <a:rPr lang="en-IN" dirty="0"/>
              <a:t> = "Customer with ID " .</a:t>
            </a:r>
            <a:br>
              <a:rPr lang="en-IN" dirty="0"/>
            </a:br>
            <a:r>
              <a:rPr lang="en-IN" dirty="0"/>
              <a:t>$</a:t>
            </a:r>
            <a:r>
              <a:rPr lang="en-IN" dirty="0" err="1"/>
              <a:t>sID</a:t>
            </a:r>
            <a:r>
              <a:rPr lang="en-IN" dirty="0"/>
              <a:t> .</a:t>
            </a:r>
            <a:br>
              <a:rPr lang="en-IN" dirty="0"/>
            </a:br>
            <a:r>
              <a:rPr lang="en-IN" dirty="0"/>
              <a:t>" does not exist.";</a:t>
            </a:r>
            <a:br>
              <a:rPr lang="en-IN" dirty="0"/>
            </a:br>
            <a:r>
              <a:rPr lang="en-IN" dirty="0"/>
              <a:t>}</a:t>
            </a:r>
            <a:br>
              <a:rPr lang="en-IN" dirty="0"/>
            </a:br>
            <a:r>
              <a:rPr lang="en-IN" dirty="0"/>
              <a:t>$conn-&gt;close();</a:t>
            </a:r>
            <a:br>
              <a:rPr lang="en-IN" dirty="0"/>
            </a:br>
            <a:r>
              <a:rPr lang="en-IN" dirty="0"/>
              <a:t>// Return response</a:t>
            </a:r>
            <a:br>
              <a:rPr lang="en-IN" dirty="0"/>
            </a:br>
            <a:r>
              <a:rPr lang="en-IN" dirty="0"/>
              <a:t>echo $</a:t>
            </a:r>
            <a:r>
              <a:rPr lang="en-IN" dirty="0" err="1"/>
              <a:t>sInfo</a:t>
            </a:r>
            <a:r>
              <a:rPr lang="en-IN" dirty="0"/>
              <a:t>;</a:t>
            </a:r>
            <a:br>
              <a:rPr lang="en-IN" dirty="0"/>
            </a:br>
            <a:r>
              <a:rPr lang="en-IN" dirty="0"/>
              <a:t>?&gt;</a:t>
            </a:r>
          </a:p>
        </p:txBody>
      </p:sp>
    </p:spTree>
    <p:extLst>
      <p:ext uri="{BB962C8B-B14F-4D97-AF65-F5344CB8AC3E}">
        <p14:creationId xmlns:p14="http://schemas.microsoft.com/office/powerpoint/2010/main" val="15104776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87C21-C452-501E-CB3B-DEF15F40B98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C7D806-0A06-C3EB-EC44-19708A85636F}"/>
              </a:ext>
            </a:extLst>
          </p:cNvPr>
          <p:cNvSpPr txBox="1"/>
          <p:nvPr/>
        </p:nvSpPr>
        <p:spPr>
          <a:xfrm>
            <a:off x="510988" y="403412"/>
            <a:ext cx="11125200" cy="4708981"/>
          </a:xfrm>
          <a:prstGeom prst="rect">
            <a:avLst/>
          </a:prstGeom>
          <a:noFill/>
        </p:spPr>
        <p:txBody>
          <a:bodyPr wrap="square" rtlCol="0">
            <a:spAutoFit/>
          </a:bodyPr>
          <a:lstStyle/>
          <a:p>
            <a:r>
              <a:rPr lang="en-IN" sz="2400" dirty="0"/>
              <a:t>1 Introduction</a:t>
            </a:r>
            <a:endParaRPr lang="en-US" sz="2400" dirty="0"/>
          </a:p>
          <a:p>
            <a:endParaRPr lang="en-US" dirty="0"/>
          </a:p>
          <a:p>
            <a:pPr marL="342900" indent="-342900" algn="just">
              <a:buFont typeface="Arial" panose="020B0604020202020204" pitchFamily="34" charset="0"/>
              <a:buChar char="•"/>
            </a:pPr>
            <a:r>
              <a:rPr lang="en-IN" sz="2000" dirty="0"/>
              <a:t>A meta-markup language is a language for defining markup languages. </a:t>
            </a:r>
          </a:p>
          <a:p>
            <a:pPr marL="342900" indent="-342900" algn="just">
              <a:buFont typeface="Arial" panose="020B0604020202020204" pitchFamily="34" charset="0"/>
              <a:buChar char="•"/>
            </a:pPr>
            <a:r>
              <a:rPr lang="en-IN" sz="2000" dirty="0"/>
              <a:t>The Standard Generalized Markup Language (SGML) is a meta-markup language for defining markup languages that can describe a wide variety of document types. </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In </a:t>
            </a:r>
            <a:r>
              <a:rPr lang="en-US" sz="2000" dirty="0">
                <a:solidFill>
                  <a:srgbClr val="FF0000"/>
                </a:solidFill>
              </a:rPr>
              <a:t>1986</a:t>
            </a:r>
            <a:r>
              <a:rPr lang="en-US" sz="2000" dirty="0"/>
              <a:t>, SGML was approved as an International Standards Organization ( ISO) standard. </a:t>
            </a:r>
          </a:p>
          <a:p>
            <a:pPr marL="342900" indent="-342900" algn="just">
              <a:buFont typeface="Arial" panose="020B0604020202020204" pitchFamily="34" charset="0"/>
              <a:buChar char="•"/>
            </a:pPr>
            <a:r>
              <a:rPr lang="en-US" sz="2000" dirty="0"/>
              <a:t>In </a:t>
            </a:r>
            <a:r>
              <a:rPr lang="en-US" sz="2000" dirty="0">
                <a:solidFill>
                  <a:srgbClr val="FF0000"/>
                </a:solidFill>
              </a:rPr>
              <a:t>1990</a:t>
            </a:r>
            <a:r>
              <a:rPr lang="en-US" sz="2000" dirty="0"/>
              <a:t>, SGML was used as the basis for the development of HTML as the standard markup language for Web documents. </a:t>
            </a:r>
          </a:p>
          <a:p>
            <a:pPr marL="342900" indent="-342900" algn="just">
              <a:buFont typeface="Arial" panose="020B0604020202020204" pitchFamily="34" charset="0"/>
              <a:buChar char="•"/>
            </a:pPr>
            <a:r>
              <a:rPr lang="en-US" sz="2000" dirty="0"/>
              <a:t>In </a:t>
            </a:r>
            <a:r>
              <a:rPr lang="en-US" sz="2000" dirty="0">
                <a:solidFill>
                  <a:srgbClr val="FF0000"/>
                </a:solidFill>
              </a:rPr>
              <a:t>1996</a:t>
            </a:r>
            <a:r>
              <a:rPr lang="en-US" sz="2000" dirty="0"/>
              <a:t>, the World Wide Web Consortium ( W3C ) began work on XML, another meta-markup language. </a:t>
            </a:r>
          </a:p>
          <a:p>
            <a:pPr marL="342900" indent="-342900" algn="just">
              <a:buFont typeface="Arial" panose="020B0604020202020204" pitchFamily="34" charset="0"/>
              <a:buChar char="•"/>
            </a:pPr>
            <a:r>
              <a:rPr lang="en-US" sz="2000" dirty="0"/>
              <a:t>The first XML standard, 1.0, was published in February </a:t>
            </a:r>
            <a:r>
              <a:rPr lang="en-US" sz="2000" dirty="0">
                <a:solidFill>
                  <a:srgbClr val="FF0000"/>
                </a:solidFill>
              </a:rPr>
              <a:t>1998</a:t>
            </a:r>
            <a:r>
              <a:rPr lang="en-US" sz="2000" dirty="0"/>
              <a:t>. The second, 1.1, was published in </a:t>
            </a:r>
            <a:r>
              <a:rPr lang="en-US" sz="2000" dirty="0">
                <a:solidFill>
                  <a:srgbClr val="FF0000"/>
                </a:solidFill>
              </a:rPr>
              <a:t>2004</a:t>
            </a:r>
            <a:r>
              <a:rPr lang="en-US" sz="2000" dirty="0"/>
              <a:t>.</a:t>
            </a:r>
          </a:p>
          <a:p>
            <a:pPr marL="342900" indent="-342900" algn="just">
              <a:buFont typeface="Arial" panose="020B0604020202020204" pitchFamily="34" charset="0"/>
              <a:buChar char="•"/>
            </a:pPr>
            <a:endParaRPr lang="en-US" sz="2000" dirty="0"/>
          </a:p>
          <a:p>
            <a:endParaRPr lang="en-IN" dirty="0"/>
          </a:p>
        </p:txBody>
      </p:sp>
    </p:spTree>
    <p:extLst>
      <p:ext uri="{BB962C8B-B14F-4D97-AF65-F5344CB8AC3E}">
        <p14:creationId xmlns:p14="http://schemas.microsoft.com/office/powerpoint/2010/main" val="19276060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CDAEB-9A08-2A37-6A53-2D5AC91CC9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433AC33-8476-FD56-FB36-72B1DAED0AC8}"/>
              </a:ext>
            </a:extLst>
          </p:cNvPr>
          <p:cNvSpPr txBox="1"/>
          <p:nvPr/>
        </p:nvSpPr>
        <p:spPr>
          <a:xfrm>
            <a:off x="510988" y="403412"/>
            <a:ext cx="11125200" cy="11172289"/>
          </a:xfrm>
          <a:prstGeom prst="rect">
            <a:avLst/>
          </a:prstGeom>
          <a:noFill/>
        </p:spPr>
        <p:txBody>
          <a:bodyPr wrap="square" rtlCol="0">
            <a:spAutoFit/>
          </a:bodyPr>
          <a:lstStyle/>
          <a:p>
            <a:r>
              <a:rPr lang="en-US" sz="2400" dirty="0"/>
              <a:t>Continued…</a:t>
            </a:r>
          </a:p>
          <a:p>
            <a:endParaRPr lang="en-US" dirty="0"/>
          </a:p>
          <a:p>
            <a:pPr algn="just"/>
            <a:r>
              <a:rPr lang="en-US" sz="2000" dirty="0"/>
              <a:t>Deficiencies of HTML</a:t>
            </a:r>
          </a:p>
          <a:p>
            <a:pPr algn="just"/>
            <a:endParaRPr lang="en-US" sz="2000" dirty="0"/>
          </a:p>
          <a:p>
            <a:pPr marL="342900" indent="-342900" algn="just">
              <a:buFont typeface="Arial" panose="020B0604020202020204" pitchFamily="34" charset="0"/>
              <a:buChar char="•"/>
            </a:pPr>
            <a:r>
              <a:rPr lang="en-US" sz="2000" dirty="0"/>
              <a:t>HTML was defined to describe the layout of information without considering the </a:t>
            </a:r>
            <a:r>
              <a:rPr lang="en-US" sz="2000" dirty="0">
                <a:solidFill>
                  <a:srgbClr val="FF0000"/>
                </a:solidFill>
              </a:rPr>
              <a:t>meaning</a:t>
            </a:r>
            <a:r>
              <a:rPr lang="en-US" sz="2000" dirty="0"/>
              <a:t> of that information.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So, regardless of the kind of information being described with HTML, only its general form and layout can be described in a document.</a:t>
            </a:r>
          </a:p>
          <a:p>
            <a:pPr marL="800100" lvl="1" indent="-342900" algn="just">
              <a:buFont typeface="Arial" panose="020B0604020202020204" pitchFamily="34" charset="0"/>
              <a:buChar char="•"/>
            </a:pPr>
            <a:r>
              <a:rPr lang="en-US" sz="2000" dirty="0">
                <a:solidFill>
                  <a:srgbClr val="FF0000"/>
                </a:solidFill>
              </a:rPr>
              <a:t>Example car and car price</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Another potential problem with HTML is that it enforces few restrictions on the arrangement or order of tags in a document.</a:t>
            </a:r>
          </a:p>
          <a:p>
            <a:pPr marL="342900" indent="-342900" algn="just">
              <a:buFont typeface="Arial" panose="020B0604020202020204" pitchFamily="34" charset="0"/>
              <a:buChar char="•"/>
            </a:pPr>
            <a:endParaRPr lang="en-US" sz="2000" dirty="0"/>
          </a:p>
          <a:p>
            <a:pPr marL="800100" lvl="1" indent="-342900" algn="just">
              <a:buFont typeface="Arial" panose="020B0604020202020204" pitchFamily="34" charset="0"/>
              <a:buChar char="•"/>
            </a:pPr>
            <a:r>
              <a:rPr lang="en-US" sz="2000" dirty="0">
                <a:solidFill>
                  <a:srgbClr val="FF0000"/>
                </a:solidFill>
              </a:rPr>
              <a:t>&lt;strong&gt; Now &lt;</a:t>
            </a:r>
            <a:r>
              <a:rPr lang="en-US" sz="2000" dirty="0" err="1">
                <a:solidFill>
                  <a:srgbClr val="FF0000"/>
                </a:solidFill>
              </a:rPr>
              <a:t>em</a:t>
            </a:r>
            <a:r>
              <a:rPr lang="en-US" sz="2000" dirty="0">
                <a:solidFill>
                  <a:srgbClr val="FF0000"/>
                </a:solidFill>
              </a:rPr>
              <a:t>&gt; is &lt;/strong&gt; the time &lt;/</a:t>
            </a:r>
            <a:r>
              <a:rPr lang="en-US" sz="2000" dirty="0" err="1">
                <a:solidFill>
                  <a:srgbClr val="FF0000"/>
                </a:solidFill>
              </a:rPr>
              <a:t>em</a:t>
            </a:r>
            <a:r>
              <a:rPr lang="en-US" sz="2000" dirty="0">
                <a:solidFill>
                  <a:srgbClr val="FF0000"/>
                </a:solidFill>
              </a:rPr>
              <a:t>&gt;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One solution that addresses the deficiencies of HTML is for each group of users with common document needs to develop its own set of tags and attributes and then use the SGML standard to define a new markup language to meet those needs.</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125408863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86454-CA29-F2AE-B3CA-53D8CC8A30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C886C0-828F-100D-D8BB-5F1023D1926B}"/>
              </a:ext>
            </a:extLst>
          </p:cNvPr>
          <p:cNvSpPr txBox="1"/>
          <p:nvPr/>
        </p:nvSpPr>
        <p:spPr>
          <a:xfrm>
            <a:off x="510988" y="403412"/>
            <a:ext cx="11125200" cy="9941183"/>
          </a:xfrm>
          <a:prstGeom prst="rect">
            <a:avLst/>
          </a:prstGeom>
          <a:noFill/>
        </p:spPr>
        <p:txBody>
          <a:bodyPr wrap="square" rtlCol="0">
            <a:spAutoFit/>
          </a:bodyPr>
          <a:lstStyle/>
          <a:p>
            <a:r>
              <a:rPr lang="en-US" sz="2400" dirty="0"/>
              <a:t>Continued…</a:t>
            </a:r>
          </a:p>
          <a:p>
            <a:endParaRPr lang="en-US" dirty="0"/>
          </a:p>
          <a:p>
            <a:pPr marL="342900" indent="-342900" algn="just">
              <a:buFont typeface="Arial" panose="020B0604020202020204" pitchFamily="34" charset="0"/>
              <a:buChar char="•"/>
            </a:pPr>
            <a:r>
              <a:rPr lang="en-US" sz="2000" dirty="0"/>
              <a:t>An alternative solution to the problems of HTML is to define a simplified version of SGML and allow users to define their own markup languages based on it.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XML was designed to be that simplified version of SGML.</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In this context, “users” refers to organizations of people with common data description and processing needs.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For example, chemists need to store chemical data in a standard format, providing a way to share data with other chemists and allowing all to use data-processing tools that work on chemical data stored in the same standard format, regardless of the origin of the data.</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It is important to understand that XML was not meant to be a replacement for HTML. In fact, the two languages have different goals</a:t>
            </a:r>
          </a:p>
          <a:p>
            <a:pPr marL="800100" lvl="1" indent="-342900" algn="just">
              <a:buFont typeface="Arial" panose="020B0604020202020204" pitchFamily="34" charset="0"/>
              <a:buChar char="•"/>
            </a:pPr>
            <a:r>
              <a:rPr lang="en-IN" sz="2000" dirty="0"/>
              <a:t>HTML - describe the layout</a:t>
            </a:r>
          </a:p>
          <a:p>
            <a:pPr marL="800100" lvl="1" indent="-342900" algn="just">
              <a:buFont typeface="Arial" panose="020B0604020202020204" pitchFamily="34" charset="0"/>
              <a:buChar char="•"/>
            </a:pPr>
            <a:r>
              <a:rPr lang="en-IN" sz="2000" dirty="0"/>
              <a:t>XML - </a:t>
            </a:r>
            <a:r>
              <a:rPr lang="en-US" sz="2000" dirty="0"/>
              <a:t>framework for defining specialized markup languages.</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16724045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3DC53-E9EC-0488-CDF0-AE84656830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BED2E5-C3DD-FF48-9059-6EBF27D28FF7}"/>
              </a:ext>
            </a:extLst>
          </p:cNvPr>
          <p:cNvSpPr txBox="1"/>
          <p:nvPr/>
        </p:nvSpPr>
        <p:spPr>
          <a:xfrm>
            <a:off x="510988" y="403412"/>
            <a:ext cx="11125200" cy="8648521"/>
          </a:xfrm>
          <a:prstGeom prst="rect">
            <a:avLst/>
          </a:prstGeom>
          <a:noFill/>
        </p:spPr>
        <p:txBody>
          <a:bodyPr wrap="square" rtlCol="0">
            <a:spAutoFit/>
          </a:bodyPr>
          <a:lstStyle/>
          <a:p>
            <a:r>
              <a:rPr lang="en-US" sz="2400" dirty="0"/>
              <a:t>Continued…</a:t>
            </a:r>
          </a:p>
          <a:p>
            <a:endParaRPr lang="en-US" dirty="0"/>
          </a:p>
          <a:p>
            <a:pPr marL="342900" indent="-342900" algn="just">
              <a:buFont typeface="Arial" panose="020B0604020202020204" pitchFamily="34" charset="0"/>
              <a:buChar char="•"/>
            </a:pPr>
            <a:r>
              <a:rPr lang="en-US" sz="2000" dirty="0"/>
              <a:t>XML provides a simple and universal way of storing any textual data.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Data stored in XML documents can be electronically distributed and processed by any number of different applications.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XML specifies rules for creating markup languages.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IN" sz="2000" dirty="0"/>
              <a:t>XML includes no tags.</a:t>
            </a:r>
          </a:p>
          <a:p>
            <a:pPr marL="342900" indent="-342900" algn="just">
              <a:buFont typeface="Arial" panose="020B0604020202020204" pitchFamily="34" charset="0"/>
              <a:buChar char="•"/>
            </a:pPr>
            <a:endParaRPr lang="en-IN" sz="2000" dirty="0"/>
          </a:p>
          <a:p>
            <a:pPr marL="342900" indent="-342900" algn="just">
              <a:buFont typeface="Arial" panose="020B0604020202020204" pitchFamily="34" charset="0"/>
              <a:buChar char="•"/>
            </a:pPr>
            <a:r>
              <a:rPr lang="en-US" sz="2000" dirty="0"/>
              <a:t>XML tag and its content, together with the closing tag, are called an </a:t>
            </a:r>
            <a:r>
              <a:rPr lang="en-US" sz="2000" dirty="0">
                <a:solidFill>
                  <a:srgbClr val="FF0000"/>
                </a:solidFill>
              </a:rPr>
              <a:t>element</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XML documents can be written by hand with a simple text editor - </a:t>
            </a:r>
            <a:r>
              <a:rPr lang="en-US" sz="2000" dirty="0" err="1">
                <a:solidFill>
                  <a:srgbClr val="FF0000"/>
                </a:solidFill>
              </a:rPr>
              <a:t>Altova</a:t>
            </a:r>
            <a:r>
              <a:rPr lang="en-US" sz="2000" dirty="0">
                <a:solidFill>
                  <a:srgbClr val="FF0000"/>
                </a:solidFill>
              </a:rPr>
              <a:t> </a:t>
            </a:r>
            <a:r>
              <a:rPr lang="en-US" sz="2000" dirty="0" err="1">
                <a:solidFill>
                  <a:srgbClr val="FF0000"/>
                </a:solidFill>
              </a:rPr>
              <a:t>XMLSpy</a:t>
            </a:r>
            <a:r>
              <a:rPr lang="en-US" sz="2000" dirty="0"/>
              <a:t>, the </a:t>
            </a:r>
            <a:r>
              <a:rPr lang="en-US" sz="2000" dirty="0">
                <a:solidFill>
                  <a:srgbClr val="FF0000"/>
                </a:solidFill>
              </a:rPr>
              <a:t>graphical editor for Windows</a:t>
            </a:r>
            <a:r>
              <a:rPr lang="en-US" sz="2000" dirty="0"/>
              <a:t>, the </a:t>
            </a:r>
            <a:r>
              <a:rPr lang="en-US" sz="2000" dirty="0">
                <a:solidFill>
                  <a:srgbClr val="FF0000"/>
                </a:solidFill>
              </a:rPr>
              <a:t>PSGML plug-in for the Emacs editor</a:t>
            </a:r>
            <a:r>
              <a:rPr lang="en-US" sz="2000" dirty="0"/>
              <a:t>, </a:t>
            </a:r>
            <a:r>
              <a:rPr lang="en-US" sz="2000" dirty="0" err="1">
                <a:solidFill>
                  <a:srgbClr val="FF0000"/>
                </a:solidFill>
              </a:rPr>
              <a:t>XMLFox</a:t>
            </a:r>
            <a:r>
              <a:rPr lang="en-US" sz="2000" dirty="0"/>
              <a:t>, and the </a:t>
            </a:r>
            <a:r>
              <a:rPr lang="en-US" sz="2000" dirty="0" err="1">
                <a:solidFill>
                  <a:srgbClr val="FF0000"/>
                </a:solidFill>
              </a:rPr>
              <a:t>Morphon</a:t>
            </a:r>
            <a:r>
              <a:rPr lang="en-US" sz="2000" dirty="0">
                <a:solidFill>
                  <a:srgbClr val="FF0000"/>
                </a:solidFill>
              </a:rPr>
              <a:t> XML-Editor</a:t>
            </a:r>
          </a:p>
          <a:p>
            <a:pPr algn="just"/>
            <a:endParaRPr lang="en-US" sz="2000" dirty="0"/>
          </a:p>
          <a:p>
            <a:pPr marL="342900" indent="-342900" algn="just">
              <a:buFont typeface="Arial" panose="020B0604020202020204" pitchFamily="34" charset="0"/>
              <a:buChar char="•"/>
            </a:pPr>
            <a:r>
              <a:rPr lang="en-US" sz="2000" dirty="0"/>
              <a:t>The data in an XML document can be displayed by browsers only if the </a:t>
            </a:r>
            <a:r>
              <a:rPr lang="en-US" sz="2000" dirty="0">
                <a:solidFill>
                  <a:srgbClr val="FF0000"/>
                </a:solidFill>
              </a:rPr>
              <a:t>presentation styles </a:t>
            </a:r>
            <a:r>
              <a:rPr lang="en-US" sz="2000" dirty="0"/>
              <a:t>are provided by </a:t>
            </a:r>
            <a:r>
              <a:rPr lang="en-US" sz="2000" dirty="0">
                <a:solidFill>
                  <a:srgbClr val="FF0000"/>
                </a:solidFill>
              </a:rPr>
              <a:t>style sheets</a:t>
            </a:r>
            <a:r>
              <a:rPr lang="en-US" sz="2000" dirty="0"/>
              <a:t> of some kind</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30644654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958AD-575E-386A-4F38-83F7E916830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22B7703-F0AA-80B1-99EB-F0738C7588C9}"/>
              </a:ext>
            </a:extLst>
          </p:cNvPr>
          <p:cNvSpPr txBox="1"/>
          <p:nvPr/>
        </p:nvSpPr>
        <p:spPr>
          <a:xfrm>
            <a:off x="510988" y="403412"/>
            <a:ext cx="11125200" cy="8340745"/>
          </a:xfrm>
          <a:prstGeom prst="rect">
            <a:avLst/>
          </a:prstGeom>
          <a:noFill/>
        </p:spPr>
        <p:txBody>
          <a:bodyPr wrap="square" rtlCol="0">
            <a:spAutoFit/>
          </a:bodyPr>
          <a:lstStyle/>
          <a:p>
            <a:r>
              <a:rPr lang="en-US" sz="2400" dirty="0"/>
              <a:t>Continued…</a:t>
            </a:r>
          </a:p>
          <a:p>
            <a:endParaRPr lang="en-US" dirty="0"/>
          </a:p>
          <a:p>
            <a:pPr marL="342900" indent="-342900" algn="just">
              <a:buFont typeface="Arial" panose="020B0604020202020204" pitchFamily="34" charset="0"/>
              <a:buChar char="•"/>
            </a:pPr>
            <a:r>
              <a:rPr lang="en-US" sz="2000" dirty="0"/>
              <a:t>Application programs that process the data in XML documents must analyze the documents before they gain access to the data.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This analysis is performed by an </a:t>
            </a:r>
            <a:r>
              <a:rPr lang="en-US" sz="2000" dirty="0">
                <a:solidFill>
                  <a:srgbClr val="FF0000"/>
                </a:solidFill>
              </a:rPr>
              <a:t>XML processor</a:t>
            </a:r>
            <a:r>
              <a:rPr lang="en-US" sz="2000" dirty="0"/>
              <a:t>, which has several tasks, one of which is to parse XML documents, a process that isolates the constituent parts (such as tags, attributes, and data strings) and provides them to an application.</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XML documents have no hidden specifications. Therefore, XML documents are plain text, which is easily readable by both people and application programs</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5985395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0251B-83B9-9E9A-3546-AD2B292A2D1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8633242-CECB-DD96-2B5E-644A02C525C0}"/>
              </a:ext>
            </a:extLst>
          </p:cNvPr>
          <p:cNvSpPr txBox="1"/>
          <p:nvPr/>
        </p:nvSpPr>
        <p:spPr>
          <a:xfrm>
            <a:off x="510988" y="403412"/>
            <a:ext cx="11125200" cy="9048631"/>
          </a:xfrm>
          <a:prstGeom prst="rect">
            <a:avLst/>
          </a:prstGeom>
          <a:noFill/>
        </p:spPr>
        <p:txBody>
          <a:bodyPr wrap="square" rtlCol="0">
            <a:spAutoFit/>
          </a:bodyPr>
          <a:lstStyle/>
          <a:p>
            <a:r>
              <a:rPr lang="en-US" sz="2400" b="1" dirty="0"/>
              <a:t>2 The Syntax of XML</a:t>
            </a:r>
            <a:endParaRPr lang="en-US" dirty="0"/>
          </a:p>
          <a:p>
            <a:pPr marL="342900" indent="-342900" algn="just">
              <a:buFont typeface="Arial" panose="020B0604020202020204" pitchFamily="34" charset="0"/>
              <a:buChar char="•"/>
            </a:pPr>
            <a:r>
              <a:rPr lang="en-US" sz="2000" dirty="0"/>
              <a:t>The syntax of XML can be thought of at two distinct levels. First, there is the </a:t>
            </a:r>
            <a:r>
              <a:rPr lang="en-US" sz="2000" dirty="0">
                <a:solidFill>
                  <a:srgbClr val="FF0000"/>
                </a:solidFill>
              </a:rPr>
              <a:t>general low-level syntax </a:t>
            </a:r>
            <a:r>
              <a:rPr lang="en-US" sz="2000" dirty="0"/>
              <a:t>of XML, which imposes its rules on all XML documents.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other syntactic level is specified by either </a:t>
            </a:r>
            <a:r>
              <a:rPr lang="en-US" sz="2000" dirty="0">
                <a:solidFill>
                  <a:srgbClr val="FF0000"/>
                </a:solidFill>
              </a:rPr>
              <a:t>document type definitions </a:t>
            </a:r>
            <a:r>
              <a:rPr lang="en-US" sz="2000" dirty="0"/>
              <a:t>( DTDs) or </a:t>
            </a:r>
            <a:r>
              <a:rPr lang="en-US" sz="2000" dirty="0">
                <a:solidFill>
                  <a:srgbClr val="FF0000"/>
                </a:solidFill>
              </a:rPr>
              <a:t>XML schemas</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DTDs and XML schemas specify the </a:t>
            </a:r>
            <a:r>
              <a:rPr lang="en-US" sz="2000" dirty="0">
                <a:solidFill>
                  <a:srgbClr val="FF0000"/>
                </a:solidFill>
              </a:rPr>
              <a:t>set of tags</a:t>
            </a:r>
            <a:r>
              <a:rPr lang="en-US" sz="2000" dirty="0"/>
              <a:t> and </a:t>
            </a:r>
            <a:r>
              <a:rPr lang="en-US" sz="2000" dirty="0">
                <a:solidFill>
                  <a:srgbClr val="FF0000"/>
                </a:solidFill>
              </a:rPr>
              <a:t>attributes</a:t>
            </a:r>
            <a:r>
              <a:rPr lang="en-US" sz="2000" dirty="0"/>
              <a:t> that can appear in a particular document or collection of documents and also the </a:t>
            </a:r>
            <a:r>
              <a:rPr lang="en-US" sz="2000" dirty="0">
                <a:solidFill>
                  <a:srgbClr val="FF0000"/>
                </a:solidFill>
              </a:rPr>
              <a:t>orders and arrangements </a:t>
            </a:r>
            <a:r>
              <a:rPr lang="en-US" sz="2000" dirty="0"/>
              <a:t>in which they can appear.</a:t>
            </a:r>
          </a:p>
          <a:p>
            <a:pPr marL="342900" indent="-342900" algn="just">
              <a:buFont typeface="Arial" panose="020B0604020202020204" pitchFamily="34" charset="0"/>
              <a:buChar char="•"/>
            </a:pPr>
            <a:r>
              <a:rPr lang="en-US" sz="2000" dirty="0"/>
              <a:t>An XML document can include several different kinds of statements. </a:t>
            </a:r>
          </a:p>
          <a:p>
            <a:pPr marL="1257300" lvl="2" indent="-342900" algn="just">
              <a:buFont typeface="Arial" panose="020B0604020202020204" pitchFamily="34" charset="0"/>
              <a:buChar char="•"/>
            </a:pPr>
            <a:r>
              <a:rPr lang="en-US" sz="2000" dirty="0"/>
              <a:t>The most common are the </a:t>
            </a:r>
            <a:r>
              <a:rPr lang="en-US" sz="2000" dirty="0">
                <a:solidFill>
                  <a:srgbClr val="FF0000"/>
                </a:solidFill>
              </a:rPr>
              <a:t>data elements</a:t>
            </a:r>
            <a:r>
              <a:rPr lang="en-US" sz="2000" dirty="0"/>
              <a:t> of the document.</a:t>
            </a:r>
          </a:p>
          <a:p>
            <a:pPr marL="1714500" lvl="3" indent="-342900" algn="just">
              <a:buFont typeface="Arial" panose="020B0604020202020204" pitchFamily="34" charset="0"/>
              <a:buChar char="•"/>
            </a:pPr>
            <a:r>
              <a:rPr lang="en-US" sz="2000" i="1" dirty="0">
                <a:solidFill>
                  <a:srgbClr val="00B0F0"/>
                </a:solidFill>
              </a:rPr>
              <a:t>&lt;title&gt;Programming the Web&lt;/title&gt;</a:t>
            </a:r>
          </a:p>
          <a:p>
            <a:pPr marL="1257300" lvl="2" indent="-342900" algn="just">
              <a:buFont typeface="Arial" panose="020B0604020202020204" pitchFamily="34" charset="0"/>
              <a:buChar char="•"/>
            </a:pPr>
            <a:r>
              <a:rPr lang="en-US" sz="2000" dirty="0"/>
              <a:t>XML documents may also include markup declarations, which are instructions to the </a:t>
            </a:r>
            <a:r>
              <a:rPr lang="en-US" sz="2000" dirty="0">
                <a:solidFill>
                  <a:srgbClr val="FF0000"/>
                </a:solidFill>
              </a:rPr>
              <a:t>XML parser</a:t>
            </a:r>
            <a:r>
              <a:rPr lang="en-US" sz="2000" dirty="0"/>
              <a:t>.</a:t>
            </a:r>
          </a:p>
          <a:p>
            <a:pPr marL="1714500" lvl="3" indent="-342900" algn="just">
              <a:buFont typeface="Arial" panose="020B0604020202020204" pitchFamily="34" charset="0"/>
              <a:buChar char="•"/>
            </a:pPr>
            <a:r>
              <a:rPr lang="en-US" sz="2000" dirty="0">
                <a:solidFill>
                  <a:srgbClr val="00B0F0"/>
                </a:solidFill>
              </a:rPr>
              <a:t>&lt;!DOCTYPE bookstore [ ... ]&gt; </a:t>
            </a:r>
            <a:r>
              <a:rPr lang="en-US" sz="2000" dirty="0"/>
              <a:t>- Like Schema</a:t>
            </a:r>
          </a:p>
          <a:p>
            <a:pPr marL="1257300" lvl="2" indent="-342900" algn="just">
              <a:buFont typeface="Arial" panose="020B0604020202020204" pitchFamily="34" charset="0"/>
              <a:buChar char="•"/>
            </a:pPr>
            <a:r>
              <a:rPr lang="en-US" sz="2000" dirty="0"/>
              <a:t>processing instructions, which are instructions for an </a:t>
            </a:r>
            <a:r>
              <a:rPr lang="en-US" sz="2000" dirty="0">
                <a:solidFill>
                  <a:srgbClr val="FF0000"/>
                </a:solidFill>
              </a:rPr>
              <a:t>application program </a:t>
            </a:r>
            <a:r>
              <a:rPr lang="en-US" sz="2000" dirty="0"/>
              <a:t>that will process the data described in the document.</a:t>
            </a:r>
          </a:p>
          <a:p>
            <a:pPr marL="1257300" lvl="2" indent="-342900" algn="just">
              <a:buFont typeface="Arial" panose="020B0604020202020204" pitchFamily="34" charset="0"/>
              <a:buChar char="•"/>
            </a:pPr>
            <a:r>
              <a:rPr lang="en-US" sz="2000" dirty="0">
                <a:solidFill>
                  <a:srgbClr val="00B0F0"/>
                </a:solidFill>
              </a:rPr>
              <a:t>&lt;?xml-stylesheet type="text/</a:t>
            </a:r>
            <a:r>
              <a:rPr lang="en-US" sz="2000" dirty="0" err="1">
                <a:solidFill>
                  <a:srgbClr val="00B0F0"/>
                </a:solidFill>
              </a:rPr>
              <a:t>xsl</a:t>
            </a:r>
            <a:r>
              <a:rPr lang="en-US" sz="2000" dirty="0">
                <a:solidFill>
                  <a:srgbClr val="00B0F0"/>
                </a:solidFill>
              </a:rPr>
              <a:t>" </a:t>
            </a:r>
            <a:r>
              <a:rPr lang="en-US" sz="2000" dirty="0" err="1">
                <a:solidFill>
                  <a:srgbClr val="00B0F0"/>
                </a:solidFill>
              </a:rPr>
              <a:t>href</a:t>
            </a:r>
            <a:r>
              <a:rPr lang="en-US" sz="2000" dirty="0">
                <a:solidFill>
                  <a:srgbClr val="00B0F0"/>
                </a:solidFill>
              </a:rPr>
              <a:t>="bookstyle.xsl"?&gt;</a:t>
            </a:r>
            <a:r>
              <a:rPr lang="en-US" sz="2000" dirty="0">
                <a:solidFill>
                  <a:srgbClr val="FFFF00"/>
                </a:solidFill>
              </a:rPr>
              <a:t>   </a:t>
            </a:r>
            <a:r>
              <a:rPr lang="en-US" sz="2000" dirty="0"/>
              <a:t>- Tells the application to use an XSL file to style/transform the XML.</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5681757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60E37-5A40-D8C1-B133-83FDA34A890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62A4D3-D81A-7B14-46C6-8050B5651B52}"/>
              </a:ext>
            </a:extLst>
          </p:cNvPr>
          <p:cNvSpPr txBox="1"/>
          <p:nvPr/>
        </p:nvSpPr>
        <p:spPr>
          <a:xfrm>
            <a:off x="510988" y="403412"/>
            <a:ext cx="11125200" cy="5940088"/>
          </a:xfrm>
          <a:prstGeom prst="rect">
            <a:avLst/>
          </a:prstGeom>
          <a:noFill/>
        </p:spPr>
        <p:txBody>
          <a:bodyPr wrap="square" rtlCol="0">
            <a:spAutoFit/>
          </a:bodyPr>
          <a:lstStyle/>
          <a:p>
            <a:r>
              <a:rPr lang="en-US" sz="2400" dirty="0"/>
              <a:t>Syntax Rules…</a:t>
            </a:r>
          </a:p>
          <a:p>
            <a:endParaRPr lang="en-US" dirty="0"/>
          </a:p>
          <a:p>
            <a:pPr marL="342900" indent="-342900" algn="just">
              <a:buFont typeface="Arial" panose="020B0604020202020204" pitchFamily="34" charset="0"/>
              <a:buChar char="•"/>
            </a:pPr>
            <a:r>
              <a:rPr lang="en-US" sz="2000" dirty="0"/>
              <a:t>The XML declaration identifies the document as XML and provides the version number of the XML standard used. It may also specify an encoding standard.</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Comments in XML are the same as in HTML.</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XML </a:t>
            </a:r>
            <a:r>
              <a:rPr lang="en-US" sz="2000" dirty="0">
                <a:solidFill>
                  <a:srgbClr val="FF0000"/>
                </a:solidFill>
              </a:rPr>
              <a:t>names</a:t>
            </a:r>
            <a:r>
              <a:rPr lang="en-US" sz="2000" dirty="0"/>
              <a:t> are used to </a:t>
            </a:r>
            <a:r>
              <a:rPr lang="en-US" sz="2000" dirty="0">
                <a:solidFill>
                  <a:srgbClr val="FF0000"/>
                </a:solidFill>
              </a:rPr>
              <a:t>name elements and attributes</a:t>
            </a:r>
            <a:r>
              <a:rPr lang="en-US" sz="2000" dirty="0"/>
              <a:t>. An XML name must begin with a letter or an underscore and can include digits, hyphens, and periods – </a:t>
            </a:r>
            <a:r>
              <a:rPr lang="en-US" sz="2000" dirty="0">
                <a:solidFill>
                  <a:srgbClr val="FF0000"/>
                </a:solidFill>
              </a:rPr>
              <a:t>case sensitive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small set of syntax rules applies to all XML documents.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Every XML document defines a single </a:t>
            </a:r>
            <a:r>
              <a:rPr lang="en-US" sz="2000" dirty="0">
                <a:solidFill>
                  <a:srgbClr val="FF0000"/>
                </a:solidFill>
              </a:rPr>
              <a:t>root</a:t>
            </a:r>
            <a:r>
              <a:rPr lang="en-US" sz="2000" dirty="0"/>
              <a:t> element, whose opening tag must appear on the first line of XML code. All other elements of an XML document must be </a:t>
            </a:r>
            <a:r>
              <a:rPr lang="en-US" sz="2000" dirty="0">
                <a:solidFill>
                  <a:srgbClr val="FF0000"/>
                </a:solidFill>
              </a:rPr>
              <a:t>nested inside the root element</a:t>
            </a:r>
            <a:r>
              <a:rPr lang="en-US" sz="2000" dirty="0"/>
              <a:t>.</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Every XML element that can have content must have a closing tag. Elements that do not include content must use a tag with the following form:</a:t>
            </a:r>
          </a:p>
          <a:p>
            <a:r>
              <a:rPr lang="en-IN" dirty="0"/>
              <a:t>	 </a:t>
            </a:r>
            <a:r>
              <a:rPr lang="en-IN" i="1" dirty="0"/>
              <a:t>&lt;</a:t>
            </a:r>
            <a:r>
              <a:rPr lang="en-IN" i="1" dirty="0" err="1"/>
              <a:t>element_name</a:t>
            </a:r>
            <a:r>
              <a:rPr lang="en-IN" i="1" dirty="0"/>
              <a:t> /&gt;</a:t>
            </a:r>
          </a:p>
          <a:p>
            <a:pPr marL="285750" indent="-285750">
              <a:buFont typeface="Arial" panose="020B0604020202020204" pitchFamily="34" charset="0"/>
              <a:buChar char="•"/>
            </a:pPr>
            <a:r>
              <a:rPr lang="en-US" sz="2000" dirty="0"/>
              <a:t>XML tags can have attributes, which are specified with name–value assignments –</a:t>
            </a:r>
            <a:r>
              <a:rPr lang="en-US" sz="2000" dirty="0">
                <a:solidFill>
                  <a:srgbClr val="FF0000"/>
                </a:solidFill>
              </a:rPr>
              <a:t>“attribute value” </a:t>
            </a:r>
            <a:endParaRPr lang="en-IN" sz="2000" i="1" dirty="0">
              <a:solidFill>
                <a:srgbClr val="FF0000"/>
              </a:solidFill>
            </a:endParaRPr>
          </a:p>
        </p:txBody>
      </p:sp>
    </p:spTree>
    <p:extLst>
      <p:ext uri="{BB962C8B-B14F-4D97-AF65-F5344CB8AC3E}">
        <p14:creationId xmlns:p14="http://schemas.microsoft.com/office/powerpoint/2010/main" val="30819764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E5F44-CDB1-26F6-D444-84D28AE401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BBA3F90-B6F2-DB62-133F-1062346A6148}"/>
              </a:ext>
            </a:extLst>
          </p:cNvPr>
          <p:cNvSpPr txBox="1"/>
          <p:nvPr/>
        </p:nvSpPr>
        <p:spPr>
          <a:xfrm>
            <a:off x="510988" y="403412"/>
            <a:ext cx="11125200" cy="5632311"/>
          </a:xfrm>
          <a:prstGeom prst="rect">
            <a:avLst/>
          </a:prstGeom>
          <a:noFill/>
        </p:spPr>
        <p:txBody>
          <a:bodyPr wrap="square" rtlCol="0">
            <a:spAutoFit/>
          </a:bodyPr>
          <a:lstStyle/>
          <a:p>
            <a:r>
              <a:rPr lang="en-US" sz="2400" dirty="0"/>
              <a:t>Continued…</a:t>
            </a:r>
          </a:p>
          <a:p>
            <a:endParaRPr lang="en-US" dirty="0"/>
          </a:p>
          <a:p>
            <a:pPr marL="342900" indent="-342900" algn="just">
              <a:buFont typeface="Arial" panose="020B0604020202020204" pitchFamily="34" charset="0"/>
              <a:buChar char="•"/>
            </a:pPr>
            <a:r>
              <a:rPr lang="en-US" sz="2000" dirty="0"/>
              <a:t>An XML document that strictly adheres to these syntax rules is considered </a:t>
            </a:r>
            <a:r>
              <a:rPr lang="en-US" sz="2000" i="1" dirty="0">
                <a:solidFill>
                  <a:srgbClr val="FF0000"/>
                </a:solidFill>
              </a:rPr>
              <a:t>well formed</a:t>
            </a:r>
            <a:r>
              <a:rPr lang="en-US" sz="2000" dirty="0"/>
              <a:t>.</a:t>
            </a:r>
          </a:p>
          <a:p>
            <a:pPr algn="just"/>
            <a:endParaRPr lang="en-US" sz="2000" dirty="0"/>
          </a:p>
          <a:p>
            <a:pPr lvl="1" algn="just"/>
            <a:r>
              <a:rPr lang="en-US" sz="2000" dirty="0"/>
              <a:t> </a:t>
            </a:r>
            <a:r>
              <a:rPr lang="en-US" sz="2000" dirty="0">
                <a:latin typeface="Microsoft Yi Baiti" panose="03000500000000000000" pitchFamily="66" charset="0"/>
                <a:ea typeface="Microsoft Yi Baiti" panose="03000500000000000000" pitchFamily="66" charset="0"/>
              </a:rPr>
              <a:t>&lt;?xml version = "1.0" encoding = "utf-8"?&gt;</a:t>
            </a:r>
          </a:p>
          <a:p>
            <a:pPr lvl="1" algn="just"/>
            <a:r>
              <a:rPr lang="en-US" sz="2000" dirty="0">
                <a:latin typeface="Microsoft Yi Baiti" panose="03000500000000000000" pitchFamily="66" charset="0"/>
                <a:ea typeface="Microsoft Yi Baiti" panose="03000500000000000000" pitchFamily="66" charset="0"/>
              </a:rPr>
              <a:t> &lt;ad&gt;</a:t>
            </a:r>
          </a:p>
          <a:p>
            <a:pPr lvl="1" algn="just"/>
            <a:r>
              <a:rPr lang="en-US" sz="2000" dirty="0">
                <a:latin typeface="Microsoft Yi Baiti" panose="03000500000000000000" pitchFamily="66" charset="0"/>
                <a:ea typeface="Microsoft Yi Baiti" panose="03000500000000000000" pitchFamily="66" charset="0"/>
              </a:rPr>
              <a:t>  &lt;year&gt; 1960 &lt;/year&gt;</a:t>
            </a:r>
          </a:p>
          <a:p>
            <a:pPr lvl="1" algn="just"/>
            <a:r>
              <a:rPr lang="en-US" sz="2000" dirty="0">
                <a:latin typeface="Microsoft Yi Baiti" panose="03000500000000000000" pitchFamily="66" charset="0"/>
                <a:ea typeface="Microsoft Yi Baiti" panose="03000500000000000000" pitchFamily="66" charset="0"/>
              </a:rPr>
              <a:t>  &lt;make&gt; Cessna &lt;/make&gt;</a:t>
            </a:r>
          </a:p>
          <a:p>
            <a:pPr lvl="1" algn="just"/>
            <a:r>
              <a:rPr lang="en-US" sz="2000" dirty="0">
                <a:latin typeface="Microsoft Yi Baiti" panose="03000500000000000000" pitchFamily="66" charset="0"/>
                <a:ea typeface="Microsoft Yi Baiti" panose="03000500000000000000" pitchFamily="66" charset="0"/>
              </a:rPr>
              <a:t>  &lt;model&gt; Centurian &lt;/model&gt;</a:t>
            </a:r>
          </a:p>
          <a:p>
            <a:pPr lvl="1" algn="just"/>
            <a:r>
              <a:rPr lang="en-US" sz="2000" dirty="0">
                <a:latin typeface="Microsoft Yi Baiti" panose="03000500000000000000" pitchFamily="66" charset="0"/>
                <a:ea typeface="Microsoft Yi Baiti" panose="03000500000000000000" pitchFamily="66" charset="0"/>
              </a:rPr>
              <a:t>  &lt;color&gt; Yellow with white trim &lt;/color&gt;</a:t>
            </a:r>
          </a:p>
          <a:p>
            <a:pPr lvl="1" algn="just"/>
            <a:r>
              <a:rPr lang="en-US" sz="2000" dirty="0">
                <a:latin typeface="Microsoft Yi Baiti" panose="03000500000000000000" pitchFamily="66" charset="0"/>
                <a:ea typeface="Microsoft Yi Baiti" panose="03000500000000000000" pitchFamily="66" charset="0"/>
              </a:rPr>
              <a:t>  &lt;location&gt;</a:t>
            </a:r>
          </a:p>
          <a:p>
            <a:pPr lvl="1" algn="just"/>
            <a:r>
              <a:rPr lang="en-US" sz="2000" dirty="0">
                <a:latin typeface="Microsoft Yi Baiti" panose="03000500000000000000" pitchFamily="66" charset="0"/>
                <a:ea typeface="Microsoft Yi Baiti" panose="03000500000000000000" pitchFamily="66" charset="0"/>
              </a:rPr>
              <a:t>    &lt;city&gt; Gulfport &lt;/city&gt;</a:t>
            </a:r>
          </a:p>
          <a:p>
            <a:pPr lvl="1" algn="just"/>
            <a:r>
              <a:rPr lang="en-US" sz="2000" dirty="0">
                <a:latin typeface="Microsoft Yi Baiti" panose="03000500000000000000" pitchFamily="66" charset="0"/>
                <a:ea typeface="Microsoft Yi Baiti" panose="03000500000000000000" pitchFamily="66" charset="0"/>
              </a:rPr>
              <a:t>    &lt;state&gt; Mississippi &lt;/state&gt;</a:t>
            </a:r>
          </a:p>
          <a:p>
            <a:pPr lvl="1" algn="just"/>
            <a:r>
              <a:rPr lang="en-US" sz="2000" dirty="0">
                <a:latin typeface="Microsoft Yi Baiti" panose="03000500000000000000" pitchFamily="66" charset="0"/>
                <a:ea typeface="Microsoft Yi Baiti" panose="03000500000000000000" pitchFamily="66" charset="0"/>
              </a:rPr>
              <a:t>  &lt;/location&gt;</a:t>
            </a:r>
          </a:p>
          <a:p>
            <a:pPr lvl="1" algn="just"/>
            <a:r>
              <a:rPr lang="en-US" sz="2000" dirty="0">
                <a:latin typeface="Microsoft Yi Baiti" panose="03000500000000000000" pitchFamily="66" charset="0"/>
                <a:ea typeface="Microsoft Yi Baiti" panose="03000500000000000000" pitchFamily="66" charset="0"/>
              </a:rPr>
              <a:t> &lt;/ad&gt;</a:t>
            </a:r>
          </a:p>
          <a:p>
            <a:endParaRPr lang="en-IN" dirty="0"/>
          </a:p>
          <a:p>
            <a:pPr marL="342900" indent="-342900">
              <a:buFont typeface="Arial" panose="020B0604020202020204" pitchFamily="34" charset="0"/>
              <a:buChar char="•"/>
            </a:pPr>
            <a:r>
              <a:rPr lang="en-US" sz="2000" dirty="0"/>
              <a:t>If the data in question is an image, a reference to it can only be an attribute because such a reference cannot be the content of an element</a:t>
            </a:r>
            <a:endParaRPr lang="en-IN" sz="2000" dirty="0"/>
          </a:p>
        </p:txBody>
      </p:sp>
    </p:spTree>
    <p:extLst>
      <p:ext uri="{BB962C8B-B14F-4D97-AF65-F5344CB8AC3E}">
        <p14:creationId xmlns:p14="http://schemas.microsoft.com/office/powerpoint/2010/main" val="2139155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124FF-04E2-4B42-7256-56173837860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FE02584-5184-9066-0957-A6F05A9C6FCE}"/>
              </a:ext>
            </a:extLst>
          </p:cNvPr>
          <p:cNvSpPr txBox="1"/>
          <p:nvPr/>
        </p:nvSpPr>
        <p:spPr>
          <a:xfrm>
            <a:off x="510988" y="403412"/>
            <a:ext cx="11125200" cy="3785652"/>
          </a:xfrm>
          <a:prstGeom prst="rect">
            <a:avLst/>
          </a:prstGeom>
          <a:noFill/>
        </p:spPr>
        <p:txBody>
          <a:bodyPr wrap="square" rtlCol="0">
            <a:spAutoFit/>
          </a:bodyPr>
          <a:lstStyle/>
          <a:p>
            <a:pPr algn="just"/>
            <a:r>
              <a:rPr lang="en-US" sz="2000" dirty="0"/>
              <a:t>In some cases, nested tags are better than attributes.</a:t>
            </a:r>
          </a:p>
          <a:p>
            <a:pPr algn="just"/>
            <a:endParaRPr lang="en-US" sz="2000" dirty="0"/>
          </a:p>
          <a:p>
            <a:pPr algn="just"/>
            <a:r>
              <a:rPr lang="en-US" sz="2000" dirty="0"/>
              <a:t>A nested element should be used if the data is </a:t>
            </a:r>
            <a:r>
              <a:rPr lang="en-US" sz="2000" dirty="0" err="1"/>
              <a:t>subdata</a:t>
            </a:r>
            <a:r>
              <a:rPr lang="en-US" sz="2000" dirty="0"/>
              <a:t> of the parent element’s content rather than information about the data of the parent element.</a:t>
            </a:r>
          </a:p>
          <a:p>
            <a:pPr algn="just"/>
            <a:endParaRPr lang="en-US" sz="2000" dirty="0"/>
          </a:p>
          <a:p>
            <a:pPr marL="342900" indent="-342900" algn="just">
              <a:buFont typeface="Arial" panose="020B0604020202020204" pitchFamily="34" charset="0"/>
              <a:buChar char="•"/>
            </a:pPr>
            <a:r>
              <a:rPr lang="en-US" sz="2000" dirty="0"/>
              <a:t>There is one situation in which an attribute should always be used: to identify numbers or names of elements, exactly as the </a:t>
            </a:r>
            <a:r>
              <a:rPr lang="en-US" sz="2000" dirty="0">
                <a:solidFill>
                  <a:srgbClr val="FF0000"/>
                </a:solidFill>
              </a:rPr>
              <a:t>id</a:t>
            </a:r>
            <a:r>
              <a:rPr lang="en-US" sz="2000" dirty="0"/>
              <a:t> and </a:t>
            </a:r>
            <a:r>
              <a:rPr lang="en-US" sz="2000" dirty="0">
                <a:solidFill>
                  <a:srgbClr val="FF0000"/>
                </a:solidFill>
              </a:rPr>
              <a:t>name</a:t>
            </a:r>
            <a:r>
              <a:rPr lang="en-US" sz="2000" dirty="0"/>
              <a:t> attributes are used in HTML. </a:t>
            </a:r>
          </a:p>
          <a:p>
            <a:pPr marL="342900" indent="-342900" algn="just">
              <a:buFont typeface="Arial" panose="020B0604020202020204" pitchFamily="34" charset="0"/>
              <a:buChar char="•"/>
            </a:pPr>
            <a:r>
              <a:rPr lang="en-US" sz="2000" dirty="0"/>
              <a:t>An attribute also should be used if the data in question is one value from a given set of possibilities. </a:t>
            </a:r>
          </a:p>
          <a:p>
            <a:pPr marL="342900" indent="-342900" algn="just">
              <a:buFont typeface="Arial" panose="020B0604020202020204" pitchFamily="34" charset="0"/>
              <a:buChar char="•"/>
            </a:pPr>
            <a:r>
              <a:rPr lang="en-US" sz="2000" dirty="0"/>
              <a:t>Finally, attributes should be used if there is no substructure or if it is really just information about the element.</a:t>
            </a:r>
          </a:p>
          <a:p>
            <a:pPr algn="just"/>
            <a:endParaRPr lang="en-IN" sz="2000" dirty="0">
              <a:solidFill>
                <a:srgbClr val="00B050"/>
              </a:solidFill>
            </a:endParaRPr>
          </a:p>
        </p:txBody>
      </p:sp>
      <p:sp>
        <p:nvSpPr>
          <p:cNvPr id="8" name="TextBox 7">
            <a:extLst>
              <a:ext uri="{FF2B5EF4-FFF2-40B4-BE49-F238E27FC236}">
                <a16:creationId xmlns:a16="http://schemas.microsoft.com/office/drawing/2014/main" id="{28E741C6-3324-6576-AAEA-510D8FAE141D}"/>
              </a:ext>
            </a:extLst>
          </p:cNvPr>
          <p:cNvSpPr txBox="1"/>
          <p:nvPr/>
        </p:nvSpPr>
        <p:spPr>
          <a:xfrm>
            <a:off x="815788" y="3871062"/>
            <a:ext cx="10408024" cy="5355312"/>
          </a:xfrm>
          <a:prstGeom prst="rect">
            <a:avLst/>
          </a:prstGeom>
          <a:noFill/>
        </p:spPr>
        <p:txBody>
          <a:bodyPr wrap="square" numCol="2">
            <a:spAutoFit/>
          </a:bodyPr>
          <a:lstStyle/>
          <a:p>
            <a:pPr algn="just"/>
            <a:r>
              <a:rPr lang="en-US" sz="1800" dirty="0">
                <a:solidFill>
                  <a:srgbClr val="FF0000"/>
                </a:solidFill>
              </a:rPr>
              <a:t>&lt;!-- A tag with one attribute --&gt;</a:t>
            </a:r>
          </a:p>
          <a:p>
            <a:pPr algn="just"/>
            <a:r>
              <a:rPr lang="en-US" sz="1800" dirty="0">
                <a:solidFill>
                  <a:srgbClr val="FF0000"/>
                </a:solidFill>
              </a:rPr>
              <a:t> &lt;patient name = "Maggie Dee Magpie"&gt;</a:t>
            </a:r>
          </a:p>
          <a:p>
            <a:pPr algn="just"/>
            <a:r>
              <a:rPr lang="en-US" sz="1800" dirty="0">
                <a:solidFill>
                  <a:srgbClr val="FF0000"/>
                </a:solidFill>
              </a:rPr>
              <a:t>  ...</a:t>
            </a:r>
          </a:p>
          <a:p>
            <a:pPr algn="just"/>
            <a:r>
              <a:rPr lang="en-US" sz="1800" dirty="0">
                <a:solidFill>
                  <a:srgbClr val="FF0000"/>
                </a:solidFill>
              </a:rPr>
              <a:t> &lt;/patient&gt;</a:t>
            </a:r>
          </a:p>
          <a:p>
            <a:pPr algn="just"/>
            <a:r>
              <a:rPr lang="en-US" sz="1800" dirty="0">
                <a:solidFill>
                  <a:srgbClr val="002060"/>
                </a:solidFill>
              </a:rPr>
              <a:t> &lt;!-- A tag with one nested tag --&gt;</a:t>
            </a:r>
          </a:p>
          <a:p>
            <a:pPr algn="just"/>
            <a:r>
              <a:rPr lang="en-US" sz="1800" dirty="0">
                <a:solidFill>
                  <a:srgbClr val="002060"/>
                </a:solidFill>
              </a:rPr>
              <a:t> &lt;patient&gt;</a:t>
            </a:r>
          </a:p>
          <a:p>
            <a:pPr algn="just"/>
            <a:r>
              <a:rPr lang="en-US" sz="1800" dirty="0">
                <a:solidFill>
                  <a:srgbClr val="002060"/>
                </a:solidFill>
              </a:rPr>
              <a:t>  &lt;name&gt; Maggie Dee Magpie &lt;/name&gt;</a:t>
            </a:r>
          </a:p>
          <a:p>
            <a:pPr algn="just"/>
            <a:r>
              <a:rPr lang="en-US" sz="1800" dirty="0">
                <a:solidFill>
                  <a:srgbClr val="002060"/>
                </a:solidFill>
              </a:rPr>
              <a:t>  ...</a:t>
            </a:r>
          </a:p>
          <a:p>
            <a:pPr algn="just"/>
            <a:r>
              <a:rPr lang="en-US" sz="1800" dirty="0">
                <a:solidFill>
                  <a:srgbClr val="002060"/>
                </a:solidFill>
              </a:rPr>
              <a:t> &lt;/patient&gt;</a:t>
            </a:r>
          </a:p>
          <a:p>
            <a:pPr algn="just"/>
            <a:endParaRPr lang="en-US" sz="1800" dirty="0"/>
          </a:p>
          <a:p>
            <a:pPr algn="just"/>
            <a:endParaRPr lang="en-US" dirty="0"/>
          </a:p>
          <a:p>
            <a:pPr algn="just"/>
            <a:endParaRPr lang="en-US" sz="1800" dirty="0"/>
          </a:p>
          <a:p>
            <a:pPr algn="just"/>
            <a:endParaRPr lang="en-US" dirty="0"/>
          </a:p>
          <a:p>
            <a:pPr algn="just"/>
            <a:endParaRPr lang="en-US" sz="1800" dirty="0"/>
          </a:p>
          <a:p>
            <a:pPr algn="just"/>
            <a:endParaRPr lang="en-US" dirty="0"/>
          </a:p>
          <a:p>
            <a:pPr algn="just"/>
            <a:endParaRPr lang="en-US" sz="1800" dirty="0"/>
          </a:p>
          <a:p>
            <a:pPr algn="just"/>
            <a:endParaRPr lang="en-US" dirty="0"/>
          </a:p>
          <a:p>
            <a:pPr algn="just"/>
            <a:endParaRPr lang="en-US" sz="1800" dirty="0"/>
          </a:p>
          <a:p>
            <a:pPr algn="just"/>
            <a:endParaRPr lang="en-US" dirty="0"/>
          </a:p>
          <a:p>
            <a:pPr algn="just"/>
            <a:r>
              <a:rPr lang="en-US" sz="1800" dirty="0"/>
              <a:t> </a:t>
            </a:r>
            <a:r>
              <a:rPr lang="en-US" sz="1800" dirty="0">
                <a:solidFill>
                  <a:srgbClr val="00B050"/>
                </a:solidFill>
              </a:rPr>
              <a:t>&lt;!-- A tag with one nested tag, which contains three nested tags --&gt;</a:t>
            </a:r>
          </a:p>
          <a:p>
            <a:pPr algn="just"/>
            <a:r>
              <a:rPr lang="en-US" sz="1800" dirty="0">
                <a:solidFill>
                  <a:srgbClr val="00B050"/>
                </a:solidFill>
              </a:rPr>
              <a:t> &lt;patient&gt;</a:t>
            </a:r>
          </a:p>
          <a:p>
            <a:pPr algn="just"/>
            <a:r>
              <a:rPr lang="en-US" sz="1800" dirty="0">
                <a:solidFill>
                  <a:srgbClr val="00B050"/>
                </a:solidFill>
              </a:rPr>
              <a:t>  &lt;name&gt;</a:t>
            </a:r>
          </a:p>
          <a:p>
            <a:pPr algn="just"/>
            <a:r>
              <a:rPr lang="en-US" sz="1800" dirty="0">
                <a:solidFill>
                  <a:srgbClr val="00B050"/>
                </a:solidFill>
              </a:rPr>
              <a:t>    &lt;first&gt; Maggie &lt;/first&gt;</a:t>
            </a:r>
          </a:p>
          <a:p>
            <a:pPr algn="just"/>
            <a:r>
              <a:rPr lang="en-US" sz="1800" dirty="0">
                <a:solidFill>
                  <a:srgbClr val="00B050"/>
                </a:solidFill>
              </a:rPr>
              <a:t>    &lt;middle&gt; Dee &lt;/middle&gt;</a:t>
            </a:r>
          </a:p>
          <a:p>
            <a:pPr algn="just"/>
            <a:r>
              <a:rPr lang="en-US" sz="1800" dirty="0">
                <a:solidFill>
                  <a:srgbClr val="00B050"/>
                </a:solidFill>
              </a:rPr>
              <a:t>    &lt;last&gt; Magpie &lt;/last&gt;</a:t>
            </a:r>
          </a:p>
          <a:p>
            <a:pPr algn="just"/>
            <a:r>
              <a:rPr lang="en-US" sz="1800" dirty="0">
                <a:solidFill>
                  <a:srgbClr val="00B050"/>
                </a:solidFill>
              </a:rPr>
              <a:t>  &lt;/name&gt;</a:t>
            </a:r>
          </a:p>
          <a:p>
            <a:pPr algn="just"/>
            <a:r>
              <a:rPr lang="en-US" sz="1800" dirty="0">
                <a:solidFill>
                  <a:srgbClr val="00B050"/>
                </a:solidFill>
              </a:rPr>
              <a:t>  ...</a:t>
            </a:r>
          </a:p>
          <a:p>
            <a:pPr algn="just"/>
            <a:r>
              <a:rPr lang="en-US" sz="1800" dirty="0">
                <a:solidFill>
                  <a:srgbClr val="00B050"/>
                </a:solidFill>
              </a:rPr>
              <a:t> &lt;/patient&gt;</a:t>
            </a:r>
            <a:endParaRPr lang="en-IN" dirty="0"/>
          </a:p>
        </p:txBody>
      </p:sp>
    </p:spTree>
    <p:extLst>
      <p:ext uri="{BB962C8B-B14F-4D97-AF65-F5344CB8AC3E}">
        <p14:creationId xmlns:p14="http://schemas.microsoft.com/office/powerpoint/2010/main" val="2698782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1078F-A54C-EBC6-F3A1-BA19EA73C1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8F26F0D-022C-F951-721B-E3880E2E76D0}"/>
              </a:ext>
            </a:extLst>
          </p:cNvPr>
          <p:cNvSpPr txBox="1"/>
          <p:nvPr/>
        </p:nvSpPr>
        <p:spPr>
          <a:xfrm>
            <a:off x="510988" y="403412"/>
            <a:ext cx="11125200" cy="5940088"/>
          </a:xfrm>
          <a:prstGeom prst="rect">
            <a:avLst/>
          </a:prstGeom>
          <a:noFill/>
        </p:spPr>
        <p:txBody>
          <a:bodyPr wrap="square" rtlCol="0">
            <a:spAutoFit/>
          </a:bodyPr>
          <a:lstStyle/>
          <a:p>
            <a:r>
              <a:rPr lang="en-IN" sz="2400" b="1" dirty="0"/>
              <a:t>3 XML Document Structure</a:t>
            </a:r>
            <a:endParaRPr lang="en-US" sz="2400" b="1" dirty="0"/>
          </a:p>
          <a:p>
            <a:endParaRPr lang="en-US" dirty="0"/>
          </a:p>
          <a:p>
            <a:pPr marL="342900" indent="-342900" algn="just">
              <a:buFont typeface="Arial" panose="020B0604020202020204" pitchFamily="34" charset="0"/>
              <a:buChar char="•"/>
            </a:pPr>
            <a:r>
              <a:rPr lang="en-US" sz="2000" dirty="0"/>
              <a:t>An XML document often uses two auxiliary files: one that defines its tag set and structural syntactic rules and one that contains a style sheet to describe how the content of the document is to be printed or displayed.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The structural syntactic rules are given as either a DTD or an XML schema.</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An XML document consists of one or more entities, which are logically related collections of information, ranging in size from a single character to a chapter of a book. </a:t>
            </a:r>
          </a:p>
          <a:p>
            <a:pPr marL="342900" indent="-342900" algn="just">
              <a:buFont typeface="Arial" panose="020B0604020202020204" pitchFamily="34" charset="0"/>
              <a:buChar char="•"/>
            </a:pPr>
            <a:r>
              <a:rPr lang="en-US" sz="2000" dirty="0"/>
              <a:t>One of these entities, called the document entity, is always physically in the file that represents the document. </a:t>
            </a:r>
          </a:p>
          <a:p>
            <a:pPr marL="342900" indent="-342900" algn="just">
              <a:buFont typeface="Arial" panose="020B0604020202020204" pitchFamily="34" charset="0"/>
              <a:buChar char="•"/>
            </a:pPr>
            <a:r>
              <a:rPr lang="en-US" sz="2000" dirty="0"/>
              <a:t>The document entity can be the entire document, but in many cases, it includes references to the names of entities that are stored elsewhere.</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For example, the document entity for a technical article might contain the beginning material and ending material but have references to the article body sections, which are entities stored in separate files.</a:t>
            </a:r>
          </a:p>
          <a:p>
            <a:endParaRPr lang="en-IN" dirty="0"/>
          </a:p>
        </p:txBody>
      </p:sp>
    </p:spTree>
    <p:extLst>
      <p:ext uri="{BB962C8B-B14F-4D97-AF65-F5344CB8AC3E}">
        <p14:creationId xmlns:p14="http://schemas.microsoft.com/office/powerpoint/2010/main" val="4477594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9457E-46B5-1227-6101-E3A2725A71E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D89AD2A-97B2-AD2B-D29F-4BFC8F352B12}"/>
              </a:ext>
            </a:extLst>
          </p:cNvPr>
          <p:cNvSpPr txBox="1"/>
          <p:nvPr/>
        </p:nvSpPr>
        <p:spPr>
          <a:xfrm>
            <a:off x="466165" y="107576"/>
            <a:ext cx="11125200" cy="6247864"/>
          </a:xfrm>
          <a:prstGeom prst="rect">
            <a:avLst/>
          </a:prstGeom>
          <a:noFill/>
        </p:spPr>
        <p:txBody>
          <a:bodyPr wrap="square" rtlCol="0">
            <a:spAutoFit/>
          </a:bodyPr>
          <a:lstStyle/>
          <a:p>
            <a:r>
              <a:rPr lang="en-US" sz="2400" dirty="0"/>
              <a:t>Continued…</a:t>
            </a:r>
          </a:p>
          <a:p>
            <a:endParaRPr lang="en-US" dirty="0"/>
          </a:p>
          <a:p>
            <a:pPr marL="342900" indent="-342900" algn="just">
              <a:buFont typeface="Arial" panose="020B0604020202020204" pitchFamily="34" charset="0"/>
              <a:buChar char="•"/>
            </a:pPr>
            <a:r>
              <a:rPr lang="en-US" sz="2000" dirty="0"/>
              <a:t>Entity names can be any length. They must begin with a letter, a dash, or a colon. </a:t>
            </a:r>
          </a:p>
          <a:p>
            <a:pPr marL="342900" indent="-342900" algn="just">
              <a:buFont typeface="Arial" panose="020B0604020202020204" pitchFamily="34" charset="0"/>
              <a:buChar char="•"/>
            </a:pPr>
            <a:r>
              <a:rPr lang="en-US" sz="2000" dirty="0"/>
              <a:t>After the first character, a name can have letters, digits, periods, dashes, underscores, or colons. </a:t>
            </a:r>
          </a:p>
          <a:p>
            <a:pPr marL="342900" indent="-342900" algn="just">
              <a:buFont typeface="Arial" panose="020B0604020202020204" pitchFamily="34" charset="0"/>
              <a:buChar char="•"/>
            </a:pPr>
            <a:r>
              <a:rPr lang="en-US" sz="2000" dirty="0"/>
              <a:t>A </a:t>
            </a:r>
            <a:r>
              <a:rPr lang="en-US" sz="2000" dirty="0">
                <a:solidFill>
                  <a:srgbClr val="FF0000"/>
                </a:solidFill>
              </a:rPr>
              <a:t>reference</a:t>
            </a:r>
            <a:r>
              <a:rPr lang="en-US" sz="2000" dirty="0"/>
              <a:t> to an entity is its name together with a prepended ampersand and an appended semicolon. </a:t>
            </a:r>
          </a:p>
          <a:p>
            <a:pPr marL="342900" indent="-342900" algn="just">
              <a:buFont typeface="Arial" panose="020B0604020202020204" pitchFamily="34" charset="0"/>
              <a:buChar char="•"/>
            </a:pPr>
            <a:r>
              <a:rPr lang="en-US" sz="2000" dirty="0"/>
              <a:t>For example, if </a:t>
            </a:r>
            <a:r>
              <a:rPr lang="en-US" sz="2000" dirty="0" err="1"/>
              <a:t>apple_image</a:t>
            </a:r>
            <a:r>
              <a:rPr lang="en-US" sz="2000" dirty="0"/>
              <a:t> is the name of an entity, &amp;</a:t>
            </a:r>
            <a:r>
              <a:rPr lang="en-US" sz="2000" dirty="0" err="1"/>
              <a:t>apple_image</a:t>
            </a:r>
            <a:r>
              <a:rPr lang="en-US" sz="2000" dirty="0"/>
              <a:t>; is a reference to it.</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pic>
        <p:nvPicPr>
          <p:cNvPr id="4" name="Picture 3">
            <a:extLst>
              <a:ext uri="{FF2B5EF4-FFF2-40B4-BE49-F238E27FC236}">
                <a16:creationId xmlns:a16="http://schemas.microsoft.com/office/drawing/2014/main" id="{1883CBB8-EF40-2739-2FDC-048397E23AE5}"/>
              </a:ext>
            </a:extLst>
          </p:cNvPr>
          <p:cNvPicPr>
            <a:picLocks noChangeAspect="1"/>
          </p:cNvPicPr>
          <p:nvPr/>
        </p:nvPicPr>
        <p:blipFill>
          <a:blip r:embed="rId2"/>
          <a:stretch>
            <a:fillRect/>
          </a:stretch>
        </p:blipFill>
        <p:spPr>
          <a:xfrm>
            <a:off x="3581069" y="2352129"/>
            <a:ext cx="4585778" cy="4003311"/>
          </a:xfrm>
          <a:prstGeom prst="rect">
            <a:avLst/>
          </a:prstGeom>
        </p:spPr>
      </p:pic>
    </p:spTree>
    <p:extLst>
      <p:ext uri="{BB962C8B-B14F-4D97-AF65-F5344CB8AC3E}">
        <p14:creationId xmlns:p14="http://schemas.microsoft.com/office/powerpoint/2010/main" val="22573834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72371-E071-03AC-821B-FC5C9BA82BF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B8A2637-697E-4256-E2FA-1A2F12F68350}"/>
              </a:ext>
            </a:extLst>
          </p:cNvPr>
          <p:cNvSpPr txBox="1"/>
          <p:nvPr/>
        </p:nvSpPr>
        <p:spPr>
          <a:xfrm>
            <a:off x="510988" y="403412"/>
            <a:ext cx="11125200" cy="8956298"/>
          </a:xfrm>
          <a:prstGeom prst="rect">
            <a:avLst/>
          </a:prstGeom>
          <a:noFill/>
        </p:spPr>
        <p:txBody>
          <a:bodyPr wrap="square" rtlCol="0">
            <a:spAutoFit/>
          </a:bodyPr>
          <a:lstStyle/>
          <a:p>
            <a:r>
              <a:rPr lang="en-US" sz="2400" dirty="0"/>
              <a:t>Continued…</a:t>
            </a:r>
          </a:p>
          <a:p>
            <a:endParaRPr lang="en-US" dirty="0"/>
          </a:p>
          <a:p>
            <a:pPr marL="342900" indent="-342900" algn="just">
              <a:buFont typeface="Arial" panose="020B0604020202020204" pitchFamily="34" charset="0"/>
              <a:buChar char="•"/>
            </a:pPr>
            <a:r>
              <a:rPr lang="en-US" sz="2000" dirty="0"/>
              <a:t>When several predefined entities must appear near each other in an XML document, their references clutter the content and make it difficult to read. </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In such cases, a </a:t>
            </a:r>
            <a:r>
              <a:rPr lang="en-US" sz="2000" dirty="0">
                <a:solidFill>
                  <a:srgbClr val="FF0000"/>
                </a:solidFill>
              </a:rPr>
              <a:t>character data section </a:t>
            </a:r>
            <a:r>
              <a:rPr lang="en-US" sz="2000" dirty="0"/>
              <a:t>can be used. The </a:t>
            </a:r>
            <a:r>
              <a:rPr lang="en-US" sz="2000" dirty="0">
                <a:solidFill>
                  <a:srgbClr val="FF00FF"/>
                </a:solidFill>
              </a:rPr>
              <a:t>content of a character data section is not parsed by the XML parser</a:t>
            </a:r>
            <a:r>
              <a:rPr lang="en-US" sz="2000" dirty="0"/>
              <a:t>, so any tags it may include are not recognized as tags.</a:t>
            </a:r>
          </a:p>
          <a:p>
            <a:pPr algn="just"/>
            <a:endParaRPr lang="en-US" sz="2000" dirty="0"/>
          </a:p>
          <a:p>
            <a:pPr lvl="1" algn="just"/>
            <a:r>
              <a:rPr lang="en-US" sz="2000" dirty="0"/>
              <a:t> &lt;![CDATA[ content ]]&gt;</a:t>
            </a:r>
          </a:p>
          <a:p>
            <a:pPr lvl="1" algn="just"/>
            <a:endParaRPr lang="en-US" sz="2000" dirty="0"/>
          </a:p>
          <a:p>
            <a:pPr lvl="1" algn="just"/>
            <a:r>
              <a:rPr lang="en-US" sz="2000" dirty="0"/>
              <a:t> For example, instead of</a:t>
            </a:r>
          </a:p>
          <a:p>
            <a:pPr lvl="1" algn="just"/>
            <a:r>
              <a:rPr lang="en-US" sz="2000" dirty="0"/>
              <a:t> 	The last word of the line is &amp;</a:t>
            </a:r>
            <a:r>
              <a:rPr lang="en-US" sz="2000" dirty="0" err="1"/>
              <a:t>gt</a:t>
            </a:r>
            <a:r>
              <a:rPr lang="en-US" sz="2000" dirty="0"/>
              <a:t>;&amp;</a:t>
            </a:r>
            <a:r>
              <a:rPr lang="en-US" sz="2000" dirty="0" err="1"/>
              <a:t>gt</a:t>
            </a:r>
            <a:r>
              <a:rPr lang="en-US" sz="2000" dirty="0"/>
              <a:t>;&amp;</a:t>
            </a:r>
            <a:r>
              <a:rPr lang="en-US" sz="2000" dirty="0" err="1"/>
              <a:t>gt</a:t>
            </a:r>
            <a:r>
              <a:rPr lang="en-US" sz="2000" dirty="0"/>
              <a:t>; here &amp;it;&amp;it;&amp;it;.</a:t>
            </a:r>
          </a:p>
          <a:p>
            <a:pPr lvl="1" algn="just"/>
            <a:r>
              <a:rPr lang="en-US" sz="2000" dirty="0"/>
              <a:t> the following could be used:</a:t>
            </a:r>
          </a:p>
          <a:p>
            <a:pPr lvl="1" algn="just"/>
            <a:r>
              <a:rPr lang="en-US" sz="2000" dirty="0"/>
              <a:t> 	&lt;![CDATA[The last word of the line is &gt;&gt;&gt; here &lt;&lt;&lt;]]&gt;</a:t>
            </a:r>
          </a:p>
          <a:p>
            <a:pPr algn="just"/>
            <a:endParaRPr lang="en-US" sz="2000" dirty="0"/>
          </a:p>
          <a:p>
            <a:pPr algn="just"/>
            <a:r>
              <a:rPr lang="en-US" sz="2000" dirty="0"/>
              <a:t>Because the content of a character data section is not parsed by the XML parser, any entity references that are included are not expanded.</a:t>
            </a:r>
          </a:p>
          <a:p>
            <a:pPr algn="just"/>
            <a:r>
              <a:rPr lang="en-US" sz="2000" dirty="0"/>
              <a:t>	&lt;![CDATA[The form of a tag is &amp;</a:t>
            </a:r>
            <a:r>
              <a:rPr lang="en-US" sz="2000" dirty="0" err="1"/>
              <a:t>it;tag</a:t>
            </a:r>
            <a:r>
              <a:rPr lang="en-US" sz="2000" dirty="0"/>
              <a:t> </a:t>
            </a:r>
            <a:r>
              <a:rPr lang="en-US" sz="2000" dirty="0" err="1"/>
              <a:t>name&amp;gt</a:t>
            </a:r>
            <a:r>
              <a:rPr lang="en-US" sz="2000" dirty="0"/>
              <a:t>;]]&gt;</a:t>
            </a:r>
          </a:p>
          <a:p>
            <a:pPr algn="just"/>
            <a:r>
              <a:rPr lang="en-US" sz="2000" dirty="0"/>
              <a:t>	 The form of a tag is &amp;</a:t>
            </a:r>
            <a:r>
              <a:rPr lang="en-US" sz="2000" dirty="0" err="1"/>
              <a:t>it;tag</a:t>
            </a:r>
            <a:r>
              <a:rPr lang="en-US" sz="2000" dirty="0"/>
              <a:t> </a:t>
            </a:r>
            <a:r>
              <a:rPr lang="en-US" sz="2000" dirty="0" err="1"/>
              <a:t>name&amp;gt</a:t>
            </a:r>
            <a:r>
              <a:rPr lang="en-US" sz="2000" dirty="0"/>
              <a:t>; - </a:t>
            </a:r>
            <a:r>
              <a:rPr lang="en-US" sz="2000" dirty="0">
                <a:solidFill>
                  <a:srgbClr val="FF0000"/>
                </a:solidFill>
              </a:rPr>
              <a:t>same is printed which is there in the tag</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7553258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31E10-5E35-B9E9-BAD3-BC61A6EEA6F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0572C8F-A706-02E2-0A8A-3346E50D0DFC}"/>
              </a:ext>
            </a:extLst>
          </p:cNvPr>
          <p:cNvSpPr txBox="1"/>
          <p:nvPr/>
        </p:nvSpPr>
        <p:spPr>
          <a:xfrm>
            <a:off x="510988" y="403412"/>
            <a:ext cx="11125200" cy="9325630"/>
          </a:xfrm>
          <a:prstGeom prst="rect">
            <a:avLst/>
          </a:prstGeom>
          <a:noFill/>
        </p:spPr>
        <p:txBody>
          <a:bodyPr wrap="square" rtlCol="0">
            <a:spAutoFit/>
          </a:bodyPr>
          <a:lstStyle/>
          <a:p>
            <a:r>
              <a:rPr lang="en-IN" sz="2400" b="1" dirty="0"/>
              <a:t>4 Document Type Definitions</a:t>
            </a:r>
            <a:endParaRPr lang="en-US" sz="2400" b="1" dirty="0"/>
          </a:p>
          <a:p>
            <a:endParaRPr lang="en-US" dirty="0"/>
          </a:p>
          <a:p>
            <a:pPr marL="342900" indent="-342900" algn="just">
              <a:buFont typeface="Arial" panose="020B0604020202020204" pitchFamily="34" charset="0"/>
              <a:buChar char="•"/>
            </a:pPr>
            <a:r>
              <a:rPr lang="en-US" sz="2000" dirty="0"/>
              <a:t>A document type definition ( DTD) is a set of structural rules called declarations, which specify a set of elements and attributes that can appear in a document, as well as how and where these elements and attributes may appear.</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DTDs are used when the same tag set definition is used by a collection of documents – same as CSS</a:t>
            </a:r>
          </a:p>
          <a:p>
            <a:pPr marL="342900" indent="-342900" algn="just">
              <a:buFont typeface="Arial" panose="020B0604020202020204" pitchFamily="34" charset="0"/>
              <a:buChar char="•"/>
            </a:pPr>
            <a:endParaRPr lang="en-US" sz="2000" dirty="0"/>
          </a:p>
          <a:p>
            <a:pPr marL="342900" indent="-342900" algn="just">
              <a:buFont typeface="Arial" panose="020B0604020202020204" pitchFamily="34" charset="0"/>
              <a:buChar char="•"/>
            </a:pPr>
            <a:r>
              <a:rPr lang="en-US" sz="2000" dirty="0"/>
              <a:t>A DTD can be embedded in the XML document whose syntax rules it describes, in which case it is called an </a:t>
            </a:r>
            <a:r>
              <a:rPr lang="en-US" sz="2000" dirty="0">
                <a:solidFill>
                  <a:srgbClr val="FF0000"/>
                </a:solidFill>
              </a:rPr>
              <a:t>internal DTD</a:t>
            </a:r>
            <a:r>
              <a:rPr lang="en-US" sz="2000" dirty="0"/>
              <a:t>. </a:t>
            </a:r>
          </a:p>
          <a:p>
            <a:pPr marL="342900" indent="-342900" algn="just">
              <a:buFont typeface="Arial" panose="020B0604020202020204" pitchFamily="34" charset="0"/>
              <a:buChar char="•"/>
            </a:pPr>
            <a:r>
              <a:rPr lang="en-US" sz="2000" dirty="0"/>
              <a:t>The alternative is to have the DTD stored in a separate file, in which case it is called an </a:t>
            </a:r>
            <a:r>
              <a:rPr lang="en-US" sz="2000" dirty="0">
                <a:solidFill>
                  <a:srgbClr val="FF0000"/>
                </a:solidFill>
              </a:rPr>
              <a:t>external DTD</a:t>
            </a:r>
            <a:r>
              <a:rPr lang="en-US" sz="2000" dirty="0"/>
              <a:t>.</a:t>
            </a:r>
          </a:p>
          <a:p>
            <a:pPr algn="just"/>
            <a:endParaRPr lang="en-US" sz="2000" dirty="0"/>
          </a:p>
          <a:p>
            <a:pPr marL="800100" lvl="1" indent="-342900" algn="just">
              <a:buFont typeface="Arial" panose="020B0604020202020204" pitchFamily="34" charset="0"/>
              <a:buChar char="•"/>
            </a:pPr>
            <a:r>
              <a:rPr lang="en-US" sz="2000" dirty="0"/>
              <a:t>	Because external DTDs allow use with more than one XML document, they are preferable.</a:t>
            </a:r>
          </a:p>
          <a:p>
            <a:pPr marL="800100" lvl="1" indent="-342900" algn="just">
              <a:buFont typeface="Arial" panose="020B0604020202020204" pitchFamily="34" charset="0"/>
              <a:buChar char="•"/>
            </a:pPr>
            <a:r>
              <a:rPr lang="en-US" sz="2000" dirty="0"/>
              <a:t>	avoid two different notations from appearing in the same document. – DTD and XML</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32771825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837C3-EC32-3FE2-F16C-B125C683645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7962124-8DF3-093C-6D2A-49C1532B68C9}"/>
              </a:ext>
            </a:extLst>
          </p:cNvPr>
          <p:cNvSpPr txBox="1"/>
          <p:nvPr/>
        </p:nvSpPr>
        <p:spPr>
          <a:xfrm>
            <a:off x="510988" y="403412"/>
            <a:ext cx="11125200" cy="5940088"/>
          </a:xfrm>
          <a:prstGeom prst="rect">
            <a:avLst/>
          </a:prstGeom>
          <a:noFill/>
        </p:spPr>
        <p:txBody>
          <a:bodyPr wrap="square" rtlCol="0">
            <a:spAutoFit/>
          </a:bodyPr>
          <a:lstStyle/>
          <a:p>
            <a:r>
              <a:rPr lang="en-US" sz="2400" dirty="0"/>
              <a:t>Example Internal and External DTD</a:t>
            </a:r>
          </a:p>
          <a:p>
            <a:endParaRPr lang="en-US"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pic>
        <p:nvPicPr>
          <p:cNvPr id="4" name="Picture 3">
            <a:extLst>
              <a:ext uri="{FF2B5EF4-FFF2-40B4-BE49-F238E27FC236}">
                <a16:creationId xmlns:a16="http://schemas.microsoft.com/office/drawing/2014/main" id="{8088475D-6589-C481-775F-6E60B1CD5AC9}"/>
              </a:ext>
            </a:extLst>
          </p:cNvPr>
          <p:cNvPicPr>
            <a:picLocks noChangeAspect="1"/>
          </p:cNvPicPr>
          <p:nvPr/>
        </p:nvPicPr>
        <p:blipFill>
          <a:blip r:embed="rId2"/>
          <a:stretch>
            <a:fillRect/>
          </a:stretch>
        </p:blipFill>
        <p:spPr>
          <a:xfrm>
            <a:off x="726140" y="1224193"/>
            <a:ext cx="4509247" cy="4822253"/>
          </a:xfrm>
          <a:prstGeom prst="rect">
            <a:avLst/>
          </a:prstGeom>
        </p:spPr>
      </p:pic>
      <p:pic>
        <p:nvPicPr>
          <p:cNvPr id="5" name="Picture 4">
            <a:extLst>
              <a:ext uri="{FF2B5EF4-FFF2-40B4-BE49-F238E27FC236}">
                <a16:creationId xmlns:a16="http://schemas.microsoft.com/office/drawing/2014/main" id="{E9738AA4-19D9-5D5D-B1F4-0DF014C8B4B8}"/>
              </a:ext>
            </a:extLst>
          </p:cNvPr>
          <p:cNvPicPr>
            <a:picLocks noChangeAspect="1"/>
          </p:cNvPicPr>
          <p:nvPr/>
        </p:nvPicPr>
        <p:blipFill>
          <a:blip r:embed="rId3"/>
          <a:stretch>
            <a:fillRect/>
          </a:stretch>
        </p:blipFill>
        <p:spPr>
          <a:xfrm>
            <a:off x="6585682" y="75944"/>
            <a:ext cx="4220164" cy="3658111"/>
          </a:xfrm>
          <a:prstGeom prst="rect">
            <a:avLst/>
          </a:prstGeom>
        </p:spPr>
      </p:pic>
      <p:pic>
        <p:nvPicPr>
          <p:cNvPr id="7" name="Picture 6">
            <a:extLst>
              <a:ext uri="{FF2B5EF4-FFF2-40B4-BE49-F238E27FC236}">
                <a16:creationId xmlns:a16="http://schemas.microsoft.com/office/drawing/2014/main" id="{A5AC6047-78A4-2C71-097B-1D6990E8AC2D}"/>
              </a:ext>
            </a:extLst>
          </p:cNvPr>
          <p:cNvPicPr>
            <a:picLocks noChangeAspect="1"/>
          </p:cNvPicPr>
          <p:nvPr/>
        </p:nvPicPr>
        <p:blipFill>
          <a:blip r:embed="rId4"/>
          <a:stretch>
            <a:fillRect/>
          </a:stretch>
        </p:blipFill>
        <p:spPr>
          <a:xfrm>
            <a:off x="6604735" y="3757486"/>
            <a:ext cx="4201111" cy="2562583"/>
          </a:xfrm>
          <a:prstGeom prst="rect">
            <a:avLst/>
          </a:prstGeom>
        </p:spPr>
      </p:pic>
    </p:spTree>
    <p:extLst>
      <p:ext uri="{BB962C8B-B14F-4D97-AF65-F5344CB8AC3E}">
        <p14:creationId xmlns:p14="http://schemas.microsoft.com/office/powerpoint/2010/main" val="62636559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92865-D3E3-C89B-315E-DA078FCDDA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2B41A12-6E45-2B2C-008F-2F31BA794706}"/>
              </a:ext>
            </a:extLst>
          </p:cNvPr>
          <p:cNvSpPr txBox="1"/>
          <p:nvPr/>
        </p:nvSpPr>
        <p:spPr>
          <a:xfrm>
            <a:off x="510988" y="403412"/>
            <a:ext cx="11125200" cy="5632311"/>
          </a:xfrm>
          <a:prstGeom prst="rect">
            <a:avLst/>
          </a:prstGeom>
          <a:noFill/>
        </p:spPr>
        <p:txBody>
          <a:bodyPr wrap="square" rtlCol="0">
            <a:spAutoFit/>
          </a:bodyPr>
          <a:lstStyle/>
          <a:p>
            <a:r>
              <a:rPr lang="en-US" sz="2400" dirty="0"/>
              <a:t>Continued…</a:t>
            </a:r>
          </a:p>
          <a:p>
            <a:endParaRPr lang="en-US" dirty="0"/>
          </a:p>
          <a:p>
            <a:pPr algn="just"/>
            <a:r>
              <a:rPr lang="en-US" sz="2000" dirty="0"/>
              <a:t>Syntactically, a DTD is a sequence of declarations, each of which has the form of a markup declaration</a:t>
            </a:r>
          </a:p>
          <a:p>
            <a:pPr algn="just"/>
            <a:endParaRPr lang="en-US" sz="2000" dirty="0"/>
          </a:p>
          <a:p>
            <a:pPr algn="just"/>
            <a:r>
              <a:rPr lang="en-US" sz="2000" dirty="0"/>
              <a:t> &lt;!keyword ... &gt;</a:t>
            </a:r>
          </a:p>
          <a:p>
            <a:pPr algn="just"/>
            <a:endParaRPr lang="en-US" sz="2000" dirty="0"/>
          </a:p>
          <a:p>
            <a:pPr algn="just"/>
            <a:r>
              <a:rPr lang="en-US" sz="2000" dirty="0"/>
              <a:t>Four possible keywords can be used in a declaration: </a:t>
            </a:r>
            <a:r>
              <a:rPr lang="en-US" sz="2000" dirty="0">
                <a:solidFill>
                  <a:srgbClr val="FF0000"/>
                </a:solidFill>
              </a:rPr>
              <a:t>ELEMENT</a:t>
            </a:r>
            <a:r>
              <a:rPr lang="en-US" sz="2000" dirty="0"/>
              <a:t>, used to define tags; </a:t>
            </a:r>
            <a:r>
              <a:rPr lang="en-US" sz="2000" dirty="0">
                <a:solidFill>
                  <a:srgbClr val="FF0000"/>
                </a:solidFill>
              </a:rPr>
              <a:t>ATTLIST</a:t>
            </a:r>
            <a:r>
              <a:rPr lang="en-US" sz="2000" dirty="0"/>
              <a:t>, used to define tag attributes; </a:t>
            </a:r>
            <a:r>
              <a:rPr lang="en-US" sz="2000" dirty="0">
                <a:solidFill>
                  <a:srgbClr val="FF0000"/>
                </a:solidFill>
              </a:rPr>
              <a:t>ENTITY</a:t>
            </a:r>
            <a:r>
              <a:rPr lang="en-US" sz="2000" dirty="0"/>
              <a:t>, used to define entities; and </a:t>
            </a:r>
            <a:r>
              <a:rPr lang="en-US" sz="2000" dirty="0">
                <a:solidFill>
                  <a:srgbClr val="FF0000"/>
                </a:solidFill>
              </a:rPr>
              <a:t>NOTATION</a:t>
            </a:r>
            <a:r>
              <a:rPr lang="en-US" sz="2000" dirty="0"/>
              <a:t>, used to define data type notations.</a:t>
            </a:r>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pPr algn="just"/>
            <a:endParaRPr lang="en-US" sz="2000" dirty="0"/>
          </a:p>
          <a:p>
            <a:endParaRPr lang="en-IN" dirty="0"/>
          </a:p>
        </p:txBody>
      </p:sp>
    </p:spTree>
    <p:extLst>
      <p:ext uri="{BB962C8B-B14F-4D97-AF65-F5344CB8AC3E}">
        <p14:creationId xmlns:p14="http://schemas.microsoft.com/office/powerpoint/2010/main" val="9286599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B4409-ECFF-6ACF-3122-AAF70B126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5AFCAD-AE52-2295-4ADC-D891B987EC70}"/>
              </a:ext>
            </a:extLst>
          </p:cNvPr>
          <p:cNvSpPr>
            <a:spLocks noGrp="1"/>
          </p:cNvSpPr>
          <p:nvPr>
            <p:ph idx="1"/>
          </p:nvPr>
        </p:nvSpPr>
        <p:spPr>
          <a:xfrm>
            <a:off x="838200" y="316523"/>
            <a:ext cx="10515600" cy="6224954"/>
          </a:xfrm>
        </p:spPr>
        <p:txBody>
          <a:bodyPr>
            <a:normAutofit fontScale="92500" lnSpcReduction="10000"/>
          </a:bodyPr>
          <a:lstStyle/>
          <a:p>
            <a:r>
              <a:rPr lang="en-US" b="1" dirty="0"/>
              <a:t>JSON Format</a:t>
            </a:r>
          </a:p>
          <a:p>
            <a:pPr algn="just"/>
            <a:r>
              <a:rPr lang="en-US" dirty="0"/>
              <a:t>JSON (JavaScript Object Notation) is a lightweight data-interchange format used to store and exchange data between systems. </a:t>
            </a:r>
          </a:p>
          <a:p>
            <a:pPr algn="just"/>
            <a:r>
              <a:rPr lang="en-US" dirty="0"/>
              <a:t>It is easy for humans to read and write and easy for machines to parse and generate. </a:t>
            </a:r>
          </a:p>
          <a:p>
            <a:pPr algn="just"/>
            <a:r>
              <a:rPr lang="en-US" dirty="0"/>
              <a:t>JSON is widely used in AJAX-based web applications because it transfers data quickly and efficiently. </a:t>
            </a:r>
          </a:p>
          <a:p>
            <a:pPr algn="just"/>
            <a:r>
              <a:rPr lang="en-US" dirty="0"/>
              <a:t>It represents data using key–value pairs and supports arrays, objects, numbers, strings, Boolean values, and null values. </a:t>
            </a:r>
          </a:p>
          <a:p>
            <a:pPr algn="just"/>
            <a:r>
              <a:rPr lang="en-US" dirty="0"/>
              <a:t>JSON is language-independent, although it originated from JavaScript syntax.</a:t>
            </a:r>
          </a:p>
          <a:p>
            <a:pPr marL="914400" lvl="2" indent="0" algn="just">
              <a:buNone/>
            </a:pPr>
            <a:r>
              <a:rPr lang="en-US" dirty="0"/>
              <a:t>{</a:t>
            </a:r>
          </a:p>
          <a:p>
            <a:pPr marL="914400" lvl="2" indent="0" algn="just">
              <a:buNone/>
            </a:pPr>
            <a:r>
              <a:rPr lang="en-US" dirty="0"/>
              <a:t>  "name": "Roshan",</a:t>
            </a:r>
          </a:p>
          <a:p>
            <a:pPr marL="914400" lvl="2" indent="0" algn="just">
              <a:buNone/>
            </a:pPr>
            <a:r>
              <a:rPr lang="en-US" dirty="0"/>
              <a:t>  "age": 30,</a:t>
            </a:r>
          </a:p>
          <a:p>
            <a:pPr marL="914400" lvl="2" indent="0" algn="just">
              <a:buNone/>
            </a:pPr>
            <a:r>
              <a:rPr lang="en-US" dirty="0"/>
              <a:t>  "city": "Mangalore"</a:t>
            </a:r>
          </a:p>
          <a:p>
            <a:pPr marL="914400" lvl="2" indent="0" algn="just">
              <a:buNone/>
            </a:pPr>
            <a:r>
              <a:rPr lang="en-US" dirty="0"/>
              <a:t>}</a:t>
            </a:r>
            <a:endParaRPr lang="en-IN" dirty="0"/>
          </a:p>
        </p:txBody>
      </p:sp>
    </p:spTree>
    <p:extLst>
      <p:ext uri="{BB962C8B-B14F-4D97-AF65-F5344CB8AC3E}">
        <p14:creationId xmlns:p14="http://schemas.microsoft.com/office/powerpoint/2010/main" val="39035707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AAF5E-4E46-5CDC-6691-073F2011EBF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E1D4EE-A0B2-D792-FD90-BA6555A4CB94}"/>
              </a:ext>
            </a:extLst>
          </p:cNvPr>
          <p:cNvSpPr>
            <a:spLocks noGrp="1"/>
          </p:cNvSpPr>
          <p:nvPr>
            <p:ph idx="1"/>
          </p:nvPr>
        </p:nvSpPr>
        <p:spPr>
          <a:xfrm>
            <a:off x="838200" y="316523"/>
            <a:ext cx="10515600" cy="6224954"/>
          </a:xfrm>
        </p:spPr>
        <p:txBody>
          <a:bodyPr/>
          <a:lstStyle/>
          <a:p>
            <a:r>
              <a:rPr lang="en-US" b="1" dirty="0"/>
              <a:t>What is JSON?</a:t>
            </a:r>
          </a:p>
          <a:p>
            <a:pPr algn="just"/>
            <a:r>
              <a:rPr lang="en-US" dirty="0"/>
              <a:t>JSON is a text-based format mainly used for communication between a client and a server in web applications. </a:t>
            </a:r>
          </a:p>
          <a:p>
            <a:pPr algn="just"/>
            <a:r>
              <a:rPr lang="en-US" dirty="0"/>
              <a:t>It organizes data in a structured way using objects and arrays. </a:t>
            </a:r>
          </a:p>
          <a:p>
            <a:pPr algn="just"/>
            <a:r>
              <a:rPr lang="en-US" dirty="0"/>
              <a:t>JSON became popular because it is simpler and less verbose than XML. </a:t>
            </a:r>
          </a:p>
          <a:p>
            <a:pPr algn="just"/>
            <a:r>
              <a:rPr lang="en-US" dirty="0"/>
              <a:t>Modern web APIs and AJAX applications commonly use JSON for sending and receiving data. </a:t>
            </a:r>
          </a:p>
          <a:p>
            <a:pPr algn="just"/>
            <a:r>
              <a:rPr lang="en-US" dirty="0"/>
              <a:t>JSON files usually use the .</a:t>
            </a:r>
            <a:r>
              <a:rPr lang="en-US" dirty="0" err="1"/>
              <a:t>json</a:t>
            </a:r>
            <a:r>
              <a:rPr lang="en-US" dirty="0"/>
              <a:t> extension and MIME type application/</a:t>
            </a:r>
            <a:r>
              <a:rPr lang="en-US" dirty="0" err="1"/>
              <a:t>json</a:t>
            </a:r>
            <a:r>
              <a:rPr lang="en-US" dirty="0"/>
              <a:t>.</a:t>
            </a:r>
          </a:p>
          <a:p>
            <a:pPr algn="just"/>
            <a:endParaRPr lang="en-IN" dirty="0"/>
          </a:p>
        </p:txBody>
      </p:sp>
    </p:spTree>
    <p:extLst>
      <p:ext uri="{BB962C8B-B14F-4D97-AF65-F5344CB8AC3E}">
        <p14:creationId xmlns:p14="http://schemas.microsoft.com/office/powerpoint/2010/main" val="1866127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65895-11B7-7801-5E6A-EF7CEC7655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89DD6B-A137-9788-B0EF-5C4A5E654493}"/>
              </a:ext>
            </a:extLst>
          </p:cNvPr>
          <p:cNvSpPr>
            <a:spLocks noGrp="1"/>
          </p:cNvSpPr>
          <p:nvPr>
            <p:ph idx="1"/>
          </p:nvPr>
        </p:nvSpPr>
        <p:spPr>
          <a:xfrm>
            <a:off x="838200" y="316523"/>
            <a:ext cx="10515600" cy="6224954"/>
          </a:xfrm>
        </p:spPr>
        <p:txBody>
          <a:bodyPr>
            <a:normAutofit lnSpcReduction="10000"/>
          </a:bodyPr>
          <a:lstStyle/>
          <a:p>
            <a:r>
              <a:rPr lang="en-US" b="1" dirty="0"/>
              <a:t>Array Literals</a:t>
            </a:r>
          </a:p>
          <a:p>
            <a:pPr algn="just"/>
            <a:r>
              <a:rPr lang="en-US" dirty="0"/>
              <a:t>An array literal in JSON is a collection of values enclosed within square brackets [ ]. </a:t>
            </a:r>
          </a:p>
          <a:p>
            <a:pPr algn="just"/>
            <a:r>
              <a:rPr lang="en-US" dirty="0"/>
              <a:t>Arrays can contain strings, numbers, objects, Boolean values, or even other arrays. </a:t>
            </a:r>
          </a:p>
          <a:p>
            <a:pPr algn="just"/>
            <a:r>
              <a:rPr lang="en-US" dirty="0"/>
              <a:t>They are used when multiple related values need to be stored together. </a:t>
            </a:r>
          </a:p>
          <a:p>
            <a:pPr algn="just"/>
            <a:r>
              <a:rPr lang="en-US" dirty="0"/>
              <a:t>The values inside the array are separated by commas. </a:t>
            </a:r>
          </a:p>
          <a:p>
            <a:pPr algn="just"/>
            <a:r>
              <a:rPr lang="en-US" dirty="0"/>
              <a:t>Arrays help in representing lists of data efficiently.</a:t>
            </a:r>
          </a:p>
          <a:p>
            <a:pPr algn="just"/>
            <a:r>
              <a:rPr lang="en-IN" dirty="0"/>
              <a:t>Example:</a:t>
            </a:r>
          </a:p>
          <a:p>
            <a:pPr marL="457200" lvl="1" indent="0" algn="just">
              <a:buNone/>
            </a:pPr>
            <a:r>
              <a:rPr lang="en-IN" dirty="0"/>
              <a:t>["Red", "Blue", "Green", "Yellow"]</a:t>
            </a:r>
          </a:p>
          <a:p>
            <a:pPr marL="457200" lvl="1" indent="0" algn="just">
              <a:buNone/>
            </a:pPr>
            <a:endParaRPr lang="en-IN" dirty="0"/>
          </a:p>
          <a:p>
            <a:pPr marL="457200" lvl="1" indent="0" algn="just">
              <a:buNone/>
            </a:pPr>
            <a:r>
              <a:rPr lang="en-US" dirty="0"/>
              <a:t>{</a:t>
            </a:r>
          </a:p>
          <a:p>
            <a:pPr marL="457200" lvl="1" indent="0" algn="just">
              <a:buNone/>
            </a:pPr>
            <a:r>
              <a:rPr lang="en-US" dirty="0"/>
              <a:t>  "marks": [85, 90, 78, 88]</a:t>
            </a:r>
          </a:p>
          <a:p>
            <a:pPr marL="457200" lvl="1" indent="0" algn="just">
              <a:buNone/>
            </a:pPr>
            <a:r>
              <a:rPr lang="en-US" dirty="0"/>
              <a:t>}</a:t>
            </a:r>
            <a:endParaRPr lang="en-IN" dirty="0"/>
          </a:p>
        </p:txBody>
      </p:sp>
    </p:spTree>
    <p:extLst>
      <p:ext uri="{BB962C8B-B14F-4D97-AF65-F5344CB8AC3E}">
        <p14:creationId xmlns:p14="http://schemas.microsoft.com/office/powerpoint/2010/main" val="33234438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03EEE-43E6-A424-9BF7-8D50C578C1A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16F2C1-E8BD-2272-8D26-9309656934C4}"/>
              </a:ext>
            </a:extLst>
          </p:cNvPr>
          <p:cNvSpPr>
            <a:spLocks noGrp="1"/>
          </p:cNvSpPr>
          <p:nvPr>
            <p:ph idx="1"/>
          </p:nvPr>
        </p:nvSpPr>
        <p:spPr>
          <a:xfrm>
            <a:off x="838200" y="316523"/>
            <a:ext cx="10515600" cy="6224954"/>
          </a:xfrm>
        </p:spPr>
        <p:txBody>
          <a:bodyPr/>
          <a:lstStyle/>
          <a:p>
            <a:r>
              <a:rPr lang="en-US" b="1" dirty="0"/>
              <a:t>Object Literals</a:t>
            </a:r>
          </a:p>
          <a:p>
            <a:pPr algn="just"/>
            <a:r>
              <a:rPr lang="en-US" dirty="0"/>
              <a:t>Object literals in JSON are collections of key–value pairs enclosed within curly braces { }. </a:t>
            </a:r>
          </a:p>
          <a:p>
            <a:pPr algn="just"/>
            <a:r>
              <a:rPr lang="en-US" dirty="0"/>
              <a:t>Each key is written as a string followed by a colon and its corresponding value. </a:t>
            </a:r>
          </a:p>
          <a:p>
            <a:pPr algn="just"/>
            <a:r>
              <a:rPr lang="en-US" dirty="0"/>
              <a:t>Objects are used to represent real-world entities such as students, employees, or products. </a:t>
            </a:r>
          </a:p>
          <a:p>
            <a:pPr algn="just"/>
            <a:r>
              <a:rPr lang="en-US" dirty="0"/>
              <a:t>Multiple key–value pairs are separated using commas. </a:t>
            </a:r>
          </a:p>
          <a:p>
            <a:pPr algn="just"/>
            <a:r>
              <a:rPr lang="en-US" dirty="0"/>
              <a:t>Object literals form the basic structure of JSON data.</a:t>
            </a:r>
          </a:p>
          <a:p>
            <a:pPr lvl="2" algn="just"/>
            <a:r>
              <a:rPr lang="en-US" dirty="0"/>
              <a:t>{</a:t>
            </a:r>
          </a:p>
          <a:p>
            <a:pPr lvl="2" algn="just"/>
            <a:r>
              <a:rPr lang="en-US" dirty="0"/>
              <a:t>  "id": 101,</a:t>
            </a:r>
          </a:p>
          <a:p>
            <a:pPr lvl="2" algn="just"/>
            <a:r>
              <a:rPr lang="en-US" dirty="0"/>
              <a:t>  "name": "Anita",</a:t>
            </a:r>
          </a:p>
          <a:p>
            <a:pPr lvl="2" algn="just"/>
            <a:r>
              <a:rPr lang="en-US" dirty="0"/>
              <a:t>  "department": "Computer Science"</a:t>
            </a:r>
          </a:p>
          <a:p>
            <a:pPr lvl="2" algn="just"/>
            <a:r>
              <a:rPr lang="en-US" dirty="0"/>
              <a:t>}</a:t>
            </a:r>
          </a:p>
          <a:p>
            <a:pPr algn="just"/>
            <a:endParaRPr lang="en-US" dirty="0"/>
          </a:p>
          <a:p>
            <a:pPr algn="just"/>
            <a:endParaRPr lang="en-US" dirty="0"/>
          </a:p>
          <a:p>
            <a:pPr algn="just"/>
            <a:endParaRPr lang="en-US" dirty="0"/>
          </a:p>
          <a:p>
            <a:pPr algn="just"/>
            <a:endParaRPr lang="en-IN" dirty="0"/>
          </a:p>
        </p:txBody>
      </p:sp>
    </p:spTree>
    <p:extLst>
      <p:ext uri="{BB962C8B-B14F-4D97-AF65-F5344CB8AC3E}">
        <p14:creationId xmlns:p14="http://schemas.microsoft.com/office/powerpoint/2010/main" val="26563915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C02A7-C63F-4C16-EA6E-DF3690C461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FB5D7F-00FC-783C-297E-4578C5ACA43D}"/>
              </a:ext>
            </a:extLst>
          </p:cNvPr>
          <p:cNvSpPr>
            <a:spLocks noGrp="1"/>
          </p:cNvSpPr>
          <p:nvPr>
            <p:ph idx="1"/>
          </p:nvPr>
        </p:nvSpPr>
        <p:spPr>
          <a:xfrm>
            <a:off x="838200" y="316523"/>
            <a:ext cx="10515600" cy="6224954"/>
          </a:xfrm>
        </p:spPr>
        <p:txBody>
          <a:bodyPr>
            <a:normAutofit fontScale="85000" lnSpcReduction="20000"/>
          </a:bodyPr>
          <a:lstStyle/>
          <a:p>
            <a:r>
              <a:rPr lang="en-US" b="1" dirty="0"/>
              <a:t>Mixing Literals</a:t>
            </a:r>
          </a:p>
          <a:p>
            <a:pPr algn="just"/>
            <a:r>
              <a:rPr lang="en-US" dirty="0"/>
              <a:t>Mixing literals means combining arrays and objects together within the same JSON structure. </a:t>
            </a:r>
          </a:p>
          <a:p>
            <a:pPr algn="just"/>
            <a:r>
              <a:rPr lang="en-US" dirty="0"/>
              <a:t>This allows complex and hierarchical data representation. </a:t>
            </a:r>
          </a:p>
          <a:p>
            <a:pPr algn="just"/>
            <a:r>
              <a:rPr lang="en-US" dirty="0"/>
              <a:t>A JSON object may contain arrays, and arrays may contain objects. </a:t>
            </a:r>
          </a:p>
          <a:p>
            <a:pPr algn="just"/>
            <a:r>
              <a:rPr lang="en-US" dirty="0"/>
              <a:t>Mixing literals is commonly used in APIs and database responses where structured data needs to be represented. </a:t>
            </a:r>
          </a:p>
          <a:p>
            <a:pPr algn="just"/>
            <a:r>
              <a:rPr lang="en-US" dirty="0"/>
              <a:t>It improves flexibility and readability of data.</a:t>
            </a:r>
          </a:p>
          <a:p>
            <a:pPr algn="just"/>
            <a:endParaRPr lang="en-US" dirty="0"/>
          </a:p>
          <a:p>
            <a:pPr marL="914400" lvl="2" indent="0" algn="just">
              <a:buNone/>
            </a:pPr>
            <a:r>
              <a:rPr lang="en-US" dirty="0"/>
              <a:t>{</a:t>
            </a:r>
          </a:p>
          <a:p>
            <a:pPr marL="914400" lvl="2" indent="0" algn="just">
              <a:buNone/>
            </a:pPr>
            <a:r>
              <a:rPr lang="en-US" dirty="0"/>
              <a:t>  "students": [</a:t>
            </a:r>
          </a:p>
          <a:p>
            <a:pPr marL="914400" lvl="2" indent="0" algn="just">
              <a:buNone/>
            </a:pPr>
            <a:r>
              <a:rPr lang="en-US" dirty="0"/>
              <a:t>    {</a:t>
            </a:r>
          </a:p>
          <a:p>
            <a:pPr marL="914400" lvl="2" indent="0" algn="just">
              <a:buNone/>
            </a:pPr>
            <a:r>
              <a:rPr lang="en-US" dirty="0"/>
              <a:t>      "name": "Rahul",</a:t>
            </a:r>
          </a:p>
          <a:p>
            <a:pPr marL="914400" lvl="2" indent="0" algn="just">
              <a:buNone/>
            </a:pPr>
            <a:r>
              <a:rPr lang="en-US" dirty="0"/>
              <a:t>      "marks": [80, 85, 90]</a:t>
            </a:r>
          </a:p>
          <a:p>
            <a:pPr marL="914400" lvl="2" indent="0" algn="just">
              <a:buNone/>
            </a:pPr>
            <a:r>
              <a:rPr lang="en-US" dirty="0"/>
              <a:t>    },</a:t>
            </a:r>
          </a:p>
          <a:p>
            <a:pPr marL="914400" lvl="2" indent="0" algn="just">
              <a:buNone/>
            </a:pPr>
            <a:r>
              <a:rPr lang="en-US" dirty="0"/>
              <a:t>    {</a:t>
            </a:r>
          </a:p>
          <a:p>
            <a:pPr marL="914400" lvl="2" indent="0" algn="just">
              <a:buNone/>
            </a:pPr>
            <a:r>
              <a:rPr lang="en-US" dirty="0"/>
              <a:t>      "name": "Sneha",</a:t>
            </a:r>
          </a:p>
          <a:p>
            <a:pPr marL="914400" lvl="2" indent="0" algn="just">
              <a:buNone/>
            </a:pPr>
            <a:r>
              <a:rPr lang="en-US" dirty="0"/>
              <a:t>      "marks": [88, 92, 95]</a:t>
            </a:r>
          </a:p>
          <a:p>
            <a:pPr marL="914400" lvl="2" indent="0" algn="just">
              <a:buNone/>
            </a:pPr>
            <a:r>
              <a:rPr lang="en-US" dirty="0"/>
              <a:t>    }</a:t>
            </a:r>
          </a:p>
          <a:p>
            <a:pPr marL="914400" lvl="2" indent="0" algn="just">
              <a:buNone/>
            </a:pPr>
            <a:r>
              <a:rPr lang="en-US" dirty="0"/>
              <a:t>  ]</a:t>
            </a:r>
          </a:p>
          <a:p>
            <a:pPr marL="914400" lvl="2" indent="0" algn="just">
              <a:buNone/>
            </a:pPr>
            <a:r>
              <a:rPr lang="en-US" dirty="0"/>
              <a:t>}</a:t>
            </a:r>
          </a:p>
          <a:p>
            <a:pPr algn="just"/>
            <a:endParaRPr lang="en-IN" dirty="0"/>
          </a:p>
        </p:txBody>
      </p:sp>
    </p:spTree>
    <p:extLst>
      <p:ext uri="{BB962C8B-B14F-4D97-AF65-F5344CB8AC3E}">
        <p14:creationId xmlns:p14="http://schemas.microsoft.com/office/powerpoint/2010/main" val="3820297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ED908-F169-C553-8F93-FD40CC099E4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8A55D9-C0B7-311C-4CB8-04E18C8BDAB0}"/>
              </a:ext>
            </a:extLst>
          </p:cNvPr>
          <p:cNvSpPr>
            <a:spLocks noGrp="1"/>
          </p:cNvSpPr>
          <p:nvPr>
            <p:ph idx="1"/>
          </p:nvPr>
        </p:nvSpPr>
        <p:spPr>
          <a:xfrm>
            <a:off x="838200" y="316523"/>
            <a:ext cx="10515600" cy="6224954"/>
          </a:xfrm>
        </p:spPr>
        <p:txBody>
          <a:bodyPr>
            <a:normAutofit lnSpcReduction="10000"/>
          </a:bodyPr>
          <a:lstStyle/>
          <a:p>
            <a:r>
              <a:rPr lang="en-US" b="1" dirty="0"/>
              <a:t>JSON Syntax</a:t>
            </a:r>
          </a:p>
          <a:p>
            <a:pPr algn="just"/>
            <a:r>
              <a:rPr lang="en-US" dirty="0"/>
              <a:t>JSON syntax defines the rules used to write JSON data correctly. </a:t>
            </a:r>
          </a:p>
          <a:p>
            <a:pPr algn="just"/>
            <a:r>
              <a:rPr lang="en-US" dirty="0"/>
              <a:t>Data is represented using key–value pairs where keys must always be enclosed in double quotes. </a:t>
            </a:r>
          </a:p>
          <a:p>
            <a:pPr algn="just"/>
            <a:r>
              <a:rPr lang="en-US" dirty="0"/>
              <a:t>Objects are enclosed in { }, while arrays are enclosed in [ ]. </a:t>
            </a:r>
          </a:p>
          <a:p>
            <a:pPr algn="just"/>
            <a:r>
              <a:rPr lang="en-US" dirty="0"/>
              <a:t>Values can be strings, numbers, objects, arrays, Boolean values, or null. </a:t>
            </a:r>
          </a:p>
          <a:p>
            <a:pPr algn="just"/>
            <a:r>
              <a:rPr lang="en-US" dirty="0"/>
              <a:t>Proper commas and quotation marks are essential for valid JSON syntax.</a:t>
            </a:r>
          </a:p>
          <a:p>
            <a:r>
              <a:rPr lang="en-US" b="1" dirty="0"/>
              <a:t>Example:</a:t>
            </a:r>
            <a:endParaRPr lang="en-US" dirty="0"/>
          </a:p>
          <a:p>
            <a:pPr marL="914400" lvl="2" indent="0" algn="just">
              <a:buNone/>
            </a:pPr>
            <a:r>
              <a:rPr lang="en-US" dirty="0"/>
              <a:t>{</a:t>
            </a:r>
          </a:p>
          <a:p>
            <a:pPr marL="914400" lvl="2" indent="0" algn="just">
              <a:buNone/>
            </a:pPr>
            <a:r>
              <a:rPr lang="en-US" dirty="0"/>
              <a:t>  "employee": "Ravi",</a:t>
            </a:r>
          </a:p>
          <a:p>
            <a:pPr marL="914400" lvl="2" indent="0" algn="just">
              <a:buNone/>
            </a:pPr>
            <a:r>
              <a:rPr lang="en-US" dirty="0"/>
              <a:t>  "salary": 50000,</a:t>
            </a:r>
          </a:p>
          <a:p>
            <a:pPr marL="914400" lvl="2" indent="0" algn="just">
              <a:buNone/>
            </a:pPr>
            <a:r>
              <a:rPr lang="en-US" dirty="0"/>
              <a:t>  "permanent": true</a:t>
            </a:r>
          </a:p>
          <a:p>
            <a:pPr marL="914400" lvl="2" indent="0" algn="just">
              <a:buNone/>
            </a:pPr>
            <a:r>
              <a:rPr lang="en-US" dirty="0"/>
              <a:t>}</a:t>
            </a:r>
            <a:endParaRPr lang="en-IN" dirty="0"/>
          </a:p>
        </p:txBody>
      </p:sp>
    </p:spTree>
    <p:extLst>
      <p:ext uri="{BB962C8B-B14F-4D97-AF65-F5344CB8AC3E}">
        <p14:creationId xmlns:p14="http://schemas.microsoft.com/office/powerpoint/2010/main" val="41906113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E97F4-B9C5-1514-1BD4-2F2DD9B0032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D08F11-BABC-BD5E-CCC3-36344661B4F7}"/>
              </a:ext>
            </a:extLst>
          </p:cNvPr>
          <p:cNvSpPr>
            <a:spLocks noGrp="1"/>
          </p:cNvSpPr>
          <p:nvPr>
            <p:ph idx="1"/>
          </p:nvPr>
        </p:nvSpPr>
        <p:spPr>
          <a:xfrm>
            <a:off x="838200" y="316523"/>
            <a:ext cx="10515600" cy="6224954"/>
          </a:xfrm>
        </p:spPr>
        <p:txBody>
          <a:bodyPr>
            <a:normAutofit fontScale="92500" lnSpcReduction="20000"/>
          </a:bodyPr>
          <a:lstStyle/>
          <a:p>
            <a:r>
              <a:rPr lang="en-US" b="1" dirty="0"/>
              <a:t>JSON Encoding and Decoding</a:t>
            </a:r>
          </a:p>
          <a:p>
            <a:pPr algn="just"/>
            <a:r>
              <a:rPr lang="en-US" dirty="0"/>
              <a:t>JSON encoding is the process of converting a programming language object into JSON format. </a:t>
            </a:r>
          </a:p>
          <a:p>
            <a:pPr algn="just"/>
            <a:r>
              <a:rPr lang="en-US" dirty="0"/>
              <a:t>JSON decoding is the reverse process, where JSON data is converted back into a usable programming object. </a:t>
            </a:r>
          </a:p>
          <a:p>
            <a:pPr algn="just"/>
            <a:r>
              <a:rPr lang="en-US" dirty="0"/>
              <a:t>Encoding is commonly used while sending data from a server to a client. </a:t>
            </a:r>
          </a:p>
          <a:p>
            <a:pPr algn="just"/>
            <a:r>
              <a:rPr lang="en-US" dirty="0"/>
              <a:t>Decoding is used when the client receives JSON data and wants to process it. </a:t>
            </a:r>
          </a:p>
          <a:p>
            <a:pPr algn="just"/>
            <a:r>
              <a:rPr lang="en-US" dirty="0"/>
              <a:t>Most programming languages provide built-in functions for encoding and decoding JSON.</a:t>
            </a:r>
          </a:p>
          <a:p>
            <a:endParaRPr lang="en-US" b="1" dirty="0"/>
          </a:p>
          <a:p>
            <a:r>
              <a:rPr lang="en-US" b="1" dirty="0"/>
              <a:t>JavaScript Example:</a:t>
            </a:r>
            <a:endParaRPr lang="en-US" dirty="0"/>
          </a:p>
          <a:p>
            <a:pPr marL="1371600" lvl="3" indent="0" algn="just">
              <a:buNone/>
            </a:pPr>
            <a:r>
              <a:rPr lang="en-IN" dirty="0"/>
              <a:t>// Encoding</a:t>
            </a:r>
          </a:p>
          <a:p>
            <a:pPr marL="1371600" lvl="3" indent="0" algn="just">
              <a:buNone/>
            </a:pPr>
            <a:r>
              <a:rPr lang="en-IN" dirty="0"/>
              <a:t>var student = {</a:t>
            </a:r>
            <a:r>
              <a:rPr lang="en-IN" dirty="0" err="1"/>
              <a:t>name:"Asha</a:t>
            </a:r>
            <a:r>
              <a:rPr lang="en-IN" dirty="0"/>
              <a:t>", age:22};</a:t>
            </a:r>
          </a:p>
          <a:p>
            <a:pPr marL="1371600" lvl="3" indent="0" algn="just">
              <a:buNone/>
            </a:pPr>
            <a:r>
              <a:rPr lang="en-IN" dirty="0"/>
              <a:t>var </a:t>
            </a:r>
            <a:r>
              <a:rPr lang="en-IN" dirty="0" err="1"/>
              <a:t>jsonData</a:t>
            </a:r>
            <a:r>
              <a:rPr lang="en-IN" dirty="0"/>
              <a:t> = </a:t>
            </a:r>
            <a:r>
              <a:rPr lang="en-IN" dirty="0" err="1"/>
              <a:t>JSON.stringify</a:t>
            </a:r>
            <a:r>
              <a:rPr lang="en-IN" dirty="0"/>
              <a:t>(student);</a:t>
            </a:r>
          </a:p>
          <a:p>
            <a:pPr marL="1371600" lvl="3" indent="0" algn="just">
              <a:buNone/>
            </a:pPr>
            <a:endParaRPr lang="en-IN" dirty="0"/>
          </a:p>
          <a:p>
            <a:pPr marL="1371600" lvl="3" indent="0" algn="just">
              <a:buNone/>
            </a:pPr>
            <a:r>
              <a:rPr lang="en-IN" dirty="0"/>
              <a:t>// Decoding</a:t>
            </a:r>
          </a:p>
          <a:p>
            <a:pPr marL="1371600" lvl="3" indent="0" algn="just">
              <a:buNone/>
            </a:pPr>
            <a:r>
              <a:rPr lang="en-IN" dirty="0"/>
              <a:t>var </a:t>
            </a:r>
            <a:r>
              <a:rPr lang="en-IN" dirty="0" err="1"/>
              <a:t>obj</a:t>
            </a:r>
            <a:r>
              <a:rPr lang="en-IN" dirty="0"/>
              <a:t> = </a:t>
            </a:r>
            <a:r>
              <a:rPr lang="en-IN" dirty="0" err="1"/>
              <a:t>JSON.parse</a:t>
            </a:r>
            <a:r>
              <a:rPr lang="en-IN" dirty="0"/>
              <a:t>(</a:t>
            </a:r>
            <a:r>
              <a:rPr lang="en-IN" dirty="0" err="1"/>
              <a:t>jsonData</a:t>
            </a:r>
            <a:r>
              <a:rPr lang="en-IN" dirty="0"/>
              <a:t>);</a:t>
            </a:r>
          </a:p>
          <a:p>
            <a:pPr marL="1371600" lvl="3" indent="0" algn="just">
              <a:buNone/>
            </a:pPr>
            <a:r>
              <a:rPr lang="en-IN" dirty="0"/>
              <a:t>console.log(obj.name);</a:t>
            </a:r>
          </a:p>
        </p:txBody>
      </p:sp>
    </p:spTree>
    <p:extLst>
      <p:ext uri="{BB962C8B-B14F-4D97-AF65-F5344CB8AC3E}">
        <p14:creationId xmlns:p14="http://schemas.microsoft.com/office/powerpoint/2010/main" val="15068163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E263D-42CA-EE31-AF17-581689F007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355732-0F9B-BF2B-C899-5EB4AAA7DC43}"/>
              </a:ext>
            </a:extLst>
          </p:cNvPr>
          <p:cNvSpPr>
            <a:spLocks noGrp="1"/>
          </p:cNvSpPr>
          <p:nvPr>
            <p:ph idx="1"/>
          </p:nvPr>
        </p:nvSpPr>
        <p:spPr>
          <a:xfrm>
            <a:off x="838200" y="316523"/>
            <a:ext cx="10515600" cy="6224954"/>
          </a:xfrm>
        </p:spPr>
        <p:txBody>
          <a:bodyPr/>
          <a:lstStyle/>
          <a:p>
            <a:r>
              <a:rPr lang="en-US" b="1" dirty="0"/>
              <a:t>JSON versus XML</a:t>
            </a:r>
          </a:p>
          <a:p>
            <a:pPr algn="just"/>
            <a:r>
              <a:rPr lang="en-US" dirty="0"/>
              <a:t>JSON and XML are both data interchange formats used in web applications. </a:t>
            </a:r>
          </a:p>
          <a:p>
            <a:pPr algn="just"/>
            <a:r>
              <a:rPr lang="en-US" dirty="0"/>
              <a:t>JSON is lightweight, compact, and easier to read compared to XML. </a:t>
            </a:r>
          </a:p>
          <a:p>
            <a:pPr algn="just"/>
            <a:r>
              <a:rPr lang="en-US" dirty="0"/>
              <a:t>XML uses opening and closing tags, whereas JSON uses key–value pairs. </a:t>
            </a:r>
          </a:p>
          <a:p>
            <a:pPr algn="just"/>
            <a:r>
              <a:rPr lang="en-US" dirty="0"/>
              <a:t>JSON parsing is generally faster and requires less bandwidth than XML. Due to its simplicity and better performance, JSON is more commonly used in modern AJAX and Web 2.0 applications.</a:t>
            </a:r>
          </a:p>
          <a:p>
            <a:pPr algn="just"/>
            <a:endParaRPr lang="en-IN" dirty="0"/>
          </a:p>
        </p:txBody>
      </p:sp>
    </p:spTree>
    <p:extLst>
      <p:ext uri="{BB962C8B-B14F-4D97-AF65-F5344CB8AC3E}">
        <p14:creationId xmlns:p14="http://schemas.microsoft.com/office/powerpoint/2010/main" val="38447227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D7AE8-BB0B-A5BD-270F-E98866526A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048247-FA89-B1B9-B6C4-D87392D6BEF4}"/>
              </a:ext>
            </a:extLst>
          </p:cNvPr>
          <p:cNvSpPr>
            <a:spLocks noGrp="1"/>
          </p:cNvSpPr>
          <p:nvPr>
            <p:ph idx="1"/>
          </p:nvPr>
        </p:nvSpPr>
        <p:spPr>
          <a:xfrm>
            <a:off x="838200" y="316523"/>
            <a:ext cx="10515600" cy="6224954"/>
          </a:xfrm>
        </p:spPr>
        <p:txBody>
          <a:bodyPr>
            <a:normAutofit fontScale="92500" lnSpcReduction="10000"/>
          </a:bodyPr>
          <a:lstStyle/>
          <a:p>
            <a:r>
              <a:rPr lang="en-US" b="1" dirty="0"/>
              <a:t>What is Web 2.0?</a:t>
            </a:r>
          </a:p>
          <a:p>
            <a:r>
              <a:rPr lang="en-US" dirty="0"/>
              <a:t>Web 2.0 refers to the second generation of web development that focuses on user participation, collaboration, and dynamic content. </a:t>
            </a:r>
          </a:p>
          <a:p>
            <a:r>
              <a:rPr lang="en-US" dirty="0"/>
              <a:t>Unlike Web 1.0, where users mainly viewed static pages, Web 2.0 allows users to create, share, and interact with content. </a:t>
            </a:r>
          </a:p>
          <a:p>
            <a:r>
              <a:rPr lang="en-US" dirty="0"/>
              <a:t>Technologies such as AJAX, JavaScript, XML, and APIs play a major role in Web 2.0 applications. </a:t>
            </a:r>
          </a:p>
          <a:p>
            <a:r>
              <a:rPr lang="en-US" dirty="0"/>
              <a:t>Social media platforms, blogs, wikis, and video-sharing websites are common examples of Web 2.0. </a:t>
            </a:r>
          </a:p>
          <a:p>
            <a:r>
              <a:rPr lang="en-US" dirty="0"/>
              <a:t>It emphasizes interactivity, usability, and user-generated content.</a:t>
            </a:r>
          </a:p>
          <a:p>
            <a:r>
              <a:rPr lang="en-US" b="1" dirty="0"/>
              <a:t>Examples:</a:t>
            </a:r>
            <a:endParaRPr lang="en-US" dirty="0"/>
          </a:p>
          <a:p>
            <a:r>
              <a:rPr lang="en-US" dirty="0"/>
              <a:t>Facebook </a:t>
            </a:r>
          </a:p>
          <a:p>
            <a:r>
              <a:rPr lang="en-US" dirty="0"/>
              <a:t>YouTube </a:t>
            </a:r>
          </a:p>
          <a:p>
            <a:r>
              <a:rPr lang="en-US" dirty="0"/>
              <a:t>Wikipedia </a:t>
            </a:r>
          </a:p>
          <a:p>
            <a:r>
              <a:rPr lang="en-US" dirty="0"/>
              <a:t>Gmail</a:t>
            </a:r>
          </a:p>
          <a:p>
            <a:pPr algn="just"/>
            <a:endParaRPr lang="en-IN" dirty="0"/>
          </a:p>
        </p:txBody>
      </p:sp>
    </p:spTree>
    <p:extLst>
      <p:ext uri="{BB962C8B-B14F-4D97-AF65-F5344CB8AC3E}">
        <p14:creationId xmlns:p14="http://schemas.microsoft.com/office/powerpoint/2010/main" val="13964503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CF0CE-59C6-F28E-6F7F-8C5E4BF3C63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27B272-337E-7C74-772D-C3328FB0EC18}"/>
              </a:ext>
            </a:extLst>
          </p:cNvPr>
          <p:cNvSpPr>
            <a:spLocks noGrp="1"/>
          </p:cNvSpPr>
          <p:nvPr>
            <p:ph idx="1"/>
          </p:nvPr>
        </p:nvSpPr>
        <p:spPr>
          <a:xfrm>
            <a:off x="838200" y="316523"/>
            <a:ext cx="10515600" cy="6224954"/>
          </a:xfrm>
        </p:spPr>
        <p:txBody>
          <a:bodyPr/>
          <a:lstStyle/>
          <a:p>
            <a:r>
              <a:rPr lang="en-US" b="1" dirty="0"/>
              <a:t>Folksonomies and Web 2.0</a:t>
            </a:r>
          </a:p>
          <a:p>
            <a:pPr algn="just"/>
            <a:r>
              <a:rPr lang="en-US" dirty="0"/>
              <a:t>Folksonomy is a system where users classify and organize content using tags or keywords. </a:t>
            </a:r>
          </a:p>
          <a:p>
            <a:pPr algn="just"/>
            <a:r>
              <a:rPr lang="en-US" dirty="0"/>
              <a:t>In Web 2.0 applications, users freely assign tags to photos, videos, blog posts, or webpages. </a:t>
            </a:r>
          </a:p>
          <a:p>
            <a:pPr algn="just"/>
            <a:r>
              <a:rPr lang="en-US" dirty="0"/>
              <a:t>These tags help in searching, grouping, and discovering related information easily. </a:t>
            </a:r>
          </a:p>
          <a:p>
            <a:pPr algn="just"/>
            <a:r>
              <a:rPr lang="en-US" dirty="0"/>
              <a:t>Folksonomies are user-driven and do not follow a fixed classification structure. </a:t>
            </a:r>
          </a:p>
          <a:p>
            <a:pPr algn="just"/>
            <a:r>
              <a:rPr lang="en-US" dirty="0"/>
              <a:t>They improve collaboration and community participation on the web.</a:t>
            </a:r>
          </a:p>
          <a:p>
            <a:r>
              <a:rPr lang="en-US" b="1" dirty="0"/>
              <a:t>Example:</a:t>
            </a:r>
            <a:br>
              <a:rPr lang="en-US" dirty="0"/>
            </a:br>
            <a:r>
              <a:rPr lang="en-US" dirty="0"/>
              <a:t>On Instagram or YouTube, users add hashtags such as #technology or #music to categorize content.</a:t>
            </a:r>
          </a:p>
          <a:p>
            <a:pPr algn="just"/>
            <a:endParaRPr lang="en-IN" dirty="0"/>
          </a:p>
        </p:txBody>
      </p:sp>
    </p:spTree>
    <p:extLst>
      <p:ext uri="{BB962C8B-B14F-4D97-AF65-F5344CB8AC3E}">
        <p14:creationId xmlns:p14="http://schemas.microsoft.com/office/powerpoint/2010/main" val="41322622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01CDC-FD79-4129-E5F6-9586A0EED82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20A3C9-2745-E35A-2C54-D9331A2578E5}"/>
              </a:ext>
            </a:extLst>
          </p:cNvPr>
          <p:cNvSpPr>
            <a:spLocks noGrp="1"/>
          </p:cNvSpPr>
          <p:nvPr>
            <p:ph idx="1"/>
          </p:nvPr>
        </p:nvSpPr>
        <p:spPr>
          <a:xfrm>
            <a:off x="838200" y="316523"/>
            <a:ext cx="10515600" cy="6224954"/>
          </a:xfrm>
        </p:spPr>
        <p:txBody>
          <a:bodyPr>
            <a:normAutofit lnSpcReduction="10000"/>
          </a:bodyPr>
          <a:lstStyle/>
          <a:p>
            <a:r>
              <a:rPr lang="en-US" b="1" dirty="0"/>
              <a:t>Software as a Service (SaaS)</a:t>
            </a:r>
          </a:p>
          <a:p>
            <a:pPr algn="just"/>
            <a:r>
              <a:rPr lang="en-US" dirty="0"/>
              <a:t>Software as a Service (SaaS) is a cloud-based software delivery model where applications are accessed through the internet instead of being installed locally. </a:t>
            </a:r>
          </a:p>
          <a:p>
            <a:pPr algn="just"/>
            <a:r>
              <a:rPr lang="en-US" dirty="0"/>
              <a:t>Users can access the software using a web browser from any device.</a:t>
            </a:r>
          </a:p>
          <a:p>
            <a:pPr algn="just"/>
            <a:r>
              <a:rPr lang="en-US" dirty="0"/>
              <a:t>SaaS applications are maintained and updated by the service provider. </a:t>
            </a:r>
          </a:p>
          <a:p>
            <a:pPr algn="just"/>
            <a:r>
              <a:rPr lang="en-US" dirty="0"/>
              <a:t>This reduces installation, maintenance, and hardware costs for users. </a:t>
            </a:r>
          </a:p>
          <a:p>
            <a:pPr algn="just"/>
            <a:r>
              <a:rPr lang="en-US" dirty="0"/>
              <a:t>SaaS is an important concept in Web 2.0 because it supports online collaboration and accessibility.</a:t>
            </a:r>
          </a:p>
          <a:p>
            <a:r>
              <a:rPr lang="en-US" b="1" dirty="0"/>
              <a:t>Examples:</a:t>
            </a:r>
            <a:endParaRPr lang="en-US" dirty="0"/>
          </a:p>
          <a:p>
            <a:pPr lvl="1"/>
            <a:r>
              <a:rPr lang="en-US" dirty="0"/>
              <a:t>Google Docs </a:t>
            </a:r>
          </a:p>
          <a:p>
            <a:pPr lvl="1"/>
            <a:r>
              <a:rPr lang="en-US" dirty="0"/>
              <a:t>Microsoft 365 </a:t>
            </a:r>
          </a:p>
          <a:p>
            <a:pPr lvl="1"/>
            <a:r>
              <a:rPr lang="en-US" dirty="0"/>
              <a:t>Gmail </a:t>
            </a:r>
          </a:p>
          <a:p>
            <a:pPr lvl="1"/>
            <a:r>
              <a:rPr lang="en-US" dirty="0"/>
              <a:t>Dropbox</a:t>
            </a:r>
          </a:p>
          <a:p>
            <a:pPr algn="just"/>
            <a:endParaRPr lang="en-IN" dirty="0"/>
          </a:p>
        </p:txBody>
      </p:sp>
    </p:spTree>
    <p:extLst>
      <p:ext uri="{BB962C8B-B14F-4D97-AF65-F5344CB8AC3E}">
        <p14:creationId xmlns:p14="http://schemas.microsoft.com/office/powerpoint/2010/main" val="16797244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DC573-B071-4208-2A79-5FEC2E43253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E170B-FCC5-73E2-07DE-8F28EB9128D4}"/>
              </a:ext>
            </a:extLst>
          </p:cNvPr>
          <p:cNvSpPr>
            <a:spLocks noGrp="1"/>
          </p:cNvSpPr>
          <p:nvPr>
            <p:ph idx="1"/>
          </p:nvPr>
        </p:nvSpPr>
        <p:spPr>
          <a:xfrm>
            <a:off x="838200" y="316523"/>
            <a:ext cx="10515600" cy="6224954"/>
          </a:xfrm>
        </p:spPr>
        <p:txBody>
          <a:bodyPr/>
          <a:lstStyle/>
          <a:p>
            <a:r>
              <a:rPr lang="en-US" b="1" dirty="0"/>
              <a:t>Data and Web 2.0</a:t>
            </a:r>
          </a:p>
          <a:p>
            <a:pPr algn="just"/>
            <a:r>
              <a:rPr lang="en-US" dirty="0"/>
              <a:t>Data is considered the core component of Web 2.0 applications. </a:t>
            </a:r>
          </a:p>
          <a:p>
            <a:pPr algn="just"/>
            <a:r>
              <a:rPr lang="en-US" dirty="0"/>
              <a:t>Modern web applications collect, process, and share large amounts of user-generated data. </a:t>
            </a:r>
          </a:p>
          <a:p>
            <a:pPr algn="just"/>
            <a:r>
              <a:rPr lang="en-US" dirty="0"/>
              <a:t>APIs and databases are used to exchange and manage this information dynamically. </a:t>
            </a:r>
          </a:p>
          <a:p>
            <a:pPr algn="just"/>
            <a:r>
              <a:rPr lang="en-US" dirty="0"/>
              <a:t>Web 2.0 applications use data to provide personalized services and recommendations. </a:t>
            </a:r>
          </a:p>
          <a:p>
            <a:pPr algn="just"/>
            <a:r>
              <a:rPr lang="en-US" dirty="0"/>
              <a:t>Effective data management improves user interaction and decision-making.</a:t>
            </a:r>
          </a:p>
          <a:p>
            <a:r>
              <a:rPr lang="en-US" b="1" dirty="0"/>
              <a:t>Example:</a:t>
            </a:r>
            <a:br>
              <a:rPr lang="en-US" dirty="0"/>
            </a:br>
            <a:r>
              <a:rPr lang="en-US" dirty="0"/>
              <a:t>Netflix recommends movies based on the user’s viewing history and preferences.</a:t>
            </a:r>
          </a:p>
          <a:p>
            <a:pPr algn="just"/>
            <a:endParaRPr lang="en-IN" dirty="0"/>
          </a:p>
        </p:txBody>
      </p:sp>
    </p:spTree>
    <p:extLst>
      <p:ext uri="{BB962C8B-B14F-4D97-AF65-F5344CB8AC3E}">
        <p14:creationId xmlns:p14="http://schemas.microsoft.com/office/powerpoint/2010/main" val="29273525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37060-8EA4-9AA0-A768-EAA39917CA6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B6D9F4-FCF4-547E-1A0C-68AA0CC8B3F3}"/>
              </a:ext>
            </a:extLst>
          </p:cNvPr>
          <p:cNvSpPr>
            <a:spLocks noGrp="1"/>
          </p:cNvSpPr>
          <p:nvPr>
            <p:ph idx="1"/>
          </p:nvPr>
        </p:nvSpPr>
        <p:spPr>
          <a:xfrm>
            <a:off x="838200" y="316523"/>
            <a:ext cx="10515600" cy="6224954"/>
          </a:xfrm>
        </p:spPr>
        <p:txBody>
          <a:bodyPr/>
          <a:lstStyle/>
          <a:p>
            <a:r>
              <a:rPr lang="en-US" b="1" dirty="0"/>
              <a:t>Convergence</a:t>
            </a:r>
          </a:p>
          <a:p>
            <a:pPr algn="just"/>
            <a:r>
              <a:rPr lang="en-US" dirty="0"/>
              <a:t>Convergence refers to the integration of different technologies, services, and communication platforms into a single environment. </a:t>
            </a:r>
          </a:p>
          <a:p>
            <a:pPr algn="just"/>
            <a:r>
              <a:rPr lang="en-US" dirty="0"/>
              <a:t>Web 2.0 combines multimedia, communication, social networking, and cloud services together. </a:t>
            </a:r>
          </a:p>
          <a:p>
            <a:pPr algn="just"/>
            <a:r>
              <a:rPr lang="en-US" dirty="0"/>
              <a:t>Through convergence, users can access text, audio, video, and interactive services from the same application. </a:t>
            </a:r>
          </a:p>
          <a:p>
            <a:pPr algn="just"/>
            <a:r>
              <a:rPr lang="en-US" dirty="0"/>
              <a:t>It enables seamless sharing of information across multiple platforms and devices. </a:t>
            </a:r>
          </a:p>
          <a:p>
            <a:pPr algn="just"/>
            <a:r>
              <a:rPr lang="en-US" dirty="0"/>
              <a:t>Convergence improves accessibility and user convenience.</a:t>
            </a:r>
          </a:p>
          <a:p>
            <a:r>
              <a:rPr lang="en-US" b="1" dirty="0"/>
              <a:t>Example:</a:t>
            </a:r>
            <a:br>
              <a:rPr lang="en-US" dirty="0"/>
            </a:br>
            <a:r>
              <a:rPr lang="en-US" dirty="0"/>
              <a:t>A smartphone supports web browsing, video streaming, messaging, email, and social networking in one device.</a:t>
            </a:r>
          </a:p>
          <a:p>
            <a:pPr algn="just"/>
            <a:endParaRPr lang="en-IN" dirty="0"/>
          </a:p>
        </p:txBody>
      </p:sp>
    </p:spTree>
    <p:extLst>
      <p:ext uri="{BB962C8B-B14F-4D97-AF65-F5344CB8AC3E}">
        <p14:creationId xmlns:p14="http://schemas.microsoft.com/office/powerpoint/2010/main" val="11009470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D78C5-C09B-782A-80B9-53DA81C0A5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A0DCCE-CBA7-FC24-7E25-A3F6C7CCA4F2}"/>
              </a:ext>
            </a:extLst>
          </p:cNvPr>
          <p:cNvSpPr>
            <a:spLocks noGrp="1"/>
          </p:cNvSpPr>
          <p:nvPr>
            <p:ph idx="1"/>
          </p:nvPr>
        </p:nvSpPr>
        <p:spPr>
          <a:xfrm>
            <a:off x="838200" y="316523"/>
            <a:ext cx="10515600" cy="6224954"/>
          </a:xfrm>
        </p:spPr>
        <p:txBody>
          <a:bodyPr/>
          <a:lstStyle/>
          <a:p>
            <a:r>
              <a:rPr lang="en-US" b="1" dirty="0"/>
              <a:t>Iterative Development</a:t>
            </a:r>
          </a:p>
          <a:p>
            <a:pPr algn="just"/>
            <a:r>
              <a:rPr lang="en-US" dirty="0"/>
              <a:t>Iterative development is a software development approach where applications are built and improved gradually through repeated cycles. </a:t>
            </a:r>
          </a:p>
          <a:p>
            <a:pPr algn="just"/>
            <a:r>
              <a:rPr lang="en-US" dirty="0"/>
              <a:t>Instead of releasing the complete product at once, developers continuously update and enhance features based on user feedback. </a:t>
            </a:r>
          </a:p>
          <a:p>
            <a:pPr algn="just"/>
            <a:r>
              <a:rPr lang="en-US" dirty="0"/>
              <a:t>This method is commonly used in Web 2.0 applications because user requirements change frequently. </a:t>
            </a:r>
          </a:p>
          <a:p>
            <a:pPr algn="just"/>
            <a:r>
              <a:rPr lang="en-US" dirty="0"/>
              <a:t>Iterative development improves software quality and adaptability. </a:t>
            </a:r>
          </a:p>
          <a:p>
            <a:pPr algn="just"/>
            <a:r>
              <a:rPr lang="en-US" dirty="0"/>
              <a:t>Frequent updates help applications remain modern and user-friendly.</a:t>
            </a:r>
          </a:p>
          <a:p>
            <a:r>
              <a:rPr lang="en-US" b="1" dirty="0"/>
              <a:t>Example:</a:t>
            </a:r>
            <a:br>
              <a:rPr lang="en-US" dirty="0"/>
            </a:br>
            <a:r>
              <a:rPr lang="en-US" dirty="0"/>
              <a:t>Google continuously updates Gmail with new features and interface improvements.</a:t>
            </a:r>
          </a:p>
          <a:p>
            <a:pPr algn="just"/>
            <a:endParaRPr lang="en-IN" dirty="0"/>
          </a:p>
        </p:txBody>
      </p:sp>
    </p:spTree>
    <p:extLst>
      <p:ext uri="{BB962C8B-B14F-4D97-AF65-F5344CB8AC3E}">
        <p14:creationId xmlns:p14="http://schemas.microsoft.com/office/powerpoint/2010/main" val="334706779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4C2F2-839C-EBE8-F51F-5387167147D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CB6D30-D2BA-A552-8D83-68FC61D744BE}"/>
              </a:ext>
            </a:extLst>
          </p:cNvPr>
          <p:cNvSpPr>
            <a:spLocks noGrp="1"/>
          </p:cNvSpPr>
          <p:nvPr>
            <p:ph idx="1"/>
          </p:nvPr>
        </p:nvSpPr>
        <p:spPr>
          <a:xfrm>
            <a:off x="838200" y="316523"/>
            <a:ext cx="10515600" cy="6224954"/>
          </a:xfrm>
        </p:spPr>
        <p:txBody>
          <a:bodyPr/>
          <a:lstStyle/>
          <a:p>
            <a:r>
              <a:rPr lang="en-US" b="1" dirty="0"/>
              <a:t>Rich User Experience</a:t>
            </a:r>
          </a:p>
          <a:p>
            <a:pPr algn="just"/>
            <a:r>
              <a:rPr lang="en-US" dirty="0"/>
              <a:t>Rich User Experience (RUX) refers to creating highly interactive, responsive, and visually appealing web applications. </a:t>
            </a:r>
          </a:p>
          <a:p>
            <a:pPr algn="just"/>
            <a:r>
              <a:rPr lang="en-US" dirty="0"/>
              <a:t>Web 2.0 applications use AJAX, JavaScript, CSS, animations, and multimedia to improve usability. </a:t>
            </a:r>
          </a:p>
          <a:p>
            <a:pPr algn="just"/>
            <a:r>
              <a:rPr lang="en-US" dirty="0"/>
              <a:t>Users can interact with web pages without reloading the entire page. </a:t>
            </a:r>
          </a:p>
          <a:p>
            <a:pPr algn="just"/>
            <a:r>
              <a:rPr lang="en-US" dirty="0"/>
              <a:t>Rich user experience makes applications faster, smoother, and more engaging. </a:t>
            </a:r>
          </a:p>
          <a:p>
            <a:pPr algn="just"/>
            <a:r>
              <a:rPr lang="en-US" dirty="0"/>
              <a:t>It increases user satisfaction and productivity.</a:t>
            </a:r>
          </a:p>
          <a:p>
            <a:r>
              <a:rPr lang="en-US" b="1" dirty="0"/>
              <a:t>Example:</a:t>
            </a:r>
            <a:br>
              <a:rPr lang="en-US" dirty="0"/>
            </a:br>
            <a:r>
              <a:rPr lang="en-US" dirty="0"/>
              <a:t>Google Maps allows users to zoom and drag maps dynamically without page reloads.</a:t>
            </a:r>
          </a:p>
          <a:p>
            <a:pPr algn="just"/>
            <a:endParaRPr lang="en-IN" dirty="0"/>
          </a:p>
        </p:txBody>
      </p:sp>
    </p:spTree>
    <p:extLst>
      <p:ext uri="{BB962C8B-B14F-4D97-AF65-F5344CB8AC3E}">
        <p14:creationId xmlns:p14="http://schemas.microsoft.com/office/powerpoint/2010/main" val="4707658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BBEB8-0CD9-DDC7-5D2D-65899DB49E8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77301-38DF-4137-B67A-C12B7C38A318}"/>
              </a:ext>
            </a:extLst>
          </p:cNvPr>
          <p:cNvSpPr>
            <a:spLocks noGrp="1"/>
          </p:cNvSpPr>
          <p:nvPr>
            <p:ph idx="1"/>
          </p:nvPr>
        </p:nvSpPr>
        <p:spPr>
          <a:xfrm>
            <a:off x="838200" y="316523"/>
            <a:ext cx="10515600" cy="6224954"/>
          </a:xfrm>
        </p:spPr>
        <p:txBody>
          <a:bodyPr/>
          <a:lstStyle/>
          <a:p>
            <a:r>
              <a:rPr lang="en-US" b="1" dirty="0"/>
              <a:t>Multiple Delivery Channels</a:t>
            </a:r>
          </a:p>
          <a:p>
            <a:pPr algn="just"/>
            <a:r>
              <a:rPr lang="en-US" dirty="0"/>
              <a:t>Multiple delivery channels mean providing access to web applications through different devices and platforms. </a:t>
            </a:r>
          </a:p>
          <a:p>
            <a:pPr algn="just"/>
            <a:r>
              <a:rPr lang="en-US" dirty="0"/>
              <a:t>Web 2.0 applications are designed to work on desktops, laptops, tablets, smartphones, and smart TVs. </a:t>
            </a:r>
          </a:p>
          <a:p>
            <a:pPr algn="just"/>
            <a:r>
              <a:rPr lang="en-US" dirty="0"/>
              <a:t>Users can access services anytime and anywhere through internet connectivity. </a:t>
            </a:r>
          </a:p>
          <a:p>
            <a:pPr algn="just"/>
            <a:r>
              <a:rPr lang="en-US" dirty="0"/>
              <a:t>This approach improves accessibility and flexibility. </a:t>
            </a:r>
          </a:p>
          <a:p>
            <a:pPr algn="just"/>
            <a:r>
              <a:rPr lang="en-US" dirty="0"/>
              <a:t>Responsive web design and mobile applications support multiple delivery channels.</a:t>
            </a:r>
          </a:p>
          <a:p>
            <a:r>
              <a:rPr lang="en-US" b="1" dirty="0"/>
              <a:t>Example:</a:t>
            </a:r>
            <a:br>
              <a:rPr lang="en-US" dirty="0"/>
            </a:br>
            <a:r>
              <a:rPr lang="en-US" dirty="0"/>
              <a:t>YouTube can be accessed through web browsers, Android apps, iOS apps, and smart TVs.</a:t>
            </a:r>
          </a:p>
          <a:p>
            <a:pPr algn="just"/>
            <a:endParaRPr lang="en-IN" dirty="0"/>
          </a:p>
        </p:txBody>
      </p:sp>
    </p:spTree>
    <p:extLst>
      <p:ext uri="{BB962C8B-B14F-4D97-AF65-F5344CB8AC3E}">
        <p14:creationId xmlns:p14="http://schemas.microsoft.com/office/powerpoint/2010/main" val="197275809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C5C1E-80EC-992D-6156-E8FF28FB34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0D137C-562B-C854-1CB3-467953AE45DB}"/>
              </a:ext>
            </a:extLst>
          </p:cNvPr>
          <p:cNvSpPr>
            <a:spLocks noGrp="1"/>
          </p:cNvSpPr>
          <p:nvPr>
            <p:ph idx="1"/>
          </p:nvPr>
        </p:nvSpPr>
        <p:spPr>
          <a:xfrm>
            <a:off x="838200" y="316523"/>
            <a:ext cx="10515600" cy="6224954"/>
          </a:xfrm>
        </p:spPr>
        <p:txBody>
          <a:bodyPr>
            <a:normAutofit lnSpcReduction="10000"/>
          </a:bodyPr>
          <a:lstStyle/>
          <a:p>
            <a:r>
              <a:rPr lang="en-US" b="1" dirty="0"/>
              <a:t>Social Networking</a:t>
            </a:r>
          </a:p>
          <a:p>
            <a:pPr algn="just"/>
            <a:r>
              <a:rPr lang="en-US" dirty="0"/>
              <a:t>Social networking is one of the most significant features of Web 2.0. </a:t>
            </a:r>
          </a:p>
          <a:p>
            <a:pPr algn="just"/>
            <a:r>
              <a:rPr lang="en-US" dirty="0"/>
              <a:t>It allows users to create profiles, share content, communicate, and collaborate online. </a:t>
            </a:r>
          </a:p>
          <a:p>
            <a:pPr algn="just"/>
            <a:r>
              <a:rPr lang="en-US" dirty="0"/>
              <a:t>Social networking websites encourage user participation and community interaction. </a:t>
            </a:r>
          </a:p>
          <a:p>
            <a:pPr algn="just"/>
            <a:r>
              <a:rPr lang="en-US" dirty="0"/>
              <a:t>Users can exchange messages, photos, videos, and opinions instantly. </a:t>
            </a:r>
          </a:p>
          <a:p>
            <a:pPr algn="just"/>
            <a:r>
              <a:rPr lang="en-US" dirty="0"/>
              <a:t>These platforms have transformed communication and information sharing globally.</a:t>
            </a:r>
          </a:p>
          <a:p>
            <a:r>
              <a:rPr lang="en-US" b="1" dirty="0"/>
              <a:t>Examples:</a:t>
            </a:r>
            <a:endParaRPr lang="en-US" dirty="0"/>
          </a:p>
          <a:p>
            <a:r>
              <a:rPr lang="en-US" dirty="0"/>
              <a:t>Facebook </a:t>
            </a:r>
          </a:p>
          <a:p>
            <a:r>
              <a:rPr lang="en-US" dirty="0"/>
              <a:t>Instagram </a:t>
            </a:r>
          </a:p>
          <a:p>
            <a:r>
              <a:rPr lang="en-US" dirty="0"/>
              <a:t>LinkedIn </a:t>
            </a:r>
          </a:p>
          <a:p>
            <a:r>
              <a:rPr lang="en-US" dirty="0"/>
              <a:t>Twitter (X)</a:t>
            </a:r>
          </a:p>
          <a:p>
            <a:pPr algn="just"/>
            <a:endParaRPr lang="en-IN" dirty="0"/>
          </a:p>
        </p:txBody>
      </p:sp>
    </p:spTree>
    <p:extLst>
      <p:ext uri="{BB962C8B-B14F-4D97-AF65-F5344CB8AC3E}">
        <p14:creationId xmlns:p14="http://schemas.microsoft.com/office/powerpoint/2010/main" val="370509947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0DFB9-AE1A-B04B-6C42-E91D9839A2A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D0EEA9-22D5-4844-62A4-AABCCB5D5124}"/>
              </a:ext>
            </a:extLst>
          </p:cNvPr>
          <p:cNvSpPr>
            <a:spLocks noGrp="1"/>
          </p:cNvSpPr>
          <p:nvPr>
            <p:ph idx="1"/>
          </p:nvPr>
        </p:nvSpPr>
        <p:spPr>
          <a:xfrm>
            <a:off x="838200" y="316523"/>
            <a:ext cx="10515600" cy="6224954"/>
          </a:xfrm>
        </p:spPr>
        <p:txBody>
          <a:bodyPr/>
          <a:lstStyle/>
          <a:p>
            <a:r>
              <a:rPr lang="en-US" b="1" dirty="0"/>
              <a:t>Web Services</a:t>
            </a:r>
          </a:p>
          <a:p>
            <a:pPr algn="just"/>
            <a:r>
              <a:rPr lang="en-US" dirty="0"/>
              <a:t>Web services are software systems that enable communication and data exchange between applications over a network. </a:t>
            </a:r>
          </a:p>
          <a:p>
            <a:pPr algn="just"/>
            <a:r>
              <a:rPr lang="en-US" dirty="0"/>
              <a:t>They allow applications developed in different languages and platforms to interact with each other. </a:t>
            </a:r>
          </a:p>
          <a:p>
            <a:pPr algn="just"/>
            <a:r>
              <a:rPr lang="en-US" dirty="0"/>
              <a:t>Web services use standard protocols such as HTTP, XML, SOAP, and REST. </a:t>
            </a:r>
          </a:p>
          <a:p>
            <a:pPr algn="just"/>
            <a:r>
              <a:rPr lang="en-US" dirty="0"/>
              <a:t>They support interoperability and distributed computing. </a:t>
            </a:r>
          </a:p>
          <a:p>
            <a:pPr algn="just"/>
            <a:r>
              <a:rPr lang="en-US" dirty="0"/>
              <a:t>Web services are widely used in modern web applications and enterprise systems.</a:t>
            </a:r>
          </a:p>
          <a:p>
            <a:pPr algn="just"/>
            <a:endParaRPr lang="en-IN" dirty="0"/>
          </a:p>
        </p:txBody>
      </p:sp>
    </p:spTree>
    <p:extLst>
      <p:ext uri="{BB962C8B-B14F-4D97-AF65-F5344CB8AC3E}">
        <p14:creationId xmlns:p14="http://schemas.microsoft.com/office/powerpoint/2010/main" val="62682795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411A0-4E8C-1817-CDE9-A2FF82C2E0C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57A944-8F28-6767-89CB-E5E6E2456EE9}"/>
              </a:ext>
            </a:extLst>
          </p:cNvPr>
          <p:cNvSpPr>
            <a:spLocks noGrp="1"/>
          </p:cNvSpPr>
          <p:nvPr>
            <p:ph idx="1"/>
          </p:nvPr>
        </p:nvSpPr>
        <p:spPr>
          <a:xfrm>
            <a:off x="838200" y="316523"/>
            <a:ext cx="10515600" cy="6224954"/>
          </a:xfrm>
        </p:spPr>
        <p:txBody>
          <a:bodyPr>
            <a:normAutofit lnSpcReduction="10000"/>
          </a:bodyPr>
          <a:lstStyle/>
          <a:p>
            <a:r>
              <a:rPr lang="en-US" b="1" dirty="0"/>
              <a:t>SOAP (Simple Object Access Protocol)</a:t>
            </a:r>
          </a:p>
          <a:p>
            <a:pPr algn="just"/>
            <a:r>
              <a:rPr lang="en-US" dirty="0"/>
              <a:t>SOAP is a protocol used for exchanging structured information in web services using XML. </a:t>
            </a:r>
          </a:p>
          <a:p>
            <a:pPr algn="just"/>
            <a:r>
              <a:rPr lang="en-US" dirty="0"/>
              <a:t>It defines a standard format for sending requests and receiving responses between client and server applications. </a:t>
            </a:r>
          </a:p>
          <a:p>
            <a:pPr algn="just"/>
            <a:r>
              <a:rPr lang="en-US" dirty="0"/>
              <a:t>SOAP works over HTTP, SMTP, and other protocols. </a:t>
            </a:r>
          </a:p>
          <a:p>
            <a:pPr algn="just"/>
            <a:r>
              <a:rPr lang="en-US" dirty="0"/>
              <a:t>It is platform-independent and language-independent. </a:t>
            </a:r>
          </a:p>
          <a:p>
            <a:pPr algn="just"/>
            <a:r>
              <a:rPr lang="en-US" dirty="0"/>
              <a:t>SOAP provides security, reliability, and error handling mechanisms.</a:t>
            </a:r>
          </a:p>
          <a:p>
            <a:r>
              <a:rPr lang="en-US" b="1" dirty="0"/>
              <a:t>SOAP Message Structure</a:t>
            </a:r>
          </a:p>
          <a:p>
            <a:pPr lvl="1"/>
            <a:r>
              <a:rPr lang="en-US" dirty="0"/>
              <a:t>A SOAP message contains:</a:t>
            </a:r>
          </a:p>
          <a:p>
            <a:pPr lvl="1"/>
            <a:r>
              <a:rPr lang="en-US" dirty="0"/>
              <a:t>Envelope </a:t>
            </a:r>
          </a:p>
          <a:p>
            <a:pPr lvl="1"/>
            <a:r>
              <a:rPr lang="en-US" dirty="0"/>
              <a:t>Header </a:t>
            </a:r>
          </a:p>
          <a:p>
            <a:pPr lvl="1"/>
            <a:r>
              <a:rPr lang="en-US" dirty="0"/>
              <a:t>Body </a:t>
            </a:r>
          </a:p>
          <a:p>
            <a:pPr lvl="1"/>
            <a:r>
              <a:rPr lang="en-US" dirty="0"/>
              <a:t>Fault (optional)</a:t>
            </a:r>
          </a:p>
          <a:p>
            <a:pPr algn="just"/>
            <a:endParaRPr lang="en-IN" dirty="0"/>
          </a:p>
        </p:txBody>
      </p:sp>
    </p:spTree>
    <p:extLst>
      <p:ext uri="{BB962C8B-B14F-4D97-AF65-F5344CB8AC3E}">
        <p14:creationId xmlns:p14="http://schemas.microsoft.com/office/powerpoint/2010/main" val="27408655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16A11-D59F-8CBF-DEFD-3F39310E79C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2B6CA4-EDB1-9B04-4037-76F45A7100F4}"/>
              </a:ext>
            </a:extLst>
          </p:cNvPr>
          <p:cNvSpPr>
            <a:spLocks noGrp="1"/>
          </p:cNvSpPr>
          <p:nvPr>
            <p:ph idx="1"/>
          </p:nvPr>
        </p:nvSpPr>
        <p:spPr>
          <a:xfrm>
            <a:off x="838200" y="316523"/>
            <a:ext cx="10515600" cy="6224954"/>
          </a:xfrm>
        </p:spPr>
        <p:txBody>
          <a:bodyPr/>
          <a:lstStyle/>
          <a:p>
            <a:pPr lvl="1" algn="just"/>
            <a:r>
              <a:rPr lang="en-US" dirty="0"/>
              <a:t>&lt;</a:t>
            </a:r>
            <a:r>
              <a:rPr lang="en-US" dirty="0" err="1"/>
              <a:t>soap:Envelope</a:t>
            </a:r>
            <a:r>
              <a:rPr lang="en-US" dirty="0"/>
              <a:t>&gt;</a:t>
            </a:r>
          </a:p>
          <a:p>
            <a:pPr lvl="1" algn="just"/>
            <a:r>
              <a:rPr lang="en-US" dirty="0"/>
              <a:t>   &lt;</a:t>
            </a:r>
            <a:r>
              <a:rPr lang="en-US" dirty="0" err="1"/>
              <a:t>soap:Body</a:t>
            </a:r>
            <a:r>
              <a:rPr lang="en-US" dirty="0"/>
              <a:t>&gt;</a:t>
            </a:r>
          </a:p>
          <a:p>
            <a:pPr lvl="1" algn="just"/>
            <a:r>
              <a:rPr lang="en-US" dirty="0"/>
              <a:t>      &lt;</a:t>
            </a:r>
            <a:r>
              <a:rPr lang="en-US" dirty="0" err="1"/>
              <a:t>getStudent</a:t>
            </a:r>
            <a:r>
              <a:rPr lang="en-US" dirty="0"/>
              <a:t>&gt;</a:t>
            </a:r>
          </a:p>
          <a:p>
            <a:pPr lvl="1" algn="just"/>
            <a:r>
              <a:rPr lang="en-US" dirty="0"/>
              <a:t>         &lt;id&gt;101&lt;/id&gt;</a:t>
            </a:r>
          </a:p>
          <a:p>
            <a:pPr lvl="1" algn="just"/>
            <a:r>
              <a:rPr lang="en-US" dirty="0"/>
              <a:t>      &lt;/</a:t>
            </a:r>
            <a:r>
              <a:rPr lang="en-US" dirty="0" err="1"/>
              <a:t>getStudent</a:t>
            </a:r>
            <a:r>
              <a:rPr lang="en-US" dirty="0"/>
              <a:t>&gt;</a:t>
            </a:r>
          </a:p>
          <a:p>
            <a:pPr lvl="1" algn="just"/>
            <a:r>
              <a:rPr lang="en-US" dirty="0"/>
              <a:t>   &lt;/</a:t>
            </a:r>
            <a:r>
              <a:rPr lang="en-US" dirty="0" err="1"/>
              <a:t>soap:Body</a:t>
            </a:r>
            <a:r>
              <a:rPr lang="en-US" dirty="0"/>
              <a:t>&gt;</a:t>
            </a:r>
          </a:p>
          <a:p>
            <a:pPr lvl="1" algn="just"/>
            <a:r>
              <a:rPr lang="en-US" dirty="0"/>
              <a:t>&lt;/</a:t>
            </a:r>
            <a:r>
              <a:rPr lang="en-US" dirty="0" err="1"/>
              <a:t>soap:Envelope</a:t>
            </a:r>
            <a:r>
              <a:rPr lang="en-US" dirty="0"/>
              <a:t>&gt;</a:t>
            </a:r>
            <a:endParaRPr lang="en-IN" dirty="0"/>
          </a:p>
        </p:txBody>
      </p:sp>
    </p:spTree>
    <p:extLst>
      <p:ext uri="{BB962C8B-B14F-4D97-AF65-F5344CB8AC3E}">
        <p14:creationId xmlns:p14="http://schemas.microsoft.com/office/powerpoint/2010/main" val="8596631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4D45E-880B-B0AB-12D9-DDC8456F2FA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6C847B-7805-26C8-9868-C1D27A9FFF57}"/>
              </a:ext>
            </a:extLst>
          </p:cNvPr>
          <p:cNvSpPr>
            <a:spLocks noGrp="1"/>
          </p:cNvSpPr>
          <p:nvPr>
            <p:ph idx="1"/>
          </p:nvPr>
        </p:nvSpPr>
        <p:spPr>
          <a:xfrm>
            <a:off x="838200" y="316523"/>
            <a:ext cx="10515600" cy="6224954"/>
          </a:xfrm>
        </p:spPr>
        <p:txBody>
          <a:bodyPr>
            <a:normAutofit fontScale="92500" lnSpcReduction="10000"/>
          </a:bodyPr>
          <a:lstStyle/>
          <a:p>
            <a:r>
              <a:rPr lang="en-US" b="1" dirty="0"/>
              <a:t>RPC Style SOAP</a:t>
            </a:r>
          </a:p>
          <a:p>
            <a:pPr algn="just"/>
            <a:r>
              <a:rPr lang="en-US" dirty="0"/>
              <a:t>RPC (Remote Procedure Call) Style SOAP is a SOAP-based communication style where the client calls methods or procedures on a remote server. </a:t>
            </a:r>
          </a:p>
          <a:p>
            <a:pPr algn="just"/>
            <a:r>
              <a:rPr lang="en-US" dirty="0"/>
              <a:t>The request contains the method name and parameters, while the response contains the returned value. </a:t>
            </a:r>
          </a:p>
          <a:p>
            <a:pPr algn="just"/>
            <a:r>
              <a:rPr lang="en-US" dirty="0"/>
              <a:t>It behaves similarly to calling a function in programming languages. </a:t>
            </a:r>
          </a:p>
          <a:p>
            <a:pPr algn="just"/>
            <a:r>
              <a:rPr lang="en-US" dirty="0"/>
              <a:t>RPC-style SOAP focuses on operations rather than documents. It is simpler for procedural communication.</a:t>
            </a:r>
          </a:p>
          <a:p>
            <a:r>
              <a:rPr lang="en-US" b="1" dirty="0"/>
              <a:t>RPC SOAP Request</a:t>
            </a:r>
          </a:p>
          <a:p>
            <a:pPr lvl="2" algn="just"/>
            <a:r>
              <a:rPr lang="en-US" dirty="0"/>
              <a:t>&lt;</a:t>
            </a:r>
            <a:r>
              <a:rPr lang="en-US" dirty="0" err="1"/>
              <a:t>soap:Envelope</a:t>
            </a:r>
            <a:r>
              <a:rPr lang="en-US" dirty="0"/>
              <a:t>&gt;</a:t>
            </a:r>
          </a:p>
          <a:p>
            <a:pPr lvl="2" algn="just"/>
            <a:r>
              <a:rPr lang="en-US" dirty="0"/>
              <a:t>   &lt;</a:t>
            </a:r>
            <a:r>
              <a:rPr lang="en-US" dirty="0" err="1"/>
              <a:t>soap:Body</a:t>
            </a:r>
            <a:r>
              <a:rPr lang="en-US" dirty="0"/>
              <a:t>&gt;</a:t>
            </a:r>
          </a:p>
          <a:p>
            <a:pPr lvl="2" algn="just"/>
            <a:r>
              <a:rPr lang="en-US" dirty="0"/>
              <a:t>      &lt;</a:t>
            </a:r>
            <a:r>
              <a:rPr lang="en-US" dirty="0" err="1"/>
              <a:t>addNumbers</a:t>
            </a:r>
            <a:r>
              <a:rPr lang="en-US" dirty="0"/>
              <a:t>&gt;</a:t>
            </a:r>
          </a:p>
          <a:p>
            <a:pPr lvl="2" algn="just"/>
            <a:r>
              <a:rPr lang="en-US" dirty="0"/>
              <a:t>         &lt;a&gt;10&lt;/a&gt;</a:t>
            </a:r>
          </a:p>
          <a:p>
            <a:pPr lvl="2" algn="just"/>
            <a:r>
              <a:rPr lang="en-US" dirty="0"/>
              <a:t>         &lt;b&gt;20&lt;/b&gt;</a:t>
            </a:r>
          </a:p>
          <a:p>
            <a:pPr lvl="2" algn="just"/>
            <a:r>
              <a:rPr lang="en-US" dirty="0"/>
              <a:t>      &lt;/</a:t>
            </a:r>
            <a:r>
              <a:rPr lang="en-US" dirty="0" err="1"/>
              <a:t>addNumbers</a:t>
            </a:r>
            <a:r>
              <a:rPr lang="en-US" dirty="0"/>
              <a:t>&gt;</a:t>
            </a:r>
          </a:p>
          <a:p>
            <a:pPr lvl="2" algn="just"/>
            <a:r>
              <a:rPr lang="en-US" dirty="0"/>
              <a:t>   &lt;/</a:t>
            </a:r>
            <a:r>
              <a:rPr lang="en-US" dirty="0" err="1"/>
              <a:t>soap:Body</a:t>
            </a:r>
            <a:r>
              <a:rPr lang="en-US" dirty="0"/>
              <a:t>&gt;</a:t>
            </a:r>
          </a:p>
          <a:p>
            <a:pPr lvl="2" algn="just"/>
            <a:r>
              <a:rPr lang="en-US" dirty="0"/>
              <a:t>&lt;/</a:t>
            </a:r>
            <a:r>
              <a:rPr lang="en-US" dirty="0" err="1"/>
              <a:t>soap:Envelope</a:t>
            </a:r>
            <a:r>
              <a:rPr lang="en-US" dirty="0"/>
              <a:t>&gt;</a:t>
            </a:r>
            <a:endParaRPr lang="en-IN" dirty="0"/>
          </a:p>
        </p:txBody>
      </p:sp>
    </p:spTree>
    <p:extLst>
      <p:ext uri="{BB962C8B-B14F-4D97-AF65-F5344CB8AC3E}">
        <p14:creationId xmlns:p14="http://schemas.microsoft.com/office/powerpoint/2010/main" val="285867132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6E9E2-5D62-3E75-05CB-63CABA29989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67D796-B14B-3358-EDCA-884D13901BBB}"/>
              </a:ext>
            </a:extLst>
          </p:cNvPr>
          <p:cNvSpPr>
            <a:spLocks noGrp="1"/>
          </p:cNvSpPr>
          <p:nvPr>
            <p:ph idx="1"/>
          </p:nvPr>
        </p:nvSpPr>
        <p:spPr>
          <a:xfrm>
            <a:off x="838200" y="316523"/>
            <a:ext cx="10515600" cy="6224954"/>
          </a:xfrm>
        </p:spPr>
        <p:txBody>
          <a:bodyPr/>
          <a:lstStyle/>
          <a:p>
            <a:pPr algn="just"/>
            <a:r>
              <a:rPr lang="en-IN" dirty="0"/>
              <a:t>RPC SOAP Response</a:t>
            </a:r>
          </a:p>
          <a:p>
            <a:pPr lvl="1" algn="just"/>
            <a:r>
              <a:rPr lang="en-US" dirty="0"/>
              <a:t>&lt;</a:t>
            </a:r>
            <a:r>
              <a:rPr lang="en-US" dirty="0" err="1"/>
              <a:t>soap:Envelope</a:t>
            </a:r>
            <a:r>
              <a:rPr lang="en-US" dirty="0"/>
              <a:t>&gt;</a:t>
            </a:r>
          </a:p>
          <a:p>
            <a:pPr lvl="1" algn="just"/>
            <a:r>
              <a:rPr lang="en-US" dirty="0"/>
              <a:t>   &lt;</a:t>
            </a:r>
            <a:r>
              <a:rPr lang="en-US" dirty="0" err="1"/>
              <a:t>soap:Body</a:t>
            </a:r>
            <a:r>
              <a:rPr lang="en-US" dirty="0"/>
              <a:t>&gt;</a:t>
            </a:r>
          </a:p>
          <a:p>
            <a:pPr lvl="1" algn="just"/>
            <a:r>
              <a:rPr lang="en-US" dirty="0"/>
              <a:t>      &lt;</a:t>
            </a:r>
            <a:r>
              <a:rPr lang="en-US" dirty="0" err="1"/>
              <a:t>addNumbersResponse</a:t>
            </a:r>
            <a:r>
              <a:rPr lang="en-US" dirty="0"/>
              <a:t>&gt;</a:t>
            </a:r>
          </a:p>
          <a:p>
            <a:pPr lvl="1" algn="just"/>
            <a:r>
              <a:rPr lang="en-US" dirty="0"/>
              <a:t>         &lt;result&gt;30&lt;/result&gt;</a:t>
            </a:r>
          </a:p>
          <a:p>
            <a:pPr lvl="1" algn="just"/>
            <a:r>
              <a:rPr lang="en-US" dirty="0"/>
              <a:t>      &lt;/</a:t>
            </a:r>
            <a:r>
              <a:rPr lang="en-US" dirty="0" err="1"/>
              <a:t>addNumbersResponse</a:t>
            </a:r>
            <a:r>
              <a:rPr lang="en-US" dirty="0"/>
              <a:t>&gt;</a:t>
            </a:r>
          </a:p>
          <a:p>
            <a:pPr lvl="1" algn="just"/>
            <a:r>
              <a:rPr lang="en-US" dirty="0"/>
              <a:t>   &lt;/</a:t>
            </a:r>
            <a:r>
              <a:rPr lang="en-US" dirty="0" err="1"/>
              <a:t>soap:Body</a:t>
            </a:r>
            <a:r>
              <a:rPr lang="en-US" dirty="0"/>
              <a:t>&gt;</a:t>
            </a:r>
          </a:p>
          <a:p>
            <a:pPr lvl="1" algn="just"/>
            <a:r>
              <a:rPr lang="en-US" dirty="0"/>
              <a:t>&lt;/</a:t>
            </a:r>
            <a:r>
              <a:rPr lang="en-US" dirty="0" err="1"/>
              <a:t>soap:Envelope</a:t>
            </a:r>
            <a:r>
              <a:rPr lang="en-US" dirty="0"/>
              <a:t>&gt;</a:t>
            </a:r>
            <a:endParaRPr lang="en-IN" dirty="0"/>
          </a:p>
        </p:txBody>
      </p:sp>
    </p:spTree>
    <p:extLst>
      <p:ext uri="{BB962C8B-B14F-4D97-AF65-F5344CB8AC3E}">
        <p14:creationId xmlns:p14="http://schemas.microsoft.com/office/powerpoint/2010/main" val="73280793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7943D8-6F21-EA6A-7A4A-97580050CA6D}"/>
              </a:ext>
            </a:extLst>
          </p:cNvPr>
          <p:cNvSpPr>
            <a:spLocks noGrp="1"/>
          </p:cNvSpPr>
          <p:nvPr>
            <p:ph idx="1"/>
          </p:nvPr>
        </p:nvSpPr>
        <p:spPr>
          <a:xfrm>
            <a:off x="838200" y="202223"/>
            <a:ext cx="10515600" cy="6462346"/>
          </a:xfrm>
        </p:spPr>
        <p:txBody>
          <a:bodyPr>
            <a:normAutofit/>
          </a:bodyPr>
          <a:lstStyle/>
          <a:p>
            <a:r>
              <a:rPr lang="en-IN" sz="2400" dirty="0"/>
              <a:t>Example of SOAP Fault (Error Message):</a:t>
            </a:r>
          </a:p>
          <a:p>
            <a:pPr marL="914400" lvl="2" indent="0">
              <a:buNone/>
            </a:pPr>
            <a:r>
              <a:rPr lang="en-IN" sz="1600" dirty="0"/>
              <a:t>HTTP/1.1 500 Internal Server Error</a:t>
            </a:r>
          </a:p>
          <a:p>
            <a:pPr marL="914400" lvl="2" indent="0">
              <a:buNone/>
            </a:pPr>
            <a:r>
              <a:rPr lang="en-IN" sz="1600" dirty="0"/>
              <a:t>Content-Type: text/xml; charset=utf-8</a:t>
            </a:r>
          </a:p>
          <a:p>
            <a:pPr marL="914400" lvl="2" indent="0">
              <a:buNone/>
            </a:pPr>
            <a:r>
              <a:rPr lang="en-IN" sz="1600" dirty="0"/>
              <a:t>Content-Length: </a:t>
            </a:r>
            <a:r>
              <a:rPr lang="en-IN" sz="1600" dirty="0" err="1"/>
              <a:t>nnn</a:t>
            </a:r>
            <a:endParaRPr lang="en-IN" sz="1600" dirty="0"/>
          </a:p>
          <a:p>
            <a:pPr marL="914400" lvl="2" indent="0">
              <a:buNone/>
            </a:pPr>
            <a:endParaRPr lang="en-IN" sz="1600" dirty="0"/>
          </a:p>
          <a:p>
            <a:pPr marL="914400" lvl="2" indent="0">
              <a:buNone/>
            </a:pPr>
            <a:r>
              <a:rPr lang="en-IN" sz="1600" dirty="0"/>
              <a:t>&lt;</a:t>
            </a:r>
            <a:r>
              <a:rPr lang="en-IN" sz="1600" dirty="0" err="1"/>
              <a:t>soap:Envelope</a:t>
            </a:r>
            <a:endParaRPr lang="en-IN" sz="1600" dirty="0"/>
          </a:p>
          <a:p>
            <a:pPr marL="914400" lvl="2" indent="0">
              <a:buNone/>
            </a:pPr>
            <a:r>
              <a:rPr lang="en-IN" sz="1600" dirty="0" err="1"/>
              <a:t>xmlns:soap</a:t>
            </a:r>
            <a:r>
              <a:rPr lang="en-IN" sz="1600" dirty="0"/>
              <a:t>="http://schemas.xmlsoap.org/soap/envelope/"&gt;</a:t>
            </a:r>
          </a:p>
          <a:p>
            <a:pPr marL="914400" lvl="2" indent="0">
              <a:buNone/>
            </a:pPr>
            <a:r>
              <a:rPr lang="en-IN" sz="1600" dirty="0"/>
              <a:t>    &lt;</a:t>
            </a:r>
            <a:r>
              <a:rPr lang="en-IN" sz="1600" dirty="0" err="1"/>
              <a:t>soap:Body</a:t>
            </a:r>
            <a:r>
              <a:rPr lang="en-IN" sz="1600" dirty="0"/>
              <a:t>&gt;</a:t>
            </a:r>
          </a:p>
          <a:p>
            <a:pPr marL="914400" lvl="2" indent="0">
              <a:buNone/>
            </a:pPr>
            <a:r>
              <a:rPr lang="en-IN" sz="1600" dirty="0"/>
              <a:t>        &lt;</a:t>
            </a:r>
            <a:r>
              <a:rPr lang="en-IN" sz="1600" dirty="0" err="1"/>
              <a:t>soap:Fault</a:t>
            </a:r>
            <a:r>
              <a:rPr lang="en-IN" sz="1600" dirty="0"/>
              <a:t>&gt;</a:t>
            </a:r>
          </a:p>
          <a:p>
            <a:pPr marL="914400" lvl="2" indent="0">
              <a:buNone/>
            </a:pPr>
            <a:r>
              <a:rPr lang="en-IN" sz="1600" dirty="0"/>
              <a:t>            &lt;</a:t>
            </a:r>
            <a:r>
              <a:rPr lang="en-IN" sz="1600" dirty="0" err="1"/>
              <a:t>faultcode</a:t>
            </a:r>
            <a:r>
              <a:rPr lang="en-IN" sz="1600" dirty="0"/>
              <a:t>&gt;</a:t>
            </a:r>
            <a:r>
              <a:rPr lang="en-IN" sz="1600" dirty="0" err="1"/>
              <a:t>soap:Client</a:t>
            </a:r>
            <a:r>
              <a:rPr lang="en-IN" sz="1600" dirty="0"/>
              <a:t>&lt;/</a:t>
            </a:r>
            <a:r>
              <a:rPr lang="en-IN" sz="1600" dirty="0" err="1"/>
              <a:t>faultcode</a:t>
            </a:r>
            <a:r>
              <a:rPr lang="en-IN" sz="1600" dirty="0"/>
              <a:t>&gt;</a:t>
            </a:r>
          </a:p>
          <a:p>
            <a:pPr marL="914400" lvl="2" indent="0">
              <a:buNone/>
            </a:pPr>
            <a:r>
              <a:rPr lang="en-IN" sz="1600" dirty="0"/>
              <a:t>            &lt;</a:t>
            </a:r>
            <a:r>
              <a:rPr lang="en-IN" sz="1600" dirty="0" err="1"/>
              <a:t>faultstring</a:t>
            </a:r>
            <a:r>
              <a:rPr lang="en-IN" sz="1600" dirty="0"/>
              <a:t>&gt;Invalid input values&lt;/</a:t>
            </a:r>
            <a:r>
              <a:rPr lang="en-IN" sz="1600" dirty="0" err="1"/>
              <a:t>faultstring</a:t>
            </a:r>
            <a:r>
              <a:rPr lang="en-IN" sz="1600" dirty="0"/>
              <a:t>&gt;</a:t>
            </a:r>
          </a:p>
          <a:p>
            <a:pPr marL="914400" lvl="2" indent="0">
              <a:buNone/>
            </a:pPr>
            <a:r>
              <a:rPr lang="en-IN" sz="1600" dirty="0"/>
              <a:t>        &lt;/</a:t>
            </a:r>
            <a:r>
              <a:rPr lang="en-IN" sz="1600" dirty="0" err="1"/>
              <a:t>soap:Fault</a:t>
            </a:r>
            <a:r>
              <a:rPr lang="en-IN" sz="1600" dirty="0"/>
              <a:t>&gt;</a:t>
            </a:r>
          </a:p>
          <a:p>
            <a:pPr marL="914400" lvl="2" indent="0">
              <a:buNone/>
            </a:pPr>
            <a:r>
              <a:rPr lang="en-IN" sz="1600" dirty="0"/>
              <a:t>    &lt;/</a:t>
            </a:r>
            <a:r>
              <a:rPr lang="en-IN" sz="1600" dirty="0" err="1"/>
              <a:t>soap:Body</a:t>
            </a:r>
            <a:r>
              <a:rPr lang="en-IN" sz="1600" dirty="0"/>
              <a:t>&gt;</a:t>
            </a:r>
          </a:p>
          <a:p>
            <a:pPr marL="914400" lvl="2" indent="0">
              <a:buNone/>
            </a:pPr>
            <a:r>
              <a:rPr lang="en-IN" sz="1600" dirty="0"/>
              <a:t>&lt;/</a:t>
            </a:r>
            <a:r>
              <a:rPr lang="en-IN" sz="1600" dirty="0" err="1"/>
              <a:t>soap:Envelope</a:t>
            </a:r>
            <a:r>
              <a:rPr lang="en-IN" sz="1600" dirty="0"/>
              <a:t>&gt;</a:t>
            </a:r>
          </a:p>
          <a:p>
            <a:pPr marL="0" indent="0">
              <a:buNone/>
            </a:pPr>
            <a:endParaRPr lang="en-IN" sz="2400" dirty="0"/>
          </a:p>
          <a:p>
            <a:pPr lvl="1"/>
            <a:r>
              <a:rPr lang="en-IN" sz="2000" dirty="0"/>
              <a:t>The </a:t>
            </a:r>
            <a:r>
              <a:rPr lang="en-IN" dirty="0"/>
              <a:t>Fault</a:t>
            </a:r>
            <a:r>
              <a:rPr lang="en-IN" sz="2000" dirty="0"/>
              <a:t> element indicates an error in processing the request. </a:t>
            </a:r>
          </a:p>
          <a:p>
            <a:pPr lvl="1"/>
            <a:r>
              <a:rPr lang="en-IN" dirty="0" err="1"/>
              <a:t>faultcode</a:t>
            </a:r>
            <a:r>
              <a:rPr lang="en-IN" sz="2000" dirty="0"/>
              <a:t> specifies the type of error. </a:t>
            </a:r>
          </a:p>
          <a:p>
            <a:pPr lvl="1"/>
            <a:r>
              <a:rPr lang="en-IN" dirty="0" err="1"/>
              <a:t>faultstring</a:t>
            </a:r>
            <a:r>
              <a:rPr lang="en-IN" sz="2000" dirty="0"/>
              <a:t> provides the error description.</a:t>
            </a:r>
          </a:p>
        </p:txBody>
      </p:sp>
    </p:spTree>
    <p:extLst>
      <p:ext uri="{BB962C8B-B14F-4D97-AF65-F5344CB8AC3E}">
        <p14:creationId xmlns:p14="http://schemas.microsoft.com/office/powerpoint/2010/main" val="22830165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D8ECC-797B-B450-B0B1-EB5ADC789B5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08702E-FD54-53F2-E9F3-841AF036CA86}"/>
              </a:ext>
            </a:extLst>
          </p:cNvPr>
          <p:cNvSpPr>
            <a:spLocks noGrp="1"/>
          </p:cNvSpPr>
          <p:nvPr>
            <p:ph idx="1"/>
          </p:nvPr>
        </p:nvSpPr>
        <p:spPr>
          <a:xfrm>
            <a:off x="838200" y="316523"/>
            <a:ext cx="10515600" cy="6224954"/>
          </a:xfrm>
        </p:spPr>
        <p:txBody>
          <a:bodyPr>
            <a:normAutofit fontScale="92500" lnSpcReduction="10000"/>
          </a:bodyPr>
          <a:lstStyle/>
          <a:p>
            <a:r>
              <a:rPr lang="en-US" b="1" dirty="0"/>
              <a:t>Document Style SOAP</a:t>
            </a:r>
          </a:p>
          <a:p>
            <a:pPr algn="just"/>
            <a:r>
              <a:rPr lang="en-US" dirty="0"/>
              <a:t>Document Style SOAP exchanges complete XML documents instead of method calls. </a:t>
            </a:r>
          </a:p>
          <a:p>
            <a:pPr algn="just"/>
            <a:r>
              <a:rPr lang="en-US" dirty="0"/>
              <a:t>The SOAP body contains structured XML data representing business documents. </a:t>
            </a:r>
          </a:p>
          <a:p>
            <a:pPr algn="just"/>
            <a:r>
              <a:rPr lang="en-US" dirty="0"/>
              <a:t>This style is more flexible and suitable for enterprise-level applications. </a:t>
            </a:r>
          </a:p>
          <a:p>
            <a:pPr algn="just"/>
            <a:r>
              <a:rPr lang="en-US" dirty="0"/>
              <a:t>Document-style SOAP supports complex data structures and interoperability better than RPC style. </a:t>
            </a:r>
          </a:p>
          <a:p>
            <a:pPr algn="just"/>
            <a:r>
              <a:rPr lang="en-US" dirty="0"/>
              <a:t>It is commonly used in large distributed systems.</a:t>
            </a:r>
          </a:p>
          <a:p>
            <a:pPr lvl="2" algn="just"/>
            <a:r>
              <a:rPr lang="en-US" dirty="0"/>
              <a:t>&lt;</a:t>
            </a:r>
            <a:r>
              <a:rPr lang="en-US" dirty="0" err="1"/>
              <a:t>soap:Envelope</a:t>
            </a:r>
            <a:r>
              <a:rPr lang="en-US" dirty="0"/>
              <a:t>&gt;</a:t>
            </a:r>
          </a:p>
          <a:p>
            <a:pPr lvl="2" algn="just"/>
            <a:r>
              <a:rPr lang="en-US" dirty="0"/>
              <a:t>   &lt;</a:t>
            </a:r>
            <a:r>
              <a:rPr lang="en-US" dirty="0" err="1"/>
              <a:t>soap:Body</a:t>
            </a:r>
            <a:r>
              <a:rPr lang="en-US" dirty="0"/>
              <a:t>&gt;</a:t>
            </a:r>
          </a:p>
          <a:p>
            <a:pPr lvl="2" algn="just"/>
            <a:r>
              <a:rPr lang="en-US" dirty="0"/>
              <a:t>      &lt;</a:t>
            </a:r>
            <a:r>
              <a:rPr lang="en-US" dirty="0" err="1"/>
              <a:t>StudentDetails</a:t>
            </a:r>
            <a:r>
              <a:rPr lang="en-US" dirty="0"/>
              <a:t>&gt;</a:t>
            </a:r>
          </a:p>
          <a:p>
            <a:pPr lvl="2" algn="just"/>
            <a:r>
              <a:rPr lang="en-US" dirty="0"/>
              <a:t>         &lt;Name&gt;Rahul&lt;/Name&gt;</a:t>
            </a:r>
          </a:p>
          <a:p>
            <a:pPr lvl="2" algn="just"/>
            <a:r>
              <a:rPr lang="en-US" dirty="0"/>
              <a:t>         &lt;Course&gt;MCA&lt;/Course&gt;</a:t>
            </a:r>
          </a:p>
          <a:p>
            <a:pPr lvl="2" algn="just"/>
            <a:r>
              <a:rPr lang="en-US" dirty="0"/>
              <a:t>      &lt;/</a:t>
            </a:r>
            <a:r>
              <a:rPr lang="en-US" dirty="0" err="1"/>
              <a:t>StudentDetails</a:t>
            </a:r>
            <a:r>
              <a:rPr lang="en-US" dirty="0"/>
              <a:t>&gt;</a:t>
            </a:r>
          </a:p>
          <a:p>
            <a:pPr lvl="2" algn="just"/>
            <a:r>
              <a:rPr lang="en-US" dirty="0"/>
              <a:t>   &lt;/</a:t>
            </a:r>
            <a:r>
              <a:rPr lang="en-US" dirty="0" err="1"/>
              <a:t>soap:Body</a:t>
            </a:r>
            <a:r>
              <a:rPr lang="en-US" dirty="0"/>
              <a:t>&gt;</a:t>
            </a:r>
          </a:p>
          <a:p>
            <a:pPr lvl="2" algn="just"/>
            <a:r>
              <a:rPr lang="en-US" dirty="0"/>
              <a:t>&lt;/</a:t>
            </a:r>
            <a:r>
              <a:rPr lang="en-US" dirty="0" err="1"/>
              <a:t>soap:Envelope</a:t>
            </a:r>
            <a:r>
              <a:rPr lang="en-US" dirty="0"/>
              <a:t>&gt;</a:t>
            </a:r>
            <a:endParaRPr lang="en-IN" dirty="0"/>
          </a:p>
        </p:txBody>
      </p:sp>
    </p:spTree>
    <p:extLst>
      <p:ext uri="{BB962C8B-B14F-4D97-AF65-F5344CB8AC3E}">
        <p14:creationId xmlns:p14="http://schemas.microsoft.com/office/powerpoint/2010/main" val="6538869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BF2D1-77A2-B7DF-0226-FFB4EC02456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C38374-DBB8-AB10-0993-56644F8C1438}"/>
              </a:ext>
            </a:extLst>
          </p:cNvPr>
          <p:cNvSpPr>
            <a:spLocks noGrp="1"/>
          </p:cNvSpPr>
          <p:nvPr>
            <p:ph idx="1"/>
          </p:nvPr>
        </p:nvSpPr>
        <p:spPr>
          <a:xfrm>
            <a:off x="838200" y="316523"/>
            <a:ext cx="10515600" cy="6224954"/>
          </a:xfrm>
        </p:spPr>
        <p:txBody>
          <a:bodyPr>
            <a:normAutofit/>
          </a:bodyPr>
          <a:lstStyle/>
          <a:p>
            <a:r>
              <a:rPr lang="en-US" b="1" dirty="0"/>
              <a:t>WSDL (Web Services Description Language)</a:t>
            </a:r>
          </a:p>
          <a:p>
            <a:pPr algn="just"/>
            <a:r>
              <a:rPr lang="en-US" dirty="0"/>
              <a:t>WSDL is an XML-based language used to describe web services. </a:t>
            </a:r>
          </a:p>
          <a:p>
            <a:pPr algn="just"/>
            <a:r>
              <a:rPr lang="en-US" dirty="0"/>
              <a:t>It defines the operations offered by a web service, input and output parameters, communication protocols, and service location. </a:t>
            </a:r>
          </a:p>
          <a:p>
            <a:pPr algn="just"/>
            <a:r>
              <a:rPr lang="en-US" dirty="0"/>
              <a:t>WSDL acts as a contract between the service provider and the client. </a:t>
            </a:r>
          </a:p>
          <a:p>
            <a:pPr algn="just"/>
            <a:r>
              <a:rPr lang="en-US" dirty="0"/>
              <a:t>It helps applications understand how to interact with the web service automatically. </a:t>
            </a:r>
          </a:p>
          <a:p>
            <a:pPr algn="just"/>
            <a:r>
              <a:rPr lang="en-US" dirty="0"/>
              <a:t>WSDL is mainly associated with SOAP-based web services.</a:t>
            </a:r>
          </a:p>
          <a:p>
            <a:r>
              <a:rPr lang="en-US" b="1" dirty="0"/>
              <a:t>WSDL Components</a:t>
            </a:r>
          </a:p>
          <a:p>
            <a:pPr lvl="2"/>
            <a:r>
              <a:rPr lang="en-US" dirty="0"/>
              <a:t>Types </a:t>
            </a:r>
          </a:p>
          <a:p>
            <a:pPr lvl="2"/>
            <a:r>
              <a:rPr lang="en-US" dirty="0"/>
              <a:t>Message </a:t>
            </a:r>
          </a:p>
          <a:p>
            <a:pPr lvl="2"/>
            <a:r>
              <a:rPr lang="en-US" dirty="0"/>
              <a:t>Port Type </a:t>
            </a:r>
          </a:p>
          <a:p>
            <a:pPr lvl="2"/>
            <a:r>
              <a:rPr lang="en-US" dirty="0"/>
              <a:t>Binding </a:t>
            </a:r>
          </a:p>
          <a:p>
            <a:pPr lvl="2"/>
            <a:r>
              <a:rPr lang="en-US" dirty="0"/>
              <a:t>Service</a:t>
            </a:r>
          </a:p>
          <a:p>
            <a:pPr algn="just"/>
            <a:endParaRPr lang="en-IN" dirty="0"/>
          </a:p>
        </p:txBody>
      </p:sp>
    </p:spTree>
    <p:extLst>
      <p:ext uri="{BB962C8B-B14F-4D97-AF65-F5344CB8AC3E}">
        <p14:creationId xmlns:p14="http://schemas.microsoft.com/office/powerpoint/2010/main" val="22621643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43BB3-1554-39DA-1510-CF4A2F6FC01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5C6FDF-45C8-BEE7-887B-0234CA29C78D}"/>
              </a:ext>
            </a:extLst>
          </p:cNvPr>
          <p:cNvSpPr>
            <a:spLocks noGrp="1"/>
          </p:cNvSpPr>
          <p:nvPr>
            <p:ph idx="1"/>
          </p:nvPr>
        </p:nvSpPr>
        <p:spPr>
          <a:xfrm>
            <a:off x="838200" y="316523"/>
            <a:ext cx="10515600" cy="6224954"/>
          </a:xfrm>
        </p:spPr>
        <p:txBody>
          <a:bodyPr>
            <a:normAutofit fontScale="92500" lnSpcReduction="10000"/>
          </a:bodyPr>
          <a:lstStyle/>
          <a:p>
            <a:r>
              <a:rPr lang="en-US" b="1" dirty="0"/>
              <a:t>REST Services</a:t>
            </a:r>
          </a:p>
          <a:p>
            <a:pPr algn="just"/>
            <a:r>
              <a:rPr lang="en-US" dirty="0"/>
              <a:t>REST (Representational State Transfer) is an architectural style used for developing lightweight web services. </a:t>
            </a:r>
          </a:p>
          <a:p>
            <a:pPr algn="just"/>
            <a:r>
              <a:rPr lang="en-US" dirty="0"/>
              <a:t>REST services use standard HTTP methods such as GET, POST, PUT, and DELETE for communication. </a:t>
            </a:r>
          </a:p>
          <a:p>
            <a:pPr algn="just"/>
            <a:r>
              <a:rPr lang="en-US" dirty="0"/>
              <a:t>Unlike SOAP, REST is simpler, faster, and does not require XML; it commonly uses JSON for data exchange. </a:t>
            </a:r>
          </a:p>
          <a:p>
            <a:pPr algn="just"/>
            <a:r>
              <a:rPr lang="en-US" dirty="0"/>
              <a:t>REST services are stateless, meaning each request is independent. </a:t>
            </a:r>
          </a:p>
          <a:p>
            <a:pPr algn="just"/>
            <a:r>
              <a:rPr lang="en-US" dirty="0"/>
              <a:t>REST APIs are widely used in modern web and mobile applications.</a:t>
            </a:r>
          </a:p>
          <a:p>
            <a:r>
              <a:rPr lang="en-US" b="1" dirty="0"/>
              <a:t>HTTP Methods in REST</a:t>
            </a:r>
          </a:p>
          <a:p>
            <a:pPr lvl="1"/>
            <a:r>
              <a:rPr lang="en-US" dirty="0"/>
              <a:t>GET → Retrieve data </a:t>
            </a:r>
          </a:p>
          <a:p>
            <a:pPr lvl="1"/>
            <a:r>
              <a:rPr lang="en-US" dirty="0"/>
              <a:t>POST → Insert data </a:t>
            </a:r>
          </a:p>
          <a:p>
            <a:pPr lvl="1"/>
            <a:r>
              <a:rPr lang="en-US" dirty="0"/>
              <a:t>PUT → Update data </a:t>
            </a:r>
          </a:p>
          <a:p>
            <a:pPr lvl="1"/>
            <a:r>
              <a:rPr lang="en-US" dirty="0"/>
              <a:t>DELETE → Remove data </a:t>
            </a:r>
          </a:p>
          <a:p>
            <a:r>
              <a:rPr lang="en-US" b="1" dirty="0"/>
              <a:t>REST Example</a:t>
            </a:r>
          </a:p>
          <a:p>
            <a:pPr lvl="1" algn="just"/>
            <a:r>
              <a:rPr lang="en-IN" dirty="0"/>
              <a:t>GET /students/101</a:t>
            </a:r>
          </a:p>
        </p:txBody>
      </p:sp>
    </p:spTree>
    <p:extLst>
      <p:ext uri="{BB962C8B-B14F-4D97-AF65-F5344CB8AC3E}">
        <p14:creationId xmlns:p14="http://schemas.microsoft.com/office/powerpoint/2010/main" val="128970086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E8305-5E78-F3D1-AE95-D1A212F1106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CE4BC0-89E7-58F5-4FEB-13A733BD2E50}"/>
              </a:ext>
            </a:extLst>
          </p:cNvPr>
          <p:cNvSpPr>
            <a:spLocks noGrp="1"/>
          </p:cNvSpPr>
          <p:nvPr>
            <p:ph idx="1"/>
          </p:nvPr>
        </p:nvSpPr>
        <p:spPr>
          <a:xfrm>
            <a:off x="838200" y="316523"/>
            <a:ext cx="10515600" cy="6224954"/>
          </a:xfrm>
        </p:spPr>
        <p:txBody>
          <a:bodyPr/>
          <a:lstStyle/>
          <a:p>
            <a:r>
              <a:rPr lang="en-US" b="1" dirty="0"/>
              <a:t>JSON Response</a:t>
            </a:r>
          </a:p>
          <a:p>
            <a:pPr lvl="1"/>
            <a:r>
              <a:rPr lang="en-US" dirty="0"/>
              <a:t>{</a:t>
            </a:r>
            <a:br>
              <a:rPr lang="en-US" dirty="0"/>
            </a:br>
            <a:r>
              <a:rPr lang="en-US" dirty="0"/>
              <a:t>  "id": 101,</a:t>
            </a:r>
            <a:br>
              <a:rPr lang="en-US" dirty="0"/>
            </a:br>
            <a:r>
              <a:rPr lang="en-US" dirty="0"/>
              <a:t>  "name": "Rahul",</a:t>
            </a:r>
            <a:br>
              <a:rPr lang="en-US" dirty="0"/>
            </a:br>
            <a:r>
              <a:rPr lang="en-US" dirty="0"/>
              <a:t>  "course": "MCA"</a:t>
            </a:r>
            <a:br>
              <a:rPr lang="en-US" dirty="0"/>
            </a:br>
            <a:r>
              <a:rPr lang="en-US" dirty="0"/>
              <a:t>}</a:t>
            </a:r>
          </a:p>
          <a:p>
            <a:pPr algn="just"/>
            <a:endParaRPr lang="en-IN" dirty="0"/>
          </a:p>
        </p:txBody>
      </p:sp>
    </p:spTree>
    <p:extLst>
      <p:ext uri="{BB962C8B-B14F-4D97-AF65-F5344CB8AC3E}">
        <p14:creationId xmlns:p14="http://schemas.microsoft.com/office/powerpoint/2010/main" val="218545766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3B71A-60AE-2D3D-2DAA-71580D40C9A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F5091F-7E85-0340-05A6-0FEDCCEFDB2C}"/>
              </a:ext>
            </a:extLst>
          </p:cNvPr>
          <p:cNvSpPr>
            <a:spLocks noGrp="1"/>
          </p:cNvSpPr>
          <p:nvPr>
            <p:ph idx="1"/>
          </p:nvPr>
        </p:nvSpPr>
        <p:spPr>
          <a:xfrm>
            <a:off x="838200" y="316523"/>
            <a:ext cx="10515600" cy="6224954"/>
          </a:xfrm>
        </p:spPr>
        <p:txBody>
          <a:bodyPr/>
          <a:lstStyle/>
          <a:p>
            <a:pPr algn="just"/>
            <a:r>
              <a:rPr lang="en-US" sz="2400" dirty="0"/>
              <a:t>Mash up Applications:</a:t>
            </a:r>
          </a:p>
          <a:p>
            <a:pPr lvl="1"/>
            <a:r>
              <a:rPr lang="en-IN" dirty="0"/>
              <a:t>A mashup application is a web application that combines data or services from multiple sources and displays them together in a single interface. </a:t>
            </a:r>
          </a:p>
          <a:p>
            <a:pPr lvl="1"/>
            <a:r>
              <a:rPr lang="en-IN" dirty="0"/>
              <a:t>AJAX plays an important role in mashup applications because it allows data to be fetched asynchronously from servers without reloading the webpage. </a:t>
            </a:r>
          </a:p>
          <a:p>
            <a:pPr lvl="1"/>
            <a:r>
              <a:rPr lang="en-IN" dirty="0"/>
              <a:t>This improves user interaction and provides dynamic updates.</a:t>
            </a:r>
          </a:p>
          <a:p>
            <a:endParaRPr lang="en-IN" dirty="0"/>
          </a:p>
          <a:p>
            <a:pPr lvl="1"/>
            <a:r>
              <a:rPr lang="en-IN" dirty="0"/>
              <a:t>For example, consider a simple mashup application that displays weather information and news headlines together on a webpage. </a:t>
            </a:r>
          </a:p>
          <a:p>
            <a:pPr lvl="1"/>
            <a:r>
              <a:rPr lang="en-IN" dirty="0"/>
              <a:t>The application fetches weather data from one server and news data from another server using AJAX requests.</a:t>
            </a:r>
          </a:p>
          <a:p>
            <a:pPr lvl="1" algn="just"/>
            <a:endParaRPr lang="en-US" sz="2000" dirty="0"/>
          </a:p>
          <a:p>
            <a:pPr lvl="1" algn="just"/>
            <a:endParaRPr lang="en-IN" dirty="0"/>
          </a:p>
        </p:txBody>
      </p:sp>
    </p:spTree>
    <p:extLst>
      <p:ext uri="{BB962C8B-B14F-4D97-AF65-F5344CB8AC3E}">
        <p14:creationId xmlns:p14="http://schemas.microsoft.com/office/powerpoint/2010/main" val="266025422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9CF27B-D2AB-0B3A-2364-ABF3C638E1CF}"/>
              </a:ext>
            </a:extLst>
          </p:cNvPr>
          <p:cNvSpPr>
            <a:spLocks noGrp="1"/>
          </p:cNvSpPr>
          <p:nvPr>
            <p:ph idx="1"/>
          </p:nvPr>
        </p:nvSpPr>
        <p:spPr>
          <a:xfrm>
            <a:off x="838200" y="307730"/>
            <a:ext cx="10515600" cy="6198577"/>
          </a:xfrm>
        </p:spPr>
        <p:txBody>
          <a:bodyPr>
            <a:normAutofit/>
          </a:bodyPr>
          <a:lstStyle/>
          <a:p>
            <a:pPr>
              <a:buNone/>
            </a:pPr>
            <a:r>
              <a:rPr lang="en-IN" sz="1800" dirty="0"/>
              <a:t>The development steps involved in creating the mashup application are as follows:</a:t>
            </a:r>
          </a:p>
          <a:p>
            <a:pPr>
              <a:buFont typeface="+mj-lt"/>
              <a:buAutoNum type="arabicPeriod"/>
            </a:pPr>
            <a:r>
              <a:rPr lang="en-IN" sz="1800" dirty="0"/>
              <a:t>Design the Web Page</a:t>
            </a:r>
            <a:br>
              <a:rPr lang="en-IN" sz="1800" dirty="0"/>
            </a:br>
            <a:r>
              <a:rPr lang="en-IN" sz="1800" dirty="0"/>
              <a:t>Create an HTML page with separate sections to display weather details and news headlines. </a:t>
            </a:r>
          </a:p>
          <a:p>
            <a:pPr>
              <a:buFont typeface="+mj-lt"/>
              <a:buAutoNum type="arabicPeriod"/>
            </a:pPr>
            <a:r>
              <a:rPr lang="en-IN" sz="1800" dirty="0"/>
              <a:t>Create AJAX Requests</a:t>
            </a:r>
            <a:br>
              <a:rPr lang="en-IN" sz="1800" dirty="0"/>
            </a:br>
            <a:r>
              <a:rPr lang="en-IN" sz="1800" dirty="0"/>
              <a:t>Use JavaScript and </a:t>
            </a:r>
            <a:r>
              <a:rPr lang="en-IN" sz="1800" dirty="0" err="1">
                <a:latin typeface="Courier New" panose="02070309020205020404" pitchFamily="49" charset="0"/>
              </a:rPr>
              <a:t>XMLHttpRequest</a:t>
            </a:r>
            <a:r>
              <a:rPr lang="en-IN" sz="1800" dirty="0"/>
              <a:t> (or Fetch API) to send asynchronous requests to different APIs or server resources. </a:t>
            </a:r>
          </a:p>
          <a:p>
            <a:pPr>
              <a:buFont typeface="+mj-lt"/>
              <a:buAutoNum type="arabicPeriod"/>
            </a:pPr>
            <a:r>
              <a:rPr lang="en-IN" sz="1800" dirty="0"/>
              <a:t>Fetch Data from Multiple Sources</a:t>
            </a:r>
            <a:br>
              <a:rPr lang="en-IN" sz="1800" dirty="0"/>
            </a:br>
            <a:r>
              <a:rPr lang="en-IN" sz="1800" dirty="0"/>
              <a:t>One AJAX request retrieves weather data from a weather service, while another request retrieves news data from a news service. </a:t>
            </a:r>
          </a:p>
          <a:p>
            <a:pPr>
              <a:buFont typeface="+mj-lt"/>
              <a:buAutoNum type="arabicPeriod"/>
            </a:pPr>
            <a:r>
              <a:rPr lang="en-IN" sz="1800" dirty="0"/>
              <a:t>Process the Returned Data</a:t>
            </a:r>
            <a:br>
              <a:rPr lang="en-IN" sz="1800" dirty="0"/>
            </a:br>
            <a:r>
              <a:rPr lang="en-IN" sz="1800" dirty="0"/>
              <a:t>The server responses are usually received in JSON or XML format. JavaScript parses the data and extracts the required information. </a:t>
            </a:r>
          </a:p>
          <a:p>
            <a:pPr>
              <a:buFont typeface="+mj-lt"/>
              <a:buAutoNum type="arabicPeriod"/>
            </a:pPr>
            <a:r>
              <a:rPr lang="en-IN" sz="1800" dirty="0"/>
              <a:t>Dynamically Update the Webpage</a:t>
            </a:r>
            <a:br>
              <a:rPr lang="en-IN" sz="1800" dirty="0"/>
            </a:br>
            <a:r>
              <a:rPr lang="en-IN" sz="1800" dirty="0"/>
              <a:t>Using DOM manipulation, the fetched data is inserted into HTML elements without refreshing the page. </a:t>
            </a:r>
          </a:p>
          <a:p>
            <a:pPr>
              <a:buFont typeface="+mj-lt"/>
              <a:buAutoNum type="arabicPeriod"/>
            </a:pPr>
            <a:r>
              <a:rPr lang="en-IN" sz="1800" dirty="0"/>
              <a:t>Display Combined Information</a:t>
            </a:r>
            <a:br>
              <a:rPr lang="en-IN" sz="1800" dirty="0"/>
            </a:br>
            <a:r>
              <a:rPr lang="en-IN" sz="1800" dirty="0"/>
              <a:t>The webpage finally displays weather details and news headlines together, forming a mashup application.</a:t>
            </a:r>
          </a:p>
          <a:p>
            <a:endParaRPr lang="en-US" sz="2400" dirty="0"/>
          </a:p>
          <a:p>
            <a:pPr lvl="1"/>
            <a:endParaRPr lang="en-IN" sz="2000" dirty="0"/>
          </a:p>
          <a:p>
            <a:pPr lvl="1"/>
            <a:endParaRPr lang="en-IN" sz="2000" dirty="0"/>
          </a:p>
          <a:p>
            <a:pPr lvl="1"/>
            <a:endParaRPr lang="en-IN" sz="2000" dirty="0"/>
          </a:p>
        </p:txBody>
      </p:sp>
    </p:spTree>
    <p:extLst>
      <p:ext uri="{BB962C8B-B14F-4D97-AF65-F5344CB8AC3E}">
        <p14:creationId xmlns:p14="http://schemas.microsoft.com/office/powerpoint/2010/main" val="418953969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772F1-1E8B-4581-BEC4-BEFABC82DB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3DA91F-F445-1899-1971-3C1949815C5F}"/>
              </a:ext>
            </a:extLst>
          </p:cNvPr>
          <p:cNvSpPr>
            <a:spLocks noGrp="1"/>
          </p:cNvSpPr>
          <p:nvPr>
            <p:ph idx="1"/>
          </p:nvPr>
        </p:nvSpPr>
        <p:spPr>
          <a:xfrm>
            <a:off x="281354" y="307730"/>
            <a:ext cx="5433646" cy="6198577"/>
          </a:xfrm>
        </p:spPr>
        <p:txBody>
          <a:bodyPr>
            <a:normAutofit/>
          </a:bodyPr>
          <a:lstStyle/>
          <a:p>
            <a:endParaRPr lang="en-IN" sz="1200" dirty="0"/>
          </a:p>
          <a:p>
            <a:r>
              <a:rPr lang="en-IN" sz="1200" dirty="0"/>
              <a:t>&lt;!DOCTYPE html&gt;</a:t>
            </a:r>
            <a:br>
              <a:rPr lang="en-IN" sz="1200" dirty="0"/>
            </a:br>
            <a:r>
              <a:rPr lang="en-IN" sz="1200" dirty="0"/>
              <a:t>&lt;html&gt;</a:t>
            </a:r>
            <a:br>
              <a:rPr lang="en-IN" sz="1200" dirty="0"/>
            </a:br>
            <a:r>
              <a:rPr lang="en-IN" sz="1200" dirty="0"/>
              <a:t>&lt;head&gt;</a:t>
            </a:r>
            <a:br>
              <a:rPr lang="en-IN" sz="1200" dirty="0"/>
            </a:br>
            <a:r>
              <a:rPr lang="en-IN" sz="1200" dirty="0"/>
              <a:t>&lt;title&gt;Simple AJAX Mashup&lt;/title&gt;</a:t>
            </a:r>
            <a:br>
              <a:rPr lang="en-IN" sz="1200" dirty="0"/>
            </a:br>
            <a:r>
              <a:rPr lang="en-IN" sz="1200" dirty="0"/>
              <a:t>&lt;/head&gt;</a:t>
            </a:r>
            <a:br>
              <a:rPr lang="en-IN" sz="1200" dirty="0"/>
            </a:br>
            <a:r>
              <a:rPr lang="en-IN" sz="1200" dirty="0"/>
              <a:t>&lt;body&gt;</a:t>
            </a:r>
            <a:br>
              <a:rPr lang="en-IN" sz="1200" dirty="0"/>
            </a:br>
            <a:br>
              <a:rPr lang="en-IN" sz="1200" dirty="0"/>
            </a:br>
            <a:r>
              <a:rPr lang="en-IN" sz="1200" dirty="0"/>
              <a:t>&lt;h2&gt;Weather Information&lt;/h2&gt;</a:t>
            </a:r>
            <a:br>
              <a:rPr lang="en-IN" sz="1200" dirty="0"/>
            </a:br>
            <a:r>
              <a:rPr lang="en-IN" sz="1200" dirty="0"/>
              <a:t>&lt;div id="weather"&gt;&lt;/div&gt;</a:t>
            </a:r>
            <a:br>
              <a:rPr lang="en-IN" sz="1200" dirty="0"/>
            </a:br>
            <a:br>
              <a:rPr lang="en-IN" sz="1200" dirty="0"/>
            </a:br>
            <a:r>
              <a:rPr lang="en-IN" sz="1200" dirty="0"/>
              <a:t>&lt;h2&gt;Latest News&lt;/h2&gt;</a:t>
            </a:r>
            <a:br>
              <a:rPr lang="en-IN" sz="1200" dirty="0"/>
            </a:br>
            <a:r>
              <a:rPr lang="en-IN" sz="1200" dirty="0"/>
              <a:t>&lt;div id="news"&gt;&lt;/div&gt;</a:t>
            </a:r>
            <a:br>
              <a:rPr lang="en-IN" sz="1200" dirty="0"/>
            </a:br>
            <a:br>
              <a:rPr lang="en-IN" sz="1200" dirty="0"/>
            </a:br>
            <a:r>
              <a:rPr lang="en-IN" sz="1200" dirty="0"/>
              <a:t>&lt;script&gt;</a:t>
            </a:r>
            <a:br>
              <a:rPr lang="en-IN" sz="1200" dirty="0"/>
            </a:br>
            <a:br>
              <a:rPr lang="en-IN" sz="1200" dirty="0"/>
            </a:br>
            <a:r>
              <a:rPr lang="en-IN" sz="1200" dirty="0"/>
              <a:t>// Fetch Weather Data</a:t>
            </a:r>
            <a:br>
              <a:rPr lang="en-IN" sz="1200" dirty="0"/>
            </a:br>
            <a:r>
              <a:rPr lang="en-IN" sz="1200" dirty="0"/>
              <a:t>var </a:t>
            </a:r>
            <a:r>
              <a:rPr lang="en-IN" sz="1200" dirty="0" err="1"/>
              <a:t>weatherRequest</a:t>
            </a:r>
            <a:r>
              <a:rPr lang="en-IN" sz="1200" dirty="0"/>
              <a:t> = new </a:t>
            </a:r>
            <a:r>
              <a:rPr lang="en-IN" sz="1200" dirty="0" err="1"/>
              <a:t>XMLHttpRequest</a:t>
            </a:r>
            <a:r>
              <a:rPr lang="en-IN" sz="1200" dirty="0"/>
              <a:t>();</a:t>
            </a:r>
            <a:br>
              <a:rPr lang="en-IN" sz="1200" dirty="0"/>
            </a:br>
            <a:br>
              <a:rPr lang="en-IN" sz="1200" dirty="0"/>
            </a:br>
            <a:r>
              <a:rPr lang="en-IN" sz="1200" dirty="0" err="1"/>
              <a:t>weatherRequest.onreadystatechange</a:t>
            </a:r>
            <a:r>
              <a:rPr lang="en-IN" sz="1200" dirty="0"/>
              <a:t> = function () {</a:t>
            </a:r>
            <a:br>
              <a:rPr lang="en-IN" sz="1200" dirty="0"/>
            </a:br>
            <a:r>
              <a:rPr lang="en-IN" sz="1200" dirty="0"/>
              <a:t>if (</a:t>
            </a:r>
            <a:r>
              <a:rPr lang="en-IN" sz="1200" dirty="0" err="1"/>
              <a:t>weatherRequest.readyState</a:t>
            </a:r>
            <a:r>
              <a:rPr lang="en-IN" sz="1200" dirty="0"/>
              <a:t> == 4 &amp;&amp; </a:t>
            </a:r>
            <a:r>
              <a:rPr lang="en-IN" sz="1200" dirty="0" err="1"/>
              <a:t>weatherRequest.status</a:t>
            </a:r>
            <a:r>
              <a:rPr lang="en-IN" sz="1200" dirty="0"/>
              <a:t> == 200) {</a:t>
            </a:r>
            <a:br>
              <a:rPr lang="en-IN" sz="1200" dirty="0"/>
            </a:br>
            <a:br>
              <a:rPr lang="en-IN" sz="1200" dirty="0"/>
            </a:br>
            <a:r>
              <a:rPr lang="en-IN" sz="1200" dirty="0"/>
              <a:t>var </a:t>
            </a:r>
            <a:r>
              <a:rPr lang="en-IN" sz="1200" dirty="0" err="1"/>
              <a:t>weatherData</a:t>
            </a:r>
            <a:r>
              <a:rPr lang="en-IN" sz="1200" dirty="0"/>
              <a:t> = </a:t>
            </a:r>
            <a:r>
              <a:rPr lang="en-IN" sz="1200" dirty="0" err="1"/>
              <a:t>JSON.parse</a:t>
            </a:r>
            <a:r>
              <a:rPr lang="en-IN" sz="1200" dirty="0"/>
              <a:t>(</a:t>
            </a:r>
            <a:r>
              <a:rPr lang="en-IN" sz="1200" dirty="0" err="1"/>
              <a:t>weatherRequest.responseText</a:t>
            </a:r>
            <a:r>
              <a:rPr lang="en-IN" sz="1200" dirty="0"/>
              <a:t>);</a:t>
            </a:r>
            <a:br>
              <a:rPr lang="en-IN" sz="1200" dirty="0"/>
            </a:br>
            <a:br>
              <a:rPr lang="en-IN" sz="1200" dirty="0"/>
            </a:br>
            <a:r>
              <a:rPr lang="en-IN" sz="1200" dirty="0" err="1"/>
              <a:t>document.getElementById</a:t>
            </a:r>
            <a:r>
              <a:rPr lang="en-IN" sz="1200" dirty="0"/>
              <a:t>("weather").</a:t>
            </a:r>
            <a:r>
              <a:rPr lang="en-IN" sz="1200" dirty="0" err="1"/>
              <a:t>innerHTML</a:t>
            </a:r>
            <a:r>
              <a:rPr lang="en-IN" sz="1200" dirty="0"/>
              <a:t> =</a:t>
            </a:r>
            <a:br>
              <a:rPr lang="en-IN" sz="1200" dirty="0"/>
            </a:br>
            <a:r>
              <a:rPr lang="en-IN" sz="1200" dirty="0"/>
              <a:t>"Temperature: " + </a:t>
            </a:r>
            <a:r>
              <a:rPr lang="en-IN" sz="1200" dirty="0" err="1"/>
              <a:t>weatherData.temperature</a:t>
            </a:r>
            <a:r>
              <a:rPr lang="en-IN" sz="1200" dirty="0"/>
              <a:t> +</a:t>
            </a:r>
            <a:br>
              <a:rPr lang="en-IN" sz="1200" dirty="0"/>
            </a:br>
            <a:r>
              <a:rPr lang="en-IN" sz="1200" dirty="0"/>
              <a:t>"&lt;</a:t>
            </a:r>
            <a:r>
              <a:rPr lang="en-IN" sz="1200" dirty="0" err="1"/>
              <a:t>br</a:t>
            </a:r>
            <a:r>
              <a:rPr lang="en-IN" sz="1200" dirty="0"/>
              <a:t>&gt;Condition: " + </a:t>
            </a:r>
            <a:r>
              <a:rPr lang="en-IN" sz="1200" dirty="0" err="1"/>
              <a:t>weatherData.condition</a:t>
            </a:r>
            <a:r>
              <a:rPr lang="en-IN" sz="1200" dirty="0"/>
              <a:t>;</a:t>
            </a:r>
            <a:br>
              <a:rPr lang="en-IN" sz="1200" dirty="0"/>
            </a:br>
            <a:r>
              <a:rPr lang="en-IN" sz="1200" dirty="0"/>
              <a:t>}</a:t>
            </a:r>
            <a:br>
              <a:rPr lang="en-IN" sz="1200" dirty="0"/>
            </a:br>
            <a:r>
              <a:rPr lang="en-IN" sz="1200" dirty="0"/>
              <a:t>};</a:t>
            </a:r>
            <a:br>
              <a:rPr lang="en-IN" sz="4000" dirty="0"/>
            </a:br>
            <a:br>
              <a:rPr lang="en-IN" sz="4000" dirty="0"/>
            </a:br>
            <a:endParaRPr lang="en-IN" sz="2000" dirty="0"/>
          </a:p>
          <a:p>
            <a:pPr lvl="1"/>
            <a:endParaRPr lang="en-IN" sz="2000" dirty="0"/>
          </a:p>
          <a:p>
            <a:pPr lvl="1"/>
            <a:endParaRPr lang="en-IN" sz="2000" dirty="0"/>
          </a:p>
        </p:txBody>
      </p:sp>
      <p:sp>
        <p:nvSpPr>
          <p:cNvPr id="2" name="TextBox 1">
            <a:extLst>
              <a:ext uri="{FF2B5EF4-FFF2-40B4-BE49-F238E27FC236}">
                <a16:creationId xmlns:a16="http://schemas.microsoft.com/office/drawing/2014/main" id="{DDC11B01-414F-32D7-59B6-D879629F0355}"/>
              </a:ext>
            </a:extLst>
          </p:cNvPr>
          <p:cNvSpPr txBox="1"/>
          <p:nvPr/>
        </p:nvSpPr>
        <p:spPr>
          <a:xfrm>
            <a:off x="5961184" y="272562"/>
            <a:ext cx="5539153" cy="4108817"/>
          </a:xfrm>
          <a:prstGeom prst="rect">
            <a:avLst/>
          </a:prstGeom>
          <a:noFill/>
        </p:spPr>
        <p:txBody>
          <a:bodyPr wrap="square" rtlCol="0">
            <a:spAutoFit/>
          </a:bodyPr>
          <a:lstStyle/>
          <a:p>
            <a:pPr marR="0" lvl="0" algn="l" defTabSz="914400" rtl="0" eaLnBrk="1" fontAlgn="auto" latinLnBrk="0" hangingPunct="1">
              <a:lnSpc>
                <a:spcPct val="90000"/>
              </a:lnSpc>
              <a:spcBef>
                <a:spcPts val="1000"/>
              </a:spcBef>
              <a:spcAft>
                <a:spcPts val="0"/>
              </a:spcAft>
              <a:buClrTx/>
              <a:buSzTx/>
              <a:tabLst/>
              <a:defRPr/>
            </a:pP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weatherRequest.open</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("GET", "</a:t>
            </a: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weather.json</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true);</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weatherRequest.send</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Fetch News Data</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var </a:t>
            </a: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newsRequest</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 new </a:t>
            </a: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XMLHttpRequest</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newsRequest.onreadystatechange</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 function () {</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if (</a:t>
            </a: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newsRequest.readyState</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 4 &amp;&amp; </a:t>
            </a: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newsRequest.status</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 200) {</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var </a:t>
            </a: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newsData</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JSON.parse</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newsRequest.responseText</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var output = "";</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for (var </a:t>
            </a: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i</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 0; </a:t>
            </a: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i</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&lt; </a:t>
            </a: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newsData.length</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i</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output += "&lt;p&gt;" + </a:t>
            </a: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newsData</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i</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].headline + "&lt;/p&gt;";</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document.getElementById</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("news").</a:t>
            </a: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innerHTML</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 output;</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newsRequest.open</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("GET", "</a:t>
            </a: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news.json</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 true);</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err="1">
                <a:ln>
                  <a:noFill/>
                </a:ln>
                <a:solidFill>
                  <a:prstClr val="black"/>
                </a:solidFill>
                <a:effectLst/>
                <a:uLnTx/>
                <a:uFillTx/>
                <a:latin typeface="Calibri" panose="020F0502020204030204"/>
                <a:ea typeface="+mn-ea"/>
                <a:cs typeface="+mn-cs"/>
              </a:rPr>
              <a:t>newsRequest.send</a:t>
            </a: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&lt;/script&gt;</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&lt;/body&gt;</a:t>
            </a:r>
            <a:b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IN" sz="1000" b="0" i="0" u="none" strike="noStrike" kern="1200" cap="none" spc="0" normalizeH="0" baseline="0" noProof="0" dirty="0">
                <a:ln>
                  <a:noFill/>
                </a:ln>
                <a:solidFill>
                  <a:prstClr val="black"/>
                </a:solidFill>
                <a:effectLst/>
                <a:uLnTx/>
                <a:uFillTx/>
                <a:latin typeface="Calibri" panose="020F0502020204030204"/>
                <a:ea typeface="+mn-ea"/>
                <a:cs typeface="+mn-cs"/>
              </a:rPr>
              <a:t>&lt;/html&gt;</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251552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1D181-A5E9-E3FA-2F95-CAED2A64875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10893F-A2AD-2F70-D890-0CE92A6116E9}"/>
              </a:ext>
            </a:extLst>
          </p:cNvPr>
          <p:cNvSpPr>
            <a:spLocks noGrp="1"/>
          </p:cNvSpPr>
          <p:nvPr>
            <p:ph idx="1"/>
          </p:nvPr>
        </p:nvSpPr>
        <p:spPr>
          <a:xfrm>
            <a:off x="838200" y="307730"/>
            <a:ext cx="10515600" cy="6198577"/>
          </a:xfrm>
        </p:spPr>
        <p:txBody>
          <a:bodyPr>
            <a:normAutofit/>
          </a:bodyPr>
          <a:lstStyle/>
          <a:p>
            <a:r>
              <a:rPr lang="en-IN" sz="2400" dirty="0" err="1"/>
              <a:t>weather.json</a:t>
            </a:r>
            <a:endParaRPr lang="en-US" sz="2400" dirty="0"/>
          </a:p>
          <a:p>
            <a:pPr lvl="1"/>
            <a:r>
              <a:rPr lang="en-IN" sz="2000" dirty="0"/>
              <a:t>{</a:t>
            </a:r>
            <a:br>
              <a:rPr lang="en-IN" sz="2000" dirty="0"/>
            </a:br>
            <a:r>
              <a:rPr lang="en-IN" sz="2000" dirty="0"/>
              <a:t>"temperature": "30°C",</a:t>
            </a:r>
            <a:br>
              <a:rPr lang="en-IN" sz="2000" dirty="0"/>
            </a:br>
            <a:r>
              <a:rPr lang="en-IN" sz="2000" dirty="0"/>
              <a:t>"condition": "Sunny"</a:t>
            </a:r>
            <a:br>
              <a:rPr lang="en-IN" sz="2000" dirty="0"/>
            </a:br>
            <a:r>
              <a:rPr lang="en-IN" sz="2000" dirty="0"/>
              <a:t>}</a:t>
            </a:r>
          </a:p>
          <a:p>
            <a:endParaRPr lang="en-IN" sz="2400" dirty="0"/>
          </a:p>
          <a:p>
            <a:r>
              <a:rPr lang="en-IN" sz="2400" dirty="0" err="1"/>
              <a:t>news.json</a:t>
            </a:r>
            <a:endParaRPr lang="en-IN" sz="2400" dirty="0"/>
          </a:p>
          <a:p>
            <a:pPr lvl="1"/>
            <a:r>
              <a:rPr lang="en-IN" dirty="0"/>
              <a:t>[</a:t>
            </a:r>
            <a:br>
              <a:rPr lang="en-IN" dirty="0"/>
            </a:br>
            <a:r>
              <a:rPr lang="en-IN" dirty="0"/>
              <a:t>{"</a:t>
            </a:r>
            <a:r>
              <a:rPr lang="en-IN" dirty="0" err="1"/>
              <a:t>headline":"Technology</a:t>
            </a:r>
            <a:r>
              <a:rPr lang="en-IN" dirty="0"/>
              <a:t> conference starts today"},</a:t>
            </a:r>
            <a:br>
              <a:rPr lang="en-IN" dirty="0"/>
            </a:br>
            <a:r>
              <a:rPr lang="en-IN" dirty="0"/>
              <a:t>{"</a:t>
            </a:r>
            <a:r>
              <a:rPr lang="en-IN" dirty="0" err="1"/>
              <a:t>headline":"New</a:t>
            </a:r>
            <a:r>
              <a:rPr lang="en-IN" dirty="0"/>
              <a:t> AI tools released"}</a:t>
            </a:r>
            <a:br>
              <a:rPr lang="en-IN" dirty="0"/>
            </a:br>
            <a:r>
              <a:rPr lang="en-IN" dirty="0"/>
              <a:t>]</a:t>
            </a:r>
          </a:p>
          <a:p>
            <a:pPr algn="just"/>
            <a:r>
              <a:rPr lang="en-IN" sz="2000" dirty="0"/>
              <a:t>In this application, AJAX sends asynchronous requests to two different data sources and receives responses in JSON format. </a:t>
            </a:r>
          </a:p>
          <a:p>
            <a:pPr algn="just"/>
            <a:r>
              <a:rPr lang="en-IN" sz="2000" dirty="0"/>
              <a:t>JavaScript dynamically updates the webpage using the DOM, allowing multiple services to be integrated into a single application. </a:t>
            </a:r>
          </a:p>
          <a:p>
            <a:pPr algn="just"/>
            <a:r>
              <a:rPr lang="en-IN" sz="2000" dirty="0"/>
              <a:t>Thus, mashup applications improve usability, responsiveness, and user experience by combining information from different sources efficiently.</a:t>
            </a:r>
          </a:p>
          <a:p>
            <a:pPr lvl="1"/>
            <a:endParaRPr lang="en-IN" sz="2000" dirty="0"/>
          </a:p>
          <a:p>
            <a:pPr lvl="1"/>
            <a:endParaRPr lang="en-IN" sz="2000" dirty="0"/>
          </a:p>
        </p:txBody>
      </p:sp>
    </p:spTree>
    <p:extLst>
      <p:ext uri="{BB962C8B-B14F-4D97-AF65-F5344CB8AC3E}">
        <p14:creationId xmlns:p14="http://schemas.microsoft.com/office/powerpoint/2010/main" val="28958526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A9CE4-238D-239F-AEB4-207FC9B3503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0D3A26-E53E-D7DE-A1FD-DD5DD4AE3968}"/>
              </a:ext>
            </a:extLst>
          </p:cNvPr>
          <p:cNvSpPr>
            <a:spLocks noGrp="1"/>
          </p:cNvSpPr>
          <p:nvPr>
            <p:ph idx="1"/>
          </p:nvPr>
        </p:nvSpPr>
        <p:spPr>
          <a:xfrm>
            <a:off x="838200" y="307730"/>
            <a:ext cx="10515600" cy="6198577"/>
          </a:xfrm>
        </p:spPr>
        <p:txBody>
          <a:bodyPr>
            <a:normAutofit/>
          </a:bodyPr>
          <a:lstStyle/>
          <a:p>
            <a:r>
              <a:rPr lang="en-US" sz="5400" dirty="0"/>
              <a:t>END</a:t>
            </a:r>
            <a:endParaRPr lang="en-US" sz="2400" dirty="0"/>
          </a:p>
          <a:p>
            <a:pPr lvl="1"/>
            <a:endParaRPr lang="en-IN" sz="2000" dirty="0"/>
          </a:p>
          <a:p>
            <a:pPr lvl="1"/>
            <a:endParaRPr lang="en-IN" sz="2000" dirty="0"/>
          </a:p>
          <a:p>
            <a:pPr lvl="1"/>
            <a:endParaRPr lang="en-IN" sz="2000" dirty="0"/>
          </a:p>
        </p:txBody>
      </p:sp>
    </p:spTree>
    <p:extLst>
      <p:ext uri="{BB962C8B-B14F-4D97-AF65-F5344CB8AC3E}">
        <p14:creationId xmlns:p14="http://schemas.microsoft.com/office/powerpoint/2010/main" val="915442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29676</TotalTime>
  <Words>11198</Words>
  <Application>Microsoft Office PowerPoint</Application>
  <PresentationFormat>Widescreen</PresentationFormat>
  <Paragraphs>1171</Paragraphs>
  <Slides>94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94</vt:i4>
      </vt:variant>
    </vt:vector>
  </HeadingPairs>
  <TitlesOfParts>
    <vt:vector size="100" baseType="lpstr">
      <vt:lpstr>Arial</vt:lpstr>
      <vt:lpstr>Calibri</vt:lpstr>
      <vt:lpstr>Calibri Light</vt:lpstr>
      <vt:lpstr>Courier New</vt:lpstr>
      <vt:lpstr>Microsoft Yi Baiti</vt:lpstr>
      <vt:lpstr>Office Theme</vt:lpstr>
      <vt:lpstr>Web 2.0 and Building Rich Internet Applications with AJAX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Roshan D Suvaris</dc:creator>
  <cp:lastModifiedBy>Roshan D Suvaris</cp:lastModifiedBy>
  <cp:revision>19</cp:revision>
  <dcterms:created xsi:type="dcterms:W3CDTF">2026-05-04T10:06:15Z</dcterms:created>
  <dcterms:modified xsi:type="dcterms:W3CDTF">2026-05-26T05:56:25Z</dcterms:modified>
</cp:coreProperties>
</file>