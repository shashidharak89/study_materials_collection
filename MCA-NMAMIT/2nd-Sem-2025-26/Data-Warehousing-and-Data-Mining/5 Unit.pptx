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63" r:id="rId4"/>
    <p:sldId id="258" r:id="rId5"/>
    <p:sldId id="282" r:id="rId6"/>
    <p:sldId id="275" r:id="rId7"/>
    <p:sldId id="276" r:id="rId8"/>
    <p:sldId id="277" r:id="rId9"/>
    <p:sldId id="327" r:id="rId10"/>
    <p:sldId id="328" r:id="rId11"/>
    <p:sldId id="329" r:id="rId12"/>
    <p:sldId id="330" r:id="rId13"/>
    <p:sldId id="278" r:id="rId14"/>
    <p:sldId id="279" r:id="rId15"/>
    <p:sldId id="333" r:id="rId16"/>
    <p:sldId id="334" r:id="rId17"/>
    <p:sldId id="280" r:id="rId18"/>
    <p:sldId id="281" r:id="rId19"/>
    <p:sldId id="331" r:id="rId20"/>
    <p:sldId id="332" r:id="rId21"/>
    <p:sldId id="335" r:id="rId22"/>
    <p:sldId id="259" r:id="rId23"/>
    <p:sldId id="340" r:id="rId24"/>
    <p:sldId id="341" r:id="rId25"/>
    <p:sldId id="342" r:id="rId26"/>
    <p:sldId id="343" r:id="rId27"/>
    <p:sldId id="345" r:id="rId28"/>
    <p:sldId id="344" r:id="rId29"/>
    <p:sldId id="346" r:id="rId30"/>
    <p:sldId id="347" r:id="rId31"/>
    <p:sldId id="260" r:id="rId32"/>
    <p:sldId id="261" r:id="rId33"/>
    <p:sldId id="262" r:id="rId34"/>
    <p:sldId id="264" r:id="rId35"/>
    <p:sldId id="265" r:id="rId36"/>
    <p:sldId id="266" r:id="rId37"/>
    <p:sldId id="267" r:id="rId38"/>
    <p:sldId id="268" r:id="rId39"/>
    <p:sldId id="269" r:id="rId40"/>
    <p:sldId id="272" r:id="rId41"/>
    <p:sldId id="348" r:id="rId42"/>
    <p:sldId id="270" r:id="rId43"/>
    <p:sldId id="273" r:id="rId44"/>
    <p:sldId id="274" r:id="rId45"/>
    <p:sldId id="336" r:id="rId46"/>
    <p:sldId id="337" r:id="rId47"/>
    <p:sldId id="338" r:id="rId48"/>
    <p:sldId id="325" r:id="rId49"/>
    <p:sldId id="326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6" r:id="rId62"/>
    <p:sldId id="295" r:id="rId63"/>
    <p:sldId id="324" r:id="rId64"/>
    <p:sldId id="304" r:id="rId65"/>
    <p:sldId id="305" r:id="rId66"/>
    <p:sldId id="306" r:id="rId67"/>
    <p:sldId id="309" r:id="rId68"/>
    <p:sldId id="311" r:id="rId69"/>
    <p:sldId id="307" r:id="rId70"/>
    <p:sldId id="310" r:id="rId71"/>
    <p:sldId id="299" r:id="rId72"/>
    <p:sldId id="300" r:id="rId73"/>
    <p:sldId id="301" r:id="rId74"/>
    <p:sldId id="312" r:id="rId75"/>
    <p:sldId id="302" r:id="rId76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  <p:sldId id="322" r:id="rId86"/>
    <p:sldId id="323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29CAD-6246-4C9A-973D-3AAC1AFF29C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E916B-4F25-48C7-B353-C6C8A2D18B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99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E916B-4F25-48C7-B353-C6C8A2D18BB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09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E916B-4F25-48C7-B353-C6C8A2D18BB3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2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1107-6A63-457A-890D-CBD27AF60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2493A-70A7-46B4-854B-59C0C8D58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EE0F4-216C-48E4-8EA5-0C9607C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30D66-7515-432F-B437-41D54221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698F-B5DA-4D21-A749-31F4834D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29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D813-BDB2-4FAE-8557-6ED2853A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33DF-4AC6-4480-8EA3-785194EC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9F84-A5D0-4E0D-8F1F-02B4422C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CA793-323C-46D3-9CEA-D1AB0199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1533E-4761-438B-B553-D43EB26E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01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23C0-011C-4C9D-8EBB-594610CE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EC3B8-CBE8-41B5-A33D-79785B051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8584E-78D7-442E-ACAB-2C5120CF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CFABC-A291-4EE2-B27E-2345714A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68E2-3FA8-4668-B321-519B6599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4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1C6D-A87B-4A0E-85C3-FD370943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D538-A25E-4A4B-AFE6-582154B54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9D6CD-0665-4164-8E9D-5AFD7A4E3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7784B-971A-4190-997A-F455F9F0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9FE17-1E8F-411A-A82E-50C7F402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F894E-AC14-49D6-8C61-BDAB0B9C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6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77A4-EA66-4D25-B918-CFB2AFA0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692F2-AD3D-44FB-A0C4-DE2065446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6668E-179D-4936-80EC-626BD436B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67095-9CC7-4F09-A397-9EBBFA3B3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CF5EA-421A-4945-B4AB-F0ADC49EB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9D06D-CA81-4BE8-95F9-48494DEC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5261F7-1728-46C7-8085-C10218152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EAF6B-2247-472C-9269-142CB6AD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3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1086-E92E-46C9-BB8C-B7DCF563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3EBFD-1F64-4C6E-8A5F-69A4D5DB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DF7B5-C056-4C62-9D09-3597E1DF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8C147-7948-45A5-8BC7-77AAEAF9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00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B8751B-F9E1-442E-B156-6C685023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96D9E-A7B5-466E-8DBA-2F81E089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0B28F-988E-4A02-AB0D-17D5C4CF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68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43C0-6023-42B9-9BF9-A3BB1087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7DC6-0C56-4BE5-88E3-813689FF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44DB9-B0D7-4CFA-BE05-61D4395EC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39E30-7896-43D0-B483-EE0A3BF4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CB8EF-CF76-412E-8EE8-DA40184F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622B5-6380-42BB-AF03-7C069761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59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AD05-D191-46CE-9A70-51EFBA74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539AC-75D4-4D7C-A4D9-027D6B08A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4BF97-12D9-4A5C-8180-D513BC8EF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34E7-7D21-43AD-9DC0-353262F7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7C735-32EC-41E8-A485-0FC74DEC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2EE66-AB53-4FFD-A3CA-C514163E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9CF3-B61B-4102-BEA6-918C94F6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B60D-6AA4-435A-AC5F-645C8DBCD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326CA-0786-4FD1-B3B3-B9AC08D1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DB2B0-F3BB-46B2-A74E-B9034F30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DDAF3-3B88-4B4C-B13D-F6E7E540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7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79CAC-F7EE-4AF6-9167-881E9DBE6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3DC3B-5EEC-4E63-9F71-1C9DD956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AC576-E1B3-43E3-B4F0-8E5FAE49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9F1D-4DCB-4164-BD16-355ABBB3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A599C-4911-4F62-A0F2-1CBCC82D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7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478A20-DBE2-40CA-BCC6-F4679AD6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A931A-03A6-4B2A-85F1-5D76E8EB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4EF6-104D-4BA9-A5E0-CB0313447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ADD74-A21E-47D1-B0C0-3F0227754C43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7BF8-7B16-486A-BCBC-35BF0E926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544F-1FAF-4849-BF57-5A5C41505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8FE13-9C68-4602-8940-CBDB7DCF5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5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10F9-DB7B-4AD1-A477-38A9313A9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Cluster Analysis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70A93-7862-47A3-BBD6-93DFAE872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307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4CDD-F584-4798-B76F-7B68F4596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Cluster Analysis groups objects based on information found in the data that describes the objects and their relationships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goal is that the objects within a group be similar to one another and different from the objects in the other groups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45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1" y="803997"/>
            <a:ext cx="11886289" cy="264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3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: Different Ways of Clustering the same Set of Points | Download  Scientific Diagram">
            <a:extLst>
              <a:ext uri="{FF2B5EF4-FFF2-40B4-BE49-F238E27FC236}">
                <a16:creationId xmlns:a16="http://schemas.microsoft.com/office/drawing/2014/main" id="{0E36D656-C9C8-4FE1-AE31-29EC83910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4" y="729676"/>
            <a:ext cx="11364883" cy="401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807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5761327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u="sng" dirty="0"/>
              <a:t>The k-means method: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US" dirty="0"/>
              <a:t>Also called the </a:t>
            </a:r>
            <a:r>
              <a:rPr lang="en-US" b="1" dirty="0"/>
              <a:t>centroid method </a:t>
            </a:r>
            <a:r>
              <a:rPr lang="en-US" dirty="0"/>
              <a:t>since at each step the centroid point of each cluster is assumed to be known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k-means method uses the Euclidean distance measure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/>
              <a:t>If Instead of Euclidean distance measure, the Manhattan distance is used then the method is called the k-median method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74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651" y="304800"/>
            <a:ext cx="10175966" cy="6324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The K-means method is described as follows:</a:t>
            </a:r>
          </a:p>
          <a:p>
            <a:pPr marL="0" indent="0" algn="just">
              <a:buNone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dirty="0"/>
              <a:t>Select the number of clusters. Let this number be k</a:t>
            </a:r>
          </a:p>
          <a:p>
            <a:pPr marL="514350" indent="-514350" algn="just">
              <a:buAutoNum type="arabicPeriod"/>
            </a:pPr>
            <a:r>
              <a:rPr lang="en-US" dirty="0"/>
              <a:t>Pick k seed as the centroid of the k-cluster. Seed may be picked randomly</a:t>
            </a:r>
          </a:p>
          <a:p>
            <a:pPr marL="514350" indent="-514350" algn="just">
              <a:buAutoNum type="arabicPeriod"/>
            </a:pPr>
            <a:r>
              <a:rPr lang="en-US" dirty="0"/>
              <a:t>Compute the distance of each object in the data set from each of the centroids</a:t>
            </a:r>
          </a:p>
          <a:p>
            <a:pPr marL="514350" indent="-514350" algn="just">
              <a:buAutoNum type="arabicPeriod"/>
            </a:pPr>
            <a:r>
              <a:rPr lang="en-US" dirty="0"/>
              <a:t>Allocate each object to the cluster it is nearest to based on the distances computed in the previous step</a:t>
            </a:r>
          </a:p>
          <a:p>
            <a:pPr marL="514350" indent="-514350" algn="just">
              <a:buAutoNum type="arabicPeriod"/>
            </a:pPr>
            <a:r>
              <a:rPr lang="en-US" dirty="0"/>
              <a:t>Compute the centroid of the cluster by computing the means of the attribute values of the object in each cluster</a:t>
            </a:r>
          </a:p>
          <a:p>
            <a:pPr marL="514350" indent="-514350" algn="just">
              <a:buAutoNum type="arabicPeriod"/>
            </a:pPr>
            <a:r>
              <a:rPr lang="en-US" dirty="0"/>
              <a:t>Check if the stopping criteria has been met (ex. If the cluster membership is unchanged). If yes go to step7 . If no go to step3.</a:t>
            </a:r>
          </a:p>
          <a:p>
            <a:pPr marL="514350" indent="-514350" algn="just">
              <a:buAutoNum type="arabicPeriod"/>
            </a:pPr>
            <a:r>
              <a:rPr lang="en-US" dirty="0"/>
              <a:t> Stop</a:t>
            </a:r>
          </a:p>
        </p:txBody>
      </p:sp>
    </p:spTree>
    <p:extLst>
      <p:ext uri="{BB962C8B-B14F-4D97-AF65-F5344CB8AC3E}">
        <p14:creationId xmlns:p14="http://schemas.microsoft.com/office/powerpoint/2010/main" val="160359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1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0" y="304801"/>
          <a:ext cx="7772400" cy="6181725"/>
        </p:xfrm>
        <a:graphic>
          <a:graphicData uri="http://schemas.openxmlformats.org/drawingml/2006/table">
            <a:tbl>
              <a:tblPr firstRow="1" bandRow="1"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lang="en-US" b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460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3" y="457201"/>
            <a:ext cx="10829109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1: let k=3( clusters)</a:t>
            </a:r>
          </a:p>
          <a:p>
            <a:pPr marL="0" indent="0">
              <a:buNone/>
            </a:pPr>
            <a:r>
              <a:rPr lang="en-US" dirty="0"/>
              <a:t>Step 2: let seed be the first 3 students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20537" y="2699657"/>
          <a:ext cx="7924800" cy="2819400"/>
        </p:xfrm>
        <a:graphic>
          <a:graphicData uri="http://schemas.openxmlformats.org/drawingml/2006/table">
            <a:tbl>
              <a:tblPr firstRow="1" bandRow="1"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lang="en-US" b="1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100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A8650-1F28-6DD9-83C9-5F60FD97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47E7E1-528B-C634-FB7C-0A5133134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729809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0242-EB17-A419-8709-77E53D3F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20DBC1-70E2-D3B1-E0FF-A12A0919D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869689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9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BDDB-F211-567C-01D6-6ECA6670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5142F8-CAF1-CF27-9479-E15CA4179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241634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694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C1B64-38C6-2310-52D9-6600A7B2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B433C3-1F8B-DD2A-6CE0-B1CE8B262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816677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97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25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153" y="381001"/>
            <a:ext cx="10189029" cy="57451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Step 5</a:t>
            </a:r>
            <a:r>
              <a:rPr lang="en-US"/>
              <a:t>: Compute </a:t>
            </a:r>
            <a:r>
              <a:rPr lang="en-US" dirty="0"/>
              <a:t>the centroid by computing the mean of the attribute values of the objects in each cluster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606795"/>
              </p:ext>
            </p:extLst>
          </p:nvPr>
        </p:nvGraphicFramePr>
        <p:xfrm>
          <a:off x="2743200" y="2057400"/>
          <a:ext cx="7239000" cy="2971800"/>
        </p:xfrm>
        <a:graphic>
          <a:graphicData uri="http://schemas.openxmlformats.org/drawingml/2006/table">
            <a:tbl>
              <a:tblPr firstRow="1" bandRow="1"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69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148CA-06BF-7568-4B79-9BAD30B7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04ABE8-D62F-03C2-1BD9-0020B7684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439479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58.5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56.5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97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D698-3B92-F75E-478B-33548A6B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CB97C5-2C77-8DA5-31E0-029686D34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435174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58.5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56.5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258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04726"/>
              </p:ext>
            </p:extLst>
          </p:nvPr>
        </p:nvGraphicFramePr>
        <p:xfrm>
          <a:off x="1676398" y="228600"/>
          <a:ext cx="8763003" cy="6172196"/>
        </p:xfrm>
        <a:graphic>
          <a:graphicData uri="http://schemas.openxmlformats.org/drawingml/2006/table">
            <a:tbl>
              <a:tblPr firstRow="1" bandRow="1"/>
              <a:tblGrid>
                <a:gridCol w="97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494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2-</a:t>
                      </a:r>
                      <a:r>
                        <a:rPr lang="en-US" b="1" baseline="0" dirty="0"/>
                        <a:t> iteration(step 3 and 4)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58.5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b="1" dirty="0"/>
                        <a:t>Distance from cluster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/>
                        <a:t>Allocation to the nearest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74">
                <a:tc>
                  <a:txBody>
                    <a:bodyPr/>
                    <a:lstStyle/>
                    <a:p>
                      <a:r>
                        <a:rPr lang="en-US" b="1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62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56.5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494">
                <a:tc>
                  <a:txBody>
                    <a:bodyPr/>
                    <a:lstStyle/>
                    <a:p>
                      <a:r>
                        <a:rPr lang="en-US" dirty="0"/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800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381001"/>
            <a:ext cx="10502537" cy="57451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that the clusters have not changed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Cluster 1 </a:t>
            </a:r>
            <a:r>
              <a:rPr lang="en-US" dirty="0">
                <a:sym typeface="Wingdings" pitchFamily="2" charset="2"/>
              </a:rPr>
              <a:t> c1 s1, s9</a:t>
            </a:r>
          </a:p>
          <a:p>
            <a:pPr marL="0" indent="0">
              <a:buNone/>
            </a:pPr>
            <a:r>
              <a:rPr lang="en-US" dirty="0"/>
              <a:t>Cluster 2 </a:t>
            </a:r>
            <a:r>
              <a:rPr lang="en-US" dirty="0">
                <a:sym typeface="Wingdings" pitchFamily="2" charset="2"/>
              </a:rPr>
              <a:t> c2s2, s5, s6, s10</a:t>
            </a:r>
          </a:p>
          <a:p>
            <a:pPr marL="0" indent="0">
              <a:buNone/>
            </a:pPr>
            <a:r>
              <a:rPr lang="en-US" dirty="0"/>
              <a:t>Cluster 3 </a:t>
            </a:r>
            <a:r>
              <a:rPr lang="en-US" dirty="0">
                <a:sym typeface="Wingdings" pitchFamily="2" charset="2"/>
              </a:rPr>
              <a:t> c3s3, s4, s7, s8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17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0D64-F9B5-0E2D-FAD4-46D9A68B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0F000-36C2-7B97-65B2-74B704553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Following are the marks of students in a class:</a:t>
            </a:r>
          </a:p>
          <a:p>
            <a:pPr marL="0" indent="0">
              <a:buNone/>
            </a:pPr>
            <a:r>
              <a:rPr lang="en-US" dirty="0"/>
              <a:t>10, 12, 15, 30, 32, 35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Seed1=10</a:t>
            </a:r>
          </a:p>
          <a:p>
            <a:pPr marL="0" indent="0">
              <a:buNone/>
            </a:pPr>
            <a:r>
              <a:rPr lang="en-US" dirty="0"/>
              <a:t>Seed2=30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07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CAAC-BCD5-D91E-896F-E3461B64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3F83-D09D-4C83-4D91-A72B8A4E7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61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48F0-655E-B0FA-E4A3-2313C6C9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01E4-AA5F-726C-F247-3F8007971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78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0D95-6183-4595-B416-0615D606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Different types of Clustering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6402-B292-45F8-8B52-B88C28DD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0" dirty="0">
                <a:effectLst/>
              </a:rPr>
              <a:t>Hierarchical clustering Vs Partitioning clustering</a:t>
            </a:r>
          </a:p>
          <a:p>
            <a:pPr marL="0" indent="0">
              <a:buNone/>
            </a:pPr>
            <a:r>
              <a:rPr lang="en-IN" dirty="0"/>
              <a:t>Exclusive vs Overlapping vs Fuzzy</a:t>
            </a:r>
          </a:p>
          <a:p>
            <a:pPr marL="0" indent="0">
              <a:buNone/>
            </a:pPr>
            <a:r>
              <a:rPr lang="en-IN" dirty="0"/>
              <a:t>Complete vs Partial</a:t>
            </a:r>
          </a:p>
          <a:p>
            <a:pPr marL="0" indent="0">
              <a:buNone/>
            </a:pPr>
            <a:endParaRPr lang="en-IN" i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761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8CC1-21F0-6FDB-B36C-F6EE9ABE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EFA5-AAAC-9C28-28FE-36D9A7E2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24" y="157861"/>
            <a:ext cx="10515600" cy="1325563"/>
          </a:xfrm>
        </p:spPr>
        <p:txBody>
          <a:bodyPr/>
          <a:lstStyle/>
          <a:p>
            <a:r>
              <a:rPr lang="en-US" b="1" dirty="0"/>
              <a:t>Partitioning clustering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3C1D0-049F-852C-48CA-3D7FA8BF4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05" t="1745" r="65282" b="23708"/>
          <a:stretch>
            <a:fillRect/>
          </a:stretch>
        </p:blipFill>
        <p:spPr>
          <a:xfrm>
            <a:off x="1280160" y="1682495"/>
            <a:ext cx="3023616" cy="3779521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B19AFDF-2099-0D10-5D59-564FC4A37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18" r="33850" b="60981"/>
          <a:stretch>
            <a:fillRect/>
          </a:stretch>
        </p:blipFill>
        <p:spPr>
          <a:xfrm>
            <a:off x="4303776" y="1593977"/>
            <a:ext cx="2852928" cy="1978280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5909C80-E155-BBAD-A5D7-DD2E04317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18" t="39019" r="32910" b="25632"/>
          <a:stretch>
            <a:fillRect/>
          </a:stretch>
        </p:blipFill>
        <p:spPr>
          <a:xfrm>
            <a:off x="4303776" y="3868864"/>
            <a:ext cx="2938272" cy="1792223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C8EA45F-F196-822E-3850-089AADE1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090" t="27517" r="1" b="25392"/>
          <a:stretch>
            <a:fillRect/>
          </a:stretch>
        </p:blipFill>
        <p:spPr>
          <a:xfrm>
            <a:off x="7242048" y="2675096"/>
            <a:ext cx="2987040" cy="23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0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6367-2759-931B-9E55-365EF3C9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Hierarchical Clustering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AD5696-8484-1CA8-3983-0E04EE7B8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0304" y="1496790"/>
            <a:ext cx="7823312" cy="521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66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09EC-5316-16CA-353B-3C3207EE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Exclusive Clustering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4D910-9CE6-C769-A7EF-FF9372DD1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t="17265" r="25659" b="9185"/>
          <a:stretch>
            <a:fillRect/>
          </a:stretch>
        </p:blipFill>
        <p:spPr>
          <a:xfrm>
            <a:off x="598396" y="1865375"/>
            <a:ext cx="7362979" cy="4856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502654-0517-2982-9045-57BE37B7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52" t="20800" b="29067"/>
          <a:stretch>
            <a:fillRect/>
          </a:stretch>
        </p:blipFill>
        <p:spPr>
          <a:xfrm>
            <a:off x="8241792" y="1959546"/>
            <a:ext cx="3351812" cy="44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7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8FAA-045F-4C18-D561-EDABCDF8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Overlapping Clustering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D3101-E316-A573-FC15-3B1940CB8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22" r="31037" b="9931"/>
          <a:stretch>
            <a:fillRect/>
          </a:stretch>
        </p:blipFill>
        <p:spPr>
          <a:xfrm>
            <a:off x="696468" y="1690688"/>
            <a:ext cx="7094220" cy="509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E0054-7036-3B6D-F5E0-26CAC7786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63" t="20978" r="1644" b="37955"/>
          <a:stretch>
            <a:fillRect/>
          </a:stretch>
        </p:blipFill>
        <p:spPr>
          <a:xfrm>
            <a:off x="8471916" y="2222848"/>
            <a:ext cx="3023616" cy="306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0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B006-74BF-5F24-694F-F23B55B5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5E4FE-E769-250D-3467-910897E72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5" t="12133" r="22842" b="14489"/>
          <a:stretch>
            <a:fillRect/>
          </a:stretch>
        </p:blipFill>
        <p:spPr>
          <a:xfrm>
            <a:off x="3377684" y="571436"/>
            <a:ext cx="8495798" cy="592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36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2D37-83B4-39F5-7B7E-19243388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Fuzzy Clustering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2483E-CD6B-1289-82BA-3B85375BB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919" r="874" b="12788"/>
          <a:stretch>
            <a:fillRect/>
          </a:stretch>
        </p:blipFill>
        <p:spPr>
          <a:xfrm>
            <a:off x="838200" y="1532191"/>
            <a:ext cx="9756648" cy="520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1B0E-3718-0FEE-8724-3F045E30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Clustering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CD11B-958E-300E-8DC5-71FFFF318D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1" t="19378" r="51541" b="12177"/>
          <a:stretch>
            <a:fillRect/>
          </a:stretch>
        </p:blipFill>
        <p:spPr>
          <a:xfrm>
            <a:off x="5712870" y="0"/>
            <a:ext cx="6449213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29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7B6F-136F-F78D-0D12-E7DBD221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Partial Clustering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BE333A-A990-383B-623B-AA9F49B93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0000" t="19378" r="3348" b="12178"/>
          <a:stretch>
            <a:fillRect/>
          </a:stretch>
        </p:blipFill>
        <p:spPr>
          <a:xfrm>
            <a:off x="5193791" y="0"/>
            <a:ext cx="6793539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62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A1CF-321A-4E01-A15C-D59E6AE0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i="0" dirty="0">
                <a:effectLst/>
              </a:rPr>
              <a:t>Partitioning clustering</a:t>
            </a:r>
            <a:endParaRPr lang="en-US" b="0" i="0" dirty="0">
              <a:effectLst/>
            </a:endParaRPr>
          </a:p>
          <a:p>
            <a:pPr marL="0" indent="0" algn="just">
              <a:buNone/>
            </a:pPr>
            <a:r>
              <a:rPr lang="en-US" b="0" i="0" dirty="0">
                <a:effectLst/>
              </a:rPr>
              <a:t>Partitioning Clustering are clustering techniques that subdivide the data sets into a set of k groups, where k is the number of groups pre-specified by the analyst.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95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CD86-A14F-4C1D-A0F2-0AEE566D8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1164"/>
            <a:ext cx="10515600" cy="5525799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effectLst/>
              </a:rPr>
              <a:t>Hierarchical clustering</a:t>
            </a:r>
          </a:p>
          <a:p>
            <a:pPr marL="0" indent="0" algn="just">
              <a:buNone/>
            </a:pPr>
            <a:r>
              <a:rPr lang="en-US" b="0" i="0" dirty="0">
                <a:effectLst/>
              </a:rPr>
              <a:t>Hierarchical clustering is an alternative approach to partitioning clustering. </a:t>
            </a:r>
          </a:p>
          <a:p>
            <a:pPr marL="0" indent="0" algn="just">
              <a:buNone/>
            </a:pPr>
            <a:r>
              <a:rPr lang="en-US" b="0" i="0" dirty="0">
                <a:effectLst/>
              </a:rPr>
              <a:t>The result of hierarchical clustering is a tree-based representation of the objects</a:t>
            </a:r>
            <a:endParaRPr lang="en-IN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Each node(cluster) in the tree is a union of the children(sub clusters) and the root of the tree is the cluster containing all objects but leaf of the tree are single cluster of individual data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350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5A08-F4A9-4B8B-AB84-522C2DFDB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Exclusive vs Overlapping vs Fuzzy</a:t>
            </a:r>
          </a:p>
          <a:p>
            <a:pPr marL="0" indent="0" algn="just">
              <a:buNone/>
            </a:pPr>
            <a:r>
              <a:rPr lang="en-IN" dirty="0"/>
              <a:t>In Exclusive clustering we assign each object to a single cluster.</a:t>
            </a:r>
          </a:p>
          <a:p>
            <a:pPr marL="0" indent="0" algn="just">
              <a:buNone/>
            </a:pPr>
            <a:r>
              <a:rPr lang="en-IN" dirty="0"/>
              <a:t>There are many situations in which a point could reasonably be placed in more than one cluster and these situations are better addressed by Non-Exclusive clustering</a:t>
            </a:r>
          </a:p>
        </p:txBody>
      </p:sp>
    </p:spTree>
    <p:extLst>
      <p:ext uri="{BB962C8B-B14F-4D97-AF65-F5344CB8AC3E}">
        <p14:creationId xmlns:p14="http://schemas.microsoft.com/office/powerpoint/2010/main" val="132002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Non-Exclusive clustering or overlapping clustering:</a:t>
            </a:r>
          </a:p>
          <a:p>
            <a:pPr marL="0" indent="0" algn="just">
              <a:buNone/>
            </a:pPr>
            <a:r>
              <a:rPr lang="en-IN" dirty="0"/>
              <a:t>In Non-Exclusive clustering or overlapping clustering an object can simultaneously belong to more than one group(class)</a:t>
            </a:r>
          </a:p>
          <a:p>
            <a:pPr marL="0" indent="0" algn="just">
              <a:buNone/>
            </a:pPr>
            <a:r>
              <a:rPr lang="en-IN" dirty="0"/>
              <a:t>Ex: A person at a university can be both an enrolled student and employee of university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47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480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Fuzzy Clustering:</a:t>
            </a:r>
          </a:p>
          <a:p>
            <a:pPr marL="0" indent="0" algn="just">
              <a:buNone/>
            </a:pPr>
            <a:r>
              <a:rPr lang="en-IN" dirty="0"/>
              <a:t>Every object belongs to every cluster with membership weight that is between 0 and 1.</a:t>
            </a:r>
          </a:p>
          <a:p>
            <a:pPr marL="0" indent="0" algn="just">
              <a:buNone/>
            </a:pPr>
            <a:r>
              <a:rPr lang="en-IN" dirty="0"/>
              <a:t>0- Absolutely does not belong</a:t>
            </a:r>
          </a:p>
          <a:p>
            <a:pPr marL="0" indent="0" algn="just">
              <a:buNone/>
            </a:pPr>
            <a:r>
              <a:rPr lang="en-IN" dirty="0"/>
              <a:t>1- Absolutely belongs</a:t>
            </a:r>
          </a:p>
        </p:txBody>
      </p:sp>
    </p:spTree>
    <p:extLst>
      <p:ext uri="{BB962C8B-B14F-4D97-AF65-F5344CB8AC3E}">
        <p14:creationId xmlns:p14="http://schemas.microsoft.com/office/powerpoint/2010/main" val="3842282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Complete vs Partial:</a:t>
            </a:r>
          </a:p>
          <a:p>
            <a:pPr marL="0" indent="0" algn="just">
              <a:buNone/>
            </a:pPr>
            <a:r>
              <a:rPr lang="en-IN" dirty="0"/>
              <a:t>A complete clustering assigns every object to a cluster where as partial clustering does not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Example: Some newspaper stories may have a common theme, while other stories are more generic </a:t>
            </a:r>
          </a:p>
        </p:txBody>
      </p:sp>
    </p:spTree>
    <p:extLst>
      <p:ext uri="{BB962C8B-B14F-4D97-AF65-F5344CB8AC3E}">
        <p14:creationId xmlns:p14="http://schemas.microsoft.com/office/powerpoint/2010/main" val="1061546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AutoNum type="arabicPeriod"/>
            </a:pPr>
            <a:r>
              <a:rPr lang="en-IN" b="1" dirty="0"/>
              <a:t>Well separated cluster</a:t>
            </a:r>
          </a:p>
          <a:p>
            <a:pPr marL="0" indent="0" algn="just">
              <a:buNone/>
            </a:pPr>
            <a:r>
              <a:rPr lang="en-IN" dirty="0"/>
              <a:t>The data object within a cluster must have small distance and distance between two cluster must be high.</a:t>
            </a:r>
          </a:p>
        </p:txBody>
      </p:sp>
      <p:pic>
        <p:nvPicPr>
          <p:cNvPr id="4" name="Picture 2" descr="Different types of Clustering Algorithm - Javatpoin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2" b="8905"/>
          <a:stretch>
            <a:fillRect/>
          </a:stretch>
        </p:blipFill>
        <p:spPr bwMode="auto">
          <a:xfrm>
            <a:off x="6946392" y="3742944"/>
            <a:ext cx="5093320" cy="274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6C06D-1A85-45AB-2AF8-B9066806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95" b="17365"/>
          <a:stretch>
            <a:fillRect/>
          </a:stretch>
        </p:blipFill>
        <p:spPr>
          <a:xfrm>
            <a:off x="152288" y="3429000"/>
            <a:ext cx="6108192" cy="31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68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2. </a:t>
            </a:r>
            <a:r>
              <a:rPr lang="en-IN" b="1" dirty="0"/>
              <a:t>Prototype based cluster(centre based cluster)</a:t>
            </a:r>
          </a:p>
          <a:p>
            <a:pPr marL="0" indent="0" algn="just">
              <a:buNone/>
            </a:pPr>
            <a:r>
              <a:rPr lang="en-IN" dirty="0"/>
              <a:t>Each object is closer(similar) to the prototype that define the cluster than to the prototype of any other cluster</a:t>
            </a:r>
          </a:p>
        </p:txBody>
      </p:sp>
      <p:pic>
        <p:nvPicPr>
          <p:cNvPr id="1028" name="Picture 4" descr="Different types of Clustering Algorithm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591" y="2864644"/>
            <a:ext cx="4416425" cy="331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347987-0642-9728-8E8A-682CAADF2B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6" b="16598"/>
          <a:stretch>
            <a:fillRect/>
          </a:stretch>
        </p:blipFill>
        <p:spPr>
          <a:xfrm>
            <a:off x="708660" y="2864644"/>
            <a:ext cx="580912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55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2509"/>
            <a:ext cx="10515600" cy="584445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3. </a:t>
            </a:r>
            <a:r>
              <a:rPr lang="en-IN" b="1" dirty="0"/>
              <a:t>Graph based cluster(contiguity based)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5691" y="1166521"/>
            <a:ext cx="1118061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/>
              <a:t>Two objects are connected only if they are within a specified distance of each other.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· Each point in a cluster is closer to at least one point in the same cluster than to any point in a different cluster.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· Useful when clusters are irregular and intertwined.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· This does not work efficiently when there is noise in the data, a small bridge of points can merge two distinct clusters into one.</a:t>
            </a:r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9219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fferent types of Clusteri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1" b="8219"/>
          <a:stretch>
            <a:fillRect/>
          </a:stretch>
        </p:blipFill>
        <p:spPr bwMode="auto">
          <a:xfrm>
            <a:off x="106126" y="109728"/>
            <a:ext cx="5538081" cy="345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D700CE-6D0E-48A2-316F-E25B58CE2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4" t="5867" r="2781" b="15378"/>
          <a:stretch>
            <a:fillRect/>
          </a:stretch>
        </p:blipFill>
        <p:spPr>
          <a:xfrm>
            <a:off x="4669536" y="2328672"/>
            <a:ext cx="7374879" cy="41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86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DAE0-BFEC-8A18-29FD-31F4859C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7FEC59-001A-5F36-4322-C2633F875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861" b="19488"/>
          <a:stretch>
            <a:fillRect/>
          </a:stretch>
        </p:blipFill>
        <p:spPr>
          <a:xfrm>
            <a:off x="606552" y="1447482"/>
            <a:ext cx="10515600" cy="530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13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512" y="9112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Density Based Clusters:</a:t>
            </a:r>
          </a:p>
          <a:p>
            <a:pPr algn="just"/>
            <a:r>
              <a:rPr lang="en-IN" dirty="0"/>
              <a:t>Cluster is a dense region of objects that is surrounded by a region of low density.</a:t>
            </a:r>
          </a:p>
          <a:p>
            <a:pPr algn="just"/>
            <a:r>
              <a:rPr lang="en-IN" dirty="0"/>
              <a:t>Density based clusters are employed when the clusters are irregular, intertwined and when noise and outliers are present.</a:t>
            </a:r>
          </a:p>
          <a:p>
            <a:pPr algn="just"/>
            <a:r>
              <a:rPr lang="en-IN" dirty="0"/>
              <a:t>Points in low density region are classified as noise and omitted. 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025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miro.medium.com/max/593/1*BdMgz7WeLOM6hB_7hJNapQ.jpe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" b="14297"/>
          <a:stretch>
            <a:fillRect/>
          </a:stretch>
        </p:blipFill>
        <p:spPr bwMode="auto">
          <a:xfrm>
            <a:off x="921774" y="112776"/>
            <a:ext cx="9974451" cy="2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5A5FB1F-9D60-BB3C-D86B-9F5AD86148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17" b="11401"/>
          <a:stretch>
            <a:fillRect/>
          </a:stretch>
        </p:blipFill>
        <p:spPr>
          <a:xfrm>
            <a:off x="1747407" y="2856578"/>
            <a:ext cx="8323184" cy="388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70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390144"/>
            <a:ext cx="10914888" cy="578681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Shared Property cluster(Conceptual cluster)</a:t>
            </a:r>
          </a:p>
          <a:p>
            <a:pPr marL="0" indent="0">
              <a:buNone/>
            </a:pPr>
            <a:r>
              <a:rPr lang="en-IN" dirty="0"/>
              <a:t>More general</a:t>
            </a:r>
          </a:p>
          <a:p>
            <a:pPr marL="0" indent="0">
              <a:buNone/>
            </a:pPr>
            <a:r>
              <a:rPr lang="en-IN" dirty="0"/>
              <a:t>Set of object that share same property</a:t>
            </a:r>
          </a:p>
        </p:txBody>
      </p:sp>
      <p:pic>
        <p:nvPicPr>
          <p:cNvPr id="1026" name="Picture 2" descr="Different types of Clustering Algorithm - Javatpoin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02"/>
          <a:stretch>
            <a:fillRect/>
          </a:stretch>
        </p:blipFill>
        <p:spPr bwMode="auto">
          <a:xfrm>
            <a:off x="5168063" y="2145150"/>
            <a:ext cx="7211210" cy="197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99AD1-7FCC-4693-21C5-C70F5918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0" t="18311" r="5992" b="12323"/>
          <a:stretch>
            <a:fillRect/>
          </a:stretch>
        </p:blipFill>
        <p:spPr>
          <a:xfrm>
            <a:off x="158496" y="3689164"/>
            <a:ext cx="5547360" cy="291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23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D90F-9AC1-EC1B-9CCE-73E05B3C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1330-2D36-D47D-1B54-D78F73B2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1138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CA14-3EC1-D122-B45F-94673831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D1ED6-1749-DE0B-504C-E29010FE2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92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0332-CBAE-5066-92B1-D12F595D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22861-AAD3-68D4-303F-90F4640D6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26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553C-4A8D-4F2A-BD38-3F8826FF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286"/>
            <a:ext cx="10515600" cy="59096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DBSCAN Algorithm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Label all the points as core, border and noise </a:t>
            </a:r>
          </a:p>
          <a:p>
            <a:pPr marL="514350" indent="-514350">
              <a:buAutoNum type="arabicPeriod"/>
            </a:pPr>
            <a:r>
              <a:rPr lang="en-US" dirty="0"/>
              <a:t>Eliminate noise points</a:t>
            </a:r>
          </a:p>
          <a:p>
            <a:pPr marL="514350" indent="-514350">
              <a:buAutoNum type="arabicPeriod"/>
            </a:pPr>
            <a:r>
              <a:rPr lang="en-US" dirty="0"/>
              <a:t>Put an edge between all the core points that are within Eps</a:t>
            </a:r>
          </a:p>
          <a:p>
            <a:pPr marL="514350" indent="-514350">
              <a:buAutoNum type="arabicPeriod"/>
            </a:pPr>
            <a:r>
              <a:rPr lang="en-US" dirty="0"/>
              <a:t>Make each group of connected core points to separate cluster</a:t>
            </a:r>
          </a:p>
          <a:p>
            <a:pPr marL="514350" indent="-514350">
              <a:buAutoNum type="arabicPeriod"/>
            </a:pPr>
            <a:r>
              <a:rPr lang="en-US" dirty="0"/>
              <a:t>Assign each border point to one of the cluster of its Associated core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902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85FF-F039-4612-A69D-3AF382BC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 and weakness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1A10-74C8-48A4-AF0A-C1B4BCA4F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It is resistant to noise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Can handle cluster of arbitrary shapes and sizes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 It has trouble with high dimensional data because density is more difficult to define for such data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DBSCAN can be expensive when the computation of nearest neighbor requires computing all pairwise proximities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295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Agglomerative 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There are two basic approaches for generating a hierarchical clustering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Agglomerative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Divisive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149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6364"/>
            <a:ext cx="10515600" cy="5830599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/>
              <a:t>Agglomerative</a:t>
            </a:r>
            <a:r>
              <a:rPr lang="en-IN" dirty="0"/>
              <a:t>:</a:t>
            </a:r>
          </a:p>
          <a:p>
            <a:pPr marL="0" indent="0" algn="just">
              <a:buNone/>
            </a:pPr>
            <a:r>
              <a:rPr lang="en-IN" dirty="0"/>
              <a:t>Start with a point as an individual cluster and at each step, merge the closest pair of clusters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b="1" dirty="0"/>
              <a:t>Divisive</a:t>
            </a:r>
            <a:r>
              <a:rPr lang="en-IN" dirty="0"/>
              <a:t>:</a:t>
            </a:r>
          </a:p>
          <a:p>
            <a:pPr marL="0" indent="0" algn="just">
              <a:buNone/>
            </a:pPr>
            <a:r>
              <a:rPr lang="en-IN" dirty="0"/>
              <a:t>Start with one all inclusive cluster and at each step split a cluster until only a singleton cluster of individual parts remains</a:t>
            </a:r>
          </a:p>
        </p:txBody>
      </p:sp>
    </p:spTree>
    <p:extLst>
      <p:ext uri="{BB962C8B-B14F-4D97-AF65-F5344CB8AC3E}">
        <p14:creationId xmlns:p14="http://schemas.microsoft.com/office/powerpoint/2010/main" val="40029100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6582"/>
            <a:ext cx="10515600" cy="547038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Agglomerative hierarchical clustering Algorithm: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Compute the proximity matrix, if necessary</a:t>
            </a:r>
          </a:p>
          <a:p>
            <a:pPr marL="514350" indent="-514350">
              <a:buAutoNum type="arabicPeriod"/>
            </a:pPr>
            <a:r>
              <a:rPr lang="en-IN" dirty="0"/>
              <a:t>repeat</a:t>
            </a:r>
          </a:p>
          <a:p>
            <a:pPr marL="514350" indent="-514350">
              <a:buAutoNum type="arabicPeriod"/>
            </a:pPr>
            <a:r>
              <a:rPr lang="en-IN" dirty="0"/>
              <a:t> 	merge the closest two clusters</a:t>
            </a:r>
          </a:p>
          <a:p>
            <a:pPr marL="514350" indent="-514350">
              <a:buAutoNum type="arabicPeriod"/>
            </a:pPr>
            <a:r>
              <a:rPr lang="en-IN" dirty="0"/>
              <a:t> 	update the proximity matrix to reflect the proximity between the 	new cluster and the original cluster </a:t>
            </a:r>
          </a:p>
          <a:p>
            <a:pPr marL="514350" indent="-514350">
              <a:buAutoNum type="arabicPeriod"/>
            </a:pPr>
            <a:r>
              <a:rPr lang="en-IN" dirty="0"/>
              <a:t>until only one cluster remains</a:t>
            </a:r>
          </a:p>
        </p:txBody>
      </p:sp>
    </p:spTree>
    <p:extLst>
      <p:ext uri="{BB962C8B-B14F-4D97-AF65-F5344CB8AC3E}">
        <p14:creationId xmlns:p14="http://schemas.microsoft.com/office/powerpoint/2010/main" val="2444238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9709"/>
            <a:ext cx="10515600" cy="5387254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Defining proximity between the clusters: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different proximity measures in agglomerative clustering are:</a:t>
            </a:r>
          </a:p>
          <a:p>
            <a:pPr marL="0" indent="0">
              <a:buNone/>
            </a:pPr>
            <a:r>
              <a:rPr lang="en-IN" dirty="0"/>
              <a:t>	MIN</a:t>
            </a:r>
          </a:p>
          <a:p>
            <a:pPr marL="0" indent="0">
              <a:buNone/>
            </a:pPr>
            <a:r>
              <a:rPr lang="en-IN" dirty="0"/>
              <a:t>	MAX</a:t>
            </a:r>
          </a:p>
          <a:p>
            <a:pPr marL="0" indent="0">
              <a:buNone/>
            </a:pPr>
            <a:r>
              <a:rPr lang="en-IN" dirty="0"/>
              <a:t>	Group Average</a:t>
            </a:r>
          </a:p>
        </p:txBody>
      </p:sp>
    </p:spTree>
    <p:extLst>
      <p:ext uri="{BB962C8B-B14F-4D97-AF65-F5344CB8AC3E}">
        <p14:creationId xmlns:p14="http://schemas.microsoft.com/office/powerpoint/2010/main" val="826614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erarchical Clusteri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70"/>
          <a:stretch/>
        </p:blipFill>
        <p:spPr bwMode="auto">
          <a:xfrm>
            <a:off x="2552925" y="2163601"/>
            <a:ext cx="6561876" cy="391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43395" y="900005"/>
            <a:ext cx="105052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MIN defines the Proximity between the closest two points that are in different clusters</a:t>
            </a:r>
          </a:p>
        </p:txBody>
      </p:sp>
    </p:spTree>
    <p:extLst>
      <p:ext uri="{BB962C8B-B14F-4D97-AF65-F5344CB8AC3E}">
        <p14:creationId xmlns:p14="http://schemas.microsoft.com/office/powerpoint/2010/main" val="1056156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MAX defines the Proximity between the farthest two points that are in different clusters </a:t>
            </a:r>
          </a:p>
        </p:txBody>
      </p:sp>
      <p:pic>
        <p:nvPicPr>
          <p:cNvPr id="2050" name="Picture 2" descr="Hierarchical Cluster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41"/>
          <a:stretch/>
        </p:blipFill>
        <p:spPr bwMode="auto">
          <a:xfrm>
            <a:off x="3704895" y="1493508"/>
            <a:ext cx="7172746" cy="427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146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9655"/>
            <a:ext cx="10515600" cy="541730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Group Average defines the cluster proximity  to be the average pairwise proximities of all pair of points from different clusters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utoShape 2" descr="Algorithm Step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6" name="Picture 4" descr="Algorithm Ste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13" y="2298097"/>
            <a:ext cx="7090352" cy="327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96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Strengths and weaknesses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 Agglomerative algorithm can produce better quality clusters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Agglomerative algorithm are expensive in terms of their computation and storage requirement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 All merge can cause trouble to noise in high dimension data such as document data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8747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DBSCAN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1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Density based Spatial clustering Applications with noise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DBSCAN is based on centre based approach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In centre based approach, density is estimated for a particular points in a data set by counting the number of points within a specified radius of that point </a:t>
            </a:r>
          </a:p>
        </p:txBody>
      </p:sp>
    </p:spTree>
    <p:extLst>
      <p:ext uri="{BB962C8B-B14F-4D97-AF65-F5344CB8AC3E}">
        <p14:creationId xmlns:p14="http://schemas.microsoft.com/office/powerpoint/2010/main" val="42483726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Lecture Notes for Chapter 2 Introduction to Data Mining , 2nd Edition - ppt  download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8" t="31531" r="17448" b="7704"/>
          <a:stretch/>
        </p:blipFill>
        <p:spPr bwMode="auto">
          <a:xfrm>
            <a:off x="2036616" y="526472"/>
            <a:ext cx="6871856" cy="470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708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Classification of points according to centre based approaches: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This approach allows us to classify the points into following categories: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Core point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Border point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Noise or Background 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6151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Core points </a:t>
            </a:r>
            <a:r>
              <a:rPr lang="en-IN" dirty="0"/>
              <a:t>are in the interior points of a density based cluster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b="1" dirty="0"/>
              <a:t>Border points </a:t>
            </a:r>
            <a:r>
              <a:rPr lang="en-IN" dirty="0"/>
              <a:t>is not a core point but falls within the neighbourhood of the core point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b="1" dirty="0"/>
              <a:t>Noise point </a:t>
            </a:r>
            <a:r>
              <a:rPr lang="en-IN" dirty="0"/>
              <a:t>is any point that is neither a core point nor a border point</a:t>
            </a:r>
          </a:p>
        </p:txBody>
      </p:sp>
    </p:spTree>
    <p:extLst>
      <p:ext uri="{BB962C8B-B14F-4D97-AF65-F5344CB8AC3E}">
        <p14:creationId xmlns:p14="http://schemas.microsoft.com/office/powerpoint/2010/main" val="20844085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D6F9BE-D0F6-FB88-9277-D2898FDE0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811" y="1185704"/>
            <a:ext cx="9577036" cy="502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469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BSCAN Clustering in ML | Density based clustering - GeeksforGeeks">
            <a:extLst>
              <a:ext uri="{FF2B5EF4-FFF2-40B4-BE49-F238E27FC236}">
                <a16:creationId xmlns:a16="http://schemas.microsoft.com/office/drawing/2014/main" id="{F7C01C22-B930-39FB-AE5D-D72B20D2C1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410" y="694976"/>
            <a:ext cx="5244846" cy="524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0440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05C28-7205-4225-A1E0-9A5CF7AEC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636"/>
            <a:ext cx="10515600" cy="4999327"/>
          </a:xfrm>
        </p:spPr>
        <p:txBody>
          <a:bodyPr/>
          <a:lstStyle/>
          <a:p>
            <a:pPr marL="0" indent="0" algn="just">
              <a:buNone/>
            </a:pPr>
            <a:r>
              <a:rPr lang="en-US" sz="5400" b="1" dirty="0"/>
              <a:t>Grid based cluster</a:t>
            </a:r>
          </a:p>
          <a:p>
            <a:pPr marL="0" indent="0" algn="just">
              <a:buNone/>
            </a:pPr>
            <a:endParaRPr lang="en-US" sz="5400" b="1" dirty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Breaks the data space into grid cells and then forms cluster from cells that are sufficiently dense</a:t>
            </a:r>
          </a:p>
          <a:p>
            <a:pPr algn="just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1894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4583-5325-41C6-B458-6BCEF2A2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09C7-28AA-4C73-A9A9-0C08F0F3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C43C6-159F-470D-9CD8-D47704AB2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25"/>
            <a:ext cx="12192000" cy="680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382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AC03-1770-4C9D-A640-456250B38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212"/>
            <a:ext cx="10515600" cy="5093751"/>
          </a:xfrm>
        </p:spPr>
        <p:txBody>
          <a:bodyPr/>
          <a:lstStyle/>
          <a:p>
            <a:pPr marL="0" indent="0">
              <a:buNone/>
            </a:pPr>
            <a:r>
              <a:rPr lang="en-US" sz="6000" b="1" dirty="0"/>
              <a:t>Subspace clustering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A technique which finds clusters within different subspaces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6989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0AC44E-2E3F-4122-99AB-5A013AF51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967" y="113195"/>
            <a:ext cx="6646784" cy="6744805"/>
          </a:xfrm>
        </p:spPr>
      </p:pic>
    </p:spTree>
    <p:extLst>
      <p:ext uri="{BB962C8B-B14F-4D97-AF65-F5344CB8AC3E}">
        <p14:creationId xmlns:p14="http://schemas.microsoft.com/office/powerpoint/2010/main" val="2286225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47DF8-064F-4AB1-BF87-B21A41C11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873" y="0"/>
            <a:ext cx="7367262" cy="6701006"/>
          </a:xfrm>
        </p:spPr>
      </p:pic>
    </p:spTree>
    <p:extLst>
      <p:ext uri="{BB962C8B-B14F-4D97-AF65-F5344CB8AC3E}">
        <p14:creationId xmlns:p14="http://schemas.microsoft.com/office/powerpoint/2010/main" val="2688170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991F23-EA83-4AC5-8332-EA8B19724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056" y="204794"/>
            <a:ext cx="6674267" cy="6226738"/>
          </a:xfrm>
        </p:spPr>
      </p:pic>
    </p:spTree>
    <p:extLst>
      <p:ext uri="{BB962C8B-B14F-4D97-AF65-F5344CB8AC3E}">
        <p14:creationId xmlns:p14="http://schemas.microsoft.com/office/powerpoint/2010/main" val="27938520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FD2DFB-7365-47A7-99B5-731551611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46" y="0"/>
            <a:ext cx="6937422" cy="6220590"/>
          </a:xfrm>
        </p:spPr>
      </p:pic>
    </p:spTree>
    <p:extLst>
      <p:ext uri="{BB962C8B-B14F-4D97-AF65-F5344CB8AC3E}">
        <p14:creationId xmlns:p14="http://schemas.microsoft.com/office/powerpoint/2010/main" val="21714570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D6B7-C56B-4EBA-8604-F33D3D9A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Evaluation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C015-28E0-409D-B05F-5E1AC4178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Cluster Evaluation should be a part of any of the Cluster Analysis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Cluster evaluation/Validation are traditionally classified into following types:</a:t>
            </a:r>
          </a:p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	Unsupervised cluster Evaluation</a:t>
            </a:r>
          </a:p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	Supervised cluster Evaluation</a:t>
            </a:r>
          </a:p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205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DFFA-2370-4564-A764-A8EBF682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Wingdings" panose="05000000000000000000" pitchFamily="2" charset="2"/>
              </a:rPr>
              <a:t>Unsupervised cluster Evaluation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2FE27-82D3-428C-97EF-0BD36D4B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Measure the goodness of the clustering structure without considering external information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Unsupervised</a:t>
            </a:r>
            <a:r>
              <a:rPr lang="en-US" dirty="0"/>
              <a:t> measure is further divided into two classes:</a:t>
            </a:r>
          </a:p>
          <a:p>
            <a:pPr marL="0" indent="0" algn="just">
              <a:buNone/>
            </a:pPr>
            <a:r>
              <a:rPr lang="en-US" dirty="0"/>
              <a:t>	Measure of cluster cohesion</a:t>
            </a:r>
          </a:p>
          <a:p>
            <a:pPr marL="0" indent="0" algn="just">
              <a:buNone/>
            </a:pPr>
            <a:r>
              <a:rPr lang="en-US" dirty="0"/>
              <a:t>	Measure of cluster separation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953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6D3CC-86CA-4CD6-8191-503FC6469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Cluster </a:t>
            </a:r>
            <a:r>
              <a:rPr lang="en-US" b="1" dirty="0"/>
              <a:t>cohesion</a:t>
            </a:r>
            <a:r>
              <a:rPr lang="en-US" dirty="0"/>
              <a:t> determines how closely related to objects in a cluster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Cluster </a:t>
            </a:r>
            <a:r>
              <a:rPr lang="en-US" b="1" dirty="0"/>
              <a:t>separation</a:t>
            </a:r>
            <a:r>
              <a:rPr lang="en-US" dirty="0"/>
              <a:t> determines how distinct or well separated a cluster is from other clusters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3364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31632-26F6-447F-8371-7730B0C0D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05" y="786534"/>
            <a:ext cx="10296801" cy="4796848"/>
          </a:xfrm>
        </p:spPr>
      </p:pic>
    </p:spTree>
    <p:extLst>
      <p:ext uri="{BB962C8B-B14F-4D97-AF65-F5344CB8AC3E}">
        <p14:creationId xmlns:p14="http://schemas.microsoft.com/office/powerpoint/2010/main" val="28585136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3EF73-5729-4926-8686-6E8CE732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452"/>
            <a:ext cx="10515600" cy="54595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Cohesion and separation can be expressed using following equation: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06207-DC32-49C7-8258-415139AED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521"/>
            <a:ext cx="12192000" cy="52889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06207-DC32-49C7-8258-415139AED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7452"/>
            <a:ext cx="12192000" cy="528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348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Wingdings" panose="05000000000000000000" pitchFamily="2" charset="2"/>
              </a:rPr>
              <a:t>Supervised cluster Evaluation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This approach measures the extent to which two objects that are in the same class are in the same cluster and vice versa</a:t>
            </a:r>
          </a:p>
          <a:p>
            <a:pPr>
              <a:buFont typeface="Wingdings" panose="05000000000000000000" pitchFamily="2" charset="2"/>
              <a:buChar char="à"/>
            </a:pPr>
            <a:endParaRPr lang="en-IN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IN" dirty="0">
                <a:sym typeface="Wingdings" panose="05000000000000000000" pitchFamily="2" charset="2"/>
              </a:rPr>
              <a:t>There are two types of supervised measures: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Classification oriented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Similarity oriented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6439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ym typeface="Wingdings" panose="05000000000000000000" pitchFamily="2" charset="2"/>
              </a:rPr>
              <a:t>Classification oriented</a:t>
            </a:r>
          </a:p>
          <a:p>
            <a:pPr marL="0" indent="0">
              <a:buNone/>
            </a:pPr>
            <a:r>
              <a:rPr lang="en-IN" dirty="0"/>
              <a:t>No. of measures such as “Entropy”, “Purity”, “Precision”, “Recall”, “F measure” are commonly used to evaluate the performance</a:t>
            </a:r>
          </a:p>
        </p:txBody>
      </p:sp>
    </p:spTree>
    <p:extLst>
      <p:ext uri="{BB962C8B-B14F-4D97-AF65-F5344CB8AC3E}">
        <p14:creationId xmlns:p14="http://schemas.microsoft.com/office/powerpoint/2010/main" val="35360080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Entropy:</a:t>
            </a:r>
          </a:p>
          <a:p>
            <a:pPr marL="0" indent="0">
              <a:buNone/>
            </a:pPr>
            <a:r>
              <a:rPr lang="en-IN" dirty="0"/>
              <a:t>The degree to which each cluster consists of objects of a single class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2899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where K is the number of clusters</a:t>
            </a:r>
          </a:p>
          <a:p>
            <a:pPr marL="0" indent="0">
              <a:buNone/>
            </a:pPr>
            <a:r>
              <a:rPr lang="en-IN" dirty="0"/>
              <a:t>m is the total number of data points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5" t="19495" r="2165" b="37382"/>
          <a:stretch/>
        </p:blipFill>
        <p:spPr>
          <a:xfrm>
            <a:off x="955964" y="193964"/>
            <a:ext cx="8825346" cy="1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00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pij</a:t>
            </a:r>
            <a:r>
              <a:rPr lang="en-IN" dirty="0"/>
              <a:t>=</a:t>
            </a:r>
            <a:r>
              <a:rPr lang="en-IN" dirty="0" err="1"/>
              <a:t>mij</a:t>
            </a:r>
            <a:r>
              <a:rPr lang="en-IN" dirty="0"/>
              <a:t>/mi</a:t>
            </a:r>
          </a:p>
          <a:p>
            <a:pPr marL="0" indent="0">
              <a:buNone/>
            </a:pPr>
            <a:r>
              <a:rPr lang="en-IN" dirty="0"/>
              <a:t>where mi is the number of objects in cluster </a:t>
            </a:r>
            <a:r>
              <a:rPr lang="en-IN" dirty="0" err="1"/>
              <a:t>i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mij</a:t>
            </a:r>
            <a:r>
              <a:rPr lang="en-IN" dirty="0"/>
              <a:t> is the no of objects of class j in cluster </a:t>
            </a:r>
            <a:r>
              <a:rPr lang="en-IN" dirty="0" err="1"/>
              <a:t>i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 is the number of classes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82" b="36440"/>
          <a:stretch/>
        </p:blipFill>
        <p:spPr>
          <a:xfrm>
            <a:off x="706582" y="1027906"/>
            <a:ext cx="10058400" cy="14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701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Purity: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where pi= max </a:t>
            </a:r>
            <a:r>
              <a:rPr lang="en-IN" dirty="0" err="1"/>
              <a:t>pij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2" t="29293" r="20840" b="64848"/>
          <a:stretch/>
        </p:blipFill>
        <p:spPr>
          <a:xfrm>
            <a:off x="3276599" y="2119745"/>
            <a:ext cx="7275069" cy="13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163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Precision:</a:t>
            </a:r>
          </a:p>
          <a:p>
            <a:pPr marL="0" indent="0" algn="just">
              <a:buNone/>
            </a:pPr>
            <a:r>
              <a:rPr lang="en-IN" dirty="0"/>
              <a:t>The fraction of a cluster that consists of objects of a specified class</a:t>
            </a:r>
          </a:p>
          <a:p>
            <a:pPr marL="0" indent="0" algn="just">
              <a:buNone/>
            </a:pPr>
            <a:r>
              <a:rPr lang="en-IN" dirty="0"/>
              <a:t>precision(</a:t>
            </a:r>
            <a:r>
              <a:rPr lang="en-IN" dirty="0" err="1"/>
              <a:t>i,j</a:t>
            </a:r>
            <a:r>
              <a:rPr lang="en-IN" dirty="0"/>
              <a:t>)=</a:t>
            </a:r>
            <a:r>
              <a:rPr lang="en-IN" dirty="0" err="1"/>
              <a:t>pij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3800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Recall</a:t>
            </a:r>
          </a:p>
          <a:p>
            <a:pPr marL="0" indent="0">
              <a:buNone/>
            </a:pPr>
            <a:r>
              <a:rPr lang="en-IN" dirty="0"/>
              <a:t>The extent to which a cluster contains all the classes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 measure:</a:t>
            </a:r>
          </a:p>
          <a:p>
            <a:pPr marL="0" indent="0">
              <a:buNone/>
            </a:pPr>
            <a:r>
              <a:rPr lang="en-IN" dirty="0"/>
              <a:t>combination of both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12288566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ym typeface="Wingdings" panose="05000000000000000000" pitchFamily="2" charset="2"/>
              </a:rPr>
              <a:t>Similarity oriented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Cluster evaluation will be done using comparison of two matrices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Ideal cluster similarity matrix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Ideal class similarity matrix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8294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Ideal cluster similarity matrix</a:t>
            </a:r>
          </a:p>
          <a:p>
            <a:pPr marL="0" indent="0">
              <a:buNone/>
            </a:pPr>
            <a:r>
              <a:rPr lang="en-IN" dirty="0"/>
              <a:t>Has 1 in </a:t>
            </a:r>
            <a:r>
              <a:rPr lang="en-IN" dirty="0" err="1"/>
              <a:t>ijth</a:t>
            </a:r>
            <a:r>
              <a:rPr lang="en-IN" dirty="0"/>
              <a:t> entry if two objects </a:t>
            </a:r>
            <a:r>
              <a:rPr lang="en-IN" dirty="0" err="1"/>
              <a:t>i</a:t>
            </a:r>
            <a:r>
              <a:rPr lang="en-IN" dirty="0"/>
              <a:t> and j are in the same cluster, and 0 otherwise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Ideal class similarity matrix</a:t>
            </a:r>
          </a:p>
          <a:p>
            <a:pPr marL="0" indent="0">
              <a:buNone/>
            </a:pPr>
            <a:r>
              <a:rPr lang="en-IN" dirty="0"/>
              <a:t>Has 1 in </a:t>
            </a:r>
            <a:r>
              <a:rPr lang="en-IN" dirty="0" err="1"/>
              <a:t>ijth</a:t>
            </a:r>
            <a:r>
              <a:rPr lang="en-IN" dirty="0"/>
              <a:t> entry if two objects </a:t>
            </a:r>
            <a:r>
              <a:rPr lang="en-IN" dirty="0" err="1"/>
              <a:t>i</a:t>
            </a:r>
            <a:r>
              <a:rPr lang="en-IN" dirty="0"/>
              <a:t> and j belong to the same class, and 0 otherwise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0521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29" b="47392"/>
          <a:stretch/>
        </p:blipFill>
        <p:spPr>
          <a:xfrm>
            <a:off x="436418" y="582324"/>
            <a:ext cx="11582690" cy="3574040"/>
          </a:xfrm>
        </p:spPr>
      </p:pic>
    </p:spTree>
    <p:extLst>
      <p:ext uri="{BB962C8B-B14F-4D97-AF65-F5344CB8AC3E}">
        <p14:creationId xmlns:p14="http://schemas.microsoft.com/office/powerpoint/2010/main" val="427018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</TotalTime>
  <Words>2533</Words>
  <Application>Microsoft Office PowerPoint</Application>
  <PresentationFormat>Widescreen</PresentationFormat>
  <Paragraphs>1004</Paragraphs>
  <Slides>86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Calibri Light</vt:lpstr>
      <vt:lpstr>Wingdings</vt:lpstr>
      <vt:lpstr>Office Theme</vt:lpstr>
      <vt:lpstr>Cluster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</vt:lpstr>
      <vt:lpstr>PowerPoint Presentation</vt:lpstr>
      <vt:lpstr>PowerPoint Presentation</vt:lpstr>
      <vt:lpstr>Different types of Clustering</vt:lpstr>
      <vt:lpstr>Partitioning clustering</vt:lpstr>
      <vt:lpstr>Hierarchical Clustering</vt:lpstr>
      <vt:lpstr>Exclusive Clustering</vt:lpstr>
      <vt:lpstr>Overlapping Clustering </vt:lpstr>
      <vt:lpstr>Example 2</vt:lpstr>
      <vt:lpstr>Fuzzy Clustering</vt:lpstr>
      <vt:lpstr>Complete Clustering</vt:lpstr>
      <vt:lpstr>Partial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clusters</vt:lpstr>
      <vt:lpstr>PowerPoint Presentation</vt:lpstr>
      <vt:lpstr>PowerPoint Presentation</vt:lpstr>
      <vt:lpstr>PowerPoint Presentation</vt:lpstr>
      <vt:lpstr>Example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 and weakness</vt:lpstr>
      <vt:lpstr>Agglomerative 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 and weaknesses </vt:lpstr>
      <vt:lpstr>DBSCAN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 Evaluation</vt:lpstr>
      <vt:lpstr>Unsupervised cluster Evaluation</vt:lpstr>
      <vt:lpstr>PowerPoint Presentation</vt:lpstr>
      <vt:lpstr>PowerPoint Presentation</vt:lpstr>
      <vt:lpstr>PowerPoint Presentation</vt:lpstr>
      <vt:lpstr>Supervised cluster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Analysis</dc:title>
  <dc:creator>Raksha Puthran</dc:creator>
  <cp:lastModifiedBy>Raksha Puthran</cp:lastModifiedBy>
  <cp:revision>316</cp:revision>
  <dcterms:created xsi:type="dcterms:W3CDTF">2021-07-03T14:51:41Z</dcterms:created>
  <dcterms:modified xsi:type="dcterms:W3CDTF">2026-05-06T06:55:51Z</dcterms:modified>
</cp:coreProperties>
</file>