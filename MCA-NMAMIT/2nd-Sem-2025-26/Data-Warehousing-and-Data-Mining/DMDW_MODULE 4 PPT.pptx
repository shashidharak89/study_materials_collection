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466" r:id="rId16"/>
    <p:sldId id="467" r:id="rId17"/>
    <p:sldId id="270" r:id="rId18"/>
    <p:sldId id="271" r:id="rId19"/>
    <p:sldId id="275" r:id="rId20"/>
    <p:sldId id="272" r:id="rId21"/>
    <p:sldId id="273" r:id="rId22"/>
    <p:sldId id="274" r:id="rId23"/>
    <p:sldId id="278" r:id="rId24"/>
    <p:sldId id="276" r:id="rId25"/>
    <p:sldId id="474" r:id="rId26"/>
    <p:sldId id="280" r:id="rId27"/>
    <p:sldId id="475" r:id="rId28"/>
    <p:sldId id="277" r:id="rId29"/>
    <p:sldId id="465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468" r:id="rId39"/>
    <p:sldId id="469" r:id="rId40"/>
    <p:sldId id="470" r:id="rId41"/>
    <p:sldId id="471" r:id="rId42"/>
    <p:sldId id="472" r:id="rId43"/>
    <p:sldId id="473" r:id="rId44"/>
    <p:sldId id="289" r:id="rId45"/>
    <p:sldId id="414" r:id="rId46"/>
    <p:sldId id="290" r:id="rId47"/>
    <p:sldId id="291" r:id="rId48"/>
    <p:sldId id="294" r:id="rId49"/>
    <p:sldId id="292" r:id="rId50"/>
    <p:sldId id="301" r:id="rId51"/>
    <p:sldId id="305" r:id="rId52"/>
    <p:sldId id="306" r:id="rId53"/>
    <p:sldId id="329" r:id="rId54"/>
    <p:sldId id="307" r:id="rId55"/>
    <p:sldId id="308" r:id="rId56"/>
    <p:sldId id="309" r:id="rId57"/>
    <p:sldId id="302" r:id="rId58"/>
    <p:sldId id="310" r:id="rId59"/>
    <p:sldId id="311" r:id="rId60"/>
    <p:sldId id="328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04" r:id="rId70"/>
    <p:sldId id="320" r:id="rId71"/>
    <p:sldId id="345" r:id="rId72"/>
    <p:sldId id="321" r:id="rId73"/>
    <p:sldId id="322" r:id="rId74"/>
    <p:sldId id="323" r:id="rId75"/>
    <p:sldId id="341" r:id="rId76"/>
    <p:sldId id="324" r:id="rId77"/>
    <p:sldId id="325" r:id="rId78"/>
    <p:sldId id="326" r:id="rId79"/>
    <p:sldId id="327" r:id="rId80"/>
    <p:sldId id="462" r:id="rId81"/>
    <p:sldId id="441" r:id="rId82"/>
    <p:sldId id="442" r:id="rId83"/>
    <p:sldId id="443" r:id="rId84"/>
    <p:sldId id="463" r:id="rId85"/>
    <p:sldId id="464" r:id="rId86"/>
    <p:sldId id="384" r:id="rId87"/>
    <p:sldId id="386" r:id="rId88"/>
    <p:sldId id="330" r:id="rId89"/>
    <p:sldId id="331" r:id="rId90"/>
    <p:sldId id="332" r:id="rId91"/>
    <p:sldId id="333" r:id="rId92"/>
    <p:sldId id="334" r:id="rId93"/>
    <p:sldId id="335" r:id="rId94"/>
    <p:sldId id="336" r:id="rId95"/>
    <p:sldId id="337" r:id="rId96"/>
    <p:sldId id="338" r:id="rId97"/>
    <p:sldId id="339" r:id="rId98"/>
    <p:sldId id="340" r:id="rId99"/>
    <p:sldId id="459" r:id="rId100"/>
    <p:sldId id="460" r:id="rId101"/>
    <p:sldId id="461" r:id="rId102"/>
    <p:sldId id="415" r:id="rId103"/>
    <p:sldId id="416" r:id="rId104"/>
    <p:sldId id="417" r:id="rId105"/>
    <p:sldId id="420" r:id="rId106"/>
    <p:sldId id="418" r:id="rId107"/>
    <p:sldId id="419" r:id="rId108"/>
    <p:sldId id="344" r:id="rId109"/>
    <p:sldId id="342" r:id="rId110"/>
    <p:sldId id="343" r:id="rId111"/>
    <p:sldId id="346" r:id="rId112"/>
    <p:sldId id="347" r:id="rId113"/>
    <p:sldId id="348" r:id="rId114"/>
    <p:sldId id="429" r:id="rId115"/>
    <p:sldId id="430" r:id="rId116"/>
    <p:sldId id="431" r:id="rId117"/>
    <p:sldId id="432" r:id="rId118"/>
    <p:sldId id="450" r:id="rId119"/>
    <p:sldId id="451" r:id="rId120"/>
    <p:sldId id="452" r:id="rId121"/>
    <p:sldId id="453" r:id="rId122"/>
    <p:sldId id="454" r:id="rId123"/>
    <p:sldId id="455" r:id="rId124"/>
    <p:sldId id="456" r:id="rId125"/>
    <p:sldId id="457" r:id="rId126"/>
    <p:sldId id="458" r:id="rId127"/>
    <p:sldId id="433" r:id="rId128"/>
    <p:sldId id="434" r:id="rId129"/>
    <p:sldId id="435" r:id="rId130"/>
    <p:sldId id="436" r:id="rId131"/>
    <p:sldId id="437" r:id="rId132"/>
    <p:sldId id="438" r:id="rId133"/>
    <p:sldId id="426" r:id="rId134"/>
    <p:sldId id="427" r:id="rId135"/>
    <p:sldId id="349" r:id="rId136"/>
    <p:sldId id="350" r:id="rId137"/>
    <p:sldId id="439" r:id="rId138"/>
    <p:sldId id="440" r:id="rId139"/>
    <p:sldId id="444" r:id="rId140"/>
    <p:sldId id="446" r:id="rId141"/>
    <p:sldId id="447" r:id="rId142"/>
    <p:sldId id="448" r:id="rId143"/>
    <p:sldId id="449" r:id="rId144"/>
    <p:sldId id="406" r:id="rId145"/>
    <p:sldId id="388" r:id="rId146"/>
    <p:sldId id="389" r:id="rId147"/>
    <p:sldId id="393" r:id="rId148"/>
    <p:sldId id="375" r:id="rId149"/>
    <p:sldId id="395" r:id="rId150"/>
    <p:sldId id="396" r:id="rId151"/>
    <p:sldId id="392" r:id="rId152"/>
    <p:sldId id="397" r:id="rId153"/>
    <p:sldId id="398" r:id="rId154"/>
    <p:sldId id="401" r:id="rId155"/>
    <p:sldId id="399" r:id="rId156"/>
    <p:sldId id="402" r:id="rId157"/>
    <p:sldId id="400" r:id="rId158"/>
    <p:sldId id="355" r:id="rId159"/>
    <p:sldId id="403" r:id="rId160"/>
    <p:sldId id="407" r:id="rId161"/>
    <p:sldId id="408" r:id="rId162"/>
    <p:sldId id="409" r:id="rId163"/>
    <p:sldId id="410" r:id="rId164"/>
    <p:sldId id="411" r:id="rId165"/>
    <p:sldId id="412" r:id="rId166"/>
    <p:sldId id="413" r:id="rId167"/>
    <p:sldId id="404" r:id="rId1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42B90D-555E-47D3-9DB3-C3F62A17FD5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4"/>
            <p14:sldId id="266"/>
            <p14:sldId id="267"/>
            <p14:sldId id="268"/>
            <p14:sldId id="269"/>
            <p14:sldId id="466"/>
            <p14:sldId id="467"/>
            <p14:sldId id="270"/>
            <p14:sldId id="271"/>
            <p14:sldId id="275"/>
            <p14:sldId id="272"/>
            <p14:sldId id="273"/>
            <p14:sldId id="274"/>
            <p14:sldId id="278"/>
            <p14:sldId id="276"/>
            <p14:sldId id="474"/>
            <p14:sldId id="280"/>
            <p14:sldId id="475"/>
            <p14:sldId id="277"/>
            <p14:sldId id="465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468"/>
            <p14:sldId id="469"/>
            <p14:sldId id="470"/>
            <p14:sldId id="471"/>
            <p14:sldId id="472"/>
            <p14:sldId id="473"/>
            <p14:sldId id="289"/>
            <p14:sldId id="414"/>
            <p14:sldId id="290"/>
            <p14:sldId id="291"/>
            <p14:sldId id="294"/>
            <p14:sldId id="292"/>
            <p14:sldId id="301"/>
            <p14:sldId id="305"/>
            <p14:sldId id="306"/>
            <p14:sldId id="329"/>
            <p14:sldId id="307"/>
            <p14:sldId id="308"/>
            <p14:sldId id="309"/>
            <p14:sldId id="302"/>
            <p14:sldId id="310"/>
            <p14:sldId id="311"/>
            <p14:sldId id="328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04"/>
            <p14:sldId id="320"/>
            <p14:sldId id="345"/>
            <p14:sldId id="321"/>
            <p14:sldId id="322"/>
            <p14:sldId id="323"/>
            <p14:sldId id="341"/>
            <p14:sldId id="324"/>
            <p14:sldId id="325"/>
            <p14:sldId id="326"/>
            <p14:sldId id="327"/>
            <p14:sldId id="462"/>
            <p14:sldId id="441"/>
            <p14:sldId id="442"/>
            <p14:sldId id="443"/>
            <p14:sldId id="463"/>
            <p14:sldId id="464"/>
            <p14:sldId id="384"/>
            <p14:sldId id="386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459"/>
            <p14:sldId id="460"/>
            <p14:sldId id="461"/>
            <p14:sldId id="415"/>
            <p14:sldId id="416"/>
            <p14:sldId id="417"/>
            <p14:sldId id="420"/>
            <p14:sldId id="418"/>
            <p14:sldId id="419"/>
            <p14:sldId id="344"/>
            <p14:sldId id="342"/>
            <p14:sldId id="343"/>
            <p14:sldId id="346"/>
            <p14:sldId id="347"/>
            <p14:sldId id="348"/>
            <p14:sldId id="429"/>
            <p14:sldId id="430"/>
            <p14:sldId id="431"/>
            <p14:sldId id="432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33"/>
            <p14:sldId id="434"/>
            <p14:sldId id="435"/>
            <p14:sldId id="436"/>
            <p14:sldId id="437"/>
            <p14:sldId id="438"/>
            <p14:sldId id="426"/>
            <p14:sldId id="427"/>
            <p14:sldId id="349"/>
            <p14:sldId id="350"/>
            <p14:sldId id="439"/>
            <p14:sldId id="440"/>
            <p14:sldId id="444"/>
            <p14:sldId id="446"/>
            <p14:sldId id="447"/>
            <p14:sldId id="448"/>
            <p14:sldId id="449"/>
            <p14:sldId id="406"/>
            <p14:sldId id="388"/>
            <p14:sldId id="389"/>
            <p14:sldId id="393"/>
            <p14:sldId id="375"/>
            <p14:sldId id="395"/>
            <p14:sldId id="396"/>
            <p14:sldId id="392"/>
            <p14:sldId id="397"/>
            <p14:sldId id="398"/>
            <p14:sldId id="401"/>
            <p14:sldId id="399"/>
            <p14:sldId id="402"/>
            <p14:sldId id="400"/>
            <p14:sldId id="355"/>
            <p14:sldId id="403"/>
            <p14:sldId id="407"/>
            <p14:sldId id="408"/>
            <p14:sldId id="409"/>
            <p14:sldId id="410"/>
            <p14:sldId id="411"/>
            <p14:sldId id="412"/>
            <p14:sldId id="413"/>
            <p14:sldId id="4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0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D614-5F16-47FD-82AA-96840BCEF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47508-A63B-40D6-BC0B-2940495B1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C2B95-E383-40BB-BEA9-0879F4AB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C1000-AE10-4722-A032-E3640C9D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743F-3AF4-4429-9C14-DC3B9B1D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0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4EA28-F640-4027-A539-BA319750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1AA91-02A9-44EF-8C5E-3863BAEE4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7C0C-E802-4596-8EC1-42442618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E53B-DF30-4A53-A624-183EA113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F555-1820-41D9-8D3C-75A2A825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86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6C5E-293F-4D33-BFEA-5C7DF998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A03F6-025E-412A-9121-F76E7E3CD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75CE-FA21-413C-885F-468D7AD5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B978F-584F-4BFA-944E-29CEBFE7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08451-4047-496B-9A04-6F186554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35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ED2D-98E7-4C43-9424-C75EE436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2EA89-5E20-4F9E-8CAD-AD1EEEBEC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8B86E-5025-40E7-AEF4-FC4AA75AB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C4ADA-CC00-4C10-9171-6D347A8E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7F6C0-EB37-4A32-9321-40245233D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7E22D-1CF9-408E-B823-CE7C6EF5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0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9573-89BC-4B4E-9D3F-3256EDD2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25A5D-3564-4A1B-B931-195B5A889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3AF6B-DF64-4C4D-82FD-267EF2C82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AD763A-1F4B-468F-AE6B-20D56E903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7548A-B563-4E4A-8AEE-571907134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957083-BFF4-4035-8E64-C4E093FB1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A908-A512-4382-82F4-8A424994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38531-77E3-4B08-97ED-5C38A470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66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8AB3-5776-48E7-8B68-D088AF39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7B3FD-E807-4A3A-8382-F833FA18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C3E24-55A8-4B7B-B938-3C2C6EF2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0561D-A30D-45E9-8CCC-35A48FFAC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79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C54CC-B68E-4A52-BE64-D01758A0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214308-247D-4546-83E3-74AA9295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88300-7515-4B63-982C-BE4ED3AA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89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E5C2-B975-49EB-AC27-D79E41D5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75AB1-0A6E-49A8-AD5F-737B3A42C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4453-63F3-4F7D-B18E-78AA377D9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7C790-55C9-46F3-8C75-C162A86D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C9BC5-BA23-4E32-8B32-10EE50DB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53691-29F4-446E-ABC1-C14F526E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75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5C1B-25FD-4836-82D4-FB1CC155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AD14A-F2B2-4A81-9C4B-543A3EB3B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271A5-124B-4A54-B18E-D151A5FF6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9BAF3-9B3C-4EAE-8862-4E70F3E0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FB809-2F8E-4A5E-AAFD-409246F5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BC13F-6B8F-44CC-A986-EE1AB831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98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0514B-BFCF-4D01-93F0-75A5A3E5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B0994-42C9-46D1-A0B3-D0D242771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09B6-EE85-4F70-874A-034B329C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F2138-ED3E-48AE-8414-B052015B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F9731-6821-4520-82C0-363BDA64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1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150AC-2C75-4B60-B9CF-EAC0F593C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0CBE3-1385-462F-BCB5-5B18488A3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C19FD-0822-4023-A667-3354F914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F8008-F822-4D98-B70B-FEAB1C83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D91C8-9F44-4420-AF80-DF0FACDF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74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08976-616A-477B-B6FF-B15DD790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46077-2F2A-451E-990A-B2DE7C1EC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DF279-24B0-417F-96B0-D07CAAEEC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4A20A-F2A7-4D13-AB47-1862987030E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68C65-80FF-42EF-B9F8-F1A6BD629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40D75-3E36-4600-95CB-A4FB2BB80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EDCB0-E64D-453F-8224-BA85CF678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14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F044-A0D3-4648-8433-81C204732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/>
              <a:t>Classification</a:t>
            </a:r>
            <a:endParaRPr lang="en-IN" sz="8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1A4CA-B333-4F33-85E3-A7E0E0FE5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00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7E80-C0DA-4573-A329-5CBDAD07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4F14-76B0-49DA-9FEA-273CFC841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Classification is the task of assigning objects to one of several predefined categories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err="1"/>
              <a:t>Eg</a:t>
            </a:r>
            <a:r>
              <a:rPr lang="en-US" dirty="0"/>
              <a:t>: determining spam email messages based upon the message header and content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Classifying galaxies based upon their shapes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8950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E240-ED19-4F3D-91E6-96967B8D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364A3-2C98-404F-8E6B-793DD981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 bank loan officer wants to analyze the data in order to know which customer are risky or safe(loan applicant)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A marketing manager at a company needs to analyze a customer with a given profile, who will buy a computer or not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315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A1B8-8B2E-4958-8342-607169CD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Classification- Definition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7181B-4066-4C8C-B33A-FFB989AF3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Classification is a task of learning a </a:t>
            </a:r>
            <a:r>
              <a:rPr lang="en-US" b="1" i="1" dirty="0"/>
              <a:t>target function </a:t>
            </a:r>
            <a:r>
              <a:rPr lang="en-US" dirty="0"/>
              <a:t>f that maps each attribute set x to one of the predefined class labels y</a:t>
            </a:r>
            <a:endParaRPr lang="en-IN" dirty="0"/>
          </a:p>
        </p:txBody>
      </p:sp>
      <p:pic>
        <p:nvPicPr>
          <p:cNvPr id="1026" name="Picture 2" descr="Basic Concepts Decision Trees">
            <a:extLst>
              <a:ext uri="{FF2B5EF4-FFF2-40B4-BE49-F238E27FC236}">
                <a16:creationId xmlns:a16="http://schemas.microsoft.com/office/drawing/2014/main" id="{A3912B6C-EED0-4D99-BEF7-D70869446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25" y="3092790"/>
            <a:ext cx="10331249" cy="267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81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63AB-0EEA-4A3C-8151-864FAABA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Classification and Prediction (Data Mining: Concepts and Techniques) - ppt  download">
            <a:extLst>
              <a:ext uri="{FF2B5EF4-FFF2-40B4-BE49-F238E27FC236}">
                <a16:creationId xmlns:a16="http://schemas.microsoft.com/office/drawing/2014/main" id="{A660EB21-89E4-4D3B-BA26-A93B491A32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5" r="859" b="3680"/>
          <a:stretch/>
        </p:blipFill>
        <p:spPr bwMode="auto">
          <a:xfrm>
            <a:off x="211014" y="196948"/>
            <a:ext cx="11774659" cy="647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393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48EF-EBF5-42BF-870D-6EF66725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PPT - DATA MINING LECTURE 10 PowerPoint Presentation, free download -  ID:1546621">
            <a:extLst>
              <a:ext uri="{FF2B5EF4-FFF2-40B4-BE49-F238E27FC236}">
                <a16:creationId xmlns:a16="http://schemas.microsoft.com/office/drawing/2014/main" id="{E90F0373-708F-4CB9-AF9E-D03CF87006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0786" r="-2535"/>
          <a:stretch/>
        </p:blipFill>
        <p:spPr bwMode="auto">
          <a:xfrm>
            <a:off x="177354" y="-12192"/>
            <a:ext cx="11837291" cy="661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40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BE78A-F4B3-49FF-AC35-CFFA2102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classification model is useful for the following purposes: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Descriptive modeling</a:t>
            </a:r>
          </a:p>
          <a:p>
            <a:pPr marL="0" indent="0">
              <a:buNone/>
            </a:pPr>
            <a:r>
              <a:rPr lang="en-US" dirty="0"/>
              <a:t>	Predictive Modeling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90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DC78E-0259-426C-B55E-F18C3716D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1859"/>
            <a:ext cx="10515600" cy="538917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Descriptive modeling</a:t>
            </a:r>
          </a:p>
          <a:p>
            <a:pPr marL="0" indent="0" algn="just">
              <a:buNone/>
            </a:pPr>
            <a:r>
              <a:rPr lang="en-US" dirty="0"/>
              <a:t>A classification model can serve as an explanatory tool to distinguish between objects of different classes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13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D8C1-810C-4E7E-AB32-BD3E8D94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Data Analytics CS 40003 Lecture 9 Classification Decision">
            <a:extLst>
              <a:ext uri="{FF2B5EF4-FFF2-40B4-BE49-F238E27FC236}">
                <a16:creationId xmlns:a16="http://schemas.microsoft.com/office/drawing/2014/main" id="{04F30CA6-AA71-49E8-BDC5-E2381E8C8E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" t="25613" r="7087" b="16516"/>
          <a:stretch/>
        </p:blipFill>
        <p:spPr bwMode="auto">
          <a:xfrm>
            <a:off x="182880" y="0"/>
            <a:ext cx="118603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830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AE423-22F5-47C2-8ED5-FF622DBCE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Predictive modeling</a:t>
            </a:r>
          </a:p>
          <a:p>
            <a:pPr marL="0" indent="0" algn="just">
              <a:buNone/>
            </a:pPr>
            <a:r>
              <a:rPr lang="en-US" dirty="0"/>
              <a:t>A classification model can also be used to predict the class label of unknown records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633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ata Analytics CS 40003 Lecture 9 Classification Decision">
            <a:extLst>
              <a:ext uri="{FF2B5EF4-FFF2-40B4-BE49-F238E27FC236}">
                <a16:creationId xmlns:a16="http://schemas.microsoft.com/office/drawing/2014/main" id="{4856FB3F-EF52-4AED-82F1-D1850095FE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31757" r="13976" b="48846"/>
          <a:stretch/>
        </p:blipFill>
        <p:spPr bwMode="auto">
          <a:xfrm>
            <a:off x="169897" y="1140446"/>
            <a:ext cx="11852205" cy="216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065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5110-4877-4A29-9CE8-44417C85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7" y="0"/>
            <a:ext cx="10515600" cy="1325563"/>
          </a:xfrm>
        </p:spPr>
        <p:txBody>
          <a:bodyPr/>
          <a:lstStyle/>
          <a:p>
            <a:r>
              <a:rPr lang="en-US" b="1" dirty="0"/>
              <a:t>Illustration of Classification model</a:t>
            </a:r>
            <a:endParaRPr lang="en-IN" b="1" dirty="0"/>
          </a:p>
        </p:txBody>
      </p:sp>
      <p:pic>
        <p:nvPicPr>
          <p:cNvPr id="6146" name="Picture 2" descr="Data Mining Classification: Basic Concepts and Techniques - ppt download">
            <a:extLst>
              <a:ext uri="{FF2B5EF4-FFF2-40B4-BE49-F238E27FC236}">
                <a16:creationId xmlns:a16="http://schemas.microsoft.com/office/drawing/2014/main" id="{F7059847-E6B6-4062-9DC9-0D3FEB3EDC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2" t="15750" r="9697" b="7249"/>
          <a:stretch/>
        </p:blipFill>
        <p:spPr bwMode="auto">
          <a:xfrm>
            <a:off x="1547444" y="1158490"/>
            <a:ext cx="8145195" cy="569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984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854E-F494-4F5C-8B43-F1F8BD5F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Confusion matrix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B0776-1396-4A3A-B4DE-2CE91492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table used to describe the performance of the classification model on as set of test data for which the true values are known</a:t>
            </a:r>
            <a:endParaRPr lang="en-IN" dirty="0"/>
          </a:p>
        </p:txBody>
      </p:sp>
      <p:pic>
        <p:nvPicPr>
          <p:cNvPr id="7170" name="Picture 2" descr="Data Mining Instructor: Bajuna Salehe Web: - ppt download">
            <a:extLst>
              <a:ext uri="{FF2B5EF4-FFF2-40B4-BE49-F238E27FC236}">
                <a16:creationId xmlns:a16="http://schemas.microsoft.com/office/drawing/2014/main" id="{1D77C526-724F-41BC-978F-19BFE22F3F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4" t="45986" r="7436" b="7963"/>
          <a:stretch/>
        </p:blipFill>
        <p:spPr bwMode="auto">
          <a:xfrm>
            <a:off x="1358479" y="2869808"/>
            <a:ext cx="9475041" cy="375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5968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lassification Decision Trees Evaluation - ppt download">
            <a:extLst>
              <a:ext uri="{FF2B5EF4-FFF2-40B4-BE49-F238E27FC236}">
                <a16:creationId xmlns:a16="http://schemas.microsoft.com/office/drawing/2014/main" id="{132A2BD9-1EFC-40BA-9716-43ECBEB1DE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" t="66025" r="19044"/>
          <a:stretch/>
        </p:blipFill>
        <p:spPr bwMode="auto">
          <a:xfrm>
            <a:off x="838199" y="829993"/>
            <a:ext cx="10692073" cy="360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3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2160D3-F6BF-3167-0C24-1B2A05503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837669"/>
              </p:ext>
            </p:extLst>
          </p:nvPr>
        </p:nvGraphicFramePr>
        <p:xfrm>
          <a:off x="594360" y="707136"/>
          <a:ext cx="10515600" cy="246510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56306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25178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90415252"/>
                    </a:ext>
                  </a:extLst>
                </a:gridCol>
              </a:tblGrid>
              <a:tr h="821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Actual \ Predicted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Pass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/>
                        <a:t>Fail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129593"/>
                  </a:ext>
                </a:extLst>
              </a:tr>
              <a:tr h="821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Pass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65016"/>
                  </a:ext>
                </a:extLst>
              </a:tr>
              <a:tr h="821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/>
                        <a:t>Fail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345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230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4363-7FE7-6755-5BD4-A1AFC700F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5110B9-ECD0-01C4-15E9-007D4A31B4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4360" y="707136"/>
          <a:ext cx="10515600" cy="246510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56306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25178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90415252"/>
                    </a:ext>
                  </a:extLst>
                </a:gridCol>
              </a:tblGrid>
              <a:tr h="821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Actual \ Predicted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Pass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/>
                        <a:t>Fail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129593"/>
                  </a:ext>
                </a:extLst>
              </a:tr>
              <a:tr h="821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Pass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65016"/>
                  </a:ext>
                </a:extLst>
              </a:tr>
              <a:tr h="821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/>
                        <a:t>Fail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3459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EFCF6D-46F0-C1CA-9379-A7384DDA6603}"/>
              </a:ext>
            </a:extLst>
          </p:cNvPr>
          <p:cNvSpPr txBox="1"/>
          <p:nvPr/>
        </p:nvSpPr>
        <p:spPr>
          <a:xfrm>
            <a:off x="3901440" y="396671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Accuracy</a:t>
            </a:r>
            <a:r>
              <a:rPr lang="en-IN" sz="2800" dirty="0"/>
              <a:t> = </a:t>
            </a:r>
            <a:r>
              <a:rPr lang="en-IN" sz="2800" b="1" dirty="0"/>
              <a:t>75%</a:t>
            </a:r>
          </a:p>
          <a:p>
            <a:endParaRPr lang="en-IN" sz="2800" b="1" dirty="0"/>
          </a:p>
          <a:p>
            <a:r>
              <a:rPr lang="en-IN" sz="2800" b="1" dirty="0"/>
              <a:t>Error rate=25%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93517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ACD6-7DEF-41A2-8211-13984164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C1E5-6A35-4559-998B-7185C5B6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Decision tree classifier</a:t>
            </a:r>
          </a:p>
          <a:p>
            <a:pPr marL="0" indent="0">
              <a:buNone/>
            </a:pPr>
            <a:r>
              <a:rPr lang="en-US" dirty="0"/>
              <a:t>Rule based classifier</a:t>
            </a:r>
          </a:p>
          <a:p>
            <a:pPr marL="0" indent="0">
              <a:buNone/>
            </a:pPr>
            <a:r>
              <a:rPr lang="en-US" dirty="0"/>
              <a:t>Nearest Neighbor classifier </a:t>
            </a:r>
          </a:p>
          <a:p>
            <a:pPr marL="0" indent="0">
              <a:buNone/>
            </a:pPr>
            <a:r>
              <a:rPr lang="en-US" dirty="0"/>
              <a:t>Bayesian 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055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499EA-CF6C-42FC-991D-8FA47139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Decision Tree Induction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46F99-D102-40D1-98FE-364750F0F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 decision tree performs the classification in the form of a tree structure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tree has three types of nodes:</a:t>
            </a:r>
          </a:p>
          <a:p>
            <a:pPr marL="0" indent="0" algn="just">
              <a:buNone/>
            </a:pPr>
            <a:r>
              <a:rPr lang="en-US" dirty="0"/>
              <a:t>	Root node</a:t>
            </a:r>
          </a:p>
          <a:p>
            <a:pPr marL="0" indent="0" algn="just">
              <a:buNone/>
            </a:pPr>
            <a:r>
              <a:rPr lang="en-US" dirty="0"/>
              <a:t>	Internal nodes</a:t>
            </a:r>
          </a:p>
          <a:p>
            <a:pPr marL="0" indent="0" algn="just">
              <a:buNone/>
            </a:pPr>
            <a:r>
              <a:rPr lang="en-US" dirty="0"/>
              <a:t>	Leaf or terminal nodes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226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D8C1-810C-4E7E-AB32-BD3E8D94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Data Analytics CS 40003 Lecture 9 Classification Decision">
            <a:extLst>
              <a:ext uri="{FF2B5EF4-FFF2-40B4-BE49-F238E27FC236}">
                <a16:creationId xmlns:a16="http://schemas.microsoft.com/office/drawing/2014/main" id="{04F30CA6-AA71-49E8-BDC5-E2381E8C8E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" t="25613" r="7087" b="16516"/>
          <a:stretch/>
        </p:blipFill>
        <p:spPr bwMode="auto">
          <a:xfrm>
            <a:off x="379827" y="140676"/>
            <a:ext cx="11663450" cy="645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3759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4: A decision tree for the mammal classification problem | Download  Scientific Diagram">
            <a:extLst>
              <a:ext uri="{FF2B5EF4-FFF2-40B4-BE49-F238E27FC236}">
                <a16:creationId xmlns:a16="http://schemas.microsoft.com/office/drawing/2014/main" id="{49D0FFAC-31B6-4105-B194-A6C0E107F5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501" y="182706"/>
            <a:ext cx="8510221" cy="65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68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A5670-24A6-4D5C-8713-3305E2B79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Root node: Has no incoming edges and zero or more outgoing edges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Internal node: each of which has exactly one incoming edge and two or more outgoing edges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Leaf or terminal nodes: each of which has exactly one incoming edge and no outgoing edges</a:t>
            </a:r>
          </a:p>
        </p:txBody>
      </p:sp>
    </p:spTree>
    <p:extLst>
      <p:ext uri="{BB962C8B-B14F-4D97-AF65-F5344CB8AC3E}">
        <p14:creationId xmlns:p14="http://schemas.microsoft.com/office/powerpoint/2010/main" val="28874509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E7EA5-2A7B-46E1-8B4C-EECCF0249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Each leaf node is assigned a class label</a:t>
            </a:r>
          </a:p>
          <a:p>
            <a:pPr marL="0" indent="0" algn="just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Non terminal nodes(root or internal nodes) contains attribute test condition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1875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2927-06A0-4490-B4D2-159F6B78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build a decision tree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1AF84-42AC-4F88-A697-D4ABF3709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Many decision trees can be constructed from a given set of attributes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Some of the trees are more accurate than others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Hunts algorithm can be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775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xample of Hunt&amp;#39;s algorithm for inducing decision trees [18]. | Download  Scientific Diagram">
            <a:extLst>
              <a:ext uri="{FF2B5EF4-FFF2-40B4-BE49-F238E27FC236}">
                <a16:creationId xmlns:a16="http://schemas.microsoft.com/office/drawing/2014/main" id="{07A8F014-0DC3-4123-BEF7-E8A8770A27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2" t="3388" r="3868" b="1559"/>
          <a:stretch/>
        </p:blipFill>
        <p:spPr bwMode="auto">
          <a:xfrm>
            <a:off x="4800060" y="0"/>
            <a:ext cx="7323194" cy="665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Lecture outline Classification Decision-tree classification. - ppt video  online download">
            <a:extLst>
              <a:ext uri="{FF2B5EF4-FFF2-40B4-BE49-F238E27FC236}">
                <a16:creationId xmlns:a16="http://schemas.microsoft.com/office/drawing/2014/main" id="{19F6968A-5AC2-49E7-AA57-098DA61B8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12512" r="25897" b="24308"/>
          <a:stretch/>
        </p:blipFill>
        <p:spPr bwMode="auto">
          <a:xfrm>
            <a:off x="0" y="182880"/>
            <a:ext cx="4836636" cy="647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1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B28515E-7445-DEE1-9A7D-55E4192E4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631522"/>
              </p:ext>
            </p:extLst>
          </p:nvPr>
        </p:nvGraphicFramePr>
        <p:xfrm>
          <a:off x="838200" y="648495"/>
          <a:ext cx="10256520" cy="5375505"/>
        </p:xfrm>
        <a:graphic>
          <a:graphicData uri="http://schemas.openxmlformats.org/drawingml/2006/table">
            <a:tbl>
              <a:tblPr/>
              <a:tblGrid>
                <a:gridCol w="2097648">
                  <a:extLst>
                    <a:ext uri="{9D8B030D-6E8A-4147-A177-3AD203B41FA5}">
                      <a16:colId xmlns:a16="http://schemas.microsoft.com/office/drawing/2014/main" val="3463291549"/>
                    </a:ext>
                  </a:extLst>
                </a:gridCol>
                <a:gridCol w="2097648">
                  <a:extLst>
                    <a:ext uri="{9D8B030D-6E8A-4147-A177-3AD203B41FA5}">
                      <a16:colId xmlns:a16="http://schemas.microsoft.com/office/drawing/2014/main" val="329322355"/>
                    </a:ext>
                  </a:extLst>
                </a:gridCol>
                <a:gridCol w="1865928">
                  <a:extLst>
                    <a:ext uri="{9D8B030D-6E8A-4147-A177-3AD203B41FA5}">
                      <a16:colId xmlns:a16="http://schemas.microsoft.com/office/drawing/2014/main" val="1148347799"/>
                    </a:ext>
                  </a:extLst>
                </a:gridCol>
                <a:gridCol w="2097648">
                  <a:extLst>
                    <a:ext uri="{9D8B030D-6E8A-4147-A177-3AD203B41FA5}">
                      <a16:colId xmlns:a16="http://schemas.microsoft.com/office/drawing/2014/main" val="2190996857"/>
                    </a:ext>
                  </a:extLst>
                </a:gridCol>
                <a:gridCol w="2097648">
                  <a:extLst>
                    <a:ext uri="{9D8B030D-6E8A-4147-A177-3AD203B41FA5}">
                      <a16:colId xmlns:a16="http://schemas.microsoft.com/office/drawing/2014/main" val="1034818892"/>
                    </a:ext>
                  </a:extLst>
                </a:gridCol>
              </a:tblGrid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Attendance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Study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Internal 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558903"/>
                  </a:ext>
                </a:extLst>
              </a:tr>
              <a:tr h="363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191151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017107"/>
                  </a:ext>
                </a:extLst>
              </a:tr>
              <a:tr h="363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028803"/>
                  </a:ext>
                </a:extLst>
              </a:tr>
              <a:tr h="363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437777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94203"/>
                  </a:ext>
                </a:extLst>
              </a:tr>
              <a:tr h="363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708212"/>
                  </a:ext>
                </a:extLst>
              </a:tr>
              <a:tr h="363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943266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999537"/>
                  </a:ext>
                </a:extLst>
              </a:tr>
              <a:tr h="363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68511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802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39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3490-898D-4C50-9017-F99DFB7F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6A2D-56FE-4F5B-BC07-8688AC65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AB2F3-083D-4871-BB82-4BA1576C85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00" t="14548" r="11154" b="12596"/>
          <a:stretch/>
        </p:blipFill>
        <p:spPr>
          <a:xfrm>
            <a:off x="267286" y="-1"/>
            <a:ext cx="11747988" cy="663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5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4003-5534-9FD0-F620-F82E1232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 decision tree works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1ACA-AA54-8058-0A8E-CD2A6300B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662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n empirical study on hyperparameter tuning of decision trees | DeepAI">
            <a:extLst>
              <a:ext uri="{FF2B5EF4-FFF2-40B4-BE49-F238E27FC236}">
                <a16:creationId xmlns:a16="http://schemas.microsoft.com/office/drawing/2014/main" id="{EA17A5F6-61A9-49DB-B444-C388FAF325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93" b="8862"/>
          <a:stretch/>
        </p:blipFill>
        <p:spPr bwMode="auto">
          <a:xfrm>
            <a:off x="387702" y="-1"/>
            <a:ext cx="11635210" cy="67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5925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sic Concepts Decision Trees">
            <a:extLst>
              <a:ext uri="{FF2B5EF4-FFF2-40B4-BE49-F238E27FC236}">
                <a16:creationId xmlns:a16="http://schemas.microsoft.com/office/drawing/2014/main" id="{C4625405-655A-3211-07E5-D94444EC9A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81" y="2040255"/>
            <a:ext cx="10744501" cy="2777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8299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53B6D7-C654-4068-A41F-9CE780BDA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67" t="3305" r="14071" b="13930"/>
          <a:stretch/>
        </p:blipFill>
        <p:spPr>
          <a:xfrm>
            <a:off x="665871" y="127462"/>
            <a:ext cx="9828627" cy="6518468"/>
          </a:xfrm>
        </p:spPr>
      </p:pic>
    </p:spTree>
    <p:extLst>
      <p:ext uri="{BB962C8B-B14F-4D97-AF65-F5344CB8AC3E}">
        <p14:creationId xmlns:p14="http://schemas.microsoft.com/office/powerpoint/2010/main" val="2350131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5282-5AC6-47A8-B1D1-83C7FBAA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Hunts Algorithm</a:t>
            </a:r>
            <a:endParaRPr lang="en-IN" b="1" dirty="0"/>
          </a:p>
        </p:txBody>
      </p:sp>
      <p:pic>
        <p:nvPicPr>
          <p:cNvPr id="4" name="Picture 8" descr="Lecture outline Classification Decision-tree classification. - ppt video  online download">
            <a:extLst>
              <a:ext uri="{FF2B5EF4-FFF2-40B4-BE49-F238E27FC236}">
                <a16:creationId xmlns:a16="http://schemas.microsoft.com/office/drawing/2014/main" id="{B192C5D7-B4A6-4C28-ABD3-6FD998C135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12512" r="25897" b="24308"/>
          <a:stretch/>
        </p:blipFill>
        <p:spPr bwMode="auto">
          <a:xfrm>
            <a:off x="7488413" y="0"/>
            <a:ext cx="4705870" cy="455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94E757-38BB-45D8-94E5-BD908D1F2B0C}"/>
              </a:ext>
            </a:extLst>
          </p:cNvPr>
          <p:cNvSpPr txBox="1"/>
          <p:nvPr/>
        </p:nvSpPr>
        <p:spPr>
          <a:xfrm>
            <a:off x="731520" y="1899138"/>
            <a:ext cx="67568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Hunts algorithm grows a decision tree in a recursive fashion by partitioning the training records into successively purer subsets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48880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Lecture outline Classification Decision-tree classification. - ppt video  online download">
            <a:extLst>
              <a:ext uri="{FF2B5EF4-FFF2-40B4-BE49-F238E27FC236}">
                <a16:creationId xmlns:a16="http://schemas.microsoft.com/office/drawing/2014/main" id="{B192C5D7-B4A6-4C28-ABD3-6FD998C135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12512" r="25897" b="24308"/>
          <a:stretch/>
        </p:blipFill>
        <p:spPr bwMode="auto">
          <a:xfrm>
            <a:off x="7488413" y="0"/>
            <a:ext cx="4705870" cy="455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94E757-38BB-45D8-94E5-BD908D1F2B0C}"/>
              </a:ext>
            </a:extLst>
          </p:cNvPr>
          <p:cNvSpPr txBox="1"/>
          <p:nvPr/>
        </p:nvSpPr>
        <p:spPr>
          <a:xfrm>
            <a:off x="492369" y="379827"/>
            <a:ext cx="675689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Let Dt be the set of training records that reach a node t</a:t>
            </a:r>
          </a:p>
          <a:p>
            <a:pPr algn="just"/>
            <a:r>
              <a:rPr lang="en-US" sz="3200" dirty="0"/>
              <a:t>	-If Dt contains records that belong the same class </a:t>
            </a:r>
            <a:r>
              <a:rPr lang="en-US" sz="3200" dirty="0" err="1"/>
              <a:t>yt</a:t>
            </a:r>
            <a:r>
              <a:rPr lang="en-US" sz="3200" dirty="0"/>
              <a:t> , then t is a leaf node labeled as </a:t>
            </a:r>
            <a:r>
              <a:rPr lang="en-US" sz="3200" dirty="0" err="1"/>
              <a:t>yt</a:t>
            </a:r>
            <a:r>
              <a:rPr lang="en-US" sz="3200" dirty="0"/>
              <a:t> </a:t>
            </a:r>
          </a:p>
          <a:p>
            <a:pPr algn="just"/>
            <a:r>
              <a:rPr lang="en-US" sz="3200" dirty="0"/>
              <a:t>	-If Dt contains records that belong to more than one class, use an attribute test to split the data into smaller subsets. Recursively apply the procedure to each subset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55052979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CF23-4892-4A44-AB7B-D8FD21005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Decision tree induction algorithm must provide a method for expressing an attribute test condition and its corresponding outcomes for different attributes types.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989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9DDF-C236-4450-BA4F-CC27ED14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Binary Attribute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901C3F-593D-43A1-A2CD-0D50546D1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510" y="1946530"/>
            <a:ext cx="6115490" cy="4690075"/>
          </a:xfrm>
        </p:spPr>
      </p:pic>
    </p:spTree>
    <p:extLst>
      <p:ext uri="{BB962C8B-B14F-4D97-AF65-F5344CB8AC3E}">
        <p14:creationId xmlns:p14="http://schemas.microsoft.com/office/powerpoint/2010/main" val="413038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CBF-4C75-4646-9D81-93EDEE4F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" y="393260"/>
            <a:ext cx="10515600" cy="1325563"/>
          </a:xfrm>
        </p:spPr>
        <p:txBody>
          <a:bodyPr/>
          <a:lstStyle/>
          <a:p>
            <a:r>
              <a:rPr lang="en-US" b="1" dirty="0"/>
              <a:t>Nominal Attribute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B1A41B-DDE3-416E-9328-1382EE214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3781" y="141095"/>
            <a:ext cx="7813886" cy="6217501"/>
          </a:xfrm>
        </p:spPr>
      </p:pic>
    </p:spTree>
    <p:extLst>
      <p:ext uri="{BB962C8B-B14F-4D97-AF65-F5344CB8AC3E}">
        <p14:creationId xmlns:p14="http://schemas.microsoft.com/office/powerpoint/2010/main" val="815837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8A80-DA9F-4DA7-8A86-BE0046EE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Ordinal Attribute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9BE846-DC00-42DE-AFBC-9A020A153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313" y="1837214"/>
            <a:ext cx="10662296" cy="4655661"/>
          </a:xfrm>
        </p:spPr>
      </p:pic>
    </p:spTree>
    <p:extLst>
      <p:ext uri="{BB962C8B-B14F-4D97-AF65-F5344CB8AC3E}">
        <p14:creationId xmlns:p14="http://schemas.microsoft.com/office/powerpoint/2010/main" val="16682229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F6B6-1437-4D47-ABA0-91582EC0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Continuous Attributes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EAF3DC-8A7C-422D-86A9-F8FF886F1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991" y="1851528"/>
            <a:ext cx="9436018" cy="4421811"/>
          </a:xfrm>
        </p:spPr>
      </p:pic>
    </p:spTree>
    <p:extLst>
      <p:ext uri="{BB962C8B-B14F-4D97-AF65-F5344CB8AC3E}">
        <p14:creationId xmlns:p14="http://schemas.microsoft.com/office/powerpoint/2010/main" val="3419330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C327-2313-D147-ED23-DD1965B3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CAE2-FCF6-5EE1-F2C5-BD82E6C9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decision tree induction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19956-ECB2-7F0A-5A4A-27632CB57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Decision tree induction is a non-parametric approach for building classification models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Finding an optimal decision tree is an NP-complete problem. Many decision tree algorithms employ a heuristic-based approach to guide their search in the vast hypothesis space.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Techniques developed for constructing decision trees are computationally inexpensive, making it possible to quickly construct models even when the training set size is very large.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48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D9194-65DF-0DE8-F99D-1873FC43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50397-F8FD-5082-0106-0F490D5D9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557"/>
            <a:ext cx="10515600" cy="585340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Decision trees, especially smaller-sized trees, are relatively easy to interpret.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Decision trees provide an expressive representation for learning discrete-valued functions.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Decision tree algorithms are quite robust to the presence of noise, especially when methods for avoiding over-fitting.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presence of redundant attributes does not adversely affect the accuracy of decision trees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34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2829-1025-0A30-4C83-26C86773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36C05-3A0F-BB66-79F8-2D7EB8580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166"/>
            <a:ext cx="10515600" cy="572679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Since most decision tree algorithms employ a top-down, recursive partitioning approach, the number of records becomes smaller as we traverse down the tree.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These algorithm usually employ a greedy strategy that grows a decision tree by making a series of locally optimum decisions about which attribute to use for partitioning the data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Many Algorithms:</a:t>
            </a:r>
          </a:p>
          <a:p>
            <a:pPr marL="0" indent="0" algn="just">
              <a:buNone/>
            </a:pPr>
            <a:r>
              <a:rPr lang="en-US" dirty="0"/>
              <a:t>-Hunts Algorithm</a:t>
            </a:r>
          </a:p>
          <a:p>
            <a:pPr marL="0" indent="0" algn="just">
              <a:buNone/>
            </a:pPr>
            <a:r>
              <a:rPr lang="en-US" dirty="0"/>
              <a:t>-CART</a:t>
            </a:r>
          </a:p>
          <a:p>
            <a:pPr marL="0" indent="0" algn="just">
              <a:buNone/>
            </a:pPr>
            <a:r>
              <a:rPr lang="en-US" dirty="0"/>
              <a:t>-ID3, C4.5</a:t>
            </a:r>
          </a:p>
          <a:p>
            <a:pPr marL="0" indent="0" algn="just">
              <a:buNone/>
            </a:pPr>
            <a:r>
              <a:rPr lang="en-US" dirty="0"/>
              <a:t>-SLIQ, SPRINT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99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92CC-B3FD-321C-5CAC-B9BCB2841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9A24DF-5892-1197-6B70-F11AD595F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6058"/>
            <a:ext cx="10289400" cy="6625883"/>
          </a:xfrm>
        </p:spPr>
      </p:pic>
    </p:spTree>
    <p:extLst>
      <p:ext uri="{BB962C8B-B14F-4D97-AF65-F5344CB8AC3E}">
        <p14:creationId xmlns:p14="http://schemas.microsoft.com/office/powerpoint/2010/main" val="2196485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1FD2-BBB9-3231-719C-3BB771E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xample of Hunt&amp;#39;s algorithm for inducing decision trees [18]. | Download  Scientific Diagram">
            <a:extLst>
              <a:ext uri="{FF2B5EF4-FFF2-40B4-BE49-F238E27FC236}">
                <a16:creationId xmlns:a16="http://schemas.microsoft.com/office/drawing/2014/main" id="{380181C0-0B95-8417-1BBC-94AC0D262F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2" t="3388" r="3868" b="1559"/>
          <a:stretch/>
        </p:blipFill>
        <p:spPr bwMode="auto">
          <a:xfrm>
            <a:off x="4800060" y="0"/>
            <a:ext cx="7323194" cy="665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Lecture outline Classification Decision-tree classification. - ppt video  online download">
            <a:extLst>
              <a:ext uri="{FF2B5EF4-FFF2-40B4-BE49-F238E27FC236}">
                <a16:creationId xmlns:a16="http://schemas.microsoft.com/office/drawing/2014/main" id="{E1211C7C-4E95-343D-901F-FD7AB6C4A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12512" r="25897" b="24308"/>
          <a:stretch/>
        </p:blipFill>
        <p:spPr bwMode="auto">
          <a:xfrm>
            <a:off x="0" y="182880"/>
            <a:ext cx="4836636" cy="647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139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E080-37D9-4EAC-7F18-3C1786A5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2BDE-00AA-B01B-2898-BA5B98677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161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FD0B-B73E-4776-86FB-5FE3EED19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Measures for selecting the best split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7B9C1-E03B-44A6-80CE-334A850B7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There are many measures that can be used to determine the best way to split the records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 measures developed for selecting the best split are often based on the </a:t>
            </a:r>
            <a:r>
              <a:rPr lang="en-US" b="1" dirty="0">
                <a:sym typeface="Wingdings" panose="05000000000000000000" pitchFamily="2" charset="2"/>
              </a:rPr>
              <a:t>degree of impurity of the child node</a:t>
            </a:r>
            <a:r>
              <a:rPr lang="en-US" dirty="0">
                <a:sym typeface="Wingdings" panose="05000000000000000000" pitchFamily="2" charset="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83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xample of Hunt&amp;#39;s algorithm for inducing decision trees [18]. | Download  Scientific Diagram">
            <a:extLst>
              <a:ext uri="{FF2B5EF4-FFF2-40B4-BE49-F238E27FC236}">
                <a16:creationId xmlns:a16="http://schemas.microsoft.com/office/drawing/2014/main" id="{07A8F014-0DC3-4123-BEF7-E8A8770A27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2" t="3388" r="3868" b="1559"/>
          <a:stretch/>
        </p:blipFill>
        <p:spPr bwMode="auto">
          <a:xfrm>
            <a:off x="4800060" y="0"/>
            <a:ext cx="7323194" cy="665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Lecture outline Classification Decision-tree classification. - ppt video  online download">
            <a:extLst>
              <a:ext uri="{FF2B5EF4-FFF2-40B4-BE49-F238E27FC236}">
                <a16:creationId xmlns:a16="http://schemas.microsoft.com/office/drawing/2014/main" id="{19F6968A-5AC2-49E7-AA57-098DA61B8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12512" r="25897" b="24308"/>
          <a:stretch/>
        </p:blipFill>
        <p:spPr bwMode="auto">
          <a:xfrm>
            <a:off x="0" y="182880"/>
            <a:ext cx="4836636" cy="647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6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3D5F-DEA9-4CB5-AC39-AAA94D98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ym typeface="Wingdings" panose="05000000000000000000" pitchFamily="2" charset="2"/>
              </a:rPr>
              <a:t>P(</a:t>
            </a:r>
            <a:r>
              <a:rPr lang="en-US" dirty="0" err="1">
                <a:sym typeface="Wingdings" panose="05000000000000000000" pitchFamily="2" charset="2"/>
              </a:rPr>
              <a:t>i|t</a:t>
            </a:r>
            <a:r>
              <a:rPr lang="en-US" dirty="0">
                <a:sym typeface="Wingdings" panose="05000000000000000000" pitchFamily="2" charset="2"/>
              </a:rPr>
              <a:t>)- denote the fraction of records belonging to class </a:t>
            </a:r>
            <a:r>
              <a:rPr lang="en-US" dirty="0" err="1">
                <a:sym typeface="Wingdings" panose="05000000000000000000" pitchFamily="2" charset="2"/>
              </a:rPr>
              <a:t>i</a:t>
            </a:r>
            <a:r>
              <a:rPr lang="en-US" dirty="0">
                <a:sym typeface="Wingdings" panose="05000000000000000000" pitchFamily="2" charset="2"/>
              </a:rPr>
              <a:t> at a given node t.</a:t>
            </a:r>
          </a:p>
          <a:p>
            <a:pPr marL="0" indent="0" algn="just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3902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F46C-3907-4663-A62E-DDB08286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impurity measures</a:t>
            </a:r>
            <a:endParaRPr lang="en-IN" b="1" dirty="0"/>
          </a:p>
        </p:txBody>
      </p:sp>
      <p:pic>
        <p:nvPicPr>
          <p:cNvPr id="1026" name="Picture 2" descr="PPT - Lecture outline PowerPoint Presentation, free download - ID:1577910">
            <a:extLst>
              <a:ext uri="{FF2B5EF4-FFF2-40B4-BE49-F238E27FC236}">
                <a16:creationId xmlns:a16="http://schemas.microsoft.com/office/drawing/2014/main" id="{F424C6B0-B75D-4E6F-A45D-B8DDF7BAE4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43681" r="11528" b="8968"/>
          <a:stretch/>
        </p:blipFill>
        <p:spPr bwMode="auto">
          <a:xfrm>
            <a:off x="1308293" y="1941341"/>
            <a:ext cx="10255117" cy="455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6208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680EB-B78C-41F3-BCD8-79D3EFB7D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Where c is the number of classes</a:t>
            </a:r>
          </a:p>
          <a:p>
            <a:pPr marL="0" indent="0">
              <a:buNone/>
            </a:pPr>
            <a:r>
              <a:rPr lang="en-US" dirty="0"/>
              <a:t>0 log 0 =0 in entropy calculations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4071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4E46D4-7263-4E0A-A593-271F13EC1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08" t="18857" r="17039" b="12597"/>
          <a:stretch/>
        </p:blipFill>
        <p:spPr>
          <a:xfrm>
            <a:off x="810065" y="152080"/>
            <a:ext cx="10976252" cy="644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092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F46C-3907-4663-A62E-DDB08286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impurity measures</a:t>
            </a:r>
            <a:endParaRPr lang="en-IN" b="1" dirty="0"/>
          </a:p>
        </p:txBody>
      </p:sp>
      <p:pic>
        <p:nvPicPr>
          <p:cNvPr id="1026" name="Picture 2" descr="PPT - Lecture outline PowerPoint Presentation, free download - ID:1577910">
            <a:extLst>
              <a:ext uri="{FF2B5EF4-FFF2-40B4-BE49-F238E27FC236}">
                <a16:creationId xmlns:a16="http://schemas.microsoft.com/office/drawing/2014/main" id="{F424C6B0-B75D-4E6F-A45D-B8DDF7BAE4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43681" r="11528" b="8968"/>
          <a:stretch/>
        </p:blipFill>
        <p:spPr bwMode="auto">
          <a:xfrm>
            <a:off x="1308293" y="1941341"/>
            <a:ext cx="10255117" cy="455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533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F5A8A-8A19-4C3F-B18B-A7627707C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422"/>
            <a:ext cx="10515600" cy="588154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Consider the candidate attribute test condition shown in Figures 3.12(a) and (b) for the loan borrower classification problem</a:t>
            </a:r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D0EED-A0DF-447D-814E-D1B81DC9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97430"/>
            <a:ext cx="11133039" cy="380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409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75DDC-DFD1-47FE-BE5E-FB27581BB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403" y="184573"/>
            <a:ext cx="11426992" cy="5795902"/>
          </a:xfrm>
        </p:spPr>
      </p:pic>
    </p:spTree>
    <p:extLst>
      <p:ext uri="{BB962C8B-B14F-4D97-AF65-F5344CB8AC3E}">
        <p14:creationId xmlns:p14="http://schemas.microsoft.com/office/powerpoint/2010/main" val="33053612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F46C-3907-4663-A62E-DDB08286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impurity measures</a:t>
            </a:r>
            <a:endParaRPr lang="en-IN" b="1" dirty="0"/>
          </a:p>
        </p:txBody>
      </p:sp>
      <p:pic>
        <p:nvPicPr>
          <p:cNvPr id="1026" name="Picture 2" descr="PPT - Lecture outline PowerPoint Presentation, free download - ID:1577910">
            <a:extLst>
              <a:ext uri="{FF2B5EF4-FFF2-40B4-BE49-F238E27FC236}">
                <a16:creationId xmlns:a16="http://schemas.microsoft.com/office/drawing/2014/main" id="{F424C6B0-B75D-4E6F-A45D-B8DDF7BAE4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43681" r="11528" b="8968"/>
          <a:stretch/>
        </p:blipFill>
        <p:spPr bwMode="auto">
          <a:xfrm>
            <a:off x="1308293" y="1941341"/>
            <a:ext cx="10255117" cy="455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5526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C8BE-FF9C-4153-A193-AAE109E65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083"/>
            <a:ext cx="10515600" cy="59518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Entropy can be calculated as follows: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551F8-E48C-40B4-B9A3-EDB0AD1E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879304"/>
            <a:ext cx="6350392" cy="2736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8A4943-5B44-4F66-8D29-17DB88A36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04" y="3755267"/>
            <a:ext cx="7960201" cy="242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284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C8BE-FF9C-4153-A193-AAE109E65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083"/>
            <a:ext cx="10515600" cy="59518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Entropy can be calculated as follows: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551F8-E48C-40B4-B9A3-EDB0AD1E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879304"/>
            <a:ext cx="6350392" cy="2736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C9D088-A1F2-4F78-BFD8-5DA9DED64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54" y="3727938"/>
            <a:ext cx="8322283" cy="27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682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54771-5BC5-4763-87CA-1A707F13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Thus, Marital Status has a lower weighted entropy than Home Owner.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7963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F9AD9-D2DF-4F6B-8512-847A4144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4062"/>
            <a:ext cx="10515600" cy="533290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To determine how well the test condition performs, we need to compare the degree of impurity of parent node(before splitting) with the degree of impurity of the child node(after splitting)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Larger the difference, better the test condition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Gain is the criteria used to determine the goodness of the split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F352A-1F13-4656-AFB0-9A2D42398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67" y="4814520"/>
            <a:ext cx="7231779" cy="11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328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91763-E7BE-46C8-A456-BFA03FEE5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When entropy is used as the impurity measure, the difference in entropy is commonly known as information gain, </a:t>
            </a:r>
            <a:r>
              <a:rPr lang="en-US" dirty="0" err="1"/>
              <a:t>Δ</a:t>
            </a:r>
            <a:r>
              <a:rPr lang="en-US" baseline="-25000" dirty="0" err="1"/>
              <a:t>info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31688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F445-C8CE-440E-BED4-58A01CD1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8B5855-ADA0-4C0C-A460-6C07DCA71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8269" b="20476"/>
          <a:stretch/>
        </p:blipFill>
        <p:spPr>
          <a:xfrm>
            <a:off x="3657600" y="365124"/>
            <a:ext cx="7019778" cy="3090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97372-DDCA-4007-8459-A653B9A80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92" y="3681490"/>
            <a:ext cx="907722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436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75DDC-DFD1-47FE-BE5E-FB27581BB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403" y="239138"/>
            <a:ext cx="11426992" cy="5795902"/>
          </a:xfrm>
        </p:spPr>
      </p:pic>
    </p:spTree>
    <p:extLst>
      <p:ext uri="{BB962C8B-B14F-4D97-AF65-F5344CB8AC3E}">
        <p14:creationId xmlns:p14="http://schemas.microsoft.com/office/powerpoint/2010/main" val="15277377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547D-22AF-47E3-8F2B-E4D75C787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843"/>
            <a:ext cx="10515600" cy="558612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 information gains for Home Owner and Marital Status are each given by</a:t>
            </a:r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23854-16E7-4769-9E4B-554E5BB9B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61" y="2103122"/>
            <a:ext cx="9417971" cy="1757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CF89DC-712B-4303-B1E2-4EEC04A66F0C}"/>
              </a:ext>
            </a:extLst>
          </p:cNvPr>
          <p:cNvSpPr txBox="1"/>
          <p:nvPr/>
        </p:nvSpPr>
        <p:spPr>
          <a:xfrm>
            <a:off x="1040698" y="4754878"/>
            <a:ext cx="10515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/>
              <a:t>The information gain for Marital Status is thus higher due to its lower weighted entropy, which will thus be considered for splitting.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962456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0614-B345-4090-9ECC-2A2982B3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Gain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CEB3-1035-45C9-95D1-564C7B8B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Used to compensate for attributes that produce a large number of child nodes.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CDE52-00C4-48FE-8A1F-F2C7F123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253" y="3049758"/>
            <a:ext cx="4818332" cy="1665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003E9-071A-45E8-8CA6-2F6F4AB38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991" y="4832592"/>
            <a:ext cx="5355944" cy="11068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F29290-056A-4699-A74E-7EB794D88475}"/>
              </a:ext>
            </a:extLst>
          </p:cNvPr>
          <p:cNvSpPr txBox="1"/>
          <p:nvPr/>
        </p:nvSpPr>
        <p:spPr>
          <a:xfrm>
            <a:off x="1479416" y="4904064"/>
            <a:ext cx="27072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Split info=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0592031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039D-99E7-4B81-8E66-7C13BA1A1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Where N(vi) is the number of instances assigned to node vi and k is the total number of splits.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7925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D9D5-42EB-409C-9291-42D9E08F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7F3B-9F2E-4196-AAE8-C39E649A7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Consider the data set given</a:t>
            </a:r>
          </a:p>
          <a:p>
            <a:pPr marL="0" indent="0" algn="just">
              <a:buNone/>
            </a:pPr>
            <a:r>
              <a:rPr lang="en-US" dirty="0"/>
              <a:t>We want to select the best attribute test condition among the following three attributes: Gender, Car Type, and Customer ID.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156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EB6FEC-98E1-4EFA-A2A2-FD22A51DE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930" y="112969"/>
            <a:ext cx="6410618" cy="6525680"/>
          </a:xfrm>
        </p:spPr>
      </p:pic>
    </p:spTree>
    <p:extLst>
      <p:ext uri="{BB962C8B-B14F-4D97-AF65-F5344CB8AC3E}">
        <p14:creationId xmlns:p14="http://schemas.microsoft.com/office/powerpoint/2010/main" val="28932897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9FB047-6899-46E0-A36A-087BFA7E1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550" y="613868"/>
            <a:ext cx="9150633" cy="11646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C13EB-11AB-4E8F-AB92-C8FB3FC40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75" y="3447012"/>
            <a:ext cx="9905242" cy="19549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D83417-CA5B-4608-9F4D-DF86FA71DB08}"/>
              </a:ext>
            </a:extLst>
          </p:cNvPr>
          <p:cNvSpPr txBox="1"/>
          <p:nvPr/>
        </p:nvSpPr>
        <p:spPr>
          <a:xfrm>
            <a:off x="656352" y="2551501"/>
            <a:ext cx="106822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If Gender is used as attribute test condition: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1739287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04634-A61E-4BE0-9D01-9342D00C0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Car Type is used as attribute test condition: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D686F-F5E8-4054-B9E1-13027AB0D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868" y="2504928"/>
            <a:ext cx="8846402" cy="22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456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093E8-036E-484C-8798-CDEC05191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3046"/>
            <a:ext cx="10515600" cy="55439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Finally, if Customer ID is used as attribute test condition: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56A3E-BF72-4B47-A655-875CD11EA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15" y="1798466"/>
            <a:ext cx="10150537" cy="2196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FD1177-E804-4E2C-86DF-17912F11BF26}"/>
              </a:ext>
            </a:extLst>
          </p:cNvPr>
          <p:cNvSpPr txBox="1"/>
          <p:nvPr/>
        </p:nvSpPr>
        <p:spPr>
          <a:xfrm>
            <a:off x="744415" y="4655294"/>
            <a:ext cx="109599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Thus, even though Customer ID has the highest information gain, its gain ratio is lower than Car Type since it produces a larger number of splits.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30485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BE1A-4A28-4D24-9E00-00C7C19F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Exercises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631C24-E6BE-41FF-A5C2-4A27A23B5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Consider the training examples shown in Table 3.5 for a binary classification problem.</a:t>
            </a:r>
          </a:p>
          <a:p>
            <a:pPr marL="514350" indent="-514350" algn="just">
              <a:buAutoNum type="alphaLcParenBoth"/>
            </a:pPr>
            <a:r>
              <a:rPr lang="en-US" dirty="0"/>
              <a:t>Compute the Gini index for the overall collection of training examples. </a:t>
            </a:r>
          </a:p>
          <a:p>
            <a:pPr marL="514350" indent="-514350" algn="just">
              <a:buAutoNum type="alphaLcParenBoth"/>
            </a:pPr>
            <a:r>
              <a:rPr lang="en-US" dirty="0"/>
              <a:t>Compute the Gini index for the </a:t>
            </a:r>
            <a:r>
              <a:rPr lang="en-US" b="1" dirty="0"/>
              <a:t>Customer</a:t>
            </a:r>
            <a:r>
              <a:rPr lang="en-US" dirty="0"/>
              <a:t> ID attribute.</a:t>
            </a:r>
          </a:p>
          <a:p>
            <a:pPr marL="514350" indent="-514350" algn="just">
              <a:buAutoNum type="alphaLcParenBoth"/>
            </a:pPr>
            <a:r>
              <a:rPr lang="en-US" dirty="0"/>
              <a:t>Compute the Gini index for the </a:t>
            </a:r>
            <a:r>
              <a:rPr lang="en-US" b="1" dirty="0"/>
              <a:t>Gender</a:t>
            </a:r>
            <a:r>
              <a:rPr lang="en-US" dirty="0"/>
              <a:t> attribute.</a:t>
            </a:r>
          </a:p>
          <a:p>
            <a:pPr marL="514350" indent="-514350" algn="just">
              <a:buAutoNum type="alphaLcParenBoth"/>
            </a:pPr>
            <a:r>
              <a:rPr lang="en-US" dirty="0"/>
              <a:t>Compute the Gini index for the </a:t>
            </a:r>
            <a:r>
              <a:rPr lang="en-US" b="1" dirty="0"/>
              <a:t>Car Type </a:t>
            </a:r>
            <a:r>
              <a:rPr lang="en-US" dirty="0"/>
              <a:t>attribute using multiway split.</a:t>
            </a:r>
          </a:p>
          <a:p>
            <a:pPr marL="514350" indent="-514350" algn="just">
              <a:buAutoNum type="alphaLcParenBoth"/>
            </a:pPr>
            <a:r>
              <a:rPr lang="en-US" dirty="0"/>
              <a:t>Compute the Gini index for the </a:t>
            </a:r>
            <a:r>
              <a:rPr lang="en-US" b="1" dirty="0"/>
              <a:t>Shirt Size </a:t>
            </a:r>
            <a:r>
              <a:rPr lang="en-US" dirty="0"/>
              <a:t>attribute using multiway split.</a:t>
            </a:r>
          </a:p>
          <a:p>
            <a:pPr marL="514350" indent="-514350" algn="just">
              <a:buAutoNum type="alphaLcParenBoth"/>
            </a:pPr>
            <a:r>
              <a:rPr lang="en-US" dirty="0"/>
              <a:t>Which attribute is better, </a:t>
            </a:r>
            <a:r>
              <a:rPr lang="en-US" b="1" dirty="0"/>
              <a:t>Gender</a:t>
            </a:r>
            <a:r>
              <a:rPr lang="en-US" dirty="0"/>
              <a:t>, </a:t>
            </a:r>
            <a:r>
              <a:rPr lang="en-US" b="1" dirty="0"/>
              <a:t>Car Type</a:t>
            </a:r>
            <a:r>
              <a:rPr lang="en-US" dirty="0"/>
              <a:t>, or </a:t>
            </a:r>
            <a:r>
              <a:rPr lang="en-US" b="1" dirty="0"/>
              <a:t>Shirt Size</a:t>
            </a:r>
            <a:r>
              <a:rPr lang="en-US" dirty="0"/>
              <a:t>?</a:t>
            </a:r>
          </a:p>
          <a:p>
            <a:pPr marL="514350" indent="-514350" algn="just">
              <a:buAutoNum type="alphaLcParenBoth"/>
            </a:pPr>
            <a:r>
              <a:rPr lang="en-US" dirty="0"/>
              <a:t>Explain why Customer ID should not be used as the attribute test condition even though it has the lowest Gini.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5781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EB6FEC-98E1-4EFA-A2A2-FD22A51DE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930" y="112969"/>
            <a:ext cx="6410618" cy="6525680"/>
          </a:xfrm>
        </p:spPr>
      </p:pic>
    </p:spTree>
    <p:extLst>
      <p:ext uri="{BB962C8B-B14F-4D97-AF65-F5344CB8AC3E}">
        <p14:creationId xmlns:p14="http://schemas.microsoft.com/office/powerpoint/2010/main" val="34864472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F46C-3907-4663-A62E-DDB08286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impurity measures</a:t>
            </a:r>
            <a:endParaRPr lang="en-IN" b="1" dirty="0"/>
          </a:p>
        </p:txBody>
      </p:sp>
      <p:pic>
        <p:nvPicPr>
          <p:cNvPr id="1026" name="Picture 2" descr="PPT - Lecture outline PowerPoint Presentation, free download - ID:1577910">
            <a:extLst>
              <a:ext uri="{FF2B5EF4-FFF2-40B4-BE49-F238E27FC236}">
                <a16:creationId xmlns:a16="http://schemas.microsoft.com/office/drawing/2014/main" id="{F424C6B0-B75D-4E6F-A45D-B8DDF7BAE4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43681" r="11528" b="8968"/>
          <a:stretch/>
        </p:blipFill>
        <p:spPr bwMode="auto">
          <a:xfrm>
            <a:off x="1308293" y="1941341"/>
            <a:ext cx="10255117" cy="455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63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DCF827-0151-43B5-A65F-13721DF40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49" t="22116" r="18978" b="18133"/>
          <a:stretch/>
        </p:blipFill>
        <p:spPr>
          <a:xfrm>
            <a:off x="1955409" y="2129020"/>
            <a:ext cx="8438124" cy="435618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0981E3-6BEE-4DF7-A40E-145FA5436DB8}"/>
              </a:ext>
            </a:extLst>
          </p:cNvPr>
          <p:cNvSpPr txBox="1"/>
          <p:nvPr/>
        </p:nvSpPr>
        <p:spPr>
          <a:xfrm>
            <a:off x="685800" y="598269"/>
            <a:ext cx="110044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/>
              <a:t>Compute the Gini index for the overall collection of training examples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2517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0C228-3B0B-4441-A365-D9DCCEB47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452"/>
            <a:ext cx="10515600" cy="54595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Compute the Gini index for the </a:t>
            </a:r>
            <a:r>
              <a:rPr lang="en-US" b="1" dirty="0"/>
              <a:t>Customer</a:t>
            </a:r>
            <a:r>
              <a:rPr lang="en-US" dirty="0"/>
              <a:t> ID attribute.</a:t>
            </a:r>
          </a:p>
          <a:p>
            <a:pPr marL="0" indent="0">
              <a:buNone/>
            </a:pPr>
            <a:r>
              <a:rPr lang="en-IN" dirty="0"/>
              <a:t>The Gini for each customer ID is zero</a:t>
            </a:r>
          </a:p>
        </p:txBody>
      </p:sp>
    </p:spTree>
    <p:extLst>
      <p:ext uri="{BB962C8B-B14F-4D97-AF65-F5344CB8AC3E}">
        <p14:creationId xmlns:p14="http://schemas.microsoft.com/office/powerpoint/2010/main" val="26961005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188B9-8EFD-4110-873B-DE49DBEF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176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Compute the Gini index for the </a:t>
            </a:r>
            <a:r>
              <a:rPr lang="en-US" b="1" dirty="0"/>
              <a:t>Gender</a:t>
            </a:r>
            <a:r>
              <a:rPr lang="en-US" dirty="0"/>
              <a:t> attribute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A1199-830D-4620-B083-C2753CB25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4455"/>
            <a:ext cx="10254028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909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EB6FEC-98E1-4EFA-A2A2-FD22A51DE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930" y="112969"/>
            <a:ext cx="6410618" cy="6525680"/>
          </a:xfrm>
        </p:spPr>
      </p:pic>
    </p:spTree>
    <p:extLst>
      <p:ext uri="{BB962C8B-B14F-4D97-AF65-F5344CB8AC3E}">
        <p14:creationId xmlns:p14="http://schemas.microsoft.com/office/powerpoint/2010/main" val="3961709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9A99A-788A-4ED2-A7CE-B9E18ECDF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474"/>
            <a:ext cx="10515600" cy="60784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Compute the Gini index for the </a:t>
            </a:r>
            <a:r>
              <a:rPr lang="en-US" b="1" dirty="0"/>
              <a:t>Car Type </a:t>
            </a:r>
            <a:r>
              <a:rPr lang="en-US" dirty="0"/>
              <a:t>attribute using multiway split.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520F3-49D6-48A9-ABC2-A964889F0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69" y="623118"/>
            <a:ext cx="9115865" cy="614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579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500E0-DB10-4782-873C-3E0FF005E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474"/>
            <a:ext cx="10515600" cy="60784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Compute the Gini index for the </a:t>
            </a:r>
            <a:r>
              <a:rPr lang="en-US" b="1" dirty="0"/>
              <a:t>Shirt Size </a:t>
            </a:r>
            <a:r>
              <a:rPr lang="en-US" dirty="0"/>
              <a:t>attribute using multiway split.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F6456C-76A7-4B72-A572-FF9785880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137" y="681036"/>
            <a:ext cx="9664798" cy="60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456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4CD7-817F-41D7-969E-5D66E8E0B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Which attribute is better, </a:t>
            </a:r>
            <a:r>
              <a:rPr lang="en-US" b="1" dirty="0"/>
              <a:t>Gender</a:t>
            </a:r>
            <a:r>
              <a:rPr lang="en-US" dirty="0"/>
              <a:t>, </a:t>
            </a:r>
            <a:r>
              <a:rPr lang="en-US" b="1" dirty="0"/>
              <a:t>Car Type</a:t>
            </a:r>
            <a:r>
              <a:rPr lang="en-US" dirty="0"/>
              <a:t>, or </a:t>
            </a:r>
            <a:r>
              <a:rPr lang="en-US" b="1" dirty="0"/>
              <a:t>Shirt Size</a:t>
            </a:r>
            <a:r>
              <a:rPr lang="en-US" dirty="0"/>
              <a:t>?</a:t>
            </a:r>
          </a:p>
          <a:p>
            <a:pPr marL="0" indent="0" algn="just">
              <a:buNone/>
            </a:pPr>
            <a:r>
              <a:rPr lang="en-IN" dirty="0"/>
              <a:t>Car type, because it has the lowest </a:t>
            </a:r>
            <a:r>
              <a:rPr lang="en-IN" dirty="0" err="1"/>
              <a:t>gini</a:t>
            </a:r>
            <a:r>
              <a:rPr lang="en-IN" dirty="0"/>
              <a:t> compared to the three attributes</a:t>
            </a:r>
          </a:p>
        </p:txBody>
      </p:sp>
    </p:spTree>
    <p:extLst>
      <p:ext uri="{BB962C8B-B14F-4D97-AF65-F5344CB8AC3E}">
        <p14:creationId xmlns:p14="http://schemas.microsoft.com/office/powerpoint/2010/main" val="25178342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B2D4-D54E-4423-B41D-1463780C5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978"/>
            <a:ext cx="10515600" cy="555798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Explain why Customer ID should not be used as the attribute test condition even though it has the lowest Gini.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Attribute has no predictive power since the new customers are assigned to the new customer ID’s</a:t>
            </a:r>
          </a:p>
        </p:txBody>
      </p:sp>
    </p:spTree>
    <p:extLst>
      <p:ext uri="{BB962C8B-B14F-4D97-AF65-F5344CB8AC3E}">
        <p14:creationId xmlns:p14="http://schemas.microsoft.com/office/powerpoint/2010/main" val="20738824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ACD6-7DEF-41A2-8211-13984164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C1E5-6A35-4559-998B-7185C5B6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Decision tree classifier</a:t>
            </a:r>
          </a:p>
          <a:p>
            <a:pPr marL="0" indent="0">
              <a:buNone/>
            </a:pPr>
            <a:r>
              <a:rPr lang="en-US" dirty="0"/>
              <a:t>Rule based classifier</a:t>
            </a:r>
          </a:p>
          <a:p>
            <a:pPr marL="0" indent="0">
              <a:buNone/>
            </a:pPr>
            <a:r>
              <a:rPr lang="en-US" dirty="0"/>
              <a:t>Nearest Neighbor classifier </a:t>
            </a:r>
          </a:p>
          <a:p>
            <a:pPr marL="0" indent="0">
              <a:buNone/>
            </a:pPr>
            <a:r>
              <a:rPr lang="en-US" dirty="0"/>
              <a:t>Bayesian 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6270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Nearest Neighbor classifier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Uses K- closest points (nearest </a:t>
            </a:r>
            <a:r>
              <a:rPr lang="en-IN" dirty="0" err="1"/>
              <a:t>neighbors</a:t>
            </a:r>
            <a:r>
              <a:rPr lang="en-IN" dirty="0"/>
              <a:t>) for performing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458761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345" y="1962078"/>
            <a:ext cx="11117864" cy="4189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3345" y="692727"/>
            <a:ext cx="10945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Basic Idea:</a:t>
            </a:r>
          </a:p>
          <a:p>
            <a:r>
              <a:rPr lang="en-IN" sz="3200" dirty="0"/>
              <a:t>If it walks like a duck, quacks like a duck, then its probably a duck</a:t>
            </a:r>
          </a:p>
        </p:txBody>
      </p:sp>
    </p:spTree>
    <p:extLst>
      <p:ext uri="{BB962C8B-B14F-4D97-AF65-F5344CB8AC3E}">
        <p14:creationId xmlns:p14="http://schemas.microsoft.com/office/powerpoint/2010/main" val="14265953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839" t="16311" r="46241" b="7323"/>
          <a:stretch/>
        </p:blipFill>
        <p:spPr>
          <a:xfrm>
            <a:off x="2022764" y="0"/>
            <a:ext cx="6179127" cy="664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685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8873"/>
            <a:ext cx="10515600" cy="549809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Once the nearest </a:t>
            </a:r>
            <a:r>
              <a:rPr lang="en-IN" dirty="0" err="1"/>
              <a:t>neighbor</a:t>
            </a:r>
            <a:r>
              <a:rPr lang="en-IN" dirty="0"/>
              <a:t> list is obtained, the test example is classified based on majority class of its nearest neighbour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where, v is a class label</a:t>
            </a:r>
          </a:p>
          <a:p>
            <a:pPr marL="0" indent="0">
              <a:buNone/>
            </a:pPr>
            <a:r>
              <a:rPr lang="en-IN" dirty="0" err="1"/>
              <a:t>yi</a:t>
            </a:r>
            <a:r>
              <a:rPr lang="en-IN" dirty="0"/>
              <a:t> is the class label for one of the nearest </a:t>
            </a:r>
            <a:r>
              <a:rPr lang="en-IN" dirty="0" err="1"/>
              <a:t>neighbors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 is an indicator function that returns the value 1 if its argument is true and 0 otherwise.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935" t="55586" r="35412" b="38543"/>
          <a:stretch/>
        </p:blipFill>
        <p:spPr>
          <a:xfrm>
            <a:off x="1246910" y="2092035"/>
            <a:ext cx="9733914" cy="83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391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A77F-B1DF-41FA-BCF5-2A962EAE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EB1C6-FD49-4215-8F36-8A3038BD9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496" t="15592" r="12980" b="9728"/>
          <a:stretch/>
        </p:blipFill>
        <p:spPr>
          <a:xfrm>
            <a:off x="838200" y="0"/>
            <a:ext cx="10485114" cy="5907467"/>
          </a:xfrm>
        </p:spPr>
      </p:pic>
    </p:spTree>
    <p:extLst>
      <p:ext uri="{BB962C8B-B14F-4D97-AF65-F5344CB8AC3E}">
        <p14:creationId xmlns:p14="http://schemas.microsoft.com/office/powerpoint/2010/main" val="11978635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808346-7BB8-4892-928C-9481834CF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859" t="4923" r="14071" b="13284"/>
          <a:stretch/>
        </p:blipFill>
        <p:spPr>
          <a:xfrm>
            <a:off x="838200" y="-55418"/>
            <a:ext cx="10228385" cy="6618368"/>
          </a:xfrm>
        </p:spPr>
      </p:pic>
    </p:spTree>
    <p:extLst>
      <p:ext uri="{BB962C8B-B14F-4D97-AF65-F5344CB8AC3E}">
        <p14:creationId xmlns:p14="http://schemas.microsoft.com/office/powerpoint/2010/main" val="22215256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059BA-E192-453E-8C6B-C122D1E7E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3" t="36848" r="16071" b="10374"/>
          <a:stretch/>
        </p:blipFill>
        <p:spPr>
          <a:xfrm>
            <a:off x="740898" y="812409"/>
            <a:ext cx="11064635" cy="4716194"/>
          </a:xfrm>
        </p:spPr>
      </p:pic>
    </p:spTree>
    <p:extLst>
      <p:ext uri="{BB962C8B-B14F-4D97-AF65-F5344CB8AC3E}">
        <p14:creationId xmlns:p14="http://schemas.microsoft.com/office/powerpoint/2010/main" val="33267866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C857-F5B5-43EC-9B54-6CADA254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 based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F31CC-51EF-4B9A-8944-16A1BD5C6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 rule based classifier is a technique for classifying records using a collection of </a:t>
            </a:r>
            <a:r>
              <a:rPr lang="en-US" b="1" dirty="0"/>
              <a:t>“if … then …” </a:t>
            </a:r>
            <a:r>
              <a:rPr lang="en-US" dirty="0"/>
              <a:t>rules.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D1BE5-1EBC-47DC-8182-E701B39504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29734" r="15423" b="42766"/>
          <a:stretch/>
        </p:blipFill>
        <p:spPr>
          <a:xfrm>
            <a:off x="410307" y="2940147"/>
            <a:ext cx="11277339" cy="246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774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F4250-A4DB-455E-8EFE-CF683A3EA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354"/>
            <a:ext cx="10515600" cy="58956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Each classification rule can be expressed in the following ways: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5400" dirty="0"/>
              <a:t>		</a:t>
            </a:r>
            <a:r>
              <a:rPr lang="en-US" sz="5400" dirty="0" err="1"/>
              <a:t>r</a:t>
            </a:r>
            <a:r>
              <a:rPr lang="en-US" sz="5400" baseline="-25000" dirty="0" err="1"/>
              <a:t>i</a:t>
            </a:r>
            <a:r>
              <a:rPr lang="en-US" sz="5400" dirty="0"/>
              <a:t>: (</a:t>
            </a:r>
            <a:r>
              <a:rPr lang="en-US" sz="5400" dirty="0" err="1"/>
              <a:t>Condition</a:t>
            </a:r>
            <a:r>
              <a:rPr lang="en-US" sz="5400" baseline="-25000" dirty="0" err="1"/>
              <a:t>i</a:t>
            </a:r>
            <a:r>
              <a:rPr lang="en-US" sz="5400" dirty="0"/>
              <a:t>) </a:t>
            </a:r>
            <a:r>
              <a:rPr lang="en-US" sz="5400" dirty="0">
                <a:sym typeface="Wingdings" panose="05000000000000000000" pitchFamily="2" charset="2"/>
              </a:rPr>
              <a:t> </a:t>
            </a:r>
            <a:r>
              <a:rPr lang="en-US" sz="5400" dirty="0" err="1">
                <a:sym typeface="Wingdings" panose="05000000000000000000" pitchFamily="2" charset="2"/>
              </a:rPr>
              <a:t>y</a:t>
            </a:r>
            <a:r>
              <a:rPr lang="en-US" sz="5400" baseline="-25000" dirty="0" err="1">
                <a:sym typeface="Wingdings" panose="05000000000000000000" pitchFamily="2" charset="2"/>
              </a:rPr>
              <a:t>i</a:t>
            </a:r>
            <a:endParaRPr lang="en-US" sz="5400" baseline="-250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US" sz="5400" baseline="-250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en-US" sz="3900" b="1" dirty="0" err="1">
                <a:sym typeface="Wingdings" panose="05000000000000000000" pitchFamily="2" charset="2"/>
              </a:rPr>
              <a:t>Conditioni</a:t>
            </a:r>
            <a:r>
              <a:rPr lang="en-US" sz="3900" b="1" dirty="0">
                <a:sym typeface="Wingdings" panose="05000000000000000000" pitchFamily="2" charset="2"/>
              </a:rPr>
              <a:t>= (A1 op v1) ^ (A2 op v2) ^…(Ak op </a:t>
            </a:r>
            <a:r>
              <a:rPr lang="en-US" sz="3900" b="1" dirty="0" err="1">
                <a:sym typeface="Wingdings" panose="05000000000000000000" pitchFamily="2" charset="2"/>
              </a:rPr>
              <a:t>vk</a:t>
            </a:r>
            <a:r>
              <a:rPr lang="en-US" sz="3900" b="1" dirty="0">
                <a:sym typeface="Wingdings" panose="05000000000000000000" pitchFamily="2" charset="2"/>
              </a:rPr>
              <a:t>)</a:t>
            </a:r>
          </a:p>
          <a:p>
            <a:pPr marL="0" indent="0" algn="just">
              <a:buNone/>
            </a:pPr>
            <a:endParaRPr lang="en-US" sz="5400" b="1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en-US" sz="3000" dirty="0">
                <a:sym typeface="Wingdings" panose="05000000000000000000" pitchFamily="2" charset="2"/>
              </a:rPr>
              <a:t>Where (</a:t>
            </a:r>
            <a:r>
              <a:rPr lang="en-US" sz="3000" dirty="0" err="1">
                <a:sym typeface="Wingdings" panose="05000000000000000000" pitchFamily="2" charset="2"/>
              </a:rPr>
              <a:t>Aj</a:t>
            </a:r>
            <a:r>
              <a:rPr lang="en-US" sz="3000" dirty="0">
                <a:sym typeface="Wingdings" panose="05000000000000000000" pitchFamily="2" charset="2"/>
              </a:rPr>
              <a:t>, </a:t>
            </a:r>
            <a:r>
              <a:rPr lang="en-US" sz="3000" dirty="0" err="1">
                <a:sym typeface="Wingdings" panose="05000000000000000000" pitchFamily="2" charset="2"/>
              </a:rPr>
              <a:t>vj</a:t>
            </a:r>
            <a:r>
              <a:rPr lang="en-US" sz="3000" dirty="0">
                <a:sym typeface="Wingdings" panose="05000000000000000000" pitchFamily="2" charset="2"/>
              </a:rPr>
              <a:t>) is an attribute-value pair and op is a logical operator chosen from the set {=, !=, &lt;, &lt;=, &gt;, &gt;=} </a:t>
            </a:r>
          </a:p>
          <a:p>
            <a:pPr marL="0" indent="0" algn="just">
              <a:buNone/>
            </a:pPr>
            <a:endParaRPr lang="en-US" sz="5400" baseline="-250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IN" sz="5400" baseline="-25000" dirty="0"/>
          </a:p>
        </p:txBody>
      </p:sp>
    </p:spTree>
    <p:extLst>
      <p:ext uri="{BB962C8B-B14F-4D97-AF65-F5344CB8AC3E}">
        <p14:creationId xmlns:p14="http://schemas.microsoft.com/office/powerpoint/2010/main" val="26505407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34A88-E74D-4C79-89EC-B35D01BDE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>
                <a:sym typeface="Wingdings" panose="05000000000000000000" pitchFamily="2" charset="2"/>
              </a:rPr>
              <a:t>Left hand side of the rule is called the rule </a:t>
            </a:r>
            <a:r>
              <a:rPr lang="en-US" sz="2800" b="1" dirty="0">
                <a:sym typeface="Wingdings" panose="05000000000000000000" pitchFamily="2" charset="2"/>
              </a:rPr>
              <a:t>antecedent</a:t>
            </a:r>
            <a:r>
              <a:rPr lang="en-US" sz="2800" dirty="0">
                <a:sym typeface="Wingdings" panose="05000000000000000000" pitchFamily="2" charset="2"/>
              </a:rPr>
              <a:t> or </a:t>
            </a:r>
            <a:r>
              <a:rPr lang="en-US" sz="2800" b="1" dirty="0">
                <a:sym typeface="Wingdings" panose="05000000000000000000" pitchFamily="2" charset="2"/>
              </a:rPr>
              <a:t>precondition</a:t>
            </a:r>
          </a:p>
          <a:p>
            <a:pPr marL="0" indent="0" algn="just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en-US" sz="2800" dirty="0">
                <a:sym typeface="Wingdings" panose="05000000000000000000" pitchFamily="2" charset="2"/>
              </a:rPr>
              <a:t>Right hand side of the rule is called the rul</a:t>
            </a:r>
            <a:r>
              <a:rPr lang="en-US" dirty="0">
                <a:sym typeface="Wingdings" panose="05000000000000000000" pitchFamily="2" charset="2"/>
              </a:rPr>
              <a:t>e </a:t>
            </a:r>
            <a:r>
              <a:rPr lang="en-US" b="1" dirty="0">
                <a:sym typeface="Wingdings" panose="05000000000000000000" pitchFamily="2" charset="2"/>
              </a:rPr>
              <a:t>consequent</a:t>
            </a:r>
            <a:r>
              <a:rPr lang="en-US" dirty="0">
                <a:sym typeface="Wingdings" panose="05000000000000000000" pitchFamily="2" charset="2"/>
              </a:rPr>
              <a:t>, which contains the predicted class </a:t>
            </a:r>
            <a:r>
              <a:rPr lang="en-US" dirty="0" err="1">
                <a:sym typeface="Wingdings" panose="05000000000000000000" pitchFamily="2" charset="2"/>
              </a:rPr>
              <a:t>yi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sz="28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217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C147-08B9-4ED9-B46D-49188017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249"/>
            <a:ext cx="10515600" cy="1249385"/>
          </a:xfrm>
        </p:spPr>
        <p:txBody>
          <a:bodyPr/>
          <a:lstStyle/>
          <a:p>
            <a:r>
              <a:rPr lang="en-US" b="1" dirty="0"/>
              <a:t>Rule based Classifiers(Example)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7C38FB-2D53-441E-A1B0-E474309FE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315" t="11406" r="10254" b="27854"/>
          <a:stretch/>
        </p:blipFill>
        <p:spPr>
          <a:xfrm>
            <a:off x="236806" y="1125416"/>
            <a:ext cx="11718388" cy="5603335"/>
          </a:xfrm>
        </p:spPr>
      </p:pic>
    </p:spTree>
    <p:extLst>
      <p:ext uri="{BB962C8B-B14F-4D97-AF65-F5344CB8AC3E}">
        <p14:creationId xmlns:p14="http://schemas.microsoft.com/office/powerpoint/2010/main" val="3886950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9CF5C267-9947-4AF5-8F3F-9C45F8B45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8" y="663747"/>
            <a:ext cx="11832638" cy="41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252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A8CC-3808-4628-A0C1-8B81AB97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of rule based classifier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70AAFC-541C-43D2-8DBC-D5CDC6BE4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05" t="36848" r="12071" b="14576"/>
          <a:stretch/>
        </p:blipFill>
        <p:spPr>
          <a:xfrm>
            <a:off x="373965" y="1746106"/>
            <a:ext cx="11660429" cy="4639774"/>
          </a:xfrm>
        </p:spPr>
      </p:pic>
    </p:spTree>
    <p:extLst>
      <p:ext uri="{BB962C8B-B14F-4D97-AF65-F5344CB8AC3E}">
        <p14:creationId xmlns:p14="http://schemas.microsoft.com/office/powerpoint/2010/main" val="25530747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2B07-C653-4348-8CB6-DABA52DD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 coverage and accuracy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8B9B-8A1C-40C8-89BF-E6E5F830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Coverage of a rule:</a:t>
            </a:r>
          </a:p>
          <a:p>
            <a:pPr marL="0" indent="0" algn="just">
              <a:buNone/>
            </a:pPr>
            <a:r>
              <a:rPr lang="en-US" dirty="0"/>
              <a:t>Fraction of records satisfy the antecedent of a rule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Accuracy of a rule:</a:t>
            </a:r>
          </a:p>
          <a:p>
            <a:pPr marL="0" indent="0" algn="just">
              <a:buNone/>
            </a:pPr>
            <a:r>
              <a:rPr lang="en-US" dirty="0"/>
              <a:t>Fraction of records that satisfy the antecedent that also satisfy the consequent of a rule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6200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3EDE4E-E5B1-421B-A235-F06F2191E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769" t="56002" r="38246" b="3585"/>
          <a:stretch/>
        </p:blipFill>
        <p:spPr>
          <a:xfrm>
            <a:off x="647112" y="576776"/>
            <a:ext cx="11017824" cy="5008098"/>
          </a:xfrm>
        </p:spPr>
      </p:pic>
    </p:spTree>
    <p:extLst>
      <p:ext uri="{BB962C8B-B14F-4D97-AF65-F5344CB8AC3E}">
        <p14:creationId xmlns:p14="http://schemas.microsoft.com/office/powerpoint/2010/main" val="29115282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7F323-3E64-4DBC-8B61-18D488AB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pic>
        <p:nvPicPr>
          <p:cNvPr id="4" name="Picture 8" descr="Lecture outline Classification Decision-tree classification. - ppt video  online download">
            <a:extLst>
              <a:ext uri="{FF2B5EF4-FFF2-40B4-BE49-F238E27FC236}">
                <a16:creationId xmlns:a16="http://schemas.microsoft.com/office/drawing/2014/main" id="{59F2B3D3-9991-4962-9275-B711CE2BA4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25631" r="25897" b="24308"/>
          <a:stretch/>
        </p:blipFill>
        <p:spPr bwMode="auto">
          <a:xfrm>
            <a:off x="5495633" y="196947"/>
            <a:ext cx="6543952" cy="502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83A34F-90DB-4967-AE4A-6094B3538B35}"/>
              </a:ext>
            </a:extLst>
          </p:cNvPr>
          <p:cNvSpPr txBox="1"/>
          <p:nvPr/>
        </p:nvSpPr>
        <p:spPr>
          <a:xfrm>
            <a:off x="464234" y="1969477"/>
            <a:ext cx="48111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(Status= Single) </a:t>
            </a:r>
            <a:r>
              <a:rPr lang="en-US" sz="3600" b="1" dirty="0">
                <a:sym typeface="Wingdings" panose="05000000000000000000" pitchFamily="2" charset="2"/>
              </a:rPr>
              <a:t> No</a:t>
            </a:r>
          </a:p>
          <a:p>
            <a:endParaRPr lang="en-US" sz="3600" b="1" dirty="0">
              <a:sym typeface="Wingdings" panose="05000000000000000000" pitchFamily="2" charset="2"/>
            </a:endParaRPr>
          </a:p>
          <a:p>
            <a:r>
              <a:rPr lang="en-US" sz="3600" b="1" dirty="0">
                <a:sym typeface="Wingdings" panose="05000000000000000000" pitchFamily="2" charset="2"/>
              </a:rPr>
              <a:t>Coverage=4/10= 40%</a:t>
            </a:r>
          </a:p>
          <a:p>
            <a:r>
              <a:rPr lang="en-US" sz="3600" b="1" dirty="0">
                <a:sym typeface="Wingdings" panose="05000000000000000000" pitchFamily="2" charset="2"/>
              </a:rPr>
              <a:t>Accuracy=2/4=50%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45901448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C352-466D-4737-89B4-60394680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a rule based classifier works</a:t>
            </a:r>
            <a:endParaRPr lang="en-IN" b="1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970B708-E477-4C9A-B77B-7E7731008D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05" t="36848" r="12071" b="31219"/>
          <a:stretch/>
        </p:blipFill>
        <p:spPr>
          <a:xfrm>
            <a:off x="373965" y="1746106"/>
            <a:ext cx="11660429" cy="305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187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AE882E0-7F7D-4BA7-B626-9C270F5649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0574" y="582222"/>
          <a:ext cx="10894256" cy="315433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361782">
                  <a:extLst>
                    <a:ext uri="{9D8B030D-6E8A-4147-A177-3AD203B41FA5}">
                      <a16:colId xmlns:a16="http://schemas.microsoft.com/office/drawing/2014/main" val="2823759428"/>
                    </a:ext>
                  </a:extLst>
                </a:gridCol>
                <a:gridCol w="1361782">
                  <a:extLst>
                    <a:ext uri="{9D8B030D-6E8A-4147-A177-3AD203B41FA5}">
                      <a16:colId xmlns:a16="http://schemas.microsoft.com/office/drawing/2014/main" val="1823844872"/>
                    </a:ext>
                  </a:extLst>
                </a:gridCol>
                <a:gridCol w="1361782">
                  <a:extLst>
                    <a:ext uri="{9D8B030D-6E8A-4147-A177-3AD203B41FA5}">
                      <a16:colId xmlns:a16="http://schemas.microsoft.com/office/drawing/2014/main" val="1620419687"/>
                    </a:ext>
                  </a:extLst>
                </a:gridCol>
                <a:gridCol w="1361782">
                  <a:extLst>
                    <a:ext uri="{9D8B030D-6E8A-4147-A177-3AD203B41FA5}">
                      <a16:colId xmlns:a16="http://schemas.microsoft.com/office/drawing/2014/main" val="2040295459"/>
                    </a:ext>
                  </a:extLst>
                </a:gridCol>
                <a:gridCol w="1361782">
                  <a:extLst>
                    <a:ext uri="{9D8B030D-6E8A-4147-A177-3AD203B41FA5}">
                      <a16:colId xmlns:a16="http://schemas.microsoft.com/office/drawing/2014/main" val="2325859643"/>
                    </a:ext>
                  </a:extLst>
                </a:gridCol>
                <a:gridCol w="1361782">
                  <a:extLst>
                    <a:ext uri="{9D8B030D-6E8A-4147-A177-3AD203B41FA5}">
                      <a16:colId xmlns:a16="http://schemas.microsoft.com/office/drawing/2014/main" val="807013994"/>
                    </a:ext>
                  </a:extLst>
                </a:gridCol>
                <a:gridCol w="1361782">
                  <a:extLst>
                    <a:ext uri="{9D8B030D-6E8A-4147-A177-3AD203B41FA5}">
                      <a16:colId xmlns:a16="http://schemas.microsoft.com/office/drawing/2014/main" val="1069924661"/>
                    </a:ext>
                  </a:extLst>
                </a:gridCol>
                <a:gridCol w="1361782">
                  <a:extLst>
                    <a:ext uri="{9D8B030D-6E8A-4147-A177-3AD203B41FA5}">
                      <a16:colId xmlns:a16="http://schemas.microsoft.com/office/drawing/2014/main" val="2612399358"/>
                    </a:ext>
                  </a:extLst>
                </a:gridCol>
              </a:tblGrid>
              <a:tr h="998610"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Blood type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Skin cover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Gives birth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Lives in water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can fly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Has legs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Hibernate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949587"/>
                  </a:ext>
                </a:extLst>
              </a:tr>
              <a:tr h="578559">
                <a:tc>
                  <a:txBody>
                    <a:bodyPr/>
                    <a:lstStyle/>
                    <a:p>
                      <a:r>
                        <a:rPr lang="en-US" b="1" dirty="0"/>
                        <a:t>Lemur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Warm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Fur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87789"/>
                  </a:ext>
                </a:extLst>
              </a:tr>
              <a:tr h="578559">
                <a:tc>
                  <a:txBody>
                    <a:bodyPr/>
                    <a:lstStyle/>
                    <a:p>
                      <a:r>
                        <a:rPr lang="en-US" b="1" dirty="0"/>
                        <a:t>Turtle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Cold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Semi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76116"/>
                  </a:ext>
                </a:extLst>
              </a:tr>
              <a:tr h="998610">
                <a:tc>
                  <a:txBody>
                    <a:bodyPr/>
                    <a:lstStyle/>
                    <a:p>
                      <a:r>
                        <a:rPr lang="en-US" b="1" dirty="0"/>
                        <a:t>Dogfish shark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cold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2616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8371E35-E0B3-403E-93DC-F20ACA73CE35}"/>
              </a:ext>
            </a:extLst>
          </p:cNvPr>
          <p:cNvSpPr txBox="1"/>
          <p:nvPr/>
        </p:nvSpPr>
        <p:spPr>
          <a:xfrm>
            <a:off x="309489" y="4698609"/>
            <a:ext cx="115355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Lemur triggers rule r3, hence it is classified as a mammal</a:t>
            </a:r>
          </a:p>
          <a:p>
            <a:r>
              <a:rPr lang="en-US" sz="3200" dirty="0"/>
              <a:t>Turtle triggers both r4 and r5</a:t>
            </a:r>
          </a:p>
          <a:p>
            <a:r>
              <a:rPr lang="en-US" sz="3200" dirty="0"/>
              <a:t>Dogfish shark triggers none of the rules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2008603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EDA2-642F-8F57-C1C7-CDF169A4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156B-9BE1-300F-B045-91965A718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16137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4199-BE78-E510-25CC-43118E59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23090-B8B6-6BB9-CBAD-4377966A5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75684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6FBA-5477-C855-626A-AA3F8AF6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BFF9-9AF8-6B58-F771-F1DB94EC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25025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327E-3D0C-411A-B3E6-AD5E7610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decision tree induction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4007D-5CD2-4FDC-BBE5-B74351A1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Decision tree induction is a non-parametric approach for building classification models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Finding an optimal decision tree is an NP-complete problem. Many decision tree algorithms employ a heuristic-based approach to guide their search in the vast hypothesis space.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Techniques developed for constructing decision trees are computationally inexpensive, making it possible to quickly construct models even when the training set size is very large.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97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0DDBA-68FB-4C2B-80A1-B54E5D671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557"/>
            <a:ext cx="10515600" cy="585340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Decision trees, especially smaller-sized trees, are relatively easy to interpret.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Decision trees provide an expressive representation for learning discrete-valued functions.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Decision tree algorithms are quite robust to the presence of noise, especially when methods for avoiding over-fitting.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presence of redundant attributes does not adversely affect the accuracy of decision trees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75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548C-EB79-4C5A-988B-F3D38E9D5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166"/>
            <a:ext cx="10515600" cy="572679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Since most decision tree algorithms employ a top-down, recursive partitioning approach, the number of records becomes smaller as we traverse down the tree.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These algorithm usually employ a greedy strategy that grows a decision tree by making a series of locally optimum decisions about which attribute to use for partitioning the data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Many Algorithms:</a:t>
            </a:r>
          </a:p>
          <a:p>
            <a:pPr marL="0" indent="0" algn="just">
              <a:buNone/>
            </a:pPr>
            <a:r>
              <a:rPr lang="en-US" dirty="0"/>
              <a:t>-Hunts Algorithm</a:t>
            </a:r>
          </a:p>
          <a:p>
            <a:pPr marL="0" indent="0" algn="just">
              <a:buNone/>
            </a:pPr>
            <a:r>
              <a:rPr lang="en-US" dirty="0"/>
              <a:t>-CART</a:t>
            </a:r>
          </a:p>
          <a:p>
            <a:pPr marL="0" indent="0" algn="just">
              <a:buNone/>
            </a:pPr>
            <a:r>
              <a:rPr lang="en-US" dirty="0"/>
              <a:t>-ID3, C4.5</a:t>
            </a:r>
          </a:p>
          <a:p>
            <a:pPr marL="0" indent="0" algn="just">
              <a:buNone/>
            </a:pPr>
            <a:r>
              <a:rPr lang="en-US" dirty="0"/>
              <a:t>-SLIQ, SPRINT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18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5035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416A99-DB03-47AC-A487-08871BC57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6058"/>
            <a:ext cx="10289400" cy="6625883"/>
          </a:xfrm>
        </p:spPr>
      </p:pic>
    </p:spTree>
    <p:extLst>
      <p:ext uri="{BB962C8B-B14F-4D97-AF65-F5344CB8AC3E}">
        <p14:creationId xmlns:p14="http://schemas.microsoft.com/office/powerpoint/2010/main" val="73748396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xample of Hunt&amp;#39;s algorithm for inducing decision trees [18]. | Download  Scientific Diagram">
            <a:extLst>
              <a:ext uri="{FF2B5EF4-FFF2-40B4-BE49-F238E27FC236}">
                <a16:creationId xmlns:a16="http://schemas.microsoft.com/office/drawing/2014/main" id="{07A8F014-0DC3-4123-BEF7-E8A8770A27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2" t="3388" r="3868" b="1559"/>
          <a:stretch/>
        </p:blipFill>
        <p:spPr bwMode="auto">
          <a:xfrm>
            <a:off x="4800060" y="0"/>
            <a:ext cx="7323194" cy="665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Lecture outline Classification Decision-tree classification. - ppt video  online download">
            <a:extLst>
              <a:ext uri="{FF2B5EF4-FFF2-40B4-BE49-F238E27FC236}">
                <a16:creationId xmlns:a16="http://schemas.microsoft.com/office/drawing/2014/main" id="{19F6968A-5AC2-49E7-AA57-098DA61B8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12512" r="25897" b="24308"/>
          <a:stretch/>
        </p:blipFill>
        <p:spPr bwMode="auto">
          <a:xfrm>
            <a:off x="0" y="182880"/>
            <a:ext cx="4836636" cy="647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9758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ACD6-7DEF-41A2-8211-13984164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C1E5-6A35-4559-998B-7185C5B6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Decision tree classifier</a:t>
            </a:r>
          </a:p>
          <a:p>
            <a:pPr marL="0" indent="0">
              <a:buNone/>
            </a:pPr>
            <a:r>
              <a:rPr lang="en-US" dirty="0"/>
              <a:t>Rule based classifier</a:t>
            </a:r>
          </a:p>
          <a:p>
            <a:pPr marL="0" indent="0">
              <a:buNone/>
            </a:pPr>
            <a:r>
              <a:rPr lang="en-US" dirty="0"/>
              <a:t>Nearest Neighbor classifier </a:t>
            </a:r>
          </a:p>
          <a:p>
            <a:pPr marL="0" indent="0">
              <a:buNone/>
            </a:pPr>
            <a:r>
              <a:rPr lang="en-US" dirty="0"/>
              <a:t>Bayesian 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304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EA51-B317-47BE-BA28-A00511E5C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a rule set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B2DC0-B43C-4633-9866-48253569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Mutually Exclusive rules:</a:t>
            </a:r>
          </a:p>
          <a:p>
            <a:pPr marL="0" indent="0" algn="just">
              <a:buNone/>
            </a:pPr>
            <a:r>
              <a:rPr lang="en-US" dirty="0"/>
              <a:t>		- every record is covered by at most one rule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Exhaustive rules</a:t>
            </a:r>
          </a:p>
          <a:p>
            <a:pPr marL="0" indent="0" algn="just">
              <a:buNone/>
            </a:pPr>
            <a:r>
              <a:rPr lang="en-US" dirty="0"/>
              <a:t>		- each record is covered by at least one rules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4043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7E1CC-5B2D-4966-B5A5-F429F6AA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7625"/>
            <a:ext cx="10515600" cy="5839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If the rule set is not exhaustive, then a default rule </a:t>
            </a:r>
          </a:p>
          <a:p>
            <a:pPr marL="0" indent="0" algn="just">
              <a:buNone/>
            </a:pPr>
            <a:r>
              <a:rPr lang="en-US" dirty="0"/>
              <a:t>Rd: () </a:t>
            </a:r>
            <a:r>
              <a:rPr lang="en-US" dirty="0">
                <a:sym typeface="Wingdings" panose="05000000000000000000" pitchFamily="2" charset="2"/>
              </a:rPr>
              <a:t> yd</a:t>
            </a: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dirty="0"/>
              <a:t>Must be added to cover the remaining cases.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If the rule set is not mutually exclusive, there are two ways to overcome the problem</a:t>
            </a:r>
          </a:p>
          <a:p>
            <a:pPr marL="0" indent="0" algn="just">
              <a:buNone/>
            </a:pPr>
            <a:r>
              <a:rPr lang="en-US" dirty="0"/>
              <a:t>	Ordered rules </a:t>
            </a:r>
          </a:p>
          <a:p>
            <a:pPr marL="0" indent="0" algn="just">
              <a:buNone/>
            </a:pPr>
            <a:r>
              <a:rPr lang="en-IN" dirty="0"/>
              <a:t>	Unordered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22653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C7C5-0AE1-44D2-9F7B-7D5571A8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Ordered rules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F4E3-2406-4436-8F41-C5EC8BEC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Rules in rule set are ordered in decreasing order of their priority</a:t>
            </a:r>
          </a:p>
          <a:p>
            <a:pPr algn="just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Based on accuracy, coverage, or order in which the rules are generated</a:t>
            </a:r>
          </a:p>
          <a:p>
            <a:pPr algn="just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This avoids the problem of conflicting classes predicted by multiple classification rules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1997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72E7-E2D0-4E01-BA62-97EA1A514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Unordered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64C50-07FC-4915-A9AC-C75A088CB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This approach will allow a test record to trigger multiple classification rules and considers the consequent of each rule as a vote for a particular class.</a:t>
            </a:r>
          </a:p>
          <a:p>
            <a:pPr algn="just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 votes are tallied to determine the class label of the test record</a:t>
            </a:r>
          </a:p>
          <a:p>
            <a:pPr algn="just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 record is usually assigned to the class that receives highest number of votes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48170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33A676-DFE7-4BF5-910E-AEE58F9A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FADC9-9631-457C-84C8-4D51AC85C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4" t="18178" r="25159" b="63152"/>
          <a:stretch/>
        </p:blipFill>
        <p:spPr>
          <a:xfrm>
            <a:off x="604910" y="1533378"/>
            <a:ext cx="10930606" cy="1895622"/>
          </a:xfrm>
        </p:spPr>
      </p:pic>
    </p:spTree>
    <p:extLst>
      <p:ext uri="{BB962C8B-B14F-4D97-AF65-F5344CB8AC3E}">
        <p14:creationId xmlns:p14="http://schemas.microsoft.com/office/powerpoint/2010/main" val="391601479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7F93-B29D-44CF-9F83-C577C8AD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 Ordering Scheme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8FD0-1ACE-436D-A1CE-C7475D253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Rule based ordering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Class based ordering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93004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02A343-D463-4021-AA43-D09F290BD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6338" y="148330"/>
            <a:ext cx="7910880" cy="635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6401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16B169-F43E-43F1-A34F-467403797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6707" y="182917"/>
            <a:ext cx="8295249" cy="667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3526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DD7E2-1A3C-47EF-807E-3E8C5673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Rule based ordering:</a:t>
            </a:r>
          </a:p>
          <a:p>
            <a:pPr marL="0" indent="0">
              <a:buNone/>
            </a:pPr>
            <a:r>
              <a:rPr lang="en-US" dirty="0"/>
              <a:t>Individual rules are ranked based on their quality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based ordering:</a:t>
            </a:r>
          </a:p>
          <a:p>
            <a:pPr marL="0" indent="0">
              <a:buNone/>
            </a:pPr>
            <a:r>
              <a:rPr lang="en-US" dirty="0"/>
              <a:t>Rules that belong to same class appear together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67726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8091-465E-4B32-BEA0-CF2B7096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Direct method (Sequential covering)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D67C2-2569-42B7-9726-C37F284BA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For the vertebrate classification problem, the </a:t>
            </a:r>
            <a:r>
              <a:rPr lang="en-US" b="1" dirty="0"/>
              <a:t>sequential covering algorithm </a:t>
            </a:r>
            <a:r>
              <a:rPr lang="en-US" dirty="0"/>
              <a:t>may generate rules for classifying birds first, followed by rules for classifying mammals, amphibians, reptiles, and finally, fishes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377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6273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7DFD-9DDD-480D-83DD-8FCF1D1BF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Sequential Covering Algorithm steps: </a:t>
            </a:r>
          </a:p>
          <a:p>
            <a:pPr marL="0" indent="0">
              <a:buNone/>
            </a:pPr>
            <a:r>
              <a:rPr lang="en-US" dirty="0"/>
              <a:t>1. Start from an empty rule </a:t>
            </a:r>
          </a:p>
          <a:p>
            <a:pPr marL="0" indent="0">
              <a:buNone/>
            </a:pPr>
            <a:r>
              <a:rPr lang="en-US" dirty="0"/>
              <a:t>2. Grow a rule for a record</a:t>
            </a:r>
          </a:p>
          <a:p>
            <a:pPr marL="0" indent="0">
              <a:buNone/>
            </a:pPr>
            <a:r>
              <a:rPr lang="en-US" dirty="0"/>
              <a:t>3. Remove training records covered by the rule </a:t>
            </a:r>
          </a:p>
          <a:p>
            <a:pPr marL="0" indent="0">
              <a:buNone/>
            </a:pPr>
            <a:r>
              <a:rPr lang="en-US" dirty="0"/>
              <a:t>4. Repeat Step (2) and (3) until stopping criterion is met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22563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C147-08B9-4ED9-B46D-49188017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249"/>
            <a:ext cx="10515600" cy="1249385"/>
          </a:xfrm>
        </p:spPr>
        <p:txBody>
          <a:bodyPr/>
          <a:lstStyle/>
          <a:p>
            <a:r>
              <a:rPr lang="en-US" b="1" dirty="0"/>
              <a:t>Rule based Classifiers(Example)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7C38FB-2D53-441E-A1B0-E474309FE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315" t="11406" r="10254" b="27854"/>
          <a:stretch/>
        </p:blipFill>
        <p:spPr>
          <a:xfrm>
            <a:off x="236806" y="1125416"/>
            <a:ext cx="11718388" cy="5603335"/>
          </a:xfrm>
        </p:spPr>
      </p:pic>
    </p:spTree>
    <p:extLst>
      <p:ext uri="{BB962C8B-B14F-4D97-AF65-F5344CB8AC3E}">
        <p14:creationId xmlns:p14="http://schemas.microsoft.com/office/powerpoint/2010/main" val="24493327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9CF5C267-9947-4AF5-8F3F-9C45F8B45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8" y="663747"/>
            <a:ext cx="11832638" cy="41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412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73EAA-564E-4729-90B7-27FE5A33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05" t="9772" r="14980" b="7141"/>
          <a:stretch/>
        </p:blipFill>
        <p:spPr>
          <a:xfrm>
            <a:off x="998805" y="0"/>
            <a:ext cx="10397229" cy="6597747"/>
          </a:xfrm>
        </p:spPr>
      </p:pic>
    </p:spTree>
    <p:extLst>
      <p:ext uri="{BB962C8B-B14F-4D97-AF65-F5344CB8AC3E}">
        <p14:creationId xmlns:p14="http://schemas.microsoft.com/office/powerpoint/2010/main" val="348453469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44A2-F36E-4134-AEF4-82A87D85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Sequential covering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0DBFFC-548B-4DAC-B356-E87FF8982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3" t="36848" r="53333" b="2939"/>
          <a:stretch/>
        </p:blipFill>
        <p:spPr>
          <a:xfrm>
            <a:off x="1266092" y="1690688"/>
            <a:ext cx="4656406" cy="487222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A4704F-35F9-465B-97AE-1E70BA0151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85" t="40200" r="15769" b="3157"/>
          <a:stretch/>
        </p:blipFill>
        <p:spPr>
          <a:xfrm>
            <a:off x="5922498" y="1690687"/>
            <a:ext cx="5686279" cy="48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7871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68241-DDFF-4574-A90C-4370F7678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132" t="17208" r="53696" b="18780"/>
          <a:stretch/>
        </p:blipFill>
        <p:spPr>
          <a:xfrm>
            <a:off x="196946" y="872196"/>
            <a:ext cx="5176912" cy="57911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ABDF98-6FBC-4D92-AF83-5F613EB8A0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966" t="19062" r="15654" b="19986"/>
          <a:stretch/>
        </p:blipFill>
        <p:spPr>
          <a:xfrm>
            <a:off x="5908430" y="872196"/>
            <a:ext cx="5036233" cy="56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207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82053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AB0B-E370-4D88-A48B-1CC68702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 growing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5EE86-9E62-406C-8E92-FD656E17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common strategies:</a:t>
            </a:r>
          </a:p>
          <a:p>
            <a:pPr marL="0" indent="0">
              <a:buNone/>
            </a:pPr>
            <a:r>
              <a:rPr lang="en-US" dirty="0"/>
              <a:t>	General-to-Specific</a:t>
            </a:r>
          </a:p>
          <a:p>
            <a:pPr marL="0" indent="0">
              <a:buNone/>
            </a:pPr>
            <a:r>
              <a:rPr lang="en-US" dirty="0"/>
              <a:t>	Specific-to-General</a:t>
            </a:r>
          </a:p>
        </p:txBody>
      </p:sp>
    </p:spTree>
    <p:extLst>
      <p:ext uri="{BB962C8B-B14F-4D97-AF65-F5344CB8AC3E}">
        <p14:creationId xmlns:p14="http://schemas.microsoft.com/office/powerpoint/2010/main" val="332718408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209F-139B-475A-8A90-864067CE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General-to-Specific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9E45D-4E1C-4BB3-B2C8-7CE57BC06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An initial rule is created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r: ()  y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Where left hand side is an empty set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 rule has poor quality because it covers all the records in training set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New conjuncts are subsequently added to improve the rules 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76450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6C764-D00F-44FC-9EFB-F1AC5D6B2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Vertebrate classification problem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7A9A4-5B97-462E-B75F-F2932B16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33803"/>
            <a:ext cx="11021307" cy="458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244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D8C1-810C-4E7E-AB32-BD3E8D94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Data Analytics CS 40003 Lecture 9 Classification Decision">
            <a:extLst>
              <a:ext uri="{FF2B5EF4-FFF2-40B4-BE49-F238E27FC236}">
                <a16:creationId xmlns:a16="http://schemas.microsoft.com/office/drawing/2014/main" id="{04F30CA6-AA71-49E8-BDC5-E2381E8C8E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" t="25613" r="7087" b="16516"/>
          <a:stretch/>
        </p:blipFill>
        <p:spPr bwMode="auto">
          <a:xfrm>
            <a:off x="379827" y="140676"/>
            <a:ext cx="11663450" cy="645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93737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50C5-F082-4007-A2B4-98E99AC2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Specific-to-General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0C376-70C6-44C0-BF0F-1DC4875DF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092397" cy="3798556"/>
          </a:xfrm>
        </p:spPr>
      </p:pic>
    </p:spTree>
    <p:extLst>
      <p:ext uri="{BB962C8B-B14F-4D97-AF65-F5344CB8AC3E}">
        <p14:creationId xmlns:p14="http://schemas.microsoft.com/office/powerpoint/2010/main" val="142333191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A546-FEF5-4581-8BD6-50862228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build a Rule Based Classifier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43E2F-8790-4759-B06B-29FFC0FCE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There are two broad classes of methods for extracting classification rules: </a:t>
            </a:r>
          </a:p>
          <a:p>
            <a:pPr marL="514350" indent="-514350" algn="just">
              <a:buAutoNum type="arabicParenBoth"/>
            </a:pPr>
            <a:r>
              <a:rPr lang="en-US" b="1" dirty="0"/>
              <a:t>Direct method</a:t>
            </a:r>
            <a:r>
              <a:rPr lang="en-US" dirty="0"/>
              <a:t>, which extract classification rules directly from data</a:t>
            </a:r>
          </a:p>
          <a:p>
            <a:pPr marL="514350" indent="-514350" algn="just">
              <a:buAutoNum type="arabicParenBoth"/>
            </a:pPr>
            <a:r>
              <a:rPr lang="en-US" b="1" dirty="0"/>
              <a:t>Indirect method</a:t>
            </a:r>
            <a:r>
              <a:rPr lang="en-US" dirty="0"/>
              <a:t>, which extract classification rules from other classification models, such as decision trees and neural networks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18801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C119-BED5-4E9F-B692-C5CB8196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Indirect method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9F68A-D637-4B20-921B-4FBCB009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Generating a rule set from decision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91809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CE9FE1-407D-429E-96E0-4657A7E67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44" y="619113"/>
            <a:ext cx="10641236" cy="492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140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F691-FC32-478F-B796-47ACF944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decision Trees to rules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B06BE5-9257-40A3-B4C1-BB098ED71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133" t="15915" r="13889" b="13284"/>
          <a:stretch/>
        </p:blipFill>
        <p:spPr>
          <a:xfrm>
            <a:off x="838200" y="1547446"/>
            <a:ext cx="10303412" cy="5158048"/>
          </a:xfrm>
        </p:spPr>
      </p:pic>
    </p:spTree>
    <p:extLst>
      <p:ext uri="{BB962C8B-B14F-4D97-AF65-F5344CB8AC3E}">
        <p14:creationId xmlns:p14="http://schemas.microsoft.com/office/powerpoint/2010/main" val="407234483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DCF3A6-3B72-4F27-BE7A-C6AC753FE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041" r="13890" b="8411"/>
          <a:stretch/>
        </p:blipFill>
        <p:spPr>
          <a:xfrm>
            <a:off x="1012873" y="0"/>
            <a:ext cx="9748912" cy="6870197"/>
          </a:xfrm>
        </p:spPr>
      </p:pic>
    </p:spTree>
    <p:extLst>
      <p:ext uri="{BB962C8B-B14F-4D97-AF65-F5344CB8AC3E}">
        <p14:creationId xmlns:p14="http://schemas.microsoft.com/office/powerpoint/2010/main" val="139929751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26EB-1B32-4775-AE6F-AF6AFA83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rule based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E9A0-7EE8-45A7-B557-C34DC95DA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highly expressive as decision tree</a:t>
            </a:r>
          </a:p>
          <a:p>
            <a:pPr marL="0" indent="0">
              <a:buNone/>
            </a:pPr>
            <a:r>
              <a:rPr lang="en-US" dirty="0"/>
              <a:t>Easy to interpret</a:t>
            </a:r>
          </a:p>
          <a:p>
            <a:pPr marL="0" indent="0">
              <a:buNone/>
            </a:pPr>
            <a:r>
              <a:rPr lang="en-US" dirty="0"/>
              <a:t>Easy to generate</a:t>
            </a:r>
          </a:p>
          <a:p>
            <a:pPr marL="0" indent="0">
              <a:buNone/>
            </a:pPr>
            <a:r>
              <a:rPr lang="en-US" dirty="0"/>
              <a:t>Can classify new instances rapidly</a:t>
            </a:r>
          </a:p>
          <a:p>
            <a:pPr marL="0" indent="0">
              <a:buNone/>
            </a:pPr>
            <a:r>
              <a:rPr lang="en-US" dirty="0"/>
              <a:t>Performance comparable to decision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1445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ACD6-7DEF-41A2-8211-13984164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C1E5-6A35-4559-998B-7185C5B6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Decision tree classifier</a:t>
            </a:r>
          </a:p>
          <a:p>
            <a:pPr marL="0" indent="0">
              <a:buNone/>
            </a:pPr>
            <a:r>
              <a:rPr lang="en-US" dirty="0"/>
              <a:t>Rule based classifier</a:t>
            </a:r>
          </a:p>
          <a:p>
            <a:pPr marL="0" indent="0">
              <a:buNone/>
            </a:pPr>
            <a:r>
              <a:rPr lang="en-US" dirty="0"/>
              <a:t>Nearest Neighbor classifier </a:t>
            </a:r>
          </a:p>
          <a:p>
            <a:pPr marL="0" indent="0">
              <a:buNone/>
            </a:pPr>
            <a:r>
              <a:rPr lang="en-US" dirty="0"/>
              <a:t>Bayesian 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15916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901" y="877743"/>
            <a:ext cx="8762732" cy="463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7373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062" r="21179" b="51212"/>
          <a:stretch/>
        </p:blipFill>
        <p:spPr>
          <a:xfrm>
            <a:off x="408708" y="309707"/>
            <a:ext cx="11499509" cy="510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0787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839" t="16311" r="46241" b="7323"/>
          <a:stretch/>
        </p:blipFill>
        <p:spPr>
          <a:xfrm>
            <a:off x="2022764" y="0"/>
            <a:ext cx="6179127" cy="664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993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8873"/>
            <a:ext cx="10515600" cy="549809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Once the nearest </a:t>
            </a:r>
            <a:r>
              <a:rPr lang="en-IN" dirty="0" err="1"/>
              <a:t>neighbor</a:t>
            </a:r>
            <a:r>
              <a:rPr lang="en-IN" dirty="0"/>
              <a:t> list is obtained, the test example is classified based on majority class of its nearest neighbour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where, v is a class label</a:t>
            </a:r>
          </a:p>
          <a:p>
            <a:pPr marL="0" indent="0">
              <a:buNone/>
            </a:pPr>
            <a:r>
              <a:rPr lang="en-IN" dirty="0" err="1"/>
              <a:t>yi</a:t>
            </a:r>
            <a:r>
              <a:rPr lang="en-IN" dirty="0"/>
              <a:t> is the class label for one of the nearest </a:t>
            </a:r>
            <a:r>
              <a:rPr lang="en-IN" dirty="0" err="1"/>
              <a:t>neighbors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 is an indicator function that returns the value 1 if its argument is true and 0 otherwise.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935" t="55586" r="35412" b="38543"/>
          <a:stretch/>
        </p:blipFill>
        <p:spPr>
          <a:xfrm>
            <a:off x="1246910" y="2092035"/>
            <a:ext cx="9733914" cy="83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501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A77F-B1DF-41FA-BCF5-2A962EAE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EB1C6-FD49-4215-8F36-8A3038BD9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496" t="15592" r="12980" b="9728"/>
          <a:stretch/>
        </p:blipFill>
        <p:spPr>
          <a:xfrm>
            <a:off x="838200" y="0"/>
            <a:ext cx="10485114" cy="5907467"/>
          </a:xfrm>
        </p:spPr>
      </p:pic>
    </p:spTree>
    <p:extLst>
      <p:ext uri="{BB962C8B-B14F-4D97-AF65-F5344CB8AC3E}">
        <p14:creationId xmlns:p14="http://schemas.microsoft.com/office/powerpoint/2010/main" val="369533567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ACD6-7DEF-41A2-8211-13984164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C1E5-6A35-4559-998B-7185C5B6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Decision tree classifier</a:t>
            </a:r>
          </a:p>
          <a:p>
            <a:pPr marL="0" indent="0">
              <a:buNone/>
            </a:pPr>
            <a:r>
              <a:rPr lang="en-US" dirty="0"/>
              <a:t>Rule based classifier</a:t>
            </a:r>
          </a:p>
          <a:p>
            <a:pPr marL="0" indent="0">
              <a:buNone/>
            </a:pPr>
            <a:r>
              <a:rPr lang="en-US" dirty="0"/>
              <a:t>Nearest Neighbor classifier </a:t>
            </a:r>
          </a:p>
          <a:p>
            <a:pPr marL="0" indent="0">
              <a:buNone/>
            </a:pPr>
            <a:r>
              <a:rPr lang="en-US" dirty="0"/>
              <a:t>Bayesian 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44474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2DA4-EE04-443F-84AF-56E8F16A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Bayesian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B496-10F3-498C-8FE7-AC802CA1F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 Let X and Y be a pair of random variables </a:t>
            </a:r>
          </a:p>
          <a:p>
            <a:pPr marL="0" indent="0" algn="just">
              <a:buNone/>
            </a:pPr>
            <a:r>
              <a:rPr lang="en-US" dirty="0"/>
              <a:t>Their,</a:t>
            </a:r>
          </a:p>
          <a:p>
            <a:pPr marL="0" indent="0" algn="just">
              <a:buNone/>
            </a:pPr>
            <a:r>
              <a:rPr lang="en-US" dirty="0"/>
              <a:t>Joint probability, P(X=x, Y=y) refers to the probability that variable X will take on the value x and variable Y will take on the value y.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Conditional probability, P(Y=y | X=x) refers to the probability that the variable Y will take on the value y, given that the variable X is observed to have the value 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39581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74E5-9699-4651-922D-6C4420FC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Formula of Bayes theorem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FAF788F-FBDB-489B-A17E-ACBD441A2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041" t="13545" r="15162" b="22013"/>
          <a:stretch/>
        </p:blipFill>
        <p:spPr>
          <a:xfrm>
            <a:off x="838200" y="1828800"/>
            <a:ext cx="10688782" cy="4855741"/>
          </a:xfrm>
        </p:spPr>
      </p:pic>
    </p:spTree>
    <p:extLst>
      <p:ext uri="{BB962C8B-B14F-4D97-AF65-F5344CB8AC3E}">
        <p14:creationId xmlns:p14="http://schemas.microsoft.com/office/powerpoint/2010/main" val="303886012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81001"/>
            <a:ext cx="8229600" cy="57451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P(Y|X) = Posterior probability for Y</a:t>
            </a:r>
          </a:p>
          <a:p>
            <a:pPr marL="0" indent="0">
              <a:buNone/>
            </a:pPr>
            <a:r>
              <a:rPr lang="en-US" dirty="0"/>
              <a:t>P(Y) = Prior Probability</a:t>
            </a:r>
          </a:p>
          <a:p>
            <a:pPr marL="0" indent="0">
              <a:buNone/>
            </a:pPr>
            <a:r>
              <a:rPr lang="en-US" dirty="0"/>
              <a:t>P(X|Y) = class conditional probability</a:t>
            </a:r>
          </a:p>
          <a:p>
            <a:pPr marL="0" indent="0">
              <a:buNone/>
            </a:pPr>
            <a:r>
              <a:rPr lang="en-US" dirty="0"/>
              <a:t>P(X)= total probability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597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Bayes theorem for classification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52313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304801"/>
            <a:ext cx="8534399" cy="564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5322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9655" y="457201"/>
                <a:ext cx="11113477" cy="56689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Suppose any test tuple comes with </a:t>
                </a:r>
              </a:p>
              <a:p>
                <a:pPr marL="0" indent="0" algn="just">
                  <a:buNone/>
                </a:pPr>
                <a:r>
                  <a:rPr lang="en-US" dirty="0"/>
                  <a:t>marital status= married we need to classify them as  defaulted borrower = yes or defaulted borrower= no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P(Defaulted borrower=No| marital status = married)</a:t>
                </a:r>
              </a:p>
              <a:p>
                <a:pPr marL="0" indent="0" algn="just">
                  <a:buNone/>
                </a:pPr>
                <a:r>
                  <a:rPr lang="en-US" dirty="0">
                    <a:sym typeface="Wingdings" pitchFamily="2" charset="2"/>
                  </a:rPr>
                  <a:t>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𝑚𝑎𝑟𝑖𝑡𝑎𝑙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𝑠𝑡𝑎𝑡𝑢𝑠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𝑚𝑎𝑟𝑟𝑖𝑒𝑑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𝑑𝑒𝑓𝑎𝑢𝑙𝑡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𝑏𝑜𝑟𝑟𝑜𝑤𝑒𝑟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𝑁𝑜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𝑋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𝑃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𝑑𝑒𝑓𝑎𝑢𝑙𝑡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𝑏𝑜𝑟𝑟𝑜𝑤𝑒𝑟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𝑁𝑜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)</m:t>
                            </m:r>
                          </m:e>
                        </m:eqArr>
                      </m:num>
                      <m:den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𝑃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𝑚𝑎𝑟𝑖𝑡𝑎𝑙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𝑚𝑎𝑟𝑟𝑖𝑒𝑑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sym typeface="Wingdings" pitchFamily="2" charset="2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sym typeface="Wingdings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sym typeface="Wingdings" pitchFamily="2" charset="2"/>
                      </a:rPr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4/7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 7/10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4/10</m:t>
                        </m:r>
                      </m:den>
                    </m:f>
                  </m:oMath>
                </a14:m>
                <a:r>
                  <a:rPr lang="en-US" dirty="0"/>
                  <a:t>= 1.00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655" y="457201"/>
                <a:ext cx="11113477" cy="5668963"/>
              </a:xfrm>
              <a:blipFill>
                <a:blip r:embed="rId2"/>
                <a:stretch>
                  <a:fillRect l="-1152" t="-1720" r="-10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62004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9655" y="533401"/>
                <a:ext cx="10832123" cy="55927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P(Defaulted borrower=Yes| marital status = married)</a:t>
                </a:r>
              </a:p>
              <a:p>
                <a:pPr marL="0" indent="0" algn="just">
                  <a:buNone/>
                </a:pPr>
                <a:r>
                  <a:rPr lang="en-US" dirty="0">
                    <a:sym typeface="Wingdings" pitchFamily="2" charset="2"/>
                  </a:rPr>
                  <a:t>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𝑚𝑎𝑟𝑖𝑡𝑎𝑙</m:t>
                                </m:r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𝑠𝑡𝑎𝑡𝑢𝑠</m:t>
                                </m:r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𝑚𝑎𝑟𝑟𝑖𝑒𝑑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𝑑𝑒𝑓𝑎𝑢𝑙𝑡</m:t>
                                </m:r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  <a:sym typeface="Wingdings" pitchFamily="2" charset="2"/>
                                  </a:rPr>
                                  <m:t>𝑏𝑜𝑟𝑟𝑜𝑤𝑒𝑟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/>
                                    <a:sym typeface="Wingdings" pitchFamily="2" charset="2"/>
                                  </a:rPr>
                                  <m:t>𝑦𝑒𝑠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𝑃</m:t>
                            </m:r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(</m:t>
                            </m:r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𝑑𝑒𝑓𝑎𝑢𝑙𝑡</m:t>
                            </m:r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𝑏𝑜𝑟𝑟𝑜𝑤𝑒𝑟</m:t>
                            </m:r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/>
                                <a:sym typeface="Wingdings" pitchFamily="2" charset="2"/>
                              </a:rPr>
                              <m:t>𝑦𝑒𝑠</m:t>
                            </m:r>
                            <m:r>
                              <a:rPr lang="en-US" i="1">
                                <a:latin typeface="Cambria Math"/>
                                <a:sym typeface="Wingdings" pitchFamily="2" charset="2"/>
                              </a:rPr>
                              <m:t>)</m:t>
                            </m:r>
                          </m:e>
                        </m:eqArr>
                      </m:num>
                      <m:den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𝑃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𝑚𝑎𝑟𝑖𝑡𝑎𝑙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𝑠𝑡𝑎𝑡𝑢𝑠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=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𝑚𝑎𝑟𝑟𝑖𝑒𝑑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sym typeface="Wingdings" pitchFamily="2" charset="2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sym typeface="Wingdings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sym typeface="Wingdings" pitchFamily="2" charset="2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0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/</m:t>
                        </m:r>
                        <m:r>
                          <a:rPr lang="en-US" b="0" i="1" smtClean="0">
                            <a:latin typeface="Cambria Math"/>
                            <a:sym typeface="Wingdings" pitchFamily="2" charset="2"/>
                          </a:rPr>
                          <m:t>3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𝑋</m:t>
                        </m:r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 3/10</m:t>
                        </m:r>
                      </m:num>
                      <m:den>
                        <m:r>
                          <a:rPr lang="en-US" i="1">
                            <a:latin typeface="Cambria Math"/>
                            <a:sym typeface="Wingdings" pitchFamily="2" charset="2"/>
                          </a:rPr>
                          <m:t>4/10</m:t>
                        </m:r>
                      </m:den>
                    </m:f>
                  </m:oMath>
                </a14:m>
                <a:r>
                  <a:rPr lang="en-US" dirty="0"/>
                  <a:t>= 0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655" y="533401"/>
                <a:ext cx="10832123" cy="5592763"/>
              </a:xfrm>
              <a:blipFill>
                <a:blip r:embed="rId2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59255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437" y="381001"/>
            <a:ext cx="11183815" cy="574516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Conclusion:</a:t>
            </a:r>
          </a:p>
          <a:p>
            <a:pPr marL="0" indent="0" algn="just">
              <a:buNone/>
            </a:pPr>
            <a:r>
              <a:rPr lang="en-US" dirty="0"/>
              <a:t>Since P(Defaulted borrower=No| marital status = married) &gt; P(Defaulted borrower=Yes| marital status = married)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test tuple with attribute marital status=married is classified as default borrower=No</a:t>
            </a:r>
          </a:p>
        </p:txBody>
      </p:sp>
    </p:spTree>
    <p:extLst>
      <p:ext uri="{BB962C8B-B14F-4D97-AF65-F5344CB8AC3E}">
        <p14:creationId xmlns:p14="http://schemas.microsoft.com/office/powerpoint/2010/main" val="204264285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360F-0BDF-49D3-B794-263FAA6D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Naive Bayes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6E6F6-9B2B-4CC7-8CE6-70B81BDF9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 naive Bayes classifier estimates the class-conditional probability by assuming that the attributes are conditionally independent.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A1A8E-154E-4954-87A8-19CA24A014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31" t="60723" r="20846" b="26758"/>
          <a:stretch/>
        </p:blipFill>
        <p:spPr>
          <a:xfrm>
            <a:off x="562657" y="3044692"/>
            <a:ext cx="10791143" cy="165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7433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34A0DC-73B8-4906-BEBA-B61FDBBD6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859" t="52770" r="14798" b="38501"/>
          <a:stretch/>
        </p:blipFill>
        <p:spPr>
          <a:xfrm>
            <a:off x="323557" y="2022230"/>
            <a:ext cx="11718388" cy="1406770"/>
          </a:xfrm>
        </p:spPr>
      </p:pic>
    </p:spTree>
    <p:extLst>
      <p:ext uri="{BB962C8B-B14F-4D97-AF65-F5344CB8AC3E}">
        <p14:creationId xmlns:p14="http://schemas.microsoft.com/office/powerpoint/2010/main" val="94295463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E894C790-95FB-4191-BCB9-7379683CF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83" y="104777"/>
            <a:ext cx="10729292" cy="598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5455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8ABEC6-26F1-4A82-BCF0-871A6B217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486" t="9108" r="12981" b="24048"/>
          <a:stretch/>
        </p:blipFill>
        <p:spPr>
          <a:xfrm>
            <a:off x="1662330" y="96983"/>
            <a:ext cx="8797852" cy="6573814"/>
          </a:xfrm>
        </p:spPr>
      </p:pic>
    </p:spTree>
    <p:extLst>
      <p:ext uri="{BB962C8B-B14F-4D97-AF65-F5344CB8AC3E}">
        <p14:creationId xmlns:p14="http://schemas.microsoft.com/office/powerpoint/2010/main" val="282078550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33400"/>
            <a:ext cx="8032266" cy="5181600"/>
          </a:xfrm>
        </p:spPr>
      </p:pic>
    </p:spTree>
    <p:extLst>
      <p:ext uri="{BB962C8B-B14F-4D97-AF65-F5344CB8AC3E}">
        <p14:creationId xmlns:p14="http://schemas.microsoft.com/office/powerpoint/2010/main" val="96332401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361B96-8E05-409C-91B3-D90C7843A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95" t="4600" r="12617" b="11667"/>
          <a:stretch/>
        </p:blipFill>
        <p:spPr>
          <a:xfrm>
            <a:off x="838200" y="365124"/>
            <a:ext cx="9670366" cy="6245947"/>
          </a:xfrm>
        </p:spPr>
      </p:pic>
    </p:spTree>
    <p:extLst>
      <p:ext uri="{BB962C8B-B14F-4D97-AF65-F5344CB8AC3E}">
        <p14:creationId xmlns:p14="http://schemas.microsoft.com/office/powerpoint/2010/main" val="110104874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1D0F-79AC-4254-810F-895D98E5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Estimating predictive accuracy of classification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32873-F51D-4A37-832F-F76263223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accuracy of a classification method is the ability of the method to correctly determine the class of a randomly selected data.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05813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381000"/>
            <a:ext cx="10888394" cy="6096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following are the different methods for estimating the accuracy of a method.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i="1" dirty="0"/>
              <a:t>Holdout method(Test sample method):</a:t>
            </a:r>
          </a:p>
          <a:p>
            <a:pPr algn="just"/>
            <a:r>
              <a:rPr lang="en-US" dirty="0"/>
              <a:t>In this method, the given data are randomly partitioned into two independent sets, a </a:t>
            </a:r>
            <a:r>
              <a:rPr lang="en-US" i="1" dirty="0"/>
              <a:t>training set </a:t>
            </a:r>
            <a:r>
              <a:rPr lang="en-US" dirty="0"/>
              <a:t>and a </a:t>
            </a:r>
            <a:r>
              <a:rPr lang="en-US" i="1" dirty="0"/>
              <a:t>test set</a:t>
            </a:r>
            <a:r>
              <a:rPr lang="en-US" dirty="0"/>
              <a:t>. Typically, two-thirds of the data are allocated to the training set, and the remaining one-third is allocated to the test set. The training set is used to derive the model. The model’s accuracy is then estimated with the test set 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04266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145" y="574965"/>
            <a:ext cx="8850175" cy="4592781"/>
          </a:xfrm>
        </p:spPr>
      </p:pic>
    </p:spTree>
    <p:extLst>
      <p:ext uri="{BB962C8B-B14F-4D97-AF65-F5344CB8AC3E}">
        <p14:creationId xmlns:p14="http://schemas.microsoft.com/office/powerpoint/2010/main" val="15246089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858" y="609601"/>
            <a:ext cx="10466364" cy="551656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1" dirty="0"/>
              <a:t>Random sub-sampling method:</a:t>
            </a:r>
          </a:p>
          <a:p>
            <a:pPr algn="just"/>
            <a:r>
              <a:rPr lang="en-US" b="1" dirty="0"/>
              <a:t>Random subsampling </a:t>
            </a:r>
            <a:r>
              <a:rPr lang="en-US" dirty="0"/>
              <a:t>is a variation of the holdout method in which the holdout method is repeated </a:t>
            </a:r>
            <a:r>
              <a:rPr lang="en-US" i="1" dirty="0"/>
              <a:t>k </a:t>
            </a:r>
            <a:r>
              <a:rPr lang="en-US" dirty="0"/>
              <a:t>times. </a:t>
            </a:r>
          </a:p>
          <a:p>
            <a:pPr algn="just"/>
            <a:r>
              <a:rPr lang="en-US" dirty="0"/>
              <a:t>The overall accuracy estimate is taken as the average of the accuracies obtained from each iteration.</a:t>
            </a:r>
          </a:p>
        </p:txBody>
      </p:sp>
    </p:spTree>
    <p:extLst>
      <p:ext uri="{BB962C8B-B14F-4D97-AF65-F5344CB8AC3E}">
        <p14:creationId xmlns:p14="http://schemas.microsoft.com/office/powerpoint/2010/main" val="417468775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791" y="304800"/>
            <a:ext cx="10691446" cy="6248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i="1" dirty="0"/>
              <a:t>K-fold cross validation method:</a:t>
            </a:r>
          </a:p>
          <a:p>
            <a:pPr marL="0" indent="0" algn="just">
              <a:buNone/>
            </a:pPr>
            <a:endParaRPr lang="en-US" b="1" i="1" dirty="0"/>
          </a:p>
          <a:p>
            <a:pPr algn="just"/>
            <a:r>
              <a:rPr lang="en-US" dirty="0"/>
              <a:t>Training and testing is performed </a:t>
            </a:r>
            <a:r>
              <a:rPr lang="en-US" i="1" dirty="0"/>
              <a:t>k </a:t>
            </a:r>
            <a:r>
              <a:rPr lang="en-US" dirty="0"/>
              <a:t>times.</a:t>
            </a:r>
          </a:p>
          <a:p>
            <a:pPr algn="just"/>
            <a:r>
              <a:rPr lang="en-US" dirty="0"/>
              <a:t>In the first iteration, subsets </a:t>
            </a:r>
            <a:r>
              <a:rPr lang="en-US" i="1" dirty="0"/>
              <a:t>D</a:t>
            </a:r>
            <a:r>
              <a:rPr lang="en-US" dirty="0"/>
              <a:t>2, … , </a:t>
            </a:r>
            <a:r>
              <a:rPr lang="en-US" i="1" dirty="0" err="1"/>
              <a:t>Dk</a:t>
            </a:r>
            <a:r>
              <a:rPr lang="en-US" i="1" dirty="0"/>
              <a:t> </a:t>
            </a:r>
            <a:r>
              <a:rPr lang="en-US" dirty="0"/>
              <a:t>collectively serve as the training set to obtain a first model, which is tested on </a:t>
            </a:r>
            <a:r>
              <a:rPr lang="en-US" i="1" dirty="0"/>
              <a:t>D</a:t>
            </a:r>
            <a:r>
              <a:rPr lang="en-US" dirty="0"/>
              <a:t>1; the second iteration is trained on subsets </a:t>
            </a:r>
            <a:r>
              <a:rPr lang="en-US" i="1" dirty="0"/>
              <a:t>D</a:t>
            </a:r>
            <a:r>
              <a:rPr lang="en-US" dirty="0"/>
              <a:t>1, </a:t>
            </a:r>
            <a:r>
              <a:rPr lang="en-US" i="1" dirty="0"/>
              <a:t>D</a:t>
            </a:r>
            <a:r>
              <a:rPr lang="en-US" dirty="0"/>
              <a:t>3, … , </a:t>
            </a:r>
            <a:r>
              <a:rPr lang="en-US" i="1" dirty="0" err="1"/>
              <a:t>Dk</a:t>
            </a:r>
            <a:r>
              <a:rPr lang="en-US" i="1" dirty="0"/>
              <a:t> </a:t>
            </a:r>
            <a:r>
              <a:rPr lang="en-US" dirty="0"/>
              <a:t>and tested on </a:t>
            </a:r>
            <a:r>
              <a:rPr lang="en-US" i="1" dirty="0"/>
              <a:t>D</a:t>
            </a:r>
            <a:r>
              <a:rPr lang="en-US" dirty="0"/>
              <a:t>2; and so on.</a:t>
            </a:r>
          </a:p>
          <a:p>
            <a:pPr algn="just"/>
            <a:r>
              <a:rPr lang="en-US" dirty="0"/>
              <a:t>The accuracy estimate is the overall number of correct classifications from the </a:t>
            </a:r>
            <a:r>
              <a:rPr lang="en-US" i="1" dirty="0"/>
              <a:t>k </a:t>
            </a:r>
            <a:r>
              <a:rPr lang="en-US" dirty="0"/>
              <a:t>iterations, divided by the total number of tuples in the initial data.</a:t>
            </a:r>
          </a:p>
        </p:txBody>
      </p:sp>
    </p:spTree>
    <p:extLst>
      <p:ext uri="{BB962C8B-B14F-4D97-AF65-F5344CB8AC3E}">
        <p14:creationId xmlns:p14="http://schemas.microsoft.com/office/powerpoint/2010/main" val="206432960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i="1" dirty="0"/>
              <a:t>Boot strap method:</a:t>
            </a:r>
          </a:p>
          <a:p>
            <a:pPr marL="0" indent="0" algn="just">
              <a:buNone/>
            </a:pPr>
            <a:r>
              <a:rPr lang="en-US" dirty="0"/>
              <a:t>In this method, given a data set of size n a bootstrap sample is randomly selected uniformly with replacement(a sample may be selected more than once) and build a model. 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8319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Other evaluation criteria for classification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10515599" cy="4876800"/>
          </a:xfrm>
        </p:spPr>
        <p:txBody>
          <a:bodyPr/>
          <a:lstStyle/>
          <a:p>
            <a:pPr marL="0" indent="0" algn="just">
              <a:buNone/>
            </a:pPr>
            <a:endParaRPr lang="en-US" b="1" i="1" dirty="0"/>
          </a:p>
          <a:p>
            <a:pPr marL="0" indent="0" algn="just">
              <a:buNone/>
            </a:pPr>
            <a:r>
              <a:rPr lang="en-US" b="1" i="1" dirty="0"/>
              <a:t>Speed:</a:t>
            </a:r>
          </a:p>
          <a:p>
            <a:pPr marL="0" indent="0" algn="just">
              <a:buNone/>
            </a:pPr>
            <a:r>
              <a:rPr lang="en-US" dirty="0"/>
              <a:t>Speed involves not just the time or computation cost of constructing a model it also includes the time required to learn to use the model.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i="1" dirty="0"/>
              <a:t>Robustness:</a:t>
            </a:r>
          </a:p>
          <a:p>
            <a:pPr marL="0" indent="0" algn="just">
              <a:buNone/>
            </a:pPr>
            <a:r>
              <a:rPr lang="en-US" dirty="0"/>
              <a:t>Even if there are some data error, the classification method should be able to produce good results.</a:t>
            </a:r>
          </a:p>
        </p:txBody>
      </p:sp>
    </p:spTree>
    <p:extLst>
      <p:ext uri="{BB962C8B-B14F-4D97-AF65-F5344CB8AC3E}">
        <p14:creationId xmlns:p14="http://schemas.microsoft.com/office/powerpoint/2010/main" val="157334969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5587" y="457201"/>
                <a:ext cx="10733649" cy="56689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b="1" i="1" dirty="0"/>
                  <a:t>Scalability:</a:t>
                </a:r>
              </a:p>
              <a:p>
                <a:pPr marL="0" indent="0" algn="just">
                  <a:buNone/>
                </a:pPr>
                <a:r>
                  <a:rPr lang="en-US" dirty="0"/>
                  <a:t>As the data set increases the method should work efficiently for large data bases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b="1" i="1" dirty="0"/>
                  <a:t>Flexibility:</a:t>
                </a:r>
              </a:p>
              <a:p>
                <a:pPr marL="0" indent="0" algn="just">
                  <a:buNone/>
                </a:pPr>
                <a:r>
                  <a:rPr lang="en-US" dirty="0"/>
                  <a:t>Flexible enough for small modifications on the training data set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b="1" i="1" dirty="0"/>
                  <a:t>Time complexity:</a:t>
                </a:r>
              </a:p>
              <a:p>
                <a:pPr marL="0" indent="0" algn="just">
                  <a:buNone/>
                </a:pPr>
                <a:r>
                  <a:rPr lang="en-US" dirty="0"/>
                  <a:t>Should not be exponential nor factorial. It should be in terms of log or linear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𝑁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5587" y="457201"/>
                <a:ext cx="10733649" cy="5668963"/>
              </a:xfrm>
              <a:blipFill>
                <a:blip r:embed="rId2"/>
                <a:stretch>
                  <a:fillRect l="-1136" t="-1720" r="-11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89966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AF750-EC0A-41ED-AA24-C4C907F5D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Interpretability</a:t>
            </a:r>
            <a:r>
              <a:rPr lang="en-IN" dirty="0"/>
              <a:t> </a:t>
            </a:r>
          </a:p>
          <a:p>
            <a:pPr marL="0" indent="0" algn="just">
              <a:buNone/>
            </a:pPr>
            <a:r>
              <a:rPr lang="en-US" dirty="0"/>
              <a:t>It is desirable that the end-user be able to understand and gain insight from the results produced by the classification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23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4198</TotalTime>
  <Words>3180</Words>
  <Application>Microsoft Office PowerPoint</Application>
  <PresentationFormat>Widescreen</PresentationFormat>
  <Paragraphs>472</Paragraphs>
  <Slides>167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167</vt:i4>
      </vt:variant>
    </vt:vector>
  </HeadingPairs>
  <TitlesOfParts>
    <vt:vector size="173" baseType="lpstr">
      <vt:lpstr>Arial</vt:lpstr>
      <vt:lpstr>Calibri</vt:lpstr>
      <vt:lpstr>Calibri Light</vt:lpstr>
      <vt:lpstr>Cambria Math</vt:lpstr>
      <vt:lpstr>Wingdings</vt:lpstr>
      <vt:lpstr>Office Theme</vt:lpstr>
      <vt:lpstr>Classification</vt:lpstr>
      <vt:lpstr>Classification</vt:lpstr>
      <vt:lpstr>Examples</vt:lpstr>
      <vt:lpstr>Classification-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Illustration of Classification model</vt:lpstr>
      <vt:lpstr>Confusion matrix</vt:lpstr>
      <vt:lpstr>PowerPoint Presentation</vt:lpstr>
      <vt:lpstr>PowerPoint Presentation</vt:lpstr>
      <vt:lpstr>PowerPoint Presentation</vt:lpstr>
      <vt:lpstr>Types of Classifiers</vt:lpstr>
      <vt:lpstr>Decision Tree Induction</vt:lpstr>
      <vt:lpstr>PowerPoint Presentation</vt:lpstr>
      <vt:lpstr>PowerPoint Presentation</vt:lpstr>
      <vt:lpstr>PowerPoint Presentation</vt:lpstr>
      <vt:lpstr>PowerPoint Presentation</vt:lpstr>
      <vt:lpstr>How to build a decision tree</vt:lpstr>
      <vt:lpstr>PowerPoint Presentation</vt:lpstr>
      <vt:lpstr>PowerPoint Presentation</vt:lpstr>
      <vt:lpstr>PowerPoint Presentation</vt:lpstr>
      <vt:lpstr>How a decision tree works</vt:lpstr>
      <vt:lpstr>PowerPoint Presentation</vt:lpstr>
      <vt:lpstr>PowerPoint Presentation</vt:lpstr>
      <vt:lpstr>PowerPoint Presentation</vt:lpstr>
      <vt:lpstr>Hunts Algorithm</vt:lpstr>
      <vt:lpstr>PowerPoint Presentation</vt:lpstr>
      <vt:lpstr>PowerPoint Presentation</vt:lpstr>
      <vt:lpstr>Binary Attribute</vt:lpstr>
      <vt:lpstr>Nominal Attribute</vt:lpstr>
      <vt:lpstr>Ordinal Attribute</vt:lpstr>
      <vt:lpstr>Continuous Attributes</vt:lpstr>
      <vt:lpstr>Characteristics of decision tree induction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Measures for selecting the best split</vt:lpstr>
      <vt:lpstr>PowerPoint Presentation</vt:lpstr>
      <vt:lpstr>PowerPoint Presentation</vt:lpstr>
      <vt:lpstr>Example of impurity measures</vt:lpstr>
      <vt:lpstr>PowerPoint Presentation</vt:lpstr>
      <vt:lpstr>PowerPoint Presentation</vt:lpstr>
      <vt:lpstr>Example of impurity measures</vt:lpstr>
      <vt:lpstr>PowerPoint Presentation</vt:lpstr>
      <vt:lpstr>PowerPoint Presentation</vt:lpstr>
      <vt:lpstr>Example of impurity measures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Gain ratio</vt:lpstr>
      <vt:lpstr>PowerPoint Presentation</vt:lpstr>
      <vt:lpstr>Example:</vt:lpstr>
      <vt:lpstr>PowerPoint Presentation</vt:lpstr>
      <vt:lpstr>PowerPoint Presentation</vt:lpstr>
      <vt:lpstr>PowerPoint Presentation</vt:lpstr>
      <vt:lpstr>PowerPoint Presentation</vt:lpstr>
      <vt:lpstr>Exercises</vt:lpstr>
      <vt:lpstr>PowerPoint Presentation</vt:lpstr>
      <vt:lpstr>Example of impurity measures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Classifiers</vt:lpstr>
      <vt:lpstr>Nearest Neighbor classifier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 based Classifiers</vt:lpstr>
      <vt:lpstr>PowerPoint Presentation</vt:lpstr>
      <vt:lpstr>PowerPoint Presentation</vt:lpstr>
      <vt:lpstr>Rule based Classifiers(Example)</vt:lpstr>
      <vt:lpstr>PowerPoint Presentation</vt:lpstr>
      <vt:lpstr>Application of rule based classifier</vt:lpstr>
      <vt:lpstr>Rule coverage and accuracy</vt:lpstr>
      <vt:lpstr>PowerPoint Presentation</vt:lpstr>
      <vt:lpstr>Example</vt:lpstr>
      <vt:lpstr>How does a rule based classifier works</vt:lpstr>
      <vt:lpstr>PowerPoint Presentation</vt:lpstr>
      <vt:lpstr>PowerPoint Presentation</vt:lpstr>
      <vt:lpstr>PowerPoint Presentation</vt:lpstr>
      <vt:lpstr>PowerPoint Presentation</vt:lpstr>
      <vt:lpstr>Characteristics of decision tree induction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Classifiers</vt:lpstr>
      <vt:lpstr>Characteristics of a rule set</vt:lpstr>
      <vt:lpstr>PowerPoint Presentation</vt:lpstr>
      <vt:lpstr>Ordered rules</vt:lpstr>
      <vt:lpstr>Unordered rules</vt:lpstr>
      <vt:lpstr>Example</vt:lpstr>
      <vt:lpstr>Rule Ordering Scheme</vt:lpstr>
      <vt:lpstr>PowerPoint Presentation</vt:lpstr>
      <vt:lpstr>PowerPoint Presentation</vt:lpstr>
      <vt:lpstr>PowerPoint Presentation</vt:lpstr>
      <vt:lpstr>Direct method (Sequential covering)</vt:lpstr>
      <vt:lpstr>PowerPoint Presentation</vt:lpstr>
      <vt:lpstr>PowerPoint Presentation</vt:lpstr>
      <vt:lpstr>Rule based Classifiers(Example)</vt:lpstr>
      <vt:lpstr>PowerPoint Presentation</vt:lpstr>
      <vt:lpstr>PowerPoint Presentation</vt:lpstr>
      <vt:lpstr>Example of Sequential covering</vt:lpstr>
      <vt:lpstr>PowerPoint Presentation</vt:lpstr>
      <vt:lpstr>PowerPoint Presentation</vt:lpstr>
      <vt:lpstr>Rule growing</vt:lpstr>
      <vt:lpstr>General-to-Specific</vt:lpstr>
      <vt:lpstr>PowerPoint Presentation</vt:lpstr>
      <vt:lpstr>PowerPoint Presentation</vt:lpstr>
      <vt:lpstr>Specific-to-General</vt:lpstr>
      <vt:lpstr>How to build a Rule Based Classifier </vt:lpstr>
      <vt:lpstr>Indirect method</vt:lpstr>
      <vt:lpstr>PowerPoint Presentation</vt:lpstr>
      <vt:lpstr>From decision Trees to rules</vt:lpstr>
      <vt:lpstr>PowerPoint Presentation</vt:lpstr>
      <vt:lpstr>Advantages of rule based classifiers</vt:lpstr>
      <vt:lpstr>Types of Classifiers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Classifiers</vt:lpstr>
      <vt:lpstr>Bayesian classifiers</vt:lpstr>
      <vt:lpstr>Formula of Bayes theorem</vt:lpstr>
      <vt:lpstr>PowerPoint Presentation</vt:lpstr>
      <vt:lpstr>Using Bayes theorem for classification</vt:lpstr>
      <vt:lpstr>PowerPoint Presentation</vt:lpstr>
      <vt:lpstr>PowerPoint Presentation</vt:lpstr>
      <vt:lpstr>PowerPoint Presentation</vt:lpstr>
      <vt:lpstr>PowerPoint Presentation</vt:lpstr>
      <vt:lpstr>Naive Bayes classifier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Estimating predictive accuracy of classification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evaluation criteria for classification methods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</dc:title>
  <dc:creator>Raksha Puthran</dc:creator>
  <cp:lastModifiedBy>Raksha Puthran</cp:lastModifiedBy>
  <cp:revision>480</cp:revision>
  <dcterms:created xsi:type="dcterms:W3CDTF">2021-06-13T02:45:12Z</dcterms:created>
  <dcterms:modified xsi:type="dcterms:W3CDTF">2026-04-09T05:05:28Z</dcterms:modified>
</cp:coreProperties>
</file>