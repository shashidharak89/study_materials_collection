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embeddedFontLst>
    <p:embeddedFont>
      <p:font typeface="Roboto Mono" panose="00000009000000000000" pitchFamily="49"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KUMAR" userId="d4e6cd5aeb231ae6" providerId="LiveId" clId="{9F6E78E2-E4AC-4AD2-A602-E23D3A1839EE}"/>
    <pc:docChg chg="custSel modSld">
      <pc:chgData name="TARUN KUMAR" userId="d4e6cd5aeb231ae6" providerId="LiveId" clId="{9F6E78E2-E4AC-4AD2-A602-E23D3A1839EE}" dt="2026-03-04T06:02:21.503" v="20" actId="1036"/>
      <pc:docMkLst>
        <pc:docMk/>
      </pc:docMkLst>
      <pc:sldChg chg="delSp mod">
        <pc:chgData name="TARUN KUMAR" userId="d4e6cd5aeb231ae6" providerId="LiveId" clId="{9F6E78E2-E4AC-4AD2-A602-E23D3A1839EE}" dt="2026-03-03T17:21:48.835" v="18" actId="478"/>
        <pc:sldMkLst>
          <pc:docMk/>
          <pc:sldMk cId="0" sldId="262"/>
        </pc:sldMkLst>
        <pc:spChg chg="del">
          <ac:chgData name="TARUN KUMAR" userId="d4e6cd5aeb231ae6" providerId="LiveId" clId="{9F6E78E2-E4AC-4AD2-A602-E23D3A1839EE}" dt="2026-03-03T17:21:48.835" v="18" actId="478"/>
          <ac:spMkLst>
            <pc:docMk/>
            <pc:sldMk cId="0" sldId="262"/>
            <ac:spMk id="93" creationId="{00000000-0000-0000-0000-000000000000}"/>
          </ac:spMkLst>
        </pc:spChg>
      </pc:sldChg>
      <pc:sldChg chg="delSp mod">
        <pc:chgData name="TARUN KUMAR" userId="d4e6cd5aeb231ae6" providerId="LiveId" clId="{9F6E78E2-E4AC-4AD2-A602-E23D3A1839EE}" dt="2026-03-03T17:21:45.732" v="17" actId="478"/>
        <pc:sldMkLst>
          <pc:docMk/>
          <pc:sldMk cId="0" sldId="263"/>
        </pc:sldMkLst>
        <pc:spChg chg="del">
          <ac:chgData name="TARUN KUMAR" userId="d4e6cd5aeb231ae6" providerId="LiveId" clId="{9F6E78E2-E4AC-4AD2-A602-E23D3A1839EE}" dt="2026-03-03T17:21:45.732" v="17" actId="478"/>
          <ac:spMkLst>
            <pc:docMk/>
            <pc:sldMk cId="0" sldId="263"/>
            <ac:spMk id="99" creationId="{00000000-0000-0000-0000-000000000000}"/>
          </ac:spMkLst>
        </pc:spChg>
      </pc:sldChg>
      <pc:sldChg chg="delSp mod">
        <pc:chgData name="TARUN KUMAR" userId="d4e6cd5aeb231ae6" providerId="LiveId" clId="{9F6E78E2-E4AC-4AD2-A602-E23D3A1839EE}" dt="2026-03-03T17:21:42.054" v="16" actId="478"/>
        <pc:sldMkLst>
          <pc:docMk/>
          <pc:sldMk cId="0" sldId="264"/>
        </pc:sldMkLst>
        <pc:spChg chg="del">
          <ac:chgData name="TARUN KUMAR" userId="d4e6cd5aeb231ae6" providerId="LiveId" clId="{9F6E78E2-E4AC-4AD2-A602-E23D3A1839EE}" dt="2026-03-03T17:21:42.054" v="16" actId="478"/>
          <ac:spMkLst>
            <pc:docMk/>
            <pc:sldMk cId="0" sldId="264"/>
            <ac:spMk id="105" creationId="{00000000-0000-0000-0000-000000000000}"/>
          </ac:spMkLst>
        </pc:spChg>
      </pc:sldChg>
      <pc:sldChg chg="delSp modSp mod">
        <pc:chgData name="TARUN KUMAR" userId="d4e6cd5aeb231ae6" providerId="LiveId" clId="{9F6E78E2-E4AC-4AD2-A602-E23D3A1839EE}" dt="2026-03-03T17:21:30.906" v="15" actId="478"/>
        <pc:sldMkLst>
          <pc:docMk/>
          <pc:sldMk cId="0" sldId="270"/>
        </pc:sldMkLst>
        <pc:spChg chg="del">
          <ac:chgData name="TARUN KUMAR" userId="d4e6cd5aeb231ae6" providerId="LiveId" clId="{9F6E78E2-E4AC-4AD2-A602-E23D3A1839EE}" dt="2026-03-03T17:21:30.906" v="15" actId="478"/>
          <ac:spMkLst>
            <pc:docMk/>
            <pc:sldMk cId="0" sldId="270"/>
            <ac:spMk id="142" creationId="{00000000-0000-0000-0000-000000000000}"/>
          </ac:spMkLst>
        </pc:spChg>
        <pc:picChg chg="mod">
          <ac:chgData name="TARUN KUMAR" userId="d4e6cd5aeb231ae6" providerId="LiveId" clId="{9F6E78E2-E4AC-4AD2-A602-E23D3A1839EE}" dt="2026-03-03T17:21:26.429" v="14" actId="1076"/>
          <ac:picMkLst>
            <pc:docMk/>
            <pc:sldMk cId="0" sldId="270"/>
            <ac:picMk id="144" creationId="{00000000-0000-0000-0000-000000000000}"/>
          </ac:picMkLst>
        </pc:picChg>
      </pc:sldChg>
      <pc:sldChg chg="delSp modSp mod">
        <pc:chgData name="TARUN KUMAR" userId="d4e6cd5aeb231ae6" providerId="LiveId" clId="{9F6E78E2-E4AC-4AD2-A602-E23D3A1839EE}" dt="2026-03-03T17:18:29.933" v="2" actId="1076"/>
        <pc:sldMkLst>
          <pc:docMk/>
          <pc:sldMk cId="0" sldId="283"/>
        </pc:sldMkLst>
        <pc:spChg chg="del">
          <ac:chgData name="TARUN KUMAR" userId="d4e6cd5aeb231ae6" providerId="LiveId" clId="{9F6E78E2-E4AC-4AD2-A602-E23D3A1839EE}" dt="2026-03-03T17:18:26.568" v="1" actId="478"/>
          <ac:spMkLst>
            <pc:docMk/>
            <pc:sldMk cId="0" sldId="283"/>
            <ac:spMk id="227" creationId="{00000000-0000-0000-0000-000000000000}"/>
          </ac:spMkLst>
        </pc:spChg>
        <pc:spChg chg="mod">
          <ac:chgData name="TARUN KUMAR" userId="d4e6cd5aeb231ae6" providerId="LiveId" clId="{9F6E78E2-E4AC-4AD2-A602-E23D3A1839EE}" dt="2026-03-03T17:18:29.933" v="2" actId="1076"/>
          <ac:spMkLst>
            <pc:docMk/>
            <pc:sldMk cId="0" sldId="283"/>
            <ac:spMk id="228" creationId="{00000000-0000-0000-0000-000000000000}"/>
          </ac:spMkLst>
        </pc:spChg>
      </pc:sldChg>
      <pc:sldChg chg="delSp mod">
        <pc:chgData name="TARUN KUMAR" userId="d4e6cd5aeb231ae6" providerId="LiveId" clId="{9F6E78E2-E4AC-4AD2-A602-E23D3A1839EE}" dt="2026-03-03T17:18:43.234" v="3" actId="478"/>
        <pc:sldMkLst>
          <pc:docMk/>
          <pc:sldMk cId="0" sldId="284"/>
        </pc:sldMkLst>
        <pc:spChg chg="del">
          <ac:chgData name="TARUN KUMAR" userId="d4e6cd5aeb231ae6" providerId="LiveId" clId="{9F6E78E2-E4AC-4AD2-A602-E23D3A1839EE}" dt="2026-03-03T17:18:43.234" v="3" actId="478"/>
          <ac:spMkLst>
            <pc:docMk/>
            <pc:sldMk cId="0" sldId="284"/>
            <ac:spMk id="233" creationId="{00000000-0000-0000-0000-000000000000}"/>
          </ac:spMkLst>
        </pc:spChg>
      </pc:sldChg>
      <pc:sldChg chg="delSp modSp mod">
        <pc:chgData name="TARUN KUMAR" userId="d4e6cd5aeb231ae6" providerId="LiveId" clId="{9F6E78E2-E4AC-4AD2-A602-E23D3A1839EE}" dt="2026-03-03T17:19:00.435" v="7" actId="478"/>
        <pc:sldMkLst>
          <pc:docMk/>
          <pc:sldMk cId="0" sldId="285"/>
        </pc:sldMkLst>
        <pc:spChg chg="del">
          <ac:chgData name="TARUN KUMAR" userId="d4e6cd5aeb231ae6" providerId="LiveId" clId="{9F6E78E2-E4AC-4AD2-A602-E23D3A1839EE}" dt="2026-03-03T17:19:00.435" v="7" actId="478"/>
          <ac:spMkLst>
            <pc:docMk/>
            <pc:sldMk cId="0" sldId="285"/>
            <ac:spMk id="239" creationId="{00000000-0000-0000-0000-000000000000}"/>
          </ac:spMkLst>
        </pc:spChg>
        <pc:spChg chg="mod">
          <ac:chgData name="TARUN KUMAR" userId="d4e6cd5aeb231ae6" providerId="LiveId" clId="{9F6E78E2-E4AC-4AD2-A602-E23D3A1839EE}" dt="2026-03-03T17:18:58.332" v="6" actId="1076"/>
          <ac:spMkLst>
            <pc:docMk/>
            <pc:sldMk cId="0" sldId="285"/>
            <ac:spMk id="240" creationId="{00000000-0000-0000-0000-000000000000}"/>
          </ac:spMkLst>
        </pc:spChg>
      </pc:sldChg>
      <pc:sldChg chg="delSp modSp mod">
        <pc:chgData name="TARUN KUMAR" userId="d4e6cd5aeb231ae6" providerId="LiveId" clId="{9F6E78E2-E4AC-4AD2-A602-E23D3A1839EE}" dt="2026-03-04T06:02:21.503" v="20" actId="1036"/>
        <pc:sldMkLst>
          <pc:docMk/>
          <pc:sldMk cId="0" sldId="287"/>
        </pc:sldMkLst>
        <pc:spChg chg="del">
          <ac:chgData name="TARUN KUMAR" userId="d4e6cd5aeb231ae6" providerId="LiveId" clId="{9F6E78E2-E4AC-4AD2-A602-E23D3A1839EE}" dt="2026-03-03T17:19:56.753" v="10" actId="478"/>
          <ac:spMkLst>
            <pc:docMk/>
            <pc:sldMk cId="0" sldId="287"/>
            <ac:spMk id="252" creationId="{00000000-0000-0000-0000-000000000000}"/>
          </ac:spMkLst>
        </pc:spChg>
        <pc:spChg chg="mod">
          <ac:chgData name="TARUN KUMAR" userId="d4e6cd5aeb231ae6" providerId="LiveId" clId="{9F6E78E2-E4AC-4AD2-A602-E23D3A1839EE}" dt="2026-03-03T17:19:53.110" v="9" actId="1076"/>
          <ac:spMkLst>
            <pc:docMk/>
            <pc:sldMk cId="0" sldId="287"/>
            <ac:spMk id="253" creationId="{00000000-0000-0000-0000-000000000000}"/>
          </ac:spMkLst>
        </pc:spChg>
        <pc:picChg chg="mod">
          <ac:chgData name="TARUN KUMAR" userId="d4e6cd5aeb231ae6" providerId="LiveId" clId="{9F6E78E2-E4AC-4AD2-A602-E23D3A1839EE}" dt="2026-03-04T06:02:21.503" v="20" actId="1036"/>
          <ac:picMkLst>
            <pc:docMk/>
            <pc:sldMk cId="0" sldId="287"/>
            <ac:picMk id="254" creationId="{00000000-0000-0000-0000-000000000000}"/>
          </ac:picMkLst>
        </pc:picChg>
      </pc:sldChg>
      <pc:sldChg chg="delSp modSp mod">
        <pc:chgData name="TARUN KUMAR" userId="d4e6cd5aeb231ae6" providerId="LiveId" clId="{9F6E78E2-E4AC-4AD2-A602-E23D3A1839EE}" dt="2026-03-03T17:20:48.769" v="13" actId="478"/>
        <pc:sldMkLst>
          <pc:docMk/>
          <pc:sldMk cId="0" sldId="299"/>
        </pc:sldMkLst>
        <pc:spChg chg="del">
          <ac:chgData name="TARUN KUMAR" userId="d4e6cd5aeb231ae6" providerId="LiveId" clId="{9F6E78E2-E4AC-4AD2-A602-E23D3A1839EE}" dt="2026-03-03T17:20:48.769" v="13" actId="478"/>
          <ac:spMkLst>
            <pc:docMk/>
            <pc:sldMk cId="0" sldId="299"/>
            <ac:spMk id="335" creationId="{00000000-0000-0000-0000-000000000000}"/>
          </ac:spMkLst>
        </pc:spChg>
        <pc:spChg chg="mod">
          <ac:chgData name="TARUN KUMAR" userId="d4e6cd5aeb231ae6" providerId="LiveId" clId="{9F6E78E2-E4AC-4AD2-A602-E23D3A1839EE}" dt="2026-03-03T17:20:46.566" v="12" actId="27636"/>
          <ac:spMkLst>
            <pc:docMk/>
            <pc:sldMk cId="0" sldId="299"/>
            <ac:spMk id="33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e0e08f775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e0e08f77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b9203ac4d3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b9203ac4d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b9203ac4d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b9203ac4d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ae0e08f775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ae0e08f77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ae0e08f775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ae0e08f77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b86d2a894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b86d2a894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86d2a894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86d2a894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86d2a894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b86d2a894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345b6bbf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b345b6bb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4042640f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4042640f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4042640f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4042640f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b345b6bbf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b345b6bbf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b975c9276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b975c927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4042640f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b4042640f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b345b6bbf0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b345b6bbf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b4042640ff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b4042640f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b345b6bbf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b345b6bbf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b4042640ff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b4042640f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345b6bbf0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345b6bbf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b4042640ff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b4042640ff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4042640ff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b4042640ff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b345b6bbf0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b345b6bbf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b4042640ff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b4042640ff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b345b6bbf0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b345b6bbf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b345b6bbf0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b345b6bbf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bb043c27b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bb043c27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b4042640f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b4042640f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b4042640ff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b4042640ff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4067161a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b4067161a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b345b6bbf0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b345b6bbf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bc06ac5b3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bc06ac5b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b345b6bbf0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b345b6bbf0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b345b6bbf0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b345b6bbf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b345b6bbf0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b345b6bbf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b345b6bbf0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b345b6bbf0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b345b6bbf0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b345b6bbf0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b345b6bbf0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b345b6bbf0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b345b6bbf0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b345b6bbf0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b345b6bbf0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b345b6bbf0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b345b6bbf0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b345b6bbf0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b345b6bbf0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b345b6bbf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b345b6bbf0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b345b6bbf0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b345b6bbf0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b345b6bbf0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Introduction to Data Science</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Unit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What is Data Science?</a:t>
            </a:r>
            <a:endParaRPr/>
          </a:p>
        </p:txBody>
      </p:sp>
      <p:sp>
        <p:nvSpPr>
          <p:cNvPr id="61" name="Google Shape;61;p14"/>
          <p:cNvSpPr txBox="1">
            <a:spLocks noGrp="1"/>
          </p:cNvSpPr>
          <p:nvPr>
            <p:ph type="body" idx="1"/>
          </p:nvPr>
        </p:nvSpPr>
        <p:spPr>
          <a:xfrm>
            <a:off x="311700" y="907100"/>
            <a:ext cx="8520600" cy="41070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a:solidFill>
                  <a:schemeClr val="dk1"/>
                </a:solidFill>
              </a:rPr>
              <a:t>Data Science is an interdisciplinary field that involves extracting insights and knowledge from various forms of data using scientific methods, processes, algorithms, and systems. </a:t>
            </a:r>
            <a:endParaRPr>
              <a:solidFill>
                <a:schemeClr val="dk1"/>
              </a:solidFill>
            </a:endParaRPr>
          </a:p>
          <a:p>
            <a:pPr marL="0" lvl="0" indent="0" algn="just" rtl="0">
              <a:spcBef>
                <a:spcPts val="1200"/>
              </a:spcBef>
              <a:spcAft>
                <a:spcPts val="1200"/>
              </a:spcAft>
              <a:buNone/>
            </a:pPr>
            <a:r>
              <a:rPr lang="en-GB">
                <a:solidFill>
                  <a:schemeClr val="dk1"/>
                </a:solidFill>
              </a:rPr>
              <a:t>It encompasses the entire data lifecycle, from defining research goals to presenting results to stakeholders.</a:t>
            </a:r>
            <a:endParaRPr>
              <a:solidFill>
                <a:schemeClr val="dk1"/>
              </a:solidFill>
            </a:endParaRPr>
          </a:p>
        </p:txBody>
      </p:sp>
      <p:pic>
        <p:nvPicPr>
          <p:cNvPr id="62" name="Google Shape;62;p14"/>
          <p:cNvPicPr preferRelativeResize="0"/>
          <p:nvPr/>
        </p:nvPicPr>
        <p:blipFill>
          <a:blip r:embed="rId3">
            <a:alphaModFix/>
          </a:blip>
          <a:stretch>
            <a:fillRect/>
          </a:stretch>
        </p:blipFill>
        <p:spPr>
          <a:xfrm>
            <a:off x="6220050" y="2452125"/>
            <a:ext cx="2612250" cy="2472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chemeClr val="dk1"/>
              </a:buClr>
              <a:buSzPts val="1100"/>
              <a:buFont typeface="Arial"/>
              <a:buNone/>
            </a:pPr>
            <a:r>
              <a:rPr lang="en-GB" sz="2400"/>
              <a:t>Data analytics</a:t>
            </a:r>
            <a:endParaRPr sz="3400"/>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Data analytics converts raw data into actionable insights. </a:t>
            </a:r>
            <a:endParaRPr>
              <a:solidFill>
                <a:schemeClr val="dk1"/>
              </a:solidFill>
            </a:endParaRPr>
          </a:p>
          <a:p>
            <a:pPr marL="0" lvl="0" indent="0" algn="l" rtl="0">
              <a:spcBef>
                <a:spcPts val="1200"/>
              </a:spcBef>
              <a:spcAft>
                <a:spcPts val="0"/>
              </a:spcAft>
              <a:buNone/>
            </a:pPr>
            <a:r>
              <a:rPr lang="en-GB">
                <a:solidFill>
                  <a:schemeClr val="dk1"/>
                </a:solidFill>
              </a:rPr>
              <a:t>It includes a range of tools, technologies, and processes used to find trends and solve problems using data. </a:t>
            </a:r>
            <a:endParaRPr>
              <a:solidFill>
                <a:schemeClr val="dk1"/>
              </a:solidFill>
            </a:endParaRPr>
          </a:p>
          <a:p>
            <a:pPr marL="0" lvl="0" indent="0" algn="l" rtl="0">
              <a:spcBef>
                <a:spcPts val="1200"/>
              </a:spcBef>
              <a:spcAft>
                <a:spcPts val="0"/>
              </a:spcAft>
              <a:buNone/>
            </a:pPr>
            <a:r>
              <a:rPr lang="en-GB">
                <a:solidFill>
                  <a:schemeClr val="dk1"/>
                </a:solidFill>
              </a:rPr>
              <a:t>Data analytics can shape business processes, improve decision-making, and foster business growth.</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r>
              <a:rPr lang="en-GB" sz="1500" i="1"/>
              <a:t>Link: https://aws.amazon.com/what-is/data-analytics/</a:t>
            </a:r>
            <a:endParaRPr sz="1500"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1200"/>
              </a:spcAft>
              <a:buClr>
                <a:schemeClr val="dk1"/>
              </a:buClr>
              <a:buSzPts val="1100"/>
              <a:buFont typeface="Arial"/>
              <a:buNone/>
            </a:pPr>
            <a:r>
              <a:rPr lang="en-GB" sz="2400"/>
              <a:t>Business intelligence</a:t>
            </a:r>
            <a:endParaRPr sz="3400"/>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Clr>
                <a:schemeClr val="dk1"/>
              </a:buClr>
              <a:buSzPts val="1100"/>
              <a:buFont typeface="Arial"/>
              <a:buNone/>
            </a:pPr>
            <a:r>
              <a:rPr lang="en-GB">
                <a:solidFill>
                  <a:schemeClr val="dk1"/>
                </a:solidFill>
              </a:rPr>
              <a:t>Business intelligence (BI) is a set of technological processes for collecting, managing and analyzing organizational data to yield insights that inform business strategies and operations.</a:t>
            </a:r>
            <a:endParaRPr>
              <a:solidFill>
                <a:schemeClr val="dk1"/>
              </a:solidFill>
            </a:endParaRPr>
          </a:p>
          <a:p>
            <a:pPr marL="0" lvl="0" indent="0" algn="just" rtl="0">
              <a:spcBef>
                <a:spcPts val="1200"/>
              </a:spcBef>
              <a:spcAft>
                <a:spcPts val="0"/>
              </a:spcAft>
              <a:buNone/>
            </a:pPr>
            <a:r>
              <a:rPr lang="en-GB">
                <a:solidFill>
                  <a:schemeClr val="dk1"/>
                </a:solidFill>
              </a:rPr>
              <a:t>Business intelligence analysts transform raw data into meaningful insights that drive strategic decision-making within an organization. </a:t>
            </a:r>
            <a:endParaRPr>
              <a:solidFill>
                <a:schemeClr val="dk1"/>
              </a:solidFill>
            </a:endParaRPr>
          </a:p>
          <a:p>
            <a:pPr marL="0" lvl="0" indent="0" algn="just" rtl="0">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1200"/>
              </a:spcAft>
              <a:buNone/>
            </a:pPr>
            <a:r>
              <a:rPr lang="en-GB" sz="1400" i="1"/>
              <a:t>Link: https://www.ibm.com/think/topics/business-intelligence</a:t>
            </a:r>
            <a:endParaRPr sz="1400" i="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1" name="Google Shape;81;p17"/>
          <p:cNvPicPr preferRelativeResize="0"/>
          <p:nvPr/>
        </p:nvPicPr>
        <p:blipFill>
          <a:blip r:embed="rId3">
            <a:alphaModFix/>
          </a:blip>
          <a:stretch>
            <a:fillRect/>
          </a:stretch>
        </p:blipFill>
        <p:spPr>
          <a:xfrm>
            <a:off x="266925" y="445025"/>
            <a:ext cx="8565375" cy="4192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7" name="Google Shape;8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8" name="Google Shape;88;p18"/>
          <p:cNvPicPr preferRelativeResize="0"/>
          <p:nvPr/>
        </p:nvPicPr>
        <p:blipFill>
          <a:blip r:embed="rId3">
            <a:alphaModFix/>
          </a:blip>
          <a:stretch>
            <a:fillRect/>
          </a:stretch>
        </p:blipFill>
        <p:spPr>
          <a:xfrm>
            <a:off x="0" y="178594"/>
            <a:ext cx="9144000" cy="47863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9"/>
          <p:cNvSpPr txBox="1">
            <a:spLocks noGrp="1"/>
          </p:cNvSpPr>
          <p:nvPr>
            <p:ph type="body" idx="1"/>
          </p:nvPr>
        </p:nvSpPr>
        <p:spPr>
          <a:xfrm>
            <a:off x="311700" y="445025"/>
            <a:ext cx="8520600" cy="4123800"/>
          </a:xfrm>
          <a:prstGeom prst="rect">
            <a:avLst/>
          </a:prstGeom>
        </p:spPr>
        <p:txBody>
          <a:bodyPr spcFirstLastPara="1" wrap="square" lIns="91425" tIns="91425" rIns="91425" bIns="91425" anchor="t" anchorCtr="0">
            <a:normAutofit lnSpcReduction="20000"/>
          </a:bodyPr>
          <a:lstStyle/>
          <a:p>
            <a:pPr marL="0" lvl="0" indent="0" algn="l" rtl="0">
              <a:spcBef>
                <a:spcPts val="1400"/>
              </a:spcBef>
              <a:spcAft>
                <a:spcPts val="0"/>
              </a:spcAft>
              <a:buClr>
                <a:schemeClr val="dk1"/>
              </a:buClr>
              <a:buSzPts val="1100"/>
              <a:buFont typeface="Arial"/>
              <a:buNone/>
            </a:pPr>
            <a:r>
              <a:rPr lang="en-GB" b="1">
                <a:solidFill>
                  <a:schemeClr val="dk1"/>
                </a:solidFill>
              </a:rPr>
              <a:t>Real-World Example: Netflix</a:t>
            </a:r>
            <a:endParaRPr b="1">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To understand how these three fields work together, let's look at how Netflix uses each one.</a:t>
            </a:r>
            <a:endParaRPr>
              <a:solidFill>
                <a:schemeClr val="dk1"/>
              </a:solidFill>
            </a:endParaRPr>
          </a:p>
          <a:p>
            <a:pPr marL="0" lvl="0" indent="0" algn="l" rtl="0">
              <a:spcBef>
                <a:spcPts val="1200"/>
              </a:spcBef>
              <a:spcAft>
                <a:spcPts val="0"/>
              </a:spcAft>
              <a:buClr>
                <a:schemeClr val="dk1"/>
              </a:buClr>
              <a:buSzPts val="1100"/>
              <a:buFont typeface="Arial"/>
              <a:buNone/>
            </a:pPr>
            <a:r>
              <a:rPr lang="en-GB" b="1">
                <a:solidFill>
                  <a:schemeClr val="dk1"/>
                </a:solidFill>
              </a:rPr>
              <a:t>1. Business Intelligence (BI): "What happened?"</a:t>
            </a:r>
            <a:endParaRPr b="1">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BI looks at historical data to track performance. It helps executives see the "health" of the business.</a:t>
            </a:r>
            <a:endParaRPr>
              <a:solidFill>
                <a:schemeClr val="dk1"/>
              </a:solidFill>
            </a:endParaRPr>
          </a:p>
          <a:p>
            <a:pPr marL="457200" lvl="0" indent="-342900" algn="l" rtl="0">
              <a:spcBef>
                <a:spcPts val="1200"/>
              </a:spcBef>
              <a:spcAft>
                <a:spcPts val="0"/>
              </a:spcAft>
              <a:buClr>
                <a:schemeClr val="dk1"/>
              </a:buClr>
              <a:buSzPts val="1800"/>
              <a:buChar char="●"/>
            </a:pPr>
            <a:r>
              <a:rPr lang="en-GB" b="1">
                <a:solidFill>
                  <a:schemeClr val="dk1"/>
                </a:solidFill>
              </a:rPr>
              <a:t>The Question:</a:t>
            </a:r>
            <a:r>
              <a:rPr lang="en-GB">
                <a:solidFill>
                  <a:schemeClr val="dk1"/>
                </a:solidFill>
              </a:rPr>
              <a:t> "How many new subscribers did we gain last quarter in India compared to Germany?"</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The Output:</a:t>
            </a:r>
            <a:r>
              <a:rPr lang="en-GB">
                <a:solidFill>
                  <a:schemeClr val="dk1"/>
                </a:solidFill>
              </a:rPr>
              <a:t> A dashboard showing a bar chart of subscriber growth by region for Q4 2025.</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The Goal:</a:t>
            </a:r>
            <a:r>
              <a:rPr lang="en-GB">
                <a:solidFill>
                  <a:schemeClr val="dk1"/>
                </a:solidFill>
              </a:rPr>
              <a:t> To monitor business metrics (KPIs) and report on revenue and growth.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0" name="Google Shape;100;p20"/>
          <p:cNvSpPr txBox="1">
            <a:spLocks noGrp="1"/>
          </p:cNvSpPr>
          <p:nvPr>
            <p:ph type="body" idx="1"/>
          </p:nvPr>
        </p:nvSpPr>
        <p:spPr>
          <a:xfrm>
            <a:off x="311700" y="445025"/>
            <a:ext cx="8520600" cy="4123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b="1">
                <a:solidFill>
                  <a:schemeClr val="dk1"/>
                </a:solidFill>
              </a:rPr>
              <a:t>2. Data Analytics: "Why did it happen?"</a:t>
            </a:r>
            <a:endParaRPr b="1">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Analytics digs deeper into specific data to find patterns or answer specific questions. </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It usually involves a human analyst processing data to solve a problem.</a:t>
            </a:r>
            <a:endParaRPr>
              <a:solidFill>
                <a:schemeClr val="dk1"/>
              </a:solidFill>
            </a:endParaRPr>
          </a:p>
          <a:p>
            <a:pPr marL="457200" lvl="0" indent="-342900" algn="l" rtl="0">
              <a:spcBef>
                <a:spcPts val="1200"/>
              </a:spcBef>
              <a:spcAft>
                <a:spcPts val="0"/>
              </a:spcAft>
              <a:buClr>
                <a:schemeClr val="dk1"/>
              </a:buClr>
              <a:buSzPts val="1800"/>
              <a:buChar char="●"/>
            </a:pPr>
            <a:r>
              <a:rPr lang="en-GB" b="1">
                <a:solidFill>
                  <a:schemeClr val="dk1"/>
                </a:solidFill>
              </a:rPr>
              <a:t>The Question:</a:t>
            </a:r>
            <a:r>
              <a:rPr lang="en-GB">
                <a:solidFill>
                  <a:schemeClr val="dk1"/>
                </a:solidFill>
              </a:rPr>
              <a:t> "Why did subscriber churn increase by 5% last month?"</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The Output:</a:t>
            </a:r>
            <a:r>
              <a:rPr lang="en-GB">
                <a:solidFill>
                  <a:schemeClr val="dk1"/>
                </a:solidFill>
              </a:rPr>
              <a:t> An analyst discovers that users who watched a specific show were 3x more likely to unsubscribe.</a:t>
            </a:r>
            <a:endParaRPr>
              <a:solidFill>
                <a:schemeClr val="dk1"/>
              </a:solidFill>
            </a:endParaRPr>
          </a:p>
          <a:p>
            <a:pPr marL="457200" lvl="0" indent="-342900" algn="l" rtl="0">
              <a:spcBef>
                <a:spcPts val="0"/>
              </a:spcBef>
              <a:spcAft>
                <a:spcPts val="0"/>
              </a:spcAft>
              <a:buClr>
                <a:schemeClr val="dk1"/>
              </a:buClr>
              <a:buSzPts val="1800"/>
              <a:buChar char="●"/>
            </a:pPr>
            <a:r>
              <a:rPr lang="en-GB" b="1">
                <a:solidFill>
                  <a:schemeClr val="dk1"/>
                </a:solidFill>
              </a:rPr>
              <a:t>The Goal:</a:t>
            </a:r>
            <a:r>
              <a:rPr lang="en-GB">
                <a:solidFill>
                  <a:schemeClr val="dk1"/>
                </a:solidFill>
              </a:rPr>
              <a:t> To find the root cause of trends and actionable insights to improve immediate performance. </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6" name="Google Shape;106;p21"/>
          <p:cNvSpPr txBox="1">
            <a:spLocks noGrp="1"/>
          </p:cNvSpPr>
          <p:nvPr>
            <p:ph type="body" idx="1"/>
          </p:nvPr>
        </p:nvSpPr>
        <p:spPr>
          <a:xfrm>
            <a:off x="311700" y="445025"/>
            <a:ext cx="8520600" cy="41238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Clr>
                <a:schemeClr val="dk1"/>
              </a:buClr>
              <a:buSzPts val="1100"/>
              <a:buFont typeface="Arial"/>
              <a:buNone/>
            </a:pPr>
            <a:r>
              <a:rPr lang="en-GB" b="1">
                <a:solidFill>
                  <a:schemeClr val="dk1"/>
                </a:solidFill>
              </a:rPr>
              <a:t>3. Data Science: "What will happen next?"</a:t>
            </a:r>
            <a:endParaRPr b="1">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Data Science builds systems that automatically process data to predict the future or create new features. It uses algorithms rather than just human analysis.</a:t>
            </a:r>
            <a:endParaRPr>
              <a:solidFill>
                <a:schemeClr val="dk1"/>
              </a:solidFill>
            </a:endParaRPr>
          </a:p>
          <a:p>
            <a:pPr marL="457200" lvl="0" indent="-342900" algn="just" rtl="0">
              <a:spcBef>
                <a:spcPts val="1200"/>
              </a:spcBef>
              <a:spcAft>
                <a:spcPts val="0"/>
              </a:spcAft>
              <a:buClr>
                <a:schemeClr val="dk1"/>
              </a:buClr>
              <a:buSzPts val="1800"/>
              <a:buChar char="●"/>
            </a:pPr>
            <a:r>
              <a:rPr lang="en-GB" b="1">
                <a:solidFill>
                  <a:schemeClr val="dk1"/>
                </a:solidFill>
              </a:rPr>
              <a:t>The Question:</a:t>
            </a:r>
            <a:r>
              <a:rPr lang="en-GB">
                <a:solidFill>
                  <a:schemeClr val="dk1"/>
                </a:solidFill>
              </a:rPr>
              <a:t> "Which movies should we recommend to User X to ensure they don't cancel their subscription?"</a:t>
            </a:r>
            <a:endParaRPr>
              <a:solidFill>
                <a:schemeClr val="dk1"/>
              </a:solidFill>
            </a:endParaRPr>
          </a:p>
          <a:p>
            <a:pPr marL="457200" lvl="0" indent="-342900" algn="just" rtl="0">
              <a:spcBef>
                <a:spcPts val="0"/>
              </a:spcBef>
              <a:spcAft>
                <a:spcPts val="0"/>
              </a:spcAft>
              <a:buClr>
                <a:schemeClr val="dk1"/>
              </a:buClr>
              <a:buSzPts val="1800"/>
              <a:buChar char="●"/>
            </a:pPr>
            <a:r>
              <a:rPr lang="en-GB" b="1">
                <a:solidFill>
                  <a:schemeClr val="dk1"/>
                </a:solidFill>
              </a:rPr>
              <a:t>The Output:</a:t>
            </a:r>
            <a:r>
              <a:rPr lang="en-GB">
                <a:solidFill>
                  <a:schemeClr val="dk1"/>
                </a:solidFill>
              </a:rPr>
              <a:t> The </a:t>
            </a:r>
            <a:r>
              <a:rPr lang="en-GB" b="1">
                <a:solidFill>
                  <a:schemeClr val="dk1"/>
                </a:solidFill>
              </a:rPr>
              <a:t>Recommendation Engine</a:t>
            </a:r>
            <a:r>
              <a:rPr lang="en-GB">
                <a:solidFill>
                  <a:schemeClr val="dk1"/>
                </a:solidFill>
              </a:rPr>
              <a:t>. A machine learning model processes your viewing history and predicts that you are 85% likely to enjoy </a:t>
            </a:r>
            <a:r>
              <a:rPr lang="en-GB" i="1">
                <a:solidFill>
                  <a:schemeClr val="dk1"/>
                </a:solidFill>
              </a:rPr>
              <a:t>Stranger Things</a:t>
            </a:r>
            <a:r>
              <a:rPr lang="en-GB">
                <a:solidFill>
                  <a:schemeClr val="dk1"/>
                </a:solidFill>
              </a:rPr>
              <a:t>, placing it at the top of your feed.</a:t>
            </a:r>
            <a:endParaRPr>
              <a:solidFill>
                <a:schemeClr val="dk1"/>
              </a:solidFill>
            </a:endParaRPr>
          </a:p>
          <a:p>
            <a:pPr marL="457200" lvl="0" indent="-342900" algn="just" rtl="0">
              <a:spcBef>
                <a:spcPts val="0"/>
              </a:spcBef>
              <a:spcAft>
                <a:spcPts val="0"/>
              </a:spcAft>
              <a:buClr>
                <a:schemeClr val="dk1"/>
              </a:buClr>
              <a:buSzPts val="1800"/>
              <a:buChar char="●"/>
            </a:pPr>
            <a:r>
              <a:rPr lang="en-GB" b="1">
                <a:solidFill>
                  <a:schemeClr val="dk1"/>
                </a:solidFill>
              </a:rPr>
              <a:t>The Goal:</a:t>
            </a:r>
            <a:r>
              <a:rPr lang="en-GB">
                <a:solidFill>
                  <a:schemeClr val="dk1"/>
                </a:solidFill>
              </a:rPr>
              <a:t> To build predictive models and automated products (like AI) that continuously learn and improve.</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Data Science in the Big Data World</a:t>
            </a:r>
            <a:endParaRPr/>
          </a:p>
          <a:p>
            <a:pPr marL="0" lvl="0" indent="0" algn="l" rtl="0">
              <a:spcBef>
                <a:spcPts val="0"/>
              </a:spcBef>
              <a:spcAft>
                <a:spcPts val="0"/>
              </a:spcAft>
              <a:buNone/>
            </a:pPr>
            <a:endParaRPr/>
          </a:p>
        </p:txBody>
      </p:sp>
      <p:sp>
        <p:nvSpPr>
          <p:cNvPr id="112" name="Google Shape;112;p22"/>
          <p:cNvSpPr txBox="1">
            <a:spLocks noGrp="1"/>
          </p:cNvSpPr>
          <p:nvPr>
            <p:ph type="body" idx="1"/>
          </p:nvPr>
        </p:nvSpPr>
        <p:spPr>
          <a:xfrm>
            <a:off x="311700" y="976875"/>
            <a:ext cx="8520600" cy="35919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Clr>
                <a:schemeClr val="dk1"/>
              </a:buClr>
              <a:buSzPct val="61111"/>
              <a:buFont typeface="Arial"/>
              <a:buNone/>
            </a:pPr>
            <a:r>
              <a:rPr lang="en-GB">
                <a:solidFill>
                  <a:schemeClr val="dk1"/>
                </a:solidFill>
              </a:rPr>
              <a:t>In data science and big data you’ll come across many different types of data, and each of them tends to require different tools and techniques. The main categories of data are these:</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Structured</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Unstructured</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Natural language</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Machine-generated</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Graph-based</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Audio, video, and images</a:t>
            </a:r>
            <a:endParaRPr>
              <a:solidFill>
                <a:schemeClr val="dk1"/>
              </a:solidFill>
            </a:endParaRPr>
          </a:p>
          <a:p>
            <a:pPr marL="0" lvl="0" indent="0" algn="l" rtl="0">
              <a:spcBef>
                <a:spcPts val="1200"/>
              </a:spcBef>
              <a:spcAft>
                <a:spcPts val="1200"/>
              </a:spcAft>
              <a:buNone/>
            </a:pPr>
            <a:r>
              <a:rPr lang="en-GB">
                <a:solidFill>
                  <a:schemeClr val="dk1"/>
                </a:solidFill>
              </a:rPr>
              <a:t>■ Streaming</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Structured Data</a:t>
            </a:r>
            <a:endParaRPr/>
          </a:p>
        </p:txBody>
      </p:sp>
      <p:sp>
        <p:nvSpPr>
          <p:cNvPr id="118" name="Google Shape;11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Structured data is data that depends on a data model and </a:t>
            </a:r>
            <a:r>
              <a:rPr lang="en-GB">
                <a:solidFill>
                  <a:srgbClr val="FF0000"/>
                </a:solidFill>
              </a:rPr>
              <a:t>resides in a fixed field within a record. </a:t>
            </a:r>
            <a:endParaRPr>
              <a:solidFill>
                <a:srgbClr val="FF0000"/>
              </a:solidFill>
            </a:endParaRPr>
          </a:p>
          <a:p>
            <a:pPr marL="0" lvl="0" indent="0" algn="l" rtl="0">
              <a:spcBef>
                <a:spcPts val="1200"/>
              </a:spcBef>
              <a:spcAft>
                <a:spcPts val="0"/>
              </a:spcAft>
              <a:buNone/>
            </a:pPr>
            <a:r>
              <a:rPr lang="en-GB">
                <a:solidFill>
                  <a:schemeClr val="dk1"/>
                </a:solidFill>
              </a:rPr>
              <a:t>Ex:  data in tables within </a:t>
            </a:r>
            <a:r>
              <a:rPr lang="en-GB">
                <a:solidFill>
                  <a:srgbClr val="FF0000"/>
                </a:solidFill>
              </a:rPr>
              <a:t>databases or Excel files</a:t>
            </a:r>
            <a:r>
              <a:rPr lang="en-GB">
                <a:solidFill>
                  <a:schemeClr val="dk1"/>
                </a:solidFill>
              </a:rPr>
              <a:t>. </a:t>
            </a:r>
            <a:endParaRPr>
              <a:solidFill>
                <a:schemeClr val="dk1"/>
              </a:solidFill>
            </a:endParaRPr>
          </a:p>
          <a:p>
            <a:pPr marL="0" lvl="0" indent="0" algn="l" rtl="0">
              <a:spcBef>
                <a:spcPts val="1200"/>
              </a:spcBef>
              <a:spcAft>
                <a:spcPts val="0"/>
              </a:spcAft>
              <a:buNone/>
            </a:pPr>
            <a:r>
              <a:rPr lang="en-GB">
                <a:solidFill>
                  <a:srgbClr val="FF0000"/>
                </a:solidFill>
              </a:rPr>
              <a:t>SQL</a:t>
            </a:r>
            <a:r>
              <a:rPr lang="en-GB">
                <a:solidFill>
                  <a:schemeClr val="dk1"/>
                </a:solidFill>
              </a:rPr>
              <a:t>, or Structured Query Language, is the preferred way to </a:t>
            </a:r>
            <a:r>
              <a:rPr lang="en-GB">
                <a:solidFill>
                  <a:srgbClr val="FF0000"/>
                </a:solidFill>
              </a:rPr>
              <a:t>manage and query</a:t>
            </a:r>
            <a:r>
              <a:rPr lang="en-GB">
                <a:solidFill>
                  <a:schemeClr val="dk1"/>
                </a:solidFill>
              </a:rPr>
              <a:t> data that resides in databases. </a:t>
            </a:r>
            <a:endParaRPr>
              <a:solidFill>
                <a:schemeClr val="dk1"/>
              </a:solidFill>
            </a:endParaRPr>
          </a:p>
          <a:p>
            <a:pPr marL="0" lvl="0" indent="0" algn="l" rtl="0">
              <a:spcBef>
                <a:spcPts val="1200"/>
              </a:spcBef>
              <a:spcAft>
                <a:spcPts val="1200"/>
              </a:spcAft>
              <a:buNone/>
            </a:pPr>
            <a:r>
              <a:rPr lang="en-GB">
                <a:solidFill>
                  <a:schemeClr val="dk1"/>
                </a:solidFill>
              </a:rPr>
              <a:t>The world isn’t made up of structured data, though; it’s imposed upon it by humans and machines. More often, </a:t>
            </a:r>
            <a:r>
              <a:rPr lang="en-GB">
                <a:solidFill>
                  <a:srgbClr val="FF0000"/>
                </a:solidFill>
              </a:rPr>
              <a:t>data comes unstructured.</a:t>
            </a:r>
            <a:endParaRPr>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4" name="Google Shape;12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5" name="Google Shape;125;p24"/>
          <p:cNvPicPr preferRelativeResize="0"/>
          <p:nvPr/>
        </p:nvPicPr>
        <p:blipFill>
          <a:blip r:embed="rId3">
            <a:alphaModFix/>
          </a:blip>
          <a:stretch>
            <a:fillRect/>
          </a:stretch>
        </p:blipFill>
        <p:spPr>
          <a:xfrm>
            <a:off x="161925" y="471488"/>
            <a:ext cx="8820150" cy="4200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Unstructured Data</a:t>
            </a:r>
            <a:endParaRPr/>
          </a:p>
        </p:txBody>
      </p:sp>
      <p:sp>
        <p:nvSpPr>
          <p:cNvPr id="131" name="Google Shape;131;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GB">
                <a:solidFill>
                  <a:schemeClr val="dk1"/>
                </a:solidFill>
              </a:rPr>
              <a:t>Unstructured data is data that isn’t easy to fit into a data model because the </a:t>
            </a:r>
            <a:r>
              <a:rPr lang="en-GB">
                <a:solidFill>
                  <a:srgbClr val="FF0000"/>
                </a:solidFill>
              </a:rPr>
              <a:t>content is context-specific or varying</a:t>
            </a:r>
            <a:r>
              <a:rPr lang="en-GB">
                <a:solidFill>
                  <a:schemeClr val="dk1"/>
                </a:solidFill>
              </a:rPr>
              <a:t>. </a:t>
            </a:r>
            <a:endParaRPr>
              <a:solidFill>
                <a:schemeClr val="dk1"/>
              </a:solidFill>
            </a:endParaRPr>
          </a:p>
          <a:p>
            <a:pPr marL="0" lvl="0" indent="0" algn="just" rtl="0">
              <a:spcBef>
                <a:spcPts val="1200"/>
              </a:spcBef>
              <a:spcAft>
                <a:spcPts val="0"/>
              </a:spcAft>
              <a:buNone/>
            </a:pPr>
            <a:r>
              <a:rPr lang="en-GB">
                <a:solidFill>
                  <a:schemeClr val="dk1"/>
                </a:solidFill>
              </a:rPr>
              <a:t>Ex:  email.</a:t>
            </a: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Although email </a:t>
            </a:r>
            <a:r>
              <a:rPr lang="en-GB">
                <a:solidFill>
                  <a:srgbClr val="FF0000"/>
                </a:solidFill>
              </a:rPr>
              <a:t>contains structured elements</a:t>
            </a:r>
            <a:r>
              <a:rPr lang="en-GB">
                <a:solidFill>
                  <a:schemeClr val="dk1"/>
                </a:solidFill>
              </a:rPr>
              <a:t> such as the </a:t>
            </a:r>
            <a:r>
              <a:rPr lang="en-GB">
                <a:solidFill>
                  <a:srgbClr val="FF0000"/>
                </a:solidFill>
              </a:rPr>
              <a:t>sender, title, and body text</a:t>
            </a:r>
            <a:r>
              <a:rPr lang="en-GB">
                <a:solidFill>
                  <a:schemeClr val="dk1"/>
                </a:solidFill>
              </a:rPr>
              <a:t>, it’s a challenge to find the number of people who have written an  email </a:t>
            </a:r>
            <a:r>
              <a:rPr lang="en-GB">
                <a:solidFill>
                  <a:srgbClr val="FF0000"/>
                </a:solidFill>
              </a:rPr>
              <a:t>complaint about a specific employee</a:t>
            </a:r>
            <a:r>
              <a:rPr lang="en-GB">
                <a:solidFill>
                  <a:schemeClr val="dk1"/>
                </a:solidFill>
              </a:rPr>
              <a:t> because so many ways exist to refer to a person. </a:t>
            </a:r>
            <a:endParaRPr>
              <a:solidFill>
                <a:schemeClr val="dk1"/>
              </a:solidFill>
            </a:endParaRPr>
          </a:p>
          <a:p>
            <a:pPr marL="0" lvl="0" indent="0" algn="just" rtl="0">
              <a:spcBef>
                <a:spcPts val="1200"/>
              </a:spcBef>
              <a:spcAft>
                <a:spcPts val="1200"/>
              </a:spcAft>
              <a:buClr>
                <a:schemeClr val="dk1"/>
              </a:buClr>
              <a:buSzPts val="1100"/>
              <a:buFont typeface="Arial"/>
              <a:buNone/>
            </a:pPr>
            <a:r>
              <a:rPr lang="en-GB">
                <a:solidFill>
                  <a:schemeClr val="dk1"/>
                </a:solidFill>
              </a:rPr>
              <a:t>The thousands of different languages and dialects out there further complicate this.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Unstructured Data</a:t>
            </a:r>
            <a:endParaRPr/>
          </a:p>
        </p:txBody>
      </p:sp>
      <p:sp>
        <p:nvSpPr>
          <p:cNvPr id="137" name="Google Shape;137;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a:solidFill>
                  <a:schemeClr val="dk1"/>
                </a:solidFill>
              </a:rPr>
              <a:t>Unstructured data is data that isn’t easy to fit into a data model because the </a:t>
            </a:r>
            <a:r>
              <a:rPr lang="en-GB">
                <a:solidFill>
                  <a:srgbClr val="FF0000"/>
                </a:solidFill>
              </a:rPr>
              <a:t>content is context-specific or varying</a:t>
            </a:r>
            <a:r>
              <a:rPr lang="en-GB">
                <a:solidFill>
                  <a:schemeClr val="dk1"/>
                </a:solidFill>
              </a:rPr>
              <a:t>. </a:t>
            </a:r>
            <a:endParaRPr>
              <a:solidFill>
                <a:schemeClr val="dk1"/>
              </a:solidFill>
            </a:endParaRPr>
          </a:p>
          <a:p>
            <a:pPr marL="0" lvl="0" indent="0" algn="just" rtl="0">
              <a:spcBef>
                <a:spcPts val="1200"/>
              </a:spcBef>
              <a:spcAft>
                <a:spcPts val="0"/>
              </a:spcAft>
              <a:buNone/>
            </a:pPr>
            <a:r>
              <a:rPr lang="en-GB">
                <a:solidFill>
                  <a:schemeClr val="dk1"/>
                </a:solidFill>
              </a:rPr>
              <a:t>Ex:  email.</a:t>
            </a:r>
            <a:endParaRPr>
              <a:solidFill>
                <a:schemeClr val="dk1"/>
              </a:solidFill>
            </a:endParaRPr>
          </a:p>
          <a:p>
            <a:pPr marL="0" lvl="0" indent="0" algn="just" rtl="0">
              <a:spcBef>
                <a:spcPts val="1200"/>
              </a:spcBef>
              <a:spcAft>
                <a:spcPts val="0"/>
              </a:spcAft>
              <a:buClr>
                <a:schemeClr val="dk1"/>
              </a:buClr>
              <a:buSzPts val="1100"/>
              <a:buFont typeface="Arial"/>
              <a:buNone/>
            </a:pPr>
            <a:endParaRPr>
              <a:solidFill>
                <a:schemeClr val="dk1"/>
              </a:solidFill>
            </a:endParaRPr>
          </a:p>
          <a:p>
            <a:pPr marL="0" lvl="0" indent="0" algn="just" rtl="0">
              <a:spcBef>
                <a:spcPts val="1200"/>
              </a:spcBef>
              <a:spcAft>
                <a:spcPts val="1200"/>
              </a:spcAft>
              <a:buClr>
                <a:schemeClr val="dk1"/>
              </a:buClr>
              <a:buSzPts val="1100"/>
              <a:buFont typeface="Arial"/>
              <a:buNone/>
            </a:pPr>
            <a:r>
              <a:rPr lang="en-GB">
                <a:solidFill>
                  <a:schemeClr val="dk1"/>
                </a:solidFill>
              </a:rPr>
              <a:t>The thousands of different languages and dialects out there further complicate this.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3" name="Google Shape;143;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4" name="Google Shape;144;p27"/>
          <p:cNvPicPr preferRelativeResize="0"/>
          <p:nvPr/>
        </p:nvPicPr>
        <p:blipFill>
          <a:blip r:embed="rId3">
            <a:alphaModFix/>
          </a:blip>
          <a:stretch>
            <a:fillRect/>
          </a:stretch>
        </p:blipFill>
        <p:spPr>
          <a:xfrm>
            <a:off x="311700" y="548450"/>
            <a:ext cx="8520599" cy="4046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Natural Language</a:t>
            </a:r>
            <a:endParaRPr/>
          </a:p>
        </p:txBody>
      </p:sp>
      <p:sp>
        <p:nvSpPr>
          <p:cNvPr id="150" name="Google Shape;150;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Clr>
                <a:schemeClr val="dk1"/>
              </a:buClr>
              <a:buSzPts val="1100"/>
              <a:buFont typeface="Arial"/>
              <a:buNone/>
            </a:pPr>
            <a:r>
              <a:rPr lang="en-GB">
                <a:solidFill>
                  <a:schemeClr val="dk1"/>
                </a:solidFill>
              </a:rPr>
              <a:t>Natural language is a </a:t>
            </a:r>
            <a:r>
              <a:rPr lang="en-GB">
                <a:solidFill>
                  <a:srgbClr val="FF0000"/>
                </a:solidFill>
              </a:rPr>
              <a:t>special type of unstructured data</a:t>
            </a:r>
            <a:r>
              <a:rPr lang="en-GB">
                <a:solidFill>
                  <a:schemeClr val="dk1"/>
                </a:solidFill>
              </a:rPr>
              <a:t>; it’s challenging to process because it requires</a:t>
            </a:r>
            <a:r>
              <a:rPr lang="en-GB">
                <a:solidFill>
                  <a:srgbClr val="FF0000"/>
                </a:solidFill>
              </a:rPr>
              <a:t> knowledge of specific data science techniques and linguistics.</a:t>
            </a:r>
            <a:endParaRPr>
              <a:solidFill>
                <a:srgbClr val="FF0000"/>
              </a:solidFill>
            </a:endParaRPr>
          </a:p>
          <a:p>
            <a:pPr marL="0" lvl="0" indent="0" algn="just" rtl="0">
              <a:spcBef>
                <a:spcPts val="1200"/>
              </a:spcBef>
              <a:spcAft>
                <a:spcPts val="0"/>
              </a:spcAft>
              <a:buNone/>
            </a:pPr>
            <a:r>
              <a:rPr lang="en-GB">
                <a:solidFill>
                  <a:schemeClr val="dk1"/>
                </a:solidFill>
              </a:rPr>
              <a:t>The natural language processing community has had success in </a:t>
            </a:r>
            <a:r>
              <a:rPr lang="en-GB">
                <a:solidFill>
                  <a:srgbClr val="FF0000"/>
                </a:solidFill>
              </a:rPr>
              <a:t>entity recognition, topic recognition, summarization, text completion, and sentiment analysis,</a:t>
            </a:r>
            <a:r>
              <a:rPr lang="en-GB">
                <a:solidFill>
                  <a:schemeClr val="dk1"/>
                </a:solidFill>
              </a:rPr>
              <a:t> but </a:t>
            </a:r>
            <a:r>
              <a:rPr lang="en-GB">
                <a:solidFill>
                  <a:srgbClr val="FF0000"/>
                </a:solidFill>
              </a:rPr>
              <a:t>models trained in one domain don’t generalize</a:t>
            </a:r>
            <a:r>
              <a:rPr lang="en-GB">
                <a:solidFill>
                  <a:schemeClr val="dk1"/>
                </a:solidFill>
              </a:rPr>
              <a:t> well to other domains. </a:t>
            </a:r>
            <a:endParaRPr>
              <a:solidFill>
                <a:schemeClr val="dk1"/>
              </a:solidFill>
            </a:endParaRPr>
          </a:p>
          <a:p>
            <a:pPr marL="0" lvl="0" indent="0" algn="just" rtl="0">
              <a:spcBef>
                <a:spcPts val="1200"/>
              </a:spcBef>
              <a:spcAft>
                <a:spcPts val="1200"/>
              </a:spcAft>
              <a:buNone/>
            </a:pP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6" name="Google Shape;156;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7" name="Google Shape;157;p29"/>
          <p:cNvPicPr preferRelativeResize="0"/>
          <p:nvPr/>
        </p:nvPicPr>
        <p:blipFill>
          <a:blip r:embed="rId3">
            <a:alphaModFix/>
          </a:blip>
          <a:stretch>
            <a:fillRect/>
          </a:stretch>
        </p:blipFill>
        <p:spPr>
          <a:xfrm>
            <a:off x="311700" y="445025"/>
            <a:ext cx="8520599" cy="4331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Machine Generated</a:t>
            </a:r>
            <a:endParaRPr/>
          </a:p>
        </p:txBody>
      </p:sp>
      <p:sp>
        <p:nvSpPr>
          <p:cNvPr id="163" name="Google Shape;163;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a:solidFill>
                  <a:schemeClr val="dk1"/>
                </a:solidFill>
              </a:rPr>
              <a:t>Machine-generated data is </a:t>
            </a:r>
            <a:r>
              <a:rPr lang="en-GB">
                <a:solidFill>
                  <a:srgbClr val="FF0000"/>
                </a:solidFill>
              </a:rPr>
              <a:t>information that’s automatically created by a computer</a:t>
            </a:r>
            <a:r>
              <a:rPr lang="en-GB">
                <a:solidFill>
                  <a:schemeClr val="dk1"/>
                </a:solidFill>
              </a:rPr>
              <a:t>, </a:t>
            </a:r>
            <a:r>
              <a:rPr lang="en-GB">
                <a:solidFill>
                  <a:srgbClr val="FF0000"/>
                </a:solidFill>
              </a:rPr>
              <a:t>process, application, or other machine without human intervention</a:t>
            </a:r>
            <a:r>
              <a:rPr lang="en-GB">
                <a:solidFill>
                  <a:schemeClr val="dk1"/>
                </a:solidFill>
              </a:rPr>
              <a:t>. </a:t>
            </a:r>
            <a:endParaRPr>
              <a:solidFill>
                <a:schemeClr val="dk1"/>
              </a:solidFill>
            </a:endParaRPr>
          </a:p>
          <a:p>
            <a:pPr marL="0" lvl="0" indent="0" algn="just" rtl="0">
              <a:spcBef>
                <a:spcPts val="1200"/>
              </a:spcBef>
              <a:spcAft>
                <a:spcPts val="0"/>
              </a:spcAft>
              <a:buNone/>
            </a:pPr>
            <a:r>
              <a:rPr lang="en-GB">
                <a:solidFill>
                  <a:schemeClr val="dk1"/>
                </a:solidFill>
              </a:rPr>
              <a:t>The analysis of machine data relies on highly scalable tools, due to its high volume and speed. </a:t>
            </a: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Examples of machine data are </a:t>
            </a:r>
            <a:r>
              <a:rPr lang="en-GB">
                <a:solidFill>
                  <a:srgbClr val="FF0000"/>
                </a:solidFill>
              </a:rPr>
              <a:t>web server logs</a:t>
            </a:r>
            <a:r>
              <a:rPr lang="en-GB">
                <a:solidFill>
                  <a:schemeClr val="dk1"/>
                </a:solidFill>
              </a:rPr>
              <a:t>, </a:t>
            </a:r>
            <a:r>
              <a:rPr lang="en-GB">
                <a:solidFill>
                  <a:srgbClr val="FF0000"/>
                </a:solidFill>
              </a:rPr>
              <a:t>call detail records</a:t>
            </a:r>
            <a:r>
              <a:rPr lang="en-GB">
                <a:solidFill>
                  <a:schemeClr val="dk1"/>
                </a:solidFill>
              </a:rPr>
              <a:t>, </a:t>
            </a:r>
            <a:r>
              <a:rPr lang="en-GB">
                <a:solidFill>
                  <a:srgbClr val="FF0000"/>
                </a:solidFill>
              </a:rPr>
              <a:t>network event logs, and telemetry</a:t>
            </a:r>
            <a:r>
              <a:rPr lang="en-GB">
                <a:solidFill>
                  <a:schemeClr val="dk1"/>
                </a:solidFill>
              </a:rPr>
              <a:t>.</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9" name="Google Shape;16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0" name="Google Shape;170;p31"/>
          <p:cNvPicPr preferRelativeResize="0"/>
          <p:nvPr/>
        </p:nvPicPr>
        <p:blipFill>
          <a:blip r:embed="rId3">
            <a:alphaModFix/>
          </a:blip>
          <a:stretch>
            <a:fillRect/>
          </a:stretch>
        </p:blipFill>
        <p:spPr>
          <a:xfrm>
            <a:off x="311700" y="386500"/>
            <a:ext cx="8520602" cy="42515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Graph Based, Audio, Videos,</a:t>
            </a:r>
            <a:endParaRPr/>
          </a:p>
          <a:p>
            <a:pPr marL="0" lvl="0" indent="0" algn="l" rtl="0">
              <a:spcBef>
                <a:spcPts val="0"/>
              </a:spcBef>
              <a:spcAft>
                <a:spcPts val="0"/>
              </a:spcAft>
              <a:buNone/>
            </a:pPr>
            <a:endParaRPr/>
          </a:p>
        </p:txBody>
      </p:sp>
      <p:sp>
        <p:nvSpPr>
          <p:cNvPr id="176" name="Google Shape;176;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0"/>
              </a:spcAft>
              <a:buClr>
                <a:schemeClr val="dk1"/>
              </a:buClr>
              <a:buSzPts val="1100"/>
              <a:buFont typeface="Arial"/>
              <a:buNone/>
            </a:pPr>
            <a:r>
              <a:rPr lang="en-GB">
                <a:solidFill>
                  <a:schemeClr val="dk1"/>
                </a:solidFill>
              </a:rPr>
              <a:t>Graph or network data is, in short, </a:t>
            </a:r>
            <a:r>
              <a:rPr lang="en-GB">
                <a:solidFill>
                  <a:srgbClr val="FF0000"/>
                </a:solidFill>
              </a:rPr>
              <a:t>data that focuses on the relationship or adjacency of objects</a:t>
            </a:r>
            <a:r>
              <a:rPr lang="en-GB">
                <a:solidFill>
                  <a:schemeClr val="dk1"/>
                </a:solidFill>
              </a:rPr>
              <a:t>.</a:t>
            </a: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The graph structures use </a:t>
            </a:r>
            <a:r>
              <a:rPr lang="en-GB">
                <a:solidFill>
                  <a:srgbClr val="FF0000"/>
                </a:solidFill>
              </a:rPr>
              <a:t>nodes, edges, and properties</a:t>
            </a:r>
            <a:r>
              <a:rPr lang="en-GB">
                <a:solidFill>
                  <a:schemeClr val="dk1"/>
                </a:solidFill>
              </a:rPr>
              <a:t> to represent and store graphical data. </a:t>
            </a: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Graph-based data is a natural way to </a:t>
            </a:r>
            <a:r>
              <a:rPr lang="en-GB">
                <a:solidFill>
                  <a:srgbClr val="FF0000"/>
                </a:solidFill>
              </a:rPr>
              <a:t>represent social networks</a:t>
            </a:r>
            <a:r>
              <a:rPr lang="en-GB">
                <a:solidFill>
                  <a:schemeClr val="dk1"/>
                </a:solidFill>
              </a:rPr>
              <a:t>, and its structure allows you to </a:t>
            </a:r>
            <a:r>
              <a:rPr lang="en-GB">
                <a:solidFill>
                  <a:srgbClr val="FF0000"/>
                </a:solidFill>
              </a:rPr>
              <a:t>calculate specific metrics such as the influence of a person and the shortest path between two people</a:t>
            </a:r>
            <a:r>
              <a:rPr lang="en-GB">
                <a:solidFill>
                  <a:schemeClr val="dk1"/>
                </a:solidFill>
              </a:rPr>
              <a:t>.</a:t>
            </a:r>
            <a:endParaRPr>
              <a:solidFill>
                <a:schemeClr val="dk1"/>
              </a:solidFill>
            </a:endParaRPr>
          </a:p>
          <a:p>
            <a:pPr marL="0" lvl="0" indent="0" algn="just" rtl="0">
              <a:spcBef>
                <a:spcPts val="1200"/>
              </a:spcBef>
              <a:spcAft>
                <a:spcPts val="0"/>
              </a:spcAft>
              <a:buNone/>
            </a:pPr>
            <a:r>
              <a:rPr lang="en-GB">
                <a:solidFill>
                  <a:schemeClr val="dk1"/>
                </a:solidFill>
              </a:rPr>
              <a:t>Examples of graph-based data can be found on many social media websites.</a:t>
            </a:r>
            <a:endParaRPr>
              <a:solidFill>
                <a:schemeClr val="dk1"/>
              </a:solidFill>
            </a:endParaRPr>
          </a:p>
          <a:p>
            <a:pPr marL="0" lvl="0" indent="0" algn="just" rtl="0">
              <a:spcBef>
                <a:spcPts val="1200"/>
              </a:spcBef>
              <a:spcAft>
                <a:spcPts val="1200"/>
              </a:spcAft>
              <a:buNone/>
            </a:pPr>
            <a:r>
              <a:rPr lang="en-GB">
                <a:solidFill>
                  <a:schemeClr val="dk1"/>
                </a:solidFill>
              </a:rPr>
              <a:t>Graph databases are used to store graph-based data and are queried with specialized </a:t>
            </a:r>
            <a:r>
              <a:rPr lang="en-GB">
                <a:solidFill>
                  <a:srgbClr val="FF0000"/>
                </a:solidFill>
              </a:rPr>
              <a:t>query languages such as SPARQL.</a:t>
            </a:r>
            <a:endParaRPr>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Examples</a:t>
            </a:r>
            <a:endParaRPr/>
          </a:p>
        </p:txBody>
      </p:sp>
      <p:sp>
        <p:nvSpPr>
          <p:cNvPr id="182" name="Google Shape;182;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Clr>
                <a:schemeClr val="dk1"/>
              </a:buClr>
              <a:buSzPts val="1100"/>
              <a:buFont typeface="Arial"/>
              <a:buNone/>
            </a:pPr>
            <a:r>
              <a:rPr lang="en-GB">
                <a:solidFill>
                  <a:schemeClr val="dk1"/>
                </a:solidFill>
              </a:rPr>
              <a:t>For instance, on </a:t>
            </a:r>
            <a:r>
              <a:rPr lang="en-GB">
                <a:solidFill>
                  <a:srgbClr val="FF0000"/>
                </a:solidFill>
              </a:rPr>
              <a:t>LinkedIn you can see who you know is at which company.</a:t>
            </a:r>
            <a:endParaRPr>
              <a:solidFill>
                <a:srgbClr val="FF0000"/>
              </a:solidFill>
            </a:endParaRPr>
          </a:p>
          <a:p>
            <a:pPr marL="0" lvl="0" indent="0" algn="just" rtl="0">
              <a:spcBef>
                <a:spcPts val="1200"/>
              </a:spcBef>
              <a:spcAft>
                <a:spcPts val="0"/>
              </a:spcAft>
              <a:buNone/>
            </a:pPr>
            <a:r>
              <a:rPr lang="en-GB">
                <a:solidFill>
                  <a:srgbClr val="FF0000"/>
                </a:solidFill>
              </a:rPr>
              <a:t>Your follower list on Twitter</a:t>
            </a:r>
            <a:r>
              <a:rPr lang="en-GB">
                <a:solidFill>
                  <a:schemeClr val="dk1"/>
                </a:solidFill>
              </a:rPr>
              <a:t> is another example of graph-based data. </a:t>
            </a:r>
            <a:endParaRPr>
              <a:solidFill>
                <a:schemeClr val="dk1"/>
              </a:solidFill>
            </a:endParaRPr>
          </a:p>
          <a:p>
            <a:pPr marL="0" lvl="0" indent="0" algn="just" rtl="0">
              <a:spcBef>
                <a:spcPts val="1200"/>
              </a:spcBef>
              <a:spcAft>
                <a:spcPts val="0"/>
              </a:spcAft>
              <a:buNone/>
            </a:pPr>
            <a:r>
              <a:rPr lang="en-GB">
                <a:solidFill>
                  <a:schemeClr val="dk1"/>
                </a:solidFill>
              </a:rPr>
              <a:t>For example, imagine the </a:t>
            </a:r>
            <a:r>
              <a:rPr lang="en-GB">
                <a:solidFill>
                  <a:srgbClr val="FF0000"/>
                </a:solidFill>
              </a:rPr>
              <a:t>connecting edges to show “friends” on Facebook.</a:t>
            </a:r>
            <a:r>
              <a:rPr lang="en-GB">
                <a:solidFill>
                  <a:schemeClr val="dk1"/>
                </a:solidFill>
              </a:rPr>
              <a:t> </a:t>
            </a: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Imagine another graph with the same people which connects business colleagues via LinkedIn.</a:t>
            </a:r>
            <a:endParaRPr>
              <a:solidFill>
                <a:schemeClr val="dk1"/>
              </a:solidFill>
            </a:endParaRPr>
          </a:p>
          <a:p>
            <a:pPr marL="0" lvl="0" indent="0" algn="just" rtl="0">
              <a:spcBef>
                <a:spcPts val="1200"/>
              </a:spcBef>
              <a:spcAft>
                <a:spcPts val="1200"/>
              </a:spcAft>
              <a:buNone/>
            </a:pPr>
            <a:r>
              <a:rPr lang="en-GB">
                <a:solidFill>
                  <a:schemeClr val="dk1"/>
                </a:solidFill>
              </a:rPr>
              <a:t>Imagine a third graph based on movie interests on Netflix. </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88" name="Google Shape;188;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9" name="Google Shape;189;p34"/>
          <p:cNvPicPr preferRelativeResize="0"/>
          <p:nvPr/>
        </p:nvPicPr>
        <p:blipFill>
          <a:blip r:embed="rId3">
            <a:alphaModFix/>
          </a:blip>
          <a:stretch>
            <a:fillRect/>
          </a:stretch>
        </p:blipFill>
        <p:spPr>
          <a:xfrm>
            <a:off x="311700" y="600075"/>
            <a:ext cx="8520601" cy="3943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Audio,Image &amp; Video Data</a:t>
            </a:r>
            <a:endParaRPr/>
          </a:p>
        </p:txBody>
      </p:sp>
      <p:sp>
        <p:nvSpPr>
          <p:cNvPr id="195" name="Google Shape;195;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Clr>
                <a:schemeClr val="dk1"/>
              </a:buClr>
              <a:buSzPct val="61111"/>
              <a:buFont typeface="Arial"/>
              <a:buNone/>
            </a:pPr>
            <a:r>
              <a:rPr lang="en-GB">
                <a:solidFill>
                  <a:schemeClr val="dk1"/>
                </a:solidFill>
              </a:rPr>
              <a:t>Audio, image, and video are data types that pose specific challenges to a data scientist.</a:t>
            </a:r>
            <a:endParaRPr>
              <a:solidFill>
                <a:schemeClr val="dk1"/>
              </a:solidFill>
            </a:endParaRPr>
          </a:p>
          <a:p>
            <a:pPr marL="0" lvl="0" indent="0" algn="just" rtl="0">
              <a:spcBef>
                <a:spcPts val="1200"/>
              </a:spcBef>
              <a:spcAft>
                <a:spcPts val="0"/>
              </a:spcAft>
              <a:buNone/>
            </a:pPr>
            <a:r>
              <a:rPr lang="en-GB">
                <a:solidFill>
                  <a:srgbClr val="FF0000"/>
                </a:solidFill>
              </a:rPr>
              <a:t>Tasks that are trivial for humans,</a:t>
            </a:r>
            <a:r>
              <a:rPr lang="en-GB">
                <a:solidFill>
                  <a:schemeClr val="dk1"/>
                </a:solidFill>
              </a:rPr>
              <a:t> such as recognizing objects in pictures, turn out to be </a:t>
            </a:r>
            <a:r>
              <a:rPr lang="en-GB">
                <a:solidFill>
                  <a:srgbClr val="FF0000"/>
                </a:solidFill>
              </a:rPr>
              <a:t>challenging for computers. </a:t>
            </a:r>
            <a:endParaRPr>
              <a:solidFill>
                <a:srgbClr val="FF0000"/>
              </a:solidFill>
            </a:endParaRPr>
          </a:p>
          <a:p>
            <a:pPr marL="0" lvl="0" indent="0" algn="just" rtl="0">
              <a:spcBef>
                <a:spcPts val="1200"/>
              </a:spcBef>
              <a:spcAft>
                <a:spcPts val="0"/>
              </a:spcAft>
              <a:buNone/>
            </a:pPr>
            <a:r>
              <a:rPr lang="en-GB">
                <a:solidFill>
                  <a:schemeClr val="dk1"/>
                </a:solidFill>
              </a:rPr>
              <a:t>MLBAM (Major League Baseball Advanced Media) announced in 2014 that they’ll increase video capture to approximately 7 TB per game for the purpose of live, in-game analytics. </a:t>
            </a:r>
            <a:endParaRPr>
              <a:solidFill>
                <a:schemeClr val="dk1"/>
              </a:solidFill>
            </a:endParaRPr>
          </a:p>
          <a:p>
            <a:pPr marL="0" lvl="0" indent="0" algn="just" rtl="0">
              <a:spcBef>
                <a:spcPts val="1200"/>
              </a:spcBef>
              <a:spcAft>
                <a:spcPts val="0"/>
              </a:spcAft>
              <a:buNone/>
            </a:pPr>
            <a:r>
              <a:rPr lang="en-GB">
                <a:solidFill>
                  <a:schemeClr val="dk1"/>
                </a:solidFill>
              </a:rPr>
              <a:t>High-speed cameras at stadiums will capture ball and athlete movements to calculate in real time, for example, the path taken by a defender relative to two baselines.</a:t>
            </a:r>
            <a:endParaRPr>
              <a:solidFill>
                <a:schemeClr val="dk1"/>
              </a:solidFill>
            </a:endParaRPr>
          </a:p>
          <a:p>
            <a:pPr marL="0" lvl="0" indent="0" algn="just" rtl="0">
              <a:spcBef>
                <a:spcPts val="1200"/>
              </a:spcBef>
              <a:spcAft>
                <a:spcPts val="1200"/>
              </a:spcAft>
              <a:buNone/>
            </a:pPr>
            <a:r>
              <a:rPr lang="en-GB">
                <a:solidFill>
                  <a:schemeClr val="dk1"/>
                </a:solidFill>
              </a:rPr>
              <a:t>Recently a company called DeepMind succeeded at creating an algorithm that’s capable of learning how to play video games. This algorithm takes the video screen as input and learns to interpret everything via a complex process of deep learning.</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Streaming Data</a:t>
            </a:r>
            <a:endParaRPr/>
          </a:p>
        </p:txBody>
      </p:sp>
      <p:sp>
        <p:nvSpPr>
          <p:cNvPr id="201" name="Google Shape;201;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a:solidFill>
                  <a:schemeClr val="dk1"/>
                </a:solidFill>
              </a:rPr>
              <a:t>The </a:t>
            </a:r>
            <a:r>
              <a:rPr lang="en-GB">
                <a:solidFill>
                  <a:srgbClr val="FF0000"/>
                </a:solidFill>
              </a:rPr>
              <a:t>data flows into the system when an event happens</a:t>
            </a:r>
            <a:r>
              <a:rPr lang="en-GB">
                <a:solidFill>
                  <a:schemeClr val="dk1"/>
                </a:solidFill>
              </a:rPr>
              <a:t> instead of being loaded into a data store in a batch. </a:t>
            </a:r>
            <a:endParaRPr>
              <a:solidFill>
                <a:schemeClr val="dk1"/>
              </a:solidFill>
            </a:endParaRPr>
          </a:p>
          <a:p>
            <a:pPr marL="0" lvl="0" indent="0" algn="just" rtl="0">
              <a:spcBef>
                <a:spcPts val="1200"/>
              </a:spcBef>
              <a:spcAft>
                <a:spcPts val="0"/>
              </a:spcAft>
              <a:buNone/>
            </a:pPr>
            <a:endParaRPr>
              <a:solidFill>
                <a:schemeClr val="dk1"/>
              </a:solidFill>
            </a:endParaRPr>
          </a:p>
          <a:p>
            <a:pPr marL="0" lvl="0" indent="0" algn="just" rtl="0">
              <a:spcBef>
                <a:spcPts val="1200"/>
              </a:spcBef>
              <a:spcAft>
                <a:spcPts val="0"/>
              </a:spcAft>
              <a:buClr>
                <a:schemeClr val="dk1"/>
              </a:buClr>
              <a:buSzPts val="1100"/>
              <a:buFont typeface="Arial"/>
              <a:buNone/>
            </a:pPr>
            <a:r>
              <a:rPr lang="en-GB">
                <a:solidFill>
                  <a:schemeClr val="dk1"/>
                </a:solidFill>
              </a:rPr>
              <a:t>Examples are the </a:t>
            </a:r>
            <a:r>
              <a:rPr lang="en-GB">
                <a:solidFill>
                  <a:srgbClr val="FF0000"/>
                </a:solidFill>
              </a:rPr>
              <a:t>“What’s trending” on Twitter</a:t>
            </a:r>
            <a:r>
              <a:rPr lang="en-GB">
                <a:solidFill>
                  <a:schemeClr val="dk1"/>
                </a:solidFill>
              </a:rPr>
              <a:t>, live sporting or music events, and the </a:t>
            </a:r>
            <a:r>
              <a:rPr lang="en-GB">
                <a:solidFill>
                  <a:srgbClr val="FF0000"/>
                </a:solidFill>
              </a:rPr>
              <a:t>stock market.</a:t>
            </a:r>
            <a:endParaRPr>
              <a:solidFill>
                <a:srgbClr val="FF0000"/>
              </a:solidFill>
            </a:endParaRPr>
          </a:p>
          <a:p>
            <a:pPr marL="0" lvl="0" indent="0" algn="l" rtl="0">
              <a:spcBef>
                <a:spcPts val="120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Quantitative Vs Categorical Data</a:t>
            </a:r>
            <a:endParaRPr/>
          </a:p>
        </p:txBody>
      </p:sp>
      <p:sp>
        <p:nvSpPr>
          <p:cNvPr id="207" name="Google Shape;207;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8" name="Google Shape;208;p37"/>
          <p:cNvPicPr preferRelativeResize="0"/>
          <p:nvPr/>
        </p:nvPicPr>
        <p:blipFill>
          <a:blip r:embed="rId3">
            <a:alphaModFix/>
          </a:blip>
          <a:stretch>
            <a:fillRect/>
          </a:stretch>
        </p:blipFill>
        <p:spPr>
          <a:xfrm>
            <a:off x="311700" y="1000125"/>
            <a:ext cx="8627475" cy="3752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Data Science Process- Defining Research Goals</a:t>
            </a:r>
            <a:endParaRPr/>
          </a:p>
        </p:txBody>
      </p:sp>
      <p:sp>
        <p:nvSpPr>
          <p:cNvPr id="214" name="Google Shape;214;p38"/>
          <p:cNvSpPr txBox="1">
            <a:spLocks noGrp="1"/>
          </p:cNvSpPr>
          <p:nvPr>
            <p:ph type="body" idx="1"/>
          </p:nvPr>
        </p:nvSpPr>
        <p:spPr>
          <a:xfrm>
            <a:off x="311700" y="1152475"/>
            <a:ext cx="8520600" cy="3564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The data science process typically consists of six steps.</a:t>
            </a:r>
            <a:endParaRPr>
              <a:solidFill>
                <a:schemeClr val="dk1"/>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1200"/>
              </a:spcAft>
              <a:buNone/>
            </a:pPr>
            <a:endParaRPr/>
          </a:p>
        </p:txBody>
      </p:sp>
      <p:pic>
        <p:nvPicPr>
          <p:cNvPr id="215" name="Google Shape;215;p38"/>
          <p:cNvPicPr preferRelativeResize="0"/>
          <p:nvPr/>
        </p:nvPicPr>
        <p:blipFill>
          <a:blip r:embed="rId3">
            <a:alphaModFix/>
          </a:blip>
          <a:stretch>
            <a:fillRect/>
          </a:stretch>
        </p:blipFill>
        <p:spPr>
          <a:xfrm>
            <a:off x="3399275" y="1565850"/>
            <a:ext cx="4961175" cy="3220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1" name="Google Shape;221;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2" name="Google Shape;222;p39"/>
          <p:cNvPicPr preferRelativeResize="0"/>
          <p:nvPr/>
        </p:nvPicPr>
        <p:blipFill>
          <a:blip r:embed="rId3">
            <a:alphaModFix/>
          </a:blip>
          <a:stretch>
            <a:fillRect/>
          </a:stretch>
        </p:blipFill>
        <p:spPr>
          <a:xfrm>
            <a:off x="231952" y="159475"/>
            <a:ext cx="8520600" cy="51435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p40"/>
          <p:cNvSpPr txBox="1">
            <a:spLocks noGrp="1"/>
          </p:cNvSpPr>
          <p:nvPr>
            <p:ph type="body" idx="1"/>
          </p:nvPr>
        </p:nvSpPr>
        <p:spPr>
          <a:xfrm>
            <a:off x="311700" y="590612"/>
            <a:ext cx="8520600" cy="41238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GB" dirty="0">
                <a:solidFill>
                  <a:schemeClr val="dk1"/>
                </a:solidFill>
              </a:rPr>
              <a:t>The following is a short introduction of each step:</a:t>
            </a:r>
            <a:endParaRPr dirty="0">
              <a:solidFill>
                <a:schemeClr val="dk1"/>
              </a:solidFill>
            </a:endParaRPr>
          </a:p>
          <a:p>
            <a:pPr marL="457200" lvl="0" indent="-342900" algn="just" rtl="0">
              <a:spcBef>
                <a:spcPts val="1200"/>
              </a:spcBef>
              <a:spcAft>
                <a:spcPts val="0"/>
              </a:spcAft>
              <a:buClr>
                <a:schemeClr val="dk1"/>
              </a:buClr>
              <a:buSzPts val="1800"/>
              <a:buAutoNum type="arabicPeriod"/>
            </a:pPr>
            <a:r>
              <a:rPr lang="en-GB" dirty="0">
                <a:solidFill>
                  <a:schemeClr val="dk1"/>
                </a:solidFill>
              </a:rPr>
              <a:t>Setting the research goal</a:t>
            </a:r>
            <a:endParaRPr dirty="0">
              <a:solidFill>
                <a:schemeClr val="dk1"/>
              </a:solidFill>
            </a:endParaRPr>
          </a:p>
          <a:p>
            <a:pPr marL="457200" lvl="0" indent="0" algn="just" rtl="0">
              <a:spcBef>
                <a:spcPts val="1200"/>
              </a:spcBef>
              <a:spcAft>
                <a:spcPts val="0"/>
              </a:spcAft>
              <a:buNone/>
            </a:pPr>
            <a:r>
              <a:rPr lang="en-GB" dirty="0">
                <a:solidFill>
                  <a:schemeClr val="dk1"/>
                </a:solidFill>
              </a:rPr>
              <a:t>The first step of this process is to </a:t>
            </a:r>
            <a:r>
              <a:rPr lang="en-GB" dirty="0">
                <a:solidFill>
                  <a:srgbClr val="FF0000"/>
                </a:solidFill>
              </a:rPr>
              <a:t>set the research goal</a:t>
            </a:r>
            <a:r>
              <a:rPr lang="en-GB" dirty="0">
                <a:solidFill>
                  <a:schemeClr val="dk1"/>
                </a:solidFill>
              </a:rPr>
              <a:t>. The main purpose here is making sure all the </a:t>
            </a:r>
            <a:r>
              <a:rPr lang="en-GB" dirty="0">
                <a:solidFill>
                  <a:srgbClr val="FF0000"/>
                </a:solidFill>
              </a:rPr>
              <a:t>stakeholders understand the what, how and  why of the project</a:t>
            </a:r>
            <a:r>
              <a:rPr lang="en-GB" dirty="0">
                <a:solidFill>
                  <a:schemeClr val="dk1"/>
                </a:solidFill>
              </a:rPr>
              <a:t>. In every project this will result in a project charter.</a:t>
            </a:r>
            <a:endParaRPr dirty="0">
              <a:solidFill>
                <a:schemeClr val="dk1"/>
              </a:solidFill>
            </a:endParaRPr>
          </a:p>
          <a:p>
            <a:pPr marL="457200" lvl="0" indent="-342900" algn="just" rtl="0">
              <a:spcBef>
                <a:spcPts val="1200"/>
              </a:spcBef>
              <a:spcAft>
                <a:spcPts val="0"/>
              </a:spcAft>
              <a:buClr>
                <a:schemeClr val="dk1"/>
              </a:buClr>
              <a:buSzPts val="1800"/>
              <a:buAutoNum type="arabicPeriod"/>
            </a:pPr>
            <a:r>
              <a:rPr lang="en-GB" dirty="0">
                <a:solidFill>
                  <a:schemeClr val="dk1"/>
                </a:solidFill>
              </a:rPr>
              <a:t>Retrieving data</a:t>
            </a:r>
            <a:endParaRPr dirty="0">
              <a:solidFill>
                <a:schemeClr val="dk1"/>
              </a:solidFill>
            </a:endParaRPr>
          </a:p>
          <a:p>
            <a:pPr marL="457200" lvl="0" indent="0" algn="just" rtl="0">
              <a:spcBef>
                <a:spcPts val="1200"/>
              </a:spcBef>
              <a:spcAft>
                <a:spcPts val="1200"/>
              </a:spcAft>
              <a:buNone/>
            </a:pPr>
            <a:r>
              <a:rPr lang="en-GB" dirty="0">
                <a:solidFill>
                  <a:schemeClr val="dk1"/>
                </a:solidFill>
              </a:rPr>
              <a:t>The second step is to </a:t>
            </a:r>
            <a:r>
              <a:rPr lang="en-GB" dirty="0">
                <a:solidFill>
                  <a:srgbClr val="FF0000"/>
                </a:solidFill>
              </a:rPr>
              <a:t>collect data</a:t>
            </a:r>
            <a:r>
              <a:rPr lang="en-GB" dirty="0">
                <a:solidFill>
                  <a:schemeClr val="dk1"/>
                </a:solidFill>
              </a:rPr>
              <a:t>. You want to have data available for analysis, so this step includes </a:t>
            </a:r>
            <a:r>
              <a:rPr lang="en-GB" dirty="0">
                <a:solidFill>
                  <a:srgbClr val="FF0000"/>
                </a:solidFill>
              </a:rPr>
              <a:t>finding suitable data and getting access to data from the data owner</a:t>
            </a:r>
            <a:r>
              <a:rPr lang="en-GB" dirty="0">
                <a:solidFill>
                  <a:schemeClr val="dk1"/>
                </a:solidFill>
              </a:rPr>
              <a:t>. The result is </a:t>
            </a:r>
            <a:r>
              <a:rPr lang="en-GB" dirty="0">
                <a:solidFill>
                  <a:srgbClr val="FF0000"/>
                </a:solidFill>
              </a:rPr>
              <a:t>data in its raw form,</a:t>
            </a:r>
            <a:r>
              <a:rPr lang="en-GB" dirty="0">
                <a:solidFill>
                  <a:schemeClr val="dk1"/>
                </a:solidFill>
              </a:rPr>
              <a:t> which probably needs polishing and transformation before it becomes usable.</a:t>
            </a:r>
            <a:endParaRPr dirty="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41"/>
          <p:cNvSpPr txBox="1">
            <a:spLocks noGrp="1"/>
          </p:cNvSpPr>
          <p:nvPr>
            <p:ph type="body" idx="1"/>
          </p:nvPr>
        </p:nvSpPr>
        <p:spPr>
          <a:xfrm>
            <a:off x="311700" y="445025"/>
            <a:ext cx="8520600" cy="41238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0"/>
              </a:spcAft>
              <a:buNone/>
            </a:pPr>
            <a:r>
              <a:rPr lang="en-GB" dirty="0">
                <a:solidFill>
                  <a:schemeClr val="dk1"/>
                </a:solidFill>
              </a:rPr>
              <a:t>3. Data preparation</a:t>
            </a:r>
            <a:endParaRPr dirty="0">
              <a:solidFill>
                <a:schemeClr val="dk1"/>
              </a:solidFill>
            </a:endParaRPr>
          </a:p>
          <a:p>
            <a:pPr marL="0" lvl="0" indent="0" algn="just" rtl="0">
              <a:spcBef>
                <a:spcPts val="1200"/>
              </a:spcBef>
              <a:spcAft>
                <a:spcPts val="0"/>
              </a:spcAft>
              <a:buNone/>
            </a:pPr>
            <a:r>
              <a:rPr lang="en-GB" dirty="0">
                <a:solidFill>
                  <a:schemeClr val="dk1"/>
                </a:solidFill>
              </a:rPr>
              <a:t>Data collection is an</a:t>
            </a:r>
            <a:r>
              <a:rPr lang="en-GB" dirty="0">
                <a:solidFill>
                  <a:srgbClr val="FF0000"/>
                </a:solidFill>
              </a:rPr>
              <a:t> error-prone process</a:t>
            </a:r>
            <a:r>
              <a:rPr lang="en-GB" dirty="0">
                <a:solidFill>
                  <a:schemeClr val="dk1"/>
                </a:solidFill>
              </a:rPr>
              <a:t>; in this phase you </a:t>
            </a:r>
            <a:r>
              <a:rPr lang="en-GB" dirty="0">
                <a:solidFill>
                  <a:srgbClr val="FF0000"/>
                </a:solidFill>
              </a:rPr>
              <a:t>enhance the quality of the data and prepare it for use in subsequent steps</a:t>
            </a:r>
            <a:r>
              <a:rPr lang="en-GB" dirty="0">
                <a:solidFill>
                  <a:schemeClr val="dk1"/>
                </a:solidFill>
              </a:rPr>
              <a:t>. This phase consists of three sub- phases: </a:t>
            </a:r>
            <a:r>
              <a:rPr lang="en-GB" dirty="0">
                <a:solidFill>
                  <a:srgbClr val="FF0000"/>
                </a:solidFill>
              </a:rPr>
              <a:t>data cleansing removes false values</a:t>
            </a:r>
            <a:r>
              <a:rPr lang="en-GB" dirty="0">
                <a:solidFill>
                  <a:schemeClr val="dk1"/>
                </a:solidFill>
              </a:rPr>
              <a:t> from a data source and inconsistencies across data sources, </a:t>
            </a:r>
            <a:r>
              <a:rPr lang="en-GB" dirty="0">
                <a:solidFill>
                  <a:srgbClr val="FF0000"/>
                </a:solidFill>
              </a:rPr>
              <a:t>data integration enriches data sources</a:t>
            </a:r>
            <a:r>
              <a:rPr lang="en-GB" dirty="0">
                <a:solidFill>
                  <a:schemeClr val="dk1"/>
                </a:solidFill>
              </a:rPr>
              <a:t> by combining information from multiple data sources, and </a:t>
            </a:r>
            <a:r>
              <a:rPr lang="en-GB" dirty="0">
                <a:solidFill>
                  <a:srgbClr val="FF0000"/>
                </a:solidFill>
              </a:rPr>
              <a:t>data transformation ensures that the data is in a suitable format</a:t>
            </a:r>
            <a:r>
              <a:rPr lang="en-GB" dirty="0">
                <a:solidFill>
                  <a:schemeClr val="dk1"/>
                </a:solidFill>
              </a:rPr>
              <a:t> for use in your models.</a:t>
            </a:r>
            <a:endParaRPr dirty="0">
              <a:solidFill>
                <a:schemeClr val="dk1"/>
              </a:solidFill>
            </a:endParaRPr>
          </a:p>
          <a:p>
            <a:pPr marL="0" lvl="0" indent="0" algn="just" rtl="0">
              <a:spcBef>
                <a:spcPts val="1200"/>
              </a:spcBef>
              <a:spcAft>
                <a:spcPts val="0"/>
              </a:spcAft>
              <a:buNone/>
            </a:pPr>
            <a:r>
              <a:rPr lang="en-GB" dirty="0">
                <a:solidFill>
                  <a:schemeClr val="dk1"/>
                </a:solidFill>
              </a:rPr>
              <a:t>4. Data exploration</a:t>
            </a:r>
            <a:endParaRPr dirty="0">
              <a:solidFill>
                <a:schemeClr val="dk1"/>
              </a:solidFill>
            </a:endParaRPr>
          </a:p>
          <a:p>
            <a:pPr marL="0" lvl="0" indent="0" algn="just" rtl="0">
              <a:spcBef>
                <a:spcPts val="1200"/>
              </a:spcBef>
              <a:spcAft>
                <a:spcPts val="1200"/>
              </a:spcAft>
              <a:buNone/>
            </a:pPr>
            <a:r>
              <a:rPr lang="en-GB" dirty="0">
                <a:solidFill>
                  <a:schemeClr val="dk1"/>
                </a:solidFill>
              </a:rPr>
              <a:t>Data exploration is concerned with building a </a:t>
            </a:r>
            <a:r>
              <a:rPr lang="en-GB" dirty="0">
                <a:solidFill>
                  <a:srgbClr val="FF0000"/>
                </a:solidFill>
              </a:rPr>
              <a:t>deeper understanding</a:t>
            </a:r>
            <a:r>
              <a:rPr lang="en-GB" dirty="0">
                <a:solidFill>
                  <a:schemeClr val="dk1"/>
                </a:solidFill>
              </a:rPr>
              <a:t> of your data. You try to understand how variables interact with each other, the distribution of the data, and whether there are outliers. To achieve this you mainly </a:t>
            </a:r>
            <a:r>
              <a:rPr lang="en-GB" dirty="0">
                <a:solidFill>
                  <a:srgbClr val="FF0000"/>
                </a:solidFill>
              </a:rPr>
              <a:t>use descriptive statistics, visual techniques, and simple </a:t>
            </a:r>
            <a:r>
              <a:rPr lang="en-GB" dirty="0" err="1">
                <a:solidFill>
                  <a:srgbClr val="FF0000"/>
                </a:solidFill>
              </a:rPr>
              <a:t>modeling</a:t>
            </a:r>
            <a:r>
              <a:rPr lang="en-GB" dirty="0">
                <a:solidFill>
                  <a:srgbClr val="FF0000"/>
                </a:solidFill>
              </a:rPr>
              <a:t>.</a:t>
            </a:r>
            <a:r>
              <a:rPr lang="en-GB" dirty="0">
                <a:solidFill>
                  <a:schemeClr val="dk1"/>
                </a:solidFill>
              </a:rPr>
              <a:t> This step often goes by the abbreviation EDA, for Exploratory Data Analysis.</a:t>
            </a:r>
            <a:endParaRPr dirty="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p42"/>
          <p:cNvSpPr txBox="1">
            <a:spLocks noGrp="1"/>
          </p:cNvSpPr>
          <p:nvPr>
            <p:ph type="body" idx="1"/>
          </p:nvPr>
        </p:nvSpPr>
        <p:spPr>
          <a:xfrm>
            <a:off x="311700" y="731375"/>
            <a:ext cx="8520600" cy="41238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n-GB" dirty="0">
                <a:solidFill>
                  <a:schemeClr val="dk1"/>
                </a:solidFill>
              </a:rPr>
              <a:t>5. Data </a:t>
            </a:r>
            <a:r>
              <a:rPr lang="en-GB" dirty="0" err="1">
                <a:solidFill>
                  <a:schemeClr val="dk1"/>
                </a:solidFill>
              </a:rPr>
              <a:t>modeling</a:t>
            </a:r>
            <a:r>
              <a:rPr lang="en-GB" dirty="0">
                <a:solidFill>
                  <a:schemeClr val="dk1"/>
                </a:solidFill>
              </a:rPr>
              <a:t> or model building</a:t>
            </a:r>
            <a:endParaRPr dirty="0">
              <a:solidFill>
                <a:schemeClr val="dk1"/>
              </a:solidFill>
            </a:endParaRPr>
          </a:p>
          <a:p>
            <a:pPr marL="0" lvl="0" indent="0" algn="just" rtl="0">
              <a:spcBef>
                <a:spcPts val="1200"/>
              </a:spcBef>
              <a:spcAft>
                <a:spcPts val="0"/>
              </a:spcAft>
              <a:buNone/>
            </a:pPr>
            <a:r>
              <a:rPr lang="en-GB" dirty="0">
                <a:solidFill>
                  <a:schemeClr val="dk1"/>
                </a:solidFill>
              </a:rPr>
              <a:t>In this phase you </a:t>
            </a:r>
            <a:r>
              <a:rPr lang="en-GB" dirty="0">
                <a:solidFill>
                  <a:srgbClr val="FF0000"/>
                </a:solidFill>
              </a:rPr>
              <a:t>use models, domain knowledge, and insights</a:t>
            </a:r>
            <a:r>
              <a:rPr lang="en-GB" dirty="0">
                <a:solidFill>
                  <a:schemeClr val="dk1"/>
                </a:solidFill>
              </a:rPr>
              <a:t> about the data you found in the previous steps to answer the research question. You </a:t>
            </a:r>
            <a:r>
              <a:rPr lang="en-GB" dirty="0">
                <a:solidFill>
                  <a:srgbClr val="FF0000"/>
                </a:solidFill>
              </a:rPr>
              <a:t>select a technique from the fields of statistics, machine learning, operations research, and so on.</a:t>
            </a:r>
            <a:r>
              <a:rPr lang="en-GB" dirty="0">
                <a:solidFill>
                  <a:schemeClr val="dk1"/>
                </a:solidFill>
              </a:rPr>
              <a:t> </a:t>
            </a:r>
            <a:r>
              <a:rPr lang="en-GB" dirty="0">
                <a:solidFill>
                  <a:srgbClr val="FF0000"/>
                </a:solidFill>
              </a:rPr>
              <a:t>Building a model is an iterative process</a:t>
            </a:r>
            <a:r>
              <a:rPr lang="en-GB" dirty="0">
                <a:solidFill>
                  <a:schemeClr val="dk1"/>
                </a:solidFill>
              </a:rPr>
              <a:t> that involves selecting the </a:t>
            </a:r>
            <a:r>
              <a:rPr lang="en-GB" dirty="0">
                <a:solidFill>
                  <a:srgbClr val="FF0000"/>
                </a:solidFill>
              </a:rPr>
              <a:t>variables for the model, executing the model, and model diagnostics.</a:t>
            </a:r>
            <a:endParaRPr dirty="0">
              <a:solidFill>
                <a:srgbClr val="FF0000"/>
              </a:solidFill>
            </a:endParaRPr>
          </a:p>
          <a:p>
            <a:pPr marL="0" lvl="0" indent="0" algn="just" rtl="0">
              <a:spcBef>
                <a:spcPts val="1200"/>
              </a:spcBef>
              <a:spcAft>
                <a:spcPts val="0"/>
              </a:spcAft>
              <a:buNone/>
            </a:pPr>
            <a:r>
              <a:rPr lang="en-GB" dirty="0">
                <a:solidFill>
                  <a:schemeClr val="dk1"/>
                </a:solidFill>
              </a:rPr>
              <a:t>6. Presentation and automation</a:t>
            </a:r>
            <a:endParaRPr dirty="0">
              <a:solidFill>
                <a:schemeClr val="dk1"/>
              </a:solidFill>
            </a:endParaRPr>
          </a:p>
          <a:p>
            <a:pPr marL="0" lvl="0" indent="0" algn="just" rtl="0">
              <a:spcBef>
                <a:spcPts val="1200"/>
              </a:spcBef>
              <a:spcAft>
                <a:spcPts val="1200"/>
              </a:spcAft>
              <a:buNone/>
            </a:pPr>
            <a:r>
              <a:rPr lang="en-GB" dirty="0">
                <a:solidFill>
                  <a:schemeClr val="dk1"/>
                </a:solidFill>
              </a:rPr>
              <a:t>Finally, you </a:t>
            </a:r>
            <a:r>
              <a:rPr lang="en-GB" dirty="0">
                <a:solidFill>
                  <a:srgbClr val="FF0000"/>
                </a:solidFill>
              </a:rPr>
              <a:t>present the results to your business.</a:t>
            </a:r>
            <a:r>
              <a:rPr lang="en-GB" dirty="0">
                <a:solidFill>
                  <a:schemeClr val="dk1"/>
                </a:solidFill>
              </a:rPr>
              <a:t> These </a:t>
            </a:r>
            <a:r>
              <a:rPr lang="en-GB" dirty="0">
                <a:solidFill>
                  <a:srgbClr val="FF0000"/>
                </a:solidFill>
              </a:rPr>
              <a:t>results can take many forms, ranging from presentations to research reports. </a:t>
            </a:r>
            <a:r>
              <a:rPr lang="en-GB" dirty="0">
                <a:solidFill>
                  <a:schemeClr val="dk1"/>
                </a:solidFill>
              </a:rPr>
              <a:t>Sometimes you’ll need to </a:t>
            </a:r>
            <a:r>
              <a:rPr lang="en-GB" dirty="0">
                <a:solidFill>
                  <a:srgbClr val="FF0000"/>
                </a:solidFill>
              </a:rPr>
              <a:t>automate the execution of the process</a:t>
            </a:r>
            <a:r>
              <a:rPr lang="en-GB" dirty="0">
                <a:solidFill>
                  <a:schemeClr val="dk1"/>
                </a:solidFill>
              </a:rPr>
              <a:t> because the business will want to use the insights you gained in another project or enable an operational process to use the outcome from your model.</a:t>
            </a:r>
            <a:endParaRPr dirty="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Python for Data Science</a:t>
            </a:r>
            <a:endParaRPr/>
          </a:p>
        </p:txBody>
      </p:sp>
      <p:sp>
        <p:nvSpPr>
          <p:cNvPr id="246" name="Google Shape;246;p43"/>
          <p:cNvSpPr txBox="1">
            <a:spLocks noGrp="1"/>
          </p:cNvSpPr>
          <p:nvPr>
            <p:ph type="body" idx="1"/>
          </p:nvPr>
        </p:nvSpPr>
        <p:spPr>
          <a:xfrm>
            <a:off x="311700" y="951400"/>
            <a:ext cx="8520600" cy="3835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b="1" dirty="0">
                <a:solidFill>
                  <a:schemeClr val="dk1"/>
                </a:solidFill>
              </a:rPr>
              <a:t>Data Types-int, float, bool, str, list, tuple, dictionary, set, Functions.</a:t>
            </a:r>
            <a:endParaRPr b="1" dirty="0">
              <a:solidFill>
                <a:schemeClr val="dk1"/>
              </a:solidFill>
            </a:endParaRPr>
          </a:p>
          <a:p>
            <a:pPr marL="0" lvl="0" indent="0" algn="l" rtl="0">
              <a:spcBef>
                <a:spcPts val="1200"/>
              </a:spcBef>
              <a:spcAft>
                <a:spcPts val="0"/>
              </a:spcAft>
              <a:buNone/>
            </a:pPr>
            <a:r>
              <a:rPr lang="en-GB" dirty="0">
                <a:solidFill>
                  <a:schemeClr val="dk1"/>
                </a:solidFill>
              </a:rPr>
              <a:t>Ex:</a:t>
            </a:r>
            <a:endParaRPr dirty="0">
              <a:solidFill>
                <a:schemeClr val="dk1"/>
              </a:solidFill>
            </a:endParaRPr>
          </a:p>
          <a:p>
            <a:pPr marL="0" lvl="0" indent="0" algn="l" rtl="0">
              <a:spcBef>
                <a:spcPts val="0"/>
              </a:spcBef>
              <a:spcAft>
                <a:spcPts val="0"/>
              </a:spcAft>
              <a:buNone/>
            </a:pPr>
            <a:r>
              <a:rPr lang="en-GB" dirty="0">
                <a:solidFill>
                  <a:schemeClr val="dk1"/>
                </a:solidFill>
              </a:rPr>
              <a:t>a = 10                		# int   </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b = 2.5                		# float</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c = True              		# bool</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d = "Python"          	        # str</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e = [1, 2, 3]         		# list</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f = (4, 5)            		# tuple</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g = {"name": "Harsh"}  	# dictionary</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h = {1, 2, 3}         		# set</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def add(x, y):         	        # function</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    return x + y</a:t>
            </a:r>
            <a:endParaRPr dirty="0">
              <a:solidFill>
                <a:schemeClr val="dk1"/>
              </a:solidFill>
            </a:endParaRPr>
          </a:p>
          <a:p>
            <a:pPr marL="0" lvl="0" indent="0" algn="l" rtl="0">
              <a:spcBef>
                <a:spcPts val="0"/>
              </a:spcBef>
              <a:spcAft>
                <a:spcPts val="0"/>
              </a:spcAft>
              <a:buClr>
                <a:schemeClr val="dk1"/>
              </a:buClr>
              <a:buSzPct val="61111"/>
              <a:buFont typeface="Arial"/>
              <a:buNone/>
            </a:pPr>
            <a:r>
              <a:rPr lang="en-GB" dirty="0">
                <a:solidFill>
                  <a:schemeClr val="dk1"/>
                </a:solidFill>
              </a:rPr>
              <a:t>print(a, b, c, d, e, f, g, h)</a:t>
            </a:r>
            <a:endParaRPr dirty="0">
              <a:solidFill>
                <a:schemeClr val="dk1"/>
              </a:solidFill>
            </a:endParaRPr>
          </a:p>
          <a:p>
            <a:pPr marL="0" lvl="0" indent="0" algn="l" rtl="0">
              <a:spcBef>
                <a:spcPts val="0"/>
              </a:spcBef>
              <a:spcAft>
                <a:spcPts val="0"/>
              </a:spcAft>
              <a:buNone/>
            </a:pPr>
            <a:r>
              <a:rPr lang="en-GB" dirty="0">
                <a:solidFill>
                  <a:schemeClr val="dk1"/>
                </a:solidFill>
              </a:rPr>
              <a:t>print(add(3, 4))</a:t>
            </a:r>
            <a:endParaRPr dirty="0">
              <a:solidFill>
                <a:schemeClr val="dk1"/>
              </a:solidFill>
            </a:endParaRPr>
          </a:p>
        </p:txBody>
      </p:sp>
      <p:pic>
        <p:nvPicPr>
          <p:cNvPr id="247" name="Google Shape;247;p43"/>
          <p:cNvPicPr preferRelativeResize="0"/>
          <p:nvPr/>
        </p:nvPicPr>
        <p:blipFill>
          <a:blip r:embed="rId3">
            <a:alphaModFix/>
          </a:blip>
          <a:stretch>
            <a:fillRect/>
          </a:stretch>
        </p:blipFill>
        <p:spPr>
          <a:xfrm>
            <a:off x="5926425" y="1446925"/>
            <a:ext cx="2735600" cy="3151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44"/>
          <p:cNvSpPr txBox="1">
            <a:spLocks noGrp="1"/>
          </p:cNvSpPr>
          <p:nvPr>
            <p:ph type="body" idx="1"/>
          </p:nvPr>
        </p:nvSpPr>
        <p:spPr>
          <a:xfrm>
            <a:off x="311700" y="579625"/>
            <a:ext cx="8520600" cy="4123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GB" b="1" dirty="0">
                <a:solidFill>
                  <a:schemeClr val="dk1"/>
                </a:solidFill>
              </a:rPr>
              <a:t>NumPy</a:t>
            </a:r>
            <a:r>
              <a:rPr lang="en-GB" dirty="0">
                <a:solidFill>
                  <a:schemeClr val="dk1"/>
                </a:solidFill>
              </a:rPr>
              <a:t> stands for </a:t>
            </a:r>
            <a:r>
              <a:rPr lang="en-GB" b="1" dirty="0">
                <a:solidFill>
                  <a:schemeClr val="dk1"/>
                </a:solidFill>
              </a:rPr>
              <a:t>Numerical Python</a:t>
            </a:r>
            <a:r>
              <a:rPr lang="en-GB" dirty="0">
                <a:solidFill>
                  <a:schemeClr val="dk1"/>
                </a:solidFill>
              </a:rPr>
              <a:t>.</a:t>
            </a:r>
            <a:endParaRPr dirty="0">
              <a:solidFill>
                <a:schemeClr val="dk1"/>
              </a:solidFill>
            </a:endParaRPr>
          </a:p>
          <a:p>
            <a:pPr marL="0" lvl="0" indent="0" algn="l" rtl="0">
              <a:spcBef>
                <a:spcPts val="1200"/>
              </a:spcBef>
              <a:spcAft>
                <a:spcPts val="0"/>
              </a:spcAft>
              <a:buClr>
                <a:schemeClr val="dk1"/>
              </a:buClr>
              <a:buSzPts val="1100"/>
              <a:buFont typeface="Arial"/>
              <a:buNone/>
            </a:pPr>
            <a:r>
              <a:rPr lang="en-GB" dirty="0">
                <a:solidFill>
                  <a:schemeClr val="dk1"/>
                </a:solidFill>
              </a:rPr>
              <a:t>It is a </a:t>
            </a:r>
            <a:r>
              <a:rPr lang="en-GB" b="1" dirty="0">
                <a:solidFill>
                  <a:schemeClr val="dk1"/>
                </a:solidFill>
              </a:rPr>
              <a:t>Python library used for numerical and scientific computing</a:t>
            </a:r>
            <a:r>
              <a:rPr lang="en-GB" dirty="0">
                <a:solidFill>
                  <a:schemeClr val="dk1"/>
                </a:solidFill>
              </a:rPr>
              <a:t>.</a:t>
            </a:r>
            <a:endParaRPr dirty="0">
              <a:solidFill>
                <a:schemeClr val="dk1"/>
              </a:solidFill>
            </a:endParaRPr>
          </a:p>
          <a:p>
            <a:pPr marL="0" lvl="0" indent="0" algn="l" rtl="0">
              <a:spcBef>
                <a:spcPts val="1200"/>
              </a:spcBef>
              <a:spcAft>
                <a:spcPts val="0"/>
              </a:spcAft>
              <a:buClr>
                <a:schemeClr val="dk1"/>
              </a:buClr>
              <a:buSzPts val="1100"/>
              <a:buFont typeface="Arial"/>
              <a:buNone/>
            </a:pPr>
            <a:r>
              <a:rPr lang="en-GB" dirty="0">
                <a:solidFill>
                  <a:schemeClr val="dk1"/>
                </a:solidFill>
              </a:rPr>
              <a:t>NumPy is used because it is:</a:t>
            </a:r>
            <a:endParaRPr dirty="0">
              <a:solidFill>
                <a:schemeClr val="dk1"/>
              </a:solidFill>
            </a:endParaRPr>
          </a:p>
          <a:p>
            <a:pPr marL="457200" lvl="0" indent="-342900" algn="l" rtl="0">
              <a:spcBef>
                <a:spcPts val="1200"/>
              </a:spcBef>
              <a:spcAft>
                <a:spcPts val="0"/>
              </a:spcAft>
              <a:buClr>
                <a:schemeClr val="dk1"/>
              </a:buClr>
              <a:buSzPts val="1800"/>
              <a:buChar char="●"/>
            </a:pPr>
            <a:r>
              <a:rPr lang="en-GB" dirty="0">
                <a:solidFill>
                  <a:schemeClr val="dk1"/>
                </a:solidFill>
              </a:rPr>
              <a:t>Faster than Python lists</a:t>
            </a:r>
            <a:endParaRPr dirty="0">
              <a:solidFill>
                <a:schemeClr val="dk1"/>
              </a:solidFill>
            </a:endParaRPr>
          </a:p>
          <a:p>
            <a:pPr marL="457200" lvl="0" indent="-342900" algn="l" rtl="0">
              <a:spcBef>
                <a:spcPts val="0"/>
              </a:spcBef>
              <a:spcAft>
                <a:spcPts val="0"/>
              </a:spcAft>
              <a:buClr>
                <a:schemeClr val="dk1"/>
              </a:buClr>
              <a:buSzPts val="1800"/>
              <a:buChar char="●"/>
            </a:pPr>
            <a:r>
              <a:rPr lang="en-GB" dirty="0">
                <a:solidFill>
                  <a:schemeClr val="dk1"/>
                </a:solidFill>
              </a:rPr>
              <a:t>Memory efficient</a:t>
            </a:r>
            <a:endParaRPr dirty="0">
              <a:solidFill>
                <a:schemeClr val="dk1"/>
              </a:solidFill>
            </a:endParaRPr>
          </a:p>
          <a:p>
            <a:pPr marL="457200" lvl="0" indent="-342900" algn="l" rtl="0">
              <a:spcBef>
                <a:spcPts val="0"/>
              </a:spcBef>
              <a:spcAft>
                <a:spcPts val="0"/>
              </a:spcAft>
              <a:buClr>
                <a:schemeClr val="dk1"/>
              </a:buClr>
              <a:buSzPts val="1800"/>
              <a:buChar char="●"/>
            </a:pPr>
            <a:r>
              <a:rPr lang="en-GB" dirty="0">
                <a:solidFill>
                  <a:schemeClr val="dk1"/>
                </a:solidFill>
              </a:rPr>
              <a:t>Easy to perform mathematical operations</a:t>
            </a:r>
            <a:endParaRPr dirty="0">
              <a:solidFill>
                <a:schemeClr val="dk1"/>
              </a:solidFill>
            </a:endParaRPr>
          </a:p>
          <a:p>
            <a:pPr marL="457200" lvl="0" indent="-342900" algn="l" rtl="0">
              <a:spcBef>
                <a:spcPts val="0"/>
              </a:spcBef>
              <a:spcAft>
                <a:spcPts val="0"/>
              </a:spcAft>
              <a:buClr>
                <a:schemeClr val="dk1"/>
              </a:buClr>
              <a:buSzPts val="1800"/>
              <a:buChar char="●"/>
            </a:pPr>
            <a:r>
              <a:rPr lang="en-GB" dirty="0">
                <a:solidFill>
                  <a:schemeClr val="dk1"/>
                </a:solidFill>
              </a:rPr>
              <a:t>Widely used in </a:t>
            </a:r>
            <a:r>
              <a:rPr lang="en-GB" b="1" dirty="0">
                <a:solidFill>
                  <a:schemeClr val="dk1"/>
                </a:solidFill>
              </a:rPr>
              <a:t>data science, AI, ML, and scientific computing</a:t>
            </a:r>
            <a:endParaRPr b="1" dirty="0">
              <a:solidFill>
                <a:schemeClr val="dk1"/>
              </a:solidFill>
            </a:endParaRPr>
          </a:p>
          <a:p>
            <a:pPr marL="0" lvl="0" indent="0" algn="l" rtl="0">
              <a:spcBef>
                <a:spcPts val="1200"/>
              </a:spcBef>
              <a:spcAft>
                <a:spcPts val="1200"/>
              </a:spcAft>
              <a:buNone/>
            </a:pPr>
            <a:endParaRPr dirty="0"/>
          </a:p>
        </p:txBody>
      </p:sp>
      <p:pic>
        <p:nvPicPr>
          <p:cNvPr id="254" name="Google Shape;254;p44"/>
          <p:cNvPicPr preferRelativeResize="0"/>
          <p:nvPr/>
        </p:nvPicPr>
        <p:blipFill>
          <a:blip r:embed="rId3">
            <a:alphaModFix/>
          </a:blip>
          <a:stretch>
            <a:fillRect/>
          </a:stretch>
        </p:blipFill>
        <p:spPr>
          <a:xfrm>
            <a:off x="5550200" y="1755713"/>
            <a:ext cx="3013675" cy="1157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Exploring NumPy Library- Indexing, Slicing</a:t>
            </a:r>
            <a:endParaRPr/>
          </a:p>
        </p:txBody>
      </p:sp>
      <p:sp>
        <p:nvSpPr>
          <p:cNvPr id="260" name="Google Shape;260;p45"/>
          <p:cNvSpPr txBox="1">
            <a:spLocks noGrp="1"/>
          </p:cNvSpPr>
          <p:nvPr>
            <p:ph type="body" idx="1"/>
          </p:nvPr>
        </p:nvSpPr>
        <p:spPr>
          <a:xfrm>
            <a:off x="311700" y="911750"/>
            <a:ext cx="8520600" cy="36570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45778"/>
              <a:buFont typeface="Arial"/>
              <a:buNone/>
            </a:pPr>
            <a:r>
              <a:rPr lang="en-GB" sz="2402">
                <a:solidFill>
                  <a:schemeClr val="dk1"/>
                </a:solidFill>
              </a:rPr>
              <a:t>import numpy as np</a:t>
            </a:r>
            <a:endParaRPr sz="2402"/>
          </a:p>
          <a:p>
            <a:pPr marL="0" lvl="0" indent="0" algn="l" rtl="0">
              <a:spcBef>
                <a:spcPts val="0"/>
              </a:spcBef>
              <a:spcAft>
                <a:spcPts val="0"/>
              </a:spcAft>
              <a:buClr>
                <a:schemeClr val="dk1"/>
              </a:buClr>
              <a:buSzPct val="45778"/>
              <a:buFont typeface="Arial"/>
              <a:buNone/>
            </a:pPr>
            <a:r>
              <a:rPr lang="en-GB" sz="2402">
                <a:solidFill>
                  <a:srgbClr val="188038"/>
                </a:solidFill>
              </a:rPr>
              <a:t># Create a NumPy array</a:t>
            </a:r>
            <a:endParaRPr sz="2402">
              <a:solidFill>
                <a:srgbClr val="188038"/>
              </a:solidFill>
            </a:endParaRPr>
          </a:p>
          <a:p>
            <a:pPr marL="0" lvl="0" indent="0" algn="l" rtl="0">
              <a:spcBef>
                <a:spcPts val="0"/>
              </a:spcBef>
              <a:spcAft>
                <a:spcPts val="0"/>
              </a:spcAft>
              <a:buClr>
                <a:schemeClr val="dk1"/>
              </a:buClr>
              <a:buSzPct val="45778"/>
              <a:buFont typeface="Arial"/>
              <a:buNone/>
            </a:pPr>
            <a:r>
              <a:rPr lang="en-GB" sz="2402">
                <a:solidFill>
                  <a:schemeClr val="dk1"/>
                </a:solidFill>
              </a:rPr>
              <a:t>arr = np.array([10, 20, 30, 40, 50])</a:t>
            </a:r>
            <a:endParaRPr sz="2402">
              <a:solidFill>
                <a:schemeClr val="dk1"/>
              </a:solidFill>
            </a:endParaRPr>
          </a:p>
          <a:p>
            <a:pPr marL="0" lvl="0" indent="0" algn="l" rtl="0">
              <a:spcBef>
                <a:spcPts val="0"/>
              </a:spcBef>
              <a:spcAft>
                <a:spcPts val="0"/>
              </a:spcAft>
              <a:buClr>
                <a:schemeClr val="dk1"/>
              </a:buClr>
              <a:buSzPct val="45778"/>
              <a:buFont typeface="Arial"/>
              <a:buNone/>
            </a:pPr>
            <a:r>
              <a:rPr lang="en-GB" sz="2402">
                <a:solidFill>
                  <a:srgbClr val="188038"/>
                </a:solidFill>
              </a:rPr>
              <a:t># Indexing</a:t>
            </a:r>
            <a:endParaRPr sz="2402">
              <a:solidFill>
                <a:srgbClr val="188038"/>
              </a:solidFill>
            </a:endParaRPr>
          </a:p>
          <a:p>
            <a:pPr marL="0" lvl="0" indent="0" algn="l" rtl="0">
              <a:spcBef>
                <a:spcPts val="0"/>
              </a:spcBef>
              <a:spcAft>
                <a:spcPts val="0"/>
              </a:spcAft>
              <a:buClr>
                <a:schemeClr val="dk1"/>
              </a:buClr>
              <a:buSzPct val="45778"/>
              <a:buFont typeface="Arial"/>
              <a:buNone/>
            </a:pPr>
            <a:r>
              <a:rPr lang="en-GB" sz="2402">
                <a:solidFill>
                  <a:schemeClr val="dk1"/>
                </a:solidFill>
              </a:rPr>
              <a:t>print("First element:", arr[0])</a:t>
            </a:r>
            <a:endParaRPr sz="2402">
              <a:solidFill>
                <a:schemeClr val="dk1"/>
              </a:solidFill>
            </a:endParaRPr>
          </a:p>
          <a:p>
            <a:pPr marL="0" lvl="0" indent="0" algn="l" rtl="0">
              <a:spcBef>
                <a:spcPts val="0"/>
              </a:spcBef>
              <a:spcAft>
                <a:spcPts val="0"/>
              </a:spcAft>
              <a:buClr>
                <a:schemeClr val="dk1"/>
              </a:buClr>
              <a:buSzPct val="45778"/>
              <a:buFont typeface="Arial"/>
              <a:buNone/>
            </a:pPr>
            <a:r>
              <a:rPr lang="en-GB" sz="2402">
                <a:solidFill>
                  <a:srgbClr val="188038"/>
                </a:solidFill>
              </a:rPr>
              <a:t># Slicing</a:t>
            </a:r>
            <a:endParaRPr sz="2402">
              <a:solidFill>
                <a:srgbClr val="188038"/>
              </a:solidFill>
            </a:endParaRPr>
          </a:p>
          <a:p>
            <a:pPr marL="0" lvl="0" indent="0" algn="l" rtl="0">
              <a:spcBef>
                <a:spcPts val="0"/>
              </a:spcBef>
              <a:spcAft>
                <a:spcPts val="0"/>
              </a:spcAft>
              <a:buClr>
                <a:schemeClr val="dk1"/>
              </a:buClr>
              <a:buSzPct val="45778"/>
              <a:buFont typeface="Arial"/>
              <a:buNone/>
            </a:pPr>
            <a:r>
              <a:rPr lang="en-GB" sz="2402">
                <a:solidFill>
                  <a:schemeClr val="dk1"/>
                </a:solidFill>
              </a:rPr>
              <a:t>print("Slice (index 1 to 3):", arr[1:4])</a:t>
            </a:r>
            <a:endParaRPr sz="2402">
              <a:solidFill>
                <a:schemeClr val="dk1"/>
              </a:solidFill>
            </a:endParaRPr>
          </a:p>
          <a:p>
            <a:pPr marL="0" lvl="0" indent="0" algn="l" rtl="0">
              <a:spcBef>
                <a:spcPts val="0"/>
              </a:spcBef>
              <a:spcAft>
                <a:spcPts val="0"/>
              </a:spcAft>
              <a:buClr>
                <a:schemeClr val="dk1"/>
              </a:buClr>
              <a:buSzPct val="45778"/>
              <a:buFont typeface="Arial"/>
              <a:buNone/>
            </a:pPr>
            <a:r>
              <a:rPr lang="en-GB" sz="2402">
                <a:solidFill>
                  <a:srgbClr val="188038"/>
                </a:solidFill>
              </a:rPr>
              <a:t># 2D Array example</a:t>
            </a:r>
            <a:endParaRPr sz="2402">
              <a:solidFill>
                <a:srgbClr val="188038"/>
              </a:solidFill>
            </a:endParaRPr>
          </a:p>
          <a:p>
            <a:pPr marL="0" lvl="0" indent="0" algn="l" rtl="0">
              <a:spcBef>
                <a:spcPts val="0"/>
              </a:spcBef>
              <a:spcAft>
                <a:spcPts val="0"/>
              </a:spcAft>
              <a:buClr>
                <a:schemeClr val="dk1"/>
              </a:buClr>
              <a:buSzPct val="45778"/>
              <a:buFont typeface="Arial"/>
              <a:buNone/>
            </a:pPr>
            <a:r>
              <a:rPr lang="en-GB" sz="2402">
                <a:solidFill>
                  <a:schemeClr val="dk1"/>
                </a:solidFill>
              </a:rPr>
              <a:t>mat = np.array([[1, 2, 3], [4, 5, 6]])</a:t>
            </a:r>
            <a:endParaRPr sz="2402">
              <a:solidFill>
                <a:schemeClr val="dk1"/>
              </a:solidFill>
            </a:endParaRPr>
          </a:p>
          <a:p>
            <a:pPr marL="0" lvl="0" indent="0" algn="l" rtl="0">
              <a:spcBef>
                <a:spcPts val="0"/>
              </a:spcBef>
              <a:spcAft>
                <a:spcPts val="0"/>
              </a:spcAft>
              <a:buClr>
                <a:schemeClr val="dk1"/>
              </a:buClr>
              <a:buSzPct val="45778"/>
              <a:buFont typeface="Arial"/>
              <a:buNone/>
            </a:pPr>
            <a:r>
              <a:rPr lang="en-GB" sz="2402">
                <a:solidFill>
                  <a:schemeClr val="dk1"/>
                </a:solidFill>
              </a:rPr>
              <a:t>print("Element at row 1, col 2:", mat[1, 2])</a:t>
            </a:r>
            <a:endParaRPr sz="2402">
              <a:solidFill>
                <a:schemeClr val="dk1"/>
              </a:solidFill>
            </a:endParaRPr>
          </a:p>
          <a:p>
            <a:pPr marL="0" lvl="0" indent="0" algn="l" rtl="0">
              <a:spcBef>
                <a:spcPts val="0"/>
              </a:spcBef>
              <a:spcAft>
                <a:spcPts val="0"/>
              </a:spcAft>
              <a:buNone/>
            </a:pPr>
            <a:r>
              <a:rPr lang="en-GB" sz="2402">
                <a:solidFill>
                  <a:schemeClr val="dk1"/>
                </a:solidFill>
              </a:rPr>
              <a:t>print("First row:", mat[0, :])</a:t>
            </a:r>
            <a:endParaRPr>
              <a:solidFill>
                <a:schemeClr val="dk1"/>
              </a:solidFill>
            </a:endParaRPr>
          </a:p>
        </p:txBody>
      </p:sp>
      <p:pic>
        <p:nvPicPr>
          <p:cNvPr id="261" name="Google Shape;261;p45"/>
          <p:cNvPicPr preferRelativeResize="0"/>
          <p:nvPr/>
        </p:nvPicPr>
        <p:blipFill>
          <a:blip r:embed="rId3">
            <a:alphaModFix/>
          </a:blip>
          <a:stretch>
            <a:fillRect/>
          </a:stretch>
        </p:blipFill>
        <p:spPr>
          <a:xfrm>
            <a:off x="5064225" y="1471400"/>
            <a:ext cx="3550950" cy="1759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One dimensional Array</a:t>
            </a:r>
            <a:endParaRPr/>
          </a:p>
        </p:txBody>
      </p:sp>
      <p:sp>
        <p:nvSpPr>
          <p:cNvPr id="267" name="Google Shape;267;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53448"/>
              <a:buFont typeface="Arial"/>
              <a:buNone/>
            </a:pPr>
            <a:r>
              <a:rPr lang="en-GB" sz="2058">
                <a:solidFill>
                  <a:schemeClr val="dk1"/>
                </a:solidFill>
              </a:rPr>
              <a:t>import numpy as np</a:t>
            </a:r>
            <a:endParaRPr sz="2058">
              <a:solidFill>
                <a:schemeClr val="dk1"/>
              </a:solidFill>
            </a:endParaRPr>
          </a:p>
          <a:p>
            <a:pPr marL="0" lvl="0" indent="0" algn="l" rtl="0">
              <a:spcBef>
                <a:spcPts val="0"/>
              </a:spcBef>
              <a:spcAft>
                <a:spcPts val="0"/>
              </a:spcAft>
              <a:buClr>
                <a:schemeClr val="dk1"/>
              </a:buClr>
              <a:buSzPct val="53448"/>
              <a:buFont typeface="Arial"/>
              <a:buNone/>
            </a:pPr>
            <a:endParaRPr sz="2058"/>
          </a:p>
          <a:p>
            <a:pPr marL="0" lvl="0" indent="0" algn="l" rtl="0">
              <a:spcBef>
                <a:spcPts val="0"/>
              </a:spcBef>
              <a:spcAft>
                <a:spcPts val="0"/>
              </a:spcAft>
              <a:buClr>
                <a:schemeClr val="dk1"/>
              </a:buClr>
              <a:buSzPct val="53448"/>
              <a:buFont typeface="Arial"/>
              <a:buNone/>
            </a:pPr>
            <a:r>
              <a:rPr lang="en-GB" sz="2058">
                <a:solidFill>
                  <a:srgbClr val="188038"/>
                </a:solidFill>
              </a:rPr>
              <a:t># One-dimensional array</a:t>
            </a:r>
            <a:endParaRPr sz="2058">
              <a:solidFill>
                <a:srgbClr val="188038"/>
              </a:solidFill>
            </a:endParaRPr>
          </a:p>
          <a:p>
            <a:pPr marL="0" lvl="0" indent="0" algn="l" rtl="0">
              <a:spcBef>
                <a:spcPts val="0"/>
              </a:spcBef>
              <a:spcAft>
                <a:spcPts val="0"/>
              </a:spcAft>
              <a:buClr>
                <a:schemeClr val="dk1"/>
              </a:buClr>
              <a:buSzPct val="53448"/>
              <a:buFont typeface="Arial"/>
              <a:buNone/>
            </a:pPr>
            <a:r>
              <a:rPr lang="en-GB" sz="2058">
                <a:solidFill>
                  <a:schemeClr val="dk1"/>
                </a:solidFill>
              </a:rPr>
              <a:t>arr = np.array([5, 10, 15, 20])</a:t>
            </a:r>
            <a:endParaRPr sz="2058">
              <a:solidFill>
                <a:schemeClr val="dk1"/>
              </a:solidFill>
            </a:endParaRPr>
          </a:p>
          <a:p>
            <a:pPr marL="0" lvl="0" indent="0" algn="l" rtl="0">
              <a:spcBef>
                <a:spcPts val="0"/>
              </a:spcBef>
              <a:spcAft>
                <a:spcPts val="0"/>
              </a:spcAft>
              <a:buClr>
                <a:schemeClr val="dk1"/>
              </a:buClr>
              <a:buSzPct val="53448"/>
              <a:buFont typeface="Arial"/>
              <a:buNone/>
            </a:pPr>
            <a:endParaRPr sz="2058"/>
          </a:p>
          <a:p>
            <a:pPr marL="0" lvl="0" indent="0" algn="l" rtl="0">
              <a:spcBef>
                <a:spcPts val="0"/>
              </a:spcBef>
              <a:spcAft>
                <a:spcPts val="0"/>
              </a:spcAft>
              <a:buClr>
                <a:schemeClr val="dk1"/>
              </a:buClr>
              <a:buSzPct val="53448"/>
              <a:buFont typeface="Arial"/>
              <a:buNone/>
            </a:pPr>
            <a:r>
              <a:rPr lang="en-GB" sz="2058">
                <a:solidFill>
                  <a:srgbClr val="188038"/>
                </a:solidFill>
              </a:rPr>
              <a:t># Access elements</a:t>
            </a:r>
            <a:endParaRPr sz="2058">
              <a:solidFill>
                <a:srgbClr val="188038"/>
              </a:solidFill>
            </a:endParaRPr>
          </a:p>
          <a:p>
            <a:pPr marL="0" lvl="0" indent="0" algn="l" rtl="0">
              <a:spcBef>
                <a:spcPts val="0"/>
              </a:spcBef>
              <a:spcAft>
                <a:spcPts val="0"/>
              </a:spcAft>
              <a:buClr>
                <a:schemeClr val="dk1"/>
              </a:buClr>
              <a:buSzPct val="53448"/>
              <a:buFont typeface="Arial"/>
              <a:buNone/>
            </a:pPr>
            <a:r>
              <a:rPr lang="en-GB" sz="2058">
                <a:solidFill>
                  <a:schemeClr val="dk1"/>
                </a:solidFill>
              </a:rPr>
              <a:t>print("Array:", arr)</a:t>
            </a:r>
            <a:endParaRPr sz="2058">
              <a:solidFill>
                <a:schemeClr val="dk1"/>
              </a:solidFill>
            </a:endParaRPr>
          </a:p>
          <a:p>
            <a:pPr marL="0" lvl="0" indent="0" algn="l" rtl="0">
              <a:spcBef>
                <a:spcPts val="0"/>
              </a:spcBef>
              <a:spcAft>
                <a:spcPts val="0"/>
              </a:spcAft>
              <a:buClr>
                <a:schemeClr val="dk1"/>
              </a:buClr>
              <a:buSzPct val="53448"/>
              <a:buFont typeface="Arial"/>
              <a:buNone/>
            </a:pPr>
            <a:r>
              <a:rPr lang="en-GB" sz="2058">
                <a:solidFill>
                  <a:schemeClr val="dk1"/>
                </a:solidFill>
              </a:rPr>
              <a:t>print("First element:", arr[0])</a:t>
            </a:r>
            <a:endParaRPr sz="2058">
              <a:solidFill>
                <a:schemeClr val="dk1"/>
              </a:solidFill>
            </a:endParaRPr>
          </a:p>
          <a:p>
            <a:pPr marL="0" lvl="0" indent="0" algn="l" rtl="0">
              <a:spcBef>
                <a:spcPts val="0"/>
              </a:spcBef>
              <a:spcAft>
                <a:spcPts val="0"/>
              </a:spcAft>
              <a:buClr>
                <a:schemeClr val="dk1"/>
              </a:buClr>
              <a:buSzPct val="53448"/>
              <a:buFont typeface="Arial"/>
              <a:buNone/>
            </a:pPr>
            <a:r>
              <a:rPr lang="en-GB" sz="2058">
                <a:solidFill>
                  <a:schemeClr val="dk1"/>
                </a:solidFill>
              </a:rPr>
              <a:t>print("Last element:", arr[-1])</a:t>
            </a:r>
            <a:endParaRPr sz="2058">
              <a:solidFill>
                <a:schemeClr val="dk1"/>
              </a:solidFill>
            </a:endParaRPr>
          </a:p>
          <a:p>
            <a:pPr marL="0" lvl="0" indent="0" algn="l" rtl="0">
              <a:spcBef>
                <a:spcPts val="0"/>
              </a:spcBef>
              <a:spcAft>
                <a:spcPts val="0"/>
              </a:spcAft>
              <a:buClr>
                <a:schemeClr val="dk1"/>
              </a:buClr>
              <a:buSzPct val="53448"/>
              <a:buFont typeface="Arial"/>
              <a:buNone/>
            </a:pPr>
            <a:endParaRPr sz="2058"/>
          </a:p>
          <a:p>
            <a:pPr marL="0" lvl="0" indent="0" algn="l" rtl="0">
              <a:spcBef>
                <a:spcPts val="0"/>
              </a:spcBef>
              <a:spcAft>
                <a:spcPts val="0"/>
              </a:spcAft>
              <a:buClr>
                <a:schemeClr val="dk1"/>
              </a:buClr>
              <a:buSzPct val="53448"/>
              <a:buFont typeface="Arial"/>
              <a:buNone/>
            </a:pPr>
            <a:r>
              <a:rPr lang="en-GB" sz="2058">
                <a:solidFill>
                  <a:srgbClr val="188038"/>
                </a:solidFill>
              </a:rPr>
              <a:t># Slicing</a:t>
            </a:r>
            <a:endParaRPr sz="2058">
              <a:solidFill>
                <a:srgbClr val="188038"/>
              </a:solidFill>
            </a:endParaRPr>
          </a:p>
          <a:p>
            <a:pPr marL="0" lvl="0" indent="0" algn="l" rtl="0">
              <a:spcBef>
                <a:spcPts val="0"/>
              </a:spcBef>
              <a:spcAft>
                <a:spcPts val="0"/>
              </a:spcAft>
              <a:buNone/>
            </a:pPr>
            <a:r>
              <a:rPr lang="en-GB" sz="2058">
                <a:solidFill>
                  <a:schemeClr val="dk1"/>
                </a:solidFill>
              </a:rPr>
              <a:t>print("Slice (1 to 3):", arr[1:3])</a:t>
            </a:r>
            <a:endParaRPr>
              <a:solidFill>
                <a:schemeClr val="dk1"/>
              </a:solidFill>
            </a:endParaRPr>
          </a:p>
        </p:txBody>
      </p:sp>
      <p:pic>
        <p:nvPicPr>
          <p:cNvPr id="268" name="Google Shape;268;p46"/>
          <p:cNvPicPr preferRelativeResize="0"/>
          <p:nvPr/>
        </p:nvPicPr>
        <p:blipFill>
          <a:blip r:embed="rId3">
            <a:alphaModFix/>
          </a:blip>
          <a:stretch>
            <a:fillRect/>
          </a:stretch>
        </p:blipFill>
        <p:spPr>
          <a:xfrm>
            <a:off x="5183150" y="2045825"/>
            <a:ext cx="3317425" cy="2017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Multi-Dimensional Array</a:t>
            </a:r>
            <a:endParaRPr/>
          </a:p>
        </p:txBody>
      </p:sp>
      <p:sp>
        <p:nvSpPr>
          <p:cNvPr id="274" name="Google Shape;274;p47"/>
          <p:cNvSpPr txBox="1">
            <a:spLocks noGrp="1"/>
          </p:cNvSpPr>
          <p:nvPr>
            <p:ph type="body" idx="1"/>
          </p:nvPr>
        </p:nvSpPr>
        <p:spPr>
          <a:xfrm>
            <a:off x="311700" y="1152475"/>
            <a:ext cx="8520600" cy="3792900"/>
          </a:xfrm>
          <a:prstGeom prst="rect">
            <a:avLst/>
          </a:prstGeom>
        </p:spPr>
        <p:txBody>
          <a:bodyPr spcFirstLastPara="1" wrap="square" lIns="91425" tIns="91425" rIns="91425" bIns="91425" anchor="t" anchorCtr="0">
            <a:normAutofit fontScale="62500" lnSpcReduction="10000"/>
          </a:bodyPr>
          <a:lstStyle/>
          <a:p>
            <a:pPr marL="0" lvl="0" indent="0" algn="l" rtl="0">
              <a:spcBef>
                <a:spcPts val="0"/>
              </a:spcBef>
              <a:spcAft>
                <a:spcPts val="0"/>
              </a:spcAft>
              <a:buClr>
                <a:schemeClr val="dk1"/>
              </a:buClr>
              <a:buSzPct val="42907"/>
              <a:buFont typeface="Arial"/>
              <a:buNone/>
            </a:pPr>
            <a:r>
              <a:rPr lang="en-GB" sz="2563">
                <a:solidFill>
                  <a:schemeClr val="dk1"/>
                </a:solidFill>
              </a:rPr>
              <a:t>import numpy as np</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rgbClr val="188038"/>
                </a:solidFill>
              </a:rPr>
              <a:t># Create a 2D array</a:t>
            </a:r>
            <a:endParaRPr sz="2563">
              <a:solidFill>
                <a:srgbClr val="188038"/>
              </a:solidFill>
            </a:endParaRPr>
          </a:p>
          <a:p>
            <a:pPr marL="0" lvl="0" indent="0" algn="l" rtl="0">
              <a:spcBef>
                <a:spcPts val="0"/>
              </a:spcBef>
              <a:spcAft>
                <a:spcPts val="0"/>
              </a:spcAft>
              <a:buClr>
                <a:schemeClr val="dk1"/>
              </a:buClr>
              <a:buSzPct val="42907"/>
              <a:buFont typeface="Arial"/>
              <a:buNone/>
            </a:pPr>
            <a:r>
              <a:rPr lang="en-GB" sz="2563">
                <a:solidFill>
                  <a:schemeClr val="dk1"/>
                </a:solidFill>
              </a:rPr>
              <a:t>arr = np.array([[1, 2, 3],</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                [4, 5, 6],</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                [7, 8, 9]])</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rgbClr val="188038"/>
                </a:solidFill>
              </a:rPr>
              <a:t># Access elements (indexing)</a:t>
            </a:r>
            <a:endParaRPr sz="2563">
              <a:solidFill>
                <a:srgbClr val="188038"/>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print("Array:")</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print(arr)</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print("Element at row 0, column 1:", arr[0, 1])</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rgbClr val="188038"/>
                </a:solidFill>
              </a:rPr>
              <a:t># Slicing</a:t>
            </a:r>
            <a:endParaRPr sz="2563">
              <a:solidFill>
                <a:srgbClr val="188038"/>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print("First two rows:")</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print(arr[0:2, :])</a:t>
            </a:r>
            <a:endParaRPr sz="2563">
              <a:solidFill>
                <a:schemeClr val="dk1"/>
              </a:solidFill>
            </a:endParaRPr>
          </a:p>
          <a:p>
            <a:pPr marL="0" lvl="0" indent="0" algn="l" rtl="0">
              <a:spcBef>
                <a:spcPts val="0"/>
              </a:spcBef>
              <a:spcAft>
                <a:spcPts val="0"/>
              </a:spcAft>
              <a:buClr>
                <a:schemeClr val="dk1"/>
              </a:buClr>
              <a:buSzPct val="42907"/>
              <a:buFont typeface="Arial"/>
              <a:buNone/>
            </a:pPr>
            <a:r>
              <a:rPr lang="en-GB" sz="2563">
                <a:solidFill>
                  <a:schemeClr val="dk1"/>
                </a:solidFill>
              </a:rPr>
              <a:t>print("Last column:")</a:t>
            </a:r>
            <a:endParaRPr sz="2563">
              <a:solidFill>
                <a:schemeClr val="dk1"/>
              </a:solidFill>
            </a:endParaRPr>
          </a:p>
          <a:p>
            <a:pPr marL="0" lvl="0" indent="0" algn="l" rtl="0">
              <a:spcBef>
                <a:spcPts val="0"/>
              </a:spcBef>
              <a:spcAft>
                <a:spcPts val="0"/>
              </a:spcAft>
              <a:buNone/>
            </a:pPr>
            <a:r>
              <a:rPr lang="en-GB" sz="2563">
                <a:solidFill>
                  <a:schemeClr val="dk1"/>
                </a:solidFill>
              </a:rPr>
              <a:t>print(arr[:, -1])</a:t>
            </a:r>
            <a:endParaRPr>
              <a:solidFill>
                <a:schemeClr val="dk1"/>
              </a:solidFill>
            </a:endParaRPr>
          </a:p>
        </p:txBody>
      </p:sp>
      <p:pic>
        <p:nvPicPr>
          <p:cNvPr id="275" name="Google Shape;275;p47"/>
          <p:cNvPicPr preferRelativeResize="0"/>
          <p:nvPr/>
        </p:nvPicPr>
        <p:blipFill>
          <a:blip r:embed="rId3">
            <a:alphaModFix/>
          </a:blip>
          <a:stretch>
            <a:fillRect/>
          </a:stretch>
        </p:blipFill>
        <p:spPr>
          <a:xfrm>
            <a:off x="4806550" y="1152475"/>
            <a:ext cx="3939775" cy="3515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Concatenation and Splitting Arrays</a:t>
            </a:r>
            <a:endParaRPr/>
          </a:p>
        </p:txBody>
      </p:sp>
      <p:sp>
        <p:nvSpPr>
          <p:cNvPr id="281" name="Google Shape;281;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61111"/>
              <a:buFont typeface="Arial"/>
              <a:buNone/>
            </a:pPr>
            <a:r>
              <a:rPr lang="en-GB">
                <a:solidFill>
                  <a:schemeClr val="dk1"/>
                </a:solidFill>
              </a:rPr>
              <a:t>import numpy as np</a:t>
            </a:r>
            <a:endParaRPr>
              <a:solidFill>
                <a:schemeClr val="dk1"/>
              </a:solidFill>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GB">
                <a:solidFill>
                  <a:srgbClr val="188038"/>
                </a:solidFill>
              </a:rPr>
              <a:t># Create arrays</a:t>
            </a:r>
            <a:endParaRPr>
              <a:solidFill>
                <a:srgbClr val="188038"/>
              </a:solidFill>
            </a:endParaRPr>
          </a:p>
          <a:p>
            <a:pPr marL="0" lvl="0" indent="0" algn="l" rtl="0">
              <a:spcBef>
                <a:spcPts val="0"/>
              </a:spcBef>
              <a:spcAft>
                <a:spcPts val="0"/>
              </a:spcAft>
              <a:buClr>
                <a:schemeClr val="dk1"/>
              </a:buClr>
              <a:buSzPct val="61111"/>
              <a:buFont typeface="Arial"/>
              <a:buNone/>
            </a:pPr>
            <a:r>
              <a:rPr lang="en-GB">
                <a:solidFill>
                  <a:schemeClr val="dk1"/>
                </a:solidFill>
              </a:rPr>
              <a:t>a = np.array([1, 2, 3])</a:t>
            </a: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chemeClr val="dk1"/>
                </a:solidFill>
              </a:rPr>
              <a:t>b = np.array([4, 5, 6])</a:t>
            </a:r>
            <a:endParaRPr>
              <a:solidFill>
                <a:schemeClr val="dk1"/>
              </a:solidFill>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GB">
                <a:solidFill>
                  <a:srgbClr val="188038"/>
                </a:solidFill>
              </a:rPr>
              <a:t># Concatenation</a:t>
            </a:r>
            <a:endParaRPr>
              <a:solidFill>
                <a:srgbClr val="188038"/>
              </a:solidFill>
            </a:endParaRPr>
          </a:p>
          <a:p>
            <a:pPr marL="0" lvl="0" indent="0" algn="l" rtl="0">
              <a:spcBef>
                <a:spcPts val="0"/>
              </a:spcBef>
              <a:spcAft>
                <a:spcPts val="0"/>
              </a:spcAft>
              <a:buClr>
                <a:schemeClr val="dk1"/>
              </a:buClr>
              <a:buSzPct val="61111"/>
              <a:buFont typeface="Arial"/>
              <a:buNone/>
            </a:pPr>
            <a:r>
              <a:rPr lang="en-GB">
                <a:solidFill>
                  <a:schemeClr val="dk1"/>
                </a:solidFill>
              </a:rPr>
              <a:t>concat_arr = np.concatenate((a, b))</a:t>
            </a: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chemeClr val="dk1"/>
                </a:solidFill>
              </a:rPr>
              <a:t>print("Concatenated array:", concat_arr)</a:t>
            </a:r>
            <a:endParaRPr>
              <a:solidFill>
                <a:schemeClr val="dk1"/>
              </a:solidFill>
            </a:endParaRPr>
          </a:p>
          <a:p>
            <a:pPr marL="0" lvl="0" indent="0" algn="l" rtl="0">
              <a:spcBef>
                <a:spcPts val="0"/>
              </a:spcBef>
              <a:spcAft>
                <a:spcPts val="0"/>
              </a:spcAft>
              <a:buClr>
                <a:schemeClr val="dk1"/>
              </a:buClr>
              <a:buSzPct val="61111"/>
              <a:buFont typeface="Arial"/>
              <a:buNone/>
            </a:pPr>
            <a:endParaRPr/>
          </a:p>
          <a:p>
            <a:pPr marL="0" lvl="0" indent="0" algn="l" rtl="0">
              <a:spcBef>
                <a:spcPts val="0"/>
              </a:spcBef>
              <a:spcAft>
                <a:spcPts val="0"/>
              </a:spcAft>
              <a:buClr>
                <a:schemeClr val="dk1"/>
              </a:buClr>
              <a:buSzPct val="61111"/>
              <a:buFont typeface="Arial"/>
              <a:buNone/>
            </a:pPr>
            <a:r>
              <a:rPr lang="en-GB">
                <a:solidFill>
                  <a:srgbClr val="188038"/>
                </a:solidFill>
              </a:rPr>
              <a:t># Splitting</a:t>
            </a:r>
            <a:endParaRPr>
              <a:solidFill>
                <a:srgbClr val="188038"/>
              </a:solidFill>
            </a:endParaRPr>
          </a:p>
          <a:p>
            <a:pPr marL="0" lvl="0" indent="0" algn="l" rtl="0">
              <a:spcBef>
                <a:spcPts val="0"/>
              </a:spcBef>
              <a:spcAft>
                <a:spcPts val="0"/>
              </a:spcAft>
              <a:buClr>
                <a:schemeClr val="dk1"/>
              </a:buClr>
              <a:buSzPct val="61111"/>
              <a:buFont typeface="Arial"/>
              <a:buNone/>
            </a:pPr>
            <a:r>
              <a:rPr lang="en-GB">
                <a:solidFill>
                  <a:schemeClr val="dk1"/>
                </a:solidFill>
              </a:rPr>
              <a:t>split_arr = np.split(concat_arr, 2)</a:t>
            </a: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chemeClr val="dk1"/>
                </a:solidFill>
              </a:rPr>
              <a:t>print("Split arrays:", split_arr)</a:t>
            </a:r>
            <a:endParaRPr>
              <a:solidFill>
                <a:schemeClr val="dk1"/>
              </a:solidFill>
            </a:endParaRPr>
          </a:p>
          <a:p>
            <a:pPr marL="0" lvl="0" indent="0" algn="l" rtl="0">
              <a:spcBef>
                <a:spcPts val="0"/>
              </a:spcBef>
              <a:spcAft>
                <a:spcPts val="1200"/>
              </a:spcAft>
              <a:buNone/>
            </a:pPr>
            <a:endParaRPr/>
          </a:p>
        </p:txBody>
      </p:sp>
      <p:pic>
        <p:nvPicPr>
          <p:cNvPr id="282" name="Google Shape;282;p48"/>
          <p:cNvPicPr preferRelativeResize="0"/>
          <p:nvPr/>
        </p:nvPicPr>
        <p:blipFill>
          <a:blip r:embed="rId3">
            <a:alphaModFix/>
          </a:blip>
          <a:stretch>
            <a:fillRect/>
          </a:stretch>
        </p:blipFill>
        <p:spPr>
          <a:xfrm>
            <a:off x="4350675" y="2249650"/>
            <a:ext cx="4281276" cy="1248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Arithmetic operations</a:t>
            </a:r>
            <a:endParaRPr/>
          </a:p>
        </p:txBody>
      </p:sp>
      <p:sp>
        <p:nvSpPr>
          <p:cNvPr id="288" name="Google Shape;288;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57023"/>
              <a:buFont typeface="Arial"/>
              <a:buNone/>
            </a:pPr>
            <a:r>
              <a:rPr lang="en-GB" sz="1929">
                <a:solidFill>
                  <a:schemeClr val="dk1"/>
                </a:solidFill>
              </a:rPr>
              <a:t>import numpy as np</a:t>
            </a:r>
            <a:endParaRPr sz="1929">
              <a:solidFill>
                <a:schemeClr val="dk1"/>
              </a:solidFill>
            </a:endParaRPr>
          </a:p>
          <a:p>
            <a:pPr marL="0" lvl="0" indent="0" algn="l" rtl="0">
              <a:spcBef>
                <a:spcPts val="0"/>
              </a:spcBef>
              <a:spcAft>
                <a:spcPts val="0"/>
              </a:spcAft>
              <a:buClr>
                <a:schemeClr val="dk1"/>
              </a:buClr>
              <a:buSzPct val="57023"/>
              <a:buFont typeface="Arial"/>
              <a:buNone/>
            </a:pPr>
            <a:endParaRPr sz="1929"/>
          </a:p>
          <a:p>
            <a:pPr marL="0" lvl="0" indent="0" algn="l" rtl="0">
              <a:spcBef>
                <a:spcPts val="0"/>
              </a:spcBef>
              <a:spcAft>
                <a:spcPts val="0"/>
              </a:spcAft>
              <a:buClr>
                <a:schemeClr val="dk1"/>
              </a:buClr>
              <a:buSzPct val="57023"/>
              <a:buFont typeface="Arial"/>
              <a:buNone/>
            </a:pPr>
            <a:r>
              <a:rPr lang="en-GB" sz="1929">
                <a:solidFill>
                  <a:srgbClr val="188038"/>
                </a:solidFill>
              </a:rPr>
              <a:t># Create arrays</a:t>
            </a:r>
            <a:endParaRPr sz="1929">
              <a:solidFill>
                <a:srgbClr val="188038"/>
              </a:solidFill>
            </a:endParaRPr>
          </a:p>
          <a:p>
            <a:pPr marL="0" lvl="0" indent="0" algn="l" rtl="0">
              <a:spcBef>
                <a:spcPts val="0"/>
              </a:spcBef>
              <a:spcAft>
                <a:spcPts val="0"/>
              </a:spcAft>
              <a:buClr>
                <a:schemeClr val="dk1"/>
              </a:buClr>
              <a:buSzPct val="57023"/>
              <a:buFont typeface="Arial"/>
              <a:buNone/>
            </a:pPr>
            <a:r>
              <a:rPr lang="en-GB" sz="1929">
                <a:solidFill>
                  <a:schemeClr val="dk1"/>
                </a:solidFill>
              </a:rPr>
              <a:t>a = np.array([10, 20, 30])</a:t>
            </a:r>
            <a:endParaRPr sz="1929">
              <a:solidFill>
                <a:schemeClr val="dk1"/>
              </a:solidFill>
            </a:endParaRPr>
          </a:p>
          <a:p>
            <a:pPr marL="0" lvl="0" indent="0" algn="l" rtl="0">
              <a:spcBef>
                <a:spcPts val="0"/>
              </a:spcBef>
              <a:spcAft>
                <a:spcPts val="0"/>
              </a:spcAft>
              <a:buClr>
                <a:schemeClr val="dk1"/>
              </a:buClr>
              <a:buSzPct val="57023"/>
              <a:buFont typeface="Arial"/>
              <a:buNone/>
            </a:pPr>
            <a:r>
              <a:rPr lang="en-GB" sz="1929">
                <a:solidFill>
                  <a:schemeClr val="dk1"/>
                </a:solidFill>
              </a:rPr>
              <a:t>b = np.array([2, 5, 10])</a:t>
            </a:r>
            <a:endParaRPr sz="1929">
              <a:solidFill>
                <a:schemeClr val="dk1"/>
              </a:solidFill>
            </a:endParaRPr>
          </a:p>
          <a:p>
            <a:pPr marL="0" lvl="0" indent="0" algn="l" rtl="0">
              <a:spcBef>
                <a:spcPts val="0"/>
              </a:spcBef>
              <a:spcAft>
                <a:spcPts val="0"/>
              </a:spcAft>
              <a:buClr>
                <a:schemeClr val="dk1"/>
              </a:buClr>
              <a:buSzPct val="57023"/>
              <a:buFont typeface="Arial"/>
              <a:buNone/>
            </a:pPr>
            <a:endParaRPr sz="1929"/>
          </a:p>
          <a:p>
            <a:pPr marL="0" lvl="0" indent="0" algn="l" rtl="0">
              <a:spcBef>
                <a:spcPts val="0"/>
              </a:spcBef>
              <a:spcAft>
                <a:spcPts val="0"/>
              </a:spcAft>
              <a:buClr>
                <a:schemeClr val="dk1"/>
              </a:buClr>
              <a:buSzPct val="57023"/>
              <a:buFont typeface="Arial"/>
              <a:buNone/>
            </a:pPr>
            <a:r>
              <a:rPr lang="en-GB" sz="1929">
                <a:solidFill>
                  <a:srgbClr val="188038"/>
                </a:solidFill>
              </a:rPr>
              <a:t># Arithmetic operations</a:t>
            </a:r>
            <a:endParaRPr sz="1929">
              <a:solidFill>
                <a:srgbClr val="188038"/>
              </a:solidFill>
            </a:endParaRPr>
          </a:p>
          <a:p>
            <a:pPr marL="0" lvl="0" indent="0" algn="l" rtl="0">
              <a:spcBef>
                <a:spcPts val="0"/>
              </a:spcBef>
              <a:spcAft>
                <a:spcPts val="0"/>
              </a:spcAft>
              <a:buClr>
                <a:schemeClr val="dk1"/>
              </a:buClr>
              <a:buSzPct val="57023"/>
              <a:buFont typeface="Arial"/>
              <a:buNone/>
            </a:pPr>
            <a:r>
              <a:rPr lang="en-GB" sz="1929">
                <a:solidFill>
                  <a:schemeClr val="dk1"/>
                </a:solidFill>
              </a:rPr>
              <a:t>print("Addition:", a + b)</a:t>
            </a:r>
            <a:endParaRPr sz="1929">
              <a:solidFill>
                <a:schemeClr val="dk1"/>
              </a:solidFill>
            </a:endParaRPr>
          </a:p>
          <a:p>
            <a:pPr marL="0" lvl="0" indent="0" algn="l" rtl="0">
              <a:spcBef>
                <a:spcPts val="0"/>
              </a:spcBef>
              <a:spcAft>
                <a:spcPts val="0"/>
              </a:spcAft>
              <a:buClr>
                <a:schemeClr val="dk1"/>
              </a:buClr>
              <a:buSzPct val="57023"/>
              <a:buFont typeface="Arial"/>
              <a:buNone/>
            </a:pPr>
            <a:r>
              <a:rPr lang="en-GB" sz="1929">
                <a:solidFill>
                  <a:schemeClr val="dk1"/>
                </a:solidFill>
              </a:rPr>
              <a:t>print("Subtraction:", a - b)</a:t>
            </a:r>
            <a:endParaRPr sz="1929">
              <a:solidFill>
                <a:schemeClr val="dk1"/>
              </a:solidFill>
            </a:endParaRPr>
          </a:p>
          <a:p>
            <a:pPr marL="0" lvl="0" indent="0" algn="l" rtl="0">
              <a:spcBef>
                <a:spcPts val="0"/>
              </a:spcBef>
              <a:spcAft>
                <a:spcPts val="0"/>
              </a:spcAft>
              <a:buClr>
                <a:schemeClr val="dk1"/>
              </a:buClr>
              <a:buSzPct val="57023"/>
              <a:buFont typeface="Arial"/>
              <a:buNone/>
            </a:pPr>
            <a:r>
              <a:rPr lang="en-GB" sz="1929">
                <a:solidFill>
                  <a:schemeClr val="dk1"/>
                </a:solidFill>
              </a:rPr>
              <a:t>print("Multiplication:", a * b)</a:t>
            </a:r>
            <a:endParaRPr sz="1929">
              <a:solidFill>
                <a:schemeClr val="dk1"/>
              </a:solidFill>
            </a:endParaRPr>
          </a:p>
          <a:p>
            <a:pPr marL="0" lvl="0" indent="0" algn="l" rtl="0">
              <a:spcBef>
                <a:spcPts val="0"/>
              </a:spcBef>
              <a:spcAft>
                <a:spcPts val="0"/>
              </a:spcAft>
              <a:buClr>
                <a:schemeClr val="dk1"/>
              </a:buClr>
              <a:buSzPct val="57023"/>
              <a:buFont typeface="Arial"/>
              <a:buNone/>
            </a:pPr>
            <a:r>
              <a:rPr lang="en-GB" sz="1929">
                <a:solidFill>
                  <a:schemeClr val="dk1"/>
                </a:solidFill>
              </a:rPr>
              <a:t>print("Division:", a / b)</a:t>
            </a:r>
            <a:endParaRPr sz="1929">
              <a:solidFill>
                <a:schemeClr val="dk1"/>
              </a:solidFill>
            </a:endParaRPr>
          </a:p>
          <a:p>
            <a:pPr marL="0" lvl="0" indent="0" algn="l" rtl="0">
              <a:spcBef>
                <a:spcPts val="0"/>
              </a:spcBef>
              <a:spcAft>
                <a:spcPts val="0"/>
              </a:spcAft>
              <a:buClr>
                <a:schemeClr val="dk1"/>
              </a:buClr>
              <a:buSzPct val="57023"/>
              <a:buFont typeface="Arial"/>
              <a:buNone/>
            </a:pPr>
            <a:r>
              <a:rPr lang="en-GB" sz="1929">
                <a:solidFill>
                  <a:schemeClr val="dk1"/>
                </a:solidFill>
              </a:rPr>
              <a:t>print("Modulus:", a % b)</a:t>
            </a:r>
            <a:endParaRPr sz="1929">
              <a:solidFill>
                <a:schemeClr val="dk1"/>
              </a:solidFill>
            </a:endParaRPr>
          </a:p>
          <a:p>
            <a:pPr marL="0" lvl="0" indent="0" algn="l" rtl="0">
              <a:spcBef>
                <a:spcPts val="0"/>
              </a:spcBef>
              <a:spcAft>
                <a:spcPts val="0"/>
              </a:spcAft>
              <a:buNone/>
            </a:pPr>
            <a:r>
              <a:rPr lang="en-GB" sz="1929">
                <a:solidFill>
                  <a:schemeClr val="dk1"/>
                </a:solidFill>
              </a:rPr>
              <a:t>print("Power:", a ** b)</a:t>
            </a:r>
            <a:endParaRPr>
              <a:solidFill>
                <a:schemeClr val="dk1"/>
              </a:solidFill>
            </a:endParaRPr>
          </a:p>
        </p:txBody>
      </p:sp>
      <p:pic>
        <p:nvPicPr>
          <p:cNvPr id="289" name="Google Shape;289;p49"/>
          <p:cNvPicPr preferRelativeResize="0"/>
          <p:nvPr/>
        </p:nvPicPr>
        <p:blipFill>
          <a:blip r:embed="rId3">
            <a:alphaModFix/>
          </a:blip>
          <a:stretch>
            <a:fillRect/>
          </a:stretch>
        </p:blipFill>
        <p:spPr>
          <a:xfrm>
            <a:off x="3329900" y="1466750"/>
            <a:ext cx="5502400" cy="23685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Aggregation</a:t>
            </a:r>
            <a:endParaRPr/>
          </a:p>
        </p:txBody>
      </p:sp>
      <p:sp>
        <p:nvSpPr>
          <p:cNvPr id="295" name="Google Shape;295;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GB" dirty="0">
                <a:solidFill>
                  <a:schemeClr val="dk1"/>
                </a:solidFill>
              </a:rPr>
              <a:t>import </a:t>
            </a:r>
            <a:r>
              <a:rPr lang="en-GB" dirty="0" err="1">
                <a:solidFill>
                  <a:schemeClr val="dk1"/>
                </a:solidFill>
              </a:rPr>
              <a:t>numpy</a:t>
            </a:r>
            <a:r>
              <a:rPr lang="en-GB" dirty="0">
                <a:solidFill>
                  <a:schemeClr val="dk1"/>
                </a:solidFill>
              </a:rPr>
              <a:t> as np</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GB" dirty="0">
                <a:solidFill>
                  <a:srgbClr val="188038"/>
                </a:solidFill>
              </a:rPr>
              <a:t># Create an array</a:t>
            </a:r>
            <a:endParaRPr dirty="0">
              <a:solidFill>
                <a:srgbClr val="188038"/>
              </a:solidFill>
            </a:endParaRPr>
          </a:p>
          <a:p>
            <a:pPr marL="0" lvl="0" indent="0" algn="l" rtl="0">
              <a:spcBef>
                <a:spcPts val="0"/>
              </a:spcBef>
              <a:spcAft>
                <a:spcPts val="0"/>
              </a:spcAft>
              <a:buClr>
                <a:schemeClr val="dk1"/>
              </a:buClr>
              <a:buSzPts val="1100"/>
              <a:buFont typeface="Arial"/>
              <a:buNone/>
            </a:pPr>
            <a:r>
              <a:rPr lang="en-GB" dirty="0" err="1">
                <a:solidFill>
                  <a:schemeClr val="dk1"/>
                </a:solidFill>
              </a:rPr>
              <a:t>arr</a:t>
            </a:r>
            <a:r>
              <a:rPr lang="en-GB" dirty="0">
                <a:solidFill>
                  <a:schemeClr val="dk1"/>
                </a:solidFill>
              </a:rPr>
              <a:t> = </a:t>
            </a:r>
            <a:r>
              <a:rPr lang="en-GB" dirty="0" err="1">
                <a:solidFill>
                  <a:schemeClr val="dk1"/>
                </a:solidFill>
              </a:rPr>
              <a:t>np.array</a:t>
            </a:r>
            <a:r>
              <a:rPr lang="en-GB" dirty="0">
                <a:solidFill>
                  <a:schemeClr val="dk1"/>
                </a:solidFill>
              </a:rPr>
              <a:t>([10, 20, 30, 40, 50])</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GB" dirty="0">
                <a:solidFill>
                  <a:srgbClr val="188038"/>
                </a:solidFill>
              </a:rPr>
              <a:t># Aggregation operations</a:t>
            </a:r>
            <a:endParaRPr dirty="0">
              <a:solidFill>
                <a:srgbClr val="188038"/>
              </a:solidFill>
            </a:endParaRPr>
          </a:p>
          <a:p>
            <a:pPr marL="0" lvl="0" indent="0" algn="l" rtl="0">
              <a:spcBef>
                <a:spcPts val="0"/>
              </a:spcBef>
              <a:spcAft>
                <a:spcPts val="0"/>
              </a:spcAft>
              <a:buClr>
                <a:schemeClr val="dk1"/>
              </a:buClr>
              <a:buSzPts val="1100"/>
              <a:buFont typeface="Arial"/>
              <a:buNone/>
            </a:pPr>
            <a:r>
              <a:rPr lang="en-GB" dirty="0">
                <a:solidFill>
                  <a:schemeClr val="dk1"/>
                </a:solidFill>
              </a:rPr>
              <a:t>print("Sum:", </a:t>
            </a:r>
            <a:r>
              <a:rPr lang="en-GB" dirty="0" err="1">
                <a:solidFill>
                  <a:schemeClr val="dk1"/>
                </a:solidFill>
              </a:rPr>
              <a:t>np.sum</a:t>
            </a:r>
            <a:r>
              <a:rPr lang="en-GB" dirty="0">
                <a:solidFill>
                  <a:schemeClr val="dk1"/>
                </a:solidFill>
              </a:rPr>
              <a:t>(</a:t>
            </a:r>
            <a:r>
              <a:rPr lang="en-GB" dirty="0" err="1">
                <a:solidFill>
                  <a:schemeClr val="dk1"/>
                </a:solidFill>
              </a:rPr>
              <a:t>arr</a:t>
            </a:r>
            <a:r>
              <a:rPr lang="en-GB" dirty="0">
                <a:solidFill>
                  <a:schemeClr val="dk1"/>
                </a:solidFill>
              </a:rPr>
              <a:t>))</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print("Mean:", </a:t>
            </a:r>
            <a:r>
              <a:rPr lang="en-GB" dirty="0" err="1">
                <a:solidFill>
                  <a:schemeClr val="dk1"/>
                </a:solidFill>
              </a:rPr>
              <a:t>np.mean</a:t>
            </a:r>
            <a:r>
              <a:rPr lang="en-GB" dirty="0">
                <a:solidFill>
                  <a:schemeClr val="dk1"/>
                </a:solidFill>
              </a:rPr>
              <a:t>(</a:t>
            </a:r>
            <a:r>
              <a:rPr lang="en-GB" dirty="0" err="1">
                <a:solidFill>
                  <a:schemeClr val="dk1"/>
                </a:solidFill>
              </a:rPr>
              <a:t>arr</a:t>
            </a:r>
            <a:r>
              <a:rPr lang="en-GB" dirty="0">
                <a:solidFill>
                  <a:schemeClr val="dk1"/>
                </a:solidFill>
              </a:rPr>
              <a:t>))</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print("Maximum:", </a:t>
            </a:r>
            <a:r>
              <a:rPr lang="en-GB" dirty="0" err="1">
                <a:solidFill>
                  <a:schemeClr val="dk1"/>
                </a:solidFill>
              </a:rPr>
              <a:t>np.max</a:t>
            </a:r>
            <a:r>
              <a:rPr lang="en-GB" dirty="0">
                <a:solidFill>
                  <a:schemeClr val="dk1"/>
                </a:solidFill>
              </a:rPr>
              <a:t>(</a:t>
            </a:r>
            <a:r>
              <a:rPr lang="en-GB" dirty="0" err="1">
                <a:solidFill>
                  <a:schemeClr val="dk1"/>
                </a:solidFill>
              </a:rPr>
              <a:t>arr</a:t>
            </a:r>
            <a:r>
              <a:rPr lang="en-GB" dirty="0">
                <a:solidFill>
                  <a:schemeClr val="dk1"/>
                </a:solidFill>
              </a:rPr>
              <a:t>))</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print("Minimum:", </a:t>
            </a:r>
            <a:r>
              <a:rPr lang="en-GB" dirty="0" err="1">
                <a:solidFill>
                  <a:schemeClr val="dk1"/>
                </a:solidFill>
              </a:rPr>
              <a:t>np.min</a:t>
            </a:r>
            <a:r>
              <a:rPr lang="en-GB" dirty="0">
                <a:solidFill>
                  <a:schemeClr val="dk1"/>
                </a:solidFill>
              </a:rPr>
              <a:t>(</a:t>
            </a:r>
            <a:r>
              <a:rPr lang="en-GB" dirty="0" err="1">
                <a:solidFill>
                  <a:schemeClr val="dk1"/>
                </a:solidFill>
              </a:rPr>
              <a:t>arr</a:t>
            </a:r>
            <a:r>
              <a:rPr lang="en-GB" dirty="0">
                <a:solidFill>
                  <a:schemeClr val="dk1"/>
                </a:solidFill>
              </a:rPr>
              <a:t>))</a:t>
            </a:r>
            <a:endParaRPr dirty="0">
              <a:solidFill>
                <a:schemeClr val="dk1"/>
              </a:solidFill>
            </a:endParaRPr>
          </a:p>
          <a:p>
            <a:pPr marL="0" lvl="0" indent="0" algn="l" rtl="0">
              <a:spcBef>
                <a:spcPts val="0"/>
              </a:spcBef>
              <a:spcAft>
                <a:spcPts val="0"/>
              </a:spcAft>
              <a:buNone/>
            </a:pPr>
            <a:r>
              <a:rPr lang="en-GB" dirty="0">
                <a:solidFill>
                  <a:schemeClr val="dk1"/>
                </a:solidFill>
              </a:rPr>
              <a:t>print("Standard Deviation:", </a:t>
            </a:r>
            <a:r>
              <a:rPr lang="en-GB" dirty="0" err="1">
                <a:solidFill>
                  <a:schemeClr val="dk1"/>
                </a:solidFill>
              </a:rPr>
              <a:t>np.std</a:t>
            </a:r>
            <a:r>
              <a:rPr lang="en-GB" dirty="0">
                <a:solidFill>
                  <a:schemeClr val="dk1"/>
                </a:solidFill>
              </a:rPr>
              <a:t>(</a:t>
            </a:r>
            <a:r>
              <a:rPr lang="en-GB" dirty="0" err="1">
                <a:solidFill>
                  <a:schemeClr val="dk1"/>
                </a:solidFill>
              </a:rPr>
              <a:t>arr</a:t>
            </a:r>
            <a:r>
              <a:rPr lang="en-GB" dirty="0">
                <a:solidFill>
                  <a:schemeClr val="dk1"/>
                </a:solidFill>
              </a:rPr>
              <a:t>))</a:t>
            </a:r>
            <a:endParaRPr dirty="0">
              <a:solidFill>
                <a:schemeClr val="dk1"/>
              </a:solidFill>
            </a:endParaRPr>
          </a:p>
        </p:txBody>
      </p:sp>
      <p:pic>
        <p:nvPicPr>
          <p:cNvPr id="296" name="Google Shape;296;p50"/>
          <p:cNvPicPr preferRelativeResize="0"/>
          <p:nvPr/>
        </p:nvPicPr>
        <p:blipFill>
          <a:blip r:embed="rId3">
            <a:alphaModFix/>
          </a:blip>
          <a:stretch>
            <a:fillRect/>
          </a:stretch>
        </p:blipFill>
        <p:spPr>
          <a:xfrm>
            <a:off x="4340750" y="2117875"/>
            <a:ext cx="4390925" cy="1895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Sorting - Numbers</a:t>
            </a:r>
            <a:endParaRPr/>
          </a:p>
        </p:txBody>
      </p:sp>
      <p:sp>
        <p:nvSpPr>
          <p:cNvPr id="302" name="Google Shape;302;p51"/>
          <p:cNvSpPr txBox="1">
            <a:spLocks noGrp="1"/>
          </p:cNvSpPr>
          <p:nvPr>
            <p:ph type="body" idx="1"/>
          </p:nvPr>
        </p:nvSpPr>
        <p:spPr>
          <a:xfrm>
            <a:off x="311700" y="11921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a:solidFill>
                  <a:schemeClr val="dk1"/>
                </a:solidFill>
              </a:rPr>
              <a:t>import numpy as np</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rgbClr val="188038"/>
                </a:solidFill>
              </a:rPr>
              <a:t># Create an array</a:t>
            </a:r>
            <a:endParaRPr>
              <a:solidFill>
                <a:srgbClr val="188038"/>
              </a:solidFill>
            </a:endParaRPr>
          </a:p>
          <a:p>
            <a:pPr marL="0" lvl="0" indent="0" algn="l" rtl="0">
              <a:spcBef>
                <a:spcPts val="1200"/>
              </a:spcBef>
              <a:spcAft>
                <a:spcPts val="0"/>
              </a:spcAft>
              <a:buClr>
                <a:schemeClr val="dk1"/>
              </a:buClr>
              <a:buSzPts val="1100"/>
              <a:buFont typeface="Arial"/>
              <a:buNone/>
            </a:pPr>
            <a:r>
              <a:rPr lang="en-GB">
                <a:solidFill>
                  <a:schemeClr val="dk1"/>
                </a:solidFill>
              </a:rPr>
              <a:t>arr = np.array([40, 10, 30, 20])</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rgbClr val="188038"/>
                </a:solidFill>
              </a:rPr>
              <a:t># Sorting</a:t>
            </a:r>
            <a:endParaRPr>
              <a:solidFill>
                <a:srgbClr val="188038"/>
              </a:solidFill>
            </a:endParaRPr>
          </a:p>
          <a:p>
            <a:pPr marL="0" lvl="0" indent="0" algn="l" rtl="0">
              <a:spcBef>
                <a:spcPts val="1200"/>
              </a:spcBef>
              <a:spcAft>
                <a:spcPts val="0"/>
              </a:spcAft>
              <a:buClr>
                <a:schemeClr val="dk1"/>
              </a:buClr>
              <a:buSzPts val="1100"/>
              <a:buFont typeface="Arial"/>
              <a:buNone/>
            </a:pPr>
            <a:r>
              <a:rPr lang="en-GB">
                <a:solidFill>
                  <a:schemeClr val="dk1"/>
                </a:solidFill>
              </a:rPr>
              <a:t>sorted_arr = np.sort(arr)</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print("Original array:", arr)</a:t>
            </a:r>
            <a:endParaRPr>
              <a:solidFill>
                <a:schemeClr val="dk1"/>
              </a:solidFill>
            </a:endParaRPr>
          </a:p>
          <a:p>
            <a:pPr marL="0" lvl="0" indent="0" algn="l" rtl="0">
              <a:spcBef>
                <a:spcPts val="1200"/>
              </a:spcBef>
              <a:spcAft>
                <a:spcPts val="1200"/>
              </a:spcAft>
              <a:buNone/>
            </a:pPr>
            <a:r>
              <a:rPr lang="en-GB">
                <a:solidFill>
                  <a:schemeClr val="dk1"/>
                </a:solidFill>
              </a:rPr>
              <a:t>print("Sorted array:", sorted_arr)</a:t>
            </a:r>
            <a:endParaRPr>
              <a:solidFill>
                <a:schemeClr val="dk1"/>
              </a:solidFill>
            </a:endParaRPr>
          </a:p>
        </p:txBody>
      </p:sp>
      <p:pic>
        <p:nvPicPr>
          <p:cNvPr id="303" name="Google Shape;303;p51"/>
          <p:cNvPicPr preferRelativeResize="0"/>
          <p:nvPr/>
        </p:nvPicPr>
        <p:blipFill>
          <a:blip r:embed="rId3">
            <a:alphaModFix/>
          </a:blip>
          <a:stretch>
            <a:fillRect/>
          </a:stretch>
        </p:blipFill>
        <p:spPr>
          <a:xfrm>
            <a:off x="5440800" y="2408225"/>
            <a:ext cx="3256625" cy="12189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Sorting - Text </a:t>
            </a:r>
            <a:endParaRPr/>
          </a:p>
        </p:txBody>
      </p:sp>
      <p:sp>
        <p:nvSpPr>
          <p:cNvPr id="309" name="Google Shape;309;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GB">
                <a:solidFill>
                  <a:srgbClr val="188038"/>
                </a:solidFill>
              </a:rPr>
              <a:t># List of text values</a:t>
            </a:r>
            <a:endParaRPr>
              <a:solidFill>
                <a:srgbClr val="188038"/>
              </a:solidFill>
            </a:endParaRPr>
          </a:p>
          <a:p>
            <a:pPr marL="0" lvl="0" indent="0" algn="l" rtl="0">
              <a:spcBef>
                <a:spcPts val="1200"/>
              </a:spcBef>
              <a:spcAft>
                <a:spcPts val="0"/>
              </a:spcAft>
              <a:buClr>
                <a:schemeClr val="dk1"/>
              </a:buClr>
              <a:buSzPts val="1100"/>
              <a:buFont typeface="Arial"/>
              <a:buNone/>
            </a:pPr>
            <a:r>
              <a:rPr lang="en-GB">
                <a:solidFill>
                  <a:schemeClr val="dk1"/>
                </a:solidFill>
              </a:rPr>
              <a:t>words = ["banana", "apple", "cherry", "date"]</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rgbClr val="188038"/>
                </a:solidFill>
              </a:rPr>
              <a:t># Sorting text</a:t>
            </a:r>
            <a:endParaRPr>
              <a:solidFill>
                <a:srgbClr val="188038"/>
              </a:solidFill>
            </a:endParaRPr>
          </a:p>
          <a:p>
            <a:pPr marL="0" lvl="0" indent="0" algn="l" rtl="0">
              <a:spcBef>
                <a:spcPts val="1200"/>
              </a:spcBef>
              <a:spcAft>
                <a:spcPts val="0"/>
              </a:spcAft>
              <a:buClr>
                <a:schemeClr val="dk1"/>
              </a:buClr>
              <a:buSzPts val="1100"/>
              <a:buFont typeface="Arial"/>
              <a:buNone/>
            </a:pPr>
            <a:r>
              <a:rPr lang="en-GB">
                <a:solidFill>
                  <a:schemeClr val="dk1"/>
                </a:solidFill>
              </a:rPr>
              <a:t>sorted_words = sorted(words)</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print("Original list:", words)</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print("Sorted list:", sorted_words)</a:t>
            </a:r>
            <a:endParaRPr>
              <a:solidFill>
                <a:schemeClr val="dk1"/>
              </a:solidFill>
            </a:endParaRPr>
          </a:p>
          <a:p>
            <a:pPr marL="0" lvl="0" indent="0" algn="l" rtl="0">
              <a:spcBef>
                <a:spcPts val="1200"/>
              </a:spcBef>
              <a:spcAft>
                <a:spcPts val="0"/>
              </a:spcAft>
              <a:buNone/>
            </a:pPr>
            <a:r>
              <a:rPr lang="en-GB" sz="1316">
                <a:solidFill>
                  <a:schemeClr val="dk1"/>
                </a:solidFill>
              </a:rPr>
              <a:t>🔹 Text is sorted </a:t>
            </a:r>
            <a:r>
              <a:rPr lang="en-GB" sz="1316" b="1">
                <a:solidFill>
                  <a:schemeClr val="dk1"/>
                </a:solidFill>
              </a:rPr>
              <a:t>alphabetically (lexicographical order)</a:t>
            </a:r>
            <a:r>
              <a:rPr lang="en-GB" sz="1316">
                <a:solidFill>
                  <a:schemeClr val="dk1"/>
                </a:solidFill>
              </a:rPr>
              <a:t>.</a:t>
            </a:r>
            <a:endParaRPr sz="1316">
              <a:solidFill>
                <a:schemeClr val="dk1"/>
              </a:solidFill>
            </a:endParaRPr>
          </a:p>
          <a:p>
            <a:pPr marL="0" lvl="0" indent="0" algn="l" rtl="0">
              <a:spcBef>
                <a:spcPts val="1200"/>
              </a:spcBef>
              <a:spcAft>
                <a:spcPts val="1200"/>
              </a:spcAft>
              <a:buNone/>
            </a:pPr>
            <a:r>
              <a:rPr lang="en-GB" sz="1316">
                <a:solidFill>
                  <a:schemeClr val="dk1"/>
                </a:solidFill>
              </a:rPr>
              <a:t>🔹 Uppercase letters are sorted before lowercase by default.</a:t>
            </a:r>
            <a:endParaRPr sz="2016"/>
          </a:p>
        </p:txBody>
      </p:sp>
      <p:pic>
        <p:nvPicPr>
          <p:cNvPr id="310" name="Google Shape;310;p52"/>
          <p:cNvPicPr preferRelativeResize="0"/>
          <p:nvPr/>
        </p:nvPicPr>
        <p:blipFill>
          <a:blip r:embed="rId3">
            <a:alphaModFix/>
          </a:blip>
          <a:stretch>
            <a:fillRect/>
          </a:stretch>
        </p:blipFill>
        <p:spPr>
          <a:xfrm>
            <a:off x="3716400" y="2164275"/>
            <a:ext cx="5246625" cy="11061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Sorting using Numpy</a:t>
            </a:r>
            <a:endParaRPr/>
          </a:p>
        </p:txBody>
      </p:sp>
      <p:sp>
        <p:nvSpPr>
          <p:cNvPr id="316" name="Google Shape;316;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a:solidFill>
                  <a:schemeClr val="dk1"/>
                </a:solidFill>
              </a:rPr>
              <a:t>import numpy as np</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words = np.array(["banana", "apple", "cherry", "date"])</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sorted_words = np.sort(words)</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print("Sorted words:", sorted_words)</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1200"/>
              </a:spcAft>
              <a:buNone/>
            </a:pPr>
            <a:r>
              <a:rPr lang="en-GB">
                <a:solidFill>
                  <a:schemeClr val="dk1"/>
                </a:solidFill>
              </a:rPr>
              <a:t>Sorted words: ['apple' 'banana' 'cherry' 'date']</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Partitioning  </a:t>
            </a:r>
            <a:endParaRPr/>
          </a:p>
          <a:p>
            <a:pPr marL="0" lvl="0" indent="0" algn="l" rtl="0">
              <a:spcBef>
                <a:spcPts val="0"/>
              </a:spcBef>
              <a:spcAft>
                <a:spcPts val="0"/>
              </a:spcAft>
              <a:buNone/>
            </a:pPr>
            <a:endParaRPr/>
          </a:p>
        </p:txBody>
      </p:sp>
      <p:sp>
        <p:nvSpPr>
          <p:cNvPr id="322" name="Google Shape;322;p54"/>
          <p:cNvSpPr txBox="1">
            <a:spLocks noGrp="1"/>
          </p:cNvSpPr>
          <p:nvPr>
            <p:ph type="body" idx="1"/>
          </p:nvPr>
        </p:nvSpPr>
        <p:spPr>
          <a:xfrm>
            <a:off x="311700" y="941500"/>
            <a:ext cx="8520600" cy="36273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61111"/>
              <a:buFont typeface="Arial"/>
              <a:buNone/>
            </a:pPr>
            <a:r>
              <a:rPr lang="en-GB">
                <a:solidFill>
                  <a:schemeClr val="dk1"/>
                </a:solidFill>
              </a:rPr>
              <a:t>import numpy as np</a:t>
            </a:r>
            <a:endParaRPr>
              <a:solidFill>
                <a:schemeClr val="dk1"/>
              </a:solidFill>
            </a:endParaRPr>
          </a:p>
          <a:p>
            <a:pPr marL="0" lvl="0" indent="0" algn="l" rtl="0">
              <a:spcBef>
                <a:spcPts val="0"/>
              </a:spcBef>
              <a:spcAft>
                <a:spcPts val="0"/>
              </a:spcAft>
              <a:buClr>
                <a:schemeClr val="dk1"/>
              </a:buClr>
              <a:buSzPct val="61111"/>
              <a:buFont typeface="Arial"/>
              <a:buNone/>
            </a:pP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rgbClr val="188038"/>
                </a:solidFill>
              </a:rPr>
              <a:t># Create an array</a:t>
            </a:r>
            <a:endParaRPr>
              <a:solidFill>
                <a:srgbClr val="188038"/>
              </a:solidFill>
            </a:endParaRPr>
          </a:p>
          <a:p>
            <a:pPr marL="0" lvl="0" indent="0" algn="l" rtl="0">
              <a:spcBef>
                <a:spcPts val="0"/>
              </a:spcBef>
              <a:spcAft>
                <a:spcPts val="0"/>
              </a:spcAft>
              <a:buClr>
                <a:schemeClr val="dk1"/>
              </a:buClr>
              <a:buSzPct val="61111"/>
              <a:buFont typeface="Arial"/>
              <a:buNone/>
            </a:pPr>
            <a:r>
              <a:rPr lang="en-GB">
                <a:solidFill>
                  <a:schemeClr val="dk1"/>
                </a:solidFill>
              </a:rPr>
              <a:t>arr = np.array([40, 10, 30, 20, 50])</a:t>
            </a:r>
            <a:endParaRPr>
              <a:solidFill>
                <a:schemeClr val="dk1"/>
              </a:solidFill>
            </a:endParaRPr>
          </a:p>
          <a:p>
            <a:pPr marL="0" lvl="0" indent="0" algn="l" rtl="0">
              <a:spcBef>
                <a:spcPts val="0"/>
              </a:spcBef>
              <a:spcAft>
                <a:spcPts val="0"/>
              </a:spcAft>
              <a:buClr>
                <a:schemeClr val="dk1"/>
              </a:buClr>
              <a:buSzPct val="61111"/>
              <a:buFont typeface="Arial"/>
              <a:buNone/>
            </a:pP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rgbClr val="188038"/>
                </a:solidFill>
              </a:rPr>
              <a:t># Partition the array (element at index 2 will be in correct position)</a:t>
            </a:r>
            <a:endParaRPr>
              <a:solidFill>
                <a:srgbClr val="188038"/>
              </a:solidFill>
            </a:endParaRPr>
          </a:p>
          <a:p>
            <a:pPr marL="0" lvl="0" indent="0" algn="l" rtl="0">
              <a:spcBef>
                <a:spcPts val="0"/>
              </a:spcBef>
              <a:spcAft>
                <a:spcPts val="0"/>
              </a:spcAft>
              <a:buClr>
                <a:schemeClr val="dk1"/>
              </a:buClr>
              <a:buSzPct val="61111"/>
              <a:buFont typeface="Arial"/>
              <a:buNone/>
            </a:pPr>
            <a:r>
              <a:rPr lang="en-GB">
                <a:solidFill>
                  <a:schemeClr val="dk1"/>
                </a:solidFill>
              </a:rPr>
              <a:t>part_arr = np.partition(arr, 2)</a:t>
            </a:r>
            <a:endParaRPr>
              <a:solidFill>
                <a:schemeClr val="dk1"/>
              </a:solidFill>
            </a:endParaRPr>
          </a:p>
          <a:p>
            <a:pPr marL="0" lvl="0" indent="0" algn="l" rtl="0">
              <a:spcBef>
                <a:spcPts val="0"/>
              </a:spcBef>
              <a:spcAft>
                <a:spcPts val="0"/>
              </a:spcAft>
              <a:buClr>
                <a:schemeClr val="dk1"/>
              </a:buClr>
              <a:buSzPct val="61111"/>
              <a:buFont typeface="Arial"/>
              <a:buNone/>
            </a:pP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chemeClr val="dk1"/>
                </a:solidFill>
              </a:rPr>
              <a:t>print("Original array:", arr)</a:t>
            </a:r>
            <a:endParaRPr>
              <a:solidFill>
                <a:schemeClr val="dk1"/>
              </a:solidFill>
            </a:endParaRPr>
          </a:p>
          <a:p>
            <a:pPr marL="0" lvl="0" indent="0" algn="l" rtl="0">
              <a:spcBef>
                <a:spcPts val="0"/>
              </a:spcBef>
              <a:spcAft>
                <a:spcPts val="0"/>
              </a:spcAft>
              <a:buNone/>
            </a:pPr>
            <a:r>
              <a:rPr lang="en-GB">
                <a:solidFill>
                  <a:schemeClr val="dk1"/>
                </a:solidFill>
              </a:rPr>
              <a:t>print("Partitioned array:", part_arr)</a:t>
            </a:r>
            <a:endParaRPr>
              <a:solidFill>
                <a:schemeClr val="dk1"/>
              </a:solidFill>
            </a:endParaRPr>
          </a:p>
          <a:p>
            <a:pPr marL="0" lvl="0" indent="0" algn="l" rtl="0">
              <a:spcBef>
                <a:spcPts val="0"/>
              </a:spcBef>
              <a:spcAft>
                <a:spcPts val="0"/>
              </a:spcAft>
              <a:buClr>
                <a:schemeClr val="dk1"/>
              </a:buClr>
              <a:buSzPct val="61111"/>
              <a:buFont typeface="Arial"/>
              <a:buNone/>
            </a:pPr>
            <a:endParaRPr>
              <a:solidFill>
                <a:schemeClr val="dk1"/>
              </a:solidFill>
            </a:endParaRPr>
          </a:p>
          <a:p>
            <a:pPr marL="0" lvl="0" indent="0" algn="l" rtl="0">
              <a:spcBef>
                <a:spcPts val="0"/>
              </a:spcBef>
              <a:spcAft>
                <a:spcPts val="0"/>
              </a:spcAft>
              <a:buClr>
                <a:schemeClr val="dk1"/>
              </a:buClr>
              <a:buSzPct val="61111"/>
              <a:buFont typeface="Arial"/>
              <a:buNone/>
            </a:pPr>
            <a:r>
              <a:rPr lang="en-GB">
                <a:solidFill>
                  <a:schemeClr val="dk1"/>
                </a:solidFill>
              </a:rPr>
              <a:t>Original array: [40 10 30 20 50]</a:t>
            </a:r>
            <a:endParaRPr>
              <a:solidFill>
                <a:schemeClr val="dk1"/>
              </a:solidFill>
            </a:endParaRPr>
          </a:p>
          <a:p>
            <a:pPr marL="0" lvl="0" indent="0" algn="l" rtl="0">
              <a:spcBef>
                <a:spcPts val="1200"/>
              </a:spcBef>
              <a:spcAft>
                <a:spcPts val="1200"/>
              </a:spcAft>
              <a:buNone/>
            </a:pPr>
            <a:r>
              <a:rPr lang="en-GB">
                <a:solidFill>
                  <a:schemeClr val="dk1"/>
                </a:solidFill>
              </a:rPr>
              <a:t>Partitioned array: [20 10 30 40 50]</a:t>
            </a:r>
            <a:endParaRPr>
              <a:solidFill>
                <a:schemeClr val="dk1"/>
              </a:solidFill>
            </a:endParaRPr>
          </a:p>
        </p:txBody>
      </p:sp>
      <p:pic>
        <p:nvPicPr>
          <p:cNvPr id="323" name="Google Shape;323;p54"/>
          <p:cNvPicPr preferRelativeResize="0"/>
          <p:nvPr/>
        </p:nvPicPr>
        <p:blipFill>
          <a:blip r:embed="rId3">
            <a:alphaModFix/>
          </a:blip>
          <a:stretch>
            <a:fillRect/>
          </a:stretch>
        </p:blipFill>
        <p:spPr>
          <a:xfrm>
            <a:off x="3676750" y="3726300"/>
            <a:ext cx="5100076" cy="773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Example on Strings</a:t>
            </a:r>
            <a:endParaRPr/>
          </a:p>
        </p:txBody>
      </p:sp>
      <p:sp>
        <p:nvSpPr>
          <p:cNvPr id="329" name="Google Shape;329;p55"/>
          <p:cNvSpPr txBox="1">
            <a:spLocks noGrp="1"/>
          </p:cNvSpPr>
          <p:nvPr>
            <p:ph type="body" idx="1"/>
          </p:nvPr>
        </p:nvSpPr>
        <p:spPr>
          <a:xfrm>
            <a:off x="311700" y="951400"/>
            <a:ext cx="8747400" cy="38649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61111"/>
              <a:buFont typeface="Arial"/>
              <a:buNone/>
            </a:pPr>
            <a:r>
              <a:rPr lang="en-GB">
                <a:solidFill>
                  <a:schemeClr val="dk1"/>
                </a:solidFill>
              </a:rPr>
              <a:t>import numpy as np</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Array of text</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words = np.array(["banana", "apple", "cherry", "date", "fig"])</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 Partition based on index 2</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part_words = np.partition(words, 2)</a:t>
            </a:r>
            <a:endParaRPr>
              <a:solidFill>
                <a:schemeClr val="dk1"/>
              </a:solidFill>
            </a:endParaRPr>
          </a:p>
          <a:p>
            <a:pPr marL="0" lvl="0" indent="0" algn="l" rtl="0">
              <a:spcBef>
                <a:spcPts val="1200"/>
              </a:spcBef>
              <a:spcAft>
                <a:spcPts val="0"/>
              </a:spcAft>
              <a:buClr>
                <a:schemeClr val="dk1"/>
              </a:buClr>
              <a:buSzPct val="61111"/>
              <a:buFont typeface="Arial"/>
              <a:buNone/>
            </a:pPr>
            <a:r>
              <a:rPr lang="en-GB">
                <a:solidFill>
                  <a:schemeClr val="dk1"/>
                </a:solidFill>
              </a:rPr>
              <a:t>print("Original words:", words)</a:t>
            </a:r>
            <a:endParaRPr>
              <a:solidFill>
                <a:schemeClr val="dk1"/>
              </a:solidFill>
            </a:endParaRPr>
          </a:p>
          <a:p>
            <a:pPr marL="0" lvl="0" indent="0" algn="l" rtl="0">
              <a:spcBef>
                <a:spcPts val="1200"/>
              </a:spcBef>
              <a:spcAft>
                <a:spcPts val="0"/>
              </a:spcAft>
              <a:buNone/>
            </a:pPr>
            <a:r>
              <a:rPr lang="en-GB">
                <a:solidFill>
                  <a:schemeClr val="dk1"/>
                </a:solidFill>
              </a:rPr>
              <a:t>print("Partitioned words:", part_words)</a:t>
            </a:r>
            <a:endParaRPr>
              <a:solidFill>
                <a:schemeClr val="dk1"/>
              </a:solidFill>
            </a:endParaRPr>
          </a:p>
          <a:p>
            <a:pPr marL="0" lvl="0" indent="0" algn="l" rtl="0">
              <a:spcBef>
                <a:spcPts val="1200"/>
              </a:spcBef>
              <a:spcAft>
                <a:spcPts val="0"/>
              </a:spcAft>
              <a:buClr>
                <a:schemeClr val="dk1"/>
              </a:buClr>
              <a:buSzPct val="61111"/>
              <a:buFont typeface="Arial"/>
              <a:buNone/>
            </a:pPr>
            <a:endParaRPr>
              <a:solidFill>
                <a:schemeClr val="dk1"/>
              </a:solidFill>
            </a:endParaRPr>
          </a:p>
          <a:p>
            <a:pPr marL="0" lvl="0" indent="0" algn="l" rtl="0">
              <a:spcBef>
                <a:spcPts val="1200"/>
              </a:spcBef>
              <a:spcAft>
                <a:spcPts val="0"/>
              </a:spcAft>
              <a:buNone/>
            </a:pPr>
            <a:r>
              <a:rPr lang="en-GB">
                <a:solidFill>
                  <a:schemeClr val="dk1"/>
                </a:solidFill>
              </a:rPr>
              <a:t>Original words: ['banana' 'apple' 'cherry' 'date' 'fig']</a:t>
            </a:r>
            <a:endParaRPr>
              <a:solidFill>
                <a:schemeClr val="dk1"/>
              </a:solidFill>
            </a:endParaRPr>
          </a:p>
          <a:p>
            <a:pPr marL="0" lvl="0" indent="0" algn="l" rtl="0">
              <a:spcBef>
                <a:spcPts val="1200"/>
              </a:spcBef>
              <a:spcAft>
                <a:spcPts val="1200"/>
              </a:spcAft>
              <a:buNone/>
            </a:pPr>
            <a:r>
              <a:rPr lang="en-GB">
                <a:solidFill>
                  <a:schemeClr val="dk1"/>
                </a:solidFill>
              </a:rPr>
              <a:t>Partitioned words: ['apple' 'banana' 'cherry' 'date' 'fig']</a:t>
            </a:r>
            <a:endParaRPr>
              <a:solidFill>
                <a:schemeClr val="dk1"/>
              </a:solidFill>
            </a:endParaRPr>
          </a:p>
        </p:txBody>
      </p:sp>
      <p:pic>
        <p:nvPicPr>
          <p:cNvPr id="330" name="Google Shape;330;p55"/>
          <p:cNvPicPr preferRelativeResize="0"/>
          <p:nvPr/>
        </p:nvPicPr>
        <p:blipFill>
          <a:blip r:embed="rId3">
            <a:alphaModFix/>
          </a:blip>
          <a:stretch>
            <a:fillRect/>
          </a:stretch>
        </p:blipFill>
        <p:spPr>
          <a:xfrm>
            <a:off x="2190200" y="1109950"/>
            <a:ext cx="6868800" cy="63150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6" name="Google Shape;336;p56"/>
          <p:cNvSpPr txBox="1">
            <a:spLocks noGrp="1"/>
          </p:cNvSpPr>
          <p:nvPr>
            <p:ph type="body" idx="1"/>
          </p:nvPr>
        </p:nvSpPr>
        <p:spPr>
          <a:xfrm>
            <a:off x="311700" y="595044"/>
            <a:ext cx="8520600" cy="4440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GB">
                <a:solidFill>
                  <a:schemeClr val="dk1"/>
                </a:solidFill>
              </a:rPr>
              <a:t>import numpy as np</a:t>
            </a:r>
            <a:endParaRPr>
              <a:solidFill>
                <a:schemeClr val="dk1"/>
              </a:solidFill>
            </a:endParaRPr>
          </a:p>
          <a:p>
            <a:pPr marL="0" lvl="0" indent="0" algn="l" rtl="0">
              <a:spcBef>
                <a:spcPts val="1200"/>
              </a:spcBef>
              <a:spcAft>
                <a:spcPts val="0"/>
              </a:spcAft>
              <a:buClr>
                <a:schemeClr val="dk1"/>
              </a:buClr>
              <a:buSzPts val="1100"/>
              <a:buFont typeface="Arial"/>
              <a:buNone/>
            </a:pPr>
            <a:r>
              <a:rPr lang="en-GB">
                <a:solidFill>
                  <a:schemeClr val="dk1"/>
                </a:solidFill>
              </a:rPr>
              <a:t>words = np.array(["orange", "grape", "apple", "mango", "banana"])</a:t>
            </a:r>
            <a:endParaRPr>
              <a:solidFill>
                <a:schemeClr val="dk1"/>
              </a:solidFill>
            </a:endParaRPr>
          </a:p>
          <a:p>
            <a:pPr marL="0" lvl="0" indent="0" algn="l" rtl="0">
              <a:spcBef>
                <a:spcPts val="1200"/>
              </a:spcBef>
              <a:spcAft>
                <a:spcPts val="0"/>
              </a:spcAft>
              <a:buNone/>
            </a:pPr>
            <a:r>
              <a:rPr lang="en-GB">
                <a:solidFill>
                  <a:schemeClr val="dk1"/>
                </a:solidFill>
              </a:rPr>
              <a:t>part_words = np.partition(words, 1)</a:t>
            </a:r>
            <a:endParaRPr>
              <a:solidFill>
                <a:schemeClr val="dk1"/>
              </a:solidFill>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GB" sz="1600">
                <a:solidFill>
                  <a:srgbClr val="0000FF"/>
                </a:solidFill>
              </a:rPr>
              <a:t>What np.partition() does:</a:t>
            </a:r>
            <a:endParaRPr sz="1600">
              <a:solidFill>
                <a:srgbClr val="0000FF"/>
              </a:solidFill>
            </a:endParaRPr>
          </a:p>
          <a:p>
            <a:pPr marL="457200" lvl="0" indent="-330200" algn="l" rtl="0">
              <a:spcBef>
                <a:spcPts val="1200"/>
              </a:spcBef>
              <a:spcAft>
                <a:spcPts val="0"/>
              </a:spcAft>
              <a:buClr>
                <a:schemeClr val="dk1"/>
              </a:buClr>
              <a:buSzPts val="1600"/>
              <a:buChar char="●"/>
            </a:pPr>
            <a:r>
              <a:rPr lang="en-GB" sz="1600">
                <a:solidFill>
                  <a:schemeClr val="dk1"/>
                </a:solidFill>
              </a:rPr>
              <a:t>np.partition(array, k) rearranges the array so that the element that would be at position k in a fully sorted array is placed at index k.</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All elements before index k are alphabetically smaller than that element.</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All elements after index k are alphabetically larger.</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The elements on either side are not fully sorted.</a:t>
            </a:r>
            <a:endParaRPr sz="1600">
              <a:solidFill>
                <a:schemeClr val="dk1"/>
              </a:solidFill>
            </a:endParaRPr>
          </a:p>
          <a:p>
            <a:pPr marL="457200" lvl="0" indent="-330200" algn="l" rtl="0">
              <a:spcBef>
                <a:spcPts val="0"/>
              </a:spcBef>
              <a:spcAft>
                <a:spcPts val="0"/>
              </a:spcAft>
              <a:buSzPts val="1600"/>
              <a:buChar char="●"/>
            </a:pPr>
            <a:r>
              <a:rPr lang="en-GB" sz="1600">
                <a:solidFill>
                  <a:srgbClr val="188038"/>
                </a:solidFill>
                <a:latin typeface="Roboto Mono"/>
                <a:ea typeface="Roboto Mono"/>
                <a:cs typeface="Roboto Mono"/>
                <a:sym typeface="Roboto Mono"/>
              </a:rPr>
              <a:t>partition()</a:t>
            </a:r>
            <a:r>
              <a:rPr lang="en-GB" sz="1600">
                <a:solidFill>
                  <a:schemeClr val="dk1"/>
                </a:solidFill>
              </a:rPr>
              <a:t> is </a:t>
            </a:r>
            <a:r>
              <a:rPr lang="en-GB" sz="1600" b="1">
                <a:solidFill>
                  <a:schemeClr val="dk1"/>
                </a:solidFill>
              </a:rPr>
              <a:t>faster than full sorting</a:t>
            </a:r>
            <a:r>
              <a:rPr lang="en-GB" sz="1600">
                <a:solidFill>
                  <a:schemeClr val="dk1"/>
                </a:solidFill>
              </a:rPr>
              <a:t> when you only need a specific position (like finding the smallest or second smallest element), not the entire sorted list.</a:t>
            </a:r>
            <a:endParaRPr sz="16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2897</Words>
  <Application>Microsoft Office PowerPoint</Application>
  <PresentationFormat>On-screen Show (16:9)</PresentationFormat>
  <Paragraphs>265</Paragraphs>
  <Slides>44</Slides>
  <Notes>44</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Roboto Mono</vt:lpstr>
      <vt:lpstr>Arial</vt:lpstr>
      <vt:lpstr>Simple Light</vt:lpstr>
      <vt:lpstr>Introduction to Data Science</vt:lpstr>
      <vt:lpstr>What is Data Science?</vt:lpstr>
      <vt:lpstr>Data analytics</vt:lpstr>
      <vt:lpstr>Business intelligence</vt:lpstr>
      <vt:lpstr>PowerPoint Presentation</vt:lpstr>
      <vt:lpstr>PowerPoint Presentation</vt:lpstr>
      <vt:lpstr>PowerPoint Presentation</vt:lpstr>
      <vt:lpstr>PowerPoint Presentation</vt:lpstr>
      <vt:lpstr>PowerPoint Presentation</vt:lpstr>
      <vt:lpstr>Data Science in the Big Data World </vt:lpstr>
      <vt:lpstr>Structured Data</vt:lpstr>
      <vt:lpstr>PowerPoint Presentation</vt:lpstr>
      <vt:lpstr>Unstructured Data</vt:lpstr>
      <vt:lpstr>Unstructured Data</vt:lpstr>
      <vt:lpstr>PowerPoint Presentation</vt:lpstr>
      <vt:lpstr>Natural Language</vt:lpstr>
      <vt:lpstr>PowerPoint Presentation</vt:lpstr>
      <vt:lpstr>Machine Generated</vt:lpstr>
      <vt:lpstr>PowerPoint Presentation</vt:lpstr>
      <vt:lpstr>Graph Based, Audio, Videos, </vt:lpstr>
      <vt:lpstr>Examples</vt:lpstr>
      <vt:lpstr>PowerPoint Presentation</vt:lpstr>
      <vt:lpstr>Audio,Image &amp; Video Data</vt:lpstr>
      <vt:lpstr>Streaming Data</vt:lpstr>
      <vt:lpstr>Quantitative Vs Categorical Data</vt:lpstr>
      <vt:lpstr>The Data Science Process- Defining Research Goals</vt:lpstr>
      <vt:lpstr>PowerPoint Presentation</vt:lpstr>
      <vt:lpstr>PowerPoint Presentation</vt:lpstr>
      <vt:lpstr>PowerPoint Presentation</vt:lpstr>
      <vt:lpstr>PowerPoint Presentation</vt:lpstr>
      <vt:lpstr>Python for Data Science</vt:lpstr>
      <vt:lpstr>PowerPoint Presentation</vt:lpstr>
      <vt:lpstr>Exploring NumPy Library- Indexing, Slicing</vt:lpstr>
      <vt:lpstr>One dimensional Array</vt:lpstr>
      <vt:lpstr>Multi-Dimensional Array</vt:lpstr>
      <vt:lpstr>Concatenation and Splitting Arrays</vt:lpstr>
      <vt:lpstr>Arithmetic operations</vt:lpstr>
      <vt:lpstr>Aggregation</vt:lpstr>
      <vt:lpstr>Sorting - Numbers</vt:lpstr>
      <vt:lpstr>Sorting - Text </vt:lpstr>
      <vt:lpstr>Sorting using Numpy</vt:lpstr>
      <vt:lpstr>Partitioning   </vt:lpstr>
      <vt:lpstr>Example on Strings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TARUN KUMAR</cp:lastModifiedBy>
  <cp:revision>1</cp:revision>
  <dcterms:modified xsi:type="dcterms:W3CDTF">2026-03-04T07:17:23Z</dcterms:modified>
</cp:coreProperties>
</file>