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Lst>
  <p:sldSz cy="6858000" cx="12192000"/>
  <p:notesSz cx="6858000" cy="9144000"/>
  <p:embeddedFontLst>
    <p:embeddedFont>
      <p:font typeface="Roboto Mon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8" roundtripDataSignature="AMtx7mgdPaYj1mhqyKOm7k1c5U7HTfmS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font" Target="fonts/RobotoMono-regular.fntdata"/><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font" Target="fonts/RobotoMono-italic.fntdata"/><Relationship Id="rId21" Type="http://schemas.openxmlformats.org/officeDocument/2006/relationships/slide" Target="slides/slide17.xml"/><Relationship Id="rId65" Type="http://schemas.openxmlformats.org/officeDocument/2006/relationships/font" Target="fonts/RobotoMono-bold.fntdata"/><Relationship Id="rId24" Type="http://schemas.openxmlformats.org/officeDocument/2006/relationships/slide" Target="slides/slide20.xml"/><Relationship Id="rId68" Type="http://customschemas.google.com/relationships/presentationmetadata" Target="metadata"/><Relationship Id="rId23" Type="http://schemas.openxmlformats.org/officeDocument/2006/relationships/slide" Target="slides/slide19.xml"/><Relationship Id="rId67" Type="http://schemas.openxmlformats.org/officeDocument/2006/relationships/font" Target="fonts/RobotoMono-boldItalic.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cc3f9a041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g3dcc3f9a041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6ec5d462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6ec5d462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96ec5d462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6ec5d4623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6ec5d4623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96ec5d4623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3765b70c2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3765b70c2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d3765b70c2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cc3f9a041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g3dcc3f9a041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cc3f9a041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g3dcc3f9a04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cc3f9a041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cc3f9a041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ceab5ace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ceab5ace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ceab5ace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6ec5d4623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6ec5d4623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96ec5d4623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6ec5d4623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6ec5d4623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96ec5d4623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6ec5d4623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6ec5d4623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96ec5d4623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6ec5d4623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6ec5d4623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96ec5d4623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ceab5ace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ceab5acea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dceab5acea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ceab5ace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ceab5acea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dceab5acea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ceab5ace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ceab5acea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dceab5acea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ceab5acea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ceab5acea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dceab5acea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ceab5acea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ceab5acea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ceab5acea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ceab5acea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ceab5acea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ceab5acea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ceab5acea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ceab5acea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dceab5acea_0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d64ec092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d64ec092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dd64ec092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d64ec0920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d64ec0920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dd64ec0920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d64ec092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d64ec0920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dd64ec0920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d64ec092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d64ec0920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dd64ec0920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d64ec092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d64ec0920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dd64ec0920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d64ec0920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d64ec0920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dd64ec0920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e17536a0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de17536a0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de17536a0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e17536a0e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de17536a0e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de17536a0e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e17536a0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de17536a0e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de17536a0e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e17536a0e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de17536a0e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3de17536a0e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e17536a0e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e17536a0e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de17536a0e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e17536a0e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de17536a0e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3de17536a0e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de17536a0e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de17536a0e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de17536a0e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e17536a0e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e17536a0e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de17536a0e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de17536a0e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de17536a0e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de17536a0e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e88c29bb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e88c29bb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3de88c29bb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e88c29bb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e88c29bbf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3de88c29bbf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e88c29bbf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e88c29bbf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de88c29bbf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e88c29bbf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e88c29bbf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de88c29bbf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e88c29bbf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e88c29bbf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de88c29bbf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e88c29bbf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e88c29bbf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de88c29bbf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e88c29bbf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de88c29bbf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3de88c29bbf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e88c29bbf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e88c29bbf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de88c29bbf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e88c29bbf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e88c29bbf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de88c29bbf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e88c29bbf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e88c29bbf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3de88c29bbf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e88c29bbf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e88c29bbf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de88c29bbf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e88c29bbf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de88c29bbf_0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3de88c29bbf_0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e88c29bbf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e88c29bbf_0_1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de88c29bbf_0_1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e88c29bbf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de88c29bbf_0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de88c29bbf_0_1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e88c29bbf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e88c29bbf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de88c29bbf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e88c29bbf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e88c29bbf_0_1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g3de88c29bbf_0_1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e88c29bbf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e88c29bbf_0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3de88c29bbf_0_1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e88c29bbf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de88c29bbf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g3de88c29bbf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ea642bdb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ea642bdb8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3dea642bdb8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dea642bdb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dea642bdb8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g3dea642bdb8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ea642bdb8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dea642bdb8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3dea642bdb8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
          <p:cNvSpPr txBox="1"/>
          <p:nvPr>
            <p:ph type="ctrTitle"/>
          </p:nvPr>
        </p:nvSpPr>
        <p:spPr>
          <a:xfrm>
            <a:off x="1333500" y="1122363"/>
            <a:ext cx="9601200" cy="87788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600"/>
              <a:buFont typeface="Arial"/>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1333500" y="2522538"/>
            <a:ext cx="9601200" cy="29829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12954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8"/>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 type="body"/>
          </p:nvPr>
        </p:nvSpPr>
        <p:spPr>
          <a:xfrm>
            <a:off x="838200" y="1518042"/>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8"/>
          <p:cNvSpPr txBox="1"/>
          <p:nvPr>
            <p:ph idx="12" type="sldNum"/>
          </p:nvPr>
        </p:nvSpPr>
        <p:spPr>
          <a:xfrm>
            <a:off x="838200" y="6350000"/>
            <a:ext cx="274320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9"/>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1"/>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p:nvPr>
            <p:ph idx="2" type="pic"/>
          </p:nvPr>
        </p:nvSpPr>
        <p:spPr>
          <a:xfrm>
            <a:off x="5183188" y="987425"/>
            <a:ext cx="6172200" cy="4873625"/>
          </a:xfrm>
          <a:prstGeom prst="rect">
            <a:avLst/>
          </a:prstGeom>
          <a:noFill/>
          <a:ln>
            <a:noFill/>
          </a:ln>
        </p:spPr>
      </p:sp>
      <p:sp>
        <p:nvSpPr>
          <p:cNvPr id="60" name="Google Shape;60;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5"/>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 type="body"/>
          </p:nvPr>
        </p:nvSpPr>
        <p:spPr>
          <a:xfrm rot="5400000">
            <a:off x="3920331" y="-1564089"/>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rgbClr val="232387"/>
              </a:buClr>
              <a:buSzPts val="3600"/>
              <a:buFont typeface="Arial"/>
              <a:buNone/>
              <a:defRPr b="1" i="0" sz="3600" u="none" cap="none" strike="noStrike">
                <a:solidFill>
                  <a:srgbClr val="232387"/>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518042"/>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ph type="ctrTitle"/>
          </p:nvPr>
        </p:nvSpPr>
        <p:spPr>
          <a:xfrm>
            <a:off x="1333500" y="1122363"/>
            <a:ext cx="10096500" cy="877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32387"/>
              </a:buClr>
              <a:buSzPts val="3600"/>
              <a:buFont typeface="Arial"/>
              <a:buNone/>
            </a:pPr>
            <a:r>
              <a:rPr lang="en-IN"/>
              <a:t>Statistical inference for Data Science</a:t>
            </a:r>
            <a:endParaRPr/>
          </a:p>
        </p:txBody>
      </p:sp>
      <p:sp>
        <p:nvSpPr>
          <p:cNvPr id="82" name="Google Shape;82;p1"/>
          <p:cNvSpPr txBox="1"/>
          <p:nvPr>
            <p:ph idx="1" type="subTitle"/>
          </p:nvPr>
        </p:nvSpPr>
        <p:spPr>
          <a:xfrm>
            <a:off x="1333500" y="2761129"/>
            <a:ext cx="9601200" cy="297450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32387"/>
              </a:buClr>
              <a:buSzPts val="2600"/>
              <a:buNone/>
            </a:pPr>
            <a:r>
              <a:rPr b="1" lang="en-IN" sz="2600">
                <a:solidFill>
                  <a:srgbClr val="232387"/>
                </a:solidFill>
              </a:rPr>
              <a:t>Course Instructor</a:t>
            </a:r>
            <a:endParaRPr/>
          </a:p>
          <a:p>
            <a:pPr indent="0" lvl="0" marL="0" rtl="0" algn="ctr">
              <a:lnSpc>
                <a:spcPct val="90000"/>
              </a:lnSpc>
              <a:spcBef>
                <a:spcPts val="1000"/>
              </a:spcBef>
              <a:spcAft>
                <a:spcPts val="0"/>
              </a:spcAft>
              <a:buClr>
                <a:schemeClr val="dk1"/>
              </a:buClr>
              <a:buSzPts val="2600"/>
              <a:buNone/>
            </a:pPr>
            <a:r>
              <a:t/>
            </a:r>
            <a:endParaRPr sz="2600"/>
          </a:p>
          <a:p>
            <a:pPr indent="0" lvl="0" marL="0" rtl="0" algn="ctr">
              <a:lnSpc>
                <a:spcPct val="90000"/>
              </a:lnSpc>
              <a:spcBef>
                <a:spcPts val="1000"/>
              </a:spcBef>
              <a:spcAft>
                <a:spcPts val="0"/>
              </a:spcAft>
              <a:buClr>
                <a:srgbClr val="232387"/>
              </a:buClr>
              <a:buSzPts val="2600"/>
              <a:buNone/>
            </a:pPr>
            <a:r>
              <a:rPr b="1" lang="en-IN" sz="2600">
                <a:solidFill>
                  <a:srgbClr val="232387"/>
                </a:solidFill>
              </a:rPr>
              <a:t>Ms. Harshitha G M</a:t>
            </a:r>
            <a:endParaRPr/>
          </a:p>
          <a:p>
            <a:pPr indent="0" lvl="0" marL="0" rtl="0" algn="ctr">
              <a:lnSpc>
                <a:spcPct val="90000"/>
              </a:lnSpc>
              <a:spcBef>
                <a:spcPts val="1000"/>
              </a:spcBef>
              <a:spcAft>
                <a:spcPts val="0"/>
              </a:spcAft>
              <a:buClr>
                <a:schemeClr val="dk1"/>
              </a:buClr>
              <a:buSzPts val="2600"/>
              <a:buNone/>
            </a:pPr>
            <a:r>
              <a:rPr lang="en-IN" sz="2600"/>
              <a:t>Assistant Professor Gd.II,</a:t>
            </a:r>
            <a:endParaRPr/>
          </a:p>
          <a:p>
            <a:pPr indent="0" lvl="0" marL="0" rtl="0" algn="ctr">
              <a:lnSpc>
                <a:spcPct val="90000"/>
              </a:lnSpc>
              <a:spcBef>
                <a:spcPts val="1000"/>
              </a:spcBef>
              <a:spcAft>
                <a:spcPts val="0"/>
              </a:spcAft>
              <a:buClr>
                <a:schemeClr val="dk1"/>
              </a:buClr>
              <a:buSzPts val="2600"/>
              <a:buNone/>
            </a:pPr>
            <a:r>
              <a:rPr lang="en-IN" sz="2600"/>
              <a:t>Dept. of MCA, NMAMIT, Nitte.</a:t>
            </a:r>
            <a:endParaRPr/>
          </a:p>
          <a:p>
            <a:pPr indent="0" lvl="0" marL="0" rtl="0" algn="ctr">
              <a:lnSpc>
                <a:spcPct val="90000"/>
              </a:lnSpc>
              <a:spcBef>
                <a:spcPts val="1000"/>
              </a:spcBef>
              <a:spcAft>
                <a:spcPts val="0"/>
              </a:spcAft>
              <a:buClr>
                <a:schemeClr val="dk1"/>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 name="Shape 87"/>
        <p:cNvGrpSpPr/>
        <p:nvPr/>
      </p:nvGrpSpPr>
      <p:grpSpPr>
        <a:xfrm>
          <a:off x="0" y="0"/>
          <a:ext cx="0" cy="0"/>
          <a:chOff x="0" y="0"/>
          <a:chExt cx="0" cy="0"/>
        </a:xfrm>
      </p:grpSpPr>
      <p:sp>
        <p:nvSpPr>
          <p:cNvPr id="88" name="Google Shape;88;p2"/>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32387"/>
              </a:buClr>
              <a:buSzPts val="3600"/>
              <a:buFont typeface="Arial"/>
              <a:buNone/>
            </a:pPr>
            <a:r>
              <a:rPr b="1" lang="en-IN"/>
              <a:t>Learning Outcomes</a:t>
            </a:r>
            <a:endParaRPr/>
          </a:p>
        </p:txBody>
      </p:sp>
      <p:sp>
        <p:nvSpPr>
          <p:cNvPr id="89" name="Google Shape;89;p2"/>
          <p:cNvSpPr txBox="1"/>
          <p:nvPr>
            <p:ph idx="1" type="body"/>
          </p:nvPr>
        </p:nvSpPr>
        <p:spPr>
          <a:xfrm>
            <a:off x="838199" y="1518042"/>
            <a:ext cx="11031071"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2387"/>
              </a:buClr>
              <a:buSzPts val="2400"/>
              <a:buNone/>
            </a:pPr>
            <a:r>
              <a:rPr b="1" lang="en-IN" sz="2400">
                <a:solidFill>
                  <a:srgbClr val="232387"/>
                </a:solidFill>
              </a:rPr>
              <a:t>On successful completion of this section, learners will be able to:</a:t>
            </a:r>
            <a:endParaRPr/>
          </a:p>
          <a:p>
            <a:pPr indent="0" lvl="0" marL="0" rtl="0" algn="l">
              <a:lnSpc>
                <a:spcPct val="90000"/>
              </a:lnSpc>
              <a:spcBef>
                <a:spcPts val="1000"/>
              </a:spcBef>
              <a:spcAft>
                <a:spcPts val="0"/>
              </a:spcAft>
              <a:buClr>
                <a:schemeClr val="dk1"/>
              </a:buClr>
              <a:buSzPts val="2400"/>
              <a:buNone/>
            </a:pPr>
            <a:r>
              <a:t/>
            </a:r>
            <a:endParaRPr b="1" sz="2400">
              <a:solidFill>
                <a:srgbClr val="232387"/>
              </a:solidFill>
            </a:endParaRPr>
          </a:p>
          <a:p>
            <a:pPr indent="-228600" lvl="0" marL="228600" marR="0" rtl="0" algn="just">
              <a:lnSpc>
                <a:spcPct val="100000"/>
              </a:lnSpc>
              <a:spcBef>
                <a:spcPts val="1000"/>
              </a:spcBef>
              <a:spcAft>
                <a:spcPts val="0"/>
              </a:spcAft>
              <a:buSzPts val="2200"/>
              <a:buChar char="•"/>
            </a:pPr>
            <a:r>
              <a:rPr lang="en-IN" sz="2200"/>
              <a:t>Understand the fundamental concepts of Data Science, and its distinction from Data Analytics and Business Intelligence.</a:t>
            </a:r>
            <a:endParaRPr sz="2200"/>
          </a:p>
          <a:p>
            <a:pPr indent="-228600" lvl="0" marL="228600" marR="0" rtl="0" algn="just">
              <a:lnSpc>
                <a:spcPct val="100000"/>
              </a:lnSpc>
              <a:spcBef>
                <a:spcPts val="1000"/>
              </a:spcBef>
              <a:spcAft>
                <a:spcPts val="0"/>
              </a:spcAft>
              <a:buSzPts val="2200"/>
              <a:buChar char="•"/>
            </a:pPr>
            <a:r>
              <a:rPr lang="en-IN" sz="2200"/>
              <a:t>Classify and differentiate various types of data such as structured, unstructured, natural language, machine-generated, graph-based, and multimedia data, along with quantitative and categorical data.</a:t>
            </a:r>
            <a:endParaRPr sz="2200"/>
          </a:p>
          <a:p>
            <a:pPr indent="0" lvl="0" marL="228600" marR="0" rtl="0" algn="just">
              <a:lnSpc>
                <a:spcPct val="100000"/>
              </a:lnSpc>
              <a:spcBef>
                <a:spcPts val="1000"/>
              </a:spcBef>
              <a:spcAft>
                <a:spcPts val="0"/>
              </a:spcAft>
              <a:buSzPts val="1800"/>
              <a:buNone/>
            </a:pPr>
            <a:r>
              <a:t/>
            </a:r>
            <a:endParaRPr sz="2200"/>
          </a:p>
        </p:txBody>
      </p:sp>
      <p:sp>
        <p:nvSpPr>
          <p:cNvPr id="90" name="Google Shape;90;p2"/>
          <p:cNvSpPr txBox="1"/>
          <p:nvPr>
            <p:ph idx="12" type="sldNum"/>
          </p:nvPr>
        </p:nvSpPr>
        <p:spPr>
          <a:xfrm>
            <a:off x="838200" y="635000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dcc3f9a041_0_14"/>
          <p:cNvSpPr txBox="1"/>
          <p:nvPr>
            <p:ph idx="12" type="sldNum"/>
          </p:nvPr>
        </p:nvSpPr>
        <p:spPr>
          <a:xfrm>
            <a:off x="838200" y="635000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
        <p:nvSpPr>
          <p:cNvPr id="96" name="Google Shape;96;g3dcc3f9a041_0_14"/>
          <p:cNvSpPr txBox="1"/>
          <p:nvPr>
            <p:ph type="title"/>
          </p:nvPr>
        </p:nvSpPr>
        <p:spPr>
          <a:xfrm>
            <a:off x="838200" y="549050"/>
            <a:ext cx="10515600" cy="9690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327273"/>
              <a:buFont typeface="Arial"/>
              <a:buNone/>
            </a:pPr>
            <a:r>
              <a:rPr lang="en-IN"/>
              <a:t>Population vs Sample</a:t>
            </a:r>
            <a:endParaRPr b="0" sz="1100">
              <a:solidFill>
                <a:schemeClr val="dk1"/>
              </a:solidFill>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p:txBody>
      </p:sp>
      <p:sp>
        <p:nvSpPr>
          <p:cNvPr id="97" name="Google Shape;97;g3dcc3f9a041_0_14"/>
          <p:cNvSpPr txBox="1"/>
          <p:nvPr/>
        </p:nvSpPr>
        <p:spPr>
          <a:xfrm>
            <a:off x="838200" y="1417725"/>
            <a:ext cx="10904100" cy="50535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rPr>
              <a:t>Population:</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Entire dataset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Unknown distribution</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rPr>
              <a:t>Sample:</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Subset of population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Observed data</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rPr>
              <a:t>Sampling bridges the two</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IN" sz="1900">
                <a:solidFill>
                  <a:schemeClr val="dk1"/>
                </a:solidFill>
              </a:rPr>
              <a:t>Credit: Practical Statistics for Data Scientists, by Peter Bruce, Andrew Bruce, O'Reilly Media, Inc.,</a:t>
            </a:r>
            <a:r>
              <a:rPr i="1" lang="en-IN" sz="1900">
                <a:solidFill>
                  <a:schemeClr val="dk1"/>
                </a:solidFill>
              </a:rPr>
              <a:t>May 2017</a:t>
            </a:r>
            <a:endParaRPr i="1" sz="1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dk1"/>
              </a:solidFill>
            </a:endParaRPr>
          </a:p>
          <a:p>
            <a:pPr indent="0" lvl="0" marL="0" marR="0" rtl="0" algn="l">
              <a:lnSpc>
                <a:spcPct val="115000"/>
              </a:lnSpc>
              <a:spcBef>
                <a:spcPts val="1200"/>
              </a:spcBef>
              <a:spcAft>
                <a:spcPts val="1200"/>
              </a:spcAft>
              <a:buClr>
                <a:schemeClr val="dk1"/>
              </a:buClr>
              <a:buSzPts val="1100"/>
              <a:buFont typeface="Arial"/>
              <a:buNone/>
            </a:pPr>
            <a:r>
              <a:t/>
            </a:r>
            <a:endParaRPr sz="2200">
              <a:solidFill>
                <a:schemeClr val="dk1"/>
              </a:solidFill>
            </a:endParaRPr>
          </a:p>
        </p:txBody>
      </p:sp>
      <p:pic>
        <p:nvPicPr>
          <p:cNvPr id="98" name="Google Shape;98;g3dcc3f9a041_0_14"/>
          <p:cNvPicPr preferRelativeResize="0"/>
          <p:nvPr/>
        </p:nvPicPr>
        <p:blipFill>
          <a:blip r:embed="rId3">
            <a:alphaModFix/>
          </a:blip>
          <a:stretch>
            <a:fillRect/>
          </a:stretch>
        </p:blipFill>
        <p:spPr>
          <a:xfrm>
            <a:off x="5277475" y="1417725"/>
            <a:ext cx="6464825" cy="3663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idx="12" type="sldNum"/>
          </p:nvPr>
        </p:nvSpPr>
        <p:spPr>
          <a:xfrm>
            <a:off x="838200" y="635000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
        <p:nvSpPr>
          <p:cNvPr id="104" name="Google Shape;104;p3"/>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rPr lang="en-IN"/>
              <a:t>Data and Sampling Distribution</a:t>
            </a:r>
            <a:endParaRPr/>
          </a:p>
          <a:p>
            <a:pPr indent="0" lvl="0" marL="0" marR="0" rtl="0" algn="ctr">
              <a:lnSpc>
                <a:spcPct val="90000"/>
              </a:lnSpc>
              <a:spcBef>
                <a:spcPts val="0"/>
              </a:spcBef>
              <a:spcAft>
                <a:spcPts val="0"/>
              </a:spcAft>
              <a:buClr>
                <a:srgbClr val="232387"/>
              </a:buClr>
              <a:buSzPct val="100000"/>
              <a:buFont typeface="Arial"/>
              <a:buNone/>
            </a:pPr>
            <a:r>
              <a:t/>
            </a:r>
            <a:endParaRPr/>
          </a:p>
        </p:txBody>
      </p:sp>
      <p:sp>
        <p:nvSpPr>
          <p:cNvPr id="105" name="Google Shape;105;p3"/>
          <p:cNvSpPr txBox="1"/>
          <p:nvPr/>
        </p:nvSpPr>
        <p:spPr>
          <a:xfrm>
            <a:off x="838200" y="1873425"/>
            <a:ext cx="10904100" cy="45912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Big data is often seen as replacing traditional sampling</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Common belief: “More data = no need for sampling”</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Reality: Sampling is still essential</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Helps improve efficiency and reduce bias</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Assumption: Entire datasets can always be used</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Belief: Large data eliminates uncertainty</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rPr>
              <a:t>Issue: Data may be noisy, incomplete, or irrelevant</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Conclusion: Big data increases—not reduces—the need for sampling</a:t>
            </a:r>
            <a:endParaRPr sz="22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sz="2200">
              <a:solidFill>
                <a:schemeClr val="dk1"/>
              </a:solidFill>
            </a:endParaRPr>
          </a:p>
          <a:p>
            <a:pPr indent="0" lvl="0" marL="0" marR="0" rtl="0" algn="just">
              <a:lnSpc>
                <a:spcPct val="115000"/>
              </a:lnSpc>
              <a:spcBef>
                <a:spcPts val="1200"/>
              </a:spcBef>
              <a:spcAft>
                <a:spcPts val="1200"/>
              </a:spcAft>
              <a:buClr>
                <a:schemeClr val="dk1"/>
              </a:buClr>
              <a:buSzPts val="1100"/>
              <a:buFont typeface="Arial"/>
              <a:buNone/>
            </a:pPr>
            <a:r>
              <a:t/>
            </a:r>
            <a:endParaRPr sz="2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96ec5d4623_0_0"/>
          <p:cNvSpPr txBox="1"/>
          <p:nvPr>
            <p:ph type="title"/>
          </p:nvPr>
        </p:nvSpPr>
        <p:spPr>
          <a:xfrm>
            <a:off x="838200" y="549050"/>
            <a:ext cx="10515600" cy="969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IN" sz="3040"/>
              <a:t>When we use the entire population instead of sampling, several practical and statistical problems arise:</a:t>
            </a:r>
            <a:endParaRPr sz="3040"/>
          </a:p>
        </p:txBody>
      </p:sp>
      <p:sp>
        <p:nvSpPr>
          <p:cNvPr id="112" name="Google Shape;112;g396ec5d4623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IN" sz="1800"/>
              <a:t>1. Cost &amp; Time</a:t>
            </a:r>
            <a:endParaRPr b="1" sz="1800"/>
          </a:p>
          <a:p>
            <a:pPr indent="0" lvl="0" marL="0" rtl="0" algn="l">
              <a:lnSpc>
                <a:spcPct val="115000"/>
              </a:lnSpc>
              <a:spcBef>
                <a:spcPts val="1200"/>
              </a:spcBef>
              <a:spcAft>
                <a:spcPts val="0"/>
              </a:spcAft>
              <a:buClr>
                <a:schemeClr val="dk1"/>
              </a:buClr>
              <a:buSzPts val="1100"/>
              <a:buFont typeface="Arial"/>
              <a:buNone/>
            </a:pPr>
            <a:r>
              <a:rPr lang="en-IN" sz="1800"/>
              <a:t>Collecting data from every member of a population is often </a:t>
            </a:r>
            <a:r>
              <a:rPr b="1" lang="en-IN" sz="1800"/>
              <a:t>prohibitively expensive and time-consuming</a:t>
            </a:r>
            <a:r>
              <a:rPr lang="en-IN" sz="1800"/>
              <a:t>. For example, surveying every citizen of a country for a product study would take years and millions of dollars.</a:t>
            </a:r>
            <a:endParaRPr sz="1800"/>
          </a:p>
          <a:p>
            <a:pPr indent="0" lvl="0" marL="0" rtl="0" algn="l">
              <a:lnSpc>
                <a:spcPct val="115000"/>
              </a:lnSpc>
              <a:spcBef>
                <a:spcPts val="1800"/>
              </a:spcBef>
              <a:spcAft>
                <a:spcPts val="0"/>
              </a:spcAft>
              <a:buClr>
                <a:schemeClr val="dk1"/>
              </a:buClr>
              <a:buSzPts val="1100"/>
              <a:buFont typeface="Arial"/>
              <a:buNone/>
            </a:pPr>
            <a:r>
              <a:rPr b="1" lang="en-IN" sz="1800"/>
              <a:t>2. Infeasibility / Impossibility</a:t>
            </a:r>
            <a:endParaRPr b="1" sz="1800"/>
          </a:p>
          <a:p>
            <a:pPr indent="0" lvl="0" marL="0" rtl="0" algn="l">
              <a:lnSpc>
                <a:spcPct val="115000"/>
              </a:lnSpc>
              <a:spcBef>
                <a:spcPts val="1200"/>
              </a:spcBef>
              <a:spcAft>
                <a:spcPts val="0"/>
              </a:spcAft>
              <a:buNone/>
            </a:pPr>
            <a:r>
              <a:rPr lang="en-IN" sz="1800"/>
              <a:t>In many cases, accessing the entire population is simply </a:t>
            </a:r>
            <a:r>
              <a:rPr b="1" lang="en-IN" sz="1800"/>
              <a:t>not possible</a:t>
            </a:r>
            <a:r>
              <a:rPr lang="en-IN" sz="1800"/>
              <a:t>.</a:t>
            </a:r>
            <a:endParaRPr sz="1800"/>
          </a:p>
          <a:p>
            <a:pPr indent="0" lvl="0" marL="0" rtl="0" algn="l">
              <a:lnSpc>
                <a:spcPct val="115000"/>
              </a:lnSpc>
              <a:spcBef>
                <a:spcPts val="1800"/>
              </a:spcBef>
              <a:spcAft>
                <a:spcPts val="0"/>
              </a:spcAft>
              <a:buNone/>
            </a:pPr>
            <a:r>
              <a:rPr b="1" lang="en-IN" sz="1800"/>
              <a:t>3. Data Quality Degrades at Scale</a:t>
            </a:r>
            <a:endParaRPr b="1" sz="1800"/>
          </a:p>
          <a:p>
            <a:pPr indent="0" lvl="0" marL="0" rtl="0" algn="l">
              <a:lnSpc>
                <a:spcPct val="115000"/>
              </a:lnSpc>
              <a:spcBef>
                <a:spcPts val="1200"/>
              </a:spcBef>
              <a:spcAft>
                <a:spcPts val="1200"/>
              </a:spcAft>
              <a:buNone/>
            </a:pPr>
            <a:r>
              <a:rPr lang="en-IN" sz="1800"/>
              <a:t>Ironically, larger data collection efforts often introduce </a:t>
            </a:r>
            <a:r>
              <a:rPr b="1" lang="en-IN" sz="1800"/>
              <a:t>more errors</a:t>
            </a:r>
            <a:r>
              <a:rPr lang="en-IN" sz="1800"/>
              <a:t> — more interviewers, more data entry points, more inconsistencies. A well-controlled sample can be </a:t>
            </a:r>
            <a:r>
              <a:rPr i="1" lang="en-IN" sz="1800"/>
              <a:t>more accurate</a:t>
            </a:r>
            <a:r>
              <a:rPr lang="en-IN" sz="1800"/>
              <a:t> than a sloppy census.</a:t>
            </a:r>
            <a:endParaRPr/>
          </a:p>
        </p:txBody>
      </p:sp>
      <p:sp>
        <p:nvSpPr>
          <p:cNvPr id="113" name="Google Shape;113;g396ec5d4623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96ec5d4623_0_10"/>
          <p:cNvSpPr txBox="1"/>
          <p:nvPr>
            <p:ph type="title"/>
          </p:nvPr>
        </p:nvSpPr>
        <p:spPr>
          <a:xfrm>
            <a:off x="838200" y="549050"/>
            <a:ext cx="10515600" cy="969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IN" sz="3040"/>
              <a:t>When we use the entire population instead of sampling, several practical and statistical problems arise:</a:t>
            </a:r>
            <a:endParaRPr sz="3040"/>
          </a:p>
        </p:txBody>
      </p:sp>
      <p:sp>
        <p:nvSpPr>
          <p:cNvPr id="120" name="Google Shape;120;g396ec5d4623_0_10"/>
          <p:cNvSpPr txBox="1"/>
          <p:nvPr>
            <p:ph idx="1" type="body"/>
          </p:nvPr>
        </p:nvSpPr>
        <p:spPr>
          <a:xfrm>
            <a:off x="838200" y="1518051"/>
            <a:ext cx="10515600" cy="48318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IN" sz="1800"/>
              <a:t>4. Computational Overload</a:t>
            </a:r>
            <a:endParaRPr b="1" sz="1800"/>
          </a:p>
          <a:p>
            <a:pPr indent="0" lvl="0" marL="0" rtl="0" algn="l">
              <a:lnSpc>
                <a:spcPct val="115000"/>
              </a:lnSpc>
              <a:spcBef>
                <a:spcPts val="1200"/>
              </a:spcBef>
              <a:spcAft>
                <a:spcPts val="0"/>
              </a:spcAft>
              <a:buNone/>
            </a:pPr>
            <a:r>
              <a:rPr lang="en-IN" sz="1800"/>
              <a:t>Even if data can be collected, processing a massive dataset requires </a:t>
            </a:r>
            <a:r>
              <a:rPr b="1" lang="en-IN" sz="1800"/>
              <a:t>enormous computational resources</a:t>
            </a:r>
            <a:r>
              <a:rPr lang="en-IN" sz="1800"/>
              <a:t>, memory, and time — often without a meaningful gain in insight.</a:t>
            </a:r>
            <a:endParaRPr sz="1800"/>
          </a:p>
          <a:p>
            <a:pPr indent="0" lvl="0" marL="0" rtl="0" algn="l">
              <a:lnSpc>
                <a:spcPct val="115000"/>
              </a:lnSpc>
              <a:spcBef>
                <a:spcPts val="1800"/>
              </a:spcBef>
              <a:spcAft>
                <a:spcPts val="0"/>
              </a:spcAft>
              <a:buNone/>
            </a:pPr>
            <a:r>
              <a:rPr b="1" lang="en-IN" sz="1800"/>
              <a:t>5. No Benchmark for Accuracy</a:t>
            </a:r>
            <a:endParaRPr b="1" sz="1800"/>
          </a:p>
          <a:p>
            <a:pPr indent="0" lvl="0" marL="0" rtl="0" algn="l">
              <a:lnSpc>
                <a:spcPct val="115000"/>
              </a:lnSpc>
              <a:spcBef>
                <a:spcPts val="1200"/>
              </a:spcBef>
              <a:spcAft>
                <a:spcPts val="0"/>
              </a:spcAft>
              <a:buNone/>
            </a:pPr>
            <a:r>
              <a:rPr lang="en-IN" sz="1800"/>
              <a:t>Sampling allows us to </a:t>
            </a:r>
            <a:r>
              <a:rPr b="1" lang="en-IN" sz="1800"/>
              <a:t>estimate and verify results</a:t>
            </a:r>
            <a:r>
              <a:rPr lang="en-IN" sz="1800"/>
              <a:t> using statistical theory (confidence intervals, margins of error). A census gives you one result with no way to cross-validate or measure uncertainty.</a:t>
            </a:r>
            <a:endParaRPr sz="1800"/>
          </a:p>
          <a:p>
            <a:pPr indent="0" lvl="0" marL="0" rtl="0" algn="l">
              <a:lnSpc>
                <a:spcPct val="115000"/>
              </a:lnSpc>
              <a:spcBef>
                <a:spcPts val="1800"/>
              </a:spcBef>
              <a:spcAft>
                <a:spcPts val="0"/>
              </a:spcAft>
              <a:buNone/>
            </a:pPr>
            <a:r>
              <a:rPr b="1" lang="en-IN" sz="1800"/>
              <a:t>6. Redundancy — The Law of Diminishing Returns</a:t>
            </a:r>
            <a:endParaRPr b="1" sz="1800"/>
          </a:p>
          <a:p>
            <a:pPr indent="0" lvl="0" marL="0" rtl="0" algn="l">
              <a:lnSpc>
                <a:spcPct val="115000"/>
              </a:lnSpc>
              <a:spcBef>
                <a:spcPts val="1200"/>
              </a:spcBef>
              <a:spcAft>
                <a:spcPts val="1200"/>
              </a:spcAft>
              <a:buNone/>
            </a:pPr>
            <a:r>
              <a:rPr lang="en-IN" sz="1800"/>
              <a:t>Beyond a certain sample size, </a:t>
            </a:r>
            <a:r>
              <a:rPr b="1" lang="en-IN" sz="1800"/>
              <a:t>additional data adds very little new information</a:t>
            </a:r>
            <a:r>
              <a:rPr lang="en-IN" sz="1800"/>
              <a:t>. A well-drawn sample of 1,000 from a population of 1,000,000 can yield nearly the same insights as using all 1,000,000 records.</a:t>
            </a:r>
            <a:endParaRPr b="1" sz="1800"/>
          </a:p>
        </p:txBody>
      </p:sp>
      <p:sp>
        <p:nvSpPr>
          <p:cNvPr id="121" name="Google Shape;121;g396ec5d4623_0_1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d3765b70c2_0_1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Sampling in Big Data Projects</a:t>
            </a:r>
            <a:endParaRPr/>
          </a:p>
        </p:txBody>
      </p:sp>
      <p:sp>
        <p:nvSpPr>
          <p:cNvPr id="128" name="Google Shape;128;g3d3765b70c2_0_14"/>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311150" lvl="0" marL="457200" rtl="0" algn="l">
              <a:lnSpc>
                <a:spcPct val="115000"/>
              </a:lnSpc>
              <a:spcBef>
                <a:spcPts val="1200"/>
              </a:spcBef>
              <a:spcAft>
                <a:spcPts val="0"/>
              </a:spcAft>
              <a:buSzPts val="1300"/>
              <a:buChar char="●"/>
            </a:pPr>
            <a:r>
              <a:rPr lang="en-IN" sz="2200"/>
              <a:t>Used in:</a:t>
            </a:r>
            <a:endParaRPr sz="2200"/>
          </a:p>
          <a:p>
            <a:pPr indent="-311150" lvl="1" marL="914400" rtl="0" algn="l">
              <a:lnSpc>
                <a:spcPct val="115000"/>
              </a:lnSpc>
              <a:spcBef>
                <a:spcPts val="0"/>
              </a:spcBef>
              <a:spcAft>
                <a:spcPts val="0"/>
              </a:spcAft>
              <a:buSzPts val="1300"/>
              <a:buChar char="○"/>
            </a:pPr>
            <a:r>
              <a:rPr lang="en-IN" sz="2200"/>
              <a:t>Model development</a:t>
            </a:r>
            <a:endParaRPr sz="2200"/>
          </a:p>
          <a:p>
            <a:pPr indent="-311150" lvl="1" marL="914400" rtl="0" algn="l">
              <a:lnSpc>
                <a:spcPct val="115000"/>
              </a:lnSpc>
              <a:spcBef>
                <a:spcPts val="0"/>
              </a:spcBef>
              <a:spcAft>
                <a:spcPts val="0"/>
              </a:spcAft>
              <a:buSzPts val="1300"/>
              <a:buChar char="○"/>
            </a:pPr>
            <a:r>
              <a:rPr lang="en-IN" sz="2200"/>
              <a:t>Pilot testing</a:t>
            </a:r>
            <a:endParaRPr sz="2200"/>
          </a:p>
          <a:p>
            <a:pPr indent="-311150" lvl="1" marL="914400" rtl="0" algn="l">
              <a:lnSpc>
                <a:spcPct val="115000"/>
              </a:lnSpc>
              <a:spcBef>
                <a:spcPts val="0"/>
              </a:spcBef>
              <a:spcAft>
                <a:spcPts val="0"/>
              </a:spcAft>
              <a:buSzPts val="1300"/>
              <a:buChar char="○"/>
            </a:pPr>
            <a:r>
              <a:rPr lang="en-IN" sz="2200"/>
              <a:t>Validation processes</a:t>
            </a:r>
            <a:endParaRPr sz="2200"/>
          </a:p>
          <a:p>
            <a:pPr indent="-311150" lvl="0" marL="457200" rtl="0" algn="l">
              <a:lnSpc>
                <a:spcPct val="115000"/>
              </a:lnSpc>
              <a:spcBef>
                <a:spcPts val="0"/>
              </a:spcBef>
              <a:spcAft>
                <a:spcPts val="0"/>
              </a:spcAft>
              <a:buSzPts val="1300"/>
              <a:buChar char="●"/>
            </a:pPr>
            <a:r>
              <a:rPr lang="en-IN" sz="2200"/>
              <a:t>Example:</a:t>
            </a:r>
            <a:endParaRPr sz="2200"/>
          </a:p>
          <a:p>
            <a:pPr indent="-311150" lvl="1" marL="914400" rtl="0" algn="l">
              <a:lnSpc>
                <a:spcPct val="115000"/>
              </a:lnSpc>
              <a:spcBef>
                <a:spcPts val="0"/>
              </a:spcBef>
              <a:spcAft>
                <a:spcPts val="0"/>
              </a:spcAft>
              <a:buSzPts val="1300"/>
              <a:buChar char="○"/>
            </a:pPr>
            <a:r>
              <a:rPr lang="en-IN" sz="2200"/>
              <a:t>Predictive models built on sample datasets</a:t>
            </a:r>
            <a:endParaRPr sz="2200"/>
          </a:p>
          <a:p>
            <a:pPr indent="-311150" lvl="0" marL="457200" rtl="0" algn="l">
              <a:lnSpc>
                <a:spcPct val="115000"/>
              </a:lnSpc>
              <a:spcBef>
                <a:spcPts val="0"/>
              </a:spcBef>
              <a:spcAft>
                <a:spcPts val="0"/>
              </a:spcAft>
              <a:buSzPts val="1300"/>
              <a:buChar char="●"/>
            </a:pPr>
            <a:r>
              <a:rPr lang="en-IN" sz="2200"/>
              <a:t>Advantage:</a:t>
            </a:r>
            <a:endParaRPr sz="2200"/>
          </a:p>
          <a:p>
            <a:pPr indent="-311150" lvl="1" marL="914400" rtl="0" algn="l">
              <a:lnSpc>
                <a:spcPct val="115000"/>
              </a:lnSpc>
              <a:spcBef>
                <a:spcPts val="0"/>
              </a:spcBef>
              <a:spcAft>
                <a:spcPts val="0"/>
              </a:spcAft>
              <a:buSzPts val="1300"/>
              <a:buChar char="○"/>
            </a:pPr>
            <a:r>
              <a:rPr lang="en-IN" sz="2200"/>
              <a:t>Faster iteration and testing </a:t>
            </a:r>
            <a:endParaRPr sz="2200"/>
          </a:p>
          <a:p>
            <a:pPr indent="0" lvl="0" marL="0" rtl="0" algn="l">
              <a:spcBef>
                <a:spcPts val="1200"/>
              </a:spcBef>
              <a:spcAft>
                <a:spcPts val="0"/>
              </a:spcAft>
              <a:buNone/>
            </a:pPr>
            <a:r>
              <a:t/>
            </a:r>
            <a:endParaRPr/>
          </a:p>
        </p:txBody>
      </p:sp>
      <p:sp>
        <p:nvSpPr>
          <p:cNvPr id="129" name="Google Shape;129;g3d3765b70c2_0_1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g3dcc3f9a041_0_8"/>
          <p:cNvSpPr txBox="1"/>
          <p:nvPr>
            <p:ph idx="12" type="sldNum"/>
          </p:nvPr>
        </p:nvSpPr>
        <p:spPr>
          <a:xfrm>
            <a:off x="838200" y="635000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
        <p:nvSpPr>
          <p:cNvPr id="135" name="Google Shape;135;g3dcc3f9a041_0_8"/>
          <p:cNvSpPr txBox="1"/>
          <p:nvPr>
            <p:ph type="title"/>
          </p:nvPr>
        </p:nvSpPr>
        <p:spPr>
          <a:xfrm>
            <a:off x="838200" y="549050"/>
            <a:ext cx="10515600" cy="9690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rPr lang="en-IN"/>
              <a:t>Why Sampling is Still Important</a:t>
            </a:r>
            <a:endParaRPr/>
          </a:p>
          <a:p>
            <a:pPr indent="0" lvl="0" marL="0" marR="0" rtl="0" algn="ctr">
              <a:lnSpc>
                <a:spcPct val="90000"/>
              </a:lnSpc>
              <a:spcBef>
                <a:spcPts val="0"/>
              </a:spcBef>
              <a:spcAft>
                <a:spcPts val="0"/>
              </a:spcAft>
              <a:buClr>
                <a:srgbClr val="232387"/>
              </a:buClr>
              <a:buSzPct val="100000"/>
              <a:buFont typeface="Arial"/>
              <a:buNone/>
            </a:pPr>
            <a:r>
              <a:t/>
            </a:r>
            <a:endParaRPr/>
          </a:p>
        </p:txBody>
      </p:sp>
      <p:sp>
        <p:nvSpPr>
          <p:cNvPr id="136" name="Google Shape;136;g3dcc3f9a041_0_8"/>
          <p:cNvSpPr txBox="1"/>
          <p:nvPr/>
        </p:nvSpPr>
        <p:spPr>
          <a:xfrm>
            <a:off x="838200" y="1873425"/>
            <a:ext cx="10904100" cy="40617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Handles large-scale data efficiently</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Reduces computational cost</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Improves data quality analysis</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Minimizes bias in datasets</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Enables faster experimentation</a:t>
            </a:r>
            <a:endParaRPr sz="22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sz="22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chemeClr val="dk1"/>
              </a:buClr>
              <a:buSzPts val="1100"/>
              <a:buFont typeface="Arial"/>
              <a:buNone/>
            </a:pPr>
            <a:r>
              <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dcc3f9a041_0_20"/>
          <p:cNvSpPr txBox="1"/>
          <p:nvPr>
            <p:ph idx="12" type="sldNum"/>
          </p:nvPr>
        </p:nvSpPr>
        <p:spPr>
          <a:xfrm>
            <a:off x="838200" y="635000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
        <p:nvSpPr>
          <p:cNvPr id="142" name="Google Shape;142;g3dcc3f9a041_0_20"/>
          <p:cNvSpPr txBox="1"/>
          <p:nvPr>
            <p:ph type="title"/>
          </p:nvPr>
        </p:nvSpPr>
        <p:spPr>
          <a:xfrm>
            <a:off x="838200" y="549050"/>
            <a:ext cx="10515600" cy="9690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rPr lang="en-IN"/>
              <a:t>Random Sampling and Sample Bias</a:t>
            </a:r>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p:txBody>
      </p:sp>
      <p:sp>
        <p:nvSpPr>
          <p:cNvPr id="143" name="Google Shape;143;g3dcc3f9a041_0_20"/>
          <p:cNvSpPr txBox="1"/>
          <p:nvPr/>
        </p:nvSpPr>
        <p:spPr>
          <a:xfrm>
            <a:off x="838200" y="1518050"/>
            <a:ext cx="10904100" cy="44172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0"/>
              </a:spcBef>
              <a:spcAft>
                <a:spcPts val="0"/>
              </a:spcAft>
              <a:buClr>
                <a:schemeClr val="dk1"/>
              </a:buClr>
              <a:buSzPts val="1100"/>
              <a:buFont typeface="Arial"/>
              <a:buNone/>
            </a:pPr>
            <a:r>
              <a:rPr lang="en-IN" sz="2100">
                <a:solidFill>
                  <a:schemeClr val="dk1"/>
                </a:solidFill>
              </a:rPr>
              <a:t>A sample is a subset of data from a larger data set; statisticians call this larger data set the population.</a:t>
            </a:r>
            <a:endParaRPr sz="21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IN" sz="2100">
                <a:solidFill>
                  <a:schemeClr val="dk1"/>
                </a:solidFill>
              </a:rPr>
              <a:t>Random sampling is a process in which each available member of the population being sampled has an equal chance of being chosen for the sample at each draw. The sample that results is called a simple random sample. </a:t>
            </a:r>
            <a:endParaRPr sz="2100">
              <a:solidFill>
                <a:schemeClr val="dk1"/>
              </a:solidFill>
            </a:endParaRPr>
          </a:p>
          <a:p>
            <a:pPr indent="0" lvl="0" marL="0" rtl="0" algn="just">
              <a:lnSpc>
                <a:spcPct val="115000"/>
              </a:lnSpc>
              <a:spcBef>
                <a:spcPts val="1200"/>
              </a:spcBef>
              <a:spcAft>
                <a:spcPts val="1200"/>
              </a:spcAft>
              <a:buClr>
                <a:schemeClr val="dk1"/>
              </a:buClr>
              <a:buSzPts val="1100"/>
              <a:buFont typeface="Arial"/>
              <a:buNone/>
            </a:pPr>
            <a:r>
              <a:rPr lang="en-IN" sz="2100">
                <a:solidFill>
                  <a:schemeClr val="dk1"/>
                </a:solidFill>
              </a:rPr>
              <a:t>Sampling can be done with replacement, in which observations are put back in the population after each draw for possible future reselection. Or it can be done without replacement, in which case observations, once selected, are unavailable for future draws.</a:t>
            </a:r>
            <a:endParaRPr sz="2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cc3f9a041_0_33"/>
          <p:cNvSpPr txBox="1"/>
          <p:nvPr>
            <p:ph idx="12" type="sldNum"/>
          </p:nvPr>
        </p:nvSpPr>
        <p:spPr>
          <a:xfrm>
            <a:off x="838200" y="635000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
        <p:nvSpPr>
          <p:cNvPr id="149" name="Google Shape;149;g3dcc3f9a041_0_33"/>
          <p:cNvSpPr txBox="1"/>
          <p:nvPr>
            <p:ph type="title"/>
          </p:nvPr>
        </p:nvSpPr>
        <p:spPr>
          <a:xfrm>
            <a:off x="838200" y="549050"/>
            <a:ext cx="10515600" cy="9690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65306"/>
              <a:buFont typeface="Arial"/>
              <a:buNone/>
            </a:pPr>
            <a:r>
              <a:rPr lang="en-IN"/>
              <a:t>Keyterms</a:t>
            </a:r>
            <a:endParaRPr b="0" sz="2800">
              <a:solidFill>
                <a:schemeClr val="dk1"/>
              </a:solidFill>
            </a:endParaRPr>
          </a:p>
          <a:p>
            <a:pPr indent="0" lvl="0" marL="0" marR="0" rtl="0" algn="ctr">
              <a:lnSpc>
                <a:spcPct val="90000"/>
              </a:lnSpc>
              <a:spcBef>
                <a:spcPts val="0"/>
              </a:spcBef>
              <a:spcAft>
                <a:spcPts val="0"/>
              </a:spcAft>
              <a:buClr>
                <a:srgbClr val="232387"/>
              </a:buClr>
              <a:buSzPct val="100000"/>
              <a:buFont typeface="Arial"/>
              <a:buNone/>
            </a:pPr>
            <a:r>
              <a:t/>
            </a:r>
            <a:endParaRPr/>
          </a:p>
          <a:p>
            <a:pPr indent="0" lvl="0" marL="0" marR="0" rtl="0" algn="ctr">
              <a:lnSpc>
                <a:spcPct val="90000"/>
              </a:lnSpc>
              <a:spcBef>
                <a:spcPts val="0"/>
              </a:spcBef>
              <a:spcAft>
                <a:spcPts val="0"/>
              </a:spcAft>
              <a:buClr>
                <a:srgbClr val="232387"/>
              </a:buClr>
              <a:buSzPct val="100000"/>
              <a:buFont typeface="Arial"/>
              <a:buNone/>
            </a:pPr>
            <a:r>
              <a:t/>
            </a:r>
            <a:endParaRPr/>
          </a:p>
        </p:txBody>
      </p:sp>
      <p:sp>
        <p:nvSpPr>
          <p:cNvPr id="150" name="Google Shape;150;g3dcc3f9a041_0_33"/>
          <p:cNvSpPr txBox="1"/>
          <p:nvPr/>
        </p:nvSpPr>
        <p:spPr>
          <a:xfrm>
            <a:off x="838200" y="1518050"/>
            <a:ext cx="10904100" cy="51972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Sample (n): A subset from a larger data set.</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Population (N) : The larger data set or idea of a data set.</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Random sampling: Drawing elements into a sample at random.</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Stratified sampling: Dividing the population into strata and randomly sampling from each strata.</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Stratum (pl., strata): A homogeneous subgroup of a population with common characteristics.</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Simple random sample: The sample that results from random sampling without stratifying the </a:t>
            </a:r>
            <a:r>
              <a:rPr lang="en-IN" sz="2100">
                <a:solidFill>
                  <a:schemeClr val="dk1"/>
                </a:solidFill>
              </a:rPr>
              <a:t>population.</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Bias: Systematic error.</a:t>
            </a:r>
            <a:endParaRPr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100">
                <a:solidFill>
                  <a:schemeClr val="dk1"/>
                </a:solidFill>
              </a:rPr>
              <a:t>Sample bias: A sample that misrepresents the population.</a:t>
            </a:r>
            <a:endParaRPr sz="2100">
              <a:solidFill>
                <a:schemeClr val="dk1"/>
              </a:solidFill>
            </a:endParaRPr>
          </a:p>
          <a:p>
            <a:pPr indent="0" lvl="0" marL="0" marR="0" rtl="0" algn="l">
              <a:lnSpc>
                <a:spcPct val="115000"/>
              </a:lnSpc>
              <a:spcBef>
                <a:spcPts val="1200"/>
              </a:spcBef>
              <a:spcAft>
                <a:spcPts val="1200"/>
              </a:spcAft>
              <a:buClr>
                <a:schemeClr val="dk1"/>
              </a:buClr>
              <a:buSzPts val="1100"/>
              <a:buFont typeface="Arial"/>
              <a:buNone/>
            </a:pPr>
            <a:r>
              <a:t/>
            </a:r>
            <a:endParaRPr sz="2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dceab5acea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Bias</a:t>
            </a:r>
            <a:endParaRPr/>
          </a:p>
        </p:txBody>
      </p:sp>
      <p:sp>
        <p:nvSpPr>
          <p:cNvPr id="157" name="Google Shape;157;g3dceab5acea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sz="2200"/>
              <a:t>Statistical bias refers to measurement or sampling errors that are systematic and produced by the measurement or sampling process. </a:t>
            </a:r>
            <a:endParaRPr sz="2200"/>
          </a:p>
          <a:p>
            <a:pPr indent="0" lvl="0" marL="0" rtl="0" algn="just">
              <a:spcBef>
                <a:spcPts val="1000"/>
              </a:spcBef>
              <a:spcAft>
                <a:spcPts val="0"/>
              </a:spcAft>
              <a:buNone/>
            </a:pPr>
            <a:r>
              <a:rPr lang="en-IN" sz="2200"/>
              <a:t>An important distinction should be made between errors due to random chance and errors due to bias. </a:t>
            </a:r>
            <a:endParaRPr sz="2200"/>
          </a:p>
          <a:p>
            <a:pPr indent="0" lvl="0" marL="0" rtl="0" algn="just">
              <a:spcBef>
                <a:spcPts val="1000"/>
              </a:spcBef>
              <a:spcAft>
                <a:spcPts val="0"/>
              </a:spcAft>
              <a:buClr>
                <a:schemeClr val="dk1"/>
              </a:buClr>
              <a:buSzPts val="1100"/>
              <a:buFont typeface="Arial"/>
              <a:buNone/>
            </a:pPr>
            <a:r>
              <a:t/>
            </a:r>
            <a:endParaRPr sz="2200"/>
          </a:p>
          <a:p>
            <a:pPr indent="0" lvl="0" marL="0" rtl="0" algn="l">
              <a:spcBef>
                <a:spcPts val="1000"/>
              </a:spcBef>
              <a:spcAft>
                <a:spcPts val="0"/>
              </a:spcAft>
              <a:buNone/>
            </a:pPr>
            <a:r>
              <a:t/>
            </a:r>
            <a:endParaRPr/>
          </a:p>
        </p:txBody>
      </p:sp>
      <p:sp>
        <p:nvSpPr>
          <p:cNvPr id="158" name="Google Shape;158;g3dceab5acea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96ec5d4623_0_2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Identify the following as: </a:t>
            </a:r>
            <a:r>
              <a:rPr lang="en-IN"/>
              <a:t>Bias or Sample Bias</a:t>
            </a:r>
            <a:endParaRPr/>
          </a:p>
        </p:txBody>
      </p:sp>
      <p:sp>
        <p:nvSpPr>
          <p:cNvPr id="165" name="Google Shape;165;g396ec5d4623_0_25"/>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800"/>
              </a:spcBef>
              <a:spcAft>
                <a:spcPts val="0"/>
              </a:spcAft>
              <a:buNone/>
            </a:pPr>
            <a:r>
              <a:rPr b="1" lang="en-IN" sz="2400"/>
              <a:t>Scenario 1: The School Canteen Survey</a:t>
            </a:r>
            <a:endParaRPr b="1" sz="2400"/>
          </a:p>
          <a:p>
            <a:pPr indent="0" lvl="0" marL="0" rtl="0" algn="l">
              <a:lnSpc>
                <a:spcPct val="115000"/>
              </a:lnSpc>
              <a:spcBef>
                <a:spcPts val="1200"/>
              </a:spcBef>
              <a:spcAft>
                <a:spcPts val="0"/>
              </a:spcAft>
              <a:buNone/>
            </a:pPr>
            <a:r>
              <a:rPr lang="en-IN" sz="2400"/>
              <a:t>The school principal wants to know if students are happy with the canteen food. She asks the </a:t>
            </a:r>
            <a:r>
              <a:rPr b="1" lang="en-IN" sz="2400"/>
              <a:t>first 20 students who arrive at the canteen</a:t>
            </a:r>
            <a:r>
              <a:rPr lang="en-IN" sz="2400"/>
              <a:t> on Monday morning.</a:t>
            </a:r>
            <a:endParaRPr sz="2400"/>
          </a:p>
          <a:p>
            <a:pPr indent="0" lvl="0" marL="0" rtl="0" algn="l">
              <a:lnSpc>
                <a:spcPct val="115000"/>
              </a:lnSpc>
              <a:spcBef>
                <a:spcPts val="1200"/>
              </a:spcBef>
              <a:spcAft>
                <a:spcPts val="0"/>
              </a:spcAft>
              <a:buNone/>
            </a:pPr>
            <a:r>
              <a:rPr b="1" lang="en-IN" sz="2400"/>
              <a:t>Questions to analyze:</a:t>
            </a:r>
            <a:endParaRPr b="1" sz="2400"/>
          </a:p>
          <a:p>
            <a:pPr indent="-369570" lvl="0" marL="457200" rtl="0" algn="l">
              <a:lnSpc>
                <a:spcPct val="115000"/>
              </a:lnSpc>
              <a:spcBef>
                <a:spcPts val="1200"/>
              </a:spcBef>
              <a:spcAft>
                <a:spcPts val="0"/>
              </a:spcAft>
              <a:buSzPct val="100000"/>
              <a:buChar char="●"/>
            </a:pPr>
            <a:r>
              <a:rPr lang="en-IN" sz="2400"/>
              <a:t>Who are the first students to arrive at the canteen? (Probably those who </a:t>
            </a:r>
            <a:r>
              <a:rPr i="1" lang="en-IN" sz="2400"/>
              <a:t>like</a:t>
            </a:r>
            <a:r>
              <a:rPr lang="en-IN" sz="2400"/>
              <a:t> the food)</a:t>
            </a:r>
            <a:endParaRPr sz="2400"/>
          </a:p>
          <a:p>
            <a:pPr indent="-369570" lvl="0" marL="457200" rtl="0" algn="l">
              <a:lnSpc>
                <a:spcPct val="115000"/>
              </a:lnSpc>
              <a:spcBef>
                <a:spcPts val="0"/>
              </a:spcBef>
              <a:spcAft>
                <a:spcPts val="0"/>
              </a:spcAft>
              <a:buSzPct val="100000"/>
              <a:buChar char="●"/>
            </a:pPr>
            <a:r>
              <a:rPr lang="en-IN" sz="2400"/>
              <a:t>Are late arrivals or students who avoid the canteen represented?</a:t>
            </a:r>
            <a:endParaRPr sz="2400"/>
          </a:p>
          <a:p>
            <a:pPr indent="-369570" lvl="0" marL="457200" rtl="0" algn="l">
              <a:lnSpc>
                <a:spcPct val="115000"/>
              </a:lnSpc>
              <a:spcBef>
                <a:spcPts val="0"/>
              </a:spcBef>
              <a:spcAft>
                <a:spcPts val="0"/>
              </a:spcAft>
              <a:buSzPct val="100000"/>
              <a:buChar char="●"/>
            </a:pPr>
            <a:r>
              <a:rPr lang="en-IN" sz="2400"/>
              <a:t>What type of bias is this?</a:t>
            </a:r>
            <a:endParaRPr sz="2400"/>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Clr>
                <a:schemeClr val="dk1"/>
              </a:buClr>
              <a:buSzPct val="61111"/>
              <a:buFont typeface="Arial"/>
              <a:buNone/>
            </a:pPr>
            <a:r>
              <a:t/>
            </a:r>
            <a:endParaRPr b="1" sz="1800"/>
          </a:p>
          <a:p>
            <a:pPr indent="0" lvl="0" marL="0" rtl="0" algn="l">
              <a:spcBef>
                <a:spcPts val="1200"/>
              </a:spcBef>
              <a:spcAft>
                <a:spcPts val="0"/>
              </a:spcAft>
              <a:buNone/>
            </a:pPr>
            <a:r>
              <a:rPr lang="en-IN"/>
              <a:t>Answer: Sample bias</a:t>
            </a:r>
            <a:endParaRPr/>
          </a:p>
        </p:txBody>
      </p:sp>
      <p:sp>
        <p:nvSpPr>
          <p:cNvPr id="166" name="Google Shape;166;g396ec5d4623_0_2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96ec5d4623_0_3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Identify the following as: </a:t>
            </a:r>
            <a:r>
              <a:rPr lang="en-IN"/>
              <a:t>Bias or Sample Bias</a:t>
            </a:r>
            <a:endParaRPr/>
          </a:p>
        </p:txBody>
      </p:sp>
      <p:sp>
        <p:nvSpPr>
          <p:cNvPr id="173" name="Google Shape;173;g396ec5d4623_0_35"/>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800"/>
              </a:spcBef>
              <a:spcAft>
                <a:spcPts val="0"/>
              </a:spcAft>
              <a:buClr>
                <a:schemeClr val="dk1"/>
              </a:buClr>
              <a:buSzPct val="45833"/>
              <a:buFont typeface="Arial"/>
              <a:buNone/>
            </a:pPr>
            <a:r>
              <a:rPr b="1" lang="en-IN" sz="2400"/>
              <a:t>Scenario 2: The Movie Rating App</a:t>
            </a:r>
            <a:endParaRPr b="1" sz="2400"/>
          </a:p>
          <a:p>
            <a:pPr indent="0" lvl="0" marL="0" rtl="0" algn="l">
              <a:lnSpc>
                <a:spcPct val="115000"/>
              </a:lnSpc>
              <a:spcBef>
                <a:spcPts val="1200"/>
              </a:spcBef>
              <a:spcAft>
                <a:spcPts val="0"/>
              </a:spcAft>
              <a:buClr>
                <a:schemeClr val="dk1"/>
              </a:buClr>
              <a:buSzPct val="45833"/>
              <a:buFont typeface="Arial"/>
              <a:buNone/>
            </a:pPr>
            <a:r>
              <a:rPr lang="en-IN" sz="2400"/>
              <a:t>A movie app shows an average rating of 4.8/5 for a new film. The rating is based on users who </a:t>
            </a:r>
            <a:r>
              <a:rPr b="1" lang="en-IN" sz="2400"/>
              <a:t>opened the app and chose to rate the movie.</a:t>
            </a:r>
            <a:endParaRPr b="1" sz="2400"/>
          </a:p>
          <a:p>
            <a:pPr indent="0" lvl="0" marL="0" rtl="0" algn="l">
              <a:lnSpc>
                <a:spcPct val="115000"/>
              </a:lnSpc>
              <a:spcBef>
                <a:spcPts val="1200"/>
              </a:spcBef>
              <a:spcAft>
                <a:spcPts val="0"/>
              </a:spcAft>
              <a:buClr>
                <a:schemeClr val="dk1"/>
              </a:buClr>
              <a:buSzPct val="45833"/>
              <a:buFont typeface="Arial"/>
              <a:buNone/>
            </a:pPr>
            <a:r>
              <a:rPr b="1" lang="en-IN" sz="2400"/>
              <a:t>Questions to analyze:</a:t>
            </a:r>
            <a:endParaRPr b="1" sz="2400"/>
          </a:p>
          <a:p>
            <a:pPr indent="-369570" lvl="0" marL="457200" rtl="0" algn="l">
              <a:lnSpc>
                <a:spcPct val="115000"/>
              </a:lnSpc>
              <a:spcBef>
                <a:spcPts val="1200"/>
              </a:spcBef>
              <a:spcAft>
                <a:spcPts val="0"/>
              </a:spcAft>
              <a:buSzPct val="100000"/>
              <a:buChar char="●"/>
            </a:pPr>
            <a:r>
              <a:rPr lang="en-IN" sz="2400"/>
              <a:t>Who is most likely to voluntarily rate a movie?</a:t>
            </a:r>
            <a:endParaRPr sz="2400"/>
          </a:p>
          <a:p>
            <a:pPr indent="-369570" lvl="0" marL="457200" rtl="0" algn="l">
              <a:lnSpc>
                <a:spcPct val="115000"/>
              </a:lnSpc>
              <a:spcBef>
                <a:spcPts val="0"/>
              </a:spcBef>
              <a:spcAft>
                <a:spcPts val="0"/>
              </a:spcAft>
              <a:buSzPct val="100000"/>
              <a:buChar char="●"/>
            </a:pPr>
            <a:r>
              <a:rPr lang="en-IN" sz="2400"/>
              <a:t>Would someone who hated the movie bother rating it?</a:t>
            </a:r>
            <a:endParaRPr sz="2400"/>
          </a:p>
          <a:p>
            <a:pPr indent="-369570" lvl="0" marL="457200" rtl="0" algn="l">
              <a:lnSpc>
                <a:spcPct val="115000"/>
              </a:lnSpc>
              <a:spcBef>
                <a:spcPts val="0"/>
              </a:spcBef>
              <a:spcAft>
                <a:spcPts val="0"/>
              </a:spcAft>
              <a:buSzPct val="100000"/>
              <a:buChar char="●"/>
            </a:pPr>
            <a:r>
              <a:rPr lang="en-IN" sz="2400"/>
              <a:t>Does 4.8 truly reflect all viewers?</a:t>
            </a:r>
            <a:endParaRPr sz="2400"/>
          </a:p>
          <a:p>
            <a:pPr indent="0" lvl="0" marL="457200" rtl="0" algn="l">
              <a:lnSpc>
                <a:spcPct val="115000"/>
              </a:lnSpc>
              <a:spcBef>
                <a:spcPts val="1200"/>
              </a:spcBef>
              <a:spcAft>
                <a:spcPts val="0"/>
              </a:spcAft>
              <a:buNone/>
            </a:pPr>
            <a:r>
              <a:t/>
            </a:r>
            <a:endParaRPr b="1" sz="1800"/>
          </a:p>
          <a:p>
            <a:pPr indent="0" lvl="0" marL="0" rtl="0" algn="l">
              <a:lnSpc>
                <a:spcPct val="115000"/>
              </a:lnSpc>
              <a:spcBef>
                <a:spcPts val="1200"/>
              </a:spcBef>
              <a:spcAft>
                <a:spcPts val="0"/>
              </a:spcAft>
              <a:buNone/>
            </a:pPr>
            <a:r>
              <a:t/>
            </a:r>
            <a:endParaRPr sz="1800"/>
          </a:p>
          <a:p>
            <a:pPr indent="0" lvl="0" marL="0" rtl="0" algn="l">
              <a:spcBef>
                <a:spcPts val="1200"/>
              </a:spcBef>
              <a:spcAft>
                <a:spcPts val="0"/>
              </a:spcAft>
              <a:buNone/>
            </a:pPr>
            <a:r>
              <a:rPr lang="en-IN"/>
              <a:t>Answer: Sample bias</a:t>
            </a:r>
            <a:endParaRPr b="1" sz="1800"/>
          </a:p>
          <a:p>
            <a:pPr indent="0" lvl="0" marL="0" rtl="0" algn="l">
              <a:spcBef>
                <a:spcPts val="1000"/>
              </a:spcBef>
              <a:spcAft>
                <a:spcPts val="0"/>
              </a:spcAft>
              <a:buNone/>
            </a:pPr>
            <a:r>
              <a:t/>
            </a:r>
            <a:endParaRPr/>
          </a:p>
        </p:txBody>
      </p:sp>
      <p:sp>
        <p:nvSpPr>
          <p:cNvPr id="174" name="Google Shape;174;g396ec5d4623_0_3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96ec5d4623_0_43"/>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Identify the following as: Bias or Sample Bias</a:t>
            </a:r>
            <a:endParaRPr/>
          </a:p>
        </p:txBody>
      </p:sp>
      <p:sp>
        <p:nvSpPr>
          <p:cNvPr id="181" name="Google Shape;181;g396ec5d4623_0_43"/>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85000" lnSpcReduction="10000"/>
          </a:bodyPr>
          <a:lstStyle/>
          <a:p>
            <a:pPr indent="0" lvl="0" marL="0" rtl="0" algn="l">
              <a:lnSpc>
                <a:spcPct val="115000"/>
              </a:lnSpc>
              <a:spcBef>
                <a:spcPts val="1800"/>
              </a:spcBef>
              <a:spcAft>
                <a:spcPts val="0"/>
              </a:spcAft>
              <a:buNone/>
            </a:pPr>
            <a:r>
              <a:rPr b="1" lang="en-IN" sz="2400"/>
              <a:t>Scenario 3: The Broken Thermometer</a:t>
            </a:r>
            <a:endParaRPr b="1" sz="2400"/>
          </a:p>
          <a:p>
            <a:pPr indent="0" lvl="0" marL="0" rtl="0" algn="l">
              <a:lnSpc>
                <a:spcPct val="115000"/>
              </a:lnSpc>
              <a:spcBef>
                <a:spcPts val="1200"/>
              </a:spcBef>
              <a:spcAft>
                <a:spcPts val="0"/>
              </a:spcAft>
              <a:buNone/>
            </a:pPr>
            <a:r>
              <a:rPr lang="en-IN" sz="2400"/>
              <a:t>A weather station records daily temperatures using a thermometer that is </a:t>
            </a:r>
            <a:r>
              <a:rPr b="1" lang="en-IN" sz="2400"/>
              <a:t>placed directly above a concrete surface</a:t>
            </a:r>
            <a:r>
              <a:rPr lang="en-IN" sz="2400"/>
              <a:t>, which absorbs heat. All readings are consistently 3°C higher than the actual air temperature.</a:t>
            </a:r>
            <a:endParaRPr sz="2400"/>
          </a:p>
          <a:p>
            <a:pPr indent="0" lvl="0" marL="0" rtl="0" algn="l">
              <a:lnSpc>
                <a:spcPct val="115000"/>
              </a:lnSpc>
              <a:spcBef>
                <a:spcPts val="1200"/>
              </a:spcBef>
              <a:spcAft>
                <a:spcPts val="0"/>
              </a:spcAft>
              <a:buNone/>
            </a:pPr>
            <a:r>
              <a:rPr b="1" lang="en-IN" sz="2400"/>
              <a:t>Questions to analyze:</a:t>
            </a:r>
            <a:endParaRPr b="1" sz="2400"/>
          </a:p>
          <a:p>
            <a:pPr indent="-358140" lvl="0" marL="457200" rtl="0" algn="l">
              <a:lnSpc>
                <a:spcPct val="115000"/>
              </a:lnSpc>
              <a:spcBef>
                <a:spcPts val="1200"/>
              </a:spcBef>
              <a:spcAft>
                <a:spcPts val="0"/>
              </a:spcAft>
              <a:buSzPct val="100000"/>
              <a:buChar char="●"/>
            </a:pPr>
            <a:r>
              <a:rPr lang="en-IN" sz="2400"/>
              <a:t>Will collecting more data fix this problem?</a:t>
            </a:r>
            <a:endParaRPr sz="2400"/>
          </a:p>
          <a:p>
            <a:pPr indent="-358140" lvl="0" marL="457200" rtl="0" algn="l">
              <a:lnSpc>
                <a:spcPct val="115000"/>
              </a:lnSpc>
              <a:spcBef>
                <a:spcPts val="0"/>
              </a:spcBef>
              <a:spcAft>
                <a:spcPts val="0"/>
              </a:spcAft>
              <a:buSzPct val="100000"/>
              <a:buChar char="●"/>
            </a:pPr>
            <a:r>
              <a:rPr lang="en-IN" sz="2400"/>
              <a:t>Is the error random or consistent?</a:t>
            </a:r>
            <a:endParaRPr sz="2400"/>
          </a:p>
          <a:p>
            <a:pPr indent="-358140" lvl="0" marL="457200" rtl="0" algn="l">
              <a:lnSpc>
                <a:spcPct val="115000"/>
              </a:lnSpc>
              <a:spcBef>
                <a:spcPts val="0"/>
              </a:spcBef>
              <a:spcAft>
                <a:spcPts val="0"/>
              </a:spcAft>
              <a:buSzPct val="100000"/>
              <a:buChar char="●"/>
            </a:pPr>
            <a:r>
              <a:rPr lang="en-IN" sz="2400"/>
              <a:t>What kind of bias is this?</a:t>
            </a:r>
            <a:endParaRPr sz="2400"/>
          </a:p>
          <a:p>
            <a:pPr indent="0" lvl="0" marL="0" rtl="0" algn="l">
              <a:lnSpc>
                <a:spcPct val="115000"/>
              </a:lnSpc>
              <a:spcBef>
                <a:spcPts val="1200"/>
              </a:spcBef>
              <a:spcAft>
                <a:spcPts val="0"/>
              </a:spcAft>
              <a:buNone/>
            </a:pPr>
            <a:r>
              <a:t/>
            </a:r>
            <a:endParaRPr b="1" sz="1800"/>
          </a:p>
          <a:p>
            <a:pPr indent="0" lvl="0" marL="0" rtl="0" algn="l">
              <a:spcBef>
                <a:spcPts val="1200"/>
              </a:spcBef>
              <a:spcAft>
                <a:spcPts val="0"/>
              </a:spcAft>
              <a:buNone/>
            </a:pPr>
            <a:r>
              <a:rPr lang="en-IN" sz="2400"/>
              <a:t>Answer: </a:t>
            </a:r>
            <a:r>
              <a:rPr b="1" lang="en-IN" sz="2400"/>
              <a:t>Systematic Bias</a:t>
            </a:r>
            <a:r>
              <a:rPr lang="en-IN" sz="2400"/>
              <a:t> — a consistent, repeatable error that affects all measurements in the same direction due to a flaw in the </a:t>
            </a:r>
            <a:r>
              <a:rPr b="1" lang="en-IN" sz="2400"/>
              <a:t>measurement process itself.</a:t>
            </a:r>
            <a:endParaRPr sz="2400"/>
          </a:p>
        </p:txBody>
      </p:sp>
      <p:sp>
        <p:nvSpPr>
          <p:cNvPr id="182" name="Google Shape;182;g396ec5d4623_0_43"/>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96ec5d4623_0_7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Identify the following as: Bias or Sample Bias</a:t>
            </a:r>
            <a:endParaRPr/>
          </a:p>
        </p:txBody>
      </p:sp>
      <p:sp>
        <p:nvSpPr>
          <p:cNvPr id="189" name="Google Shape;189;g396ec5d4623_0_74"/>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2400"/>
              <a:t>Scenario 4: The Successful Entrepreneur Study</a:t>
            </a:r>
            <a:endParaRPr b="1" sz="2400"/>
          </a:p>
          <a:p>
            <a:pPr indent="0" lvl="0" marL="0" rtl="0" algn="l">
              <a:lnSpc>
                <a:spcPct val="115000"/>
              </a:lnSpc>
              <a:spcBef>
                <a:spcPts val="1200"/>
              </a:spcBef>
              <a:spcAft>
                <a:spcPts val="0"/>
              </a:spcAft>
              <a:buClr>
                <a:schemeClr val="dk1"/>
              </a:buClr>
              <a:buSzPts val="1100"/>
              <a:buFont typeface="Arial"/>
              <a:buNone/>
            </a:pPr>
            <a:r>
              <a:rPr lang="en-IN" sz="2400"/>
              <a:t>A business magazine publishes an article titled: </a:t>
            </a:r>
            <a:r>
              <a:rPr b="1" lang="en-IN" sz="2400"/>
              <a:t>"The Secret to Success: All Successful Entrepreneurs Dropped Out of College."</a:t>
            </a:r>
            <a:endParaRPr b="1" sz="2400"/>
          </a:p>
          <a:p>
            <a:pPr indent="0" lvl="0" marL="0" rtl="0" algn="l">
              <a:lnSpc>
                <a:spcPct val="115000"/>
              </a:lnSpc>
              <a:spcBef>
                <a:spcPts val="1200"/>
              </a:spcBef>
              <a:spcAft>
                <a:spcPts val="0"/>
              </a:spcAft>
              <a:buClr>
                <a:schemeClr val="dk1"/>
              </a:buClr>
              <a:buSzPts val="1100"/>
              <a:buFont typeface="Arial"/>
              <a:buNone/>
            </a:pPr>
            <a:r>
              <a:rPr lang="en-IN" sz="2400"/>
              <a:t>The article studied </a:t>
            </a:r>
            <a:r>
              <a:rPr b="1" lang="en-IN" sz="2400"/>
              <a:t>50 famous successful entrepreneurs</a:t>
            </a:r>
            <a:r>
              <a:rPr lang="en-IN" sz="2400"/>
              <a:t> who dropped out of college — like Bill Gates, Steve Jobs, and Mark Zuckerberg — and concluded that:</a:t>
            </a:r>
            <a:endParaRPr sz="2400"/>
          </a:p>
          <a:p>
            <a:pPr indent="0" lvl="0" marL="381000" marR="381000" rtl="0" algn="l">
              <a:lnSpc>
                <a:spcPct val="115000"/>
              </a:lnSpc>
              <a:spcBef>
                <a:spcPts val="1200"/>
              </a:spcBef>
              <a:spcAft>
                <a:spcPts val="0"/>
              </a:spcAft>
              <a:buClr>
                <a:schemeClr val="dk1"/>
              </a:buClr>
              <a:buSzPts val="1100"/>
              <a:buFont typeface="Arial"/>
              <a:buNone/>
            </a:pPr>
            <a:r>
              <a:rPr i="1" lang="en-IN" sz="2400"/>
              <a:t>"College is unnecessary. Dropping out increases your chances of becoming a successful entrepreneur."</a:t>
            </a:r>
            <a:endParaRPr i="1" sz="2400"/>
          </a:p>
          <a:p>
            <a:pPr indent="0" lvl="0" marL="0" rtl="0" algn="l">
              <a:spcBef>
                <a:spcPts val="1200"/>
              </a:spcBef>
              <a:spcAft>
                <a:spcPts val="0"/>
              </a:spcAft>
              <a:buNone/>
            </a:pPr>
            <a:r>
              <a:t/>
            </a:r>
            <a:endParaRPr b="1" sz="2400"/>
          </a:p>
        </p:txBody>
      </p:sp>
      <p:sp>
        <p:nvSpPr>
          <p:cNvPr id="190" name="Google Shape;190;g396ec5d4623_0_7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dceab5acea_0_1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Random Selection</a:t>
            </a:r>
            <a:endParaRPr/>
          </a:p>
        </p:txBody>
      </p:sp>
      <p:sp>
        <p:nvSpPr>
          <p:cNvPr id="197" name="Google Shape;197;g3dceab5acea_0_17"/>
          <p:cNvSpPr txBox="1"/>
          <p:nvPr>
            <p:ph idx="1" type="body"/>
          </p:nvPr>
        </p:nvSpPr>
        <p:spPr>
          <a:xfrm>
            <a:off x="838200" y="1518051"/>
            <a:ext cx="10515600" cy="51969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rPr lang="en-IN" sz="2200"/>
              <a:t>Random sampling is not always easy. Proper definition of an accessible population is key. </a:t>
            </a:r>
            <a:endParaRPr sz="2200"/>
          </a:p>
          <a:p>
            <a:pPr indent="0" lvl="0" marL="0" rtl="0" algn="just">
              <a:spcBef>
                <a:spcPts val="1000"/>
              </a:spcBef>
              <a:spcAft>
                <a:spcPts val="0"/>
              </a:spcAft>
              <a:buNone/>
            </a:pPr>
            <a:r>
              <a:rPr lang="en-IN" sz="2200"/>
              <a:t>Ex: Create a </a:t>
            </a:r>
            <a:r>
              <a:rPr b="1" lang="en-IN" sz="2200"/>
              <a:t>representative profile of customers</a:t>
            </a:r>
            <a:r>
              <a:rPr lang="en-IN" sz="2200"/>
              <a:t> using a survey</a:t>
            </a:r>
            <a:endParaRPr sz="2200"/>
          </a:p>
          <a:p>
            <a:pPr indent="0" lvl="0" marL="0" rtl="0" algn="l">
              <a:lnSpc>
                <a:spcPct val="115000"/>
              </a:lnSpc>
              <a:spcBef>
                <a:spcPts val="1200"/>
              </a:spcBef>
              <a:spcAft>
                <a:spcPts val="0"/>
              </a:spcAft>
              <a:buNone/>
            </a:pPr>
            <a:r>
              <a:rPr b="1" lang="en-IN" sz="2200"/>
              <a:t>Step 1: Define “Who is a Customer?”</a:t>
            </a:r>
            <a:endParaRPr b="1" sz="2200"/>
          </a:p>
          <a:p>
            <a:pPr indent="-368300" lvl="0" marL="457200" rtl="0" algn="l">
              <a:lnSpc>
                <a:spcPct val="115000"/>
              </a:lnSpc>
              <a:spcBef>
                <a:spcPts val="1200"/>
              </a:spcBef>
              <a:spcAft>
                <a:spcPts val="0"/>
              </a:spcAft>
              <a:buSzPts val="2200"/>
              <a:buChar char="●"/>
            </a:pPr>
            <a:r>
              <a:rPr lang="en-IN" sz="2200"/>
              <a:t>People who </a:t>
            </a:r>
            <a:r>
              <a:rPr b="1" lang="en-IN" sz="2200"/>
              <a:t>bought something (purchase &gt; 0)</a:t>
            </a:r>
            <a:endParaRPr b="1" sz="2200"/>
          </a:p>
          <a:p>
            <a:pPr indent="-368300" lvl="0" marL="457200" rtl="0" algn="l">
              <a:lnSpc>
                <a:spcPct val="115000"/>
              </a:lnSpc>
              <a:spcBef>
                <a:spcPts val="0"/>
              </a:spcBef>
              <a:spcAft>
                <a:spcPts val="0"/>
              </a:spcAft>
              <a:buSzPts val="2200"/>
              <a:buChar char="●"/>
            </a:pPr>
            <a:r>
              <a:rPr lang="en-IN" sz="2200"/>
              <a:t>But questions arise:</a:t>
            </a:r>
            <a:endParaRPr sz="2200"/>
          </a:p>
          <a:p>
            <a:pPr indent="-368300" lvl="1" marL="914400" rtl="0" algn="l">
              <a:lnSpc>
                <a:spcPct val="115000"/>
              </a:lnSpc>
              <a:spcBef>
                <a:spcPts val="0"/>
              </a:spcBef>
              <a:spcAft>
                <a:spcPts val="0"/>
              </a:spcAft>
              <a:buSzPts val="2200"/>
              <a:buChar char="○"/>
            </a:pPr>
            <a:r>
              <a:rPr lang="en-IN" sz="2200"/>
              <a:t>Include </a:t>
            </a:r>
            <a:r>
              <a:rPr b="1" lang="en-IN" sz="2200"/>
              <a:t>old customers or only recent ones?</a:t>
            </a:r>
            <a:endParaRPr b="1" sz="2200"/>
          </a:p>
          <a:p>
            <a:pPr indent="-368300" lvl="1" marL="914400" rtl="0" algn="l">
              <a:lnSpc>
                <a:spcPct val="115000"/>
              </a:lnSpc>
              <a:spcBef>
                <a:spcPts val="0"/>
              </a:spcBef>
              <a:spcAft>
                <a:spcPts val="0"/>
              </a:spcAft>
              <a:buSzPts val="2200"/>
              <a:buChar char="○"/>
            </a:pPr>
            <a:r>
              <a:rPr lang="en-IN" sz="2200"/>
              <a:t>Include </a:t>
            </a:r>
            <a:r>
              <a:rPr b="1" lang="en-IN" sz="2200"/>
              <a:t>people who returned/refunded items?</a:t>
            </a:r>
            <a:endParaRPr b="1" sz="2200"/>
          </a:p>
          <a:p>
            <a:pPr indent="-368300" lvl="1" marL="914400" rtl="0" algn="l">
              <a:lnSpc>
                <a:spcPct val="115000"/>
              </a:lnSpc>
              <a:spcBef>
                <a:spcPts val="0"/>
              </a:spcBef>
              <a:spcAft>
                <a:spcPts val="0"/>
              </a:spcAft>
              <a:buSzPts val="2200"/>
              <a:buChar char="○"/>
            </a:pPr>
            <a:r>
              <a:rPr lang="en-IN" sz="2200"/>
              <a:t>Include </a:t>
            </a:r>
            <a:r>
              <a:rPr b="1" lang="en-IN" sz="2200"/>
              <a:t>test or fake purchases?</a:t>
            </a:r>
            <a:endParaRPr b="1" sz="2200"/>
          </a:p>
          <a:p>
            <a:pPr indent="-368300" lvl="1" marL="914400" rtl="0" algn="l">
              <a:lnSpc>
                <a:spcPct val="115000"/>
              </a:lnSpc>
              <a:spcBef>
                <a:spcPts val="0"/>
              </a:spcBef>
              <a:spcAft>
                <a:spcPts val="0"/>
              </a:spcAft>
              <a:buSzPts val="2200"/>
              <a:buChar char="○"/>
            </a:pPr>
            <a:r>
              <a:rPr lang="en-IN" sz="2200"/>
              <a:t>Include </a:t>
            </a:r>
            <a:r>
              <a:rPr b="1" lang="en-IN" sz="2200"/>
              <a:t>resellers or only end users?</a:t>
            </a:r>
            <a:endParaRPr i="1" sz="2200"/>
          </a:p>
          <a:p>
            <a:pPr indent="0" lvl="0" marL="457200" rtl="0" algn="l">
              <a:lnSpc>
                <a:spcPct val="115000"/>
              </a:lnSpc>
              <a:spcBef>
                <a:spcPts val="1200"/>
              </a:spcBef>
              <a:spcAft>
                <a:spcPts val="0"/>
              </a:spcAft>
              <a:buNone/>
            </a:pPr>
            <a:r>
              <a:t/>
            </a:r>
            <a:endParaRPr sz="2200"/>
          </a:p>
          <a:p>
            <a:pPr indent="0" lvl="0" marL="0" rtl="0" algn="l">
              <a:lnSpc>
                <a:spcPct val="115000"/>
              </a:lnSpc>
              <a:spcBef>
                <a:spcPts val="1200"/>
              </a:spcBef>
              <a:spcAft>
                <a:spcPts val="0"/>
              </a:spcAft>
              <a:buNone/>
            </a:pPr>
            <a:r>
              <a:t/>
            </a:r>
            <a:endParaRPr sz="1100"/>
          </a:p>
          <a:p>
            <a:pPr indent="0" lvl="0" marL="0" rtl="0" algn="just">
              <a:spcBef>
                <a:spcPts val="1200"/>
              </a:spcBef>
              <a:spcAft>
                <a:spcPts val="0"/>
              </a:spcAft>
              <a:buNone/>
            </a:pPr>
            <a:r>
              <a:t/>
            </a:r>
            <a:endParaRPr sz="1100"/>
          </a:p>
        </p:txBody>
      </p:sp>
      <p:sp>
        <p:nvSpPr>
          <p:cNvPr id="198" name="Google Shape;198;g3dceab5acea_0_1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dceab5acea_0_6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05" name="Google Shape;205;g3dceab5acea_0_64"/>
          <p:cNvSpPr txBox="1"/>
          <p:nvPr>
            <p:ph idx="1" type="body"/>
          </p:nvPr>
        </p:nvSpPr>
        <p:spPr>
          <a:xfrm>
            <a:off x="838200" y="549052"/>
            <a:ext cx="10515600" cy="5320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200"/>
              </a:spcBef>
              <a:spcAft>
                <a:spcPts val="0"/>
              </a:spcAft>
              <a:buNone/>
            </a:pPr>
            <a:r>
              <a:rPr b="1" lang="en-IN" sz="2200"/>
              <a:t>Step 2: Select a Sample</a:t>
            </a:r>
            <a:endParaRPr b="1" sz="2200"/>
          </a:p>
          <a:p>
            <a:pPr indent="-357823" lvl="0" marL="457200" rtl="0" algn="l">
              <a:lnSpc>
                <a:spcPct val="115000"/>
              </a:lnSpc>
              <a:spcBef>
                <a:spcPts val="1200"/>
              </a:spcBef>
              <a:spcAft>
                <a:spcPts val="0"/>
              </a:spcAft>
              <a:buSzPct val="100000"/>
              <a:buChar char="●"/>
            </a:pPr>
            <a:r>
              <a:rPr lang="en-IN" sz="2200"/>
              <a:t>We cannot survey everyone (too much work)</a:t>
            </a:r>
            <a:endParaRPr sz="2200"/>
          </a:p>
          <a:p>
            <a:pPr indent="-357823" lvl="0" marL="457200" rtl="0" algn="l">
              <a:lnSpc>
                <a:spcPct val="115000"/>
              </a:lnSpc>
              <a:spcBef>
                <a:spcPts val="0"/>
              </a:spcBef>
              <a:spcAft>
                <a:spcPts val="0"/>
              </a:spcAft>
              <a:buSzPct val="100000"/>
              <a:buChar char="●"/>
            </a:pPr>
            <a:r>
              <a:rPr lang="en-IN" sz="2200"/>
              <a:t>So we </a:t>
            </a:r>
            <a:r>
              <a:rPr b="1" lang="en-IN" sz="2200"/>
              <a:t>pick a small group</a:t>
            </a:r>
            <a:endParaRPr b="1" sz="2200"/>
          </a:p>
          <a:p>
            <a:pPr indent="0" lvl="0" marL="0" rtl="0" algn="l">
              <a:lnSpc>
                <a:spcPct val="115000"/>
              </a:lnSpc>
              <a:spcBef>
                <a:spcPts val="1200"/>
              </a:spcBef>
              <a:spcAft>
                <a:spcPts val="0"/>
              </a:spcAft>
              <a:buNone/>
            </a:pPr>
            <a:r>
              <a:rPr lang="en-IN" sz="2200"/>
              <a:t>Example: “Select </a:t>
            </a:r>
            <a:r>
              <a:rPr b="1" lang="en-IN" sz="2200"/>
              <a:t>100 customers randomly</a:t>
            </a:r>
            <a:r>
              <a:rPr lang="en-IN" sz="2200"/>
              <a:t>”</a:t>
            </a:r>
            <a:endParaRPr sz="2200"/>
          </a:p>
          <a:p>
            <a:pPr indent="0" lvl="0" marL="0" rtl="0" algn="l">
              <a:lnSpc>
                <a:spcPct val="115000"/>
              </a:lnSpc>
              <a:spcBef>
                <a:spcPts val="1200"/>
              </a:spcBef>
              <a:spcAft>
                <a:spcPts val="0"/>
              </a:spcAft>
              <a:buClr>
                <a:schemeClr val="dk1"/>
              </a:buClr>
              <a:buSzPct val="50000"/>
              <a:buFont typeface="Arial"/>
              <a:buNone/>
            </a:pPr>
            <a:r>
              <a:rPr b="1" lang="en-IN" sz="2200"/>
              <a:t>St</a:t>
            </a:r>
            <a:r>
              <a:rPr b="1" lang="en-IN" sz="2200"/>
              <a:t>ep 3: Why Sampling Matters</a:t>
            </a:r>
            <a:endParaRPr b="1" sz="2200"/>
          </a:p>
          <a:p>
            <a:pPr indent="-357823" lvl="0" marL="457200" rtl="0" algn="l">
              <a:lnSpc>
                <a:spcPct val="115000"/>
              </a:lnSpc>
              <a:spcBef>
                <a:spcPts val="1200"/>
              </a:spcBef>
              <a:spcAft>
                <a:spcPts val="0"/>
              </a:spcAft>
              <a:buSzPct val="100000"/>
              <a:buChar char="●"/>
            </a:pPr>
            <a:r>
              <a:rPr lang="en-IN" sz="2200"/>
              <a:t>The sample should </a:t>
            </a:r>
            <a:r>
              <a:rPr b="1" lang="en-IN" sz="2200"/>
              <a:t>represent all types of customers</a:t>
            </a:r>
            <a:endParaRPr b="1" sz="2200"/>
          </a:p>
          <a:p>
            <a:pPr indent="-357823" lvl="0" marL="457200" rtl="0" algn="l">
              <a:lnSpc>
                <a:spcPct val="115000"/>
              </a:lnSpc>
              <a:spcBef>
                <a:spcPts val="0"/>
              </a:spcBef>
              <a:spcAft>
                <a:spcPts val="0"/>
              </a:spcAft>
              <a:buSzPct val="100000"/>
              <a:buChar char="●"/>
            </a:pPr>
            <a:r>
              <a:rPr lang="en-IN" sz="2200"/>
              <a:t>If not:</a:t>
            </a:r>
            <a:endParaRPr sz="2200"/>
          </a:p>
          <a:p>
            <a:pPr indent="-357823" lvl="1" marL="914400" rtl="0" algn="l">
              <a:lnSpc>
                <a:spcPct val="115000"/>
              </a:lnSpc>
              <a:spcBef>
                <a:spcPts val="0"/>
              </a:spcBef>
              <a:spcAft>
                <a:spcPts val="0"/>
              </a:spcAft>
              <a:buSzPct val="100000"/>
              <a:buChar char="○"/>
            </a:pPr>
            <a:r>
              <a:rPr lang="en-IN" sz="2200"/>
              <a:t>Results may be </a:t>
            </a:r>
            <a:r>
              <a:rPr b="1" lang="en-IN" sz="2200"/>
              <a:t>biased or misleading</a:t>
            </a:r>
            <a:endParaRPr b="1" sz="2200"/>
          </a:p>
          <a:p>
            <a:pPr indent="0" lvl="0" marL="0" rtl="0" algn="l">
              <a:lnSpc>
                <a:spcPct val="115000"/>
              </a:lnSpc>
              <a:spcBef>
                <a:spcPts val="1200"/>
              </a:spcBef>
              <a:spcAft>
                <a:spcPts val="0"/>
              </a:spcAft>
              <a:buClr>
                <a:schemeClr val="dk1"/>
              </a:buClr>
              <a:buSzPct val="50000"/>
              <a:buFont typeface="Arial"/>
              <a:buNone/>
            </a:pPr>
            <a:r>
              <a:rPr lang="en-IN" sz="2200"/>
              <a:t>Imagine a </a:t>
            </a:r>
            <a:r>
              <a:rPr b="1" lang="en-IN" sz="2200"/>
              <a:t>shopping app</a:t>
            </a:r>
            <a:r>
              <a:rPr lang="en-IN" sz="2200"/>
              <a:t>:</a:t>
            </a:r>
            <a:endParaRPr sz="2200"/>
          </a:p>
          <a:p>
            <a:pPr indent="-357823" lvl="0" marL="457200" rtl="0" algn="l">
              <a:lnSpc>
                <a:spcPct val="115000"/>
              </a:lnSpc>
              <a:spcBef>
                <a:spcPts val="1200"/>
              </a:spcBef>
              <a:spcAft>
                <a:spcPts val="0"/>
              </a:spcAft>
              <a:buSzPct val="100000"/>
              <a:buChar char="●"/>
            </a:pPr>
            <a:r>
              <a:rPr lang="en-IN" sz="2200"/>
              <a:t>Total customers = 10,000</a:t>
            </a:r>
            <a:endParaRPr sz="2200"/>
          </a:p>
          <a:p>
            <a:pPr indent="-357823" lvl="0" marL="457200" rtl="0" algn="l">
              <a:lnSpc>
                <a:spcPct val="115000"/>
              </a:lnSpc>
              <a:spcBef>
                <a:spcPts val="0"/>
              </a:spcBef>
              <a:spcAft>
                <a:spcPts val="0"/>
              </a:spcAft>
              <a:buSzPct val="100000"/>
              <a:buChar char="●"/>
            </a:pPr>
            <a:r>
              <a:rPr lang="en-IN" sz="2200"/>
              <a:t>You randomly pick </a:t>
            </a:r>
            <a:r>
              <a:rPr b="1" lang="en-IN" sz="2200"/>
              <a:t>100 customers</a:t>
            </a:r>
            <a:r>
              <a:rPr lang="en-IN" sz="2200"/>
              <a:t> to survey</a:t>
            </a:r>
            <a:endParaRPr sz="2200"/>
          </a:p>
          <a:p>
            <a:pPr indent="0" lvl="0" marL="0" rtl="0" algn="l">
              <a:lnSpc>
                <a:spcPct val="115000"/>
              </a:lnSpc>
              <a:spcBef>
                <a:spcPts val="1200"/>
              </a:spcBef>
              <a:spcAft>
                <a:spcPts val="0"/>
              </a:spcAft>
              <a:buClr>
                <a:schemeClr val="dk1"/>
              </a:buClr>
              <a:buSzPct val="50000"/>
              <a:buFont typeface="Arial"/>
              <a:buNone/>
            </a:pPr>
            <a:r>
              <a:rPr lang="en-IN" sz="2200"/>
              <a:t>If chosen properly:</a:t>
            </a:r>
            <a:endParaRPr sz="2200"/>
          </a:p>
          <a:p>
            <a:pPr indent="-357823" lvl="0" marL="457200" rtl="0" algn="l">
              <a:lnSpc>
                <a:spcPct val="115000"/>
              </a:lnSpc>
              <a:spcBef>
                <a:spcPts val="1200"/>
              </a:spcBef>
              <a:spcAft>
                <a:spcPts val="0"/>
              </a:spcAft>
              <a:buSzPct val="100000"/>
              <a:buChar char="●"/>
            </a:pPr>
            <a:r>
              <a:rPr lang="en-IN" sz="2200"/>
              <a:t>Their responses can reflect </a:t>
            </a:r>
            <a:r>
              <a:rPr b="1" lang="en-IN" sz="2200"/>
              <a:t>overall customer behavior</a:t>
            </a:r>
            <a:endParaRPr/>
          </a:p>
        </p:txBody>
      </p:sp>
      <p:sp>
        <p:nvSpPr>
          <p:cNvPr id="206" name="Google Shape;206;g3dceab5acea_0_6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dceab5acea_0_3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Stratified Sampling</a:t>
            </a:r>
            <a:endParaRPr/>
          </a:p>
        </p:txBody>
      </p:sp>
      <p:sp>
        <p:nvSpPr>
          <p:cNvPr id="213" name="Google Shape;213;g3dceab5acea_0_38"/>
          <p:cNvSpPr txBox="1"/>
          <p:nvPr>
            <p:ph idx="1" type="body"/>
          </p:nvPr>
        </p:nvSpPr>
        <p:spPr>
          <a:xfrm>
            <a:off x="838200" y="1234576"/>
            <a:ext cx="10515600" cy="46347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IN" sz="1642"/>
              <a:t>A method of sampling where:</a:t>
            </a:r>
            <a:endParaRPr sz="1642"/>
          </a:p>
          <a:p>
            <a:pPr indent="-332856" lvl="1" marL="914400" rtl="0" algn="l">
              <a:lnSpc>
                <a:spcPct val="115000"/>
              </a:lnSpc>
              <a:spcBef>
                <a:spcPts val="1200"/>
              </a:spcBef>
              <a:spcAft>
                <a:spcPts val="0"/>
              </a:spcAft>
              <a:buSzPts val="1642"/>
              <a:buChar char="○"/>
            </a:pPr>
            <a:r>
              <a:rPr lang="en-IN" sz="1642"/>
              <a:t>Population is divided into </a:t>
            </a:r>
            <a:r>
              <a:rPr b="1" lang="en-IN" sz="1642"/>
              <a:t>groups (strata)</a:t>
            </a:r>
            <a:endParaRPr b="1" sz="1642"/>
          </a:p>
          <a:p>
            <a:pPr indent="-332856" lvl="1" marL="914400" rtl="0" algn="l">
              <a:lnSpc>
                <a:spcPct val="115000"/>
              </a:lnSpc>
              <a:spcBef>
                <a:spcPts val="0"/>
              </a:spcBef>
              <a:spcAft>
                <a:spcPts val="0"/>
              </a:spcAft>
              <a:buSzPts val="1642"/>
              <a:buChar char="○"/>
            </a:pPr>
            <a:r>
              <a:rPr lang="en-IN" sz="1642"/>
              <a:t>Then samples are taken from </a:t>
            </a:r>
            <a:r>
              <a:rPr b="1" lang="en-IN" sz="1642"/>
              <a:t>each group</a:t>
            </a:r>
            <a:endParaRPr b="1" sz="1642"/>
          </a:p>
          <a:p>
            <a:pPr indent="0" lvl="0" marL="0" rtl="0" algn="l">
              <a:lnSpc>
                <a:spcPct val="115000"/>
              </a:lnSpc>
              <a:spcBef>
                <a:spcPts val="1200"/>
              </a:spcBef>
              <a:spcAft>
                <a:spcPts val="0"/>
              </a:spcAft>
              <a:buNone/>
            </a:pPr>
            <a:r>
              <a:rPr lang="en-IN" sz="1642"/>
              <a:t>👉 Each group should be </a:t>
            </a:r>
            <a:r>
              <a:rPr b="1" lang="en-IN" sz="1642"/>
              <a:t>similar within</a:t>
            </a:r>
            <a:r>
              <a:rPr lang="en-IN" sz="1642"/>
              <a:t> but </a:t>
            </a:r>
            <a:r>
              <a:rPr b="1" lang="en-IN" sz="1642"/>
              <a:t>different between groups</a:t>
            </a:r>
            <a:endParaRPr b="1" sz="1642"/>
          </a:p>
          <a:p>
            <a:pPr indent="0" lvl="0" marL="0" rtl="0" algn="l">
              <a:lnSpc>
                <a:spcPct val="115000"/>
              </a:lnSpc>
              <a:spcBef>
                <a:spcPts val="1200"/>
              </a:spcBef>
              <a:spcAft>
                <a:spcPts val="0"/>
              </a:spcAft>
              <a:buNone/>
            </a:pPr>
            <a:r>
              <a:rPr lang="en-IN" sz="1642"/>
              <a:t>Ensures </a:t>
            </a:r>
            <a:r>
              <a:rPr b="1" lang="en-IN" sz="1642"/>
              <a:t>fair representation</a:t>
            </a:r>
            <a:r>
              <a:rPr lang="en-IN" sz="1642"/>
              <a:t> of all groups, Gives </a:t>
            </a:r>
            <a:r>
              <a:rPr b="1" lang="en-IN" sz="1642"/>
              <a:t> accurate results</a:t>
            </a:r>
            <a:r>
              <a:rPr lang="en-IN" sz="1642"/>
              <a:t> than random sampling, Useful for  </a:t>
            </a:r>
            <a:r>
              <a:rPr b="1" lang="en-IN" sz="1642"/>
              <a:t>different categories</a:t>
            </a:r>
            <a:endParaRPr b="1" sz="1642"/>
          </a:p>
          <a:p>
            <a:pPr indent="0" lvl="0" marL="0" rtl="0" algn="l">
              <a:lnSpc>
                <a:spcPct val="115000"/>
              </a:lnSpc>
              <a:spcBef>
                <a:spcPts val="1200"/>
              </a:spcBef>
              <a:spcAft>
                <a:spcPts val="0"/>
              </a:spcAft>
              <a:buNone/>
            </a:pPr>
            <a:r>
              <a:rPr b="1" lang="en-IN" sz="1642"/>
              <a:t>Population:</a:t>
            </a:r>
            <a:r>
              <a:rPr lang="en-IN" sz="1642"/>
              <a:t> 100 students of 60 boys and 40 girls</a:t>
            </a:r>
            <a:endParaRPr b="1" sz="1642"/>
          </a:p>
          <a:p>
            <a:pPr indent="-332856" lvl="0" marL="457200" rtl="0" algn="l">
              <a:lnSpc>
                <a:spcPct val="115000"/>
              </a:lnSpc>
              <a:spcBef>
                <a:spcPts val="1200"/>
              </a:spcBef>
              <a:spcAft>
                <a:spcPts val="0"/>
              </a:spcAft>
              <a:buSzPts val="1642"/>
              <a:buChar char="●"/>
            </a:pPr>
            <a:r>
              <a:rPr lang="en-IN" sz="1642"/>
              <a:t>Divide into 2 groups:</a:t>
            </a:r>
            <a:endParaRPr sz="1642"/>
          </a:p>
          <a:p>
            <a:pPr indent="-332856" lvl="1" marL="914400" rtl="0" algn="l">
              <a:lnSpc>
                <a:spcPct val="115000"/>
              </a:lnSpc>
              <a:spcBef>
                <a:spcPts val="0"/>
              </a:spcBef>
              <a:spcAft>
                <a:spcPts val="0"/>
              </a:spcAft>
              <a:buSzPts val="1642"/>
              <a:buChar char="○"/>
            </a:pPr>
            <a:r>
              <a:rPr lang="en-IN" sz="1642"/>
              <a:t>Boys (60)</a:t>
            </a:r>
            <a:endParaRPr sz="1642"/>
          </a:p>
          <a:p>
            <a:pPr indent="-332856" lvl="1" marL="914400" rtl="0" algn="l">
              <a:lnSpc>
                <a:spcPct val="115000"/>
              </a:lnSpc>
              <a:spcBef>
                <a:spcPts val="0"/>
              </a:spcBef>
              <a:spcAft>
                <a:spcPts val="0"/>
              </a:spcAft>
              <a:buSzPts val="1642"/>
              <a:buChar char="○"/>
            </a:pPr>
            <a:r>
              <a:rPr lang="en-IN" sz="1642"/>
              <a:t>Girls (40)</a:t>
            </a:r>
            <a:endParaRPr sz="1642"/>
          </a:p>
          <a:p>
            <a:pPr indent="-332856" lvl="0" marL="457200" rtl="0" algn="l">
              <a:lnSpc>
                <a:spcPct val="115000"/>
              </a:lnSpc>
              <a:spcBef>
                <a:spcPts val="0"/>
              </a:spcBef>
              <a:spcAft>
                <a:spcPts val="0"/>
              </a:spcAft>
              <a:buSzPts val="1642"/>
              <a:buChar char="●"/>
            </a:pPr>
            <a:r>
              <a:rPr lang="en-IN" sz="1642"/>
              <a:t>Select proportionally:</a:t>
            </a:r>
            <a:endParaRPr sz="1642"/>
          </a:p>
          <a:p>
            <a:pPr indent="-332856" lvl="1" marL="914400" rtl="0" algn="l">
              <a:lnSpc>
                <a:spcPct val="115000"/>
              </a:lnSpc>
              <a:spcBef>
                <a:spcPts val="0"/>
              </a:spcBef>
              <a:spcAft>
                <a:spcPts val="0"/>
              </a:spcAft>
              <a:buSzPts val="1642"/>
              <a:buChar char="○"/>
            </a:pPr>
            <a:r>
              <a:rPr lang="en-IN" sz="1642"/>
              <a:t>6 boys + 4 girls → sample of 10</a:t>
            </a:r>
            <a:endParaRPr sz="2200"/>
          </a:p>
        </p:txBody>
      </p:sp>
      <p:sp>
        <p:nvSpPr>
          <p:cNvPr id="214" name="Google Shape;214;g3dceab5acea_0_3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dceab5acea_0_46"/>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Size Versus Quality: When Does Size of the data Matter?</a:t>
            </a:r>
            <a:endParaRPr/>
          </a:p>
        </p:txBody>
      </p:sp>
      <p:sp>
        <p:nvSpPr>
          <p:cNvPr id="221" name="Google Shape;221;g3dceab5acea_0_4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In the era of big data, it is sometimes surprising that smaller is better.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Time and effort spent on random sampling not only reduces bias but also allows greater attention to data exploration and data quality.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For example, missing data and outliers may contain useful information. </a:t>
            </a:r>
            <a:endParaRPr/>
          </a:p>
          <a:p>
            <a:pPr indent="0" lvl="0" marL="0" rtl="0" algn="just">
              <a:spcBef>
                <a:spcPts val="1000"/>
              </a:spcBef>
              <a:spcAft>
                <a:spcPts val="0"/>
              </a:spcAft>
              <a:buNone/>
            </a:pPr>
            <a:r>
              <a:t/>
            </a:r>
            <a:endParaRPr/>
          </a:p>
          <a:p>
            <a:pPr indent="0" lvl="0" marL="0" rtl="0" algn="just">
              <a:spcBef>
                <a:spcPts val="1000"/>
              </a:spcBef>
              <a:spcAft>
                <a:spcPts val="0"/>
              </a:spcAft>
              <a:buClr>
                <a:schemeClr val="dk1"/>
              </a:buClr>
              <a:buSzPts val="1100"/>
              <a:buFont typeface="Arial"/>
              <a:buNone/>
            </a:pPr>
            <a:r>
              <a:rPr lang="en-IN"/>
              <a:t>It might be prohibitively expensive to track down missing values or evaluate outliers in millions of records, but doing so in a sample of several thousand records may be feasible. Data plotting and manual inspection bog down if there is too much data.</a:t>
            </a:r>
            <a:endParaRPr/>
          </a:p>
          <a:p>
            <a:pPr indent="0" lvl="0" marL="0" rtl="0" algn="l">
              <a:spcBef>
                <a:spcPts val="1000"/>
              </a:spcBef>
              <a:spcAft>
                <a:spcPts val="0"/>
              </a:spcAft>
              <a:buNone/>
            </a:pPr>
            <a:r>
              <a:t/>
            </a:r>
            <a:endParaRPr/>
          </a:p>
        </p:txBody>
      </p:sp>
      <p:sp>
        <p:nvSpPr>
          <p:cNvPr id="222" name="Google Shape;222;g3dceab5acea_0_4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dceab5acea_0_5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Sample Mean Versus Population Mean</a:t>
            </a:r>
            <a:endParaRPr/>
          </a:p>
        </p:txBody>
      </p:sp>
      <p:sp>
        <p:nvSpPr>
          <p:cNvPr id="229" name="Google Shape;229;g3dceab5acea_0_55"/>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rPr b="1" lang="en-IN" sz="2200"/>
              <a:t>Population Mean (μ):</a:t>
            </a:r>
            <a:endParaRPr b="1" sz="2200"/>
          </a:p>
          <a:p>
            <a:pPr indent="-368300" lvl="0" marL="457200" rtl="0" algn="l">
              <a:lnSpc>
                <a:spcPct val="115000"/>
              </a:lnSpc>
              <a:spcBef>
                <a:spcPts val="1200"/>
              </a:spcBef>
              <a:spcAft>
                <a:spcPts val="0"/>
              </a:spcAft>
              <a:buSzPts val="2200"/>
              <a:buChar char="●"/>
            </a:pPr>
            <a:r>
              <a:rPr lang="en-IN" sz="2200"/>
              <a:t>Average of </a:t>
            </a:r>
            <a:r>
              <a:rPr b="1" lang="en-IN" sz="2200"/>
              <a:t>entire population</a:t>
            </a:r>
            <a:endParaRPr b="1" sz="2200"/>
          </a:p>
          <a:p>
            <a:pPr indent="0" lvl="0" marL="0" rtl="0" algn="l">
              <a:spcBef>
                <a:spcPts val="1200"/>
              </a:spcBef>
              <a:spcAft>
                <a:spcPts val="0"/>
              </a:spcAft>
              <a:buNone/>
            </a:pPr>
            <a:r>
              <a:rPr lang="en-IN" sz="2200"/>
              <a:t>Poplulation Mean is given by </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lnSpc>
                <a:spcPct val="115000"/>
              </a:lnSpc>
              <a:spcBef>
                <a:spcPts val="1200"/>
              </a:spcBef>
              <a:spcAft>
                <a:spcPts val="0"/>
              </a:spcAft>
              <a:buClr>
                <a:schemeClr val="dk1"/>
              </a:buClr>
              <a:buSzPts val="1100"/>
              <a:buFont typeface="Arial"/>
              <a:buNone/>
            </a:pPr>
            <a:r>
              <a:rPr lang="en-IN" sz="2200"/>
              <a:t>Where:</a:t>
            </a:r>
            <a:endParaRPr sz="2200"/>
          </a:p>
          <a:p>
            <a:pPr indent="-368300" lvl="0" marL="457200" rtl="0" algn="l">
              <a:lnSpc>
                <a:spcPct val="115000"/>
              </a:lnSpc>
              <a:spcBef>
                <a:spcPts val="1200"/>
              </a:spcBef>
              <a:spcAft>
                <a:spcPts val="0"/>
              </a:spcAft>
              <a:buSzPts val="2200"/>
              <a:buChar char="●"/>
            </a:pPr>
            <a:r>
              <a:rPr lang="en-IN" sz="2200"/>
              <a:t>X = all values</a:t>
            </a:r>
            <a:endParaRPr sz="2200"/>
          </a:p>
          <a:p>
            <a:pPr indent="-368300" lvl="0" marL="457200" rtl="0" algn="l">
              <a:lnSpc>
                <a:spcPct val="115000"/>
              </a:lnSpc>
              <a:spcBef>
                <a:spcPts val="0"/>
              </a:spcBef>
              <a:spcAft>
                <a:spcPts val="0"/>
              </a:spcAft>
              <a:buSzPts val="2200"/>
              <a:buChar char="●"/>
            </a:pPr>
            <a:r>
              <a:rPr lang="en-IN" sz="2200"/>
              <a:t>N = total number of values</a:t>
            </a:r>
            <a:endParaRPr sz="2200"/>
          </a:p>
          <a:p>
            <a:pPr indent="0" lvl="0" marL="0" rtl="0" algn="l">
              <a:spcBef>
                <a:spcPts val="1200"/>
              </a:spcBef>
              <a:spcAft>
                <a:spcPts val="0"/>
              </a:spcAft>
              <a:buNone/>
            </a:pPr>
            <a:r>
              <a:t/>
            </a:r>
            <a:endParaRPr/>
          </a:p>
        </p:txBody>
      </p:sp>
      <p:sp>
        <p:nvSpPr>
          <p:cNvPr id="230" name="Google Shape;230;g3dceab5acea_0_5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31" name="Google Shape;231;g3dceab5acea_0_55"/>
          <p:cNvPicPr preferRelativeResize="0"/>
          <p:nvPr/>
        </p:nvPicPr>
        <p:blipFill>
          <a:blip r:embed="rId3">
            <a:alphaModFix/>
          </a:blip>
          <a:stretch>
            <a:fillRect/>
          </a:stretch>
        </p:blipFill>
        <p:spPr>
          <a:xfrm>
            <a:off x="4507100" y="2582481"/>
            <a:ext cx="1959208" cy="1175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dceab5acea_0_7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IN"/>
              <a:t>Sample Mean Versus Population Mean</a:t>
            </a:r>
            <a:endParaRPr/>
          </a:p>
        </p:txBody>
      </p:sp>
      <p:sp>
        <p:nvSpPr>
          <p:cNvPr id="238" name="Google Shape;238;g3dceab5acea_0_7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rPr b="1" lang="en-IN" sz="2200"/>
              <a:t>Sample Mean (x̄):</a:t>
            </a:r>
            <a:endParaRPr b="1" sz="2200"/>
          </a:p>
          <a:p>
            <a:pPr indent="-368300" lvl="0" marL="457200" rtl="0" algn="l">
              <a:lnSpc>
                <a:spcPct val="115000"/>
              </a:lnSpc>
              <a:spcBef>
                <a:spcPts val="1200"/>
              </a:spcBef>
              <a:spcAft>
                <a:spcPts val="0"/>
              </a:spcAft>
              <a:buSzPts val="2200"/>
              <a:buChar char="●"/>
            </a:pPr>
            <a:r>
              <a:rPr lang="en-IN" sz="2200"/>
              <a:t>Average of a </a:t>
            </a:r>
            <a:r>
              <a:rPr b="1" lang="en-IN" sz="2200"/>
              <a:t>subset of data</a:t>
            </a:r>
            <a:endParaRPr b="1" sz="2200"/>
          </a:p>
          <a:p>
            <a:pPr indent="0" lvl="0" marL="0" rtl="0" algn="l">
              <a:spcBef>
                <a:spcPts val="1200"/>
              </a:spcBef>
              <a:spcAft>
                <a:spcPts val="0"/>
              </a:spcAft>
              <a:buNone/>
            </a:pPr>
            <a:r>
              <a:rPr lang="en-IN" sz="2200"/>
              <a:t>Sample Mean is given by</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t/>
            </a:r>
            <a:endParaRPr sz="2200"/>
          </a:p>
          <a:p>
            <a:pPr indent="0" lvl="0" marL="0" rtl="0" algn="l">
              <a:lnSpc>
                <a:spcPct val="115000"/>
              </a:lnSpc>
              <a:spcBef>
                <a:spcPts val="1200"/>
              </a:spcBef>
              <a:spcAft>
                <a:spcPts val="0"/>
              </a:spcAft>
              <a:buClr>
                <a:schemeClr val="dk1"/>
              </a:buClr>
              <a:buSzPts val="1100"/>
              <a:buFont typeface="Arial"/>
              <a:buNone/>
            </a:pPr>
            <a:r>
              <a:rPr lang="en-IN" sz="2200"/>
              <a:t>Where:</a:t>
            </a:r>
            <a:endParaRPr sz="2200"/>
          </a:p>
          <a:p>
            <a:pPr indent="-368300" lvl="0" marL="457200" rtl="0" algn="l">
              <a:lnSpc>
                <a:spcPct val="115000"/>
              </a:lnSpc>
              <a:spcBef>
                <a:spcPts val="1200"/>
              </a:spcBef>
              <a:spcAft>
                <a:spcPts val="0"/>
              </a:spcAft>
              <a:buSzPts val="2200"/>
              <a:buChar char="●"/>
            </a:pPr>
            <a:r>
              <a:rPr lang="en-IN" sz="2200"/>
              <a:t>x = sample values</a:t>
            </a:r>
            <a:endParaRPr sz="2200"/>
          </a:p>
          <a:p>
            <a:pPr indent="-368300" lvl="0" marL="457200" rtl="0" algn="l">
              <a:lnSpc>
                <a:spcPct val="115000"/>
              </a:lnSpc>
              <a:spcBef>
                <a:spcPts val="0"/>
              </a:spcBef>
              <a:spcAft>
                <a:spcPts val="0"/>
              </a:spcAft>
              <a:buSzPts val="2200"/>
              <a:buChar char="●"/>
            </a:pPr>
            <a:r>
              <a:rPr lang="en-IN" sz="2200"/>
              <a:t>n = number of sample values</a:t>
            </a:r>
            <a:endParaRPr sz="2200"/>
          </a:p>
          <a:p>
            <a:pPr indent="0" lvl="0" marL="0" rtl="0" algn="l">
              <a:spcBef>
                <a:spcPts val="1200"/>
              </a:spcBef>
              <a:spcAft>
                <a:spcPts val="0"/>
              </a:spcAft>
              <a:buNone/>
            </a:pPr>
            <a:r>
              <a:t/>
            </a:r>
            <a:endParaRPr/>
          </a:p>
        </p:txBody>
      </p:sp>
      <p:sp>
        <p:nvSpPr>
          <p:cNvPr id="239" name="Google Shape;239;g3dceab5acea_0_7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40" name="Google Shape;240;g3dceab5acea_0_76"/>
          <p:cNvPicPr preferRelativeResize="0"/>
          <p:nvPr/>
        </p:nvPicPr>
        <p:blipFill>
          <a:blip r:embed="rId3">
            <a:alphaModFix/>
          </a:blip>
          <a:stretch>
            <a:fillRect/>
          </a:stretch>
        </p:blipFill>
        <p:spPr>
          <a:xfrm>
            <a:off x="3959949" y="2623175"/>
            <a:ext cx="2070475" cy="13251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dceab5acea_0_8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IN"/>
              <a:t>S</a:t>
            </a:r>
            <a:r>
              <a:rPr lang="en-IN"/>
              <a:t>ample Mean Versus Population Mean</a:t>
            </a:r>
            <a:endParaRPr/>
          </a:p>
        </p:txBody>
      </p:sp>
      <p:sp>
        <p:nvSpPr>
          <p:cNvPr id="247" name="Google Shape;247;g3dceab5acea_0_86"/>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2200"/>
              <a:t>Example Calculation</a:t>
            </a:r>
            <a:endParaRPr b="1" sz="2200"/>
          </a:p>
          <a:p>
            <a:pPr indent="0" lvl="0" marL="0" rtl="0" algn="l">
              <a:lnSpc>
                <a:spcPct val="115000"/>
              </a:lnSpc>
              <a:spcBef>
                <a:spcPts val="1200"/>
              </a:spcBef>
              <a:spcAft>
                <a:spcPts val="0"/>
              </a:spcAft>
              <a:buClr>
                <a:schemeClr val="dk1"/>
              </a:buClr>
              <a:buSzPts val="1100"/>
              <a:buFont typeface="Arial"/>
              <a:buNone/>
            </a:pPr>
            <a:r>
              <a:rPr b="1" lang="en-IN" sz="2200"/>
              <a:t>Population Data:</a:t>
            </a:r>
            <a:br>
              <a:rPr b="1" lang="en-IN" sz="2200"/>
            </a:br>
            <a:r>
              <a:rPr lang="en-IN" sz="2200"/>
              <a:t> 70, 80, 90, 60, 100</a:t>
            </a:r>
            <a:endParaRPr sz="2200"/>
          </a:p>
          <a:p>
            <a:pPr indent="457200" lvl="0" marL="1371600" rtl="0" algn="l">
              <a:spcBef>
                <a:spcPts val="1200"/>
              </a:spcBef>
              <a:spcAft>
                <a:spcPts val="0"/>
              </a:spcAft>
              <a:buNone/>
            </a:pPr>
            <a:r>
              <a:rPr lang="en-IN" sz="2200"/>
              <a:t>μ=(70+80+90+60+100)/5=80 </a:t>
            </a:r>
            <a:endParaRPr sz="2200"/>
          </a:p>
          <a:p>
            <a:pPr indent="0" lvl="0" marL="0" rtl="0" algn="l">
              <a:spcBef>
                <a:spcPts val="1000"/>
              </a:spcBef>
              <a:spcAft>
                <a:spcPts val="0"/>
              </a:spcAft>
              <a:buNone/>
            </a:pPr>
            <a:r>
              <a:rPr b="1" lang="en-IN" sz="2200"/>
              <a:t>Sample Data:</a:t>
            </a:r>
            <a:br>
              <a:rPr b="1" lang="en-IN" sz="2200"/>
            </a:br>
            <a:r>
              <a:rPr lang="en-IN" sz="2200"/>
              <a:t> 70, 90, 100</a:t>
            </a:r>
            <a:endParaRPr sz="2200"/>
          </a:p>
          <a:p>
            <a:pPr indent="457200" lvl="0" marL="1371600" rtl="0" algn="l">
              <a:spcBef>
                <a:spcPts val="1000"/>
              </a:spcBef>
              <a:spcAft>
                <a:spcPts val="0"/>
              </a:spcAft>
              <a:buNone/>
            </a:pPr>
            <a:r>
              <a:rPr lang="en-IN" sz="2200"/>
              <a:t>xˉ=(70+90+100)/3=86.7</a:t>
            </a:r>
            <a:endParaRPr sz="2200"/>
          </a:p>
          <a:p>
            <a:pPr indent="0" lvl="0" marL="0" rtl="0" algn="l">
              <a:spcBef>
                <a:spcPts val="1000"/>
              </a:spcBef>
              <a:spcAft>
                <a:spcPts val="0"/>
              </a:spcAft>
              <a:buNone/>
            </a:pPr>
            <a:r>
              <a:t/>
            </a:r>
            <a:endParaRPr sz="2200"/>
          </a:p>
          <a:p>
            <a:pPr indent="0" lvl="0" marL="0" rtl="0" algn="l">
              <a:spcBef>
                <a:spcPts val="1000"/>
              </a:spcBef>
              <a:spcAft>
                <a:spcPts val="0"/>
              </a:spcAft>
              <a:buNone/>
            </a:pPr>
            <a:r>
              <a:rPr lang="en-IN" sz="2200"/>
              <a:t>Sample mean is </a:t>
            </a:r>
            <a:r>
              <a:rPr b="1" lang="en-IN" sz="2200"/>
              <a:t>close to</a:t>
            </a:r>
            <a:r>
              <a:rPr lang="en-IN" sz="2200"/>
              <a:t>, but not exactly equal to, population mean</a:t>
            </a:r>
            <a:endParaRPr sz="2200"/>
          </a:p>
        </p:txBody>
      </p:sp>
      <p:sp>
        <p:nvSpPr>
          <p:cNvPr id="248" name="Google Shape;248;g3dceab5acea_0_8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dd64ec0920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Selection Bias</a:t>
            </a:r>
            <a:endParaRPr/>
          </a:p>
        </p:txBody>
      </p:sp>
      <p:sp>
        <p:nvSpPr>
          <p:cNvPr id="255" name="Google Shape;255;g3dd64ec0920_0_0"/>
          <p:cNvSpPr txBox="1"/>
          <p:nvPr>
            <p:ph idx="1" type="body"/>
          </p:nvPr>
        </p:nvSpPr>
        <p:spPr>
          <a:xfrm>
            <a:off x="838200" y="1518051"/>
            <a:ext cx="10515600" cy="47526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Clr>
                <a:schemeClr val="dk1"/>
              </a:buClr>
              <a:buSzPts val="1100"/>
              <a:buFont typeface="Arial"/>
              <a:buNone/>
            </a:pPr>
            <a:r>
              <a:rPr lang="en-IN"/>
              <a:t>Selection bias refers to the practice of selectively choosing data—consciously or</a:t>
            </a:r>
            <a:endParaRPr/>
          </a:p>
          <a:p>
            <a:pPr indent="0" lvl="0" marL="0" rtl="0" algn="just">
              <a:spcBef>
                <a:spcPts val="1000"/>
              </a:spcBef>
              <a:spcAft>
                <a:spcPts val="0"/>
              </a:spcAft>
              <a:buNone/>
            </a:pPr>
            <a:r>
              <a:rPr lang="en-IN"/>
              <a:t>unconsciously—in a way that leads to a conclusion that is misleading or ephemeral.</a:t>
            </a:r>
            <a:endParaRPr/>
          </a:p>
          <a:p>
            <a:pPr indent="0" lvl="0" marL="0" rtl="0" algn="just">
              <a:spcBef>
                <a:spcPts val="1000"/>
              </a:spcBef>
              <a:spcAft>
                <a:spcPts val="0"/>
              </a:spcAft>
              <a:buNone/>
            </a:pPr>
            <a:r>
              <a:t/>
            </a:r>
            <a:endParaRPr/>
          </a:p>
          <a:p>
            <a:pPr indent="0" lvl="0" marL="0" rtl="0" algn="just">
              <a:spcBef>
                <a:spcPts val="1000"/>
              </a:spcBef>
              <a:spcAft>
                <a:spcPts val="0"/>
              </a:spcAft>
              <a:buClr>
                <a:schemeClr val="dk1"/>
              </a:buClr>
              <a:buSzPts val="1100"/>
              <a:buFont typeface="Arial"/>
              <a:buNone/>
            </a:pPr>
            <a:r>
              <a:rPr b="1" lang="en-IN">
                <a:solidFill>
                  <a:srgbClr val="232387"/>
                </a:solidFill>
              </a:rPr>
              <a:t>Key Terms for Selection Bias</a:t>
            </a:r>
            <a:endParaRPr b="1">
              <a:solidFill>
                <a:srgbClr val="232387"/>
              </a:solidFill>
            </a:endParaRPr>
          </a:p>
          <a:p>
            <a:pPr indent="0" lvl="0" marL="0" rtl="0" algn="just">
              <a:spcBef>
                <a:spcPts val="1000"/>
              </a:spcBef>
              <a:spcAft>
                <a:spcPts val="0"/>
              </a:spcAft>
              <a:buClr>
                <a:schemeClr val="dk1"/>
              </a:buClr>
              <a:buSzPts val="1100"/>
              <a:buFont typeface="Arial"/>
              <a:buNone/>
            </a:pPr>
            <a:r>
              <a:t/>
            </a:r>
            <a:endParaRPr/>
          </a:p>
          <a:p>
            <a:pPr indent="0" lvl="0" marL="0" rtl="0" algn="just">
              <a:spcBef>
                <a:spcPts val="1000"/>
              </a:spcBef>
              <a:spcAft>
                <a:spcPts val="0"/>
              </a:spcAft>
              <a:buNone/>
            </a:pPr>
            <a:r>
              <a:rPr lang="en-IN"/>
              <a:t>Selection bias: Bias resulting from the way in which observations are selected.</a:t>
            </a:r>
            <a:endParaRPr/>
          </a:p>
          <a:p>
            <a:pPr indent="0" lvl="0" marL="0" rtl="0" algn="just">
              <a:spcBef>
                <a:spcPts val="1000"/>
              </a:spcBef>
              <a:spcAft>
                <a:spcPts val="0"/>
              </a:spcAft>
              <a:buClr>
                <a:schemeClr val="dk1"/>
              </a:buClr>
              <a:buSzPts val="1100"/>
              <a:buFont typeface="Arial"/>
              <a:buNone/>
            </a:pPr>
            <a:r>
              <a:t/>
            </a:r>
            <a:endParaRPr/>
          </a:p>
          <a:p>
            <a:pPr indent="0" lvl="0" marL="0" rtl="0" algn="just">
              <a:spcBef>
                <a:spcPts val="1000"/>
              </a:spcBef>
              <a:spcAft>
                <a:spcPts val="0"/>
              </a:spcAft>
              <a:buNone/>
            </a:pPr>
            <a:r>
              <a:rPr lang="en-IN"/>
              <a:t>Data snooping: Extensive hunting through data in search of something interesting.</a:t>
            </a:r>
            <a:endParaRPr/>
          </a:p>
          <a:p>
            <a:pPr indent="0" lvl="0" marL="0" rtl="0" algn="just">
              <a:spcBef>
                <a:spcPts val="1000"/>
              </a:spcBef>
              <a:spcAft>
                <a:spcPts val="0"/>
              </a:spcAft>
              <a:buClr>
                <a:schemeClr val="dk1"/>
              </a:buClr>
              <a:buSzPts val="1100"/>
              <a:buFont typeface="Arial"/>
              <a:buNone/>
            </a:pPr>
            <a:r>
              <a:t/>
            </a:r>
            <a:endParaRPr/>
          </a:p>
          <a:p>
            <a:pPr indent="0" lvl="0" marL="0" rtl="0" algn="just">
              <a:spcBef>
                <a:spcPts val="1000"/>
              </a:spcBef>
              <a:spcAft>
                <a:spcPts val="0"/>
              </a:spcAft>
              <a:buClr>
                <a:schemeClr val="dk1"/>
              </a:buClr>
              <a:buSzPts val="1100"/>
              <a:buFont typeface="Arial"/>
              <a:buNone/>
            </a:pPr>
            <a:r>
              <a:rPr lang="en-IN"/>
              <a:t>Vast search effect</a:t>
            </a:r>
            <a:endParaRPr/>
          </a:p>
          <a:p>
            <a:pPr indent="0" lvl="0" marL="0" rtl="0" algn="just">
              <a:spcBef>
                <a:spcPts val="1000"/>
              </a:spcBef>
              <a:spcAft>
                <a:spcPts val="0"/>
              </a:spcAft>
              <a:buNone/>
            </a:pPr>
            <a:r>
              <a:rPr lang="en-IN"/>
              <a:t>Bias or nonreproducibility resulting from repeated data modeling, or modeling data with large numbers of predictor variables.</a:t>
            </a:r>
            <a:endParaRPr/>
          </a:p>
        </p:txBody>
      </p:sp>
      <p:sp>
        <p:nvSpPr>
          <p:cNvPr id="256" name="Google Shape;256;g3dd64ec0920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dd64ec0920_0_3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Data Snooping</a:t>
            </a:r>
            <a:endParaRPr/>
          </a:p>
        </p:txBody>
      </p:sp>
      <p:sp>
        <p:nvSpPr>
          <p:cNvPr id="263" name="Google Shape;263;g3dd64ec0920_0_37"/>
          <p:cNvSpPr txBox="1"/>
          <p:nvPr>
            <p:ph idx="1" type="body"/>
          </p:nvPr>
        </p:nvSpPr>
        <p:spPr>
          <a:xfrm>
            <a:off x="838200" y="1384400"/>
            <a:ext cx="10515600" cy="44847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IN" sz="1800"/>
              <a:t>Data Snooping</a:t>
            </a:r>
            <a:r>
              <a:rPr lang="en-IN" sz="1800"/>
              <a:t>  (</a:t>
            </a:r>
            <a:r>
              <a:rPr i="1" lang="en-IN" sz="1800"/>
              <a:t>p-hacking</a:t>
            </a:r>
            <a:r>
              <a:rPr lang="en-IN" sz="1800"/>
              <a:t>) is a statistical issue that occurs when the same dataset is repeatedly analyzed or searched until a pattern or result appears significant—even if it’s actually due to chance.</a:t>
            </a:r>
            <a:endParaRPr sz="1800"/>
          </a:p>
          <a:p>
            <a:pPr indent="0" lvl="0" marL="0" rtl="0" algn="l">
              <a:lnSpc>
                <a:spcPct val="115000"/>
              </a:lnSpc>
              <a:spcBef>
                <a:spcPts val="1400"/>
              </a:spcBef>
              <a:spcAft>
                <a:spcPts val="0"/>
              </a:spcAft>
              <a:buClr>
                <a:schemeClr val="dk1"/>
              </a:buClr>
              <a:buSzPts val="1100"/>
              <a:buFont typeface="Arial"/>
              <a:buNone/>
            </a:pPr>
            <a:r>
              <a:rPr b="1" lang="en-IN" sz="1800"/>
              <a:t>Simple Explanation</a:t>
            </a:r>
            <a:endParaRPr b="1" sz="1800"/>
          </a:p>
          <a:p>
            <a:pPr indent="0" lvl="0" marL="0" rtl="0" algn="l">
              <a:lnSpc>
                <a:spcPct val="115000"/>
              </a:lnSpc>
              <a:spcBef>
                <a:spcPts val="1200"/>
              </a:spcBef>
              <a:spcAft>
                <a:spcPts val="0"/>
              </a:spcAft>
              <a:buClr>
                <a:schemeClr val="dk1"/>
              </a:buClr>
              <a:buSzPts val="1100"/>
              <a:buFont typeface="Arial"/>
              <a:buNone/>
            </a:pPr>
            <a:r>
              <a:rPr lang="en-IN" sz="1800"/>
              <a:t>If you keep testing many hypotheses on the same data, </a:t>
            </a:r>
            <a:r>
              <a:rPr b="1" lang="en-IN" sz="1800"/>
              <a:t>you’re likely to find something that looks meaningful purely by accident</a:t>
            </a:r>
            <a:r>
              <a:rPr lang="en-IN" sz="1800"/>
              <a:t>.</a:t>
            </a:r>
            <a:endParaRPr sz="1800"/>
          </a:p>
          <a:p>
            <a:pPr indent="0" lvl="0" marL="0" rtl="0" algn="l">
              <a:lnSpc>
                <a:spcPct val="115000"/>
              </a:lnSpc>
              <a:spcBef>
                <a:spcPts val="1200"/>
              </a:spcBef>
              <a:spcAft>
                <a:spcPts val="0"/>
              </a:spcAft>
              <a:buClr>
                <a:schemeClr val="dk1"/>
              </a:buClr>
              <a:buSzPts val="1100"/>
              <a:buFont typeface="Arial"/>
              <a:buNone/>
            </a:pPr>
            <a:r>
              <a:t/>
            </a:r>
            <a:endParaRPr sz="1800"/>
          </a:p>
          <a:p>
            <a:pPr indent="0" lvl="0" marL="0" rtl="0" algn="l">
              <a:lnSpc>
                <a:spcPct val="115000"/>
              </a:lnSpc>
              <a:spcBef>
                <a:spcPts val="1400"/>
              </a:spcBef>
              <a:spcAft>
                <a:spcPts val="0"/>
              </a:spcAft>
              <a:buClr>
                <a:schemeClr val="dk1"/>
              </a:buClr>
              <a:buSzPts val="1100"/>
              <a:buFont typeface="Arial"/>
              <a:buNone/>
            </a:pPr>
            <a:r>
              <a:rPr b="1" lang="en-IN" sz="1800"/>
              <a:t>📊 Example</a:t>
            </a:r>
            <a:endParaRPr b="1" sz="1800"/>
          </a:p>
          <a:p>
            <a:pPr indent="-342900" lvl="0" marL="457200" rtl="0" algn="l">
              <a:lnSpc>
                <a:spcPct val="115000"/>
              </a:lnSpc>
              <a:spcBef>
                <a:spcPts val="1200"/>
              </a:spcBef>
              <a:spcAft>
                <a:spcPts val="0"/>
              </a:spcAft>
              <a:buSzPts val="1800"/>
              <a:buChar char="●"/>
            </a:pPr>
            <a:r>
              <a:rPr lang="en-IN" sz="1800"/>
              <a:t>You have a dataset of student scores.</a:t>
            </a:r>
            <a:endParaRPr sz="1800"/>
          </a:p>
          <a:p>
            <a:pPr indent="-342900" lvl="0" marL="457200" rtl="0" algn="l">
              <a:lnSpc>
                <a:spcPct val="115000"/>
              </a:lnSpc>
              <a:spcBef>
                <a:spcPts val="0"/>
              </a:spcBef>
              <a:spcAft>
                <a:spcPts val="0"/>
              </a:spcAft>
              <a:buSzPts val="1800"/>
              <a:buChar char="●"/>
            </a:pPr>
            <a:r>
              <a:rPr lang="en-IN" sz="1800"/>
              <a:t>You test 20 different hypotheses (e.g., gender vs marks, study hours vs marks, sleep vs marks, etc.).</a:t>
            </a:r>
            <a:endParaRPr sz="1800"/>
          </a:p>
          <a:p>
            <a:pPr indent="-342900" lvl="0" marL="457200" rtl="0" algn="l">
              <a:lnSpc>
                <a:spcPct val="115000"/>
              </a:lnSpc>
              <a:spcBef>
                <a:spcPts val="0"/>
              </a:spcBef>
              <a:spcAft>
                <a:spcPts val="0"/>
              </a:spcAft>
              <a:buSzPts val="1800"/>
              <a:buChar char="●"/>
            </a:pPr>
            <a:r>
              <a:rPr lang="en-IN" sz="1800"/>
              <a:t>One of them shows a “significant” result.</a:t>
            </a:r>
            <a:endParaRPr sz="1800"/>
          </a:p>
          <a:p>
            <a:pPr indent="0" lvl="0" marL="0" rtl="0" algn="l">
              <a:lnSpc>
                <a:spcPct val="115000"/>
              </a:lnSpc>
              <a:spcBef>
                <a:spcPts val="1200"/>
              </a:spcBef>
              <a:spcAft>
                <a:spcPts val="0"/>
              </a:spcAft>
              <a:buClr>
                <a:schemeClr val="dk1"/>
              </a:buClr>
              <a:buSzPts val="1100"/>
              <a:buFont typeface="Arial"/>
              <a:buNone/>
            </a:pPr>
            <a:r>
              <a:rPr lang="en-IN" sz="1800"/>
              <a:t>👉 That result might just be </a:t>
            </a:r>
            <a:r>
              <a:rPr b="1" lang="en-IN" sz="1800"/>
              <a:t>random</a:t>
            </a:r>
            <a:r>
              <a:rPr lang="en-IN" sz="1800"/>
              <a:t>, not a true relationship.</a:t>
            </a:r>
            <a:endParaRPr sz="1800"/>
          </a:p>
          <a:p>
            <a:pPr indent="0" lvl="0" marL="0" rtl="0" algn="l">
              <a:spcBef>
                <a:spcPts val="1200"/>
              </a:spcBef>
              <a:spcAft>
                <a:spcPts val="0"/>
              </a:spcAft>
              <a:buNone/>
            </a:pPr>
            <a:r>
              <a:t/>
            </a:r>
            <a:endParaRPr sz="1100"/>
          </a:p>
        </p:txBody>
      </p:sp>
      <p:sp>
        <p:nvSpPr>
          <p:cNvPr id="264" name="Google Shape;264;g3dd64ec0920_0_3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dd64ec0920_0_46"/>
          <p:cNvSpPr txBox="1"/>
          <p:nvPr>
            <p:ph type="title"/>
          </p:nvPr>
        </p:nvSpPr>
        <p:spPr>
          <a:xfrm>
            <a:off x="839788"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Data Snooping</a:t>
            </a:r>
            <a:endParaRPr/>
          </a:p>
        </p:txBody>
      </p:sp>
      <p:sp>
        <p:nvSpPr>
          <p:cNvPr id="271" name="Google Shape;271;g3dd64ec0920_0_46"/>
          <p:cNvSpPr txBox="1"/>
          <p:nvPr>
            <p:ph idx="1" type="body"/>
          </p:nvPr>
        </p:nvSpPr>
        <p:spPr>
          <a:xfrm>
            <a:off x="839788" y="1681163"/>
            <a:ext cx="5157900" cy="823800"/>
          </a:xfrm>
          <a:prstGeom prst="rect">
            <a:avLst/>
          </a:prstGeom>
        </p:spPr>
        <p:txBody>
          <a:bodyPr anchorCtr="0" anchor="b" bIns="45700" lIns="91425" spcFirstLastPara="1" rIns="91425" wrap="square" tIns="45700">
            <a:normAutofit/>
          </a:bodyPr>
          <a:lstStyle/>
          <a:p>
            <a:pPr indent="0" lvl="0" marL="0" rtl="0" algn="l">
              <a:lnSpc>
                <a:spcPct val="115000"/>
              </a:lnSpc>
              <a:spcBef>
                <a:spcPts val="1200"/>
              </a:spcBef>
              <a:spcAft>
                <a:spcPts val="1200"/>
              </a:spcAft>
              <a:buNone/>
            </a:pPr>
            <a:r>
              <a:rPr lang="en-IN"/>
              <a:t>Why It’s a Problem</a:t>
            </a:r>
            <a:endParaRPr/>
          </a:p>
        </p:txBody>
      </p:sp>
      <p:sp>
        <p:nvSpPr>
          <p:cNvPr id="272" name="Google Shape;272;g3dd64ec0920_0_4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
        <p:nvSpPr>
          <p:cNvPr id="273" name="Google Shape;273;g3dd64ec0920_0_46"/>
          <p:cNvSpPr txBox="1"/>
          <p:nvPr>
            <p:ph idx="2" type="body"/>
          </p:nvPr>
        </p:nvSpPr>
        <p:spPr>
          <a:xfrm>
            <a:off x="839788" y="2505075"/>
            <a:ext cx="5157900" cy="3684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sz="2300"/>
              <a:t>Leads to </a:t>
            </a:r>
            <a:r>
              <a:rPr b="1" lang="en-IN" sz="2300"/>
              <a:t>false conclusions</a:t>
            </a:r>
            <a:endParaRPr b="1" sz="2300"/>
          </a:p>
          <a:p>
            <a:pPr indent="0" lvl="0" marL="0" rtl="0" algn="l">
              <a:spcBef>
                <a:spcPts val="1000"/>
              </a:spcBef>
              <a:spcAft>
                <a:spcPts val="0"/>
              </a:spcAft>
              <a:buClr>
                <a:schemeClr val="dk1"/>
              </a:buClr>
              <a:buSzPts val="1100"/>
              <a:buFont typeface="Arial"/>
              <a:buNone/>
            </a:pPr>
            <a:r>
              <a:rPr lang="en-IN" sz="2300"/>
              <a:t>Results may </a:t>
            </a:r>
            <a:r>
              <a:rPr b="1" lang="en-IN" sz="2300"/>
              <a:t>not generalize</a:t>
            </a:r>
            <a:r>
              <a:rPr lang="en-IN" sz="2300"/>
              <a:t> to new data</a:t>
            </a:r>
            <a:endParaRPr sz="2300"/>
          </a:p>
          <a:p>
            <a:pPr indent="0" lvl="0" marL="0" rtl="0" algn="l">
              <a:spcBef>
                <a:spcPts val="1000"/>
              </a:spcBef>
              <a:spcAft>
                <a:spcPts val="0"/>
              </a:spcAft>
              <a:buClr>
                <a:schemeClr val="dk1"/>
              </a:buClr>
              <a:buSzPts val="1100"/>
              <a:buFont typeface="Arial"/>
              <a:buNone/>
            </a:pPr>
            <a:r>
              <a:rPr lang="en-IN" sz="2300"/>
              <a:t>Common in:</a:t>
            </a:r>
            <a:endParaRPr sz="2300"/>
          </a:p>
          <a:p>
            <a:pPr indent="-374650" lvl="0" marL="457200" rtl="0" algn="l">
              <a:lnSpc>
                <a:spcPct val="115000"/>
              </a:lnSpc>
              <a:spcBef>
                <a:spcPts val="1200"/>
              </a:spcBef>
              <a:spcAft>
                <a:spcPts val="0"/>
              </a:spcAft>
              <a:buSzPts val="2300"/>
              <a:buChar char="●"/>
            </a:pPr>
            <a:r>
              <a:rPr lang="en-IN" sz="2300"/>
              <a:t>Data science</a:t>
            </a:r>
            <a:endParaRPr sz="2300"/>
          </a:p>
          <a:p>
            <a:pPr indent="-374650" lvl="0" marL="457200" rtl="0" algn="l">
              <a:lnSpc>
                <a:spcPct val="115000"/>
              </a:lnSpc>
              <a:spcBef>
                <a:spcPts val="0"/>
              </a:spcBef>
              <a:spcAft>
                <a:spcPts val="0"/>
              </a:spcAft>
              <a:buSzPts val="2300"/>
              <a:buChar char="●"/>
            </a:pPr>
            <a:r>
              <a:rPr lang="en-IN" sz="2300"/>
              <a:t>Machine learning</a:t>
            </a:r>
            <a:endParaRPr sz="2300"/>
          </a:p>
          <a:p>
            <a:pPr indent="-374650" lvl="0" marL="457200" rtl="0" algn="l">
              <a:lnSpc>
                <a:spcPct val="115000"/>
              </a:lnSpc>
              <a:spcBef>
                <a:spcPts val="0"/>
              </a:spcBef>
              <a:spcAft>
                <a:spcPts val="0"/>
              </a:spcAft>
              <a:buSzPts val="2300"/>
              <a:buChar char="●"/>
            </a:pPr>
            <a:r>
              <a:rPr lang="en-IN" sz="2300"/>
              <a:t>Financial modeling</a:t>
            </a:r>
            <a:endParaRPr sz="2300"/>
          </a:p>
          <a:p>
            <a:pPr indent="-374650" lvl="0" marL="457200" rtl="0" algn="l">
              <a:lnSpc>
                <a:spcPct val="115000"/>
              </a:lnSpc>
              <a:spcBef>
                <a:spcPts val="0"/>
              </a:spcBef>
              <a:spcAft>
                <a:spcPts val="0"/>
              </a:spcAft>
              <a:buSzPts val="2300"/>
              <a:buChar char="●"/>
            </a:pPr>
            <a:r>
              <a:rPr lang="en-IN" sz="2300"/>
              <a:t>Research studies</a:t>
            </a:r>
            <a:endParaRPr/>
          </a:p>
        </p:txBody>
      </p:sp>
      <p:sp>
        <p:nvSpPr>
          <p:cNvPr id="274" name="Google Shape;274;g3dd64ec0920_0_46"/>
          <p:cNvSpPr txBox="1"/>
          <p:nvPr>
            <p:ph idx="3" type="body"/>
          </p:nvPr>
        </p:nvSpPr>
        <p:spPr>
          <a:xfrm>
            <a:off x="6172200" y="1681163"/>
            <a:ext cx="5183100" cy="823800"/>
          </a:xfrm>
          <a:prstGeom prst="rect">
            <a:avLst/>
          </a:prstGeom>
        </p:spPr>
        <p:txBody>
          <a:bodyPr anchorCtr="0" anchor="b" bIns="45700" lIns="91425" spcFirstLastPara="1" rIns="91425" wrap="square" tIns="45700">
            <a:normAutofit/>
          </a:bodyPr>
          <a:lstStyle/>
          <a:p>
            <a:pPr indent="0" lvl="0" marL="0" rtl="0" algn="l">
              <a:lnSpc>
                <a:spcPct val="115000"/>
              </a:lnSpc>
              <a:spcBef>
                <a:spcPts val="1400"/>
              </a:spcBef>
              <a:spcAft>
                <a:spcPts val="400"/>
              </a:spcAft>
              <a:buClr>
                <a:schemeClr val="dk1"/>
              </a:buClr>
              <a:buSzPts val="1100"/>
              <a:buFont typeface="Arial"/>
              <a:buNone/>
            </a:pPr>
            <a:r>
              <a:rPr lang="en-IN" sz="2300"/>
              <a:t>How to Avoid Data Snooping</a:t>
            </a:r>
            <a:endParaRPr sz="3400"/>
          </a:p>
        </p:txBody>
      </p:sp>
      <p:sp>
        <p:nvSpPr>
          <p:cNvPr id="275" name="Google Shape;275;g3dd64ec0920_0_46"/>
          <p:cNvSpPr txBox="1"/>
          <p:nvPr>
            <p:ph idx="4" type="body"/>
          </p:nvPr>
        </p:nvSpPr>
        <p:spPr>
          <a:xfrm>
            <a:off x="6172200" y="2505075"/>
            <a:ext cx="5183100" cy="36846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t/>
            </a:r>
            <a:endParaRPr b="1" sz="2400"/>
          </a:p>
          <a:p>
            <a:pPr indent="-381000" lvl="0" marL="457200" rtl="0" algn="l">
              <a:lnSpc>
                <a:spcPct val="115000"/>
              </a:lnSpc>
              <a:spcBef>
                <a:spcPts val="1200"/>
              </a:spcBef>
              <a:spcAft>
                <a:spcPts val="0"/>
              </a:spcAft>
              <a:buSzPts val="2400"/>
              <a:buChar char="●"/>
            </a:pPr>
            <a:r>
              <a:rPr lang="en-IN" sz="2400"/>
              <a:t>Use </a:t>
            </a:r>
            <a:r>
              <a:rPr b="1" lang="en-IN" sz="2400"/>
              <a:t>train/test split</a:t>
            </a:r>
            <a:endParaRPr b="1" sz="2400"/>
          </a:p>
          <a:p>
            <a:pPr indent="-381000" lvl="0" marL="457200" rtl="0" algn="l">
              <a:lnSpc>
                <a:spcPct val="115000"/>
              </a:lnSpc>
              <a:spcBef>
                <a:spcPts val="0"/>
              </a:spcBef>
              <a:spcAft>
                <a:spcPts val="0"/>
              </a:spcAft>
              <a:buSzPts val="2400"/>
              <a:buChar char="●"/>
            </a:pPr>
            <a:r>
              <a:rPr lang="en-IN" sz="2400"/>
              <a:t>Apply </a:t>
            </a:r>
            <a:r>
              <a:rPr b="1" lang="en-IN" sz="2400"/>
              <a:t>cross-validation</a:t>
            </a:r>
            <a:endParaRPr b="1" sz="2400"/>
          </a:p>
          <a:p>
            <a:pPr indent="-381000" lvl="0" marL="457200" rtl="0" algn="l">
              <a:lnSpc>
                <a:spcPct val="115000"/>
              </a:lnSpc>
              <a:spcBef>
                <a:spcPts val="0"/>
              </a:spcBef>
              <a:spcAft>
                <a:spcPts val="0"/>
              </a:spcAft>
              <a:buSzPts val="2400"/>
              <a:buChar char="●"/>
            </a:pPr>
            <a:r>
              <a:rPr lang="en-IN" sz="2400"/>
              <a:t>Predefine hypotheses before testing</a:t>
            </a:r>
            <a:endParaRPr sz="2400"/>
          </a:p>
          <a:p>
            <a:pPr indent="-381000" lvl="0" marL="457200" rtl="0" algn="l">
              <a:lnSpc>
                <a:spcPct val="115000"/>
              </a:lnSpc>
              <a:spcBef>
                <a:spcPts val="0"/>
              </a:spcBef>
              <a:spcAft>
                <a:spcPts val="0"/>
              </a:spcAft>
              <a:buSzPts val="2400"/>
              <a:buChar char="●"/>
            </a:pPr>
            <a:r>
              <a:rPr lang="en-IN" sz="2400"/>
              <a:t>Use a </a:t>
            </a:r>
            <a:r>
              <a:rPr b="1" lang="en-IN" sz="2400"/>
              <a:t>separate validation dataset</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dd64ec0920_0_1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Regression to the Mean</a:t>
            </a:r>
            <a:endParaRPr/>
          </a:p>
        </p:txBody>
      </p:sp>
      <p:sp>
        <p:nvSpPr>
          <p:cNvPr id="282" name="Google Shape;282;g3dd64ec0920_0_10"/>
          <p:cNvSpPr txBox="1"/>
          <p:nvPr>
            <p:ph idx="1" type="body"/>
          </p:nvPr>
        </p:nvSpPr>
        <p:spPr>
          <a:xfrm>
            <a:off x="838200" y="1384400"/>
            <a:ext cx="10515600" cy="44847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Clr>
                <a:schemeClr val="dk1"/>
              </a:buClr>
              <a:buSzPct val="46525"/>
              <a:buFont typeface="Arial"/>
              <a:buNone/>
            </a:pPr>
            <a:r>
              <a:rPr lang="en-IN" sz="2364"/>
              <a:t>Regression to the mean refers to a phenomenon involving successive measurements on a given variable: extreme observations tend to be followed by more central ones.</a:t>
            </a:r>
            <a:endParaRPr sz="2364"/>
          </a:p>
          <a:p>
            <a:pPr indent="0" lvl="0" marL="0" rtl="0" algn="l">
              <a:spcBef>
                <a:spcPts val="1000"/>
              </a:spcBef>
              <a:spcAft>
                <a:spcPts val="0"/>
              </a:spcAft>
              <a:buNone/>
            </a:pPr>
            <a:r>
              <a:t/>
            </a:r>
            <a:endParaRPr sz="2364"/>
          </a:p>
          <a:p>
            <a:pPr indent="0" lvl="0" marL="0" rtl="0" algn="l">
              <a:spcBef>
                <a:spcPts val="1000"/>
              </a:spcBef>
              <a:spcAft>
                <a:spcPts val="0"/>
              </a:spcAft>
              <a:buNone/>
            </a:pPr>
            <a:r>
              <a:rPr lang="en-IN" sz="2364"/>
              <a:t>The phenomenon was first identified by </a:t>
            </a:r>
            <a:r>
              <a:rPr b="1" lang="en-IN" sz="2364">
                <a:solidFill>
                  <a:srgbClr val="232387"/>
                </a:solidFill>
              </a:rPr>
              <a:t>Francis Galton in 1886</a:t>
            </a:r>
            <a:r>
              <a:rPr lang="en-IN" sz="2364"/>
              <a:t> [Galton-1886], who wrote of it in connection  with genetic tendencies; for example, the children of extremely tall men tend not to be as tall as their father.</a:t>
            </a:r>
            <a:endParaRPr sz="2364"/>
          </a:p>
          <a:p>
            <a:pPr indent="0" lvl="0" marL="0" rtl="0" algn="l">
              <a:spcBef>
                <a:spcPts val="1000"/>
              </a:spcBef>
              <a:spcAft>
                <a:spcPts val="0"/>
              </a:spcAft>
              <a:buNone/>
            </a:pPr>
            <a:r>
              <a:t/>
            </a:r>
            <a:endParaRPr/>
          </a:p>
          <a:p>
            <a:pPr indent="0" lvl="0" marL="0" rtl="0" algn="l">
              <a:lnSpc>
                <a:spcPct val="115000"/>
              </a:lnSpc>
              <a:spcBef>
                <a:spcPts val="1200"/>
              </a:spcBef>
              <a:spcAft>
                <a:spcPts val="0"/>
              </a:spcAft>
              <a:buNone/>
            </a:pPr>
            <a:r>
              <a:rPr b="1" lang="en-IN" sz="2400"/>
              <a:t>Regression to the Mean</a:t>
            </a:r>
            <a:r>
              <a:rPr lang="en-IN" sz="2400"/>
              <a:t> is a statistical concept that explains why extreme observations tend to move closer to the average (mean) when measured again.</a:t>
            </a:r>
            <a:endParaRPr sz="2400"/>
          </a:p>
          <a:p>
            <a:pPr indent="0" lvl="0" marL="0" rtl="0" algn="l">
              <a:lnSpc>
                <a:spcPct val="115000"/>
              </a:lnSpc>
              <a:spcBef>
                <a:spcPts val="1400"/>
              </a:spcBef>
              <a:spcAft>
                <a:spcPts val="0"/>
              </a:spcAft>
              <a:buNone/>
            </a:pPr>
            <a:r>
              <a:rPr b="1" lang="en-IN" sz="2400"/>
              <a:t>🔍 Simple Explanation</a:t>
            </a:r>
            <a:endParaRPr b="1" sz="2400"/>
          </a:p>
          <a:p>
            <a:pPr indent="0" lvl="0" marL="0" rtl="0" algn="l">
              <a:lnSpc>
                <a:spcPct val="115000"/>
              </a:lnSpc>
              <a:spcBef>
                <a:spcPts val="1200"/>
              </a:spcBef>
              <a:spcAft>
                <a:spcPts val="0"/>
              </a:spcAft>
              <a:buNone/>
            </a:pPr>
            <a:r>
              <a:rPr lang="en-IN" sz="2400"/>
              <a:t>If something is </a:t>
            </a:r>
            <a:r>
              <a:rPr b="1" lang="en-IN" sz="2400"/>
              <a:t>unusually high or low</a:t>
            </a:r>
            <a:r>
              <a:rPr lang="en-IN" sz="2400"/>
              <a:t> in one measurement, the next measurement will likely be </a:t>
            </a:r>
            <a:r>
              <a:rPr b="1" lang="en-IN" sz="2400"/>
              <a:t>closer to the average</a:t>
            </a:r>
            <a:r>
              <a:rPr lang="en-IN" sz="2400"/>
              <a:t>, purely due to chance.</a:t>
            </a:r>
            <a:endParaRPr sz="2400"/>
          </a:p>
          <a:p>
            <a:pPr indent="0" lvl="0" marL="0" rtl="0" algn="l">
              <a:spcBef>
                <a:spcPts val="1200"/>
              </a:spcBef>
              <a:spcAft>
                <a:spcPts val="0"/>
              </a:spcAft>
              <a:buNone/>
            </a:pPr>
            <a:r>
              <a:t/>
            </a:r>
            <a:endParaRPr/>
          </a:p>
        </p:txBody>
      </p:sp>
      <p:sp>
        <p:nvSpPr>
          <p:cNvPr id="283" name="Google Shape;283;g3dd64ec0920_0_1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dd64ec0920_0_2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Example</a:t>
            </a:r>
            <a:endParaRPr/>
          </a:p>
        </p:txBody>
      </p:sp>
      <p:sp>
        <p:nvSpPr>
          <p:cNvPr id="290" name="Google Shape;290;g3dd64ec0920_0_2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85000" lnSpcReduction="20000"/>
          </a:bodyPr>
          <a:lstStyle/>
          <a:p>
            <a:pPr indent="-358140" lvl="0" marL="457200" rtl="0" algn="l">
              <a:lnSpc>
                <a:spcPct val="115000"/>
              </a:lnSpc>
              <a:spcBef>
                <a:spcPts val="1200"/>
              </a:spcBef>
              <a:spcAft>
                <a:spcPts val="0"/>
              </a:spcAft>
              <a:buSzPct val="100000"/>
              <a:buChar char="●"/>
            </a:pPr>
            <a:r>
              <a:rPr lang="en-IN" sz="2400"/>
              <a:t>A student scores </a:t>
            </a:r>
            <a:r>
              <a:rPr b="1" lang="en-IN" sz="2400"/>
              <a:t>95%</a:t>
            </a:r>
            <a:r>
              <a:rPr lang="en-IN" sz="2400"/>
              <a:t> (much higher than their usual performance).</a:t>
            </a:r>
            <a:endParaRPr sz="2400"/>
          </a:p>
          <a:p>
            <a:pPr indent="-358140" lvl="0" marL="457200" rtl="0" algn="l">
              <a:lnSpc>
                <a:spcPct val="115000"/>
              </a:lnSpc>
              <a:spcBef>
                <a:spcPts val="0"/>
              </a:spcBef>
              <a:spcAft>
                <a:spcPts val="0"/>
              </a:spcAft>
              <a:buSzPct val="100000"/>
              <a:buChar char="●"/>
            </a:pPr>
            <a:r>
              <a:rPr lang="en-IN" sz="2400"/>
              <a:t>In the next test, they score </a:t>
            </a:r>
            <a:r>
              <a:rPr b="1" lang="en-IN" sz="2400"/>
              <a:t>80%</a:t>
            </a:r>
            <a:r>
              <a:rPr lang="en-IN" sz="2400"/>
              <a:t>.</a:t>
            </a:r>
            <a:endParaRPr sz="2400"/>
          </a:p>
          <a:p>
            <a:pPr indent="0" lvl="0" marL="0" rtl="0" algn="l">
              <a:lnSpc>
                <a:spcPct val="115000"/>
              </a:lnSpc>
              <a:spcBef>
                <a:spcPts val="1200"/>
              </a:spcBef>
              <a:spcAft>
                <a:spcPts val="0"/>
              </a:spcAft>
              <a:buClr>
                <a:schemeClr val="dk1"/>
              </a:buClr>
              <a:buSzPct val="45833"/>
              <a:buFont typeface="Arial"/>
              <a:buNone/>
            </a:pPr>
            <a:r>
              <a:rPr lang="en-IN" sz="2400"/>
              <a:t>This drop doesn’t necessarily mean they performed worse intentionally—it’s often because the first score was unusually high, and performance naturally returns closer to the average.</a:t>
            </a:r>
            <a:endParaRPr sz="2400"/>
          </a:p>
          <a:p>
            <a:pPr indent="0" lvl="0" marL="0" rtl="0" algn="l">
              <a:lnSpc>
                <a:spcPct val="115000"/>
              </a:lnSpc>
              <a:spcBef>
                <a:spcPts val="1200"/>
              </a:spcBef>
              <a:spcAft>
                <a:spcPts val="0"/>
              </a:spcAft>
              <a:buClr>
                <a:schemeClr val="dk1"/>
              </a:buClr>
              <a:buSzPct val="45833"/>
              <a:buFont typeface="Arial"/>
              <a:buNone/>
            </a:pPr>
            <a:r>
              <a:t/>
            </a:r>
            <a:endParaRPr sz="2400"/>
          </a:p>
          <a:p>
            <a:pPr indent="0" lvl="0" marL="0" rtl="0" algn="l">
              <a:lnSpc>
                <a:spcPct val="115000"/>
              </a:lnSpc>
              <a:spcBef>
                <a:spcPts val="1400"/>
              </a:spcBef>
              <a:spcAft>
                <a:spcPts val="0"/>
              </a:spcAft>
              <a:buClr>
                <a:schemeClr val="dk1"/>
              </a:buClr>
              <a:buSzPct val="45833"/>
              <a:buFont typeface="Arial"/>
              <a:buNone/>
            </a:pPr>
            <a:r>
              <a:rPr b="1" lang="en-IN" sz="2400"/>
              <a:t>🧠 Key Idea</a:t>
            </a:r>
            <a:endParaRPr b="1" sz="2400"/>
          </a:p>
          <a:p>
            <a:pPr indent="0" lvl="0" marL="0" rtl="0" algn="l">
              <a:lnSpc>
                <a:spcPct val="115000"/>
              </a:lnSpc>
              <a:spcBef>
                <a:spcPts val="1200"/>
              </a:spcBef>
              <a:spcAft>
                <a:spcPts val="0"/>
              </a:spcAft>
              <a:buClr>
                <a:schemeClr val="dk1"/>
              </a:buClr>
              <a:buSzPct val="45833"/>
              <a:buFont typeface="Arial"/>
              <a:buNone/>
            </a:pPr>
            <a:r>
              <a:rPr lang="en-IN" sz="2400"/>
              <a:t>Regression to the mean happens because:</a:t>
            </a:r>
            <a:endParaRPr sz="2400"/>
          </a:p>
          <a:p>
            <a:pPr indent="-358140" lvl="0" marL="457200" rtl="0" algn="l">
              <a:lnSpc>
                <a:spcPct val="115000"/>
              </a:lnSpc>
              <a:spcBef>
                <a:spcPts val="1200"/>
              </a:spcBef>
              <a:spcAft>
                <a:spcPts val="0"/>
              </a:spcAft>
              <a:buSzPct val="100000"/>
              <a:buChar char="●"/>
            </a:pPr>
            <a:r>
              <a:rPr lang="en-IN" sz="2400"/>
              <a:t>Random variation (luck, noise, temporary factors) affects extreme values.</a:t>
            </a:r>
            <a:endParaRPr sz="2400"/>
          </a:p>
          <a:p>
            <a:pPr indent="-358140" lvl="0" marL="457200" rtl="0" algn="l">
              <a:lnSpc>
                <a:spcPct val="115000"/>
              </a:lnSpc>
              <a:spcBef>
                <a:spcPts val="0"/>
              </a:spcBef>
              <a:spcAft>
                <a:spcPts val="0"/>
              </a:spcAft>
              <a:buSzPct val="100000"/>
              <a:buChar char="●"/>
            </a:pPr>
            <a:r>
              <a:rPr lang="en-IN" sz="2400"/>
              <a:t>These random effects are unlikely to repeat in the same way.</a:t>
            </a:r>
            <a:endParaRPr sz="2400"/>
          </a:p>
          <a:p>
            <a:pPr indent="0" lvl="0" marL="0" rtl="0" algn="l">
              <a:spcBef>
                <a:spcPts val="1200"/>
              </a:spcBef>
              <a:spcAft>
                <a:spcPts val="0"/>
              </a:spcAft>
              <a:buNone/>
            </a:pPr>
            <a:r>
              <a:t/>
            </a:r>
            <a:endParaRPr/>
          </a:p>
        </p:txBody>
      </p:sp>
      <p:sp>
        <p:nvSpPr>
          <p:cNvPr id="291" name="Google Shape;291;g3dd64ec0920_0_2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dd64ec0920_0_2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Some more examples</a:t>
            </a:r>
            <a:endParaRPr/>
          </a:p>
        </p:txBody>
      </p:sp>
      <p:sp>
        <p:nvSpPr>
          <p:cNvPr id="298" name="Google Shape;298;g3dd64ec0920_0_2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b="1" lang="en-IN" sz="2400"/>
              <a:t>Sports</a:t>
            </a:r>
            <a:br>
              <a:rPr b="1" lang="en-IN" sz="2400"/>
            </a:br>
            <a:r>
              <a:rPr lang="en-IN" sz="2400"/>
              <a:t> A cricket player scores an exceptionally high number of runs in one match → likely to score closer to their average in the next match.</a:t>
            </a:r>
            <a:endParaRPr sz="2400"/>
          </a:p>
          <a:p>
            <a:pPr indent="0" lvl="0" marL="0" rtl="0" algn="just">
              <a:spcBef>
                <a:spcPts val="1000"/>
              </a:spcBef>
              <a:spcAft>
                <a:spcPts val="0"/>
              </a:spcAft>
              <a:buClr>
                <a:schemeClr val="dk1"/>
              </a:buClr>
              <a:buSzPts val="1100"/>
              <a:buFont typeface="Arial"/>
              <a:buNone/>
            </a:pPr>
            <a:r>
              <a:t/>
            </a:r>
            <a:endParaRPr sz="2400"/>
          </a:p>
          <a:p>
            <a:pPr indent="0" lvl="0" marL="0" rtl="0" algn="just">
              <a:spcBef>
                <a:spcPts val="1000"/>
              </a:spcBef>
              <a:spcAft>
                <a:spcPts val="0"/>
              </a:spcAft>
              <a:buNone/>
            </a:pPr>
            <a:r>
              <a:rPr b="1" lang="en-IN" sz="2400"/>
              <a:t>Medicine</a:t>
            </a:r>
            <a:br>
              <a:rPr b="1" lang="en-IN" sz="2400"/>
            </a:br>
            <a:r>
              <a:rPr lang="en-IN" sz="2400"/>
              <a:t> Patients with extremely high blood pressure readings often show improvement on the next check—even without treatment.</a:t>
            </a:r>
            <a:endParaRPr sz="2400"/>
          </a:p>
          <a:p>
            <a:pPr indent="0" lvl="0" marL="0" rtl="0" algn="just">
              <a:spcBef>
                <a:spcPts val="1000"/>
              </a:spcBef>
              <a:spcAft>
                <a:spcPts val="0"/>
              </a:spcAft>
              <a:buClr>
                <a:schemeClr val="dk1"/>
              </a:buClr>
              <a:buSzPts val="1100"/>
              <a:buFont typeface="Arial"/>
              <a:buNone/>
            </a:pPr>
            <a:r>
              <a:t/>
            </a:r>
            <a:endParaRPr sz="2400"/>
          </a:p>
          <a:p>
            <a:pPr indent="0" lvl="0" marL="0" rtl="0" algn="just">
              <a:spcBef>
                <a:spcPts val="1000"/>
              </a:spcBef>
              <a:spcAft>
                <a:spcPts val="0"/>
              </a:spcAft>
              <a:buClr>
                <a:schemeClr val="dk1"/>
              </a:buClr>
              <a:buSzPts val="1100"/>
              <a:buFont typeface="Arial"/>
              <a:buNone/>
            </a:pPr>
            <a:r>
              <a:rPr b="1" lang="en-IN" sz="2400"/>
              <a:t>Stock Market</a:t>
            </a:r>
            <a:br>
              <a:rPr b="1" lang="en-IN" sz="2400"/>
            </a:br>
            <a:r>
              <a:rPr lang="en-IN" sz="2400"/>
              <a:t> Stocks with extreme gains or losses tend to stabilize over time.</a:t>
            </a:r>
            <a:endParaRPr sz="2400"/>
          </a:p>
          <a:p>
            <a:pPr indent="0" lvl="0" marL="0" rtl="0" algn="l">
              <a:spcBef>
                <a:spcPts val="1000"/>
              </a:spcBef>
              <a:spcAft>
                <a:spcPts val="0"/>
              </a:spcAft>
              <a:buNone/>
            </a:pPr>
            <a:r>
              <a:t/>
            </a:r>
            <a:endParaRPr/>
          </a:p>
        </p:txBody>
      </p:sp>
      <p:sp>
        <p:nvSpPr>
          <p:cNvPr id="299" name="Google Shape;299;g3dd64ec0920_0_2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de17536a0e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Bootstrap</a:t>
            </a:r>
            <a:endParaRPr/>
          </a:p>
        </p:txBody>
      </p:sp>
      <p:sp>
        <p:nvSpPr>
          <p:cNvPr id="306" name="Google Shape;306;g3de17536a0e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Clr>
                <a:schemeClr val="dk1"/>
              </a:buClr>
              <a:buSzPts val="1100"/>
              <a:buFont typeface="Arial"/>
              <a:buNone/>
            </a:pPr>
            <a:r>
              <a:rPr lang="en-IN"/>
              <a:t>One easy and effective way to estimate the sampling distribution of a statistic, or of</a:t>
            </a:r>
            <a:endParaRPr/>
          </a:p>
          <a:p>
            <a:pPr indent="0" lvl="0" marL="0" rtl="0" algn="just">
              <a:spcBef>
                <a:spcPts val="1000"/>
              </a:spcBef>
              <a:spcAft>
                <a:spcPts val="0"/>
              </a:spcAft>
              <a:buClr>
                <a:schemeClr val="dk1"/>
              </a:buClr>
              <a:buSzPts val="1100"/>
              <a:buFont typeface="Arial"/>
              <a:buNone/>
            </a:pPr>
            <a:r>
              <a:rPr lang="en-IN"/>
              <a:t>model parameters, is to draw additional samples, with replacement, from the sample</a:t>
            </a:r>
            <a:endParaRPr/>
          </a:p>
          <a:p>
            <a:pPr indent="0" lvl="0" marL="0" rtl="0" algn="just">
              <a:spcBef>
                <a:spcPts val="1000"/>
              </a:spcBef>
              <a:spcAft>
                <a:spcPts val="0"/>
              </a:spcAft>
              <a:buNone/>
            </a:pPr>
            <a:r>
              <a:rPr lang="en-IN"/>
              <a:t>itself and recalculate the statistic or model for each resample. </a:t>
            </a:r>
            <a:endParaRPr/>
          </a:p>
          <a:p>
            <a:pPr indent="0" lvl="0" marL="0" rtl="0" algn="just">
              <a:spcBef>
                <a:spcPts val="1000"/>
              </a:spcBef>
              <a:spcAft>
                <a:spcPts val="0"/>
              </a:spcAft>
              <a:buNone/>
            </a:pPr>
            <a:r>
              <a:rPr lang="en-IN"/>
              <a:t>This procedure is called the </a:t>
            </a:r>
            <a:r>
              <a:rPr b="1" lang="en-IN">
                <a:solidFill>
                  <a:srgbClr val="232387"/>
                </a:solidFill>
              </a:rPr>
              <a:t>bootstrap</a:t>
            </a:r>
            <a:r>
              <a:rPr lang="en-IN"/>
              <a:t>, and it does not necessarily involve any assumptions about the data or the sample statistic being normally distributed.</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b="1" lang="en-IN">
                <a:solidFill>
                  <a:srgbClr val="232387"/>
                </a:solidFill>
              </a:rPr>
              <a:t>Key Terms</a:t>
            </a:r>
            <a:endParaRPr b="1">
              <a:solidFill>
                <a:srgbClr val="232387"/>
              </a:solidFill>
            </a:endParaRPr>
          </a:p>
          <a:p>
            <a:pPr indent="0" lvl="0" marL="0" rtl="0" algn="just">
              <a:spcBef>
                <a:spcPts val="1000"/>
              </a:spcBef>
              <a:spcAft>
                <a:spcPts val="0"/>
              </a:spcAft>
              <a:buNone/>
            </a:pPr>
            <a:r>
              <a:rPr b="1" lang="en-IN"/>
              <a:t>Bootstrap sample</a:t>
            </a:r>
            <a:r>
              <a:rPr lang="en-IN"/>
              <a:t>: A sample taken with replacement from an observed data set.</a:t>
            </a:r>
            <a:endParaRPr/>
          </a:p>
          <a:p>
            <a:pPr indent="0" lvl="0" marL="0" rtl="0" algn="just">
              <a:spcBef>
                <a:spcPts val="1000"/>
              </a:spcBef>
              <a:spcAft>
                <a:spcPts val="0"/>
              </a:spcAft>
              <a:buNone/>
            </a:pPr>
            <a:r>
              <a:rPr b="1" lang="en-IN"/>
              <a:t>Resampling</a:t>
            </a:r>
            <a:r>
              <a:rPr lang="en-IN"/>
              <a:t>: The process of taking repeated samples from observed data; includes both bootstrap and permutation (shuffling) procedures.</a:t>
            </a:r>
            <a:endParaRPr/>
          </a:p>
        </p:txBody>
      </p:sp>
      <p:sp>
        <p:nvSpPr>
          <p:cNvPr id="307" name="Google Shape;307;g3de17536a0e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de17536a0e_0_1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Bootstrap</a:t>
            </a:r>
            <a:endParaRPr/>
          </a:p>
        </p:txBody>
      </p:sp>
      <p:sp>
        <p:nvSpPr>
          <p:cNvPr id="314" name="Google Shape;314;g3de17536a0e_0_1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25000" lnSpcReduction="20000"/>
          </a:bodyPr>
          <a:lstStyle/>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275"/>
              <a:buFont typeface="Arial"/>
              <a:buNone/>
            </a:pPr>
            <a:r>
              <a:rPr i="1" lang="en-IN" sz="7200"/>
              <a:t>Practical Statistics for Data Scientists, by Peter Bruce, Andrew Bruce, O'Reilly Media, Inc.,May 2017</a:t>
            </a:r>
            <a:endParaRPr i="1" sz="72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315" name="Google Shape;315;g3de17536a0e_0_1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16" name="Google Shape;316;g3de17536a0e_0_10"/>
          <p:cNvPicPr preferRelativeResize="0"/>
          <p:nvPr/>
        </p:nvPicPr>
        <p:blipFill>
          <a:blip r:embed="rId3">
            <a:alphaModFix/>
          </a:blip>
          <a:stretch>
            <a:fillRect/>
          </a:stretch>
        </p:blipFill>
        <p:spPr>
          <a:xfrm>
            <a:off x="838200" y="1518050"/>
            <a:ext cx="10402750" cy="3443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de17536a0e_0_2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23" name="Google Shape;323;g3de17536a0e_0_20"/>
          <p:cNvSpPr txBox="1"/>
          <p:nvPr>
            <p:ph idx="1" type="body"/>
          </p:nvPr>
        </p:nvSpPr>
        <p:spPr>
          <a:xfrm>
            <a:off x="838200" y="549052"/>
            <a:ext cx="10515600" cy="532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a:t>The algorithm for a bootstrap resampling of the mean, for a sample of size n, is as follows:</a:t>
            </a:r>
            <a:endParaRPr/>
          </a:p>
          <a:p>
            <a:pPr indent="0" lvl="0" marL="0" rtl="0" algn="l">
              <a:spcBef>
                <a:spcPts val="1000"/>
              </a:spcBef>
              <a:spcAft>
                <a:spcPts val="0"/>
              </a:spcAft>
              <a:buClr>
                <a:schemeClr val="dk1"/>
              </a:buClr>
              <a:buSzPts val="1100"/>
              <a:buFont typeface="Arial"/>
              <a:buNone/>
            </a:pPr>
            <a:r>
              <a:rPr lang="en-IN"/>
              <a:t>1. Draw a sample value, record it, and then replace it.</a:t>
            </a:r>
            <a:endParaRPr/>
          </a:p>
          <a:p>
            <a:pPr indent="0" lvl="0" marL="0" rtl="0" algn="l">
              <a:spcBef>
                <a:spcPts val="1000"/>
              </a:spcBef>
              <a:spcAft>
                <a:spcPts val="0"/>
              </a:spcAft>
              <a:buClr>
                <a:schemeClr val="dk1"/>
              </a:buClr>
              <a:buSzPts val="1100"/>
              <a:buFont typeface="Arial"/>
              <a:buNone/>
            </a:pPr>
            <a:r>
              <a:rPr lang="en-IN"/>
              <a:t>2. Repeat n times.</a:t>
            </a:r>
            <a:endParaRPr/>
          </a:p>
          <a:p>
            <a:pPr indent="0" lvl="0" marL="0" rtl="0" algn="l">
              <a:spcBef>
                <a:spcPts val="1000"/>
              </a:spcBef>
              <a:spcAft>
                <a:spcPts val="0"/>
              </a:spcAft>
              <a:buClr>
                <a:schemeClr val="dk1"/>
              </a:buClr>
              <a:buSzPts val="1100"/>
              <a:buFont typeface="Arial"/>
              <a:buNone/>
            </a:pPr>
            <a:r>
              <a:rPr lang="en-IN"/>
              <a:t>3. Record the mean of the n resampled values.</a:t>
            </a:r>
            <a:endParaRPr/>
          </a:p>
          <a:p>
            <a:pPr indent="0" lvl="0" marL="0" rtl="0" algn="l">
              <a:spcBef>
                <a:spcPts val="1000"/>
              </a:spcBef>
              <a:spcAft>
                <a:spcPts val="0"/>
              </a:spcAft>
              <a:buClr>
                <a:schemeClr val="dk1"/>
              </a:buClr>
              <a:buSzPts val="1100"/>
              <a:buFont typeface="Arial"/>
              <a:buNone/>
            </a:pPr>
            <a:r>
              <a:rPr lang="en-IN"/>
              <a:t>4. Repeat steps 1–3 R times.</a:t>
            </a:r>
            <a:endParaRPr/>
          </a:p>
          <a:p>
            <a:pPr indent="0" lvl="0" marL="0" rtl="0" algn="l">
              <a:spcBef>
                <a:spcPts val="1000"/>
              </a:spcBef>
              <a:spcAft>
                <a:spcPts val="0"/>
              </a:spcAft>
              <a:buNone/>
            </a:pPr>
            <a:r>
              <a:rPr lang="en-IN"/>
              <a:t>5. Use the R results to:</a:t>
            </a:r>
            <a:endParaRPr/>
          </a:p>
          <a:p>
            <a:pPr indent="457200" lvl="0" marL="0" rtl="0" algn="l">
              <a:spcBef>
                <a:spcPts val="1000"/>
              </a:spcBef>
              <a:spcAft>
                <a:spcPts val="0"/>
              </a:spcAft>
              <a:buClr>
                <a:schemeClr val="dk1"/>
              </a:buClr>
              <a:buSzPts val="1100"/>
              <a:buFont typeface="Arial"/>
              <a:buNone/>
            </a:pPr>
            <a:r>
              <a:rPr lang="en-IN"/>
              <a:t>a. Calculate their standard deviation (this estimates sample mean standard error).</a:t>
            </a:r>
            <a:endParaRPr/>
          </a:p>
          <a:p>
            <a:pPr indent="457200" lvl="0" marL="0" rtl="0" algn="l">
              <a:spcBef>
                <a:spcPts val="1000"/>
              </a:spcBef>
              <a:spcAft>
                <a:spcPts val="0"/>
              </a:spcAft>
              <a:buClr>
                <a:schemeClr val="dk1"/>
              </a:buClr>
              <a:buSzPts val="1100"/>
              <a:buFont typeface="Arial"/>
              <a:buNone/>
            </a:pPr>
            <a:r>
              <a:rPr lang="en-IN"/>
              <a:t>b. Produce a histogram or boxplot.</a:t>
            </a:r>
            <a:endParaRPr/>
          </a:p>
          <a:p>
            <a:pPr indent="457200" lvl="0" marL="0" rtl="0" algn="l">
              <a:spcBef>
                <a:spcPts val="1000"/>
              </a:spcBef>
              <a:spcAft>
                <a:spcPts val="0"/>
              </a:spcAft>
              <a:buNone/>
            </a:pPr>
            <a:r>
              <a:rPr lang="en-IN"/>
              <a:t>c. Find a confidence interval.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IN"/>
              <a:t>R, the number of iterations of the bootstrap, is set somewhat arbitrarily. The more iterations you do, the more accurate the estimate of the standard error, or the confidence interval. The result from this procedure is a bootstrap set of sample statistics or estimated model parameters, which you can then examine to see how variable they are.</a:t>
            </a:r>
            <a:endParaRPr/>
          </a:p>
        </p:txBody>
      </p:sp>
      <p:sp>
        <p:nvSpPr>
          <p:cNvPr id="324" name="Google Shape;324;g3de17536a0e_0_2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de17536a0e_0_3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Resampling Versus Bootstrapping</a:t>
            </a:r>
            <a:endParaRPr/>
          </a:p>
        </p:txBody>
      </p:sp>
      <p:sp>
        <p:nvSpPr>
          <p:cNvPr id="331" name="Google Shape;331;g3de17536a0e_0_3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Sometimes the term resampling is used synonymously with the term bootstrapping.</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More often, the term resampling also includes permutation procedures, where multiple samples are combined and the sampling may be done without replacement.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In any case, the term bootstrap always implies sampling with replacement from an observed data set.</a:t>
            </a:r>
            <a:endParaRPr/>
          </a:p>
        </p:txBody>
      </p:sp>
      <p:sp>
        <p:nvSpPr>
          <p:cNvPr id="332" name="Google Shape;332;g3de17536a0e_0_3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de17536a0e_0_3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Significance Testing</a:t>
            </a:r>
            <a:endParaRPr/>
          </a:p>
        </p:txBody>
      </p:sp>
      <p:sp>
        <p:nvSpPr>
          <p:cNvPr id="339" name="Google Shape;339;g3de17536a0e_0_3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Design of experiments is a cornerstone of the practice of statistics, with applications in virtually all areas of research. </a:t>
            </a:r>
            <a:endParaRPr/>
          </a:p>
          <a:p>
            <a:pPr indent="0" lvl="0" marL="0" rtl="0" algn="just">
              <a:spcBef>
                <a:spcPts val="1000"/>
              </a:spcBef>
              <a:spcAft>
                <a:spcPts val="0"/>
              </a:spcAft>
              <a:buNone/>
            </a:pPr>
            <a:r>
              <a:rPr lang="en-IN"/>
              <a:t>The goal is to design an experiment in order to confirm or reject a hypothesis. Data scientists often need to conduct continual experiments, particularly regarding user interface and product marketing. </a:t>
            </a:r>
            <a:endParaRPr/>
          </a:p>
          <a:p>
            <a:pPr indent="0" lvl="0" marL="0" rtl="0" algn="just">
              <a:spcBef>
                <a:spcPts val="1000"/>
              </a:spcBef>
              <a:spcAft>
                <a:spcPts val="0"/>
              </a:spcAft>
              <a:buNone/>
            </a:pPr>
            <a:r>
              <a:t/>
            </a:r>
            <a:endParaRPr/>
          </a:p>
        </p:txBody>
      </p:sp>
      <p:sp>
        <p:nvSpPr>
          <p:cNvPr id="340" name="Google Shape;340;g3de17536a0e_0_3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de17536a0e_0_4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Significance Testing</a:t>
            </a:r>
            <a:endParaRPr/>
          </a:p>
        </p:txBody>
      </p:sp>
      <p:sp>
        <p:nvSpPr>
          <p:cNvPr id="347" name="Google Shape;347;g3de17536a0e_0_48"/>
          <p:cNvSpPr txBox="1"/>
          <p:nvPr>
            <p:ph idx="1" type="body"/>
          </p:nvPr>
        </p:nvSpPr>
        <p:spPr>
          <a:xfrm>
            <a:off x="838200" y="1518051"/>
            <a:ext cx="10515600" cy="51015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This process starts with a hypothesis (“drug A is better than the existing standard drug,” or “price A is more profitable than the existing price B”). </a:t>
            </a:r>
            <a:endParaRPr/>
          </a:p>
          <a:p>
            <a:pPr indent="0" lvl="0" marL="0" rtl="0" algn="just">
              <a:spcBef>
                <a:spcPts val="1000"/>
              </a:spcBef>
              <a:spcAft>
                <a:spcPts val="0"/>
              </a:spcAft>
              <a:buNone/>
            </a:pPr>
            <a:r>
              <a:rPr lang="en-IN"/>
              <a:t>An experiment (it might be an A/B test) is designed to test the hypothesis—designed in such a way that it hopefully will deliver conclusive results. </a:t>
            </a:r>
            <a:endParaRPr/>
          </a:p>
          <a:p>
            <a:pPr indent="0" lvl="0" marL="0" rtl="0" algn="just">
              <a:spcBef>
                <a:spcPts val="1000"/>
              </a:spcBef>
              <a:spcAft>
                <a:spcPts val="0"/>
              </a:spcAft>
              <a:buNone/>
            </a:pPr>
            <a:r>
              <a:rPr lang="en-IN"/>
              <a:t>The data is collected and analyzed, and then a conclusion is drawn. The term inference reflects the intention to apply the experiment results, which involve a limited set of data, to a larger process or population.</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i="1" sz="1800"/>
          </a:p>
          <a:p>
            <a:pPr indent="0" lvl="0" marL="0" rtl="0" algn="just">
              <a:spcBef>
                <a:spcPts val="1000"/>
              </a:spcBef>
              <a:spcAft>
                <a:spcPts val="0"/>
              </a:spcAft>
              <a:buNone/>
            </a:pPr>
            <a:r>
              <a:rPr i="1" lang="en-IN" sz="1800"/>
              <a:t>Practical Statistics for Data Scientists, by Peter Bruce, Andrew Bruce, O'Reilly Media, Inc.,May 2017</a:t>
            </a:r>
            <a:endParaRPr i="1" sz="1800"/>
          </a:p>
        </p:txBody>
      </p:sp>
      <p:sp>
        <p:nvSpPr>
          <p:cNvPr id="348" name="Google Shape;348;g3de17536a0e_0_4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349" name="Google Shape;349;g3de17536a0e_0_48"/>
          <p:cNvPicPr preferRelativeResize="0"/>
          <p:nvPr/>
        </p:nvPicPr>
        <p:blipFill>
          <a:blip r:embed="rId3">
            <a:alphaModFix/>
          </a:blip>
          <a:stretch>
            <a:fillRect/>
          </a:stretch>
        </p:blipFill>
        <p:spPr>
          <a:xfrm>
            <a:off x="945225" y="4368400"/>
            <a:ext cx="10068875" cy="1622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de17536a0e_0_5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A/B Testing</a:t>
            </a:r>
            <a:endParaRPr/>
          </a:p>
        </p:txBody>
      </p:sp>
      <p:sp>
        <p:nvSpPr>
          <p:cNvPr id="356" name="Google Shape;356;g3de17536a0e_0_5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An A/B test is an experiment with two groups to establish which of two treatments, products, procedures, or the like is superior.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Often one of the two treatments is the standard existing treatment, or no treatment. If a standard (or no) treatment is used, it is called the control.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A typical hypothesis is that a new treatment is better than the control.</a:t>
            </a:r>
            <a:endParaRPr/>
          </a:p>
        </p:txBody>
      </p:sp>
      <p:sp>
        <p:nvSpPr>
          <p:cNvPr id="357" name="Google Shape;357;g3de17536a0e_0_5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de17536a0e_0_6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800"/>
              <a:t>Key Terms for A/B Testing</a:t>
            </a:r>
            <a:endParaRPr sz="4400"/>
          </a:p>
        </p:txBody>
      </p:sp>
      <p:sp>
        <p:nvSpPr>
          <p:cNvPr id="364" name="Google Shape;364;g3de17536a0e_0_6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IN"/>
              <a:t>Treatment: Something (drug, price, web headline) to which a subject is exposed.</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Treatment group: A group of subjects exposed to a specific treatment.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Control group: A group of subjects exposed to no (or standard) treatment.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Randomization: The process of randomly assigning subjects to treatments.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Subjects: The items (web visitors, patients, etc.) that are exposed to treatments.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Test statistic: The metric used to measure the effect of the treatment.</a:t>
            </a:r>
            <a:endParaRPr/>
          </a:p>
        </p:txBody>
      </p:sp>
      <p:sp>
        <p:nvSpPr>
          <p:cNvPr id="365" name="Google Shape;365;g3de17536a0e_0_6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de17536a0e_0_7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72" name="Google Shape;372;g3de17536a0e_0_75"/>
          <p:cNvSpPr txBox="1"/>
          <p:nvPr>
            <p:ph idx="1" type="body"/>
          </p:nvPr>
        </p:nvSpPr>
        <p:spPr>
          <a:xfrm>
            <a:off x="838200" y="549052"/>
            <a:ext cx="10515600" cy="532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t>Some examples of A/B testing include: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Testing two soil treatments to determine which produces better seed germination</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Testing two therapies to determine which suppresses cancer more effectively</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Testing two prices to determine which yields more net profit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Testing two web headlines to determine which produces more clicks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Testing two web ads to determine which generates more conversions</a:t>
            </a:r>
            <a:endParaRPr/>
          </a:p>
        </p:txBody>
      </p:sp>
      <p:sp>
        <p:nvSpPr>
          <p:cNvPr id="373" name="Google Shape;373;g3de17536a0e_0_7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de88c29bbf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Hypothesis Tests</a:t>
            </a:r>
            <a:endParaRPr/>
          </a:p>
        </p:txBody>
      </p:sp>
      <p:sp>
        <p:nvSpPr>
          <p:cNvPr id="380" name="Google Shape;380;g3de88c29bbf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t>Hypothesis tests, also called significance tests, are ubiquitous in the traditional statistical analysis of published research. Their purpose is to help you learn whether random chance might be responsible for an observed effect.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a:t>Key Terms for Hypothesis Tests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a:t>Null hypothesis: The hypothesis that chance is to blame.</a:t>
            </a:r>
            <a:endParaRPr/>
          </a:p>
          <a:p>
            <a:pPr indent="0" lvl="0" marL="0" rtl="0" algn="l">
              <a:spcBef>
                <a:spcPts val="1000"/>
              </a:spcBef>
              <a:spcAft>
                <a:spcPts val="0"/>
              </a:spcAft>
              <a:buClr>
                <a:schemeClr val="dk1"/>
              </a:buClr>
              <a:buSzPts val="1100"/>
              <a:buFont typeface="Arial"/>
              <a:buNone/>
            </a:pPr>
            <a:r>
              <a:rPr lang="en-IN"/>
              <a:t>Alternative hypothesis: Counterpoint to the null (what you hope to prove).</a:t>
            </a:r>
            <a:endParaRPr/>
          </a:p>
          <a:p>
            <a:pPr indent="0" lvl="0" marL="0" rtl="0" algn="l">
              <a:spcBef>
                <a:spcPts val="1000"/>
              </a:spcBef>
              <a:spcAft>
                <a:spcPts val="0"/>
              </a:spcAft>
              <a:buClr>
                <a:schemeClr val="dk1"/>
              </a:buClr>
              <a:buSzPts val="1100"/>
              <a:buFont typeface="Arial"/>
              <a:buNone/>
            </a:pPr>
            <a:r>
              <a:rPr lang="en-IN"/>
              <a:t>One-way test: Hypothesis test that counts chance results only in one direction.</a:t>
            </a:r>
            <a:endParaRPr/>
          </a:p>
          <a:p>
            <a:pPr indent="0" lvl="0" marL="0" rtl="0" algn="l">
              <a:spcBef>
                <a:spcPts val="1000"/>
              </a:spcBef>
              <a:spcAft>
                <a:spcPts val="0"/>
              </a:spcAft>
              <a:buNone/>
            </a:pPr>
            <a:r>
              <a:rPr lang="en-IN"/>
              <a:t>Two-way test: Hypothesis test that counts chance results in two directions.</a:t>
            </a:r>
            <a:endParaRPr/>
          </a:p>
        </p:txBody>
      </p:sp>
      <p:sp>
        <p:nvSpPr>
          <p:cNvPr id="381" name="Google Shape;381;g3de88c29bbf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de88c29bbf_0_1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In simple terms </a:t>
            </a:r>
            <a:endParaRPr/>
          </a:p>
        </p:txBody>
      </p:sp>
      <p:sp>
        <p:nvSpPr>
          <p:cNvPr id="388" name="Google Shape;388;g3de88c29bbf_0_1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800"/>
              </a:spcBef>
              <a:spcAft>
                <a:spcPts val="0"/>
              </a:spcAft>
              <a:buClr>
                <a:schemeClr val="dk1"/>
              </a:buClr>
              <a:buSzPts val="1100"/>
              <a:buFont typeface="Arial"/>
              <a:buNone/>
            </a:pPr>
            <a:r>
              <a:rPr lang="en-IN" sz="2200"/>
              <a:t>•</a:t>
            </a:r>
            <a:r>
              <a:rPr lang="en-IN" sz="2200">
                <a:latin typeface="Calibri"/>
                <a:ea typeface="Calibri"/>
                <a:cs typeface="Calibri"/>
                <a:sym typeface="Calibri"/>
              </a:rPr>
              <a:t>Helps determine whether observed results are due to real effect or random chance.</a:t>
            </a:r>
            <a:endParaRPr sz="2200">
              <a:latin typeface="Calibri"/>
              <a:ea typeface="Calibri"/>
              <a:cs typeface="Calibri"/>
              <a:sym typeface="Calibri"/>
            </a:endParaRPr>
          </a:p>
          <a:p>
            <a:pPr indent="0" lvl="0" marL="0" rtl="0" algn="l">
              <a:lnSpc>
                <a:spcPct val="115000"/>
              </a:lnSpc>
              <a:spcBef>
                <a:spcPts val="800"/>
              </a:spcBef>
              <a:spcAft>
                <a:spcPts val="0"/>
              </a:spcAft>
              <a:buNone/>
            </a:pPr>
            <a:r>
              <a:rPr lang="en-IN" sz="2200"/>
              <a:t>•</a:t>
            </a:r>
            <a:r>
              <a:rPr lang="en-IN" sz="2200">
                <a:latin typeface="Calibri"/>
                <a:ea typeface="Calibri"/>
                <a:cs typeface="Calibri"/>
                <a:sym typeface="Calibri"/>
              </a:rPr>
              <a:t>Used in A/B testing, medicine, research.</a:t>
            </a:r>
            <a:endParaRPr sz="2200">
              <a:latin typeface="Calibri"/>
              <a:ea typeface="Calibri"/>
              <a:cs typeface="Calibri"/>
              <a:sym typeface="Calibri"/>
            </a:endParaRPr>
          </a:p>
          <a:p>
            <a:pPr indent="0" lvl="0" marL="0" rtl="0" algn="l">
              <a:lnSpc>
                <a:spcPct val="115000"/>
              </a:lnSpc>
              <a:spcBef>
                <a:spcPts val="800"/>
              </a:spcBef>
              <a:spcAft>
                <a:spcPts val="0"/>
              </a:spcAft>
              <a:buNone/>
            </a:pPr>
            <a:r>
              <a:rPr lang="en-IN" sz="2200">
                <a:latin typeface="Calibri"/>
                <a:ea typeface="Calibri"/>
                <a:cs typeface="Calibri"/>
                <a:sym typeface="Calibri"/>
              </a:rPr>
              <a:t>Example:</a:t>
            </a:r>
            <a:endParaRPr sz="2200">
              <a:latin typeface="Calibri"/>
              <a:ea typeface="Calibri"/>
              <a:cs typeface="Calibri"/>
              <a:sym typeface="Calibri"/>
            </a:endParaRPr>
          </a:p>
          <a:p>
            <a:pPr indent="0" lvl="0" marL="0" rtl="0" algn="l">
              <a:lnSpc>
                <a:spcPct val="115000"/>
              </a:lnSpc>
              <a:spcBef>
                <a:spcPts val="800"/>
              </a:spcBef>
              <a:spcAft>
                <a:spcPts val="0"/>
              </a:spcAft>
              <a:buNone/>
            </a:pPr>
            <a:r>
              <a:rPr lang="en-IN" sz="2200"/>
              <a:t>•</a:t>
            </a:r>
            <a:r>
              <a:rPr lang="en-IN" sz="2200">
                <a:latin typeface="Calibri"/>
                <a:ea typeface="Calibri"/>
                <a:cs typeface="Calibri"/>
                <a:sym typeface="Calibri"/>
              </a:rPr>
              <a:t>A student uses a new study method and scores higher.</a:t>
            </a:r>
            <a:endParaRPr sz="2200">
              <a:latin typeface="Calibri"/>
              <a:ea typeface="Calibri"/>
              <a:cs typeface="Calibri"/>
              <a:sym typeface="Calibri"/>
            </a:endParaRPr>
          </a:p>
          <a:p>
            <a:pPr indent="0" lvl="0" marL="0" rtl="0" algn="l">
              <a:lnSpc>
                <a:spcPct val="115000"/>
              </a:lnSpc>
              <a:spcBef>
                <a:spcPts val="800"/>
              </a:spcBef>
              <a:spcAft>
                <a:spcPts val="0"/>
              </a:spcAft>
              <a:buNone/>
            </a:pPr>
            <a:r>
              <a:rPr lang="en-IN" sz="2200"/>
              <a:t>•</a:t>
            </a:r>
            <a:r>
              <a:rPr lang="en-IN" sz="2200">
                <a:latin typeface="Calibri"/>
                <a:ea typeface="Calibri"/>
                <a:cs typeface="Calibri"/>
                <a:sym typeface="Calibri"/>
              </a:rPr>
              <a:t>Is it due to the method or just luck?</a:t>
            </a:r>
            <a:endParaRPr sz="2200">
              <a:latin typeface="Calibri"/>
              <a:ea typeface="Calibri"/>
              <a:cs typeface="Calibri"/>
              <a:sym typeface="Calibri"/>
            </a:endParaRPr>
          </a:p>
          <a:p>
            <a:pPr indent="0" lvl="0" marL="0" rtl="0" algn="l">
              <a:lnSpc>
                <a:spcPct val="115000"/>
              </a:lnSpc>
              <a:spcBef>
                <a:spcPts val="800"/>
              </a:spcBef>
              <a:spcAft>
                <a:spcPts val="0"/>
              </a:spcAft>
              <a:buNone/>
            </a:pPr>
            <a:r>
              <a:t/>
            </a:r>
            <a:endParaRPr sz="2200">
              <a:latin typeface="Calibri"/>
              <a:ea typeface="Calibri"/>
              <a:cs typeface="Calibri"/>
              <a:sym typeface="Calibri"/>
            </a:endParaRPr>
          </a:p>
        </p:txBody>
      </p:sp>
      <p:sp>
        <p:nvSpPr>
          <p:cNvPr id="389" name="Google Shape;389;g3de88c29bbf_0_1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de88c29bbf_0_1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Hypothesis Tests</a:t>
            </a:r>
            <a:endParaRPr/>
          </a:p>
        </p:txBody>
      </p:sp>
      <p:sp>
        <p:nvSpPr>
          <p:cNvPr id="396" name="Google Shape;396;g3de88c29bbf_0_1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IN"/>
              <a:t>Null Hypothesis:</a:t>
            </a:r>
            <a:endParaRPr/>
          </a:p>
          <a:p>
            <a:pPr indent="0" lvl="0" marL="0" rtl="0" algn="l">
              <a:lnSpc>
                <a:spcPct val="115000"/>
              </a:lnSpc>
              <a:spcBef>
                <a:spcPts val="800"/>
              </a:spcBef>
              <a:spcAft>
                <a:spcPts val="0"/>
              </a:spcAft>
              <a:buClr>
                <a:schemeClr val="dk1"/>
              </a:buClr>
              <a:buSzPts val="1100"/>
              <a:buFont typeface="Arial"/>
              <a:buNone/>
            </a:pPr>
            <a:r>
              <a:rPr lang="en-IN"/>
              <a:t>•</a:t>
            </a:r>
            <a:r>
              <a:rPr lang="en-IN">
                <a:latin typeface="Calibri"/>
                <a:ea typeface="Calibri"/>
                <a:cs typeface="Calibri"/>
                <a:sym typeface="Calibri"/>
              </a:rPr>
              <a:t>Assumes no real effect.</a:t>
            </a:r>
            <a:endParaRPr>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IN"/>
              <a:t>•</a:t>
            </a:r>
            <a:r>
              <a:rPr lang="en-IN">
                <a:latin typeface="Calibri"/>
                <a:ea typeface="Calibri"/>
                <a:cs typeface="Calibri"/>
                <a:sym typeface="Calibri"/>
              </a:rPr>
              <a:t>Any observed difference is due to chance.</a:t>
            </a:r>
            <a:endParaRPr>
              <a:latin typeface="Calibri"/>
              <a:ea typeface="Calibri"/>
              <a:cs typeface="Calibri"/>
              <a:sym typeface="Calibri"/>
            </a:endParaRPr>
          </a:p>
          <a:p>
            <a:pPr indent="0" lvl="0" marL="0" rtl="0" algn="l">
              <a:lnSpc>
                <a:spcPct val="115000"/>
              </a:lnSpc>
              <a:spcBef>
                <a:spcPts val="800"/>
              </a:spcBef>
              <a:spcAft>
                <a:spcPts val="0"/>
              </a:spcAft>
              <a:buNone/>
            </a:pPr>
            <a:r>
              <a:rPr lang="en-IN"/>
              <a:t>•</a:t>
            </a:r>
            <a:r>
              <a:rPr lang="en-IN">
                <a:latin typeface="Calibri"/>
                <a:ea typeface="Calibri"/>
                <a:cs typeface="Calibri"/>
                <a:sym typeface="Calibri"/>
              </a:rPr>
              <a:t>Default assumption</a:t>
            </a:r>
            <a:endParaRPr>
              <a:latin typeface="Calibri"/>
              <a:ea typeface="Calibri"/>
              <a:cs typeface="Calibri"/>
              <a:sym typeface="Calibri"/>
            </a:endParaRPr>
          </a:p>
          <a:p>
            <a:pPr indent="0" lvl="0" marL="0" rtl="0" algn="l">
              <a:lnSpc>
                <a:spcPct val="115000"/>
              </a:lnSpc>
              <a:spcBef>
                <a:spcPts val="800"/>
              </a:spcBef>
              <a:spcAft>
                <a:spcPts val="0"/>
              </a:spcAft>
              <a:buNone/>
            </a:pPr>
            <a:r>
              <a:t/>
            </a:r>
            <a:endParaRPr>
              <a:latin typeface="Calibri"/>
              <a:ea typeface="Calibri"/>
              <a:cs typeface="Calibri"/>
              <a:sym typeface="Calibri"/>
            </a:endParaRPr>
          </a:p>
          <a:p>
            <a:pPr indent="0" lvl="0" marL="0" rtl="0" algn="l">
              <a:lnSpc>
                <a:spcPct val="115000"/>
              </a:lnSpc>
              <a:spcBef>
                <a:spcPts val="800"/>
              </a:spcBef>
              <a:spcAft>
                <a:spcPts val="0"/>
              </a:spcAft>
              <a:buNone/>
            </a:pPr>
            <a:r>
              <a:rPr lang="en-IN">
                <a:latin typeface="Calibri"/>
                <a:ea typeface="Calibri"/>
                <a:cs typeface="Calibri"/>
                <a:sym typeface="Calibri"/>
              </a:rPr>
              <a:t>Alternative Hypothesis:</a:t>
            </a:r>
            <a:endParaRPr>
              <a:latin typeface="Calibri"/>
              <a:ea typeface="Calibri"/>
              <a:cs typeface="Calibri"/>
              <a:sym typeface="Calibri"/>
            </a:endParaRPr>
          </a:p>
          <a:p>
            <a:pPr indent="0" lvl="0" marL="0" rtl="0" algn="l">
              <a:lnSpc>
                <a:spcPct val="115000"/>
              </a:lnSpc>
              <a:spcBef>
                <a:spcPts val="800"/>
              </a:spcBef>
              <a:spcAft>
                <a:spcPts val="0"/>
              </a:spcAft>
              <a:buNone/>
            </a:pPr>
            <a:r>
              <a:rPr lang="en-IN"/>
              <a:t>•</a:t>
            </a:r>
            <a:r>
              <a:rPr lang="en-IN">
                <a:latin typeface="Calibri"/>
                <a:ea typeface="Calibri"/>
                <a:cs typeface="Calibri"/>
                <a:sym typeface="Calibri"/>
              </a:rPr>
              <a:t>Assumes there is a real effect.</a:t>
            </a:r>
            <a:endParaRPr>
              <a:latin typeface="Calibri"/>
              <a:ea typeface="Calibri"/>
              <a:cs typeface="Calibri"/>
              <a:sym typeface="Calibri"/>
            </a:endParaRPr>
          </a:p>
          <a:p>
            <a:pPr indent="0" lvl="0" marL="0" rtl="0" algn="l">
              <a:lnSpc>
                <a:spcPct val="115000"/>
              </a:lnSpc>
              <a:spcBef>
                <a:spcPts val="800"/>
              </a:spcBef>
              <a:spcAft>
                <a:spcPts val="0"/>
              </a:spcAft>
              <a:buNone/>
            </a:pPr>
            <a:r>
              <a:rPr lang="en-IN"/>
              <a:t>•</a:t>
            </a:r>
            <a:r>
              <a:rPr lang="en-IN">
                <a:latin typeface="Calibri"/>
                <a:ea typeface="Calibri"/>
                <a:cs typeface="Calibri"/>
                <a:sym typeface="Calibri"/>
              </a:rPr>
              <a:t>Represents what we want to prove.</a:t>
            </a:r>
            <a:endParaRPr>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IN">
                <a:latin typeface="Calibri"/>
                <a:ea typeface="Calibri"/>
                <a:cs typeface="Calibri"/>
                <a:sym typeface="Calibri"/>
              </a:rPr>
              <a:t>.</a:t>
            </a:r>
            <a:endParaRPr>
              <a:latin typeface="Calibri"/>
              <a:ea typeface="Calibri"/>
              <a:cs typeface="Calibri"/>
              <a:sym typeface="Calibri"/>
            </a:endParaRPr>
          </a:p>
          <a:p>
            <a:pPr indent="0" lvl="0" marL="0" rtl="0" algn="l">
              <a:spcBef>
                <a:spcPts val="1000"/>
              </a:spcBef>
              <a:spcAft>
                <a:spcPts val="0"/>
              </a:spcAft>
              <a:buNone/>
            </a:pPr>
            <a:r>
              <a:t/>
            </a:r>
            <a:endParaRPr/>
          </a:p>
        </p:txBody>
      </p:sp>
      <p:sp>
        <p:nvSpPr>
          <p:cNvPr id="397" name="Google Shape;397;g3de88c29bbf_0_1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de88c29bbf_0_2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04" name="Google Shape;404;g3de88c29bbf_0_2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05" name="Google Shape;405;g3de88c29bbf_0_2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06" name="Google Shape;406;g3de88c29bbf_0_28"/>
          <p:cNvPicPr preferRelativeResize="0"/>
          <p:nvPr/>
        </p:nvPicPr>
        <p:blipFill>
          <a:blip r:embed="rId3">
            <a:alphaModFix/>
          </a:blip>
          <a:stretch>
            <a:fillRect/>
          </a:stretch>
        </p:blipFill>
        <p:spPr>
          <a:xfrm>
            <a:off x="838200" y="295275"/>
            <a:ext cx="10515601" cy="58029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de88c29bbf_0_5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13" name="Google Shape;413;g3de88c29bbf_0_52"/>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14" name="Google Shape;414;g3de88c29bbf_0_5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15" name="Google Shape;415;g3de88c29bbf_0_52"/>
          <p:cNvPicPr preferRelativeResize="0"/>
          <p:nvPr/>
        </p:nvPicPr>
        <p:blipFill>
          <a:blip r:embed="rId3">
            <a:alphaModFix/>
          </a:blip>
          <a:stretch>
            <a:fillRect/>
          </a:stretch>
        </p:blipFill>
        <p:spPr>
          <a:xfrm>
            <a:off x="723900" y="746175"/>
            <a:ext cx="10515600" cy="61118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de88c29bbf_0_3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22" name="Google Shape;422;g3de88c29bbf_0_3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23" name="Google Shape;423;g3de88c29bbf_0_3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24" name="Google Shape;424;g3de88c29bbf_0_36"/>
          <p:cNvPicPr preferRelativeResize="0"/>
          <p:nvPr/>
        </p:nvPicPr>
        <p:blipFill>
          <a:blip r:embed="rId3">
            <a:alphaModFix/>
          </a:blip>
          <a:stretch>
            <a:fillRect/>
          </a:stretch>
        </p:blipFill>
        <p:spPr>
          <a:xfrm>
            <a:off x="838200" y="549050"/>
            <a:ext cx="10515600" cy="5320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de88c29bbf_0_4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31" name="Google Shape;431;g3de88c29bbf_0_44"/>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32" name="Google Shape;432;g3de88c29bbf_0_4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33" name="Google Shape;433;g3de88c29bbf_0_44"/>
          <p:cNvPicPr preferRelativeResize="0"/>
          <p:nvPr/>
        </p:nvPicPr>
        <p:blipFill>
          <a:blip r:embed="rId3">
            <a:alphaModFix/>
          </a:blip>
          <a:stretch>
            <a:fillRect/>
          </a:stretch>
        </p:blipFill>
        <p:spPr>
          <a:xfrm>
            <a:off x="838200" y="549050"/>
            <a:ext cx="10515601" cy="5320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de88c29bbf_0_6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40" name="Google Shape;440;g3de88c29bbf_0_6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41" name="Google Shape;441;g3de88c29bbf_0_6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42" name="Google Shape;442;g3de88c29bbf_0_60"/>
          <p:cNvPicPr preferRelativeResize="0"/>
          <p:nvPr/>
        </p:nvPicPr>
        <p:blipFill>
          <a:blip r:embed="rId3">
            <a:alphaModFix/>
          </a:blip>
          <a:stretch>
            <a:fillRect/>
          </a:stretch>
        </p:blipFill>
        <p:spPr>
          <a:xfrm>
            <a:off x="838200" y="549050"/>
            <a:ext cx="10515602" cy="5800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de88c29bbf_0_6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Example: A new drug is tested.</a:t>
            </a:r>
            <a:endParaRPr/>
          </a:p>
        </p:txBody>
      </p:sp>
      <p:sp>
        <p:nvSpPr>
          <p:cNvPr id="449" name="Google Shape;449;g3de88c29bbf_0_68"/>
          <p:cNvSpPr txBox="1"/>
          <p:nvPr>
            <p:ph idx="1" type="body"/>
          </p:nvPr>
        </p:nvSpPr>
        <p:spPr>
          <a:xfrm>
            <a:off x="838200" y="1518051"/>
            <a:ext cx="10515600" cy="4832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IN" sz="2400"/>
              <a:t>One-Tailed Test</a:t>
            </a:r>
            <a:endParaRPr b="1" sz="2400"/>
          </a:p>
          <a:p>
            <a:pPr indent="0" lvl="0" marL="0" rtl="0" algn="l">
              <a:lnSpc>
                <a:spcPct val="115000"/>
              </a:lnSpc>
              <a:spcBef>
                <a:spcPts val="1200"/>
              </a:spcBef>
              <a:spcAft>
                <a:spcPts val="0"/>
              </a:spcAft>
              <a:buClr>
                <a:schemeClr val="dk1"/>
              </a:buClr>
              <a:buSzPts val="1100"/>
              <a:buFont typeface="Arial"/>
              <a:buNone/>
            </a:pPr>
            <a:r>
              <a:rPr lang="en-IN" sz="2400"/>
              <a:t>👉 “Does the drug </a:t>
            </a:r>
            <a:r>
              <a:rPr b="1" lang="en-IN" sz="2400"/>
              <a:t>reduce blood pressure</a:t>
            </a:r>
            <a:r>
              <a:rPr lang="en-IN" sz="2400"/>
              <a:t>?”</a:t>
            </a:r>
            <a:endParaRPr sz="2400"/>
          </a:p>
          <a:p>
            <a:pPr indent="-381000" lvl="0" marL="457200" rtl="0" algn="l">
              <a:lnSpc>
                <a:spcPct val="115000"/>
              </a:lnSpc>
              <a:spcBef>
                <a:spcPts val="1200"/>
              </a:spcBef>
              <a:spcAft>
                <a:spcPts val="0"/>
              </a:spcAft>
              <a:buSzPts val="2400"/>
              <a:buChar char="●"/>
            </a:pPr>
            <a:r>
              <a:rPr lang="en-IN" sz="2400"/>
              <a:t>Only checking </a:t>
            </a:r>
            <a:r>
              <a:rPr b="1" lang="en-IN" sz="2400"/>
              <a:t>reduction</a:t>
            </a:r>
            <a:endParaRPr b="1" sz="2400"/>
          </a:p>
          <a:p>
            <a:pPr indent="-381000" lvl="0" marL="457200" rtl="0" algn="l">
              <a:lnSpc>
                <a:spcPct val="115000"/>
              </a:lnSpc>
              <a:spcBef>
                <a:spcPts val="0"/>
              </a:spcBef>
              <a:spcAft>
                <a:spcPts val="0"/>
              </a:spcAft>
              <a:buSzPts val="2400"/>
              <a:buChar char="●"/>
            </a:pPr>
            <a:r>
              <a:rPr lang="en-IN" sz="2400"/>
              <a:t>H₀: No reduction</a:t>
            </a:r>
            <a:endParaRPr sz="2400"/>
          </a:p>
          <a:p>
            <a:pPr indent="-381000" lvl="0" marL="457200" rtl="0" algn="l">
              <a:lnSpc>
                <a:spcPct val="115000"/>
              </a:lnSpc>
              <a:spcBef>
                <a:spcPts val="0"/>
              </a:spcBef>
              <a:spcAft>
                <a:spcPts val="0"/>
              </a:spcAft>
              <a:buSzPts val="2400"/>
              <a:buChar char="●"/>
            </a:pPr>
            <a:r>
              <a:rPr lang="en-IN" sz="2400"/>
              <a:t>H₁: Blood pressure </a:t>
            </a:r>
            <a:r>
              <a:rPr b="1" lang="en-IN" sz="2400"/>
              <a:t>decreases</a:t>
            </a:r>
            <a:endParaRPr b="1" sz="2400"/>
          </a:p>
          <a:p>
            <a:pPr indent="0" lvl="0" marL="0" rtl="0" algn="l">
              <a:spcBef>
                <a:spcPts val="1200"/>
              </a:spcBef>
              <a:spcAft>
                <a:spcPts val="0"/>
              </a:spcAft>
              <a:buNone/>
            </a:pPr>
            <a:r>
              <a:t/>
            </a:r>
            <a:endParaRPr/>
          </a:p>
        </p:txBody>
      </p:sp>
      <p:sp>
        <p:nvSpPr>
          <p:cNvPr id="450" name="Google Shape;450;g3de88c29bbf_0_6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51" name="Google Shape;451;g3de88c29bbf_0_68"/>
          <p:cNvPicPr preferRelativeResize="0"/>
          <p:nvPr/>
        </p:nvPicPr>
        <p:blipFill>
          <a:blip r:embed="rId3">
            <a:alphaModFix/>
          </a:blip>
          <a:stretch>
            <a:fillRect/>
          </a:stretch>
        </p:blipFill>
        <p:spPr>
          <a:xfrm>
            <a:off x="5908325" y="2984700"/>
            <a:ext cx="5973900" cy="31819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de88c29bbf_0_7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Example: Website A/B Testing</a:t>
            </a:r>
            <a:endParaRPr/>
          </a:p>
        </p:txBody>
      </p:sp>
      <p:sp>
        <p:nvSpPr>
          <p:cNvPr id="458" name="Google Shape;458;g3de88c29bbf_0_79"/>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IN" sz="2400"/>
              <a:t>Company tests a new webpage design.</a:t>
            </a:r>
            <a:endParaRPr sz="2400"/>
          </a:p>
          <a:p>
            <a:pPr indent="0" lvl="0" marL="0" rtl="0" algn="l">
              <a:spcBef>
                <a:spcPts val="1000"/>
              </a:spcBef>
              <a:spcAft>
                <a:spcPts val="0"/>
              </a:spcAft>
              <a:buNone/>
            </a:pPr>
            <a:r>
              <a:t/>
            </a:r>
            <a:endParaRPr sz="2400"/>
          </a:p>
          <a:p>
            <a:pPr indent="0" lvl="0" marL="0" rtl="0" algn="l">
              <a:lnSpc>
                <a:spcPct val="115000"/>
              </a:lnSpc>
              <a:spcBef>
                <a:spcPts val="1400"/>
              </a:spcBef>
              <a:spcAft>
                <a:spcPts val="0"/>
              </a:spcAft>
              <a:buClr>
                <a:schemeClr val="dk1"/>
              </a:buClr>
              <a:buSzPts val="1100"/>
              <a:buFont typeface="Arial"/>
              <a:buNone/>
            </a:pPr>
            <a:r>
              <a:rPr b="1" lang="en-IN" sz="2400"/>
              <a:t>One-Tailed Test</a:t>
            </a:r>
            <a:endParaRPr b="1" sz="2400"/>
          </a:p>
          <a:p>
            <a:pPr indent="0" lvl="0" marL="0" rtl="0" algn="l">
              <a:lnSpc>
                <a:spcPct val="115000"/>
              </a:lnSpc>
              <a:spcBef>
                <a:spcPts val="1200"/>
              </a:spcBef>
              <a:spcAft>
                <a:spcPts val="0"/>
              </a:spcAft>
              <a:buClr>
                <a:schemeClr val="dk1"/>
              </a:buClr>
              <a:buSzPts val="1100"/>
              <a:buFont typeface="Arial"/>
              <a:buNone/>
            </a:pPr>
            <a:r>
              <a:rPr lang="en-IN" sz="2400"/>
              <a:t>👉 “Does the new design </a:t>
            </a:r>
            <a:r>
              <a:rPr b="1" lang="en-IN" sz="2400"/>
              <a:t>increase conversion rate</a:t>
            </a:r>
            <a:r>
              <a:rPr lang="en-IN" sz="2400"/>
              <a:t>?”</a:t>
            </a:r>
            <a:endParaRPr sz="2400"/>
          </a:p>
          <a:p>
            <a:pPr indent="-381000" lvl="0" marL="457200" rtl="0" algn="l">
              <a:lnSpc>
                <a:spcPct val="115000"/>
              </a:lnSpc>
              <a:spcBef>
                <a:spcPts val="1200"/>
              </a:spcBef>
              <a:spcAft>
                <a:spcPts val="0"/>
              </a:spcAft>
              <a:buSzPts val="2400"/>
              <a:buChar char="●"/>
            </a:pPr>
            <a:r>
              <a:rPr lang="en-IN" sz="2400"/>
              <a:t>Only improvement matters</a:t>
            </a:r>
            <a:endParaRPr sz="2400"/>
          </a:p>
          <a:p>
            <a:pPr indent="0" lvl="0" marL="0" rtl="0" algn="l">
              <a:lnSpc>
                <a:spcPct val="115000"/>
              </a:lnSpc>
              <a:spcBef>
                <a:spcPts val="1400"/>
              </a:spcBef>
              <a:spcAft>
                <a:spcPts val="0"/>
              </a:spcAft>
              <a:buClr>
                <a:schemeClr val="dk1"/>
              </a:buClr>
              <a:buSzPts val="1100"/>
              <a:buFont typeface="Arial"/>
              <a:buNone/>
            </a:pPr>
            <a:r>
              <a:rPr b="1" lang="en-IN" sz="2400"/>
              <a:t>Two-Tailed Test</a:t>
            </a:r>
            <a:endParaRPr b="1" sz="2400"/>
          </a:p>
          <a:p>
            <a:pPr indent="0" lvl="0" marL="0" rtl="0" algn="l">
              <a:lnSpc>
                <a:spcPct val="115000"/>
              </a:lnSpc>
              <a:spcBef>
                <a:spcPts val="1200"/>
              </a:spcBef>
              <a:spcAft>
                <a:spcPts val="0"/>
              </a:spcAft>
              <a:buClr>
                <a:schemeClr val="dk1"/>
              </a:buClr>
              <a:buSzPts val="1100"/>
              <a:buFont typeface="Arial"/>
              <a:buNone/>
            </a:pPr>
            <a:r>
              <a:rPr lang="en-IN" sz="2400"/>
              <a:t>👉 “Does the new design </a:t>
            </a:r>
            <a:r>
              <a:rPr b="1" lang="en-IN" sz="2400"/>
              <a:t>change conversion rate</a:t>
            </a:r>
            <a:r>
              <a:rPr lang="en-IN" sz="2400"/>
              <a:t>?”</a:t>
            </a:r>
            <a:endParaRPr sz="2400"/>
          </a:p>
          <a:p>
            <a:pPr indent="-381000" lvl="0" marL="457200" rtl="0" algn="l">
              <a:lnSpc>
                <a:spcPct val="115000"/>
              </a:lnSpc>
              <a:spcBef>
                <a:spcPts val="1200"/>
              </a:spcBef>
              <a:spcAft>
                <a:spcPts val="0"/>
              </a:spcAft>
              <a:buSzPts val="2400"/>
              <a:buChar char="●"/>
            </a:pPr>
            <a:r>
              <a:rPr lang="en-IN" sz="2400"/>
              <a:t>Could increase OR decrease </a:t>
            </a:r>
            <a:endParaRPr sz="2400"/>
          </a:p>
          <a:p>
            <a:pPr indent="0" lvl="0" marL="0" rtl="0" algn="l">
              <a:spcBef>
                <a:spcPts val="1200"/>
              </a:spcBef>
              <a:spcAft>
                <a:spcPts val="0"/>
              </a:spcAft>
              <a:buNone/>
            </a:pPr>
            <a:r>
              <a:t/>
            </a:r>
            <a:endParaRPr/>
          </a:p>
        </p:txBody>
      </p:sp>
      <p:sp>
        <p:nvSpPr>
          <p:cNvPr id="459" name="Google Shape;459;g3de88c29bbf_0_7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de88c29bbf_0_8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Example: Product Weight Check</a:t>
            </a:r>
            <a:endParaRPr/>
          </a:p>
        </p:txBody>
      </p:sp>
      <p:sp>
        <p:nvSpPr>
          <p:cNvPr id="466" name="Google Shape;466;g3de88c29bbf_0_8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n-IN" sz="2400"/>
              <a:t>A factory produces packets labeled </a:t>
            </a:r>
            <a:r>
              <a:rPr b="1" lang="en-IN" sz="2400"/>
              <a:t>500g</a:t>
            </a:r>
            <a:endParaRPr b="1" sz="2400"/>
          </a:p>
          <a:p>
            <a:pPr indent="0" lvl="0" marL="0" rtl="0" algn="l">
              <a:lnSpc>
                <a:spcPct val="115000"/>
              </a:lnSpc>
              <a:spcBef>
                <a:spcPts val="1400"/>
              </a:spcBef>
              <a:spcAft>
                <a:spcPts val="0"/>
              </a:spcAft>
              <a:buClr>
                <a:schemeClr val="dk1"/>
              </a:buClr>
              <a:buSzPts val="1100"/>
              <a:buFont typeface="Arial"/>
              <a:buNone/>
            </a:pPr>
            <a:r>
              <a:rPr b="1" lang="en-IN" sz="2400"/>
              <a:t>One-Tailed Test</a:t>
            </a:r>
            <a:endParaRPr b="1" sz="2400"/>
          </a:p>
          <a:p>
            <a:pPr indent="0" lvl="0" marL="0" rtl="0" algn="l">
              <a:lnSpc>
                <a:spcPct val="115000"/>
              </a:lnSpc>
              <a:spcBef>
                <a:spcPts val="1200"/>
              </a:spcBef>
              <a:spcAft>
                <a:spcPts val="0"/>
              </a:spcAft>
              <a:buClr>
                <a:schemeClr val="dk1"/>
              </a:buClr>
              <a:buSzPts val="1100"/>
              <a:buFont typeface="Arial"/>
              <a:buNone/>
            </a:pPr>
            <a:r>
              <a:rPr lang="en-IN" sz="2400"/>
              <a:t>👉 “Are packets </a:t>
            </a:r>
            <a:r>
              <a:rPr b="1" lang="en-IN" sz="2400"/>
              <a:t>underweight</a:t>
            </a:r>
            <a:r>
              <a:rPr lang="en-IN" sz="2400"/>
              <a:t>?”</a:t>
            </a:r>
            <a:endParaRPr sz="2400"/>
          </a:p>
          <a:p>
            <a:pPr indent="-381000" lvl="0" marL="457200" rtl="0" algn="l">
              <a:lnSpc>
                <a:spcPct val="115000"/>
              </a:lnSpc>
              <a:spcBef>
                <a:spcPts val="1200"/>
              </a:spcBef>
              <a:spcAft>
                <a:spcPts val="0"/>
              </a:spcAft>
              <a:buSzPts val="2400"/>
              <a:buChar char="●"/>
            </a:pPr>
            <a:r>
              <a:rPr lang="en-IN" sz="2400"/>
              <a:t>Only checking if weight is </a:t>
            </a:r>
            <a:r>
              <a:rPr b="1" lang="en-IN" sz="2400"/>
              <a:t>less than 500g</a:t>
            </a:r>
            <a:endParaRPr b="1" sz="2400"/>
          </a:p>
          <a:p>
            <a:pPr indent="0" lvl="0" marL="0" rtl="0" algn="l">
              <a:lnSpc>
                <a:spcPct val="115000"/>
              </a:lnSpc>
              <a:spcBef>
                <a:spcPts val="1200"/>
              </a:spcBef>
              <a:spcAft>
                <a:spcPts val="0"/>
              </a:spcAft>
              <a:buClr>
                <a:schemeClr val="dk1"/>
              </a:buClr>
              <a:buSzPts val="1100"/>
              <a:buFont typeface="Arial"/>
              <a:buNone/>
            </a:pPr>
            <a:r>
              <a:t/>
            </a:r>
            <a:endParaRPr b="1" sz="2400"/>
          </a:p>
          <a:p>
            <a:pPr indent="0" lvl="0" marL="0" rtl="0" algn="l">
              <a:lnSpc>
                <a:spcPct val="115000"/>
              </a:lnSpc>
              <a:spcBef>
                <a:spcPts val="1400"/>
              </a:spcBef>
              <a:spcAft>
                <a:spcPts val="0"/>
              </a:spcAft>
              <a:buClr>
                <a:schemeClr val="dk1"/>
              </a:buClr>
              <a:buSzPts val="1100"/>
              <a:buFont typeface="Arial"/>
              <a:buNone/>
            </a:pPr>
            <a:r>
              <a:rPr b="1" lang="en-IN" sz="2400"/>
              <a:t>Two-Tailed Test</a:t>
            </a:r>
            <a:endParaRPr b="1" sz="2400"/>
          </a:p>
          <a:p>
            <a:pPr indent="0" lvl="0" marL="0" rtl="0" algn="l">
              <a:lnSpc>
                <a:spcPct val="115000"/>
              </a:lnSpc>
              <a:spcBef>
                <a:spcPts val="1200"/>
              </a:spcBef>
              <a:spcAft>
                <a:spcPts val="0"/>
              </a:spcAft>
              <a:buClr>
                <a:schemeClr val="dk1"/>
              </a:buClr>
              <a:buSzPts val="1100"/>
              <a:buFont typeface="Arial"/>
              <a:buNone/>
            </a:pPr>
            <a:r>
              <a:rPr lang="en-IN" sz="2400"/>
              <a:t>👉 “Are packets </a:t>
            </a:r>
            <a:r>
              <a:rPr b="1" lang="en-IN" sz="2400"/>
              <a:t>different from 500g</a:t>
            </a:r>
            <a:r>
              <a:rPr lang="en-IN" sz="2400"/>
              <a:t>?”</a:t>
            </a:r>
            <a:endParaRPr sz="2400"/>
          </a:p>
          <a:p>
            <a:pPr indent="-381000" lvl="0" marL="457200" rtl="0" algn="l">
              <a:lnSpc>
                <a:spcPct val="115000"/>
              </a:lnSpc>
              <a:spcBef>
                <a:spcPts val="1200"/>
              </a:spcBef>
              <a:spcAft>
                <a:spcPts val="0"/>
              </a:spcAft>
              <a:buSzPts val="2400"/>
              <a:buChar char="●"/>
            </a:pPr>
            <a:r>
              <a:rPr lang="en-IN" sz="2400"/>
              <a:t>Could be </a:t>
            </a:r>
            <a:r>
              <a:rPr b="1" lang="en-IN" sz="2400"/>
              <a:t>underweight OR overweight</a:t>
            </a:r>
            <a:endParaRPr/>
          </a:p>
        </p:txBody>
      </p:sp>
      <p:sp>
        <p:nvSpPr>
          <p:cNvPr id="467" name="Google Shape;467;g3de88c29bbf_0_8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de88c29bbf_0_9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Iris Dataset</a:t>
            </a:r>
            <a:endParaRPr/>
          </a:p>
        </p:txBody>
      </p:sp>
      <p:sp>
        <p:nvSpPr>
          <p:cNvPr id="474" name="Google Shape;474;g3de88c29bbf_0_9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None/>
            </a:pPr>
            <a:r>
              <a:rPr lang="en-IN" sz="2400"/>
              <a:t>The </a:t>
            </a:r>
            <a:r>
              <a:rPr b="1" lang="en-IN" sz="2400"/>
              <a:t>Iris dataset</a:t>
            </a:r>
            <a:r>
              <a:rPr lang="en-IN" sz="2400"/>
              <a:t> contains measurements of </a:t>
            </a:r>
            <a:r>
              <a:rPr b="1" lang="en-IN" sz="2400"/>
              <a:t>iris flowers</a:t>
            </a:r>
            <a:r>
              <a:rPr lang="en-IN" sz="2400"/>
              <a:t> from three different species.</a:t>
            </a:r>
            <a:endParaRPr sz="2400"/>
          </a:p>
          <a:p>
            <a:pPr indent="0" lvl="0" marL="0" rtl="0" algn="l">
              <a:lnSpc>
                <a:spcPct val="115000"/>
              </a:lnSpc>
              <a:spcBef>
                <a:spcPts val="1200"/>
              </a:spcBef>
              <a:spcAft>
                <a:spcPts val="0"/>
              </a:spcAft>
              <a:buNone/>
            </a:pPr>
            <a:r>
              <a:rPr lang="en-IN" sz="2400"/>
              <a:t>It was introduced by the statistician </a:t>
            </a:r>
            <a:r>
              <a:rPr b="1" lang="en-IN" sz="2400"/>
              <a:t>Ronald A. Fisher</a:t>
            </a:r>
            <a:r>
              <a:rPr lang="en-IN" sz="2400"/>
              <a:t> in 1936.</a:t>
            </a:r>
            <a:endParaRPr sz="2400"/>
          </a:p>
          <a:p>
            <a:pPr indent="0" lvl="0" marL="0" rtl="0" algn="l">
              <a:lnSpc>
                <a:spcPct val="115000"/>
              </a:lnSpc>
              <a:spcBef>
                <a:spcPts val="1200"/>
              </a:spcBef>
              <a:spcAft>
                <a:spcPts val="0"/>
              </a:spcAft>
              <a:buNone/>
            </a:pPr>
            <a:r>
              <a:rPr lang="en-IN" sz="2400"/>
              <a:t>3 species:</a:t>
            </a:r>
            <a:endParaRPr sz="2400"/>
          </a:p>
          <a:p>
            <a:pPr indent="-381000" lvl="0" marL="457200" rtl="0" algn="l">
              <a:lnSpc>
                <a:spcPct val="115000"/>
              </a:lnSpc>
              <a:spcBef>
                <a:spcPts val="1200"/>
              </a:spcBef>
              <a:spcAft>
                <a:spcPts val="0"/>
              </a:spcAft>
              <a:buSzPts val="2400"/>
              <a:buChar char="●"/>
            </a:pPr>
            <a:r>
              <a:rPr b="1" lang="en-IN" sz="2400"/>
              <a:t>Iris setosa</a:t>
            </a:r>
            <a:endParaRPr b="1" sz="2400"/>
          </a:p>
          <a:p>
            <a:pPr indent="-381000" lvl="0" marL="457200" rtl="0" algn="l">
              <a:lnSpc>
                <a:spcPct val="115000"/>
              </a:lnSpc>
              <a:spcBef>
                <a:spcPts val="0"/>
              </a:spcBef>
              <a:spcAft>
                <a:spcPts val="0"/>
              </a:spcAft>
              <a:buSzPts val="2400"/>
              <a:buChar char="●"/>
            </a:pPr>
            <a:r>
              <a:rPr b="1" lang="en-IN" sz="2400"/>
              <a:t>Iris versicolor</a:t>
            </a:r>
            <a:endParaRPr b="1" sz="2400"/>
          </a:p>
          <a:p>
            <a:pPr indent="-381000" lvl="0" marL="457200" rtl="0" algn="l">
              <a:lnSpc>
                <a:spcPct val="115000"/>
              </a:lnSpc>
              <a:spcBef>
                <a:spcPts val="0"/>
              </a:spcBef>
              <a:spcAft>
                <a:spcPts val="0"/>
              </a:spcAft>
              <a:buSzPts val="2400"/>
              <a:buChar char="●"/>
            </a:pPr>
            <a:r>
              <a:rPr b="1" lang="en-IN" sz="2400"/>
              <a:t>Iris virginica</a:t>
            </a:r>
            <a:endParaRPr b="1" sz="2400"/>
          </a:p>
          <a:p>
            <a:pPr indent="0" lvl="0" marL="0" rtl="0" algn="l">
              <a:lnSpc>
                <a:spcPct val="115000"/>
              </a:lnSpc>
              <a:spcBef>
                <a:spcPts val="1200"/>
              </a:spcBef>
              <a:spcAft>
                <a:spcPts val="0"/>
              </a:spcAft>
              <a:buNone/>
            </a:pPr>
            <a:r>
              <a:t/>
            </a:r>
            <a:endParaRPr sz="2400"/>
          </a:p>
          <a:p>
            <a:pPr indent="0" lvl="0" marL="0" rtl="0" algn="l">
              <a:spcBef>
                <a:spcPts val="1200"/>
              </a:spcBef>
              <a:spcAft>
                <a:spcPts val="0"/>
              </a:spcAft>
              <a:buNone/>
            </a:pPr>
            <a:r>
              <a:t/>
            </a:r>
            <a:endParaRPr/>
          </a:p>
        </p:txBody>
      </p:sp>
      <p:sp>
        <p:nvSpPr>
          <p:cNvPr id="475" name="Google Shape;475;g3de88c29bbf_0_9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de88c29bbf_0_12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Three species of Iris Flower</a:t>
            </a:r>
            <a:endParaRPr/>
          </a:p>
        </p:txBody>
      </p:sp>
      <p:sp>
        <p:nvSpPr>
          <p:cNvPr id="482" name="Google Shape;482;g3de88c29bbf_0_12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83" name="Google Shape;483;g3de88c29bbf_0_12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84" name="Google Shape;484;g3de88c29bbf_0_127"/>
          <p:cNvPicPr preferRelativeResize="0"/>
          <p:nvPr/>
        </p:nvPicPr>
        <p:blipFill>
          <a:blip r:embed="rId3">
            <a:alphaModFix/>
          </a:blip>
          <a:stretch>
            <a:fillRect/>
          </a:stretch>
        </p:blipFill>
        <p:spPr>
          <a:xfrm>
            <a:off x="838200" y="1518050"/>
            <a:ext cx="10515601" cy="40195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de88c29bbf_0_11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Iris Dataset</a:t>
            </a:r>
            <a:endParaRPr/>
          </a:p>
        </p:txBody>
      </p:sp>
      <p:sp>
        <p:nvSpPr>
          <p:cNvPr id="491" name="Google Shape;491;g3de88c29bbf_0_11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77500" lnSpcReduction="10000"/>
          </a:bodyPr>
          <a:lstStyle/>
          <a:p>
            <a:pPr indent="0" lvl="0" marL="0" rtl="0" algn="l">
              <a:lnSpc>
                <a:spcPct val="115000"/>
              </a:lnSpc>
              <a:spcBef>
                <a:spcPts val="1200"/>
              </a:spcBef>
              <a:spcAft>
                <a:spcPts val="0"/>
              </a:spcAft>
              <a:buClr>
                <a:schemeClr val="dk1"/>
              </a:buClr>
              <a:buSzPct val="45833"/>
              <a:buFont typeface="Arial"/>
              <a:buNone/>
            </a:pPr>
            <a:r>
              <a:rPr lang="en-IN" sz="2400"/>
              <a:t>Iris Data set contains information about </a:t>
            </a:r>
            <a:r>
              <a:rPr b="1" lang="en-IN" sz="2400"/>
              <a:t>3 different species of Iris plant, with 50 instances for each</a:t>
            </a:r>
            <a:r>
              <a:rPr lang="en-IN" sz="2400"/>
              <a:t> of the species. It is a </a:t>
            </a:r>
            <a:r>
              <a:rPr b="1" lang="en-IN" sz="2400"/>
              <a:t>multivariate dataset</a:t>
            </a:r>
            <a:r>
              <a:rPr lang="en-IN" sz="2400"/>
              <a:t> normally used for the classification tasks using input numeric features and multiclass output.</a:t>
            </a:r>
            <a:endParaRPr sz="2400"/>
          </a:p>
          <a:p>
            <a:pPr indent="0" lvl="0" marL="0" rtl="0" algn="l">
              <a:lnSpc>
                <a:spcPct val="115000"/>
              </a:lnSpc>
              <a:spcBef>
                <a:spcPts val="1200"/>
              </a:spcBef>
              <a:spcAft>
                <a:spcPts val="0"/>
              </a:spcAft>
              <a:buNone/>
            </a:pPr>
            <a:r>
              <a:rPr lang="en-IN" sz="2400"/>
              <a:t>This dataset is readily available, and contains 4 input attributes for each instance. We will use these continuous attributes to develop a classification model for 3 species of Iris plant.</a:t>
            </a:r>
            <a:endParaRPr sz="2400"/>
          </a:p>
          <a:p>
            <a:pPr indent="0" lvl="0" marL="0" rtl="0" algn="l">
              <a:lnSpc>
                <a:spcPct val="115000"/>
              </a:lnSpc>
              <a:spcBef>
                <a:spcPts val="1400"/>
              </a:spcBef>
              <a:spcAft>
                <a:spcPts val="0"/>
              </a:spcAft>
              <a:buNone/>
            </a:pPr>
            <a:r>
              <a:rPr b="1" lang="en-IN" sz="2400"/>
              <a:t>📊 Features (Measurements)</a:t>
            </a:r>
            <a:endParaRPr b="1" sz="2400"/>
          </a:p>
          <a:p>
            <a:pPr indent="-346710" lvl="0" marL="457200" rtl="0" algn="l">
              <a:lnSpc>
                <a:spcPct val="115000"/>
              </a:lnSpc>
              <a:spcBef>
                <a:spcPts val="1200"/>
              </a:spcBef>
              <a:spcAft>
                <a:spcPts val="0"/>
              </a:spcAft>
              <a:buSzPct val="100000"/>
              <a:buAutoNum type="arabicPeriod"/>
            </a:pPr>
            <a:r>
              <a:rPr lang="en-IN" sz="2400"/>
              <a:t>Sepal Length</a:t>
            </a:r>
            <a:endParaRPr sz="2400"/>
          </a:p>
          <a:p>
            <a:pPr indent="-346710" lvl="0" marL="457200" rtl="0" algn="l">
              <a:lnSpc>
                <a:spcPct val="115000"/>
              </a:lnSpc>
              <a:spcBef>
                <a:spcPts val="0"/>
              </a:spcBef>
              <a:spcAft>
                <a:spcPts val="0"/>
              </a:spcAft>
              <a:buSzPct val="100000"/>
              <a:buAutoNum type="arabicPeriod"/>
            </a:pPr>
            <a:r>
              <a:rPr lang="en-IN" sz="2400"/>
              <a:t>Sepal Width</a:t>
            </a:r>
            <a:endParaRPr sz="2400"/>
          </a:p>
          <a:p>
            <a:pPr indent="-346710" lvl="0" marL="457200" rtl="0" algn="l">
              <a:lnSpc>
                <a:spcPct val="115000"/>
              </a:lnSpc>
              <a:spcBef>
                <a:spcPts val="0"/>
              </a:spcBef>
              <a:spcAft>
                <a:spcPts val="0"/>
              </a:spcAft>
              <a:buSzPct val="100000"/>
              <a:buAutoNum type="arabicPeriod"/>
            </a:pPr>
            <a:r>
              <a:rPr lang="en-IN" sz="2400"/>
              <a:t>Petal Length</a:t>
            </a:r>
            <a:endParaRPr sz="2400"/>
          </a:p>
          <a:p>
            <a:pPr indent="-346710" lvl="0" marL="457200" rtl="0" algn="l">
              <a:lnSpc>
                <a:spcPct val="115000"/>
              </a:lnSpc>
              <a:spcBef>
                <a:spcPts val="0"/>
              </a:spcBef>
              <a:spcAft>
                <a:spcPts val="0"/>
              </a:spcAft>
              <a:buSzPct val="100000"/>
              <a:buAutoNum type="arabicPeriod"/>
            </a:pPr>
            <a:r>
              <a:rPr lang="en-IN" sz="2400"/>
              <a:t>Petal Width</a:t>
            </a:r>
            <a:endParaRPr sz="2400"/>
          </a:p>
          <a:p>
            <a:pPr indent="0" lvl="0" marL="0" rtl="0" algn="l">
              <a:spcBef>
                <a:spcPts val="1200"/>
              </a:spcBef>
              <a:spcAft>
                <a:spcPts val="0"/>
              </a:spcAft>
              <a:buNone/>
            </a:pPr>
            <a:r>
              <a:rPr lang="en-IN" sz="2108">
                <a:highlight>
                  <a:srgbClr val="FFFFFF"/>
                </a:highlight>
              </a:rPr>
              <a:t>In order to classify three IRIS flowers, common features such as petal length, petal width, sepal length, and sepal width are used. </a:t>
            </a:r>
            <a:endParaRPr/>
          </a:p>
        </p:txBody>
      </p:sp>
      <p:sp>
        <p:nvSpPr>
          <p:cNvPr id="492" name="Google Shape;492;g3de88c29bbf_0_11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de88c29bbf_0_10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contd…</a:t>
            </a:r>
            <a:endParaRPr/>
          </a:p>
        </p:txBody>
      </p:sp>
      <p:sp>
        <p:nvSpPr>
          <p:cNvPr id="499" name="Google Shape;499;g3de88c29bbf_0_10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This data-set contains</a:t>
            </a:r>
            <a:endParaRPr sz="2400">
              <a:highlight>
                <a:srgbClr val="FFFFFF"/>
              </a:highlight>
            </a:endParaRPr>
          </a:p>
          <a:p>
            <a:pPr indent="-381000" lvl="0" marL="457200" rtl="0" algn="l">
              <a:lnSpc>
                <a:spcPct val="150000"/>
              </a:lnSpc>
              <a:spcBef>
                <a:spcPts val="0"/>
              </a:spcBef>
              <a:spcAft>
                <a:spcPts val="0"/>
              </a:spcAft>
              <a:buSzPts val="2400"/>
              <a:buChar char="●"/>
            </a:pPr>
            <a:r>
              <a:rPr lang="en-IN" sz="2400">
                <a:highlight>
                  <a:srgbClr val="FFFFFF"/>
                </a:highlight>
              </a:rPr>
              <a:t>Training data set (IRISTraining.csv) used to train a neural network</a:t>
            </a:r>
            <a:endParaRPr sz="2400">
              <a:highlight>
                <a:srgbClr val="FFFFFF"/>
              </a:highlight>
            </a:endParaRPr>
          </a:p>
          <a:p>
            <a:pPr indent="-381000" lvl="0" marL="457200" rtl="0" algn="l">
              <a:lnSpc>
                <a:spcPct val="150000"/>
              </a:lnSpc>
              <a:spcBef>
                <a:spcPts val="0"/>
              </a:spcBef>
              <a:spcAft>
                <a:spcPts val="0"/>
              </a:spcAft>
              <a:buSzPts val="2400"/>
              <a:buChar char="●"/>
            </a:pPr>
            <a:r>
              <a:rPr lang="en-IN" sz="2400">
                <a:highlight>
                  <a:srgbClr val="FFFFFF"/>
                </a:highlight>
              </a:rPr>
              <a:t>Test data set (IRISTest.csv) to test/evaluate the obtained trained neural network.</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The data structure contains</a:t>
            </a:r>
            <a:endParaRPr sz="2400">
              <a:highlight>
                <a:srgbClr val="FFFFFF"/>
              </a:highlight>
            </a:endParaRPr>
          </a:p>
          <a:p>
            <a:pPr indent="-381000" lvl="0" marL="457200" rtl="0" algn="l">
              <a:lnSpc>
                <a:spcPct val="150000"/>
              </a:lnSpc>
              <a:spcBef>
                <a:spcPts val="0"/>
              </a:spcBef>
              <a:spcAft>
                <a:spcPts val="0"/>
              </a:spcAft>
              <a:buSzPts val="2400"/>
              <a:buChar char="●"/>
            </a:pPr>
            <a:r>
              <a:rPr lang="en-IN" sz="2400">
                <a:highlight>
                  <a:srgbClr val="FFFFFF"/>
                </a:highlight>
              </a:rPr>
              <a:t>4 input features (Feature 1 to Feature 4)</a:t>
            </a:r>
            <a:endParaRPr sz="2400">
              <a:highlight>
                <a:srgbClr val="FFFFFF"/>
              </a:highlight>
            </a:endParaRPr>
          </a:p>
          <a:p>
            <a:pPr indent="-381000" lvl="0" marL="457200" rtl="0" algn="l">
              <a:lnSpc>
                <a:spcPct val="150000"/>
              </a:lnSpc>
              <a:spcBef>
                <a:spcPts val="0"/>
              </a:spcBef>
              <a:spcAft>
                <a:spcPts val="0"/>
              </a:spcAft>
              <a:buSzPts val="2400"/>
              <a:buChar char="●"/>
            </a:pPr>
            <a:r>
              <a:rPr lang="en-IN" sz="2400">
                <a:highlight>
                  <a:srgbClr val="FFFFFF"/>
                </a:highlight>
              </a:rPr>
              <a:t>3 output classes that are corresponding to three IRIS flower types.</a:t>
            </a:r>
            <a:endParaRPr sz="2400">
              <a:highlight>
                <a:srgbClr val="FFFFFF"/>
              </a:highlight>
            </a:endParaRPr>
          </a:p>
          <a:p>
            <a:pPr indent="0" lvl="0" marL="0" rtl="0" algn="l">
              <a:spcBef>
                <a:spcPts val="1000"/>
              </a:spcBef>
              <a:spcAft>
                <a:spcPts val="0"/>
              </a:spcAft>
              <a:buNone/>
            </a:pPr>
            <a:r>
              <a:t/>
            </a:r>
            <a:endParaRPr/>
          </a:p>
        </p:txBody>
      </p:sp>
      <p:sp>
        <p:nvSpPr>
          <p:cNvPr id="500" name="Google Shape;500;g3de88c29bbf_0_10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de88c29bbf_0_14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contd…</a:t>
            </a:r>
            <a:endParaRPr/>
          </a:p>
        </p:txBody>
      </p:sp>
      <p:sp>
        <p:nvSpPr>
          <p:cNvPr id="507" name="Google Shape;507;g3de88c29bbf_0_14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508" name="Google Shape;508;g3de88c29bbf_0_14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509" name="Google Shape;509;g3de88c29bbf_0_148"/>
          <p:cNvPicPr preferRelativeResize="0"/>
          <p:nvPr/>
        </p:nvPicPr>
        <p:blipFill>
          <a:blip r:embed="rId3">
            <a:alphaModFix/>
          </a:blip>
          <a:stretch>
            <a:fillRect/>
          </a:stretch>
        </p:blipFill>
        <p:spPr>
          <a:xfrm>
            <a:off x="838200" y="1518050"/>
            <a:ext cx="10515600" cy="43512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3de88c29bbf_0_15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contd…</a:t>
            </a:r>
            <a:endParaRPr/>
          </a:p>
        </p:txBody>
      </p:sp>
      <p:sp>
        <p:nvSpPr>
          <p:cNvPr id="516" name="Google Shape;516;g3de88c29bbf_0_15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20000"/>
          </a:bodyPr>
          <a:lstStyle/>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Since 3 types of IRIS flowers are classified, the outputs will be decoded into binary.</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For example:</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[1,0,0] for Setosa</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[0,1,0] for Versicolor</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[0,0,1] for Virginica.</a:t>
            </a:r>
            <a:endParaRPr sz="24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IN" sz="2400">
                <a:highlight>
                  <a:srgbClr val="FFFFFF"/>
                </a:highlight>
              </a:rPr>
              <a:t>The IRIS dataset will be separated into a training set (70%) and a test set (30%).</a:t>
            </a:r>
            <a:endParaRPr sz="2400">
              <a:highlight>
                <a:srgbClr val="FFFFFF"/>
              </a:highlight>
            </a:endParaRPr>
          </a:p>
          <a:p>
            <a:pPr indent="0" lvl="0" marL="0" rtl="0" algn="l">
              <a:spcBef>
                <a:spcPts val="1000"/>
              </a:spcBef>
              <a:spcAft>
                <a:spcPts val="0"/>
              </a:spcAft>
              <a:buNone/>
            </a:pPr>
            <a:r>
              <a:t/>
            </a:r>
            <a:endParaRPr/>
          </a:p>
        </p:txBody>
      </p:sp>
      <p:sp>
        <p:nvSpPr>
          <p:cNvPr id="517" name="Google Shape;517;g3de88c29bbf_0_15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de88c29bbf_0_16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1000"/>
              </a:spcBef>
              <a:spcAft>
                <a:spcPts val="0"/>
              </a:spcAft>
              <a:buClr>
                <a:schemeClr val="dk1"/>
              </a:buClr>
              <a:buSzPts val="1100"/>
              <a:buFont typeface="Arial"/>
              <a:buNone/>
            </a:pPr>
            <a:r>
              <a:rPr lang="en-IN" sz="3000"/>
              <a:t>Titanic dataset</a:t>
            </a:r>
            <a:endParaRPr sz="3000"/>
          </a:p>
        </p:txBody>
      </p:sp>
      <p:sp>
        <p:nvSpPr>
          <p:cNvPr id="524" name="Google Shape;524;g3de88c29bbf_0_165"/>
          <p:cNvSpPr txBox="1"/>
          <p:nvPr>
            <p:ph idx="1" type="body"/>
          </p:nvPr>
        </p:nvSpPr>
        <p:spPr>
          <a:xfrm>
            <a:off x="838200" y="1518050"/>
            <a:ext cx="10971600" cy="48321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The Titanic dataset is one of the most widely used datasets in data science, especially for </a:t>
            </a:r>
            <a:r>
              <a:rPr b="1" lang="en-IN"/>
              <a:t>classification, statistics, and hypothesis testing</a:t>
            </a:r>
            <a:r>
              <a:rPr lang="en-IN"/>
              <a:t>. It is based on real data from the tragic sinking of Titanic.</a:t>
            </a:r>
            <a:endParaRPr/>
          </a:p>
          <a:p>
            <a:pPr indent="0" lvl="0" marL="0" rtl="0" algn="just">
              <a:spcBef>
                <a:spcPts val="1000"/>
              </a:spcBef>
              <a:spcAft>
                <a:spcPts val="0"/>
              </a:spcAft>
              <a:buNone/>
            </a:pPr>
            <a:r>
              <a:rPr lang="en-IN"/>
              <a:t>Overview:</a:t>
            </a:r>
            <a:endParaRPr/>
          </a:p>
          <a:p>
            <a:pPr indent="0" lvl="0" marL="0" rtl="0" algn="just">
              <a:spcBef>
                <a:spcPts val="1000"/>
              </a:spcBef>
              <a:spcAft>
                <a:spcPts val="0"/>
              </a:spcAft>
              <a:buClr>
                <a:schemeClr val="dk1"/>
              </a:buClr>
              <a:buSzPts val="1100"/>
              <a:buFont typeface="Arial"/>
              <a:buNone/>
            </a:pPr>
            <a:r>
              <a:rPr lang="en-IN"/>
              <a:t>Contains information about passengers aboard the Titanic</a:t>
            </a:r>
            <a:endParaRPr/>
          </a:p>
          <a:p>
            <a:pPr indent="0" lvl="0" marL="0" rtl="0" algn="just">
              <a:spcBef>
                <a:spcPts val="1000"/>
              </a:spcBef>
              <a:spcAft>
                <a:spcPts val="0"/>
              </a:spcAft>
              <a:buClr>
                <a:schemeClr val="dk1"/>
              </a:buClr>
              <a:buSzPts val="1100"/>
              <a:buFont typeface="Arial"/>
              <a:buNone/>
            </a:pPr>
            <a:r>
              <a:rPr lang="en-IN"/>
              <a:t>Goal: </a:t>
            </a:r>
            <a:r>
              <a:rPr b="1" lang="en-IN"/>
              <a:t>Predict or analyze survival (who lived and who didn’t)</a:t>
            </a:r>
            <a:endParaRPr b="1"/>
          </a:p>
          <a:p>
            <a:pPr indent="0" lvl="0" marL="0" rtl="0" algn="l">
              <a:spcBef>
                <a:spcPts val="1000"/>
              </a:spcBef>
              <a:spcAft>
                <a:spcPts val="0"/>
              </a:spcAft>
              <a:buNone/>
            </a:pPr>
            <a:r>
              <a:t/>
            </a:r>
            <a:endParaRPr sz="2400"/>
          </a:p>
        </p:txBody>
      </p:sp>
      <p:sp>
        <p:nvSpPr>
          <p:cNvPr id="525" name="Google Shape;525;g3de88c29bbf_0_16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526" name="Google Shape;526;g3de88c29bbf_0_165"/>
          <p:cNvPicPr preferRelativeResize="0"/>
          <p:nvPr/>
        </p:nvPicPr>
        <p:blipFill>
          <a:blip r:embed="rId3">
            <a:alphaModFix/>
          </a:blip>
          <a:stretch>
            <a:fillRect/>
          </a:stretch>
        </p:blipFill>
        <p:spPr>
          <a:xfrm>
            <a:off x="7419350" y="3705300"/>
            <a:ext cx="4390349" cy="26447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dea642bdb8_0_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33" name="Google Shape;533;g3dea642bdb8_0_5"/>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534" name="Google Shape;534;g3dea642bdb8_0_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535" name="Google Shape;535;g3dea642bdb8_0_5"/>
          <p:cNvPicPr preferRelativeResize="0"/>
          <p:nvPr/>
        </p:nvPicPr>
        <p:blipFill>
          <a:blip r:embed="rId3">
            <a:alphaModFix/>
          </a:blip>
          <a:stretch>
            <a:fillRect/>
          </a:stretch>
        </p:blipFill>
        <p:spPr>
          <a:xfrm>
            <a:off x="838200" y="1518050"/>
            <a:ext cx="10515600" cy="43512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dea642bdb8_0_1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42" name="Google Shape;542;g3dea642bdb8_0_14"/>
          <p:cNvSpPr txBox="1"/>
          <p:nvPr>
            <p:ph idx="1" type="body"/>
          </p:nvPr>
        </p:nvSpPr>
        <p:spPr>
          <a:xfrm>
            <a:off x="838200" y="549052"/>
            <a:ext cx="10515600" cy="5320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1800"/>
              <a:t>1. Survival (Target Variable)</a:t>
            </a:r>
            <a:endParaRPr b="1" sz="1800"/>
          </a:p>
          <a:p>
            <a:pPr indent="-330200" lvl="0" marL="457200" rtl="0" algn="l">
              <a:lnSpc>
                <a:spcPct val="115000"/>
              </a:lnSpc>
              <a:spcBef>
                <a:spcPts val="1200"/>
              </a:spcBef>
              <a:spcAft>
                <a:spcPts val="0"/>
              </a:spcAft>
              <a:buSzPts val="1600"/>
              <a:buChar char="●"/>
            </a:pPr>
            <a:r>
              <a:rPr lang="en-IN" sz="1600">
                <a:solidFill>
                  <a:srgbClr val="188038"/>
                </a:solidFill>
                <a:latin typeface="Roboto Mono"/>
                <a:ea typeface="Roboto Mono"/>
                <a:cs typeface="Roboto Mono"/>
                <a:sym typeface="Roboto Mono"/>
              </a:rPr>
              <a:t>survived</a:t>
            </a:r>
            <a:endParaRPr sz="1600">
              <a:solidFill>
                <a:srgbClr val="188038"/>
              </a:solidFill>
              <a:latin typeface="Roboto Mono"/>
              <a:ea typeface="Roboto Mono"/>
              <a:cs typeface="Roboto Mono"/>
              <a:sym typeface="Roboto Mono"/>
            </a:endParaRPr>
          </a:p>
          <a:p>
            <a:pPr indent="-330200" lvl="1" marL="914400" rtl="0" algn="l">
              <a:lnSpc>
                <a:spcPct val="115000"/>
              </a:lnSpc>
              <a:spcBef>
                <a:spcPts val="0"/>
              </a:spcBef>
              <a:spcAft>
                <a:spcPts val="0"/>
              </a:spcAft>
              <a:buSzPts val="1600"/>
              <a:buChar char="○"/>
            </a:pPr>
            <a:r>
              <a:rPr lang="en-IN" sz="1600"/>
              <a:t>0 = Did not survive</a:t>
            </a:r>
            <a:endParaRPr sz="1600"/>
          </a:p>
          <a:p>
            <a:pPr indent="-330200" lvl="1" marL="914400" rtl="0" algn="l">
              <a:lnSpc>
                <a:spcPct val="115000"/>
              </a:lnSpc>
              <a:spcBef>
                <a:spcPts val="0"/>
              </a:spcBef>
              <a:spcAft>
                <a:spcPts val="0"/>
              </a:spcAft>
              <a:buSzPts val="1600"/>
              <a:buChar char="○"/>
            </a:pPr>
            <a:r>
              <a:rPr lang="en-IN" sz="1600"/>
              <a:t>1 = Survived</a:t>
            </a:r>
            <a:endParaRPr sz="1600"/>
          </a:p>
          <a:p>
            <a:pPr indent="0" lvl="0" marL="0" rtl="0" algn="l">
              <a:lnSpc>
                <a:spcPct val="115000"/>
              </a:lnSpc>
              <a:spcBef>
                <a:spcPts val="1400"/>
              </a:spcBef>
              <a:spcAft>
                <a:spcPts val="0"/>
              </a:spcAft>
              <a:buClr>
                <a:schemeClr val="dk1"/>
              </a:buClr>
              <a:buSzPts val="1100"/>
              <a:buFont typeface="Arial"/>
              <a:buNone/>
            </a:pPr>
            <a:r>
              <a:rPr b="1" lang="en-IN" sz="1800"/>
              <a:t> 2. Passenger Information</a:t>
            </a:r>
            <a:endParaRPr b="1" sz="1800"/>
          </a:p>
          <a:p>
            <a:pPr indent="-330200" lvl="0" marL="457200" rtl="0" algn="l">
              <a:lnSpc>
                <a:spcPct val="115000"/>
              </a:lnSpc>
              <a:spcBef>
                <a:spcPts val="1200"/>
              </a:spcBef>
              <a:spcAft>
                <a:spcPts val="0"/>
              </a:spcAft>
              <a:buSzPts val="1600"/>
              <a:buChar char="●"/>
            </a:pPr>
            <a:r>
              <a:rPr lang="en-IN" sz="1600">
                <a:solidFill>
                  <a:srgbClr val="188038"/>
                </a:solidFill>
                <a:latin typeface="Roboto Mono"/>
                <a:ea typeface="Roboto Mono"/>
                <a:cs typeface="Roboto Mono"/>
                <a:sym typeface="Roboto Mono"/>
              </a:rPr>
              <a:t>pclass</a:t>
            </a:r>
            <a:r>
              <a:rPr lang="en-IN" sz="1600"/>
              <a:t> → Passenger class</a:t>
            </a:r>
            <a:endParaRPr sz="1600"/>
          </a:p>
          <a:p>
            <a:pPr indent="-330200" lvl="1" marL="914400" rtl="0" algn="l">
              <a:lnSpc>
                <a:spcPct val="115000"/>
              </a:lnSpc>
              <a:spcBef>
                <a:spcPts val="0"/>
              </a:spcBef>
              <a:spcAft>
                <a:spcPts val="0"/>
              </a:spcAft>
              <a:buSzPts val="1600"/>
              <a:buChar char="○"/>
            </a:pPr>
            <a:r>
              <a:rPr lang="en-IN" sz="1600"/>
              <a:t>1 = First class (rich)</a:t>
            </a:r>
            <a:endParaRPr sz="1600"/>
          </a:p>
          <a:p>
            <a:pPr indent="-330200" lvl="1" marL="914400" rtl="0" algn="l">
              <a:lnSpc>
                <a:spcPct val="115000"/>
              </a:lnSpc>
              <a:spcBef>
                <a:spcPts val="0"/>
              </a:spcBef>
              <a:spcAft>
                <a:spcPts val="0"/>
              </a:spcAft>
              <a:buSzPts val="1600"/>
              <a:buChar char="○"/>
            </a:pPr>
            <a:r>
              <a:rPr lang="en-IN" sz="1600"/>
              <a:t>2 = Second class</a:t>
            </a:r>
            <a:endParaRPr sz="1600"/>
          </a:p>
          <a:p>
            <a:pPr indent="-330200" lvl="1" marL="914400" rtl="0" algn="l">
              <a:lnSpc>
                <a:spcPct val="115000"/>
              </a:lnSpc>
              <a:spcBef>
                <a:spcPts val="0"/>
              </a:spcBef>
              <a:spcAft>
                <a:spcPts val="0"/>
              </a:spcAft>
              <a:buSzPts val="1600"/>
              <a:buChar char="○"/>
            </a:pPr>
            <a:r>
              <a:rPr lang="en-IN" sz="1600"/>
              <a:t>3 = Third class (lower income)</a:t>
            </a:r>
            <a:endParaRPr sz="1600"/>
          </a:p>
          <a:p>
            <a:pPr indent="-330200" lvl="0" marL="457200" rtl="0" algn="l">
              <a:lnSpc>
                <a:spcPct val="115000"/>
              </a:lnSpc>
              <a:spcBef>
                <a:spcPts val="0"/>
              </a:spcBef>
              <a:spcAft>
                <a:spcPts val="0"/>
              </a:spcAft>
              <a:buSzPts val="1600"/>
              <a:buChar char="●"/>
            </a:pPr>
            <a:r>
              <a:rPr lang="en-IN" sz="1600">
                <a:solidFill>
                  <a:srgbClr val="188038"/>
                </a:solidFill>
                <a:latin typeface="Roboto Mono"/>
                <a:ea typeface="Roboto Mono"/>
                <a:cs typeface="Roboto Mono"/>
                <a:sym typeface="Roboto Mono"/>
              </a:rPr>
              <a:t>sex</a:t>
            </a:r>
            <a:r>
              <a:rPr lang="en-IN" sz="1600"/>
              <a:t> → Male / Female</a:t>
            </a:r>
            <a:endParaRPr sz="1600"/>
          </a:p>
          <a:p>
            <a:pPr indent="-330200" lvl="0" marL="457200" rtl="0" algn="l">
              <a:lnSpc>
                <a:spcPct val="115000"/>
              </a:lnSpc>
              <a:spcBef>
                <a:spcPts val="0"/>
              </a:spcBef>
              <a:spcAft>
                <a:spcPts val="0"/>
              </a:spcAft>
              <a:buSzPts val="1600"/>
              <a:buChar char="●"/>
            </a:pPr>
            <a:r>
              <a:rPr lang="en-IN" sz="1600">
                <a:solidFill>
                  <a:srgbClr val="188038"/>
                </a:solidFill>
                <a:latin typeface="Roboto Mono"/>
                <a:ea typeface="Roboto Mono"/>
                <a:cs typeface="Roboto Mono"/>
                <a:sym typeface="Roboto Mono"/>
              </a:rPr>
              <a:t>age</a:t>
            </a:r>
            <a:r>
              <a:rPr lang="en-IN" sz="1600"/>
              <a:t> → Age of passenger</a:t>
            </a:r>
            <a:endParaRPr sz="1600"/>
          </a:p>
          <a:p>
            <a:pPr indent="0" lvl="0" marL="0" rtl="0" algn="l">
              <a:lnSpc>
                <a:spcPct val="115000"/>
              </a:lnSpc>
              <a:spcBef>
                <a:spcPts val="1400"/>
              </a:spcBef>
              <a:spcAft>
                <a:spcPts val="0"/>
              </a:spcAft>
              <a:buClr>
                <a:schemeClr val="dk1"/>
              </a:buClr>
              <a:buSzPts val="1100"/>
              <a:buFont typeface="Arial"/>
              <a:buNone/>
            </a:pPr>
            <a:r>
              <a:rPr b="1" lang="en-IN" sz="1800"/>
              <a:t> 3. Family Details</a:t>
            </a:r>
            <a:endParaRPr b="1" sz="1800"/>
          </a:p>
          <a:p>
            <a:pPr indent="-330200" lvl="0" marL="457200" rtl="0" algn="l">
              <a:lnSpc>
                <a:spcPct val="115000"/>
              </a:lnSpc>
              <a:spcBef>
                <a:spcPts val="1200"/>
              </a:spcBef>
              <a:spcAft>
                <a:spcPts val="0"/>
              </a:spcAft>
              <a:buSzPts val="1600"/>
              <a:buChar char="●"/>
            </a:pPr>
            <a:r>
              <a:rPr lang="en-IN" sz="1600">
                <a:solidFill>
                  <a:srgbClr val="188038"/>
                </a:solidFill>
                <a:latin typeface="Roboto Mono"/>
                <a:ea typeface="Roboto Mono"/>
                <a:cs typeface="Roboto Mono"/>
                <a:sym typeface="Roboto Mono"/>
              </a:rPr>
              <a:t>sibsp</a:t>
            </a:r>
            <a:r>
              <a:rPr lang="en-IN" sz="1600"/>
              <a:t> → Number of siblings/spouses aboard</a:t>
            </a:r>
            <a:endParaRPr sz="1600"/>
          </a:p>
          <a:p>
            <a:pPr indent="-330200" lvl="0" marL="457200" rtl="0" algn="l">
              <a:lnSpc>
                <a:spcPct val="115000"/>
              </a:lnSpc>
              <a:spcBef>
                <a:spcPts val="0"/>
              </a:spcBef>
              <a:spcAft>
                <a:spcPts val="0"/>
              </a:spcAft>
              <a:buSzPts val="1600"/>
              <a:buChar char="●"/>
            </a:pPr>
            <a:r>
              <a:rPr lang="en-IN" sz="1600">
                <a:solidFill>
                  <a:srgbClr val="188038"/>
                </a:solidFill>
                <a:latin typeface="Roboto Mono"/>
                <a:ea typeface="Roboto Mono"/>
                <a:cs typeface="Roboto Mono"/>
                <a:sym typeface="Roboto Mono"/>
              </a:rPr>
              <a:t>parch</a:t>
            </a:r>
            <a:r>
              <a:rPr lang="en-IN" sz="1600"/>
              <a:t> → Number of parents/children aboard</a:t>
            </a:r>
            <a:endParaRPr sz="1600"/>
          </a:p>
          <a:p>
            <a:pPr indent="0" lvl="0" marL="0" rtl="0" algn="l">
              <a:lnSpc>
                <a:spcPct val="115000"/>
              </a:lnSpc>
              <a:spcBef>
                <a:spcPts val="1200"/>
              </a:spcBef>
              <a:spcAft>
                <a:spcPts val="1200"/>
              </a:spcAft>
              <a:buNone/>
            </a:pPr>
            <a:r>
              <a:rPr lang="en-IN" sz="1600"/>
              <a:t>Helps analyze family influence on survival</a:t>
            </a:r>
            <a:endParaRPr sz="2500"/>
          </a:p>
        </p:txBody>
      </p:sp>
      <p:sp>
        <p:nvSpPr>
          <p:cNvPr id="543" name="Google Shape;543;g3dea642bdb8_0_1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dea642bdb8_0_2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50" name="Google Shape;550;g3dea642bdb8_0_22"/>
          <p:cNvSpPr txBox="1"/>
          <p:nvPr>
            <p:ph idx="1" type="body"/>
          </p:nvPr>
        </p:nvSpPr>
        <p:spPr>
          <a:xfrm>
            <a:off x="838200" y="549050"/>
            <a:ext cx="10515600" cy="60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a:t>4. Ticket &amp; Fare</a:t>
            </a:r>
            <a:endParaRPr b="1"/>
          </a:p>
          <a:p>
            <a:pPr indent="-342900" lvl="0" marL="457200" rtl="0" algn="l">
              <a:lnSpc>
                <a:spcPct val="115000"/>
              </a:lnSpc>
              <a:spcBef>
                <a:spcPts val="1200"/>
              </a:spcBef>
              <a:spcAft>
                <a:spcPts val="0"/>
              </a:spcAft>
              <a:buSzPts val="1800"/>
              <a:buChar char="●"/>
            </a:pPr>
            <a:r>
              <a:rPr lang="en-IN" sz="1800">
                <a:solidFill>
                  <a:srgbClr val="188038"/>
                </a:solidFill>
                <a:latin typeface="Roboto Mono"/>
                <a:ea typeface="Roboto Mono"/>
                <a:cs typeface="Roboto Mono"/>
                <a:sym typeface="Roboto Mono"/>
              </a:rPr>
              <a:t>fare</a:t>
            </a:r>
            <a:r>
              <a:rPr lang="en-IN" sz="1800"/>
              <a:t> → Ticket price</a:t>
            </a:r>
            <a:endParaRPr sz="1800"/>
          </a:p>
          <a:p>
            <a:pPr indent="-342900" lvl="0" marL="457200" rtl="0" algn="l">
              <a:lnSpc>
                <a:spcPct val="115000"/>
              </a:lnSpc>
              <a:spcBef>
                <a:spcPts val="0"/>
              </a:spcBef>
              <a:spcAft>
                <a:spcPts val="0"/>
              </a:spcAft>
              <a:buSzPts val="1800"/>
              <a:buChar char="●"/>
            </a:pPr>
            <a:r>
              <a:rPr lang="en-IN" sz="1800">
                <a:solidFill>
                  <a:srgbClr val="188038"/>
                </a:solidFill>
                <a:latin typeface="Roboto Mono"/>
                <a:ea typeface="Roboto Mono"/>
                <a:cs typeface="Roboto Mono"/>
                <a:sym typeface="Roboto Mono"/>
              </a:rPr>
              <a:t>ticket</a:t>
            </a:r>
            <a:r>
              <a:rPr lang="en-IN" sz="1800"/>
              <a:t> → Ticket number</a:t>
            </a:r>
            <a:endParaRPr sz="1800"/>
          </a:p>
          <a:p>
            <a:pPr indent="0" lvl="0" marL="457200" rtl="0" algn="l">
              <a:lnSpc>
                <a:spcPct val="115000"/>
              </a:lnSpc>
              <a:spcBef>
                <a:spcPts val="1200"/>
              </a:spcBef>
              <a:spcAft>
                <a:spcPts val="0"/>
              </a:spcAft>
              <a:buNone/>
            </a:pPr>
            <a:r>
              <a:t/>
            </a:r>
            <a:endParaRPr sz="1800"/>
          </a:p>
          <a:p>
            <a:pPr indent="0" lvl="0" marL="0" rtl="0" algn="l">
              <a:lnSpc>
                <a:spcPct val="115000"/>
              </a:lnSpc>
              <a:spcBef>
                <a:spcPts val="1400"/>
              </a:spcBef>
              <a:spcAft>
                <a:spcPts val="0"/>
              </a:spcAft>
              <a:buClr>
                <a:schemeClr val="dk1"/>
              </a:buClr>
              <a:buSzPts val="1100"/>
              <a:buFont typeface="Arial"/>
              <a:buNone/>
            </a:pPr>
            <a:r>
              <a:rPr b="1" lang="en-IN"/>
              <a:t>5. Cabin &amp; Embarkation</a:t>
            </a:r>
            <a:endParaRPr b="1"/>
          </a:p>
          <a:p>
            <a:pPr indent="-342900" lvl="0" marL="457200" rtl="0" algn="l">
              <a:lnSpc>
                <a:spcPct val="115000"/>
              </a:lnSpc>
              <a:spcBef>
                <a:spcPts val="1200"/>
              </a:spcBef>
              <a:spcAft>
                <a:spcPts val="0"/>
              </a:spcAft>
              <a:buSzPts val="1800"/>
              <a:buChar char="●"/>
            </a:pPr>
            <a:r>
              <a:rPr lang="en-IN" sz="1800">
                <a:solidFill>
                  <a:srgbClr val="188038"/>
                </a:solidFill>
                <a:latin typeface="Roboto Mono"/>
                <a:ea typeface="Roboto Mono"/>
                <a:cs typeface="Roboto Mono"/>
                <a:sym typeface="Roboto Mono"/>
              </a:rPr>
              <a:t>cabin</a:t>
            </a:r>
            <a:r>
              <a:rPr lang="en-IN" sz="1800"/>
              <a:t> → Cabin number (many missing values)</a:t>
            </a:r>
            <a:endParaRPr sz="1800"/>
          </a:p>
          <a:p>
            <a:pPr indent="-342900" lvl="0" marL="457200" rtl="0" algn="l">
              <a:lnSpc>
                <a:spcPct val="115000"/>
              </a:lnSpc>
              <a:spcBef>
                <a:spcPts val="0"/>
              </a:spcBef>
              <a:spcAft>
                <a:spcPts val="0"/>
              </a:spcAft>
              <a:buSzPts val="1800"/>
              <a:buChar char="●"/>
            </a:pPr>
            <a:r>
              <a:rPr lang="en-IN" sz="1800">
                <a:solidFill>
                  <a:srgbClr val="188038"/>
                </a:solidFill>
                <a:latin typeface="Roboto Mono"/>
                <a:ea typeface="Roboto Mono"/>
                <a:cs typeface="Roboto Mono"/>
                <a:sym typeface="Roboto Mono"/>
              </a:rPr>
              <a:t>embarked</a:t>
            </a:r>
            <a:r>
              <a:rPr lang="en-IN" sz="1800"/>
              <a:t> → Port of boarding:</a:t>
            </a:r>
            <a:endParaRPr sz="1800"/>
          </a:p>
          <a:p>
            <a:pPr indent="-342900" lvl="1" marL="914400" rtl="0" algn="l">
              <a:lnSpc>
                <a:spcPct val="115000"/>
              </a:lnSpc>
              <a:spcBef>
                <a:spcPts val="0"/>
              </a:spcBef>
              <a:spcAft>
                <a:spcPts val="0"/>
              </a:spcAft>
              <a:buSzPts val="1800"/>
              <a:buChar char="○"/>
            </a:pPr>
            <a:r>
              <a:rPr lang="en-IN" sz="1800"/>
              <a:t>C = Cherbourg</a:t>
            </a:r>
            <a:endParaRPr sz="1800"/>
          </a:p>
          <a:p>
            <a:pPr indent="-342900" lvl="1" marL="914400" rtl="0" algn="l">
              <a:lnSpc>
                <a:spcPct val="115000"/>
              </a:lnSpc>
              <a:spcBef>
                <a:spcPts val="0"/>
              </a:spcBef>
              <a:spcAft>
                <a:spcPts val="0"/>
              </a:spcAft>
              <a:buSzPts val="1800"/>
              <a:buChar char="○"/>
            </a:pPr>
            <a:r>
              <a:rPr lang="en-IN" sz="1800"/>
              <a:t>Q = Queenstown</a:t>
            </a:r>
            <a:endParaRPr sz="1800"/>
          </a:p>
          <a:p>
            <a:pPr indent="-342900" lvl="1" marL="914400" rtl="0" algn="l">
              <a:lnSpc>
                <a:spcPct val="115000"/>
              </a:lnSpc>
              <a:spcBef>
                <a:spcPts val="0"/>
              </a:spcBef>
              <a:spcAft>
                <a:spcPts val="0"/>
              </a:spcAft>
              <a:buSzPts val="1800"/>
              <a:buChar char="○"/>
            </a:pPr>
            <a:r>
              <a:rPr lang="en-IN" sz="1800"/>
              <a:t>S = Southampton</a:t>
            </a:r>
            <a:endParaRPr sz="1800"/>
          </a:p>
          <a:p>
            <a:pPr indent="0" lvl="0" marL="91440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None/>
            </a:pPr>
            <a:r>
              <a:rPr b="1" lang="en-IN" sz="1900"/>
              <a:t>The dataset is typically used to answer:   “What factors influenced survival?”</a:t>
            </a:r>
            <a:endParaRPr b="1" sz="1900"/>
          </a:p>
          <a:p>
            <a:pPr indent="0" lvl="0" marL="0" rtl="0" algn="l">
              <a:lnSpc>
                <a:spcPct val="115000"/>
              </a:lnSpc>
              <a:spcBef>
                <a:spcPts val="1200"/>
              </a:spcBef>
              <a:spcAft>
                <a:spcPts val="1200"/>
              </a:spcAft>
              <a:buNone/>
            </a:pPr>
            <a:r>
              <a:t/>
            </a:r>
            <a:endParaRPr sz="1800"/>
          </a:p>
        </p:txBody>
      </p:sp>
      <p:sp>
        <p:nvSpPr>
          <p:cNvPr id="551" name="Google Shape;551;g3dea642bdb8_0_2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
          <p:cNvSpPr txBox="1"/>
          <p:nvPr>
            <p:ph type="title"/>
          </p:nvPr>
        </p:nvSpPr>
        <p:spPr>
          <a:xfrm>
            <a:off x="838200" y="2597306"/>
            <a:ext cx="10515600" cy="9689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32387"/>
              </a:buClr>
              <a:buSzPts val="3600"/>
              <a:buFont typeface="Arial"/>
              <a:buNone/>
            </a:pPr>
            <a:r>
              <a:rPr lang="en-IN"/>
              <a:t>Thank You</a:t>
            </a:r>
            <a:endParaRPr/>
          </a:p>
        </p:txBody>
      </p:sp>
      <p:sp>
        <p:nvSpPr>
          <p:cNvPr id="557" name="Google Shape;557;p5"/>
          <p:cNvSpPr txBox="1"/>
          <p:nvPr>
            <p:ph idx="12" type="sldNum"/>
          </p:nvPr>
        </p:nvSpPr>
        <p:spPr>
          <a:xfrm>
            <a:off x="838200" y="635000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2026-01-23T04:23:09Z</dcterms:created>
  <dc:creator>Karthik Amin</dc:creator>
</cp:coreProperties>
</file>