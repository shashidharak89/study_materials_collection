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gpC3ikGLvc/jcWgUNWF7g3tvzH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65"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60b03f0fd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60b03f0fd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e60b03f0fd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60b03f0fd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60b03f0fd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e60b03f0fd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60b03f0fd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60b03f0fd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e60b03f0fd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60b03f0fd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60b03f0fd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e60b03f0fd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60b03f0fd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60b03f0fd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e60b03f0fd_0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99403ba2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99403ba2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3d99403ba2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60b03f0fd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60b03f0fd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e60b03f0fd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60b03f0fd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60b03f0fd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e60b03f0fd_0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60b03f0fd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60b03f0fd_0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e60b03f0fd_0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60b03f0fd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60b03f0fd_0_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e60b03f0fd_0_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60b03f0fd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60b03f0fd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e60b03f0fd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60b03f0fd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60b03f0fd_0_1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e60b03f0fd_0_10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60b03f0fd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60b03f0fd_0_1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e60b03f0fd_0_1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60b03f0fd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60b03f0fd_0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e60b03f0fd_0_1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678aa1d9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678aa1d9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e678aa1d9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678aa1d9a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e678aa1d9a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e678aa1d9a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678aa1d9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678aa1d9a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e678aa1d9a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678aa1d9a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678aa1d9a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e678aa1d9a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678aa1d9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678aa1d9a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e678aa1d9a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60b03f0f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e60b03f0fd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e60b03f0fd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678aa1d9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678aa1d9a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e678aa1d9a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678aa1d9a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678aa1d9a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e678aa1d9a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69bb82669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e69bb82669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e69bb82669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69bb82669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e69bb82669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e69bb82669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69bb82669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69bb82669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3e69bb82669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bdd69fe1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bdd69fe1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dbdd69fe1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60b03f0f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e60b03f0fd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e60b03f0fd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c31faf6cb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dc31faf6cb_0_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dc31faf6cb_0_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c31faf6cb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dc31faf6cb_0_1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dc31faf6cb_0_1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c31faf6cb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dc31faf6cb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dc31faf6cb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c31faf6c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dc31faf6c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dc31faf6c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c31faf6c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dc31faf6cb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dc31faf6cb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dc31faf6c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dc31faf6cb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3dc31faf6cb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c31faf6cb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dc31faf6cb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3dc31faf6cb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c31faf6cb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c31faf6cb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g3dc31faf6cb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c31faf6cb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c31faf6cb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g3dc31faf6cb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c31faf6cb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c31faf6cb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dc31faf6cb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c31faf6cb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c31faf6cb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3dc31faf6cb_0_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c31faf6cb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c31faf6cb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dc31faf6cb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c31faf6cb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c31faf6cb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3dc31faf6cb_0_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0ae9d0f41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e0ae9d0f41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e0ae9d0f41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e0ae9d0f41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e0ae9d0f41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e0ae9d0f41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0ae9d0f41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0ae9d0f41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e0ae9d0f41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c31faf6cb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c31faf6cb_0_1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dc31faf6cb_0_1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e0ae9d0f41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e0ae9d0f41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g3e0ae9d0f41_0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c31faf6cb_0_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c31faf6cb_0_1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dc31faf6cb_0_17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0ae9d0f41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0ae9d0f41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3e0ae9d0f41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0ae9d0f41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e0ae9d0f41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e0ae9d0f41_0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0ae9d0f41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0ae9d0f41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g3e0ae9d0f41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c31faf6cb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c31faf6cb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dc31faf6cb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7f33e0a20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e7f33e0a20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g3e7f33e0a20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7f33e0a2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e7f33e0a2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g3e7f33e0a2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7f33e0a2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e7f33e0a20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e7f33e0a20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e7f33e0a2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e7f33e0a20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g3e7f33e0a20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dc31faf6cb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dc31faf6cb_0_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g3dc31faf6cb_0_1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c31faf6cb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dc31faf6cb_0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3dc31faf6cb_0_1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7f33e0a20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e7f33e0a20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e7f33e0a20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7f33e0a20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e7f33e0a20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e7f33e0a20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e7f33e0a20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e7f33e0a20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g3e7f33e0a20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
          <p:cNvSpPr txBox="1"/>
          <p:nvPr>
            <p:ph type="ctrTitle"/>
          </p:nvPr>
        </p:nvSpPr>
        <p:spPr>
          <a:xfrm>
            <a:off x="1333500" y="1122363"/>
            <a:ext cx="9601200" cy="87788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600"/>
              <a:buFont typeface="Arial"/>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 type="subTitle"/>
          </p:nvPr>
        </p:nvSpPr>
        <p:spPr>
          <a:xfrm>
            <a:off x="1333500" y="2522538"/>
            <a:ext cx="9601200" cy="29829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12954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8"/>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 type="body"/>
          </p:nvPr>
        </p:nvSpPr>
        <p:spPr>
          <a:xfrm>
            <a:off x="838200" y="1518042"/>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8"/>
          <p:cNvSpPr txBox="1"/>
          <p:nvPr>
            <p:ph idx="12" type="sldNum"/>
          </p:nvPr>
        </p:nvSpPr>
        <p:spPr>
          <a:xfrm>
            <a:off x="838200" y="6350000"/>
            <a:ext cx="274320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5" name="Shape 25"/>
        <p:cNvGrpSpPr/>
        <p:nvPr/>
      </p:nvGrpSpPr>
      <p:grpSpPr>
        <a:xfrm>
          <a:off x="0" y="0"/>
          <a:ext cx="0" cy="0"/>
          <a:chOff x="0" y="0"/>
          <a:chExt cx="0" cy="0"/>
        </a:xfrm>
      </p:grpSpPr>
      <p:sp>
        <p:nvSpPr>
          <p:cNvPr id="26" name="Google Shape;26;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8" name="Google Shape;28;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9"/>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1"/>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2387"/>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p:nvPr>
            <p:ph idx="2" type="pic"/>
          </p:nvPr>
        </p:nvSpPr>
        <p:spPr>
          <a:xfrm>
            <a:off x="5183188" y="987425"/>
            <a:ext cx="6172200" cy="4873625"/>
          </a:xfrm>
          <a:prstGeom prst="rect">
            <a:avLst/>
          </a:prstGeom>
          <a:noFill/>
          <a:ln>
            <a:noFill/>
          </a:ln>
        </p:spPr>
      </p:sp>
      <p:sp>
        <p:nvSpPr>
          <p:cNvPr id="60" name="Google Shape;60;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5"/>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 type="body"/>
          </p:nvPr>
        </p:nvSpPr>
        <p:spPr>
          <a:xfrm rot="5400000">
            <a:off x="3920331" y="-1564089"/>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232387"/>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549050"/>
            <a:ext cx="10515600" cy="968992"/>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rgbClr val="232387"/>
              </a:buClr>
              <a:buSzPts val="3600"/>
              <a:buFont typeface="Arial"/>
              <a:buNone/>
              <a:defRPr b="1" i="0" sz="3600" u="none" cap="none" strike="noStrike">
                <a:solidFill>
                  <a:srgbClr val="232387"/>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518042"/>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
          <p:cNvSpPr txBox="1"/>
          <p:nvPr>
            <p:ph type="ctrTitle"/>
          </p:nvPr>
        </p:nvSpPr>
        <p:spPr>
          <a:xfrm>
            <a:off x="1333500" y="1122363"/>
            <a:ext cx="10096500" cy="877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32387"/>
              </a:buClr>
              <a:buSzPts val="3600"/>
              <a:buFont typeface="Arial"/>
              <a:buNone/>
            </a:pPr>
            <a:r>
              <a:rPr lang="en-IN"/>
              <a:t>Data Modelling &amp; Data Ethics</a:t>
            </a:r>
            <a:endParaRPr/>
          </a:p>
        </p:txBody>
      </p:sp>
      <p:sp>
        <p:nvSpPr>
          <p:cNvPr id="82" name="Google Shape;82;p1"/>
          <p:cNvSpPr txBox="1"/>
          <p:nvPr>
            <p:ph idx="1" type="subTitle"/>
          </p:nvPr>
        </p:nvSpPr>
        <p:spPr>
          <a:xfrm>
            <a:off x="1333500" y="2761129"/>
            <a:ext cx="9601200" cy="29745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32387"/>
              </a:buClr>
              <a:buSzPts val="2600"/>
              <a:buNone/>
            </a:pPr>
            <a:r>
              <a:rPr b="1" lang="en-IN" sz="2600">
                <a:solidFill>
                  <a:srgbClr val="232387"/>
                </a:solidFill>
              </a:rPr>
              <a:t>Course Instructor</a:t>
            </a:r>
            <a:endParaRPr/>
          </a:p>
          <a:p>
            <a:pPr indent="0" lvl="0" marL="0" rtl="0" algn="ctr">
              <a:lnSpc>
                <a:spcPct val="90000"/>
              </a:lnSpc>
              <a:spcBef>
                <a:spcPts val="1000"/>
              </a:spcBef>
              <a:spcAft>
                <a:spcPts val="0"/>
              </a:spcAft>
              <a:buClr>
                <a:schemeClr val="dk1"/>
              </a:buClr>
              <a:buSzPts val="2600"/>
              <a:buNone/>
            </a:pPr>
            <a:r>
              <a:t/>
            </a:r>
            <a:endParaRPr sz="2600"/>
          </a:p>
          <a:p>
            <a:pPr indent="0" lvl="0" marL="0" rtl="0" algn="ctr">
              <a:lnSpc>
                <a:spcPct val="90000"/>
              </a:lnSpc>
              <a:spcBef>
                <a:spcPts val="1000"/>
              </a:spcBef>
              <a:spcAft>
                <a:spcPts val="0"/>
              </a:spcAft>
              <a:buClr>
                <a:srgbClr val="232387"/>
              </a:buClr>
              <a:buSzPts val="2600"/>
              <a:buNone/>
            </a:pPr>
            <a:r>
              <a:rPr b="1" lang="en-IN" sz="2600">
                <a:solidFill>
                  <a:srgbClr val="232387"/>
                </a:solidFill>
              </a:rPr>
              <a:t>Ms. Harshitha G M</a:t>
            </a:r>
            <a:endParaRPr/>
          </a:p>
          <a:p>
            <a:pPr indent="0" lvl="0" marL="0" rtl="0" algn="ctr">
              <a:lnSpc>
                <a:spcPct val="90000"/>
              </a:lnSpc>
              <a:spcBef>
                <a:spcPts val="1000"/>
              </a:spcBef>
              <a:spcAft>
                <a:spcPts val="0"/>
              </a:spcAft>
              <a:buClr>
                <a:schemeClr val="dk1"/>
              </a:buClr>
              <a:buSzPts val="2600"/>
              <a:buNone/>
            </a:pPr>
            <a:r>
              <a:rPr lang="en-IN" sz="2600"/>
              <a:t>Assistant Professor Gd.II,</a:t>
            </a:r>
            <a:endParaRPr/>
          </a:p>
          <a:p>
            <a:pPr indent="0" lvl="0" marL="0" rtl="0" algn="ctr">
              <a:lnSpc>
                <a:spcPct val="90000"/>
              </a:lnSpc>
              <a:spcBef>
                <a:spcPts val="1000"/>
              </a:spcBef>
              <a:spcAft>
                <a:spcPts val="0"/>
              </a:spcAft>
              <a:buClr>
                <a:schemeClr val="dk1"/>
              </a:buClr>
              <a:buSzPts val="2600"/>
              <a:buNone/>
            </a:pPr>
            <a:r>
              <a:rPr lang="en-IN" sz="2600"/>
              <a:t>Dept. of MCA, NMAMIT, Nitte.</a:t>
            </a:r>
            <a:endParaRPr/>
          </a:p>
          <a:p>
            <a:pPr indent="0" lvl="0" marL="0" rtl="0" algn="ctr">
              <a:lnSpc>
                <a:spcPct val="90000"/>
              </a:lnSpc>
              <a:spcBef>
                <a:spcPts val="1000"/>
              </a:spcBef>
              <a:spcAft>
                <a:spcPts val="0"/>
              </a:spcAft>
              <a:buClr>
                <a:schemeClr val="dk1"/>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e60b03f0fd_0_2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Introduction to Machine Learning</a:t>
            </a:r>
            <a:endParaRPr/>
          </a:p>
        </p:txBody>
      </p:sp>
      <p:sp>
        <p:nvSpPr>
          <p:cNvPr id="89" name="Google Shape;89;g3e60b03f0fd_0_2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Clr>
                <a:schemeClr val="dk1"/>
              </a:buClr>
              <a:buSzPts val="1100"/>
              <a:buFont typeface="Arial"/>
              <a:buNone/>
            </a:pPr>
            <a:r>
              <a:rPr b="1" lang="en-IN"/>
              <a:t>“Machine learning is a field of study that gives computers the ability to learn without being explicitly programmed.”</a:t>
            </a:r>
            <a:endParaRPr b="1"/>
          </a:p>
          <a:p>
            <a:pPr indent="0" lvl="0" marL="0" rtl="0" algn="just">
              <a:spcBef>
                <a:spcPts val="1000"/>
              </a:spcBef>
              <a:spcAft>
                <a:spcPts val="0"/>
              </a:spcAft>
              <a:buClr>
                <a:schemeClr val="dk1"/>
              </a:buClr>
              <a:buSzPts val="1100"/>
              <a:buFont typeface="Arial"/>
              <a:buNone/>
            </a:pPr>
            <a:r>
              <a:t/>
            </a:r>
            <a:endParaRPr b="1"/>
          </a:p>
          <a:p>
            <a:pPr indent="457200" lvl="0" marL="5943600" rtl="0" algn="just">
              <a:spcBef>
                <a:spcPts val="1000"/>
              </a:spcBef>
              <a:spcAft>
                <a:spcPts val="0"/>
              </a:spcAft>
              <a:buNone/>
            </a:pPr>
            <a:r>
              <a:rPr b="1" lang="en-IN"/>
              <a:t>—Arthur Samuel, 1959</a:t>
            </a:r>
            <a:endParaRPr b="1"/>
          </a:p>
          <a:p>
            <a:pPr indent="457200" lvl="0" marL="5943600" rtl="0" algn="just">
              <a:spcBef>
                <a:spcPts val="1000"/>
              </a:spcBef>
              <a:spcAft>
                <a:spcPts val="0"/>
              </a:spcAft>
              <a:buNone/>
            </a:pPr>
            <a:r>
              <a:t/>
            </a:r>
            <a:endParaRPr b="1"/>
          </a:p>
          <a:p>
            <a:pPr indent="457200" lvl="0" marL="5943600" rtl="0" algn="just">
              <a:spcBef>
                <a:spcPts val="1000"/>
              </a:spcBef>
              <a:spcAft>
                <a:spcPts val="0"/>
              </a:spcAft>
              <a:buNone/>
            </a:pPr>
            <a:r>
              <a:t/>
            </a:r>
            <a:endParaRPr b="1"/>
          </a:p>
          <a:p>
            <a:pPr indent="0" lvl="0" marL="0" rtl="0" algn="just">
              <a:spcBef>
                <a:spcPts val="1000"/>
              </a:spcBef>
              <a:spcAft>
                <a:spcPts val="0"/>
              </a:spcAft>
              <a:buClr>
                <a:schemeClr val="dk1"/>
              </a:buClr>
              <a:buSzPts val="1100"/>
              <a:buFont typeface="Arial"/>
              <a:buNone/>
            </a:pPr>
            <a:r>
              <a:rPr b="1" lang="en-IN"/>
              <a:t>“Machine learning is the process by which a computer can work more accurately as it collects and learns from the data it is given.”</a:t>
            </a:r>
            <a:endParaRPr b="1"/>
          </a:p>
          <a:p>
            <a:pPr indent="457200" lvl="0" marL="5943600" rtl="0" algn="l">
              <a:spcBef>
                <a:spcPts val="1000"/>
              </a:spcBef>
              <a:spcAft>
                <a:spcPts val="0"/>
              </a:spcAft>
              <a:buClr>
                <a:schemeClr val="dk1"/>
              </a:buClr>
              <a:buSzPts val="1100"/>
              <a:buFont typeface="Arial"/>
              <a:buNone/>
            </a:pPr>
            <a:r>
              <a:t/>
            </a:r>
            <a:endParaRPr b="1"/>
          </a:p>
          <a:p>
            <a:pPr indent="457200" lvl="0" marL="5943600" rtl="0" algn="l">
              <a:spcBef>
                <a:spcPts val="1000"/>
              </a:spcBef>
              <a:spcAft>
                <a:spcPts val="0"/>
              </a:spcAft>
              <a:buNone/>
            </a:pPr>
            <a:r>
              <a:rPr b="1" lang="en-IN"/>
              <a:t>—Mike Roberts</a:t>
            </a:r>
            <a:endParaRPr b="1"/>
          </a:p>
        </p:txBody>
      </p:sp>
      <p:sp>
        <p:nvSpPr>
          <p:cNvPr id="90" name="Google Shape;90;g3e60b03f0fd_0_2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e60b03f0fd_0_3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Introduction to Machine Learning</a:t>
            </a:r>
            <a:endParaRPr/>
          </a:p>
        </p:txBody>
      </p:sp>
      <p:sp>
        <p:nvSpPr>
          <p:cNvPr id="97" name="Google Shape;97;g3e60b03f0fd_0_35"/>
          <p:cNvSpPr txBox="1"/>
          <p:nvPr>
            <p:ph idx="1" type="body"/>
          </p:nvPr>
        </p:nvSpPr>
        <p:spPr>
          <a:xfrm>
            <a:off x="838200" y="1518050"/>
            <a:ext cx="10515600" cy="459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To achieve machine learning, </a:t>
            </a:r>
            <a:r>
              <a:rPr b="1" lang="en-IN">
                <a:solidFill>
                  <a:srgbClr val="232387"/>
                </a:solidFill>
              </a:rPr>
              <a:t>experts develop general-purpose algorithms</a:t>
            </a:r>
            <a:r>
              <a:rPr lang="en-IN"/>
              <a:t> that can be used on large classes of learning problems. </a:t>
            </a:r>
            <a:endParaRPr/>
          </a:p>
          <a:p>
            <a:pPr indent="0" lvl="0" marL="0" rtl="0" algn="just">
              <a:spcBef>
                <a:spcPts val="1000"/>
              </a:spcBef>
              <a:spcAft>
                <a:spcPts val="0"/>
              </a:spcAft>
              <a:buNone/>
            </a:pPr>
            <a:r>
              <a:rPr lang="en-IN"/>
              <a:t>When you want </a:t>
            </a:r>
            <a:r>
              <a:rPr b="1" lang="en-IN">
                <a:solidFill>
                  <a:srgbClr val="232387"/>
                </a:solidFill>
              </a:rPr>
              <a:t>to solve a specific task</a:t>
            </a:r>
            <a:r>
              <a:rPr lang="en-IN"/>
              <a:t> you only </a:t>
            </a:r>
            <a:r>
              <a:rPr b="1" lang="en-IN">
                <a:solidFill>
                  <a:srgbClr val="232387"/>
                </a:solidFill>
              </a:rPr>
              <a:t>need to feed the algorithm more specific data.</a:t>
            </a:r>
            <a:r>
              <a:rPr lang="en-IN"/>
              <a:t> In a way, you’re programming by example. </a:t>
            </a:r>
            <a:endParaRPr/>
          </a:p>
          <a:p>
            <a:pPr indent="0" lvl="0" marL="0" rtl="0" algn="just">
              <a:spcBef>
                <a:spcPts val="1000"/>
              </a:spcBef>
              <a:spcAft>
                <a:spcPts val="0"/>
              </a:spcAft>
              <a:buNone/>
            </a:pPr>
            <a:r>
              <a:rPr lang="en-IN"/>
              <a:t>In most cases a computer will use data as its source of information and compare its output to a desired output and then correct for it. </a:t>
            </a:r>
            <a:endParaRPr/>
          </a:p>
          <a:p>
            <a:pPr indent="0" lvl="0" marL="0" rtl="0" algn="just">
              <a:spcBef>
                <a:spcPts val="1000"/>
              </a:spcBef>
              <a:spcAft>
                <a:spcPts val="0"/>
              </a:spcAft>
              <a:buNone/>
            </a:pPr>
            <a:r>
              <a:rPr lang="en-IN"/>
              <a:t>The more data or “experience” the computer gets, the better it becomes at its designated job, like a human does.</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For example, as a user writes more text messages on a phone, the phone learns more about the messages’ common vocabulary and can predict (autocomplete) their words faster and more accurately.</a:t>
            </a:r>
            <a:endParaRPr/>
          </a:p>
        </p:txBody>
      </p:sp>
      <p:sp>
        <p:nvSpPr>
          <p:cNvPr id="98" name="Google Shape;98;g3e60b03f0fd_0_3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e60b03f0fd_0_44"/>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Applications for machine learning in data science</a:t>
            </a:r>
            <a:endParaRPr/>
          </a:p>
        </p:txBody>
      </p:sp>
      <p:sp>
        <p:nvSpPr>
          <p:cNvPr id="105" name="Google Shape;105;g3e60b03f0fd_0_44"/>
          <p:cNvSpPr txBox="1"/>
          <p:nvPr>
            <p:ph idx="1" type="body"/>
          </p:nvPr>
        </p:nvSpPr>
        <p:spPr>
          <a:xfrm>
            <a:off x="838200" y="1518050"/>
            <a:ext cx="10515600" cy="4591200"/>
          </a:xfrm>
          <a:prstGeom prst="rect">
            <a:avLst/>
          </a:prstGeom>
        </p:spPr>
        <p:txBody>
          <a:bodyPr anchorCtr="0" anchor="t" bIns="45700" lIns="91425" spcFirstLastPara="1" rIns="91425" wrap="square" tIns="45700">
            <a:normAutofit lnSpcReduction="20000"/>
          </a:bodyPr>
          <a:lstStyle/>
          <a:p>
            <a:pPr indent="0" lvl="0" marL="0" rtl="0" algn="just">
              <a:spcBef>
                <a:spcPts val="1000"/>
              </a:spcBef>
              <a:spcAft>
                <a:spcPts val="0"/>
              </a:spcAft>
              <a:buNone/>
            </a:pPr>
            <a:r>
              <a:rPr lang="en-IN"/>
              <a:t>Regression and classification are of primary importance to a data scientist. To achieve these goals, one of the main tools a data scientist uses is machine learning.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 Finding oil fields, gold mines, or archeological sites based on existing sites (classification and regression)</a:t>
            </a:r>
            <a:endParaRPr/>
          </a:p>
          <a:p>
            <a:pPr indent="0" lvl="0" marL="0" rtl="0" algn="just">
              <a:spcBef>
                <a:spcPts val="1000"/>
              </a:spcBef>
              <a:spcAft>
                <a:spcPts val="0"/>
              </a:spcAft>
              <a:buNone/>
            </a:pPr>
            <a:r>
              <a:rPr lang="en-IN"/>
              <a:t>■ Finding place names or persons in text (classification)</a:t>
            </a:r>
            <a:endParaRPr/>
          </a:p>
          <a:p>
            <a:pPr indent="0" lvl="0" marL="0" rtl="0" algn="just">
              <a:spcBef>
                <a:spcPts val="1000"/>
              </a:spcBef>
              <a:spcAft>
                <a:spcPts val="0"/>
              </a:spcAft>
              <a:buNone/>
            </a:pPr>
            <a:r>
              <a:rPr lang="en-IN"/>
              <a:t>■ Identifying people based on pictures or voice recordings (classification)</a:t>
            </a:r>
            <a:endParaRPr/>
          </a:p>
          <a:p>
            <a:pPr indent="0" lvl="0" marL="0" rtl="0" algn="just">
              <a:spcBef>
                <a:spcPts val="1000"/>
              </a:spcBef>
              <a:spcAft>
                <a:spcPts val="0"/>
              </a:spcAft>
              <a:buNone/>
            </a:pPr>
            <a:r>
              <a:rPr lang="en-IN"/>
              <a:t>■ Recognizing birds based on their whistle (classification)</a:t>
            </a:r>
            <a:endParaRPr/>
          </a:p>
          <a:p>
            <a:pPr indent="0" lvl="0" marL="0" rtl="0" algn="just">
              <a:spcBef>
                <a:spcPts val="1000"/>
              </a:spcBef>
              <a:spcAft>
                <a:spcPts val="0"/>
              </a:spcAft>
              <a:buNone/>
            </a:pPr>
            <a:r>
              <a:rPr lang="en-IN"/>
              <a:t>■ Proactively identifying car parts that are likely to fail (regression)</a:t>
            </a:r>
            <a:endParaRPr/>
          </a:p>
          <a:p>
            <a:pPr indent="0" lvl="0" marL="0" rtl="0" algn="just">
              <a:spcBef>
                <a:spcPts val="1000"/>
              </a:spcBef>
              <a:spcAft>
                <a:spcPts val="0"/>
              </a:spcAft>
              <a:buNone/>
            </a:pPr>
            <a:r>
              <a:rPr lang="en-IN"/>
              <a:t>■ Identifying tumors and diseases (classification)</a:t>
            </a:r>
            <a:endParaRPr/>
          </a:p>
          <a:p>
            <a:pPr indent="0" lvl="0" marL="0" rtl="0" algn="just">
              <a:spcBef>
                <a:spcPts val="1000"/>
              </a:spcBef>
              <a:spcAft>
                <a:spcPts val="0"/>
              </a:spcAft>
              <a:buNone/>
            </a:pPr>
            <a:r>
              <a:rPr lang="en-IN"/>
              <a:t>■ Predicting the amount of money a person will spend on product X (regression)</a:t>
            </a:r>
            <a:endParaRPr/>
          </a:p>
          <a:p>
            <a:pPr indent="0" lvl="0" marL="0" rtl="0" algn="just">
              <a:spcBef>
                <a:spcPts val="1000"/>
              </a:spcBef>
              <a:spcAft>
                <a:spcPts val="0"/>
              </a:spcAft>
              <a:buNone/>
            </a:pPr>
            <a:r>
              <a:rPr lang="en-IN"/>
              <a:t>■ Predicting the number of eruptions of a volcano in a period (regression)</a:t>
            </a:r>
            <a:endParaRPr/>
          </a:p>
          <a:p>
            <a:pPr indent="0" lvl="0" marL="0" rtl="0" algn="just">
              <a:spcBef>
                <a:spcPts val="1000"/>
              </a:spcBef>
              <a:spcAft>
                <a:spcPts val="0"/>
              </a:spcAft>
              <a:buNone/>
            </a:pPr>
            <a:r>
              <a:rPr lang="en-IN"/>
              <a:t>■ Predicting your company’s yearly revenue (regression)</a:t>
            </a:r>
            <a:endParaRPr/>
          </a:p>
          <a:p>
            <a:pPr indent="0" lvl="0" marL="0" rtl="0" algn="just">
              <a:spcBef>
                <a:spcPts val="1000"/>
              </a:spcBef>
              <a:spcAft>
                <a:spcPts val="0"/>
              </a:spcAft>
              <a:buNone/>
            </a:pPr>
            <a:r>
              <a:rPr lang="en-IN"/>
              <a:t>■ </a:t>
            </a:r>
            <a:r>
              <a:rPr lang="en-IN"/>
              <a:t>Identifying profitable customers (regression and classification)</a:t>
            </a:r>
            <a:endParaRPr/>
          </a:p>
        </p:txBody>
      </p:sp>
      <p:sp>
        <p:nvSpPr>
          <p:cNvPr id="106" name="Google Shape;106;g3e60b03f0fd_0_4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e60b03f0fd_0_54"/>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Applications for machine learning in data science</a:t>
            </a:r>
            <a:endParaRPr/>
          </a:p>
        </p:txBody>
      </p:sp>
      <p:sp>
        <p:nvSpPr>
          <p:cNvPr id="113" name="Google Shape;113;g3e60b03f0fd_0_54"/>
          <p:cNvSpPr txBox="1"/>
          <p:nvPr>
            <p:ph idx="1" type="body"/>
          </p:nvPr>
        </p:nvSpPr>
        <p:spPr>
          <a:xfrm>
            <a:off x="838200" y="1518050"/>
            <a:ext cx="10515600" cy="4591200"/>
          </a:xfrm>
          <a:prstGeom prst="rect">
            <a:avLst/>
          </a:prstGeom>
        </p:spPr>
        <p:txBody>
          <a:bodyPr anchorCtr="0" anchor="t" bIns="45700" lIns="91425" spcFirstLastPara="1" rIns="91425" wrap="square" tIns="45700">
            <a:normAutofit lnSpcReduction="10000"/>
          </a:bodyPr>
          <a:lstStyle/>
          <a:p>
            <a:pPr indent="0" lvl="0" marL="0" rtl="0" algn="just">
              <a:spcBef>
                <a:spcPts val="1000"/>
              </a:spcBef>
              <a:spcAft>
                <a:spcPts val="0"/>
              </a:spcAft>
              <a:buNone/>
            </a:pPr>
            <a:r>
              <a:rPr lang="en-IN"/>
              <a:t>Occasionally data scientists build a model (an abstraction of reality) that provides insight to the underlying processes of a phenomenon. </a:t>
            </a:r>
            <a:endParaRPr/>
          </a:p>
          <a:p>
            <a:pPr indent="0" lvl="0" marL="0" rtl="0" algn="just">
              <a:spcBef>
                <a:spcPts val="1000"/>
              </a:spcBef>
              <a:spcAft>
                <a:spcPts val="0"/>
              </a:spcAft>
              <a:buNone/>
            </a:pPr>
            <a:r>
              <a:rPr b="1" lang="en-IN">
                <a:solidFill>
                  <a:srgbClr val="232387"/>
                </a:solidFill>
              </a:rPr>
              <a:t>When the goal of a model isn’t prediction but interpretation, it’s called root cause analysis.</a:t>
            </a:r>
            <a:r>
              <a:rPr lang="en-IN"/>
              <a:t>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Here are a few examples:</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 </a:t>
            </a:r>
            <a:r>
              <a:rPr lang="en-IN">
                <a:solidFill>
                  <a:srgbClr val="232387"/>
                </a:solidFill>
              </a:rPr>
              <a:t>Understanding and optimizing a business process</a:t>
            </a:r>
            <a:r>
              <a:rPr lang="en-IN"/>
              <a:t>, such as determining which products add value to a product line</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 Discovering what causes diabetes</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 Determining the causes of traffic jams</a:t>
            </a:r>
            <a:endParaRPr/>
          </a:p>
        </p:txBody>
      </p:sp>
      <p:sp>
        <p:nvSpPr>
          <p:cNvPr id="114" name="Google Shape;114;g3e60b03f0fd_0_5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e60b03f0fd_0_12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21" name="Google Shape;121;g3e60b03f0fd_0_12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22" name="Google Shape;122;g3e60b03f0fd_0_12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123" name="Google Shape;123;g3e60b03f0fd_0_129"/>
          <p:cNvPicPr preferRelativeResize="0"/>
          <p:nvPr/>
        </p:nvPicPr>
        <p:blipFill>
          <a:blip r:embed="rId3">
            <a:alphaModFix/>
          </a:blip>
          <a:stretch>
            <a:fillRect/>
          </a:stretch>
        </p:blipFill>
        <p:spPr>
          <a:xfrm>
            <a:off x="838200" y="549050"/>
            <a:ext cx="10515600" cy="5800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d99403ba2a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30" name="Google Shape;130;g3d99403ba2a_0_0"/>
          <p:cNvSpPr txBox="1"/>
          <p:nvPr>
            <p:ph idx="1" type="body"/>
          </p:nvPr>
        </p:nvSpPr>
        <p:spPr>
          <a:xfrm>
            <a:off x="838200" y="549052"/>
            <a:ext cx="10515600" cy="53202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IN" sz="2100"/>
              <a:t>We want a computer to learn the relationship between:</a:t>
            </a:r>
            <a:endParaRPr sz="2100"/>
          </a:p>
          <a:p>
            <a:pPr indent="-361950" lvl="0" marL="457200" rtl="0" algn="l">
              <a:lnSpc>
                <a:spcPct val="115000"/>
              </a:lnSpc>
              <a:spcBef>
                <a:spcPts val="1200"/>
              </a:spcBef>
              <a:spcAft>
                <a:spcPts val="0"/>
              </a:spcAft>
              <a:buSzPts val="2100"/>
              <a:buChar char="●"/>
            </a:pPr>
            <a:r>
              <a:rPr b="1" lang="en-IN" sz="2100"/>
              <a:t>Input (features):</a:t>
            </a:r>
            <a:r>
              <a:rPr lang="en-IN" sz="2100"/>
              <a:t> size of a house (in sq ft)</a:t>
            </a:r>
            <a:endParaRPr sz="2100"/>
          </a:p>
          <a:p>
            <a:pPr indent="-361950" lvl="0" marL="457200" rtl="0" algn="l">
              <a:lnSpc>
                <a:spcPct val="115000"/>
              </a:lnSpc>
              <a:spcBef>
                <a:spcPts val="0"/>
              </a:spcBef>
              <a:spcAft>
                <a:spcPts val="0"/>
              </a:spcAft>
              <a:buSzPts val="2100"/>
              <a:buChar char="●"/>
            </a:pPr>
            <a:r>
              <a:rPr b="1" lang="en-IN" sz="2100"/>
              <a:t>Output (label):</a:t>
            </a:r>
            <a:r>
              <a:rPr lang="en-IN" sz="2100"/>
              <a:t> price of the house</a:t>
            </a:r>
            <a:endParaRPr sz="2100"/>
          </a:p>
          <a:p>
            <a:pPr indent="0" lvl="0" marL="0" rtl="0" algn="l">
              <a:lnSpc>
                <a:spcPct val="115000"/>
              </a:lnSpc>
              <a:spcBef>
                <a:spcPts val="1200"/>
              </a:spcBef>
              <a:spcAft>
                <a:spcPts val="0"/>
              </a:spcAft>
              <a:buClr>
                <a:schemeClr val="dk1"/>
              </a:buClr>
              <a:buSzPts val="1100"/>
              <a:buFont typeface="Arial"/>
              <a:buNone/>
            </a:pPr>
            <a:r>
              <a:rPr lang="en-IN" sz="2100"/>
              <a:t>Instead of hardcoding rules, we let a model learn from data.</a:t>
            </a:r>
            <a:endParaRPr sz="2100"/>
          </a:p>
          <a:p>
            <a:pPr indent="0" lvl="0" marL="0" rtl="0" algn="l">
              <a:spcBef>
                <a:spcPts val="1200"/>
              </a:spcBef>
              <a:spcAft>
                <a:spcPts val="0"/>
              </a:spcAft>
              <a:buNone/>
            </a:pPr>
            <a:r>
              <a:t/>
            </a:r>
            <a:endParaRPr/>
          </a:p>
        </p:txBody>
      </p:sp>
      <p:sp>
        <p:nvSpPr>
          <p:cNvPr id="131" name="Google Shape;131;g3d99403ba2a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132" name="Google Shape;132;g3d99403ba2a_0_0"/>
          <p:cNvPicPr preferRelativeResize="0"/>
          <p:nvPr/>
        </p:nvPicPr>
        <p:blipFill>
          <a:blip r:embed="rId3">
            <a:alphaModFix/>
          </a:blip>
          <a:stretch>
            <a:fillRect/>
          </a:stretch>
        </p:blipFill>
        <p:spPr>
          <a:xfrm>
            <a:off x="4114800" y="2424150"/>
            <a:ext cx="7649725" cy="3925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e60b03f0fd_0_62"/>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Where machine learning is used in the data science process</a:t>
            </a:r>
            <a:endParaRPr/>
          </a:p>
        </p:txBody>
      </p:sp>
      <p:sp>
        <p:nvSpPr>
          <p:cNvPr id="139" name="Google Shape;139;g3e60b03f0fd_0_62"/>
          <p:cNvSpPr txBox="1"/>
          <p:nvPr>
            <p:ph idx="1" type="body"/>
          </p:nvPr>
        </p:nvSpPr>
        <p:spPr>
          <a:xfrm>
            <a:off x="838200" y="1518050"/>
            <a:ext cx="10515600" cy="459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t/>
            </a:r>
            <a:endParaRPr/>
          </a:p>
        </p:txBody>
      </p:sp>
      <p:sp>
        <p:nvSpPr>
          <p:cNvPr id="140" name="Google Shape;140;g3e60b03f0fd_0_6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41" name="Google Shape;141;g3e60b03f0fd_0_62"/>
          <p:cNvPicPr preferRelativeResize="0"/>
          <p:nvPr/>
        </p:nvPicPr>
        <p:blipFill>
          <a:blip r:embed="rId3">
            <a:alphaModFix/>
          </a:blip>
          <a:stretch>
            <a:fillRect/>
          </a:stretch>
        </p:blipFill>
        <p:spPr>
          <a:xfrm>
            <a:off x="838200" y="1518050"/>
            <a:ext cx="10879625" cy="4591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e60b03f0fd_0_71"/>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Where machine learning is used in the data science process</a:t>
            </a:r>
            <a:endParaRPr/>
          </a:p>
        </p:txBody>
      </p:sp>
      <p:sp>
        <p:nvSpPr>
          <p:cNvPr id="148" name="Google Shape;148;g3e60b03f0fd_0_71"/>
          <p:cNvSpPr txBox="1"/>
          <p:nvPr>
            <p:ph idx="1" type="body"/>
          </p:nvPr>
        </p:nvSpPr>
        <p:spPr>
          <a:xfrm>
            <a:off x="838200" y="1518050"/>
            <a:ext cx="10515600" cy="459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a:t>The data modeling phase can’t start until you have </a:t>
            </a:r>
            <a:r>
              <a:rPr b="1" lang="en-IN">
                <a:solidFill>
                  <a:srgbClr val="232387"/>
                </a:solidFill>
              </a:rPr>
              <a:t>qualitative raw data</a:t>
            </a:r>
            <a:r>
              <a:rPr lang="en-IN"/>
              <a:t> you can understand. But prior to that, the </a:t>
            </a:r>
            <a:r>
              <a:rPr b="1" lang="en-IN">
                <a:solidFill>
                  <a:srgbClr val="232387"/>
                </a:solidFill>
              </a:rPr>
              <a:t>data preparation phase can benefit from the use of machine learning. </a:t>
            </a:r>
            <a:endParaRPr b="1">
              <a:solidFill>
                <a:srgbClr val="232387"/>
              </a:solidFill>
            </a:endParaRPr>
          </a:p>
          <a:p>
            <a:pPr indent="0" lvl="0" marL="0" rtl="0" algn="just">
              <a:spcBef>
                <a:spcPts val="1000"/>
              </a:spcBef>
              <a:spcAft>
                <a:spcPts val="0"/>
              </a:spcAft>
              <a:buNone/>
            </a:pPr>
            <a:r>
              <a:rPr lang="en-IN"/>
              <a:t>An example would be cleansing a list of text strings; machine learning can group similar strings together so it becomes easier to correct spelling errors.</a:t>
            </a:r>
            <a:endParaRPr/>
          </a:p>
          <a:p>
            <a:pPr indent="0" lvl="0" marL="0" rtl="0" algn="just">
              <a:spcBef>
                <a:spcPts val="1000"/>
              </a:spcBef>
              <a:spcAft>
                <a:spcPts val="0"/>
              </a:spcAft>
              <a:buNone/>
            </a:pPr>
            <a:r>
              <a:t/>
            </a:r>
            <a:endParaRPr/>
          </a:p>
          <a:p>
            <a:pPr indent="0" lvl="0" marL="0" rtl="0" algn="just">
              <a:spcBef>
                <a:spcPts val="1000"/>
              </a:spcBef>
              <a:spcAft>
                <a:spcPts val="0"/>
              </a:spcAft>
              <a:buNone/>
            </a:pPr>
            <a:r>
              <a:rPr b="1" lang="en-IN">
                <a:solidFill>
                  <a:srgbClr val="232387"/>
                </a:solidFill>
              </a:rPr>
              <a:t>Machine learning is also useful when exploring data. Algorithms can root out underlying patterns in the data where they’d be difficult to find with only charts.</a:t>
            </a:r>
            <a:endParaRPr b="1">
              <a:solidFill>
                <a:srgbClr val="232387"/>
              </a:solidFill>
            </a:endParaRPr>
          </a:p>
          <a:p>
            <a:pPr indent="0" lvl="0" marL="0" rtl="0" algn="just">
              <a:spcBef>
                <a:spcPts val="1000"/>
              </a:spcBef>
              <a:spcAft>
                <a:spcPts val="0"/>
              </a:spcAft>
              <a:buNone/>
            </a:pPr>
            <a:r>
              <a:t/>
            </a:r>
            <a:endParaRPr/>
          </a:p>
          <a:p>
            <a:pPr indent="0" lvl="0" marL="0" rtl="0" algn="just">
              <a:spcBef>
                <a:spcPts val="1000"/>
              </a:spcBef>
              <a:spcAft>
                <a:spcPts val="0"/>
              </a:spcAft>
              <a:buNone/>
            </a:pPr>
            <a:r>
              <a:rPr lang="en-IN"/>
              <a:t>Given that machine learning is useful throughout the data science process, it shouldn’t come as a surprise that </a:t>
            </a:r>
            <a:r>
              <a:rPr b="1" lang="en-IN">
                <a:solidFill>
                  <a:srgbClr val="232387"/>
                </a:solidFill>
              </a:rPr>
              <a:t>a considerable number of Python libraries were developed</a:t>
            </a:r>
            <a:r>
              <a:rPr lang="en-IN"/>
              <a:t> to make your life a bit easier.</a:t>
            </a:r>
            <a:endParaRPr/>
          </a:p>
        </p:txBody>
      </p:sp>
      <p:sp>
        <p:nvSpPr>
          <p:cNvPr id="149" name="Google Shape;149;g3e60b03f0fd_0_7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e60b03f0fd_0_8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56" name="Google Shape;156;g3e60b03f0fd_0_8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57" name="Google Shape;157;g3e60b03f0fd_0_8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158" name="Google Shape;158;g3e60b03f0fd_0_80"/>
          <p:cNvPicPr preferRelativeResize="0"/>
          <p:nvPr/>
        </p:nvPicPr>
        <p:blipFill>
          <a:blip r:embed="rId3">
            <a:alphaModFix/>
          </a:blip>
          <a:stretch>
            <a:fillRect/>
          </a:stretch>
        </p:blipFill>
        <p:spPr>
          <a:xfrm>
            <a:off x="838200" y="549050"/>
            <a:ext cx="10515600" cy="60174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e60b03f0fd_0_8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65" name="Google Shape;165;g3e60b03f0fd_0_88"/>
          <p:cNvSpPr txBox="1"/>
          <p:nvPr>
            <p:ph idx="1" type="body"/>
          </p:nvPr>
        </p:nvSpPr>
        <p:spPr>
          <a:xfrm>
            <a:off x="838200" y="549050"/>
            <a:ext cx="10515600" cy="58011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a:t>T</a:t>
            </a:r>
            <a:r>
              <a:rPr lang="en-IN"/>
              <a:t>he following packages can get you started by providing advanced functionalities with a few lines of code:</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SciPy </a:t>
            </a:r>
            <a:r>
              <a:rPr lang="en-IN"/>
              <a:t>is a library that integrates fundamental packages often used in scientific computing such as NumPy, matplotlib, Pandas, and SymPy.</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NumPy</a:t>
            </a:r>
            <a:r>
              <a:rPr lang="en-IN"/>
              <a:t> gives you access to powerful array functions and linear algebra functions.</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Matplotlib</a:t>
            </a:r>
            <a:r>
              <a:rPr lang="en-IN"/>
              <a:t> is a popular 2D plotting package with some 3D functionality.</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Pandas</a:t>
            </a:r>
            <a:r>
              <a:rPr lang="en-IN"/>
              <a:t> is a high-performance, but easy-to-use, data-wrangling package. It introduces dataframes to Python, a type of in-memory data table. It’s a concept that should sound familiar to regular users of R.</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SymPy</a:t>
            </a:r>
            <a:r>
              <a:rPr lang="en-IN"/>
              <a:t> is a package used for symbolic mathematics and computer algebra.</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StatsModels</a:t>
            </a:r>
            <a:r>
              <a:rPr lang="en-IN"/>
              <a:t> is a package for statistical methods and algorithms.</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Scikit-learn</a:t>
            </a:r>
            <a:r>
              <a:rPr lang="en-IN"/>
              <a:t> is a library filled with machine learning algorithms.</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RPy2</a:t>
            </a:r>
            <a:r>
              <a:rPr lang="en-IN"/>
              <a:t> allows you to call R functions from within Python. R is a popular open source statistics program.</a:t>
            </a:r>
            <a:endParaRPr/>
          </a:p>
          <a:p>
            <a:pPr indent="0" lvl="0" marL="0" rtl="0" algn="l">
              <a:spcBef>
                <a:spcPts val="1000"/>
              </a:spcBef>
              <a:spcAft>
                <a:spcPts val="0"/>
              </a:spcAft>
              <a:buNone/>
            </a:pPr>
            <a:r>
              <a:rPr lang="en-IN"/>
              <a:t>■ </a:t>
            </a:r>
            <a:r>
              <a:rPr b="1" lang="en-IN">
                <a:solidFill>
                  <a:srgbClr val="232387"/>
                </a:solidFill>
              </a:rPr>
              <a:t>NLTK (Natural Language Toolkit)</a:t>
            </a:r>
            <a:r>
              <a:rPr lang="en-IN"/>
              <a:t> is a Python toolkit with a focus on text analytics.</a:t>
            </a:r>
            <a:endParaRPr/>
          </a:p>
        </p:txBody>
      </p:sp>
      <p:sp>
        <p:nvSpPr>
          <p:cNvPr id="166" name="Google Shape;166;g3e60b03f0fd_0_8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e60b03f0fd_0_9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73" name="Google Shape;173;g3e60b03f0fd_0_96"/>
          <p:cNvSpPr txBox="1"/>
          <p:nvPr>
            <p:ph idx="1" type="body"/>
          </p:nvPr>
        </p:nvSpPr>
        <p:spPr>
          <a:xfrm>
            <a:off x="838200" y="549052"/>
            <a:ext cx="10515600" cy="5320200"/>
          </a:xfrm>
          <a:prstGeom prst="rect">
            <a:avLst/>
          </a:prstGeom>
        </p:spPr>
        <p:txBody>
          <a:bodyPr anchorCtr="0" anchor="t" bIns="45700" lIns="91425" spcFirstLastPara="1" rIns="91425" wrap="square" tIns="45700">
            <a:normAutofit/>
          </a:bodyPr>
          <a:lstStyle/>
          <a:p>
            <a:pPr indent="0" lvl="0" marL="457200" rtl="0" algn="just">
              <a:spcBef>
                <a:spcPts val="0"/>
              </a:spcBef>
              <a:spcAft>
                <a:spcPts val="0"/>
              </a:spcAft>
              <a:buNone/>
            </a:pPr>
            <a:r>
              <a:t/>
            </a:r>
            <a:endParaRPr b="1">
              <a:solidFill>
                <a:srgbClr val="232387"/>
              </a:solidFill>
            </a:endParaRPr>
          </a:p>
          <a:p>
            <a:pPr indent="-342900" lvl="0" marL="457200" rtl="0" algn="just">
              <a:spcBef>
                <a:spcPts val="0"/>
              </a:spcBef>
              <a:spcAft>
                <a:spcPts val="0"/>
              </a:spcAft>
              <a:buSzPts val="1800"/>
              <a:buChar char="•"/>
            </a:pPr>
            <a:r>
              <a:rPr b="1" lang="en-IN">
                <a:solidFill>
                  <a:srgbClr val="232387"/>
                </a:solidFill>
              </a:rPr>
              <a:t>Numba and NumbaPro</a:t>
            </a:r>
            <a:r>
              <a:rPr lang="en-IN"/>
              <a:t>—</a:t>
            </a:r>
            <a:r>
              <a:rPr b="1" lang="en-IN">
                <a:solidFill>
                  <a:srgbClr val="232387"/>
                </a:solidFill>
              </a:rPr>
              <a:t>These use just-in-time compilation to speed up applications written directly in Python and a few annotations.</a:t>
            </a:r>
            <a:r>
              <a:rPr lang="en-IN"/>
              <a:t> NumbaPro also allows you to use the power of your graphics processor unit (GPU).</a:t>
            </a:r>
            <a:endParaRPr/>
          </a:p>
          <a:p>
            <a:pPr indent="0" lvl="0" marL="457200" rtl="0" algn="just">
              <a:spcBef>
                <a:spcPts val="0"/>
              </a:spcBef>
              <a:spcAft>
                <a:spcPts val="0"/>
              </a:spcAft>
              <a:buNone/>
            </a:pPr>
            <a:r>
              <a:t/>
            </a:r>
            <a:endParaRPr/>
          </a:p>
          <a:p>
            <a:pPr indent="0" lvl="0" marL="0" rtl="0" algn="just">
              <a:spcBef>
                <a:spcPts val="0"/>
              </a:spcBef>
              <a:spcAft>
                <a:spcPts val="0"/>
              </a:spcAft>
              <a:buClr>
                <a:schemeClr val="dk1"/>
              </a:buClr>
              <a:buSzPts val="1100"/>
              <a:buFont typeface="Arial"/>
              <a:buNone/>
            </a:pPr>
            <a:r>
              <a:t/>
            </a:r>
            <a:endParaRPr/>
          </a:p>
          <a:p>
            <a:pPr indent="-342900" lvl="0" marL="457200" rtl="0" algn="just">
              <a:spcBef>
                <a:spcPts val="0"/>
              </a:spcBef>
              <a:spcAft>
                <a:spcPts val="0"/>
              </a:spcAft>
              <a:buSzPts val="1800"/>
              <a:buChar char="•"/>
            </a:pPr>
            <a:r>
              <a:rPr b="1" lang="en-IN">
                <a:solidFill>
                  <a:srgbClr val="232387"/>
                </a:solidFill>
              </a:rPr>
              <a:t>PyCUDA</a:t>
            </a:r>
            <a:r>
              <a:rPr lang="en-IN"/>
              <a:t>—This allows </a:t>
            </a:r>
            <a:r>
              <a:rPr b="1" lang="en-IN">
                <a:solidFill>
                  <a:srgbClr val="232387"/>
                </a:solidFill>
              </a:rPr>
              <a:t>you to write code that will be executed on the GPU</a:t>
            </a:r>
            <a:r>
              <a:rPr lang="en-IN"/>
              <a:t> instead of your CPU and is therefore ideal for calculation-heavy applications. </a:t>
            </a:r>
            <a:endParaRPr/>
          </a:p>
          <a:p>
            <a:pPr indent="-342900" lvl="0" marL="457200" rtl="0" algn="just">
              <a:spcBef>
                <a:spcPts val="0"/>
              </a:spcBef>
              <a:spcAft>
                <a:spcPts val="0"/>
              </a:spcAft>
              <a:buSzPts val="1800"/>
              <a:buChar char="•"/>
            </a:pPr>
            <a:r>
              <a:rPr lang="en-IN"/>
              <a:t>It works best with problems that lend themselves to being parallelized and need little input compared to the number of required computing cycles.</a:t>
            </a:r>
            <a:endParaRPr/>
          </a:p>
          <a:p>
            <a:pPr indent="-342900" lvl="0" marL="457200" rtl="0" algn="just">
              <a:spcBef>
                <a:spcPts val="0"/>
              </a:spcBef>
              <a:spcAft>
                <a:spcPts val="0"/>
              </a:spcAft>
              <a:buSzPts val="1800"/>
              <a:buChar char="•"/>
            </a:pPr>
            <a:r>
              <a:rPr lang="en-IN"/>
              <a:t> An example is studying the robustness of your predictions by calculating thousands of different outcomes based on a single start state.</a:t>
            </a:r>
            <a:endParaRPr/>
          </a:p>
          <a:p>
            <a:pPr indent="0" lvl="0" marL="0" rtl="0" algn="just">
              <a:spcBef>
                <a:spcPts val="0"/>
              </a:spcBef>
              <a:spcAft>
                <a:spcPts val="0"/>
              </a:spcAft>
              <a:buNone/>
            </a:pPr>
            <a:r>
              <a:t/>
            </a:r>
            <a:endParaRPr/>
          </a:p>
          <a:p>
            <a:pPr indent="0" lvl="0" marL="0" rtl="0" algn="just">
              <a:spcBef>
                <a:spcPts val="0"/>
              </a:spcBef>
              <a:spcAft>
                <a:spcPts val="0"/>
              </a:spcAft>
              <a:buClr>
                <a:schemeClr val="dk1"/>
              </a:buClr>
              <a:buSzPts val="1100"/>
              <a:buFont typeface="Arial"/>
              <a:buNone/>
            </a:pPr>
            <a:r>
              <a:t/>
            </a:r>
            <a:endParaRPr/>
          </a:p>
          <a:p>
            <a:pPr indent="-342900" lvl="0" marL="457200" rtl="0" algn="just">
              <a:spcBef>
                <a:spcPts val="0"/>
              </a:spcBef>
              <a:spcAft>
                <a:spcPts val="0"/>
              </a:spcAft>
              <a:buSzPts val="1800"/>
              <a:buChar char="•"/>
            </a:pPr>
            <a:r>
              <a:rPr b="1" lang="en-IN">
                <a:solidFill>
                  <a:srgbClr val="232387"/>
                </a:solidFill>
              </a:rPr>
              <a:t>Cython, or C for Python</a:t>
            </a:r>
            <a:r>
              <a:rPr lang="en-IN"/>
              <a:t>—This </a:t>
            </a:r>
            <a:r>
              <a:rPr b="1" lang="en-IN">
                <a:solidFill>
                  <a:srgbClr val="232387"/>
                </a:solidFill>
              </a:rPr>
              <a:t>brings the C programming language to Python</a:t>
            </a:r>
            <a:r>
              <a:rPr lang="en-IN"/>
              <a:t>. C is</a:t>
            </a:r>
            <a:endParaRPr/>
          </a:p>
          <a:p>
            <a:pPr indent="0" lvl="0" marL="457200" rtl="0" algn="just">
              <a:spcBef>
                <a:spcPts val="0"/>
              </a:spcBef>
              <a:spcAft>
                <a:spcPts val="0"/>
              </a:spcAft>
              <a:buNone/>
            </a:pPr>
            <a:r>
              <a:rPr lang="en-IN"/>
              <a:t>a lower-level language, so the code is closer to what the computer eventually uses</a:t>
            </a:r>
            <a:endParaRPr/>
          </a:p>
          <a:p>
            <a:pPr indent="0" lvl="0" marL="457200" rtl="0" algn="just">
              <a:spcBef>
                <a:spcPts val="0"/>
              </a:spcBef>
              <a:spcAft>
                <a:spcPts val="0"/>
              </a:spcAft>
              <a:buNone/>
            </a:pPr>
            <a:r>
              <a:rPr lang="en-IN"/>
              <a:t>(bytecode). The closer code is to bits and bytes, the faster it executes. </a:t>
            </a:r>
            <a:endParaRPr/>
          </a:p>
        </p:txBody>
      </p:sp>
      <p:sp>
        <p:nvSpPr>
          <p:cNvPr id="174" name="Google Shape;174;g3e60b03f0fd_0_9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e60b03f0fd_0_10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81" name="Google Shape;181;g3e60b03f0fd_0_104"/>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IN"/>
              <a:t>■ </a:t>
            </a:r>
            <a:r>
              <a:rPr b="1" lang="en-IN">
                <a:solidFill>
                  <a:srgbClr val="232387"/>
                </a:solidFill>
              </a:rPr>
              <a:t>Blaze</a:t>
            </a:r>
            <a:r>
              <a:rPr lang="en-IN"/>
              <a:t>—Blaze gives you data structures that can be bigger than your computer’s main memory, enabling you to work with large data sets.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a:t>■ </a:t>
            </a:r>
            <a:r>
              <a:rPr b="1" lang="en-IN">
                <a:solidFill>
                  <a:srgbClr val="232387"/>
                </a:solidFill>
              </a:rPr>
              <a:t>Dispy and IPCluster</a:t>
            </a:r>
            <a:r>
              <a:rPr lang="en-IN"/>
              <a:t>—These packages allow you to write code that can be distributed over a cluster of computers.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a:t>
            </a:r>
            <a:r>
              <a:rPr b="1" lang="en-IN">
                <a:solidFill>
                  <a:srgbClr val="232387"/>
                </a:solidFill>
              </a:rPr>
              <a:t>PP</a:t>
            </a:r>
            <a:r>
              <a:rPr lang="en-IN"/>
              <a:t>—Python is executed as a single process by default. With the help of PP you can parallelize computations on a single machine or over clusters.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a:t>
            </a:r>
            <a:r>
              <a:rPr b="1" lang="en-IN">
                <a:solidFill>
                  <a:srgbClr val="232387"/>
                </a:solidFill>
              </a:rPr>
              <a:t>Pydoop and Hadoopy</a:t>
            </a:r>
            <a:r>
              <a:rPr lang="en-IN"/>
              <a:t>—These connect Python to Hadoop, a common big data Framework.</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IN"/>
              <a:t>■ </a:t>
            </a:r>
            <a:r>
              <a:rPr b="1" lang="en-IN">
                <a:solidFill>
                  <a:srgbClr val="232387"/>
                </a:solidFill>
              </a:rPr>
              <a:t>PySpark</a:t>
            </a:r>
            <a:r>
              <a:rPr lang="en-IN"/>
              <a:t>—This connects Python and Spark, an in-memory big data framework.</a:t>
            </a:r>
            <a:endParaRPr/>
          </a:p>
        </p:txBody>
      </p:sp>
      <p:sp>
        <p:nvSpPr>
          <p:cNvPr id="182" name="Google Shape;182;g3e60b03f0fd_0_10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60b03f0fd_0_11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modeling process</a:t>
            </a:r>
            <a:endParaRPr/>
          </a:p>
        </p:txBody>
      </p:sp>
      <p:sp>
        <p:nvSpPr>
          <p:cNvPr id="189" name="Google Shape;189;g3e60b03f0fd_0_112"/>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a:t>The modeling phase consists of four steps:</a:t>
            </a:r>
            <a:endParaRPr/>
          </a:p>
          <a:p>
            <a:pPr indent="0" lvl="0" marL="0" rtl="0" algn="l">
              <a:spcBef>
                <a:spcPts val="1000"/>
              </a:spcBef>
              <a:spcAft>
                <a:spcPts val="0"/>
              </a:spcAft>
              <a:buClr>
                <a:schemeClr val="dk1"/>
              </a:buClr>
              <a:buSzPts val="1100"/>
              <a:buFont typeface="Arial"/>
              <a:buNone/>
            </a:pPr>
            <a:r>
              <a:rPr b="1" lang="en-IN">
                <a:solidFill>
                  <a:srgbClr val="232387"/>
                </a:solidFill>
              </a:rPr>
              <a:t>1 Feature engineering and model selection</a:t>
            </a:r>
            <a:endParaRPr b="1">
              <a:solidFill>
                <a:srgbClr val="232387"/>
              </a:solidFill>
            </a:endParaRPr>
          </a:p>
          <a:p>
            <a:pPr indent="0" lvl="0" marL="0" rtl="0" algn="l">
              <a:spcBef>
                <a:spcPts val="1000"/>
              </a:spcBef>
              <a:spcAft>
                <a:spcPts val="0"/>
              </a:spcAft>
              <a:buClr>
                <a:schemeClr val="dk1"/>
              </a:buClr>
              <a:buSzPts val="1100"/>
              <a:buFont typeface="Arial"/>
              <a:buNone/>
            </a:pPr>
            <a:r>
              <a:rPr b="1" lang="en-IN">
                <a:solidFill>
                  <a:srgbClr val="232387"/>
                </a:solidFill>
              </a:rPr>
              <a:t>2 Training the model</a:t>
            </a:r>
            <a:endParaRPr b="1">
              <a:solidFill>
                <a:srgbClr val="232387"/>
              </a:solidFill>
            </a:endParaRPr>
          </a:p>
          <a:p>
            <a:pPr indent="0" lvl="0" marL="0" rtl="0" algn="l">
              <a:spcBef>
                <a:spcPts val="1000"/>
              </a:spcBef>
              <a:spcAft>
                <a:spcPts val="0"/>
              </a:spcAft>
              <a:buClr>
                <a:schemeClr val="dk1"/>
              </a:buClr>
              <a:buSzPts val="1100"/>
              <a:buFont typeface="Arial"/>
              <a:buNone/>
            </a:pPr>
            <a:r>
              <a:rPr b="1" lang="en-IN">
                <a:solidFill>
                  <a:srgbClr val="232387"/>
                </a:solidFill>
              </a:rPr>
              <a:t>3 Model validation and selection</a:t>
            </a:r>
            <a:endParaRPr b="1">
              <a:solidFill>
                <a:srgbClr val="232387"/>
              </a:solidFill>
            </a:endParaRPr>
          </a:p>
          <a:p>
            <a:pPr indent="0" lvl="0" marL="0" rtl="0" algn="l">
              <a:spcBef>
                <a:spcPts val="1000"/>
              </a:spcBef>
              <a:spcAft>
                <a:spcPts val="0"/>
              </a:spcAft>
              <a:buClr>
                <a:schemeClr val="dk1"/>
              </a:buClr>
              <a:buSzPts val="1100"/>
              <a:buFont typeface="Arial"/>
              <a:buNone/>
            </a:pPr>
            <a:r>
              <a:rPr b="1" lang="en-IN">
                <a:solidFill>
                  <a:srgbClr val="232387"/>
                </a:solidFill>
              </a:rPr>
              <a:t>4 Applying the trained model to unseen data</a:t>
            </a:r>
            <a:endParaRPr b="1">
              <a:solidFill>
                <a:srgbClr val="232387"/>
              </a:solidFill>
            </a:endParaRPr>
          </a:p>
          <a:p>
            <a:pPr indent="0" lvl="0" marL="0" rtl="0" algn="l">
              <a:spcBef>
                <a:spcPts val="1000"/>
              </a:spcBef>
              <a:spcAft>
                <a:spcPts val="0"/>
              </a:spcAft>
              <a:buClr>
                <a:schemeClr val="dk1"/>
              </a:buClr>
              <a:buSzPts val="1100"/>
              <a:buFont typeface="Arial"/>
              <a:buNone/>
            </a:pPr>
            <a:r>
              <a:t/>
            </a:r>
            <a:endParaRPr b="1">
              <a:solidFill>
                <a:srgbClr val="232387"/>
              </a:solidFill>
            </a:endParaRPr>
          </a:p>
          <a:p>
            <a:pPr indent="0" lvl="0" marL="0" rtl="0" algn="just">
              <a:spcBef>
                <a:spcPts val="1000"/>
              </a:spcBef>
              <a:spcAft>
                <a:spcPts val="0"/>
              </a:spcAft>
              <a:buClr>
                <a:schemeClr val="dk1"/>
              </a:buClr>
              <a:buSzPts val="1100"/>
              <a:buFont typeface="Arial"/>
              <a:buNone/>
            </a:pPr>
            <a:r>
              <a:rPr lang="en-IN"/>
              <a:t>Before you find a good model, you’ll probably iterate among the first three steps.</a:t>
            </a:r>
            <a:endParaRPr/>
          </a:p>
          <a:p>
            <a:pPr indent="0" lvl="0" marL="0" rtl="0" algn="just">
              <a:spcBef>
                <a:spcPts val="1000"/>
              </a:spcBef>
              <a:spcAft>
                <a:spcPts val="0"/>
              </a:spcAft>
              <a:buClr>
                <a:schemeClr val="dk1"/>
              </a:buClr>
              <a:buSzPts val="1100"/>
              <a:buFont typeface="Arial"/>
              <a:buNone/>
            </a:pPr>
            <a:r>
              <a:rPr lang="en-IN"/>
              <a:t>The last step isn’t always present because sometimes the goal isn’t prediction but explanation (root cause analysis). </a:t>
            </a:r>
            <a:endParaRPr/>
          </a:p>
          <a:p>
            <a:pPr indent="0" lvl="0" marL="0" rtl="0" algn="just">
              <a:spcBef>
                <a:spcPts val="1000"/>
              </a:spcBef>
              <a:spcAft>
                <a:spcPts val="0"/>
              </a:spcAft>
              <a:buClr>
                <a:schemeClr val="dk1"/>
              </a:buClr>
              <a:buSzPts val="1100"/>
              <a:buFont typeface="Arial"/>
              <a:buNone/>
            </a:pPr>
            <a:r>
              <a:rPr lang="en-IN"/>
              <a:t>For instance, you might want to find out the causes of species’ extinctions but not necessarily predict which one is next in line to leave our planet.</a:t>
            </a:r>
            <a:endParaRPr/>
          </a:p>
        </p:txBody>
      </p:sp>
      <p:sp>
        <p:nvSpPr>
          <p:cNvPr id="190" name="Google Shape;190;g3e60b03f0fd_0_11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e60b03f0fd_0_12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650"/>
              <a:t>The modeling process- </a:t>
            </a:r>
            <a:r>
              <a:rPr lang="en-IN" sz="2650"/>
              <a:t>Feature engineering and model selection</a:t>
            </a:r>
            <a:endParaRPr/>
          </a:p>
        </p:txBody>
      </p:sp>
      <p:sp>
        <p:nvSpPr>
          <p:cNvPr id="197" name="Google Shape;197;g3e60b03f0fd_0_121"/>
          <p:cNvSpPr txBox="1"/>
          <p:nvPr>
            <p:ph idx="1" type="body"/>
          </p:nvPr>
        </p:nvSpPr>
        <p:spPr>
          <a:xfrm>
            <a:off x="838200" y="1518051"/>
            <a:ext cx="10515600" cy="49491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Clr>
                <a:schemeClr val="dk1"/>
              </a:buClr>
              <a:buSzPts val="1100"/>
              <a:buFont typeface="Arial"/>
              <a:buNone/>
            </a:pPr>
            <a:r>
              <a:rPr lang="en-IN" sz="2200"/>
              <a:t>It’s possible to </a:t>
            </a:r>
            <a:r>
              <a:rPr b="1" lang="en-IN" sz="2200">
                <a:solidFill>
                  <a:srgbClr val="232387"/>
                </a:solidFill>
              </a:rPr>
              <a:t>chain or combine multiple techniques</a:t>
            </a:r>
            <a:r>
              <a:rPr lang="en-IN" sz="2200"/>
              <a:t>. When you chain multiple models, the output of the first model becomes an input for the second model. When you combine multiple models, you train them independently and combine their results. This last technique is also known as </a:t>
            </a:r>
            <a:r>
              <a:rPr b="1" lang="en-IN" sz="2200">
                <a:solidFill>
                  <a:srgbClr val="232387"/>
                </a:solidFill>
              </a:rPr>
              <a:t>ensemble learning</a:t>
            </a:r>
            <a:r>
              <a:rPr lang="en-IN" sz="2200"/>
              <a:t>.</a:t>
            </a:r>
            <a:endParaRPr sz="2200"/>
          </a:p>
          <a:p>
            <a:pPr indent="0" lvl="0" marL="0" rtl="0" algn="just">
              <a:spcBef>
                <a:spcPts val="1000"/>
              </a:spcBef>
              <a:spcAft>
                <a:spcPts val="0"/>
              </a:spcAft>
              <a:buNone/>
            </a:pPr>
            <a:r>
              <a:rPr lang="en-IN" sz="2200"/>
              <a:t>A </a:t>
            </a:r>
            <a:r>
              <a:rPr b="1" lang="en-IN" sz="2200">
                <a:solidFill>
                  <a:srgbClr val="232387"/>
                </a:solidFill>
              </a:rPr>
              <a:t>model consists of constructs of information called features or predictors and a target or response variable</a:t>
            </a:r>
            <a:r>
              <a:rPr lang="en-IN" sz="2200"/>
              <a:t>. </a:t>
            </a:r>
            <a:endParaRPr sz="2200"/>
          </a:p>
          <a:p>
            <a:pPr indent="0" lvl="0" marL="0" rtl="0" algn="just">
              <a:spcBef>
                <a:spcPts val="1000"/>
              </a:spcBef>
              <a:spcAft>
                <a:spcPts val="0"/>
              </a:spcAft>
              <a:buNone/>
            </a:pPr>
            <a:r>
              <a:rPr lang="en-IN" sz="2200"/>
              <a:t>Your model’s goal is to predict the target variable, for </a:t>
            </a:r>
            <a:r>
              <a:rPr b="1" lang="en-IN" sz="2200">
                <a:solidFill>
                  <a:srgbClr val="232387"/>
                </a:solidFill>
              </a:rPr>
              <a:t>example, tomorrow’s high temperature</a:t>
            </a:r>
            <a:r>
              <a:rPr lang="en-IN" sz="2200"/>
              <a:t>. </a:t>
            </a:r>
            <a:endParaRPr sz="2200"/>
          </a:p>
          <a:p>
            <a:pPr indent="0" lvl="0" marL="0" rtl="0" algn="just">
              <a:spcBef>
                <a:spcPts val="1000"/>
              </a:spcBef>
              <a:spcAft>
                <a:spcPts val="0"/>
              </a:spcAft>
              <a:buNone/>
            </a:pPr>
            <a:r>
              <a:rPr lang="en-IN" sz="2200"/>
              <a:t>The variables that help you do this and are (usually) known to you are the features or predictor variables such as </a:t>
            </a:r>
            <a:r>
              <a:rPr b="1" lang="en-IN" sz="2200">
                <a:solidFill>
                  <a:srgbClr val="232387"/>
                </a:solidFill>
              </a:rPr>
              <a:t>today’s temperature, cloud movements, current wind speed, and so on</a:t>
            </a:r>
            <a:r>
              <a:rPr lang="en-IN" sz="2200"/>
              <a:t>. </a:t>
            </a:r>
            <a:endParaRPr sz="2200"/>
          </a:p>
          <a:p>
            <a:pPr indent="0" lvl="0" marL="0" rtl="0" algn="just">
              <a:spcBef>
                <a:spcPts val="1000"/>
              </a:spcBef>
              <a:spcAft>
                <a:spcPts val="0"/>
              </a:spcAft>
              <a:buNone/>
            </a:pPr>
            <a:r>
              <a:rPr lang="en-IN" sz="2200"/>
              <a:t>The </a:t>
            </a:r>
            <a:r>
              <a:rPr b="1" lang="en-IN" sz="2200">
                <a:solidFill>
                  <a:srgbClr val="232387"/>
                </a:solidFill>
              </a:rPr>
              <a:t>best models are those that accurately represent reality, preferably while staying concise and interpretable.</a:t>
            </a:r>
            <a:r>
              <a:rPr lang="en-IN" sz="2200"/>
              <a:t> To achieve this, feature engineering is the most important and arguably most interesting part of modeling. </a:t>
            </a:r>
            <a:endParaRPr sz="2200"/>
          </a:p>
        </p:txBody>
      </p:sp>
      <p:sp>
        <p:nvSpPr>
          <p:cNvPr id="198" name="Google Shape;198;g3e60b03f0fd_0_12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e678aa1d9a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500"/>
              <a:t>The modeling process- </a:t>
            </a:r>
            <a:r>
              <a:rPr lang="en-IN" sz="2500"/>
              <a:t>Training your model</a:t>
            </a:r>
            <a:endParaRPr sz="2500"/>
          </a:p>
        </p:txBody>
      </p:sp>
      <p:sp>
        <p:nvSpPr>
          <p:cNvPr id="205" name="Google Shape;205;g3e678aa1d9a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sz="2300"/>
              <a:t>With the right predictors in place and a modeling technique in mind, you can progress to </a:t>
            </a:r>
            <a:r>
              <a:rPr b="1" lang="en-IN" sz="2300">
                <a:solidFill>
                  <a:srgbClr val="232387"/>
                </a:solidFill>
              </a:rPr>
              <a:t>model training. In this phase you present to your model data from which it can learn.</a:t>
            </a:r>
            <a:endParaRPr b="1" sz="2300">
              <a:solidFill>
                <a:srgbClr val="232387"/>
              </a:solidFill>
            </a:endParaRPr>
          </a:p>
          <a:p>
            <a:pPr indent="0" lvl="0" marL="0" rtl="0" algn="just">
              <a:spcBef>
                <a:spcPts val="1000"/>
              </a:spcBef>
              <a:spcAft>
                <a:spcPts val="0"/>
              </a:spcAft>
              <a:buClr>
                <a:schemeClr val="dk1"/>
              </a:buClr>
              <a:buSzPts val="1100"/>
              <a:buFont typeface="Arial"/>
              <a:buNone/>
            </a:pPr>
            <a:r>
              <a:t/>
            </a:r>
            <a:endParaRPr sz="2300"/>
          </a:p>
          <a:p>
            <a:pPr indent="0" lvl="0" marL="0" rtl="0" algn="just">
              <a:spcBef>
                <a:spcPts val="1000"/>
              </a:spcBef>
              <a:spcAft>
                <a:spcPts val="0"/>
              </a:spcAft>
              <a:buClr>
                <a:schemeClr val="dk1"/>
              </a:buClr>
              <a:buSzPts val="1100"/>
              <a:buFont typeface="Arial"/>
              <a:buNone/>
            </a:pPr>
            <a:r>
              <a:rPr lang="en-IN" sz="2300"/>
              <a:t>The most common modeling techniques have industry-ready implementations in almost every programming language, including Python. </a:t>
            </a:r>
            <a:r>
              <a:rPr b="1" lang="en-IN" sz="2300">
                <a:solidFill>
                  <a:srgbClr val="232387"/>
                </a:solidFill>
              </a:rPr>
              <a:t>These enable you to train your models by executing a few lines of code.</a:t>
            </a:r>
            <a:r>
              <a:rPr lang="en-IN" sz="2300"/>
              <a:t> </a:t>
            </a:r>
            <a:endParaRPr sz="2300"/>
          </a:p>
          <a:p>
            <a:pPr indent="0" lvl="0" marL="0" rtl="0" algn="just">
              <a:spcBef>
                <a:spcPts val="1000"/>
              </a:spcBef>
              <a:spcAft>
                <a:spcPts val="0"/>
              </a:spcAft>
              <a:buNone/>
            </a:pPr>
            <a:r>
              <a:t/>
            </a:r>
            <a:endParaRPr sz="2300"/>
          </a:p>
          <a:p>
            <a:pPr indent="0" lvl="0" marL="0" rtl="0" algn="just">
              <a:spcBef>
                <a:spcPts val="1000"/>
              </a:spcBef>
              <a:spcAft>
                <a:spcPts val="0"/>
              </a:spcAft>
              <a:buClr>
                <a:schemeClr val="dk1"/>
              </a:buClr>
              <a:buSzPts val="1100"/>
              <a:buFont typeface="Arial"/>
              <a:buNone/>
            </a:pPr>
            <a:r>
              <a:rPr lang="en-IN" sz="2300"/>
              <a:t>Once a model is trained, it’s time to </a:t>
            </a:r>
            <a:r>
              <a:rPr b="1" lang="en-IN" sz="2300">
                <a:solidFill>
                  <a:srgbClr val="232387"/>
                </a:solidFill>
              </a:rPr>
              <a:t>test whether it can be extrapolated to reality: model validation.</a:t>
            </a:r>
            <a:endParaRPr b="1" sz="2300">
              <a:solidFill>
                <a:srgbClr val="232387"/>
              </a:solidFill>
            </a:endParaRPr>
          </a:p>
          <a:p>
            <a:pPr indent="0" lvl="0" marL="0" rtl="0" algn="l">
              <a:spcBef>
                <a:spcPts val="1000"/>
              </a:spcBef>
              <a:spcAft>
                <a:spcPts val="0"/>
              </a:spcAft>
              <a:buNone/>
            </a:pPr>
            <a:r>
              <a:t/>
            </a:r>
            <a:endParaRPr b="1">
              <a:solidFill>
                <a:srgbClr val="232387"/>
              </a:solidFill>
            </a:endParaRPr>
          </a:p>
        </p:txBody>
      </p:sp>
      <p:sp>
        <p:nvSpPr>
          <p:cNvPr id="206" name="Google Shape;206;g3e678aa1d9a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e678aa1d9a_0_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400"/>
              <a:t>The modeling process - </a:t>
            </a:r>
            <a:r>
              <a:rPr lang="en-IN" sz="2400"/>
              <a:t>Validating a model</a:t>
            </a:r>
            <a:endParaRPr sz="2400"/>
          </a:p>
        </p:txBody>
      </p:sp>
      <p:sp>
        <p:nvSpPr>
          <p:cNvPr id="213" name="Google Shape;213;g3e678aa1d9a_0_9"/>
          <p:cNvSpPr txBox="1"/>
          <p:nvPr>
            <p:ph idx="1" type="body"/>
          </p:nvPr>
        </p:nvSpPr>
        <p:spPr>
          <a:xfrm>
            <a:off x="838200" y="1258950"/>
            <a:ext cx="10515600" cy="5599200"/>
          </a:xfrm>
          <a:prstGeom prst="rect">
            <a:avLst/>
          </a:prstGeom>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018"/>
              <a:buNone/>
            </a:pPr>
            <a:r>
              <a:rPr b="1" lang="en-IN" sz="2400">
                <a:solidFill>
                  <a:srgbClr val="232387"/>
                </a:solidFill>
                <a:latin typeface="Calibri"/>
                <a:ea typeface="Calibri"/>
                <a:cs typeface="Calibri"/>
                <a:sym typeface="Calibri"/>
              </a:rPr>
              <a:t>Model Selection in Data Science</a:t>
            </a:r>
            <a:endParaRPr b="1" sz="2400">
              <a:solidFill>
                <a:srgbClr val="232387"/>
              </a:solidFill>
              <a:latin typeface="Calibri"/>
              <a:ea typeface="Calibri"/>
              <a:cs typeface="Calibri"/>
              <a:sym typeface="Calibri"/>
            </a:endParaRPr>
          </a:p>
          <a:p>
            <a:pPr indent="-292100" lvl="0" marL="342900" rtl="0" algn="l">
              <a:lnSpc>
                <a:spcPct val="80000"/>
              </a:lnSpc>
              <a:spcBef>
                <a:spcPts val="0"/>
              </a:spcBef>
              <a:spcAft>
                <a:spcPts val="0"/>
              </a:spcAft>
              <a:buSzPts val="2400"/>
              <a:buChar char="•"/>
            </a:pPr>
            <a:r>
              <a:rPr lang="en-IN" sz="2400">
                <a:latin typeface="Calibri"/>
                <a:ea typeface="Calibri"/>
                <a:cs typeface="Calibri"/>
                <a:sym typeface="Calibri"/>
              </a:rPr>
              <a:t>Choosing the right model is important.</a:t>
            </a:r>
            <a:endParaRPr sz="2400">
              <a:latin typeface="Calibri"/>
              <a:ea typeface="Calibri"/>
              <a:cs typeface="Calibri"/>
              <a:sym typeface="Calibri"/>
            </a:endParaRPr>
          </a:p>
          <a:p>
            <a:pPr indent="-292100" lvl="0" marL="342900" rtl="0" algn="l">
              <a:lnSpc>
                <a:spcPct val="80000"/>
              </a:lnSpc>
              <a:spcBef>
                <a:spcPts val="640"/>
              </a:spcBef>
              <a:spcAft>
                <a:spcPts val="0"/>
              </a:spcAft>
              <a:buClr>
                <a:srgbClr val="232387"/>
              </a:buClr>
              <a:buSzPts val="2400"/>
              <a:buChar char="•"/>
            </a:pPr>
            <a:r>
              <a:rPr b="1" lang="en-IN" sz="2400">
                <a:solidFill>
                  <a:srgbClr val="232387"/>
                </a:solidFill>
                <a:latin typeface="Calibri"/>
                <a:ea typeface="Calibri"/>
                <a:cs typeface="Calibri"/>
                <a:sym typeface="Calibri"/>
              </a:rPr>
              <a:t>A good model:</a:t>
            </a:r>
            <a:endParaRPr b="1" sz="2400">
              <a:solidFill>
                <a:srgbClr val="232387"/>
              </a:solidFill>
              <a:latin typeface="Calibri"/>
              <a:ea typeface="Calibri"/>
              <a:cs typeface="Calibri"/>
              <a:sym typeface="Calibri"/>
            </a:endParaRPr>
          </a:p>
          <a:p>
            <a:pPr indent="0" lvl="0" marL="342900" rtl="0" algn="l">
              <a:lnSpc>
                <a:spcPct val="80000"/>
              </a:lnSpc>
              <a:spcBef>
                <a:spcPts val="640"/>
              </a:spcBef>
              <a:spcAft>
                <a:spcPts val="0"/>
              </a:spcAft>
              <a:buSzPts val="1018"/>
              <a:buNone/>
            </a:pPr>
            <a:r>
              <a:rPr b="1" lang="en-IN" sz="2400">
                <a:solidFill>
                  <a:srgbClr val="232387"/>
                </a:solidFill>
                <a:latin typeface="Calibri"/>
                <a:ea typeface="Calibri"/>
                <a:cs typeface="Calibri"/>
                <a:sym typeface="Calibri"/>
              </a:rPr>
              <a:t>- Has high predictive power</a:t>
            </a:r>
            <a:endParaRPr b="1" sz="2400">
              <a:solidFill>
                <a:srgbClr val="232387"/>
              </a:solidFill>
              <a:latin typeface="Calibri"/>
              <a:ea typeface="Calibri"/>
              <a:cs typeface="Calibri"/>
              <a:sym typeface="Calibri"/>
            </a:endParaRPr>
          </a:p>
          <a:p>
            <a:pPr indent="0" lvl="0" marL="342900" rtl="0" algn="l">
              <a:lnSpc>
                <a:spcPct val="80000"/>
              </a:lnSpc>
              <a:spcBef>
                <a:spcPts val="640"/>
              </a:spcBef>
              <a:spcAft>
                <a:spcPts val="0"/>
              </a:spcAft>
              <a:buSzPts val="1018"/>
              <a:buNone/>
            </a:pPr>
            <a:r>
              <a:rPr b="1" lang="en-IN" sz="2400">
                <a:solidFill>
                  <a:srgbClr val="232387"/>
                </a:solidFill>
                <a:latin typeface="Calibri"/>
                <a:ea typeface="Calibri"/>
                <a:cs typeface="Calibri"/>
                <a:sym typeface="Calibri"/>
              </a:rPr>
              <a:t>- Generalizes well to new data</a:t>
            </a:r>
            <a:endParaRPr b="1" sz="2400">
              <a:solidFill>
                <a:srgbClr val="232387"/>
              </a:solidFill>
              <a:latin typeface="Calibri"/>
              <a:ea typeface="Calibri"/>
              <a:cs typeface="Calibri"/>
              <a:sym typeface="Calibri"/>
            </a:endParaRPr>
          </a:p>
          <a:p>
            <a:pPr indent="0" lvl="0" marL="0" rtl="0" algn="l">
              <a:lnSpc>
                <a:spcPct val="80000"/>
              </a:lnSpc>
              <a:spcBef>
                <a:spcPts val="0"/>
              </a:spcBef>
              <a:spcAft>
                <a:spcPts val="0"/>
              </a:spcAft>
              <a:buSzPts val="1018"/>
              <a:buNone/>
            </a:pPr>
            <a:r>
              <a:t/>
            </a:r>
            <a:endParaRPr sz="2400">
              <a:latin typeface="Calibri"/>
              <a:ea typeface="Calibri"/>
              <a:cs typeface="Calibri"/>
              <a:sym typeface="Calibri"/>
            </a:endParaRPr>
          </a:p>
          <a:p>
            <a:pPr indent="0" lvl="0" marL="0" rtl="0" algn="l">
              <a:lnSpc>
                <a:spcPct val="80000"/>
              </a:lnSpc>
              <a:spcBef>
                <a:spcPts val="0"/>
              </a:spcBef>
              <a:spcAft>
                <a:spcPts val="0"/>
              </a:spcAft>
              <a:buSzPts val="1018"/>
              <a:buNone/>
            </a:pPr>
            <a:r>
              <a:rPr lang="en-IN" sz="2400">
                <a:latin typeface="Calibri"/>
                <a:ea typeface="Calibri"/>
                <a:cs typeface="Calibri"/>
                <a:sym typeface="Calibri"/>
              </a:rPr>
              <a:t>Error Measures</a:t>
            </a:r>
            <a:endParaRPr sz="2400">
              <a:latin typeface="Calibri"/>
              <a:ea typeface="Calibri"/>
              <a:cs typeface="Calibri"/>
              <a:sym typeface="Calibri"/>
            </a:endParaRPr>
          </a:p>
          <a:p>
            <a:pPr indent="-292100" lvl="0" marL="342900" rtl="0" algn="l">
              <a:lnSpc>
                <a:spcPct val="80000"/>
              </a:lnSpc>
              <a:spcBef>
                <a:spcPts val="0"/>
              </a:spcBef>
              <a:spcAft>
                <a:spcPts val="0"/>
              </a:spcAft>
              <a:buClr>
                <a:srgbClr val="232387"/>
              </a:buClr>
              <a:buSzPts val="2400"/>
              <a:buChar char="•"/>
            </a:pPr>
            <a:r>
              <a:rPr b="1" lang="en-IN" sz="2400">
                <a:solidFill>
                  <a:srgbClr val="232387"/>
                </a:solidFill>
                <a:latin typeface="Calibri"/>
                <a:ea typeface="Calibri"/>
                <a:cs typeface="Calibri"/>
                <a:sym typeface="Calibri"/>
              </a:rPr>
              <a:t>Used to check how wrong a model is.</a:t>
            </a:r>
            <a:endParaRPr b="1" sz="2400">
              <a:solidFill>
                <a:srgbClr val="232387"/>
              </a:solidFill>
              <a:latin typeface="Calibri"/>
              <a:ea typeface="Calibri"/>
              <a:cs typeface="Calibri"/>
              <a:sym typeface="Calibri"/>
            </a:endParaRPr>
          </a:p>
          <a:p>
            <a:pPr indent="0" lvl="0" marL="342900" rtl="0" algn="l">
              <a:lnSpc>
                <a:spcPct val="80000"/>
              </a:lnSpc>
              <a:spcBef>
                <a:spcPts val="640"/>
              </a:spcBef>
              <a:spcAft>
                <a:spcPts val="0"/>
              </a:spcAft>
              <a:buSzPts val="1018"/>
              <a:buNone/>
            </a:pPr>
            <a:r>
              <a:rPr lang="en-IN" sz="2400">
                <a:latin typeface="Calibri"/>
                <a:ea typeface="Calibri"/>
                <a:cs typeface="Calibri"/>
                <a:sym typeface="Calibri"/>
              </a:rPr>
              <a:t>- Classification Error Rate </a:t>
            </a:r>
            <a:endParaRPr sz="2400">
              <a:latin typeface="Calibri"/>
              <a:ea typeface="Calibri"/>
              <a:cs typeface="Calibri"/>
              <a:sym typeface="Calibri"/>
            </a:endParaRPr>
          </a:p>
          <a:p>
            <a:pPr indent="114300" lvl="0" marL="800100" rtl="0" algn="l">
              <a:lnSpc>
                <a:spcPct val="80000"/>
              </a:lnSpc>
              <a:spcBef>
                <a:spcPts val="0"/>
              </a:spcBef>
              <a:spcAft>
                <a:spcPts val="0"/>
              </a:spcAft>
              <a:buSzPts val="1018"/>
              <a:buNone/>
            </a:pPr>
            <a:r>
              <a:rPr lang="en-IN" sz="2400">
                <a:latin typeface="Calibri"/>
                <a:ea typeface="Calibri"/>
                <a:cs typeface="Calibri"/>
                <a:sym typeface="Calibri"/>
              </a:rPr>
              <a:t>- Percentage of wrong predictions</a:t>
            </a:r>
            <a:endParaRPr sz="2400">
              <a:latin typeface="Calibri"/>
              <a:ea typeface="Calibri"/>
              <a:cs typeface="Calibri"/>
              <a:sym typeface="Calibri"/>
            </a:endParaRPr>
          </a:p>
          <a:p>
            <a:pPr indent="457200" lvl="0" marL="457200" rtl="0" algn="l">
              <a:lnSpc>
                <a:spcPct val="80000"/>
              </a:lnSpc>
              <a:spcBef>
                <a:spcPts val="640"/>
              </a:spcBef>
              <a:spcAft>
                <a:spcPts val="0"/>
              </a:spcAft>
              <a:buSzPts val="1018"/>
              <a:buNone/>
            </a:pPr>
            <a:r>
              <a:rPr lang="en-IN" sz="2400">
                <a:latin typeface="Calibri"/>
                <a:ea typeface="Calibri"/>
                <a:cs typeface="Calibri"/>
                <a:sym typeface="Calibri"/>
              </a:rPr>
              <a:t>- Lower is better</a:t>
            </a:r>
            <a:endParaRPr sz="2400">
              <a:latin typeface="Calibri"/>
              <a:ea typeface="Calibri"/>
              <a:cs typeface="Calibri"/>
              <a:sym typeface="Calibri"/>
            </a:endParaRPr>
          </a:p>
          <a:p>
            <a:pPr indent="457200" lvl="0" marL="457200" rtl="0" algn="l">
              <a:lnSpc>
                <a:spcPct val="80000"/>
              </a:lnSpc>
              <a:spcBef>
                <a:spcPts val="640"/>
              </a:spcBef>
              <a:spcAft>
                <a:spcPts val="0"/>
              </a:spcAft>
              <a:buSzPts val="1018"/>
              <a:buNone/>
            </a:pPr>
            <a:r>
              <a:rPr lang="en-IN" sz="2400">
                <a:latin typeface="Calibri"/>
                <a:ea typeface="Calibri"/>
                <a:cs typeface="Calibri"/>
                <a:sym typeface="Calibri"/>
              </a:rPr>
              <a:t>- Used for classification problems</a:t>
            </a:r>
            <a:endParaRPr sz="2400">
              <a:latin typeface="Calibri"/>
              <a:ea typeface="Calibri"/>
              <a:cs typeface="Calibri"/>
              <a:sym typeface="Calibri"/>
            </a:endParaRPr>
          </a:p>
          <a:p>
            <a:pPr indent="0" lvl="0" marL="342900" rtl="0" algn="l">
              <a:lnSpc>
                <a:spcPct val="80000"/>
              </a:lnSpc>
              <a:spcBef>
                <a:spcPts val="640"/>
              </a:spcBef>
              <a:spcAft>
                <a:spcPts val="0"/>
              </a:spcAft>
              <a:buSzPts val="1018"/>
              <a:buNone/>
            </a:pPr>
            <a:r>
              <a:rPr lang="en-IN" sz="2400">
                <a:latin typeface="Calibri"/>
                <a:ea typeface="Calibri"/>
                <a:cs typeface="Calibri"/>
                <a:sym typeface="Calibri"/>
              </a:rPr>
              <a:t>- Mean Squared Error (MSE)</a:t>
            </a:r>
            <a:endParaRPr sz="2400">
              <a:latin typeface="Calibri"/>
              <a:ea typeface="Calibri"/>
              <a:cs typeface="Calibri"/>
              <a:sym typeface="Calibri"/>
            </a:endParaRPr>
          </a:p>
          <a:p>
            <a:pPr indent="114300" lvl="0" marL="800100" rtl="0" algn="l">
              <a:lnSpc>
                <a:spcPct val="80000"/>
              </a:lnSpc>
              <a:spcBef>
                <a:spcPts val="0"/>
              </a:spcBef>
              <a:spcAft>
                <a:spcPts val="0"/>
              </a:spcAft>
              <a:buSzPts val="1018"/>
              <a:buNone/>
            </a:pPr>
            <a:r>
              <a:rPr lang="en-IN" sz="2400">
                <a:latin typeface="Calibri"/>
                <a:ea typeface="Calibri"/>
                <a:cs typeface="Calibri"/>
                <a:sym typeface="Calibri"/>
              </a:rPr>
              <a:t>- Measures average squared error</a:t>
            </a:r>
            <a:endParaRPr sz="2400">
              <a:latin typeface="Calibri"/>
              <a:ea typeface="Calibri"/>
              <a:cs typeface="Calibri"/>
              <a:sym typeface="Calibri"/>
            </a:endParaRPr>
          </a:p>
          <a:p>
            <a:pPr indent="114300" lvl="0" marL="800100" rtl="0" algn="l">
              <a:lnSpc>
                <a:spcPct val="80000"/>
              </a:lnSpc>
              <a:spcBef>
                <a:spcPts val="640"/>
              </a:spcBef>
              <a:spcAft>
                <a:spcPts val="0"/>
              </a:spcAft>
              <a:buSzPts val="1018"/>
              <a:buNone/>
            </a:pPr>
            <a:r>
              <a:rPr lang="en-IN" sz="2400">
                <a:latin typeface="Calibri"/>
                <a:ea typeface="Calibri"/>
                <a:cs typeface="Calibri"/>
                <a:sym typeface="Calibri"/>
              </a:rPr>
              <a:t>- Big errors are penalized more</a:t>
            </a:r>
            <a:endParaRPr sz="2400">
              <a:latin typeface="Calibri"/>
              <a:ea typeface="Calibri"/>
              <a:cs typeface="Calibri"/>
              <a:sym typeface="Calibri"/>
            </a:endParaRPr>
          </a:p>
          <a:p>
            <a:pPr indent="114300" lvl="0" marL="800100" rtl="0" algn="l">
              <a:lnSpc>
                <a:spcPct val="80000"/>
              </a:lnSpc>
              <a:spcBef>
                <a:spcPts val="640"/>
              </a:spcBef>
              <a:spcAft>
                <a:spcPts val="0"/>
              </a:spcAft>
              <a:buSzPts val="1018"/>
              <a:buNone/>
            </a:pPr>
            <a:r>
              <a:rPr lang="en-IN" sz="2400">
                <a:latin typeface="Calibri"/>
                <a:ea typeface="Calibri"/>
                <a:cs typeface="Calibri"/>
                <a:sym typeface="Calibri"/>
              </a:rPr>
              <a:t>- Errors do not cancel each other</a:t>
            </a:r>
            <a:endParaRPr sz="2400"/>
          </a:p>
        </p:txBody>
      </p:sp>
      <p:sp>
        <p:nvSpPr>
          <p:cNvPr id="214" name="Google Shape;214;g3e678aa1d9a_0_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15" name="Google Shape;215;g3e678aa1d9a_0_9"/>
          <p:cNvPicPr preferRelativeResize="0"/>
          <p:nvPr/>
        </p:nvPicPr>
        <p:blipFill>
          <a:blip r:embed="rId3">
            <a:alphaModFix/>
          </a:blip>
          <a:stretch>
            <a:fillRect/>
          </a:stretch>
        </p:blipFill>
        <p:spPr>
          <a:xfrm>
            <a:off x="7477550" y="4359975"/>
            <a:ext cx="4065500" cy="1990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e678aa1d9a_0_1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400"/>
              <a:t>The modeling process - Validating a model</a:t>
            </a:r>
            <a:endParaRPr sz="2400"/>
          </a:p>
        </p:txBody>
      </p:sp>
      <p:sp>
        <p:nvSpPr>
          <p:cNvPr id="222" name="Google Shape;222;g3e678aa1d9a_0_17"/>
          <p:cNvSpPr txBox="1"/>
          <p:nvPr>
            <p:ph idx="1" type="body"/>
          </p:nvPr>
        </p:nvSpPr>
        <p:spPr>
          <a:xfrm>
            <a:off x="838200" y="1518050"/>
            <a:ext cx="10515600" cy="51360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4400"/>
              <a:buNone/>
            </a:pPr>
            <a:r>
              <a:rPr lang="en-IN" sz="2400">
                <a:latin typeface="Calibri"/>
                <a:ea typeface="Calibri"/>
                <a:cs typeface="Calibri"/>
                <a:sym typeface="Calibri"/>
              </a:rPr>
              <a:t>Validation Strategies							</a:t>
            </a:r>
            <a:r>
              <a:rPr lang="en-IN" sz="2400">
                <a:latin typeface="Calibri"/>
                <a:ea typeface="Calibri"/>
                <a:cs typeface="Calibri"/>
                <a:sym typeface="Calibri"/>
              </a:rPr>
              <a:t>- Leave-One-Out</a:t>
            </a:r>
            <a:endParaRPr sz="2400">
              <a:latin typeface="Calibri"/>
              <a:ea typeface="Calibri"/>
              <a:cs typeface="Calibri"/>
              <a:sym typeface="Calibri"/>
            </a:endParaRPr>
          </a:p>
          <a:p>
            <a:pPr indent="-292100" lvl="0" marL="342900" rtl="0" algn="l">
              <a:lnSpc>
                <a:spcPct val="100000"/>
              </a:lnSpc>
              <a:spcBef>
                <a:spcPts val="0"/>
              </a:spcBef>
              <a:spcAft>
                <a:spcPts val="0"/>
              </a:spcAft>
              <a:buSzPts val="2400"/>
              <a:buChar char="•"/>
            </a:pPr>
            <a:r>
              <a:rPr b="1" lang="en-IN" sz="2400">
                <a:solidFill>
                  <a:srgbClr val="232387"/>
                </a:solidFill>
                <a:latin typeface="Calibri"/>
                <a:ea typeface="Calibri"/>
                <a:cs typeface="Calibri"/>
                <a:sym typeface="Calibri"/>
              </a:rPr>
              <a:t>Ways to test model performance</a:t>
            </a:r>
            <a:r>
              <a:rPr lang="en-IN" sz="2400">
                <a:latin typeface="Calibri"/>
                <a:ea typeface="Calibri"/>
                <a:cs typeface="Calibri"/>
                <a:sym typeface="Calibri"/>
              </a:rPr>
              <a:t>:				</a:t>
            </a:r>
            <a:r>
              <a:rPr lang="en-IN" sz="2400">
                <a:latin typeface="Calibri"/>
                <a:ea typeface="Calibri"/>
                <a:cs typeface="Calibri"/>
                <a:sym typeface="Calibri"/>
              </a:rPr>
              <a:t>- Special case of k-fold</a:t>
            </a:r>
            <a:endParaRPr sz="2400">
              <a:latin typeface="Calibri"/>
              <a:ea typeface="Calibri"/>
              <a:cs typeface="Calibri"/>
              <a:sym typeface="Calibri"/>
            </a:endParaRPr>
          </a:p>
          <a:p>
            <a:pPr indent="0" lvl="0" marL="342900" rtl="0" algn="l">
              <a:lnSpc>
                <a:spcPct val="100000"/>
              </a:lnSpc>
              <a:spcBef>
                <a:spcPts val="640"/>
              </a:spcBef>
              <a:spcAft>
                <a:spcPts val="0"/>
              </a:spcAft>
              <a:buNone/>
            </a:pPr>
            <a:r>
              <a:rPr lang="en-IN" sz="2400">
                <a:latin typeface="Calibri"/>
                <a:ea typeface="Calibri"/>
                <a:cs typeface="Calibri"/>
                <a:sym typeface="Calibri"/>
              </a:rPr>
              <a:t>- Train-Test Split								</a:t>
            </a:r>
            <a:r>
              <a:rPr lang="en-IN" sz="2400">
                <a:latin typeface="Calibri"/>
                <a:ea typeface="Calibri"/>
                <a:cs typeface="Calibri"/>
                <a:sym typeface="Calibri"/>
              </a:rPr>
              <a:t>- Train on all except one data point</a:t>
            </a:r>
            <a:endParaRPr sz="2400">
              <a:latin typeface="Calibri"/>
              <a:ea typeface="Calibri"/>
              <a:cs typeface="Calibri"/>
              <a:sym typeface="Calibri"/>
            </a:endParaRPr>
          </a:p>
          <a:p>
            <a:pPr indent="0" lvl="0" marL="342900" rtl="0" algn="l">
              <a:lnSpc>
                <a:spcPct val="100000"/>
              </a:lnSpc>
              <a:spcBef>
                <a:spcPts val="640"/>
              </a:spcBef>
              <a:spcAft>
                <a:spcPts val="0"/>
              </a:spcAft>
              <a:buNone/>
            </a:pPr>
            <a:r>
              <a:rPr lang="en-IN" sz="2400">
                <a:latin typeface="Calibri"/>
                <a:ea typeface="Calibri"/>
                <a:cs typeface="Calibri"/>
                <a:sym typeface="Calibri"/>
              </a:rPr>
              <a:t>		- Split data into training and testing sets		-</a:t>
            </a:r>
            <a:r>
              <a:rPr lang="en-IN" sz="2400">
                <a:latin typeface="Calibri"/>
                <a:ea typeface="Calibri"/>
                <a:cs typeface="Calibri"/>
                <a:sym typeface="Calibri"/>
              </a:rPr>
              <a:t>Used for small datasets</a:t>
            </a:r>
            <a:endParaRPr sz="2400">
              <a:latin typeface="Calibri"/>
              <a:ea typeface="Calibri"/>
              <a:cs typeface="Calibri"/>
              <a:sym typeface="Calibri"/>
            </a:endParaRPr>
          </a:p>
          <a:p>
            <a:pPr indent="171450" lvl="0" marL="742950" rtl="0" algn="l">
              <a:lnSpc>
                <a:spcPct val="100000"/>
              </a:lnSpc>
              <a:spcBef>
                <a:spcPts val="640"/>
              </a:spcBef>
              <a:spcAft>
                <a:spcPts val="0"/>
              </a:spcAft>
              <a:buNone/>
            </a:pPr>
            <a:r>
              <a:rPr lang="en-IN" sz="2400">
                <a:latin typeface="Calibri"/>
                <a:ea typeface="Calibri"/>
                <a:cs typeface="Calibri"/>
                <a:sym typeface="Calibri"/>
              </a:rPr>
              <a:t>- Train on one part</a:t>
            </a:r>
            <a:endParaRPr sz="2400">
              <a:latin typeface="Calibri"/>
              <a:ea typeface="Calibri"/>
              <a:cs typeface="Calibri"/>
              <a:sym typeface="Calibri"/>
            </a:endParaRPr>
          </a:p>
          <a:p>
            <a:pPr indent="114300" lvl="0" marL="800100" rtl="0" algn="l">
              <a:lnSpc>
                <a:spcPct val="100000"/>
              </a:lnSpc>
              <a:spcBef>
                <a:spcPts val="640"/>
              </a:spcBef>
              <a:spcAft>
                <a:spcPts val="0"/>
              </a:spcAft>
              <a:buNone/>
            </a:pPr>
            <a:r>
              <a:rPr lang="en-IN" sz="2400">
                <a:latin typeface="Calibri"/>
                <a:ea typeface="Calibri"/>
                <a:cs typeface="Calibri"/>
                <a:sym typeface="Calibri"/>
              </a:rPr>
              <a:t>- Test on unseen data</a:t>
            </a:r>
            <a:endParaRPr sz="2400">
              <a:latin typeface="Calibri"/>
              <a:ea typeface="Calibri"/>
              <a:cs typeface="Calibri"/>
              <a:sym typeface="Calibri"/>
            </a:endParaRPr>
          </a:p>
          <a:p>
            <a:pPr indent="0" lvl="0" marL="342900" rtl="0" algn="l">
              <a:lnSpc>
                <a:spcPct val="100000"/>
              </a:lnSpc>
              <a:spcBef>
                <a:spcPts val="640"/>
              </a:spcBef>
              <a:spcAft>
                <a:spcPts val="0"/>
              </a:spcAft>
              <a:buNone/>
            </a:pPr>
            <a:r>
              <a:rPr lang="en-IN" sz="2400">
                <a:latin typeface="Calibri"/>
                <a:ea typeface="Calibri"/>
                <a:cs typeface="Calibri"/>
                <a:sym typeface="Calibri"/>
              </a:rPr>
              <a:t>- K-Fold Cross Validation</a:t>
            </a:r>
            <a:endParaRPr sz="2400">
              <a:latin typeface="Calibri"/>
              <a:ea typeface="Calibri"/>
              <a:cs typeface="Calibri"/>
              <a:sym typeface="Calibri"/>
            </a:endParaRPr>
          </a:p>
          <a:p>
            <a:pPr indent="114300" lvl="0" marL="800100" rtl="0" algn="l">
              <a:lnSpc>
                <a:spcPct val="100000"/>
              </a:lnSpc>
              <a:spcBef>
                <a:spcPts val="0"/>
              </a:spcBef>
              <a:spcAft>
                <a:spcPts val="0"/>
              </a:spcAft>
              <a:buNone/>
            </a:pPr>
            <a:r>
              <a:rPr lang="en-IN" sz="2400">
                <a:latin typeface="Calibri"/>
                <a:ea typeface="Calibri"/>
                <a:cs typeface="Calibri"/>
                <a:sym typeface="Calibri"/>
              </a:rPr>
              <a:t>- Divide data into k parts</a:t>
            </a:r>
            <a:endParaRPr sz="2400">
              <a:latin typeface="Calibri"/>
              <a:ea typeface="Calibri"/>
              <a:cs typeface="Calibri"/>
              <a:sym typeface="Calibri"/>
            </a:endParaRPr>
          </a:p>
          <a:p>
            <a:pPr indent="457200" lvl="0" marL="457200" rtl="0" algn="l">
              <a:lnSpc>
                <a:spcPct val="100000"/>
              </a:lnSpc>
              <a:spcBef>
                <a:spcPts val="640"/>
              </a:spcBef>
              <a:spcAft>
                <a:spcPts val="0"/>
              </a:spcAft>
              <a:buNone/>
            </a:pPr>
            <a:r>
              <a:rPr lang="en-IN" sz="2400">
                <a:latin typeface="Calibri"/>
                <a:ea typeface="Calibri"/>
                <a:cs typeface="Calibri"/>
                <a:sym typeface="Calibri"/>
              </a:rPr>
              <a:t>- Use each part as test once</a:t>
            </a:r>
            <a:endParaRPr sz="2400">
              <a:latin typeface="Calibri"/>
              <a:ea typeface="Calibri"/>
              <a:cs typeface="Calibri"/>
              <a:sym typeface="Calibri"/>
            </a:endParaRPr>
          </a:p>
          <a:p>
            <a:pPr indent="457200" lvl="0" marL="457200" rtl="0" algn="l">
              <a:lnSpc>
                <a:spcPct val="100000"/>
              </a:lnSpc>
              <a:spcBef>
                <a:spcPts val="640"/>
              </a:spcBef>
              <a:spcAft>
                <a:spcPts val="0"/>
              </a:spcAft>
              <a:buNone/>
            </a:pPr>
            <a:r>
              <a:rPr lang="en-IN" sz="2400">
                <a:latin typeface="Calibri"/>
                <a:ea typeface="Calibri"/>
                <a:cs typeface="Calibri"/>
                <a:sym typeface="Calibri"/>
              </a:rPr>
              <a:t>- Uses all data efficiently</a:t>
            </a:r>
            <a:endParaRPr sz="2400">
              <a:latin typeface="Calibri"/>
              <a:ea typeface="Calibri"/>
              <a:cs typeface="Calibri"/>
              <a:sym typeface="Calibri"/>
            </a:endParaRPr>
          </a:p>
          <a:p>
            <a:pPr indent="0" lvl="0" marL="342900" rtl="0" algn="l">
              <a:lnSpc>
                <a:spcPct val="100000"/>
              </a:lnSpc>
              <a:spcBef>
                <a:spcPts val="640"/>
              </a:spcBef>
              <a:spcAft>
                <a:spcPts val="0"/>
              </a:spcAft>
              <a:buNone/>
            </a:pPr>
            <a:r>
              <a:t/>
            </a:r>
            <a:endParaRPr sz="2400">
              <a:latin typeface="Calibri"/>
              <a:ea typeface="Calibri"/>
              <a:cs typeface="Calibri"/>
              <a:sym typeface="Calibri"/>
            </a:endParaRPr>
          </a:p>
          <a:p>
            <a:pPr indent="114300" lvl="0" marL="800100" rtl="0" algn="l">
              <a:lnSpc>
                <a:spcPct val="100000"/>
              </a:lnSpc>
              <a:spcBef>
                <a:spcPts val="0"/>
              </a:spcBef>
              <a:spcAft>
                <a:spcPts val="0"/>
              </a:spcAft>
              <a:buNone/>
            </a:pPr>
            <a:r>
              <a:t/>
            </a:r>
            <a:endParaRPr sz="2400">
              <a:latin typeface="Calibri"/>
              <a:ea typeface="Calibri"/>
              <a:cs typeface="Calibri"/>
              <a:sym typeface="Calibri"/>
            </a:endParaRPr>
          </a:p>
          <a:p>
            <a:pPr indent="457200" lvl="0" marL="457200" rtl="0" algn="l">
              <a:lnSpc>
                <a:spcPct val="100000"/>
              </a:lnSpc>
              <a:spcBef>
                <a:spcPts val="640"/>
              </a:spcBef>
              <a:spcAft>
                <a:spcPts val="0"/>
              </a:spcAft>
              <a:buNone/>
            </a:pPr>
            <a:r>
              <a:t/>
            </a:r>
            <a:endParaRPr sz="2400">
              <a:latin typeface="Calibri"/>
              <a:ea typeface="Calibri"/>
              <a:cs typeface="Calibri"/>
              <a:sym typeface="Calibri"/>
            </a:endParaRPr>
          </a:p>
          <a:p>
            <a:pPr indent="114300" lvl="0" marL="800100" rtl="0" algn="l">
              <a:lnSpc>
                <a:spcPct val="100000"/>
              </a:lnSpc>
              <a:spcBef>
                <a:spcPts val="640"/>
              </a:spcBef>
              <a:spcAft>
                <a:spcPts val="0"/>
              </a:spcAft>
              <a:buNone/>
            </a:pPr>
            <a:r>
              <a:t/>
            </a:r>
            <a:endParaRPr sz="1800">
              <a:latin typeface="Calibri"/>
              <a:ea typeface="Calibri"/>
              <a:cs typeface="Calibri"/>
              <a:sym typeface="Calibri"/>
            </a:endParaRPr>
          </a:p>
          <a:p>
            <a:pPr indent="0" lvl="0" marL="0" rtl="0" algn="l">
              <a:lnSpc>
                <a:spcPct val="70000"/>
              </a:lnSpc>
              <a:spcBef>
                <a:spcPts val="1000"/>
              </a:spcBef>
              <a:spcAft>
                <a:spcPts val="0"/>
              </a:spcAft>
              <a:buSzPts val="1018"/>
              <a:buNone/>
            </a:pPr>
            <a:r>
              <a:t/>
            </a:r>
            <a:endParaRPr sz="1850"/>
          </a:p>
        </p:txBody>
      </p:sp>
      <p:sp>
        <p:nvSpPr>
          <p:cNvPr id="223" name="Google Shape;223;g3e678aa1d9a_0_1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e678aa1d9a_0_3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400"/>
              <a:t>The modeling process - Validating a model</a:t>
            </a:r>
            <a:endParaRPr sz="2400"/>
          </a:p>
        </p:txBody>
      </p:sp>
      <p:sp>
        <p:nvSpPr>
          <p:cNvPr id="230" name="Google Shape;230;g3e678aa1d9a_0_31"/>
          <p:cNvSpPr txBox="1"/>
          <p:nvPr>
            <p:ph idx="1" type="body"/>
          </p:nvPr>
        </p:nvSpPr>
        <p:spPr>
          <a:xfrm>
            <a:off x="838200" y="1518050"/>
            <a:ext cx="10515600" cy="51360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IN" sz="2600">
                <a:latin typeface="Calibri"/>
                <a:ea typeface="Calibri"/>
                <a:cs typeface="Calibri"/>
                <a:sym typeface="Calibri"/>
              </a:rPr>
              <a:t>Regularization									Confusion Matrix</a:t>
            </a:r>
            <a:endParaRPr sz="2600">
              <a:latin typeface="Calibri"/>
              <a:ea typeface="Calibri"/>
              <a:cs typeface="Calibri"/>
              <a:sym typeface="Calibri"/>
            </a:endParaRPr>
          </a:p>
          <a:p>
            <a:pPr indent="0" lvl="0" marL="800100" rtl="0" algn="l">
              <a:lnSpc>
                <a:spcPct val="100000"/>
              </a:lnSpc>
              <a:spcBef>
                <a:spcPts val="0"/>
              </a:spcBef>
              <a:spcAft>
                <a:spcPts val="0"/>
              </a:spcAft>
              <a:buNone/>
            </a:pPr>
            <a:r>
              <a:rPr lang="en-IN" sz="2600">
                <a:latin typeface="Calibri"/>
                <a:ea typeface="Calibri"/>
                <a:cs typeface="Calibri"/>
                <a:sym typeface="Calibri"/>
              </a:rPr>
              <a:t>- Prevents overfitting						</a:t>
            </a:r>
            <a:r>
              <a:rPr lang="en-IN" sz="2200">
                <a:latin typeface="Calibri"/>
                <a:ea typeface="Calibri"/>
                <a:cs typeface="Calibri"/>
                <a:sym typeface="Calibri"/>
              </a:rPr>
              <a:t>Used for classification models</a:t>
            </a:r>
            <a:endParaRPr sz="2200">
              <a:latin typeface="Calibri"/>
              <a:ea typeface="Calibri"/>
              <a:cs typeface="Calibri"/>
              <a:sym typeface="Calibri"/>
            </a:endParaRPr>
          </a:p>
          <a:p>
            <a:pPr indent="0" lvl="0" marL="800100" rtl="0" algn="l">
              <a:lnSpc>
                <a:spcPct val="100000"/>
              </a:lnSpc>
              <a:spcBef>
                <a:spcPts val="640"/>
              </a:spcBef>
              <a:spcAft>
                <a:spcPts val="0"/>
              </a:spcAft>
              <a:buNone/>
            </a:pPr>
            <a:r>
              <a:rPr lang="en-IN" sz="2600">
                <a:latin typeface="Calibri"/>
                <a:ea typeface="Calibri"/>
                <a:cs typeface="Calibri"/>
                <a:sym typeface="Calibri"/>
              </a:rPr>
              <a:t>- Penalizes complex models				</a:t>
            </a:r>
            <a:r>
              <a:rPr lang="en-IN" sz="2200">
                <a:latin typeface="Calibri"/>
                <a:ea typeface="Calibri"/>
                <a:cs typeface="Calibri"/>
                <a:sym typeface="Calibri"/>
              </a:rPr>
              <a:t>Shows correct and incorrect predictions</a:t>
            </a:r>
            <a:endParaRPr sz="2600">
              <a:latin typeface="Calibri"/>
              <a:ea typeface="Calibri"/>
              <a:cs typeface="Calibri"/>
              <a:sym typeface="Calibri"/>
            </a:endParaRPr>
          </a:p>
          <a:p>
            <a:pPr indent="0" lvl="0" marL="800100" rtl="0" algn="l">
              <a:lnSpc>
                <a:spcPct val="100000"/>
              </a:lnSpc>
              <a:spcBef>
                <a:spcPts val="640"/>
              </a:spcBef>
              <a:spcAft>
                <a:spcPts val="0"/>
              </a:spcAft>
              <a:buNone/>
            </a:pPr>
            <a:r>
              <a:rPr lang="en-IN" sz="2600">
                <a:latin typeface="Calibri"/>
                <a:ea typeface="Calibri"/>
                <a:cs typeface="Calibri"/>
                <a:sym typeface="Calibri"/>
              </a:rPr>
              <a:t>- Keeps model simple</a:t>
            </a:r>
            <a:endParaRPr sz="2600">
              <a:latin typeface="Calibri"/>
              <a:ea typeface="Calibri"/>
              <a:cs typeface="Calibri"/>
              <a:sym typeface="Calibri"/>
            </a:endParaRPr>
          </a:p>
          <a:p>
            <a:pPr indent="0" lvl="0" marL="0" rtl="0" algn="l">
              <a:lnSpc>
                <a:spcPct val="100000"/>
              </a:lnSpc>
              <a:spcBef>
                <a:spcPts val="0"/>
              </a:spcBef>
              <a:spcAft>
                <a:spcPts val="0"/>
              </a:spcAft>
              <a:buNone/>
            </a:pPr>
            <a:r>
              <a:rPr lang="en-IN" sz="2600">
                <a:latin typeface="Calibri"/>
                <a:ea typeface="Calibri"/>
                <a:cs typeface="Calibri"/>
                <a:sym typeface="Calibri"/>
              </a:rPr>
              <a:t>Types of Regularization</a:t>
            </a:r>
            <a:endParaRPr sz="2600">
              <a:latin typeface="Calibri"/>
              <a:ea typeface="Calibri"/>
              <a:cs typeface="Calibri"/>
              <a:sym typeface="Calibri"/>
            </a:endParaRPr>
          </a:p>
          <a:p>
            <a:pPr indent="0" lvl="0" marL="800100" rtl="0" algn="l">
              <a:lnSpc>
                <a:spcPct val="100000"/>
              </a:lnSpc>
              <a:spcBef>
                <a:spcPts val="0"/>
              </a:spcBef>
              <a:spcAft>
                <a:spcPts val="0"/>
              </a:spcAft>
              <a:buNone/>
            </a:pPr>
            <a:r>
              <a:rPr lang="en-IN" sz="2600">
                <a:latin typeface="Calibri"/>
                <a:ea typeface="Calibri"/>
                <a:cs typeface="Calibri"/>
                <a:sym typeface="Calibri"/>
              </a:rPr>
              <a:t>- L1: Reduces number of features</a:t>
            </a:r>
            <a:endParaRPr sz="2600">
              <a:latin typeface="Calibri"/>
              <a:ea typeface="Calibri"/>
              <a:cs typeface="Calibri"/>
              <a:sym typeface="Calibri"/>
            </a:endParaRPr>
          </a:p>
          <a:p>
            <a:pPr indent="114300" lvl="0" marL="800100" rtl="0" algn="l">
              <a:lnSpc>
                <a:spcPct val="100000"/>
              </a:lnSpc>
              <a:spcBef>
                <a:spcPts val="640"/>
              </a:spcBef>
              <a:spcAft>
                <a:spcPts val="0"/>
              </a:spcAft>
              <a:buNone/>
            </a:pPr>
            <a:r>
              <a:rPr lang="en-IN" sz="2600">
                <a:latin typeface="Calibri"/>
                <a:ea typeface="Calibri"/>
                <a:cs typeface="Calibri"/>
                <a:sym typeface="Calibri"/>
              </a:rPr>
              <a:t>- L2: Balances feature importance</a:t>
            </a:r>
            <a:endParaRPr sz="2600">
              <a:latin typeface="Calibri"/>
              <a:ea typeface="Calibri"/>
              <a:cs typeface="Calibri"/>
              <a:sym typeface="Calibri"/>
            </a:endParaRPr>
          </a:p>
          <a:p>
            <a:pPr indent="0" lvl="0" marL="0" rtl="0" algn="l">
              <a:lnSpc>
                <a:spcPct val="100000"/>
              </a:lnSpc>
              <a:spcBef>
                <a:spcPts val="0"/>
              </a:spcBef>
              <a:spcAft>
                <a:spcPts val="0"/>
              </a:spcAft>
              <a:buNone/>
            </a:pPr>
            <a:r>
              <a:rPr lang="en-IN" sz="2200">
                <a:latin typeface="Calibri"/>
                <a:ea typeface="Calibri"/>
                <a:cs typeface="Calibri"/>
                <a:sym typeface="Calibri"/>
              </a:rPr>
              <a:t>Importance of Validation</a:t>
            </a:r>
            <a:endParaRPr sz="2200">
              <a:latin typeface="Calibri"/>
              <a:ea typeface="Calibri"/>
              <a:cs typeface="Calibri"/>
              <a:sym typeface="Calibri"/>
            </a:endParaRPr>
          </a:p>
          <a:p>
            <a:pPr indent="0" lvl="0" marL="342900" rtl="0" algn="l">
              <a:lnSpc>
                <a:spcPct val="100000"/>
              </a:lnSpc>
              <a:spcBef>
                <a:spcPts val="0"/>
              </a:spcBef>
              <a:spcAft>
                <a:spcPts val="0"/>
              </a:spcAft>
              <a:buNone/>
            </a:pPr>
            <a:r>
              <a:rPr lang="en-IN" sz="2200">
                <a:latin typeface="Calibri"/>
                <a:ea typeface="Calibri"/>
                <a:cs typeface="Calibri"/>
                <a:sym typeface="Calibri"/>
              </a:rPr>
              <a:t>- Ensures model works in real life</a:t>
            </a:r>
            <a:endParaRPr sz="2200">
              <a:latin typeface="Calibri"/>
              <a:ea typeface="Calibri"/>
              <a:cs typeface="Calibri"/>
              <a:sym typeface="Calibri"/>
            </a:endParaRPr>
          </a:p>
          <a:p>
            <a:pPr indent="0" lvl="0" marL="342900" rtl="0" algn="l">
              <a:lnSpc>
                <a:spcPct val="100000"/>
              </a:lnSpc>
              <a:spcBef>
                <a:spcPts val="640"/>
              </a:spcBef>
              <a:spcAft>
                <a:spcPts val="0"/>
              </a:spcAft>
              <a:buNone/>
            </a:pPr>
            <a:r>
              <a:rPr lang="en-IN" sz="2200">
                <a:latin typeface="Calibri"/>
                <a:ea typeface="Calibri"/>
                <a:cs typeface="Calibri"/>
                <a:sym typeface="Calibri"/>
              </a:rPr>
              <a:t>- Must test on unseen data</a:t>
            </a:r>
            <a:endParaRPr sz="2200">
              <a:latin typeface="Calibri"/>
              <a:ea typeface="Calibri"/>
              <a:cs typeface="Calibri"/>
              <a:sym typeface="Calibri"/>
            </a:endParaRPr>
          </a:p>
          <a:p>
            <a:pPr indent="0" lvl="0" marL="342900" rtl="0" algn="l">
              <a:lnSpc>
                <a:spcPct val="100000"/>
              </a:lnSpc>
              <a:spcBef>
                <a:spcPts val="640"/>
              </a:spcBef>
              <a:spcAft>
                <a:spcPts val="0"/>
              </a:spcAft>
              <a:buNone/>
            </a:pPr>
            <a:r>
              <a:rPr lang="en-IN" sz="2200">
                <a:latin typeface="Calibri"/>
                <a:ea typeface="Calibri"/>
                <a:cs typeface="Calibri"/>
                <a:sym typeface="Calibri"/>
              </a:rPr>
              <a:t>- Poor validation leads to wrong results</a:t>
            </a:r>
            <a:endParaRPr sz="2200">
              <a:latin typeface="Calibri"/>
              <a:ea typeface="Calibri"/>
              <a:cs typeface="Calibri"/>
              <a:sym typeface="Calibri"/>
            </a:endParaRPr>
          </a:p>
          <a:p>
            <a:pPr indent="0" lvl="0" marL="0" rtl="0" algn="l">
              <a:lnSpc>
                <a:spcPct val="100000"/>
              </a:lnSpc>
              <a:spcBef>
                <a:spcPts val="640"/>
              </a:spcBef>
              <a:spcAft>
                <a:spcPts val="0"/>
              </a:spcAft>
              <a:buNone/>
            </a:pPr>
            <a:r>
              <a:t/>
            </a:r>
            <a:endParaRPr sz="2400">
              <a:latin typeface="Calibri"/>
              <a:ea typeface="Calibri"/>
              <a:cs typeface="Calibri"/>
              <a:sym typeface="Calibri"/>
            </a:endParaRPr>
          </a:p>
          <a:p>
            <a:pPr indent="0" lvl="0" marL="0" rtl="0" algn="l">
              <a:lnSpc>
                <a:spcPct val="100000"/>
              </a:lnSpc>
              <a:spcBef>
                <a:spcPts val="640"/>
              </a:spcBef>
              <a:spcAft>
                <a:spcPts val="0"/>
              </a:spcAft>
              <a:buNone/>
            </a:pPr>
            <a:r>
              <a:t/>
            </a:r>
            <a:endParaRPr sz="3200">
              <a:latin typeface="Calibri"/>
              <a:ea typeface="Calibri"/>
              <a:cs typeface="Calibri"/>
              <a:sym typeface="Calibri"/>
            </a:endParaRPr>
          </a:p>
          <a:p>
            <a:pPr indent="0" lvl="0" marL="0" rtl="0" algn="l">
              <a:lnSpc>
                <a:spcPct val="100000"/>
              </a:lnSpc>
              <a:spcBef>
                <a:spcPts val="640"/>
              </a:spcBef>
              <a:spcAft>
                <a:spcPts val="0"/>
              </a:spcAft>
              <a:buNone/>
            </a:pPr>
            <a:r>
              <a:t/>
            </a:r>
            <a:endParaRPr sz="1800">
              <a:latin typeface="Calibri"/>
              <a:ea typeface="Calibri"/>
              <a:cs typeface="Calibri"/>
              <a:sym typeface="Calibri"/>
            </a:endParaRPr>
          </a:p>
          <a:p>
            <a:pPr indent="0" lvl="0" marL="0" rtl="0" algn="l">
              <a:lnSpc>
                <a:spcPct val="70000"/>
              </a:lnSpc>
              <a:spcBef>
                <a:spcPts val="1000"/>
              </a:spcBef>
              <a:spcAft>
                <a:spcPts val="0"/>
              </a:spcAft>
              <a:buSzPts val="1018"/>
              <a:buNone/>
            </a:pPr>
            <a:r>
              <a:t/>
            </a:r>
            <a:endParaRPr sz="1850"/>
          </a:p>
        </p:txBody>
      </p:sp>
      <p:sp>
        <p:nvSpPr>
          <p:cNvPr id="231" name="Google Shape;231;g3e678aa1d9a_0_3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232" name="Google Shape;232;g3e678aa1d9a_0_31"/>
          <p:cNvPicPr preferRelativeResize="0"/>
          <p:nvPr/>
        </p:nvPicPr>
        <p:blipFill rotWithShape="1">
          <a:blip r:embed="rId3">
            <a:alphaModFix/>
          </a:blip>
          <a:srcRect b="0" l="26008" r="0" t="29672"/>
          <a:stretch/>
        </p:blipFill>
        <p:spPr>
          <a:xfrm>
            <a:off x="7477550" y="2988350"/>
            <a:ext cx="3876250" cy="2418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e678aa1d9a_0_3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2400"/>
              <a:t>The modeling process - </a:t>
            </a:r>
            <a:r>
              <a:rPr lang="en-IN" sz="2400"/>
              <a:t>Predicting new observations</a:t>
            </a:r>
            <a:endParaRPr sz="2400"/>
          </a:p>
        </p:txBody>
      </p:sp>
      <p:sp>
        <p:nvSpPr>
          <p:cNvPr id="239" name="Google Shape;239;g3e678aa1d9a_0_38"/>
          <p:cNvSpPr txBox="1"/>
          <p:nvPr>
            <p:ph idx="1" type="body"/>
          </p:nvPr>
        </p:nvSpPr>
        <p:spPr>
          <a:xfrm>
            <a:off x="838200" y="1518050"/>
            <a:ext cx="10515600" cy="5136000"/>
          </a:xfrm>
          <a:prstGeom prst="rect">
            <a:avLst/>
          </a:prstGeom>
        </p:spPr>
        <p:txBody>
          <a:bodyPr anchorCtr="0" anchor="t" bIns="45700" lIns="91425" spcFirstLastPara="1" rIns="91425" wrap="square" tIns="45700">
            <a:noAutofit/>
          </a:bodyPr>
          <a:lstStyle/>
          <a:p>
            <a:pPr indent="0" lvl="0" marL="0" rtl="0" algn="just">
              <a:lnSpc>
                <a:spcPct val="100000"/>
              </a:lnSpc>
              <a:spcBef>
                <a:spcPts val="640"/>
              </a:spcBef>
              <a:spcAft>
                <a:spcPts val="0"/>
              </a:spcAft>
              <a:buNone/>
            </a:pPr>
            <a:r>
              <a:rPr lang="en-IN" sz="2600">
                <a:latin typeface="Calibri"/>
                <a:ea typeface="Calibri"/>
                <a:cs typeface="Calibri"/>
                <a:sym typeface="Calibri"/>
              </a:rPr>
              <a:t>The</a:t>
            </a:r>
            <a:r>
              <a:rPr b="1" lang="en-IN" sz="2600">
                <a:solidFill>
                  <a:srgbClr val="232387"/>
                </a:solidFill>
                <a:latin typeface="Calibri"/>
                <a:ea typeface="Calibri"/>
                <a:cs typeface="Calibri"/>
                <a:sym typeface="Calibri"/>
              </a:rPr>
              <a:t> process of applying your model to new data is called model scoring.</a:t>
            </a:r>
            <a:r>
              <a:rPr lang="en-IN" sz="2600">
                <a:latin typeface="Calibri"/>
                <a:ea typeface="Calibri"/>
                <a:cs typeface="Calibri"/>
                <a:sym typeface="Calibri"/>
              </a:rPr>
              <a:t> </a:t>
            </a:r>
            <a:endParaRPr sz="2600">
              <a:latin typeface="Calibri"/>
              <a:ea typeface="Calibri"/>
              <a:cs typeface="Calibri"/>
              <a:sym typeface="Calibri"/>
            </a:endParaRPr>
          </a:p>
          <a:p>
            <a:pPr indent="0" lvl="0" marL="0" rtl="0" algn="just">
              <a:lnSpc>
                <a:spcPct val="100000"/>
              </a:lnSpc>
              <a:spcBef>
                <a:spcPts val="640"/>
              </a:spcBef>
              <a:spcAft>
                <a:spcPts val="0"/>
              </a:spcAft>
              <a:buClr>
                <a:schemeClr val="dk1"/>
              </a:buClr>
              <a:buSzPts val="1100"/>
              <a:buFont typeface="Arial"/>
              <a:buNone/>
            </a:pPr>
            <a:r>
              <a:t/>
            </a:r>
            <a:endParaRPr sz="2600">
              <a:latin typeface="Calibri"/>
              <a:ea typeface="Calibri"/>
              <a:cs typeface="Calibri"/>
              <a:sym typeface="Calibri"/>
            </a:endParaRPr>
          </a:p>
          <a:p>
            <a:pPr indent="0" lvl="0" marL="0" rtl="0" algn="just">
              <a:lnSpc>
                <a:spcPct val="100000"/>
              </a:lnSpc>
              <a:spcBef>
                <a:spcPts val="640"/>
              </a:spcBef>
              <a:spcAft>
                <a:spcPts val="0"/>
              </a:spcAft>
              <a:buNone/>
            </a:pPr>
            <a:r>
              <a:rPr b="1" lang="en-IN" sz="2600">
                <a:solidFill>
                  <a:srgbClr val="232387"/>
                </a:solidFill>
                <a:latin typeface="Calibri"/>
                <a:ea typeface="Calibri"/>
                <a:cs typeface="Calibri"/>
                <a:sym typeface="Calibri"/>
              </a:rPr>
              <a:t>Model scoring involves two steps: </a:t>
            </a:r>
            <a:endParaRPr b="1" sz="2600">
              <a:solidFill>
                <a:srgbClr val="232387"/>
              </a:solidFill>
              <a:latin typeface="Calibri"/>
              <a:ea typeface="Calibri"/>
              <a:cs typeface="Calibri"/>
              <a:sym typeface="Calibri"/>
            </a:endParaRPr>
          </a:p>
          <a:p>
            <a:pPr indent="0" lvl="0" marL="0" rtl="0" algn="just">
              <a:lnSpc>
                <a:spcPct val="100000"/>
              </a:lnSpc>
              <a:spcBef>
                <a:spcPts val="640"/>
              </a:spcBef>
              <a:spcAft>
                <a:spcPts val="0"/>
              </a:spcAft>
              <a:buNone/>
            </a:pPr>
            <a:r>
              <a:rPr b="1" lang="en-IN" sz="2600">
                <a:solidFill>
                  <a:srgbClr val="232387"/>
                </a:solidFill>
                <a:latin typeface="Calibri"/>
                <a:ea typeface="Calibri"/>
                <a:cs typeface="Calibri"/>
                <a:sym typeface="Calibri"/>
              </a:rPr>
              <a:t>First, you prepare a data set that has features exactly as defined by your model. This boils down to repeating the data preparation you did in step one of the modeling process but for a new data set. </a:t>
            </a:r>
            <a:endParaRPr b="1" sz="2600">
              <a:solidFill>
                <a:srgbClr val="232387"/>
              </a:solidFill>
              <a:latin typeface="Calibri"/>
              <a:ea typeface="Calibri"/>
              <a:cs typeface="Calibri"/>
              <a:sym typeface="Calibri"/>
            </a:endParaRPr>
          </a:p>
          <a:p>
            <a:pPr indent="0" lvl="0" marL="0" rtl="0" algn="just">
              <a:lnSpc>
                <a:spcPct val="100000"/>
              </a:lnSpc>
              <a:spcBef>
                <a:spcPts val="640"/>
              </a:spcBef>
              <a:spcAft>
                <a:spcPts val="0"/>
              </a:spcAft>
              <a:buClr>
                <a:schemeClr val="dk1"/>
              </a:buClr>
              <a:buSzPts val="1100"/>
              <a:buFont typeface="Arial"/>
              <a:buNone/>
            </a:pPr>
            <a:r>
              <a:rPr b="1" lang="en-IN" sz="2600">
                <a:solidFill>
                  <a:srgbClr val="232387"/>
                </a:solidFill>
                <a:latin typeface="Calibri"/>
                <a:ea typeface="Calibri"/>
                <a:cs typeface="Calibri"/>
                <a:sym typeface="Calibri"/>
              </a:rPr>
              <a:t>Then you apply the model on this new data set, and this results in a prediction.</a:t>
            </a:r>
            <a:endParaRPr b="1" sz="2600">
              <a:solidFill>
                <a:srgbClr val="232387"/>
              </a:solidFill>
              <a:latin typeface="Calibri"/>
              <a:ea typeface="Calibri"/>
              <a:cs typeface="Calibri"/>
              <a:sym typeface="Calibri"/>
            </a:endParaRPr>
          </a:p>
          <a:p>
            <a:pPr indent="0" lvl="0" marL="0" rtl="0" algn="l">
              <a:lnSpc>
                <a:spcPct val="100000"/>
              </a:lnSpc>
              <a:spcBef>
                <a:spcPts val="640"/>
              </a:spcBef>
              <a:spcAft>
                <a:spcPts val="0"/>
              </a:spcAft>
              <a:buNone/>
            </a:pPr>
            <a:r>
              <a:t/>
            </a:r>
            <a:endParaRPr sz="2600">
              <a:latin typeface="Calibri"/>
              <a:ea typeface="Calibri"/>
              <a:cs typeface="Calibri"/>
              <a:sym typeface="Calibri"/>
            </a:endParaRPr>
          </a:p>
          <a:p>
            <a:pPr indent="0" lvl="0" marL="0" rtl="0" algn="l">
              <a:lnSpc>
                <a:spcPct val="100000"/>
              </a:lnSpc>
              <a:spcBef>
                <a:spcPts val="640"/>
              </a:spcBef>
              <a:spcAft>
                <a:spcPts val="0"/>
              </a:spcAft>
              <a:buNone/>
            </a:pPr>
            <a:r>
              <a:t/>
            </a:r>
            <a:endParaRPr sz="2400">
              <a:latin typeface="Calibri"/>
              <a:ea typeface="Calibri"/>
              <a:cs typeface="Calibri"/>
              <a:sym typeface="Calibri"/>
            </a:endParaRPr>
          </a:p>
          <a:p>
            <a:pPr indent="0" lvl="0" marL="0" rtl="0" algn="l">
              <a:lnSpc>
                <a:spcPct val="100000"/>
              </a:lnSpc>
              <a:spcBef>
                <a:spcPts val="640"/>
              </a:spcBef>
              <a:spcAft>
                <a:spcPts val="0"/>
              </a:spcAft>
              <a:buNone/>
            </a:pPr>
            <a:r>
              <a:t/>
            </a:r>
            <a:endParaRPr sz="3200">
              <a:latin typeface="Calibri"/>
              <a:ea typeface="Calibri"/>
              <a:cs typeface="Calibri"/>
              <a:sym typeface="Calibri"/>
            </a:endParaRPr>
          </a:p>
          <a:p>
            <a:pPr indent="0" lvl="0" marL="0" rtl="0" algn="l">
              <a:lnSpc>
                <a:spcPct val="100000"/>
              </a:lnSpc>
              <a:spcBef>
                <a:spcPts val="640"/>
              </a:spcBef>
              <a:spcAft>
                <a:spcPts val="0"/>
              </a:spcAft>
              <a:buNone/>
            </a:pPr>
            <a:r>
              <a:t/>
            </a:r>
            <a:endParaRPr sz="1800">
              <a:latin typeface="Calibri"/>
              <a:ea typeface="Calibri"/>
              <a:cs typeface="Calibri"/>
              <a:sym typeface="Calibri"/>
            </a:endParaRPr>
          </a:p>
          <a:p>
            <a:pPr indent="0" lvl="0" marL="0" rtl="0" algn="l">
              <a:lnSpc>
                <a:spcPct val="70000"/>
              </a:lnSpc>
              <a:spcBef>
                <a:spcPts val="1000"/>
              </a:spcBef>
              <a:spcAft>
                <a:spcPts val="0"/>
              </a:spcAft>
              <a:buSzPts val="1018"/>
              <a:buNone/>
            </a:pPr>
            <a:r>
              <a:t/>
            </a:r>
            <a:endParaRPr sz="1850"/>
          </a:p>
        </p:txBody>
      </p:sp>
      <p:sp>
        <p:nvSpPr>
          <p:cNvPr id="240" name="Google Shape;240;g3e678aa1d9a_0_3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e60b03f0fd_0_1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47" name="Google Shape;247;g3e60b03f0fd_0_1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48" name="Google Shape;248;g3e60b03f0fd_0_1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49" name="Google Shape;249;g3e60b03f0fd_0_10"/>
          <p:cNvPicPr preferRelativeResize="0"/>
          <p:nvPr/>
        </p:nvPicPr>
        <p:blipFill>
          <a:blip r:embed="rId3">
            <a:alphaModFix/>
          </a:blip>
          <a:stretch>
            <a:fillRect/>
          </a:stretch>
        </p:blipFill>
        <p:spPr>
          <a:xfrm>
            <a:off x="619550" y="549050"/>
            <a:ext cx="11032428" cy="5392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e678aa1d9a_0_4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Types of ML</a:t>
            </a:r>
            <a:endParaRPr/>
          </a:p>
        </p:txBody>
      </p:sp>
      <p:sp>
        <p:nvSpPr>
          <p:cNvPr id="256" name="Google Shape;256;g3e678aa1d9a_0_48"/>
          <p:cNvSpPr txBox="1"/>
          <p:nvPr>
            <p:ph idx="1" type="body"/>
          </p:nvPr>
        </p:nvSpPr>
        <p:spPr>
          <a:xfrm>
            <a:off x="838200" y="1358350"/>
            <a:ext cx="10515600" cy="4510800"/>
          </a:xfrm>
          <a:prstGeom prst="rect">
            <a:avLst/>
          </a:prstGeom>
        </p:spPr>
        <p:txBody>
          <a:bodyPr anchorCtr="0" anchor="t" bIns="45700" lIns="91425" spcFirstLastPara="1" rIns="91425" wrap="square" tIns="45700">
            <a:normAutofit lnSpcReduction="10000"/>
          </a:bodyPr>
          <a:lstStyle/>
          <a:p>
            <a:pPr indent="-349250" lvl="0" marL="457200" rtl="0" algn="l">
              <a:spcBef>
                <a:spcPts val="1000"/>
              </a:spcBef>
              <a:spcAft>
                <a:spcPts val="0"/>
              </a:spcAft>
              <a:buSzPts val="1900"/>
              <a:buAutoNum type="arabicPeriod"/>
            </a:pPr>
            <a:r>
              <a:rPr lang="en-IN" sz="2100"/>
              <a:t>Supervised learning techniques attempt to discern results and learn by trying to find patterns in a labeled data set. Human interaction is required to label the data.</a:t>
            </a:r>
            <a:endParaRPr sz="2100"/>
          </a:p>
          <a:p>
            <a:pPr indent="0" lvl="0" marL="457200" rtl="0" algn="l">
              <a:spcBef>
                <a:spcPts val="1000"/>
              </a:spcBef>
              <a:spcAft>
                <a:spcPts val="0"/>
              </a:spcAft>
              <a:buNone/>
            </a:pPr>
            <a:r>
              <a:t/>
            </a:r>
            <a:endParaRPr sz="2100"/>
          </a:p>
          <a:p>
            <a:pPr indent="-349250" lvl="0" marL="457200" rtl="0" algn="l">
              <a:spcBef>
                <a:spcPts val="1000"/>
              </a:spcBef>
              <a:spcAft>
                <a:spcPts val="0"/>
              </a:spcAft>
              <a:buSzPts val="1900"/>
              <a:buAutoNum type="arabicPeriod"/>
            </a:pPr>
            <a:r>
              <a:rPr lang="en-IN" sz="2100"/>
              <a:t> Unsupervised learning techniques don’t rely on labeled data and attempt to find patterns in a data set without human interaction.</a:t>
            </a:r>
            <a:endParaRPr sz="2100"/>
          </a:p>
          <a:p>
            <a:pPr indent="0" lvl="0" marL="457200" rtl="0" algn="l">
              <a:spcBef>
                <a:spcPts val="1000"/>
              </a:spcBef>
              <a:spcAft>
                <a:spcPts val="0"/>
              </a:spcAft>
              <a:buNone/>
            </a:pPr>
            <a:r>
              <a:t/>
            </a:r>
            <a:endParaRPr sz="2100"/>
          </a:p>
          <a:p>
            <a:pPr indent="-349250" lvl="0" marL="457200" rtl="0" algn="l">
              <a:spcBef>
                <a:spcPts val="1000"/>
              </a:spcBef>
              <a:spcAft>
                <a:spcPts val="0"/>
              </a:spcAft>
              <a:buSzPts val="1900"/>
              <a:buAutoNum type="arabicPeriod"/>
            </a:pPr>
            <a:r>
              <a:rPr lang="en-IN" sz="2100"/>
              <a:t>Semi-supervised learning techniques need labeled data, and therefore human interaction, to find patterns in the data set, but they can still progress toward a result and learn even if passed unlabeled data as well.</a:t>
            </a:r>
            <a:endParaRPr sz="2100"/>
          </a:p>
          <a:p>
            <a:pPr indent="0" lvl="0" marL="0" rtl="0" algn="l">
              <a:spcBef>
                <a:spcPts val="1000"/>
              </a:spcBef>
              <a:spcAft>
                <a:spcPts val="0"/>
              </a:spcAft>
              <a:buNone/>
            </a:pPr>
            <a:r>
              <a:t/>
            </a:r>
            <a:endParaRPr sz="2100"/>
          </a:p>
          <a:p>
            <a:pPr indent="-361950" lvl="0" marL="457200" rtl="0" algn="l">
              <a:spcBef>
                <a:spcPts val="1000"/>
              </a:spcBef>
              <a:spcAft>
                <a:spcPts val="0"/>
              </a:spcAft>
              <a:buSzPts val="2100"/>
              <a:buAutoNum type="arabicPeriod"/>
            </a:pPr>
            <a:r>
              <a:rPr lang="en-IN" sz="2100"/>
              <a:t>Reinforcement Learning (RL) is a machine learning technique where an autonomous agent learns to make optimal decisions by interacting with an environment, using a trial-and-error approach to maximize cumulative rewards. </a:t>
            </a:r>
            <a:endParaRPr/>
          </a:p>
        </p:txBody>
      </p:sp>
      <p:sp>
        <p:nvSpPr>
          <p:cNvPr id="257" name="Google Shape;257;g3e678aa1d9a_0_4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e678aa1d9a_0_5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Supervised learning</a:t>
            </a:r>
            <a:endParaRPr/>
          </a:p>
        </p:txBody>
      </p:sp>
      <p:sp>
        <p:nvSpPr>
          <p:cNvPr id="264" name="Google Shape;264;g3e678aa1d9a_0_56"/>
          <p:cNvSpPr txBox="1"/>
          <p:nvPr>
            <p:ph idx="1" type="body"/>
          </p:nvPr>
        </p:nvSpPr>
        <p:spPr>
          <a:xfrm>
            <a:off x="838200" y="1518052"/>
            <a:ext cx="10515600" cy="5340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a:t>S</a:t>
            </a:r>
            <a:r>
              <a:rPr lang="en-IN"/>
              <a:t>upervised learning is a learning technique that can only be applied on labeled data. </a:t>
            </a:r>
            <a:endParaRPr/>
          </a:p>
        </p:txBody>
      </p:sp>
      <p:sp>
        <p:nvSpPr>
          <p:cNvPr id="265" name="Google Shape;265;g3e678aa1d9a_0_5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66" name="Google Shape;266;g3e678aa1d9a_0_56"/>
          <p:cNvPicPr preferRelativeResize="0"/>
          <p:nvPr/>
        </p:nvPicPr>
        <p:blipFill>
          <a:blip r:embed="rId3">
            <a:alphaModFix/>
          </a:blip>
          <a:stretch>
            <a:fillRect/>
          </a:stretch>
        </p:blipFill>
        <p:spPr>
          <a:xfrm>
            <a:off x="838200" y="2659200"/>
            <a:ext cx="10416202" cy="43512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e69bb82669_0_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IN"/>
              <a:t>Uns</a:t>
            </a:r>
            <a:r>
              <a:rPr lang="en-IN"/>
              <a:t>upervised learning</a:t>
            </a:r>
            <a:endParaRPr/>
          </a:p>
        </p:txBody>
      </p:sp>
      <p:sp>
        <p:nvSpPr>
          <p:cNvPr id="273" name="Google Shape;273;g3e69bb82669_0_2"/>
          <p:cNvSpPr txBox="1"/>
          <p:nvPr>
            <p:ph idx="1" type="body"/>
          </p:nvPr>
        </p:nvSpPr>
        <p:spPr>
          <a:xfrm>
            <a:off x="838200" y="1518053"/>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sz="2200"/>
              <a:t>Unsupervised learning techniques don’t rely on labeled data and attempt to find</a:t>
            </a:r>
            <a:endParaRPr sz="2200"/>
          </a:p>
          <a:p>
            <a:pPr indent="0" lvl="0" marL="0" rtl="0" algn="l">
              <a:spcBef>
                <a:spcPts val="1000"/>
              </a:spcBef>
              <a:spcAft>
                <a:spcPts val="0"/>
              </a:spcAft>
              <a:buNone/>
            </a:pPr>
            <a:r>
              <a:rPr lang="en-IN" sz="2200"/>
              <a:t>patterns in a data set without human interaction.</a:t>
            </a:r>
            <a:endParaRPr sz="2200"/>
          </a:p>
        </p:txBody>
      </p:sp>
      <p:sp>
        <p:nvSpPr>
          <p:cNvPr id="274" name="Google Shape;274;g3e69bb82669_0_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75" name="Google Shape;275;g3e69bb82669_0_2"/>
          <p:cNvPicPr preferRelativeResize="0"/>
          <p:nvPr/>
        </p:nvPicPr>
        <p:blipFill>
          <a:blip r:embed="rId3">
            <a:alphaModFix/>
          </a:blip>
          <a:stretch>
            <a:fillRect/>
          </a:stretch>
        </p:blipFill>
        <p:spPr>
          <a:xfrm>
            <a:off x="934075" y="3087750"/>
            <a:ext cx="10240825" cy="2581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e69bb82669_0_1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IN"/>
              <a:t>Semi- </a:t>
            </a:r>
            <a:r>
              <a:rPr lang="en-IN"/>
              <a:t>supervised learning</a:t>
            </a:r>
            <a:endParaRPr/>
          </a:p>
        </p:txBody>
      </p:sp>
      <p:sp>
        <p:nvSpPr>
          <p:cNvPr id="282" name="Google Shape;282;g3e69bb82669_0_11"/>
          <p:cNvSpPr txBox="1"/>
          <p:nvPr>
            <p:ph idx="1" type="body"/>
          </p:nvPr>
        </p:nvSpPr>
        <p:spPr>
          <a:xfrm>
            <a:off x="838200" y="1518052"/>
            <a:ext cx="10515600" cy="51969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t>Semi-supervised learning techniques need labeled data, and therefore human interaction, to find patterns in the data set, but they can still progress toward a result and learn even if passed unlabeled data as well. </a:t>
            </a:r>
            <a:endParaRPr/>
          </a:p>
        </p:txBody>
      </p:sp>
      <p:sp>
        <p:nvSpPr>
          <p:cNvPr id="283" name="Google Shape;283;g3e69bb82669_0_1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84" name="Google Shape;284;g3e69bb82669_0_11"/>
          <p:cNvPicPr preferRelativeResize="0"/>
          <p:nvPr/>
        </p:nvPicPr>
        <p:blipFill>
          <a:blip r:embed="rId3">
            <a:alphaModFix/>
          </a:blip>
          <a:stretch>
            <a:fillRect/>
          </a:stretch>
        </p:blipFill>
        <p:spPr>
          <a:xfrm>
            <a:off x="977350" y="2630550"/>
            <a:ext cx="10376451" cy="42274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e69bb82669_0_2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Reinforcement Learning</a:t>
            </a:r>
            <a:endParaRPr/>
          </a:p>
        </p:txBody>
      </p:sp>
      <p:sp>
        <p:nvSpPr>
          <p:cNvPr id="291" name="Google Shape;291;g3e69bb82669_0_24"/>
          <p:cNvSpPr txBox="1"/>
          <p:nvPr>
            <p:ph idx="1" type="body"/>
          </p:nvPr>
        </p:nvSpPr>
        <p:spPr>
          <a:xfrm>
            <a:off x="838200" y="1498172"/>
            <a:ext cx="10515600" cy="4551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92" name="Google Shape;292;g3e69bb82669_0_2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293" name="Google Shape;293;g3e69bb82669_0_24"/>
          <p:cNvPicPr preferRelativeResize="0"/>
          <p:nvPr/>
        </p:nvPicPr>
        <p:blipFill>
          <a:blip r:embed="rId3">
            <a:alphaModFix/>
          </a:blip>
          <a:stretch>
            <a:fillRect/>
          </a:stretch>
        </p:blipFill>
        <p:spPr>
          <a:xfrm>
            <a:off x="948575" y="1518050"/>
            <a:ext cx="7801176" cy="4551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dbdd69fe18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A model in ML</a:t>
            </a:r>
            <a:endParaRPr/>
          </a:p>
        </p:txBody>
      </p:sp>
      <p:sp>
        <p:nvSpPr>
          <p:cNvPr id="300" name="Google Shape;300;g3dbdd69fe18_0_0"/>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IN"/>
              <a:t>It’s simply a specification of a mathematical (or probabilistic) relationship that exists between different variables.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a:t>The business model is probably based on simple mathematical relationships: profit is</a:t>
            </a:r>
            <a:endParaRPr/>
          </a:p>
          <a:p>
            <a:pPr indent="0" lvl="0" marL="0" rtl="0" algn="l">
              <a:spcBef>
                <a:spcPts val="1000"/>
              </a:spcBef>
              <a:spcAft>
                <a:spcPts val="0"/>
              </a:spcAft>
              <a:buClr>
                <a:schemeClr val="dk1"/>
              </a:buClr>
              <a:buSzPts val="1100"/>
              <a:buFont typeface="Arial"/>
              <a:buNone/>
            </a:pPr>
            <a:r>
              <a:rPr lang="en-IN"/>
              <a:t>revenue minus expenses, revenue is units sold times average price, and so on.</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sz="1900"/>
              <a:t>Input: Patient data (symptoms, test results, scans)</a:t>
            </a:r>
            <a:endParaRPr sz="1900"/>
          </a:p>
          <a:p>
            <a:pPr indent="0" lvl="0" marL="0" rtl="0" algn="l">
              <a:spcBef>
                <a:spcPts val="1000"/>
              </a:spcBef>
              <a:spcAft>
                <a:spcPts val="0"/>
              </a:spcAft>
              <a:buClr>
                <a:schemeClr val="dk1"/>
              </a:buClr>
              <a:buSzPts val="1100"/>
              <a:buFont typeface="Arial"/>
              <a:buNone/>
            </a:pPr>
            <a:r>
              <a:rPr lang="en-IN" sz="1900"/>
              <a:t>Output: </a:t>
            </a:r>
            <a:r>
              <a:rPr b="1" lang="en-IN" sz="1900"/>
              <a:t>Disease</a:t>
            </a:r>
            <a:r>
              <a:rPr lang="en-IN" sz="1900"/>
              <a:t> or </a:t>
            </a:r>
            <a:r>
              <a:rPr b="1" lang="en-IN" sz="1900"/>
              <a:t>No Disease</a:t>
            </a:r>
            <a:endParaRPr b="1" sz="1900"/>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
        <p:nvSpPr>
          <p:cNvPr id="301" name="Google Shape;301;g3dbdd69fe18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e60b03f0fd_0_1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Overfitting and Underfitting</a:t>
            </a:r>
            <a:endParaRPr/>
          </a:p>
        </p:txBody>
      </p:sp>
      <p:sp>
        <p:nvSpPr>
          <p:cNvPr id="308" name="Google Shape;308;g3e60b03f0fd_0_18"/>
          <p:cNvSpPr txBox="1"/>
          <p:nvPr>
            <p:ph idx="1" type="body"/>
          </p:nvPr>
        </p:nvSpPr>
        <p:spPr>
          <a:xfrm>
            <a:off x="838200" y="1518052"/>
            <a:ext cx="10515600" cy="5340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t>A common danger in machine learning is overfitting—producing a model that performs well on the data you train it on but that generalizes poorly to any new data.</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n-IN"/>
              <a:t>This could involve learning noise in the data. Or it could involve learning to identify specific inputs rather than whatever factors are actually predictive for the desired output.</a:t>
            </a:r>
            <a:endParaRPr/>
          </a:p>
          <a:p>
            <a:pPr indent="0" lvl="0" marL="0" rtl="0" algn="l">
              <a:spcBef>
                <a:spcPts val="1000"/>
              </a:spcBef>
              <a:spcAft>
                <a:spcPts val="0"/>
              </a:spcAft>
              <a:buClr>
                <a:schemeClr val="dk1"/>
              </a:buClr>
              <a:buSzPts val="1100"/>
              <a:buFont typeface="Arial"/>
              <a:buNone/>
            </a:pPr>
            <a:r>
              <a:rPr lang="en-IN"/>
              <a:t>The other side of this is underfitting, producing a model that doesn’t perform well even on the training data, although typically when this happens you decide your model isn’t good enough and keep looking for a better one.</a:t>
            </a:r>
            <a:endParaRPr/>
          </a:p>
          <a:p>
            <a:pPr indent="0" lvl="0" marL="0" rtl="0" algn="l">
              <a:spcBef>
                <a:spcPts val="1000"/>
              </a:spcBef>
              <a:spcAft>
                <a:spcPts val="0"/>
              </a:spcAft>
              <a:buNone/>
            </a:pPr>
            <a:r>
              <a:t/>
            </a:r>
            <a:endParaRPr/>
          </a:p>
        </p:txBody>
      </p:sp>
      <p:sp>
        <p:nvSpPr>
          <p:cNvPr id="309" name="Google Shape;309;g3e60b03f0fd_0_1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10" name="Google Shape;310;g3e60b03f0fd_0_18"/>
          <p:cNvPicPr preferRelativeResize="0"/>
          <p:nvPr/>
        </p:nvPicPr>
        <p:blipFill>
          <a:blip r:embed="rId3">
            <a:alphaModFix/>
          </a:blip>
          <a:stretch>
            <a:fillRect/>
          </a:stretch>
        </p:blipFill>
        <p:spPr>
          <a:xfrm>
            <a:off x="838225" y="4622150"/>
            <a:ext cx="10152300" cy="2359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dc31faf6cb_0_93"/>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Underfit</a:t>
            </a:r>
            <a:endParaRPr/>
          </a:p>
        </p:txBody>
      </p:sp>
      <p:sp>
        <p:nvSpPr>
          <p:cNvPr id="317" name="Google Shape;317;g3dc31faf6cb_0_93"/>
          <p:cNvSpPr txBox="1"/>
          <p:nvPr>
            <p:ph idx="1" type="body"/>
          </p:nvPr>
        </p:nvSpPr>
        <p:spPr>
          <a:xfrm>
            <a:off x="838200" y="1518050"/>
            <a:ext cx="10515600" cy="45477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IN" sz="1900"/>
              <a:t> </a:t>
            </a:r>
            <a:r>
              <a:rPr b="1" lang="en-IN" sz="1900"/>
              <a:t>Model is too simple</a:t>
            </a:r>
            <a:endParaRPr b="1" sz="1900"/>
          </a:p>
          <a:p>
            <a:pPr indent="-349250" lvl="0" marL="457200" rtl="0" algn="l">
              <a:lnSpc>
                <a:spcPct val="115000"/>
              </a:lnSpc>
              <a:spcBef>
                <a:spcPts val="1200"/>
              </a:spcBef>
              <a:spcAft>
                <a:spcPts val="0"/>
              </a:spcAft>
              <a:buSzPts val="1900"/>
              <a:buChar char="●"/>
            </a:pPr>
            <a:r>
              <a:rPr lang="en-IN" sz="1900"/>
              <a:t>Cannot capture important patterns in data</a:t>
            </a:r>
            <a:endParaRPr sz="1900"/>
          </a:p>
          <a:p>
            <a:pPr indent="-349250" lvl="0" marL="457200" rtl="0" algn="l">
              <a:lnSpc>
                <a:spcPct val="115000"/>
              </a:lnSpc>
              <a:spcBef>
                <a:spcPts val="0"/>
              </a:spcBef>
              <a:spcAft>
                <a:spcPts val="0"/>
              </a:spcAft>
              <a:buSzPts val="1900"/>
              <a:buChar char="●"/>
            </a:pPr>
            <a:r>
              <a:rPr lang="en-IN" sz="1900"/>
              <a:t>Performs poorly on </a:t>
            </a:r>
            <a:r>
              <a:rPr b="1" lang="en-IN" sz="1900"/>
              <a:t>training data and test data</a:t>
            </a:r>
            <a:endParaRPr b="1" sz="1900"/>
          </a:p>
          <a:p>
            <a:pPr indent="-349250" lvl="0" marL="457200" rtl="0" algn="l">
              <a:lnSpc>
                <a:spcPct val="115000"/>
              </a:lnSpc>
              <a:spcBef>
                <a:spcPts val="0"/>
              </a:spcBef>
              <a:spcAft>
                <a:spcPts val="0"/>
              </a:spcAft>
              <a:buSzPts val="1900"/>
              <a:buChar char="●"/>
            </a:pPr>
            <a:r>
              <a:rPr lang="en-IN" sz="1900"/>
              <a:t>Makes many errors everywhere</a:t>
            </a:r>
            <a:endParaRPr sz="1900"/>
          </a:p>
          <a:p>
            <a:pPr indent="0" lvl="0" marL="0" rtl="0" algn="l">
              <a:lnSpc>
                <a:spcPct val="115000"/>
              </a:lnSpc>
              <a:spcBef>
                <a:spcPts val="1200"/>
              </a:spcBef>
              <a:spcAft>
                <a:spcPts val="0"/>
              </a:spcAft>
              <a:buClr>
                <a:schemeClr val="dk1"/>
              </a:buClr>
              <a:buSzPts val="1100"/>
              <a:buFont typeface="Arial"/>
              <a:buNone/>
            </a:pPr>
            <a:r>
              <a:rPr lang="en-IN" sz="1900"/>
              <a:t>📌 Example: A straight line trying to fit curved data</a:t>
            </a:r>
            <a:endParaRPr sz="1900"/>
          </a:p>
          <a:p>
            <a:pPr indent="0" lvl="0" marL="0" rtl="0" algn="l">
              <a:lnSpc>
                <a:spcPct val="115000"/>
              </a:lnSpc>
              <a:spcBef>
                <a:spcPts val="1200"/>
              </a:spcBef>
              <a:spcAft>
                <a:spcPts val="0"/>
              </a:spcAft>
              <a:buClr>
                <a:schemeClr val="dk1"/>
              </a:buClr>
              <a:buSzPts val="1100"/>
              <a:buFont typeface="Arial"/>
              <a:buNone/>
            </a:pPr>
            <a:r>
              <a:rPr lang="en-IN" sz="1900"/>
              <a:t>✔ </a:t>
            </a:r>
            <a:r>
              <a:rPr b="1" lang="en-IN" sz="1900"/>
              <a:t>Characteristics:</a:t>
            </a:r>
            <a:endParaRPr b="1" sz="1900"/>
          </a:p>
          <a:p>
            <a:pPr indent="-349250" lvl="0" marL="457200" rtl="0" algn="l">
              <a:lnSpc>
                <a:spcPct val="115000"/>
              </a:lnSpc>
              <a:spcBef>
                <a:spcPts val="1200"/>
              </a:spcBef>
              <a:spcAft>
                <a:spcPts val="0"/>
              </a:spcAft>
              <a:buSzPts val="1900"/>
              <a:buChar char="●"/>
            </a:pPr>
            <a:r>
              <a:rPr lang="en-IN" sz="1900"/>
              <a:t>High bias</a:t>
            </a:r>
            <a:endParaRPr sz="1900"/>
          </a:p>
          <a:p>
            <a:pPr indent="-349250" lvl="0" marL="457200" rtl="0" algn="l">
              <a:lnSpc>
                <a:spcPct val="115000"/>
              </a:lnSpc>
              <a:spcBef>
                <a:spcPts val="0"/>
              </a:spcBef>
              <a:spcAft>
                <a:spcPts val="0"/>
              </a:spcAft>
              <a:buSzPts val="1900"/>
              <a:buChar char="●"/>
            </a:pPr>
            <a:r>
              <a:rPr lang="en-IN" sz="1900"/>
              <a:t>Low variance</a:t>
            </a:r>
            <a:endParaRPr sz="1900"/>
          </a:p>
          <a:p>
            <a:pPr indent="-349250" lvl="0" marL="457200" rtl="0" algn="l">
              <a:lnSpc>
                <a:spcPct val="115000"/>
              </a:lnSpc>
              <a:spcBef>
                <a:spcPts val="0"/>
              </a:spcBef>
              <a:spcAft>
                <a:spcPts val="0"/>
              </a:spcAft>
              <a:buSzPts val="1900"/>
              <a:buChar char="●"/>
            </a:pPr>
            <a:r>
              <a:rPr lang="en-IN" sz="1900"/>
              <a:t>Poor accuracy</a:t>
            </a:r>
            <a:endParaRPr sz="1900"/>
          </a:p>
          <a:p>
            <a:pPr indent="0" lvl="0" marL="0" rtl="0" algn="l">
              <a:lnSpc>
                <a:spcPct val="115000"/>
              </a:lnSpc>
              <a:spcBef>
                <a:spcPts val="1200"/>
              </a:spcBef>
              <a:spcAft>
                <a:spcPts val="1200"/>
              </a:spcAft>
              <a:buNone/>
            </a:pPr>
            <a:r>
              <a:rPr lang="en-IN" sz="1900"/>
              <a:t>➡️ </a:t>
            </a:r>
            <a:r>
              <a:rPr b="1" lang="en-IN" sz="1900"/>
              <a:t>Conclusion:</a:t>
            </a:r>
            <a:r>
              <a:rPr lang="en-IN" sz="1900"/>
              <a:t> Model has </a:t>
            </a:r>
            <a:r>
              <a:rPr i="1" lang="en-IN" sz="1900"/>
              <a:t>not learned enough</a:t>
            </a:r>
            <a:endParaRPr sz="2400"/>
          </a:p>
        </p:txBody>
      </p:sp>
      <p:sp>
        <p:nvSpPr>
          <p:cNvPr id="318" name="Google Shape;318;g3dc31faf6cb_0_93"/>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dc31faf6cb_0_10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800"/>
              </a:spcBef>
              <a:spcAft>
                <a:spcPts val="400"/>
              </a:spcAft>
              <a:buClr>
                <a:schemeClr val="dk1"/>
              </a:buClr>
              <a:buSzPts val="1100"/>
              <a:buFont typeface="Arial"/>
              <a:buNone/>
            </a:pPr>
            <a:r>
              <a:rPr lang="en-IN" sz="2700">
                <a:solidFill>
                  <a:schemeClr val="dk1"/>
                </a:solidFill>
              </a:rPr>
              <a:t>Balanced </a:t>
            </a:r>
            <a:endParaRPr sz="4600"/>
          </a:p>
        </p:txBody>
      </p:sp>
      <p:sp>
        <p:nvSpPr>
          <p:cNvPr id="325" name="Google Shape;325;g3dc31faf6cb_0_101"/>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IN" sz="1900"/>
              <a:t>Model is just right</a:t>
            </a:r>
            <a:endParaRPr b="1" sz="1900"/>
          </a:p>
          <a:p>
            <a:pPr indent="-349250" lvl="0" marL="457200" rtl="0" algn="l">
              <a:lnSpc>
                <a:spcPct val="115000"/>
              </a:lnSpc>
              <a:spcBef>
                <a:spcPts val="1200"/>
              </a:spcBef>
              <a:spcAft>
                <a:spcPts val="0"/>
              </a:spcAft>
              <a:buSzPts val="1900"/>
              <a:buChar char="●"/>
            </a:pPr>
            <a:r>
              <a:rPr lang="en-IN" sz="1900"/>
              <a:t>Learns important patterns</a:t>
            </a:r>
            <a:endParaRPr sz="1900"/>
          </a:p>
          <a:p>
            <a:pPr indent="-349250" lvl="0" marL="457200" rtl="0" algn="l">
              <a:lnSpc>
                <a:spcPct val="115000"/>
              </a:lnSpc>
              <a:spcBef>
                <a:spcPts val="0"/>
              </a:spcBef>
              <a:spcAft>
                <a:spcPts val="0"/>
              </a:spcAft>
              <a:buSzPts val="1900"/>
              <a:buChar char="●"/>
            </a:pPr>
            <a:r>
              <a:rPr lang="en-IN" sz="1900"/>
              <a:t>Performs well on </a:t>
            </a:r>
            <a:r>
              <a:rPr b="1" lang="en-IN" sz="1900"/>
              <a:t>both training and test data</a:t>
            </a:r>
            <a:endParaRPr b="1" sz="1900"/>
          </a:p>
          <a:p>
            <a:pPr indent="-349250" lvl="0" marL="457200" rtl="0" algn="l">
              <a:lnSpc>
                <a:spcPct val="115000"/>
              </a:lnSpc>
              <a:spcBef>
                <a:spcPts val="0"/>
              </a:spcBef>
              <a:spcAft>
                <a:spcPts val="0"/>
              </a:spcAft>
              <a:buSzPts val="1900"/>
              <a:buChar char="●"/>
            </a:pPr>
            <a:r>
              <a:rPr lang="en-IN" sz="1900"/>
              <a:t>Generalizes to new/unseen data</a:t>
            </a:r>
            <a:endParaRPr sz="1900"/>
          </a:p>
          <a:p>
            <a:pPr indent="0" lvl="0" marL="0" rtl="0" algn="l">
              <a:lnSpc>
                <a:spcPct val="115000"/>
              </a:lnSpc>
              <a:spcBef>
                <a:spcPts val="1200"/>
              </a:spcBef>
              <a:spcAft>
                <a:spcPts val="0"/>
              </a:spcAft>
              <a:buClr>
                <a:schemeClr val="dk1"/>
              </a:buClr>
              <a:buSzPts val="1100"/>
              <a:buFont typeface="Arial"/>
              <a:buNone/>
            </a:pPr>
            <a:r>
              <a:rPr lang="en-IN" sz="1900"/>
              <a:t>Example:A curve that follows the overall trend (not every point)</a:t>
            </a:r>
            <a:endParaRPr sz="1900"/>
          </a:p>
          <a:p>
            <a:pPr indent="0" lvl="0" marL="0" rtl="0" algn="l">
              <a:lnSpc>
                <a:spcPct val="115000"/>
              </a:lnSpc>
              <a:spcBef>
                <a:spcPts val="1200"/>
              </a:spcBef>
              <a:spcAft>
                <a:spcPts val="0"/>
              </a:spcAft>
              <a:buClr>
                <a:schemeClr val="dk1"/>
              </a:buClr>
              <a:buSzPts val="1100"/>
              <a:buFont typeface="Arial"/>
              <a:buNone/>
            </a:pPr>
            <a:r>
              <a:rPr lang="en-IN" sz="1900"/>
              <a:t>✔ </a:t>
            </a:r>
            <a:r>
              <a:rPr b="1" lang="en-IN" sz="1900"/>
              <a:t>Characteristics:</a:t>
            </a:r>
            <a:endParaRPr b="1" sz="1900"/>
          </a:p>
          <a:p>
            <a:pPr indent="-349250" lvl="0" marL="457200" rtl="0" algn="l">
              <a:lnSpc>
                <a:spcPct val="115000"/>
              </a:lnSpc>
              <a:spcBef>
                <a:spcPts val="1200"/>
              </a:spcBef>
              <a:spcAft>
                <a:spcPts val="0"/>
              </a:spcAft>
              <a:buSzPts val="1900"/>
              <a:buChar char="●"/>
            </a:pPr>
            <a:r>
              <a:rPr lang="en-IN" sz="1900"/>
              <a:t>Optimal bias and variance</a:t>
            </a:r>
            <a:endParaRPr sz="1900"/>
          </a:p>
          <a:p>
            <a:pPr indent="-349250" lvl="0" marL="457200" rtl="0" algn="l">
              <a:lnSpc>
                <a:spcPct val="115000"/>
              </a:lnSpc>
              <a:spcBef>
                <a:spcPts val="0"/>
              </a:spcBef>
              <a:spcAft>
                <a:spcPts val="0"/>
              </a:spcAft>
              <a:buSzPts val="1900"/>
              <a:buChar char="●"/>
            </a:pPr>
            <a:r>
              <a:rPr lang="en-IN" sz="1900"/>
              <a:t>Good accuracy</a:t>
            </a:r>
            <a:endParaRPr sz="1900"/>
          </a:p>
          <a:p>
            <a:pPr indent="-349250" lvl="0" marL="457200" rtl="0" algn="l">
              <a:lnSpc>
                <a:spcPct val="115000"/>
              </a:lnSpc>
              <a:spcBef>
                <a:spcPts val="0"/>
              </a:spcBef>
              <a:spcAft>
                <a:spcPts val="0"/>
              </a:spcAft>
              <a:buSzPts val="1900"/>
              <a:buChar char="●"/>
            </a:pPr>
            <a:r>
              <a:rPr lang="en-IN" sz="1900"/>
              <a:t>Stable predictions</a:t>
            </a:r>
            <a:endParaRPr sz="1900"/>
          </a:p>
          <a:p>
            <a:pPr indent="0" lvl="0" marL="0" rtl="0" algn="l">
              <a:lnSpc>
                <a:spcPct val="115000"/>
              </a:lnSpc>
              <a:spcBef>
                <a:spcPts val="1200"/>
              </a:spcBef>
              <a:spcAft>
                <a:spcPts val="1200"/>
              </a:spcAft>
              <a:buNone/>
            </a:pPr>
            <a:r>
              <a:rPr lang="en-IN" sz="1900"/>
              <a:t>➡️ </a:t>
            </a:r>
            <a:r>
              <a:rPr b="1" lang="en-IN" sz="1900"/>
              <a:t>Conclusion:</a:t>
            </a:r>
            <a:r>
              <a:rPr lang="en-IN" sz="1900"/>
              <a:t> Model has </a:t>
            </a:r>
            <a:r>
              <a:rPr i="1" lang="en-IN" sz="1900"/>
              <a:t>learned correctly</a:t>
            </a:r>
            <a:endParaRPr sz="2200"/>
          </a:p>
        </p:txBody>
      </p:sp>
      <p:sp>
        <p:nvSpPr>
          <p:cNvPr id="326" name="Google Shape;326;g3dc31faf6cb_0_10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dc31faf6cb_0_10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Overfit</a:t>
            </a:r>
            <a:endParaRPr/>
          </a:p>
        </p:txBody>
      </p:sp>
      <p:sp>
        <p:nvSpPr>
          <p:cNvPr id="333" name="Google Shape;333;g3dc31faf6cb_0_10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b="1" lang="en-IN" sz="1900"/>
              <a:t>Model is too complex</a:t>
            </a:r>
            <a:endParaRPr b="1" sz="1900"/>
          </a:p>
          <a:p>
            <a:pPr indent="-349250" lvl="0" marL="457200" rtl="0" algn="l">
              <a:lnSpc>
                <a:spcPct val="115000"/>
              </a:lnSpc>
              <a:spcBef>
                <a:spcPts val="1200"/>
              </a:spcBef>
              <a:spcAft>
                <a:spcPts val="0"/>
              </a:spcAft>
              <a:buSzPts val="1900"/>
              <a:buChar char="●"/>
            </a:pPr>
            <a:r>
              <a:rPr lang="en-IN" sz="1900"/>
              <a:t>Memorizes training data (including noise)</a:t>
            </a:r>
            <a:endParaRPr sz="1900"/>
          </a:p>
          <a:p>
            <a:pPr indent="-349250" lvl="0" marL="457200" rtl="0" algn="l">
              <a:lnSpc>
                <a:spcPct val="115000"/>
              </a:lnSpc>
              <a:spcBef>
                <a:spcPts val="0"/>
              </a:spcBef>
              <a:spcAft>
                <a:spcPts val="0"/>
              </a:spcAft>
              <a:buSzPts val="1900"/>
              <a:buChar char="●"/>
            </a:pPr>
            <a:r>
              <a:rPr lang="en-IN" sz="1900"/>
              <a:t>Performs very well on </a:t>
            </a:r>
            <a:r>
              <a:rPr b="1" lang="en-IN" sz="1900"/>
              <a:t>training data</a:t>
            </a:r>
            <a:endParaRPr b="1" sz="1900"/>
          </a:p>
          <a:p>
            <a:pPr indent="-349250" lvl="0" marL="457200" rtl="0" algn="l">
              <a:lnSpc>
                <a:spcPct val="115000"/>
              </a:lnSpc>
              <a:spcBef>
                <a:spcPts val="0"/>
              </a:spcBef>
              <a:spcAft>
                <a:spcPts val="0"/>
              </a:spcAft>
              <a:buSzPts val="1900"/>
              <a:buChar char="●"/>
            </a:pPr>
            <a:r>
              <a:rPr lang="en-IN" sz="1900"/>
              <a:t>Performs poorly on </a:t>
            </a:r>
            <a:r>
              <a:rPr b="1" lang="en-IN" sz="1900"/>
              <a:t>test data</a:t>
            </a:r>
            <a:endParaRPr b="1" sz="1900"/>
          </a:p>
          <a:p>
            <a:pPr indent="0" lvl="0" marL="0" rtl="0" algn="l">
              <a:lnSpc>
                <a:spcPct val="115000"/>
              </a:lnSpc>
              <a:spcBef>
                <a:spcPts val="1200"/>
              </a:spcBef>
              <a:spcAft>
                <a:spcPts val="0"/>
              </a:spcAft>
              <a:buNone/>
            </a:pPr>
            <a:r>
              <a:rPr lang="en-IN" sz="1900"/>
              <a:t> Example: A highly complex curve passing through every data point</a:t>
            </a:r>
            <a:endParaRPr sz="1900"/>
          </a:p>
          <a:p>
            <a:pPr indent="0" lvl="0" marL="0" rtl="0" algn="l">
              <a:lnSpc>
                <a:spcPct val="115000"/>
              </a:lnSpc>
              <a:spcBef>
                <a:spcPts val="1200"/>
              </a:spcBef>
              <a:spcAft>
                <a:spcPts val="0"/>
              </a:spcAft>
              <a:buNone/>
            </a:pPr>
            <a:r>
              <a:rPr lang="en-IN" sz="1900"/>
              <a:t>✔ </a:t>
            </a:r>
            <a:r>
              <a:rPr b="1" lang="en-IN" sz="1900"/>
              <a:t>Characteristics:</a:t>
            </a:r>
            <a:endParaRPr b="1" sz="1900"/>
          </a:p>
          <a:p>
            <a:pPr indent="-349250" lvl="0" marL="457200" rtl="0" algn="l">
              <a:lnSpc>
                <a:spcPct val="115000"/>
              </a:lnSpc>
              <a:spcBef>
                <a:spcPts val="1200"/>
              </a:spcBef>
              <a:spcAft>
                <a:spcPts val="0"/>
              </a:spcAft>
              <a:buSzPts val="1900"/>
              <a:buChar char="●"/>
            </a:pPr>
            <a:r>
              <a:rPr lang="en-IN" sz="1900"/>
              <a:t>Low bias</a:t>
            </a:r>
            <a:endParaRPr sz="1900"/>
          </a:p>
          <a:p>
            <a:pPr indent="-349250" lvl="0" marL="457200" rtl="0" algn="l">
              <a:lnSpc>
                <a:spcPct val="115000"/>
              </a:lnSpc>
              <a:spcBef>
                <a:spcPts val="0"/>
              </a:spcBef>
              <a:spcAft>
                <a:spcPts val="0"/>
              </a:spcAft>
              <a:buSzPts val="1900"/>
              <a:buChar char="●"/>
            </a:pPr>
            <a:r>
              <a:rPr lang="en-IN" sz="1900"/>
              <a:t>High variance</a:t>
            </a:r>
            <a:endParaRPr sz="1900"/>
          </a:p>
          <a:p>
            <a:pPr indent="-349250" lvl="0" marL="457200" rtl="0" algn="l">
              <a:lnSpc>
                <a:spcPct val="115000"/>
              </a:lnSpc>
              <a:spcBef>
                <a:spcPts val="0"/>
              </a:spcBef>
              <a:spcAft>
                <a:spcPts val="0"/>
              </a:spcAft>
              <a:buSzPts val="1900"/>
              <a:buChar char="●"/>
            </a:pPr>
            <a:r>
              <a:rPr lang="en-IN" sz="1900"/>
              <a:t>Poor generalization</a:t>
            </a:r>
            <a:endParaRPr sz="1900"/>
          </a:p>
          <a:p>
            <a:pPr indent="0" lvl="0" marL="0" rtl="0" algn="l">
              <a:lnSpc>
                <a:spcPct val="115000"/>
              </a:lnSpc>
              <a:spcBef>
                <a:spcPts val="1200"/>
              </a:spcBef>
              <a:spcAft>
                <a:spcPts val="1200"/>
              </a:spcAft>
              <a:buNone/>
            </a:pPr>
            <a:r>
              <a:rPr lang="en-IN" sz="1900"/>
              <a:t>➡️ </a:t>
            </a:r>
            <a:r>
              <a:rPr b="1" lang="en-IN" sz="1900"/>
              <a:t>Conclusion:</a:t>
            </a:r>
            <a:r>
              <a:rPr lang="en-IN" sz="1900"/>
              <a:t> Model has </a:t>
            </a:r>
            <a:r>
              <a:rPr i="1" lang="en-IN" sz="1900"/>
              <a:t>learned too much (including noise)</a:t>
            </a:r>
            <a:endParaRPr sz="2200"/>
          </a:p>
        </p:txBody>
      </p:sp>
      <p:sp>
        <p:nvSpPr>
          <p:cNvPr id="334" name="Google Shape;334;g3dc31faf6cb_0_10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dc31faf6cb_0_0"/>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Model evaluation metrics </a:t>
            </a:r>
            <a:endParaRPr/>
          </a:p>
        </p:txBody>
      </p:sp>
      <p:sp>
        <p:nvSpPr>
          <p:cNvPr id="341" name="Google Shape;341;g3dc31faf6cb_0_0"/>
          <p:cNvSpPr txBox="1"/>
          <p:nvPr>
            <p:ph idx="1" type="body"/>
          </p:nvPr>
        </p:nvSpPr>
        <p:spPr>
          <a:xfrm>
            <a:off x="838200" y="1518052"/>
            <a:ext cx="10515600" cy="5340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a:t>Model evaluation metrics help you understand how well a machine learning model is performing—especially for classification problems. </a:t>
            </a:r>
            <a:endParaRPr/>
          </a:p>
          <a:p>
            <a:pPr indent="0" lvl="0" marL="0" rtl="0" algn="l">
              <a:spcBef>
                <a:spcPts val="1000"/>
              </a:spcBef>
              <a:spcAft>
                <a:spcPts val="0"/>
              </a:spcAft>
              <a:buNone/>
            </a:pPr>
            <a:r>
              <a:rPr lang="en-IN"/>
              <a:t>The three most commonly used metrics are: </a:t>
            </a:r>
            <a:endParaRPr/>
          </a:p>
          <a:p>
            <a:pPr indent="0" lvl="0" marL="0" rtl="0" algn="l">
              <a:spcBef>
                <a:spcPts val="1000"/>
              </a:spcBef>
              <a:spcAft>
                <a:spcPts val="0"/>
              </a:spcAft>
              <a:buNone/>
            </a:pPr>
            <a:r>
              <a:t/>
            </a:r>
            <a:endParaRPr/>
          </a:p>
        </p:txBody>
      </p:sp>
      <p:sp>
        <p:nvSpPr>
          <p:cNvPr id="342" name="Google Shape;342;g3dc31faf6cb_0_0"/>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43" name="Google Shape;343;g3dc31faf6cb_0_0"/>
          <p:cNvPicPr preferRelativeResize="0"/>
          <p:nvPr/>
        </p:nvPicPr>
        <p:blipFill>
          <a:blip r:embed="rId3">
            <a:alphaModFix/>
          </a:blip>
          <a:stretch>
            <a:fillRect/>
          </a:stretch>
        </p:blipFill>
        <p:spPr>
          <a:xfrm>
            <a:off x="1427025" y="2617200"/>
            <a:ext cx="8532000" cy="327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dc31faf6cb_0_1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Model evaluation metrics </a:t>
            </a:r>
            <a:endParaRPr/>
          </a:p>
        </p:txBody>
      </p:sp>
      <p:sp>
        <p:nvSpPr>
          <p:cNvPr id="350" name="Google Shape;350;g3dc31faf6cb_0_11"/>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351" name="Google Shape;351;g3dc31faf6cb_0_1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52" name="Google Shape;352;g3dc31faf6cb_0_11"/>
          <p:cNvPicPr preferRelativeResize="0"/>
          <p:nvPr/>
        </p:nvPicPr>
        <p:blipFill>
          <a:blip r:embed="rId3">
            <a:alphaModFix/>
          </a:blip>
          <a:stretch>
            <a:fillRect/>
          </a:stretch>
        </p:blipFill>
        <p:spPr>
          <a:xfrm>
            <a:off x="838200" y="1518050"/>
            <a:ext cx="8594801" cy="4351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dc31faf6cb_0_1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Model evaluation metrics </a:t>
            </a:r>
            <a:endParaRPr/>
          </a:p>
        </p:txBody>
      </p:sp>
      <p:sp>
        <p:nvSpPr>
          <p:cNvPr id="359" name="Google Shape;359;g3dc31faf6cb_0_1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360" name="Google Shape;360;g3dc31faf6cb_0_1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61" name="Google Shape;361;g3dc31faf6cb_0_19"/>
          <p:cNvPicPr preferRelativeResize="0"/>
          <p:nvPr/>
        </p:nvPicPr>
        <p:blipFill>
          <a:blip r:embed="rId3">
            <a:alphaModFix/>
          </a:blip>
          <a:stretch>
            <a:fillRect/>
          </a:stretch>
        </p:blipFill>
        <p:spPr>
          <a:xfrm>
            <a:off x="838200" y="1518050"/>
            <a:ext cx="8263575" cy="3612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dc31faf6cb_0_2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Bias-Variance Trade-off.</a:t>
            </a:r>
            <a:endParaRPr/>
          </a:p>
        </p:txBody>
      </p:sp>
      <p:sp>
        <p:nvSpPr>
          <p:cNvPr id="368" name="Google Shape;368;g3dc31faf6cb_0_27"/>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IN"/>
              <a:t>When you train a model on different datasets (from the same population), two things can go wrong:</a:t>
            </a:r>
            <a:endParaRPr/>
          </a:p>
          <a:p>
            <a:pPr indent="0" lvl="0" marL="0" rtl="0" algn="l">
              <a:lnSpc>
                <a:spcPct val="115000"/>
              </a:lnSpc>
              <a:spcBef>
                <a:spcPts val="1400"/>
              </a:spcBef>
              <a:spcAft>
                <a:spcPts val="0"/>
              </a:spcAft>
              <a:buClr>
                <a:schemeClr val="dk1"/>
              </a:buClr>
              <a:buSzPts val="1100"/>
              <a:buFont typeface="Arial"/>
              <a:buNone/>
            </a:pPr>
            <a:r>
              <a:rPr b="1" lang="en-IN" sz="2200"/>
              <a:t>1. Bias (Error due to simplicity)</a:t>
            </a:r>
            <a:endParaRPr b="1" sz="2200"/>
          </a:p>
          <a:p>
            <a:pPr indent="-355600" lvl="0" marL="457200" rtl="0" algn="l">
              <a:lnSpc>
                <a:spcPct val="115000"/>
              </a:lnSpc>
              <a:spcBef>
                <a:spcPts val="1200"/>
              </a:spcBef>
              <a:spcAft>
                <a:spcPts val="0"/>
              </a:spcAft>
              <a:buSzPts val="2000"/>
              <a:buChar char="●"/>
            </a:pPr>
            <a:r>
              <a:rPr lang="en-IN"/>
              <a:t>Happens when the model is </a:t>
            </a:r>
            <a:r>
              <a:rPr b="1" lang="en-IN"/>
              <a:t>too simple</a:t>
            </a:r>
            <a:endParaRPr b="1"/>
          </a:p>
          <a:p>
            <a:pPr indent="-355600" lvl="0" marL="457200" rtl="0" algn="l">
              <a:lnSpc>
                <a:spcPct val="115000"/>
              </a:lnSpc>
              <a:spcBef>
                <a:spcPts val="0"/>
              </a:spcBef>
              <a:spcAft>
                <a:spcPts val="0"/>
              </a:spcAft>
              <a:buSzPts val="2000"/>
              <a:buChar char="●"/>
            </a:pPr>
            <a:r>
              <a:rPr lang="en-IN"/>
              <a:t>It </a:t>
            </a:r>
            <a:r>
              <a:rPr b="1" lang="en-IN"/>
              <a:t>misses patterns</a:t>
            </a:r>
            <a:r>
              <a:rPr lang="en-IN"/>
              <a:t> in the data</a:t>
            </a:r>
            <a:endParaRPr/>
          </a:p>
          <a:p>
            <a:pPr indent="-355600" lvl="0" marL="457200" rtl="0" algn="l">
              <a:lnSpc>
                <a:spcPct val="115000"/>
              </a:lnSpc>
              <a:spcBef>
                <a:spcPts val="0"/>
              </a:spcBef>
              <a:spcAft>
                <a:spcPts val="0"/>
              </a:spcAft>
              <a:buSzPts val="2000"/>
              <a:buChar char="●"/>
            </a:pPr>
            <a:r>
              <a:rPr lang="en-IN"/>
              <a:t>Performs poorly even on training data</a:t>
            </a:r>
            <a:endParaRPr/>
          </a:p>
          <a:p>
            <a:pPr indent="0" lvl="0" marL="0" rtl="0" algn="l">
              <a:lnSpc>
                <a:spcPct val="115000"/>
              </a:lnSpc>
              <a:spcBef>
                <a:spcPts val="1200"/>
              </a:spcBef>
              <a:spcAft>
                <a:spcPts val="0"/>
              </a:spcAft>
              <a:buClr>
                <a:schemeClr val="dk1"/>
              </a:buClr>
              <a:buSzPts val="1100"/>
              <a:buFont typeface="Arial"/>
              <a:buNone/>
            </a:pPr>
            <a:r>
              <a:rPr lang="en-IN"/>
              <a:t>👉 Example:</a:t>
            </a:r>
            <a:br>
              <a:rPr lang="en-IN"/>
            </a:br>
            <a:r>
              <a:rPr lang="en-IN"/>
              <a:t> A straight line trying to fit curved data</a:t>
            </a:r>
            <a:br>
              <a:rPr lang="en-IN"/>
            </a:br>
            <a:r>
              <a:rPr lang="en-IN"/>
              <a:t> → It won’t fit well no matter what data you use</a:t>
            </a:r>
            <a:endParaRPr/>
          </a:p>
          <a:p>
            <a:pPr indent="0" lvl="0" marL="0" rtl="0" algn="l">
              <a:lnSpc>
                <a:spcPct val="115000"/>
              </a:lnSpc>
              <a:spcBef>
                <a:spcPts val="1200"/>
              </a:spcBef>
              <a:spcAft>
                <a:spcPts val="0"/>
              </a:spcAft>
              <a:buClr>
                <a:schemeClr val="dk1"/>
              </a:buClr>
              <a:buSzPts val="1100"/>
              <a:buFont typeface="Arial"/>
              <a:buNone/>
            </a:pPr>
            <a:r>
              <a:rPr lang="en-IN"/>
              <a:t>✔ </a:t>
            </a:r>
            <a:r>
              <a:rPr b="1" lang="en-IN"/>
              <a:t>High Bias = Underfitting</a:t>
            </a:r>
            <a:endParaRPr b="1"/>
          </a:p>
          <a:p>
            <a:pPr indent="0" lvl="0" marL="0" rtl="0" algn="l">
              <a:spcBef>
                <a:spcPts val="1200"/>
              </a:spcBef>
              <a:spcAft>
                <a:spcPts val="0"/>
              </a:spcAft>
              <a:buNone/>
            </a:pPr>
            <a:r>
              <a:t/>
            </a:r>
            <a:endParaRPr/>
          </a:p>
        </p:txBody>
      </p:sp>
      <p:sp>
        <p:nvSpPr>
          <p:cNvPr id="369" name="Google Shape;369;g3dc31faf6cb_0_2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dc31faf6cb_0_3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Bias-Variance Trade-off.</a:t>
            </a:r>
            <a:endParaRPr/>
          </a:p>
        </p:txBody>
      </p:sp>
      <p:sp>
        <p:nvSpPr>
          <p:cNvPr id="376" name="Google Shape;376;g3dc31faf6cb_0_36"/>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IN" sz="2700"/>
              <a:t>2. Variance (Error due to sensitivity)</a:t>
            </a:r>
            <a:endParaRPr b="1" sz="2700"/>
          </a:p>
          <a:p>
            <a:pPr indent="-387350" lvl="0" marL="457200" rtl="0" algn="l">
              <a:lnSpc>
                <a:spcPct val="115000"/>
              </a:lnSpc>
              <a:spcBef>
                <a:spcPts val="1200"/>
              </a:spcBef>
              <a:spcAft>
                <a:spcPts val="0"/>
              </a:spcAft>
              <a:buSzPts val="2500"/>
              <a:buChar char="●"/>
            </a:pPr>
            <a:r>
              <a:rPr lang="en-IN" sz="2500"/>
              <a:t>Happens when the model is </a:t>
            </a:r>
            <a:r>
              <a:rPr b="1" lang="en-IN" sz="2500"/>
              <a:t>too complex</a:t>
            </a:r>
            <a:endParaRPr b="1" sz="2500"/>
          </a:p>
          <a:p>
            <a:pPr indent="-387350" lvl="0" marL="457200" rtl="0" algn="l">
              <a:lnSpc>
                <a:spcPct val="115000"/>
              </a:lnSpc>
              <a:spcBef>
                <a:spcPts val="0"/>
              </a:spcBef>
              <a:spcAft>
                <a:spcPts val="0"/>
              </a:spcAft>
              <a:buSzPts val="2500"/>
              <a:buChar char="●"/>
            </a:pPr>
            <a:r>
              <a:rPr lang="en-IN" sz="2500"/>
              <a:t>It </a:t>
            </a:r>
            <a:r>
              <a:rPr b="1" lang="en-IN" sz="2500"/>
              <a:t>memorizes training data</a:t>
            </a:r>
            <a:endParaRPr b="1" sz="2500"/>
          </a:p>
          <a:p>
            <a:pPr indent="-387350" lvl="0" marL="457200" rtl="0" algn="l">
              <a:lnSpc>
                <a:spcPct val="115000"/>
              </a:lnSpc>
              <a:spcBef>
                <a:spcPts val="0"/>
              </a:spcBef>
              <a:spcAft>
                <a:spcPts val="0"/>
              </a:spcAft>
              <a:buSzPts val="2500"/>
              <a:buChar char="●"/>
            </a:pPr>
            <a:r>
              <a:rPr lang="en-IN" sz="2500"/>
              <a:t>Changes a lot with different datasets</a:t>
            </a:r>
            <a:endParaRPr sz="2500"/>
          </a:p>
          <a:p>
            <a:pPr indent="0" lvl="0" marL="0" rtl="0" algn="l">
              <a:lnSpc>
                <a:spcPct val="115000"/>
              </a:lnSpc>
              <a:spcBef>
                <a:spcPts val="1200"/>
              </a:spcBef>
              <a:spcAft>
                <a:spcPts val="0"/>
              </a:spcAft>
              <a:buNone/>
            </a:pPr>
            <a:r>
              <a:rPr lang="en-IN" sz="2500"/>
              <a:t>👉 Example:</a:t>
            </a:r>
            <a:br>
              <a:rPr lang="en-IN" sz="2500"/>
            </a:br>
            <a:r>
              <a:rPr lang="en-IN" sz="2500"/>
              <a:t> A very complex curve that fits every point exactly</a:t>
            </a:r>
            <a:br>
              <a:rPr lang="en-IN" sz="2500"/>
            </a:br>
            <a:r>
              <a:rPr lang="en-IN" sz="2500"/>
              <a:t> → But changes wildly if data changes</a:t>
            </a:r>
            <a:endParaRPr sz="2500"/>
          </a:p>
          <a:p>
            <a:pPr indent="0" lvl="0" marL="0" rtl="0" algn="l">
              <a:lnSpc>
                <a:spcPct val="115000"/>
              </a:lnSpc>
              <a:spcBef>
                <a:spcPts val="1200"/>
              </a:spcBef>
              <a:spcAft>
                <a:spcPts val="0"/>
              </a:spcAft>
              <a:buNone/>
            </a:pPr>
            <a:r>
              <a:rPr lang="en-IN" sz="2500"/>
              <a:t>✔ </a:t>
            </a:r>
            <a:r>
              <a:rPr b="1" lang="en-IN" sz="2500"/>
              <a:t>High Variance = Overfitting</a:t>
            </a:r>
            <a:endParaRPr b="1" sz="2500"/>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377" name="Google Shape;377;g3dc31faf6cb_0_3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dc31faf6cb_0_4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The Bias-Variance Trade-off.</a:t>
            </a:r>
            <a:endParaRPr/>
          </a:p>
        </p:txBody>
      </p:sp>
      <p:sp>
        <p:nvSpPr>
          <p:cNvPr id="384" name="Google Shape;384;g3dc31faf6cb_0_44"/>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IN" sz="2800"/>
              <a:t>Trade-off (The Balance)</a:t>
            </a:r>
            <a:endParaRPr b="1" sz="2800"/>
          </a:p>
          <a:p>
            <a:pPr indent="0" lvl="0" marL="0" rtl="0" algn="l">
              <a:lnSpc>
                <a:spcPct val="115000"/>
              </a:lnSpc>
              <a:spcBef>
                <a:spcPts val="1200"/>
              </a:spcBef>
              <a:spcAft>
                <a:spcPts val="0"/>
              </a:spcAft>
              <a:buClr>
                <a:schemeClr val="dk1"/>
              </a:buClr>
              <a:buSzPts val="1100"/>
              <a:buFont typeface="Arial"/>
              <a:buNone/>
            </a:pPr>
            <a:r>
              <a:rPr lang="en-IN" sz="2200"/>
              <a:t>You cannot minimize both at the same time easily:</a:t>
            </a:r>
            <a:endParaRPr sz="2200"/>
          </a:p>
          <a:p>
            <a:pPr indent="-368300" lvl="0" marL="457200" rtl="0" algn="l">
              <a:lnSpc>
                <a:spcPct val="115000"/>
              </a:lnSpc>
              <a:spcBef>
                <a:spcPts val="1200"/>
              </a:spcBef>
              <a:spcAft>
                <a:spcPts val="0"/>
              </a:spcAft>
              <a:buSzPts val="2200"/>
              <a:buChar char="●"/>
            </a:pPr>
            <a:r>
              <a:rPr lang="en-IN" sz="2200"/>
              <a:t>Simple model → </a:t>
            </a:r>
            <a:r>
              <a:rPr b="1" lang="en-IN" sz="2200"/>
              <a:t>High Bias, Low Variance</a:t>
            </a:r>
            <a:endParaRPr b="1" sz="2200"/>
          </a:p>
          <a:p>
            <a:pPr indent="-368300" lvl="0" marL="457200" rtl="0" algn="l">
              <a:lnSpc>
                <a:spcPct val="115000"/>
              </a:lnSpc>
              <a:spcBef>
                <a:spcPts val="0"/>
              </a:spcBef>
              <a:spcAft>
                <a:spcPts val="0"/>
              </a:spcAft>
              <a:buSzPts val="2200"/>
              <a:buChar char="●"/>
            </a:pPr>
            <a:r>
              <a:rPr lang="en-IN" sz="2200"/>
              <a:t>Complex model → </a:t>
            </a:r>
            <a:r>
              <a:rPr b="1" lang="en-IN" sz="2200"/>
              <a:t>Low Bias, High Variance</a:t>
            </a:r>
            <a:endParaRPr b="1" sz="2200"/>
          </a:p>
          <a:p>
            <a:pPr indent="0" lvl="0" marL="0" rtl="0" algn="l">
              <a:lnSpc>
                <a:spcPct val="115000"/>
              </a:lnSpc>
              <a:spcBef>
                <a:spcPts val="1200"/>
              </a:spcBef>
              <a:spcAft>
                <a:spcPts val="0"/>
              </a:spcAft>
              <a:buClr>
                <a:schemeClr val="dk1"/>
              </a:buClr>
              <a:buSzPts val="1100"/>
              <a:buFont typeface="Arial"/>
              <a:buNone/>
            </a:pPr>
            <a:r>
              <a:rPr lang="en-IN" sz="2200"/>
              <a:t>Goal: Find a </a:t>
            </a:r>
            <a:r>
              <a:rPr b="1" lang="en-IN" sz="2200"/>
              <a:t>balance</a:t>
            </a:r>
            <a:r>
              <a:rPr lang="en-IN" sz="2200"/>
              <a:t> where both are reasonably low</a:t>
            </a:r>
            <a:endParaRPr sz="2200"/>
          </a:p>
          <a:p>
            <a:pPr indent="0" lvl="0" marL="0" rtl="0" algn="l">
              <a:spcBef>
                <a:spcPts val="1200"/>
              </a:spcBef>
              <a:spcAft>
                <a:spcPts val="0"/>
              </a:spcAft>
              <a:buNone/>
            </a:pPr>
            <a:r>
              <a:t/>
            </a:r>
            <a:endParaRPr/>
          </a:p>
        </p:txBody>
      </p:sp>
      <p:sp>
        <p:nvSpPr>
          <p:cNvPr id="385" name="Google Shape;385;g3dc31faf6cb_0_4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g3dc31faf6cb_0_5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92" name="Google Shape;392;g3dc31faf6cb_0_52"/>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393" name="Google Shape;393;g3dc31faf6cb_0_5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394" name="Google Shape;394;g3dc31faf6cb_0_52"/>
          <p:cNvPicPr preferRelativeResize="0"/>
          <p:nvPr/>
        </p:nvPicPr>
        <p:blipFill>
          <a:blip r:embed="rId3">
            <a:alphaModFix/>
          </a:blip>
          <a:stretch>
            <a:fillRect/>
          </a:stretch>
        </p:blipFill>
        <p:spPr>
          <a:xfrm>
            <a:off x="838200" y="0"/>
            <a:ext cx="10515602" cy="68579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dc31faf6cb_0_6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lang="en-IN" sz="2200">
                <a:solidFill>
                  <a:schemeClr val="dk1"/>
                </a:solidFill>
              </a:rPr>
              <a:t>Real-Time Example: Exam Preparation</a:t>
            </a:r>
            <a:endParaRPr sz="4100"/>
          </a:p>
        </p:txBody>
      </p:sp>
      <p:sp>
        <p:nvSpPr>
          <p:cNvPr id="401" name="Google Shape;401;g3dc31faf6cb_0_68"/>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2300"/>
              <a:t>🔹 Case 1: High Bias (Underfitting)</a:t>
            </a:r>
            <a:endParaRPr b="1" sz="2300"/>
          </a:p>
          <a:p>
            <a:pPr indent="0" lvl="0" marL="0" rtl="0" algn="l">
              <a:lnSpc>
                <a:spcPct val="115000"/>
              </a:lnSpc>
              <a:spcBef>
                <a:spcPts val="1200"/>
              </a:spcBef>
              <a:spcAft>
                <a:spcPts val="0"/>
              </a:spcAft>
              <a:buClr>
                <a:schemeClr val="dk1"/>
              </a:buClr>
              <a:buSzPts val="1100"/>
              <a:buFont typeface="Arial"/>
              <a:buNone/>
            </a:pPr>
            <a:r>
              <a:rPr lang="en-IN" sz="2100"/>
              <a:t>A student studies </a:t>
            </a:r>
            <a:r>
              <a:rPr b="1" lang="en-IN" sz="2100"/>
              <a:t>only 1–2 basic questions</a:t>
            </a:r>
            <a:r>
              <a:rPr lang="en-IN" sz="2100"/>
              <a:t> from each topic.</a:t>
            </a:r>
            <a:endParaRPr sz="2100"/>
          </a:p>
          <a:p>
            <a:pPr indent="-361950" lvl="0" marL="457200" rtl="0" algn="l">
              <a:lnSpc>
                <a:spcPct val="115000"/>
              </a:lnSpc>
              <a:spcBef>
                <a:spcPts val="1200"/>
              </a:spcBef>
              <a:spcAft>
                <a:spcPts val="0"/>
              </a:spcAft>
              <a:buSzPts val="2100"/>
              <a:buChar char="●"/>
            </a:pPr>
            <a:r>
              <a:rPr lang="en-IN" sz="2100"/>
              <a:t>In the exam, questions are slightly different</a:t>
            </a:r>
            <a:endParaRPr sz="2100"/>
          </a:p>
          <a:p>
            <a:pPr indent="-361950" lvl="0" marL="457200" rtl="0" algn="l">
              <a:lnSpc>
                <a:spcPct val="115000"/>
              </a:lnSpc>
              <a:spcBef>
                <a:spcPts val="0"/>
              </a:spcBef>
              <a:spcAft>
                <a:spcPts val="0"/>
              </a:spcAft>
              <a:buSzPts val="2100"/>
              <a:buChar char="●"/>
            </a:pPr>
            <a:r>
              <a:rPr lang="en-IN" sz="2100"/>
              <a:t>Student </a:t>
            </a:r>
            <a:r>
              <a:rPr b="1" lang="en-IN" sz="2100"/>
              <a:t>cannot answer properly</a:t>
            </a:r>
            <a:endParaRPr b="1" sz="2100"/>
          </a:p>
          <a:p>
            <a:pPr indent="-361950" lvl="0" marL="457200" rtl="0" algn="l">
              <a:lnSpc>
                <a:spcPct val="115000"/>
              </a:lnSpc>
              <a:spcBef>
                <a:spcPts val="0"/>
              </a:spcBef>
              <a:spcAft>
                <a:spcPts val="0"/>
              </a:spcAft>
              <a:buSzPts val="2100"/>
              <a:buChar char="●"/>
            </a:pPr>
            <a:r>
              <a:rPr lang="en-IN" sz="2100"/>
              <a:t>Performs poorly even on simple questions</a:t>
            </a:r>
            <a:endParaRPr sz="2100"/>
          </a:p>
          <a:p>
            <a:pPr indent="0" lvl="0" marL="0" rtl="0" algn="l">
              <a:lnSpc>
                <a:spcPct val="115000"/>
              </a:lnSpc>
              <a:spcBef>
                <a:spcPts val="1200"/>
              </a:spcBef>
              <a:spcAft>
                <a:spcPts val="0"/>
              </a:spcAft>
              <a:buClr>
                <a:schemeClr val="dk1"/>
              </a:buClr>
              <a:buSzPts val="1100"/>
              <a:buFont typeface="Arial"/>
              <a:buNone/>
            </a:pPr>
            <a:r>
              <a:rPr lang="en-IN" sz="2100"/>
              <a:t>👉 This is like a </a:t>
            </a:r>
            <a:r>
              <a:rPr b="1" lang="en-IN" sz="2100"/>
              <a:t>simple model</a:t>
            </a:r>
            <a:br>
              <a:rPr b="1" lang="en-IN" sz="2100"/>
            </a:br>
            <a:r>
              <a:rPr lang="en-IN" sz="2100"/>
              <a:t> ✔ Doesn’t learn enough patterns</a:t>
            </a:r>
            <a:br>
              <a:rPr lang="en-IN" sz="2100"/>
            </a:br>
            <a:r>
              <a:rPr lang="en-IN" sz="2100"/>
              <a:t> ❌ Makes mistakes everywhere</a:t>
            </a:r>
            <a:endParaRPr sz="2100"/>
          </a:p>
          <a:p>
            <a:pPr indent="0" lvl="0" marL="0" rtl="0" algn="l">
              <a:lnSpc>
                <a:spcPct val="115000"/>
              </a:lnSpc>
              <a:spcBef>
                <a:spcPts val="1200"/>
              </a:spcBef>
              <a:spcAft>
                <a:spcPts val="0"/>
              </a:spcAft>
              <a:buClr>
                <a:schemeClr val="dk1"/>
              </a:buClr>
              <a:buSzPts val="1100"/>
              <a:buFont typeface="Arial"/>
              <a:buNone/>
            </a:pPr>
            <a:r>
              <a:rPr lang="en-IN" sz="2100"/>
              <a:t>➡️ </a:t>
            </a:r>
            <a:r>
              <a:rPr b="1" lang="en-IN" sz="2100"/>
              <a:t>High Bias = Underfitting</a:t>
            </a:r>
            <a:endParaRPr b="1" sz="2100"/>
          </a:p>
          <a:p>
            <a:pPr indent="0" lvl="0" marL="0" rtl="0" algn="l">
              <a:spcBef>
                <a:spcPts val="1200"/>
              </a:spcBef>
              <a:spcAft>
                <a:spcPts val="0"/>
              </a:spcAft>
              <a:buNone/>
            </a:pPr>
            <a:r>
              <a:t/>
            </a:r>
            <a:endParaRPr/>
          </a:p>
        </p:txBody>
      </p:sp>
      <p:sp>
        <p:nvSpPr>
          <p:cNvPr id="402" name="Google Shape;402;g3dc31faf6cb_0_6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dc31faf6cb_0_7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None/>
            </a:pPr>
            <a:r>
              <a:rPr lang="en-IN" sz="2200">
                <a:solidFill>
                  <a:schemeClr val="dk1"/>
                </a:solidFill>
              </a:rPr>
              <a:t>Real-Time Example: Exam Preparation</a:t>
            </a:r>
            <a:endParaRPr sz="4100"/>
          </a:p>
        </p:txBody>
      </p:sp>
      <p:sp>
        <p:nvSpPr>
          <p:cNvPr id="409" name="Google Shape;409;g3dc31faf6cb_0_76"/>
          <p:cNvSpPr txBox="1"/>
          <p:nvPr>
            <p:ph idx="1" type="body"/>
          </p:nvPr>
        </p:nvSpPr>
        <p:spPr>
          <a:xfrm>
            <a:off x="838200" y="1518042"/>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IN" sz="2500"/>
              <a:t>Case 2: High Variance (Overfitting)</a:t>
            </a:r>
            <a:endParaRPr b="1" sz="2500"/>
          </a:p>
          <a:p>
            <a:pPr indent="0" lvl="0" marL="0" rtl="0" algn="l">
              <a:lnSpc>
                <a:spcPct val="115000"/>
              </a:lnSpc>
              <a:spcBef>
                <a:spcPts val="1200"/>
              </a:spcBef>
              <a:spcAft>
                <a:spcPts val="0"/>
              </a:spcAft>
              <a:buNone/>
            </a:pPr>
            <a:r>
              <a:rPr lang="en-IN" sz="2300"/>
              <a:t>A student </a:t>
            </a:r>
            <a:r>
              <a:rPr b="1" lang="en-IN" sz="2300"/>
              <a:t>memorizes exact answers</a:t>
            </a:r>
            <a:r>
              <a:rPr lang="en-IN" sz="2300"/>
              <a:t> from previous question papers.</a:t>
            </a:r>
            <a:endParaRPr sz="2300"/>
          </a:p>
          <a:p>
            <a:pPr indent="-374650" lvl="0" marL="457200" rtl="0" algn="l">
              <a:lnSpc>
                <a:spcPct val="115000"/>
              </a:lnSpc>
              <a:spcBef>
                <a:spcPts val="1200"/>
              </a:spcBef>
              <a:spcAft>
                <a:spcPts val="0"/>
              </a:spcAft>
              <a:buSzPts val="2300"/>
              <a:buChar char="●"/>
            </a:pPr>
            <a:r>
              <a:rPr lang="en-IN" sz="2300"/>
              <a:t>If the same questions come → scores very high</a:t>
            </a:r>
            <a:endParaRPr sz="2300"/>
          </a:p>
          <a:p>
            <a:pPr indent="-374650" lvl="0" marL="457200" rtl="0" algn="l">
              <a:lnSpc>
                <a:spcPct val="115000"/>
              </a:lnSpc>
              <a:spcBef>
                <a:spcPts val="0"/>
              </a:spcBef>
              <a:spcAft>
                <a:spcPts val="0"/>
              </a:spcAft>
              <a:buSzPts val="2300"/>
              <a:buChar char="●"/>
            </a:pPr>
            <a:r>
              <a:rPr lang="en-IN" sz="2300"/>
              <a:t>If questions change slightly → gets confused</a:t>
            </a:r>
            <a:endParaRPr sz="2300"/>
          </a:p>
          <a:p>
            <a:pPr indent="0" lvl="0" marL="0" rtl="0" algn="l">
              <a:lnSpc>
                <a:spcPct val="115000"/>
              </a:lnSpc>
              <a:spcBef>
                <a:spcPts val="1200"/>
              </a:spcBef>
              <a:spcAft>
                <a:spcPts val="0"/>
              </a:spcAft>
              <a:buNone/>
            </a:pPr>
            <a:r>
              <a:rPr lang="en-IN" sz="2300"/>
              <a:t>👉 This is like a </a:t>
            </a:r>
            <a:r>
              <a:rPr b="1" lang="en-IN" sz="2300"/>
              <a:t>complex model</a:t>
            </a:r>
            <a:br>
              <a:rPr b="1" lang="en-IN" sz="2300"/>
            </a:br>
            <a:r>
              <a:rPr lang="en-IN" sz="2300"/>
              <a:t> ✔ Perfect on training data (past papers)</a:t>
            </a:r>
            <a:br>
              <a:rPr lang="en-IN" sz="2300"/>
            </a:br>
            <a:r>
              <a:rPr lang="en-IN" sz="2300"/>
              <a:t> ❌ Fails on new/unseen questions</a:t>
            </a:r>
            <a:endParaRPr sz="2300"/>
          </a:p>
          <a:p>
            <a:pPr indent="0" lvl="0" marL="0" rtl="0" algn="l">
              <a:lnSpc>
                <a:spcPct val="115000"/>
              </a:lnSpc>
              <a:spcBef>
                <a:spcPts val="1200"/>
              </a:spcBef>
              <a:spcAft>
                <a:spcPts val="0"/>
              </a:spcAft>
              <a:buNone/>
            </a:pPr>
            <a:r>
              <a:rPr lang="en-IN" sz="2300"/>
              <a:t>➡️ </a:t>
            </a:r>
            <a:r>
              <a:rPr b="1" lang="en-IN" sz="2300"/>
              <a:t>High Variance = Overfitting</a:t>
            </a:r>
            <a:endParaRPr b="1" sz="2300"/>
          </a:p>
          <a:p>
            <a:pPr indent="0" lvl="0" marL="0" rtl="0" algn="l">
              <a:lnSpc>
                <a:spcPct val="115000"/>
              </a:lnSpc>
              <a:spcBef>
                <a:spcPts val="1200"/>
              </a:spcBef>
              <a:spcAft>
                <a:spcPts val="0"/>
              </a:spcAft>
              <a:buNone/>
            </a:pPr>
            <a:r>
              <a:t/>
            </a:r>
            <a:endParaRPr b="1" sz="2300"/>
          </a:p>
          <a:p>
            <a:pPr indent="0" lvl="0" marL="0" rtl="0" algn="l">
              <a:spcBef>
                <a:spcPts val="1200"/>
              </a:spcBef>
              <a:spcAft>
                <a:spcPts val="0"/>
              </a:spcAft>
              <a:buNone/>
            </a:pPr>
            <a:r>
              <a:t/>
            </a:r>
            <a:endParaRPr/>
          </a:p>
        </p:txBody>
      </p:sp>
      <p:sp>
        <p:nvSpPr>
          <p:cNvPr id="410" name="Google Shape;410;g3dc31faf6cb_0_7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dc31faf6cb_0_11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What is Data Ethics</a:t>
            </a:r>
            <a:endParaRPr/>
          </a:p>
        </p:txBody>
      </p:sp>
      <p:sp>
        <p:nvSpPr>
          <p:cNvPr id="417" name="Google Shape;417;g3dc31faf6cb_0_11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t/>
            </a:r>
            <a:endParaRPr/>
          </a:p>
          <a:p>
            <a:pPr indent="0" lvl="0" marL="0" rtl="0" algn="just">
              <a:lnSpc>
                <a:spcPct val="115000"/>
              </a:lnSpc>
              <a:spcBef>
                <a:spcPts val="1200"/>
              </a:spcBef>
              <a:spcAft>
                <a:spcPts val="0"/>
              </a:spcAft>
              <a:buNone/>
            </a:pPr>
            <a:r>
              <a:rPr b="1" lang="en-IN" sz="2100"/>
              <a:t>Ethics</a:t>
            </a:r>
            <a:r>
              <a:rPr lang="en-IN" sz="2100"/>
              <a:t> = a framework for thinking about "right" and "wrong" behavior. </a:t>
            </a:r>
            <a:endParaRPr sz="2100"/>
          </a:p>
          <a:p>
            <a:pPr indent="0" lvl="0" marL="0" rtl="0" algn="just">
              <a:lnSpc>
                <a:spcPct val="115000"/>
              </a:lnSpc>
              <a:spcBef>
                <a:spcPts val="1200"/>
              </a:spcBef>
              <a:spcAft>
                <a:spcPts val="0"/>
              </a:spcAft>
              <a:buNone/>
            </a:pPr>
            <a:r>
              <a:rPr b="1" lang="en-IN" sz="2100"/>
              <a:t>Data Ethics</a:t>
            </a:r>
            <a:r>
              <a:rPr lang="en-IN" sz="2100"/>
              <a:t> = </a:t>
            </a:r>
            <a:r>
              <a:rPr lang="en-IN"/>
              <a:t>Data ethics means deciding what is </a:t>
            </a:r>
            <a:r>
              <a:rPr b="1" lang="en-IN"/>
              <a:t>right or wrong when collecting, using, or sharing data</a:t>
            </a:r>
            <a:r>
              <a:rPr lang="en-IN"/>
              <a:t>. </a:t>
            </a:r>
            <a:endParaRPr/>
          </a:p>
          <a:p>
            <a:pPr indent="0" lvl="0" marL="0" rtl="0" algn="just">
              <a:lnSpc>
                <a:spcPct val="115000"/>
              </a:lnSpc>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IN" sz="2358"/>
              <a:t>Think of it like this:</a:t>
            </a:r>
            <a:endParaRPr sz="2358"/>
          </a:p>
          <a:p>
            <a:pPr indent="-378345" lvl="0" marL="457200" rtl="0" algn="l">
              <a:lnSpc>
                <a:spcPct val="115000"/>
              </a:lnSpc>
              <a:spcBef>
                <a:spcPts val="1200"/>
              </a:spcBef>
              <a:spcAft>
                <a:spcPts val="0"/>
              </a:spcAft>
              <a:buSzPts val="2358"/>
              <a:buChar char="●"/>
            </a:pPr>
            <a:r>
              <a:rPr lang="en-IN" sz="2358"/>
              <a:t>Just because technology </a:t>
            </a:r>
            <a:r>
              <a:rPr b="1" lang="en-IN" sz="2358"/>
              <a:t>can</a:t>
            </a:r>
            <a:r>
              <a:rPr lang="en-IN" sz="2358"/>
              <a:t> do something,</a:t>
            </a:r>
            <a:endParaRPr sz="2358"/>
          </a:p>
          <a:p>
            <a:pPr indent="-378345" lvl="0" marL="457200" rtl="0" algn="l">
              <a:lnSpc>
                <a:spcPct val="115000"/>
              </a:lnSpc>
              <a:spcBef>
                <a:spcPts val="0"/>
              </a:spcBef>
              <a:spcAft>
                <a:spcPts val="0"/>
              </a:spcAft>
              <a:buSzPts val="2358"/>
              <a:buChar char="●"/>
            </a:pPr>
            <a:r>
              <a:rPr lang="en-IN" sz="2358"/>
              <a:t>does not mean it </a:t>
            </a:r>
            <a:r>
              <a:rPr b="1" lang="en-IN" sz="2358"/>
              <a:t>should</a:t>
            </a:r>
            <a:r>
              <a:rPr lang="en-IN" sz="2358"/>
              <a:t> do it.</a:t>
            </a:r>
            <a:endParaRPr sz="1100"/>
          </a:p>
          <a:p>
            <a:pPr indent="0" lvl="0" marL="0" rtl="0" algn="just">
              <a:lnSpc>
                <a:spcPct val="115000"/>
              </a:lnSpc>
              <a:spcBef>
                <a:spcPts val="1200"/>
              </a:spcBef>
              <a:spcAft>
                <a:spcPts val="0"/>
              </a:spcAft>
              <a:buNone/>
            </a:pPr>
            <a:r>
              <a:t/>
            </a:r>
            <a:endParaRPr sz="1100"/>
          </a:p>
          <a:p>
            <a:pPr indent="0" lvl="0" marL="0" rtl="0" algn="just">
              <a:lnSpc>
                <a:spcPct val="115000"/>
              </a:lnSpc>
              <a:spcBef>
                <a:spcPts val="1200"/>
              </a:spcBef>
              <a:spcAft>
                <a:spcPts val="1200"/>
              </a:spcAft>
              <a:buClr>
                <a:schemeClr val="dk1"/>
              </a:buClr>
              <a:buSzPts val="1100"/>
              <a:buFont typeface="Arial"/>
              <a:buNone/>
            </a:pPr>
            <a:r>
              <a:t/>
            </a:r>
            <a:endParaRPr sz="1100"/>
          </a:p>
        </p:txBody>
      </p:sp>
      <p:sp>
        <p:nvSpPr>
          <p:cNvPr id="418" name="Google Shape;418;g3dc31faf6cb_0_11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e0ae9d0f41_0_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What is Data Ethics</a:t>
            </a:r>
            <a:endParaRPr/>
          </a:p>
        </p:txBody>
      </p:sp>
      <p:sp>
        <p:nvSpPr>
          <p:cNvPr id="425" name="Google Shape;425;g3e0ae9d0f41_0_2"/>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IN" sz="2100"/>
              <a:t>Suppose a company collects your browsing history.</a:t>
            </a:r>
            <a:endParaRPr b="1" sz="2100"/>
          </a:p>
          <a:p>
            <a:pPr indent="0" lvl="0" marL="0" rtl="0" algn="l">
              <a:lnSpc>
                <a:spcPct val="115000"/>
              </a:lnSpc>
              <a:spcBef>
                <a:spcPts val="1200"/>
              </a:spcBef>
              <a:spcAft>
                <a:spcPts val="0"/>
              </a:spcAft>
              <a:buClr>
                <a:schemeClr val="dk1"/>
              </a:buClr>
              <a:buSzPts val="1100"/>
              <a:buFont typeface="Arial"/>
              <a:buNone/>
            </a:pPr>
            <a:r>
              <a:rPr b="1" lang="en-IN" sz="2100"/>
              <a:t>They can:</a:t>
            </a:r>
            <a:endParaRPr b="1" sz="2100"/>
          </a:p>
          <a:p>
            <a:pPr indent="-298450" lvl="0" marL="457200" rtl="0" algn="l">
              <a:lnSpc>
                <a:spcPct val="115000"/>
              </a:lnSpc>
              <a:spcBef>
                <a:spcPts val="1200"/>
              </a:spcBef>
              <a:spcAft>
                <a:spcPts val="0"/>
              </a:spcAft>
              <a:buSzPts val="1100"/>
              <a:buChar char="●"/>
            </a:pPr>
            <a:r>
              <a:rPr b="1" lang="en-IN" sz="2100"/>
              <a:t>use it to improve recommendations,</a:t>
            </a:r>
            <a:endParaRPr b="1" sz="2100"/>
          </a:p>
          <a:p>
            <a:pPr indent="-298450" lvl="0" marL="457200" rtl="0" algn="l">
              <a:lnSpc>
                <a:spcPct val="115000"/>
              </a:lnSpc>
              <a:spcBef>
                <a:spcPts val="0"/>
              </a:spcBef>
              <a:spcAft>
                <a:spcPts val="0"/>
              </a:spcAft>
              <a:buSzPts val="1100"/>
              <a:buChar char="●"/>
            </a:pPr>
            <a:r>
              <a:rPr b="1" lang="en-IN" sz="2100"/>
              <a:t>or sell it to advertisers without clearly informing you.</a:t>
            </a:r>
            <a:endParaRPr b="1" sz="2100"/>
          </a:p>
          <a:p>
            <a:pPr indent="0" lvl="0" marL="0" rtl="0" algn="l">
              <a:lnSpc>
                <a:spcPct val="115000"/>
              </a:lnSpc>
              <a:spcBef>
                <a:spcPts val="1200"/>
              </a:spcBef>
              <a:spcAft>
                <a:spcPts val="0"/>
              </a:spcAft>
              <a:buClr>
                <a:schemeClr val="dk1"/>
              </a:buClr>
              <a:buSzPts val="1100"/>
              <a:buFont typeface="Arial"/>
              <a:buNone/>
            </a:pPr>
            <a:r>
              <a:rPr b="1" lang="en-IN" sz="2100"/>
              <a:t>Data ethics asks:</a:t>
            </a:r>
            <a:endParaRPr b="1" sz="2100"/>
          </a:p>
          <a:p>
            <a:pPr indent="0" lvl="0" marL="381000" marR="381000" rtl="0" algn="l">
              <a:lnSpc>
                <a:spcPct val="115000"/>
              </a:lnSpc>
              <a:spcBef>
                <a:spcPts val="1200"/>
              </a:spcBef>
              <a:spcAft>
                <a:spcPts val="0"/>
              </a:spcAft>
              <a:buClr>
                <a:schemeClr val="dk1"/>
              </a:buClr>
              <a:buSzPts val="1100"/>
              <a:buFont typeface="Arial"/>
              <a:buNone/>
            </a:pPr>
            <a:r>
              <a:rPr b="1" lang="en-IN" sz="2100"/>
              <a:t>“Is this fair to users?”</a:t>
            </a:r>
            <a:endParaRPr b="1" sz="2100"/>
          </a:p>
          <a:p>
            <a:pPr indent="0" lvl="0" marL="457200" rtl="0" algn="l">
              <a:lnSpc>
                <a:spcPct val="115000"/>
              </a:lnSpc>
              <a:spcBef>
                <a:spcPts val="1200"/>
              </a:spcBef>
              <a:spcAft>
                <a:spcPts val="0"/>
              </a:spcAft>
              <a:buNone/>
            </a:pPr>
            <a:r>
              <a:t/>
            </a:r>
            <a:endParaRPr b="1" sz="2100"/>
          </a:p>
          <a:p>
            <a:pPr indent="0" lvl="0" marL="0" rtl="0" algn="just">
              <a:lnSpc>
                <a:spcPct val="115000"/>
              </a:lnSpc>
              <a:spcBef>
                <a:spcPts val="1200"/>
              </a:spcBef>
              <a:spcAft>
                <a:spcPts val="0"/>
              </a:spcAft>
              <a:buNone/>
            </a:pPr>
            <a:r>
              <a:t/>
            </a:r>
            <a:endParaRPr sz="1100"/>
          </a:p>
          <a:p>
            <a:pPr indent="0" lvl="0" marL="0" rtl="0" algn="just">
              <a:lnSpc>
                <a:spcPct val="115000"/>
              </a:lnSpc>
              <a:spcBef>
                <a:spcPts val="1200"/>
              </a:spcBef>
              <a:spcAft>
                <a:spcPts val="1200"/>
              </a:spcAft>
              <a:buClr>
                <a:schemeClr val="dk1"/>
              </a:buClr>
              <a:buSzPts val="1100"/>
              <a:buFont typeface="Arial"/>
              <a:buNone/>
            </a:pPr>
            <a:r>
              <a:t/>
            </a:r>
            <a:endParaRPr sz="1100"/>
          </a:p>
        </p:txBody>
      </p:sp>
      <p:sp>
        <p:nvSpPr>
          <p:cNvPr id="426" name="Google Shape;426;g3e0ae9d0f41_0_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e0ae9d0f41_0_2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What is Data Ethics</a:t>
            </a:r>
            <a:endParaRPr/>
          </a:p>
        </p:txBody>
      </p:sp>
      <p:sp>
        <p:nvSpPr>
          <p:cNvPr id="433" name="Google Shape;433;g3e0ae9d0f41_0_28"/>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marR="381000" rtl="0" algn="l">
              <a:lnSpc>
                <a:spcPct val="115000"/>
              </a:lnSpc>
              <a:spcBef>
                <a:spcPts val="1200"/>
              </a:spcBef>
              <a:spcAft>
                <a:spcPts val="0"/>
              </a:spcAft>
              <a:buNone/>
            </a:pPr>
            <a:r>
              <a:rPr b="1" lang="en-IN" sz="2100"/>
              <a:t>Two Ways to Think About Ethics </a:t>
            </a:r>
            <a:endParaRPr b="1" sz="2100"/>
          </a:p>
          <a:p>
            <a:pPr indent="0" lvl="0" marL="0" rtl="0" algn="l">
              <a:lnSpc>
                <a:spcPct val="115000"/>
              </a:lnSpc>
              <a:spcBef>
                <a:spcPts val="1200"/>
              </a:spcBef>
              <a:spcAft>
                <a:spcPts val="0"/>
              </a:spcAft>
              <a:buNone/>
            </a:pPr>
            <a:r>
              <a:rPr b="1" lang="en-IN" sz="1800">
                <a:solidFill>
                  <a:srgbClr val="000000"/>
                </a:solidFill>
              </a:rPr>
              <a:t>Type								Meaning</a:t>
            </a:r>
            <a:endParaRPr b="1" sz="1800">
              <a:solidFill>
                <a:srgbClr val="000000"/>
              </a:solidFill>
            </a:endParaRPr>
          </a:p>
          <a:p>
            <a:pPr indent="0" lvl="0" marL="0" rtl="0" algn="l">
              <a:lnSpc>
                <a:spcPct val="100000"/>
              </a:lnSpc>
              <a:spcBef>
                <a:spcPts val="0"/>
              </a:spcBef>
              <a:spcAft>
                <a:spcPts val="0"/>
              </a:spcAft>
              <a:buNone/>
            </a:pPr>
            <a:r>
              <a:rPr lang="en-IN" sz="2100">
                <a:solidFill>
                  <a:srgbClr val="000000"/>
                </a:solidFill>
              </a:rPr>
              <a:t>Prescriptive						Follow fixed rules or commandments</a:t>
            </a:r>
            <a:endParaRPr sz="2100">
              <a:solidFill>
                <a:srgbClr val="000000"/>
              </a:solidFill>
            </a:endParaRPr>
          </a:p>
          <a:p>
            <a:pPr indent="0" lvl="0" marL="0" rtl="0" algn="l">
              <a:lnSpc>
                <a:spcPct val="100000"/>
              </a:lnSpc>
              <a:spcBef>
                <a:spcPts val="0"/>
              </a:spcBef>
              <a:spcAft>
                <a:spcPts val="0"/>
              </a:spcAft>
              <a:buNone/>
            </a:pPr>
            <a:r>
              <a:rPr lang="en-IN" sz="2100">
                <a:solidFill>
                  <a:srgbClr val="000000"/>
                </a:solidFill>
              </a:rPr>
              <a:t>Reflective							Think carefully about consequences before acting</a:t>
            </a:r>
            <a:endParaRPr sz="2100">
              <a:solidFill>
                <a:srgbClr val="000000"/>
              </a:solidFill>
            </a:endParaRPr>
          </a:p>
          <a:p>
            <a:pPr indent="0" lvl="0" marL="0" rtl="0" algn="l">
              <a:lnSpc>
                <a:spcPct val="100000"/>
              </a:lnSpc>
              <a:spcBef>
                <a:spcPts val="0"/>
              </a:spcBef>
              <a:spcAft>
                <a:spcPts val="0"/>
              </a:spcAft>
              <a:buNone/>
            </a:pPr>
            <a:r>
              <a:t/>
            </a:r>
            <a:endParaRPr sz="2100">
              <a:solidFill>
                <a:srgbClr val="000000"/>
              </a:solidFill>
            </a:endParaRPr>
          </a:p>
          <a:p>
            <a:pPr indent="0" lvl="0" marL="0" rtl="0" algn="l">
              <a:lnSpc>
                <a:spcPct val="115000"/>
              </a:lnSpc>
              <a:spcBef>
                <a:spcPts val="1400"/>
              </a:spcBef>
              <a:spcAft>
                <a:spcPts val="0"/>
              </a:spcAft>
              <a:buClr>
                <a:schemeClr val="dk1"/>
              </a:buClr>
              <a:buSzPts val="1100"/>
              <a:buFont typeface="Arial"/>
              <a:buNone/>
            </a:pPr>
            <a:r>
              <a:rPr b="1" lang="en-IN" sz="1900"/>
              <a:t>Example: </a:t>
            </a:r>
            <a:r>
              <a:rPr lang="en-IN" sz="1700"/>
              <a:t>Instead of blindly following:</a:t>
            </a:r>
            <a:endParaRPr sz="1700"/>
          </a:p>
          <a:p>
            <a:pPr indent="0" lvl="0" marL="381000" marR="381000" rtl="0" algn="l">
              <a:lnSpc>
                <a:spcPct val="115000"/>
              </a:lnSpc>
              <a:spcBef>
                <a:spcPts val="1200"/>
              </a:spcBef>
              <a:spcAft>
                <a:spcPts val="0"/>
              </a:spcAft>
              <a:buClr>
                <a:schemeClr val="dk1"/>
              </a:buClr>
              <a:buSzPts val="1100"/>
              <a:buFont typeface="Arial"/>
              <a:buNone/>
            </a:pPr>
            <a:r>
              <a:rPr lang="en-IN" sz="1700"/>
              <a:t>“Never use customer data”</a:t>
            </a:r>
            <a:endParaRPr sz="1700"/>
          </a:p>
          <a:p>
            <a:pPr indent="0" lvl="0" marL="0" rtl="0" algn="l">
              <a:lnSpc>
                <a:spcPct val="115000"/>
              </a:lnSpc>
              <a:spcBef>
                <a:spcPts val="1200"/>
              </a:spcBef>
              <a:spcAft>
                <a:spcPts val="0"/>
              </a:spcAft>
              <a:buClr>
                <a:schemeClr val="dk1"/>
              </a:buClr>
              <a:buSzPts val="1100"/>
              <a:buFont typeface="Arial"/>
              <a:buNone/>
            </a:pPr>
            <a:r>
              <a:rPr lang="en-IN" sz="1700"/>
              <a:t>You think:</a:t>
            </a:r>
            <a:endParaRPr sz="1700"/>
          </a:p>
          <a:p>
            <a:pPr indent="-336550" lvl="0" marL="457200" rtl="0" algn="l">
              <a:lnSpc>
                <a:spcPct val="115000"/>
              </a:lnSpc>
              <a:spcBef>
                <a:spcPts val="1200"/>
              </a:spcBef>
              <a:spcAft>
                <a:spcPts val="0"/>
              </a:spcAft>
              <a:buSzPts val="1700"/>
              <a:buChar char="●"/>
            </a:pPr>
            <a:r>
              <a:rPr lang="en-IN" sz="1700"/>
              <a:t>Why are we using it?</a:t>
            </a:r>
            <a:endParaRPr sz="1700"/>
          </a:p>
          <a:p>
            <a:pPr indent="-336550" lvl="0" marL="457200" rtl="0" algn="l">
              <a:lnSpc>
                <a:spcPct val="115000"/>
              </a:lnSpc>
              <a:spcBef>
                <a:spcPts val="0"/>
              </a:spcBef>
              <a:spcAft>
                <a:spcPts val="0"/>
              </a:spcAft>
              <a:buSzPts val="1700"/>
              <a:buChar char="●"/>
            </a:pPr>
            <a:r>
              <a:rPr lang="en-IN" sz="1700"/>
              <a:t>Will it help users?</a:t>
            </a:r>
            <a:endParaRPr sz="1700"/>
          </a:p>
          <a:p>
            <a:pPr indent="-336550" lvl="0" marL="457200" rtl="0" algn="l">
              <a:lnSpc>
                <a:spcPct val="115000"/>
              </a:lnSpc>
              <a:spcBef>
                <a:spcPts val="0"/>
              </a:spcBef>
              <a:spcAft>
                <a:spcPts val="0"/>
              </a:spcAft>
              <a:buSzPts val="1700"/>
              <a:buChar char="●"/>
            </a:pPr>
            <a:r>
              <a:rPr lang="en-IN" sz="1700"/>
              <a:t>Can it harm someone?</a:t>
            </a:r>
            <a:endParaRPr sz="1400"/>
          </a:p>
        </p:txBody>
      </p:sp>
      <p:sp>
        <p:nvSpPr>
          <p:cNvPr id="434" name="Google Shape;434;g3e0ae9d0f41_0_2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e0ae9d0f41_0_5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Why Should You Care About Data Ethics? </a:t>
            </a:r>
            <a:endParaRPr/>
          </a:p>
        </p:txBody>
      </p:sp>
      <p:sp>
        <p:nvSpPr>
          <p:cNvPr id="441" name="Google Shape;441;g3e0ae9d0f41_0_52"/>
          <p:cNvSpPr txBox="1"/>
          <p:nvPr>
            <p:ph idx="1" type="body"/>
          </p:nvPr>
        </p:nvSpPr>
        <p:spPr>
          <a:xfrm>
            <a:off x="838200" y="1518051"/>
            <a:ext cx="10515600" cy="47001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IN" sz="2100"/>
              <a:t>Technology affects </a:t>
            </a:r>
            <a:r>
              <a:rPr b="1" lang="en-IN" sz="2100"/>
              <a:t>millions of people at once</a:t>
            </a:r>
            <a:r>
              <a:rPr lang="en-IN" sz="2100"/>
              <a:t>.</a:t>
            </a:r>
            <a:endParaRPr sz="2100"/>
          </a:p>
          <a:p>
            <a:pPr indent="0" lvl="0" marL="0" rtl="0" algn="l">
              <a:lnSpc>
                <a:spcPct val="115000"/>
              </a:lnSpc>
              <a:spcBef>
                <a:spcPts val="1200"/>
              </a:spcBef>
              <a:spcAft>
                <a:spcPts val="0"/>
              </a:spcAft>
              <a:buClr>
                <a:schemeClr val="dk1"/>
              </a:buClr>
              <a:buSzPts val="1100"/>
              <a:buFont typeface="Arial"/>
              <a:buNone/>
            </a:pPr>
            <a:r>
              <a:rPr lang="en-IN" sz="2100"/>
              <a:t>A small mistake in software can create a huge real-world problem.</a:t>
            </a:r>
            <a:endParaRPr sz="2100"/>
          </a:p>
          <a:p>
            <a:pPr indent="0" lvl="0" marL="0" rtl="0" algn="l">
              <a:lnSpc>
                <a:spcPct val="115000"/>
              </a:lnSpc>
              <a:spcBef>
                <a:spcPts val="1800"/>
              </a:spcBef>
              <a:spcAft>
                <a:spcPts val="0"/>
              </a:spcAft>
              <a:buClr>
                <a:schemeClr val="dk1"/>
              </a:buClr>
              <a:buSzPts val="1100"/>
              <a:buFont typeface="Arial"/>
              <a:buNone/>
            </a:pPr>
            <a:r>
              <a:rPr b="1" lang="en-IN" sz="2100"/>
              <a:t>Example: YouTube Recommendation System</a:t>
            </a:r>
            <a:endParaRPr b="1" sz="2100"/>
          </a:p>
          <a:p>
            <a:pPr indent="0" lvl="0" marL="0" rtl="0" algn="l">
              <a:lnSpc>
                <a:spcPct val="115000"/>
              </a:lnSpc>
              <a:spcBef>
                <a:spcPts val="1200"/>
              </a:spcBef>
              <a:spcAft>
                <a:spcPts val="0"/>
              </a:spcAft>
              <a:buClr>
                <a:schemeClr val="dk1"/>
              </a:buClr>
              <a:buSzPts val="1100"/>
              <a:buFont typeface="Arial"/>
              <a:buNone/>
            </a:pPr>
            <a:r>
              <a:rPr lang="en-IN" sz="2100"/>
              <a:t>If YouTube changes its algorithm:</a:t>
            </a:r>
            <a:endParaRPr sz="2100"/>
          </a:p>
          <a:p>
            <a:pPr indent="-361950" lvl="0" marL="457200" rtl="0" algn="l">
              <a:lnSpc>
                <a:spcPct val="115000"/>
              </a:lnSpc>
              <a:spcBef>
                <a:spcPts val="1200"/>
              </a:spcBef>
              <a:spcAft>
                <a:spcPts val="0"/>
              </a:spcAft>
              <a:buSzPts val="2100"/>
              <a:buChar char="●"/>
            </a:pPr>
            <a:r>
              <a:rPr lang="en-IN" sz="2100"/>
              <a:t>millions of people may suddenly see misleading videos,</a:t>
            </a:r>
            <a:endParaRPr sz="2100"/>
          </a:p>
          <a:p>
            <a:pPr indent="-361950" lvl="0" marL="457200" rtl="0" algn="l">
              <a:lnSpc>
                <a:spcPct val="115000"/>
              </a:lnSpc>
              <a:spcBef>
                <a:spcPts val="0"/>
              </a:spcBef>
              <a:spcAft>
                <a:spcPts val="0"/>
              </a:spcAft>
              <a:buSzPts val="2100"/>
              <a:buChar char="●"/>
            </a:pPr>
            <a:r>
              <a:rPr lang="en-IN" sz="2100"/>
              <a:t>political content,</a:t>
            </a:r>
            <a:endParaRPr sz="2100"/>
          </a:p>
          <a:p>
            <a:pPr indent="-361950" lvl="0" marL="457200" rtl="0" algn="l">
              <a:lnSpc>
                <a:spcPct val="115000"/>
              </a:lnSpc>
              <a:spcBef>
                <a:spcPts val="0"/>
              </a:spcBef>
              <a:spcAft>
                <a:spcPts val="0"/>
              </a:spcAft>
              <a:buSzPts val="2100"/>
              <a:buChar char="●"/>
            </a:pPr>
            <a:r>
              <a:rPr lang="en-IN" sz="2100"/>
              <a:t>or conspiracy theories.</a:t>
            </a:r>
            <a:endParaRPr sz="2100"/>
          </a:p>
          <a:p>
            <a:pPr indent="0" lvl="0" marL="0" rtl="0" algn="l">
              <a:lnSpc>
                <a:spcPct val="115000"/>
              </a:lnSpc>
              <a:spcBef>
                <a:spcPts val="1200"/>
              </a:spcBef>
              <a:spcAft>
                <a:spcPts val="0"/>
              </a:spcAft>
              <a:buClr>
                <a:schemeClr val="dk1"/>
              </a:buClr>
              <a:buSzPts val="1100"/>
              <a:buFont typeface="Arial"/>
              <a:buNone/>
            </a:pPr>
            <a:r>
              <a:rPr lang="en-IN" sz="2100"/>
              <a:t>One line of code can influence society.</a:t>
            </a:r>
            <a:endParaRPr sz="2100"/>
          </a:p>
          <a:p>
            <a:pPr indent="0" lvl="0" marL="0" rtl="0" algn="l">
              <a:lnSpc>
                <a:spcPct val="115000"/>
              </a:lnSpc>
              <a:spcBef>
                <a:spcPts val="1200"/>
              </a:spcBef>
              <a:spcAft>
                <a:spcPts val="1200"/>
              </a:spcAft>
              <a:buNone/>
            </a:pPr>
            <a:r>
              <a:rPr lang="en-IN" sz="2100"/>
              <a:t>So: Bigger impact = Bigger ethical responsibility</a:t>
            </a:r>
            <a:endParaRPr sz="2200"/>
          </a:p>
        </p:txBody>
      </p:sp>
      <p:sp>
        <p:nvSpPr>
          <p:cNvPr id="442" name="Google Shape;442;g3e0ae9d0f41_0_5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dc31faf6cb_0_125"/>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Building bad data products</a:t>
            </a:r>
            <a:endParaRPr/>
          </a:p>
        </p:txBody>
      </p:sp>
      <p:sp>
        <p:nvSpPr>
          <p:cNvPr id="449" name="Google Shape;449;g3dc31faf6cb_0_125"/>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None/>
            </a:pPr>
            <a:r>
              <a:rPr lang="en-IN" sz="2400"/>
              <a:t>Sometimes companies create harmful systems </a:t>
            </a:r>
            <a:r>
              <a:rPr b="1" lang="en-IN" sz="2400"/>
              <a:t>without bad intentions</a:t>
            </a:r>
            <a:r>
              <a:rPr lang="en-IN" sz="2400"/>
              <a:t>.</a:t>
            </a:r>
            <a:endParaRPr sz="2400"/>
          </a:p>
          <a:p>
            <a:pPr indent="0" lvl="0" marL="0" rtl="0" algn="l">
              <a:lnSpc>
                <a:spcPct val="115000"/>
              </a:lnSpc>
              <a:spcBef>
                <a:spcPts val="1200"/>
              </a:spcBef>
              <a:spcAft>
                <a:spcPts val="0"/>
              </a:spcAft>
              <a:buNone/>
            </a:pPr>
            <a:r>
              <a:rPr lang="en-IN" sz="2400"/>
              <a:t>The problem is:</a:t>
            </a:r>
            <a:endParaRPr sz="2400"/>
          </a:p>
          <a:p>
            <a:pPr indent="-381000" lvl="0" marL="457200" rtl="0" algn="l">
              <a:lnSpc>
                <a:spcPct val="115000"/>
              </a:lnSpc>
              <a:spcBef>
                <a:spcPts val="1200"/>
              </a:spcBef>
              <a:spcAft>
                <a:spcPts val="0"/>
              </a:spcAft>
              <a:buSzPts val="2400"/>
              <a:buChar char="●"/>
            </a:pPr>
            <a:r>
              <a:rPr lang="en-IN" sz="2400"/>
              <a:t>poor testing,</a:t>
            </a:r>
            <a:endParaRPr sz="2400"/>
          </a:p>
          <a:p>
            <a:pPr indent="-381000" lvl="0" marL="457200" rtl="0" algn="l">
              <a:lnSpc>
                <a:spcPct val="115000"/>
              </a:lnSpc>
              <a:spcBef>
                <a:spcPts val="0"/>
              </a:spcBef>
              <a:spcAft>
                <a:spcPts val="0"/>
              </a:spcAft>
              <a:buSzPts val="2400"/>
              <a:buChar char="●"/>
            </a:pPr>
            <a:r>
              <a:rPr lang="en-IN" sz="2400"/>
              <a:t>poor planning,</a:t>
            </a:r>
            <a:endParaRPr sz="2400"/>
          </a:p>
          <a:p>
            <a:pPr indent="-381000" lvl="0" marL="457200" rtl="0" algn="l">
              <a:lnSpc>
                <a:spcPct val="115000"/>
              </a:lnSpc>
              <a:spcBef>
                <a:spcPts val="0"/>
              </a:spcBef>
              <a:spcAft>
                <a:spcPts val="0"/>
              </a:spcAft>
              <a:buSzPts val="2400"/>
              <a:buChar char="●"/>
            </a:pPr>
            <a:r>
              <a:rPr lang="en-IN" sz="2400"/>
              <a:t>ignoring misuse possibilities.</a:t>
            </a:r>
            <a:endParaRPr sz="2400"/>
          </a:p>
          <a:p>
            <a:pPr indent="0" lvl="0" marL="457200" rtl="0" algn="just">
              <a:lnSpc>
                <a:spcPct val="115000"/>
              </a:lnSpc>
              <a:spcBef>
                <a:spcPts val="1200"/>
              </a:spcBef>
              <a:spcAft>
                <a:spcPts val="1200"/>
              </a:spcAft>
              <a:buNone/>
            </a:pPr>
            <a:r>
              <a:t/>
            </a:r>
            <a:endParaRPr sz="2200"/>
          </a:p>
        </p:txBody>
      </p:sp>
      <p:sp>
        <p:nvSpPr>
          <p:cNvPr id="450" name="Google Shape;450;g3dc31faf6cb_0_125"/>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e0ae9d0f41_0_6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Building bad data products</a:t>
            </a:r>
            <a:endParaRPr/>
          </a:p>
        </p:txBody>
      </p:sp>
      <p:sp>
        <p:nvSpPr>
          <p:cNvPr id="457" name="Google Shape;457;g3e0ae9d0f41_0_61"/>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lnSpc>
                <a:spcPct val="115000"/>
              </a:lnSpc>
              <a:spcBef>
                <a:spcPts val="1200"/>
              </a:spcBef>
              <a:spcAft>
                <a:spcPts val="0"/>
              </a:spcAft>
              <a:buNone/>
            </a:pPr>
            <a:r>
              <a:rPr lang="en-IN" sz="2200"/>
              <a:t>Example 1: Microsoft's Tay Chatbot </a:t>
            </a:r>
            <a:endParaRPr sz="2200"/>
          </a:p>
          <a:p>
            <a:pPr indent="0" lvl="0" marL="0" rtl="0" algn="l">
              <a:lnSpc>
                <a:spcPct val="115000"/>
              </a:lnSpc>
              <a:spcBef>
                <a:spcPts val="1200"/>
              </a:spcBef>
              <a:spcAft>
                <a:spcPts val="0"/>
              </a:spcAft>
              <a:buClr>
                <a:schemeClr val="dk1"/>
              </a:buClr>
              <a:buSzPts val="1100"/>
              <a:buFont typeface="Arial"/>
              <a:buNone/>
            </a:pPr>
            <a:r>
              <a:rPr lang="en-IN" sz="1800"/>
              <a:t>Microsoft created a chatbot named Tay.</a:t>
            </a:r>
            <a:endParaRPr sz="1800"/>
          </a:p>
          <a:p>
            <a:pPr indent="0" lvl="0" marL="0" rtl="0" algn="l">
              <a:lnSpc>
                <a:spcPct val="115000"/>
              </a:lnSpc>
              <a:spcBef>
                <a:spcPts val="1200"/>
              </a:spcBef>
              <a:spcAft>
                <a:spcPts val="0"/>
              </a:spcAft>
              <a:buClr>
                <a:schemeClr val="dk1"/>
              </a:buClr>
              <a:buSzPts val="1100"/>
              <a:buFont typeface="Arial"/>
              <a:buNone/>
            </a:pPr>
            <a:r>
              <a:rPr lang="en-IN" sz="1800"/>
              <a:t>The bot learned from Twitter users.</a:t>
            </a:r>
            <a:endParaRPr sz="1800"/>
          </a:p>
          <a:p>
            <a:pPr indent="0" lvl="0" marL="0" rtl="0" algn="l">
              <a:lnSpc>
                <a:spcPct val="115000"/>
              </a:lnSpc>
              <a:spcBef>
                <a:spcPts val="1200"/>
              </a:spcBef>
              <a:spcAft>
                <a:spcPts val="0"/>
              </a:spcAft>
              <a:buClr>
                <a:schemeClr val="dk1"/>
              </a:buClr>
              <a:buSzPts val="1100"/>
              <a:buFont typeface="Arial"/>
              <a:buNone/>
            </a:pPr>
            <a:r>
              <a:rPr lang="en-IN" sz="1800"/>
              <a:t>People intentionally taught it offensive language.</a:t>
            </a:r>
            <a:endParaRPr sz="1800"/>
          </a:p>
          <a:p>
            <a:pPr indent="0" lvl="0" marL="0" rtl="0" algn="l">
              <a:lnSpc>
                <a:spcPct val="115000"/>
              </a:lnSpc>
              <a:spcBef>
                <a:spcPts val="1200"/>
              </a:spcBef>
              <a:spcAft>
                <a:spcPts val="0"/>
              </a:spcAft>
              <a:buClr>
                <a:schemeClr val="dk1"/>
              </a:buClr>
              <a:buSzPts val="1100"/>
              <a:buFont typeface="Arial"/>
              <a:buNone/>
            </a:pPr>
            <a:r>
              <a:rPr lang="en-IN" sz="1800"/>
              <a:t>Soon, the bot started posting racist tweets.</a:t>
            </a:r>
            <a:endParaRPr sz="1800"/>
          </a:p>
          <a:p>
            <a:pPr indent="0" lvl="0" marL="0" rtl="0" algn="l">
              <a:lnSpc>
                <a:spcPct val="115000"/>
              </a:lnSpc>
              <a:spcBef>
                <a:spcPts val="1400"/>
              </a:spcBef>
              <a:spcAft>
                <a:spcPts val="0"/>
              </a:spcAft>
              <a:buClr>
                <a:schemeClr val="dk1"/>
              </a:buClr>
              <a:buSzPts val="1100"/>
              <a:buFont typeface="Arial"/>
              <a:buNone/>
            </a:pPr>
            <a:r>
              <a:rPr b="1" lang="en-IN" sz="1800"/>
              <a:t>What went wrong?</a:t>
            </a:r>
            <a:endParaRPr b="1" sz="1800"/>
          </a:p>
          <a:p>
            <a:pPr indent="0" lvl="0" marL="0" rtl="0" algn="l">
              <a:lnSpc>
                <a:spcPct val="115000"/>
              </a:lnSpc>
              <a:spcBef>
                <a:spcPts val="1200"/>
              </a:spcBef>
              <a:spcAft>
                <a:spcPts val="0"/>
              </a:spcAft>
              <a:buClr>
                <a:schemeClr val="dk1"/>
              </a:buClr>
              <a:buSzPts val="1100"/>
              <a:buFont typeface="Arial"/>
              <a:buNone/>
            </a:pPr>
            <a:r>
              <a:rPr lang="en-IN" sz="1800"/>
              <a:t>Microsoft failed to think:</a:t>
            </a:r>
            <a:endParaRPr sz="1800"/>
          </a:p>
          <a:p>
            <a:pPr indent="0" lvl="0" marL="381000" marR="381000" rtl="0" algn="l">
              <a:lnSpc>
                <a:spcPct val="115000"/>
              </a:lnSpc>
              <a:spcBef>
                <a:spcPts val="1200"/>
              </a:spcBef>
              <a:spcAft>
                <a:spcPts val="0"/>
              </a:spcAft>
              <a:buClr>
                <a:schemeClr val="dk1"/>
              </a:buClr>
              <a:buSzPts val="1100"/>
              <a:buFont typeface="Arial"/>
              <a:buNone/>
            </a:pPr>
            <a:r>
              <a:rPr lang="en-IN" sz="1800"/>
              <a:t>“What if users misuse the system?”</a:t>
            </a:r>
            <a:endParaRPr sz="1800"/>
          </a:p>
          <a:p>
            <a:pPr indent="0" lvl="0" marL="0" rtl="0" algn="just">
              <a:lnSpc>
                <a:spcPct val="115000"/>
              </a:lnSpc>
              <a:spcBef>
                <a:spcPts val="1200"/>
              </a:spcBef>
              <a:spcAft>
                <a:spcPts val="1200"/>
              </a:spcAft>
              <a:buNone/>
            </a:pPr>
            <a:r>
              <a:t/>
            </a:r>
            <a:endParaRPr sz="2200"/>
          </a:p>
        </p:txBody>
      </p:sp>
      <p:sp>
        <p:nvSpPr>
          <p:cNvPr id="458" name="Google Shape;458;g3e0ae9d0f41_0_6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59" name="Google Shape;459;g3e0ae9d0f41_0_61"/>
          <p:cNvPicPr preferRelativeResize="0"/>
          <p:nvPr/>
        </p:nvPicPr>
        <p:blipFill>
          <a:blip r:embed="rId3">
            <a:alphaModFix/>
          </a:blip>
          <a:stretch>
            <a:fillRect/>
          </a:stretch>
        </p:blipFill>
        <p:spPr>
          <a:xfrm>
            <a:off x="7663625" y="1623175"/>
            <a:ext cx="3428425" cy="22042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dc31faf6cb_0_17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Building bad data products</a:t>
            </a:r>
            <a:endParaRPr/>
          </a:p>
        </p:txBody>
      </p:sp>
      <p:sp>
        <p:nvSpPr>
          <p:cNvPr id="466" name="Google Shape;466;g3dc31faf6cb_0_178"/>
          <p:cNvSpPr txBox="1"/>
          <p:nvPr>
            <p:ph idx="1" type="body"/>
          </p:nvPr>
        </p:nvSpPr>
        <p:spPr>
          <a:xfrm>
            <a:off x="838200" y="1518050"/>
            <a:ext cx="10515600" cy="4595400"/>
          </a:xfrm>
          <a:prstGeom prst="rect">
            <a:avLst/>
          </a:prstGeom>
        </p:spPr>
        <p:txBody>
          <a:bodyPr anchorCtr="0" anchor="t" bIns="45700" lIns="91425" spcFirstLastPara="1" rIns="91425" wrap="square" tIns="45700">
            <a:normAutofit/>
          </a:bodyPr>
          <a:lstStyle/>
          <a:p>
            <a:pPr indent="0" lvl="0" marL="0" rtl="0" algn="just">
              <a:lnSpc>
                <a:spcPct val="115000"/>
              </a:lnSpc>
              <a:spcBef>
                <a:spcPts val="1400"/>
              </a:spcBef>
              <a:spcAft>
                <a:spcPts val="0"/>
              </a:spcAft>
              <a:buNone/>
            </a:pPr>
            <a:r>
              <a:rPr b="1" lang="en-IN" sz="2300"/>
              <a:t>Example 2: Google Photos Misclassification </a:t>
            </a:r>
            <a:endParaRPr b="1" sz="2300"/>
          </a:p>
          <a:p>
            <a:pPr indent="-342900" lvl="0" marL="457200" rtl="0" algn="just">
              <a:lnSpc>
                <a:spcPct val="115000"/>
              </a:lnSpc>
              <a:spcBef>
                <a:spcPts val="1200"/>
              </a:spcBef>
              <a:spcAft>
                <a:spcPts val="0"/>
              </a:spcAft>
              <a:buSzPts val="1800"/>
              <a:buChar char="●"/>
            </a:pPr>
            <a:r>
              <a:rPr lang="en-IN" sz="1800"/>
              <a:t>Google Photos' image recognition classified photos of Black people as "gorillas"</a:t>
            </a:r>
            <a:endParaRPr sz="1800"/>
          </a:p>
          <a:p>
            <a:pPr indent="0" lvl="0" marL="0" rtl="0" algn="l">
              <a:lnSpc>
                <a:spcPct val="115000"/>
              </a:lnSpc>
              <a:spcBef>
                <a:spcPts val="1200"/>
              </a:spcBef>
              <a:spcAft>
                <a:spcPts val="0"/>
              </a:spcAft>
              <a:buNone/>
            </a:pPr>
            <a:r>
              <a:rPr lang="en-IN" sz="1800"/>
              <a:t>This likely happened because:</a:t>
            </a:r>
            <a:endParaRPr sz="1800"/>
          </a:p>
          <a:p>
            <a:pPr indent="-342900" lvl="0" marL="457200" rtl="0" algn="l">
              <a:lnSpc>
                <a:spcPct val="115000"/>
              </a:lnSpc>
              <a:spcBef>
                <a:spcPts val="1200"/>
              </a:spcBef>
              <a:spcAft>
                <a:spcPts val="0"/>
              </a:spcAft>
              <a:buSzPts val="1800"/>
              <a:buChar char="●"/>
            </a:pPr>
            <a:r>
              <a:rPr lang="en-IN" sz="1800"/>
              <a:t>training data lacked diversity,</a:t>
            </a:r>
            <a:endParaRPr sz="1800"/>
          </a:p>
          <a:p>
            <a:pPr indent="-342900" lvl="0" marL="457200" rtl="0" algn="l">
              <a:lnSpc>
                <a:spcPct val="115000"/>
              </a:lnSpc>
              <a:spcBef>
                <a:spcPts val="0"/>
              </a:spcBef>
              <a:spcAft>
                <a:spcPts val="0"/>
              </a:spcAft>
              <a:buSzPts val="1800"/>
              <a:buChar char="●"/>
            </a:pPr>
            <a:r>
              <a:rPr lang="en-IN" sz="1800"/>
              <a:t>testing was insufficient,</a:t>
            </a:r>
            <a:endParaRPr sz="1800"/>
          </a:p>
          <a:p>
            <a:pPr indent="-342900" lvl="0" marL="457200" rtl="0" algn="l">
              <a:lnSpc>
                <a:spcPct val="115000"/>
              </a:lnSpc>
              <a:spcBef>
                <a:spcPts val="0"/>
              </a:spcBef>
              <a:spcAft>
                <a:spcPts val="0"/>
              </a:spcAft>
              <a:buSzPts val="1800"/>
              <a:buChar char="●"/>
            </a:pPr>
            <a:r>
              <a:rPr lang="en-IN" sz="1800"/>
              <a:t>the model learned biased patterns.</a:t>
            </a:r>
            <a:endParaRPr sz="1800"/>
          </a:p>
          <a:p>
            <a:pPr indent="0" lvl="0" marL="0" rtl="0" algn="l">
              <a:lnSpc>
                <a:spcPct val="115000"/>
              </a:lnSpc>
              <a:spcBef>
                <a:spcPts val="1400"/>
              </a:spcBef>
              <a:spcAft>
                <a:spcPts val="0"/>
              </a:spcAft>
              <a:buNone/>
            </a:pPr>
            <a:r>
              <a:rPr b="1" lang="en-IN" sz="1800"/>
              <a:t>Ethical Issue: </a:t>
            </a:r>
            <a:r>
              <a:rPr lang="en-IN" sz="1800"/>
              <a:t>Even accidental mistakes can deeply hurt people.</a:t>
            </a:r>
            <a:endParaRPr sz="1800"/>
          </a:p>
          <a:p>
            <a:pPr indent="-342900" lvl="0" marL="457200" rtl="0" algn="just">
              <a:lnSpc>
                <a:spcPct val="115000"/>
              </a:lnSpc>
              <a:spcBef>
                <a:spcPts val="1200"/>
              </a:spcBef>
              <a:spcAft>
                <a:spcPts val="0"/>
              </a:spcAft>
              <a:buSzPts val="1800"/>
              <a:buChar char="●"/>
            </a:pPr>
            <a:r>
              <a:rPr b="1" lang="en-IN" sz="1800"/>
              <a:t>Google's fix:</a:t>
            </a:r>
            <a:r>
              <a:rPr lang="en-IN" sz="1800"/>
              <a:t> Simply stopped the model from ever predicting "gorilla" (a band-aid, not a real fix)</a:t>
            </a:r>
            <a:endParaRPr sz="1800"/>
          </a:p>
          <a:p>
            <a:pPr indent="-342900" lvl="0" marL="457200" rtl="0" algn="just">
              <a:lnSpc>
                <a:spcPct val="115000"/>
              </a:lnSpc>
              <a:spcBef>
                <a:spcPts val="0"/>
              </a:spcBef>
              <a:spcAft>
                <a:spcPts val="0"/>
              </a:spcAft>
              <a:buSzPts val="1800"/>
              <a:buChar char="●"/>
            </a:pPr>
            <a:r>
              <a:rPr b="1" lang="en-IN" sz="1800"/>
              <a:t>Lesson:</a:t>
            </a:r>
            <a:r>
              <a:rPr lang="en-IN" sz="1800"/>
              <a:t> Train and test your model on </a:t>
            </a:r>
            <a:r>
              <a:rPr b="1" lang="en-IN" sz="1800"/>
              <a:t>diverse, representative data</a:t>
            </a:r>
            <a:r>
              <a:rPr lang="en-IN" sz="1800"/>
              <a:t>. You can never be 100% sure some input won't produce an offensive result — but you must try.</a:t>
            </a:r>
            <a:endParaRPr sz="1800"/>
          </a:p>
        </p:txBody>
      </p:sp>
      <p:sp>
        <p:nvSpPr>
          <p:cNvPr id="467" name="Google Shape;467;g3dc31faf6cb_0_17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e0ae9d0f41_0_74"/>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Accuracy vs Fairness </a:t>
            </a:r>
            <a:endParaRPr/>
          </a:p>
        </p:txBody>
      </p:sp>
      <p:sp>
        <p:nvSpPr>
          <p:cNvPr id="474" name="Google Shape;474;g3e0ae9d0f41_0_74"/>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IN"/>
              <a:t>This is one of the biggest challenges in machine learning.</a:t>
            </a:r>
            <a:endParaRPr/>
          </a:p>
          <a:p>
            <a:pPr indent="0" lvl="0" marL="0" rtl="0" algn="l">
              <a:lnSpc>
                <a:spcPct val="115000"/>
              </a:lnSpc>
              <a:spcBef>
                <a:spcPts val="1200"/>
              </a:spcBef>
              <a:spcAft>
                <a:spcPts val="0"/>
              </a:spcAft>
              <a:buClr>
                <a:schemeClr val="dk1"/>
              </a:buClr>
              <a:buSzPts val="1100"/>
              <a:buFont typeface="Arial"/>
              <a:buNone/>
            </a:pPr>
            <a:r>
              <a:rPr lang="en-IN"/>
              <a:t>Sometimes:</a:t>
            </a:r>
            <a:endParaRPr/>
          </a:p>
          <a:p>
            <a:pPr indent="-298450" lvl="0" marL="457200" rtl="0" algn="l">
              <a:lnSpc>
                <a:spcPct val="115000"/>
              </a:lnSpc>
              <a:spcBef>
                <a:spcPts val="1200"/>
              </a:spcBef>
              <a:spcAft>
                <a:spcPts val="0"/>
              </a:spcAft>
              <a:buSzPts val="1100"/>
              <a:buChar char="●"/>
            </a:pPr>
            <a:r>
              <a:rPr lang="en-IN"/>
              <a:t>a highly accurate model</a:t>
            </a:r>
            <a:endParaRPr/>
          </a:p>
          <a:p>
            <a:pPr indent="-298450" lvl="0" marL="457200" rtl="0" algn="l">
              <a:lnSpc>
                <a:spcPct val="115000"/>
              </a:lnSpc>
              <a:spcBef>
                <a:spcPts val="0"/>
              </a:spcBef>
              <a:spcAft>
                <a:spcPts val="0"/>
              </a:spcAft>
              <a:buSzPts val="1100"/>
              <a:buChar char="●"/>
            </a:pPr>
            <a:r>
              <a:rPr lang="en-IN"/>
              <a:t>may still be unfair to certain groups.</a:t>
            </a:r>
            <a:endParaRPr/>
          </a:p>
          <a:p>
            <a:pPr indent="0" lvl="0" marL="0" rtl="0" algn="l">
              <a:spcBef>
                <a:spcPts val="1200"/>
              </a:spcBef>
              <a:spcAft>
                <a:spcPts val="0"/>
              </a:spcAft>
              <a:buNone/>
            </a:pPr>
            <a:r>
              <a:t/>
            </a:r>
            <a:endParaRPr/>
          </a:p>
        </p:txBody>
      </p:sp>
      <p:sp>
        <p:nvSpPr>
          <p:cNvPr id="475" name="Google Shape;475;g3e0ae9d0f41_0_74"/>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e0ae9d0f41_0_83"/>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482" name="Google Shape;482;g3e0ae9d0f41_0_83"/>
          <p:cNvSpPr txBox="1"/>
          <p:nvPr>
            <p:ph idx="1" type="body"/>
          </p:nvPr>
        </p:nvSpPr>
        <p:spPr>
          <a:xfrm>
            <a:off x="838200" y="549052"/>
            <a:ext cx="10515600" cy="5320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2400"/>
              </a:spcBef>
              <a:spcAft>
                <a:spcPts val="0"/>
              </a:spcAft>
              <a:buClr>
                <a:schemeClr val="dk1"/>
              </a:buClr>
              <a:buSzPct val="45833"/>
              <a:buFont typeface="Arial"/>
              <a:buNone/>
            </a:pPr>
            <a:r>
              <a:rPr b="1" lang="en-IN" sz="2400"/>
              <a:t>Real-Time Example: Bank Loan Approval</a:t>
            </a:r>
            <a:endParaRPr b="1" sz="2400"/>
          </a:p>
          <a:p>
            <a:pPr indent="0" lvl="0" marL="0" rtl="0" algn="l">
              <a:lnSpc>
                <a:spcPct val="115000"/>
              </a:lnSpc>
              <a:spcBef>
                <a:spcPts val="1200"/>
              </a:spcBef>
              <a:spcAft>
                <a:spcPts val="0"/>
              </a:spcAft>
              <a:buClr>
                <a:schemeClr val="dk1"/>
              </a:buClr>
              <a:buSzPct val="45833"/>
              <a:buFont typeface="Arial"/>
              <a:buNone/>
            </a:pPr>
            <a:r>
              <a:rPr lang="en-IN" sz="2400"/>
              <a:t>Suppose a bank creates an AI model to approve loans.</a:t>
            </a:r>
            <a:endParaRPr sz="2400"/>
          </a:p>
          <a:p>
            <a:pPr indent="0" lvl="0" marL="0" rtl="0" algn="l">
              <a:lnSpc>
                <a:spcPct val="115000"/>
              </a:lnSpc>
              <a:spcBef>
                <a:spcPts val="1200"/>
              </a:spcBef>
              <a:spcAft>
                <a:spcPts val="0"/>
              </a:spcAft>
              <a:buClr>
                <a:schemeClr val="dk1"/>
              </a:buClr>
              <a:buSzPct val="45833"/>
              <a:buFont typeface="Arial"/>
              <a:buNone/>
            </a:pPr>
            <a:r>
              <a:rPr lang="en-IN" sz="2400"/>
              <a:t>The model predicts:</a:t>
            </a:r>
            <a:endParaRPr sz="2400"/>
          </a:p>
          <a:p>
            <a:pPr indent="0" lvl="0" marL="0" rtl="0" algn="l">
              <a:lnSpc>
                <a:spcPct val="115000"/>
              </a:lnSpc>
              <a:spcBef>
                <a:spcPts val="1200"/>
              </a:spcBef>
              <a:spcAft>
                <a:spcPts val="0"/>
              </a:spcAft>
              <a:buNone/>
            </a:pPr>
            <a:r>
              <a:rPr b="1" lang="en-IN" sz="2400">
                <a:solidFill>
                  <a:srgbClr val="000000"/>
                </a:solidFill>
              </a:rPr>
              <a:t>Group				Approved More Often</a:t>
            </a:r>
            <a:endParaRPr b="1" sz="2400">
              <a:solidFill>
                <a:srgbClr val="000000"/>
              </a:solidFill>
            </a:endParaRPr>
          </a:p>
          <a:p>
            <a:pPr indent="0" lvl="0" marL="0" rtl="0" algn="l">
              <a:lnSpc>
                <a:spcPct val="100000"/>
              </a:lnSpc>
              <a:spcBef>
                <a:spcPts val="0"/>
              </a:spcBef>
              <a:spcAft>
                <a:spcPts val="0"/>
              </a:spcAft>
              <a:buNone/>
            </a:pPr>
            <a:r>
              <a:rPr lang="en-IN" sz="2400">
                <a:solidFill>
                  <a:srgbClr val="000000"/>
                </a:solidFill>
              </a:rPr>
              <a:t>Group A				80%</a:t>
            </a:r>
            <a:endParaRPr sz="2400">
              <a:solidFill>
                <a:srgbClr val="000000"/>
              </a:solidFill>
            </a:endParaRPr>
          </a:p>
          <a:p>
            <a:pPr indent="0" lvl="0" marL="0" rtl="0" algn="l">
              <a:lnSpc>
                <a:spcPct val="100000"/>
              </a:lnSpc>
              <a:spcBef>
                <a:spcPts val="0"/>
              </a:spcBef>
              <a:spcAft>
                <a:spcPts val="0"/>
              </a:spcAft>
              <a:buNone/>
            </a:pPr>
            <a:r>
              <a:rPr lang="en-IN" sz="2400">
                <a:solidFill>
                  <a:srgbClr val="000000"/>
                </a:solidFill>
              </a:rPr>
              <a:t>Group B				20%</a:t>
            </a:r>
            <a:endParaRPr sz="2400">
              <a:solidFill>
                <a:srgbClr val="000000"/>
              </a:solidFill>
            </a:endParaRPr>
          </a:p>
          <a:p>
            <a:pPr indent="0" lvl="0" marL="0" rtl="0" algn="l">
              <a:lnSpc>
                <a:spcPct val="115000"/>
              </a:lnSpc>
              <a:spcBef>
                <a:spcPts val="0"/>
              </a:spcBef>
              <a:spcAft>
                <a:spcPts val="0"/>
              </a:spcAft>
              <a:buNone/>
            </a:pPr>
            <a:r>
              <a:rPr lang="en-IN" sz="2400"/>
              <a:t>The model may still be statistically accurate.</a:t>
            </a:r>
            <a:endParaRPr sz="2400"/>
          </a:p>
          <a:p>
            <a:pPr indent="0" lvl="0" marL="0" rtl="0" algn="l">
              <a:lnSpc>
                <a:spcPct val="115000"/>
              </a:lnSpc>
              <a:spcBef>
                <a:spcPts val="1200"/>
              </a:spcBef>
              <a:spcAft>
                <a:spcPts val="0"/>
              </a:spcAft>
              <a:buClr>
                <a:schemeClr val="dk1"/>
              </a:buClr>
              <a:buSzPct val="45833"/>
              <a:buFont typeface="Arial"/>
              <a:buNone/>
            </a:pPr>
            <a:r>
              <a:t/>
            </a:r>
            <a:endParaRPr sz="2400"/>
          </a:p>
          <a:p>
            <a:pPr indent="0" lvl="0" marL="0" rtl="0" algn="l">
              <a:lnSpc>
                <a:spcPct val="115000"/>
              </a:lnSpc>
              <a:spcBef>
                <a:spcPts val="1200"/>
              </a:spcBef>
              <a:spcAft>
                <a:spcPts val="0"/>
              </a:spcAft>
              <a:buClr>
                <a:schemeClr val="dk1"/>
              </a:buClr>
              <a:buSzPct val="45833"/>
              <a:buFont typeface="Arial"/>
              <a:buNone/>
            </a:pPr>
            <a:r>
              <a:rPr lang="en-IN" sz="2400"/>
              <a:t>But ethical questions arise:</a:t>
            </a:r>
            <a:endParaRPr sz="2400"/>
          </a:p>
          <a:p>
            <a:pPr indent="-369570" lvl="0" marL="457200" rtl="0" algn="l">
              <a:lnSpc>
                <a:spcPct val="115000"/>
              </a:lnSpc>
              <a:spcBef>
                <a:spcPts val="1200"/>
              </a:spcBef>
              <a:spcAft>
                <a:spcPts val="0"/>
              </a:spcAft>
              <a:buSzPct val="100000"/>
              <a:buChar char="●"/>
            </a:pPr>
            <a:r>
              <a:rPr lang="en-IN" sz="2400"/>
              <a:t>Is the data biased?</a:t>
            </a:r>
            <a:endParaRPr sz="2400"/>
          </a:p>
          <a:p>
            <a:pPr indent="-369570" lvl="0" marL="457200" rtl="0" algn="l">
              <a:lnSpc>
                <a:spcPct val="115000"/>
              </a:lnSpc>
              <a:spcBef>
                <a:spcPts val="0"/>
              </a:spcBef>
              <a:spcAft>
                <a:spcPts val="0"/>
              </a:spcAft>
              <a:buSzPct val="100000"/>
              <a:buChar char="●"/>
            </a:pPr>
            <a:r>
              <a:rPr lang="en-IN" sz="2400"/>
              <a:t>Were past loan decisions discriminatory?</a:t>
            </a:r>
            <a:endParaRPr sz="2400"/>
          </a:p>
          <a:p>
            <a:pPr indent="-369570" lvl="0" marL="457200" rtl="0" algn="l">
              <a:lnSpc>
                <a:spcPct val="115000"/>
              </a:lnSpc>
              <a:spcBef>
                <a:spcPts val="0"/>
              </a:spcBef>
              <a:spcAft>
                <a:spcPts val="0"/>
              </a:spcAft>
              <a:buSzPct val="100000"/>
              <a:buChar char="●"/>
            </a:pPr>
            <a:r>
              <a:rPr lang="en-IN" sz="2400"/>
              <a:t>Is the model unfairly disadvantaging one group?</a:t>
            </a:r>
            <a:endParaRPr sz="2400"/>
          </a:p>
          <a:p>
            <a:pPr indent="0" lvl="0" marL="0" rtl="0" algn="l">
              <a:spcBef>
                <a:spcPts val="1200"/>
              </a:spcBef>
              <a:spcAft>
                <a:spcPts val="0"/>
              </a:spcAft>
              <a:buNone/>
            </a:pPr>
            <a:r>
              <a:t/>
            </a:r>
            <a:endParaRPr/>
          </a:p>
        </p:txBody>
      </p:sp>
      <p:sp>
        <p:nvSpPr>
          <p:cNvPr id="483" name="Google Shape;483;g3e0ae9d0f41_0_83"/>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3e0ae9d0f41_0_97"/>
          <p:cNvSpPr txBox="1"/>
          <p:nvPr>
            <p:ph type="title"/>
          </p:nvPr>
        </p:nvSpPr>
        <p:spPr>
          <a:xfrm>
            <a:off x="838200" y="549050"/>
            <a:ext cx="10515600" cy="969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t>Contd…</a:t>
            </a:r>
            <a:endParaRPr/>
          </a:p>
          <a:p>
            <a:pPr indent="0" lvl="0" marL="0" rtl="0" algn="ctr">
              <a:spcBef>
                <a:spcPts val="0"/>
              </a:spcBef>
              <a:spcAft>
                <a:spcPts val="0"/>
              </a:spcAft>
              <a:buNone/>
            </a:pPr>
            <a:r>
              <a:t/>
            </a:r>
            <a:endParaRPr/>
          </a:p>
        </p:txBody>
      </p:sp>
      <p:sp>
        <p:nvSpPr>
          <p:cNvPr id="490" name="Google Shape;490;g3e0ae9d0f41_0_9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IN"/>
              <a:t>Some people think:</a:t>
            </a:r>
            <a:endParaRPr/>
          </a:p>
          <a:p>
            <a:pPr indent="-298450" lvl="0" marL="457200" rtl="0" algn="l">
              <a:lnSpc>
                <a:spcPct val="115000"/>
              </a:lnSpc>
              <a:spcBef>
                <a:spcPts val="1200"/>
              </a:spcBef>
              <a:spcAft>
                <a:spcPts val="0"/>
              </a:spcAft>
              <a:buSzPts val="1100"/>
              <a:buChar char="●"/>
            </a:pPr>
            <a:r>
              <a:rPr lang="en-IN"/>
              <a:t>Equal outcomes = fairness</a:t>
            </a:r>
            <a:endParaRPr/>
          </a:p>
          <a:p>
            <a:pPr indent="0" lvl="0" marL="0" rtl="0" algn="l">
              <a:lnSpc>
                <a:spcPct val="115000"/>
              </a:lnSpc>
              <a:spcBef>
                <a:spcPts val="1200"/>
              </a:spcBef>
              <a:spcAft>
                <a:spcPts val="0"/>
              </a:spcAft>
              <a:buClr>
                <a:schemeClr val="dk1"/>
              </a:buClr>
              <a:buSzPts val="1100"/>
              <a:buFont typeface="Arial"/>
              <a:buNone/>
            </a:pPr>
            <a:r>
              <a:rPr lang="en-IN"/>
              <a:t>Others think:</a:t>
            </a:r>
            <a:endParaRPr/>
          </a:p>
          <a:p>
            <a:pPr indent="-298450" lvl="0" marL="457200" rtl="0" algn="l">
              <a:lnSpc>
                <a:spcPct val="115000"/>
              </a:lnSpc>
              <a:spcBef>
                <a:spcPts val="1200"/>
              </a:spcBef>
              <a:spcAft>
                <a:spcPts val="0"/>
              </a:spcAft>
              <a:buSzPts val="1100"/>
              <a:buChar char="●"/>
            </a:pPr>
            <a:r>
              <a:rPr lang="en-IN"/>
              <a:t>Equal accuracy = fairness</a:t>
            </a:r>
            <a:endParaRPr/>
          </a:p>
          <a:p>
            <a:pPr indent="0" lvl="0" marL="0" rtl="0" algn="l">
              <a:lnSpc>
                <a:spcPct val="115000"/>
              </a:lnSpc>
              <a:spcBef>
                <a:spcPts val="1200"/>
              </a:spcBef>
              <a:spcAft>
                <a:spcPts val="0"/>
              </a:spcAft>
              <a:buClr>
                <a:schemeClr val="dk1"/>
              </a:buClr>
              <a:buSzPts val="1100"/>
              <a:buFont typeface="Arial"/>
              <a:buNone/>
            </a:pPr>
            <a:r>
              <a:rPr lang="en-IN"/>
              <a:t>Others focus on:</a:t>
            </a:r>
            <a:endParaRPr/>
          </a:p>
          <a:p>
            <a:pPr indent="-298450" lvl="0" marL="457200" rtl="0" algn="l">
              <a:lnSpc>
                <a:spcPct val="115000"/>
              </a:lnSpc>
              <a:spcBef>
                <a:spcPts val="1200"/>
              </a:spcBef>
              <a:spcAft>
                <a:spcPts val="0"/>
              </a:spcAft>
              <a:buSzPts val="1100"/>
              <a:buChar char="●"/>
            </a:pPr>
            <a:r>
              <a:rPr lang="en-IN"/>
              <a:t>reducing false accusations,</a:t>
            </a:r>
            <a:endParaRPr/>
          </a:p>
          <a:p>
            <a:pPr indent="-298450" lvl="0" marL="457200" rtl="0" algn="l">
              <a:lnSpc>
                <a:spcPct val="115000"/>
              </a:lnSpc>
              <a:spcBef>
                <a:spcPts val="0"/>
              </a:spcBef>
              <a:spcAft>
                <a:spcPts val="0"/>
              </a:spcAft>
              <a:buSzPts val="1100"/>
              <a:buChar char="●"/>
            </a:pPr>
            <a:r>
              <a:rPr lang="en-IN"/>
              <a:t>reducing missed opportunities.</a:t>
            </a:r>
            <a:endParaRPr/>
          </a:p>
        </p:txBody>
      </p:sp>
      <p:sp>
        <p:nvSpPr>
          <p:cNvPr id="491" name="Google Shape;491;g3e0ae9d0f41_0_9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pic>
        <p:nvPicPr>
          <p:cNvPr id="492" name="Google Shape;492;g3e0ae9d0f41_0_97"/>
          <p:cNvPicPr preferRelativeResize="0"/>
          <p:nvPr/>
        </p:nvPicPr>
        <p:blipFill>
          <a:blip r:embed="rId3">
            <a:alphaModFix/>
          </a:blip>
          <a:stretch>
            <a:fillRect/>
          </a:stretch>
        </p:blipFill>
        <p:spPr>
          <a:xfrm>
            <a:off x="7420173" y="1634100"/>
            <a:ext cx="3753227" cy="28215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dc31faf6cb_0_14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Recommendations</a:t>
            </a:r>
            <a:endParaRPr/>
          </a:p>
        </p:txBody>
      </p:sp>
      <p:sp>
        <p:nvSpPr>
          <p:cNvPr id="499" name="Google Shape;499;g3dc31faf6cb_0_141"/>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just">
              <a:lnSpc>
                <a:spcPct val="115000"/>
              </a:lnSpc>
              <a:spcBef>
                <a:spcPts val="0"/>
              </a:spcBef>
              <a:spcAft>
                <a:spcPts val="0"/>
              </a:spcAft>
              <a:buNone/>
            </a:pPr>
            <a:r>
              <a:rPr lang="en-IN" sz="2200"/>
              <a:t>When you use apps like YouTube, Netflix, Instagram, or Amazon, the platform suggests videos, movies, posts, or products that you may like.</a:t>
            </a:r>
            <a:br>
              <a:rPr lang="en-IN" sz="2200"/>
            </a:br>
            <a:r>
              <a:rPr lang="en-IN" sz="2200"/>
              <a:t> These suggestions are called </a:t>
            </a:r>
            <a:r>
              <a:rPr b="1" lang="en-IN" sz="2200"/>
              <a:t>recommendations</a:t>
            </a:r>
            <a:r>
              <a:rPr lang="en-IN" sz="2200"/>
              <a:t>.</a:t>
            </a:r>
            <a:endParaRPr sz="2200"/>
          </a:p>
          <a:p>
            <a:pPr indent="0" lvl="0" marL="0" rtl="0" algn="just">
              <a:lnSpc>
                <a:spcPct val="115000"/>
              </a:lnSpc>
              <a:spcBef>
                <a:spcPts val="1200"/>
              </a:spcBef>
              <a:spcAft>
                <a:spcPts val="0"/>
              </a:spcAft>
              <a:buClr>
                <a:schemeClr val="dk1"/>
              </a:buClr>
              <a:buSzPts val="1100"/>
              <a:buFont typeface="Arial"/>
              <a:buNone/>
            </a:pPr>
            <a:r>
              <a:t/>
            </a:r>
            <a:endParaRPr sz="2200"/>
          </a:p>
          <a:p>
            <a:pPr indent="0" lvl="0" marL="0" rtl="0" algn="just">
              <a:lnSpc>
                <a:spcPct val="115000"/>
              </a:lnSpc>
              <a:spcBef>
                <a:spcPts val="1200"/>
              </a:spcBef>
              <a:spcAft>
                <a:spcPts val="0"/>
              </a:spcAft>
              <a:buClr>
                <a:schemeClr val="dk1"/>
              </a:buClr>
              <a:buSzPts val="1100"/>
              <a:buFont typeface="Arial"/>
              <a:buNone/>
            </a:pPr>
            <a:r>
              <a:rPr lang="en-IN" sz="2200"/>
              <a:t>The computer uses a set of rules called an </a:t>
            </a:r>
            <a:r>
              <a:rPr b="1" lang="en-IN" sz="2200"/>
              <a:t>algorithm</a:t>
            </a:r>
            <a:r>
              <a:rPr lang="en-IN" sz="2200"/>
              <a:t> to decide what to show you.</a:t>
            </a:r>
            <a:br>
              <a:rPr lang="en-IN" sz="2200"/>
            </a:br>
            <a:r>
              <a:rPr lang="en-IN" sz="2200"/>
              <a:t> This is known as </a:t>
            </a:r>
            <a:r>
              <a:rPr b="1" lang="en-IN" sz="2200"/>
              <a:t>algorithmic influence</a:t>
            </a:r>
            <a:r>
              <a:rPr lang="en-IN" sz="2200"/>
              <a:t> because the algorithm can influence what people watch, buy, think, or believe.</a:t>
            </a:r>
            <a:endParaRPr sz="2200"/>
          </a:p>
          <a:p>
            <a:pPr indent="0" lvl="0" marL="0" rtl="0" algn="l">
              <a:spcBef>
                <a:spcPts val="1200"/>
              </a:spcBef>
              <a:spcAft>
                <a:spcPts val="0"/>
              </a:spcAft>
              <a:buNone/>
            </a:pPr>
            <a:r>
              <a:t/>
            </a:r>
            <a:endParaRPr/>
          </a:p>
        </p:txBody>
      </p:sp>
      <p:sp>
        <p:nvSpPr>
          <p:cNvPr id="500" name="Google Shape;500;g3dc31faf6cb_0_14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e7f33e0a20_0_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07" name="Google Shape;507;g3e7f33e0a20_0_1"/>
          <p:cNvSpPr txBox="1"/>
          <p:nvPr>
            <p:ph idx="1" type="body"/>
          </p:nvPr>
        </p:nvSpPr>
        <p:spPr>
          <a:xfrm>
            <a:off x="838200" y="549052"/>
            <a:ext cx="10515600" cy="53202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0"/>
              </a:spcBef>
              <a:spcAft>
                <a:spcPts val="0"/>
              </a:spcAft>
              <a:buClr>
                <a:schemeClr val="dk1"/>
              </a:buClr>
              <a:buSzPct val="45833"/>
              <a:buFont typeface="Arial"/>
              <a:buNone/>
            </a:pPr>
            <a:r>
              <a:rPr lang="en-IN" sz="2400"/>
              <a:t>Recommendations are personalized suggestions given by a system based on:</a:t>
            </a:r>
            <a:endParaRPr sz="2400"/>
          </a:p>
          <a:p>
            <a:pPr indent="-369570" lvl="0" marL="457200" rtl="0" algn="l">
              <a:lnSpc>
                <a:spcPct val="115000"/>
              </a:lnSpc>
              <a:spcBef>
                <a:spcPts val="1200"/>
              </a:spcBef>
              <a:spcAft>
                <a:spcPts val="0"/>
              </a:spcAft>
              <a:buSzPct val="100000"/>
              <a:buChar char="●"/>
            </a:pPr>
            <a:r>
              <a:rPr lang="en-IN" sz="2400"/>
              <a:t>Your past activity</a:t>
            </a:r>
            <a:endParaRPr sz="2400"/>
          </a:p>
          <a:p>
            <a:pPr indent="-369570" lvl="0" marL="457200" rtl="0" algn="l">
              <a:lnSpc>
                <a:spcPct val="115000"/>
              </a:lnSpc>
              <a:spcBef>
                <a:spcPts val="0"/>
              </a:spcBef>
              <a:spcAft>
                <a:spcPts val="0"/>
              </a:spcAft>
              <a:buSzPct val="100000"/>
              <a:buChar char="●"/>
            </a:pPr>
            <a:r>
              <a:rPr lang="en-IN" sz="2400"/>
              <a:t>Your likes/dislikes</a:t>
            </a:r>
            <a:endParaRPr sz="2400"/>
          </a:p>
          <a:p>
            <a:pPr indent="-369570" lvl="0" marL="457200" rtl="0" algn="l">
              <a:lnSpc>
                <a:spcPct val="115000"/>
              </a:lnSpc>
              <a:spcBef>
                <a:spcPts val="0"/>
              </a:spcBef>
              <a:spcAft>
                <a:spcPts val="0"/>
              </a:spcAft>
              <a:buSzPct val="100000"/>
              <a:buChar char="●"/>
            </a:pPr>
            <a:r>
              <a:rPr lang="en-IN" sz="2400"/>
              <a:t>Your searches</a:t>
            </a:r>
            <a:endParaRPr sz="2400"/>
          </a:p>
          <a:p>
            <a:pPr indent="-369570" lvl="0" marL="457200" rtl="0" algn="l">
              <a:lnSpc>
                <a:spcPct val="115000"/>
              </a:lnSpc>
              <a:spcBef>
                <a:spcPts val="0"/>
              </a:spcBef>
              <a:spcAft>
                <a:spcPts val="0"/>
              </a:spcAft>
              <a:buSzPct val="100000"/>
              <a:buChar char="●"/>
            </a:pPr>
            <a:r>
              <a:rPr lang="en-IN" sz="2400"/>
              <a:t>What similar users enjoy</a:t>
            </a:r>
            <a:endParaRPr sz="2400"/>
          </a:p>
          <a:p>
            <a:pPr indent="0" lvl="0" marL="0" rtl="0" algn="l">
              <a:lnSpc>
                <a:spcPct val="115000"/>
              </a:lnSpc>
              <a:spcBef>
                <a:spcPts val="1400"/>
              </a:spcBef>
              <a:spcAft>
                <a:spcPts val="0"/>
              </a:spcAft>
              <a:buClr>
                <a:schemeClr val="dk1"/>
              </a:buClr>
              <a:buSzPct val="45833"/>
              <a:buFont typeface="Arial"/>
              <a:buNone/>
            </a:pPr>
            <a:r>
              <a:rPr b="1" lang="en-IN" sz="2400"/>
              <a:t>Example</a:t>
            </a:r>
            <a:endParaRPr b="1" sz="2400"/>
          </a:p>
          <a:p>
            <a:pPr indent="0" lvl="0" marL="0" rtl="0" algn="l">
              <a:lnSpc>
                <a:spcPct val="115000"/>
              </a:lnSpc>
              <a:spcBef>
                <a:spcPts val="1200"/>
              </a:spcBef>
              <a:spcAft>
                <a:spcPts val="0"/>
              </a:spcAft>
              <a:buClr>
                <a:schemeClr val="dk1"/>
              </a:buClr>
              <a:buSzPct val="45833"/>
              <a:buFont typeface="Arial"/>
              <a:buNone/>
            </a:pPr>
            <a:r>
              <a:rPr lang="en-IN" sz="2400"/>
              <a:t>If you watch many cooking videos on YouTube, the system may recommend:</a:t>
            </a:r>
            <a:endParaRPr sz="2400"/>
          </a:p>
          <a:p>
            <a:pPr indent="-369570" lvl="0" marL="457200" rtl="0" algn="l">
              <a:lnSpc>
                <a:spcPct val="115000"/>
              </a:lnSpc>
              <a:spcBef>
                <a:spcPts val="1200"/>
              </a:spcBef>
              <a:spcAft>
                <a:spcPts val="0"/>
              </a:spcAft>
              <a:buSzPct val="100000"/>
              <a:buChar char="●"/>
            </a:pPr>
            <a:r>
              <a:rPr lang="en-IN" sz="2400"/>
              <a:t>Recipe videos</a:t>
            </a:r>
            <a:endParaRPr sz="2400"/>
          </a:p>
          <a:p>
            <a:pPr indent="-369570" lvl="0" marL="457200" rtl="0" algn="l">
              <a:lnSpc>
                <a:spcPct val="115000"/>
              </a:lnSpc>
              <a:spcBef>
                <a:spcPts val="0"/>
              </a:spcBef>
              <a:spcAft>
                <a:spcPts val="0"/>
              </a:spcAft>
              <a:buSzPct val="100000"/>
              <a:buChar char="●"/>
            </a:pPr>
            <a:r>
              <a:rPr lang="en-IN" sz="2400"/>
              <a:t>Restaurant reviews</a:t>
            </a:r>
            <a:endParaRPr sz="2400"/>
          </a:p>
          <a:p>
            <a:pPr indent="-369570" lvl="0" marL="457200" rtl="0" algn="l">
              <a:lnSpc>
                <a:spcPct val="115000"/>
              </a:lnSpc>
              <a:spcBef>
                <a:spcPts val="0"/>
              </a:spcBef>
              <a:spcAft>
                <a:spcPts val="0"/>
              </a:spcAft>
              <a:buSzPct val="100000"/>
              <a:buChar char="●"/>
            </a:pPr>
            <a:r>
              <a:rPr lang="en-IN" sz="2400"/>
              <a:t>Baking tutorials</a:t>
            </a:r>
            <a:endParaRPr sz="2400"/>
          </a:p>
          <a:p>
            <a:pPr indent="0" lvl="0" marL="0" rtl="0" algn="l">
              <a:lnSpc>
                <a:spcPct val="115000"/>
              </a:lnSpc>
              <a:spcBef>
                <a:spcPts val="1200"/>
              </a:spcBef>
              <a:spcAft>
                <a:spcPts val="0"/>
              </a:spcAft>
              <a:buClr>
                <a:schemeClr val="dk1"/>
              </a:buClr>
              <a:buSzPct val="45833"/>
              <a:buFont typeface="Arial"/>
              <a:buNone/>
            </a:pPr>
            <a:r>
              <a:rPr lang="en-IN" sz="2400"/>
              <a:t>The algorithm thinks:</a:t>
            </a:r>
            <a:endParaRPr sz="2400"/>
          </a:p>
          <a:p>
            <a:pPr indent="0" lvl="0" marL="381000" marR="381000" rtl="0" algn="l">
              <a:lnSpc>
                <a:spcPct val="115000"/>
              </a:lnSpc>
              <a:spcBef>
                <a:spcPts val="1200"/>
              </a:spcBef>
              <a:spcAft>
                <a:spcPts val="0"/>
              </a:spcAft>
              <a:buClr>
                <a:schemeClr val="dk1"/>
              </a:buClr>
              <a:buSzPct val="45833"/>
              <a:buFont typeface="Arial"/>
              <a:buNone/>
            </a:pPr>
            <a:r>
              <a:rPr lang="en-IN" sz="2400"/>
              <a:t>“This user likes cooking content, so show more similar content.”</a:t>
            </a:r>
            <a:endParaRPr sz="2400"/>
          </a:p>
          <a:p>
            <a:pPr indent="0" lvl="0" marL="0" rtl="0" algn="l">
              <a:spcBef>
                <a:spcPts val="1200"/>
              </a:spcBef>
              <a:spcAft>
                <a:spcPts val="0"/>
              </a:spcAft>
              <a:buNone/>
            </a:pPr>
            <a:r>
              <a:t/>
            </a:r>
            <a:endParaRPr/>
          </a:p>
        </p:txBody>
      </p:sp>
      <p:sp>
        <p:nvSpPr>
          <p:cNvPr id="508" name="Google Shape;508;g3e7f33e0a20_0_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e7f33e0a20_0_1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400"/>
              </a:spcAft>
              <a:buClr>
                <a:schemeClr val="dk1"/>
              </a:buClr>
              <a:buSzPts val="1100"/>
              <a:buFont typeface="Arial"/>
              <a:buNone/>
            </a:pPr>
            <a:r>
              <a:rPr lang="en-IN" sz="2600">
                <a:solidFill>
                  <a:schemeClr val="dk1"/>
                </a:solidFill>
              </a:rPr>
              <a:t>Benefits</a:t>
            </a:r>
            <a:endParaRPr sz="4500"/>
          </a:p>
        </p:txBody>
      </p:sp>
      <p:sp>
        <p:nvSpPr>
          <p:cNvPr id="515" name="Google Shape;515;g3e7f33e0a20_0_1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IN" sz="2400"/>
              <a:t>Saves Time: </a:t>
            </a:r>
            <a:r>
              <a:rPr lang="en-IN" sz="2400"/>
              <a:t>Users quickly find useful content.</a:t>
            </a:r>
            <a:endParaRPr sz="2400"/>
          </a:p>
          <a:p>
            <a:pPr indent="0" lvl="0" marL="0" rtl="0" algn="l">
              <a:lnSpc>
                <a:spcPct val="115000"/>
              </a:lnSpc>
              <a:spcBef>
                <a:spcPts val="1400"/>
              </a:spcBef>
              <a:spcAft>
                <a:spcPts val="0"/>
              </a:spcAft>
              <a:buClr>
                <a:schemeClr val="dk1"/>
              </a:buClr>
              <a:buSzPts val="1100"/>
              <a:buFont typeface="Arial"/>
              <a:buNone/>
            </a:pPr>
            <a:r>
              <a:rPr b="1" lang="en-IN" sz="2400"/>
              <a:t>Personalized Experience: </a:t>
            </a:r>
            <a:r>
              <a:rPr lang="en-IN" sz="2400"/>
              <a:t>Different users see different recommendations.</a:t>
            </a:r>
            <a:endParaRPr sz="2400"/>
          </a:p>
          <a:p>
            <a:pPr indent="0" lvl="0" marL="0" rtl="0" algn="l">
              <a:lnSpc>
                <a:spcPct val="115000"/>
              </a:lnSpc>
              <a:spcBef>
                <a:spcPts val="1400"/>
              </a:spcBef>
              <a:spcAft>
                <a:spcPts val="0"/>
              </a:spcAft>
              <a:buClr>
                <a:schemeClr val="dk1"/>
              </a:buClr>
              <a:buSzPts val="1100"/>
              <a:buFont typeface="Arial"/>
              <a:buNone/>
            </a:pPr>
            <a:r>
              <a:rPr b="1" lang="en-IN" sz="2400"/>
              <a:t>Better Business: </a:t>
            </a:r>
            <a:r>
              <a:rPr lang="en-IN" sz="2400"/>
              <a:t>Companies keep users active and increase sales.</a:t>
            </a:r>
            <a:endParaRPr sz="2400"/>
          </a:p>
          <a:p>
            <a:pPr indent="0" lvl="0" marL="0" rtl="0" algn="l">
              <a:lnSpc>
                <a:spcPct val="115000"/>
              </a:lnSpc>
              <a:spcBef>
                <a:spcPts val="1400"/>
              </a:spcBef>
              <a:spcAft>
                <a:spcPts val="0"/>
              </a:spcAft>
              <a:buClr>
                <a:schemeClr val="dk1"/>
              </a:buClr>
              <a:buSzPts val="1100"/>
              <a:buFont typeface="Arial"/>
              <a:buNone/>
            </a:pPr>
            <a:r>
              <a:rPr b="1" lang="en-IN" sz="2400"/>
              <a:t>Discover New Things: </a:t>
            </a:r>
            <a:r>
              <a:rPr lang="en-IN" sz="2400"/>
              <a:t>Users may find new music, movies, or products.</a:t>
            </a:r>
            <a:endParaRPr sz="2400"/>
          </a:p>
          <a:p>
            <a:pPr indent="0" lvl="0" marL="0" rtl="0" algn="l">
              <a:spcBef>
                <a:spcPts val="1000"/>
              </a:spcBef>
              <a:spcAft>
                <a:spcPts val="0"/>
              </a:spcAft>
              <a:buNone/>
            </a:pPr>
            <a:r>
              <a:t/>
            </a:r>
            <a:endParaRPr/>
          </a:p>
        </p:txBody>
      </p:sp>
      <p:sp>
        <p:nvSpPr>
          <p:cNvPr id="516" name="Google Shape;516;g3e7f33e0a20_0_1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e7f33e0a20_0_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Algorithmic Influence </a:t>
            </a:r>
            <a:endParaRPr/>
          </a:p>
        </p:txBody>
      </p:sp>
      <p:sp>
        <p:nvSpPr>
          <p:cNvPr id="523" name="Google Shape;523;g3e7f33e0a20_0_9"/>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IN"/>
              <a:t>Algorithmic influence means:</a:t>
            </a:r>
            <a:endParaRPr/>
          </a:p>
          <a:p>
            <a:pPr indent="0" lvl="0" marL="381000" marR="381000" rtl="0" algn="l">
              <a:lnSpc>
                <a:spcPct val="115000"/>
              </a:lnSpc>
              <a:spcBef>
                <a:spcPts val="1200"/>
              </a:spcBef>
              <a:spcAft>
                <a:spcPts val="0"/>
              </a:spcAft>
              <a:buClr>
                <a:schemeClr val="dk1"/>
              </a:buClr>
              <a:buSzPts val="1100"/>
              <a:buFont typeface="Arial"/>
              <a:buNone/>
            </a:pPr>
            <a:r>
              <a:rPr lang="en-IN"/>
              <a:t>Algorithms affect human decisions and behavior.</a:t>
            </a:r>
            <a:endParaRPr/>
          </a:p>
          <a:p>
            <a:pPr indent="0" lvl="0" marL="0" rtl="0" algn="l">
              <a:lnSpc>
                <a:spcPct val="115000"/>
              </a:lnSpc>
              <a:spcBef>
                <a:spcPts val="1200"/>
              </a:spcBef>
              <a:spcAft>
                <a:spcPts val="0"/>
              </a:spcAft>
              <a:buClr>
                <a:schemeClr val="dk1"/>
              </a:buClr>
              <a:buSzPts val="1100"/>
              <a:buFont typeface="Arial"/>
              <a:buNone/>
            </a:pPr>
            <a:r>
              <a:rPr lang="en-IN"/>
              <a:t>The recommendations can influence:</a:t>
            </a:r>
            <a:endParaRPr/>
          </a:p>
          <a:p>
            <a:pPr indent="-298450" lvl="0" marL="457200" rtl="0" algn="l">
              <a:lnSpc>
                <a:spcPct val="115000"/>
              </a:lnSpc>
              <a:spcBef>
                <a:spcPts val="1200"/>
              </a:spcBef>
              <a:spcAft>
                <a:spcPts val="0"/>
              </a:spcAft>
              <a:buSzPts val="1100"/>
              <a:buChar char="●"/>
            </a:pPr>
            <a:r>
              <a:rPr lang="en-IN"/>
              <a:t>What news people read</a:t>
            </a:r>
            <a:endParaRPr/>
          </a:p>
          <a:p>
            <a:pPr indent="-298450" lvl="0" marL="457200" rtl="0" algn="l">
              <a:lnSpc>
                <a:spcPct val="115000"/>
              </a:lnSpc>
              <a:spcBef>
                <a:spcPts val="0"/>
              </a:spcBef>
              <a:spcAft>
                <a:spcPts val="0"/>
              </a:spcAft>
              <a:buSzPts val="1100"/>
              <a:buChar char="●"/>
            </a:pPr>
            <a:r>
              <a:rPr lang="en-IN"/>
              <a:t>Which products they buy</a:t>
            </a:r>
            <a:endParaRPr/>
          </a:p>
          <a:p>
            <a:pPr indent="-298450" lvl="0" marL="457200" rtl="0" algn="l">
              <a:lnSpc>
                <a:spcPct val="115000"/>
              </a:lnSpc>
              <a:spcBef>
                <a:spcPts val="0"/>
              </a:spcBef>
              <a:spcAft>
                <a:spcPts val="0"/>
              </a:spcAft>
              <a:buSzPts val="1100"/>
              <a:buChar char="●"/>
            </a:pPr>
            <a:r>
              <a:rPr lang="en-IN"/>
              <a:t>Which videos they watch</a:t>
            </a:r>
            <a:endParaRPr/>
          </a:p>
          <a:p>
            <a:pPr indent="-298450" lvl="0" marL="457200" rtl="0" algn="l">
              <a:lnSpc>
                <a:spcPct val="115000"/>
              </a:lnSpc>
              <a:spcBef>
                <a:spcPts val="0"/>
              </a:spcBef>
              <a:spcAft>
                <a:spcPts val="0"/>
              </a:spcAft>
              <a:buSzPts val="1100"/>
              <a:buChar char="●"/>
            </a:pPr>
            <a:r>
              <a:rPr lang="en-IN"/>
              <a:t>Even political opinions</a:t>
            </a:r>
            <a:endParaRPr/>
          </a:p>
          <a:p>
            <a:pPr indent="0" lvl="0" marL="0" rtl="0" algn="l">
              <a:spcBef>
                <a:spcPts val="1200"/>
              </a:spcBef>
              <a:spcAft>
                <a:spcPts val="0"/>
              </a:spcAft>
              <a:buNone/>
            </a:pPr>
            <a:r>
              <a:t/>
            </a:r>
            <a:endParaRPr/>
          </a:p>
        </p:txBody>
      </p:sp>
      <p:sp>
        <p:nvSpPr>
          <p:cNvPr id="524" name="Google Shape;524;g3e7f33e0a20_0_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e7f33e0a20_0_26"/>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Problems with Algorithmic Influence </a:t>
            </a:r>
            <a:endParaRPr/>
          </a:p>
        </p:txBody>
      </p:sp>
      <p:sp>
        <p:nvSpPr>
          <p:cNvPr id="531" name="Google Shape;531;g3e7f33e0a20_0_26"/>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95000"/>
              </a:lnSpc>
              <a:spcBef>
                <a:spcPts val="1800"/>
              </a:spcBef>
              <a:spcAft>
                <a:spcPts val="0"/>
              </a:spcAft>
              <a:buSzPts val="688"/>
              <a:buNone/>
            </a:pPr>
            <a:r>
              <a:rPr b="1" lang="en-IN" sz="2519"/>
              <a:t>a) Filter Bubble: </a:t>
            </a:r>
            <a:r>
              <a:rPr lang="en-IN" sz="2519"/>
              <a:t>The algorithm keeps showing similar content only. This limits different viewpoints.</a:t>
            </a:r>
            <a:endParaRPr sz="2419"/>
          </a:p>
          <a:p>
            <a:pPr indent="0" lvl="0" marL="0" rtl="0" algn="l">
              <a:lnSpc>
                <a:spcPct val="95000"/>
              </a:lnSpc>
              <a:spcBef>
                <a:spcPts val="1800"/>
              </a:spcBef>
              <a:spcAft>
                <a:spcPts val="0"/>
              </a:spcAft>
              <a:buSzPts val="688"/>
              <a:buNone/>
            </a:pPr>
            <a:r>
              <a:rPr b="1" lang="en-IN" sz="2519"/>
              <a:t>b) Addiction / Overuse </a:t>
            </a:r>
            <a:r>
              <a:rPr lang="en-IN" sz="2519"/>
              <a:t>Platforms may recommend highly engaging content continuously. Users may spend too much time online.</a:t>
            </a:r>
            <a:endParaRPr sz="2519"/>
          </a:p>
          <a:p>
            <a:pPr indent="0" lvl="0" marL="0" rtl="0" algn="l">
              <a:lnSpc>
                <a:spcPct val="95000"/>
              </a:lnSpc>
              <a:spcBef>
                <a:spcPts val="1800"/>
              </a:spcBef>
              <a:spcAft>
                <a:spcPts val="0"/>
              </a:spcAft>
              <a:buSzPts val="688"/>
              <a:buNone/>
            </a:pPr>
            <a:r>
              <a:rPr b="1" lang="en-IN" sz="2519"/>
              <a:t>c) Bias: </a:t>
            </a:r>
            <a:r>
              <a:rPr lang="en-IN" sz="2519"/>
              <a:t>Algorithms may treat some groups unfairly if trained on biased data.</a:t>
            </a:r>
            <a:endParaRPr sz="2519"/>
          </a:p>
          <a:p>
            <a:pPr indent="0" lvl="0" marL="0" rtl="0" algn="l">
              <a:lnSpc>
                <a:spcPct val="95000"/>
              </a:lnSpc>
              <a:spcBef>
                <a:spcPts val="1800"/>
              </a:spcBef>
              <a:spcAft>
                <a:spcPts val="400"/>
              </a:spcAft>
              <a:buSzPts val="688"/>
              <a:buNone/>
            </a:pPr>
            <a:r>
              <a:rPr b="1" lang="en-IN" sz="2519"/>
              <a:t>d) Spread of Misinformation: </a:t>
            </a:r>
            <a:r>
              <a:rPr lang="en-IN" sz="2519"/>
              <a:t>If fake or sensational content gets more clicks, algorithms may promote it.</a:t>
            </a:r>
            <a:endParaRPr sz="1050"/>
          </a:p>
        </p:txBody>
      </p:sp>
      <p:sp>
        <p:nvSpPr>
          <p:cNvPr id="532" name="Google Shape;532;g3e7f33e0a20_0_26"/>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dc31faf6cb_0_149"/>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Biased Data</a:t>
            </a:r>
            <a:endParaRPr/>
          </a:p>
        </p:txBody>
      </p:sp>
      <p:sp>
        <p:nvSpPr>
          <p:cNvPr id="539" name="Google Shape;539;g3dc31faf6cb_0_149"/>
          <p:cNvSpPr txBox="1"/>
          <p:nvPr>
            <p:ph idx="1" type="body"/>
          </p:nvPr>
        </p:nvSpPr>
        <p:spPr>
          <a:xfrm>
            <a:off x="838200" y="1314600"/>
            <a:ext cx="10515600" cy="5112900"/>
          </a:xfrm>
          <a:prstGeom prst="rect">
            <a:avLst/>
          </a:prstGeom>
        </p:spPr>
        <p:txBody>
          <a:bodyPr anchorCtr="0" anchor="t" bIns="45700" lIns="91425" spcFirstLastPara="1" rIns="91425" wrap="square" tIns="45700">
            <a:normAutofit lnSpcReduction="10000"/>
          </a:bodyPr>
          <a:lstStyle/>
          <a:p>
            <a:pPr indent="0" lvl="0" marL="0" marR="381000" rtl="0" algn="l">
              <a:lnSpc>
                <a:spcPct val="115000"/>
              </a:lnSpc>
              <a:spcBef>
                <a:spcPts val="1200"/>
              </a:spcBef>
              <a:spcAft>
                <a:spcPts val="0"/>
              </a:spcAft>
              <a:buClr>
                <a:schemeClr val="dk1"/>
              </a:buClr>
              <a:buSzPts val="1100"/>
              <a:buFont typeface="Arial"/>
              <a:buNone/>
            </a:pPr>
            <a:r>
              <a:rPr lang="en-IN" sz="2400"/>
              <a:t>The data used to train a machine learning model is unfair, unbalanced, or does not represent all people equally.</a:t>
            </a:r>
            <a:endParaRPr sz="2400"/>
          </a:p>
          <a:p>
            <a:pPr indent="0" lvl="0" marL="0" rtl="0" algn="l">
              <a:lnSpc>
                <a:spcPct val="115000"/>
              </a:lnSpc>
              <a:spcBef>
                <a:spcPts val="1200"/>
              </a:spcBef>
              <a:spcAft>
                <a:spcPts val="0"/>
              </a:spcAft>
              <a:buNone/>
            </a:pPr>
            <a:r>
              <a:rPr lang="en-IN" sz="2400"/>
              <a:t>Since machine learning models learn from data, if the data contains bias, the model also becomes biased.</a:t>
            </a:r>
            <a:endParaRPr sz="2400"/>
          </a:p>
          <a:p>
            <a:pPr indent="0" lvl="0" marL="0" rtl="0" algn="l">
              <a:lnSpc>
                <a:spcPct val="115000"/>
              </a:lnSpc>
              <a:spcBef>
                <a:spcPts val="1200"/>
              </a:spcBef>
              <a:spcAft>
                <a:spcPts val="0"/>
              </a:spcAft>
              <a:buNone/>
            </a:pPr>
            <a:r>
              <a:rPr lang="en-IN" sz="1800"/>
              <a:t>Machine learning models learn patterns from real-world data.</a:t>
            </a:r>
            <a:endParaRPr sz="1800"/>
          </a:p>
          <a:p>
            <a:pPr indent="0" lvl="0" marL="0" rtl="0" algn="l">
              <a:lnSpc>
                <a:spcPct val="115000"/>
              </a:lnSpc>
              <a:spcBef>
                <a:spcPts val="1200"/>
              </a:spcBef>
              <a:spcAft>
                <a:spcPts val="0"/>
              </a:spcAft>
              <a:buNone/>
            </a:pPr>
            <a:r>
              <a:rPr lang="en-IN" sz="1800"/>
              <a:t>But the real world already contains:</a:t>
            </a:r>
            <a:endParaRPr sz="1800"/>
          </a:p>
          <a:p>
            <a:pPr indent="-342900" lvl="0" marL="457200" rtl="0" algn="l">
              <a:lnSpc>
                <a:spcPct val="115000"/>
              </a:lnSpc>
              <a:spcBef>
                <a:spcPts val="1200"/>
              </a:spcBef>
              <a:spcAft>
                <a:spcPts val="0"/>
              </a:spcAft>
              <a:buSzPts val="1800"/>
              <a:buChar char="●"/>
            </a:pPr>
            <a:r>
              <a:rPr lang="en-IN" sz="1800"/>
              <a:t>discrimination</a:t>
            </a:r>
            <a:endParaRPr sz="1800"/>
          </a:p>
          <a:p>
            <a:pPr indent="-342900" lvl="0" marL="457200" rtl="0" algn="l">
              <a:lnSpc>
                <a:spcPct val="115000"/>
              </a:lnSpc>
              <a:spcBef>
                <a:spcPts val="0"/>
              </a:spcBef>
              <a:spcAft>
                <a:spcPts val="0"/>
              </a:spcAft>
              <a:buSzPts val="1800"/>
              <a:buChar char="●"/>
            </a:pPr>
            <a:r>
              <a:rPr lang="en-IN" sz="1800"/>
              <a:t>stereotypes</a:t>
            </a:r>
            <a:endParaRPr sz="1800"/>
          </a:p>
          <a:p>
            <a:pPr indent="-342900" lvl="0" marL="457200" rtl="0" algn="l">
              <a:lnSpc>
                <a:spcPct val="115000"/>
              </a:lnSpc>
              <a:spcBef>
                <a:spcPts val="0"/>
              </a:spcBef>
              <a:spcAft>
                <a:spcPts val="0"/>
              </a:spcAft>
              <a:buSzPts val="1800"/>
              <a:buChar char="●"/>
            </a:pPr>
            <a:r>
              <a:rPr lang="en-IN" sz="1800"/>
              <a:t>unfair treatment</a:t>
            </a:r>
            <a:endParaRPr sz="1800"/>
          </a:p>
          <a:p>
            <a:pPr indent="-342900" lvl="0" marL="457200" rtl="0" algn="l">
              <a:lnSpc>
                <a:spcPct val="115000"/>
              </a:lnSpc>
              <a:spcBef>
                <a:spcPts val="0"/>
              </a:spcBef>
              <a:spcAft>
                <a:spcPts val="0"/>
              </a:spcAft>
              <a:buSzPts val="1800"/>
              <a:buChar char="●"/>
            </a:pPr>
            <a:r>
              <a:rPr lang="en-IN" sz="1800"/>
              <a:t>unequal representation</a:t>
            </a:r>
            <a:endParaRPr sz="1800"/>
          </a:p>
          <a:p>
            <a:pPr indent="0" lvl="0" marL="0" rtl="0" algn="l">
              <a:lnSpc>
                <a:spcPct val="115000"/>
              </a:lnSpc>
              <a:spcBef>
                <a:spcPts val="1200"/>
              </a:spcBef>
              <a:spcAft>
                <a:spcPts val="0"/>
              </a:spcAft>
              <a:buNone/>
            </a:pPr>
            <a:r>
              <a:rPr lang="en-IN" sz="1800"/>
              <a:t>So the model learns these unfair patterns automatically.</a:t>
            </a:r>
            <a:endParaRPr sz="1800"/>
          </a:p>
          <a:p>
            <a:pPr indent="0" lvl="0" marL="0" rtl="0" algn="l">
              <a:lnSpc>
                <a:spcPct val="115000"/>
              </a:lnSpc>
              <a:spcBef>
                <a:spcPts val="1200"/>
              </a:spcBef>
              <a:spcAft>
                <a:spcPts val="1200"/>
              </a:spcAft>
              <a:buNone/>
            </a:pPr>
            <a:r>
              <a:rPr lang="en-IN" sz="1800"/>
              <a:t>If biased data goes into the model, biased decisions come out.</a:t>
            </a:r>
            <a:endParaRPr/>
          </a:p>
        </p:txBody>
      </p:sp>
      <p:sp>
        <p:nvSpPr>
          <p:cNvPr id="540" name="Google Shape;540;g3dc31faf6cb_0_149"/>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dc31faf6cb_0_157"/>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Data Protection</a:t>
            </a:r>
            <a:endParaRPr/>
          </a:p>
        </p:txBody>
      </p:sp>
      <p:sp>
        <p:nvSpPr>
          <p:cNvPr id="547" name="Google Shape;547;g3dc31faf6cb_0_157"/>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IN" sz="2400"/>
              <a:t>Scenario</a:t>
            </a:r>
            <a:endParaRPr b="1" sz="2400"/>
          </a:p>
          <a:p>
            <a:pPr indent="0" lvl="0" marL="0" rtl="0" algn="l">
              <a:lnSpc>
                <a:spcPct val="115000"/>
              </a:lnSpc>
              <a:spcBef>
                <a:spcPts val="1200"/>
              </a:spcBef>
              <a:spcAft>
                <a:spcPts val="0"/>
              </a:spcAft>
              <a:buClr>
                <a:schemeClr val="dk1"/>
              </a:buClr>
              <a:buSzPts val="1100"/>
              <a:buFont typeface="Arial"/>
              <a:buNone/>
            </a:pPr>
            <a:r>
              <a:rPr lang="en-IN" sz="2400"/>
              <a:t>An online shopping company like Amazon collects user data such as:</a:t>
            </a:r>
            <a:endParaRPr sz="2400"/>
          </a:p>
          <a:p>
            <a:pPr indent="-381000" lvl="0" marL="457200" rtl="0" algn="l">
              <a:lnSpc>
                <a:spcPct val="115000"/>
              </a:lnSpc>
              <a:spcBef>
                <a:spcPts val="1200"/>
              </a:spcBef>
              <a:spcAft>
                <a:spcPts val="0"/>
              </a:spcAft>
              <a:buSzPts val="2400"/>
              <a:buChar char="●"/>
            </a:pPr>
            <a:r>
              <a:rPr lang="en-IN" sz="2400"/>
              <a:t>Purchase history</a:t>
            </a:r>
            <a:endParaRPr sz="2400"/>
          </a:p>
          <a:p>
            <a:pPr indent="-381000" lvl="0" marL="457200" rtl="0" algn="l">
              <a:lnSpc>
                <a:spcPct val="115000"/>
              </a:lnSpc>
              <a:spcBef>
                <a:spcPts val="0"/>
              </a:spcBef>
              <a:spcAft>
                <a:spcPts val="0"/>
              </a:spcAft>
              <a:buSzPts val="2400"/>
              <a:buChar char="●"/>
            </a:pPr>
            <a:r>
              <a:rPr lang="en-IN" sz="2400"/>
              <a:t>Search history</a:t>
            </a:r>
            <a:endParaRPr sz="2400"/>
          </a:p>
          <a:p>
            <a:pPr indent="-381000" lvl="0" marL="457200" rtl="0" algn="l">
              <a:lnSpc>
                <a:spcPct val="115000"/>
              </a:lnSpc>
              <a:spcBef>
                <a:spcPts val="0"/>
              </a:spcBef>
              <a:spcAft>
                <a:spcPts val="0"/>
              </a:spcAft>
              <a:buSzPts val="2400"/>
              <a:buChar char="●"/>
            </a:pPr>
            <a:r>
              <a:rPr lang="en-IN" sz="2400"/>
              <a:t>Location</a:t>
            </a:r>
            <a:endParaRPr sz="2400"/>
          </a:p>
          <a:p>
            <a:pPr indent="-381000" lvl="0" marL="457200" rtl="0" algn="l">
              <a:lnSpc>
                <a:spcPct val="115000"/>
              </a:lnSpc>
              <a:spcBef>
                <a:spcPts val="0"/>
              </a:spcBef>
              <a:spcAft>
                <a:spcPts val="0"/>
              </a:spcAft>
              <a:buSzPts val="2400"/>
              <a:buChar char="●"/>
            </a:pPr>
            <a:r>
              <a:rPr lang="en-IN" sz="2400"/>
              <a:t>Payment details</a:t>
            </a:r>
            <a:endParaRPr sz="2400"/>
          </a:p>
          <a:p>
            <a:pPr indent="-381000" lvl="0" marL="457200" rtl="0" algn="l">
              <a:lnSpc>
                <a:spcPct val="115000"/>
              </a:lnSpc>
              <a:spcBef>
                <a:spcPts val="0"/>
              </a:spcBef>
              <a:spcAft>
                <a:spcPts val="0"/>
              </a:spcAft>
              <a:buSzPts val="2400"/>
              <a:buChar char="●"/>
            </a:pPr>
            <a:r>
              <a:rPr lang="en-IN" sz="2400"/>
              <a:t>Products viewed</a:t>
            </a:r>
            <a:endParaRPr sz="2400"/>
          </a:p>
          <a:p>
            <a:pPr indent="-381000" lvl="0" marL="457200" rtl="0" algn="l">
              <a:lnSpc>
                <a:spcPct val="115000"/>
              </a:lnSpc>
              <a:spcBef>
                <a:spcPts val="0"/>
              </a:spcBef>
              <a:spcAft>
                <a:spcPts val="0"/>
              </a:spcAft>
              <a:buSzPts val="2400"/>
              <a:buChar char="●"/>
            </a:pPr>
            <a:r>
              <a:rPr lang="en-IN" sz="2400"/>
              <a:t>Time spent browsing</a:t>
            </a:r>
            <a:endParaRPr sz="2400"/>
          </a:p>
          <a:p>
            <a:pPr indent="0" lvl="0" marL="0" rtl="0" algn="l">
              <a:spcBef>
                <a:spcPts val="1200"/>
              </a:spcBef>
              <a:spcAft>
                <a:spcPts val="0"/>
              </a:spcAft>
              <a:buNone/>
            </a:pPr>
            <a:r>
              <a:t/>
            </a:r>
            <a:endParaRPr/>
          </a:p>
        </p:txBody>
      </p:sp>
      <p:sp>
        <p:nvSpPr>
          <p:cNvPr id="548" name="Google Shape;548;g3dc31faf6cb_0_157"/>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3e7f33e0a20_0_48"/>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Data Protection</a:t>
            </a:r>
            <a:endParaRPr/>
          </a:p>
        </p:txBody>
      </p:sp>
      <p:sp>
        <p:nvSpPr>
          <p:cNvPr id="555" name="Google Shape;555;g3e7f33e0a20_0_48"/>
          <p:cNvSpPr txBox="1"/>
          <p:nvPr>
            <p:ph idx="1" type="body"/>
          </p:nvPr>
        </p:nvSpPr>
        <p:spPr>
          <a:xfrm>
            <a:off x="838200" y="1518051"/>
            <a:ext cx="10515600" cy="48321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IN" sz="1800"/>
              <a:t>Different Stakeholders Want Different Uses </a:t>
            </a:r>
            <a:endParaRPr sz="1800"/>
          </a:p>
          <a:p>
            <a:pPr indent="0" lvl="0" marL="0" rtl="0" algn="l">
              <a:lnSpc>
                <a:spcPct val="115000"/>
              </a:lnSpc>
              <a:spcBef>
                <a:spcPts val="1200"/>
              </a:spcBef>
              <a:spcAft>
                <a:spcPts val="0"/>
              </a:spcAft>
              <a:buNone/>
            </a:pPr>
            <a:r>
              <a:rPr b="1" lang="en-IN" sz="1800">
                <a:solidFill>
                  <a:srgbClr val="000000"/>
                </a:solidFill>
              </a:rPr>
              <a:t>Stakeholder					Want</a:t>
            </a:r>
            <a:endParaRPr b="1" sz="1800">
              <a:solidFill>
                <a:srgbClr val="000000"/>
              </a:solidFill>
            </a:endParaRPr>
          </a:p>
          <a:p>
            <a:pPr indent="0" lvl="0" marL="0" rtl="0" algn="l">
              <a:lnSpc>
                <a:spcPct val="100000"/>
              </a:lnSpc>
              <a:spcBef>
                <a:spcPts val="0"/>
              </a:spcBef>
              <a:spcAft>
                <a:spcPts val="0"/>
              </a:spcAft>
              <a:buNone/>
            </a:pPr>
            <a:r>
              <a:rPr lang="en-IN" sz="1800">
                <a:solidFill>
                  <a:srgbClr val="000000"/>
                </a:solidFill>
              </a:rPr>
              <a:t>Marketing Team				Send personalized ads</a:t>
            </a:r>
            <a:endParaRPr sz="1800">
              <a:solidFill>
                <a:srgbClr val="000000"/>
              </a:solidFill>
            </a:endParaRPr>
          </a:p>
          <a:p>
            <a:pPr indent="0" lvl="0" marL="0" rtl="0" algn="l">
              <a:lnSpc>
                <a:spcPct val="100000"/>
              </a:lnSpc>
              <a:spcBef>
                <a:spcPts val="0"/>
              </a:spcBef>
              <a:spcAft>
                <a:spcPts val="0"/>
              </a:spcAft>
              <a:buNone/>
            </a:pPr>
            <a:r>
              <a:rPr lang="en-IN" sz="1800">
                <a:solidFill>
                  <a:srgbClr val="000000"/>
                </a:solidFill>
              </a:rPr>
              <a:t>Data Analysts				Study customer behavior</a:t>
            </a:r>
            <a:endParaRPr sz="1800">
              <a:solidFill>
                <a:srgbClr val="000000"/>
              </a:solidFill>
            </a:endParaRPr>
          </a:p>
          <a:p>
            <a:pPr indent="0" lvl="0" marL="0" rtl="0" algn="l">
              <a:lnSpc>
                <a:spcPct val="100000"/>
              </a:lnSpc>
              <a:spcBef>
                <a:spcPts val="0"/>
              </a:spcBef>
              <a:spcAft>
                <a:spcPts val="0"/>
              </a:spcAft>
              <a:buNone/>
            </a:pPr>
            <a:r>
              <a:rPr lang="en-IN" sz="1800">
                <a:solidFill>
                  <a:srgbClr val="000000"/>
                </a:solidFill>
              </a:rPr>
              <a:t>Third-Party Sellers			Access customer preferences</a:t>
            </a:r>
            <a:endParaRPr sz="1800">
              <a:solidFill>
                <a:srgbClr val="000000"/>
              </a:solidFill>
            </a:endParaRPr>
          </a:p>
          <a:p>
            <a:pPr indent="0" lvl="0" marL="0" rtl="0" algn="l">
              <a:lnSpc>
                <a:spcPct val="100000"/>
              </a:lnSpc>
              <a:spcBef>
                <a:spcPts val="0"/>
              </a:spcBef>
              <a:spcAft>
                <a:spcPts val="0"/>
              </a:spcAft>
              <a:buNone/>
            </a:pPr>
            <a:r>
              <a:rPr lang="en-IN" sz="1800">
                <a:solidFill>
                  <a:srgbClr val="000000"/>
                </a:solidFill>
              </a:rPr>
              <a:t>Government Agencies		Request user transaction records</a:t>
            </a:r>
            <a:endParaRPr sz="1800">
              <a:solidFill>
                <a:srgbClr val="000000"/>
              </a:solidFill>
            </a:endParaRPr>
          </a:p>
          <a:p>
            <a:pPr indent="0" lvl="0" marL="0" rtl="0" algn="l">
              <a:lnSpc>
                <a:spcPct val="100000"/>
              </a:lnSpc>
              <a:spcBef>
                <a:spcPts val="0"/>
              </a:spcBef>
              <a:spcAft>
                <a:spcPts val="0"/>
              </a:spcAft>
              <a:buNone/>
            </a:pPr>
            <a:r>
              <a:t/>
            </a:r>
            <a:endParaRPr sz="1800">
              <a:solidFill>
                <a:srgbClr val="000000"/>
              </a:solidFill>
            </a:endParaRPr>
          </a:p>
          <a:p>
            <a:pPr indent="0" lvl="0" marL="0" rtl="0" algn="l">
              <a:lnSpc>
                <a:spcPct val="115000"/>
              </a:lnSpc>
              <a:spcBef>
                <a:spcPts val="1800"/>
              </a:spcBef>
              <a:spcAft>
                <a:spcPts val="0"/>
              </a:spcAft>
              <a:buClr>
                <a:schemeClr val="dk1"/>
              </a:buClr>
              <a:buSzPts val="1100"/>
              <a:buFont typeface="Arial"/>
              <a:buNone/>
            </a:pPr>
            <a:r>
              <a:rPr b="1" lang="en-IN" sz="1800"/>
              <a:t>Ethical Questions</a:t>
            </a:r>
            <a:endParaRPr b="1" sz="1800"/>
          </a:p>
          <a:p>
            <a:pPr indent="0" lvl="0" marL="0" rtl="0" algn="l">
              <a:lnSpc>
                <a:spcPct val="115000"/>
              </a:lnSpc>
              <a:spcBef>
                <a:spcPts val="1200"/>
              </a:spcBef>
              <a:spcAft>
                <a:spcPts val="0"/>
              </a:spcAft>
              <a:buClr>
                <a:schemeClr val="dk1"/>
              </a:buClr>
              <a:buSzPts val="1100"/>
              <a:buFont typeface="Arial"/>
              <a:buNone/>
            </a:pPr>
            <a:r>
              <a:rPr lang="en-IN" sz="1800"/>
              <a:t>Even if users accepted the terms and conditions:</a:t>
            </a:r>
            <a:endParaRPr sz="1800"/>
          </a:p>
          <a:p>
            <a:pPr indent="-342900" lvl="0" marL="457200" rtl="0" algn="l">
              <a:lnSpc>
                <a:spcPct val="115000"/>
              </a:lnSpc>
              <a:spcBef>
                <a:spcPts val="1200"/>
              </a:spcBef>
              <a:spcAft>
                <a:spcPts val="0"/>
              </a:spcAft>
              <a:buSzPts val="1800"/>
              <a:buChar char="●"/>
            </a:pPr>
            <a:r>
              <a:rPr lang="en-IN" sz="1800"/>
              <a:t>Should all personal data be shared?</a:t>
            </a:r>
            <a:endParaRPr sz="1800"/>
          </a:p>
          <a:p>
            <a:pPr indent="-342900" lvl="0" marL="457200" rtl="0" algn="l">
              <a:lnSpc>
                <a:spcPct val="115000"/>
              </a:lnSpc>
              <a:spcBef>
                <a:spcPts val="0"/>
              </a:spcBef>
              <a:spcAft>
                <a:spcPts val="0"/>
              </a:spcAft>
              <a:buSzPts val="1800"/>
              <a:buChar char="●"/>
            </a:pPr>
            <a:r>
              <a:rPr lang="en-IN" sz="1800"/>
              <a:t>Are users fully aware of how their data is used?</a:t>
            </a:r>
            <a:endParaRPr sz="1800"/>
          </a:p>
          <a:p>
            <a:pPr indent="-342900" lvl="0" marL="457200" rtl="0" algn="l">
              <a:lnSpc>
                <a:spcPct val="115000"/>
              </a:lnSpc>
              <a:spcBef>
                <a:spcPts val="0"/>
              </a:spcBef>
              <a:spcAft>
                <a:spcPts val="0"/>
              </a:spcAft>
              <a:buSzPts val="1800"/>
              <a:buChar char="●"/>
            </a:pPr>
            <a:r>
              <a:rPr lang="en-IN" sz="1800"/>
              <a:t>Could this harm user privacy?</a:t>
            </a:r>
            <a:endParaRPr sz="1800"/>
          </a:p>
        </p:txBody>
      </p:sp>
      <p:sp>
        <p:nvSpPr>
          <p:cNvPr id="556" name="Google Shape;556;g3e7f33e0a20_0_48"/>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e7f33e0a20_0_62"/>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Ethical Concerns </a:t>
            </a:r>
            <a:endParaRPr/>
          </a:p>
        </p:txBody>
      </p:sp>
      <p:sp>
        <p:nvSpPr>
          <p:cNvPr id="563" name="Google Shape;563;g3e7f33e0a20_0_62"/>
          <p:cNvSpPr txBox="1"/>
          <p:nvPr>
            <p:ph idx="1" type="body"/>
          </p:nvPr>
        </p:nvSpPr>
        <p:spPr>
          <a:xfrm>
            <a:off x="838200" y="1518050"/>
            <a:ext cx="10515600" cy="51969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IN" sz="1800"/>
              <a:t>Personalized Advertising</a:t>
            </a:r>
            <a:endParaRPr b="1" sz="1800"/>
          </a:p>
          <a:p>
            <a:pPr indent="-342900" lvl="0" marL="457200" rtl="0" algn="l">
              <a:lnSpc>
                <a:spcPct val="115000"/>
              </a:lnSpc>
              <a:spcBef>
                <a:spcPts val="1200"/>
              </a:spcBef>
              <a:spcAft>
                <a:spcPts val="0"/>
              </a:spcAft>
              <a:buSzPts val="1800"/>
              <a:buChar char="●"/>
            </a:pPr>
            <a:r>
              <a:rPr lang="en-IN" sz="1800"/>
              <a:t>Too much tracking of user behavior</a:t>
            </a:r>
            <a:endParaRPr sz="1800"/>
          </a:p>
          <a:p>
            <a:pPr indent="-342900" lvl="0" marL="457200" rtl="0" algn="l">
              <a:lnSpc>
                <a:spcPct val="115000"/>
              </a:lnSpc>
              <a:spcBef>
                <a:spcPts val="0"/>
              </a:spcBef>
              <a:spcAft>
                <a:spcPts val="0"/>
              </a:spcAft>
              <a:buSzPts val="1800"/>
              <a:buChar char="●"/>
            </a:pPr>
            <a:r>
              <a:rPr lang="en-IN" sz="1800"/>
              <a:t>Users may feel constantly monitored</a:t>
            </a:r>
            <a:endParaRPr sz="1800"/>
          </a:p>
          <a:p>
            <a:pPr indent="0" lvl="0" marL="0" rtl="0" algn="l">
              <a:lnSpc>
                <a:spcPct val="115000"/>
              </a:lnSpc>
              <a:spcBef>
                <a:spcPts val="1400"/>
              </a:spcBef>
              <a:spcAft>
                <a:spcPts val="0"/>
              </a:spcAft>
              <a:buClr>
                <a:schemeClr val="dk1"/>
              </a:buClr>
              <a:buSzPts val="1100"/>
              <a:buFont typeface="Arial"/>
              <a:buNone/>
            </a:pPr>
            <a:r>
              <a:rPr b="1" lang="en-IN" sz="1800"/>
              <a:t>Sharing with Third Parties</a:t>
            </a:r>
            <a:endParaRPr b="1" sz="1800"/>
          </a:p>
          <a:p>
            <a:pPr indent="-342900" lvl="0" marL="457200" rtl="0" algn="l">
              <a:lnSpc>
                <a:spcPct val="115000"/>
              </a:lnSpc>
              <a:spcBef>
                <a:spcPts val="1200"/>
              </a:spcBef>
              <a:spcAft>
                <a:spcPts val="0"/>
              </a:spcAft>
              <a:buSzPts val="1800"/>
              <a:buChar char="●"/>
            </a:pPr>
            <a:r>
              <a:rPr lang="en-IN" sz="1800"/>
              <a:t>Customer information may be misused</a:t>
            </a:r>
            <a:endParaRPr sz="1800"/>
          </a:p>
          <a:p>
            <a:pPr indent="-342900" lvl="0" marL="457200" rtl="0" algn="l">
              <a:lnSpc>
                <a:spcPct val="115000"/>
              </a:lnSpc>
              <a:spcBef>
                <a:spcPts val="0"/>
              </a:spcBef>
              <a:spcAft>
                <a:spcPts val="0"/>
              </a:spcAft>
              <a:buSzPts val="1800"/>
              <a:buChar char="●"/>
            </a:pPr>
            <a:r>
              <a:rPr lang="en-IN" sz="1800"/>
              <a:t>Risk of data leaks</a:t>
            </a:r>
            <a:endParaRPr sz="1800"/>
          </a:p>
          <a:p>
            <a:pPr indent="0" lvl="0" marL="0" rtl="0" algn="l">
              <a:lnSpc>
                <a:spcPct val="115000"/>
              </a:lnSpc>
              <a:spcBef>
                <a:spcPts val="1400"/>
              </a:spcBef>
              <a:spcAft>
                <a:spcPts val="0"/>
              </a:spcAft>
              <a:buClr>
                <a:schemeClr val="dk1"/>
              </a:buClr>
              <a:buSzPts val="1100"/>
              <a:buFont typeface="Arial"/>
              <a:buNone/>
            </a:pPr>
            <a:r>
              <a:rPr b="1" lang="en-IN" sz="1800"/>
              <a:t>Government Requests</a:t>
            </a:r>
            <a:endParaRPr b="1" sz="1800"/>
          </a:p>
          <a:p>
            <a:pPr indent="-342900" lvl="0" marL="457200" rtl="0" algn="l">
              <a:lnSpc>
                <a:spcPct val="115000"/>
              </a:lnSpc>
              <a:spcBef>
                <a:spcPts val="1200"/>
              </a:spcBef>
              <a:spcAft>
                <a:spcPts val="0"/>
              </a:spcAft>
              <a:buSzPts val="1800"/>
              <a:buChar char="●"/>
            </a:pPr>
            <a:r>
              <a:rPr lang="en-IN" sz="1800"/>
              <a:t>Innocent users’ activities may be monitored</a:t>
            </a:r>
            <a:endParaRPr sz="1800"/>
          </a:p>
          <a:p>
            <a:pPr indent="-342900" lvl="0" marL="457200" rtl="0" algn="l">
              <a:lnSpc>
                <a:spcPct val="115000"/>
              </a:lnSpc>
              <a:spcBef>
                <a:spcPts val="0"/>
              </a:spcBef>
              <a:spcAft>
                <a:spcPts val="0"/>
              </a:spcAft>
              <a:buSzPts val="1800"/>
              <a:buChar char="●"/>
            </a:pPr>
            <a:r>
              <a:rPr lang="en-IN" sz="1800"/>
              <a:t>Privacy concerns increase</a:t>
            </a:r>
            <a:endParaRPr sz="1800"/>
          </a:p>
          <a:p>
            <a:pPr indent="0" lvl="0" marL="0" rtl="0" algn="l">
              <a:lnSpc>
                <a:spcPct val="115000"/>
              </a:lnSpc>
              <a:spcBef>
                <a:spcPts val="1400"/>
              </a:spcBef>
              <a:spcAft>
                <a:spcPts val="0"/>
              </a:spcAft>
              <a:buClr>
                <a:schemeClr val="dk1"/>
              </a:buClr>
              <a:buSzPts val="1100"/>
              <a:buFont typeface="Arial"/>
              <a:buNone/>
            </a:pPr>
            <a:r>
              <a:rPr b="1" lang="en-IN" sz="1800"/>
              <a:t>Data Breaches</a:t>
            </a:r>
            <a:endParaRPr b="1" sz="1800"/>
          </a:p>
          <a:p>
            <a:pPr indent="-342900" lvl="0" marL="457200" rtl="0" algn="l">
              <a:lnSpc>
                <a:spcPct val="115000"/>
              </a:lnSpc>
              <a:spcBef>
                <a:spcPts val="1200"/>
              </a:spcBef>
              <a:spcAft>
                <a:spcPts val="0"/>
              </a:spcAft>
              <a:buSzPts val="1800"/>
              <a:buChar char="●"/>
            </a:pPr>
            <a:r>
              <a:rPr lang="en-IN" sz="1800"/>
              <a:t>Hackers may steal payment information</a:t>
            </a:r>
            <a:endParaRPr sz="1800"/>
          </a:p>
          <a:p>
            <a:pPr indent="-342900" lvl="0" marL="457200" rtl="0" algn="l">
              <a:lnSpc>
                <a:spcPct val="115000"/>
              </a:lnSpc>
              <a:spcBef>
                <a:spcPts val="0"/>
              </a:spcBef>
              <a:spcAft>
                <a:spcPts val="0"/>
              </a:spcAft>
              <a:buSzPts val="1800"/>
              <a:buChar char="●"/>
            </a:pPr>
            <a:r>
              <a:rPr lang="en-IN" sz="1800"/>
              <a:t>Financial fraud can occur</a:t>
            </a:r>
            <a:endParaRPr sz="1800"/>
          </a:p>
        </p:txBody>
      </p:sp>
      <p:sp>
        <p:nvSpPr>
          <p:cNvPr id="564" name="Google Shape;564;g3e7f33e0a20_0_62"/>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e7f33e0a20_0_41"/>
          <p:cNvSpPr txBox="1"/>
          <p:nvPr>
            <p:ph type="title"/>
          </p:nvPr>
        </p:nvSpPr>
        <p:spPr>
          <a:xfrm>
            <a:off x="838200" y="549050"/>
            <a:ext cx="105156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571" name="Google Shape;571;g3e7f33e0a20_0_41"/>
          <p:cNvSpPr txBox="1"/>
          <p:nvPr>
            <p:ph idx="1" type="body"/>
          </p:nvPr>
        </p:nvSpPr>
        <p:spPr>
          <a:xfrm>
            <a:off x="838200" y="1518042"/>
            <a:ext cx="10515600" cy="4351200"/>
          </a:xfrm>
          <a:prstGeom prst="rect">
            <a:avLst/>
          </a:prstGeom>
        </p:spPr>
        <p:txBody>
          <a:bodyPr anchorCtr="0" anchor="t" bIns="45700" lIns="91425" spcFirstLastPara="1" rIns="91425" wrap="square" tIns="45700">
            <a:normAutofit fontScale="85000" lnSpcReduction="20000"/>
          </a:bodyPr>
          <a:lstStyle/>
          <a:p>
            <a:pPr indent="0" lvl="0" marL="0" rtl="0" algn="l">
              <a:lnSpc>
                <a:spcPct val="115000"/>
              </a:lnSpc>
              <a:spcBef>
                <a:spcPts val="1800"/>
              </a:spcBef>
              <a:spcAft>
                <a:spcPts val="0"/>
              </a:spcAft>
              <a:buClr>
                <a:schemeClr val="dk1"/>
              </a:buClr>
              <a:buSzPct val="45833"/>
              <a:buFont typeface="Arial"/>
              <a:buNone/>
            </a:pPr>
            <a:r>
              <a:rPr b="1" lang="en-IN" sz="2400"/>
              <a:t>Key Lesson : </a:t>
            </a:r>
            <a:r>
              <a:rPr lang="en-IN" sz="2400"/>
              <a:t>Collecting user data creates responsibility.</a:t>
            </a:r>
            <a:endParaRPr sz="2400"/>
          </a:p>
          <a:p>
            <a:pPr indent="0" lvl="0" marL="0" rtl="0" algn="l">
              <a:lnSpc>
                <a:spcPct val="115000"/>
              </a:lnSpc>
              <a:spcBef>
                <a:spcPts val="1200"/>
              </a:spcBef>
              <a:spcAft>
                <a:spcPts val="0"/>
              </a:spcAft>
              <a:buClr>
                <a:schemeClr val="dk1"/>
              </a:buClr>
              <a:buSzPct val="45833"/>
              <a:buFont typeface="Arial"/>
              <a:buNone/>
            </a:pPr>
            <a:r>
              <a:rPr lang="en-IN" sz="2400"/>
              <a:t>Companies must:</a:t>
            </a:r>
            <a:endParaRPr sz="2400"/>
          </a:p>
          <a:p>
            <a:pPr indent="-358140" lvl="0" marL="457200" rtl="0" algn="l">
              <a:lnSpc>
                <a:spcPct val="115000"/>
              </a:lnSpc>
              <a:spcBef>
                <a:spcPts val="1200"/>
              </a:spcBef>
              <a:spcAft>
                <a:spcPts val="0"/>
              </a:spcAft>
              <a:buSzPct val="100000"/>
              <a:buChar char="●"/>
            </a:pPr>
            <a:r>
              <a:rPr lang="en-IN" sz="2400"/>
              <a:t>Protect user privacy</a:t>
            </a:r>
            <a:endParaRPr sz="2400"/>
          </a:p>
          <a:p>
            <a:pPr indent="-358140" lvl="0" marL="457200" rtl="0" algn="l">
              <a:lnSpc>
                <a:spcPct val="115000"/>
              </a:lnSpc>
              <a:spcBef>
                <a:spcPts val="0"/>
              </a:spcBef>
              <a:spcAft>
                <a:spcPts val="0"/>
              </a:spcAft>
              <a:buSzPct val="100000"/>
              <a:buChar char="●"/>
            </a:pPr>
            <a:r>
              <a:rPr lang="en-IN" sz="2400"/>
              <a:t>Use data responsibly</a:t>
            </a:r>
            <a:endParaRPr sz="2400"/>
          </a:p>
          <a:p>
            <a:pPr indent="-358140" lvl="0" marL="457200" rtl="0" algn="l">
              <a:lnSpc>
                <a:spcPct val="115000"/>
              </a:lnSpc>
              <a:spcBef>
                <a:spcPts val="0"/>
              </a:spcBef>
              <a:spcAft>
                <a:spcPts val="0"/>
              </a:spcAft>
              <a:buSzPct val="100000"/>
              <a:buChar char="●"/>
            </a:pPr>
            <a:r>
              <a:rPr lang="en-IN" sz="2400"/>
              <a:t>Avoid misuse of personal information</a:t>
            </a:r>
            <a:endParaRPr sz="2400"/>
          </a:p>
          <a:p>
            <a:pPr indent="-358140" lvl="0" marL="457200" rtl="0" algn="l">
              <a:lnSpc>
                <a:spcPct val="115000"/>
              </a:lnSpc>
              <a:spcBef>
                <a:spcPts val="0"/>
              </a:spcBef>
              <a:spcAft>
                <a:spcPts val="0"/>
              </a:spcAft>
              <a:buSzPct val="100000"/>
              <a:buChar char="●"/>
            </a:pPr>
            <a:r>
              <a:rPr lang="en-IN" sz="2400"/>
              <a:t>Maintain user trust</a:t>
            </a:r>
            <a:endParaRPr sz="2400"/>
          </a:p>
          <a:p>
            <a:pPr indent="0" lvl="0" marL="0" rtl="0" algn="l">
              <a:lnSpc>
                <a:spcPct val="115000"/>
              </a:lnSpc>
              <a:spcBef>
                <a:spcPts val="1200"/>
              </a:spcBef>
              <a:spcAft>
                <a:spcPts val="0"/>
              </a:spcAft>
              <a:buClr>
                <a:schemeClr val="dk1"/>
              </a:buClr>
              <a:buSzPct val="45833"/>
              <a:buFont typeface="Arial"/>
              <a:buNone/>
            </a:pPr>
            <a:r>
              <a:t/>
            </a:r>
            <a:endParaRPr sz="2400"/>
          </a:p>
          <a:p>
            <a:pPr indent="0" lvl="0" marL="0" rtl="0" algn="l">
              <a:lnSpc>
                <a:spcPct val="115000"/>
              </a:lnSpc>
              <a:spcBef>
                <a:spcPts val="1800"/>
              </a:spcBef>
              <a:spcAft>
                <a:spcPts val="0"/>
              </a:spcAft>
              <a:buClr>
                <a:schemeClr val="dk1"/>
              </a:buClr>
              <a:buSzPct val="45833"/>
              <a:buFont typeface="Arial"/>
              <a:buNone/>
            </a:pPr>
            <a:r>
              <a:rPr b="1" lang="en-IN" sz="2400"/>
              <a:t>Conclusion</a:t>
            </a:r>
            <a:endParaRPr b="1" sz="2400"/>
          </a:p>
          <a:p>
            <a:pPr indent="0" lvl="0" marL="0" marR="381000" rtl="0" algn="l">
              <a:lnSpc>
                <a:spcPct val="115000"/>
              </a:lnSpc>
              <a:spcBef>
                <a:spcPts val="1200"/>
              </a:spcBef>
              <a:spcAft>
                <a:spcPts val="0"/>
              </a:spcAft>
              <a:buClr>
                <a:schemeClr val="dk1"/>
              </a:buClr>
              <a:buSzPct val="45833"/>
              <a:buFont typeface="Arial"/>
              <a:buNone/>
            </a:pPr>
            <a:r>
              <a:rPr lang="en-IN" sz="2400"/>
              <a:t>Data protection is about safely and ethically handling users’ personal information, not just storing it securely.</a:t>
            </a:r>
            <a:endParaRPr sz="2400"/>
          </a:p>
          <a:p>
            <a:pPr indent="0" lvl="0" marL="0" rtl="0" algn="l">
              <a:spcBef>
                <a:spcPts val="1200"/>
              </a:spcBef>
              <a:spcAft>
                <a:spcPts val="0"/>
              </a:spcAft>
              <a:buNone/>
            </a:pPr>
            <a:r>
              <a:t/>
            </a:r>
            <a:endParaRPr/>
          </a:p>
        </p:txBody>
      </p:sp>
      <p:sp>
        <p:nvSpPr>
          <p:cNvPr id="572" name="Google Shape;572;g3e7f33e0a20_0_41"/>
          <p:cNvSpPr txBox="1"/>
          <p:nvPr>
            <p:ph idx="12" type="sldNum"/>
          </p:nvPr>
        </p:nvSpPr>
        <p:spPr>
          <a:xfrm>
            <a:off x="838200" y="6350000"/>
            <a:ext cx="2743200" cy="365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2026-01-23T04:23:09Z</dcterms:created>
  <dc:creator>Karthik Amin</dc:creator>
</cp:coreProperties>
</file>