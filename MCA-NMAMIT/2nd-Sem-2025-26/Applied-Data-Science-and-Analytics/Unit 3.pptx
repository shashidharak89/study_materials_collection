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c210fab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c210fab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c210fab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c210fab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c210fab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6c210fab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58a676d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58a676d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58a676d7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58a676d7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58a676d76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58a676d76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8a676d76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58a676d76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58a676d7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58a676d7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58a676d7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58a676d7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58a676d7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58a676d7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58a676d7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58a676d7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58a676d7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58a676d7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58a676d7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58a676d7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58a676d7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58a676d7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58a676d7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58a676d7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58a676d7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58a676d7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58a676d7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58a676d7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58a676d7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58a676d76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58a676d76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58a676d76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58a676d7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58a676d76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58a676d76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58a676d76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58a676d7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58a676d76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58a676d76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58a676d76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58a676d76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58a676d76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58a676d76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58a676d76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58a676d76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58a676d76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58a676d76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58a676d76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58a676d76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58a676d76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58a676d76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58a676d76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58a676d76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58a676d76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58a676d76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58a676d76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58a676d7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58a676d7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58a676d76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58a676d76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58a676d76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58a676d76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60c71e8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60c71e8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58a676d76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58a676d76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58a676d76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58a676d76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58a676d76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c58a676d76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58a676d76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58a676d76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0811ad89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0811ad89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58a676d76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58a676d76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061a8672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061a8672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58a676d76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c58a676d76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58a676d7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c58a676d7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58a676d76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c58a676d76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0811ad89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0811ad89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d0811ad89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d0811ad89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0811ad89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d0811ad89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0811ad89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d0811ad89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0811ad89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d0811ad89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061a8672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d061a8672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58a676d76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c58a676d76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58a676d76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c58a676d76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0c6cfdd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0c6cfdd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0cb80ae4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d0cb80ae4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0c6cfddb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0c6cfddb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0c6cfddb3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0c6cfddb3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0c6cfddb3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d0c6cfddb3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0c6cfddb3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d0c6cfddb3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0c6cfddb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d0c6cfddb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061a8672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d061a8672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061a8672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061a8672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d061a8672e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d061a8672e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0811ad89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0811ad89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0811ad89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d0811ad89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0811ad89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d0811ad89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0c6cfddb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0c6cfddb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0c6cfddb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d0c6cfddb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0c6cfddb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d0c6cfddb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0c6cfddb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0c6cfddb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0c6cfddb3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d0c6cfddb3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0c6cfddb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0c6cfddb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0c6cfddb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d0c6cfddb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c89910cf3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dc89910cf3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c89910c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dc89910c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3591353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d3591353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c89910cf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dc89910cf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dc89910cf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dc89910cf3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c89910cf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c89910cf3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dc89910cf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dc89910cf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c89910cf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dc89910cf3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35913533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d35913533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c89910cf3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dc89910cf3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c89910cf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dc89910cf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dc89910cf3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dc89910cf3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dc89910cf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dc89910cf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c89910cf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c89910cf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dc89910cf3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dc89910cf3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dc89910cf3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dc89910cf3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dc89910cf3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dc89910cf3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Data Analysis (EDA)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Unit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Elements of Structured data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968425"/>
            <a:ext cx="85206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Data comes from many sources such as </a:t>
            </a:r>
            <a:r>
              <a:rPr lang="en-GB">
                <a:solidFill>
                  <a:srgbClr val="FF0000"/>
                </a:solidFill>
              </a:rPr>
              <a:t>sensors, text, images, videos, and IoT stream</a:t>
            </a:r>
            <a:r>
              <a:rPr lang="en-GB">
                <a:solidFill>
                  <a:schemeClr val="dk1"/>
                </a:solidFill>
              </a:rPr>
              <a:t>s, and much of it is unstructured in nature.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A major challenge of data science is </a:t>
            </a:r>
            <a:r>
              <a:rPr lang="en-GB">
                <a:solidFill>
                  <a:srgbClr val="FF0000"/>
                </a:solidFill>
              </a:rPr>
              <a:t>transforming this massive amount of raw data into meaningful and actionable information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599" cy="41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52425"/>
            <a:ext cx="7221650" cy="423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Software engineers and database programmers may question the need to distinguish </a:t>
            </a:r>
            <a:r>
              <a:rPr lang="en-GB" b="1" dirty="0">
                <a:solidFill>
                  <a:schemeClr val="dk1"/>
                </a:solidFill>
              </a:rPr>
              <a:t>categorical</a:t>
            </a:r>
            <a:r>
              <a:rPr lang="en-GB" dirty="0">
                <a:solidFill>
                  <a:schemeClr val="dk1"/>
                </a:solidFill>
              </a:rPr>
              <a:t> and </a:t>
            </a:r>
            <a:r>
              <a:rPr lang="en-GB" b="1" dirty="0">
                <a:solidFill>
                  <a:schemeClr val="dk1"/>
                </a:solidFill>
              </a:rPr>
              <a:t>ordinal</a:t>
            </a:r>
            <a:r>
              <a:rPr lang="en-GB" dirty="0">
                <a:solidFill>
                  <a:schemeClr val="dk1"/>
                </a:solidFill>
              </a:rPr>
              <a:t> data in analytics, since categories are simply text or numeric values managed by databases. 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However, explicitly identifying data as </a:t>
            </a:r>
            <a:r>
              <a:rPr lang="en-GB" b="1" dirty="0">
                <a:solidFill>
                  <a:schemeClr val="dk1"/>
                </a:solidFill>
              </a:rPr>
              <a:t>categorical</a:t>
            </a:r>
            <a:r>
              <a:rPr lang="en-GB" dirty="0">
                <a:solidFill>
                  <a:schemeClr val="dk1"/>
                </a:solidFill>
              </a:rPr>
              <a:t> rather than plain text offers several advantages.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• Knowing that data is categorical can act as a </a:t>
            </a:r>
            <a:r>
              <a:rPr lang="en-GB" dirty="0">
                <a:solidFill>
                  <a:srgbClr val="FF0000"/>
                </a:solidFill>
              </a:rPr>
              <a:t>signal telling software</a:t>
            </a:r>
            <a:r>
              <a:rPr lang="en-GB" dirty="0">
                <a:solidFill>
                  <a:schemeClr val="dk1"/>
                </a:solidFill>
              </a:rPr>
              <a:t> how statistical procedures, such as producing a chart or fitting a model, should behave. In particular, </a:t>
            </a:r>
            <a:r>
              <a:rPr lang="en-GB" dirty="0">
                <a:solidFill>
                  <a:srgbClr val="FF0000"/>
                </a:solidFill>
              </a:rPr>
              <a:t>ordinal data can be represented as an </a:t>
            </a:r>
            <a:r>
              <a:rPr lang="en-GB" dirty="0" err="1">
                <a:solidFill>
                  <a:srgbClr val="FF0000"/>
                </a:solidFill>
              </a:rPr>
              <a:t>ordered.factor</a:t>
            </a:r>
            <a:r>
              <a:rPr lang="en-GB" dirty="0">
                <a:solidFill>
                  <a:srgbClr val="FF0000"/>
                </a:solidFill>
              </a:rPr>
              <a:t> in R, preserving a user-specified ordering in charts, tables, and models. In Python, scikit-learn supports ordinal data with the </a:t>
            </a:r>
            <a:r>
              <a:rPr lang="en-GB" dirty="0" err="1">
                <a:solidFill>
                  <a:srgbClr val="FF0000"/>
                </a:solidFill>
              </a:rPr>
              <a:t>sklearn.preprocessing.OrdinalEncoder</a:t>
            </a:r>
            <a:r>
              <a:rPr lang="en-GB" dirty="0">
                <a:solidFill>
                  <a:srgbClr val="FF0000"/>
                </a:solidFill>
              </a:rPr>
              <a:t>.</a:t>
            </a:r>
            <a:endParaRPr dirty="0">
              <a:solidFill>
                <a:srgbClr val="FF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• </a:t>
            </a:r>
            <a:r>
              <a:rPr lang="en-GB" dirty="0">
                <a:solidFill>
                  <a:srgbClr val="FF0000"/>
                </a:solidFill>
              </a:rPr>
              <a:t>Storage and indexing can be optimized</a:t>
            </a:r>
            <a:r>
              <a:rPr lang="en-GB" dirty="0">
                <a:solidFill>
                  <a:schemeClr val="dk1"/>
                </a:solidFill>
              </a:rPr>
              <a:t> (as in a relational database).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• The possible values a given categorical variable can take are enforced in the software (like an </a:t>
            </a:r>
            <a:r>
              <a:rPr lang="en-GB" dirty="0" err="1">
                <a:solidFill>
                  <a:schemeClr val="dk1"/>
                </a:solidFill>
              </a:rPr>
              <a:t>enum</a:t>
            </a:r>
            <a:r>
              <a:rPr lang="en-GB" dirty="0">
                <a:solidFill>
                  <a:schemeClr val="dk1"/>
                </a:solidFill>
              </a:rPr>
              <a:t>).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Rectangular Data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typical frame of reference for an analysis in data science is a </a:t>
            </a:r>
            <a:r>
              <a:rPr lang="en-GB">
                <a:solidFill>
                  <a:srgbClr val="FF0000"/>
                </a:solidFill>
              </a:rPr>
              <a:t>rectangular data object, like a spreadsheet or database table.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Rectangular data is the general term for a two-dimensional matrix with rows indicating records (cases) and columns indicating features (variables); </a:t>
            </a:r>
            <a:r>
              <a:rPr lang="en-GB">
                <a:solidFill>
                  <a:srgbClr val="FF0000"/>
                </a:solidFill>
              </a:rPr>
              <a:t>data frame is the specific format in R and Python. 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data doesn’t always start in this form: unstructured data (e.g., text) must be processed and manipulated so that it can be represented as a set of features in the rectangular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Data in relational databases must be extracted and put into a single table for most data analysis and modeling tasks.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Terms for Rectangular Data</a:t>
            </a:r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Data frame: Rectangular data (like a spreadsheet) is the basic data structure for statistical and machine learning models.</a:t>
            </a:r>
            <a:endParaRPr>
              <a:solidFill>
                <a:srgbClr val="00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Feature: A column within a table is commonly referred to as a feature.</a:t>
            </a:r>
            <a:endParaRPr>
              <a:solidFill>
                <a:srgbClr val="00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Outcome: Many data science projects involve predicting an outcome—often a yes/no outcome. The features are sometimes used to predict the outcome in an experiment or a study.</a:t>
            </a:r>
            <a:endParaRPr>
              <a:solidFill>
                <a:srgbClr val="00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Records: A row within a table is commonly referred to as a record.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52575"/>
            <a:ext cx="85206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contd…</a:t>
            </a: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Traditional database tables use index columns to improve query efficiency.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Similarly, Python’s </a:t>
            </a:r>
            <a:r>
              <a:rPr lang="en-GB" b="1">
                <a:solidFill>
                  <a:schemeClr val="dk1"/>
                </a:solidFill>
              </a:rPr>
              <a:t>pandas DataFrame</a:t>
            </a:r>
            <a:r>
              <a:rPr lang="en-GB">
                <a:solidFill>
                  <a:schemeClr val="dk1"/>
                </a:solidFill>
              </a:rPr>
              <a:t> automatically creates an integer index and also supports </a:t>
            </a:r>
            <a:r>
              <a:rPr lang="en-GB" b="1">
                <a:solidFill>
                  <a:schemeClr val="dk1"/>
                </a:solidFill>
              </a:rPr>
              <a:t>multilevel (hierarchical) indexes</a:t>
            </a:r>
            <a:r>
              <a:rPr lang="en-GB">
                <a:solidFill>
                  <a:schemeClr val="dk1"/>
                </a:solidFill>
              </a:rPr>
              <a:t> for better performance.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</a:t>
            </a:r>
            <a:r>
              <a:rPr lang="en-GB" b="1">
                <a:solidFill>
                  <a:schemeClr val="dk1"/>
                </a:solidFill>
              </a:rPr>
              <a:t>R</a:t>
            </a:r>
            <a:r>
              <a:rPr lang="en-GB">
                <a:solidFill>
                  <a:schemeClr val="dk1"/>
                </a:solidFill>
              </a:rPr>
              <a:t>, a </a:t>
            </a:r>
            <a:r>
              <a:rPr lang="en-GB" b="1">
                <a:solidFill>
                  <a:schemeClr val="dk1"/>
                </a:solidFill>
              </a:rPr>
              <a:t>data.frame</a:t>
            </a:r>
            <a:r>
              <a:rPr lang="en-GB">
                <a:solidFill>
                  <a:schemeClr val="dk1"/>
                </a:solidFill>
              </a:rPr>
              <a:t> has a default integer index but does not support user-defined or multilevel indexes; however, packages like </a:t>
            </a:r>
            <a:r>
              <a:rPr lang="en-GB" b="1">
                <a:solidFill>
                  <a:schemeClr val="dk1"/>
                </a:solidFill>
              </a:rPr>
              <a:t>data.table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lang="en-GB" b="1">
                <a:solidFill>
                  <a:schemeClr val="dk1"/>
                </a:solidFill>
              </a:rPr>
              <a:t>dplyr</a:t>
            </a:r>
            <a:r>
              <a:rPr lang="en-GB">
                <a:solidFill>
                  <a:schemeClr val="dk1"/>
                </a:solidFill>
              </a:rPr>
              <a:t> add this capability and improve processing speed.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pandas as pd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"Name": ["Anil", "Meera", "Ravi"],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"Department": ["IT", "HR", "Finance"]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df = pd.DataFrame(data)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print(df)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882" y="1322425"/>
            <a:ext cx="2997850" cy="180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Nonrectangular Data Structures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Besides rectangular data, other important data structures exist in data science.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 b="1">
                <a:solidFill>
                  <a:schemeClr val="dk1"/>
                </a:solidFill>
              </a:rPr>
              <a:t>Time series data</a:t>
            </a:r>
            <a:r>
              <a:rPr lang="en-GB">
                <a:solidFill>
                  <a:schemeClr val="dk1"/>
                </a:solidFill>
              </a:rPr>
              <a:t> records measurements of a variable over time and is widely used in forecasting and IoT data.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Spatial data structures</a:t>
            </a:r>
            <a:r>
              <a:rPr lang="en-GB">
                <a:solidFill>
                  <a:schemeClr val="dk1"/>
                </a:solidFill>
              </a:rPr>
              <a:t> are used in mapping and location analytics, representing objects with coordinates or values across spatial units.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Graph (network) data structures</a:t>
            </a:r>
            <a:r>
              <a:rPr lang="en-GB">
                <a:solidFill>
                  <a:schemeClr val="dk1"/>
                </a:solidFill>
              </a:rPr>
              <a:t> model relationships between entities, such as social networks or transportation networks, and are useful for tasks like network optimization and recommender systems.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However, </a:t>
            </a:r>
            <a:r>
              <a:rPr lang="en-GB" b="1">
                <a:solidFill>
                  <a:schemeClr val="dk1"/>
                </a:solidFill>
              </a:rPr>
              <a:t>rectangular data remains the fundamental structure for predictive modeling</a:t>
            </a:r>
            <a:r>
              <a:rPr lang="en-GB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0550"/>
            <a:ext cx="6964951" cy="2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822201" cy="30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1152475"/>
            <a:ext cx="767267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187450" cy="29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Terms for Estimates of Location</a:t>
            </a:r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Mean / Average: The sum of all values divided by the number of values.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Weighted mean/ weighted average: The sum of all values times a weight divided by the sum of the weights.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Median (50th percentile):  The value such that one-half of the data lies above and below.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Percentile / quantile: The value such that P percent of the data lies below.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9"/>
          <p:cNvSpPr txBox="1">
            <a:spLocks noGrp="1"/>
          </p:cNvSpPr>
          <p:nvPr>
            <p:ph type="body" idx="1"/>
          </p:nvPr>
        </p:nvSpPr>
        <p:spPr>
          <a:xfrm>
            <a:off x="311700" y="508375"/>
            <a:ext cx="8520600" cy="40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Weighted median: The value such that one-half of the sum of the weights lies above and below the sorted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Trimmed mean / truncated mean:  The average of all values after dropping a fixed number of extreme values.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Robust / resistant:  Not sensitive to extreme values.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Outlier / extreme value: A data value that is very different from most of the data.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sz="1800"/>
              <a:t>Mean / Average</a:t>
            </a:r>
            <a:endParaRPr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311700" y="887150"/>
            <a:ext cx="8520600" cy="36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The most basic estimate of location is the mean, or average value.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The mean is the sum of all values divided by the number of values.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Consider the following set of numbers: {3 5 1 2}. The mean is (3 + 5 + 1 + 2) / 4 = 11 / 4 = 2.75.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850" y="2462100"/>
            <a:ext cx="8233575" cy="210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Trimmed Mean</a:t>
            </a:r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07100"/>
            <a:ext cx="8520600" cy="283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739182"/>
            <a:ext cx="7722526" cy="82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contd…</a:t>
            </a:r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750" y="2571750"/>
            <a:ext cx="4063248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850" y="1152475"/>
            <a:ext cx="8473450" cy="239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Weighted Mean</a:t>
            </a:r>
            <a:endParaRPr/>
          </a:p>
        </p:txBody>
      </p:sp>
      <p:sp>
        <p:nvSpPr>
          <p:cNvPr id="188" name="Google Shape;188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9" name="Google Shape;1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00" y="1017725"/>
            <a:ext cx="8434099" cy="314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4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rgbClr val="FF0000"/>
                </a:solidFill>
              </a:rPr>
              <a:t>Reasons for Using a Weighted Mean</a:t>
            </a:r>
            <a:endParaRPr b="1">
              <a:solidFill>
                <a:srgbClr val="FF0000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There are two main reasons for using a weighted mean: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1. Different variability in observations</a:t>
            </a:r>
            <a:br>
              <a:rPr lang="en-GB" b="1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Some values are more variable or less reliable than others. In such cases, less reliable observations are assigned </a:t>
            </a:r>
            <a:r>
              <a:rPr lang="en-GB" b="1">
                <a:solidFill>
                  <a:schemeClr val="dk1"/>
                </a:solidFill>
              </a:rPr>
              <a:t>lower weights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Example: When averaging readings from multiple sensors, a </a:t>
            </a:r>
            <a:r>
              <a:rPr lang="en-GB" b="1">
                <a:solidFill>
                  <a:schemeClr val="dk1"/>
                </a:solidFill>
              </a:rPr>
              <a:t>less accurate sensor may be given a smaller weight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2. Unequal representation of groups</a:t>
            </a:r>
            <a:br>
              <a:rPr lang="en-GB" b="1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Sometimes collected data does not equally represent all groups of interest. To correct this imbalance, </a:t>
            </a:r>
            <a:r>
              <a:rPr lang="en-GB" b="1">
                <a:solidFill>
                  <a:schemeClr val="dk1"/>
                </a:solidFill>
              </a:rPr>
              <a:t>higher weights can be assigned to underrepresented groups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Example: In an </a:t>
            </a:r>
            <a:r>
              <a:rPr lang="en-GB" b="1">
                <a:solidFill>
                  <a:schemeClr val="dk1"/>
                </a:solidFill>
              </a:rPr>
              <a:t>online experiment</a:t>
            </a:r>
            <a:r>
              <a:rPr lang="en-GB">
                <a:solidFill>
                  <a:schemeClr val="dk1"/>
                </a:solidFill>
              </a:rPr>
              <a:t>, if certain user groups are underrepresented, their data can be given higher weights to obtain a more accurate overall estimate.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Median</a:t>
            </a:r>
            <a:endParaRPr/>
          </a:p>
        </p:txBody>
      </p:sp>
      <p:sp>
        <p:nvSpPr>
          <p:cNvPr id="201" name="Google Shape;201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 b="1">
                <a:solidFill>
                  <a:schemeClr val="dk1"/>
                </a:solidFill>
              </a:rPr>
              <a:t>median</a:t>
            </a:r>
            <a:r>
              <a:rPr lang="en-GB">
                <a:solidFill>
                  <a:schemeClr val="dk1"/>
                </a:solidFill>
              </a:rPr>
              <a:t> is the middle value in a sorted dataset.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If the number of observations is even, it is calculated as the average of the two middle values.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Unlike the mean, which uses all observations, the median depends only on the central values and is therefore </a:t>
            </a:r>
            <a:r>
              <a:rPr lang="en-GB" b="1">
                <a:solidFill>
                  <a:schemeClr val="dk1"/>
                </a:solidFill>
              </a:rPr>
              <a:t>less affected by extreme values (outliers)</a:t>
            </a:r>
            <a:r>
              <a:rPr lang="en-GB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example, when measuring typical household income, the median provides a better representation because very high incomes do not distort the result.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lang="en-GB" b="1">
                <a:solidFill>
                  <a:schemeClr val="dk1"/>
                </a:solidFill>
              </a:rPr>
              <a:t>weighted median</a:t>
            </a:r>
            <a:r>
              <a:rPr lang="en-GB">
                <a:solidFill>
                  <a:schemeClr val="dk1"/>
                </a:solidFill>
              </a:rPr>
              <a:t> can also be calculated when each data value has a weight; it is the value where the </a:t>
            </a:r>
            <a:r>
              <a:rPr lang="en-GB" b="1">
                <a:solidFill>
                  <a:schemeClr val="dk1"/>
                </a:solidFill>
              </a:rPr>
              <a:t>sum of weights on both sides of the sorted data is equal</a:t>
            </a:r>
            <a:r>
              <a:rPr lang="en-GB">
                <a:solidFill>
                  <a:schemeClr val="dk1"/>
                </a:solidFill>
              </a:rPr>
              <a:t>, and it is also robust to outliers.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8" name="Google Shape;2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6665375" cy="406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5" name="Google Shape;21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4325"/>
            <a:ext cx="5639200" cy="425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</a:t>
            </a:r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An </a:t>
            </a:r>
            <a:r>
              <a:rPr lang="en-GB" b="1">
                <a:solidFill>
                  <a:schemeClr val="dk1"/>
                </a:solidFill>
              </a:rPr>
              <a:t>outlier</a:t>
            </a:r>
            <a:r>
              <a:rPr lang="en-GB">
                <a:solidFill>
                  <a:schemeClr val="dk1"/>
                </a:solidFill>
              </a:rPr>
              <a:t> is a value that is very far from the other observations in a dataset.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 b="1">
                <a:solidFill>
                  <a:schemeClr val="dk1"/>
                </a:solidFill>
              </a:rPr>
              <a:t>median</a:t>
            </a:r>
            <a:r>
              <a:rPr lang="en-GB">
                <a:solidFill>
                  <a:schemeClr val="dk1"/>
                </a:solidFill>
              </a:rPr>
              <a:t> is considered a </a:t>
            </a:r>
            <a:r>
              <a:rPr lang="en-GB" b="1">
                <a:solidFill>
                  <a:schemeClr val="dk1"/>
                </a:solidFill>
              </a:rPr>
              <a:t>robust measure of location</a:t>
            </a:r>
            <a:r>
              <a:rPr lang="en-GB">
                <a:solidFill>
                  <a:schemeClr val="dk1"/>
                </a:solidFill>
              </a:rPr>
              <a:t> because it is not greatly affected by such extreme values, unlike the mean which can be distorted.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Outliers are not always errors; they may represent valid but unusual cases (e.g., extremely high income). However, they are often caused by </a:t>
            </a:r>
            <a:r>
              <a:rPr lang="en-GB" b="1">
                <a:solidFill>
                  <a:schemeClr val="dk1"/>
                </a:solidFill>
              </a:rPr>
              <a:t>data errors</a:t>
            </a:r>
            <a:r>
              <a:rPr lang="en-GB">
                <a:solidFill>
                  <a:schemeClr val="dk1"/>
                </a:solidFill>
              </a:rPr>
              <a:t>, such as incorrect units or faulty sensor readings. Therefore, outliers should always be </a:t>
            </a:r>
            <a:r>
              <a:rPr lang="en-GB" b="1">
                <a:solidFill>
                  <a:schemeClr val="dk1"/>
                </a:solidFill>
              </a:rPr>
              <a:t>identified and investigated</a:t>
            </a:r>
            <a:r>
              <a:rPr lang="en-GB">
                <a:solidFill>
                  <a:schemeClr val="dk1"/>
                </a:solidFill>
              </a:rPr>
              <a:t> during data analysis.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/>
              <a:t>Example: Location Estimates of Population and Crime Rates</a:t>
            </a:r>
            <a:endParaRPr sz="2320"/>
          </a:p>
        </p:txBody>
      </p:sp>
      <p:sp>
        <p:nvSpPr>
          <p:cNvPr id="227" name="Google Shape;227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30325"/>
            <a:ext cx="5848350" cy="39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body" idx="1"/>
          </p:nvPr>
        </p:nvSpPr>
        <p:spPr>
          <a:xfrm>
            <a:off x="311700" y="488425"/>
            <a:ext cx="8520600" cy="4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the </a:t>
            </a:r>
            <a:r>
              <a:rPr lang="en-GB" b="1">
                <a:solidFill>
                  <a:schemeClr val="dk1"/>
                </a:solidFill>
              </a:rPr>
              <a:t>population values</a:t>
            </a:r>
            <a:r>
              <a:rPr lang="en-GB">
                <a:solidFill>
                  <a:schemeClr val="dk1"/>
                </a:solidFill>
              </a:rPr>
              <a:t>, compute the following: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Mean population</a:t>
            </a:r>
            <a:r>
              <a:rPr lang="en-GB">
                <a:solidFill>
                  <a:schemeClr val="dk1"/>
                </a:solidFill>
              </a:rPr>
              <a:t> of the cities.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Median population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 b="1">
                <a:solidFill>
                  <a:schemeClr val="dk1"/>
                </a:solidFill>
              </a:rPr>
              <a:t>Trimmed mean population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</a:rPr>
              <a:t>Solution: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1. Sort the Data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2. Mean (Average)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Mean population = 1,750,000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 Median population = 1,150,000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4. Trimmed Mean = 1,275,000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Estimates of Variability</a:t>
            </a:r>
            <a:endParaRPr/>
          </a:p>
        </p:txBody>
      </p:sp>
      <p:sp>
        <p:nvSpPr>
          <p:cNvPr id="240" name="Google Shape;240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Location is just one dimension in summarizing a feature.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A second dimension, variability, also referred to as dispersion, measures whether the data values are tightly clustered or spread out.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Terms for Variability Metrics</a:t>
            </a:r>
            <a:endParaRPr/>
          </a:p>
        </p:txBody>
      </p:sp>
      <p:sp>
        <p:nvSpPr>
          <p:cNvPr id="246" name="Google Shape;246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Deviations/ errors/ residuals: The difference between the observed values and the estimate of location.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Variance / mean-squared-error: The sum of squared deviations from the mean divided by n – 1 where n is the number of data values.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Standard deviation: The square root of the variance.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Mean absolute deviation / l1-norm, Manhattan norm:  The mean of the absolute values of the deviations from the mean.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Median absolute deviation from the median: The median of the absolute values of the deviations from the median.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body" idx="1"/>
          </p:nvPr>
        </p:nvSpPr>
        <p:spPr>
          <a:xfrm>
            <a:off x="311700" y="498400"/>
            <a:ext cx="8520600" cy="40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Range: The difference between the largest and the smallest value in a data set.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Order statistics / ranks: Metrics based on the data values sorted from smallest to biggest.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Percentile / quantile: The value such that P percent of the values take on this value or less and (100–P) percent take on this value or more.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Interquartile range / IQR: The difference between the 75th percentile and the 25th percentile.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Standard Deviation and Related Estimates</a:t>
            </a:r>
            <a:endParaRPr/>
          </a:p>
        </p:txBody>
      </p:sp>
      <p:sp>
        <p:nvSpPr>
          <p:cNvPr id="258" name="Google Shape;258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most widely used estimates of variation are based on the differences, or deviations, between the estimate of location and the observed data.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a set of data {1, 4, 4}, the mean is 3 and the median is 4.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deviations from the mean are the differences: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1 – 3 = –2,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4 – 3 = 1,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4 – 3 = 1.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These deviations tell us how dispersed the data is around the central value.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5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One way to measure variability is to estimate a </a:t>
            </a:r>
            <a:r>
              <a:rPr lang="en-GB" sz="1400" b="1">
                <a:solidFill>
                  <a:schemeClr val="dk1"/>
                </a:solidFill>
              </a:rPr>
              <a:t>typical value of the deviations from the mean</a:t>
            </a:r>
            <a:r>
              <a:rPr lang="en-GB" sz="1400">
                <a:solidFill>
                  <a:schemeClr val="dk1"/>
                </a:solidFill>
              </a:rPr>
              <a:t>. Simply averaging the deviations is not useful because </a:t>
            </a:r>
            <a:r>
              <a:rPr lang="en-GB" sz="1400" b="1">
                <a:solidFill>
                  <a:schemeClr val="dk1"/>
                </a:solidFill>
              </a:rPr>
              <a:t>negative deviations cancel positive deviations</a:t>
            </a:r>
            <a:r>
              <a:rPr lang="en-GB" sz="1400">
                <a:solidFill>
                  <a:schemeClr val="dk1"/>
                </a:solidFill>
              </a:rPr>
              <a:t>, making their total equal to zero.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 simple solution is to calculate the </a:t>
            </a:r>
            <a:r>
              <a:rPr lang="en-GB" sz="1400" b="1">
                <a:solidFill>
                  <a:schemeClr val="dk1"/>
                </a:solidFill>
              </a:rPr>
              <a:t>average of the absolute deviations from the mean</a:t>
            </a:r>
            <a:r>
              <a:rPr lang="en-GB" sz="1400">
                <a:solidFill>
                  <a:schemeClr val="dk1"/>
                </a:solidFill>
              </a:rPr>
              <a:t>. This measure is called the </a:t>
            </a:r>
            <a:r>
              <a:rPr lang="en-GB" sz="1400" b="1">
                <a:solidFill>
                  <a:schemeClr val="dk1"/>
                </a:solidFill>
              </a:rPr>
              <a:t>Mean Absolute Deviation (MAD)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/>
          </a:p>
        </p:txBody>
      </p:sp>
      <p:pic>
        <p:nvPicPr>
          <p:cNvPr id="265" name="Google Shape;26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50" y="1945900"/>
            <a:ext cx="4773150" cy="262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2" name="Google Shape;27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865275" cy="27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9" name="Google Shape;27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1" cy="40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86" name="Google Shape;2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85206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Robust Measures of Variability</a:t>
            </a:r>
            <a:endParaRPr/>
          </a:p>
        </p:txBody>
      </p:sp>
      <p:sp>
        <p:nvSpPr>
          <p:cNvPr id="292" name="Google Shape;292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 b="1">
                <a:solidFill>
                  <a:schemeClr val="dk1"/>
                </a:solidFill>
              </a:rPr>
              <a:t>variance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 b="1">
                <a:solidFill>
                  <a:schemeClr val="dk1"/>
                </a:solidFill>
              </a:rPr>
              <a:t>standard deviation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lang="en-GB" b="1">
                <a:solidFill>
                  <a:schemeClr val="dk1"/>
                </a:solidFill>
              </a:rPr>
              <a:t>mean absolute deviation</a:t>
            </a:r>
            <a:r>
              <a:rPr lang="en-GB">
                <a:solidFill>
                  <a:schemeClr val="dk1"/>
                </a:solidFill>
              </a:rPr>
              <a:t> are not robust to </a:t>
            </a:r>
            <a:r>
              <a:rPr lang="en-GB" b="1">
                <a:solidFill>
                  <a:schemeClr val="dk1"/>
                </a:solidFill>
              </a:rPr>
              <a:t>outliers or extreme values</a:t>
            </a:r>
            <a:r>
              <a:rPr lang="en-GB">
                <a:solidFill>
                  <a:schemeClr val="dk1"/>
                </a:solidFill>
              </a:rPr>
              <a:t>. This is especially true for variance and standard deviation because they use </a:t>
            </a:r>
            <a:r>
              <a:rPr lang="en-GB" b="1">
                <a:solidFill>
                  <a:schemeClr val="dk1"/>
                </a:solidFill>
              </a:rPr>
              <a:t>squared deviations</a:t>
            </a:r>
            <a:r>
              <a:rPr lang="en-GB">
                <a:solidFill>
                  <a:schemeClr val="dk1"/>
                </a:solidFill>
              </a:rPr>
              <a:t>, which increase the influence of extreme observations.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more </a:t>
            </a:r>
            <a:r>
              <a:rPr lang="en-GB" b="1">
                <a:solidFill>
                  <a:schemeClr val="dk1"/>
                </a:solidFill>
              </a:rPr>
              <a:t>robust measure of variability</a:t>
            </a:r>
            <a:r>
              <a:rPr lang="en-GB">
                <a:solidFill>
                  <a:schemeClr val="dk1"/>
                </a:solidFill>
              </a:rPr>
              <a:t> is the </a:t>
            </a:r>
            <a:r>
              <a:rPr lang="en-GB" b="1">
                <a:solidFill>
                  <a:schemeClr val="dk1"/>
                </a:solidFill>
              </a:rPr>
              <a:t>Median Absolute Deviation (MAD)</a:t>
            </a:r>
            <a:r>
              <a:rPr lang="en-GB">
                <a:solidFill>
                  <a:schemeClr val="dk1"/>
                </a:solidFill>
              </a:rPr>
              <a:t>, which is based on deviations from the </a:t>
            </a:r>
            <a:r>
              <a:rPr lang="en-GB" b="1">
                <a:solidFill>
                  <a:schemeClr val="dk1"/>
                </a:solidFill>
              </a:rPr>
              <a:t>median</a:t>
            </a:r>
            <a:r>
              <a:rPr lang="en-GB">
                <a:solidFill>
                  <a:schemeClr val="dk1"/>
                </a:solidFill>
              </a:rPr>
              <a:t> instead of the mean.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99" name="Google Shape;29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6" y="1152475"/>
            <a:ext cx="8520600" cy="3402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Estimates Based on Percentiles</a:t>
            </a:r>
            <a:endParaRPr/>
          </a:p>
        </p:txBody>
      </p:sp>
      <p:sp>
        <p:nvSpPr>
          <p:cNvPr id="305" name="Google Shape;305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Another way to measure </a:t>
            </a:r>
            <a:r>
              <a:rPr lang="en-GB" b="1">
                <a:solidFill>
                  <a:schemeClr val="dk1"/>
                </a:solidFill>
              </a:rPr>
              <a:t>dispersion (variability)</a:t>
            </a:r>
            <a:r>
              <a:rPr lang="en-GB">
                <a:solidFill>
                  <a:schemeClr val="dk1"/>
                </a:solidFill>
              </a:rPr>
              <a:t> is by examining the </a:t>
            </a:r>
            <a:r>
              <a:rPr lang="en-GB" b="1">
                <a:solidFill>
                  <a:schemeClr val="dk1"/>
                </a:solidFill>
              </a:rPr>
              <a:t>spread of sorted data</a:t>
            </a:r>
            <a:r>
              <a:rPr lang="en-GB">
                <a:solidFill>
                  <a:schemeClr val="dk1"/>
                </a:solidFill>
              </a:rPr>
              <a:t>. Statistics calculated from sorted or ranked data are called </a:t>
            </a:r>
            <a:r>
              <a:rPr lang="en-GB" b="1">
                <a:solidFill>
                  <a:schemeClr val="dk1"/>
                </a:solidFill>
              </a:rPr>
              <a:t>order statistics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simplest measure is the </a:t>
            </a:r>
            <a:r>
              <a:rPr lang="en-GB" b="1">
                <a:solidFill>
                  <a:schemeClr val="dk1"/>
                </a:solidFill>
              </a:rPr>
              <a:t>range</a:t>
            </a:r>
            <a:r>
              <a:rPr lang="en-GB">
                <a:solidFill>
                  <a:schemeClr val="dk1"/>
                </a:solidFill>
              </a:rPr>
              <a:t>, which is the difference between the </a:t>
            </a:r>
            <a:r>
              <a:rPr lang="en-GB" b="1">
                <a:solidFill>
                  <a:schemeClr val="dk1"/>
                </a:solidFill>
              </a:rPr>
              <a:t>maximum and minimum values</a:t>
            </a:r>
            <a:r>
              <a:rPr lang="en-GB">
                <a:solidFill>
                  <a:schemeClr val="dk1"/>
                </a:solidFill>
              </a:rPr>
              <a:t> in the dataset:</a:t>
            </a:r>
            <a:endParaRPr>
              <a:solidFill>
                <a:schemeClr val="dk1"/>
              </a:solidFill>
            </a:endParaRPr>
          </a:p>
          <a:p>
            <a:pPr marL="914400" lvl="0" indent="45720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Range=  Maximum   −		Minimum</a:t>
            </a:r>
            <a:endParaRPr>
              <a:solidFill>
                <a:schemeClr val="dk1"/>
              </a:solidFill>
            </a:endParaRPr>
          </a:p>
          <a:p>
            <a:pPr marL="91440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Although the minimum and maximum values help identify </a:t>
            </a:r>
            <a:r>
              <a:rPr lang="en-GB" b="1">
                <a:solidFill>
                  <a:schemeClr val="dk1"/>
                </a:solidFill>
              </a:rPr>
              <a:t>outliers</a:t>
            </a:r>
            <a:r>
              <a:rPr lang="en-GB">
                <a:solidFill>
                  <a:schemeClr val="dk1"/>
                </a:solidFill>
              </a:rPr>
              <a:t>, the range is </a:t>
            </a:r>
            <a:r>
              <a:rPr lang="en-GB" b="1">
                <a:solidFill>
                  <a:schemeClr val="dk1"/>
                </a:solidFill>
              </a:rPr>
              <a:t>very sensitive to extreme values</a:t>
            </a:r>
            <a:r>
              <a:rPr lang="en-GB">
                <a:solidFill>
                  <a:schemeClr val="dk1"/>
                </a:solidFill>
              </a:rPr>
              <a:t> and is not always a reliable measure of variability.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body" idx="1"/>
          </p:nvPr>
        </p:nvSpPr>
        <p:spPr>
          <a:xfrm>
            <a:off x="311700" y="398725"/>
            <a:ext cx="8520600" cy="4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To reduce the effect of outliers, dispersion can be measured using </a:t>
            </a:r>
            <a:r>
              <a:rPr lang="en-GB" sz="1300" b="1">
                <a:solidFill>
                  <a:schemeClr val="dk1"/>
                </a:solidFill>
              </a:rPr>
              <a:t>percentiles</a:t>
            </a:r>
            <a:r>
              <a:rPr lang="en-GB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The </a:t>
            </a:r>
            <a:r>
              <a:rPr lang="en-GB" sz="1300" b="1">
                <a:solidFill>
                  <a:schemeClr val="dk1"/>
                </a:solidFill>
              </a:rPr>
              <a:t>Pth percentile</a:t>
            </a:r>
            <a:r>
              <a:rPr lang="en-GB" sz="1300">
                <a:solidFill>
                  <a:schemeClr val="dk1"/>
                </a:solidFill>
              </a:rPr>
              <a:t> is the value below which </a:t>
            </a:r>
            <a:r>
              <a:rPr lang="en-GB" sz="1300" b="1">
                <a:solidFill>
                  <a:schemeClr val="dk1"/>
                </a:solidFill>
              </a:rPr>
              <a:t>P% of the observations fall</a:t>
            </a:r>
            <a:r>
              <a:rPr lang="en-GB" sz="1300">
                <a:solidFill>
                  <a:schemeClr val="dk1"/>
                </a:solidFill>
              </a:rPr>
              <a:t>. 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For example, the </a:t>
            </a:r>
            <a:r>
              <a:rPr lang="en-GB" sz="1300" b="1">
                <a:solidFill>
                  <a:schemeClr val="dk1"/>
                </a:solidFill>
              </a:rPr>
              <a:t>50th percentile is the median</a:t>
            </a:r>
            <a:r>
              <a:rPr lang="en-GB" sz="1300">
                <a:solidFill>
                  <a:schemeClr val="dk1"/>
                </a:solidFill>
              </a:rPr>
              <a:t>, and the </a:t>
            </a:r>
            <a:r>
              <a:rPr lang="en-GB" sz="1300" b="1">
                <a:solidFill>
                  <a:schemeClr val="dk1"/>
                </a:solidFill>
              </a:rPr>
              <a:t>80th percentile</a:t>
            </a:r>
            <a:r>
              <a:rPr lang="en-GB" sz="1300">
                <a:solidFill>
                  <a:schemeClr val="dk1"/>
                </a:solidFill>
              </a:rPr>
              <a:t> is the value below which 80% of the data lies. 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A commonly used measure of variability based on percentiles is the </a:t>
            </a:r>
            <a:r>
              <a:rPr lang="en-GB" sz="1300" b="1">
                <a:solidFill>
                  <a:schemeClr val="dk1"/>
                </a:solidFill>
              </a:rPr>
              <a:t>Interquartile Range (IQR)</a:t>
            </a:r>
            <a:r>
              <a:rPr lang="en-GB" sz="1300">
                <a:solidFill>
                  <a:schemeClr val="dk1"/>
                </a:solidFill>
              </a:rPr>
              <a:t>, which measures the spread of the middle 50% of the data:</a:t>
            </a:r>
            <a:endParaRPr sz="1300">
              <a:solidFill>
                <a:schemeClr val="dk1"/>
              </a:solidFill>
            </a:endParaRPr>
          </a:p>
          <a:p>
            <a:pPr marL="1371600" lvl="0" indent="45720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IQR= Q3  −  Q1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where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Q1​ = 25th percentile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Q3 = 75th percentile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For very large datasets, calculating exact percentiles can be computationally expensive because it requires sorting the entire dataset. Therefore, statistical and machine learning software often use </a:t>
            </a:r>
            <a:r>
              <a:rPr lang="en-GB" sz="1300" b="1">
                <a:solidFill>
                  <a:schemeClr val="dk1"/>
                </a:solidFill>
              </a:rPr>
              <a:t>approximation algorithms</a:t>
            </a:r>
            <a:r>
              <a:rPr lang="en-GB" sz="1300">
                <a:solidFill>
                  <a:schemeClr val="dk1"/>
                </a:solidFill>
              </a:rPr>
              <a:t> to estimate percentiles quickly while maintaining acceptable accuracy.</a:t>
            </a:r>
            <a:endParaRPr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Exploring the Data Distribution</a:t>
            </a:r>
            <a:endParaRPr/>
          </a:p>
        </p:txBody>
      </p:sp>
      <p:sp>
        <p:nvSpPr>
          <p:cNvPr id="317" name="Google Shape;317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18" name="Google Shape;31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520601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Data Distribution</a:t>
            </a:r>
            <a:endParaRPr/>
          </a:p>
        </p:txBody>
      </p:sp>
      <p:sp>
        <p:nvSpPr>
          <p:cNvPr id="324" name="Google Shape;3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Boxplot / box and whiskers plot : A plot introduced as a quick way to visualize the distribution of data.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Frequency table: A tally of the count of numeric data values that fall into a set of intervals (bins).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Histogram: A plot of the frequency table with the bins on the x-axis and the count (or proportion) on the y-axis. While visually similar, bar charts should not be confused with histograms.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Density plot: A smoothed version of the histogram, often based on a kernel density estimate.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55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 </a:t>
            </a:r>
            <a:r>
              <a:rPr lang="en-GB" sz="1900" b="1">
                <a:solidFill>
                  <a:schemeClr val="dk1"/>
                </a:solidFill>
              </a:rPr>
              <a:t>boxplot (or box-and-whisker plot)</a:t>
            </a:r>
            <a:r>
              <a:rPr lang="en-GB" sz="1900">
                <a:solidFill>
                  <a:schemeClr val="dk1"/>
                </a:solidFill>
              </a:rPr>
              <a:t> is a standardized graphical method for displaying the distribution of numerical data based on a </a:t>
            </a:r>
            <a:r>
              <a:rPr lang="en-GB" sz="1900" b="1">
                <a:solidFill>
                  <a:schemeClr val="dk1"/>
                </a:solidFill>
              </a:rPr>
              <a:t>five-number summary</a:t>
            </a:r>
            <a:r>
              <a:rPr lang="en-GB" sz="1900">
                <a:solidFill>
                  <a:schemeClr val="dk1"/>
                </a:solidFill>
              </a:rPr>
              <a:t>: minimum, first quartile (Q1), median (Q2), third quartile (Q3), and maximum. It highlights the data’s spread, central tendency, skewness, and potential outliers.</a:t>
            </a:r>
            <a:endParaRPr sz="2600"/>
          </a:p>
        </p:txBody>
      </p:sp>
      <p:pic>
        <p:nvPicPr>
          <p:cNvPr id="331" name="Google Shape;33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000" y="2017325"/>
            <a:ext cx="6507300" cy="25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Percentiles and Boxplots</a:t>
            </a:r>
            <a:endParaRPr/>
          </a:p>
        </p:txBody>
      </p:sp>
      <p:sp>
        <p:nvSpPr>
          <p:cNvPr id="337" name="Google Shape;337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solidFill>
                  <a:schemeClr val="dk1"/>
                </a:solidFill>
              </a:rPr>
              <a:t>Percentiles</a:t>
            </a:r>
            <a:r>
              <a:rPr lang="en-GB" sz="1400">
                <a:solidFill>
                  <a:schemeClr val="dk1"/>
                </a:solidFill>
              </a:rPr>
              <a:t> are useful not only for measuring spread but also for </a:t>
            </a:r>
            <a:r>
              <a:rPr lang="en-GB" sz="1400" b="1">
                <a:solidFill>
                  <a:schemeClr val="dk1"/>
                </a:solidFill>
              </a:rPr>
              <a:t>summarizing the entire distribution of data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 b="1">
                <a:solidFill>
                  <a:schemeClr val="dk1"/>
                </a:solidFill>
              </a:rPr>
              <a:t>1. Common Percentiles Used </a:t>
            </a:r>
            <a:r>
              <a:rPr lang="en-GB" sz="1400">
                <a:solidFill>
                  <a:schemeClr val="dk1"/>
                </a:solidFill>
              </a:rPr>
              <a:t>Some commonly reported percentiles are: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b="1">
                <a:solidFill>
                  <a:schemeClr val="dk1"/>
                </a:solidFill>
              </a:rPr>
              <a:t>Quartiles</a:t>
            </a:r>
            <a:r>
              <a:rPr lang="en-GB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25th percentile (Q1)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50th percentile (Median)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75th percentile (Q3)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b="1">
                <a:solidFill>
                  <a:schemeClr val="dk1"/>
                </a:solidFill>
              </a:rPr>
              <a:t>Deciles</a:t>
            </a:r>
            <a:r>
              <a:rPr lang="en-GB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10th, 20th, 30th, …, 90th percentiles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Percentiles help describe the </a:t>
            </a:r>
            <a:r>
              <a:rPr lang="en-GB" sz="1400" b="1">
                <a:solidFill>
                  <a:schemeClr val="dk1"/>
                </a:solidFill>
              </a:rPr>
              <a:t>tails of the distribution</a:t>
            </a:r>
            <a:r>
              <a:rPr lang="en-GB" sz="1400">
                <a:solidFill>
                  <a:schemeClr val="dk1"/>
                </a:solidFill>
              </a:rPr>
              <a:t> (extreme low and high values). For example, the phrase </a:t>
            </a:r>
            <a:r>
              <a:rPr lang="en-GB" sz="1400" b="1">
                <a:solidFill>
                  <a:schemeClr val="dk1"/>
                </a:solidFill>
              </a:rPr>
              <a:t>“one-percenters”</a:t>
            </a:r>
            <a:r>
              <a:rPr lang="en-GB" sz="1400">
                <a:solidFill>
                  <a:schemeClr val="dk1"/>
                </a:solidFill>
              </a:rPr>
              <a:t> refers to people in the </a:t>
            </a:r>
            <a:r>
              <a:rPr lang="en-GB" sz="1400" b="1">
                <a:solidFill>
                  <a:schemeClr val="dk1"/>
                </a:solidFill>
              </a:rPr>
              <a:t>top 1% (99th percentile)</a:t>
            </a:r>
            <a:r>
              <a:rPr lang="en-GB" sz="1400">
                <a:solidFill>
                  <a:schemeClr val="dk1"/>
                </a:solidFill>
              </a:rPr>
              <a:t> of wealth.</a:t>
            </a:r>
            <a:endParaRPr sz="2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5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import pandas as pd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import matplotlib.pyplot as plt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# Create dataset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data = {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    'Murder_Rate': [1.6, 2.4, 2.8, 3.1, 3.7, 4.0, 4.5, 5.2, 5.8, 6.1, 6.5]  #dictionary with 1 col.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}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state = pd.DataFrame(data) 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# Calculate percentiles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percentiles = state['Murder_Rate'].quantile([0.05, 0.25, 0.50, 0.75, 0.95])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print("Percentiles:")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print(percentiles)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# Create boxplot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ax = state['Murder_Rate'].plot.box()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606">
                <a:solidFill>
                  <a:schemeClr val="dk1"/>
                </a:solidFill>
              </a:rPr>
              <a:t>ax.set_ylabel("Murder Rate per 100,000 people")</a:t>
            </a: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endParaRPr sz="1606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606">
                <a:solidFill>
                  <a:schemeClr val="dk1"/>
                </a:solidFill>
              </a:rPr>
              <a:t>plt.show()</a:t>
            </a:r>
            <a:endParaRPr sz="1606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0" name="Google Shape;35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33400"/>
            <a:ext cx="5399975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program 1</a:t>
            </a:r>
            <a:endParaRPr/>
          </a:p>
        </p:txBody>
      </p:sp>
      <p:sp>
        <p:nvSpPr>
          <p:cNvPr id="356" name="Google Shape;356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7" name="Google Shape;35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75" y="904950"/>
            <a:ext cx="4070200" cy="37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 Example</a:t>
            </a:r>
            <a:endParaRPr/>
          </a:p>
        </p:txBody>
      </p:sp>
      <p:sp>
        <p:nvSpPr>
          <p:cNvPr id="363" name="Google Shape;363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4" name="Google Shape;36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57275"/>
            <a:ext cx="4454425" cy="35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Scatter plot example</a:t>
            </a:r>
            <a:endParaRPr/>
          </a:p>
        </p:txBody>
      </p:sp>
      <p:sp>
        <p:nvSpPr>
          <p:cNvPr id="370" name="Google Shape;370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71" name="Google Shape;37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4625"/>
            <a:ext cx="4140325" cy="34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Pandas Dataset</a:t>
            </a:r>
            <a:endParaRPr/>
          </a:p>
        </p:txBody>
      </p:sp>
      <p:sp>
        <p:nvSpPr>
          <p:cNvPr id="377" name="Google Shape;377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78" name="Google Shape;37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9175"/>
            <a:ext cx="4729275" cy="38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384" name="Google Shape;384;p63"/>
          <p:cNvSpPr txBox="1">
            <a:spLocks noGrp="1"/>
          </p:cNvSpPr>
          <p:nvPr>
            <p:ph type="body" idx="1"/>
          </p:nvPr>
        </p:nvSpPr>
        <p:spPr>
          <a:xfrm>
            <a:off x="311700" y="946675"/>
            <a:ext cx="8520600" cy="3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Write a Python program to create two lists representing days and temperatures, and plot a </a:t>
            </a:r>
            <a:r>
              <a:rPr lang="en-GB" sz="1600" b="1">
                <a:solidFill>
                  <a:schemeClr val="dk1"/>
                </a:solidFill>
              </a:rPr>
              <a:t>line graph</a:t>
            </a:r>
            <a:r>
              <a:rPr lang="en-GB" sz="1600">
                <a:solidFill>
                  <a:schemeClr val="dk1"/>
                </a:solidFill>
              </a:rPr>
              <a:t> showing temperature variation over days.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Create a dataset of monthly expenses and plot a line graph. Label the axes and give a suitable title.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Write a Python program to create a dataset of students and their marks in three subjects and display it using a </a:t>
            </a:r>
            <a:r>
              <a:rPr lang="en-GB" sz="1600" b="1">
                <a:solidFill>
                  <a:schemeClr val="dk1"/>
                </a:solidFill>
              </a:rPr>
              <a:t>bar chart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Plot a bar graph to compare sales of different products in a shop.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Create a dataset of hours studied and marks scored, and plot a </a:t>
            </a:r>
            <a:r>
              <a:rPr lang="en-GB" sz="1600" b="1">
                <a:solidFill>
                  <a:schemeClr val="dk1"/>
                </a:solidFill>
              </a:rPr>
              <a:t>scatter graph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Write a program to show the relationship between age and height using a scatter plot.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Create a dataset using Pandas for daily sales and plot a </a:t>
            </a:r>
            <a:r>
              <a:rPr lang="en-GB" sz="1600" b="1">
                <a:solidFill>
                  <a:schemeClr val="dk1"/>
                </a:solidFill>
              </a:rPr>
              <a:t>line graph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GB" sz="1600">
                <a:solidFill>
                  <a:schemeClr val="dk1"/>
                </a:solidFill>
              </a:rPr>
              <a:t>Write a Python program to create a DataFrame with employee salaries and plot a </a:t>
            </a:r>
            <a:r>
              <a:rPr lang="en-GB" sz="1600" b="1">
                <a:solidFill>
                  <a:schemeClr val="dk1"/>
                </a:solidFill>
              </a:rPr>
              <a:t>bar chart</a:t>
            </a:r>
            <a:r>
              <a:rPr lang="en-GB" sz="1600">
                <a:solidFill>
                  <a:schemeClr val="dk1"/>
                </a:solidFill>
              </a:rPr>
              <a:t>.</a:t>
            </a:r>
            <a:endParaRPr sz="2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Frequency table</a:t>
            </a:r>
            <a:endParaRPr/>
          </a:p>
        </p:txBody>
      </p:sp>
      <p:sp>
        <p:nvSpPr>
          <p:cNvPr id="390" name="Google Shape;390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1" name="Google Shape;39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9144000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Density Plots and Estimates</a:t>
            </a:r>
            <a:endParaRPr/>
          </a:p>
        </p:txBody>
      </p:sp>
      <p:sp>
        <p:nvSpPr>
          <p:cNvPr id="397" name="Google Shape;397;p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 density plot is used to show the distribution of data values as a smooth continuous curve. It is closely related to a histogram.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histogram displays the distribution using bars (bins) that show counts or frequencies.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density plot shows the distribution as a smoothed curve.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Because of this, a density plot is often described as a smoothed histogram. It is usually calculated using a method called Kernel Density Estimation (KDE).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66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Key Characteristics of Density Plots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Smooth curve representing the distribution of data.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The total area under the curve equals 1.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The y-axis represents probability density, not counts.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The area between two points on the x-axis represents the proportion of data in that range.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example, the area under the curve between x = 2 and x = 5 represents the fraction of observations whose values fall between 2 and 5.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6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numpy as np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from scipy.stats import gaussian_kde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np.random.randn(1000)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kde = gaussian_kde(data)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x = np.linspace(min(data), max(data), 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plt.plot(x, kde(x), color='green')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plt.fill_between(x, kde(x), color='lightgreen')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plt.title("Density Plot with Color")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plt.xlabel("Values")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plt.ylabel("Density")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10" name="Google Shape;41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0102" y="445025"/>
            <a:ext cx="3922200" cy="3103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68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numpy as np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seaborn as sns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np.random.randn(1000)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plt.figure()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sns.kdeplot(data, fill=True)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plt.title("Density Plot using Seaborn")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plt.xlabel("Values")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17" name="Google Shape;41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7025" y="445025"/>
            <a:ext cx="3935275" cy="2887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69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numpy as np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Generate data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np.random.randn(1000)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Plot density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plt.figure()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data_series = sorted(data)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Simple KDE using histogram approximation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plt.hist(data, density=True)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plt.title("Basic Density Plot")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plt.xlabel("Values")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plt.ylabel("Density")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24" name="Google Shape;4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125" y="445025"/>
            <a:ext cx="3796174" cy="31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70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numpy as np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from scipy.stats import gaussian_kde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Data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np.random.randn(1000)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KDE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kde = gaussian_kde(data)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x = np.linspace(min(data), max(data), 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plt.figure()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plt.plot(x, kde(x))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plt.title("Smooth Density Plot (KDE)")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plt.xlabel("Values")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plt.ylabel("Density")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31" name="Google Shape;43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6125" y="445025"/>
            <a:ext cx="4066175" cy="28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71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import numpy as np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import matplotlib.pyplot as plt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from scipy.stats import gaussian_kde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# Two datasets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data1 = np.random.randn(1000)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data2 = np.random.randn(1000) + 2   # shifted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kde1 = gaussian_kde(data1)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kde2 = gaussian_kde(data2)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x = np.linspace(-5, 7, 1000)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plt.figure()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plt.plot(x, kde1(x))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plt.plot(x, kde2(x))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plt.title("Comparison of Two Density Plots")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plt.xlabel("Values")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r>
              <a:rPr lang="en-GB" sz="1960">
                <a:solidFill>
                  <a:schemeClr val="dk1"/>
                </a:solidFill>
              </a:rPr>
              <a:t>plt.ylabel("Density")</a:t>
            </a: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122"/>
              <a:buFont typeface="Arial"/>
              <a:buNone/>
            </a:pPr>
            <a:endParaRPr sz="196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60">
                <a:solidFill>
                  <a:schemeClr val="dk1"/>
                </a:solidFill>
              </a:rPr>
              <a:t>plt.show()</a:t>
            </a:r>
            <a:endParaRPr sz="1960">
              <a:solidFill>
                <a:schemeClr val="dk1"/>
              </a:solidFill>
            </a:endParaRPr>
          </a:p>
        </p:txBody>
      </p:sp>
      <p:pic>
        <p:nvPicPr>
          <p:cNvPr id="438" name="Google Shape;43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5025"/>
            <a:ext cx="4260300" cy="293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72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import numpy as np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import matplotlib.pyplot as plt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from scipy.stats import gaussian_kde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data = np.random.randn(1000)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kde = gaussian_kde(data)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x = np.linspace(min(data), max(data), 1000)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plt.figure()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plt.hist(data, density=True)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plt.plot(x, kde(x))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plt.title("Histogram + Density Plot")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plt.xlabel("Values")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plt.ylabel("Density")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29">
                <a:solidFill>
                  <a:schemeClr val="dk1"/>
                </a:solidFill>
              </a:rPr>
              <a:t>plt.show()</a:t>
            </a:r>
            <a:endParaRPr sz="1929">
              <a:solidFill>
                <a:schemeClr val="dk1"/>
              </a:solidFill>
            </a:endParaRPr>
          </a:p>
        </p:txBody>
      </p:sp>
      <p:pic>
        <p:nvPicPr>
          <p:cNvPr id="445" name="Google Shape;44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445025"/>
            <a:ext cx="4260300" cy="3047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73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numpy as np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Generate 2D data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x = np.random.randn(1000)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 = np.random.randn(1000)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plt.figure()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plt.hexbin(x, y, gridsize=25)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plt.xlabel("X values")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plt.ylabel("Y values")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plt.title("2D Density Plot (Hexbin)")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52" name="Google Shape;45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7775" y="445025"/>
            <a:ext cx="4864525" cy="3577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Binary and Categorical Data</a:t>
            </a:r>
            <a:endParaRPr/>
          </a:p>
        </p:txBody>
      </p:sp>
      <p:sp>
        <p:nvSpPr>
          <p:cNvPr id="458" name="Google Shape;458;p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Mode: The most commonly occurring category or value in a dataset.</a:t>
            </a:r>
            <a:endParaRPr sz="20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Expected Value: When the categories can be associated with a numeric value, it gives an average value based on the probability of occurence of a category.</a:t>
            </a:r>
            <a:endParaRPr sz="20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Bar Charts: The frequency or proportion for each category plotted as bars.</a:t>
            </a:r>
            <a:endParaRPr sz="200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Pie Charts: The frequency or proportion for each category plotted as wedges in a pie.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Mode</a:t>
            </a:r>
            <a:endParaRPr sz="3100"/>
          </a:p>
        </p:txBody>
      </p:sp>
      <p:sp>
        <p:nvSpPr>
          <p:cNvPr id="464" name="Google Shape;464;p7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mode is the value, or values in case of a tie, that appears most often in the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example: In most parts of the United States, the mode for religious preference would be Christian.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mode is a simple summary statistic for categorical data, and it is generally not used for numeric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7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 special type of categorical data occurs when the categories can be linked to numerical values on the same scale, allowing them to be analyzed mathematically.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example, a marketer offering two cloud service plans—one priced at $300 per month and another at $50 per month—observes that 5% of webinar attendees choose the $300 plan, 15% choose the $50 plan, and 80% do not purchase anything.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Although these are categories, they can be converted into numerical outcomes (300, 50, and 0) and combined using probabilities.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7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leads to the concept of expected value, which is a weighted average where each outcome is multiplied by its probability and then summed.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this case, the expected value is calculated as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      (0.05 × 300) + (0.15 × 50) + (0.80 × 0) = 22.5,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meaning each attendee is worth $22.50 on average per month.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Expected value helps businesses estimate future returns and supports decision-making in areas such as budgeting, forecasting, and investment planning.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</a:t>
            </a:r>
            <a:endParaRPr/>
          </a:p>
        </p:txBody>
      </p:sp>
      <p:sp>
        <p:nvSpPr>
          <p:cNvPr id="482" name="Google Shape;482;p7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Probability refers to how likely an event is to occur, a concept most people understand from everyday situations like weather forecasts (chance of rain) or sports predictions (chance of a team winning).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In simple terms, probability can be understood as the proportion of times an event would happen if the same situation were repeated many times under identical conditions.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sp>
        <p:nvSpPr>
          <p:cNvPr id="488" name="Google Shape;488;p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Exploratory data analysis in many modeling projects (whether in data science or in research) involves examining correlation among predictors, and between predictors and a target variable.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Variables X and Y (each with measured data) are said to be positively correlated if high values of X go with high values of Y, and low values of X go with low values of Y. If high values of X go with low values of Y, and vice versa, the variables are negatively correlated.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Ex: Study hours vs Marks, Temperature vs Ice Cream sales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Terms for Correlation</a:t>
            </a:r>
            <a:endParaRPr/>
          </a:p>
        </p:txBody>
      </p:sp>
      <p:sp>
        <p:nvSpPr>
          <p:cNvPr id="494" name="Google Shape;494;p8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Correlation coefficient: A metric that measures the extent to which numeric variables are associated with one another (ranges from –1 to +1).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Correlation matrix: A table where the variables are shown on both rows and columns, and the cell values are the correlations between the variables.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Scatterplot: A plot in which the x-axis is the value of one variable, and the y-axis the value of another.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Scatterplots</a:t>
            </a:r>
            <a:endParaRPr/>
          </a:p>
        </p:txBody>
      </p:sp>
      <p:sp>
        <p:nvSpPr>
          <p:cNvPr id="500" name="Google Shape;500;p8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standard way to visualize the relationship between two measured data variables is with a scatterplot. The x-axis represents one variable and the y-axis another, and each point on the graph is a record.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501" name="Google Shape;50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375" y="2178575"/>
            <a:ext cx="4252350" cy="27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2"/>
          <p:cNvSpPr txBox="1">
            <a:spLocks noGrp="1"/>
          </p:cNvSpPr>
          <p:nvPr>
            <p:ph type="title"/>
          </p:nvPr>
        </p:nvSpPr>
        <p:spPr>
          <a:xfrm>
            <a:off x="311700" y="392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82"/>
          <p:cNvSpPr txBox="1">
            <a:spLocks noGrp="1"/>
          </p:cNvSpPr>
          <p:nvPr>
            <p:ph type="body" idx="1"/>
          </p:nvPr>
        </p:nvSpPr>
        <p:spPr>
          <a:xfrm>
            <a:off x="311700" y="39267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pandas as pd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Create dataset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'Hours_Studied': [1, 2, 3, 4, 5, 6],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'Marks': [40, 45, 55, 60, 65, 70]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df = pd.DataFrame(data)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Scatter plot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plt.figure()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plt.scatter(df['Hours_Studied'], df['Marks'])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Labels and title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plt.xlabel('Hours Studied')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plt.ylabel('Marks')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plt.title('Hours Studied vs Marks')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08" name="Google Shape;50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92675"/>
            <a:ext cx="4260300" cy="322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83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import pandas as pd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import matplotlib.pyplot as plt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data = {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    'Hours_Studied': [1, 2, 3, 4, 5, 6],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    'Marks': [40, 45, 55, 60, 65, 70]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}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df = pd.DataFrame(data)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plt.figure()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plt.scatter(df['Hours_Studied'], df['Marks'])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# Add grid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plt.grid()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# Add axis lines at 0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plt.axhline(0)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plt.axvline(0)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plt.xlabel('Hours Studied')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plt.ylabel('Marks')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-GB" sz="1929">
                <a:solidFill>
                  <a:schemeClr val="dk1"/>
                </a:solidFill>
              </a:rPr>
              <a:t>plt.title('Scatter Plot with Grid and Axes')</a:t>
            </a:r>
            <a:endParaRPr sz="192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29">
                <a:solidFill>
                  <a:schemeClr val="dk1"/>
                </a:solidFill>
              </a:rPr>
              <a:t>plt.show()</a:t>
            </a:r>
            <a:endParaRPr sz="1929">
              <a:solidFill>
                <a:schemeClr val="dk1"/>
              </a:solidFill>
            </a:endParaRPr>
          </a:p>
        </p:txBody>
      </p:sp>
      <p:pic>
        <p:nvPicPr>
          <p:cNvPr id="515" name="Google Shape;51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075" y="445025"/>
            <a:ext cx="4524225" cy="289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84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pandas as pd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'Hours': [1, 2, 3, 4, 5],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'Marks': [35, 50, 55, 65, 80]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df = pd.DataFrame(data)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ax = df.plot.scatter(x='Hours', y='Marks')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ax.set_xlabel('Hours Studied')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ax.set_ylabel('Marks Scored')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22" name="Google Shape;52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750" y="445025"/>
            <a:ext cx="3974550" cy="31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85"/>
          <p:cNvSpPr txBox="1">
            <a:spLocks noGrp="1"/>
          </p:cNvSpPr>
          <p:nvPr>
            <p:ph type="body" idx="1"/>
          </p:nvPr>
        </p:nvSpPr>
        <p:spPr>
          <a:xfrm>
            <a:off x="311700" y="514775"/>
            <a:ext cx="8520600" cy="4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import pandas as pd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import matplotlib.pyplot as plt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data = {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    'Hours': [1, 2, 3, 4, 5],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    'Marks': [60, 40, 70, 50, 65]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}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df = pd.DataFrame(data)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plt.figure()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plt.scatter(df['Hours'], df['Marks'])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plt.xlabel('Hours')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plt.ylabel('Marks')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-GB" sz="1895">
                <a:solidFill>
                  <a:schemeClr val="dk1"/>
                </a:solidFill>
              </a:rPr>
              <a:t>plt.title('Weak Correlation Example')</a:t>
            </a:r>
            <a:endParaRPr sz="18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-GB" sz="1895">
                <a:solidFill>
                  <a:schemeClr val="dk1"/>
                </a:solidFill>
              </a:rPr>
              <a:t>plt.show()</a:t>
            </a:r>
            <a:endParaRPr sz="1895">
              <a:solidFill>
                <a:schemeClr val="dk1"/>
              </a:solidFill>
            </a:endParaRPr>
          </a:p>
        </p:txBody>
      </p:sp>
      <p:pic>
        <p:nvPicPr>
          <p:cNvPr id="529" name="Google Shape;52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445025"/>
            <a:ext cx="4260300" cy="32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86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import pandas as pd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import matplotlib.pyplot as plt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data = {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    'Screen_Time': [1, 2, 3, 4, 5],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    'Sleep_Hours': [8, 7, 6, 5, 4]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}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df = pd.DataFrame(data)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plt.figure()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plt.scatter(df['Screen_Time'], df['Sleep_Hours'])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plt.xlabel('Screen Time')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plt.ylabel('Sleep Hours')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29">
                <a:solidFill>
                  <a:schemeClr val="dk1"/>
                </a:solidFill>
              </a:rPr>
              <a:t>plt.title('Negative Correlation')</a:t>
            </a:r>
            <a:endParaRPr sz="1829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29">
                <a:solidFill>
                  <a:schemeClr val="dk1"/>
                </a:solidFill>
              </a:rPr>
              <a:t>plt.show()</a:t>
            </a:r>
            <a:endParaRPr sz="1829">
              <a:solidFill>
                <a:schemeClr val="dk1"/>
              </a:solidFill>
            </a:endParaRPr>
          </a:p>
        </p:txBody>
      </p:sp>
      <p:pic>
        <p:nvPicPr>
          <p:cNvPr id="536" name="Google Shape;53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325" y="445025"/>
            <a:ext cx="3609975" cy="31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</a:t>
            </a:r>
            <a:endParaRPr/>
          </a:p>
        </p:txBody>
      </p:sp>
      <p:sp>
        <p:nvSpPr>
          <p:cNvPr id="542" name="Google Shape;542;p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 </a:t>
            </a:r>
            <a:r>
              <a:rPr lang="en-GB" sz="1400" b="1">
                <a:solidFill>
                  <a:schemeClr val="dk1"/>
                </a:solidFill>
              </a:rPr>
              <a:t>bar chart</a:t>
            </a:r>
            <a:r>
              <a:rPr lang="en-GB" sz="1400">
                <a:solidFill>
                  <a:schemeClr val="dk1"/>
                </a:solidFill>
              </a:rPr>
              <a:t> represents categorical data using rectangular bars where the length/height of each bar corresponds to the value.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🔹 Key Points: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Used for </a:t>
            </a:r>
            <a:r>
              <a:rPr lang="en-GB" sz="1400" b="1">
                <a:solidFill>
                  <a:schemeClr val="dk1"/>
                </a:solidFill>
              </a:rPr>
              <a:t>comparison between categories</a:t>
            </a:r>
            <a:endParaRPr sz="14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Categories on X-axis, values on Y-axis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Bars can be vertical or horizontal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🔹 Example Use: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Comparing marks of students in different subjects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43" name="Google Shape;54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200" y="1640325"/>
            <a:ext cx="4354099" cy="268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</a:t>
            </a:r>
            <a:endParaRPr/>
          </a:p>
        </p:txBody>
      </p:sp>
      <p:sp>
        <p:nvSpPr>
          <p:cNvPr id="549" name="Google Shape;549;p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categories = ['A', 'B', 'C', 'D']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values = [10, 20, 15, 25]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plt.bar(categories, values)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plt.xlabel("Categories")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plt.ylabel("Values")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plt.title("Bar Chart")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50" name="Google Shape;55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300" y="445025"/>
            <a:ext cx="4040000" cy="29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57" name="Google Shape;55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3" y="0"/>
            <a:ext cx="90731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Pie chart</a:t>
            </a:r>
            <a:endParaRPr/>
          </a:p>
        </p:txBody>
      </p:sp>
      <p:sp>
        <p:nvSpPr>
          <p:cNvPr id="563" name="Google Shape;563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A </a:t>
            </a:r>
            <a:r>
              <a:rPr lang="en-GB" sz="1600" b="1">
                <a:solidFill>
                  <a:schemeClr val="dk1"/>
                </a:solidFill>
              </a:rPr>
              <a:t>pie chart</a:t>
            </a:r>
            <a:r>
              <a:rPr lang="en-GB" sz="1600">
                <a:solidFill>
                  <a:schemeClr val="dk1"/>
                </a:solidFill>
              </a:rPr>
              <a:t> shows data as parts of a whole using slices of a circle.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🔹 Key Points:</a:t>
            </a:r>
            <a:endParaRPr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Each slice represents a </a:t>
            </a:r>
            <a:r>
              <a:rPr lang="en-GB" sz="1600" b="1">
                <a:solidFill>
                  <a:schemeClr val="dk1"/>
                </a:solidFill>
              </a:rPr>
              <a:t>percentage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Total always equals </a:t>
            </a:r>
            <a:r>
              <a:rPr lang="en-GB" sz="1600" b="1">
                <a:solidFill>
                  <a:schemeClr val="dk1"/>
                </a:solidFill>
              </a:rPr>
              <a:t>100%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Best for showing </a:t>
            </a:r>
            <a:r>
              <a:rPr lang="en-GB" sz="1600" b="1">
                <a:solidFill>
                  <a:schemeClr val="dk1"/>
                </a:solidFill>
              </a:rPr>
              <a:t>proportions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🔹 Example Use: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Market share of companies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64" name="Google Shape;56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428" y="1823582"/>
            <a:ext cx="3940697" cy="28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Pie chart</a:t>
            </a:r>
            <a:endParaRPr/>
          </a:p>
        </p:txBody>
      </p:sp>
      <p:sp>
        <p:nvSpPr>
          <p:cNvPr id="570" name="Google Shape;570;p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labels = ['A', 'B', 'C', 'D']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sizes = [30, 25, 20, 25]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plt.pie(sizes, labels=labels, autopct='%1.1f%%')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plt.title("Pie Chart")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71" name="Google Shape;57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525" y="445025"/>
            <a:ext cx="3306975" cy="27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Contour Plot</a:t>
            </a:r>
            <a:endParaRPr/>
          </a:p>
        </p:txBody>
      </p:sp>
      <p:sp>
        <p:nvSpPr>
          <p:cNvPr id="577" name="Google Shape;577;p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A </a:t>
            </a:r>
            <a:r>
              <a:rPr lang="en-GB" sz="1500" b="1">
                <a:solidFill>
                  <a:schemeClr val="dk1"/>
                </a:solidFill>
              </a:rPr>
              <a:t>contour plot</a:t>
            </a:r>
            <a:r>
              <a:rPr lang="en-GB" sz="1500">
                <a:solidFill>
                  <a:schemeClr val="dk1"/>
                </a:solidFill>
              </a:rPr>
              <a:t> represents 3D data in 2D using contour lines.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solidFill>
                  <a:schemeClr val="dk1"/>
                </a:solidFill>
              </a:rPr>
              <a:t>🔹 Key Points:</a:t>
            </a:r>
            <a:endParaRPr sz="17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Lines connect points of equal value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Used for </a:t>
            </a:r>
            <a:r>
              <a:rPr lang="en-GB" sz="1500" b="1">
                <a:solidFill>
                  <a:schemeClr val="dk1"/>
                </a:solidFill>
              </a:rPr>
              <a:t>surface visualization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Similar to geographical maps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 b="1">
                <a:solidFill>
                  <a:schemeClr val="dk1"/>
                </a:solidFill>
              </a:rPr>
              <a:t>🔹 Example Use: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Temperature distribution over an area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578" name="Google Shape;57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500" y="2425600"/>
            <a:ext cx="5351525" cy="225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Contour Plot</a:t>
            </a:r>
            <a:endParaRPr/>
          </a:p>
        </p:txBody>
      </p:sp>
      <p:sp>
        <p:nvSpPr>
          <p:cNvPr id="584" name="Google Shape;584;p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import numpy as np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x = np.linspace(-5, 5, 50)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 = np.linspace(-5, 5, 50)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X, Y = np.meshgrid(x, y)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Z = X**2 + Y**2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plt.contour(X, Y, Z)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plt.title("Contour Plot")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85" name="Google Shape;58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1850" y="445025"/>
            <a:ext cx="3660450" cy="26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9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Correlation Matrix</a:t>
            </a:r>
            <a:endParaRPr/>
          </a:p>
        </p:txBody>
      </p:sp>
      <p:sp>
        <p:nvSpPr>
          <p:cNvPr id="591" name="Google Shape;591;p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 </a:t>
            </a:r>
            <a:r>
              <a:rPr lang="en-GB" sz="1400" b="1">
                <a:solidFill>
                  <a:schemeClr val="dk1"/>
                </a:solidFill>
              </a:rPr>
              <a:t>correlation matrix</a:t>
            </a:r>
            <a:r>
              <a:rPr lang="en-GB" sz="1400">
                <a:solidFill>
                  <a:schemeClr val="dk1"/>
                </a:solidFill>
              </a:rPr>
              <a:t> shows correlation values between multiple variables in tabular form.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🔹 Key Points: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Symmetric matrix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Diagonal values = 1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Helps identify relationships between many variables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🔹 Example Use: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Comparing multiple features in a dataset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98" name="Google Shape;59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443" y="0"/>
            <a:ext cx="63251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9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Correlation Matrix</a:t>
            </a:r>
            <a:endParaRPr/>
          </a:p>
        </p:txBody>
      </p:sp>
      <p:sp>
        <p:nvSpPr>
          <p:cNvPr id="604" name="Google Shape;604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import numpy as np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x = [1, 2, 3, 4, 5]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 = [2, 4, 6, 8, 10]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correlation = np.corrcoef(x, y)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print("Correlation matrix:\n", correlation)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05" name="Google Shape;60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9475" y="445025"/>
            <a:ext cx="2822825" cy="16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Correlation Matrix</a:t>
            </a:r>
            <a:endParaRPr/>
          </a:p>
        </p:txBody>
      </p:sp>
      <p:sp>
        <p:nvSpPr>
          <p:cNvPr id="611" name="Google Shape;611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pandas as pd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'A': [1, 2, 3, 4],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'B': [2, 4, 6, 8],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'C': [5, 6, 7, 8]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df = pd.DataFrame(data)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print(df.corr())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2" name="Google Shape;61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9625" y="445025"/>
            <a:ext cx="2652675" cy="149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 Maps</a:t>
            </a:r>
            <a:endParaRPr/>
          </a:p>
        </p:txBody>
      </p:sp>
      <p:sp>
        <p:nvSpPr>
          <p:cNvPr id="618" name="Google Shape;618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 </a:t>
            </a:r>
            <a:r>
              <a:rPr lang="en-GB" sz="1400" b="1">
                <a:solidFill>
                  <a:schemeClr val="dk1"/>
                </a:solidFill>
              </a:rPr>
              <a:t>heat map</a:t>
            </a:r>
            <a:r>
              <a:rPr lang="en-GB" sz="1400">
                <a:solidFill>
                  <a:schemeClr val="dk1"/>
                </a:solidFill>
              </a:rPr>
              <a:t> is a graphical representation of data using colors.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🔹 Key Points:</a:t>
            </a:r>
            <a:endParaRPr sz="1600" b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Colors indicate magnitude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Often used with correlation matrix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Easy visual interpretation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>
                <a:solidFill>
                  <a:schemeClr val="dk1"/>
                </a:solidFill>
              </a:rPr>
              <a:t>🔹 Example Use: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Visualizing correlations in datasets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19" name="Google Shape;61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7175" y="1548725"/>
            <a:ext cx="4733650" cy="33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6" name="Google Shape;62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00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seaborn as sns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matplotlib.pyplot as plt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pandas as pd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Create a realistic dataset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{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'Maths': [85, 78, 92, 70, 88, 76, 95, 89],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'Physics': [80, 75, 90, 72, 85, 70, 93, 88],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'Chemistry': [78, 74, 88, 68, 82, 72, 91, 85],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'English': [90, 85, 87, 80, 86, 88, 92, 89],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'Computer': [95, 88, 94, 85, 90, 87, 96, 93]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01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df = pd.DataFrame(data)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Compute correlation matrix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corr_matrix = df.corr()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Plot heatmap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sns.heatmap(corr_matrix, annot=True)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plt.title("Correlation Heatmap of Student Marks")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plt.xlabel("Subjects")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plt.ylabel("Subjects")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plt.show()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45" name="Google Shape;64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5"/>
            <a:ext cx="525280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52" name="Google Shape;652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5750"/>
            <a:ext cx="85206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5180</Words>
  <Application>Microsoft Office PowerPoint</Application>
  <PresentationFormat>On-screen Show (16:9)</PresentationFormat>
  <Paragraphs>528</Paragraphs>
  <Slides>91</Slides>
  <Notes>91</Notes>
  <HiddenSlides>2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3" baseType="lpstr">
      <vt:lpstr>Arial</vt:lpstr>
      <vt:lpstr>Simple Light</vt:lpstr>
      <vt:lpstr>Exploratory Data Analysis (EDA)</vt:lpstr>
      <vt:lpstr>Elements of Structured data</vt:lpstr>
      <vt:lpstr>PowerPoint Presentation</vt:lpstr>
      <vt:lpstr>PowerPoint Presentation</vt:lpstr>
      <vt:lpstr>PowerPoint Presentation</vt:lpstr>
      <vt:lpstr>Rectangular Data</vt:lpstr>
      <vt:lpstr>Key Terms for Rectangular Data</vt:lpstr>
      <vt:lpstr>Example</vt:lpstr>
      <vt:lpstr>contd…</vt:lpstr>
      <vt:lpstr>Example </vt:lpstr>
      <vt:lpstr>Nonrectangular Data Structures</vt:lpstr>
      <vt:lpstr>PowerPoint Presentation</vt:lpstr>
      <vt:lpstr>PowerPoint Presentation</vt:lpstr>
      <vt:lpstr>PowerPoint Presentation</vt:lpstr>
      <vt:lpstr>PowerPoint Presentation</vt:lpstr>
      <vt:lpstr>Key Terms for Estimates of Location</vt:lpstr>
      <vt:lpstr>PowerPoint Presentation</vt:lpstr>
      <vt:lpstr>Mean / Average</vt:lpstr>
      <vt:lpstr>Trimmed Mean</vt:lpstr>
      <vt:lpstr>contd…</vt:lpstr>
      <vt:lpstr>Weighted Mean</vt:lpstr>
      <vt:lpstr>PowerPoint Presentation</vt:lpstr>
      <vt:lpstr>Median</vt:lpstr>
      <vt:lpstr>PowerPoint Presentation</vt:lpstr>
      <vt:lpstr>PowerPoint Presentation</vt:lpstr>
      <vt:lpstr>Outliers</vt:lpstr>
      <vt:lpstr>Example: Location Estimates of Population and Crime Rates</vt:lpstr>
      <vt:lpstr>PowerPoint Presentation</vt:lpstr>
      <vt:lpstr>Estimates of Variability</vt:lpstr>
      <vt:lpstr>Key Terms for Variability Metrics</vt:lpstr>
      <vt:lpstr>PowerPoint Presentation</vt:lpstr>
      <vt:lpstr>Standard Deviation and Related Estimates</vt:lpstr>
      <vt:lpstr>PowerPoint Presentation</vt:lpstr>
      <vt:lpstr>PowerPoint Presentation</vt:lpstr>
      <vt:lpstr>PowerPoint Presentation</vt:lpstr>
      <vt:lpstr>PowerPoint Presentation</vt:lpstr>
      <vt:lpstr>Robust Measures of Variability</vt:lpstr>
      <vt:lpstr>PowerPoint Presentation</vt:lpstr>
      <vt:lpstr>Estimates Based on Percentiles</vt:lpstr>
      <vt:lpstr>PowerPoint Presentation</vt:lpstr>
      <vt:lpstr>Exploring the Data Distribution</vt:lpstr>
      <vt:lpstr>Exploring the Data Distribution</vt:lpstr>
      <vt:lpstr>PowerPoint Presentation</vt:lpstr>
      <vt:lpstr>Percentiles and Boxplots</vt:lpstr>
      <vt:lpstr>PowerPoint Presentation</vt:lpstr>
      <vt:lpstr>PowerPoint Presentation</vt:lpstr>
      <vt:lpstr>Example program 1</vt:lpstr>
      <vt:lpstr>Bar chart Example</vt:lpstr>
      <vt:lpstr>Scatter plot example</vt:lpstr>
      <vt:lpstr>Using Pandas Dataset</vt:lpstr>
      <vt:lpstr>Try it yourself</vt:lpstr>
      <vt:lpstr>Frequency table</vt:lpstr>
      <vt:lpstr>Density Plots and Estimates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Exploring Binary and Categorical Data</vt:lpstr>
      <vt:lpstr>Mode</vt:lpstr>
      <vt:lpstr>PowerPoint Presentation</vt:lpstr>
      <vt:lpstr>PowerPoint Presentation</vt:lpstr>
      <vt:lpstr>Probability</vt:lpstr>
      <vt:lpstr>Correlation</vt:lpstr>
      <vt:lpstr>Key Terms for Correlation</vt:lpstr>
      <vt:lpstr>Scatterplots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Bar Chart</vt:lpstr>
      <vt:lpstr>Bar Chart</vt:lpstr>
      <vt:lpstr>PowerPoint Presentation</vt:lpstr>
      <vt:lpstr>Pie chart</vt:lpstr>
      <vt:lpstr>Pie chart</vt:lpstr>
      <vt:lpstr>Contour Plot</vt:lpstr>
      <vt:lpstr>Contour Plot</vt:lpstr>
      <vt:lpstr>Correlation Matrix</vt:lpstr>
      <vt:lpstr>PowerPoint Presentation</vt:lpstr>
      <vt:lpstr>Correlation Matrix</vt:lpstr>
      <vt:lpstr>Correlation Matrix</vt:lpstr>
      <vt:lpstr>Heat Maps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TARUN KUMAR</cp:lastModifiedBy>
  <cp:revision>1</cp:revision>
  <dcterms:modified xsi:type="dcterms:W3CDTF">2026-06-03T19:08:33Z</dcterms:modified>
</cp:coreProperties>
</file>