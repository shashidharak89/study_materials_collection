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62"/>
  </p:notesMasterIdLst>
  <p:sldIdLst>
    <p:sldId id="256" r:id="rId2"/>
    <p:sldId id="288" r:id="rId3"/>
    <p:sldId id="289" r:id="rId4"/>
    <p:sldId id="290" r:id="rId5"/>
    <p:sldId id="291" r:id="rId6"/>
    <p:sldId id="330" r:id="rId7"/>
    <p:sldId id="292" r:id="rId8"/>
    <p:sldId id="329" r:id="rId9"/>
    <p:sldId id="257" r:id="rId10"/>
    <p:sldId id="258" r:id="rId11"/>
    <p:sldId id="259" r:id="rId12"/>
    <p:sldId id="260" r:id="rId13"/>
    <p:sldId id="261" r:id="rId14"/>
    <p:sldId id="262" r:id="rId15"/>
    <p:sldId id="293" r:id="rId16"/>
    <p:sldId id="294" r:id="rId17"/>
    <p:sldId id="334" r:id="rId18"/>
    <p:sldId id="335" r:id="rId19"/>
    <p:sldId id="336" r:id="rId20"/>
    <p:sldId id="337" r:id="rId21"/>
    <p:sldId id="338" r:id="rId22"/>
    <p:sldId id="339" r:id="rId23"/>
    <p:sldId id="340" r:id="rId24"/>
    <p:sldId id="295" r:id="rId25"/>
    <p:sldId id="296" r:id="rId26"/>
    <p:sldId id="297" r:id="rId27"/>
    <p:sldId id="298" r:id="rId28"/>
    <p:sldId id="299" r:id="rId29"/>
    <p:sldId id="331"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6" r:id="rId47"/>
    <p:sldId id="317" r:id="rId48"/>
    <p:sldId id="318" r:id="rId49"/>
    <p:sldId id="319" r:id="rId50"/>
    <p:sldId id="320" r:id="rId51"/>
    <p:sldId id="321" r:id="rId52"/>
    <p:sldId id="332" r:id="rId53"/>
    <p:sldId id="322" r:id="rId54"/>
    <p:sldId id="323" r:id="rId55"/>
    <p:sldId id="324" r:id="rId56"/>
    <p:sldId id="325" r:id="rId57"/>
    <p:sldId id="326" r:id="rId58"/>
    <p:sldId id="333" r:id="rId59"/>
    <p:sldId id="327" r:id="rId60"/>
    <p:sldId id="328"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CB7853-0B82-4F03-9F98-31A67044D405}" type="datetimeFigureOut">
              <a:rPr lang="en-IN" smtClean="0"/>
              <a:t>19-10-2024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7AF8D6-C32B-4ABE-AD9A-3D47C10A2BE7}" type="slidenum">
              <a:rPr lang="en-IN" smtClean="0"/>
              <a:t>‹#›</a:t>
            </a:fld>
            <a:endParaRPr lang="en-IN"/>
          </a:p>
        </p:txBody>
      </p:sp>
    </p:spTree>
    <p:extLst>
      <p:ext uri="{BB962C8B-B14F-4D97-AF65-F5344CB8AC3E}">
        <p14:creationId xmlns:p14="http://schemas.microsoft.com/office/powerpoint/2010/main" val="3924168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A3AEA4-E3FA-4894-B5AD-FEAE603ECD32}"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75ED6B8-7026-43BE-99FA-96A6A8F59C87}" type="slidenum">
              <a:rPr lang="en-IN" smtClean="0"/>
              <a:t>‹#›</a:t>
            </a:fld>
            <a:endParaRPr lang="en-IN"/>
          </a:p>
        </p:txBody>
      </p:sp>
    </p:spTree>
    <p:extLst>
      <p:ext uri="{BB962C8B-B14F-4D97-AF65-F5344CB8AC3E}">
        <p14:creationId xmlns:p14="http://schemas.microsoft.com/office/powerpoint/2010/main" val="25493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A3AEA4-E3FA-4894-B5AD-FEAE603ECD32}"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383054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AA3AEA4-E3FA-4894-B5AD-FEAE603ECD32}" type="datetimeFigureOut">
              <a:rPr lang="en-IN" smtClean="0"/>
              <a:t>19-10-2024</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75ED6B8-7026-43BE-99FA-96A6A8F59C87}" type="slidenum">
              <a:rPr lang="en-IN" smtClean="0"/>
              <a:t>‹#›</a:t>
            </a:fld>
            <a:endParaRPr lang="en-IN"/>
          </a:p>
        </p:txBody>
      </p:sp>
    </p:spTree>
    <p:extLst>
      <p:ext uri="{BB962C8B-B14F-4D97-AF65-F5344CB8AC3E}">
        <p14:creationId xmlns:p14="http://schemas.microsoft.com/office/powerpoint/2010/main" val="2459518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3AEA4-E3FA-4894-B5AD-FEAE603ECD32}"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298952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A3AEA4-E3FA-4894-B5AD-FEAE603ECD32}" type="datetimeFigureOut">
              <a:rPr lang="en-IN" smtClean="0"/>
              <a:t>19-10-2024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504765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A3AEA4-E3FA-4894-B5AD-FEAE603ECD32}" type="datetimeFigureOut">
              <a:rPr lang="en-IN" smtClean="0"/>
              <a:t>19-10-2024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1526553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A3AEA4-E3FA-4894-B5AD-FEAE603ECD32}" type="datetimeFigureOut">
              <a:rPr lang="en-IN" smtClean="0"/>
              <a:t>19-10-2024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47099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A3AEA4-E3FA-4894-B5AD-FEAE603ECD32}"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2298290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A3AEA4-E3FA-4894-B5AD-FEAE603ECD32}" type="datetimeFigureOut">
              <a:rPr lang="en-IN" smtClean="0"/>
              <a:t>19-10-2024</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2003747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A3AEA4-E3FA-4894-B5AD-FEAE603ECD32}"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2456360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A3AEA4-E3FA-4894-B5AD-FEAE603ECD32}"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5ED6B8-7026-43BE-99FA-96A6A8F59C87}" type="slidenum">
              <a:rPr lang="en-IN" smtClean="0"/>
              <a:t>‹#›</a:t>
            </a:fld>
            <a:endParaRPr lang="en-IN"/>
          </a:p>
        </p:txBody>
      </p:sp>
    </p:spTree>
    <p:extLst>
      <p:ext uri="{BB962C8B-B14F-4D97-AF65-F5344CB8AC3E}">
        <p14:creationId xmlns:p14="http://schemas.microsoft.com/office/powerpoint/2010/main" val="3326395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AA3AEA4-E3FA-4894-B5AD-FEAE603ECD32}" type="datetimeFigureOut">
              <a:rPr lang="en-IN" smtClean="0"/>
              <a:t>19-10-2024</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75ED6B8-7026-43BE-99FA-96A6A8F59C87}" type="slidenum">
              <a:rPr lang="en-IN" smtClean="0"/>
              <a:t>‹#›</a:t>
            </a:fld>
            <a:endParaRPr lang="en-IN"/>
          </a:p>
        </p:txBody>
      </p:sp>
    </p:spTree>
    <p:extLst>
      <p:ext uri="{BB962C8B-B14F-4D97-AF65-F5344CB8AC3E}">
        <p14:creationId xmlns:p14="http://schemas.microsoft.com/office/powerpoint/2010/main" val="2673869711"/>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EECC-996D-4618-3E0F-AFFB87CB945B}"/>
              </a:ext>
            </a:extLst>
          </p:cNvPr>
          <p:cNvSpPr>
            <a:spLocks noGrp="1"/>
          </p:cNvSpPr>
          <p:nvPr>
            <p:ph type="ctrTitle"/>
          </p:nvPr>
        </p:nvSpPr>
        <p:spPr/>
        <p:txBody>
          <a:bodyPr/>
          <a:lstStyle/>
          <a:p>
            <a:r>
              <a:rPr lang="en-US" b="1" dirty="0"/>
              <a:t>Double Spending</a:t>
            </a:r>
            <a:endParaRPr lang="en-IN" b="1" dirty="0"/>
          </a:p>
        </p:txBody>
      </p:sp>
      <p:sp>
        <p:nvSpPr>
          <p:cNvPr id="3" name="Subtitle 2">
            <a:extLst>
              <a:ext uri="{FF2B5EF4-FFF2-40B4-BE49-F238E27FC236}">
                <a16:creationId xmlns:a16="http://schemas.microsoft.com/office/drawing/2014/main" id="{82BA057E-7C4D-3951-A871-946097D1B50A}"/>
              </a:ext>
            </a:extLst>
          </p:cNvPr>
          <p:cNvSpPr>
            <a:spLocks noGrp="1"/>
          </p:cNvSpPr>
          <p:nvPr>
            <p:ph type="subTitle" idx="1"/>
          </p:nvPr>
        </p:nvSpPr>
        <p:spPr/>
        <p:txBody>
          <a:bodyPr/>
          <a:lstStyle/>
          <a:p>
            <a:r>
              <a:rPr lang="en-US" dirty="0"/>
              <a:t>Unit- III</a:t>
            </a:r>
            <a:endParaRPr lang="en-IN" dirty="0"/>
          </a:p>
        </p:txBody>
      </p:sp>
    </p:spTree>
    <p:extLst>
      <p:ext uri="{BB962C8B-B14F-4D97-AF65-F5344CB8AC3E}">
        <p14:creationId xmlns:p14="http://schemas.microsoft.com/office/powerpoint/2010/main" val="4094671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3"/>
          <p:cNvSpPr txBox="1"/>
          <p:nvPr/>
        </p:nvSpPr>
        <p:spPr>
          <a:xfrm>
            <a:off x="196788" y="837045"/>
            <a:ext cx="11798423" cy="461664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i="0" u="none" strike="noStrike" cap="none" dirty="0">
                <a:latin typeface="Rockwell(body)"/>
                <a:ea typeface="Times New Roman"/>
                <a:cs typeface="Times New Roman"/>
                <a:sym typeface="Times New Roman"/>
              </a:rPr>
              <a:t>How Does Double Spending Happen?</a:t>
            </a:r>
            <a:endParaRPr dirty="0">
              <a:latin typeface="Rockwell(body)"/>
            </a:endParaRPr>
          </a:p>
          <a:p>
            <a:pPr marL="0" marR="0" lvl="0" indent="0" algn="just" rtl="0">
              <a:spcBef>
                <a:spcPts val="0"/>
              </a:spcBef>
              <a:spcAft>
                <a:spcPts val="0"/>
              </a:spcAft>
              <a:buNone/>
            </a:pPr>
            <a:endParaRPr sz="1800" b="1" i="0" u="none" strike="noStrike" cap="none" dirty="0">
              <a:latin typeface="Rockwell(body)"/>
              <a:ea typeface="Times New Roman"/>
              <a:cs typeface="Times New Roman"/>
              <a:sym typeface="Times New Roman"/>
            </a:endParaRPr>
          </a:p>
          <a:p>
            <a:pPr marL="0" marR="0" lvl="0" indent="0" algn="just" rtl="0">
              <a:spcBef>
                <a:spcPts val="0"/>
              </a:spcBef>
              <a:spcAft>
                <a:spcPts val="0"/>
              </a:spcAft>
              <a:buNone/>
            </a:pPr>
            <a:endParaRPr sz="1800" b="1" i="0" u="none" strike="noStrike" cap="none" dirty="0">
              <a:latin typeface="Rockwell(body)"/>
              <a:ea typeface="Times New Roman"/>
              <a:cs typeface="Times New Roman"/>
              <a:sym typeface="Times New Roman"/>
            </a:endParaRPr>
          </a:p>
          <a:p>
            <a:pPr marL="0" marR="0" lvl="0" indent="0" algn="just" rtl="0">
              <a:spcBef>
                <a:spcPts val="0"/>
              </a:spcBef>
              <a:spcAft>
                <a:spcPts val="0"/>
              </a:spcAft>
              <a:buNone/>
            </a:pPr>
            <a:r>
              <a:rPr lang="en-US" sz="2400" b="0" i="0" u="none" strike="noStrike" cap="none" dirty="0">
                <a:latin typeface="Rockwell(body)"/>
                <a:ea typeface="Times New Roman"/>
                <a:cs typeface="Times New Roman"/>
                <a:sym typeface="Times New Roman"/>
              </a:rPr>
              <a:t>Double spending can never arise physically. It can happen in online transactions. This mostly occurs when there is no authority to verify the transaction. It can also happen if the user’s wallet is not secured. Suppose a user wants to avail of services from Merchant ‘A’ and Merchant ‘B’. </a:t>
            </a:r>
            <a:endParaRPr dirty="0">
              <a:latin typeface="Rockwell(body)"/>
            </a:endParaRPr>
          </a:p>
          <a:p>
            <a:pPr marL="0" marR="0" lvl="0" indent="-152400" algn="just" rtl="0">
              <a:spcBef>
                <a:spcPts val="0"/>
              </a:spcBef>
              <a:spcAft>
                <a:spcPts val="0"/>
              </a:spcAft>
              <a:buClr>
                <a:srgbClr val="273239"/>
              </a:buClr>
              <a:buSzPts val="2400"/>
              <a:buFont typeface="Arial"/>
              <a:buChar char="•"/>
            </a:pPr>
            <a:r>
              <a:rPr lang="en-US" sz="2400" b="0" i="0" u="none" strike="noStrike" cap="none" dirty="0">
                <a:latin typeface="Rockwell(body)"/>
                <a:ea typeface="Times New Roman"/>
                <a:cs typeface="Times New Roman"/>
                <a:sym typeface="Times New Roman"/>
              </a:rPr>
              <a:t>The user first made a digital transaction with Merchant ‘A’. </a:t>
            </a:r>
            <a:endParaRPr dirty="0">
              <a:latin typeface="Rockwell(body)"/>
            </a:endParaRPr>
          </a:p>
          <a:p>
            <a:pPr marL="0" marR="0" lvl="0" indent="-152400" algn="just" rtl="0">
              <a:spcBef>
                <a:spcPts val="0"/>
              </a:spcBef>
              <a:spcAft>
                <a:spcPts val="0"/>
              </a:spcAft>
              <a:buClr>
                <a:srgbClr val="273239"/>
              </a:buClr>
              <a:buSzPts val="2400"/>
              <a:buFont typeface="Arial"/>
              <a:buChar char="•"/>
            </a:pPr>
            <a:r>
              <a:rPr lang="en-US" sz="2400" b="0" i="0" u="none" strike="noStrike" cap="none" dirty="0">
                <a:latin typeface="Rockwell(body)"/>
                <a:ea typeface="Times New Roman"/>
                <a:cs typeface="Times New Roman"/>
                <a:sym typeface="Times New Roman"/>
              </a:rPr>
              <a:t>The copy of the cryptocurrency is stored on the user’s computer. </a:t>
            </a:r>
            <a:endParaRPr dirty="0">
              <a:latin typeface="Rockwell(body)"/>
            </a:endParaRPr>
          </a:p>
          <a:p>
            <a:pPr marL="0" marR="0" lvl="0" indent="-152400" algn="just" rtl="0">
              <a:spcBef>
                <a:spcPts val="0"/>
              </a:spcBef>
              <a:spcAft>
                <a:spcPts val="0"/>
              </a:spcAft>
              <a:buClr>
                <a:srgbClr val="273239"/>
              </a:buClr>
              <a:buSzPts val="2400"/>
              <a:buFont typeface="Arial"/>
              <a:buChar char="•"/>
            </a:pPr>
            <a:r>
              <a:rPr lang="en-US" sz="2400" b="0" i="0" u="none" strike="noStrike" cap="none" dirty="0">
                <a:latin typeface="Rockwell(body)"/>
                <a:ea typeface="Times New Roman"/>
                <a:cs typeface="Times New Roman"/>
                <a:sym typeface="Times New Roman"/>
              </a:rPr>
              <a:t>So the user uses the same cryptocurrency to pay Merchant ‘B’  </a:t>
            </a:r>
            <a:endParaRPr dirty="0">
              <a:latin typeface="Rockwell(body)"/>
            </a:endParaRPr>
          </a:p>
          <a:p>
            <a:pPr marL="0" marR="0" lvl="0" indent="-152400" algn="just" rtl="0">
              <a:spcBef>
                <a:spcPts val="0"/>
              </a:spcBef>
              <a:spcAft>
                <a:spcPts val="0"/>
              </a:spcAft>
              <a:buClr>
                <a:srgbClr val="273239"/>
              </a:buClr>
              <a:buSzPts val="2400"/>
              <a:buFont typeface="Arial"/>
              <a:buChar char="•"/>
            </a:pPr>
            <a:r>
              <a:rPr lang="en-US" sz="2400" b="0" i="0" u="none" strike="noStrike" cap="none" dirty="0">
                <a:latin typeface="Rockwell(body)"/>
                <a:ea typeface="Times New Roman"/>
                <a:cs typeface="Times New Roman"/>
                <a:sym typeface="Times New Roman"/>
              </a:rPr>
              <a:t>Now both the merchants have the illusion that the money has been credited since the transactions were not confirmed by the miners. </a:t>
            </a:r>
            <a:endParaRPr dirty="0">
              <a:latin typeface="Rockwell(body)"/>
            </a:endParaRPr>
          </a:p>
          <a:p>
            <a:pPr marL="0" marR="0" lvl="0" indent="0" algn="just" rtl="0">
              <a:spcBef>
                <a:spcPts val="0"/>
              </a:spcBef>
              <a:spcAft>
                <a:spcPts val="0"/>
              </a:spcAft>
              <a:buNone/>
            </a:pPr>
            <a:r>
              <a:rPr lang="en-US" sz="2400" b="0" i="0" u="none" strike="noStrike" cap="none" dirty="0">
                <a:latin typeface="Rockwell(body)"/>
                <a:ea typeface="Times New Roman"/>
                <a:cs typeface="Times New Roman"/>
                <a:sym typeface="Times New Roman"/>
              </a:rPr>
              <a:t>This is the case of double spending. </a:t>
            </a:r>
            <a:endParaRPr dirty="0">
              <a:latin typeface="Rockwell(bod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34"/>
          <p:cNvPicPr preferRelativeResize="0"/>
          <p:nvPr/>
        </p:nvPicPr>
        <p:blipFill rotWithShape="1">
          <a:blip r:embed="rId3">
            <a:alphaModFix/>
          </a:blip>
          <a:srcRect/>
          <a:stretch/>
        </p:blipFill>
        <p:spPr>
          <a:xfrm>
            <a:off x="710214" y="1066595"/>
            <a:ext cx="10759736" cy="47248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5"/>
          <p:cNvSpPr txBox="1"/>
          <p:nvPr/>
        </p:nvSpPr>
        <p:spPr>
          <a:xfrm>
            <a:off x="0" y="272456"/>
            <a:ext cx="11807301" cy="280072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b="1" i="0" u="none" strike="noStrike" cap="none" dirty="0">
                <a:solidFill>
                  <a:srgbClr val="273239"/>
                </a:solidFill>
                <a:latin typeface="Rockwell(body)"/>
                <a:ea typeface="Times New Roman"/>
                <a:cs typeface="Times New Roman"/>
                <a:sym typeface="Times New Roman"/>
              </a:rPr>
              <a:t>Example: </a:t>
            </a:r>
            <a:r>
              <a:rPr lang="en-US" sz="2200" b="0" i="0" u="none" strike="noStrike" cap="none" dirty="0">
                <a:solidFill>
                  <a:srgbClr val="273239"/>
                </a:solidFill>
                <a:latin typeface="Rockwell(body)"/>
                <a:ea typeface="Times New Roman"/>
                <a:cs typeface="Times New Roman"/>
                <a:sym typeface="Times New Roman"/>
              </a:rPr>
              <a:t>Suppose a user has 1 BTC. </a:t>
            </a:r>
            <a:r>
              <a:rPr lang="en-US" sz="2200" b="0" i="0" u="none" strike="noStrike" cap="none" dirty="0" err="1">
                <a:solidFill>
                  <a:srgbClr val="273239"/>
                </a:solidFill>
                <a:latin typeface="Rockwell(body)"/>
                <a:ea typeface="Times New Roman"/>
                <a:cs typeface="Times New Roman"/>
                <a:sym typeface="Times New Roman"/>
              </a:rPr>
              <a:t>He/She</a:t>
            </a:r>
            <a:r>
              <a:rPr lang="en-US" sz="2200" b="0" i="0" u="none" strike="noStrike" cap="none" dirty="0">
                <a:solidFill>
                  <a:srgbClr val="273239"/>
                </a:solidFill>
                <a:latin typeface="Rockwell(body)"/>
                <a:ea typeface="Times New Roman"/>
                <a:cs typeface="Times New Roman"/>
                <a:sym typeface="Times New Roman"/>
              </a:rPr>
              <a:t> wants to avail of services from merchant A and merchant B. The user creates multiple copies of the same BTC and stores it. The user first sends the original BTC to Merchant A and gets the service. Simultaneously, the user sends the copied version of 1 BTC to Merchant B. Since the second transaction was not confirmed by other miners, the merchant accepts the bitcoin and sends the service. But the cryptocurrency that was sent is invalid. This is the case of Double Spending.</a:t>
            </a:r>
            <a:endParaRPr sz="2200" dirty="0">
              <a:latin typeface="Rockwell(body)"/>
            </a:endParaRPr>
          </a:p>
          <a:p>
            <a:pPr marL="0" marR="0" lvl="0" indent="0" algn="l" rtl="0">
              <a:spcBef>
                <a:spcPts val="0"/>
              </a:spcBef>
              <a:spcAft>
                <a:spcPts val="0"/>
              </a:spcAft>
              <a:buNone/>
            </a:pPr>
            <a:br>
              <a:rPr lang="en-US" sz="2200" b="0" i="0" u="none" strike="noStrike" cap="none" dirty="0">
                <a:solidFill>
                  <a:schemeClr val="dk1"/>
                </a:solidFill>
                <a:latin typeface="Rockwell(body)"/>
                <a:ea typeface="Calibri"/>
                <a:cs typeface="Calibri"/>
                <a:sym typeface="Calibri"/>
              </a:rPr>
            </a:br>
            <a:endParaRPr sz="2200" dirty="0">
              <a:solidFill>
                <a:schemeClr val="dk1"/>
              </a:solidFill>
              <a:latin typeface="Rockwell(body)"/>
              <a:ea typeface="Calibri"/>
              <a:cs typeface="Calibri"/>
              <a:sym typeface="Calibri"/>
            </a:endParaRPr>
          </a:p>
        </p:txBody>
      </p:sp>
      <p:pic>
        <p:nvPicPr>
          <p:cNvPr id="279" name="Google Shape;279;p35"/>
          <p:cNvPicPr preferRelativeResize="0"/>
          <p:nvPr/>
        </p:nvPicPr>
        <p:blipFill rotWithShape="1">
          <a:blip r:embed="rId3">
            <a:alphaModFix/>
          </a:blip>
          <a:srcRect t="6739" b="2434"/>
          <a:stretch/>
        </p:blipFill>
        <p:spPr>
          <a:xfrm>
            <a:off x="518046" y="2628900"/>
            <a:ext cx="10290100" cy="4229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6"/>
          <p:cNvSpPr txBox="1">
            <a:spLocks noGrp="1"/>
          </p:cNvSpPr>
          <p:nvPr>
            <p:ph idx="1"/>
          </p:nvPr>
        </p:nvSpPr>
        <p:spPr>
          <a:xfrm>
            <a:off x="371475" y="1057275"/>
            <a:ext cx="11315700" cy="507968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273239"/>
              </a:buClr>
              <a:buSzPct val="100000"/>
              <a:buNone/>
            </a:pPr>
            <a:r>
              <a:rPr lang="en-US" sz="2800" b="0" i="0" dirty="0">
                <a:latin typeface="Rockwell(body)"/>
                <a:ea typeface="Times New Roman"/>
                <a:cs typeface="Times New Roman"/>
                <a:sym typeface="Times New Roman"/>
              </a:rPr>
              <a:t>Let us discuss a detailed example of how bitcoin handles double-spending.</a:t>
            </a:r>
            <a:endParaRPr dirty="0">
              <a:latin typeface="Rockwell(body)"/>
            </a:endParaRPr>
          </a:p>
          <a:p>
            <a:pPr marL="0" lvl="0" indent="0" algn="just" rtl="0">
              <a:lnSpc>
                <a:spcPct val="90000"/>
              </a:lnSpc>
              <a:spcBef>
                <a:spcPts val="1000"/>
              </a:spcBef>
              <a:spcAft>
                <a:spcPts val="0"/>
              </a:spcAft>
              <a:buClr>
                <a:schemeClr val="dk1"/>
              </a:buClr>
              <a:buSzPct val="100000"/>
              <a:buNone/>
            </a:pPr>
            <a:endParaRPr sz="2800" b="0" i="0" dirty="0">
              <a:latin typeface="Rockwell(body)"/>
              <a:ea typeface="Times New Roman"/>
              <a:cs typeface="Times New Roman"/>
              <a:sym typeface="Times New Roman"/>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a:sym typeface="Times New Roman"/>
              </a:rPr>
              <a:t>A user wants to spend 2 BTC. </a:t>
            </a:r>
            <a:r>
              <a:rPr lang="en-US" sz="2800" b="0" i="0" dirty="0" err="1">
                <a:latin typeface="Rockwell(body)"/>
                <a:ea typeface="Times New Roman"/>
                <a:cs typeface="Times New Roman"/>
                <a:sym typeface="Times New Roman"/>
              </a:rPr>
              <a:t>He/She</a:t>
            </a:r>
            <a:r>
              <a:rPr lang="en-US" sz="2800" b="0" i="0" dirty="0">
                <a:latin typeface="Rockwell(body)"/>
                <a:ea typeface="Times New Roman"/>
                <a:cs typeface="Times New Roman"/>
                <a:sym typeface="Times New Roman"/>
              </a:rPr>
              <a:t> can create multiple copies of the same cryptocurrency. </a:t>
            </a:r>
            <a:endParaRPr dirty="0">
              <a:latin typeface="Rockwell(body)"/>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a:sym typeface="Times New Roman"/>
              </a:rPr>
              <a:t>The user can send the same cryptocurrency to two different addresses say ‘Bob’ and ‘Alice’. </a:t>
            </a:r>
            <a:endParaRPr dirty="0">
              <a:latin typeface="Rockwell(body)"/>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a:sym typeface="Times New Roman"/>
              </a:rPr>
              <a:t>Both of these transactions are sent to the pool of unconfirmed transactions. </a:t>
            </a:r>
            <a:endParaRPr dirty="0">
              <a:latin typeface="Rockwell(bod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6323A0-B870-ADAC-608B-4E480A5A8FA7}"/>
              </a:ext>
            </a:extLst>
          </p:cNvPr>
          <p:cNvSpPr>
            <a:spLocks noGrp="1"/>
          </p:cNvSpPr>
          <p:nvPr>
            <p:ph idx="1"/>
          </p:nvPr>
        </p:nvSpPr>
        <p:spPr>
          <a:xfrm>
            <a:off x="555497" y="706945"/>
            <a:ext cx="11145965" cy="4979479"/>
          </a:xfrm>
        </p:spPr>
        <p:txBody>
          <a:bodyPr>
            <a:noAutofit/>
          </a:bodyPr>
          <a:lstStyle/>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The first transaction T1 would be approved via the confirmation mechanism. </a:t>
            </a:r>
          </a:p>
          <a:p>
            <a:pPr marL="0" lvl="0" indent="0" algn="just" rtl="0">
              <a:lnSpc>
                <a:spcPct val="90000"/>
              </a:lnSpc>
              <a:spcBef>
                <a:spcPts val="1000"/>
              </a:spcBef>
              <a:spcAft>
                <a:spcPts val="0"/>
              </a:spcAft>
              <a:buClr>
                <a:srgbClr val="273239"/>
              </a:buClr>
              <a:buSzPct val="100000"/>
              <a:buNone/>
            </a:pPr>
            <a:endParaRPr lang="en-US" sz="2800" dirty="0">
              <a:latin typeface="Rockwell(body)"/>
              <a:cs typeface="Times New Roman" panose="02020603050405020304" pitchFamily="18" charset="0"/>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The confirmation mechanism states that a minimum of six confirmations by miners should be done for block validation. The block is added to the network. </a:t>
            </a:r>
          </a:p>
          <a:p>
            <a:pPr marL="0" lvl="0" indent="0" algn="just" rtl="0">
              <a:lnSpc>
                <a:spcPct val="90000"/>
              </a:lnSpc>
              <a:spcBef>
                <a:spcPts val="1000"/>
              </a:spcBef>
              <a:spcAft>
                <a:spcPts val="0"/>
              </a:spcAft>
              <a:buClr>
                <a:srgbClr val="273239"/>
              </a:buClr>
              <a:buSzPct val="100000"/>
              <a:buNone/>
            </a:pPr>
            <a:endParaRPr lang="en-US" sz="2800" dirty="0">
              <a:latin typeface="Rockwell(body)"/>
              <a:cs typeface="Times New Roman" panose="02020603050405020304" pitchFamily="18" charset="0"/>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However, the second transaction T2 didn’t get sufficient confirmation so it would be recognized as invalid by the confirmation process. The block with the highest number of confirmations is accepted and the other one is rejected. So transaction T1 is valid, and Alice received the bitcoin.</a:t>
            </a:r>
            <a:endParaRPr lang="en-US" sz="2800" dirty="0">
              <a:latin typeface="Rockwell(body)"/>
              <a:cs typeface="Times New Roman" panose="02020603050405020304" pitchFamily="18" charset="0"/>
            </a:endParaRPr>
          </a:p>
          <a:p>
            <a:pPr marL="0" indent="0">
              <a:buNone/>
            </a:pPr>
            <a:endParaRPr lang="en-IN" sz="2800" dirty="0">
              <a:latin typeface="Rockwell(body)"/>
              <a:cs typeface="Times New Roman" panose="02020603050405020304" pitchFamily="18" charset="0"/>
            </a:endParaRPr>
          </a:p>
        </p:txBody>
      </p:sp>
    </p:spTree>
    <p:extLst>
      <p:ext uri="{BB962C8B-B14F-4D97-AF65-F5344CB8AC3E}">
        <p14:creationId xmlns:p14="http://schemas.microsoft.com/office/powerpoint/2010/main" val="30058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7"/>
          <p:cNvSpPr txBox="1">
            <a:spLocks noGrp="1"/>
          </p:cNvSpPr>
          <p:nvPr>
            <p:ph idx="1"/>
          </p:nvPr>
        </p:nvSpPr>
        <p:spPr>
          <a:xfrm>
            <a:off x="285750" y="341376"/>
            <a:ext cx="11501438" cy="5835587"/>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273239"/>
              </a:buClr>
              <a:buSzPct val="100000"/>
              <a:buNone/>
            </a:pPr>
            <a:r>
              <a:rPr lang="en-US" sz="3600" b="1" i="0" dirty="0">
                <a:latin typeface="Rockwell(body)"/>
                <a:ea typeface="Times New Roman"/>
                <a:cs typeface="Times New Roman" panose="02020603050405020304" pitchFamily="18" charset="0"/>
                <a:sym typeface="Times New Roman"/>
              </a:rPr>
              <a:t>How to Combat Double Spending?</a:t>
            </a:r>
            <a:endParaRPr dirty="0">
              <a:latin typeface="Rockwell(body)"/>
              <a:cs typeface="Times New Roman" panose="02020603050405020304" pitchFamily="18" charset="0"/>
            </a:endParaRPr>
          </a:p>
          <a:p>
            <a:pPr marL="228600" lvl="0" indent="-104140" algn="just" rtl="0">
              <a:lnSpc>
                <a:spcPct val="90000"/>
              </a:lnSpc>
              <a:spcBef>
                <a:spcPts val="1000"/>
              </a:spcBef>
              <a:spcAft>
                <a:spcPts val="0"/>
              </a:spcAft>
              <a:buClr>
                <a:schemeClr val="dk1"/>
              </a:buClr>
              <a:buSzPct val="100000"/>
              <a:buNone/>
            </a:pPr>
            <a:endParaRPr b="1" dirty="0">
              <a:latin typeface="Rockwell(body)"/>
              <a:ea typeface="Arial"/>
              <a:cs typeface="Times New Roman" panose="02020603050405020304" pitchFamily="18" charset="0"/>
              <a:sym typeface="Arial"/>
            </a:endParaRPr>
          </a:p>
          <a:p>
            <a:pPr marL="228600" lvl="0" indent="-104140" algn="just" rtl="0">
              <a:lnSpc>
                <a:spcPct val="90000"/>
              </a:lnSpc>
              <a:spcBef>
                <a:spcPts val="1000"/>
              </a:spcBef>
              <a:spcAft>
                <a:spcPts val="0"/>
              </a:spcAft>
              <a:buClr>
                <a:schemeClr val="dk1"/>
              </a:buClr>
              <a:buSzPct val="100000"/>
              <a:buNone/>
            </a:pPr>
            <a:endParaRPr b="1" i="0" dirty="0">
              <a:latin typeface="Rockwell(body)"/>
              <a:ea typeface="Arial"/>
              <a:cs typeface="Times New Roman" panose="02020603050405020304" pitchFamily="18" charset="0"/>
              <a:sym typeface="Arial"/>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Double spending has been minimized to a large extent as companies are using many security features. But we as users also have some responsibility so that such attacks don’t happen.</a:t>
            </a:r>
            <a:endParaRPr dirty="0">
              <a:latin typeface="Rockwell(body)"/>
              <a:cs typeface="Times New Roman" panose="02020603050405020304" pitchFamily="18" charset="0"/>
            </a:endParaRPr>
          </a:p>
          <a:p>
            <a:pPr marL="228600" lvl="0" indent="-104140" algn="just" rtl="0">
              <a:lnSpc>
                <a:spcPct val="90000"/>
              </a:lnSpc>
              <a:spcBef>
                <a:spcPts val="1000"/>
              </a:spcBef>
              <a:spcAft>
                <a:spcPts val="0"/>
              </a:spcAft>
              <a:buClr>
                <a:schemeClr val="dk1"/>
              </a:buClr>
              <a:buSzPct val="100000"/>
              <a:buNone/>
            </a:pPr>
            <a:endParaRPr sz="2800" b="0" i="0" dirty="0">
              <a:latin typeface="Rockwell(body)"/>
              <a:ea typeface="Times New Roman"/>
              <a:cs typeface="Times New Roman" panose="02020603050405020304" pitchFamily="18" charset="0"/>
              <a:sym typeface="Times New Roman"/>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Any user should wait for a minimum of six confirmations of the transaction before performing another transaction. In the blockchain, more the confirmations by different users, lesser will be double spending attacks.</a:t>
            </a:r>
            <a:endParaRPr dirty="0">
              <a:latin typeface="Rockwell(body)"/>
              <a:cs typeface="Times New Roman" panose="02020603050405020304" pitchFamily="18" charset="0"/>
            </a:endParaRPr>
          </a:p>
          <a:p>
            <a:pPr marL="0" lvl="0" indent="0" algn="l" rtl="0">
              <a:lnSpc>
                <a:spcPct val="90000"/>
              </a:lnSpc>
              <a:spcBef>
                <a:spcPts val="1000"/>
              </a:spcBef>
              <a:spcAft>
                <a:spcPts val="0"/>
              </a:spcAft>
              <a:buClr>
                <a:schemeClr val="dk1"/>
              </a:buClr>
              <a:buSzPct val="100000"/>
              <a:buNone/>
            </a:pPr>
            <a:endParaRPr dirty="0">
              <a:latin typeface="Rockwell(body)"/>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D1EB8F-ABEC-3C60-7AA9-08CE56EFEB06}"/>
              </a:ext>
            </a:extLst>
          </p:cNvPr>
          <p:cNvSpPr>
            <a:spLocks noGrp="1"/>
          </p:cNvSpPr>
          <p:nvPr>
            <p:ph idx="1"/>
          </p:nvPr>
        </p:nvSpPr>
        <p:spPr>
          <a:xfrm>
            <a:off x="441198" y="771524"/>
            <a:ext cx="11288840" cy="5057775"/>
          </a:xfrm>
        </p:spPr>
        <p:txBody>
          <a:bodyPr>
            <a:noAutofit/>
          </a:bodyPr>
          <a:lstStyle/>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Users should keep their hardware resources safe so that hackers do not misuse them for their own purposes. Often hackers target the hardware part because the hardware is costly. If they somehow steal the hardware, they can roll back any transaction or alter information.</a:t>
            </a:r>
            <a:endParaRPr lang="en-US" sz="2800" dirty="0">
              <a:latin typeface="Rockwell(body)"/>
              <a:cs typeface="Times New Roman" panose="02020603050405020304" pitchFamily="18" charset="0"/>
            </a:endParaRPr>
          </a:p>
          <a:p>
            <a:pPr marL="228600" lvl="0" indent="-104140" algn="just" rtl="0">
              <a:lnSpc>
                <a:spcPct val="90000"/>
              </a:lnSpc>
              <a:spcBef>
                <a:spcPts val="1000"/>
              </a:spcBef>
              <a:spcAft>
                <a:spcPts val="0"/>
              </a:spcAft>
              <a:buClr>
                <a:schemeClr val="dk1"/>
              </a:buClr>
              <a:buSzPct val="100000"/>
              <a:buFont typeface="Arial"/>
              <a:buNone/>
            </a:pPr>
            <a:endParaRPr lang="en-US" sz="2800" b="0" i="0" dirty="0">
              <a:latin typeface="Rockwell(body)"/>
              <a:ea typeface="Times New Roman"/>
              <a:cs typeface="Times New Roman" panose="02020603050405020304" pitchFamily="18" charset="0"/>
              <a:sym typeface="Times New Roman"/>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Users should delete spam mails and avoid phishing to avoid unnecessary malware attacks Phishing is a very common attack by hackers as hackers target login credentials. </a:t>
            </a:r>
            <a:endParaRPr lang="en-US" sz="2800" dirty="0">
              <a:latin typeface="Rockwell(body)"/>
              <a:cs typeface="Times New Roman" panose="02020603050405020304" pitchFamily="18" charset="0"/>
            </a:endParaRPr>
          </a:p>
          <a:p>
            <a:pPr marL="228600" lvl="0" indent="-104140" algn="just" rtl="0">
              <a:lnSpc>
                <a:spcPct val="90000"/>
              </a:lnSpc>
              <a:spcBef>
                <a:spcPts val="1000"/>
              </a:spcBef>
              <a:spcAft>
                <a:spcPts val="0"/>
              </a:spcAft>
              <a:buClr>
                <a:schemeClr val="dk1"/>
              </a:buClr>
              <a:buSzPct val="100000"/>
              <a:buNone/>
            </a:pPr>
            <a:endParaRPr lang="en-US" sz="2800" b="0" i="0" dirty="0">
              <a:latin typeface="Rockwell(body)"/>
              <a:ea typeface="Times New Roman"/>
              <a:cs typeface="Times New Roman" panose="02020603050405020304" pitchFamily="18" charset="0"/>
              <a:sym typeface="Times New Roman"/>
            </a:endParaRPr>
          </a:p>
          <a:p>
            <a:pPr marL="0" lvl="0" indent="0" algn="just" rtl="0">
              <a:lnSpc>
                <a:spcPct val="90000"/>
              </a:lnSpc>
              <a:spcBef>
                <a:spcPts val="1000"/>
              </a:spcBef>
              <a:spcAft>
                <a:spcPts val="0"/>
              </a:spcAft>
              <a:buClr>
                <a:srgbClr val="273239"/>
              </a:buClr>
              <a:buSzPct val="100000"/>
              <a:buNone/>
            </a:pPr>
            <a:r>
              <a:rPr lang="en-US" sz="2800" b="0" i="0" dirty="0">
                <a:latin typeface="Rockwell(body)"/>
                <a:ea typeface="Times New Roman"/>
                <a:cs typeface="Times New Roman" panose="02020603050405020304" pitchFamily="18" charset="0"/>
                <a:sym typeface="Times New Roman"/>
              </a:rPr>
              <a:t>Software should be updated regularly with the latest antivirus installed. If the software is not up to date then the bugs present can cause major damage.</a:t>
            </a:r>
            <a:endParaRPr lang="en-US" sz="2800" dirty="0">
              <a:latin typeface="Rockwell(body)"/>
              <a:cs typeface="Times New Roman" panose="02020603050405020304" pitchFamily="18" charset="0"/>
            </a:endParaRPr>
          </a:p>
          <a:p>
            <a:pPr marL="0" indent="0">
              <a:buNone/>
            </a:pPr>
            <a:endParaRPr lang="en-IN" sz="2800" dirty="0">
              <a:latin typeface="Rockwell(body)"/>
            </a:endParaRPr>
          </a:p>
        </p:txBody>
      </p:sp>
    </p:spTree>
    <p:extLst>
      <p:ext uri="{BB962C8B-B14F-4D97-AF65-F5344CB8AC3E}">
        <p14:creationId xmlns:p14="http://schemas.microsoft.com/office/powerpoint/2010/main" val="1101999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DC12-8209-136C-43CF-EFA4535FCA6F}"/>
              </a:ext>
            </a:extLst>
          </p:cNvPr>
          <p:cNvSpPr>
            <a:spLocks noGrp="1"/>
          </p:cNvSpPr>
          <p:nvPr>
            <p:ph type="title"/>
          </p:nvPr>
        </p:nvSpPr>
        <p:spPr/>
        <p:txBody>
          <a:bodyPr/>
          <a:lstStyle/>
          <a:p>
            <a:r>
              <a:rPr lang="en-IN" b="1" dirty="0"/>
              <a:t>Hashing in Blockchain</a:t>
            </a:r>
          </a:p>
        </p:txBody>
      </p:sp>
      <p:sp>
        <p:nvSpPr>
          <p:cNvPr id="3" name="Content Placeholder 2">
            <a:extLst>
              <a:ext uri="{FF2B5EF4-FFF2-40B4-BE49-F238E27FC236}">
                <a16:creationId xmlns:a16="http://schemas.microsoft.com/office/drawing/2014/main" id="{D155A3EC-C87E-2CFB-C942-EC5F54E31A61}"/>
              </a:ext>
            </a:extLst>
          </p:cNvPr>
          <p:cNvSpPr>
            <a:spLocks noGrp="1"/>
          </p:cNvSpPr>
          <p:nvPr>
            <p:ph idx="1"/>
          </p:nvPr>
        </p:nvSpPr>
        <p:spPr>
          <a:xfrm>
            <a:off x="657225" y="2121408"/>
            <a:ext cx="11129963" cy="4050792"/>
          </a:xfrm>
        </p:spPr>
        <p:txBody>
          <a:bodyPr>
            <a:normAutofit/>
          </a:bodyPr>
          <a:lstStyle/>
          <a:p>
            <a:pPr marL="0" indent="0" algn="just">
              <a:buNone/>
            </a:pPr>
            <a:r>
              <a:rPr lang="en-US" sz="2800" dirty="0"/>
              <a:t>Hashing is the process of converting an input (or 'message') into a fixed-size string of bytes. </a:t>
            </a:r>
          </a:p>
          <a:p>
            <a:pPr marL="0" indent="0" algn="just">
              <a:buNone/>
            </a:pPr>
            <a:r>
              <a:rPr lang="en-US" sz="2800" dirty="0"/>
              <a:t>The hash value is quickly computed.</a:t>
            </a:r>
          </a:p>
          <a:p>
            <a:pPr marL="0" indent="0" algn="just">
              <a:buNone/>
            </a:pPr>
            <a:r>
              <a:rPr lang="en-US" sz="2800" dirty="0"/>
              <a:t>Even a tiny change in the input will produce a significantly different hash.</a:t>
            </a:r>
            <a:endParaRPr lang="en-IN" sz="2800" dirty="0"/>
          </a:p>
        </p:txBody>
      </p:sp>
    </p:spTree>
    <p:extLst>
      <p:ext uri="{BB962C8B-B14F-4D97-AF65-F5344CB8AC3E}">
        <p14:creationId xmlns:p14="http://schemas.microsoft.com/office/powerpoint/2010/main" val="1553370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66D16-C96C-83D1-55C2-6704666B98E0}"/>
              </a:ext>
            </a:extLst>
          </p:cNvPr>
          <p:cNvSpPr>
            <a:spLocks noGrp="1"/>
          </p:cNvSpPr>
          <p:nvPr>
            <p:ph idx="1"/>
          </p:nvPr>
        </p:nvSpPr>
        <p:spPr>
          <a:xfrm>
            <a:off x="414337" y="571501"/>
            <a:ext cx="11215687" cy="5614987"/>
          </a:xfrm>
        </p:spPr>
        <p:txBody>
          <a:bodyPr>
            <a:normAutofit/>
          </a:bodyPr>
          <a:lstStyle/>
          <a:p>
            <a:pPr marL="0" indent="0" algn="just">
              <a:buNone/>
            </a:pPr>
            <a:r>
              <a:rPr lang="en-US" sz="2800" dirty="0"/>
              <a:t>Each block in a blockchain has a unique hash, which is created from the data within the block. This hash serves as a digital fingerprint of the block.</a:t>
            </a:r>
          </a:p>
          <a:p>
            <a:pPr marL="0" indent="0" algn="just">
              <a:buNone/>
            </a:pPr>
            <a:endParaRPr lang="en-US" sz="2800" b="1" dirty="0"/>
          </a:p>
          <a:p>
            <a:pPr marL="0" indent="0" algn="just">
              <a:buNone/>
            </a:pPr>
            <a:r>
              <a:rPr lang="en-US" sz="2800" dirty="0"/>
              <a:t>Each block contains the hash of the previous block, creating a chain of blocks. This ensures the integrity of the blockchain, as altering one block would change its hash, thereby breaking the chain.</a:t>
            </a:r>
          </a:p>
          <a:p>
            <a:pPr marL="0" indent="0" algn="just">
              <a:buNone/>
            </a:pPr>
            <a:endParaRPr lang="en-US" sz="2800" dirty="0"/>
          </a:p>
          <a:p>
            <a:pPr marL="0" indent="0" algn="just">
              <a:buNone/>
            </a:pPr>
            <a:r>
              <a:rPr lang="en-US" sz="2800" dirty="0"/>
              <a:t>Common Hashing Algorithms in Blockchain is </a:t>
            </a:r>
            <a:r>
              <a:rPr lang="en-US" sz="2800" b="1" dirty="0"/>
              <a:t>SHA-256 </a:t>
            </a:r>
            <a:r>
              <a:rPr lang="en-US" sz="2800" dirty="0"/>
              <a:t>which is used by Bitcoin and many other blockchain systems. It produces a 256-bit hash.</a:t>
            </a:r>
          </a:p>
          <a:p>
            <a:pPr marL="0" indent="0" algn="just">
              <a:buNone/>
            </a:pPr>
            <a:endParaRPr lang="en-IN" sz="2800" dirty="0"/>
          </a:p>
        </p:txBody>
      </p:sp>
    </p:spTree>
    <p:extLst>
      <p:ext uri="{BB962C8B-B14F-4D97-AF65-F5344CB8AC3E}">
        <p14:creationId xmlns:p14="http://schemas.microsoft.com/office/powerpoint/2010/main" val="97227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 | Free Full-Text | Crypto Hash Algorithm-Based Blockchain Technology for  Managing Decentralized Ledger Database in Oil and Gas Industry">
            <a:extLst>
              <a:ext uri="{FF2B5EF4-FFF2-40B4-BE49-F238E27FC236}">
                <a16:creationId xmlns:a16="http://schemas.microsoft.com/office/drawing/2014/main" id="{2D1A1A37-028F-6885-C732-44C6A042ED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6724" y="1325117"/>
            <a:ext cx="11411975" cy="3389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884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C48CCD-A012-40A8-D662-A824B2AF9574}"/>
              </a:ext>
            </a:extLst>
          </p:cNvPr>
          <p:cNvSpPr>
            <a:spLocks noGrp="1"/>
          </p:cNvSpPr>
          <p:nvPr>
            <p:ph idx="1"/>
          </p:nvPr>
        </p:nvSpPr>
        <p:spPr>
          <a:xfrm>
            <a:off x="642937" y="949833"/>
            <a:ext cx="10701337" cy="4050792"/>
          </a:xfrm>
        </p:spPr>
        <p:txBody>
          <a:bodyPr>
            <a:normAutofit/>
          </a:bodyPr>
          <a:lstStyle/>
          <a:p>
            <a:pPr marL="0" indent="0" algn="just">
              <a:buNone/>
            </a:pPr>
            <a:r>
              <a:rPr lang="en-US" sz="2800" b="0" i="0" dirty="0">
                <a:effectLst/>
                <a:latin typeface="Rockwell(body)"/>
                <a:cs typeface="Times New Roman" panose="02020603050405020304" pitchFamily="18" charset="0"/>
              </a:rPr>
              <a:t>The size of the hash will depend on the hash function utilized, but the output using a particular hashing algorithm will be of a specific size.</a:t>
            </a:r>
          </a:p>
          <a:p>
            <a:pPr marL="0" indent="0" algn="just">
              <a:buNone/>
            </a:pPr>
            <a:endParaRPr lang="en-US" sz="2800" b="1" i="0" dirty="0">
              <a:effectLst/>
              <a:latin typeface="Rockwell(body)"/>
              <a:cs typeface="Times New Roman" panose="02020603050405020304" pitchFamily="18" charset="0"/>
            </a:endParaRPr>
          </a:p>
          <a:p>
            <a:pPr marL="0" indent="0" algn="just">
              <a:buNone/>
            </a:pPr>
            <a:r>
              <a:rPr lang="en-US" sz="2800" b="1" i="0" dirty="0">
                <a:effectLst/>
                <a:latin typeface="Rockwell(body)"/>
                <a:cs typeface="Times New Roman" panose="02020603050405020304" pitchFamily="18" charset="0"/>
              </a:rPr>
              <a:t>Example:</a:t>
            </a:r>
            <a:br>
              <a:rPr lang="en-US" sz="2800" b="0" i="0" dirty="0">
                <a:effectLst/>
                <a:latin typeface="Rockwell(body)"/>
                <a:cs typeface="Times New Roman" panose="02020603050405020304" pitchFamily="18" charset="0"/>
              </a:rPr>
            </a:br>
            <a:r>
              <a:rPr lang="en-US" sz="2800" b="0" i="0" dirty="0">
                <a:effectLst/>
                <a:latin typeface="Rockwell(body)"/>
                <a:cs typeface="Times New Roman" panose="02020603050405020304" pitchFamily="18" charset="0"/>
              </a:rPr>
              <a:t>When you take a YouTube video of say 50 megabytes and hash it using SHA-256, the output will be a hash of 256-bits in length. Similarly, if you take a text message of 5 kilobytes, the output hash will still be 256-bits.</a:t>
            </a:r>
          </a:p>
          <a:p>
            <a:pPr marL="0" indent="0" algn="just">
              <a:buNone/>
            </a:pPr>
            <a:endParaRPr lang="en-IN" dirty="0">
              <a:latin typeface="Rockwell(body)"/>
            </a:endParaRPr>
          </a:p>
        </p:txBody>
      </p:sp>
    </p:spTree>
    <p:extLst>
      <p:ext uri="{BB962C8B-B14F-4D97-AF65-F5344CB8AC3E}">
        <p14:creationId xmlns:p14="http://schemas.microsoft.com/office/powerpoint/2010/main" val="396789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3D59-C3AA-2EE7-55EA-50B1A291615D}"/>
              </a:ext>
            </a:extLst>
          </p:cNvPr>
          <p:cNvSpPr>
            <a:spLocks noGrp="1"/>
          </p:cNvSpPr>
          <p:nvPr>
            <p:ph type="title"/>
          </p:nvPr>
        </p:nvSpPr>
        <p:spPr/>
        <p:txBody>
          <a:bodyPr>
            <a:normAutofit/>
          </a:bodyPr>
          <a:lstStyle/>
          <a:p>
            <a:r>
              <a:rPr lang="en-US" sz="4400" b="1" i="0" dirty="0">
                <a:solidFill>
                  <a:schemeClr val="tx1"/>
                </a:solidFill>
                <a:effectLst/>
                <a:latin typeface="Rockwell Condensed(header)"/>
                <a:cs typeface="Times New Roman" panose="02020603050405020304" pitchFamily="18" charset="0"/>
              </a:rPr>
              <a:t>Characteristics of cryptographic hash functions</a:t>
            </a:r>
            <a:endParaRPr lang="en-IN" dirty="0">
              <a:solidFill>
                <a:schemeClr val="tx1"/>
              </a:solidFill>
              <a:latin typeface="Rockwell Condensed(header)"/>
            </a:endParaRPr>
          </a:p>
        </p:txBody>
      </p:sp>
      <p:sp>
        <p:nvSpPr>
          <p:cNvPr id="3" name="Content Placeholder 2">
            <a:extLst>
              <a:ext uri="{FF2B5EF4-FFF2-40B4-BE49-F238E27FC236}">
                <a16:creationId xmlns:a16="http://schemas.microsoft.com/office/drawing/2014/main" id="{C1C75233-4C4A-F913-1661-1AE93D26ECE3}"/>
              </a:ext>
            </a:extLst>
          </p:cNvPr>
          <p:cNvSpPr>
            <a:spLocks noGrp="1"/>
          </p:cNvSpPr>
          <p:nvPr>
            <p:ph idx="1"/>
          </p:nvPr>
        </p:nvSpPr>
        <p:spPr>
          <a:xfrm>
            <a:off x="645319" y="2330577"/>
            <a:ext cx="10901362" cy="4050792"/>
          </a:xfrm>
        </p:spPr>
        <p:txBody>
          <a:bodyPr>
            <a:normAutofit/>
          </a:bodyPr>
          <a:lstStyle/>
          <a:p>
            <a:pPr marL="0" indent="0" algn="just">
              <a:buNone/>
            </a:pPr>
            <a:r>
              <a:rPr lang="en-US" sz="2800" b="1" i="0" dirty="0">
                <a:effectLst/>
                <a:latin typeface="Rockwell(body)"/>
              </a:rPr>
              <a:t>Deterministic</a:t>
            </a:r>
          </a:p>
          <a:p>
            <a:pPr marL="0" indent="0" algn="just">
              <a:buNone/>
            </a:pPr>
            <a:r>
              <a:rPr lang="en-US" sz="2800" b="0" i="0" dirty="0">
                <a:effectLst/>
                <a:latin typeface="Rockwell(body)"/>
              </a:rPr>
              <a:t>A hash function needs to have a fixed or specific output. What this means is that it doesn’t matter what number of times you process a given input using a hash function; the result is always of the same length. The hashes will be random and of different patterns, but the same size/length.</a:t>
            </a:r>
            <a:endParaRPr lang="en-IN" dirty="0">
              <a:latin typeface="Rockwell(body)"/>
            </a:endParaRPr>
          </a:p>
        </p:txBody>
      </p:sp>
    </p:spTree>
    <p:extLst>
      <p:ext uri="{BB962C8B-B14F-4D97-AF65-F5344CB8AC3E}">
        <p14:creationId xmlns:p14="http://schemas.microsoft.com/office/powerpoint/2010/main" val="527333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B01F28-8654-0987-95EE-FDDF56724EEA}"/>
              </a:ext>
            </a:extLst>
          </p:cNvPr>
          <p:cNvSpPr>
            <a:spLocks noGrp="1"/>
          </p:cNvSpPr>
          <p:nvPr>
            <p:ph idx="1"/>
          </p:nvPr>
        </p:nvSpPr>
        <p:spPr>
          <a:xfrm>
            <a:off x="584073" y="549783"/>
            <a:ext cx="11103102" cy="4050792"/>
          </a:xfrm>
        </p:spPr>
        <p:txBody>
          <a:bodyPr>
            <a:normAutofit/>
          </a:bodyPr>
          <a:lstStyle/>
          <a:p>
            <a:pPr marL="0" indent="0" algn="just">
              <a:buNone/>
            </a:pPr>
            <a:r>
              <a:rPr lang="en-US" sz="2800" b="1" i="0" dirty="0">
                <a:effectLst/>
                <a:latin typeface="Rockwell(body)"/>
                <a:cs typeface="Times New Roman" panose="02020603050405020304" pitchFamily="18" charset="0"/>
              </a:rPr>
              <a:t>Quick Computation</a:t>
            </a:r>
          </a:p>
          <a:p>
            <a:pPr marL="0" indent="0" algn="just">
              <a:buNone/>
            </a:pPr>
            <a:r>
              <a:rPr lang="en-US" sz="2800" b="0" i="0" dirty="0">
                <a:effectLst/>
                <a:latin typeface="Rockwell(body)"/>
                <a:cs typeface="Times New Roman" panose="02020603050405020304" pitchFamily="18" charset="0"/>
              </a:rPr>
              <a:t>In blockchain technology, a good hash function would be one that performs quick computations for every data input. It may be difficult to find the input data for a hash, but computing or calculating the hash should be ideally very fast. For instance, you can have the hash result of a simple “hi” within a fraction of a second. Similarly, the hash of a very large file will be received within a fraction of a second.</a:t>
            </a:r>
          </a:p>
          <a:p>
            <a:pPr marL="0" indent="0">
              <a:buNone/>
            </a:pPr>
            <a:endParaRPr lang="en-IN" sz="2800" dirty="0">
              <a:latin typeface="Rockwell(body)"/>
            </a:endParaRPr>
          </a:p>
        </p:txBody>
      </p:sp>
    </p:spTree>
    <p:extLst>
      <p:ext uri="{BB962C8B-B14F-4D97-AF65-F5344CB8AC3E}">
        <p14:creationId xmlns:p14="http://schemas.microsoft.com/office/powerpoint/2010/main" val="2757811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83D3F6-7CF1-D0FC-C4AD-EC59EDBD71C6}"/>
              </a:ext>
            </a:extLst>
          </p:cNvPr>
          <p:cNvSpPr>
            <a:spLocks noGrp="1"/>
          </p:cNvSpPr>
          <p:nvPr>
            <p:ph idx="1"/>
          </p:nvPr>
        </p:nvSpPr>
        <p:spPr>
          <a:xfrm>
            <a:off x="555497" y="549783"/>
            <a:ext cx="11260265" cy="4050792"/>
          </a:xfrm>
        </p:spPr>
        <p:txBody>
          <a:bodyPr>
            <a:noAutofit/>
          </a:bodyPr>
          <a:lstStyle/>
          <a:p>
            <a:pPr marL="0" indent="0" algn="just">
              <a:buNone/>
            </a:pPr>
            <a:r>
              <a:rPr lang="en-US" sz="2800" b="1" i="0" dirty="0">
                <a:effectLst/>
                <a:latin typeface="Rockwell(body)"/>
                <a:cs typeface="Times New Roman" panose="02020603050405020304" pitchFamily="18" charset="0"/>
              </a:rPr>
              <a:t>Different hashes for every input (Randomized)</a:t>
            </a:r>
            <a:r>
              <a:rPr lang="en-US" sz="2800" b="0" i="0" dirty="0">
                <a:effectLst/>
                <a:latin typeface="Rockwell(body)"/>
                <a:cs typeface="Times New Roman" panose="02020603050405020304" pitchFamily="18" charset="0"/>
              </a:rPr>
              <a:t> Hash functions produce different outputs for every input, even if the input data differs by only a digit or letter. For instance, the hash of the word “Alpha” should be completely different from the hash of the word “Alpha1”.</a:t>
            </a:r>
          </a:p>
          <a:p>
            <a:pPr marL="0" indent="0" algn="just">
              <a:buNone/>
            </a:pPr>
            <a:endParaRPr lang="en-US" sz="2800" dirty="0">
              <a:latin typeface="Rockwell(body)"/>
              <a:cs typeface="Times New Roman" panose="02020603050405020304" pitchFamily="18" charset="0"/>
            </a:endParaRPr>
          </a:p>
          <a:p>
            <a:pPr marL="0" indent="0" algn="just">
              <a:buNone/>
            </a:pPr>
            <a:r>
              <a:rPr lang="en-US" sz="2800" b="1" i="0" dirty="0">
                <a:effectLst/>
                <a:latin typeface="Rockwell(body)"/>
                <a:cs typeface="Times New Roman" panose="02020603050405020304" pitchFamily="18" charset="0"/>
              </a:rPr>
              <a:t>Collision resistant</a:t>
            </a:r>
          </a:p>
          <a:p>
            <a:pPr marL="0" indent="0" algn="just">
              <a:buNone/>
            </a:pPr>
            <a:r>
              <a:rPr lang="en-US" sz="2800" b="0" i="0" dirty="0">
                <a:effectLst/>
                <a:latin typeface="Rockwell(body)"/>
                <a:cs typeface="Times New Roman" panose="02020603050405020304" pitchFamily="18" charset="0"/>
              </a:rPr>
              <a:t>Cryptographic hash functions are also supposed to have collision resistant properties. Collisions can occur in cases where a hash function gives similar outputs for different inputs. For example, if “pic1” is photo and “pic2” is a video, but a hash function produces the same output, then we call that a collision. Normally, this should not happen.</a:t>
            </a:r>
            <a:endParaRPr lang="en-IN" sz="2800" dirty="0">
              <a:latin typeface="Rockwell(body)"/>
            </a:endParaRPr>
          </a:p>
        </p:txBody>
      </p:sp>
    </p:spTree>
    <p:extLst>
      <p:ext uri="{BB962C8B-B14F-4D97-AF65-F5344CB8AC3E}">
        <p14:creationId xmlns:p14="http://schemas.microsoft.com/office/powerpoint/2010/main" val="2990007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0CAC2D-EBE4-D7DD-452D-C471F2F8F77D}"/>
              </a:ext>
            </a:extLst>
          </p:cNvPr>
          <p:cNvSpPr>
            <a:spLocks noGrp="1"/>
          </p:cNvSpPr>
          <p:nvPr>
            <p:ph idx="1"/>
          </p:nvPr>
        </p:nvSpPr>
        <p:spPr>
          <a:xfrm>
            <a:off x="798385" y="835533"/>
            <a:ext cx="10731628" cy="4050792"/>
          </a:xfrm>
        </p:spPr>
        <p:txBody>
          <a:bodyPr>
            <a:normAutofit/>
          </a:bodyPr>
          <a:lstStyle/>
          <a:p>
            <a:pPr marL="0" indent="0" algn="just">
              <a:buNone/>
            </a:pPr>
            <a:r>
              <a:rPr lang="en-US" sz="2800" b="1" i="0" dirty="0">
                <a:effectLst/>
                <a:latin typeface="Rockwell(body)"/>
                <a:cs typeface="Times New Roman" panose="02020603050405020304" pitchFamily="18" charset="0"/>
              </a:rPr>
              <a:t>Pre-image resistance</a:t>
            </a:r>
          </a:p>
          <a:p>
            <a:pPr marL="0" indent="0" algn="just">
              <a:buNone/>
            </a:pPr>
            <a:r>
              <a:rPr lang="en-US" sz="2800" b="0" i="0" dirty="0">
                <a:effectLst/>
                <a:latin typeface="Rockwell(body)"/>
                <a:cs typeface="Times New Roman" panose="02020603050405020304" pitchFamily="18" charset="0"/>
              </a:rPr>
              <a:t>One of the important properties of secure cryptographic hash functions is they are one-way. Let’s take it this way: given a hash of a particular transaction, it should be virtually impossible or practically infeasible to determine the original input data using this output.</a:t>
            </a:r>
            <a:endParaRPr lang="en-IN" sz="2800" dirty="0">
              <a:latin typeface="Rockwell(body)"/>
            </a:endParaRPr>
          </a:p>
        </p:txBody>
      </p:sp>
    </p:spTree>
    <p:extLst>
      <p:ext uri="{BB962C8B-B14F-4D97-AF65-F5344CB8AC3E}">
        <p14:creationId xmlns:p14="http://schemas.microsoft.com/office/powerpoint/2010/main" val="70082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88A7-BE04-DB4C-977B-341B66D87E1D}"/>
              </a:ext>
            </a:extLst>
          </p:cNvPr>
          <p:cNvSpPr>
            <a:spLocks noGrp="1"/>
          </p:cNvSpPr>
          <p:nvPr>
            <p:ph type="title"/>
          </p:nvPr>
        </p:nvSpPr>
        <p:spPr/>
        <p:txBody>
          <a:bodyPr/>
          <a:lstStyle/>
          <a:p>
            <a:r>
              <a:rPr lang="en-US" sz="4400" b="1" i="0" dirty="0">
                <a:solidFill>
                  <a:srgbClr val="273239"/>
                </a:solidFill>
                <a:effectLst/>
                <a:latin typeface="Times New Roman" panose="02020603050405020304" pitchFamily="18" charset="0"/>
                <a:cs typeface="Times New Roman" panose="02020603050405020304" pitchFamily="18" charset="0"/>
              </a:rPr>
              <a:t>Types Of Double Spending Attacks</a:t>
            </a:r>
            <a:endParaRPr lang="en-IN" dirty="0"/>
          </a:p>
        </p:txBody>
      </p:sp>
      <p:sp>
        <p:nvSpPr>
          <p:cNvPr id="3" name="Content Placeholder 2">
            <a:extLst>
              <a:ext uri="{FF2B5EF4-FFF2-40B4-BE49-F238E27FC236}">
                <a16:creationId xmlns:a16="http://schemas.microsoft.com/office/drawing/2014/main" id="{AA86EC45-0C71-B13D-E47C-B685FA4765AE}"/>
              </a:ext>
            </a:extLst>
          </p:cNvPr>
          <p:cNvSpPr>
            <a:spLocks noGrp="1"/>
          </p:cNvSpPr>
          <p:nvPr>
            <p:ph idx="1"/>
          </p:nvPr>
        </p:nvSpPr>
        <p:spPr/>
        <p:txBody>
          <a:bodyPr>
            <a:normAutofit/>
          </a:bodyPr>
          <a:lstStyle/>
          <a:p>
            <a:pPr algn="just" fontAlgn="base"/>
            <a:endParaRPr lang="en-US" sz="2800" b="1" i="0" dirty="0">
              <a:effectLst/>
              <a:latin typeface="Times New Roman" panose="02020603050405020304" pitchFamily="18" charset="0"/>
              <a:cs typeface="Times New Roman" panose="02020603050405020304" pitchFamily="18" charset="0"/>
            </a:endParaRPr>
          </a:p>
          <a:p>
            <a:pPr marL="0" indent="0" algn="just" fontAlgn="base">
              <a:buNone/>
            </a:pPr>
            <a:r>
              <a:rPr lang="en-US" sz="2800" b="0" i="0" dirty="0">
                <a:effectLst/>
                <a:latin typeface="Times New Roman" panose="02020603050405020304" pitchFamily="18" charset="0"/>
                <a:cs typeface="Times New Roman" panose="02020603050405020304" pitchFamily="18" charset="0"/>
              </a:rPr>
              <a:t>There are different types of Double Spending attacks:</a:t>
            </a:r>
          </a:p>
          <a:p>
            <a:pPr marL="0" indent="0" algn="just" fontAlgn="base">
              <a:buNone/>
            </a:pPr>
            <a:endParaRPr lang="en-US" sz="2800" b="1" i="0" dirty="0">
              <a:effectLst/>
              <a:latin typeface="Times New Roman" panose="02020603050405020304" pitchFamily="18" charset="0"/>
              <a:cs typeface="Times New Roman" panose="02020603050405020304" pitchFamily="18" charset="0"/>
            </a:endParaRPr>
          </a:p>
          <a:p>
            <a:pPr marL="0" indent="0" algn="just" fontAlgn="base">
              <a:buNone/>
            </a:pPr>
            <a:r>
              <a:rPr lang="en-US" sz="2800" b="1" i="0" dirty="0">
                <a:effectLst/>
                <a:latin typeface="Times New Roman" panose="02020603050405020304" pitchFamily="18" charset="0"/>
                <a:cs typeface="Times New Roman" panose="02020603050405020304" pitchFamily="18" charset="0"/>
              </a:rPr>
              <a:t>Finney Attack:</a:t>
            </a:r>
          </a:p>
          <a:p>
            <a:pPr marL="0" indent="0" algn="just" fontAlgn="base">
              <a:buNone/>
            </a:pPr>
            <a:r>
              <a:rPr lang="en-US" sz="2800" b="0" i="0" dirty="0">
                <a:effectLst/>
                <a:latin typeface="Times New Roman" panose="02020603050405020304" pitchFamily="18" charset="0"/>
                <a:cs typeface="Times New Roman" panose="02020603050405020304" pitchFamily="18" charset="0"/>
              </a:rPr>
              <a:t> </a:t>
            </a:r>
          </a:p>
          <a:p>
            <a:pPr marL="0" indent="0" algn="just">
              <a:buNone/>
            </a:pPr>
            <a:r>
              <a:rPr lang="en-US" dirty="0"/>
              <a:t>A </a:t>
            </a:r>
            <a:r>
              <a:rPr lang="en-US" b="1" dirty="0"/>
              <a:t>Finney attack</a:t>
            </a:r>
            <a:r>
              <a:rPr lang="en-US" dirty="0"/>
              <a:t> is a type of double-spending attack in blockchain systems which exploits the time gap between when a transaction is created and when it is broadcasted to the blockchain network.</a:t>
            </a:r>
            <a:endParaRPr lang="en-IN" dirty="0"/>
          </a:p>
        </p:txBody>
      </p:sp>
    </p:spTree>
    <p:extLst>
      <p:ext uri="{BB962C8B-B14F-4D97-AF65-F5344CB8AC3E}">
        <p14:creationId xmlns:p14="http://schemas.microsoft.com/office/powerpoint/2010/main" val="1325842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36467-47A0-B0A9-9DB3-D262EAAD9F7B}"/>
              </a:ext>
            </a:extLst>
          </p:cNvPr>
          <p:cNvSpPr>
            <a:spLocks noGrp="1"/>
          </p:cNvSpPr>
          <p:nvPr>
            <p:ph type="title"/>
          </p:nvPr>
        </p:nvSpPr>
        <p:spPr/>
        <p:txBody>
          <a:bodyPr/>
          <a:lstStyle/>
          <a:p>
            <a:r>
              <a:rPr lang="en-US" b="1" dirty="0"/>
              <a:t>Scenario</a:t>
            </a:r>
            <a:endParaRPr lang="en-IN" b="1" dirty="0"/>
          </a:p>
        </p:txBody>
      </p:sp>
      <p:sp>
        <p:nvSpPr>
          <p:cNvPr id="3" name="Content Placeholder 2">
            <a:extLst>
              <a:ext uri="{FF2B5EF4-FFF2-40B4-BE49-F238E27FC236}">
                <a16:creationId xmlns:a16="http://schemas.microsoft.com/office/drawing/2014/main" id="{5084533A-61C4-A5C6-6F69-3893F2A2C47C}"/>
              </a:ext>
            </a:extLst>
          </p:cNvPr>
          <p:cNvSpPr>
            <a:spLocks noGrp="1"/>
          </p:cNvSpPr>
          <p:nvPr>
            <p:ph idx="1"/>
          </p:nvPr>
        </p:nvSpPr>
        <p:spPr/>
        <p:txBody>
          <a:bodyPr/>
          <a:lstStyle/>
          <a:p>
            <a:pPr marL="0" indent="0" algn="just">
              <a:buNone/>
            </a:pPr>
            <a:r>
              <a:rPr lang="en-US" dirty="0"/>
              <a:t>Attacker named </a:t>
            </a:r>
            <a:r>
              <a:rPr lang="en-US" b="1" dirty="0"/>
              <a:t>Alice </a:t>
            </a:r>
            <a:r>
              <a:rPr lang="en-US" dirty="0"/>
              <a:t>owns one Bitcoin</a:t>
            </a:r>
          </a:p>
          <a:p>
            <a:pPr marL="0" indent="0" algn="just">
              <a:buNone/>
            </a:pPr>
            <a:r>
              <a:rPr lang="en-US" dirty="0"/>
              <a:t>Alice has the power to mine blocks in the Bitcoin network</a:t>
            </a:r>
          </a:p>
          <a:p>
            <a:pPr marL="0" indent="0" algn="just">
              <a:buNone/>
            </a:pPr>
            <a:r>
              <a:rPr lang="en-US" dirty="0"/>
              <a:t>Merchant </a:t>
            </a:r>
            <a:r>
              <a:rPr lang="en-US" b="1" dirty="0"/>
              <a:t>Bob</a:t>
            </a:r>
            <a:r>
              <a:rPr lang="en-US" dirty="0"/>
              <a:t> sells expensive electronic</a:t>
            </a:r>
          </a:p>
          <a:p>
            <a:pPr marL="0" indent="0" algn="just">
              <a:buNone/>
            </a:pPr>
            <a:r>
              <a:rPr lang="en-US" dirty="0"/>
              <a:t>Alice sends </a:t>
            </a:r>
            <a:r>
              <a:rPr lang="en-US" b="1" dirty="0"/>
              <a:t>1 Bitcoin (BTC)</a:t>
            </a:r>
            <a:r>
              <a:rPr lang="en-US" dirty="0"/>
              <a:t> to </a:t>
            </a:r>
            <a:r>
              <a:rPr lang="en-US" b="1" dirty="0"/>
              <a:t>herself</a:t>
            </a:r>
          </a:p>
          <a:p>
            <a:pPr marL="0" indent="0" algn="just">
              <a:buNone/>
            </a:pPr>
            <a:r>
              <a:rPr lang="en-US" dirty="0"/>
              <a:t>Alice starts mining and successfully mines a new block</a:t>
            </a:r>
            <a:endParaRPr lang="en-US" b="1" dirty="0"/>
          </a:p>
          <a:p>
            <a:pPr marL="0" indent="0" algn="just">
              <a:buNone/>
            </a:pPr>
            <a:r>
              <a:rPr lang="en-US" dirty="0"/>
              <a:t>This transaction is valid, but Alice doesn’t broadcast it to the Bitcoin network yet</a:t>
            </a:r>
            <a:endParaRPr lang="en-US" b="1" dirty="0"/>
          </a:p>
          <a:p>
            <a:pPr marL="0" indent="0" algn="just">
              <a:buNone/>
            </a:pPr>
            <a:r>
              <a:rPr lang="en-US" dirty="0"/>
              <a:t>She keeps this block </a:t>
            </a:r>
            <a:r>
              <a:rPr lang="en-US" b="1" dirty="0"/>
              <a:t>secret</a:t>
            </a:r>
            <a:endParaRPr lang="en-IN" dirty="0"/>
          </a:p>
        </p:txBody>
      </p:sp>
    </p:spTree>
    <p:extLst>
      <p:ext uri="{BB962C8B-B14F-4D97-AF65-F5344CB8AC3E}">
        <p14:creationId xmlns:p14="http://schemas.microsoft.com/office/powerpoint/2010/main" val="177029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E0BFCA-12FC-6CB4-89F9-5800D774DA46}"/>
              </a:ext>
            </a:extLst>
          </p:cNvPr>
          <p:cNvSpPr>
            <a:spLocks noGrp="1"/>
          </p:cNvSpPr>
          <p:nvPr>
            <p:ph idx="1"/>
          </p:nvPr>
        </p:nvSpPr>
        <p:spPr>
          <a:xfrm>
            <a:off x="838200" y="828676"/>
            <a:ext cx="10515600" cy="5348288"/>
          </a:xfrm>
        </p:spPr>
        <p:txBody>
          <a:bodyPr>
            <a:normAutofit/>
          </a:bodyPr>
          <a:lstStyle/>
          <a:p>
            <a:pPr marL="0" indent="0" algn="just">
              <a:buNone/>
            </a:pPr>
            <a:r>
              <a:rPr lang="en-US" dirty="0"/>
              <a:t>Alice then goes to </a:t>
            </a:r>
            <a:r>
              <a:rPr lang="en-US" b="1" dirty="0"/>
              <a:t>Bob's electronics store</a:t>
            </a:r>
            <a:r>
              <a:rPr lang="en-US" dirty="0"/>
              <a:t> and buys a laptop for </a:t>
            </a:r>
            <a:r>
              <a:rPr lang="en-US" b="1" dirty="0"/>
              <a:t>1 BTC</a:t>
            </a:r>
          </a:p>
          <a:p>
            <a:pPr marL="0" indent="0" algn="just">
              <a:buNone/>
            </a:pPr>
            <a:r>
              <a:rPr lang="en-US" dirty="0"/>
              <a:t>She gives Bob a new transaction</a:t>
            </a:r>
            <a:endParaRPr lang="en-US" b="1" dirty="0"/>
          </a:p>
          <a:p>
            <a:pPr marL="0" indent="0" algn="just">
              <a:buNone/>
            </a:pPr>
            <a:r>
              <a:rPr lang="en-US" dirty="0"/>
              <a:t>Bob checks the transaction and sees that it's valid but </a:t>
            </a:r>
            <a:r>
              <a:rPr lang="en-US" b="1" dirty="0"/>
              <a:t>not fully confirmed yet</a:t>
            </a:r>
          </a:p>
          <a:p>
            <a:pPr marL="0" indent="0" algn="just">
              <a:buNone/>
            </a:pPr>
            <a:r>
              <a:rPr lang="en-US" dirty="0"/>
              <a:t>Bob trusts Alice and agrees to give her the laptop before the transaction is fully confirmed by the network.</a:t>
            </a:r>
            <a:endParaRPr lang="en-US" b="1" dirty="0"/>
          </a:p>
          <a:p>
            <a:pPr marL="0" indent="0" algn="just">
              <a:buNone/>
            </a:pPr>
            <a:r>
              <a:rPr lang="en-US" dirty="0"/>
              <a:t>After getting the laptop, Alice quickly broadcasts the secret block she mined earlier, which contains the </a:t>
            </a:r>
            <a:r>
              <a:rPr lang="en-US" b="1" dirty="0"/>
              <a:t>first transaction</a:t>
            </a:r>
          </a:p>
          <a:p>
            <a:pPr marL="0" indent="0" algn="just">
              <a:buNone/>
            </a:pPr>
            <a:r>
              <a:rPr lang="en-US" dirty="0"/>
              <a:t>Alice gets the </a:t>
            </a:r>
            <a:r>
              <a:rPr lang="en-US" b="1" dirty="0"/>
              <a:t>laptop for free</a:t>
            </a:r>
            <a:r>
              <a:rPr lang="en-US" dirty="0"/>
              <a:t> because Bob's transaction is now canceled</a:t>
            </a:r>
            <a:endParaRPr lang="en-IN" dirty="0"/>
          </a:p>
        </p:txBody>
      </p:sp>
    </p:spTree>
    <p:extLst>
      <p:ext uri="{BB962C8B-B14F-4D97-AF65-F5344CB8AC3E}">
        <p14:creationId xmlns:p14="http://schemas.microsoft.com/office/powerpoint/2010/main" val="502186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2BA7-110A-F3C2-459D-89E4D6F5D3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393A1D-BCAF-B4E7-E9FB-D0474EA07898}"/>
              </a:ext>
            </a:extLst>
          </p:cNvPr>
          <p:cNvSpPr>
            <a:spLocks noGrp="1"/>
          </p:cNvSpPr>
          <p:nvPr>
            <p:ph idx="1"/>
          </p:nvPr>
        </p:nvSpPr>
        <p:spPr/>
        <p:txBody>
          <a:bodyPr/>
          <a:lstStyle/>
          <a:p>
            <a:pPr marL="0" indent="0" algn="just" fontAlgn="base">
              <a:buNone/>
            </a:pPr>
            <a:r>
              <a:rPr lang="en-US" sz="2800" b="1" i="0" dirty="0">
                <a:effectLst/>
                <a:latin typeface="Times New Roman" panose="02020603050405020304" pitchFamily="18" charset="0"/>
                <a:cs typeface="Times New Roman" panose="02020603050405020304" pitchFamily="18" charset="0"/>
              </a:rPr>
              <a:t>Race attack: </a:t>
            </a:r>
            <a:r>
              <a:rPr lang="en-US" sz="2800" b="0" i="0" dirty="0">
                <a:effectLst/>
                <a:latin typeface="Times New Roman" panose="02020603050405020304" pitchFamily="18" charset="0"/>
                <a:cs typeface="Times New Roman" panose="02020603050405020304" pitchFamily="18" charset="0"/>
              </a:rPr>
              <a:t>is an attack in which there is a ‘race’ between two transactions. </a:t>
            </a:r>
          </a:p>
          <a:p>
            <a:pPr marL="0" indent="0" algn="just" fontAlgn="base">
              <a:buNone/>
            </a:pPr>
            <a:r>
              <a:rPr lang="en-US" sz="2800" b="0" i="0" dirty="0">
                <a:effectLst/>
                <a:latin typeface="Times New Roman" panose="02020603050405020304" pitchFamily="18" charset="0"/>
                <a:cs typeface="Times New Roman" panose="02020603050405020304" pitchFamily="18" charset="0"/>
              </a:rPr>
              <a:t>The attacker sends the same money using different machines to two different merchants. The merchants send their goods but transactions get invalid.</a:t>
            </a:r>
          </a:p>
          <a:p>
            <a:pPr marL="0" indent="0">
              <a:buNone/>
            </a:pPr>
            <a:endParaRPr lang="en-IN" dirty="0"/>
          </a:p>
        </p:txBody>
      </p:sp>
    </p:spTree>
    <p:extLst>
      <p:ext uri="{BB962C8B-B14F-4D97-AF65-F5344CB8AC3E}">
        <p14:creationId xmlns:p14="http://schemas.microsoft.com/office/powerpoint/2010/main" val="3403093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FEC9A9-2EE2-D7EA-A2AD-9B0215694971}"/>
              </a:ext>
            </a:extLst>
          </p:cNvPr>
          <p:cNvSpPr>
            <a:spLocks noGrp="1"/>
          </p:cNvSpPr>
          <p:nvPr>
            <p:ph idx="1"/>
          </p:nvPr>
        </p:nvSpPr>
        <p:spPr/>
        <p:txBody>
          <a:bodyPr/>
          <a:lstStyle/>
          <a:p>
            <a:pPr marL="0" indent="0" algn="just">
              <a:buNone/>
            </a:pPr>
            <a:r>
              <a:rPr lang="en-US" dirty="0"/>
              <a:t>Alice creates </a:t>
            </a:r>
            <a:r>
              <a:rPr lang="en-US" b="1" dirty="0"/>
              <a:t>two transactions</a:t>
            </a:r>
            <a:r>
              <a:rPr lang="en-US" dirty="0"/>
              <a:t> using the same Bitcoin:</a:t>
            </a:r>
          </a:p>
          <a:p>
            <a:pPr marL="0" indent="0" algn="just">
              <a:buNone/>
            </a:pPr>
            <a:r>
              <a:rPr lang="en-US" b="1" dirty="0"/>
              <a:t>Transaction A</a:t>
            </a:r>
            <a:r>
              <a:rPr lang="en-US" dirty="0"/>
              <a:t>: Alice sends </a:t>
            </a:r>
            <a:r>
              <a:rPr lang="en-US" b="1" dirty="0"/>
              <a:t>1 BTC to Bob</a:t>
            </a:r>
            <a:r>
              <a:rPr lang="en-US" dirty="0"/>
              <a:t> to pay for an item.</a:t>
            </a:r>
          </a:p>
          <a:p>
            <a:pPr marL="0" indent="0" algn="just">
              <a:buNone/>
            </a:pPr>
            <a:r>
              <a:rPr lang="en-US" b="1" dirty="0"/>
              <a:t>Transaction B</a:t>
            </a:r>
            <a:r>
              <a:rPr lang="en-US" dirty="0"/>
              <a:t>: At the same time, Alice creates another transaction where she sends the </a:t>
            </a:r>
            <a:r>
              <a:rPr lang="en-US" b="1" dirty="0"/>
              <a:t>same 1 BTC</a:t>
            </a:r>
            <a:r>
              <a:rPr lang="en-US" dirty="0"/>
              <a:t> back to herself.</a:t>
            </a:r>
          </a:p>
          <a:p>
            <a:pPr marL="0" indent="0" algn="just">
              <a:buNone/>
            </a:pPr>
            <a:r>
              <a:rPr lang="en-US" dirty="0"/>
              <a:t>Alice broadcasts </a:t>
            </a:r>
            <a:r>
              <a:rPr lang="en-US" b="1" dirty="0"/>
              <a:t>Transaction 1</a:t>
            </a:r>
            <a:r>
              <a:rPr lang="en-US" dirty="0"/>
              <a:t> to Bob and the nearby nodes in the Bitcoin network</a:t>
            </a:r>
          </a:p>
          <a:p>
            <a:pPr marL="0" indent="0" algn="just">
              <a:buNone/>
            </a:pPr>
            <a:r>
              <a:rPr lang="en-US" dirty="0"/>
              <a:t>She broadcasts </a:t>
            </a:r>
            <a:r>
              <a:rPr lang="en-US" b="1" dirty="0"/>
              <a:t>Transaction 2</a:t>
            </a:r>
            <a:r>
              <a:rPr lang="en-US" dirty="0"/>
              <a:t> to other parts of the network</a:t>
            </a:r>
          </a:p>
          <a:p>
            <a:pPr marL="0" indent="0" algn="just">
              <a:buNone/>
            </a:pPr>
            <a:endParaRPr lang="en-IN" dirty="0"/>
          </a:p>
        </p:txBody>
      </p:sp>
    </p:spTree>
    <p:extLst>
      <p:ext uri="{BB962C8B-B14F-4D97-AF65-F5344CB8AC3E}">
        <p14:creationId xmlns:p14="http://schemas.microsoft.com/office/powerpoint/2010/main" val="315401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799335-0D56-3988-A2D5-40469A3AA9E2}"/>
              </a:ext>
            </a:extLst>
          </p:cNvPr>
          <p:cNvSpPr>
            <a:spLocks noGrp="1"/>
          </p:cNvSpPr>
          <p:nvPr>
            <p:ph idx="1"/>
          </p:nvPr>
        </p:nvSpPr>
        <p:spPr>
          <a:xfrm>
            <a:off x="838200" y="1500188"/>
            <a:ext cx="10515600" cy="4676775"/>
          </a:xfrm>
        </p:spPr>
        <p:txBody>
          <a:bodyPr/>
          <a:lstStyle/>
          <a:p>
            <a:pPr marL="0" indent="0" algn="just">
              <a:buNone/>
            </a:pPr>
            <a:r>
              <a:rPr lang="en-US" dirty="0"/>
              <a:t>If </a:t>
            </a:r>
            <a:r>
              <a:rPr lang="en-US" b="1" dirty="0"/>
              <a:t>Transaction 1</a:t>
            </a:r>
            <a:r>
              <a:rPr lang="en-US" dirty="0"/>
              <a:t> gets confirmed first, Alice loses 1 BTC, and Bob gets paid.</a:t>
            </a:r>
          </a:p>
          <a:p>
            <a:pPr marL="0" indent="0" algn="just">
              <a:buNone/>
            </a:pPr>
            <a:r>
              <a:rPr lang="en-US" dirty="0"/>
              <a:t>If </a:t>
            </a:r>
            <a:r>
              <a:rPr lang="en-US" b="1" dirty="0"/>
              <a:t>Transaction 2</a:t>
            </a:r>
            <a:r>
              <a:rPr lang="en-US" dirty="0"/>
              <a:t> gets confirmed first, Bob’s transaction becomes invalid, and Alice keeps her 1 BTC while still receiving the laptop.</a:t>
            </a:r>
          </a:p>
          <a:p>
            <a:pPr marL="0" indent="0" algn="just">
              <a:buNone/>
            </a:pPr>
            <a:r>
              <a:rPr lang="en-US" dirty="0"/>
              <a:t>The success of the race attack depends on the speed at which the conflicting transactions are broadcast. </a:t>
            </a:r>
          </a:p>
          <a:p>
            <a:pPr marL="0" indent="0" algn="just">
              <a:buNone/>
            </a:pPr>
            <a:r>
              <a:rPr lang="en-US" dirty="0"/>
              <a:t>Alice ensures that </a:t>
            </a:r>
            <a:r>
              <a:rPr lang="en-US" b="1" dirty="0"/>
              <a:t>Transaction 2</a:t>
            </a:r>
            <a:r>
              <a:rPr lang="en-US" dirty="0"/>
              <a:t> is more likely to be confirmed first.</a:t>
            </a:r>
            <a:endParaRPr lang="en-IN" dirty="0"/>
          </a:p>
        </p:txBody>
      </p:sp>
    </p:spTree>
    <p:extLst>
      <p:ext uri="{BB962C8B-B14F-4D97-AF65-F5344CB8AC3E}">
        <p14:creationId xmlns:p14="http://schemas.microsoft.com/office/powerpoint/2010/main" val="33254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B941-D97F-BD48-D734-1C6986CB4BB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9DD95D-6D32-ECC1-27B9-2C32BEFA3099}"/>
              </a:ext>
            </a:extLst>
          </p:cNvPr>
          <p:cNvSpPr>
            <a:spLocks noGrp="1"/>
          </p:cNvSpPr>
          <p:nvPr>
            <p:ph idx="1"/>
          </p:nvPr>
        </p:nvSpPr>
        <p:spPr/>
        <p:txBody>
          <a:bodyPr/>
          <a:lstStyle/>
          <a:p>
            <a:pPr marL="0" indent="0" algn="just">
              <a:buNone/>
            </a:pPr>
            <a:r>
              <a:rPr lang="en-US" sz="2800" b="1" i="0" dirty="0">
                <a:effectLst/>
                <a:latin typeface="Times New Roman" panose="02020603050405020304" pitchFamily="18" charset="0"/>
                <a:cs typeface="Times New Roman" panose="02020603050405020304" pitchFamily="18" charset="0"/>
              </a:rPr>
              <a:t>51% Attack: </a:t>
            </a:r>
            <a:r>
              <a:rPr lang="en-US" sz="2800" b="0" i="0" dirty="0">
                <a:effectLst/>
                <a:latin typeface="Times New Roman" panose="02020603050405020304" pitchFamily="18" charset="0"/>
                <a:cs typeface="Times New Roman" panose="02020603050405020304" pitchFamily="18" charset="0"/>
              </a:rPr>
              <a:t>This type of attack is prevalent in small blockchains. Hackers usually take over 51% of the mining power of blockchain and therefore can do anything of their own will.</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t>If Alice has more than 50% of the network's mining power, she can manipulate the blockchain to her advantage.</a:t>
            </a:r>
            <a:endParaRPr lang="en-US" sz="2800" b="0" i="0" dirty="0">
              <a:effectLst/>
              <a:latin typeface="Times New Roman" panose="02020603050405020304" pitchFamily="18" charset="0"/>
              <a:cs typeface="Times New Roman" panose="02020603050405020304" pitchFamily="18" charset="0"/>
            </a:endParaRPr>
          </a:p>
          <a:p>
            <a:pPr marL="0" indent="0" algn="just">
              <a:buNone/>
            </a:pPr>
            <a:endParaRPr lang="en-IN" dirty="0"/>
          </a:p>
        </p:txBody>
      </p:sp>
    </p:spTree>
    <p:extLst>
      <p:ext uri="{BB962C8B-B14F-4D97-AF65-F5344CB8AC3E}">
        <p14:creationId xmlns:p14="http://schemas.microsoft.com/office/powerpoint/2010/main" val="259537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33D93-8A97-C004-75B7-DE8E2D02F015}"/>
              </a:ext>
            </a:extLst>
          </p:cNvPr>
          <p:cNvSpPr>
            <a:spLocks noGrp="1"/>
          </p:cNvSpPr>
          <p:nvPr>
            <p:ph type="title"/>
          </p:nvPr>
        </p:nvSpPr>
        <p:spPr/>
        <p:txBody>
          <a:bodyPr/>
          <a:lstStyle/>
          <a:p>
            <a:r>
              <a:rPr lang="en-US" sz="4400" b="1" dirty="0"/>
              <a:t>Blockchain Mining</a:t>
            </a:r>
            <a:endParaRPr lang="en-IN" dirty="0"/>
          </a:p>
        </p:txBody>
      </p:sp>
      <p:sp>
        <p:nvSpPr>
          <p:cNvPr id="3" name="Content Placeholder 2">
            <a:extLst>
              <a:ext uri="{FF2B5EF4-FFF2-40B4-BE49-F238E27FC236}">
                <a16:creationId xmlns:a16="http://schemas.microsoft.com/office/drawing/2014/main" id="{E7052666-DA89-041B-BA03-A2853A2ADDA5}"/>
              </a:ext>
            </a:extLst>
          </p:cNvPr>
          <p:cNvSpPr>
            <a:spLocks noGrp="1"/>
          </p:cNvSpPr>
          <p:nvPr>
            <p:ph idx="1"/>
          </p:nvPr>
        </p:nvSpPr>
        <p:spPr>
          <a:xfrm>
            <a:off x="628649" y="2121408"/>
            <a:ext cx="10829925" cy="4050792"/>
          </a:xfrm>
        </p:spPr>
        <p:txBody>
          <a:bodyPr>
            <a:normAutofit/>
          </a:bodyPr>
          <a:lstStyle/>
          <a:p>
            <a:pPr marL="0" indent="0" algn="just">
              <a:buNone/>
            </a:pPr>
            <a:r>
              <a:rPr lang="en-US" sz="2800" b="0" i="0" dirty="0">
                <a:effectLst/>
                <a:latin typeface="Rockwell(body)"/>
                <a:cs typeface="Times New Roman" panose="02020603050405020304" pitchFamily="18" charset="0"/>
              </a:rPr>
              <a:t>Blockchain mining is a process to validate every step in the transactions while operating bitcoins or other cryptocurrencies. The people involved here are known as blockchain miners</a:t>
            </a:r>
          </a:p>
          <a:p>
            <a:pPr marL="0" indent="0" algn="just">
              <a:buNone/>
            </a:pPr>
            <a:r>
              <a:rPr lang="en-US" sz="2800" b="0" i="0" dirty="0">
                <a:effectLst/>
                <a:latin typeface="Rockwell(body)"/>
                <a:cs typeface="Times New Roman" panose="02020603050405020304" pitchFamily="18" charset="0"/>
              </a:rPr>
              <a:t>The process is rewarding, as well. A single user does not handle the mining process, but a number of them compete on a unified authentication to get the rewards. Each mining success comes with a bonus of several bitcoins.</a:t>
            </a:r>
          </a:p>
          <a:p>
            <a:pPr marL="0" indent="0" algn="just">
              <a:buNone/>
            </a:pPr>
            <a:endParaRPr lang="en-IN" dirty="0">
              <a:latin typeface="Rockwell(body)"/>
            </a:endParaRPr>
          </a:p>
        </p:txBody>
      </p:sp>
    </p:spTree>
    <p:extLst>
      <p:ext uri="{BB962C8B-B14F-4D97-AF65-F5344CB8AC3E}">
        <p14:creationId xmlns:p14="http://schemas.microsoft.com/office/powerpoint/2010/main" val="1766714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lockchain Mining: Definition, Process, Pooling &amp; Miners - The Engineering  Projects">
            <a:extLst>
              <a:ext uri="{FF2B5EF4-FFF2-40B4-BE49-F238E27FC236}">
                <a16:creationId xmlns:a16="http://schemas.microsoft.com/office/drawing/2014/main" id="{A8E04546-2166-D749-0509-3D7B1A2F7C0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95" t="7554" r="855" b="2433"/>
          <a:stretch/>
        </p:blipFill>
        <p:spPr bwMode="auto">
          <a:xfrm>
            <a:off x="317944" y="297372"/>
            <a:ext cx="11542125" cy="554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702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0C68-2D10-261C-6AF6-7FF281E1B5A2}"/>
              </a:ext>
            </a:extLst>
          </p:cNvPr>
          <p:cNvSpPr>
            <a:spLocks noGrp="1"/>
          </p:cNvSpPr>
          <p:nvPr>
            <p:ph type="title"/>
          </p:nvPr>
        </p:nvSpPr>
        <p:spPr>
          <a:xfrm>
            <a:off x="712661" y="298895"/>
            <a:ext cx="10058400" cy="1609344"/>
          </a:xfrm>
        </p:spPr>
        <p:txBody>
          <a:bodyPr/>
          <a:lstStyle/>
          <a:p>
            <a:r>
              <a:rPr lang="en-US" b="1" dirty="0"/>
              <a:t>Scenario 1:</a:t>
            </a:r>
            <a:endParaRPr lang="en-IN" b="1" dirty="0"/>
          </a:p>
        </p:txBody>
      </p:sp>
      <p:sp>
        <p:nvSpPr>
          <p:cNvPr id="3" name="Content Placeholder 2">
            <a:extLst>
              <a:ext uri="{FF2B5EF4-FFF2-40B4-BE49-F238E27FC236}">
                <a16:creationId xmlns:a16="http://schemas.microsoft.com/office/drawing/2014/main" id="{94231B84-300A-B883-E12C-BF71B625A3C2}"/>
              </a:ext>
            </a:extLst>
          </p:cNvPr>
          <p:cNvSpPr>
            <a:spLocks noGrp="1"/>
          </p:cNvSpPr>
          <p:nvPr>
            <p:ph idx="1"/>
          </p:nvPr>
        </p:nvSpPr>
        <p:spPr>
          <a:xfrm>
            <a:off x="442913" y="2121408"/>
            <a:ext cx="11329987" cy="4050792"/>
          </a:xfrm>
        </p:spPr>
        <p:txBody>
          <a:bodyPr>
            <a:normAutofit lnSpcReduction="10000"/>
          </a:bodyPr>
          <a:lstStyle/>
          <a:p>
            <a:pPr marL="0" indent="0" algn="just">
              <a:buNone/>
            </a:pPr>
            <a:r>
              <a:rPr lang="en-US" dirty="0"/>
              <a:t>Imagine a classroom where students are playing a game. The teacher writes math problems on the board, and the first student to solve each problem gets a piece of candy. The classroom represents the blockchain network, the teacher's math problems are the puzzles to be solved, and the pieces of candy are the cryptocurrency rewards.</a:t>
            </a:r>
          </a:p>
          <a:p>
            <a:pPr marL="0" indent="0" algn="just">
              <a:buNone/>
            </a:pPr>
            <a:r>
              <a:rPr lang="en-US" dirty="0"/>
              <a:t>Here's how blockchain mining works with this analogy:</a:t>
            </a:r>
          </a:p>
          <a:p>
            <a:pPr marL="0" indent="0" algn="just">
              <a:buNone/>
            </a:pPr>
            <a:r>
              <a:rPr lang="en-US" b="1" dirty="0"/>
              <a:t>Pending Transactions:</a:t>
            </a:r>
            <a:r>
              <a:rPr lang="en-US" dirty="0"/>
              <a:t> Let's say the students in the class have been making promises to each other: "I'll give you my toy if you give me your book." These promises are like pending transactions in the blockchain.</a:t>
            </a:r>
          </a:p>
          <a:p>
            <a:pPr marL="0" indent="0" algn="just">
              <a:buNone/>
            </a:pPr>
            <a:r>
              <a:rPr lang="en-US" b="1" dirty="0"/>
              <a:t>Math Problem:</a:t>
            </a:r>
            <a:r>
              <a:rPr lang="en-US" dirty="0"/>
              <a:t> The teacher (the blockchain system) writes a difficult math problem on the board. This is the puzzle that needs to be solved to verify and add the transactions to the blockchain.</a:t>
            </a:r>
          </a:p>
          <a:p>
            <a:pPr marL="0" indent="0" algn="just">
              <a:buNone/>
            </a:pPr>
            <a:r>
              <a:rPr lang="en-US" b="1" dirty="0"/>
              <a:t>Solving the Problem:</a:t>
            </a:r>
            <a:r>
              <a:rPr lang="en-US" dirty="0"/>
              <a:t> All the students (miners) start working on solving the math problem. It’s a hard problem, so it takes some time.</a:t>
            </a:r>
          </a:p>
          <a:p>
            <a:pPr marL="0" indent="0" algn="just">
              <a:buNone/>
            </a:pPr>
            <a:endParaRPr lang="en-IN" dirty="0"/>
          </a:p>
        </p:txBody>
      </p:sp>
    </p:spTree>
    <p:extLst>
      <p:ext uri="{BB962C8B-B14F-4D97-AF65-F5344CB8AC3E}">
        <p14:creationId xmlns:p14="http://schemas.microsoft.com/office/powerpoint/2010/main" val="1905995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F32B9-52B6-B23C-88E2-C014463DBE27}"/>
              </a:ext>
            </a:extLst>
          </p:cNvPr>
          <p:cNvSpPr>
            <a:spLocks noGrp="1"/>
          </p:cNvSpPr>
          <p:nvPr>
            <p:ph idx="1"/>
          </p:nvPr>
        </p:nvSpPr>
        <p:spPr>
          <a:xfrm>
            <a:off x="541210" y="792670"/>
            <a:ext cx="11060239" cy="4050792"/>
          </a:xfrm>
        </p:spPr>
        <p:txBody>
          <a:bodyPr>
            <a:noAutofit/>
          </a:bodyPr>
          <a:lstStyle/>
          <a:p>
            <a:pPr algn="just">
              <a:buFont typeface="+mj-lt"/>
              <a:buAutoNum type="arabicPeriod"/>
            </a:pPr>
            <a:r>
              <a:rPr lang="en-US" sz="2500" b="1" dirty="0"/>
              <a:t>First to Solve:</a:t>
            </a:r>
            <a:r>
              <a:rPr lang="en-US" sz="2500" dirty="0"/>
              <a:t> One student solves the problem first and shows the answer to the teacher. This student is like the miner who solves the puzzle first.</a:t>
            </a:r>
          </a:p>
          <a:p>
            <a:pPr algn="just">
              <a:buFont typeface="+mj-lt"/>
              <a:buAutoNum type="arabicPeriod"/>
            </a:pPr>
            <a:r>
              <a:rPr lang="en-US" sz="2500" b="1" dirty="0"/>
              <a:t>Verification:</a:t>
            </a:r>
            <a:r>
              <a:rPr lang="en-US" sz="2500" dirty="0"/>
              <a:t> The teacher checks the answer quickly. If it’s correct, the student is allowed to write the promises (transactions) on the class notebook (blockchain ledger) and everyone updates their own notebooks.</a:t>
            </a:r>
          </a:p>
          <a:p>
            <a:pPr algn="just">
              <a:buFont typeface="+mj-lt"/>
              <a:buAutoNum type="arabicPeriod"/>
            </a:pPr>
            <a:r>
              <a:rPr lang="en-US" sz="2500" b="1" dirty="0"/>
              <a:t>Reward:</a:t>
            </a:r>
            <a:r>
              <a:rPr lang="en-US" sz="2500" dirty="0"/>
              <a:t> The student who solved the problem gets a piece of candy (cryptocurrency) as a reward.</a:t>
            </a:r>
          </a:p>
          <a:p>
            <a:pPr algn="just">
              <a:buFont typeface="+mj-lt"/>
              <a:buAutoNum type="arabicPeriod"/>
            </a:pPr>
            <a:r>
              <a:rPr lang="en-US" sz="2500" b="1" dirty="0"/>
              <a:t>Security:</a:t>
            </a:r>
            <a:r>
              <a:rPr lang="en-US" sz="2500" dirty="0"/>
              <a:t> If a student tries to cheat and write fake promises in the notebook, other students will notice because they all have copies of the notebook and can see the changes don’t match.</a:t>
            </a:r>
          </a:p>
          <a:p>
            <a:pPr marL="0" indent="0" algn="just">
              <a:buNone/>
            </a:pPr>
            <a:endParaRPr lang="en-IN" sz="2500" dirty="0"/>
          </a:p>
        </p:txBody>
      </p:sp>
    </p:spTree>
    <p:extLst>
      <p:ext uri="{BB962C8B-B14F-4D97-AF65-F5344CB8AC3E}">
        <p14:creationId xmlns:p14="http://schemas.microsoft.com/office/powerpoint/2010/main" val="2355248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28CF1-F3AA-C9DB-C312-15EFB8B04409}"/>
              </a:ext>
            </a:extLst>
          </p:cNvPr>
          <p:cNvSpPr>
            <a:spLocks noGrp="1"/>
          </p:cNvSpPr>
          <p:nvPr>
            <p:ph type="title"/>
          </p:nvPr>
        </p:nvSpPr>
        <p:spPr/>
        <p:txBody>
          <a:bodyPr/>
          <a:lstStyle/>
          <a:p>
            <a:r>
              <a:rPr lang="en-US" b="1" dirty="0"/>
              <a:t>How Blockchain mining works</a:t>
            </a:r>
            <a:endParaRPr lang="en-IN" b="1" dirty="0"/>
          </a:p>
        </p:txBody>
      </p:sp>
      <p:sp>
        <p:nvSpPr>
          <p:cNvPr id="3" name="Content Placeholder 2">
            <a:extLst>
              <a:ext uri="{FF2B5EF4-FFF2-40B4-BE49-F238E27FC236}">
                <a16:creationId xmlns:a16="http://schemas.microsoft.com/office/drawing/2014/main" id="{BFD88F32-1C75-F8A1-A10F-736764CECCD4}"/>
              </a:ext>
            </a:extLst>
          </p:cNvPr>
          <p:cNvSpPr>
            <a:spLocks noGrp="1"/>
          </p:cNvSpPr>
          <p:nvPr>
            <p:ph idx="1"/>
          </p:nvPr>
        </p:nvSpPr>
        <p:spPr>
          <a:xfrm>
            <a:off x="414337" y="2121408"/>
            <a:ext cx="11444287" cy="4050792"/>
          </a:xfrm>
        </p:spPr>
        <p:txBody>
          <a:bodyPr>
            <a:normAutofit/>
          </a:bodyPr>
          <a:lstStyle/>
          <a:p>
            <a:pPr marL="0" indent="0" algn="just">
              <a:buNone/>
            </a:pPr>
            <a:r>
              <a:rPr lang="en-US" sz="2600" dirty="0"/>
              <a:t>All the pending transactions are collected in a pool.</a:t>
            </a:r>
          </a:p>
          <a:p>
            <a:pPr marL="0" indent="0" algn="just">
              <a:buNone/>
            </a:pPr>
            <a:r>
              <a:rPr lang="en-US" sz="2600" dirty="0"/>
              <a:t>Miners (special computers) compete to solve a mathematical puzzle. The puzzle is difficult to solve but easy for others to verify. Think of it like a sudoku that takes hours to solve but seconds to check.</a:t>
            </a:r>
          </a:p>
          <a:p>
            <a:pPr marL="0" indent="0" algn="just">
              <a:buNone/>
            </a:pPr>
            <a:r>
              <a:rPr lang="en-US" sz="2600" dirty="0"/>
              <a:t>The first miner to solve the puzzle gets to add a block of transactions to the ledger. This block contains the solved puzzle, the transactions, and a reference to the previous block in the chain (hence the name blockchain).</a:t>
            </a:r>
          </a:p>
        </p:txBody>
      </p:sp>
    </p:spTree>
    <p:extLst>
      <p:ext uri="{BB962C8B-B14F-4D97-AF65-F5344CB8AC3E}">
        <p14:creationId xmlns:p14="http://schemas.microsoft.com/office/powerpoint/2010/main" val="2192272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1E59F-630C-AD9E-011D-ED3F091CC812}"/>
              </a:ext>
            </a:extLst>
          </p:cNvPr>
          <p:cNvSpPr>
            <a:spLocks noGrp="1"/>
          </p:cNvSpPr>
          <p:nvPr>
            <p:ph idx="1"/>
          </p:nvPr>
        </p:nvSpPr>
        <p:spPr>
          <a:xfrm>
            <a:off x="341185" y="878396"/>
            <a:ext cx="11460290" cy="4050792"/>
          </a:xfrm>
        </p:spPr>
        <p:txBody>
          <a:bodyPr>
            <a:normAutofit/>
          </a:bodyPr>
          <a:lstStyle/>
          <a:p>
            <a:pPr marL="0" indent="0" algn="just">
              <a:buNone/>
            </a:pPr>
            <a:r>
              <a:rPr lang="en-US" sz="2500" dirty="0"/>
              <a:t>The miner is rewarded with some cryptocurrency for their effort. This is how new coins are created and distributed.</a:t>
            </a:r>
          </a:p>
          <a:p>
            <a:pPr marL="0" indent="0" algn="just">
              <a:buNone/>
            </a:pPr>
            <a:r>
              <a:rPr lang="en-US" sz="2500" dirty="0"/>
              <a:t>Other miners and participants in the network quickly check the solution. If it’s correct, the block is added to everyone’s copy of the ledger.</a:t>
            </a:r>
          </a:p>
          <a:p>
            <a:pPr marL="0" indent="0" algn="just">
              <a:buNone/>
            </a:pPr>
            <a:r>
              <a:rPr lang="en-US" sz="2500" dirty="0"/>
              <a:t>This process is secure because solving the puzzle requires a lot of computational power, making it difficult for anyone to tamper with the transactions.</a:t>
            </a:r>
            <a:endParaRPr lang="en-IN" sz="2500" dirty="0"/>
          </a:p>
          <a:p>
            <a:pPr marL="0" indent="0" algn="just">
              <a:buNone/>
            </a:pPr>
            <a:endParaRPr lang="en-IN" sz="2500" dirty="0"/>
          </a:p>
        </p:txBody>
      </p:sp>
    </p:spTree>
    <p:extLst>
      <p:ext uri="{BB962C8B-B14F-4D97-AF65-F5344CB8AC3E}">
        <p14:creationId xmlns:p14="http://schemas.microsoft.com/office/powerpoint/2010/main" val="2769556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D0CAD-C4A7-4687-8D32-F99B74EE6FC0}"/>
              </a:ext>
            </a:extLst>
          </p:cNvPr>
          <p:cNvSpPr>
            <a:spLocks noGrp="1"/>
          </p:cNvSpPr>
          <p:nvPr>
            <p:ph type="title"/>
          </p:nvPr>
        </p:nvSpPr>
        <p:spPr/>
        <p:txBody>
          <a:bodyPr/>
          <a:lstStyle/>
          <a:p>
            <a:r>
              <a:rPr lang="en-US" dirty="0"/>
              <a:t>Note:</a:t>
            </a:r>
            <a:endParaRPr lang="en-IN" dirty="0"/>
          </a:p>
        </p:txBody>
      </p:sp>
      <p:sp>
        <p:nvSpPr>
          <p:cNvPr id="3" name="Content Placeholder 2">
            <a:extLst>
              <a:ext uri="{FF2B5EF4-FFF2-40B4-BE49-F238E27FC236}">
                <a16:creationId xmlns:a16="http://schemas.microsoft.com/office/drawing/2014/main" id="{81392859-968C-B04C-5B42-448DDE4AE49F}"/>
              </a:ext>
            </a:extLst>
          </p:cNvPr>
          <p:cNvSpPr>
            <a:spLocks noGrp="1"/>
          </p:cNvSpPr>
          <p:nvPr>
            <p:ph idx="1"/>
          </p:nvPr>
        </p:nvSpPr>
        <p:spPr>
          <a:xfrm>
            <a:off x="614363" y="2121408"/>
            <a:ext cx="11001375" cy="4050792"/>
          </a:xfrm>
        </p:spPr>
        <p:txBody>
          <a:bodyPr>
            <a:normAutofit/>
          </a:bodyPr>
          <a:lstStyle/>
          <a:p>
            <a:pPr marL="0" indent="0" algn="just">
              <a:buNone/>
            </a:pPr>
            <a:r>
              <a:rPr lang="en-US" sz="2500" dirty="0"/>
              <a:t>The miner who solves the puzzle in blockchain mining does not perform the transactions themselves. Instead, the miner who solves the puzzle is responsible for validating and adding a block of transactions to the blockchain.</a:t>
            </a:r>
          </a:p>
          <a:p>
            <a:pPr marL="0" indent="0" algn="just">
              <a:buNone/>
            </a:pPr>
            <a:r>
              <a:rPr lang="en-US" sz="2500" dirty="0"/>
              <a:t>Users of the blockchain network create transactions. For example, Alice sends 1 Bitcoin to Bob. This transaction is broadcast to the network and placed in a pool of unconfirmed transactions.</a:t>
            </a:r>
            <a:endParaRPr lang="en-IN" sz="2500" dirty="0"/>
          </a:p>
        </p:txBody>
      </p:sp>
    </p:spTree>
    <p:extLst>
      <p:ext uri="{BB962C8B-B14F-4D97-AF65-F5344CB8AC3E}">
        <p14:creationId xmlns:p14="http://schemas.microsoft.com/office/powerpoint/2010/main" val="2684192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E5D3B3-06A1-0B90-D211-093F7C6AC385}"/>
              </a:ext>
            </a:extLst>
          </p:cNvPr>
          <p:cNvSpPr>
            <a:spLocks noGrp="1"/>
          </p:cNvSpPr>
          <p:nvPr>
            <p:ph idx="1"/>
          </p:nvPr>
        </p:nvSpPr>
        <p:spPr>
          <a:xfrm>
            <a:off x="728663" y="2121408"/>
            <a:ext cx="10887075" cy="4050792"/>
          </a:xfrm>
        </p:spPr>
        <p:txBody>
          <a:bodyPr>
            <a:normAutofit/>
          </a:bodyPr>
          <a:lstStyle/>
          <a:p>
            <a:pPr marL="0" indent="0" algn="just">
              <a:buNone/>
            </a:pPr>
            <a:r>
              <a:rPr lang="en-US" sz="2500" dirty="0"/>
              <a:t>Miners collect a batch of these unconfirmed transactions from the pool and form a block.</a:t>
            </a:r>
          </a:p>
          <a:p>
            <a:pPr marL="0" indent="0" algn="just">
              <a:buNone/>
            </a:pPr>
            <a:r>
              <a:rPr lang="en-US" sz="2500" dirty="0"/>
              <a:t>Miners compete to solve a complex mathematical puzzle. The first miner to solve the puzzle gets the right to add their block of transactions to the blockchain.</a:t>
            </a:r>
            <a:endParaRPr lang="en-IN" sz="2500" dirty="0"/>
          </a:p>
        </p:txBody>
      </p:sp>
    </p:spTree>
    <p:extLst>
      <p:ext uri="{BB962C8B-B14F-4D97-AF65-F5344CB8AC3E}">
        <p14:creationId xmlns:p14="http://schemas.microsoft.com/office/powerpoint/2010/main" val="2430541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F4BF52-882A-C235-2C2B-8FADF2488AD3}"/>
              </a:ext>
            </a:extLst>
          </p:cNvPr>
          <p:cNvSpPr>
            <a:spLocks noGrp="1"/>
          </p:cNvSpPr>
          <p:nvPr>
            <p:ph idx="1"/>
          </p:nvPr>
        </p:nvSpPr>
        <p:spPr>
          <a:xfrm>
            <a:off x="414338" y="1121283"/>
            <a:ext cx="11129962" cy="4050792"/>
          </a:xfrm>
        </p:spPr>
        <p:txBody>
          <a:bodyPr>
            <a:normAutofit lnSpcReduction="10000"/>
          </a:bodyPr>
          <a:lstStyle/>
          <a:p>
            <a:pPr marL="0" indent="0" algn="just">
              <a:buNone/>
            </a:pPr>
            <a:r>
              <a:rPr lang="en-US" sz="2800" b="1" i="0" dirty="0">
                <a:solidFill>
                  <a:srgbClr val="000000"/>
                </a:solidFill>
                <a:effectLst/>
                <a:latin typeface="Rockwell(body)"/>
                <a:cs typeface="Times New Roman" panose="02020603050405020304" pitchFamily="18" charset="0"/>
              </a:rPr>
              <a:t>Why would you mine Blockchain?</a:t>
            </a:r>
          </a:p>
          <a:p>
            <a:pPr marL="0" indent="0" algn="just">
              <a:buNone/>
            </a:pPr>
            <a:endParaRPr lang="en-US" sz="2800" b="0" i="0" dirty="0">
              <a:solidFill>
                <a:srgbClr val="000000"/>
              </a:solidFill>
              <a:effectLst/>
              <a:latin typeface="Rockwell(body)"/>
              <a:cs typeface="Times New Roman" panose="02020603050405020304" pitchFamily="18" charset="0"/>
            </a:endParaRPr>
          </a:p>
          <a:p>
            <a:pPr marL="0" indent="0" algn="just">
              <a:buNone/>
            </a:pPr>
            <a:r>
              <a:rPr lang="en-US" sz="2800" b="0" i="0" dirty="0">
                <a:solidFill>
                  <a:srgbClr val="000000"/>
                </a:solidFill>
                <a:effectLst/>
                <a:latin typeface="Rockwell(body)"/>
                <a:cs typeface="Times New Roman" panose="02020603050405020304" pitchFamily="18" charset="0"/>
              </a:rPr>
              <a:t>You can earn money by </a:t>
            </a:r>
            <a:r>
              <a:rPr lang="en-US" sz="2800" b="1" i="0" dirty="0">
                <a:solidFill>
                  <a:srgbClr val="000000"/>
                </a:solidFill>
                <a:effectLst/>
                <a:latin typeface="Rockwell(body)"/>
                <a:cs typeface="Times New Roman" panose="02020603050405020304" pitchFamily="18" charset="0"/>
              </a:rPr>
              <a:t>mining Blockchain</a:t>
            </a:r>
            <a:r>
              <a:rPr lang="en-US" sz="2800" b="0" i="0" dirty="0">
                <a:solidFill>
                  <a:srgbClr val="000000"/>
                </a:solidFill>
                <a:effectLst/>
                <a:latin typeface="Rockwell(body)"/>
                <a:cs typeface="Times New Roman" panose="02020603050405020304" pitchFamily="18" charset="0"/>
              </a:rPr>
              <a:t>; the amount you will earn depends on your mining capacity. In the</a:t>
            </a:r>
            <a:r>
              <a:rPr lang="en-US" sz="2800" b="1" i="0" dirty="0">
                <a:solidFill>
                  <a:srgbClr val="000000"/>
                </a:solidFill>
                <a:effectLst/>
                <a:latin typeface="Rockwell(body)"/>
                <a:cs typeface="Times New Roman" panose="02020603050405020304" pitchFamily="18" charset="0"/>
              </a:rPr>
              <a:t> mining mechanism in blockchain</a:t>
            </a:r>
            <a:r>
              <a:rPr lang="en-US" sz="2800" b="0" i="0" dirty="0">
                <a:solidFill>
                  <a:srgbClr val="000000"/>
                </a:solidFill>
                <a:effectLst/>
                <a:latin typeface="Rockwell(body)"/>
                <a:cs typeface="Times New Roman" panose="02020603050405020304" pitchFamily="18" charset="0"/>
              </a:rPr>
              <a:t>, mining needs certain resources like a cooling system, electricity, computational hardware, and maintenance. The more robust your mining setup is, the higher would be your mining capacity. Consequently, you can make more money. You get paid for mining because mining is significant for Blockchain to maintain integrity.</a:t>
            </a:r>
          </a:p>
          <a:p>
            <a:pPr marL="0" indent="0" algn="just">
              <a:buNone/>
            </a:pPr>
            <a:endParaRPr lang="en-IN" dirty="0">
              <a:latin typeface="Rockwell(body)"/>
            </a:endParaRPr>
          </a:p>
        </p:txBody>
      </p:sp>
    </p:spTree>
    <p:extLst>
      <p:ext uri="{BB962C8B-B14F-4D97-AF65-F5344CB8AC3E}">
        <p14:creationId xmlns:p14="http://schemas.microsoft.com/office/powerpoint/2010/main" val="1786602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49B0-6549-6C7B-E06F-F1A3804D3A06}"/>
              </a:ext>
            </a:extLst>
          </p:cNvPr>
          <p:cNvSpPr>
            <a:spLocks noGrp="1"/>
          </p:cNvSpPr>
          <p:nvPr>
            <p:ph type="title"/>
          </p:nvPr>
        </p:nvSpPr>
        <p:spPr/>
        <p:txBody>
          <a:bodyPr/>
          <a:lstStyle/>
          <a:p>
            <a:r>
              <a:rPr lang="en-US" sz="4400" b="1" i="0" dirty="0">
                <a:solidFill>
                  <a:srgbClr val="303133"/>
                </a:solidFill>
                <a:effectLst/>
                <a:latin typeface="Rockwell Condensed(header)"/>
                <a:cs typeface="Times New Roman" panose="02020603050405020304" pitchFamily="18" charset="0"/>
              </a:rPr>
              <a:t>Types of Mining</a:t>
            </a:r>
            <a:endParaRPr lang="en-IN" dirty="0">
              <a:latin typeface="Rockwell Condensed(header)"/>
            </a:endParaRPr>
          </a:p>
        </p:txBody>
      </p:sp>
      <p:sp>
        <p:nvSpPr>
          <p:cNvPr id="3" name="Content Placeholder 2">
            <a:extLst>
              <a:ext uri="{FF2B5EF4-FFF2-40B4-BE49-F238E27FC236}">
                <a16:creationId xmlns:a16="http://schemas.microsoft.com/office/drawing/2014/main" id="{EDC40D35-D476-74D0-6DC3-F45155B908B4}"/>
              </a:ext>
            </a:extLst>
          </p:cNvPr>
          <p:cNvSpPr>
            <a:spLocks noGrp="1"/>
          </p:cNvSpPr>
          <p:nvPr>
            <p:ph idx="1"/>
          </p:nvPr>
        </p:nvSpPr>
        <p:spPr>
          <a:xfrm>
            <a:off x="500063" y="2121408"/>
            <a:ext cx="11187112" cy="4050792"/>
          </a:xfrm>
        </p:spPr>
        <p:txBody>
          <a:bodyPr>
            <a:normAutofit/>
          </a:bodyPr>
          <a:lstStyle/>
          <a:p>
            <a:pPr marL="0" indent="0" algn="just">
              <a:buNone/>
            </a:pPr>
            <a:r>
              <a:rPr lang="en-US" sz="2800" b="1" i="0" dirty="0">
                <a:solidFill>
                  <a:srgbClr val="303133"/>
                </a:solidFill>
                <a:effectLst/>
                <a:latin typeface="Rockwell(body)"/>
                <a:cs typeface="Times New Roman" panose="02020603050405020304" pitchFamily="18" charset="0"/>
              </a:rPr>
              <a:t>1. Individual Mining</a:t>
            </a:r>
          </a:p>
          <a:p>
            <a:pPr marL="0" indent="0" algn="just">
              <a:buNone/>
            </a:pPr>
            <a:r>
              <a:rPr lang="en-US" sz="2800" b="0" i="0" dirty="0">
                <a:solidFill>
                  <a:srgbClr val="000000"/>
                </a:solidFill>
                <a:effectLst/>
                <a:latin typeface="Rockwell(body)"/>
                <a:cs typeface="Times New Roman" panose="02020603050405020304" pitchFamily="18" charset="0"/>
              </a:rPr>
              <a:t>In Individual Mining, the user has to register itself as a miner. As soon as a transaction occurs, all the single users in the blockchain network will receive a mathematical problem. The first one to solve the complex mathematical problem gets rewarded. The solution comes after rigorously using the hardware and software properties of the computer, which is being used by the miner.</a:t>
            </a:r>
          </a:p>
          <a:p>
            <a:pPr marL="0" indent="0" algn="just">
              <a:buNone/>
            </a:pPr>
            <a:endParaRPr lang="en-IN" dirty="0">
              <a:latin typeface="Rockwell(body)"/>
            </a:endParaRPr>
          </a:p>
        </p:txBody>
      </p:sp>
    </p:spTree>
    <p:extLst>
      <p:ext uri="{BB962C8B-B14F-4D97-AF65-F5344CB8AC3E}">
        <p14:creationId xmlns:p14="http://schemas.microsoft.com/office/powerpoint/2010/main" val="33082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08AD23-5CC0-B086-AAC1-213D0D147574}"/>
              </a:ext>
            </a:extLst>
          </p:cNvPr>
          <p:cNvSpPr>
            <a:spLocks noGrp="1"/>
          </p:cNvSpPr>
          <p:nvPr>
            <p:ph idx="1"/>
          </p:nvPr>
        </p:nvSpPr>
        <p:spPr>
          <a:xfrm>
            <a:off x="542925" y="1135571"/>
            <a:ext cx="10585323" cy="4050792"/>
          </a:xfrm>
        </p:spPr>
        <p:txBody>
          <a:bodyPr>
            <a:normAutofit/>
          </a:bodyPr>
          <a:lstStyle/>
          <a:p>
            <a:pPr marL="0" indent="0" algn="just">
              <a:buNone/>
            </a:pPr>
            <a:r>
              <a:rPr lang="en-US" sz="2800" b="1" i="0" dirty="0">
                <a:solidFill>
                  <a:srgbClr val="303133"/>
                </a:solidFill>
                <a:effectLst/>
                <a:latin typeface="Rockwell(body)"/>
                <a:cs typeface="Times New Roman" panose="02020603050405020304" pitchFamily="18" charset="0"/>
              </a:rPr>
              <a:t>Pool Mining</a:t>
            </a:r>
          </a:p>
          <a:p>
            <a:pPr marL="0" indent="0" algn="just">
              <a:buNone/>
            </a:pPr>
            <a:r>
              <a:rPr lang="en-US" sz="2800" b="0" i="0" dirty="0">
                <a:solidFill>
                  <a:srgbClr val="000000"/>
                </a:solidFill>
                <a:effectLst/>
                <a:latin typeface="Rockwell(body)"/>
                <a:cs typeface="Times New Roman" panose="02020603050405020304" pitchFamily="18" charset="0"/>
              </a:rPr>
              <a:t>Another type of mining is Pool Mining, where several users operate together to approve the transaction. Numerous transactions occur every second. Then the entire team of miners in the network operate together to solve the complex numerical and computational problem. After the result is validated, the reward is then also split between all users.</a:t>
            </a:r>
          </a:p>
          <a:p>
            <a:pPr marL="0" indent="0" algn="just">
              <a:buNone/>
            </a:pPr>
            <a:endParaRPr lang="en-IN" dirty="0">
              <a:latin typeface="Rockwell(body)"/>
            </a:endParaRPr>
          </a:p>
        </p:txBody>
      </p:sp>
    </p:spTree>
    <p:extLst>
      <p:ext uri="{BB962C8B-B14F-4D97-AF65-F5344CB8AC3E}">
        <p14:creationId xmlns:p14="http://schemas.microsoft.com/office/powerpoint/2010/main" val="2549128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4F936-9B7A-03A1-83D7-F0860F2ACF78}"/>
              </a:ext>
            </a:extLst>
          </p:cNvPr>
          <p:cNvSpPr>
            <a:spLocks noGrp="1"/>
          </p:cNvSpPr>
          <p:nvPr>
            <p:ph idx="1"/>
          </p:nvPr>
        </p:nvSpPr>
        <p:spPr>
          <a:xfrm>
            <a:off x="771525" y="2121408"/>
            <a:ext cx="10356723" cy="4050792"/>
          </a:xfrm>
        </p:spPr>
        <p:txBody>
          <a:bodyPr>
            <a:normAutofit/>
          </a:bodyPr>
          <a:lstStyle/>
          <a:p>
            <a:pPr marL="0" indent="0" algn="just">
              <a:buNone/>
            </a:pPr>
            <a:r>
              <a:rPr lang="en-US" sz="2800" b="1" dirty="0"/>
              <a:t>Cloud mining</a:t>
            </a:r>
          </a:p>
          <a:p>
            <a:pPr marL="0" indent="0" algn="just">
              <a:buNone/>
            </a:pPr>
            <a:r>
              <a:rPr lang="en-US" sz="2800" dirty="0"/>
              <a:t>Cloud mining involves renting mining power from a provider who owns and operates the mining hardware. Users pay for a contract and receive a portion of the mined cryptocurrency.</a:t>
            </a:r>
            <a:endParaRPr lang="en-IN" sz="2800" dirty="0"/>
          </a:p>
        </p:txBody>
      </p:sp>
    </p:spTree>
    <p:extLst>
      <p:ext uri="{BB962C8B-B14F-4D97-AF65-F5344CB8AC3E}">
        <p14:creationId xmlns:p14="http://schemas.microsoft.com/office/powerpoint/2010/main" val="3874568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667C8-3ADD-9ED2-5E1B-590ECEE9867A}"/>
              </a:ext>
            </a:extLst>
          </p:cNvPr>
          <p:cNvSpPr>
            <a:spLocks noGrp="1"/>
          </p:cNvSpPr>
          <p:nvPr>
            <p:ph type="title"/>
          </p:nvPr>
        </p:nvSpPr>
        <p:spPr>
          <a:xfrm>
            <a:off x="442913" y="127445"/>
            <a:ext cx="11172825" cy="1609344"/>
          </a:xfrm>
        </p:spPr>
        <p:txBody>
          <a:bodyPr/>
          <a:lstStyle/>
          <a:p>
            <a:r>
              <a:rPr lang="en-US" b="1" i="0" dirty="0">
                <a:solidFill>
                  <a:srgbClr val="303133"/>
                </a:solidFill>
                <a:effectLst/>
                <a:latin typeface="Rockwell Condensed(header)"/>
              </a:rPr>
              <a:t>Use of Blockchain Mining</a:t>
            </a:r>
            <a:endParaRPr lang="en-IN" dirty="0">
              <a:latin typeface="Rockwell Condensed(header)"/>
            </a:endParaRPr>
          </a:p>
        </p:txBody>
      </p:sp>
      <p:sp>
        <p:nvSpPr>
          <p:cNvPr id="3" name="Content Placeholder 2">
            <a:extLst>
              <a:ext uri="{FF2B5EF4-FFF2-40B4-BE49-F238E27FC236}">
                <a16:creationId xmlns:a16="http://schemas.microsoft.com/office/drawing/2014/main" id="{AB951E63-EAF3-1908-1008-45F3EC0AC0DC}"/>
              </a:ext>
            </a:extLst>
          </p:cNvPr>
          <p:cNvSpPr>
            <a:spLocks noGrp="1"/>
          </p:cNvSpPr>
          <p:nvPr>
            <p:ph idx="1"/>
          </p:nvPr>
        </p:nvSpPr>
        <p:spPr>
          <a:xfrm>
            <a:off x="371475" y="1736789"/>
            <a:ext cx="11315700" cy="4821174"/>
          </a:xfrm>
        </p:spPr>
        <p:txBody>
          <a:bodyPr>
            <a:noAutofit/>
          </a:bodyPr>
          <a:lstStyle/>
          <a:p>
            <a:pPr marL="0" indent="0" algn="just">
              <a:buNone/>
            </a:pPr>
            <a:r>
              <a:rPr lang="en-US" sz="2500" b="1" i="0" dirty="0">
                <a:solidFill>
                  <a:srgbClr val="303133"/>
                </a:solidFill>
                <a:effectLst/>
                <a:latin typeface="Rockwell(body)"/>
              </a:rPr>
              <a:t>1. Validating Transactions</a:t>
            </a:r>
          </a:p>
          <a:p>
            <a:pPr marL="0" indent="0" algn="just">
              <a:buNone/>
            </a:pPr>
            <a:r>
              <a:rPr lang="en-US" sz="2500" b="0" i="0" dirty="0">
                <a:solidFill>
                  <a:srgbClr val="000000"/>
                </a:solidFill>
                <a:effectLst/>
                <a:latin typeface="Rockwell(body)"/>
              </a:rPr>
              <a:t>Bitcoins are decentralized digital currencies, which are managed on a peer-to-peer computer network and transferred from one user to another. Bitcoin transactions occur in huge figures daily. But there is a certain lag in the entire framework.</a:t>
            </a:r>
          </a:p>
          <a:p>
            <a:pPr marL="0" indent="0" algn="just">
              <a:buNone/>
            </a:pPr>
            <a:r>
              <a:rPr lang="en-US" sz="2500" b="0" i="0" dirty="0">
                <a:solidFill>
                  <a:srgbClr val="000000"/>
                </a:solidFill>
                <a:effectLst/>
                <a:latin typeface="Rockwell(body)"/>
              </a:rPr>
              <a:t>Since these cryptocurrencies operate without a central administrator, there is a substantial amount of insecurity with the transactions that transpire. While dealing with printed currency, the validation lies in the printed numerical codes in each of them. Accordingly, what is the authentication with such cryptocurrencies?</a:t>
            </a:r>
          </a:p>
          <a:p>
            <a:pPr marL="0" indent="0" algn="just">
              <a:buNone/>
            </a:pPr>
            <a:r>
              <a:rPr lang="en-US" sz="2500" b="0" i="0" dirty="0">
                <a:solidFill>
                  <a:srgbClr val="000000"/>
                </a:solidFill>
                <a:effectLst/>
                <a:latin typeface="Rockwell(body)"/>
              </a:rPr>
              <a:t>With each transaction, blocks are added to the blockchain. The validation lies in the mining results from the blockchain miners.</a:t>
            </a:r>
          </a:p>
          <a:p>
            <a:pPr marL="0" indent="0" algn="just">
              <a:buNone/>
            </a:pPr>
            <a:endParaRPr lang="en-IN" sz="2500" dirty="0">
              <a:latin typeface="Rockwell(body)"/>
            </a:endParaRPr>
          </a:p>
        </p:txBody>
      </p:sp>
    </p:spTree>
    <p:extLst>
      <p:ext uri="{BB962C8B-B14F-4D97-AF65-F5344CB8AC3E}">
        <p14:creationId xmlns:p14="http://schemas.microsoft.com/office/powerpoint/2010/main" val="3421032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3622E3-FF4B-3019-F43D-732D57D338E4}"/>
              </a:ext>
            </a:extLst>
          </p:cNvPr>
          <p:cNvSpPr>
            <a:spLocks noGrp="1"/>
          </p:cNvSpPr>
          <p:nvPr>
            <p:ph idx="1"/>
          </p:nvPr>
        </p:nvSpPr>
        <p:spPr>
          <a:xfrm>
            <a:off x="484059" y="749808"/>
            <a:ext cx="10917365" cy="4050792"/>
          </a:xfrm>
        </p:spPr>
        <p:txBody>
          <a:bodyPr>
            <a:noAutofit/>
          </a:bodyPr>
          <a:lstStyle/>
          <a:p>
            <a:pPr marL="0" indent="0" algn="just">
              <a:buNone/>
            </a:pPr>
            <a:r>
              <a:rPr lang="en-US" sz="2800" b="1" i="0" dirty="0">
                <a:solidFill>
                  <a:srgbClr val="303133"/>
                </a:solidFill>
                <a:effectLst/>
                <a:latin typeface="Rockwell(body)"/>
                <a:cs typeface="Times New Roman" panose="02020603050405020304" pitchFamily="18" charset="0"/>
              </a:rPr>
              <a:t>Confirming Transactions</a:t>
            </a:r>
          </a:p>
          <a:p>
            <a:pPr marL="0" indent="0" algn="just">
              <a:buNone/>
            </a:pPr>
            <a:r>
              <a:rPr lang="en-US" sz="2800" b="0" i="0" dirty="0">
                <a:solidFill>
                  <a:srgbClr val="000000"/>
                </a:solidFill>
                <a:effectLst/>
                <a:latin typeface="Rockwell(body)"/>
                <a:cs typeface="Times New Roman" panose="02020603050405020304" pitchFamily="18" charset="0"/>
              </a:rPr>
              <a:t>Miners work in the blockchain mining process to confirm whether the transaction is authentic or not. Transactions get confirmed on completing the inclusion in the block.</a:t>
            </a:r>
          </a:p>
          <a:p>
            <a:pPr marL="0" indent="0" algn="just">
              <a:buNone/>
            </a:pPr>
            <a:endParaRPr lang="en-US" sz="2800" dirty="0">
              <a:solidFill>
                <a:srgbClr val="000000"/>
              </a:solidFill>
              <a:latin typeface="Rockwell(body)"/>
              <a:cs typeface="Times New Roman" panose="02020603050405020304" pitchFamily="18" charset="0"/>
            </a:endParaRPr>
          </a:p>
          <a:p>
            <a:pPr marL="0" indent="0" algn="just">
              <a:buNone/>
            </a:pPr>
            <a:r>
              <a:rPr lang="en-US" sz="2800" b="1" i="0" dirty="0">
                <a:solidFill>
                  <a:srgbClr val="303133"/>
                </a:solidFill>
                <a:effectLst/>
                <a:latin typeface="Rockwell(body)"/>
                <a:cs typeface="Times New Roman" panose="02020603050405020304" pitchFamily="18" charset="0"/>
              </a:rPr>
              <a:t>Securing Network</a:t>
            </a:r>
          </a:p>
          <a:p>
            <a:pPr marL="0" indent="0" algn="just">
              <a:buNone/>
            </a:pPr>
            <a:r>
              <a:rPr lang="en-US" sz="2800" b="0" i="0" dirty="0">
                <a:solidFill>
                  <a:srgbClr val="000000"/>
                </a:solidFill>
                <a:effectLst/>
                <a:latin typeface="Rockwell(body)"/>
                <a:cs typeface="Times New Roman" panose="02020603050405020304" pitchFamily="18" charset="0"/>
              </a:rPr>
              <a:t>Bitcoin Miners work together to secure the transaction network. Network security increases with the increase in the operators mining the blockchain.</a:t>
            </a:r>
          </a:p>
          <a:p>
            <a:pPr marL="0" indent="0" algn="just">
              <a:buNone/>
            </a:pPr>
            <a:endParaRPr lang="en-US" sz="2800" b="0" i="0" dirty="0">
              <a:solidFill>
                <a:srgbClr val="000000"/>
              </a:solidFill>
              <a:effectLst/>
              <a:latin typeface="Rockwell(body)"/>
              <a:cs typeface="Times New Roman" panose="02020603050405020304" pitchFamily="18" charset="0"/>
            </a:endParaRPr>
          </a:p>
          <a:p>
            <a:pPr marL="0" indent="0" algn="just">
              <a:buNone/>
            </a:pPr>
            <a:endParaRPr lang="en-IN" sz="2800" dirty="0">
              <a:latin typeface="Rockwell(body)"/>
            </a:endParaRPr>
          </a:p>
        </p:txBody>
      </p:sp>
    </p:spTree>
    <p:extLst>
      <p:ext uri="{BB962C8B-B14F-4D97-AF65-F5344CB8AC3E}">
        <p14:creationId xmlns:p14="http://schemas.microsoft.com/office/powerpoint/2010/main" val="263550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83BB-7A74-29AA-4758-51DB2EF58797}"/>
              </a:ext>
            </a:extLst>
          </p:cNvPr>
          <p:cNvSpPr>
            <a:spLocks noGrp="1"/>
          </p:cNvSpPr>
          <p:nvPr>
            <p:ph type="title"/>
          </p:nvPr>
        </p:nvSpPr>
        <p:spPr/>
        <p:txBody>
          <a:bodyPr>
            <a:normAutofit/>
          </a:bodyPr>
          <a:lstStyle/>
          <a:p>
            <a:r>
              <a:rPr lang="en-US" b="1" i="0" dirty="0">
                <a:solidFill>
                  <a:srgbClr val="000000"/>
                </a:solidFill>
                <a:effectLst/>
                <a:latin typeface="Rockwell Condensed(header)"/>
                <a:cs typeface="Times New Roman" panose="02020603050405020304" pitchFamily="18" charset="0"/>
              </a:rPr>
              <a:t>Algorithms for Blockchain mining:</a:t>
            </a:r>
            <a:endParaRPr lang="en-IN" dirty="0">
              <a:latin typeface="Rockwell Condensed(header)"/>
            </a:endParaRPr>
          </a:p>
        </p:txBody>
      </p:sp>
      <p:sp>
        <p:nvSpPr>
          <p:cNvPr id="3" name="Content Placeholder 2">
            <a:extLst>
              <a:ext uri="{FF2B5EF4-FFF2-40B4-BE49-F238E27FC236}">
                <a16:creationId xmlns:a16="http://schemas.microsoft.com/office/drawing/2014/main" id="{24DDA656-FF3E-0E6D-015D-21811EDE6E01}"/>
              </a:ext>
            </a:extLst>
          </p:cNvPr>
          <p:cNvSpPr>
            <a:spLocks noGrp="1"/>
          </p:cNvSpPr>
          <p:nvPr>
            <p:ph idx="1"/>
          </p:nvPr>
        </p:nvSpPr>
        <p:spPr>
          <a:xfrm>
            <a:off x="428625" y="2121408"/>
            <a:ext cx="11301413" cy="4050792"/>
          </a:xfrm>
        </p:spPr>
        <p:txBody>
          <a:bodyPr>
            <a:noAutofit/>
          </a:bodyPr>
          <a:lstStyle/>
          <a:p>
            <a:pPr marL="0" indent="0" algn="just">
              <a:buNone/>
            </a:pPr>
            <a:r>
              <a:rPr lang="en-US" sz="2500" b="0" i="0" dirty="0">
                <a:solidFill>
                  <a:srgbClr val="000000"/>
                </a:solidFill>
                <a:effectLst/>
                <a:latin typeface="Rockwell(body)"/>
                <a:cs typeface="Times New Roman" panose="02020603050405020304" pitchFamily="18" charset="0"/>
              </a:rPr>
              <a:t>Two prominent algorithms used for Blockchain mining are proof-of-work and proof of stake. </a:t>
            </a:r>
          </a:p>
          <a:p>
            <a:pPr marL="0" indent="0" algn="just">
              <a:buNone/>
            </a:pPr>
            <a:r>
              <a:rPr lang="en-US" sz="2500" dirty="0" err="1">
                <a:latin typeface="Rockwell(body)"/>
              </a:rPr>
              <a:t>PoW</a:t>
            </a:r>
            <a:r>
              <a:rPr lang="en-US" sz="2500" dirty="0">
                <a:latin typeface="Rockwell(body)"/>
              </a:rPr>
              <a:t> is like a race where miners compete to solve a puzzle. The first one to solve it gets to add a block of transactions to the blockchain and earns a reward.</a:t>
            </a:r>
          </a:p>
          <a:p>
            <a:pPr marL="0" indent="0" algn="just">
              <a:buNone/>
            </a:pPr>
            <a:r>
              <a:rPr lang="en-US" sz="2500" dirty="0">
                <a:solidFill>
                  <a:srgbClr val="000000"/>
                </a:solidFill>
                <a:latin typeface="Rockwell(body)"/>
                <a:cs typeface="Times New Roman" panose="02020603050405020304" pitchFamily="18" charset="0"/>
              </a:rPr>
              <a:t>Example: Bitcoin uses </a:t>
            </a:r>
            <a:r>
              <a:rPr lang="en-US" sz="2500" dirty="0" err="1">
                <a:solidFill>
                  <a:srgbClr val="000000"/>
                </a:solidFill>
                <a:latin typeface="Rockwell(body)"/>
                <a:cs typeface="Times New Roman" panose="02020603050405020304" pitchFamily="18" charset="0"/>
              </a:rPr>
              <a:t>PoW</a:t>
            </a:r>
            <a:r>
              <a:rPr lang="en-US" sz="2500" dirty="0">
                <a:solidFill>
                  <a:srgbClr val="000000"/>
                </a:solidFill>
                <a:latin typeface="Rockwell(body)"/>
                <a:cs typeface="Times New Roman" panose="02020603050405020304" pitchFamily="18" charset="0"/>
              </a:rPr>
              <a:t>. Miners compete to solve puzzles. The first miner to solve it broadcasts the solution, and if verified by others, the block is added to the blockchain, and the miner gets bitcoins as a reward.</a:t>
            </a:r>
          </a:p>
          <a:p>
            <a:pPr marL="0" indent="0" algn="just">
              <a:buNone/>
            </a:pPr>
            <a:r>
              <a:rPr lang="en-US" sz="2500" dirty="0" err="1">
                <a:latin typeface="Rockwell(body)"/>
              </a:rPr>
              <a:t>PoW</a:t>
            </a:r>
            <a:r>
              <a:rPr lang="en-US" sz="2500" dirty="0">
                <a:latin typeface="Rockwell(body)"/>
              </a:rPr>
              <a:t> requires a lot of electricity because miners need powerful computers to solve puzzles quickly.</a:t>
            </a:r>
            <a:br>
              <a:rPr lang="en-US" sz="2500" b="0" i="0" dirty="0">
                <a:solidFill>
                  <a:srgbClr val="000000"/>
                </a:solidFill>
                <a:effectLst/>
                <a:latin typeface="Rockwell(body)"/>
                <a:cs typeface="Times New Roman" panose="02020603050405020304" pitchFamily="18" charset="0"/>
              </a:rPr>
            </a:br>
            <a:endParaRPr lang="en-IN" sz="2500" dirty="0">
              <a:latin typeface="Rockwell(body)"/>
            </a:endParaRPr>
          </a:p>
        </p:txBody>
      </p:sp>
    </p:spTree>
    <p:extLst>
      <p:ext uri="{BB962C8B-B14F-4D97-AF65-F5344CB8AC3E}">
        <p14:creationId xmlns:p14="http://schemas.microsoft.com/office/powerpoint/2010/main" val="5662791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81FD39-0949-52B1-C07D-84EF0D382DA0}"/>
              </a:ext>
            </a:extLst>
          </p:cNvPr>
          <p:cNvSpPr>
            <a:spLocks noGrp="1"/>
          </p:cNvSpPr>
          <p:nvPr>
            <p:ph idx="1"/>
          </p:nvPr>
        </p:nvSpPr>
        <p:spPr>
          <a:xfrm>
            <a:off x="655509" y="721233"/>
            <a:ext cx="11031665" cy="4050792"/>
          </a:xfrm>
        </p:spPr>
        <p:txBody>
          <a:bodyPr>
            <a:normAutofit lnSpcReduction="10000"/>
          </a:bodyPr>
          <a:lstStyle/>
          <a:p>
            <a:pPr marL="0" indent="0" algn="just">
              <a:buNone/>
            </a:pPr>
            <a:r>
              <a:rPr lang="en-US" sz="2800" dirty="0" err="1"/>
              <a:t>PoS</a:t>
            </a:r>
            <a:r>
              <a:rPr lang="en-US" sz="2800" dirty="0"/>
              <a:t> is like a lottery where the more cryptocurrency (like coins) you have, the more likely you are to win the right to add the next block of transactions to the blockchain.</a:t>
            </a:r>
          </a:p>
          <a:p>
            <a:pPr marL="0" indent="0" algn="just">
              <a:buNone/>
            </a:pPr>
            <a:endParaRPr lang="en-US" sz="2800" dirty="0"/>
          </a:p>
          <a:p>
            <a:pPr marL="0" indent="0" algn="just">
              <a:buNone/>
            </a:pPr>
            <a:r>
              <a:rPr lang="en-US" sz="2800" b="1" dirty="0"/>
              <a:t>Example</a:t>
            </a:r>
            <a:r>
              <a:rPr lang="en-US" sz="2800" dirty="0"/>
              <a:t>: Ethereum 2.0 is transitioning to </a:t>
            </a:r>
            <a:r>
              <a:rPr lang="en-US" sz="2800" dirty="0" err="1"/>
              <a:t>PoS.</a:t>
            </a:r>
            <a:r>
              <a:rPr lang="en-US" sz="2800" dirty="0"/>
              <a:t> Validators are selected based on the amount of Ether (ETH) they hold and are willing to stake. Chosen validators validate transactions and create new blocks, earning ETH rewards in return.</a:t>
            </a:r>
          </a:p>
          <a:p>
            <a:pPr marL="0" indent="0" algn="just">
              <a:buNone/>
            </a:pPr>
            <a:r>
              <a:rPr lang="en-US" sz="2800" dirty="0" err="1"/>
              <a:t>PoS</a:t>
            </a:r>
            <a:r>
              <a:rPr lang="en-US" sz="2800" dirty="0"/>
              <a:t> is more energy-efficient compared to </a:t>
            </a:r>
            <a:r>
              <a:rPr lang="en-US" sz="2800" dirty="0" err="1"/>
              <a:t>PoW</a:t>
            </a:r>
            <a:r>
              <a:rPr lang="en-US" sz="2800" dirty="0"/>
              <a:t> because it doesn't require intensive computations to solve puzzles.</a:t>
            </a:r>
            <a:endParaRPr lang="en-IN" sz="2800" dirty="0"/>
          </a:p>
        </p:txBody>
      </p:sp>
    </p:spTree>
    <p:extLst>
      <p:ext uri="{BB962C8B-B14F-4D97-AF65-F5344CB8AC3E}">
        <p14:creationId xmlns:p14="http://schemas.microsoft.com/office/powerpoint/2010/main" val="3470141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42AC-4194-9679-1B49-54947B9E3C45}"/>
              </a:ext>
            </a:extLst>
          </p:cNvPr>
          <p:cNvSpPr>
            <a:spLocks noGrp="1"/>
          </p:cNvSpPr>
          <p:nvPr>
            <p:ph type="title"/>
          </p:nvPr>
        </p:nvSpPr>
        <p:spPr/>
        <p:txBody>
          <a:bodyPr/>
          <a:lstStyle/>
          <a:p>
            <a:r>
              <a:rPr lang="en-IN" sz="4400" b="1" i="0" dirty="0">
                <a:solidFill>
                  <a:srgbClr val="303030"/>
                </a:solidFill>
                <a:effectLst/>
                <a:latin typeface="Rockwell Condensed(header)"/>
                <a:cs typeface="Heebo" pitchFamily="2" charset="-79"/>
              </a:rPr>
              <a:t>Blockchain - Merkle Tree</a:t>
            </a:r>
            <a:endParaRPr lang="en-IN" dirty="0">
              <a:latin typeface="Rockwell Condensed(header)"/>
            </a:endParaRPr>
          </a:p>
        </p:txBody>
      </p:sp>
      <p:sp>
        <p:nvSpPr>
          <p:cNvPr id="3" name="Content Placeholder 2">
            <a:extLst>
              <a:ext uri="{FF2B5EF4-FFF2-40B4-BE49-F238E27FC236}">
                <a16:creationId xmlns:a16="http://schemas.microsoft.com/office/drawing/2014/main" id="{AAE7F13C-E449-0BFC-3A75-6411215643DE}"/>
              </a:ext>
            </a:extLst>
          </p:cNvPr>
          <p:cNvSpPr>
            <a:spLocks noGrp="1"/>
          </p:cNvSpPr>
          <p:nvPr>
            <p:ph idx="1"/>
          </p:nvPr>
        </p:nvSpPr>
        <p:spPr/>
        <p:txBody>
          <a:bodyPr>
            <a:normAutofit/>
          </a:bodyPr>
          <a:lstStyle/>
          <a:p>
            <a:pPr marL="0" indent="0" algn="just">
              <a:buNone/>
            </a:pPr>
            <a:r>
              <a:rPr lang="en-US" sz="2800" dirty="0"/>
              <a:t>A </a:t>
            </a:r>
            <a:r>
              <a:rPr lang="en-US" sz="2800" b="1" dirty="0"/>
              <a:t>Merkle tree</a:t>
            </a:r>
            <a:r>
              <a:rPr lang="en-US" sz="2800" dirty="0"/>
              <a:t> (also known as a hash tree) is a fundamental data structure used in computer science and cryptography. It's particularly important in blockchain technology for efficient and secure verification of large sets of data.</a:t>
            </a:r>
            <a:endParaRPr lang="en-IN" sz="2800" dirty="0"/>
          </a:p>
        </p:txBody>
      </p:sp>
    </p:spTree>
    <p:extLst>
      <p:ext uri="{BB962C8B-B14F-4D97-AF65-F5344CB8AC3E}">
        <p14:creationId xmlns:p14="http://schemas.microsoft.com/office/powerpoint/2010/main" val="29253501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4C8E1-04A4-425C-84D8-72D3383F90EE}"/>
              </a:ext>
            </a:extLst>
          </p:cNvPr>
          <p:cNvSpPr>
            <a:spLocks noGrp="1"/>
          </p:cNvSpPr>
          <p:nvPr>
            <p:ph type="title"/>
          </p:nvPr>
        </p:nvSpPr>
        <p:spPr>
          <a:xfrm>
            <a:off x="941260" y="156019"/>
            <a:ext cx="10058400" cy="1609344"/>
          </a:xfrm>
        </p:spPr>
        <p:txBody>
          <a:bodyPr/>
          <a:lstStyle/>
          <a:p>
            <a:r>
              <a:rPr lang="en-IN" b="1" dirty="0"/>
              <a:t>Structure of Merkle tree</a:t>
            </a:r>
          </a:p>
        </p:txBody>
      </p:sp>
      <p:pic>
        <p:nvPicPr>
          <p:cNvPr id="2050" name="Picture 2" descr="Traditional Merkle tree structure | Download Scientific Diagram">
            <a:extLst>
              <a:ext uri="{FF2B5EF4-FFF2-40B4-BE49-F238E27FC236}">
                <a16:creationId xmlns:a16="http://schemas.microsoft.com/office/drawing/2014/main" id="{0F5FA737-01CB-AA82-6FEC-12CD8DAFBC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92340" y="1379078"/>
            <a:ext cx="9637585" cy="5399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250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2FBBE-8759-4ABE-C18C-F37E04BA1C38}"/>
              </a:ext>
            </a:extLst>
          </p:cNvPr>
          <p:cNvSpPr>
            <a:spLocks noGrp="1"/>
          </p:cNvSpPr>
          <p:nvPr>
            <p:ph idx="1"/>
          </p:nvPr>
        </p:nvSpPr>
        <p:spPr>
          <a:xfrm>
            <a:off x="684086" y="878396"/>
            <a:ext cx="10988802" cy="4050792"/>
          </a:xfrm>
        </p:spPr>
        <p:txBody>
          <a:bodyPr>
            <a:normAutofit/>
          </a:bodyPr>
          <a:lstStyle/>
          <a:p>
            <a:pPr marL="0" indent="0" algn="just">
              <a:buNone/>
            </a:pPr>
            <a:r>
              <a:rPr lang="en-US" sz="2800" dirty="0"/>
              <a:t>The tree is constructed from the bottom up, starting with individual pieces of data known as "leaves“. Each leaf node is associated with a cryptographic hash of a data block.</a:t>
            </a:r>
          </a:p>
          <a:p>
            <a:pPr marL="0" indent="0" algn="just">
              <a:buNone/>
            </a:pPr>
            <a:endParaRPr lang="en-US" sz="2800" dirty="0"/>
          </a:p>
          <a:p>
            <a:pPr marL="0" indent="0" algn="just">
              <a:buNone/>
            </a:pPr>
            <a:r>
              <a:rPr lang="en-US" sz="2800" dirty="0"/>
              <a:t>Pairs of leaf nodes are combined to compute a hash of their combined values. This process continues until there is only one hash, known as the "root hash" or "Merkle root," at the top of the tree. The root hash is a cryptographic hash that uniquely represents all the data in the tree.</a:t>
            </a:r>
            <a:endParaRPr lang="en-IN" sz="2800" dirty="0"/>
          </a:p>
        </p:txBody>
      </p:sp>
    </p:spTree>
    <p:extLst>
      <p:ext uri="{BB962C8B-B14F-4D97-AF65-F5344CB8AC3E}">
        <p14:creationId xmlns:p14="http://schemas.microsoft.com/office/powerpoint/2010/main" val="1118946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7AB5D5-AFA9-9D34-831F-1328BFD9112C}"/>
              </a:ext>
            </a:extLst>
          </p:cNvPr>
          <p:cNvSpPr>
            <a:spLocks noGrp="1"/>
          </p:cNvSpPr>
          <p:nvPr>
            <p:ph idx="1"/>
          </p:nvPr>
        </p:nvSpPr>
        <p:spPr>
          <a:xfrm>
            <a:off x="484060" y="635508"/>
            <a:ext cx="10945939" cy="4622292"/>
          </a:xfrm>
        </p:spPr>
        <p:txBody>
          <a:bodyPr>
            <a:normAutofit/>
          </a:bodyPr>
          <a:lstStyle/>
          <a:p>
            <a:pPr algn="just"/>
            <a:r>
              <a:rPr lang="en-US" sz="2800" dirty="0"/>
              <a:t>Suppose we have a blockchain with a block containing 4 transactions:</a:t>
            </a:r>
          </a:p>
          <a:p>
            <a:pPr algn="just">
              <a:buFont typeface="Arial" panose="020B0604020202020204" pitchFamily="34" charset="0"/>
              <a:buChar char="•"/>
            </a:pPr>
            <a:r>
              <a:rPr lang="en-US" sz="2800" dirty="0"/>
              <a:t>Transaction A</a:t>
            </a:r>
          </a:p>
          <a:p>
            <a:pPr algn="just">
              <a:buFont typeface="Arial" panose="020B0604020202020204" pitchFamily="34" charset="0"/>
              <a:buChar char="•"/>
            </a:pPr>
            <a:r>
              <a:rPr lang="en-US" sz="2800" dirty="0"/>
              <a:t>Transaction B</a:t>
            </a:r>
          </a:p>
          <a:p>
            <a:pPr algn="just">
              <a:buFont typeface="Arial" panose="020B0604020202020204" pitchFamily="34" charset="0"/>
              <a:buChar char="•"/>
            </a:pPr>
            <a:r>
              <a:rPr lang="en-US" sz="2800" dirty="0"/>
              <a:t>Transaction C</a:t>
            </a:r>
          </a:p>
          <a:p>
            <a:pPr algn="just">
              <a:buFont typeface="Arial" panose="020B0604020202020204" pitchFamily="34" charset="0"/>
              <a:buChar char="•"/>
            </a:pPr>
            <a:r>
              <a:rPr lang="en-US" sz="2800" dirty="0"/>
              <a:t>Transaction D</a:t>
            </a:r>
          </a:p>
          <a:p>
            <a:pPr marL="0" indent="0" algn="just">
              <a:buNone/>
            </a:pPr>
            <a:endParaRPr lang="en-US" sz="2800" dirty="0"/>
          </a:p>
          <a:p>
            <a:pPr marL="0" indent="0" algn="just">
              <a:buNone/>
            </a:pPr>
            <a:r>
              <a:rPr lang="en-US" sz="2800" dirty="0"/>
              <a:t>Each transaction (A, B, C, D) is hashed individually. Let's denote these hashes as H(A), H(B), H(C), and H(D).</a:t>
            </a:r>
            <a:endParaRPr lang="en-IN" sz="2800" dirty="0"/>
          </a:p>
        </p:txBody>
      </p:sp>
    </p:spTree>
    <p:extLst>
      <p:ext uri="{BB962C8B-B14F-4D97-AF65-F5344CB8AC3E}">
        <p14:creationId xmlns:p14="http://schemas.microsoft.com/office/powerpoint/2010/main" val="30381529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9A269-C871-BB6D-2195-B681AD9774AF}"/>
              </a:ext>
            </a:extLst>
          </p:cNvPr>
          <p:cNvSpPr>
            <a:spLocks noGrp="1"/>
          </p:cNvSpPr>
          <p:nvPr>
            <p:ph idx="1"/>
          </p:nvPr>
        </p:nvSpPr>
        <p:spPr>
          <a:xfrm>
            <a:off x="484061" y="792670"/>
            <a:ext cx="11031664" cy="4050792"/>
          </a:xfrm>
        </p:spPr>
        <p:txBody>
          <a:bodyPr>
            <a:normAutofit/>
          </a:bodyPr>
          <a:lstStyle/>
          <a:p>
            <a:pPr algn="just">
              <a:buFont typeface="Arial" panose="020B0604020202020204" pitchFamily="34" charset="0"/>
              <a:buChar char="•"/>
            </a:pPr>
            <a:r>
              <a:rPr lang="en-IN" sz="2800" dirty="0">
                <a:latin typeface="Rockwell (Body)"/>
              </a:rPr>
              <a:t>Pair transactions and hash their concatenated hashes:</a:t>
            </a:r>
          </a:p>
          <a:p>
            <a:pPr algn="just">
              <a:buFont typeface="Arial" panose="020B0604020202020204" pitchFamily="34" charset="0"/>
              <a:buChar char="•"/>
            </a:pPr>
            <a:r>
              <a:rPr lang="en-IN" sz="2800" dirty="0">
                <a:latin typeface="Rockwell (Body)"/>
              </a:rPr>
              <a:t>Pair H(A) and H(B), compute H(AB) = hash(H(A) + H(B))</a:t>
            </a:r>
          </a:p>
          <a:p>
            <a:pPr algn="just">
              <a:buFont typeface="Arial" panose="020B0604020202020204" pitchFamily="34" charset="0"/>
              <a:buChar char="•"/>
            </a:pPr>
            <a:r>
              <a:rPr lang="en-IN" sz="2800" dirty="0">
                <a:latin typeface="Rockwell (Body)"/>
              </a:rPr>
              <a:t>Pair H(C) and H(D), compute H(CD) = hash(H(C) + H(D))</a:t>
            </a:r>
          </a:p>
          <a:p>
            <a:pPr marL="0" indent="0" algn="just">
              <a:buNone/>
            </a:pPr>
            <a:endParaRPr lang="en-US" sz="2800" dirty="0">
              <a:latin typeface="Rockwell (Body)"/>
            </a:endParaRPr>
          </a:p>
          <a:p>
            <a:pPr marL="0" indent="0" algn="just">
              <a:buNone/>
            </a:pPr>
            <a:r>
              <a:rPr lang="en-US" sz="2800" dirty="0">
                <a:latin typeface="Rockwell (Body)"/>
              </a:rPr>
              <a:t>Root Hash = hash(H(AB) + H(CD))</a:t>
            </a:r>
            <a:endParaRPr lang="en-IN" sz="2800" dirty="0">
              <a:latin typeface="Rockwell (Body)"/>
            </a:endParaRPr>
          </a:p>
        </p:txBody>
      </p:sp>
    </p:spTree>
    <p:extLst>
      <p:ext uri="{BB962C8B-B14F-4D97-AF65-F5344CB8AC3E}">
        <p14:creationId xmlns:p14="http://schemas.microsoft.com/office/powerpoint/2010/main" val="3020592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87B24-9536-35C3-290F-2957E8A13889}"/>
              </a:ext>
            </a:extLst>
          </p:cNvPr>
          <p:cNvSpPr>
            <a:spLocks noGrp="1"/>
          </p:cNvSpPr>
          <p:nvPr>
            <p:ph type="title"/>
          </p:nvPr>
        </p:nvSpPr>
        <p:spPr/>
        <p:txBody>
          <a:bodyPr/>
          <a:lstStyle/>
          <a:p>
            <a:r>
              <a:rPr lang="en-IN" b="1" dirty="0"/>
              <a:t>Block Header</a:t>
            </a:r>
          </a:p>
        </p:txBody>
      </p:sp>
      <p:sp>
        <p:nvSpPr>
          <p:cNvPr id="3" name="Content Placeholder 2">
            <a:extLst>
              <a:ext uri="{FF2B5EF4-FFF2-40B4-BE49-F238E27FC236}">
                <a16:creationId xmlns:a16="http://schemas.microsoft.com/office/drawing/2014/main" id="{A4DFB5AE-1169-8632-B544-1EF2CBC717AD}"/>
              </a:ext>
            </a:extLst>
          </p:cNvPr>
          <p:cNvSpPr>
            <a:spLocks noGrp="1"/>
          </p:cNvSpPr>
          <p:nvPr>
            <p:ph idx="1"/>
          </p:nvPr>
        </p:nvSpPr>
        <p:spPr/>
        <p:txBody>
          <a:bodyPr>
            <a:normAutofit/>
          </a:bodyPr>
          <a:lstStyle/>
          <a:p>
            <a:pPr marL="0" indent="0" algn="just">
              <a:buNone/>
            </a:pPr>
            <a:r>
              <a:rPr lang="en-US" sz="2800" dirty="0"/>
              <a:t>In a blockchain, a block header is like an ID card for each block of transactions. It contains important information that makes sure everything in the blockchain works smoothly and securely.</a:t>
            </a:r>
            <a:endParaRPr lang="en-IN" sz="2800" dirty="0"/>
          </a:p>
        </p:txBody>
      </p:sp>
    </p:spTree>
    <p:extLst>
      <p:ext uri="{BB962C8B-B14F-4D97-AF65-F5344CB8AC3E}">
        <p14:creationId xmlns:p14="http://schemas.microsoft.com/office/powerpoint/2010/main" val="13303339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DEF24-F283-215C-7E89-B192B2A3A878}"/>
              </a:ext>
            </a:extLst>
          </p:cNvPr>
          <p:cNvSpPr>
            <a:spLocks noGrp="1"/>
          </p:cNvSpPr>
          <p:nvPr>
            <p:ph type="title"/>
          </p:nvPr>
        </p:nvSpPr>
        <p:spPr/>
        <p:txBody>
          <a:bodyPr/>
          <a:lstStyle/>
          <a:p>
            <a:r>
              <a:rPr lang="en-US" dirty="0"/>
              <a:t>Components of a Block Header:</a:t>
            </a:r>
            <a:endParaRPr lang="en-IN" dirty="0"/>
          </a:p>
        </p:txBody>
      </p:sp>
      <p:sp>
        <p:nvSpPr>
          <p:cNvPr id="3" name="Content Placeholder 2">
            <a:extLst>
              <a:ext uri="{FF2B5EF4-FFF2-40B4-BE49-F238E27FC236}">
                <a16:creationId xmlns:a16="http://schemas.microsoft.com/office/drawing/2014/main" id="{A64C9807-6FB3-9478-9E99-D64CA125DF19}"/>
              </a:ext>
            </a:extLst>
          </p:cNvPr>
          <p:cNvSpPr>
            <a:spLocks noGrp="1"/>
          </p:cNvSpPr>
          <p:nvPr>
            <p:ph idx="1"/>
          </p:nvPr>
        </p:nvSpPr>
        <p:spPr>
          <a:xfrm>
            <a:off x="671513" y="2121408"/>
            <a:ext cx="11001375" cy="4050792"/>
          </a:xfrm>
        </p:spPr>
        <p:txBody>
          <a:bodyPr>
            <a:noAutofit/>
          </a:bodyPr>
          <a:lstStyle/>
          <a:p>
            <a:pPr marL="0" indent="0" algn="just">
              <a:buNone/>
            </a:pPr>
            <a:r>
              <a:rPr lang="en-US" sz="2500" dirty="0"/>
              <a:t>Version Number: This indicates the version of the blockchain protocol being used.</a:t>
            </a:r>
          </a:p>
          <a:p>
            <a:pPr marL="0" indent="0" algn="just">
              <a:buNone/>
            </a:pPr>
            <a:endParaRPr lang="en-US" sz="2500" dirty="0"/>
          </a:p>
          <a:p>
            <a:pPr marL="0" indent="0" algn="just">
              <a:buNone/>
            </a:pPr>
            <a:r>
              <a:rPr lang="en-US" sz="2500" dirty="0"/>
              <a:t>Previous Block Hash: This is the cryptographic hash of the header of the previous block in the blockchain. It links the current block to its predecessor, creating the chain of blocks.</a:t>
            </a:r>
          </a:p>
          <a:p>
            <a:pPr marL="0" indent="0" algn="just">
              <a:buNone/>
            </a:pPr>
            <a:endParaRPr lang="en-US" sz="2500" dirty="0"/>
          </a:p>
          <a:p>
            <a:pPr marL="0" indent="0" algn="just">
              <a:buNone/>
            </a:pPr>
            <a:r>
              <a:rPr lang="en-US" sz="2500" dirty="0"/>
              <a:t>Merkle Root: The Merkle root is the root hash of the Merkle tree </a:t>
            </a:r>
          </a:p>
          <a:p>
            <a:pPr marL="0" indent="0" algn="just">
              <a:buNone/>
            </a:pPr>
            <a:endParaRPr lang="en-IN" sz="2500" dirty="0"/>
          </a:p>
        </p:txBody>
      </p:sp>
    </p:spTree>
    <p:extLst>
      <p:ext uri="{BB962C8B-B14F-4D97-AF65-F5344CB8AC3E}">
        <p14:creationId xmlns:p14="http://schemas.microsoft.com/office/powerpoint/2010/main" val="42406654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04BA3-C1BE-8B35-A45C-B70D49F45A52}"/>
              </a:ext>
            </a:extLst>
          </p:cNvPr>
          <p:cNvSpPr>
            <a:spLocks noGrp="1"/>
          </p:cNvSpPr>
          <p:nvPr>
            <p:ph idx="1"/>
          </p:nvPr>
        </p:nvSpPr>
        <p:spPr>
          <a:xfrm>
            <a:off x="573881" y="1164145"/>
            <a:ext cx="11044237" cy="4050792"/>
          </a:xfrm>
        </p:spPr>
        <p:txBody>
          <a:bodyPr>
            <a:normAutofit lnSpcReduction="10000"/>
          </a:bodyPr>
          <a:lstStyle/>
          <a:p>
            <a:pPr marL="0" indent="0" algn="just">
              <a:buNone/>
            </a:pPr>
            <a:r>
              <a:rPr lang="en-US" sz="2500" dirty="0"/>
              <a:t>Timestamp: The timestamp records the exact time when the block was created or mined. It helps in maintaining the chronological order of blocks in the blockchain.</a:t>
            </a:r>
          </a:p>
          <a:p>
            <a:pPr marL="0" indent="0" algn="just">
              <a:buNone/>
            </a:pPr>
            <a:endParaRPr lang="en-US" sz="2500" dirty="0"/>
          </a:p>
          <a:p>
            <a:pPr marL="0" indent="0" algn="just">
              <a:buNone/>
            </a:pPr>
            <a:r>
              <a:rPr lang="en-US" sz="2500" dirty="0"/>
              <a:t>Difficulty Target: This field specifies the difficulty level that the block's proof-of-work must meet.</a:t>
            </a:r>
          </a:p>
          <a:p>
            <a:pPr marL="0" indent="0" algn="just">
              <a:buNone/>
            </a:pPr>
            <a:endParaRPr lang="en-US" sz="2500" dirty="0"/>
          </a:p>
          <a:p>
            <a:pPr marL="0" indent="0" algn="just">
              <a:buNone/>
            </a:pPr>
            <a:r>
              <a:rPr lang="en-US" sz="2500" dirty="0"/>
              <a:t>Nonce: The nonce is a 32-bit (or larger) field used in proof-of-work algorithms. Miners change the nonce value repeatedly to find a hash value that meets the difficulty target.</a:t>
            </a:r>
          </a:p>
          <a:p>
            <a:pPr marL="0" indent="0" algn="just">
              <a:buNone/>
            </a:pPr>
            <a:endParaRPr lang="en-IN" sz="2500" dirty="0"/>
          </a:p>
        </p:txBody>
      </p:sp>
    </p:spTree>
    <p:extLst>
      <p:ext uri="{BB962C8B-B14F-4D97-AF65-F5344CB8AC3E}">
        <p14:creationId xmlns:p14="http://schemas.microsoft.com/office/powerpoint/2010/main" val="20512277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F23940-5C99-3821-BB6B-AB27DE588ED1}"/>
              </a:ext>
            </a:extLst>
          </p:cNvPr>
          <p:cNvSpPr>
            <a:spLocks noGrp="1"/>
          </p:cNvSpPr>
          <p:nvPr>
            <p:ph idx="1"/>
          </p:nvPr>
        </p:nvSpPr>
        <p:spPr>
          <a:xfrm>
            <a:off x="419101" y="768350"/>
            <a:ext cx="11772899" cy="4351338"/>
          </a:xfrm>
        </p:spPr>
        <p:txBody>
          <a:bodyPr>
            <a:normAutofit/>
          </a:bodyPr>
          <a:lstStyle/>
          <a:p>
            <a:pPr marL="0" indent="0" algn="just">
              <a:buNone/>
            </a:pPr>
            <a:r>
              <a:rPr lang="en-IN" sz="2200" dirty="0"/>
              <a:t>{ </a:t>
            </a:r>
          </a:p>
          <a:p>
            <a:pPr marL="0" indent="0" algn="just">
              <a:buNone/>
            </a:pPr>
            <a:r>
              <a:rPr lang="en-IN" sz="2200" dirty="0"/>
              <a:t>"version": 1, </a:t>
            </a:r>
          </a:p>
          <a:p>
            <a:pPr marL="0" indent="0" algn="just">
              <a:buNone/>
            </a:pPr>
            <a:r>
              <a:rPr lang="en-IN" sz="2200" dirty="0"/>
              <a:t>"</a:t>
            </a:r>
            <a:r>
              <a:rPr lang="en-IN" sz="2200" dirty="0" err="1"/>
              <a:t>previousBlockHash</a:t>
            </a:r>
            <a:r>
              <a:rPr lang="en-IN" sz="2200" dirty="0"/>
              <a:t>": "00000000000000000014cde3a62f24e8f7ee562f0fe8d1bfa1e36d7c69b17a21", </a:t>
            </a:r>
          </a:p>
          <a:p>
            <a:pPr marL="0" indent="0" algn="just">
              <a:buNone/>
            </a:pPr>
            <a:r>
              <a:rPr lang="en-IN" sz="2200" dirty="0"/>
              <a:t>"</a:t>
            </a:r>
            <a:r>
              <a:rPr lang="en-IN" sz="2200" dirty="0" err="1"/>
              <a:t>merkleRoot</a:t>
            </a:r>
            <a:r>
              <a:rPr lang="en-IN" sz="2200" dirty="0"/>
              <a:t>": "c7f7a1c5d3feadfa4e5c632c899d7b9c9e5321c8a4467c9146e7b153e7a612ce", </a:t>
            </a:r>
          </a:p>
          <a:p>
            <a:pPr marL="0" indent="0" algn="just">
              <a:buNone/>
            </a:pPr>
            <a:r>
              <a:rPr lang="en-IN" sz="2200" dirty="0"/>
              <a:t>"timestamp": 1630850492, </a:t>
            </a:r>
          </a:p>
          <a:p>
            <a:pPr marL="0" indent="0" algn="just">
              <a:buNone/>
            </a:pPr>
            <a:r>
              <a:rPr lang="en-IN" sz="2200" dirty="0"/>
              <a:t>"</a:t>
            </a:r>
            <a:r>
              <a:rPr lang="en-IN" sz="2200" dirty="0" err="1"/>
              <a:t>difficultyTarget</a:t>
            </a:r>
            <a:r>
              <a:rPr lang="en-IN" sz="2200" dirty="0"/>
              <a:t>": 120330, </a:t>
            </a:r>
          </a:p>
          <a:p>
            <a:pPr marL="0" indent="0" algn="just">
              <a:buNone/>
            </a:pPr>
            <a:r>
              <a:rPr lang="en-IN" sz="2200" dirty="0"/>
              <a:t>"nonce": 1984710036 </a:t>
            </a:r>
          </a:p>
          <a:p>
            <a:pPr marL="0" indent="0" algn="just">
              <a:buNone/>
            </a:pPr>
            <a:r>
              <a:rPr lang="en-IN" sz="2200" dirty="0"/>
              <a:t>}</a:t>
            </a:r>
          </a:p>
        </p:txBody>
      </p:sp>
    </p:spTree>
    <p:extLst>
      <p:ext uri="{BB962C8B-B14F-4D97-AF65-F5344CB8AC3E}">
        <p14:creationId xmlns:p14="http://schemas.microsoft.com/office/powerpoint/2010/main" val="2679905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F8D90-F03B-0BCD-0282-B597F1A107A7}"/>
              </a:ext>
            </a:extLst>
          </p:cNvPr>
          <p:cNvSpPr>
            <a:spLocks noGrp="1"/>
          </p:cNvSpPr>
          <p:nvPr>
            <p:ph type="title"/>
          </p:nvPr>
        </p:nvSpPr>
        <p:spPr/>
        <p:txBody>
          <a:bodyPr/>
          <a:lstStyle/>
          <a:p>
            <a:r>
              <a:rPr lang="en-IN" b="1" dirty="0"/>
              <a:t>Payment verification- Merkle tree benefits</a:t>
            </a:r>
          </a:p>
        </p:txBody>
      </p:sp>
      <p:sp>
        <p:nvSpPr>
          <p:cNvPr id="3" name="Content Placeholder 2">
            <a:extLst>
              <a:ext uri="{FF2B5EF4-FFF2-40B4-BE49-F238E27FC236}">
                <a16:creationId xmlns:a16="http://schemas.microsoft.com/office/drawing/2014/main" id="{C4031111-1359-8713-34D2-6CE222CD3F8F}"/>
              </a:ext>
            </a:extLst>
          </p:cNvPr>
          <p:cNvSpPr>
            <a:spLocks noGrp="1"/>
          </p:cNvSpPr>
          <p:nvPr>
            <p:ph idx="1"/>
          </p:nvPr>
        </p:nvSpPr>
        <p:spPr>
          <a:xfrm>
            <a:off x="1063752" y="2738629"/>
            <a:ext cx="10780586" cy="4050792"/>
          </a:xfrm>
        </p:spPr>
        <p:txBody>
          <a:bodyPr>
            <a:normAutofit/>
          </a:bodyPr>
          <a:lstStyle/>
          <a:p>
            <a:pPr marL="0" indent="0" algn="just">
              <a:buNone/>
            </a:pPr>
            <a:r>
              <a:rPr lang="en-US" sz="2700" dirty="0"/>
              <a:t>The Merkle tree helps you quickly find and verify transactions by using hashes in a hierarchical way.</a:t>
            </a:r>
            <a:endParaRPr lang="en-IN" sz="2700" dirty="0"/>
          </a:p>
        </p:txBody>
      </p:sp>
    </p:spTree>
    <p:extLst>
      <p:ext uri="{BB962C8B-B14F-4D97-AF65-F5344CB8AC3E}">
        <p14:creationId xmlns:p14="http://schemas.microsoft.com/office/powerpoint/2010/main" val="4266833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45DAD1-EF65-6BA6-6541-82381C08DC8C}"/>
              </a:ext>
            </a:extLst>
          </p:cNvPr>
          <p:cNvSpPr>
            <a:spLocks noGrp="1"/>
          </p:cNvSpPr>
          <p:nvPr>
            <p:ph idx="1"/>
          </p:nvPr>
        </p:nvSpPr>
        <p:spPr>
          <a:xfrm>
            <a:off x="542925" y="928688"/>
            <a:ext cx="10810875" cy="5248275"/>
          </a:xfrm>
        </p:spPr>
        <p:txBody>
          <a:bodyPr>
            <a:normAutofit/>
          </a:bodyPr>
          <a:lstStyle/>
          <a:p>
            <a:pPr marL="0" indent="0" algn="just">
              <a:buNone/>
            </a:pPr>
            <a:r>
              <a:rPr lang="en-US" sz="2800" b="1" dirty="0"/>
              <a:t>Scenario:</a:t>
            </a:r>
          </a:p>
          <a:p>
            <a:pPr marL="0" indent="0" algn="just">
              <a:buNone/>
            </a:pPr>
            <a:r>
              <a:rPr lang="en-US" sz="2800" dirty="0"/>
              <a:t>You want to check if a payment you received in the past was actually recorded on the blockchain. However, you only have a simplified version of the blockchain on your computer that includes just the headers of each block.</a:t>
            </a:r>
          </a:p>
          <a:p>
            <a:pPr marL="0" indent="0" algn="just">
              <a:buNone/>
            </a:pPr>
            <a:endParaRPr lang="en-IN" sz="2800" dirty="0"/>
          </a:p>
        </p:txBody>
      </p:sp>
    </p:spTree>
    <p:extLst>
      <p:ext uri="{BB962C8B-B14F-4D97-AF65-F5344CB8AC3E}">
        <p14:creationId xmlns:p14="http://schemas.microsoft.com/office/powerpoint/2010/main" val="11310841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09A58A-F604-3400-644D-DE1383C43FC4}"/>
              </a:ext>
            </a:extLst>
          </p:cNvPr>
          <p:cNvSpPr>
            <a:spLocks noGrp="1"/>
          </p:cNvSpPr>
          <p:nvPr>
            <p:ph idx="1"/>
          </p:nvPr>
        </p:nvSpPr>
        <p:spPr>
          <a:xfrm>
            <a:off x="838200" y="457200"/>
            <a:ext cx="10515600" cy="5719763"/>
          </a:xfrm>
        </p:spPr>
        <p:txBody>
          <a:bodyPr>
            <a:noAutofit/>
          </a:bodyPr>
          <a:lstStyle/>
          <a:p>
            <a:pPr marL="0" indent="0" algn="just">
              <a:buNone/>
            </a:pPr>
            <a:r>
              <a:rPr lang="en-US" sz="2500" b="1" dirty="0"/>
              <a:t>Find the Time of the Payment:</a:t>
            </a:r>
          </a:p>
          <a:p>
            <a:pPr marL="0" indent="0" algn="just">
              <a:buNone/>
            </a:pPr>
            <a:r>
              <a:rPr lang="en-US" sz="2500" dirty="0"/>
              <a:t>Figure out roughly when the payment was made. This helps narrow down where to look in the blockchain.</a:t>
            </a:r>
          </a:p>
          <a:p>
            <a:pPr marL="0" indent="0" algn="just">
              <a:buNone/>
            </a:pPr>
            <a:r>
              <a:rPr lang="en-US" sz="2500" b="1" dirty="0"/>
              <a:t>Look Back in Your Blockchain:</a:t>
            </a:r>
          </a:p>
          <a:p>
            <a:pPr marL="0" indent="0" algn="just">
              <a:buNone/>
            </a:pPr>
            <a:r>
              <a:rPr lang="en-US" sz="2500" dirty="0"/>
              <a:t>Start from the most recent block (the latest transactions) and go backwards.</a:t>
            </a:r>
          </a:p>
          <a:p>
            <a:pPr marL="0" indent="0" algn="just">
              <a:buNone/>
            </a:pPr>
            <a:r>
              <a:rPr lang="en-US" sz="2500" dirty="0"/>
              <a:t>Check each block's timestamp until you find one that might include the payment transaction.</a:t>
            </a:r>
          </a:p>
          <a:p>
            <a:pPr marL="0" indent="0" algn="just">
              <a:buNone/>
            </a:pPr>
            <a:r>
              <a:rPr lang="en-US" sz="2500" b="1" dirty="0"/>
              <a:t>Find the Right Block:</a:t>
            </a:r>
          </a:p>
          <a:p>
            <a:pPr marL="0" indent="0" algn="just">
              <a:buNone/>
            </a:pPr>
            <a:r>
              <a:rPr lang="en-US" sz="2500" dirty="0"/>
              <a:t>When you find a block that matches the timeframe of the payment, check inside it to see if it contains the specific transaction you're interested in.</a:t>
            </a:r>
          </a:p>
          <a:p>
            <a:pPr marL="0" indent="0" algn="just">
              <a:buNone/>
            </a:pPr>
            <a:endParaRPr lang="en-IN" sz="2500" dirty="0"/>
          </a:p>
        </p:txBody>
      </p:sp>
    </p:spTree>
    <p:extLst>
      <p:ext uri="{BB962C8B-B14F-4D97-AF65-F5344CB8AC3E}">
        <p14:creationId xmlns:p14="http://schemas.microsoft.com/office/powerpoint/2010/main" val="21850163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62CA4-7F03-0268-2840-297894B78F91}"/>
              </a:ext>
            </a:extLst>
          </p:cNvPr>
          <p:cNvSpPr>
            <a:spLocks noGrp="1"/>
          </p:cNvSpPr>
          <p:nvPr>
            <p:ph idx="1"/>
          </p:nvPr>
        </p:nvSpPr>
        <p:spPr>
          <a:xfrm>
            <a:off x="508730" y="1235583"/>
            <a:ext cx="11174539" cy="4050792"/>
          </a:xfrm>
        </p:spPr>
        <p:txBody>
          <a:bodyPr/>
          <a:lstStyle/>
          <a:p>
            <a:pPr marL="0" indent="0" algn="just">
              <a:buNone/>
            </a:pPr>
            <a:r>
              <a:rPr lang="en-US" sz="2500" b="1" dirty="0"/>
              <a:t>Request the Merkle Tree:</a:t>
            </a:r>
          </a:p>
          <a:p>
            <a:pPr marL="0" indent="0" algn="just">
              <a:buNone/>
            </a:pPr>
            <a:r>
              <a:rPr lang="en-US" sz="2500" dirty="0"/>
              <a:t>Once you find the block that likely contains the payment transaction, ask your blockchain software to show you the Merkle tree for that block.</a:t>
            </a:r>
          </a:p>
          <a:p>
            <a:pPr marL="0" indent="0" algn="just">
              <a:buNone/>
            </a:pPr>
            <a:endParaRPr lang="en-US" sz="2500" dirty="0"/>
          </a:p>
          <a:p>
            <a:pPr marL="0" indent="0" algn="just">
              <a:buNone/>
            </a:pPr>
            <a:r>
              <a:rPr lang="en-US" sz="2500" b="1" dirty="0"/>
              <a:t>Locate Your Payment:</a:t>
            </a:r>
          </a:p>
          <a:p>
            <a:pPr marL="0" indent="0" algn="just">
              <a:buNone/>
            </a:pPr>
            <a:r>
              <a:rPr lang="en-US" sz="2500" dirty="0"/>
              <a:t>In the Merkle tree, find the transaction that matches the details of the payment you received. Each transaction is represented by a hash (a unique identifier).</a:t>
            </a:r>
          </a:p>
          <a:p>
            <a:pPr marL="0" indent="0" algn="just">
              <a:buNone/>
            </a:pPr>
            <a:endParaRPr lang="en-IN" dirty="0"/>
          </a:p>
        </p:txBody>
      </p:sp>
    </p:spTree>
    <p:extLst>
      <p:ext uri="{BB962C8B-B14F-4D97-AF65-F5344CB8AC3E}">
        <p14:creationId xmlns:p14="http://schemas.microsoft.com/office/powerpoint/2010/main" val="1940905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8C3CB-CE3C-88DC-4C29-45AC2629B903}"/>
              </a:ext>
            </a:extLst>
          </p:cNvPr>
          <p:cNvSpPr>
            <a:spLocks noGrp="1"/>
          </p:cNvSpPr>
          <p:nvPr>
            <p:ph type="title"/>
          </p:nvPr>
        </p:nvSpPr>
        <p:spPr/>
        <p:txBody>
          <a:bodyPr/>
          <a:lstStyle/>
          <a:p>
            <a:r>
              <a:rPr lang="en-IN" b="1" dirty="0"/>
              <a:t>Resolving Conflicts</a:t>
            </a:r>
          </a:p>
        </p:txBody>
      </p:sp>
      <p:sp>
        <p:nvSpPr>
          <p:cNvPr id="3" name="Content Placeholder 2">
            <a:extLst>
              <a:ext uri="{FF2B5EF4-FFF2-40B4-BE49-F238E27FC236}">
                <a16:creationId xmlns:a16="http://schemas.microsoft.com/office/drawing/2014/main" id="{ED6175AA-3B66-6BB0-CA9A-0E090BF5694E}"/>
              </a:ext>
            </a:extLst>
          </p:cNvPr>
          <p:cNvSpPr>
            <a:spLocks noGrp="1"/>
          </p:cNvSpPr>
          <p:nvPr>
            <p:ph idx="1"/>
          </p:nvPr>
        </p:nvSpPr>
        <p:spPr>
          <a:xfrm>
            <a:off x="571500" y="2121408"/>
            <a:ext cx="11087100" cy="4050792"/>
          </a:xfrm>
        </p:spPr>
        <p:txBody>
          <a:bodyPr>
            <a:normAutofit/>
          </a:bodyPr>
          <a:lstStyle/>
          <a:p>
            <a:pPr marL="0" indent="0" algn="just">
              <a:buNone/>
            </a:pPr>
            <a:r>
              <a:rPr lang="en-US" sz="2500" dirty="0"/>
              <a:t>As we have seen the Bitcoin network contains several miners. It is possible, that the two different miners solve the Proof-of-Work at the same time and thus add their blocks to the last known block in the chain. This is illustrated in below image −</a:t>
            </a:r>
          </a:p>
          <a:p>
            <a:pPr marL="0" indent="0" algn="just">
              <a:buNone/>
            </a:pPr>
            <a:endParaRPr lang="en-IN" sz="2500" dirty="0"/>
          </a:p>
        </p:txBody>
      </p:sp>
      <p:pic>
        <p:nvPicPr>
          <p:cNvPr id="4" name="Picture 3">
            <a:extLst>
              <a:ext uri="{FF2B5EF4-FFF2-40B4-BE49-F238E27FC236}">
                <a16:creationId xmlns:a16="http://schemas.microsoft.com/office/drawing/2014/main" id="{816AD8AF-2D17-E222-AA38-627AF82F3F20}"/>
              </a:ext>
            </a:extLst>
          </p:cNvPr>
          <p:cNvPicPr>
            <a:picLocks noChangeAspect="1"/>
          </p:cNvPicPr>
          <p:nvPr/>
        </p:nvPicPr>
        <p:blipFill>
          <a:blip r:embed="rId2"/>
          <a:stretch>
            <a:fillRect/>
          </a:stretch>
        </p:blipFill>
        <p:spPr>
          <a:xfrm>
            <a:off x="533399" y="3829844"/>
            <a:ext cx="10648259" cy="2342356"/>
          </a:xfrm>
          <a:prstGeom prst="rect">
            <a:avLst/>
          </a:prstGeom>
        </p:spPr>
      </p:pic>
    </p:spTree>
    <p:extLst>
      <p:ext uri="{BB962C8B-B14F-4D97-AF65-F5344CB8AC3E}">
        <p14:creationId xmlns:p14="http://schemas.microsoft.com/office/powerpoint/2010/main" val="14842613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36612-6A29-E248-B5D8-63425660F635}"/>
              </a:ext>
            </a:extLst>
          </p:cNvPr>
          <p:cNvSpPr>
            <a:spLocks noGrp="1"/>
          </p:cNvSpPr>
          <p:nvPr>
            <p:ph idx="1"/>
          </p:nvPr>
        </p:nvSpPr>
        <p:spPr>
          <a:xfrm>
            <a:off x="838200" y="342899"/>
            <a:ext cx="10515600" cy="6029326"/>
          </a:xfrm>
        </p:spPr>
        <p:txBody>
          <a:bodyPr>
            <a:normAutofit/>
          </a:bodyPr>
          <a:lstStyle/>
          <a:p>
            <a:pPr marL="0" indent="0" algn="just">
              <a:buNone/>
            </a:pPr>
            <a:r>
              <a:rPr lang="en-US" sz="2700" dirty="0"/>
              <a:t>The Bitcoin blockchain is currently at Block 103, and miners are competing to find the next valid block (Block 104).</a:t>
            </a:r>
          </a:p>
          <a:p>
            <a:pPr marL="0" indent="0" algn="just">
              <a:buNone/>
            </a:pPr>
            <a:r>
              <a:rPr lang="en-US" sz="2700" dirty="0"/>
              <a:t>Miner A and Miner B are both actively mining Block 104. They are trying to solve the Proof-of-Work puzzle, which involves finding a hash value that meets the network's difficulty target.</a:t>
            </a:r>
          </a:p>
          <a:p>
            <a:pPr marL="0" indent="0" algn="just">
              <a:buNone/>
            </a:pPr>
            <a:r>
              <a:rPr lang="en-US" sz="2700" dirty="0"/>
              <a:t>Miner A and Miner B both find a valid solution to the </a:t>
            </a:r>
            <a:r>
              <a:rPr lang="en-US" sz="2700" dirty="0" err="1"/>
              <a:t>PoW</a:t>
            </a:r>
            <a:r>
              <a:rPr lang="en-US" sz="2700" dirty="0"/>
              <a:t> puzzle at almost the same time. </a:t>
            </a:r>
          </a:p>
          <a:p>
            <a:pPr marL="0" indent="0" algn="just">
              <a:buNone/>
            </a:pPr>
            <a:r>
              <a:rPr lang="en-US" sz="2700" dirty="0"/>
              <a:t>Let's say, Miner A finds Block 104a with its own set of transactions and broadcasts it to the network. Miner B finds Block 104b with a different set of transactions and also broadcasts it to the network.</a:t>
            </a:r>
          </a:p>
          <a:p>
            <a:pPr marL="0" indent="0" algn="just">
              <a:buNone/>
            </a:pPr>
            <a:r>
              <a:rPr lang="en-US" sz="2700" dirty="0"/>
              <a:t>Nodes in the Bitcoin network receive both Block 104a and Block 104b almost simultaneously. Some nodes might receive Block 104a first, while others might receive Block 104b first due to network latency.</a:t>
            </a:r>
          </a:p>
        </p:txBody>
      </p:sp>
    </p:spTree>
    <p:extLst>
      <p:ext uri="{BB962C8B-B14F-4D97-AF65-F5344CB8AC3E}">
        <p14:creationId xmlns:p14="http://schemas.microsoft.com/office/powerpoint/2010/main" val="35728377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FFA13-4B42-7750-B4B2-28B76D64C8A6}"/>
              </a:ext>
            </a:extLst>
          </p:cNvPr>
          <p:cNvSpPr>
            <a:spLocks noGrp="1"/>
          </p:cNvSpPr>
          <p:nvPr>
            <p:ph idx="1"/>
          </p:nvPr>
        </p:nvSpPr>
        <p:spPr>
          <a:xfrm>
            <a:off x="542925" y="700088"/>
            <a:ext cx="11272838" cy="5472112"/>
          </a:xfrm>
        </p:spPr>
        <p:txBody>
          <a:bodyPr>
            <a:normAutofit/>
          </a:bodyPr>
          <a:lstStyle/>
          <a:p>
            <a:pPr marL="0" indent="0" algn="just">
              <a:buNone/>
            </a:pPr>
            <a:r>
              <a:rPr lang="en-US" sz="2500" dirty="0"/>
              <a:t>Miners and nodes in the network continue to mine and add new blocks to either Chain 1 or Chain 2, based on their received blocks.</a:t>
            </a:r>
          </a:p>
          <a:p>
            <a:pPr marL="0" indent="0" algn="just">
              <a:buNone/>
            </a:pPr>
            <a:r>
              <a:rPr lang="en-US" sz="2500" dirty="0"/>
              <a:t>The Bitcoin protocol dictates that nodes always follow the longest valid chain, which is the chain with the most accumulated Proof-of-Work. </a:t>
            </a:r>
          </a:p>
          <a:p>
            <a:pPr marL="0" indent="0" algn="just">
              <a:buNone/>
            </a:pPr>
            <a:endParaRPr lang="en-US" sz="2500" dirty="0"/>
          </a:p>
          <a:p>
            <a:pPr marL="0" indent="0" algn="just">
              <a:buNone/>
            </a:pPr>
            <a:r>
              <a:rPr lang="en-US" sz="2500" dirty="0"/>
              <a:t>As more miners continue to mine subsequent blocks One of the chains (let's say Chain 1) will eventually have more blocks added to it, making it the longest chain.</a:t>
            </a:r>
          </a:p>
          <a:p>
            <a:pPr marL="0" indent="0" algn="just">
              <a:buNone/>
            </a:pPr>
            <a:r>
              <a:rPr lang="en-US" sz="2500" dirty="0"/>
              <a:t>Nodes on the network will abandon the shorter chain (Chain 2 in this case) and adopt Chain 1 as the valid blockchain.</a:t>
            </a:r>
            <a:endParaRPr lang="en-IN" sz="2500" dirty="0"/>
          </a:p>
          <a:p>
            <a:pPr marL="0" indent="0" algn="just">
              <a:buNone/>
            </a:pPr>
            <a:endParaRPr lang="en-IN" sz="2500" dirty="0"/>
          </a:p>
        </p:txBody>
      </p:sp>
    </p:spTree>
    <p:extLst>
      <p:ext uri="{BB962C8B-B14F-4D97-AF65-F5344CB8AC3E}">
        <p14:creationId xmlns:p14="http://schemas.microsoft.com/office/powerpoint/2010/main" val="10928085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4059D26-8DBC-3ECA-A2D1-2F1D1CD7D6BB}"/>
              </a:ext>
            </a:extLst>
          </p:cNvPr>
          <p:cNvPicPr>
            <a:picLocks noGrp="1" noChangeAspect="1"/>
          </p:cNvPicPr>
          <p:nvPr>
            <p:ph idx="1"/>
          </p:nvPr>
        </p:nvPicPr>
        <p:blipFill>
          <a:blip r:embed="rId2"/>
          <a:stretch>
            <a:fillRect/>
          </a:stretch>
        </p:blipFill>
        <p:spPr>
          <a:xfrm>
            <a:off x="623888" y="490537"/>
            <a:ext cx="11158720" cy="2938463"/>
          </a:xfrm>
          <a:prstGeom prst="rect">
            <a:avLst/>
          </a:prstGeom>
        </p:spPr>
      </p:pic>
      <p:sp>
        <p:nvSpPr>
          <p:cNvPr id="6" name="TextBox 5">
            <a:extLst>
              <a:ext uri="{FF2B5EF4-FFF2-40B4-BE49-F238E27FC236}">
                <a16:creationId xmlns:a16="http://schemas.microsoft.com/office/drawing/2014/main" id="{8D2AA542-5BC3-11DC-AC42-13BC1566950A}"/>
              </a:ext>
            </a:extLst>
          </p:cNvPr>
          <p:cNvSpPr txBox="1"/>
          <p:nvPr/>
        </p:nvSpPr>
        <p:spPr>
          <a:xfrm>
            <a:off x="623888" y="3940731"/>
            <a:ext cx="11020425" cy="1384995"/>
          </a:xfrm>
          <a:prstGeom prst="rect">
            <a:avLst/>
          </a:prstGeom>
          <a:noFill/>
        </p:spPr>
        <p:txBody>
          <a:bodyPr wrap="square">
            <a:spAutoFit/>
          </a:bodyPr>
          <a:lstStyle/>
          <a:p>
            <a:pPr algn="just"/>
            <a:r>
              <a:rPr lang="en-US" sz="2800" dirty="0"/>
              <a:t>So the Block 104-B has to be purged. This is how the conflicts are resolved and only one single chain of blocks is maintained by the system</a:t>
            </a:r>
            <a:endParaRPr lang="en-IN" sz="2800" dirty="0"/>
          </a:p>
        </p:txBody>
      </p:sp>
    </p:spTree>
    <p:extLst>
      <p:ext uri="{BB962C8B-B14F-4D97-AF65-F5344CB8AC3E}">
        <p14:creationId xmlns:p14="http://schemas.microsoft.com/office/powerpoint/2010/main" val="21104999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C4D26-0440-6370-0FEC-BCECF8BACE60}"/>
              </a:ext>
            </a:extLst>
          </p:cNvPr>
          <p:cNvSpPr>
            <a:spLocks noGrp="1"/>
          </p:cNvSpPr>
          <p:nvPr>
            <p:ph type="title"/>
          </p:nvPr>
        </p:nvSpPr>
        <p:spPr/>
        <p:txBody>
          <a:bodyPr/>
          <a:lstStyle/>
          <a:p>
            <a:r>
              <a:rPr lang="en-IN" b="1" dirty="0"/>
              <a:t>Block chain privacy</a:t>
            </a:r>
          </a:p>
        </p:txBody>
      </p:sp>
      <p:sp>
        <p:nvSpPr>
          <p:cNvPr id="3" name="Content Placeholder 2">
            <a:extLst>
              <a:ext uri="{FF2B5EF4-FFF2-40B4-BE49-F238E27FC236}">
                <a16:creationId xmlns:a16="http://schemas.microsoft.com/office/drawing/2014/main" id="{788247D3-29F6-B976-1040-11CF218104E5}"/>
              </a:ext>
            </a:extLst>
          </p:cNvPr>
          <p:cNvSpPr>
            <a:spLocks noGrp="1"/>
          </p:cNvSpPr>
          <p:nvPr>
            <p:ph idx="1"/>
          </p:nvPr>
        </p:nvSpPr>
        <p:spPr>
          <a:xfrm>
            <a:off x="600075" y="2121408"/>
            <a:ext cx="11201399" cy="4050792"/>
          </a:xfrm>
        </p:spPr>
        <p:txBody>
          <a:bodyPr>
            <a:normAutofit/>
          </a:bodyPr>
          <a:lstStyle/>
          <a:p>
            <a:pPr marL="0" indent="0" algn="just">
              <a:buNone/>
            </a:pPr>
            <a:r>
              <a:rPr lang="en-US" sz="2500" dirty="0"/>
              <a:t>As the ledger which is recording all the bitcoin transactions is made truly public, the privacy is at stake. Anybody in the world would be able to know who paid whom? The traditional banking system is able to maintain this kind of privacy by keeping its records confidential.</a:t>
            </a:r>
          </a:p>
          <a:p>
            <a:pPr marL="0" indent="0" algn="just">
              <a:buNone/>
            </a:pPr>
            <a:endParaRPr lang="en-US" sz="2500" dirty="0"/>
          </a:p>
          <a:p>
            <a:pPr marL="0" indent="0" algn="just">
              <a:buNone/>
            </a:pPr>
            <a:r>
              <a:rPr lang="en-US" sz="2500" dirty="0"/>
              <a:t>Privacy in Bitcoin system is achieved by a different strategy. Note that we said that the sender of a bitcoin needs to know whom to pay. So he asks for the public key of the vendor to which he desires to make the payment. This public key can be anonymous.</a:t>
            </a:r>
          </a:p>
          <a:p>
            <a:pPr marL="0" indent="0" algn="just">
              <a:buNone/>
            </a:pPr>
            <a:endParaRPr lang="en-US" sz="2500" dirty="0"/>
          </a:p>
          <a:p>
            <a:pPr marL="0" indent="0" algn="just">
              <a:buNone/>
            </a:pPr>
            <a:endParaRPr lang="en-IN" sz="2500" dirty="0"/>
          </a:p>
        </p:txBody>
      </p:sp>
    </p:spTree>
    <p:extLst>
      <p:ext uri="{BB962C8B-B14F-4D97-AF65-F5344CB8AC3E}">
        <p14:creationId xmlns:p14="http://schemas.microsoft.com/office/powerpoint/2010/main" val="31305028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8FF044-6F71-00CB-5AF5-55F0F2B086A5}"/>
              </a:ext>
            </a:extLst>
          </p:cNvPr>
          <p:cNvSpPr>
            <a:spLocks noGrp="1"/>
          </p:cNvSpPr>
          <p:nvPr>
            <p:ph idx="1"/>
          </p:nvPr>
        </p:nvSpPr>
        <p:spPr>
          <a:xfrm>
            <a:off x="598359" y="435482"/>
            <a:ext cx="10974515" cy="4879467"/>
          </a:xfrm>
        </p:spPr>
        <p:txBody>
          <a:bodyPr>
            <a:noAutofit/>
          </a:bodyPr>
          <a:lstStyle/>
          <a:p>
            <a:pPr marL="0" indent="0" algn="just">
              <a:buNone/>
            </a:pPr>
            <a:r>
              <a:rPr lang="en-US" sz="2500" dirty="0"/>
              <a:t>In the sense, as a vendor of some services, when somebody asks you where to send the payment, you would simply send him your public key. The association of this public key with you is not recorded anywhere in the ledger. That way anybody outside of this transaction would only know how much money is transacted and to which public key the money is paid out.</a:t>
            </a:r>
          </a:p>
          <a:p>
            <a:pPr marL="0" indent="0" algn="just">
              <a:buNone/>
            </a:pPr>
            <a:endParaRPr lang="en-US" sz="2500" dirty="0"/>
          </a:p>
          <a:p>
            <a:pPr marL="0" indent="0" algn="just">
              <a:buNone/>
            </a:pPr>
            <a:r>
              <a:rPr lang="en-US" sz="2500" dirty="0"/>
              <a:t>To achieve a higher degree of privacy, for every transaction, you may generate a new private/public key for each transaction so that multiple transactions made by you cannot be grouped together by a third party. For an outsider, this would simply mean that multiple transactions of smaller values were made and they will never will be linked to a common source.</a:t>
            </a:r>
          </a:p>
          <a:p>
            <a:pPr marL="0" indent="0" algn="just">
              <a:buNone/>
            </a:pPr>
            <a:endParaRPr lang="en-IN" sz="2500" dirty="0"/>
          </a:p>
        </p:txBody>
      </p:sp>
    </p:spTree>
    <p:extLst>
      <p:ext uri="{BB962C8B-B14F-4D97-AF65-F5344CB8AC3E}">
        <p14:creationId xmlns:p14="http://schemas.microsoft.com/office/powerpoint/2010/main" val="2223385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ED485-9FCF-CA1C-CCC7-1BF49FC6FFA6}"/>
              </a:ext>
            </a:extLst>
          </p:cNvPr>
          <p:cNvSpPr>
            <a:spLocks noGrp="1"/>
          </p:cNvSpPr>
          <p:nvPr>
            <p:ph type="title"/>
          </p:nvPr>
        </p:nvSpPr>
        <p:spPr/>
        <p:txBody>
          <a:bodyPr/>
          <a:lstStyle/>
          <a:p>
            <a:r>
              <a:rPr lang="en-US" dirty="0"/>
              <a:t>Scenario</a:t>
            </a:r>
            <a:endParaRPr lang="en-IN" dirty="0"/>
          </a:p>
        </p:txBody>
      </p:sp>
      <p:sp>
        <p:nvSpPr>
          <p:cNvPr id="3" name="Content Placeholder 2">
            <a:extLst>
              <a:ext uri="{FF2B5EF4-FFF2-40B4-BE49-F238E27FC236}">
                <a16:creationId xmlns:a16="http://schemas.microsoft.com/office/drawing/2014/main" id="{80445119-82EF-251F-0905-F3FFAFFDC79A}"/>
              </a:ext>
            </a:extLst>
          </p:cNvPr>
          <p:cNvSpPr>
            <a:spLocks noGrp="1"/>
          </p:cNvSpPr>
          <p:nvPr>
            <p:ph idx="1"/>
          </p:nvPr>
        </p:nvSpPr>
        <p:spPr>
          <a:xfrm>
            <a:off x="838200" y="1825625"/>
            <a:ext cx="10515600" cy="4667250"/>
          </a:xfrm>
        </p:spPr>
        <p:txBody>
          <a:bodyPr>
            <a:normAutofit lnSpcReduction="10000"/>
          </a:bodyPr>
          <a:lstStyle/>
          <a:p>
            <a:pPr marL="0" indent="0" algn="just">
              <a:buNone/>
            </a:pPr>
            <a:r>
              <a:rPr lang="en-US" dirty="0"/>
              <a:t>Alice wants to receive Bitcoin from Bob for a service she provided. She generates a pair of keys:</a:t>
            </a:r>
          </a:p>
          <a:p>
            <a:pPr marL="0" indent="0" algn="just">
              <a:buNone/>
            </a:pPr>
            <a:r>
              <a:rPr lang="en-US" dirty="0"/>
              <a:t>Public Key (Address): 𝐴</a:t>
            </a:r>
            <a:r>
              <a:rPr lang="en-US" baseline="-25000" dirty="0"/>
              <a:t>𝑝𝑢𝑏</a:t>
            </a:r>
            <a:r>
              <a:rPr lang="en-US" dirty="0"/>
              <a:t>​ </a:t>
            </a:r>
          </a:p>
          <a:p>
            <a:pPr marL="0" indent="0" algn="just">
              <a:buNone/>
            </a:pPr>
            <a:r>
              <a:rPr lang="en-US" dirty="0"/>
              <a:t>Private Key: 𝐴</a:t>
            </a:r>
            <a:r>
              <a:rPr lang="en-US" baseline="-25000" dirty="0"/>
              <a:t>𝑝𝑟𝑖𝑣</a:t>
            </a:r>
          </a:p>
          <a:p>
            <a:pPr marL="0" indent="0" algn="just">
              <a:buNone/>
            </a:pPr>
            <a:r>
              <a:rPr lang="en-US" dirty="0"/>
              <a:t>Alice provides Bob with her public key 𝐴</a:t>
            </a:r>
            <a:r>
              <a:rPr lang="en-US" baseline="-25000" dirty="0"/>
              <a:t>𝑝𝑢𝑏</a:t>
            </a:r>
            <a:r>
              <a:rPr lang="en-US" dirty="0"/>
              <a:t>​ ​. This is where Bob will send the Bitcoin.</a:t>
            </a:r>
          </a:p>
          <a:p>
            <a:pPr marL="0" indent="0" algn="just">
              <a:buNone/>
            </a:pPr>
            <a:r>
              <a:rPr lang="en-US" dirty="0"/>
              <a:t>Bob initiates a transaction to Alice's public address 𝐴</a:t>
            </a:r>
            <a:r>
              <a:rPr lang="en-US" baseline="-25000" dirty="0"/>
              <a:t>𝑝𝑢𝑏</a:t>
            </a:r>
            <a:r>
              <a:rPr lang="en-US" dirty="0"/>
              <a:t>​ with the specified amount of Bitcoin.</a:t>
            </a:r>
          </a:p>
          <a:p>
            <a:pPr marL="0" indent="0" algn="just">
              <a:buNone/>
            </a:pPr>
            <a:r>
              <a:rPr lang="en-US" dirty="0"/>
              <a:t>The transaction details are recorded on the blockchain</a:t>
            </a:r>
          </a:p>
          <a:p>
            <a:pPr marL="0" indent="0" algn="just">
              <a:buNone/>
            </a:pPr>
            <a:r>
              <a:rPr lang="en-US" dirty="0"/>
              <a:t>Sender: Bob's address</a:t>
            </a:r>
          </a:p>
          <a:p>
            <a:pPr marL="0" indent="0" algn="just">
              <a:buNone/>
            </a:pPr>
            <a:r>
              <a:rPr lang="en-US" dirty="0"/>
              <a:t>Receiver: Alice's public address 𝐴</a:t>
            </a:r>
            <a:r>
              <a:rPr lang="en-US" baseline="-25000" dirty="0"/>
              <a:t>𝑝𝑢𝑏</a:t>
            </a:r>
            <a:r>
              <a:rPr lang="en-US" dirty="0"/>
              <a:t>​</a:t>
            </a:r>
          </a:p>
          <a:p>
            <a:pPr marL="0" indent="0" algn="just">
              <a:buNone/>
            </a:pPr>
            <a:r>
              <a:rPr lang="en-US" dirty="0"/>
              <a:t>Amount: X BTC</a:t>
            </a:r>
          </a:p>
          <a:p>
            <a:pPr marL="0" indent="0" algn="just">
              <a:buNone/>
            </a:pPr>
            <a:r>
              <a:rPr lang="en-US" dirty="0"/>
              <a:t>Transaction ID: 𝑇𝑋𝐼𝐷</a:t>
            </a:r>
          </a:p>
        </p:txBody>
      </p:sp>
    </p:spTree>
    <p:extLst>
      <p:ext uri="{BB962C8B-B14F-4D97-AF65-F5344CB8AC3E}">
        <p14:creationId xmlns:p14="http://schemas.microsoft.com/office/powerpoint/2010/main" val="26417958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C2AFF1-D109-68E2-9971-7B23CB858ABA}"/>
              </a:ext>
            </a:extLst>
          </p:cNvPr>
          <p:cNvSpPr>
            <a:spLocks noGrp="1"/>
          </p:cNvSpPr>
          <p:nvPr>
            <p:ph idx="1"/>
          </p:nvPr>
        </p:nvSpPr>
        <p:spPr>
          <a:xfrm>
            <a:off x="838200" y="442913"/>
            <a:ext cx="10515600" cy="5734050"/>
          </a:xfrm>
        </p:spPr>
        <p:txBody>
          <a:bodyPr>
            <a:normAutofit/>
          </a:bodyPr>
          <a:lstStyle/>
          <a:p>
            <a:pPr marL="0" indent="0" algn="just">
              <a:buNone/>
            </a:pPr>
            <a:r>
              <a:rPr lang="en-US" sz="2500" dirty="0"/>
              <a:t>On the blockchain, anyone can see that a transaction occurred from Bob to Alice for amount X BTC. They can also see the transaction ID 𝑇𝑋𝐼𝐷.</a:t>
            </a:r>
          </a:p>
          <a:p>
            <a:pPr marL="0" indent="0" algn="just">
              <a:buNone/>
            </a:pPr>
            <a:r>
              <a:rPr lang="en-US" sz="2500" dirty="0"/>
              <a:t>Alice's identity is protected because only her public key or address </a:t>
            </a:r>
            <a:r>
              <a:rPr lang="en-US" sz="2800" dirty="0"/>
              <a:t>𝐴</a:t>
            </a:r>
            <a:r>
              <a:rPr lang="en-US" sz="2800" baseline="-25000" dirty="0"/>
              <a:t>𝑝𝑢𝑏</a:t>
            </a:r>
            <a:r>
              <a:rPr lang="en-US" sz="2800" dirty="0"/>
              <a:t>​ </a:t>
            </a:r>
            <a:r>
              <a:rPr lang="en-US" sz="2500" dirty="0"/>
              <a:t>​  is visible on the blockchain. Her real-world identity is not explicitly tied to </a:t>
            </a:r>
            <a:r>
              <a:rPr lang="en-US" sz="2800" dirty="0"/>
              <a:t>𝐴</a:t>
            </a:r>
            <a:r>
              <a:rPr lang="en-US" sz="2800" baseline="-25000" dirty="0"/>
              <a:t>𝑝𝑢𝑏</a:t>
            </a:r>
            <a:r>
              <a:rPr lang="en-US" sz="2800" dirty="0"/>
              <a:t>​ </a:t>
            </a:r>
            <a:r>
              <a:rPr lang="en-US" sz="2500" dirty="0"/>
              <a:t>​ .</a:t>
            </a:r>
          </a:p>
          <a:p>
            <a:pPr marL="0" indent="0" algn="just">
              <a:buNone/>
            </a:pPr>
            <a:r>
              <a:rPr lang="en-US" sz="2500" dirty="0"/>
              <a:t>To enhance privacy further, Alice can generate a new pair of keys for each transaction</a:t>
            </a:r>
          </a:p>
          <a:p>
            <a:pPr marL="0" indent="0" algn="just">
              <a:buNone/>
            </a:pPr>
            <a:r>
              <a:rPr lang="en-US" sz="2500" dirty="0"/>
              <a:t>For another transaction, she uses a different public key </a:t>
            </a:r>
            <a:r>
              <a:rPr lang="en-US" sz="2800" dirty="0"/>
              <a:t>𝐴</a:t>
            </a:r>
            <a:r>
              <a:rPr lang="en-US" sz="2800" baseline="-25000" dirty="0"/>
              <a:t>𝑝𝑢𝑏’</a:t>
            </a:r>
            <a:r>
              <a:rPr lang="en-US" sz="2800" dirty="0"/>
              <a:t>​ </a:t>
            </a:r>
            <a:r>
              <a:rPr lang="en-US" sz="2500" dirty="0"/>
              <a:t>​  and its corresponding private key </a:t>
            </a:r>
            <a:r>
              <a:rPr lang="en-US" sz="2800" dirty="0"/>
              <a:t>𝐴</a:t>
            </a:r>
            <a:r>
              <a:rPr lang="en-US" sz="2800" baseline="-25000" dirty="0"/>
              <a:t>𝑝𝑟𝑖𝑣’</a:t>
            </a:r>
            <a:r>
              <a:rPr lang="en-US" sz="2500" dirty="0"/>
              <a:t>.</a:t>
            </a:r>
          </a:p>
          <a:p>
            <a:pPr marL="0" indent="0" algn="just">
              <a:buNone/>
            </a:pPr>
            <a:r>
              <a:rPr lang="en-US" sz="2500" dirty="0"/>
              <a:t>This way, transactions are less likely to be linked to the same owner, enhancing privacy even if someone observes multiple transactions involving Alice.</a:t>
            </a:r>
            <a:endParaRPr lang="en-IN" sz="2500" dirty="0"/>
          </a:p>
          <a:p>
            <a:pPr marL="0" indent="0" algn="just">
              <a:buNone/>
            </a:pPr>
            <a:endParaRPr lang="en-IN" sz="2500" dirty="0"/>
          </a:p>
        </p:txBody>
      </p:sp>
    </p:spTree>
    <p:extLst>
      <p:ext uri="{BB962C8B-B14F-4D97-AF65-F5344CB8AC3E}">
        <p14:creationId xmlns:p14="http://schemas.microsoft.com/office/powerpoint/2010/main" val="2659963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725</TotalTime>
  <Words>4404</Words>
  <Application>Microsoft Office PowerPoint</Application>
  <PresentationFormat>Widescreen</PresentationFormat>
  <Paragraphs>237</Paragraphs>
  <Slides>60</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Arial</vt:lpstr>
      <vt:lpstr>Calibri</vt:lpstr>
      <vt:lpstr>Rockwell</vt:lpstr>
      <vt:lpstr>Rockwell (Body)</vt:lpstr>
      <vt:lpstr>Rockwell Condensed</vt:lpstr>
      <vt:lpstr>Rockwell Condensed(header)</vt:lpstr>
      <vt:lpstr>Rockwell(body)</vt:lpstr>
      <vt:lpstr>Times New Roman</vt:lpstr>
      <vt:lpstr>Wingdings</vt:lpstr>
      <vt:lpstr>Wood Type</vt:lpstr>
      <vt:lpstr>Double Spending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Hashing in Blockchain</vt:lpstr>
      <vt:lpstr>PowerPoint Presentation</vt:lpstr>
      <vt:lpstr>PowerPoint Presentation</vt:lpstr>
      <vt:lpstr>PowerPoint Presentation</vt:lpstr>
      <vt:lpstr>Characteristics of cryptographic hash functions</vt:lpstr>
      <vt:lpstr>PowerPoint Presentation</vt:lpstr>
      <vt:lpstr>PowerPoint Presentation</vt:lpstr>
      <vt:lpstr>PowerPoint Presentation</vt:lpstr>
      <vt:lpstr>Types Of Double Spending Attacks</vt:lpstr>
      <vt:lpstr>Scenario</vt:lpstr>
      <vt:lpstr>PowerPoint Presentation</vt:lpstr>
      <vt:lpstr>PowerPoint Presentation</vt:lpstr>
      <vt:lpstr>PowerPoint Presentation</vt:lpstr>
      <vt:lpstr>PowerPoint Presentation</vt:lpstr>
      <vt:lpstr>PowerPoint Presentation</vt:lpstr>
      <vt:lpstr>Blockchain Mining</vt:lpstr>
      <vt:lpstr>PowerPoint Presentation</vt:lpstr>
      <vt:lpstr>Scenario 1:</vt:lpstr>
      <vt:lpstr>PowerPoint Presentation</vt:lpstr>
      <vt:lpstr>How Blockchain mining works</vt:lpstr>
      <vt:lpstr>PowerPoint Presentation</vt:lpstr>
      <vt:lpstr>Note:</vt:lpstr>
      <vt:lpstr>PowerPoint Presentation</vt:lpstr>
      <vt:lpstr>PowerPoint Presentation</vt:lpstr>
      <vt:lpstr>Types of Mining</vt:lpstr>
      <vt:lpstr>PowerPoint Presentation</vt:lpstr>
      <vt:lpstr>PowerPoint Presentation</vt:lpstr>
      <vt:lpstr>Use of Blockchain Mining</vt:lpstr>
      <vt:lpstr>PowerPoint Presentation</vt:lpstr>
      <vt:lpstr>Algorithms for Blockchain mining:</vt:lpstr>
      <vt:lpstr>PowerPoint Presentation</vt:lpstr>
      <vt:lpstr>Blockchain - Merkle Tree</vt:lpstr>
      <vt:lpstr>Structure of Merkle tree</vt:lpstr>
      <vt:lpstr>PowerPoint Presentation</vt:lpstr>
      <vt:lpstr>PowerPoint Presentation</vt:lpstr>
      <vt:lpstr>PowerPoint Presentation</vt:lpstr>
      <vt:lpstr>Block Header</vt:lpstr>
      <vt:lpstr>Components of a Block Header:</vt:lpstr>
      <vt:lpstr>PowerPoint Presentation</vt:lpstr>
      <vt:lpstr>PowerPoint Presentation</vt:lpstr>
      <vt:lpstr>Payment verification- Merkle tree benefits</vt:lpstr>
      <vt:lpstr>PowerPoint Presentation</vt:lpstr>
      <vt:lpstr>PowerPoint Presentation</vt:lpstr>
      <vt:lpstr>PowerPoint Presentation</vt:lpstr>
      <vt:lpstr>Resolving Conflicts</vt:lpstr>
      <vt:lpstr>PowerPoint Presentation</vt:lpstr>
      <vt:lpstr>PowerPoint Presentation</vt:lpstr>
      <vt:lpstr>PowerPoint Presentation</vt:lpstr>
      <vt:lpstr>Block chain privacy</vt:lpstr>
      <vt:lpstr>PowerPoint Presentation</vt:lpstr>
      <vt:lpstr>Scenario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Raksha Puthran</dc:creator>
  <cp:lastModifiedBy>Raksha Puthran</cp:lastModifiedBy>
  <cp:revision>111</cp:revision>
  <dcterms:created xsi:type="dcterms:W3CDTF">2024-07-08T13:50:22Z</dcterms:created>
  <dcterms:modified xsi:type="dcterms:W3CDTF">2024-10-19T05:43:22Z</dcterms:modified>
</cp:coreProperties>
</file>