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0"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366" r:id="rId31"/>
    <p:sldId id="285" r:id="rId32"/>
    <p:sldId id="286" r:id="rId33"/>
    <p:sldId id="287" r:id="rId34"/>
    <p:sldId id="293" r:id="rId35"/>
    <p:sldId id="367" r:id="rId36"/>
    <p:sldId id="294" r:id="rId37"/>
    <p:sldId id="296" r:id="rId38"/>
    <p:sldId id="299" r:id="rId39"/>
    <p:sldId id="297" r:id="rId40"/>
    <p:sldId id="298" r:id="rId41"/>
    <p:sldId id="300" r:id="rId42"/>
    <p:sldId id="301" r:id="rId43"/>
    <p:sldId id="302" r:id="rId44"/>
    <p:sldId id="303" r:id="rId45"/>
    <p:sldId id="362" r:id="rId46"/>
    <p:sldId id="363" r:id="rId47"/>
    <p:sldId id="364" r:id="rId48"/>
    <p:sldId id="368" r:id="rId49"/>
    <p:sldId id="365" r:id="rId50"/>
    <p:sldId id="369"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3" roundtripDataSignature="AMtx7mifl11PbTHl7rBZ4w5bp5cnSd05Y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086530C-416C-4301-9DC3-E998CCF7C22C}">
  <a:tblStyle styleId="{A086530C-416C-4301-9DC3-E998CCF7C22C}"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14E1D6EF-ECBA-4C4B-BCB1-3924D4342354}"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39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2" name="Google Shape;12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5" name="Google Shape;185;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8" name="Google Shape;208;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4" name="Google Shape;214;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1" name="Google Shape;231;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8" name="Google Shape;238;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0" name="Google Shape;250;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5" name="Google Shape;255;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0" name="Google Shape;260;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2ea5dc11d6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2ea5dc11d6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kumimoji="0" lang="en-US" sz="7200" b="1" i="0" u="none" strike="noStrike" kern="1200" cap="all" spc="0" normalizeH="0" baseline="0" dirty="0">
                <a:ln w="15875">
                  <a:solidFill>
                    <a:sysClr val="window" lastClr="FFFFFF"/>
                  </a:solidFill>
                </a:ln>
                <a:solidFill>
                  <a:srgbClr val="DF5327"/>
                </a:solidFill>
                <a:effectLst>
                  <a:outerShdw dist="38100" dir="2700000" algn="tl" rotWithShape="0">
                    <a:srgbClr val="DF5327"/>
                  </a:outerShdw>
                </a:effectLst>
                <a:uLnTx/>
                <a:uFillTx/>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chemeClr val="accent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solidFill>
              </a:defRPr>
            </a:lvl1pPr>
          </a:lstStyle>
          <a:p>
            <a:endParaRPr lang="en-IN"/>
          </a:p>
        </p:txBody>
      </p:sp>
      <p:sp>
        <p:nvSpPr>
          <p:cNvPr id="5" name="Footer Placeholder 4"/>
          <p:cNvSpPr>
            <a:spLocks noGrp="1"/>
          </p:cNvSpPr>
          <p:nvPr>
            <p:ph type="ftr" sz="quarter" idx="11"/>
          </p:nvPr>
        </p:nvSpPr>
        <p:spPr/>
        <p:txBody>
          <a:bodyPr/>
          <a:lstStyle>
            <a:lvl1pPr>
              <a:defRPr>
                <a:solidFill>
                  <a:schemeClr val="accent1"/>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accent1"/>
                </a:solidFill>
              </a:defRPr>
            </a:lvl1pPr>
          </a:lstStyle>
          <a:p>
            <a:pPr marL="0" lvl="0" indent="0" algn="r" rtl="0">
              <a:spcBef>
                <a:spcPts val="0"/>
              </a:spcBef>
              <a:spcAft>
                <a:spcPts val="0"/>
              </a:spcAft>
              <a:buNone/>
            </a:pPr>
            <a:fld id="{00000000-1234-1234-1234-123412341234}" type="slidenum">
              <a:rPr lang="en-US" smtClean="0"/>
              <a:t>‹#›</a:t>
            </a:fld>
            <a:endParaRPr lang="en-US"/>
          </a:p>
        </p:txBody>
      </p:sp>
      <p:cxnSp>
        <p:nvCxnSpPr>
          <p:cNvPr id="8" name="Straight Connector 7"/>
          <p:cNvCxnSpPr/>
          <p:nvPr/>
        </p:nvCxnSpPr>
        <p:spPr>
          <a:xfrm>
            <a:off x="1978660" y="3733800"/>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1908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258123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marL="0" algn="ctr" defTabSz="914400" rtl="0" eaLnBrk="1" latinLnBrk="0" hangingPunct="1">
              <a:lnSpc>
                <a:spcPct val="85000"/>
              </a:lnSpc>
              <a:spcBef>
                <a:spcPct val="0"/>
              </a:spcBef>
              <a:buNone/>
              <a:defRPr kumimoji="0" lang="en-US" sz="7200" b="1" i="0" u="none" strike="noStrike" kern="1200" cap="all" spc="0" normalizeH="0" baseline="0" dirty="0">
                <a:ln w="15875">
                  <a:solidFill>
                    <a:sysClr val="window" lastClr="FFFFFF"/>
                  </a:solidFill>
                </a:ln>
                <a:solidFill>
                  <a:srgbClr val="DF5327"/>
                </a:solidFill>
                <a:effectLst>
                  <a:outerShdw dist="38100" dir="2700000" algn="tl" rotWithShape="0">
                    <a:srgbClr val="DF5327"/>
                  </a:outerShdw>
                </a:effectLst>
                <a:uLnTx/>
                <a:uFillTx/>
                <a:latin typeface="Corbel" pitchFamily="34" charset="0"/>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871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392332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4609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882157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725961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917728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5505736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73890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624507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endParaRPr lang="en-IN"/>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IN"/>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664622663"/>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hf sldNum="0" hdr="0" ftr="0" dt="0"/>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US" b="1"/>
              <a:t>Block Chain Architecture</a:t>
            </a:r>
            <a:endParaRPr b="1"/>
          </a:p>
        </p:txBody>
      </p:sp>
      <p:sp>
        <p:nvSpPr>
          <p:cNvPr id="85" name="Google Shape;85;p1"/>
          <p:cNvSpPr txBox="1">
            <a:spLocks noGrp="1"/>
          </p:cNvSpPr>
          <p:nvPr>
            <p:ph type="subTitle" idx="1"/>
          </p:nvPr>
        </p:nvSpPr>
        <p:spPr>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a:t>Unit II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151515"/>
              </a:buClr>
              <a:buSzPts val="4400"/>
              <a:buFont typeface="Arial"/>
              <a:buNone/>
            </a:pPr>
            <a:r>
              <a:rPr lang="en-US" b="1" i="0">
                <a:solidFill>
                  <a:srgbClr val="151515"/>
                </a:solidFill>
                <a:highlight>
                  <a:srgbClr val="FFFFFF"/>
                </a:highlight>
                <a:latin typeface="Arial"/>
                <a:ea typeface="Arial"/>
                <a:cs typeface="Arial"/>
                <a:sym typeface="Arial"/>
              </a:rPr>
              <a:t>Core Components of Blockchain Architecture</a:t>
            </a:r>
            <a:endParaRPr/>
          </a:p>
        </p:txBody>
      </p:sp>
      <p:sp>
        <p:nvSpPr>
          <p:cNvPr id="91" name="Google Shape;91;p2"/>
          <p:cNvSpPr txBox="1">
            <a:spLocks noGrp="1"/>
          </p:cNvSpPr>
          <p:nvPr>
            <p:ph idx="1"/>
          </p:nvPr>
        </p:nvSpPr>
        <p:spPr>
          <a:xfrm>
            <a:off x="475488" y="2057400"/>
            <a:ext cx="11301984" cy="4038600"/>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151515"/>
              </a:buClr>
              <a:buSzPts val="2800"/>
              <a:buNone/>
            </a:pPr>
            <a:r>
              <a:rPr lang="en-US" b="1" i="0" dirty="0">
                <a:solidFill>
                  <a:srgbClr val="151515"/>
                </a:solidFill>
                <a:highlight>
                  <a:srgbClr val="FFFFFF"/>
                </a:highlight>
                <a:latin typeface="Arial"/>
                <a:ea typeface="Arial"/>
                <a:cs typeface="Arial"/>
                <a:sym typeface="Arial"/>
              </a:rPr>
              <a:t>Node</a:t>
            </a:r>
            <a:r>
              <a:rPr lang="en-US" i="0" dirty="0">
                <a:solidFill>
                  <a:srgbClr val="151515"/>
                </a:solidFill>
                <a:highlight>
                  <a:srgbClr val="FFFFFF"/>
                </a:highlight>
                <a:latin typeface="Arial"/>
                <a:ea typeface="Arial"/>
                <a:cs typeface="Arial"/>
                <a:sym typeface="Arial"/>
              </a:rPr>
              <a:t> </a:t>
            </a:r>
            <a:endParaRPr dirty="0"/>
          </a:p>
          <a:p>
            <a:pPr marL="0" lvl="0" indent="0" algn="just" rtl="0">
              <a:lnSpc>
                <a:spcPct val="150000"/>
              </a:lnSpc>
              <a:spcBef>
                <a:spcPts val="1000"/>
              </a:spcBef>
              <a:spcAft>
                <a:spcPts val="0"/>
              </a:spcAft>
              <a:buClr>
                <a:srgbClr val="151515"/>
              </a:buClr>
              <a:buSzPts val="2800"/>
              <a:buNone/>
            </a:pPr>
            <a:r>
              <a:rPr lang="en-US" i="0" dirty="0">
                <a:solidFill>
                  <a:srgbClr val="151515"/>
                </a:solidFill>
                <a:highlight>
                  <a:srgbClr val="FFFFFF"/>
                </a:highlight>
                <a:latin typeface="Arial"/>
                <a:ea typeface="Arial"/>
                <a:cs typeface="Arial"/>
                <a:sym typeface="Arial"/>
              </a:rPr>
              <a:t>	User or computer within the blockchain architecture (each 	has 	an  	independent copy of the whole blockchain ledger)</a:t>
            </a:r>
            <a:endParaRPr dirty="0"/>
          </a:p>
          <a:p>
            <a:pPr marL="0" lvl="0" indent="0" algn="just" rtl="0">
              <a:lnSpc>
                <a:spcPct val="150000"/>
              </a:lnSpc>
              <a:spcBef>
                <a:spcPts val="1000"/>
              </a:spcBef>
              <a:spcAft>
                <a:spcPts val="0"/>
              </a:spcAft>
              <a:buClr>
                <a:srgbClr val="151515"/>
              </a:buClr>
              <a:buSzPts val="2800"/>
              <a:buNone/>
            </a:pPr>
            <a:r>
              <a:rPr lang="en-US" b="1" i="0" dirty="0">
                <a:solidFill>
                  <a:srgbClr val="151515"/>
                </a:solidFill>
                <a:highlight>
                  <a:srgbClr val="FFFFFF"/>
                </a:highlight>
                <a:latin typeface="Arial"/>
                <a:ea typeface="Arial"/>
                <a:cs typeface="Arial"/>
                <a:sym typeface="Arial"/>
              </a:rPr>
              <a:t>Transaction</a:t>
            </a:r>
            <a:endParaRPr b="1" dirty="0"/>
          </a:p>
          <a:p>
            <a:pPr marL="0" lvl="0" indent="0" algn="just" rtl="0">
              <a:lnSpc>
                <a:spcPct val="150000"/>
              </a:lnSpc>
              <a:spcBef>
                <a:spcPts val="1000"/>
              </a:spcBef>
              <a:spcAft>
                <a:spcPts val="0"/>
              </a:spcAft>
              <a:buClr>
                <a:srgbClr val="151515"/>
              </a:buClr>
              <a:buSzPts val="2800"/>
              <a:buNone/>
            </a:pPr>
            <a:r>
              <a:rPr lang="en-US" i="0" dirty="0">
                <a:solidFill>
                  <a:srgbClr val="151515"/>
                </a:solidFill>
                <a:highlight>
                  <a:srgbClr val="FFFFFF"/>
                </a:highlight>
                <a:latin typeface="Arial"/>
                <a:ea typeface="Arial"/>
                <a:cs typeface="Arial"/>
                <a:sym typeface="Arial"/>
              </a:rPr>
              <a:t>	Smallest building block of a blockchain system (records, information, etc.) that 	serves as the purpose of blockchain</a:t>
            </a:r>
            <a:endParaRPr i="0" dirty="0">
              <a:solidFill>
                <a:srgbClr val="151515"/>
              </a:solidFill>
              <a:highlight>
                <a:srgbClr val="FFFFFF"/>
              </a:highlight>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3"/>
          <p:cNvSpPr txBox="1">
            <a:spLocks noGrp="1"/>
          </p:cNvSpPr>
          <p:nvPr>
            <p:ph idx="1"/>
          </p:nvPr>
        </p:nvSpPr>
        <p:spPr>
          <a:xfrm>
            <a:off x="838200" y="585216"/>
            <a:ext cx="10902696" cy="5591747"/>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151515"/>
              </a:buClr>
              <a:buSzPts val="2800"/>
              <a:buNone/>
            </a:pPr>
            <a:r>
              <a:rPr lang="en-US" b="1" i="0" dirty="0">
                <a:solidFill>
                  <a:schemeClr val="tx1"/>
                </a:solidFill>
                <a:highlight>
                  <a:srgbClr val="FFFFFF"/>
                </a:highlight>
                <a:latin typeface="Times New Roman" panose="02020603050405020304" pitchFamily="18" charset="0"/>
                <a:ea typeface="Arial"/>
                <a:cs typeface="Times New Roman" panose="02020603050405020304" pitchFamily="18" charset="0"/>
                <a:sym typeface="Arial"/>
              </a:rPr>
              <a:t>Block</a:t>
            </a:r>
            <a:r>
              <a:rPr lang="en-US" i="0" dirty="0">
                <a:solidFill>
                  <a:schemeClr val="tx1"/>
                </a:solidFill>
                <a:highlight>
                  <a:srgbClr val="FFFFFF"/>
                </a:highlight>
                <a:latin typeface="Times New Roman" panose="02020603050405020304" pitchFamily="18" charset="0"/>
                <a:ea typeface="Arial"/>
                <a:cs typeface="Times New Roman" panose="02020603050405020304" pitchFamily="18" charset="0"/>
                <a:sym typeface="Arial"/>
              </a:rPr>
              <a:t> 	</a:t>
            </a:r>
            <a:endParaRPr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50000"/>
              </a:lnSpc>
              <a:spcBef>
                <a:spcPts val="1000"/>
              </a:spcBef>
              <a:spcAft>
                <a:spcPts val="0"/>
              </a:spcAft>
              <a:buClr>
                <a:srgbClr val="151515"/>
              </a:buClr>
              <a:buSzPts val="2800"/>
              <a:buNone/>
            </a:pPr>
            <a:r>
              <a:rPr lang="en-US" i="0" dirty="0">
                <a:solidFill>
                  <a:schemeClr val="tx1"/>
                </a:solidFill>
                <a:highlight>
                  <a:srgbClr val="FFFFFF"/>
                </a:highlight>
                <a:latin typeface="Times New Roman" panose="02020603050405020304" pitchFamily="18" charset="0"/>
                <a:ea typeface="Arial"/>
                <a:cs typeface="Times New Roman" panose="02020603050405020304" pitchFamily="18" charset="0"/>
                <a:sym typeface="Arial"/>
              </a:rPr>
              <a:t>	A data structure used for keeping a set of transactions which is 	distributed to all 	nodes in the network</a:t>
            </a:r>
            <a:endParaRPr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50000"/>
              </a:lnSpc>
              <a:spcBef>
                <a:spcPts val="1000"/>
              </a:spcBef>
              <a:spcAft>
                <a:spcPts val="0"/>
              </a:spcAft>
              <a:buClr>
                <a:schemeClr val="dk1"/>
              </a:buClr>
              <a:buSzPts val="2800"/>
              <a:buNone/>
            </a:pPr>
            <a:r>
              <a:rPr lang="en-US" dirty="0">
                <a:solidFill>
                  <a:schemeClr val="tx1"/>
                </a:solidFill>
                <a:latin typeface="Times New Roman" panose="02020603050405020304" pitchFamily="18" charset="0"/>
                <a:cs typeface="Times New Roman" panose="02020603050405020304" pitchFamily="18" charset="0"/>
              </a:rPr>
              <a:t>	Each blockchain block consists of </a:t>
            </a:r>
            <a:endParaRPr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50000"/>
              </a:lnSpc>
              <a:spcBef>
                <a:spcPts val="1000"/>
              </a:spcBef>
              <a:spcAft>
                <a:spcPts val="0"/>
              </a:spcAft>
              <a:buClr>
                <a:schemeClr val="dk1"/>
              </a:buClr>
              <a:buSzPts val="2800"/>
              <a:buNone/>
            </a:pPr>
            <a:r>
              <a:rPr lang="en-US" dirty="0">
                <a:solidFill>
                  <a:schemeClr val="tx1"/>
                </a:solidFill>
                <a:latin typeface="Times New Roman" panose="02020603050405020304" pitchFamily="18" charset="0"/>
                <a:cs typeface="Times New Roman" panose="02020603050405020304" pitchFamily="18" charset="0"/>
              </a:rPr>
              <a:t>		Data: Each block contains a list of transactions.</a:t>
            </a:r>
            <a:endParaRPr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50000"/>
              </a:lnSpc>
              <a:spcBef>
                <a:spcPts val="1000"/>
              </a:spcBef>
              <a:spcAft>
                <a:spcPts val="0"/>
              </a:spcAft>
              <a:buClr>
                <a:schemeClr val="dk1"/>
              </a:buClr>
              <a:buSzPts val="2800"/>
              <a:buNone/>
            </a:pPr>
            <a:r>
              <a:rPr lang="en-US" dirty="0">
                <a:solidFill>
                  <a:schemeClr val="tx1"/>
                </a:solidFill>
                <a:latin typeface="Times New Roman" panose="02020603050405020304" pitchFamily="18" charset="0"/>
                <a:cs typeface="Times New Roman" panose="02020603050405020304" pitchFamily="18" charset="0"/>
              </a:rPr>
              <a:t>		Hash: Each block has a unique identifier called a hash, 					generated from the block's data.</a:t>
            </a:r>
            <a:endParaRPr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50000"/>
              </a:lnSpc>
              <a:spcBef>
                <a:spcPts val="1000"/>
              </a:spcBef>
              <a:spcAft>
                <a:spcPts val="0"/>
              </a:spcAft>
              <a:buClr>
                <a:schemeClr val="dk1"/>
              </a:buClr>
              <a:buSzPts val="2800"/>
              <a:buNone/>
            </a:pPr>
            <a:r>
              <a:rPr lang="en-US" dirty="0">
                <a:solidFill>
                  <a:schemeClr val="tx1"/>
                </a:solidFill>
                <a:latin typeface="Times New Roman" panose="02020603050405020304" pitchFamily="18" charset="0"/>
                <a:cs typeface="Times New Roman" panose="02020603050405020304" pitchFamily="18" charset="0"/>
              </a:rPr>
              <a:t>		Previous Hash: Each block also contains the hash of the previous block, 			creating a chain.</a:t>
            </a:r>
            <a:endParaRPr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4"/>
          <p:cNvSpPr txBox="1">
            <a:spLocks noGrp="1"/>
          </p:cNvSpPr>
          <p:nvPr>
            <p:ph idx="1"/>
          </p:nvPr>
        </p:nvSpPr>
        <p:spPr>
          <a:xfrm>
            <a:off x="463296" y="646176"/>
            <a:ext cx="11314176" cy="5530787"/>
          </a:xfrm>
          <a:prstGeom prst="rect">
            <a:avLst/>
          </a:prstGeom>
          <a:noFill/>
          <a:ln>
            <a:noFill/>
          </a:ln>
        </p:spPr>
        <p:txBody>
          <a:bodyPr spcFirstLastPara="1" wrap="square" lIns="91425" tIns="45700" rIns="91425" bIns="45700" anchor="t" anchorCtr="0">
            <a:normAutofit fontScale="62500" lnSpcReduction="20000"/>
          </a:bodyPr>
          <a:lstStyle/>
          <a:p>
            <a:pPr marL="0" lvl="0" indent="0" algn="just" rtl="0">
              <a:lnSpc>
                <a:spcPct val="170000"/>
              </a:lnSpc>
              <a:spcBef>
                <a:spcPts val="0"/>
              </a:spcBef>
              <a:spcAft>
                <a:spcPts val="0"/>
              </a:spcAft>
              <a:buClr>
                <a:schemeClr val="dk1"/>
              </a:buClr>
              <a:buSzPct val="100000"/>
              <a:buNone/>
            </a:pPr>
            <a:r>
              <a:rPr lang="en-US" sz="3600" b="1" i="0" dirty="0">
                <a:solidFill>
                  <a:schemeClr val="tx1"/>
                </a:solidFill>
                <a:highlight>
                  <a:srgbClr val="FFFFFF"/>
                </a:highlight>
                <a:latin typeface="Times New Roman"/>
                <a:ea typeface="Times New Roman"/>
                <a:cs typeface="Times New Roman"/>
                <a:sym typeface="Times New Roman"/>
              </a:rPr>
              <a:t>P2P Network</a:t>
            </a:r>
            <a:endParaRPr sz="3600" b="1" dirty="0">
              <a:solidFill>
                <a:schemeClr val="tx1"/>
              </a:solidFill>
            </a:endParaRPr>
          </a:p>
          <a:p>
            <a:pPr marL="0" lvl="0" indent="0" algn="just" rtl="0">
              <a:lnSpc>
                <a:spcPct val="170000"/>
              </a:lnSpc>
              <a:spcBef>
                <a:spcPts val="1000"/>
              </a:spcBef>
              <a:spcAft>
                <a:spcPts val="0"/>
              </a:spcAft>
              <a:buClr>
                <a:schemeClr val="dk1"/>
              </a:buClr>
              <a:buSzPct val="100000"/>
              <a:buNone/>
            </a:pPr>
            <a:r>
              <a:rPr lang="en-US" sz="3600" b="0" i="0" dirty="0">
                <a:solidFill>
                  <a:schemeClr val="tx1"/>
                </a:solidFill>
                <a:latin typeface="Times New Roman"/>
                <a:ea typeface="Times New Roman"/>
                <a:cs typeface="Times New Roman"/>
                <a:sym typeface="Times New Roman"/>
              </a:rPr>
              <a:t>The blockchain is a peer to peer (P2P) network working on the IP protocol. A P2P network is a flat topology with no centralized node. P2P networks are generally more secure because they do not have a single point of attack or failure as in case of a centralized network. </a:t>
            </a:r>
            <a:endParaRPr dirty="0">
              <a:solidFill>
                <a:schemeClr val="tx1"/>
              </a:solidFill>
            </a:endParaRPr>
          </a:p>
          <a:p>
            <a:pPr marL="0" lvl="0" indent="0" algn="just" rtl="0">
              <a:lnSpc>
                <a:spcPct val="170000"/>
              </a:lnSpc>
              <a:spcBef>
                <a:spcPts val="1000"/>
              </a:spcBef>
              <a:spcAft>
                <a:spcPts val="0"/>
              </a:spcAft>
              <a:buClr>
                <a:schemeClr val="dk1"/>
              </a:buClr>
              <a:buSzPct val="100000"/>
              <a:buNone/>
            </a:pPr>
            <a:r>
              <a:rPr lang="en-US" sz="3600" b="0" i="0" dirty="0">
                <a:solidFill>
                  <a:schemeClr val="tx1"/>
                </a:solidFill>
                <a:latin typeface="Times New Roman"/>
                <a:ea typeface="Times New Roman"/>
                <a:cs typeface="Times New Roman"/>
                <a:sym typeface="Times New Roman"/>
              </a:rPr>
              <a:t>A blockchain network can be a permission-based network as well as a permissionless network. A permissionless network is also known as public blockchain because anyone can join the network, while a permission-based blockchain is called a consortium blockchain. A permission-based blockchain or private blockchain requires pre-verification of the participants within the network and these parties are usually known to each other. </a:t>
            </a:r>
            <a:endParaRPr sz="3600" i="0" dirty="0">
              <a:solidFill>
                <a:schemeClr val="tx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7" name="Google Shape;107;p5"/>
          <p:cNvSpPr txBox="1">
            <a:spLocks noGrp="1"/>
          </p:cNvSpPr>
          <p:nvPr>
            <p:ph idx="1"/>
          </p:nvPr>
        </p:nvSpPr>
        <p:spPr>
          <a:xfrm>
            <a:off x="838200" y="573024"/>
            <a:ext cx="10515600" cy="5603939"/>
          </a:xfrm>
          <a:prstGeom prst="rect">
            <a:avLst/>
          </a:prstGeom>
          <a:noFill/>
          <a:ln>
            <a:noFill/>
          </a:ln>
        </p:spPr>
        <p:txBody>
          <a:bodyPr spcFirstLastPara="1" wrap="square" lIns="91425" tIns="45700" rIns="91425" bIns="45700" anchor="t" anchorCtr="0">
            <a:normAutofit fontScale="92500" lnSpcReduction="20000"/>
          </a:bodyPr>
          <a:lstStyle/>
          <a:p>
            <a:pPr marL="0" lvl="0" indent="0" algn="just" rtl="0">
              <a:lnSpc>
                <a:spcPct val="170000"/>
              </a:lnSpc>
              <a:spcBef>
                <a:spcPts val="0"/>
              </a:spcBef>
              <a:spcAft>
                <a:spcPts val="0"/>
              </a:spcAft>
              <a:buClr>
                <a:schemeClr val="dk1"/>
              </a:buClr>
              <a:buSzPct val="100000"/>
              <a:buNone/>
            </a:pPr>
            <a:r>
              <a:rPr lang="en-US" sz="2800" b="1" i="0" dirty="0">
                <a:solidFill>
                  <a:schemeClr val="tx1"/>
                </a:solidFill>
                <a:highlight>
                  <a:srgbClr val="FFFFFF"/>
                </a:highlight>
                <a:latin typeface="Times New Roman"/>
                <a:ea typeface="Times New Roman"/>
                <a:cs typeface="Times New Roman"/>
                <a:sym typeface="Times New Roman"/>
              </a:rPr>
              <a:t>Consensus (consensus protocol) </a:t>
            </a:r>
            <a:endParaRPr b="1" dirty="0">
              <a:solidFill>
                <a:schemeClr val="tx1"/>
              </a:solidFill>
            </a:endParaRPr>
          </a:p>
          <a:p>
            <a:pPr marL="0" lvl="0" indent="0" algn="just" rtl="0">
              <a:lnSpc>
                <a:spcPct val="170000"/>
              </a:lnSpc>
              <a:spcBef>
                <a:spcPts val="1000"/>
              </a:spcBef>
              <a:spcAft>
                <a:spcPts val="0"/>
              </a:spcAft>
              <a:buClr>
                <a:schemeClr val="dk1"/>
              </a:buClr>
              <a:buSzPct val="100000"/>
              <a:buNone/>
            </a:pPr>
            <a:r>
              <a:rPr lang="en-US" sz="2800" dirty="0">
                <a:solidFill>
                  <a:schemeClr val="tx1"/>
                </a:solidFill>
                <a:highlight>
                  <a:srgbClr val="FFFFFF"/>
                </a:highlight>
                <a:latin typeface="Times New Roman"/>
                <a:ea typeface="Times New Roman"/>
                <a:cs typeface="Times New Roman"/>
                <a:sym typeface="Times New Roman"/>
              </a:rPr>
              <a:t>	</a:t>
            </a:r>
            <a:r>
              <a:rPr lang="en-US" sz="2800" i="0" dirty="0">
                <a:solidFill>
                  <a:schemeClr val="tx1"/>
                </a:solidFill>
                <a:highlight>
                  <a:srgbClr val="FFFFFF"/>
                </a:highlight>
                <a:latin typeface="Times New Roman"/>
                <a:ea typeface="Times New Roman"/>
                <a:cs typeface="Times New Roman"/>
                <a:sym typeface="Times New Roman"/>
              </a:rPr>
              <a:t>A set of rules and arrangements to carry out blockchain operations</a:t>
            </a:r>
            <a:endParaRPr dirty="0">
              <a:solidFill>
                <a:schemeClr val="tx1"/>
              </a:solidFill>
            </a:endParaRPr>
          </a:p>
          <a:p>
            <a:pPr marL="0" lvl="0" indent="0" algn="just" rtl="0">
              <a:lnSpc>
                <a:spcPct val="170000"/>
              </a:lnSpc>
              <a:spcBef>
                <a:spcPts val="1000"/>
              </a:spcBef>
              <a:spcAft>
                <a:spcPts val="0"/>
              </a:spcAft>
              <a:buClr>
                <a:schemeClr val="dk1"/>
              </a:buClr>
              <a:buSzPct val="100000"/>
              <a:buNone/>
            </a:pPr>
            <a:r>
              <a:rPr lang="en-US" sz="2800" b="0" i="0" dirty="0">
                <a:solidFill>
                  <a:schemeClr val="tx1"/>
                </a:solidFill>
                <a:latin typeface="Times New Roman"/>
                <a:ea typeface="Times New Roman"/>
                <a:cs typeface="Times New Roman"/>
                <a:sym typeface="Times New Roman"/>
              </a:rPr>
              <a:t>	The consensus mechanism ensures that whatever local copy every 	individual party has, they are consistent with each other and is the 	most updated one.</a:t>
            </a:r>
            <a:endParaRPr dirty="0">
              <a:solidFill>
                <a:schemeClr val="tx1"/>
              </a:solidFill>
            </a:endParaRPr>
          </a:p>
          <a:p>
            <a:pPr marL="0" lvl="0" indent="0" algn="just" rtl="0">
              <a:lnSpc>
                <a:spcPct val="170000"/>
              </a:lnSpc>
              <a:spcBef>
                <a:spcPts val="1000"/>
              </a:spcBef>
              <a:spcAft>
                <a:spcPts val="0"/>
              </a:spcAft>
              <a:buClr>
                <a:schemeClr val="dk1"/>
              </a:buClr>
              <a:buSzPct val="100000"/>
              <a:buNone/>
            </a:pPr>
            <a:r>
              <a:rPr lang="en-US" sz="2800" b="0" i="0" dirty="0">
                <a:solidFill>
                  <a:schemeClr val="tx1"/>
                </a:solidFill>
                <a:latin typeface="Times New Roman"/>
                <a:ea typeface="Times New Roman"/>
                <a:cs typeface="Times New Roman"/>
                <a:sym typeface="Times New Roman"/>
              </a:rPr>
              <a:t>	Some of the consensus algorithms are:</a:t>
            </a:r>
            <a:endParaRPr dirty="0">
              <a:solidFill>
                <a:schemeClr val="tx1"/>
              </a:solidFill>
            </a:endParaRPr>
          </a:p>
          <a:p>
            <a:pPr marL="0" lvl="0" indent="0" algn="just" rtl="0">
              <a:lnSpc>
                <a:spcPct val="170000"/>
              </a:lnSpc>
              <a:spcBef>
                <a:spcPts val="1000"/>
              </a:spcBef>
              <a:spcAft>
                <a:spcPts val="0"/>
              </a:spcAft>
              <a:buClr>
                <a:schemeClr val="dk1"/>
              </a:buClr>
              <a:buSzPct val="100000"/>
              <a:buNone/>
            </a:pPr>
            <a:r>
              <a:rPr lang="en-US" sz="2800" b="1" i="0" dirty="0">
                <a:solidFill>
                  <a:schemeClr val="tx1"/>
                </a:solidFill>
                <a:latin typeface="Times New Roman"/>
                <a:ea typeface="Times New Roman"/>
                <a:cs typeface="Times New Roman"/>
                <a:sym typeface="Times New Roman"/>
              </a:rPr>
              <a:t>		Proof-of-Work(POW)</a:t>
            </a:r>
            <a:endParaRPr dirty="0">
              <a:solidFill>
                <a:schemeClr val="tx1"/>
              </a:solidFill>
            </a:endParaRPr>
          </a:p>
          <a:p>
            <a:pPr marL="0" lvl="0" indent="0" algn="just" rtl="0">
              <a:lnSpc>
                <a:spcPct val="170000"/>
              </a:lnSpc>
              <a:spcBef>
                <a:spcPts val="1000"/>
              </a:spcBef>
              <a:spcAft>
                <a:spcPts val="0"/>
              </a:spcAft>
              <a:buClr>
                <a:schemeClr val="dk1"/>
              </a:buClr>
              <a:buSzPct val="100000"/>
              <a:buNone/>
            </a:pPr>
            <a:r>
              <a:rPr lang="en-US" sz="2800" b="1" i="0" dirty="0">
                <a:solidFill>
                  <a:schemeClr val="tx1"/>
                </a:solidFill>
                <a:latin typeface="Times New Roman"/>
                <a:ea typeface="Times New Roman"/>
                <a:cs typeface="Times New Roman"/>
                <a:sym typeface="Times New Roman"/>
              </a:rPr>
              <a:t>		Proof of Stake(POS)</a:t>
            </a:r>
            <a:endParaRPr dirty="0">
              <a:solidFill>
                <a:schemeClr val="tx1"/>
              </a:solidFill>
            </a:endParaRPr>
          </a:p>
          <a:p>
            <a:pPr marL="0" lvl="0" indent="0" algn="l" rtl="0">
              <a:lnSpc>
                <a:spcPct val="90000"/>
              </a:lnSpc>
              <a:spcBef>
                <a:spcPts val="1000"/>
              </a:spcBef>
              <a:spcAft>
                <a:spcPts val="0"/>
              </a:spcAft>
              <a:buClr>
                <a:schemeClr val="dk1"/>
              </a:buClr>
              <a:buSzPct val="100000"/>
              <a:buNone/>
            </a:pPr>
            <a:endParaRPr dirty="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pic>
        <p:nvPicPr>
          <p:cNvPr id="113" name="Google Shape;113;p6"/>
          <p:cNvPicPr preferRelativeResize="0">
            <a:picLocks noGrp="1"/>
          </p:cNvPicPr>
          <p:nvPr>
            <p:ph idx="1"/>
          </p:nvPr>
        </p:nvPicPr>
        <p:blipFill rotWithShape="1">
          <a:blip r:embed="rId3">
            <a:alphaModFix/>
          </a:blip>
          <a:srcRect/>
          <a:stretch/>
        </p:blipFill>
        <p:spPr>
          <a:xfrm>
            <a:off x="225588" y="194819"/>
            <a:ext cx="11588460" cy="616131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9" name="Google Shape;119;p7"/>
          <p:cNvSpPr txBox="1">
            <a:spLocks noGrp="1"/>
          </p:cNvSpPr>
          <p:nvPr>
            <p:ph idx="1"/>
          </p:nvPr>
        </p:nvSpPr>
        <p:spPr>
          <a:xfrm>
            <a:off x="838200" y="609600"/>
            <a:ext cx="10515600" cy="5567363"/>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273239"/>
              </a:buClr>
              <a:buSzPts val="2800"/>
              <a:buNone/>
            </a:pPr>
            <a:r>
              <a:rPr lang="en-US" sz="2800" b="0" i="0" dirty="0">
                <a:solidFill>
                  <a:schemeClr val="tx1"/>
                </a:solidFill>
                <a:latin typeface="Times New Roman" panose="02020603050405020304" pitchFamily="18" charset="0"/>
                <a:ea typeface="Times New Roman"/>
                <a:cs typeface="Times New Roman" panose="02020603050405020304" pitchFamily="18" charset="0"/>
                <a:sym typeface="Times New Roman"/>
              </a:rPr>
              <a:t>There are Three Version’s of Blockchain:</a:t>
            </a:r>
            <a:endParaRPr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50000"/>
              </a:lnSpc>
              <a:spcBef>
                <a:spcPts val="1000"/>
              </a:spcBef>
              <a:spcAft>
                <a:spcPts val="0"/>
              </a:spcAft>
              <a:buClr>
                <a:srgbClr val="273239"/>
              </a:buClr>
              <a:buSzPts val="2800"/>
              <a:buNone/>
            </a:pPr>
            <a:r>
              <a:rPr lang="en-US" b="1" i="0" dirty="0" err="1">
                <a:solidFill>
                  <a:schemeClr val="tx1"/>
                </a:solidFill>
                <a:latin typeface="Times New Roman" panose="02020603050405020304" pitchFamily="18" charset="0"/>
                <a:ea typeface="Times New Roman"/>
                <a:cs typeface="Times New Roman" panose="02020603050405020304" pitchFamily="18" charset="0"/>
                <a:sym typeface="Times New Roman"/>
              </a:rPr>
              <a:t>BlockChain</a:t>
            </a:r>
            <a:r>
              <a:rPr lang="en-US" b="1" dirty="0">
                <a:solidFill>
                  <a:schemeClr val="tx1"/>
                </a:solidFill>
                <a:latin typeface="Times New Roman" panose="02020603050405020304" pitchFamily="18" charset="0"/>
                <a:ea typeface="Times New Roman"/>
                <a:cs typeface="Times New Roman" panose="02020603050405020304" pitchFamily="18" charset="0"/>
                <a:sym typeface="Times New Roman"/>
              </a:rPr>
              <a:t> </a:t>
            </a: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1.0 (Cryptocurrency) –</a:t>
            </a:r>
            <a:br>
              <a:rPr lang="en-US" dirty="0">
                <a:solidFill>
                  <a:schemeClr val="tx1"/>
                </a:solidFill>
                <a:latin typeface="Times New Roman" panose="02020603050405020304" pitchFamily="18" charset="0"/>
                <a:ea typeface="Times New Roman"/>
                <a:cs typeface="Times New Roman" panose="02020603050405020304" pitchFamily="18" charset="0"/>
                <a:sym typeface="Times New Roman"/>
              </a:rPr>
            </a:br>
            <a:r>
              <a:rPr lang="en-US" b="0" i="0" dirty="0" err="1">
                <a:solidFill>
                  <a:schemeClr val="tx1"/>
                </a:solidFill>
                <a:latin typeface="Times New Roman" panose="02020603050405020304" pitchFamily="18" charset="0"/>
                <a:ea typeface="Times New Roman"/>
                <a:cs typeface="Times New Roman" panose="02020603050405020304" pitchFamily="18" charset="0"/>
                <a:sym typeface="Times New Roman"/>
              </a:rPr>
              <a:t>BlockChain</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Version 1.0 was introduced in 2005 by Hall Finley, who implements DLT (Distributed Ledger Technology) represents its first application based on Crypto currency. This allows Financial Transaction based on </a:t>
            </a:r>
            <a:r>
              <a:rPr lang="en-US" b="0" i="0" dirty="0" err="1">
                <a:solidFill>
                  <a:schemeClr val="tx1"/>
                </a:solidFill>
                <a:latin typeface="Times New Roman" panose="02020603050405020304" pitchFamily="18" charset="0"/>
                <a:ea typeface="Times New Roman"/>
                <a:cs typeface="Times New Roman" panose="02020603050405020304" pitchFamily="18" charset="0"/>
                <a:sym typeface="Times New Roman"/>
              </a:rPr>
              <a:t>BlockChain</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technology or DLT which is executed with the help of </a:t>
            </a:r>
            <a:r>
              <a:rPr lang="en-US" b="0" i="0" dirty="0" err="1">
                <a:solidFill>
                  <a:schemeClr val="tx1"/>
                </a:solidFill>
                <a:latin typeface="Times New Roman" panose="02020603050405020304" pitchFamily="18" charset="0"/>
                <a:ea typeface="Times New Roman"/>
                <a:cs typeface="Times New Roman" panose="02020603050405020304" pitchFamily="18" charset="0"/>
                <a:sym typeface="Times New Roman"/>
              </a:rPr>
              <a:t>BitCoin</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This type of Version is permissionless as any participant will perform valid transaction of Bitcoin. This type is mainly used in Currency and Payments.</a:t>
            </a:r>
            <a:endParaRPr sz="2800" b="0" i="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5" name="Google Shape;125;p8"/>
          <p:cNvSpPr txBox="1">
            <a:spLocks noGrp="1"/>
          </p:cNvSpPr>
          <p:nvPr>
            <p:ph idx="1"/>
          </p:nvPr>
        </p:nvSpPr>
        <p:spPr>
          <a:xfrm>
            <a:off x="487680" y="646176"/>
            <a:ext cx="11155680" cy="5530787"/>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273239"/>
              </a:buClr>
              <a:buSzPct val="100000"/>
              <a:buNone/>
            </a:pPr>
            <a:r>
              <a:rPr lang="en-US" b="1" i="0" dirty="0" err="1">
                <a:solidFill>
                  <a:schemeClr val="tx1"/>
                </a:solidFill>
                <a:latin typeface="Times New Roman" panose="02020603050405020304" pitchFamily="18" charset="0"/>
                <a:ea typeface="Times New Roman"/>
                <a:cs typeface="Times New Roman" panose="02020603050405020304" pitchFamily="18" charset="0"/>
                <a:sym typeface="Times New Roman"/>
              </a:rPr>
              <a:t>BlockChain</a:t>
            </a: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 2.0 ( Smart Contracts) –</a:t>
            </a:r>
            <a:b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b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The new Version of </a:t>
            </a:r>
            <a:r>
              <a:rPr lang="en-US" b="0" i="0" dirty="0" err="1">
                <a:solidFill>
                  <a:schemeClr val="tx1"/>
                </a:solidFill>
                <a:latin typeface="Times New Roman" panose="02020603050405020304" pitchFamily="18" charset="0"/>
                <a:ea typeface="Times New Roman"/>
                <a:cs typeface="Times New Roman" panose="02020603050405020304" pitchFamily="18" charset="0"/>
                <a:sym typeface="Times New Roman"/>
              </a:rPr>
              <a:t>BlockChain</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come because there is a problem in version 1.0 which was Mining of </a:t>
            </a:r>
            <a:r>
              <a:rPr lang="en-US" b="0" i="0" dirty="0" err="1">
                <a:solidFill>
                  <a:schemeClr val="tx1"/>
                </a:solidFill>
                <a:latin typeface="Times New Roman" panose="02020603050405020304" pitchFamily="18" charset="0"/>
                <a:ea typeface="Times New Roman"/>
                <a:cs typeface="Times New Roman" panose="02020603050405020304" pitchFamily="18" charset="0"/>
                <a:sym typeface="Times New Roman"/>
              </a:rPr>
              <a:t>BitCoin</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was Wasteful and there was also lack of  Scalability of Network in it. So problem is improved in Version 2.0. In this version, the </a:t>
            </a:r>
            <a:r>
              <a:rPr lang="en-US" b="0" i="0" dirty="0" err="1">
                <a:solidFill>
                  <a:schemeClr val="tx1"/>
                </a:solidFill>
                <a:latin typeface="Times New Roman" panose="02020603050405020304" pitchFamily="18" charset="0"/>
                <a:ea typeface="Times New Roman"/>
                <a:cs typeface="Times New Roman" panose="02020603050405020304" pitchFamily="18" charset="0"/>
                <a:sym typeface="Times New Roman"/>
              </a:rPr>
              <a:t>BlockChain</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is not just limited to Cryptocurrencies but it will extend up to Smart Contracts.</a:t>
            </a:r>
            <a:endParaRPr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50000"/>
              </a:lnSpc>
              <a:spcBef>
                <a:spcPts val="1000"/>
              </a:spcBef>
              <a:spcAft>
                <a:spcPts val="0"/>
              </a:spcAft>
              <a:buClr>
                <a:srgbClr val="000000"/>
              </a:buClr>
              <a:buSzPct val="100000"/>
              <a:buNone/>
            </a:pP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Smart contracts are contracts that are written in code and designed to follow a set of instructions. They are safe, devoid of third-party interference, transparent, and precise.</a:t>
            </a:r>
            <a:endParaRPr b="0" i="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0" lvl="0" indent="0" algn="just" rtl="0">
              <a:lnSpc>
                <a:spcPct val="150000"/>
              </a:lnSpc>
              <a:spcBef>
                <a:spcPts val="1000"/>
              </a:spcBef>
              <a:spcAft>
                <a:spcPts val="0"/>
              </a:spcAft>
              <a:buClr>
                <a:srgbClr val="273239"/>
              </a:buClr>
              <a:buSzPct val="100000"/>
              <a:buNone/>
            </a:pP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In </a:t>
            </a:r>
            <a:r>
              <a:rPr lang="en-US" b="0" i="0" dirty="0" err="1">
                <a:solidFill>
                  <a:schemeClr val="tx1"/>
                </a:solidFill>
                <a:latin typeface="Times New Roman" panose="02020603050405020304" pitchFamily="18" charset="0"/>
                <a:ea typeface="Times New Roman"/>
                <a:cs typeface="Times New Roman" panose="02020603050405020304" pitchFamily="18" charset="0"/>
                <a:sym typeface="Times New Roman"/>
              </a:rPr>
              <a:t>BlockChain</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2.0,  </a:t>
            </a:r>
            <a:r>
              <a:rPr lang="en-US" b="0" i="0" dirty="0" err="1">
                <a:solidFill>
                  <a:schemeClr val="tx1"/>
                </a:solidFill>
                <a:latin typeface="Times New Roman" panose="02020603050405020304" pitchFamily="18" charset="0"/>
                <a:ea typeface="Times New Roman"/>
                <a:cs typeface="Times New Roman" panose="02020603050405020304" pitchFamily="18" charset="0"/>
                <a:sym typeface="Times New Roman"/>
              </a:rPr>
              <a:t>BitCoin</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is replaced with Ethereum. Thus, </a:t>
            </a:r>
            <a:r>
              <a:rPr lang="en-US" b="0" i="0" dirty="0" err="1">
                <a:solidFill>
                  <a:schemeClr val="tx1"/>
                </a:solidFill>
                <a:latin typeface="Times New Roman" panose="02020603050405020304" pitchFamily="18" charset="0"/>
                <a:ea typeface="Times New Roman"/>
                <a:cs typeface="Times New Roman" panose="02020603050405020304" pitchFamily="18" charset="0"/>
                <a:sym typeface="Times New Roman"/>
              </a:rPr>
              <a:t>BlockChain</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2.0 was successfully processing high number of Transactions on Public network rapidly.</a:t>
            </a:r>
            <a:endParaRPr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50000"/>
              </a:lnSpc>
              <a:spcBef>
                <a:spcPts val="1000"/>
              </a:spcBef>
              <a:spcAft>
                <a:spcPts val="0"/>
              </a:spcAft>
              <a:buClr>
                <a:schemeClr val="dk1"/>
              </a:buClr>
              <a:buSzPct val="100000"/>
              <a:buNone/>
            </a:pPr>
            <a:endParaRPr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9"/>
          <p:cNvSpPr txBox="1">
            <a:spLocks noGrp="1"/>
          </p:cNvSpPr>
          <p:nvPr>
            <p:ph idx="1"/>
          </p:nvPr>
        </p:nvSpPr>
        <p:spPr>
          <a:xfrm>
            <a:off x="536448" y="1011936"/>
            <a:ext cx="11058144" cy="5165027"/>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Clr>
                <a:srgbClr val="273239"/>
              </a:buClr>
              <a:buSzPts val="2800"/>
              <a:buNone/>
            </a:pPr>
            <a:r>
              <a:rPr lang="en-US" b="1" i="0" dirty="0">
                <a:solidFill>
                  <a:srgbClr val="273239"/>
                </a:solidFill>
                <a:latin typeface="Times New Roman" panose="02020603050405020304" pitchFamily="18" charset="0"/>
                <a:ea typeface="Times New Roman"/>
                <a:cs typeface="Times New Roman" panose="02020603050405020304" pitchFamily="18" charset="0"/>
                <a:sym typeface="Times New Roman"/>
              </a:rPr>
              <a:t>3. </a:t>
            </a:r>
            <a:r>
              <a:rPr lang="en-US" b="1" i="0" dirty="0" err="1">
                <a:solidFill>
                  <a:srgbClr val="273239"/>
                </a:solidFill>
                <a:latin typeface="Times New Roman" panose="02020603050405020304" pitchFamily="18" charset="0"/>
                <a:ea typeface="Times New Roman"/>
                <a:cs typeface="Times New Roman" panose="02020603050405020304" pitchFamily="18" charset="0"/>
                <a:sym typeface="Times New Roman"/>
              </a:rPr>
              <a:t>BlockChain</a:t>
            </a:r>
            <a:r>
              <a:rPr lang="en-US" b="1" i="0" dirty="0">
                <a:solidFill>
                  <a:srgbClr val="273239"/>
                </a:solidFill>
                <a:latin typeface="Times New Roman" panose="02020603050405020304" pitchFamily="18" charset="0"/>
                <a:ea typeface="Times New Roman"/>
                <a:cs typeface="Times New Roman" panose="02020603050405020304" pitchFamily="18" charset="0"/>
                <a:sym typeface="Times New Roman"/>
              </a:rPr>
              <a:t> 3.0 (</a:t>
            </a:r>
            <a:r>
              <a:rPr lang="en-US" b="1" i="0" dirty="0" err="1">
                <a:solidFill>
                  <a:srgbClr val="273239"/>
                </a:solidFill>
                <a:latin typeface="Times New Roman" panose="02020603050405020304" pitchFamily="18" charset="0"/>
                <a:ea typeface="Times New Roman"/>
                <a:cs typeface="Times New Roman" panose="02020603050405020304" pitchFamily="18" charset="0"/>
                <a:sym typeface="Times New Roman"/>
              </a:rPr>
              <a:t>DApps</a:t>
            </a:r>
            <a:r>
              <a:rPr lang="en-US" b="1" i="0" dirty="0">
                <a:solidFill>
                  <a:srgbClr val="273239"/>
                </a:solidFill>
                <a:latin typeface="Times New Roman" panose="02020603050405020304" pitchFamily="18" charset="0"/>
                <a:ea typeface="Times New Roman"/>
                <a:cs typeface="Times New Roman" panose="02020603050405020304" pitchFamily="18" charset="0"/>
                <a:sym typeface="Times New Roman"/>
              </a:rPr>
              <a:t>) –</a:t>
            </a:r>
            <a:endParaRPr dirty="0">
              <a:latin typeface="Times New Roman" panose="02020603050405020304" pitchFamily="18" charset="0"/>
              <a:cs typeface="Times New Roman" panose="02020603050405020304" pitchFamily="18" charset="0"/>
            </a:endParaRPr>
          </a:p>
          <a:p>
            <a:pPr marL="0" lvl="0" indent="0" algn="just" rtl="0">
              <a:lnSpc>
                <a:spcPct val="150000"/>
              </a:lnSpc>
              <a:spcBef>
                <a:spcPts val="1000"/>
              </a:spcBef>
              <a:spcAft>
                <a:spcPts val="0"/>
              </a:spcAft>
              <a:buClr>
                <a:srgbClr val="000000"/>
              </a:buClr>
              <a:buSzPts val="2800"/>
              <a:buNone/>
            </a:pPr>
            <a:r>
              <a:rPr lang="en-US" b="0" i="0" dirty="0">
                <a:solidFill>
                  <a:srgbClr val="000000"/>
                </a:solidFill>
                <a:latin typeface="Times New Roman" panose="02020603050405020304" pitchFamily="18" charset="0"/>
                <a:ea typeface="Times New Roman"/>
                <a:cs typeface="Times New Roman" panose="02020603050405020304" pitchFamily="18" charset="0"/>
                <a:sym typeface="Times New Roman"/>
              </a:rPr>
              <a:t>Decentralized apps, or </a:t>
            </a:r>
            <a:r>
              <a:rPr lang="en-US" b="0" i="0" dirty="0" err="1">
                <a:solidFill>
                  <a:srgbClr val="000000"/>
                </a:solidFill>
                <a:latin typeface="Times New Roman" panose="02020603050405020304" pitchFamily="18" charset="0"/>
                <a:ea typeface="Times New Roman"/>
                <a:cs typeface="Times New Roman" panose="02020603050405020304" pitchFamily="18" charset="0"/>
                <a:sym typeface="Times New Roman"/>
              </a:rPr>
              <a:t>DApps</a:t>
            </a:r>
            <a:r>
              <a:rPr lang="en-US" b="0" i="0" dirty="0">
                <a:solidFill>
                  <a:srgbClr val="000000"/>
                </a:solidFill>
                <a:latin typeface="Times New Roman" panose="02020603050405020304" pitchFamily="18" charset="0"/>
                <a:ea typeface="Times New Roman"/>
                <a:cs typeface="Times New Roman" panose="02020603050405020304" pitchFamily="18" charset="0"/>
                <a:sym typeface="Times New Roman"/>
              </a:rPr>
              <a:t>, are essentially a collection of linked smart contracts. Smart contracts are computer programs that carry out a set of instructions. </a:t>
            </a:r>
            <a:r>
              <a:rPr lang="en-US" b="0" i="0" dirty="0" err="1">
                <a:solidFill>
                  <a:srgbClr val="000000"/>
                </a:solidFill>
                <a:latin typeface="Times New Roman" panose="02020603050405020304" pitchFamily="18" charset="0"/>
                <a:ea typeface="Times New Roman"/>
                <a:cs typeface="Times New Roman" panose="02020603050405020304" pitchFamily="18" charset="0"/>
                <a:sym typeface="Times New Roman"/>
              </a:rPr>
              <a:t>DApps</a:t>
            </a:r>
            <a:r>
              <a:rPr lang="en-US" b="0" i="0" dirty="0">
                <a:solidFill>
                  <a:srgbClr val="000000"/>
                </a:solidFill>
                <a:latin typeface="Times New Roman" panose="02020603050405020304" pitchFamily="18" charset="0"/>
                <a:ea typeface="Times New Roman"/>
                <a:cs typeface="Times New Roman" panose="02020603050405020304" pitchFamily="18" charset="0"/>
                <a:sym typeface="Times New Roman"/>
              </a:rPr>
              <a:t> are decentralized apps that combine smart contracts into packages that can be interacted with by users</a:t>
            </a:r>
            <a:endParaRPr b="1" dirty="0">
              <a:solidFill>
                <a:srgbClr val="273239"/>
              </a:solidFill>
              <a:latin typeface="Times New Roman" panose="02020603050405020304" pitchFamily="18" charset="0"/>
              <a:ea typeface="Times New Roman"/>
              <a:cs typeface="Times New Roman" panose="02020603050405020304" pitchFamily="18" charset="0"/>
              <a:sym typeface="Times New Roman"/>
            </a:endParaRPr>
          </a:p>
          <a:p>
            <a:pPr marL="0" lvl="0" indent="0" algn="l" rtl="0">
              <a:lnSpc>
                <a:spcPct val="150000"/>
              </a:lnSpc>
              <a:spcBef>
                <a:spcPts val="1000"/>
              </a:spcBef>
              <a:spcAft>
                <a:spcPts val="0"/>
              </a:spcAft>
              <a:buClr>
                <a:schemeClr val="dk1"/>
              </a:buClr>
              <a:buSzPts val="2800"/>
              <a:buNone/>
            </a:pP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10"/>
          <p:cNvSpPr txBox="1">
            <a:spLocks noGrp="1"/>
          </p:cNvSpPr>
          <p:nvPr>
            <p:ph type="title"/>
          </p:nvPr>
        </p:nvSpPr>
        <p:spPr>
          <a:xfrm>
            <a:off x="938784" y="353568"/>
            <a:ext cx="10415016" cy="135636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b="1" dirty="0"/>
              <a:t>Types of Block Chain Architecture(variants)</a:t>
            </a:r>
            <a:endParaRPr b="1" dirty="0"/>
          </a:p>
        </p:txBody>
      </p:sp>
      <p:sp>
        <p:nvSpPr>
          <p:cNvPr id="136" name="Google Shape;136;p10"/>
          <p:cNvSpPr txBox="1">
            <a:spLocks noGrp="1"/>
          </p:cNvSpPr>
          <p:nvPr>
            <p:ph idx="1"/>
          </p:nvPr>
        </p:nvSpPr>
        <p:spPr>
          <a:xfrm>
            <a:off x="573024" y="1837817"/>
            <a:ext cx="11131296" cy="4351338"/>
          </a:xfrm>
          <a:prstGeom prst="rect">
            <a:avLst/>
          </a:prstGeom>
          <a:noFill/>
          <a:ln>
            <a:noFill/>
          </a:ln>
        </p:spPr>
        <p:txBody>
          <a:bodyPr spcFirstLastPara="1" wrap="square" lIns="91425" tIns="45700" rIns="91425" bIns="45700" anchor="t" anchorCtr="0">
            <a:normAutofit fontScale="77500" lnSpcReduction="20000"/>
          </a:bodyPr>
          <a:lstStyle/>
          <a:p>
            <a:pPr marL="0" lvl="0" indent="0" algn="l" rtl="0">
              <a:lnSpc>
                <a:spcPct val="160000"/>
              </a:lnSpc>
              <a:spcBef>
                <a:spcPts val="0"/>
              </a:spcBef>
              <a:spcAft>
                <a:spcPts val="0"/>
              </a:spcAft>
              <a:buClr>
                <a:srgbClr val="222222"/>
              </a:buClr>
              <a:buSzPts val="2800"/>
              <a:buNone/>
            </a:pPr>
            <a:r>
              <a:rPr lang="en-US" sz="2800" b="1" i="0" dirty="0">
                <a:solidFill>
                  <a:srgbClr val="222222"/>
                </a:solidFill>
                <a:latin typeface="Times New Roman"/>
                <a:ea typeface="Times New Roman"/>
                <a:cs typeface="Times New Roman"/>
                <a:sym typeface="Times New Roman"/>
              </a:rPr>
              <a:t>Public:</a:t>
            </a:r>
            <a:endParaRPr dirty="0"/>
          </a:p>
          <a:p>
            <a:pPr marL="0" lvl="0" indent="0" algn="just" rtl="0">
              <a:lnSpc>
                <a:spcPct val="160000"/>
              </a:lnSpc>
              <a:spcBef>
                <a:spcPts val="1000"/>
              </a:spcBef>
              <a:spcAft>
                <a:spcPts val="0"/>
              </a:spcAft>
              <a:buClr>
                <a:srgbClr val="222222"/>
              </a:buClr>
              <a:buSzPts val="2800"/>
              <a:buNone/>
            </a:pPr>
            <a:r>
              <a:rPr lang="en-US" sz="2800" b="0" i="0" dirty="0">
                <a:solidFill>
                  <a:srgbClr val="222222"/>
                </a:solidFill>
                <a:latin typeface="Times New Roman"/>
                <a:ea typeface="Times New Roman"/>
                <a:cs typeface="Times New Roman"/>
                <a:sym typeface="Times New Roman"/>
              </a:rPr>
              <a:t>In this type of blockchain, ledgers are visible to everyone on the internet. It allows anyone to verify and add a block of transactions to the blockchain. Public networks have incentives for people to join and are free for use. Anyone can use a public blockchain network.</a:t>
            </a:r>
            <a:endParaRPr dirty="0"/>
          </a:p>
          <a:p>
            <a:pPr marL="0" lvl="0" indent="0" algn="just" rtl="0">
              <a:lnSpc>
                <a:spcPct val="160000"/>
              </a:lnSpc>
              <a:spcBef>
                <a:spcPts val="1000"/>
              </a:spcBef>
              <a:spcAft>
                <a:spcPts val="0"/>
              </a:spcAft>
              <a:buClr>
                <a:srgbClr val="222222"/>
              </a:buClr>
              <a:buSzPts val="2800"/>
              <a:buNone/>
            </a:pPr>
            <a:r>
              <a:rPr lang="en-US" sz="2800" b="1" i="0" dirty="0">
                <a:solidFill>
                  <a:srgbClr val="222222"/>
                </a:solidFill>
                <a:latin typeface="Times New Roman"/>
                <a:ea typeface="Times New Roman"/>
                <a:cs typeface="Times New Roman"/>
                <a:sym typeface="Times New Roman"/>
              </a:rPr>
              <a:t>Public blockchain</a:t>
            </a:r>
            <a:r>
              <a:rPr lang="en-US" sz="2800" b="0" i="0" dirty="0">
                <a:solidFill>
                  <a:srgbClr val="222222"/>
                </a:solidFill>
                <a:latin typeface="Times New Roman"/>
                <a:ea typeface="Times New Roman"/>
                <a:cs typeface="Times New Roman"/>
                <a:sym typeface="Times New Roman"/>
              </a:rPr>
              <a:t> does not have any central authority controlling or directing its operations</a:t>
            </a:r>
            <a:endParaRPr dirty="0">
              <a:solidFill>
                <a:srgbClr val="222222"/>
              </a:solidFill>
              <a:latin typeface="Times New Roman"/>
              <a:ea typeface="Times New Roman"/>
              <a:cs typeface="Times New Roman"/>
              <a:sym typeface="Times New Roman"/>
            </a:endParaRPr>
          </a:p>
          <a:p>
            <a:pPr marL="0" lvl="0" indent="0" algn="just" rtl="0">
              <a:lnSpc>
                <a:spcPct val="160000"/>
              </a:lnSpc>
              <a:spcBef>
                <a:spcPts val="1000"/>
              </a:spcBef>
              <a:spcAft>
                <a:spcPts val="0"/>
              </a:spcAft>
              <a:buClr>
                <a:srgbClr val="222222"/>
              </a:buClr>
              <a:buSzPts val="2800"/>
              <a:buNone/>
            </a:pPr>
            <a:r>
              <a:rPr lang="en-US" sz="2800" b="0" i="0" dirty="0">
                <a:solidFill>
                  <a:srgbClr val="222222"/>
                </a:solidFill>
                <a:latin typeface="Times New Roman"/>
                <a:ea typeface="Times New Roman"/>
                <a:cs typeface="Times New Roman"/>
                <a:sym typeface="Times New Roman"/>
              </a:rPr>
              <a:t>Transactions on a public blockchain are public and visible to anyone through explorers. </a:t>
            </a:r>
          </a:p>
          <a:p>
            <a:pPr marL="0" lvl="0" indent="0" algn="just" rtl="0">
              <a:lnSpc>
                <a:spcPct val="160000"/>
              </a:lnSpc>
              <a:spcBef>
                <a:spcPts val="1000"/>
              </a:spcBef>
              <a:spcAft>
                <a:spcPts val="0"/>
              </a:spcAft>
              <a:buClr>
                <a:srgbClr val="222222"/>
              </a:buClr>
              <a:buSzPts val="2800"/>
              <a:buNone/>
            </a:pPr>
            <a:r>
              <a:rPr lang="en-US" sz="2800" b="1" i="0" dirty="0">
                <a:solidFill>
                  <a:srgbClr val="222222"/>
                </a:solidFill>
                <a:latin typeface="Times New Roman"/>
                <a:ea typeface="Times New Roman"/>
                <a:cs typeface="Times New Roman"/>
                <a:sym typeface="Times New Roman"/>
              </a:rPr>
              <a:t>Examples</a:t>
            </a:r>
            <a:r>
              <a:rPr lang="en-US" sz="2800" b="0" i="0" dirty="0">
                <a:solidFill>
                  <a:srgbClr val="222222"/>
                </a:solidFill>
                <a:latin typeface="Times New Roman"/>
                <a:ea typeface="Times New Roman"/>
                <a:cs typeface="Times New Roman"/>
                <a:sym typeface="Times New Roman"/>
              </a:rPr>
              <a:t> include </a:t>
            </a:r>
            <a:r>
              <a:rPr lang="en-US" sz="2800" b="0" i="0" u="none" strike="noStrike" dirty="0">
                <a:solidFill>
                  <a:srgbClr val="222222"/>
                </a:solidFill>
                <a:latin typeface="Times New Roman"/>
                <a:ea typeface="Times New Roman"/>
                <a:cs typeface="Times New Roman"/>
                <a:sym typeface="Times New Roman"/>
              </a:rPr>
              <a:t>Bitcoin</a:t>
            </a:r>
            <a:r>
              <a:rPr lang="en-US" sz="2800" b="0" i="0" dirty="0">
                <a:solidFill>
                  <a:srgbClr val="222222"/>
                </a:solidFill>
                <a:latin typeface="Times New Roman"/>
                <a:ea typeface="Times New Roman"/>
                <a:cs typeface="Times New Roman"/>
                <a:sym typeface="Times New Roman"/>
              </a:rPr>
              <a:t> and Ethereum blockchains.</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2" name="Google Shape;142;p11"/>
          <p:cNvSpPr txBox="1">
            <a:spLocks noGrp="1"/>
          </p:cNvSpPr>
          <p:nvPr>
            <p:ph idx="1"/>
          </p:nvPr>
        </p:nvSpPr>
        <p:spPr>
          <a:xfrm>
            <a:off x="716280" y="765048"/>
            <a:ext cx="10914888" cy="5050536"/>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chemeClr val="dk1"/>
              </a:buClr>
              <a:buSzPts val="2800"/>
              <a:buNone/>
            </a:pP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As the name is public this blockchain is open to the public, which means it is not owned by anyone. </a:t>
            </a:r>
            <a:endParaRPr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50000"/>
              </a:lnSpc>
              <a:spcBef>
                <a:spcPts val="1000"/>
              </a:spcBef>
              <a:spcAft>
                <a:spcPts val="0"/>
              </a:spcAft>
              <a:buClr>
                <a:schemeClr val="dk1"/>
              </a:buClr>
              <a:buSzPts val="2800"/>
              <a:buNone/>
            </a:pP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Anyone having internet and a computer with good hardware can participate in this public blockchain.</a:t>
            </a:r>
            <a:endParaRPr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50000"/>
              </a:lnSpc>
              <a:spcBef>
                <a:spcPts val="1000"/>
              </a:spcBef>
              <a:spcAft>
                <a:spcPts val="0"/>
              </a:spcAft>
              <a:buClr>
                <a:schemeClr val="dk1"/>
              </a:buClr>
              <a:buSzPts val="2800"/>
              <a:buNone/>
            </a:pP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All the computer in the network hold the copy of other nodes or block present in the network</a:t>
            </a:r>
            <a:endParaRPr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50000"/>
              </a:lnSpc>
              <a:spcBef>
                <a:spcPts val="1000"/>
              </a:spcBef>
              <a:spcAft>
                <a:spcPts val="0"/>
              </a:spcAft>
              <a:buClr>
                <a:schemeClr val="dk1"/>
              </a:buClr>
              <a:buSzPts val="2800"/>
              <a:buNone/>
            </a:pP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In this public blockchain, we can also perform verification of transactions or records</a:t>
            </a:r>
            <a:endParaRPr dirty="0">
              <a:solidFill>
                <a:schemeClr val="tx1"/>
              </a:solidFill>
              <a:latin typeface="Times New Roman" panose="02020603050405020304" pitchFamily="18" charset="0"/>
              <a:cs typeface="Times New Roman" panose="02020603050405020304" pitchFamily="18" charset="0"/>
            </a:endParaRPr>
          </a:p>
          <a:p>
            <a:pPr marL="177800" indent="0">
              <a:lnSpc>
                <a:spcPct val="150000"/>
              </a:lnSpc>
              <a:spcBef>
                <a:spcPts val="1000"/>
              </a:spcBef>
              <a:buClr>
                <a:schemeClr val="dk1"/>
              </a:buClr>
              <a:buSzPts val="2800"/>
              <a:buNone/>
            </a:pPr>
            <a:endParaRPr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2"/>
          <p:cNvSpPr txBox="1">
            <a:spLocks noGrp="1"/>
          </p:cNvSpPr>
          <p:nvPr>
            <p:ph idx="1"/>
          </p:nvPr>
        </p:nvSpPr>
        <p:spPr>
          <a:xfrm>
            <a:off x="548640" y="557784"/>
            <a:ext cx="11119104" cy="5586984"/>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chemeClr val="dk1"/>
              </a:buClr>
              <a:buSzPts val="2800"/>
              <a:buNone/>
            </a:pP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Advantages:</a:t>
            </a:r>
            <a:endParaRPr b="0" i="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0" lvl="0" indent="0" algn="just" rtl="0">
              <a:lnSpc>
                <a:spcPct val="150000"/>
              </a:lnSpc>
              <a:spcBef>
                <a:spcPts val="1000"/>
              </a:spcBef>
              <a:spcAft>
                <a:spcPts val="0"/>
              </a:spcAft>
              <a:buClr>
                <a:schemeClr val="dk1"/>
              </a:buClr>
              <a:buSzPts val="2800"/>
              <a:buNone/>
            </a:pP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Trustable: </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There are algorithms to detect no fraud. Participants need not worry about the other nodes in the network</a:t>
            </a:r>
            <a:endParaRPr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50000"/>
              </a:lnSpc>
              <a:spcBef>
                <a:spcPts val="1000"/>
              </a:spcBef>
              <a:spcAft>
                <a:spcPts val="0"/>
              </a:spcAft>
              <a:buClr>
                <a:schemeClr val="dk1"/>
              </a:buClr>
              <a:buSzPts val="2800"/>
              <a:buNone/>
            </a:pP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Secure:</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This blockchain is large in size as it is open to the public. In a large size, there is greater distribution of records</a:t>
            </a:r>
            <a:endParaRPr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50000"/>
              </a:lnSpc>
              <a:spcBef>
                <a:spcPts val="1000"/>
              </a:spcBef>
              <a:spcAft>
                <a:spcPts val="0"/>
              </a:spcAft>
              <a:buClr>
                <a:schemeClr val="dk1"/>
              </a:buClr>
              <a:buSzPts val="2800"/>
              <a:buNone/>
            </a:pP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Anonymous Nature:</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It is a secure platform to make your transaction properly at the same time, you are not required to reveal your name and identity in order to participate.</a:t>
            </a:r>
            <a:endParaRPr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50000"/>
              </a:lnSpc>
              <a:spcBef>
                <a:spcPts val="1000"/>
              </a:spcBef>
              <a:spcAft>
                <a:spcPts val="0"/>
              </a:spcAft>
              <a:buClr>
                <a:schemeClr val="dk1"/>
              </a:buClr>
              <a:buSzPts val="2800"/>
              <a:buNone/>
            </a:pP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Decentralized:</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There is no single platform that maintains the network, instead every user has a copy of the ledger.</a:t>
            </a:r>
            <a:endParaRPr dirty="0">
              <a:solidFill>
                <a:schemeClr val="tx1"/>
              </a:solidFill>
              <a:latin typeface="Times New Roman" panose="02020603050405020304" pitchFamily="18" charset="0"/>
              <a:cs typeface="Times New Roman" panose="02020603050405020304" pitchFamily="18" charset="0"/>
            </a:endParaRPr>
          </a:p>
          <a:p>
            <a:pPr marL="0" lvl="0" indent="0" algn="l" rtl="0">
              <a:lnSpc>
                <a:spcPct val="150000"/>
              </a:lnSpc>
              <a:spcBef>
                <a:spcPts val="1000"/>
              </a:spcBef>
              <a:spcAft>
                <a:spcPts val="0"/>
              </a:spcAft>
              <a:buClr>
                <a:schemeClr val="dk1"/>
              </a:buClr>
              <a:buSzPts val="2800"/>
              <a:buNone/>
            </a:pPr>
            <a:endParaRPr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3" name="Google Shape;153;p13"/>
          <p:cNvSpPr txBox="1">
            <a:spLocks noGrp="1"/>
          </p:cNvSpPr>
          <p:nvPr>
            <p:ph idx="1"/>
          </p:nvPr>
        </p:nvSpPr>
        <p:spPr>
          <a:xfrm>
            <a:off x="618744" y="533400"/>
            <a:ext cx="11219688" cy="5452872"/>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273239"/>
              </a:buClr>
              <a:buSzPts val="2800"/>
              <a:buNone/>
            </a:pPr>
            <a:r>
              <a:rPr lang="en-US" sz="2800" b="1" i="0" dirty="0">
                <a:solidFill>
                  <a:schemeClr val="tx1"/>
                </a:solidFill>
                <a:latin typeface="Times New Roman" panose="02020603050405020304" pitchFamily="18" charset="0"/>
                <a:ea typeface="Times New Roman"/>
                <a:cs typeface="Times New Roman" panose="02020603050405020304" pitchFamily="18" charset="0"/>
                <a:sym typeface="Times New Roman"/>
              </a:rPr>
              <a:t>Disadvantages:</a:t>
            </a:r>
            <a:endParaRPr sz="2800" b="0" i="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0" lvl="0" indent="0" algn="just" rtl="0">
              <a:lnSpc>
                <a:spcPct val="150000"/>
              </a:lnSpc>
              <a:spcBef>
                <a:spcPts val="1000"/>
              </a:spcBef>
              <a:spcAft>
                <a:spcPts val="0"/>
              </a:spcAft>
              <a:buClr>
                <a:srgbClr val="273239"/>
              </a:buClr>
              <a:buSzPts val="2800"/>
              <a:buNone/>
            </a:pPr>
            <a:r>
              <a:rPr lang="en-US" sz="2800" b="1" i="0" dirty="0">
                <a:solidFill>
                  <a:schemeClr val="tx1"/>
                </a:solidFill>
                <a:latin typeface="Times New Roman" panose="02020603050405020304" pitchFamily="18" charset="0"/>
                <a:ea typeface="Times New Roman"/>
                <a:cs typeface="Times New Roman" panose="02020603050405020304" pitchFamily="18" charset="0"/>
                <a:sym typeface="Times New Roman"/>
              </a:rPr>
              <a:t>Processing: </a:t>
            </a:r>
            <a:r>
              <a:rPr lang="en-US" sz="2800" b="0" i="0" dirty="0">
                <a:solidFill>
                  <a:schemeClr val="tx1"/>
                </a:solidFill>
                <a:latin typeface="Times New Roman" panose="02020603050405020304" pitchFamily="18" charset="0"/>
                <a:ea typeface="Times New Roman"/>
                <a:cs typeface="Times New Roman" panose="02020603050405020304" pitchFamily="18" charset="0"/>
                <a:sym typeface="Times New Roman"/>
              </a:rPr>
              <a:t>The rate of the transaction process is very slow, due to its large size. Verification of each node is a very time-consuming process.</a:t>
            </a:r>
            <a:endParaRPr sz="2800"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50000"/>
              </a:lnSpc>
              <a:spcBef>
                <a:spcPts val="1000"/>
              </a:spcBef>
              <a:spcAft>
                <a:spcPts val="0"/>
              </a:spcAft>
              <a:buClr>
                <a:srgbClr val="273239"/>
              </a:buClr>
              <a:buSzPts val="2800"/>
              <a:buNone/>
            </a:pPr>
            <a:r>
              <a:rPr lang="en-US" sz="2800" b="1" i="0" dirty="0">
                <a:solidFill>
                  <a:schemeClr val="tx1"/>
                </a:solidFill>
                <a:latin typeface="Times New Roman" panose="02020603050405020304" pitchFamily="18" charset="0"/>
                <a:ea typeface="Times New Roman"/>
                <a:cs typeface="Times New Roman" panose="02020603050405020304" pitchFamily="18" charset="0"/>
                <a:sym typeface="Times New Roman"/>
              </a:rPr>
              <a:t>Energy Consumption: </a:t>
            </a:r>
            <a:r>
              <a:rPr lang="en-US" sz="2800" b="0" i="0" dirty="0">
                <a:solidFill>
                  <a:schemeClr val="tx1"/>
                </a:solidFill>
                <a:latin typeface="Times New Roman" panose="02020603050405020304" pitchFamily="18" charset="0"/>
                <a:ea typeface="Times New Roman"/>
                <a:cs typeface="Times New Roman" panose="02020603050405020304" pitchFamily="18" charset="0"/>
                <a:sym typeface="Times New Roman"/>
              </a:rPr>
              <a:t>Proof of work is high energy-consuming. It requires good computer hardware to participate in the network</a:t>
            </a:r>
            <a:endParaRPr sz="2800"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50000"/>
              </a:lnSpc>
              <a:spcBef>
                <a:spcPts val="1000"/>
              </a:spcBef>
              <a:spcAft>
                <a:spcPts val="0"/>
              </a:spcAft>
              <a:buClr>
                <a:srgbClr val="273239"/>
              </a:buClr>
              <a:buSzPts val="2800"/>
              <a:buNone/>
            </a:pPr>
            <a:r>
              <a:rPr lang="en-US" sz="2800" b="1" i="0" dirty="0">
                <a:solidFill>
                  <a:schemeClr val="tx1"/>
                </a:solidFill>
                <a:latin typeface="Times New Roman" panose="02020603050405020304" pitchFamily="18" charset="0"/>
                <a:ea typeface="Times New Roman"/>
                <a:cs typeface="Times New Roman" panose="02020603050405020304" pitchFamily="18" charset="0"/>
                <a:sym typeface="Times New Roman"/>
              </a:rPr>
              <a:t>Acceptance: </a:t>
            </a:r>
            <a:r>
              <a:rPr lang="en-US" sz="2800" b="0" i="0" dirty="0">
                <a:solidFill>
                  <a:schemeClr val="tx1"/>
                </a:solidFill>
                <a:latin typeface="Times New Roman" panose="02020603050405020304" pitchFamily="18" charset="0"/>
                <a:ea typeface="Times New Roman"/>
                <a:cs typeface="Times New Roman" panose="02020603050405020304" pitchFamily="18" charset="0"/>
                <a:sym typeface="Times New Roman"/>
              </a:rPr>
              <a:t>No central authority is there so governments are facing the issue to implement the technology faster.</a:t>
            </a:r>
            <a:endParaRPr sz="2800" dirty="0">
              <a:solidFill>
                <a:schemeClr val="tx1"/>
              </a:solidFill>
              <a:latin typeface="Times New Roman" panose="02020603050405020304" pitchFamily="18" charset="0"/>
              <a:cs typeface="Times New Roman" panose="02020603050405020304" pitchFamily="18" charset="0"/>
            </a:endParaRPr>
          </a:p>
          <a:p>
            <a:pPr marL="0" lvl="0" indent="0" algn="l" rtl="0">
              <a:lnSpc>
                <a:spcPct val="150000"/>
              </a:lnSpc>
              <a:spcBef>
                <a:spcPts val="1000"/>
              </a:spcBef>
              <a:spcAft>
                <a:spcPts val="0"/>
              </a:spcAft>
              <a:buClr>
                <a:schemeClr val="dk1"/>
              </a:buClr>
              <a:buSzPts val="2800"/>
              <a:buNone/>
            </a:pPr>
            <a:endParaRPr sz="2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4"/>
          <p:cNvSpPr txBox="1">
            <a:spLocks noGrp="1"/>
          </p:cNvSpPr>
          <p:nvPr>
            <p:ph idx="1"/>
          </p:nvPr>
        </p:nvSpPr>
        <p:spPr>
          <a:xfrm>
            <a:off x="838200" y="548640"/>
            <a:ext cx="10515600" cy="5628323"/>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Clr>
                <a:srgbClr val="222222"/>
              </a:buClr>
              <a:buSzPts val="3600"/>
              <a:buNone/>
            </a:pPr>
            <a:r>
              <a:rPr lang="en-US" sz="3600" b="1" i="0" dirty="0">
                <a:solidFill>
                  <a:srgbClr val="222222"/>
                </a:solidFill>
                <a:latin typeface="Times New Roman" panose="02020603050405020304" pitchFamily="18" charset="0"/>
                <a:ea typeface="Times New Roman"/>
                <a:cs typeface="Times New Roman" panose="02020603050405020304" pitchFamily="18" charset="0"/>
                <a:sym typeface="Times New Roman"/>
              </a:rPr>
              <a:t>Private:</a:t>
            </a:r>
            <a:endParaRPr dirty="0">
              <a:latin typeface="Times New Roman" panose="02020603050405020304" pitchFamily="18" charset="0"/>
              <a:cs typeface="Times New Roman" panose="02020603050405020304" pitchFamily="18" charset="0"/>
            </a:endParaRPr>
          </a:p>
          <a:p>
            <a:pPr marL="0" lvl="0" indent="0" algn="just" rtl="0">
              <a:lnSpc>
                <a:spcPct val="150000"/>
              </a:lnSpc>
              <a:spcBef>
                <a:spcPts val="1000"/>
              </a:spcBef>
              <a:spcAft>
                <a:spcPts val="0"/>
              </a:spcAft>
              <a:buClr>
                <a:srgbClr val="222222"/>
              </a:buClr>
              <a:buSzPts val="2800"/>
              <a:buNone/>
            </a:pPr>
            <a:r>
              <a:rPr lang="en-US" b="0" i="0" dirty="0">
                <a:solidFill>
                  <a:srgbClr val="222222"/>
                </a:solidFill>
                <a:latin typeface="Times New Roman" panose="02020603050405020304" pitchFamily="18" charset="0"/>
                <a:ea typeface="Times New Roman"/>
                <a:cs typeface="Times New Roman" panose="02020603050405020304" pitchFamily="18" charset="0"/>
                <a:sym typeface="Times New Roman"/>
              </a:rPr>
              <a:t>The private blockchain is within a single organization. It allows only specific people of the organization to verify and add transaction blocks. However, everyone on the internet is generally allowed to view it.</a:t>
            </a:r>
            <a:endParaRPr dirty="0">
              <a:latin typeface="Times New Roman" panose="02020603050405020304" pitchFamily="18" charset="0"/>
              <a:cs typeface="Times New Roman" panose="02020603050405020304" pitchFamily="18" charset="0"/>
            </a:endParaRPr>
          </a:p>
          <a:p>
            <a:pPr marL="0" lvl="0" indent="0" algn="l" rtl="0">
              <a:lnSpc>
                <a:spcPct val="150000"/>
              </a:lnSpc>
              <a:spcBef>
                <a:spcPts val="1000"/>
              </a:spcBef>
              <a:spcAft>
                <a:spcPts val="0"/>
              </a:spcAft>
              <a:buClr>
                <a:schemeClr val="dk1"/>
              </a:buClr>
              <a:buSzPts val="2800"/>
              <a:buNone/>
            </a:pPr>
            <a:endParaRPr dirty="0">
              <a:latin typeface="Times New Roman" panose="02020603050405020304" pitchFamily="18" charset="0"/>
              <a:cs typeface="Times New Roman" panose="02020603050405020304" pitchFamily="18" charset="0"/>
            </a:endParaRPr>
          </a:p>
        </p:txBody>
      </p:sp>
      <p:pic>
        <p:nvPicPr>
          <p:cNvPr id="159" name="Google Shape;159;p14" descr="Deciphering Hybrid Blockchain Technology and Its Use Cases"/>
          <p:cNvPicPr preferRelativeResize="0"/>
          <p:nvPr/>
        </p:nvPicPr>
        <p:blipFill rotWithShape="1">
          <a:blip r:embed="rId3">
            <a:alphaModFix/>
          </a:blip>
          <a:srcRect/>
          <a:stretch/>
        </p:blipFill>
        <p:spPr>
          <a:xfrm>
            <a:off x="3404616" y="3308985"/>
            <a:ext cx="7312152" cy="30003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5" name="Google Shape;165;p15"/>
          <p:cNvSpPr txBox="1">
            <a:spLocks noGrp="1"/>
          </p:cNvSpPr>
          <p:nvPr>
            <p:ph idx="1"/>
          </p:nvPr>
        </p:nvSpPr>
        <p:spPr>
          <a:xfrm>
            <a:off x="548640" y="536448"/>
            <a:ext cx="11204448" cy="5827776"/>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150000"/>
              </a:lnSpc>
              <a:spcBef>
                <a:spcPts val="0"/>
              </a:spcBef>
              <a:spcAft>
                <a:spcPts val="0"/>
              </a:spcAft>
              <a:buClr>
                <a:srgbClr val="222222"/>
              </a:buClr>
              <a:buSzPts val="2800"/>
              <a:buNone/>
            </a:pP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Private blockchain</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networks, also known as permissioned networks, on the other hand, are run by private organizations. The organization, a group or consortium acts as a means of centralization because it limits the participants based on given criteria and defines who connects to and transacts on the network.</a:t>
            </a:r>
            <a:endParaRPr dirty="0">
              <a:solidFill>
                <a:schemeClr val="tx1"/>
              </a:solidFill>
              <a:latin typeface="Times New Roman" panose="02020603050405020304" pitchFamily="18" charset="0"/>
              <a:cs typeface="Times New Roman" panose="02020603050405020304" pitchFamily="18" charset="0"/>
            </a:endParaRPr>
          </a:p>
          <a:p>
            <a:pPr marL="0" lvl="0" indent="0" algn="l" rtl="0">
              <a:lnSpc>
                <a:spcPct val="150000"/>
              </a:lnSpc>
              <a:spcBef>
                <a:spcPts val="1000"/>
              </a:spcBef>
              <a:spcAft>
                <a:spcPts val="0"/>
              </a:spcAft>
              <a:buClr>
                <a:srgbClr val="222222"/>
              </a:buClr>
              <a:buSzPts val="2800"/>
              <a:buNone/>
            </a:pP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An example of this is when a company wants to collaborate with a few others to share sensitive data that cannot be revealed through a public blockchain. These blockchains may or may not have a cryptocurrency or token as a native asset.</a:t>
            </a:r>
          </a:p>
          <a:p>
            <a:pPr marL="228600" lvl="0" indent="-228600" algn="just" rtl="0">
              <a:lnSpc>
                <a:spcPct val="150000"/>
              </a:lnSpc>
              <a:spcBef>
                <a:spcPts val="0"/>
              </a:spcBef>
              <a:spcAft>
                <a:spcPts val="0"/>
              </a:spcAft>
              <a:buClr>
                <a:srgbClr val="273239"/>
              </a:buClr>
              <a:buSzPct val="100000"/>
              <a:buFont typeface="Arial"/>
              <a:buChar char="•"/>
            </a:pPr>
            <a:r>
              <a:rPr lang="en-US" b="0" i="0" dirty="0">
                <a:solidFill>
                  <a:schemeClr val="tx1"/>
                </a:solidFill>
                <a:latin typeface="Times New Roman"/>
                <a:ea typeface="Times New Roman"/>
                <a:cs typeface="Times New Roman"/>
                <a:sym typeface="Times New Roman"/>
              </a:rPr>
              <a:t>These are not as open as a public blockchain.</a:t>
            </a:r>
            <a:endParaRPr lang="en-US" dirty="0">
              <a:solidFill>
                <a:schemeClr val="tx1"/>
              </a:solidFill>
            </a:endParaRPr>
          </a:p>
          <a:p>
            <a:pPr marL="228600" lvl="0" indent="-228600" algn="just" rtl="0">
              <a:lnSpc>
                <a:spcPct val="150000"/>
              </a:lnSpc>
              <a:spcBef>
                <a:spcPts val="1000"/>
              </a:spcBef>
              <a:spcAft>
                <a:spcPts val="0"/>
              </a:spcAft>
              <a:buClr>
                <a:srgbClr val="273239"/>
              </a:buClr>
              <a:buSzPct val="100000"/>
              <a:buFont typeface="Arial"/>
              <a:buChar char="•"/>
            </a:pPr>
            <a:r>
              <a:rPr lang="en-US" b="0" i="0" dirty="0">
                <a:solidFill>
                  <a:schemeClr val="tx1"/>
                </a:solidFill>
                <a:latin typeface="Times New Roman"/>
                <a:ea typeface="Times New Roman"/>
                <a:cs typeface="Times New Roman"/>
                <a:sym typeface="Times New Roman"/>
              </a:rPr>
              <a:t>They are open to some authorized users only.</a:t>
            </a:r>
            <a:endParaRPr lang="en-US" dirty="0">
              <a:solidFill>
                <a:schemeClr val="tx1"/>
              </a:solidFill>
            </a:endParaRPr>
          </a:p>
          <a:p>
            <a:pPr marL="228600" lvl="0" indent="-228600" algn="just" rtl="0">
              <a:lnSpc>
                <a:spcPct val="150000"/>
              </a:lnSpc>
              <a:spcBef>
                <a:spcPts val="1000"/>
              </a:spcBef>
              <a:spcAft>
                <a:spcPts val="0"/>
              </a:spcAft>
              <a:buClr>
                <a:srgbClr val="273239"/>
              </a:buClr>
              <a:buSzPct val="100000"/>
              <a:buFont typeface="Arial"/>
              <a:buChar char="•"/>
            </a:pPr>
            <a:r>
              <a:rPr lang="en-US" b="0" i="0" dirty="0">
                <a:solidFill>
                  <a:schemeClr val="tx1"/>
                </a:solidFill>
                <a:latin typeface="Times New Roman"/>
                <a:ea typeface="Times New Roman"/>
                <a:cs typeface="Times New Roman"/>
                <a:sym typeface="Times New Roman"/>
              </a:rPr>
              <a:t>These blockchains are operated in a closed network.</a:t>
            </a:r>
            <a:endParaRPr lang="en-US" dirty="0">
              <a:solidFill>
                <a:schemeClr val="tx1"/>
              </a:solidFill>
            </a:endParaRPr>
          </a:p>
          <a:p>
            <a:pPr marL="228600" lvl="0" indent="-228600" algn="just" rtl="0">
              <a:lnSpc>
                <a:spcPct val="150000"/>
              </a:lnSpc>
              <a:spcBef>
                <a:spcPts val="1000"/>
              </a:spcBef>
              <a:spcAft>
                <a:spcPts val="0"/>
              </a:spcAft>
              <a:buClr>
                <a:srgbClr val="273239"/>
              </a:buClr>
              <a:buSzPct val="100000"/>
              <a:buFont typeface="Arial"/>
              <a:buChar char="•"/>
            </a:pPr>
            <a:r>
              <a:rPr lang="en-US" b="0" i="0" dirty="0">
                <a:solidFill>
                  <a:schemeClr val="tx1"/>
                </a:solidFill>
                <a:latin typeface="Times New Roman"/>
                <a:ea typeface="Times New Roman"/>
                <a:cs typeface="Times New Roman"/>
                <a:sym typeface="Times New Roman"/>
              </a:rPr>
              <a:t>In this few people are allowed to participate in a network within a company/organization.</a:t>
            </a:r>
            <a:endParaRPr lang="en-US" dirty="0">
              <a:solidFill>
                <a:schemeClr val="tx1"/>
              </a:solidFill>
            </a:endParaRPr>
          </a:p>
          <a:p>
            <a:pPr marL="0" lvl="0" indent="0" algn="l" rtl="0">
              <a:lnSpc>
                <a:spcPct val="150000"/>
              </a:lnSpc>
              <a:spcBef>
                <a:spcPts val="1000"/>
              </a:spcBef>
              <a:spcAft>
                <a:spcPts val="0"/>
              </a:spcAft>
              <a:buClr>
                <a:srgbClr val="222222"/>
              </a:buClr>
              <a:buSzPts val="2800"/>
              <a:buNone/>
            </a:pPr>
            <a:endParaRPr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1" name="Google Shape;171;p16"/>
          <p:cNvSpPr txBox="1">
            <a:spLocks noGrp="1"/>
          </p:cNvSpPr>
          <p:nvPr>
            <p:ph idx="1"/>
          </p:nvPr>
        </p:nvSpPr>
        <p:spPr>
          <a:xfrm>
            <a:off x="573024" y="731520"/>
            <a:ext cx="11058144" cy="5364480"/>
          </a:xfrm>
          <a:prstGeom prst="rect">
            <a:avLst/>
          </a:prstGeom>
          <a:noFill/>
          <a:ln>
            <a:noFill/>
          </a:ln>
        </p:spPr>
        <p:txBody>
          <a:bodyPr spcFirstLastPara="1" wrap="square" lIns="91425" tIns="45700" rIns="91425" bIns="45700" anchor="t" anchorCtr="0">
            <a:normAutofit/>
          </a:bodyPr>
          <a:lstStyle/>
          <a:p>
            <a:pPr marL="228600" lvl="0" indent="-90804" algn="just" rtl="0">
              <a:lnSpc>
                <a:spcPct val="150000"/>
              </a:lnSpc>
              <a:spcBef>
                <a:spcPts val="1000"/>
              </a:spcBef>
              <a:spcAft>
                <a:spcPts val="0"/>
              </a:spcAft>
              <a:buClr>
                <a:schemeClr val="dk1"/>
              </a:buClr>
              <a:buSzPct val="100000"/>
              <a:buNone/>
            </a:pPr>
            <a:endParaRPr b="0" i="0" dirty="0">
              <a:solidFill>
                <a:schemeClr val="tx1"/>
              </a:solidFill>
              <a:latin typeface="Times New Roman"/>
              <a:ea typeface="Times New Roman"/>
              <a:cs typeface="Times New Roman"/>
              <a:sym typeface="Times New Roman"/>
            </a:endParaRPr>
          </a:p>
          <a:p>
            <a:pPr marL="0" lvl="0" indent="0" algn="just" rtl="0">
              <a:lnSpc>
                <a:spcPct val="150000"/>
              </a:lnSpc>
              <a:spcBef>
                <a:spcPts val="1000"/>
              </a:spcBef>
              <a:spcAft>
                <a:spcPts val="0"/>
              </a:spcAft>
              <a:buClr>
                <a:srgbClr val="273239"/>
              </a:buClr>
              <a:buSzPct val="100000"/>
              <a:buNone/>
            </a:pPr>
            <a:r>
              <a:rPr lang="en-US" b="1" i="0" dirty="0">
                <a:solidFill>
                  <a:schemeClr val="tx1"/>
                </a:solidFill>
                <a:latin typeface="Times New Roman"/>
                <a:ea typeface="Times New Roman"/>
                <a:cs typeface="Times New Roman"/>
                <a:sym typeface="Times New Roman"/>
              </a:rPr>
              <a:t>Advantages:</a:t>
            </a:r>
            <a:endParaRPr b="0" i="0" dirty="0">
              <a:solidFill>
                <a:schemeClr val="tx1"/>
              </a:solidFill>
              <a:latin typeface="Times New Roman"/>
              <a:ea typeface="Times New Roman"/>
              <a:cs typeface="Times New Roman"/>
              <a:sym typeface="Times New Roman"/>
            </a:endParaRPr>
          </a:p>
          <a:p>
            <a:pPr marL="228600" lvl="0" indent="-228600" algn="just" rtl="0">
              <a:lnSpc>
                <a:spcPct val="150000"/>
              </a:lnSpc>
              <a:spcBef>
                <a:spcPts val="1000"/>
              </a:spcBef>
              <a:spcAft>
                <a:spcPts val="0"/>
              </a:spcAft>
              <a:buClr>
                <a:srgbClr val="273239"/>
              </a:buClr>
              <a:buSzPct val="100000"/>
              <a:buFont typeface="Arial"/>
              <a:buChar char="•"/>
            </a:pPr>
            <a:r>
              <a:rPr lang="en-US" b="1" i="0" dirty="0">
                <a:solidFill>
                  <a:schemeClr val="tx1"/>
                </a:solidFill>
                <a:latin typeface="Times New Roman"/>
                <a:ea typeface="Times New Roman"/>
                <a:cs typeface="Times New Roman"/>
                <a:sym typeface="Times New Roman"/>
              </a:rPr>
              <a:t>Speed: </a:t>
            </a:r>
            <a:r>
              <a:rPr lang="en-US" b="0" i="0" dirty="0">
                <a:solidFill>
                  <a:schemeClr val="tx1"/>
                </a:solidFill>
                <a:latin typeface="Times New Roman"/>
                <a:ea typeface="Times New Roman"/>
                <a:cs typeface="Times New Roman"/>
                <a:sym typeface="Times New Roman"/>
              </a:rPr>
              <a:t>The rate of the transaction is high, due to its small size. Verification of each node is less time-consuming.</a:t>
            </a:r>
            <a:endParaRPr dirty="0">
              <a:solidFill>
                <a:schemeClr val="tx1"/>
              </a:solidFill>
            </a:endParaRPr>
          </a:p>
          <a:p>
            <a:pPr marL="228600" lvl="0" indent="-228600" algn="just" rtl="0">
              <a:lnSpc>
                <a:spcPct val="150000"/>
              </a:lnSpc>
              <a:spcBef>
                <a:spcPts val="1000"/>
              </a:spcBef>
              <a:spcAft>
                <a:spcPts val="0"/>
              </a:spcAft>
              <a:buClr>
                <a:srgbClr val="273239"/>
              </a:buClr>
              <a:buSzPct val="100000"/>
              <a:buFont typeface="Arial"/>
              <a:buChar char="•"/>
            </a:pPr>
            <a:r>
              <a:rPr lang="en-US" b="1" i="0" dirty="0">
                <a:solidFill>
                  <a:schemeClr val="tx1"/>
                </a:solidFill>
                <a:latin typeface="Times New Roman"/>
                <a:ea typeface="Times New Roman"/>
                <a:cs typeface="Times New Roman"/>
                <a:sym typeface="Times New Roman"/>
              </a:rPr>
              <a:t>Scalability: </a:t>
            </a:r>
            <a:r>
              <a:rPr lang="en-US" b="0" i="0" dirty="0">
                <a:solidFill>
                  <a:schemeClr val="tx1"/>
                </a:solidFill>
                <a:latin typeface="Times New Roman"/>
                <a:ea typeface="Times New Roman"/>
                <a:cs typeface="Times New Roman"/>
                <a:sym typeface="Times New Roman"/>
              </a:rPr>
              <a:t>We can modify the scalability. The size of the network can be decided manually.</a:t>
            </a:r>
            <a:endParaRPr dirty="0">
              <a:solidFill>
                <a:schemeClr val="tx1"/>
              </a:solidFill>
            </a:endParaRPr>
          </a:p>
          <a:p>
            <a:pPr marL="228600" lvl="0" indent="-228600" algn="just" rtl="0">
              <a:lnSpc>
                <a:spcPct val="150000"/>
              </a:lnSpc>
              <a:spcBef>
                <a:spcPts val="1000"/>
              </a:spcBef>
              <a:spcAft>
                <a:spcPts val="0"/>
              </a:spcAft>
              <a:buClr>
                <a:srgbClr val="273239"/>
              </a:buClr>
              <a:buSzPct val="100000"/>
              <a:buFont typeface="Arial"/>
              <a:buChar char="•"/>
            </a:pPr>
            <a:r>
              <a:rPr lang="en-US" b="1" i="0" dirty="0">
                <a:solidFill>
                  <a:schemeClr val="tx1"/>
                </a:solidFill>
                <a:latin typeface="Times New Roman"/>
                <a:ea typeface="Times New Roman"/>
                <a:cs typeface="Times New Roman"/>
                <a:sym typeface="Times New Roman"/>
              </a:rPr>
              <a:t>Privacy:</a:t>
            </a:r>
            <a:r>
              <a:rPr lang="en-US" b="0" i="0" dirty="0">
                <a:solidFill>
                  <a:schemeClr val="tx1"/>
                </a:solidFill>
                <a:latin typeface="Times New Roman"/>
                <a:ea typeface="Times New Roman"/>
                <a:cs typeface="Times New Roman"/>
                <a:sym typeface="Times New Roman"/>
              </a:rPr>
              <a:t> It has increased the level of privacy for confidentiality reasons as the businesses required.</a:t>
            </a:r>
            <a:endParaRPr dirty="0">
              <a:solidFill>
                <a:schemeClr val="tx1"/>
              </a:solidFill>
            </a:endParaRPr>
          </a:p>
          <a:p>
            <a:pPr marL="0" lvl="0" indent="0" algn="l" rtl="0">
              <a:lnSpc>
                <a:spcPct val="150000"/>
              </a:lnSpc>
              <a:spcBef>
                <a:spcPts val="1000"/>
              </a:spcBef>
              <a:spcAft>
                <a:spcPts val="0"/>
              </a:spcAft>
              <a:buClr>
                <a:schemeClr val="dk1"/>
              </a:buClr>
              <a:buSzPct val="100000"/>
              <a:buNone/>
            </a:pPr>
            <a:endParaRPr dirty="0">
              <a:solidFill>
                <a:schemeClr val="tx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7" name="Google Shape;177;p17"/>
          <p:cNvSpPr txBox="1">
            <a:spLocks noGrp="1"/>
          </p:cNvSpPr>
          <p:nvPr>
            <p:ph idx="1"/>
          </p:nvPr>
        </p:nvSpPr>
        <p:spPr>
          <a:xfrm>
            <a:off x="557784" y="667512"/>
            <a:ext cx="11024616" cy="4038600"/>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273239"/>
              </a:buClr>
              <a:buSzPts val="2800"/>
              <a:buNone/>
            </a:pP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Disadvantages:</a:t>
            </a:r>
            <a:endParaRPr b="0" i="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228600" lvl="0" indent="-228600" algn="just" rtl="0">
              <a:lnSpc>
                <a:spcPct val="150000"/>
              </a:lnSpc>
              <a:spcBef>
                <a:spcPts val="1000"/>
              </a:spcBef>
              <a:spcAft>
                <a:spcPts val="0"/>
              </a:spcAft>
              <a:buClr>
                <a:srgbClr val="273239"/>
              </a:buClr>
              <a:buSzPts val="2800"/>
              <a:buFont typeface="Arial"/>
              <a:buChar char="•"/>
            </a:pP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Security- The number of nodes in this type is limited so chances of manipulation are there. These blockchains are more vulnerable.</a:t>
            </a:r>
            <a:endParaRPr dirty="0">
              <a:solidFill>
                <a:schemeClr val="tx1"/>
              </a:solidFill>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rgbClr val="273239"/>
              </a:buClr>
              <a:buSzPts val="2800"/>
              <a:buFont typeface="Arial"/>
              <a:buChar char="•"/>
            </a:pP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Centralized- Trust building is one of the main disadvantages due to its central nature. Organizations can use this for malpractices.</a:t>
            </a:r>
            <a:endParaRPr dirty="0">
              <a:solidFill>
                <a:schemeClr val="tx1"/>
              </a:solidFill>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rgbClr val="273239"/>
              </a:buClr>
              <a:buSzPts val="2800"/>
              <a:buFont typeface="Arial"/>
              <a:buChar char="•"/>
            </a:pP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Count- Since there are few nodes if nodes go offline the entire system of blockchain can be endangered.</a:t>
            </a:r>
            <a:endParaRPr dirty="0">
              <a:solidFill>
                <a:schemeClr val="tx1"/>
              </a:solidFill>
              <a:latin typeface="Times New Roman" panose="02020603050405020304" pitchFamily="18" charset="0"/>
              <a:cs typeface="Times New Roman" panose="02020603050405020304" pitchFamily="18" charset="0"/>
            </a:endParaRPr>
          </a:p>
          <a:p>
            <a:pPr marL="0" lvl="0" indent="0" algn="l" rtl="0">
              <a:lnSpc>
                <a:spcPct val="150000"/>
              </a:lnSpc>
              <a:spcBef>
                <a:spcPts val="1000"/>
              </a:spcBef>
              <a:spcAft>
                <a:spcPts val="0"/>
              </a:spcAft>
              <a:buClr>
                <a:schemeClr val="dk1"/>
              </a:buClr>
              <a:buSzPts val="2800"/>
              <a:buNone/>
            </a:pPr>
            <a:endParaRPr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graphicFrame>
        <p:nvGraphicFramePr>
          <p:cNvPr id="182" name="Google Shape;182;p18"/>
          <p:cNvGraphicFramePr/>
          <p:nvPr/>
        </p:nvGraphicFramePr>
        <p:xfrm>
          <a:off x="498348" y="655192"/>
          <a:ext cx="11195300" cy="5331125"/>
        </p:xfrm>
        <a:graphic>
          <a:graphicData uri="http://schemas.openxmlformats.org/drawingml/2006/table">
            <a:tbl>
              <a:tblPr firstRow="1" bandRow="1">
                <a:noFill/>
                <a:tableStyleId>{A086530C-416C-4301-9DC3-E998CCF7C22C}</a:tableStyleId>
              </a:tblPr>
              <a:tblGrid>
                <a:gridCol w="5597650">
                  <a:extLst>
                    <a:ext uri="{9D8B030D-6E8A-4147-A177-3AD203B41FA5}">
                      <a16:colId xmlns:a16="http://schemas.microsoft.com/office/drawing/2014/main" val="20000"/>
                    </a:ext>
                  </a:extLst>
                </a:gridCol>
                <a:gridCol w="5597650">
                  <a:extLst>
                    <a:ext uri="{9D8B030D-6E8A-4147-A177-3AD203B41FA5}">
                      <a16:colId xmlns:a16="http://schemas.microsoft.com/office/drawing/2014/main" val="20001"/>
                    </a:ext>
                  </a:extLst>
                </a:gridCol>
              </a:tblGrid>
              <a:tr h="613725">
                <a:tc>
                  <a:txBody>
                    <a:bodyPr/>
                    <a:lstStyle/>
                    <a:p>
                      <a:pPr marL="0" marR="0" lvl="0" indent="0" algn="just" rtl="0">
                        <a:spcBef>
                          <a:spcPts val="0"/>
                        </a:spcBef>
                        <a:spcAft>
                          <a:spcPts val="0"/>
                        </a:spcAft>
                        <a:buNone/>
                      </a:pPr>
                      <a:r>
                        <a:rPr lang="en-US" sz="1800" b="1" u="none" strike="noStrike" cap="none"/>
                        <a:t>Public Blockchain</a:t>
                      </a:r>
                      <a:endParaRPr sz="1800" b="1" u="none" strike="noStrike" cap="none"/>
                    </a:p>
                  </a:txBody>
                  <a:tcPr marL="91450" marR="91450" marT="45725" marB="45725"/>
                </a:tc>
                <a:tc>
                  <a:txBody>
                    <a:bodyPr/>
                    <a:lstStyle/>
                    <a:p>
                      <a:pPr marL="0" marR="0" lvl="0" indent="0" algn="just" rtl="0">
                        <a:spcBef>
                          <a:spcPts val="0"/>
                        </a:spcBef>
                        <a:spcAft>
                          <a:spcPts val="0"/>
                        </a:spcAft>
                        <a:buNone/>
                      </a:pPr>
                      <a:r>
                        <a:rPr lang="en-US" sz="1800" b="1" u="none" strike="noStrike" cap="none"/>
                        <a:t>Private Blockchain</a:t>
                      </a:r>
                      <a:endParaRPr sz="1800" b="1" u="none" strike="noStrike" cap="none"/>
                    </a:p>
                  </a:txBody>
                  <a:tcPr marL="91450" marR="91450" marT="45725" marB="45725"/>
                </a:tc>
                <a:extLst>
                  <a:ext uri="{0D108BD9-81ED-4DB2-BD59-A6C34878D82A}">
                    <a16:rowId xmlns:a16="http://schemas.microsoft.com/office/drawing/2014/main" val="10000"/>
                  </a:ext>
                </a:extLst>
              </a:tr>
              <a:tr h="1198425">
                <a:tc>
                  <a:txBody>
                    <a:bodyPr/>
                    <a:lstStyle/>
                    <a:p>
                      <a:pPr marL="0" marR="0" lvl="0" indent="0" algn="just" rtl="0">
                        <a:spcBef>
                          <a:spcPts val="0"/>
                        </a:spcBef>
                        <a:spcAft>
                          <a:spcPts val="0"/>
                        </a:spcAft>
                        <a:buNone/>
                      </a:pPr>
                      <a:r>
                        <a:rPr lang="en-US" sz="1800" b="0" i="0" u="none" strike="noStrike" cap="none">
                          <a:solidFill>
                            <a:schemeClr val="dk1"/>
                          </a:solidFill>
                          <a:latin typeface="Calibri"/>
                          <a:ea typeface="Calibri"/>
                          <a:cs typeface="Calibri"/>
                          <a:sym typeface="Calibri"/>
                        </a:rPr>
                        <a:t>In this type of blockchain anyone can read, write and participate in a blockchain. Hence, it is permissionless blockchain. It is public to everyone.</a:t>
                      </a:r>
                      <a:endParaRPr sz="1800" b="0" u="none" strike="noStrike" cap="none"/>
                    </a:p>
                  </a:txBody>
                  <a:tcPr marL="91450" marR="91450" marT="45725" marB="45725"/>
                </a:tc>
                <a:tc>
                  <a:txBody>
                    <a:bodyPr/>
                    <a:lstStyle/>
                    <a:p>
                      <a:pPr marL="0" marR="0" lvl="0" indent="0" algn="just" rtl="0">
                        <a:spcBef>
                          <a:spcPts val="0"/>
                        </a:spcBef>
                        <a:spcAft>
                          <a:spcPts val="0"/>
                        </a:spcAft>
                        <a:buNone/>
                      </a:pPr>
                      <a:r>
                        <a:rPr lang="en-US" sz="1800" b="0" i="0" u="none" strike="noStrike" cap="none">
                          <a:solidFill>
                            <a:schemeClr val="dk1"/>
                          </a:solidFill>
                          <a:latin typeface="Calibri"/>
                          <a:ea typeface="Calibri"/>
                          <a:cs typeface="Calibri"/>
                          <a:sym typeface="Calibri"/>
                        </a:rPr>
                        <a:t>In this type of blockchain read and write is done upon invitation, hence it is a permissioned blockchain.</a:t>
                      </a:r>
                      <a:endParaRPr sz="1800" b="0" u="none" strike="noStrike" cap="none"/>
                    </a:p>
                  </a:txBody>
                  <a:tcPr marL="91450" marR="91450" marT="45725" marB="45725"/>
                </a:tc>
                <a:extLst>
                  <a:ext uri="{0D108BD9-81ED-4DB2-BD59-A6C34878D82A}">
                    <a16:rowId xmlns:a16="http://schemas.microsoft.com/office/drawing/2014/main" val="10001"/>
                  </a:ext>
                </a:extLst>
              </a:tr>
              <a:tr h="613725">
                <a:tc>
                  <a:txBody>
                    <a:bodyPr/>
                    <a:lstStyle/>
                    <a:p>
                      <a:pPr marL="0" marR="0" lvl="0" indent="0" algn="just" rtl="0">
                        <a:spcBef>
                          <a:spcPts val="0"/>
                        </a:spcBef>
                        <a:spcAft>
                          <a:spcPts val="0"/>
                        </a:spcAft>
                        <a:buNone/>
                      </a:pPr>
                      <a:r>
                        <a:rPr lang="en-US" sz="1800" b="0" i="0" u="none" strike="noStrike" cap="none">
                          <a:solidFill>
                            <a:schemeClr val="dk1"/>
                          </a:solidFill>
                          <a:latin typeface="Calibri"/>
                          <a:ea typeface="Calibri"/>
                          <a:cs typeface="Calibri"/>
                          <a:sym typeface="Calibri"/>
                        </a:rPr>
                        <a:t>Participants Don’t know each other</a:t>
                      </a:r>
                      <a:endParaRPr sz="1800" b="0" u="none" strike="noStrike" cap="none"/>
                    </a:p>
                  </a:txBody>
                  <a:tcPr marL="91450" marR="91450" marT="45725" marB="45725"/>
                </a:tc>
                <a:tc>
                  <a:txBody>
                    <a:bodyPr/>
                    <a:lstStyle/>
                    <a:p>
                      <a:pPr marL="0" marR="0" lvl="0" indent="0" algn="just" rtl="0">
                        <a:spcBef>
                          <a:spcPts val="0"/>
                        </a:spcBef>
                        <a:spcAft>
                          <a:spcPts val="0"/>
                        </a:spcAft>
                        <a:buNone/>
                      </a:pPr>
                      <a:r>
                        <a:rPr lang="en-US" sz="1800" b="0" i="0" u="none" strike="noStrike" cap="none">
                          <a:solidFill>
                            <a:schemeClr val="dk1"/>
                          </a:solidFill>
                          <a:latin typeface="Calibri"/>
                          <a:ea typeface="Calibri"/>
                          <a:cs typeface="Calibri"/>
                          <a:sym typeface="Calibri"/>
                        </a:rPr>
                        <a:t>Participants Know each other</a:t>
                      </a:r>
                      <a:endParaRPr sz="1800" b="0" u="none" strike="noStrike" cap="none"/>
                    </a:p>
                  </a:txBody>
                  <a:tcPr marL="91450" marR="91450" marT="45725" marB="45725"/>
                </a:tc>
                <a:extLst>
                  <a:ext uri="{0D108BD9-81ED-4DB2-BD59-A6C34878D82A}">
                    <a16:rowId xmlns:a16="http://schemas.microsoft.com/office/drawing/2014/main" val="10002"/>
                  </a:ext>
                </a:extLst>
              </a:tr>
              <a:tr h="613725">
                <a:tc>
                  <a:txBody>
                    <a:bodyPr/>
                    <a:lstStyle/>
                    <a:p>
                      <a:pPr marL="0" marR="0" lvl="0" indent="0" algn="just" rtl="0">
                        <a:spcBef>
                          <a:spcPts val="0"/>
                        </a:spcBef>
                        <a:spcAft>
                          <a:spcPts val="0"/>
                        </a:spcAft>
                        <a:buNone/>
                      </a:pPr>
                      <a:r>
                        <a:rPr lang="en-US" sz="1800" b="0" i="0" u="none" strike="noStrike" cap="none">
                          <a:solidFill>
                            <a:schemeClr val="dk1"/>
                          </a:solidFill>
                          <a:latin typeface="Calibri"/>
                          <a:ea typeface="Calibri"/>
                          <a:cs typeface="Calibri"/>
                          <a:sym typeface="Calibri"/>
                        </a:rPr>
                        <a:t>A public blockchain is decentralized.</a:t>
                      </a:r>
                      <a:endParaRPr sz="1800" b="0" u="none" strike="noStrike" cap="none"/>
                    </a:p>
                  </a:txBody>
                  <a:tcPr marL="91450" marR="91450" marT="45725" marB="45725"/>
                </a:tc>
                <a:tc>
                  <a:txBody>
                    <a:bodyPr/>
                    <a:lstStyle/>
                    <a:p>
                      <a:pPr marL="0" marR="0" lvl="0" indent="0" algn="just" rtl="0">
                        <a:spcBef>
                          <a:spcPts val="0"/>
                        </a:spcBef>
                        <a:spcAft>
                          <a:spcPts val="0"/>
                        </a:spcAft>
                        <a:buNone/>
                      </a:pPr>
                      <a:r>
                        <a:rPr lang="en-US" sz="1800" b="0" i="0" u="none" strike="noStrike" cap="none">
                          <a:solidFill>
                            <a:schemeClr val="dk1"/>
                          </a:solidFill>
                          <a:latin typeface="Calibri"/>
                          <a:ea typeface="Calibri"/>
                          <a:cs typeface="Calibri"/>
                          <a:sym typeface="Calibri"/>
                        </a:rPr>
                        <a:t>A private blockchain is more centralized.</a:t>
                      </a:r>
                      <a:endParaRPr sz="1800" b="0" u="none" strike="noStrike" cap="none"/>
                    </a:p>
                  </a:txBody>
                  <a:tcPr marL="91450" marR="91450" marT="45725" marB="45725"/>
                </a:tc>
                <a:extLst>
                  <a:ext uri="{0D108BD9-81ED-4DB2-BD59-A6C34878D82A}">
                    <a16:rowId xmlns:a16="http://schemas.microsoft.com/office/drawing/2014/main" val="10003"/>
                  </a:ext>
                </a:extLst>
              </a:tr>
              <a:tr h="838900">
                <a:tc>
                  <a:txBody>
                    <a:bodyPr/>
                    <a:lstStyle/>
                    <a:p>
                      <a:pPr marL="0" marR="0" lvl="0" indent="0" algn="just" rtl="0">
                        <a:spcBef>
                          <a:spcPts val="0"/>
                        </a:spcBef>
                        <a:spcAft>
                          <a:spcPts val="0"/>
                        </a:spcAft>
                        <a:buNone/>
                      </a:pPr>
                      <a:r>
                        <a:rPr lang="en-US" sz="1800" b="0" i="0" u="none" strike="noStrike" cap="none">
                          <a:solidFill>
                            <a:schemeClr val="dk1"/>
                          </a:solidFill>
                          <a:latin typeface="Calibri"/>
                          <a:ea typeface="Calibri"/>
                          <a:cs typeface="Calibri"/>
                          <a:sym typeface="Calibri"/>
                        </a:rPr>
                        <a:t>Transactions per second are lesser in a public blockchain.</a:t>
                      </a:r>
                      <a:endParaRPr sz="1800" b="0" u="none" strike="noStrike" cap="none"/>
                    </a:p>
                  </a:txBody>
                  <a:tcPr marL="91450" marR="91450" marT="45725" marB="45725"/>
                </a:tc>
                <a:tc>
                  <a:txBody>
                    <a:bodyPr/>
                    <a:lstStyle/>
                    <a:p>
                      <a:pPr marL="0" marR="0" lvl="0" indent="0" algn="just" rtl="0">
                        <a:spcBef>
                          <a:spcPts val="0"/>
                        </a:spcBef>
                        <a:spcAft>
                          <a:spcPts val="0"/>
                        </a:spcAft>
                        <a:buNone/>
                      </a:pPr>
                      <a:r>
                        <a:rPr lang="en-US" sz="1800" b="0" i="0" u="none" strike="noStrike" cap="none">
                          <a:solidFill>
                            <a:schemeClr val="dk1"/>
                          </a:solidFill>
                          <a:latin typeface="Calibri"/>
                          <a:ea typeface="Calibri"/>
                          <a:cs typeface="Calibri"/>
                          <a:sym typeface="Calibri"/>
                        </a:rPr>
                        <a:t>Transaction per second is more as compared to public blockchain.</a:t>
                      </a:r>
                      <a:endParaRPr sz="1800" b="0" u="none" strike="noStrike" cap="none"/>
                    </a:p>
                  </a:txBody>
                  <a:tcPr marL="91450" marR="91450" marT="45725" marB="45725"/>
                </a:tc>
                <a:extLst>
                  <a:ext uri="{0D108BD9-81ED-4DB2-BD59-A6C34878D82A}">
                    <a16:rowId xmlns:a16="http://schemas.microsoft.com/office/drawing/2014/main" val="10004"/>
                  </a:ext>
                </a:extLst>
              </a:tr>
              <a:tr h="613725">
                <a:tc>
                  <a:txBody>
                    <a:bodyPr/>
                    <a:lstStyle/>
                    <a:p>
                      <a:pPr marL="0" marR="0" lvl="0" indent="0" algn="just" rtl="0">
                        <a:spcBef>
                          <a:spcPts val="0"/>
                        </a:spcBef>
                        <a:spcAft>
                          <a:spcPts val="0"/>
                        </a:spcAft>
                        <a:buNone/>
                      </a:pPr>
                      <a:r>
                        <a:rPr lang="en-US" sz="1800" b="0" i="0" u="none" strike="noStrike" cap="none">
                          <a:solidFill>
                            <a:schemeClr val="dk1"/>
                          </a:solidFill>
                          <a:latin typeface="Calibri"/>
                          <a:ea typeface="Calibri"/>
                          <a:cs typeface="Calibri"/>
                          <a:sym typeface="Calibri"/>
                        </a:rPr>
                        <a:t>Slow</a:t>
                      </a:r>
                      <a:endParaRPr sz="1800" b="0" u="none" strike="noStrike" cap="none"/>
                    </a:p>
                  </a:txBody>
                  <a:tcPr marL="91450" marR="91450" marT="45725" marB="45725"/>
                </a:tc>
                <a:tc>
                  <a:txBody>
                    <a:bodyPr/>
                    <a:lstStyle/>
                    <a:p>
                      <a:pPr marL="0" marR="0" lvl="0" indent="0" algn="just" rtl="0">
                        <a:spcBef>
                          <a:spcPts val="0"/>
                        </a:spcBef>
                        <a:spcAft>
                          <a:spcPts val="0"/>
                        </a:spcAft>
                        <a:buNone/>
                      </a:pPr>
                      <a:r>
                        <a:rPr lang="en-US" sz="1800" b="0" i="0" u="none" strike="noStrike" cap="none">
                          <a:solidFill>
                            <a:schemeClr val="dk1"/>
                          </a:solidFill>
                          <a:latin typeface="Calibri"/>
                          <a:ea typeface="Calibri"/>
                          <a:cs typeface="Calibri"/>
                          <a:sym typeface="Calibri"/>
                        </a:rPr>
                        <a:t>Fast</a:t>
                      </a:r>
                      <a:endParaRPr sz="1800" b="0" u="none" strike="noStrike" cap="none"/>
                    </a:p>
                  </a:txBody>
                  <a:tcPr marL="91450" marR="91450" marT="45725" marB="45725"/>
                </a:tc>
                <a:extLst>
                  <a:ext uri="{0D108BD9-81ED-4DB2-BD59-A6C34878D82A}">
                    <a16:rowId xmlns:a16="http://schemas.microsoft.com/office/drawing/2014/main" val="10005"/>
                  </a:ext>
                </a:extLst>
              </a:tr>
              <a:tr h="838900">
                <a:tc>
                  <a:txBody>
                    <a:bodyPr/>
                    <a:lstStyle/>
                    <a:p>
                      <a:pPr marL="0" marR="0" lvl="0" indent="0" algn="just" rtl="0">
                        <a:spcBef>
                          <a:spcPts val="0"/>
                        </a:spcBef>
                        <a:spcAft>
                          <a:spcPts val="0"/>
                        </a:spcAft>
                        <a:buNone/>
                      </a:pPr>
                      <a:r>
                        <a:rPr lang="en-US" sz="1800" b="0" u="none" strike="noStrike" cap="none"/>
                        <a:t>Examples: </a:t>
                      </a:r>
                      <a:r>
                        <a:rPr lang="en-US" sz="1800" b="0" i="0" u="none" strike="noStrike" cap="none">
                          <a:solidFill>
                            <a:schemeClr val="dk1"/>
                          </a:solidFill>
                          <a:latin typeface="Calibri"/>
                          <a:ea typeface="Calibri"/>
                          <a:cs typeface="Calibri"/>
                          <a:sym typeface="Calibri"/>
                        </a:rPr>
                        <a:t>Bitcoin, Ethereum, Monero, Zcash, Dash, Litecoin, Stellar, Steemit etc.</a:t>
                      </a:r>
                      <a:endParaRPr sz="1800" b="0" u="none" strike="noStrike" cap="none"/>
                    </a:p>
                  </a:txBody>
                  <a:tcPr marL="91450" marR="91450" marT="45725" marB="45725"/>
                </a:tc>
                <a:tc>
                  <a:txBody>
                    <a:bodyPr/>
                    <a:lstStyle/>
                    <a:p>
                      <a:pPr marL="0" marR="0" lvl="0" indent="0" algn="just" rtl="0">
                        <a:spcBef>
                          <a:spcPts val="0"/>
                        </a:spcBef>
                        <a:spcAft>
                          <a:spcPts val="0"/>
                        </a:spcAft>
                        <a:buNone/>
                      </a:pPr>
                      <a:r>
                        <a:rPr lang="en-US" sz="1800" b="0" i="0" u="none" strike="noStrike" cap="none">
                          <a:solidFill>
                            <a:schemeClr val="dk1"/>
                          </a:solidFill>
                          <a:latin typeface="Calibri"/>
                          <a:ea typeface="Calibri"/>
                          <a:cs typeface="Calibri"/>
                          <a:sym typeface="Calibri"/>
                        </a:rPr>
                        <a:t>Example: R3 (Banks), EWF (Energy), B3i (Insurance), Corda.</a:t>
                      </a:r>
                      <a:endParaRPr sz="1800" b="0" u="none" strike="noStrike" cap="none"/>
                    </a:p>
                  </a:txBody>
                  <a:tcPr marL="91450" marR="91450" marT="45725" marB="45725"/>
                </a:tc>
                <a:extLst>
                  <a:ext uri="{0D108BD9-81ED-4DB2-BD59-A6C34878D82A}">
                    <a16:rowId xmlns:a16="http://schemas.microsoft.com/office/drawing/2014/main" val="10006"/>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pic>
        <p:nvPicPr>
          <p:cNvPr id="187" name="Google Shape;187;p19" descr="Types of Blockchain: Public, Private, or Something Else | Foley &amp; Lardner  LLP"/>
          <p:cNvPicPr preferRelativeResize="0">
            <a:picLocks noGrp="1"/>
          </p:cNvPicPr>
          <p:nvPr>
            <p:ph idx="1"/>
          </p:nvPr>
        </p:nvPicPr>
        <p:blipFill rotWithShape="1">
          <a:blip r:embed="rId3">
            <a:alphaModFix/>
          </a:blip>
          <a:srcRect/>
          <a:stretch/>
        </p:blipFill>
        <p:spPr>
          <a:xfrm>
            <a:off x="973938" y="282426"/>
            <a:ext cx="8901582" cy="628906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3" name="Google Shape;193;p20"/>
          <p:cNvSpPr txBox="1">
            <a:spLocks noGrp="1"/>
          </p:cNvSpPr>
          <p:nvPr>
            <p:ph idx="1"/>
          </p:nvPr>
        </p:nvSpPr>
        <p:spPr>
          <a:xfrm>
            <a:off x="545592" y="594360"/>
            <a:ext cx="11134344" cy="5428488"/>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Clr>
                <a:srgbClr val="222222"/>
              </a:buClr>
              <a:buSzPts val="2800"/>
              <a:buNone/>
            </a:pP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A </a:t>
            </a: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hybrid blockchain</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combines the privacy benefits achieved on a permissioned network with the transparency benefits achieved on a public block chain.</a:t>
            </a:r>
            <a:endParaRPr dirty="0">
              <a:solidFill>
                <a:schemeClr val="tx1"/>
              </a:solidFill>
              <a:latin typeface="Times New Roman" panose="02020603050405020304" pitchFamily="18" charset="0"/>
              <a:cs typeface="Times New Roman" panose="02020603050405020304" pitchFamily="18" charset="0"/>
            </a:endParaRPr>
          </a:p>
          <a:p>
            <a:pPr marL="0" lvl="0" indent="0" algn="l" rtl="0">
              <a:lnSpc>
                <a:spcPct val="150000"/>
              </a:lnSpc>
              <a:spcBef>
                <a:spcPts val="1000"/>
              </a:spcBef>
              <a:spcAft>
                <a:spcPts val="0"/>
              </a:spcAft>
              <a:buClr>
                <a:srgbClr val="222222"/>
              </a:buClr>
              <a:buSzPts val="2800"/>
              <a:buNone/>
            </a:pP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An </a:t>
            </a: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example</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of a hybrid blockchain network is the </a:t>
            </a:r>
            <a:r>
              <a:rPr lang="en-US" b="0" i="0" dirty="0" err="1">
                <a:solidFill>
                  <a:schemeClr val="tx1"/>
                </a:solidFill>
                <a:latin typeface="Times New Roman" panose="02020603050405020304" pitchFamily="18" charset="0"/>
                <a:ea typeface="Times New Roman"/>
                <a:cs typeface="Times New Roman" panose="02020603050405020304" pitchFamily="18" charset="0"/>
                <a:sym typeface="Times New Roman"/>
              </a:rPr>
              <a:t>Dragonchain</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which is a protocol that allows its users to connect with other users on other blockchain protocols</a:t>
            </a:r>
            <a:endParaRPr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228600" lvl="0" indent="-228600" algn="just" rtl="0">
              <a:lnSpc>
                <a:spcPct val="150000"/>
              </a:lnSpc>
              <a:spcBef>
                <a:spcPts val="1000"/>
              </a:spcBef>
              <a:spcAft>
                <a:spcPts val="0"/>
              </a:spcAft>
              <a:buClr>
                <a:srgbClr val="273239"/>
              </a:buClr>
              <a:buSzPts val="2800"/>
              <a:buFont typeface="Arial"/>
              <a:buChar char="•"/>
            </a:pP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It is a combination of both public and private blockchain. </a:t>
            </a:r>
            <a:endParaRPr dirty="0">
              <a:solidFill>
                <a:schemeClr val="tx1"/>
              </a:solidFill>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rgbClr val="273239"/>
              </a:buClr>
              <a:buSzPts val="2800"/>
              <a:buFont typeface="Arial"/>
              <a:buChar char="•"/>
            </a:pP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Permission-based and permissionless systems are used.</a:t>
            </a:r>
            <a:endParaRPr dirty="0">
              <a:solidFill>
                <a:schemeClr val="tx1"/>
              </a:solidFill>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rgbClr val="273239"/>
              </a:buClr>
              <a:buSzPts val="2800"/>
              <a:buFont typeface="Arial"/>
              <a:buChar char="•"/>
            </a:pP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User access information via smart contracts</a:t>
            </a:r>
            <a:endParaRPr dirty="0">
              <a:solidFill>
                <a:schemeClr val="tx1"/>
              </a:solidFill>
              <a:latin typeface="Times New Roman" panose="02020603050405020304" pitchFamily="18" charset="0"/>
              <a:cs typeface="Times New Roman" panose="02020603050405020304" pitchFamily="18" charset="0"/>
            </a:endParaRPr>
          </a:p>
          <a:p>
            <a:pPr marL="0" lvl="0" indent="0" algn="l" rtl="0">
              <a:lnSpc>
                <a:spcPct val="150000"/>
              </a:lnSpc>
              <a:spcBef>
                <a:spcPts val="1000"/>
              </a:spcBef>
              <a:spcAft>
                <a:spcPts val="0"/>
              </a:spcAft>
              <a:buClr>
                <a:schemeClr val="dk1"/>
              </a:buClr>
              <a:buSzPts val="2800"/>
              <a:buNone/>
            </a:pPr>
            <a:endParaRPr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9" name="Google Shape;199;p21"/>
          <p:cNvSpPr txBox="1">
            <a:spLocks noGrp="1"/>
          </p:cNvSpPr>
          <p:nvPr>
            <p:ph idx="1"/>
          </p:nvPr>
        </p:nvSpPr>
        <p:spPr>
          <a:xfrm>
            <a:off x="524256" y="402336"/>
            <a:ext cx="11131296" cy="5693664"/>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273239"/>
              </a:buClr>
              <a:buSzPct val="100000"/>
              <a:buNone/>
            </a:pPr>
            <a:r>
              <a:rPr lang="en-US" b="1" i="0" dirty="0">
                <a:solidFill>
                  <a:srgbClr val="273239"/>
                </a:solidFill>
                <a:latin typeface="Times New Roman" panose="02020603050405020304" pitchFamily="18" charset="0"/>
                <a:ea typeface="Times New Roman"/>
                <a:cs typeface="Times New Roman" panose="02020603050405020304" pitchFamily="18" charset="0"/>
                <a:sym typeface="Times New Roman"/>
              </a:rPr>
              <a:t>Advantages:</a:t>
            </a:r>
            <a:endParaRPr b="0" i="0" dirty="0">
              <a:solidFill>
                <a:srgbClr val="273239"/>
              </a:solidFill>
              <a:latin typeface="Times New Roman" panose="02020603050405020304" pitchFamily="18" charset="0"/>
              <a:ea typeface="Times New Roman"/>
              <a:cs typeface="Times New Roman" panose="02020603050405020304" pitchFamily="18" charset="0"/>
              <a:sym typeface="Times New Roman"/>
            </a:endParaRPr>
          </a:p>
          <a:p>
            <a:pPr marL="228600" lvl="0" indent="-228600" algn="just" rtl="0">
              <a:lnSpc>
                <a:spcPct val="150000"/>
              </a:lnSpc>
              <a:spcBef>
                <a:spcPts val="1000"/>
              </a:spcBef>
              <a:spcAft>
                <a:spcPts val="0"/>
              </a:spcAft>
              <a:buClr>
                <a:srgbClr val="273239"/>
              </a:buClr>
              <a:buSzPct val="100000"/>
              <a:buFont typeface="Arial"/>
              <a:buChar char="•"/>
            </a:pPr>
            <a:r>
              <a:rPr lang="en-US" b="1" i="0" dirty="0">
                <a:solidFill>
                  <a:srgbClr val="273239"/>
                </a:solidFill>
                <a:latin typeface="Times New Roman" panose="02020603050405020304" pitchFamily="18" charset="0"/>
                <a:ea typeface="Times New Roman"/>
                <a:cs typeface="Times New Roman" panose="02020603050405020304" pitchFamily="18" charset="0"/>
                <a:sym typeface="Times New Roman"/>
              </a:rPr>
              <a:t>Ecosystem:</a:t>
            </a:r>
            <a:r>
              <a:rPr lang="en-US" b="0" i="0" dirty="0">
                <a:solidFill>
                  <a:srgbClr val="273239"/>
                </a:solidFill>
                <a:latin typeface="Times New Roman" panose="02020603050405020304" pitchFamily="18" charset="0"/>
                <a:ea typeface="Times New Roman"/>
                <a:cs typeface="Times New Roman" panose="02020603050405020304" pitchFamily="18" charset="0"/>
                <a:sym typeface="Times New Roman"/>
              </a:rPr>
              <a:t> Most advantageous thing about this blockchain is its hybrid nature. It cannot be hacked as 51% of users don’t have access to the network</a:t>
            </a:r>
            <a:endParaRPr dirty="0">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rgbClr val="273239"/>
              </a:buClr>
              <a:buSzPct val="100000"/>
              <a:buFont typeface="Arial"/>
              <a:buChar char="•"/>
            </a:pPr>
            <a:r>
              <a:rPr lang="en-US" b="1" i="0" dirty="0">
                <a:solidFill>
                  <a:srgbClr val="273239"/>
                </a:solidFill>
                <a:latin typeface="Times New Roman" panose="02020603050405020304" pitchFamily="18" charset="0"/>
                <a:ea typeface="Times New Roman"/>
                <a:cs typeface="Times New Roman" panose="02020603050405020304" pitchFamily="18" charset="0"/>
                <a:sym typeface="Times New Roman"/>
              </a:rPr>
              <a:t>Cost: </a:t>
            </a:r>
            <a:r>
              <a:rPr lang="en-US" b="0" i="0" dirty="0">
                <a:solidFill>
                  <a:srgbClr val="273239"/>
                </a:solidFill>
                <a:latin typeface="Times New Roman" panose="02020603050405020304" pitchFamily="18" charset="0"/>
                <a:ea typeface="Times New Roman"/>
                <a:cs typeface="Times New Roman" panose="02020603050405020304" pitchFamily="18" charset="0"/>
                <a:sym typeface="Times New Roman"/>
              </a:rPr>
              <a:t>Transactions are cheap as only a few nodes verify the transaction. All the nodes don’t carry the verification hence less computational cost.</a:t>
            </a:r>
            <a:endParaRPr dirty="0">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rgbClr val="273239"/>
              </a:buClr>
              <a:buSzPct val="100000"/>
              <a:buFont typeface="Arial"/>
              <a:buChar char="•"/>
            </a:pPr>
            <a:r>
              <a:rPr lang="en-US" b="1" i="0" dirty="0">
                <a:solidFill>
                  <a:srgbClr val="273239"/>
                </a:solidFill>
                <a:latin typeface="Times New Roman" panose="02020603050405020304" pitchFamily="18" charset="0"/>
                <a:ea typeface="Times New Roman"/>
                <a:cs typeface="Times New Roman" panose="02020603050405020304" pitchFamily="18" charset="0"/>
                <a:sym typeface="Times New Roman"/>
              </a:rPr>
              <a:t>Architecture:</a:t>
            </a:r>
            <a:r>
              <a:rPr lang="en-US" b="0" i="0" dirty="0">
                <a:solidFill>
                  <a:srgbClr val="273239"/>
                </a:solidFill>
                <a:latin typeface="Times New Roman" panose="02020603050405020304" pitchFamily="18" charset="0"/>
                <a:ea typeface="Times New Roman"/>
                <a:cs typeface="Times New Roman" panose="02020603050405020304" pitchFamily="18" charset="0"/>
                <a:sym typeface="Times New Roman"/>
              </a:rPr>
              <a:t> It is highly customizable and still maintains integrity, security, and transparency.</a:t>
            </a:r>
            <a:endParaRPr dirty="0">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rgbClr val="273239"/>
              </a:buClr>
              <a:buSzPct val="100000"/>
              <a:buFont typeface="Arial"/>
              <a:buChar char="•"/>
            </a:pPr>
            <a:r>
              <a:rPr lang="en-US" b="1" i="0" dirty="0">
                <a:solidFill>
                  <a:srgbClr val="273239"/>
                </a:solidFill>
                <a:latin typeface="Times New Roman" panose="02020603050405020304" pitchFamily="18" charset="0"/>
                <a:ea typeface="Times New Roman"/>
                <a:cs typeface="Times New Roman" panose="02020603050405020304" pitchFamily="18" charset="0"/>
                <a:sym typeface="Times New Roman"/>
              </a:rPr>
              <a:t>Operations: </a:t>
            </a:r>
            <a:r>
              <a:rPr lang="en-US" b="0" i="0" dirty="0">
                <a:solidFill>
                  <a:srgbClr val="273239"/>
                </a:solidFill>
                <a:latin typeface="Times New Roman" panose="02020603050405020304" pitchFamily="18" charset="0"/>
                <a:ea typeface="Times New Roman"/>
                <a:cs typeface="Times New Roman" panose="02020603050405020304" pitchFamily="18" charset="0"/>
                <a:sym typeface="Times New Roman"/>
              </a:rPr>
              <a:t>It can choose the participants in the blockchain and decide which transaction can be made public.</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5" name="Google Shape;205;p22"/>
          <p:cNvSpPr txBox="1">
            <a:spLocks noGrp="1"/>
          </p:cNvSpPr>
          <p:nvPr>
            <p:ph idx="1"/>
          </p:nvPr>
        </p:nvSpPr>
        <p:spPr>
          <a:xfrm>
            <a:off x="524256" y="426720"/>
            <a:ext cx="11192256" cy="5669280"/>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273239"/>
              </a:buClr>
              <a:buSzPts val="2800"/>
              <a:buNone/>
            </a:pPr>
            <a:r>
              <a:rPr lang="en-US" b="1" i="0" dirty="0">
                <a:solidFill>
                  <a:srgbClr val="273239"/>
                </a:solidFill>
                <a:latin typeface="Times New Roman" panose="02020603050405020304" pitchFamily="18" charset="0"/>
                <a:ea typeface="Times New Roman"/>
                <a:cs typeface="Times New Roman" panose="02020603050405020304" pitchFamily="18" charset="0"/>
                <a:sym typeface="Times New Roman"/>
              </a:rPr>
              <a:t>Disadvantages:</a:t>
            </a:r>
            <a:endParaRPr b="0" i="0" dirty="0">
              <a:solidFill>
                <a:srgbClr val="273239"/>
              </a:solidFill>
              <a:latin typeface="Times New Roman" panose="02020603050405020304" pitchFamily="18" charset="0"/>
              <a:ea typeface="Times New Roman"/>
              <a:cs typeface="Times New Roman" panose="02020603050405020304" pitchFamily="18" charset="0"/>
              <a:sym typeface="Times New Roman"/>
            </a:endParaRPr>
          </a:p>
          <a:p>
            <a:pPr marL="228600" lvl="0" indent="-228600" algn="just" rtl="0">
              <a:lnSpc>
                <a:spcPct val="150000"/>
              </a:lnSpc>
              <a:spcBef>
                <a:spcPts val="1000"/>
              </a:spcBef>
              <a:spcAft>
                <a:spcPts val="0"/>
              </a:spcAft>
              <a:buClr>
                <a:srgbClr val="273239"/>
              </a:buClr>
              <a:buSzPts val="2800"/>
              <a:buFont typeface="Arial"/>
              <a:buChar char="•"/>
            </a:pPr>
            <a:r>
              <a:rPr lang="en-US" b="1" i="0" dirty="0">
                <a:solidFill>
                  <a:srgbClr val="273239"/>
                </a:solidFill>
                <a:latin typeface="Times New Roman" panose="02020603050405020304" pitchFamily="18" charset="0"/>
                <a:ea typeface="Times New Roman"/>
                <a:cs typeface="Times New Roman" panose="02020603050405020304" pitchFamily="18" charset="0"/>
                <a:sym typeface="Times New Roman"/>
              </a:rPr>
              <a:t>Efficiency: </a:t>
            </a:r>
            <a:r>
              <a:rPr lang="en-US" b="0" i="0" dirty="0">
                <a:solidFill>
                  <a:srgbClr val="273239"/>
                </a:solidFill>
                <a:latin typeface="Times New Roman" panose="02020603050405020304" pitchFamily="18" charset="0"/>
                <a:ea typeface="Times New Roman"/>
                <a:cs typeface="Times New Roman" panose="02020603050405020304" pitchFamily="18" charset="0"/>
                <a:sym typeface="Times New Roman"/>
              </a:rPr>
              <a:t>Not everyone is in the position to implement a hybrid Blockchain. The organization also faces some difficulty in terms of efficiency in maintenance.</a:t>
            </a:r>
            <a:endParaRPr dirty="0">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rgbClr val="273239"/>
              </a:buClr>
              <a:buSzPts val="2800"/>
              <a:buFont typeface="Arial"/>
              <a:buChar char="•"/>
            </a:pPr>
            <a:r>
              <a:rPr lang="en-US" b="1" i="0" dirty="0">
                <a:solidFill>
                  <a:srgbClr val="273239"/>
                </a:solidFill>
                <a:latin typeface="Times New Roman" panose="02020603050405020304" pitchFamily="18" charset="0"/>
                <a:ea typeface="Times New Roman"/>
                <a:cs typeface="Times New Roman" panose="02020603050405020304" pitchFamily="18" charset="0"/>
                <a:sym typeface="Times New Roman"/>
              </a:rPr>
              <a:t>Transparency: </a:t>
            </a:r>
            <a:r>
              <a:rPr lang="en-US" b="0" i="0" dirty="0">
                <a:solidFill>
                  <a:srgbClr val="273239"/>
                </a:solidFill>
                <a:latin typeface="Times New Roman" panose="02020603050405020304" pitchFamily="18" charset="0"/>
                <a:ea typeface="Times New Roman"/>
                <a:cs typeface="Times New Roman" panose="02020603050405020304" pitchFamily="18" charset="0"/>
                <a:sym typeface="Times New Roman"/>
              </a:rPr>
              <a:t>There is a possibility that someone can hide information from the user. If someone wants to get access through a hybrid blockchain it depends on the organization whether they will give or not.</a:t>
            </a:r>
            <a:endParaRPr dirty="0">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rgbClr val="273239"/>
              </a:buClr>
              <a:buSzPts val="2800"/>
              <a:buFont typeface="Arial"/>
              <a:buChar char="•"/>
            </a:pPr>
            <a:r>
              <a:rPr lang="en-US" b="1" i="0" dirty="0">
                <a:solidFill>
                  <a:srgbClr val="273239"/>
                </a:solidFill>
                <a:latin typeface="Times New Roman" panose="02020603050405020304" pitchFamily="18" charset="0"/>
                <a:ea typeface="Times New Roman"/>
                <a:cs typeface="Times New Roman" panose="02020603050405020304" pitchFamily="18" charset="0"/>
                <a:sym typeface="Times New Roman"/>
              </a:rPr>
              <a:t>Ecosystem: </a:t>
            </a:r>
            <a:r>
              <a:rPr lang="en-US" b="0" i="0" dirty="0">
                <a:solidFill>
                  <a:srgbClr val="273239"/>
                </a:solidFill>
                <a:latin typeface="Times New Roman" panose="02020603050405020304" pitchFamily="18" charset="0"/>
                <a:ea typeface="Times New Roman"/>
                <a:cs typeface="Times New Roman" panose="02020603050405020304" pitchFamily="18" charset="0"/>
                <a:sym typeface="Times New Roman"/>
              </a:rPr>
              <a:t>Due to its closed ecosystem this blockchain lacks the incentives for network participation</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1" name="Google Shape;211;p23"/>
          <p:cNvSpPr txBox="1">
            <a:spLocks noGrp="1"/>
          </p:cNvSpPr>
          <p:nvPr>
            <p:ph idx="1"/>
          </p:nvPr>
        </p:nvSpPr>
        <p:spPr>
          <a:xfrm>
            <a:off x="512064" y="536448"/>
            <a:ext cx="11167872" cy="5559552"/>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Clr>
                <a:srgbClr val="273239"/>
              </a:buClr>
              <a:buSzPts val="2800"/>
              <a:buNone/>
            </a:pP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Consortium Blockchain</a:t>
            </a:r>
            <a:endParaRPr dirty="0">
              <a:solidFill>
                <a:schemeClr val="tx1"/>
              </a:solidFill>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chemeClr val="dk1"/>
              </a:buClr>
              <a:buSzPts val="2800"/>
              <a:buChar char="•"/>
            </a:pPr>
            <a:r>
              <a:rPr lang="en-US" dirty="0">
                <a:solidFill>
                  <a:schemeClr val="tx1"/>
                </a:solidFill>
                <a:latin typeface="Times New Roman" panose="02020603050405020304" pitchFamily="18" charset="0"/>
                <a:cs typeface="Times New Roman" panose="02020603050405020304" pitchFamily="18" charset="0"/>
              </a:rPr>
              <a:t>A consortium blockchain is managed by a group of organizations rather than being open to the public or controlled by a single entity.</a:t>
            </a:r>
            <a:endParaRPr dirty="0">
              <a:solidFill>
                <a:schemeClr val="tx1"/>
              </a:solidFill>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rgbClr val="273239"/>
              </a:buClr>
              <a:buSzPts val="2800"/>
              <a:buChar char="•"/>
            </a:pP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Also known as Federated Blockchain. </a:t>
            </a:r>
            <a:endParaRPr dirty="0">
              <a:solidFill>
                <a:schemeClr val="tx1"/>
              </a:solidFill>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rgbClr val="273239"/>
              </a:buClr>
              <a:buSzPts val="2800"/>
              <a:buFont typeface="Arial"/>
              <a:buChar char="•"/>
            </a:pP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Some part is public and some part is private. </a:t>
            </a:r>
            <a:endParaRPr dirty="0">
              <a:solidFill>
                <a:schemeClr val="tx1"/>
              </a:solidFill>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rgbClr val="273239"/>
              </a:buClr>
              <a:buSzPts val="2800"/>
              <a:buFont typeface="Arial"/>
              <a:buChar char="•"/>
            </a:pP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In this type, more than one organization manages the blockchain.</a:t>
            </a:r>
            <a:endParaRPr dirty="0">
              <a:solidFill>
                <a:schemeClr val="tx1"/>
              </a:solidFill>
              <a:latin typeface="Times New Roman" panose="02020603050405020304" pitchFamily="18" charset="0"/>
              <a:cs typeface="Times New Roman" panose="02020603050405020304" pitchFamily="18" charset="0"/>
            </a:endParaRPr>
          </a:p>
          <a:p>
            <a:pPr marL="0" lvl="0" indent="0" algn="l" rtl="0">
              <a:lnSpc>
                <a:spcPct val="150000"/>
              </a:lnSpc>
              <a:spcBef>
                <a:spcPts val="1000"/>
              </a:spcBef>
              <a:spcAft>
                <a:spcPts val="0"/>
              </a:spcAft>
              <a:buClr>
                <a:schemeClr val="dk1"/>
              </a:buClr>
              <a:buSzPts val="2800"/>
              <a:buNone/>
            </a:pPr>
            <a:endParaRPr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7" name="Google Shape;217;p24"/>
          <p:cNvSpPr txBox="1">
            <a:spLocks noGrp="1"/>
          </p:cNvSpPr>
          <p:nvPr>
            <p:ph idx="1"/>
          </p:nvPr>
        </p:nvSpPr>
        <p:spPr>
          <a:xfrm>
            <a:off x="414528" y="463296"/>
            <a:ext cx="11143488" cy="5632704"/>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273239"/>
              </a:buClr>
              <a:buSzPct val="100000"/>
              <a:buNone/>
            </a:pP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Advantages:</a:t>
            </a:r>
            <a:endParaRPr b="0" i="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228600" lvl="0" indent="-228600" algn="just" rtl="0">
              <a:lnSpc>
                <a:spcPct val="150000"/>
              </a:lnSpc>
              <a:spcBef>
                <a:spcPts val="1000"/>
              </a:spcBef>
              <a:spcAft>
                <a:spcPts val="0"/>
              </a:spcAft>
              <a:buClr>
                <a:srgbClr val="273239"/>
              </a:buClr>
              <a:buSzPct val="100000"/>
              <a:buFont typeface="Arial"/>
              <a:buChar char="•"/>
            </a:pP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Speed: </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A limited number of users make verification fast. The high speed makes this more usable for organizations.</a:t>
            </a:r>
            <a:endParaRPr dirty="0">
              <a:solidFill>
                <a:schemeClr val="tx1"/>
              </a:solidFill>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rgbClr val="273239"/>
              </a:buClr>
              <a:buSzPct val="100000"/>
              <a:buFont typeface="Arial"/>
              <a:buChar char="•"/>
            </a:pP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Authority:</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Multiple organizations can take part and make it decentralized at every level. Decentralized authority, makes it more secure.</a:t>
            </a:r>
            <a:endParaRPr dirty="0">
              <a:solidFill>
                <a:schemeClr val="tx1"/>
              </a:solidFill>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rgbClr val="273239"/>
              </a:buClr>
              <a:buSzPct val="100000"/>
              <a:buFont typeface="Arial"/>
              <a:buChar char="•"/>
            </a:pP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Privacy: </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The information of the checked blocks is unknown to the public view. but any member belonging to the blockchain can access it.</a:t>
            </a:r>
            <a:endParaRPr dirty="0">
              <a:solidFill>
                <a:schemeClr val="tx1"/>
              </a:solidFill>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rgbClr val="273239"/>
              </a:buClr>
              <a:buSzPct val="100000"/>
              <a:buFont typeface="Arial"/>
              <a:buChar char="•"/>
            </a:pP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Flexible: </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There is much divergence in the flexibility of the blockchain. Since it is not a very large decision can be taken faster.</a:t>
            </a:r>
            <a:endParaRPr dirty="0">
              <a:solidFill>
                <a:schemeClr val="tx1"/>
              </a:solidFill>
              <a:latin typeface="Times New Roman" panose="02020603050405020304" pitchFamily="18" charset="0"/>
              <a:cs typeface="Times New Roman" panose="02020603050405020304" pitchFamily="18" charset="0"/>
            </a:endParaRPr>
          </a:p>
          <a:p>
            <a:pPr marL="0" lvl="0" indent="0" algn="l" rtl="0">
              <a:lnSpc>
                <a:spcPct val="150000"/>
              </a:lnSpc>
              <a:spcBef>
                <a:spcPts val="1000"/>
              </a:spcBef>
              <a:spcAft>
                <a:spcPts val="0"/>
              </a:spcAft>
              <a:buClr>
                <a:schemeClr val="dk1"/>
              </a:buClr>
              <a:buSzPct val="100000"/>
              <a:buNone/>
            </a:pPr>
            <a:endParaRPr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3" name="Google Shape;223;p25"/>
          <p:cNvSpPr txBox="1">
            <a:spLocks noGrp="1"/>
          </p:cNvSpPr>
          <p:nvPr>
            <p:ph idx="1"/>
          </p:nvPr>
        </p:nvSpPr>
        <p:spPr>
          <a:xfrm>
            <a:off x="487680" y="621792"/>
            <a:ext cx="11155680" cy="5474208"/>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273239"/>
              </a:buClr>
              <a:buSzPts val="2800"/>
              <a:buNone/>
            </a:pP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Disadvantages:</a:t>
            </a:r>
            <a:endParaRPr b="0" i="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228600" lvl="0" indent="-228600" algn="just" rtl="0">
              <a:lnSpc>
                <a:spcPct val="150000"/>
              </a:lnSpc>
              <a:spcBef>
                <a:spcPts val="1000"/>
              </a:spcBef>
              <a:spcAft>
                <a:spcPts val="0"/>
              </a:spcAft>
              <a:buClr>
                <a:srgbClr val="273239"/>
              </a:buClr>
              <a:buSzPts val="2800"/>
              <a:buFont typeface="Arial"/>
              <a:buChar char="•"/>
            </a:pP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Approval:</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All the members approve the protocol making it less flexible. Since one or more organizations are involved there can be differences in the vision of interest.</a:t>
            </a:r>
            <a:endParaRPr dirty="0">
              <a:solidFill>
                <a:schemeClr val="tx1"/>
              </a:solidFill>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rgbClr val="273239"/>
              </a:buClr>
              <a:buSzPts val="2800"/>
              <a:buFont typeface="Arial"/>
              <a:buChar char="•"/>
            </a:pP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Transparency:</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It can be hacked if the organization becomes corrupt. Organizations may hide information from the users.</a:t>
            </a:r>
            <a:endParaRPr dirty="0">
              <a:solidFill>
                <a:schemeClr val="tx1"/>
              </a:solidFill>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rgbClr val="273239"/>
              </a:buClr>
              <a:buSzPts val="2800"/>
              <a:buFont typeface="Arial"/>
              <a:buChar char="•"/>
            </a:pP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Vulnerability:</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If few nodes are getting compromised there is a greater chance of vulnerability in this blockchain</a:t>
            </a:r>
            <a:endParaRPr dirty="0">
              <a:solidFill>
                <a:schemeClr val="tx1"/>
              </a:solidFill>
              <a:latin typeface="Times New Roman" panose="02020603050405020304" pitchFamily="18" charset="0"/>
              <a:cs typeface="Times New Roman" panose="02020603050405020304" pitchFamily="18" charset="0"/>
            </a:endParaRPr>
          </a:p>
          <a:p>
            <a:pPr marL="0" lvl="0" indent="0" algn="l" rtl="0">
              <a:lnSpc>
                <a:spcPct val="150000"/>
              </a:lnSpc>
              <a:spcBef>
                <a:spcPts val="1000"/>
              </a:spcBef>
              <a:spcAft>
                <a:spcPts val="0"/>
              </a:spcAft>
              <a:buClr>
                <a:schemeClr val="dk1"/>
              </a:buClr>
              <a:buSzPts val="2800"/>
              <a:buNone/>
            </a:pPr>
            <a:endParaRPr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pic>
        <p:nvPicPr>
          <p:cNvPr id="228" name="Google Shape;228;p26" descr="On the Integration of Blockchain and SDN: Overview, Applications, and  Future Perspectives | Journal of Network and Systems Management"/>
          <p:cNvPicPr preferRelativeResize="0">
            <a:picLocks noGrp="1"/>
          </p:cNvPicPr>
          <p:nvPr>
            <p:ph idx="1"/>
          </p:nvPr>
        </p:nvPicPr>
        <p:blipFill rotWithShape="1">
          <a:blip r:embed="rId3">
            <a:alphaModFix/>
          </a:blip>
          <a:srcRect/>
          <a:stretch/>
        </p:blipFill>
        <p:spPr>
          <a:xfrm>
            <a:off x="2670498" y="316992"/>
            <a:ext cx="6022398" cy="623011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graphicFrame>
        <p:nvGraphicFramePr>
          <p:cNvPr id="233" name="Google Shape;233;p27"/>
          <p:cNvGraphicFramePr/>
          <p:nvPr>
            <p:extLst>
              <p:ext uri="{D42A27DB-BD31-4B8C-83A1-F6EECF244321}">
                <p14:modId xmlns:p14="http://schemas.microsoft.com/office/powerpoint/2010/main" val="3818521247"/>
              </p:ext>
            </p:extLst>
          </p:nvPr>
        </p:nvGraphicFramePr>
        <p:xfrm>
          <a:off x="316281" y="1146048"/>
          <a:ext cx="11585350" cy="3223247"/>
        </p:xfrm>
        <a:graphic>
          <a:graphicData uri="http://schemas.openxmlformats.org/drawingml/2006/table">
            <a:tbl>
              <a:tblPr>
                <a:noFill/>
                <a:tableStyleId>{14E1D6EF-ECBA-4C4B-BCB1-3924D4342354}</a:tableStyleId>
              </a:tblPr>
              <a:tblGrid>
                <a:gridCol w="4763079">
                  <a:extLst>
                    <a:ext uri="{9D8B030D-6E8A-4147-A177-3AD203B41FA5}">
                      <a16:colId xmlns:a16="http://schemas.microsoft.com/office/drawing/2014/main" val="20000"/>
                    </a:ext>
                  </a:extLst>
                </a:gridCol>
                <a:gridCol w="6822271">
                  <a:extLst>
                    <a:ext uri="{9D8B030D-6E8A-4147-A177-3AD203B41FA5}">
                      <a16:colId xmlns:a16="http://schemas.microsoft.com/office/drawing/2014/main" val="20001"/>
                    </a:ext>
                  </a:extLst>
                </a:gridCol>
              </a:tblGrid>
              <a:tr h="644655">
                <a:tc>
                  <a:txBody>
                    <a:bodyPr/>
                    <a:lstStyle/>
                    <a:p>
                      <a:pPr marL="0" marR="0" lvl="0" indent="0" algn="l" rtl="0">
                        <a:spcBef>
                          <a:spcPts val="0"/>
                        </a:spcBef>
                        <a:spcAft>
                          <a:spcPts val="0"/>
                        </a:spcAft>
                        <a:buNone/>
                      </a:pPr>
                      <a:r>
                        <a:rPr lang="en-US" sz="1800" u="none" strike="noStrike" cap="none">
                          <a:latin typeface="Times New Roman"/>
                          <a:ea typeface="Times New Roman"/>
                          <a:cs typeface="Times New Roman"/>
                          <a:sym typeface="Times New Roman"/>
                        </a:rPr>
                        <a:t>Markets</a:t>
                      </a:r>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EEEEEE"/>
                      </a:solidFill>
                      <a:prstDash val="solid"/>
                      <a:round/>
                      <a:headEnd type="none" w="sm" len="sm"/>
                      <a:tailEnd type="none" w="sm" len="sm"/>
                    </a:lnT>
                    <a:lnB w="9525" cap="flat" cmpd="sng">
                      <a:solidFill>
                        <a:srgbClr val="EEEEEE"/>
                      </a:solidFill>
                      <a:prstDash val="solid"/>
                      <a:round/>
                      <a:headEnd type="none" w="sm" len="sm"/>
                      <a:tailEnd type="none" w="sm" len="sm"/>
                    </a:lnB>
                    <a:solidFill>
                      <a:srgbClr val="F9F9F9"/>
                    </a:solidFill>
                  </a:tcPr>
                </a:tc>
                <a:tc>
                  <a:txBody>
                    <a:bodyPr/>
                    <a:lstStyle/>
                    <a:p>
                      <a:pPr marL="0" marR="0" lvl="0" indent="-114300" algn="l" rtl="0">
                        <a:spcBef>
                          <a:spcPts val="0"/>
                        </a:spcBef>
                        <a:spcAft>
                          <a:spcPts val="0"/>
                        </a:spcAft>
                        <a:buClr>
                          <a:schemeClr val="dk1"/>
                        </a:buClr>
                        <a:buSzPts val="1800"/>
                        <a:buFont typeface="Arial"/>
                        <a:buChar char="•"/>
                      </a:pPr>
                      <a:r>
                        <a:rPr lang="en-US" sz="1800" u="none" strike="noStrike" cap="none">
                          <a:latin typeface="Times New Roman"/>
                          <a:ea typeface="Times New Roman"/>
                          <a:cs typeface="Times New Roman"/>
                          <a:sym typeface="Times New Roman"/>
                        </a:rPr>
                        <a:t>Billing, monitoring and Data Transfer</a:t>
                      </a:r>
                      <a:endParaRPr/>
                    </a:p>
                    <a:p>
                      <a:pPr marL="0" marR="0" lvl="0" indent="-114300" algn="l" rtl="0">
                        <a:spcBef>
                          <a:spcPts val="0"/>
                        </a:spcBef>
                        <a:spcAft>
                          <a:spcPts val="0"/>
                        </a:spcAft>
                        <a:buClr>
                          <a:schemeClr val="dk1"/>
                        </a:buClr>
                        <a:buSzPts val="1800"/>
                        <a:buFont typeface="Arial"/>
                        <a:buChar char="•"/>
                      </a:pPr>
                      <a:r>
                        <a:rPr lang="en-US" sz="1800" u="none" strike="noStrike" cap="none">
                          <a:latin typeface="Times New Roman"/>
                          <a:ea typeface="Times New Roman"/>
                          <a:cs typeface="Times New Roman"/>
                          <a:sym typeface="Times New Roman"/>
                        </a:rPr>
                        <a:t>Quota management in the Supply Chain Network</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EEEEEE"/>
                      </a:solidFill>
                      <a:prstDash val="solid"/>
                      <a:round/>
                      <a:headEnd type="none" w="sm" len="sm"/>
                      <a:tailEnd type="none" w="sm" len="sm"/>
                    </a:lnT>
                    <a:lnB w="9525" cap="flat" cmpd="sng">
                      <a:solidFill>
                        <a:srgbClr val="EEEEEE"/>
                      </a:solidFill>
                      <a:prstDash val="solid"/>
                      <a:round/>
                      <a:headEnd type="none" w="sm" len="sm"/>
                      <a:tailEnd type="none" w="sm" len="sm"/>
                    </a:lnB>
                    <a:solidFill>
                      <a:srgbClr val="F9F9F9"/>
                    </a:solidFill>
                  </a:tcPr>
                </a:tc>
                <a:extLst>
                  <a:ext uri="{0D108BD9-81ED-4DB2-BD59-A6C34878D82A}">
                    <a16:rowId xmlns:a16="http://schemas.microsoft.com/office/drawing/2014/main" val="10000"/>
                  </a:ext>
                </a:extLst>
              </a:tr>
              <a:tr h="2578592">
                <a:tc>
                  <a:txBody>
                    <a:bodyPr/>
                    <a:lstStyle/>
                    <a:p>
                      <a:pPr marL="0" marR="0" lvl="0" indent="0" algn="l" rtl="0">
                        <a:spcBef>
                          <a:spcPts val="0"/>
                        </a:spcBef>
                        <a:spcAft>
                          <a:spcPts val="0"/>
                        </a:spcAft>
                        <a:buNone/>
                      </a:pPr>
                      <a:r>
                        <a:rPr lang="en-US" sz="1800" u="none" strike="noStrike" cap="none" dirty="0">
                          <a:latin typeface="Times New Roman"/>
                          <a:ea typeface="Times New Roman"/>
                          <a:cs typeface="Times New Roman"/>
                          <a:sym typeface="Times New Roman"/>
                        </a:rPr>
                        <a:t>Government Sector</a:t>
                      </a:r>
                      <a:endParaRPr dirty="0"/>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EEEEEE"/>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Transnational personalized governance services</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Voting, propositions P2P bond,</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Digitization of documents/ contracts and proof of ownership for transfers</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Registry &amp; Identify</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Tele-attorney service</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IP registration and exchange</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Tax receipts Notary service and document registry</a:t>
                      </a:r>
                      <a:endParaRPr dirty="0"/>
                    </a:p>
                    <a:p>
                      <a:pPr marL="0" marR="0" lvl="0" indent="0" algn="l" rtl="0">
                        <a:spcBef>
                          <a:spcPts val="0"/>
                        </a:spcBef>
                        <a:spcAft>
                          <a:spcPts val="0"/>
                        </a:spcAft>
                        <a:buClr>
                          <a:schemeClr val="dk1"/>
                        </a:buClr>
                        <a:buSzPts val="1800"/>
                        <a:buFont typeface="Arial"/>
                        <a:buNone/>
                      </a:pPr>
                      <a:endParaRPr sz="1800" u="none" strike="noStrike" cap="none" dirty="0">
                        <a:latin typeface="Times New Roman"/>
                        <a:ea typeface="Times New Roman"/>
                        <a:cs typeface="Times New Roman"/>
                        <a:sym typeface="Times New Roman"/>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EEEEEE"/>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bl>
          </a:graphicData>
        </a:graphic>
      </p:graphicFrame>
      <p:graphicFrame>
        <p:nvGraphicFramePr>
          <p:cNvPr id="234" name="Google Shape;234;p27"/>
          <p:cNvGraphicFramePr/>
          <p:nvPr>
            <p:extLst>
              <p:ext uri="{D42A27DB-BD31-4B8C-83A1-F6EECF244321}">
                <p14:modId xmlns:p14="http://schemas.microsoft.com/office/powerpoint/2010/main" val="3239659513"/>
              </p:ext>
            </p:extLst>
          </p:nvPr>
        </p:nvGraphicFramePr>
        <p:xfrm>
          <a:off x="290369" y="4369275"/>
          <a:ext cx="11599048" cy="2264760"/>
        </p:xfrm>
        <a:graphic>
          <a:graphicData uri="http://schemas.openxmlformats.org/drawingml/2006/table">
            <a:tbl>
              <a:tblPr>
                <a:noFill/>
                <a:tableStyleId>{14E1D6EF-ECBA-4C4B-BCB1-3924D4342354}</a:tableStyleId>
              </a:tblPr>
              <a:tblGrid>
                <a:gridCol w="4814584">
                  <a:extLst>
                    <a:ext uri="{9D8B030D-6E8A-4147-A177-3AD203B41FA5}">
                      <a16:colId xmlns:a16="http://schemas.microsoft.com/office/drawing/2014/main" val="20000"/>
                    </a:ext>
                  </a:extLst>
                </a:gridCol>
                <a:gridCol w="6784464">
                  <a:extLst>
                    <a:ext uri="{9D8B030D-6E8A-4147-A177-3AD203B41FA5}">
                      <a16:colId xmlns:a16="http://schemas.microsoft.com/office/drawing/2014/main" val="20001"/>
                    </a:ext>
                  </a:extLst>
                </a:gridCol>
              </a:tblGrid>
              <a:tr h="2264740">
                <a:tc>
                  <a:txBody>
                    <a:bodyPr/>
                    <a:lstStyle/>
                    <a:p>
                      <a:pPr marL="0" marR="0" lvl="0" indent="0" algn="l" rtl="0">
                        <a:spcBef>
                          <a:spcPts val="0"/>
                        </a:spcBef>
                        <a:spcAft>
                          <a:spcPts val="0"/>
                        </a:spcAft>
                        <a:buNone/>
                      </a:pPr>
                      <a:r>
                        <a:rPr lang="en-US" sz="1800" u="none" strike="noStrike" cap="none" dirty="0">
                          <a:latin typeface="Times New Roman"/>
                          <a:ea typeface="Times New Roman"/>
                          <a:cs typeface="Times New Roman"/>
                          <a:sym typeface="Times New Roman"/>
                        </a:rPr>
                        <a:t>IOT</a:t>
                      </a:r>
                      <a:endParaRPr dirty="0"/>
                    </a:p>
                  </a:txBody>
                  <a:tcPr marL="70175" marR="70175" marT="35100" marB="351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EEEEEE"/>
                      </a:solidFill>
                      <a:prstDash val="solid"/>
                      <a:round/>
                      <a:headEnd type="none" w="sm" len="sm"/>
                      <a:tailEnd type="none" w="sm" len="sm"/>
                    </a:lnT>
                    <a:lnB w="9525" cap="flat" cmpd="sng">
                      <a:solidFill>
                        <a:srgbClr val="EEEEEE"/>
                      </a:solidFill>
                      <a:prstDash val="solid"/>
                      <a:round/>
                      <a:headEnd type="none" w="sm" len="sm"/>
                      <a:tailEnd type="none" w="sm" len="sm"/>
                    </a:lnB>
                    <a:solidFill>
                      <a:srgbClr val="F9F9F9"/>
                    </a:solidFill>
                  </a:tcPr>
                </a:tc>
                <a:tc>
                  <a:txBody>
                    <a:bodyPr/>
                    <a:lstStyle/>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Agricultural &amp; drone sensor networks</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Smart home networks</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Integrated </a:t>
                      </a:r>
                      <a:r>
                        <a:rPr lang="en-US" sz="1800" u="none" strike="noStrike" cap="none" dirty="0" err="1">
                          <a:latin typeface="Times New Roman"/>
                          <a:ea typeface="Times New Roman"/>
                          <a:cs typeface="Times New Roman"/>
                          <a:sym typeface="Times New Roman"/>
                        </a:rPr>
                        <a:t>smartcity</a:t>
                      </a:r>
                      <a:r>
                        <a:rPr lang="en-US" sz="1800" u="none" strike="noStrike" cap="none" dirty="0">
                          <a:latin typeface="Times New Roman"/>
                          <a:ea typeface="Times New Roman"/>
                          <a:cs typeface="Times New Roman"/>
                          <a:sym typeface="Times New Roman"/>
                        </a:rPr>
                        <a:t>.</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Smart home sensors</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Self-driving car</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Personalized robots, robotic component</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Personalized drones</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Digital Assistants</a:t>
                      </a:r>
                      <a:endParaRPr dirty="0"/>
                    </a:p>
                  </a:txBody>
                  <a:tcPr marL="70175" marR="70175" marT="35100" marB="35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EEEEEE"/>
                      </a:solidFill>
                      <a:prstDash val="solid"/>
                      <a:round/>
                      <a:headEnd type="none" w="sm" len="sm"/>
                      <a:tailEnd type="none" w="sm" len="sm"/>
                    </a:lnT>
                    <a:lnB w="9525" cap="flat" cmpd="sng">
                      <a:solidFill>
                        <a:srgbClr val="EEEEEE"/>
                      </a:solidFill>
                      <a:prstDash val="solid"/>
                      <a:round/>
                      <a:headEnd type="none" w="sm" len="sm"/>
                      <a:tailEnd type="none" w="sm" len="sm"/>
                    </a:lnB>
                    <a:solidFill>
                      <a:srgbClr val="F9F9F9"/>
                    </a:solidFill>
                  </a:tcPr>
                </a:tc>
                <a:extLst>
                  <a:ext uri="{0D108BD9-81ED-4DB2-BD59-A6C34878D82A}">
                    <a16:rowId xmlns:a16="http://schemas.microsoft.com/office/drawing/2014/main" val="10000"/>
                  </a:ext>
                </a:extLst>
              </a:tr>
            </a:tbl>
          </a:graphicData>
        </a:graphic>
      </p:graphicFrame>
      <p:sp>
        <p:nvSpPr>
          <p:cNvPr id="235" name="Google Shape;235;p27"/>
          <p:cNvSpPr txBox="1"/>
          <p:nvPr/>
        </p:nvSpPr>
        <p:spPr>
          <a:xfrm>
            <a:off x="316281" y="223965"/>
            <a:ext cx="11585350"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b="1" i="0" u="none" strike="noStrike" cap="none" dirty="0">
                <a:solidFill>
                  <a:srgbClr val="222222"/>
                </a:solidFill>
                <a:latin typeface="Times New Roman"/>
                <a:ea typeface="Times New Roman"/>
                <a:cs typeface="Times New Roman"/>
                <a:sym typeface="Times New Roman"/>
              </a:rPr>
              <a:t>Blockchain Use Cases</a:t>
            </a:r>
            <a:endParaRPr dirty="0"/>
          </a:p>
          <a:p>
            <a:pPr marL="0" marR="0" lvl="0" indent="0" algn="just" rtl="0">
              <a:spcBef>
                <a:spcPts val="0"/>
              </a:spcBef>
              <a:spcAft>
                <a:spcPts val="0"/>
              </a:spcAft>
              <a:buNone/>
            </a:pPr>
            <a:r>
              <a:rPr lang="en-US" sz="1800" b="0" i="0" u="none" strike="noStrike" cap="none" dirty="0">
                <a:solidFill>
                  <a:srgbClr val="222222"/>
                </a:solidFill>
                <a:latin typeface="Times New Roman"/>
                <a:ea typeface="Times New Roman"/>
                <a:cs typeface="Times New Roman"/>
                <a:sym typeface="Times New Roman"/>
              </a:rPr>
              <a:t>Blockchain Technology is used widely in the different sectors as given in the following table.</a:t>
            </a: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graphicFrame>
        <p:nvGraphicFramePr>
          <p:cNvPr id="240" name="Google Shape;240;p28"/>
          <p:cNvGraphicFramePr/>
          <p:nvPr>
            <p:extLst>
              <p:ext uri="{D42A27DB-BD31-4B8C-83A1-F6EECF244321}">
                <p14:modId xmlns:p14="http://schemas.microsoft.com/office/powerpoint/2010/main" val="2217937192"/>
              </p:ext>
            </p:extLst>
          </p:nvPr>
        </p:nvGraphicFramePr>
        <p:xfrm>
          <a:off x="266330" y="2431613"/>
          <a:ext cx="11659340" cy="3200420"/>
        </p:xfrm>
        <a:graphic>
          <a:graphicData uri="http://schemas.openxmlformats.org/drawingml/2006/table">
            <a:tbl>
              <a:tblPr>
                <a:noFill/>
                <a:tableStyleId>{14E1D6EF-ECBA-4C4B-BCB1-3924D4342354}</a:tableStyleId>
              </a:tblPr>
              <a:tblGrid>
                <a:gridCol w="4611848">
                  <a:extLst>
                    <a:ext uri="{9D8B030D-6E8A-4147-A177-3AD203B41FA5}">
                      <a16:colId xmlns:a16="http://schemas.microsoft.com/office/drawing/2014/main" val="20000"/>
                    </a:ext>
                  </a:extLst>
                </a:gridCol>
                <a:gridCol w="7047492">
                  <a:extLst>
                    <a:ext uri="{9D8B030D-6E8A-4147-A177-3AD203B41FA5}">
                      <a16:colId xmlns:a16="http://schemas.microsoft.com/office/drawing/2014/main" val="20001"/>
                    </a:ext>
                  </a:extLst>
                </a:gridCol>
              </a:tblGrid>
              <a:tr h="1188723">
                <a:tc>
                  <a:txBody>
                    <a:bodyPr/>
                    <a:lstStyle/>
                    <a:p>
                      <a:pPr marL="0" marR="0" lvl="0" indent="0" algn="l" rtl="0">
                        <a:spcBef>
                          <a:spcPts val="0"/>
                        </a:spcBef>
                        <a:spcAft>
                          <a:spcPts val="0"/>
                        </a:spcAft>
                        <a:buNone/>
                      </a:pPr>
                      <a:r>
                        <a:rPr lang="en-US" sz="1800" u="none" strike="noStrike" cap="none" dirty="0">
                          <a:latin typeface="Times New Roman"/>
                          <a:ea typeface="Times New Roman"/>
                          <a:cs typeface="Times New Roman"/>
                          <a:sym typeface="Times New Roman"/>
                        </a:rPr>
                        <a:t>Science &amp; Art</a:t>
                      </a:r>
                      <a:endParaRPr dirty="0"/>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EEEEEE"/>
                      </a:solidFill>
                      <a:prstDash val="solid"/>
                      <a:round/>
                      <a:headEnd type="none" w="sm" len="sm"/>
                      <a:tailEnd type="none" w="sm" len="sm"/>
                    </a:lnT>
                    <a:lnB w="9525" cap="flat" cmpd="sng">
                      <a:solidFill>
                        <a:srgbClr val="EEEEEE"/>
                      </a:solidFill>
                      <a:prstDash val="solid"/>
                      <a:round/>
                      <a:headEnd type="none" w="sm" len="sm"/>
                      <a:tailEnd type="none" w="sm" len="sm"/>
                    </a:lnB>
                    <a:solidFill>
                      <a:srgbClr val="F9F9F9"/>
                    </a:solidFill>
                  </a:tcPr>
                </a:tc>
                <a:tc>
                  <a:txBody>
                    <a:bodyPr/>
                    <a:lstStyle/>
                    <a:p>
                      <a:pPr marL="0" marR="0" lvl="0" indent="-114300" algn="l" rtl="0">
                        <a:spcBef>
                          <a:spcPts val="0"/>
                        </a:spcBef>
                        <a:spcAft>
                          <a:spcPts val="0"/>
                        </a:spcAft>
                        <a:buClr>
                          <a:schemeClr val="dk1"/>
                        </a:buClr>
                        <a:buSzPts val="1800"/>
                        <a:buFont typeface="Arial"/>
                        <a:buChar char="•"/>
                      </a:pPr>
                      <a:r>
                        <a:rPr lang="en-US" sz="1800" u="none" strike="noStrike" cap="none">
                          <a:latin typeface="Times New Roman"/>
                          <a:ea typeface="Times New Roman"/>
                          <a:cs typeface="Times New Roman"/>
                          <a:sym typeface="Times New Roman"/>
                        </a:rPr>
                        <a:t>Supercomputing</a:t>
                      </a:r>
                      <a:endParaRPr/>
                    </a:p>
                    <a:p>
                      <a:pPr marL="0" marR="0" lvl="0" indent="-114300" algn="l" rtl="0">
                        <a:spcBef>
                          <a:spcPts val="0"/>
                        </a:spcBef>
                        <a:spcAft>
                          <a:spcPts val="0"/>
                        </a:spcAft>
                        <a:buClr>
                          <a:schemeClr val="dk1"/>
                        </a:buClr>
                        <a:buSzPts val="1800"/>
                        <a:buFont typeface="Arial"/>
                        <a:buChar char="•"/>
                      </a:pPr>
                      <a:r>
                        <a:rPr lang="en-US" sz="1800" u="none" strike="noStrike" cap="none">
                          <a:latin typeface="Times New Roman"/>
                          <a:ea typeface="Times New Roman"/>
                          <a:cs typeface="Times New Roman"/>
                          <a:sym typeface="Times New Roman"/>
                        </a:rPr>
                        <a:t>Crowd analysis</a:t>
                      </a:r>
                      <a:endParaRPr/>
                    </a:p>
                    <a:p>
                      <a:pPr marL="0" marR="0" lvl="0" indent="-114300" algn="l" rtl="0">
                        <a:spcBef>
                          <a:spcPts val="0"/>
                        </a:spcBef>
                        <a:spcAft>
                          <a:spcPts val="0"/>
                        </a:spcAft>
                        <a:buClr>
                          <a:schemeClr val="dk1"/>
                        </a:buClr>
                        <a:buSzPts val="1800"/>
                        <a:buFont typeface="Arial"/>
                        <a:buChar char="•"/>
                      </a:pPr>
                      <a:r>
                        <a:rPr lang="en-US" sz="1800" u="none" strike="noStrike" cap="none">
                          <a:latin typeface="Times New Roman"/>
                          <a:ea typeface="Times New Roman"/>
                          <a:cs typeface="Times New Roman"/>
                          <a:sym typeface="Times New Roman"/>
                        </a:rPr>
                        <a:t>P2P resources</a:t>
                      </a:r>
                      <a:endParaRPr/>
                    </a:p>
                    <a:p>
                      <a:pPr marL="0" marR="0" lvl="0" indent="-114300" algn="l" rtl="0">
                        <a:spcBef>
                          <a:spcPts val="0"/>
                        </a:spcBef>
                        <a:spcAft>
                          <a:spcPts val="0"/>
                        </a:spcAft>
                        <a:buClr>
                          <a:schemeClr val="dk1"/>
                        </a:buClr>
                        <a:buSzPts val="1800"/>
                        <a:buFont typeface="Arial"/>
                        <a:buChar char="•"/>
                      </a:pPr>
                      <a:r>
                        <a:rPr lang="en-US" sz="1800" u="none" strike="noStrike" cap="none">
                          <a:latin typeface="Times New Roman"/>
                          <a:ea typeface="Times New Roman"/>
                          <a:cs typeface="Times New Roman"/>
                          <a:sym typeface="Times New Roman"/>
                        </a:rPr>
                        <a:t>Digital mind fit services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EEEEEE"/>
                      </a:solidFill>
                      <a:prstDash val="solid"/>
                      <a:round/>
                      <a:headEnd type="none" w="sm" len="sm"/>
                      <a:tailEnd type="none" w="sm" len="sm"/>
                    </a:lnT>
                    <a:lnB w="9525" cap="flat" cmpd="sng">
                      <a:solidFill>
                        <a:srgbClr val="EEEEEE"/>
                      </a:solidFill>
                      <a:prstDash val="solid"/>
                      <a:round/>
                      <a:headEnd type="none" w="sm" len="sm"/>
                      <a:tailEnd type="none" w="sm" len="sm"/>
                    </a:lnB>
                    <a:solidFill>
                      <a:srgbClr val="F9F9F9"/>
                    </a:solidFill>
                  </a:tcPr>
                </a:tc>
                <a:extLst>
                  <a:ext uri="{0D108BD9-81ED-4DB2-BD59-A6C34878D82A}">
                    <a16:rowId xmlns:a16="http://schemas.microsoft.com/office/drawing/2014/main" val="10000"/>
                  </a:ext>
                </a:extLst>
              </a:tr>
              <a:tr h="2011679">
                <a:tc>
                  <a:txBody>
                    <a:bodyPr/>
                    <a:lstStyle/>
                    <a:p>
                      <a:pPr marL="0" marR="0" lvl="0" indent="0" algn="l" rtl="0">
                        <a:spcBef>
                          <a:spcPts val="0"/>
                        </a:spcBef>
                        <a:spcAft>
                          <a:spcPts val="0"/>
                        </a:spcAft>
                        <a:buNone/>
                      </a:pPr>
                      <a:r>
                        <a:rPr lang="en-US" sz="1800" u="none" strike="noStrike" cap="none">
                          <a:latin typeface="Times New Roman"/>
                          <a:ea typeface="Times New Roman"/>
                          <a:cs typeface="Times New Roman"/>
                          <a:sym typeface="Times New Roman"/>
                        </a:rPr>
                        <a:t>Finance &amp; Accounting</a:t>
                      </a:r>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EEEEEE"/>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Digital Currency Payment</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Payments &amp; Remittance</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Decartelized Capital markets using a network of the computer on the Blockchain</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Inter-divisional accounting</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Clearing &amp; Trading &amp; Derivatives</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Bookkeeping</a:t>
                      </a:r>
                      <a:endParaRPr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EEEEEE"/>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bl>
          </a:graphicData>
        </a:graphic>
      </p:graphicFrame>
      <p:graphicFrame>
        <p:nvGraphicFramePr>
          <p:cNvPr id="241" name="Google Shape;241;p28"/>
          <p:cNvGraphicFramePr/>
          <p:nvPr>
            <p:extLst>
              <p:ext uri="{D42A27DB-BD31-4B8C-83A1-F6EECF244321}">
                <p14:modId xmlns:p14="http://schemas.microsoft.com/office/powerpoint/2010/main" val="3852066475"/>
              </p:ext>
            </p:extLst>
          </p:nvPr>
        </p:nvGraphicFramePr>
        <p:xfrm>
          <a:off x="266330" y="441190"/>
          <a:ext cx="11572102" cy="1990440"/>
        </p:xfrm>
        <a:graphic>
          <a:graphicData uri="http://schemas.openxmlformats.org/drawingml/2006/table">
            <a:tbl>
              <a:tblPr>
                <a:noFill/>
                <a:tableStyleId>{14E1D6EF-ECBA-4C4B-BCB1-3924D4342354}</a:tableStyleId>
              </a:tblPr>
              <a:tblGrid>
                <a:gridCol w="4516181">
                  <a:extLst>
                    <a:ext uri="{9D8B030D-6E8A-4147-A177-3AD203B41FA5}">
                      <a16:colId xmlns:a16="http://schemas.microsoft.com/office/drawing/2014/main" val="20000"/>
                    </a:ext>
                  </a:extLst>
                </a:gridCol>
                <a:gridCol w="7055921">
                  <a:extLst>
                    <a:ext uri="{9D8B030D-6E8A-4147-A177-3AD203B41FA5}">
                      <a16:colId xmlns:a16="http://schemas.microsoft.com/office/drawing/2014/main" val="20001"/>
                    </a:ext>
                  </a:extLst>
                </a:gridCol>
              </a:tblGrid>
              <a:tr h="1907375">
                <a:tc>
                  <a:txBody>
                    <a:bodyPr/>
                    <a:lstStyle/>
                    <a:p>
                      <a:pPr marL="0" marR="0" lvl="0" indent="0" algn="l" rtl="0">
                        <a:spcBef>
                          <a:spcPts val="0"/>
                        </a:spcBef>
                        <a:spcAft>
                          <a:spcPts val="0"/>
                        </a:spcAft>
                        <a:buNone/>
                      </a:pPr>
                      <a:r>
                        <a:rPr lang="en-US" sz="1800" u="none" strike="noStrike" cap="none">
                          <a:latin typeface="Times New Roman"/>
                          <a:ea typeface="Times New Roman"/>
                          <a:cs typeface="Times New Roman"/>
                          <a:sym typeface="Times New Roman"/>
                        </a:rPr>
                        <a:t>Health</a:t>
                      </a:r>
                      <a:endParaRPr/>
                    </a:p>
                  </a:txBody>
                  <a:tcPr marL="70175" marR="70175" marT="35100" marB="351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EEEEEE"/>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Data management</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Universal EMR Health databanks</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QS Data Commons</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Big health data stream analytes</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Digital health wallet Smart property</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Health Token</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Personal development contracts</a:t>
                      </a:r>
                      <a:endParaRPr dirty="0"/>
                    </a:p>
                  </a:txBody>
                  <a:tcPr marL="70175" marR="70175" marT="35100" marB="35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EEEEEE"/>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Real life use case of block chain</a:t>
            </a:r>
            <a:endParaRPr b="1"/>
          </a:p>
        </p:txBody>
      </p:sp>
      <p:sp>
        <p:nvSpPr>
          <p:cNvPr id="247" name="Google Shape;247;p29"/>
          <p:cNvSpPr txBox="1">
            <a:spLocks noGrp="1"/>
          </p:cNvSpPr>
          <p:nvPr>
            <p:ph idx="1"/>
          </p:nvPr>
        </p:nvSpPr>
        <p:spPr>
          <a:xfrm>
            <a:off x="463296" y="2057400"/>
            <a:ext cx="11253216" cy="4038600"/>
          </a:xfrm>
          <a:prstGeom prst="rect">
            <a:avLst/>
          </a:prstGeom>
          <a:noFill/>
          <a:ln>
            <a:noFill/>
          </a:ln>
        </p:spPr>
        <p:txBody>
          <a:bodyPr spcFirstLastPara="1" wrap="square" lIns="91425" tIns="45700" rIns="91425" bIns="45700" anchor="t" anchorCtr="0">
            <a:noAutofit/>
          </a:bodyPr>
          <a:lstStyle/>
          <a:p>
            <a:pPr marL="0" lvl="0" indent="0" algn="just" rtl="0">
              <a:lnSpc>
                <a:spcPct val="170000"/>
              </a:lnSpc>
              <a:spcBef>
                <a:spcPts val="0"/>
              </a:spcBef>
              <a:spcAft>
                <a:spcPts val="0"/>
              </a:spcAft>
              <a:buClr>
                <a:schemeClr val="dk1"/>
              </a:buClr>
              <a:buSzPct val="100000"/>
              <a:buNone/>
            </a:pPr>
            <a:r>
              <a:rPr lang="en-US" sz="2500" b="1" dirty="0">
                <a:solidFill>
                  <a:schemeClr val="tx1"/>
                </a:solidFill>
                <a:latin typeface="Times New Roman" panose="02020603050405020304" pitchFamily="18" charset="0"/>
                <a:cs typeface="Times New Roman" panose="02020603050405020304" pitchFamily="18" charset="0"/>
              </a:rPr>
              <a:t>Walmart</a:t>
            </a:r>
            <a:r>
              <a:rPr lang="en-US" sz="2500" dirty="0">
                <a:solidFill>
                  <a:schemeClr val="tx1"/>
                </a:solidFill>
                <a:latin typeface="Times New Roman" panose="02020603050405020304" pitchFamily="18" charset="0"/>
                <a:cs typeface="Times New Roman" panose="02020603050405020304" pitchFamily="18" charset="0"/>
              </a:rPr>
              <a:t> uses blockchain to track the provenance of its food products. This ensures food safety by allowing quick identification of contamination sources.</a:t>
            </a:r>
            <a:endParaRPr sz="2500"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70000"/>
              </a:lnSpc>
              <a:spcBef>
                <a:spcPts val="1000"/>
              </a:spcBef>
              <a:spcAft>
                <a:spcPts val="0"/>
              </a:spcAft>
              <a:buClr>
                <a:schemeClr val="dk1"/>
              </a:buClr>
              <a:buSzPct val="100000"/>
              <a:buNone/>
            </a:pPr>
            <a:r>
              <a:rPr lang="en-US" sz="2500" b="1" dirty="0" err="1">
                <a:solidFill>
                  <a:schemeClr val="tx1"/>
                </a:solidFill>
                <a:latin typeface="Times New Roman" panose="02020603050405020304" pitchFamily="18" charset="0"/>
                <a:cs typeface="Times New Roman" panose="02020603050405020304" pitchFamily="18" charset="0"/>
              </a:rPr>
              <a:t>Medicalchain</a:t>
            </a:r>
            <a:r>
              <a:rPr lang="en-US" sz="2500" dirty="0">
                <a:solidFill>
                  <a:schemeClr val="tx1"/>
                </a:solidFill>
                <a:latin typeface="Times New Roman" panose="02020603050405020304" pitchFamily="18" charset="0"/>
                <a:cs typeface="Times New Roman" panose="02020603050405020304" pitchFamily="18" charset="0"/>
              </a:rPr>
              <a:t> uses blockchain to securely store health records and ensure they can be accessed by authorized doctors and patients.</a:t>
            </a:r>
            <a:endParaRPr sz="2500"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70000"/>
              </a:lnSpc>
              <a:spcBef>
                <a:spcPts val="1000"/>
              </a:spcBef>
              <a:spcAft>
                <a:spcPts val="0"/>
              </a:spcAft>
              <a:buClr>
                <a:schemeClr val="dk1"/>
              </a:buClr>
              <a:buSzPct val="100000"/>
              <a:buNone/>
            </a:pPr>
            <a:r>
              <a:rPr lang="en-US" sz="2500" b="1" dirty="0" err="1">
                <a:solidFill>
                  <a:schemeClr val="tx1"/>
                </a:solidFill>
                <a:latin typeface="Times New Roman" panose="02020603050405020304" pitchFamily="18" charset="0"/>
                <a:cs typeface="Times New Roman" panose="02020603050405020304" pitchFamily="18" charset="0"/>
              </a:rPr>
              <a:t>Propy</a:t>
            </a:r>
            <a:r>
              <a:rPr lang="en-US" sz="2500" dirty="0">
                <a:solidFill>
                  <a:schemeClr val="tx1"/>
                </a:solidFill>
                <a:latin typeface="Times New Roman" panose="02020603050405020304" pitchFamily="18" charset="0"/>
                <a:cs typeface="Times New Roman" panose="02020603050405020304" pitchFamily="18" charset="0"/>
              </a:rPr>
              <a:t> uses blockchain to facilitate international real estate transactions by providing a secure and transparent process.</a:t>
            </a:r>
            <a:endParaRPr sz="2500"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70000"/>
              </a:lnSpc>
              <a:spcBef>
                <a:spcPts val="1000"/>
              </a:spcBef>
              <a:spcAft>
                <a:spcPts val="0"/>
              </a:spcAft>
              <a:buClr>
                <a:schemeClr val="dk1"/>
              </a:buClr>
              <a:buSzPct val="100000"/>
              <a:buNone/>
            </a:pPr>
            <a:endParaRPr sz="25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652CF6-D22A-C64E-26EB-5779DEBAB747}"/>
              </a:ext>
            </a:extLst>
          </p:cNvPr>
          <p:cNvSpPr>
            <a:spLocks noGrp="1"/>
          </p:cNvSpPr>
          <p:nvPr>
            <p:ph idx="1"/>
          </p:nvPr>
        </p:nvSpPr>
        <p:spPr>
          <a:xfrm>
            <a:off x="560832" y="2057400"/>
            <a:ext cx="11094720" cy="4038600"/>
          </a:xfrm>
        </p:spPr>
        <p:txBody>
          <a:bodyPr/>
          <a:lstStyle/>
          <a:p>
            <a:pPr marL="0" lvl="0" indent="0" algn="just" rtl="0">
              <a:lnSpc>
                <a:spcPct val="170000"/>
              </a:lnSpc>
              <a:spcBef>
                <a:spcPts val="1000"/>
              </a:spcBef>
              <a:spcAft>
                <a:spcPts val="0"/>
              </a:spcAft>
              <a:buClr>
                <a:schemeClr val="dk1"/>
              </a:buClr>
              <a:buSzPct val="100000"/>
              <a:buNone/>
            </a:pPr>
            <a:r>
              <a:rPr lang="en-US" sz="2400" b="1" dirty="0">
                <a:solidFill>
                  <a:schemeClr val="tx1"/>
                </a:solidFill>
                <a:latin typeface="Times New Roman" panose="02020603050405020304" pitchFamily="18" charset="0"/>
                <a:cs typeface="Times New Roman" panose="02020603050405020304" pitchFamily="18" charset="0"/>
              </a:rPr>
              <a:t>Civic</a:t>
            </a:r>
            <a:r>
              <a:rPr lang="en-US" sz="2400" dirty="0">
                <a:solidFill>
                  <a:schemeClr val="tx1"/>
                </a:solidFill>
                <a:latin typeface="Times New Roman" panose="02020603050405020304" pitchFamily="18" charset="0"/>
                <a:cs typeface="Times New Roman" panose="02020603050405020304" pitchFamily="18" charset="0"/>
              </a:rPr>
              <a:t> uses blockchain technology to secure and verify digital identities, enabling secure access to services without the need for traditional identity documents.</a:t>
            </a:r>
          </a:p>
          <a:p>
            <a:pPr marL="0" lvl="0" indent="0" algn="just" rtl="0">
              <a:lnSpc>
                <a:spcPct val="170000"/>
              </a:lnSpc>
              <a:spcBef>
                <a:spcPts val="1000"/>
              </a:spcBef>
              <a:spcAft>
                <a:spcPts val="0"/>
              </a:spcAft>
              <a:buClr>
                <a:schemeClr val="dk1"/>
              </a:buClr>
              <a:buSzPct val="100000"/>
              <a:buNone/>
            </a:pPr>
            <a:r>
              <a:rPr lang="en-US" sz="2400" b="1" dirty="0" err="1">
                <a:solidFill>
                  <a:schemeClr val="tx1"/>
                </a:solidFill>
                <a:latin typeface="Times New Roman" panose="02020603050405020304" pitchFamily="18" charset="0"/>
                <a:cs typeface="Times New Roman" panose="02020603050405020304" pitchFamily="18" charset="0"/>
              </a:rPr>
              <a:t>Voatz</a:t>
            </a:r>
            <a:r>
              <a:rPr lang="en-US" sz="2400" dirty="0">
                <a:solidFill>
                  <a:schemeClr val="tx1"/>
                </a:solidFill>
                <a:latin typeface="Times New Roman" panose="02020603050405020304" pitchFamily="18" charset="0"/>
                <a:cs typeface="Times New Roman" panose="02020603050405020304" pitchFamily="18" charset="0"/>
              </a:rPr>
              <a:t> provides a blockchain-based voting platform that ensures secure, transparent, and tamper-proof elections</a:t>
            </a:r>
          </a:p>
          <a:p>
            <a:pPr marL="45720" indent="0">
              <a:buNone/>
            </a:pPr>
            <a:endParaRPr lang="en-IN" dirty="0"/>
          </a:p>
        </p:txBody>
      </p:sp>
    </p:spTree>
    <p:extLst>
      <p:ext uri="{BB962C8B-B14F-4D97-AF65-F5344CB8AC3E}">
        <p14:creationId xmlns:p14="http://schemas.microsoft.com/office/powerpoint/2010/main" val="4844936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pic>
        <p:nvPicPr>
          <p:cNvPr id="252" name="Google Shape;252;p30" descr="Blockchain Vs Database - Javatpoint"/>
          <p:cNvPicPr preferRelativeResize="0">
            <a:picLocks noGrp="1"/>
          </p:cNvPicPr>
          <p:nvPr>
            <p:ph idx="1"/>
          </p:nvPr>
        </p:nvPicPr>
        <p:blipFill rotWithShape="1">
          <a:blip r:embed="rId3">
            <a:alphaModFix/>
          </a:blip>
          <a:srcRect/>
          <a:stretch/>
        </p:blipFill>
        <p:spPr>
          <a:xfrm>
            <a:off x="0" y="-1"/>
            <a:ext cx="12183840" cy="685800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pic>
        <p:nvPicPr>
          <p:cNvPr id="257" name="Google Shape;257;p31" descr="What is a blockchain database, What Is A Blockchain Database?"/>
          <p:cNvPicPr preferRelativeResize="0">
            <a:picLocks noGrp="1"/>
          </p:cNvPicPr>
          <p:nvPr>
            <p:ph idx="1"/>
          </p:nvPr>
        </p:nvPicPr>
        <p:blipFill rotWithShape="1">
          <a:blip r:embed="rId3">
            <a:alphaModFix/>
          </a:blip>
          <a:srcRect/>
          <a:stretch/>
        </p:blipFill>
        <p:spPr>
          <a:xfrm>
            <a:off x="329184" y="353568"/>
            <a:ext cx="11521439" cy="613257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graphicFrame>
        <p:nvGraphicFramePr>
          <p:cNvPr id="262" name="Google Shape;262;p32"/>
          <p:cNvGraphicFramePr/>
          <p:nvPr>
            <p:extLst>
              <p:ext uri="{D42A27DB-BD31-4B8C-83A1-F6EECF244321}">
                <p14:modId xmlns:p14="http://schemas.microsoft.com/office/powerpoint/2010/main" val="1315190785"/>
              </p:ext>
            </p:extLst>
          </p:nvPr>
        </p:nvGraphicFramePr>
        <p:xfrm>
          <a:off x="239696" y="365760"/>
          <a:ext cx="11123248" cy="4730009"/>
        </p:xfrm>
        <a:graphic>
          <a:graphicData uri="http://schemas.openxmlformats.org/drawingml/2006/table">
            <a:tbl>
              <a:tblPr>
                <a:noFill/>
                <a:tableStyleId>{14E1D6EF-ECBA-4C4B-BCB1-3924D4342354}</a:tableStyleId>
              </a:tblPr>
              <a:tblGrid>
                <a:gridCol w="5561624">
                  <a:extLst>
                    <a:ext uri="{9D8B030D-6E8A-4147-A177-3AD203B41FA5}">
                      <a16:colId xmlns:a16="http://schemas.microsoft.com/office/drawing/2014/main" val="20000"/>
                    </a:ext>
                  </a:extLst>
                </a:gridCol>
                <a:gridCol w="5561624">
                  <a:extLst>
                    <a:ext uri="{9D8B030D-6E8A-4147-A177-3AD203B41FA5}">
                      <a16:colId xmlns:a16="http://schemas.microsoft.com/office/drawing/2014/main" val="20001"/>
                    </a:ext>
                  </a:extLst>
                </a:gridCol>
              </a:tblGrid>
              <a:tr h="394630">
                <a:tc>
                  <a:txBody>
                    <a:bodyPr/>
                    <a:lstStyle/>
                    <a:p>
                      <a:pPr marL="0" marR="0" lvl="0" indent="0" algn="l" rtl="0">
                        <a:spcBef>
                          <a:spcPts val="0"/>
                        </a:spcBef>
                        <a:spcAft>
                          <a:spcPts val="0"/>
                        </a:spcAft>
                        <a:buNone/>
                      </a:pPr>
                      <a:r>
                        <a:rPr lang="en-US" sz="1600" b="1" u="none" strike="noStrike" cap="none"/>
                        <a:t>Database</a:t>
                      </a:r>
                      <a:endParaRPr/>
                    </a:p>
                  </a:txBody>
                  <a:tcPr marL="89250" marR="89250" marT="44625" marB="44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1" u="none" strike="noStrike" cap="none"/>
                        <a:t>Blockchain</a:t>
                      </a:r>
                      <a:endParaRPr/>
                    </a:p>
                  </a:txBody>
                  <a:tcPr marL="89250" marR="89250" marT="44625" marB="44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629718">
                <a:tc>
                  <a:txBody>
                    <a:bodyPr/>
                    <a:lstStyle/>
                    <a:p>
                      <a:pPr marL="0" marR="0" lvl="0" indent="0" algn="l" rtl="0">
                        <a:spcBef>
                          <a:spcPts val="0"/>
                        </a:spcBef>
                        <a:spcAft>
                          <a:spcPts val="0"/>
                        </a:spcAft>
                        <a:buNone/>
                      </a:pPr>
                      <a:r>
                        <a:rPr lang="en-US" sz="1600" b="0" u="none" strike="noStrike" cap="none"/>
                        <a:t>Database uses centralized storage of data.</a:t>
                      </a:r>
                      <a:endParaRPr/>
                    </a:p>
                  </a:txBody>
                  <a:tcPr marL="74375" marR="74375" marT="104125" marB="104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u="none" strike="noStrike" cap="none"/>
                        <a:t>Blockchain uses decentralized storage of data.</a:t>
                      </a:r>
                      <a:endParaRPr/>
                    </a:p>
                  </a:txBody>
                  <a:tcPr marL="74375" marR="74375" marT="104125" marB="104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033386">
                <a:tc>
                  <a:txBody>
                    <a:bodyPr/>
                    <a:lstStyle/>
                    <a:p>
                      <a:pPr marL="0" marR="0" lvl="0" indent="0" algn="l" rtl="0">
                        <a:spcBef>
                          <a:spcPts val="0"/>
                        </a:spcBef>
                        <a:spcAft>
                          <a:spcPts val="0"/>
                        </a:spcAft>
                        <a:buNone/>
                      </a:pPr>
                      <a:r>
                        <a:rPr lang="en-US" sz="1600" b="0" u="none" strike="noStrike" cap="none"/>
                        <a:t>Database needs a Database admin or Database administrator to manage the stored data.</a:t>
                      </a:r>
                      <a:endParaRPr/>
                    </a:p>
                  </a:txBody>
                  <a:tcPr marL="74375" marR="74375" marT="104125" marB="104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u="none" strike="noStrike" cap="none" dirty="0"/>
                        <a:t>There is no administrator in Blockchain.</a:t>
                      </a:r>
                      <a:endParaRPr dirty="0"/>
                    </a:p>
                  </a:txBody>
                  <a:tcPr marL="74375" marR="74375" marT="104125" marB="104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1638889">
                <a:tc>
                  <a:txBody>
                    <a:bodyPr/>
                    <a:lstStyle/>
                    <a:p>
                      <a:pPr marL="0" marR="0" lvl="0" indent="0" algn="l" rtl="0">
                        <a:spcBef>
                          <a:spcPts val="0"/>
                        </a:spcBef>
                        <a:spcAft>
                          <a:spcPts val="0"/>
                        </a:spcAft>
                        <a:buNone/>
                      </a:pPr>
                      <a:r>
                        <a:rPr lang="en-US" sz="1600" b="0" u="none" strike="noStrike" cap="none"/>
                        <a:t>Modifying data requires permission from database admin.</a:t>
                      </a:r>
                      <a:endParaRPr/>
                    </a:p>
                  </a:txBody>
                  <a:tcPr marL="74375" marR="74375" marT="104125" marB="104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u="none" strike="noStrike" cap="none"/>
                        <a:t>Modifying data does not require permission. Users have a copy of data and by modifying the copies does not affect the master copy of the data as Blockchain is irresistible to modification of data.</a:t>
                      </a:r>
                      <a:endParaRPr/>
                    </a:p>
                  </a:txBody>
                  <a:tcPr marL="74375" marR="74375" marT="104125" marB="104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1033386">
                <a:tc>
                  <a:txBody>
                    <a:bodyPr/>
                    <a:lstStyle/>
                    <a:p>
                      <a:pPr marL="0" marR="0" lvl="0" indent="0" algn="l" rtl="0">
                        <a:spcBef>
                          <a:spcPts val="0"/>
                        </a:spcBef>
                        <a:spcAft>
                          <a:spcPts val="0"/>
                        </a:spcAft>
                        <a:buNone/>
                      </a:pPr>
                      <a:r>
                        <a:rPr lang="en-US" sz="1600" b="0" u="none" strike="noStrike" cap="none"/>
                        <a:t>Centralized databases keep information that is up-to-date at a particular moment</a:t>
                      </a:r>
                      <a:endParaRPr/>
                    </a:p>
                  </a:txBody>
                  <a:tcPr marL="74375" marR="74375" marT="104125" marB="104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u="none" strike="noStrike" cap="none" dirty="0"/>
                        <a:t>Blockchain keeps the present information as well as the past information that has been stored before.</a:t>
                      </a:r>
                      <a:endParaRPr dirty="0"/>
                    </a:p>
                  </a:txBody>
                  <a:tcPr marL="74375" marR="74375" marT="104125" marB="104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bl>
          </a:graphicData>
        </a:graphic>
      </p:graphicFrame>
      <p:graphicFrame>
        <p:nvGraphicFramePr>
          <p:cNvPr id="263" name="Google Shape;263;p32"/>
          <p:cNvGraphicFramePr/>
          <p:nvPr>
            <p:extLst>
              <p:ext uri="{D42A27DB-BD31-4B8C-83A1-F6EECF244321}">
                <p14:modId xmlns:p14="http://schemas.microsoft.com/office/powerpoint/2010/main" val="3647496286"/>
              </p:ext>
            </p:extLst>
          </p:nvPr>
        </p:nvGraphicFramePr>
        <p:xfrm>
          <a:off x="353568" y="5095769"/>
          <a:ext cx="11009376" cy="1085575"/>
        </p:xfrm>
        <a:graphic>
          <a:graphicData uri="http://schemas.openxmlformats.org/drawingml/2006/table">
            <a:tbl>
              <a:tblPr>
                <a:noFill/>
                <a:tableStyleId>{14E1D6EF-ECBA-4C4B-BCB1-3924D4342354}</a:tableStyleId>
              </a:tblPr>
              <a:tblGrid>
                <a:gridCol w="5504688">
                  <a:extLst>
                    <a:ext uri="{9D8B030D-6E8A-4147-A177-3AD203B41FA5}">
                      <a16:colId xmlns:a16="http://schemas.microsoft.com/office/drawing/2014/main" val="20000"/>
                    </a:ext>
                  </a:extLst>
                </a:gridCol>
                <a:gridCol w="5504688">
                  <a:extLst>
                    <a:ext uri="{9D8B030D-6E8A-4147-A177-3AD203B41FA5}">
                      <a16:colId xmlns:a16="http://schemas.microsoft.com/office/drawing/2014/main" val="20001"/>
                    </a:ext>
                  </a:extLst>
                </a:gridCol>
              </a:tblGrid>
              <a:tr h="1085575">
                <a:tc>
                  <a:txBody>
                    <a:bodyPr/>
                    <a:lstStyle/>
                    <a:p>
                      <a:pPr marL="0" marR="0" lvl="0" indent="0" algn="l" rtl="0">
                        <a:spcBef>
                          <a:spcPts val="0"/>
                        </a:spcBef>
                        <a:spcAft>
                          <a:spcPts val="0"/>
                        </a:spcAft>
                        <a:buNone/>
                      </a:pPr>
                      <a:r>
                        <a:rPr lang="en-US" sz="1600" b="0" u="none" strike="noStrike" cap="none" dirty="0"/>
                        <a:t>Centralized databases are used as databases for a really long time and have a good performance record, but are slow for certain functionalities.</a:t>
                      </a:r>
                      <a:endParaRPr dirty="0"/>
                    </a:p>
                  </a:txBody>
                  <a:tcPr marL="76200" marR="76200" marT="106675" marB="1066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u="none" strike="noStrike" cap="none" dirty="0"/>
                        <a:t>Blockchain is ideal for transaction platform but it slows down when used as databases, specially with large collection of data.</a:t>
                      </a:r>
                      <a:endParaRPr dirty="0"/>
                    </a:p>
                  </a:txBody>
                  <a:tcPr marL="76200" marR="76200" marT="106675" marB="1066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g2ea5dc11d67_0_0"/>
          <p:cNvSpPr txBox="1">
            <a:spLocks noGrp="1"/>
          </p:cNvSpPr>
          <p:nvPr>
            <p:ph type="title"/>
          </p:nvPr>
        </p:nvSpPr>
        <p:spPr>
          <a:xfrm>
            <a:off x="1143762" y="426720"/>
            <a:ext cx="3931920" cy="173736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What is Crypto currency</a:t>
            </a:r>
            <a:endParaRPr dirty="0"/>
          </a:p>
        </p:txBody>
      </p:sp>
      <p:sp>
        <p:nvSpPr>
          <p:cNvPr id="295" name="Google Shape;295;g2ea5dc11d67_0_0"/>
          <p:cNvSpPr txBox="1">
            <a:spLocks noGrp="1"/>
          </p:cNvSpPr>
          <p:nvPr>
            <p:ph type="body" sz="half" idx="2"/>
          </p:nvPr>
        </p:nvSpPr>
        <p:spPr>
          <a:xfrm>
            <a:off x="475488" y="1965960"/>
            <a:ext cx="7961376" cy="4465320"/>
          </a:xfrm>
          <a:prstGeom prst="rect">
            <a:avLst/>
          </a:prstGeom>
        </p:spPr>
        <p:txBody>
          <a:bodyPr spcFirstLastPara="1" wrap="square" lIns="91425" tIns="45700" rIns="91425" bIns="45700" anchor="t" anchorCtr="0">
            <a:noAutofit/>
          </a:bodyPr>
          <a:lstStyle/>
          <a:p>
            <a:pPr marL="0" lvl="0" indent="0" algn="just" rtl="0">
              <a:lnSpc>
                <a:spcPct val="160000"/>
              </a:lnSpc>
              <a:spcBef>
                <a:spcPts val="0"/>
              </a:spcBef>
              <a:spcAft>
                <a:spcPts val="0"/>
              </a:spcAft>
              <a:buClr>
                <a:schemeClr val="dk1"/>
              </a:buClr>
              <a:buFont typeface="Arial"/>
              <a:buNone/>
            </a:pPr>
            <a:r>
              <a:rPr lang="en-US" sz="2000" dirty="0">
                <a:solidFill>
                  <a:srgbClr val="273239"/>
                </a:solidFill>
                <a:latin typeface="Times New Roman" panose="02020603050405020304" pitchFamily="18" charset="0"/>
                <a:ea typeface="Times New Roman"/>
                <a:cs typeface="Times New Roman" panose="02020603050405020304" pitchFamily="18" charset="0"/>
                <a:sym typeface="Times New Roman"/>
              </a:rPr>
              <a:t>Cryptocurrency is a digital payment system that does not rely on banks to verify transactions. </a:t>
            </a:r>
          </a:p>
          <a:p>
            <a:pPr marL="0" lvl="0" indent="0" algn="just" rtl="0">
              <a:lnSpc>
                <a:spcPct val="160000"/>
              </a:lnSpc>
              <a:spcBef>
                <a:spcPts val="0"/>
              </a:spcBef>
              <a:spcAft>
                <a:spcPts val="0"/>
              </a:spcAft>
              <a:buClr>
                <a:schemeClr val="dk1"/>
              </a:buClr>
              <a:buFont typeface="Arial"/>
              <a:buNone/>
            </a:pPr>
            <a:r>
              <a:rPr lang="en-US" sz="2000" dirty="0">
                <a:solidFill>
                  <a:srgbClr val="273239"/>
                </a:solidFill>
                <a:latin typeface="Times New Roman" panose="02020603050405020304" pitchFamily="18" charset="0"/>
                <a:ea typeface="Times New Roman"/>
                <a:cs typeface="Times New Roman" panose="02020603050405020304" pitchFamily="18" charset="0"/>
                <a:sym typeface="Times New Roman"/>
              </a:rPr>
              <a:t>Cryptocurrency payments exist purely as digital entries to an online database. When cryptocurrency funds are transferred, the transactions are recorded in a public ledger. </a:t>
            </a:r>
            <a:endParaRPr sz="2000" dirty="0">
              <a:latin typeface="Times New Roman" panose="02020603050405020304" pitchFamily="18" charset="0"/>
              <a:ea typeface="Arial"/>
              <a:cs typeface="Times New Roman" panose="02020603050405020304" pitchFamily="18" charset="0"/>
              <a:sym typeface="Arial"/>
            </a:endParaRPr>
          </a:p>
          <a:p>
            <a:pPr marL="0" lvl="0" indent="0" algn="just" rtl="0">
              <a:lnSpc>
                <a:spcPct val="160000"/>
              </a:lnSpc>
              <a:spcBef>
                <a:spcPts val="0"/>
              </a:spcBef>
              <a:spcAft>
                <a:spcPts val="0"/>
              </a:spcAft>
              <a:buClr>
                <a:srgbClr val="273239"/>
              </a:buClr>
              <a:buSzPct val="100000"/>
              <a:buNone/>
            </a:pPr>
            <a:r>
              <a:rPr lang="en-US" sz="2000" dirty="0">
                <a:solidFill>
                  <a:srgbClr val="273239"/>
                </a:solidFill>
                <a:latin typeface="Times New Roman" panose="02020603050405020304" pitchFamily="18" charset="0"/>
                <a:ea typeface="Times New Roman"/>
                <a:cs typeface="Times New Roman" panose="02020603050405020304" pitchFamily="18" charset="0"/>
                <a:sym typeface="Times New Roman"/>
              </a:rPr>
              <a:t>In cryptocurrency, “coins” (which are publicly agreed on records of ownership) are generated or produced by “miners”.</a:t>
            </a:r>
            <a:endParaRPr sz="2000" dirty="0">
              <a:latin typeface="Times New Roman" panose="02020603050405020304" pitchFamily="18" charset="0"/>
              <a:cs typeface="Times New Roman" panose="02020603050405020304" pitchFamily="18" charset="0"/>
            </a:endParaRPr>
          </a:p>
        </p:txBody>
      </p:sp>
      <p:pic>
        <p:nvPicPr>
          <p:cNvPr id="1026" name="Picture 2" descr="What Are Cryptocurrencies? | CoinMarketCap">
            <a:extLst>
              <a:ext uri="{FF2B5EF4-FFF2-40B4-BE49-F238E27FC236}">
                <a16:creationId xmlns:a16="http://schemas.microsoft.com/office/drawing/2014/main" id="{68FBFEA8-A936-6CE4-600C-27F6A5CE53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66988" y="392430"/>
            <a:ext cx="3147060" cy="31470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3802A8-6B2F-6100-F167-7189DE5DBCEF}"/>
              </a:ext>
            </a:extLst>
          </p:cNvPr>
          <p:cNvSpPr>
            <a:spLocks noGrp="1"/>
          </p:cNvSpPr>
          <p:nvPr>
            <p:ph idx="1"/>
          </p:nvPr>
        </p:nvSpPr>
        <p:spPr>
          <a:xfrm>
            <a:off x="499872" y="890016"/>
            <a:ext cx="11180064" cy="5205984"/>
          </a:xfrm>
        </p:spPr>
        <p:txBody>
          <a:bodyPr>
            <a:noAutofit/>
          </a:bodyPr>
          <a:lstStyle/>
          <a:p>
            <a:pPr marL="0" lvl="0" indent="-117475" algn="l" rtl="0">
              <a:lnSpc>
                <a:spcPct val="160000"/>
              </a:lnSpc>
              <a:spcBef>
                <a:spcPts val="0"/>
              </a:spcBef>
              <a:spcAft>
                <a:spcPts val="0"/>
              </a:spcAft>
              <a:buClr>
                <a:srgbClr val="273239"/>
              </a:buClr>
              <a:buSzPct val="100000"/>
              <a:buChar char="•"/>
            </a:pPr>
            <a:r>
              <a:rPr lang="en-US" sz="2400" dirty="0">
                <a:solidFill>
                  <a:srgbClr val="273239"/>
                </a:solidFill>
                <a:latin typeface="Times New Roman" panose="02020603050405020304" pitchFamily="18" charset="0"/>
                <a:ea typeface="Times New Roman"/>
                <a:cs typeface="Times New Roman" panose="02020603050405020304" pitchFamily="18" charset="0"/>
                <a:sym typeface="Times New Roman"/>
              </a:rPr>
              <a:t>These miners are people who run programs on ASIC (Application Specific Integrated Circuit) devices made specifically to solve proof-of-work puzzles. </a:t>
            </a:r>
            <a:endParaRPr lang="en-US" sz="2400" dirty="0">
              <a:latin typeface="Times New Roman" panose="02020603050405020304" pitchFamily="18" charset="0"/>
              <a:ea typeface="Arial"/>
              <a:cs typeface="Times New Roman" panose="02020603050405020304" pitchFamily="18" charset="0"/>
              <a:sym typeface="Arial"/>
            </a:endParaRPr>
          </a:p>
          <a:p>
            <a:pPr marL="0" lvl="0" indent="0" algn="l" rtl="0">
              <a:lnSpc>
                <a:spcPct val="160000"/>
              </a:lnSpc>
              <a:spcBef>
                <a:spcPts val="0"/>
              </a:spcBef>
              <a:spcAft>
                <a:spcPts val="0"/>
              </a:spcAft>
              <a:buClr>
                <a:schemeClr val="dk1"/>
              </a:buClr>
              <a:buSzPct val="100000"/>
              <a:buFont typeface="Arial"/>
              <a:buNone/>
            </a:pPr>
            <a:endParaRPr lang="en-US" sz="2400" dirty="0">
              <a:solidFill>
                <a:srgbClr val="273239"/>
              </a:solidFill>
              <a:latin typeface="Times New Roman" panose="02020603050405020304" pitchFamily="18" charset="0"/>
              <a:ea typeface="Times New Roman"/>
              <a:cs typeface="Times New Roman" panose="02020603050405020304" pitchFamily="18" charset="0"/>
              <a:sym typeface="Times New Roman"/>
            </a:endParaRPr>
          </a:p>
          <a:p>
            <a:pPr marL="0" lvl="0" indent="-117475" algn="l" rtl="0">
              <a:lnSpc>
                <a:spcPct val="160000"/>
              </a:lnSpc>
              <a:spcBef>
                <a:spcPts val="0"/>
              </a:spcBef>
              <a:spcAft>
                <a:spcPts val="0"/>
              </a:spcAft>
              <a:buClr>
                <a:srgbClr val="273239"/>
              </a:buClr>
              <a:buSzPct val="100000"/>
              <a:buChar char="•"/>
            </a:pPr>
            <a:r>
              <a:rPr lang="en-US" sz="2400" dirty="0">
                <a:solidFill>
                  <a:srgbClr val="273239"/>
                </a:solidFill>
                <a:latin typeface="Times New Roman" panose="02020603050405020304" pitchFamily="18" charset="0"/>
                <a:ea typeface="Times New Roman"/>
                <a:cs typeface="Times New Roman" panose="02020603050405020304" pitchFamily="18" charset="0"/>
                <a:sym typeface="Times New Roman"/>
              </a:rPr>
              <a:t>The work behind mining coins gives them value, while the scarcity of coins and demand for them causes their value to fluctuate. </a:t>
            </a:r>
            <a:endParaRPr lang="en-US" sz="2400" dirty="0">
              <a:latin typeface="Times New Roman" panose="02020603050405020304" pitchFamily="18" charset="0"/>
              <a:ea typeface="Arial"/>
              <a:cs typeface="Times New Roman" panose="02020603050405020304" pitchFamily="18" charset="0"/>
              <a:sym typeface="Arial"/>
            </a:endParaRPr>
          </a:p>
          <a:p>
            <a:pPr marL="45720" indent="0">
              <a:buNone/>
            </a:pPr>
            <a:endParaRPr lang="en-IN" sz="2400" dirty="0"/>
          </a:p>
        </p:txBody>
      </p:sp>
    </p:spTree>
    <p:extLst>
      <p:ext uri="{BB962C8B-B14F-4D97-AF65-F5344CB8AC3E}">
        <p14:creationId xmlns:p14="http://schemas.microsoft.com/office/powerpoint/2010/main" val="15634717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4C51DDC-233C-0370-2217-4478FF464ABA}"/>
              </a:ext>
            </a:extLst>
          </p:cNvPr>
          <p:cNvSpPr>
            <a:spLocks noGrp="1"/>
          </p:cNvSpPr>
          <p:nvPr>
            <p:ph idx="1"/>
          </p:nvPr>
        </p:nvSpPr>
        <p:spPr>
          <a:xfrm>
            <a:off x="499872" y="780288"/>
            <a:ext cx="11082528" cy="5315712"/>
          </a:xfrm>
        </p:spPr>
        <p:txBody>
          <a:bodyPr>
            <a:normAutofit/>
          </a:bodyPr>
          <a:lstStyle/>
          <a:p>
            <a:pPr marL="0" lvl="0" indent="0" algn="just" rtl="0">
              <a:lnSpc>
                <a:spcPct val="150000"/>
              </a:lnSpc>
              <a:spcBef>
                <a:spcPts val="0"/>
              </a:spcBef>
              <a:spcAft>
                <a:spcPts val="0"/>
              </a:spcAft>
              <a:buClr>
                <a:srgbClr val="273239"/>
              </a:buClr>
              <a:buSzPct val="100000"/>
              <a:buNone/>
            </a:pPr>
            <a:r>
              <a:rPr lang="en-US" sz="2800" dirty="0">
                <a:solidFill>
                  <a:srgbClr val="273239"/>
                </a:solidFill>
                <a:latin typeface="Times New Roman" panose="02020603050405020304" pitchFamily="18" charset="0"/>
                <a:ea typeface="Times New Roman"/>
                <a:cs typeface="Times New Roman" panose="02020603050405020304" pitchFamily="18" charset="0"/>
                <a:sym typeface="Times New Roman"/>
              </a:rPr>
              <a:t>Cryptocurrencies can be used for buying goods just like fiat currency.</a:t>
            </a:r>
            <a:endParaRPr lang="en-US" sz="2800" dirty="0">
              <a:latin typeface="Times New Roman" panose="02020603050405020304" pitchFamily="18" charset="0"/>
              <a:ea typeface="Arial"/>
              <a:cs typeface="Times New Roman" panose="02020603050405020304" pitchFamily="18" charset="0"/>
              <a:sym typeface="Arial"/>
            </a:endParaRPr>
          </a:p>
          <a:p>
            <a:pPr marL="0" lvl="0" indent="0" algn="just" rtl="0">
              <a:lnSpc>
                <a:spcPct val="150000"/>
              </a:lnSpc>
              <a:spcBef>
                <a:spcPts val="0"/>
              </a:spcBef>
              <a:spcAft>
                <a:spcPts val="0"/>
              </a:spcAft>
              <a:buClr>
                <a:srgbClr val="273239"/>
              </a:buClr>
              <a:buSzPct val="100000"/>
              <a:buNone/>
            </a:pPr>
            <a:r>
              <a:rPr lang="en-US" sz="2800" dirty="0">
                <a:solidFill>
                  <a:srgbClr val="273239"/>
                </a:solidFill>
                <a:latin typeface="Times New Roman" panose="02020603050405020304" pitchFamily="18" charset="0"/>
                <a:ea typeface="Times New Roman"/>
                <a:cs typeface="Times New Roman" panose="02020603050405020304" pitchFamily="18" charset="0"/>
                <a:sym typeface="Times New Roman"/>
              </a:rPr>
              <a:t>Cryptocurrencies use encryption to verify and protect transactions.</a:t>
            </a:r>
            <a:endParaRPr lang="en-US" sz="2800" dirty="0">
              <a:latin typeface="Times New Roman" panose="02020603050405020304" pitchFamily="18" charset="0"/>
              <a:ea typeface="Arial"/>
              <a:cs typeface="Times New Roman" panose="02020603050405020304" pitchFamily="18" charset="0"/>
              <a:sym typeface="Arial"/>
            </a:endParaRPr>
          </a:p>
          <a:p>
            <a:pPr marL="45720" indent="0" algn="just" fontAlgn="base">
              <a:lnSpc>
                <a:spcPct val="150000"/>
              </a:lnSpc>
              <a:buNone/>
            </a:pPr>
            <a:r>
              <a:rPr lang="en-US" sz="2800" b="0" i="0" dirty="0">
                <a:solidFill>
                  <a:srgbClr val="273239"/>
                </a:solidFill>
                <a:effectLst/>
                <a:latin typeface="Times New Roman" panose="02020603050405020304" pitchFamily="18" charset="0"/>
                <a:cs typeface="Times New Roman" panose="02020603050405020304" pitchFamily="18" charset="0"/>
              </a:rPr>
              <a:t>It does not exist in physical form and is not typically issued by any central authority.</a:t>
            </a:r>
          </a:p>
          <a:p>
            <a:pPr marL="45720" indent="0" algn="just" fontAlgn="base">
              <a:lnSpc>
                <a:spcPct val="150000"/>
              </a:lnSpc>
              <a:buNone/>
            </a:pPr>
            <a:r>
              <a:rPr lang="en-US" sz="2800" b="0" i="0" dirty="0">
                <a:solidFill>
                  <a:srgbClr val="273239"/>
                </a:solidFill>
                <a:effectLst/>
                <a:latin typeface="Times New Roman" panose="02020603050405020304" pitchFamily="18" charset="0"/>
                <a:cs typeface="Times New Roman" panose="02020603050405020304" pitchFamily="18" charset="0"/>
              </a:rPr>
              <a:t>They use decentralized control in contrast to central bank digital currency.</a:t>
            </a:r>
          </a:p>
          <a:p>
            <a:pPr marL="114300" indent="0" algn="just">
              <a:lnSpc>
                <a:spcPct val="150000"/>
              </a:lnSpc>
              <a:buNone/>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86434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1A913-2A02-B97E-D292-6FF060CCB075}"/>
              </a:ext>
            </a:extLst>
          </p:cNvPr>
          <p:cNvSpPr>
            <a:spLocks noGrp="1"/>
          </p:cNvSpPr>
          <p:nvPr>
            <p:ph type="title"/>
          </p:nvPr>
        </p:nvSpPr>
        <p:spPr>
          <a:xfrm>
            <a:off x="499872" y="731520"/>
            <a:ext cx="5815584" cy="1737360"/>
          </a:xfrm>
        </p:spPr>
        <p:txBody>
          <a:bodyPr>
            <a:normAutofit fontScale="90000"/>
          </a:bodyPr>
          <a:lstStyle/>
          <a:p>
            <a:pPr algn="ctr"/>
            <a:r>
              <a:rPr lang="en-US" sz="4400" b="1" i="0" dirty="0">
                <a:solidFill>
                  <a:srgbClr val="273239"/>
                </a:solidFill>
                <a:effectLst/>
                <a:latin typeface="Times New Roman" panose="02020603050405020304" pitchFamily="18" charset="0"/>
                <a:cs typeface="Times New Roman" panose="02020603050405020304" pitchFamily="18" charset="0"/>
              </a:rPr>
              <a:t>Cryptocurrency Working vs Fiat Currency Working</a:t>
            </a:r>
            <a:endParaRPr lang="en-IN" dirty="0"/>
          </a:p>
        </p:txBody>
      </p:sp>
      <p:sp>
        <p:nvSpPr>
          <p:cNvPr id="3" name="Text Placeholder 2">
            <a:extLst>
              <a:ext uri="{FF2B5EF4-FFF2-40B4-BE49-F238E27FC236}">
                <a16:creationId xmlns:a16="http://schemas.microsoft.com/office/drawing/2014/main" id="{4C991615-06EB-A65A-A367-D2E24EE8E190}"/>
              </a:ext>
            </a:extLst>
          </p:cNvPr>
          <p:cNvSpPr>
            <a:spLocks noGrp="1"/>
          </p:cNvSpPr>
          <p:nvPr>
            <p:ph type="body" sz="half" idx="2"/>
          </p:nvPr>
        </p:nvSpPr>
        <p:spPr>
          <a:xfrm>
            <a:off x="499872" y="3246120"/>
            <a:ext cx="6851904" cy="2880360"/>
          </a:xfrm>
        </p:spPr>
        <p:txBody>
          <a:bodyPr>
            <a:normAutofit fontScale="92500"/>
          </a:bodyPr>
          <a:lstStyle/>
          <a:p>
            <a:pPr marL="45720" indent="0">
              <a:lnSpc>
                <a:spcPct val="150000"/>
              </a:lnSpc>
              <a:buNone/>
            </a:pPr>
            <a:r>
              <a:rPr lang="en-US" sz="2800" b="0" i="0" dirty="0">
                <a:solidFill>
                  <a:schemeClr val="tx1"/>
                </a:solidFill>
                <a:effectLst/>
                <a:latin typeface="Times New Roman" panose="02020603050405020304" pitchFamily="18" charset="0"/>
                <a:cs typeface="Times New Roman" panose="02020603050405020304" pitchFamily="18" charset="0"/>
              </a:rPr>
              <a:t>There are two things that make cryptocurrency working and fiat currency working different: </a:t>
            </a:r>
          </a:p>
          <a:p>
            <a:pPr marL="45720" indent="0">
              <a:lnSpc>
                <a:spcPct val="150000"/>
              </a:lnSpc>
              <a:buNone/>
            </a:pPr>
            <a:r>
              <a:rPr lang="en-US" sz="2800" dirty="0">
                <a:solidFill>
                  <a:schemeClr val="tx1"/>
                </a:solidFill>
                <a:latin typeface="Times New Roman" panose="02020603050405020304" pitchFamily="18" charset="0"/>
                <a:cs typeface="Times New Roman" panose="02020603050405020304" pitchFamily="18" charset="0"/>
              </a:rPr>
              <a:t>	</a:t>
            </a:r>
            <a:r>
              <a:rPr lang="en-US" sz="2800" b="0" i="0" dirty="0">
                <a:solidFill>
                  <a:schemeClr val="tx1"/>
                </a:solidFill>
                <a:effectLst/>
                <a:latin typeface="Times New Roman" panose="02020603050405020304" pitchFamily="18" charset="0"/>
                <a:cs typeface="Times New Roman" panose="02020603050405020304" pitchFamily="18" charset="0"/>
              </a:rPr>
              <a:t>Transactions and the </a:t>
            </a:r>
            <a:r>
              <a:rPr lang="en-US" sz="2800" b="0" i="0" u="sng" dirty="0">
                <a:solidFill>
                  <a:schemeClr val="tx1"/>
                </a:solidFill>
                <a:effectLst/>
                <a:latin typeface="Times New Roman" panose="02020603050405020304" pitchFamily="18" charset="0"/>
                <a:cs typeface="Times New Roman" panose="02020603050405020304" pitchFamily="18" charset="0"/>
              </a:rPr>
              <a:t>Consensus protocol</a:t>
            </a:r>
            <a:r>
              <a:rPr lang="en-US" sz="2800" b="0" i="0" dirty="0">
                <a:solidFill>
                  <a:schemeClr val="tx1"/>
                </a:solidFill>
                <a:effectLst/>
                <a:latin typeface="Times New Roman" panose="02020603050405020304" pitchFamily="18" charset="0"/>
                <a:cs typeface="Times New Roman" panose="02020603050405020304" pitchFamily="18" charset="0"/>
              </a:rPr>
              <a:t>.</a:t>
            </a:r>
            <a:endParaRPr lang="en-US" sz="2800" dirty="0">
              <a:solidFill>
                <a:schemeClr val="tx1"/>
              </a:solidFill>
              <a:latin typeface="Times New Roman" panose="02020603050405020304" pitchFamily="18" charset="0"/>
              <a:cs typeface="Times New Roman" panose="02020603050405020304" pitchFamily="18" charset="0"/>
            </a:endParaRPr>
          </a:p>
          <a:p>
            <a:pPr marL="457200" indent="-342900">
              <a:lnSpc>
                <a:spcPct val="150000"/>
              </a:lnSpc>
            </a:pPr>
            <a:endParaRPr lang="en-IN" sz="28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AE2A3FC-CB0C-E93A-FBE8-2423777BCD96}"/>
              </a:ext>
            </a:extLst>
          </p:cNvPr>
          <p:cNvPicPr>
            <a:picLocks noChangeAspect="1"/>
          </p:cNvPicPr>
          <p:nvPr/>
        </p:nvPicPr>
        <p:blipFill rotWithShape="1">
          <a:blip r:embed="rId2"/>
          <a:srcRect l="3951" t="12159" r="5490"/>
          <a:stretch/>
        </p:blipFill>
        <p:spPr>
          <a:xfrm>
            <a:off x="6559296" y="365760"/>
            <a:ext cx="5279136" cy="2880360"/>
          </a:xfrm>
          <a:prstGeom prst="rect">
            <a:avLst/>
          </a:prstGeom>
        </p:spPr>
      </p:pic>
    </p:spTree>
    <p:extLst>
      <p:ext uri="{BB962C8B-B14F-4D97-AF65-F5344CB8AC3E}">
        <p14:creationId xmlns:p14="http://schemas.microsoft.com/office/powerpoint/2010/main" val="41911935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F3E1412-AF60-0ABD-D9B7-43AF81539EDD}"/>
              </a:ext>
            </a:extLst>
          </p:cNvPr>
          <p:cNvSpPr>
            <a:spLocks noGrp="1"/>
          </p:cNvSpPr>
          <p:nvPr>
            <p:ph idx="1"/>
          </p:nvPr>
        </p:nvSpPr>
        <p:spPr>
          <a:xfrm>
            <a:off x="435864" y="362712"/>
            <a:ext cx="11109960" cy="5099304"/>
          </a:xfrm>
        </p:spPr>
        <p:txBody>
          <a:bodyPr>
            <a:normAutofit/>
          </a:bodyPr>
          <a:lstStyle/>
          <a:p>
            <a:pPr marL="45720" indent="0" algn="just">
              <a:lnSpc>
                <a:spcPct val="150000"/>
              </a:lnSpc>
              <a:buNone/>
            </a:pPr>
            <a:r>
              <a:rPr lang="en-US" sz="2800" dirty="0">
                <a:solidFill>
                  <a:schemeClr val="tx1"/>
                </a:solidFill>
                <a:latin typeface="Times New Roman" panose="02020603050405020304" pitchFamily="18" charset="0"/>
                <a:cs typeface="Times New Roman" panose="02020603050405020304" pitchFamily="18" charset="0"/>
              </a:rPr>
              <a:t>Fiat currency is the traditional money issued by governments. It is not backed by a physical commodity (like gold or silver) but rather by the government that issued it.</a:t>
            </a:r>
          </a:p>
          <a:p>
            <a:pPr marL="45720" indent="0" algn="just">
              <a:lnSpc>
                <a:spcPct val="150000"/>
              </a:lnSpc>
              <a:buNone/>
            </a:pPr>
            <a:r>
              <a:rPr lang="en-US" sz="2800" b="1" dirty="0">
                <a:solidFill>
                  <a:schemeClr val="tx1"/>
                </a:solidFill>
                <a:latin typeface="Times New Roman" panose="02020603050405020304" pitchFamily="18" charset="0"/>
                <a:cs typeface="Times New Roman" panose="02020603050405020304" pitchFamily="18" charset="0"/>
              </a:rPr>
              <a:t>Example:</a:t>
            </a:r>
            <a:r>
              <a:rPr lang="en-US" sz="2800" dirty="0">
                <a:solidFill>
                  <a:schemeClr val="tx1"/>
                </a:solidFill>
                <a:latin typeface="Times New Roman" panose="02020603050405020304" pitchFamily="18" charset="0"/>
                <a:cs typeface="Times New Roman" panose="02020603050405020304" pitchFamily="18" charset="0"/>
              </a:rPr>
              <a:t> US Dollar (USD)</a:t>
            </a:r>
          </a:p>
          <a:p>
            <a:pPr marL="45720" indent="0" algn="just">
              <a:lnSpc>
                <a:spcPct val="150000"/>
              </a:lnSpc>
              <a:buNone/>
            </a:pPr>
            <a:r>
              <a:rPr lang="en-US" sz="2800" b="1" dirty="0">
                <a:solidFill>
                  <a:schemeClr val="tx1"/>
                </a:solidFill>
                <a:latin typeface="Times New Roman" panose="02020603050405020304" pitchFamily="18" charset="0"/>
                <a:cs typeface="Times New Roman" panose="02020603050405020304" pitchFamily="18" charset="0"/>
              </a:rPr>
              <a:t>Buying Coffee:</a:t>
            </a:r>
            <a:r>
              <a:rPr lang="en-US" sz="2800" dirty="0">
                <a:solidFill>
                  <a:schemeClr val="tx1"/>
                </a:solidFill>
                <a:latin typeface="Times New Roman" panose="02020603050405020304" pitchFamily="18" charset="0"/>
                <a:cs typeface="Times New Roman" panose="02020603050405020304" pitchFamily="18" charset="0"/>
              </a:rPr>
              <a:t> You go to a coffee shop in the U.S. and pay $5 for a cup of coffee using a $5 bill or a credit card linked to your bank account.</a:t>
            </a:r>
          </a:p>
          <a:p>
            <a:pPr marL="114300" indent="0" algn="just">
              <a:lnSpc>
                <a:spcPct val="150000"/>
              </a:lnSpc>
              <a:buNone/>
            </a:pPr>
            <a:endParaRPr lang="en-IN" sz="2800" dirty="0">
              <a:solidFill>
                <a:schemeClr val="tx1"/>
              </a:solidFill>
              <a:latin typeface="Times New Roman" panose="02020603050405020304" pitchFamily="18" charset="0"/>
              <a:cs typeface="Times New Roman" panose="02020603050405020304" pitchFamily="18" charset="0"/>
            </a:endParaRPr>
          </a:p>
        </p:txBody>
      </p:sp>
      <p:pic>
        <p:nvPicPr>
          <p:cNvPr id="3074" name="Picture 2" descr="Why I Waited 5 Years To Open A New Credit Card">
            <a:extLst>
              <a:ext uri="{FF2B5EF4-FFF2-40B4-BE49-F238E27FC236}">
                <a16:creationId xmlns:a16="http://schemas.microsoft.com/office/drawing/2014/main" id="{3DA0720C-2FB3-5761-350C-9F46F330A9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8586" y="4671060"/>
            <a:ext cx="3257550" cy="18242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02152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5FE354B-2E03-5F5F-00CE-E1DADE13471E}"/>
              </a:ext>
            </a:extLst>
          </p:cNvPr>
          <p:cNvSpPr>
            <a:spLocks noGrp="1"/>
          </p:cNvSpPr>
          <p:nvPr>
            <p:ph idx="1"/>
          </p:nvPr>
        </p:nvSpPr>
        <p:spPr>
          <a:xfrm>
            <a:off x="463296" y="548640"/>
            <a:ext cx="11350752" cy="5547360"/>
          </a:xfrm>
        </p:spPr>
        <p:txBody>
          <a:bodyPr>
            <a:normAutofit/>
          </a:bodyPr>
          <a:lstStyle/>
          <a:p>
            <a:pPr marL="45720" indent="0" algn="just">
              <a:lnSpc>
                <a:spcPct val="150000"/>
              </a:lnSpc>
              <a:buNone/>
            </a:pPr>
            <a:r>
              <a:rPr lang="en-US" dirty="0">
                <a:solidFill>
                  <a:schemeClr val="tx1"/>
                </a:solidFill>
                <a:latin typeface="Times New Roman" panose="02020603050405020304" pitchFamily="18" charset="0"/>
                <a:cs typeface="Times New Roman" panose="02020603050405020304" pitchFamily="18" charset="0"/>
              </a:rPr>
              <a:t>Cryptocurrency is a digital or virtual currency that uses cryptography for security and operates independently of a central authority or government.</a:t>
            </a:r>
          </a:p>
          <a:p>
            <a:pPr marL="45720" indent="0" algn="just">
              <a:lnSpc>
                <a:spcPct val="150000"/>
              </a:lnSpc>
              <a:buNone/>
            </a:pPr>
            <a:r>
              <a:rPr lang="en-US" b="1" dirty="0">
                <a:solidFill>
                  <a:schemeClr val="tx1"/>
                </a:solidFill>
                <a:latin typeface="Times New Roman" panose="02020603050405020304" pitchFamily="18" charset="0"/>
                <a:cs typeface="Times New Roman" panose="02020603050405020304" pitchFamily="18" charset="0"/>
              </a:rPr>
              <a:t>Example:</a:t>
            </a:r>
            <a:r>
              <a:rPr lang="en-US" dirty="0">
                <a:solidFill>
                  <a:schemeClr val="tx1"/>
                </a:solidFill>
                <a:latin typeface="Times New Roman" panose="02020603050405020304" pitchFamily="18" charset="0"/>
                <a:cs typeface="Times New Roman" panose="02020603050405020304" pitchFamily="18" charset="0"/>
              </a:rPr>
              <a:t> Bitcoin (BTC)</a:t>
            </a:r>
          </a:p>
          <a:p>
            <a:pPr marL="45720" indent="0" algn="just">
              <a:lnSpc>
                <a:spcPct val="150000"/>
              </a:lnSpc>
              <a:buNone/>
            </a:pPr>
            <a:endParaRPr lang="en-US" dirty="0">
              <a:solidFill>
                <a:schemeClr val="tx1"/>
              </a:solidFill>
              <a:latin typeface="Times New Roman" panose="02020603050405020304" pitchFamily="18" charset="0"/>
              <a:cs typeface="Times New Roman" panose="02020603050405020304" pitchFamily="18" charset="0"/>
            </a:endParaRPr>
          </a:p>
          <a:p>
            <a:pPr marL="114300" indent="0" algn="just">
              <a:lnSpc>
                <a:spcPct val="150000"/>
              </a:lnSpc>
              <a:buNone/>
            </a:pPr>
            <a:r>
              <a:rPr lang="en-US" b="1" dirty="0">
                <a:solidFill>
                  <a:schemeClr val="tx1"/>
                </a:solidFill>
                <a:latin typeface="Times New Roman" panose="02020603050405020304" pitchFamily="18" charset="0"/>
                <a:cs typeface="Times New Roman" panose="02020603050405020304" pitchFamily="18" charset="0"/>
              </a:rPr>
              <a:t>Buying Coffee:</a:t>
            </a:r>
            <a:r>
              <a:rPr lang="en-US" dirty="0">
                <a:solidFill>
                  <a:schemeClr val="tx1"/>
                </a:solidFill>
                <a:latin typeface="Times New Roman" panose="02020603050405020304" pitchFamily="18" charset="0"/>
                <a:cs typeface="Times New Roman" panose="02020603050405020304" pitchFamily="18" charset="0"/>
              </a:rPr>
              <a:t> You go to a coffee shop that accepts Bitcoin and order a coffee priced at 0.0005 BTC (equivalent to $5, assuming 1 BTC = $10,000). You scan a QR code with your Bitcoin wallet app and transfer 0.0005 Bitcoin to the shop's wallet. The transaction is recorded on the blockchain.</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85453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65DD3-0E86-169D-5A5B-904FB4F5EDC3}"/>
              </a:ext>
            </a:extLst>
          </p:cNvPr>
          <p:cNvSpPr>
            <a:spLocks noGrp="1"/>
          </p:cNvSpPr>
          <p:nvPr>
            <p:ph type="title"/>
          </p:nvPr>
        </p:nvSpPr>
        <p:spPr/>
        <p:txBody>
          <a:bodyPr/>
          <a:lstStyle/>
          <a:p>
            <a:r>
              <a:rPr lang="en-IN" dirty="0"/>
              <a:t>Example 2</a:t>
            </a:r>
          </a:p>
        </p:txBody>
      </p:sp>
      <p:sp>
        <p:nvSpPr>
          <p:cNvPr id="3" name="Text Placeholder 2">
            <a:extLst>
              <a:ext uri="{FF2B5EF4-FFF2-40B4-BE49-F238E27FC236}">
                <a16:creationId xmlns:a16="http://schemas.microsoft.com/office/drawing/2014/main" id="{8B60F8F6-9308-0E19-B960-D095C9A1295D}"/>
              </a:ext>
            </a:extLst>
          </p:cNvPr>
          <p:cNvSpPr>
            <a:spLocks noGrp="1"/>
          </p:cNvSpPr>
          <p:nvPr>
            <p:ph idx="1"/>
          </p:nvPr>
        </p:nvSpPr>
        <p:spPr>
          <a:xfrm>
            <a:off x="463296" y="2057400"/>
            <a:ext cx="11228832" cy="4191000"/>
          </a:xfrm>
        </p:spPr>
        <p:txBody>
          <a:bodyPr>
            <a:normAutofit lnSpcReduction="10000"/>
          </a:bodyPr>
          <a:lstStyle/>
          <a:p>
            <a:pPr marL="114300" indent="0" algn="just">
              <a:lnSpc>
                <a:spcPct val="150000"/>
              </a:lnSpc>
              <a:buNone/>
            </a:pPr>
            <a:r>
              <a:rPr lang="en-US" b="1" dirty="0">
                <a:solidFill>
                  <a:schemeClr val="tx1"/>
                </a:solidFill>
                <a:latin typeface="Times New Roman" panose="02020603050405020304" pitchFamily="18" charset="0"/>
                <a:cs typeface="Times New Roman" panose="02020603050405020304" pitchFamily="18" charset="0"/>
              </a:rPr>
              <a:t>Buying a Car:</a:t>
            </a:r>
            <a:r>
              <a:rPr lang="en-US" dirty="0">
                <a:solidFill>
                  <a:schemeClr val="tx1"/>
                </a:solidFill>
                <a:latin typeface="Times New Roman" panose="02020603050405020304" pitchFamily="18" charset="0"/>
                <a:cs typeface="Times New Roman" panose="02020603050405020304" pitchFamily="18" charset="0"/>
              </a:rPr>
              <a:t> You decide to buy a car for $20,000. You can pay by writing a check, using a credit/debit card, or transferring the money from your bank account to the dealership’s account. The bank verifies you have enough funds and processes the transaction, updating your and the dealership’s account balances accordingly.</a:t>
            </a:r>
            <a:endParaRPr lang="en-IN" dirty="0">
              <a:solidFill>
                <a:schemeClr val="tx1"/>
              </a:solidFill>
              <a:latin typeface="Times New Roman" panose="02020603050405020304" pitchFamily="18" charset="0"/>
              <a:cs typeface="Times New Roman" panose="02020603050405020304" pitchFamily="18" charset="0"/>
            </a:endParaRPr>
          </a:p>
          <a:p>
            <a:pPr marL="114300" indent="0" algn="just">
              <a:lnSpc>
                <a:spcPct val="150000"/>
              </a:lnSpc>
              <a:buNone/>
            </a:pPr>
            <a:r>
              <a:rPr lang="en-US" b="1" dirty="0">
                <a:solidFill>
                  <a:schemeClr val="tx1"/>
                </a:solidFill>
                <a:latin typeface="Times New Roman" panose="02020603050405020304" pitchFamily="18" charset="0"/>
                <a:cs typeface="Times New Roman" panose="02020603050405020304" pitchFamily="18" charset="0"/>
              </a:rPr>
              <a:t>Buying a Car:</a:t>
            </a:r>
            <a:r>
              <a:rPr lang="en-US" dirty="0">
                <a:solidFill>
                  <a:schemeClr val="tx1"/>
                </a:solidFill>
                <a:latin typeface="Times New Roman" panose="02020603050405020304" pitchFamily="18" charset="0"/>
                <a:cs typeface="Times New Roman" panose="02020603050405020304" pitchFamily="18" charset="0"/>
              </a:rPr>
              <a:t> You decide to buy a car for 1 Bitcoin. You open your Bitcoin wallet app, enter the dealership’s wallet address, and send 1 Bitcoin. The transaction is broadcast to the Bitcoin network, verified by miners, and recorded on the blockchain. The dealership sees the confirmed transaction and hands you the keys to your new car.</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47820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08A746B-ACA8-13CF-C977-D59E4F753546}"/>
              </a:ext>
            </a:extLst>
          </p:cNvPr>
          <p:cNvSpPr>
            <a:spLocks noGrp="1"/>
          </p:cNvSpPr>
          <p:nvPr>
            <p:ph idx="1"/>
          </p:nvPr>
        </p:nvSpPr>
        <p:spPr>
          <a:xfrm>
            <a:off x="484632" y="1008888"/>
            <a:ext cx="11219688" cy="4038600"/>
          </a:xfrm>
        </p:spPr>
        <p:txBody>
          <a:bodyPr/>
          <a:lstStyle/>
          <a:p>
            <a:pPr marL="114300" indent="0">
              <a:lnSpc>
                <a:spcPct val="150000"/>
              </a:lnSpc>
              <a:buNone/>
            </a:pPr>
            <a:r>
              <a:rPr lang="en-US" dirty="0">
                <a:solidFill>
                  <a:schemeClr val="tx1"/>
                </a:solidFill>
                <a:latin typeface="Times New Roman" panose="02020603050405020304" pitchFamily="18" charset="0"/>
                <a:cs typeface="Times New Roman" panose="02020603050405020304" pitchFamily="18" charset="0"/>
              </a:rPr>
              <a:t>A </a:t>
            </a:r>
            <a:r>
              <a:rPr lang="en-US" b="1" dirty="0">
                <a:solidFill>
                  <a:schemeClr val="tx1"/>
                </a:solidFill>
                <a:latin typeface="Times New Roman" panose="02020603050405020304" pitchFamily="18" charset="0"/>
                <a:cs typeface="Times New Roman" panose="02020603050405020304" pitchFamily="18" charset="0"/>
              </a:rPr>
              <a:t>consensus protocol </a:t>
            </a:r>
            <a:r>
              <a:rPr lang="en-US" dirty="0">
                <a:solidFill>
                  <a:schemeClr val="tx1"/>
                </a:solidFill>
                <a:latin typeface="Times New Roman" panose="02020603050405020304" pitchFamily="18" charset="0"/>
                <a:cs typeface="Times New Roman" panose="02020603050405020304" pitchFamily="18" charset="0"/>
              </a:rPr>
              <a:t>is a mechanism used in distributed systems and blockchain networks to achieve agreement on a single data value among distributed processes or systems.</a:t>
            </a:r>
          </a:p>
          <a:p>
            <a:pPr marL="114300" indent="0">
              <a:lnSpc>
                <a:spcPct val="150000"/>
              </a:lnSpc>
              <a:buNone/>
            </a:pPr>
            <a:r>
              <a:rPr lang="en-IN" dirty="0">
                <a:solidFill>
                  <a:schemeClr val="tx1"/>
                </a:solidFill>
                <a:latin typeface="Times New Roman" panose="02020603050405020304" pitchFamily="18" charset="0"/>
                <a:cs typeface="Times New Roman" panose="02020603050405020304" pitchFamily="18" charset="0"/>
              </a:rPr>
              <a:t>Proof of Work (</a:t>
            </a:r>
            <a:r>
              <a:rPr lang="en-IN" dirty="0" err="1">
                <a:solidFill>
                  <a:schemeClr val="tx1"/>
                </a:solidFill>
                <a:latin typeface="Times New Roman" panose="02020603050405020304" pitchFamily="18" charset="0"/>
                <a:cs typeface="Times New Roman" panose="02020603050405020304" pitchFamily="18" charset="0"/>
              </a:rPr>
              <a:t>PoW</a:t>
            </a:r>
            <a:r>
              <a:rPr lang="en-IN" dirty="0">
                <a:solidFill>
                  <a:schemeClr val="tx1"/>
                </a:solidFill>
                <a:latin typeface="Times New Roman" panose="02020603050405020304" pitchFamily="18" charset="0"/>
                <a:cs typeface="Times New Roman" panose="02020603050405020304" pitchFamily="18" charset="0"/>
              </a:rPr>
              <a:t>):</a:t>
            </a:r>
            <a:r>
              <a:rPr lang="en-US" dirty="0">
                <a:solidFill>
                  <a:schemeClr val="tx1"/>
                </a:solidFill>
                <a:latin typeface="Times New Roman" panose="02020603050405020304" pitchFamily="18" charset="0"/>
                <a:cs typeface="Times New Roman" panose="02020603050405020304" pitchFamily="18" charset="0"/>
              </a:rPr>
              <a:t> </a:t>
            </a:r>
            <a:r>
              <a:rPr lang="en-IN" dirty="0">
                <a:solidFill>
                  <a:schemeClr val="tx1"/>
                </a:solidFill>
                <a:latin typeface="Times New Roman" panose="02020603050405020304" pitchFamily="18" charset="0"/>
                <a:cs typeface="Times New Roman" panose="02020603050405020304" pitchFamily="18" charset="0"/>
              </a:rPr>
              <a:t>Bitcoin</a:t>
            </a:r>
            <a:endParaRPr lang="en-US" dirty="0">
              <a:solidFill>
                <a:schemeClr val="tx1"/>
              </a:solidFill>
              <a:latin typeface="Times New Roman" panose="02020603050405020304" pitchFamily="18" charset="0"/>
              <a:cs typeface="Times New Roman" panose="02020603050405020304" pitchFamily="18" charset="0"/>
            </a:endParaRPr>
          </a:p>
          <a:p>
            <a:pPr marL="114300" indent="0">
              <a:lnSpc>
                <a:spcPct val="150000"/>
              </a:lnSpc>
              <a:buNone/>
            </a:pPr>
            <a:r>
              <a:rPr lang="en-IN" dirty="0">
                <a:solidFill>
                  <a:schemeClr val="tx1"/>
                </a:solidFill>
                <a:latin typeface="Times New Roman" panose="02020603050405020304" pitchFamily="18" charset="0"/>
                <a:cs typeface="Times New Roman" panose="02020603050405020304" pitchFamily="18" charset="0"/>
              </a:rPr>
              <a:t>Proof of Stake (</a:t>
            </a:r>
            <a:r>
              <a:rPr lang="en-IN" dirty="0" err="1">
                <a:solidFill>
                  <a:schemeClr val="tx1"/>
                </a:solidFill>
                <a:latin typeface="Times New Roman" panose="02020603050405020304" pitchFamily="18" charset="0"/>
                <a:cs typeface="Times New Roman" panose="02020603050405020304" pitchFamily="18" charset="0"/>
              </a:rPr>
              <a:t>PoS</a:t>
            </a:r>
            <a:r>
              <a:rPr lang="en-IN" dirty="0">
                <a:solidFill>
                  <a:schemeClr val="tx1"/>
                </a:solidFill>
                <a:latin typeface="Times New Roman" panose="02020603050405020304" pitchFamily="18" charset="0"/>
                <a:cs typeface="Times New Roman" panose="02020603050405020304" pitchFamily="18" charset="0"/>
              </a:rPr>
              <a:t>):Ethereum 2.0</a:t>
            </a:r>
          </a:p>
        </p:txBody>
      </p:sp>
    </p:spTree>
    <p:extLst>
      <p:ext uri="{BB962C8B-B14F-4D97-AF65-F5344CB8AC3E}">
        <p14:creationId xmlns:p14="http://schemas.microsoft.com/office/powerpoint/2010/main" val="8633550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C722A-064F-EAFD-D223-83B08250C568}"/>
              </a:ext>
            </a:extLst>
          </p:cNvPr>
          <p:cNvSpPr>
            <a:spLocks noGrp="1"/>
          </p:cNvSpPr>
          <p:nvPr>
            <p:ph type="title"/>
          </p:nvPr>
        </p:nvSpPr>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How Does Cryptocurrency Works?</a:t>
            </a:r>
            <a:endParaRPr lang="en-IN" dirty="0"/>
          </a:p>
        </p:txBody>
      </p:sp>
      <p:sp>
        <p:nvSpPr>
          <p:cNvPr id="3" name="Text Placeholder 2">
            <a:extLst>
              <a:ext uri="{FF2B5EF4-FFF2-40B4-BE49-F238E27FC236}">
                <a16:creationId xmlns:a16="http://schemas.microsoft.com/office/drawing/2014/main" id="{E7A3D531-6DCF-8988-A28C-1DE9FBA87C3C}"/>
              </a:ext>
            </a:extLst>
          </p:cNvPr>
          <p:cNvSpPr>
            <a:spLocks noGrp="1"/>
          </p:cNvSpPr>
          <p:nvPr>
            <p:ph idx="1"/>
          </p:nvPr>
        </p:nvSpPr>
        <p:spPr>
          <a:xfrm>
            <a:off x="451104" y="2057400"/>
            <a:ext cx="11216640" cy="4038600"/>
          </a:xfrm>
        </p:spPr>
        <p:txBody>
          <a:bodyPr>
            <a:normAutofit lnSpcReduction="10000"/>
          </a:bodyPr>
          <a:lstStyle/>
          <a:p>
            <a:pPr marL="45720" indent="0" algn="just" fontAlgn="base">
              <a:lnSpc>
                <a:spcPct val="160000"/>
              </a:lnSpc>
              <a:buNone/>
            </a:pPr>
            <a:r>
              <a:rPr lang="en-US" b="1" i="0" dirty="0">
                <a:solidFill>
                  <a:srgbClr val="273239"/>
                </a:solidFill>
                <a:effectLst/>
                <a:latin typeface="Times New Roman" panose="02020603050405020304" pitchFamily="18" charset="0"/>
                <a:cs typeface="Times New Roman" panose="02020603050405020304" pitchFamily="18" charset="0"/>
              </a:rPr>
              <a:t>Mining: </a:t>
            </a:r>
            <a:r>
              <a:rPr lang="en-US" b="0" i="0" dirty="0">
                <a:solidFill>
                  <a:srgbClr val="273239"/>
                </a:solidFill>
                <a:effectLst/>
                <a:latin typeface="Times New Roman" panose="02020603050405020304" pitchFamily="18" charset="0"/>
                <a:cs typeface="Times New Roman" panose="02020603050405020304" pitchFamily="18" charset="0"/>
              </a:rPr>
              <a:t>Cryptocurrencies are generated through the process called Mining. In this process, the miners are required to solve a mathematical puzzle over a specially equipped computer system to be rewarded with bitcoins in exchange.</a:t>
            </a:r>
          </a:p>
          <a:p>
            <a:pPr marL="45720" indent="0" algn="just" fontAlgn="base">
              <a:lnSpc>
                <a:spcPct val="160000"/>
              </a:lnSpc>
              <a:buNone/>
            </a:pPr>
            <a:r>
              <a:rPr lang="en-US" b="1" i="0" dirty="0">
                <a:solidFill>
                  <a:srgbClr val="273239"/>
                </a:solidFill>
                <a:effectLst/>
                <a:latin typeface="Times New Roman" panose="02020603050405020304" pitchFamily="18" charset="0"/>
                <a:cs typeface="Times New Roman" panose="02020603050405020304" pitchFamily="18" charset="0"/>
              </a:rPr>
              <a:t>Buying, selling, and storing: </a:t>
            </a:r>
            <a:r>
              <a:rPr lang="en-US" b="0" i="0" dirty="0">
                <a:solidFill>
                  <a:srgbClr val="273239"/>
                </a:solidFill>
                <a:effectLst/>
                <a:latin typeface="Times New Roman" panose="02020603050405020304" pitchFamily="18" charset="0"/>
                <a:cs typeface="Times New Roman" panose="02020603050405020304" pitchFamily="18" charset="0"/>
              </a:rPr>
              <a:t>Users can buy cryptocurrencies from central exchanges, brokers, or individual currency owners and sell crypto to them. Cryptocurrencies can be stored in wallets.</a:t>
            </a:r>
          </a:p>
          <a:p>
            <a:pPr marL="45720" indent="0" algn="just" fontAlgn="base">
              <a:lnSpc>
                <a:spcPct val="160000"/>
              </a:lnSpc>
              <a:buNone/>
            </a:pPr>
            <a:r>
              <a:rPr lang="en-US" b="1" i="0" dirty="0">
                <a:solidFill>
                  <a:srgbClr val="273239"/>
                </a:solidFill>
                <a:effectLst/>
                <a:latin typeface="Times New Roman" panose="02020603050405020304" pitchFamily="18" charset="0"/>
                <a:cs typeface="Times New Roman" panose="02020603050405020304" pitchFamily="18" charset="0"/>
              </a:rPr>
              <a:t>Investing: </a:t>
            </a:r>
            <a:r>
              <a:rPr lang="en-US" b="0" i="0" dirty="0">
                <a:solidFill>
                  <a:srgbClr val="273239"/>
                </a:solidFill>
                <a:effectLst/>
                <a:latin typeface="Times New Roman" panose="02020603050405020304" pitchFamily="18" charset="0"/>
                <a:cs typeface="Times New Roman" panose="02020603050405020304" pitchFamily="18" charset="0"/>
              </a:rPr>
              <a:t>Cryptocurrencies can be transferred from one digital wallet to another. Cryptocurrencies can be used for the following purposes:</a:t>
            </a:r>
          </a:p>
          <a:p>
            <a:pPr marL="114300" indent="0">
              <a:lnSpc>
                <a:spcPct val="160000"/>
              </a:lnSpc>
              <a:buNone/>
            </a:pPr>
            <a:endParaRPr lang="en-IN" dirty="0"/>
          </a:p>
        </p:txBody>
      </p:sp>
    </p:spTree>
    <p:extLst>
      <p:ext uri="{BB962C8B-B14F-4D97-AF65-F5344CB8AC3E}">
        <p14:creationId xmlns:p14="http://schemas.microsoft.com/office/powerpoint/2010/main" val="23894008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33FCFA5-0A25-35F7-148B-CDFB58CAAF5D}"/>
              </a:ext>
            </a:extLst>
          </p:cNvPr>
          <p:cNvSpPr>
            <a:spLocks noGrp="1"/>
          </p:cNvSpPr>
          <p:nvPr>
            <p:ph idx="1"/>
          </p:nvPr>
        </p:nvSpPr>
        <p:spPr>
          <a:xfrm>
            <a:off x="548640" y="841248"/>
            <a:ext cx="11167872" cy="5254752"/>
          </a:xfrm>
        </p:spPr>
        <p:txBody>
          <a:bodyPr/>
          <a:lstStyle/>
          <a:p>
            <a:pPr marL="45720" indent="0" algn="l" fontAlgn="base">
              <a:lnSpc>
                <a:spcPct val="150000"/>
              </a:lnSpc>
              <a:buNone/>
            </a:pPr>
            <a:r>
              <a:rPr lang="en-US" b="0" i="0" dirty="0">
                <a:solidFill>
                  <a:srgbClr val="273239"/>
                </a:solidFill>
                <a:effectLst/>
                <a:latin typeface="Times New Roman" panose="02020603050405020304" pitchFamily="18" charset="0"/>
                <a:cs typeface="Times New Roman" panose="02020603050405020304" pitchFamily="18" charset="0"/>
              </a:rPr>
              <a:t>Buying goods and services.</a:t>
            </a:r>
          </a:p>
          <a:p>
            <a:pPr marL="45720" indent="0" algn="l" fontAlgn="base">
              <a:lnSpc>
                <a:spcPct val="150000"/>
              </a:lnSpc>
              <a:buNone/>
            </a:pPr>
            <a:r>
              <a:rPr lang="en-US" b="0" i="0" dirty="0">
                <a:solidFill>
                  <a:srgbClr val="273239"/>
                </a:solidFill>
                <a:effectLst/>
                <a:latin typeface="Times New Roman" panose="02020603050405020304" pitchFamily="18" charset="0"/>
                <a:cs typeface="Times New Roman" panose="02020603050405020304" pitchFamily="18" charset="0"/>
              </a:rPr>
              <a:t>Trade-in them.</a:t>
            </a:r>
          </a:p>
          <a:p>
            <a:pPr marL="45720" indent="0" algn="l" fontAlgn="base">
              <a:lnSpc>
                <a:spcPct val="150000"/>
              </a:lnSpc>
              <a:buNone/>
            </a:pPr>
            <a:r>
              <a:rPr lang="en-US" b="0" i="0" dirty="0">
                <a:solidFill>
                  <a:srgbClr val="273239"/>
                </a:solidFill>
                <a:effectLst/>
                <a:latin typeface="Times New Roman" panose="02020603050405020304" pitchFamily="18" charset="0"/>
                <a:cs typeface="Times New Roman" panose="02020603050405020304" pitchFamily="18" charset="0"/>
              </a:rPr>
              <a:t>Exchange them for cash.</a:t>
            </a:r>
          </a:p>
          <a:p>
            <a:pPr marL="114300" indent="0">
              <a:lnSpc>
                <a:spcPct val="150000"/>
              </a:lnSpc>
              <a:buNone/>
            </a:pPr>
            <a:r>
              <a:rPr lang="en-US" b="0" i="0" dirty="0">
                <a:solidFill>
                  <a:srgbClr val="273239"/>
                </a:solidFill>
                <a:effectLst/>
                <a:latin typeface="Times New Roman" panose="02020603050405020304" pitchFamily="18" charset="0"/>
                <a:cs typeface="Times New Roman" panose="02020603050405020304" pitchFamily="18" charset="0"/>
              </a:rPr>
              <a:t>Once the cryptocurrency is purchased, it needs to be stored safely to protect it from hackers. The usual place to store cryptocurrency is crypto wallets which can be physical devices or online software. Not all exchanges or brokers provide crypto wallet services. </a:t>
            </a:r>
          </a:p>
          <a:p>
            <a:pPr marL="114300" indent="0">
              <a:lnSpc>
                <a:spcPct val="150000"/>
              </a:lnSpc>
              <a:buNone/>
            </a:pPr>
            <a:r>
              <a:rPr lang="en-US" b="0" i="0" dirty="0">
                <a:solidFill>
                  <a:srgbClr val="273239"/>
                </a:solidFill>
                <a:effectLst/>
                <a:latin typeface="Times New Roman" panose="02020603050405020304" pitchFamily="18" charset="0"/>
                <a:cs typeface="Times New Roman" panose="02020603050405020304" pitchFamily="18" charset="0"/>
              </a:rPr>
              <a:t>The cryptocurrencies can be stored in these four places:</a:t>
            </a:r>
          </a:p>
          <a:p>
            <a:pPr marL="114300" indent="0">
              <a:lnSpc>
                <a:spcPct val="150000"/>
              </a:lnSpc>
              <a:buNone/>
            </a:pPr>
            <a:endParaRPr lang="en-IN" dirty="0"/>
          </a:p>
        </p:txBody>
      </p:sp>
    </p:spTree>
    <p:extLst>
      <p:ext uri="{BB962C8B-B14F-4D97-AF65-F5344CB8AC3E}">
        <p14:creationId xmlns:p14="http://schemas.microsoft.com/office/powerpoint/2010/main" val="6116436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6B20FBC-8A79-8527-5515-693FA8AB40C5}"/>
              </a:ext>
            </a:extLst>
          </p:cNvPr>
          <p:cNvSpPr>
            <a:spLocks noGrp="1"/>
          </p:cNvSpPr>
          <p:nvPr>
            <p:ph idx="1"/>
          </p:nvPr>
        </p:nvSpPr>
        <p:spPr>
          <a:xfrm>
            <a:off x="487680" y="271462"/>
            <a:ext cx="11192256" cy="6086475"/>
          </a:xfrm>
        </p:spPr>
        <p:txBody>
          <a:bodyPr>
            <a:normAutofit fontScale="92500"/>
          </a:bodyPr>
          <a:lstStyle/>
          <a:p>
            <a:pPr marL="114300" indent="0" algn="just">
              <a:lnSpc>
                <a:spcPct val="150000"/>
              </a:lnSpc>
              <a:buNone/>
            </a:pPr>
            <a:r>
              <a:rPr lang="en-US" dirty="0">
                <a:solidFill>
                  <a:schemeClr val="tx1"/>
                </a:solidFill>
                <a:latin typeface="Times New Roman" panose="02020603050405020304" pitchFamily="18" charset="0"/>
                <a:cs typeface="Times New Roman" panose="02020603050405020304" pitchFamily="18" charset="0"/>
              </a:rPr>
              <a:t>A </a:t>
            </a:r>
            <a:r>
              <a:rPr lang="en-US" b="1" dirty="0">
                <a:solidFill>
                  <a:schemeClr val="tx1"/>
                </a:solidFill>
                <a:latin typeface="Times New Roman" panose="02020603050405020304" pitchFamily="18" charset="0"/>
                <a:cs typeface="Times New Roman" panose="02020603050405020304" pitchFamily="18" charset="0"/>
              </a:rPr>
              <a:t>custodial wallet </a:t>
            </a:r>
            <a:r>
              <a:rPr lang="en-US" dirty="0">
                <a:solidFill>
                  <a:schemeClr val="tx1"/>
                </a:solidFill>
                <a:latin typeface="Times New Roman" panose="02020603050405020304" pitchFamily="18" charset="0"/>
                <a:cs typeface="Times New Roman" panose="02020603050405020304" pitchFamily="18" charset="0"/>
              </a:rPr>
              <a:t>is a type of cryptocurrency wallet where a third party, holds and manages the user's private keys on their behalf. This means that the user does not have direct control over their private keys; instead, they must trust the custodian to securely store and manage their funds.</a:t>
            </a:r>
          </a:p>
          <a:p>
            <a:pPr marL="114300" indent="0" algn="just">
              <a:lnSpc>
                <a:spcPct val="150000"/>
              </a:lnSpc>
              <a:buNone/>
            </a:pPr>
            <a:r>
              <a:rPr lang="en-US" b="1" i="0" dirty="0">
                <a:solidFill>
                  <a:schemeClr val="tx1"/>
                </a:solidFill>
                <a:effectLst/>
                <a:latin typeface="Times New Roman" panose="02020603050405020304" pitchFamily="18" charset="0"/>
                <a:cs typeface="Times New Roman" panose="02020603050405020304" pitchFamily="18" charset="0"/>
              </a:rPr>
              <a:t>Cold Wallet:</a:t>
            </a:r>
            <a:r>
              <a:rPr lang="en-US" b="0" i="0" dirty="0">
                <a:solidFill>
                  <a:schemeClr val="tx1"/>
                </a:solidFill>
                <a:effectLst/>
                <a:latin typeface="Times New Roman" panose="02020603050405020304" pitchFamily="18" charset="0"/>
                <a:cs typeface="Times New Roman" panose="02020603050405020304" pitchFamily="18" charset="0"/>
              </a:rPr>
              <a:t> These are also known as Hardware wallets. It is an offline wallet in which hardware connects to the computer and stores the cryptocurrency. The device connects to the internet at the time of sending and receiving cryptocurrency but other than that the cryptos are safely stored offline.</a:t>
            </a:r>
          </a:p>
          <a:p>
            <a:pPr marL="114300" indent="0" algn="just">
              <a:lnSpc>
                <a:spcPct val="150000"/>
              </a:lnSpc>
              <a:buNone/>
            </a:pPr>
            <a:r>
              <a:rPr lang="en-US" b="1" i="0" dirty="0">
                <a:solidFill>
                  <a:schemeClr val="tx1"/>
                </a:solidFill>
                <a:effectLst/>
                <a:latin typeface="Times New Roman" panose="02020603050405020304" pitchFamily="18" charset="0"/>
                <a:cs typeface="Times New Roman" panose="02020603050405020304" pitchFamily="18" charset="0"/>
              </a:rPr>
              <a:t>Hot Wallet: </a:t>
            </a:r>
            <a:r>
              <a:rPr lang="en-US" b="0" i="0" dirty="0">
                <a:solidFill>
                  <a:schemeClr val="tx1"/>
                </a:solidFill>
                <a:effectLst/>
                <a:latin typeface="Times New Roman" panose="02020603050405020304" pitchFamily="18" charset="0"/>
                <a:cs typeface="Times New Roman" panose="02020603050405020304" pitchFamily="18" charset="0"/>
              </a:rPr>
              <a:t>These are the applications that store cryptocurrencies online. These are available as desktop or mobile apps.</a:t>
            </a:r>
          </a:p>
          <a:p>
            <a:pPr marL="114300" indent="0" algn="just">
              <a:lnSpc>
                <a:spcPct val="150000"/>
              </a:lnSpc>
              <a:buNone/>
            </a:pPr>
            <a:r>
              <a:rPr lang="en-US" b="1" i="0" dirty="0">
                <a:solidFill>
                  <a:schemeClr val="tx1"/>
                </a:solidFill>
                <a:effectLst/>
                <a:latin typeface="Times New Roman" panose="02020603050405020304" pitchFamily="18" charset="0"/>
                <a:cs typeface="Times New Roman" panose="02020603050405020304" pitchFamily="18" charset="0"/>
              </a:rPr>
              <a:t>Paper Wallet: </a:t>
            </a:r>
            <a:r>
              <a:rPr lang="en-US" b="0" i="0" dirty="0">
                <a:solidFill>
                  <a:schemeClr val="tx1"/>
                </a:solidFill>
                <a:effectLst/>
                <a:latin typeface="Times New Roman" panose="02020603050405020304" pitchFamily="18" charset="0"/>
                <a:cs typeface="Times New Roman" panose="02020603050405020304" pitchFamily="18" charset="0"/>
              </a:rPr>
              <a:t>This is also known as a physical wallet. It is a printout of the public and private keys available as a string of characters or scannable QR codes. To send crypto scan the public and private keys and crypto will be received using the public keys.</a:t>
            </a:r>
            <a:endParaRPr lang="en-IN"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0729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88414854-3602-C831-9929-68552C2DB4D4}"/>
              </a:ext>
            </a:extLst>
          </p:cNvPr>
          <p:cNvGraphicFramePr>
            <a:graphicFrameLocks noGrp="1"/>
          </p:cNvGraphicFramePr>
          <p:nvPr>
            <p:extLst>
              <p:ext uri="{D42A27DB-BD31-4B8C-83A1-F6EECF244321}">
                <p14:modId xmlns:p14="http://schemas.microsoft.com/office/powerpoint/2010/main" val="3377294883"/>
              </p:ext>
            </p:extLst>
          </p:nvPr>
        </p:nvGraphicFramePr>
        <p:xfrm>
          <a:off x="436486" y="392837"/>
          <a:ext cx="11319027" cy="6072326"/>
        </p:xfrm>
        <a:graphic>
          <a:graphicData uri="http://schemas.openxmlformats.org/drawingml/2006/table">
            <a:tbl>
              <a:tblPr/>
              <a:tblGrid>
                <a:gridCol w="2440379">
                  <a:extLst>
                    <a:ext uri="{9D8B030D-6E8A-4147-A177-3AD203B41FA5}">
                      <a16:colId xmlns:a16="http://schemas.microsoft.com/office/drawing/2014/main" val="3536599401"/>
                    </a:ext>
                  </a:extLst>
                </a:gridCol>
                <a:gridCol w="2219662">
                  <a:extLst>
                    <a:ext uri="{9D8B030D-6E8A-4147-A177-3AD203B41FA5}">
                      <a16:colId xmlns:a16="http://schemas.microsoft.com/office/drawing/2014/main" val="3285076110"/>
                    </a:ext>
                  </a:extLst>
                </a:gridCol>
                <a:gridCol w="2219662">
                  <a:extLst>
                    <a:ext uri="{9D8B030D-6E8A-4147-A177-3AD203B41FA5}">
                      <a16:colId xmlns:a16="http://schemas.microsoft.com/office/drawing/2014/main" val="349427470"/>
                    </a:ext>
                  </a:extLst>
                </a:gridCol>
                <a:gridCol w="2219662">
                  <a:extLst>
                    <a:ext uri="{9D8B030D-6E8A-4147-A177-3AD203B41FA5}">
                      <a16:colId xmlns:a16="http://schemas.microsoft.com/office/drawing/2014/main" val="3634705481"/>
                    </a:ext>
                  </a:extLst>
                </a:gridCol>
                <a:gridCol w="2219662">
                  <a:extLst>
                    <a:ext uri="{9D8B030D-6E8A-4147-A177-3AD203B41FA5}">
                      <a16:colId xmlns:a16="http://schemas.microsoft.com/office/drawing/2014/main" val="1849544965"/>
                    </a:ext>
                  </a:extLst>
                </a:gridCol>
              </a:tblGrid>
              <a:tr h="674703">
                <a:tc>
                  <a:txBody>
                    <a:bodyPr/>
                    <a:lstStyle/>
                    <a:p>
                      <a:pPr algn="l" fontAlgn="base"/>
                      <a:r>
                        <a:rPr lang="en-IN" sz="1800" b="0">
                          <a:solidFill>
                            <a:schemeClr val="tx1"/>
                          </a:solidFill>
                          <a:effectLst/>
                          <a:latin typeface="Times New Roman" panose="02020603050405020304" pitchFamily="18" charset="0"/>
                          <a:cs typeface="Times New Roman" panose="02020603050405020304" pitchFamily="18" charset="0"/>
                        </a:rPr>
                        <a:t> </a:t>
                      </a:r>
                    </a:p>
                  </a:txBody>
                  <a:tcPr marL="76200" marR="76200" marT="76200" marB="76200" anchor="ctr">
                    <a:lnL>
                      <a:noFill/>
                    </a:lnL>
                    <a:lnR>
                      <a:noFill/>
                    </a:lnR>
                    <a:lnT>
                      <a:noFill/>
                    </a:lnT>
                    <a:lnB>
                      <a:noFill/>
                    </a:lnB>
                    <a:solidFill>
                      <a:srgbClr val="FFFFFF"/>
                    </a:solidFill>
                  </a:tcPr>
                </a:tc>
                <a:tc>
                  <a:txBody>
                    <a:bodyPr/>
                    <a:lstStyle/>
                    <a:p>
                      <a:pPr algn="l" fontAlgn="base"/>
                      <a:r>
                        <a:rPr lang="en-IN" sz="1800" b="1" dirty="0">
                          <a:solidFill>
                            <a:schemeClr val="tx1"/>
                          </a:solidFill>
                          <a:effectLst/>
                          <a:latin typeface="Times New Roman" panose="02020603050405020304" pitchFamily="18" charset="0"/>
                          <a:cs typeface="Times New Roman" panose="02020603050405020304" pitchFamily="18" charset="0"/>
                        </a:rPr>
                        <a:t>Custodial Wallet</a:t>
                      </a:r>
                    </a:p>
                  </a:txBody>
                  <a:tcPr marL="76200" marR="76200" marT="76200" marB="76200" anchor="ctr">
                    <a:lnL>
                      <a:noFill/>
                    </a:lnL>
                    <a:lnR>
                      <a:noFill/>
                    </a:lnR>
                    <a:lnT>
                      <a:noFill/>
                    </a:lnT>
                    <a:lnB>
                      <a:noFill/>
                    </a:lnB>
                    <a:solidFill>
                      <a:srgbClr val="FFFFFF"/>
                    </a:solidFill>
                  </a:tcPr>
                </a:tc>
                <a:tc>
                  <a:txBody>
                    <a:bodyPr/>
                    <a:lstStyle/>
                    <a:p>
                      <a:pPr algn="l" fontAlgn="base"/>
                      <a:r>
                        <a:rPr lang="en-IN" sz="1800" b="1" dirty="0">
                          <a:solidFill>
                            <a:schemeClr val="tx1"/>
                          </a:solidFill>
                          <a:effectLst/>
                          <a:latin typeface="Times New Roman" panose="02020603050405020304" pitchFamily="18" charset="0"/>
                          <a:cs typeface="Times New Roman" panose="02020603050405020304" pitchFamily="18" charset="0"/>
                        </a:rPr>
                        <a:t>Cold Wallet</a:t>
                      </a:r>
                    </a:p>
                  </a:txBody>
                  <a:tcPr marL="76200" marR="76200" marT="76200" marB="76200" anchor="ctr">
                    <a:lnL>
                      <a:noFill/>
                    </a:lnL>
                    <a:lnR>
                      <a:noFill/>
                    </a:lnR>
                    <a:lnT>
                      <a:noFill/>
                    </a:lnT>
                    <a:lnB>
                      <a:noFill/>
                    </a:lnB>
                    <a:solidFill>
                      <a:srgbClr val="FFFFFF"/>
                    </a:solidFill>
                  </a:tcPr>
                </a:tc>
                <a:tc>
                  <a:txBody>
                    <a:bodyPr/>
                    <a:lstStyle/>
                    <a:p>
                      <a:pPr algn="l" fontAlgn="base"/>
                      <a:r>
                        <a:rPr lang="en-IN" sz="1800" b="1" dirty="0">
                          <a:solidFill>
                            <a:schemeClr val="tx1"/>
                          </a:solidFill>
                          <a:effectLst/>
                          <a:latin typeface="Times New Roman" panose="02020603050405020304" pitchFamily="18" charset="0"/>
                          <a:cs typeface="Times New Roman" panose="02020603050405020304" pitchFamily="18" charset="0"/>
                        </a:rPr>
                        <a:t>Hot Wallet</a:t>
                      </a:r>
                    </a:p>
                  </a:txBody>
                  <a:tcPr marL="76200" marR="76200" marT="76200" marB="76200" anchor="ctr">
                    <a:lnL>
                      <a:noFill/>
                    </a:lnL>
                    <a:lnR>
                      <a:noFill/>
                    </a:lnR>
                    <a:lnT>
                      <a:noFill/>
                    </a:lnT>
                    <a:lnB>
                      <a:noFill/>
                    </a:lnB>
                    <a:solidFill>
                      <a:srgbClr val="FFFFFF"/>
                    </a:solidFill>
                  </a:tcPr>
                </a:tc>
                <a:tc>
                  <a:txBody>
                    <a:bodyPr/>
                    <a:lstStyle/>
                    <a:p>
                      <a:pPr algn="l" fontAlgn="base"/>
                      <a:r>
                        <a:rPr lang="en-IN" sz="1800" b="1" dirty="0">
                          <a:solidFill>
                            <a:schemeClr val="tx1"/>
                          </a:solidFill>
                          <a:effectLst/>
                          <a:latin typeface="Times New Roman" panose="02020603050405020304" pitchFamily="18" charset="0"/>
                          <a:cs typeface="Times New Roman" panose="02020603050405020304" pitchFamily="18" charset="0"/>
                        </a:rPr>
                        <a:t>Paper Wallet</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1723683916"/>
                  </a:ext>
                </a:extLst>
              </a:tr>
              <a:tr h="1447800">
                <a:tc>
                  <a:txBody>
                    <a:bodyPr/>
                    <a:lstStyle/>
                    <a:p>
                      <a:pPr algn="l" fontAlgn="base"/>
                      <a:r>
                        <a:rPr lang="en-IN" sz="1800" b="1" dirty="0">
                          <a:solidFill>
                            <a:schemeClr val="tx1"/>
                          </a:solidFill>
                          <a:effectLst/>
                          <a:latin typeface="Times New Roman" panose="02020603050405020304" pitchFamily="18" charset="0"/>
                          <a:cs typeface="Times New Roman" panose="02020603050405020304" pitchFamily="18" charset="0"/>
                        </a:rPr>
                        <a:t>Definition</a:t>
                      </a:r>
                    </a:p>
                  </a:txBody>
                  <a:tcPr anchor="ctr">
                    <a:lnL>
                      <a:noFill/>
                    </a:lnL>
                    <a:lnR>
                      <a:noFill/>
                    </a:lnR>
                    <a:lnT>
                      <a:noFill/>
                    </a:lnT>
                    <a:lnB>
                      <a:noFill/>
                    </a:lnB>
                    <a:solidFill>
                      <a:srgbClr val="FFFFFF"/>
                    </a:solidFill>
                  </a:tcPr>
                </a:tc>
                <a:tc>
                  <a:txBody>
                    <a:bodyPr/>
                    <a:lstStyle/>
                    <a:p>
                      <a:pPr algn="l" fontAlgn="base"/>
                      <a:r>
                        <a:rPr lang="en-US" sz="1800" b="0">
                          <a:solidFill>
                            <a:schemeClr val="tx1"/>
                          </a:solidFill>
                          <a:effectLst/>
                          <a:latin typeface="Times New Roman" panose="02020603050405020304" pitchFamily="18" charset="0"/>
                          <a:cs typeface="Times New Roman" panose="02020603050405020304" pitchFamily="18" charset="0"/>
                        </a:rPr>
                        <a:t>Third-party such as the crypto exchange store the cryptocurrency.</a:t>
                      </a:r>
                    </a:p>
                  </a:txBody>
                  <a:tcPr marL="76200" marR="76200" marT="106680" marB="106680" anchor="ctr">
                    <a:lnL>
                      <a:noFill/>
                    </a:lnL>
                    <a:lnR>
                      <a:noFill/>
                    </a:lnR>
                    <a:lnT>
                      <a:noFill/>
                    </a:lnT>
                    <a:lnB>
                      <a:noFill/>
                    </a:lnB>
                    <a:solidFill>
                      <a:srgbClr val="FFFFFF"/>
                    </a:solidFill>
                  </a:tcPr>
                </a:tc>
                <a:tc>
                  <a:txBody>
                    <a:bodyPr/>
                    <a:lstStyle/>
                    <a:p>
                      <a:pPr algn="l" fontAlgn="base"/>
                      <a:r>
                        <a:rPr lang="en-US" sz="1800" b="0">
                          <a:solidFill>
                            <a:schemeClr val="tx1"/>
                          </a:solidFill>
                          <a:effectLst/>
                          <a:latin typeface="Times New Roman" panose="02020603050405020304" pitchFamily="18" charset="0"/>
                          <a:cs typeface="Times New Roman" panose="02020603050405020304" pitchFamily="18" charset="0"/>
                        </a:rPr>
                        <a:t>The hardware connects to the computer and stores the cryptocurrency.</a:t>
                      </a:r>
                    </a:p>
                  </a:txBody>
                  <a:tcPr marL="76200" marR="76200" marT="106680" marB="106680" anchor="ctr">
                    <a:lnL>
                      <a:noFill/>
                    </a:lnL>
                    <a:lnR>
                      <a:noFill/>
                    </a:lnR>
                    <a:lnT>
                      <a:noFill/>
                    </a:lnT>
                    <a:lnB>
                      <a:noFill/>
                    </a:lnB>
                    <a:solidFill>
                      <a:srgbClr val="FFFFFF"/>
                    </a:solidFill>
                  </a:tcPr>
                </a:tc>
                <a:tc>
                  <a:txBody>
                    <a:bodyPr/>
                    <a:lstStyle/>
                    <a:p>
                      <a:pPr algn="l" fontAlgn="base"/>
                      <a:r>
                        <a:rPr lang="en-US" sz="1800" b="0">
                          <a:solidFill>
                            <a:schemeClr val="tx1"/>
                          </a:solidFill>
                          <a:effectLst/>
                          <a:latin typeface="Times New Roman" panose="02020603050405020304" pitchFamily="18" charset="0"/>
                          <a:cs typeface="Times New Roman" panose="02020603050405020304" pitchFamily="18" charset="0"/>
                        </a:rPr>
                        <a:t>Applications that store cryptocurrencies online</a:t>
                      </a:r>
                    </a:p>
                  </a:txBody>
                  <a:tcPr marL="76200" marR="76200" marT="106680" marB="106680" anchor="ctr">
                    <a:lnL>
                      <a:noFill/>
                    </a:lnL>
                    <a:lnR>
                      <a:noFill/>
                    </a:lnR>
                    <a:lnT>
                      <a:noFill/>
                    </a:lnT>
                    <a:lnB>
                      <a:noFill/>
                    </a:lnB>
                    <a:solidFill>
                      <a:srgbClr val="FFFFFF"/>
                    </a:solidFill>
                  </a:tcPr>
                </a:tc>
                <a:tc>
                  <a:txBody>
                    <a:bodyPr/>
                    <a:lstStyle/>
                    <a:p>
                      <a:pPr algn="l" fontAlgn="base"/>
                      <a:r>
                        <a:rPr lang="en-US" sz="1800" b="0">
                          <a:solidFill>
                            <a:schemeClr val="tx1"/>
                          </a:solidFill>
                          <a:effectLst/>
                          <a:latin typeface="Times New Roman" panose="02020603050405020304" pitchFamily="18" charset="0"/>
                          <a:cs typeface="Times New Roman" panose="02020603050405020304" pitchFamily="18" charset="0"/>
                        </a:rPr>
                        <a:t>Physical storage of public and private keys.</a:t>
                      </a:r>
                    </a:p>
                  </a:txBody>
                  <a:tcPr marL="76200" marR="76200" marT="106680" marB="106680" anchor="ctr">
                    <a:lnL>
                      <a:noFill/>
                    </a:lnL>
                    <a:lnR>
                      <a:noFill/>
                    </a:lnR>
                    <a:lnT>
                      <a:noFill/>
                    </a:lnT>
                    <a:lnB>
                      <a:noFill/>
                    </a:lnB>
                    <a:solidFill>
                      <a:srgbClr val="FFFFFF"/>
                    </a:solidFill>
                  </a:tcPr>
                </a:tc>
                <a:extLst>
                  <a:ext uri="{0D108BD9-81ED-4DB2-BD59-A6C34878D82A}">
                    <a16:rowId xmlns:a16="http://schemas.microsoft.com/office/drawing/2014/main" val="3744222050"/>
                  </a:ext>
                </a:extLst>
              </a:tr>
              <a:tr h="2150615">
                <a:tc>
                  <a:txBody>
                    <a:bodyPr/>
                    <a:lstStyle/>
                    <a:p>
                      <a:pPr algn="l" fontAlgn="base"/>
                      <a:r>
                        <a:rPr lang="en-IN" sz="1800" b="1" dirty="0">
                          <a:solidFill>
                            <a:schemeClr val="tx1"/>
                          </a:solidFill>
                          <a:effectLst/>
                          <a:latin typeface="Times New Roman" panose="02020603050405020304" pitchFamily="18" charset="0"/>
                          <a:cs typeface="Times New Roman" panose="02020603050405020304" pitchFamily="18" charset="0"/>
                        </a:rPr>
                        <a:t>Advantage</a:t>
                      </a:r>
                    </a:p>
                  </a:txBody>
                  <a:tcPr anchor="ctr">
                    <a:lnL>
                      <a:noFill/>
                    </a:lnL>
                    <a:lnR>
                      <a:noFill/>
                    </a:lnR>
                    <a:lnT>
                      <a:noFill/>
                    </a:lnT>
                    <a:lnB>
                      <a:noFill/>
                    </a:lnB>
                    <a:solidFill>
                      <a:srgbClr val="FFFFFF"/>
                    </a:solidFill>
                  </a:tcPr>
                </a:tc>
                <a:tc>
                  <a:txBody>
                    <a:bodyPr/>
                    <a:lstStyle/>
                    <a:p>
                      <a:pPr algn="l" fontAlgn="base">
                        <a:buFont typeface="Arial" panose="020B0604020202020204" pitchFamily="34" charset="0"/>
                        <a:buChar char="•"/>
                      </a:pPr>
                      <a:r>
                        <a:rPr lang="en-US" sz="1800" b="0" dirty="0">
                          <a:solidFill>
                            <a:schemeClr val="tx1"/>
                          </a:solidFill>
                          <a:effectLst/>
                          <a:latin typeface="Times New Roman" panose="02020603050405020304" pitchFamily="18" charset="0"/>
                          <a:cs typeface="Times New Roman" panose="02020603050405020304" pitchFamily="18" charset="0"/>
                        </a:rPr>
                        <a:t>Simple and convenient method.</a:t>
                      </a:r>
                    </a:p>
                    <a:p>
                      <a:pPr algn="l" fontAlgn="base">
                        <a:buFont typeface="Arial" panose="020B0604020202020204" pitchFamily="34" charset="0"/>
                        <a:buChar char="•"/>
                      </a:pPr>
                      <a:r>
                        <a:rPr lang="en-US" sz="1800" b="0" dirty="0">
                          <a:solidFill>
                            <a:schemeClr val="tx1"/>
                          </a:solidFill>
                          <a:effectLst/>
                          <a:latin typeface="Times New Roman" panose="02020603050405020304" pitchFamily="18" charset="0"/>
                          <a:cs typeface="Times New Roman" panose="02020603050405020304" pitchFamily="18" charset="0"/>
                        </a:rPr>
                        <a:t>Easy to access.</a:t>
                      </a:r>
                    </a:p>
                    <a:p>
                      <a:pPr algn="l" fontAlgn="base">
                        <a:buFont typeface="Arial" panose="020B0604020202020204" pitchFamily="34" charset="0"/>
                        <a:buChar char="•"/>
                      </a:pPr>
                      <a:r>
                        <a:rPr lang="en-US" sz="1800" b="0" dirty="0">
                          <a:solidFill>
                            <a:schemeClr val="tx1"/>
                          </a:solidFill>
                          <a:effectLst/>
                          <a:latin typeface="Times New Roman" panose="02020603050405020304" pitchFamily="18" charset="0"/>
                          <a:cs typeface="Times New Roman" panose="02020603050405020304" pitchFamily="18" charset="0"/>
                        </a:rPr>
                        <a:t>No worry about losing your crypto wallet.</a:t>
                      </a:r>
                    </a:p>
                  </a:txBody>
                  <a:tcPr marL="76200" marR="76200" marT="106680" marB="106680" anchor="ctr">
                    <a:lnL>
                      <a:noFill/>
                    </a:lnL>
                    <a:lnR>
                      <a:noFill/>
                    </a:lnR>
                    <a:lnT>
                      <a:noFill/>
                    </a:lnT>
                    <a:lnB>
                      <a:noFill/>
                    </a:lnB>
                    <a:solidFill>
                      <a:srgbClr val="FFFFFF"/>
                    </a:solidFill>
                  </a:tcPr>
                </a:tc>
                <a:tc>
                  <a:txBody>
                    <a:bodyPr/>
                    <a:lstStyle/>
                    <a:p>
                      <a:pPr algn="l" fontAlgn="base">
                        <a:buFont typeface="Arial" panose="020B0604020202020204" pitchFamily="34" charset="0"/>
                        <a:buChar char="•"/>
                      </a:pPr>
                      <a:r>
                        <a:rPr lang="en-IN" sz="1800" b="0" dirty="0">
                          <a:solidFill>
                            <a:schemeClr val="tx1"/>
                          </a:solidFill>
                          <a:effectLst/>
                          <a:latin typeface="Times New Roman" panose="02020603050405020304" pitchFamily="18" charset="0"/>
                          <a:cs typeface="Times New Roman" panose="02020603050405020304" pitchFamily="18" charset="0"/>
                        </a:rPr>
                        <a:t>Highest level of security. </a:t>
                      </a:r>
                    </a:p>
                  </a:txBody>
                  <a:tcPr marL="76200" marR="76200" marT="106680" marB="106680" anchor="ctr">
                    <a:lnL>
                      <a:noFill/>
                    </a:lnL>
                    <a:lnR>
                      <a:noFill/>
                    </a:lnR>
                    <a:lnT>
                      <a:noFill/>
                    </a:lnT>
                    <a:lnB>
                      <a:noFill/>
                    </a:lnB>
                    <a:solidFill>
                      <a:srgbClr val="FFFFFF"/>
                    </a:solidFill>
                  </a:tcPr>
                </a:tc>
                <a:tc>
                  <a:txBody>
                    <a:bodyPr/>
                    <a:lstStyle/>
                    <a:p>
                      <a:pPr algn="l" fontAlgn="base">
                        <a:buFont typeface="Arial" panose="020B0604020202020204" pitchFamily="34" charset="0"/>
                        <a:buChar char="•"/>
                      </a:pPr>
                      <a:r>
                        <a:rPr lang="en-US" sz="1800" b="0" dirty="0">
                          <a:solidFill>
                            <a:schemeClr val="tx1"/>
                          </a:solidFill>
                          <a:effectLst/>
                          <a:latin typeface="Times New Roman" panose="02020603050405020304" pitchFamily="18" charset="0"/>
                          <a:cs typeface="Times New Roman" panose="02020603050405020304" pitchFamily="18" charset="0"/>
                        </a:rPr>
                        <a:t>Gives control over crypto.</a:t>
                      </a:r>
                    </a:p>
                    <a:p>
                      <a:pPr algn="l" fontAlgn="base">
                        <a:buFont typeface="Arial" panose="020B0604020202020204" pitchFamily="34" charset="0"/>
                        <a:buChar char="•"/>
                      </a:pPr>
                      <a:r>
                        <a:rPr lang="en-US" sz="1800" b="0" dirty="0">
                          <a:solidFill>
                            <a:schemeClr val="tx1"/>
                          </a:solidFill>
                          <a:effectLst/>
                          <a:latin typeface="Times New Roman" panose="02020603050405020304" pitchFamily="18" charset="0"/>
                          <a:cs typeface="Times New Roman" panose="02020603050405020304" pitchFamily="18" charset="0"/>
                        </a:rPr>
                        <a:t>Almost always free.</a:t>
                      </a:r>
                    </a:p>
                    <a:p>
                      <a:pPr algn="l" fontAlgn="base">
                        <a:buFont typeface="Arial" panose="020B0604020202020204" pitchFamily="34" charset="0"/>
                        <a:buChar char="•"/>
                      </a:pPr>
                      <a:r>
                        <a:rPr lang="en-US" sz="1800" b="0" dirty="0">
                          <a:solidFill>
                            <a:schemeClr val="tx1"/>
                          </a:solidFill>
                          <a:effectLst/>
                          <a:latin typeface="Times New Roman" panose="02020603050405020304" pitchFamily="18" charset="0"/>
                          <a:cs typeface="Times New Roman" panose="02020603050405020304" pitchFamily="18" charset="0"/>
                        </a:rPr>
                        <a:t>Easy to use.</a:t>
                      </a:r>
                    </a:p>
                  </a:txBody>
                  <a:tcPr marL="76200" marR="76200" marT="106680" marB="106680" anchor="ctr">
                    <a:lnL>
                      <a:noFill/>
                    </a:lnL>
                    <a:lnR>
                      <a:noFill/>
                    </a:lnR>
                    <a:lnT>
                      <a:noFill/>
                    </a:lnT>
                    <a:lnB>
                      <a:noFill/>
                    </a:lnB>
                    <a:solidFill>
                      <a:srgbClr val="FFFFFF"/>
                    </a:solidFill>
                  </a:tcPr>
                </a:tc>
                <a:tc>
                  <a:txBody>
                    <a:bodyPr/>
                    <a:lstStyle/>
                    <a:p>
                      <a:pPr algn="l" fontAlgn="base">
                        <a:buFont typeface="Arial" panose="020B0604020202020204" pitchFamily="34" charset="0"/>
                        <a:buChar char="•"/>
                      </a:pPr>
                      <a:r>
                        <a:rPr lang="en-US" sz="1800" b="0" dirty="0">
                          <a:solidFill>
                            <a:schemeClr val="tx1"/>
                          </a:solidFill>
                          <a:effectLst/>
                          <a:latin typeface="Times New Roman" panose="02020603050405020304" pitchFamily="18" charset="0"/>
                          <a:cs typeface="Times New Roman" panose="02020603050405020304" pitchFamily="18" charset="0"/>
                        </a:rPr>
                        <a:t>Maximum security at the lowest possible cost.</a:t>
                      </a:r>
                    </a:p>
                  </a:txBody>
                  <a:tcPr marL="76200" marR="76200" marT="106680" marB="106680" anchor="ctr">
                    <a:lnL>
                      <a:noFill/>
                    </a:lnL>
                    <a:lnR>
                      <a:noFill/>
                    </a:lnR>
                    <a:lnT>
                      <a:noFill/>
                    </a:lnT>
                    <a:lnB>
                      <a:noFill/>
                    </a:lnB>
                    <a:solidFill>
                      <a:srgbClr val="FFFFFF"/>
                    </a:solidFill>
                  </a:tcPr>
                </a:tc>
                <a:extLst>
                  <a:ext uri="{0D108BD9-81ED-4DB2-BD59-A6C34878D82A}">
                    <a16:rowId xmlns:a16="http://schemas.microsoft.com/office/drawing/2014/main" val="685786583"/>
                  </a:ext>
                </a:extLst>
              </a:tr>
              <a:tr h="1799208">
                <a:tc>
                  <a:txBody>
                    <a:bodyPr/>
                    <a:lstStyle/>
                    <a:p>
                      <a:pPr algn="l" fontAlgn="base"/>
                      <a:r>
                        <a:rPr lang="en-IN" sz="1800" b="1" dirty="0">
                          <a:solidFill>
                            <a:schemeClr val="tx1"/>
                          </a:solidFill>
                          <a:effectLst/>
                          <a:latin typeface="Times New Roman" panose="02020603050405020304" pitchFamily="18" charset="0"/>
                          <a:cs typeface="Times New Roman" panose="02020603050405020304" pitchFamily="18" charset="0"/>
                        </a:rPr>
                        <a:t>Disadvantage</a:t>
                      </a:r>
                    </a:p>
                  </a:txBody>
                  <a:tcPr anchor="ctr">
                    <a:lnL>
                      <a:noFill/>
                    </a:lnL>
                    <a:lnR>
                      <a:noFill/>
                    </a:lnR>
                    <a:lnT>
                      <a:noFill/>
                    </a:lnT>
                    <a:lnB>
                      <a:noFill/>
                    </a:lnB>
                    <a:solidFill>
                      <a:srgbClr val="FFFFFF"/>
                    </a:solidFill>
                  </a:tcPr>
                </a:tc>
                <a:tc>
                  <a:txBody>
                    <a:bodyPr/>
                    <a:lstStyle/>
                    <a:p>
                      <a:pPr algn="l" fontAlgn="base"/>
                      <a:r>
                        <a:rPr lang="en-US" sz="1800" b="0">
                          <a:solidFill>
                            <a:schemeClr val="tx1"/>
                          </a:solidFill>
                          <a:effectLst/>
                          <a:latin typeface="Times New Roman" panose="02020603050405020304" pitchFamily="18" charset="0"/>
                          <a:cs typeface="Times New Roman" panose="02020603050405020304" pitchFamily="18" charset="0"/>
                        </a:rPr>
                        <a:t>The security risk of leaving crypto in third-party’s possession. </a:t>
                      </a:r>
                    </a:p>
                  </a:txBody>
                  <a:tcPr marL="76200" marR="76200" marT="106680" marB="106680" anchor="ctr">
                    <a:lnL>
                      <a:noFill/>
                    </a:lnL>
                    <a:lnR>
                      <a:noFill/>
                    </a:lnR>
                    <a:lnT>
                      <a:noFill/>
                    </a:lnT>
                    <a:lnB>
                      <a:noFill/>
                    </a:lnB>
                    <a:solidFill>
                      <a:srgbClr val="FFFFFF"/>
                    </a:solidFill>
                  </a:tcPr>
                </a:tc>
                <a:tc>
                  <a:txBody>
                    <a:bodyPr/>
                    <a:lstStyle/>
                    <a:p>
                      <a:pPr algn="l" fontAlgn="base">
                        <a:buFont typeface="Arial" panose="020B0604020202020204" pitchFamily="34" charset="0"/>
                        <a:buChar char="•"/>
                      </a:pPr>
                      <a:r>
                        <a:rPr lang="en-US" sz="1800" b="0" dirty="0">
                          <a:solidFill>
                            <a:schemeClr val="tx1"/>
                          </a:solidFill>
                          <a:effectLst/>
                          <a:latin typeface="Times New Roman" panose="02020603050405020304" pitchFamily="18" charset="0"/>
                          <a:cs typeface="Times New Roman" panose="02020603050405020304" pitchFamily="18" charset="0"/>
                        </a:rPr>
                        <a:t>The process is slower compared to when storing crypto online.</a:t>
                      </a:r>
                    </a:p>
                    <a:p>
                      <a:pPr algn="l" fontAlgn="base">
                        <a:buFont typeface="Arial" panose="020B0604020202020204" pitchFamily="34" charset="0"/>
                        <a:buChar char="•"/>
                      </a:pPr>
                      <a:r>
                        <a:rPr lang="en-US" sz="1800" b="0" dirty="0">
                          <a:solidFill>
                            <a:schemeClr val="tx1"/>
                          </a:solidFill>
                          <a:effectLst/>
                          <a:latin typeface="Times New Roman" panose="02020603050405020304" pitchFamily="18" charset="0"/>
                          <a:cs typeface="Times New Roman" panose="02020603050405020304" pitchFamily="18" charset="0"/>
                        </a:rPr>
                        <a:t>Cost of device.</a:t>
                      </a:r>
                    </a:p>
                  </a:txBody>
                  <a:tcPr marL="76200" marR="76200" marT="106680" marB="106680" anchor="ctr">
                    <a:lnL>
                      <a:noFill/>
                    </a:lnL>
                    <a:lnR>
                      <a:noFill/>
                    </a:lnR>
                    <a:lnT>
                      <a:noFill/>
                    </a:lnT>
                    <a:lnB>
                      <a:noFill/>
                    </a:lnB>
                    <a:solidFill>
                      <a:srgbClr val="FFFFFF"/>
                    </a:solidFill>
                  </a:tcPr>
                </a:tc>
                <a:tc>
                  <a:txBody>
                    <a:bodyPr/>
                    <a:lstStyle/>
                    <a:p>
                      <a:pPr algn="l" fontAlgn="base"/>
                      <a:r>
                        <a:rPr lang="en-IN" sz="1800" b="0">
                          <a:solidFill>
                            <a:schemeClr val="tx1"/>
                          </a:solidFill>
                          <a:effectLst/>
                          <a:latin typeface="Times New Roman" panose="02020603050405020304" pitchFamily="18" charset="0"/>
                          <a:cs typeface="Times New Roman" panose="02020603050405020304" pitchFamily="18" charset="0"/>
                        </a:rPr>
                        <a:t>Risk of being hacked. </a:t>
                      </a:r>
                    </a:p>
                  </a:txBody>
                  <a:tcPr marL="76200" marR="76200" marT="106680" marB="106680" anchor="ctr">
                    <a:lnL>
                      <a:noFill/>
                    </a:lnL>
                    <a:lnR>
                      <a:noFill/>
                    </a:lnR>
                    <a:lnT>
                      <a:noFill/>
                    </a:lnT>
                    <a:lnB>
                      <a:noFill/>
                    </a:lnB>
                    <a:solidFill>
                      <a:srgbClr val="FFFFFF"/>
                    </a:solidFill>
                  </a:tcPr>
                </a:tc>
                <a:tc>
                  <a:txBody>
                    <a:bodyPr/>
                    <a:lstStyle/>
                    <a:p>
                      <a:pPr algn="l" fontAlgn="base">
                        <a:buFont typeface="Arial" panose="020B0604020202020204" pitchFamily="34" charset="0"/>
                        <a:buChar char="•"/>
                      </a:pPr>
                      <a:r>
                        <a:rPr lang="en-US" sz="1800" b="0" dirty="0">
                          <a:solidFill>
                            <a:schemeClr val="tx1"/>
                          </a:solidFill>
                          <a:effectLst/>
                          <a:latin typeface="Times New Roman" panose="02020603050405020304" pitchFamily="18" charset="0"/>
                          <a:cs typeface="Times New Roman" panose="02020603050405020304" pitchFamily="18" charset="0"/>
                        </a:rPr>
                        <a:t>Less user-friendly.</a:t>
                      </a:r>
                    </a:p>
                    <a:p>
                      <a:pPr algn="l" fontAlgn="base">
                        <a:buFont typeface="Arial" panose="020B0604020202020204" pitchFamily="34" charset="0"/>
                        <a:buChar char="•"/>
                      </a:pPr>
                      <a:r>
                        <a:rPr lang="en-US" sz="1800" b="0" dirty="0">
                          <a:solidFill>
                            <a:schemeClr val="tx1"/>
                          </a:solidFill>
                          <a:effectLst/>
                          <a:latin typeface="Times New Roman" panose="02020603050405020304" pitchFamily="18" charset="0"/>
                          <a:cs typeface="Times New Roman" panose="02020603050405020304" pitchFamily="18" charset="0"/>
                        </a:rPr>
                        <a:t>Risk of losing a wallet.</a:t>
                      </a:r>
                    </a:p>
                  </a:txBody>
                  <a:tcPr marL="76200" marR="76200" marT="106680" marB="106680" anchor="ctr">
                    <a:lnL>
                      <a:noFill/>
                    </a:lnL>
                    <a:lnR>
                      <a:noFill/>
                    </a:lnR>
                    <a:lnT>
                      <a:noFill/>
                    </a:lnT>
                    <a:lnB>
                      <a:noFill/>
                    </a:lnB>
                    <a:solidFill>
                      <a:srgbClr val="FFFFFF"/>
                    </a:solidFill>
                  </a:tcPr>
                </a:tc>
                <a:extLst>
                  <a:ext uri="{0D108BD9-81ED-4DB2-BD59-A6C34878D82A}">
                    <a16:rowId xmlns:a16="http://schemas.microsoft.com/office/drawing/2014/main" val="4013393545"/>
                  </a:ext>
                </a:extLst>
              </a:tr>
            </a:tbl>
          </a:graphicData>
        </a:graphic>
      </p:graphicFrame>
    </p:spTree>
    <p:extLst>
      <p:ext uri="{BB962C8B-B14F-4D97-AF65-F5344CB8AC3E}">
        <p14:creationId xmlns:p14="http://schemas.microsoft.com/office/powerpoint/2010/main" val="17375634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7F23D5-2545-CF98-A67E-01DBDA4F781C}"/>
              </a:ext>
            </a:extLst>
          </p:cNvPr>
          <p:cNvSpPr txBox="1"/>
          <p:nvPr/>
        </p:nvSpPr>
        <p:spPr>
          <a:xfrm>
            <a:off x="402336" y="151179"/>
            <a:ext cx="11325066" cy="6509603"/>
          </a:xfrm>
          <a:prstGeom prst="rect">
            <a:avLst/>
          </a:prstGeom>
          <a:noFill/>
        </p:spPr>
        <p:txBody>
          <a:bodyPr wrap="square">
            <a:spAutoFit/>
          </a:bodyPr>
          <a:lstStyle/>
          <a:p>
            <a:pPr algn="just" fontAlgn="base">
              <a:lnSpc>
                <a:spcPct val="150000"/>
              </a:lnSpc>
            </a:pPr>
            <a:endParaRPr lang="en-US" sz="2800" b="1" i="0" dirty="0">
              <a:solidFill>
                <a:srgbClr val="273239"/>
              </a:solidFill>
              <a:effectLst/>
              <a:latin typeface="Times New Roman" panose="02020603050405020304" pitchFamily="18" charset="0"/>
              <a:cs typeface="Times New Roman" panose="02020603050405020304" pitchFamily="18" charset="0"/>
            </a:endParaRPr>
          </a:p>
          <a:p>
            <a:pPr algn="just" fontAlgn="base">
              <a:lnSpc>
                <a:spcPct val="150000"/>
              </a:lnSpc>
            </a:pPr>
            <a:r>
              <a:rPr lang="en-US" sz="2800" b="1" i="0" dirty="0">
                <a:solidFill>
                  <a:srgbClr val="273239"/>
                </a:solidFill>
                <a:effectLst/>
                <a:latin typeface="Times New Roman" panose="02020603050405020304" pitchFamily="18" charset="0"/>
                <a:cs typeface="Times New Roman" panose="02020603050405020304" pitchFamily="18" charset="0"/>
              </a:rPr>
              <a:t>What Can You Do With Cryptocurrency</a:t>
            </a:r>
          </a:p>
          <a:p>
            <a:pPr algn="just" fontAlgn="base">
              <a:lnSpc>
                <a:spcPct val="150000"/>
              </a:lnSpc>
            </a:pPr>
            <a:endParaRPr lang="en-US" sz="2500" b="1" i="0" dirty="0">
              <a:solidFill>
                <a:srgbClr val="273239"/>
              </a:solidFill>
              <a:effectLst/>
              <a:latin typeface="Times New Roman" panose="02020603050405020304" pitchFamily="18" charset="0"/>
              <a:cs typeface="Times New Roman" panose="02020603050405020304" pitchFamily="18" charset="0"/>
            </a:endParaRPr>
          </a:p>
          <a:p>
            <a:pPr algn="just" fontAlgn="base">
              <a:lnSpc>
                <a:spcPct val="150000"/>
              </a:lnSpc>
            </a:pPr>
            <a:r>
              <a:rPr lang="en-US" sz="2500" b="1" i="0" dirty="0">
                <a:solidFill>
                  <a:srgbClr val="273239"/>
                </a:solidFill>
                <a:effectLst/>
                <a:latin typeface="Times New Roman" panose="02020603050405020304" pitchFamily="18" charset="0"/>
                <a:cs typeface="Times New Roman" panose="02020603050405020304" pitchFamily="18" charset="0"/>
              </a:rPr>
              <a:t>Shopping: </a:t>
            </a:r>
            <a:r>
              <a:rPr lang="en-US" sz="2500" b="0" i="0" dirty="0">
                <a:solidFill>
                  <a:srgbClr val="273239"/>
                </a:solidFill>
                <a:effectLst/>
                <a:latin typeface="Times New Roman" panose="02020603050405020304" pitchFamily="18" charset="0"/>
                <a:cs typeface="Times New Roman" panose="02020603050405020304" pitchFamily="18" charset="0"/>
              </a:rPr>
              <a:t>Some luxury retailers like Rolex and Patek Philippe accept 	cryptocurrency as a form of payment. </a:t>
            </a:r>
          </a:p>
          <a:p>
            <a:pPr algn="just" fontAlgn="base">
              <a:lnSpc>
                <a:spcPct val="150000"/>
              </a:lnSpc>
            </a:pPr>
            <a:r>
              <a:rPr lang="en-US" sz="2500" b="1" i="0" dirty="0">
                <a:solidFill>
                  <a:srgbClr val="273239"/>
                </a:solidFill>
                <a:effectLst/>
                <a:latin typeface="Times New Roman" panose="02020603050405020304" pitchFamily="18" charset="0"/>
                <a:cs typeface="Times New Roman" panose="02020603050405020304" pitchFamily="18" charset="0"/>
              </a:rPr>
              <a:t>Insurance: </a:t>
            </a:r>
            <a:r>
              <a:rPr lang="en-US" sz="2500" b="0" i="0" dirty="0">
                <a:solidFill>
                  <a:srgbClr val="273239"/>
                </a:solidFill>
                <a:effectLst/>
                <a:latin typeface="Times New Roman" panose="02020603050405020304" pitchFamily="18" charset="0"/>
                <a:cs typeface="Times New Roman" panose="02020603050405020304" pitchFamily="18" charset="0"/>
              </a:rPr>
              <a:t>Some insurance companies like Premier Shield insurance accept 	Bitcoin for premium payments.</a:t>
            </a:r>
          </a:p>
          <a:p>
            <a:pPr algn="just" fontAlgn="base">
              <a:lnSpc>
                <a:spcPct val="150000"/>
              </a:lnSpc>
            </a:pPr>
            <a:r>
              <a:rPr lang="en-US" sz="2500" b="1" i="0" dirty="0">
                <a:solidFill>
                  <a:srgbClr val="273239"/>
                </a:solidFill>
                <a:effectLst/>
                <a:latin typeface="Times New Roman" panose="02020603050405020304" pitchFamily="18" charset="0"/>
                <a:cs typeface="Times New Roman" panose="02020603050405020304" pitchFamily="18" charset="0"/>
              </a:rPr>
              <a:t>Gift: </a:t>
            </a:r>
            <a:r>
              <a:rPr lang="en-US" sz="2500" b="0" i="0" dirty="0">
                <a:solidFill>
                  <a:srgbClr val="273239"/>
                </a:solidFill>
                <a:effectLst/>
                <a:latin typeface="Times New Roman" panose="02020603050405020304" pitchFamily="18" charset="0"/>
                <a:cs typeface="Times New Roman" panose="02020603050405020304" pitchFamily="18" charset="0"/>
              </a:rPr>
              <a:t>Cryptocurrency can be a great gift for persons who want to learn and 	invest in new technology.</a:t>
            </a:r>
          </a:p>
          <a:p>
            <a:pPr algn="just" fontAlgn="base">
              <a:lnSpc>
                <a:spcPct val="150000"/>
              </a:lnSpc>
            </a:pPr>
            <a:r>
              <a:rPr lang="en-US" sz="2500" b="1" i="0" dirty="0">
                <a:solidFill>
                  <a:srgbClr val="273239"/>
                </a:solidFill>
                <a:effectLst/>
                <a:latin typeface="Times New Roman" panose="02020603050405020304" pitchFamily="18" charset="0"/>
                <a:cs typeface="Times New Roman" panose="02020603050405020304" pitchFamily="18" charset="0"/>
              </a:rPr>
              <a:t>Travel: </a:t>
            </a:r>
            <a:r>
              <a:rPr lang="en-US" sz="2500" b="0" i="0" dirty="0">
                <a:solidFill>
                  <a:srgbClr val="273239"/>
                </a:solidFill>
                <a:effectLst/>
                <a:latin typeface="Times New Roman" panose="02020603050405020304" pitchFamily="18" charset="0"/>
                <a:cs typeface="Times New Roman" panose="02020603050405020304" pitchFamily="18" charset="0"/>
              </a:rPr>
              <a:t>As crypto is not tied to a specific country, thus traveling with crypto 	can save a lot on money exchange fees. </a:t>
            </a:r>
          </a:p>
        </p:txBody>
      </p:sp>
      <p:pic>
        <p:nvPicPr>
          <p:cNvPr id="4098" name="Picture 2" descr="Can you earn rewards for holding certain cryptocurrencies? Yes, here's how  | Yourmoney-cryptocurrency – Gulf News">
            <a:extLst>
              <a:ext uri="{FF2B5EF4-FFF2-40B4-BE49-F238E27FC236}">
                <a16:creationId xmlns:a16="http://schemas.microsoft.com/office/drawing/2014/main" id="{FE1CA69F-88FB-61E1-1E3C-332F582650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64518" y="335718"/>
            <a:ext cx="2262884" cy="16971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14210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58A966D-C569-1382-5FCC-5FC4FD6C10E3}"/>
              </a:ext>
            </a:extLst>
          </p:cNvPr>
          <p:cNvSpPr txBox="1"/>
          <p:nvPr/>
        </p:nvSpPr>
        <p:spPr>
          <a:xfrm>
            <a:off x="329184" y="476564"/>
            <a:ext cx="11611282" cy="5831853"/>
          </a:xfrm>
          <a:prstGeom prst="rect">
            <a:avLst/>
          </a:prstGeom>
          <a:noFill/>
        </p:spPr>
        <p:txBody>
          <a:bodyPr wrap="square">
            <a:spAutoFit/>
          </a:bodyPr>
          <a:lstStyle/>
          <a:p>
            <a:pPr algn="just" fontAlgn="base">
              <a:lnSpc>
                <a:spcPct val="150000"/>
              </a:lnSpc>
            </a:pPr>
            <a:r>
              <a:rPr lang="en-US" sz="2800" b="1" i="0" dirty="0">
                <a:solidFill>
                  <a:srgbClr val="273239"/>
                </a:solidFill>
                <a:effectLst/>
                <a:latin typeface="Times New Roman" panose="02020603050405020304" pitchFamily="18" charset="0"/>
                <a:cs typeface="Times New Roman" panose="02020603050405020304" pitchFamily="18" charset="0"/>
              </a:rPr>
              <a:t>Advantages of Cryptocurrencies</a:t>
            </a:r>
          </a:p>
          <a:p>
            <a:pPr algn="just" fontAlgn="base">
              <a:lnSpc>
                <a:spcPct val="150000"/>
              </a:lnSpc>
            </a:pPr>
            <a:r>
              <a:rPr lang="en-US" sz="2800" b="0" i="0" dirty="0">
                <a:solidFill>
                  <a:srgbClr val="273239"/>
                </a:solidFill>
                <a:effectLst/>
                <a:latin typeface="Times New Roman" panose="02020603050405020304" pitchFamily="18" charset="0"/>
                <a:cs typeface="Times New Roman" panose="02020603050405020304" pitchFamily="18" charset="0"/>
              </a:rPr>
              <a:t>The following are some of the advantages of cryptocurrencies:</a:t>
            </a:r>
          </a:p>
          <a:p>
            <a:pPr algn="just" fontAlgn="base">
              <a:lnSpc>
                <a:spcPct val="150000"/>
              </a:lnSpc>
            </a:pPr>
            <a:r>
              <a:rPr lang="en-US" sz="2800" b="1" i="0" dirty="0">
                <a:solidFill>
                  <a:srgbClr val="273239"/>
                </a:solidFill>
                <a:effectLst/>
                <a:latin typeface="Times New Roman" panose="02020603050405020304" pitchFamily="18" charset="0"/>
                <a:cs typeface="Times New Roman" panose="02020603050405020304" pitchFamily="18" charset="0"/>
              </a:rPr>
              <a:t>Private and Secure: Blockchain</a:t>
            </a:r>
            <a:r>
              <a:rPr lang="en-US" sz="2800" b="0" i="0" dirty="0">
                <a:solidFill>
                  <a:srgbClr val="273239"/>
                </a:solidFill>
                <a:effectLst/>
                <a:latin typeface="Times New Roman" panose="02020603050405020304" pitchFamily="18" charset="0"/>
                <a:cs typeface="Times New Roman" panose="02020603050405020304" pitchFamily="18" charset="0"/>
              </a:rPr>
              <a:t> technology ensures user anonymity and at the same time the use of cryptography in blockchain makes the network secure for working with cryptocurrencies.</a:t>
            </a:r>
          </a:p>
          <a:p>
            <a:pPr algn="just" fontAlgn="base">
              <a:lnSpc>
                <a:spcPct val="150000"/>
              </a:lnSpc>
            </a:pPr>
            <a:r>
              <a:rPr lang="en-US" sz="2800" b="1" i="0" dirty="0">
                <a:solidFill>
                  <a:srgbClr val="273239"/>
                </a:solidFill>
                <a:effectLst/>
                <a:latin typeface="Times New Roman" panose="02020603050405020304" pitchFamily="18" charset="0"/>
                <a:cs typeface="Times New Roman" panose="02020603050405020304" pitchFamily="18" charset="0"/>
              </a:rPr>
              <a:t>Decentralized, Immutable, and Transparent: </a:t>
            </a:r>
            <a:r>
              <a:rPr lang="en-US" sz="2800" b="0" i="0" dirty="0">
                <a:solidFill>
                  <a:srgbClr val="273239"/>
                </a:solidFill>
                <a:effectLst/>
                <a:latin typeface="Times New Roman" panose="02020603050405020304" pitchFamily="18" charset="0"/>
                <a:cs typeface="Times New Roman" panose="02020603050405020304" pitchFamily="18" charset="0"/>
              </a:rPr>
              <a:t>The entire blockchain network works on the principle of shared ownership where there is no single regulating authority and the data is available to all the permissioned members on the network and is tamper-proof.</a:t>
            </a:r>
          </a:p>
        </p:txBody>
      </p:sp>
    </p:spTree>
    <p:extLst>
      <p:ext uri="{BB962C8B-B14F-4D97-AF65-F5344CB8AC3E}">
        <p14:creationId xmlns:p14="http://schemas.microsoft.com/office/powerpoint/2010/main" val="23694806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F5877-A733-43D4-FF45-9BD497BB7242}"/>
              </a:ext>
            </a:extLst>
          </p:cNvPr>
          <p:cNvSpPr>
            <a:spLocks noGrp="1"/>
          </p:cNvSpPr>
          <p:nvPr>
            <p:ph type="title"/>
          </p:nvPr>
        </p:nvSpPr>
        <p:spPr/>
        <p:txBody>
          <a:bodyPr/>
          <a:lstStyle/>
          <a:p>
            <a:r>
              <a:rPr lang="en-US" sz="4400" b="1" i="0" dirty="0">
                <a:solidFill>
                  <a:srgbClr val="273239"/>
                </a:solidFill>
                <a:effectLst/>
                <a:latin typeface="Times New Roman" panose="02020603050405020304" pitchFamily="18" charset="0"/>
                <a:cs typeface="Times New Roman" panose="02020603050405020304" pitchFamily="18" charset="0"/>
              </a:rPr>
              <a:t>Advantages of Cryptocurrencies</a:t>
            </a:r>
            <a:endParaRPr lang="en-IN" dirty="0"/>
          </a:p>
        </p:txBody>
      </p:sp>
      <p:sp>
        <p:nvSpPr>
          <p:cNvPr id="3" name="Content Placeholder 2">
            <a:extLst>
              <a:ext uri="{FF2B5EF4-FFF2-40B4-BE49-F238E27FC236}">
                <a16:creationId xmlns:a16="http://schemas.microsoft.com/office/drawing/2014/main" id="{571F6292-5F8E-2954-FE72-B4D67278727A}"/>
              </a:ext>
            </a:extLst>
          </p:cNvPr>
          <p:cNvSpPr>
            <a:spLocks noGrp="1"/>
          </p:cNvSpPr>
          <p:nvPr>
            <p:ph idx="1"/>
          </p:nvPr>
        </p:nvSpPr>
        <p:spPr>
          <a:xfrm>
            <a:off x="438912" y="2057400"/>
            <a:ext cx="11265408" cy="4038600"/>
          </a:xfrm>
        </p:spPr>
        <p:txBody>
          <a:bodyPr>
            <a:normAutofit/>
          </a:bodyPr>
          <a:lstStyle/>
          <a:p>
            <a:pPr marL="45720" indent="0" algn="just" fontAlgn="base">
              <a:lnSpc>
                <a:spcPct val="150000"/>
              </a:lnSpc>
              <a:buNone/>
            </a:pPr>
            <a:r>
              <a:rPr lang="en-US" b="1" i="0" dirty="0">
                <a:solidFill>
                  <a:srgbClr val="273239"/>
                </a:solidFill>
                <a:effectLst/>
                <a:latin typeface="Times New Roman" panose="02020603050405020304" pitchFamily="18" charset="0"/>
                <a:cs typeface="Times New Roman" panose="02020603050405020304" pitchFamily="18" charset="0"/>
              </a:rPr>
              <a:t>Inflation Hedge: </a:t>
            </a:r>
            <a:r>
              <a:rPr lang="en-US" b="0" i="0" dirty="0">
                <a:solidFill>
                  <a:srgbClr val="273239"/>
                </a:solidFill>
                <a:effectLst/>
                <a:latin typeface="Times New Roman" panose="02020603050405020304" pitchFamily="18" charset="0"/>
                <a:cs typeface="Times New Roman" panose="02020603050405020304" pitchFamily="18" charset="0"/>
              </a:rPr>
              <a:t>Cryptocurrencies are a good means of investing in times of inflation as they are limited in supply and there is a cap on mining any type of cryptocurrency.</a:t>
            </a:r>
          </a:p>
          <a:p>
            <a:pPr marL="45720" indent="0" algn="just" fontAlgn="base">
              <a:lnSpc>
                <a:spcPct val="150000"/>
              </a:lnSpc>
              <a:buNone/>
            </a:pPr>
            <a:r>
              <a:rPr lang="en-US" b="1" i="0" dirty="0">
                <a:solidFill>
                  <a:srgbClr val="273239"/>
                </a:solidFill>
                <a:effectLst/>
                <a:latin typeface="Times New Roman" panose="02020603050405020304" pitchFamily="18" charset="0"/>
                <a:cs typeface="Times New Roman" panose="02020603050405020304" pitchFamily="18" charset="0"/>
              </a:rPr>
              <a:t>Faster Settlement: </a:t>
            </a:r>
            <a:r>
              <a:rPr lang="en-US" b="0" i="0" dirty="0">
                <a:solidFill>
                  <a:srgbClr val="273239"/>
                </a:solidFill>
                <a:effectLst/>
                <a:latin typeface="Times New Roman" panose="02020603050405020304" pitchFamily="18" charset="0"/>
                <a:cs typeface="Times New Roman" panose="02020603050405020304" pitchFamily="18" charset="0"/>
              </a:rPr>
              <a:t>Payments for most cryptocurrencies settle in seconds or minutes. Wire transfers at banks can cost more and often take three to five business days to settle.</a:t>
            </a:r>
          </a:p>
          <a:p>
            <a:pPr marL="45720" indent="0" algn="just" fontAlgn="base">
              <a:lnSpc>
                <a:spcPct val="150000"/>
              </a:lnSpc>
              <a:buNone/>
            </a:pPr>
            <a:r>
              <a:rPr lang="en-US" b="1" i="0" dirty="0">
                <a:solidFill>
                  <a:srgbClr val="273239"/>
                </a:solidFill>
                <a:effectLst/>
                <a:latin typeface="Times New Roman" panose="02020603050405020304" pitchFamily="18" charset="0"/>
                <a:cs typeface="Times New Roman" panose="02020603050405020304" pitchFamily="18" charset="0"/>
              </a:rPr>
              <a:t>Easy Transactions: </a:t>
            </a:r>
            <a:r>
              <a:rPr lang="en-US" b="0" i="0" dirty="0">
                <a:solidFill>
                  <a:srgbClr val="273239"/>
                </a:solidFill>
                <a:effectLst/>
                <a:latin typeface="Times New Roman" panose="02020603050405020304" pitchFamily="18" charset="0"/>
                <a:cs typeface="Times New Roman" panose="02020603050405020304" pitchFamily="18" charset="0"/>
              </a:rPr>
              <a:t>Crypto transactions can be done more easily, in a private manner in comparison to bank transactions. using a simple smartphone and a cryptocurrency wallet, anyone can send or receive a variety of cryptocurrencies.</a:t>
            </a:r>
          </a:p>
          <a:p>
            <a:pPr marL="45720" indent="0">
              <a:lnSpc>
                <a:spcPct val="150000"/>
              </a:lnSpc>
              <a:buNone/>
            </a:pPr>
            <a:endParaRPr lang="en-IN" dirty="0"/>
          </a:p>
        </p:txBody>
      </p:sp>
    </p:spTree>
    <p:extLst>
      <p:ext uri="{BB962C8B-B14F-4D97-AF65-F5344CB8AC3E}">
        <p14:creationId xmlns:p14="http://schemas.microsoft.com/office/powerpoint/2010/main" val="31158251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0F78873-4A37-11FC-BBC7-2B3D1E58BFD8}"/>
              </a:ext>
            </a:extLst>
          </p:cNvPr>
          <p:cNvSpPr txBox="1"/>
          <p:nvPr/>
        </p:nvSpPr>
        <p:spPr>
          <a:xfrm>
            <a:off x="355107" y="615064"/>
            <a:ext cx="11514338" cy="5185522"/>
          </a:xfrm>
          <a:prstGeom prst="rect">
            <a:avLst/>
          </a:prstGeom>
          <a:noFill/>
        </p:spPr>
        <p:txBody>
          <a:bodyPr wrap="square">
            <a:spAutoFit/>
          </a:bodyPr>
          <a:lstStyle/>
          <a:p>
            <a:pPr algn="just" fontAlgn="base">
              <a:lnSpc>
                <a:spcPct val="150000"/>
              </a:lnSpc>
            </a:pPr>
            <a:r>
              <a:rPr lang="en-US" sz="2800" b="1" i="0" dirty="0">
                <a:solidFill>
                  <a:srgbClr val="273239"/>
                </a:solidFill>
                <a:effectLst/>
                <a:latin typeface="Times New Roman" panose="02020603050405020304" pitchFamily="18" charset="0"/>
                <a:cs typeface="Times New Roman" panose="02020603050405020304" pitchFamily="18" charset="0"/>
              </a:rPr>
              <a:t>Disadvantages of Cryptocurrencies</a:t>
            </a:r>
          </a:p>
          <a:p>
            <a:pPr algn="just" fontAlgn="base">
              <a:lnSpc>
                <a:spcPct val="150000"/>
              </a:lnSpc>
            </a:pPr>
            <a:endParaRPr lang="en-US" sz="2800" b="1" dirty="0">
              <a:solidFill>
                <a:srgbClr val="273239"/>
              </a:solidFill>
              <a:latin typeface="Times New Roman" panose="02020603050405020304" pitchFamily="18" charset="0"/>
              <a:cs typeface="Times New Roman" panose="02020603050405020304" pitchFamily="18" charset="0"/>
            </a:endParaRPr>
          </a:p>
          <a:p>
            <a:pPr algn="just" fontAlgn="base">
              <a:lnSpc>
                <a:spcPct val="150000"/>
              </a:lnSpc>
            </a:pPr>
            <a:r>
              <a:rPr lang="en-US" sz="2800" b="1" i="0" dirty="0">
                <a:solidFill>
                  <a:srgbClr val="273239"/>
                </a:solidFill>
                <a:effectLst/>
                <a:latin typeface="Times New Roman" panose="02020603050405020304" pitchFamily="18" charset="0"/>
                <a:cs typeface="Times New Roman" panose="02020603050405020304" pitchFamily="18" charset="0"/>
              </a:rPr>
              <a:t>Cybersecurity issues: </a:t>
            </a:r>
            <a:r>
              <a:rPr lang="en-US" sz="2800" b="0" i="0" dirty="0">
                <a:solidFill>
                  <a:srgbClr val="273239"/>
                </a:solidFill>
                <a:effectLst/>
                <a:latin typeface="Times New Roman" panose="02020603050405020304" pitchFamily="18" charset="0"/>
                <a:cs typeface="Times New Roman" panose="02020603050405020304" pitchFamily="18" charset="0"/>
              </a:rPr>
              <a:t>Cryptocurrencies will be subject to cyber security breaches and may fall into the hands of hackers. Mitigating this will require continuous maintenance of security infrastructure.</a:t>
            </a:r>
          </a:p>
          <a:p>
            <a:pPr algn="just" fontAlgn="base">
              <a:lnSpc>
                <a:spcPct val="150000"/>
              </a:lnSpc>
            </a:pPr>
            <a:r>
              <a:rPr lang="en-US" sz="2800" b="1" i="0" dirty="0">
                <a:solidFill>
                  <a:srgbClr val="273239"/>
                </a:solidFill>
                <a:effectLst/>
                <a:latin typeface="Times New Roman" panose="02020603050405020304" pitchFamily="18" charset="0"/>
                <a:cs typeface="Times New Roman" panose="02020603050405020304" pitchFamily="18" charset="0"/>
              </a:rPr>
              <a:t>Price Volatility: </a:t>
            </a:r>
            <a:r>
              <a:rPr lang="en-US" sz="2800" b="0" i="0" dirty="0">
                <a:solidFill>
                  <a:srgbClr val="273239"/>
                </a:solidFill>
                <a:effectLst/>
                <a:latin typeface="Times New Roman" panose="02020603050405020304" pitchFamily="18" charset="0"/>
                <a:cs typeface="Times New Roman" panose="02020603050405020304" pitchFamily="18" charset="0"/>
              </a:rPr>
              <a:t>Cryptocurrencies are highly volatile in terms of price as they have no underlying value and there is a supply-demand-like equation that is used to determine the price of cryptocurrencies. </a:t>
            </a:r>
          </a:p>
        </p:txBody>
      </p:sp>
    </p:spTree>
    <p:extLst>
      <p:ext uri="{BB962C8B-B14F-4D97-AF65-F5344CB8AC3E}">
        <p14:creationId xmlns:p14="http://schemas.microsoft.com/office/powerpoint/2010/main" val="11771670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E7BDDE-C4C2-2FEF-69C7-9AE8FFE03CC5}"/>
              </a:ext>
            </a:extLst>
          </p:cNvPr>
          <p:cNvSpPr>
            <a:spLocks noGrp="1"/>
          </p:cNvSpPr>
          <p:nvPr>
            <p:ph idx="1"/>
          </p:nvPr>
        </p:nvSpPr>
        <p:spPr>
          <a:xfrm>
            <a:off x="472440" y="630936"/>
            <a:ext cx="11329416" cy="4038600"/>
          </a:xfrm>
        </p:spPr>
        <p:txBody>
          <a:bodyPr>
            <a:normAutofit lnSpcReduction="10000"/>
          </a:bodyPr>
          <a:lstStyle/>
          <a:p>
            <a:pPr marL="45720" indent="0" algn="just" fontAlgn="base">
              <a:lnSpc>
                <a:spcPct val="150000"/>
              </a:lnSpc>
              <a:buNone/>
            </a:pPr>
            <a:r>
              <a:rPr lang="en-US" sz="2400" b="1" i="0" dirty="0">
                <a:solidFill>
                  <a:schemeClr val="tx1"/>
                </a:solidFill>
                <a:effectLst/>
                <a:latin typeface="Times New Roman" panose="02020603050405020304" pitchFamily="18" charset="0"/>
                <a:cs typeface="Times New Roman" panose="02020603050405020304" pitchFamily="18" charset="0"/>
              </a:rPr>
              <a:t>Scalability: </a:t>
            </a:r>
            <a:r>
              <a:rPr lang="en-US" sz="2400" b="0" i="0" dirty="0">
                <a:solidFill>
                  <a:schemeClr val="tx1"/>
                </a:solidFill>
                <a:effectLst/>
                <a:latin typeface="Times New Roman" panose="02020603050405020304" pitchFamily="18" charset="0"/>
                <a:cs typeface="Times New Roman" panose="02020603050405020304" pitchFamily="18" charset="0"/>
              </a:rPr>
              <a:t>Scalability is one of the major concerns with cryptocurrencies. Digital coins and tokens adoption is increasing rapidly but owing to the sluggish nature of the blockchain makes cryptocurrencies prone to transaction delays. Cryptocurrencies cannot compete with the number of transactions that payment giants like VISA, and Mastercard processes in a day.</a:t>
            </a:r>
          </a:p>
          <a:p>
            <a:pPr marL="45720" indent="0" algn="just" fontAlgn="base">
              <a:lnSpc>
                <a:spcPct val="150000"/>
              </a:lnSpc>
              <a:buNone/>
            </a:pPr>
            <a:r>
              <a:rPr lang="en-US" sz="2400" b="1" i="0" dirty="0">
                <a:solidFill>
                  <a:schemeClr val="tx1"/>
                </a:solidFill>
                <a:effectLst/>
                <a:latin typeface="Times New Roman" panose="02020603050405020304" pitchFamily="18" charset="0"/>
                <a:cs typeface="Times New Roman" panose="02020603050405020304" pitchFamily="18" charset="0"/>
              </a:rPr>
              <a:t>Less awareness: </a:t>
            </a:r>
            <a:r>
              <a:rPr lang="en-US" sz="2400" b="0" i="0" dirty="0">
                <a:solidFill>
                  <a:schemeClr val="tx1"/>
                </a:solidFill>
                <a:effectLst/>
                <a:latin typeface="Times New Roman" panose="02020603050405020304" pitchFamily="18" charset="0"/>
                <a:cs typeface="Times New Roman" panose="02020603050405020304" pitchFamily="18" charset="0"/>
              </a:rPr>
              <a:t>Cryptocurrency is still a new concept for the people and the long-term sustainability of cryptocurrencies remains to be seen.</a:t>
            </a:r>
          </a:p>
          <a:p>
            <a:pPr marL="45720" indent="0">
              <a:buNone/>
            </a:pPr>
            <a:endParaRPr lang="en-IN" dirty="0">
              <a:solidFill>
                <a:schemeClr val="tx1"/>
              </a:solidFill>
            </a:endParaRPr>
          </a:p>
        </p:txBody>
      </p:sp>
    </p:spTree>
    <p:extLst>
      <p:ext uri="{BB962C8B-B14F-4D97-AF65-F5344CB8AC3E}">
        <p14:creationId xmlns:p14="http://schemas.microsoft.com/office/powerpoint/2010/main" val="1050816623"/>
      </p:ext>
    </p:extLst>
  </p:cSld>
  <p:clrMapOvr>
    <a:masterClrMapping/>
  </p:clrMapOvr>
</p:sld>
</file>

<file path=ppt/theme/theme1.xml><?xml version="1.0" encoding="utf-8"?>
<a:theme xmlns:a="http://schemas.openxmlformats.org/drawingml/2006/main" name="Basis">
  <a:themeElements>
    <a:clrScheme name="Basis">
      <a:dk1>
        <a:sysClr val="windowText" lastClr="000000"/>
      </a:dk1>
      <a:lt1>
        <a:sysClr val="window" lastClr="FFFFFF"/>
      </a:lt1>
      <a:dk2>
        <a:srgbClr val="505046"/>
      </a:dk2>
      <a:lt2>
        <a:srgbClr val="EEECE1"/>
      </a:lt2>
      <a:accent1>
        <a:srgbClr val="DF5327"/>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63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446C221D-F63F-4DD8-B509-CFE168687BF2}"/>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TM03457444[[fn=Basis]]</Template>
  <TotalTime>171</TotalTime>
  <Words>3721</Words>
  <Application>Microsoft Office PowerPoint</Application>
  <PresentationFormat>Widescreen</PresentationFormat>
  <Paragraphs>254</Paragraphs>
  <Slides>50</Slides>
  <Notes>33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Calibri</vt:lpstr>
      <vt:lpstr>Corbel</vt:lpstr>
      <vt:lpstr>Times New Roman</vt:lpstr>
      <vt:lpstr>Basis</vt:lpstr>
      <vt:lpstr>Block Chain Architecture</vt:lpstr>
      <vt:lpstr>Core Components of Blockchain 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Types of Block Chain Architecture(variants)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Real life use case of block chain</vt:lpstr>
      <vt:lpstr>PowerPoint Presentation</vt:lpstr>
      <vt:lpstr>PowerPoint Presentation</vt:lpstr>
      <vt:lpstr>PowerPoint Presentation</vt:lpstr>
      <vt:lpstr>PowerPoint Presentation</vt:lpstr>
      <vt:lpstr>What is Crypto currency</vt:lpstr>
      <vt:lpstr>PowerPoint Presentation</vt:lpstr>
      <vt:lpstr>PowerPoint Presentation</vt:lpstr>
      <vt:lpstr>Cryptocurrency Working vs Fiat Currency Working</vt:lpstr>
      <vt:lpstr>PowerPoint Presentation</vt:lpstr>
      <vt:lpstr>PowerPoint Presentation</vt:lpstr>
      <vt:lpstr>Example 2</vt:lpstr>
      <vt:lpstr>PowerPoint Presentation</vt:lpstr>
      <vt:lpstr>How Does Cryptocurrency Works?</vt:lpstr>
      <vt:lpstr>PowerPoint Presentation</vt:lpstr>
      <vt:lpstr>PowerPoint Presentation</vt:lpstr>
      <vt:lpstr>PowerPoint Presentation</vt:lpstr>
      <vt:lpstr>PowerPoint Presentation</vt:lpstr>
      <vt:lpstr>PowerPoint Presentation</vt:lpstr>
      <vt:lpstr>Advantages of Cryptocurrencies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Raksha Puthran</dc:creator>
  <cp:lastModifiedBy>Raksha Puthran</cp:lastModifiedBy>
  <cp:revision>78</cp:revision>
  <dcterms:created xsi:type="dcterms:W3CDTF">2024-07-02T03:45:03Z</dcterms:created>
  <dcterms:modified xsi:type="dcterms:W3CDTF">2024-07-06T06:30:34Z</dcterms:modified>
</cp:coreProperties>
</file>