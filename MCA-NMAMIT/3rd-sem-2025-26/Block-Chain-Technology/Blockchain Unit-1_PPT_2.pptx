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89" r:id="rId25"/>
    <p:sldId id="285" r:id="rId26"/>
    <p:sldId id="286" r:id="rId27"/>
    <p:sldId id="287" r:id="rId28"/>
    <p:sldId id="288" r:id="rId29"/>
    <p:sldId id="290" r:id="rId30"/>
    <p:sldId id="291" r:id="rId31"/>
    <p:sldId id="292" r:id="rId32"/>
    <p:sldId id="293" r:id="rId33"/>
    <p:sldId id="302" r:id="rId34"/>
    <p:sldId id="303" r:id="rId35"/>
    <p:sldId id="304" r:id="rId36"/>
    <p:sldId id="305" r:id="rId37"/>
    <p:sldId id="294" r:id="rId38"/>
    <p:sldId id="307" r:id="rId39"/>
    <p:sldId id="308" r:id="rId40"/>
    <p:sldId id="306" r:id="rId41"/>
    <p:sldId id="295" r:id="rId42"/>
    <p:sldId id="296" r:id="rId43"/>
    <p:sldId id="297" r:id="rId44"/>
    <p:sldId id="298" r:id="rId45"/>
    <p:sldId id="299" r:id="rId46"/>
    <p:sldId id="300" r:id="rId47"/>
    <p:sldId id="301" r:id="rId48"/>
    <p:sldId id="312" r:id="rId49"/>
    <p:sldId id="319" r:id="rId50"/>
    <p:sldId id="320" r:id="rId51"/>
    <p:sldId id="321" r:id="rId52"/>
    <p:sldId id="318" r:id="rId53"/>
    <p:sldId id="310" r:id="rId54"/>
    <p:sldId id="313" r:id="rId55"/>
    <p:sldId id="322" r:id="rId56"/>
    <p:sldId id="324" r:id="rId57"/>
    <p:sldId id="323" r:id="rId58"/>
    <p:sldId id="325"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4" d="100"/>
          <a:sy n="84" d="100"/>
        </p:scale>
        <p:origin x="2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erthi Shetty" userId="f7f579f8d0148d2e" providerId="LiveId" clId="{56CC5ADB-C9A1-49E6-B0A1-DED007ECF839}"/>
    <pc:docChg chg="undo custSel addSld delSld modSld sldOrd">
      <pc:chgData name="Keerthi Shetty" userId="f7f579f8d0148d2e" providerId="LiveId" clId="{56CC5ADB-C9A1-49E6-B0A1-DED007ECF839}" dt="2023-02-24T10:26:13.374" v="160"/>
      <pc:docMkLst>
        <pc:docMk/>
      </pc:docMkLst>
      <pc:sldChg chg="add">
        <pc:chgData name="Keerthi Shetty" userId="f7f579f8d0148d2e" providerId="LiveId" clId="{56CC5ADB-C9A1-49E6-B0A1-DED007ECF839}" dt="2023-02-24T10:26:13.374" v="160"/>
        <pc:sldMkLst>
          <pc:docMk/>
          <pc:sldMk cId="420609854" sldId="426"/>
        </pc:sldMkLst>
      </pc:sldChg>
      <pc:sldChg chg="del">
        <pc:chgData name="Keerthi Shetty" userId="f7f579f8d0148d2e" providerId="LiveId" clId="{56CC5ADB-C9A1-49E6-B0A1-DED007ECF839}" dt="2023-02-24T10:25:54.532" v="159" actId="2696"/>
        <pc:sldMkLst>
          <pc:docMk/>
          <pc:sldMk cId="1105224857" sldId="426"/>
        </pc:sldMkLst>
      </pc:sldChg>
      <pc:sldChg chg="ord">
        <pc:chgData name="Keerthi Shetty" userId="f7f579f8d0148d2e" providerId="LiveId" clId="{56CC5ADB-C9A1-49E6-B0A1-DED007ECF839}" dt="2023-02-24T10:24:56.360" v="158"/>
        <pc:sldMkLst>
          <pc:docMk/>
          <pc:sldMk cId="3261338398" sldId="427"/>
        </pc:sldMkLst>
      </pc:sldChg>
      <pc:sldChg chg="add">
        <pc:chgData name="Keerthi Shetty" userId="f7f579f8d0148d2e" providerId="LiveId" clId="{56CC5ADB-C9A1-49E6-B0A1-DED007ECF839}" dt="2023-02-24T10:26:13.374" v="160"/>
        <pc:sldMkLst>
          <pc:docMk/>
          <pc:sldMk cId="550168952" sldId="428"/>
        </pc:sldMkLst>
      </pc:sldChg>
      <pc:sldChg chg="del">
        <pc:chgData name="Keerthi Shetty" userId="f7f579f8d0148d2e" providerId="LiveId" clId="{56CC5ADB-C9A1-49E6-B0A1-DED007ECF839}" dt="2023-02-24T10:25:54.532" v="159" actId="2696"/>
        <pc:sldMkLst>
          <pc:docMk/>
          <pc:sldMk cId="2033346058" sldId="428"/>
        </pc:sldMkLst>
      </pc:sldChg>
      <pc:sldChg chg="del">
        <pc:chgData name="Keerthi Shetty" userId="f7f579f8d0148d2e" providerId="LiveId" clId="{56CC5ADB-C9A1-49E6-B0A1-DED007ECF839}" dt="2023-02-24T10:25:54.532" v="159" actId="2696"/>
        <pc:sldMkLst>
          <pc:docMk/>
          <pc:sldMk cId="609000335" sldId="429"/>
        </pc:sldMkLst>
      </pc:sldChg>
      <pc:sldChg chg="add">
        <pc:chgData name="Keerthi Shetty" userId="f7f579f8d0148d2e" providerId="LiveId" clId="{56CC5ADB-C9A1-49E6-B0A1-DED007ECF839}" dt="2023-02-24T10:26:13.374" v="160"/>
        <pc:sldMkLst>
          <pc:docMk/>
          <pc:sldMk cId="4197012114" sldId="429"/>
        </pc:sldMkLst>
      </pc:sldChg>
      <pc:sldChg chg="del">
        <pc:chgData name="Keerthi Shetty" userId="f7f579f8d0148d2e" providerId="LiveId" clId="{56CC5ADB-C9A1-49E6-B0A1-DED007ECF839}" dt="2023-02-24T10:25:54.532" v="159" actId="2696"/>
        <pc:sldMkLst>
          <pc:docMk/>
          <pc:sldMk cId="2026491178" sldId="430"/>
        </pc:sldMkLst>
      </pc:sldChg>
      <pc:sldChg chg="add">
        <pc:chgData name="Keerthi Shetty" userId="f7f579f8d0148d2e" providerId="LiveId" clId="{56CC5ADB-C9A1-49E6-B0A1-DED007ECF839}" dt="2023-02-24T10:26:13.374" v="160"/>
        <pc:sldMkLst>
          <pc:docMk/>
          <pc:sldMk cId="2776510715" sldId="430"/>
        </pc:sldMkLst>
      </pc:sldChg>
      <pc:sldChg chg="addSp modSp del mod">
        <pc:chgData name="Keerthi Shetty" userId="f7f579f8d0148d2e" providerId="LiveId" clId="{56CC5ADB-C9A1-49E6-B0A1-DED007ECF839}" dt="2023-02-24T10:25:54.532" v="159" actId="2696"/>
        <pc:sldMkLst>
          <pc:docMk/>
          <pc:sldMk cId="17793394" sldId="431"/>
        </pc:sldMkLst>
        <pc:spChg chg="add mod">
          <ac:chgData name="Keerthi Shetty" userId="f7f579f8d0148d2e" providerId="LiveId" clId="{56CC5ADB-C9A1-49E6-B0A1-DED007ECF839}" dt="2023-02-24T09:59:17.073" v="20" actId="255"/>
          <ac:spMkLst>
            <pc:docMk/>
            <pc:sldMk cId="17793394" sldId="431"/>
            <ac:spMk id="2" creationId="{62F3ACD2-27FC-1FA1-1B56-2DC26F509859}"/>
          </ac:spMkLst>
        </pc:spChg>
        <pc:spChg chg="add mod">
          <ac:chgData name="Keerthi Shetty" userId="f7f579f8d0148d2e" providerId="LiveId" clId="{56CC5ADB-C9A1-49E6-B0A1-DED007ECF839}" dt="2023-02-24T10:10:09.451" v="119" actId="313"/>
          <ac:spMkLst>
            <pc:docMk/>
            <pc:sldMk cId="17793394" sldId="431"/>
            <ac:spMk id="4" creationId="{125F6AE6-1268-4174-A47B-A5C4FAAE8274}"/>
          </ac:spMkLst>
        </pc:spChg>
      </pc:sldChg>
      <pc:sldChg chg="add">
        <pc:chgData name="Keerthi Shetty" userId="f7f579f8d0148d2e" providerId="LiveId" clId="{56CC5ADB-C9A1-49E6-B0A1-DED007ECF839}" dt="2023-02-24T10:26:13.374" v="160"/>
        <pc:sldMkLst>
          <pc:docMk/>
          <pc:sldMk cId="4082719316" sldId="431"/>
        </pc:sldMkLst>
      </pc:sldChg>
      <pc:sldChg chg="add">
        <pc:chgData name="Keerthi Shetty" userId="f7f579f8d0148d2e" providerId="LiveId" clId="{56CC5ADB-C9A1-49E6-B0A1-DED007ECF839}" dt="2023-02-24T10:26:13.374" v="160"/>
        <pc:sldMkLst>
          <pc:docMk/>
          <pc:sldMk cId="2524598258" sldId="432"/>
        </pc:sldMkLst>
      </pc:sldChg>
      <pc:sldChg chg="del">
        <pc:chgData name="Keerthi Shetty" userId="f7f579f8d0148d2e" providerId="LiveId" clId="{56CC5ADB-C9A1-49E6-B0A1-DED007ECF839}" dt="2023-02-24T10:25:54.532" v="159" actId="2696"/>
        <pc:sldMkLst>
          <pc:docMk/>
          <pc:sldMk cId="3810806004" sldId="432"/>
        </pc:sldMkLst>
      </pc:sldChg>
      <pc:sldChg chg="del">
        <pc:chgData name="Keerthi Shetty" userId="f7f579f8d0148d2e" providerId="LiveId" clId="{56CC5ADB-C9A1-49E6-B0A1-DED007ECF839}" dt="2023-02-24T10:25:54.532" v="159" actId="2696"/>
        <pc:sldMkLst>
          <pc:docMk/>
          <pc:sldMk cId="603744330" sldId="433"/>
        </pc:sldMkLst>
      </pc:sldChg>
      <pc:sldChg chg="add">
        <pc:chgData name="Keerthi Shetty" userId="f7f579f8d0148d2e" providerId="LiveId" clId="{56CC5ADB-C9A1-49E6-B0A1-DED007ECF839}" dt="2023-02-24T10:26:13.374" v="160"/>
        <pc:sldMkLst>
          <pc:docMk/>
          <pc:sldMk cId="2005020926" sldId="433"/>
        </pc:sldMkLst>
      </pc:sldChg>
      <pc:sldChg chg="add">
        <pc:chgData name="Keerthi Shetty" userId="f7f579f8d0148d2e" providerId="LiveId" clId="{56CC5ADB-C9A1-49E6-B0A1-DED007ECF839}" dt="2023-02-24T10:26:13.374" v="160"/>
        <pc:sldMkLst>
          <pc:docMk/>
          <pc:sldMk cId="755042872" sldId="434"/>
        </pc:sldMkLst>
      </pc:sldChg>
      <pc:sldChg chg="addSp delSp modSp new del mod">
        <pc:chgData name="Keerthi Shetty" userId="f7f579f8d0148d2e" providerId="LiveId" clId="{56CC5ADB-C9A1-49E6-B0A1-DED007ECF839}" dt="2023-02-24T10:25:54.532" v="159" actId="2696"/>
        <pc:sldMkLst>
          <pc:docMk/>
          <pc:sldMk cId="2000572008" sldId="434"/>
        </pc:sldMkLst>
        <pc:spChg chg="del">
          <ac:chgData name="Keerthi Shetty" userId="f7f579f8d0148d2e" providerId="LiveId" clId="{56CC5ADB-C9A1-49E6-B0A1-DED007ECF839}" dt="2023-02-24T10:04:18.220" v="54" actId="478"/>
          <ac:spMkLst>
            <pc:docMk/>
            <pc:sldMk cId="2000572008" sldId="434"/>
            <ac:spMk id="2" creationId="{B05DEFA9-2273-5C9B-7984-F3824EBCEFE9}"/>
          </ac:spMkLst>
        </pc:spChg>
        <pc:spChg chg="del">
          <ac:chgData name="Keerthi Shetty" userId="f7f579f8d0148d2e" providerId="LiveId" clId="{56CC5ADB-C9A1-49E6-B0A1-DED007ECF839}" dt="2023-02-24T10:04:18.220" v="54" actId="478"/>
          <ac:spMkLst>
            <pc:docMk/>
            <pc:sldMk cId="2000572008" sldId="434"/>
            <ac:spMk id="3" creationId="{43194AAC-7A95-0C5A-71BD-27DB74F1FF3B}"/>
          </ac:spMkLst>
        </pc:spChg>
        <pc:spChg chg="add mod">
          <ac:chgData name="Keerthi Shetty" userId="f7f579f8d0148d2e" providerId="LiveId" clId="{56CC5ADB-C9A1-49E6-B0A1-DED007ECF839}" dt="2023-02-24T10:10:20.733" v="126" actId="313"/>
          <ac:spMkLst>
            <pc:docMk/>
            <pc:sldMk cId="2000572008" sldId="434"/>
            <ac:spMk id="5" creationId="{D7A7E070-1FD1-5220-3413-1515FEEC3E58}"/>
          </ac:spMkLst>
        </pc:spChg>
        <pc:spChg chg="add del">
          <ac:chgData name="Keerthi Shetty" userId="f7f579f8d0148d2e" providerId="LiveId" clId="{56CC5ADB-C9A1-49E6-B0A1-DED007ECF839}" dt="2023-02-24T10:07:05.758" v="85" actId="22"/>
          <ac:spMkLst>
            <pc:docMk/>
            <pc:sldMk cId="2000572008" sldId="434"/>
            <ac:spMk id="7" creationId="{1D0686AC-91EE-9CF4-4A8F-3E769E2F0A6F}"/>
          </ac:spMkLst>
        </pc:spChg>
        <pc:spChg chg="add mod">
          <ac:chgData name="Keerthi Shetty" userId="f7f579f8d0148d2e" providerId="LiveId" clId="{56CC5ADB-C9A1-49E6-B0A1-DED007ECF839}" dt="2023-02-24T10:10:30.118" v="128" actId="255"/>
          <ac:spMkLst>
            <pc:docMk/>
            <pc:sldMk cId="2000572008" sldId="434"/>
            <ac:spMk id="9" creationId="{D63156DA-23D6-345F-2499-3A66BDDB2798}"/>
          </ac:spMkLst>
        </pc:spChg>
      </pc:sldChg>
      <pc:sldChg chg="addSp delSp modSp new del mod">
        <pc:chgData name="Keerthi Shetty" userId="f7f579f8d0148d2e" providerId="LiveId" clId="{56CC5ADB-C9A1-49E6-B0A1-DED007ECF839}" dt="2023-02-24T10:25:54.532" v="159" actId="2696"/>
        <pc:sldMkLst>
          <pc:docMk/>
          <pc:sldMk cId="1395244984" sldId="435"/>
        </pc:sldMkLst>
        <pc:spChg chg="del">
          <ac:chgData name="Keerthi Shetty" userId="f7f579f8d0148d2e" providerId="LiveId" clId="{56CC5ADB-C9A1-49E6-B0A1-DED007ECF839}" dt="2023-02-24T10:08:08.818" v="91" actId="478"/>
          <ac:spMkLst>
            <pc:docMk/>
            <pc:sldMk cId="1395244984" sldId="435"/>
            <ac:spMk id="2" creationId="{A47C40F0-09C7-9685-633C-812CB3BA15A8}"/>
          </ac:spMkLst>
        </pc:spChg>
        <pc:spChg chg="del">
          <ac:chgData name="Keerthi Shetty" userId="f7f579f8d0148d2e" providerId="LiveId" clId="{56CC5ADB-C9A1-49E6-B0A1-DED007ECF839}" dt="2023-02-24T10:08:08.818" v="91" actId="478"/>
          <ac:spMkLst>
            <pc:docMk/>
            <pc:sldMk cId="1395244984" sldId="435"/>
            <ac:spMk id="3" creationId="{1227FC8A-4EF6-0FA4-A1F0-93602CE24AD3}"/>
          </ac:spMkLst>
        </pc:spChg>
        <pc:spChg chg="add mod">
          <ac:chgData name="Keerthi Shetty" userId="f7f579f8d0148d2e" providerId="LiveId" clId="{56CC5ADB-C9A1-49E6-B0A1-DED007ECF839}" dt="2023-02-24T10:09:22.246" v="101" actId="255"/>
          <ac:spMkLst>
            <pc:docMk/>
            <pc:sldMk cId="1395244984" sldId="435"/>
            <ac:spMk id="5" creationId="{A1298540-6A81-938F-45FB-890FBC3636A6}"/>
          </ac:spMkLst>
        </pc:spChg>
        <pc:spChg chg="add mod">
          <ac:chgData name="Keerthi Shetty" userId="f7f579f8d0148d2e" providerId="LiveId" clId="{56CC5ADB-C9A1-49E6-B0A1-DED007ECF839}" dt="2023-02-24T10:09:33.533" v="103" actId="255"/>
          <ac:spMkLst>
            <pc:docMk/>
            <pc:sldMk cId="1395244984" sldId="435"/>
            <ac:spMk id="7" creationId="{D09764B9-D0F2-04B0-9028-E94B2A4E85E5}"/>
          </ac:spMkLst>
        </pc:spChg>
        <pc:spChg chg="add mod">
          <ac:chgData name="Keerthi Shetty" userId="f7f579f8d0148d2e" providerId="LiveId" clId="{56CC5ADB-C9A1-49E6-B0A1-DED007ECF839}" dt="2023-02-24T10:11:35.691" v="156" actId="123"/>
          <ac:spMkLst>
            <pc:docMk/>
            <pc:sldMk cId="1395244984" sldId="435"/>
            <ac:spMk id="9" creationId="{1C8F9FFC-3EC6-DC21-0658-120A4D6C0284}"/>
          </ac:spMkLst>
        </pc:spChg>
      </pc:sldChg>
      <pc:sldChg chg="add">
        <pc:chgData name="Keerthi Shetty" userId="f7f579f8d0148d2e" providerId="LiveId" clId="{56CC5ADB-C9A1-49E6-B0A1-DED007ECF839}" dt="2023-02-24T10:26:13.374" v="160"/>
        <pc:sldMkLst>
          <pc:docMk/>
          <pc:sldMk cId="3623944515" sldId="435"/>
        </pc:sldMkLst>
      </pc:sldChg>
    </pc:docChg>
  </pc:docChgLst>
  <pc:docChgLst>
    <pc:chgData name="Keerthi Shetty" userId="f7f579f8d0148d2e" providerId="LiveId" clId="{D74F5145-A02E-454F-A4A5-173B6C372D7C}"/>
    <pc:docChg chg="modSld sldOrd">
      <pc:chgData name="Keerthi Shetty" userId="f7f579f8d0148d2e" providerId="LiveId" clId="{D74F5145-A02E-454F-A4A5-173B6C372D7C}" dt="2023-11-16T06:14:17.667" v="5"/>
      <pc:docMkLst>
        <pc:docMk/>
      </pc:docMkLst>
      <pc:sldChg chg="modSp mod">
        <pc:chgData name="Keerthi Shetty" userId="f7f579f8d0148d2e" providerId="LiveId" clId="{D74F5145-A02E-454F-A4A5-173B6C372D7C}" dt="2023-09-11T03:20:45.071" v="3" actId="20577"/>
        <pc:sldMkLst>
          <pc:docMk/>
          <pc:sldMk cId="2624397412" sldId="257"/>
        </pc:sldMkLst>
        <pc:graphicFrameChg chg="modGraphic">
          <ac:chgData name="Keerthi Shetty" userId="f7f579f8d0148d2e" providerId="LiveId" clId="{D74F5145-A02E-454F-A4A5-173B6C372D7C}" dt="2023-09-11T03:20:45.071" v="3" actId="20577"/>
          <ac:graphicFrameMkLst>
            <pc:docMk/>
            <pc:sldMk cId="2624397412" sldId="257"/>
            <ac:graphicFrameMk id="4" creationId="{4CA67BE1-B275-9973-B8DF-883388DEB87C}"/>
          </ac:graphicFrameMkLst>
        </pc:graphicFrameChg>
      </pc:sldChg>
      <pc:sldChg chg="ord">
        <pc:chgData name="Keerthi Shetty" userId="f7f579f8d0148d2e" providerId="LiveId" clId="{D74F5145-A02E-454F-A4A5-173B6C372D7C}" dt="2023-11-16T06:14:17.667" v="5"/>
        <pc:sldMkLst>
          <pc:docMk/>
          <pc:sldMk cId="3524747516" sldId="3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79C205-3844-409F-8297-E09814AA7793}" type="datetimeFigureOut">
              <a:rPr lang="en-IN" smtClean="0"/>
              <a:t>29-08-2025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F4A90D-17C0-4C6D-AFEF-BB9428DC2E86}" type="slidenum">
              <a:rPr lang="en-IN" smtClean="0"/>
              <a:t>‹#›</a:t>
            </a:fld>
            <a:endParaRPr lang="en-IN"/>
          </a:p>
        </p:txBody>
      </p:sp>
    </p:spTree>
    <p:extLst>
      <p:ext uri="{BB962C8B-B14F-4D97-AF65-F5344CB8AC3E}">
        <p14:creationId xmlns:p14="http://schemas.microsoft.com/office/powerpoint/2010/main" val="11419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52D36-26C5-CC2C-0C8B-B3DA6CB108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CDB7FA-7F2B-2C65-26E8-5FD8821626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584DB2-34BD-8B80-C488-86352552A05B}"/>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5" name="Footer Placeholder 4">
            <a:extLst>
              <a:ext uri="{FF2B5EF4-FFF2-40B4-BE49-F238E27FC236}">
                <a16:creationId xmlns:a16="http://schemas.microsoft.com/office/drawing/2014/main" id="{105EE5AF-E109-8A65-4CB6-A86722F3CB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E5F3A9-865C-E568-8C1A-5FCED721C873}"/>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3097190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A99D6-A44E-DF79-CC1D-88DCBD2B9D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B17D20-A580-FC8E-AAE1-DA02D21FC8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A2B2D0-D743-068D-EED9-FBBB91324468}"/>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5" name="Footer Placeholder 4">
            <a:extLst>
              <a:ext uri="{FF2B5EF4-FFF2-40B4-BE49-F238E27FC236}">
                <a16:creationId xmlns:a16="http://schemas.microsoft.com/office/drawing/2014/main" id="{D6BA160B-EAB3-B278-4789-F024F915FA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4C3CB2-5122-0D50-8177-252AB1A98056}"/>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2839266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75117-7C74-E102-0491-39AA8792B8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5DE42E-B668-A8A2-D893-C3736BC464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A54CA7-5887-5F5D-37BB-94DDD939792D}"/>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5" name="Footer Placeholder 4">
            <a:extLst>
              <a:ext uri="{FF2B5EF4-FFF2-40B4-BE49-F238E27FC236}">
                <a16:creationId xmlns:a16="http://schemas.microsoft.com/office/drawing/2014/main" id="{775B15C9-A740-071C-E8DD-82B1B42903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423E8D-EE36-27B6-5CD2-A09B184BA94F}"/>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221663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3CE69-5A56-C456-E84D-085373680A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EA0D0E-12E5-8589-FE86-00AA1566B8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BBC7D0-CDBF-E5AB-6462-F921BCD188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5D43F7-1939-DBC5-BCD2-16DB59AFEBA9}"/>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6" name="Footer Placeholder 5">
            <a:extLst>
              <a:ext uri="{FF2B5EF4-FFF2-40B4-BE49-F238E27FC236}">
                <a16:creationId xmlns:a16="http://schemas.microsoft.com/office/drawing/2014/main" id="{F46898A6-8C5E-C3BB-6933-B032744626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BCC331-202F-DCBE-2425-737B5B7ACAA2}"/>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238038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529A-AE8F-F608-C051-552DB372E1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23FB03-9035-A093-0564-3361ECAA8F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D83563-3811-9BCA-04B0-BC5116DA7F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CC54E2-5AFE-B22E-4A93-A6932649B3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38089C-5E1A-5984-3982-28FAFA8F6E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21CF65-528F-5BDF-0F02-636F6E056D04}"/>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8" name="Footer Placeholder 7">
            <a:extLst>
              <a:ext uri="{FF2B5EF4-FFF2-40B4-BE49-F238E27FC236}">
                <a16:creationId xmlns:a16="http://schemas.microsoft.com/office/drawing/2014/main" id="{62387FE2-73D1-FDD7-4AF8-1F67F7E741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F5516C-8C92-0947-9DCA-2CA4F6F1DCE2}"/>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737561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1F1D8-AD70-0BA2-CD6C-E5BC8657339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45CA5F-1E27-F40E-1222-AED8C0B2B43C}"/>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4" name="Footer Placeholder 3">
            <a:extLst>
              <a:ext uri="{FF2B5EF4-FFF2-40B4-BE49-F238E27FC236}">
                <a16:creationId xmlns:a16="http://schemas.microsoft.com/office/drawing/2014/main" id="{E1176552-8453-4310-C18C-BB0DD5FF58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2AF80F-BF26-80F2-A396-E234E473F2DD}"/>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2655396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B08819-022C-C267-A805-F7002DBC70B1}"/>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3" name="Footer Placeholder 2">
            <a:extLst>
              <a:ext uri="{FF2B5EF4-FFF2-40B4-BE49-F238E27FC236}">
                <a16:creationId xmlns:a16="http://schemas.microsoft.com/office/drawing/2014/main" id="{1DC5F04D-10EA-9CBE-0D72-6D31040663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9E7B97-BEAC-F4D2-5F60-DE6E8F40BC37}"/>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1351400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C30A-2844-9DE2-3197-9CF5360BC9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95C1A5-A8A5-3089-BB06-56990C112E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DD8994-46FF-6F85-2853-F0E454015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47A33D-00EF-FF38-0078-9BCA2E70A824}"/>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6" name="Footer Placeholder 5">
            <a:extLst>
              <a:ext uri="{FF2B5EF4-FFF2-40B4-BE49-F238E27FC236}">
                <a16:creationId xmlns:a16="http://schemas.microsoft.com/office/drawing/2014/main" id="{9A1124F5-2358-9BC4-5410-A9A36A3161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337D66-4388-170B-EC09-993D62BEB1BF}"/>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117470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7FD4B-7EEF-465C-1EC2-0ECF2B17C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50BA0D-4EC6-0721-D4E5-CAC36E8CAC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2039EC1-4D58-2C4C-9CEC-1BD48C9407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C8DB9F-8022-7BFA-AFB6-FF8EE42139A6}"/>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6" name="Footer Placeholder 5">
            <a:extLst>
              <a:ext uri="{FF2B5EF4-FFF2-40B4-BE49-F238E27FC236}">
                <a16:creationId xmlns:a16="http://schemas.microsoft.com/office/drawing/2014/main" id="{00E28949-3F06-CF33-F66D-DE2E60F763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E90BE3-6DF4-0728-2BA1-A32835C17892}"/>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3651615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47D1E-3F04-174B-B34D-34274D38F0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796778-A2E2-09D7-0C2B-76719AD805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413C47-E0D4-6505-5B3E-267A5F92534D}"/>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5" name="Footer Placeholder 4">
            <a:extLst>
              <a:ext uri="{FF2B5EF4-FFF2-40B4-BE49-F238E27FC236}">
                <a16:creationId xmlns:a16="http://schemas.microsoft.com/office/drawing/2014/main" id="{45BC3D29-9672-D738-8C1C-C1E6B49F3E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B72926-0235-C9DA-46BF-AD8DCA98E8D9}"/>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1309504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112398-7FD8-6207-CF96-12CA7DB42D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E43EAA-F547-8ADB-9C13-DBB0DB6329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0E83AA-AEB1-F066-7328-0011F0C4297A}"/>
              </a:ext>
            </a:extLst>
          </p:cNvPr>
          <p:cNvSpPr>
            <a:spLocks noGrp="1"/>
          </p:cNvSpPr>
          <p:nvPr>
            <p:ph type="dt" sz="half" idx="10"/>
          </p:nvPr>
        </p:nvSpPr>
        <p:spPr/>
        <p:txBody>
          <a:bodyPr/>
          <a:lstStyle/>
          <a:p>
            <a:fld id="{FDE128CB-B06B-4231-83BD-7E43585D2C57}" type="datetimeFigureOut">
              <a:rPr lang="en-IN" smtClean="0"/>
              <a:t>29-08-2025</a:t>
            </a:fld>
            <a:endParaRPr lang="en-IN"/>
          </a:p>
        </p:txBody>
      </p:sp>
      <p:sp>
        <p:nvSpPr>
          <p:cNvPr id="5" name="Footer Placeholder 4">
            <a:extLst>
              <a:ext uri="{FF2B5EF4-FFF2-40B4-BE49-F238E27FC236}">
                <a16:creationId xmlns:a16="http://schemas.microsoft.com/office/drawing/2014/main" id="{1379C63E-D634-FA46-DB90-CD009BA380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6A93AC-4A8E-10E6-0CAB-ADF5C1389D28}"/>
              </a:ext>
            </a:extLst>
          </p:cNvPr>
          <p:cNvSpPr>
            <a:spLocks noGrp="1"/>
          </p:cNvSpPr>
          <p:nvPr>
            <p:ph type="sldNum" sz="quarter" idx="12"/>
          </p:nvPr>
        </p:nvSpPr>
        <p:spPr/>
        <p:txBody>
          <a:bodyPr/>
          <a:lstStyle/>
          <a:p>
            <a:fld id="{88B8EB20-CA79-4B43-9672-6BB9C7DB551D}" type="slidenum">
              <a:rPr lang="en-IN" smtClean="0"/>
              <a:t>‹#›</a:t>
            </a:fld>
            <a:endParaRPr lang="en-IN"/>
          </a:p>
        </p:txBody>
      </p:sp>
    </p:spTree>
    <p:extLst>
      <p:ext uri="{BB962C8B-B14F-4D97-AF65-F5344CB8AC3E}">
        <p14:creationId xmlns:p14="http://schemas.microsoft.com/office/powerpoint/2010/main" val="1039558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4AFB5A-CA5E-0193-1AB4-0D2CA897E3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7B9B39-93E8-EA5D-D4F8-ED3B0E67BE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008DB6-7C5B-2A8B-FFDD-CE3ED055C7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128CB-B06B-4231-83BD-7E43585D2C57}" type="datetimeFigureOut">
              <a:rPr lang="en-IN" smtClean="0"/>
              <a:t>29-08-2025</a:t>
            </a:fld>
            <a:endParaRPr lang="en-IN"/>
          </a:p>
        </p:txBody>
      </p:sp>
      <p:sp>
        <p:nvSpPr>
          <p:cNvPr id="5" name="Footer Placeholder 4">
            <a:extLst>
              <a:ext uri="{FF2B5EF4-FFF2-40B4-BE49-F238E27FC236}">
                <a16:creationId xmlns:a16="http://schemas.microsoft.com/office/drawing/2014/main" id="{35CE368C-043A-B6F3-5AB8-73246A7EDB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EE9F096-EC01-A0EC-6D5D-A3DD131B6F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B8EB20-CA79-4B43-9672-6BB9C7DB551D}" type="slidenum">
              <a:rPr lang="en-IN" smtClean="0"/>
              <a:t>‹#›</a:t>
            </a:fld>
            <a:endParaRPr lang="en-IN"/>
          </a:p>
        </p:txBody>
      </p:sp>
    </p:spTree>
    <p:extLst>
      <p:ext uri="{BB962C8B-B14F-4D97-AF65-F5344CB8AC3E}">
        <p14:creationId xmlns:p14="http://schemas.microsoft.com/office/powerpoint/2010/main" val="2783169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kernelmag.dailydot.com/issue-sections/staff-editorials/11336/how-much-electricity-bitcoin-use/" TargetMode="External"/><Relationship Id="rId2" Type="http://schemas.openxmlformats.org/officeDocument/2006/relationships/hyperlink" Target="http://motherboard.vice.com/read/bitcoin-could-consume-as-much-electricity-as-denmark-by-2020"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pixelcrayons.com/blog/list-of-top-7-blockchain-apps-for-android-users/"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2.deloitte.com/us/en.html"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blockchain-council.org/blockchain/tokenization-vs-encryption/" TargetMode="External"/><Relationship Id="rId2" Type="http://schemas.openxmlformats.org/officeDocument/2006/relationships/hyperlink" Target="https://www.blockchain-council.org/certifications/certified-blockchain-developer/"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FCE523B-E994-7B0F-7B63-F66279585D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14606"/>
            <a:ext cx="6960093" cy="4927107"/>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D8D232D5-A8C6-1D4A-8AB0-C7D77133B137}"/>
              </a:ext>
            </a:extLst>
          </p:cNvPr>
          <p:cNvSpPr txBox="1">
            <a:spLocks/>
          </p:cNvSpPr>
          <p:nvPr/>
        </p:nvSpPr>
        <p:spPr>
          <a:xfrm>
            <a:off x="6960093" y="2048912"/>
            <a:ext cx="4994341" cy="1832460"/>
          </a:xfrm>
          <a:prstGeom prst="rect">
            <a:avLst/>
          </a:prstGeom>
          <a:noFill/>
          <a:effectLst>
            <a:outerShdw blurRad="50800" dist="38100" dir="2700000" algn="tl" rotWithShape="0">
              <a:prstClr val="black">
                <a:alpha val="40000"/>
              </a:prstClr>
            </a:outerShdw>
          </a:effectLst>
        </p:spPr>
        <p:txBody>
          <a:bodyPr vert="horz" lIns="91440" tIns="45720" rIns="91440" bIns="45720" rtlCol="0" anchor="ctr">
            <a:normAutofit/>
          </a:bodyPr>
          <a:lstStyle>
            <a:lvl1pPr algn="r" defTabSz="1219170" rtl="0" eaLnBrk="1" latinLnBrk="0" hangingPunct="1">
              <a:spcBef>
                <a:spcPct val="0"/>
              </a:spcBef>
              <a:buNone/>
              <a:defRPr sz="4800" kern="1200">
                <a:solidFill>
                  <a:srgbClr val="1100EA"/>
                </a:solidFill>
                <a:latin typeface="+mj-lt"/>
                <a:ea typeface="+mj-ea"/>
                <a:cs typeface="+mj-cs"/>
              </a:defRPr>
            </a:lvl1pPr>
          </a:lstStyle>
          <a:p>
            <a:pPr algn="ctr"/>
            <a:r>
              <a:rPr lang="en-IN" dirty="0">
                <a:latin typeface="Algerian" panose="04020705040A02060702" pitchFamily="82" charset="0"/>
              </a:rPr>
              <a:t>BLOCKCHAIN TECHNOLOGY</a:t>
            </a:r>
          </a:p>
        </p:txBody>
      </p:sp>
    </p:spTree>
    <p:extLst>
      <p:ext uri="{BB962C8B-B14F-4D97-AF65-F5344CB8AC3E}">
        <p14:creationId xmlns:p14="http://schemas.microsoft.com/office/powerpoint/2010/main" val="1884912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CA67BE1-B275-9973-B8DF-883388DEB87C}"/>
              </a:ext>
            </a:extLst>
          </p:cNvPr>
          <p:cNvGraphicFramePr>
            <a:graphicFrameLocks noGrp="1"/>
          </p:cNvGraphicFramePr>
          <p:nvPr>
            <p:extLst>
              <p:ext uri="{D42A27DB-BD31-4B8C-83A1-F6EECF244321}">
                <p14:modId xmlns:p14="http://schemas.microsoft.com/office/powerpoint/2010/main" val="2638381730"/>
              </p:ext>
            </p:extLst>
          </p:nvPr>
        </p:nvGraphicFramePr>
        <p:xfrm>
          <a:off x="2019300" y="2319691"/>
          <a:ext cx="8153400" cy="2218618"/>
        </p:xfrm>
        <a:graphic>
          <a:graphicData uri="http://schemas.openxmlformats.org/drawingml/2006/table">
            <a:tbl>
              <a:tblPr/>
              <a:tblGrid>
                <a:gridCol w="3241462">
                  <a:extLst>
                    <a:ext uri="{9D8B030D-6E8A-4147-A177-3AD203B41FA5}">
                      <a16:colId xmlns:a16="http://schemas.microsoft.com/office/drawing/2014/main" val="20000"/>
                    </a:ext>
                  </a:extLst>
                </a:gridCol>
                <a:gridCol w="358173">
                  <a:extLst>
                    <a:ext uri="{9D8B030D-6E8A-4147-A177-3AD203B41FA5}">
                      <a16:colId xmlns:a16="http://schemas.microsoft.com/office/drawing/2014/main" val="20001"/>
                    </a:ext>
                  </a:extLst>
                </a:gridCol>
                <a:gridCol w="1456568">
                  <a:extLst>
                    <a:ext uri="{9D8B030D-6E8A-4147-A177-3AD203B41FA5}">
                      <a16:colId xmlns:a16="http://schemas.microsoft.com/office/drawing/2014/main" val="20002"/>
                    </a:ext>
                  </a:extLst>
                </a:gridCol>
                <a:gridCol w="233807">
                  <a:extLst>
                    <a:ext uri="{9D8B030D-6E8A-4147-A177-3AD203B41FA5}">
                      <a16:colId xmlns:a16="http://schemas.microsoft.com/office/drawing/2014/main" val="20003"/>
                    </a:ext>
                  </a:extLst>
                </a:gridCol>
                <a:gridCol w="1845583">
                  <a:extLst>
                    <a:ext uri="{9D8B030D-6E8A-4147-A177-3AD203B41FA5}">
                      <a16:colId xmlns:a16="http://schemas.microsoft.com/office/drawing/2014/main" val="20004"/>
                    </a:ext>
                  </a:extLst>
                </a:gridCol>
                <a:gridCol w="439756">
                  <a:extLst>
                    <a:ext uri="{9D8B030D-6E8A-4147-A177-3AD203B41FA5}">
                      <a16:colId xmlns:a16="http://schemas.microsoft.com/office/drawing/2014/main" val="20005"/>
                    </a:ext>
                  </a:extLst>
                </a:gridCol>
                <a:gridCol w="578051">
                  <a:extLst>
                    <a:ext uri="{9D8B030D-6E8A-4147-A177-3AD203B41FA5}">
                      <a16:colId xmlns:a16="http://schemas.microsoft.com/office/drawing/2014/main" val="20006"/>
                    </a:ext>
                  </a:extLst>
                </a:gridCol>
              </a:tblGrid>
              <a:tr h="584890">
                <a:tc gridSpan="7">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lgn="ctr">
                        <a:spcBef>
                          <a:spcPts val="0"/>
                        </a:spcBef>
                        <a:spcAft>
                          <a:spcPts val="0"/>
                        </a:spcAft>
                      </a:pPr>
                      <a:r>
                        <a:rPr lang="en-US" sz="3600" b="1" dirty="0">
                          <a:latin typeface="Times New Roman" panose="02020603050405020304" pitchFamily="18" charset="0"/>
                          <a:ea typeface="Times New Roman"/>
                          <a:cs typeface="Times New Roman" panose="02020603050405020304" pitchFamily="18" charset="0"/>
                        </a:rPr>
                        <a:t>BLOCKCHAIN TECHNOLOGY</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2064">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dirty="0">
                          <a:latin typeface="Times New Roman" panose="02020603050405020304" pitchFamily="18" charset="0"/>
                          <a:ea typeface="Times New Roman"/>
                          <a:cs typeface="Times New Roman" panose="02020603050405020304" pitchFamily="18" charset="0"/>
                        </a:rPr>
                        <a:t>Course Code</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a:t>
                      </a: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22MCA333</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CIE Marks</a:t>
                      </a: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a:t>
                      </a: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50</a:t>
                      </a: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12064">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dirty="0">
                          <a:latin typeface="Times New Roman" panose="02020603050405020304" pitchFamily="18" charset="0"/>
                          <a:ea typeface="Times New Roman"/>
                          <a:cs typeface="Times New Roman" panose="02020603050405020304" pitchFamily="18" charset="0"/>
                        </a:rPr>
                        <a:t>Teaching Hours /Week (L:T:P:S)</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a:t>
                      </a: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dirty="0">
                          <a:latin typeface="Times New Roman" panose="02020603050405020304" pitchFamily="18" charset="0"/>
                          <a:ea typeface="Times New Roman"/>
                          <a:cs typeface="Times New Roman" panose="02020603050405020304" pitchFamily="18" charset="0"/>
                        </a:rPr>
                        <a:t>3-0-0-0</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dirty="0">
                          <a:latin typeface="Times New Roman" panose="02020603050405020304" pitchFamily="18" charset="0"/>
                          <a:ea typeface="Times New Roman"/>
                          <a:cs typeface="Times New Roman" panose="02020603050405020304" pitchFamily="18" charset="0"/>
                        </a:rPr>
                        <a:t>SEE Marks</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a:t>
                      </a: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dirty="0">
                          <a:latin typeface="Times New Roman" panose="02020603050405020304" pitchFamily="18" charset="0"/>
                          <a:ea typeface="Times New Roman"/>
                          <a:cs typeface="Times New Roman" panose="02020603050405020304" pitchFamily="18" charset="0"/>
                        </a:rPr>
                        <a:t>50</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12064">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Total Hours</a:t>
                      </a: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a:t>
                      </a: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a:latin typeface="Times New Roman" panose="02020603050405020304" pitchFamily="18" charset="0"/>
                          <a:ea typeface="Times New Roman"/>
                          <a:cs typeface="Times New Roman" panose="02020603050405020304" pitchFamily="18" charset="0"/>
                        </a:rPr>
                        <a:t>39</a:t>
                      </a:r>
                      <a:endParaRPr lang="en-US" sz="320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dirty="0">
                          <a:latin typeface="Times New Roman" panose="02020603050405020304" pitchFamily="18" charset="0"/>
                          <a:ea typeface="Times New Roman"/>
                          <a:cs typeface="Times New Roman" panose="02020603050405020304" pitchFamily="18" charset="0"/>
                        </a:rPr>
                        <a:t>Credits</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dirty="0">
                          <a:latin typeface="Times New Roman" panose="02020603050405020304" pitchFamily="18" charset="0"/>
                          <a:ea typeface="Times New Roman"/>
                          <a:cs typeface="Times New Roman" panose="02020603050405020304" pitchFamily="18" charset="0"/>
                        </a:rPr>
                        <a:t>:</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rbel"/>
                        </a:defRPr>
                      </a:lvl1pPr>
                      <a:lvl2pPr marL="457200" algn="l" defTabSz="914400" rtl="0" eaLnBrk="1" latinLnBrk="0" hangingPunct="1">
                        <a:defRPr sz="1800" kern="1200">
                          <a:solidFill>
                            <a:schemeClr val="tx1"/>
                          </a:solidFill>
                          <a:latin typeface="Corbel"/>
                        </a:defRPr>
                      </a:lvl2pPr>
                      <a:lvl3pPr marL="914400" algn="l" defTabSz="914400" rtl="0" eaLnBrk="1" latinLnBrk="0" hangingPunct="1">
                        <a:defRPr sz="1800" kern="1200">
                          <a:solidFill>
                            <a:schemeClr val="tx1"/>
                          </a:solidFill>
                          <a:latin typeface="Corbel"/>
                        </a:defRPr>
                      </a:lvl3pPr>
                      <a:lvl4pPr marL="1371600" algn="l" defTabSz="914400" rtl="0" eaLnBrk="1" latinLnBrk="0" hangingPunct="1">
                        <a:defRPr sz="1800" kern="1200">
                          <a:solidFill>
                            <a:schemeClr val="tx1"/>
                          </a:solidFill>
                          <a:latin typeface="Corbel"/>
                        </a:defRPr>
                      </a:lvl4pPr>
                      <a:lvl5pPr marL="1828800" algn="l" defTabSz="914400" rtl="0" eaLnBrk="1" latinLnBrk="0" hangingPunct="1">
                        <a:defRPr sz="1800" kern="1200">
                          <a:solidFill>
                            <a:schemeClr val="tx1"/>
                          </a:solidFill>
                          <a:latin typeface="Corbel"/>
                        </a:defRPr>
                      </a:lvl5pPr>
                      <a:lvl6pPr marL="2286000" algn="l" defTabSz="914400" rtl="0" eaLnBrk="1" latinLnBrk="0" hangingPunct="1">
                        <a:defRPr sz="1800" kern="1200">
                          <a:solidFill>
                            <a:schemeClr val="tx1"/>
                          </a:solidFill>
                          <a:latin typeface="Corbel"/>
                        </a:defRPr>
                      </a:lvl6pPr>
                      <a:lvl7pPr marL="2743200" algn="l" defTabSz="914400" rtl="0" eaLnBrk="1" latinLnBrk="0" hangingPunct="1">
                        <a:defRPr sz="1800" kern="1200">
                          <a:solidFill>
                            <a:schemeClr val="tx1"/>
                          </a:solidFill>
                          <a:latin typeface="Corbel"/>
                        </a:defRPr>
                      </a:lvl7pPr>
                      <a:lvl8pPr marL="3200400" algn="l" defTabSz="914400" rtl="0" eaLnBrk="1" latinLnBrk="0" hangingPunct="1">
                        <a:defRPr sz="1800" kern="1200">
                          <a:solidFill>
                            <a:schemeClr val="tx1"/>
                          </a:solidFill>
                          <a:latin typeface="Corbel"/>
                        </a:defRPr>
                      </a:lvl8pPr>
                      <a:lvl9pPr marL="3657600" algn="l" defTabSz="914400" rtl="0" eaLnBrk="1" latinLnBrk="0" hangingPunct="1">
                        <a:defRPr sz="1800" kern="1200">
                          <a:solidFill>
                            <a:schemeClr val="tx1"/>
                          </a:solidFill>
                          <a:latin typeface="Corbel"/>
                        </a:defRPr>
                      </a:lvl9pPr>
                    </a:lstStyle>
                    <a:p>
                      <a:pPr marL="0" marR="0">
                        <a:spcBef>
                          <a:spcPts val="0"/>
                        </a:spcBef>
                        <a:spcAft>
                          <a:spcPts val="0"/>
                        </a:spcAft>
                      </a:pPr>
                      <a:r>
                        <a:rPr lang="en-US" sz="2000" b="1" dirty="0">
                          <a:latin typeface="Times New Roman" panose="02020603050405020304" pitchFamily="18" charset="0"/>
                          <a:ea typeface="Times New Roman"/>
                          <a:cs typeface="Times New Roman" panose="02020603050405020304" pitchFamily="18" charset="0"/>
                        </a:rPr>
                        <a:t>03</a:t>
                      </a:r>
                      <a:endParaRPr lang="en-US" sz="3200" dirty="0">
                        <a:latin typeface="Times New Roman" panose="02020603050405020304" pitchFamily="18" charset="0"/>
                        <a:ea typeface="Times New Rom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24397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2C14E4-4308-E440-E4D2-5F17964783F7}"/>
              </a:ext>
            </a:extLst>
          </p:cNvPr>
          <p:cNvSpPr txBox="1"/>
          <p:nvPr/>
        </p:nvSpPr>
        <p:spPr>
          <a:xfrm>
            <a:off x="250054" y="805072"/>
            <a:ext cx="11691891" cy="4528419"/>
          </a:xfrm>
          <a:prstGeom prst="rect">
            <a:avLst/>
          </a:prstGeom>
          <a:noFill/>
        </p:spPr>
        <p:txBody>
          <a:bodyPr wrap="square">
            <a:spAutoFit/>
          </a:bodyPr>
          <a:lstStyle/>
          <a:p>
            <a:pPr algn="ctr">
              <a:buNone/>
            </a:pPr>
            <a:r>
              <a:rPr lang="en-US" sz="2800" b="1" dirty="0">
                <a:latin typeface="Times New Roman" pitchFamily="18" charset="0"/>
                <a:cs typeface="Times New Roman" pitchFamily="18" charset="0"/>
              </a:rPr>
              <a:t>UNIT– I</a:t>
            </a:r>
          </a:p>
          <a:p>
            <a:pPr algn="ctr">
              <a:buNone/>
            </a:pPr>
            <a:endParaRPr lang="en-US" sz="2800" dirty="0">
              <a:latin typeface="Times New Roman" pitchFamily="18" charset="0"/>
              <a:cs typeface="Times New Roman" pitchFamily="18" charset="0"/>
            </a:endParaRPr>
          </a:p>
          <a:p>
            <a:pPr marL="631825" indent="-457200" algn="just">
              <a:lnSpc>
                <a:spcPct val="120000"/>
              </a:lnSpc>
              <a:buFont typeface="Wingdings" panose="05000000000000000000" pitchFamily="2" charset="2"/>
              <a:buChar char="q"/>
            </a:pPr>
            <a:r>
              <a:rPr lang="en-US" sz="2800" b="1" dirty="0">
                <a:latin typeface="Times New Roman" pitchFamily="18" charset="0"/>
                <a:cs typeface="Times New Roman" pitchFamily="18" charset="0"/>
              </a:rPr>
              <a:t>Introduction to Blockchain</a:t>
            </a:r>
          </a:p>
          <a:p>
            <a:pPr marL="631825" indent="-457200" algn="just">
              <a:lnSpc>
                <a:spcPct val="120000"/>
              </a:lnSpc>
              <a:buFont typeface="Wingdings" panose="05000000000000000000" pitchFamily="2" charset="2"/>
              <a:buChar char="q"/>
            </a:pPr>
            <a:r>
              <a:rPr lang="en-IN" sz="2800" b="1" dirty="0">
                <a:latin typeface="Times New Roman" pitchFamily="18" charset="0"/>
                <a:cs typeface="Times New Roman" pitchFamily="18" charset="0"/>
              </a:rPr>
              <a:t>How Blockchain Works</a:t>
            </a:r>
          </a:p>
          <a:p>
            <a:pPr marL="631825" indent="-457200" algn="just">
              <a:lnSpc>
                <a:spcPct val="120000"/>
              </a:lnSpc>
              <a:buFont typeface="Wingdings" panose="05000000000000000000" pitchFamily="2" charset="2"/>
              <a:buChar char="q"/>
            </a:pPr>
            <a:r>
              <a:rPr lang="en-IN" sz="2800" b="1" dirty="0">
                <a:latin typeface="Times New Roman" pitchFamily="18" charset="0"/>
                <a:cs typeface="Times New Roman" pitchFamily="18" charset="0"/>
              </a:rPr>
              <a:t>Blockchain VS Bitcoin</a:t>
            </a:r>
          </a:p>
          <a:p>
            <a:pPr marL="631825" indent="-457200" algn="just">
              <a:lnSpc>
                <a:spcPct val="120000"/>
              </a:lnSpc>
              <a:buFont typeface="Wingdings" panose="05000000000000000000" pitchFamily="2" charset="2"/>
              <a:buChar char="q"/>
            </a:pPr>
            <a:r>
              <a:rPr lang="en-IN" sz="2800" b="1" dirty="0">
                <a:latin typeface="Times New Roman" pitchFamily="18" charset="0"/>
                <a:cs typeface="Times New Roman" pitchFamily="18" charset="0"/>
              </a:rPr>
              <a:t>Practical Application</a:t>
            </a:r>
          </a:p>
          <a:p>
            <a:pPr marL="631825" indent="-457200" algn="just">
              <a:lnSpc>
                <a:spcPct val="120000"/>
              </a:lnSpc>
              <a:buFont typeface="Wingdings" panose="05000000000000000000" pitchFamily="2" charset="2"/>
              <a:buChar char="q"/>
            </a:pPr>
            <a:r>
              <a:rPr lang="en-IN" sz="2800" b="1" dirty="0">
                <a:latin typeface="Times New Roman" pitchFamily="18" charset="0"/>
                <a:cs typeface="Times New Roman" pitchFamily="18" charset="0"/>
              </a:rPr>
              <a:t>Public and Private Key Basics</a:t>
            </a:r>
          </a:p>
          <a:p>
            <a:pPr marL="631825" indent="-457200" algn="just">
              <a:lnSpc>
                <a:spcPct val="120000"/>
              </a:lnSpc>
              <a:buFont typeface="Wingdings" panose="05000000000000000000" pitchFamily="2" charset="2"/>
              <a:buChar char="q"/>
            </a:pPr>
            <a:r>
              <a:rPr lang="en-IN" sz="2800" b="1" dirty="0">
                <a:latin typeface="Times New Roman" pitchFamily="18" charset="0"/>
                <a:cs typeface="Times New Roman" pitchFamily="18" charset="0"/>
              </a:rPr>
              <a:t>Pros and Cons of Blockchain</a:t>
            </a:r>
          </a:p>
          <a:p>
            <a:pPr marL="631825" indent="-457200" algn="just">
              <a:lnSpc>
                <a:spcPct val="120000"/>
              </a:lnSpc>
              <a:buFont typeface="Wingdings" panose="05000000000000000000" pitchFamily="2" charset="2"/>
              <a:buChar char="q"/>
            </a:pPr>
            <a:r>
              <a:rPr lang="en-IN" sz="2800" b="1" dirty="0">
                <a:latin typeface="Times New Roman" pitchFamily="18" charset="0"/>
                <a:cs typeface="Times New Roman" pitchFamily="18" charset="0"/>
              </a:rPr>
              <a:t>Myths about Bitcoin</a:t>
            </a:r>
          </a:p>
        </p:txBody>
      </p:sp>
    </p:spTree>
    <p:extLst>
      <p:ext uri="{BB962C8B-B14F-4D97-AF65-F5344CB8AC3E}">
        <p14:creationId xmlns:p14="http://schemas.microsoft.com/office/powerpoint/2010/main" val="3663566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97D66C-1FD7-9CBB-FBBD-DE8D0DBE02B4}"/>
              </a:ext>
            </a:extLst>
          </p:cNvPr>
          <p:cNvSpPr txBox="1"/>
          <p:nvPr/>
        </p:nvSpPr>
        <p:spPr>
          <a:xfrm>
            <a:off x="3048740" y="451295"/>
            <a:ext cx="6094520"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Why I Should Study Blockchain</a:t>
            </a:r>
            <a:endParaRPr lang="en-IN" sz="3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85B12F1-E291-9E45-5FE8-F70C4703E9ED}"/>
              </a:ext>
            </a:extLst>
          </p:cNvPr>
          <p:cNvSpPr txBox="1"/>
          <p:nvPr/>
        </p:nvSpPr>
        <p:spPr>
          <a:xfrm>
            <a:off x="248574" y="1785242"/>
            <a:ext cx="8023195" cy="2185214"/>
          </a:xfrm>
          <a:prstGeom prst="rect">
            <a:avLst/>
          </a:prstGeom>
          <a:noFill/>
        </p:spPr>
        <p:txBody>
          <a:bodyPr wrap="square">
            <a:spAutoFit/>
          </a:bodyPr>
          <a:lstStyle/>
          <a:p>
            <a:pPr marL="538163" indent="-4445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It is a Disruptive Technology</a:t>
            </a:r>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p:txBody>
      </p:sp>
      <p:pic>
        <p:nvPicPr>
          <p:cNvPr id="8" name="Picture 7">
            <a:extLst>
              <a:ext uri="{FF2B5EF4-FFF2-40B4-BE49-F238E27FC236}">
                <a16:creationId xmlns:a16="http://schemas.microsoft.com/office/drawing/2014/main" id="{618EF4FA-E92F-0C74-AA9E-91AA21BA80E3}"/>
              </a:ext>
            </a:extLst>
          </p:cNvPr>
          <p:cNvPicPr>
            <a:picLocks noChangeAspect="1"/>
          </p:cNvPicPr>
          <p:nvPr/>
        </p:nvPicPr>
        <p:blipFill>
          <a:blip r:embed="rId2"/>
          <a:stretch>
            <a:fillRect/>
          </a:stretch>
        </p:blipFill>
        <p:spPr>
          <a:xfrm>
            <a:off x="422032" y="2698811"/>
            <a:ext cx="11353622" cy="3098307"/>
          </a:xfrm>
          <a:prstGeom prst="rect">
            <a:avLst/>
          </a:prstGeom>
        </p:spPr>
      </p:pic>
    </p:spTree>
    <p:extLst>
      <p:ext uri="{BB962C8B-B14F-4D97-AF65-F5344CB8AC3E}">
        <p14:creationId xmlns:p14="http://schemas.microsoft.com/office/powerpoint/2010/main" val="149894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38CF96-68BB-6B6E-F4D8-9985349723F5}"/>
              </a:ext>
            </a:extLst>
          </p:cNvPr>
          <p:cNvSpPr txBox="1"/>
          <p:nvPr/>
        </p:nvSpPr>
        <p:spPr>
          <a:xfrm>
            <a:off x="3048740" y="476719"/>
            <a:ext cx="609452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Why I Should Study Blockchain</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C683DAB-EE5A-045A-778C-11BFBB54A711}"/>
              </a:ext>
            </a:extLst>
          </p:cNvPr>
          <p:cNvPicPr>
            <a:picLocks noChangeAspect="1"/>
          </p:cNvPicPr>
          <p:nvPr/>
        </p:nvPicPr>
        <p:blipFill>
          <a:blip r:embed="rId2"/>
          <a:stretch>
            <a:fillRect/>
          </a:stretch>
        </p:blipFill>
        <p:spPr>
          <a:xfrm>
            <a:off x="1269394" y="1578585"/>
            <a:ext cx="9653211" cy="3700829"/>
          </a:xfrm>
          <a:prstGeom prst="rect">
            <a:avLst/>
          </a:prstGeom>
        </p:spPr>
      </p:pic>
    </p:spTree>
    <p:extLst>
      <p:ext uri="{BB962C8B-B14F-4D97-AF65-F5344CB8AC3E}">
        <p14:creationId xmlns:p14="http://schemas.microsoft.com/office/powerpoint/2010/main" val="3387828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86846A-4616-EA47-4489-AC5D50B5CD95}"/>
              </a:ext>
            </a:extLst>
          </p:cNvPr>
          <p:cNvSpPr txBox="1"/>
          <p:nvPr/>
        </p:nvSpPr>
        <p:spPr>
          <a:xfrm>
            <a:off x="2129017" y="332400"/>
            <a:ext cx="609452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Why I Should Study Blockchain</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35A0B15-C3A8-088B-FF45-1316BE91071C}"/>
              </a:ext>
            </a:extLst>
          </p:cNvPr>
          <p:cNvPicPr>
            <a:picLocks noChangeAspect="1"/>
          </p:cNvPicPr>
          <p:nvPr/>
        </p:nvPicPr>
        <p:blipFill>
          <a:blip r:embed="rId2"/>
          <a:stretch>
            <a:fillRect/>
          </a:stretch>
        </p:blipFill>
        <p:spPr>
          <a:xfrm>
            <a:off x="847046" y="1307613"/>
            <a:ext cx="8658462" cy="4242773"/>
          </a:xfrm>
          <a:prstGeom prst="rect">
            <a:avLst/>
          </a:prstGeom>
        </p:spPr>
      </p:pic>
      <p:sp>
        <p:nvSpPr>
          <p:cNvPr id="8" name="TextBox 7">
            <a:extLst>
              <a:ext uri="{FF2B5EF4-FFF2-40B4-BE49-F238E27FC236}">
                <a16:creationId xmlns:a16="http://schemas.microsoft.com/office/drawing/2014/main" id="{65ABD08A-DCB4-C686-C9DD-3FC5532CAB59}"/>
              </a:ext>
            </a:extLst>
          </p:cNvPr>
          <p:cNvSpPr txBox="1"/>
          <p:nvPr/>
        </p:nvSpPr>
        <p:spPr>
          <a:xfrm>
            <a:off x="847046" y="5817713"/>
            <a:ext cx="9061882" cy="461665"/>
          </a:xfrm>
          <a:prstGeom prst="rect">
            <a:avLst/>
          </a:prstGeom>
          <a:noFill/>
        </p:spPr>
        <p:txBody>
          <a:bodyPr wrap="square">
            <a:spAutoFit/>
          </a:bodyPr>
          <a:lstStyle/>
          <a:p>
            <a:pPr marL="538163" indent="-4445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Satoshi Nakamoto (invented bitcoin-2008 after financial crisis)</a:t>
            </a:r>
          </a:p>
        </p:txBody>
      </p:sp>
    </p:spTree>
    <p:extLst>
      <p:ext uri="{BB962C8B-B14F-4D97-AF65-F5344CB8AC3E}">
        <p14:creationId xmlns:p14="http://schemas.microsoft.com/office/powerpoint/2010/main" val="321576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310F02-FC54-3F75-B786-A05477996410}"/>
              </a:ext>
            </a:extLst>
          </p:cNvPr>
          <p:cNvSpPr txBox="1"/>
          <p:nvPr/>
        </p:nvSpPr>
        <p:spPr>
          <a:xfrm>
            <a:off x="3047260" y="299166"/>
            <a:ext cx="609452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Why I Should Study Blockchain</a:t>
            </a:r>
            <a:endParaRPr lang="en-IN"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13E6066-05FE-1A12-7918-45E678F3E295}"/>
              </a:ext>
            </a:extLst>
          </p:cNvPr>
          <p:cNvSpPr txBox="1"/>
          <p:nvPr/>
        </p:nvSpPr>
        <p:spPr>
          <a:xfrm>
            <a:off x="1242874" y="1297009"/>
            <a:ext cx="7898906" cy="830997"/>
          </a:xfrm>
          <a:prstGeom prst="rect">
            <a:avLst/>
          </a:prstGeom>
          <a:noFill/>
        </p:spPr>
        <p:txBody>
          <a:bodyPr wrap="square">
            <a:spAutoFit/>
          </a:bodyPr>
          <a:lstStyle/>
          <a:p>
            <a:pPr marL="538163" indent="-4445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It is a Disruptive Technology</a:t>
            </a:r>
          </a:p>
          <a:p>
            <a:pPr marL="995363" lvl="1" indent="-4445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Can we trust?</a:t>
            </a:r>
          </a:p>
        </p:txBody>
      </p:sp>
      <p:pic>
        <p:nvPicPr>
          <p:cNvPr id="8" name="Picture 7">
            <a:extLst>
              <a:ext uri="{FF2B5EF4-FFF2-40B4-BE49-F238E27FC236}">
                <a16:creationId xmlns:a16="http://schemas.microsoft.com/office/drawing/2014/main" id="{7DF054D1-7F35-F042-D92E-C18100FA52A7}"/>
              </a:ext>
            </a:extLst>
          </p:cNvPr>
          <p:cNvPicPr>
            <a:picLocks noChangeAspect="1"/>
          </p:cNvPicPr>
          <p:nvPr/>
        </p:nvPicPr>
        <p:blipFill>
          <a:blip r:embed="rId2"/>
          <a:stretch>
            <a:fillRect/>
          </a:stretch>
        </p:blipFill>
        <p:spPr>
          <a:xfrm>
            <a:off x="281126" y="2059190"/>
            <a:ext cx="3518189" cy="4421509"/>
          </a:xfrm>
          <a:prstGeom prst="rect">
            <a:avLst/>
          </a:prstGeom>
        </p:spPr>
      </p:pic>
      <p:pic>
        <p:nvPicPr>
          <p:cNvPr id="9" name="Picture 8">
            <a:extLst>
              <a:ext uri="{FF2B5EF4-FFF2-40B4-BE49-F238E27FC236}">
                <a16:creationId xmlns:a16="http://schemas.microsoft.com/office/drawing/2014/main" id="{0EEC5AC7-EB72-0C03-6ADE-60047F513565}"/>
              </a:ext>
            </a:extLst>
          </p:cNvPr>
          <p:cNvPicPr>
            <a:picLocks noChangeAspect="1"/>
          </p:cNvPicPr>
          <p:nvPr/>
        </p:nvPicPr>
        <p:blipFill>
          <a:blip r:embed="rId3"/>
          <a:stretch>
            <a:fillRect/>
          </a:stretch>
        </p:blipFill>
        <p:spPr>
          <a:xfrm>
            <a:off x="6602990" y="2059189"/>
            <a:ext cx="5117956" cy="4421509"/>
          </a:xfrm>
          <a:prstGeom prst="rect">
            <a:avLst/>
          </a:prstGeom>
        </p:spPr>
      </p:pic>
    </p:spTree>
    <p:extLst>
      <p:ext uri="{BB962C8B-B14F-4D97-AF65-F5344CB8AC3E}">
        <p14:creationId xmlns:p14="http://schemas.microsoft.com/office/powerpoint/2010/main" val="2769180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F7243C-BDAE-33EF-C819-F1FE2BE2B4FB}"/>
              </a:ext>
            </a:extLst>
          </p:cNvPr>
          <p:cNvSpPr txBox="1"/>
          <p:nvPr/>
        </p:nvSpPr>
        <p:spPr>
          <a:xfrm>
            <a:off x="106532" y="731849"/>
            <a:ext cx="11798423" cy="4832092"/>
          </a:xfrm>
          <a:prstGeom prst="rect">
            <a:avLst/>
          </a:prstGeom>
          <a:noFill/>
        </p:spPr>
        <p:txBody>
          <a:bodyPr wrap="square">
            <a:spAutoFit/>
          </a:bodyPr>
          <a:lstStyle/>
          <a:p>
            <a:pPr marL="457200" indent="-457200">
              <a:buFont typeface="Wingdings" panose="05000000000000000000" pitchFamily="2" charset="2"/>
              <a:buChar char="§"/>
            </a:pPr>
            <a:r>
              <a:rPr lang="en-US" sz="2800" b="0" i="0" dirty="0">
                <a:solidFill>
                  <a:srgbClr val="273239"/>
                </a:solidFill>
                <a:effectLst/>
                <a:latin typeface="Times New Roman" panose="02020603050405020304" pitchFamily="18" charset="0"/>
                <a:cs typeface="Times New Roman" panose="02020603050405020304" pitchFamily="18" charset="0"/>
              </a:rPr>
              <a:t>Blockchain is the backbone Technology of Digital Cryptocurrency </a:t>
            </a:r>
            <a:r>
              <a:rPr lang="en-US" sz="2800" b="0" i="0" dirty="0" err="1">
                <a:solidFill>
                  <a:srgbClr val="273239"/>
                </a:solidFill>
                <a:effectLst/>
                <a:latin typeface="Times New Roman" panose="02020603050405020304" pitchFamily="18" charset="0"/>
                <a:cs typeface="Times New Roman" panose="02020603050405020304" pitchFamily="18" charset="0"/>
              </a:rPr>
              <a:t>BitCoin</a:t>
            </a:r>
            <a:r>
              <a:rPr lang="en-US" sz="2800" b="0" i="0" dirty="0">
                <a:solidFill>
                  <a:srgbClr val="273239"/>
                </a:solidFill>
                <a:effectLst/>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
            </a:pPr>
            <a:r>
              <a:rPr lang="en-US" sz="2800" b="0" i="0" dirty="0">
                <a:solidFill>
                  <a:srgbClr val="273239"/>
                </a:solidFill>
                <a:effectLst/>
                <a:latin typeface="Times New Roman" panose="02020603050405020304" pitchFamily="18" charset="0"/>
                <a:cs typeface="Times New Roman" panose="02020603050405020304" pitchFamily="18" charset="0"/>
              </a:rPr>
              <a:t>The blockchain is a distributed database of records of all transactions or digital event that have been executed and shared among participating parties. </a:t>
            </a:r>
          </a:p>
          <a:p>
            <a:pPr marL="457200" indent="-457200">
              <a:buFont typeface="Wingdings" panose="05000000000000000000" pitchFamily="2" charset="2"/>
              <a:buChar char="§"/>
            </a:pPr>
            <a:r>
              <a:rPr lang="en-US" sz="2800" b="0" i="0" dirty="0">
                <a:solidFill>
                  <a:srgbClr val="273239"/>
                </a:solidFill>
                <a:effectLst/>
                <a:latin typeface="Times New Roman" panose="02020603050405020304" pitchFamily="18" charset="0"/>
                <a:cs typeface="Times New Roman" panose="02020603050405020304" pitchFamily="18" charset="0"/>
              </a:rPr>
              <a:t>Each transaction verified by the majority of participants of the system. </a:t>
            </a:r>
          </a:p>
          <a:p>
            <a:pPr marL="457200" indent="-457200">
              <a:buFont typeface="Wingdings" panose="05000000000000000000" pitchFamily="2" charset="2"/>
              <a:buChar char="§"/>
            </a:pPr>
            <a:r>
              <a:rPr lang="en-US" sz="2800" b="0" i="0" dirty="0">
                <a:solidFill>
                  <a:srgbClr val="273239"/>
                </a:solidFill>
                <a:effectLst/>
                <a:latin typeface="Times New Roman" panose="02020603050405020304" pitchFamily="18" charset="0"/>
                <a:cs typeface="Times New Roman" panose="02020603050405020304" pitchFamily="18" charset="0"/>
              </a:rPr>
              <a:t>It contains every single record of each transaction. </a:t>
            </a:r>
          </a:p>
          <a:p>
            <a:pPr marL="457200" indent="-457200">
              <a:buFont typeface="Wingdings" panose="05000000000000000000" pitchFamily="2" charset="2"/>
              <a:buChar char="§"/>
            </a:pPr>
            <a:r>
              <a:rPr lang="en-US" sz="2800" b="0" i="0" dirty="0" err="1">
                <a:solidFill>
                  <a:srgbClr val="273239"/>
                </a:solidFill>
                <a:effectLst/>
                <a:latin typeface="Times New Roman" panose="02020603050405020304" pitchFamily="18" charset="0"/>
                <a:cs typeface="Times New Roman" panose="02020603050405020304" pitchFamily="18" charset="0"/>
              </a:rPr>
              <a:t>BitCoin</a:t>
            </a:r>
            <a:r>
              <a:rPr lang="en-US" sz="2800" b="0" i="0" dirty="0">
                <a:solidFill>
                  <a:srgbClr val="273239"/>
                </a:solidFill>
                <a:effectLst/>
                <a:latin typeface="Times New Roman" panose="02020603050405020304" pitchFamily="18" charset="0"/>
                <a:cs typeface="Times New Roman" panose="02020603050405020304" pitchFamily="18" charset="0"/>
              </a:rPr>
              <a:t> is the most popular cryptocurrency an example of the blockchain.</a:t>
            </a:r>
          </a:p>
          <a:p>
            <a:pPr marL="457200" indent="-457200">
              <a:buFont typeface="Wingdings" panose="05000000000000000000" pitchFamily="2" charset="2"/>
              <a:buChar char="§"/>
            </a:pPr>
            <a:r>
              <a:rPr lang="en-US" sz="2800" b="0" i="0" dirty="0">
                <a:solidFill>
                  <a:srgbClr val="273239"/>
                </a:solidFill>
                <a:effectLst/>
                <a:latin typeface="Times New Roman" panose="02020603050405020304" pitchFamily="18" charset="0"/>
                <a:cs typeface="Times New Roman" panose="02020603050405020304" pitchFamily="18" charset="0"/>
              </a:rPr>
              <a:t>Blockchain Technology first came to light when a person or Group of individuals name ‘Satoshi Nakamoto’ published a white paper on “</a:t>
            </a:r>
            <a:r>
              <a:rPr lang="en-US" sz="2800" b="0" i="1" dirty="0" err="1">
                <a:solidFill>
                  <a:srgbClr val="273239"/>
                </a:solidFill>
                <a:effectLst/>
                <a:latin typeface="Times New Roman" panose="02020603050405020304" pitchFamily="18" charset="0"/>
                <a:cs typeface="Times New Roman" panose="02020603050405020304" pitchFamily="18" charset="0"/>
              </a:rPr>
              <a:t>BitCoin</a:t>
            </a:r>
            <a:r>
              <a:rPr lang="en-US" sz="2800" b="0" i="1" dirty="0">
                <a:solidFill>
                  <a:srgbClr val="273239"/>
                </a:solidFill>
                <a:effectLst/>
                <a:latin typeface="Times New Roman" panose="02020603050405020304" pitchFamily="18" charset="0"/>
                <a:cs typeface="Times New Roman" panose="02020603050405020304" pitchFamily="18" charset="0"/>
              </a:rPr>
              <a:t>: A peer to peer electronic cash system</a:t>
            </a:r>
            <a:r>
              <a:rPr lang="en-US" sz="2800" b="0" i="0" dirty="0">
                <a:solidFill>
                  <a:srgbClr val="273239"/>
                </a:solidFill>
                <a:effectLst/>
                <a:latin typeface="Times New Roman" panose="02020603050405020304" pitchFamily="18" charset="0"/>
                <a:cs typeface="Times New Roman" panose="02020603050405020304" pitchFamily="18" charset="0"/>
              </a:rPr>
              <a:t>” in 2008. </a:t>
            </a:r>
          </a:p>
          <a:p>
            <a:pPr marL="457200" indent="-457200">
              <a:buFont typeface="Wingdings" panose="05000000000000000000" pitchFamily="2" charset="2"/>
              <a:buChar char="§"/>
            </a:pPr>
            <a:r>
              <a:rPr lang="en-US" sz="2800" b="0" i="0" dirty="0">
                <a:solidFill>
                  <a:srgbClr val="273239"/>
                </a:solidFill>
                <a:effectLst/>
                <a:latin typeface="Times New Roman" panose="02020603050405020304" pitchFamily="18" charset="0"/>
                <a:cs typeface="Times New Roman" panose="02020603050405020304" pitchFamily="18" charset="0"/>
              </a:rPr>
              <a:t>Blockchain Technology Records Transaction in Digital Ledger which is distributed over the Network thus making it incorruptible.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1619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023801-4A3D-E02F-DC2D-87B2170844A7}"/>
              </a:ext>
            </a:extLst>
          </p:cNvPr>
          <p:cNvSpPr txBox="1"/>
          <p:nvPr/>
        </p:nvSpPr>
        <p:spPr>
          <a:xfrm>
            <a:off x="3048739" y="396821"/>
            <a:ext cx="609452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What is Blockchain</a:t>
            </a:r>
            <a:endParaRPr lang="en-IN" sz="4000" dirty="0">
              <a:latin typeface="Times New Roman" panose="02020603050405020304" pitchFamily="18" charset="0"/>
              <a:cs typeface="Times New Roman" panose="02020603050405020304" pitchFamily="18" charset="0"/>
            </a:endParaRPr>
          </a:p>
        </p:txBody>
      </p:sp>
      <p:pic>
        <p:nvPicPr>
          <p:cNvPr id="6" name="Content Placeholder 4">
            <a:extLst>
              <a:ext uri="{FF2B5EF4-FFF2-40B4-BE49-F238E27FC236}">
                <a16:creationId xmlns:a16="http://schemas.microsoft.com/office/drawing/2014/main" id="{62828DF2-6D83-8E1C-32F8-8F51893437E5}"/>
              </a:ext>
            </a:extLst>
          </p:cNvPr>
          <p:cNvPicPr>
            <a:picLocks noGrp="1" noChangeAspect="1"/>
          </p:cNvPicPr>
          <p:nvPr>
            <p:ph idx="1"/>
          </p:nvPr>
        </p:nvPicPr>
        <p:blipFill>
          <a:blip r:embed="rId2"/>
          <a:stretch>
            <a:fillRect/>
          </a:stretch>
        </p:blipFill>
        <p:spPr>
          <a:xfrm>
            <a:off x="1297774" y="1646284"/>
            <a:ext cx="9596451" cy="3565432"/>
          </a:xfrm>
          <a:prstGeom prst="rect">
            <a:avLst/>
          </a:prstGeom>
        </p:spPr>
      </p:pic>
    </p:spTree>
    <p:extLst>
      <p:ext uri="{BB962C8B-B14F-4D97-AF65-F5344CB8AC3E}">
        <p14:creationId xmlns:p14="http://schemas.microsoft.com/office/powerpoint/2010/main" val="446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978527-2300-2BDC-900E-3BCEF2BEEB52}"/>
              </a:ext>
            </a:extLst>
          </p:cNvPr>
          <p:cNvSpPr txBox="1"/>
          <p:nvPr/>
        </p:nvSpPr>
        <p:spPr>
          <a:xfrm>
            <a:off x="3048740" y="601007"/>
            <a:ext cx="609452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What is Blockchain</a:t>
            </a:r>
            <a:endParaRPr lang="en-IN" sz="40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99AB8097-5C9E-A380-AC20-C18F87E2340F}"/>
              </a:ext>
            </a:extLst>
          </p:cNvPr>
          <p:cNvPicPr>
            <a:picLocks noGrp="1" noChangeAspect="1"/>
          </p:cNvPicPr>
          <p:nvPr>
            <p:ph idx="1"/>
          </p:nvPr>
        </p:nvPicPr>
        <p:blipFill>
          <a:blip r:embed="rId2"/>
          <a:stretch>
            <a:fillRect/>
          </a:stretch>
        </p:blipFill>
        <p:spPr>
          <a:xfrm>
            <a:off x="903005" y="1918067"/>
            <a:ext cx="5634223" cy="3707898"/>
          </a:xfrm>
          <a:prstGeom prst="rect">
            <a:avLst/>
          </a:prstGeom>
        </p:spPr>
      </p:pic>
      <p:pic>
        <p:nvPicPr>
          <p:cNvPr id="7" name="Picture 6">
            <a:extLst>
              <a:ext uri="{FF2B5EF4-FFF2-40B4-BE49-F238E27FC236}">
                <a16:creationId xmlns:a16="http://schemas.microsoft.com/office/drawing/2014/main" id="{AB93C06F-2824-3713-3B9C-9D54C16494AA}"/>
              </a:ext>
            </a:extLst>
          </p:cNvPr>
          <p:cNvPicPr>
            <a:picLocks noChangeAspect="1"/>
          </p:cNvPicPr>
          <p:nvPr/>
        </p:nvPicPr>
        <p:blipFill>
          <a:blip r:embed="rId3"/>
          <a:stretch>
            <a:fillRect/>
          </a:stretch>
        </p:blipFill>
        <p:spPr>
          <a:xfrm>
            <a:off x="7201178" y="2955452"/>
            <a:ext cx="3333750" cy="2038350"/>
          </a:xfrm>
          <a:prstGeom prst="rect">
            <a:avLst/>
          </a:prstGeom>
        </p:spPr>
      </p:pic>
      <p:pic>
        <p:nvPicPr>
          <p:cNvPr id="8" name="Picture 7">
            <a:extLst>
              <a:ext uri="{FF2B5EF4-FFF2-40B4-BE49-F238E27FC236}">
                <a16:creationId xmlns:a16="http://schemas.microsoft.com/office/drawing/2014/main" id="{86B3478B-DF2A-4B82-270B-CF024EC837CD}"/>
              </a:ext>
            </a:extLst>
          </p:cNvPr>
          <p:cNvPicPr>
            <a:picLocks noChangeAspect="1"/>
          </p:cNvPicPr>
          <p:nvPr/>
        </p:nvPicPr>
        <p:blipFill>
          <a:blip r:embed="rId4"/>
          <a:stretch>
            <a:fillRect/>
          </a:stretch>
        </p:blipFill>
        <p:spPr>
          <a:xfrm>
            <a:off x="9159686" y="3395778"/>
            <a:ext cx="600075" cy="752475"/>
          </a:xfrm>
          <a:prstGeom prst="rect">
            <a:avLst/>
          </a:prstGeom>
        </p:spPr>
      </p:pic>
    </p:spTree>
    <p:extLst>
      <p:ext uri="{BB962C8B-B14F-4D97-AF65-F5344CB8AC3E}">
        <p14:creationId xmlns:p14="http://schemas.microsoft.com/office/powerpoint/2010/main" val="127850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87E8A4-D47A-33F2-BE44-B714997CB317}"/>
              </a:ext>
            </a:extLst>
          </p:cNvPr>
          <p:cNvSpPr>
            <a:spLocks noGrp="1"/>
          </p:cNvSpPr>
          <p:nvPr>
            <p:ph type="title"/>
          </p:nvPr>
        </p:nvSpPr>
        <p:spPr>
          <a:xfrm>
            <a:off x="808149" y="482353"/>
            <a:ext cx="9601200" cy="770965"/>
          </a:xfrm>
        </p:spPr>
        <p:txBody>
          <a:bodyPr/>
          <a:lstStyle/>
          <a:p>
            <a:pPr algn="ctr"/>
            <a:r>
              <a:rPr lang="en-IN" b="1" dirty="0"/>
              <a:t>What is Blockchain</a:t>
            </a:r>
          </a:p>
        </p:txBody>
      </p:sp>
      <p:pic>
        <p:nvPicPr>
          <p:cNvPr id="5" name="Picture 4">
            <a:extLst>
              <a:ext uri="{FF2B5EF4-FFF2-40B4-BE49-F238E27FC236}">
                <a16:creationId xmlns:a16="http://schemas.microsoft.com/office/drawing/2014/main" id="{7E5EA490-78CE-66D4-22E7-EC8E5A36CC6B}"/>
              </a:ext>
            </a:extLst>
          </p:cNvPr>
          <p:cNvPicPr>
            <a:picLocks noChangeAspect="1"/>
          </p:cNvPicPr>
          <p:nvPr/>
        </p:nvPicPr>
        <p:blipFill>
          <a:blip r:embed="rId2"/>
          <a:stretch>
            <a:fillRect/>
          </a:stretch>
        </p:blipFill>
        <p:spPr>
          <a:xfrm>
            <a:off x="893690" y="2158789"/>
            <a:ext cx="5413787" cy="3383617"/>
          </a:xfrm>
          <a:prstGeom prst="rect">
            <a:avLst/>
          </a:prstGeom>
        </p:spPr>
      </p:pic>
      <p:pic>
        <p:nvPicPr>
          <p:cNvPr id="6" name="Picture 5">
            <a:extLst>
              <a:ext uri="{FF2B5EF4-FFF2-40B4-BE49-F238E27FC236}">
                <a16:creationId xmlns:a16="http://schemas.microsoft.com/office/drawing/2014/main" id="{6F815F4E-BF48-B152-DC39-76070421FB66}"/>
              </a:ext>
            </a:extLst>
          </p:cNvPr>
          <p:cNvPicPr>
            <a:picLocks noChangeAspect="1"/>
          </p:cNvPicPr>
          <p:nvPr/>
        </p:nvPicPr>
        <p:blipFill>
          <a:blip r:embed="rId3"/>
          <a:stretch>
            <a:fillRect/>
          </a:stretch>
        </p:blipFill>
        <p:spPr>
          <a:xfrm>
            <a:off x="893690" y="2158789"/>
            <a:ext cx="9515659" cy="3383617"/>
          </a:xfrm>
          <a:prstGeom prst="rect">
            <a:avLst/>
          </a:prstGeom>
        </p:spPr>
      </p:pic>
    </p:spTree>
    <p:extLst>
      <p:ext uri="{BB962C8B-B14F-4D97-AF65-F5344CB8AC3E}">
        <p14:creationId xmlns:p14="http://schemas.microsoft.com/office/powerpoint/2010/main" val="79867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A9D0C7D-F9FD-39DD-A798-793E87503633}"/>
              </a:ext>
            </a:extLst>
          </p:cNvPr>
          <p:cNvSpPr>
            <a:spLocks noGrp="1"/>
          </p:cNvSpPr>
          <p:nvPr>
            <p:ph type="title"/>
          </p:nvPr>
        </p:nvSpPr>
        <p:spPr>
          <a:xfrm>
            <a:off x="1398080" y="322555"/>
            <a:ext cx="9395840" cy="770965"/>
          </a:xfrm>
        </p:spPr>
        <p:txBody>
          <a:bodyPr/>
          <a:lstStyle/>
          <a:p>
            <a:pPr algn="ctr"/>
            <a:r>
              <a:rPr lang="en-IN" b="1" dirty="0"/>
              <a:t>What is Blockchain</a:t>
            </a:r>
          </a:p>
        </p:txBody>
      </p:sp>
      <p:pic>
        <p:nvPicPr>
          <p:cNvPr id="5" name="Picture 4">
            <a:extLst>
              <a:ext uri="{FF2B5EF4-FFF2-40B4-BE49-F238E27FC236}">
                <a16:creationId xmlns:a16="http://schemas.microsoft.com/office/drawing/2014/main" id="{78C1A4F1-BB06-1900-E6FC-4153151B8772}"/>
              </a:ext>
            </a:extLst>
          </p:cNvPr>
          <p:cNvPicPr>
            <a:picLocks noChangeAspect="1"/>
          </p:cNvPicPr>
          <p:nvPr/>
        </p:nvPicPr>
        <p:blipFill>
          <a:blip r:embed="rId2"/>
          <a:stretch>
            <a:fillRect/>
          </a:stretch>
        </p:blipFill>
        <p:spPr>
          <a:xfrm>
            <a:off x="319105" y="1568263"/>
            <a:ext cx="11303559" cy="4415678"/>
          </a:xfrm>
          <a:prstGeom prst="rect">
            <a:avLst/>
          </a:prstGeom>
        </p:spPr>
      </p:pic>
      <p:pic>
        <p:nvPicPr>
          <p:cNvPr id="6" name="Picture 5">
            <a:extLst>
              <a:ext uri="{FF2B5EF4-FFF2-40B4-BE49-F238E27FC236}">
                <a16:creationId xmlns:a16="http://schemas.microsoft.com/office/drawing/2014/main" id="{92AA1278-03B3-CD27-C20C-9B72DE1BF348}"/>
              </a:ext>
            </a:extLst>
          </p:cNvPr>
          <p:cNvPicPr>
            <a:picLocks noChangeAspect="1"/>
          </p:cNvPicPr>
          <p:nvPr/>
        </p:nvPicPr>
        <p:blipFill>
          <a:blip r:embed="rId3"/>
          <a:stretch>
            <a:fillRect/>
          </a:stretch>
        </p:blipFill>
        <p:spPr>
          <a:xfrm>
            <a:off x="319105" y="1594896"/>
            <a:ext cx="11470441" cy="4267761"/>
          </a:xfrm>
          <a:prstGeom prst="rect">
            <a:avLst/>
          </a:prstGeom>
        </p:spPr>
      </p:pic>
    </p:spTree>
    <p:extLst>
      <p:ext uri="{BB962C8B-B14F-4D97-AF65-F5344CB8AC3E}">
        <p14:creationId xmlns:p14="http://schemas.microsoft.com/office/powerpoint/2010/main" val="409831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AC1DC92-36C7-A890-F8EF-36A954D796FC}"/>
              </a:ext>
            </a:extLst>
          </p:cNvPr>
          <p:cNvSpPr>
            <a:spLocks noGrp="1"/>
          </p:cNvSpPr>
          <p:nvPr>
            <p:ph type="title"/>
          </p:nvPr>
        </p:nvSpPr>
        <p:spPr>
          <a:xfrm>
            <a:off x="836611" y="248770"/>
            <a:ext cx="10515600" cy="793377"/>
          </a:xfrm>
        </p:spPr>
        <p:txBody>
          <a:bodyPr>
            <a:normAutofit/>
          </a:bodyPr>
          <a:lstStyle/>
          <a:p>
            <a:pPr algn="ctr"/>
            <a:r>
              <a:rPr lang="en-IN" sz="4000" b="1" dirty="0">
                <a:latin typeface="Times New Roman" panose="02020603050405020304" pitchFamily="18" charset="0"/>
                <a:cs typeface="Times New Roman" panose="02020603050405020304" pitchFamily="18" charset="0"/>
              </a:rPr>
              <a:t>WHAT IS BLOCKCHAIN?</a:t>
            </a:r>
          </a:p>
        </p:txBody>
      </p:sp>
      <p:sp>
        <p:nvSpPr>
          <p:cNvPr id="5" name="Content Placeholder 2">
            <a:extLst>
              <a:ext uri="{FF2B5EF4-FFF2-40B4-BE49-F238E27FC236}">
                <a16:creationId xmlns:a16="http://schemas.microsoft.com/office/drawing/2014/main" id="{E409E25F-1598-2FCD-3E4F-67CBFFF5FA27}"/>
              </a:ext>
            </a:extLst>
          </p:cNvPr>
          <p:cNvSpPr>
            <a:spLocks noGrp="1"/>
          </p:cNvSpPr>
          <p:nvPr>
            <p:ph idx="1"/>
          </p:nvPr>
        </p:nvSpPr>
        <p:spPr>
          <a:xfrm>
            <a:off x="1221299" y="1062318"/>
            <a:ext cx="9746223" cy="5667935"/>
          </a:xfrm>
        </p:spPr>
        <p:txBody>
          <a:bodyPr>
            <a:noAutofit/>
          </a:bodyPr>
          <a:lstStyle/>
          <a:p>
            <a:pPr marL="538163" indent="-493713" algn="just">
              <a:lnSpc>
                <a:spcPct val="100000"/>
              </a:lnSpc>
              <a:buFont typeface="Wingdings" panose="05000000000000000000" pitchFamily="2" charset="2"/>
              <a:buChar char="Ø"/>
            </a:pPr>
            <a:r>
              <a:rPr lang="en-IN" sz="3000" dirty="0">
                <a:latin typeface="Times New Roman" panose="02020603050405020304" pitchFamily="18" charset="0"/>
                <a:cs typeface="Times New Roman" panose="02020603050405020304" pitchFamily="18" charset="0"/>
              </a:rPr>
              <a:t>A Linked List</a:t>
            </a:r>
          </a:p>
          <a:p>
            <a:pPr marL="1076325" lvl="1" indent="-574675" algn="just">
              <a:lnSpc>
                <a:spcPct val="10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Replicated</a:t>
            </a:r>
          </a:p>
          <a:p>
            <a:pPr marL="1076325" lvl="1" indent="-574675" algn="just">
              <a:lnSpc>
                <a:spcPct val="10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Distributed</a:t>
            </a:r>
          </a:p>
          <a:p>
            <a:pPr marL="1076325" lvl="1" indent="-574675" algn="just">
              <a:lnSpc>
                <a:spcPct val="10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Consistency maintained by Consensus</a:t>
            </a:r>
          </a:p>
          <a:p>
            <a:pPr marL="1076325" lvl="1" indent="-574675" algn="just">
              <a:lnSpc>
                <a:spcPct val="10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Cryptographically linked</a:t>
            </a:r>
          </a:p>
          <a:p>
            <a:pPr marL="1076325" lvl="1" indent="-574675" algn="just">
              <a:lnSpc>
                <a:spcPct val="10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Cryptographically assured integrity of data</a:t>
            </a:r>
          </a:p>
          <a:p>
            <a:pPr marL="538163" indent="-493713" algn="just">
              <a:lnSpc>
                <a:spcPct val="100000"/>
              </a:lnSpc>
              <a:buFont typeface="Wingdings" panose="05000000000000000000" pitchFamily="2" charset="2"/>
              <a:buChar char="Ø"/>
            </a:pPr>
            <a:r>
              <a:rPr lang="en-IN" sz="3000" dirty="0">
                <a:latin typeface="Times New Roman" panose="02020603050405020304" pitchFamily="18" charset="0"/>
                <a:cs typeface="Times New Roman" panose="02020603050405020304" pitchFamily="18" charset="0"/>
              </a:rPr>
              <a:t>Used as</a:t>
            </a:r>
          </a:p>
          <a:p>
            <a:pPr marL="1076325" lvl="1" indent="-574675" algn="just">
              <a:lnSpc>
                <a:spcPct val="10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Immutable Ledger of events, transactions or time stamped data</a:t>
            </a:r>
          </a:p>
          <a:p>
            <a:pPr marL="1076325" lvl="1" indent="-574675" algn="just">
              <a:lnSpc>
                <a:spcPct val="10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Tamper resistant log</a:t>
            </a:r>
          </a:p>
          <a:p>
            <a:pPr marL="1076325" lvl="1" indent="-574675" algn="just">
              <a:lnSpc>
                <a:spcPct val="10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Platform to Create and Transact in Cryptocurrency</a:t>
            </a:r>
          </a:p>
          <a:p>
            <a:pPr marL="1076325" lvl="1" indent="-574675" algn="just">
              <a:lnSpc>
                <a:spcPct val="10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log of events/transactions unrelated to currency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001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BFED451-C962-0206-071E-4AC067A40ADF}"/>
              </a:ext>
            </a:extLst>
          </p:cNvPr>
          <p:cNvSpPr>
            <a:spLocks noGrp="1"/>
          </p:cNvSpPr>
          <p:nvPr>
            <p:ph type="title"/>
          </p:nvPr>
        </p:nvSpPr>
        <p:spPr>
          <a:xfrm>
            <a:off x="1293813" y="166457"/>
            <a:ext cx="9601200" cy="98163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LET’S FIRST TALK ABOUT BANKING</a:t>
            </a:r>
            <a:endParaRPr lang="en-IN" b="1" dirty="0">
              <a:latin typeface="Times New Roman" panose="02020603050405020304" pitchFamily="18" charset="0"/>
              <a:cs typeface="Times New Roman" panose="02020603050405020304" pitchFamily="18" charset="0"/>
            </a:endParaRPr>
          </a:p>
        </p:txBody>
      </p:sp>
      <p:pic>
        <p:nvPicPr>
          <p:cNvPr id="5" name="Content Placeholder 3">
            <a:extLst>
              <a:ext uri="{FF2B5EF4-FFF2-40B4-BE49-F238E27FC236}">
                <a16:creationId xmlns:a16="http://schemas.microsoft.com/office/drawing/2014/main" id="{0D0F0B99-CEB3-42E4-2B56-54FEEF790995}"/>
              </a:ext>
            </a:extLst>
          </p:cNvPr>
          <p:cNvPicPr>
            <a:picLocks noGrp="1" noChangeAspect="1"/>
          </p:cNvPicPr>
          <p:nvPr>
            <p:ph idx="1"/>
          </p:nvPr>
        </p:nvPicPr>
        <p:blipFill>
          <a:blip r:embed="rId2"/>
          <a:stretch>
            <a:fillRect/>
          </a:stretch>
        </p:blipFill>
        <p:spPr>
          <a:xfrm>
            <a:off x="1002945" y="1629576"/>
            <a:ext cx="10360488" cy="4867834"/>
          </a:xfrm>
          <a:prstGeom prst="rect">
            <a:avLst/>
          </a:prstGeom>
        </p:spPr>
      </p:pic>
    </p:spTree>
    <p:extLst>
      <p:ext uri="{BB962C8B-B14F-4D97-AF65-F5344CB8AC3E}">
        <p14:creationId xmlns:p14="http://schemas.microsoft.com/office/powerpoint/2010/main" val="166977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39575D-C3A1-601F-E1FB-890CBA21EA3F}"/>
              </a:ext>
            </a:extLst>
          </p:cNvPr>
          <p:cNvSpPr>
            <a:spLocks noGrp="1"/>
          </p:cNvSpPr>
          <p:nvPr>
            <p:ph type="title"/>
          </p:nvPr>
        </p:nvSpPr>
        <p:spPr>
          <a:xfrm>
            <a:off x="325514" y="362464"/>
            <a:ext cx="11540971" cy="98163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LET’S FIRST TALK ABOUT BANKING-ISSUES</a:t>
            </a:r>
            <a:endParaRPr lang="en-IN"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CC282522-EDA4-FBEF-E9BE-B588A07D77C5}"/>
              </a:ext>
            </a:extLst>
          </p:cNvPr>
          <p:cNvSpPr>
            <a:spLocks noGrp="1"/>
          </p:cNvSpPr>
          <p:nvPr>
            <p:ph idx="1"/>
          </p:nvPr>
        </p:nvSpPr>
        <p:spPr>
          <a:xfrm>
            <a:off x="1460550" y="1961966"/>
            <a:ext cx="9601198" cy="3962400"/>
          </a:xfrm>
        </p:spPr>
        <p:txBody>
          <a:bodyPr/>
          <a:lstStyle/>
          <a:p>
            <a:endParaRPr lang="en-IN"/>
          </a:p>
        </p:txBody>
      </p:sp>
      <p:pic>
        <p:nvPicPr>
          <p:cNvPr id="6" name="Picture 5">
            <a:extLst>
              <a:ext uri="{FF2B5EF4-FFF2-40B4-BE49-F238E27FC236}">
                <a16:creationId xmlns:a16="http://schemas.microsoft.com/office/drawing/2014/main" id="{94B6A4A8-94C7-9D26-1B89-BC9FD36708AE}"/>
              </a:ext>
            </a:extLst>
          </p:cNvPr>
          <p:cNvPicPr>
            <a:picLocks noChangeAspect="1"/>
          </p:cNvPicPr>
          <p:nvPr/>
        </p:nvPicPr>
        <p:blipFill>
          <a:blip r:embed="rId2"/>
          <a:stretch>
            <a:fillRect/>
          </a:stretch>
        </p:blipFill>
        <p:spPr>
          <a:xfrm>
            <a:off x="1130252" y="1632883"/>
            <a:ext cx="9931496" cy="4862653"/>
          </a:xfrm>
          <a:prstGeom prst="rect">
            <a:avLst/>
          </a:prstGeom>
        </p:spPr>
      </p:pic>
    </p:spTree>
    <p:extLst>
      <p:ext uri="{BB962C8B-B14F-4D97-AF65-F5344CB8AC3E}">
        <p14:creationId xmlns:p14="http://schemas.microsoft.com/office/powerpoint/2010/main" val="138125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F46A9A9-990B-17C5-22C1-E0DFBD2A3DB2}"/>
              </a:ext>
            </a:extLst>
          </p:cNvPr>
          <p:cNvSpPr>
            <a:spLocks noGrp="1"/>
          </p:cNvSpPr>
          <p:nvPr>
            <p:ph type="title"/>
          </p:nvPr>
        </p:nvSpPr>
        <p:spPr>
          <a:xfrm>
            <a:off x="173302" y="262424"/>
            <a:ext cx="11504870" cy="80682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LET’S FIRST TALK ABOUT BANKING-ISSUES</a:t>
            </a:r>
            <a:endParaRPr lang="en-IN"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B1566E2A-B543-BA24-4256-E18F371F0199}"/>
              </a:ext>
            </a:extLst>
          </p:cNvPr>
          <p:cNvSpPr>
            <a:spLocks noGrp="1"/>
          </p:cNvSpPr>
          <p:nvPr>
            <p:ph idx="1"/>
          </p:nvPr>
        </p:nvSpPr>
        <p:spPr>
          <a:xfrm>
            <a:off x="588702" y="1209974"/>
            <a:ext cx="11603297" cy="5311587"/>
          </a:xfrm>
        </p:spPr>
        <p:txBody>
          <a:bodyPr/>
          <a:lstStyle/>
          <a:p>
            <a:pPr marL="538163" indent="-493713">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Double Spending - Simultaneously</a:t>
            </a:r>
          </a:p>
          <a:p>
            <a:pPr marL="0" indent="0">
              <a:buNone/>
            </a:pPr>
            <a:endParaRPr lang="en-IN" dirty="0"/>
          </a:p>
        </p:txBody>
      </p:sp>
      <p:pic>
        <p:nvPicPr>
          <p:cNvPr id="6" name="Picture 5">
            <a:extLst>
              <a:ext uri="{FF2B5EF4-FFF2-40B4-BE49-F238E27FC236}">
                <a16:creationId xmlns:a16="http://schemas.microsoft.com/office/drawing/2014/main" id="{3FF0D821-E49F-11AE-CCBB-E8F0674D7419}"/>
              </a:ext>
            </a:extLst>
          </p:cNvPr>
          <p:cNvPicPr>
            <a:picLocks noChangeAspect="1"/>
          </p:cNvPicPr>
          <p:nvPr/>
        </p:nvPicPr>
        <p:blipFill>
          <a:blip r:embed="rId2"/>
          <a:stretch>
            <a:fillRect/>
          </a:stretch>
        </p:blipFill>
        <p:spPr>
          <a:xfrm>
            <a:off x="1125137" y="1748340"/>
            <a:ext cx="7187829" cy="4987474"/>
          </a:xfrm>
          <a:prstGeom prst="rect">
            <a:avLst/>
          </a:prstGeom>
        </p:spPr>
      </p:pic>
      <p:pic>
        <p:nvPicPr>
          <p:cNvPr id="7" name="Picture 6">
            <a:extLst>
              <a:ext uri="{FF2B5EF4-FFF2-40B4-BE49-F238E27FC236}">
                <a16:creationId xmlns:a16="http://schemas.microsoft.com/office/drawing/2014/main" id="{F799F886-F547-0DDA-75E9-30BC5547E827}"/>
              </a:ext>
            </a:extLst>
          </p:cNvPr>
          <p:cNvPicPr>
            <a:picLocks noChangeAspect="1"/>
          </p:cNvPicPr>
          <p:nvPr/>
        </p:nvPicPr>
        <p:blipFill>
          <a:blip r:embed="rId3"/>
          <a:stretch>
            <a:fillRect/>
          </a:stretch>
        </p:blipFill>
        <p:spPr>
          <a:xfrm>
            <a:off x="8799671" y="3839134"/>
            <a:ext cx="3076575" cy="771525"/>
          </a:xfrm>
          <a:prstGeom prst="rect">
            <a:avLst/>
          </a:prstGeom>
        </p:spPr>
      </p:pic>
    </p:spTree>
    <p:extLst>
      <p:ext uri="{BB962C8B-B14F-4D97-AF65-F5344CB8AC3E}">
        <p14:creationId xmlns:p14="http://schemas.microsoft.com/office/powerpoint/2010/main" val="271087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D578FB-C6CA-E20C-D302-E3995DD7CFE1}"/>
              </a:ext>
            </a:extLst>
          </p:cNvPr>
          <p:cNvSpPr>
            <a:spLocks noGrp="1"/>
          </p:cNvSpPr>
          <p:nvPr>
            <p:ph type="title"/>
          </p:nvPr>
        </p:nvSpPr>
        <p:spPr>
          <a:xfrm>
            <a:off x="1293811" y="107665"/>
            <a:ext cx="9601200" cy="784412"/>
          </a:xfrm>
        </p:spPr>
        <p:txBody>
          <a:bodyPr>
            <a:normAutofit/>
          </a:bodyPr>
          <a:lstStyle/>
          <a:p>
            <a:pPr algn="ctr"/>
            <a:r>
              <a:rPr lang="en-IN" sz="4000" b="1" dirty="0">
                <a:latin typeface="Times New Roman" panose="02020603050405020304" pitchFamily="18" charset="0"/>
                <a:cs typeface="Times New Roman" panose="02020603050405020304" pitchFamily="18" charset="0"/>
              </a:rPr>
              <a:t>HOW DO YOU TRANSACT?</a:t>
            </a:r>
          </a:p>
        </p:txBody>
      </p:sp>
      <p:sp>
        <p:nvSpPr>
          <p:cNvPr id="5" name="Content Placeholder 2">
            <a:extLst>
              <a:ext uri="{FF2B5EF4-FFF2-40B4-BE49-F238E27FC236}">
                <a16:creationId xmlns:a16="http://schemas.microsoft.com/office/drawing/2014/main" id="{8F3497E8-8E3B-2AC2-2757-13BCD747ACAA}"/>
              </a:ext>
            </a:extLst>
          </p:cNvPr>
          <p:cNvSpPr>
            <a:spLocks noGrp="1"/>
          </p:cNvSpPr>
          <p:nvPr>
            <p:ph idx="1"/>
          </p:nvPr>
        </p:nvSpPr>
        <p:spPr>
          <a:xfrm>
            <a:off x="512691" y="1021887"/>
            <a:ext cx="11163439" cy="5728448"/>
          </a:xfrm>
        </p:spPr>
        <p:txBody>
          <a:bodyPr>
            <a:normAutofit/>
          </a:bodyPr>
          <a:lstStyle/>
          <a:p>
            <a:pPr marL="538163" indent="-493713">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Your write a check or do internet transaction to pay a payee</a:t>
            </a:r>
          </a:p>
          <a:p>
            <a:pPr marL="538163" indent="-493713">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Bank checks if you have balance &gt; transaction amount</a:t>
            </a:r>
          </a:p>
          <a:p>
            <a:pPr marL="901700" lvl="1"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yes, it debits your account by balance = balance ‐ </a:t>
            </a:r>
            <a:r>
              <a:rPr lang="en-US" dirty="0" err="1">
                <a:latin typeface="Times New Roman" panose="02020603050405020304" pitchFamily="18" charset="0"/>
                <a:cs typeface="Times New Roman" panose="02020603050405020304" pitchFamily="18" charset="0"/>
              </a:rPr>
              <a:t>transaction_amount</a:t>
            </a:r>
            <a:endParaRPr lang="en-US" dirty="0">
              <a:latin typeface="Times New Roman" panose="02020603050405020304" pitchFamily="18" charset="0"/>
              <a:cs typeface="Times New Roman" panose="02020603050405020304" pitchFamily="18" charset="0"/>
            </a:endParaRPr>
          </a:p>
          <a:p>
            <a:pPr marL="1358900" lvl="2" indent="-4000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credit’s payee’s account by </a:t>
            </a:r>
            <a:r>
              <a:rPr lang="en-US" dirty="0" err="1">
                <a:latin typeface="Times New Roman" panose="02020603050405020304" pitchFamily="18" charset="0"/>
                <a:cs typeface="Times New Roman" panose="02020603050405020304" pitchFamily="18" charset="0"/>
              </a:rPr>
              <a:t>payee.balance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payee.balance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transaction_amount</a:t>
            </a:r>
            <a:endParaRPr lang="en-US" dirty="0">
              <a:latin typeface="Times New Roman" panose="02020603050405020304" pitchFamily="18" charset="0"/>
              <a:cs typeface="Times New Roman" panose="02020603050405020304" pitchFamily="18" charset="0"/>
            </a:endParaRPr>
          </a:p>
          <a:p>
            <a:pPr marL="901700" lvl="1"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no, the transaction is invalid and rejected.</a:t>
            </a:r>
          </a:p>
          <a:p>
            <a:pPr marL="538163" indent="-493713">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You can check your transaction list online, or check the monthly </a:t>
            </a:r>
            <a:r>
              <a:rPr lang="en-IN" dirty="0">
                <a:latin typeface="Times New Roman" panose="02020603050405020304" pitchFamily="18" charset="0"/>
                <a:cs typeface="Times New Roman" panose="02020603050405020304" pitchFamily="18" charset="0"/>
              </a:rPr>
              <a:t>statement</a:t>
            </a:r>
          </a:p>
          <a:p>
            <a:pPr marL="538163" indent="-493713">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Who maintains the ledger?</a:t>
            </a:r>
          </a:p>
          <a:p>
            <a:pPr marL="995363" lvl="1" indent="-493713">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Bank Does</a:t>
            </a:r>
          </a:p>
          <a:p>
            <a:pPr marL="995363" lvl="1" indent="-493713">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W</a:t>
            </a:r>
            <a:r>
              <a:rPr lang="en-US" dirty="0">
                <a:latin typeface="Times New Roman" panose="02020603050405020304" pitchFamily="18" charset="0"/>
                <a:cs typeface="Times New Roman" panose="02020603050405020304" pitchFamily="18" charset="0"/>
              </a:rPr>
              <a:t>hat if Bank allows an invalid transaction go through</a:t>
            </a:r>
          </a:p>
          <a:p>
            <a:pPr marL="1301750" lvl="2"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Invalid = you did not authenticate the transaction</a:t>
            </a:r>
          </a:p>
          <a:p>
            <a:pPr marL="1301750" lvl="2"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Invalid = your balance was not sufficient but transaction was made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42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B279BDD-D4AA-FE5F-177C-DBB6298628EF}"/>
              </a:ext>
            </a:extLst>
          </p:cNvPr>
          <p:cNvSpPr>
            <a:spLocks noGrp="1"/>
          </p:cNvSpPr>
          <p:nvPr>
            <p:ph type="title"/>
          </p:nvPr>
        </p:nvSpPr>
        <p:spPr>
          <a:xfrm>
            <a:off x="993135" y="186429"/>
            <a:ext cx="9989490" cy="479395"/>
          </a:xfrm>
        </p:spPr>
        <p:txBody>
          <a:bodyPr>
            <a:normAutofit fontScale="90000"/>
          </a:bodyPr>
          <a:lstStyle/>
          <a:p>
            <a:pPr algn="ctr"/>
            <a:r>
              <a:rPr lang="en-IN" sz="4000" b="1" dirty="0">
                <a:latin typeface="Times New Roman" panose="02020603050405020304" pitchFamily="18" charset="0"/>
                <a:cs typeface="Times New Roman" panose="02020603050405020304" pitchFamily="18" charset="0"/>
              </a:rPr>
              <a:t>Bank Frauds</a:t>
            </a:r>
          </a:p>
        </p:txBody>
      </p:sp>
      <p:sp>
        <p:nvSpPr>
          <p:cNvPr id="5" name="Content Placeholder 4">
            <a:extLst>
              <a:ext uri="{FF2B5EF4-FFF2-40B4-BE49-F238E27FC236}">
                <a16:creationId xmlns:a16="http://schemas.microsoft.com/office/drawing/2014/main" id="{4001D069-BAC9-2FB5-9AD3-1693EC5E7DD5}"/>
              </a:ext>
            </a:extLst>
          </p:cNvPr>
          <p:cNvSpPr>
            <a:spLocks noGrp="1"/>
          </p:cNvSpPr>
          <p:nvPr>
            <p:ph idx="1"/>
          </p:nvPr>
        </p:nvSpPr>
        <p:spPr>
          <a:xfrm>
            <a:off x="145133" y="753036"/>
            <a:ext cx="11685494" cy="5918536"/>
          </a:xfrm>
        </p:spPr>
        <p:txBody>
          <a:bodyPr>
            <a:normAutofit/>
          </a:bodyPr>
          <a:lstStyle/>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You find a check was used to pay someone but you never wrote the check</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Someone forged your check and/or signature</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You did sign a check for x amount, but the amount field was modified</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How do you prove to the bank that an extra 0 was not there in your signing time?</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monthly statement says that you did a transaction but you did not recall or the amount of a transaction is different from what you had done</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Someone got your password, and possibly redirected OTP to another SIM (SIM Fraud)</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Bank employees themselves might have done something</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 do you argue to the bank? (Non-repudiation)</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 do you argue that the amount was modified? (Integrity)</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Finally, do you tally your transactions when you receive your monthly statement?</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Most people do not</a:t>
            </a:r>
          </a:p>
        </p:txBody>
      </p:sp>
    </p:spTree>
    <p:extLst>
      <p:ext uri="{BB962C8B-B14F-4D97-AF65-F5344CB8AC3E}">
        <p14:creationId xmlns:p14="http://schemas.microsoft.com/office/powerpoint/2010/main" val="426912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D75E810-B8D9-82D9-04BA-24B916D70C30}"/>
              </a:ext>
            </a:extLst>
          </p:cNvPr>
          <p:cNvSpPr>
            <a:spLocks noGrp="1"/>
          </p:cNvSpPr>
          <p:nvPr>
            <p:ph type="title"/>
          </p:nvPr>
        </p:nvSpPr>
        <p:spPr>
          <a:xfrm>
            <a:off x="1293813" y="304800"/>
            <a:ext cx="9601200" cy="1219200"/>
          </a:xfrm>
        </p:spPr>
        <p:txBody>
          <a:bodyPr/>
          <a:lstStyle/>
          <a:p>
            <a:endParaRPr lang="en-IN"/>
          </a:p>
        </p:txBody>
      </p:sp>
      <p:sp>
        <p:nvSpPr>
          <p:cNvPr id="5" name="Content Placeholder 2">
            <a:extLst>
              <a:ext uri="{FF2B5EF4-FFF2-40B4-BE49-F238E27FC236}">
                <a16:creationId xmlns:a16="http://schemas.microsoft.com/office/drawing/2014/main" id="{BB13984A-5470-109B-263C-4DAD435463B5}"/>
              </a:ext>
            </a:extLst>
          </p:cNvPr>
          <p:cNvSpPr>
            <a:spLocks noGrp="1"/>
          </p:cNvSpPr>
          <p:nvPr>
            <p:ph idx="1"/>
          </p:nvPr>
        </p:nvSpPr>
        <p:spPr>
          <a:xfrm>
            <a:off x="1293814" y="1828801"/>
            <a:ext cx="9601198" cy="3962400"/>
          </a:xfrm>
        </p:spPr>
        <p:txBody>
          <a:bodyPr/>
          <a:lstStyle/>
          <a:p>
            <a:endParaRPr lang="en-IN"/>
          </a:p>
        </p:txBody>
      </p:sp>
      <p:pic>
        <p:nvPicPr>
          <p:cNvPr id="6" name="Picture 5">
            <a:extLst>
              <a:ext uri="{FF2B5EF4-FFF2-40B4-BE49-F238E27FC236}">
                <a16:creationId xmlns:a16="http://schemas.microsoft.com/office/drawing/2014/main" id="{2A72B0D5-DCF1-3F23-85FA-D274E6A58FB8}"/>
              </a:ext>
            </a:extLst>
          </p:cNvPr>
          <p:cNvPicPr>
            <a:picLocks noChangeAspect="1"/>
          </p:cNvPicPr>
          <p:nvPr/>
        </p:nvPicPr>
        <p:blipFill>
          <a:blip r:embed="rId2"/>
          <a:stretch>
            <a:fillRect/>
          </a:stretch>
        </p:blipFill>
        <p:spPr>
          <a:xfrm>
            <a:off x="361025" y="189370"/>
            <a:ext cx="11469950" cy="6479259"/>
          </a:xfrm>
          <a:prstGeom prst="rect">
            <a:avLst/>
          </a:prstGeom>
        </p:spPr>
      </p:pic>
    </p:spTree>
    <p:extLst>
      <p:ext uri="{BB962C8B-B14F-4D97-AF65-F5344CB8AC3E}">
        <p14:creationId xmlns:p14="http://schemas.microsoft.com/office/powerpoint/2010/main" val="3269547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B03CE9-0872-9D3E-0D5B-1A096BAAEE0F}"/>
              </a:ext>
            </a:extLst>
          </p:cNvPr>
          <p:cNvPicPr>
            <a:picLocks noChangeAspect="1"/>
          </p:cNvPicPr>
          <p:nvPr/>
        </p:nvPicPr>
        <p:blipFill>
          <a:blip r:embed="rId2"/>
          <a:stretch>
            <a:fillRect/>
          </a:stretch>
        </p:blipFill>
        <p:spPr>
          <a:xfrm>
            <a:off x="307758" y="227163"/>
            <a:ext cx="11576483" cy="6403673"/>
          </a:xfrm>
          <a:prstGeom prst="rect">
            <a:avLst/>
          </a:prstGeom>
        </p:spPr>
      </p:pic>
    </p:spTree>
    <p:extLst>
      <p:ext uri="{BB962C8B-B14F-4D97-AF65-F5344CB8AC3E}">
        <p14:creationId xmlns:p14="http://schemas.microsoft.com/office/powerpoint/2010/main" val="46906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9D1521-0053-E099-BCDB-7A1D28019D92}"/>
              </a:ext>
            </a:extLst>
          </p:cNvPr>
          <p:cNvPicPr>
            <a:picLocks noChangeAspect="1"/>
          </p:cNvPicPr>
          <p:nvPr/>
        </p:nvPicPr>
        <p:blipFill>
          <a:blip r:embed="rId2"/>
          <a:stretch>
            <a:fillRect/>
          </a:stretch>
        </p:blipFill>
        <p:spPr>
          <a:xfrm>
            <a:off x="218982" y="319681"/>
            <a:ext cx="11754035" cy="6218638"/>
          </a:xfrm>
          <a:prstGeom prst="rect">
            <a:avLst/>
          </a:prstGeom>
        </p:spPr>
      </p:pic>
    </p:spTree>
    <p:extLst>
      <p:ext uri="{BB962C8B-B14F-4D97-AF65-F5344CB8AC3E}">
        <p14:creationId xmlns:p14="http://schemas.microsoft.com/office/powerpoint/2010/main" val="90509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797445-51F9-46E9-37BD-7E932FF3F4E7}"/>
              </a:ext>
            </a:extLst>
          </p:cNvPr>
          <p:cNvSpPr>
            <a:spLocks noGrp="1"/>
          </p:cNvSpPr>
          <p:nvPr>
            <p:ph type="title"/>
          </p:nvPr>
        </p:nvSpPr>
        <p:spPr>
          <a:xfrm>
            <a:off x="721878" y="174811"/>
            <a:ext cx="10745066" cy="824753"/>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Again, What is a Blockchain? –who invented?</a:t>
            </a:r>
            <a:endParaRPr lang="en-IN"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C655C1D-DCCE-6667-18EE-6DE8CF794C0C}"/>
              </a:ext>
            </a:extLst>
          </p:cNvPr>
          <p:cNvSpPr>
            <a:spLocks noGrp="1"/>
          </p:cNvSpPr>
          <p:nvPr>
            <p:ph idx="1"/>
          </p:nvPr>
        </p:nvSpPr>
        <p:spPr>
          <a:xfrm>
            <a:off x="402296" y="1304364"/>
            <a:ext cx="11384231" cy="5298141"/>
          </a:xfrm>
          <a:prstGeom prst="rect">
            <a:avLst/>
          </a:prstGeom>
        </p:spPr>
        <p:txBody>
          <a:bodyPr lIns="0" tIns="0" rIns="0" bIns="0">
            <a:noAutofit/>
          </a:bodyPr>
          <a:lstStyle/>
          <a:p>
            <a:pPr marL="241300" indent="0" algn="just">
              <a:lnSpc>
                <a:spcPct val="100000"/>
              </a:lnSpc>
              <a:spcAft>
                <a:spcPts val="210"/>
              </a:spcAft>
              <a:buNone/>
            </a:pPr>
            <a:r>
              <a:rPr lang="en-US" sz="2400" dirty="0">
                <a:latin typeface="Times New Roman" panose="02020603050405020304" pitchFamily="18" charset="0"/>
                <a:cs typeface="Times New Roman" panose="02020603050405020304" pitchFamily="18" charset="0"/>
              </a:rPr>
              <a:t>Proposed in their research paper published in 1991, entitled, “How to digitally time stamp a document”</a:t>
            </a:r>
          </a:p>
        </p:txBody>
      </p:sp>
      <p:pic>
        <p:nvPicPr>
          <p:cNvPr id="10" name="Picture 9">
            <a:extLst>
              <a:ext uri="{FF2B5EF4-FFF2-40B4-BE49-F238E27FC236}">
                <a16:creationId xmlns:a16="http://schemas.microsoft.com/office/drawing/2014/main" id="{98FEFFF2-5479-F571-097F-6F15ECD0993A}"/>
              </a:ext>
            </a:extLst>
          </p:cNvPr>
          <p:cNvPicPr>
            <a:picLocks noChangeAspect="1"/>
          </p:cNvPicPr>
          <p:nvPr/>
        </p:nvPicPr>
        <p:blipFill>
          <a:blip r:embed="rId2"/>
          <a:stretch>
            <a:fillRect/>
          </a:stretch>
        </p:blipFill>
        <p:spPr>
          <a:xfrm>
            <a:off x="577049" y="2050742"/>
            <a:ext cx="11209478" cy="4438835"/>
          </a:xfrm>
          <a:prstGeom prst="rect">
            <a:avLst/>
          </a:prstGeom>
        </p:spPr>
      </p:pic>
    </p:spTree>
    <p:extLst>
      <p:ext uri="{BB962C8B-B14F-4D97-AF65-F5344CB8AC3E}">
        <p14:creationId xmlns:p14="http://schemas.microsoft.com/office/powerpoint/2010/main" val="390228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8F939B9-20DA-C526-94F2-BCD89B209D40}"/>
              </a:ext>
            </a:extLst>
          </p:cNvPr>
          <p:cNvSpPr>
            <a:spLocks noGrp="1"/>
          </p:cNvSpPr>
          <p:nvPr>
            <p:ph type="title"/>
          </p:nvPr>
        </p:nvSpPr>
        <p:spPr>
          <a:xfrm>
            <a:off x="1293811" y="165933"/>
            <a:ext cx="9601200" cy="824753"/>
          </a:xfrm>
        </p:spPr>
        <p:txBody>
          <a:bodyPr>
            <a:normAutofit/>
          </a:bodyPr>
          <a:lstStyle/>
          <a:p>
            <a:pPr algn="ctr"/>
            <a:r>
              <a:rPr lang="en-US" b="1" dirty="0">
                <a:latin typeface="Times New Roman" panose="02020603050405020304" pitchFamily="18" charset="0"/>
                <a:cs typeface="Times New Roman" panose="02020603050405020304" pitchFamily="18" charset="0"/>
              </a:rPr>
              <a:t>Again, What is a Blockchain?</a:t>
            </a:r>
            <a:endParaRPr lang="en-IN"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D9F2083-1B30-0EFD-BDDD-71BB86182B6D}"/>
              </a:ext>
            </a:extLst>
          </p:cNvPr>
          <p:cNvSpPr>
            <a:spLocks noGrp="1"/>
          </p:cNvSpPr>
          <p:nvPr>
            <p:ph idx="1"/>
          </p:nvPr>
        </p:nvSpPr>
        <p:spPr>
          <a:xfrm>
            <a:off x="402295" y="1242220"/>
            <a:ext cx="11384231" cy="5298141"/>
          </a:xfrm>
          <a:prstGeom prst="rect">
            <a:avLst/>
          </a:prstGeom>
        </p:spPr>
        <p:txBody>
          <a:bodyPr lIns="0" tIns="0" rIns="0" bIns="0">
            <a:noAutofit/>
          </a:bodyPr>
          <a:lstStyle/>
          <a:p>
            <a:pPr marL="806450" indent="-565150" algn="just">
              <a:lnSpc>
                <a:spcPct val="100000"/>
              </a:lnSpc>
              <a:spcAft>
                <a:spcPts val="210"/>
              </a:spcAft>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Blockchain technology is a digital innovation that has the potential to significantly impact trusted computing activities and therefore cybersecurity concerns as a whole.</a:t>
            </a:r>
          </a:p>
          <a:p>
            <a:pPr marL="806450" indent="-565150" algn="just">
              <a:lnSpc>
                <a:spcPct val="100000"/>
              </a:lnSpc>
              <a:spcAft>
                <a:spcPts val="630"/>
              </a:spcAft>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Attractive properties of Blockchain</a:t>
            </a:r>
          </a:p>
          <a:p>
            <a:pPr marL="1169988" indent="-363538" algn="just">
              <a:lnSpc>
                <a:spcPct val="100000"/>
              </a:lnSpc>
              <a:spcAft>
                <a:spcPts val="630"/>
              </a:spcAf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Log of data with digital signature</a:t>
            </a:r>
          </a:p>
          <a:p>
            <a:pPr marL="1169988" indent="-363538" algn="just">
              <a:lnSpc>
                <a:spcPct val="100000"/>
              </a:lnSpc>
              <a:spcAft>
                <a:spcPts val="210"/>
              </a:spcAf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Immutable (once written - cryptographically hard to remove from the log)</a:t>
            </a:r>
          </a:p>
          <a:p>
            <a:pPr marL="1169988" indent="-363538" algn="just">
              <a:lnSpc>
                <a:spcPct val="100000"/>
              </a:lnSpc>
              <a:spcAft>
                <a:spcPts val="630"/>
              </a:spcAf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Cryptographically secure - privacy preserving</a:t>
            </a:r>
          </a:p>
          <a:p>
            <a:pPr marL="1169988" indent="-363538" algn="just">
              <a:lnSpc>
                <a:spcPct val="10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Provides a basis for trusted computing on top of which applications can be built</a:t>
            </a:r>
          </a:p>
        </p:txBody>
      </p:sp>
    </p:spTree>
    <p:extLst>
      <p:ext uri="{BB962C8B-B14F-4D97-AF65-F5344CB8AC3E}">
        <p14:creationId xmlns:p14="http://schemas.microsoft.com/office/powerpoint/2010/main" val="3837920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2164CB-9E60-AA80-AEF4-E7FDC45F5A85}"/>
              </a:ext>
            </a:extLst>
          </p:cNvPr>
          <p:cNvSpPr txBox="1"/>
          <p:nvPr/>
        </p:nvSpPr>
        <p:spPr>
          <a:xfrm>
            <a:off x="257452" y="204186"/>
            <a:ext cx="8416031"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How Blockchain Transforming Business</a:t>
            </a:r>
          </a:p>
        </p:txBody>
      </p:sp>
      <p:pic>
        <p:nvPicPr>
          <p:cNvPr id="6" name="Picture 5">
            <a:extLst>
              <a:ext uri="{FF2B5EF4-FFF2-40B4-BE49-F238E27FC236}">
                <a16:creationId xmlns:a16="http://schemas.microsoft.com/office/drawing/2014/main" id="{99694E22-4E30-DB31-69D6-98BDCAFC7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451" y="1020932"/>
            <a:ext cx="11336785" cy="5308847"/>
          </a:xfrm>
          <a:prstGeom prst="rect">
            <a:avLst/>
          </a:prstGeom>
        </p:spPr>
      </p:pic>
    </p:spTree>
    <p:extLst>
      <p:ext uri="{BB962C8B-B14F-4D97-AF65-F5344CB8AC3E}">
        <p14:creationId xmlns:p14="http://schemas.microsoft.com/office/powerpoint/2010/main" val="2746018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3E5E88-95BB-C30B-4BDB-80EC29F26389}"/>
              </a:ext>
            </a:extLst>
          </p:cNvPr>
          <p:cNvSpPr txBox="1"/>
          <p:nvPr/>
        </p:nvSpPr>
        <p:spPr>
          <a:xfrm>
            <a:off x="144262" y="281411"/>
            <a:ext cx="6094520" cy="461665"/>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How Does the Blockchain Work?</a:t>
            </a:r>
          </a:p>
        </p:txBody>
      </p:sp>
      <p:sp>
        <p:nvSpPr>
          <p:cNvPr id="7" name="TextBox 6">
            <a:extLst>
              <a:ext uri="{FF2B5EF4-FFF2-40B4-BE49-F238E27FC236}">
                <a16:creationId xmlns:a16="http://schemas.microsoft.com/office/drawing/2014/main" id="{F75BE1E2-9914-55DF-DAC5-7C41586B360F}"/>
              </a:ext>
            </a:extLst>
          </p:cNvPr>
          <p:cNvSpPr txBox="1"/>
          <p:nvPr/>
        </p:nvSpPr>
        <p:spPr>
          <a:xfrm>
            <a:off x="144261" y="916982"/>
            <a:ext cx="11813959" cy="1477328"/>
          </a:xfrm>
          <a:prstGeom prst="rect">
            <a:avLst/>
          </a:prstGeom>
          <a:noFill/>
        </p:spPr>
        <p:txBody>
          <a:bodyPr wrap="square">
            <a:spAutoFit/>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A blockchain is a distributed database that stores information electronically in a digital format and is shared among the nodes of a computer network. A typical difference between a blockchain and a database is how data is structured. A blockchain is a shared, immutable ledger as the name suggests structures data into chunks or blocks, and a database structures data into tables. A blockchain is a chain of blocks. Once a block is filled with data and it is chained to the previous blocks. Different types of information can be stored on the blockchain network but the most important is transactions.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FE4B7DB-6496-41AD-93FB-2BCE081CCC1B}"/>
              </a:ext>
            </a:extLst>
          </p:cNvPr>
          <p:cNvSpPr txBox="1"/>
          <p:nvPr/>
        </p:nvSpPr>
        <p:spPr>
          <a:xfrm>
            <a:off x="144262" y="2521059"/>
            <a:ext cx="11813958" cy="1815882"/>
          </a:xfrm>
          <a:prstGeom prst="rect">
            <a:avLst/>
          </a:prstGeom>
          <a:noFill/>
        </p:spPr>
        <p:txBody>
          <a:bodyPr wrap="square">
            <a:spAutoFit/>
          </a:bodyPr>
          <a:lstStyle/>
          <a:p>
            <a:pPr algn="just" fontAlgn="base"/>
            <a:r>
              <a:rPr lang="en-US" b="0" i="0" dirty="0">
                <a:solidFill>
                  <a:srgbClr val="273239"/>
                </a:solidFill>
                <a:effectLst/>
                <a:latin typeface="Times New Roman" panose="02020603050405020304" pitchFamily="18" charset="0"/>
                <a:cs typeface="Times New Roman" panose="02020603050405020304" pitchFamily="18" charset="0"/>
              </a:rPr>
              <a:t>The transaction process in a blockchain can be summarized as follows:</a:t>
            </a:r>
          </a:p>
          <a:p>
            <a:pPr algn="just" fontAlgn="base"/>
            <a:r>
              <a:rPr lang="en-US" b="1" i="0" dirty="0">
                <a:solidFill>
                  <a:srgbClr val="273239"/>
                </a:solidFill>
                <a:effectLst/>
                <a:latin typeface="Times New Roman" panose="02020603050405020304" pitchFamily="18" charset="0"/>
                <a:cs typeface="Times New Roman" panose="02020603050405020304" pitchFamily="18" charset="0"/>
              </a:rPr>
              <a:t>1</a:t>
            </a:r>
            <a:r>
              <a:rPr lang="en-US" sz="2000" b="1" i="0" dirty="0">
                <a:solidFill>
                  <a:srgbClr val="273239"/>
                </a:solidFill>
                <a:effectLst/>
                <a:latin typeface="Times New Roman" panose="02020603050405020304" pitchFamily="18" charset="0"/>
                <a:cs typeface="Times New Roman" panose="02020603050405020304" pitchFamily="18" charset="0"/>
              </a:rPr>
              <a:t>. Facilitating a transaction</a:t>
            </a:r>
            <a:r>
              <a:rPr lang="en-US" b="1"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A new transaction enters the blockchain network. All the information that needs to be transmitted is doubly encrypted using public and private keys.</a:t>
            </a:r>
          </a:p>
          <a:p>
            <a:pPr algn="just" fontAlgn="base"/>
            <a:r>
              <a:rPr lang="en-US" b="1" i="0" dirty="0">
                <a:solidFill>
                  <a:srgbClr val="273239"/>
                </a:solidFill>
                <a:effectLst/>
                <a:latin typeface="Times New Roman" panose="02020603050405020304" pitchFamily="18" charset="0"/>
                <a:cs typeface="Times New Roman" panose="02020603050405020304" pitchFamily="18" charset="0"/>
              </a:rPr>
              <a:t>2. </a:t>
            </a:r>
            <a:r>
              <a:rPr lang="en-US" sz="2000" b="1" i="0" dirty="0">
                <a:solidFill>
                  <a:srgbClr val="273239"/>
                </a:solidFill>
                <a:effectLst/>
                <a:latin typeface="Times New Roman" panose="02020603050405020304" pitchFamily="18" charset="0"/>
                <a:cs typeface="Times New Roman" panose="02020603050405020304" pitchFamily="18" charset="0"/>
              </a:rPr>
              <a:t>Verification of transaction</a:t>
            </a:r>
            <a:r>
              <a:rPr lang="en-US" b="1" i="0" dirty="0">
                <a:solidFill>
                  <a:srgbClr val="273239"/>
                </a:solidFill>
                <a:effectLst/>
                <a:latin typeface="Times New Roman" panose="02020603050405020304" pitchFamily="18" charset="0"/>
                <a:cs typeface="Times New Roman" panose="02020603050405020304" pitchFamily="18" charset="0"/>
              </a:rPr>
              <a:t>:</a:t>
            </a:r>
            <a:r>
              <a:rPr lang="en-US" b="0" i="0" dirty="0">
                <a:solidFill>
                  <a:srgbClr val="273239"/>
                </a:solidFill>
                <a:effectLst/>
                <a:latin typeface="Times New Roman" panose="02020603050405020304" pitchFamily="18" charset="0"/>
                <a:cs typeface="Times New Roman" panose="02020603050405020304" pitchFamily="18" charset="0"/>
              </a:rPr>
              <a:t> The transaction is then transmitted to the network of peer-to-peer computers distributed across the world. All the nodes on the network will check for the validity of the transaction like if a sufficient balance is available for carrying out the transaction.</a:t>
            </a:r>
          </a:p>
        </p:txBody>
      </p:sp>
      <p:sp>
        <p:nvSpPr>
          <p:cNvPr id="11" name="TextBox 10">
            <a:extLst>
              <a:ext uri="{FF2B5EF4-FFF2-40B4-BE49-F238E27FC236}">
                <a16:creationId xmlns:a16="http://schemas.microsoft.com/office/drawing/2014/main" id="{F13A82D3-6D26-7032-1224-6D76504D44FB}"/>
              </a:ext>
            </a:extLst>
          </p:cNvPr>
          <p:cNvSpPr txBox="1"/>
          <p:nvPr/>
        </p:nvSpPr>
        <p:spPr>
          <a:xfrm>
            <a:off x="144261" y="4247284"/>
            <a:ext cx="11724440" cy="954107"/>
          </a:xfrm>
          <a:prstGeom prst="rect">
            <a:avLst/>
          </a:prstGeom>
          <a:noFill/>
        </p:spPr>
        <p:txBody>
          <a:bodyPr wrap="square">
            <a:spAutoFit/>
          </a:bodyPr>
          <a:lstStyle/>
          <a:p>
            <a:pPr algn="just"/>
            <a:r>
              <a:rPr lang="en-US" b="1" i="0" dirty="0">
                <a:solidFill>
                  <a:srgbClr val="273239"/>
                </a:solidFill>
                <a:effectLst/>
                <a:latin typeface="Times New Roman" panose="02020603050405020304" pitchFamily="18" charset="0"/>
                <a:cs typeface="Times New Roman" panose="02020603050405020304" pitchFamily="18" charset="0"/>
              </a:rPr>
              <a:t>3. </a:t>
            </a:r>
            <a:r>
              <a:rPr lang="en-US" sz="2000" b="1" i="0" dirty="0">
                <a:solidFill>
                  <a:srgbClr val="273239"/>
                </a:solidFill>
                <a:effectLst/>
                <a:latin typeface="Times New Roman" panose="02020603050405020304" pitchFamily="18" charset="0"/>
                <a:cs typeface="Times New Roman" panose="02020603050405020304" pitchFamily="18" charset="0"/>
              </a:rPr>
              <a:t>Formation of a new block: </a:t>
            </a:r>
            <a:r>
              <a:rPr lang="en-US" b="0" i="0" dirty="0">
                <a:solidFill>
                  <a:srgbClr val="273239"/>
                </a:solidFill>
                <a:effectLst/>
                <a:latin typeface="Times New Roman" panose="02020603050405020304" pitchFamily="18" charset="0"/>
                <a:cs typeface="Times New Roman" panose="02020603050405020304" pitchFamily="18" charset="0"/>
              </a:rPr>
              <a:t>In a typical blockchain network there are many nodes and many transactions get verified at a time. Once the transaction is verified and declared a legitimate transaction, it will be added to the mem pool.  All the verified transactions at a particular node form a mem pool and such multiple mem pools form a block. </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56BB040-9B5F-95FC-693B-0FDD04EAC38B}"/>
              </a:ext>
            </a:extLst>
          </p:cNvPr>
          <p:cNvSpPr txBox="1"/>
          <p:nvPr/>
        </p:nvSpPr>
        <p:spPr>
          <a:xfrm>
            <a:off x="144260" y="5068484"/>
            <a:ext cx="11813958" cy="1508105"/>
          </a:xfrm>
          <a:prstGeom prst="rect">
            <a:avLst/>
          </a:prstGeom>
          <a:noFill/>
        </p:spPr>
        <p:txBody>
          <a:bodyPr wrap="square">
            <a:spAutoFit/>
          </a:bodyPr>
          <a:lstStyle/>
          <a:p>
            <a:pPr algn="just"/>
            <a:r>
              <a:rPr lang="en-US" b="1" i="0" dirty="0">
                <a:solidFill>
                  <a:srgbClr val="273239"/>
                </a:solidFill>
                <a:effectLst/>
                <a:latin typeface="urw-din"/>
              </a:rPr>
              <a:t>4. </a:t>
            </a:r>
            <a:r>
              <a:rPr lang="en-US" sz="2000" b="1" i="0" dirty="0">
                <a:solidFill>
                  <a:srgbClr val="273239"/>
                </a:solidFill>
                <a:effectLst/>
                <a:latin typeface="Times New Roman" panose="02020603050405020304" pitchFamily="18" charset="0"/>
                <a:cs typeface="Times New Roman" panose="02020603050405020304" pitchFamily="18" charset="0"/>
              </a:rPr>
              <a:t>Consensus Algorithm</a:t>
            </a:r>
            <a:r>
              <a:rPr lang="en-US" b="1"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 The nodes that form a block will try to add the block to the blockchain network to make it permanent. But if every node is allowed to add blocks in this manner then it will disrupt the working of the blockchain network. To solve this problem, the nodes use a </a:t>
            </a:r>
            <a:r>
              <a:rPr lang="en-US" u="sng" dirty="0">
                <a:latin typeface="Times New Roman" panose="02020603050405020304" pitchFamily="18" charset="0"/>
                <a:cs typeface="Times New Roman" panose="02020603050405020304" pitchFamily="18" charset="0"/>
              </a:rPr>
              <a:t>consensus mechanism</a:t>
            </a:r>
            <a:r>
              <a:rPr lang="en-US" b="0" i="0" dirty="0">
                <a:solidFill>
                  <a:srgbClr val="273239"/>
                </a:solidFill>
                <a:effectLst/>
                <a:latin typeface="Times New Roman" panose="02020603050405020304" pitchFamily="18" charset="0"/>
                <a:cs typeface="Times New Roman" panose="02020603050405020304" pitchFamily="18" charset="0"/>
              </a:rPr>
              <a:t> to ensure that every new block that is added to the Blockchain is the one and only version of the truth that is agreed upon by all the nodes in the Blockchain, and only a valid block is securely attached to the blockchain.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3720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86BC39-6D81-F4AD-DE23-34785C9CBAC4}"/>
              </a:ext>
            </a:extLst>
          </p:cNvPr>
          <p:cNvSpPr txBox="1"/>
          <p:nvPr/>
        </p:nvSpPr>
        <p:spPr>
          <a:xfrm>
            <a:off x="99873" y="96733"/>
            <a:ext cx="11849470" cy="646331"/>
          </a:xfrm>
          <a:prstGeom prst="rect">
            <a:avLst/>
          </a:prstGeom>
          <a:noFill/>
        </p:spPr>
        <p:txBody>
          <a:bodyPr wrap="square">
            <a:spAutoFit/>
          </a:bodyPr>
          <a:lstStyle/>
          <a:p>
            <a:r>
              <a:rPr lang="en-US" b="0" i="0" dirty="0">
                <a:solidFill>
                  <a:srgbClr val="273239"/>
                </a:solidFill>
                <a:effectLst/>
                <a:latin typeface="Times New Roman" panose="02020603050405020304" pitchFamily="18" charset="0"/>
                <a:cs typeface="Times New Roman" panose="02020603050405020304" pitchFamily="18" charset="0"/>
              </a:rPr>
              <a:t>The node that is selected to add a block to the blockchain will get a reward and hence we call them “miners”. The consensus algorithm creates a hash code for that block which is required to add the block to the blockchain</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0B9C6ED-C62F-6536-F3DE-21237C1399FF}"/>
              </a:ext>
            </a:extLst>
          </p:cNvPr>
          <p:cNvSpPr txBox="1"/>
          <p:nvPr/>
        </p:nvSpPr>
        <p:spPr>
          <a:xfrm>
            <a:off x="99873" y="743064"/>
            <a:ext cx="11849470" cy="1231106"/>
          </a:xfrm>
          <a:prstGeom prst="rect">
            <a:avLst/>
          </a:prstGeom>
          <a:noFill/>
        </p:spPr>
        <p:txBody>
          <a:bodyPr wrap="square">
            <a:spAutoFit/>
          </a:bodyPr>
          <a:lstStyle/>
          <a:p>
            <a:pPr algn="just"/>
            <a:r>
              <a:rPr lang="en-US" sz="2000" b="1" i="0" dirty="0">
                <a:solidFill>
                  <a:srgbClr val="273239"/>
                </a:solidFill>
                <a:effectLst/>
                <a:latin typeface="Times New Roman" panose="02020603050405020304" pitchFamily="18" charset="0"/>
                <a:cs typeface="Times New Roman" panose="02020603050405020304" pitchFamily="18" charset="0"/>
              </a:rPr>
              <a:t>5. Addition of the new block to the blockchain</a:t>
            </a:r>
            <a:r>
              <a:rPr lang="en-US" b="1" i="0" dirty="0">
                <a:solidFill>
                  <a:srgbClr val="273239"/>
                </a:solidFill>
                <a:effectLst/>
                <a:latin typeface="urw-din"/>
              </a:rPr>
              <a:t>: </a:t>
            </a:r>
            <a:r>
              <a:rPr lang="en-US" b="0" i="0" dirty="0">
                <a:solidFill>
                  <a:srgbClr val="273239"/>
                </a:solidFill>
                <a:effectLst/>
                <a:latin typeface="Times New Roman" panose="02020603050405020304" pitchFamily="18" charset="0"/>
                <a:cs typeface="Times New Roman" panose="02020603050405020304" pitchFamily="18" charset="0"/>
              </a:rPr>
              <a:t>After the newly created block has got its hash value and is authenticated, now it is ready to be added to the blockchain. In every block, there is a hash value of the previous block and that is how the blocks are cryptographically linked to each other to form a blockchain. A new block gets added to the open end of the blockchain.</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E2D5750-DA32-E7BA-AC92-650431A7F4D1}"/>
              </a:ext>
            </a:extLst>
          </p:cNvPr>
          <p:cNvSpPr txBox="1"/>
          <p:nvPr/>
        </p:nvSpPr>
        <p:spPr>
          <a:xfrm>
            <a:off x="99873" y="1974170"/>
            <a:ext cx="11849470" cy="954107"/>
          </a:xfrm>
          <a:prstGeom prst="rect">
            <a:avLst/>
          </a:prstGeom>
          <a:noFill/>
        </p:spPr>
        <p:txBody>
          <a:bodyPr wrap="square">
            <a:spAutoFit/>
          </a:bodyPr>
          <a:lstStyle/>
          <a:p>
            <a:pPr algn="just"/>
            <a:r>
              <a:rPr lang="en-US" b="1" i="0" dirty="0">
                <a:solidFill>
                  <a:srgbClr val="273239"/>
                </a:solidFill>
                <a:effectLst/>
                <a:latin typeface="urw-din"/>
              </a:rPr>
              <a:t>6. </a:t>
            </a:r>
            <a:r>
              <a:rPr lang="en-US" sz="2000" b="1" i="0" dirty="0">
                <a:solidFill>
                  <a:srgbClr val="273239"/>
                </a:solidFill>
                <a:effectLst/>
                <a:latin typeface="Times New Roman" panose="02020603050405020304" pitchFamily="18" charset="0"/>
                <a:cs typeface="Times New Roman" panose="02020603050405020304" pitchFamily="18" charset="0"/>
              </a:rPr>
              <a:t>Transaction complete</a:t>
            </a:r>
            <a:r>
              <a:rPr lang="en-US" b="1"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As soon as the block is added to the blockchain the transaction is completed and the details of this transaction are permanently stored in the blockchain. Anyone can fetch the details of the transaction and confirm the transaction</a:t>
            </a:r>
            <a:r>
              <a:rPr lang="en-US" b="0" i="0" dirty="0">
                <a:solidFill>
                  <a:srgbClr val="273239"/>
                </a:solidFill>
                <a:effectLst/>
                <a:latin typeface="urw-din"/>
              </a:rPr>
              <a:t>.</a:t>
            </a:r>
            <a:endParaRPr lang="en-IN" dirty="0"/>
          </a:p>
        </p:txBody>
      </p:sp>
      <p:pic>
        <p:nvPicPr>
          <p:cNvPr id="11" name="Picture 10">
            <a:extLst>
              <a:ext uri="{FF2B5EF4-FFF2-40B4-BE49-F238E27FC236}">
                <a16:creationId xmlns:a16="http://schemas.microsoft.com/office/drawing/2014/main" id="{9E4ED742-CA8B-5891-E7A2-1BAC1E7644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783" y="2849731"/>
            <a:ext cx="10706469" cy="3911535"/>
          </a:xfrm>
          <a:prstGeom prst="rect">
            <a:avLst/>
          </a:prstGeom>
        </p:spPr>
      </p:pic>
    </p:spTree>
    <p:extLst>
      <p:ext uri="{BB962C8B-B14F-4D97-AF65-F5344CB8AC3E}">
        <p14:creationId xmlns:p14="http://schemas.microsoft.com/office/powerpoint/2010/main" val="1134754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5068AF-66E8-1056-A7B1-EFCBAB7D3A5C}"/>
              </a:ext>
            </a:extLst>
          </p:cNvPr>
          <p:cNvSpPr txBox="1"/>
          <p:nvPr/>
        </p:nvSpPr>
        <p:spPr>
          <a:xfrm>
            <a:off x="124287" y="467727"/>
            <a:ext cx="11754035" cy="2862322"/>
          </a:xfrm>
          <a:prstGeom prst="rect">
            <a:avLst/>
          </a:prstGeom>
          <a:noFill/>
        </p:spPr>
        <p:txBody>
          <a:bodyPr wrap="square">
            <a:spAutoFit/>
          </a:bodyPr>
          <a:lstStyle/>
          <a:p>
            <a:pPr algn="just" fontAlgn="base"/>
            <a:r>
              <a:rPr lang="en-US" b="0" i="0" dirty="0">
                <a:solidFill>
                  <a:srgbClr val="273239"/>
                </a:solidFill>
                <a:effectLst/>
                <a:latin typeface="Times New Roman" panose="02020603050405020304" pitchFamily="18" charset="0"/>
                <a:cs typeface="Times New Roman" panose="02020603050405020304" pitchFamily="18" charset="0"/>
              </a:rPr>
              <a:t>Let’s understand this working of blockchain with the help of an example:</a:t>
            </a:r>
          </a:p>
          <a:p>
            <a:pPr algn="just" fontAlgn="base"/>
            <a:r>
              <a:rPr lang="en-US" b="0" i="0" dirty="0">
                <a:solidFill>
                  <a:srgbClr val="273239"/>
                </a:solidFill>
                <a:effectLst/>
                <a:latin typeface="Times New Roman" panose="02020603050405020304" pitchFamily="18" charset="0"/>
                <a:cs typeface="Times New Roman" panose="02020603050405020304" pitchFamily="18" charset="0"/>
              </a:rPr>
              <a:t>Let’s say Jack and Phil are two nodes on the </a:t>
            </a:r>
            <a:r>
              <a:rPr lang="en-US" b="0" i="0" u="sng" dirty="0">
                <a:solidFill>
                  <a:srgbClr val="273239"/>
                </a:solidFill>
                <a:effectLst/>
                <a:latin typeface="Times New Roman" panose="02020603050405020304" pitchFamily="18" charset="0"/>
                <a:cs typeface="Times New Roman" panose="02020603050405020304" pitchFamily="18" charset="0"/>
              </a:rPr>
              <a:t>bitc</a:t>
            </a:r>
            <a:r>
              <a:rPr lang="en-US" u="sng" dirty="0">
                <a:solidFill>
                  <a:srgbClr val="273239"/>
                </a:solidFill>
                <a:latin typeface="Times New Roman" panose="02020603050405020304" pitchFamily="18" charset="0"/>
                <a:cs typeface="Times New Roman" panose="02020603050405020304" pitchFamily="18" charset="0"/>
              </a:rPr>
              <a:t>oin</a:t>
            </a:r>
            <a:r>
              <a:rPr lang="en-US" b="0" i="0" dirty="0">
                <a:solidFill>
                  <a:srgbClr val="273239"/>
                </a:solidFill>
                <a:effectLst/>
                <a:latin typeface="Times New Roman" panose="02020603050405020304" pitchFamily="18" charset="0"/>
                <a:cs typeface="Times New Roman" panose="02020603050405020304" pitchFamily="18" charset="0"/>
              </a:rPr>
              <a:t> blockchain network who wants to carry out a transaction between them. </a:t>
            </a:r>
          </a:p>
          <a:p>
            <a:pPr algn="just" fontAlgn="base"/>
            <a:endParaRPr lang="en-US" b="1" i="0" dirty="0">
              <a:solidFill>
                <a:srgbClr val="273239"/>
              </a:solidFill>
              <a:effectLst/>
              <a:latin typeface="Times New Roman" panose="02020603050405020304" pitchFamily="18" charset="0"/>
              <a:cs typeface="Times New Roman" panose="02020603050405020304" pitchFamily="18" charset="0"/>
            </a:endParaRPr>
          </a:p>
          <a:p>
            <a:pPr algn="just" fontAlgn="base"/>
            <a:r>
              <a:rPr lang="en-US" b="1" i="0" dirty="0">
                <a:solidFill>
                  <a:srgbClr val="273239"/>
                </a:solidFill>
                <a:effectLst/>
                <a:latin typeface="Times New Roman" panose="02020603050405020304" pitchFamily="18" charset="0"/>
                <a:cs typeface="Times New Roman" panose="02020603050405020304" pitchFamily="18" charset="0"/>
              </a:rPr>
              <a:t>Step 1: Facilitating the transaction:</a:t>
            </a:r>
            <a:r>
              <a:rPr lang="en-US" b="0" i="0" dirty="0">
                <a:solidFill>
                  <a:srgbClr val="273239"/>
                </a:solidFill>
                <a:effectLst/>
                <a:latin typeface="Times New Roman" panose="02020603050405020304" pitchFamily="18" charset="0"/>
                <a:cs typeface="Times New Roman" panose="02020603050405020304" pitchFamily="18" charset="0"/>
              </a:rPr>
              <a:t> Jack wants to send 20 BTC to Phil via the Blockchain network. </a:t>
            </a:r>
          </a:p>
          <a:p>
            <a:pPr algn="just" fontAlgn="base"/>
            <a:r>
              <a:rPr lang="en-US" b="1" i="0" dirty="0">
                <a:solidFill>
                  <a:srgbClr val="273239"/>
                </a:solidFill>
                <a:effectLst/>
                <a:latin typeface="Times New Roman" panose="02020603050405020304" pitchFamily="18" charset="0"/>
                <a:cs typeface="Times New Roman" panose="02020603050405020304" pitchFamily="18" charset="0"/>
              </a:rPr>
              <a:t>Step 2: Verification of transaction: </a:t>
            </a:r>
            <a:r>
              <a:rPr lang="en-US" b="0" i="0" dirty="0">
                <a:solidFill>
                  <a:srgbClr val="273239"/>
                </a:solidFill>
                <a:effectLst/>
                <a:latin typeface="Times New Roman" panose="02020603050405020304" pitchFamily="18" charset="0"/>
                <a:cs typeface="Times New Roman" panose="02020603050405020304" pitchFamily="18" charset="0"/>
              </a:rPr>
              <a:t>The message for verification will be sent to all the nodes on the network. All the nodes will check the important parameters related to the transaction like Does Jack has sufficient balance i.e. at least 20BTC to perform the transaction. Is Jack a registered node? Is Phil a registered node? After checking the parameters the transaction is verified.</a:t>
            </a:r>
          </a:p>
          <a:p>
            <a:pPr algn="just" fontAlgn="base"/>
            <a:r>
              <a:rPr lang="en-US" b="1" i="0" dirty="0">
                <a:solidFill>
                  <a:srgbClr val="273239"/>
                </a:solidFill>
                <a:effectLst/>
                <a:latin typeface="Times New Roman" panose="02020603050405020304" pitchFamily="18" charset="0"/>
                <a:cs typeface="Times New Roman" panose="02020603050405020304" pitchFamily="18" charset="0"/>
              </a:rPr>
              <a:t>Step 3: Formation of a new block: </a:t>
            </a:r>
            <a:r>
              <a:rPr lang="en-US" b="0" i="0" dirty="0">
                <a:solidFill>
                  <a:srgbClr val="273239"/>
                </a:solidFill>
                <a:effectLst/>
                <a:latin typeface="Times New Roman" panose="02020603050405020304" pitchFamily="18" charset="0"/>
                <a:cs typeface="Times New Roman" panose="02020603050405020304" pitchFamily="18" charset="0"/>
              </a:rPr>
              <a:t>A number of verified transactions stack up in mem pools and get stored in a block. This verified transaction will also get stored in a block.</a:t>
            </a:r>
          </a:p>
        </p:txBody>
      </p:sp>
      <p:sp>
        <p:nvSpPr>
          <p:cNvPr id="7" name="TextBox 6">
            <a:extLst>
              <a:ext uri="{FF2B5EF4-FFF2-40B4-BE49-F238E27FC236}">
                <a16:creationId xmlns:a16="http://schemas.microsoft.com/office/drawing/2014/main" id="{4E68F5DB-EA88-CC56-FC53-33AAC7A7533C}"/>
              </a:ext>
            </a:extLst>
          </p:cNvPr>
          <p:cNvSpPr txBox="1"/>
          <p:nvPr/>
        </p:nvSpPr>
        <p:spPr>
          <a:xfrm>
            <a:off x="124287" y="3230603"/>
            <a:ext cx="11683014" cy="2585323"/>
          </a:xfrm>
          <a:prstGeom prst="rect">
            <a:avLst/>
          </a:prstGeom>
          <a:noFill/>
        </p:spPr>
        <p:txBody>
          <a:bodyPr wrap="square">
            <a:spAutoFit/>
          </a:bodyPr>
          <a:lstStyle/>
          <a:p>
            <a:pPr algn="just" fontAlgn="base"/>
            <a:r>
              <a:rPr lang="en-US" b="1" i="0" dirty="0">
                <a:solidFill>
                  <a:srgbClr val="273239"/>
                </a:solidFill>
                <a:effectLst/>
                <a:latin typeface="Times New Roman" panose="02020603050405020304" pitchFamily="18" charset="0"/>
                <a:cs typeface="Times New Roman" panose="02020603050405020304" pitchFamily="18" charset="0"/>
              </a:rPr>
              <a:t>Step 4: Consensus algorithm: </a:t>
            </a:r>
            <a:r>
              <a:rPr lang="en-US" b="0" i="0" dirty="0">
                <a:solidFill>
                  <a:srgbClr val="273239"/>
                </a:solidFill>
                <a:effectLst/>
                <a:latin typeface="Times New Roman" panose="02020603050405020304" pitchFamily="18" charset="0"/>
                <a:cs typeface="Times New Roman" panose="02020603050405020304" pitchFamily="18" charset="0"/>
              </a:rPr>
              <a:t>Since here we are talking about bitcoins so the </a:t>
            </a:r>
            <a:r>
              <a:rPr lang="en-US" u="sng" dirty="0">
                <a:solidFill>
                  <a:srgbClr val="273239"/>
                </a:solidFill>
                <a:latin typeface="Times New Roman" panose="02020603050405020304" pitchFamily="18" charset="0"/>
                <a:cs typeface="Times New Roman" panose="02020603050405020304" pitchFamily="18" charset="0"/>
              </a:rPr>
              <a:t>Proof-of-Work consensus algorithm</a:t>
            </a:r>
            <a:r>
              <a:rPr lang="en-US" b="0" i="0" dirty="0">
                <a:solidFill>
                  <a:srgbClr val="273239"/>
                </a:solidFill>
                <a:effectLst/>
                <a:latin typeface="Times New Roman" panose="02020603050405020304" pitchFamily="18" charset="0"/>
                <a:cs typeface="Times New Roman" panose="02020603050405020304" pitchFamily="18" charset="0"/>
              </a:rPr>
              <a:t> will be used for block verification. In proof-of-work, the system assigns the target hash value to a node, and according to this, it must come up with a hash for the new block. The node has to calculate the hash value for the new block that is less than the target value. If two or more miners mine the same block at the same time, the block with more difficulty is selected. The others are known as stale blocks. Mining usually rewards miners with blockchain currency. In this case, the blockchain currency is bitcoin. </a:t>
            </a:r>
          </a:p>
          <a:p>
            <a:pPr algn="just" fontAlgn="base"/>
            <a:r>
              <a:rPr lang="en-US" b="1" i="0" dirty="0">
                <a:solidFill>
                  <a:srgbClr val="273239"/>
                </a:solidFill>
                <a:effectLst/>
                <a:latin typeface="Times New Roman" panose="02020603050405020304" pitchFamily="18" charset="0"/>
                <a:cs typeface="Times New Roman" panose="02020603050405020304" pitchFamily="18" charset="0"/>
              </a:rPr>
              <a:t>Step 5: Addition of the new block in the blockchain: </a:t>
            </a:r>
            <a:r>
              <a:rPr lang="en-US" b="0" i="0" dirty="0">
                <a:solidFill>
                  <a:srgbClr val="273239"/>
                </a:solidFill>
                <a:effectLst/>
                <a:latin typeface="Times New Roman" panose="02020603050405020304" pitchFamily="18" charset="0"/>
                <a:cs typeface="Times New Roman" panose="02020603050405020304" pitchFamily="18" charset="0"/>
              </a:rPr>
              <a:t>After the newly created block has got the hash value and authentication through proof-of-work only then it will be added to the network and the transaction will mark as complete. Phil will recei</a:t>
            </a:r>
            <a:r>
              <a:rPr lang="en-US" dirty="0">
                <a:solidFill>
                  <a:srgbClr val="273239"/>
                </a:solidFill>
                <a:latin typeface="Times New Roman" panose="02020603050405020304" pitchFamily="18" charset="0"/>
                <a:cs typeface="Times New Roman" panose="02020603050405020304" pitchFamily="18" charset="0"/>
              </a:rPr>
              <a:t>ve 20 BTC from jack. The new block will be linked to the open end of the blockchain.</a:t>
            </a:r>
            <a:endParaRPr lang="en-US"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853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F0C43A4-13B7-5F99-DA8C-88168F77C15B}"/>
              </a:ext>
            </a:extLst>
          </p:cNvPr>
          <p:cNvSpPr txBox="1"/>
          <p:nvPr/>
        </p:nvSpPr>
        <p:spPr>
          <a:xfrm>
            <a:off x="62144" y="160589"/>
            <a:ext cx="11780668" cy="2031325"/>
          </a:xfrm>
          <a:prstGeom prst="rect">
            <a:avLst/>
          </a:prstGeom>
          <a:noFill/>
        </p:spPr>
        <p:txBody>
          <a:bodyPr wrap="square">
            <a:spAutoFit/>
          </a:bodyPr>
          <a:lstStyle/>
          <a:p>
            <a:pPr algn="just" fontAlgn="base"/>
            <a:r>
              <a:rPr lang="en-US" b="1" i="0" dirty="0">
                <a:solidFill>
                  <a:srgbClr val="273239"/>
                </a:solidFill>
                <a:effectLst/>
                <a:latin typeface="Times New Roman" panose="02020603050405020304" pitchFamily="18" charset="0"/>
                <a:cs typeface="Times New Roman" panose="02020603050405020304" pitchFamily="18" charset="0"/>
              </a:rPr>
              <a:t>Step 6: Transaction complete: </a:t>
            </a:r>
            <a:r>
              <a:rPr lang="en-US" b="0" i="0" dirty="0">
                <a:solidFill>
                  <a:srgbClr val="273239"/>
                </a:solidFill>
                <a:effectLst/>
                <a:latin typeface="Times New Roman" panose="02020603050405020304" pitchFamily="18" charset="0"/>
                <a:cs typeface="Times New Roman" panose="02020603050405020304" pitchFamily="18" charset="0"/>
              </a:rPr>
              <a:t>As soon as the block is added to the blockchain, the transaction will take place and 20 BTCs will get transferred from Jack’s wallet to Phil’s wallet. The details of the transaction are permanently secured on the blockchain.</a:t>
            </a:r>
          </a:p>
          <a:p>
            <a:pPr algn="just" fontAlgn="base"/>
            <a:r>
              <a:rPr lang="en-US" b="0" i="0" dirty="0">
                <a:solidFill>
                  <a:srgbClr val="273239"/>
                </a:solidFill>
                <a:effectLst/>
                <a:latin typeface="Times New Roman" panose="02020603050405020304" pitchFamily="18" charset="0"/>
                <a:cs typeface="Times New Roman" panose="02020603050405020304" pitchFamily="18" charset="0"/>
              </a:rPr>
              <a:t>Anyone on the network can fetch the information and confirm the transaction. This will help to keep track of all the transactions and to verify whether any user is trying to double spend. For example, if Jack tries to carry out a transaction in the future, the rest of the nodes can check Jack’s past transaction records to check whether Jack has enough balance to carry out the current transaction. If there is enough balance then the transaction will be approved.</a:t>
            </a:r>
          </a:p>
        </p:txBody>
      </p:sp>
      <p:pic>
        <p:nvPicPr>
          <p:cNvPr id="7" name="Picture 6">
            <a:extLst>
              <a:ext uri="{FF2B5EF4-FFF2-40B4-BE49-F238E27FC236}">
                <a16:creationId xmlns:a16="http://schemas.microsoft.com/office/drawing/2014/main" id="{276B7D85-3287-66E3-2AA4-4D9DFF6E7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729" y="2559392"/>
            <a:ext cx="11304040" cy="4138019"/>
          </a:xfrm>
          <a:prstGeom prst="rect">
            <a:avLst/>
          </a:prstGeom>
        </p:spPr>
      </p:pic>
    </p:spTree>
    <p:extLst>
      <p:ext uri="{BB962C8B-B14F-4D97-AF65-F5344CB8AC3E}">
        <p14:creationId xmlns:p14="http://schemas.microsoft.com/office/powerpoint/2010/main" val="19091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837590-F55C-DD10-CE4D-9E6286EB40AA}"/>
              </a:ext>
            </a:extLst>
          </p:cNvPr>
          <p:cNvSpPr txBox="1"/>
          <p:nvPr/>
        </p:nvSpPr>
        <p:spPr>
          <a:xfrm>
            <a:off x="162017" y="299166"/>
            <a:ext cx="6094520" cy="461665"/>
          </a:xfrm>
          <a:prstGeom prst="rect">
            <a:avLst/>
          </a:prstGeom>
          <a:noFill/>
        </p:spPr>
        <p:txBody>
          <a:bodyPr wrap="square">
            <a:spAutoFit/>
          </a:bodyPr>
          <a:lstStyle/>
          <a:p>
            <a:pPr algn="l" fontAlgn="base"/>
            <a:r>
              <a:rPr lang="en-US" sz="2400" b="1" i="0" dirty="0">
                <a:solidFill>
                  <a:srgbClr val="08062A"/>
                </a:solidFill>
                <a:effectLst/>
                <a:latin typeface="Times New Roman" panose="02020603050405020304" pitchFamily="18" charset="0"/>
                <a:cs typeface="Times New Roman" panose="02020603050405020304" pitchFamily="18" charset="0"/>
              </a:rPr>
              <a:t>Myths About Bitcoin</a:t>
            </a:r>
          </a:p>
        </p:txBody>
      </p:sp>
      <p:sp>
        <p:nvSpPr>
          <p:cNvPr id="7" name="TextBox 6">
            <a:extLst>
              <a:ext uri="{FF2B5EF4-FFF2-40B4-BE49-F238E27FC236}">
                <a16:creationId xmlns:a16="http://schemas.microsoft.com/office/drawing/2014/main" id="{B12389EC-5546-AE0A-2D5A-50FF4220CE33}"/>
              </a:ext>
            </a:extLst>
          </p:cNvPr>
          <p:cNvSpPr txBox="1"/>
          <p:nvPr/>
        </p:nvSpPr>
        <p:spPr>
          <a:xfrm>
            <a:off x="162017" y="1120676"/>
            <a:ext cx="11689672" cy="2585323"/>
          </a:xfrm>
          <a:prstGeom prst="rect">
            <a:avLst/>
          </a:prstGeom>
          <a:noFill/>
        </p:spPr>
        <p:txBody>
          <a:bodyPr wrap="square">
            <a:spAutoFit/>
          </a:bodyPr>
          <a:lstStyle/>
          <a:p>
            <a:pPr algn="just" fontAlgn="base"/>
            <a:r>
              <a:rPr lang="en-US" b="1" dirty="0">
                <a:solidFill>
                  <a:srgbClr val="08062A"/>
                </a:solidFill>
                <a:latin typeface="Inter"/>
              </a:rPr>
              <a:t>1.</a:t>
            </a:r>
            <a:r>
              <a:rPr lang="en-US" sz="2200" b="1" i="0" dirty="0">
                <a:solidFill>
                  <a:srgbClr val="08062A"/>
                </a:solidFill>
                <a:effectLst/>
                <a:latin typeface="Times New Roman" panose="02020603050405020304" pitchFamily="18" charset="0"/>
                <a:cs typeface="Times New Roman" panose="02020603050405020304" pitchFamily="18" charset="0"/>
              </a:rPr>
              <a:t>Bitcoin Is Dead</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The most common myth that people repeat about Bitcoin is that it is dead and no longer used by anyone in the world. There is a website, </a:t>
            </a:r>
            <a:r>
              <a:rPr lang="en-US" sz="2000" u="sng" dirty="0">
                <a:solidFill>
                  <a:srgbClr val="08062A"/>
                </a:solidFill>
                <a:latin typeface="Times New Roman" panose="02020603050405020304" pitchFamily="18" charset="0"/>
                <a:cs typeface="Times New Roman" panose="02020603050405020304" pitchFamily="18" charset="0"/>
              </a:rPr>
              <a:t>Bitcoin Obituaries,</a:t>
            </a:r>
            <a:r>
              <a:rPr lang="en-US" sz="2000" b="0" i="0" dirty="0">
                <a:solidFill>
                  <a:srgbClr val="08062A"/>
                </a:solidFill>
                <a:effectLst/>
                <a:latin typeface="Times New Roman" panose="02020603050405020304" pitchFamily="18" charset="0"/>
                <a:cs typeface="Times New Roman" panose="02020603050405020304" pitchFamily="18" charset="0"/>
              </a:rPr>
              <a:t> which keeps track of the declarations of Bitcoin’s death going all the way back to 2010. At that time, bitcoin was trading at $0.23.</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In reality, Bitcoin is currently at its most successful point in history -- at least when measured by the </a:t>
            </a:r>
            <a:r>
              <a:rPr lang="en-US" sz="2000" u="sng" dirty="0">
                <a:solidFill>
                  <a:srgbClr val="08062A"/>
                </a:solidFill>
                <a:latin typeface="Times New Roman" panose="02020603050405020304" pitchFamily="18" charset="0"/>
                <a:cs typeface="Times New Roman" panose="02020603050405020304" pitchFamily="18" charset="0"/>
              </a:rPr>
              <a:t>number of transactions</a:t>
            </a:r>
            <a:r>
              <a:rPr lang="en-US" sz="2000" b="0" i="0" dirty="0">
                <a:solidFill>
                  <a:srgbClr val="08062A"/>
                </a:solidFill>
                <a:effectLst/>
                <a:latin typeface="Times New Roman" panose="02020603050405020304" pitchFamily="18" charset="0"/>
                <a:cs typeface="Times New Roman" panose="02020603050405020304" pitchFamily="18" charset="0"/>
              </a:rPr>
              <a:t> that are happening on the network every day. The real problem right now is scalability (increasing block size to handle more transactions), which Blockchain Capital Managing Partner Brock Pierce recently </a:t>
            </a:r>
            <a:r>
              <a:rPr lang="en-US" sz="2000" u="sng" dirty="0">
                <a:solidFill>
                  <a:srgbClr val="08062A"/>
                </a:solidFill>
                <a:latin typeface="Times New Roman" panose="02020603050405020304" pitchFamily="18" charset="0"/>
                <a:cs typeface="Times New Roman" panose="02020603050405020304" pitchFamily="18" charset="0"/>
              </a:rPr>
              <a:t>pointed out</a:t>
            </a:r>
            <a:r>
              <a:rPr lang="en-US" sz="2000" b="0" i="0" dirty="0">
                <a:solidFill>
                  <a:srgbClr val="08062A"/>
                </a:solidFill>
                <a:effectLst/>
                <a:latin typeface="Times New Roman" panose="02020603050405020304" pitchFamily="18" charset="0"/>
                <a:cs typeface="Times New Roman" panose="02020603050405020304" pitchFamily="18" charset="0"/>
              </a:rPr>
              <a:t> is a sign of its success.</a:t>
            </a:r>
          </a:p>
        </p:txBody>
      </p:sp>
      <p:sp>
        <p:nvSpPr>
          <p:cNvPr id="9" name="TextBox 8">
            <a:extLst>
              <a:ext uri="{FF2B5EF4-FFF2-40B4-BE49-F238E27FC236}">
                <a16:creationId xmlns:a16="http://schemas.microsoft.com/office/drawing/2014/main" id="{524053DB-E3E0-FE74-A0AE-792E5703F433}"/>
              </a:ext>
            </a:extLst>
          </p:cNvPr>
          <p:cNvSpPr txBox="1"/>
          <p:nvPr/>
        </p:nvSpPr>
        <p:spPr>
          <a:xfrm>
            <a:off x="162017" y="3675221"/>
            <a:ext cx="11689672" cy="2277547"/>
          </a:xfrm>
          <a:prstGeom prst="rect">
            <a:avLst/>
          </a:prstGeom>
          <a:noFill/>
        </p:spPr>
        <p:txBody>
          <a:bodyPr wrap="square">
            <a:spAutoFit/>
          </a:bodyPr>
          <a:lstStyle/>
          <a:p>
            <a:pPr algn="just" fontAlgn="base"/>
            <a:r>
              <a:rPr lang="en-US" b="1" i="0" dirty="0">
                <a:solidFill>
                  <a:srgbClr val="08062A"/>
                </a:solidFill>
                <a:effectLst/>
                <a:latin typeface="Times New Roman" panose="02020603050405020304" pitchFamily="18" charset="0"/>
                <a:cs typeface="Times New Roman" panose="02020603050405020304" pitchFamily="18" charset="0"/>
              </a:rPr>
              <a:t>2.</a:t>
            </a:r>
            <a:r>
              <a:rPr lang="en-US" sz="2200" b="1" i="0" dirty="0">
                <a:solidFill>
                  <a:srgbClr val="08062A"/>
                </a:solidFill>
                <a:effectLst/>
                <a:latin typeface="Times New Roman" panose="02020603050405020304" pitchFamily="18" charset="0"/>
                <a:cs typeface="Times New Roman" panose="02020603050405020304" pitchFamily="18" charset="0"/>
              </a:rPr>
              <a:t>Bitcoin Is Anonymous</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Although Bitcoin is often referred to as the “anonymous currency of the dark web,” it is more correct to say that Bitcoin addresses are pseudonymous. This means that there is an identifiable address (or many addresses) for each user on the network, but no one necessarily knows who is behind each address.</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With Bitcoin, it’s important to remember that every transaction is recorded on a completely public ledger that anyone can view on a block explorer. A few blockchain analytics companies have popped up over the past few years, and they’re able to deanonymize large portions of the network.</a:t>
            </a:r>
          </a:p>
        </p:txBody>
      </p:sp>
    </p:spTree>
    <p:extLst>
      <p:ext uri="{BB962C8B-B14F-4D97-AF65-F5344CB8AC3E}">
        <p14:creationId xmlns:p14="http://schemas.microsoft.com/office/powerpoint/2010/main" val="1552692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6736A2-AB85-A4FD-18F8-140F708D5812}"/>
              </a:ext>
            </a:extLst>
          </p:cNvPr>
          <p:cNvSpPr txBox="1"/>
          <p:nvPr/>
        </p:nvSpPr>
        <p:spPr>
          <a:xfrm>
            <a:off x="179771" y="146260"/>
            <a:ext cx="11876105" cy="6001643"/>
          </a:xfrm>
          <a:prstGeom prst="rect">
            <a:avLst/>
          </a:prstGeom>
          <a:noFill/>
        </p:spPr>
        <p:txBody>
          <a:bodyPr wrap="square">
            <a:spAutoFit/>
          </a:bodyPr>
          <a:lstStyle/>
          <a:p>
            <a:pPr algn="l" fontAlgn="base"/>
            <a:r>
              <a:rPr lang="en-US" b="1" i="0" dirty="0">
                <a:solidFill>
                  <a:srgbClr val="08062A"/>
                </a:solidFill>
                <a:effectLst/>
                <a:latin typeface="Inter"/>
              </a:rPr>
              <a:t>3. </a:t>
            </a:r>
            <a:r>
              <a:rPr lang="en-US" sz="2200" b="1" i="0" dirty="0">
                <a:solidFill>
                  <a:srgbClr val="08062A"/>
                </a:solidFill>
                <a:effectLst/>
                <a:latin typeface="Times New Roman" panose="02020603050405020304" pitchFamily="18" charset="0"/>
                <a:cs typeface="Times New Roman" panose="02020603050405020304" pitchFamily="18" charset="0"/>
              </a:rPr>
              <a:t>Bitcoin Is Completely Transparent</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It’s also a myth that Bitcoin is completely transparent. As mentioned in the above section, the true identities of the individuals or organizations behind specific Bitcoin addresses are not always known. There are also various privacy-enhancing services, such as </a:t>
            </a:r>
            <a:r>
              <a:rPr lang="en-US" sz="2000" b="0" i="0" dirty="0" err="1">
                <a:solidFill>
                  <a:srgbClr val="08062A"/>
                </a:solidFill>
                <a:effectLst/>
                <a:latin typeface="Times New Roman" panose="02020603050405020304" pitchFamily="18" charset="0"/>
                <a:cs typeface="Times New Roman" panose="02020603050405020304" pitchFamily="18" charset="0"/>
              </a:rPr>
              <a:t>JoinMarket</a:t>
            </a:r>
            <a:r>
              <a:rPr lang="en-US" sz="2000" b="0" i="0" dirty="0">
                <a:solidFill>
                  <a:srgbClr val="08062A"/>
                </a:solidFill>
                <a:effectLst/>
                <a:latin typeface="Times New Roman" panose="02020603050405020304" pitchFamily="18" charset="0"/>
                <a:cs typeface="Times New Roman" panose="02020603050405020304" pitchFamily="18" charset="0"/>
              </a:rPr>
              <a:t>, which allow users to enhance their privacy on the blockchain. There are also other enhancements, such as Confidential Transactions and </a:t>
            </a:r>
            <a:r>
              <a:rPr lang="en-US" sz="2000" b="0" i="0" dirty="0" err="1">
                <a:solidFill>
                  <a:srgbClr val="08062A"/>
                </a:solidFill>
                <a:effectLst/>
                <a:latin typeface="Times New Roman" panose="02020603050405020304" pitchFamily="18" charset="0"/>
                <a:cs typeface="Times New Roman" panose="02020603050405020304" pitchFamily="18" charset="0"/>
              </a:rPr>
              <a:t>Zerocash</a:t>
            </a:r>
            <a:r>
              <a:rPr lang="en-US" sz="2000" b="0" i="0" dirty="0">
                <a:solidFill>
                  <a:srgbClr val="08062A"/>
                </a:solidFill>
                <a:effectLst/>
                <a:latin typeface="Times New Roman" panose="02020603050405020304" pitchFamily="18" charset="0"/>
                <a:cs typeface="Times New Roman" panose="02020603050405020304" pitchFamily="18" charset="0"/>
              </a:rPr>
              <a:t>, that could come to Bitcoin in due time.</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Rather than being completely anonymous or completely transparent, Bitcoin is better identified as somewhere between these two extremes.</a:t>
            </a:r>
          </a:p>
          <a:p>
            <a:pPr algn="just" fontAlgn="base"/>
            <a:endParaRPr lang="en-US" sz="2000" b="0" i="0" dirty="0">
              <a:solidFill>
                <a:srgbClr val="08062A"/>
              </a:solidFill>
              <a:effectLst/>
              <a:latin typeface="Times New Roman" panose="02020603050405020304" pitchFamily="18" charset="0"/>
              <a:cs typeface="Times New Roman" panose="02020603050405020304" pitchFamily="18" charset="0"/>
            </a:endParaRPr>
          </a:p>
          <a:p>
            <a:pPr algn="l" fontAlgn="base"/>
            <a:r>
              <a:rPr lang="en-US" sz="2200" b="1" i="0" dirty="0">
                <a:solidFill>
                  <a:srgbClr val="08062A"/>
                </a:solidFill>
                <a:effectLst/>
                <a:latin typeface="Times New Roman" panose="02020603050405020304" pitchFamily="18" charset="0"/>
                <a:cs typeface="Times New Roman" panose="02020603050405020304" pitchFamily="18" charset="0"/>
              </a:rPr>
              <a:t>4. Bitcoin Is Used by Terrorists</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Whenever Bitcoin is brought up in a movie or television show, it’s almost always being used by some kind of serious criminal or terrorist; however there is no evidence of terrorists using Bitcoin on any noteworthy scale. In fact, a Europol investigation from earlier in the year </a:t>
            </a:r>
            <a:r>
              <a:rPr lang="en-US" sz="2000" u="sng" dirty="0">
                <a:solidFill>
                  <a:srgbClr val="08062A"/>
                </a:solidFill>
                <a:latin typeface="Times New Roman" panose="02020603050405020304" pitchFamily="18" charset="0"/>
                <a:cs typeface="Times New Roman" panose="02020603050405020304" pitchFamily="18" charset="0"/>
              </a:rPr>
              <a:t>found, </a:t>
            </a:r>
            <a:r>
              <a:rPr lang="en-US" sz="2000" b="0" i="0" dirty="0">
                <a:solidFill>
                  <a:srgbClr val="08062A"/>
                </a:solidFill>
                <a:effectLst/>
                <a:latin typeface="Times New Roman" panose="02020603050405020304" pitchFamily="18" charset="0"/>
                <a:cs typeface="Times New Roman" panose="02020603050405020304" pitchFamily="18" charset="0"/>
              </a:rPr>
              <a:t>“Despite third-party reporting suggesting the use of anonymous currencies like Bitcoin by terrorists to finance their activities, this has not been confirmed by law enforcement.”</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Although Bitcoin is sometimes used for illegal transactions on the Internet, the reality is that the privacy issues related to the public blockchain make it a poor choice for terrorists. In the world of untraceable payments, </a:t>
            </a:r>
            <a:r>
              <a:rPr lang="en-US" sz="2000" u="sng" dirty="0">
                <a:solidFill>
                  <a:srgbClr val="08062A"/>
                </a:solidFill>
                <a:latin typeface="Times New Roman" panose="02020603050405020304" pitchFamily="18" charset="0"/>
                <a:cs typeface="Times New Roman" panose="02020603050405020304" pitchFamily="18" charset="0"/>
              </a:rPr>
              <a:t>cash is still </a:t>
            </a:r>
            <a:r>
              <a:rPr lang="en-US" sz="2000" u="sng" dirty="0" err="1">
                <a:solidFill>
                  <a:srgbClr val="08062A"/>
                </a:solidFill>
                <a:latin typeface="Times New Roman" panose="02020603050405020304" pitchFamily="18" charset="0"/>
                <a:cs typeface="Times New Roman" panose="02020603050405020304" pitchFamily="18" charset="0"/>
              </a:rPr>
              <a:t>king.</a:t>
            </a:r>
            <a:r>
              <a:rPr lang="en-US" sz="2000" b="0" i="0" dirty="0" err="1">
                <a:solidFill>
                  <a:srgbClr val="08062A"/>
                </a:solidFill>
                <a:effectLst/>
                <a:latin typeface="Times New Roman" panose="02020603050405020304" pitchFamily="18" charset="0"/>
                <a:cs typeface="Times New Roman" panose="02020603050405020304" pitchFamily="18" charset="0"/>
              </a:rPr>
              <a:t>The</a:t>
            </a:r>
            <a:r>
              <a:rPr lang="en-US" sz="2000" b="0" i="0" dirty="0">
                <a:solidFill>
                  <a:srgbClr val="08062A"/>
                </a:solidFill>
                <a:effectLst/>
                <a:latin typeface="Times New Roman" panose="02020603050405020304" pitchFamily="18" charset="0"/>
                <a:cs typeface="Times New Roman" panose="02020603050405020304" pitchFamily="18" charset="0"/>
              </a:rPr>
              <a:t> Winklevoss Twins, who founded a Bitcoin exchange called Gemini, have gone as far as to </a:t>
            </a:r>
            <a:r>
              <a:rPr lang="en-US" sz="2000" u="sng" dirty="0">
                <a:solidFill>
                  <a:srgbClr val="08062A"/>
                </a:solidFill>
                <a:latin typeface="Times New Roman" panose="02020603050405020304" pitchFamily="18" charset="0"/>
                <a:cs typeface="Times New Roman" panose="02020603050405020304" pitchFamily="18" charset="0"/>
              </a:rPr>
              <a:t>say</a:t>
            </a:r>
            <a:r>
              <a:rPr lang="en-US" sz="2000" b="0" i="0" dirty="0">
                <a:solidFill>
                  <a:srgbClr val="08062A"/>
                </a:solidFill>
                <a:effectLst/>
                <a:latin typeface="Times New Roman" panose="02020603050405020304" pitchFamily="18" charset="0"/>
                <a:cs typeface="Times New Roman" panose="02020603050405020304" pitchFamily="18" charset="0"/>
              </a:rPr>
              <a:t> Bitcoin is a haven for really stupid criminals.</a:t>
            </a:r>
          </a:p>
        </p:txBody>
      </p:sp>
    </p:spTree>
    <p:extLst>
      <p:ext uri="{BB962C8B-B14F-4D97-AF65-F5344CB8AC3E}">
        <p14:creationId xmlns:p14="http://schemas.microsoft.com/office/powerpoint/2010/main" val="1678622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61D50C-CF21-D9D4-32A3-7DD0F85459A6}"/>
              </a:ext>
            </a:extLst>
          </p:cNvPr>
          <p:cNvSpPr txBox="1"/>
          <p:nvPr/>
        </p:nvSpPr>
        <p:spPr>
          <a:xfrm>
            <a:off x="133165" y="128505"/>
            <a:ext cx="11736280" cy="5693866"/>
          </a:xfrm>
          <a:prstGeom prst="rect">
            <a:avLst/>
          </a:prstGeom>
          <a:noFill/>
        </p:spPr>
        <p:txBody>
          <a:bodyPr wrap="square">
            <a:spAutoFit/>
          </a:bodyPr>
          <a:lstStyle/>
          <a:p>
            <a:pPr algn="l" fontAlgn="base"/>
            <a:r>
              <a:rPr lang="en-US" sz="2400" b="1" i="0" dirty="0">
                <a:solidFill>
                  <a:srgbClr val="08062A"/>
                </a:solidFill>
                <a:effectLst/>
                <a:latin typeface="Times New Roman" panose="02020603050405020304" pitchFamily="18" charset="0"/>
                <a:cs typeface="Times New Roman" panose="02020603050405020304" pitchFamily="18" charset="0"/>
              </a:rPr>
              <a:t>5. Bitcoin Is Not Backed By Anything, So It Has No Value</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Many gold bugs and those who do not understand the value of a decentralized, censorship-resistant digital payment network </a:t>
            </a:r>
            <a:r>
              <a:rPr lang="en-US" sz="2000" u="sng" dirty="0">
                <a:solidFill>
                  <a:srgbClr val="08062A"/>
                </a:solidFill>
                <a:latin typeface="Times New Roman" panose="02020603050405020304" pitchFamily="18" charset="0"/>
                <a:cs typeface="Times New Roman" panose="02020603050405020304" pitchFamily="18" charset="0"/>
              </a:rPr>
              <a:t>believe bitcoins are essentially worthless</a:t>
            </a:r>
            <a:r>
              <a:rPr lang="en-US" sz="2000" b="0" i="0" dirty="0">
                <a:solidFill>
                  <a:srgbClr val="08062A"/>
                </a:solidFill>
                <a:effectLst/>
                <a:latin typeface="Times New Roman" panose="02020603050405020304" pitchFamily="18" charset="0"/>
                <a:cs typeface="Times New Roman" panose="02020603050405020304" pitchFamily="18" charset="0"/>
              </a:rPr>
              <a:t> because they aren’t backed by anything. There are varying opinions on this point. Some believe bitcoin’s scarcity is the main attribute that gives it value, while others claim bitcoins are useful because they are required to use the world’s most prominent and secure decentralized ledger.</a:t>
            </a:r>
          </a:p>
          <a:p>
            <a:pPr algn="just" fontAlgn="base"/>
            <a:r>
              <a:rPr lang="en-US" sz="2000" b="0" i="1" dirty="0">
                <a:solidFill>
                  <a:srgbClr val="08062A"/>
                </a:solidFill>
                <a:effectLst/>
                <a:latin typeface="Times New Roman" panose="02020603050405020304" pitchFamily="18" charset="0"/>
                <a:cs typeface="Times New Roman" panose="02020603050405020304" pitchFamily="18" charset="0"/>
              </a:rPr>
              <a:t>Currency Wars</a:t>
            </a:r>
            <a:r>
              <a:rPr lang="en-US" sz="2000" b="0" i="0" dirty="0">
                <a:solidFill>
                  <a:srgbClr val="08062A"/>
                </a:solidFill>
                <a:effectLst/>
                <a:latin typeface="Times New Roman" panose="02020603050405020304" pitchFamily="18" charset="0"/>
                <a:cs typeface="Times New Roman" panose="02020603050405020304" pitchFamily="18" charset="0"/>
              </a:rPr>
              <a:t> author and gold bull Jim Rickards recently </a:t>
            </a:r>
            <a:r>
              <a:rPr lang="en-US" sz="2000" u="sng" dirty="0">
                <a:solidFill>
                  <a:srgbClr val="08062A"/>
                </a:solidFill>
                <a:latin typeface="Times New Roman" panose="02020603050405020304" pitchFamily="18" charset="0"/>
                <a:cs typeface="Times New Roman" panose="02020603050405020304" pitchFamily="18" charset="0"/>
              </a:rPr>
              <a:t>took issue</a:t>
            </a:r>
            <a:r>
              <a:rPr lang="en-US" sz="2000" b="0" i="0" dirty="0">
                <a:solidFill>
                  <a:srgbClr val="08062A"/>
                </a:solidFill>
                <a:effectLst/>
                <a:latin typeface="Times New Roman" panose="02020603050405020304" pitchFamily="18" charset="0"/>
                <a:cs typeface="Times New Roman" panose="02020603050405020304" pitchFamily="18" charset="0"/>
              </a:rPr>
              <a:t> with the argument that bitcoins are backed by nothing, pointing out that like all currency in the history of money, bitcoins are backed by confidence. (Also known as consensus.) </a:t>
            </a:r>
            <a:r>
              <a:rPr lang="en-US" b="0" i="0" dirty="0">
                <a:solidFill>
                  <a:srgbClr val="08062A"/>
                </a:solidFill>
                <a:effectLst/>
                <a:latin typeface="Inter"/>
              </a:rPr>
              <a:t>Gold is valuable because people agree that it is.</a:t>
            </a:r>
          </a:p>
          <a:p>
            <a:pPr algn="just" fontAlgn="base"/>
            <a:endParaRPr lang="en-US" b="0" i="0" dirty="0">
              <a:solidFill>
                <a:srgbClr val="08062A"/>
              </a:solidFill>
              <a:effectLst/>
              <a:latin typeface="Inter"/>
            </a:endParaRPr>
          </a:p>
          <a:p>
            <a:pPr algn="l" fontAlgn="base"/>
            <a:r>
              <a:rPr lang="en-US" sz="2200" b="1" i="0" dirty="0">
                <a:solidFill>
                  <a:srgbClr val="08062A"/>
                </a:solidFill>
                <a:effectLst/>
                <a:latin typeface="Times New Roman" panose="02020603050405020304" pitchFamily="18" charset="0"/>
                <a:cs typeface="Times New Roman" panose="02020603050405020304" pitchFamily="18" charset="0"/>
              </a:rPr>
              <a:t>6. Bitcoin’s Price Volatility Makes It Useless</a:t>
            </a:r>
          </a:p>
          <a:p>
            <a:pPr algn="just" fontAlgn="base"/>
            <a:r>
              <a:rPr lang="en-US" sz="2000" b="0" i="0" dirty="0">
                <a:solidFill>
                  <a:srgbClr val="08062A"/>
                </a:solidFill>
                <a:effectLst/>
                <a:latin typeface="Inter"/>
              </a:rPr>
              <a:t>While Bitcoin has had quite a volatile history, the trend has definitely been toward stability since the first blocks were mined in early 2009. Having said that, not many people are attempting to use bitcoin as a unit of account right now. Instead, the digital currency, commodity or however you want to define it is mainly viewed as a store of value by those who hold it.</a:t>
            </a:r>
          </a:p>
          <a:p>
            <a:pPr algn="just" fontAlgn="base"/>
            <a:r>
              <a:rPr lang="en-US" sz="2000" b="0" i="0" dirty="0">
                <a:solidFill>
                  <a:srgbClr val="08062A"/>
                </a:solidFill>
                <a:effectLst/>
                <a:latin typeface="Inter"/>
              </a:rPr>
              <a:t>There are also various mechanisms for using the Bitcoin network for payments while avoiding the volatility associated with the token of value. Some Bitcoin companies, such as Circle and Coinbase, allow users to store funds in U.S. dollars or other fiat currencies before making Bitcoin transactions on the user’s behalf.</a:t>
            </a:r>
          </a:p>
        </p:txBody>
      </p:sp>
    </p:spTree>
    <p:extLst>
      <p:ext uri="{BB962C8B-B14F-4D97-AF65-F5344CB8AC3E}">
        <p14:creationId xmlns:p14="http://schemas.microsoft.com/office/powerpoint/2010/main" val="3748339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802B2B-998E-B96C-5D99-5A5AA46C2397}"/>
              </a:ext>
            </a:extLst>
          </p:cNvPr>
          <p:cNvSpPr txBox="1"/>
          <p:nvPr/>
        </p:nvSpPr>
        <p:spPr>
          <a:xfrm>
            <a:off x="153139" y="164210"/>
            <a:ext cx="11600895" cy="707886"/>
          </a:xfrm>
          <a:prstGeom prst="rect">
            <a:avLst/>
          </a:prstGeom>
          <a:noFill/>
        </p:spPr>
        <p:txBody>
          <a:bodyPr wrap="square">
            <a:spAutoFit/>
          </a:bodyPr>
          <a:lstStyle/>
          <a:p>
            <a:pPr algn="l" fontAlgn="base"/>
            <a:r>
              <a:rPr lang="en-US" b="1" dirty="0">
                <a:solidFill>
                  <a:srgbClr val="08062A"/>
                </a:solidFill>
                <a:latin typeface="Inter"/>
              </a:rPr>
              <a:t>7</a:t>
            </a:r>
            <a:r>
              <a:rPr lang="en-US" sz="2000" b="1" i="0" dirty="0">
                <a:solidFill>
                  <a:srgbClr val="08062A"/>
                </a:solidFill>
                <a:effectLst/>
                <a:latin typeface="Times New Roman" panose="02020603050405020304" pitchFamily="18" charset="0"/>
                <a:cs typeface="Times New Roman" panose="02020603050405020304" pitchFamily="18" charset="0"/>
              </a:rPr>
              <a:t>. Bitcoin Is Only Used for Illegitimate Purposes</a:t>
            </a:r>
          </a:p>
          <a:p>
            <a:pPr algn="l" fontAlgn="base"/>
            <a:r>
              <a:rPr lang="en-US" sz="2000" b="0" i="0" dirty="0">
                <a:solidFill>
                  <a:srgbClr val="08062A"/>
                </a:solidFill>
                <a:effectLst/>
                <a:latin typeface="Times New Roman" panose="02020603050405020304" pitchFamily="18" charset="0"/>
                <a:cs typeface="Times New Roman" panose="02020603050405020304" pitchFamily="18" charset="0"/>
              </a:rPr>
              <a:t>One of the fundamental values of Bitcoin is its resistance to censorship. As Elon Musk </a:t>
            </a:r>
            <a:r>
              <a:rPr lang="en-US" sz="2000" u="sng" dirty="0">
                <a:solidFill>
                  <a:srgbClr val="08062A"/>
                </a:solidFill>
                <a:latin typeface="Times New Roman" panose="02020603050405020304" pitchFamily="18" charset="0"/>
                <a:cs typeface="Times New Roman" panose="02020603050405020304" pitchFamily="18" charset="0"/>
              </a:rPr>
              <a:t>put it </a:t>
            </a:r>
            <a:r>
              <a:rPr lang="en-US" sz="2000" b="0" i="0" dirty="0">
                <a:solidFill>
                  <a:srgbClr val="08062A"/>
                </a:solidFill>
                <a:effectLst/>
                <a:latin typeface="Times New Roman" panose="02020603050405020304" pitchFamily="18" charset="0"/>
                <a:cs typeface="Times New Roman" panose="02020603050405020304" pitchFamily="18" charset="0"/>
              </a:rPr>
              <a:t>in 2014</a:t>
            </a:r>
          </a:p>
        </p:txBody>
      </p:sp>
      <p:sp>
        <p:nvSpPr>
          <p:cNvPr id="7" name="TextBox 6">
            <a:extLst>
              <a:ext uri="{FF2B5EF4-FFF2-40B4-BE49-F238E27FC236}">
                <a16:creationId xmlns:a16="http://schemas.microsoft.com/office/drawing/2014/main" id="{8210003B-B7FE-ADCB-5345-895FA0C326C9}"/>
              </a:ext>
            </a:extLst>
          </p:cNvPr>
          <p:cNvSpPr txBox="1"/>
          <p:nvPr/>
        </p:nvSpPr>
        <p:spPr>
          <a:xfrm>
            <a:off x="153139" y="899071"/>
            <a:ext cx="11176987" cy="5940088"/>
          </a:xfrm>
          <a:prstGeom prst="rect">
            <a:avLst/>
          </a:prstGeom>
          <a:noFill/>
        </p:spPr>
        <p:txBody>
          <a:bodyPr wrap="square">
            <a:spAutoFit/>
          </a:bodyPr>
          <a:lstStyle/>
          <a:p>
            <a:pPr algn="just" fontAlgn="base"/>
            <a:r>
              <a:rPr lang="en-US" b="0" i="0" dirty="0">
                <a:solidFill>
                  <a:srgbClr val="08062A"/>
                </a:solidFill>
                <a:effectLst/>
                <a:latin typeface="Inter"/>
              </a:rPr>
              <a:t>“</a:t>
            </a:r>
            <a:r>
              <a:rPr lang="en-US" sz="2000" b="0" i="0" dirty="0">
                <a:solidFill>
                  <a:srgbClr val="08062A"/>
                </a:solidFill>
                <a:effectLst/>
                <a:latin typeface="Times New Roman" panose="02020603050405020304" pitchFamily="18" charset="0"/>
                <a:cs typeface="Times New Roman" panose="02020603050405020304" pitchFamily="18" charset="0"/>
              </a:rPr>
              <a:t>I think it’s primarily going to be a means of doing illegal transactions. But that’s not necessarily entirely bad. You know, some things maybe shouldn’t be illegal.”</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What is or isn’t a legitimate or legal transaction can change when moving between various jurisdictions, but Bitcoin is also used for completely legal purposes. Some people use Bitcoin to save 10-20 percent on purchases at Amazon, Starbucks and Target via </a:t>
            </a:r>
            <a:r>
              <a:rPr lang="en-US" sz="2000" b="0" i="0" dirty="0" err="1">
                <a:solidFill>
                  <a:srgbClr val="08062A"/>
                </a:solidFill>
                <a:effectLst/>
                <a:latin typeface="Times New Roman" panose="02020603050405020304" pitchFamily="18" charset="0"/>
                <a:cs typeface="Times New Roman" panose="02020603050405020304" pitchFamily="18" charset="0"/>
              </a:rPr>
              <a:t>Foldapp</a:t>
            </a:r>
            <a:r>
              <a:rPr lang="en-US" sz="2000" b="0" i="0" dirty="0">
                <a:solidFill>
                  <a:srgbClr val="08062A"/>
                </a:solidFill>
                <a:effectLst/>
                <a:latin typeface="Times New Roman" panose="02020603050405020304" pitchFamily="18" charset="0"/>
                <a:cs typeface="Times New Roman" panose="02020603050405020304" pitchFamily="18" charset="0"/>
              </a:rPr>
              <a:t> and Purse.io. Others see it as a valuable tool for cheaper international money transfers and remittances. </a:t>
            </a:r>
            <a:r>
              <a:rPr lang="en-US" sz="2000" b="0" i="0" dirty="0" err="1">
                <a:solidFill>
                  <a:srgbClr val="08062A"/>
                </a:solidFill>
                <a:effectLst/>
                <a:latin typeface="Times New Roman" panose="02020603050405020304" pitchFamily="18" charset="0"/>
                <a:cs typeface="Times New Roman" panose="02020603050405020304" pitchFamily="18" charset="0"/>
              </a:rPr>
              <a:t>Abra</a:t>
            </a:r>
            <a:r>
              <a:rPr lang="en-US" sz="2000" b="0" i="0" dirty="0">
                <a:solidFill>
                  <a:srgbClr val="08062A"/>
                </a:solidFill>
                <a:effectLst/>
                <a:latin typeface="Times New Roman" panose="02020603050405020304" pitchFamily="18" charset="0"/>
                <a:cs typeface="Times New Roman" panose="02020603050405020304" pitchFamily="18" charset="0"/>
              </a:rPr>
              <a:t>, Align Commerce and </a:t>
            </a:r>
            <a:r>
              <a:rPr lang="en-US" sz="2000" b="0" i="0" dirty="0" err="1">
                <a:solidFill>
                  <a:srgbClr val="08062A"/>
                </a:solidFill>
                <a:effectLst/>
                <a:latin typeface="Times New Roman" panose="02020603050405020304" pitchFamily="18" charset="0"/>
                <a:cs typeface="Times New Roman" panose="02020603050405020304" pitchFamily="18" charset="0"/>
              </a:rPr>
              <a:t>Freemit</a:t>
            </a:r>
            <a:r>
              <a:rPr lang="en-US" sz="2000" b="0" i="0" dirty="0">
                <a:solidFill>
                  <a:srgbClr val="08062A"/>
                </a:solidFill>
                <a:effectLst/>
                <a:latin typeface="Times New Roman" panose="02020603050405020304" pitchFamily="18" charset="0"/>
                <a:cs typeface="Times New Roman" panose="02020603050405020304" pitchFamily="18" charset="0"/>
              </a:rPr>
              <a:t> are three startups using Bitcoin to lower the costs of money transfers around the world.</a:t>
            </a:r>
          </a:p>
          <a:p>
            <a:pPr algn="just" fontAlgn="base"/>
            <a:r>
              <a:rPr lang="en-US" sz="2000" b="1" dirty="0">
                <a:solidFill>
                  <a:srgbClr val="08062A"/>
                </a:solidFill>
                <a:latin typeface="Times New Roman" panose="02020603050405020304" pitchFamily="18" charset="0"/>
                <a:cs typeface="Times New Roman" panose="02020603050405020304" pitchFamily="18" charset="0"/>
              </a:rPr>
              <a:t>8</a:t>
            </a:r>
            <a:r>
              <a:rPr lang="en-US" sz="2000" b="1" i="0" dirty="0">
                <a:solidFill>
                  <a:srgbClr val="08062A"/>
                </a:solidFill>
                <a:effectLst/>
                <a:latin typeface="Times New Roman" panose="02020603050405020304" pitchFamily="18" charset="0"/>
                <a:cs typeface="Times New Roman" panose="02020603050405020304" pitchFamily="18" charset="0"/>
              </a:rPr>
              <a:t>. Bitcoin Mining Wastes Electricity</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A recent report </a:t>
            </a:r>
            <a:r>
              <a:rPr lang="en-US" sz="2000" b="0" i="0" u="sng" dirty="0">
                <a:solidFill>
                  <a:srgbClr val="08062A"/>
                </a:solidFill>
                <a:effectLst/>
                <a:latin typeface="Times New Roman" panose="02020603050405020304" pitchFamily="18" charset="0"/>
                <a:cs typeface="Times New Roman" panose="02020603050405020304" pitchFamily="18" charset="0"/>
                <a:hlinkClick r:id="rId2"/>
              </a:rPr>
              <a:t>found</a:t>
            </a:r>
            <a:r>
              <a:rPr lang="en-US" sz="2000" b="0" i="0" dirty="0">
                <a:solidFill>
                  <a:srgbClr val="08062A"/>
                </a:solidFill>
                <a:effectLst/>
                <a:latin typeface="Times New Roman" panose="02020603050405020304" pitchFamily="18" charset="0"/>
                <a:cs typeface="Times New Roman" panose="02020603050405020304" pitchFamily="18" charset="0"/>
              </a:rPr>
              <a:t> that Bitcoin’s network </a:t>
            </a:r>
            <a:r>
              <a:rPr lang="en-US" sz="2000" b="0" i="0" dirty="0" err="1">
                <a:solidFill>
                  <a:srgbClr val="08062A"/>
                </a:solidFill>
                <a:effectLst/>
                <a:latin typeface="Times New Roman" panose="02020603050405020304" pitchFamily="18" charset="0"/>
                <a:cs typeface="Times New Roman" panose="02020603050405020304" pitchFamily="18" charset="0"/>
              </a:rPr>
              <a:t>hashrate</a:t>
            </a:r>
            <a:r>
              <a:rPr lang="en-US" sz="2000" b="0" i="0" dirty="0">
                <a:solidFill>
                  <a:srgbClr val="08062A"/>
                </a:solidFill>
                <a:effectLst/>
                <a:latin typeface="Times New Roman" panose="02020603050405020304" pitchFamily="18" charset="0"/>
                <a:cs typeface="Times New Roman" panose="02020603050405020304" pitchFamily="18" charset="0"/>
              </a:rPr>
              <a:t> could consume as much power as Denmark by 2020. </a:t>
            </a:r>
            <a:r>
              <a:rPr lang="en-US" sz="2000" b="0" i="0" u="sng" dirty="0">
                <a:solidFill>
                  <a:srgbClr val="08062A"/>
                </a:solidFill>
                <a:effectLst/>
                <a:latin typeface="Times New Roman" panose="02020603050405020304" pitchFamily="18" charset="0"/>
                <a:cs typeface="Times New Roman" panose="02020603050405020304" pitchFamily="18" charset="0"/>
                <a:hlinkClick r:id="rId3"/>
              </a:rPr>
              <a:t>Other reporters</a:t>
            </a:r>
            <a:r>
              <a:rPr lang="en-US" sz="2000" b="0" i="0" dirty="0">
                <a:solidFill>
                  <a:srgbClr val="08062A"/>
                </a:solidFill>
                <a:effectLst/>
                <a:latin typeface="Times New Roman" panose="02020603050405020304" pitchFamily="18" charset="0"/>
                <a:cs typeface="Times New Roman" panose="02020603050405020304" pitchFamily="18" charset="0"/>
              </a:rPr>
              <a:t> dispute this characterization, pointing out that Bitcoin uses the same electricity as the yearly consumption of 674.5 average American homes, two Amtrak locomotives or a California hydroelectric plant. Do these things waste electricity? It depends on your point of view. The reality is that the use of computing power serves a purpose in Bitcoin, which is securing all of the transactions on the network. If you don’t think Bitcoin is valuable, maybe that’s a waste. If you don’t think fiat currencies are valuable, maybe keeping the lights on at the Federal Reserve is a waste.</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Electricity-intensive Bitcoin mining is essentially a way to prove that someone has expended resources in hopes of getting a block reward and transaction fees in return for their efforts. Proof-of-work, as it’s called, acts as a prevention mechanism against Sybil attacks (forged identities) on the Bitcoin network. Waste? You decide</a:t>
            </a:r>
            <a:r>
              <a:rPr lang="en-US" b="0" i="0" dirty="0">
                <a:solidFill>
                  <a:srgbClr val="08062A"/>
                </a:solidFill>
                <a:effectLst/>
                <a:latin typeface="Inter"/>
              </a:rPr>
              <a:t>.</a:t>
            </a:r>
          </a:p>
        </p:txBody>
      </p:sp>
    </p:spTree>
    <p:extLst>
      <p:ext uri="{BB962C8B-B14F-4D97-AF65-F5344CB8AC3E}">
        <p14:creationId xmlns:p14="http://schemas.microsoft.com/office/powerpoint/2010/main" val="376907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0A662D1-9CDA-B365-84B9-039959CBC38E}"/>
              </a:ext>
            </a:extLst>
          </p:cNvPr>
          <p:cNvGraphicFramePr>
            <a:graphicFrameLocks noGrp="1"/>
          </p:cNvGraphicFramePr>
          <p:nvPr>
            <p:extLst>
              <p:ext uri="{D42A27DB-BD31-4B8C-83A1-F6EECF244321}">
                <p14:modId xmlns:p14="http://schemas.microsoft.com/office/powerpoint/2010/main" val="224645035"/>
              </p:ext>
            </p:extLst>
          </p:nvPr>
        </p:nvGraphicFramePr>
        <p:xfrm>
          <a:off x="443883" y="834501"/>
          <a:ext cx="10422385" cy="5389377"/>
        </p:xfrm>
        <a:graphic>
          <a:graphicData uri="http://schemas.openxmlformats.org/drawingml/2006/table">
            <a:tbl>
              <a:tblPr/>
              <a:tblGrid>
                <a:gridCol w="3456373">
                  <a:extLst>
                    <a:ext uri="{9D8B030D-6E8A-4147-A177-3AD203B41FA5}">
                      <a16:colId xmlns:a16="http://schemas.microsoft.com/office/drawing/2014/main" val="96053478"/>
                    </a:ext>
                  </a:extLst>
                </a:gridCol>
                <a:gridCol w="3483006">
                  <a:extLst>
                    <a:ext uri="{9D8B030D-6E8A-4147-A177-3AD203B41FA5}">
                      <a16:colId xmlns:a16="http://schemas.microsoft.com/office/drawing/2014/main" val="1856408132"/>
                    </a:ext>
                  </a:extLst>
                </a:gridCol>
                <a:gridCol w="3483006">
                  <a:extLst>
                    <a:ext uri="{9D8B030D-6E8A-4147-A177-3AD203B41FA5}">
                      <a16:colId xmlns:a16="http://schemas.microsoft.com/office/drawing/2014/main" val="601779581"/>
                    </a:ext>
                  </a:extLst>
                </a:gridCol>
              </a:tblGrid>
              <a:tr h="944369">
                <a:tc>
                  <a:txBody>
                    <a:bodyPr/>
                    <a:lstStyle/>
                    <a:p>
                      <a:r>
                        <a:rPr lang="en-US" sz="1800" b="1" dirty="0">
                          <a:effectLst/>
                          <a:latin typeface="Times New Roman" panose="02020603050405020304" pitchFamily="18" charset="0"/>
                          <a:cs typeface="Times New Roman" panose="02020603050405020304" pitchFamily="18" charset="0"/>
                        </a:rPr>
                        <a:t>The basis for comparison between Bitcoin vs Blockchain</a:t>
                      </a:r>
                      <a:endParaRPr lang="en-US" sz="1800" dirty="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b="1">
                          <a:effectLst/>
                          <a:latin typeface="Times New Roman" panose="02020603050405020304" pitchFamily="18" charset="0"/>
                          <a:cs typeface="Times New Roman" panose="02020603050405020304" pitchFamily="18" charset="0"/>
                        </a:rPr>
                        <a:t>Bitcoin</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b="1">
                          <a:effectLst/>
                          <a:latin typeface="Times New Roman" panose="02020603050405020304" pitchFamily="18" charset="0"/>
                          <a:cs typeface="Times New Roman" panose="02020603050405020304" pitchFamily="18" charset="0"/>
                        </a:rPr>
                        <a:t>Blockchain</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15744875"/>
                  </a:ext>
                </a:extLst>
              </a:tr>
              <a:tr h="335820">
                <a:tc>
                  <a:txBody>
                    <a:bodyPr/>
                    <a:lstStyle/>
                    <a:p>
                      <a:r>
                        <a:rPr lang="en-IN" sz="1800" b="1">
                          <a:effectLst/>
                          <a:latin typeface="Times New Roman" panose="02020603050405020304" pitchFamily="18" charset="0"/>
                          <a:cs typeface="Times New Roman" panose="02020603050405020304" pitchFamily="18" charset="0"/>
                        </a:rPr>
                        <a:t>What is it?</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a:effectLst/>
                          <a:latin typeface="Times New Roman" panose="02020603050405020304" pitchFamily="18" charset="0"/>
                          <a:cs typeface="Times New Roman" panose="02020603050405020304" pitchFamily="18" charset="0"/>
                        </a:rPr>
                        <a:t>A crypto-currency</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a:effectLst/>
                          <a:latin typeface="Times New Roman" panose="02020603050405020304" pitchFamily="18" charset="0"/>
                          <a:cs typeface="Times New Roman" panose="02020603050405020304" pitchFamily="18" charset="0"/>
                        </a:rPr>
                        <a:t>A ledger</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96261893"/>
                  </a:ext>
                </a:extLst>
              </a:tr>
              <a:tr h="1358970">
                <a:tc>
                  <a:txBody>
                    <a:bodyPr/>
                    <a:lstStyle/>
                    <a:p>
                      <a:r>
                        <a:rPr lang="en-IN" sz="1800" b="1" dirty="0">
                          <a:effectLst/>
                          <a:latin typeface="Times New Roman" panose="02020603050405020304" pitchFamily="18" charset="0"/>
                          <a:cs typeface="Times New Roman" panose="02020603050405020304" pitchFamily="18" charset="0"/>
                        </a:rPr>
                        <a:t>Main Aim</a:t>
                      </a:r>
                      <a:endParaRPr lang="en-IN" sz="1800" dirty="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To simplify and increase the speed of transactions without much of government restrictions.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To provide a low cost, safe, and secure environment for peer-to-peer transactions.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0790233"/>
                  </a:ext>
                </a:extLst>
              </a:tr>
              <a:tr h="1358970">
                <a:tc>
                  <a:txBody>
                    <a:bodyPr/>
                    <a:lstStyle/>
                    <a:p>
                      <a:r>
                        <a:rPr lang="en-IN" sz="1800" b="1" dirty="0">
                          <a:effectLst/>
                          <a:latin typeface="Times New Roman" panose="02020603050405020304" pitchFamily="18" charset="0"/>
                          <a:cs typeface="Times New Roman" panose="02020603050405020304" pitchFamily="18" charset="0"/>
                        </a:rPr>
                        <a:t>Trade</a:t>
                      </a:r>
                      <a:endParaRPr lang="en-IN" sz="1800" dirty="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Bitcoin is limited to trading as a currency.</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Blockchain can easily transfer anything from currencies to property rights of stocks.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7499110"/>
                  </a:ext>
                </a:extLst>
              </a:tr>
              <a:tr h="1358970">
                <a:tc>
                  <a:txBody>
                    <a:bodyPr/>
                    <a:lstStyle/>
                    <a:p>
                      <a:r>
                        <a:rPr lang="en-IN" sz="1800" b="1">
                          <a:effectLst/>
                          <a:latin typeface="Times New Roman" panose="02020603050405020304" pitchFamily="18" charset="0"/>
                          <a:cs typeface="Times New Roman" panose="02020603050405020304" pitchFamily="18" charset="0"/>
                        </a:rPr>
                        <a:t>Scope</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The scope of bitcoin is limited.</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The blockchain is more open to changes and hence has the backing of many top companies.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86618044"/>
                  </a:ext>
                </a:extLst>
              </a:tr>
            </a:tbl>
          </a:graphicData>
        </a:graphic>
      </p:graphicFrame>
      <p:sp>
        <p:nvSpPr>
          <p:cNvPr id="6" name="TextBox 5">
            <a:extLst>
              <a:ext uri="{FF2B5EF4-FFF2-40B4-BE49-F238E27FC236}">
                <a16:creationId xmlns:a16="http://schemas.microsoft.com/office/drawing/2014/main" id="{21C3DFB4-3163-E0DB-1436-EAF9229AD688}"/>
              </a:ext>
            </a:extLst>
          </p:cNvPr>
          <p:cNvSpPr txBox="1"/>
          <p:nvPr/>
        </p:nvSpPr>
        <p:spPr>
          <a:xfrm>
            <a:off x="443883" y="216871"/>
            <a:ext cx="66227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Blockchain Vs Bitcoin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47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3D8A7D7-1F77-65AD-1B4E-8AAE6DBB6E23}"/>
              </a:ext>
            </a:extLst>
          </p:cNvPr>
          <p:cNvGraphicFramePr>
            <a:graphicFrameLocks noGrp="1"/>
          </p:cNvGraphicFramePr>
          <p:nvPr>
            <p:extLst>
              <p:ext uri="{D42A27DB-BD31-4B8C-83A1-F6EECF244321}">
                <p14:modId xmlns:p14="http://schemas.microsoft.com/office/powerpoint/2010/main" val="528073654"/>
              </p:ext>
            </p:extLst>
          </p:nvPr>
        </p:nvGraphicFramePr>
        <p:xfrm>
          <a:off x="497149" y="1253331"/>
          <a:ext cx="9694414" cy="4351338"/>
        </p:xfrm>
        <a:graphic>
          <a:graphicData uri="http://schemas.openxmlformats.org/drawingml/2006/table">
            <a:tbl>
              <a:tblPr/>
              <a:tblGrid>
                <a:gridCol w="3249226">
                  <a:extLst>
                    <a:ext uri="{9D8B030D-6E8A-4147-A177-3AD203B41FA5}">
                      <a16:colId xmlns:a16="http://schemas.microsoft.com/office/drawing/2014/main" val="2889589664"/>
                    </a:ext>
                  </a:extLst>
                </a:gridCol>
                <a:gridCol w="3222594">
                  <a:extLst>
                    <a:ext uri="{9D8B030D-6E8A-4147-A177-3AD203B41FA5}">
                      <a16:colId xmlns:a16="http://schemas.microsoft.com/office/drawing/2014/main" val="1267222755"/>
                    </a:ext>
                  </a:extLst>
                </a:gridCol>
                <a:gridCol w="3222594">
                  <a:extLst>
                    <a:ext uri="{9D8B030D-6E8A-4147-A177-3AD203B41FA5}">
                      <a16:colId xmlns:a16="http://schemas.microsoft.com/office/drawing/2014/main" val="4073842829"/>
                    </a:ext>
                  </a:extLst>
                </a:gridCol>
              </a:tblGrid>
              <a:tr h="1667071">
                <a:tc>
                  <a:txBody>
                    <a:bodyPr/>
                    <a:lstStyle/>
                    <a:p>
                      <a:r>
                        <a:rPr lang="en-IN" sz="1800" b="1" dirty="0">
                          <a:effectLst/>
                          <a:latin typeface="Times New Roman" panose="02020603050405020304" pitchFamily="18" charset="0"/>
                          <a:cs typeface="Times New Roman" panose="02020603050405020304" pitchFamily="18" charset="0"/>
                        </a:rPr>
                        <a:t>Strategy</a:t>
                      </a:r>
                      <a:endParaRPr lang="en-IN" sz="1800" dirty="0">
                        <a:effectLst/>
                        <a:latin typeface="Times New Roman" panose="02020603050405020304" pitchFamily="18" charset="0"/>
                        <a:cs typeface="Times New Roman" panose="02020603050405020304" pitchFamily="18" charset="0"/>
                      </a:endParaRP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Bitcoin focuses on lowering the cost of influencers and reduces the time of transactions but is less flexible.</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Blockchain can be adapted to any change and hence it can cater to different industries.</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4121944"/>
                  </a:ext>
                </a:extLst>
              </a:tr>
              <a:tr h="2684267">
                <a:tc>
                  <a:txBody>
                    <a:bodyPr/>
                    <a:lstStyle/>
                    <a:p>
                      <a:r>
                        <a:rPr lang="en-IN" sz="1800" b="1" dirty="0">
                          <a:effectLst/>
                          <a:latin typeface="Times New Roman" panose="02020603050405020304" pitchFamily="18" charset="0"/>
                          <a:cs typeface="Times New Roman" panose="02020603050405020304" pitchFamily="18" charset="0"/>
                        </a:rPr>
                        <a:t>Status</a:t>
                      </a:r>
                      <a:endParaRPr lang="en-IN" sz="1800" dirty="0">
                        <a:effectLst/>
                        <a:latin typeface="Times New Roman" panose="02020603050405020304" pitchFamily="18" charset="0"/>
                        <a:cs typeface="Times New Roman" panose="02020603050405020304" pitchFamily="18" charset="0"/>
                      </a:endParaRP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Bitcoin likes to be anonymous and hence even though we can see the transactions in the ledger, they are numbers that are not in any particular sequence.</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As blockchain works with various businesses, it should have compliance with KYC and other norms. Hence blockchain is very transparent.</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09524400"/>
                  </a:ext>
                </a:extLst>
              </a:tr>
            </a:tbl>
          </a:graphicData>
        </a:graphic>
      </p:graphicFrame>
      <p:sp>
        <p:nvSpPr>
          <p:cNvPr id="5" name="TextBox 4">
            <a:extLst>
              <a:ext uri="{FF2B5EF4-FFF2-40B4-BE49-F238E27FC236}">
                <a16:creationId xmlns:a16="http://schemas.microsoft.com/office/drawing/2014/main" id="{0C1310ED-B078-820E-5A75-BC879E0DBCD5}"/>
              </a:ext>
            </a:extLst>
          </p:cNvPr>
          <p:cNvSpPr txBox="1"/>
          <p:nvPr/>
        </p:nvSpPr>
        <p:spPr>
          <a:xfrm>
            <a:off x="497149" y="337351"/>
            <a:ext cx="6471822" cy="369332"/>
          </a:xfrm>
          <a:prstGeom prst="rect">
            <a:avLst/>
          </a:prstGeom>
          <a:noFill/>
        </p:spPr>
        <p:txBody>
          <a:bodyPr wrap="square" rtlCol="0">
            <a:spAutoFit/>
          </a:bodyPr>
          <a:lstStyle/>
          <a:p>
            <a:r>
              <a:rPr lang="en-US" sz="1800" b="1">
                <a:latin typeface="Times New Roman" panose="02020603050405020304" pitchFamily="18" charset="0"/>
                <a:cs typeface="Times New Roman" panose="02020603050405020304" pitchFamily="18" charset="0"/>
              </a:rPr>
              <a:t>Blockchain Vs Bitcoin</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4691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581B0A-18C7-D188-3B4E-8F400127EF7F}"/>
              </a:ext>
            </a:extLst>
          </p:cNvPr>
          <p:cNvSpPr txBox="1"/>
          <p:nvPr/>
        </p:nvSpPr>
        <p:spPr>
          <a:xfrm>
            <a:off x="304060" y="249406"/>
            <a:ext cx="11627528" cy="923330"/>
          </a:xfrm>
          <a:prstGeom prst="rect">
            <a:avLst/>
          </a:prstGeom>
          <a:noFill/>
        </p:spPr>
        <p:txBody>
          <a:bodyPr wrap="square">
            <a:spAutoFit/>
          </a:bodyPr>
          <a:lstStyle/>
          <a:p>
            <a:pPr algn="just"/>
            <a:r>
              <a:rPr lang="en-US" b="0" i="0" dirty="0">
                <a:solidFill>
                  <a:srgbClr val="212121"/>
                </a:solidFill>
                <a:effectLst/>
                <a:latin typeface="Times New Roman" panose="02020603050405020304" pitchFamily="18" charset="0"/>
                <a:cs typeface="Times New Roman" panose="02020603050405020304" pitchFamily="18" charset="0"/>
              </a:rPr>
              <a:t>Whenever we talk about bitcoin and blockchain, people generally think they are the same because bitcoin was the first-ever blockchain application. People usually mistake bitcoin vs. blockchain.</a:t>
            </a:r>
          </a:p>
          <a:p>
            <a:pPr algn="just"/>
            <a:r>
              <a:rPr lang="en-US" b="0" i="0" dirty="0">
                <a:solidFill>
                  <a:srgbClr val="212121"/>
                </a:solidFill>
                <a:effectLst/>
                <a:latin typeface="Times New Roman" panose="02020603050405020304" pitchFamily="18" charset="0"/>
                <a:cs typeface="Times New Roman" panose="02020603050405020304" pitchFamily="18" charset="0"/>
              </a:rPr>
              <a:t>Since then, blockchain has undergone huge technological changes, and now blockchain is even catering to other industries.</a:t>
            </a:r>
          </a:p>
        </p:txBody>
      </p:sp>
      <p:sp>
        <p:nvSpPr>
          <p:cNvPr id="7" name="TextBox 6">
            <a:extLst>
              <a:ext uri="{FF2B5EF4-FFF2-40B4-BE49-F238E27FC236}">
                <a16:creationId xmlns:a16="http://schemas.microsoft.com/office/drawing/2014/main" id="{5CB6CD19-4294-26F9-6E0F-A21F585CC687}"/>
              </a:ext>
            </a:extLst>
          </p:cNvPr>
          <p:cNvSpPr txBox="1"/>
          <p:nvPr/>
        </p:nvSpPr>
        <p:spPr>
          <a:xfrm>
            <a:off x="304060" y="1199369"/>
            <a:ext cx="11627528" cy="2031325"/>
          </a:xfrm>
          <a:prstGeom prst="rect">
            <a:avLst/>
          </a:prstGeom>
          <a:noFill/>
        </p:spPr>
        <p:txBody>
          <a:bodyPr wrap="square">
            <a:spAutoFit/>
          </a:bodyPr>
          <a:lstStyle/>
          <a:p>
            <a:pPr algn="just">
              <a:buFont typeface="Arial" panose="020B0604020202020204" pitchFamily="34" charset="0"/>
              <a:buChar char="•"/>
            </a:pPr>
            <a:r>
              <a:rPr lang="en-US" b="1" u="sng" dirty="0">
                <a:solidFill>
                  <a:srgbClr val="0CA0A0"/>
                </a:solidFill>
                <a:latin typeface="Times New Roman" panose="02020603050405020304" pitchFamily="18" charset="0"/>
                <a:cs typeface="Times New Roman" panose="02020603050405020304" pitchFamily="18" charset="0"/>
              </a:rPr>
              <a:t>Bitcoin</a:t>
            </a:r>
            <a:r>
              <a:rPr lang="en-US" b="0" i="0" dirty="0">
                <a:solidFill>
                  <a:srgbClr val="212121"/>
                </a:solidFill>
                <a:effectLst/>
                <a:latin typeface="Times New Roman" panose="02020603050405020304" pitchFamily="18" charset="0"/>
                <a:cs typeface="Times New Roman" panose="02020603050405020304" pitchFamily="18" charset="0"/>
              </a:rPr>
              <a:t> is a </a:t>
            </a:r>
            <a:r>
              <a:rPr lang="en-US" b="1" u="sng" dirty="0">
                <a:solidFill>
                  <a:srgbClr val="0CA0A0"/>
                </a:solidFill>
                <a:latin typeface="Times New Roman" panose="02020603050405020304" pitchFamily="18" charset="0"/>
                <a:cs typeface="Times New Roman" panose="02020603050405020304" pitchFamily="18" charset="0"/>
              </a:rPr>
              <a:t>digital currency</a:t>
            </a:r>
            <a:r>
              <a:rPr lang="en-US" b="1" u="sng" dirty="0">
                <a:solidFill>
                  <a:srgbClr val="212121"/>
                </a:solidFill>
                <a:latin typeface="Times New Roman" panose="02020603050405020304" pitchFamily="18" charset="0"/>
                <a:cs typeface="Times New Roman" panose="02020603050405020304" pitchFamily="18" charset="0"/>
              </a:rPr>
              <a:t> </a:t>
            </a:r>
            <a:r>
              <a:rPr lang="en-US" b="0" i="0" dirty="0">
                <a:solidFill>
                  <a:srgbClr val="212121"/>
                </a:solidFill>
                <a:effectLst/>
                <a:latin typeface="Times New Roman" panose="02020603050405020304" pitchFamily="18" charset="0"/>
                <a:cs typeface="Times New Roman" panose="02020603050405020304" pitchFamily="18" charset="0"/>
              </a:rPr>
              <a:t>that can also be called as a </a:t>
            </a:r>
            <a:r>
              <a:rPr lang="en-US" b="1" u="sng" dirty="0">
                <a:solidFill>
                  <a:srgbClr val="0CA0A0"/>
                </a:solidFill>
                <a:latin typeface="Times New Roman" panose="02020603050405020304" pitchFamily="18" charset="0"/>
                <a:cs typeface="Times New Roman" panose="02020603050405020304" pitchFamily="18" charset="0"/>
              </a:rPr>
              <a:t>top cryptocurrency</a:t>
            </a:r>
            <a:r>
              <a:rPr lang="en-US" b="0" i="0" dirty="0">
                <a:solidFill>
                  <a:srgbClr val="212121"/>
                </a:solidFill>
                <a:effectLst/>
                <a:latin typeface="Times New Roman" panose="02020603050405020304" pitchFamily="18" charset="0"/>
                <a:cs typeface="Times New Roman" panose="02020603050405020304" pitchFamily="18" charset="0"/>
              </a:rPr>
              <a:t>. It was mainly created to speed up cross-border transactions, reduce the government’s control over the transaction, and simplify the whole process without having third-party intermediaries.</a:t>
            </a:r>
          </a:p>
          <a:p>
            <a:pPr algn="just">
              <a:buFont typeface="Arial" panose="020B0604020202020204" pitchFamily="34" charset="0"/>
              <a:buChar char="•"/>
            </a:pPr>
            <a:r>
              <a:rPr lang="en-US" b="0" i="0" dirty="0">
                <a:solidFill>
                  <a:srgbClr val="212121"/>
                </a:solidFill>
                <a:effectLst/>
                <a:latin typeface="Times New Roman" panose="02020603050405020304" pitchFamily="18" charset="0"/>
                <a:cs typeface="Times New Roman" panose="02020603050405020304" pitchFamily="18" charset="0"/>
              </a:rPr>
              <a:t>Bitcoin is not a formally accepted medium of payment, but people worldwide use it for various kinds of transactions. Since it is not physically present, it is safe and secure, and blockchain is the best way to do these transactions.</a:t>
            </a:r>
          </a:p>
          <a:p>
            <a:pPr algn="just">
              <a:buFont typeface="Arial" panose="020B0604020202020204" pitchFamily="34" charset="0"/>
              <a:buChar char="•"/>
            </a:pPr>
            <a:r>
              <a:rPr lang="en-US" b="0" i="0" dirty="0">
                <a:solidFill>
                  <a:srgbClr val="212121"/>
                </a:solidFill>
                <a:effectLst/>
                <a:latin typeface="Times New Roman" panose="02020603050405020304" pitchFamily="18" charset="0"/>
                <a:cs typeface="Times New Roman" panose="02020603050405020304" pitchFamily="18" charset="0"/>
              </a:rPr>
              <a:t>The blockchain is a </a:t>
            </a:r>
            <a:r>
              <a:rPr lang="en-US" b="1" u="sng" dirty="0">
                <a:solidFill>
                  <a:srgbClr val="0CA0A0"/>
                </a:solidFill>
                <a:latin typeface="Times New Roman" panose="02020603050405020304" pitchFamily="18" charset="0"/>
                <a:cs typeface="Times New Roman" panose="02020603050405020304" pitchFamily="18" charset="0"/>
              </a:rPr>
              <a:t>type of ledger</a:t>
            </a:r>
            <a:r>
              <a:rPr lang="en-US" b="0" i="0" dirty="0">
                <a:solidFill>
                  <a:srgbClr val="212121"/>
                </a:solidFill>
                <a:effectLst/>
                <a:latin typeface="Times New Roman" panose="02020603050405020304" pitchFamily="18" charset="0"/>
                <a:cs typeface="Times New Roman" panose="02020603050405020304" pitchFamily="18" charset="0"/>
              </a:rPr>
              <a:t> that records all the transactions and helps in peer-to-peer transactions. It is open, secure, and easily accessible to all.</a:t>
            </a:r>
          </a:p>
        </p:txBody>
      </p:sp>
      <p:sp>
        <p:nvSpPr>
          <p:cNvPr id="9" name="TextBox 8">
            <a:extLst>
              <a:ext uri="{FF2B5EF4-FFF2-40B4-BE49-F238E27FC236}">
                <a16:creationId xmlns:a16="http://schemas.microsoft.com/office/drawing/2014/main" id="{891046A1-889D-E2E2-2403-E73B12178011}"/>
              </a:ext>
            </a:extLst>
          </p:cNvPr>
          <p:cNvSpPr txBox="1"/>
          <p:nvPr/>
        </p:nvSpPr>
        <p:spPr>
          <a:xfrm>
            <a:off x="304061" y="3204061"/>
            <a:ext cx="11627527" cy="1200329"/>
          </a:xfrm>
          <a:prstGeom prst="rect">
            <a:avLst/>
          </a:prstGeom>
          <a:noFill/>
        </p:spPr>
        <p:txBody>
          <a:bodyPr wrap="square">
            <a:spAutoFit/>
          </a:bodyPr>
          <a:lstStyle/>
          <a:p>
            <a:pPr algn="just">
              <a:buFont typeface="Arial" panose="020B0604020202020204" pitchFamily="34" charset="0"/>
              <a:buChar char="•"/>
            </a:pPr>
            <a:r>
              <a:rPr lang="en-US" b="0" i="0" dirty="0">
                <a:solidFill>
                  <a:srgbClr val="212121"/>
                </a:solidFill>
                <a:effectLst/>
                <a:latin typeface="Times New Roman" panose="02020603050405020304" pitchFamily="18" charset="0"/>
                <a:cs typeface="Times New Roman" panose="02020603050405020304" pitchFamily="18" charset="0"/>
              </a:rPr>
              <a:t>Blockchain thus acts as bitcoin’s ledger and takes care of all Bitcoin transactions. Since then, blockchain has grown from strength to strength, and now it is catering to even small transactions across various industries.</a:t>
            </a:r>
          </a:p>
          <a:p>
            <a:pPr algn="just">
              <a:buFont typeface="Arial" panose="020B0604020202020204" pitchFamily="34" charset="0"/>
              <a:buChar char="•"/>
            </a:pPr>
            <a:r>
              <a:rPr lang="en-US" b="0" i="0" dirty="0">
                <a:solidFill>
                  <a:srgbClr val="212121"/>
                </a:solidFill>
                <a:effectLst/>
                <a:latin typeface="Times New Roman" panose="02020603050405020304" pitchFamily="18" charset="0"/>
                <a:cs typeface="Times New Roman" panose="02020603050405020304" pitchFamily="18" charset="0"/>
              </a:rPr>
              <a:t>Blockchain has made the technology adapt to different areas and industries such that the technology can be changed according to the high-quality standard that each company requires.</a:t>
            </a:r>
          </a:p>
        </p:txBody>
      </p:sp>
      <p:sp>
        <p:nvSpPr>
          <p:cNvPr id="11" name="TextBox 10">
            <a:extLst>
              <a:ext uri="{FF2B5EF4-FFF2-40B4-BE49-F238E27FC236}">
                <a16:creationId xmlns:a16="http://schemas.microsoft.com/office/drawing/2014/main" id="{96AA2B1A-A20D-D271-2DE1-4286DD496344}"/>
              </a:ext>
            </a:extLst>
          </p:cNvPr>
          <p:cNvSpPr txBox="1"/>
          <p:nvPr/>
        </p:nvSpPr>
        <p:spPr>
          <a:xfrm>
            <a:off x="304062" y="4404390"/>
            <a:ext cx="11627526" cy="1477328"/>
          </a:xfrm>
          <a:prstGeom prst="rect">
            <a:avLst/>
          </a:prstGeom>
          <a:noFill/>
        </p:spPr>
        <p:txBody>
          <a:bodyPr wrap="square">
            <a:spAutoFit/>
          </a:bodyPr>
          <a:lstStyle/>
          <a:p>
            <a:pPr algn="just"/>
            <a:r>
              <a:rPr lang="en-US" b="0" i="0" dirty="0">
                <a:solidFill>
                  <a:srgbClr val="212121"/>
                </a:solidFill>
                <a:effectLst/>
                <a:latin typeface="Times New Roman" panose="02020603050405020304" pitchFamily="18" charset="0"/>
                <a:cs typeface="Times New Roman" panose="02020603050405020304" pitchFamily="18" charset="0"/>
              </a:rPr>
              <a:t>Here are the key difference between Bitcoin and Blockchain–</a:t>
            </a:r>
          </a:p>
          <a:p>
            <a:pPr algn="just">
              <a:buFont typeface="Arial" panose="020B0604020202020204" pitchFamily="34" charset="0"/>
              <a:buChar char="•"/>
            </a:pPr>
            <a:r>
              <a:rPr lang="en-US" b="0" i="0" dirty="0">
                <a:solidFill>
                  <a:srgbClr val="212121"/>
                </a:solidFill>
                <a:effectLst/>
                <a:latin typeface="Times New Roman" panose="02020603050405020304" pitchFamily="18" charset="0"/>
                <a:cs typeface="Times New Roman" panose="02020603050405020304" pitchFamily="18" charset="0"/>
              </a:rPr>
              <a:t>One of the key differences between bitcoin and blockchain is adaptability. When we look at bitcoin, we look at something that is rigid and concentrates on cross-border transactions. While blockchain first started as a ledger of the bitcoin currency, it began to improve and slowly started catering to other industries. It has made continuous improvements in technology, and now blockchain is the hottest thing running in the market.</a:t>
            </a:r>
          </a:p>
        </p:txBody>
      </p:sp>
    </p:spTree>
    <p:extLst>
      <p:ext uri="{BB962C8B-B14F-4D97-AF65-F5344CB8AC3E}">
        <p14:creationId xmlns:p14="http://schemas.microsoft.com/office/powerpoint/2010/main" val="16302108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1148E8-DFD3-B38C-0F59-A97C193DE4C9}"/>
              </a:ext>
            </a:extLst>
          </p:cNvPr>
          <p:cNvSpPr txBox="1"/>
          <p:nvPr/>
        </p:nvSpPr>
        <p:spPr>
          <a:xfrm>
            <a:off x="239697" y="219152"/>
            <a:ext cx="11567604" cy="2308324"/>
          </a:xfrm>
          <a:prstGeom prst="rect">
            <a:avLst/>
          </a:prstGeom>
          <a:noFill/>
        </p:spPr>
        <p:txBody>
          <a:bodyPr wrap="square">
            <a:spAutoFit/>
          </a:bodyPr>
          <a:lstStyle/>
          <a:p>
            <a:pPr algn="just">
              <a:buFont typeface="Arial" panose="020B0604020202020204" pitchFamily="34" charset="0"/>
              <a:buChar char="•"/>
            </a:pPr>
            <a:r>
              <a:rPr lang="en-US" b="0" i="0" dirty="0">
                <a:solidFill>
                  <a:srgbClr val="212121"/>
                </a:solidFill>
                <a:effectLst/>
                <a:latin typeface="Times New Roman" panose="02020603050405020304" pitchFamily="18" charset="0"/>
                <a:cs typeface="Times New Roman" panose="02020603050405020304" pitchFamily="18" charset="0"/>
              </a:rPr>
              <a:t> The blockchain is a distributed ledger that enables peer-to-peer transactions in one of the safest environments. Transactions done through blockchain are made public so that they can be transparent. Bitcoin is a cryptocurrency used to reduce the transaction charges and transaction time of cross-border transactions.</a:t>
            </a:r>
          </a:p>
          <a:p>
            <a:pPr algn="just">
              <a:buFont typeface="Arial" panose="020B0604020202020204" pitchFamily="34" charset="0"/>
              <a:buChar char="•"/>
            </a:pPr>
            <a:r>
              <a:rPr lang="en-US" b="0" i="0" dirty="0">
                <a:solidFill>
                  <a:srgbClr val="212121"/>
                </a:solidFill>
                <a:effectLst/>
                <a:latin typeface="Times New Roman" panose="02020603050405020304" pitchFamily="18" charset="0"/>
                <a:cs typeface="Times New Roman" panose="02020603050405020304" pitchFamily="18" charset="0"/>
              </a:rPr>
              <a:t>Bitcoin is a little bit of a closed system, and it very much likes anonymity. Even when we find the transactions in the ledger, bitcoin vs. blockchain are recorded in numeric codes that people can’t understand, which is why it is unable to move forward. On the other hand, blockchain has been working with various industries, and hence it should comply with the rules and norms of the companies like anti-money laundering, knowing your customer, etc. So, it shows all the transactions clearly, and the public has full access to the ledger; thus, companies trust more on the blockchain.</a:t>
            </a:r>
          </a:p>
        </p:txBody>
      </p:sp>
    </p:spTree>
    <p:extLst>
      <p:ext uri="{BB962C8B-B14F-4D97-AF65-F5344CB8AC3E}">
        <p14:creationId xmlns:p14="http://schemas.microsoft.com/office/powerpoint/2010/main" val="2695423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95BCFE-C2B6-76B1-EFA5-BEB296809BF3}"/>
              </a:ext>
            </a:extLst>
          </p:cNvPr>
          <p:cNvSpPr txBox="1"/>
          <p:nvPr/>
        </p:nvSpPr>
        <p:spPr>
          <a:xfrm>
            <a:off x="292963" y="1028343"/>
            <a:ext cx="11363418" cy="4801314"/>
          </a:xfrm>
          <a:prstGeom prst="rect">
            <a:avLst/>
          </a:prstGeom>
          <a:noFill/>
        </p:spPr>
        <p:txBody>
          <a:bodyPr wrap="square">
            <a:spAutoFit/>
          </a:bodyPr>
          <a:lstStyle/>
          <a:p>
            <a:pPr algn="just"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Cryptocurrencies:</a:t>
            </a:r>
            <a:r>
              <a:rPr lang="en-US" b="0" i="0" dirty="0">
                <a:solidFill>
                  <a:srgbClr val="273239"/>
                </a:solidFill>
                <a:effectLst/>
                <a:latin typeface="Times New Roman" panose="02020603050405020304" pitchFamily="18" charset="0"/>
                <a:cs typeface="Times New Roman" panose="02020603050405020304" pitchFamily="18" charset="0"/>
              </a:rPr>
              <a:t>  A cryptocurrency is a digital currency, basically designed to be used as a medium of exchange wherein each coin ownership record is stored in a decentralized ledger. Cryptocurrencies use ‘decentralized control’, which suggests that they are not controlled by one person or government. When Bitcoin launched in 2008, it allowed people to directly transact with each other without having to trust third parties like banks. Since then 4000 different cryptocurrencies have been created. Some examples are Bitcoin, Ethereum, Dogecoin, Fantom, etc.  The blockchain is the technology behind cryptos where all the exchange or transaction information is stored which cannot be hacked or changed and a copy of the ledger is distributed among all the participants of the network. It records every single transaction. Each and every person can buy/sell or deal in cryptos and be a part of the network. Nowadays, several financial applications provide a user with the luxury of doing so.</a:t>
            </a:r>
          </a:p>
          <a:p>
            <a:pPr algn="just"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Cars:</a:t>
            </a:r>
            <a:r>
              <a:rPr lang="en-US" b="0" i="0" dirty="0">
                <a:solidFill>
                  <a:srgbClr val="273239"/>
                </a:solidFill>
                <a:effectLst/>
                <a:latin typeface="Times New Roman" panose="02020603050405020304" pitchFamily="18" charset="0"/>
                <a:cs typeface="Times New Roman" panose="02020603050405020304" pitchFamily="18" charset="0"/>
              </a:rPr>
              <a:t> Let us see how can blockchain be used in cars. Ever heard of odometer fraud? By tampering with the odometer, someone can make a car appear to be newer and less worn out, resulting in customers paying more than what the car is actually worth. The government tries to encounter by collecting the mileage of cars when they get a safety inspection, but that’s not enough. So, instead, we could replace regular odometers with smart ones that are connected to the internet and frequently write the car’s mileage to the blockchain. This would create a secure and digital certificate for every car. And because we use a blockchain, nobody can tamper with the data/information, and everyone can look up a vehicle’s history to ensure it’s correct. In fact, this has already been developed used by Bosch’s IoT lab and they are currently testing it on a fleet of 100 cars in Germany and Switzerland.</a:t>
            </a:r>
          </a:p>
        </p:txBody>
      </p:sp>
      <p:sp>
        <p:nvSpPr>
          <p:cNvPr id="6" name="TextBox 5">
            <a:extLst>
              <a:ext uri="{FF2B5EF4-FFF2-40B4-BE49-F238E27FC236}">
                <a16:creationId xmlns:a16="http://schemas.microsoft.com/office/drawing/2014/main" id="{94F1D294-BAD2-197C-7BFF-1E1DDA30B628}"/>
              </a:ext>
            </a:extLst>
          </p:cNvPr>
          <p:cNvSpPr txBox="1"/>
          <p:nvPr/>
        </p:nvSpPr>
        <p:spPr>
          <a:xfrm>
            <a:off x="292963" y="219267"/>
            <a:ext cx="6094520" cy="523220"/>
          </a:xfrm>
          <a:prstGeom prst="rect">
            <a:avLst/>
          </a:prstGeom>
          <a:noFill/>
        </p:spPr>
        <p:txBody>
          <a:bodyPr wrap="square">
            <a:spAutoFit/>
          </a:bodyPr>
          <a:lstStyle/>
          <a:p>
            <a:pPr algn="l" fontAlgn="base"/>
            <a:r>
              <a:rPr lang="en-US" sz="2800" b="1" i="0" dirty="0">
                <a:solidFill>
                  <a:srgbClr val="273239"/>
                </a:solidFill>
                <a:effectLst/>
                <a:latin typeface="Times New Roman" panose="02020603050405020304" pitchFamily="18" charset="0"/>
                <a:cs typeface="Times New Roman" panose="02020603050405020304" pitchFamily="18" charset="0"/>
              </a:rPr>
              <a:t>Applications and Uses of Blockchain</a:t>
            </a:r>
          </a:p>
        </p:txBody>
      </p:sp>
    </p:spTree>
    <p:extLst>
      <p:ext uri="{BB962C8B-B14F-4D97-AF65-F5344CB8AC3E}">
        <p14:creationId xmlns:p14="http://schemas.microsoft.com/office/powerpoint/2010/main" val="3853433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1F78D5-159F-651B-71E1-0D854D39A2F2}"/>
              </a:ext>
            </a:extLst>
          </p:cNvPr>
          <p:cNvSpPr txBox="1"/>
          <p:nvPr/>
        </p:nvSpPr>
        <p:spPr>
          <a:xfrm>
            <a:off x="88777" y="426763"/>
            <a:ext cx="11647503" cy="5632311"/>
          </a:xfrm>
          <a:prstGeom prst="rect">
            <a:avLst/>
          </a:prstGeom>
          <a:noFill/>
        </p:spPr>
        <p:txBody>
          <a:bodyPr wrap="square">
            <a:spAutoFit/>
          </a:bodyPr>
          <a:lstStyle/>
          <a:p>
            <a:pPr algn="just"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Legal Documents:</a:t>
            </a:r>
            <a:r>
              <a:rPr lang="en-US" b="0" i="0" dirty="0">
                <a:solidFill>
                  <a:srgbClr val="273239"/>
                </a:solidFill>
                <a:effectLst/>
                <a:latin typeface="Times New Roman" panose="02020603050405020304" pitchFamily="18" charset="0"/>
                <a:cs typeface="Times New Roman" panose="02020603050405020304" pitchFamily="18" charset="0"/>
              </a:rPr>
              <a:t> So, blockchains are great at keeping a good track of data over time. So, besides odometers, you can keep track of things like intellectual property or patents or it can even function as a notary. A notary is someone (for example the Central Government) who can confirm and verify signatures on legal documents. But we can just as well use blockchain for it.  The online website stampd.io as an example, allows you to feature the documents to the Bitcoin or Ethereum Blockchain. Once, a document has been added you can always prove that you simply created a document at a particular point of time very similar to a notary, although right now blockchains are not on the same level as notaries in a legal perspective.</a:t>
            </a:r>
          </a:p>
          <a:p>
            <a:pPr algn="just"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Digital Voting:</a:t>
            </a:r>
            <a:r>
              <a:rPr lang="en-US" b="0" i="0" dirty="0">
                <a:solidFill>
                  <a:srgbClr val="273239"/>
                </a:solidFill>
                <a:effectLst/>
                <a:latin typeface="Times New Roman" panose="02020603050405020304" pitchFamily="18" charset="0"/>
                <a:cs typeface="Times New Roman" panose="02020603050405020304" pitchFamily="18" charset="0"/>
              </a:rPr>
              <a:t> Another interesting application is digital voting. Right now voting happens either on paper or EVM (electronic voting machines) which are special computers running proprietary software. Voting on paper costs a lot of money and wastage and electronic voting has security issues. In recent years we have seen countries move away from digital voting and adopting paper again because they fear that electronic votes can be tampered with and influenced by hackers. In our country as well, we have seen politicians fight over “EVM hack” things. But, in place of paper ballots or EVMs, we could use blockchains to cast and store votes. Such a system would be very transparent and everyone could verify the voting count for themselves and it would make tampering with it very difficult. The Swiss company Agora is already working on such a system and it is going to be completely open-source. But there are many challenges. First, you have to be able to verify voters without compromising their privacy. Secondly, if you allow people to vote with their own computers or phones, you have to take care of the situation that those devices might be infected with malware designed to tamper with the voting process. And a final example: a system like this also has to be able to withstand denial-of-service attacks that could render the whole thing unusable. Definitely, a very tough nut to crack but if it becomes reality it could make for a more transparent and practical voting system.</a:t>
            </a:r>
          </a:p>
        </p:txBody>
      </p:sp>
    </p:spTree>
    <p:extLst>
      <p:ext uri="{BB962C8B-B14F-4D97-AF65-F5344CB8AC3E}">
        <p14:creationId xmlns:p14="http://schemas.microsoft.com/office/powerpoint/2010/main" val="2764179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DAFE26-E725-1970-62BC-ED9E424BC98D}"/>
              </a:ext>
            </a:extLst>
          </p:cNvPr>
          <p:cNvSpPr txBox="1"/>
          <p:nvPr/>
        </p:nvSpPr>
        <p:spPr>
          <a:xfrm>
            <a:off x="223421" y="274091"/>
            <a:ext cx="11745157" cy="3970318"/>
          </a:xfrm>
          <a:prstGeom prst="rect">
            <a:avLst/>
          </a:prstGeom>
          <a:noFill/>
        </p:spPr>
        <p:txBody>
          <a:bodyPr wrap="square">
            <a:spAutoFit/>
          </a:bodyPr>
          <a:lstStyle/>
          <a:p>
            <a:pPr algn="just"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Food and Medical Industry:</a:t>
            </a:r>
            <a:r>
              <a:rPr lang="en-US" b="0" i="0" dirty="0">
                <a:solidFill>
                  <a:srgbClr val="273239"/>
                </a:solidFill>
                <a:effectLst/>
                <a:latin typeface="Times New Roman" panose="02020603050405020304" pitchFamily="18" charset="0"/>
                <a:cs typeface="Times New Roman" panose="02020603050405020304" pitchFamily="18" charset="0"/>
              </a:rPr>
              <a:t> They could use blockchain technology to track their food products from the moment they are harvested or made, to when they end up in the hands of the customers. See, every year almost half a million people die because of food-borne diseases and that’s partly because it takes too long to isolate the food that is causing harm. Blockchains could help us to create a digital certificate for each package of food, proving where it came from and where it has been. So, if contamination has been detected i.e. the manufacturer wants to revert a batch of food because of certain quality issues, we can trace it back to its root and instantly notify other people who bought the same batch of bad food. Walmart and IBM are the two big giants currently working on such a system. It allowed them to trace the origin of a box of mangoes in just 2 seconds, compared to days or even weeks with a traditional system. A system like this could be applied to other similar industries as well. We could use it to track medicines, and other regular products and battle counterfeit goods by allowing anyone (the officials in general) to verify whether or not the product comes from the original and authentic manufacturer.</a:t>
            </a:r>
          </a:p>
          <a:p>
            <a:pPr algn="just"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Logistics and Supply-chain:</a:t>
            </a:r>
            <a:r>
              <a:rPr lang="en-US" b="0" i="0" dirty="0">
                <a:solidFill>
                  <a:srgbClr val="273239"/>
                </a:solidFill>
                <a:effectLst/>
                <a:latin typeface="Times New Roman" panose="02020603050405020304" pitchFamily="18" charset="0"/>
                <a:cs typeface="Times New Roman" panose="02020603050405020304" pitchFamily="18" charset="0"/>
              </a:rPr>
              <a:t> Another idea would be to track packages and shipments using blockchain. That is something that IBM and container shipping giant Maersk Line are working on a decentralized ledger to help with making the global trade of goods more efficient. Many hackathons on blockchain have this topic for college students to build the project. It is still in the development phase and companies are trying to come up with such a system to track their package pinpoint.</a:t>
            </a:r>
          </a:p>
        </p:txBody>
      </p:sp>
      <p:sp>
        <p:nvSpPr>
          <p:cNvPr id="7" name="TextBox 6">
            <a:extLst>
              <a:ext uri="{FF2B5EF4-FFF2-40B4-BE49-F238E27FC236}">
                <a16:creationId xmlns:a16="http://schemas.microsoft.com/office/drawing/2014/main" id="{3247A424-487C-BF1A-4C62-F952595AB69F}"/>
              </a:ext>
            </a:extLst>
          </p:cNvPr>
          <p:cNvSpPr txBox="1"/>
          <p:nvPr/>
        </p:nvSpPr>
        <p:spPr>
          <a:xfrm>
            <a:off x="223421" y="4244409"/>
            <a:ext cx="11745157" cy="2031325"/>
          </a:xfrm>
          <a:prstGeom prst="rect">
            <a:avLst/>
          </a:prstGeom>
          <a:noFill/>
        </p:spPr>
        <p:txBody>
          <a:bodyPr wrap="square">
            <a:spAutoFit/>
          </a:bodyPr>
          <a:lstStyle/>
          <a:p>
            <a:pPr algn="just"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Smart Contracts:</a:t>
            </a:r>
            <a:r>
              <a:rPr lang="en-US" b="0" i="0" dirty="0">
                <a:solidFill>
                  <a:srgbClr val="273239"/>
                </a:solidFill>
                <a:effectLst/>
                <a:latin typeface="Times New Roman" panose="02020603050405020304" pitchFamily="18" charset="0"/>
                <a:cs typeface="Times New Roman" panose="02020603050405020304" pitchFamily="18" charset="0"/>
              </a:rPr>
              <a:t> So far, we have looked at ways blockchains can be used to keep track of information and verify its integrity. But blockchains are even more powerful when we use them as smart contracts as one of its applications. These contracts live on the blockchain and can perform actions when various conditions are met. Insurance companies could use smart contracts to validate claims and keep a record of all the people who are buying insurance and paying their premiums on time so as to continue the terms of the policy. Or they could allow us to only pay for car insurance when we are driving. But it goes even further, with smart contracts we can our own data on a blockchain. In the same fashion, you could store your personal identity there and choose what data you want to reveal.</a:t>
            </a:r>
          </a:p>
        </p:txBody>
      </p:sp>
    </p:spTree>
    <p:extLst>
      <p:ext uri="{BB962C8B-B14F-4D97-AF65-F5344CB8AC3E}">
        <p14:creationId xmlns:p14="http://schemas.microsoft.com/office/powerpoint/2010/main" val="11935048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78C82A-D5C8-414A-363B-F26F10143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587" y="370916"/>
            <a:ext cx="11333304" cy="6136416"/>
          </a:xfrm>
          <a:prstGeom prst="rect">
            <a:avLst/>
          </a:prstGeom>
        </p:spPr>
      </p:pic>
    </p:spTree>
    <p:extLst>
      <p:ext uri="{BB962C8B-B14F-4D97-AF65-F5344CB8AC3E}">
        <p14:creationId xmlns:p14="http://schemas.microsoft.com/office/powerpoint/2010/main" val="34944144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F25B3F-C509-FC28-EBB8-5981CBE45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076" y="616976"/>
            <a:ext cx="11549848" cy="5624047"/>
          </a:xfrm>
          <a:prstGeom prst="rect">
            <a:avLst/>
          </a:prstGeom>
        </p:spPr>
      </p:pic>
    </p:spTree>
    <p:extLst>
      <p:ext uri="{BB962C8B-B14F-4D97-AF65-F5344CB8AC3E}">
        <p14:creationId xmlns:p14="http://schemas.microsoft.com/office/powerpoint/2010/main" val="4162916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06FE95-99B9-93D7-20E4-2F2F27C70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687" y="682077"/>
            <a:ext cx="11638626" cy="5493846"/>
          </a:xfrm>
          <a:prstGeom prst="rect">
            <a:avLst/>
          </a:prstGeom>
        </p:spPr>
      </p:pic>
    </p:spTree>
    <p:extLst>
      <p:ext uri="{BB962C8B-B14F-4D97-AF65-F5344CB8AC3E}">
        <p14:creationId xmlns:p14="http://schemas.microsoft.com/office/powerpoint/2010/main" val="4274988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160BC0-80BA-0B41-E200-354ED5CC6B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075" y="514097"/>
            <a:ext cx="11549849" cy="5829805"/>
          </a:xfrm>
          <a:prstGeom prst="rect">
            <a:avLst/>
          </a:prstGeom>
        </p:spPr>
      </p:pic>
    </p:spTree>
    <p:extLst>
      <p:ext uri="{BB962C8B-B14F-4D97-AF65-F5344CB8AC3E}">
        <p14:creationId xmlns:p14="http://schemas.microsoft.com/office/powerpoint/2010/main" val="37069855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8C30DF-AD09-D07E-9598-29529CC216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495" y="681752"/>
            <a:ext cx="11327907" cy="5494496"/>
          </a:xfrm>
          <a:prstGeom prst="rect">
            <a:avLst/>
          </a:prstGeom>
        </p:spPr>
      </p:pic>
    </p:spTree>
    <p:extLst>
      <p:ext uri="{BB962C8B-B14F-4D97-AF65-F5344CB8AC3E}">
        <p14:creationId xmlns:p14="http://schemas.microsoft.com/office/powerpoint/2010/main" val="18275324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A19C3B-2E1A-F826-7C99-7FBB421E43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514" y="339570"/>
            <a:ext cx="11540971" cy="6178859"/>
          </a:xfrm>
          <a:prstGeom prst="rect">
            <a:avLst/>
          </a:prstGeom>
        </p:spPr>
      </p:pic>
    </p:spTree>
    <p:extLst>
      <p:ext uri="{BB962C8B-B14F-4D97-AF65-F5344CB8AC3E}">
        <p14:creationId xmlns:p14="http://schemas.microsoft.com/office/powerpoint/2010/main" val="7871104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09D153-9E15-3453-5C57-07837AD2D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464" y="636028"/>
            <a:ext cx="11461072" cy="5585944"/>
          </a:xfrm>
          <a:prstGeom prst="rect">
            <a:avLst/>
          </a:prstGeom>
        </p:spPr>
      </p:pic>
    </p:spTree>
    <p:extLst>
      <p:ext uri="{BB962C8B-B14F-4D97-AF65-F5344CB8AC3E}">
        <p14:creationId xmlns:p14="http://schemas.microsoft.com/office/powerpoint/2010/main" val="321299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CF927A-C7BB-6E3A-9EFD-D5E4B77505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565" y="564408"/>
            <a:ext cx="11620869" cy="5729183"/>
          </a:xfrm>
          <a:prstGeom prst="rect">
            <a:avLst/>
          </a:prstGeom>
        </p:spPr>
      </p:pic>
    </p:spTree>
    <p:extLst>
      <p:ext uri="{BB962C8B-B14F-4D97-AF65-F5344CB8AC3E}">
        <p14:creationId xmlns:p14="http://schemas.microsoft.com/office/powerpoint/2010/main" val="30408805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67B91A-C3E1-C559-BF1B-41C563FF72E7}"/>
              </a:ext>
            </a:extLst>
          </p:cNvPr>
          <p:cNvSpPr txBox="1"/>
          <p:nvPr/>
        </p:nvSpPr>
        <p:spPr>
          <a:xfrm>
            <a:off x="258924" y="267869"/>
            <a:ext cx="6097554" cy="461665"/>
          </a:xfrm>
          <a:prstGeom prst="rect">
            <a:avLst/>
          </a:prstGeom>
          <a:noFill/>
        </p:spPr>
        <p:txBody>
          <a:bodyPr wrap="square">
            <a:spAutoFit/>
          </a:bodyPr>
          <a:lstStyle/>
          <a:p>
            <a:pPr algn="just"/>
            <a:r>
              <a:rPr lang="en-US" sz="2400" b="1" i="0" dirty="0">
                <a:solidFill>
                  <a:srgbClr val="000000"/>
                </a:solidFill>
                <a:effectLst/>
                <a:latin typeface="Times New Roman" panose="02020603050405020304" pitchFamily="18" charset="0"/>
                <a:cs typeface="Times New Roman" panose="02020603050405020304" pitchFamily="18" charset="0"/>
              </a:rPr>
              <a:t>Major Pros of Blockchain Technology</a:t>
            </a:r>
            <a:endParaRPr lang="en-US" sz="2400" b="1" i="0" dirty="0">
              <a:solidFill>
                <a:srgbClr val="393939"/>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3B1FB30-C1A2-1012-3FDA-60298D3749BF}"/>
              </a:ext>
            </a:extLst>
          </p:cNvPr>
          <p:cNvSpPr txBox="1"/>
          <p:nvPr/>
        </p:nvSpPr>
        <p:spPr>
          <a:xfrm>
            <a:off x="258924" y="790383"/>
            <a:ext cx="6097554" cy="369332"/>
          </a:xfrm>
          <a:prstGeom prst="rect">
            <a:avLst/>
          </a:prstGeom>
          <a:noFill/>
        </p:spPr>
        <p:txBody>
          <a:bodyPr wrap="square">
            <a:spAutoFit/>
          </a:bodyPr>
          <a:lstStyle/>
          <a:p>
            <a:pPr algn="l"/>
            <a:r>
              <a:rPr lang="en-IN" b="1" i="0" dirty="0">
                <a:solidFill>
                  <a:srgbClr val="393939"/>
                </a:solidFill>
                <a:effectLst/>
                <a:latin typeface="Times New Roman" panose="02020603050405020304" pitchFamily="18" charset="0"/>
                <a:cs typeface="Times New Roman" panose="02020603050405020304" pitchFamily="18" charset="0"/>
              </a:rPr>
              <a:t>1) Decentralized Trust </a:t>
            </a:r>
          </a:p>
        </p:txBody>
      </p:sp>
      <p:sp>
        <p:nvSpPr>
          <p:cNvPr id="9" name="TextBox 8">
            <a:extLst>
              <a:ext uri="{FF2B5EF4-FFF2-40B4-BE49-F238E27FC236}">
                <a16:creationId xmlns:a16="http://schemas.microsoft.com/office/drawing/2014/main" id="{321F389F-B04C-4747-3A3E-60281EFA59A8}"/>
              </a:ext>
            </a:extLst>
          </p:cNvPr>
          <p:cNvSpPr txBox="1"/>
          <p:nvPr/>
        </p:nvSpPr>
        <p:spPr>
          <a:xfrm>
            <a:off x="258924" y="1312897"/>
            <a:ext cx="6097554" cy="369332"/>
          </a:xfrm>
          <a:prstGeom prst="rect">
            <a:avLst/>
          </a:prstGeom>
          <a:noFill/>
        </p:spPr>
        <p:txBody>
          <a:bodyPr wrap="square">
            <a:spAutoFit/>
          </a:bodyPr>
          <a:lstStyle/>
          <a:p>
            <a:pPr algn="l"/>
            <a:r>
              <a:rPr lang="en-IN" b="1" i="0" dirty="0">
                <a:solidFill>
                  <a:srgbClr val="393939"/>
                </a:solidFill>
                <a:effectLst/>
                <a:latin typeface="Times New Roman" panose="02020603050405020304" pitchFamily="18" charset="0"/>
                <a:cs typeface="Times New Roman" panose="02020603050405020304" pitchFamily="18" charset="0"/>
              </a:rPr>
              <a:t>2) Low Operational Cost </a:t>
            </a:r>
          </a:p>
        </p:txBody>
      </p:sp>
      <p:sp>
        <p:nvSpPr>
          <p:cNvPr id="11" name="TextBox 10">
            <a:extLst>
              <a:ext uri="{FF2B5EF4-FFF2-40B4-BE49-F238E27FC236}">
                <a16:creationId xmlns:a16="http://schemas.microsoft.com/office/drawing/2014/main" id="{5CC5C19D-06D5-13E0-FD15-2EAE353FDD60}"/>
              </a:ext>
            </a:extLst>
          </p:cNvPr>
          <p:cNvSpPr txBox="1"/>
          <p:nvPr/>
        </p:nvSpPr>
        <p:spPr>
          <a:xfrm>
            <a:off x="258924" y="1835411"/>
            <a:ext cx="6097554" cy="369332"/>
          </a:xfrm>
          <a:prstGeom prst="rect">
            <a:avLst/>
          </a:prstGeom>
          <a:noFill/>
        </p:spPr>
        <p:txBody>
          <a:bodyPr wrap="square">
            <a:spAutoFit/>
          </a:bodyPr>
          <a:lstStyle/>
          <a:p>
            <a:pPr algn="l"/>
            <a:r>
              <a:rPr lang="en-US" b="1" i="0" dirty="0">
                <a:solidFill>
                  <a:srgbClr val="393939"/>
                </a:solidFill>
                <a:effectLst/>
                <a:latin typeface="Times New Roman" panose="02020603050405020304" pitchFamily="18" charset="0"/>
                <a:cs typeface="Times New Roman" panose="02020603050405020304" pitchFamily="18" charset="0"/>
              </a:rPr>
              <a:t>3) No Single Point of Failure</a:t>
            </a:r>
          </a:p>
        </p:txBody>
      </p:sp>
      <p:sp>
        <p:nvSpPr>
          <p:cNvPr id="13" name="TextBox 12">
            <a:extLst>
              <a:ext uri="{FF2B5EF4-FFF2-40B4-BE49-F238E27FC236}">
                <a16:creationId xmlns:a16="http://schemas.microsoft.com/office/drawing/2014/main" id="{5DED9607-E4AD-07A0-C104-8B63229ECE7F}"/>
              </a:ext>
            </a:extLst>
          </p:cNvPr>
          <p:cNvSpPr txBox="1"/>
          <p:nvPr/>
        </p:nvSpPr>
        <p:spPr>
          <a:xfrm>
            <a:off x="258924" y="2357925"/>
            <a:ext cx="6097554" cy="369332"/>
          </a:xfrm>
          <a:prstGeom prst="rect">
            <a:avLst/>
          </a:prstGeom>
          <a:noFill/>
        </p:spPr>
        <p:txBody>
          <a:bodyPr wrap="square">
            <a:spAutoFit/>
          </a:bodyPr>
          <a:lstStyle/>
          <a:p>
            <a:pPr algn="l"/>
            <a:r>
              <a:rPr lang="en-US" b="1" i="0" dirty="0">
                <a:solidFill>
                  <a:srgbClr val="393939"/>
                </a:solidFill>
                <a:effectLst/>
                <a:latin typeface="Times New Roman" panose="02020603050405020304" pitchFamily="18" charset="0"/>
                <a:cs typeface="Times New Roman" panose="02020603050405020304" pitchFamily="18" charset="0"/>
              </a:rPr>
              <a:t>4) Enhanced Security And Confidentiality</a:t>
            </a:r>
          </a:p>
        </p:txBody>
      </p:sp>
      <p:sp>
        <p:nvSpPr>
          <p:cNvPr id="15" name="TextBox 14">
            <a:extLst>
              <a:ext uri="{FF2B5EF4-FFF2-40B4-BE49-F238E27FC236}">
                <a16:creationId xmlns:a16="http://schemas.microsoft.com/office/drawing/2014/main" id="{479EF930-B961-CE5E-3DBE-48DF5D18F002}"/>
              </a:ext>
            </a:extLst>
          </p:cNvPr>
          <p:cNvSpPr txBox="1"/>
          <p:nvPr/>
        </p:nvSpPr>
        <p:spPr>
          <a:xfrm>
            <a:off x="258924" y="2880439"/>
            <a:ext cx="6097554" cy="369332"/>
          </a:xfrm>
          <a:prstGeom prst="rect">
            <a:avLst/>
          </a:prstGeom>
          <a:noFill/>
        </p:spPr>
        <p:txBody>
          <a:bodyPr wrap="square">
            <a:spAutoFit/>
          </a:bodyPr>
          <a:lstStyle/>
          <a:p>
            <a:pPr algn="l"/>
            <a:r>
              <a:rPr lang="en-IN" b="1" i="0" dirty="0">
                <a:solidFill>
                  <a:srgbClr val="393939"/>
                </a:solidFill>
                <a:effectLst/>
                <a:latin typeface="Times New Roman" panose="02020603050405020304" pitchFamily="18" charset="0"/>
                <a:cs typeface="Times New Roman" panose="02020603050405020304" pitchFamily="18" charset="0"/>
              </a:rPr>
              <a:t>5) Quick Transactions</a:t>
            </a:r>
          </a:p>
        </p:txBody>
      </p:sp>
      <p:sp>
        <p:nvSpPr>
          <p:cNvPr id="17" name="TextBox 16">
            <a:extLst>
              <a:ext uri="{FF2B5EF4-FFF2-40B4-BE49-F238E27FC236}">
                <a16:creationId xmlns:a16="http://schemas.microsoft.com/office/drawing/2014/main" id="{9FAE8825-3B19-81A8-9177-C35FBE9277A5}"/>
              </a:ext>
            </a:extLst>
          </p:cNvPr>
          <p:cNvSpPr txBox="1"/>
          <p:nvPr/>
        </p:nvSpPr>
        <p:spPr>
          <a:xfrm>
            <a:off x="258924" y="3402953"/>
            <a:ext cx="6097554" cy="369332"/>
          </a:xfrm>
          <a:prstGeom prst="rect">
            <a:avLst/>
          </a:prstGeom>
          <a:noFill/>
        </p:spPr>
        <p:txBody>
          <a:bodyPr wrap="square">
            <a:spAutoFit/>
          </a:bodyPr>
          <a:lstStyle/>
          <a:p>
            <a:pPr algn="just"/>
            <a:r>
              <a:rPr lang="en-IN" b="1" i="0" dirty="0">
                <a:solidFill>
                  <a:srgbClr val="393939"/>
                </a:solidFill>
                <a:effectLst/>
                <a:latin typeface="Times New Roman" panose="02020603050405020304" pitchFamily="18" charset="0"/>
                <a:cs typeface="Times New Roman" panose="02020603050405020304" pitchFamily="18" charset="0"/>
              </a:rPr>
              <a:t>6) Reduces Fraud</a:t>
            </a:r>
          </a:p>
        </p:txBody>
      </p:sp>
      <p:sp>
        <p:nvSpPr>
          <p:cNvPr id="21" name="TextBox 20">
            <a:extLst>
              <a:ext uri="{FF2B5EF4-FFF2-40B4-BE49-F238E27FC236}">
                <a16:creationId xmlns:a16="http://schemas.microsoft.com/office/drawing/2014/main" id="{8F4A5771-49AF-3B32-85F7-FB3E0598D568}"/>
              </a:ext>
            </a:extLst>
          </p:cNvPr>
          <p:cNvSpPr txBox="1"/>
          <p:nvPr/>
        </p:nvSpPr>
        <p:spPr>
          <a:xfrm>
            <a:off x="258924" y="3925467"/>
            <a:ext cx="6097554" cy="369332"/>
          </a:xfrm>
          <a:prstGeom prst="rect">
            <a:avLst/>
          </a:prstGeom>
          <a:noFill/>
        </p:spPr>
        <p:txBody>
          <a:bodyPr wrap="square">
            <a:spAutoFit/>
          </a:bodyPr>
          <a:lstStyle/>
          <a:p>
            <a:pPr algn="l"/>
            <a:r>
              <a:rPr lang="en-IN" b="1" i="0" dirty="0">
                <a:solidFill>
                  <a:srgbClr val="393939"/>
                </a:solidFill>
                <a:effectLst/>
                <a:latin typeface="Times New Roman" panose="02020603050405020304" pitchFamily="18" charset="0"/>
                <a:cs typeface="Times New Roman" panose="02020603050405020304" pitchFamily="18" charset="0"/>
              </a:rPr>
              <a:t>7) Transparent &amp; Universal Recording System</a:t>
            </a:r>
          </a:p>
        </p:txBody>
      </p:sp>
      <p:sp>
        <p:nvSpPr>
          <p:cNvPr id="23" name="TextBox 22">
            <a:extLst>
              <a:ext uri="{FF2B5EF4-FFF2-40B4-BE49-F238E27FC236}">
                <a16:creationId xmlns:a16="http://schemas.microsoft.com/office/drawing/2014/main" id="{97FE0BC2-1AD8-C6D9-5237-82E1F1D7F4A5}"/>
              </a:ext>
            </a:extLst>
          </p:cNvPr>
          <p:cNvSpPr txBox="1"/>
          <p:nvPr/>
        </p:nvSpPr>
        <p:spPr>
          <a:xfrm>
            <a:off x="258924" y="4447981"/>
            <a:ext cx="6097554" cy="369332"/>
          </a:xfrm>
          <a:prstGeom prst="rect">
            <a:avLst/>
          </a:prstGeom>
          <a:noFill/>
        </p:spPr>
        <p:txBody>
          <a:bodyPr wrap="square">
            <a:spAutoFit/>
          </a:bodyPr>
          <a:lstStyle/>
          <a:p>
            <a:pPr algn="l"/>
            <a:r>
              <a:rPr lang="en-IN" b="1" i="0" dirty="0">
                <a:solidFill>
                  <a:srgbClr val="393939"/>
                </a:solidFill>
                <a:effectLst/>
                <a:latin typeface="Times New Roman" panose="02020603050405020304" pitchFamily="18" charset="0"/>
                <a:cs typeface="Times New Roman" panose="02020603050405020304" pitchFamily="18" charset="0"/>
              </a:rPr>
              <a:t>8) Better Accessibility</a:t>
            </a:r>
          </a:p>
        </p:txBody>
      </p:sp>
      <p:sp>
        <p:nvSpPr>
          <p:cNvPr id="25" name="TextBox 24">
            <a:extLst>
              <a:ext uri="{FF2B5EF4-FFF2-40B4-BE49-F238E27FC236}">
                <a16:creationId xmlns:a16="http://schemas.microsoft.com/office/drawing/2014/main" id="{EB98C475-042F-1BC4-6854-1B6D005A6EE4}"/>
              </a:ext>
            </a:extLst>
          </p:cNvPr>
          <p:cNvSpPr txBox="1"/>
          <p:nvPr/>
        </p:nvSpPr>
        <p:spPr>
          <a:xfrm>
            <a:off x="258924" y="4970495"/>
            <a:ext cx="6097554" cy="369332"/>
          </a:xfrm>
          <a:prstGeom prst="rect">
            <a:avLst/>
          </a:prstGeom>
          <a:noFill/>
        </p:spPr>
        <p:txBody>
          <a:bodyPr wrap="square">
            <a:spAutoFit/>
          </a:bodyPr>
          <a:lstStyle/>
          <a:p>
            <a:pPr algn="l"/>
            <a:r>
              <a:rPr lang="en-IN" b="1" i="0" dirty="0">
                <a:solidFill>
                  <a:srgbClr val="393939"/>
                </a:solidFill>
                <a:effectLst/>
                <a:latin typeface="Times New Roman" panose="02020603050405020304" pitchFamily="18" charset="0"/>
                <a:cs typeface="Times New Roman" panose="02020603050405020304" pitchFamily="18" charset="0"/>
              </a:rPr>
              <a:t>9) Prevents Double Spending</a:t>
            </a:r>
          </a:p>
        </p:txBody>
      </p:sp>
      <p:sp>
        <p:nvSpPr>
          <p:cNvPr id="27" name="TextBox 26">
            <a:extLst>
              <a:ext uri="{FF2B5EF4-FFF2-40B4-BE49-F238E27FC236}">
                <a16:creationId xmlns:a16="http://schemas.microsoft.com/office/drawing/2014/main" id="{2DF6E2F0-A577-D459-7E0C-C0F801A2FD65}"/>
              </a:ext>
            </a:extLst>
          </p:cNvPr>
          <p:cNvSpPr txBox="1"/>
          <p:nvPr/>
        </p:nvSpPr>
        <p:spPr>
          <a:xfrm>
            <a:off x="258924" y="5493009"/>
            <a:ext cx="6627068" cy="369332"/>
          </a:xfrm>
          <a:prstGeom prst="rect">
            <a:avLst/>
          </a:prstGeom>
          <a:noFill/>
        </p:spPr>
        <p:txBody>
          <a:bodyPr wrap="square">
            <a:spAutoFit/>
          </a:bodyPr>
          <a:lstStyle/>
          <a:p>
            <a:pPr algn="l"/>
            <a:r>
              <a:rPr lang="en-US" b="1" i="0" dirty="0">
                <a:solidFill>
                  <a:srgbClr val="393939"/>
                </a:solidFill>
                <a:effectLst/>
                <a:latin typeface="Times New Roman" panose="02020603050405020304" pitchFamily="18" charset="0"/>
                <a:cs typeface="Times New Roman" panose="02020603050405020304" pitchFamily="18" charset="0"/>
              </a:rPr>
              <a:t>10) Seamless Integration Into Existing Systems</a:t>
            </a:r>
          </a:p>
        </p:txBody>
      </p:sp>
    </p:spTree>
    <p:extLst>
      <p:ext uri="{BB962C8B-B14F-4D97-AF65-F5344CB8AC3E}">
        <p14:creationId xmlns:p14="http://schemas.microsoft.com/office/powerpoint/2010/main" val="31867153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4EFC5E-44A7-4861-5D22-5860BC3C9A09}"/>
              </a:ext>
            </a:extLst>
          </p:cNvPr>
          <p:cNvSpPr txBox="1"/>
          <p:nvPr/>
        </p:nvSpPr>
        <p:spPr>
          <a:xfrm>
            <a:off x="133164" y="160589"/>
            <a:ext cx="11851689" cy="2031325"/>
          </a:xfrm>
          <a:prstGeom prst="rect">
            <a:avLst/>
          </a:prstGeom>
          <a:noFill/>
        </p:spPr>
        <p:txBody>
          <a:bodyPr wrap="square">
            <a:spAutoFit/>
          </a:bodyPr>
          <a:lstStyle/>
          <a:p>
            <a:pPr algn="just"/>
            <a:r>
              <a:rPr lang="en-IN" b="1" i="0" dirty="0">
                <a:solidFill>
                  <a:srgbClr val="393939"/>
                </a:solidFill>
                <a:effectLst/>
                <a:latin typeface="Times New Roman" panose="02020603050405020304" pitchFamily="18" charset="0"/>
                <a:cs typeface="Times New Roman" panose="02020603050405020304" pitchFamily="18" charset="0"/>
              </a:rPr>
              <a:t>Decentralized Trust </a:t>
            </a:r>
            <a:endParaRPr lang="en-US" b="0" dirty="0">
              <a:solidFill>
                <a:srgbClr val="000000"/>
              </a:solidFill>
              <a:effectLst/>
              <a:latin typeface="arial" panose="020B0604020202020204" pitchFamily="34" charset="0"/>
            </a:endParaRPr>
          </a:p>
          <a:p>
            <a:pPr algn="just"/>
            <a:r>
              <a:rPr lang="en-US" b="0" dirty="0">
                <a:solidFill>
                  <a:srgbClr val="000000"/>
                </a:solidFill>
                <a:effectLst/>
                <a:latin typeface="arial" panose="020B0604020202020204" pitchFamily="34" charset="0"/>
              </a:rPr>
              <a:t>One of its biggest strengths is that you no longer need to trust a third party to make any transaction. People using blockchain worldwide are confident that no single party is manipulating transactions, viewing personal information or performing any other activity breaching their privacy and security.</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That doesn’t mean </a:t>
            </a:r>
            <a:r>
              <a:rPr lang="en-US" b="1" u="none" strike="noStrike" dirty="0">
                <a:solidFill>
                  <a:srgbClr val="000000"/>
                </a:solidFill>
                <a:effectLst/>
                <a:latin typeface="arial" panose="020B0604020202020204" pitchFamily="34" charset="0"/>
                <a:hlinkClick r:id="rId2"/>
              </a:rPr>
              <a:t>blockchain-based applications</a:t>
            </a:r>
            <a:r>
              <a:rPr lang="en-US" b="0" dirty="0">
                <a:solidFill>
                  <a:srgbClr val="000000"/>
                </a:solidFill>
                <a:effectLst/>
                <a:latin typeface="arial" panose="020B0604020202020204" pitchFamily="34" charset="0"/>
              </a:rPr>
              <a:t> are always secure—that depends on how good developers are at creating secure code—but it does mean there are opportunities for better security than conventional applications. With blockchain, you can feel more confident about your data and identity.</a:t>
            </a:r>
            <a:endParaRPr lang="en-US" b="0" dirty="0">
              <a:solidFill>
                <a:srgbClr val="000000"/>
              </a:solidFill>
              <a:effectLst/>
              <a:latin typeface="DINPro-Regular"/>
            </a:endParaRPr>
          </a:p>
        </p:txBody>
      </p:sp>
      <p:sp>
        <p:nvSpPr>
          <p:cNvPr id="7" name="TextBox 6">
            <a:extLst>
              <a:ext uri="{FF2B5EF4-FFF2-40B4-BE49-F238E27FC236}">
                <a16:creationId xmlns:a16="http://schemas.microsoft.com/office/drawing/2014/main" id="{EE59693E-6A99-0E63-5C68-D56FAAFBEE36}"/>
              </a:ext>
            </a:extLst>
          </p:cNvPr>
          <p:cNvSpPr txBox="1"/>
          <p:nvPr/>
        </p:nvSpPr>
        <p:spPr>
          <a:xfrm>
            <a:off x="133164" y="2415557"/>
            <a:ext cx="11851688" cy="3693319"/>
          </a:xfrm>
          <a:prstGeom prst="rect">
            <a:avLst/>
          </a:prstGeom>
          <a:noFill/>
        </p:spPr>
        <p:txBody>
          <a:bodyPr wrap="square">
            <a:spAutoFit/>
          </a:bodyPr>
          <a:lstStyle/>
          <a:p>
            <a:pPr algn="just"/>
            <a:r>
              <a:rPr lang="en-US" b="1" i="0" dirty="0">
                <a:solidFill>
                  <a:srgbClr val="393939"/>
                </a:solidFill>
                <a:effectLst/>
                <a:latin typeface="arial black" panose="020B0A04020102020204" pitchFamily="34" charset="0"/>
                <a:cs typeface="Assistant" pitchFamily="2" charset="-79"/>
              </a:rPr>
              <a:t>Low Operational Cost </a:t>
            </a:r>
            <a:endParaRPr lang="en-US" b="1" i="0" dirty="0">
              <a:solidFill>
                <a:srgbClr val="393939"/>
              </a:solidFill>
              <a:effectLst/>
              <a:latin typeface="Assistant" pitchFamily="2" charset="-79"/>
              <a:cs typeface="Assistant" pitchFamily="2" charset="-79"/>
            </a:endParaRPr>
          </a:p>
          <a:p>
            <a:pPr algn="just"/>
            <a:r>
              <a:rPr lang="en-US" b="0" dirty="0">
                <a:solidFill>
                  <a:srgbClr val="000000"/>
                </a:solidFill>
                <a:effectLst/>
                <a:latin typeface="arial" panose="020B0604020202020204" pitchFamily="34" charset="0"/>
              </a:rPr>
              <a:t>Blockchain reduces overhead costs as it has no centralized authority or servers to maintain operations. </a:t>
            </a:r>
            <a:r>
              <a:rPr lang="en-US" b="1" dirty="0">
                <a:solidFill>
                  <a:srgbClr val="000000"/>
                </a:solidFill>
                <a:effectLst/>
                <a:latin typeface="arial" panose="020B0604020202020204" pitchFamily="34" charset="0"/>
              </a:rPr>
              <a:t> </a:t>
            </a:r>
            <a:r>
              <a:rPr lang="en-US" b="0" dirty="0">
                <a:solidFill>
                  <a:srgbClr val="000000"/>
                </a:solidFill>
                <a:effectLst/>
                <a:latin typeface="arial" panose="020B0604020202020204" pitchFamily="34" charset="0"/>
              </a:rPr>
              <a:t>There are no payment processing or banking fees as it opts for peer-to-peer transactions without third-party approval. It embeds documents, agreements, or transactions within the system.</a:t>
            </a:r>
          </a:p>
          <a:p>
            <a:pPr algn="just"/>
            <a:endParaRPr lang="en-US" dirty="0">
              <a:solidFill>
                <a:srgbClr val="000000"/>
              </a:solidFill>
              <a:latin typeface="arial" panose="020B0604020202020204" pitchFamily="34" charset="0"/>
            </a:endParaRPr>
          </a:p>
          <a:p>
            <a:pPr algn="just"/>
            <a:r>
              <a:rPr lang="en-US" b="1" i="0" dirty="0">
                <a:solidFill>
                  <a:srgbClr val="393939"/>
                </a:solidFill>
                <a:effectLst/>
                <a:latin typeface="arial black" panose="020B0A04020102020204" pitchFamily="34" charset="0"/>
                <a:cs typeface="Assistant" pitchFamily="2" charset="-79"/>
              </a:rPr>
              <a:t>No Single Point of Failure</a:t>
            </a:r>
            <a:endParaRPr lang="en-US" dirty="0">
              <a:solidFill>
                <a:srgbClr val="000000"/>
              </a:solidFill>
              <a:latin typeface="arial" panose="020B0604020202020204" pitchFamily="34" charset="0"/>
            </a:endParaRPr>
          </a:p>
          <a:p>
            <a:pPr algn="just"/>
            <a:r>
              <a:rPr lang="en-US" b="0" dirty="0">
                <a:solidFill>
                  <a:srgbClr val="000000"/>
                </a:solidFill>
                <a:effectLst/>
                <a:latin typeface="arial" panose="020B0604020202020204" pitchFamily="34" charset="0"/>
              </a:rPr>
              <a:t>With blockchain technology, there’s no single point of failure. If a hacker were to gain access to your business’s server or database, they could very easily wipe out your entire network—all at once.</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Blockchain technology is not centralized; instead, it is in distributed form. It saves your data if the network goes down as hackers cannot break into the central grid and affect any connected account.</a:t>
            </a:r>
            <a:endParaRPr lang="en-US" b="0" dirty="0">
              <a:solidFill>
                <a:srgbClr val="000000"/>
              </a:solidFill>
              <a:effectLst/>
              <a:latin typeface="DINPro-Regular"/>
            </a:endParaRPr>
          </a:p>
          <a:p>
            <a:pPr algn="just"/>
            <a:r>
              <a:rPr lang="en-US" b="0" i="0" dirty="0">
                <a:solidFill>
                  <a:srgbClr val="000000"/>
                </a:solidFill>
                <a:effectLst/>
                <a:latin typeface="arial" panose="020B0604020202020204" pitchFamily="34" charset="0"/>
              </a:rPr>
              <a:t>You can create passwords up to 100 characters long, making it impossible for hackers to guess or decode. It gives better security than regular networks with the option of up to 8-character long passwords (</a:t>
            </a:r>
            <a:r>
              <a:rPr lang="en-US" b="1" i="0" dirty="0">
                <a:solidFill>
                  <a:srgbClr val="000000"/>
                </a:solidFill>
                <a:effectLst/>
                <a:latin typeface="arial" panose="020B0604020202020204" pitchFamily="34" charset="0"/>
              </a:rPr>
              <a:t>including letters and numbers</a:t>
            </a:r>
            <a:r>
              <a:rPr lang="en-US" b="0" i="0" dirty="0">
                <a:solidFill>
                  <a:srgbClr val="000000"/>
                </a:solidFill>
                <a:effectLst/>
                <a:latin typeface="arial" panose="020B0604020202020204" pitchFamily="34" charset="0"/>
              </a:rPr>
              <a:t>) </a:t>
            </a:r>
            <a:endParaRPr lang="en-US" b="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5310682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3AC663-875F-D4BF-B3D2-2B1470861EAA}"/>
              </a:ext>
            </a:extLst>
          </p:cNvPr>
          <p:cNvSpPr txBox="1"/>
          <p:nvPr/>
        </p:nvSpPr>
        <p:spPr>
          <a:xfrm>
            <a:off x="188649" y="137499"/>
            <a:ext cx="11884981" cy="7294305"/>
          </a:xfrm>
          <a:prstGeom prst="rect">
            <a:avLst/>
          </a:prstGeom>
          <a:noFill/>
        </p:spPr>
        <p:txBody>
          <a:bodyPr wrap="square">
            <a:spAutoFit/>
          </a:bodyPr>
          <a:lstStyle/>
          <a:p>
            <a:pPr algn="just"/>
            <a:r>
              <a:rPr lang="en-IN" b="1" i="0" dirty="0">
                <a:solidFill>
                  <a:srgbClr val="393939"/>
                </a:solidFill>
                <a:effectLst/>
                <a:latin typeface="arial black" panose="020B0A04020102020204" pitchFamily="34" charset="0"/>
                <a:cs typeface="Assistant" pitchFamily="2" charset="-79"/>
              </a:rPr>
              <a:t>Enhanced Security And Confidentiality</a:t>
            </a:r>
            <a:endParaRPr lang="en-US" b="0" dirty="0">
              <a:solidFill>
                <a:srgbClr val="000000"/>
              </a:solidFill>
              <a:effectLst/>
              <a:latin typeface="arial" panose="020B0604020202020204" pitchFamily="34" charset="0"/>
            </a:endParaRPr>
          </a:p>
          <a:p>
            <a:pPr algn="just"/>
            <a:r>
              <a:rPr lang="en-US" b="0" dirty="0">
                <a:solidFill>
                  <a:srgbClr val="000000"/>
                </a:solidFill>
                <a:effectLst/>
                <a:latin typeface="arial" panose="020B0604020202020204" pitchFamily="34" charset="0"/>
              </a:rPr>
              <a:t>Being distributed across a global network of computers and protected by cryptography, blockchain technology is inherently more secure than centralized systems.</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As the Economist reports, it is tough to tamper with records once they are in there. Any attempt to alter one’s record will reflect immediately because copies and digital signatures are checked against each other automatically</a:t>
            </a:r>
            <a:r>
              <a:rPr lang="en-US" b="1" dirty="0">
                <a:solidFill>
                  <a:srgbClr val="000000"/>
                </a:solidFill>
                <a:effectLst/>
                <a:latin typeface="arial" panose="020B0604020202020204" pitchFamily="34" charset="0"/>
              </a:rPr>
              <a:t>.</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It has an added layer of confidentiality that secures your data from hackers. Transactions are impossible to trace or link back to an individual user. The user can select their names and e-mail addresses during transactions. You get the option to complete your transactions while remaining anonymous.</a:t>
            </a:r>
          </a:p>
          <a:p>
            <a:pPr algn="just"/>
            <a:endParaRPr lang="en-US" dirty="0">
              <a:solidFill>
                <a:srgbClr val="000000"/>
              </a:solidFill>
              <a:latin typeface="arial" panose="020B0604020202020204" pitchFamily="34" charset="0"/>
            </a:endParaRPr>
          </a:p>
          <a:p>
            <a:pPr algn="just"/>
            <a:r>
              <a:rPr lang="en-US" b="1" i="0" dirty="0">
                <a:solidFill>
                  <a:srgbClr val="393939"/>
                </a:solidFill>
                <a:effectLst/>
                <a:latin typeface="arial black" panose="020B0A04020102020204" pitchFamily="34" charset="0"/>
                <a:cs typeface="Assistant" pitchFamily="2" charset="-79"/>
              </a:rPr>
              <a:t>Quick Transactions</a:t>
            </a:r>
            <a:endParaRPr lang="en-US" b="1" i="0" dirty="0">
              <a:solidFill>
                <a:srgbClr val="393939"/>
              </a:solidFill>
              <a:effectLst/>
              <a:latin typeface="Assistant" pitchFamily="2" charset="-79"/>
              <a:cs typeface="Assistant" pitchFamily="2" charset="-79"/>
            </a:endParaRPr>
          </a:p>
          <a:p>
            <a:pPr algn="just"/>
            <a:r>
              <a:rPr lang="en-US" b="0" dirty="0">
                <a:solidFill>
                  <a:srgbClr val="000000"/>
                </a:solidFill>
                <a:effectLst/>
                <a:latin typeface="arial" panose="020B0604020202020204" pitchFamily="34" charset="0"/>
              </a:rPr>
              <a:t>Blockchain is capable of processing much faster transactions than any traditional bank. As a result, businesses that use blockchain instead of banks can save a considerable amount on fees.</a:t>
            </a:r>
            <a:endParaRPr lang="en-US" b="0" dirty="0">
              <a:solidFill>
                <a:srgbClr val="000000"/>
              </a:solidFill>
              <a:effectLst/>
              <a:latin typeface="DINPro-Regular"/>
            </a:endParaRPr>
          </a:p>
          <a:p>
            <a:pPr algn="just"/>
            <a:r>
              <a:rPr lang="en-US" b="1" u="none" strike="noStrike" dirty="0">
                <a:solidFill>
                  <a:srgbClr val="000000"/>
                </a:solidFill>
                <a:effectLst/>
                <a:latin typeface="arial" panose="020B0604020202020204" pitchFamily="34" charset="0"/>
                <a:hlinkClick r:id="rId2"/>
              </a:rPr>
              <a:t>Deloitte</a:t>
            </a:r>
            <a:r>
              <a:rPr lang="en-US" b="0" dirty="0">
                <a:solidFill>
                  <a:srgbClr val="000000"/>
                </a:solidFill>
                <a:effectLst/>
                <a:latin typeface="arial" panose="020B0604020202020204" pitchFamily="34" charset="0"/>
              </a:rPr>
              <a:t> has predicted that blockchain technology could save companies up to billions in the form of banking fees. Blockchain’s decentralized structure doesn’t require massive data centers and expensive third-party verification. It also limits the number of people involved in monitoring the transactions.</a:t>
            </a:r>
          </a:p>
          <a:p>
            <a:pPr algn="just"/>
            <a:endParaRPr lang="en-IN" b="1" i="0" dirty="0">
              <a:solidFill>
                <a:srgbClr val="393939"/>
              </a:solidFill>
              <a:effectLst/>
              <a:latin typeface="arial black" panose="020B0A04020102020204" pitchFamily="34" charset="0"/>
              <a:cs typeface="Assistant" pitchFamily="2" charset="-79"/>
            </a:endParaRPr>
          </a:p>
          <a:p>
            <a:pPr algn="just"/>
            <a:r>
              <a:rPr lang="en-IN" b="1" i="0" dirty="0">
                <a:solidFill>
                  <a:srgbClr val="393939"/>
                </a:solidFill>
                <a:effectLst/>
                <a:latin typeface="arial black" panose="020B0A04020102020204" pitchFamily="34" charset="0"/>
                <a:cs typeface="Assistant" pitchFamily="2" charset="-79"/>
              </a:rPr>
              <a:t>Reduces Fraud</a:t>
            </a:r>
            <a:endParaRPr lang="en-US" dirty="0">
              <a:solidFill>
                <a:srgbClr val="000000"/>
              </a:solidFill>
              <a:latin typeface="arial" panose="020B0604020202020204" pitchFamily="34" charset="0"/>
            </a:endParaRPr>
          </a:p>
          <a:p>
            <a:pPr algn="just"/>
            <a:r>
              <a:rPr lang="en-US" b="0" dirty="0">
                <a:solidFill>
                  <a:srgbClr val="000000"/>
                </a:solidFill>
                <a:effectLst/>
                <a:latin typeface="arial" panose="020B0604020202020204" pitchFamily="34" charset="0"/>
              </a:rPr>
              <a:t>Blockchain technology has some fantastic attributes that make it ideal for financial institutions to reduce forgery. It records every activity, making it impossible for anyone to make duplicate transactions.</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Each block stores the financial information, and if any modification is made to a previous block, other nodes on the network rejected it. </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Once your bank confirms your transaction, they can’t deny receiving the funds. On top of that, you could see that fraudulent activity happened when another node changed transactions.</a:t>
            </a:r>
            <a:endParaRPr lang="en-US" b="0" dirty="0">
              <a:solidFill>
                <a:srgbClr val="000000"/>
              </a:solidFill>
              <a:effectLst/>
              <a:latin typeface="DINPro-Regular"/>
            </a:endParaRPr>
          </a:p>
          <a:p>
            <a:pPr algn="just"/>
            <a:endParaRPr lang="en-US" b="0" dirty="0">
              <a:solidFill>
                <a:srgbClr val="000000"/>
              </a:solidFill>
              <a:effectLst/>
              <a:latin typeface="DINPro-Regular"/>
            </a:endParaRPr>
          </a:p>
          <a:p>
            <a:pPr algn="just"/>
            <a:endParaRPr lang="en-US" b="0" dirty="0">
              <a:solidFill>
                <a:srgbClr val="000000"/>
              </a:solidFill>
              <a:effectLst/>
              <a:latin typeface="DINPro-Regular"/>
            </a:endParaRPr>
          </a:p>
        </p:txBody>
      </p:sp>
    </p:spTree>
    <p:extLst>
      <p:ext uri="{BB962C8B-B14F-4D97-AF65-F5344CB8AC3E}">
        <p14:creationId xmlns:p14="http://schemas.microsoft.com/office/powerpoint/2010/main" val="15365217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939772-42F0-98EC-CB82-83C864EB7C27}"/>
              </a:ext>
            </a:extLst>
          </p:cNvPr>
          <p:cNvSpPr txBox="1"/>
          <p:nvPr/>
        </p:nvSpPr>
        <p:spPr>
          <a:xfrm>
            <a:off x="286304" y="155255"/>
            <a:ext cx="11716306" cy="5078313"/>
          </a:xfrm>
          <a:prstGeom prst="rect">
            <a:avLst/>
          </a:prstGeom>
          <a:noFill/>
        </p:spPr>
        <p:txBody>
          <a:bodyPr wrap="square">
            <a:spAutoFit/>
          </a:bodyPr>
          <a:lstStyle/>
          <a:p>
            <a:pPr algn="just"/>
            <a:r>
              <a:rPr lang="en-US" b="1" i="0" dirty="0">
                <a:solidFill>
                  <a:srgbClr val="393939"/>
                </a:solidFill>
                <a:effectLst/>
                <a:latin typeface="arial black" panose="020B0A04020102020204" pitchFamily="34" charset="0"/>
                <a:cs typeface="Assistant" pitchFamily="2" charset="-79"/>
              </a:rPr>
              <a:t>Transparent &amp; Universal Recording System</a:t>
            </a:r>
            <a:endParaRPr lang="en-US" b="1" i="0" dirty="0">
              <a:solidFill>
                <a:srgbClr val="393939"/>
              </a:solidFill>
              <a:effectLst/>
              <a:latin typeface="Assistant" pitchFamily="2" charset="-79"/>
              <a:cs typeface="Assistant" pitchFamily="2" charset="-79"/>
            </a:endParaRPr>
          </a:p>
          <a:p>
            <a:pPr algn="just"/>
            <a:r>
              <a:rPr lang="en-US" b="0" dirty="0">
                <a:solidFill>
                  <a:srgbClr val="000000"/>
                </a:solidFill>
                <a:effectLst/>
                <a:latin typeface="arial" panose="020B0604020202020204" pitchFamily="34" charset="0"/>
              </a:rPr>
              <a:t>The transactions in the blockchain are recorded in a public ledger that anyone can view. All can see the amount stored in the wallet but cannot identify its owner.</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A wallet could be tied to an individual or group. Still, if users want to remain anonymous, they must transfer their Bitcoins to another address (</a:t>
            </a:r>
            <a:r>
              <a:rPr lang="en-US" b="1" dirty="0">
                <a:solidFill>
                  <a:srgbClr val="000000"/>
                </a:solidFill>
                <a:effectLst/>
                <a:latin typeface="arial" panose="020B0604020202020204" pitchFamily="34" charset="0"/>
              </a:rPr>
              <a:t>e.g., a different Bitcoin wallet</a:t>
            </a:r>
            <a:r>
              <a:rPr lang="en-US" b="0" dirty="0">
                <a:solidFill>
                  <a:srgbClr val="000000"/>
                </a:solidFill>
                <a:effectLst/>
                <a:latin typeface="arial" panose="020B0604020202020204" pitchFamily="34" charset="0"/>
              </a:rPr>
              <a:t>) that isn’t linked with their real identity.</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But even without anonymity features enabled, blockchain tech provides more transparency than traditional payment methods like credit cards and checks; you don’t need a bank intermediary (</a:t>
            </a:r>
            <a:r>
              <a:rPr lang="en-US" b="1" dirty="0">
                <a:solidFill>
                  <a:srgbClr val="000000"/>
                </a:solidFill>
                <a:effectLst/>
                <a:latin typeface="arial" panose="020B0604020202020204" pitchFamily="34" charset="0"/>
              </a:rPr>
              <a:t>or permission from one</a:t>
            </a:r>
            <a:r>
              <a:rPr lang="en-US" b="0" dirty="0">
                <a:solidFill>
                  <a:srgbClr val="000000"/>
                </a:solidFill>
                <a:effectLst/>
                <a:latin typeface="arial" panose="020B0604020202020204" pitchFamily="34" charset="0"/>
              </a:rPr>
              <a:t>) to see what or whom you paid or received money from.</a:t>
            </a:r>
          </a:p>
          <a:p>
            <a:pPr algn="just"/>
            <a:endParaRPr lang="en-US" dirty="0">
              <a:solidFill>
                <a:srgbClr val="000000"/>
              </a:solidFill>
              <a:latin typeface="arial" panose="020B0604020202020204" pitchFamily="34" charset="0"/>
            </a:endParaRPr>
          </a:p>
          <a:p>
            <a:pPr algn="just"/>
            <a:r>
              <a:rPr lang="en-US" b="1" i="0" dirty="0">
                <a:solidFill>
                  <a:srgbClr val="393939"/>
                </a:solidFill>
                <a:effectLst/>
                <a:latin typeface="arial black" panose="020B0A04020102020204" pitchFamily="34" charset="0"/>
                <a:cs typeface="Assistant" pitchFamily="2" charset="-79"/>
              </a:rPr>
              <a:t>Better Accessibility</a:t>
            </a:r>
            <a:endParaRPr lang="en-US" b="1" i="0" dirty="0">
              <a:solidFill>
                <a:srgbClr val="393939"/>
              </a:solidFill>
              <a:effectLst/>
              <a:latin typeface="Assistant" pitchFamily="2" charset="-79"/>
              <a:cs typeface="Assistant" pitchFamily="2" charset="-79"/>
            </a:endParaRPr>
          </a:p>
          <a:p>
            <a:pPr algn="just"/>
            <a:r>
              <a:rPr lang="en-US" b="0" dirty="0">
                <a:solidFill>
                  <a:srgbClr val="000000"/>
                </a:solidFill>
                <a:effectLst/>
                <a:latin typeface="arial" panose="020B0604020202020204" pitchFamily="34" charset="0"/>
              </a:rPr>
              <a:t>A blockchain allows anyone with a computer and an internet connection to be part of its network. It is decentralized, meaning any single entity can’t control it—and everyone has equal access to it.</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Anyone can make changes (</a:t>
            </a:r>
            <a:r>
              <a:rPr lang="en-US" b="1" dirty="0">
                <a:solidFill>
                  <a:srgbClr val="000000"/>
                </a:solidFill>
                <a:effectLst/>
                <a:latin typeface="arial" panose="020B0604020202020204" pitchFamily="34" charset="0"/>
              </a:rPr>
              <a:t>add information</a:t>
            </a:r>
            <a:r>
              <a:rPr lang="en-US" b="0" dirty="0">
                <a:solidFill>
                  <a:srgbClr val="000000"/>
                </a:solidFill>
                <a:effectLst/>
                <a:latin typeface="arial" panose="020B0604020202020204" pitchFamily="34" charset="0"/>
              </a:rPr>
              <a:t>) or add new blocks (</a:t>
            </a:r>
            <a:r>
              <a:rPr lang="en-US" b="1" dirty="0">
                <a:solidFill>
                  <a:srgbClr val="000000"/>
                </a:solidFill>
                <a:effectLst/>
                <a:latin typeface="arial" panose="020B0604020202020204" pitchFamily="34" charset="0"/>
              </a:rPr>
              <a:t>to store data</a:t>
            </a:r>
            <a:r>
              <a:rPr lang="en-US" b="0" dirty="0">
                <a:solidFill>
                  <a:srgbClr val="000000"/>
                </a:solidFill>
                <a:effectLst/>
                <a:latin typeface="arial" panose="020B0604020202020204" pitchFamily="34" charset="0"/>
              </a:rPr>
              <a:t>) to a blockchain, provided they know how to do so. Even non-tech individuals have the same access to blockchains! This openness makes blockchains much more accessible than traditional institutions like banks and financial services.</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That doesn’t mean you shouldn’t be wary when dealing with blockchain providers: you should always research your choices before making any significant financial decisions.</a:t>
            </a:r>
            <a:endParaRPr lang="en-US" b="0" dirty="0">
              <a:solidFill>
                <a:srgbClr val="000000"/>
              </a:solidFill>
              <a:effectLst/>
              <a:latin typeface="DINPro-Regular"/>
            </a:endParaRPr>
          </a:p>
          <a:p>
            <a:pPr algn="just"/>
            <a:endParaRPr lang="en-US" b="0" dirty="0">
              <a:solidFill>
                <a:srgbClr val="000000"/>
              </a:solidFill>
              <a:effectLst/>
              <a:latin typeface="DINPro-Regular"/>
            </a:endParaRPr>
          </a:p>
        </p:txBody>
      </p:sp>
    </p:spTree>
    <p:extLst>
      <p:ext uri="{BB962C8B-B14F-4D97-AF65-F5344CB8AC3E}">
        <p14:creationId xmlns:p14="http://schemas.microsoft.com/office/powerpoint/2010/main" val="41665044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8BCFF1-7236-7ADA-1951-FD7C34CDC4E7}"/>
              </a:ext>
            </a:extLst>
          </p:cNvPr>
          <p:cNvSpPr txBox="1"/>
          <p:nvPr/>
        </p:nvSpPr>
        <p:spPr>
          <a:xfrm>
            <a:off x="188650" y="499732"/>
            <a:ext cx="11627528" cy="4801314"/>
          </a:xfrm>
          <a:prstGeom prst="rect">
            <a:avLst/>
          </a:prstGeom>
          <a:noFill/>
        </p:spPr>
        <p:txBody>
          <a:bodyPr wrap="square">
            <a:spAutoFit/>
          </a:bodyPr>
          <a:lstStyle/>
          <a:p>
            <a:pPr algn="just"/>
            <a:r>
              <a:rPr lang="en-US" b="1" i="0" dirty="0">
                <a:solidFill>
                  <a:srgbClr val="393939"/>
                </a:solidFill>
                <a:effectLst/>
                <a:latin typeface="arial black" panose="020B0A04020102020204" pitchFamily="34" charset="0"/>
                <a:cs typeface="Assistant" pitchFamily="2" charset="-79"/>
              </a:rPr>
              <a:t>Prevents Double Spending</a:t>
            </a:r>
            <a:endParaRPr lang="en-US" b="1" i="0" dirty="0">
              <a:solidFill>
                <a:srgbClr val="393939"/>
              </a:solidFill>
              <a:effectLst/>
              <a:latin typeface="Assistant" pitchFamily="2" charset="-79"/>
              <a:cs typeface="Assistant" pitchFamily="2" charset="-79"/>
            </a:endParaRPr>
          </a:p>
          <a:p>
            <a:pPr algn="just"/>
            <a:r>
              <a:rPr lang="en-US" b="0" dirty="0">
                <a:solidFill>
                  <a:srgbClr val="000000"/>
                </a:solidFill>
                <a:effectLst/>
                <a:latin typeface="arial" panose="020B0604020202020204" pitchFamily="34" charset="0"/>
              </a:rPr>
              <a:t>Bitcoin transactions are verified by network nodes through cryptography and recorded in a publicly distributed ledger called a blockchain. This ensures safety by eliminating direct access to your money. </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That’s why some say bitcoin is fungible—its value is equal even if its physical form changes. In other words, bitcoins derive their worth from mathematics alone, unlike fiat currencies like U.S. dollars or euros, which get their value from an organization’s financial standing.</a:t>
            </a:r>
          </a:p>
          <a:p>
            <a:pPr algn="just"/>
            <a:endParaRPr lang="en-US" dirty="0">
              <a:solidFill>
                <a:srgbClr val="000000"/>
              </a:solidFill>
              <a:latin typeface="arial" panose="020B0604020202020204" pitchFamily="34" charset="0"/>
            </a:endParaRPr>
          </a:p>
          <a:p>
            <a:pPr algn="l"/>
            <a:r>
              <a:rPr lang="en-US" b="1" i="0" dirty="0">
                <a:solidFill>
                  <a:srgbClr val="393939"/>
                </a:solidFill>
                <a:effectLst/>
                <a:latin typeface="arial black" panose="020B0A04020102020204" pitchFamily="34" charset="0"/>
                <a:cs typeface="Assistant" pitchFamily="2" charset="-79"/>
              </a:rPr>
              <a:t>Seamless Integration Into Existing Systems</a:t>
            </a:r>
            <a:endParaRPr lang="en-US" b="1" i="0" dirty="0">
              <a:solidFill>
                <a:srgbClr val="393939"/>
              </a:solidFill>
              <a:effectLst/>
              <a:latin typeface="Assistant" pitchFamily="2" charset="-79"/>
              <a:cs typeface="Assistant" pitchFamily="2" charset="-79"/>
            </a:endParaRPr>
          </a:p>
          <a:p>
            <a:pPr algn="just"/>
            <a:r>
              <a:rPr lang="en-US" b="0" dirty="0">
                <a:solidFill>
                  <a:srgbClr val="000000"/>
                </a:solidFill>
                <a:effectLst/>
                <a:latin typeface="arial" panose="020B0604020202020204" pitchFamily="34" charset="0"/>
              </a:rPr>
              <a:t>Blockchain offers seamless integration of their current financial systems into the outside networks.  It can be done in two ways: Blockchain as a Service (BaaS) and blockchain application platforms.</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BaaS offers organizations a secure connection to blockchain networks using cloud services, while blockchain application platforms allow anyone – even those without cloud services – to use blockchain technology. The integration process is much more seamless than other means of blockchain access.</a:t>
            </a:r>
            <a:endParaRPr lang="en-US" b="0" dirty="0">
              <a:solidFill>
                <a:srgbClr val="000000"/>
              </a:solidFill>
              <a:effectLst/>
              <a:latin typeface="DINPro-Regular"/>
            </a:endParaRPr>
          </a:p>
          <a:p>
            <a:pPr algn="just"/>
            <a:r>
              <a:rPr lang="en-US" b="0" dirty="0">
                <a:solidFill>
                  <a:srgbClr val="000000"/>
                </a:solidFill>
                <a:effectLst/>
                <a:latin typeface="arial" panose="020B0604020202020204" pitchFamily="34" charset="0"/>
              </a:rPr>
              <a:t>Blockchain as a Service allows businesses to connect directly with blockchain networks, giving them immediate access to these decentralized ledgers. It doesn’t force you to use one blockchain or another and gives you a higher level of control than some other methods.</a:t>
            </a:r>
            <a:endParaRPr lang="en-US" b="0" dirty="0">
              <a:solidFill>
                <a:srgbClr val="000000"/>
              </a:solidFill>
              <a:effectLst/>
              <a:latin typeface="DINPro-Regular"/>
            </a:endParaRPr>
          </a:p>
          <a:p>
            <a:pPr algn="just"/>
            <a:endParaRPr lang="en-US" b="0" dirty="0">
              <a:solidFill>
                <a:srgbClr val="000000"/>
              </a:solidFill>
              <a:effectLst/>
              <a:latin typeface="DINPro-Regular"/>
            </a:endParaRPr>
          </a:p>
        </p:txBody>
      </p:sp>
    </p:spTree>
    <p:extLst>
      <p:ext uri="{BB962C8B-B14F-4D97-AF65-F5344CB8AC3E}">
        <p14:creationId xmlns:p14="http://schemas.microsoft.com/office/powerpoint/2010/main" val="4233434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81579B-A652-7814-5BC8-E7BB8372184B}"/>
              </a:ext>
            </a:extLst>
          </p:cNvPr>
          <p:cNvSpPr txBox="1"/>
          <p:nvPr/>
        </p:nvSpPr>
        <p:spPr>
          <a:xfrm>
            <a:off x="426876" y="239877"/>
            <a:ext cx="6097554" cy="523220"/>
          </a:xfrm>
          <a:prstGeom prst="rect">
            <a:avLst/>
          </a:prstGeom>
          <a:noFill/>
        </p:spPr>
        <p:txBody>
          <a:bodyPr wrap="square">
            <a:spAutoFit/>
          </a:bodyPr>
          <a:lstStyle/>
          <a:p>
            <a:pPr algn="just"/>
            <a:r>
              <a:rPr lang="en-US" sz="2800" b="1" i="0" dirty="0">
                <a:solidFill>
                  <a:srgbClr val="000000"/>
                </a:solidFill>
                <a:effectLst/>
                <a:latin typeface="Times New Roman" panose="02020603050405020304" pitchFamily="18" charset="0"/>
                <a:cs typeface="Times New Roman" panose="02020603050405020304" pitchFamily="18" charset="0"/>
              </a:rPr>
              <a:t>Major Cons of Blockchain Technology</a:t>
            </a:r>
            <a:endParaRPr lang="en-US" sz="2800" b="1" i="0" dirty="0">
              <a:solidFill>
                <a:srgbClr val="393939"/>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3629B38-2FE4-4307-666D-05ECB6B82734}"/>
              </a:ext>
            </a:extLst>
          </p:cNvPr>
          <p:cNvSpPr txBox="1"/>
          <p:nvPr/>
        </p:nvSpPr>
        <p:spPr>
          <a:xfrm>
            <a:off x="426876" y="1023648"/>
            <a:ext cx="6097554" cy="400110"/>
          </a:xfrm>
          <a:prstGeom prst="rect">
            <a:avLst/>
          </a:prstGeom>
          <a:noFill/>
        </p:spPr>
        <p:txBody>
          <a:bodyPr wrap="square">
            <a:spAutoFit/>
          </a:bodyPr>
          <a:lstStyle/>
          <a:p>
            <a:pPr algn="just"/>
            <a:r>
              <a:rPr lang="en-IN" sz="2000" b="1" i="0" dirty="0">
                <a:solidFill>
                  <a:srgbClr val="393939"/>
                </a:solidFill>
                <a:effectLst/>
                <a:latin typeface="Times New Roman" panose="02020603050405020304" pitchFamily="18" charset="0"/>
                <a:cs typeface="Times New Roman" panose="02020603050405020304" pitchFamily="18" charset="0"/>
              </a:rPr>
              <a:t>1) Scalability</a:t>
            </a:r>
          </a:p>
        </p:txBody>
      </p:sp>
      <p:sp>
        <p:nvSpPr>
          <p:cNvPr id="17" name="TextBox 16">
            <a:extLst>
              <a:ext uri="{FF2B5EF4-FFF2-40B4-BE49-F238E27FC236}">
                <a16:creationId xmlns:a16="http://schemas.microsoft.com/office/drawing/2014/main" id="{6051C9CC-1D9D-C2D4-5505-AB75877DCFA7}"/>
              </a:ext>
            </a:extLst>
          </p:cNvPr>
          <p:cNvSpPr txBox="1"/>
          <p:nvPr/>
        </p:nvSpPr>
        <p:spPr>
          <a:xfrm>
            <a:off x="426876" y="1392980"/>
            <a:ext cx="11059108" cy="923330"/>
          </a:xfrm>
          <a:prstGeom prst="rect">
            <a:avLst/>
          </a:prstGeom>
          <a:noFill/>
        </p:spPr>
        <p:txBody>
          <a:bodyPr wrap="square">
            <a:sp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Blockchain is capable of handling fewer transactions per second. It causes delays in finalizing the massive volume of transactions resulting in poor scalability. However, several methods have been proposed to overcome this shortcoming, but none has been implemented till now. </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45A04826-F7D4-5303-D811-A9FD73259103}"/>
              </a:ext>
            </a:extLst>
          </p:cNvPr>
          <p:cNvSpPr txBox="1"/>
          <p:nvPr/>
        </p:nvSpPr>
        <p:spPr>
          <a:xfrm>
            <a:off x="426876" y="2597030"/>
            <a:ext cx="11339026" cy="2031325"/>
          </a:xfrm>
          <a:prstGeom prst="rect">
            <a:avLst/>
          </a:prstGeom>
          <a:noFill/>
        </p:spPr>
        <p:txBody>
          <a:bodyPr wrap="square">
            <a:spAutoFit/>
          </a:bodyPr>
          <a:lstStyle/>
          <a:p>
            <a:pPr algn="just"/>
            <a:r>
              <a:rPr lang="en-US" b="1" i="0" dirty="0">
                <a:solidFill>
                  <a:srgbClr val="393939"/>
                </a:solidFill>
                <a:effectLst/>
                <a:latin typeface="Times New Roman" panose="02020603050405020304" pitchFamily="18" charset="0"/>
                <a:cs typeface="Times New Roman" panose="02020603050405020304" pitchFamily="18" charset="0"/>
              </a:rPr>
              <a:t>2) Security</a:t>
            </a:r>
          </a:p>
          <a:p>
            <a:pPr algn="just"/>
            <a:r>
              <a:rPr lang="en-US" b="0" dirty="0">
                <a:solidFill>
                  <a:srgbClr val="000000"/>
                </a:solidFill>
                <a:effectLst/>
                <a:latin typeface="Times New Roman" panose="02020603050405020304" pitchFamily="18" charset="0"/>
                <a:cs typeface="Times New Roman" panose="02020603050405020304" pitchFamily="18" charset="0"/>
              </a:rPr>
              <a:t>Blockchain is publicly accessible as a distributed ledger. It may attract any unknown visitor monitoring your wallet. Though there are several provisions to add privacy and encryption layers to enable your preferred privacy, all are not commonplace yet. </a:t>
            </a:r>
          </a:p>
          <a:p>
            <a:pPr algn="just"/>
            <a:r>
              <a:rPr lang="en-US" b="0" dirty="0">
                <a:solidFill>
                  <a:srgbClr val="000000"/>
                </a:solidFill>
                <a:effectLst/>
                <a:latin typeface="Times New Roman" panose="02020603050405020304" pitchFamily="18" charset="0"/>
                <a:cs typeface="Times New Roman" panose="02020603050405020304" pitchFamily="18" charset="0"/>
              </a:rPr>
              <a:t>Moreover, much of your data is linked directly to your digital identity, so it could potentially expose parts of your private life that you wouldn’t necessarily want online. Security concerns often lead people to trust third-party solutions (</a:t>
            </a:r>
            <a:r>
              <a:rPr lang="en-US" b="1" dirty="0">
                <a:solidFill>
                  <a:srgbClr val="000000"/>
                </a:solidFill>
                <a:effectLst/>
                <a:latin typeface="Times New Roman" panose="02020603050405020304" pitchFamily="18" charset="0"/>
                <a:cs typeface="Times New Roman" panose="02020603050405020304" pitchFamily="18" charset="0"/>
              </a:rPr>
              <a:t>like exchanges</a:t>
            </a:r>
            <a:r>
              <a:rPr lang="en-US" b="0" dirty="0">
                <a:solidFill>
                  <a:srgbClr val="000000"/>
                </a:solidFill>
                <a:effectLst/>
                <a:latin typeface="Times New Roman" panose="02020603050405020304" pitchFamily="18" charset="0"/>
                <a:cs typeface="Times New Roman" panose="02020603050405020304" pitchFamily="18" charset="0"/>
              </a:rPr>
              <a:t>) over direct blockchain transactions, relinquishing control over personal assets.</a:t>
            </a:r>
          </a:p>
        </p:txBody>
      </p:sp>
      <p:sp>
        <p:nvSpPr>
          <p:cNvPr id="21" name="TextBox 20">
            <a:extLst>
              <a:ext uri="{FF2B5EF4-FFF2-40B4-BE49-F238E27FC236}">
                <a16:creationId xmlns:a16="http://schemas.microsoft.com/office/drawing/2014/main" id="{2DF43F0C-73F7-BAE1-72D6-CB4424ED8D97}"/>
              </a:ext>
            </a:extLst>
          </p:cNvPr>
          <p:cNvSpPr txBox="1"/>
          <p:nvPr/>
        </p:nvSpPr>
        <p:spPr>
          <a:xfrm>
            <a:off x="443205" y="4745504"/>
            <a:ext cx="11339025" cy="1569660"/>
          </a:xfrm>
          <a:prstGeom prst="rect">
            <a:avLst/>
          </a:prstGeom>
          <a:noFill/>
        </p:spPr>
        <p:txBody>
          <a:bodyPr wrap="square">
            <a:spAutoFit/>
          </a:bodyPr>
          <a:lstStyle/>
          <a:p>
            <a:pPr algn="just"/>
            <a:r>
              <a:rPr lang="en-US" sz="2400" b="1" i="0" dirty="0">
                <a:solidFill>
                  <a:srgbClr val="393939"/>
                </a:solidFill>
                <a:effectLst/>
                <a:latin typeface="arial black" panose="020B0A04020102020204" pitchFamily="34" charset="0"/>
                <a:cs typeface="Assistant" pitchFamily="2" charset="-79"/>
              </a:rPr>
              <a:t>3</a:t>
            </a:r>
            <a:r>
              <a:rPr lang="en-US" sz="2400" b="1" i="0" dirty="0">
                <a:solidFill>
                  <a:srgbClr val="393939"/>
                </a:solidFill>
                <a:effectLst/>
                <a:latin typeface="Times New Roman" panose="02020603050405020304" pitchFamily="18" charset="0"/>
                <a:cs typeface="Times New Roman" panose="02020603050405020304" pitchFamily="18" charset="0"/>
              </a:rPr>
              <a:t>) Cost</a:t>
            </a:r>
          </a:p>
          <a:p>
            <a:pPr algn="just"/>
            <a:r>
              <a:rPr lang="en-US" b="0" dirty="0">
                <a:solidFill>
                  <a:srgbClr val="000000"/>
                </a:solidFill>
                <a:effectLst/>
                <a:latin typeface="Times New Roman" panose="02020603050405020304" pitchFamily="18" charset="0"/>
                <a:cs typeface="Times New Roman" panose="02020603050405020304" pitchFamily="18" charset="0"/>
              </a:rPr>
              <a:t>One of the biggest problems with blockchain technology is that it requires enormous energy. Because miners have to solve complicated math problems to get a payout, they need powerful rigs that consume tons of electricity.</a:t>
            </a:r>
          </a:p>
          <a:p>
            <a:pPr algn="just"/>
            <a:r>
              <a:rPr lang="en-US" b="0" dirty="0">
                <a:solidFill>
                  <a:srgbClr val="000000"/>
                </a:solidFill>
                <a:effectLst/>
                <a:latin typeface="Times New Roman" panose="02020603050405020304" pitchFamily="18" charset="0"/>
                <a:cs typeface="Times New Roman" panose="02020603050405020304" pitchFamily="18" charset="0"/>
              </a:rPr>
              <a:t>As a result, some blockchains are incredibly costly to run, especially for smaller businesses or individuals. You cannot make changes later; if you want your blockchain online, you must pay for it up front!</a:t>
            </a:r>
          </a:p>
        </p:txBody>
      </p:sp>
    </p:spTree>
    <p:extLst>
      <p:ext uri="{BB962C8B-B14F-4D97-AF65-F5344CB8AC3E}">
        <p14:creationId xmlns:p14="http://schemas.microsoft.com/office/powerpoint/2010/main" val="5648997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6A0958-B2A4-2290-2D27-B996C094358C}"/>
              </a:ext>
            </a:extLst>
          </p:cNvPr>
          <p:cNvSpPr txBox="1"/>
          <p:nvPr/>
        </p:nvSpPr>
        <p:spPr>
          <a:xfrm>
            <a:off x="398883" y="311346"/>
            <a:ext cx="11562961" cy="3323987"/>
          </a:xfrm>
          <a:prstGeom prst="rect">
            <a:avLst/>
          </a:prstGeom>
          <a:noFill/>
        </p:spPr>
        <p:txBody>
          <a:bodyPr wrap="square">
            <a:spAutoFit/>
          </a:bodyPr>
          <a:lstStyle/>
          <a:p>
            <a:pPr algn="just"/>
            <a:r>
              <a:rPr lang="en-US" sz="2400" b="1" i="0" dirty="0">
                <a:solidFill>
                  <a:srgbClr val="393939"/>
                </a:solidFill>
                <a:effectLst/>
                <a:latin typeface="Times New Roman" panose="02020603050405020304" pitchFamily="18" charset="0"/>
                <a:cs typeface="Times New Roman" panose="02020603050405020304" pitchFamily="18" charset="0"/>
              </a:rPr>
              <a:t>4) Competitiveness</a:t>
            </a:r>
          </a:p>
          <a:p>
            <a:pPr algn="just"/>
            <a:r>
              <a:rPr lang="en-US" b="0" dirty="0">
                <a:solidFill>
                  <a:srgbClr val="000000"/>
                </a:solidFill>
                <a:effectLst/>
                <a:latin typeface="Times New Roman" panose="02020603050405020304" pitchFamily="18" charset="0"/>
                <a:cs typeface="Times New Roman" panose="02020603050405020304" pitchFamily="18" charset="0"/>
              </a:rPr>
              <a:t>There is a lot of hype surrounding these industries trying to use blockchain. It leads to unnecessary competition between businesses as they opt for this technology and waste their time, money, and efforts even when it is useless for their business. Companies will have no alternative but to invest heavily to keep up with their competitors.</a:t>
            </a:r>
          </a:p>
          <a:p>
            <a:pPr algn="just"/>
            <a:endParaRPr lang="en-US" b="0" dirty="0">
              <a:solidFill>
                <a:srgbClr val="000000"/>
              </a:solidFill>
              <a:effectLst/>
              <a:latin typeface="Times New Roman" panose="02020603050405020304" pitchFamily="18" charset="0"/>
              <a:cs typeface="Times New Roman" panose="02020603050405020304" pitchFamily="18" charset="0"/>
            </a:endParaRPr>
          </a:p>
          <a:p>
            <a:pPr algn="just"/>
            <a:r>
              <a:rPr lang="en-US" sz="2400" b="1" i="0" dirty="0">
                <a:solidFill>
                  <a:srgbClr val="393939"/>
                </a:solidFill>
                <a:effectLst/>
                <a:latin typeface="Times New Roman" panose="02020603050405020304" pitchFamily="18" charset="0"/>
                <a:cs typeface="Times New Roman" panose="02020603050405020304" pitchFamily="18" charset="0"/>
              </a:rPr>
              <a:t>5) Speed</a:t>
            </a:r>
          </a:p>
          <a:p>
            <a:pPr algn="just"/>
            <a:r>
              <a:rPr lang="en-US" b="0" dirty="0">
                <a:solidFill>
                  <a:srgbClr val="000000"/>
                </a:solidFill>
                <a:effectLst/>
                <a:latin typeface="Times New Roman" panose="02020603050405020304" pitchFamily="18" charset="0"/>
                <a:cs typeface="Times New Roman" panose="02020603050405020304" pitchFamily="18" charset="0"/>
              </a:rPr>
              <a:t>The other significant con to blockchain technology is its speed. Unlike a centralized database, blockchains require miners—or people with high-end computers and dedicated software that solve computational puzzles in exchange for new crypto tokens.</a:t>
            </a:r>
          </a:p>
          <a:p>
            <a:pPr algn="just"/>
            <a:r>
              <a:rPr lang="en-US" b="0" dirty="0">
                <a:solidFill>
                  <a:srgbClr val="000000"/>
                </a:solidFill>
                <a:effectLst/>
                <a:latin typeface="Times New Roman" panose="02020603050405020304" pitchFamily="18" charset="0"/>
                <a:cs typeface="Times New Roman" panose="02020603050405020304" pitchFamily="18" charset="0"/>
              </a:rPr>
              <a:t>In simple terms, blockchain transactions take longer than traditional payment methods like cash or credit cards. This can be discouraging if you’re interested in using blockchain technology as a daily payment method.</a:t>
            </a:r>
          </a:p>
        </p:txBody>
      </p:sp>
    </p:spTree>
    <p:extLst>
      <p:ext uri="{BB962C8B-B14F-4D97-AF65-F5344CB8AC3E}">
        <p14:creationId xmlns:p14="http://schemas.microsoft.com/office/powerpoint/2010/main" val="2635599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26B6D6D-5142-B739-8577-8AF0BAAAE59C}"/>
              </a:ext>
            </a:extLst>
          </p:cNvPr>
          <p:cNvSpPr txBox="1"/>
          <p:nvPr/>
        </p:nvSpPr>
        <p:spPr>
          <a:xfrm>
            <a:off x="321816" y="103858"/>
            <a:ext cx="6094520" cy="646331"/>
          </a:xfrm>
          <a:prstGeom prst="rect">
            <a:avLst/>
          </a:prstGeom>
          <a:noFill/>
        </p:spPr>
        <p:txBody>
          <a:bodyPr wrap="square">
            <a:spAutoFit/>
          </a:bodyPr>
          <a:lstStyle/>
          <a:p>
            <a:pPr algn="l"/>
            <a:r>
              <a:rPr lang="en-IN" sz="3600" b="1" i="0" dirty="0">
                <a:solidFill>
                  <a:srgbClr val="2F3941"/>
                </a:solidFill>
                <a:effectLst/>
                <a:latin typeface="Times New Roman" panose="02020603050405020304" pitchFamily="18" charset="0"/>
                <a:cs typeface="Times New Roman" panose="02020603050405020304" pitchFamily="18" charset="0"/>
              </a:rPr>
              <a:t>public and private keys</a:t>
            </a:r>
          </a:p>
        </p:txBody>
      </p:sp>
      <p:sp>
        <p:nvSpPr>
          <p:cNvPr id="3" name="TextBox 2">
            <a:extLst>
              <a:ext uri="{FF2B5EF4-FFF2-40B4-BE49-F238E27FC236}">
                <a16:creationId xmlns:a16="http://schemas.microsoft.com/office/drawing/2014/main" id="{97D8F1A1-5003-1EF5-B5B2-4A38D5E9DA6A}"/>
              </a:ext>
            </a:extLst>
          </p:cNvPr>
          <p:cNvSpPr txBox="1"/>
          <p:nvPr/>
        </p:nvSpPr>
        <p:spPr>
          <a:xfrm>
            <a:off x="321816" y="1082153"/>
            <a:ext cx="11245788" cy="5632311"/>
          </a:xfrm>
          <a:prstGeom prst="rect">
            <a:avLst/>
          </a:prstGeom>
          <a:noFill/>
        </p:spPr>
        <p:txBody>
          <a:bodyPr wrap="square">
            <a:sp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Private keys and public keys are among the most commonly used terms in the domain of cryptography and</a:t>
            </a:r>
            <a:r>
              <a:rPr lang="en-US" b="1" i="0" u="none" strike="noStrike" dirty="0">
                <a:effectLst/>
                <a:latin typeface="Times New Roman" panose="02020603050405020304" pitchFamily="18" charset="0"/>
                <a:cs typeface="Times New Roman" panose="02020603050405020304" pitchFamily="18" charset="0"/>
                <a:hlinkClick r:id="rId2"/>
              </a:rPr>
              <a:t> blockchain development</a:t>
            </a:r>
            <a:r>
              <a:rPr lang="en-US" b="0" i="0" dirty="0">
                <a:solidFill>
                  <a:srgbClr val="000000"/>
                </a:solidFill>
                <a:effectLst/>
                <a:latin typeface="Times New Roman" panose="02020603050405020304" pitchFamily="18" charset="0"/>
                <a:cs typeface="Times New Roman" panose="02020603050405020304" pitchFamily="18" charset="0"/>
              </a:rPr>
              <a:t>. A method of facilitating communication between the sender and the receiver, cryptography involves two main mechanisms namely, </a:t>
            </a:r>
            <a:r>
              <a:rPr lang="en-US" b="1" i="0" u="none" strike="noStrike" dirty="0">
                <a:solidFill>
                  <a:srgbClr val="000000"/>
                </a:solidFill>
                <a:effectLst/>
                <a:latin typeface="Times New Roman" panose="02020603050405020304" pitchFamily="18" charset="0"/>
                <a:cs typeface="Times New Roman" panose="02020603050405020304" pitchFamily="18" charset="0"/>
                <a:hlinkClick r:id="rId3"/>
              </a:rPr>
              <a:t>encryption</a:t>
            </a:r>
            <a:r>
              <a:rPr lang="en-US" b="0" i="0" dirty="0">
                <a:solidFill>
                  <a:srgbClr val="000000"/>
                </a:solidFill>
                <a:effectLst/>
                <a:latin typeface="Times New Roman" panose="02020603050405020304" pitchFamily="18" charset="0"/>
                <a:cs typeface="Times New Roman" panose="02020603050405020304" pitchFamily="18" charset="0"/>
              </a:rPr>
              <a:t> and decryption using a unique key. This is where the roles of private and public keys come into the scenario.</a:t>
            </a:r>
          </a:p>
          <a:p>
            <a:pPr algn="just"/>
            <a:endParaRPr lang="en-US" b="1" i="0" dirty="0">
              <a:solidFill>
                <a:srgbClr val="2F3941"/>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i="0" dirty="0">
                <a:solidFill>
                  <a:srgbClr val="2F3941"/>
                </a:solidFill>
                <a:effectLst/>
                <a:latin typeface="Times New Roman" panose="02020603050405020304" pitchFamily="18" charset="0"/>
                <a:cs typeface="Times New Roman" panose="02020603050405020304" pitchFamily="18" charset="0"/>
              </a:rPr>
              <a:t>Public keys,</a:t>
            </a:r>
            <a:r>
              <a:rPr lang="en-US" b="0" i="0" dirty="0">
                <a:solidFill>
                  <a:srgbClr val="2F3941"/>
                </a:solidFill>
                <a:effectLst/>
                <a:latin typeface="Times New Roman" panose="02020603050405020304" pitchFamily="18" charset="0"/>
                <a:cs typeface="Times New Roman" panose="02020603050405020304" pitchFamily="18" charset="0"/>
              </a:rPr>
              <a:t> which are publicly known and essential for identification, and</a:t>
            </a:r>
          </a:p>
          <a:p>
            <a:pPr algn="just">
              <a:buFont typeface="Arial" panose="020B0604020202020204" pitchFamily="34" charset="0"/>
              <a:buChar char="•"/>
            </a:pPr>
            <a:r>
              <a:rPr lang="en-US" b="1" i="0" dirty="0">
                <a:solidFill>
                  <a:srgbClr val="2F3941"/>
                </a:solidFill>
                <a:effectLst/>
                <a:latin typeface="Times New Roman" panose="02020603050405020304" pitchFamily="18" charset="0"/>
                <a:cs typeface="Times New Roman" panose="02020603050405020304" pitchFamily="18" charset="0"/>
              </a:rPr>
              <a:t>Private keys</a:t>
            </a:r>
            <a:r>
              <a:rPr lang="en-US" b="0" i="0" dirty="0">
                <a:solidFill>
                  <a:srgbClr val="2F3941"/>
                </a:solidFill>
                <a:effectLst/>
                <a:latin typeface="Times New Roman" panose="02020603050405020304" pitchFamily="18" charset="0"/>
                <a:cs typeface="Times New Roman" panose="02020603050405020304" pitchFamily="18" charset="0"/>
              </a:rPr>
              <a:t>, which are kept secret and are used for authentication and encryption.</a:t>
            </a:r>
          </a:p>
          <a:p>
            <a:pPr algn="just"/>
            <a:endParaRPr lang="en-US" dirty="0">
              <a:solidFill>
                <a:srgbClr val="2F3941"/>
              </a:solidFill>
              <a:latin typeface="Times New Roman" panose="02020603050405020304" pitchFamily="18" charset="0"/>
              <a:cs typeface="Times New Roman" panose="02020603050405020304" pitchFamily="18" charset="0"/>
            </a:endParaRPr>
          </a:p>
          <a:p>
            <a:pPr algn="just" fontAlgn="base"/>
            <a:r>
              <a:rPr lang="en-US" b="1" i="0" dirty="0">
                <a:solidFill>
                  <a:srgbClr val="000000"/>
                </a:solidFill>
                <a:effectLst/>
                <a:latin typeface="Times New Roman" panose="02020603050405020304" pitchFamily="18" charset="0"/>
                <a:cs typeface="Times New Roman" panose="02020603050405020304" pitchFamily="18" charset="0"/>
              </a:rPr>
              <a:t>What is a Private Key?</a:t>
            </a:r>
            <a:r>
              <a:rPr lang="en-US" b="0" i="0" dirty="0">
                <a:solidFill>
                  <a:srgbClr val="000000"/>
                </a:solidFill>
                <a:effectLst/>
                <a:latin typeface="Times New Roman" panose="02020603050405020304" pitchFamily="18" charset="0"/>
                <a:cs typeface="Times New Roman" panose="02020603050405020304" pitchFamily="18" charset="0"/>
              </a:rPr>
              <a:t> </a:t>
            </a:r>
            <a:endParaRPr lang="en-US" b="1" i="0" dirty="0">
              <a:solidFill>
                <a:srgbClr val="000000"/>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Most commonly known as a secret key, a private key is an important element used in cryptography along with the relevant algorithm to encrypt and decrypt data. These keys are meant to be shared only between the user who generates them and the user with the authorization to decrypt the data. A private key is like a unique password, consisting of a series of letters and numbers.</a:t>
            </a: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Typically, a private key is generated randomly following a user-generated sequence of bits that cannot be easily traced or guessed. Since these are significantly longer, the length and complexity of private keys play a central role in determining how an outsider or potential attacker can access the data while trying to make a pair of keys that can work out until the right pair is identified and put into use.</a:t>
            </a: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These have an important role to play in mechanisms such as symmetric cryptography and asymmetric cryptography.</a:t>
            </a:r>
          </a:p>
          <a:p>
            <a:pPr algn="just"/>
            <a:endParaRPr lang="en-US" b="1" dirty="0">
              <a:solidFill>
                <a:srgbClr val="2F3941"/>
              </a:solidFill>
              <a:latin typeface="Times New Roman" panose="02020603050405020304" pitchFamily="18" charset="0"/>
              <a:cs typeface="Times New Roman" panose="02020603050405020304" pitchFamily="18" charset="0"/>
            </a:endParaRPr>
          </a:p>
          <a:p>
            <a:pPr algn="just"/>
            <a:endParaRPr lang="en-US" dirty="0">
              <a:solidFill>
                <a:srgbClr val="2F3941"/>
              </a:solidFill>
              <a:latin typeface="Inter"/>
            </a:endParaRPr>
          </a:p>
        </p:txBody>
      </p:sp>
    </p:spTree>
    <p:extLst>
      <p:ext uri="{BB962C8B-B14F-4D97-AF65-F5344CB8AC3E}">
        <p14:creationId xmlns:p14="http://schemas.microsoft.com/office/powerpoint/2010/main" val="4027431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E41BA2-3DB9-2317-AC56-6ED3B7FBFC2C}"/>
              </a:ext>
            </a:extLst>
          </p:cNvPr>
          <p:cNvSpPr txBox="1"/>
          <p:nvPr/>
        </p:nvSpPr>
        <p:spPr>
          <a:xfrm>
            <a:off x="117629" y="1190439"/>
            <a:ext cx="11725182" cy="1200329"/>
          </a:xfrm>
          <a:prstGeom prst="rect">
            <a:avLst/>
          </a:prstGeom>
          <a:noFill/>
        </p:spPr>
        <p:txBody>
          <a:bodyPr wrap="square">
            <a:spAutoFit/>
          </a:bodyPr>
          <a:lstStyle/>
          <a:p>
            <a:pPr algn="just" fontAlgn="base"/>
            <a:r>
              <a:rPr lang="en-US" b="0" i="0" dirty="0">
                <a:solidFill>
                  <a:srgbClr val="000000"/>
                </a:solidFill>
                <a:effectLst/>
                <a:latin typeface="Times New Roman" panose="02020603050405020304" pitchFamily="18" charset="0"/>
                <a:cs typeface="Times New Roman" panose="02020603050405020304" pitchFamily="18" charset="0"/>
              </a:rPr>
              <a:t>A private key plays a significant role in data encryption. It is like an extremely large number applied for cryptography that resembles the structure of a password. </a:t>
            </a: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However, the scope of functions that a private key serves goes much beyond that. The functions of a private key also depend on its applications. These are unique to applications such as online verification and digital signature </a:t>
            </a:r>
            <a:r>
              <a:rPr lang="en-US" b="0" i="0" dirty="0" err="1">
                <a:solidFill>
                  <a:srgbClr val="000000"/>
                </a:solidFill>
                <a:effectLst/>
                <a:latin typeface="Times New Roman" panose="02020603050405020304" pitchFamily="18" charset="0"/>
                <a:cs typeface="Times New Roman" panose="02020603050405020304" pitchFamily="18" charset="0"/>
              </a:rPr>
              <a:t>authorisation</a:t>
            </a:r>
            <a:endParaRPr lang="en-US" b="0" i="0" dirty="0">
              <a:solidFill>
                <a:srgbClr val="000000"/>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F22A64A-D728-5929-FC5B-7D365A9D2817}"/>
              </a:ext>
            </a:extLst>
          </p:cNvPr>
          <p:cNvSpPr txBox="1"/>
          <p:nvPr/>
        </p:nvSpPr>
        <p:spPr>
          <a:xfrm>
            <a:off x="206406" y="3264308"/>
            <a:ext cx="11725182" cy="2308324"/>
          </a:xfrm>
          <a:prstGeom prst="rect">
            <a:avLst/>
          </a:prstGeom>
          <a:noFill/>
        </p:spPr>
        <p:txBody>
          <a:bodyPr wrap="square">
            <a:spAutoFit/>
          </a:bodyPr>
          <a:lstStyle/>
          <a:p>
            <a:pPr fontAlgn="base"/>
            <a:r>
              <a:rPr lang="en-US" b="1" i="0" dirty="0">
                <a:solidFill>
                  <a:srgbClr val="000000"/>
                </a:solidFill>
                <a:effectLst/>
                <a:latin typeface="Times New Roman" panose="02020603050405020304" pitchFamily="18" charset="0"/>
                <a:cs typeface="Times New Roman" panose="02020603050405020304" pitchFamily="18" charset="0"/>
              </a:rPr>
              <a:t>Why are Private Keys Used for Encryption?</a:t>
            </a:r>
            <a:br>
              <a:rPr lang="en-US" b="1" i="0" dirty="0">
                <a:solidFill>
                  <a:srgbClr val="000000"/>
                </a:solidFill>
                <a:effectLst/>
                <a:latin typeface="Times New Roman" panose="02020603050405020304" pitchFamily="18" charset="0"/>
                <a:cs typeface="Times New Roman" panose="02020603050405020304" pitchFamily="18" charset="0"/>
              </a:rPr>
            </a:br>
            <a:br>
              <a:rPr lang="en-US" b="1" i="0" dirty="0">
                <a:solidFill>
                  <a:srgbClr val="000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Private keys offer several useful features over public keys. Due to this reason, it finds its application for encryption purposes. Here are a few reasons why:</a:t>
            </a:r>
          </a:p>
          <a:p>
            <a:pPr fontAlgn="base"/>
            <a:r>
              <a:rPr lang="en-US" b="1" i="0" dirty="0">
                <a:solidFill>
                  <a:srgbClr val="000000"/>
                </a:solidFill>
                <a:effectLst/>
                <a:latin typeface="Times New Roman" panose="02020603050405020304" pitchFamily="18" charset="0"/>
                <a:cs typeface="Times New Roman" panose="02020603050405020304" pitchFamily="18" charset="0"/>
              </a:rPr>
              <a:t>Better security</a:t>
            </a:r>
            <a:endParaRPr lang="en-US" b="0" i="0" dirty="0">
              <a:solidFill>
                <a:srgbClr val="000000"/>
              </a:solidFill>
              <a:effectLst/>
              <a:latin typeface="Times New Roman" panose="02020603050405020304" pitchFamily="18" charset="0"/>
              <a:cs typeface="Times New Roman" panose="02020603050405020304" pitchFamily="18" charset="0"/>
            </a:endParaRPr>
          </a:p>
          <a:p>
            <a:pPr fontAlgn="base"/>
            <a:r>
              <a:rPr lang="en-IN" b="1" i="0" dirty="0">
                <a:solidFill>
                  <a:srgbClr val="000000"/>
                </a:solidFill>
                <a:effectLst/>
                <a:latin typeface="Times New Roman" panose="02020603050405020304" pitchFamily="18" charset="0"/>
                <a:cs typeface="Times New Roman" panose="02020603050405020304" pitchFamily="18" charset="0"/>
              </a:rPr>
              <a:t>Faster and convenient</a:t>
            </a:r>
            <a:endParaRPr lang="en-IN" b="0" i="0" dirty="0">
              <a:solidFill>
                <a:srgbClr val="000000"/>
              </a:solidFill>
              <a:effectLst/>
              <a:latin typeface="Times New Roman" panose="02020603050405020304" pitchFamily="18" charset="0"/>
              <a:cs typeface="Times New Roman" panose="02020603050405020304" pitchFamily="18" charset="0"/>
            </a:endParaRPr>
          </a:p>
          <a:p>
            <a:pPr fontAlgn="base"/>
            <a:r>
              <a:rPr lang="en-IN" b="1" i="0" dirty="0">
                <a:solidFill>
                  <a:srgbClr val="000000"/>
                </a:solidFill>
                <a:effectLst/>
                <a:latin typeface="Times New Roman" panose="02020603050405020304" pitchFamily="18" charset="0"/>
                <a:cs typeface="Times New Roman" panose="02020603050405020304" pitchFamily="18" charset="0"/>
              </a:rPr>
              <a:t>Data transmission</a:t>
            </a:r>
            <a:endParaRPr lang="en-IN" b="0" i="0" dirty="0">
              <a:solidFill>
                <a:srgbClr val="000000"/>
              </a:solidFill>
              <a:effectLst/>
              <a:latin typeface="Times New Roman" panose="02020603050405020304" pitchFamily="18" charset="0"/>
              <a:cs typeface="Times New Roman" panose="02020603050405020304" pitchFamily="18" charset="0"/>
            </a:endParaRPr>
          </a:p>
          <a:p>
            <a:pPr fontAlgn="base"/>
            <a:endParaRPr lang="en-US" b="1"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5994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98D7AC-F42F-8403-4D94-43D9C84D496B}"/>
              </a:ext>
            </a:extLst>
          </p:cNvPr>
          <p:cNvSpPr txBox="1"/>
          <p:nvPr/>
        </p:nvSpPr>
        <p:spPr>
          <a:xfrm>
            <a:off x="188649" y="425089"/>
            <a:ext cx="11574263" cy="2585323"/>
          </a:xfrm>
          <a:prstGeom prst="rect">
            <a:avLst/>
          </a:prstGeom>
          <a:noFill/>
        </p:spPr>
        <p:txBody>
          <a:bodyPr wrap="square">
            <a:spAutoFit/>
          </a:bodyPr>
          <a:lstStyle/>
          <a:p>
            <a:pPr algn="just" fontAlgn="base"/>
            <a:r>
              <a:rPr lang="en-US" b="1" i="0" dirty="0">
                <a:solidFill>
                  <a:srgbClr val="000000"/>
                </a:solidFill>
                <a:effectLst/>
                <a:latin typeface="Times New Roman" panose="02020603050405020304" pitchFamily="18" charset="0"/>
                <a:cs typeface="Times New Roman" panose="02020603050405020304" pitchFamily="18" charset="0"/>
              </a:rPr>
              <a:t>What is a Public Key?</a:t>
            </a: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Similar to the concept of a private key, a public key is also a large numeric value commonly used to encrypt the data. A user can generate a public key through any software program. However, it is most commonly provided by a reliable authority responsible to make it available to the public through an easily accessible channel. If you wish to get yourself groomed on your blockchain basics, However, an important conceptual note here is that it is also used to encrypt a message or verify the authenticity of a digital signature. The mechanism applied here is quite different from that used in a private key where a single key is used between the sender and the receiver. Private keys are commonly used to decrypt messages that are generated using a public key to create digital signatures. However, a public key does not work as a single component. Rather, it functions as two distinct keys where one is used to encrypt the data and the other one is used for decryption. </a:t>
            </a:r>
          </a:p>
        </p:txBody>
      </p:sp>
      <p:sp>
        <p:nvSpPr>
          <p:cNvPr id="3" name="TextBox 2">
            <a:extLst>
              <a:ext uri="{FF2B5EF4-FFF2-40B4-BE49-F238E27FC236}">
                <a16:creationId xmlns:a16="http://schemas.microsoft.com/office/drawing/2014/main" id="{3E960085-137C-3A10-5799-AFE6291FD5E7}"/>
              </a:ext>
            </a:extLst>
          </p:cNvPr>
          <p:cNvSpPr txBox="1"/>
          <p:nvPr/>
        </p:nvSpPr>
        <p:spPr>
          <a:xfrm>
            <a:off x="188649" y="3663765"/>
            <a:ext cx="11574262" cy="1200329"/>
          </a:xfrm>
          <a:prstGeom prst="rect">
            <a:avLst/>
          </a:prstGeom>
          <a:noFill/>
        </p:spPr>
        <p:txBody>
          <a:bodyPr wrap="square">
            <a:spAutoFit/>
          </a:bodyPr>
          <a:lstStyle/>
          <a:p>
            <a:pPr algn="just" fontAlgn="base"/>
            <a:r>
              <a:rPr lang="en-US" b="1" i="0" dirty="0">
                <a:solidFill>
                  <a:srgbClr val="000000"/>
                </a:solidFill>
                <a:effectLst/>
                <a:latin typeface="Times New Roman" panose="02020603050405020304" pitchFamily="18" charset="0"/>
                <a:cs typeface="Times New Roman" panose="02020603050405020304" pitchFamily="18" charset="0"/>
              </a:rPr>
              <a:t>How Does it Work?</a:t>
            </a: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A public key uses an algorithm mechanism called asymmetric mechanism to perform its primary function. Through this mechanism, two different keys are used for encryption and decryption. One of these public keys is used to encrypt messages while the other private key decodes them.</a:t>
            </a:r>
          </a:p>
        </p:txBody>
      </p:sp>
    </p:spTree>
    <p:extLst>
      <p:ext uri="{BB962C8B-B14F-4D97-AF65-F5344CB8AC3E}">
        <p14:creationId xmlns:p14="http://schemas.microsoft.com/office/powerpoint/2010/main" val="1022174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EDF065-228A-9ABE-3037-CBD2B6685583}"/>
              </a:ext>
            </a:extLst>
          </p:cNvPr>
          <p:cNvSpPr txBox="1"/>
          <p:nvPr/>
        </p:nvSpPr>
        <p:spPr>
          <a:xfrm>
            <a:off x="197528" y="370149"/>
            <a:ext cx="11796204" cy="2862322"/>
          </a:xfrm>
          <a:prstGeom prst="rect">
            <a:avLst/>
          </a:prstGeom>
          <a:noFill/>
        </p:spPr>
        <p:txBody>
          <a:bodyPr wrap="square">
            <a:spAutoFit/>
          </a:bodyPr>
          <a:lstStyle/>
          <a:p>
            <a:pPr algn="just" fontAlgn="base"/>
            <a:r>
              <a:rPr lang="en-US" b="1" i="0" dirty="0">
                <a:solidFill>
                  <a:srgbClr val="000000"/>
                </a:solidFill>
                <a:effectLst/>
                <a:latin typeface="Times New Roman" panose="02020603050405020304" pitchFamily="18" charset="0"/>
                <a:cs typeface="Times New Roman" panose="02020603050405020304" pitchFamily="18" charset="0"/>
              </a:rPr>
              <a:t>Where are Private and Public Keys Used?</a:t>
            </a: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Since public and private keys have their functionalities and features, they are used for a variety of purposes. Here are the most common applications of public and private keys:</a:t>
            </a:r>
          </a:p>
          <a:p>
            <a:pPr algn="just" fontAlgn="base"/>
            <a:endParaRPr lang="en-US" dirty="0">
              <a:solidFill>
                <a:srgbClr val="000000"/>
              </a:solidFill>
              <a:latin typeface="Times New Roman" panose="02020603050405020304" pitchFamily="18" charset="0"/>
              <a:cs typeface="Times New Roman" panose="02020603050405020304" pitchFamily="18" charset="0"/>
            </a:endParaRPr>
          </a:p>
          <a:p>
            <a:pPr algn="just" fontAlgn="base"/>
            <a:r>
              <a:rPr lang="en-IN" b="1" i="0" dirty="0">
                <a:solidFill>
                  <a:srgbClr val="000000"/>
                </a:solidFill>
                <a:effectLst/>
                <a:latin typeface="Times New Roman" panose="02020603050405020304" pitchFamily="18" charset="0"/>
                <a:cs typeface="Times New Roman" panose="02020603050405020304" pitchFamily="18" charset="0"/>
              </a:rPr>
              <a:t>Verification of digital signatures</a:t>
            </a:r>
          </a:p>
          <a:p>
            <a:pPr algn="just" fontAlgn="base"/>
            <a:r>
              <a:rPr lang="en-US" b="1" i="0" dirty="0">
                <a:solidFill>
                  <a:srgbClr val="000000"/>
                </a:solidFill>
                <a:effectLst/>
                <a:latin typeface="Times New Roman" panose="02020603050405020304" pitchFamily="18" charset="0"/>
                <a:cs typeface="Times New Roman" panose="02020603050405020304" pitchFamily="18" charset="0"/>
              </a:rPr>
              <a:t>Facilitating safe and secure communication</a:t>
            </a:r>
          </a:p>
          <a:p>
            <a:pPr algn="just" fontAlgn="base"/>
            <a:r>
              <a:rPr lang="en-US" b="1" i="0" dirty="0">
                <a:solidFill>
                  <a:srgbClr val="000000"/>
                </a:solidFill>
                <a:effectLst/>
                <a:latin typeface="Times New Roman" panose="02020603050405020304" pitchFamily="18" charset="0"/>
                <a:cs typeface="Times New Roman" panose="02020603050405020304" pitchFamily="18" charset="0"/>
              </a:rPr>
              <a:t>Enabling password authentication key agreement</a:t>
            </a:r>
          </a:p>
          <a:p>
            <a:pPr algn="just" fontAlgn="base"/>
            <a:endParaRPr lang="en-US" b="0" i="0" dirty="0">
              <a:solidFill>
                <a:srgbClr val="000000"/>
              </a:solidFill>
              <a:effectLst/>
              <a:latin typeface="Times New Roman" panose="02020603050405020304" pitchFamily="18" charset="0"/>
              <a:cs typeface="Times New Roman" panose="02020603050405020304" pitchFamily="18" charset="0"/>
            </a:endParaRPr>
          </a:p>
          <a:p>
            <a:pPr algn="just"/>
            <a:br>
              <a:rPr lang="en-US" b="0" i="0" dirty="0">
                <a:solidFill>
                  <a:srgbClr val="000000"/>
                </a:solidFill>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9665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5423</TotalTime>
  <Words>6912</Words>
  <Application>Microsoft Office PowerPoint</Application>
  <PresentationFormat>Widescreen</PresentationFormat>
  <Paragraphs>286</Paragraphs>
  <Slides>58</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58</vt:i4>
      </vt:variant>
    </vt:vector>
  </HeadingPairs>
  <TitlesOfParts>
    <vt:vector size="71" baseType="lpstr">
      <vt:lpstr>Algerian</vt:lpstr>
      <vt:lpstr>Arial</vt:lpstr>
      <vt:lpstr>Arial</vt:lpstr>
      <vt:lpstr>arial black</vt:lpstr>
      <vt:lpstr>Assistant</vt:lpstr>
      <vt:lpstr>Calibri</vt:lpstr>
      <vt:lpstr>Calibri Light</vt:lpstr>
      <vt:lpstr>DINPro-Regular</vt:lpstr>
      <vt:lpstr>Inter</vt:lpstr>
      <vt:lpstr>Times New Roman</vt:lpstr>
      <vt:lpstr>urw-din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Blockchain</vt:lpstr>
      <vt:lpstr>What is Blockchain</vt:lpstr>
      <vt:lpstr>WHAT IS BLOCKCHAIN?</vt:lpstr>
      <vt:lpstr>LET’S FIRST TALK ABOUT BANKING</vt:lpstr>
      <vt:lpstr>LET’S FIRST TALK ABOUT BANKING-ISSUES</vt:lpstr>
      <vt:lpstr>LET’S FIRST TALK ABOUT BANKING-ISSUES</vt:lpstr>
      <vt:lpstr>HOW DO YOU TRANSACT?</vt:lpstr>
      <vt:lpstr>Bank Frauds</vt:lpstr>
      <vt:lpstr>PowerPoint Presentation</vt:lpstr>
      <vt:lpstr>PowerPoint Presentation</vt:lpstr>
      <vt:lpstr>PowerPoint Presentation</vt:lpstr>
      <vt:lpstr>Again, What is a Blockchain? –who invented?</vt:lpstr>
      <vt:lpstr>Again, What is a Blockchain?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Keerthi Shetty</dc:creator>
  <cp:lastModifiedBy>Raksha Puthran</cp:lastModifiedBy>
  <cp:revision>78</cp:revision>
  <dcterms:created xsi:type="dcterms:W3CDTF">2022-11-04T07:10:01Z</dcterms:created>
  <dcterms:modified xsi:type="dcterms:W3CDTF">2025-08-29T09:30:59Z</dcterms:modified>
</cp:coreProperties>
</file>