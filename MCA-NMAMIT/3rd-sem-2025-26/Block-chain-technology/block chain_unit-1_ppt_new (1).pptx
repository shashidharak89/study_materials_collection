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44" r:id="rId2"/>
    <p:sldId id="348" r:id="rId3"/>
    <p:sldId id="347" r:id="rId4"/>
    <p:sldId id="349" r:id="rId5"/>
    <p:sldId id="346" r:id="rId6"/>
    <p:sldId id="350" r:id="rId7"/>
    <p:sldId id="256" r:id="rId8"/>
    <p:sldId id="279" r:id="rId9"/>
    <p:sldId id="351" r:id="rId10"/>
    <p:sldId id="284" r:id="rId11"/>
    <p:sldId id="285" r:id="rId12"/>
    <p:sldId id="352" r:id="rId13"/>
    <p:sldId id="286" r:id="rId14"/>
    <p:sldId id="257" r:id="rId15"/>
    <p:sldId id="283" r:id="rId16"/>
    <p:sldId id="258" r:id="rId17"/>
    <p:sldId id="260" r:id="rId18"/>
    <p:sldId id="259" r:id="rId19"/>
    <p:sldId id="261" r:id="rId20"/>
    <p:sldId id="262" r:id="rId21"/>
    <p:sldId id="264" r:id="rId22"/>
    <p:sldId id="287" r:id="rId23"/>
    <p:sldId id="288" r:id="rId24"/>
    <p:sldId id="289" r:id="rId25"/>
    <p:sldId id="290" r:id="rId26"/>
    <p:sldId id="291" r:id="rId27"/>
    <p:sldId id="292" r:id="rId28"/>
    <p:sldId id="293" r:id="rId29"/>
    <p:sldId id="294" r:id="rId30"/>
    <p:sldId id="295" r:id="rId31"/>
    <p:sldId id="298" r:id="rId32"/>
    <p:sldId id="299" r:id="rId33"/>
    <p:sldId id="300" r:id="rId34"/>
    <p:sldId id="301" r:id="rId35"/>
    <p:sldId id="263" r:id="rId36"/>
    <p:sldId id="265" r:id="rId37"/>
    <p:sldId id="266" r:id="rId38"/>
    <p:sldId id="267" r:id="rId39"/>
    <p:sldId id="268" r:id="rId40"/>
    <p:sldId id="269" r:id="rId41"/>
    <p:sldId id="270" r:id="rId42"/>
    <p:sldId id="271" r:id="rId43"/>
    <p:sldId id="272" r:id="rId44"/>
    <p:sldId id="273" r:id="rId45"/>
    <p:sldId id="274" r:id="rId46"/>
    <p:sldId id="275" r:id="rId47"/>
    <p:sldId id="276" r:id="rId48"/>
    <p:sldId id="277" r:id="rId49"/>
    <p:sldId id="306" r:id="rId50"/>
    <p:sldId id="307" r:id="rId51"/>
    <p:sldId id="296" r:id="rId52"/>
    <p:sldId id="297" r:id="rId53"/>
    <p:sldId id="302" r:id="rId54"/>
    <p:sldId id="340" r:id="rId55"/>
    <p:sldId id="303" r:id="rId56"/>
    <p:sldId id="341" r:id="rId57"/>
    <p:sldId id="304" r:id="rId58"/>
    <p:sldId id="342" r:id="rId59"/>
    <p:sldId id="305" r:id="rId60"/>
    <p:sldId id="308" r:id="rId61"/>
    <p:sldId id="309" r:id="rId62"/>
    <p:sldId id="310" r:id="rId63"/>
    <p:sldId id="311" r:id="rId64"/>
    <p:sldId id="312" r:id="rId65"/>
    <p:sldId id="313" r:id="rId66"/>
    <p:sldId id="314" r:id="rId67"/>
    <p:sldId id="316" r:id="rId68"/>
    <p:sldId id="315" r:id="rId69"/>
    <p:sldId id="317" r:id="rId70"/>
    <p:sldId id="318" r:id="rId71"/>
    <p:sldId id="319" r:id="rId72"/>
    <p:sldId id="320" r:id="rId73"/>
    <p:sldId id="321" r:id="rId74"/>
    <p:sldId id="322" r:id="rId75"/>
    <p:sldId id="323" r:id="rId76"/>
    <p:sldId id="324" r:id="rId77"/>
    <p:sldId id="325" r:id="rId78"/>
    <p:sldId id="326" r:id="rId79"/>
    <p:sldId id="327" r:id="rId80"/>
    <p:sldId id="328" r:id="rId81"/>
    <p:sldId id="329" r:id="rId82"/>
    <p:sldId id="331" r:id="rId83"/>
    <p:sldId id="332" r:id="rId84"/>
    <p:sldId id="333" r:id="rId85"/>
    <p:sldId id="337" r:id="rId86"/>
    <p:sldId id="338" r:id="rId87"/>
    <p:sldId id="339" r:id="rId88"/>
    <p:sldId id="343" r:id="rId89"/>
    <p:sldId id="330" r:id="rId9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2" d="100"/>
          <a:sy n="82" d="100"/>
        </p:scale>
        <p:origin x="691"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viewProps" Target="view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66035-A994-D46F-23D7-29DE0694786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FD85EF1-B308-57CB-974C-DD9DCBCB29C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7948858-9145-C9AB-E8FC-16DE9D33532B}"/>
              </a:ext>
            </a:extLst>
          </p:cNvPr>
          <p:cNvSpPr>
            <a:spLocks noGrp="1"/>
          </p:cNvSpPr>
          <p:nvPr>
            <p:ph type="dt" sz="half" idx="10"/>
          </p:nvPr>
        </p:nvSpPr>
        <p:spPr/>
        <p:txBody>
          <a:bodyPr/>
          <a:lstStyle/>
          <a:p>
            <a:fld id="{EBB9E659-DA4E-4D65-A287-A9C6F97ACF0A}" type="datetimeFigureOut">
              <a:rPr lang="en-IN" smtClean="0"/>
              <a:t>05-08-2025</a:t>
            </a:fld>
            <a:endParaRPr lang="en-IN"/>
          </a:p>
        </p:txBody>
      </p:sp>
      <p:sp>
        <p:nvSpPr>
          <p:cNvPr id="5" name="Footer Placeholder 4">
            <a:extLst>
              <a:ext uri="{FF2B5EF4-FFF2-40B4-BE49-F238E27FC236}">
                <a16:creationId xmlns:a16="http://schemas.microsoft.com/office/drawing/2014/main" id="{1D195121-BE4C-0A62-A91B-DFCA91DD7CA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F607C33-662A-4F14-D055-06BEAF9FB833}"/>
              </a:ext>
            </a:extLst>
          </p:cNvPr>
          <p:cNvSpPr>
            <a:spLocks noGrp="1"/>
          </p:cNvSpPr>
          <p:nvPr>
            <p:ph type="sldNum" sz="quarter" idx="12"/>
          </p:nvPr>
        </p:nvSpPr>
        <p:spPr/>
        <p:txBody>
          <a:bodyPr/>
          <a:lstStyle/>
          <a:p>
            <a:fld id="{AB60C930-5999-494F-8DEC-A146F4C52FD7}" type="slidenum">
              <a:rPr lang="en-IN" smtClean="0"/>
              <a:t>‹#›</a:t>
            </a:fld>
            <a:endParaRPr lang="en-IN"/>
          </a:p>
        </p:txBody>
      </p:sp>
    </p:spTree>
    <p:extLst>
      <p:ext uri="{BB962C8B-B14F-4D97-AF65-F5344CB8AC3E}">
        <p14:creationId xmlns:p14="http://schemas.microsoft.com/office/powerpoint/2010/main" val="36667409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4065FC-F35E-D667-08A3-80774D51BB2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60FCEE8-3C0E-92C5-8E98-E98A6DE5EC2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4691A61-795D-5134-D4CF-F87E170F37E0}"/>
              </a:ext>
            </a:extLst>
          </p:cNvPr>
          <p:cNvSpPr>
            <a:spLocks noGrp="1"/>
          </p:cNvSpPr>
          <p:nvPr>
            <p:ph type="dt" sz="half" idx="10"/>
          </p:nvPr>
        </p:nvSpPr>
        <p:spPr/>
        <p:txBody>
          <a:bodyPr/>
          <a:lstStyle/>
          <a:p>
            <a:fld id="{EBB9E659-DA4E-4D65-A287-A9C6F97ACF0A}" type="datetimeFigureOut">
              <a:rPr lang="en-IN" smtClean="0"/>
              <a:t>05-08-2025</a:t>
            </a:fld>
            <a:endParaRPr lang="en-IN"/>
          </a:p>
        </p:txBody>
      </p:sp>
      <p:sp>
        <p:nvSpPr>
          <p:cNvPr id="5" name="Footer Placeholder 4">
            <a:extLst>
              <a:ext uri="{FF2B5EF4-FFF2-40B4-BE49-F238E27FC236}">
                <a16:creationId xmlns:a16="http://schemas.microsoft.com/office/drawing/2014/main" id="{58724D21-6465-4287-FD96-3FB47EDA77D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16F5F3F-78CD-335C-0660-D9896480836D}"/>
              </a:ext>
            </a:extLst>
          </p:cNvPr>
          <p:cNvSpPr>
            <a:spLocks noGrp="1"/>
          </p:cNvSpPr>
          <p:nvPr>
            <p:ph type="sldNum" sz="quarter" idx="12"/>
          </p:nvPr>
        </p:nvSpPr>
        <p:spPr/>
        <p:txBody>
          <a:bodyPr/>
          <a:lstStyle/>
          <a:p>
            <a:fld id="{AB60C930-5999-494F-8DEC-A146F4C52FD7}" type="slidenum">
              <a:rPr lang="en-IN" smtClean="0"/>
              <a:t>‹#›</a:t>
            </a:fld>
            <a:endParaRPr lang="en-IN"/>
          </a:p>
        </p:txBody>
      </p:sp>
    </p:spTree>
    <p:extLst>
      <p:ext uri="{BB962C8B-B14F-4D97-AF65-F5344CB8AC3E}">
        <p14:creationId xmlns:p14="http://schemas.microsoft.com/office/powerpoint/2010/main" val="2999130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3007D-3E3C-52EF-3AC1-30D226E9A36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7B2E474-59A0-9678-4574-70672F16567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63CE306-890A-D845-E260-072AADCB8A14}"/>
              </a:ext>
            </a:extLst>
          </p:cNvPr>
          <p:cNvSpPr>
            <a:spLocks noGrp="1"/>
          </p:cNvSpPr>
          <p:nvPr>
            <p:ph type="dt" sz="half" idx="10"/>
          </p:nvPr>
        </p:nvSpPr>
        <p:spPr/>
        <p:txBody>
          <a:bodyPr/>
          <a:lstStyle/>
          <a:p>
            <a:fld id="{EBB9E659-DA4E-4D65-A287-A9C6F97ACF0A}" type="datetimeFigureOut">
              <a:rPr lang="en-IN" smtClean="0"/>
              <a:t>05-08-2025</a:t>
            </a:fld>
            <a:endParaRPr lang="en-IN"/>
          </a:p>
        </p:txBody>
      </p:sp>
      <p:sp>
        <p:nvSpPr>
          <p:cNvPr id="5" name="Footer Placeholder 4">
            <a:extLst>
              <a:ext uri="{FF2B5EF4-FFF2-40B4-BE49-F238E27FC236}">
                <a16:creationId xmlns:a16="http://schemas.microsoft.com/office/drawing/2014/main" id="{D5C9788E-3739-C00E-9CB5-D97461CE528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5EFE1F8-18FB-7F6C-6B55-D7AD9BB8A56F}"/>
              </a:ext>
            </a:extLst>
          </p:cNvPr>
          <p:cNvSpPr>
            <a:spLocks noGrp="1"/>
          </p:cNvSpPr>
          <p:nvPr>
            <p:ph type="sldNum" sz="quarter" idx="12"/>
          </p:nvPr>
        </p:nvSpPr>
        <p:spPr/>
        <p:txBody>
          <a:bodyPr/>
          <a:lstStyle/>
          <a:p>
            <a:fld id="{AB60C930-5999-494F-8DEC-A146F4C52FD7}" type="slidenum">
              <a:rPr lang="en-IN" smtClean="0"/>
              <a:t>‹#›</a:t>
            </a:fld>
            <a:endParaRPr lang="en-IN"/>
          </a:p>
        </p:txBody>
      </p:sp>
    </p:spTree>
    <p:extLst>
      <p:ext uri="{BB962C8B-B14F-4D97-AF65-F5344CB8AC3E}">
        <p14:creationId xmlns:p14="http://schemas.microsoft.com/office/powerpoint/2010/main" val="4358566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FB8E6-B1E4-6B84-C313-EE305E327E6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7B6F715-0D6A-E77B-880E-14871938D87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A18D4DC-1399-7942-33B8-1B3C3D8AABE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F2B5F74-B9A9-7489-03A6-C64AAA59FC79}"/>
              </a:ext>
            </a:extLst>
          </p:cNvPr>
          <p:cNvSpPr>
            <a:spLocks noGrp="1"/>
          </p:cNvSpPr>
          <p:nvPr>
            <p:ph type="dt" sz="half" idx="10"/>
          </p:nvPr>
        </p:nvSpPr>
        <p:spPr/>
        <p:txBody>
          <a:bodyPr/>
          <a:lstStyle/>
          <a:p>
            <a:fld id="{EBB9E659-DA4E-4D65-A287-A9C6F97ACF0A}" type="datetimeFigureOut">
              <a:rPr lang="en-IN" smtClean="0"/>
              <a:t>05-08-2025</a:t>
            </a:fld>
            <a:endParaRPr lang="en-IN"/>
          </a:p>
        </p:txBody>
      </p:sp>
      <p:sp>
        <p:nvSpPr>
          <p:cNvPr id="6" name="Footer Placeholder 5">
            <a:extLst>
              <a:ext uri="{FF2B5EF4-FFF2-40B4-BE49-F238E27FC236}">
                <a16:creationId xmlns:a16="http://schemas.microsoft.com/office/drawing/2014/main" id="{0EC83D3B-E839-DCBC-5858-DBDCDEC7B94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ECEF06F-7CEB-49BA-87EC-EAA12FA92806}"/>
              </a:ext>
            </a:extLst>
          </p:cNvPr>
          <p:cNvSpPr>
            <a:spLocks noGrp="1"/>
          </p:cNvSpPr>
          <p:nvPr>
            <p:ph type="sldNum" sz="quarter" idx="12"/>
          </p:nvPr>
        </p:nvSpPr>
        <p:spPr/>
        <p:txBody>
          <a:bodyPr/>
          <a:lstStyle/>
          <a:p>
            <a:fld id="{AB60C930-5999-494F-8DEC-A146F4C52FD7}" type="slidenum">
              <a:rPr lang="en-IN" smtClean="0"/>
              <a:t>‹#›</a:t>
            </a:fld>
            <a:endParaRPr lang="en-IN"/>
          </a:p>
        </p:txBody>
      </p:sp>
    </p:spTree>
    <p:extLst>
      <p:ext uri="{BB962C8B-B14F-4D97-AF65-F5344CB8AC3E}">
        <p14:creationId xmlns:p14="http://schemas.microsoft.com/office/powerpoint/2010/main" val="38024146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F58D3-1679-C783-40EE-A23FA197F58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9ADD7E1-E010-D2F4-41BE-05055B26393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FDE64E7-3150-BC47-C16B-313D1D63A7F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AA6C231-29DE-F162-EFD2-63339F8ED5E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29115EB-1191-BAFF-ED4E-834DD08E33A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DB2F221-74D5-B5DB-D088-55681EFA98A5}"/>
              </a:ext>
            </a:extLst>
          </p:cNvPr>
          <p:cNvSpPr>
            <a:spLocks noGrp="1"/>
          </p:cNvSpPr>
          <p:nvPr>
            <p:ph type="dt" sz="half" idx="10"/>
          </p:nvPr>
        </p:nvSpPr>
        <p:spPr/>
        <p:txBody>
          <a:bodyPr/>
          <a:lstStyle/>
          <a:p>
            <a:fld id="{EBB9E659-DA4E-4D65-A287-A9C6F97ACF0A}" type="datetimeFigureOut">
              <a:rPr lang="en-IN" smtClean="0"/>
              <a:t>05-08-2025</a:t>
            </a:fld>
            <a:endParaRPr lang="en-IN"/>
          </a:p>
        </p:txBody>
      </p:sp>
      <p:sp>
        <p:nvSpPr>
          <p:cNvPr id="8" name="Footer Placeholder 7">
            <a:extLst>
              <a:ext uri="{FF2B5EF4-FFF2-40B4-BE49-F238E27FC236}">
                <a16:creationId xmlns:a16="http://schemas.microsoft.com/office/drawing/2014/main" id="{BEBE0CFB-D331-432D-8EE1-CC073EEB341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E7E6120-B3A1-7506-CEC6-D76E431607FA}"/>
              </a:ext>
            </a:extLst>
          </p:cNvPr>
          <p:cNvSpPr>
            <a:spLocks noGrp="1"/>
          </p:cNvSpPr>
          <p:nvPr>
            <p:ph type="sldNum" sz="quarter" idx="12"/>
          </p:nvPr>
        </p:nvSpPr>
        <p:spPr/>
        <p:txBody>
          <a:bodyPr/>
          <a:lstStyle/>
          <a:p>
            <a:fld id="{AB60C930-5999-494F-8DEC-A146F4C52FD7}" type="slidenum">
              <a:rPr lang="en-IN" smtClean="0"/>
              <a:t>‹#›</a:t>
            </a:fld>
            <a:endParaRPr lang="en-IN"/>
          </a:p>
        </p:txBody>
      </p:sp>
    </p:spTree>
    <p:extLst>
      <p:ext uri="{BB962C8B-B14F-4D97-AF65-F5344CB8AC3E}">
        <p14:creationId xmlns:p14="http://schemas.microsoft.com/office/powerpoint/2010/main" val="327772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EF9A5-4BEA-6BEE-831A-2DB053F3D28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D35B7F3-2F4A-2871-DBE2-7DB1EF921FA8}"/>
              </a:ext>
            </a:extLst>
          </p:cNvPr>
          <p:cNvSpPr>
            <a:spLocks noGrp="1"/>
          </p:cNvSpPr>
          <p:nvPr>
            <p:ph type="dt" sz="half" idx="10"/>
          </p:nvPr>
        </p:nvSpPr>
        <p:spPr/>
        <p:txBody>
          <a:bodyPr/>
          <a:lstStyle/>
          <a:p>
            <a:fld id="{EBB9E659-DA4E-4D65-A287-A9C6F97ACF0A}" type="datetimeFigureOut">
              <a:rPr lang="en-IN" smtClean="0"/>
              <a:t>05-08-2025</a:t>
            </a:fld>
            <a:endParaRPr lang="en-IN"/>
          </a:p>
        </p:txBody>
      </p:sp>
      <p:sp>
        <p:nvSpPr>
          <p:cNvPr id="4" name="Footer Placeholder 3">
            <a:extLst>
              <a:ext uri="{FF2B5EF4-FFF2-40B4-BE49-F238E27FC236}">
                <a16:creationId xmlns:a16="http://schemas.microsoft.com/office/drawing/2014/main" id="{033A8451-861B-5EAD-C5DB-14D3ADD2341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11EFC14-F836-E2EF-CBF6-149BD83DDDC8}"/>
              </a:ext>
            </a:extLst>
          </p:cNvPr>
          <p:cNvSpPr>
            <a:spLocks noGrp="1"/>
          </p:cNvSpPr>
          <p:nvPr>
            <p:ph type="sldNum" sz="quarter" idx="12"/>
          </p:nvPr>
        </p:nvSpPr>
        <p:spPr/>
        <p:txBody>
          <a:bodyPr/>
          <a:lstStyle/>
          <a:p>
            <a:fld id="{AB60C930-5999-494F-8DEC-A146F4C52FD7}" type="slidenum">
              <a:rPr lang="en-IN" smtClean="0"/>
              <a:t>‹#›</a:t>
            </a:fld>
            <a:endParaRPr lang="en-IN"/>
          </a:p>
        </p:txBody>
      </p:sp>
    </p:spTree>
    <p:extLst>
      <p:ext uri="{BB962C8B-B14F-4D97-AF65-F5344CB8AC3E}">
        <p14:creationId xmlns:p14="http://schemas.microsoft.com/office/powerpoint/2010/main" val="12991768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99F080-FD81-B3AD-5108-8C961B66CBA6}"/>
              </a:ext>
            </a:extLst>
          </p:cNvPr>
          <p:cNvSpPr>
            <a:spLocks noGrp="1"/>
          </p:cNvSpPr>
          <p:nvPr>
            <p:ph type="dt" sz="half" idx="10"/>
          </p:nvPr>
        </p:nvSpPr>
        <p:spPr/>
        <p:txBody>
          <a:bodyPr/>
          <a:lstStyle/>
          <a:p>
            <a:fld id="{EBB9E659-DA4E-4D65-A287-A9C6F97ACF0A}" type="datetimeFigureOut">
              <a:rPr lang="en-IN" smtClean="0"/>
              <a:t>05-08-2025</a:t>
            </a:fld>
            <a:endParaRPr lang="en-IN"/>
          </a:p>
        </p:txBody>
      </p:sp>
      <p:sp>
        <p:nvSpPr>
          <p:cNvPr id="3" name="Footer Placeholder 2">
            <a:extLst>
              <a:ext uri="{FF2B5EF4-FFF2-40B4-BE49-F238E27FC236}">
                <a16:creationId xmlns:a16="http://schemas.microsoft.com/office/drawing/2014/main" id="{B6207EBC-E9F9-B851-83CD-2AAB895337B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5C1DC65-4702-2AD4-1FB8-6DCA9238EC7D}"/>
              </a:ext>
            </a:extLst>
          </p:cNvPr>
          <p:cNvSpPr>
            <a:spLocks noGrp="1"/>
          </p:cNvSpPr>
          <p:nvPr>
            <p:ph type="sldNum" sz="quarter" idx="12"/>
          </p:nvPr>
        </p:nvSpPr>
        <p:spPr/>
        <p:txBody>
          <a:bodyPr/>
          <a:lstStyle/>
          <a:p>
            <a:fld id="{AB60C930-5999-494F-8DEC-A146F4C52FD7}" type="slidenum">
              <a:rPr lang="en-IN" smtClean="0"/>
              <a:t>‹#›</a:t>
            </a:fld>
            <a:endParaRPr lang="en-IN"/>
          </a:p>
        </p:txBody>
      </p:sp>
    </p:spTree>
    <p:extLst>
      <p:ext uri="{BB962C8B-B14F-4D97-AF65-F5344CB8AC3E}">
        <p14:creationId xmlns:p14="http://schemas.microsoft.com/office/powerpoint/2010/main" val="38495217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E26546-D02C-8063-D899-7B08B80BF51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144721C-914A-B80B-D262-718EFF4CC2D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99926A5-4ACE-857F-02B2-F268DC1A41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0031BBD-3CBC-587E-A680-E2E7C94A9C21}"/>
              </a:ext>
            </a:extLst>
          </p:cNvPr>
          <p:cNvSpPr>
            <a:spLocks noGrp="1"/>
          </p:cNvSpPr>
          <p:nvPr>
            <p:ph type="dt" sz="half" idx="10"/>
          </p:nvPr>
        </p:nvSpPr>
        <p:spPr/>
        <p:txBody>
          <a:bodyPr/>
          <a:lstStyle/>
          <a:p>
            <a:fld id="{EBB9E659-DA4E-4D65-A287-A9C6F97ACF0A}" type="datetimeFigureOut">
              <a:rPr lang="en-IN" smtClean="0"/>
              <a:t>05-08-2025</a:t>
            </a:fld>
            <a:endParaRPr lang="en-IN"/>
          </a:p>
        </p:txBody>
      </p:sp>
      <p:sp>
        <p:nvSpPr>
          <p:cNvPr id="6" name="Footer Placeholder 5">
            <a:extLst>
              <a:ext uri="{FF2B5EF4-FFF2-40B4-BE49-F238E27FC236}">
                <a16:creationId xmlns:a16="http://schemas.microsoft.com/office/drawing/2014/main" id="{1D1783BC-17AE-886E-EDC7-F112738A0C4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405F201-B9A8-90A9-BA02-BF8C6104F2C2}"/>
              </a:ext>
            </a:extLst>
          </p:cNvPr>
          <p:cNvSpPr>
            <a:spLocks noGrp="1"/>
          </p:cNvSpPr>
          <p:nvPr>
            <p:ph type="sldNum" sz="quarter" idx="12"/>
          </p:nvPr>
        </p:nvSpPr>
        <p:spPr/>
        <p:txBody>
          <a:bodyPr/>
          <a:lstStyle/>
          <a:p>
            <a:fld id="{AB60C930-5999-494F-8DEC-A146F4C52FD7}" type="slidenum">
              <a:rPr lang="en-IN" smtClean="0"/>
              <a:t>‹#›</a:t>
            </a:fld>
            <a:endParaRPr lang="en-IN"/>
          </a:p>
        </p:txBody>
      </p:sp>
    </p:spTree>
    <p:extLst>
      <p:ext uri="{BB962C8B-B14F-4D97-AF65-F5344CB8AC3E}">
        <p14:creationId xmlns:p14="http://schemas.microsoft.com/office/powerpoint/2010/main" val="17973705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9F0DDD-D5B0-80CD-DF01-BF2BA17F34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28D02B5-9BD8-F36C-C520-8B8BDDE5BFA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D105E07-0075-071E-3ABB-6C63693496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0BF9E1-838F-DB5C-4E59-4375DDF3BE7D}"/>
              </a:ext>
            </a:extLst>
          </p:cNvPr>
          <p:cNvSpPr>
            <a:spLocks noGrp="1"/>
          </p:cNvSpPr>
          <p:nvPr>
            <p:ph type="dt" sz="half" idx="10"/>
          </p:nvPr>
        </p:nvSpPr>
        <p:spPr/>
        <p:txBody>
          <a:bodyPr/>
          <a:lstStyle/>
          <a:p>
            <a:fld id="{EBB9E659-DA4E-4D65-A287-A9C6F97ACF0A}" type="datetimeFigureOut">
              <a:rPr lang="en-IN" smtClean="0"/>
              <a:t>05-08-2025</a:t>
            </a:fld>
            <a:endParaRPr lang="en-IN"/>
          </a:p>
        </p:txBody>
      </p:sp>
      <p:sp>
        <p:nvSpPr>
          <p:cNvPr id="6" name="Footer Placeholder 5">
            <a:extLst>
              <a:ext uri="{FF2B5EF4-FFF2-40B4-BE49-F238E27FC236}">
                <a16:creationId xmlns:a16="http://schemas.microsoft.com/office/drawing/2014/main" id="{BF74DC7B-61AB-6FBA-BF0E-58C3C7A1CD7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439AA09-83FE-8F53-ED3C-84145789D14E}"/>
              </a:ext>
            </a:extLst>
          </p:cNvPr>
          <p:cNvSpPr>
            <a:spLocks noGrp="1"/>
          </p:cNvSpPr>
          <p:nvPr>
            <p:ph type="sldNum" sz="quarter" idx="12"/>
          </p:nvPr>
        </p:nvSpPr>
        <p:spPr/>
        <p:txBody>
          <a:bodyPr/>
          <a:lstStyle/>
          <a:p>
            <a:fld id="{AB60C930-5999-494F-8DEC-A146F4C52FD7}" type="slidenum">
              <a:rPr lang="en-IN" smtClean="0"/>
              <a:t>‹#›</a:t>
            </a:fld>
            <a:endParaRPr lang="en-IN"/>
          </a:p>
        </p:txBody>
      </p:sp>
    </p:spTree>
    <p:extLst>
      <p:ext uri="{BB962C8B-B14F-4D97-AF65-F5344CB8AC3E}">
        <p14:creationId xmlns:p14="http://schemas.microsoft.com/office/powerpoint/2010/main" val="14723632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EC2DC4-BA4F-94EC-A80A-7B82E0E8A3D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77278FA-2236-F006-EF68-2172E6DC82A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0AA19A0-99BF-C955-3097-60E337412CFC}"/>
              </a:ext>
            </a:extLst>
          </p:cNvPr>
          <p:cNvSpPr>
            <a:spLocks noGrp="1"/>
          </p:cNvSpPr>
          <p:nvPr>
            <p:ph type="dt" sz="half" idx="10"/>
          </p:nvPr>
        </p:nvSpPr>
        <p:spPr/>
        <p:txBody>
          <a:bodyPr/>
          <a:lstStyle/>
          <a:p>
            <a:fld id="{EBB9E659-DA4E-4D65-A287-A9C6F97ACF0A}" type="datetimeFigureOut">
              <a:rPr lang="en-IN" smtClean="0"/>
              <a:t>05-08-2025</a:t>
            </a:fld>
            <a:endParaRPr lang="en-IN"/>
          </a:p>
        </p:txBody>
      </p:sp>
      <p:sp>
        <p:nvSpPr>
          <p:cNvPr id="5" name="Footer Placeholder 4">
            <a:extLst>
              <a:ext uri="{FF2B5EF4-FFF2-40B4-BE49-F238E27FC236}">
                <a16:creationId xmlns:a16="http://schemas.microsoft.com/office/drawing/2014/main" id="{AC73AA9F-518C-17AC-1B8E-C9C563A0185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645FCE9-C4D1-F6E5-F0F5-21BD15454115}"/>
              </a:ext>
            </a:extLst>
          </p:cNvPr>
          <p:cNvSpPr>
            <a:spLocks noGrp="1"/>
          </p:cNvSpPr>
          <p:nvPr>
            <p:ph type="sldNum" sz="quarter" idx="12"/>
          </p:nvPr>
        </p:nvSpPr>
        <p:spPr/>
        <p:txBody>
          <a:bodyPr/>
          <a:lstStyle/>
          <a:p>
            <a:fld id="{AB60C930-5999-494F-8DEC-A146F4C52FD7}" type="slidenum">
              <a:rPr lang="en-IN" smtClean="0"/>
              <a:t>‹#›</a:t>
            </a:fld>
            <a:endParaRPr lang="en-IN"/>
          </a:p>
        </p:txBody>
      </p:sp>
    </p:spTree>
    <p:extLst>
      <p:ext uri="{BB962C8B-B14F-4D97-AF65-F5344CB8AC3E}">
        <p14:creationId xmlns:p14="http://schemas.microsoft.com/office/powerpoint/2010/main" val="12538844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714DDF6-D4C8-60EA-99FF-02C679B0002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1586D67-6DA7-4FE1-9D65-C4EBE830390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F76ACE7-F444-A539-CCDB-65E25514E8A5}"/>
              </a:ext>
            </a:extLst>
          </p:cNvPr>
          <p:cNvSpPr>
            <a:spLocks noGrp="1"/>
          </p:cNvSpPr>
          <p:nvPr>
            <p:ph type="dt" sz="half" idx="10"/>
          </p:nvPr>
        </p:nvSpPr>
        <p:spPr/>
        <p:txBody>
          <a:bodyPr/>
          <a:lstStyle/>
          <a:p>
            <a:fld id="{EBB9E659-DA4E-4D65-A287-A9C6F97ACF0A}" type="datetimeFigureOut">
              <a:rPr lang="en-IN" smtClean="0"/>
              <a:t>05-08-2025</a:t>
            </a:fld>
            <a:endParaRPr lang="en-IN"/>
          </a:p>
        </p:txBody>
      </p:sp>
      <p:sp>
        <p:nvSpPr>
          <p:cNvPr id="5" name="Footer Placeholder 4">
            <a:extLst>
              <a:ext uri="{FF2B5EF4-FFF2-40B4-BE49-F238E27FC236}">
                <a16:creationId xmlns:a16="http://schemas.microsoft.com/office/drawing/2014/main" id="{0F35C462-8D28-052A-7B01-3BB4DBA044C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05CE193-D244-9B94-20FE-C4E25B6BABDD}"/>
              </a:ext>
            </a:extLst>
          </p:cNvPr>
          <p:cNvSpPr>
            <a:spLocks noGrp="1"/>
          </p:cNvSpPr>
          <p:nvPr>
            <p:ph type="sldNum" sz="quarter" idx="12"/>
          </p:nvPr>
        </p:nvSpPr>
        <p:spPr/>
        <p:txBody>
          <a:bodyPr/>
          <a:lstStyle/>
          <a:p>
            <a:fld id="{AB60C930-5999-494F-8DEC-A146F4C52FD7}" type="slidenum">
              <a:rPr lang="en-IN" smtClean="0"/>
              <a:t>‹#›</a:t>
            </a:fld>
            <a:endParaRPr lang="en-IN"/>
          </a:p>
        </p:txBody>
      </p:sp>
    </p:spTree>
    <p:extLst>
      <p:ext uri="{BB962C8B-B14F-4D97-AF65-F5344CB8AC3E}">
        <p14:creationId xmlns:p14="http://schemas.microsoft.com/office/powerpoint/2010/main" val="17902025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D921BE7-FE21-744E-548F-05D99135235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A5CC64C-593F-5110-B1ED-F592F37F55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92BEE3C-214E-48AD-89F9-4FC2548A181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BB9E659-DA4E-4D65-A287-A9C6F97ACF0A}" type="datetimeFigureOut">
              <a:rPr lang="en-IN" smtClean="0"/>
              <a:t>05-08-2025</a:t>
            </a:fld>
            <a:endParaRPr lang="en-IN"/>
          </a:p>
        </p:txBody>
      </p:sp>
      <p:sp>
        <p:nvSpPr>
          <p:cNvPr id="5" name="Footer Placeholder 4">
            <a:extLst>
              <a:ext uri="{FF2B5EF4-FFF2-40B4-BE49-F238E27FC236}">
                <a16:creationId xmlns:a16="http://schemas.microsoft.com/office/drawing/2014/main" id="{CEA872C0-EC75-8443-002A-6EE7F4107EB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13565ED-ECEC-72D4-3DCA-EFD509E9197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B60C930-5999-494F-8DEC-A146F4C52FD7}" type="slidenum">
              <a:rPr lang="en-IN" smtClean="0"/>
              <a:t>‹#›</a:t>
            </a:fld>
            <a:endParaRPr lang="en-IN"/>
          </a:p>
        </p:txBody>
      </p:sp>
    </p:spTree>
    <p:extLst>
      <p:ext uri="{BB962C8B-B14F-4D97-AF65-F5344CB8AC3E}">
        <p14:creationId xmlns:p14="http://schemas.microsoft.com/office/powerpoint/2010/main" val="37399660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hyperlink" Target="http://kernelmag.dailydot.com/issue-sections/staff-editorials/11336/how-much-electricity-bitcoin-use/" TargetMode="External"/><Relationship Id="rId2" Type="http://schemas.openxmlformats.org/officeDocument/2006/relationships/hyperlink" Target="http://motherboard.vice.com/read/bitcoin-could-consume-as-much-electricity-as-denmark-by-2020" TargetMode="Externa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hyperlink" Target="https://amchart.io/" TargetMode="Externa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hyperlink" Target="https://www.pixelcrayons.com/blog/list-of-top-7-blockchain-apps-for-android-users/" TargetMode="Externa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hyperlink" Target="https://www2.deloitte.com/us/en.html" TargetMode="Externa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5268A-BA0C-4E46-45F3-A733CFBEE6A6}"/>
              </a:ext>
            </a:extLst>
          </p:cNvPr>
          <p:cNvSpPr>
            <a:spLocks noGrp="1"/>
          </p:cNvSpPr>
          <p:nvPr>
            <p:ph type="ctrTitle"/>
          </p:nvPr>
        </p:nvSpPr>
        <p:spPr/>
        <p:txBody>
          <a:bodyPr/>
          <a:lstStyle/>
          <a:p>
            <a:r>
              <a:rPr lang="en-US" b="1" dirty="0"/>
              <a:t>Block chain Technology</a:t>
            </a:r>
            <a:endParaRPr lang="en-IN" b="1" dirty="0"/>
          </a:p>
        </p:txBody>
      </p:sp>
    </p:spTree>
    <p:extLst>
      <p:ext uri="{BB962C8B-B14F-4D97-AF65-F5344CB8AC3E}">
        <p14:creationId xmlns:p14="http://schemas.microsoft.com/office/powerpoint/2010/main" val="34177341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3417F3A-2894-BB89-71AD-0B06A727E2A2}"/>
              </a:ext>
            </a:extLst>
          </p:cNvPr>
          <p:cNvSpPr>
            <a:spLocks noGrp="1"/>
          </p:cNvSpPr>
          <p:nvPr>
            <p:ph idx="1"/>
          </p:nvPr>
        </p:nvSpPr>
        <p:spPr/>
        <p:txBody>
          <a:bodyPr/>
          <a:lstStyle/>
          <a:p>
            <a:r>
              <a:rPr lang="en-US" dirty="0"/>
              <a:t>Course Code: 22MCA343 </a:t>
            </a:r>
          </a:p>
          <a:p>
            <a:r>
              <a:rPr lang="en-US" dirty="0"/>
              <a:t>Teaching Hours/Week (L: T: P: S) 3:0:0:0 </a:t>
            </a:r>
          </a:p>
          <a:p>
            <a:r>
              <a:rPr lang="en-US" dirty="0"/>
              <a:t>Credits 03</a:t>
            </a:r>
          </a:p>
          <a:p>
            <a:r>
              <a:rPr lang="en-US" dirty="0"/>
              <a:t>Total Teaching Hours 40 </a:t>
            </a:r>
          </a:p>
          <a:p>
            <a:r>
              <a:rPr lang="en-US" dirty="0"/>
              <a:t>CIE + SEE Marks 50+50</a:t>
            </a:r>
            <a:endParaRPr lang="en-IN" dirty="0"/>
          </a:p>
        </p:txBody>
      </p:sp>
    </p:spTree>
    <p:extLst>
      <p:ext uri="{BB962C8B-B14F-4D97-AF65-F5344CB8AC3E}">
        <p14:creationId xmlns:p14="http://schemas.microsoft.com/office/powerpoint/2010/main" val="20689040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70BAF95-B857-F275-5900-C0493426347D}"/>
              </a:ext>
            </a:extLst>
          </p:cNvPr>
          <p:cNvSpPr>
            <a:spLocks noGrp="1"/>
          </p:cNvSpPr>
          <p:nvPr>
            <p:ph idx="1"/>
          </p:nvPr>
        </p:nvSpPr>
        <p:spPr>
          <a:xfrm>
            <a:off x="838200" y="365760"/>
            <a:ext cx="10515600" cy="5811203"/>
          </a:xfrm>
        </p:spPr>
        <p:txBody>
          <a:bodyPr>
            <a:noAutofit/>
          </a:bodyPr>
          <a:lstStyle/>
          <a:p>
            <a:pPr marL="0" marR="36576" indent="0" algn="ctr" rtl="0" eaLnBrk="1" fontAlgn="t" latinLnBrk="0" hangingPunct="1">
              <a:spcBef>
                <a:spcPts val="0"/>
              </a:spcBef>
              <a:spcAft>
                <a:spcPts val="0"/>
              </a:spcAft>
              <a:buNone/>
              <a:tabLst>
                <a:tab pos="2865755" algn="ctr"/>
                <a:tab pos="5731510" algn="r"/>
              </a:tabLst>
            </a:pPr>
            <a:r>
              <a:rPr lang="en-IN" b="1" i="0" u="none" strike="noStrike"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UNIT-I</a:t>
            </a:r>
            <a:endParaRPr lang="en-IN" b="0" i="0" u="none" strike="noStrike" dirty="0">
              <a:effectLst/>
              <a:latin typeface="Times New Roman" panose="02020603050405020304" pitchFamily="18" charset="0"/>
              <a:cs typeface="Times New Roman" panose="02020603050405020304" pitchFamily="18" charset="0"/>
            </a:endParaRPr>
          </a:p>
          <a:p>
            <a:pPr marL="0" marR="36576" indent="0" algn="just" rtl="0" eaLnBrk="1" fontAlgn="base" latinLnBrk="0" hangingPunct="1">
              <a:spcBef>
                <a:spcPts val="0"/>
              </a:spcBef>
              <a:spcAft>
                <a:spcPts val="0"/>
              </a:spcAft>
              <a:buNone/>
              <a:tabLst>
                <a:tab pos="2865755" algn="ctr"/>
                <a:tab pos="5731510" algn="r"/>
              </a:tabLst>
            </a:pPr>
            <a:r>
              <a:rPr lang="en-US" b="1" i="0" u="none" strike="noStrike"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Introduction</a:t>
            </a:r>
            <a:endParaRPr lang="en-IN" b="0" i="0" u="none" strike="noStrike" dirty="0">
              <a:effectLst/>
              <a:latin typeface="Times New Roman" panose="02020603050405020304" pitchFamily="18" charset="0"/>
              <a:cs typeface="Times New Roman" panose="02020603050405020304" pitchFamily="18" charset="0"/>
            </a:endParaRPr>
          </a:p>
          <a:p>
            <a:pPr marL="0" marR="36576" indent="0" algn="just" rtl="0" eaLnBrk="1" fontAlgn="b" latinLnBrk="0" hangingPunct="1">
              <a:spcBef>
                <a:spcPts val="0"/>
              </a:spcBef>
              <a:spcAft>
                <a:spcPts val="0"/>
              </a:spcAft>
              <a:buNone/>
              <a:tabLst>
                <a:tab pos="2865755" algn="ctr"/>
                <a:tab pos="5731510" algn="r"/>
              </a:tabLst>
            </a:pPr>
            <a:r>
              <a:rPr lang="en-IN" b="1" i="0" u="none" strike="noStrike"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08 Hours</a:t>
            </a:r>
            <a:endParaRPr lang="en-IN" b="0" i="0" u="none" strike="noStrike" dirty="0">
              <a:effectLst/>
              <a:latin typeface="Times New Roman" panose="02020603050405020304" pitchFamily="18" charset="0"/>
              <a:cs typeface="Times New Roman" panose="02020603050405020304" pitchFamily="18" charset="0"/>
            </a:endParaRPr>
          </a:p>
          <a:p>
            <a:pPr marL="0" marR="36576" indent="0" algn="just" rtl="0" eaLnBrk="1" fontAlgn="t" latinLnBrk="0" hangingPunct="1">
              <a:spcBef>
                <a:spcPts val="0"/>
              </a:spcBef>
              <a:spcAft>
                <a:spcPts val="0"/>
              </a:spcAft>
              <a:buNone/>
              <a:tabLst>
                <a:tab pos="2865755" algn="ctr"/>
                <a:tab pos="5731510" algn="r"/>
              </a:tabLst>
            </a:pPr>
            <a:r>
              <a:rPr lang="en-US" b="0" i="0" u="none" strike="noStrike"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Introduction to Blockchain- How Blockchain works- Blockchain vs Bitcoin- Practical applications- public and private key basics- pros and cons of Blockchain- Myths about Bitcoin.</a:t>
            </a:r>
          </a:p>
          <a:p>
            <a:pPr marL="0" marR="36576" indent="0" algn="just" rtl="0" eaLnBrk="1" fontAlgn="t" latinLnBrk="0" hangingPunct="1">
              <a:spcBef>
                <a:spcPts val="0"/>
              </a:spcBef>
              <a:spcAft>
                <a:spcPts val="0"/>
              </a:spcAft>
              <a:buNone/>
              <a:tabLst>
                <a:tab pos="2865755" algn="ctr"/>
                <a:tab pos="5731510" algn="r"/>
              </a:tabLst>
            </a:pPr>
            <a:endParaRPr lang="en-US" dirty="0">
              <a:solidFill>
                <a:srgbClr val="000000"/>
              </a:solidFill>
              <a:latin typeface="Times New Roman" panose="02020603050405020304" pitchFamily="18" charset="0"/>
              <a:cs typeface="Times New Roman" panose="02020603050405020304" pitchFamily="18" charset="0"/>
            </a:endParaRPr>
          </a:p>
          <a:p>
            <a:pPr marL="0" marR="36576" indent="0" algn="just" rtl="0" eaLnBrk="1" fontAlgn="t" latinLnBrk="0" hangingPunct="1">
              <a:spcBef>
                <a:spcPts val="0"/>
              </a:spcBef>
              <a:spcAft>
                <a:spcPts val="0"/>
              </a:spcAft>
              <a:buNone/>
              <a:tabLst>
                <a:tab pos="2865755" algn="ctr"/>
                <a:tab pos="5731510" algn="r"/>
              </a:tabLst>
            </a:pPr>
            <a:endParaRPr lang="en-IN" b="0" i="0" u="none" strike="noStrike" dirty="0">
              <a:effectLst/>
              <a:latin typeface="Times New Roman" panose="02020603050405020304" pitchFamily="18" charset="0"/>
              <a:cs typeface="Times New Roman" panose="02020603050405020304" pitchFamily="18" charset="0"/>
            </a:endParaRPr>
          </a:p>
          <a:p>
            <a:pPr marL="0" marR="36576" indent="0" algn="ctr" rtl="0" eaLnBrk="1" fontAlgn="t" latinLnBrk="0" hangingPunct="1">
              <a:spcBef>
                <a:spcPts val="0"/>
              </a:spcBef>
              <a:spcAft>
                <a:spcPts val="0"/>
              </a:spcAft>
              <a:buNone/>
              <a:tabLst>
                <a:tab pos="2865755" algn="ctr"/>
                <a:tab pos="5731510" algn="r"/>
              </a:tabLst>
            </a:pPr>
            <a:r>
              <a:rPr lang="en-IN" b="1" i="0" u="none" strike="noStrike"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UNIT-II</a:t>
            </a:r>
            <a:endParaRPr lang="en-IN" b="0" i="0" u="none" strike="noStrike" dirty="0">
              <a:effectLst/>
              <a:latin typeface="Times New Roman" panose="02020603050405020304" pitchFamily="18" charset="0"/>
              <a:cs typeface="Times New Roman" panose="02020603050405020304" pitchFamily="18" charset="0"/>
            </a:endParaRPr>
          </a:p>
          <a:p>
            <a:pPr marL="0" marR="36576" indent="0" algn="just" rtl="0" eaLnBrk="1" fontAlgn="t" latinLnBrk="0" hangingPunct="1">
              <a:spcBef>
                <a:spcPts val="0"/>
              </a:spcBef>
              <a:spcAft>
                <a:spcPts val="0"/>
              </a:spcAft>
              <a:buNone/>
              <a:tabLst>
                <a:tab pos="2865755" algn="ctr"/>
                <a:tab pos="5731510" algn="r"/>
              </a:tabLst>
            </a:pPr>
            <a:r>
              <a:rPr lang="en-US" b="1" i="0" u="none" strike="noStrike"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Blockchain Architecture</a:t>
            </a:r>
            <a:r>
              <a:rPr lang="en-IN" b="1" i="0" u="none" strike="noStrike"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b="0" i="0" u="none" strike="noStrike" dirty="0">
              <a:effectLst/>
              <a:latin typeface="Times New Roman" panose="02020603050405020304" pitchFamily="18" charset="0"/>
              <a:cs typeface="Times New Roman" panose="02020603050405020304" pitchFamily="18" charset="0"/>
            </a:endParaRPr>
          </a:p>
          <a:p>
            <a:pPr marL="0" marR="36576" indent="0" algn="just" rtl="0" eaLnBrk="1" fontAlgn="t" latinLnBrk="0" hangingPunct="1">
              <a:spcBef>
                <a:spcPts val="0"/>
              </a:spcBef>
              <a:spcAft>
                <a:spcPts val="0"/>
              </a:spcAft>
              <a:buNone/>
              <a:tabLst>
                <a:tab pos="2865755" algn="ctr"/>
                <a:tab pos="5731510" algn="r"/>
              </a:tabLst>
            </a:pPr>
            <a:r>
              <a:rPr lang="en-IN" b="1" i="0" u="none" strike="noStrike"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08 Hours</a:t>
            </a:r>
            <a:endParaRPr lang="en-IN" b="0" i="0" u="none" strike="noStrike" dirty="0">
              <a:effectLst/>
              <a:latin typeface="Times New Roman" panose="02020603050405020304" pitchFamily="18" charset="0"/>
              <a:cs typeface="Times New Roman" panose="02020603050405020304" pitchFamily="18" charset="0"/>
            </a:endParaRPr>
          </a:p>
          <a:p>
            <a:pPr marL="0" marR="36576" indent="0" algn="just" rtl="0" eaLnBrk="1" fontAlgn="t" latinLnBrk="0" hangingPunct="1">
              <a:spcBef>
                <a:spcPts val="0"/>
              </a:spcBef>
              <a:spcAft>
                <a:spcPts val="0"/>
              </a:spcAft>
              <a:buNone/>
              <a:tabLst>
                <a:tab pos="2865755" algn="ctr"/>
                <a:tab pos="5731510" algn="r"/>
              </a:tabLst>
            </a:pPr>
            <a:r>
              <a:rPr lang="en-US" b="0" i="0" u="none" strike="noStrike"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Blockchain Architecture- versions- variants- use cases- Life use cases of blockchain- Blockchain vs shared Database- Introduction to crypto currencies- Types- Applications.</a:t>
            </a:r>
          </a:p>
          <a:p>
            <a:pPr marL="0" marR="36576" indent="0" algn="just" rtl="0" eaLnBrk="1" fontAlgn="t" latinLnBrk="0" hangingPunct="1">
              <a:spcBef>
                <a:spcPts val="0"/>
              </a:spcBef>
              <a:spcAft>
                <a:spcPts val="0"/>
              </a:spcAft>
              <a:buNone/>
              <a:tabLst>
                <a:tab pos="2865755" algn="ctr"/>
                <a:tab pos="5731510" algn="r"/>
              </a:tabLst>
            </a:pPr>
            <a:endParaRPr lang="en-IN" b="0" i="0" u="none" strike="noStrike" dirty="0">
              <a:effectLst/>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38319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5493DF2-1276-9F30-C3A4-2C0AE3EA5FB7}"/>
              </a:ext>
            </a:extLst>
          </p:cNvPr>
          <p:cNvSpPr>
            <a:spLocks noGrp="1"/>
          </p:cNvSpPr>
          <p:nvPr>
            <p:ph idx="1"/>
          </p:nvPr>
        </p:nvSpPr>
        <p:spPr>
          <a:xfrm>
            <a:off x="838200" y="402336"/>
            <a:ext cx="10515600" cy="5774627"/>
          </a:xfrm>
        </p:spPr>
        <p:txBody>
          <a:bodyPr/>
          <a:lstStyle/>
          <a:p>
            <a:pPr marL="0" marR="36576" indent="0" algn="ctr" rtl="0" eaLnBrk="1" fontAlgn="t" latinLnBrk="0" hangingPunct="1">
              <a:spcBef>
                <a:spcPts val="0"/>
              </a:spcBef>
              <a:spcAft>
                <a:spcPts val="0"/>
              </a:spcAft>
              <a:buNone/>
              <a:tabLst>
                <a:tab pos="2865755" algn="ctr"/>
                <a:tab pos="5731510" algn="r"/>
              </a:tabLst>
            </a:pPr>
            <a:r>
              <a:rPr lang="en-IN" b="1" i="0" u="none" strike="noStrike"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UNIT-III</a:t>
            </a:r>
            <a:endParaRPr lang="en-IN" b="0" i="0" u="none" strike="noStrike" dirty="0">
              <a:effectLst/>
              <a:latin typeface="Times New Roman" panose="02020603050405020304" pitchFamily="18" charset="0"/>
              <a:cs typeface="Times New Roman" panose="02020603050405020304" pitchFamily="18" charset="0"/>
            </a:endParaRPr>
          </a:p>
          <a:p>
            <a:pPr marL="0" marR="36576" indent="0" algn="just" rtl="0" eaLnBrk="1" fontAlgn="t" latinLnBrk="0" hangingPunct="1">
              <a:spcBef>
                <a:spcPts val="0"/>
              </a:spcBef>
              <a:spcAft>
                <a:spcPts val="0"/>
              </a:spcAft>
              <a:buNone/>
              <a:tabLst>
                <a:tab pos="2865755" algn="ctr"/>
                <a:tab pos="5731510" algn="r"/>
              </a:tabLst>
            </a:pPr>
            <a:r>
              <a:rPr lang="en-US" b="1" i="0" u="none" strike="noStrike"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Double Spending</a:t>
            </a:r>
            <a:endParaRPr lang="en-IN" b="0" i="0" u="none" strike="noStrike" dirty="0">
              <a:effectLst/>
              <a:latin typeface="Times New Roman" panose="02020603050405020304" pitchFamily="18" charset="0"/>
              <a:cs typeface="Times New Roman" panose="02020603050405020304" pitchFamily="18" charset="0"/>
            </a:endParaRPr>
          </a:p>
          <a:p>
            <a:pPr marL="0" marR="36576" indent="0" algn="just" rtl="0" eaLnBrk="1" fontAlgn="t" latinLnBrk="0" hangingPunct="1">
              <a:spcBef>
                <a:spcPts val="0"/>
              </a:spcBef>
              <a:spcAft>
                <a:spcPts val="0"/>
              </a:spcAft>
              <a:buNone/>
              <a:tabLst>
                <a:tab pos="2865755" algn="ctr"/>
                <a:tab pos="5731510" algn="r"/>
              </a:tabLst>
            </a:pPr>
            <a:r>
              <a:rPr lang="en-IN" b="1" i="0" u="none" strike="noStrike"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08 Hours</a:t>
            </a:r>
            <a:endParaRPr lang="en-IN" b="0" i="0" u="none" strike="noStrike" dirty="0">
              <a:effectLst/>
              <a:latin typeface="Times New Roman" panose="02020603050405020304" pitchFamily="18" charset="0"/>
              <a:cs typeface="Times New Roman" panose="02020603050405020304" pitchFamily="18" charset="0"/>
            </a:endParaRPr>
          </a:p>
          <a:p>
            <a:pPr marL="0" marR="36576" indent="0" algn="just" rtl="0" eaLnBrk="1" fontAlgn="t" latinLnBrk="0" hangingPunct="1">
              <a:spcBef>
                <a:spcPts val="0"/>
              </a:spcBef>
              <a:spcAft>
                <a:spcPts val="0"/>
              </a:spcAft>
              <a:buNone/>
              <a:tabLst>
                <a:tab pos="2865755" algn="ctr"/>
                <a:tab pos="5731510" algn="r"/>
              </a:tabLst>
            </a:pPr>
            <a:r>
              <a:rPr lang="en-US" b="0" i="0" u="none" strike="noStrike"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Concept of Double Spending- Hashing- Mining- Proof of work. Introduction to Merkel tree- Privacy- payment verification- Resolving Conflicts- Creation of Blocks.</a:t>
            </a:r>
          </a:p>
          <a:p>
            <a:pPr marL="0" marR="36576" indent="0" algn="just" rtl="0" eaLnBrk="1" fontAlgn="t" latinLnBrk="0" hangingPunct="1">
              <a:spcBef>
                <a:spcPts val="0"/>
              </a:spcBef>
              <a:spcAft>
                <a:spcPts val="0"/>
              </a:spcAft>
              <a:buNone/>
              <a:tabLst>
                <a:tab pos="2865755" algn="ctr"/>
                <a:tab pos="5731510" algn="r"/>
              </a:tabLst>
            </a:pPr>
            <a:endParaRPr lang="en-US" dirty="0">
              <a:solidFill>
                <a:srgbClr val="000000"/>
              </a:solidFill>
              <a:latin typeface="Times New Roman" panose="02020603050405020304" pitchFamily="18" charset="0"/>
              <a:cs typeface="Times New Roman" panose="02020603050405020304" pitchFamily="18" charset="0"/>
            </a:endParaRPr>
          </a:p>
          <a:p>
            <a:pPr marL="0" marR="36576" indent="0" algn="just" rtl="0" eaLnBrk="1" fontAlgn="t" latinLnBrk="0" hangingPunct="1">
              <a:spcBef>
                <a:spcPts val="0"/>
              </a:spcBef>
              <a:spcAft>
                <a:spcPts val="0"/>
              </a:spcAft>
              <a:buNone/>
              <a:tabLst>
                <a:tab pos="2865755" algn="ctr"/>
                <a:tab pos="5731510" algn="r"/>
              </a:tabLst>
            </a:pPr>
            <a:endParaRPr lang="en-US" b="0" i="0" u="none" strike="noStrike" dirty="0">
              <a:solidFill>
                <a:srgbClr val="000000"/>
              </a:solidFill>
              <a:effectLst/>
              <a:latin typeface="Times New Roman" panose="02020603050405020304" pitchFamily="18" charset="0"/>
              <a:cs typeface="Times New Roman" panose="02020603050405020304" pitchFamily="18" charset="0"/>
            </a:endParaRPr>
          </a:p>
          <a:p>
            <a:pPr marL="0" marR="36576" indent="0" algn="ctr" rtl="0" eaLnBrk="1" fontAlgn="t" latinLnBrk="0" hangingPunct="1">
              <a:spcBef>
                <a:spcPts val="0"/>
              </a:spcBef>
              <a:spcAft>
                <a:spcPts val="0"/>
              </a:spcAft>
              <a:buNone/>
              <a:tabLst>
                <a:tab pos="2865755" algn="ctr"/>
                <a:tab pos="5731510" algn="r"/>
              </a:tabLst>
            </a:pPr>
            <a:r>
              <a:rPr lang="en-US" sz="2800" b="1" i="0" u="none" strike="noStrike"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UNIT – IV</a:t>
            </a:r>
            <a:endParaRPr lang="en-IN" sz="4000" b="0" i="0" u="none" strike="noStrike" dirty="0">
              <a:effectLst/>
              <a:latin typeface="Arial" panose="020B0604020202020204" pitchFamily="34" charset="0"/>
            </a:endParaRPr>
          </a:p>
          <a:p>
            <a:pPr marL="0" marR="36576" indent="0" algn="just" rtl="0" eaLnBrk="1" fontAlgn="t" latinLnBrk="0" hangingPunct="1">
              <a:spcBef>
                <a:spcPts val="0"/>
              </a:spcBef>
              <a:spcAft>
                <a:spcPts val="0"/>
              </a:spcAft>
              <a:buNone/>
              <a:tabLst>
                <a:tab pos="2865755" algn="ctr"/>
                <a:tab pos="5731510" algn="r"/>
              </a:tabLst>
            </a:pPr>
            <a:r>
              <a:rPr lang="en-US" sz="2800" b="1" i="0" u="none" strike="noStrike"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Introduction to Bitcoin</a:t>
            </a:r>
            <a:endParaRPr lang="en-IN" sz="4000" b="0" i="0" u="none" strike="noStrike" dirty="0">
              <a:effectLst/>
              <a:latin typeface="Arial" panose="020B0604020202020204" pitchFamily="34" charset="0"/>
            </a:endParaRPr>
          </a:p>
          <a:p>
            <a:pPr marL="0" marR="36576" indent="0" algn="just" rtl="0" eaLnBrk="1" fontAlgn="t" latinLnBrk="0" hangingPunct="1">
              <a:spcBef>
                <a:spcPts val="0"/>
              </a:spcBef>
              <a:spcAft>
                <a:spcPts val="0"/>
              </a:spcAft>
              <a:buNone/>
              <a:tabLst>
                <a:tab pos="2865755" algn="ctr"/>
                <a:tab pos="5731510" algn="r"/>
              </a:tabLst>
            </a:pPr>
            <a:r>
              <a:rPr lang="en-IN" sz="2800" b="1" i="0" u="none" strike="noStrike"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08 Hours</a:t>
            </a:r>
            <a:endParaRPr lang="en-IN" sz="4000" b="0" i="0" u="none" strike="noStrike" dirty="0">
              <a:effectLst/>
              <a:latin typeface="Arial" panose="020B0604020202020204" pitchFamily="34" charset="0"/>
            </a:endParaRPr>
          </a:p>
          <a:p>
            <a:pPr marL="0" marR="36576" indent="0" algn="just" rtl="0" eaLnBrk="1" fontAlgn="t" latinLnBrk="0" hangingPunct="1">
              <a:spcBef>
                <a:spcPts val="0"/>
              </a:spcBef>
              <a:spcAft>
                <a:spcPts val="0"/>
              </a:spcAft>
              <a:buNone/>
              <a:tabLst>
                <a:tab pos="2865755" algn="ctr"/>
                <a:tab pos="5731510" algn="r"/>
              </a:tabLst>
            </a:pPr>
            <a:r>
              <a:rPr lang="en-US" sz="2800" b="0" i="0" u="none" strike="noStrike"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Introduction to Bitcoin- key concepts of Bitcoin- Merits and De Merits Fork and </a:t>
            </a:r>
            <a:r>
              <a:rPr lang="en-US" sz="2800" b="0" i="0" u="none" strike="noStrike" kern="12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Segwits</a:t>
            </a:r>
            <a:r>
              <a:rPr lang="en-US" sz="2800" b="0" i="0" u="none" strike="noStrike"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Sending and Receiving bitcoins- choosing bitcoin wallet- Converting Bitcoins to Fiat Currency</a:t>
            </a:r>
            <a:r>
              <a:rPr lang="en-IN" sz="2800" b="0" i="0" u="none" strike="noStrike"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t>
            </a:r>
          </a:p>
          <a:p>
            <a:pPr marL="0" marR="36576" indent="0" algn="just" rtl="0" eaLnBrk="1" fontAlgn="t" latinLnBrk="0" hangingPunct="1">
              <a:spcBef>
                <a:spcPts val="0"/>
              </a:spcBef>
              <a:spcAft>
                <a:spcPts val="0"/>
              </a:spcAft>
              <a:buNone/>
              <a:tabLst>
                <a:tab pos="2865755" algn="ctr"/>
                <a:tab pos="5731510" algn="r"/>
              </a:tabLst>
            </a:pPr>
            <a:endParaRPr lang="en-IN" b="0" i="0" u="none" strike="noStrike" dirty="0">
              <a:effectLst/>
              <a:latin typeface="Times New Roman" panose="02020603050405020304" pitchFamily="18"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14503455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7C05192-6D16-EC42-B8A3-EB6B5432C3D8}"/>
              </a:ext>
            </a:extLst>
          </p:cNvPr>
          <p:cNvSpPr>
            <a:spLocks noGrp="1"/>
          </p:cNvSpPr>
          <p:nvPr>
            <p:ph idx="1"/>
          </p:nvPr>
        </p:nvSpPr>
        <p:spPr>
          <a:xfrm>
            <a:off x="838200" y="280416"/>
            <a:ext cx="10515600" cy="5896547"/>
          </a:xfrm>
        </p:spPr>
        <p:txBody>
          <a:bodyPr>
            <a:normAutofit/>
          </a:bodyPr>
          <a:lstStyle/>
          <a:p>
            <a:pPr marL="0" marR="36576" indent="0" algn="ctr" rtl="0" eaLnBrk="1" fontAlgn="t" latinLnBrk="0" hangingPunct="1">
              <a:spcBef>
                <a:spcPts val="0"/>
              </a:spcBef>
              <a:spcAft>
                <a:spcPts val="0"/>
              </a:spcAft>
              <a:buNone/>
              <a:tabLst>
                <a:tab pos="2865755" algn="ctr"/>
                <a:tab pos="5731510" algn="r"/>
              </a:tabLst>
            </a:pPr>
            <a:r>
              <a:rPr lang="en-US" sz="2800" b="1" i="0" u="none" strike="noStrike"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4000" b="0" i="0" u="none" strike="noStrike" dirty="0">
              <a:effectLst/>
              <a:latin typeface="Arial" panose="020B0604020202020204" pitchFamily="34" charset="0"/>
            </a:endParaRPr>
          </a:p>
          <a:p>
            <a:pPr marL="0" marR="36576" indent="0" algn="ctr" rtl="0" eaLnBrk="1" fontAlgn="t" latinLnBrk="0" hangingPunct="1">
              <a:spcBef>
                <a:spcPts val="0"/>
              </a:spcBef>
              <a:spcAft>
                <a:spcPts val="0"/>
              </a:spcAft>
              <a:buNone/>
              <a:tabLst>
                <a:tab pos="2865755" algn="ctr"/>
                <a:tab pos="5731510" algn="r"/>
              </a:tabLst>
            </a:pPr>
            <a:r>
              <a:rPr lang="en-IN" sz="2800" b="1" i="0" u="none" strike="noStrike"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UNIT-</a:t>
            </a:r>
            <a:r>
              <a:rPr lang="en-US" sz="2800" b="1" i="0" u="none" strike="noStrike"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V</a:t>
            </a:r>
            <a:endParaRPr lang="en-IN" sz="4000" b="0" i="0" u="none" strike="noStrike" dirty="0">
              <a:effectLst/>
              <a:latin typeface="Arial" panose="020B0604020202020204" pitchFamily="34" charset="0"/>
            </a:endParaRPr>
          </a:p>
          <a:p>
            <a:pPr marL="0" marR="36576" indent="0" algn="just" rtl="0" eaLnBrk="1" fontAlgn="base" latinLnBrk="0" hangingPunct="1">
              <a:spcBef>
                <a:spcPts val="0"/>
              </a:spcBef>
              <a:spcAft>
                <a:spcPts val="0"/>
              </a:spcAft>
              <a:buNone/>
              <a:tabLst>
                <a:tab pos="2865755" algn="ctr"/>
                <a:tab pos="5731510" algn="r"/>
              </a:tabLst>
            </a:pPr>
            <a:r>
              <a:rPr lang="en-US" sz="2800" b="1" i="0" u="none" strike="noStrike"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Introduction to Ethereum</a:t>
            </a:r>
            <a:endParaRPr lang="en-IN" sz="4000" b="0" i="0" u="none" strike="noStrike" dirty="0">
              <a:effectLst/>
              <a:latin typeface="Arial" panose="020B0604020202020204" pitchFamily="34" charset="0"/>
            </a:endParaRPr>
          </a:p>
          <a:p>
            <a:pPr marL="0" marR="36576" indent="0" algn="just" rtl="0" eaLnBrk="1" fontAlgn="t" latinLnBrk="0" hangingPunct="1">
              <a:spcBef>
                <a:spcPts val="0"/>
              </a:spcBef>
              <a:spcAft>
                <a:spcPts val="0"/>
              </a:spcAft>
              <a:buNone/>
              <a:tabLst>
                <a:tab pos="2865755" algn="ctr"/>
                <a:tab pos="5731510" algn="r"/>
              </a:tabLst>
            </a:pPr>
            <a:r>
              <a:rPr lang="en-IN" sz="2800" b="1" i="0" u="none" strike="noStrike"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08 Hours</a:t>
            </a:r>
            <a:endParaRPr lang="en-IN" sz="4000" b="0" i="0" u="none" strike="noStrike" dirty="0">
              <a:effectLst/>
              <a:latin typeface="Arial" panose="020B0604020202020204" pitchFamily="34" charset="0"/>
            </a:endParaRPr>
          </a:p>
          <a:p>
            <a:pPr marL="0" marR="36576" indent="0" algn="just" rtl="0" eaLnBrk="1" fontAlgn="t" latinLnBrk="0" hangingPunct="1">
              <a:spcBef>
                <a:spcPts val="0"/>
              </a:spcBef>
              <a:spcAft>
                <a:spcPts val="0"/>
              </a:spcAft>
              <a:buNone/>
              <a:tabLst>
                <a:tab pos="2865755" algn="ctr"/>
                <a:tab pos="5731510" algn="r"/>
              </a:tabLst>
            </a:pPr>
            <a:r>
              <a:rPr lang="en-US" sz="2800" b="0" i="0" u="none" strike="noStrike"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Introduction to Ethereum- Advantages and Disadvantages- Ethereum vs Bitcoin- Introduction to Smart contracts- usage- application- working principle- Law and Regulations. Case Study</a:t>
            </a:r>
            <a:endParaRPr lang="en-IN" dirty="0"/>
          </a:p>
        </p:txBody>
      </p:sp>
    </p:spTree>
    <p:extLst>
      <p:ext uri="{BB962C8B-B14F-4D97-AF65-F5344CB8AC3E}">
        <p14:creationId xmlns:p14="http://schemas.microsoft.com/office/powerpoint/2010/main" val="28763256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C38F84A-72BD-9475-5BA1-3DFEA69341BF}"/>
              </a:ext>
            </a:extLst>
          </p:cNvPr>
          <p:cNvSpPr>
            <a:spLocks noGrp="1"/>
          </p:cNvSpPr>
          <p:nvPr>
            <p:ph idx="1"/>
          </p:nvPr>
        </p:nvSpPr>
        <p:spPr>
          <a:xfrm>
            <a:off x="838200" y="609600"/>
            <a:ext cx="10515600" cy="5567363"/>
          </a:xfrm>
        </p:spPr>
        <p:txBody>
          <a:bodyPr/>
          <a:lstStyle/>
          <a:p>
            <a:pPr marL="0" indent="0" algn="just">
              <a:buNone/>
            </a:pPr>
            <a:r>
              <a:rPr lang="en-IN" b="1" dirty="0"/>
              <a:t>TEXTBOOKS</a:t>
            </a:r>
            <a:r>
              <a:rPr lang="en-IN" dirty="0"/>
              <a:t>:</a:t>
            </a:r>
          </a:p>
          <a:p>
            <a:pPr marL="0" indent="0" algn="just">
              <a:buNone/>
            </a:pPr>
            <a:r>
              <a:rPr lang="en-IN" dirty="0"/>
              <a:t>1.	Arshdeep </a:t>
            </a:r>
            <a:r>
              <a:rPr lang="en-IN" dirty="0" err="1"/>
              <a:t>Bikramaditya</a:t>
            </a:r>
            <a:r>
              <a:rPr lang="en-IN" dirty="0"/>
              <a:t> Signal, Gautam </a:t>
            </a:r>
            <a:r>
              <a:rPr lang="en-IN" dirty="0" err="1"/>
              <a:t>Dhameja</a:t>
            </a:r>
            <a:r>
              <a:rPr lang="en-IN" dirty="0"/>
              <a:t>, “Beginning 	Blockchain: A Beginner's Guide to Building Blockchain Solutions”, 	</a:t>
            </a:r>
            <a:r>
              <a:rPr lang="en-IN" dirty="0" err="1"/>
              <a:t>APress</a:t>
            </a:r>
            <a:r>
              <a:rPr lang="en-IN" dirty="0"/>
              <a:t>.</a:t>
            </a:r>
          </a:p>
          <a:p>
            <a:pPr marL="0" indent="0" algn="just">
              <a:buNone/>
            </a:pPr>
            <a:r>
              <a:rPr lang="en-IN" dirty="0"/>
              <a:t>2.	</a:t>
            </a:r>
            <a:r>
              <a:rPr lang="en-IN" dirty="0" err="1"/>
              <a:t>Bahga</a:t>
            </a:r>
            <a:r>
              <a:rPr lang="en-IN" dirty="0"/>
              <a:t>, Vijay </a:t>
            </a:r>
            <a:r>
              <a:rPr lang="en-IN" dirty="0" err="1"/>
              <a:t>Madisetti</a:t>
            </a:r>
            <a:r>
              <a:rPr lang="en-IN" dirty="0"/>
              <a:t>, “Blockchain Applications: A Hands-On 	Approach”. 31 January 2017</a:t>
            </a:r>
          </a:p>
          <a:p>
            <a:pPr marL="0" indent="0" algn="just">
              <a:buNone/>
            </a:pPr>
            <a:r>
              <a:rPr lang="en-IN" dirty="0"/>
              <a:t>3.	Melanie Swan, “Blockchain”, </a:t>
            </a:r>
            <a:r>
              <a:rPr lang="en-IN" dirty="0" err="1"/>
              <a:t>Oreilly</a:t>
            </a:r>
            <a:endParaRPr lang="en-IN" dirty="0"/>
          </a:p>
          <a:p>
            <a:pPr marL="0" indent="0" algn="just">
              <a:buNone/>
            </a:pPr>
            <a:endParaRPr lang="en-IN" dirty="0"/>
          </a:p>
        </p:txBody>
      </p:sp>
    </p:spTree>
    <p:extLst>
      <p:ext uri="{BB962C8B-B14F-4D97-AF65-F5344CB8AC3E}">
        <p14:creationId xmlns:p14="http://schemas.microsoft.com/office/powerpoint/2010/main" val="29416747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97378-70B7-91F5-57BD-AC3D902E0E5F}"/>
              </a:ext>
            </a:extLst>
          </p:cNvPr>
          <p:cNvSpPr>
            <a:spLocks noGrp="1"/>
          </p:cNvSpPr>
          <p:nvPr>
            <p:ph type="ctrTitle"/>
          </p:nvPr>
        </p:nvSpPr>
        <p:spPr/>
        <p:txBody>
          <a:bodyPr/>
          <a:lstStyle/>
          <a:p>
            <a:r>
              <a:rPr lang="en-US" b="1" dirty="0"/>
              <a:t>Block Chain Technology</a:t>
            </a:r>
            <a:endParaRPr lang="en-IN" b="1" dirty="0"/>
          </a:p>
        </p:txBody>
      </p:sp>
      <p:sp>
        <p:nvSpPr>
          <p:cNvPr id="3" name="Subtitle 2">
            <a:extLst>
              <a:ext uri="{FF2B5EF4-FFF2-40B4-BE49-F238E27FC236}">
                <a16:creationId xmlns:a16="http://schemas.microsoft.com/office/drawing/2014/main" id="{61E9B43A-2C76-8150-0858-597F62E109CA}"/>
              </a:ext>
            </a:extLst>
          </p:cNvPr>
          <p:cNvSpPr>
            <a:spLocks noGrp="1"/>
          </p:cNvSpPr>
          <p:nvPr>
            <p:ph type="subTitle" idx="1"/>
          </p:nvPr>
        </p:nvSpPr>
        <p:spPr/>
        <p:txBody>
          <a:bodyPr/>
          <a:lstStyle/>
          <a:p>
            <a:r>
              <a:rPr lang="en-US" dirty="0"/>
              <a:t>Unit 1</a:t>
            </a:r>
            <a:endParaRPr lang="en-IN" dirty="0"/>
          </a:p>
        </p:txBody>
      </p:sp>
    </p:spTree>
    <p:extLst>
      <p:ext uri="{BB962C8B-B14F-4D97-AF65-F5344CB8AC3E}">
        <p14:creationId xmlns:p14="http://schemas.microsoft.com/office/powerpoint/2010/main" val="24108737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F97D66C-1FD7-9CBB-FBBD-DE8D0DBE02B4}"/>
              </a:ext>
            </a:extLst>
          </p:cNvPr>
          <p:cNvSpPr txBox="1"/>
          <p:nvPr/>
        </p:nvSpPr>
        <p:spPr>
          <a:xfrm>
            <a:off x="3048740" y="451295"/>
            <a:ext cx="6094520" cy="584775"/>
          </a:xfrm>
          <a:prstGeom prst="rect">
            <a:avLst/>
          </a:prstGeom>
          <a:noFill/>
        </p:spPr>
        <p:txBody>
          <a:bodyPr wrap="square">
            <a:spAutoFit/>
          </a:bodyPr>
          <a:lstStyle/>
          <a:p>
            <a:r>
              <a:rPr lang="en-IN" sz="3200" b="1" dirty="0">
                <a:latin typeface="Times New Roman" panose="02020603050405020304" pitchFamily="18" charset="0"/>
                <a:cs typeface="Times New Roman" panose="02020603050405020304" pitchFamily="18" charset="0"/>
              </a:rPr>
              <a:t>Why I Should Study Blockchain</a:t>
            </a:r>
            <a:endParaRPr lang="en-IN" sz="32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985B12F1-E291-9E45-5FE8-F70C4703E9ED}"/>
              </a:ext>
            </a:extLst>
          </p:cNvPr>
          <p:cNvSpPr txBox="1"/>
          <p:nvPr/>
        </p:nvSpPr>
        <p:spPr>
          <a:xfrm>
            <a:off x="248574" y="1785242"/>
            <a:ext cx="8023195" cy="2185214"/>
          </a:xfrm>
          <a:prstGeom prst="rect">
            <a:avLst/>
          </a:prstGeom>
          <a:noFill/>
        </p:spPr>
        <p:txBody>
          <a:bodyPr wrap="square">
            <a:spAutoFit/>
          </a:bodyPr>
          <a:lstStyle/>
          <a:p>
            <a:pPr marL="538163" indent="-444500">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It is a Disruptive Technology</a:t>
            </a:r>
          </a:p>
          <a:p>
            <a:pPr marL="995363" lvl="1" indent="-444500">
              <a:buFont typeface="Wingdings" panose="05000000000000000000" pitchFamily="2" charset="2"/>
              <a:buChar char="Ø"/>
            </a:pPr>
            <a:endParaRPr lang="en-IN" dirty="0"/>
          </a:p>
          <a:p>
            <a:pPr marL="995363" lvl="1" indent="-444500">
              <a:buFont typeface="Wingdings" panose="05000000000000000000" pitchFamily="2" charset="2"/>
              <a:buChar char="Ø"/>
            </a:pPr>
            <a:endParaRPr lang="en-IN" dirty="0"/>
          </a:p>
          <a:p>
            <a:pPr marL="995363" lvl="1" indent="-444500">
              <a:buFont typeface="Wingdings" panose="05000000000000000000" pitchFamily="2" charset="2"/>
              <a:buChar char="Ø"/>
            </a:pPr>
            <a:endParaRPr lang="en-IN" dirty="0"/>
          </a:p>
          <a:p>
            <a:pPr marL="995363" lvl="1" indent="-444500">
              <a:buFont typeface="Wingdings" panose="05000000000000000000" pitchFamily="2" charset="2"/>
              <a:buChar char="Ø"/>
            </a:pPr>
            <a:endParaRPr lang="en-IN" dirty="0"/>
          </a:p>
          <a:p>
            <a:pPr marL="995363" lvl="1" indent="-444500">
              <a:buFont typeface="Wingdings" panose="05000000000000000000" pitchFamily="2" charset="2"/>
              <a:buChar char="Ø"/>
            </a:pPr>
            <a:endParaRPr lang="en-IN" dirty="0"/>
          </a:p>
          <a:p>
            <a:pPr marL="995363" lvl="1" indent="-444500">
              <a:buFont typeface="Wingdings" panose="05000000000000000000" pitchFamily="2" charset="2"/>
              <a:buChar char="Ø"/>
            </a:pPr>
            <a:endParaRPr lang="en-IN" dirty="0"/>
          </a:p>
        </p:txBody>
      </p:sp>
      <p:pic>
        <p:nvPicPr>
          <p:cNvPr id="8" name="Picture 7">
            <a:extLst>
              <a:ext uri="{FF2B5EF4-FFF2-40B4-BE49-F238E27FC236}">
                <a16:creationId xmlns:a16="http://schemas.microsoft.com/office/drawing/2014/main" id="{618EF4FA-E92F-0C74-AA9E-91AA21BA80E3}"/>
              </a:ext>
            </a:extLst>
          </p:cNvPr>
          <p:cNvPicPr>
            <a:picLocks noChangeAspect="1"/>
          </p:cNvPicPr>
          <p:nvPr/>
        </p:nvPicPr>
        <p:blipFill>
          <a:blip r:embed="rId2"/>
          <a:stretch>
            <a:fillRect/>
          </a:stretch>
        </p:blipFill>
        <p:spPr>
          <a:xfrm>
            <a:off x="422032" y="2698811"/>
            <a:ext cx="11353622" cy="3098307"/>
          </a:xfrm>
          <a:prstGeom prst="rect">
            <a:avLst/>
          </a:prstGeom>
        </p:spPr>
      </p:pic>
    </p:spTree>
    <p:extLst>
      <p:ext uri="{BB962C8B-B14F-4D97-AF65-F5344CB8AC3E}">
        <p14:creationId xmlns:p14="http://schemas.microsoft.com/office/powerpoint/2010/main" val="1498940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1DF8CA4-3BB9-FC00-4C58-BA9124B1B8E3}"/>
              </a:ext>
            </a:extLst>
          </p:cNvPr>
          <p:cNvPicPr>
            <a:picLocks noGrp="1" noChangeAspect="1"/>
          </p:cNvPicPr>
          <p:nvPr>
            <p:ph idx="1"/>
          </p:nvPr>
        </p:nvPicPr>
        <p:blipFill>
          <a:blip r:embed="rId2"/>
          <a:srcRect l="4311"/>
          <a:stretch>
            <a:fillRect/>
          </a:stretch>
        </p:blipFill>
        <p:spPr>
          <a:xfrm>
            <a:off x="0" y="1338259"/>
            <a:ext cx="11094720" cy="5377212"/>
          </a:xfrm>
          <a:prstGeom prst="rect">
            <a:avLst/>
          </a:prstGeom>
        </p:spPr>
      </p:pic>
      <p:pic>
        <p:nvPicPr>
          <p:cNvPr id="7" name="Picture 6">
            <a:extLst>
              <a:ext uri="{FF2B5EF4-FFF2-40B4-BE49-F238E27FC236}">
                <a16:creationId xmlns:a16="http://schemas.microsoft.com/office/drawing/2014/main" id="{870D40B0-01A4-6B26-AE8A-40629F924DA8}"/>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9887712" y="9331"/>
            <a:ext cx="2304288" cy="2304288"/>
          </a:xfrm>
          <a:prstGeom prst="rect">
            <a:avLst/>
          </a:prstGeom>
        </p:spPr>
      </p:pic>
    </p:spTree>
    <p:extLst>
      <p:ext uri="{BB962C8B-B14F-4D97-AF65-F5344CB8AC3E}">
        <p14:creationId xmlns:p14="http://schemas.microsoft.com/office/powerpoint/2010/main" val="13708275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D978527-2300-2BDC-900E-3BCEF2BEEB52}"/>
              </a:ext>
            </a:extLst>
          </p:cNvPr>
          <p:cNvSpPr txBox="1"/>
          <p:nvPr/>
        </p:nvSpPr>
        <p:spPr>
          <a:xfrm>
            <a:off x="3048740" y="601007"/>
            <a:ext cx="6094520" cy="707886"/>
          </a:xfrm>
          <a:prstGeom prst="rect">
            <a:avLst/>
          </a:prstGeom>
          <a:noFill/>
        </p:spPr>
        <p:txBody>
          <a:bodyPr wrap="square">
            <a:spAutoFit/>
          </a:bodyPr>
          <a:lstStyle/>
          <a:p>
            <a:r>
              <a:rPr lang="en-IN" sz="4000" b="1" dirty="0">
                <a:latin typeface="Times New Roman" panose="02020603050405020304" pitchFamily="18" charset="0"/>
                <a:cs typeface="Times New Roman" panose="02020603050405020304" pitchFamily="18" charset="0"/>
              </a:rPr>
              <a:t>What is Blockchain</a:t>
            </a:r>
            <a:endParaRPr lang="en-IN" sz="4000" dirty="0">
              <a:latin typeface="Times New Roman" panose="02020603050405020304" pitchFamily="18" charset="0"/>
              <a:cs typeface="Times New Roman" panose="02020603050405020304" pitchFamily="18" charset="0"/>
            </a:endParaRPr>
          </a:p>
        </p:txBody>
      </p:sp>
      <p:pic>
        <p:nvPicPr>
          <p:cNvPr id="6" name="Content Placeholder 5">
            <a:extLst>
              <a:ext uri="{FF2B5EF4-FFF2-40B4-BE49-F238E27FC236}">
                <a16:creationId xmlns:a16="http://schemas.microsoft.com/office/drawing/2014/main" id="{99AB8097-5C9E-A380-AC20-C18F87E2340F}"/>
              </a:ext>
            </a:extLst>
          </p:cNvPr>
          <p:cNvPicPr>
            <a:picLocks noGrp="1" noChangeAspect="1"/>
          </p:cNvPicPr>
          <p:nvPr>
            <p:ph idx="1"/>
          </p:nvPr>
        </p:nvPicPr>
        <p:blipFill>
          <a:blip r:embed="rId2"/>
          <a:stretch>
            <a:fillRect/>
          </a:stretch>
        </p:blipFill>
        <p:spPr>
          <a:xfrm>
            <a:off x="903005" y="1918067"/>
            <a:ext cx="5634223" cy="3707898"/>
          </a:xfrm>
          <a:prstGeom prst="rect">
            <a:avLst/>
          </a:prstGeom>
        </p:spPr>
      </p:pic>
      <p:pic>
        <p:nvPicPr>
          <p:cNvPr id="7" name="Picture 6">
            <a:extLst>
              <a:ext uri="{FF2B5EF4-FFF2-40B4-BE49-F238E27FC236}">
                <a16:creationId xmlns:a16="http://schemas.microsoft.com/office/drawing/2014/main" id="{AB93C06F-2824-3713-3B9C-9D54C16494AA}"/>
              </a:ext>
            </a:extLst>
          </p:cNvPr>
          <p:cNvPicPr>
            <a:picLocks noChangeAspect="1"/>
          </p:cNvPicPr>
          <p:nvPr/>
        </p:nvPicPr>
        <p:blipFill>
          <a:blip r:embed="rId3"/>
          <a:stretch>
            <a:fillRect/>
          </a:stretch>
        </p:blipFill>
        <p:spPr>
          <a:xfrm>
            <a:off x="7201178" y="2955452"/>
            <a:ext cx="3333750" cy="2038350"/>
          </a:xfrm>
          <a:prstGeom prst="rect">
            <a:avLst/>
          </a:prstGeom>
        </p:spPr>
      </p:pic>
      <p:pic>
        <p:nvPicPr>
          <p:cNvPr id="8" name="Picture 7">
            <a:extLst>
              <a:ext uri="{FF2B5EF4-FFF2-40B4-BE49-F238E27FC236}">
                <a16:creationId xmlns:a16="http://schemas.microsoft.com/office/drawing/2014/main" id="{86B3478B-DF2A-4B82-270B-CF024EC837CD}"/>
              </a:ext>
            </a:extLst>
          </p:cNvPr>
          <p:cNvPicPr>
            <a:picLocks noChangeAspect="1"/>
          </p:cNvPicPr>
          <p:nvPr/>
        </p:nvPicPr>
        <p:blipFill>
          <a:blip r:embed="rId4"/>
          <a:stretch>
            <a:fillRect/>
          </a:stretch>
        </p:blipFill>
        <p:spPr>
          <a:xfrm>
            <a:off x="9159686" y="3395778"/>
            <a:ext cx="600075" cy="752475"/>
          </a:xfrm>
          <a:prstGeom prst="rect">
            <a:avLst/>
          </a:prstGeom>
        </p:spPr>
      </p:pic>
    </p:spTree>
    <p:extLst>
      <p:ext uri="{BB962C8B-B14F-4D97-AF65-F5344CB8AC3E}">
        <p14:creationId xmlns:p14="http://schemas.microsoft.com/office/powerpoint/2010/main" val="1278507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087E8A4-D47A-33F2-BE44-B714997CB317}"/>
              </a:ext>
            </a:extLst>
          </p:cNvPr>
          <p:cNvSpPr>
            <a:spLocks noGrp="1"/>
          </p:cNvSpPr>
          <p:nvPr>
            <p:ph type="title"/>
          </p:nvPr>
        </p:nvSpPr>
        <p:spPr>
          <a:xfrm>
            <a:off x="808149" y="482353"/>
            <a:ext cx="9601200" cy="770965"/>
          </a:xfrm>
        </p:spPr>
        <p:txBody>
          <a:bodyPr/>
          <a:lstStyle/>
          <a:p>
            <a:pPr algn="ctr"/>
            <a:r>
              <a:rPr lang="en-IN" b="1" dirty="0"/>
              <a:t>What is Blockchain</a:t>
            </a:r>
          </a:p>
        </p:txBody>
      </p:sp>
      <p:pic>
        <p:nvPicPr>
          <p:cNvPr id="5" name="Picture 4">
            <a:extLst>
              <a:ext uri="{FF2B5EF4-FFF2-40B4-BE49-F238E27FC236}">
                <a16:creationId xmlns:a16="http://schemas.microsoft.com/office/drawing/2014/main" id="{7E5EA490-78CE-66D4-22E7-EC8E5A36CC6B}"/>
              </a:ext>
            </a:extLst>
          </p:cNvPr>
          <p:cNvPicPr>
            <a:picLocks noChangeAspect="1"/>
          </p:cNvPicPr>
          <p:nvPr/>
        </p:nvPicPr>
        <p:blipFill>
          <a:blip r:embed="rId2"/>
          <a:stretch>
            <a:fillRect/>
          </a:stretch>
        </p:blipFill>
        <p:spPr>
          <a:xfrm>
            <a:off x="893690" y="2158789"/>
            <a:ext cx="5413787" cy="3383617"/>
          </a:xfrm>
          <a:prstGeom prst="rect">
            <a:avLst/>
          </a:prstGeom>
        </p:spPr>
      </p:pic>
      <p:pic>
        <p:nvPicPr>
          <p:cNvPr id="6" name="Picture 5">
            <a:extLst>
              <a:ext uri="{FF2B5EF4-FFF2-40B4-BE49-F238E27FC236}">
                <a16:creationId xmlns:a16="http://schemas.microsoft.com/office/drawing/2014/main" id="{6F815F4E-BF48-B152-DC39-76070421FB66}"/>
              </a:ext>
            </a:extLst>
          </p:cNvPr>
          <p:cNvPicPr>
            <a:picLocks noChangeAspect="1"/>
          </p:cNvPicPr>
          <p:nvPr/>
        </p:nvPicPr>
        <p:blipFill>
          <a:blip r:embed="rId3"/>
          <a:stretch>
            <a:fillRect/>
          </a:stretch>
        </p:blipFill>
        <p:spPr>
          <a:xfrm>
            <a:off x="893690" y="2158789"/>
            <a:ext cx="9515659" cy="3383617"/>
          </a:xfrm>
          <a:prstGeom prst="rect">
            <a:avLst/>
          </a:prstGeom>
        </p:spPr>
      </p:pic>
    </p:spTree>
    <p:extLst>
      <p:ext uri="{BB962C8B-B14F-4D97-AF65-F5344CB8AC3E}">
        <p14:creationId xmlns:p14="http://schemas.microsoft.com/office/powerpoint/2010/main" val="798677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A504C-632E-34DB-BCC0-91184EC302E2}"/>
              </a:ext>
            </a:extLst>
          </p:cNvPr>
          <p:cNvSpPr>
            <a:spLocks noGrp="1"/>
          </p:cNvSpPr>
          <p:nvPr>
            <p:ph type="title"/>
          </p:nvPr>
        </p:nvSpPr>
        <p:spPr/>
        <p:txBody>
          <a:bodyPr/>
          <a:lstStyle/>
          <a:p>
            <a:r>
              <a:rPr lang="en-IN" b="1" dirty="0"/>
              <a:t>What Is Blockchain?</a:t>
            </a:r>
          </a:p>
        </p:txBody>
      </p:sp>
      <p:sp>
        <p:nvSpPr>
          <p:cNvPr id="3" name="Content Placeholder 2">
            <a:extLst>
              <a:ext uri="{FF2B5EF4-FFF2-40B4-BE49-F238E27FC236}">
                <a16:creationId xmlns:a16="http://schemas.microsoft.com/office/drawing/2014/main" id="{4E2F85FC-A6E9-BF3C-F664-71F39A49FBC7}"/>
              </a:ext>
            </a:extLst>
          </p:cNvPr>
          <p:cNvSpPr>
            <a:spLocks noGrp="1"/>
          </p:cNvSpPr>
          <p:nvPr>
            <p:ph idx="1"/>
          </p:nvPr>
        </p:nvSpPr>
        <p:spPr/>
        <p:txBody>
          <a:bodyPr/>
          <a:lstStyle/>
          <a:p>
            <a:pPr marL="0" indent="0" algn="just">
              <a:buNone/>
            </a:pPr>
            <a:r>
              <a:rPr lang="en-US" dirty="0"/>
              <a:t>Blockchain is like a digital notebook that is</a:t>
            </a:r>
          </a:p>
          <a:p>
            <a:pPr marL="0" indent="0" algn="just">
              <a:buNone/>
            </a:pPr>
            <a:endParaRPr lang="en-US" b="1" dirty="0"/>
          </a:p>
          <a:p>
            <a:pPr marL="0" indent="0" algn="just">
              <a:buNone/>
            </a:pPr>
            <a:r>
              <a:rPr lang="en-US" dirty="0">
                <a:sym typeface="Wingdings" panose="05000000000000000000" pitchFamily="2" charset="2"/>
              </a:rPr>
              <a:t> </a:t>
            </a:r>
            <a:r>
              <a:rPr lang="en-US" dirty="0"/>
              <a:t>Shared by many people</a:t>
            </a:r>
          </a:p>
          <a:p>
            <a:pPr marL="0" indent="0" algn="just">
              <a:buNone/>
            </a:pPr>
            <a:r>
              <a:rPr lang="en-US" dirty="0">
                <a:sym typeface="Wingdings" panose="05000000000000000000" pitchFamily="2" charset="2"/>
              </a:rPr>
              <a:t> </a:t>
            </a:r>
            <a:r>
              <a:rPr lang="en-US" dirty="0"/>
              <a:t>Can't be changed once something is written</a:t>
            </a:r>
          </a:p>
          <a:p>
            <a:pPr marL="0" indent="0" algn="just">
              <a:buNone/>
            </a:pPr>
            <a:r>
              <a:rPr lang="en-US" dirty="0">
                <a:sym typeface="Wingdings" panose="05000000000000000000" pitchFamily="2" charset="2"/>
              </a:rPr>
              <a:t> </a:t>
            </a:r>
            <a:r>
              <a:rPr lang="en-US" dirty="0"/>
              <a:t>Very secure and transparent</a:t>
            </a:r>
          </a:p>
          <a:p>
            <a:pPr marL="0" indent="0" algn="just">
              <a:buNone/>
            </a:pPr>
            <a:endParaRPr lang="en-US" dirty="0"/>
          </a:p>
          <a:p>
            <a:pPr marL="0" indent="0" algn="just">
              <a:buNone/>
            </a:pPr>
            <a:r>
              <a:rPr lang="en-US" dirty="0"/>
              <a:t>It records transactions or data in blocks, and each block is linked to the previous one, forming a chain hence the name </a:t>
            </a:r>
            <a:r>
              <a:rPr lang="en-US" b="1" i="1" dirty="0"/>
              <a:t>block-chain</a:t>
            </a:r>
            <a:r>
              <a:rPr lang="en-US" dirty="0"/>
              <a:t>.</a:t>
            </a:r>
          </a:p>
          <a:p>
            <a:pPr marL="0" indent="0" algn="just">
              <a:buNone/>
            </a:pPr>
            <a:endParaRPr lang="en-IN" dirty="0"/>
          </a:p>
        </p:txBody>
      </p:sp>
    </p:spTree>
    <p:extLst>
      <p:ext uri="{BB962C8B-B14F-4D97-AF65-F5344CB8AC3E}">
        <p14:creationId xmlns:p14="http://schemas.microsoft.com/office/powerpoint/2010/main" val="15387643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A9D0C7D-F9FD-39DD-A798-793E87503633}"/>
              </a:ext>
            </a:extLst>
          </p:cNvPr>
          <p:cNvSpPr>
            <a:spLocks noGrp="1"/>
          </p:cNvSpPr>
          <p:nvPr>
            <p:ph type="title"/>
          </p:nvPr>
        </p:nvSpPr>
        <p:spPr>
          <a:xfrm>
            <a:off x="1398080" y="322555"/>
            <a:ext cx="9395840" cy="770965"/>
          </a:xfrm>
        </p:spPr>
        <p:txBody>
          <a:bodyPr/>
          <a:lstStyle/>
          <a:p>
            <a:pPr algn="ctr"/>
            <a:r>
              <a:rPr lang="en-IN" b="1" dirty="0"/>
              <a:t>What is Blockchain</a:t>
            </a:r>
          </a:p>
        </p:txBody>
      </p:sp>
      <p:pic>
        <p:nvPicPr>
          <p:cNvPr id="5" name="Picture 4">
            <a:extLst>
              <a:ext uri="{FF2B5EF4-FFF2-40B4-BE49-F238E27FC236}">
                <a16:creationId xmlns:a16="http://schemas.microsoft.com/office/drawing/2014/main" id="{78C1A4F1-BB06-1900-E6FC-4153151B8772}"/>
              </a:ext>
            </a:extLst>
          </p:cNvPr>
          <p:cNvPicPr>
            <a:picLocks noChangeAspect="1"/>
          </p:cNvPicPr>
          <p:nvPr/>
        </p:nvPicPr>
        <p:blipFill>
          <a:blip r:embed="rId2"/>
          <a:stretch>
            <a:fillRect/>
          </a:stretch>
        </p:blipFill>
        <p:spPr>
          <a:xfrm>
            <a:off x="319105" y="1568263"/>
            <a:ext cx="11303559" cy="4415678"/>
          </a:xfrm>
          <a:prstGeom prst="rect">
            <a:avLst/>
          </a:prstGeom>
        </p:spPr>
      </p:pic>
      <p:pic>
        <p:nvPicPr>
          <p:cNvPr id="6" name="Picture 5">
            <a:extLst>
              <a:ext uri="{FF2B5EF4-FFF2-40B4-BE49-F238E27FC236}">
                <a16:creationId xmlns:a16="http://schemas.microsoft.com/office/drawing/2014/main" id="{92AA1278-03B3-CD27-C20C-9B72DE1BF348}"/>
              </a:ext>
            </a:extLst>
          </p:cNvPr>
          <p:cNvPicPr>
            <a:picLocks noChangeAspect="1"/>
          </p:cNvPicPr>
          <p:nvPr/>
        </p:nvPicPr>
        <p:blipFill>
          <a:blip r:embed="rId3"/>
          <a:stretch>
            <a:fillRect/>
          </a:stretch>
        </p:blipFill>
        <p:spPr>
          <a:xfrm>
            <a:off x="319105" y="1594896"/>
            <a:ext cx="11470441" cy="4267761"/>
          </a:xfrm>
          <a:prstGeom prst="rect">
            <a:avLst/>
          </a:prstGeom>
        </p:spPr>
      </p:pic>
    </p:spTree>
    <p:extLst>
      <p:ext uri="{BB962C8B-B14F-4D97-AF65-F5344CB8AC3E}">
        <p14:creationId xmlns:p14="http://schemas.microsoft.com/office/powerpoint/2010/main" val="40983114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762DB-C0D7-36F0-1AF3-FAEC701C68D0}"/>
              </a:ext>
            </a:extLst>
          </p:cNvPr>
          <p:cNvSpPr>
            <a:spLocks noGrp="1"/>
          </p:cNvSpPr>
          <p:nvPr>
            <p:ph type="title"/>
          </p:nvPr>
        </p:nvSpPr>
        <p:spPr/>
        <p:txBody>
          <a:bodyPr/>
          <a:lstStyle/>
          <a:p>
            <a:r>
              <a:rPr lang="en-US" b="1" dirty="0"/>
              <a:t>Introduction to Block Chain</a:t>
            </a:r>
            <a:endParaRPr lang="en-IN" b="1" dirty="0"/>
          </a:p>
        </p:txBody>
      </p:sp>
      <p:sp>
        <p:nvSpPr>
          <p:cNvPr id="3" name="Content Placeholder 2">
            <a:extLst>
              <a:ext uri="{FF2B5EF4-FFF2-40B4-BE49-F238E27FC236}">
                <a16:creationId xmlns:a16="http://schemas.microsoft.com/office/drawing/2014/main" id="{D11BDF96-345A-B50A-2305-0100028FD70C}"/>
              </a:ext>
            </a:extLst>
          </p:cNvPr>
          <p:cNvSpPr>
            <a:spLocks noGrp="1"/>
          </p:cNvSpPr>
          <p:nvPr>
            <p:ph idx="1"/>
          </p:nvPr>
        </p:nvSpPr>
        <p:spPr>
          <a:xfrm>
            <a:off x="838200" y="1825625"/>
            <a:ext cx="10515600" cy="4667250"/>
          </a:xfrm>
        </p:spPr>
        <p:txBody>
          <a:bodyPr>
            <a:normAutofit fontScale="92500" lnSpcReduction="20000"/>
          </a:bodyPr>
          <a:lstStyle/>
          <a:p>
            <a:pPr marL="0" indent="0" algn="just">
              <a:lnSpc>
                <a:spcPct val="160000"/>
              </a:lnSpc>
              <a:buNone/>
            </a:pPr>
            <a:r>
              <a:rPr lang="en-US" i="0" dirty="0">
                <a:effectLst/>
                <a:highlight>
                  <a:srgbClr val="FFFFFF"/>
                </a:highlight>
                <a:latin typeface="Times New Roman" panose="02020603050405020304" pitchFamily="18" charset="0"/>
                <a:cs typeface="Times New Roman" panose="02020603050405020304" pitchFamily="18" charset="0"/>
                <a:sym typeface="Wingdings" panose="05000000000000000000" pitchFamily="2" charset="2"/>
              </a:rPr>
              <a:t> </a:t>
            </a:r>
            <a:r>
              <a:rPr lang="en-US" i="0" dirty="0">
                <a:effectLst/>
                <a:highlight>
                  <a:srgbClr val="FFFFFF"/>
                </a:highlight>
                <a:latin typeface="Times New Roman" panose="02020603050405020304" pitchFamily="18" charset="0"/>
                <a:cs typeface="Times New Roman" panose="02020603050405020304" pitchFamily="18" charset="0"/>
              </a:rPr>
              <a:t>The blockchain is a distributed database of records of all transactions or digital events that have been executed and shared among participating parties.</a:t>
            </a:r>
          </a:p>
          <a:p>
            <a:pPr marL="0" indent="0" algn="just">
              <a:lnSpc>
                <a:spcPct val="160000"/>
              </a:lnSpc>
              <a:buNone/>
            </a:pPr>
            <a:endParaRPr lang="en-US" i="0" dirty="0">
              <a:effectLst/>
              <a:highlight>
                <a:srgbClr val="FFFFFF"/>
              </a:highlight>
              <a:latin typeface="Times New Roman" panose="02020603050405020304" pitchFamily="18" charset="0"/>
              <a:cs typeface="Times New Roman" panose="02020603050405020304" pitchFamily="18" charset="0"/>
            </a:endParaRPr>
          </a:p>
          <a:p>
            <a:pPr marL="0" indent="0" algn="just" rtl="0" fontAlgn="base">
              <a:lnSpc>
                <a:spcPct val="160000"/>
              </a:lnSpc>
              <a:buNone/>
            </a:pPr>
            <a:r>
              <a:rPr lang="en-US" b="0" i="0" dirty="0">
                <a:effectLst/>
                <a:highlight>
                  <a:srgbClr val="FFFFFF"/>
                </a:highlight>
                <a:latin typeface="Times New Roman" panose="02020603050405020304" pitchFamily="18" charset="0"/>
                <a:cs typeface="Times New Roman" panose="02020603050405020304" pitchFamily="18" charset="0"/>
                <a:sym typeface="Wingdings" panose="05000000000000000000" pitchFamily="2" charset="2"/>
              </a:rPr>
              <a:t> </a:t>
            </a:r>
            <a:r>
              <a:rPr lang="en-US" b="0" i="0" dirty="0">
                <a:effectLst/>
                <a:highlight>
                  <a:srgbClr val="FFFFFF"/>
                </a:highlight>
                <a:latin typeface="Times New Roman" panose="02020603050405020304" pitchFamily="18" charset="0"/>
                <a:cs typeface="Times New Roman" panose="02020603050405020304" pitchFamily="18" charset="0"/>
              </a:rPr>
              <a:t>Each transaction is verified by the majority of participants of the system.</a:t>
            </a:r>
          </a:p>
          <a:p>
            <a:pPr marL="0" indent="0" algn="just" rtl="0" fontAlgn="base">
              <a:lnSpc>
                <a:spcPct val="160000"/>
              </a:lnSpc>
              <a:buNone/>
            </a:pPr>
            <a:endParaRPr lang="en-US" b="0" i="0" dirty="0">
              <a:effectLst/>
              <a:highlight>
                <a:srgbClr val="FFFFFF"/>
              </a:highlight>
              <a:latin typeface="Times New Roman" panose="02020603050405020304" pitchFamily="18" charset="0"/>
              <a:cs typeface="Times New Roman" panose="02020603050405020304" pitchFamily="18" charset="0"/>
            </a:endParaRPr>
          </a:p>
          <a:p>
            <a:pPr marL="0" indent="0" algn="just" rtl="0" fontAlgn="base">
              <a:lnSpc>
                <a:spcPct val="160000"/>
              </a:lnSpc>
              <a:buNone/>
            </a:pPr>
            <a:r>
              <a:rPr lang="en-US" b="0" i="0" dirty="0">
                <a:effectLst/>
                <a:highlight>
                  <a:srgbClr val="FFFFFF"/>
                </a:highlight>
                <a:latin typeface="Times New Roman" panose="02020603050405020304" pitchFamily="18" charset="0"/>
                <a:cs typeface="Times New Roman" panose="02020603050405020304" pitchFamily="18" charset="0"/>
                <a:sym typeface="Wingdings" panose="05000000000000000000" pitchFamily="2" charset="2"/>
              </a:rPr>
              <a:t> </a:t>
            </a:r>
            <a:r>
              <a:rPr lang="en-US" b="0" i="0" dirty="0">
                <a:effectLst/>
                <a:highlight>
                  <a:srgbClr val="FFFFFF"/>
                </a:highlight>
                <a:latin typeface="Times New Roman" panose="02020603050405020304" pitchFamily="18" charset="0"/>
                <a:cs typeface="Times New Roman" panose="02020603050405020304" pitchFamily="18" charset="0"/>
              </a:rPr>
              <a:t>It contains every single record of each transaction.</a:t>
            </a:r>
          </a:p>
          <a:p>
            <a:pPr marL="0" indent="0" algn="just" rtl="0" fontAlgn="base">
              <a:lnSpc>
                <a:spcPct val="160000"/>
              </a:lnSpc>
              <a:buNone/>
            </a:pPr>
            <a:r>
              <a:rPr lang="en-US" b="0" i="0" dirty="0">
                <a:effectLst/>
                <a:highlight>
                  <a:srgbClr val="FFFFFF"/>
                </a:highlight>
                <a:latin typeface="Times New Roman" panose="02020603050405020304" pitchFamily="18" charset="0"/>
                <a:cs typeface="Times New Roman" panose="02020603050405020304" pitchFamily="18" charset="0"/>
              </a:rPr>
              <a:t> </a:t>
            </a:r>
          </a:p>
          <a:p>
            <a:pPr marL="0" indent="0" algn="just">
              <a:lnSpc>
                <a:spcPct val="160000"/>
              </a:lnSpc>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95986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8CF6B40-D340-A5E1-363E-990099FDCBB1}"/>
              </a:ext>
            </a:extLst>
          </p:cNvPr>
          <p:cNvSpPr>
            <a:spLocks noGrp="1"/>
          </p:cNvSpPr>
          <p:nvPr>
            <p:ph idx="1"/>
          </p:nvPr>
        </p:nvSpPr>
        <p:spPr>
          <a:xfrm>
            <a:off x="838200" y="597408"/>
            <a:ext cx="10515600" cy="5925312"/>
          </a:xfrm>
        </p:spPr>
        <p:txBody>
          <a:bodyPr>
            <a:normAutofit fontScale="92500"/>
          </a:bodyPr>
          <a:lstStyle/>
          <a:p>
            <a:pPr marL="0" indent="0" algn="just" rtl="0" fontAlgn="base">
              <a:lnSpc>
                <a:spcPct val="160000"/>
              </a:lnSpc>
              <a:buNone/>
            </a:pPr>
            <a:r>
              <a:rPr lang="en-US" b="1" i="0" dirty="0">
                <a:effectLst/>
                <a:highlight>
                  <a:srgbClr val="FFFFFF"/>
                </a:highlight>
                <a:latin typeface="Times New Roman" panose="02020603050405020304" pitchFamily="18" charset="0"/>
                <a:cs typeface="Times New Roman" panose="02020603050405020304" pitchFamily="18" charset="0"/>
                <a:sym typeface="Wingdings" panose="05000000000000000000" pitchFamily="2" charset="2"/>
              </a:rPr>
              <a:t> </a:t>
            </a:r>
            <a:r>
              <a:rPr lang="en-US" b="1" i="0" dirty="0">
                <a:effectLst/>
                <a:highlight>
                  <a:srgbClr val="FFFFFF"/>
                </a:highlight>
                <a:latin typeface="Times New Roman" panose="02020603050405020304" pitchFamily="18" charset="0"/>
                <a:cs typeface="Times New Roman" panose="02020603050405020304" pitchFamily="18" charset="0"/>
              </a:rPr>
              <a:t>Bitcoin</a:t>
            </a:r>
            <a:r>
              <a:rPr lang="en-US" b="0" i="0" dirty="0">
                <a:effectLst/>
                <a:highlight>
                  <a:srgbClr val="FFFFFF"/>
                </a:highlight>
                <a:latin typeface="Times New Roman" panose="02020603050405020304" pitchFamily="18" charset="0"/>
                <a:cs typeface="Times New Roman" panose="02020603050405020304" pitchFamily="18" charset="0"/>
              </a:rPr>
              <a:t> is the most popular cryptocurrency an example of the blockchain.</a:t>
            </a:r>
          </a:p>
          <a:p>
            <a:pPr algn="just" rtl="0" fontAlgn="base">
              <a:lnSpc>
                <a:spcPct val="160000"/>
              </a:lnSpc>
              <a:buFont typeface="Wingdings" panose="05000000000000000000" pitchFamily="2" charset="2"/>
              <a:buChar char="à"/>
            </a:pPr>
            <a:r>
              <a:rPr lang="en-US" dirty="0">
                <a:latin typeface="Times New Roman" panose="02020603050405020304" pitchFamily="18" charset="0"/>
                <a:cs typeface="Times New Roman" panose="02020603050405020304" pitchFamily="18" charset="0"/>
              </a:rPr>
              <a:t>Blockchain is a system of records to transact value (not just money!) in a peer-to-peer fashion.</a:t>
            </a:r>
          </a:p>
          <a:p>
            <a:pPr marL="0" indent="0" algn="just">
              <a:lnSpc>
                <a:spcPct val="150000"/>
              </a:lnSpc>
              <a:buNone/>
            </a:pPr>
            <a:r>
              <a:rPr lang="en-US" dirty="0">
                <a:latin typeface="Times New Roman" panose="02020603050405020304" pitchFamily="18" charset="0"/>
                <a:cs typeface="Times New Roman" panose="02020603050405020304" pitchFamily="18" charset="0"/>
                <a:sym typeface="Wingdings" panose="05000000000000000000" pitchFamily="2" charset="2"/>
              </a:rPr>
              <a:t> </a:t>
            </a:r>
            <a:r>
              <a:rPr lang="en-US" dirty="0">
                <a:latin typeface="Times New Roman" panose="02020603050405020304" pitchFamily="18" charset="0"/>
                <a:cs typeface="Times New Roman" panose="02020603050405020304" pitchFamily="18" charset="0"/>
              </a:rPr>
              <a:t>Blockchain is a peer-to-peer system of transacting values with no trusted third parties in between. </a:t>
            </a:r>
          </a:p>
          <a:p>
            <a:pPr marL="0" indent="0" algn="just">
              <a:lnSpc>
                <a:spcPct val="150000"/>
              </a:lnSpc>
              <a:buNone/>
            </a:pPr>
            <a:r>
              <a:rPr lang="en-US" dirty="0">
                <a:latin typeface="Times New Roman" panose="02020603050405020304" pitchFamily="18" charset="0"/>
                <a:cs typeface="Times New Roman" panose="02020603050405020304" pitchFamily="18" charset="0"/>
                <a:sym typeface="Wingdings" panose="05000000000000000000" pitchFamily="2" charset="2"/>
              </a:rPr>
              <a:t> </a:t>
            </a:r>
            <a:r>
              <a:rPr lang="en-US" dirty="0">
                <a:latin typeface="Times New Roman" panose="02020603050405020304" pitchFamily="18" charset="0"/>
                <a:cs typeface="Times New Roman" panose="02020603050405020304" pitchFamily="18" charset="0"/>
              </a:rPr>
              <a:t>This ledger database is an append-only database and cannot be changed or altered. It means that every entry is a permanent entry. Any new entry on it gets reflected on all copies of the databases hosted on different nodes.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91438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B223981-75DB-8C6B-3B6A-83E8016A5C4E}"/>
              </a:ext>
            </a:extLst>
          </p:cNvPr>
          <p:cNvSpPr>
            <a:spLocks noGrp="1"/>
          </p:cNvSpPr>
          <p:nvPr>
            <p:ph idx="1"/>
          </p:nvPr>
        </p:nvSpPr>
        <p:spPr>
          <a:xfrm>
            <a:off x="838200" y="658368"/>
            <a:ext cx="10515600" cy="5506403"/>
          </a:xfrm>
        </p:spPr>
        <p:txBody>
          <a:bodyPr>
            <a:normAutofit lnSpcReduction="10000"/>
          </a:bodyPr>
          <a:lstStyle/>
          <a:p>
            <a:pPr marL="0" indent="0" algn="just">
              <a:lnSpc>
                <a:spcPct val="150000"/>
              </a:lnSpc>
              <a:buNone/>
            </a:pPr>
            <a:r>
              <a:rPr lang="en-US" dirty="0">
                <a:sym typeface="Wingdings" panose="05000000000000000000" pitchFamily="2" charset="2"/>
              </a:rPr>
              <a:t> </a:t>
            </a:r>
            <a:r>
              <a:rPr lang="en-US" dirty="0"/>
              <a:t>This ledger database is an append-only database and cannot be changed or altered. It means that every entry is a permanent entry. Any new entry on it gets reflected on all copies of the databases hosted on different nodes.</a:t>
            </a:r>
            <a:endParaRPr lang="en-US" dirty="0">
              <a:latin typeface="Times New Roman" panose="02020603050405020304" pitchFamily="18" charset="0"/>
              <a:cs typeface="Times New Roman" panose="02020603050405020304" pitchFamily="18" charset="0"/>
            </a:endParaRPr>
          </a:p>
          <a:p>
            <a:pPr marL="0" indent="0" algn="just">
              <a:lnSpc>
                <a:spcPct val="150000"/>
              </a:lnSpc>
              <a:buNone/>
            </a:pPr>
            <a:endParaRPr lang="en-US" dirty="0">
              <a:latin typeface="Times New Roman" panose="02020603050405020304" pitchFamily="18" charset="0"/>
              <a:cs typeface="Times New Roman" panose="02020603050405020304" pitchFamily="18" charset="0"/>
            </a:endParaRPr>
          </a:p>
          <a:p>
            <a:pPr marL="0" indent="0" algn="just">
              <a:lnSpc>
                <a:spcPct val="150000"/>
              </a:lnSpc>
              <a:buNone/>
            </a:pPr>
            <a:r>
              <a:rPr lang="en-US" dirty="0">
                <a:latin typeface="Times New Roman" panose="02020603050405020304" pitchFamily="18" charset="0"/>
                <a:cs typeface="Times New Roman" panose="02020603050405020304" pitchFamily="18" charset="0"/>
                <a:sym typeface="Wingdings" panose="05000000000000000000" pitchFamily="2" charset="2"/>
              </a:rPr>
              <a:t> </a:t>
            </a:r>
            <a:r>
              <a:rPr lang="en-US" dirty="0">
                <a:latin typeface="Times New Roman" panose="02020603050405020304" pitchFamily="18" charset="0"/>
                <a:cs typeface="Times New Roman" panose="02020603050405020304" pitchFamily="18" charset="0"/>
              </a:rPr>
              <a:t>There is no need for a trusted intermediary such as banks, brokers, or other escrow services to serve as a trusted third party. </a:t>
            </a:r>
          </a:p>
          <a:p>
            <a:pPr marL="0" indent="0" algn="just">
              <a:lnSpc>
                <a:spcPct val="150000"/>
              </a:lnSpc>
              <a:buNone/>
            </a:pPr>
            <a:r>
              <a:rPr lang="en-US" dirty="0">
                <a:latin typeface="Times New Roman" panose="02020603050405020304" pitchFamily="18" charset="0"/>
                <a:cs typeface="Times New Roman" panose="02020603050405020304" pitchFamily="18" charset="0"/>
              </a:rPr>
              <a:t>For example, if Alice pays to Bob $10.</a:t>
            </a:r>
          </a:p>
          <a:p>
            <a:pPr marL="0" indent="0" algn="just">
              <a:lnSpc>
                <a:spcPct val="150000"/>
              </a:lnSpc>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79851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1AEF02C-B7DB-3285-8707-FE5336B2A1BE}"/>
              </a:ext>
            </a:extLst>
          </p:cNvPr>
          <p:cNvPicPr>
            <a:picLocks noGrp="1" noChangeAspect="1"/>
          </p:cNvPicPr>
          <p:nvPr>
            <p:ph idx="1"/>
          </p:nvPr>
        </p:nvPicPr>
        <p:blipFill>
          <a:blip r:embed="rId2"/>
          <a:stretch>
            <a:fillRect/>
          </a:stretch>
        </p:blipFill>
        <p:spPr>
          <a:xfrm>
            <a:off x="4891684" y="3429000"/>
            <a:ext cx="6288380" cy="2871649"/>
          </a:xfrm>
        </p:spPr>
      </p:pic>
      <p:pic>
        <p:nvPicPr>
          <p:cNvPr id="6" name="Picture 5">
            <a:extLst>
              <a:ext uri="{FF2B5EF4-FFF2-40B4-BE49-F238E27FC236}">
                <a16:creationId xmlns:a16="http://schemas.microsoft.com/office/drawing/2014/main" id="{8D4CE39B-9211-4F82-DA89-5B3BC324083D}"/>
              </a:ext>
            </a:extLst>
          </p:cNvPr>
          <p:cNvPicPr>
            <a:picLocks noChangeAspect="1"/>
          </p:cNvPicPr>
          <p:nvPr/>
        </p:nvPicPr>
        <p:blipFill>
          <a:blip r:embed="rId3"/>
          <a:stretch>
            <a:fillRect/>
          </a:stretch>
        </p:blipFill>
        <p:spPr>
          <a:xfrm>
            <a:off x="371144" y="365125"/>
            <a:ext cx="7431736" cy="2924941"/>
          </a:xfrm>
          <a:prstGeom prst="rect">
            <a:avLst/>
          </a:prstGeom>
        </p:spPr>
      </p:pic>
    </p:spTree>
    <p:extLst>
      <p:ext uri="{BB962C8B-B14F-4D97-AF65-F5344CB8AC3E}">
        <p14:creationId xmlns:p14="http://schemas.microsoft.com/office/powerpoint/2010/main" val="2924041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E734A-B710-47B0-EA84-66DF3CC8FE5B}"/>
              </a:ext>
            </a:extLst>
          </p:cNvPr>
          <p:cNvSpPr>
            <a:spLocks noGrp="1"/>
          </p:cNvSpPr>
          <p:nvPr>
            <p:ph type="title"/>
          </p:nvPr>
        </p:nvSpPr>
        <p:spPr/>
        <p:txBody>
          <a:bodyPr/>
          <a:lstStyle/>
          <a:p>
            <a:r>
              <a:rPr lang="en-US" b="1" dirty="0"/>
              <a:t>Example 2:</a:t>
            </a:r>
            <a:endParaRPr lang="en-IN" b="1" dirty="0"/>
          </a:p>
        </p:txBody>
      </p:sp>
      <p:sp>
        <p:nvSpPr>
          <p:cNvPr id="3" name="Content Placeholder 2">
            <a:extLst>
              <a:ext uri="{FF2B5EF4-FFF2-40B4-BE49-F238E27FC236}">
                <a16:creationId xmlns:a16="http://schemas.microsoft.com/office/drawing/2014/main" id="{C8EE0B9E-9234-629A-36CE-426BD7A29B38}"/>
              </a:ext>
            </a:extLst>
          </p:cNvPr>
          <p:cNvSpPr>
            <a:spLocks noGrp="1"/>
          </p:cNvSpPr>
          <p:nvPr>
            <p:ph idx="1"/>
          </p:nvPr>
        </p:nvSpPr>
        <p:spPr/>
        <p:txBody>
          <a:bodyPr/>
          <a:lstStyle/>
          <a:p>
            <a:pPr marL="0" indent="0" algn="just">
              <a:buNone/>
            </a:pPr>
            <a:r>
              <a:rPr lang="en-US" dirty="0"/>
              <a:t>A typical stock transaction happens in seconds, but its settlement takes weeks. </a:t>
            </a:r>
          </a:p>
          <a:p>
            <a:pPr marL="0" indent="0" algn="just">
              <a:buNone/>
            </a:pPr>
            <a:endParaRPr lang="en-IN" dirty="0"/>
          </a:p>
        </p:txBody>
      </p:sp>
    </p:spTree>
    <p:extLst>
      <p:ext uri="{BB962C8B-B14F-4D97-AF65-F5344CB8AC3E}">
        <p14:creationId xmlns:p14="http://schemas.microsoft.com/office/powerpoint/2010/main" val="7243685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7DF6778-1F6D-7A5A-C8C6-50496293011A}"/>
              </a:ext>
            </a:extLst>
          </p:cNvPr>
          <p:cNvPicPr>
            <a:picLocks noGrp="1" noChangeAspect="1"/>
          </p:cNvPicPr>
          <p:nvPr>
            <p:ph idx="1"/>
          </p:nvPr>
        </p:nvPicPr>
        <p:blipFill>
          <a:blip r:embed="rId2"/>
          <a:stretch>
            <a:fillRect/>
          </a:stretch>
        </p:blipFill>
        <p:spPr>
          <a:xfrm>
            <a:off x="2326760" y="389509"/>
            <a:ext cx="7183000" cy="5436450"/>
          </a:xfrm>
          <a:prstGeom prst="rect">
            <a:avLst/>
          </a:prstGeom>
        </p:spPr>
      </p:pic>
    </p:spTree>
    <p:extLst>
      <p:ext uri="{BB962C8B-B14F-4D97-AF65-F5344CB8AC3E}">
        <p14:creationId xmlns:p14="http://schemas.microsoft.com/office/powerpoint/2010/main" val="36894244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DAB590-AFE7-00C1-53E4-38F0EF8A4A47}"/>
              </a:ext>
            </a:extLst>
          </p:cNvPr>
          <p:cNvSpPr>
            <a:spLocks noGrp="1"/>
          </p:cNvSpPr>
          <p:nvPr>
            <p:ph idx="1"/>
          </p:nvPr>
        </p:nvSpPr>
        <p:spPr>
          <a:xfrm>
            <a:off x="838200" y="1182624"/>
            <a:ext cx="10515600" cy="4994339"/>
          </a:xfrm>
        </p:spPr>
        <p:txBody>
          <a:bodyPr/>
          <a:lstStyle/>
          <a:p>
            <a:pPr marL="0" indent="0" algn="just">
              <a:lnSpc>
                <a:spcPct val="150000"/>
              </a:lnSpc>
              <a:buNone/>
            </a:pPr>
            <a:r>
              <a:rPr lang="en-US" dirty="0">
                <a:latin typeface="Times New Roman" panose="02020603050405020304" pitchFamily="18" charset="0"/>
                <a:cs typeface="Times New Roman" panose="02020603050405020304" pitchFamily="18" charset="0"/>
              </a:rPr>
              <a:t>If someone wants to buy some stocks from a company or a person, they can just directly buy it from them with instant settlement, with no need for brokers, clearing houses, or other financial institutions in between. </a:t>
            </a:r>
          </a:p>
          <a:p>
            <a:pPr marL="0" indent="0" algn="just">
              <a:lnSpc>
                <a:spcPct val="150000"/>
              </a:lnSpc>
              <a:buNone/>
            </a:pPr>
            <a:endParaRPr lang="en-US" dirty="0">
              <a:latin typeface="Times New Roman" panose="02020603050405020304" pitchFamily="18" charset="0"/>
              <a:cs typeface="Times New Roman" panose="02020603050405020304" pitchFamily="18" charset="0"/>
            </a:endParaRPr>
          </a:p>
          <a:p>
            <a:pPr marL="0" indent="0" algn="just">
              <a:lnSpc>
                <a:spcPct val="150000"/>
              </a:lnSpc>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31690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C055283-A9EF-8E7E-EB3F-315FF6F3EAFC}"/>
              </a:ext>
            </a:extLst>
          </p:cNvPr>
          <p:cNvPicPr>
            <a:picLocks noGrp="1" noChangeAspect="1"/>
          </p:cNvPicPr>
          <p:nvPr>
            <p:ph idx="1"/>
          </p:nvPr>
        </p:nvPicPr>
        <p:blipFill>
          <a:blip r:embed="rId2"/>
          <a:stretch>
            <a:fillRect/>
          </a:stretch>
        </p:blipFill>
        <p:spPr>
          <a:xfrm>
            <a:off x="6556577" y="0"/>
            <a:ext cx="5537887" cy="6534979"/>
          </a:xfrm>
          <a:prstGeom prst="rect">
            <a:avLst/>
          </a:prstGeom>
        </p:spPr>
      </p:pic>
      <p:sp>
        <p:nvSpPr>
          <p:cNvPr id="6" name="TextBox 5">
            <a:extLst>
              <a:ext uri="{FF2B5EF4-FFF2-40B4-BE49-F238E27FC236}">
                <a16:creationId xmlns:a16="http://schemas.microsoft.com/office/drawing/2014/main" id="{6D45686F-D53F-4EF7-B8CA-2B87E6BF7BA6}"/>
              </a:ext>
            </a:extLst>
          </p:cNvPr>
          <p:cNvSpPr txBox="1"/>
          <p:nvPr/>
        </p:nvSpPr>
        <p:spPr>
          <a:xfrm>
            <a:off x="316992" y="938707"/>
            <a:ext cx="6096000" cy="954107"/>
          </a:xfrm>
          <a:prstGeom prst="rect">
            <a:avLst/>
          </a:prstGeom>
          <a:noFill/>
        </p:spPr>
        <p:txBody>
          <a:bodyPr wrap="square">
            <a:spAutoFit/>
          </a:bodyPr>
          <a:lstStyle/>
          <a:p>
            <a:pPr marL="0" indent="0" algn="just">
              <a:buNone/>
            </a:pPr>
            <a:r>
              <a:rPr lang="en-US" sz="2800" dirty="0">
                <a:latin typeface="Times New Roman" panose="02020603050405020304" pitchFamily="18" charset="0"/>
                <a:cs typeface="Times New Roman" panose="02020603050405020304" pitchFamily="18" charset="0"/>
              </a:rPr>
              <a:t>A decentralized and peer-to peer solution to such a situation can be represented as:</a:t>
            </a:r>
          </a:p>
        </p:txBody>
      </p:sp>
    </p:spTree>
    <p:extLst>
      <p:ext uri="{BB962C8B-B14F-4D97-AF65-F5344CB8AC3E}">
        <p14:creationId xmlns:p14="http://schemas.microsoft.com/office/powerpoint/2010/main" val="1904413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BFED451-C962-0206-071E-4AC067A40ADF}"/>
              </a:ext>
            </a:extLst>
          </p:cNvPr>
          <p:cNvSpPr>
            <a:spLocks noGrp="1"/>
          </p:cNvSpPr>
          <p:nvPr>
            <p:ph type="title"/>
          </p:nvPr>
        </p:nvSpPr>
        <p:spPr>
          <a:xfrm>
            <a:off x="1293813" y="166457"/>
            <a:ext cx="9601200" cy="981635"/>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LET’S FIRST TALK ABOUT BANKING</a:t>
            </a:r>
            <a:endParaRPr lang="en-IN" b="1" dirty="0">
              <a:latin typeface="Times New Roman" panose="02020603050405020304" pitchFamily="18" charset="0"/>
              <a:cs typeface="Times New Roman" panose="02020603050405020304" pitchFamily="18" charset="0"/>
            </a:endParaRPr>
          </a:p>
        </p:txBody>
      </p:sp>
      <p:pic>
        <p:nvPicPr>
          <p:cNvPr id="5" name="Content Placeholder 3">
            <a:extLst>
              <a:ext uri="{FF2B5EF4-FFF2-40B4-BE49-F238E27FC236}">
                <a16:creationId xmlns:a16="http://schemas.microsoft.com/office/drawing/2014/main" id="{0D0F0B99-CEB3-42E4-2B56-54FEEF790995}"/>
              </a:ext>
            </a:extLst>
          </p:cNvPr>
          <p:cNvPicPr>
            <a:picLocks noGrp="1" noChangeAspect="1"/>
          </p:cNvPicPr>
          <p:nvPr>
            <p:ph idx="1"/>
          </p:nvPr>
        </p:nvPicPr>
        <p:blipFill>
          <a:blip r:embed="rId2"/>
          <a:stretch>
            <a:fillRect/>
          </a:stretch>
        </p:blipFill>
        <p:spPr>
          <a:xfrm>
            <a:off x="1002945" y="1629576"/>
            <a:ext cx="10360488" cy="4867834"/>
          </a:xfrm>
          <a:prstGeom prst="rect">
            <a:avLst/>
          </a:prstGeom>
        </p:spPr>
      </p:pic>
    </p:spTree>
    <p:extLst>
      <p:ext uri="{BB962C8B-B14F-4D97-AF65-F5344CB8AC3E}">
        <p14:creationId xmlns:p14="http://schemas.microsoft.com/office/powerpoint/2010/main" val="1669772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539575D-C3A1-601F-E1FB-890CBA21EA3F}"/>
              </a:ext>
            </a:extLst>
          </p:cNvPr>
          <p:cNvSpPr>
            <a:spLocks noGrp="1"/>
          </p:cNvSpPr>
          <p:nvPr>
            <p:ph type="title"/>
          </p:nvPr>
        </p:nvSpPr>
        <p:spPr>
          <a:xfrm>
            <a:off x="325514" y="362464"/>
            <a:ext cx="11540971" cy="981635"/>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LET’S FIRST TALK ABOUT BANKING-ISSUES</a:t>
            </a:r>
            <a:endParaRPr lang="en-IN" b="1" dirty="0">
              <a:latin typeface="Times New Roman" panose="02020603050405020304" pitchFamily="18" charset="0"/>
              <a:cs typeface="Times New Roman" panose="02020603050405020304" pitchFamily="18" charset="0"/>
            </a:endParaRPr>
          </a:p>
        </p:txBody>
      </p:sp>
      <p:sp>
        <p:nvSpPr>
          <p:cNvPr id="5" name="Content Placeholder 2">
            <a:extLst>
              <a:ext uri="{FF2B5EF4-FFF2-40B4-BE49-F238E27FC236}">
                <a16:creationId xmlns:a16="http://schemas.microsoft.com/office/drawing/2014/main" id="{CC282522-EDA4-FBEF-E9BE-B588A07D77C5}"/>
              </a:ext>
            </a:extLst>
          </p:cNvPr>
          <p:cNvSpPr>
            <a:spLocks noGrp="1"/>
          </p:cNvSpPr>
          <p:nvPr>
            <p:ph idx="1"/>
          </p:nvPr>
        </p:nvSpPr>
        <p:spPr>
          <a:xfrm>
            <a:off x="1460550" y="1961966"/>
            <a:ext cx="9601198" cy="3962400"/>
          </a:xfrm>
        </p:spPr>
        <p:txBody>
          <a:bodyPr/>
          <a:lstStyle/>
          <a:p>
            <a:endParaRPr lang="en-IN"/>
          </a:p>
        </p:txBody>
      </p:sp>
      <p:pic>
        <p:nvPicPr>
          <p:cNvPr id="6" name="Picture 5">
            <a:extLst>
              <a:ext uri="{FF2B5EF4-FFF2-40B4-BE49-F238E27FC236}">
                <a16:creationId xmlns:a16="http://schemas.microsoft.com/office/drawing/2014/main" id="{94B6A4A8-94C7-9D26-1B89-BC9FD36708AE}"/>
              </a:ext>
            </a:extLst>
          </p:cNvPr>
          <p:cNvPicPr>
            <a:picLocks noChangeAspect="1"/>
          </p:cNvPicPr>
          <p:nvPr/>
        </p:nvPicPr>
        <p:blipFill>
          <a:blip r:embed="rId2"/>
          <a:stretch>
            <a:fillRect/>
          </a:stretch>
        </p:blipFill>
        <p:spPr>
          <a:xfrm>
            <a:off x="1130252" y="1632883"/>
            <a:ext cx="9931496" cy="4862653"/>
          </a:xfrm>
          <a:prstGeom prst="rect">
            <a:avLst/>
          </a:prstGeom>
        </p:spPr>
      </p:pic>
    </p:spTree>
    <p:extLst>
      <p:ext uri="{BB962C8B-B14F-4D97-AF65-F5344CB8AC3E}">
        <p14:creationId xmlns:p14="http://schemas.microsoft.com/office/powerpoint/2010/main" val="1381251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F46A9A9-990B-17C5-22C1-E0DFBD2A3DB2}"/>
              </a:ext>
            </a:extLst>
          </p:cNvPr>
          <p:cNvSpPr>
            <a:spLocks noGrp="1"/>
          </p:cNvSpPr>
          <p:nvPr>
            <p:ph type="title"/>
          </p:nvPr>
        </p:nvSpPr>
        <p:spPr>
          <a:xfrm>
            <a:off x="173302" y="262424"/>
            <a:ext cx="11504870" cy="806824"/>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LET’S FIRST TALK ABOUT BANKING-ISSUES</a:t>
            </a:r>
            <a:endParaRPr lang="en-IN" b="1" dirty="0">
              <a:latin typeface="Times New Roman" panose="02020603050405020304" pitchFamily="18" charset="0"/>
              <a:cs typeface="Times New Roman" panose="02020603050405020304" pitchFamily="18" charset="0"/>
            </a:endParaRPr>
          </a:p>
        </p:txBody>
      </p:sp>
      <p:sp>
        <p:nvSpPr>
          <p:cNvPr id="5" name="Content Placeholder 2">
            <a:extLst>
              <a:ext uri="{FF2B5EF4-FFF2-40B4-BE49-F238E27FC236}">
                <a16:creationId xmlns:a16="http://schemas.microsoft.com/office/drawing/2014/main" id="{B1566E2A-B543-BA24-4256-E18F371F0199}"/>
              </a:ext>
            </a:extLst>
          </p:cNvPr>
          <p:cNvSpPr>
            <a:spLocks noGrp="1"/>
          </p:cNvSpPr>
          <p:nvPr>
            <p:ph idx="1"/>
          </p:nvPr>
        </p:nvSpPr>
        <p:spPr>
          <a:xfrm>
            <a:off x="588702" y="1209974"/>
            <a:ext cx="11603297" cy="5311587"/>
          </a:xfrm>
        </p:spPr>
        <p:txBody>
          <a:bodyPr/>
          <a:lstStyle/>
          <a:p>
            <a:pPr marL="538163" indent="-493713">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Double Spending - Simultaneously</a:t>
            </a:r>
          </a:p>
          <a:p>
            <a:pPr marL="0" indent="0">
              <a:buNone/>
            </a:pPr>
            <a:endParaRPr lang="en-IN" dirty="0"/>
          </a:p>
        </p:txBody>
      </p:sp>
      <p:pic>
        <p:nvPicPr>
          <p:cNvPr id="6" name="Picture 5">
            <a:extLst>
              <a:ext uri="{FF2B5EF4-FFF2-40B4-BE49-F238E27FC236}">
                <a16:creationId xmlns:a16="http://schemas.microsoft.com/office/drawing/2014/main" id="{3FF0D821-E49F-11AE-CCBB-E8F0674D7419}"/>
              </a:ext>
            </a:extLst>
          </p:cNvPr>
          <p:cNvPicPr>
            <a:picLocks noChangeAspect="1"/>
          </p:cNvPicPr>
          <p:nvPr/>
        </p:nvPicPr>
        <p:blipFill>
          <a:blip r:embed="rId2"/>
          <a:stretch>
            <a:fillRect/>
          </a:stretch>
        </p:blipFill>
        <p:spPr>
          <a:xfrm>
            <a:off x="1125137" y="1748340"/>
            <a:ext cx="7187829" cy="4987474"/>
          </a:xfrm>
          <a:prstGeom prst="rect">
            <a:avLst/>
          </a:prstGeom>
        </p:spPr>
      </p:pic>
      <p:pic>
        <p:nvPicPr>
          <p:cNvPr id="7" name="Picture 6">
            <a:extLst>
              <a:ext uri="{FF2B5EF4-FFF2-40B4-BE49-F238E27FC236}">
                <a16:creationId xmlns:a16="http://schemas.microsoft.com/office/drawing/2014/main" id="{F799F886-F547-0DDA-75E9-30BC5547E827}"/>
              </a:ext>
            </a:extLst>
          </p:cNvPr>
          <p:cNvPicPr>
            <a:picLocks noChangeAspect="1"/>
          </p:cNvPicPr>
          <p:nvPr/>
        </p:nvPicPr>
        <p:blipFill>
          <a:blip r:embed="rId3"/>
          <a:stretch>
            <a:fillRect/>
          </a:stretch>
        </p:blipFill>
        <p:spPr>
          <a:xfrm>
            <a:off x="8799671" y="3839134"/>
            <a:ext cx="3076575" cy="771525"/>
          </a:xfrm>
          <a:prstGeom prst="rect">
            <a:avLst/>
          </a:prstGeom>
        </p:spPr>
      </p:pic>
    </p:spTree>
    <p:extLst>
      <p:ext uri="{BB962C8B-B14F-4D97-AF65-F5344CB8AC3E}">
        <p14:creationId xmlns:p14="http://schemas.microsoft.com/office/powerpoint/2010/main" val="2710870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8D578FB-C6CA-E20C-D302-E3995DD7CFE1}"/>
              </a:ext>
            </a:extLst>
          </p:cNvPr>
          <p:cNvSpPr>
            <a:spLocks noGrp="1"/>
          </p:cNvSpPr>
          <p:nvPr>
            <p:ph type="title"/>
          </p:nvPr>
        </p:nvSpPr>
        <p:spPr>
          <a:xfrm>
            <a:off x="1293811" y="107665"/>
            <a:ext cx="9601200" cy="784412"/>
          </a:xfrm>
        </p:spPr>
        <p:txBody>
          <a:bodyPr>
            <a:normAutofit/>
          </a:bodyPr>
          <a:lstStyle/>
          <a:p>
            <a:pPr algn="ctr"/>
            <a:r>
              <a:rPr lang="en-IN" sz="4000" b="1" dirty="0">
                <a:latin typeface="Times New Roman" panose="02020603050405020304" pitchFamily="18" charset="0"/>
                <a:cs typeface="Times New Roman" panose="02020603050405020304" pitchFamily="18" charset="0"/>
              </a:rPr>
              <a:t>HOW DO YOU TRANSACT?</a:t>
            </a:r>
          </a:p>
        </p:txBody>
      </p:sp>
      <p:sp>
        <p:nvSpPr>
          <p:cNvPr id="5" name="Content Placeholder 2">
            <a:extLst>
              <a:ext uri="{FF2B5EF4-FFF2-40B4-BE49-F238E27FC236}">
                <a16:creationId xmlns:a16="http://schemas.microsoft.com/office/drawing/2014/main" id="{8F3497E8-8E3B-2AC2-2757-13BCD747ACAA}"/>
              </a:ext>
            </a:extLst>
          </p:cNvPr>
          <p:cNvSpPr>
            <a:spLocks noGrp="1"/>
          </p:cNvSpPr>
          <p:nvPr>
            <p:ph idx="1"/>
          </p:nvPr>
        </p:nvSpPr>
        <p:spPr>
          <a:xfrm>
            <a:off x="512691" y="1021887"/>
            <a:ext cx="11163439" cy="5728448"/>
          </a:xfrm>
        </p:spPr>
        <p:txBody>
          <a:bodyPr>
            <a:normAutofit/>
          </a:bodyPr>
          <a:lstStyle/>
          <a:p>
            <a:pPr marL="538163" indent="-493713">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Your write a check or do internet transaction to pay a payee</a:t>
            </a:r>
          </a:p>
          <a:p>
            <a:pPr marL="538163" indent="-493713">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Bank checks if you have balance &gt; transaction amount</a:t>
            </a:r>
          </a:p>
          <a:p>
            <a:pPr marL="901700" lvl="1" indent="-400050">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If yes, it debits your account by balance = balance ‐ </a:t>
            </a:r>
            <a:r>
              <a:rPr lang="en-US" dirty="0" err="1">
                <a:latin typeface="Times New Roman" panose="02020603050405020304" pitchFamily="18" charset="0"/>
                <a:cs typeface="Times New Roman" panose="02020603050405020304" pitchFamily="18" charset="0"/>
              </a:rPr>
              <a:t>transaction_amount</a:t>
            </a:r>
            <a:endParaRPr lang="en-US" dirty="0">
              <a:latin typeface="Times New Roman" panose="02020603050405020304" pitchFamily="18" charset="0"/>
              <a:cs typeface="Times New Roman" panose="02020603050405020304" pitchFamily="18" charset="0"/>
            </a:endParaRPr>
          </a:p>
          <a:p>
            <a:pPr marL="1358900" lvl="2" indent="-400050">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credit’s payee’s account by </a:t>
            </a:r>
            <a:r>
              <a:rPr lang="en-US" dirty="0" err="1">
                <a:latin typeface="Times New Roman" panose="02020603050405020304" pitchFamily="18" charset="0"/>
                <a:cs typeface="Times New Roman" panose="02020603050405020304" pitchFamily="18" charset="0"/>
              </a:rPr>
              <a:t>payee.balance</a:t>
            </a:r>
            <a:r>
              <a:rPr lang="en-US" dirty="0">
                <a:latin typeface="Times New Roman" panose="02020603050405020304" pitchFamily="18" charset="0"/>
                <a:cs typeface="Times New Roman" panose="02020603050405020304" pitchFamily="18" charset="0"/>
              </a:rPr>
              <a:t> = </a:t>
            </a:r>
            <a:r>
              <a:rPr lang="en-US" dirty="0" err="1">
                <a:latin typeface="Times New Roman" panose="02020603050405020304" pitchFamily="18" charset="0"/>
                <a:cs typeface="Times New Roman" panose="02020603050405020304" pitchFamily="18" charset="0"/>
              </a:rPr>
              <a:t>payee.balance</a:t>
            </a:r>
            <a:r>
              <a:rPr lang="en-US" dirty="0">
                <a:latin typeface="Times New Roman" panose="02020603050405020304" pitchFamily="18" charset="0"/>
                <a:cs typeface="Times New Roman" panose="02020603050405020304" pitchFamily="18" charset="0"/>
              </a:rPr>
              <a:t> + </a:t>
            </a:r>
            <a:r>
              <a:rPr lang="en-US" dirty="0" err="1">
                <a:latin typeface="Times New Roman" panose="02020603050405020304" pitchFamily="18" charset="0"/>
                <a:cs typeface="Times New Roman" panose="02020603050405020304" pitchFamily="18" charset="0"/>
              </a:rPr>
              <a:t>transaction_amount</a:t>
            </a:r>
            <a:endParaRPr lang="en-US" dirty="0">
              <a:latin typeface="Times New Roman" panose="02020603050405020304" pitchFamily="18" charset="0"/>
              <a:cs typeface="Times New Roman" panose="02020603050405020304" pitchFamily="18" charset="0"/>
            </a:endParaRPr>
          </a:p>
          <a:p>
            <a:pPr marL="901700" lvl="1" indent="-400050">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If no, the transaction is invalid and rejected.</a:t>
            </a:r>
          </a:p>
          <a:p>
            <a:pPr marL="538163" indent="-493713">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You can check your transaction list online, or check the monthly </a:t>
            </a:r>
            <a:r>
              <a:rPr lang="en-IN" dirty="0">
                <a:latin typeface="Times New Roman" panose="02020603050405020304" pitchFamily="18" charset="0"/>
                <a:cs typeface="Times New Roman" panose="02020603050405020304" pitchFamily="18" charset="0"/>
              </a:rPr>
              <a:t>statement</a:t>
            </a:r>
          </a:p>
          <a:p>
            <a:pPr marL="538163" indent="-493713">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Who maintains the ledger?</a:t>
            </a:r>
          </a:p>
          <a:p>
            <a:pPr marL="995363" lvl="1" indent="-493713">
              <a:buFont typeface="Wingdings" panose="05000000000000000000" pitchFamily="2" charset="2"/>
              <a:buChar char="v"/>
            </a:pPr>
            <a:r>
              <a:rPr lang="en-IN" sz="2800" dirty="0">
                <a:latin typeface="Times New Roman" panose="02020603050405020304" pitchFamily="18" charset="0"/>
                <a:cs typeface="Times New Roman" panose="02020603050405020304" pitchFamily="18" charset="0"/>
              </a:rPr>
              <a:t>Bank Does</a:t>
            </a:r>
          </a:p>
          <a:p>
            <a:pPr marL="995363" lvl="1" indent="-493713">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W</a:t>
            </a:r>
            <a:r>
              <a:rPr lang="en-US" dirty="0">
                <a:latin typeface="Times New Roman" panose="02020603050405020304" pitchFamily="18" charset="0"/>
                <a:cs typeface="Times New Roman" panose="02020603050405020304" pitchFamily="18" charset="0"/>
              </a:rPr>
              <a:t>hat if Bank allows an invalid transaction go through</a:t>
            </a:r>
          </a:p>
          <a:p>
            <a:pPr marL="1301750" lvl="2" indent="-342900">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Invalid = you did not authenticate the transaction</a:t>
            </a:r>
          </a:p>
          <a:p>
            <a:pPr marL="1301750" lvl="2" indent="-342900">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Invalid = your balance was not sufficient but transaction was made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88429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B279BDD-D4AA-FE5F-177C-DBB6298628EF}"/>
              </a:ext>
            </a:extLst>
          </p:cNvPr>
          <p:cNvSpPr>
            <a:spLocks noGrp="1"/>
          </p:cNvSpPr>
          <p:nvPr>
            <p:ph type="title"/>
          </p:nvPr>
        </p:nvSpPr>
        <p:spPr>
          <a:xfrm>
            <a:off x="993135" y="186429"/>
            <a:ext cx="9989490" cy="479395"/>
          </a:xfrm>
        </p:spPr>
        <p:txBody>
          <a:bodyPr>
            <a:normAutofit fontScale="90000"/>
          </a:bodyPr>
          <a:lstStyle/>
          <a:p>
            <a:pPr algn="ctr"/>
            <a:r>
              <a:rPr lang="en-IN" sz="4000" b="1" dirty="0">
                <a:latin typeface="Times New Roman" panose="02020603050405020304" pitchFamily="18" charset="0"/>
                <a:cs typeface="Times New Roman" panose="02020603050405020304" pitchFamily="18" charset="0"/>
              </a:rPr>
              <a:t>Bank Frauds</a:t>
            </a:r>
          </a:p>
        </p:txBody>
      </p:sp>
      <p:sp>
        <p:nvSpPr>
          <p:cNvPr id="5" name="Content Placeholder 4">
            <a:extLst>
              <a:ext uri="{FF2B5EF4-FFF2-40B4-BE49-F238E27FC236}">
                <a16:creationId xmlns:a16="http://schemas.microsoft.com/office/drawing/2014/main" id="{4001D069-BAC9-2FB5-9AD3-1693EC5E7DD5}"/>
              </a:ext>
            </a:extLst>
          </p:cNvPr>
          <p:cNvSpPr>
            <a:spLocks noGrp="1"/>
          </p:cNvSpPr>
          <p:nvPr>
            <p:ph idx="1"/>
          </p:nvPr>
        </p:nvSpPr>
        <p:spPr>
          <a:xfrm>
            <a:off x="145133" y="753036"/>
            <a:ext cx="11685494" cy="5918536"/>
          </a:xfrm>
        </p:spPr>
        <p:txBody>
          <a:bodyPr>
            <a:normAutofit/>
          </a:bodyPr>
          <a:lstStyle/>
          <a:p>
            <a:pPr marL="538163" indent="-493713" algn="just">
              <a:lnSpc>
                <a:spcPct val="10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You find a check was used to pay someone but you never wrote the check</a:t>
            </a:r>
          </a:p>
          <a:p>
            <a:pPr marL="995363" lvl="1" indent="-493713" algn="just">
              <a:lnSpc>
                <a:spcPct val="100000"/>
              </a:lnSpc>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Someone forged your check and/or signature</a:t>
            </a:r>
          </a:p>
          <a:p>
            <a:pPr marL="538163" indent="-493713" algn="just">
              <a:lnSpc>
                <a:spcPct val="10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You did sign a check for x amount, but the amount field was modified</a:t>
            </a:r>
          </a:p>
          <a:p>
            <a:pPr marL="995363" lvl="1" indent="-493713" algn="just">
              <a:lnSpc>
                <a:spcPct val="100000"/>
              </a:lnSpc>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How do you prove to the bank that an extra 0 was not there in your signing time?</a:t>
            </a:r>
          </a:p>
          <a:p>
            <a:pPr marL="538163" indent="-493713" algn="just">
              <a:lnSpc>
                <a:spcPct val="10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monthly statement says that you did a transaction but you did not recall or the amount of a transaction is different from what you had done</a:t>
            </a:r>
          </a:p>
          <a:p>
            <a:pPr marL="995363" lvl="1" indent="-493713" algn="just">
              <a:lnSpc>
                <a:spcPct val="100000"/>
              </a:lnSpc>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Someone got your password, and possibly redirected OTP to another SIM (SIM Fraud)</a:t>
            </a:r>
          </a:p>
          <a:p>
            <a:pPr marL="995363" lvl="1" indent="-493713" algn="just">
              <a:lnSpc>
                <a:spcPct val="100000"/>
              </a:lnSpc>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Bank employees themselves might have done something</a:t>
            </a:r>
          </a:p>
          <a:p>
            <a:pPr marL="538163" indent="-493713" algn="just">
              <a:lnSpc>
                <a:spcPct val="10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How do you argue to the bank? (Non-repudiation)</a:t>
            </a:r>
          </a:p>
          <a:p>
            <a:pPr marL="538163" indent="-493713" algn="just">
              <a:lnSpc>
                <a:spcPct val="10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How do you argue that the amount was modified? (Integrity)</a:t>
            </a:r>
          </a:p>
          <a:p>
            <a:pPr marL="538163" indent="-493713" algn="just">
              <a:lnSpc>
                <a:spcPct val="10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Finally, do you tally your transactions when you receive your monthly statement?</a:t>
            </a:r>
          </a:p>
          <a:p>
            <a:pPr marL="995363" lvl="1" indent="-493713" algn="just">
              <a:lnSpc>
                <a:spcPct val="100000"/>
              </a:lnSpc>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Most people do not</a:t>
            </a:r>
          </a:p>
        </p:txBody>
      </p:sp>
    </p:spTree>
    <p:extLst>
      <p:ext uri="{BB962C8B-B14F-4D97-AF65-F5344CB8AC3E}">
        <p14:creationId xmlns:p14="http://schemas.microsoft.com/office/powerpoint/2010/main" val="4269120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D75E810-B8D9-82D9-04BA-24B916D70C30}"/>
              </a:ext>
            </a:extLst>
          </p:cNvPr>
          <p:cNvSpPr>
            <a:spLocks noGrp="1"/>
          </p:cNvSpPr>
          <p:nvPr>
            <p:ph type="title"/>
          </p:nvPr>
        </p:nvSpPr>
        <p:spPr>
          <a:xfrm>
            <a:off x="1293813" y="304800"/>
            <a:ext cx="9601200" cy="1219200"/>
          </a:xfrm>
        </p:spPr>
        <p:txBody>
          <a:bodyPr/>
          <a:lstStyle/>
          <a:p>
            <a:endParaRPr lang="en-IN"/>
          </a:p>
        </p:txBody>
      </p:sp>
      <p:sp>
        <p:nvSpPr>
          <p:cNvPr id="5" name="Content Placeholder 2">
            <a:extLst>
              <a:ext uri="{FF2B5EF4-FFF2-40B4-BE49-F238E27FC236}">
                <a16:creationId xmlns:a16="http://schemas.microsoft.com/office/drawing/2014/main" id="{BB13984A-5470-109B-263C-4DAD435463B5}"/>
              </a:ext>
            </a:extLst>
          </p:cNvPr>
          <p:cNvSpPr>
            <a:spLocks noGrp="1"/>
          </p:cNvSpPr>
          <p:nvPr>
            <p:ph idx="1"/>
          </p:nvPr>
        </p:nvSpPr>
        <p:spPr>
          <a:xfrm>
            <a:off x="1293814" y="1828801"/>
            <a:ext cx="9601198" cy="3962400"/>
          </a:xfrm>
        </p:spPr>
        <p:txBody>
          <a:bodyPr/>
          <a:lstStyle/>
          <a:p>
            <a:endParaRPr lang="en-IN"/>
          </a:p>
        </p:txBody>
      </p:sp>
      <p:pic>
        <p:nvPicPr>
          <p:cNvPr id="6" name="Picture 5">
            <a:extLst>
              <a:ext uri="{FF2B5EF4-FFF2-40B4-BE49-F238E27FC236}">
                <a16:creationId xmlns:a16="http://schemas.microsoft.com/office/drawing/2014/main" id="{2A72B0D5-DCF1-3F23-85FA-D274E6A58FB8}"/>
              </a:ext>
            </a:extLst>
          </p:cNvPr>
          <p:cNvPicPr>
            <a:picLocks noChangeAspect="1"/>
          </p:cNvPicPr>
          <p:nvPr/>
        </p:nvPicPr>
        <p:blipFill>
          <a:blip r:embed="rId2"/>
          <a:stretch>
            <a:fillRect/>
          </a:stretch>
        </p:blipFill>
        <p:spPr>
          <a:xfrm>
            <a:off x="361025" y="189370"/>
            <a:ext cx="11469950" cy="6479259"/>
          </a:xfrm>
          <a:prstGeom prst="rect">
            <a:avLst/>
          </a:prstGeom>
        </p:spPr>
      </p:pic>
    </p:spTree>
    <p:extLst>
      <p:ext uri="{BB962C8B-B14F-4D97-AF65-F5344CB8AC3E}">
        <p14:creationId xmlns:p14="http://schemas.microsoft.com/office/powerpoint/2010/main" val="32695475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1B03CE9-0872-9D3E-0D5B-1A096BAAEE0F}"/>
              </a:ext>
            </a:extLst>
          </p:cNvPr>
          <p:cNvPicPr>
            <a:picLocks noChangeAspect="1"/>
          </p:cNvPicPr>
          <p:nvPr/>
        </p:nvPicPr>
        <p:blipFill>
          <a:blip r:embed="rId2"/>
          <a:stretch>
            <a:fillRect/>
          </a:stretch>
        </p:blipFill>
        <p:spPr>
          <a:xfrm>
            <a:off x="307758" y="227163"/>
            <a:ext cx="11576483" cy="6403673"/>
          </a:xfrm>
          <a:prstGeom prst="rect">
            <a:avLst/>
          </a:prstGeom>
        </p:spPr>
      </p:pic>
    </p:spTree>
    <p:extLst>
      <p:ext uri="{BB962C8B-B14F-4D97-AF65-F5344CB8AC3E}">
        <p14:creationId xmlns:p14="http://schemas.microsoft.com/office/powerpoint/2010/main" val="469064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D9D1521-0053-E099-BCDB-7A1D28019D92}"/>
              </a:ext>
            </a:extLst>
          </p:cNvPr>
          <p:cNvPicPr>
            <a:picLocks noChangeAspect="1"/>
          </p:cNvPicPr>
          <p:nvPr/>
        </p:nvPicPr>
        <p:blipFill>
          <a:blip r:embed="rId2"/>
          <a:stretch>
            <a:fillRect/>
          </a:stretch>
        </p:blipFill>
        <p:spPr>
          <a:xfrm>
            <a:off x="218982" y="319681"/>
            <a:ext cx="11754035" cy="6218638"/>
          </a:xfrm>
          <a:prstGeom prst="rect">
            <a:avLst/>
          </a:prstGeom>
        </p:spPr>
      </p:pic>
    </p:spTree>
    <p:extLst>
      <p:ext uri="{BB962C8B-B14F-4D97-AF65-F5344CB8AC3E}">
        <p14:creationId xmlns:p14="http://schemas.microsoft.com/office/powerpoint/2010/main" val="905095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1797445-51F9-46E9-37BD-7E932FF3F4E7}"/>
              </a:ext>
            </a:extLst>
          </p:cNvPr>
          <p:cNvSpPr>
            <a:spLocks noGrp="1"/>
          </p:cNvSpPr>
          <p:nvPr>
            <p:ph type="title"/>
          </p:nvPr>
        </p:nvSpPr>
        <p:spPr>
          <a:xfrm>
            <a:off x="721878" y="174811"/>
            <a:ext cx="10745066" cy="824753"/>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Again, What is a Blockchain? –who invented?</a:t>
            </a:r>
            <a:endParaRPr lang="en-IN" b="1"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AC655C1D-DCCE-6667-18EE-6DE8CF794C0C}"/>
              </a:ext>
            </a:extLst>
          </p:cNvPr>
          <p:cNvSpPr>
            <a:spLocks noGrp="1"/>
          </p:cNvSpPr>
          <p:nvPr>
            <p:ph idx="1"/>
          </p:nvPr>
        </p:nvSpPr>
        <p:spPr>
          <a:xfrm>
            <a:off x="402296" y="1304364"/>
            <a:ext cx="11384231" cy="5298141"/>
          </a:xfrm>
          <a:prstGeom prst="rect">
            <a:avLst/>
          </a:prstGeom>
        </p:spPr>
        <p:txBody>
          <a:bodyPr lIns="0" tIns="0" rIns="0" bIns="0">
            <a:noAutofit/>
          </a:bodyPr>
          <a:lstStyle/>
          <a:p>
            <a:pPr marL="241300" indent="0" algn="just">
              <a:lnSpc>
                <a:spcPct val="100000"/>
              </a:lnSpc>
              <a:spcAft>
                <a:spcPts val="210"/>
              </a:spcAft>
              <a:buNone/>
            </a:pPr>
            <a:r>
              <a:rPr lang="en-US" sz="2400" dirty="0">
                <a:latin typeface="Times New Roman" panose="02020603050405020304" pitchFamily="18" charset="0"/>
                <a:cs typeface="Times New Roman" panose="02020603050405020304" pitchFamily="18" charset="0"/>
              </a:rPr>
              <a:t>Proposed in their research paper published in 1991, entitled, “How to digitally time stamp a document”</a:t>
            </a:r>
          </a:p>
        </p:txBody>
      </p:sp>
      <p:pic>
        <p:nvPicPr>
          <p:cNvPr id="10" name="Picture 9">
            <a:extLst>
              <a:ext uri="{FF2B5EF4-FFF2-40B4-BE49-F238E27FC236}">
                <a16:creationId xmlns:a16="http://schemas.microsoft.com/office/drawing/2014/main" id="{98FEFFF2-5479-F571-097F-6F15ECD0993A}"/>
              </a:ext>
            </a:extLst>
          </p:cNvPr>
          <p:cNvPicPr>
            <a:picLocks noChangeAspect="1"/>
          </p:cNvPicPr>
          <p:nvPr/>
        </p:nvPicPr>
        <p:blipFill>
          <a:blip r:embed="rId2"/>
          <a:stretch>
            <a:fillRect/>
          </a:stretch>
        </p:blipFill>
        <p:spPr>
          <a:xfrm>
            <a:off x="577049" y="2050742"/>
            <a:ext cx="11209478" cy="4438835"/>
          </a:xfrm>
          <a:prstGeom prst="rect">
            <a:avLst/>
          </a:prstGeom>
        </p:spPr>
      </p:pic>
    </p:spTree>
    <p:extLst>
      <p:ext uri="{BB962C8B-B14F-4D97-AF65-F5344CB8AC3E}">
        <p14:creationId xmlns:p14="http://schemas.microsoft.com/office/powerpoint/2010/main" val="39022822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03E5E88-95BB-C30B-4BDB-80EC29F26389}"/>
              </a:ext>
            </a:extLst>
          </p:cNvPr>
          <p:cNvSpPr txBox="1"/>
          <p:nvPr/>
        </p:nvSpPr>
        <p:spPr>
          <a:xfrm>
            <a:off x="144262" y="281411"/>
            <a:ext cx="6094520" cy="461665"/>
          </a:xfrm>
          <a:prstGeom prst="rect">
            <a:avLst/>
          </a:prstGeom>
          <a:noFill/>
        </p:spPr>
        <p:txBody>
          <a:bodyPr wrap="square">
            <a:spAutoFit/>
          </a:bodyPr>
          <a:lstStyle/>
          <a:p>
            <a:pPr algn="l" fontAlgn="base"/>
            <a:r>
              <a:rPr lang="en-US" sz="2400" b="1" i="0" dirty="0">
                <a:solidFill>
                  <a:srgbClr val="273239"/>
                </a:solidFill>
                <a:effectLst/>
                <a:latin typeface="Times New Roman" panose="02020603050405020304" pitchFamily="18" charset="0"/>
                <a:cs typeface="Times New Roman" panose="02020603050405020304" pitchFamily="18" charset="0"/>
              </a:rPr>
              <a:t>How Does the Blockchain Work?</a:t>
            </a:r>
          </a:p>
        </p:txBody>
      </p:sp>
      <p:sp>
        <p:nvSpPr>
          <p:cNvPr id="7" name="TextBox 6">
            <a:extLst>
              <a:ext uri="{FF2B5EF4-FFF2-40B4-BE49-F238E27FC236}">
                <a16:creationId xmlns:a16="http://schemas.microsoft.com/office/drawing/2014/main" id="{F75BE1E2-9914-55DF-DAC5-7C41586B360F}"/>
              </a:ext>
            </a:extLst>
          </p:cNvPr>
          <p:cNvSpPr txBox="1"/>
          <p:nvPr/>
        </p:nvSpPr>
        <p:spPr>
          <a:xfrm>
            <a:off x="144261" y="916982"/>
            <a:ext cx="11813959" cy="1477328"/>
          </a:xfrm>
          <a:prstGeom prst="rect">
            <a:avLst/>
          </a:prstGeom>
          <a:noFill/>
        </p:spPr>
        <p:txBody>
          <a:bodyPr wrap="square">
            <a:spAutoFit/>
          </a:bodyPr>
          <a:lstStyle/>
          <a:p>
            <a:pPr algn="just"/>
            <a:r>
              <a:rPr lang="en-US" b="0" i="0" dirty="0">
                <a:effectLst/>
                <a:latin typeface="Times New Roman" panose="02020603050405020304" pitchFamily="18" charset="0"/>
                <a:cs typeface="Times New Roman" panose="02020603050405020304" pitchFamily="18" charset="0"/>
              </a:rPr>
              <a:t>A blockchain is a distributed database that stores information electronically in a digital format and is shared among the nodes of a computer network. A typical difference between a blockchain and a database is how data is structured. A blockchain is a shared, immutable ledger as the name suggests structures data into chunks or blocks, and a database structures data into tables. A blockchain is a chain of blocks. Once a block is filled with data and it is chained to the previous blocks. Different types of information can be stored on the blockchain network but the most important is transactions. </a:t>
            </a:r>
            <a:endParaRPr lang="en-IN"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7FE4B7DB-6496-41AD-93FB-2BCE081CCC1B}"/>
              </a:ext>
            </a:extLst>
          </p:cNvPr>
          <p:cNvSpPr txBox="1"/>
          <p:nvPr/>
        </p:nvSpPr>
        <p:spPr>
          <a:xfrm>
            <a:off x="144262" y="2521059"/>
            <a:ext cx="11813958" cy="1815882"/>
          </a:xfrm>
          <a:prstGeom prst="rect">
            <a:avLst/>
          </a:prstGeom>
          <a:noFill/>
        </p:spPr>
        <p:txBody>
          <a:bodyPr wrap="square">
            <a:spAutoFit/>
          </a:bodyPr>
          <a:lstStyle/>
          <a:p>
            <a:pPr algn="just" fontAlgn="base"/>
            <a:r>
              <a:rPr lang="en-US" b="0" i="0" dirty="0">
                <a:effectLst/>
                <a:latin typeface="Times New Roman" panose="02020603050405020304" pitchFamily="18" charset="0"/>
                <a:cs typeface="Times New Roman" panose="02020603050405020304" pitchFamily="18" charset="0"/>
              </a:rPr>
              <a:t>The transaction process in a blockchain can be summarized as follows:</a:t>
            </a:r>
          </a:p>
          <a:p>
            <a:pPr algn="just" fontAlgn="base"/>
            <a:r>
              <a:rPr lang="en-US" b="1" i="0" dirty="0">
                <a:effectLst/>
                <a:latin typeface="Times New Roman" panose="02020603050405020304" pitchFamily="18" charset="0"/>
                <a:cs typeface="Times New Roman" panose="02020603050405020304" pitchFamily="18" charset="0"/>
              </a:rPr>
              <a:t>1</a:t>
            </a:r>
            <a:r>
              <a:rPr lang="en-US" sz="2000" b="1" i="0" dirty="0">
                <a:effectLst/>
                <a:latin typeface="Times New Roman" panose="02020603050405020304" pitchFamily="18" charset="0"/>
                <a:cs typeface="Times New Roman" panose="02020603050405020304" pitchFamily="18" charset="0"/>
              </a:rPr>
              <a:t>. Facilitating a transaction</a:t>
            </a:r>
            <a:r>
              <a:rPr lang="en-US" b="1" i="0" dirty="0">
                <a:effectLst/>
                <a:latin typeface="Times New Roman" panose="02020603050405020304" pitchFamily="18" charset="0"/>
                <a:cs typeface="Times New Roman" panose="02020603050405020304" pitchFamily="18" charset="0"/>
              </a:rPr>
              <a:t>: </a:t>
            </a:r>
            <a:r>
              <a:rPr lang="en-US" b="0" i="0" dirty="0">
                <a:effectLst/>
                <a:latin typeface="Times New Roman" panose="02020603050405020304" pitchFamily="18" charset="0"/>
                <a:cs typeface="Times New Roman" panose="02020603050405020304" pitchFamily="18" charset="0"/>
              </a:rPr>
              <a:t>A new transaction enters the blockchain network. All the information that needs to be transmitted is doubly encrypted using public and private keys.</a:t>
            </a:r>
          </a:p>
          <a:p>
            <a:pPr algn="just" fontAlgn="base"/>
            <a:r>
              <a:rPr lang="en-US" b="1" i="0" dirty="0">
                <a:effectLst/>
                <a:latin typeface="Times New Roman" panose="02020603050405020304" pitchFamily="18" charset="0"/>
                <a:cs typeface="Times New Roman" panose="02020603050405020304" pitchFamily="18" charset="0"/>
              </a:rPr>
              <a:t>2. </a:t>
            </a:r>
            <a:r>
              <a:rPr lang="en-US" sz="2000" b="1" i="0" dirty="0">
                <a:effectLst/>
                <a:latin typeface="Times New Roman" panose="02020603050405020304" pitchFamily="18" charset="0"/>
                <a:cs typeface="Times New Roman" panose="02020603050405020304" pitchFamily="18" charset="0"/>
              </a:rPr>
              <a:t>Verification of transaction</a:t>
            </a:r>
            <a:r>
              <a:rPr lang="en-US" b="1" i="0" dirty="0">
                <a:effectLst/>
                <a:latin typeface="Times New Roman" panose="02020603050405020304" pitchFamily="18" charset="0"/>
                <a:cs typeface="Times New Roman" panose="02020603050405020304" pitchFamily="18" charset="0"/>
              </a:rPr>
              <a:t>:</a:t>
            </a:r>
            <a:r>
              <a:rPr lang="en-US" b="0" i="0" dirty="0">
                <a:effectLst/>
                <a:latin typeface="Times New Roman" panose="02020603050405020304" pitchFamily="18" charset="0"/>
                <a:cs typeface="Times New Roman" panose="02020603050405020304" pitchFamily="18" charset="0"/>
              </a:rPr>
              <a:t> The transaction is then transmitted to the network of peer-to-peer computers distributed across the world. All the nodes on the network will check for the validity of the transaction like if a sufficient balance is available for carrying out the transaction.</a:t>
            </a:r>
          </a:p>
        </p:txBody>
      </p:sp>
      <p:sp>
        <p:nvSpPr>
          <p:cNvPr id="11" name="TextBox 10">
            <a:extLst>
              <a:ext uri="{FF2B5EF4-FFF2-40B4-BE49-F238E27FC236}">
                <a16:creationId xmlns:a16="http://schemas.microsoft.com/office/drawing/2014/main" id="{F13A82D3-6D26-7032-1224-6D76504D44FB}"/>
              </a:ext>
            </a:extLst>
          </p:cNvPr>
          <p:cNvSpPr txBox="1"/>
          <p:nvPr/>
        </p:nvSpPr>
        <p:spPr>
          <a:xfrm>
            <a:off x="144261" y="4247284"/>
            <a:ext cx="11724440" cy="954107"/>
          </a:xfrm>
          <a:prstGeom prst="rect">
            <a:avLst/>
          </a:prstGeom>
          <a:noFill/>
        </p:spPr>
        <p:txBody>
          <a:bodyPr wrap="square">
            <a:spAutoFit/>
          </a:bodyPr>
          <a:lstStyle/>
          <a:p>
            <a:pPr algn="just"/>
            <a:r>
              <a:rPr lang="en-US" b="1" i="0" dirty="0">
                <a:effectLst/>
                <a:latin typeface="Times New Roman" panose="02020603050405020304" pitchFamily="18" charset="0"/>
                <a:cs typeface="Times New Roman" panose="02020603050405020304" pitchFamily="18" charset="0"/>
              </a:rPr>
              <a:t>3. </a:t>
            </a:r>
            <a:r>
              <a:rPr lang="en-US" sz="2000" b="1" i="0" dirty="0">
                <a:effectLst/>
                <a:latin typeface="Times New Roman" panose="02020603050405020304" pitchFamily="18" charset="0"/>
                <a:cs typeface="Times New Roman" panose="02020603050405020304" pitchFamily="18" charset="0"/>
              </a:rPr>
              <a:t>Formation of a new block: </a:t>
            </a:r>
            <a:r>
              <a:rPr lang="en-US" b="0" i="0" dirty="0">
                <a:effectLst/>
                <a:latin typeface="Times New Roman" panose="02020603050405020304" pitchFamily="18" charset="0"/>
                <a:cs typeface="Times New Roman" panose="02020603050405020304" pitchFamily="18" charset="0"/>
              </a:rPr>
              <a:t>In a typical blockchain network there are many nodes and many transactions get verified at a time. Once the transaction is verified and declared a legitimate transaction, it will be added to the mem pool.  All the verified transactions at a particular node form a mem pool and such multiple mem pools form a block. </a:t>
            </a:r>
            <a:endParaRPr lang="en-IN"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D56BB040-9B5F-95FC-693B-0FDD04EAC38B}"/>
              </a:ext>
            </a:extLst>
          </p:cNvPr>
          <p:cNvSpPr txBox="1"/>
          <p:nvPr/>
        </p:nvSpPr>
        <p:spPr>
          <a:xfrm>
            <a:off x="144260" y="5068484"/>
            <a:ext cx="11813958" cy="1508105"/>
          </a:xfrm>
          <a:prstGeom prst="rect">
            <a:avLst/>
          </a:prstGeom>
          <a:noFill/>
        </p:spPr>
        <p:txBody>
          <a:bodyPr wrap="square">
            <a:spAutoFit/>
          </a:bodyPr>
          <a:lstStyle/>
          <a:p>
            <a:pPr algn="just"/>
            <a:r>
              <a:rPr lang="en-US" b="1" i="0" dirty="0">
                <a:effectLst/>
                <a:latin typeface="urw-din"/>
              </a:rPr>
              <a:t>4. </a:t>
            </a:r>
            <a:r>
              <a:rPr lang="en-US" sz="2000" b="1" i="0" dirty="0">
                <a:effectLst/>
                <a:latin typeface="Times New Roman" panose="02020603050405020304" pitchFamily="18" charset="0"/>
                <a:cs typeface="Times New Roman" panose="02020603050405020304" pitchFamily="18" charset="0"/>
              </a:rPr>
              <a:t>Consensus Algorithm</a:t>
            </a:r>
            <a:r>
              <a:rPr lang="en-US" b="1" i="0" dirty="0">
                <a:effectLst/>
                <a:latin typeface="Times New Roman" panose="02020603050405020304" pitchFamily="18" charset="0"/>
                <a:cs typeface="Times New Roman" panose="02020603050405020304" pitchFamily="18" charset="0"/>
              </a:rPr>
              <a:t>: </a:t>
            </a:r>
            <a:r>
              <a:rPr lang="en-US" b="0" i="0" dirty="0">
                <a:effectLst/>
                <a:latin typeface="Times New Roman" panose="02020603050405020304" pitchFamily="18" charset="0"/>
                <a:cs typeface="Times New Roman" panose="02020603050405020304" pitchFamily="18" charset="0"/>
              </a:rPr>
              <a:t> The nodes that form a block will try to add the block to the blockchain network to make it permanent. But if every node is allowed to add blocks in this manner then it will disrupt the working of the blockchain network. To solve this problem, the nodes use a </a:t>
            </a:r>
            <a:r>
              <a:rPr lang="en-US" u="sng" dirty="0">
                <a:latin typeface="Times New Roman" panose="02020603050405020304" pitchFamily="18" charset="0"/>
                <a:cs typeface="Times New Roman" panose="02020603050405020304" pitchFamily="18" charset="0"/>
              </a:rPr>
              <a:t>consensus mechanism</a:t>
            </a:r>
            <a:r>
              <a:rPr lang="en-US" b="0" i="0" dirty="0">
                <a:effectLst/>
                <a:latin typeface="Times New Roman" panose="02020603050405020304" pitchFamily="18" charset="0"/>
                <a:cs typeface="Times New Roman" panose="02020603050405020304" pitchFamily="18" charset="0"/>
              </a:rPr>
              <a:t> to ensure that every new block that is added to the Blockchain is the one and only version of the truth that is agreed upon by all the nodes in the Blockchain, and only a valid block is securely attached to the blockchain.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837203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1" grpId="0"/>
      <p:bldP spid="1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386BC39-6D81-F4AD-DE23-34785C9CBAC4}"/>
              </a:ext>
            </a:extLst>
          </p:cNvPr>
          <p:cNvSpPr txBox="1"/>
          <p:nvPr/>
        </p:nvSpPr>
        <p:spPr>
          <a:xfrm>
            <a:off x="99873" y="96733"/>
            <a:ext cx="11849470" cy="646331"/>
          </a:xfrm>
          <a:prstGeom prst="rect">
            <a:avLst/>
          </a:prstGeom>
          <a:noFill/>
        </p:spPr>
        <p:txBody>
          <a:bodyPr wrap="square">
            <a:spAutoFit/>
          </a:bodyPr>
          <a:lstStyle/>
          <a:p>
            <a:r>
              <a:rPr lang="en-US" b="0" i="0" dirty="0">
                <a:effectLst/>
                <a:latin typeface="Times New Roman" panose="02020603050405020304" pitchFamily="18" charset="0"/>
                <a:cs typeface="Times New Roman" panose="02020603050405020304" pitchFamily="18" charset="0"/>
              </a:rPr>
              <a:t>The node that is selected to add a block to the blockchain will get a reward and hence we call them “miners”. The consensus algorithm creates a hash code for that block which is required to add the block to the blockchain</a:t>
            </a:r>
            <a:endParaRPr lang="en-IN"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80B9C6ED-C62F-6536-F3DE-21237C1399FF}"/>
              </a:ext>
            </a:extLst>
          </p:cNvPr>
          <p:cNvSpPr txBox="1"/>
          <p:nvPr/>
        </p:nvSpPr>
        <p:spPr>
          <a:xfrm>
            <a:off x="99873" y="743064"/>
            <a:ext cx="11849470" cy="1231106"/>
          </a:xfrm>
          <a:prstGeom prst="rect">
            <a:avLst/>
          </a:prstGeom>
          <a:noFill/>
        </p:spPr>
        <p:txBody>
          <a:bodyPr wrap="square">
            <a:spAutoFit/>
          </a:bodyPr>
          <a:lstStyle/>
          <a:p>
            <a:pPr algn="just"/>
            <a:r>
              <a:rPr lang="en-US" sz="2000" b="1" i="0" dirty="0">
                <a:effectLst/>
                <a:latin typeface="Times New Roman" panose="02020603050405020304" pitchFamily="18" charset="0"/>
                <a:cs typeface="Times New Roman" panose="02020603050405020304" pitchFamily="18" charset="0"/>
              </a:rPr>
              <a:t>5. Addition of the new block to the blockchain</a:t>
            </a:r>
            <a:r>
              <a:rPr lang="en-US" b="1" i="0" dirty="0">
                <a:effectLst/>
                <a:latin typeface="urw-din"/>
              </a:rPr>
              <a:t>: </a:t>
            </a:r>
            <a:r>
              <a:rPr lang="en-US" b="0" i="0" dirty="0">
                <a:effectLst/>
                <a:latin typeface="Times New Roman" panose="02020603050405020304" pitchFamily="18" charset="0"/>
                <a:cs typeface="Times New Roman" panose="02020603050405020304" pitchFamily="18" charset="0"/>
              </a:rPr>
              <a:t>After the newly created block has got its hash value and is authenticated, now it is ready to be added to the blockchain. In every block, there is a hash value of the previous block and that is how the blocks are cryptographically linked to each other to form a blockchain. A new block gets added to the open end of the blockchain.</a:t>
            </a:r>
            <a:endParaRPr lang="en-IN"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6E2D5750-DA32-E7BA-AC92-650431A7F4D1}"/>
              </a:ext>
            </a:extLst>
          </p:cNvPr>
          <p:cNvSpPr txBox="1"/>
          <p:nvPr/>
        </p:nvSpPr>
        <p:spPr>
          <a:xfrm>
            <a:off x="99873" y="1974170"/>
            <a:ext cx="11849470" cy="954107"/>
          </a:xfrm>
          <a:prstGeom prst="rect">
            <a:avLst/>
          </a:prstGeom>
          <a:noFill/>
        </p:spPr>
        <p:txBody>
          <a:bodyPr wrap="square">
            <a:spAutoFit/>
          </a:bodyPr>
          <a:lstStyle/>
          <a:p>
            <a:pPr algn="just"/>
            <a:r>
              <a:rPr lang="en-US" b="1" i="0" dirty="0">
                <a:effectLst/>
                <a:latin typeface="urw-din"/>
              </a:rPr>
              <a:t>6. </a:t>
            </a:r>
            <a:r>
              <a:rPr lang="en-US" sz="2000" b="1" i="0" dirty="0">
                <a:effectLst/>
                <a:latin typeface="Times New Roman" panose="02020603050405020304" pitchFamily="18" charset="0"/>
                <a:cs typeface="Times New Roman" panose="02020603050405020304" pitchFamily="18" charset="0"/>
              </a:rPr>
              <a:t>Transaction complete</a:t>
            </a:r>
            <a:r>
              <a:rPr lang="en-US" b="1" i="0" dirty="0">
                <a:effectLst/>
                <a:latin typeface="Times New Roman" panose="02020603050405020304" pitchFamily="18" charset="0"/>
                <a:cs typeface="Times New Roman" panose="02020603050405020304" pitchFamily="18" charset="0"/>
              </a:rPr>
              <a:t>: </a:t>
            </a:r>
            <a:r>
              <a:rPr lang="en-US" b="0" i="0" dirty="0">
                <a:effectLst/>
                <a:latin typeface="Times New Roman" panose="02020603050405020304" pitchFamily="18" charset="0"/>
                <a:cs typeface="Times New Roman" panose="02020603050405020304" pitchFamily="18" charset="0"/>
              </a:rPr>
              <a:t>As soon as the block is added to the blockchain the transaction is completed and the details of this transaction are permanently stored in the blockchain. Anyone can fetch the details of the transaction and confirm the transaction</a:t>
            </a:r>
            <a:r>
              <a:rPr lang="en-US" b="0" i="0" dirty="0">
                <a:effectLst/>
                <a:latin typeface="urw-din"/>
              </a:rPr>
              <a:t>.</a:t>
            </a:r>
            <a:endParaRPr lang="en-IN" dirty="0"/>
          </a:p>
        </p:txBody>
      </p:sp>
      <p:pic>
        <p:nvPicPr>
          <p:cNvPr id="11" name="Picture 10">
            <a:extLst>
              <a:ext uri="{FF2B5EF4-FFF2-40B4-BE49-F238E27FC236}">
                <a16:creationId xmlns:a16="http://schemas.microsoft.com/office/drawing/2014/main" id="{9E4ED742-CA8B-5891-E7A2-1BAC1E7644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3783" y="2849731"/>
            <a:ext cx="10706469" cy="3911535"/>
          </a:xfrm>
          <a:prstGeom prst="rect">
            <a:avLst/>
          </a:prstGeom>
        </p:spPr>
      </p:pic>
    </p:spTree>
    <p:extLst>
      <p:ext uri="{BB962C8B-B14F-4D97-AF65-F5344CB8AC3E}">
        <p14:creationId xmlns:p14="http://schemas.microsoft.com/office/powerpoint/2010/main" val="1134754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95068AF-66E8-1056-A7B1-EFCBAB7D3A5C}"/>
              </a:ext>
            </a:extLst>
          </p:cNvPr>
          <p:cNvSpPr txBox="1"/>
          <p:nvPr/>
        </p:nvSpPr>
        <p:spPr>
          <a:xfrm>
            <a:off x="124287" y="467727"/>
            <a:ext cx="11754035" cy="2862322"/>
          </a:xfrm>
          <a:prstGeom prst="rect">
            <a:avLst/>
          </a:prstGeom>
          <a:noFill/>
        </p:spPr>
        <p:txBody>
          <a:bodyPr wrap="square">
            <a:spAutoFit/>
          </a:bodyPr>
          <a:lstStyle/>
          <a:p>
            <a:pPr algn="just" fontAlgn="base"/>
            <a:r>
              <a:rPr lang="en-US" b="0" i="0" dirty="0">
                <a:effectLst/>
                <a:latin typeface="Times New Roman" panose="02020603050405020304" pitchFamily="18" charset="0"/>
                <a:cs typeface="Times New Roman" panose="02020603050405020304" pitchFamily="18" charset="0"/>
              </a:rPr>
              <a:t>Let’s understand this working of blockchain with the help of an example:</a:t>
            </a:r>
          </a:p>
          <a:p>
            <a:pPr algn="just" fontAlgn="base"/>
            <a:r>
              <a:rPr lang="en-US" b="0" i="0" dirty="0">
                <a:effectLst/>
                <a:latin typeface="Times New Roman" panose="02020603050405020304" pitchFamily="18" charset="0"/>
                <a:cs typeface="Times New Roman" panose="02020603050405020304" pitchFamily="18" charset="0"/>
              </a:rPr>
              <a:t>Let’s say Jack and Phil are two nodes on the </a:t>
            </a:r>
            <a:r>
              <a:rPr lang="en-US" b="0" i="0" u="sng" dirty="0">
                <a:effectLst/>
                <a:latin typeface="Times New Roman" panose="02020603050405020304" pitchFamily="18" charset="0"/>
                <a:cs typeface="Times New Roman" panose="02020603050405020304" pitchFamily="18" charset="0"/>
              </a:rPr>
              <a:t>bitc</a:t>
            </a:r>
            <a:r>
              <a:rPr lang="en-US" u="sng" dirty="0">
                <a:latin typeface="Times New Roman" panose="02020603050405020304" pitchFamily="18" charset="0"/>
                <a:cs typeface="Times New Roman" panose="02020603050405020304" pitchFamily="18" charset="0"/>
              </a:rPr>
              <a:t>oin</a:t>
            </a:r>
            <a:r>
              <a:rPr lang="en-US" b="0" i="0" dirty="0">
                <a:effectLst/>
                <a:latin typeface="Times New Roman" panose="02020603050405020304" pitchFamily="18" charset="0"/>
                <a:cs typeface="Times New Roman" panose="02020603050405020304" pitchFamily="18" charset="0"/>
              </a:rPr>
              <a:t> blockchain network who wants to carry out a transaction between them. </a:t>
            </a:r>
          </a:p>
          <a:p>
            <a:pPr algn="just" fontAlgn="base"/>
            <a:endParaRPr lang="en-US" b="1" i="0" dirty="0">
              <a:effectLst/>
              <a:latin typeface="Times New Roman" panose="02020603050405020304" pitchFamily="18" charset="0"/>
              <a:cs typeface="Times New Roman" panose="02020603050405020304" pitchFamily="18" charset="0"/>
            </a:endParaRPr>
          </a:p>
          <a:p>
            <a:pPr algn="just" fontAlgn="base"/>
            <a:r>
              <a:rPr lang="en-US" b="1" i="0" dirty="0">
                <a:effectLst/>
                <a:latin typeface="Times New Roman" panose="02020603050405020304" pitchFamily="18" charset="0"/>
                <a:cs typeface="Times New Roman" panose="02020603050405020304" pitchFamily="18" charset="0"/>
              </a:rPr>
              <a:t>Step 1: Facilitating the transaction:</a:t>
            </a:r>
            <a:r>
              <a:rPr lang="en-US" b="0" i="0" dirty="0">
                <a:effectLst/>
                <a:latin typeface="Times New Roman" panose="02020603050405020304" pitchFamily="18" charset="0"/>
                <a:cs typeface="Times New Roman" panose="02020603050405020304" pitchFamily="18" charset="0"/>
              </a:rPr>
              <a:t> Jack wants to send 20 BTC to Phil via the Blockchain network. </a:t>
            </a:r>
          </a:p>
          <a:p>
            <a:pPr algn="just" fontAlgn="base"/>
            <a:r>
              <a:rPr lang="en-US" b="1" i="0" dirty="0">
                <a:effectLst/>
                <a:latin typeface="Times New Roman" panose="02020603050405020304" pitchFamily="18" charset="0"/>
                <a:cs typeface="Times New Roman" panose="02020603050405020304" pitchFamily="18" charset="0"/>
              </a:rPr>
              <a:t>Step 2: Verification of transaction: </a:t>
            </a:r>
            <a:r>
              <a:rPr lang="en-US" b="0" i="0" dirty="0">
                <a:effectLst/>
                <a:latin typeface="Times New Roman" panose="02020603050405020304" pitchFamily="18" charset="0"/>
                <a:cs typeface="Times New Roman" panose="02020603050405020304" pitchFamily="18" charset="0"/>
              </a:rPr>
              <a:t>The message for verification will be sent to all the nodes on the network. All the nodes will check the important parameters related to the transaction like Does Jack has sufficient balance i.e. at least 20BTC to perform the transaction. Is Jack a registered node? Is Phil a registered node? After checking the parameters the transaction is verified.</a:t>
            </a:r>
          </a:p>
          <a:p>
            <a:pPr algn="just" fontAlgn="base"/>
            <a:r>
              <a:rPr lang="en-US" b="1" i="0" dirty="0">
                <a:effectLst/>
                <a:latin typeface="Times New Roman" panose="02020603050405020304" pitchFamily="18" charset="0"/>
                <a:cs typeface="Times New Roman" panose="02020603050405020304" pitchFamily="18" charset="0"/>
              </a:rPr>
              <a:t>Step 3: Formation of a new block: </a:t>
            </a:r>
            <a:r>
              <a:rPr lang="en-US" b="0" i="0" dirty="0">
                <a:effectLst/>
                <a:latin typeface="Times New Roman" panose="02020603050405020304" pitchFamily="18" charset="0"/>
                <a:cs typeface="Times New Roman" panose="02020603050405020304" pitchFamily="18" charset="0"/>
              </a:rPr>
              <a:t>A number of verified transactions stack up in mem pools and get stored in a block. This verified transaction will also get stored in a block.</a:t>
            </a:r>
          </a:p>
        </p:txBody>
      </p:sp>
      <p:sp>
        <p:nvSpPr>
          <p:cNvPr id="7" name="TextBox 6">
            <a:extLst>
              <a:ext uri="{FF2B5EF4-FFF2-40B4-BE49-F238E27FC236}">
                <a16:creationId xmlns:a16="http://schemas.microsoft.com/office/drawing/2014/main" id="{4E68F5DB-EA88-CC56-FC53-33AAC7A7533C}"/>
              </a:ext>
            </a:extLst>
          </p:cNvPr>
          <p:cNvSpPr txBox="1"/>
          <p:nvPr/>
        </p:nvSpPr>
        <p:spPr>
          <a:xfrm>
            <a:off x="124287" y="3230603"/>
            <a:ext cx="11683014" cy="2585323"/>
          </a:xfrm>
          <a:prstGeom prst="rect">
            <a:avLst/>
          </a:prstGeom>
          <a:noFill/>
        </p:spPr>
        <p:txBody>
          <a:bodyPr wrap="square">
            <a:spAutoFit/>
          </a:bodyPr>
          <a:lstStyle/>
          <a:p>
            <a:pPr algn="just" fontAlgn="base"/>
            <a:r>
              <a:rPr lang="en-US" b="1" i="0" dirty="0">
                <a:effectLst/>
                <a:latin typeface="Times New Roman" panose="02020603050405020304" pitchFamily="18" charset="0"/>
                <a:cs typeface="Times New Roman" panose="02020603050405020304" pitchFamily="18" charset="0"/>
              </a:rPr>
              <a:t>Step 4: Consensus algorithm: </a:t>
            </a:r>
            <a:r>
              <a:rPr lang="en-US" b="0" i="0" dirty="0">
                <a:effectLst/>
                <a:latin typeface="Times New Roman" panose="02020603050405020304" pitchFamily="18" charset="0"/>
                <a:cs typeface="Times New Roman" panose="02020603050405020304" pitchFamily="18" charset="0"/>
              </a:rPr>
              <a:t>Since here we are talking about bitcoins so the </a:t>
            </a:r>
            <a:r>
              <a:rPr lang="en-US" u="sng" dirty="0">
                <a:latin typeface="Times New Roman" panose="02020603050405020304" pitchFamily="18" charset="0"/>
                <a:cs typeface="Times New Roman" panose="02020603050405020304" pitchFamily="18" charset="0"/>
              </a:rPr>
              <a:t>Proof-of-Work consensus algorithm</a:t>
            </a:r>
            <a:r>
              <a:rPr lang="en-US" b="0" i="0" dirty="0">
                <a:effectLst/>
                <a:latin typeface="Times New Roman" panose="02020603050405020304" pitchFamily="18" charset="0"/>
                <a:cs typeface="Times New Roman" panose="02020603050405020304" pitchFamily="18" charset="0"/>
              </a:rPr>
              <a:t> will be used for block verification. In proof-of-work, the system assigns the target hash value to a node, and according to this, it must come up with a hash for the new block. The node has to calculate the hash value for the new block that is less than the target value. If two or more miners mine the same block at the same time, the block with more difficulty is selected. The others are known as stale blocks. Mining usually rewards miners with blockchain currency. In this case, the blockchain currency is bitcoin. </a:t>
            </a:r>
          </a:p>
          <a:p>
            <a:pPr algn="just" fontAlgn="base"/>
            <a:r>
              <a:rPr lang="en-US" b="1" i="0" dirty="0">
                <a:effectLst/>
                <a:latin typeface="Times New Roman" panose="02020603050405020304" pitchFamily="18" charset="0"/>
                <a:cs typeface="Times New Roman" panose="02020603050405020304" pitchFamily="18" charset="0"/>
              </a:rPr>
              <a:t>Step 5: Addition of the new block in the blockchain: </a:t>
            </a:r>
            <a:r>
              <a:rPr lang="en-US" b="0" i="0" dirty="0">
                <a:effectLst/>
                <a:latin typeface="Times New Roman" panose="02020603050405020304" pitchFamily="18" charset="0"/>
                <a:cs typeface="Times New Roman" panose="02020603050405020304" pitchFamily="18" charset="0"/>
              </a:rPr>
              <a:t>After the newly created block has got the hash value and authentication through proof-of-work only then it will be added to the network and the transaction will mark as complete. Phil will recei</a:t>
            </a:r>
            <a:r>
              <a:rPr lang="en-US" dirty="0">
                <a:latin typeface="Times New Roman" panose="02020603050405020304" pitchFamily="18" charset="0"/>
                <a:cs typeface="Times New Roman" panose="02020603050405020304" pitchFamily="18" charset="0"/>
              </a:rPr>
              <a:t>ve 20 BTC from jack. The new block will be linked to the open end of the blockchain.</a:t>
            </a:r>
            <a:endParaRPr lang="en-US" b="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8685380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72383CC-D22D-4563-DE28-BECD1899FADD}"/>
              </a:ext>
            </a:extLst>
          </p:cNvPr>
          <p:cNvSpPr>
            <a:spLocks noGrp="1"/>
          </p:cNvSpPr>
          <p:nvPr>
            <p:ph idx="1"/>
          </p:nvPr>
        </p:nvSpPr>
        <p:spPr>
          <a:xfrm>
            <a:off x="377952" y="1350137"/>
            <a:ext cx="11436096" cy="4351338"/>
          </a:xfrm>
        </p:spPr>
        <p:txBody>
          <a:bodyPr>
            <a:normAutofit lnSpcReduction="10000"/>
          </a:bodyPr>
          <a:lstStyle/>
          <a:p>
            <a:pPr algn="just" fontAlgn="base"/>
            <a:r>
              <a:rPr lang="en-US" b="1" i="0" dirty="0">
                <a:effectLst/>
                <a:latin typeface="Times New Roman" panose="02020603050405020304" pitchFamily="18" charset="0"/>
                <a:cs typeface="Times New Roman" panose="02020603050405020304" pitchFamily="18" charset="0"/>
              </a:rPr>
              <a:t>Step 6: Transaction complete: </a:t>
            </a:r>
            <a:r>
              <a:rPr lang="en-US" b="0" i="0" dirty="0">
                <a:effectLst/>
                <a:latin typeface="Times New Roman" panose="02020603050405020304" pitchFamily="18" charset="0"/>
                <a:cs typeface="Times New Roman" panose="02020603050405020304" pitchFamily="18" charset="0"/>
              </a:rPr>
              <a:t>As soon as the block is added to the blockchain, the transaction will take place and 20 BTCs will get transferred from Jack’s wallet to Phil’s wallet. The details of the transaction are permanently secured on the blockchain.</a:t>
            </a:r>
          </a:p>
          <a:p>
            <a:pPr algn="just" fontAlgn="base"/>
            <a:r>
              <a:rPr lang="en-US" b="0" i="0" dirty="0">
                <a:effectLst/>
                <a:latin typeface="Times New Roman" panose="02020603050405020304" pitchFamily="18" charset="0"/>
                <a:cs typeface="Times New Roman" panose="02020603050405020304" pitchFamily="18" charset="0"/>
              </a:rPr>
              <a:t>Anyone on the network can fetch the information and confirm the transaction. This will help to keep track of all the transactions and to verify whether any user is trying to double spend. For example, if Jack tries to carry out a transaction in the future, the rest of the nodes can check Jack’s past transaction records to check whether Jack has enough balance to carry out the current transaction. If there is enough balance then the transaction will be approved.</a:t>
            </a:r>
          </a:p>
          <a:p>
            <a:pPr marL="0" indent="0">
              <a:buNone/>
            </a:pPr>
            <a:endParaRPr lang="en-IN" dirty="0"/>
          </a:p>
        </p:txBody>
      </p:sp>
    </p:spTree>
    <p:extLst>
      <p:ext uri="{BB962C8B-B14F-4D97-AF65-F5344CB8AC3E}">
        <p14:creationId xmlns:p14="http://schemas.microsoft.com/office/powerpoint/2010/main" val="14108474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8D4513-1ACF-9198-5FCF-0C6A19AB52DD}"/>
              </a:ext>
            </a:extLst>
          </p:cNvPr>
          <p:cNvSpPr>
            <a:spLocks noGrp="1"/>
          </p:cNvSpPr>
          <p:nvPr>
            <p:ph type="title"/>
          </p:nvPr>
        </p:nvSpPr>
        <p:spPr/>
        <p:txBody>
          <a:bodyPr/>
          <a:lstStyle/>
          <a:p>
            <a:r>
              <a:rPr lang="en-US" b="1" dirty="0"/>
              <a:t>How Block Chain Works?</a:t>
            </a:r>
            <a:endParaRPr lang="en-IN" b="1" dirty="0"/>
          </a:p>
        </p:txBody>
      </p:sp>
      <p:pic>
        <p:nvPicPr>
          <p:cNvPr id="5" name="Content Placeholder 4">
            <a:extLst>
              <a:ext uri="{FF2B5EF4-FFF2-40B4-BE49-F238E27FC236}">
                <a16:creationId xmlns:a16="http://schemas.microsoft.com/office/drawing/2014/main" id="{D7EF40CD-A4C5-362D-F05F-206E51E58FFD}"/>
              </a:ext>
            </a:extLst>
          </p:cNvPr>
          <p:cNvPicPr>
            <a:picLocks noGrp="1" noChangeAspect="1"/>
          </p:cNvPicPr>
          <p:nvPr>
            <p:ph idx="1"/>
          </p:nvPr>
        </p:nvPicPr>
        <p:blipFill>
          <a:blip r:embed="rId2"/>
          <a:stretch>
            <a:fillRect/>
          </a:stretch>
        </p:blipFill>
        <p:spPr>
          <a:xfrm>
            <a:off x="1048304" y="2075398"/>
            <a:ext cx="9327088" cy="3067507"/>
          </a:xfrm>
        </p:spPr>
      </p:pic>
    </p:spTree>
    <p:extLst>
      <p:ext uri="{BB962C8B-B14F-4D97-AF65-F5344CB8AC3E}">
        <p14:creationId xmlns:p14="http://schemas.microsoft.com/office/powerpoint/2010/main" val="36293143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A10DB3B-F2D3-31E2-AD0A-0214704FDA12}"/>
              </a:ext>
            </a:extLst>
          </p:cNvPr>
          <p:cNvSpPr>
            <a:spLocks noGrp="1"/>
          </p:cNvSpPr>
          <p:nvPr>
            <p:ph idx="1"/>
          </p:nvPr>
        </p:nvSpPr>
        <p:spPr>
          <a:xfrm>
            <a:off x="838200" y="743712"/>
            <a:ext cx="10515600" cy="5433251"/>
          </a:xfrm>
        </p:spPr>
        <p:txBody>
          <a:bodyPr>
            <a:normAutofit/>
          </a:bodyPr>
          <a:lstStyle/>
          <a:p>
            <a:pPr marL="0" indent="0" algn="just">
              <a:buNone/>
            </a:pPr>
            <a:r>
              <a:rPr lang="en-US" dirty="0">
                <a:sym typeface="Wingdings" panose="05000000000000000000" pitchFamily="2" charset="2"/>
              </a:rPr>
              <a:t></a:t>
            </a:r>
            <a:r>
              <a:rPr lang="en-US" dirty="0"/>
              <a:t>Every node on the blockchain network has an identical copy of the blockchain, where every block is a collection of transactions</a:t>
            </a:r>
          </a:p>
          <a:p>
            <a:pPr marL="0" indent="0" algn="just">
              <a:buNone/>
            </a:pPr>
            <a:endParaRPr lang="en-US" dirty="0"/>
          </a:p>
          <a:p>
            <a:pPr marL="0" indent="0" algn="just">
              <a:buNone/>
            </a:pPr>
            <a:r>
              <a:rPr lang="en-US" dirty="0">
                <a:sym typeface="Wingdings" panose="05000000000000000000" pitchFamily="2" charset="2"/>
              </a:rPr>
              <a:t> </a:t>
            </a:r>
            <a:r>
              <a:rPr lang="en-US" dirty="0"/>
              <a:t>There are two major parts in every block. The “header” part links back to the previous block in the chain. </a:t>
            </a:r>
          </a:p>
          <a:p>
            <a:pPr marL="0" indent="0" algn="just">
              <a:buNone/>
            </a:pPr>
            <a:endParaRPr lang="en-US" dirty="0">
              <a:sym typeface="Wingdings" panose="05000000000000000000" pitchFamily="2" charset="2"/>
            </a:endParaRPr>
          </a:p>
          <a:p>
            <a:pPr marL="0" indent="0" algn="just">
              <a:buNone/>
            </a:pPr>
            <a:r>
              <a:rPr lang="en-US" dirty="0">
                <a:sym typeface="Wingdings" panose="05000000000000000000" pitchFamily="2" charset="2"/>
              </a:rPr>
              <a:t> E</a:t>
            </a:r>
            <a:r>
              <a:rPr lang="en-US" dirty="0"/>
              <a:t>very block header contains the hash of the previous block so that no one can alter any transaction in the previous block.</a:t>
            </a:r>
          </a:p>
          <a:p>
            <a:pPr marL="0" indent="0" algn="just">
              <a:buNone/>
            </a:pPr>
            <a:r>
              <a:rPr lang="en-US" dirty="0"/>
              <a:t>The other part of a block is the “body content” that has a validated list of transactions, their amounts, the addresses of the parties involved, and some more details</a:t>
            </a:r>
            <a:endParaRPr lang="en-IN" dirty="0"/>
          </a:p>
        </p:txBody>
      </p:sp>
    </p:spTree>
    <p:extLst>
      <p:ext uri="{BB962C8B-B14F-4D97-AF65-F5344CB8AC3E}">
        <p14:creationId xmlns:p14="http://schemas.microsoft.com/office/powerpoint/2010/main" val="425861424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DBAC03-693F-732F-595B-9C18C5BDB565}"/>
              </a:ext>
            </a:extLst>
          </p:cNvPr>
          <p:cNvSpPr>
            <a:spLocks noGrp="1"/>
          </p:cNvSpPr>
          <p:nvPr>
            <p:ph type="title"/>
          </p:nvPr>
        </p:nvSpPr>
        <p:spPr/>
        <p:txBody>
          <a:bodyPr/>
          <a:lstStyle/>
          <a:p>
            <a:r>
              <a:rPr lang="en-US" dirty="0"/>
              <a:t>Example 1:</a:t>
            </a:r>
            <a:endParaRPr lang="en-IN" dirty="0"/>
          </a:p>
        </p:txBody>
      </p:sp>
      <p:sp>
        <p:nvSpPr>
          <p:cNvPr id="3" name="Content Placeholder 2">
            <a:extLst>
              <a:ext uri="{FF2B5EF4-FFF2-40B4-BE49-F238E27FC236}">
                <a16:creationId xmlns:a16="http://schemas.microsoft.com/office/drawing/2014/main" id="{60030F68-4D36-F942-A688-4DB6E16F2407}"/>
              </a:ext>
            </a:extLst>
          </p:cNvPr>
          <p:cNvSpPr>
            <a:spLocks noGrp="1"/>
          </p:cNvSpPr>
          <p:nvPr>
            <p:ph idx="1"/>
          </p:nvPr>
        </p:nvSpPr>
        <p:spPr/>
        <p:txBody>
          <a:bodyPr/>
          <a:lstStyle/>
          <a:p>
            <a:pPr marL="0" indent="0" algn="just">
              <a:buNone/>
            </a:pPr>
            <a:r>
              <a:rPr lang="en-US" dirty="0"/>
              <a:t>Assume that there are three candidates—Alice, Bob, and Charlie—who are doing some monetary transactions among each other on a blockchain network.</a:t>
            </a:r>
            <a:endParaRPr lang="en-IN" dirty="0"/>
          </a:p>
        </p:txBody>
      </p:sp>
    </p:spTree>
    <p:extLst>
      <p:ext uri="{BB962C8B-B14F-4D97-AF65-F5344CB8AC3E}">
        <p14:creationId xmlns:p14="http://schemas.microsoft.com/office/powerpoint/2010/main" val="38154595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A005851-F70C-1370-6316-5E26E4B5B8E0}"/>
              </a:ext>
            </a:extLst>
          </p:cNvPr>
          <p:cNvSpPr>
            <a:spLocks noGrp="1"/>
          </p:cNvSpPr>
          <p:nvPr>
            <p:ph idx="1"/>
          </p:nvPr>
        </p:nvSpPr>
        <p:spPr>
          <a:xfrm>
            <a:off x="838200" y="256032"/>
            <a:ext cx="10515600" cy="5920931"/>
          </a:xfrm>
        </p:spPr>
        <p:txBody>
          <a:bodyPr/>
          <a:lstStyle/>
          <a:p>
            <a:pPr marL="0" indent="0" algn="just">
              <a:buNone/>
            </a:pPr>
            <a:r>
              <a:rPr lang="en-US" dirty="0"/>
              <a:t>Step-1: </a:t>
            </a:r>
          </a:p>
          <a:p>
            <a:pPr marL="0" indent="0" algn="just">
              <a:buNone/>
            </a:pPr>
            <a:r>
              <a:rPr lang="en-US" dirty="0"/>
              <a:t>Let us assume that Alice had $50 with her, which is the genesis of all transactions and every node is aware of it, as shown in Figure</a:t>
            </a:r>
          </a:p>
          <a:p>
            <a:pPr marL="0" indent="0" algn="just">
              <a:buNone/>
            </a:pPr>
            <a:endParaRPr lang="en-IN" dirty="0"/>
          </a:p>
        </p:txBody>
      </p:sp>
      <p:pic>
        <p:nvPicPr>
          <p:cNvPr id="5" name="Picture 4">
            <a:extLst>
              <a:ext uri="{FF2B5EF4-FFF2-40B4-BE49-F238E27FC236}">
                <a16:creationId xmlns:a16="http://schemas.microsoft.com/office/drawing/2014/main" id="{135EE88C-D5D2-38B8-87FD-F813D04EBD94}"/>
              </a:ext>
            </a:extLst>
          </p:cNvPr>
          <p:cNvPicPr>
            <a:picLocks noChangeAspect="1"/>
          </p:cNvPicPr>
          <p:nvPr/>
        </p:nvPicPr>
        <p:blipFill>
          <a:blip r:embed="rId2"/>
          <a:stretch>
            <a:fillRect/>
          </a:stretch>
        </p:blipFill>
        <p:spPr>
          <a:xfrm>
            <a:off x="1535028" y="2219856"/>
            <a:ext cx="8487960" cy="4382112"/>
          </a:xfrm>
          <a:prstGeom prst="rect">
            <a:avLst/>
          </a:prstGeom>
        </p:spPr>
      </p:pic>
    </p:spTree>
    <p:extLst>
      <p:ext uri="{BB962C8B-B14F-4D97-AF65-F5344CB8AC3E}">
        <p14:creationId xmlns:p14="http://schemas.microsoft.com/office/powerpoint/2010/main" val="156049575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140A68F-3C72-7371-EF1D-2058C874B78B}"/>
              </a:ext>
            </a:extLst>
          </p:cNvPr>
          <p:cNvSpPr>
            <a:spLocks noGrp="1"/>
          </p:cNvSpPr>
          <p:nvPr>
            <p:ph idx="1"/>
          </p:nvPr>
        </p:nvSpPr>
        <p:spPr>
          <a:xfrm>
            <a:off x="838200" y="365125"/>
            <a:ext cx="10515600" cy="5811838"/>
          </a:xfrm>
        </p:spPr>
        <p:txBody>
          <a:bodyPr/>
          <a:lstStyle/>
          <a:p>
            <a:pPr marL="0" indent="0" algn="just">
              <a:buNone/>
            </a:pPr>
            <a:r>
              <a:rPr lang="en-US" dirty="0"/>
              <a:t>Step-2: Alice makes a transaction by paying $20 to Bob. Observe how the blockchain gets updated at each node, as shown in Figure </a:t>
            </a:r>
          </a:p>
          <a:p>
            <a:pPr marL="0" indent="0" algn="just">
              <a:buNone/>
            </a:pPr>
            <a:endParaRPr lang="en-IN" dirty="0"/>
          </a:p>
        </p:txBody>
      </p:sp>
      <p:pic>
        <p:nvPicPr>
          <p:cNvPr id="5" name="Picture 4">
            <a:extLst>
              <a:ext uri="{FF2B5EF4-FFF2-40B4-BE49-F238E27FC236}">
                <a16:creationId xmlns:a16="http://schemas.microsoft.com/office/drawing/2014/main" id="{320F0D9C-FFA9-2368-0531-17F87C8F0DDA}"/>
              </a:ext>
            </a:extLst>
          </p:cNvPr>
          <p:cNvPicPr>
            <a:picLocks noChangeAspect="1"/>
          </p:cNvPicPr>
          <p:nvPr/>
        </p:nvPicPr>
        <p:blipFill>
          <a:blip r:embed="rId2"/>
          <a:stretch>
            <a:fillRect/>
          </a:stretch>
        </p:blipFill>
        <p:spPr>
          <a:xfrm>
            <a:off x="1647422" y="1728167"/>
            <a:ext cx="8507012" cy="4448796"/>
          </a:xfrm>
          <a:prstGeom prst="rect">
            <a:avLst/>
          </a:prstGeom>
        </p:spPr>
      </p:pic>
    </p:spTree>
    <p:extLst>
      <p:ext uri="{BB962C8B-B14F-4D97-AF65-F5344CB8AC3E}">
        <p14:creationId xmlns:p14="http://schemas.microsoft.com/office/powerpoint/2010/main" val="52722440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D93B50E-1082-5C85-CC17-1EDD8B13068C}"/>
              </a:ext>
            </a:extLst>
          </p:cNvPr>
          <p:cNvSpPr>
            <a:spLocks noGrp="1"/>
          </p:cNvSpPr>
          <p:nvPr>
            <p:ph idx="1"/>
          </p:nvPr>
        </p:nvSpPr>
        <p:spPr>
          <a:xfrm>
            <a:off x="838200" y="426720"/>
            <a:ext cx="10515600" cy="5750243"/>
          </a:xfrm>
        </p:spPr>
        <p:txBody>
          <a:bodyPr/>
          <a:lstStyle/>
          <a:p>
            <a:pPr marL="0" indent="0" algn="just">
              <a:buNone/>
            </a:pPr>
            <a:r>
              <a:rPr lang="en-US" dirty="0"/>
              <a:t>Step-3: Bob makes another transaction by paying $10 to Charlie and the blockchain gets updated as shown in Figure</a:t>
            </a:r>
          </a:p>
          <a:p>
            <a:pPr marL="0" indent="0" algn="just">
              <a:buNone/>
            </a:pPr>
            <a:endParaRPr lang="en-IN" dirty="0"/>
          </a:p>
        </p:txBody>
      </p:sp>
      <p:pic>
        <p:nvPicPr>
          <p:cNvPr id="5" name="Picture 4">
            <a:extLst>
              <a:ext uri="{FF2B5EF4-FFF2-40B4-BE49-F238E27FC236}">
                <a16:creationId xmlns:a16="http://schemas.microsoft.com/office/drawing/2014/main" id="{ED1362AE-C111-2F5F-7E5B-3D47A5DDE8F7}"/>
              </a:ext>
            </a:extLst>
          </p:cNvPr>
          <p:cNvPicPr>
            <a:picLocks noChangeAspect="1"/>
          </p:cNvPicPr>
          <p:nvPr/>
        </p:nvPicPr>
        <p:blipFill>
          <a:blip r:embed="rId2"/>
          <a:stretch>
            <a:fillRect/>
          </a:stretch>
        </p:blipFill>
        <p:spPr>
          <a:xfrm>
            <a:off x="1952046" y="1661483"/>
            <a:ext cx="8287907" cy="4515480"/>
          </a:xfrm>
          <a:prstGeom prst="rect">
            <a:avLst/>
          </a:prstGeom>
        </p:spPr>
      </p:pic>
    </p:spTree>
    <p:extLst>
      <p:ext uri="{BB962C8B-B14F-4D97-AF65-F5344CB8AC3E}">
        <p14:creationId xmlns:p14="http://schemas.microsoft.com/office/powerpoint/2010/main" val="95630492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4C8BEB-2DD8-CC31-170E-04D07031587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E28826D-0986-3FD2-9117-F9A615C90AF4}"/>
              </a:ext>
            </a:extLst>
          </p:cNvPr>
          <p:cNvSpPr>
            <a:spLocks noGrp="1"/>
          </p:cNvSpPr>
          <p:nvPr>
            <p:ph idx="1"/>
          </p:nvPr>
        </p:nvSpPr>
        <p:spPr/>
        <p:txBody>
          <a:bodyPr/>
          <a:lstStyle/>
          <a:p>
            <a:pPr marL="0" indent="0" algn="just">
              <a:lnSpc>
                <a:spcPct val="150000"/>
              </a:lnSpc>
              <a:buNone/>
            </a:pPr>
            <a:r>
              <a:rPr lang="en-US" dirty="0">
                <a:latin typeface="Times New Roman" panose="02020603050405020304" pitchFamily="18" charset="0"/>
                <a:cs typeface="Times New Roman" panose="02020603050405020304" pitchFamily="18" charset="0"/>
              </a:rPr>
              <a:t>The transaction data in the blocks is immutable. </a:t>
            </a:r>
          </a:p>
          <a:p>
            <a:pPr marL="0" indent="0" algn="just">
              <a:lnSpc>
                <a:spcPct val="150000"/>
              </a:lnSpc>
              <a:buNone/>
            </a:pPr>
            <a:r>
              <a:rPr lang="en-US" dirty="0">
                <a:latin typeface="Times New Roman" panose="02020603050405020304" pitchFamily="18" charset="0"/>
                <a:cs typeface="Times New Roman" panose="02020603050405020304" pitchFamily="18" charset="0"/>
              </a:rPr>
              <a:t>All transactions are fully irreversible. </a:t>
            </a:r>
          </a:p>
          <a:p>
            <a:pPr marL="0" indent="0" algn="just">
              <a:lnSpc>
                <a:spcPct val="150000"/>
              </a:lnSpc>
              <a:buNone/>
            </a:pPr>
            <a:r>
              <a:rPr lang="en-US" dirty="0">
                <a:latin typeface="Times New Roman" panose="02020603050405020304" pitchFamily="18" charset="0"/>
                <a:cs typeface="Times New Roman" panose="02020603050405020304" pitchFamily="18" charset="0"/>
              </a:rPr>
              <a:t>Any change would result in a new transaction, which would get validated by all contributing nodes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7203853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CE9F4-42B1-7B7B-4FE3-25C11D19C3AD}"/>
              </a:ext>
            </a:extLst>
          </p:cNvPr>
          <p:cNvSpPr>
            <a:spLocks noGrp="1"/>
          </p:cNvSpPr>
          <p:nvPr>
            <p:ph type="title"/>
          </p:nvPr>
        </p:nvSpPr>
        <p:spPr/>
        <p:txBody>
          <a:bodyPr/>
          <a:lstStyle/>
          <a:p>
            <a:r>
              <a:rPr lang="en-US" b="1" dirty="0"/>
              <a:t>Centralized vs Decentralized system</a:t>
            </a:r>
            <a:endParaRPr lang="en-IN" b="1" dirty="0"/>
          </a:p>
        </p:txBody>
      </p:sp>
      <p:sp>
        <p:nvSpPr>
          <p:cNvPr id="3" name="Content Placeholder 2">
            <a:extLst>
              <a:ext uri="{FF2B5EF4-FFF2-40B4-BE49-F238E27FC236}">
                <a16:creationId xmlns:a16="http://schemas.microsoft.com/office/drawing/2014/main" id="{404A5E73-F54F-EF70-8792-DB6AA800DEBD}"/>
              </a:ext>
            </a:extLst>
          </p:cNvPr>
          <p:cNvSpPr>
            <a:spLocks noGrp="1"/>
          </p:cNvSpPr>
          <p:nvPr>
            <p:ph idx="1"/>
          </p:nvPr>
        </p:nvSpPr>
        <p:spPr/>
        <p:txBody>
          <a:bodyPr>
            <a:normAutofit fontScale="85000" lnSpcReduction="10000"/>
          </a:bodyPr>
          <a:lstStyle/>
          <a:p>
            <a:pPr marL="0" indent="0" algn="just">
              <a:lnSpc>
                <a:spcPct val="150000"/>
              </a:lnSpc>
              <a:buNone/>
            </a:pPr>
            <a:r>
              <a:rPr lang="en-US" dirty="0">
                <a:latin typeface="Times New Roman" panose="02020603050405020304" pitchFamily="18" charset="0"/>
                <a:cs typeface="Times New Roman" panose="02020603050405020304" pitchFamily="18" charset="0"/>
              </a:rPr>
              <a:t>A </a:t>
            </a:r>
            <a:r>
              <a:rPr lang="en-US" b="1" dirty="0">
                <a:latin typeface="Times New Roman" panose="02020603050405020304" pitchFamily="18" charset="0"/>
                <a:cs typeface="Times New Roman" panose="02020603050405020304" pitchFamily="18" charset="0"/>
              </a:rPr>
              <a:t>centralized distributed </a:t>
            </a:r>
            <a:r>
              <a:rPr lang="en-US" dirty="0">
                <a:latin typeface="Times New Roman" panose="02020603050405020304" pitchFamily="18" charset="0"/>
                <a:cs typeface="Times New Roman" panose="02020603050405020304" pitchFamily="18" charset="0"/>
              </a:rPr>
              <a:t>system is one in which there is a </a:t>
            </a:r>
            <a:r>
              <a:rPr lang="en-US" b="1" dirty="0">
                <a:latin typeface="Times New Roman" panose="02020603050405020304" pitchFamily="18" charset="0"/>
                <a:cs typeface="Times New Roman" panose="02020603050405020304" pitchFamily="18" charset="0"/>
              </a:rPr>
              <a:t>master</a:t>
            </a:r>
            <a:r>
              <a:rPr lang="en-US" dirty="0">
                <a:latin typeface="Times New Roman" panose="02020603050405020304" pitchFamily="18" charset="0"/>
                <a:cs typeface="Times New Roman" panose="02020603050405020304" pitchFamily="18" charset="0"/>
              </a:rPr>
              <a:t> node responsible for breaking down the tasks or data and distribute the load across nodes. </a:t>
            </a:r>
          </a:p>
          <a:p>
            <a:pPr marL="0" indent="0" algn="just">
              <a:lnSpc>
                <a:spcPct val="150000"/>
              </a:lnSpc>
              <a:buNone/>
            </a:pPr>
            <a:endParaRPr lang="en-US" dirty="0">
              <a:latin typeface="Times New Roman" panose="02020603050405020304" pitchFamily="18" charset="0"/>
              <a:cs typeface="Times New Roman" panose="02020603050405020304" pitchFamily="18" charset="0"/>
            </a:endParaRPr>
          </a:p>
          <a:p>
            <a:pPr marL="0" indent="0" algn="just">
              <a:lnSpc>
                <a:spcPct val="150000"/>
              </a:lnSpc>
              <a:buNone/>
            </a:pPr>
            <a:r>
              <a:rPr lang="en-US" dirty="0">
                <a:latin typeface="Times New Roman" panose="02020603050405020304" pitchFamily="18" charset="0"/>
                <a:cs typeface="Times New Roman" panose="02020603050405020304" pitchFamily="18" charset="0"/>
              </a:rPr>
              <a:t>On the other hand, a </a:t>
            </a:r>
            <a:r>
              <a:rPr lang="en-US" b="1" dirty="0">
                <a:latin typeface="Times New Roman" panose="02020603050405020304" pitchFamily="18" charset="0"/>
                <a:cs typeface="Times New Roman" panose="02020603050405020304" pitchFamily="18" charset="0"/>
              </a:rPr>
              <a:t>decentralized</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distributed</a:t>
            </a:r>
            <a:r>
              <a:rPr lang="en-US" dirty="0">
                <a:latin typeface="Times New Roman" panose="02020603050405020304" pitchFamily="18" charset="0"/>
                <a:cs typeface="Times New Roman" panose="02020603050405020304" pitchFamily="18" charset="0"/>
              </a:rPr>
              <a:t> system is one where there is no “master” node as such and yet the computation may be distributed. </a:t>
            </a:r>
          </a:p>
          <a:p>
            <a:pPr marL="0" indent="0" algn="just">
              <a:lnSpc>
                <a:spcPct val="150000"/>
              </a:lnSpc>
              <a:buNone/>
            </a:pPr>
            <a:endParaRPr lang="en-US" dirty="0">
              <a:latin typeface="Times New Roman" panose="02020603050405020304" pitchFamily="18" charset="0"/>
              <a:cs typeface="Times New Roman" panose="02020603050405020304" pitchFamily="18" charset="0"/>
            </a:endParaRPr>
          </a:p>
          <a:p>
            <a:pPr marL="0" indent="0" algn="just">
              <a:lnSpc>
                <a:spcPct val="150000"/>
              </a:lnSpc>
              <a:buNone/>
            </a:pPr>
            <a:r>
              <a:rPr lang="en-US" dirty="0">
                <a:latin typeface="Times New Roman" panose="02020603050405020304" pitchFamily="18" charset="0"/>
                <a:cs typeface="Times New Roman" panose="02020603050405020304" pitchFamily="18" charset="0"/>
              </a:rPr>
              <a:t>Blockchain is one such example</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4415770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D3830B2-5625-B033-8FC4-8256E3144AC0}"/>
              </a:ext>
            </a:extLst>
          </p:cNvPr>
          <p:cNvPicPr>
            <a:picLocks noGrp="1" noChangeAspect="1"/>
          </p:cNvPicPr>
          <p:nvPr>
            <p:ph idx="1"/>
          </p:nvPr>
        </p:nvPicPr>
        <p:blipFill>
          <a:blip r:embed="rId2"/>
          <a:stretch>
            <a:fillRect/>
          </a:stretch>
        </p:blipFill>
        <p:spPr>
          <a:xfrm>
            <a:off x="1731048" y="568388"/>
            <a:ext cx="8464553" cy="5721223"/>
          </a:xfrm>
        </p:spPr>
      </p:pic>
    </p:spTree>
    <p:extLst>
      <p:ext uri="{BB962C8B-B14F-4D97-AF65-F5344CB8AC3E}">
        <p14:creationId xmlns:p14="http://schemas.microsoft.com/office/powerpoint/2010/main" val="337223149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422DE-D01D-BE7C-FB26-859FE48B155C}"/>
              </a:ext>
            </a:extLst>
          </p:cNvPr>
          <p:cNvSpPr>
            <a:spLocks noGrp="1"/>
          </p:cNvSpPr>
          <p:nvPr>
            <p:ph type="title"/>
          </p:nvPr>
        </p:nvSpPr>
        <p:spPr/>
        <p:txBody>
          <a:bodyPr/>
          <a:lstStyle/>
          <a:p>
            <a:r>
              <a:rPr lang="en-US" b="1" dirty="0"/>
              <a:t>Centralized systems</a:t>
            </a:r>
            <a:endParaRPr lang="en-IN" b="1" dirty="0"/>
          </a:p>
        </p:txBody>
      </p:sp>
      <p:sp>
        <p:nvSpPr>
          <p:cNvPr id="3" name="Content Placeholder 2">
            <a:extLst>
              <a:ext uri="{FF2B5EF4-FFF2-40B4-BE49-F238E27FC236}">
                <a16:creationId xmlns:a16="http://schemas.microsoft.com/office/drawing/2014/main" id="{03C5E326-468C-A318-AD4E-79766233559F}"/>
              </a:ext>
            </a:extLst>
          </p:cNvPr>
          <p:cNvSpPr>
            <a:spLocks noGrp="1"/>
          </p:cNvSpPr>
          <p:nvPr>
            <p:ph idx="1"/>
          </p:nvPr>
        </p:nvSpPr>
        <p:spPr/>
        <p:txBody>
          <a:bodyPr>
            <a:normAutofit fontScale="92500" lnSpcReduction="20000"/>
          </a:bodyPr>
          <a:lstStyle/>
          <a:p>
            <a:pPr marL="0" indent="0" algn="just">
              <a:lnSpc>
                <a:spcPct val="150000"/>
              </a:lnSpc>
              <a:buNone/>
            </a:pPr>
            <a:r>
              <a:rPr lang="en-US" dirty="0">
                <a:sym typeface="Wingdings" panose="05000000000000000000" pitchFamily="2" charset="2"/>
              </a:rPr>
              <a:t> </a:t>
            </a:r>
            <a:r>
              <a:rPr lang="en-US" dirty="0"/>
              <a:t>A centralized system has a centralized control with all administrative authority. Such systems are easy to design, maintain, impose trust, and govern, but suffer from many inherent limitations, as follows: </a:t>
            </a:r>
          </a:p>
          <a:p>
            <a:pPr marL="0" indent="0" algn="just">
              <a:lnSpc>
                <a:spcPct val="150000"/>
              </a:lnSpc>
              <a:buNone/>
            </a:pPr>
            <a:r>
              <a:rPr lang="en-US" dirty="0"/>
              <a:t>	They have a central point of failure, so are less stable. </a:t>
            </a:r>
          </a:p>
          <a:p>
            <a:pPr marL="0" indent="0" algn="just">
              <a:lnSpc>
                <a:spcPct val="150000"/>
              </a:lnSpc>
              <a:buNone/>
            </a:pPr>
            <a:r>
              <a:rPr lang="en-US" dirty="0"/>
              <a:t>	They are more vulnerable to attack and hence less secured.</a:t>
            </a:r>
          </a:p>
          <a:p>
            <a:pPr marL="0" indent="0" algn="just">
              <a:lnSpc>
                <a:spcPct val="150000"/>
              </a:lnSpc>
              <a:buNone/>
            </a:pPr>
            <a:r>
              <a:rPr lang="en-US" dirty="0"/>
              <a:t>	Centralization of power can lead to unethical operations. </a:t>
            </a:r>
          </a:p>
          <a:p>
            <a:pPr marL="0" indent="0" algn="just">
              <a:lnSpc>
                <a:spcPct val="150000"/>
              </a:lnSpc>
              <a:buNone/>
            </a:pPr>
            <a:r>
              <a:rPr lang="en-US" dirty="0"/>
              <a:t>	Scalability is difficult most of the time. </a:t>
            </a:r>
            <a:endParaRPr lang="en-IN" dirty="0"/>
          </a:p>
        </p:txBody>
      </p:sp>
    </p:spTree>
    <p:extLst>
      <p:ext uri="{BB962C8B-B14F-4D97-AF65-F5344CB8AC3E}">
        <p14:creationId xmlns:p14="http://schemas.microsoft.com/office/powerpoint/2010/main" val="344399508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E8ABD2B-593C-E075-6F1A-301522988AD4}"/>
              </a:ext>
            </a:extLst>
          </p:cNvPr>
          <p:cNvPicPr>
            <a:picLocks noGrp="1" noChangeAspect="1"/>
          </p:cNvPicPr>
          <p:nvPr>
            <p:ph idx="1"/>
          </p:nvPr>
        </p:nvPicPr>
        <p:blipFill>
          <a:blip r:embed="rId2"/>
          <a:stretch>
            <a:fillRect/>
          </a:stretch>
        </p:blipFill>
        <p:spPr>
          <a:xfrm>
            <a:off x="1223920" y="267588"/>
            <a:ext cx="8390785" cy="5974715"/>
          </a:xfrm>
        </p:spPr>
      </p:pic>
    </p:spTree>
    <p:extLst>
      <p:ext uri="{BB962C8B-B14F-4D97-AF65-F5344CB8AC3E}">
        <p14:creationId xmlns:p14="http://schemas.microsoft.com/office/powerpoint/2010/main" val="145191140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01B58B-63CE-22F4-2240-6C955C4D4346}"/>
              </a:ext>
            </a:extLst>
          </p:cNvPr>
          <p:cNvSpPr>
            <a:spLocks noGrp="1"/>
          </p:cNvSpPr>
          <p:nvPr>
            <p:ph type="title"/>
          </p:nvPr>
        </p:nvSpPr>
        <p:spPr/>
        <p:txBody>
          <a:bodyPr/>
          <a:lstStyle/>
          <a:p>
            <a:r>
              <a:rPr lang="en-US" b="1" dirty="0"/>
              <a:t>Decentralized System</a:t>
            </a:r>
            <a:endParaRPr lang="en-IN" b="1" dirty="0"/>
          </a:p>
        </p:txBody>
      </p:sp>
      <p:sp>
        <p:nvSpPr>
          <p:cNvPr id="3" name="Content Placeholder 2">
            <a:extLst>
              <a:ext uri="{FF2B5EF4-FFF2-40B4-BE49-F238E27FC236}">
                <a16:creationId xmlns:a16="http://schemas.microsoft.com/office/drawing/2014/main" id="{6A58C374-83FF-800A-28E6-F815619CCADE}"/>
              </a:ext>
            </a:extLst>
          </p:cNvPr>
          <p:cNvSpPr>
            <a:spLocks noGrp="1"/>
          </p:cNvSpPr>
          <p:nvPr>
            <p:ph idx="1"/>
          </p:nvPr>
        </p:nvSpPr>
        <p:spPr>
          <a:xfrm>
            <a:off x="838200" y="1690688"/>
            <a:ext cx="10515600" cy="4802187"/>
          </a:xfrm>
        </p:spPr>
        <p:txBody>
          <a:bodyPr>
            <a:normAutofit fontScale="77500" lnSpcReduction="20000"/>
          </a:bodyPr>
          <a:lstStyle/>
          <a:p>
            <a:pPr marL="0" indent="0" algn="just">
              <a:lnSpc>
                <a:spcPct val="160000"/>
              </a:lnSpc>
              <a:buNone/>
            </a:pPr>
            <a:r>
              <a:rPr lang="en-US" dirty="0">
                <a:latin typeface="Times New Roman" panose="02020603050405020304" pitchFamily="18" charset="0"/>
                <a:cs typeface="Times New Roman" panose="02020603050405020304" pitchFamily="18" charset="0"/>
                <a:sym typeface="Wingdings" panose="05000000000000000000" pitchFamily="2" charset="2"/>
              </a:rPr>
              <a:t> </a:t>
            </a:r>
            <a:r>
              <a:rPr lang="en-US" dirty="0">
                <a:latin typeface="Times New Roman" panose="02020603050405020304" pitchFamily="18" charset="0"/>
                <a:cs typeface="Times New Roman" panose="02020603050405020304" pitchFamily="18" charset="0"/>
              </a:rPr>
              <a:t>A decentralized system does not have a centralized control and every node has equal authority. Such systems are difficult to design, maintain, govern, or impose trust. However, they do not suffer from the limitations of conventional centralized systems. Decentralized systems offer the following advantages: </a:t>
            </a:r>
          </a:p>
          <a:p>
            <a:pPr marL="0" indent="0" algn="just">
              <a:lnSpc>
                <a:spcPct val="160000"/>
              </a:lnSpc>
              <a:buNone/>
            </a:pPr>
            <a:r>
              <a:rPr lang="en-US" dirty="0">
                <a:latin typeface="Times New Roman" panose="02020603050405020304" pitchFamily="18" charset="0"/>
                <a:cs typeface="Times New Roman" panose="02020603050405020304" pitchFamily="18" charset="0"/>
              </a:rPr>
              <a:t>	They do not have a central point of failure, so more stable and 	fault tolerant </a:t>
            </a:r>
          </a:p>
          <a:p>
            <a:pPr marL="0" indent="0" algn="just">
              <a:lnSpc>
                <a:spcPct val="160000"/>
              </a:lnSpc>
              <a:buNone/>
            </a:pPr>
            <a:r>
              <a:rPr lang="en-US" dirty="0">
                <a:latin typeface="Times New Roman" panose="02020603050405020304" pitchFamily="18" charset="0"/>
                <a:cs typeface="Times New Roman" panose="02020603050405020304" pitchFamily="18" charset="0"/>
              </a:rPr>
              <a:t>	Attack resistant, as no central point to easily attack and hence 	more secured </a:t>
            </a:r>
          </a:p>
          <a:p>
            <a:pPr marL="0" indent="0" algn="just">
              <a:lnSpc>
                <a:spcPct val="160000"/>
              </a:lnSpc>
              <a:buNone/>
            </a:pPr>
            <a:r>
              <a:rPr lang="en-US" dirty="0">
                <a:latin typeface="Times New Roman" panose="02020603050405020304" pitchFamily="18" charset="0"/>
                <a:cs typeface="Times New Roman" panose="02020603050405020304" pitchFamily="18" charset="0"/>
              </a:rPr>
              <a:t>	Symmetric system with equal authority to all, so less scope of 	unethical 	operations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9703840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6E2D0E8-2355-76AA-C1F8-3F5C8D7A57E3}"/>
              </a:ext>
            </a:extLst>
          </p:cNvPr>
          <p:cNvPicPr>
            <a:picLocks noGrp="1" noChangeAspect="1"/>
          </p:cNvPicPr>
          <p:nvPr>
            <p:ph idx="1"/>
          </p:nvPr>
        </p:nvPicPr>
        <p:blipFill>
          <a:blip r:embed="rId2"/>
          <a:stretch>
            <a:fillRect/>
          </a:stretch>
        </p:blipFill>
        <p:spPr>
          <a:xfrm>
            <a:off x="2082612" y="96900"/>
            <a:ext cx="7927020" cy="6666827"/>
          </a:xfrm>
        </p:spPr>
      </p:pic>
    </p:spTree>
    <p:extLst>
      <p:ext uri="{BB962C8B-B14F-4D97-AF65-F5344CB8AC3E}">
        <p14:creationId xmlns:p14="http://schemas.microsoft.com/office/powerpoint/2010/main" val="106132454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AEDCCC1-FF26-9105-0A09-4D340EBE99CC}"/>
              </a:ext>
            </a:extLst>
          </p:cNvPr>
          <p:cNvPicPr>
            <a:picLocks noGrp="1" noChangeAspect="1"/>
          </p:cNvPicPr>
          <p:nvPr>
            <p:ph idx="1"/>
          </p:nvPr>
        </p:nvPicPr>
        <p:blipFill>
          <a:blip r:embed="rId2"/>
          <a:stretch>
            <a:fillRect/>
          </a:stretch>
        </p:blipFill>
        <p:spPr>
          <a:xfrm>
            <a:off x="1439801" y="189611"/>
            <a:ext cx="8928313" cy="6303264"/>
          </a:xfrm>
        </p:spPr>
      </p:pic>
    </p:spTree>
    <p:extLst>
      <p:ext uri="{BB962C8B-B14F-4D97-AF65-F5344CB8AC3E}">
        <p14:creationId xmlns:p14="http://schemas.microsoft.com/office/powerpoint/2010/main" val="59626347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E0A662D1-9CDA-B365-84B9-039959CBC38E}"/>
              </a:ext>
            </a:extLst>
          </p:cNvPr>
          <p:cNvGraphicFramePr>
            <a:graphicFrameLocks noGrp="1"/>
          </p:cNvGraphicFramePr>
          <p:nvPr>
            <p:extLst>
              <p:ext uri="{D42A27DB-BD31-4B8C-83A1-F6EECF244321}">
                <p14:modId xmlns:p14="http://schemas.microsoft.com/office/powerpoint/2010/main" val="423592115"/>
              </p:ext>
            </p:extLst>
          </p:nvPr>
        </p:nvGraphicFramePr>
        <p:xfrm>
          <a:off x="443883" y="834501"/>
          <a:ext cx="10422385" cy="5389377"/>
        </p:xfrm>
        <a:graphic>
          <a:graphicData uri="http://schemas.openxmlformats.org/drawingml/2006/table">
            <a:tbl>
              <a:tblPr/>
              <a:tblGrid>
                <a:gridCol w="3456373">
                  <a:extLst>
                    <a:ext uri="{9D8B030D-6E8A-4147-A177-3AD203B41FA5}">
                      <a16:colId xmlns:a16="http://schemas.microsoft.com/office/drawing/2014/main" val="96053478"/>
                    </a:ext>
                  </a:extLst>
                </a:gridCol>
                <a:gridCol w="3483006">
                  <a:extLst>
                    <a:ext uri="{9D8B030D-6E8A-4147-A177-3AD203B41FA5}">
                      <a16:colId xmlns:a16="http://schemas.microsoft.com/office/drawing/2014/main" val="1856408132"/>
                    </a:ext>
                  </a:extLst>
                </a:gridCol>
                <a:gridCol w="3483006">
                  <a:extLst>
                    <a:ext uri="{9D8B030D-6E8A-4147-A177-3AD203B41FA5}">
                      <a16:colId xmlns:a16="http://schemas.microsoft.com/office/drawing/2014/main" val="601779581"/>
                    </a:ext>
                  </a:extLst>
                </a:gridCol>
              </a:tblGrid>
              <a:tr h="944369">
                <a:tc>
                  <a:txBody>
                    <a:bodyPr/>
                    <a:lstStyle/>
                    <a:p>
                      <a:r>
                        <a:rPr lang="en-US" sz="1800" b="1" dirty="0">
                          <a:effectLst/>
                          <a:latin typeface="Times New Roman" panose="02020603050405020304" pitchFamily="18" charset="0"/>
                          <a:cs typeface="Times New Roman" panose="02020603050405020304" pitchFamily="18" charset="0"/>
                        </a:rPr>
                        <a:t>The basis for comparison between Bitcoin vs Blockchain</a:t>
                      </a:r>
                      <a:endParaRPr lang="en-US" sz="1800" dirty="0">
                        <a:effectLst/>
                        <a:latin typeface="Times New Roman" panose="02020603050405020304" pitchFamily="18" charset="0"/>
                        <a:cs typeface="Times New Roman" panose="02020603050405020304" pitchFamily="18" charset="0"/>
                      </a:endParaRPr>
                    </a:p>
                  </a:txBody>
                  <a:tcPr marL="46889" marR="46889" marT="46889" marB="46889"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r>
                        <a:rPr lang="en-IN" sz="1800" b="1">
                          <a:effectLst/>
                          <a:latin typeface="Times New Roman" panose="02020603050405020304" pitchFamily="18" charset="0"/>
                          <a:cs typeface="Times New Roman" panose="02020603050405020304" pitchFamily="18" charset="0"/>
                        </a:rPr>
                        <a:t>Bitcoin</a:t>
                      </a:r>
                      <a:endParaRPr lang="en-IN" sz="1800">
                        <a:effectLst/>
                        <a:latin typeface="Times New Roman" panose="02020603050405020304" pitchFamily="18" charset="0"/>
                        <a:cs typeface="Times New Roman" panose="02020603050405020304" pitchFamily="18" charset="0"/>
                      </a:endParaRPr>
                    </a:p>
                  </a:txBody>
                  <a:tcPr marL="46889" marR="46889" marT="46889" marB="46889"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r>
                        <a:rPr lang="en-IN" sz="1800" b="1">
                          <a:effectLst/>
                          <a:latin typeface="Times New Roman" panose="02020603050405020304" pitchFamily="18" charset="0"/>
                          <a:cs typeface="Times New Roman" panose="02020603050405020304" pitchFamily="18" charset="0"/>
                        </a:rPr>
                        <a:t>Blockchain</a:t>
                      </a:r>
                      <a:endParaRPr lang="en-IN" sz="1800">
                        <a:effectLst/>
                        <a:latin typeface="Times New Roman" panose="02020603050405020304" pitchFamily="18" charset="0"/>
                        <a:cs typeface="Times New Roman" panose="02020603050405020304" pitchFamily="18" charset="0"/>
                      </a:endParaRPr>
                    </a:p>
                  </a:txBody>
                  <a:tcPr marL="46889" marR="46889" marT="46889" marB="46889"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415744875"/>
                  </a:ext>
                </a:extLst>
              </a:tr>
              <a:tr h="335820">
                <a:tc>
                  <a:txBody>
                    <a:bodyPr/>
                    <a:lstStyle/>
                    <a:p>
                      <a:r>
                        <a:rPr lang="en-IN" sz="1800" b="1">
                          <a:effectLst/>
                          <a:latin typeface="Times New Roman" panose="02020603050405020304" pitchFamily="18" charset="0"/>
                          <a:cs typeface="Times New Roman" panose="02020603050405020304" pitchFamily="18" charset="0"/>
                        </a:rPr>
                        <a:t>What is it?</a:t>
                      </a:r>
                      <a:endParaRPr lang="en-IN" sz="1800">
                        <a:effectLst/>
                        <a:latin typeface="Times New Roman" panose="02020603050405020304" pitchFamily="18" charset="0"/>
                        <a:cs typeface="Times New Roman" panose="02020603050405020304" pitchFamily="18" charset="0"/>
                      </a:endParaRPr>
                    </a:p>
                  </a:txBody>
                  <a:tcPr marL="46889" marR="46889" marT="46889" marB="46889"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r>
                        <a:rPr lang="en-IN" sz="1800">
                          <a:effectLst/>
                          <a:latin typeface="Times New Roman" panose="02020603050405020304" pitchFamily="18" charset="0"/>
                          <a:cs typeface="Times New Roman" panose="02020603050405020304" pitchFamily="18" charset="0"/>
                        </a:rPr>
                        <a:t>A crypto-currency</a:t>
                      </a:r>
                    </a:p>
                  </a:txBody>
                  <a:tcPr marL="46889" marR="46889" marT="46889" marB="46889"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r>
                        <a:rPr lang="en-IN" sz="1800" dirty="0">
                          <a:effectLst/>
                          <a:latin typeface="Times New Roman" panose="02020603050405020304" pitchFamily="18" charset="0"/>
                          <a:cs typeface="Times New Roman" panose="02020603050405020304" pitchFamily="18" charset="0"/>
                        </a:rPr>
                        <a:t>A digital ledger</a:t>
                      </a:r>
                    </a:p>
                  </a:txBody>
                  <a:tcPr marL="46889" marR="46889" marT="46889" marB="46889"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296261893"/>
                  </a:ext>
                </a:extLst>
              </a:tr>
              <a:tr h="1358970">
                <a:tc>
                  <a:txBody>
                    <a:bodyPr/>
                    <a:lstStyle/>
                    <a:p>
                      <a:r>
                        <a:rPr lang="en-IN" sz="1800" b="1" dirty="0">
                          <a:effectLst/>
                          <a:latin typeface="Times New Roman" panose="02020603050405020304" pitchFamily="18" charset="0"/>
                          <a:cs typeface="Times New Roman" panose="02020603050405020304" pitchFamily="18" charset="0"/>
                        </a:rPr>
                        <a:t>Main Aim</a:t>
                      </a:r>
                      <a:endParaRPr lang="en-IN" sz="1800" dirty="0">
                        <a:effectLst/>
                        <a:latin typeface="Times New Roman" panose="02020603050405020304" pitchFamily="18" charset="0"/>
                        <a:cs typeface="Times New Roman" panose="02020603050405020304" pitchFamily="18" charset="0"/>
                      </a:endParaRPr>
                    </a:p>
                  </a:txBody>
                  <a:tcPr marL="46889" marR="46889" marT="46889" marB="46889"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r>
                        <a:rPr lang="en-US" sz="1800">
                          <a:effectLst/>
                          <a:latin typeface="Times New Roman" panose="02020603050405020304" pitchFamily="18" charset="0"/>
                          <a:cs typeface="Times New Roman" panose="02020603050405020304" pitchFamily="18" charset="0"/>
                        </a:rPr>
                        <a:t>To simplify and increase the speed of transactions without much of government restrictions.</a:t>
                      </a:r>
                    </a:p>
                  </a:txBody>
                  <a:tcPr marL="46889" marR="46889" marT="46889" marB="46889"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r>
                        <a:rPr lang="en-US" sz="1800" dirty="0">
                          <a:effectLst/>
                          <a:latin typeface="Times New Roman" panose="02020603050405020304" pitchFamily="18" charset="0"/>
                          <a:cs typeface="Times New Roman" panose="02020603050405020304" pitchFamily="18" charset="0"/>
                        </a:rPr>
                        <a:t>To provide a low cost, safe, and secure environment for peer-to-peer transactions.</a:t>
                      </a:r>
                    </a:p>
                  </a:txBody>
                  <a:tcPr marL="46889" marR="46889" marT="46889" marB="46889"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260790233"/>
                  </a:ext>
                </a:extLst>
              </a:tr>
              <a:tr h="1358970">
                <a:tc>
                  <a:txBody>
                    <a:bodyPr/>
                    <a:lstStyle/>
                    <a:p>
                      <a:r>
                        <a:rPr lang="en-IN" sz="1800" b="1" dirty="0">
                          <a:effectLst/>
                          <a:latin typeface="Times New Roman" panose="02020603050405020304" pitchFamily="18" charset="0"/>
                          <a:cs typeface="Times New Roman" panose="02020603050405020304" pitchFamily="18" charset="0"/>
                        </a:rPr>
                        <a:t>Trade</a:t>
                      </a:r>
                      <a:endParaRPr lang="en-IN" sz="1800" dirty="0">
                        <a:effectLst/>
                        <a:latin typeface="Times New Roman" panose="02020603050405020304" pitchFamily="18" charset="0"/>
                        <a:cs typeface="Times New Roman" panose="02020603050405020304" pitchFamily="18" charset="0"/>
                      </a:endParaRPr>
                    </a:p>
                  </a:txBody>
                  <a:tcPr marL="46889" marR="46889" marT="46889" marB="46889"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r>
                        <a:rPr lang="en-US" sz="1800" dirty="0">
                          <a:effectLst/>
                          <a:latin typeface="Times New Roman" panose="02020603050405020304" pitchFamily="18" charset="0"/>
                          <a:cs typeface="Times New Roman" panose="02020603050405020304" pitchFamily="18" charset="0"/>
                        </a:rPr>
                        <a:t>Bitcoin is limited to trading as a currency.</a:t>
                      </a:r>
                    </a:p>
                  </a:txBody>
                  <a:tcPr marL="46889" marR="46889" marT="46889" marB="46889"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r>
                        <a:rPr lang="en-US" sz="1800">
                          <a:effectLst/>
                          <a:latin typeface="Times New Roman" panose="02020603050405020304" pitchFamily="18" charset="0"/>
                          <a:cs typeface="Times New Roman" panose="02020603050405020304" pitchFamily="18" charset="0"/>
                        </a:rPr>
                        <a:t>Blockchain can easily transfer anything from currencies to property rights of stocks.</a:t>
                      </a:r>
                    </a:p>
                  </a:txBody>
                  <a:tcPr marL="46889" marR="46889" marT="46889" marB="46889"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47499110"/>
                  </a:ext>
                </a:extLst>
              </a:tr>
              <a:tr h="1358970">
                <a:tc>
                  <a:txBody>
                    <a:bodyPr/>
                    <a:lstStyle/>
                    <a:p>
                      <a:r>
                        <a:rPr lang="en-IN" sz="1800" b="1">
                          <a:effectLst/>
                          <a:latin typeface="Times New Roman" panose="02020603050405020304" pitchFamily="18" charset="0"/>
                          <a:cs typeface="Times New Roman" panose="02020603050405020304" pitchFamily="18" charset="0"/>
                        </a:rPr>
                        <a:t>Scope</a:t>
                      </a:r>
                      <a:endParaRPr lang="en-IN" sz="1800">
                        <a:effectLst/>
                        <a:latin typeface="Times New Roman" panose="02020603050405020304" pitchFamily="18" charset="0"/>
                        <a:cs typeface="Times New Roman" panose="02020603050405020304" pitchFamily="18" charset="0"/>
                      </a:endParaRPr>
                    </a:p>
                  </a:txBody>
                  <a:tcPr marL="46889" marR="46889" marT="46889" marB="46889"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r>
                        <a:rPr lang="en-US" sz="1800">
                          <a:effectLst/>
                          <a:latin typeface="Times New Roman" panose="02020603050405020304" pitchFamily="18" charset="0"/>
                          <a:cs typeface="Times New Roman" panose="02020603050405020304" pitchFamily="18" charset="0"/>
                        </a:rPr>
                        <a:t>The scope of bitcoin is limited.</a:t>
                      </a:r>
                    </a:p>
                  </a:txBody>
                  <a:tcPr marL="46889" marR="46889" marT="46889" marB="46889"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r>
                        <a:rPr lang="en-US" sz="1800" dirty="0">
                          <a:effectLst/>
                          <a:latin typeface="Times New Roman" panose="02020603050405020304" pitchFamily="18" charset="0"/>
                          <a:cs typeface="Times New Roman" panose="02020603050405020304" pitchFamily="18" charset="0"/>
                        </a:rPr>
                        <a:t>The blockchain is more open to changes and hence has the backing of many top companies.</a:t>
                      </a:r>
                    </a:p>
                  </a:txBody>
                  <a:tcPr marL="46889" marR="46889" marT="46889" marB="46889"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286618044"/>
                  </a:ext>
                </a:extLst>
              </a:tr>
            </a:tbl>
          </a:graphicData>
        </a:graphic>
      </p:graphicFrame>
      <p:sp>
        <p:nvSpPr>
          <p:cNvPr id="6" name="TextBox 5">
            <a:extLst>
              <a:ext uri="{FF2B5EF4-FFF2-40B4-BE49-F238E27FC236}">
                <a16:creationId xmlns:a16="http://schemas.microsoft.com/office/drawing/2014/main" id="{21C3DFB4-3163-E0DB-1436-EAF9229AD688}"/>
              </a:ext>
            </a:extLst>
          </p:cNvPr>
          <p:cNvSpPr txBox="1"/>
          <p:nvPr/>
        </p:nvSpPr>
        <p:spPr>
          <a:xfrm>
            <a:off x="443883" y="216871"/>
            <a:ext cx="6622742"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Blockchain Vs Bitcoin</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374787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E3D8A7D7-1F77-65AD-1B4E-8AAE6DBB6E23}"/>
              </a:ext>
            </a:extLst>
          </p:cNvPr>
          <p:cNvGraphicFramePr>
            <a:graphicFrameLocks noGrp="1"/>
          </p:cNvGraphicFramePr>
          <p:nvPr>
            <p:extLst>
              <p:ext uri="{D42A27DB-BD31-4B8C-83A1-F6EECF244321}">
                <p14:modId xmlns:p14="http://schemas.microsoft.com/office/powerpoint/2010/main" val="3376856880"/>
              </p:ext>
            </p:extLst>
          </p:nvPr>
        </p:nvGraphicFramePr>
        <p:xfrm>
          <a:off x="497148" y="1253330"/>
          <a:ext cx="11097444" cy="4806093"/>
        </p:xfrm>
        <a:graphic>
          <a:graphicData uri="http://schemas.openxmlformats.org/drawingml/2006/table">
            <a:tbl>
              <a:tblPr/>
              <a:tblGrid>
                <a:gridCol w="3719472">
                  <a:extLst>
                    <a:ext uri="{9D8B030D-6E8A-4147-A177-3AD203B41FA5}">
                      <a16:colId xmlns:a16="http://schemas.microsoft.com/office/drawing/2014/main" val="2889589664"/>
                    </a:ext>
                  </a:extLst>
                </a:gridCol>
                <a:gridCol w="3688986">
                  <a:extLst>
                    <a:ext uri="{9D8B030D-6E8A-4147-A177-3AD203B41FA5}">
                      <a16:colId xmlns:a16="http://schemas.microsoft.com/office/drawing/2014/main" val="1267222755"/>
                    </a:ext>
                  </a:extLst>
                </a:gridCol>
                <a:gridCol w="3688986">
                  <a:extLst>
                    <a:ext uri="{9D8B030D-6E8A-4147-A177-3AD203B41FA5}">
                      <a16:colId xmlns:a16="http://schemas.microsoft.com/office/drawing/2014/main" val="4073842829"/>
                    </a:ext>
                  </a:extLst>
                </a:gridCol>
              </a:tblGrid>
              <a:tr h="1841295">
                <a:tc>
                  <a:txBody>
                    <a:bodyPr/>
                    <a:lstStyle/>
                    <a:p>
                      <a:r>
                        <a:rPr lang="en-IN" sz="1800" b="1" dirty="0">
                          <a:effectLst/>
                          <a:latin typeface="Times New Roman" panose="02020603050405020304" pitchFamily="18" charset="0"/>
                          <a:cs typeface="Times New Roman" panose="02020603050405020304" pitchFamily="18" charset="0"/>
                        </a:rPr>
                        <a:t>Strategy</a:t>
                      </a:r>
                      <a:endParaRPr lang="en-IN" sz="1800" dirty="0">
                        <a:effectLst/>
                        <a:latin typeface="Times New Roman" panose="02020603050405020304" pitchFamily="18" charset="0"/>
                        <a:cs typeface="Times New Roman" panose="02020603050405020304" pitchFamily="18" charset="0"/>
                      </a:endParaRPr>
                    </a:p>
                  </a:txBody>
                  <a:tcPr marL="70639" marR="70639" marT="70639" marB="70639"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r>
                        <a:rPr lang="en-US" sz="1800" dirty="0">
                          <a:effectLst/>
                          <a:latin typeface="Times New Roman" panose="02020603050405020304" pitchFamily="18" charset="0"/>
                          <a:cs typeface="Times New Roman" panose="02020603050405020304" pitchFamily="18" charset="0"/>
                        </a:rPr>
                        <a:t>Bitcoin focuses on lowering the cost of influencers and reduces the time of transactions but is less flexible.</a:t>
                      </a:r>
                    </a:p>
                  </a:txBody>
                  <a:tcPr marL="70639" marR="70639" marT="70639" marB="70639"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r>
                        <a:rPr lang="en-US" sz="1800">
                          <a:effectLst/>
                          <a:latin typeface="Times New Roman" panose="02020603050405020304" pitchFamily="18" charset="0"/>
                          <a:cs typeface="Times New Roman" panose="02020603050405020304" pitchFamily="18" charset="0"/>
                        </a:rPr>
                        <a:t>Blockchain can be adapted to any change and hence it can cater to different industries.</a:t>
                      </a:r>
                    </a:p>
                  </a:txBody>
                  <a:tcPr marL="70639" marR="70639" marT="70639" marB="70639"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44121944"/>
                  </a:ext>
                </a:extLst>
              </a:tr>
              <a:tr h="2964798">
                <a:tc>
                  <a:txBody>
                    <a:bodyPr/>
                    <a:lstStyle/>
                    <a:p>
                      <a:r>
                        <a:rPr lang="en-IN" sz="1800" b="1" dirty="0">
                          <a:effectLst/>
                          <a:latin typeface="Times New Roman" panose="02020603050405020304" pitchFamily="18" charset="0"/>
                          <a:cs typeface="Times New Roman" panose="02020603050405020304" pitchFamily="18" charset="0"/>
                        </a:rPr>
                        <a:t>Status</a:t>
                      </a:r>
                      <a:endParaRPr lang="en-IN" sz="1800" dirty="0">
                        <a:effectLst/>
                        <a:latin typeface="Times New Roman" panose="02020603050405020304" pitchFamily="18" charset="0"/>
                        <a:cs typeface="Times New Roman" panose="02020603050405020304" pitchFamily="18" charset="0"/>
                      </a:endParaRPr>
                    </a:p>
                  </a:txBody>
                  <a:tcPr marL="70639" marR="70639" marT="70639" marB="70639"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r>
                        <a:rPr lang="en-US" sz="1800" dirty="0">
                          <a:effectLst/>
                          <a:latin typeface="Times New Roman" panose="02020603050405020304" pitchFamily="18" charset="0"/>
                          <a:cs typeface="Times New Roman" panose="02020603050405020304" pitchFamily="18" charset="0"/>
                        </a:rPr>
                        <a:t>Bitcoin likes to be anonymous and hence even though we can see the transactions in the ledger, they are numbers that are not in any particular sequence.</a:t>
                      </a:r>
                    </a:p>
                  </a:txBody>
                  <a:tcPr marL="70639" marR="70639" marT="70639" marB="70639"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r>
                        <a:rPr lang="en-US" sz="1800" dirty="0">
                          <a:effectLst/>
                          <a:latin typeface="Times New Roman" panose="02020603050405020304" pitchFamily="18" charset="0"/>
                          <a:cs typeface="Times New Roman" panose="02020603050405020304" pitchFamily="18" charset="0"/>
                        </a:rPr>
                        <a:t>As blockchain works with various businesses, it should have compliance with KYC and other norms. Hence blockchain is very transparent.</a:t>
                      </a:r>
                    </a:p>
                  </a:txBody>
                  <a:tcPr marL="70639" marR="70639" marT="70639" marB="70639"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309524400"/>
                  </a:ext>
                </a:extLst>
              </a:tr>
            </a:tbl>
          </a:graphicData>
        </a:graphic>
      </p:graphicFrame>
      <p:sp>
        <p:nvSpPr>
          <p:cNvPr id="5" name="TextBox 4">
            <a:extLst>
              <a:ext uri="{FF2B5EF4-FFF2-40B4-BE49-F238E27FC236}">
                <a16:creationId xmlns:a16="http://schemas.microsoft.com/office/drawing/2014/main" id="{0C1310ED-B078-820E-5A75-BC879E0DBCD5}"/>
              </a:ext>
            </a:extLst>
          </p:cNvPr>
          <p:cNvSpPr txBox="1"/>
          <p:nvPr/>
        </p:nvSpPr>
        <p:spPr>
          <a:xfrm>
            <a:off x="497149" y="337351"/>
            <a:ext cx="6471822" cy="369332"/>
          </a:xfrm>
          <a:prstGeom prst="rect">
            <a:avLst/>
          </a:prstGeom>
          <a:noFill/>
        </p:spPr>
        <p:txBody>
          <a:bodyPr wrap="square" rtlCol="0">
            <a:spAutoFit/>
          </a:bodyPr>
          <a:lstStyle/>
          <a:p>
            <a:r>
              <a:rPr lang="en-US" sz="1800" b="1">
                <a:latin typeface="Times New Roman" panose="02020603050405020304" pitchFamily="18" charset="0"/>
                <a:cs typeface="Times New Roman" panose="02020603050405020304" pitchFamily="18" charset="0"/>
              </a:rPr>
              <a:t>Blockchain Vs Bitcoin</a:t>
            </a:r>
            <a:endParaRPr lang="en-IN" sz="1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5469195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2DA29-4857-B238-0565-773E25E4A7E2}"/>
              </a:ext>
            </a:extLst>
          </p:cNvPr>
          <p:cNvSpPr>
            <a:spLocks noGrp="1"/>
          </p:cNvSpPr>
          <p:nvPr>
            <p:ph type="title"/>
          </p:nvPr>
        </p:nvSpPr>
        <p:spPr/>
        <p:txBody>
          <a:bodyPr/>
          <a:lstStyle/>
          <a:p>
            <a:r>
              <a:rPr lang="en-US" sz="4400" b="1" i="0" dirty="0">
                <a:solidFill>
                  <a:srgbClr val="273239"/>
                </a:solidFill>
                <a:effectLst/>
                <a:latin typeface="Times New Roman" panose="02020603050405020304" pitchFamily="18" charset="0"/>
                <a:cs typeface="Times New Roman" panose="02020603050405020304" pitchFamily="18" charset="0"/>
              </a:rPr>
              <a:t>Benefits of Blockchain Technology</a:t>
            </a:r>
            <a:endParaRPr lang="en-IN" dirty="0"/>
          </a:p>
        </p:txBody>
      </p:sp>
      <p:sp>
        <p:nvSpPr>
          <p:cNvPr id="3" name="Content Placeholder 2">
            <a:extLst>
              <a:ext uri="{FF2B5EF4-FFF2-40B4-BE49-F238E27FC236}">
                <a16:creationId xmlns:a16="http://schemas.microsoft.com/office/drawing/2014/main" id="{87101FD1-1081-EB38-A5B3-353002AF6BE5}"/>
              </a:ext>
            </a:extLst>
          </p:cNvPr>
          <p:cNvSpPr>
            <a:spLocks noGrp="1"/>
          </p:cNvSpPr>
          <p:nvPr>
            <p:ph idx="1"/>
          </p:nvPr>
        </p:nvSpPr>
        <p:spPr/>
        <p:txBody>
          <a:bodyPr>
            <a:normAutofit fontScale="77500" lnSpcReduction="20000"/>
          </a:bodyPr>
          <a:lstStyle/>
          <a:p>
            <a:pPr algn="just" fontAlgn="base">
              <a:lnSpc>
                <a:spcPct val="160000"/>
              </a:lnSpc>
              <a:buFont typeface="Arial" panose="020B0604020202020204" pitchFamily="34" charset="0"/>
              <a:buChar char="•"/>
            </a:pPr>
            <a:r>
              <a:rPr lang="en-US" sz="3200" b="1" i="0" dirty="0">
                <a:solidFill>
                  <a:srgbClr val="273239"/>
                </a:solidFill>
                <a:effectLst/>
                <a:latin typeface="Times New Roman" panose="02020603050405020304" pitchFamily="18" charset="0"/>
                <a:cs typeface="Times New Roman" panose="02020603050405020304" pitchFamily="18" charset="0"/>
              </a:rPr>
              <a:t>Time-saving:</a:t>
            </a:r>
            <a:r>
              <a:rPr lang="en-US" sz="3200" b="0" i="0" dirty="0">
                <a:solidFill>
                  <a:srgbClr val="273239"/>
                </a:solidFill>
                <a:effectLst/>
                <a:latin typeface="Times New Roman" panose="02020603050405020304" pitchFamily="18" charset="0"/>
                <a:cs typeface="Times New Roman" panose="02020603050405020304" pitchFamily="18" charset="0"/>
              </a:rPr>
              <a:t> </a:t>
            </a:r>
            <a:r>
              <a:rPr lang="en-US" b="0" i="0" dirty="0">
                <a:solidFill>
                  <a:srgbClr val="273239"/>
                </a:solidFill>
                <a:effectLst/>
                <a:latin typeface="Times New Roman" panose="02020603050405020304" pitchFamily="18" charset="0"/>
                <a:cs typeface="Times New Roman" panose="02020603050405020304" pitchFamily="18" charset="0"/>
              </a:rPr>
              <a:t>No central Authority verification needed for settlements making the process faster and cheaper</a:t>
            </a:r>
            <a:r>
              <a:rPr lang="en-US" sz="3200" b="0" i="0" dirty="0">
                <a:solidFill>
                  <a:srgbClr val="273239"/>
                </a:solidFill>
                <a:effectLst/>
                <a:latin typeface="Times New Roman" panose="02020603050405020304" pitchFamily="18" charset="0"/>
                <a:cs typeface="Times New Roman" panose="02020603050405020304" pitchFamily="18" charset="0"/>
              </a:rPr>
              <a:t>.</a:t>
            </a:r>
          </a:p>
          <a:p>
            <a:pPr algn="just" fontAlgn="base">
              <a:lnSpc>
                <a:spcPct val="160000"/>
              </a:lnSpc>
              <a:buFont typeface="Arial" panose="020B0604020202020204" pitchFamily="34" charset="0"/>
              <a:buChar char="•"/>
            </a:pPr>
            <a:r>
              <a:rPr lang="en-US" sz="3200" b="1" i="0" dirty="0">
                <a:solidFill>
                  <a:srgbClr val="273239"/>
                </a:solidFill>
                <a:effectLst/>
                <a:latin typeface="Times New Roman" panose="02020603050405020304" pitchFamily="18" charset="0"/>
                <a:cs typeface="Times New Roman" panose="02020603050405020304" pitchFamily="18" charset="0"/>
              </a:rPr>
              <a:t>Cost-saving:</a:t>
            </a:r>
            <a:r>
              <a:rPr lang="en-US" sz="3200" b="0" i="0" dirty="0">
                <a:solidFill>
                  <a:srgbClr val="273239"/>
                </a:solidFill>
                <a:effectLst/>
                <a:latin typeface="Times New Roman" panose="02020603050405020304" pitchFamily="18" charset="0"/>
                <a:cs typeface="Times New Roman" panose="02020603050405020304" pitchFamily="18" charset="0"/>
              </a:rPr>
              <a:t> </a:t>
            </a:r>
            <a:r>
              <a:rPr lang="en-US" b="0" i="0" dirty="0">
                <a:solidFill>
                  <a:srgbClr val="273239"/>
                </a:solidFill>
                <a:effectLst/>
                <a:latin typeface="Times New Roman" panose="02020603050405020304" pitchFamily="18" charset="0"/>
                <a:cs typeface="Times New Roman" panose="02020603050405020304" pitchFamily="18" charset="0"/>
              </a:rPr>
              <a:t>A Blockchain network reduces expenses in several ways. No need for third-party verification. Participants can share assets directly. Intermediaries are reduced. Transaction efforts are minimized as every participant has a copy of shared ledger.</a:t>
            </a:r>
          </a:p>
          <a:p>
            <a:pPr algn="just" fontAlgn="base">
              <a:lnSpc>
                <a:spcPct val="160000"/>
              </a:lnSpc>
              <a:buFont typeface="Arial" panose="020B0604020202020204" pitchFamily="34" charset="0"/>
              <a:buChar char="•"/>
            </a:pPr>
            <a:r>
              <a:rPr lang="en-US" sz="3200" b="1" i="0" dirty="0">
                <a:solidFill>
                  <a:srgbClr val="273239"/>
                </a:solidFill>
                <a:effectLst/>
                <a:latin typeface="Times New Roman" panose="02020603050405020304" pitchFamily="18" charset="0"/>
                <a:cs typeface="Times New Roman" panose="02020603050405020304" pitchFamily="18" charset="0"/>
              </a:rPr>
              <a:t>Tighter security:</a:t>
            </a:r>
            <a:r>
              <a:rPr lang="en-US" sz="3200" b="0" i="0" dirty="0">
                <a:solidFill>
                  <a:srgbClr val="273239"/>
                </a:solidFill>
                <a:effectLst/>
                <a:latin typeface="Times New Roman" panose="02020603050405020304" pitchFamily="18" charset="0"/>
                <a:cs typeface="Times New Roman" panose="02020603050405020304" pitchFamily="18" charset="0"/>
              </a:rPr>
              <a:t> </a:t>
            </a:r>
            <a:r>
              <a:rPr lang="en-US" b="0" i="0" dirty="0">
                <a:solidFill>
                  <a:srgbClr val="273239"/>
                </a:solidFill>
                <a:effectLst/>
                <a:latin typeface="Times New Roman" panose="02020603050405020304" pitchFamily="18" charset="0"/>
                <a:cs typeface="Times New Roman" panose="02020603050405020304" pitchFamily="18" charset="0"/>
              </a:rPr>
              <a:t>No one can temper with Blockchain Data as it shared among millions of Participant. The system is safe against cybercrimes and Fraud.</a:t>
            </a:r>
            <a:endParaRPr lang="en-IN" dirty="0"/>
          </a:p>
        </p:txBody>
      </p:sp>
    </p:spTree>
    <p:extLst>
      <p:ext uri="{BB962C8B-B14F-4D97-AF65-F5344CB8AC3E}">
        <p14:creationId xmlns:p14="http://schemas.microsoft.com/office/powerpoint/2010/main" val="97598448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A2164CB-9E60-AA80-AEF4-E7FDC45F5A85}"/>
              </a:ext>
            </a:extLst>
          </p:cNvPr>
          <p:cNvSpPr txBox="1"/>
          <p:nvPr/>
        </p:nvSpPr>
        <p:spPr>
          <a:xfrm>
            <a:off x="257452" y="204186"/>
            <a:ext cx="8416031" cy="523220"/>
          </a:xfrm>
          <a:prstGeom prst="rect">
            <a:avLst/>
          </a:prstGeom>
          <a:noFill/>
        </p:spPr>
        <p:txBody>
          <a:bodyPr wrap="square" rtlCol="0">
            <a:spAutoFit/>
          </a:bodyPr>
          <a:lstStyle/>
          <a:p>
            <a:r>
              <a:rPr lang="en-IN" sz="2800" dirty="0">
                <a:latin typeface="Times New Roman" panose="02020603050405020304" pitchFamily="18" charset="0"/>
                <a:cs typeface="Times New Roman" panose="02020603050405020304" pitchFamily="18" charset="0"/>
              </a:rPr>
              <a:t>How Blockchain Transforming Business</a:t>
            </a:r>
          </a:p>
        </p:txBody>
      </p:sp>
      <p:pic>
        <p:nvPicPr>
          <p:cNvPr id="6" name="Picture 5">
            <a:extLst>
              <a:ext uri="{FF2B5EF4-FFF2-40B4-BE49-F238E27FC236}">
                <a16:creationId xmlns:a16="http://schemas.microsoft.com/office/drawing/2014/main" id="{99694E22-4E30-DB31-69D6-98BDCAFC7D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7451" y="1020932"/>
            <a:ext cx="11336785" cy="5308847"/>
          </a:xfrm>
          <a:prstGeom prst="rect">
            <a:avLst/>
          </a:prstGeom>
        </p:spPr>
      </p:pic>
    </p:spTree>
    <p:extLst>
      <p:ext uri="{BB962C8B-B14F-4D97-AF65-F5344CB8AC3E}">
        <p14:creationId xmlns:p14="http://schemas.microsoft.com/office/powerpoint/2010/main" val="274601845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D837590-F55C-DD10-CE4D-9E6286EB40AA}"/>
              </a:ext>
            </a:extLst>
          </p:cNvPr>
          <p:cNvSpPr txBox="1"/>
          <p:nvPr/>
        </p:nvSpPr>
        <p:spPr>
          <a:xfrm>
            <a:off x="162017" y="299166"/>
            <a:ext cx="6094520" cy="461665"/>
          </a:xfrm>
          <a:prstGeom prst="rect">
            <a:avLst/>
          </a:prstGeom>
          <a:noFill/>
        </p:spPr>
        <p:txBody>
          <a:bodyPr wrap="square">
            <a:spAutoFit/>
          </a:bodyPr>
          <a:lstStyle/>
          <a:p>
            <a:pPr algn="l" fontAlgn="base"/>
            <a:r>
              <a:rPr lang="en-US" sz="2400" b="1" i="0" dirty="0">
                <a:solidFill>
                  <a:srgbClr val="08062A"/>
                </a:solidFill>
                <a:effectLst/>
                <a:latin typeface="Times New Roman" panose="02020603050405020304" pitchFamily="18" charset="0"/>
                <a:cs typeface="Times New Roman" panose="02020603050405020304" pitchFamily="18" charset="0"/>
              </a:rPr>
              <a:t>Myths About Bitcoin</a:t>
            </a:r>
          </a:p>
        </p:txBody>
      </p:sp>
      <p:sp>
        <p:nvSpPr>
          <p:cNvPr id="7" name="TextBox 6">
            <a:extLst>
              <a:ext uri="{FF2B5EF4-FFF2-40B4-BE49-F238E27FC236}">
                <a16:creationId xmlns:a16="http://schemas.microsoft.com/office/drawing/2014/main" id="{B12389EC-5546-AE0A-2D5A-50FF4220CE33}"/>
              </a:ext>
            </a:extLst>
          </p:cNvPr>
          <p:cNvSpPr txBox="1"/>
          <p:nvPr/>
        </p:nvSpPr>
        <p:spPr>
          <a:xfrm>
            <a:off x="162017" y="1120676"/>
            <a:ext cx="11689672" cy="5478423"/>
          </a:xfrm>
          <a:prstGeom prst="rect">
            <a:avLst/>
          </a:prstGeom>
          <a:noFill/>
        </p:spPr>
        <p:txBody>
          <a:bodyPr wrap="square">
            <a:spAutoFit/>
          </a:bodyPr>
          <a:lstStyle/>
          <a:p>
            <a:pPr algn="just" fontAlgn="base"/>
            <a:r>
              <a:rPr lang="en-US" sz="2500" b="1" dirty="0">
                <a:latin typeface="Times New Roman" panose="02020603050405020304" pitchFamily="18" charset="0"/>
                <a:cs typeface="Times New Roman" panose="02020603050405020304" pitchFamily="18" charset="0"/>
              </a:rPr>
              <a:t>1.</a:t>
            </a:r>
            <a:r>
              <a:rPr lang="en-US" sz="2500" b="1" i="0" dirty="0">
                <a:effectLst/>
                <a:latin typeface="Times New Roman" panose="02020603050405020304" pitchFamily="18" charset="0"/>
                <a:cs typeface="Times New Roman" panose="02020603050405020304" pitchFamily="18" charset="0"/>
              </a:rPr>
              <a:t>Bitcoin Is Dead</a:t>
            </a:r>
          </a:p>
          <a:p>
            <a:pPr algn="just" fontAlgn="base"/>
            <a:endParaRPr lang="en-US" sz="2500" b="1" dirty="0">
              <a:latin typeface="Times New Roman" panose="02020603050405020304" pitchFamily="18" charset="0"/>
              <a:cs typeface="Times New Roman" panose="02020603050405020304" pitchFamily="18" charset="0"/>
            </a:endParaRPr>
          </a:p>
          <a:p>
            <a:pPr algn="just" fontAlgn="base"/>
            <a:endParaRPr lang="en-US" sz="2500" b="1" i="0" dirty="0">
              <a:effectLst/>
              <a:latin typeface="Times New Roman" panose="02020603050405020304" pitchFamily="18" charset="0"/>
              <a:cs typeface="Times New Roman" panose="02020603050405020304" pitchFamily="18" charset="0"/>
            </a:endParaRPr>
          </a:p>
          <a:p>
            <a:pPr algn="just" fontAlgn="base"/>
            <a:endParaRPr lang="en-US" sz="2500" b="1" dirty="0">
              <a:latin typeface="Times New Roman" panose="02020603050405020304" pitchFamily="18" charset="0"/>
              <a:cs typeface="Times New Roman" panose="02020603050405020304" pitchFamily="18" charset="0"/>
            </a:endParaRPr>
          </a:p>
          <a:p>
            <a:pPr algn="just" fontAlgn="base"/>
            <a:endParaRPr lang="en-US" sz="2500" b="1" i="0" dirty="0">
              <a:effectLst/>
              <a:latin typeface="Times New Roman" panose="02020603050405020304" pitchFamily="18" charset="0"/>
              <a:cs typeface="Times New Roman" panose="02020603050405020304" pitchFamily="18" charset="0"/>
            </a:endParaRPr>
          </a:p>
          <a:p>
            <a:pPr algn="just" fontAlgn="base"/>
            <a:r>
              <a:rPr lang="en-US" sz="2500" b="0" i="0" dirty="0">
                <a:effectLst/>
                <a:latin typeface="Times New Roman" panose="02020603050405020304" pitchFamily="18" charset="0"/>
                <a:cs typeface="Times New Roman" panose="02020603050405020304" pitchFamily="18" charset="0"/>
              </a:rPr>
              <a:t>The most common myth that people repeat about Bitcoin is that it is dead and no longer used by anyone in the world. There is a website, </a:t>
            </a:r>
            <a:r>
              <a:rPr lang="en-US" sz="2500" u="sng" dirty="0">
                <a:latin typeface="Times New Roman" panose="02020603050405020304" pitchFamily="18" charset="0"/>
                <a:cs typeface="Times New Roman" panose="02020603050405020304" pitchFamily="18" charset="0"/>
              </a:rPr>
              <a:t>Bitcoin Obituaries,</a:t>
            </a:r>
            <a:r>
              <a:rPr lang="en-US" sz="2500" b="0" i="0" dirty="0">
                <a:effectLst/>
                <a:latin typeface="Times New Roman" panose="02020603050405020304" pitchFamily="18" charset="0"/>
                <a:cs typeface="Times New Roman" panose="02020603050405020304" pitchFamily="18" charset="0"/>
              </a:rPr>
              <a:t> which keeps track of the declarations of Bitcoin’s death going all the way back to 2010. At that time, bitcoin was trading at $0.23.</a:t>
            </a:r>
          </a:p>
          <a:p>
            <a:pPr algn="just" fontAlgn="base"/>
            <a:r>
              <a:rPr lang="en-US" sz="2500" b="0" i="0" dirty="0">
                <a:effectLst/>
                <a:latin typeface="Times New Roman" panose="02020603050405020304" pitchFamily="18" charset="0"/>
                <a:cs typeface="Times New Roman" panose="02020603050405020304" pitchFamily="18" charset="0"/>
              </a:rPr>
              <a:t>In reality, Bitcoin is currently at its most successful point in history -- at least when measured by the </a:t>
            </a:r>
            <a:r>
              <a:rPr lang="en-US" sz="2500" u="sng" dirty="0">
                <a:latin typeface="Times New Roman" panose="02020603050405020304" pitchFamily="18" charset="0"/>
                <a:cs typeface="Times New Roman" panose="02020603050405020304" pitchFamily="18" charset="0"/>
              </a:rPr>
              <a:t>number of transactions</a:t>
            </a:r>
            <a:r>
              <a:rPr lang="en-US" sz="2500" b="0" i="0" dirty="0">
                <a:effectLst/>
                <a:latin typeface="Times New Roman" panose="02020603050405020304" pitchFamily="18" charset="0"/>
                <a:cs typeface="Times New Roman" panose="02020603050405020304" pitchFamily="18" charset="0"/>
              </a:rPr>
              <a:t> that are happening on the network every day. The real problem right now is scalability (increasing block size to handle more transactions), which Blockchain Capital Managing Partner Brock Pierce recently </a:t>
            </a:r>
            <a:r>
              <a:rPr lang="en-US" sz="2500" u="sng" dirty="0">
                <a:latin typeface="Times New Roman" panose="02020603050405020304" pitchFamily="18" charset="0"/>
                <a:cs typeface="Times New Roman" panose="02020603050405020304" pitchFamily="18" charset="0"/>
              </a:rPr>
              <a:t>pointed out</a:t>
            </a:r>
            <a:r>
              <a:rPr lang="en-US" sz="2500" b="0" i="0" dirty="0">
                <a:effectLst/>
                <a:latin typeface="Times New Roman" panose="02020603050405020304" pitchFamily="18" charset="0"/>
                <a:cs typeface="Times New Roman" panose="02020603050405020304" pitchFamily="18" charset="0"/>
              </a:rPr>
              <a:t> is a sign of its success.</a:t>
            </a:r>
          </a:p>
        </p:txBody>
      </p:sp>
      <p:pic>
        <p:nvPicPr>
          <p:cNvPr id="3076" name="Picture 4" descr="Is Crypto Dead? Supporters Collide With Critics | Investment U">
            <a:extLst>
              <a:ext uri="{FF2B5EF4-FFF2-40B4-BE49-F238E27FC236}">
                <a16:creationId xmlns:a16="http://schemas.microsoft.com/office/drawing/2014/main" id="{51973F6B-E6C2-9417-0A1F-D717D15874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32192" y="258901"/>
            <a:ext cx="4108704" cy="26284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269284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366242-A6CC-AA8C-A7AA-C7BDD75A5CA6}"/>
              </a:ext>
            </a:extLst>
          </p:cNvPr>
          <p:cNvSpPr>
            <a:spLocks noGrp="1"/>
          </p:cNvSpPr>
          <p:nvPr>
            <p:ph idx="1"/>
          </p:nvPr>
        </p:nvSpPr>
        <p:spPr>
          <a:xfrm>
            <a:off x="838200" y="341376"/>
            <a:ext cx="10515600" cy="5835587"/>
          </a:xfrm>
        </p:spPr>
        <p:txBody>
          <a:bodyPr>
            <a:normAutofit/>
          </a:bodyPr>
          <a:lstStyle/>
          <a:p>
            <a:pPr marL="0" indent="0" algn="just" fontAlgn="base">
              <a:buNone/>
            </a:pPr>
            <a:r>
              <a:rPr lang="en-US" b="1" i="0" dirty="0">
                <a:effectLst/>
                <a:latin typeface="Times New Roman" panose="02020603050405020304" pitchFamily="18" charset="0"/>
                <a:cs typeface="Times New Roman" panose="02020603050405020304" pitchFamily="18" charset="0"/>
              </a:rPr>
              <a:t>2.</a:t>
            </a:r>
            <a:r>
              <a:rPr lang="en-US" sz="3200" b="1" i="0" dirty="0">
                <a:effectLst/>
                <a:latin typeface="Times New Roman" panose="02020603050405020304" pitchFamily="18" charset="0"/>
                <a:cs typeface="Times New Roman" panose="02020603050405020304" pitchFamily="18" charset="0"/>
              </a:rPr>
              <a:t>Bitcoin Is Anonymous</a:t>
            </a:r>
          </a:p>
          <a:p>
            <a:pPr algn="just" fontAlgn="base"/>
            <a:r>
              <a:rPr lang="en-US" sz="2800" b="0" i="0" dirty="0">
                <a:effectLst/>
                <a:latin typeface="Times New Roman" panose="02020603050405020304" pitchFamily="18" charset="0"/>
                <a:cs typeface="Times New Roman" panose="02020603050405020304" pitchFamily="18" charset="0"/>
              </a:rPr>
              <a:t>Although Bitcoin is often referred to as the “anonymous currency of the dark web,” it is more correct to say that Bitcoin addresses are </a:t>
            </a:r>
            <a:r>
              <a:rPr lang="en-US" sz="2800" b="1" i="0" dirty="0">
                <a:effectLst/>
                <a:latin typeface="Times New Roman" panose="02020603050405020304" pitchFamily="18" charset="0"/>
                <a:cs typeface="Times New Roman" panose="02020603050405020304" pitchFamily="18" charset="0"/>
              </a:rPr>
              <a:t>pseudonymous</a:t>
            </a:r>
            <a:r>
              <a:rPr lang="en-US" sz="2800" b="0" i="0" dirty="0">
                <a:effectLst/>
                <a:latin typeface="Times New Roman" panose="02020603050405020304" pitchFamily="18" charset="0"/>
                <a:cs typeface="Times New Roman" panose="02020603050405020304" pitchFamily="18" charset="0"/>
              </a:rPr>
              <a:t>. This means that there is an identifiable address (or many addresses) for each user on the network, but no one necessarily knows who is behind each address.</a:t>
            </a:r>
          </a:p>
          <a:p>
            <a:pPr algn="just" fontAlgn="base"/>
            <a:r>
              <a:rPr lang="en-US" sz="2800" b="0" i="0" dirty="0">
                <a:effectLst/>
                <a:latin typeface="Times New Roman" panose="02020603050405020304" pitchFamily="18" charset="0"/>
                <a:cs typeface="Times New Roman" panose="02020603050405020304" pitchFamily="18" charset="0"/>
              </a:rPr>
              <a:t>With Bitcoin, it’s important to remember that every transaction is recorded on a completely public ledger that anyone can view on a block explorer. A few blockchain analytics companies have popped up over the past few years, and they’re able to deanonymize large portions of the network.</a:t>
            </a:r>
          </a:p>
          <a:p>
            <a:pPr marL="0" indent="0">
              <a:buNone/>
            </a:pPr>
            <a:endParaRPr lang="en-IN" dirty="0"/>
          </a:p>
        </p:txBody>
      </p:sp>
      <p:pic>
        <p:nvPicPr>
          <p:cNvPr id="4098" name="Picture 2" descr="Is Bitcoin Really Anonymous? Let's Talk About Blockchain Anonymity - Breet  Blog">
            <a:extLst>
              <a:ext uri="{FF2B5EF4-FFF2-40B4-BE49-F238E27FC236}">
                <a16:creationId xmlns:a16="http://schemas.microsoft.com/office/drawing/2014/main" id="{5BF448F7-4A64-BAAD-85D2-729F2EDEB8A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1148"/>
          <a:stretch/>
        </p:blipFill>
        <p:spPr bwMode="auto">
          <a:xfrm>
            <a:off x="7858697" y="4620272"/>
            <a:ext cx="3927646" cy="20609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19682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C6736A2-AB85-A4FD-18F8-140F708D5812}"/>
              </a:ext>
            </a:extLst>
          </p:cNvPr>
          <p:cNvSpPr txBox="1"/>
          <p:nvPr/>
        </p:nvSpPr>
        <p:spPr>
          <a:xfrm>
            <a:off x="179771" y="146260"/>
            <a:ext cx="11876105" cy="4832092"/>
          </a:xfrm>
          <a:prstGeom prst="rect">
            <a:avLst/>
          </a:prstGeom>
          <a:noFill/>
        </p:spPr>
        <p:txBody>
          <a:bodyPr wrap="square">
            <a:spAutoFit/>
          </a:bodyPr>
          <a:lstStyle/>
          <a:p>
            <a:pPr algn="l" fontAlgn="base"/>
            <a:r>
              <a:rPr lang="en-US" sz="2800" b="1" i="0" dirty="0">
                <a:effectLst/>
                <a:latin typeface="Times New Roman" panose="02020603050405020304" pitchFamily="18" charset="0"/>
                <a:cs typeface="Times New Roman" panose="02020603050405020304" pitchFamily="18" charset="0"/>
              </a:rPr>
              <a:t>3. Bitcoin Is Completely Transparent</a:t>
            </a:r>
          </a:p>
          <a:p>
            <a:pPr algn="l" fontAlgn="base"/>
            <a:endParaRPr lang="en-US" sz="2800" b="1" i="0" dirty="0">
              <a:effectLst/>
              <a:latin typeface="Times New Roman" panose="02020603050405020304" pitchFamily="18" charset="0"/>
              <a:cs typeface="Times New Roman" panose="02020603050405020304" pitchFamily="18" charset="0"/>
            </a:endParaRPr>
          </a:p>
          <a:p>
            <a:pPr algn="just" fontAlgn="base"/>
            <a:r>
              <a:rPr lang="en-US" sz="2800" b="0" i="0" dirty="0">
                <a:effectLst/>
                <a:latin typeface="Times New Roman" panose="02020603050405020304" pitchFamily="18" charset="0"/>
                <a:cs typeface="Times New Roman" panose="02020603050405020304" pitchFamily="18" charset="0"/>
              </a:rPr>
              <a:t>It’s also a myth that Bitcoin is completely transparent. As mentioned in the above section, the true identities of the individuals or organizations behind specific Bitcoin addresses are not always known. There are also various privacy-enhancing services, such as </a:t>
            </a:r>
            <a:r>
              <a:rPr lang="en-US" sz="2800" b="0" i="0" dirty="0" err="1">
                <a:effectLst/>
                <a:latin typeface="Times New Roman" panose="02020603050405020304" pitchFamily="18" charset="0"/>
                <a:cs typeface="Times New Roman" panose="02020603050405020304" pitchFamily="18" charset="0"/>
              </a:rPr>
              <a:t>JoinMarket</a:t>
            </a:r>
            <a:r>
              <a:rPr lang="en-US" sz="2800" b="0" i="0" dirty="0">
                <a:effectLst/>
                <a:latin typeface="Times New Roman" panose="02020603050405020304" pitchFamily="18" charset="0"/>
                <a:cs typeface="Times New Roman" panose="02020603050405020304" pitchFamily="18" charset="0"/>
              </a:rPr>
              <a:t>, which allow users to enhance their privacy on the blockchain. There are also other enhancements, such as Confidential Transactions and </a:t>
            </a:r>
            <a:r>
              <a:rPr lang="en-US" sz="2800" b="0" i="0" dirty="0" err="1">
                <a:effectLst/>
                <a:latin typeface="Times New Roman" panose="02020603050405020304" pitchFamily="18" charset="0"/>
                <a:cs typeface="Times New Roman" panose="02020603050405020304" pitchFamily="18" charset="0"/>
              </a:rPr>
              <a:t>Zerocash</a:t>
            </a:r>
            <a:r>
              <a:rPr lang="en-US" sz="2800" b="0" i="0" dirty="0">
                <a:effectLst/>
                <a:latin typeface="Times New Roman" panose="02020603050405020304" pitchFamily="18" charset="0"/>
                <a:cs typeface="Times New Roman" panose="02020603050405020304" pitchFamily="18" charset="0"/>
              </a:rPr>
              <a:t>, that could come to Bitcoin in due time.</a:t>
            </a:r>
          </a:p>
          <a:p>
            <a:pPr algn="just" fontAlgn="base"/>
            <a:r>
              <a:rPr lang="en-US" sz="2800" b="0" i="0" dirty="0">
                <a:effectLst/>
                <a:latin typeface="Times New Roman" panose="02020603050405020304" pitchFamily="18" charset="0"/>
                <a:cs typeface="Times New Roman" panose="02020603050405020304" pitchFamily="18" charset="0"/>
              </a:rPr>
              <a:t>Rather than being completely anonymous or completely transparent, Bitcoin is better identified as somewhere between these two extremes.</a:t>
            </a:r>
          </a:p>
          <a:p>
            <a:pPr algn="just" fontAlgn="base"/>
            <a:endParaRPr lang="en-US" sz="2800" b="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7862287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F5E1C0-CC35-2404-45AD-1FDDEFBF666E}"/>
              </a:ext>
            </a:extLst>
          </p:cNvPr>
          <p:cNvSpPr>
            <a:spLocks noGrp="1"/>
          </p:cNvSpPr>
          <p:nvPr>
            <p:ph idx="1"/>
          </p:nvPr>
        </p:nvSpPr>
        <p:spPr>
          <a:xfrm>
            <a:off x="838200" y="585216"/>
            <a:ext cx="10515600" cy="5591747"/>
          </a:xfrm>
        </p:spPr>
        <p:txBody>
          <a:bodyPr>
            <a:normAutofit lnSpcReduction="10000"/>
          </a:bodyPr>
          <a:lstStyle/>
          <a:p>
            <a:pPr marL="0" indent="0" algn="l" fontAlgn="base">
              <a:buNone/>
            </a:pPr>
            <a:r>
              <a:rPr lang="en-US" sz="3200" b="1" i="0" dirty="0">
                <a:effectLst/>
                <a:latin typeface="Times New Roman" panose="02020603050405020304" pitchFamily="18" charset="0"/>
                <a:cs typeface="Times New Roman" panose="02020603050405020304" pitchFamily="18" charset="0"/>
              </a:rPr>
              <a:t>4. Bitcoin Is Used by Terrorists</a:t>
            </a:r>
          </a:p>
          <a:p>
            <a:pPr algn="just" fontAlgn="base"/>
            <a:r>
              <a:rPr lang="en-US" sz="2800" b="0" i="0" dirty="0">
                <a:effectLst/>
                <a:latin typeface="Times New Roman" panose="02020603050405020304" pitchFamily="18" charset="0"/>
                <a:cs typeface="Times New Roman" panose="02020603050405020304" pitchFamily="18" charset="0"/>
              </a:rPr>
              <a:t>Whenever Bitcoin is brought up in a movie or television show, it’s almost always being used by some kind of serious criminal or terrorist; however there is no evidence of terrorists using Bitcoin on any noteworthy scale. In fact, a Europol investigation from earlier in the year </a:t>
            </a:r>
            <a:r>
              <a:rPr lang="en-US" sz="2800" u="sng" dirty="0">
                <a:latin typeface="Times New Roman" panose="02020603050405020304" pitchFamily="18" charset="0"/>
                <a:cs typeface="Times New Roman" panose="02020603050405020304" pitchFamily="18" charset="0"/>
              </a:rPr>
              <a:t>found, </a:t>
            </a:r>
            <a:r>
              <a:rPr lang="en-US" sz="2800" b="0" i="0" dirty="0">
                <a:effectLst/>
                <a:latin typeface="Times New Roman" panose="02020603050405020304" pitchFamily="18" charset="0"/>
                <a:cs typeface="Times New Roman" panose="02020603050405020304" pitchFamily="18" charset="0"/>
              </a:rPr>
              <a:t>“Despite third-party reporting suggesting the use of anonymous currencies like Bitcoin by terrorists to finance their activities, this has not been confirmed by law enforcement.”</a:t>
            </a:r>
          </a:p>
          <a:p>
            <a:pPr algn="just" fontAlgn="base"/>
            <a:r>
              <a:rPr lang="en-US" sz="2800" b="0" i="0" dirty="0">
                <a:effectLst/>
                <a:latin typeface="Times New Roman" panose="02020603050405020304" pitchFamily="18" charset="0"/>
                <a:cs typeface="Times New Roman" panose="02020603050405020304" pitchFamily="18" charset="0"/>
              </a:rPr>
              <a:t>Although Bitcoin is sometimes used for illegal transactions on the Internet, the reality is that the privacy issues related to the public blockchain make it a poor choice for terrorists. In the world of untraceable payments, </a:t>
            </a:r>
            <a:r>
              <a:rPr lang="en-US" sz="2800" u="sng" dirty="0">
                <a:latin typeface="Times New Roman" panose="02020603050405020304" pitchFamily="18" charset="0"/>
                <a:cs typeface="Times New Roman" panose="02020603050405020304" pitchFamily="18" charset="0"/>
              </a:rPr>
              <a:t>cash is still </a:t>
            </a:r>
            <a:r>
              <a:rPr lang="en-US" sz="2800" u="sng" dirty="0" err="1">
                <a:latin typeface="Times New Roman" panose="02020603050405020304" pitchFamily="18" charset="0"/>
                <a:cs typeface="Times New Roman" panose="02020603050405020304" pitchFamily="18" charset="0"/>
              </a:rPr>
              <a:t>king.</a:t>
            </a:r>
            <a:r>
              <a:rPr lang="en-US" sz="2800" b="0" i="0" dirty="0" err="1">
                <a:effectLst/>
                <a:latin typeface="Times New Roman" panose="02020603050405020304" pitchFamily="18" charset="0"/>
                <a:cs typeface="Times New Roman" panose="02020603050405020304" pitchFamily="18" charset="0"/>
              </a:rPr>
              <a:t>The</a:t>
            </a:r>
            <a:r>
              <a:rPr lang="en-US" sz="2800" b="0" i="0" dirty="0">
                <a:effectLst/>
                <a:latin typeface="Times New Roman" panose="02020603050405020304" pitchFamily="18" charset="0"/>
                <a:cs typeface="Times New Roman" panose="02020603050405020304" pitchFamily="18" charset="0"/>
              </a:rPr>
              <a:t> Winklevoss Twins, who founded a Bitcoin exchange called Gemini, have gone as far as to </a:t>
            </a:r>
            <a:r>
              <a:rPr lang="en-US" sz="2800" u="sng" dirty="0">
                <a:latin typeface="Times New Roman" panose="02020603050405020304" pitchFamily="18" charset="0"/>
                <a:cs typeface="Times New Roman" panose="02020603050405020304" pitchFamily="18" charset="0"/>
              </a:rPr>
              <a:t>say</a:t>
            </a:r>
            <a:r>
              <a:rPr lang="en-US" sz="2800" b="0" i="0" dirty="0">
                <a:effectLst/>
                <a:latin typeface="Times New Roman" panose="02020603050405020304" pitchFamily="18" charset="0"/>
                <a:cs typeface="Times New Roman" panose="02020603050405020304" pitchFamily="18" charset="0"/>
              </a:rPr>
              <a:t> Bitcoin is a haven for really stupid criminals.</a:t>
            </a:r>
          </a:p>
          <a:p>
            <a:pPr marL="0" indent="0">
              <a:buNone/>
            </a:pPr>
            <a:endParaRPr lang="en-IN" dirty="0"/>
          </a:p>
        </p:txBody>
      </p:sp>
    </p:spTree>
    <p:extLst>
      <p:ext uri="{BB962C8B-B14F-4D97-AF65-F5344CB8AC3E}">
        <p14:creationId xmlns:p14="http://schemas.microsoft.com/office/powerpoint/2010/main" val="244652513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661D50C-CF21-D9D4-32A3-7DD0F85459A6}"/>
              </a:ext>
            </a:extLst>
          </p:cNvPr>
          <p:cNvSpPr txBox="1"/>
          <p:nvPr/>
        </p:nvSpPr>
        <p:spPr>
          <a:xfrm>
            <a:off x="133165" y="128505"/>
            <a:ext cx="11736280" cy="5693866"/>
          </a:xfrm>
          <a:prstGeom prst="rect">
            <a:avLst/>
          </a:prstGeom>
          <a:noFill/>
        </p:spPr>
        <p:txBody>
          <a:bodyPr wrap="square">
            <a:spAutoFit/>
          </a:bodyPr>
          <a:lstStyle/>
          <a:p>
            <a:pPr algn="l" fontAlgn="base"/>
            <a:r>
              <a:rPr lang="en-US" sz="2800" b="1" i="0" dirty="0">
                <a:effectLst/>
                <a:latin typeface="Times New Roman" panose="02020603050405020304" pitchFamily="18" charset="0"/>
                <a:cs typeface="Times New Roman" panose="02020603050405020304" pitchFamily="18" charset="0"/>
              </a:rPr>
              <a:t>5. Bitcoin Is Not Backed By Anything, So It Has No Value</a:t>
            </a:r>
          </a:p>
          <a:p>
            <a:pPr algn="l" fontAlgn="base"/>
            <a:endParaRPr lang="en-US" sz="2800" b="1" i="0" dirty="0">
              <a:effectLst/>
              <a:latin typeface="Times New Roman" panose="02020603050405020304" pitchFamily="18" charset="0"/>
              <a:cs typeface="Times New Roman" panose="02020603050405020304" pitchFamily="18" charset="0"/>
            </a:endParaRPr>
          </a:p>
          <a:p>
            <a:pPr algn="just" fontAlgn="base"/>
            <a:r>
              <a:rPr lang="en-US" sz="2800" b="0" i="0" dirty="0">
                <a:effectLst/>
                <a:latin typeface="Times New Roman" panose="02020603050405020304" pitchFamily="18" charset="0"/>
                <a:cs typeface="Times New Roman" panose="02020603050405020304" pitchFamily="18" charset="0"/>
              </a:rPr>
              <a:t>Many gold bugs and those who do not understand the value of a decentralized, censorship-resistant digital payment network </a:t>
            </a:r>
            <a:r>
              <a:rPr lang="en-US" sz="2800" u="sng" dirty="0">
                <a:latin typeface="Times New Roman" panose="02020603050405020304" pitchFamily="18" charset="0"/>
                <a:cs typeface="Times New Roman" panose="02020603050405020304" pitchFamily="18" charset="0"/>
              </a:rPr>
              <a:t>believe bitcoins are essentially worthless</a:t>
            </a:r>
            <a:r>
              <a:rPr lang="en-US" sz="2800" b="0" i="0" dirty="0">
                <a:effectLst/>
                <a:latin typeface="Times New Roman" panose="02020603050405020304" pitchFamily="18" charset="0"/>
                <a:cs typeface="Times New Roman" panose="02020603050405020304" pitchFamily="18" charset="0"/>
              </a:rPr>
              <a:t> because they aren’t backed by anything. There are varying opinions on this point. Some believe bitcoin’s scarcity is the main attribute that gives it value, while others claim bitcoins are useful because they are required to use the world’s most prominent and secure decentralized ledger.</a:t>
            </a:r>
          </a:p>
          <a:p>
            <a:pPr algn="just" fontAlgn="base"/>
            <a:r>
              <a:rPr lang="en-US" sz="2800" b="0" i="1" dirty="0">
                <a:effectLst/>
                <a:latin typeface="Times New Roman" panose="02020603050405020304" pitchFamily="18" charset="0"/>
                <a:cs typeface="Times New Roman" panose="02020603050405020304" pitchFamily="18" charset="0"/>
              </a:rPr>
              <a:t>Currency Wars</a:t>
            </a:r>
            <a:r>
              <a:rPr lang="en-US" sz="2800" b="0" i="0" dirty="0">
                <a:effectLst/>
                <a:latin typeface="Times New Roman" panose="02020603050405020304" pitchFamily="18" charset="0"/>
                <a:cs typeface="Times New Roman" panose="02020603050405020304" pitchFamily="18" charset="0"/>
              </a:rPr>
              <a:t> author and gold bull Jim Rickards recently </a:t>
            </a:r>
            <a:r>
              <a:rPr lang="en-US" sz="2800" u="sng" dirty="0">
                <a:latin typeface="Times New Roman" panose="02020603050405020304" pitchFamily="18" charset="0"/>
                <a:cs typeface="Times New Roman" panose="02020603050405020304" pitchFamily="18" charset="0"/>
              </a:rPr>
              <a:t>took issue</a:t>
            </a:r>
            <a:r>
              <a:rPr lang="en-US" sz="2800" b="0" i="0" dirty="0">
                <a:effectLst/>
                <a:latin typeface="Times New Roman" panose="02020603050405020304" pitchFamily="18" charset="0"/>
                <a:cs typeface="Times New Roman" panose="02020603050405020304" pitchFamily="18" charset="0"/>
              </a:rPr>
              <a:t> with the argument that bitcoins are backed by nothing, pointing out that like all currency in the history of money, bitcoins are backed by confidence. (Also known as consensus.) Gold is valuable because people agree that it is.</a:t>
            </a:r>
          </a:p>
          <a:p>
            <a:pPr algn="just" fontAlgn="base"/>
            <a:endParaRPr lang="en-US" sz="2800" b="0" i="0" dirty="0">
              <a:effectLst/>
              <a:latin typeface="Times New Roman" panose="02020603050405020304" pitchFamily="18" charset="0"/>
              <a:cs typeface="Times New Roman" panose="02020603050405020304" pitchFamily="18" charset="0"/>
            </a:endParaRPr>
          </a:p>
        </p:txBody>
      </p:sp>
      <p:pic>
        <p:nvPicPr>
          <p:cNvPr id="5122" name="Picture 2" descr="The difference between a cryptocurrency and fiat money — Bitpanda Academy">
            <a:extLst>
              <a:ext uri="{FF2B5EF4-FFF2-40B4-BE49-F238E27FC236}">
                <a16:creationId xmlns:a16="http://schemas.microsoft.com/office/drawing/2014/main" id="{D8ED818D-31C3-DBC5-FC2B-8860E822E0C2}"/>
              </a:ext>
            </a:extLst>
          </p:cNvPr>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8929207" y="5023104"/>
            <a:ext cx="3262793" cy="18348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833956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60D866-AFF4-5E1C-BF2C-87BE7668BC23}"/>
              </a:ext>
            </a:extLst>
          </p:cNvPr>
          <p:cNvSpPr>
            <a:spLocks noGrp="1"/>
          </p:cNvSpPr>
          <p:nvPr>
            <p:ph idx="1"/>
          </p:nvPr>
        </p:nvSpPr>
        <p:spPr>
          <a:xfrm>
            <a:off x="838200" y="865632"/>
            <a:ext cx="10515600" cy="5311331"/>
          </a:xfrm>
        </p:spPr>
        <p:txBody>
          <a:bodyPr>
            <a:normAutofit/>
          </a:bodyPr>
          <a:lstStyle/>
          <a:p>
            <a:pPr marL="0" indent="0" algn="l" fontAlgn="base">
              <a:buNone/>
            </a:pPr>
            <a:r>
              <a:rPr lang="en-US" sz="3200" b="1" i="0" dirty="0">
                <a:effectLst/>
                <a:latin typeface="Times New Roman" panose="02020603050405020304" pitchFamily="18" charset="0"/>
                <a:cs typeface="Times New Roman" panose="02020603050405020304" pitchFamily="18" charset="0"/>
              </a:rPr>
              <a:t>6. Bitcoin’s Price Volatility Makes It Useless</a:t>
            </a:r>
          </a:p>
          <a:p>
            <a:pPr algn="just" fontAlgn="base"/>
            <a:r>
              <a:rPr lang="en-US" sz="2800" b="0" i="0" dirty="0">
                <a:effectLst/>
                <a:latin typeface="Times New Roman" panose="02020603050405020304" pitchFamily="18" charset="0"/>
                <a:cs typeface="Times New Roman" panose="02020603050405020304" pitchFamily="18" charset="0"/>
              </a:rPr>
              <a:t>While Bitcoin has had quite a volatile history, the trend has definitely been toward stability since the first blocks were mined in early 2009. Having said that, not many people are attempting to use bitcoin as a unit of account right now. Instead, the digital currency, commodity or however you want to define it is mainly viewed as a store of value by those who hold it.</a:t>
            </a:r>
          </a:p>
          <a:p>
            <a:pPr algn="just" fontAlgn="base"/>
            <a:r>
              <a:rPr lang="en-US" sz="2800" b="0" i="0" dirty="0">
                <a:effectLst/>
                <a:latin typeface="Times New Roman" panose="02020603050405020304" pitchFamily="18" charset="0"/>
                <a:cs typeface="Times New Roman" panose="02020603050405020304" pitchFamily="18" charset="0"/>
              </a:rPr>
              <a:t>There are also various mechanisms for using the Bitcoin network for payments while avoiding the volatility associated with the token of value. Some Bitcoin companies, such as Circle and Coinbase, allow users to store funds in U.S. dollars or other fiat currencies before making Bitcoin transactions on the user’s behalf.</a:t>
            </a:r>
          </a:p>
          <a:p>
            <a:pPr marL="0" indent="0">
              <a:buNone/>
            </a:pPr>
            <a:endParaRPr lang="en-IN" dirty="0"/>
          </a:p>
        </p:txBody>
      </p:sp>
    </p:spTree>
    <p:extLst>
      <p:ext uri="{BB962C8B-B14F-4D97-AF65-F5344CB8AC3E}">
        <p14:creationId xmlns:p14="http://schemas.microsoft.com/office/powerpoint/2010/main" val="340062744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B802B2B-998E-B96C-5D99-5A5AA46C2397}"/>
              </a:ext>
            </a:extLst>
          </p:cNvPr>
          <p:cNvSpPr txBox="1"/>
          <p:nvPr/>
        </p:nvSpPr>
        <p:spPr>
          <a:xfrm>
            <a:off x="153139" y="164210"/>
            <a:ext cx="11600895" cy="707886"/>
          </a:xfrm>
          <a:prstGeom prst="rect">
            <a:avLst/>
          </a:prstGeom>
          <a:noFill/>
        </p:spPr>
        <p:txBody>
          <a:bodyPr wrap="square">
            <a:spAutoFit/>
          </a:bodyPr>
          <a:lstStyle/>
          <a:p>
            <a:pPr algn="l" fontAlgn="base"/>
            <a:r>
              <a:rPr lang="en-US" b="1" dirty="0">
                <a:solidFill>
                  <a:srgbClr val="08062A"/>
                </a:solidFill>
                <a:latin typeface="Inter"/>
              </a:rPr>
              <a:t>7</a:t>
            </a:r>
            <a:r>
              <a:rPr lang="en-US" sz="2000" b="1" i="0" dirty="0">
                <a:solidFill>
                  <a:srgbClr val="08062A"/>
                </a:solidFill>
                <a:effectLst/>
                <a:latin typeface="Times New Roman" panose="02020603050405020304" pitchFamily="18" charset="0"/>
                <a:cs typeface="Times New Roman" panose="02020603050405020304" pitchFamily="18" charset="0"/>
              </a:rPr>
              <a:t>. Bitcoin Is Only Used for Illegitimate Purposes</a:t>
            </a:r>
          </a:p>
          <a:p>
            <a:pPr algn="l" fontAlgn="base"/>
            <a:r>
              <a:rPr lang="en-US" sz="2000" b="0" i="0" dirty="0">
                <a:solidFill>
                  <a:srgbClr val="08062A"/>
                </a:solidFill>
                <a:effectLst/>
                <a:latin typeface="Times New Roman" panose="02020603050405020304" pitchFamily="18" charset="0"/>
                <a:cs typeface="Times New Roman" panose="02020603050405020304" pitchFamily="18" charset="0"/>
              </a:rPr>
              <a:t>One of the fundamental values of Bitcoin is its resistance to censorship. As Elon Musk </a:t>
            </a:r>
            <a:r>
              <a:rPr lang="en-US" sz="2000" u="sng" dirty="0">
                <a:solidFill>
                  <a:srgbClr val="08062A"/>
                </a:solidFill>
                <a:latin typeface="Times New Roman" panose="02020603050405020304" pitchFamily="18" charset="0"/>
                <a:cs typeface="Times New Roman" panose="02020603050405020304" pitchFamily="18" charset="0"/>
              </a:rPr>
              <a:t>put it </a:t>
            </a:r>
            <a:r>
              <a:rPr lang="en-US" sz="2000" b="0" i="0" dirty="0">
                <a:solidFill>
                  <a:srgbClr val="08062A"/>
                </a:solidFill>
                <a:effectLst/>
                <a:latin typeface="Times New Roman" panose="02020603050405020304" pitchFamily="18" charset="0"/>
                <a:cs typeface="Times New Roman" panose="02020603050405020304" pitchFamily="18" charset="0"/>
              </a:rPr>
              <a:t>in 2014</a:t>
            </a:r>
          </a:p>
        </p:txBody>
      </p:sp>
      <p:sp>
        <p:nvSpPr>
          <p:cNvPr id="7" name="TextBox 6">
            <a:extLst>
              <a:ext uri="{FF2B5EF4-FFF2-40B4-BE49-F238E27FC236}">
                <a16:creationId xmlns:a16="http://schemas.microsoft.com/office/drawing/2014/main" id="{8210003B-B7FE-ADCB-5345-895FA0C326C9}"/>
              </a:ext>
            </a:extLst>
          </p:cNvPr>
          <p:cNvSpPr txBox="1"/>
          <p:nvPr/>
        </p:nvSpPr>
        <p:spPr>
          <a:xfrm>
            <a:off x="153139" y="899071"/>
            <a:ext cx="11176987" cy="5940088"/>
          </a:xfrm>
          <a:prstGeom prst="rect">
            <a:avLst/>
          </a:prstGeom>
          <a:noFill/>
        </p:spPr>
        <p:txBody>
          <a:bodyPr wrap="square">
            <a:spAutoFit/>
          </a:bodyPr>
          <a:lstStyle/>
          <a:p>
            <a:pPr algn="just" fontAlgn="base"/>
            <a:r>
              <a:rPr lang="en-US" b="0" i="0" dirty="0">
                <a:solidFill>
                  <a:srgbClr val="08062A"/>
                </a:solidFill>
                <a:effectLst/>
                <a:latin typeface="Times New Roman" panose="02020603050405020304" pitchFamily="18" charset="0"/>
                <a:cs typeface="Times New Roman" panose="02020603050405020304" pitchFamily="18" charset="0"/>
              </a:rPr>
              <a:t>“</a:t>
            </a:r>
            <a:r>
              <a:rPr lang="en-US" sz="2000" b="0" i="0" dirty="0">
                <a:solidFill>
                  <a:srgbClr val="08062A"/>
                </a:solidFill>
                <a:effectLst/>
                <a:latin typeface="Times New Roman" panose="02020603050405020304" pitchFamily="18" charset="0"/>
                <a:cs typeface="Times New Roman" panose="02020603050405020304" pitchFamily="18" charset="0"/>
              </a:rPr>
              <a:t>I think it’s primarily going to be a means of doing illegal transactions. But that’s not necessarily entirely bad. You know, some things maybe shouldn’t be illegal.”</a:t>
            </a:r>
          </a:p>
          <a:p>
            <a:pPr algn="just" fontAlgn="base"/>
            <a:r>
              <a:rPr lang="en-US" sz="2000" b="0" i="0" dirty="0">
                <a:solidFill>
                  <a:srgbClr val="08062A"/>
                </a:solidFill>
                <a:effectLst/>
                <a:latin typeface="Times New Roman" panose="02020603050405020304" pitchFamily="18" charset="0"/>
                <a:cs typeface="Times New Roman" panose="02020603050405020304" pitchFamily="18" charset="0"/>
              </a:rPr>
              <a:t>What is or isn’t a legitimate or legal transaction can change when moving between various jurisdictions, but Bitcoin is also used for completely legal purposes. Some people use Bitcoin to save 10-20 percent on purchases at Amazon, Starbucks and Target via </a:t>
            </a:r>
            <a:r>
              <a:rPr lang="en-US" sz="2000" b="0" i="0" dirty="0" err="1">
                <a:solidFill>
                  <a:srgbClr val="08062A"/>
                </a:solidFill>
                <a:effectLst/>
                <a:latin typeface="Times New Roman" panose="02020603050405020304" pitchFamily="18" charset="0"/>
                <a:cs typeface="Times New Roman" panose="02020603050405020304" pitchFamily="18" charset="0"/>
              </a:rPr>
              <a:t>Foldapp</a:t>
            </a:r>
            <a:r>
              <a:rPr lang="en-US" sz="2000" b="0" i="0" dirty="0">
                <a:solidFill>
                  <a:srgbClr val="08062A"/>
                </a:solidFill>
                <a:effectLst/>
                <a:latin typeface="Times New Roman" panose="02020603050405020304" pitchFamily="18" charset="0"/>
                <a:cs typeface="Times New Roman" panose="02020603050405020304" pitchFamily="18" charset="0"/>
              </a:rPr>
              <a:t> and Purse.io. Others see it as a valuable tool for cheaper international money transfers and remittances. </a:t>
            </a:r>
            <a:r>
              <a:rPr lang="en-US" sz="2000" b="0" i="0" dirty="0" err="1">
                <a:solidFill>
                  <a:srgbClr val="08062A"/>
                </a:solidFill>
                <a:effectLst/>
                <a:latin typeface="Times New Roman" panose="02020603050405020304" pitchFamily="18" charset="0"/>
                <a:cs typeface="Times New Roman" panose="02020603050405020304" pitchFamily="18" charset="0"/>
              </a:rPr>
              <a:t>Abra</a:t>
            </a:r>
            <a:r>
              <a:rPr lang="en-US" sz="2000" b="0" i="0" dirty="0">
                <a:solidFill>
                  <a:srgbClr val="08062A"/>
                </a:solidFill>
                <a:effectLst/>
                <a:latin typeface="Times New Roman" panose="02020603050405020304" pitchFamily="18" charset="0"/>
                <a:cs typeface="Times New Roman" panose="02020603050405020304" pitchFamily="18" charset="0"/>
              </a:rPr>
              <a:t>, Align Commerce and </a:t>
            </a:r>
            <a:r>
              <a:rPr lang="en-US" sz="2000" b="0" i="0" dirty="0" err="1">
                <a:solidFill>
                  <a:srgbClr val="08062A"/>
                </a:solidFill>
                <a:effectLst/>
                <a:latin typeface="Times New Roman" panose="02020603050405020304" pitchFamily="18" charset="0"/>
                <a:cs typeface="Times New Roman" panose="02020603050405020304" pitchFamily="18" charset="0"/>
              </a:rPr>
              <a:t>Freemit</a:t>
            </a:r>
            <a:r>
              <a:rPr lang="en-US" sz="2000" b="0" i="0" dirty="0">
                <a:solidFill>
                  <a:srgbClr val="08062A"/>
                </a:solidFill>
                <a:effectLst/>
                <a:latin typeface="Times New Roman" panose="02020603050405020304" pitchFamily="18" charset="0"/>
                <a:cs typeface="Times New Roman" panose="02020603050405020304" pitchFamily="18" charset="0"/>
              </a:rPr>
              <a:t> are three startups using Bitcoin to lower the costs of money transfers around the world.</a:t>
            </a:r>
          </a:p>
          <a:p>
            <a:pPr algn="just" fontAlgn="base"/>
            <a:r>
              <a:rPr lang="en-US" sz="2000" b="1" dirty="0">
                <a:solidFill>
                  <a:srgbClr val="08062A"/>
                </a:solidFill>
                <a:latin typeface="Times New Roman" panose="02020603050405020304" pitchFamily="18" charset="0"/>
                <a:cs typeface="Times New Roman" panose="02020603050405020304" pitchFamily="18" charset="0"/>
              </a:rPr>
              <a:t>8</a:t>
            </a:r>
            <a:r>
              <a:rPr lang="en-US" sz="2000" b="1" i="0" dirty="0">
                <a:solidFill>
                  <a:srgbClr val="08062A"/>
                </a:solidFill>
                <a:effectLst/>
                <a:latin typeface="Times New Roman" panose="02020603050405020304" pitchFamily="18" charset="0"/>
                <a:cs typeface="Times New Roman" panose="02020603050405020304" pitchFamily="18" charset="0"/>
              </a:rPr>
              <a:t>. Bitcoin Mining Wastes Electricity</a:t>
            </a:r>
          </a:p>
          <a:p>
            <a:pPr algn="just" fontAlgn="base"/>
            <a:r>
              <a:rPr lang="en-US" sz="2000" b="0" i="0" dirty="0">
                <a:solidFill>
                  <a:srgbClr val="08062A"/>
                </a:solidFill>
                <a:effectLst/>
                <a:latin typeface="Times New Roman" panose="02020603050405020304" pitchFamily="18" charset="0"/>
                <a:cs typeface="Times New Roman" panose="02020603050405020304" pitchFamily="18" charset="0"/>
              </a:rPr>
              <a:t>A recent report </a:t>
            </a:r>
            <a:r>
              <a:rPr lang="en-US" sz="2000" b="0" i="0" u="sng" dirty="0">
                <a:solidFill>
                  <a:srgbClr val="08062A"/>
                </a:solidFill>
                <a:effectLst/>
                <a:latin typeface="Times New Roman" panose="02020603050405020304" pitchFamily="18" charset="0"/>
                <a:cs typeface="Times New Roman" panose="02020603050405020304" pitchFamily="18" charset="0"/>
                <a:hlinkClick r:id="rId2"/>
              </a:rPr>
              <a:t>found</a:t>
            </a:r>
            <a:r>
              <a:rPr lang="en-US" sz="2000" b="0" i="0" dirty="0">
                <a:solidFill>
                  <a:srgbClr val="08062A"/>
                </a:solidFill>
                <a:effectLst/>
                <a:latin typeface="Times New Roman" panose="02020603050405020304" pitchFamily="18" charset="0"/>
                <a:cs typeface="Times New Roman" panose="02020603050405020304" pitchFamily="18" charset="0"/>
              </a:rPr>
              <a:t> that Bitcoin’s network </a:t>
            </a:r>
            <a:r>
              <a:rPr lang="en-US" sz="2000" b="0" i="0" dirty="0" err="1">
                <a:solidFill>
                  <a:srgbClr val="08062A"/>
                </a:solidFill>
                <a:effectLst/>
                <a:latin typeface="Times New Roman" panose="02020603050405020304" pitchFamily="18" charset="0"/>
                <a:cs typeface="Times New Roman" panose="02020603050405020304" pitchFamily="18" charset="0"/>
              </a:rPr>
              <a:t>hashrate</a:t>
            </a:r>
            <a:r>
              <a:rPr lang="en-US" sz="2000" b="0" i="0" dirty="0">
                <a:solidFill>
                  <a:srgbClr val="08062A"/>
                </a:solidFill>
                <a:effectLst/>
                <a:latin typeface="Times New Roman" panose="02020603050405020304" pitchFamily="18" charset="0"/>
                <a:cs typeface="Times New Roman" panose="02020603050405020304" pitchFamily="18" charset="0"/>
              </a:rPr>
              <a:t> could consume as much power as Denmark by 2020. </a:t>
            </a:r>
            <a:r>
              <a:rPr lang="en-US" sz="2000" b="0" i="0" u="sng" dirty="0">
                <a:solidFill>
                  <a:srgbClr val="08062A"/>
                </a:solidFill>
                <a:effectLst/>
                <a:latin typeface="Times New Roman" panose="02020603050405020304" pitchFamily="18" charset="0"/>
                <a:cs typeface="Times New Roman" panose="02020603050405020304" pitchFamily="18" charset="0"/>
                <a:hlinkClick r:id="rId3"/>
              </a:rPr>
              <a:t>Other reporters</a:t>
            </a:r>
            <a:r>
              <a:rPr lang="en-US" sz="2000" b="0" i="0" dirty="0">
                <a:solidFill>
                  <a:srgbClr val="08062A"/>
                </a:solidFill>
                <a:effectLst/>
                <a:latin typeface="Times New Roman" panose="02020603050405020304" pitchFamily="18" charset="0"/>
                <a:cs typeface="Times New Roman" panose="02020603050405020304" pitchFamily="18" charset="0"/>
              </a:rPr>
              <a:t> dispute this characterization, pointing out that Bitcoin uses the same electricity as the yearly consumption of 674.5 average American homes, two Amtrak locomotives or a California hydroelectric plant. Do these things waste electricity? It depends on your point of view. The reality is that the use of computing power serves a purpose in Bitcoin, which is securing all of the transactions on the network. If you don’t think Bitcoin is valuable, maybe that’s a waste. If you don’t think fiat currencies are valuable, maybe keeping the lights on at the Federal Reserve is a waste.</a:t>
            </a:r>
          </a:p>
          <a:p>
            <a:pPr algn="just" fontAlgn="base"/>
            <a:r>
              <a:rPr lang="en-US" sz="2000" b="0" i="0" dirty="0">
                <a:solidFill>
                  <a:srgbClr val="08062A"/>
                </a:solidFill>
                <a:effectLst/>
                <a:latin typeface="Times New Roman" panose="02020603050405020304" pitchFamily="18" charset="0"/>
                <a:cs typeface="Times New Roman" panose="02020603050405020304" pitchFamily="18" charset="0"/>
              </a:rPr>
              <a:t>Electricity-intensive Bitcoin mining is essentially a way to prove that someone has expended resources in hopes of getting a block reward and transaction fees in return for their efforts. Proof-of-work, as it’s called, acts as a prevention mechanism against Sybil attacks (forged identities) on the Bitcoin network. Waste? You decide</a:t>
            </a:r>
            <a:r>
              <a:rPr lang="en-US" b="0" i="0" dirty="0">
                <a:solidFill>
                  <a:srgbClr val="08062A"/>
                </a:solidFill>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7690717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895BCFE-C2B6-76B1-EFA5-BEB296809BF3}"/>
              </a:ext>
            </a:extLst>
          </p:cNvPr>
          <p:cNvSpPr txBox="1"/>
          <p:nvPr/>
        </p:nvSpPr>
        <p:spPr>
          <a:xfrm>
            <a:off x="292963" y="1028343"/>
            <a:ext cx="11363418" cy="4801314"/>
          </a:xfrm>
          <a:prstGeom prst="rect">
            <a:avLst/>
          </a:prstGeom>
          <a:noFill/>
        </p:spPr>
        <p:txBody>
          <a:bodyPr wrap="square">
            <a:spAutoFit/>
          </a:bodyPr>
          <a:lstStyle/>
          <a:p>
            <a:pPr algn="just" fontAlgn="base">
              <a:buFont typeface="Arial" panose="020B0604020202020204" pitchFamily="34" charset="0"/>
              <a:buChar char="•"/>
            </a:pPr>
            <a:r>
              <a:rPr lang="en-US" b="1" i="0" dirty="0">
                <a:effectLst/>
                <a:latin typeface="Times New Roman" panose="02020603050405020304" pitchFamily="18" charset="0"/>
                <a:cs typeface="Times New Roman" panose="02020603050405020304" pitchFamily="18" charset="0"/>
              </a:rPr>
              <a:t>Cryptocurrencies:</a:t>
            </a:r>
            <a:r>
              <a:rPr lang="en-US" b="0" i="0" dirty="0">
                <a:effectLst/>
                <a:latin typeface="Times New Roman" panose="02020603050405020304" pitchFamily="18" charset="0"/>
                <a:cs typeface="Times New Roman" panose="02020603050405020304" pitchFamily="18" charset="0"/>
              </a:rPr>
              <a:t>  A cryptocurrency is a digital currency, basically designed to be used as a medium of exchange wherein each coin ownership record is stored in a decentralized ledger. Cryptocurrencies use ‘decentralized control’, which suggests that they are not controlled by one person or government. When Bitcoin launched in 2008, it allowed people to directly transact with each other without having to trust third parties like banks. Since then 4000 different cryptocurrencies have been created. Some examples are Bitcoin, Ethereum, Dogecoin, Fantom, etc.  The blockchain is the technology behind cryptos where all the exchange or transaction information is stored which cannot be hacked or changed and a copy of the ledger is distributed among all the participants of the network. It records every single transaction. Each and every person can buy/sell or deal in cryptos and be a part of the network. Nowadays, several financial applications provide a user with the luxury of doing so.</a:t>
            </a:r>
          </a:p>
          <a:p>
            <a:pPr algn="just" fontAlgn="base">
              <a:buFont typeface="Arial" panose="020B0604020202020204" pitchFamily="34" charset="0"/>
              <a:buChar char="•"/>
            </a:pPr>
            <a:r>
              <a:rPr lang="en-US" b="1" i="0" dirty="0">
                <a:effectLst/>
                <a:latin typeface="Times New Roman" panose="02020603050405020304" pitchFamily="18" charset="0"/>
                <a:cs typeface="Times New Roman" panose="02020603050405020304" pitchFamily="18" charset="0"/>
              </a:rPr>
              <a:t>Cars:</a:t>
            </a:r>
            <a:r>
              <a:rPr lang="en-US" b="0" i="0" dirty="0">
                <a:effectLst/>
                <a:latin typeface="Times New Roman" panose="02020603050405020304" pitchFamily="18" charset="0"/>
                <a:cs typeface="Times New Roman" panose="02020603050405020304" pitchFamily="18" charset="0"/>
              </a:rPr>
              <a:t> Let us see how can blockchain be used in cars. Ever heard of odometer fraud? By tampering with the odometer, someone can make a car appear to be newer and less worn out, resulting in customers paying more than what the car is actually worth. The government tries to encounter by collecting the mileage of cars when they get a safety inspection, but that’s not enough. So, instead, we could replace regular odometers with smart ones that are connected to the internet and frequently write the car’s mileage to the blockchain. This would create a secure and digital certificate for every car. And because we use a blockchain, nobody can tamper with the data/information, and everyone can look up a vehicle’s history to ensure it’s correct. In fact, this has already been developed used by Bosch’s IoT lab and they are currently testing it on a fleet of 100 cars in Germany and Switzerland.</a:t>
            </a:r>
          </a:p>
        </p:txBody>
      </p:sp>
      <p:sp>
        <p:nvSpPr>
          <p:cNvPr id="6" name="TextBox 5">
            <a:extLst>
              <a:ext uri="{FF2B5EF4-FFF2-40B4-BE49-F238E27FC236}">
                <a16:creationId xmlns:a16="http://schemas.microsoft.com/office/drawing/2014/main" id="{94F1D294-BAD2-197C-7BFF-1E1DDA30B628}"/>
              </a:ext>
            </a:extLst>
          </p:cNvPr>
          <p:cNvSpPr txBox="1"/>
          <p:nvPr/>
        </p:nvSpPr>
        <p:spPr>
          <a:xfrm>
            <a:off x="292963" y="219267"/>
            <a:ext cx="6094520" cy="523220"/>
          </a:xfrm>
          <a:prstGeom prst="rect">
            <a:avLst/>
          </a:prstGeom>
          <a:noFill/>
        </p:spPr>
        <p:txBody>
          <a:bodyPr wrap="square">
            <a:spAutoFit/>
          </a:bodyPr>
          <a:lstStyle/>
          <a:p>
            <a:pPr algn="l" fontAlgn="base"/>
            <a:r>
              <a:rPr lang="en-US" sz="2800" b="1" i="0" dirty="0">
                <a:solidFill>
                  <a:srgbClr val="273239"/>
                </a:solidFill>
                <a:effectLst/>
                <a:latin typeface="Times New Roman" panose="02020603050405020304" pitchFamily="18" charset="0"/>
                <a:cs typeface="Times New Roman" panose="02020603050405020304" pitchFamily="18" charset="0"/>
              </a:rPr>
              <a:t>Applications and Uses of Blockchain</a:t>
            </a:r>
          </a:p>
        </p:txBody>
      </p:sp>
    </p:spTree>
    <p:extLst>
      <p:ext uri="{BB962C8B-B14F-4D97-AF65-F5344CB8AC3E}">
        <p14:creationId xmlns:p14="http://schemas.microsoft.com/office/powerpoint/2010/main" val="385343300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11F78D5-159F-651B-71E1-0D854D39A2F2}"/>
              </a:ext>
            </a:extLst>
          </p:cNvPr>
          <p:cNvSpPr txBox="1"/>
          <p:nvPr/>
        </p:nvSpPr>
        <p:spPr>
          <a:xfrm>
            <a:off x="88777" y="426763"/>
            <a:ext cx="11647503" cy="5632311"/>
          </a:xfrm>
          <a:prstGeom prst="rect">
            <a:avLst/>
          </a:prstGeom>
          <a:noFill/>
        </p:spPr>
        <p:txBody>
          <a:bodyPr wrap="square">
            <a:spAutoFit/>
          </a:bodyPr>
          <a:lstStyle/>
          <a:p>
            <a:pPr algn="just" fontAlgn="base">
              <a:buFont typeface="Arial" panose="020B0604020202020204" pitchFamily="34" charset="0"/>
              <a:buChar char="•"/>
            </a:pPr>
            <a:r>
              <a:rPr lang="en-US" b="1" i="0" dirty="0">
                <a:effectLst/>
                <a:latin typeface="Times New Roman" panose="02020603050405020304" pitchFamily="18" charset="0"/>
                <a:cs typeface="Times New Roman" panose="02020603050405020304" pitchFamily="18" charset="0"/>
              </a:rPr>
              <a:t>Legal Documents:</a:t>
            </a:r>
            <a:r>
              <a:rPr lang="en-US" b="0" i="0" dirty="0">
                <a:effectLst/>
                <a:latin typeface="Times New Roman" panose="02020603050405020304" pitchFamily="18" charset="0"/>
                <a:cs typeface="Times New Roman" panose="02020603050405020304" pitchFamily="18" charset="0"/>
              </a:rPr>
              <a:t> So, blockchains are great at keeping a good track of data over time. So, besides odometers, you can keep track of things like intellectual property or patents or it can even function as a notary. A notary is someone (for example the Central Government) who can confirm and verify signatures on legal documents. But we can just as well use blockchain for it.  The online website stampd.io as an example, allows you to feature the documents to the Bitcoin or Ethereum Blockchain. Once, a document has been added you can always prove that you simply created a document at a particular point of time very similar to a notary, although right now blockchains are not on the same level as notaries in a legal perspective.</a:t>
            </a:r>
          </a:p>
          <a:p>
            <a:pPr algn="just" fontAlgn="base">
              <a:buFont typeface="Arial" panose="020B0604020202020204" pitchFamily="34" charset="0"/>
              <a:buChar char="•"/>
            </a:pPr>
            <a:r>
              <a:rPr lang="en-US" b="1" i="0" dirty="0">
                <a:effectLst/>
                <a:latin typeface="Times New Roman" panose="02020603050405020304" pitchFamily="18" charset="0"/>
                <a:cs typeface="Times New Roman" panose="02020603050405020304" pitchFamily="18" charset="0"/>
              </a:rPr>
              <a:t>Digital Voting:</a:t>
            </a:r>
            <a:r>
              <a:rPr lang="en-US" b="0" i="0" dirty="0">
                <a:effectLst/>
                <a:latin typeface="Times New Roman" panose="02020603050405020304" pitchFamily="18" charset="0"/>
                <a:cs typeface="Times New Roman" panose="02020603050405020304" pitchFamily="18" charset="0"/>
              </a:rPr>
              <a:t> Another interesting application is digital voting. Right now voting happens either on paper or EVM (electronic voting machines) which are special computers running proprietary software. Voting on paper costs a lot of money and wastage and electronic voting has security issues. In recent years we have seen countries move away from digital voting and adopting paper again because they fear that electronic votes can be tampered with and influenced by hackers. In our country as well, we have seen politicians fight over “EVM hack” things. But, in place of paper ballots or EVMs, we could use blockchains to cast and store votes. Such a system would be very transparent and everyone could verify the voting count for themselves and it would make tampering with it very difficult. The Swiss company Agora is already working on such a system and it is going to be completely open-source. But there are many challenges. First, you have to be able to verify voters without compromising their privacy. Secondly, if you allow people to vote with their own computers or phones, you have to take care of the situation that those devices might be infected with malware designed to tamper with the voting process. And a final example: a system like this also has to be able to withstand denial-of-service attacks that could render the whole thing unusable. Definitely, a very tough nut to crack but if it becomes reality it could make for a more transparent and practical voting system.</a:t>
            </a:r>
          </a:p>
        </p:txBody>
      </p:sp>
    </p:spTree>
    <p:extLst>
      <p:ext uri="{BB962C8B-B14F-4D97-AF65-F5344CB8AC3E}">
        <p14:creationId xmlns:p14="http://schemas.microsoft.com/office/powerpoint/2010/main" val="27641790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DDAFE26-E725-1970-62BC-ED9E424BC98D}"/>
              </a:ext>
            </a:extLst>
          </p:cNvPr>
          <p:cNvSpPr txBox="1"/>
          <p:nvPr/>
        </p:nvSpPr>
        <p:spPr>
          <a:xfrm>
            <a:off x="223421" y="274091"/>
            <a:ext cx="11745157" cy="3970318"/>
          </a:xfrm>
          <a:prstGeom prst="rect">
            <a:avLst/>
          </a:prstGeom>
          <a:noFill/>
        </p:spPr>
        <p:txBody>
          <a:bodyPr wrap="square">
            <a:spAutoFit/>
          </a:bodyPr>
          <a:lstStyle/>
          <a:p>
            <a:pPr algn="just" fontAlgn="base">
              <a:buFont typeface="Arial" panose="020B0604020202020204" pitchFamily="34" charset="0"/>
              <a:buChar char="•"/>
            </a:pPr>
            <a:r>
              <a:rPr lang="en-US" b="1" i="0" dirty="0">
                <a:effectLst/>
                <a:latin typeface="Times New Roman" panose="02020603050405020304" pitchFamily="18" charset="0"/>
                <a:cs typeface="Times New Roman" panose="02020603050405020304" pitchFamily="18" charset="0"/>
              </a:rPr>
              <a:t>Food and Medical Industry:</a:t>
            </a:r>
            <a:r>
              <a:rPr lang="en-US" b="0" i="0" dirty="0">
                <a:effectLst/>
                <a:latin typeface="Times New Roman" panose="02020603050405020304" pitchFamily="18" charset="0"/>
                <a:cs typeface="Times New Roman" panose="02020603050405020304" pitchFamily="18" charset="0"/>
              </a:rPr>
              <a:t> They could use blockchain technology to track their food products from the moment they are harvested or made, to when they end up in the hands of the customers. See, every year almost half a million people die because of food-borne diseases and that’s partly because it takes too long to isolate the food that is causing harm. Blockchains could help us to create a digital certificate for each package of food, proving where it came from and where it has been. So, if contamination has been detected i.e. the manufacturer wants to revert a batch of food because of certain quality issues, we can trace it back to its root and instantly notify other people who bought the same batch of bad food. Walmart and IBM are the two big giants currently working on such a system. It allowed them to trace the origin of a box of mangoes in just 2 seconds, compared to days or even weeks with a traditional system. A system like this could be applied to other similar industries as well. We could use it to track medicines, and other regular products and battle counterfeit goods by allowing anyone (the officials in general) to verify whether or not the product comes from the original and authentic manufacturer.</a:t>
            </a:r>
          </a:p>
          <a:p>
            <a:pPr algn="just" fontAlgn="base">
              <a:buFont typeface="Arial" panose="020B0604020202020204" pitchFamily="34" charset="0"/>
              <a:buChar char="•"/>
            </a:pPr>
            <a:r>
              <a:rPr lang="en-US" b="1" i="0" dirty="0">
                <a:effectLst/>
                <a:latin typeface="Times New Roman" panose="02020603050405020304" pitchFamily="18" charset="0"/>
                <a:cs typeface="Times New Roman" panose="02020603050405020304" pitchFamily="18" charset="0"/>
              </a:rPr>
              <a:t>Logistics and Supply-chain:</a:t>
            </a:r>
            <a:r>
              <a:rPr lang="en-US" b="0" i="0" dirty="0">
                <a:effectLst/>
                <a:latin typeface="Times New Roman" panose="02020603050405020304" pitchFamily="18" charset="0"/>
                <a:cs typeface="Times New Roman" panose="02020603050405020304" pitchFamily="18" charset="0"/>
              </a:rPr>
              <a:t> Another idea would be to track packages and shipments using blockchain. That is something that IBM and container shipping giant Maersk Line are working on a decentralized ledger to help with making the global trade of goods more efficient. Many hackathons on blockchain have this topic for college students to build the project. It is still in the development phase and companies are trying to come up with such a system to track their package pinpoint.</a:t>
            </a:r>
          </a:p>
        </p:txBody>
      </p:sp>
      <p:sp>
        <p:nvSpPr>
          <p:cNvPr id="7" name="TextBox 6">
            <a:extLst>
              <a:ext uri="{FF2B5EF4-FFF2-40B4-BE49-F238E27FC236}">
                <a16:creationId xmlns:a16="http://schemas.microsoft.com/office/drawing/2014/main" id="{3247A424-487C-BF1A-4C62-F952595AB69F}"/>
              </a:ext>
            </a:extLst>
          </p:cNvPr>
          <p:cNvSpPr txBox="1"/>
          <p:nvPr/>
        </p:nvSpPr>
        <p:spPr>
          <a:xfrm>
            <a:off x="223421" y="4244409"/>
            <a:ext cx="11745157" cy="2031325"/>
          </a:xfrm>
          <a:prstGeom prst="rect">
            <a:avLst/>
          </a:prstGeom>
          <a:noFill/>
        </p:spPr>
        <p:txBody>
          <a:bodyPr wrap="square">
            <a:spAutoFit/>
          </a:bodyPr>
          <a:lstStyle/>
          <a:p>
            <a:pPr algn="just" fontAlgn="base">
              <a:buFont typeface="Arial" panose="020B0604020202020204" pitchFamily="34" charset="0"/>
              <a:buChar char="•"/>
            </a:pPr>
            <a:r>
              <a:rPr lang="en-US" b="1" i="0" dirty="0">
                <a:effectLst/>
                <a:latin typeface="Times New Roman" panose="02020603050405020304" pitchFamily="18" charset="0"/>
                <a:cs typeface="Times New Roman" panose="02020603050405020304" pitchFamily="18" charset="0"/>
              </a:rPr>
              <a:t>Smart Contracts:</a:t>
            </a:r>
            <a:r>
              <a:rPr lang="en-US" b="0" i="0" dirty="0">
                <a:effectLst/>
                <a:latin typeface="Times New Roman" panose="02020603050405020304" pitchFamily="18" charset="0"/>
                <a:cs typeface="Times New Roman" panose="02020603050405020304" pitchFamily="18" charset="0"/>
              </a:rPr>
              <a:t> So far, we have looked at ways blockchains can be used to keep track of information and verify its integrity. But blockchains are even more powerful when we use them as smart contracts as one of its applications. These contracts live on the blockchain and can perform actions when various conditions are met. Insurance companies could use smart contracts to validate claims and keep a record of all the people who are buying insurance and paying their premiums on time so as to continue the terms of the policy. Or they could allow us to only pay for car insurance when we are driving. But it goes even further, with smart contracts we can our own data on a blockchain. In the same fashion, you could store your personal identity there and choose what data you want to reveal.</a:t>
            </a:r>
          </a:p>
        </p:txBody>
      </p:sp>
    </p:spTree>
    <p:extLst>
      <p:ext uri="{BB962C8B-B14F-4D97-AF65-F5344CB8AC3E}">
        <p14:creationId xmlns:p14="http://schemas.microsoft.com/office/powerpoint/2010/main" val="119350488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F3DF42-29CB-D0EA-83C1-CFD1930D89AD}"/>
              </a:ext>
            </a:extLst>
          </p:cNvPr>
          <p:cNvSpPr>
            <a:spLocks noGrp="1"/>
          </p:cNvSpPr>
          <p:nvPr>
            <p:ph type="title"/>
          </p:nvPr>
        </p:nvSpPr>
        <p:spPr/>
        <p:txBody>
          <a:bodyPr/>
          <a:lstStyle/>
          <a:p>
            <a:r>
              <a:rPr lang="en-US" b="1" dirty="0"/>
              <a:t>Practical use of Block Chain-Financial</a:t>
            </a:r>
            <a:endParaRPr lang="en-IN" b="1" dirty="0"/>
          </a:p>
        </p:txBody>
      </p:sp>
      <p:sp>
        <p:nvSpPr>
          <p:cNvPr id="3" name="Content Placeholder 2">
            <a:extLst>
              <a:ext uri="{FF2B5EF4-FFF2-40B4-BE49-F238E27FC236}">
                <a16:creationId xmlns:a16="http://schemas.microsoft.com/office/drawing/2014/main" id="{843DFC14-A307-E342-5B20-D79BE126FADD}"/>
              </a:ext>
            </a:extLst>
          </p:cNvPr>
          <p:cNvSpPr>
            <a:spLocks noGrp="1"/>
          </p:cNvSpPr>
          <p:nvPr>
            <p:ph idx="1"/>
          </p:nvPr>
        </p:nvSpPr>
        <p:spPr>
          <a:xfrm>
            <a:off x="838200" y="1825625"/>
            <a:ext cx="11085576" cy="4351338"/>
          </a:xfrm>
        </p:spPr>
        <p:txBody>
          <a:bodyPr/>
          <a:lstStyle/>
          <a:p>
            <a:pPr marL="0" indent="0">
              <a:buNone/>
            </a:pPr>
            <a:r>
              <a:rPr lang="en-US" b="1" dirty="0"/>
              <a:t>Payments and Remittance: </a:t>
            </a:r>
          </a:p>
          <a:p>
            <a:pPr marL="0" indent="0">
              <a:buNone/>
            </a:pPr>
            <a:r>
              <a:rPr lang="en-US" dirty="0"/>
              <a:t>	Transaction can occur directly between two parties on a 	frictionless 	P2P basis.</a:t>
            </a:r>
          </a:p>
          <a:p>
            <a:pPr marL="0" indent="0">
              <a:buNone/>
            </a:pPr>
            <a:r>
              <a:rPr lang="en-US" dirty="0"/>
              <a:t>	Reduces risk of overseas transaction</a:t>
            </a:r>
          </a:p>
          <a:p>
            <a:pPr marL="0" indent="0">
              <a:buNone/>
            </a:pPr>
            <a:r>
              <a:rPr lang="en-US" dirty="0"/>
              <a:t>	Improves speed, efficiency and transparency</a:t>
            </a:r>
          </a:p>
          <a:p>
            <a:pPr marL="0" indent="0">
              <a:buNone/>
            </a:pPr>
            <a:r>
              <a:rPr lang="en-US" b="1" dirty="0"/>
              <a:t>Instrument, ownership and transfer of Financial instruments</a:t>
            </a:r>
          </a:p>
          <a:p>
            <a:pPr marL="0" indent="0">
              <a:buNone/>
            </a:pPr>
            <a:r>
              <a:rPr lang="en-US" dirty="0"/>
              <a:t>	A blockchain based security market allows traders to buy or sell 	stocks directly in a  P2P manner</a:t>
            </a:r>
          </a:p>
          <a:p>
            <a:pPr marL="0" indent="0">
              <a:buNone/>
            </a:pPr>
            <a:endParaRPr lang="en-IN" dirty="0"/>
          </a:p>
        </p:txBody>
      </p:sp>
    </p:spTree>
    <p:extLst>
      <p:ext uri="{BB962C8B-B14F-4D97-AF65-F5344CB8AC3E}">
        <p14:creationId xmlns:p14="http://schemas.microsoft.com/office/powerpoint/2010/main" val="341964551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656B3-F1A3-4595-A843-F79A4690B25F}"/>
              </a:ext>
            </a:extLst>
          </p:cNvPr>
          <p:cNvSpPr>
            <a:spLocks noGrp="1"/>
          </p:cNvSpPr>
          <p:nvPr>
            <p:ph type="title"/>
          </p:nvPr>
        </p:nvSpPr>
        <p:spPr/>
        <p:txBody>
          <a:bodyPr/>
          <a:lstStyle/>
          <a:p>
            <a:r>
              <a:rPr lang="en-US" b="1" dirty="0"/>
              <a:t>Practical use of Block- Health care</a:t>
            </a:r>
            <a:endParaRPr lang="en-IN" dirty="0"/>
          </a:p>
        </p:txBody>
      </p:sp>
      <p:sp>
        <p:nvSpPr>
          <p:cNvPr id="3" name="Content Placeholder 2">
            <a:extLst>
              <a:ext uri="{FF2B5EF4-FFF2-40B4-BE49-F238E27FC236}">
                <a16:creationId xmlns:a16="http://schemas.microsoft.com/office/drawing/2014/main" id="{4B5D36F4-2F96-D98F-3D66-482C6EA3A106}"/>
              </a:ext>
            </a:extLst>
          </p:cNvPr>
          <p:cNvSpPr>
            <a:spLocks noGrp="1"/>
          </p:cNvSpPr>
          <p:nvPr>
            <p:ph idx="1"/>
          </p:nvPr>
        </p:nvSpPr>
        <p:spPr>
          <a:xfrm>
            <a:off x="524256" y="1825625"/>
            <a:ext cx="11204448" cy="4351338"/>
          </a:xfrm>
        </p:spPr>
        <p:txBody>
          <a:bodyPr/>
          <a:lstStyle/>
          <a:p>
            <a:pPr marL="0" indent="0" algn="just">
              <a:buNone/>
            </a:pPr>
            <a:r>
              <a:rPr lang="en-US" b="1" dirty="0"/>
              <a:t>Smart Contracts:</a:t>
            </a:r>
          </a:p>
          <a:p>
            <a:pPr marL="0" indent="0" algn="just">
              <a:buNone/>
            </a:pPr>
            <a:r>
              <a:rPr lang="en-US" dirty="0"/>
              <a:t>	Automatically pay providers when conditions of service are 	established such as:</a:t>
            </a:r>
          </a:p>
          <a:p>
            <a:pPr marL="0" indent="0" algn="just">
              <a:buNone/>
            </a:pPr>
            <a:r>
              <a:rPr lang="en-US" dirty="0"/>
              <a:t>		validation that a service was received by a registered 				Medicaid patient </a:t>
            </a:r>
          </a:p>
          <a:p>
            <a:pPr marL="0" indent="0" algn="just">
              <a:buNone/>
            </a:pPr>
            <a:r>
              <a:rPr lang="en-US" dirty="0"/>
              <a:t>		service was provided by a properly registered doctor or 				provider </a:t>
            </a:r>
          </a:p>
          <a:p>
            <a:pPr marL="0" indent="0" algn="just">
              <a:buNone/>
            </a:pPr>
            <a:r>
              <a:rPr lang="en-US" dirty="0"/>
              <a:t>		Neither party is on a list of past participants in any fraud</a:t>
            </a:r>
          </a:p>
          <a:p>
            <a:pPr marL="0" indent="0" algn="just">
              <a:buNone/>
            </a:pPr>
            <a:endParaRPr lang="en-US" dirty="0"/>
          </a:p>
          <a:p>
            <a:pPr marL="0" indent="0" algn="just">
              <a:buNone/>
            </a:pPr>
            <a:endParaRPr lang="en-IN" dirty="0"/>
          </a:p>
        </p:txBody>
      </p:sp>
    </p:spTree>
    <p:extLst>
      <p:ext uri="{BB962C8B-B14F-4D97-AF65-F5344CB8AC3E}">
        <p14:creationId xmlns:p14="http://schemas.microsoft.com/office/powerpoint/2010/main" val="225732004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656B3-F1A3-4595-A843-F79A4690B25F}"/>
              </a:ext>
            </a:extLst>
          </p:cNvPr>
          <p:cNvSpPr>
            <a:spLocks noGrp="1"/>
          </p:cNvSpPr>
          <p:nvPr>
            <p:ph type="title"/>
          </p:nvPr>
        </p:nvSpPr>
        <p:spPr/>
        <p:txBody>
          <a:bodyPr/>
          <a:lstStyle/>
          <a:p>
            <a:r>
              <a:rPr lang="en-US" b="1" dirty="0"/>
              <a:t>Practical use of Block- Health care</a:t>
            </a:r>
            <a:endParaRPr lang="en-IN" dirty="0"/>
          </a:p>
        </p:txBody>
      </p:sp>
      <p:sp>
        <p:nvSpPr>
          <p:cNvPr id="3" name="Content Placeholder 2">
            <a:extLst>
              <a:ext uri="{FF2B5EF4-FFF2-40B4-BE49-F238E27FC236}">
                <a16:creationId xmlns:a16="http://schemas.microsoft.com/office/drawing/2014/main" id="{4B5D36F4-2F96-D98F-3D66-482C6EA3A106}"/>
              </a:ext>
            </a:extLst>
          </p:cNvPr>
          <p:cNvSpPr>
            <a:spLocks noGrp="1"/>
          </p:cNvSpPr>
          <p:nvPr>
            <p:ph idx="1"/>
          </p:nvPr>
        </p:nvSpPr>
        <p:spPr/>
        <p:txBody>
          <a:bodyPr>
            <a:normAutofit lnSpcReduction="10000"/>
          </a:bodyPr>
          <a:lstStyle/>
          <a:p>
            <a:pPr marL="0" indent="0" algn="just">
              <a:buNone/>
            </a:pPr>
            <a:r>
              <a:rPr lang="en-US" b="1" dirty="0"/>
              <a:t>DNA wallet:</a:t>
            </a:r>
          </a:p>
          <a:p>
            <a:pPr marL="0" indent="0" algn="just">
              <a:buNone/>
            </a:pPr>
            <a:r>
              <a:rPr lang="en-US" dirty="0"/>
              <a:t>	Stores genetic and medical data </a:t>
            </a:r>
          </a:p>
          <a:p>
            <a:pPr marL="0" indent="0" algn="just">
              <a:buNone/>
            </a:pPr>
            <a:r>
              <a:rPr lang="en-US" dirty="0"/>
              <a:t>	allows healthcare providers to securely share patient data 	helping pharmaceutical companies to tailor drugs more 	efficiently</a:t>
            </a:r>
          </a:p>
          <a:p>
            <a:pPr marL="0" indent="0" algn="just">
              <a:buNone/>
            </a:pPr>
            <a:endParaRPr lang="en-US" dirty="0"/>
          </a:p>
          <a:p>
            <a:pPr marL="0" indent="0" algn="just">
              <a:buNone/>
            </a:pPr>
            <a:r>
              <a:rPr lang="en-US" b="1" dirty="0"/>
              <a:t>EHR Storage and Security:</a:t>
            </a:r>
          </a:p>
          <a:p>
            <a:pPr marL="0" indent="0" algn="just">
              <a:buNone/>
            </a:pPr>
            <a:r>
              <a:rPr lang="en-IN" dirty="0"/>
              <a:t>	Blockchain is a security technology concerns over securing 	electronic health records.</a:t>
            </a:r>
          </a:p>
          <a:p>
            <a:pPr marL="0" indent="0" algn="just">
              <a:buNone/>
            </a:pPr>
            <a:r>
              <a:rPr lang="en-IN" dirty="0"/>
              <a:t>	Cryptographically encoding private medical data</a:t>
            </a:r>
          </a:p>
        </p:txBody>
      </p:sp>
    </p:spTree>
    <p:extLst>
      <p:ext uri="{BB962C8B-B14F-4D97-AF65-F5344CB8AC3E}">
        <p14:creationId xmlns:p14="http://schemas.microsoft.com/office/powerpoint/2010/main" val="323744541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14D70B-D1FA-B0D1-86DE-43EAFE393A3B}"/>
              </a:ext>
            </a:extLst>
          </p:cNvPr>
          <p:cNvSpPr>
            <a:spLocks noGrp="1"/>
          </p:cNvSpPr>
          <p:nvPr>
            <p:ph type="title"/>
          </p:nvPr>
        </p:nvSpPr>
        <p:spPr/>
        <p:txBody>
          <a:bodyPr/>
          <a:lstStyle/>
          <a:p>
            <a:r>
              <a:rPr lang="en-US" b="1" dirty="0"/>
              <a:t>Block Chain – Health care Example</a:t>
            </a:r>
            <a:endParaRPr lang="en-IN" b="1" dirty="0"/>
          </a:p>
        </p:txBody>
      </p:sp>
      <p:sp>
        <p:nvSpPr>
          <p:cNvPr id="3" name="Content Placeholder 2">
            <a:extLst>
              <a:ext uri="{FF2B5EF4-FFF2-40B4-BE49-F238E27FC236}">
                <a16:creationId xmlns:a16="http://schemas.microsoft.com/office/drawing/2014/main" id="{ADE97B44-43FA-C2E1-2ADC-F8DAB9701E15}"/>
              </a:ext>
            </a:extLst>
          </p:cNvPr>
          <p:cNvSpPr>
            <a:spLocks noGrp="1"/>
          </p:cNvSpPr>
          <p:nvPr>
            <p:ph idx="1"/>
          </p:nvPr>
        </p:nvSpPr>
        <p:spPr/>
        <p:txBody>
          <a:bodyPr/>
          <a:lstStyle/>
          <a:p>
            <a:pPr algn="just">
              <a:buFont typeface="Wingdings" panose="05000000000000000000" pitchFamily="2" charset="2"/>
              <a:buChar char="à"/>
            </a:pPr>
            <a:r>
              <a:rPr lang="en-US" dirty="0">
                <a:sym typeface="Wingdings" panose="05000000000000000000" pitchFamily="2" charset="2"/>
              </a:rPr>
              <a:t>The patient of the future is a vast collection of data </a:t>
            </a:r>
          </a:p>
          <a:p>
            <a:pPr algn="just">
              <a:buFont typeface="Wingdings" panose="05000000000000000000" pitchFamily="2" charset="2"/>
              <a:buChar char="à"/>
            </a:pPr>
            <a:r>
              <a:rPr lang="en-US" dirty="0">
                <a:sym typeface="Wingdings" panose="05000000000000000000" pitchFamily="2" charset="2"/>
              </a:rPr>
              <a:t> Currently when someone comes into a healthcare institution, all we have today is a small database of data and have some file that is separated and might be in stacks of paper</a:t>
            </a:r>
          </a:p>
          <a:p>
            <a:pPr algn="just">
              <a:buFont typeface="Wingdings" panose="05000000000000000000" pitchFamily="2" charset="2"/>
              <a:buChar char="à"/>
            </a:pPr>
            <a:r>
              <a:rPr lang="en-US" dirty="0">
                <a:sym typeface="Wingdings" panose="05000000000000000000" pitchFamily="2" charset="2"/>
              </a:rPr>
              <a:t>Patient information can be consistent in variety of database where MR number are different </a:t>
            </a:r>
          </a:p>
          <a:p>
            <a:pPr algn="just">
              <a:buFont typeface="Wingdings" panose="05000000000000000000" pitchFamily="2" charset="2"/>
              <a:buChar char="à"/>
            </a:pPr>
            <a:r>
              <a:rPr lang="en-US" dirty="0">
                <a:sym typeface="Wingdings" panose="05000000000000000000" pitchFamily="2" charset="2"/>
              </a:rPr>
              <a:t>The healthcare entities would join a blockchain to have access to a large network of verified and secure data.</a:t>
            </a:r>
          </a:p>
          <a:p>
            <a:pPr marL="0" indent="0" algn="just">
              <a:buNone/>
            </a:pPr>
            <a:endParaRPr lang="en-IN" dirty="0"/>
          </a:p>
        </p:txBody>
      </p:sp>
    </p:spTree>
    <p:extLst>
      <p:ext uri="{BB962C8B-B14F-4D97-AF65-F5344CB8AC3E}">
        <p14:creationId xmlns:p14="http://schemas.microsoft.com/office/powerpoint/2010/main" val="323202689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14D70B-D1FA-B0D1-86DE-43EAFE393A3B}"/>
              </a:ext>
            </a:extLst>
          </p:cNvPr>
          <p:cNvSpPr>
            <a:spLocks noGrp="1"/>
          </p:cNvSpPr>
          <p:nvPr>
            <p:ph type="title"/>
          </p:nvPr>
        </p:nvSpPr>
        <p:spPr/>
        <p:txBody>
          <a:bodyPr/>
          <a:lstStyle/>
          <a:p>
            <a:r>
              <a:rPr lang="en-US" b="1" dirty="0"/>
              <a:t>Block Chain – Health care Example</a:t>
            </a:r>
            <a:endParaRPr lang="en-IN" b="1" dirty="0"/>
          </a:p>
        </p:txBody>
      </p:sp>
      <p:sp>
        <p:nvSpPr>
          <p:cNvPr id="3" name="Content Placeholder 2">
            <a:extLst>
              <a:ext uri="{FF2B5EF4-FFF2-40B4-BE49-F238E27FC236}">
                <a16:creationId xmlns:a16="http://schemas.microsoft.com/office/drawing/2014/main" id="{ADE97B44-43FA-C2E1-2ADC-F8DAB9701E15}"/>
              </a:ext>
            </a:extLst>
          </p:cNvPr>
          <p:cNvSpPr>
            <a:spLocks noGrp="1"/>
          </p:cNvSpPr>
          <p:nvPr>
            <p:ph idx="1"/>
          </p:nvPr>
        </p:nvSpPr>
        <p:spPr/>
        <p:txBody>
          <a:bodyPr/>
          <a:lstStyle/>
          <a:p>
            <a:pPr algn="just">
              <a:buFont typeface="Wingdings" panose="05000000000000000000" pitchFamily="2" charset="2"/>
              <a:buChar char="à"/>
            </a:pPr>
            <a:r>
              <a:rPr lang="en-US" dirty="0">
                <a:sym typeface="Wingdings" panose="05000000000000000000" pitchFamily="2" charset="2"/>
              </a:rPr>
              <a:t>When a patient comes to the hospital and wants care the provider has a method to see all the imaging data, pharma data past claims data EMR information etc.</a:t>
            </a:r>
          </a:p>
          <a:p>
            <a:pPr algn="just">
              <a:buFont typeface="Wingdings" panose="05000000000000000000" pitchFamily="2" charset="2"/>
              <a:buChar char="à"/>
            </a:pPr>
            <a:r>
              <a:rPr lang="en-US" dirty="0">
                <a:sym typeface="Wingdings" panose="05000000000000000000" pitchFamily="2" charset="2"/>
              </a:rPr>
              <a:t>The advantage of block chain enabled solution is that healthcare providers will have a greater ability to treat patients with a better picture and understanding of the patients health.</a:t>
            </a:r>
          </a:p>
          <a:p>
            <a:pPr algn="just">
              <a:buFont typeface="Wingdings" panose="05000000000000000000" pitchFamily="2" charset="2"/>
              <a:buChar char="à"/>
            </a:pPr>
            <a:r>
              <a:rPr lang="en-US" dirty="0">
                <a:sym typeface="Wingdings" panose="05000000000000000000" pitchFamily="2" charset="2"/>
              </a:rPr>
              <a:t>Block chain can eliminate the redundant test and reduce cost.</a:t>
            </a:r>
          </a:p>
          <a:p>
            <a:pPr marL="0" indent="0" algn="just">
              <a:buNone/>
            </a:pPr>
            <a:endParaRPr lang="en-IN" dirty="0"/>
          </a:p>
        </p:txBody>
      </p:sp>
    </p:spTree>
    <p:extLst>
      <p:ext uri="{BB962C8B-B14F-4D97-AF65-F5344CB8AC3E}">
        <p14:creationId xmlns:p14="http://schemas.microsoft.com/office/powerpoint/2010/main" val="272129706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4F6545-FEBB-885F-FAB8-2FB347E9A0A6}"/>
              </a:ext>
            </a:extLst>
          </p:cNvPr>
          <p:cNvSpPr>
            <a:spLocks noGrp="1"/>
          </p:cNvSpPr>
          <p:nvPr>
            <p:ph type="title"/>
          </p:nvPr>
        </p:nvSpPr>
        <p:spPr/>
        <p:txBody>
          <a:bodyPr>
            <a:normAutofit/>
          </a:bodyPr>
          <a:lstStyle/>
          <a:p>
            <a:r>
              <a:rPr lang="en-US" sz="4400" b="1" i="0" dirty="0">
                <a:solidFill>
                  <a:srgbClr val="3A3A3A"/>
                </a:solidFill>
                <a:effectLst/>
                <a:latin typeface="Times New Roman" panose="02020603050405020304" pitchFamily="18" charset="0"/>
                <a:cs typeface="Times New Roman" panose="02020603050405020304" pitchFamily="18" charset="0"/>
              </a:rPr>
              <a:t>Use Cases of Blockchain Technology</a:t>
            </a:r>
            <a:endParaRPr lang="en-IN" dirty="0"/>
          </a:p>
        </p:txBody>
      </p:sp>
      <p:sp>
        <p:nvSpPr>
          <p:cNvPr id="3" name="Content Placeholder 2">
            <a:extLst>
              <a:ext uri="{FF2B5EF4-FFF2-40B4-BE49-F238E27FC236}">
                <a16:creationId xmlns:a16="http://schemas.microsoft.com/office/drawing/2014/main" id="{9CC2C352-14D4-CC96-F439-7B940FC17BA0}"/>
              </a:ext>
            </a:extLst>
          </p:cNvPr>
          <p:cNvSpPr>
            <a:spLocks noGrp="1"/>
          </p:cNvSpPr>
          <p:nvPr>
            <p:ph idx="1"/>
          </p:nvPr>
        </p:nvSpPr>
        <p:spPr/>
        <p:txBody>
          <a:bodyPr>
            <a:normAutofit lnSpcReduction="10000"/>
          </a:bodyPr>
          <a:lstStyle/>
          <a:p>
            <a:pPr marL="0" indent="0" algn="just">
              <a:buNone/>
            </a:pPr>
            <a:r>
              <a:rPr lang="en-US" b="1" i="0" dirty="0">
                <a:effectLst/>
                <a:latin typeface="Times New Roman" panose="02020603050405020304" pitchFamily="18" charset="0"/>
                <a:cs typeface="Times New Roman" panose="02020603050405020304" pitchFamily="18" charset="0"/>
              </a:rPr>
              <a:t>Reducing The Cost Of Data Breaches</a:t>
            </a:r>
            <a:endParaRPr lang="en-US" b="0" i="0" dirty="0">
              <a:effectLst/>
              <a:latin typeface="Times New Roman" panose="02020603050405020304" pitchFamily="18" charset="0"/>
              <a:cs typeface="Times New Roman" panose="02020603050405020304" pitchFamily="18" charset="0"/>
            </a:endParaRPr>
          </a:p>
          <a:p>
            <a:pPr algn="just"/>
            <a:r>
              <a:rPr lang="en-US" b="0" i="0" dirty="0">
                <a:effectLst/>
                <a:latin typeface="Times New Roman" panose="02020603050405020304" pitchFamily="18" charset="0"/>
                <a:cs typeface="Times New Roman" panose="02020603050405020304" pitchFamily="18" charset="0"/>
              </a:rPr>
              <a:t>Organizations can reduce the costs of data breaches by using blockchain. They can also avoid litigation, losses, compromised customer data, and interruption or downtime costs related to the breaches.</a:t>
            </a:r>
          </a:p>
          <a:p>
            <a:pPr algn="just"/>
            <a:r>
              <a:rPr lang="en-US" b="0" i="0" dirty="0">
                <a:effectLst/>
                <a:latin typeface="Times New Roman" panose="02020603050405020304" pitchFamily="18" charset="0"/>
                <a:cs typeface="Times New Roman" panose="02020603050405020304" pitchFamily="18" charset="0"/>
              </a:rPr>
              <a:t>Consider that data and information security is costing organizations more than 20% of their IT budgets. Part of these is malware costs which are in the tune of $2.4 million per year on average. Further, it takes months to fix the affected systems. The annual cost of data breaches now stands at $3.2 million, up by 12 percent in five years according to a recent report by IBM.</a:t>
            </a:r>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243518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C722E3-0066-1538-6F67-F18862D816CB}"/>
              </a:ext>
            </a:extLst>
          </p:cNvPr>
          <p:cNvSpPr>
            <a:spLocks noGrp="1"/>
          </p:cNvSpPr>
          <p:nvPr>
            <p:ph idx="1"/>
          </p:nvPr>
        </p:nvSpPr>
        <p:spPr>
          <a:xfrm>
            <a:off x="972312" y="1253331"/>
            <a:ext cx="10515600" cy="4351338"/>
          </a:xfrm>
        </p:spPr>
        <p:txBody>
          <a:bodyPr/>
          <a:lstStyle/>
          <a:p>
            <a:pPr marL="0" indent="0" algn="just">
              <a:buNone/>
            </a:pPr>
            <a:r>
              <a:rPr lang="en-US" b="1" i="0" dirty="0">
                <a:effectLst/>
                <a:latin typeface="Times New Roman" panose="02020603050405020304" pitchFamily="18" charset="0"/>
                <a:cs typeface="Times New Roman" panose="02020603050405020304" pitchFamily="18" charset="0"/>
              </a:rPr>
              <a:t>Reducing Cost Of Cross-border Transactions</a:t>
            </a:r>
            <a:endParaRPr lang="en-US" dirty="0">
              <a:latin typeface="Times New Roman" panose="02020603050405020304" pitchFamily="18" charset="0"/>
              <a:cs typeface="Times New Roman" panose="02020603050405020304" pitchFamily="18" charset="0"/>
            </a:endParaRPr>
          </a:p>
          <a:p>
            <a:pPr algn="just"/>
            <a:r>
              <a:rPr lang="en-US" b="0" i="0" dirty="0">
                <a:effectLst/>
                <a:latin typeface="Times New Roman" panose="02020603050405020304" pitchFamily="18" charset="0"/>
                <a:cs typeface="Times New Roman" panose="02020603050405020304" pitchFamily="18" charset="0"/>
              </a:rPr>
              <a:t>Banks and other organizations experience the high cost of cross-border transactions. For instance, most of these transactions take a model 3 days or longer to complete. Organizations such as Ripple – whose network is now available in over 40 countries and six continents, are now using blockchain and cryptocurrencies to overcome these barriers.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1042753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17C31C6-EBB6-235F-ABBC-ECB1B46F2B37}"/>
              </a:ext>
            </a:extLst>
          </p:cNvPr>
          <p:cNvSpPr>
            <a:spLocks noGrp="1"/>
          </p:cNvSpPr>
          <p:nvPr>
            <p:ph idx="1"/>
          </p:nvPr>
        </p:nvSpPr>
        <p:spPr>
          <a:xfrm>
            <a:off x="838200" y="975360"/>
            <a:ext cx="10515600" cy="5201603"/>
          </a:xfrm>
        </p:spPr>
        <p:txBody>
          <a:bodyPr>
            <a:normAutofit lnSpcReduction="10000"/>
          </a:bodyPr>
          <a:lstStyle/>
          <a:p>
            <a:pPr marL="0" indent="0" algn="just">
              <a:buNone/>
            </a:pPr>
            <a:r>
              <a:rPr lang="en-US" b="1" i="0" dirty="0">
                <a:effectLst/>
                <a:latin typeface="Times New Roman" panose="02020603050405020304" pitchFamily="18" charset="0"/>
                <a:cs typeface="Times New Roman" panose="02020603050405020304" pitchFamily="18" charset="0"/>
              </a:rPr>
              <a:t>Blockchain In Healthcare: Tracking Drugs Throughout Supply Chains And Securing Data</a:t>
            </a:r>
            <a:endParaRPr lang="en-US" b="0" i="0" dirty="0">
              <a:effectLst/>
              <a:latin typeface="Times New Roman" panose="02020603050405020304" pitchFamily="18" charset="0"/>
              <a:cs typeface="Times New Roman" panose="02020603050405020304" pitchFamily="18" charset="0"/>
            </a:endParaRPr>
          </a:p>
          <a:p>
            <a:pPr algn="just"/>
            <a:r>
              <a:rPr lang="en-US" b="0" i="0" dirty="0">
                <a:effectLst/>
                <a:latin typeface="Times New Roman" panose="02020603050405020304" pitchFamily="18" charset="0"/>
                <a:cs typeface="Times New Roman" panose="02020603050405020304" pitchFamily="18" charset="0"/>
              </a:rPr>
              <a:t>Blockchain is being applied in the tracking and tracing of prescription drugs throughout supply chains. This has been demonstrated in the Drug Supply Chain Security Act Interoperability Pilot program in the United States. Using this program, it is possible to prevent and control the distribution of counterfeit drugs and to recall ineffective and harmful drugs very easily and quickly.</a:t>
            </a:r>
          </a:p>
          <a:p>
            <a:pPr algn="just"/>
            <a:r>
              <a:rPr lang="en-US" b="0" i="0" dirty="0">
                <a:effectLst/>
                <a:latin typeface="Times New Roman" panose="02020603050405020304" pitchFamily="18" charset="0"/>
                <a:cs typeface="Times New Roman" panose="02020603050405020304" pitchFamily="18" charset="0"/>
              </a:rPr>
              <a:t>Securing customer data is a top priority in healthcare as sharing and distribution of this data that helps to facilitate the better provision of healthcare services across hospitals, governments, and research institutions. Good examples of startups using blockchain to secure data sharing in this area include </a:t>
            </a:r>
            <a:r>
              <a:rPr lang="en-US" b="0" i="0" u="none" strike="noStrike" dirty="0" err="1">
                <a:effectLst/>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xmlns="" val="tx"/>
                    </a:ext>
                  </a:extLst>
                </a:hlinkClick>
              </a:rPr>
              <a:t>Amchart</a:t>
            </a:r>
            <a:r>
              <a:rPr lang="en-US" b="0" i="0" u="none" strike="noStrike" dirty="0">
                <a:effectLst/>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xmlns="" val="tx"/>
                    </a:ext>
                  </a:extLst>
                </a:hlinkClick>
              </a:rPr>
              <a:t>,</a:t>
            </a:r>
            <a:r>
              <a:rPr lang="en-US" b="0" i="0" dirty="0">
                <a:effectLst/>
                <a:latin typeface="Times New Roman" panose="02020603050405020304" pitchFamily="18" charset="0"/>
                <a:cs typeface="Times New Roman" panose="02020603050405020304" pitchFamily="18" charset="0"/>
              </a:rPr>
              <a:t> ARNA Panacea, </a:t>
            </a:r>
            <a:r>
              <a:rPr lang="en-US" b="0" i="0" dirty="0" err="1">
                <a:effectLst/>
                <a:latin typeface="Times New Roman" panose="02020603050405020304" pitchFamily="18" charset="0"/>
                <a:cs typeface="Times New Roman" panose="02020603050405020304" pitchFamily="18" charset="0"/>
              </a:rPr>
              <a:t>BlockRx</a:t>
            </a:r>
            <a:r>
              <a:rPr lang="en-US" b="0" i="0" dirty="0">
                <a:effectLst/>
                <a:latin typeface="Times New Roman" panose="02020603050405020304" pitchFamily="18" charset="0"/>
                <a:cs typeface="Times New Roman" panose="02020603050405020304" pitchFamily="18" charset="0"/>
              </a:rPr>
              <a:t>, and many others.</a:t>
            </a:r>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3440695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B88F3FB-96F9-608D-32FD-56AFC0EBA0DC}"/>
              </a:ext>
            </a:extLst>
          </p:cNvPr>
          <p:cNvSpPr>
            <a:spLocks noGrp="1"/>
          </p:cNvSpPr>
          <p:nvPr>
            <p:ph idx="1"/>
          </p:nvPr>
        </p:nvSpPr>
        <p:spPr>
          <a:xfrm>
            <a:off x="838200" y="1048512"/>
            <a:ext cx="10515600" cy="5128451"/>
          </a:xfrm>
        </p:spPr>
        <p:txBody>
          <a:bodyPr>
            <a:normAutofit/>
          </a:bodyPr>
          <a:lstStyle/>
          <a:p>
            <a:pPr marL="0" indent="0" algn="l">
              <a:buNone/>
            </a:pPr>
            <a:r>
              <a:rPr lang="en-IN" b="1" i="0" dirty="0">
                <a:effectLst/>
                <a:latin typeface="Times New Roman" panose="02020603050405020304" pitchFamily="18" charset="0"/>
                <a:cs typeface="Times New Roman" panose="02020603050405020304" pitchFamily="18" charset="0"/>
              </a:rPr>
              <a:t>Application In Copyright Protection</a:t>
            </a:r>
          </a:p>
          <a:p>
            <a:pPr algn="just"/>
            <a:endParaRPr lang="en-US" b="0" i="0" dirty="0">
              <a:effectLst/>
              <a:latin typeface="Times New Roman" panose="02020603050405020304" pitchFamily="18" charset="0"/>
              <a:cs typeface="Times New Roman" panose="02020603050405020304" pitchFamily="18" charset="0"/>
            </a:endParaRPr>
          </a:p>
          <a:p>
            <a:pPr algn="just"/>
            <a:r>
              <a:rPr lang="en-US" b="0" i="0" dirty="0">
                <a:effectLst/>
                <a:latin typeface="Times New Roman" panose="02020603050405020304" pitchFamily="18" charset="0"/>
                <a:cs typeface="Times New Roman" panose="02020603050405020304" pitchFamily="18" charset="0"/>
              </a:rPr>
              <a:t>There are countless startups using blockchain to allow their customers to secure IP rights. Once artwork is registered on the platform, customers can protect their work from being used illegally without their permission. The owners can also pursue legal injunction in case of violations using the certificate provided on the platforms.</a:t>
            </a:r>
          </a:p>
          <a:p>
            <a:pPr algn="just"/>
            <a:r>
              <a:rPr lang="en-US" b="0" i="0" dirty="0">
                <a:effectLst/>
                <a:latin typeface="Times New Roman" panose="02020603050405020304" pitchFamily="18" charset="0"/>
                <a:cs typeface="Times New Roman" panose="02020603050405020304" pitchFamily="18" charset="0"/>
              </a:rPr>
              <a:t>For instance, </a:t>
            </a:r>
            <a:r>
              <a:rPr lang="en-US" b="0" i="0" dirty="0" err="1">
                <a:effectLst/>
                <a:latin typeface="Times New Roman" panose="02020603050405020304" pitchFamily="18" charset="0"/>
                <a:cs typeface="Times New Roman" panose="02020603050405020304" pitchFamily="18" charset="0"/>
              </a:rPr>
              <a:t>Blockai</a:t>
            </a:r>
            <a:r>
              <a:rPr lang="en-US" b="0" i="0" dirty="0">
                <a:effectLst/>
                <a:latin typeface="Times New Roman" panose="02020603050405020304" pitchFamily="18" charset="0"/>
                <a:cs typeface="Times New Roman" panose="02020603050405020304" pitchFamily="18" charset="0"/>
              </a:rPr>
              <a:t> and </a:t>
            </a:r>
            <a:r>
              <a:rPr lang="en-US" b="0" i="0" dirty="0" err="1">
                <a:effectLst/>
                <a:latin typeface="Times New Roman" panose="02020603050405020304" pitchFamily="18" charset="0"/>
                <a:cs typeface="Times New Roman" panose="02020603050405020304" pitchFamily="18" charset="0"/>
              </a:rPr>
              <a:t>Copyrobo</a:t>
            </a:r>
            <a:r>
              <a:rPr lang="en-US" b="0" i="0" dirty="0">
                <a:effectLst/>
                <a:latin typeface="Times New Roman" panose="02020603050405020304" pitchFamily="18" charset="0"/>
                <a:cs typeface="Times New Roman" panose="02020603050405020304" pitchFamily="18" charset="0"/>
              </a:rPr>
              <a:t> use blockchain and artificial intelligence to help artists to protect their art on the internet in seconds. They can create a timestamp or fingerprints on the blockchain and they, in turn, will get a copyright certificate to prove the copyrights.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3199168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0698A8-C59D-A6AF-1BF9-0E6F0EE7417A}"/>
              </a:ext>
            </a:extLst>
          </p:cNvPr>
          <p:cNvSpPr>
            <a:spLocks noGrp="1"/>
          </p:cNvSpPr>
          <p:nvPr>
            <p:ph idx="1"/>
          </p:nvPr>
        </p:nvSpPr>
        <p:spPr/>
        <p:txBody>
          <a:bodyPr/>
          <a:lstStyle/>
          <a:p>
            <a:pPr marL="0" indent="0" algn="just">
              <a:buNone/>
            </a:pPr>
            <a:r>
              <a:rPr lang="en-IN" b="1" i="0" dirty="0">
                <a:effectLst/>
                <a:latin typeface="Times New Roman" panose="02020603050405020304" pitchFamily="18" charset="0"/>
                <a:cs typeface="Times New Roman" panose="02020603050405020304" pitchFamily="18" charset="0"/>
              </a:rPr>
              <a:t>Notary Services</a:t>
            </a:r>
          </a:p>
          <a:p>
            <a:pPr algn="just"/>
            <a:r>
              <a:rPr lang="en-US" b="0" i="0" dirty="0">
                <a:effectLst/>
                <a:latin typeface="Times New Roman" panose="02020603050405020304" pitchFamily="18" charset="0"/>
                <a:cs typeface="Times New Roman" panose="02020603050405020304" pitchFamily="18" charset="0"/>
              </a:rPr>
              <a:t>With blockchain-based online notary services, users can upload their digital certificates and documents and have them verified within minutes. These services can be used by those licensed by governments to authenticate the signing of documents, for instance when applying for VISAs.</a:t>
            </a:r>
          </a:p>
          <a:p>
            <a:pPr algn="just"/>
            <a:r>
              <a:rPr lang="en-US" b="0" i="0" dirty="0">
                <a:effectLst/>
                <a:latin typeface="Times New Roman" panose="02020603050405020304" pitchFamily="18" charset="0"/>
                <a:cs typeface="Times New Roman" panose="02020603050405020304" pitchFamily="18" charset="0"/>
              </a:rPr>
              <a:t>Proof of Existence, for instance, is a service that uses blockchain this way.</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3735648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A39D21-4285-C18D-8170-CDFA14FFF9EF}"/>
              </a:ext>
            </a:extLst>
          </p:cNvPr>
          <p:cNvSpPr>
            <a:spLocks noGrp="1"/>
          </p:cNvSpPr>
          <p:nvPr>
            <p:ph idx="1"/>
          </p:nvPr>
        </p:nvSpPr>
        <p:spPr>
          <a:xfrm>
            <a:off x="838200" y="585216"/>
            <a:ext cx="10515600" cy="5591747"/>
          </a:xfrm>
        </p:spPr>
        <p:txBody>
          <a:bodyPr>
            <a:normAutofit fontScale="92500" lnSpcReduction="10000"/>
          </a:bodyPr>
          <a:lstStyle/>
          <a:p>
            <a:pPr marL="0" indent="0" algn="just">
              <a:buNone/>
            </a:pPr>
            <a:r>
              <a:rPr lang="en-IN" b="1" i="0" dirty="0">
                <a:effectLst/>
                <a:latin typeface="Times New Roman" panose="02020603050405020304" pitchFamily="18" charset="0"/>
                <a:cs typeface="Times New Roman" panose="02020603050405020304" pitchFamily="18" charset="0"/>
              </a:rPr>
              <a:t>Blockchain And Voting</a:t>
            </a:r>
          </a:p>
          <a:p>
            <a:pPr algn="just"/>
            <a:endParaRPr lang="en-US" b="0" i="0" dirty="0">
              <a:effectLst/>
              <a:latin typeface="Times New Roman" panose="02020603050405020304" pitchFamily="18" charset="0"/>
              <a:cs typeface="Times New Roman" panose="02020603050405020304" pitchFamily="18" charset="0"/>
            </a:endParaRPr>
          </a:p>
          <a:p>
            <a:pPr algn="just"/>
            <a:r>
              <a:rPr lang="en-US" b="0" i="0" dirty="0">
                <a:effectLst/>
                <a:latin typeface="Times New Roman" panose="02020603050405020304" pitchFamily="18" charset="0"/>
                <a:cs typeface="Times New Roman" panose="02020603050405020304" pitchFamily="18" charset="0"/>
              </a:rPr>
              <a:t>Blockchain can ensure transparency and security in voting</a:t>
            </a:r>
          </a:p>
          <a:p>
            <a:pPr algn="just"/>
            <a:r>
              <a:rPr lang="en-US" b="0" i="0" dirty="0">
                <a:effectLst/>
                <a:latin typeface="Times New Roman" panose="02020603050405020304" pitchFamily="18" charset="0"/>
                <a:cs typeface="Times New Roman" panose="02020603050405020304" pitchFamily="18" charset="0"/>
              </a:rPr>
              <a:t>Blockchain has emerged as an important topic in the secure voting discussions. Although electronic voting addresses most of the problems of traditional manual voting, lack of voter privacy, voter fraud, high cost of legacy digital voting platforms, lack of transparency still remain as major concerns.</a:t>
            </a:r>
          </a:p>
          <a:p>
            <a:pPr algn="just"/>
            <a:r>
              <a:rPr lang="en-US" b="0" i="0" dirty="0">
                <a:effectLst/>
                <a:latin typeface="Times New Roman" panose="02020603050405020304" pitchFamily="18" charset="0"/>
                <a:cs typeface="Times New Roman" panose="02020603050405020304" pitchFamily="18" charset="0"/>
              </a:rPr>
              <a:t>Using smart contracts and encryption, blockchain can make the voting process more secure from fraud, more transparent, and ensure voter privacy. In this regard, </a:t>
            </a:r>
            <a:r>
              <a:rPr lang="en-US" b="0" i="0" dirty="0" err="1">
                <a:effectLst/>
                <a:latin typeface="Times New Roman" panose="02020603050405020304" pitchFamily="18" charset="0"/>
                <a:cs typeface="Times New Roman" panose="02020603050405020304" pitchFamily="18" charset="0"/>
              </a:rPr>
              <a:t>GenVote</a:t>
            </a:r>
            <a:r>
              <a:rPr lang="en-US" b="0" i="0" dirty="0">
                <a:effectLst/>
                <a:latin typeface="Times New Roman" panose="02020603050405020304" pitchFamily="18" charset="0"/>
                <a:cs typeface="Times New Roman" panose="02020603050405020304" pitchFamily="18" charset="0"/>
              </a:rPr>
              <a:t> leverages blockchain to achieve these and also allows customization of the voting process using different types of ballots and allowing logic based voting. It is being applied in University-scaled elections.</a:t>
            </a:r>
          </a:p>
          <a:p>
            <a:pPr marL="0" indent="0" algn="just">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8752242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03F2A6B-F348-14A8-BAB2-BAEAD3EC64BB}"/>
              </a:ext>
            </a:extLst>
          </p:cNvPr>
          <p:cNvSpPr>
            <a:spLocks noGrp="1"/>
          </p:cNvSpPr>
          <p:nvPr>
            <p:ph type="title"/>
          </p:nvPr>
        </p:nvSpPr>
        <p:spPr/>
        <p:txBody>
          <a:bodyPr/>
          <a:lstStyle/>
          <a:p>
            <a:r>
              <a:rPr lang="en-US" sz="4400" b="1" i="0" dirty="0">
                <a:solidFill>
                  <a:srgbClr val="000000"/>
                </a:solidFill>
                <a:effectLst/>
                <a:latin typeface="Times New Roman" panose="02020603050405020304" pitchFamily="18" charset="0"/>
                <a:cs typeface="Times New Roman" panose="02020603050405020304" pitchFamily="18" charset="0"/>
              </a:rPr>
              <a:t>Major Pros of Blockchain Technology</a:t>
            </a:r>
            <a:endParaRPr lang="en-IN" dirty="0"/>
          </a:p>
        </p:txBody>
      </p:sp>
      <p:sp>
        <p:nvSpPr>
          <p:cNvPr id="3" name="Content Placeholder 2">
            <a:extLst>
              <a:ext uri="{FF2B5EF4-FFF2-40B4-BE49-F238E27FC236}">
                <a16:creationId xmlns:a16="http://schemas.microsoft.com/office/drawing/2014/main" id="{B99B21B9-733E-D2D1-16C6-61F0A53D5986}"/>
              </a:ext>
            </a:extLst>
          </p:cNvPr>
          <p:cNvSpPr>
            <a:spLocks noGrp="1"/>
          </p:cNvSpPr>
          <p:nvPr>
            <p:ph idx="1"/>
          </p:nvPr>
        </p:nvSpPr>
        <p:spPr/>
        <p:txBody>
          <a:bodyPr>
            <a:normAutofit lnSpcReduction="10000"/>
          </a:bodyPr>
          <a:lstStyle/>
          <a:p>
            <a:pPr marL="0" indent="0" algn="just">
              <a:buNone/>
            </a:pPr>
            <a:r>
              <a:rPr lang="en-IN" b="1" i="0" dirty="0">
                <a:effectLst/>
                <a:latin typeface="Times New Roman" panose="02020603050405020304" pitchFamily="18" charset="0"/>
                <a:cs typeface="Times New Roman" panose="02020603050405020304" pitchFamily="18" charset="0"/>
              </a:rPr>
              <a:t>Decentralized Trust </a:t>
            </a:r>
            <a:endParaRPr lang="en-US" b="0" dirty="0">
              <a:effectLst/>
              <a:latin typeface="Times New Roman" panose="02020603050405020304" pitchFamily="18" charset="0"/>
              <a:cs typeface="Times New Roman" panose="02020603050405020304" pitchFamily="18" charset="0"/>
            </a:endParaRPr>
          </a:p>
          <a:p>
            <a:pPr algn="just"/>
            <a:r>
              <a:rPr lang="en-US" b="0" dirty="0">
                <a:effectLst/>
                <a:latin typeface="Times New Roman" panose="02020603050405020304" pitchFamily="18" charset="0"/>
                <a:cs typeface="Times New Roman" panose="02020603050405020304" pitchFamily="18" charset="0"/>
              </a:rPr>
              <a:t>One of its biggest strengths is that you no longer need to trust a third party to make any transaction. People using blockchain worldwide are confident that no single party is manipulating transactions, viewing personal information or performing any other activity breaching their privacy and security.</a:t>
            </a:r>
          </a:p>
          <a:p>
            <a:pPr algn="just"/>
            <a:r>
              <a:rPr lang="en-US" b="0" dirty="0">
                <a:effectLst/>
                <a:latin typeface="Times New Roman" panose="02020603050405020304" pitchFamily="18" charset="0"/>
                <a:cs typeface="Times New Roman" panose="02020603050405020304" pitchFamily="18" charset="0"/>
              </a:rPr>
              <a:t>That doesn’t mean </a:t>
            </a:r>
            <a:r>
              <a:rPr lang="en-US" b="1" strike="noStrike" dirty="0">
                <a:effectLst/>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xmlns="" val="tx"/>
                    </a:ext>
                  </a:extLst>
                </a:hlinkClick>
              </a:rPr>
              <a:t>blockchain-based applications</a:t>
            </a:r>
            <a:r>
              <a:rPr lang="en-US" b="0" dirty="0">
                <a:effectLst/>
                <a:latin typeface="Times New Roman" panose="02020603050405020304" pitchFamily="18" charset="0"/>
                <a:cs typeface="Times New Roman" panose="02020603050405020304" pitchFamily="18" charset="0"/>
              </a:rPr>
              <a:t> are always secure—that depends on how good developers are at creating secure code—but it does mean there are opportunities for better security than conventional applications. With blockchain, you can feel more confident about your data and identity.</a:t>
            </a:r>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1438713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4D6FA7-CC6A-41BE-3133-C055C918C63C}"/>
              </a:ext>
            </a:extLst>
          </p:cNvPr>
          <p:cNvSpPr>
            <a:spLocks noGrp="1"/>
          </p:cNvSpPr>
          <p:nvPr>
            <p:ph idx="1"/>
          </p:nvPr>
        </p:nvSpPr>
        <p:spPr>
          <a:xfrm>
            <a:off x="838200" y="402336"/>
            <a:ext cx="10515600" cy="5774627"/>
          </a:xfrm>
        </p:spPr>
        <p:txBody>
          <a:bodyPr>
            <a:normAutofit fontScale="92500" lnSpcReduction="20000"/>
          </a:bodyPr>
          <a:lstStyle/>
          <a:p>
            <a:pPr marL="0" indent="0" algn="just">
              <a:buNone/>
            </a:pPr>
            <a:r>
              <a:rPr lang="en-US" b="1" i="0" dirty="0">
                <a:effectLst/>
                <a:latin typeface="Times New Roman" panose="02020603050405020304" pitchFamily="18" charset="0"/>
                <a:cs typeface="Times New Roman" panose="02020603050405020304" pitchFamily="18" charset="0"/>
              </a:rPr>
              <a:t>Low Operational Cost </a:t>
            </a:r>
          </a:p>
          <a:p>
            <a:pPr algn="just"/>
            <a:r>
              <a:rPr lang="en-US" b="0" dirty="0">
                <a:effectLst/>
                <a:latin typeface="Times New Roman" panose="02020603050405020304" pitchFamily="18" charset="0"/>
                <a:cs typeface="Times New Roman" panose="02020603050405020304" pitchFamily="18" charset="0"/>
              </a:rPr>
              <a:t>Blockchain reduces overhead costs as it has no centralized authority or servers to maintain operations. </a:t>
            </a:r>
            <a:r>
              <a:rPr lang="en-US" b="1" dirty="0">
                <a:effectLst/>
                <a:latin typeface="Times New Roman" panose="02020603050405020304" pitchFamily="18" charset="0"/>
                <a:cs typeface="Times New Roman" panose="02020603050405020304" pitchFamily="18" charset="0"/>
              </a:rPr>
              <a:t> </a:t>
            </a:r>
            <a:r>
              <a:rPr lang="en-US" b="0" dirty="0">
                <a:effectLst/>
                <a:latin typeface="Times New Roman" panose="02020603050405020304" pitchFamily="18" charset="0"/>
                <a:cs typeface="Times New Roman" panose="02020603050405020304" pitchFamily="18" charset="0"/>
              </a:rPr>
              <a:t>There are no payment processing or banking fees as it opts for peer-to-peer transactions without third-party approval. It embeds documents, agreements, or transactions within the system.</a:t>
            </a:r>
          </a:p>
          <a:p>
            <a:pPr algn="just"/>
            <a:endParaRPr lang="en-US" dirty="0">
              <a:latin typeface="Times New Roman" panose="02020603050405020304" pitchFamily="18" charset="0"/>
              <a:cs typeface="Times New Roman" panose="02020603050405020304" pitchFamily="18" charset="0"/>
            </a:endParaRPr>
          </a:p>
          <a:p>
            <a:pPr marL="0" indent="0" algn="just">
              <a:buNone/>
            </a:pPr>
            <a:r>
              <a:rPr lang="en-US" b="1" i="0" dirty="0">
                <a:effectLst/>
                <a:latin typeface="Times New Roman" panose="02020603050405020304" pitchFamily="18" charset="0"/>
                <a:cs typeface="Times New Roman" panose="02020603050405020304" pitchFamily="18" charset="0"/>
              </a:rPr>
              <a:t>No Single Point of Failure</a:t>
            </a:r>
            <a:endParaRPr lang="en-US" dirty="0">
              <a:latin typeface="Times New Roman" panose="02020603050405020304" pitchFamily="18" charset="0"/>
              <a:cs typeface="Times New Roman" panose="02020603050405020304" pitchFamily="18" charset="0"/>
            </a:endParaRPr>
          </a:p>
          <a:p>
            <a:pPr algn="just"/>
            <a:r>
              <a:rPr lang="en-US" b="0" dirty="0">
                <a:effectLst/>
                <a:latin typeface="Times New Roman" panose="02020603050405020304" pitchFamily="18" charset="0"/>
                <a:cs typeface="Times New Roman" panose="02020603050405020304" pitchFamily="18" charset="0"/>
              </a:rPr>
              <a:t>With blockchain technology, there’s no single point of failure. If a hacker were to gain access to your business’s server or database, they could very easily wipe out your entire network—all at once.</a:t>
            </a:r>
          </a:p>
          <a:p>
            <a:pPr algn="just"/>
            <a:r>
              <a:rPr lang="en-US" b="0" dirty="0">
                <a:effectLst/>
                <a:latin typeface="Times New Roman" panose="02020603050405020304" pitchFamily="18" charset="0"/>
                <a:cs typeface="Times New Roman" panose="02020603050405020304" pitchFamily="18" charset="0"/>
              </a:rPr>
              <a:t>Blockchain technology is not centralized; instead, it is in distributed form. It saves your data if the network goes down as hackers cannot break into the central grid and affect any connected account.</a:t>
            </a:r>
          </a:p>
          <a:p>
            <a:pPr algn="just"/>
            <a:r>
              <a:rPr lang="en-US" b="0" i="0" dirty="0">
                <a:effectLst/>
                <a:latin typeface="Times New Roman" panose="02020603050405020304" pitchFamily="18" charset="0"/>
                <a:cs typeface="Times New Roman" panose="02020603050405020304" pitchFamily="18" charset="0"/>
              </a:rPr>
              <a:t>You can create passwords up to 100 characters long, making it impossible for hackers to guess or decode. It gives better security than regular networks with the option of up to 8-character long passwords (</a:t>
            </a:r>
            <a:r>
              <a:rPr lang="en-US" b="1" i="0" dirty="0">
                <a:effectLst/>
                <a:latin typeface="Times New Roman" panose="02020603050405020304" pitchFamily="18" charset="0"/>
                <a:cs typeface="Times New Roman" panose="02020603050405020304" pitchFamily="18" charset="0"/>
              </a:rPr>
              <a:t>including letters and numbers</a:t>
            </a:r>
            <a:r>
              <a:rPr lang="en-US" b="0" i="0" dirty="0">
                <a:effectLst/>
                <a:latin typeface="Times New Roman" panose="02020603050405020304" pitchFamily="18" charset="0"/>
                <a:cs typeface="Times New Roman" panose="02020603050405020304" pitchFamily="18" charset="0"/>
              </a:rPr>
              <a:t>) </a:t>
            </a:r>
            <a:endParaRPr lang="en-US" b="0" dirty="0">
              <a:effectLst/>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4402214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4240FA0-91C6-41B4-8220-F192BB59DADF}"/>
              </a:ext>
            </a:extLst>
          </p:cNvPr>
          <p:cNvSpPr>
            <a:spLocks noGrp="1"/>
          </p:cNvSpPr>
          <p:nvPr>
            <p:ph idx="1"/>
          </p:nvPr>
        </p:nvSpPr>
        <p:spPr>
          <a:xfrm>
            <a:off x="838200" y="621792"/>
            <a:ext cx="10515600" cy="5555171"/>
          </a:xfrm>
        </p:spPr>
        <p:txBody>
          <a:bodyPr>
            <a:normAutofit/>
          </a:bodyPr>
          <a:lstStyle/>
          <a:p>
            <a:pPr marL="0" indent="0" algn="just">
              <a:buNone/>
            </a:pPr>
            <a:r>
              <a:rPr lang="en-IN" b="1" i="0" dirty="0">
                <a:effectLst/>
                <a:latin typeface="Times New Roman" panose="02020603050405020304" pitchFamily="18" charset="0"/>
                <a:cs typeface="Times New Roman" panose="02020603050405020304" pitchFamily="18" charset="0"/>
              </a:rPr>
              <a:t>Enhanced Security And Confidentiality</a:t>
            </a:r>
            <a:endParaRPr lang="en-US" b="0" dirty="0">
              <a:effectLst/>
              <a:latin typeface="Times New Roman" panose="02020603050405020304" pitchFamily="18" charset="0"/>
              <a:cs typeface="Times New Roman" panose="02020603050405020304" pitchFamily="18" charset="0"/>
            </a:endParaRPr>
          </a:p>
          <a:p>
            <a:pPr algn="just"/>
            <a:r>
              <a:rPr lang="en-US" b="0" dirty="0">
                <a:effectLst/>
                <a:latin typeface="Times New Roman" panose="02020603050405020304" pitchFamily="18" charset="0"/>
                <a:cs typeface="Times New Roman" panose="02020603050405020304" pitchFamily="18" charset="0"/>
              </a:rPr>
              <a:t>Being distributed across a global network of computers and protected by cryptography, blockchain technology is inherently more secure than centralized systems.</a:t>
            </a:r>
          </a:p>
          <a:p>
            <a:pPr algn="just"/>
            <a:r>
              <a:rPr lang="en-US" b="0" dirty="0">
                <a:effectLst/>
                <a:latin typeface="Times New Roman" panose="02020603050405020304" pitchFamily="18" charset="0"/>
                <a:cs typeface="Times New Roman" panose="02020603050405020304" pitchFamily="18" charset="0"/>
              </a:rPr>
              <a:t>As the Economist reports, it is tough to tamper with records once they are in there. Any attempt to alter one’s record will reflect immediately because copies and digital signatures are checked against each other automatically</a:t>
            </a:r>
            <a:r>
              <a:rPr lang="en-US" b="1" dirty="0">
                <a:effectLst/>
                <a:latin typeface="Times New Roman" panose="02020603050405020304" pitchFamily="18" charset="0"/>
                <a:cs typeface="Times New Roman" panose="02020603050405020304" pitchFamily="18" charset="0"/>
              </a:rPr>
              <a:t>.</a:t>
            </a:r>
            <a:endParaRPr lang="en-US" b="0" dirty="0">
              <a:effectLst/>
              <a:latin typeface="Times New Roman" panose="02020603050405020304" pitchFamily="18" charset="0"/>
              <a:cs typeface="Times New Roman" panose="02020603050405020304" pitchFamily="18" charset="0"/>
            </a:endParaRPr>
          </a:p>
          <a:p>
            <a:pPr algn="just"/>
            <a:r>
              <a:rPr lang="en-US" b="0" dirty="0">
                <a:effectLst/>
                <a:latin typeface="Times New Roman" panose="02020603050405020304" pitchFamily="18" charset="0"/>
                <a:cs typeface="Times New Roman" panose="02020603050405020304" pitchFamily="18" charset="0"/>
              </a:rPr>
              <a:t>It has an added layer of confidentiality that secures your data from hackers. Transactions are impossible to trace or link back to an individual user. The user can select their names and e-mail addresses during transactions. You get the option to complete your transactions while remaining anonymous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5249992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CA07B41-8AF3-8EB9-1423-FC707720D54E}"/>
              </a:ext>
            </a:extLst>
          </p:cNvPr>
          <p:cNvSpPr>
            <a:spLocks noGrp="1"/>
          </p:cNvSpPr>
          <p:nvPr>
            <p:ph idx="1"/>
          </p:nvPr>
        </p:nvSpPr>
        <p:spPr>
          <a:xfrm>
            <a:off x="838200" y="755904"/>
            <a:ext cx="10515600" cy="5421059"/>
          </a:xfrm>
        </p:spPr>
        <p:txBody>
          <a:bodyPr/>
          <a:lstStyle/>
          <a:p>
            <a:pPr marL="0" indent="0" algn="just">
              <a:buNone/>
            </a:pPr>
            <a:r>
              <a:rPr lang="en-US" b="1" i="0" dirty="0">
                <a:effectLst/>
                <a:latin typeface="Times New Roman" panose="02020603050405020304" pitchFamily="18" charset="0"/>
                <a:cs typeface="Times New Roman" panose="02020603050405020304" pitchFamily="18" charset="0"/>
              </a:rPr>
              <a:t>Quick Transactions</a:t>
            </a:r>
          </a:p>
          <a:p>
            <a:pPr algn="just"/>
            <a:r>
              <a:rPr lang="en-US" b="0" dirty="0">
                <a:effectLst/>
                <a:latin typeface="Times New Roman" panose="02020603050405020304" pitchFamily="18" charset="0"/>
                <a:cs typeface="Times New Roman" panose="02020603050405020304" pitchFamily="18" charset="0"/>
              </a:rPr>
              <a:t>Blockchain is capable of processing much faster transactions than any traditional bank. As a result, businesses that use blockchain instead of banks can save a considerable amount on fees.</a:t>
            </a:r>
          </a:p>
          <a:p>
            <a:pPr algn="just"/>
            <a:r>
              <a:rPr lang="en-US" b="1" u="none" strike="noStrike" dirty="0">
                <a:effectLst/>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xmlns="" val="tx"/>
                    </a:ext>
                  </a:extLst>
                </a:hlinkClick>
              </a:rPr>
              <a:t>Deloitte</a:t>
            </a:r>
            <a:r>
              <a:rPr lang="en-US" b="0" dirty="0">
                <a:effectLst/>
                <a:latin typeface="Times New Roman" panose="02020603050405020304" pitchFamily="18" charset="0"/>
                <a:cs typeface="Times New Roman" panose="02020603050405020304" pitchFamily="18" charset="0"/>
              </a:rPr>
              <a:t> has predicted that blockchain technology could save companies up to billions in the form of banking fees. Blockchain’s decentralized structure doesn’t require massive data centers and expensive third-party verification. It also limits the number of people involved in monitoring the transactions.</a:t>
            </a:r>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5156053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B8C5A3-5B44-72B1-C3D1-4C5300B5EAAC}"/>
              </a:ext>
            </a:extLst>
          </p:cNvPr>
          <p:cNvSpPr>
            <a:spLocks noGrp="1"/>
          </p:cNvSpPr>
          <p:nvPr>
            <p:ph idx="1"/>
          </p:nvPr>
        </p:nvSpPr>
        <p:spPr/>
        <p:txBody>
          <a:bodyPr>
            <a:normAutofit/>
          </a:bodyPr>
          <a:lstStyle/>
          <a:p>
            <a:pPr marL="0" indent="0" algn="just">
              <a:buNone/>
            </a:pPr>
            <a:r>
              <a:rPr lang="en-IN" b="1" i="0" dirty="0">
                <a:effectLst/>
                <a:latin typeface="Times New Roman" panose="02020603050405020304" pitchFamily="18" charset="0"/>
                <a:cs typeface="Times New Roman" panose="02020603050405020304" pitchFamily="18" charset="0"/>
              </a:rPr>
              <a:t>Reduces Fraud</a:t>
            </a:r>
            <a:endParaRPr lang="en-US" dirty="0">
              <a:latin typeface="Times New Roman" panose="02020603050405020304" pitchFamily="18" charset="0"/>
              <a:cs typeface="Times New Roman" panose="02020603050405020304" pitchFamily="18" charset="0"/>
            </a:endParaRPr>
          </a:p>
          <a:p>
            <a:pPr algn="just"/>
            <a:r>
              <a:rPr lang="en-US" b="0" dirty="0">
                <a:effectLst/>
                <a:latin typeface="Times New Roman" panose="02020603050405020304" pitchFamily="18" charset="0"/>
                <a:cs typeface="Times New Roman" panose="02020603050405020304" pitchFamily="18" charset="0"/>
              </a:rPr>
              <a:t>Blockchain technology has some fantastic attributes that make it ideal for financial institutions to reduce forgery. It records every activity, making it impossible for anyone to make duplicate transactions.</a:t>
            </a:r>
          </a:p>
          <a:p>
            <a:pPr algn="just"/>
            <a:r>
              <a:rPr lang="en-US" b="0" dirty="0">
                <a:effectLst/>
                <a:latin typeface="Times New Roman" panose="02020603050405020304" pitchFamily="18" charset="0"/>
                <a:cs typeface="Times New Roman" panose="02020603050405020304" pitchFamily="18" charset="0"/>
              </a:rPr>
              <a:t>Each block stores the financial information, and if any modification is made to a previous block, other nodes on the network rejected it. </a:t>
            </a:r>
          </a:p>
          <a:p>
            <a:pPr algn="just"/>
            <a:r>
              <a:rPr lang="en-US" b="0" dirty="0">
                <a:effectLst/>
                <a:latin typeface="Times New Roman" panose="02020603050405020304" pitchFamily="18" charset="0"/>
                <a:cs typeface="Times New Roman" panose="02020603050405020304" pitchFamily="18" charset="0"/>
              </a:rPr>
              <a:t>Once your bank confirms your transaction, they can’t deny receiving the funds. On top of that, you could see that fraudulent activity happened when another node changed transactions.</a:t>
            </a:r>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3034604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831365E-6C47-734E-9E22-5BBE71CADE35}"/>
              </a:ext>
            </a:extLst>
          </p:cNvPr>
          <p:cNvSpPr>
            <a:spLocks noGrp="1"/>
          </p:cNvSpPr>
          <p:nvPr>
            <p:ph idx="1"/>
          </p:nvPr>
        </p:nvSpPr>
        <p:spPr>
          <a:xfrm>
            <a:off x="838200" y="963168"/>
            <a:ext cx="10515600" cy="5213795"/>
          </a:xfrm>
        </p:spPr>
        <p:txBody>
          <a:bodyPr>
            <a:normAutofit lnSpcReduction="10000"/>
          </a:bodyPr>
          <a:lstStyle/>
          <a:p>
            <a:pPr marL="0" indent="0" algn="just">
              <a:buNone/>
            </a:pPr>
            <a:r>
              <a:rPr lang="en-US" b="1" i="0" dirty="0">
                <a:effectLst/>
                <a:latin typeface="Times New Roman" panose="02020603050405020304" pitchFamily="18" charset="0"/>
                <a:cs typeface="Times New Roman" panose="02020603050405020304" pitchFamily="18" charset="0"/>
              </a:rPr>
              <a:t>Transparent &amp; Universal Recording System</a:t>
            </a:r>
          </a:p>
          <a:p>
            <a:pPr algn="just"/>
            <a:r>
              <a:rPr lang="en-US" b="0" dirty="0">
                <a:effectLst/>
                <a:latin typeface="Times New Roman" panose="02020603050405020304" pitchFamily="18" charset="0"/>
                <a:cs typeface="Times New Roman" panose="02020603050405020304" pitchFamily="18" charset="0"/>
              </a:rPr>
              <a:t>The transactions in the blockchain are recorded in a public ledger that anyone can view. All can see the amount stored in the wallet but cannot identify its owner.</a:t>
            </a:r>
          </a:p>
          <a:p>
            <a:pPr algn="just"/>
            <a:r>
              <a:rPr lang="en-US" b="0" dirty="0">
                <a:effectLst/>
                <a:latin typeface="Times New Roman" panose="02020603050405020304" pitchFamily="18" charset="0"/>
                <a:cs typeface="Times New Roman" panose="02020603050405020304" pitchFamily="18" charset="0"/>
              </a:rPr>
              <a:t>A wallet could be tied to an individual or group. Still, if users want to remain anonymous, they must transfer their Bitcoins to another address (</a:t>
            </a:r>
            <a:r>
              <a:rPr lang="en-US" b="1" dirty="0">
                <a:effectLst/>
                <a:latin typeface="Times New Roman" panose="02020603050405020304" pitchFamily="18" charset="0"/>
                <a:cs typeface="Times New Roman" panose="02020603050405020304" pitchFamily="18" charset="0"/>
              </a:rPr>
              <a:t>e.g., a different Bitcoin wallet</a:t>
            </a:r>
            <a:r>
              <a:rPr lang="en-US" b="0" dirty="0">
                <a:effectLst/>
                <a:latin typeface="Times New Roman" panose="02020603050405020304" pitchFamily="18" charset="0"/>
                <a:cs typeface="Times New Roman" panose="02020603050405020304" pitchFamily="18" charset="0"/>
              </a:rPr>
              <a:t>) that isn’t linked with their real identity.</a:t>
            </a:r>
          </a:p>
          <a:p>
            <a:pPr algn="just"/>
            <a:r>
              <a:rPr lang="en-US" b="0" dirty="0">
                <a:effectLst/>
                <a:latin typeface="Times New Roman" panose="02020603050405020304" pitchFamily="18" charset="0"/>
                <a:cs typeface="Times New Roman" panose="02020603050405020304" pitchFamily="18" charset="0"/>
              </a:rPr>
              <a:t>But even without anonymity features enabled, blockchain tech provides more transparency than traditional payment methods like credit cards and checks; you don’t need a bank intermediary (</a:t>
            </a:r>
            <a:r>
              <a:rPr lang="en-US" b="1" dirty="0">
                <a:effectLst/>
                <a:latin typeface="Times New Roman" panose="02020603050405020304" pitchFamily="18" charset="0"/>
                <a:cs typeface="Times New Roman" panose="02020603050405020304" pitchFamily="18" charset="0"/>
              </a:rPr>
              <a:t>or permission from one</a:t>
            </a:r>
            <a:r>
              <a:rPr lang="en-US" b="0" dirty="0">
                <a:effectLst/>
                <a:latin typeface="Times New Roman" panose="02020603050405020304" pitchFamily="18" charset="0"/>
                <a:cs typeface="Times New Roman" panose="02020603050405020304" pitchFamily="18" charset="0"/>
              </a:rPr>
              <a:t>) to see what or whom you paid or received money from.</a:t>
            </a:r>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3649580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BCF886D-2417-33FA-6F34-E1EDD16CE798}"/>
              </a:ext>
            </a:extLst>
          </p:cNvPr>
          <p:cNvSpPr>
            <a:spLocks noGrp="1"/>
          </p:cNvSpPr>
          <p:nvPr>
            <p:ph idx="1"/>
          </p:nvPr>
        </p:nvSpPr>
        <p:spPr>
          <a:xfrm>
            <a:off x="536448" y="950976"/>
            <a:ext cx="11033760" cy="5225987"/>
          </a:xfrm>
        </p:spPr>
        <p:txBody>
          <a:bodyPr>
            <a:normAutofit/>
          </a:bodyPr>
          <a:lstStyle/>
          <a:p>
            <a:pPr marL="0" indent="0" algn="just">
              <a:buNone/>
            </a:pPr>
            <a:r>
              <a:rPr lang="en-US" b="1" i="0" dirty="0">
                <a:effectLst/>
                <a:latin typeface="Times New Roman" panose="02020603050405020304" pitchFamily="18" charset="0"/>
                <a:cs typeface="Times New Roman" panose="02020603050405020304" pitchFamily="18" charset="0"/>
              </a:rPr>
              <a:t>Better Accessibility</a:t>
            </a:r>
          </a:p>
          <a:p>
            <a:pPr algn="just"/>
            <a:r>
              <a:rPr lang="en-US" b="0" dirty="0">
                <a:effectLst/>
                <a:latin typeface="Times New Roman" panose="02020603050405020304" pitchFamily="18" charset="0"/>
                <a:cs typeface="Times New Roman" panose="02020603050405020304" pitchFamily="18" charset="0"/>
              </a:rPr>
              <a:t>A blockchain allows anyone with a computer and an internet connection to be part of its network. It is decentralized, meaning any single entity can’t control it—and everyone has equal access to it.</a:t>
            </a:r>
          </a:p>
          <a:p>
            <a:pPr algn="just"/>
            <a:r>
              <a:rPr lang="en-US" b="0" dirty="0">
                <a:effectLst/>
                <a:latin typeface="Times New Roman" panose="02020603050405020304" pitchFamily="18" charset="0"/>
                <a:cs typeface="Times New Roman" panose="02020603050405020304" pitchFamily="18" charset="0"/>
              </a:rPr>
              <a:t>Anyone can make changes (</a:t>
            </a:r>
            <a:r>
              <a:rPr lang="en-US" b="1" dirty="0">
                <a:effectLst/>
                <a:latin typeface="Times New Roman" panose="02020603050405020304" pitchFamily="18" charset="0"/>
                <a:cs typeface="Times New Roman" panose="02020603050405020304" pitchFamily="18" charset="0"/>
              </a:rPr>
              <a:t>add information</a:t>
            </a:r>
            <a:r>
              <a:rPr lang="en-US" b="0" dirty="0">
                <a:effectLst/>
                <a:latin typeface="Times New Roman" panose="02020603050405020304" pitchFamily="18" charset="0"/>
                <a:cs typeface="Times New Roman" panose="02020603050405020304" pitchFamily="18" charset="0"/>
              </a:rPr>
              <a:t>) or add new blocks (</a:t>
            </a:r>
            <a:r>
              <a:rPr lang="en-US" b="1" dirty="0">
                <a:effectLst/>
                <a:latin typeface="Times New Roman" panose="02020603050405020304" pitchFamily="18" charset="0"/>
                <a:cs typeface="Times New Roman" panose="02020603050405020304" pitchFamily="18" charset="0"/>
              </a:rPr>
              <a:t>to store data</a:t>
            </a:r>
            <a:r>
              <a:rPr lang="en-US" b="0" dirty="0">
                <a:effectLst/>
                <a:latin typeface="Times New Roman" panose="02020603050405020304" pitchFamily="18" charset="0"/>
                <a:cs typeface="Times New Roman" panose="02020603050405020304" pitchFamily="18" charset="0"/>
              </a:rPr>
              <a:t>) to a blockchain, provided they know how to do so. Even non-tech individuals have the same access to blockchains! This openness makes blockchains much more accessible than traditional institutions like banks and financial services.</a:t>
            </a:r>
          </a:p>
          <a:p>
            <a:pPr algn="just"/>
            <a:r>
              <a:rPr lang="en-US" b="0" dirty="0">
                <a:effectLst/>
                <a:latin typeface="Times New Roman" panose="02020603050405020304" pitchFamily="18" charset="0"/>
                <a:cs typeface="Times New Roman" panose="02020603050405020304" pitchFamily="18" charset="0"/>
              </a:rPr>
              <a:t>That doesn’t mean you shouldn’t be wary when dealing with blockchain providers: you should always research your choices before making any significant financial decisions.</a:t>
            </a:r>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6900697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A5C23FA-F906-A967-897C-D23C18AC615F}"/>
              </a:ext>
            </a:extLst>
          </p:cNvPr>
          <p:cNvSpPr>
            <a:spLocks noGrp="1"/>
          </p:cNvSpPr>
          <p:nvPr>
            <p:ph idx="1"/>
          </p:nvPr>
        </p:nvSpPr>
        <p:spPr/>
        <p:txBody>
          <a:bodyPr/>
          <a:lstStyle/>
          <a:p>
            <a:pPr marL="0" indent="0" algn="just">
              <a:buNone/>
            </a:pPr>
            <a:r>
              <a:rPr lang="en-US" b="1" i="0" dirty="0">
                <a:effectLst/>
                <a:latin typeface="Times New Roman" panose="02020603050405020304" pitchFamily="18" charset="0"/>
                <a:cs typeface="Times New Roman" panose="02020603050405020304" pitchFamily="18" charset="0"/>
              </a:rPr>
              <a:t>Prevents Double Spending</a:t>
            </a:r>
          </a:p>
          <a:p>
            <a:pPr algn="just"/>
            <a:r>
              <a:rPr lang="en-US" b="0" dirty="0">
                <a:effectLst/>
                <a:latin typeface="Times New Roman" panose="02020603050405020304" pitchFamily="18" charset="0"/>
                <a:cs typeface="Times New Roman" panose="02020603050405020304" pitchFamily="18" charset="0"/>
              </a:rPr>
              <a:t>Bitcoin transactions are verified by network nodes through cryptography and recorded in a publicly distributed ledger called a blockchain. This ensures safety by eliminating direct access to your money. </a:t>
            </a:r>
          </a:p>
          <a:p>
            <a:pPr algn="just"/>
            <a:r>
              <a:rPr lang="en-US" b="0" dirty="0">
                <a:effectLst/>
                <a:latin typeface="Times New Roman" panose="02020603050405020304" pitchFamily="18" charset="0"/>
                <a:cs typeface="Times New Roman" panose="02020603050405020304" pitchFamily="18" charset="0"/>
              </a:rPr>
              <a:t>That’s why some say bitcoin is fungible—its value is equal even if its physical form changes. In other words, bitcoins derive their worth from mathematics alone, unlike fiat currencies like U.S. dollars or euros, which get their value from an organization’s financial standing.</a:t>
            </a:r>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3538338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381579B-A652-7814-5BC8-E7BB8372184B}"/>
              </a:ext>
            </a:extLst>
          </p:cNvPr>
          <p:cNvSpPr txBox="1"/>
          <p:nvPr/>
        </p:nvSpPr>
        <p:spPr>
          <a:xfrm>
            <a:off x="426876" y="239877"/>
            <a:ext cx="6097554" cy="523220"/>
          </a:xfrm>
          <a:prstGeom prst="rect">
            <a:avLst/>
          </a:prstGeom>
          <a:noFill/>
        </p:spPr>
        <p:txBody>
          <a:bodyPr wrap="square">
            <a:spAutoFit/>
          </a:bodyPr>
          <a:lstStyle/>
          <a:p>
            <a:pPr algn="just"/>
            <a:r>
              <a:rPr lang="en-US" sz="2800" b="1" i="0" dirty="0">
                <a:solidFill>
                  <a:srgbClr val="000000"/>
                </a:solidFill>
                <a:effectLst/>
                <a:latin typeface="Times New Roman" panose="02020603050405020304" pitchFamily="18" charset="0"/>
                <a:cs typeface="Times New Roman" panose="02020603050405020304" pitchFamily="18" charset="0"/>
              </a:rPr>
              <a:t>Major Cons of Blockchain Technology</a:t>
            </a:r>
            <a:endParaRPr lang="en-US" sz="2800" b="1" i="0" dirty="0">
              <a:solidFill>
                <a:srgbClr val="393939"/>
              </a:solidFill>
              <a:effectLst/>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D3629B38-2FE4-4307-666D-05ECB6B82734}"/>
              </a:ext>
            </a:extLst>
          </p:cNvPr>
          <p:cNvSpPr txBox="1"/>
          <p:nvPr/>
        </p:nvSpPr>
        <p:spPr>
          <a:xfrm>
            <a:off x="426876" y="1023648"/>
            <a:ext cx="6097554" cy="400110"/>
          </a:xfrm>
          <a:prstGeom prst="rect">
            <a:avLst/>
          </a:prstGeom>
          <a:noFill/>
        </p:spPr>
        <p:txBody>
          <a:bodyPr wrap="square">
            <a:spAutoFit/>
          </a:bodyPr>
          <a:lstStyle/>
          <a:p>
            <a:pPr algn="just"/>
            <a:r>
              <a:rPr lang="en-IN" sz="2000" b="1" i="0" dirty="0">
                <a:effectLst/>
                <a:latin typeface="Times New Roman" panose="02020603050405020304" pitchFamily="18" charset="0"/>
                <a:cs typeface="Times New Roman" panose="02020603050405020304" pitchFamily="18" charset="0"/>
              </a:rPr>
              <a:t>1) Scalability</a:t>
            </a:r>
          </a:p>
        </p:txBody>
      </p:sp>
      <p:sp>
        <p:nvSpPr>
          <p:cNvPr id="17" name="TextBox 16">
            <a:extLst>
              <a:ext uri="{FF2B5EF4-FFF2-40B4-BE49-F238E27FC236}">
                <a16:creationId xmlns:a16="http://schemas.microsoft.com/office/drawing/2014/main" id="{6051C9CC-1D9D-C2D4-5505-AB75877DCFA7}"/>
              </a:ext>
            </a:extLst>
          </p:cNvPr>
          <p:cNvSpPr txBox="1"/>
          <p:nvPr/>
        </p:nvSpPr>
        <p:spPr>
          <a:xfrm>
            <a:off x="426876" y="1392980"/>
            <a:ext cx="11059108" cy="923330"/>
          </a:xfrm>
          <a:prstGeom prst="rect">
            <a:avLst/>
          </a:prstGeom>
          <a:noFill/>
        </p:spPr>
        <p:txBody>
          <a:bodyPr wrap="square">
            <a:spAutoFit/>
          </a:bodyPr>
          <a:lstStyle/>
          <a:p>
            <a:pPr algn="just"/>
            <a:r>
              <a:rPr lang="en-US" b="0" i="0" dirty="0">
                <a:effectLst/>
                <a:latin typeface="Times New Roman" panose="02020603050405020304" pitchFamily="18" charset="0"/>
                <a:cs typeface="Times New Roman" panose="02020603050405020304" pitchFamily="18" charset="0"/>
              </a:rPr>
              <a:t>Blockchain is capable of handling fewer transactions per second. It causes delays in finalizing the massive volume of transactions resulting in poor scalability. However, several methods have been proposed to overcome this shortcoming, but none has been implemented till now. </a:t>
            </a:r>
            <a:endParaRPr lang="en-IN" dirty="0">
              <a:latin typeface="Times New Roman" panose="02020603050405020304" pitchFamily="18" charset="0"/>
              <a:cs typeface="Times New Roman" panose="02020603050405020304" pitchFamily="18" charset="0"/>
            </a:endParaRPr>
          </a:p>
        </p:txBody>
      </p:sp>
      <p:sp>
        <p:nvSpPr>
          <p:cNvPr id="19" name="TextBox 18">
            <a:extLst>
              <a:ext uri="{FF2B5EF4-FFF2-40B4-BE49-F238E27FC236}">
                <a16:creationId xmlns:a16="http://schemas.microsoft.com/office/drawing/2014/main" id="{45A04826-F7D4-5303-D811-A9FD73259103}"/>
              </a:ext>
            </a:extLst>
          </p:cNvPr>
          <p:cNvSpPr txBox="1"/>
          <p:nvPr/>
        </p:nvSpPr>
        <p:spPr>
          <a:xfrm>
            <a:off x="426876" y="2597030"/>
            <a:ext cx="11339026" cy="2031325"/>
          </a:xfrm>
          <a:prstGeom prst="rect">
            <a:avLst/>
          </a:prstGeom>
          <a:noFill/>
        </p:spPr>
        <p:txBody>
          <a:bodyPr wrap="square">
            <a:spAutoFit/>
          </a:bodyPr>
          <a:lstStyle/>
          <a:p>
            <a:pPr algn="just"/>
            <a:r>
              <a:rPr lang="en-US" b="1" i="0" dirty="0">
                <a:effectLst/>
                <a:latin typeface="Times New Roman" panose="02020603050405020304" pitchFamily="18" charset="0"/>
                <a:cs typeface="Times New Roman" panose="02020603050405020304" pitchFamily="18" charset="0"/>
              </a:rPr>
              <a:t>2) Security</a:t>
            </a:r>
          </a:p>
          <a:p>
            <a:pPr algn="just"/>
            <a:r>
              <a:rPr lang="en-US" b="0" dirty="0">
                <a:effectLst/>
                <a:latin typeface="Times New Roman" panose="02020603050405020304" pitchFamily="18" charset="0"/>
                <a:cs typeface="Times New Roman" panose="02020603050405020304" pitchFamily="18" charset="0"/>
              </a:rPr>
              <a:t>Blockchain is publicly accessible as a distributed ledger. It may attract any unknown visitor monitoring your wallet. Though there are several provisions to add privacy and encryption layers to enable your preferred privacy, all are not commonplace yet. </a:t>
            </a:r>
          </a:p>
          <a:p>
            <a:pPr algn="just"/>
            <a:r>
              <a:rPr lang="en-US" b="0" dirty="0">
                <a:effectLst/>
                <a:latin typeface="Times New Roman" panose="02020603050405020304" pitchFamily="18" charset="0"/>
                <a:cs typeface="Times New Roman" panose="02020603050405020304" pitchFamily="18" charset="0"/>
              </a:rPr>
              <a:t>Moreover, much of your data is linked directly to your digital identity, so it could potentially expose parts of your private life that you wouldn’t necessarily want online. Security concerns often lead people to trust third-party solutions (</a:t>
            </a:r>
            <a:r>
              <a:rPr lang="en-US" b="1" dirty="0">
                <a:effectLst/>
                <a:latin typeface="Times New Roman" panose="02020603050405020304" pitchFamily="18" charset="0"/>
                <a:cs typeface="Times New Roman" panose="02020603050405020304" pitchFamily="18" charset="0"/>
              </a:rPr>
              <a:t>like exchanges</a:t>
            </a:r>
            <a:r>
              <a:rPr lang="en-US" b="0" dirty="0">
                <a:effectLst/>
                <a:latin typeface="Times New Roman" panose="02020603050405020304" pitchFamily="18" charset="0"/>
                <a:cs typeface="Times New Roman" panose="02020603050405020304" pitchFamily="18" charset="0"/>
              </a:rPr>
              <a:t>) over direct blockchain transactions, relinquishing control over personal assets.</a:t>
            </a:r>
          </a:p>
        </p:txBody>
      </p:sp>
      <p:sp>
        <p:nvSpPr>
          <p:cNvPr id="21" name="TextBox 20">
            <a:extLst>
              <a:ext uri="{FF2B5EF4-FFF2-40B4-BE49-F238E27FC236}">
                <a16:creationId xmlns:a16="http://schemas.microsoft.com/office/drawing/2014/main" id="{2DF43F0C-73F7-BAE1-72D6-CB4424ED8D97}"/>
              </a:ext>
            </a:extLst>
          </p:cNvPr>
          <p:cNvSpPr txBox="1"/>
          <p:nvPr/>
        </p:nvSpPr>
        <p:spPr>
          <a:xfrm>
            <a:off x="443205" y="4745504"/>
            <a:ext cx="11339025" cy="1477328"/>
          </a:xfrm>
          <a:prstGeom prst="rect">
            <a:avLst/>
          </a:prstGeom>
          <a:noFill/>
        </p:spPr>
        <p:txBody>
          <a:bodyPr wrap="square">
            <a:spAutoFit/>
          </a:bodyPr>
          <a:lstStyle/>
          <a:p>
            <a:pPr algn="just"/>
            <a:r>
              <a:rPr lang="en-US" b="1" i="0" dirty="0">
                <a:effectLst/>
                <a:latin typeface="Times New Roman" panose="02020603050405020304" pitchFamily="18" charset="0"/>
                <a:cs typeface="Times New Roman" panose="02020603050405020304" pitchFamily="18" charset="0"/>
              </a:rPr>
              <a:t>3) Cost</a:t>
            </a:r>
          </a:p>
          <a:p>
            <a:pPr algn="just"/>
            <a:r>
              <a:rPr lang="en-US" b="0" dirty="0">
                <a:effectLst/>
                <a:latin typeface="Times New Roman" panose="02020603050405020304" pitchFamily="18" charset="0"/>
                <a:cs typeface="Times New Roman" panose="02020603050405020304" pitchFamily="18" charset="0"/>
              </a:rPr>
              <a:t>One of the biggest problems with blockchain technology is that it requires enormous energy. Because miners have to solve complicated math problems to get a payout, they need powerful rigs that consume tons of electricity.</a:t>
            </a:r>
          </a:p>
          <a:p>
            <a:pPr algn="just"/>
            <a:r>
              <a:rPr lang="en-US" b="0" dirty="0">
                <a:effectLst/>
                <a:latin typeface="Times New Roman" panose="02020603050405020304" pitchFamily="18" charset="0"/>
                <a:cs typeface="Times New Roman" panose="02020603050405020304" pitchFamily="18" charset="0"/>
              </a:rPr>
              <a:t>As a result, some blockchains are incredibly costly to run, especially for smaller businesses or individuals. You cannot make changes later; if you want your blockchain online, you must pay for it up front!</a:t>
            </a:r>
          </a:p>
        </p:txBody>
      </p:sp>
    </p:spTree>
    <p:extLst>
      <p:ext uri="{BB962C8B-B14F-4D97-AF65-F5344CB8AC3E}">
        <p14:creationId xmlns:p14="http://schemas.microsoft.com/office/powerpoint/2010/main" val="56489977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E6A0958-B2A4-2290-2D27-B996C094358C}"/>
              </a:ext>
            </a:extLst>
          </p:cNvPr>
          <p:cNvSpPr txBox="1"/>
          <p:nvPr/>
        </p:nvSpPr>
        <p:spPr>
          <a:xfrm>
            <a:off x="398883" y="311346"/>
            <a:ext cx="11562961" cy="3323987"/>
          </a:xfrm>
          <a:prstGeom prst="rect">
            <a:avLst/>
          </a:prstGeom>
          <a:noFill/>
        </p:spPr>
        <p:txBody>
          <a:bodyPr wrap="square">
            <a:spAutoFit/>
          </a:bodyPr>
          <a:lstStyle/>
          <a:p>
            <a:pPr algn="just"/>
            <a:r>
              <a:rPr lang="en-US" sz="2400" b="1" i="0" dirty="0">
                <a:effectLst/>
                <a:latin typeface="Times New Roman" panose="02020603050405020304" pitchFamily="18" charset="0"/>
                <a:cs typeface="Times New Roman" panose="02020603050405020304" pitchFamily="18" charset="0"/>
              </a:rPr>
              <a:t>4) Competitiveness</a:t>
            </a:r>
          </a:p>
          <a:p>
            <a:pPr algn="just"/>
            <a:r>
              <a:rPr lang="en-US" b="0" dirty="0">
                <a:effectLst/>
                <a:latin typeface="Times New Roman" panose="02020603050405020304" pitchFamily="18" charset="0"/>
                <a:cs typeface="Times New Roman" panose="02020603050405020304" pitchFamily="18" charset="0"/>
              </a:rPr>
              <a:t>There is a lot of hype surrounding these industries trying to use blockchain. It leads to unnecessary competition between businesses as they opt for this technology and waste their time, money, and efforts even when it is useless for their business. Companies will have no alternative but to invest heavily to keep up with their competitors.</a:t>
            </a:r>
          </a:p>
          <a:p>
            <a:pPr algn="just"/>
            <a:endParaRPr lang="en-US" b="0" dirty="0">
              <a:effectLst/>
              <a:latin typeface="Times New Roman" panose="02020603050405020304" pitchFamily="18" charset="0"/>
              <a:cs typeface="Times New Roman" panose="02020603050405020304" pitchFamily="18" charset="0"/>
            </a:endParaRPr>
          </a:p>
          <a:p>
            <a:pPr algn="just"/>
            <a:r>
              <a:rPr lang="en-US" sz="2400" b="1" i="0" dirty="0">
                <a:effectLst/>
                <a:latin typeface="Times New Roman" panose="02020603050405020304" pitchFamily="18" charset="0"/>
                <a:cs typeface="Times New Roman" panose="02020603050405020304" pitchFamily="18" charset="0"/>
              </a:rPr>
              <a:t>5) Speed</a:t>
            </a:r>
          </a:p>
          <a:p>
            <a:pPr algn="just"/>
            <a:r>
              <a:rPr lang="en-US" b="0" dirty="0">
                <a:effectLst/>
                <a:latin typeface="Times New Roman" panose="02020603050405020304" pitchFamily="18" charset="0"/>
                <a:cs typeface="Times New Roman" panose="02020603050405020304" pitchFamily="18" charset="0"/>
              </a:rPr>
              <a:t>The other significant con to blockchain technology is its speed. Unlike a centralized database, blockchains require miners—or people with high-end computers and dedicated software that solve computational puzzles in exchange for new crypto tokens.</a:t>
            </a:r>
          </a:p>
          <a:p>
            <a:pPr algn="just"/>
            <a:r>
              <a:rPr lang="en-US" b="0" dirty="0">
                <a:effectLst/>
                <a:latin typeface="Times New Roman" panose="02020603050405020304" pitchFamily="18" charset="0"/>
                <a:cs typeface="Times New Roman" panose="02020603050405020304" pitchFamily="18" charset="0"/>
              </a:rPr>
              <a:t>In simple terms, blockchain transactions take longer than traditional payment methods like cash or credit cards. This can be discouraging if you’re interested in using blockchain technology as a daily payment method.</a:t>
            </a:r>
          </a:p>
        </p:txBody>
      </p:sp>
    </p:spTree>
    <p:extLst>
      <p:ext uri="{BB962C8B-B14F-4D97-AF65-F5344CB8AC3E}">
        <p14:creationId xmlns:p14="http://schemas.microsoft.com/office/powerpoint/2010/main" val="26355991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26B6D6D-5142-B739-8577-8AF0BAAAE59C}"/>
              </a:ext>
            </a:extLst>
          </p:cNvPr>
          <p:cNvSpPr txBox="1"/>
          <p:nvPr/>
        </p:nvSpPr>
        <p:spPr>
          <a:xfrm>
            <a:off x="321816" y="103858"/>
            <a:ext cx="6094520" cy="646331"/>
          </a:xfrm>
          <a:prstGeom prst="rect">
            <a:avLst/>
          </a:prstGeom>
          <a:noFill/>
        </p:spPr>
        <p:txBody>
          <a:bodyPr wrap="square">
            <a:spAutoFit/>
          </a:bodyPr>
          <a:lstStyle/>
          <a:p>
            <a:pPr algn="l"/>
            <a:r>
              <a:rPr lang="en-IN" sz="3600" b="1" dirty="0">
                <a:solidFill>
                  <a:srgbClr val="2F3941"/>
                </a:solidFill>
                <a:latin typeface="Times New Roman" panose="02020603050405020304" pitchFamily="18" charset="0"/>
                <a:cs typeface="Times New Roman" panose="02020603050405020304" pitchFamily="18" charset="0"/>
              </a:rPr>
              <a:t>P</a:t>
            </a:r>
            <a:r>
              <a:rPr lang="en-IN" sz="3600" b="1" i="0" dirty="0">
                <a:solidFill>
                  <a:srgbClr val="2F3941"/>
                </a:solidFill>
                <a:effectLst/>
                <a:latin typeface="Times New Roman" panose="02020603050405020304" pitchFamily="18" charset="0"/>
                <a:cs typeface="Times New Roman" panose="02020603050405020304" pitchFamily="18" charset="0"/>
              </a:rPr>
              <a:t>ublic and Private keys</a:t>
            </a:r>
          </a:p>
        </p:txBody>
      </p:sp>
      <p:sp>
        <p:nvSpPr>
          <p:cNvPr id="3" name="TextBox 2">
            <a:extLst>
              <a:ext uri="{FF2B5EF4-FFF2-40B4-BE49-F238E27FC236}">
                <a16:creationId xmlns:a16="http://schemas.microsoft.com/office/drawing/2014/main" id="{97D8F1A1-5003-1EF5-B5B2-4A38D5E9DA6A}"/>
              </a:ext>
            </a:extLst>
          </p:cNvPr>
          <p:cNvSpPr txBox="1"/>
          <p:nvPr/>
        </p:nvSpPr>
        <p:spPr>
          <a:xfrm>
            <a:off x="321816" y="1082153"/>
            <a:ext cx="11245788" cy="3970318"/>
          </a:xfrm>
          <a:prstGeom prst="rect">
            <a:avLst/>
          </a:prstGeom>
          <a:noFill/>
        </p:spPr>
        <p:txBody>
          <a:bodyPr wrap="square">
            <a:spAutoFit/>
          </a:bodyPr>
          <a:lstStyle/>
          <a:p>
            <a:pPr algn="just"/>
            <a:r>
              <a:rPr lang="en-US" sz="2800" dirty="0">
                <a:latin typeface="Times New Roman" panose="02020603050405020304" pitchFamily="18" charset="0"/>
                <a:cs typeface="Times New Roman" panose="02020603050405020304" pitchFamily="18" charset="0"/>
              </a:rPr>
              <a:t>A public key is a cryptographic code that allows a user to receive cryptocurrency into their account. It is derived from the private key using a cryptographic algorithm.</a:t>
            </a:r>
          </a:p>
          <a:p>
            <a:pPr algn="just"/>
            <a:r>
              <a:rPr lang="en-US" sz="2800" dirty="0">
                <a:latin typeface="Times New Roman" panose="02020603050405020304" pitchFamily="18" charset="0"/>
                <a:cs typeface="Times New Roman" panose="02020603050405020304" pitchFamily="18" charset="0"/>
              </a:rPr>
              <a:t>Function: The public key is like a bank account number. You can share it with others to receive funds. It is used to verify the sender's signature in transactions.</a:t>
            </a:r>
          </a:p>
          <a:p>
            <a:pPr algn="just"/>
            <a:r>
              <a:rPr lang="en-US" sz="2800" dirty="0">
                <a:latin typeface="Times New Roman" panose="02020603050405020304" pitchFamily="18" charset="0"/>
                <a:cs typeface="Times New Roman" panose="02020603050405020304" pitchFamily="18" charset="0"/>
              </a:rPr>
              <a:t>Usage: It is openly shared and can be used by anyone to send you cryptocurrency. However, it cannot be used to withdraw funds from your account.</a:t>
            </a:r>
            <a:endParaRPr lang="en-US" sz="2800" dirty="0">
              <a:latin typeface="Inter"/>
            </a:endParaRPr>
          </a:p>
        </p:txBody>
      </p:sp>
    </p:spTree>
    <p:extLst>
      <p:ext uri="{BB962C8B-B14F-4D97-AF65-F5344CB8AC3E}">
        <p14:creationId xmlns:p14="http://schemas.microsoft.com/office/powerpoint/2010/main" val="40274315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D48C227-9A90-D116-FD2E-5AB35FCCD290}"/>
              </a:ext>
            </a:extLst>
          </p:cNvPr>
          <p:cNvSpPr>
            <a:spLocks noGrp="1"/>
          </p:cNvSpPr>
          <p:nvPr>
            <p:ph idx="1"/>
          </p:nvPr>
        </p:nvSpPr>
        <p:spPr>
          <a:xfrm>
            <a:off x="838200" y="877824"/>
            <a:ext cx="10515600" cy="5299139"/>
          </a:xfrm>
        </p:spPr>
        <p:txBody>
          <a:bodyPr/>
          <a:lstStyle/>
          <a:p>
            <a:pPr marL="0" indent="0" algn="just">
              <a:buNone/>
            </a:pPr>
            <a:r>
              <a:rPr lang="en-US" b="1" dirty="0">
                <a:latin typeface="Times New Roman" panose="02020603050405020304" pitchFamily="18" charset="0"/>
                <a:cs typeface="Times New Roman" panose="02020603050405020304" pitchFamily="18" charset="0"/>
              </a:rPr>
              <a:t>Private Key</a:t>
            </a:r>
          </a:p>
          <a:p>
            <a:pPr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Definition</a:t>
            </a:r>
            <a:r>
              <a:rPr lang="en-US" dirty="0">
                <a:latin typeface="Times New Roman" panose="02020603050405020304" pitchFamily="18" charset="0"/>
                <a:cs typeface="Times New Roman" panose="02020603050405020304" pitchFamily="18" charset="0"/>
              </a:rPr>
              <a:t>: A private key is a cryptographic code that allows a user to access their cryptocurrency. It is a randomly generated number that must be kept secret.</a:t>
            </a:r>
          </a:p>
          <a:p>
            <a:pPr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Function</a:t>
            </a:r>
            <a:r>
              <a:rPr lang="en-US" dirty="0">
                <a:latin typeface="Times New Roman" panose="02020603050405020304" pitchFamily="18" charset="0"/>
                <a:cs typeface="Times New Roman" panose="02020603050405020304" pitchFamily="18" charset="0"/>
              </a:rPr>
              <a:t>: The private key is like a PIN for your bank account. It is used to sign transactions and provide proof that the transaction has been authorized by the account owner.</a:t>
            </a:r>
          </a:p>
          <a:p>
            <a:pPr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Usage</a:t>
            </a:r>
            <a:r>
              <a:rPr lang="en-US" dirty="0">
                <a:latin typeface="Times New Roman" panose="02020603050405020304" pitchFamily="18" charset="0"/>
                <a:cs typeface="Times New Roman" panose="02020603050405020304" pitchFamily="18" charset="0"/>
              </a:rPr>
              <a:t>: It must be kept confidential and secure. If someone gains access to your private key, they can control your cryptocurrency holdings.</a:t>
            </a:r>
          </a:p>
          <a:p>
            <a:pPr marL="0" indent="0" algn="just">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0991759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027D8-F79E-B8DF-1544-9976B12322A6}"/>
              </a:ext>
            </a:extLst>
          </p:cNvPr>
          <p:cNvSpPr>
            <a:spLocks noGrp="1"/>
          </p:cNvSpPr>
          <p:nvPr>
            <p:ph type="title"/>
          </p:nvPr>
        </p:nvSpPr>
        <p:spPr/>
        <p:txBody>
          <a:bodyPr/>
          <a:lstStyle/>
          <a:p>
            <a:r>
              <a:rPr lang="en-US" b="1" dirty="0"/>
              <a:t>How They Work Together</a:t>
            </a:r>
            <a:endParaRPr lang="en-IN" dirty="0"/>
          </a:p>
        </p:txBody>
      </p:sp>
      <p:sp>
        <p:nvSpPr>
          <p:cNvPr id="3" name="Content Placeholder 2">
            <a:extLst>
              <a:ext uri="{FF2B5EF4-FFF2-40B4-BE49-F238E27FC236}">
                <a16:creationId xmlns:a16="http://schemas.microsoft.com/office/drawing/2014/main" id="{DC63252D-650E-2BDC-BBEE-227BCDC53A4E}"/>
              </a:ext>
            </a:extLst>
          </p:cNvPr>
          <p:cNvSpPr>
            <a:spLocks noGrp="1"/>
          </p:cNvSpPr>
          <p:nvPr>
            <p:ph idx="1"/>
          </p:nvPr>
        </p:nvSpPr>
        <p:spPr/>
        <p:txBody>
          <a:bodyPr>
            <a:normAutofit fontScale="92500" lnSpcReduction="10000"/>
          </a:bodyPr>
          <a:lstStyle/>
          <a:p>
            <a:pPr marL="0" indent="0" algn="just">
              <a:buNone/>
            </a:pPr>
            <a:r>
              <a:rPr lang="en-US" dirty="0">
                <a:latin typeface="Times New Roman" panose="02020603050405020304" pitchFamily="18" charset="0"/>
                <a:cs typeface="Times New Roman" panose="02020603050405020304" pitchFamily="18" charset="0"/>
              </a:rPr>
              <a:t>When a user creates a blockchain wallet, a pair of keys (public and private) is generated. </a:t>
            </a:r>
          </a:p>
          <a:p>
            <a:pPr marL="0" indent="0" algn="just">
              <a:buNone/>
            </a:pPr>
            <a:r>
              <a:rPr lang="en-US" dirty="0">
                <a:latin typeface="Times New Roman" panose="02020603050405020304" pitchFamily="18" charset="0"/>
                <a:cs typeface="Times New Roman" panose="02020603050405020304" pitchFamily="18" charset="0"/>
              </a:rPr>
              <a:t>The public key is mathematically derived from the private key, but the process is irreversible. This ensures that the private key cannot be deduced from the public key.</a:t>
            </a:r>
          </a:p>
          <a:p>
            <a:pPr marL="0" indent="0" algn="just">
              <a:buNone/>
            </a:pPr>
            <a:r>
              <a:rPr lang="en-US" dirty="0">
                <a:latin typeface="Times New Roman" panose="02020603050405020304" pitchFamily="18" charset="0"/>
                <a:cs typeface="Times New Roman" panose="02020603050405020304" pitchFamily="18" charset="0"/>
              </a:rPr>
              <a:t>The public key undergoes a hashing process (e.g., using SHA-256) to generate the wallet address. This address is what users share to receive cryptocurrency .</a:t>
            </a:r>
          </a:p>
          <a:p>
            <a:pPr marL="0" indent="0" algn="just">
              <a:buNone/>
            </a:pPr>
            <a:r>
              <a:rPr lang="en-US" dirty="0">
                <a:latin typeface="Times New Roman" panose="02020603050405020304" pitchFamily="18" charset="0"/>
                <a:cs typeface="Times New Roman" panose="02020603050405020304" pitchFamily="18" charset="0"/>
              </a:rPr>
              <a:t>When a user wants to send cryptocurrency, they create a transaction and sign it with their private key. The signature is a mathematical proof that the transaction has been authorized by the owner of the private key.</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8540345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D8724A-239E-6671-EC8F-376F662DB57C}"/>
              </a:ext>
            </a:extLst>
          </p:cNvPr>
          <p:cNvSpPr>
            <a:spLocks noGrp="1"/>
          </p:cNvSpPr>
          <p:nvPr>
            <p:ph idx="1"/>
          </p:nvPr>
        </p:nvSpPr>
        <p:spPr>
          <a:xfrm>
            <a:off x="838200" y="268224"/>
            <a:ext cx="10515600" cy="5908739"/>
          </a:xfrm>
        </p:spPr>
        <p:txBody>
          <a:bodyPr/>
          <a:lstStyle/>
          <a:p>
            <a:pPr marL="0" indent="0" algn="just">
              <a:buNone/>
            </a:pPr>
            <a:r>
              <a:rPr lang="en-US" dirty="0">
                <a:latin typeface="Times New Roman" panose="02020603050405020304" pitchFamily="18" charset="0"/>
                <a:cs typeface="Times New Roman" panose="02020603050405020304" pitchFamily="18" charset="0"/>
              </a:rPr>
              <a:t>The transaction includes details such as the recipient's public key (address), the amount to be sent, and the sender's signature.</a:t>
            </a:r>
          </a:p>
          <a:p>
            <a:pPr marL="0" indent="0" algn="just">
              <a:buNone/>
            </a:pPr>
            <a:r>
              <a:rPr lang="en-US" dirty="0">
                <a:latin typeface="Times New Roman" panose="02020603050405020304" pitchFamily="18" charset="0"/>
                <a:cs typeface="Times New Roman" panose="02020603050405020304" pitchFamily="18" charset="0"/>
              </a:rPr>
              <a:t>The signed transaction is broadcast to the blockchain network.</a:t>
            </a:r>
          </a:p>
          <a:p>
            <a:pPr marL="0" indent="0" algn="just">
              <a:buNone/>
            </a:pPr>
            <a:endParaRPr lang="en-US"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Nodes (computers in the network) verify the transaction. They use the sender’s public key to confirm that the signature matches the transaction data. This process ensures that the transaction has not been altered and is indeed authorized by the owner of the funds.</a:t>
            </a:r>
          </a:p>
          <a:p>
            <a:pPr marL="0" indent="0" algn="just">
              <a:buNone/>
            </a:pPr>
            <a:endParaRPr lang="en-IN" dirty="0">
              <a:latin typeface="Times New Roman" panose="02020603050405020304" pitchFamily="18" charset="0"/>
              <a:cs typeface="Times New Roman" panose="02020603050405020304" pitchFamily="18" charset="0"/>
            </a:endParaRPr>
          </a:p>
        </p:txBody>
      </p:sp>
      <p:pic>
        <p:nvPicPr>
          <p:cNvPr id="2053" name="Picture 5" descr="Blockchain - Public Key Cryptography">
            <a:extLst>
              <a:ext uri="{FF2B5EF4-FFF2-40B4-BE49-F238E27FC236}">
                <a16:creationId xmlns:a16="http://schemas.microsoft.com/office/drawing/2014/main" id="{6E41CA7D-0686-7301-85E1-07D8B8C521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2997" y="3742182"/>
            <a:ext cx="6284261" cy="30243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746934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322F9-92BD-FC97-382C-D69BC3E1DCBD}"/>
              </a:ext>
            </a:extLst>
          </p:cNvPr>
          <p:cNvSpPr>
            <a:spLocks noGrp="1"/>
          </p:cNvSpPr>
          <p:nvPr>
            <p:ph type="title"/>
          </p:nvPr>
        </p:nvSpPr>
        <p:spPr/>
        <p:txBody>
          <a:bodyPr/>
          <a:lstStyle/>
          <a:p>
            <a:r>
              <a:rPr lang="en-US" dirty="0"/>
              <a:t>Example:</a:t>
            </a:r>
            <a:endParaRPr lang="en-IN" dirty="0"/>
          </a:p>
        </p:txBody>
      </p:sp>
      <p:sp>
        <p:nvSpPr>
          <p:cNvPr id="3" name="Content Placeholder 2">
            <a:extLst>
              <a:ext uri="{FF2B5EF4-FFF2-40B4-BE49-F238E27FC236}">
                <a16:creationId xmlns:a16="http://schemas.microsoft.com/office/drawing/2014/main" id="{2C22872D-069F-B317-1EFD-B7E85A080513}"/>
              </a:ext>
            </a:extLst>
          </p:cNvPr>
          <p:cNvSpPr>
            <a:spLocks noGrp="1"/>
          </p:cNvSpPr>
          <p:nvPr>
            <p:ph idx="1"/>
          </p:nvPr>
        </p:nvSpPr>
        <p:spPr/>
        <p:txBody>
          <a:bodyPr>
            <a:normAutofit fontScale="92500" lnSpcReduction="20000"/>
          </a:bodyPr>
          <a:lstStyle/>
          <a:p>
            <a:pPr marL="0" indent="0" algn="just">
              <a:buNone/>
            </a:pPr>
            <a:r>
              <a:rPr lang="en-US" dirty="0">
                <a:latin typeface="Times New Roman" panose="02020603050405020304" pitchFamily="18" charset="0"/>
                <a:cs typeface="Times New Roman" panose="02020603050405020304" pitchFamily="18" charset="0"/>
              </a:rPr>
              <a:t>Alice wants to send 1 Bitcoin to Bob. </a:t>
            </a:r>
          </a:p>
          <a:p>
            <a:pPr marL="0" indent="0" algn="just">
              <a:buNone/>
            </a:pPr>
            <a:r>
              <a:rPr lang="en-US" dirty="0">
                <a:latin typeface="Times New Roman" panose="02020603050405020304" pitchFamily="18" charset="0"/>
                <a:cs typeface="Times New Roman" panose="02020603050405020304" pitchFamily="18" charset="0"/>
              </a:rPr>
              <a:t>She creates a transaction specifying the amount and Bob's public key (address).</a:t>
            </a:r>
          </a:p>
          <a:p>
            <a:pPr marL="0" indent="0" algn="just">
              <a:buNone/>
            </a:pPr>
            <a:r>
              <a:rPr lang="en-US" dirty="0">
                <a:latin typeface="Times New Roman" panose="02020603050405020304" pitchFamily="18" charset="0"/>
                <a:cs typeface="Times New Roman" panose="02020603050405020304" pitchFamily="18" charset="0"/>
              </a:rPr>
              <a:t>Alice signs the transaction with her private key, creating a digital signature.</a:t>
            </a:r>
          </a:p>
          <a:p>
            <a:pPr marL="0" indent="0" algn="just">
              <a:buNone/>
            </a:pPr>
            <a:r>
              <a:rPr lang="en-US" dirty="0">
                <a:latin typeface="Times New Roman" panose="02020603050405020304" pitchFamily="18" charset="0"/>
                <a:cs typeface="Times New Roman" panose="02020603050405020304" pitchFamily="18" charset="0"/>
              </a:rPr>
              <a:t>Alice broadcasts the signed transaction to the Bitcoin network.</a:t>
            </a:r>
          </a:p>
          <a:p>
            <a:pPr marL="0" indent="0" algn="just">
              <a:buNone/>
            </a:pPr>
            <a:r>
              <a:rPr lang="en-US" dirty="0">
                <a:latin typeface="Times New Roman" panose="02020603050405020304" pitchFamily="18" charset="0"/>
                <a:cs typeface="Times New Roman" panose="02020603050405020304" pitchFamily="18" charset="0"/>
              </a:rPr>
              <a:t>Nodes in the network use Alice's public key to verify the digital signature. </a:t>
            </a:r>
          </a:p>
          <a:p>
            <a:pPr marL="0" indent="0" algn="just">
              <a:buNone/>
            </a:pPr>
            <a:r>
              <a:rPr lang="en-US" dirty="0">
                <a:latin typeface="Times New Roman" panose="02020603050405020304" pitchFamily="18" charset="0"/>
                <a:cs typeface="Times New Roman" panose="02020603050405020304" pitchFamily="18" charset="0"/>
              </a:rPr>
              <a:t>They check that Alice has sufficient funds and that the transaction has not been tampered with.</a:t>
            </a:r>
          </a:p>
          <a:p>
            <a:pPr marL="0" indent="0" algn="just">
              <a:buNone/>
            </a:pPr>
            <a:r>
              <a:rPr lang="en-US" dirty="0">
                <a:latin typeface="Times New Roman" panose="02020603050405020304" pitchFamily="18" charset="0"/>
                <a:cs typeface="Times New Roman" panose="02020603050405020304" pitchFamily="18" charset="0"/>
              </a:rPr>
              <a:t>Once verified, the transaction is included in a new block</a:t>
            </a:r>
          </a:p>
          <a:p>
            <a:pPr marL="0" indent="0" algn="just">
              <a:buNone/>
            </a:pPr>
            <a:r>
              <a:rPr lang="en-US" dirty="0">
                <a:latin typeface="Times New Roman" panose="02020603050405020304" pitchFamily="18" charset="0"/>
                <a:cs typeface="Times New Roman" panose="02020603050405020304" pitchFamily="18" charset="0"/>
              </a:rPr>
              <a:t>Bob receives the Bitcoin, and the transaction is recorded permanently on the blockchain.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4403952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Learn All About Cryptocurrencies Cryptography because it Works!">
            <a:extLst>
              <a:ext uri="{FF2B5EF4-FFF2-40B4-BE49-F238E27FC236}">
                <a16:creationId xmlns:a16="http://schemas.microsoft.com/office/drawing/2014/main" id="{DA3E470A-A2C5-EA2F-98F1-E583F309B12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179020" y="0"/>
            <a:ext cx="8025684" cy="66838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86914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1319</TotalTime>
  <Words>4004</Words>
  <Application>Microsoft Office PowerPoint</Application>
  <PresentationFormat>Widescreen</PresentationFormat>
  <Paragraphs>349</Paragraphs>
  <Slides>89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89</vt:i4>
      </vt:variant>
    </vt:vector>
  </HeadingPairs>
  <TitlesOfParts>
    <vt:vector size="97" baseType="lpstr">
      <vt:lpstr>Arial</vt:lpstr>
      <vt:lpstr>Calibri</vt:lpstr>
      <vt:lpstr>Calibri Light</vt:lpstr>
      <vt:lpstr>Inter</vt:lpstr>
      <vt:lpstr>Times New Roman</vt:lpstr>
      <vt:lpstr>urw-din</vt:lpstr>
      <vt:lpstr>Wingdings</vt:lpstr>
      <vt:lpstr>Office Theme</vt:lpstr>
      <vt:lpstr>Block chain Technology</vt:lpstr>
      <vt:lpstr>PowerPoint Presentation</vt:lpstr>
      <vt:lpstr>PowerPoint Presentation</vt:lpstr>
      <vt:lpstr>PowerPoint Presentation</vt:lpstr>
      <vt:lpstr>PowerPoint Presentation</vt:lpstr>
      <vt:lpstr>PowerPoint Presentation</vt:lpstr>
      <vt:lpstr>Block Chain Technology</vt:lpstr>
      <vt:lpstr>PowerPoint Presentation</vt:lpstr>
      <vt:lpstr>PowerPoint Presentation</vt:lpstr>
      <vt:lpstr>PowerPoint Presentation</vt:lpstr>
      <vt:lpstr>What is Blockchain</vt:lpstr>
      <vt:lpstr>What Is Blockchain?</vt:lpstr>
      <vt:lpstr>What is Blockchain</vt:lpstr>
      <vt:lpstr>Introduction to Block Chain</vt:lpstr>
      <vt:lpstr>PowerPoint Presentation</vt:lpstr>
      <vt:lpstr>PowerPoint Presentation</vt:lpstr>
      <vt:lpstr>PowerPoint Presentation</vt:lpstr>
      <vt:lpstr>Example 2:</vt:lpstr>
      <vt:lpstr>PowerPoint Presentation</vt:lpstr>
      <vt:lpstr>PowerPoint Presentation</vt:lpstr>
      <vt:lpstr>PowerPoint Presentation</vt:lpstr>
      <vt:lpstr>LET’S FIRST TALK ABOUT BANKING</vt:lpstr>
      <vt:lpstr>LET’S FIRST TALK ABOUT BANKING-ISSUES</vt:lpstr>
      <vt:lpstr>LET’S FIRST TALK ABOUT BANKING-ISSUES</vt:lpstr>
      <vt:lpstr>HOW DO YOU TRANSACT?</vt:lpstr>
      <vt:lpstr>Bank Frauds</vt:lpstr>
      <vt:lpstr>PowerPoint Presentation</vt:lpstr>
      <vt:lpstr>PowerPoint Presentation</vt:lpstr>
      <vt:lpstr>PowerPoint Presentation</vt:lpstr>
      <vt:lpstr>Again, What is a Blockchain? –who invented?</vt:lpstr>
      <vt:lpstr>PowerPoint Presentation</vt:lpstr>
      <vt:lpstr>PowerPoint Presentation</vt:lpstr>
      <vt:lpstr>PowerPoint Presentation</vt:lpstr>
      <vt:lpstr>PowerPoint Presentation</vt:lpstr>
      <vt:lpstr>How Block Chain Works?</vt:lpstr>
      <vt:lpstr>PowerPoint Presentation</vt:lpstr>
      <vt:lpstr>Example 1:</vt:lpstr>
      <vt:lpstr>PowerPoint Presentation</vt:lpstr>
      <vt:lpstr>PowerPoint Presentation</vt:lpstr>
      <vt:lpstr>PowerPoint Presentation</vt:lpstr>
      <vt:lpstr>PowerPoint Presentation</vt:lpstr>
      <vt:lpstr>Centralized vs Decentralized system</vt:lpstr>
      <vt:lpstr>PowerPoint Presentation</vt:lpstr>
      <vt:lpstr>Centralized systems</vt:lpstr>
      <vt:lpstr>PowerPoint Presentation</vt:lpstr>
      <vt:lpstr>Decentralized System</vt:lpstr>
      <vt:lpstr>PowerPoint Presentation</vt:lpstr>
      <vt:lpstr>PowerPoint Presentation</vt:lpstr>
      <vt:lpstr>PowerPoint Presentation</vt:lpstr>
      <vt:lpstr>PowerPoint Presentation</vt:lpstr>
      <vt:lpstr>Benefits of Blockchain Technology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Practical use of Block Chain-Financial</vt:lpstr>
      <vt:lpstr>Practical use of Block- Health care</vt:lpstr>
      <vt:lpstr>Practical use of Block- Health care</vt:lpstr>
      <vt:lpstr>Block Chain – Health care Example</vt:lpstr>
      <vt:lpstr>Block Chain – Health care Example</vt:lpstr>
      <vt:lpstr>Use Cases of Blockchain Technology</vt:lpstr>
      <vt:lpstr>PowerPoint Presentation</vt:lpstr>
      <vt:lpstr>PowerPoint Presentation</vt:lpstr>
      <vt:lpstr>PowerPoint Presentation</vt:lpstr>
      <vt:lpstr>PowerPoint Presentation</vt:lpstr>
      <vt:lpstr>PowerPoint Presentation</vt:lpstr>
      <vt:lpstr>Major Pros of Blockchain Technology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How They Work Together</vt:lpstr>
      <vt:lpstr>PowerPoint Presentation</vt:lpstr>
      <vt:lpstr>Example: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Block chain Technology</dc:title>
  <dc:creator>Raksha Puthran</dc:creator>
  <cp:lastModifiedBy>Prathwini .</cp:lastModifiedBy>
  <cp:revision>201</cp:revision>
  <dcterms:created xsi:type="dcterms:W3CDTF">2024-06-27T07:29:59Z</dcterms:created>
  <dcterms:modified xsi:type="dcterms:W3CDTF">2025-08-05T05:55:42Z</dcterms:modified>
</cp:coreProperties>
</file>